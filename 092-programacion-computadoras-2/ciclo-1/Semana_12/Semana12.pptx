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noneQQtmuCItmd8DojSpeTBkj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1bc15c10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1bc15c10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bc15c106b_0_1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1bc15c106b_0_1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1bc15c106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21bc15c106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3ac61791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2d3ac61791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2c24a789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2d2c24a789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5ebd91d6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2d5ebd91d6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5ebfba3d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2d5ebfba3d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d5ebfba3d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2d5ebfba3d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d5ebfba3d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2d5ebfba3d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d5ebfba3d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2d5ebfba3d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d5ebfba3d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2d5ebfba3d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d5ebfba3d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d5ebfba3d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5ebfba3d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2d5ebfba3d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d5ebfba3d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2d5ebfba3d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5ebfba3d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2d5ebfba3d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d5ebfba3d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2d5ebfba3d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5ebd91d6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d5ebd91d6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">
  <p:cSld name="TITLE_AND_BODY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1bc15c106b_0_18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g21bc15c106b_0_18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" name="Google Shape;12;g21bc15c106b_0_18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g21bc15c106b_0_180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5" name="Google Shape;15;g21bc15c106b_0_180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g21bc15c106b_0_180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g21bc15c106b_0_180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" name="Google Shape;18;g21bc15c106b_0_180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" name="Google Shape;19;g21bc15c106b_0_18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1bc15c106b_0_1777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9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g21bc15c106b_0_1777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23" name="Google Shape;23;g21bc15c106b_0_1777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g21bc15c106b_0_1777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9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g21bc15c106b_0_1777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21bc15c106b_0_1777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g21bc15c106b_0_1777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g21bc15c106b_0_1777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9" name="Google Shape;29;g21bc15c106b_0_17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g21bc15c106b_0_1787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32" name="Google Shape;32;g21bc15c106b_0_178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78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21bc15c106b_0_1787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78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21bc15c106b_0_1787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21bc15c106b_0_1787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21bc15c106b_0_1787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21bc15c106b_0_1787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21bc15c106b_0_178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21bc15c106b_0_1787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21bc15c106b_0_1787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1bc15c106b_0_1787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21bc15c106b_0_178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21bc15c106b_0_1787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21bc15c106b_0_1787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21bc15c106b_0_1787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21bc15c106b_0_1787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21bc15c106b_0_1787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21bc15c106b_0_178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21bc15c106b_0_1787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g21bc15c106b_0_178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g21bc15c106b_0_17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g21bc15c106b_0_181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4" name="Google Shape;54;g21bc15c106b_0_18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21bc15c106b_0_18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g21bc15c106b_0_18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g21bc15c106b_0_1816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g21bc15c106b_0_1816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g21bc15c106b_0_18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g21bc15c106b_0_182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2" name="Google Shape;62;g21bc15c106b_0_182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21bc15c106b_0_182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g21bc15c106b_0_18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g21bc15c106b_0_18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21bc15c106b_0_1830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8" name="Google Shape;68;g21bc15c106b_0_183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21bc15c106b_0_183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g21bc15c106b_0_183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g21bc15c106b_0_183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g21bc15c106b_0_18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21bc15c106b_0_1837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5" name="Google Shape;75;g21bc15c106b_0_1837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78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21bc15c106b_0_1837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78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21bc15c106b_0_1837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21bc15c106b_0_1837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21bc15c106b_0_1837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21bc15c106b_0_1837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21bc15c106b_0_1837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21bc15c106b_0_1837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21bc15c106b_0_1837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21bc15c106b_0_1837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21bc15c106b_0_1837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21bc15c106b_0_1837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21bc15c106b_0_1837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21bc15c106b_0_1837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21bc15c106b_0_1837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21bc15c106b_0_1837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21bc15c106b_0_1837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21bc15c106b_0_1837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g21bc15c106b_0_1837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g21bc15c106b_0_1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g21bc15c106b_0_185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7" name="Google Shape;97;g21bc15c106b_0_185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21bc15c106b_0_185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g21bc15c106b_0_185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g21bc15c106b_0_185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1" name="Google Shape;101;g21bc15c106b_0_185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g21bc15c106b_0_18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g21bc15c106b_0_1867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5" name="Google Shape;105;g21bc15c106b_0_1867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21bc15c106b_0_1867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g21bc15c106b_0_1867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g21bc15c106b_0_18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g21bc15c106b_0_187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1" name="Google Shape;111;g21bc15c106b_0_187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78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21bc15c106b_0_187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78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21bc15c106b_0_187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21bc15c106b_0_187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21bc15c106b_0_187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21bc15c106b_0_187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21bc15c106b_0_187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21bc15c106b_0_187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21bc15c106b_0_187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21bc15c106b_0_187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21bc15c106b_0_187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21bc15c106b_0_187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21bc15c106b_0_187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21bc15c106b_0_187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21bc15c106b_0_187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21bc15c106b_0_187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21bc15c106b_0_187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21bc15c106b_0_187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g21bc15c106b_0_187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0" name="Google Shape;130;g21bc15c106b_0_187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g21bc15c106b_0_1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1bc15c106b_0_18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1bc15c106b_0_17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21bc15c106b_0_17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21bc15c106b_0_17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1bc15c106b_0_0"/>
          <p:cNvSpPr txBox="1"/>
          <p:nvPr>
            <p:ph type="title"/>
          </p:nvPr>
        </p:nvSpPr>
        <p:spPr>
          <a:xfrm>
            <a:off x="390075" y="1463925"/>
            <a:ext cx="52668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4400"/>
              <a:t>Introducción a la Programación de Computadoras 2</a:t>
            </a:r>
            <a:endParaRPr sz="4400"/>
          </a:p>
        </p:txBody>
      </p:sp>
      <p:pic>
        <p:nvPicPr>
          <p:cNvPr id="139" name="Google Shape;139;g21bc15c106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6875" y="980588"/>
            <a:ext cx="3182324" cy="318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bc15c106b_0_190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4400"/>
              <a:t>Agenda</a:t>
            </a:r>
            <a:endParaRPr sz="4400"/>
          </a:p>
        </p:txBody>
      </p:sp>
      <p:sp>
        <p:nvSpPr>
          <p:cNvPr id="145" name="Google Shape;145;g21bc15c106b_0_1903"/>
          <p:cNvSpPr txBox="1"/>
          <p:nvPr>
            <p:ph idx="1" type="body"/>
          </p:nvPr>
        </p:nvSpPr>
        <p:spPr>
          <a:xfrm>
            <a:off x="1169850" y="1350200"/>
            <a:ext cx="7166700" cy="3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999"/>
              <a:buNone/>
            </a:pPr>
            <a:r>
              <a:t/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00"/>
              <a:t>Repaso rápido de vectores y matrices.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00"/>
              <a:t>Introducción a algoritmos de ordenamiento en vectores (ej., burbuja, inserción).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00"/>
              <a:t>Ordenamiento en matrices y aplicación de algoritmos de búsqueda.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00"/>
              <a:t>Algoritmos de optimización y su aplicación en matrices (ej., encontrar el valor mínimo/máximo).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00"/>
              <a:t>Ejemplos prácticos y discusión sobre casos de uso de optimización en matrices.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999"/>
              <a:buNone/>
            </a:pPr>
            <a:r>
              <a:t/>
            </a:r>
            <a:endParaRPr sz="2000"/>
          </a:p>
        </p:txBody>
      </p:sp>
      <p:pic>
        <p:nvPicPr>
          <p:cNvPr id="146" name="Google Shape;146;g21bc15c106b_0_19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725" y="233225"/>
            <a:ext cx="1517149" cy="151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1bc15c106b_1_8"/>
          <p:cNvSpPr txBox="1"/>
          <p:nvPr>
            <p:ph type="title"/>
          </p:nvPr>
        </p:nvSpPr>
        <p:spPr>
          <a:xfrm>
            <a:off x="1761150" y="1698975"/>
            <a:ext cx="56217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Repaso Rápido Matrices </a:t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3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3ac61791f_0_2"/>
          <p:cNvSpPr txBox="1"/>
          <p:nvPr>
            <p:ph type="title"/>
          </p:nvPr>
        </p:nvSpPr>
        <p:spPr>
          <a:xfrm>
            <a:off x="1142425" y="325225"/>
            <a:ext cx="7566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200"/>
              <a:t>Declarando e Inicializando Matrices</a:t>
            </a:r>
            <a:endParaRPr sz="3200"/>
          </a:p>
        </p:txBody>
      </p:sp>
      <p:sp>
        <p:nvSpPr>
          <p:cNvPr id="157" name="Google Shape;157;g2d3ac61791f_0_2"/>
          <p:cNvSpPr txBox="1"/>
          <p:nvPr>
            <p:ph type="title"/>
          </p:nvPr>
        </p:nvSpPr>
        <p:spPr>
          <a:xfrm>
            <a:off x="248575" y="1167600"/>
            <a:ext cx="81798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Char char="●"/>
            </a:pPr>
            <a:r>
              <a:rPr lang="es" sz="1729"/>
              <a:t>Declaracion</a:t>
            </a:r>
            <a:endParaRPr sz="1729"/>
          </a:p>
        </p:txBody>
      </p:sp>
      <p:pic>
        <p:nvPicPr>
          <p:cNvPr id="158" name="Google Shape;158;g2d3ac61791f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938" y="2171700"/>
            <a:ext cx="8924925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2c24a7899_0_2"/>
          <p:cNvSpPr txBox="1"/>
          <p:nvPr>
            <p:ph type="title"/>
          </p:nvPr>
        </p:nvSpPr>
        <p:spPr>
          <a:xfrm>
            <a:off x="1142425" y="325225"/>
            <a:ext cx="7566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Matrices Multidimensionales</a:t>
            </a:r>
            <a:endParaRPr sz="3500"/>
          </a:p>
        </p:txBody>
      </p:sp>
      <p:sp>
        <p:nvSpPr>
          <p:cNvPr id="164" name="Google Shape;164;g2d2c24a7899_0_2"/>
          <p:cNvSpPr txBox="1"/>
          <p:nvPr>
            <p:ph type="title"/>
          </p:nvPr>
        </p:nvSpPr>
        <p:spPr>
          <a:xfrm>
            <a:off x="248575" y="1167600"/>
            <a:ext cx="81207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1929"/>
              <a:t>Matrices que almacenan datos en más de una dimensión, como filas y columnas (bidimensionales), o incluso más dimensiones (tridimensionales, etc.).</a:t>
            </a:r>
            <a:endParaRPr sz="1929"/>
          </a:p>
        </p:txBody>
      </p:sp>
      <p:pic>
        <p:nvPicPr>
          <p:cNvPr id="165" name="Google Shape;165;g2d2c24a7899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5725" y="3135063"/>
            <a:ext cx="6086475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5ebd91d6a_0_7"/>
          <p:cNvSpPr txBox="1"/>
          <p:nvPr>
            <p:ph type="title"/>
          </p:nvPr>
        </p:nvSpPr>
        <p:spPr>
          <a:xfrm>
            <a:off x="1160550" y="325225"/>
            <a:ext cx="7867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Conceptos Básicos de Ordenamiento</a:t>
            </a:r>
            <a:endParaRPr sz="3500"/>
          </a:p>
        </p:txBody>
      </p:sp>
      <p:sp>
        <p:nvSpPr>
          <p:cNvPr id="171" name="Google Shape;171;g2d5ebd91d6a_0_7"/>
          <p:cNvSpPr txBox="1"/>
          <p:nvPr>
            <p:ph type="title"/>
          </p:nvPr>
        </p:nvSpPr>
        <p:spPr>
          <a:xfrm>
            <a:off x="248575" y="1717425"/>
            <a:ext cx="84528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29"/>
              <a:t>¿Qué es el ordenamiento?</a:t>
            </a:r>
            <a:endParaRPr sz="1729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29"/>
              <a:t>Proceso de reorganizar elementos en un vector o matriz siguiendo un criterio, como orden ascendente o descendente.</a:t>
            </a:r>
            <a:endParaRPr sz="172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29"/>
              <a:t>¿Por qué es importante?</a:t>
            </a:r>
            <a:endParaRPr sz="1729"/>
          </a:p>
          <a:p>
            <a:pPr indent="-3274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Mejora la eficiencia en la búsqueda de datos.</a:t>
            </a:r>
            <a:endParaRPr sz="1729"/>
          </a:p>
          <a:p>
            <a:pPr indent="-3274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Es fundamental para algoritmos más complejos.</a:t>
            </a:r>
            <a:endParaRPr sz="1729"/>
          </a:p>
          <a:p>
            <a:pPr indent="-3274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Aplica en sistemas como bases de datos, inteligencia artificial, y análisis de datos.</a:t>
            </a:r>
            <a:endParaRPr sz="172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29"/>
              <a:t>Aplicaciones comunes:</a:t>
            </a:r>
            <a:endParaRPr sz="1729"/>
          </a:p>
          <a:p>
            <a:pPr indent="-3274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Ordenar registros de estudiantes por calificaciones.</a:t>
            </a:r>
            <a:endParaRPr sz="1729"/>
          </a:p>
          <a:p>
            <a:pPr indent="-3274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Priorizar tareas en sistemas operativos.</a:t>
            </a:r>
            <a:endParaRPr sz="1729"/>
          </a:p>
          <a:p>
            <a:pPr indent="-3274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Ordenar productos por precios en un e-commerce.</a:t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5ebfba3d9_0_2"/>
          <p:cNvSpPr txBox="1"/>
          <p:nvPr>
            <p:ph type="title"/>
          </p:nvPr>
        </p:nvSpPr>
        <p:spPr>
          <a:xfrm>
            <a:off x="1160550" y="325225"/>
            <a:ext cx="7867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Algoritmos de Ordenamiento</a:t>
            </a:r>
            <a:endParaRPr sz="3500"/>
          </a:p>
        </p:txBody>
      </p:sp>
      <p:sp>
        <p:nvSpPr>
          <p:cNvPr id="177" name="Google Shape;177;g2d5ebfba3d9_0_2"/>
          <p:cNvSpPr txBox="1"/>
          <p:nvPr>
            <p:ph type="title"/>
          </p:nvPr>
        </p:nvSpPr>
        <p:spPr>
          <a:xfrm>
            <a:off x="298050" y="1400750"/>
            <a:ext cx="41778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716"/>
              <a:buNone/>
            </a:pPr>
            <a:r>
              <a:rPr lang="es" sz="2729"/>
              <a:t>1. Burbuja (Bubble Sort)</a:t>
            </a:r>
            <a:endParaRPr sz="2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  <p:sp>
        <p:nvSpPr>
          <p:cNvPr id="178" name="Google Shape;178;g2d5ebfba3d9_0_2"/>
          <p:cNvSpPr txBox="1"/>
          <p:nvPr>
            <p:ph type="title"/>
          </p:nvPr>
        </p:nvSpPr>
        <p:spPr>
          <a:xfrm>
            <a:off x="390150" y="2370575"/>
            <a:ext cx="7984800" cy="23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es" sz="2062"/>
              <a:t>Idea principal: </a:t>
            </a:r>
            <a:r>
              <a:rPr lang="es" sz="2062"/>
              <a:t>Comparar elementos adyacentes y cambiarlos si están en el orden incorrecto.</a:t>
            </a:r>
            <a:endParaRPr sz="2062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t/>
            </a:r>
            <a:endParaRPr sz="2062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Ventajas: Simple de entender e implementar.</a:t>
            </a:r>
            <a:endParaRPr sz="2062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5ebfba3d9_0_30"/>
          <p:cNvSpPr txBox="1"/>
          <p:nvPr>
            <p:ph type="title"/>
          </p:nvPr>
        </p:nvSpPr>
        <p:spPr>
          <a:xfrm>
            <a:off x="1498525" y="312175"/>
            <a:ext cx="32742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rPr lang="es" sz="1729"/>
              <a:t>Código</a:t>
            </a:r>
            <a:r>
              <a:rPr lang="es" sz="1729"/>
              <a:t>:</a:t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  <p:pic>
        <p:nvPicPr>
          <p:cNvPr id="184" name="Google Shape;184;g2d5ebfba3d9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374" y="846575"/>
            <a:ext cx="5197249" cy="399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5ebfba3d9_0_37"/>
          <p:cNvSpPr txBox="1"/>
          <p:nvPr>
            <p:ph type="title"/>
          </p:nvPr>
        </p:nvSpPr>
        <p:spPr>
          <a:xfrm>
            <a:off x="1160550" y="325225"/>
            <a:ext cx="7867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Algoritmos de Ordenamiento</a:t>
            </a:r>
            <a:endParaRPr sz="3500"/>
          </a:p>
        </p:txBody>
      </p:sp>
      <p:sp>
        <p:nvSpPr>
          <p:cNvPr id="190" name="Google Shape;190;g2d5ebfba3d9_0_37"/>
          <p:cNvSpPr txBox="1"/>
          <p:nvPr>
            <p:ph type="title"/>
          </p:nvPr>
        </p:nvSpPr>
        <p:spPr>
          <a:xfrm>
            <a:off x="298050" y="1400750"/>
            <a:ext cx="4999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716"/>
              <a:buNone/>
            </a:pPr>
            <a:r>
              <a:rPr lang="es" sz="2729"/>
              <a:t>2. Selección (Selection Sort)</a:t>
            </a:r>
            <a:endParaRPr sz="2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  <p:sp>
        <p:nvSpPr>
          <p:cNvPr id="191" name="Google Shape;191;g2d5ebfba3d9_0_37"/>
          <p:cNvSpPr txBox="1"/>
          <p:nvPr>
            <p:ph type="title"/>
          </p:nvPr>
        </p:nvSpPr>
        <p:spPr>
          <a:xfrm>
            <a:off x="390150" y="2571750"/>
            <a:ext cx="79848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303"/>
              <a:buFont typeface="Arial"/>
              <a:buNone/>
            </a:pPr>
            <a:r>
              <a:rPr lang="es" sz="2062"/>
              <a:t>Idea principal: Comparar elementos adyacentes y cambiarlos si están en el orden incorrecto.</a:t>
            </a:r>
            <a:endParaRPr sz="2062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303"/>
              <a:buFont typeface="Arial"/>
              <a:buNone/>
            </a:pPr>
            <a:r>
              <a:t/>
            </a:r>
            <a:endParaRPr sz="2062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Ventajas: Menos intercambios que el método burbuja.</a:t>
            </a:r>
            <a:endParaRPr sz="2062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5ebfba3d9_0_45"/>
          <p:cNvSpPr txBox="1"/>
          <p:nvPr>
            <p:ph type="title"/>
          </p:nvPr>
        </p:nvSpPr>
        <p:spPr>
          <a:xfrm>
            <a:off x="1498525" y="312175"/>
            <a:ext cx="32742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rPr lang="es" sz="1729"/>
              <a:t>Código:</a:t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  <p:pic>
        <p:nvPicPr>
          <p:cNvPr id="197" name="Google Shape;197;g2d5ebfba3d9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300" y="815475"/>
            <a:ext cx="4696600" cy="424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d5ebfba3d9_0_51"/>
          <p:cNvSpPr txBox="1"/>
          <p:nvPr>
            <p:ph type="title"/>
          </p:nvPr>
        </p:nvSpPr>
        <p:spPr>
          <a:xfrm>
            <a:off x="1160550" y="325225"/>
            <a:ext cx="7867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Algoritmos de Ordenamiento</a:t>
            </a:r>
            <a:endParaRPr sz="3500"/>
          </a:p>
        </p:txBody>
      </p:sp>
      <p:sp>
        <p:nvSpPr>
          <p:cNvPr id="203" name="Google Shape;203;g2d5ebfba3d9_0_51"/>
          <p:cNvSpPr txBox="1"/>
          <p:nvPr>
            <p:ph type="title"/>
          </p:nvPr>
        </p:nvSpPr>
        <p:spPr>
          <a:xfrm>
            <a:off x="298050" y="1400750"/>
            <a:ext cx="49992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716"/>
              <a:buNone/>
            </a:pPr>
            <a:r>
              <a:rPr lang="es" sz="2729"/>
              <a:t> 3. Inserción (Insertion Sort)</a:t>
            </a:r>
            <a:endParaRPr sz="2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  <p:sp>
        <p:nvSpPr>
          <p:cNvPr id="204" name="Google Shape;204;g2d5ebfba3d9_0_51"/>
          <p:cNvSpPr txBox="1"/>
          <p:nvPr>
            <p:ph type="title"/>
          </p:nvPr>
        </p:nvSpPr>
        <p:spPr>
          <a:xfrm>
            <a:off x="390150" y="2571750"/>
            <a:ext cx="79848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Idea principal: </a:t>
            </a:r>
            <a:r>
              <a:rPr lang="es" sz="2062"/>
              <a:t>Insertar cada elemento en su posición correcta en la parte ordenada.</a:t>
            </a:r>
            <a:endParaRPr sz="2062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62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Ventajas: </a:t>
            </a:r>
            <a:r>
              <a:rPr lang="es" sz="2062"/>
              <a:t>Más eficiente para listas casi ordenadas.</a:t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5ebfba3d9_0_60"/>
          <p:cNvSpPr txBox="1"/>
          <p:nvPr>
            <p:ph type="title"/>
          </p:nvPr>
        </p:nvSpPr>
        <p:spPr>
          <a:xfrm>
            <a:off x="1498525" y="312175"/>
            <a:ext cx="32742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rPr lang="es" sz="1729"/>
              <a:t>Código:</a:t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  <p:pic>
        <p:nvPicPr>
          <p:cNvPr id="210" name="Google Shape;210;g2d5ebfba3d9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825" y="820900"/>
            <a:ext cx="5647875" cy="423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5ebfba3d9_0_66"/>
          <p:cNvSpPr txBox="1"/>
          <p:nvPr>
            <p:ph type="title"/>
          </p:nvPr>
        </p:nvSpPr>
        <p:spPr>
          <a:xfrm>
            <a:off x="1160550" y="325225"/>
            <a:ext cx="7867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000"/>
              <a:t>Técnicas de Optimización en Matrices</a:t>
            </a:r>
            <a:endParaRPr sz="3000"/>
          </a:p>
        </p:txBody>
      </p:sp>
      <p:sp>
        <p:nvSpPr>
          <p:cNvPr id="216" name="Google Shape;216;g2d5ebfba3d9_0_66"/>
          <p:cNvSpPr txBox="1"/>
          <p:nvPr>
            <p:ph type="title"/>
          </p:nvPr>
        </p:nvSpPr>
        <p:spPr>
          <a:xfrm>
            <a:off x="298050" y="1400750"/>
            <a:ext cx="77799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456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sz="2729"/>
              <a:t>Encontrar valores mínimos y máximos:</a:t>
            </a:r>
            <a:endParaRPr sz="2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  <p:sp>
        <p:nvSpPr>
          <p:cNvPr id="217" name="Google Shape;217;g2d5ebfba3d9_0_66"/>
          <p:cNvSpPr txBox="1"/>
          <p:nvPr>
            <p:ph type="title"/>
          </p:nvPr>
        </p:nvSpPr>
        <p:spPr>
          <a:xfrm>
            <a:off x="390150" y="2571750"/>
            <a:ext cx="79848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Aplicación: Encontrar el menor valor en una tabla de ventas mensuales.</a:t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5ebfba3d9_0_76"/>
          <p:cNvSpPr txBox="1"/>
          <p:nvPr>
            <p:ph type="title"/>
          </p:nvPr>
        </p:nvSpPr>
        <p:spPr>
          <a:xfrm>
            <a:off x="1429250" y="381450"/>
            <a:ext cx="32742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rPr lang="es" sz="1729"/>
              <a:t>Código:</a:t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  <p:pic>
        <p:nvPicPr>
          <p:cNvPr id="223" name="Google Shape;223;g2d5ebfba3d9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725" y="959450"/>
            <a:ext cx="6747425" cy="35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d5ebfba3d9_0_82"/>
          <p:cNvSpPr txBox="1"/>
          <p:nvPr>
            <p:ph type="title"/>
          </p:nvPr>
        </p:nvSpPr>
        <p:spPr>
          <a:xfrm>
            <a:off x="1160550" y="325225"/>
            <a:ext cx="7867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000"/>
              <a:t>Técnicas de Optimización en Matrices</a:t>
            </a:r>
            <a:endParaRPr sz="3000"/>
          </a:p>
        </p:txBody>
      </p:sp>
      <p:sp>
        <p:nvSpPr>
          <p:cNvPr id="229" name="Google Shape;229;g2d5ebfba3d9_0_82"/>
          <p:cNvSpPr txBox="1"/>
          <p:nvPr>
            <p:ph type="title"/>
          </p:nvPr>
        </p:nvSpPr>
        <p:spPr>
          <a:xfrm>
            <a:off x="298050" y="1400750"/>
            <a:ext cx="77799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29"/>
              <a:t>2. Aplicar filtros en matrices:</a:t>
            </a:r>
            <a:endParaRPr sz="2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  <p:sp>
        <p:nvSpPr>
          <p:cNvPr id="230" name="Google Shape;230;g2d5ebfba3d9_0_82"/>
          <p:cNvSpPr txBox="1"/>
          <p:nvPr>
            <p:ph type="title"/>
          </p:nvPr>
        </p:nvSpPr>
        <p:spPr>
          <a:xfrm>
            <a:off x="390150" y="2571750"/>
            <a:ext cx="79848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Aplicación: </a:t>
            </a:r>
            <a:r>
              <a:rPr lang="es" sz="2062"/>
              <a:t>Crear una matriz que almacene solo valores mayores que un umbral.</a:t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5ebfba3d9_0_90"/>
          <p:cNvSpPr txBox="1"/>
          <p:nvPr>
            <p:ph type="title"/>
          </p:nvPr>
        </p:nvSpPr>
        <p:spPr>
          <a:xfrm>
            <a:off x="1429250" y="381450"/>
            <a:ext cx="32742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rPr lang="es" sz="1729"/>
              <a:t>Código:</a:t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1"/>
              <a:buNone/>
            </a:pPr>
            <a:r>
              <a:t/>
            </a:r>
            <a:endParaRPr sz="1729"/>
          </a:p>
        </p:txBody>
      </p:sp>
      <p:pic>
        <p:nvPicPr>
          <p:cNvPr id="236" name="Google Shape;236;g2d5ebfba3d9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4050"/>
            <a:ext cx="8839198" cy="3347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5ebd91d6a_0_27"/>
          <p:cNvSpPr txBox="1"/>
          <p:nvPr>
            <p:ph type="title"/>
          </p:nvPr>
        </p:nvSpPr>
        <p:spPr>
          <a:xfrm>
            <a:off x="1761150" y="1698975"/>
            <a:ext cx="56217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Parte Práctica,</a:t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¡Vámos a Visual Studio!</a:t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