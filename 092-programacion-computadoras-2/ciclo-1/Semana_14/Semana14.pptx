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Ft1EPrbXcIWBKLTpOUTIB/a/T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1bc15c10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1bc15c10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bc15c106b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1bc15c106b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1bc15c106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1bc15c106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2c24a789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2d2c24a789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8820563d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18820563d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8820563d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18820563d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883ae58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1883ae58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883ae58b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1883ae58b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883ae58b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1883ae58b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d5ebd91d6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2d5ebd91d6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1bc15c106b_0_18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g21bc15c106b_0_18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" name="Google Shape;12;g21bc15c106b_0_18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21bc15c106b_0_180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5" name="Google Shape;15;g21bc15c106b_0_180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21bc15c106b_0_180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g21bc15c106b_0_180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g21bc15c106b_0_180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g21bc15c106b_0_18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1bc15c106b_0_1777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g21bc15c106b_0_1777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23" name="Google Shape;23;g21bc15c106b_0_1777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g21bc15c106b_0_1777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g21bc15c106b_0_1777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21bc15c106b_0_1777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g21bc15c106b_0_177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g21bc15c106b_0_177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9" name="Google Shape;29;g21bc15c106b_0_17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g21bc15c106b_0_1787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32" name="Google Shape;32;g21bc15c106b_0_178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21bc15c106b_0_178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21bc15c106b_0_178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21bc15c106b_0_178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21bc15c106b_0_178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21bc15c106b_0_178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21bc15c106b_0_178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21bc15c106b_0_178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21bc15c106b_0_178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1bc15c106b_0_178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1bc15c106b_0_178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1bc15c106b_0_178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1bc15c106b_0_178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21bc15c106b_0_178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21bc15c106b_0_178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21bc15c106b_0_178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21bc15c106b_0_178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21bc15c106b_0_178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g21bc15c106b_0_178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21bc15c106b_0_17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g21bc15c106b_0_181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4" name="Google Shape;54;g21bc15c106b_0_18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21bc15c106b_0_18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g21bc15c106b_0_18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g21bc15c106b_0_18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21bc15c106b_0_181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g21bc15c106b_0_18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g21bc15c106b_0_182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2" name="Google Shape;62;g21bc15c106b_0_182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21bc15c106b_0_182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21bc15c106b_0_18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g21bc15c106b_0_18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21bc15c106b_0_1830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8" name="Google Shape;68;g21bc15c106b_0_183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21bc15c106b_0_183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g21bc15c106b_0_183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g21bc15c106b_0_183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g21bc15c106b_0_18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21bc15c106b_0_1837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5" name="Google Shape;75;g21bc15c106b_0_1837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21bc15c106b_0_1837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21bc15c106b_0_1837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21bc15c106b_0_1837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21bc15c106b_0_1837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21bc15c106b_0_1837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21bc15c106b_0_1837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21bc15c106b_0_1837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1bc15c106b_0_1837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21bc15c106b_0_1837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1bc15c106b_0_1837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21bc15c106b_0_1837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21bc15c106b_0_1837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21bc15c106b_0_1837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21bc15c106b_0_1837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21bc15c106b_0_1837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21bc15c106b_0_1837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21bc15c106b_0_1837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21bc15c106b_0_1837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g21bc15c106b_0_1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g21bc15c106b_0_185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7" name="Google Shape;97;g21bc15c106b_0_185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21bc15c106b_0_185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g21bc15c106b_0_185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g21bc15c106b_0_185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1" name="Google Shape;101;g21bc15c106b_0_185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g21bc15c106b_0_18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21bc15c106b_0_1867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5" name="Google Shape;105;g21bc15c106b_0_1867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21bc15c106b_0_1867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g21bc15c106b_0_1867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g21bc15c106b_0_18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21bc15c106b_0_187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1" name="Google Shape;111;g21bc15c106b_0_187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21bc15c106b_0_187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21bc15c106b_0_187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21bc15c106b_0_187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21bc15c106b_0_187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21bc15c106b_0_187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21bc15c106b_0_187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21bc15c106b_0_187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21bc15c106b_0_187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21bc15c106b_0_187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21bc15c106b_0_187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21bc15c106b_0_187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21bc15c106b_0_187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21bc15c106b_0_187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21bc15c106b_0_187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21bc15c106b_0_187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21bc15c106b_0_187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21bc15c106b_0_187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21bc15c106b_0_187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0" name="Google Shape;130;g21bc15c106b_0_187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g21bc15c106b_0_1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1bc15c106b_0_18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1bc15c106b_0_17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21bc15c106b_0_17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21bc15c106b_0_17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bc15c106b_0_0"/>
          <p:cNvSpPr txBox="1"/>
          <p:nvPr>
            <p:ph type="title"/>
          </p:nvPr>
        </p:nvSpPr>
        <p:spPr>
          <a:xfrm>
            <a:off x="390075" y="1463925"/>
            <a:ext cx="52668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Introducción a la Programación de Computadoras 2</a:t>
            </a:r>
            <a:endParaRPr sz="4400"/>
          </a:p>
        </p:txBody>
      </p:sp>
      <p:pic>
        <p:nvPicPr>
          <p:cNvPr id="139" name="Google Shape;139;g21bc15c106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6875" y="980588"/>
            <a:ext cx="3182324" cy="318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bc15c106b_0_190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4400"/>
              <a:t>Agenda</a:t>
            </a:r>
            <a:endParaRPr sz="4400"/>
          </a:p>
        </p:txBody>
      </p:sp>
      <p:sp>
        <p:nvSpPr>
          <p:cNvPr id="145" name="Google Shape;145;g21bc15c106b_0_1903"/>
          <p:cNvSpPr txBox="1"/>
          <p:nvPr>
            <p:ph idx="1" type="body"/>
          </p:nvPr>
        </p:nvSpPr>
        <p:spPr>
          <a:xfrm>
            <a:off x="1169850" y="1350200"/>
            <a:ext cx="7166700" cy="3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Repaso de conexión a bases de datos y consultas SQL.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Manipulación avanzada de registros: filtros, ordenamiento y búsqueda.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Generación de reportes básicos a partir de datos almacenados en la base de datos.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Presentación de reportes en distintos formatos en la aplicación (DataGridView, exportación a archivos).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Ejemplo práctico de creación de reportes y análisis de datos.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/>
          </a:p>
        </p:txBody>
      </p:sp>
      <p:pic>
        <p:nvPicPr>
          <p:cNvPr id="146" name="Google Shape;146;g21bc15c106b_0_19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725" y="233225"/>
            <a:ext cx="1517149" cy="151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1bc15c106b_1_8"/>
          <p:cNvSpPr txBox="1"/>
          <p:nvPr>
            <p:ph type="title"/>
          </p:nvPr>
        </p:nvSpPr>
        <p:spPr>
          <a:xfrm>
            <a:off x="306425" y="1718750"/>
            <a:ext cx="4265700" cy="22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Repaso de</a:t>
            </a:r>
            <a:r>
              <a:rPr lang="es" sz="3500"/>
              <a:t> Bases de Datos y Visual Basic .NET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500"/>
          </a:p>
        </p:txBody>
      </p:sp>
      <p:pic>
        <p:nvPicPr>
          <p:cNvPr id="152" name="Google Shape;152;g21bc15c106b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4750" y="1213500"/>
            <a:ext cx="4267075" cy="2716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2c24a7899_0_2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200"/>
              <a:t>Configuración de la Cadena de Conexión en Visual Basic .NET</a:t>
            </a:r>
            <a:endParaRPr sz="3200"/>
          </a:p>
        </p:txBody>
      </p:sp>
      <p:sp>
        <p:nvSpPr>
          <p:cNvPr id="158" name="Google Shape;158;g2d2c24a7899_0_2"/>
          <p:cNvSpPr txBox="1"/>
          <p:nvPr>
            <p:ph type="title"/>
          </p:nvPr>
        </p:nvSpPr>
        <p:spPr>
          <a:xfrm>
            <a:off x="248575" y="1578875"/>
            <a:ext cx="81207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240"/>
              <a:buNone/>
            </a:pPr>
            <a:r>
              <a:rPr lang="es" sz="1929"/>
              <a:t>¿Qué es una cadena de conexión?</a:t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240"/>
              <a:buNone/>
            </a:pPr>
            <a:r>
              <a:rPr lang="es" sz="1929"/>
              <a:t>Es la información que Visual Basic .NET necesita para conectarse a la base de datos.</a:t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5"/>
              <a:buNone/>
            </a:pPr>
            <a:r>
              <a:t/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5"/>
              <a:buNone/>
            </a:pPr>
            <a:r>
              <a:t/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5"/>
              <a:buNone/>
            </a:pPr>
            <a:r>
              <a:rPr lang="es" sz="1929"/>
              <a:t>Dim connectionString As String = "Server=localhost;Database=Biblioteca;Uid=root;Pwd=tu_contraseña;"</a:t>
            </a:r>
            <a:endParaRPr sz="192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8820563de_0_23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200"/>
              <a:t>Consultas SQL Básicas (CRUD)</a:t>
            </a:r>
            <a:endParaRPr sz="3200"/>
          </a:p>
        </p:txBody>
      </p:sp>
      <p:sp>
        <p:nvSpPr>
          <p:cNvPr id="164" name="Google Shape;164;g318820563de_0_23"/>
          <p:cNvSpPr txBox="1"/>
          <p:nvPr>
            <p:ph type="title"/>
          </p:nvPr>
        </p:nvSpPr>
        <p:spPr>
          <a:xfrm>
            <a:off x="189200" y="1420525"/>
            <a:ext cx="2089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1929"/>
              <a:t>Create</a:t>
            </a:r>
            <a:endParaRPr sz="1929"/>
          </a:p>
        </p:txBody>
      </p:sp>
      <p:pic>
        <p:nvPicPr>
          <p:cNvPr id="165" name="Google Shape;165;g318820563de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325" y="1766950"/>
            <a:ext cx="5833620" cy="9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18820563de_0_23"/>
          <p:cNvSpPr txBox="1"/>
          <p:nvPr>
            <p:ph type="title"/>
          </p:nvPr>
        </p:nvSpPr>
        <p:spPr>
          <a:xfrm>
            <a:off x="189200" y="2780250"/>
            <a:ext cx="2089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1929"/>
              <a:t>Read</a:t>
            </a:r>
            <a:endParaRPr sz="1929"/>
          </a:p>
        </p:txBody>
      </p:sp>
      <p:pic>
        <p:nvPicPr>
          <p:cNvPr id="167" name="Google Shape;167;g318820563de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4025" y="3506375"/>
            <a:ext cx="28384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8820563de_0_33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200"/>
              <a:t>Consultas SQL Básicas (CRUD)</a:t>
            </a:r>
            <a:endParaRPr sz="3200"/>
          </a:p>
        </p:txBody>
      </p:sp>
      <p:sp>
        <p:nvSpPr>
          <p:cNvPr id="173" name="Google Shape;173;g318820563de_0_33"/>
          <p:cNvSpPr txBox="1"/>
          <p:nvPr>
            <p:ph type="title"/>
          </p:nvPr>
        </p:nvSpPr>
        <p:spPr>
          <a:xfrm>
            <a:off x="189200" y="1420525"/>
            <a:ext cx="2089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1929"/>
              <a:t>Update</a:t>
            </a:r>
            <a:endParaRPr sz="1929"/>
          </a:p>
        </p:txBody>
      </p:sp>
      <p:sp>
        <p:nvSpPr>
          <p:cNvPr id="174" name="Google Shape;174;g318820563de_0_33"/>
          <p:cNvSpPr txBox="1"/>
          <p:nvPr>
            <p:ph type="title"/>
          </p:nvPr>
        </p:nvSpPr>
        <p:spPr>
          <a:xfrm>
            <a:off x="189200" y="2780250"/>
            <a:ext cx="2089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1929"/>
              <a:t>Delete</a:t>
            </a:r>
            <a:endParaRPr sz="1929"/>
          </a:p>
        </p:txBody>
      </p:sp>
      <p:pic>
        <p:nvPicPr>
          <p:cNvPr id="175" name="Google Shape;175;g318820563de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181" y="1680063"/>
            <a:ext cx="2554282" cy="110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18820563de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350" y="3559625"/>
            <a:ext cx="26479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883ae58b0_0_9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2900"/>
              <a:t>Revisión de Manipulación de Datos: Filtros y Ordenamiento</a:t>
            </a:r>
            <a:endParaRPr sz="2900"/>
          </a:p>
        </p:txBody>
      </p:sp>
      <p:sp>
        <p:nvSpPr>
          <p:cNvPr id="182" name="Google Shape;182;g31883ae58b0_0_9"/>
          <p:cNvSpPr txBox="1"/>
          <p:nvPr>
            <p:ph type="title"/>
          </p:nvPr>
        </p:nvSpPr>
        <p:spPr>
          <a:xfrm>
            <a:off x="189200" y="1420525"/>
            <a:ext cx="8433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6"/>
              <a:buNone/>
            </a:pPr>
            <a:r>
              <a:rPr lang="es" sz="1929"/>
              <a:t>Filtros: Permiten seleccionar registros específicos que cumplen ciertas condiciones.</a:t>
            </a:r>
            <a:endParaRPr sz="1929"/>
          </a:p>
        </p:txBody>
      </p:sp>
      <p:sp>
        <p:nvSpPr>
          <p:cNvPr id="183" name="Google Shape;183;g31883ae58b0_0_9"/>
          <p:cNvSpPr txBox="1"/>
          <p:nvPr>
            <p:ph type="title"/>
          </p:nvPr>
        </p:nvSpPr>
        <p:spPr>
          <a:xfrm>
            <a:off x="189200" y="2780250"/>
            <a:ext cx="8433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Ordenamiento:</a:t>
            </a:r>
            <a:endParaRPr sz="192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Organiza los registros en un orden específico, ascendente o descendente.</a:t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6"/>
              <a:buNone/>
            </a:pPr>
            <a:r>
              <a:t/>
            </a:r>
            <a:endParaRPr sz="1929"/>
          </a:p>
        </p:txBody>
      </p:sp>
      <p:pic>
        <p:nvPicPr>
          <p:cNvPr id="184" name="Google Shape;184;g31883ae58b0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700" y="2057450"/>
            <a:ext cx="3847423" cy="5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1883ae58b0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0323" y="3821175"/>
            <a:ext cx="4663351" cy="51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883ae58b0_0_24"/>
          <p:cNvSpPr txBox="1"/>
          <p:nvPr>
            <p:ph type="title"/>
          </p:nvPr>
        </p:nvSpPr>
        <p:spPr>
          <a:xfrm>
            <a:off x="1142425" y="325225"/>
            <a:ext cx="75669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2900"/>
              <a:t>Consultas SQL avanzadas</a:t>
            </a:r>
            <a:endParaRPr sz="2900"/>
          </a:p>
        </p:txBody>
      </p:sp>
      <p:sp>
        <p:nvSpPr>
          <p:cNvPr id="191" name="Google Shape;191;g31883ae58b0_0_24"/>
          <p:cNvSpPr txBox="1"/>
          <p:nvPr>
            <p:ph type="title"/>
          </p:nvPr>
        </p:nvSpPr>
        <p:spPr>
          <a:xfrm>
            <a:off x="189200" y="1334650"/>
            <a:ext cx="8433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Uso de operadores:</a:t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6"/>
              <a:buNone/>
            </a:pPr>
            <a:r>
              <a:t/>
            </a:r>
            <a:endParaRPr sz="1929"/>
          </a:p>
        </p:txBody>
      </p:sp>
      <p:sp>
        <p:nvSpPr>
          <p:cNvPr id="192" name="Google Shape;192;g31883ae58b0_0_24"/>
          <p:cNvSpPr txBox="1"/>
          <p:nvPr>
            <p:ph type="title"/>
          </p:nvPr>
        </p:nvSpPr>
        <p:spPr>
          <a:xfrm>
            <a:off x="189200" y="1830250"/>
            <a:ext cx="4563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336"/>
              <a:t>AND - OR para combinar condiciones</a:t>
            </a:r>
            <a:r>
              <a:rPr lang="es" sz="1336"/>
              <a:t>.</a:t>
            </a:r>
            <a:endParaRPr sz="1336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1736"/>
          </a:p>
        </p:txBody>
      </p:sp>
      <p:pic>
        <p:nvPicPr>
          <p:cNvPr id="193" name="Google Shape;193;g31883ae58b0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300" y="2222050"/>
            <a:ext cx="5968176" cy="6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1883ae58b0_0_24"/>
          <p:cNvSpPr txBox="1"/>
          <p:nvPr>
            <p:ph type="title"/>
          </p:nvPr>
        </p:nvSpPr>
        <p:spPr>
          <a:xfrm>
            <a:off x="252525" y="3061325"/>
            <a:ext cx="8112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36"/>
              <a:t>LIKE para patrones de búsqueda:</a:t>
            </a:r>
            <a:endParaRPr sz="133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36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1736"/>
          </a:p>
        </p:txBody>
      </p:sp>
      <p:pic>
        <p:nvPicPr>
          <p:cNvPr id="195" name="Google Shape;195;g31883ae58b0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2948" y="3558450"/>
            <a:ext cx="6073702" cy="5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883ae58b0_0_41"/>
          <p:cNvSpPr txBox="1"/>
          <p:nvPr>
            <p:ph type="title"/>
          </p:nvPr>
        </p:nvSpPr>
        <p:spPr>
          <a:xfrm>
            <a:off x="1142425" y="325225"/>
            <a:ext cx="75669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2900"/>
              <a:t>Consultas SQL avanzadas</a:t>
            </a:r>
            <a:endParaRPr sz="2900"/>
          </a:p>
        </p:txBody>
      </p:sp>
      <p:sp>
        <p:nvSpPr>
          <p:cNvPr id="201" name="Google Shape;201;g31883ae58b0_0_41"/>
          <p:cNvSpPr txBox="1"/>
          <p:nvPr>
            <p:ph type="title"/>
          </p:nvPr>
        </p:nvSpPr>
        <p:spPr>
          <a:xfrm>
            <a:off x="189200" y="1334650"/>
            <a:ext cx="8433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Funciones agregadas:</a:t>
            </a:r>
            <a:endParaRPr sz="1929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7024"/>
              <a:buFont typeface="Arial"/>
              <a:buChar char="●"/>
            </a:pPr>
            <a:r>
              <a:t/>
            </a:r>
            <a:endParaRPr sz="192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6"/>
              <a:buNone/>
            </a:pPr>
            <a:r>
              <a:t/>
            </a:r>
            <a:endParaRPr sz="1929"/>
          </a:p>
        </p:txBody>
      </p:sp>
      <p:sp>
        <p:nvSpPr>
          <p:cNvPr id="202" name="Google Shape;202;g31883ae58b0_0_41"/>
          <p:cNvSpPr txBox="1"/>
          <p:nvPr>
            <p:ph type="title"/>
          </p:nvPr>
        </p:nvSpPr>
        <p:spPr>
          <a:xfrm>
            <a:off x="189200" y="1830250"/>
            <a:ext cx="4563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336"/>
              <a:t>Promedios, sumas, conteos:</a:t>
            </a:r>
            <a:endParaRPr sz="1336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1736"/>
          </a:p>
        </p:txBody>
      </p:sp>
      <p:pic>
        <p:nvPicPr>
          <p:cNvPr id="203" name="Google Shape;203;g31883ae58b0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463" y="2571750"/>
            <a:ext cx="60864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5ebd91d6a_0_27"/>
          <p:cNvSpPr txBox="1"/>
          <p:nvPr>
            <p:ph type="title"/>
          </p:nvPr>
        </p:nvSpPr>
        <p:spPr>
          <a:xfrm>
            <a:off x="1761150" y="1698975"/>
            <a:ext cx="56217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Parte Práctica,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¡Vámos a Visual Studio!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