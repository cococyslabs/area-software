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dolescence" charset="1" panose="00000500000000000000"/>
      <p:regular r:id="rId29"/>
    </p:embeddedFont>
    <p:embeddedFont>
      <p:font typeface="Telegraf Bold Bold" charset="1" panose="00000A00000000000000"/>
      <p:regular r:id="rId30"/>
    </p:embeddedFont>
    <p:embeddedFont>
      <p:font typeface="Telegraf Medium" charset="1" panose="00000600000000000000"/>
      <p:regular r:id="rId31"/>
    </p:embeddedFont>
    <p:embeddedFont>
      <p:font typeface="Telegraf" charset="1" panose="00000500000000000000"/>
      <p:regular r:id="rId32"/>
    </p:embeddedFont>
    <p:embeddedFont>
      <p:font typeface="Open Sans Light" charset="1" panose="020B0306030504020204"/>
      <p:regular r:id="rId33"/>
    </p:embeddedFont>
    <p:embeddedFont>
      <p:font typeface="Open Sans Light Bold" charset="1" panose="020B0806030504020204"/>
      <p:regular r:id="rId34"/>
    </p:embeddedFont>
    <p:embeddedFont>
      <p:font typeface="Open Sans" charset="1" panose="020B0606030504020204"/>
      <p:regular r:id="rId35"/>
    </p:embeddedFont>
    <p:embeddedFont>
      <p:font typeface="Open Sans Bold" charset="1" panose="020B0806030504020204"/>
      <p:regular r:id="rId36"/>
    </p:embeddedFont>
    <p:embeddedFont>
      <p:font typeface="Open Sans Light Bold Italics" charset="1" panose="020B0806030504020204"/>
      <p:regular r:id="rId37"/>
    </p:embeddedFont>
    <p:embeddedFont>
      <p:font typeface="Poppins Bold" charset="1" panose="00000800000000000000"/>
      <p:regular r:id="rId38"/>
    </p:embeddedFont>
    <p:embeddedFont>
      <p:font typeface="Poppins Light" charset="1" panose="00000400000000000000"/>
      <p:regular r:id="rId39"/>
    </p:embeddedFont>
    <p:embeddedFont>
      <p:font typeface="Shrikhand" charset="1" panose="02000000000000000000"/>
      <p:regular r:id="rId40"/>
    </p:embeddedFont>
    <p:embeddedFont>
      <p:font typeface="Telegraf Bold" charset="1" panose="000008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5.jpeg" Type="http://schemas.openxmlformats.org/officeDocument/2006/relationships/image"/><Relationship Id="rId5" Target="https://youtu.be/3YY_JVlTrSs" TargetMode="External" Type="http://schemas.openxmlformats.org/officeDocument/2006/relationships/video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5.jpeg" Type="http://schemas.openxmlformats.org/officeDocument/2006/relationships/image"/><Relationship Id="rId5" Target="https://youtu.be/rBbkBOTV6TU" TargetMode="External" Type="http://schemas.openxmlformats.org/officeDocument/2006/relationships/video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955013"/>
            <a:ext cx="18288000" cy="1331987"/>
            <a:chOff x="0" y="0"/>
            <a:chExt cx="4816593" cy="350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50811"/>
            </a:xfrm>
            <a:custGeom>
              <a:avLst/>
              <a:gdLst/>
              <a:ahLst/>
              <a:cxnLst/>
              <a:rect r="r" b="b" t="t" l="l"/>
              <a:pathLst>
                <a:path h="3508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50811"/>
                  </a:lnTo>
                  <a:lnTo>
                    <a:pt x="0" y="350811"/>
                  </a:lnTo>
                  <a:close/>
                </a:path>
              </a:pathLst>
            </a:custGeom>
            <a:solidFill>
              <a:srgbClr val="DD9C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379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77391" y="0"/>
            <a:ext cx="6710609" cy="1778495"/>
          </a:xfrm>
          <a:custGeom>
            <a:avLst/>
            <a:gdLst/>
            <a:ahLst/>
            <a:cxnLst/>
            <a:rect r="r" b="b" t="t" l="l"/>
            <a:pathLst>
              <a:path h="1778495" w="6710609">
                <a:moveTo>
                  <a:pt x="0" y="0"/>
                </a:moveTo>
                <a:lnTo>
                  <a:pt x="6710609" y="0"/>
                </a:lnTo>
                <a:lnTo>
                  <a:pt x="6710609" y="1778495"/>
                </a:lnTo>
                <a:lnTo>
                  <a:pt x="0" y="1778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55892" y="-182720"/>
            <a:ext cx="10758965" cy="10652440"/>
            <a:chOff x="0" y="0"/>
            <a:chExt cx="3331210" cy="3298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1210" cy="3298228"/>
            </a:xfrm>
            <a:custGeom>
              <a:avLst/>
              <a:gdLst/>
              <a:ahLst/>
              <a:cxnLst/>
              <a:rect r="r" b="b" t="t" l="l"/>
              <a:pathLst>
                <a:path h="3298228" w="3331210">
                  <a:moveTo>
                    <a:pt x="0" y="0"/>
                  </a:moveTo>
                  <a:lnTo>
                    <a:pt x="3331210" y="0"/>
                  </a:lnTo>
                  <a:cubicBezTo>
                    <a:pt x="3331210" y="1822010"/>
                    <a:pt x="1840230" y="3298228"/>
                    <a:pt x="0" y="3298228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977" t="0" r="-52977" b="0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3488871" y="2102841"/>
          <a:ext cx="4227230" cy="1866900"/>
        </p:xfrm>
        <a:graphic>
          <a:graphicData uri="http://schemas.openxmlformats.org/drawingml/2006/table">
            <a:tbl>
              <a:tblPr/>
              <a:tblGrid>
                <a:gridCol w="2067519"/>
                <a:gridCol w="2159710"/>
              </a:tblGrid>
              <a:tr h="933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dolescence"/>
                          <a:ea typeface="Adolescence"/>
                          <a:cs typeface="Adolescence"/>
                          <a:sym typeface="Adolescence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dolescence"/>
                          <a:ea typeface="Adolescence"/>
                          <a:cs typeface="Adolescence"/>
                          <a:sym typeface="Adolescence"/>
                        </a:rPr>
                        <a:t>0/00/0000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dolescence"/>
                          <a:ea typeface="Adolescence"/>
                          <a:cs typeface="Adolescence"/>
                          <a:sym typeface="Adolescence"/>
                        </a:rPr>
                        <a:t>Hora de 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Adolescence"/>
                          <a:ea typeface="Adolescence"/>
                          <a:cs typeface="Adolescence"/>
                          <a:sym typeface="Adolescence"/>
                        </a:rPr>
                        <a:t>0:00 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1758909" y="8995114"/>
            <a:ext cx="8772067" cy="1291886"/>
          </a:xfrm>
          <a:custGeom>
            <a:avLst/>
            <a:gdLst/>
            <a:ahLst/>
            <a:cxnLst/>
            <a:rect r="r" b="b" t="t" l="l"/>
            <a:pathLst>
              <a:path h="1291886" w="8772067">
                <a:moveTo>
                  <a:pt x="0" y="0"/>
                </a:moveTo>
                <a:lnTo>
                  <a:pt x="8772068" y="0"/>
                </a:lnTo>
                <a:lnTo>
                  <a:pt x="8772068" y="1291886"/>
                </a:lnTo>
                <a:lnTo>
                  <a:pt x="0" y="129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0" y="4393589"/>
            <a:ext cx="8974978" cy="136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sz="7199">
                <a:solidFill>
                  <a:srgbClr val="000000"/>
                </a:solidFill>
                <a:latin typeface="Adolescence"/>
                <a:ea typeface="Adolescence"/>
                <a:cs typeface="Adolescence"/>
                <a:sym typeface="Adolescence"/>
              </a:rPr>
              <a:t>Programación de computadoras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70963" y="7944189"/>
            <a:ext cx="6217037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Adolescence"/>
                <a:ea typeface="Adolescence"/>
                <a:cs typeface="Adolescence"/>
                <a:sym typeface="Adolescence"/>
              </a:rPr>
              <a:t>Aux: Andy Ezequiel Sanic Tiul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85240" y="5601312"/>
            <a:ext cx="2233738" cy="76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dolescence"/>
                <a:ea typeface="Adolescence"/>
                <a:cs typeface="Adolescence"/>
                <a:sym typeface="Adolescence"/>
              </a:rPr>
              <a:t>Sección: 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94" y="0"/>
            <a:ext cx="18258206" cy="10287000"/>
          </a:xfrm>
          <a:custGeom>
            <a:avLst/>
            <a:gdLst/>
            <a:ahLst/>
            <a:cxnLst/>
            <a:rect r="r" b="b" t="t" l="l"/>
            <a:pathLst>
              <a:path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42863" y="4549584"/>
            <a:ext cx="12202273" cy="1187832"/>
          </a:xfrm>
          <a:custGeom>
            <a:avLst/>
            <a:gdLst/>
            <a:ahLst/>
            <a:cxnLst/>
            <a:rect r="r" b="b" t="t" l="l"/>
            <a:pathLst>
              <a:path h="1187832" w="12202273">
                <a:moveTo>
                  <a:pt x="0" y="0"/>
                </a:moveTo>
                <a:lnTo>
                  <a:pt x="12202274" y="0"/>
                </a:lnTo>
                <a:lnTo>
                  <a:pt x="12202274" y="1187832"/>
                </a:lnTo>
                <a:lnTo>
                  <a:pt x="0" y="1187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9220" y="5529408"/>
            <a:ext cx="11679354" cy="1146517"/>
          </a:xfrm>
          <a:custGeom>
            <a:avLst/>
            <a:gdLst/>
            <a:ahLst/>
            <a:cxnLst/>
            <a:rect r="r" b="b" t="t" l="l"/>
            <a:pathLst>
              <a:path h="1146517" w="11679354">
                <a:moveTo>
                  <a:pt x="0" y="0"/>
                </a:moveTo>
                <a:lnTo>
                  <a:pt x="11679354" y="0"/>
                </a:lnTo>
                <a:lnTo>
                  <a:pt x="11679354" y="1146516"/>
                </a:lnTo>
                <a:lnTo>
                  <a:pt x="0" y="1146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02687" y="2006946"/>
            <a:ext cx="5484899" cy="1382748"/>
          </a:xfrm>
          <a:custGeom>
            <a:avLst/>
            <a:gdLst/>
            <a:ahLst/>
            <a:cxnLst/>
            <a:rect r="r" b="b" t="t" l="l"/>
            <a:pathLst>
              <a:path h="1382748" w="5484899">
                <a:moveTo>
                  <a:pt x="0" y="0"/>
                </a:moveTo>
                <a:lnTo>
                  <a:pt x="5484899" y="0"/>
                </a:lnTo>
                <a:lnTo>
                  <a:pt x="5484899" y="1382747"/>
                </a:lnTo>
                <a:lnTo>
                  <a:pt x="0" y="1382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-1497230" y="1409077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587913" y="2053719"/>
            <a:ext cx="5385637" cy="10944960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1359" t="0" r="-18414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304800" y="8305177"/>
            <a:ext cx="3090940" cy="1994712"/>
          </a:xfrm>
          <a:custGeom>
            <a:avLst/>
            <a:gdLst/>
            <a:ahLst/>
            <a:cxnLst/>
            <a:rect r="r" b="b" t="t" l="l"/>
            <a:pathLst>
              <a:path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889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4534" y="2129919"/>
            <a:ext cx="6791890" cy="144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0"/>
              </a:lnSpc>
            </a:pPr>
            <a:r>
              <a:rPr lang="en-US" b="true" sz="10000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Clase 10</a:t>
            </a:r>
          </a:p>
        </p:txBody>
      </p:sp>
      <p:sp>
        <p:nvSpPr>
          <p:cNvPr name="TextBox 10" id="10"/>
          <p:cNvSpPr txBox="true"/>
          <p:nvPr/>
        </p:nvSpPr>
        <p:spPr>
          <a:xfrm rot="5400000">
            <a:off x="14963536" y="6556334"/>
            <a:ext cx="5337506" cy="45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9"/>
              </a:lnSpc>
              <a:spcBef>
                <a:spcPct val="0"/>
              </a:spcBef>
            </a:pPr>
            <a:r>
              <a:rPr lang="en-US" sz="1432" spc="143">
                <a:solidFill>
                  <a:srgbClr val="191919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ESCUELA DE CIENCIAS Y SISTEMAS | FACULTAD DE INGENIERÍA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5575" y="4966120"/>
            <a:ext cx="6255575" cy="143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b="true" sz="9999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Unidad 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04934" y="8629027"/>
            <a:ext cx="8282979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3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Escuela de Ingeniería de Ciencias y Sistemas</a:t>
            </a:r>
          </a:p>
          <a:p>
            <a:pPr algn="l">
              <a:lnSpc>
                <a:spcPts val="3600"/>
              </a:lnSpc>
            </a:pPr>
            <a:r>
              <a:rPr lang="en-US" sz="3000" spc="3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Facultad de Ingeniería</a:t>
            </a:r>
          </a:p>
          <a:p>
            <a:pPr algn="l">
              <a:lnSpc>
                <a:spcPts val="3600"/>
              </a:lnSpc>
            </a:pPr>
            <a:r>
              <a:rPr lang="en-US" sz="3000" spc="3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Universidad San Carlos de Guatemala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657477"/>
            <a:ext cx="937775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spc="39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0548" y="-148999"/>
            <a:ext cx="10837452" cy="10584998"/>
          </a:xfrm>
          <a:custGeom>
            <a:avLst/>
            <a:gdLst/>
            <a:ahLst/>
            <a:cxnLst/>
            <a:rect r="r" b="b" t="t" l="l"/>
            <a:pathLst>
              <a:path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26788" r="0" b="-267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17399" y="3450207"/>
            <a:ext cx="553830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Repaso obtener datos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24347" y="3177524"/>
            <a:ext cx="1055905" cy="1055905"/>
            <a:chOff x="0" y="0"/>
            <a:chExt cx="2311400" cy="2311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731521" y="3415673"/>
            <a:ext cx="441556" cy="579607"/>
          </a:xfrm>
          <a:custGeom>
            <a:avLst/>
            <a:gdLst/>
            <a:ahLst/>
            <a:cxnLst/>
            <a:rect r="r" b="b" t="t" l="l"/>
            <a:pathLst>
              <a:path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17399" y="4829832"/>
            <a:ext cx="553830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Registrar nuevos datos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24347" y="4557149"/>
            <a:ext cx="1055905" cy="1055905"/>
            <a:chOff x="0" y="0"/>
            <a:chExt cx="2311400" cy="231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731521" y="4795298"/>
            <a:ext cx="441556" cy="579607"/>
          </a:xfrm>
          <a:custGeom>
            <a:avLst/>
            <a:gdLst/>
            <a:ahLst/>
            <a:cxnLst/>
            <a:rect r="r" b="b" t="t" l="l"/>
            <a:pathLst>
              <a:path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17399" y="6241109"/>
            <a:ext cx="553830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Modificar datos existentes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24347" y="5968426"/>
            <a:ext cx="1055905" cy="1055905"/>
            <a:chOff x="0" y="0"/>
            <a:chExt cx="2311400" cy="2311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1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731521" y="6206575"/>
            <a:ext cx="441556" cy="579607"/>
          </a:xfrm>
          <a:custGeom>
            <a:avLst/>
            <a:gdLst/>
            <a:ahLst/>
            <a:cxnLst/>
            <a:rect r="r" b="b" t="t" l="l"/>
            <a:pathLst>
              <a:path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00765"/>
            <a:ext cx="5817742" cy="115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b="true" sz="8000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Contenido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028700" y="900765"/>
            <a:ext cx="5817742" cy="115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b="true" sz="8000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Agenda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21525" y="3318714"/>
            <a:ext cx="1055905" cy="1055905"/>
            <a:chOff x="0" y="0"/>
            <a:chExt cx="2311400" cy="231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1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FEFFFF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3556862"/>
            <a:ext cx="441556" cy="579607"/>
          </a:xfrm>
          <a:custGeom>
            <a:avLst/>
            <a:gdLst/>
            <a:ahLst/>
            <a:cxnLst/>
            <a:rect r="r" b="b" t="t" l="l"/>
            <a:pathLst>
              <a:path h="579607" w="441556">
                <a:moveTo>
                  <a:pt x="0" y="0"/>
                </a:moveTo>
                <a:lnTo>
                  <a:pt x="441556" y="0"/>
                </a:lnTo>
                <a:lnTo>
                  <a:pt x="441556" y="579608"/>
                </a:lnTo>
                <a:lnTo>
                  <a:pt x="0" y="579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12243" y="3591396"/>
            <a:ext cx="553830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Videos quicksort y burbuja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12243" y="4846014"/>
            <a:ext cx="553830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Corto 10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1525" y="4615548"/>
            <a:ext cx="1055905" cy="1055905"/>
            <a:chOff x="0" y="0"/>
            <a:chExt cx="2311400" cy="2311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FEFF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28700" y="4853696"/>
            <a:ext cx="441556" cy="579607"/>
          </a:xfrm>
          <a:custGeom>
            <a:avLst/>
            <a:gdLst/>
            <a:ahLst/>
            <a:cxnLst/>
            <a:rect r="r" b="b" t="t" l="l"/>
            <a:pathLst>
              <a:path h="579607" w="441556">
                <a:moveTo>
                  <a:pt x="0" y="0"/>
                </a:moveTo>
                <a:lnTo>
                  <a:pt x="441556" y="0"/>
                </a:lnTo>
                <a:lnTo>
                  <a:pt x="441556" y="579608"/>
                </a:lnTo>
                <a:lnTo>
                  <a:pt x="0" y="579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424347" y="7586306"/>
            <a:ext cx="1055905" cy="1055905"/>
            <a:chOff x="0" y="0"/>
            <a:chExt cx="2311400" cy="231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1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9731521" y="7853006"/>
            <a:ext cx="441556" cy="579607"/>
          </a:xfrm>
          <a:custGeom>
            <a:avLst/>
            <a:gdLst/>
            <a:ahLst/>
            <a:cxnLst/>
            <a:rect r="r" b="b" t="t" l="l"/>
            <a:pathLst>
              <a:path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917399" y="7776806"/>
            <a:ext cx="553830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Logica ordenamiento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415492" y="4678770"/>
            <a:ext cx="5843808" cy="3886132"/>
          </a:xfrm>
          <a:custGeom>
            <a:avLst/>
            <a:gdLst/>
            <a:ahLst/>
            <a:cxnLst/>
            <a:rect r="r" b="b" t="t" l="l"/>
            <a:pathLst>
              <a:path h="3886132" w="5843808">
                <a:moveTo>
                  <a:pt x="0" y="0"/>
                </a:moveTo>
                <a:lnTo>
                  <a:pt x="5843808" y="0"/>
                </a:lnTo>
                <a:lnTo>
                  <a:pt x="5843808" y="3886132"/>
                </a:lnTo>
                <a:lnTo>
                  <a:pt x="0" y="3886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520755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Consulta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17423" y="1722458"/>
            <a:ext cx="14141877" cy="415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sz="3354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 realizar consultas sobre las tablas </a:t>
            </a:r>
            <a:r>
              <a:rPr lang="en-US" sz="3354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 las bases de datos disponemos de la instrucción </a:t>
            </a:r>
            <a:r>
              <a:rPr lang="en-US" b="true" sz="3354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SELECT</a:t>
            </a:r>
            <a:r>
              <a:rPr lang="en-US" sz="3354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 Con ella podemos consultar una o varias tablas. Es el comando más versátil del lenguaje SQL. </a:t>
            </a:r>
          </a:p>
          <a:p>
            <a:pPr algn="l">
              <a:lnSpc>
                <a:spcPts val="4695"/>
              </a:lnSpc>
            </a:pPr>
          </a:p>
          <a:p>
            <a:pPr algn="l">
              <a:lnSpc>
                <a:spcPts val="4695"/>
              </a:lnSpc>
            </a:pPr>
            <a:r>
              <a:rPr lang="en-US" sz="3354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Existen muchas cláusulas asociadas a la sentencia SELECT (GROUP BY, ORDER, HAVING, UNION).</a:t>
            </a:r>
          </a:p>
          <a:p>
            <a:pPr algn="l">
              <a:lnSpc>
                <a:spcPts val="508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2901805" y="4126512"/>
            <a:ext cx="14946300" cy="2033977"/>
          </a:xfrm>
          <a:custGeom>
            <a:avLst/>
            <a:gdLst/>
            <a:ahLst/>
            <a:cxnLst/>
            <a:rect r="r" b="b" t="t" l="l"/>
            <a:pathLst>
              <a:path h="2033977" w="14946300">
                <a:moveTo>
                  <a:pt x="0" y="0"/>
                </a:moveTo>
                <a:lnTo>
                  <a:pt x="14946300" y="0"/>
                </a:lnTo>
                <a:lnTo>
                  <a:pt x="14946300" y="2033976"/>
                </a:lnTo>
                <a:lnTo>
                  <a:pt x="0" y="2033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520755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Consulta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1805" y="1666857"/>
            <a:ext cx="52871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Estructura basica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2901805" y="520755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Consulta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01805" y="1746234"/>
            <a:ext cx="984468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 basica</a:t>
            </a: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: Condiciones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13187" y="2710180"/>
            <a:ext cx="4895850" cy="553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&gt;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(Mayor)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&gt;=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(Mayor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o igual)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&lt; 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(Menor)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&lt;= 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(Menor o igual)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=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(Igual)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&lt;&gt; o !=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(Distinto)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IS [NOT] NULL </a:t>
            </a:r>
          </a:p>
          <a:p>
            <a:pPr algn="l">
              <a:lnSpc>
                <a:spcPts val="54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911754" y="2710180"/>
            <a:ext cx="3195489" cy="484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LIKE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BETWEEN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IN</a:t>
            </a:r>
            <a:r>
              <a:rPr lang="en-US" sz="3925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 )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OR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AND</a:t>
            </a:r>
          </a:p>
          <a:p>
            <a:pPr algn="l" marL="847441" indent="-423720" lvl="1">
              <a:lnSpc>
                <a:spcPts val="5495"/>
              </a:lnSpc>
              <a:buFont typeface="Arial"/>
              <a:buChar char="•"/>
            </a:pPr>
            <a:r>
              <a:rPr lang="en-US" b="true" sz="3925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NOT </a:t>
            </a:r>
          </a:p>
          <a:p>
            <a:pPr algn="l">
              <a:lnSpc>
                <a:spcPts val="549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4088233" y="3176606"/>
            <a:ext cx="12367471" cy="2222484"/>
          </a:xfrm>
          <a:custGeom>
            <a:avLst/>
            <a:gdLst/>
            <a:ahLst/>
            <a:cxnLst/>
            <a:rect r="r" b="b" t="t" l="l"/>
            <a:pathLst>
              <a:path h="2222484" w="12367471">
                <a:moveTo>
                  <a:pt x="0" y="0"/>
                </a:moveTo>
                <a:lnTo>
                  <a:pt x="12367470" y="0"/>
                </a:lnTo>
                <a:lnTo>
                  <a:pt x="12367470" y="2222484"/>
                </a:lnTo>
                <a:lnTo>
                  <a:pt x="0" y="222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88233" y="5875253"/>
            <a:ext cx="12769269" cy="1445131"/>
          </a:xfrm>
          <a:custGeom>
            <a:avLst/>
            <a:gdLst/>
            <a:ahLst/>
            <a:cxnLst/>
            <a:rect r="r" b="b" t="t" l="l"/>
            <a:pathLst>
              <a:path h="1445131" w="12769269">
                <a:moveTo>
                  <a:pt x="0" y="0"/>
                </a:moveTo>
                <a:lnTo>
                  <a:pt x="12769269" y="0"/>
                </a:lnTo>
                <a:lnTo>
                  <a:pt x="12769269" y="1445130"/>
                </a:lnTo>
                <a:lnTo>
                  <a:pt x="0" y="1445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1805" y="520755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Consulta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6446" y="1899285"/>
            <a:ext cx="28046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Ejemplos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4650369" y="3037930"/>
            <a:ext cx="11446656" cy="823130"/>
          </a:xfrm>
          <a:custGeom>
            <a:avLst/>
            <a:gdLst/>
            <a:ahLst/>
            <a:cxnLst/>
            <a:rect r="r" b="b" t="t" l="l"/>
            <a:pathLst>
              <a:path h="823130" w="11446656">
                <a:moveTo>
                  <a:pt x="0" y="0"/>
                </a:moveTo>
                <a:lnTo>
                  <a:pt x="11446656" y="0"/>
                </a:lnTo>
                <a:lnTo>
                  <a:pt x="11446656" y="823131"/>
                </a:lnTo>
                <a:lnTo>
                  <a:pt x="0" y="823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82167" y="4709768"/>
            <a:ext cx="11783061" cy="867465"/>
          </a:xfrm>
          <a:custGeom>
            <a:avLst/>
            <a:gdLst/>
            <a:ahLst/>
            <a:cxnLst/>
            <a:rect r="r" b="b" t="t" l="l"/>
            <a:pathLst>
              <a:path h="867465" w="11783061">
                <a:moveTo>
                  <a:pt x="0" y="0"/>
                </a:moveTo>
                <a:lnTo>
                  <a:pt x="11783060" y="0"/>
                </a:lnTo>
                <a:lnTo>
                  <a:pt x="11783060" y="867464"/>
                </a:lnTo>
                <a:lnTo>
                  <a:pt x="0" y="867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56446" y="6229517"/>
            <a:ext cx="14864016" cy="615669"/>
          </a:xfrm>
          <a:custGeom>
            <a:avLst/>
            <a:gdLst/>
            <a:ahLst/>
            <a:cxnLst/>
            <a:rect r="r" b="b" t="t" l="l"/>
            <a:pathLst>
              <a:path h="615669" w="14864016">
                <a:moveTo>
                  <a:pt x="0" y="0"/>
                </a:moveTo>
                <a:lnTo>
                  <a:pt x="14864015" y="0"/>
                </a:lnTo>
                <a:lnTo>
                  <a:pt x="14864015" y="615669"/>
                </a:lnTo>
                <a:lnTo>
                  <a:pt x="0" y="615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1805" y="520755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Consulta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56446" y="1899285"/>
            <a:ext cx="28046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Ejemplos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0419402" y="5143500"/>
            <a:ext cx="6036301" cy="4104685"/>
          </a:xfrm>
          <a:custGeom>
            <a:avLst/>
            <a:gdLst/>
            <a:ahLst/>
            <a:cxnLst/>
            <a:rect r="r" b="b" t="t" l="l"/>
            <a:pathLst>
              <a:path h="4104685" w="6036301">
                <a:moveTo>
                  <a:pt x="0" y="0"/>
                </a:moveTo>
                <a:lnTo>
                  <a:pt x="6036301" y="0"/>
                </a:lnTo>
                <a:lnTo>
                  <a:pt x="6036301" y="4104685"/>
                </a:lnTo>
                <a:lnTo>
                  <a:pt x="0" y="4104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Insertar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1805" y="2219356"/>
            <a:ext cx="13955697" cy="21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 SQL, hay dos formas muy sencillas para INSERT</a:t>
            </a:r>
            <a:r>
              <a:rPr lang="en-US" sz="4199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 datos en una tabla: Una es insertar una fila a la vez, y la otra es insertar filas múltiples o conjuntos de filas.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3115515" y="4400097"/>
            <a:ext cx="14529645" cy="1892233"/>
          </a:xfrm>
          <a:custGeom>
            <a:avLst/>
            <a:gdLst/>
            <a:ahLst/>
            <a:cxnLst/>
            <a:rect r="r" b="b" t="t" l="l"/>
            <a:pathLst>
              <a:path h="1892233" w="14529645">
                <a:moveTo>
                  <a:pt x="0" y="0"/>
                </a:moveTo>
                <a:lnTo>
                  <a:pt x="14529646" y="0"/>
                </a:lnTo>
                <a:lnTo>
                  <a:pt x="14529646" y="1892233"/>
                </a:lnTo>
                <a:lnTo>
                  <a:pt x="0" y="1892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Insertar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1805" y="1666857"/>
            <a:ext cx="52871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Estructura basica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2596286" y="1785794"/>
            <a:ext cx="4046254" cy="3349291"/>
          </a:xfrm>
          <a:custGeom>
            <a:avLst/>
            <a:gdLst/>
            <a:ahLst/>
            <a:cxnLst/>
            <a:rect r="r" b="b" t="t" l="l"/>
            <a:pathLst>
              <a:path h="3349291" w="4046254">
                <a:moveTo>
                  <a:pt x="0" y="0"/>
                </a:moveTo>
                <a:lnTo>
                  <a:pt x="4046253" y="0"/>
                </a:lnTo>
                <a:lnTo>
                  <a:pt x="4046253" y="3349291"/>
                </a:lnTo>
                <a:lnTo>
                  <a:pt x="0" y="3349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01805" y="5635869"/>
            <a:ext cx="15044775" cy="3622431"/>
          </a:xfrm>
          <a:custGeom>
            <a:avLst/>
            <a:gdLst/>
            <a:ahLst/>
            <a:cxnLst/>
            <a:rect r="r" b="b" t="t" l="l"/>
            <a:pathLst>
              <a:path h="3622431" w="15044775">
                <a:moveTo>
                  <a:pt x="0" y="0"/>
                </a:moveTo>
                <a:lnTo>
                  <a:pt x="15044775" y="0"/>
                </a:lnTo>
                <a:lnTo>
                  <a:pt x="15044775" y="3622431"/>
                </a:lnTo>
                <a:lnTo>
                  <a:pt x="0" y="3622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Insertar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1805" y="1928149"/>
            <a:ext cx="89402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Ejemplo: Guardar un registro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20402" y="3145322"/>
            <a:ext cx="89140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1616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Tabla donde se almacenara los productos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3103852" y="4174873"/>
            <a:ext cx="14627890" cy="2629446"/>
          </a:xfrm>
          <a:custGeom>
            <a:avLst/>
            <a:gdLst/>
            <a:ahLst/>
            <a:cxnLst/>
            <a:rect r="r" b="b" t="t" l="l"/>
            <a:pathLst>
              <a:path h="2629446" w="14627890">
                <a:moveTo>
                  <a:pt x="0" y="0"/>
                </a:moveTo>
                <a:lnTo>
                  <a:pt x="14627890" y="0"/>
                </a:lnTo>
                <a:lnTo>
                  <a:pt x="14627890" y="2629446"/>
                </a:lnTo>
                <a:lnTo>
                  <a:pt x="0" y="2629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Insertar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1805" y="1957013"/>
            <a:ext cx="102932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Ejemplo: Guardar varios registros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2972324" y="5160677"/>
            <a:ext cx="4097623" cy="4097623"/>
          </a:xfrm>
          <a:custGeom>
            <a:avLst/>
            <a:gdLst/>
            <a:ahLst/>
            <a:cxnLst/>
            <a:rect r="r" b="b" t="t" l="l"/>
            <a:pathLst>
              <a:path h="4097623" w="4097623">
                <a:moveTo>
                  <a:pt x="0" y="0"/>
                </a:moveTo>
                <a:lnTo>
                  <a:pt x="4097624" y="0"/>
                </a:lnTo>
                <a:lnTo>
                  <a:pt x="4097624" y="4097623"/>
                </a:lnTo>
                <a:lnTo>
                  <a:pt x="0" y="4097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Modificar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1805" y="2219356"/>
            <a:ext cx="14532975" cy="294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191919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Update</a:t>
            </a:r>
            <a:r>
              <a:rPr lang="en-US" sz="4199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es la instrucción SQL que nos sirve para mo</a:t>
            </a:r>
            <a:r>
              <a:rPr lang="en-US" sz="4199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dificar los registros de una tabla. Necesitamos especificar por medio de </a:t>
            </a:r>
            <a:r>
              <a:rPr lang="en-US" b="true" sz="4199" i="true">
                <a:solidFill>
                  <a:srgbClr val="191919"/>
                </a:solidFill>
                <a:latin typeface="Open Sans Light Bold Italics"/>
                <a:ea typeface="Open Sans Light Bold Italics"/>
                <a:cs typeface="Open Sans Light Bold Italics"/>
                <a:sym typeface="Open Sans Light Bold Italics"/>
              </a:rPr>
              <a:t>Where</a:t>
            </a:r>
            <a:r>
              <a:rPr lang="en-US" sz="4199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cuáles son los registros en los que queremos hacer efectivas nuestras modificaciones.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2901805" y="4399321"/>
            <a:ext cx="14883907" cy="1906185"/>
          </a:xfrm>
          <a:custGeom>
            <a:avLst/>
            <a:gdLst/>
            <a:ahLst/>
            <a:cxnLst/>
            <a:rect r="r" b="b" t="t" l="l"/>
            <a:pathLst>
              <a:path h="1906185" w="14883907">
                <a:moveTo>
                  <a:pt x="0" y="0"/>
                </a:moveTo>
                <a:lnTo>
                  <a:pt x="14883907" y="0"/>
                </a:lnTo>
                <a:lnTo>
                  <a:pt x="14883907" y="1906184"/>
                </a:lnTo>
                <a:lnTo>
                  <a:pt x="0" y="1906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Modificar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1805" y="1666857"/>
            <a:ext cx="52871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Estructura basica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6696453" y="3450250"/>
            <a:ext cx="7426128" cy="2740595"/>
          </a:xfrm>
          <a:custGeom>
            <a:avLst/>
            <a:gdLst/>
            <a:ahLst/>
            <a:cxnLst/>
            <a:rect r="r" b="b" t="t" l="l"/>
            <a:pathLst>
              <a:path h="2740595" w="7426128">
                <a:moveTo>
                  <a:pt x="0" y="0"/>
                </a:moveTo>
                <a:lnTo>
                  <a:pt x="7426128" y="0"/>
                </a:lnTo>
                <a:lnTo>
                  <a:pt x="7426128" y="2740595"/>
                </a:lnTo>
                <a:lnTo>
                  <a:pt x="0" y="2740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13845" y="6570369"/>
            <a:ext cx="10090110" cy="1761765"/>
          </a:xfrm>
          <a:custGeom>
            <a:avLst/>
            <a:gdLst/>
            <a:ahLst/>
            <a:cxnLst/>
            <a:rect r="r" b="b" t="t" l="l"/>
            <a:pathLst>
              <a:path h="1761765" w="10090110">
                <a:moveTo>
                  <a:pt x="0" y="0"/>
                </a:moveTo>
                <a:lnTo>
                  <a:pt x="10090109" y="0"/>
                </a:lnTo>
                <a:lnTo>
                  <a:pt x="10090109" y="1761765"/>
                </a:lnTo>
                <a:lnTo>
                  <a:pt x="0" y="1761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1805" y="712754"/>
            <a:ext cx="13553898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Modificar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1805" y="1985877"/>
            <a:ext cx="28046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Ejemplos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72139" y="8677910"/>
            <a:ext cx="94132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1616"/>
                </a:solidFill>
                <a:latin typeface="Open Sans Light Bold"/>
                <a:ea typeface="Open Sans Light Bold"/>
                <a:cs typeface="Open Sans Light Bold"/>
                <a:sym typeface="Open Sans Light Bold"/>
              </a:rPr>
              <a:t>CUIDADO: Se modificara todas las consultas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3303603" y="4164643"/>
            <a:ext cx="13553898" cy="201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6"/>
              </a:lnSpc>
            </a:pPr>
            <a:r>
              <a:rPr lang="en-US" sz="7416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Métodos de ordenamiento</a:t>
            </a:r>
          </a:p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Quicksort y Burbuja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418429" y="236259"/>
            <a:ext cx="15638767" cy="7841570"/>
            <a:chOff x="0" y="0"/>
            <a:chExt cx="4447876" cy="2230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7876" cy="2230248"/>
            </a:xfrm>
            <a:custGeom>
              <a:avLst/>
              <a:gdLst/>
              <a:ahLst/>
              <a:cxnLst/>
              <a:rect r="r" b="b" t="t" l="l"/>
              <a:pathLst>
                <a:path h="2230248" w="4447876">
                  <a:moveTo>
                    <a:pt x="4323416" y="2230248"/>
                  </a:moveTo>
                  <a:lnTo>
                    <a:pt x="124460" y="2230248"/>
                  </a:lnTo>
                  <a:cubicBezTo>
                    <a:pt x="55880" y="2230248"/>
                    <a:pt x="0" y="2174368"/>
                    <a:pt x="0" y="21057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323416" y="0"/>
                  </a:lnTo>
                  <a:cubicBezTo>
                    <a:pt x="4391996" y="0"/>
                    <a:pt x="4447876" y="55880"/>
                    <a:pt x="4447876" y="124460"/>
                  </a:cubicBezTo>
                  <a:lnTo>
                    <a:pt x="4447876" y="2105788"/>
                  </a:lnTo>
                  <a:cubicBezTo>
                    <a:pt x="4447876" y="2174368"/>
                    <a:pt x="4391996" y="2230248"/>
                    <a:pt x="4323416" y="2230248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3090914" y="1043177"/>
            <a:ext cx="12293796" cy="6909862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56395" y="147658"/>
            <a:ext cx="5102881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Quicksort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418429" y="236259"/>
            <a:ext cx="15638767" cy="7841570"/>
            <a:chOff x="0" y="0"/>
            <a:chExt cx="4447876" cy="2230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7876" cy="2230248"/>
            </a:xfrm>
            <a:custGeom>
              <a:avLst/>
              <a:gdLst/>
              <a:ahLst/>
              <a:cxnLst/>
              <a:rect r="r" b="b" t="t" l="l"/>
              <a:pathLst>
                <a:path h="2230248" w="4447876">
                  <a:moveTo>
                    <a:pt x="4323416" y="2230248"/>
                  </a:moveTo>
                  <a:lnTo>
                    <a:pt x="124460" y="2230248"/>
                  </a:lnTo>
                  <a:cubicBezTo>
                    <a:pt x="55880" y="2230248"/>
                    <a:pt x="0" y="2174368"/>
                    <a:pt x="0" y="21057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323416" y="0"/>
                  </a:lnTo>
                  <a:cubicBezTo>
                    <a:pt x="4391996" y="0"/>
                    <a:pt x="4447876" y="55880"/>
                    <a:pt x="4447876" y="124460"/>
                  </a:cubicBezTo>
                  <a:lnTo>
                    <a:pt x="4447876" y="2105788"/>
                  </a:lnTo>
                  <a:cubicBezTo>
                    <a:pt x="4447876" y="2174368"/>
                    <a:pt x="4391996" y="2230248"/>
                    <a:pt x="4323416" y="2230248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4313198" y="1043177"/>
            <a:ext cx="11954233" cy="671900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03204" y="147658"/>
            <a:ext cx="3984710" cy="10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6"/>
              </a:lnSpc>
            </a:pPr>
            <a:r>
              <a:rPr lang="en-US" b="true" sz="7416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Burbuja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7915" y="-320062"/>
            <a:ext cx="15472153" cy="11355692"/>
            <a:chOff x="0" y="0"/>
            <a:chExt cx="4074970" cy="299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74970" cy="2990800"/>
            </a:xfrm>
            <a:custGeom>
              <a:avLst/>
              <a:gdLst/>
              <a:ahLst/>
              <a:cxnLst/>
              <a:rect r="r" b="b" t="t" l="l"/>
              <a:pathLst>
                <a:path h="2990800" w="4074970">
                  <a:moveTo>
                    <a:pt x="24519" y="0"/>
                  </a:moveTo>
                  <a:lnTo>
                    <a:pt x="4050452" y="0"/>
                  </a:lnTo>
                  <a:cubicBezTo>
                    <a:pt x="4056954" y="0"/>
                    <a:pt x="4063191" y="2583"/>
                    <a:pt x="4067789" y="7181"/>
                  </a:cubicBezTo>
                  <a:cubicBezTo>
                    <a:pt x="4072387" y="11779"/>
                    <a:pt x="4074970" y="18016"/>
                    <a:pt x="4074970" y="24519"/>
                  </a:cubicBezTo>
                  <a:lnTo>
                    <a:pt x="4074970" y="2966281"/>
                  </a:lnTo>
                  <a:cubicBezTo>
                    <a:pt x="4074970" y="2979822"/>
                    <a:pt x="4063993" y="2990800"/>
                    <a:pt x="4050452" y="2990800"/>
                  </a:cubicBezTo>
                  <a:lnTo>
                    <a:pt x="24519" y="2990800"/>
                  </a:lnTo>
                  <a:cubicBezTo>
                    <a:pt x="10977" y="2990800"/>
                    <a:pt x="0" y="2979822"/>
                    <a:pt x="0" y="2966281"/>
                  </a:cubicBezTo>
                  <a:lnTo>
                    <a:pt x="0" y="24519"/>
                  </a:lnTo>
                  <a:cubicBezTo>
                    <a:pt x="0" y="10977"/>
                    <a:pt x="10977" y="0"/>
                    <a:pt x="24519" y="0"/>
                  </a:cubicBezTo>
                  <a:close/>
                </a:path>
              </a:pathLst>
            </a:custGeom>
            <a:solidFill>
              <a:srgbClr val="81858B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074970" cy="305747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49536" y="1498122"/>
            <a:ext cx="14156843" cy="7760178"/>
            <a:chOff x="0" y="0"/>
            <a:chExt cx="3728551" cy="2043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28551" cy="2043833"/>
            </a:xfrm>
            <a:custGeom>
              <a:avLst/>
              <a:gdLst/>
              <a:ahLst/>
              <a:cxnLst/>
              <a:rect r="r" b="b" t="t" l="l"/>
              <a:pathLst>
                <a:path h="2043833" w="3728551">
                  <a:moveTo>
                    <a:pt x="26797" y="0"/>
                  </a:moveTo>
                  <a:lnTo>
                    <a:pt x="3701755" y="0"/>
                  </a:lnTo>
                  <a:cubicBezTo>
                    <a:pt x="3708862" y="0"/>
                    <a:pt x="3715677" y="2823"/>
                    <a:pt x="3720703" y="7849"/>
                  </a:cubicBezTo>
                  <a:cubicBezTo>
                    <a:pt x="3725728" y="12874"/>
                    <a:pt x="3728551" y="19690"/>
                    <a:pt x="3728551" y="26797"/>
                  </a:cubicBezTo>
                  <a:lnTo>
                    <a:pt x="3728551" y="2017036"/>
                  </a:lnTo>
                  <a:cubicBezTo>
                    <a:pt x="3728551" y="2024143"/>
                    <a:pt x="3725728" y="2030959"/>
                    <a:pt x="3720703" y="2035984"/>
                  </a:cubicBezTo>
                  <a:cubicBezTo>
                    <a:pt x="3715677" y="2041010"/>
                    <a:pt x="3708862" y="2043833"/>
                    <a:pt x="3701755" y="2043833"/>
                  </a:cubicBezTo>
                  <a:lnTo>
                    <a:pt x="26797" y="2043833"/>
                  </a:lnTo>
                  <a:cubicBezTo>
                    <a:pt x="11997" y="2043833"/>
                    <a:pt x="0" y="2031836"/>
                    <a:pt x="0" y="2017036"/>
                  </a:cubicBezTo>
                  <a:lnTo>
                    <a:pt x="0" y="26797"/>
                  </a:lnTo>
                  <a:cubicBezTo>
                    <a:pt x="0" y="11997"/>
                    <a:pt x="11997" y="0"/>
                    <a:pt x="26797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3728551" cy="217718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>
                <a:lnSpc>
                  <a:spcPts val="6859"/>
                </a:lnSpc>
              </a:pPr>
              <a:r>
                <a:rPr lang="en-US" sz="48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Contenido práctico: </a:t>
              </a:r>
            </a:p>
            <a:p>
              <a:pPr algn="just" marL="1057895" indent="-528947" lvl="1">
                <a:lnSpc>
                  <a:spcPts val="6859"/>
                </a:lnSpc>
                <a:buFont typeface="Arial"/>
                <a:buChar char="•"/>
              </a:pPr>
              <a:r>
                <a:rPr lang="en-US" sz="48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Ejemplo c</a:t>
              </a:r>
              <a:r>
                <a:rPr lang="en-US" sz="48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onexion MySQL</a:t>
              </a:r>
            </a:p>
            <a:p>
              <a:pPr algn="just" marL="1057895" indent="-528947" lvl="1">
                <a:lnSpc>
                  <a:spcPts val="6859"/>
                </a:lnSpc>
                <a:buFont typeface="Arial"/>
                <a:buChar char="•"/>
              </a:pPr>
              <a:r>
                <a:rPr lang="en-US" sz="48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Select, Updated, Delete, </a:t>
              </a:r>
            </a:p>
            <a:p>
              <a:pPr algn="just" marL="1057895" indent="-528947" lvl="1">
                <a:lnSpc>
                  <a:spcPts val="6859"/>
                </a:lnSpc>
                <a:buFont typeface="Arial"/>
                <a:buChar char="•"/>
              </a:pPr>
              <a:r>
                <a:rPr lang="en-US" sz="48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Preguntas</a:t>
              </a:r>
            </a:p>
            <a:p>
              <a:pPr algn="just" marL="1057895" indent="-528947" lvl="1">
                <a:lnSpc>
                  <a:spcPts val="6859"/>
                </a:lnSpc>
                <a:buFont typeface="Arial"/>
                <a:buChar char="•"/>
              </a:pPr>
              <a:r>
                <a:rPr lang="en-US" sz="48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Burbuja y Quicksort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C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8196" y="4540507"/>
            <a:ext cx="17514837" cy="5318213"/>
            <a:chOff x="0" y="0"/>
            <a:chExt cx="4612961" cy="14006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2961" cy="1400682"/>
            </a:xfrm>
            <a:custGeom>
              <a:avLst/>
              <a:gdLst/>
              <a:ahLst/>
              <a:cxnLst/>
              <a:rect r="r" b="b" t="t" l="l"/>
              <a:pathLst>
                <a:path h="1400682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1379023"/>
                  </a:lnTo>
                  <a:cubicBezTo>
                    <a:pt x="4612961" y="1384767"/>
                    <a:pt x="4610679" y="1390276"/>
                    <a:pt x="4606617" y="1394338"/>
                  </a:cubicBezTo>
                  <a:cubicBezTo>
                    <a:pt x="4602555" y="1398400"/>
                    <a:pt x="4597047" y="1400682"/>
                    <a:pt x="4591302" y="1400682"/>
                  </a:cubicBezTo>
                  <a:lnTo>
                    <a:pt x="21659" y="1400682"/>
                  </a:lnTo>
                  <a:cubicBezTo>
                    <a:pt x="15915" y="1400682"/>
                    <a:pt x="10406" y="1398400"/>
                    <a:pt x="6344" y="1394338"/>
                  </a:cubicBezTo>
                  <a:cubicBezTo>
                    <a:pt x="2282" y="1390276"/>
                    <a:pt x="0" y="1384767"/>
                    <a:pt x="0" y="1379023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FEFFFF"/>
            </a:solidFill>
            <a:ln w="47625" cap="rnd">
              <a:solidFill>
                <a:srgbClr val="FE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12961" cy="144830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8196" y="556456"/>
            <a:ext cx="17514837" cy="3459762"/>
            <a:chOff x="0" y="0"/>
            <a:chExt cx="4612961" cy="911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12961" cy="911213"/>
            </a:xfrm>
            <a:custGeom>
              <a:avLst/>
              <a:gdLst/>
              <a:ahLst/>
              <a:cxnLst/>
              <a:rect r="r" b="b" t="t" l="l"/>
              <a:pathLst>
                <a:path h="911213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889554"/>
                  </a:lnTo>
                  <a:cubicBezTo>
                    <a:pt x="4612961" y="895298"/>
                    <a:pt x="4610679" y="900807"/>
                    <a:pt x="4606617" y="904869"/>
                  </a:cubicBezTo>
                  <a:cubicBezTo>
                    <a:pt x="4602555" y="908931"/>
                    <a:pt x="4597047" y="911213"/>
                    <a:pt x="4591302" y="911213"/>
                  </a:cubicBezTo>
                  <a:lnTo>
                    <a:pt x="21659" y="911213"/>
                  </a:lnTo>
                  <a:cubicBezTo>
                    <a:pt x="15915" y="911213"/>
                    <a:pt x="10406" y="908931"/>
                    <a:pt x="6344" y="904869"/>
                  </a:cubicBezTo>
                  <a:cubicBezTo>
                    <a:pt x="2282" y="900807"/>
                    <a:pt x="0" y="895298"/>
                    <a:pt x="0" y="889554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E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12961" cy="9588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66504" y="1742703"/>
            <a:ext cx="15292796" cy="125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3"/>
              </a:lnSpc>
            </a:pPr>
            <a:r>
              <a:rPr lang="en-US" sz="9403">
                <a:solidFill>
                  <a:srgbClr val="FEFFFF"/>
                </a:solidFill>
                <a:latin typeface="Shrikhand"/>
                <a:ea typeface="Shrikhand"/>
                <a:cs typeface="Shrikhand"/>
                <a:sym typeface="Shrikhand"/>
              </a:rPr>
              <a:t>Valor : Compromiso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6504" y="4632318"/>
            <a:ext cx="15666187" cy="522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8"/>
              </a:lnSpc>
            </a:pPr>
            <a:r>
              <a:rPr lang="en-US" sz="9913">
                <a:solidFill>
                  <a:srgbClr val="191919"/>
                </a:solidFill>
                <a:latin typeface="Shrikhand"/>
                <a:ea typeface="Shrikhand"/>
                <a:cs typeface="Shrikhand"/>
                <a:sym typeface="Shrikhand"/>
              </a:rPr>
              <a:t>Conectar con el conocimiento es conectar con tu futuro.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C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32682"/>
            <a:ext cx="16646680" cy="8830020"/>
            <a:chOff x="0" y="0"/>
            <a:chExt cx="4384311" cy="232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4311" cy="2325602"/>
            </a:xfrm>
            <a:custGeom>
              <a:avLst/>
              <a:gdLst/>
              <a:ahLst/>
              <a:cxnLst/>
              <a:rect r="r" b="b" t="t" l="l"/>
              <a:pathLst>
                <a:path h="2325602" w="4384311">
                  <a:moveTo>
                    <a:pt x="22789" y="0"/>
                  </a:moveTo>
                  <a:lnTo>
                    <a:pt x="4361522" y="0"/>
                  </a:lnTo>
                  <a:cubicBezTo>
                    <a:pt x="4367566" y="0"/>
                    <a:pt x="4373363" y="2401"/>
                    <a:pt x="4377636" y="6675"/>
                  </a:cubicBezTo>
                  <a:cubicBezTo>
                    <a:pt x="4381910" y="10948"/>
                    <a:pt x="4384311" y="16745"/>
                    <a:pt x="4384311" y="22789"/>
                  </a:cubicBezTo>
                  <a:lnTo>
                    <a:pt x="4384311" y="2302814"/>
                  </a:lnTo>
                  <a:cubicBezTo>
                    <a:pt x="4384311" y="2315399"/>
                    <a:pt x="4374108" y="2325602"/>
                    <a:pt x="4361522" y="2325602"/>
                  </a:cubicBezTo>
                  <a:lnTo>
                    <a:pt x="22789" y="2325602"/>
                  </a:lnTo>
                  <a:cubicBezTo>
                    <a:pt x="10203" y="2325602"/>
                    <a:pt x="0" y="2315399"/>
                    <a:pt x="0" y="2302814"/>
                  </a:cubicBezTo>
                  <a:lnTo>
                    <a:pt x="0" y="22789"/>
                  </a:lnTo>
                  <a:cubicBezTo>
                    <a:pt x="0" y="10203"/>
                    <a:pt x="10203" y="0"/>
                    <a:pt x="22789" y="0"/>
                  </a:cubicBezTo>
                  <a:close/>
                </a:path>
              </a:pathLst>
            </a:custGeom>
            <a:solidFill>
              <a:srgbClr val="191919"/>
            </a:solidFill>
            <a:ln w="47625" cap="rnd">
              <a:solidFill>
                <a:srgbClr val="FE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84311" cy="237322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0829" y="1380212"/>
            <a:ext cx="15558471" cy="182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781"/>
              </a:lnSpc>
            </a:pPr>
            <a:r>
              <a:rPr lang="en-US" b="true" sz="12781">
                <a:solidFill>
                  <a:srgbClr val="FEFFFF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Referencias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9642" y="3127086"/>
            <a:ext cx="16380845" cy="562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Auxiliar - creador : Andy Ezequiel Sanic Tiul</a:t>
            </a:r>
          </a:p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Microsoft  : https://visualstudio.microsoft.com/es/vs/</a:t>
            </a:r>
          </a:p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Lectura:</a:t>
            </a:r>
          </a:p>
          <a:p>
            <a:pPr algn="l">
              <a:lnSpc>
                <a:spcPts val="4099"/>
              </a:lnSpc>
            </a:pPr>
          </a:p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Documentación de MySQL Workbench</a:t>
            </a:r>
          </a:p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https://www.mysql.com/products/workbench/</a:t>
            </a:r>
          </a:p>
          <a:p>
            <a:pPr algn="l">
              <a:lnSpc>
                <a:spcPts val="4099"/>
              </a:lnSpc>
            </a:pPr>
          </a:p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Documentación extra por si quieres estudiar más consultas: </a:t>
            </a:r>
          </a:p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https://es.khanacademy.org/computing/computer-programming/sql-documentation</a:t>
            </a:r>
          </a:p>
          <a:p>
            <a:pPr algn="l">
              <a:lnSpc>
                <a:spcPts val="4099"/>
              </a:lnSpc>
            </a:pPr>
          </a:p>
          <a:p>
            <a:pPr algn="l">
              <a:lnSpc>
                <a:spcPts val="409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608" y="471535"/>
            <a:ext cx="17178772" cy="9291167"/>
            <a:chOff x="0" y="0"/>
            <a:chExt cx="4524450" cy="24470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4450" cy="2447056"/>
            </a:xfrm>
            <a:custGeom>
              <a:avLst/>
              <a:gdLst/>
              <a:ahLst/>
              <a:cxnLst/>
              <a:rect r="r" b="b" t="t" l="l"/>
              <a:pathLst>
                <a:path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w="47625" cap="rnd">
              <a:solidFill>
                <a:srgbClr val="FE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06227" y="2020042"/>
            <a:ext cx="2859716" cy="4104533"/>
          </a:xfrm>
          <a:custGeom>
            <a:avLst/>
            <a:gdLst/>
            <a:ahLst/>
            <a:cxnLst/>
            <a:rect r="r" b="b" t="t" l="l"/>
            <a:pathLst>
              <a:path h="4104533" w="2859716">
                <a:moveTo>
                  <a:pt x="0" y="0"/>
                </a:moveTo>
                <a:lnTo>
                  <a:pt x="2859715" y="0"/>
                </a:lnTo>
                <a:lnTo>
                  <a:pt x="2859715" y="4104533"/>
                </a:lnTo>
                <a:lnTo>
                  <a:pt x="0" y="410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99004" y="3358624"/>
            <a:ext cx="11865006" cy="214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 spc="11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¡GRACIAS POR SU  ATENCIÓN!</a:t>
            </a:r>
          </a:p>
          <a:p>
            <a:pPr algn="ctr">
              <a:lnSpc>
                <a:spcPts val="83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57542" y="4660901"/>
            <a:ext cx="3457384" cy="14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16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DUDAS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9302" y="7445375"/>
            <a:ext cx="14766640" cy="284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7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RECUERDA QUE TENEMOS NUESTRO FORO SEMANAL DONDE PUEDES CONSULTAR CUALQUIER DUDA QUE TE SURJA EN LA SEMANA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DAGn7M4PGg0</dc:identifier>
  <dcterms:modified xsi:type="dcterms:W3CDTF">2011-08-01T06:04:30Z</dcterms:modified>
  <cp:revision>1</cp:revision>
  <dc:title>Cococys - Clase 10</dc:title>
</cp:coreProperties>
</file>