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League Spartan"/>
      <p:regular r:id="rId26"/>
      <p:bold r:id="rId27"/>
    </p:embeddedFont>
    <p:embeddedFont>
      <p:font typeface="Montserrat"/>
      <p:bold r:id="rId28"/>
      <p:boldItalic r:id="rId29"/>
    </p:embeddedFont>
    <p:embeddedFont>
      <p:font typeface="Poppins"/>
      <p:bold r:id="rId30"/>
      <p:boldItalic r:id="rId31"/>
    </p:embeddedFont>
    <p:embeddedFont>
      <p:font typeface="Poppins Light"/>
      <p:regular r:id="rId32"/>
      <p:bold r:id="rId33"/>
      <p:italic r:id="rId34"/>
      <p:boldItalic r:id="rId35"/>
    </p:embeddedFont>
    <p:embeddedFont>
      <p:font typeface="Ole"/>
      <p:regular r:id="rId36"/>
    </p:embeddedFont>
    <p:embeddedFont>
      <p:font typeface="Ibarra Real Nova"/>
      <p:bold r:id="rId37"/>
      <p:boldItalic r:id="rId38"/>
    </p:embeddedFont>
    <p:embeddedFont>
      <p:font typeface="Carlito"/>
      <p:regular r:id="rId39"/>
      <p:bold r:id="rId40"/>
      <p:italic r:id="rId41"/>
      <p:boldItalic r:id="rId42"/>
    </p:embeddedFont>
    <p:embeddedFont>
      <p:font typeface="Shrikhand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h8ouD34xb5lDUs/UETooH2Zxku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3A415A-3F70-419D-83F6-97C76A385D86}">
  <a:tblStyle styleId="{F33A415A-3F70-419D-83F6-97C76A385D8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rlito-bold.fntdata"/><Relationship Id="rId20" Type="http://schemas.openxmlformats.org/officeDocument/2006/relationships/slide" Target="slides/slide14.xml"/><Relationship Id="rId42" Type="http://schemas.openxmlformats.org/officeDocument/2006/relationships/font" Target="fonts/Carlito-boldItalic.fntdata"/><Relationship Id="rId41" Type="http://schemas.openxmlformats.org/officeDocument/2006/relationships/font" Target="fonts/Carlito-italic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Shrikhand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eagueSpartan-regular.fntdata"/><Relationship Id="rId25" Type="http://schemas.openxmlformats.org/officeDocument/2006/relationships/slide" Target="slides/slide19.xml"/><Relationship Id="rId28" Type="http://schemas.openxmlformats.org/officeDocument/2006/relationships/font" Target="fonts/Montserrat-bold.fntdata"/><Relationship Id="rId27" Type="http://schemas.openxmlformats.org/officeDocument/2006/relationships/font" Target="fonts/LeagueSpartan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PoppinsLight-bold.fntdata"/><Relationship Id="rId10" Type="http://schemas.openxmlformats.org/officeDocument/2006/relationships/slide" Target="slides/slide4.xml"/><Relationship Id="rId32" Type="http://schemas.openxmlformats.org/officeDocument/2006/relationships/font" Target="fonts/PoppinsLight-regular.fntdata"/><Relationship Id="rId13" Type="http://schemas.openxmlformats.org/officeDocument/2006/relationships/slide" Target="slides/slide7.xml"/><Relationship Id="rId35" Type="http://schemas.openxmlformats.org/officeDocument/2006/relationships/font" Target="fonts/Poppins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Light-italic.fntdata"/><Relationship Id="rId15" Type="http://schemas.openxmlformats.org/officeDocument/2006/relationships/slide" Target="slides/slide9.xml"/><Relationship Id="rId37" Type="http://schemas.openxmlformats.org/officeDocument/2006/relationships/font" Target="fonts/IbarraRealNova-bold.fntdata"/><Relationship Id="rId14" Type="http://schemas.openxmlformats.org/officeDocument/2006/relationships/slide" Target="slides/slide8.xml"/><Relationship Id="rId36" Type="http://schemas.openxmlformats.org/officeDocument/2006/relationships/font" Target="fonts/Ole-regular.fntdata"/><Relationship Id="rId17" Type="http://schemas.openxmlformats.org/officeDocument/2006/relationships/slide" Target="slides/slide11.xml"/><Relationship Id="rId39" Type="http://schemas.openxmlformats.org/officeDocument/2006/relationships/font" Target="fonts/Carlito-regular.fntdata"/><Relationship Id="rId16" Type="http://schemas.openxmlformats.org/officeDocument/2006/relationships/slide" Target="slides/slide10.xml"/><Relationship Id="rId38" Type="http://schemas.openxmlformats.org/officeDocument/2006/relationships/font" Target="fonts/IbarraRealNova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hyperlink" Target="https://visualstudio.microsoft.com/es/downloads/" TargetMode="External"/><Relationship Id="rId8" Type="http://schemas.openxmlformats.org/officeDocument/2006/relationships/hyperlink" Target="https://visualstudio.microsoft.com/es/vs/older-download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jp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gif"/><Relationship Id="rId4" Type="http://schemas.openxmlformats.org/officeDocument/2006/relationships/image" Target="../media/image28.png"/><Relationship Id="rId10" Type="http://schemas.openxmlformats.org/officeDocument/2006/relationships/image" Target="../media/image22.gif"/><Relationship Id="rId9" Type="http://schemas.openxmlformats.org/officeDocument/2006/relationships/hyperlink" Target="https://www.microsoft.com/es-mx/download/details.aspx?id=105522" TargetMode="External"/><Relationship Id="rId5" Type="http://schemas.openxmlformats.org/officeDocument/2006/relationships/image" Target="../media/image29.png"/><Relationship Id="rId6" Type="http://schemas.openxmlformats.org/officeDocument/2006/relationships/image" Target="../media/image24.png"/><Relationship Id="rId7" Type="http://schemas.openxmlformats.org/officeDocument/2006/relationships/image" Target="../media/image38.png"/><Relationship Id="rId8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jp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visualstudio.microsoft.com/es/vs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8846517"/>
            <a:ext cx="18288118" cy="1440924"/>
            <a:chOff x="0" y="-28575"/>
            <a:chExt cx="4816592" cy="3795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816592" cy="350811"/>
            </a:xfrm>
            <a:custGeom>
              <a:rect b="b" l="l" r="r" t="t"/>
              <a:pathLst>
                <a:path extrusionOk="0" h="35081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50811"/>
                  </a:lnTo>
                  <a:lnTo>
                    <a:pt x="0" y="350811"/>
                  </a:lnTo>
                  <a:close/>
                </a:path>
              </a:pathLst>
            </a:custGeom>
            <a:solidFill>
              <a:srgbClr val="DD9C2C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28575"/>
              <a:ext cx="4816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1577391" y="0"/>
            <a:ext cx="6710609" cy="1778495"/>
          </a:xfrm>
          <a:custGeom>
            <a:rect b="b" l="l" r="r" t="t"/>
            <a:pathLst>
              <a:path extrusionOk="0" h="1778495" w="6710609">
                <a:moveTo>
                  <a:pt x="0" y="0"/>
                </a:moveTo>
                <a:lnTo>
                  <a:pt x="6710609" y="0"/>
                </a:lnTo>
                <a:lnTo>
                  <a:pt x="6710609" y="1778495"/>
                </a:lnTo>
                <a:lnTo>
                  <a:pt x="0" y="1778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-355892" y="-182720"/>
            <a:ext cx="10759808" cy="10653276"/>
          </a:xfrm>
          <a:custGeom>
            <a:rect b="b" l="l" r="r" t="t"/>
            <a:pathLst>
              <a:path extrusionOk="0" h="3298228" w="3331210">
                <a:moveTo>
                  <a:pt x="0" y="0"/>
                </a:moveTo>
                <a:lnTo>
                  <a:pt x="3331210" y="0"/>
                </a:lnTo>
                <a:cubicBezTo>
                  <a:pt x="3331210" y="1822010"/>
                  <a:pt x="1840230" y="3298228"/>
                  <a:pt x="0" y="3298228"/>
                </a:cubicBez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2966" r="-52976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9" name="Google Shape;89;p1"/>
          <p:cNvGraphicFramePr/>
          <p:nvPr/>
        </p:nvGraphicFramePr>
        <p:xfrm>
          <a:off x="13488871" y="21028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{F33A415A-3F70-419D-83F6-97C76A385D86}</a:tableStyleId>
              </a:tblPr>
              <a:tblGrid>
                <a:gridCol w="2067525"/>
                <a:gridCol w="2159700"/>
              </a:tblGrid>
              <a:tr h="93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000000"/>
                          </a:solidFill>
                          <a:latin typeface="Ole"/>
                          <a:ea typeface="Ole"/>
                          <a:cs typeface="Ole"/>
                          <a:sym typeface="Ole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000000"/>
                          </a:solidFill>
                          <a:latin typeface="Ole"/>
                          <a:ea typeface="Ole"/>
                          <a:cs typeface="Ole"/>
                          <a:sym typeface="Ole"/>
                        </a:rPr>
                        <a:t>0/00/0000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000000"/>
                          </a:solidFill>
                          <a:latin typeface="Ole"/>
                          <a:ea typeface="Ole"/>
                          <a:cs typeface="Ole"/>
                          <a:sym typeface="Ole"/>
                        </a:rPr>
                        <a:t>Hora de 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000000"/>
                          </a:solidFill>
                          <a:latin typeface="Ole"/>
                          <a:ea typeface="Ole"/>
                          <a:cs typeface="Ole"/>
                          <a:sym typeface="Ole"/>
                        </a:rPr>
                        <a:t>0:00 am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"/>
          <p:cNvSpPr/>
          <p:nvPr/>
        </p:nvSpPr>
        <p:spPr>
          <a:xfrm>
            <a:off x="1758909" y="8995114"/>
            <a:ext cx="8772067" cy="1291886"/>
          </a:xfrm>
          <a:custGeom>
            <a:rect b="b" l="l" r="r" t="t"/>
            <a:pathLst>
              <a:path extrusionOk="0" h="1291886" w="8772067">
                <a:moveTo>
                  <a:pt x="0" y="0"/>
                </a:moveTo>
                <a:lnTo>
                  <a:pt x="8772068" y="0"/>
                </a:lnTo>
                <a:lnTo>
                  <a:pt x="8772068" y="1291886"/>
                </a:lnTo>
                <a:lnTo>
                  <a:pt x="0" y="1291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9144000" y="4393589"/>
            <a:ext cx="89751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99" u="none" cap="none" strike="noStrike">
                <a:solidFill>
                  <a:srgbClr val="000000"/>
                </a:solidFill>
                <a:latin typeface="Ole"/>
                <a:ea typeface="Ole"/>
                <a:cs typeface="Ole"/>
                <a:sym typeface="Ole"/>
              </a:rPr>
              <a:t>Programación de computadoras 2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2070963" y="7944189"/>
            <a:ext cx="62169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000000"/>
                </a:solidFill>
                <a:latin typeface="Ole"/>
                <a:ea typeface="Ole"/>
                <a:cs typeface="Ole"/>
                <a:sym typeface="Ole"/>
              </a:rPr>
              <a:t>Aux: Andy Ezequiel Sanic Tiul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5885240" y="5601312"/>
            <a:ext cx="22338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Ole"/>
                <a:ea typeface="Ole"/>
                <a:cs typeface="Ole"/>
                <a:sym typeface="Ole"/>
              </a:rPr>
              <a:t>Sección: 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3042863" y="4549584"/>
            <a:ext cx="12202273" cy="1187832"/>
          </a:xfrm>
          <a:custGeom>
            <a:rect b="b" l="l" r="r" t="t"/>
            <a:pathLst>
              <a:path extrusionOk="0" h="1187832" w="12202273">
                <a:moveTo>
                  <a:pt x="0" y="0"/>
                </a:moveTo>
                <a:lnTo>
                  <a:pt x="12202274" y="0"/>
                </a:lnTo>
                <a:lnTo>
                  <a:pt x="12202274" y="1187832"/>
                </a:lnTo>
                <a:lnTo>
                  <a:pt x="0" y="1187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3319220" y="5529408"/>
            <a:ext cx="11679354" cy="1146517"/>
          </a:xfrm>
          <a:custGeom>
            <a:rect b="b" l="l" r="r" t="t"/>
            <a:pathLst>
              <a:path extrusionOk="0" h="1146517" w="11679354">
                <a:moveTo>
                  <a:pt x="0" y="0"/>
                </a:moveTo>
                <a:lnTo>
                  <a:pt x="11679354" y="0"/>
                </a:lnTo>
                <a:lnTo>
                  <a:pt x="11679354" y="1146516"/>
                </a:lnTo>
                <a:lnTo>
                  <a:pt x="0" y="1146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12502687" y="2006946"/>
            <a:ext cx="5484899" cy="1382748"/>
          </a:xfrm>
          <a:custGeom>
            <a:rect b="b" l="l" r="r" t="t"/>
            <a:pathLst>
              <a:path extrusionOk="0" h="1382748" w="5484899">
                <a:moveTo>
                  <a:pt x="0" y="0"/>
                </a:moveTo>
                <a:lnTo>
                  <a:pt x="5484899" y="0"/>
                </a:lnTo>
                <a:lnTo>
                  <a:pt x="5484899" y="1382747"/>
                </a:lnTo>
                <a:lnTo>
                  <a:pt x="0" y="1382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11587913" y="2053719"/>
            <a:ext cx="5385349" cy="10944768"/>
            <a:chOff x="0" y="0"/>
            <a:chExt cx="5000993" cy="10163632"/>
          </a:xfrm>
        </p:grpSpPr>
        <p:sp>
          <p:nvSpPr>
            <p:cNvPr id="109" name="Google Shape;109;p3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3" r="-44" t="0"/>
              </a:stretch>
            </a:blipFill>
            <a:ln>
              <a:noFill/>
            </a:ln>
          </p:spPr>
        </p:sp>
        <p:sp>
          <p:nvSpPr>
            <p:cNvPr id="110" name="Google Shape;110;p3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53" r="-184135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3"/>
          <p:cNvSpPr/>
          <p:nvPr/>
        </p:nvSpPr>
        <p:spPr>
          <a:xfrm>
            <a:off x="-304800" y="8305177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95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654534" y="2129919"/>
            <a:ext cx="6791890" cy="144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 01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 rot="5400000">
            <a:off x="14963536" y="6556334"/>
            <a:ext cx="5337506" cy="45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CIENCIAS Y SISTEMAS | FACULTAD DE INGENIERÍA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2945575" y="4966120"/>
            <a:ext cx="6255575" cy="14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Unidad 1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304934" y="8629027"/>
            <a:ext cx="8282979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028700" y="7657477"/>
            <a:ext cx="937775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4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22" name="Google Shape;122;p4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23" name="Google Shape;123;p4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4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25" name="Google Shape;125;p4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6" name="Google Shape;126;p4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4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3658752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3658752" y="478102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3658752" y="5662177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9144000" y="417889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9144000" y="50673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3621169" y="6997547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4700160" y="4158528"/>
            <a:ext cx="3611208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Presentación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4700160" y="4952745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Instalación de Visual Studio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4700160" y="5872836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Creación de Proyecto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0185994" y="4134147"/>
            <a:ext cx="3611208" cy="856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Conociendo Herramientas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10185994" y="5237162"/>
            <a:ext cx="4761537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6848331" y="7167409"/>
            <a:ext cx="6526941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Corto 1 habilitado durante 2 días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4674349" y="7167409"/>
            <a:ext cx="1947376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Anuncios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4700160" y="7869843"/>
            <a:ext cx="1947376" cy="418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Videos 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3621169" y="7699981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5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48" name="Google Shape;148;p5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49" name="Google Shape;149;p5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3131884" y="1858297"/>
            <a:ext cx="12024231" cy="6781996"/>
            <a:chOff x="0" y="-38100"/>
            <a:chExt cx="3166876" cy="1786205"/>
          </a:xfrm>
        </p:grpSpPr>
        <p:sp>
          <p:nvSpPr>
            <p:cNvPr id="151" name="Google Shape;151;p5"/>
            <p:cNvSpPr/>
            <p:nvPr/>
          </p:nvSpPr>
          <p:spPr>
            <a:xfrm>
              <a:off x="0" y="0"/>
              <a:ext cx="3166876" cy="1748105"/>
            </a:xfrm>
            <a:custGeom>
              <a:rect b="b" l="l" r="r" t="t"/>
              <a:pathLst>
                <a:path extrusionOk="0" h="1748105" w="3166876">
                  <a:moveTo>
                    <a:pt x="0" y="0"/>
                  </a:moveTo>
                  <a:lnTo>
                    <a:pt x="3166876" y="0"/>
                  </a:lnTo>
                  <a:lnTo>
                    <a:pt x="3166876" y="1748105"/>
                  </a:lnTo>
                  <a:lnTo>
                    <a:pt x="0" y="1748105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52" name="Google Shape;152;p5"/>
            <p:cNvSpPr txBox="1"/>
            <p:nvPr/>
          </p:nvSpPr>
          <p:spPr>
            <a:xfrm>
              <a:off x="0" y="-38100"/>
              <a:ext cx="3166876" cy="1786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5"/>
          <p:cNvSpPr txBox="1"/>
          <p:nvPr/>
        </p:nvSpPr>
        <p:spPr>
          <a:xfrm>
            <a:off x="4558388" y="2605133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Competencias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3658752" y="3983900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3621169" y="6045418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4700160" y="3971670"/>
            <a:ext cx="9308304" cy="1732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Introducir Temas fundamentales de programación mediante presentaciones y documentación para facilitar la comprensión inicial y contextualizacion del estudiante 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4828211" y="6123769"/>
            <a:ext cx="8631578" cy="1732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Desarollar Interfaces gráficas funcionales haciendo uso de controles básicos, como textbox, label, combobox capturar  mostrar los datos de forma eficiente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-545621" y="8287828"/>
            <a:ext cx="19566866" cy="21272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-1321037" y="-1028700"/>
            <a:ext cx="12174084" cy="9316528"/>
          </a:xfrm>
          <a:custGeom>
            <a:rect b="b" l="l" r="r" t="t"/>
            <a:pathLst>
              <a:path extrusionOk="0" h="2230248" w="2914308">
                <a:moveTo>
                  <a:pt x="2789848" y="2230248"/>
                </a:moveTo>
                <a:lnTo>
                  <a:pt x="124460" y="2230248"/>
                </a:lnTo>
                <a:cubicBezTo>
                  <a:pt x="55880" y="2230248"/>
                  <a:pt x="0" y="2174368"/>
                  <a:pt x="0" y="2105788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789848" y="0"/>
                </a:lnTo>
                <a:cubicBezTo>
                  <a:pt x="2858428" y="0"/>
                  <a:pt x="2914308" y="55880"/>
                  <a:pt x="2914308" y="124460"/>
                </a:cubicBezTo>
                <a:lnTo>
                  <a:pt x="2914308" y="2105788"/>
                </a:lnTo>
                <a:cubicBezTo>
                  <a:pt x="2914308" y="2174368"/>
                  <a:pt x="2858428" y="2230248"/>
                  <a:pt x="2789848" y="2230248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6"/>
          <p:cNvGrpSpPr/>
          <p:nvPr/>
        </p:nvGrpSpPr>
        <p:grpSpPr>
          <a:xfrm>
            <a:off x="10171506" y="2411811"/>
            <a:ext cx="8468561" cy="6280850"/>
            <a:chOff x="0" y="0"/>
            <a:chExt cx="13716000" cy="10172700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13716000" cy="10172700"/>
            </a:xfrm>
            <a:custGeom>
              <a:rect b="b" l="l" r="r" t="t"/>
              <a:pathLst>
                <a:path extrusionOk="0" h="101727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0172700"/>
                  </a:lnTo>
                  <a:lnTo>
                    <a:pt x="0" y="101727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391" l="0" r="0" t="-392"/>
              </a:stretch>
            </a:blipFill>
            <a:ln>
              <a:noFill/>
            </a:ln>
          </p:spPr>
        </p:sp>
        <p:sp>
          <p:nvSpPr>
            <p:cNvPr id="166" name="Google Shape;166;p6"/>
            <p:cNvSpPr/>
            <p:nvPr/>
          </p:nvSpPr>
          <p:spPr>
            <a:xfrm>
              <a:off x="393700" y="615950"/>
              <a:ext cx="12941300" cy="9107742"/>
            </a:xfrm>
            <a:custGeom>
              <a:rect b="b" l="l" r="r" t="t"/>
              <a:pathLst>
                <a:path extrusionOk="0" h="9107742" w="12941300">
                  <a:moveTo>
                    <a:pt x="12815112" y="9107742"/>
                  </a:moveTo>
                  <a:lnTo>
                    <a:pt x="126187" y="9107742"/>
                  </a:lnTo>
                  <a:cubicBezTo>
                    <a:pt x="56502" y="9107742"/>
                    <a:pt x="0" y="9051252"/>
                    <a:pt x="0" y="8981555"/>
                  </a:cubicBezTo>
                  <a:lnTo>
                    <a:pt x="0" y="0"/>
                  </a:lnTo>
                  <a:lnTo>
                    <a:pt x="12941300" y="0"/>
                  </a:lnTo>
                  <a:lnTo>
                    <a:pt x="12941300" y="8981554"/>
                  </a:lnTo>
                  <a:cubicBezTo>
                    <a:pt x="12941300" y="9051239"/>
                    <a:pt x="12884810" y="9107742"/>
                    <a:pt x="12815112" y="9107742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35301" r="-35303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6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8" name="Google Shape;168;p6"/>
          <p:cNvGrpSpPr/>
          <p:nvPr/>
        </p:nvGrpSpPr>
        <p:grpSpPr>
          <a:xfrm>
            <a:off x="1028700" y="908517"/>
            <a:ext cx="6661673" cy="3454572"/>
            <a:chOff x="0" y="57150"/>
            <a:chExt cx="8882231" cy="4606096"/>
          </a:xfrm>
        </p:grpSpPr>
        <p:sp>
          <p:nvSpPr>
            <p:cNvPr id="169" name="Google Shape;169;p6"/>
            <p:cNvSpPr txBox="1"/>
            <p:nvPr/>
          </p:nvSpPr>
          <p:spPr>
            <a:xfrm>
              <a:off x="0" y="57150"/>
              <a:ext cx="8882231" cy="14039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Visual Studio </a:t>
              </a:r>
              <a:endParaRPr/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0" y="2261471"/>
              <a:ext cx="8882231" cy="1419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Versión gratuita 2022 community</a:t>
              </a:r>
              <a:endParaRPr/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0" y="4162866"/>
              <a:ext cx="8882231" cy="500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https://visualstudio.microsoft.com/es/downloads/</a:t>
              </a:r>
              <a:endParaRPr/>
            </a:p>
          </p:txBody>
        </p:sp>
      </p:grpSp>
      <p:sp>
        <p:nvSpPr>
          <p:cNvPr id="172" name="Google Shape;172;p6"/>
          <p:cNvSpPr txBox="1"/>
          <p:nvPr/>
        </p:nvSpPr>
        <p:spPr>
          <a:xfrm>
            <a:off x="1028700" y="9233535"/>
            <a:ext cx="6899312" cy="23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EE600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r>
              <a:rPr b="1" i="0" lang="en-US" sz="1400" u="none" cap="none" strike="noStrike">
                <a:solidFill>
                  <a:srgbClr val="FEE600"/>
                </a:solidFill>
                <a:latin typeface="Arial"/>
                <a:ea typeface="Arial"/>
                <a:cs typeface="Arial"/>
                <a:sym typeface="Arial"/>
              </a:rPr>
              <a:t> | CLASE 1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1158577" y="4846814"/>
            <a:ext cx="8079235" cy="2988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entorno de desarrollo integrado IDE compatible con varios lenguajes de programación</a:t>
            </a:r>
            <a:endParaRPr/>
          </a:p>
          <a:p>
            <a:pPr indent="0" lvl="0" marL="0" marR="0" rtl="0" algn="just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3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IDE más completo para desarrolladores de .NET y C++ en Windows para crear aplicaciones web, en la nube, de escritorio, móviles, servicios y juegos.</a:t>
            </a:r>
            <a:endParaRPr/>
          </a:p>
          <a:p>
            <a:pPr indent="0" lvl="0" marL="0" marR="0" rtl="0" algn="l">
              <a:lnSpc>
                <a:spcPct val="1285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-185970" y="3662384"/>
            <a:ext cx="18473970" cy="10391608"/>
          </a:xfrm>
          <a:custGeom>
            <a:rect b="b" l="l" r="r" t="t"/>
            <a:pathLst>
              <a:path extrusionOk="0" h="10391608" w="18473970">
                <a:moveTo>
                  <a:pt x="0" y="0"/>
                </a:moveTo>
                <a:lnTo>
                  <a:pt x="18473970" y="0"/>
                </a:lnTo>
                <a:lnTo>
                  <a:pt x="18473970" y="10391608"/>
                </a:lnTo>
                <a:lnTo>
                  <a:pt x="0" y="10391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4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" name="Google Shape;179;p7"/>
          <p:cNvGrpSpPr/>
          <p:nvPr/>
        </p:nvGrpSpPr>
        <p:grpSpPr>
          <a:xfrm>
            <a:off x="6032651" y="1137858"/>
            <a:ext cx="11549898" cy="3657360"/>
            <a:chOff x="0" y="-28575"/>
            <a:chExt cx="3041949" cy="963255"/>
          </a:xfrm>
        </p:grpSpPr>
        <p:sp>
          <p:nvSpPr>
            <p:cNvPr id="180" name="Google Shape;180;p7"/>
            <p:cNvSpPr/>
            <p:nvPr/>
          </p:nvSpPr>
          <p:spPr>
            <a:xfrm>
              <a:off x="0" y="0"/>
              <a:ext cx="3041949" cy="934680"/>
            </a:xfrm>
            <a:custGeom>
              <a:rect b="b" l="l" r="r" t="t"/>
              <a:pathLst>
                <a:path extrusionOk="0" h="934680" w="3041949">
                  <a:moveTo>
                    <a:pt x="34185" y="0"/>
                  </a:moveTo>
                  <a:lnTo>
                    <a:pt x="3007763" y="0"/>
                  </a:lnTo>
                  <a:cubicBezTo>
                    <a:pt x="3026643" y="0"/>
                    <a:pt x="3041949" y="15305"/>
                    <a:pt x="3041949" y="34185"/>
                  </a:cubicBezTo>
                  <a:lnTo>
                    <a:pt x="3041949" y="900495"/>
                  </a:lnTo>
                  <a:cubicBezTo>
                    <a:pt x="3041949" y="909561"/>
                    <a:pt x="3038347" y="918257"/>
                    <a:pt x="3031936" y="924668"/>
                  </a:cubicBezTo>
                  <a:cubicBezTo>
                    <a:pt x="3025525" y="931079"/>
                    <a:pt x="3016830" y="934680"/>
                    <a:pt x="3007763" y="934680"/>
                  </a:cubicBezTo>
                  <a:lnTo>
                    <a:pt x="34185" y="934680"/>
                  </a:lnTo>
                  <a:cubicBezTo>
                    <a:pt x="25119" y="934680"/>
                    <a:pt x="16424" y="931079"/>
                    <a:pt x="10013" y="924668"/>
                  </a:cubicBezTo>
                  <a:cubicBezTo>
                    <a:pt x="3602" y="918257"/>
                    <a:pt x="0" y="909561"/>
                    <a:pt x="0" y="900495"/>
                  </a:cubicBezTo>
                  <a:lnTo>
                    <a:pt x="0" y="34185"/>
                  </a:lnTo>
                  <a:cubicBezTo>
                    <a:pt x="0" y="15305"/>
                    <a:pt x="15305" y="0"/>
                    <a:pt x="34185" y="0"/>
                  </a:cubicBezTo>
                  <a:close/>
                </a:path>
              </a:pathLst>
            </a:custGeom>
            <a:solidFill>
              <a:srgbClr val="686C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0" y="-28575"/>
              <a:ext cx="3041949" cy="963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7"/>
          <p:cNvGrpSpPr/>
          <p:nvPr/>
        </p:nvGrpSpPr>
        <p:grpSpPr>
          <a:xfrm>
            <a:off x="1028700" y="8282421"/>
            <a:ext cx="3052218" cy="934542"/>
            <a:chOff x="0" y="-57150"/>
            <a:chExt cx="803876" cy="246134"/>
          </a:xfrm>
        </p:grpSpPr>
        <p:sp>
          <p:nvSpPr>
            <p:cNvPr id="183" name="Google Shape;183;p7"/>
            <p:cNvSpPr/>
            <p:nvPr/>
          </p:nvSpPr>
          <p:spPr>
            <a:xfrm>
              <a:off x="0" y="0"/>
              <a:ext cx="803876" cy="188984"/>
            </a:xfrm>
            <a:custGeom>
              <a:rect b="b" l="l" r="r" t="t"/>
              <a:pathLst>
                <a:path extrusionOk="0" h="188984" w="803876">
                  <a:moveTo>
                    <a:pt x="94492" y="0"/>
                  </a:moveTo>
                  <a:lnTo>
                    <a:pt x="709384" y="0"/>
                  </a:lnTo>
                  <a:cubicBezTo>
                    <a:pt x="734445" y="0"/>
                    <a:pt x="758479" y="9955"/>
                    <a:pt x="776200" y="27676"/>
                  </a:cubicBezTo>
                  <a:cubicBezTo>
                    <a:pt x="793921" y="45397"/>
                    <a:pt x="803876" y="69431"/>
                    <a:pt x="803876" y="94492"/>
                  </a:cubicBezTo>
                  <a:lnTo>
                    <a:pt x="803876" y="94492"/>
                  </a:lnTo>
                  <a:cubicBezTo>
                    <a:pt x="803876" y="146679"/>
                    <a:pt x="761571" y="188984"/>
                    <a:pt x="709384" y="188984"/>
                  </a:cubicBezTo>
                  <a:lnTo>
                    <a:pt x="94492" y="188984"/>
                  </a:lnTo>
                  <a:cubicBezTo>
                    <a:pt x="69431" y="188984"/>
                    <a:pt x="45397" y="179029"/>
                    <a:pt x="27676" y="161308"/>
                  </a:cubicBezTo>
                  <a:cubicBezTo>
                    <a:pt x="9955" y="143588"/>
                    <a:pt x="0" y="119553"/>
                    <a:pt x="0" y="94492"/>
                  </a:cubicBezTo>
                  <a:lnTo>
                    <a:pt x="0" y="94492"/>
                  </a:lnTo>
                  <a:cubicBezTo>
                    <a:pt x="0" y="69431"/>
                    <a:pt x="9955" y="45397"/>
                    <a:pt x="27676" y="27676"/>
                  </a:cubicBezTo>
                  <a:cubicBezTo>
                    <a:pt x="45397" y="9955"/>
                    <a:pt x="69431" y="0"/>
                    <a:pt x="94492" y="0"/>
                  </a:cubicBezTo>
                  <a:close/>
                </a:path>
              </a:pathLst>
            </a:custGeom>
            <a:solidFill>
              <a:srgbClr val="686C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7"/>
            <p:cNvSpPr txBox="1"/>
            <p:nvPr/>
          </p:nvSpPr>
          <p:spPr>
            <a:xfrm>
              <a:off x="0" y="-57150"/>
              <a:ext cx="803876" cy="246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Carlito"/>
                  <a:ea typeface="Carlito"/>
                  <a:cs typeface="Carlito"/>
                  <a:sym typeface="Carlito"/>
                </a:rPr>
                <a:t>Back to Agenda Page</a:t>
              </a:r>
              <a:endParaRPr/>
            </a:p>
          </p:txBody>
        </p:sp>
      </p:grpSp>
      <p:sp>
        <p:nvSpPr>
          <p:cNvPr id="185" name="Google Shape;185;p7"/>
          <p:cNvSpPr/>
          <p:nvPr/>
        </p:nvSpPr>
        <p:spPr>
          <a:xfrm flipH="1">
            <a:off x="6463247" y="1731251"/>
            <a:ext cx="268028" cy="249997"/>
          </a:xfrm>
          <a:custGeom>
            <a:rect b="b" l="l" r="r" t="t"/>
            <a:pathLst>
              <a:path extrusionOk="0" h="249997" w="268028">
                <a:moveTo>
                  <a:pt x="268029" y="0"/>
                </a:moveTo>
                <a:lnTo>
                  <a:pt x="0" y="0"/>
                </a:lnTo>
                <a:lnTo>
                  <a:pt x="0" y="249998"/>
                </a:lnTo>
                <a:lnTo>
                  <a:pt x="268029" y="249998"/>
                </a:lnTo>
                <a:lnTo>
                  <a:pt x="268029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6" name="Google Shape;186;p7"/>
          <p:cNvGrpSpPr/>
          <p:nvPr/>
        </p:nvGrpSpPr>
        <p:grpSpPr>
          <a:xfrm>
            <a:off x="5995585" y="5200828"/>
            <a:ext cx="11549898" cy="3657360"/>
            <a:chOff x="0" y="-28575"/>
            <a:chExt cx="3041949" cy="963255"/>
          </a:xfrm>
        </p:grpSpPr>
        <p:sp>
          <p:nvSpPr>
            <p:cNvPr id="187" name="Google Shape;187;p7"/>
            <p:cNvSpPr/>
            <p:nvPr/>
          </p:nvSpPr>
          <p:spPr>
            <a:xfrm>
              <a:off x="0" y="0"/>
              <a:ext cx="3041949" cy="934680"/>
            </a:xfrm>
            <a:custGeom>
              <a:rect b="b" l="l" r="r" t="t"/>
              <a:pathLst>
                <a:path extrusionOk="0" h="934680" w="3041949">
                  <a:moveTo>
                    <a:pt x="34185" y="0"/>
                  </a:moveTo>
                  <a:lnTo>
                    <a:pt x="3007763" y="0"/>
                  </a:lnTo>
                  <a:cubicBezTo>
                    <a:pt x="3026643" y="0"/>
                    <a:pt x="3041949" y="15305"/>
                    <a:pt x="3041949" y="34185"/>
                  </a:cubicBezTo>
                  <a:lnTo>
                    <a:pt x="3041949" y="900495"/>
                  </a:lnTo>
                  <a:cubicBezTo>
                    <a:pt x="3041949" y="909561"/>
                    <a:pt x="3038347" y="918257"/>
                    <a:pt x="3031936" y="924668"/>
                  </a:cubicBezTo>
                  <a:cubicBezTo>
                    <a:pt x="3025525" y="931079"/>
                    <a:pt x="3016830" y="934680"/>
                    <a:pt x="3007763" y="934680"/>
                  </a:cubicBezTo>
                  <a:lnTo>
                    <a:pt x="34185" y="934680"/>
                  </a:lnTo>
                  <a:cubicBezTo>
                    <a:pt x="25119" y="934680"/>
                    <a:pt x="16424" y="931079"/>
                    <a:pt x="10013" y="924668"/>
                  </a:cubicBezTo>
                  <a:cubicBezTo>
                    <a:pt x="3602" y="918257"/>
                    <a:pt x="0" y="909561"/>
                    <a:pt x="0" y="900495"/>
                  </a:cubicBezTo>
                  <a:lnTo>
                    <a:pt x="0" y="34185"/>
                  </a:lnTo>
                  <a:cubicBezTo>
                    <a:pt x="0" y="15305"/>
                    <a:pt x="15305" y="0"/>
                    <a:pt x="34185" y="0"/>
                  </a:cubicBezTo>
                  <a:close/>
                </a:path>
              </a:pathLst>
            </a:custGeom>
            <a:solidFill>
              <a:srgbClr val="686C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0" y="-28575"/>
              <a:ext cx="3041949" cy="963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7"/>
          <p:cNvSpPr/>
          <p:nvPr/>
        </p:nvSpPr>
        <p:spPr>
          <a:xfrm>
            <a:off x="6463247" y="5523550"/>
            <a:ext cx="10688706" cy="3120413"/>
          </a:xfrm>
          <a:custGeom>
            <a:rect b="b" l="l" r="r" t="t"/>
            <a:pathLst>
              <a:path extrusionOk="0" h="3120413" w="10688706">
                <a:moveTo>
                  <a:pt x="0" y="0"/>
                </a:moveTo>
                <a:lnTo>
                  <a:pt x="10688707" y="0"/>
                </a:lnTo>
                <a:lnTo>
                  <a:pt x="10688707" y="3120412"/>
                </a:lnTo>
                <a:lnTo>
                  <a:pt x="0" y="3120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7"/>
          <p:cNvSpPr/>
          <p:nvPr/>
        </p:nvSpPr>
        <p:spPr>
          <a:xfrm>
            <a:off x="6463247" y="1493132"/>
            <a:ext cx="10872632" cy="3055308"/>
          </a:xfrm>
          <a:custGeom>
            <a:rect b="b" l="l" r="r" t="t"/>
            <a:pathLst>
              <a:path extrusionOk="0" h="3055308" w="10872632">
                <a:moveTo>
                  <a:pt x="0" y="0"/>
                </a:moveTo>
                <a:lnTo>
                  <a:pt x="10872633" y="0"/>
                </a:lnTo>
                <a:lnTo>
                  <a:pt x="10872633" y="3055308"/>
                </a:lnTo>
                <a:lnTo>
                  <a:pt x="0" y="3055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6709" t="0"/>
            </a:stretch>
          </a:blipFill>
          <a:ln>
            <a:noFill/>
          </a:ln>
        </p:spPr>
      </p:sp>
      <p:sp>
        <p:nvSpPr>
          <p:cNvPr id="191" name="Google Shape;191;p7"/>
          <p:cNvSpPr txBox="1"/>
          <p:nvPr/>
        </p:nvSpPr>
        <p:spPr>
          <a:xfrm>
            <a:off x="1028700" y="1778876"/>
            <a:ext cx="5104688" cy="101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Instalación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940593" y="4336899"/>
            <a:ext cx="3598935" cy="588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4" u="sng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Visual Studio 2022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940593" y="5841762"/>
            <a:ext cx="4604394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Versiones Anteriores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1858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8"/>
          <p:cNvGrpSpPr/>
          <p:nvPr/>
        </p:nvGrpSpPr>
        <p:grpSpPr>
          <a:xfrm>
            <a:off x="7149008" y="432718"/>
            <a:ext cx="6515768" cy="3144286"/>
            <a:chOff x="0" y="-28575"/>
            <a:chExt cx="1716087" cy="828125"/>
          </a:xfrm>
        </p:grpSpPr>
        <p:sp>
          <p:nvSpPr>
            <p:cNvPr id="199" name="Google Shape;199;p8"/>
            <p:cNvSpPr/>
            <p:nvPr/>
          </p:nvSpPr>
          <p:spPr>
            <a:xfrm>
              <a:off x="0" y="0"/>
              <a:ext cx="1716087" cy="799550"/>
            </a:xfrm>
            <a:custGeom>
              <a:rect b="b" l="l" r="r" t="t"/>
              <a:pathLst>
                <a:path extrusionOk="0" h="799550" w="1716087">
                  <a:moveTo>
                    <a:pt x="60597" y="0"/>
                  </a:moveTo>
                  <a:lnTo>
                    <a:pt x="1655490" y="0"/>
                  </a:lnTo>
                  <a:cubicBezTo>
                    <a:pt x="1688957" y="0"/>
                    <a:pt x="1716087" y="27130"/>
                    <a:pt x="1716087" y="60597"/>
                  </a:cubicBezTo>
                  <a:lnTo>
                    <a:pt x="1716087" y="738952"/>
                  </a:lnTo>
                  <a:cubicBezTo>
                    <a:pt x="1716087" y="755024"/>
                    <a:pt x="1709703" y="770437"/>
                    <a:pt x="1698339" y="781801"/>
                  </a:cubicBezTo>
                  <a:cubicBezTo>
                    <a:pt x="1686974" y="793165"/>
                    <a:pt x="1671561" y="799550"/>
                    <a:pt x="1655490" y="799550"/>
                  </a:cubicBezTo>
                  <a:lnTo>
                    <a:pt x="60597" y="799550"/>
                  </a:lnTo>
                  <a:cubicBezTo>
                    <a:pt x="44526" y="799550"/>
                    <a:pt x="29113" y="793165"/>
                    <a:pt x="17749" y="781801"/>
                  </a:cubicBezTo>
                  <a:cubicBezTo>
                    <a:pt x="6384" y="770437"/>
                    <a:pt x="0" y="755024"/>
                    <a:pt x="0" y="738952"/>
                  </a:cubicBezTo>
                  <a:lnTo>
                    <a:pt x="0" y="60597"/>
                  </a:lnTo>
                  <a:cubicBezTo>
                    <a:pt x="0" y="44526"/>
                    <a:pt x="6384" y="29113"/>
                    <a:pt x="17749" y="17749"/>
                  </a:cubicBezTo>
                  <a:cubicBezTo>
                    <a:pt x="29113" y="6384"/>
                    <a:pt x="44526" y="0"/>
                    <a:pt x="60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 txBox="1"/>
            <p:nvPr/>
          </p:nvSpPr>
          <p:spPr>
            <a:xfrm>
              <a:off x="0" y="-28575"/>
              <a:ext cx="1716087" cy="82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8"/>
          <p:cNvSpPr/>
          <p:nvPr/>
        </p:nvSpPr>
        <p:spPr>
          <a:xfrm>
            <a:off x="7594465" y="824604"/>
            <a:ext cx="5624854" cy="2469010"/>
          </a:xfrm>
          <a:custGeom>
            <a:rect b="b" l="l" r="r" t="t"/>
            <a:pathLst>
              <a:path extrusionOk="0" h="2469010" w="5624854">
                <a:moveTo>
                  <a:pt x="0" y="0"/>
                </a:moveTo>
                <a:lnTo>
                  <a:pt x="5624854" y="0"/>
                </a:lnTo>
                <a:lnTo>
                  <a:pt x="5624854" y="2469009"/>
                </a:lnTo>
                <a:lnTo>
                  <a:pt x="0" y="24690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8432" l="0" r="0" t="0"/>
            </a:stretch>
          </a:blipFill>
          <a:ln>
            <a:noFill/>
          </a:ln>
        </p:spPr>
      </p:sp>
      <p:grpSp>
        <p:nvGrpSpPr>
          <p:cNvPr id="202" name="Google Shape;202;p8"/>
          <p:cNvGrpSpPr/>
          <p:nvPr/>
        </p:nvGrpSpPr>
        <p:grpSpPr>
          <a:xfrm>
            <a:off x="4536613" y="3724156"/>
            <a:ext cx="11740557" cy="6106898"/>
            <a:chOff x="0" y="-28575"/>
            <a:chExt cx="3092163" cy="1608401"/>
          </a:xfrm>
        </p:grpSpPr>
        <p:sp>
          <p:nvSpPr>
            <p:cNvPr id="203" name="Google Shape;203;p8"/>
            <p:cNvSpPr/>
            <p:nvPr/>
          </p:nvSpPr>
          <p:spPr>
            <a:xfrm>
              <a:off x="0" y="0"/>
              <a:ext cx="3092163" cy="1579826"/>
            </a:xfrm>
            <a:custGeom>
              <a:rect b="b" l="l" r="r" t="t"/>
              <a:pathLst>
                <a:path extrusionOk="0" h="1579826" w="3092163">
                  <a:moveTo>
                    <a:pt x="33630" y="0"/>
                  </a:moveTo>
                  <a:lnTo>
                    <a:pt x="3058533" y="0"/>
                  </a:lnTo>
                  <a:cubicBezTo>
                    <a:pt x="3067452" y="0"/>
                    <a:pt x="3076006" y="3543"/>
                    <a:pt x="3082313" y="9850"/>
                  </a:cubicBezTo>
                  <a:cubicBezTo>
                    <a:pt x="3088620" y="16157"/>
                    <a:pt x="3092163" y="24711"/>
                    <a:pt x="3092163" y="33630"/>
                  </a:cubicBezTo>
                  <a:lnTo>
                    <a:pt x="3092163" y="1546196"/>
                  </a:lnTo>
                  <a:cubicBezTo>
                    <a:pt x="3092163" y="1555115"/>
                    <a:pt x="3088620" y="1563669"/>
                    <a:pt x="3082313" y="1569976"/>
                  </a:cubicBezTo>
                  <a:cubicBezTo>
                    <a:pt x="3076006" y="1576283"/>
                    <a:pt x="3067452" y="1579826"/>
                    <a:pt x="3058533" y="1579826"/>
                  </a:cubicBezTo>
                  <a:lnTo>
                    <a:pt x="33630" y="1579826"/>
                  </a:lnTo>
                  <a:cubicBezTo>
                    <a:pt x="24711" y="1579826"/>
                    <a:pt x="16157" y="1576283"/>
                    <a:pt x="9850" y="1569976"/>
                  </a:cubicBezTo>
                  <a:cubicBezTo>
                    <a:pt x="3543" y="1563669"/>
                    <a:pt x="0" y="1555115"/>
                    <a:pt x="0" y="1546196"/>
                  </a:cubicBezTo>
                  <a:lnTo>
                    <a:pt x="0" y="33630"/>
                  </a:lnTo>
                  <a:cubicBezTo>
                    <a:pt x="0" y="24711"/>
                    <a:pt x="3543" y="16157"/>
                    <a:pt x="9850" y="9850"/>
                  </a:cubicBezTo>
                  <a:cubicBezTo>
                    <a:pt x="16157" y="3543"/>
                    <a:pt x="24711" y="0"/>
                    <a:pt x="336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 txBox="1"/>
            <p:nvPr/>
          </p:nvSpPr>
          <p:spPr>
            <a:xfrm>
              <a:off x="0" y="-28575"/>
              <a:ext cx="3092163" cy="1608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8"/>
          <p:cNvSpPr/>
          <p:nvPr/>
        </p:nvSpPr>
        <p:spPr>
          <a:xfrm>
            <a:off x="5205501" y="4132760"/>
            <a:ext cx="10402781" cy="5398185"/>
          </a:xfrm>
          <a:custGeom>
            <a:rect b="b" l="l" r="r" t="t"/>
            <a:pathLst>
              <a:path extrusionOk="0" h="5398185" w="10402781">
                <a:moveTo>
                  <a:pt x="0" y="0"/>
                </a:moveTo>
                <a:lnTo>
                  <a:pt x="10402781" y="0"/>
                </a:lnTo>
                <a:lnTo>
                  <a:pt x="10402781" y="5398185"/>
                </a:lnTo>
                <a:lnTo>
                  <a:pt x="0" y="5398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254" t="0"/>
            </a:stretch>
          </a:blipFill>
          <a:ln>
            <a:noFill/>
          </a:ln>
        </p:spPr>
      </p:sp>
      <p:sp>
        <p:nvSpPr>
          <p:cNvPr id="206" name="Google Shape;206;p8"/>
          <p:cNvSpPr txBox="1"/>
          <p:nvPr/>
        </p:nvSpPr>
        <p:spPr>
          <a:xfrm>
            <a:off x="1594969" y="1076325"/>
            <a:ext cx="1992294" cy="820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15" u="none" cap="none" strike="noStrike">
                <a:solidFill>
                  <a:srgbClr val="FFFFF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Paso 1</a:t>
            </a:r>
            <a:endParaRPr/>
          </a:p>
        </p:txBody>
      </p:sp>
      <p:sp>
        <p:nvSpPr>
          <p:cNvPr id="207" name="Google Shape;207;p8"/>
          <p:cNvSpPr txBox="1"/>
          <p:nvPr/>
        </p:nvSpPr>
        <p:spPr>
          <a:xfrm>
            <a:off x="1594969" y="4230154"/>
            <a:ext cx="1992294" cy="91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1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2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Paso 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/>
          <p:nvPr/>
        </p:nvSpPr>
        <p:spPr>
          <a:xfrm>
            <a:off x="-545621" y="8287828"/>
            <a:ext cx="19566866" cy="21272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9"/>
          <p:cNvSpPr/>
          <p:nvPr/>
        </p:nvSpPr>
        <p:spPr>
          <a:xfrm>
            <a:off x="0" y="0"/>
            <a:ext cx="10773886" cy="6017019"/>
          </a:xfrm>
          <a:custGeom>
            <a:rect b="b" l="l" r="r" t="t"/>
            <a:pathLst>
              <a:path extrusionOk="0" h="6017019" w="10773886">
                <a:moveTo>
                  <a:pt x="0" y="0"/>
                </a:moveTo>
                <a:lnTo>
                  <a:pt x="10773886" y="0"/>
                </a:lnTo>
                <a:lnTo>
                  <a:pt x="10773886" y="6017019"/>
                </a:lnTo>
                <a:lnTo>
                  <a:pt x="0" y="60170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9"/>
          <p:cNvSpPr txBox="1"/>
          <p:nvPr/>
        </p:nvSpPr>
        <p:spPr>
          <a:xfrm>
            <a:off x="10359988" y="9233535"/>
            <a:ext cx="6899312" cy="23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EE600"/>
                </a:solidFill>
                <a:latin typeface="Arial"/>
                <a:ea typeface="Arial"/>
                <a:cs typeface="Arial"/>
                <a:sym typeface="Arial"/>
              </a:rPr>
              <a:t>PROGRAMACIÓN DE COMPUTADORAS 2 | CLASE 1</a:t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766664" y="6408483"/>
            <a:ext cx="10007221" cy="1329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Seleccionar únicamente la opción de ".NET desktop development" en el apartado de "Desktop &amp; Mobile" y presionar Install. Requerirá reinicio del sistema al finalizar la instalación.</a:t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11165651" y="2152568"/>
            <a:ext cx="6524156" cy="1200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Instalación de Visual Studio 2012 community</a:t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11563685" y="3576960"/>
            <a:ext cx="5728089" cy="265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Mínimo: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4 GB de RAM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Windows 10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Recomendado:</a:t>
            </a:r>
            <a:endParaRPr/>
          </a:p>
          <a:p>
            <a:pPr indent="-269874" lvl="1" marL="53974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8 GB de RAM o más</a:t>
            </a:r>
            <a:endParaRPr/>
          </a:p>
          <a:p>
            <a:pPr indent="-269875" lvl="1" marL="53975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Windows 10 version 64-bit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12184759" y="6833442"/>
            <a:ext cx="5074543" cy="2424858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12184759" y="934466"/>
            <a:ext cx="5095188" cy="6225274"/>
          </a:xfrm>
          <a:custGeom>
            <a:rect b="b" l="l" r="r" t="t"/>
            <a:pathLst>
              <a:path extrusionOk="0" h="6225274" w="5095188">
                <a:moveTo>
                  <a:pt x="0" y="0"/>
                </a:moveTo>
                <a:lnTo>
                  <a:pt x="5095187" y="0"/>
                </a:lnTo>
                <a:lnTo>
                  <a:pt x="5095187" y="6225274"/>
                </a:lnTo>
                <a:lnTo>
                  <a:pt x="0" y="6225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1" l="0" r="0" t="-202"/>
            </a:stretch>
          </a:blipFill>
          <a:ln>
            <a:noFill/>
          </a:ln>
        </p:spPr>
      </p:sp>
      <p:sp>
        <p:nvSpPr>
          <p:cNvPr id="225" name="Google Shape;225;p10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0"/>
          <p:cNvSpPr/>
          <p:nvPr/>
        </p:nvSpPr>
        <p:spPr>
          <a:xfrm>
            <a:off x="1028700" y="6833442"/>
            <a:ext cx="5074543" cy="2424858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016542" y="865655"/>
            <a:ext cx="5086699" cy="6277203"/>
          </a:xfrm>
          <a:custGeom>
            <a:rect b="b" l="l" r="r" t="t"/>
            <a:pathLst>
              <a:path extrusionOk="0" h="6277203" w="5086699">
                <a:moveTo>
                  <a:pt x="0" y="0"/>
                </a:moveTo>
                <a:lnTo>
                  <a:pt x="5086699" y="0"/>
                </a:lnTo>
                <a:lnTo>
                  <a:pt x="5086699" y="6277203"/>
                </a:lnTo>
                <a:lnTo>
                  <a:pt x="0" y="6277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0"/>
          <p:cNvSpPr/>
          <p:nvPr/>
        </p:nvSpPr>
        <p:spPr>
          <a:xfrm>
            <a:off x="6606729" y="6833442"/>
            <a:ext cx="5074543" cy="2424858"/>
          </a:xfrm>
          <a:custGeom>
            <a:rect b="b" l="l" r="r" t="t"/>
            <a:pathLst>
              <a:path extrusionOk="0" h="1430494" w="2993619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606729" y="865655"/>
            <a:ext cx="5074541" cy="6294085"/>
          </a:xfrm>
          <a:custGeom>
            <a:rect b="b" l="l" r="r" t="t"/>
            <a:pathLst>
              <a:path extrusionOk="0" h="6294085" w="5074541">
                <a:moveTo>
                  <a:pt x="0" y="0"/>
                </a:moveTo>
                <a:lnTo>
                  <a:pt x="5074542" y="0"/>
                </a:lnTo>
                <a:lnTo>
                  <a:pt x="5074542" y="6294085"/>
                </a:lnTo>
                <a:lnTo>
                  <a:pt x="0" y="6294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0"/>
          <p:cNvSpPr txBox="1"/>
          <p:nvPr/>
        </p:nvSpPr>
        <p:spPr>
          <a:xfrm>
            <a:off x="1327371" y="7436271"/>
            <a:ext cx="44771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 iniciar por primera vez, pedirá inicio de sesión. No es necesario, pueden omitir este paso.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6905400" y="7316815"/>
            <a:ext cx="4477199" cy="1516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Luego pedirá elegir el tema para el entorno de trabajo. Dejar el primer campo como general y elegir el tema a su propio gusto.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12504076" y="7695910"/>
            <a:ext cx="4477199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crear su primer proyecto, seleccionar la última opción.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8261406" y="1028700"/>
            <a:ext cx="12174084" cy="9959281"/>
          </a:xfrm>
          <a:custGeom>
            <a:rect b="b" l="l" r="r" t="t"/>
            <a:pathLst>
              <a:path extrusionOk="0" h="2384114" w="2914308">
                <a:moveTo>
                  <a:pt x="2789848" y="2384113"/>
                </a:moveTo>
                <a:lnTo>
                  <a:pt x="124460" y="2384113"/>
                </a:lnTo>
                <a:cubicBezTo>
                  <a:pt x="55880" y="2384113"/>
                  <a:pt x="0" y="2328233"/>
                  <a:pt x="0" y="2259653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789848" y="0"/>
                </a:lnTo>
                <a:cubicBezTo>
                  <a:pt x="2858428" y="0"/>
                  <a:pt x="2914308" y="55880"/>
                  <a:pt x="2914308" y="124460"/>
                </a:cubicBezTo>
                <a:lnTo>
                  <a:pt x="2914308" y="2259654"/>
                </a:lnTo>
                <a:cubicBezTo>
                  <a:pt x="2914308" y="2328233"/>
                  <a:pt x="2858428" y="2384114"/>
                  <a:pt x="2789848" y="2384114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10929143" y="4668799"/>
            <a:ext cx="572933" cy="355044"/>
          </a:xfrm>
          <a:custGeom>
            <a:rect b="b" l="l" r="r" t="t"/>
            <a:pathLst>
              <a:path extrusionOk="0" h="355044" w="572933">
                <a:moveTo>
                  <a:pt x="0" y="0"/>
                </a:moveTo>
                <a:lnTo>
                  <a:pt x="572933" y="0"/>
                </a:lnTo>
                <a:lnTo>
                  <a:pt x="572933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0258" r="0" t="0"/>
            </a:stretch>
          </a:blipFill>
          <a:ln>
            <a:noFill/>
          </a:ln>
        </p:spPr>
      </p:sp>
      <p:sp>
        <p:nvSpPr>
          <p:cNvPr id="239" name="Google Shape;239;p11"/>
          <p:cNvSpPr/>
          <p:nvPr/>
        </p:nvSpPr>
        <p:spPr>
          <a:xfrm>
            <a:off x="10929143" y="6224488"/>
            <a:ext cx="572933" cy="355044"/>
          </a:xfrm>
          <a:custGeom>
            <a:rect b="b" l="l" r="r" t="t"/>
            <a:pathLst>
              <a:path extrusionOk="0" h="355044" w="572933">
                <a:moveTo>
                  <a:pt x="0" y="0"/>
                </a:moveTo>
                <a:lnTo>
                  <a:pt x="572933" y="0"/>
                </a:lnTo>
                <a:lnTo>
                  <a:pt x="572933" y="355043"/>
                </a:lnTo>
                <a:lnTo>
                  <a:pt x="0" y="355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0258" r="0" t="0"/>
            </a:stretch>
          </a:blipFill>
          <a:ln>
            <a:noFill/>
          </a:ln>
        </p:spPr>
      </p:sp>
      <p:sp>
        <p:nvSpPr>
          <p:cNvPr id="240" name="Google Shape;240;p11"/>
          <p:cNvSpPr/>
          <p:nvPr/>
        </p:nvSpPr>
        <p:spPr>
          <a:xfrm>
            <a:off x="10929143" y="7746600"/>
            <a:ext cx="572933" cy="355044"/>
          </a:xfrm>
          <a:custGeom>
            <a:rect b="b" l="l" r="r" t="t"/>
            <a:pathLst>
              <a:path extrusionOk="0" h="355044" w="572933">
                <a:moveTo>
                  <a:pt x="0" y="0"/>
                </a:moveTo>
                <a:lnTo>
                  <a:pt x="572933" y="0"/>
                </a:lnTo>
                <a:lnTo>
                  <a:pt x="572933" y="355043"/>
                </a:lnTo>
                <a:lnTo>
                  <a:pt x="0" y="355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0258" r="0" t="0"/>
            </a:stretch>
          </a:blipFill>
          <a:ln>
            <a:noFill/>
          </a:ln>
        </p:spPr>
      </p:sp>
      <p:sp>
        <p:nvSpPr>
          <p:cNvPr id="241" name="Google Shape;241;p11"/>
          <p:cNvSpPr/>
          <p:nvPr/>
        </p:nvSpPr>
        <p:spPr>
          <a:xfrm>
            <a:off x="0" y="3469075"/>
            <a:ext cx="9722859" cy="6817925"/>
          </a:xfrm>
          <a:custGeom>
            <a:rect b="b" l="l" r="r" t="t"/>
            <a:pathLst>
              <a:path extrusionOk="0" h="6817925" w="9722859">
                <a:moveTo>
                  <a:pt x="0" y="0"/>
                </a:moveTo>
                <a:lnTo>
                  <a:pt x="9722859" y="0"/>
                </a:lnTo>
                <a:lnTo>
                  <a:pt x="9722859" y="6817925"/>
                </a:lnTo>
                <a:lnTo>
                  <a:pt x="0" y="6817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1"/>
          <p:cNvSpPr txBox="1"/>
          <p:nvPr/>
        </p:nvSpPr>
        <p:spPr>
          <a:xfrm>
            <a:off x="9900129" y="1538556"/>
            <a:ext cx="7359171" cy="1646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Creando un nuevo proyecto</a:t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10359988" y="3440500"/>
            <a:ext cx="6899312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Para elegir la plantilla correcta, hacer uso de los filtros</a:t>
            </a:r>
            <a:endParaRPr/>
          </a:p>
        </p:txBody>
      </p:sp>
      <p:grpSp>
        <p:nvGrpSpPr>
          <p:cNvPr id="244" name="Google Shape;244;p11"/>
          <p:cNvGrpSpPr/>
          <p:nvPr/>
        </p:nvGrpSpPr>
        <p:grpSpPr>
          <a:xfrm>
            <a:off x="11925238" y="4633557"/>
            <a:ext cx="4764908" cy="819150"/>
            <a:chOff x="0" y="-38100"/>
            <a:chExt cx="6353211" cy="1092200"/>
          </a:xfrm>
        </p:grpSpPr>
        <p:sp>
          <p:nvSpPr>
            <p:cNvPr id="245" name="Google Shape;245;p11"/>
            <p:cNvSpPr txBox="1"/>
            <p:nvPr/>
          </p:nvSpPr>
          <p:spPr>
            <a:xfrm>
              <a:off x="0" y="-38100"/>
              <a:ext cx="6353211" cy="566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Lenguaje</a:t>
              </a:r>
              <a:endParaRPr/>
            </a:p>
          </p:txBody>
        </p:sp>
        <p:sp>
          <p:nvSpPr>
            <p:cNvPr id="246" name="Google Shape;246;p11"/>
            <p:cNvSpPr txBox="1"/>
            <p:nvPr/>
          </p:nvSpPr>
          <p:spPr>
            <a:xfrm>
              <a:off x="0" y="490220"/>
              <a:ext cx="6353211" cy="5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Visual Basic</a:t>
              </a:r>
              <a:endParaRPr/>
            </a:p>
          </p:txBody>
        </p:sp>
      </p:grpSp>
      <p:grpSp>
        <p:nvGrpSpPr>
          <p:cNvPr id="247" name="Google Shape;247;p11"/>
          <p:cNvGrpSpPr/>
          <p:nvPr/>
        </p:nvGrpSpPr>
        <p:grpSpPr>
          <a:xfrm>
            <a:off x="11925238" y="5942309"/>
            <a:ext cx="5334062" cy="1245870"/>
            <a:chOff x="0" y="-38100"/>
            <a:chExt cx="7112083" cy="1661160"/>
          </a:xfrm>
        </p:grpSpPr>
        <p:sp>
          <p:nvSpPr>
            <p:cNvPr id="248" name="Google Shape;248;p11"/>
            <p:cNvSpPr txBox="1"/>
            <p:nvPr/>
          </p:nvSpPr>
          <p:spPr>
            <a:xfrm>
              <a:off x="0" y="-38100"/>
              <a:ext cx="7112083" cy="566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Plataforma</a:t>
              </a:r>
              <a:endParaRPr/>
            </a:p>
          </p:txBody>
        </p:sp>
        <p:sp>
          <p:nvSpPr>
            <p:cNvPr id="249" name="Google Shape;249;p11"/>
            <p:cNvSpPr txBox="1"/>
            <p:nvPr/>
          </p:nvSpPr>
          <p:spPr>
            <a:xfrm>
              <a:off x="0" y="490220"/>
              <a:ext cx="7112083" cy="1132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Windows o macOS (dependiendo de su sistema operativo)</a:t>
              </a:r>
              <a:endParaRPr/>
            </a:p>
          </p:txBody>
        </p:sp>
      </p:grpSp>
      <p:grpSp>
        <p:nvGrpSpPr>
          <p:cNvPr id="250" name="Google Shape;250;p11"/>
          <p:cNvGrpSpPr/>
          <p:nvPr/>
        </p:nvGrpSpPr>
        <p:grpSpPr>
          <a:xfrm>
            <a:off x="11925238" y="7677781"/>
            <a:ext cx="4764908" cy="819150"/>
            <a:chOff x="0" y="-38100"/>
            <a:chExt cx="6353211" cy="1092200"/>
          </a:xfrm>
        </p:grpSpPr>
        <p:sp>
          <p:nvSpPr>
            <p:cNvPr id="251" name="Google Shape;251;p11"/>
            <p:cNvSpPr txBox="1"/>
            <p:nvPr/>
          </p:nvSpPr>
          <p:spPr>
            <a:xfrm>
              <a:off x="0" y="-38100"/>
              <a:ext cx="6353211" cy="566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Tipo de proyecto</a:t>
              </a:r>
              <a:endParaRPr/>
            </a:p>
          </p:txBody>
        </p:sp>
        <p:sp>
          <p:nvSpPr>
            <p:cNvPr id="252" name="Google Shape;252;p11"/>
            <p:cNvSpPr txBox="1"/>
            <p:nvPr/>
          </p:nvSpPr>
          <p:spPr>
            <a:xfrm>
              <a:off x="0" y="490220"/>
              <a:ext cx="6353211" cy="56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Escritorio</a:t>
              </a:r>
              <a:endParaRPr/>
            </a:p>
          </p:txBody>
        </p:sp>
      </p:grpSp>
      <p:sp>
        <p:nvSpPr>
          <p:cNvPr id="253" name="Google Shape;253;p11"/>
          <p:cNvSpPr txBox="1"/>
          <p:nvPr/>
        </p:nvSpPr>
        <p:spPr>
          <a:xfrm>
            <a:off x="10359988" y="8858250"/>
            <a:ext cx="6899312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Una vez aplicado el filtro, seleccionar la opción de "Windows Forms App (.NET)"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2"/>
          <p:cNvSpPr/>
          <p:nvPr/>
        </p:nvSpPr>
        <p:spPr>
          <a:xfrm>
            <a:off x="0" y="0"/>
            <a:ext cx="11023098" cy="8374065"/>
          </a:xfrm>
          <a:custGeom>
            <a:rect b="b" l="l" r="r" t="t"/>
            <a:pathLst>
              <a:path extrusionOk="0" h="8374065" w="11023098">
                <a:moveTo>
                  <a:pt x="0" y="0"/>
                </a:moveTo>
                <a:lnTo>
                  <a:pt x="11023098" y="0"/>
                </a:lnTo>
                <a:lnTo>
                  <a:pt x="11023098" y="8374065"/>
                </a:lnTo>
                <a:lnTo>
                  <a:pt x="0" y="83740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8180" t="0"/>
            </a:stretch>
          </a:blipFill>
          <a:ln>
            <a:noFill/>
          </a:ln>
        </p:spPr>
      </p:sp>
      <p:sp>
        <p:nvSpPr>
          <p:cNvPr id="260" name="Google Shape;260;p12"/>
          <p:cNvSpPr/>
          <p:nvPr/>
        </p:nvSpPr>
        <p:spPr>
          <a:xfrm>
            <a:off x="-187288" y="8374065"/>
            <a:ext cx="11210386" cy="204681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" name="Google Shape;261;p12"/>
          <p:cNvGrpSpPr/>
          <p:nvPr/>
        </p:nvGrpSpPr>
        <p:grpSpPr>
          <a:xfrm>
            <a:off x="10368661" y="1749883"/>
            <a:ext cx="12174084" cy="6624182"/>
            <a:chOff x="0" y="0"/>
            <a:chExt cx="16232113" cy="8832243"/>
          </a:xfrm>
        </p:grpSpPr>
        <p:sp>
          <p:nvSpPr>
            <p:cNvPr id="262" name="Google Shape;262;p12"/>
            <p:cNvSpPr/>
            <p:nvPr/>
          </p:nvSpPr>
          <p:spPr>
            <a:xfrm>
              <a:off x="0" y="0"/>
              <a:ext cx="16232113" cy="8832243"/>
            </a:xfrm>
            <a:custGeom>
              <a:rect b="b" l="l" r="r" t="t"/>
              <a:pathLst>
                <a:path extrusionOk="0" h="1585738" w="2914308">
                  <a:moveTo>
                    <a:pt x="2789848" y="1585738"/>
                  </a:moveTo>
                  <a:lnTo>
                    <a:pt x="124460" y="1585738"/>
                  </a:lnTo>
                  <a:cubicBezTo>
                    <a:pt x="55880" y="1585738"/>
                    <a:pt x="0" y="1529858"/>
                    <a:pt x="0" y="146127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789848" y="0"/>
                  </a:lnTo>
                  <a:cubicBezTo>
                    <a:pt x="2858428" y="0"/>
                    <a:pt x="2914308" y="55880"/>
                    <a:pt x="2914308" y="124460"/>
                  </a:cubicBezTo>
                  <a:lnTo>
                    <a:pt x="2914308" y="1461278"/>
                  </a:lnTo>
                  <a:cubicBezTo>
                    <a:pt x="2914308" y="1529858"/>
                    <a:pt x="2858428" y="1585738"/>
                    <a:pt x="2789848" y="1585738"/>
                  </a:cubicBezTo>
                  <a:close/>
                </a:path>
              </a:pathLst>
            </a:custGeom>
            <a:solidFill>
              <a:srgbClr val="FE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2"/>
            <p:cNvSpPr txBox="1"/>
            <p:nvPr/>
          </p:nvSpPr>
          <p:spPr>
            <a:xfrm>
              <a:off x="1106333" y="1055624"/>
              <a:ext cx="7637452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Configuración</a:t>
              </a:r>
              <a:endParaRPr/>
            </a:p>
          </p:txBody>
        </p:sp>
        <p:sp>
          <p:nvSpPr>
            <p:cNvPr id="264" name="Google Shape;264;p12"/>
            <p:cNvSpPr txBox="1"/>
            <p:nvPr/>
          </p:nvSpPr>
          <p:spPr>
            <a:xfrm>
              <a:off x="1106333" y="4267268"/>
              <a:ext cx="7637452" cy="17498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9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Ponerle nombre al proyecto y seleccionar la ubicación donde se guardará</a:t>
              </a:r>
              <a:endParaRPr/>
            </a:p>
          </p:txBody>
        </p:sp>
      </p:grpSp>
      <p:sp>
        <p:nvSpPr>
          <p:cNvPr id="265" name="Google Shape;265;p12"/>
          <p:cNvSpPr txBox="1"/>
          <p:nvPr/>
        </p:nvSpPr>
        <p:spPr>
          <a:xfrm>
            <a:off x="1028700" y="9233535"/>
            <a:ext cx="6899312" cy="23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EE600"/>
                </a:solidFill>
                <a:latin typeface="Arial"/>
                <a:ea typeface="Arial"/>
                <a:cs typeface="Arial"/>
                <a:sym typeface="Arial"/>
              </a:rPr>
              <a:t>PROGRAMACIÓN DE COMPUTADORAS 2 | CLASE 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7450548" y="-297998"/>
            <a:ext cx="10837452" cy="10584998"/>
          </a:xfrm>
          <a:custGeom>
            <a:rect b="b" l="l" r="r" t="t"/>
            <a:pathLst>
              <a:path extrusionOk="0"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-26784" l="0" r="0" t="-26785"/>
            </a:stretch>
          </a:blipFill>
          <a:ln>
            <a:noFill/>
          </a:ln>
        </p:spPr>
      </p:sp>
      <p:sp>
        <p:nvSpPr>
          <p:cNvPr id="271" name="Google Shape;271;p13"/>
          <p:cNvSpPr/>
          <p:nvPr/>
        </p:nvSpPr>
        <p:spPr>
          <a:xfrm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3"/>
          <p:cNvSpPr/>
          <p:nvPr/>
        </p:nvSpPr>
        <p:spPr>
          <a:xfrm>
            <a:off x="9671948" y="2658692"/>
            <a:ext cx="6394653" cy="4885185"/>
          </a:xfrm>
          <a:custGeom>
            <a:rect b="b" l="l" r="r" t="t"/>
            <a:pathLst>
              <a:path extrusionOk="0" h="4885185" w="6394653">
                <a:moveTo>
                  <a:pt x="0" y="0"/>
                </a:moveTo>
                <a:lnTo>
                  <a:pt x="6394652" y="0"/>
                </a:lnTo>
                <a:lnTo>
                  <a:pt x="6394652" y="4885185"/>
                </a:lnTo>
                <a:lnTo>
                  <a:pt x="0" y="4885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3"/>
          <p:cNvSpPr txBox="1"/>
          <p:nvPr/>
        </p:nvSpPr>
        <p:spPr>
          <a:xfrm>
            <a:off x="1028700" y="941855"/>
            <a:ext cx="5817742" cy="112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Alternativa</a:t>
            </a:r>
            <a:endParaRPr/>
          </a:p>
        </p:txBody>
      </p:sp>
      <p:grpSp>
        <p:nvGrpSpPr>
          <p:cNvPr id="275" name="Google Shape;275;p13"/>
          <p:cNvGrpSpPr/>
          <p:nvPr/>
        </p:nvGrpSpPr>
        <p:grpSpPr>
          <a:xfrm>
            <a:off x="1028700" y="6639747"/>
            <a:ext cx="5538304" cy="1658456"/>
            <a:chOff x="0" y="-47625"/>
            <a:chExt cx="7384406" cy="2211275"/>
          </a:xfrm>
        </p:grpSpPr>
        <p:sp>
          <p:nvSpPr>
            <p:cNvPr id="276" name="Google Shape;276;p13"/>
            <p:cNvSpPr txBox="1"/>
            <p:nvPr/>
          </p:nvSpPr>
          <p:spPr>
            <a:xfrm>
              <a:off x="0" y="-47625"/>
              <a:ext cx="7384406" cy="733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Visual Studio 2010</a:t>
              </a:r>
              <a:endParaRPr/>
            </a:p>
          </p:txBody>
        </p:sp>
        <p:sp>
          <p:nvSpPr>
            <p:cNvPr id="277" name="Google Shape;277;p13"/>
            <p:cNvSpPr txBox="1"/>
            <p:nvPr/>
          </p:nvSpPr>
          <p:spPr>
            <a:xfrm>
              <a:off x="0" y="1167970"/>
              <a:ext cx="7384406" cy="99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Para computadoras de bajos recursos</a:t>
              </a:r>
              <a:endParaRPr/>
            </a:p>
            <a:p>
              <a:pPr indent="-226695" lvl="1" marL="45339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91919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191919"/>
                  </a:solidFill>
                  <a:latin typeface="Arial"/>
                  <a:ea typeface="Arial"/>
                  <a:cs typeface="Arial"/>
                  <a:sym typeface="Arial"/>
                </a:rPr>
                <a:t>2 GB RAM</a:t>
              </a:r>
              <a:endParaRPr/>
            </a:p>
          </p:txBody>
        </p:sp>
      </p:grpSp>
      <p:sp>
        <p:nvSpPr>
          <p:cNvPr id="278" name="Google Shape;278;p13"/>
          <p:cNvSpPr txBox="1"/>
          <p:nvPr/>
        </p:nvSpPr>
        <p:spPr>
          <a:xfrm>
            <a:off x="1028700" y="9229725"/>
            <a:ext cx="581774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 | CLASE 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254" y="6789831"/>
            <a:ext cx="971251" cy="110369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4"/>
          <p:cNvSpPr/>
          <p:nvPr/>
        </p:nvSpPr>
        <p:spPr>
          <a:xfrm>
            <a:off x="2098480" y="6789831"/>
            <a:ext cx="843782" cy="662098"/>
          </a:xfrm>
          <a:custGeom>
            <a:rect b="b" l="l" r="r" t="t"/>
            <a:pathLst>
              <a:path extrusionOk="0" h="662098" w="843782">
                <a:moveTo>
                  <a:pt x="0" y="0"/>
                </a:moveTo>
                <a:lnTo>
                  <a:pt x="843781" y="0"/>
                </a:lnTo>
                <a:lnTo>
                  <a:pt x="843781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19966" t="0"/>
            </a:stretch>
          </a:blipFill>
          <a:ln>
            <a:noFill/>
          </a:ln>
        </p:spPr>
      </p:sp>
      <p:sp>
        <p:nvSpPr>
          <p:cNvPr id="285" name="Google Shape;285;p14"/>
          <p:cNvSpPr/>
          <p:nvPr/>
        </p:nvSpPr>
        <p:spPr>
          <a:xfrm>
            <a:off x="14682597" y="6773499"/>
            <a:ext cx="843782" cy="662098"/>
          </a:xfrm>
          <a:custGeom>
            <a:rect b="b" l="l" r="r" t="t"/>
            <a:pathLst>
              <a:path extrusionOk="0"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19966" t="0"/>
            </a:stretch>
          </a:blipFill>
          <a:ln>
            <a:noFill/>
          </a:ln>
        </p:spPr>
      </p:sp>
      <p:sp>
        <p:nvSpPr>
          <p:cNvPr id="286" name="Google Shape;286;p14"/>
          <p:cNvSpPr/>
          <p:nvPr/>
        </p:nvSpPr>
        <p:spPr>
          <a:xfrm>
            <a:off x="16415518" y="4647198"/>
            <a:ext cx="843782" cy="662098"/>
          </a:xfrm>
          <a:custGeom>
            <a:rect b="b" l="l" r="r" t="t"/>
            <a:pathLst>
              <a:path extrusionOk="0" h="662098" w="843782">
                <a:moveTo>
                  <a:pt x="0" y="0"/>
                </a:moveTo>
                <a:lnTo>
                  <a:pt x="843782" y="0"/>
                </a:lnTo>
                <a:lnTo>
                  <a:pt x="843782" y="662098"/>
                </a:lnTo>
                <a:lnTo>
                  <a:pt x="0" y="662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419966" t="0"/>
            </a:stretch>
          </a:blipFill>
          <a:ln>
            <a:noFill/>
          </a:ln>
        </p:spPr>
      </p:sp>
      <p:sp>
        <p:nvSpPr>
          <p:cNvPr id="287" name="Google Shape;287;p14"/>
          <p:cNvSpPr/>
          <p:nvPr/>
        </p:nvSpPr>
        <p:spPr>
          <a:xfrm>
            <a:off x="2298984" y="6844147"/>
            <a:ext cx="442773" cy="553467"/>
          </a:xfrm>
          <a:custGeom>
            <a:rect b="b" l="l" r="r" t="t"/>
            <a:pathLst>
              <a:path extrusionOk="0" h="553467" w="442773">
                <a:moveTo>
                  <a:pt x="0" y="0"/>
                </a:moveTo>
                <a:lnTo>
                  <a:pt x="442773" y="0"/>
                </a:lnTo>
                <a:lnTo>
                  <a:pt x="442773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14"/>
          <p:cNvSpPr/>
          <p:nvPr/>
        </p:nvSpPr>
        <p:spPr>
          <a:xfrm>
            <a:off x="14882622" y="6827814"/>
            <a:ext cx="442773" cy="553467"/>
          </a:xfrm>
          <a:custGeom>
            <a:rect b="b" l="l" r="r" t="t"/>
            <a:pathLst>
              <a:path extrusionOk="0" h="553467" w="442773">
                <a:moveTo>
                  <a:pt x="0" y="0"/>
                </a:moveTo>
                <a:lnTo>
                  <a:pt x="442774" y="0"/>
                </a:lnTo>
                <a:lnTo>
                  <a:pt x="442774" y="553467"/>
                </a:lnTo>
                <a:lnTo>
                  <a:pt x="0" y="5534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4"/>
          <p:cNvSpPr/>
          <p:nvPr/>
        </p:nvSpPr>
        <p:spPr>
          <a:xfrm>
            <a:off x="16616700" y="4701514"/>
            <a:ext cx="442773" cy="553467"/>
          </a:xfrm>
          <a:custGeom>
            <a:rect b="b" l="l" r="r" t="t"/>
            <a:pathLst>
              <a:path extrusionOk="0" h="553467" w="442773">
                <a:moveTo>
                  <a:pt x="0" y="0"/>
                </a:moveTo>
                <a:lnTo>
                  <a:pt x="442774" y="0"/>
                </a:lnTo>
                <a:lnTo>
                  <a:pt x="442774" y="553466"/>
                </a:lnTo>
                <a:lnTo>
                  <a:pt x="0" y="553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14"/>
          <p:cNvSpPr/>
          <p:nvPr/>
        </p:nvSpPr>
        <p:spPr>
          <a:xfrm flipH="1">
            <a:off x="14621255" y="6205320"/>
            <a:ext cx="966466" cy="568179"/>
          </a:xfrm>
          <a:custGeom>
            <a:rect b="b" l="l" r="r" t="t"/>
            <a:pathLst>
              <a:path extrusionOk="0" h="568179" w="966466">
                <a:moveTo>
                  <a:pt x="966466" y="0"/>
                </a:moveTo>
                <a:lnTo>
                  <a:pt x="0" y="0"/>
                </a:lnTo>
                <a:lnTo>
                  <a:pt x="0" y="568179"/>
                </a:lnTo>
                <a:lnTo>
                  <a:pt x="966466" y="568179"/>
                </a:lnTo>
                <a:lnTo>
                  <a:pt x="966466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0099" l="0" r="0" t="0"/>
            </a:stretch>
          </a:blipFill>
          <a:ln>
            <a:noFill/>
          </a:ln>
        </p:spPr>
      </p:sp>
      <p:grpSp>
        <p:nvGrpSpPr>
          <p:cNvPr id="291" name="Google Shape;291;p14"/>
          <p:cNvGrpSpPr/>
          <p:nvPr/>
        </p:nvGrpSpPr>
        <p:grpSpPr>
          <a:xfrm>
            <a:off x="2107582" y="2562496"/>
            <a:ext cx="7411368" cy="6294933"/>
            <a:chOff x="0" y="-28575"/>
            <a:chExt cx="1951965" cy="1657925"/>
          </a:xfrm>
        </p:grpSpPr>
        <p:sp>
          <p:nvSpPr>
            <p:cNvPr id="292" name="Google Shape;292;p14"/>
            <p:cNvSpPr/>
            <p:nvPr/>
          </p:nvSpPr>
          <p:spPr>
            <a:xfrm>
              <a:off x="0" y="0"/>
              <a:ext cx="1951965" cy="1629350"/>
            </a:xfrm>
            <a:custGeom>
              <a:rect b="b" l="l" r="r" t="t"/>
              <a:pathLst>
                <a:path extrusionOk="0" h="1629350" w="1951965">
                  <a:moveTo>
                    <a:pt x="53275" y="0"/>
                  </a:moveTo>
                  <a:lnTo>
                    <a:pt x="1898691" y="0"/>
                  </a:lnTo>
                  <a:cubicBezTo>
                    <a:pt x="1928113" y="0"/>
                    <a:pt x="1951965" y="23852"/>
                    <a:pt x="1951965" y="53275"/>
                  </a:cubicBezTo>
                  <a:lnTo>
                    <a:pt x="1951965" y="1576075"/>
                  </a:lnTo>
                  <a:cubicBezTo>
                    <a:pt x="1951965" y="1590204"/>
                    <a:pt x="1946352" y="1603755"/>
                    <a:pt x="1936361" y="1613746"/>
                  </a:cubicBezTo>
                  <a:cubicBezTo>
                    <a:pt x="1926370" y="1623737"/>
                    <a:pt x="1912820" y="1629350"/>
                    <a:pt x="1898691" y="1629350"/>
                  </a:cubicBezTo>
                  <a:lnTo>
                    <a:pt x="53275" y="1629350"/>
                  </a:lnTo>
                  <a:cubicBezTo>
                    <a:pt x="39145" y="1629350"/>
                    <a:pt x="25595" y="1623737"/>
                    <a:pt x="15604" y="1613746"/>
                  </a:cubicBezTo>
                  <a:cubicBezTo>
                    <a:pt x="5613" y="1603755"/>
                    <a:pt x="0" y="1590204"/>
                    <a:pt x="0" y="1576075"/>
                  </a:cubicBezTo>
                  <a:lnTo>
                    <a:pt x="0" y="53275"/>
                  </a:lnTo>
                  <a:cubicBezTo>
                    <a:pt x="0" y="39145"/>
                    <a:pt x="5613" y="25595"/>
                    <a:pt x="15604" y="15604"/>
                  </a:cubicBezTo>
                  <a:cubicBezTo>
                    <a:pt x="25595" y="5613"/>
                    <a:pt x="39145" y="0"/>
                    <a:pt x="532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 txBox="1"/>
            <p:nvPr/>
          </p:nvSpPr>
          <p:spPr>
            <a:xfrm>
              <a:off x="0" y="-28575"/>
              <a:ext cx="1951965" cy="1657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14"/>
          <p:cNvSpPr/>
          <p:nvPr/>
        </p:nvSpPr>
        <p:spPr>
          <a:xfrm>
            <a:off x="10223800" y="4312931"/>
            <a:ext cx="7048022" cy="3020581"/>
          </a:xfrm>
          <a:custGeom>
            <a:rect b="b" l="l" r="r" t="t"/>
            <a:pathLst>
              <a:path extrusionOk="0" h="3020581" w="7048022">
                <a:moveTo>
                  <a:pt x="0" y="0"/>
                </a:moveTo>
                <a:lnTo>
                  <a:pt x="7048022" y="0"/>
                </a:lnTo>
                <a:lnTo>
                  <a:pt x="7048022" y="3020581"/>
                </a:lnTo>
                <a:lnTo>
                  <a:pt x="0" y="3020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4"/>
          <p:cNvSpPr txBox="1"/>
          <p:nvPr/>
        </p:nvSpPr>
        <p:spPr>
          <a:xfrm>
            <a:off x="2521384" y="1610918"/>
            <a:ext cx="6402243" cy="881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13" u="none" cap="none" strike="noStrike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Visual studio 2010</a:t>
            </a:r>
            <a:endParaRPr/>
          </a:p>
        </p:txBody>
      </p:sp>
      <p:sp>
        <p:nvSpPr>
          <p:cNvPr id="296" name="Google Shape;296;p14"/>
          <p:cNvSpPr txBox="1"/>
          <p:nvPr/>
        </p:nvSpPr>
        <p:spPr>
          <a:xfrm>
            <a:off x="2592247" y="3001060"/>
            <a:ext cx="6442036" cy="51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Para computadoras de bajos recursos </a:t>
            </a:r>
            <a:endParaRPr/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2 GB</a:t>
            </a:r>
            <a:endParaRPr/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Compatible : </a:t>
            </a:r>
            <a:endParaRPr/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Windows 11</a:t>
            </a:r>
            <a:endParaRPr/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Windows 10</a:t>
            </a:r>
            <a:endParaRPr/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Windows 8.1</a:t>
            </a:r>
            <a:endParaRPr/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Requisitos :</a:t>
            </a:r>
            <a:endParaRPr/>
          </a:p>
          <a:p>
            <a:pPr indent="-240940" lvl="1" marL="481881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1"/>
              <a:buFont typeface="Arial"/>
              <a:buChar char="•"/>
            </a:pPr>
            <a:r>
              <a:rPr b="0" i="0" lang="en-US" sz="2231" u="none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.NET Framework: debe instalar .NET Framework 3.5, .NET Framework 4, .NET Framework 4 Client Profile o .NET Framework 4.5 en los equipos de usuario final antes de instalar este runtime.</a:t>
            </a:r>
            <a:endParaRPr/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31" u="none" cap="none" strike="noStrike">
              <a:solidFill>
                <a:srgbClr val="FFFFFF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31" u="none" cap="none" strike="noStrike">
              <a:solidFill>
                <a:srgbClr val="FFFFFF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3876656" y="8164645"/>
            <a:ext cx="3824006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sng" cap="none" strike="noStrike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Visual Studio 2010</a:t>
            </a:r>
            <a:endParaRPr/>
          </a:p>
        </p:txBody>
      </p:sp>
      <p:pic>
        <p:nvPicPr>
          <p:cNvPr id="298" name="Google Shape;29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51826" y="8288470"/>
            <a:ext cx="1390843" cy="152839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4"/>
          <p:cNvSpPr/>
          <p:nvPr/>
        </p:nvSpPr>
        <p:spPr>
          <a:xfrm>
            <a:off x="-264483" y="9052669"/>
            <a:ext cx="19566866" cy="21272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-264483" y="-868798"/>
            <a:ext cx="19566866" cy="21272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"/>
          <p:cNvSpPr/>
          <p:nvPr/>
        </p:nvSpPr>
        <p:spPr>
          <a:xfrm>
            <a:off x="7450548" y="-148999"/>
            <a:ext cx="10837452" cy="10584998"/>
          </a:xfrm>
          <a:custGeom>
            <a:rect b="b" l="l" r="r" t="t"/>
            <a:pathLst>
              <a:path extrusionOk="0"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-26784" l="0" r="0" t="-26785"/>
            </a:stretch>
          </a:blipFill>
          <a:ln>
            <a:noFill/>
          </a:ln>
        </p:spPr>
      </p:sp>
      <p:sp>
        <p:nvSpPr>
          <p:cNvPr id="306" name="Google Shape;306;p15"/>
          <p:cNvSpPr/>
          <p:nvPr/>
        </p:nvSpPr>
        <p:spPr>
          <a:xfrm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1028700" y="900765"/>
            <a:ext cx="5817742" cy="4024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Instalación de Visual Studio 2010</a:t>
            </a:r>
            <a:endParaRPr/>
          </a:p>
        </p:txBody>
      </p:sp>
      <p:sp>
        <p:nvSpPr>
          <p:cNvPr id="308" name="Google Shape;308;p15"/>
          <p:cNvSpPr txBox="1"/>
          <p:nvPr/>
        </p:nvSpPr>
        <p:spPr>
          <a:xfrm>
            <a:off x="9896034" y="1738362"/>
            <a:ext cx="5433822" cy="98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Descargar la imagen iso: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https://drive.google.com/file/d/1g5rC6DZLRB42_UvB9LS3ugcWLHAtlelf/view?usp=sharing</a:t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9896034" y="3468853"/>
            <a:ext cx="5433822" cy="33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Extraer el contenido de la imagen iso 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9896034" y="4834075"/>
            <a:ext cx="5433822" cy="33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Ubicarse en la carpeta /VBExpress</a:t>
            </a:r>
            <a:endParaRPr/>
          </a:p>
        </p:txBody>
      </p:sp>
      <p:sp>
        <p:nvSpPr>
          <p:cNvPr id="311" name="Google Shape;311;p15"/>
          <p:cNvSpPr txBox="1"/>
          <p:nvPr/>
        </p:nvSpPr>
        <p:spPr>
          <a:xfrm>
            <a:off x="9896034" y="6282135"/>
            <a:ext cx="5433822" cy="33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Ejecutar setup.exe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9896034" y="7364927"/>
            <a:ext cx="5433822" cy="98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Instalar según sus preferencias y usar la siguente llave:</a:t>
            </a:r>
            <a:endParaRPr/>
          </a:p>
          <a:p>
            <a:pPr indent="0" lvl="1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2KQT8-HV27P-GTTV9-2WBVV-M7X96</a:t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15"/>
          <p:cNvSpPr txBox="1"/>
          <p:nvPr/>
        </p:nvSpPr>
        <p:spPr>
          <a:xfrm>
            <a:off x="1028700" y="9229725"/>
            <a:ext cx="581774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 | CLASE 1</a:t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8431149" y="3146381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8431149" y="4553022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8431149" y="5959663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8431149" y="7366304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8431149" y="1739739"/>
            <a:ext cx="1035984" cy="1035984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8431149" y="9420717"/>
            <a:ext cx="8926749" cy="36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*El archivo es seguro. Descargado directamente de la página de Microsoft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C20D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/>
          <p:cNvGrpSpPr/>
          <p:nvPr/>
        </p:nvGrpSpPr>
        <p:grpSpPr>
          <a:xfrm>
            <a:off x="3167915" y="-573219"/>
            <a:ext cx="15472153" cy="11608849"/>
            <a:chOff x="0" y="-66675"/>
            <a:chExt cx="4074970" cy="3057475"/>
          </a:xfrm>
        </p:grpSpPr>
        <p:sp>
          <p:nvSpPr>
            <p:cNvPr id="326" name="Google Shape;326;p16"/>
            <p:cNvSpPr/>
            <p:nvPr/>
          </p:nvSpPr>
          <p:spPr>
            <a:xfrm>
              <a:off x="0" y="0"/>
              <a:ext cx="4074970" cy="2990800"/>
            </a:xfrm>
            <a:custGeom>
              <a:rect b="b" l="l" r="r" t="t"/>
              <a:pathLst>
                <a:path extrusionOk="0" h="2990800" w="4074970">
                  <a:moveTo>
                    <a:pt x="24519" y="0"/>
                  </a:moveTo>
                  <a:lnTo>
                    <a:pt x="4050452" y="0"/>
                  </a:lnTo>
                  <a:cubicBezTo>
                    <a:pt x="4056954" y="0"/>
                    <a:pt x="4063191" y="2583"/>
                    <a:pt x="4067789" y="7181"/>
                  </a:cubicBezTo>
                  <a:cubicBezTo>
                    <a:pt x="4072387" y="11779"/>
                    <a:pt x="4074970" y="18016"/>
                    <a:pt x="4074970" y="24519"/>
                  </a:cubicBezTo>
                  <a:lnTo>
                    <a:pt x="4074970" y="2966281"/>
                  </a:lnTo>
                  <a:cubicBezTo>
                    <a:pt x="4074970" y="2979822"/>
                    <a:pt x="4063993" y="2990800"/>
                    <a:pt x="4050452" y="2990800"/>
                  </a:cubicBezTo>
                  <a:lnTo>
                    <a:pt x="24519" y="2990800"/>
                  </a:lnTo>
                  <a:cubicBezTo>
                    <a:pt x="10977" y="2990800"/>
                    <a:pt x="0" y="2979822"/>
                    <a:pt x="0" y="2966281"/>
                  </a:cubicBezTo>
                  <a:lnTo>
                    <a:pt x="0" y="24519"/>
                  </a:lnTo>
                  <a:cubicBezTo>
                    <a:pt x="0" y="10977"/>
                    <a:pt x="10977" y="0"/>
                    <a:pt x="24519" y="0"/>
                  </a:cubicBezTo>
                  <a:close/>
                </a:path>
              </a:pathLst>
            </a:custGeom>
            <a:solidFill>
              <a:srgbClr val="81858B"/>
            </a:solidFill>
            <a:ln cap="rnd" cmpd="sng" w="47625">
              <a:solidFill>
                <a:srgbClr val="8488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6"/>
            <p:cNvSpPr txBox="1"/>
            <p:nvPr/>
          </p:nvSpPr>
          <p:spPr>
            <a:xfrm>
              <a:off x="0" y="-66675"/>
              <a:ext cx="4074970" cy="3057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</a:t>
              </a:r>
              <a:endParaRPr/>
            </a:p>
          </p:txBody>
        </p:sp>
      </p:grpSp>
      <p:grpSp>
        <p:nvGrpSpPr>
          <p:cNvPr id="328" name="Google Shape;328;p16"/>
          <p:cNvGrpSpPr/>
          <p:nvPr/>
        </p:nvGrpSpPr>
        <p:grpSpPr>
          <a:xfrm>
            <a:off x="3649536" y="991809"/>
            <a:ext cx="14156843" cy="8266491"/>
            <a:chOff x="0" y="-133350"/>
            <a:chExt cx="3728551" cy="2177183"/>
          </a:xfrm>
        </p:grpSpPr>
        <p:sp>
          <p:nvSpPr>
            <p:cNvPr id="329" name="Google Shape;329;p16"/>
            <p:cNvSpPr/>
            <p:nvPr/>
          </p:nvSpPr>
          <p:spPr>
            <a:xfrm>
              <a:off x="0" y="0"/>
              <a:ext cx="3728551" cy="2043833"/>
            </a:xfrm>
            <a:custGeom>
              <a:rect b="b" l="l" r="r" t="t"/>
              <a:pathLst>
                <a:path extrusionOk="0" h="2043833" w="3728551">
                  <a:moveTo>
                    <a:pt x="26797" y="0"/>
                  </a:moveTo>
                  <a:lnTo>
                    <a:pt x="3701755" y="0"/>
                  </a:lnTo>
                  <a:cubicBezTo>
                    <a:pt x="3708862" y="0"/>
                    <a:pt x="3715677" y="2823"/>
                    <a:pt x="3720703" y="7849"/>
                  </a:cubicBezTo>
                  <a:cubicBezTo>
                    <a:pt x="3725728" y="12874"/>
                    <a:pt x="3728551" y="19690"/>
                    <a:pt x="3728551" y="26797"/>
                  </a:cubicBezTo>
                  <a:lnTo>
                    <a:pt x="3728551" y="2017036"/>
                  </a:lnTo>
                  <a:cubicBezTo>
                    <a:pt x="3728551" y="2024143"/>
                    <a:pt x="3725728" y="2030959"/>
                    <a:pt x="3720703" y="2035984"/>
                  </a:cubicBezTo>
                  <a:cubicBezTo>
                    <a:pt x="3715677" y="2041010"/>
                    <a:pt x="3708862" y="2043833"/>
                    <a:pt x="3701755" y="2043833"/>
                  </a:cubicBezTo>
                  <a:lnTo>
                    <a:pt x="26797" y="2043833"/>
                  </a:lnTo>
                  <a:cubicBezTo>
                    <a:pt x="11997" y="2043833"/>
                    <a:pt x="0" y="2031836"/>
                    <a:pt x="0" y="2017036"/>
                  </a:cubicBezTo>
                  <a:lnTo>
                    <a:pt x="0" y="26797"/>
                  </a:lnTo>
                  <a:cubicBezTo>
                    <a:pt x="0" y="11997"/>
                    <a:pt x="11997" y="0"/>
                    <a:pt x="26797" y="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47625">
              <a:solidFill>
                <a:srgbClr val="FEE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6"/>
            <p:cNvSpPr txBox="1"/>
            <p:nvPr/>
          </p:nvSpPr>
          <p:spPr>
            <a:xfrm>
              <a:off x="0" y="-133350"/>
              <a:ext cx="3728551" cy="21771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  Contenido práctico: 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Instalando nuestra IDE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Creando nuestro primer proyecto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Conociendo nuestra IDE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B13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17"/>
          <p:cNvGrpSpPr/>
          <p:nvPr/>
        </p:nvGrpSpPr>
        <p:grpSpPr>
          <a:xfrm>
            <a:off x="448196" y="4359681"/>
            <a:ext cx="17514837" cy="5499039"/>
            <a:chOff x="0" y="-47625"/>
            <a:chExt cx="4612961" cy="1448307"/>
          </a:xfrm>
        </p:grpSpPr>
        <p:sp>
          <p:nvSpPr>
            <p:cNvPr id="336" name="Google Shape;336;p17"/>
            <p:cNvSpPr/>
            <p:nvPr/>
          </p:nvSpPr>
          <p:spPr>
            <a:xfrm>
              <a:off x="0" y="0"/>
              <a:ext cx="4612961" cy="1400682"/>
            </a:xfrm>
            <a:custGeom>
              <a:rect b="b" l="l" r="r" t="t"/>
              <a:pathLst>
                <a:path extrusionOk="0" h="1400682" w="4612961">
                  <a:moveTo>
                    <a:pt x="21659" y="0"/>
                  </a:moveTo>
                  <a:lnTo>
                    <a:pt x="4591302" y="0"/>
                  </a:lnTo>
                  <a:cubicBezTo>
                    <a:pt x="4597047" y="0"/>
                    <a:pt x="4602555" y="2282"/>
                    <a:pt x="4606617" y="6344"/>
                  </a:cubicBezTo>
                  <a:cubicBezTo>
                    <a:pt x="4610679" y="10406"/>
                    <a:pt x="4612961" y="15915"/>
                    <a:pt x="4612961" y="21659"/>
                  </a:cubicBezTo>
                  <a:lnTo>
                    <a:pt x="4612961" y="1379023"/>
                  </a:lnTo>
                  <a:cubicBezTo>
                    <a:pt x="4612961" y="1384767"/>
                    <a:pt x="4610679" y="1390276"/>
                    <a:pt x="4606617" y="1394338"/>
                  </a:cubicBezTo>
                  <a:cubicBezTo>
                    <a:pt x="4602555" y="1398400"/>
                    <a:pt x="4597047" y="1400682"/>
                    <a:pt x="4591302" y="1400682"/>
                  </a:cubicBezTo>
                  <a:lnTo>
                    <a:pt x="21659" y="1400682"/>
                  </a:lnTo>
                  <a:cubicBezTo>
                    <a:pt x="15915" y="1400682"/>
                    <a:pt x="10406" y="1398400"/>
                    <a:pt x="6344" y="1394338"/>
                  </a:cubicBezTo>
                  <a:cubicBezTo>
                    <a:pt x="2282" y="1390276"/>
                    <a:pt x="0" y="1384767"/>
                    <a:pt x="0" y="1379023"/>
                  </a:cubicBezTo>
                  <a:lnTo>
                    <a:pt x="0" y="21659"/>
                  </a:lnTo>
                  <a:cubicBezTo>
                    <a:pt x="0" y="15915"/>
                    <a:pt x="2282" y="10406"/>
                    <a:pt x="6344" y="6344"/>
                  </a:cubicBezTo>
                  <a:cubicBezTo>
                    <a:pt x="10406" y="2282"/>
                    <a:pt x="15915" y="0"/>
                    <a:pt x="21659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7"/>
            <p:cNvSpPr txBox="1"/>
            <p:nvPr/>
          </p:nvSpPr>
          <p:spPr>
            <a:xfrm>
              <a:off x="0" y="-47625"/>
              <a:ext cx="4612961" cy="1448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17"/>
          <p:cNvGrpSpPr/>
          <p:nvPr/>
        </p:nvGrpSpPr>
        <p:grpSpPr>
          <a:xfrm>
            <a:off x="448196" y="375630"/>
            <a:ext cx="17514837" cy="3640588"/>
            <a:chOff x="0" y="-47625"/>
            <a:chExt cx="4612961" cy="958838"/>
          </a:xfrm>
        </p:grpSpPr>
        <p:sp>
          <p:nvSpPr>
            <p:cNvPr id="339" name="Google Shape;339;p17"/>
            <p:cNvSpPr/>
            <p:nvPr/>
          </p:nvSpPr>
          <p:spPr>
            <a:xfrm>
              <a:off x="0" y="0"/>
              <a:ext cx="4612961" cy="911213"/>
            </a:xfrm>
            <a:custGeom>
              <a:rect b="b" l="l" r="r" t="t"/>
              <a:pathLst>
                <a:path extrusionOk="0" h="911213" w="4612961">
                  <a:moveTo>
                    <a:pt x="21659" y="0"/>
                  </a:moveTo>
                  <a:lnTo>
                    <a:pt x="4591302" y="0"/>
                  </a:lnTo>
                  <a:cubicBezTo>
                    <a:pt x="4597047" y="0"/>
                    <a:pt x="4602555" y="2282"/>
                    <a:pt x="4606617" y="6344"/>
                  </a:cubicBezTo>
                  <a:cubicBezTo>
                    <a:pt x="4610679" y="10406"/>
                    <a:pt x="4612961" y="15915"/>
                    <a:pt x="4612961" y="21659"/>
                  </a:cubicBezTo>
                  <a:lnTo>
                    <a:pt x="4612961" y="889554"/>
                  </a:lnTo>
                  <a:cubicBezTo>
                    <a:pt x="4612961" y="895298"/>
                    <a:pt x="4610679" y="900807"/>
                    <a:pt x="4606617" y="904869"/>
                  </a:cubicBezTo>
                  <a:cubicBezTo>
                    <a:pt x="4602555" y="908931"/>
                    <a:pt x="4597047" y="911213"/>
                    <a:pt x="4591302" y="911213"/>
                  </a:cubicBezTo>
                  <a:lnTo>
                    <a:pt x="21659" y="911213"/>
                  </a:lnTo>
                  <a:cubicBezTo>
                    <a:pt x="15915" y="911213"/>
                    <a:pt x="10406" y="908931"/>
                    <a:pt x="6344" y="904869"/>
                  </a:cubicBezTo>
                  <a:cubicBezTo>
                    <a:pt x="2282" y="900807"/>
                    <a:pt x="0" y="895298"/>
                    <a:pt x="0" y="889554"/>
                  </a:cubicBezTo>
                  <a:lnTo>
                    <a:pt x="0" y="21659"/>
                  </a:lnTo>
                  <a:cubicBezTo>
                    <a:pt x="0" y="15915"/>
                    <a:pt x="2282" y="10406"/>
                    <a:pt x="6344" y="6344"/>
                  </a:cubicBezTo>
                  <a:cubicBezTo>
                    <a:pt x="10406" y="2282"/>
                    <a:pt x="15915" y="0"/>
                    <a:pt x="21659" y="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 txBox="1"/>
            <p:nvPr/>
          </p:nvSpPr>
          <p:spPr>
            <a:xfrm>
              <a:off x="0" y="-47625"/>
              <a:ext cx="4612961" cy="95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7"/>
          <p:cNvSpPr txBox="1"/>
          <p:nvPr/>
        </p:nvSpPr>
        <p:spPr>
          <a:xfrm>
            <a:off x="1966504" y="1742703"/>
            <a:ext cx="15292796" cy="1258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3" u="none" cap="none" strike="noStrike">
                <a:solidFill>
                  <a:srgbClr val="FEFFFF"/>
                </a:solidFill>
                <a:latin typeface="Shrikhand"/>
                <a:ea typeface="Shrikhand"/>
                <a:cs typeface="Shrikhand"/>
                <a:sym typeface="Shrikhand"/>
              </a:rPr>
              <a:t>Valor : Responsabilidad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1364765" y="5297074"/>
            <a:ext cx="15558471" cy="3605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12" u="none" cap="none" strike="noStrike">
                <a:solidFill>
                  <a:srgbClr val="191919"/>
                </a:solidFill>
                <a:latin typeface="Shrikhand"/>
                <a:ea typeface="Shrikhand"/>
                <a:cs typeface="Shrikhand"/>
                <a:sym typeface="Shrikhand"/>
              </a:rPr>
              <a:t>Empezar con orden y compromiso el curso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B13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18"/>
          <p:cNvGrpSpPr/>
          <p:nvPr/>
        </p:nvGrpSpPr>
        <p:grpSpPr>
          <a:xfrm>
            <a:off x="1028700" y="751856"/>
            <a:ext cx="16646680" cy="9010846"/>
            <a:chOff x="0" y="-47625"/>
            <a:chExt cx="4384311" cy="2373227"/>
          </a:xfrm>
        </p:grpSpPr>
        <p:sp>
          <p:nvSpPr>
            <p:cNvPr id="348" name="Google Shape;348;p18"/>
            <p:cNvSpPr/>
            <p:nvPr/>
          </p:nvSpPr>
          <p:spPr>
            <a:xfrm>
              <a:off x="0" y="0"/>
              <a:ext cx="4384311" cy="2325602"/>
            </a:xfrm>
            <a:custGeom>
              <a:rect b="b" l="l" r="r" t="t"/>
              <a:pathLst>
                <a:path extrusionOk="0" h="2325602" w="4384311">
                  <a:moveTo>
                    <a:pt x="22789" y="0"/>
                  </a:moveTo>
                  <a:lnTo>
                    <a:pt x="4361522" y="0"/>
                  </a:lnTo>
                  <a:cubicBezTo>
                    <a:pt x="4367566" y="0"/>
                    <a:pt x="4373363" y="2401"/>
                    <a:pt x="4377636" y="6675"/>
                  </a:cubicBezTo>
                  <a:cubicBezTo>
                    <a:pt x="4381910" y="10948"/>
                    <a:pt x="4384311" y="16745"/>
                    <a:pt x="4384311" y="22789"/>
                  </a:cubicBezTo>
                  <a:lnTo>
                    <a:pt x="4384311" y="2302814"/>
                  </a:lnTo>
                  <a:cubicBezTo>
                    <a:pt x="4384311" y="2315399"/>
                    <a:pt x="4374108" y="2325602"/>
                    <a:pt x="4361522" y="2325602"/>
                  </a:cubicBezTo>
                  <a:lnTo>
                    <a:pt x="22789" y="2325602"/>
                  </a:lnTo>
                  <a:cubicBezTo>
                    <a:pt x="10203" y="2325602"/>
                    <a:pt x="0" y="2315399"/>
                    <a:pt x="0" y="2302814"/>
                  </a:cubicBezTo>
                  <a:lnTo>
                    <a:pt x="0" y="22789"/>
                  </a:lnTo>
                  <a:cubicBezTo>
                    <a:pt x="0" y="10203"/>
                    <a:pt x="10203" y="0"/>
                    <a:pt x="22789" y="0"/>
                  </a:cubicBezTo>
                  <a:close/>
                </a:path>
              </a:pathLst>
            </a:custGeom>
            <a:solidFill>
              <a:srgbClr val="191919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8"/>
            <p:cNvSpPr txBox="1"/>
            <p:nvPr/>
          </p:nvSpPr>
          <p:spPr>
            <a:xfrm>
              <a:off x="0" y="-47625"/>
              <a:ext cx="4384311" cy="2373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" name="Google Shape;350;p18"/>
          <p:cNvSpPr txBox="1"/>
          <p:nvPr/>
        </p:nvSpPr>
        <p:spPr>
          <a:xfrm>
            <a:off x="1700829" y="1380212"/>
            <a:ext cx="15558471" cy="1823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81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1401300" y="3628300"/>
            <a:ext cx="16274100" cy="6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5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Auxiliar - creador : Andy Ezequiel Sanic Tiul</a:t>
            </a:r>
            <a:endParaRPr b="0" i="0" sz="3195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5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Microsoft  : </a:t>
            </a:r>
            <a:r>
              <a:rPr b="0" i="0" lang="en-US" sz="3195" u="sng" cap="none" strike="noStrik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3"/>
              </a:rPr>
              <a:t>https://visualstudio.microsoft.com/es/vs/</a:t>
            </a:r>
            <a:endParaRPr b="0" i="0" sz="3195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Lectura:</a:t>
            </a:r>
            <a:endParaRPr sz="25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Documentación de visual studio : https://visualstudio.microsoft.com/es/vs/</a:t>
            </a:r>
            <a:endParaRPr sz="25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Historial de Version de Visual Studio :</a:t>
            </a:r>
            <a:endParaRPr sz="25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https://learn.microsoft.com/es-es/visualstudio/releases/2022/release-history</a:t>
            </a:r>
            <a:endParaRPr sz="25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Guía para iniciar un nuevo proyecto :</a:t>
            </a:r>
            <a:endParaRPr sz="25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https://learn.microsoft.com/es-es/visualstudio/ide/create-new-project?view=vs-2022</a:t>
            </a:r>
            <a:endParaRPr sz="25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Instalar Visual STUDIO, Guia:</a:t>
            </a:r>
            <a:endParaRPr sz="25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https://learn.microsoft.com/es-es/visualstudio/install/install-visual-studio?view=vs-2022</a:t>
            </a:r>
            <a:endParaRPr sz="2500">
              <a:solidFill>
                <a:schemeClr val="lt1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5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19"/>
          <p:cNvGrpSpPr/>
          <p:nvPr/>
        </p:nvGrpSpPr>
        <p:grpSpPr>
          <a:xfrm>
            <a:off x="496608" y="290709"/>
            <a:ext cx="17178772" cy="9471993"/>
            <a:chOff x="0" y="-47625"/>
            <a:chExt cx="4524450" cy="2494681"/>
          </a:xfrm>
        </p:grpSpPr>
        <p:sp>
          <p:nvSpPr>
            <p:cNvPr id="357" name="Google Shape;357;p19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9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9"/>
          <p:cNvSpPr/>
          <p:nvPr/>
        </p:nvSpPr>
        <p:spPr>
          <a:xfrm>
            <a:off x="14106227" y="2020042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5" y="0"/>
                </a:lnTo>
                <a:lnTo>
                  <a:pt x="2859715" y="4104533"/>
                </a:lnTo>
                <a:lnTo>
                  <a:pt x="0" y="4104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9"/>
          <p:cNvSpPr txBox="1"/>
          <p:nvPr/>
        </p:nvSpPr>
        <p:spPr>
          <a:xfrm>
            <a:off x="1899004" y="3358624"/>
            <a:ext cx="11865006" cy="2143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  ATENCIÓN!</a:t>
            </a:r>
            <a:endParaRPr/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6457555" y="4660900"/>
            <a:ext cx="5476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2199302" y="7445375"/>
            <a:ext cx="14766640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