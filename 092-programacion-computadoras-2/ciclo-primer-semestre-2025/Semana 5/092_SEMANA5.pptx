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10287000" cx="18288000"/>
  <p:notesSz cx="6858000" cy="9144000"/>
  <p:embeddedFontLst>
    <p:embeddedFont>
      <p:font typeface="Lobster"/>
      <p:regular r:id="rId26"/>
    </p:embeddedFont>
    <p:embeddedFont>
      <p:font typeface="Pacifico"/>
      <p:regular r:id="rId27"/>
    </p:embeddedFont>
    <p:embeddedFont>
      <p:font typeface="Open Sa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2" roundtripDataSignature="AMtx7mh8E61ipjUtKAt8s0GNKeo5bMPi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Lobster-regular.fntdata"/><Relationship Id="rId25" Type="http://schemas.openxmlformats.org/officeDocument/2006/relationships/slide" Target="slides/slide19.xml"/><Relationship Id="rId28" Type="http://schemas.openxmlformats.org/officeDocument/2006/relationships/font" Target="fonts/OpenSans-regular.fntdata"/><Relationship Id="rId27" Type="http://schemas.openxmlformats.org/officeDocument/2006/relationships/font" Target="fonts/Pacifico-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OpenSans-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boldItalic.fntdata"/><Relationship Id="rId30" Type="http://schemas.openxmlformats.org/officeDocument/2006/relationships/font" Target="fonts/OpenSans-italic.fntdata"/><Relationship Id="rId11" Type="http://schemas.openxmlformats.org/officeDocument/2006/relationships/slide" Target="slides/slide5.xml"/><Relationship Id="rId10" Type="http://schemas.openxmlformats.org/officeDocument/2006/relationships/slide" Target="slides/slide4.xml"/><Relationship Id="rId32"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 name="Google Shape;8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0" name="Google Shape;250;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7" name="Google Shape;277;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3" name="Google Shape;303;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0" name="Google Shape;310;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3" name="Google Shape;32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9" name="Google Shape;32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9" name="Google Shape;33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leyenda" type="picTx">
  <p:cSld name="PICTURE_WITH_CAPTION_TEXT">
    <p:spTree>
      <p:nvGrpSpPr>
        <p:cNvPr id="15" name="Shape 15"/>
        <p:cNvGrpSpPr/>
        <p:nvPr/>
      </p:nvGrpSpPr>
      <p:grpSpPr>
        <a:xfrm>
          <a:off x="0" y="0"/>
          <a:ext cx="0" cy="0"/>
          <a:chOff x="0" y="0"/>
          <a:chExt cx="0" cy="0"/>
        </a:xfrm>
      </p:grpSpPr>
      <p:sp>
        <p:nvSpPr>
          <p:cNvPr id="16" name="Google Shape;16;p36"/>
          <p:cNvSpPr txBox="1"/>
          <p:nvPr>
            <p:ph type="title"/>
          </p:nvPr>
        </p:nvSpPr>
        <p:spPr>
          <a:xfrm>
            <a:off x="871790" y="7040084"/>
            <a:ext cx="16544424" cy="85010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4400"/>
              <a:buNone/>
              <a:defRPr b="0"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6"/>
          <p:cNvSpPr/>
          <p:nvPr>
            <p:ph idx="2" type="pic"/>
          </p:nvPr>
        </p:nvSpPr>
        <p:spPr>
          <a:xfrm>
            <a:off x="671726" y="899588"/>
            <a:ext cx="16936289" cy="5335878"/>
          </a:xfrm>
          <a:prstGeom prst="rect">
            <a:avLst/>
          </a:prstGeom>
          <a:noFill/>
          <a:ln>
            <a:noFill/>
          </a:ln>
        </p:spPr>
      </p:sp>
      <p:sp>
        <p:nvSpPr>
          <p:cNvPr id="18" name="Google Shape;18;p36"/>
          <p:cNvSpPr txBox="1"/>
          <p:nvPr>
            <p:ph idx="1" type="body"/>
          </p:nvPr>
        </p:nvSpPr>
        <p:spPr>
          <a:xfrm>
            <a:off x="871789" y="7890191"/>
            <a:ext cx="16544426" cy="89800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40"/>
              </a:spcBef>
              <a:spcAft>
                <a:spcPts val="0"/>
              </a:spcAft>
              <a:buSzPts val="3200"/>
              <a:buNone/>
              <a:defRPr sz="1800"/>
            </a:lvl1pPr>
            <a:lvl2pPr indent="-228600" lvl="1" marL="914400" algn="l">
              <a:lnSpc>
                <a:spcPct val="100000"/>
              </a:lnSpc>
              <a:spcBef>
                <a:spcPts val="560"/>
              </a:spcBef>
              <a:spcAft>
                <a:spcPts val="0"/>
              </a:spcAft>
              <a:buSzPts val="2800"/>
              <a:buNone/>
              <a:defRPr sz="1800"/>
            </a:lvl2pPr>
            <a:lvl3pPr indent="-228600" lvl="2" marL="1371600" algn="l">
              <a:lnSpc>
                <a:spcPct val="100000"/>
              </a:lnSpc>
              <a:spcBef>
                <a:spcPts val="480"/>
              </a:spcBef>
              <a:spcAft>
                <a:spcPts val="0"/>
              </a:spcAft>
              <a:buSzPts val="2400"/>
              <a:buNone/>
              <a:defRPr sz="1500"/>
            </a:lvl3pPr>
            <a:lvl4pPr indent="-228600" lvl="3" marL="1828800" algn="l">
              <a:lnSpc>
                <a:spcPct val="100000"/>
              </a:lnSpc>
              <a:spcBef>
                <a:spcPts val="400"/>
              </a:spcBef>
              <a:spcAft>
                <a:spcPts val="0"/>
              </a:spcAft>
              <a:buSzPts val="2000"/>
              <a:buNone/>
              <a:defRPr sz="1350"/>
            </a:lvl4pPr>
            <a:lvl5pPr indent="-228600" lvl="4" marL="2286000" algn="l">
              <a:lnSpc>
                <a:spcPct val="100000"/>
              </a:lnSpc>
              <a:spcBef>
                <a:spcPts val="400"/>
              </a:spcBef>
              <a:spcAft>
                <a:spcPts val="0"/>
              </a:spcAft>
              <a:buSzPts val="2000"/>
              <a:buNone/>
              <a:defRPr sz="1350"/>
            </a:lvl5pPr>
            <a:lvl6pPr indent="-228600" lvl="5" marL="2743200" algn="l">
              <a:lnSpc>
                <a:spcPct val="100000"/>
              </a:lnSpc>
              <a:spcBef>
                <a:spcPts val="400"/>
              </a:spcBef>
              <a:spcAft>
                <a:spcPts val="0"/>
              </a:spcAft>
              <a:buSzPts val="2000"/>
              <a:buNone/>
              <a:defRPr sz="1350"/>
            </a:lvl6pPr>
            <a:lvl7pPr indent="-228600" lvl="6" marL="3200400" algn="l">
              <a:lnSpc>
                <a:spcPct val="100000"/>
              </a:lnSpc>
              <a:spcBef>
                <a:spcPts val="400"/>
              </a:spcBef>
              <a:spcAft>
                <a:spcPts val="0"/>
              </a:spcAft>
              <a:buSzPts val="2000"/>
              <a:buNone/>
              <a:defRPr sz="1350"/>
            </a:lvl7pPr>
            <a:lvl8pPr indent="-228600" lvl="7" marL="3657600" algn="l">
              <a:lnSpc>
                <a:spcPct val="100000"/>
              </a:lnSpc>
              <a:spcBef>
                <a:spcPts val="400"/>
              </a:spcBef>
              <a:spcAft>
                <a:spcPts val="0"/>
              </a:spcAft>
              <a:buSzPts val="2000"/>
              <a:buNone/>
              <a:defRPr sz="1350"/>
            </a:lvl8pPr>
            <a:lvl9pPr indent="-228600" lvl="8" marL="4114800" algn="l">
              <a:lnSpc>
                <a:spcPct val="100000"/>
              </a:lnSpc>
              <a:spcBef>
                <a:spcPts val="400"/>
              </a:spcBef>
              <a:spcAft>
                <a:spcPts val="0"/>
              </a:spcAft>
              <a:buSzPts val="2000"/>
              <a:buNone/>
              <a:defRPr sz="1350"/>
            </a:lvl9pPr>
          </a:lstStyle>
          <a:p/>
        </p:txBody>
      </p:sp>
      <p:sp>
        <p:nvSpPr>
          <p:cNvPr id="19" name="Google Shape;19;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200"/>
              <a:buNone/>
              <a:defRPr/>
            </a:lvl1pPr>
            <a:lvl2pPr indent="0" lvl="1" marL="0" algn="r">
              <a:lnSpc>
                <a:spcPct val="100000"/>
              </a:lnSpc>
              <a:spcBef>
                <a:spcPts val="0"/>
              </a:spcBef>
              <a:spcAft>
                <a:spcPts val="0"/>
              </a:spcAft>
              <a:buSzPts val="1200"/>
              <a:buNone/>
              <a:defRPr/>
            </a:lvl2pPr>
            <a:lvl3pPr indent="0" lvl="2" marL="0" algn="r">
              <a:lnSpc>
                <a:spcPct val="100000"/>
              </a:lnSpc>
              <a:spcBef>
                <a:spcPts val="0"/>
              </a:spcBef>
              <a:spcAft>
                <a:spcPts val="0"/>
              </a:spcAft>
              <a:buSzPts val="1200"/>
              <a:buNone/>
              <a:defRPr/>
            </a:lvl3pPr>
            <a:lvl4pPr indent="0" lvl="3" marL="0" algn="r">
              <a:lnSpc>
                <a:spcPct val="100000"/>
              </a:lnSpc>
              <a:spcBef>
                <a:spcPts val="0"/>
              </a:spcBef>
              <a:spcAft>
                <a:spcPts val="0"/>
              </a:spcAft>
              <a:buSzPts val="1200"/>
              <a:buNone/>
              <a:defRPr/>
            </a:lvl4pPr>
            <a:lvl5pPr indent="0" lvl="4" marL="0" algn="r">
              <a:lnSpc>
                <a:spcPct val="100000"/>
              </a:lnSpc>
              <a:spcBef>
                <a:spcPts val="0"/>
              </a:spcBef>
              <a:spcAft>
                <a:spcPts val="0"/>
              </a:spcAft>
              <a:buSzPts val="1200"/>
              <a:buNone/>
              <a:defRPr/>
            </a:lvl5pPr>
            <a:lvl6pPr indent="0" lvl="5" marL="0" algn="r">
              <a:lnSpc>
                <a:spcPct val="100000"/>
              </a:lnSpc>
              <a:spcBef>
                <a:spcPts val="0"/>
              </a:spcBef>
              <a:spcAft>
                <a:spcPts val="0"/>
              </a:spcAft>
              <a:buSzPts val="1200"/>
              <a:buNone/>
              <a:defRPr/>
            </a:lvl6pPr>
            <a:lvl7pPr indent="0" lvl="6" marL="0" algn="r">
              <a:lnSpc>
                <a:spcPct val="100000"/>
              </a:lnSpc>
              <a:spcBef>
                <a:spcPts val="0"/>
              </a:spcBef>
              <a:spcAft>
                <a:spcPts val="0"/>
              </a:spcAft>
              <a:buSzPts val="1200"/>
              <a:buNone/>
              <a:defRPr/>
            </a:lvl7pPr>
            <a:lvl8pPr indent="0" lvl="7" marL="0" algn="r">
              <a:lnSpc>
                <a:spcPct val="100000"/>
              </a:lnSpc>
              <a:spcBef>
                <a:spcPts val="0"/>
              </a:spcBef>
              <a:spcAft>
                <a:spcPts val="0"/>
              </a:spcAft>
              <a:buSzPts val="1200"/>
              <a:buNone/>
              <a:defRPr/>
            </a:lvl8pPr>
            <a:lvl9pPr indent="0" lvl="8" marL="0" algn="r">
              <a:lnSpc>
                <a:spcPct val="100000"/>
              </a:lnSpc>
              <a:spcBef>
                <a:spcPts val="0"/>
              </a:spcBef>
              <a:spcAft>
                <a:spcPts val="0"/>
              </a:spcAft>
              <a:buSzPts val="12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 name="Google Shape;25;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1" name="Google Shape;31;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8" name="Google Shape;3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49" name="Google Shape;49;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0" name="Google Shape;50;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_WITH_CAPTION_TEXT 2">
    <p:spTree>
      <p:nvGrpSpPr>
        <p:cNvPr id="53" name="Shape 53"/>
        <p:cNvGrpSpPr/>
        <p:nvPr/>
      </p:nvGrpSpPr>
      <p:grpSpPr>
        <a:xfrm>
          <a:off x="0" y="0"/>
          <a:ext cx="0" cy="0"/>
          <a:chOff x="0" y="0"/>
          <a:chExt cx="0" cy="0"/>
        </a:xfrm>
      </p:grpSpPr>
      <p:sp>
        <p:nvSpPr>
          <p:cNvPr id="54" name="Google Shape;54;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9"/>
          <p:cNvSpPr/>
          <p:nvPr>
            <p:ph idx="2" type="pic"/>
          </p:nvPr>
        </p:nvSpPr>
        <p:spPr>
          <a:xfrm>
            <a:off x="1792288" y="612775"/>
            <a:ext cx="5486400" cy="4114800"/>
          </a:xfrm>
          <a:prstGeom prst="rect">
            <a:avLst/>
          </a:prstGeom>
          <a:noFill/>
          <a:ln>
            <a:noFill/>
          </a:ln>
        </p:spPr>
      </p:sp>
      <p:sp>
        <p:nvSpPr>
          <p:cNvPr id="56" name="Google Shape;56;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7" name="Google Shape;5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0" name="Shape 60"/>
        <p:cNvGrpSpPr/>
        <p:nvPr/>
      </p:nvGrpSpPr>
      <p:grpSpPr>
        <a:xfrm>
          <a:off x="0" y="0"/>
          <a:ext cx="0" cy="0"/>
          <a:chOff x="0" y="0"/>
          <a:chExt cx="0" cy="0"/>
        </a:xfrm>
      </p:grpSpPr>
      <p:sp>
        <p:nvSpPr>
          <p:cNvPr id="61" name="Google Shape;61;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3" name="Google Shape;63;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6" name="Shape 66"/>
        <p:cNvGrpSpPr/>
        <p:nvPr/>
      </p:nvGrpSpPr>
      <p:grpSpPr>
        <a:xfrm>
          <a:off x="0" y="0"/>
          <a:ext cx="0" cy="0"/>
          <a:chOff x="0" y="0"/>
          <a:chExt cx="0" cy="0"/>
        </a:xfrm>
      </p:grpSpPr>
      <p:sp>
        <p:nvSpPr>
          <p:cNvPr id="67" name="Google Shape;67;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9" name="Google Shape;69;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8" name="Shape 78"/>
        <p:cNvGrpSpPr/>
        <p:nvPr/>
      </p:nvGrpSpPr>
      <p:grpSpPr>
        <a:xfrm>
          <a:off x="0" y="0"/>
          <a:ext cx="0" cy="0"/>
          <a:chOff x="0" y="0"/>
          <a:chExt cx="0" cy="0"/>
        </a:xfrm>
      </p:grpSpPr>
      <p:sp>
        <p:nvSpPr>
          <p:cNvPr id="79" name="Google Shape;79;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 name="Shape 72"/>
        <p:cNvGrpSpPr/>
        <p:nvPr/>
      </p:nvGrpSpPr>
      <p:grpSpPr>
        <a:xfrm>
          <a:off x="0" y="0"/>
          <a:ext cx="0" cy="0"/>
          <a:chOff x="0" y="0"/>
          <a:chExt cx="0" cy="0"/>
        </a:xfrm>
      </p:grpSpPr>
      <p:sp>
        <p:nvSpPr>
          <p:cNvPr id="73" name="Google Shape;73;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4" name="Google Shape;74;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5" name="Google Shape;75;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learn.microsoft.com/es-es/dotnet/visual-basic/language-reference/statements/if-then-else-statement" TargetMode="Externa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12.png"/><Relationship Id="rId6"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learn.microsoft.com/es-es/office/vba/language/reference/user-interface-help/toolbox" TargetMode="Externa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learn.microsoft.com/es-es/office/vba/language/reference/user-interface-help/toolbox" TargetMode="Externa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 name="Google Shape;87;p1"/>
          <p:cNvSpPr txBox="1"/>
          <p:nvPr/>
        </p:nvSpPr>
        <p:spPr>
          <a:xfrm>
            <a:off x="1028700" y="5979021"/>
            <a:ext cx="6351814" cy="215443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092 Programacion</a:t>
            </a:r>
            <a:endParaRPr b="1" i="0" sz="5000" u="none" cap="none" strike="noStrike">
              <a:solidFill>
                <a:srgbClr val="131416"/>
              </a:solidFill>
              <a:latin typeface="Open Sans"/>
              <a:ea typeface="Open Sans"/>
              <a:cs typeface="Open Sans"/>
              <a:sym typeface="Open Sans"/>
            </a:endParaRPr>
          </a:p>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De Computadoras 2</a:t>
            </a:r>
            <a:endParaRPr b="1" i="0" sz="5000" u="none" cap="none" strike="noStrike">
              <a:solidFill>
                <a:srgbClr val="131416"/>
              </a:solidFill>
              <a:latin typeface="Open Sans"/>
              <a:ea typeface="Open Sans"/>
              <a:cs typeface="Open Sans"/>
              <a:sym typeface="Open Sans"/>
            </a:endParaRPr>
          </a:p>
        </p:txBody>
      </p:sp>
      <p:sp>
        <p:nvSpPr>
          <p:cNvPr id="88" name="Google Shape;88;p1"/>
          <p:cNvSpPr txBox="1"/>
          <p:nvPr/>
        </p:nvSpPr>
        <p:spPr>
          <a:xfrm>
            <a:off x="2956500" y="2132508"/>
            <a:ext cx="12375000" cy="198208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9200" u="none" cap="none" strike="noStrike">
                <a:solidFill>
                  <a:srgbClr val="131416"/>
                </a:solidFill>
                <a:latin typeface="Open Sans"/>
                <a:ea typeface="Open Sans"/>
                <a:cs typeface="Open Sans"/>
                <a:sym typeface="Open Sans"/>
              </a:rPr>
              <a:t>Controles Básicos</a:t>
            </a:r>
            <a:endParaRPr b="0" i="0" sz="1400" u="none" cap="none" strike="noStrike">
              <a:solidFill>
                <a:srgbClr val="000000"/>
              </a:solidFill>
              <a:latin typeface="Arial"/>
              <a:ea typeface="Arial"/>
              <a:cs typeface="Arial"/>
              <a:sym typeface="Arial"/>
            </a:endParaRPr>
          </a:p>
        </p:txBody>
      </p:sp>
      <p:sp>
        <p:nvSpPr>
          <p:cNvPr id="89" name="Google Shape;89;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1" i="0" sz="2499" u="none" cap="none" strike="noStrike">
              <a:solidFill>
                <a:srgbClr val="131416"/>
              </a:solidFill>
              <a:latin typeface="Open Sans"/>
              <a:ea typeface="Open Sans"/>
              <a:cs typeface="Open Sans"/>
              <a:sym typeface="Open Sans"/>
            </a:endParaRPr>
          </a:p>
        </p:txBody>
      </p:sp>
      <p:sp>
        <p:nvSpPr>
          <p:cNvPr id="90" name="Google Shape;90;p1"/>
          <p:cNvSpPr txBox="1"/>
          <p:nvPr/>
        </p:nvSpPr>
        <p:spPr>
          <a:xfrm>
            <a:off x="1028700" y="9210675"/>
            <a:ext cx="6667500"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1" i="0" sz="2499" u="none" cap="none" strike="noStrike">
              <a:solidFill>
                <a:srgbClr val="131416"/>
              </a:solidFill>
              <a:latin typeface="Open Sans"/>
              <a:ea typeface="Open Sans"/>
              <a:cs typeface="Open Sans"/>
              <a:sym typeface="Open Sans"/>
            </a:endParaRPr>
          </a:p>
        </p:txBody>
      </p:sp>
      <p:sp>
        <p:nvSpPr>
          <p:cNvPr id="91" name="Google Shape;91;p1"/>
          <p:cNvSpPr txBox="1"/>
          <p:nvPr/>
        </p:nvSpPr>
        <p:spPr>
          <a:xfrm>
            <a:off x="228600" y="9588254"/>
            <a:ext cx="8115300"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grpSp>
        <p:nvGrpSpPr>
          <p:cNvPr id="96" name="Google Shape;96;p2"/>
          <p:cNvGrpSpPr/>
          <p:nvPr/>
        </p:nvGrpSpPr>
        <p:grpSpPr>
          <a:xfrm>
            <a:off x="764447" y="4544825"/>
            <a:ext cx="5709916" cy="845385"/>
            <a:chOff x="0" y="-65837"/>
            <a:chExt cx="2430999" cy="359923"/>
          </a:xfrm>
        </p:grpSpPr>
        <p:sp>
          <p:nvSpPr>
            <p:cNvPr id="97" name="Google Shape;97;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8" name="Google Shape;98;p2"/>
            <p:cNvSpPr txBox="1"/>
            <p:nvPr/>
          </p:nvSpPr>
          <p:spPr>
            <a:xfrm>
              <a:off x="367885" y="-65837"/>
              <a:ext cx="2063114"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Dudas de clase o generales</a:t>
              </a:r>
              <a:endParaRPr b="0" i="0" sz="1400" u="none" cap="none" strike="noStrike">
                <a:solidFill>
                  <a:srgbClr val="000000"/>
                </a:solidFill>
                <a:latin typeface="Arial"/>
                <a:ea typeface="Arial"/>
                <a:cs typeface="Arial"/>
                <a:sym typeface="Arial"/>
              </a:endParaRPr>
            </a:p>
          </p:txBody>
        </p:sp>
      </p:grpSp>
      <p:sp>
        <p:nvSpPr>
          <p:cNvPr id="99" name="Google Shape;99;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00" name="Google Shape;100;p2"/>
          <p:cNvGrpSpPr/>
          <p:nvPr/>
        </p:nvGrpSpPr>
        <p:grpSpPr>
          <a:xfrm>
            <a:off x="1866989" y="3013983"/>
            <a:ext cx="4115190" cy="1556484"/>
            <a:chOff x="0" y="-76200"/>
            <a:chExt cx="1083836" cy="409938"/>
          </a:xfrm>
        </p:grpSpPr>
        <p:sp>
          <p:nvSpPr>
            <p:cNvPr id="101" name="Google Shape;101;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2" name="Google Shape;102;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103" name="Google Shape;103;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4" name="Google Shape;104;p2"/>
          <p:cNvSpPr txBox="1"/>
          <p:nvPr/>
        </p:nvSpPr>
        <p:spPr>
          <a:xfrm>
            <a:off x="651749" y="490900"/>
            <a:ext cx="7710301" cy="23089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
        <p:nvSpPr>
          <p:cNvPr id="105" name="Google Shape;105;p2"/>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Lobster"/>
              <a:ea typeface="Lobster"/>
              <a:cs typeface="Lobster"/>
              <a:sym typeface="Lobster"/>
            </a:endParaRPr>
          </a:p>
        </p:txBody>
      </p:sp>
      <p:sp>
        <p:nvSpPr>
          <p:cNvPr id="106" name="Google Shape;106;p2"/>
          <p:cNvSpPr/>
          <p:nvPr/>
        </p:nvSpPr>
        <p:spPr>
          <a:xfrm>
            <a:off x="11739805" y="3232617"/>
            <a:ext cx="5353646" cy="1267162"/>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07" name="Google Shape;107;p2"/>
          <p:cNvGrpSpPr/>
          <p:nvPr/>
        </p:nvGrpSpPr>
        <p:grpSpPr>
          <a:xfrm>
            <a:off x="11739805" y="4598683"/>
            <a:ext cx="5353646" cy="1701145"/>
            <a:chOff x="0" y="-114300"/>
            <a:chExt cx="1410014" cy="448038"/>
          </a:xfrm>
        </p:grpSpPr>
        <p:sp>
          <p:nvSpPr>
            <p:cNvPr id="108" name="Google Shape;108;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9" name="Google Shape;109;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Ver en el apartado material de apoyo en Uedi</a:t>
              </a:r>
              <a:endParaRPr b="0" i="0" sz="1400" u="none" cap="none" strike="noStrike">
                <a:solidFill>
                  <a:srgbClr val="000000"/>
                </a:solidFill>
                <a:latin typeface="Arial"/>
                <a:ea typeface="Arial"/>
                <a:cs typeface="Arial"/>
                <a:sym typeface="Arial"/>
              </a:endParaRPr>
            </a:p>
          </p:txBody>
        </p:sp>
      </p:grpSp>
      <p:grpSp>
        <p:nvGrpSpPr>
          <p:cNvPr id="110" name="Google Shape;110;p2"/>
          <p:cNvGrpSpPr/>
          <p:nvPr/>
        </p:nvGrpSpPr>
        <p:grpSpPr>
          <a:xfrm>
            <a:off x="176619" y="5444302"/>
            <a:ext cx="4613551" cy="845385"/>
            <a:chOff x="0" y="-76200"/>
            <a:chExt cx="1964221" cy="359923"/>
          </a:xfrm>
        </p:grpSpPr>
        <p:sp>
          <p:nvSpPr>
            <p:cNvPr id="111" name="Google Shape;11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2" name="Google Shape;112;p2"/>
            <p:cNvSpPr txBox="1"/>
            <p:nvPr/>
          </p:nvSpPr>
          <p:spPr>
            <a:xfrm>
              <a:off x="64883"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Anuncios</a:t>
              </a:r>
              <a:endParaRPr b="0" i="0" sz="1400" u="none" cap="none" strike="noStrike">
                <a:solidFill>
                  <a:srgbClr val="000000"/>
                </a:solidFill>
                <a:latin typeface="Arial"/>
                <a:ea typeface="Arial"/>
                <a:cs typeface="Arial"/>
                <a:sym typeface="Arial"/>
              </a:endParaRPr>
            </a:p>
          </p:txBody>
        </p:sp>
      </p:grpSp>
      <p:grpSp>
        <p:nvGrpSpPr>
          <p:cNvPr id="113" name="Google Shape;113;p2"/>
          <p:cNvGrpSpPr/>
          <p:nvPr/>
        </p:nvGrpSpPr>
        <p:grpSpPr>
          <a:xfrm>
            <a:off x="176619" y="6425875"/>
            <a:ext cx="5433658" cy="845385"/>
            <a:chOff x="0" y="-76200"/>
            <a:chExt cx="2313383" cy="359923"/>
          </a:xfrm>
        </p:grpSpPr>
        <p:sp>
          <p:nvSpPr>
            <p:cNvPr id="114" name="Google Shape;114;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5" name="Google Shape;115;p2"/>
            <p:cNvSpPr txBox="1"/>
            <p:nvPr/>
          </p:nvSpPr>
          <p:spPr>
            <a:xfrm>
              <a:off x="463462"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Contenido Laboratorio</a:t>
              </a:r>
              <a:endParaRPr b="0" i="0" sz="1400" u="none" cap="none" strike="noStrike">
                <a:solidFill>
                  <a:srgbClr val="000000"/>
                </a:solidFill>
                <a:latin typeface="Arial"/>
                <a:ea typeface="Arial"/>
                <a:cs typeface="Arial"/>
                <a:sym typeface="Arial"/>
              </a:endParaRPr>
            </a:p>
          </p:txBody>
        </p:sp>
      </p:grpSp>
      <p:grpSp>
        <p:nvGrpSpPr>
          <p:cNvPr id="116" name="Google Shape;116;p2"/>
          <p:cNvGrpSpPr/>
          <p:nvPr/>
        </p:nvGrpSpPr>
        <p:grpSpPr>
          <a:xfrm>
            <a:off x="176619" y="7349457"/>
            <a:ext cx="4809037" cy="845385"/>
            <a:chOff x="0" y="-76200"/>
            <a:chExt cx="2047450" cy="359923"/>
          </a:xfrm>
        </p:grpSpPr>
        <p:sp>
          <p:nvSpPr>
            <p:cNvPr id="117" name="Google Shape;117;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8" name="Google Shape;118;p2"/>
            <p:cNvSpPr txBox="1"/>
            <p:nvPr/>
          </p:nvSpPr>
          <p:spPr>
            <a:xfrm>
              <a:off x="380038" y="-76200"/>
              <a:ext cx="1667412"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Ejemplo Repaso</a:t>
              </a:r>
              <a:endParaRPr b="0" i="0" sz="1400" u="none" cap="none" strike="noStrike">
                <a:solidFill>
                  <a:srgbClr val="000000"/>
                </a:solidFill>
                <a:latin typeface="Arial"/>
                <a:ea typeface="Arial"/>
                <a:cs typeface="Arial"/>
                <a:sym typeface="Arial"/>
              </a:endParaRPr>
            </a:p>
          </p:txBody>
        </p:sp>
      </p:grpSp>
      <p:grpSp>
        <p:nvGrpSpPr>
          <p:cNvPr id="119" name="Google Shape;119;p2"/>
          <p:cNvGrpSpPr/>
          <p:nvPr/>
        </p:nvGrpSpPr>
        <p:grpSpPr>
          <a:xfrm>
            <a:off x="176619" y="8412915"/>
            <a:ext cx="4998222" cy="845385"/>
            <a:chOff x="0" y="-76200"/>
            <a:chExt cx="2127995" cy="359923"/>
          </a:xfrm>
        </p:grpSpPr>
        <p:sp>
          <p:nvSpPr>
            <p:cNvPr id="120" name="Google Shape;120;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1" name="Google Shape;121;p2"/>
            <p:cNvSpPr txBox="1"/>
            <p:nvPr/>
          </p:nvSpPr>
          <p:spPr>
            <a:xfrm>
              <a:off x="278074"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Dudas del tema</a:t>
              </a:r>
              <a:endParaRPr b="0" i="0" sz="1400" u="none" cap="none" strike="noStrike">
                <a:solidFill>
                  <a:srgbClr val="000000"/>
                </a:solidFill>
                <a:latin typeface="Arial"/>
                <a:ea typeface="Arial"/>
                <a:cs typeface="Arial"/>
                <a:sym typeface="Arial"/>
              </a:endParaRPr>
            </a:p>
          </p:txBody>
        </p:sp>
      </p:grpSp>
      <p:sp>
        <p:nvSpPr>
          <p:cNvPr id="122" name="Google Shape;122;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3" name="Google Shape;123;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4" name="Google Shape;124;p2"/>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5" name="Google Shape;125;p2"/>
          <p:cNvSpPr/>
          <p:nvPr/>
        </p:nvSpPr>
        <p:spPr>
          <a:xfrm>
            <a:off x="878654" y="86055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29" name="Shape 129"/>
        <p:cNvGrpSpPr/>
        <p:nvPr/>
      </p:nvGrpSpPr>
      <p:grpSpPr>
        <a:xfrm>
          <a:off x="0" y="0"/>
          <a:ext cx="0" cy="0"/>
          <a:chOff x="0" y="0"/>
          <a:chExt cx="0" cy="0"/>
        </a:xfrm>
      </p:grpSpPr>
      <p:sp>
        <p:nvSpPr>
          <p:cNvPr id="130" name="Google Shape;130;p3"/>
          <p:cNvSpPr/>
          <p:nvPr/>
        </p:nvSpPr>
        <p:spPr>
          <a:xfrm>
            <a:off x="4572" y="0"/>
            <a:ext cx="18283428" cy="10287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1" name="Google Shape;131;p3"/>
          <p:cNvSpPr/>
          <p:nvPr/>
        </p:nvSpPr>
        <p:spPr>
          <a:xfrm>
            <a:off x="2286" y="0"/>
            <a:ext cx="18283428" cy="10287000"/>
          </a:xfrm>
          <a:prstGeom prst="rect">
            <a:avLst/>
          </a:prstGeom>
          <a:solidFill>
            <a:schemeClr val="dk1">
              <a:alpha val="5294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132" name="Google Shape;132;p3"/>
          <p:cNvGrpSpPr/>
          <p:nvPr/>
        </p:nvGrpSpPr>
        <p:grpSpPr>
          <a:xfrm rot="-5400000">
            <a:off x="252222" y="1346236"/>
            <a:ext cx="304800" cy="644652"/>
            <a:chOff x="215328" y="-46937"/>
            <a:chExt cx="304800" cy="2773841"/>
          </a:xfrm>
        </p:grpSpPr>
        <p:cxnSp>
          <p:nvCxnSpPr>
            <p:cNvPr id="133" name="Google Shape;133;p3"/>
            <p:cNvCxnSpPr/>
            <p:nvPr/>
          </p:nvCxnSpPr>
          <p:spPr>
            <a:xfrm>
              <a:off x="215328" y="-46937"/>
              <a:ext cx="0" cy="2773841"/>
            </a:xfrm>
            <a:prstGeom prst="straightConnector1">
              <a:avLst/>
            </a:prstGeom>
            <a:noFill/>
            <a:ln cap="flat" cmpd="sng" w="25400">
              <a:solidFill>
                <a:srgbClr val="538CD5">
                  <a:alpha val="49803"/>
                </a:srgbClr>
              </a:solidFill>
              <a:prstDash val="dot"/>
              <a:round/>
              <a:headEnd len="sm" w="sm" type="none"/>
              <a:tailEnd len="sm" w="sm" type="none"/>
            </a:ln>
          </p:spPr>
        </p:cxnSp>
        <p:cxnSp>
          <p:nvCxnSpPr>
            <p:cNvPr id="134" name="Google Shape;134;p3"/>
            <p:cNvCxnSpPr/>
            <p:nvPr/>
          </p:nvCxnSpPr>
          <p:spPr>
            <a:xfrm>
              <a:off x="316928" y="-46937"/>
              <a:ext cx="0" cy="2773841"/>
            </a:xfrm>
            <a:prstGeom prst="straightConnector1">
              <a:avLst/>
            </a:prstGeom>
            <a:noFill/>
            <a:ln cap="flat" cmpd="sng" w="25400">
              <a:solidFill>
                <a:srgbClr val="538CD5">
                  <a:alpha val="49803"/>
                </a:srgbClr>
              </a:solidFill>
              <a:prstDash val="dot"/>
              <a:round/>
              <a:headEnd len="sm" w="sm" type="none"/>
              <a:tailEnd len="sm" w="sm" type="none"/>
            </a:ln>
          </p:spPr>
        </p:cxnSp>
        <p:cxnSp>
          <p:nvCxnSpPr>
            <p:cNvPr id="135" name="Google Shape;135;p3"/>
            <p:cNvCxnSpPr/>
            <p:nvPr/>
          </p:nvCxnSpPr>
          <p:spPr>
            <a:xfrm>
              <a:off x="418528" y="-46937"/>
              <a:ext cx="0" cy="2773841"/>
            </a:xfrm>
            <a:prstGeom prst="straightConnector1">
              <a:avLst/>
            </a:prstGeom>
            <a:noFill/>
            <a:ln cap="flat" cmpd="sng" w="25400">
              <a:solidFill>
                <a:srgbClr val="538CD5">
                  <a:alpha val="49803"/>
                </a:srgbClr>
              </a:solidFill>
              <a:prstDash val="dot"/>
              <a:round/>
              <a:headEnd len="sm" w="sm" type="none"/>
              <a:tailEnd len="sm" w="sm" type="none"/>
            </a:ln>
          </p:spPr>
        </p:cxnSp>
        <p:cxnSp>
          <p:nvCxnSpPr>
            <p:cNvPr id="136" name="Google Shape;136;p3"/>
            <p:cNvCxnSpPr/>
            <p:nvPr/>
          </p:nvCxnSpPr>
          <p:spPr>
            <a:xfrm>
              <a:off x="520128" y="-46937"/>
              <a:ext cx="0" cy="2773841"/>
            </a:xfrm>
            <a:prstGeom prst="straightConnector1">
              <a:avLst/>
            </a:prstGeom>
            <a:noFill/>
            <a:ln cap="flat" cmpd="sng" w="25400">
              <a:solidFill>
                <a:srgbClr val="538CD5">
                  <a:alpha val="49803"/>
                </a:srgbClr>
              </a:solidFill>
              <a:prstDash val="dot"/>
              <a:round/>
              <a:headEnd len="sm" w="sm" type="none"/>
              <a:tailEnd len="sm" w="sm" type="none"/>
            </a:ln>
          </p:spPr>
        </p:cxnSp>
      </p:grpSp>
      <p:grpSp>
        <p:nvGrpSpPr>
          <p:cNvPr id="137" name="Google Shape;137;p3"/>
          <p:cNvGrpSpPr/>
          <p:nvPr/>
        </p:nvGrpSpPr>
        <p:grpSpPr>
          <a:xfrm>
            <a:off x="1" y="3113131"/>
            <a:ext cx="18594101" cy="6660966"/>
            <a:chOff x="1" y="2075420"/>
            <a:chExt cx="12396066" cy="4440643"/>
          </a:xfrm>
        </p:grpSpPr>
        <p:sp>
          <p:nvSpPr>
            <p:cNvPr id="138" name="Google Shape;138;p3"/>
            <p:cNvSpPr/>
            <p:nvPr/>
          </p:nvSpPr>
          <p:spPr>
            <a:xfrm rot="4500000">
              <a:off x="7942191" y="2507571"/>
              <a:ext cx="3563871" cy="3563871"/>
            </a:xfrm>
            <a:prstGeom prst="ellipse">
              <a:avLst/>
            </a:prstGeom>
            <a:noFill/>
            <a:ln cap="flat" cmpd="sng" w="31750">
              <a:solidFill>
                <a:srgbClr val="F4F3EC">
                  <a:alpha val="9803"/>
                </a:srgbClr>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9" name="Google Shape;139;p3"/>
            <p:cNvSpPr/>
            <p:nvPr/>
          </p:nvSpPr>
          <p:spPr>
            <a:xfrm rot="-5400000">
              <a:off x="10435065" y="4048931"/>
              <a:ext cx="1381607" cy="1381607"/>
            </a:xfrm>
            <a:prstGeom prst="ellipse">
              <a:avLst/>
            </a:prstGeom>
            <a:noFill/>
            <a:ln cap="flat" cmpd="sng" w="31750">
              <a:solidFill>
                <a:srgbClr val="F4F3EC">
                  <a:alpha val="20000"/>
                </a:srgbClr>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0" name="Google Shape;140;p3"/>
            <p:cNvSpPr/>
            <p:nvPr/>
          </p:nvSpPr>
          <p:spPr>
            <a:xfrm rot="-5400000">
              <a:off x="1" y="2075420"/>
              <a:ext cx="3144364" cy="3144364"/>
            </a:xfrm>
            <a:prstGeom prst="ellipse">
              <a:avLst/>
            </a:prstGeom>
            <a:gradFill>
              <a:gsLst>
                <a:gs pos="0">
                  <a:srgbClr val="C4BD97">
                    <a:alpha val="20000"/>
                  </a:srgbClr>
                </a:gs>
                <a:gs pos="100000">
                  <a:srgbClr val="938953">
                    <a:alpha val="9803"/>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1" name="Google Shape;141;p3"/>
            <p:cNvSpPr/>
            <p:nvPr/>
          </p:nvSpPr>
          <p:spPr>
            <a:xfrm rot="-9000000">
              <a:off x="10150845" y="4270841"/>
              <a:ext cx="1897885" cy="1897885"/>
            </a:xfrm>
            <a:prstGeom prst="ellipse">
              <a:avLst/>
            </a:prstGeom>
            <a:gradFill>
              <a:gsLst>
                <a:gs pos="0">
                  <a:srgbClr val="C4BD97">
                    <a:alpha val="9803"/>
                  </a:srgbClr>
                </a:gs>
                <a:gs pos="100000">
                  <a:srgbClr val="C4BD97">
                    <a:alpha val="20000"/>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2" name="Google Shape;142;p3"/>
            <p:cNvSpPr/>
            <p:nvPr/>
          </p:nvSpPr>
          <p:spPr>
            <a:xfrm rot="4500000">
              <a:off x="2046780" y="3040492"/>
              <a:ext cx="2579322" cy="2579322"/>
            </a:xfrm>
            <a:prstGeom prst="ellipse">
              <a:avLst/>
            </a:prstGeom>
            <a:noFill/>
            <a:ln cap="flat" cmpd="sng" w="31750">
              <a:solidFill>
                <a:srgbClr val="F4F3EC">
                  <a:alpha val="20000"/>
                </a:srgbClr>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3" name="Google Shape;143;p3"/>
            <p:cNvSpPr/>
            <p:nvPr/>
          </p:nvSpPr>
          <p:spPr>
            <a:xfrm rot="4500000">
              <a:off x="2224640" y="3193975"/>
              <a:ext cx="2243193" cy="2243193"/>
            </a:xfrm>
            <a:prstGeom prst="ellipse">
              <a:avLst/>
            </a:prstGeom>
            <a:noFill/>
            <a:ln cap="flat" cmpd="sng" w="31750">
              <a:solidFill>
                <a:srgbClr val="F4F3EC">
                  <a:alpha val="980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144" name="Google Shape;144;p3"/>
          <p:cNvSpPr/>
          <p:nvPr/>
        </p:nvSpPr>
        <p:spPr>
          <a:xfrm rot="-5400000">
            <a:off x="15657219" y="1563908"/>
            <a:ext cx="4194692" cy="1066878"/>
          </a:xfrm>
          <a:prstGeom prst="rect">
            <a:avLst/>
          </a:prstGeom>
          <a:gradFill>
            <a:gsLst>
              <a:gs pos="0">
                <a:srgbClr val="F7F6F2">
                  <a:alpha val="0"/>
                </a:srgbClr>
              </a:gs>
              <a:gs pos="100000">
                <a:srgbClr val="C4BD97">
                  <a:alpha val="9803"/>
                </a:srgbClr>
              </a:gs>
            </a:gsLst>
            <a:lin ang="8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145" name="Google Shape;145;p3"/>
          <p:cNvGrpSpPr/>
          <p:nvPr/>
        </p:nvGrpSpPr>
        <p:grpSpPr>
          <a:xfrm>
            <a:off x="16889308" y="-1280992"/>
            <a:ext cx="822960" cy="549007"/>
            <a:chOff x="7029447" y="3514725"/>
            <a:chExt cx="1285875" cy="549007"/>
          </a:xfrm>
        </p:grpSpPr>
        <p:cxnSp>
          <p:nvCxnSpPr>
            <p:cNvPr id="146" name="Google Shape;146;p3"/>
            <p:cNvCxnSpPr/>
            <p:nvPr/>
          </p:nvCxnSpPr>
          <p:spPr>
            <a:xfrm>
              <a:off x="7029447" y="3514725"/>
              <a:ext cx="1285875" cy="0"/>
            </a:xfrm>
            <a:prstGeom prst="straightConnector1">
              <a:avLst/>
            </a:prstGeom>
            <a:noFill/>
            <a:ln cap="rnd" cmpd="sng" w="31750">
              <a:solidFill>
                <a:srgbClr val="F4F3EC">
                  <a:alpha val="40000"/>
                </a:srgbClr>
              </a:solidFill>
              <a:prstDash val="dot"/>
              <a:round/>
              <a:headEnd len="sm" w="sm" type="none"/>
              <a:tailEnd len="sm" w="sm" type="none"/>
            </a:ln>
          </p:spPr>
        </p:cxnSp>
        <p:cxnSp>
          <p:nvCxnSpPr>
            <p:cNvPr id="147" name="Google Shape;147;p3"/>
            <p:cNvCxnSpPr/>
            <p:nvPr/>
          </p:nvCxnSpPr>
          <p:spPr>
            <a:xfrm>
              <a:off x="7029447" y="3697727"/>
              <a:ext cx="1285875" cy="0"/>
            </a:xfrm>
            <a:prstGeom prst="straightConnector1">
              <a:avLst/>
            </a:prstGeom>
            <a:noFill/>
            <a:ln cap="rnd" cmpd="sng" w="31750">
              <a:solidFill>
                <a:srgbClr val="F4F3EC">
                  <a:alpha val="40000"/>
                </a:srgbClr>
              </a:solidFill>
              <a:prstDash val="dot"/>
              <a:round/>
              <a:headEnd len="sm" w="sm" type="none"/>
              <a:tailEnd len="sm" w="sm" type="none"/>
            </a:ln>
          </p:spPr>
        </p:cxnSp>
        <p:cxnSp>
          <p:nvCxnSpPr>
            <p:cNvPr id="148" name="Google Shape;148;p3"/>
            <p:cNvCxnSpPr/>
            <p:nvPr/>
          </p:nvCxnSpPr>
          <p:spPr>
            <a:xfrm>
              <a:off x="7029447" y="3880729"/>
              <a:ext cx="1285875" cy="0"/>
            </a:xfrm>
            <a:prstGeom prst="straightConnector1">
              <a:avLst/>
            </a:prstGeom>
            <a:noFill/>
            <a:ln cap="rnd" cmpd="sng" w="31750">
              <a:solidFill>
                <a:srgbClr val="F4F3EC">
                  <a:alpha val="40000"/>
                </a:srgbClr>
              </a:solidFill>
              <a:prstDash val="dot"/>
              <a:round/>
              <a:headEnd len="sm" w="sm" type="none"/>
              <a:tailEnd len="sm" w="sm" type="none"/>
            </a:ln>
          </p:spPr>
        </p:cxnSp>
        <p:cxnSp>
          <p:nvCxnSpPr>
            <p:cNvPr id="149" name="Google Shape;149;p3"/>
            <p:cNvCxnSpPr/>
            <p:nvPr/>
          </p:nvCxnSpPr>
          <p:spPr>
            <a:xfrm>
              <a:off x="7029447" y="4063732"/>
              <a:ext cx="1285875" cy="0"/>
            </a:xfrm>
            <a:prstGeom prst="straightConnector1">
              <a:avLst/>
            </a:prstGeom>
            <a:noFill/>
            <a:ln cap="rnd" cmpd="sng" w="31750">
              <a:solidFill>
                <a:srgbClr val="F4F3EC">
                  <a:alpha val="40000"/>
                </a:srgbClr>
              </a:solidFill>
              <a:prstDash val="dot"/>
              <a:round/>
              <a:headEnd len="sm" w="sm" type="none"/>
              <a:tailEnd len="sm" w="sm" type="none"/>
            </a:ln>
          </p:spPr>
        </p:cxnSp>
      </p:grpSp>
      <p:sp>
        <p:nvSpPr>
          <p:cNvPr id="150" name="Google Shape;150;p3"/>
          <p:cNvSpPr/>
          <p:nvPr/>
        </p:nvSpPr>
        <p:spPr>
          <a:xfrm rot="10800000">
            <a:off x="-1" y="9211177"/>
            <a:ext cx="9143995" cy="1066878"/>
          </a:xfrm>
          <a:prstGeom prst="rect">
            <a:avLst/>
          </a:prstGeom>
          <a:gradFill>
            <a:gsLst>
              <a:gs pos="0">
                <a:srgbClr val="938953">
                  <a:alpha val="9803"/>
                </a:srgbClr>
              </a:gs>
              <a:gs pos="10000">
                <a:srgbClr val="938953">
                  <a:alpha val="9803"/>
                </a:srgbClr>
              </a:gs>
              <a:gs pos="100000">
                <a:srgbClr val="F4F3EC">
                  <a:alpha val="0"/>
                </a:srgbClr>
              </a:gs>
            </a:gsLst>
            <a:lin ang="8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151" name="Google Shape;151;p3"/>
          <p:cNvGrpSpPr/>
          <p:nvPr/>
        </p:nvGrpSpPr>
        <p:grpSpPr>
          <a:xfrm rot="5400000">
            <a:off x="2819134" y="9048092"/>
            <a:ext cx="1928813" cy="549007"/>
            <a:chOff x="7029447" y="3514725"/>
            <a:chExt cx="1285875" cy="549007"/>
          </a:xfrm>
        </p:grpSpPr>
        <p:cxnSp>
          <p:nvCxnSpPr>
            <p:cNvPr id="152" name="Google Shape;152;p3"/>
            <p:cNvCxnSpPr/>
            <p:nvPr/>
          </p:nvCxnSpPr>
          <p:spPr>
            <a:xfrm>
              <a:off x="7029447" y="3514725"/>
              <a:ext cx="1285875" cy="0"/>
            </a:xfrm>
            <a:prstGeom prst="straightConnector1">
              <a:avLst/>
            </a:prstGeom>
            <a:noFill/>
            <a:ln cap="rnd" cmpd="sng" w="31750">
              <a:solidFill>
                <a:srgbClr val="F4F3EC">
                  <a:alpha val="40000"/>
                </a:srgbClr>
              </a:solidFill>
              <a:prstDash val="dot"/>
              <a:round/>
              <a:headEnd len="sm" w="sm" type="none"/>
              <a:tailEnd len="sm" w="sm" type="none"/>
            </a:ln>
          </p:spPr>
        </p:cxnSp>
        <p:cxnSp>
          <p:nvCxnSpPr>
            <p:cNvPr id="153" name="Google Shape;153;p3"/>
            <p:cNvCxnSpPr/>
            <p:nvPr/>
          </p:nvCxnSpPr>
          <p:spPr>
            <a:xfrm>
              <a:off x="7029447" y="3697727"/>
              <a:ext cx="1285875" cy="0"/>
            </a:xfrm>
            <a:prstGeom prst="straightConnector1">
              <a:avLst/>
            </a:prstGeom>
            <a:noFill/>
            <a:ln cap="rnd" cmpd="sng" w="31750">
              <a:solidFill>
                <a:srgbClr val="F4F3EC">
                  <a:alpha val="40000"/>
                </a:srgbClr>
              </a:solidFill>
              <a:prstDash val="dot"/>
              <a:round/>
              <a:headEnd len="sm" w="sm" type="none"/>
              <a:tailEnd len="sm" w="sm" type="none"/>
            </a:ln>
          </p:spPr>
        </p:cxnSp>
        <p:cxnSp>
          <p:nvCxnSpPr>
            <p:cNvPr id="154" name="Google Shape;154;p3"/>
            <p:cNvCxnSpPr/>
            <p:nvPr/>
          </p:nvCxnSpPr>
          <p:spPr>
            <a:xfrm>
              <a:off x="7029447" y="3880729"/>
              <a:ext cx="1285875" cy="0"/>
            </a:xfrm>
            <a:prstGeom prst="straightConnector1">
              <a:avLst/>
            </a:prstGeom>
            <a:noFill/>
            <a:ln cap="rnd" cmpd="sng" w="31750">
              <a:solidFill>
                <a:srgbClr val="F4F3EC">
                  <a:alpha val="40000"/>
                </a:srgbClr>
              </a:solidFill>
              <a:prstDash val="dot"/>
              <a:round/>
              <a:headEnd len="sm" w="sm" type="none"/>
              <a:tailEnd len="sm" w="sm" type="none"/>
            </a:ln>
          </p:spPr>
        </p:cxnSp>
        <p:cxnSp>
          <p:nvCxnSpPr>
            <p:cNvPr id="155" name="Google Shape;155;p3"/>
            <p:cNvCxnSpPr/>
            <p:nvPr/>
          </p:nvCxnSpPr>
          <p:spPr>
            <a:xfrm>
              <a:off x="7029447" y="4063732"/>
              <a:ext cx="1285875" cy="0"/>
            </a:xfrm>
            <a:prstGeom prst="straightConnector1">
              <a:avLst/>
            </a:prstGeom>
            <a:noFill/>
            <a:ln cap="rnd" cmpd="sng" w="31750">
              <a:solidFill>
                <a:srgbClr val="F4F3EC">
                  <a:alpha val="40000"/>
                </a:srgbClr>
              </a:solidFill>
              <a:prstDash val="dot"/>
              <a:round/>
              <a:headEnd len="sm" w="sm" type="none"/>
              <a:tailEnd len="sm" w="sm" type="none"/>
            </a:ln>
          </p:spPr>
        </p:cxnSp>
      </p:grpSp>
      <p:sp>
        <p:nvSpPr>
          <p:cNvPr id="156" name="Google Shape;156;p3"/>
          <p:cNvSpPr txBox="1"/>
          <p:nvPr/>
        </p:nvSpPr>
        <p:spPr>
          <a:xfrm>
            <a:off x="946404" y="743988"/>
            <a:ext cx="6292710" cy="8458246"/>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None/>
            </a:pPr>
            <a:r>
              <a:rPr b="0" i="0" lang="en-US" sz="7200" u="none" cap="none" strike="noStrike">
                <a:solidFill>
                  <a:schemeClr val="lt1"/>
                </a:solidFill>
                <a:latin typeface="Arial"/>
                <a:ea typeface="Arial"/>
                <a:cs typeface="Arial"/>
                <a:sym typeface="Arial"/>
              </a:rPr>
              <a:t>COMPETENCIA(S) QUE DESARROLLAREMOS</a:t>
            </a:r>
            <a:endParaRPr b="0" i="0" sz="7200" u="none" cap="none" strike="noStrike">
              <a:solidFill>
                <a:schemeClr val="lt1"/>
              </a:solidFill>
              <a:latin typeface="Arial"/>
              <a:ea typeface="Arial"/>
              <a:cs typeface="Arial"/>
              <a:sym typeface="Arial"/>
            </a:endParaRPr>
          </a:p>
        </p:txBody>
      </p:sp>
      <p:grpSp>
        <p:nvGrpSpPr>
          <p:cNvPr id="157" name="Google Shape;157;p3"/>
          <p:cNvGrpSpPr/>
          <p:nvPr/>
        </p:nvGrpSpPr>
        <p:grpSpPr>
          <a:xfrm>
            <a:off x="7373920" y="1391564"/>
            <a:ext cx="9380583" cy="7400880"/>
            <a:chOff x="0" y="91687"/>
            <a:chExt cx="9380583" cy="7400880"/>
          </a:xfrm>
        </p:grpSpPr>
        <p:sp>
          <p:nvSpPr>
            <p:cNvPr id="158" name="Google Shape;158;p3"/>
            <p:cNvSpPr/>
            <p:nvPr/>
          </p:nvSpPr>
          <p:spPr>
            <a:xfrm>
              <a:off x="0" y="91687"/>
              <a:ext cx="9380583" cy="3645720"/>
            </a:xfrm>
            <a:prstGeom prst="roundRect">
              <a:avLst>
                <a:gd fmla="val 16667" name="adj"/>
              </a:avLst>
            </a:prstGeom>
            <a:solidFill>
              <a:srgbClr val="BF504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
            <p:cNvSpPr txBox="1"/>
            <p:nvPr/>
          </p:nvSpPr>
          <p:spPr>
            <a:xfrm>
              <a:off x="177969" y="269656"/>
              <a:ext cx="9024645" cy="3289782"/>
            </a:xfrm>
            <a:prstGeom prst="rect">
              <a:avLst/>
            </a:prstGeom>
            <a:noFill/>
            <a:ln>
              <a:noFill/>
            </a:ln>
          </p:spPr>
          <p:txBody>
            <a:bodyPr anchorCtr="0" anchor="ctr" bIns="144775" lIns="144775" spcFirstLastPara="1" rIns="144775" wrap="square" tIns="144775">
              <a:noAutofit/>
            </a:bodyPr>
            <a:lstStyle/>
            <a:p>
              <a:pPr indent="0" lvl="0" marL="0" marR="0" rtl="0" algn="l">
                <a:lnSpc>
                  <a:spcPct val="90000"/>
                </a:lnSpc>
                <a:spcBef>
                  <a:spcPts val="0"/>
                </a:spcBef>
                <a:spcAft>
                  <a:spcPts val="0"/>
                </a:spcAft>
                <a:buClr>
                  <a:srgbClr val="000000"/>
                </a:buClr>
                <a:buSzPts val="3800"/>
                <a:buFont typeface="Arial"/>
                <a:buNone/>
              </a:pPr>
              <a:r>
                <a:rPr b="0" i="0" lang="en-US" sz="3800" u="none" cap="none" strike="noStrike">
                  <a:solidFill>
                    <a:schemeClr val="lt1"/>
                  </a:solidFill>
                  <a:latin typeface="Arial"/>
                  <a:ea typeface="Arial"/>
                  <a:cs typeface="Arial"/>
                  <a:sym typeface="Arial"/>
                </a:rPr>
                <a:t>Implementa Estructuras de Control  procedimientos en VB.NET mediante variables condicionales  ciclos para desarrollar soluciones informaticas que automaticen procesos de gestión de datos.</a:t>
              </a:r>
              <a:endParaRPr b="0" i="0" sz="3800" u="none" cap="none" strike="noStrike">
                <a:solidFill>
                  <a:schemeClr val="lt1"/>
                </a:solidFill>
                <a:latin typeface="Arial"/>
                <a:ea typeface="Arial"/>
                <a:cs typeface="Arial"/>
                <a:sym typeface="Arial"/>
              </a:endParaRPr>
            </a:p>
          </p:txBody>
        </p:sp>
        <p:sp>
          <p:nvSpPr>
            <p:cNvPr id="160" name="Google Shape;160;p3"/>
            <p:cNvSpPr/>
            <p:nvPr/>
          </p:nvSpPr>
          <p:spPr>
            <a:xfrm>
              <a:off x="0" y="3846847"/>
              <a:ext cx="9380583" cy="3645720"/>
            </a:xfrm>
            <a:prstGeom prst="roundRect">
              <a:avLst>
                <a:gd fmla="val 16667" name="adj"/>
              </a:avLst>
            </a:prstGeom>
            <a:solidFill>
              <a:srgbClr val="99B958"/>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
            <p:cNvSpPr txBox="1"/>
            <p:nvPr/>
          </p:nvSpPr>
          <p:spPr>
            <a:xfrm>
              <a:off x="177969" y="4024816"/>
              <a:ext cx="9024645" cy="3289782"/>
            </a:xfrm>
            <a:prstGeom prst="rect">
              <a:avLst/>
            </a:prstGeom>
            <a:noFill/>
            <a:ln>
              <a:noFill/>
            </a:ln>
          </p:spPr>
          <p:txBody>
            <a:bodyPr anchorCtr="0" anchor="ctr" bIns="144775" lIns="144775" spcFirstLastPara="1" rIns="144775" wrap="square" tIns="144775">
              <a:noAutofit/>
            </a:bodyPr>
            <a:lstStyle/>
            <a:p>
              <a:pPr indent="0" lvl="0" marL="0" marR="0" rtl="0" algn="l">
                <a:lnSpc>
                  <a:spcPct val="90000"/>
                </a:lnSpc>
                <a:spcBef>
                  <a:spcPts val="0"/>
                </a:spcBef>
                <a:spcAft>
                  <a:spcPts val="0"/>
                </a:spcAft>
                <a:buClr>
                  <a:srgbClr val="000000"/>
                </a:buClr>
                <a:buSzPts val="3800"/>
                <a:buFont typeface="Arial"/>
                <a:buNone/>
              </a:pPr>
              <a:r>
                <a:rPr b="0" i="0" lang="en-US" sz="3800" u="none" cap="none" strike="noStrike">
                  <a:solidFill>
                    <a:schemeClr val="lt1"/>
                  </a:solidFill>
                  <a:latin typeface="Arial"/>
                  <a:ea typeface="Arial"/>
                  <a:cs typeface="Arial"/>
                  <a:sym typeface="Arial"/>
                </a:rPr>
                <a:t>Desarolla Interfaces gráficas funcionales haciendo uso de controles básicos, como textbox, label, combobox capturar  mostrar los datos de forma eficiente </a:t>
              </a:r>
              <a:endParaRPr b="0" i="0" sz="3800" u="none" cap="none" strike="noStrike">
                <a:solidFill>
                  <a:schemeClr val="lt1"/>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 name="Shape 165"/>
        <p:cNvGrpSpPr/>
        <p:nvPr/>
      </p:nvGrpSpPr>
      <p:grpSpPr>
        <a:xfrm>
          <a:off x="0" y="0"/>
          <a:ext cx="0" cy="0"/>
          <a:chOff x="0" y="0"/>
          <a:chExt cx="0" cy="0"/>
        </a:xfrm>
      </p:grpSpPr>
      <p:sp>
        <p:nvSpPr>
          <p:cNvPr id="166" name="Google Shape;166;p4"/>
          <p:cNvSpPr/>
          <p:nvPr/>
        </p:nvSpPr>
        <p:spPr>
          <a:xfrm>
            <a:off x="-1" y="0"/>
            <a:ext cx="18283427"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7" name="Google Shape;167;p4"/>
          <p:cNvSpPr txBox="1"/>
          <p:nvPr/>
        </p:nvSpPr>
        <p:spPr>
          <a:xfrm>
            <a:off x="1257300" y="835782"/>
            <a:ext cx="15773400" cy="1700248"/>
          </a:xfrm>
          <a:prstGeom prst="rect">
            <a:avLst/>
          </a:prstGeom>
          <a:noFill/>
          <a:ln>
            <a:noFill/>
          </a:ln>
        </p:spPr>
        <p:txBody>
          <a:bodyPr anchorCtr="0" anchor="ctr" bIns="45700" lIns="91425" spcFirstLastPara="1" rIns="91425" wrap="square" tIns="45700">
            <a:normAutofit fontScale="85000" lnSpcReduction="20000"/>
          </a:bodyPr>
          <a:lstStyle/>
          <a:p>
            <a:pPr indent="0" lvl="0" marL="0" marR="0" rtl="0" algn="ctr">
              <a:lnSpc>
                <a:spcPct val="90000"/>
              </a:lnSpc>
              <a:spcBef>
                <a:spcPts val="0"/>
              </a:spcBef>
              <a:spcAft>
                <a:spcPts val="600"/>
              </a:spcAft>
              <a:buNone/>
            </a:pPr>
            <a:r>
              <a:rPr b="0" i="0" lang="en-US" sz="7800" u="none" cap="none" strike="noStrike">
                <a:solidFill>
                  <a:schemeClr val="dk1"/>
                </a:solidFill>
                <a:latin typeface="Arial"/>
                <a:ea typeface="Arial"/>
                <a:cs typeface="Arial"/>
                <a:sym typeface="Arial"/>
              </a:rPr>
              <a:t>REPASO FUNCIONES Y PROCEDIMIENTOS</a:t>
            </a:r>
            <a:endParaRPr b="0" i="0" sz="7800" u="none" cap="none" strike="noStrike">
              <a:solidFill>
                <a:schemeClr val="dk1"/>
              </a:solidFill>
              <a:latin typeface="Arial"/>
              <a:ea typeface="Arial"/>
              <a:cs typeface="Arial"/>
              <a:sym typeface="Arial"/>
            </a:endParaRPr>
          </a:p>
        </p:txBody>
      </p:sp>
      <p:grpSp>
        <p:nvGrpSpPr>
          <p:cNvPr id="168" name="Google Shape;168;p4"/>
          <p:cNvGrpSpPr/>
          <p:nvPr/>
        </p:nvGrpSpPr>
        <p:grpSpPr>
          <a:xfrm>
            <a:off x="1259225" y="3505130"/>
            <a:ext cx="15769549" cy="5004955"/>
            <a:chOff x="1925" y="761930"/>
            <a:chExt cx="15769549" cy="5004955"/>
          </a:xfrm>
        </p:grpSpPr>
        <p:sp>
          <p:nvSpPr>
            <p:cNvPr id="169" name="Google Shape;169;p4"/>
            <p:cNvSpPr/>
            <p:nvPr/>
          </p:nvSpPr>
          <p:spPr>
            <a:xfrm>
              <a:off x="1925" y="761930"/>
              <a:ext cx="6758378" cy="4291570"/>
            </a:xfrm>
            <a:prstGeom prst="roundRect">
              <a:avLst>
                <a:gd fmla="val 10000" name="adj"/>
              </a:avLst>
            </a:prstGeom>
            <a:solidFill>
              <a:schemeClr val="accent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4"/>
            <p:cNvSpPr/>
            <p:nvPr/>
          </p:nvSpPr>
          <p:spPr>
            <a:xfrm>
              <a:off x="752856" y="1475315"/>
              <a:ext cx="6758378" cy="4291570"/>
            </a:xfrm>
            <a:prstGeom prst="roundRect">
              <a:avLst>
                <a:gd fmla="val 10000" name="adj"/>
              </a:avLst>
            </a:prstGeom>
            <a:solidFill>
              <a:schemeClr val="lt1">
                <a:alpha val="89803"/>
              </a:schemeClr>
            </a:solidFill>
            <a:ln cap="flat" cmpd="sng" w="254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4"/>
            <p:cNvSpPr txBox="1"/>
            <p:nvPr/>
          </p:nvSpPr>
          <p:spPr>
            <a:xfrm>
              <a:off x="878552" y="1601011"/>
              <a:ext cx="6506986" cy="4040178"/>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Function</a:t>
              </a:r>
              <a:r>
                <a:rPr b="0" i="0" lang="en-US" sz="2400" u="none" cap="none" strike="noStrike">
                  <a:solidFill>
                    <a:srgbClr val="000000"/>
                  </a:solidFill>
                  <a:latin typeface="Arial"/>
                  <a:ea typeface="Arial"/>
                  <a:cs typeface="Arial"/>
                  <a:sym typeface="Arial"/>
                </a:rPr>
                <a:t>: Pueden ser invocados por su nombre desde otros procedimientos, pueden recibir argumentos y siempre devuelven un valor con el nombre de la función.</a:t>
              </a:r>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Sintaxis</a:t>
              </a:r>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[Modificador de acceso] </a:t>
              </a:r>
              <a:r>
                <a:rPr b="1" i="0" lang="en-US" sz="2400" u="none" cap="none" strike="noStrike">
                  <a:solidFill>
                    <a:srgbClr val="000000"/>
                  </a:solidFill>
                  <a:latin typeface="Arial"/>
                  <a:ea typeface="Arial"/>
                  <a:cs typeface="Arial"/>
                  <a:sym typeface="Arial"/>
                </a:rPr>
                <a:t>Function</a:t>
              </a:r>
              <a:r>
                <a:rPr b="0" i="0" lang="en-US" sz="2400" u="none" cap="none" strike="noStrike">
                  <a:solidFill>
                    <a:srgbClr val="000000"/>
                  </a:solidFill>
                  <a:latin typeface="Arial"/>
                  <a:ea typeface="Arial"/>
                  <a:cs typeface="Arial"/>
                  <a:sym typeface="Arial"/>
                </a:rPr>
                <a:t> nombre_funcion(argumentos) As tipo</a:t>
              </a:r>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Instrucciones</a:t>
              </a:r>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Nombre_Funcion = valor a retornar</a:t>
              </a:r>
              <a:endParaRPr/>
            </a:p>
            <a:p>
              <a:pPr indent="0" lvl="0" marL="0" marR="0" rtl="0" algn="ctr">
                <a:lnSpc>
                  <a:spcPct val="90000"/>
                </a:lnSpc>
                <a:spcBef>
                  <a:spcPts val="84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End Function</a:t>
              </a:r>
              <a:endParaRPr b="0" i="0" sz="2400" u="none" cap="none" strike="noStrike">
                <a:solidFill>
                  <a:srgbClr val="000000"/>
                </a:solidFill>
                <a:latin typeface="Arial"/>
                <a:ea typeface="Arial"/>
                <a:cs typeface="Arial"/>
                <a:sym typeface="Arial"/>
              </a:endParaRPr>
            </a:p>
          </p:txBody>
        </p:sp>
        <p:sp>
          <p:nvSpPr>
            <p:cNvPr id="172" name="Google Shape;172;p4"/>
            <p:cNvSpPr/>
            <p:nvPr/>
          </p:nvSpPr>
          <p:spPr>
            <a:xfrm>
              <a:off x="8262165" y="761930"/>
              <a:ext cx="6758378" cy="4291570"/>
            </a:xfrm>
            <a:prstGeom prst="roundRect">
              <a:avLst>
                <a:gd fmla="val 10000" name="adj"/>
              </a:avLst>
            </a:prstGeom>
            <a:solidFill>
              <a:schemeClr val="accent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
            <p:cNvSpPr/>
            <p:nvPr/>
          </p:nvSpPr>
          <p:spPr>
            <a:xfrm>
              <a:off x="9013096" y="1475315"/>
              <a:ext cx="6758378" cy="4291570"/>
            </a:xfrm>
            <a:prstGeom prst="roundRect">
              <a:avLst>
                <a:gd fmla="val 10000" name="adj"/>
              </a:avLst>
            </a:prstGeom>
            <a:solidFill>
              <a:schemeClr val="lt1">
                <a:alpha val="89803"/>
              </a:schemeClr>
            </a:solidFill>
            <a:ln cap="flat" cmpd="sng" w="254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4"/>
            <p:cNvSpPr txBox="1"/>
            <p:nvPr/>
          </p:nvSpPr>
          <p:spPr>
            <a:xfrm>
              <a:off x="9138792" y="1601011"/>
              <a:ext cx="6506986" cy="4040178"/>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Sub</a:t>
              </a:r>
              <a:r>
                <a:rPr b="0" i="0" lang="en-US" sz="2400" u="none" cap="none" strike="noStrike">
                  <a:solidFill>
                    <a:srgbClr val="000000"/>
                  </a:solidFill>
                  <a:latin typeface="Arial"/>
                  <a:ea typeface="Arial"/>
                  <a:cs typeface="Arial"/>
                  <a:sym typeface="Arial"/>
                </a:rPr>
                <a:t>: También pueden ser invocados por su nombre desde otros procedimientos, pueden recibir argumentos, pero no devuelven valores.</a:t>
              </a:r>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Sintaxis</a:t>
              </a:r>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[Modificador de acceso] </a:t>
              </a:r>
              <a:r>
                <a:rPr b="1" i="0" lang="en-US" sz="2400" u="none" cap="none" strike="noStrike">
                  <a:solidFill>
                    <a:srgbClr val="000000"/>
                  </a:solidFill>
                  <a:latin typeface="Arial"/>
                  <a:ea typeface="Arial"/>
                  <a:cs typeface="Arial"/>
                  <a:sym typeface="Arial"/>
                </a:rPr>
                <a:t>Sub</a:t>
              </a:r>
              <a:r>
                <a:rPr b="0" i="0" lang="en-US" sz="2400" u="none" cap="none" strike="noStrike">
                  <a:solidFill>
                    <a:srgbClr val="000000"/>
                  </a:solidFill>
                  <a:latin typeface="Arial"/>
                  <a:ea typeface="Arial"/>
                  <a:cs typeface="Arial"/>
                  <a:sym typeface="Arial"/>
                </a:rPr>
                <a:t> nombre_sub(argumentos)</a:t>
              </a:r>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Instrucciones</a:t>
              </a:r>
              <a:endParaRPr/>
            </a:p>
            <a:p>
              <a:pPr indent="0" lvl="0" marL="0" marR="0" rtl="0" algn="ctr">
                <a:lnSpc>
                  <a:spcPct val="90000"/>
                </a:lnSpc>
                <a:spcBef>
                  <a:spcPts val="84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End Sub</a:t>
              </a:r>
              <a:endParaRPr b="0" i="0" sz="2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8" name="Shape 178"/>
        <p:cNvGrpSpPr/>
        <p:nvPr/>
      </p:nvGrpSpPr>
      <p:grpSpPr>
        <a:xfrm>
          <a:off x="0" y="0"/>
          <a:ext cx="0" cy="0"/>
          <a:chOff x="0" y="0"/>
          <a:chExt cx="0" cy="0"/>
        </a:xfrm>
      </p:grpSpPr>
      <p:sp>
        <p:nvSpPr>
          <p:cNvPr id="179" name="Google Shape;179;p22"/>
          <p:cNvSpPr/>
          <p:nvPr/>
        </p:nvSpPr>
        <p:spPr>
          <a:xfrm>
            <a:off x="-1" y="0"/>
            <a:ext cx="18283427"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0" name="Google Shape;180;p22"/>
          <p:cNvSpPr txBox="1"/>
          <p:nvPr/>
        </p:nvSpPr>
        <p:spPr>
          <a:xfrm>
            <a:off x="1257300" y="835782"/>
            <a:ext cx="15773400" cy="1700248"/>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600"/>
              </a:spcAft>
              <a:buNone/>
            </a:pPr>
            <a:r>
              <a:rPr b="0" i="0" lang="en-US" sz="6600" u="none" cap="none" strike="noStrike">
                <a:solidFill>
                  <a:schemeClr val="dk1"/>
                </a:solidFill>
                <a:latin typeface="Arial"/>
                <a:ea typeface="Arial"/>
                <a:cs typeface="Arial"/>
                <a:sym typeface="Arial"/>
              </a:rPr>
              <a:t>CONTROLES BASICOS</a:t>
            </a:r>
            <a:endParaRPr b="0" i="0" sz="6600" u="none" cap="none" strike="noStrike">
              <a:solidFill>
                <a:schemeClr val="dk1"/>
              </a:solidFill>
              <a:latin typeface="Arial"/>
              <a:ea typeface="Arial"/>
              <a:cs typeface="Arial"/>
              <a:sym typeface="Arial"/>
            </a:endParaRPr>
          </a:p>
        </p:txBody>
      </p:sp>
      <p:grpSp>
        <p:nvGrpSpPr>
          <p:cNvPr id="181" name="Google Shape;181;p22"/>
          <p:cNvGrpSpPr/>
          <p:nvPr/>
        </p:nvGrpSpPr>
        <p:grpSpPr>
          <a:xfrm>
            <a:off x="1259225" y="2853698"/>
            <a:ext cx="15769548" cy="6307819"/>
            <a:chOff x="1925" y="110498"/>
            <a:chExt cx="15769548" cy="6307819"/>
          </a:xfrm>
        </p:grpSpPr>
        <p:sp>
          <p:nvSpPr>
            <p:cNvPr id="182" name="Google Shape;182;p22"/>
            <p:cNvSpPr/>
            <p:nvPr/>
          </p:nvSpPr>
          <p:spPr>
            <a:xfrm>
              <a:off x="1925" y="110498"/>
              <a:ext cx="6307819" cy="6307819"/>
            </a:xfrm>
            <a:prstGeom prst="ellipse">
              <a:avLst/>
            </a:prstGeom>
            <a:solidFill>
              <a:srgbClr val="1D497D"/>
            </a:solidFill>
            <a:ln cap="flat" cmpd="sng" w="25400">
              <a:solidFill>
                <a:srgbClr val="EEE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2"/>
            <p:cNvSpPr txBox="1"/>
            <p:nvPr/>
          </p:nvSpPr>
          <p:spPr>
            <a:xfrm>
              <a:off x="925684" y="1034257"/>
              <a:ext cx="4460301" cy="4460301"/>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Cuando un procedimiento no se califica explicitamente con las palabras reservadas “PUBLIC” o “PRIVATE” es, por omisión, publico en todos los modulos.</a:t>
              </a:r>
              <a:endParaRPr/>
            </a:p>
          </p:txBody>
        </p:sp>
        <p:sp>
          <p:nvSpPr>
            <p:cNvPr id="184" name="Google Shape;184;p22"/>
            <p:cNvSpPr/>
            <p:nvPr/>
          </p:nvSpPr>
          <p:spPr>
            <a:xfrm rot="5400000">
              <a:off x="6830140" y="2428621"/>
              <a:ext cx="2207736" cy="1671572"/>
            </a:xfrm>
            <a:prstGeom prst="triangle">
              <a:avLst>
                <a:gd fmla="val 50000" name="adj"/>
              </a:avLst>
            </a:prstGeom>
            <a:solidFill>
              <a:srgbClr val="A7AF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2"/>
            <p:cNvSpPr/>
            <p:nvPr/>
          </p:nvSpPr>
          <p:spPr>
            <a:xfrm>
              <a:off x="9463654" y="110498"/>
              <a:ext cx="6307819" cy="6307819"/>
            </a:xfrm>
            <a:prstGeom prst="ellipse">
              <a:avLst/>
            </a:prstGeom>
            <a:solidFill>
              <a:srgbClr val="1D497D"/>
            </a:solidFill>
            <a:ln cap="flat" cmpd="sng" w="25400">
              <a:solidFill>
                <a:srgbClr val="EEE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2"/>
            <p:cNvSpPr txBox="1"/>
            <p:nvPr/>
          </p:nvSpPr>
          <p:spPr>
            <a:xfrm>
              <a:off x="10387413" y="1034257"/>
              <a:ext cx="4460301" cy="4460301"/>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Logicamente el caracter publico de un procedimiento puede ser cambiado a privado, modificando asi su accesibilidad. Por ejemplo, el siguiente procedimiento escrito en cualquier modulo es publico:</a:t>
              </a:r>
              <a:endParaRPr/>
            </a:p>
            <a:p>
              <a:pPr indent="0" lvl="0" marL="0" marR="0" rtl="0" algn="ctr">
                <a:lnSpc>
                  <a:spcPct val="90000"/>
                </a:lnSpc>
                <a:spcBef>
                  <a:spcPts val="84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Sub MiProc()</a:t>
              </a:r>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‘Declaraciones y sentencias</a:t>
              </a:r>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End Sub</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0" name="Shape 190"/>
        <p:cNvGrpSpPr/>
        <p:nvPr/>
      </p:nvGrpSpPr>
      <p:grpSpPr>
        <a:xfrm>
          <a:off x="0" y="0"/>
          <a:ext cx="0" cy="0"/>
          <a:chOff x="0" y="0"/>
          <a:chExt cx="0" cy="0"/>
        </a:xfrm>
      </p:grpSpPr>
      <p:sp>
        <p:nvSpPr>
          <p:cNvPr id="191" name="Google Shape;191;p23"/>
          <p:cNvSpPr/>
          <p:nvPr/>
        </p:nvSpPr>
        <p:spPr>
          <a:xfrm>
            <a:off x="0" y="0"/>
            <a:ext cx="182880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2" name="Google Shape;192;p23"/>
          <p:cNvSpPr txBox="1"/>
          <p:nvPr/>
        </p:nvSpPr>
        <p:spPr>
          <a:xfrm>
            <a:off x="1257300" y="547687"/>
            <a:ext cx="8090041" cy="19883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600"/>
              </a:spcAft>
              <a:buNone/>
            </a:pPr>
            <a:r>
              <a:rPr b="0" i="0" lang="en-US" sz="4400" u="none" cap="none" strike="noStrike">
                <a:solidFill>
                  <a:schemeClr val="dk1"/>
                </a:solidFill>
                <a:latin typeface="Arial"/>
                <a:ea typeface="Arial"/>
                <a:cs typeface="Arial"/>
                <a:sym typeface="Arial"/>
              </a:rPr>
              <a:t>CONTROLES BASICOS</a:t>
            </a:r>
            <a:endParaRPr b="0" i="0" sz="4400" u="none" cap="none" strike="noStrike">
              <a:solidFill>
                <a:schemeClr val="dk1"/>
              </a:solidFill>
              <a:latin typeface="Arial"/>
              <a:ea typeface="Arial"/>
              <a:cs typeface="Arial"/>
              <a:sym typeface="Arial"/>
            </a:endParaRPr>
          </a:p>
        </p:txBody>
      </p:sp>
      <p:sp>
        <p:nvSpPr>
          <p:cNvPr id="193" name="Google Shape;193;p23"/>
          <p:cNvSpPr/>
          <p:nvPr/>
        </p:nvSpPr>
        <p:spPr>
          <a:xfrm>
            <a:off x="15297985" y="1"/>
            <a:ext cx="1732713" cy="937541"/>
          </a:xfrm>
          <a:custGeom>
            <a:rect b="b" l="l" r="r" t="t"/>
            <a:pathLst>
              <a:path extrusionOk="0" h="625027" w="1155142">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490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4" name="Google Shape;194;p23"/>
          <p:cNvSpPr/>
          <p:nvPr/>
        </p:nvSpPr>
        <p:spPr>
          <a:xfrm>
            <a:off x="10212277" y="5135938"/>
            <a:ext cx="811233" cy="811233"/>
          </a:xfrm>
          <a:prstGeom prst="ellipse">
            <a:avLst/>
          </a:prstGeom>
          <a:noFill/>
          <a:ln cap="flat" cmpd="sng" w="1270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5" name="Google Shape;195;p23"/>
          <p:cNvSpPr/>
          <p:nvPr/>
        </p:nvSpPr>
        <p:spPr>
          <a:xfrm>
            <a:off x="10124403" y="1"/>
            <a:ext cx="3100422" cy="2432819"/>
          </a:xfrm>
          <a:custGeom>
            <a:rect b="b" l="l" r="r" t="t"/>
            <a:pathLst>
              <a:path extrusionOk="0" h="1621879" w="2066948">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196" name="Google Shape;196;p23"/>
          <p:cNvCxnSpPr/>
          <p:nvPr/>
        </p:nvCxnSpPr>
        <p:spPr>
          <a:xfrm>
            <a:off x="18208117" y="1541859"/>
            <a:ext cx="0" cy="2396562"/>
          </a:xfrm>
          <a:prstGeom prst="straightConnector1">
            <a:avLst/>
          </a:prstGeom>
          <a:noFill/>
          <a:ln cap="rnd" cmpd="sng" w="127000">
            <a:solidFill>
              <a:schemeClr val="accent4"/>
            </a:solidFill>
            <a:prstDash val="dash"/>
            <a:round/>
            <a:headEnd len="sm" w="sm" type="none"/>
            <a:tailEnd len="sm" w="sm" type="none"/>
          </a:ln>
        </p:spPr>
      </p:cxnSp>
      <p:sp>
        <p:nvSpPr>
          <p:cNvPr id="197" name="Google Shape;197;p23"/>
          <p:cNvSpPr/>
          <p:nvPr/>
        </p:nvSpPr>
        <p:spPr>
          <a:xfrm rot="-1136562">
            <a:off x="11184870" y="7750023"/>
            <a:ext cx="2753587" cy="3037177"/>
          </a:xfrm>
          <a:custGeom>
            <a:rect b="b" l="l" r="r" t="t"/>
            <a:pathLst>
              <a:path extrusionOk="0" h="2024785" w="183572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8" name="Google Shape;198;p23"/>
          <p:cNvSpPr/>
          <p:nvPr/>
        </p:nvSpPr>
        <p:spPr>
          <a:xfrm>
            <a:off x="10214290" y="9050692"/>
            <a:ext cx="2986596" cy="1236308"/>
          </a:xfrm>
          <a:custGeom>
            <a:rect b="b" l="l" r="r" t="t"/>
            <a:pathLst>
              <a:path extrusionOk="0" h="824205" w="1991064">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9" name="Google Shape;199;p23"/>
          <p:cNvSpPr/>
          <p:nvPr/>
        </p:nvSpPr>
        <p:spPr>
          <a:xfrm>
            <a:off x="16277544" y="8278794"/>
            <a:ext cx="2010457" cy="2008207"/>
          </a:xfrm>
          <a:custGeom>
            <a:rect b="b" l="l" r="r" t="t"/>
            <a:pathLst>
              <a:path extrusionOk="0" h="1338805" w="13403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200" name="Google Shape;200;p23"/>
          <p:cNvGrpSpPr/>
          <p:nvPr/>
        </p:nvGrpSpPr>
        <p:grpSpPr>
          <a:xfrm>
            <a:off x="1257300" y="2738437"/>
            <a:ext cx="8090041" cy="6527006"/>
            <a:chOff x="0" y="0"/>
            <a:chExt cx="8090041" cy="6527006"/>
          </a:xfrm>
        </p:grpSpPr>
        <p:cxnSp>
          <p:nvCxnSpPr>
            <p:cNvPr id="201" name="Google Shape;201;p23"/>
            <p:cNvCxnSpPr/>
            <p:nvPr/>
          </p:nvCxnSpPr>
          <p:spPr>
            <a:xfrm>
              <a:off x="0" y="0"/>
              <a:ext cx="8090041" cy="0"/>
            </a:xfrm>
            <a:prstGeom prst="straightConnector1">
              <a:avLst/>
            </a:prstGeom>
            <a:solidFill>
              <a:srgbClr val="1D497D"/>
            </a:solidFill>
            <a:ln cap="flat" cmpd="sng" w="25400">
              <a:solidFill>
                <a:srgbClr val="1D497D"/>
              </a:solidFill>
              <a:prstDash val="solid"/>
              <a:round/>
              <a:headEnd len="sm" w="sm" type="none"/>
              <a:tailEnd len="sm" w="sm" type="none"/>
            </a:ln>
            <a:effectLst>
              <a:outerShdw blurRad="40000" rotWithShape="0" dir="5400000" dist="20000">
                <a:srgbClr val="000000">
                  <a:alpha val="37647"/>
                </a:srgbClr>
              </a:outerShdw>
            </a:effectLst>
          </p:spPr>
        </p:cxnSp>
        <p:sp>
          <p:nvSpPr>
            <p:cNvPr id="202" name="Google Shape;202;p23"/>
            <p:cNvSpPr/>
            <p:nvPr/>
          </p:nvSpPr>
          <p:spPr>
            <a:xfrm>
              <a:off x="0" y="0"/>
              <a:ext cx="8090041" cy="326350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3"/>
            <p:cNvSpPr txBox="1"/>
            <p:nvPr/>
          </p:nvSpPr>
          <p:spPr>
            <a:xfrm>
              <a:off x="0" y="0"/>
              <a:ext cx="8090041" cy="3263503"/>
            </a:xfrm>
            <a:prstGeom prst="rect">
              <a:avLst/>
            </a:prstGeom>
            <a:noFill/>
            <a:ln>
              <a:noFill/>
            </a:ln>
          </p:spPr>
          <p:txBody>
            <a:bodyPr anchorCtr="0" anchor="t" bIns="121900" lIns="121900" spcFirstLastPara="1" rIns="121900" wrap="square" tIns="121900">
              <a:noAutofit/>
            </a:bodyPr>
            <a:lstStyle/>
            <a:p>
              <a:pPr indent="0" lvl="0" marL="0" marR="0" rtl="0" algn="l">
                <a:lnSpc>
                  <a:spcPct val="9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Consecuentemente, un procedimiento publico (Public) puede invocarse desde cualqueir parte de la aplicacion, pero un procedimiento  privado (Private) solo pude ser llamado desde otros procedimientos que esten en el mismo modulo,</a:t>
              </a:r>
              <a:endParaRPr/>
            </a:p>
          </p:txBody>
        </p:sp>
        <p:cxnSp>
          <p:nvCxnSpPr>
            <p:cNvPr id="204" name="Google Shape;204;p23"/>
            <p:cNvCxnSpPr/>
            <p:nvPr/>
          </p:nvCxnSpPr>
          <p:spPr>
            <a:xfrm>
              <a:off x="0" y="3263503"/>
              <a:ext cx="8090041" cy="0"/>
            </a:xfrm>
            <a:prstGeom prst="straightConnector1">
              <a:avLst/>
            </a:prstGeom>
            <a:solidFill>
              <a:srgbClr val="1D497D"/>
            </a:solidFill>
            <a:ln cap="flat" cmpd="sng" w="25400">
              <a:solidFill>
                <a:srgbClr val="1D497D"/>
              </a:solidFill>
              <a:prstDash val="solid"/>
              <a:round/>
              <a:headEnd len="sm" w="sm" type="none"/>
              <a:tailEnd len="sm" w="sm" type="none"/>
            </a:ln>
            <a:effectLst>
              <a:outerShdw blurRad="40000" rotWithShape="0" dir="5400000" dist="20000">
                <a:srgbClr val="000000">
                  <a:alpha val="37647"/>
                </a:srgbClr>
              </a:outerShdw>
            </a:effectLst>
          </p:spPr>
        </p:cxnSp>
        <p:sp>
          <p:nvSpPr>
            <p:cNvPr id="205" name="Google Shape;205;p23"/>
            <p:cNvSpPr/>
            <p:nvPr/>
          </p:nvSpPr>
          <p:spPr>
            <a:xfrm>
              <a:off x="0" y="3263503"/>
              <a:ext cx="8090041" cy="326350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3"/>
            <p:cNvSpPr txBox="1"/>
            <p:nvPr/>
          </p:nvSpPr>
          <p:spPr>
            <a:xfrm>
              <a:off x="0" y="3263503"/>
              <a:ext cx="8090041" cy="3263503"/>
            </a:xfrm>
            <a:prstGeom prst="rect">
              <a:avLst/>
            </a:prstGeom>
            <a:noFill/>
            <a:ln>
              <a:noFill/>
            </a:ln>
          </p:spPr>
          <p:txBody>
            <a:bodyPr anchorCtr="0" anchor="t" bIns="121900" lIns="121900" spcFirstLastPara="1" rIns="121900" wrap="square" tIns="121900">
              <a:noAutofit/>
            </a:bodyPr>
            <a:lstStyle/>
            <a:p>
              <a:pPr indent="0" lvl="0" marL="0" marR="0" rtl="0" algn="l">
                <a:lnSpc>
                  <a:spcPct val="9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Cuando un procedimiento es llamado para su ejecucion, Visual Basic busca ese procedimiento en el modulo donde nos encontremos. Si no lo encuentra, entonces continua la busqueda en el resto de los modulos de la aplicacion</a:t>
              </a:r>
              <a:endParaRPr b="0" i="0" sz="3200" u="none" cap="none"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10" name="Shape 210"/>
        <p:cNvGrpSpPr/>
        <p:nvPr/>
      </p:nvGrpSpPr>
      <p:grpSpPr>
        <a:xfrm>
          <a:off x="0" y="0"/>
          <a:ext cx="0" cy="0"/>
          <a:chOff x="0" y="0"/>
          <a:chExt cx="0" cy="0"/>
        </a:xfrm>
      </p:grpSpPr>
      <p:sp>
        <p:nvSpPr>
          <p:cNvPr id="211" name="Google Shape;211;p24"/>
          <p:cNvSpPr txBox="1"/>
          <p:nvPr/>
        </p:nvSpPr>
        <p:spPr>
          <a:xfrm>
            <a:off x="1257300" y="547687"/>
            <a:ext cx="15773400" cy="198834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None/>
            </a:pPr>
            <a:r>
              <a:rPr b="0" i="0" lang="en-US" sz="4400" u="none" cap="none" strike="noStrike">
                <a:solidFill>
                  <a:schemeClr val="lt1"/>
                </a:solidFill>
                <a:latin typeface="Arial"/>
                <a:ea typeface="Arial"/>
                <a:cs typeface="Arial"/>
                <a:sym typeface="Arial"/>
              </a:rPr>
              <a:t>VARIABLES, DEFINICION Y ENTORNO</a:t>
            </a:r>
            <a:endParaRPr b="0" i="0" sz="4400" u="none" cap="none" strike="noStrike">
              <a:solidFill>
                <a:schemeClr val="lt1"/>
              </a:solidFill>
              <a:latin typeface="Arial"/>
              <a:ea typeface="Arial"/>
              <a:cs typeface="Arial"/>
              <a:sym typeface="Arial"/>
            </a:endParaRPr>
          </a:p>
        </p:txBody>
      </p:sp>
      <p:grpSp>
        <p:nvGrpSpPr>
          <p:cNvPr id="212" name="Google Shape;212;p24"/>
          <p:cNvGrpSpPr/>
          <p:nvPr/>
        </p:nvGrpSpPr>
        <p:grpSpPr>
          <a:xfrm>
            <a:off x="1259225" y="3499463"/>
            <a:ext cx="15769549" cy="5004954"/>
            <a:chOff x="1925" y="761026"/>
            <a:chExt cx="15769549" cy="5004954"/>
          </a:xfrm>
        </p:grpSpPr>
        <p:sp>
          <p:nvSpPr>
            <p:cNvPr id="213" name="Google Shape;213;p24"/>
            <p:cNvSpPr/>
            <p:nvPr/>
          </p:nvSpPr>
          <p:spPr>
            <a:xfrm>
              <a:off x="1925" y="761026"/>
              <a:ext cx="6758378" cy="4291570"/>
            </a:xfrm>
            <a:prstGeom prst="roundRect">
              <a:avLst>
                <a:gd fmla="val 10000" name="adj"/>
              </a:avLst>
            </a:prstGeom>
            <a:solidFill>
              <a:srgbClr val="1D497D"/>
            </a:solidFill>
            <a:ln cap="flat" cmpd="sng" w="25400">
              <a:solidFill>
                <a:srgbClr val="EEE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4"/>
            <p:cNvSpPr/>
            <p:nvPr/>
          </p:nvSpPr>
          <p:spPr>
            <a:xfrm>
              <a:off x="752856" y="1474410"/>
              <a:ext cx="6758378" cy="4291570"/>
            </a:xfrm>
            <a:prstGeom prst="roundRect">
              <a:avLst>
                <a:gd fmla="val 10000" name="adj"/>
              </a:avLst>
            </a:prstGeom>
            <a:solidFill>
              <a:srgbClr val="EEECE0">
                <a:alpha val="89803"/>
              </a:srgbClr>
            </a:solidFill>
            <a:ln cap="flat" cmpd="sng" w="25400">
              <a:solidFill>
                <a:srgbClr val="1D49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4"/>
            <p:cNvSpPr txBox="1"/>
            <p:nvPr/>
          </p:nvSpPr>
          <p:spPr>
            <a:xfrm>
              <a:off x="878552" y="1600106"/>
              <a:ext cx="6506986" cy="4040178"/>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Los tipos de variables dependen del lenguaje de programación cada lenguaje tiene sus propios tipos de datos y forma de definir variables.</a:t>
              </a:r>
              <a:endParaRPr/>
            </a:p>
            <a:p>
              <a:pPr indent="0" lvl="0" marL="0" marR="0" rtl="0" algn="ctr">
                <a:lnSpc>
                  <a:spcPct val="90000"/>
                </a:lnSpc>
                <a:spcBef>
                  <a:spcPts val="84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El tipado puede ser estático, cuando los tipos de variables se establecen al momento que se declaren o dinámico cuando el tipo se determina y se asigna durante la ejecución del programa.</a:t>
              </a:r>
              <a:endParaRPr b="0" i="0" sz="2400" u="none" cap="none" strike="noStrike">
                <a:solidFill>
                  <a:srgbClr val="000000"/>
                </a:solidFill>
                <a:latin typeface="Arial"/>
                <a:ea typeface="Arial"/>
                <a:cs typeface="Arial"/>
                <a:sym typeface="Arial"/>
              </a:endParaRPr>
            </a:p>
          </p:txBody>
        </p:sp>
        <p:sp>
          <p:nvSpPr>
            <p:cNvPr id="216" name="Google Shape;216;p24"/>
            <p:cNvSpPr/>
            <p:nvPr/>
          </p:nvSpPr>
          <p:spPr>
            <a:xfrm>
              <a:off x="8262165" y="761026"/>
              <a:ext cx="6758378" cy="4291570"/>
            </a:xfrm>
            <a:prstGeom prst="roundRect">
              <a:avLst>
                <a:gd fmla="val 10000" name="adj"/>
              </a:avLst>
            </a:prstGeom>
            <a:solidFill>
              <a:srgbClr val="1D497D"/>
            </a:solidFill>
            <a:ln cap="flat" cmpd="sng" w="25400">
              <a:solidFill>
                <a:srgbClr val="EEE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4"/>
            <p:cNvSpPr/>
            <p:nvPr/>
          </p:nvSpPr>
          <p:spPr>
            <a:xfrm>
              <a:off x="9013096" y="1474410"/>
              <a:ext cx="6758378" cy="4291570"/>
            </a:xfrm>
            <a:prstGeom prst="roundRect">
              <a:avLst>
                <a:gd fmla="val 10000" name="adj"/>
              </a:avLst>
            </a:prstGeom>
            <a:solidFill>
              <a:srgbClr val="EEECE0">
                <a:alpha val="89803"/>
              </a:srgbClr>
            </a:solidFill>
            <a:ln cap="flat" cmpd="sng" w="25400">
              <a:solidFill>
                <a:srgbClr val="1D49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4"/>
            <p:cNvSpPr txBox="1"/>
            <p:nvPr/>
          </p:nvSpPr>
          <p:spPr>
            <a:xfrm>
              <a:off x="9138792" y="1600106"/>
              <a:ext cx="6506986" cy="4040178"/>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Algunos tipos de variables más comunes son:</a:t>
              </a:r>
              <a:endParaRPr/>
            </a:p>
            <a:p>
              <a:pPr indent="0" lvl="0" marL="0" marR="0" rtl="0" algn="l">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Variables numéricas (Números Enteros)</a:t>
              </a:r>
              <a:endParaRPr/>
            </a:p>
            <a:p>
              <a:pPr indent="0" lvl="0" marL="0" marR="0" rtl="0" algn="l">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Variables de punto flotante (Números Decimales)</a:t>
              </a:r>
              <a:endParaRPr/>
            </a:p>
            <a:p>
              <a:pPr indent="0" lvl="0" marL="0" marR="0" rtl="0" algn="l">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Variables de caracteres (Símbolos o Caracteres)</a:t>
              </a:r>
              <a:endParaRPr/>
            </a:p>
            <a:p>
              <a:pPr indent="0" lvl="0" marL="0" marR="0" rtl="0" algn="l">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Variables de cadena de caracteres (Palabras y Textos)</a:t>
              </a:r>
              <a:endParaRPr/>
            </a:p>
            <a:p>
              <a:pPr indent="0" lvl="0" marL="0" marR="0" rtl="0" algn="l">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Variables lógicas o booleanas (Verdadero o Falso)</a:t>
              </a:r>
              <a:endParaRPr b="0" i="0" sz="2400" u="none" cap="none" strike="noStrike">
                <a:solidFill>
                  <a:srgbClr val="000000"/>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2" name="Shape 222"/>
        <p:cNvGrpSpPr/>
        <p:nvPr/>
      </p:nvGrpSpPr>
      <p:grpSpPr>
        <a:xfrm>
          <a:off x="0" y="0"/>
          <a:ext cx="0" cy="0"/>
          <a:chOff x="0" y="0"/>
          <a:chExt cx="0" cy="0"/>
        </a:xfrm>
      </p:grpSpPr>
      <p:sp>
        <p:nvSpPr>
          <p:cNvPr id="223" name="Google Shape;223;p25"/>
          <p:cNvSpPr/>
          <p:nvPr/>
        </p:nvSpPr>
        <p:spPr>
          <a:xfrm>
            <a:off x="-1" y="0"/>
            <a:ext cx="182835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4" name="Google Shape;224;p25"/>
          <p:cNvSpPr txBox="1"/>
          <p:nvPr/>
        </p:nvSpPr>
        <p:spPr>
          <a:xfrm>
            <a:off x="1257300" y="835492"/>
            <a:ext cx="15773400" cy="170054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None/>
            </a:pPr>
            <a:r>
              <a:rPr b="0" i="0" lang="en-US" sz="6000" u="none" cap="none" strike="noStrike">
                <a:solidFill>
                  <a:schemeClr val="dk1"/>
                </a:solidFill>
                <a:latin typeface="Arial"/>
                <a:ea typeface="Arial"/>
                <a:cs typeface="Arial"/>
                <a:sym typeface="Arial"/>
              </a:rPr>
              <a:t>REPASO CONDICIONES Y SELECT CASE</a:t>
            </a:r>
            <a:endParaRPr b="0" i="0" sz="6000" u="none" cap="none" strike="noStrike">
              <a:solidFill>
                <a:schemeClr val="dk1"/>
              </a:solidFill>
              <a:latin typeface="Arial"/>
              <a:ea typeface="Arial"/>
              <a:cs typeface="Arial"/>
              <a:sym typeface="Arial"/>
            </a:endParaRPr>
          </a:p>
        </p:txBody>
      </p:sp>
      <p:grpSp>
        <p:nvGrpSpPr>
          <p:cNvPr id="225" name="Google Shape;225;p25"/>
          <p:cNvGrpSpPr/>
          <p:nvPr/>
        </p:nvGrpSpPr>
        <p:grpSpPr>
          <a:xfrm>
            <a:off x="1259225" y="3499463"/>
            <a:ext cx="15769549" cy="5004954"/>
            <a:chOff x="1925" y="761026"/>
            <a:chExt cx="15769549" cy="5004954"/>
          </a:xfrm>
        </p:grpSpPr>
        <p:sp>
          <p:nvSpPr>
            <p:cNvPr id="226" name="Google Shape;226;p25"/>
            <p:cNvSpPr/>
            <p:nvPr/>
          </p:nvSpPr>
          <p:spPr>
            <a:xfrm>
              <a:off x="1925" y="761026"/>
              <a:ext cx="6758378" cy="4291570"/>
            </a:xfrm>
            <a:prstGeom prst="roundRect">
              <a:avLst>
                <a:gd fmla="val 10000" name="adj"/>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5"/>
            <p:cNvSpPr/>
            <p:nvPr/>
          </p:nvSpPr>
          <p:spPr>
            <a:xfrm>
              <a:off x="752856" y="1474410"/>
              <a:ext cx="6758378" cy="4291570"/>
            </a:xfrm>
            <a:prstGeom prst="roundRect">
              <a:avLst>
                <a:gd fmla="val 10000" name="adj"/>
              </a:avLst>
            </a:prstGeom>
            <a:solidFill>
              <a:schemeClr val="lt1">
                <a:alpha val="89803"/>
              </a:schemeClr>
            </a:solidFill>
            <a:ln cap="flat" cmpd="sng" w="254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5"/>
            <p:cNvSpPr txBox="1"/>
            <p:nvPr/>
          </p:nvSpPr>
          <p:spPr>
            <a:xfrm>
              <a:off x="878552" y="1600106"/>
              <a:ext cx="6506986" cy="4040178"/>
            </a:xfrm>
            <a:prstGeom prst="rect">
              <a:avLst/>
            </a:prstGeom>
            <a:noFill/>
            <a:ln>
              <a:noFill/>
            </a:ln>
          </p:spPr>
          <p:txBody>
            <a:bodyPr anchorCtr="0" anchor="ctr" bIns="102850" lIns="102850" spcFirstLastPara="1" rIns="102850" wrap="square" tIns="102850">
              <a:noAutofit/>
            </a:bodyPr>
            <a:lstStyle/>
            <a:p>
              <a:pPr indent="0" lvl="0" marL="0" marR="0" rtl="0" algn="ctr">
                <a:lnSpc>
                  <a:spcPct val="90000"/>
                </a:lnSpc>
                <a:spcBef>
                  <a:spcPts val="0"/>
                </a:spcBef>
                <a:spcAft>
                  <a:spcPts val="0"/>
                </a:spcAft>
                <a:buClr>
                  <a:srgbClr val="000000"/>
                </a:buClr>
                <a:buSzPts val="2700"/>
                <a:buFont typeface="Arial"/>
                <a:buNone/>
              </a:pPr>
              <a:r>
                <a:rPr b="0" i="0" lang="en-US" sz="2700" u="none" cap="none" strike="noStrike">
                  <a:solidFill>
                    <a:srgbClr val="000000"/>
                  </a:solidFill>
                  <a:latin typeface="Arial"/>
                  <a:ea typeface="Arial"/>
                  <a:cs typeface="Arial"/>
                  <a:sym typeface="Arial"/>
                </a:rPr>
                <a:t>Las estructuras condicionales nos permiten ejecutar una serie de instrucciones si cumple una determinada condición que nosotros le indiquemos.</a:t>
              </a:r>
              <a:endParaRPr/>
            </a:p>
            <a:p>
              <a:pPr indent="0" lvl="0" marL="0" marR="0" rtl="0" algn="ctr">
                <a:lnSpc>
                  <a:spcPct val="90000"/>
                </a:lnSpc>
                <a:spcBef>
                  <a:spcPts val="945"/>
                </a:spcBef>
                <a:spcAft>
                  <a:spcPts val="0"/>
                </a:spcAft>
                <a:buClr>
                  <a:srgbClr val="000000"/>
                </a:buClr>
                <a:buSzPts val="2700"/>
                <a:buFont typeface="Arial"/>
                <a:buNone/>
              </a:pPr>
              <a:r>
                <a:t/>
              </a:r>
              <a:endParaRPr b="0" i="0" sz="2700" u="none" cap="none" strike="noStrike">
                <a:solidFill>
                  <a:srgbClr val="000000"/>
                </a:solidFill>
                <a:latin typeface="Arial"/>
                <a:ea typeface="Arial"/>
                <a:cs typeface="Arial"/>
                <a:sym typeface="Arial"/>
              </a:endParaRPr>
            </a:p>
            <a:p>
              <a:pPr indent="0" lvl="0" marL="0" marR="0" rtl="0" algn="ctr">
                <a:lnSpc>
                  <a:spcPct val="90000"/>
                </a:lnSpc>
                <a:spcBef>
                  <a:spcPts val="945"/>
                </a:spcBef>
                <a:spcAft>
                  <a:spcPts val="0"/>
                </a:spcAft>
                <a:buClr>
                  <a:srgbClr val="000000"/>
                </a:buClr>
                <a:buSzPts val="2700"/>
                <a:buFont typeface="Arial"/>
                <a:buNone/>
              </a:pPr>
              <a:r>
                <a:rPr b="0" i="0" lang="en-US" sz="2700" u="none" cap="none" strike="noStrike">
                  <a:solidFill>
                    <a:srgbClr val="000000"/>
                  </a:solidFill>
                  <a:latin typeface="Arial"/>
                  <a:ea typeface="Arial"/>
                  <a:cs typeface="Arial"/>
                  <a:sym typeface="Arial"/>
                </a:rPr>
                <a:t>Es importante recordar que la condición debe dar un resultado booleano, por lo que lo mas normal es usar operadores relacionales y condicionales.</a:t>
              </a:r>
              <a:endParaRPr b="0" i="0" sz="2700" u="none" cap="none" strike="noStrike">
                <a:solidFill>
                  <a:srgbClr val="000000"/>
                </a:solidFill>
                <a:latin typeface="Arial"/>
                <a:ea typeface="Arial"/>
                <a:cs typeface="Arial"/>
                <a:sym typeface="Arial"/>
              </a:endParaRPr>
            </a:p>
          </p:txBody>
        </p:sp>
        <p:sp>
          <p:nvSpPr>
            <p:cNvPr id="229" name="Google Shape;229;p25"/>
            <p:cNvSpPr/>
            <p:nvPr/>
          </p:nvSpPr>
          <p:spPr>
            <a:xfrm>
              <a:off x="8262165" y="761026"/>
              <a:ext cx="6758378" cy="4291570"/>
            </a:xfrm>
            <a:prstGeom prst="roundRect">
              <a:avLst>
                <a:gd fmla="val 10000" name="adj"/>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5"/>
            <p:cNvSpPr/>
            <p:nvPr/>
          </p:nvSpPr>
          <p:spPr>
            <a:xfrm>
              <a:off x="9013096" y="1474410"/>
              <a:ext cx="6758378" cy="4291570"/>
            </a:xfrm>
            <a:prstGeom prst="roundRect">
              <a:avLst>
                <a:gd fmla="val 10000" name="adj"/>
              </a:avLst>
            </a:prstGeom>
            <a:solidFill>
              <a:schemeClr val="lt1">
                <a:alpha val="89803"/>
              </a:schemeClr>
            </a:solidFill>
            <a:ln cap="flat" cmpd="sng" w="254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5"/>
            <p:cNvSpPr txBox="1"/>
            <p:nvPr/>
          </p:nvSpPr>
          <p:spPr>
            <a:xfrm>
              <a:off x="9138792" y="1600106"/>
              <a:ext cx="6506986" cy="4040178"/>
            </a:xfrm>
            <a:prstGeom prst="rect">
              <a:avLst/>
            </a:prstGeom>
            <a:noFill/>
            <a:ln>
              <a:noFill/>
            </a:ln>
          </p:spPr>
          <p:txBody>
            <a:bodyPr anchorCtr="0" anchor="ctr" bIns="102850" lIns="102850" spcFirstLastPara="1" rIns="102850" wrap="square" tIns="102850">
              <a:noAutofit/>
            </a:bodyPr>
            <a:lstStyle/>
            <a:p>
              <a:pPr indent="0" lvl="0" marL="0" marR="0" rtl="0" algn="ctr">
                <a:lnSpc>
                  <a:spcPct val="90000"/>
                </a:lnSpc>
                <a:spcBef>
                  <a:spcPts val="0"/>
                </a:spcBef>
                <a:spcAft>
                  <a:spcPts val="0"/>
                </a:spcAft>
                <a:buClr>
                  <a:srgbClr val="000000"/>
                </a:buClr>
                <a:buSzPts val="2700"/>
                <a:buFont typeface="Arial"/>
                <a:buNone/>
              </a:pPr>
              <a:r>
                <a:rPr b="0" i="0" lang="en-US" sz="2700" u="none" cap="none" strike="noStrike">
                  <a:solidFill>
                    <a:srgbClr val="000000"/>
                  </a:solidFill>
                  <a:latin typeface="Arial"/>
                  <a:ea typeface="Arial"/>
                  <a:cs typeface="Arial"/>
                  <a:sym typeface="Arial"/>
                </a:rPr>
                <a:t>Existen varios tipos de estructuras condicionales:</a:t>
              </a:r>
              <a:endParaRPr/>
            </a:p>
            <a:p>
              <a:pPr indent="0" lvl="0" marL="0" marR="0" rtl="0" algn="ctr">
                <a:lnSpc>
                  <a:spcPct val="90000"/>
                </a:lnSpc>
                <a:spcBef>
                  <a:spcPts val="945"/>
                </a:spcBef>
                <a:spcAft>
                  <a:spcPts val="0"/>
                </a:spcAft>
                <a:buClr>
                  <a:srgbClr val="000000"/>
                </a:buClr>
                <a:buSzPts val="2700"/>
                <a:buFont typeface="Arial"/>
                <a:buNone/>
              </a:pPr>
              <a:r>
                <a:rPr b="0" i="0" lang="en-US" sz="2700" u="none" cap="none" strike="noStrike">
                  <a:solidFill>
                    <a:srgbClr val="000000"/>
                  </a:solidFill>
                  <a:latin typeface="Arial"/>
                  <a:ea typeface="Arial"/>
                  <a:cs typeface="Arial"/>
                  <a:sym typeface="Arial"/>
                </a:rPr>
                <a:t>IF</a:t>
              </a:r>
              <a:endParaRPr/>
            </a:p>
            <a:p>
              <a:pPr indent="0" lvl="0" marL="0" marR="0" rtl="0" algn="ctr">
                <a:lnSpc>
                  <a:spcPct val="90000"/>
                </a:lnSpc>
                <a:spcBef>
                  <a:spcPts val="945"/>
                </a:spcBef>
                <a:spcAft>
                  <a:spcPts val="0"/>
                </a:spcAft>
                <a:buClr>
                  <a:srgbClr val="000000"/>
                </a:buClr>
                <a:buSzPts val="2700"/>
                <a:buFont typeface="Arial"/>
                <a:buNone/>
              </a:pPr>
              <a:r>
                <a:rPr b="0" i="0" lang="en-US" sz="2700" u="none" cap="none" strike="noStrike">
                  <a:solidFill>
                    <a:srgbClr val="000000"/>
                  </a:solidFill>
                  <a:latin typeface="Arial"/>
                  <a:ea typeface="Arial"/>
                  <a:cs typeface="Arial"/>
                  <a:sym typeface="Arial"/>
                </a:rPr>
                <a:t>IF-ELSE</a:t>
              </a:r>
              <a:endParaRPr/>
            </a:p>
            <a:p>
              <a:pPr indent="0" lvl="0" marL="0" marR="0" rtl="0" algn="ctr">
                <a:lnSpc>
                  <a:spcPct val="90000"/>
                </a:lnSpc>
                <a:spcBef>
                  <a:spcPts val="945"/>
                </a:spcBef>
                <a:spcAft>
                  <a:spcPts val="0"/>
                </a:spcAft>
                <a:buClr>
                  <a:srgbClr val="000000"/>
                </a:buClr>
                <a:buSzPts val="2700"/>
                <a:buFont typeface="Arial"/>
                <a:buNone/>
              </a:pPr>
              <a:r>
                <a:rPr b="0" i="0" lang="en-US" sz="2700" u="none" cap="none" strike="noStrike">
                  <a:solidFill>
                    <a:srgbClr val="000000"/>
                  </a:solidFill>
                  <a:latin typeface="Arial"/>
                  <a:ea typeface="Arial"/>
                  <a:cs typeface="Arial"/>
                  <a:sym typeface="Arial"/>
                </a:rPr>
                <a:t>IF-ELSEIF</a:t>
              </a:r>
              <a:endParaRPr/>
            </a:p>
            <a:p>
              <a:pPr indent="0" lvl="0" marL="0" marR="0" rtl="0" algn="ctr">
                <a:lnSpc>
                  <a:spcPct val="90000"/>
                </a:lnSpc>
                <a:spcBef>
                  <a:spcPts val="945"/>
                </a:spcBef>
                <a:spcAft>
                  <a:spcPts val="0"/>
                </a:spcAft>
                <a:buClr>
                  <a:srgbClr val="000000"/>
                </a:buClr>
                <a:buSzPts val="2700"/>
                <a:buFont typeface="Arial"/>
                <a:buNone/>
              </a:pPr>
              <a:r>
                <a:rPr b="0" i="0" lang="en-US" sz="2700" u="none" cap="none" strike="noStrike">
                  <a:solidFill>
                    <a:srgbClr val="000000"/>
                  </a:solidFill>
                  <a:latin typeface="Arial"/>
                  <a:ea typeface="Arial"/>
                  <a:cs typeface="Arial"/>
                  <a:sym typeface="Arial"/>
                </a:rPr>
                <a:t>SELECT</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5" name="Shape 235"/>
        <p:cNvGrpSpPr/>
        <p:nvPr/>
      </p:nvGrpSpPr>
      <p:grpSpPr>
        <a:xfrm>
          <a:off x="0" y="0"/>
          <a:ext cx="0" cy="0"/>
          <a:chOff x="0" y="0"/>
          <a:chExt cx="0" cy="0"/>
        </a:xfrm>
      </p:grpSpPr>
      <p:sp>
        <p:nvSpPr>
          <p:cNvPr id="236" name="Google Shape;236;p26"/>
          <p:cNvSpPr/>
          <p:nvPr/>
        </p:nvSpPr>
        <p:spPr>
          <a:xfrm>
            <a:off x="0" y="0"/>
            <a:ext cx="182880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7" name="Google Shape;237;p26"/>
          <p:cNvSpPr/>
          <p:nvPr/>
        </p:nvSpPr>
        <p:spPr>
          <a:xfrm flipH="1">
            <a:off x="12865080" y="5003800"/>
            <a:ext cx="4937760" cy="48006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8" name="Google Shape;238;p26"/>
          <p:cNvSpPr/>
          <p:nvPr/>
        </p:nvSpPr>
        <p:spPr>
          <a:xfrm>
            <a:off x="962661" y="934912"/>
            <a:ext cx="16357579" cy="8411823"/>
          </a:xfrm>
          <a:prstGeom prst="rect">
            <a:avLst/>
          </a:prstGeom>
          <a:noFill/>
          <a:ln cap="flat" cmpd="sng" w="19050">
            <a:solidFill>
              <a:srgbClr val="3F3F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9" name="Google Shape;239;p26"/>
          <p:cNvSpPr txBox="1"/>
          <p:nvPr/>
        </p:nvSpPr>
        <p:spPr>
          <a:xfrm>
            <a:off x="1685034" y="1782955"/>
            <a:ext cx="14976922" cy="2395842"/>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None/>
            </a:pPr>
            <a:r>
              <a:rPr b="0" i="0" lang="en-US" sz="7700" u="none" cap="none" strike="noStrike">
                <a:solidFill>
                  <a:schemeClr val="dk1"/>
                </a:solidFill>
                <a:latin typeface="Arial"/>
                <a:ea typeface="Arial"/>
                <a:cs typeface="Arial"/>
                <a:sym typeface="Arial"/>
              </a:rPr>
              <a:t>REPASO CONDICIONES Y SELECT CASE</a:t>
            </a:r>
            <a:endParaRPr b="0" i="0" sz="7700" u="none" cap="none" strike="noStrike">
              <a:solidFill>
                <a:schemeClr val="dk1"/>
              </a:solidFill>
              <a:latin typeface="Arial"/>
              <a:ea typeface="Arial"/>
              <a:cs typeface="Arial"/>
              <a:sym typeface="Arial"/>
            </a:endParaRPr>
          </a:p>
        </p:txBody>
      </p:sp>
      <p:pic>
        <p:nvPicPr>
          <p:cNvPr id="240" name="Google Shape;240;p26"/>
          <p:cNvPicPr preferRelativeResize="0"/>
          <p:nvPr/>
        </p:nvPicPr>
        <p:blipFill rotWithShape="1">
          <a:blip r:embed="rId3">
            <a:alphaModFix/>
          </a:blip>
          <a:srcRect b="0" l="0" r="0" t="0"/>
          <a:stretch/>
        </p:blipFill>
        <p:spPr>
          <a:xfrm>
            <a:off x="1685035" y="5539018"/>
            <a:ext cx="5300978" cy="2069241"/>
          </a:xfrm>
          <a:prstGeom prst="rect">
            <a:avLst/>
          </a:prstGeom>
          <a:noFill/>
          <a:ln>
            <a:noFill/>
          </a:ln>
        </p:spPr>
      </p:pic>
      <p:grpSp>
        <p:nvGrpSpPr>
          <p:cNvPr id="241" name="Google Shape;241;p26"/>
          <p:cNvGrpSpPr/>
          <p:nvPr/>
        </p:nvGrpSpPr>
        <p:grpSpPr>
          <a:xfrm>
            <a:off x="7882890" y="4497417"/>
            <a:ext cx="6357385" cy="4092296"/>
            <a:chOff x="0" y="0"/>
            <a:chExt cx="6357385" cy="4092296"/>
          </a:xfrm>
        </p:grpSpPr>
        <p:cxnSp>
          <p:nvCxnSpPr>
            <p:cNvPr id="242" name="Google Shape;242;p26"/>
            <p:cNvCxnSpPr/>
            <p:nvPr/>
          </p:nvCxnSpPr>
          <p:spPr>
            <a:xfrm>
              <a:off x="0" y="0"/>
              <a:ext cx="6357385" cy="0"/>
            </a:xfrm>
            <a:prstGeom prst="straightConnector1">
              <a:avLst/>
            </a:prstGeom>
            <a:solidFill>
              <a:srgbClr val="49ACC5"/>
            </a:solidFill>
            <a:ln cap="flat" cmpd="sng" w="25400">
              <a:solidFill>
                <a:srgbClr val="49ACC5"/>
              </a:solidFill>
              <a:prstDash val="solid"/>
              <a:round/>
              <a:headEnd len="sm" w="sm" type="none"/>
              <a:tailEnd len="sm" w="sm" type="none"/>
            </a:ln>
            <a:effectLst>
              <a:outerShdw blurRad="40000" rotWithShape="0" dir="5400000" dist="20000">
                <a:srgbClr val="000000">
                  <a:alpha val="37647"/>
                </a:srgbClr>
              </a:outerShdw>
            </a:effectLst>
          </p:spPr>
        </p:cxnSp>
        <p:sp>
          <p:nvSpPr>
            <p:cNvPr id="243" name="Google Shape;243;p26"/>
            <p:cNvSpPr/>
            <p:nvPr/>
          </p:nvSpPr>
          <p:spPr>
            <a:xfrm>
              <a:off x="0" y="0"/>
              <a:ext cx="6357385" cy="204614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6"/>
            <p:cNvSpPr txBox="1"/>
            <p:nvPr/>
          </p:nvSpPr>
          <p:spPr>
            <a:xfrm>
              <a:off x="0" y="0"/>
              <a:ext cx="6357385" cy="2046148"/>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rgbClr val="000000"/>
                </a:buClr>
                <a:buSzPts val="2100"/>
                <a:buFont typeface="Arial"/>
                <a:buNone/>
              </a:pPr>
              <a:r>
                <a:rPr b="0" i="0" lang="en-US" sz="2100" u="none" cap="none" strike="noStrike">
                  <a:solidFill>
                    <a:srgbClr val="000000"/>
                  </a:solidFill>
                  <a:latin typeface="Arial"/>
                  <a:ea typeface="Arial"/>
                  <a:cs typeface="Arial"/>
                  <a:sym typeface="Arial"/>
                </a:rPr>
                <a:t>If, indicamos una condición si esta es verdadera se ejecuta el código interno, sino “No” se ejecuta las instrucciones de dentro.</a:t>
              </a:r>
              <a:endParaRPr/>
            </a:p>
            <a:p>
              <a:pPr indent="0" lvl="0" marL="0" marR="0" rtl="0" algn="l">
                <a:lnSpc>
                  <a:spcPct val="90000"/>
                </a:lnSpc>
                <a:spcBef>
                  <a:spcPts val="735"/>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a:p>
              <a:pPr indent="0" lvl="0" marL="0" marR="0" rtl="0" algn="l">
                <a:lnSpc>
                  <a:spcPct val="90000"/>
                </a:lnSpc>
                <a:spcBef>
                  <a:spcPts val="735"/>
                </a:spcBef>
                <a:spcAft>
                  <a:spcPts val="0"/>
                </a:spcAft>
                <a:buClr>
                  <a:srgbClr val="000000"/>
                </a:buClr>
                <a:buSzPts val="2100"/>
                <a:buFont typeface="Arial"/>
                <a:buNone/>
              </a:pPr>
              <a:r>
                <a:rPr b="0" i="0" lang="en-US" sz="2100" u="none" cap="none" strike="noStrike">
                  <a:solidFill>
                    <a:srgbClr val="000000"/>
                  </a:solidFill>
                  <a:latin typeface="Arial"/>
                  <a:ea typeface="Arial"/>
                  <a:cs typeface="Arial"/>
                  <a:sym typeface="Arial"/>
                </a:rPr>
                <a:t>Se suele leer como &lt;&lt; Si se cumple esta condición haz esto &gt;&gt;</a:t>
              </a:r>
              <a:endParaRPr b="0" i="0" sz="2100" u="none" cap="none" strike="noStrike">
                <a:solidFill>
                  <a:srgbClr val="000000"/>
                </a:solidFill>
                <a:latin typeface="Arial"/>
                <a:ea typeface="Arial"/>
                <a:cs typeface="Arial"/>
                <a:sym typeface="Arial"/>
              </a:endParaRPr>
            </a:p>
          </p:txBody>
        </p:sp>
        <p:cxnSp>
          <p:nvCxnSpPr>
            <p:cNvPr id="245" name="Google Shape;245;p26"/>
            <p:cNvCxnSpPr/>
            <p:nvPr/>
          </p:nvCxnSpPr>
          <p:spPr>
            <a:xfrm>
              <a:off x="0" y="2046148"/>
              <a:ext cx="6357385" cy="0"/>
            </a:xfrm>
            <a:prstGeom prst="straightConnector1">
              <a:avLst/>
            </a:prstGeom>
            <a:solidFill>
              <a:srgbClr val="49ACC5"/>
            </a:solidFill>
            <a:ln cap="flat" cmpd="sng" w="25400">
              <a:solidFill>
                <a:srgbClr val="49ACC5"/>
              </a:solidFill>
              <a:prstDash val="solid"/>
              <a:round/>
              <a:headEnd len="sm" w="sm" type="none"/>
              <a:tailEnd len="sm" w="sm" type="none"/>
            </a:ln>
            <a:effectLst>
              <a:outerShdw blurRad="40000" rotWithShape="0" dir="5400000" dist="20000">
                <a:srgbClr val="000000">
                  <a:alpha val="37647"/>
                </a:srgbClr>
              </a:outerShdw>
            </a:effectLst>
          </p:spPr>
        </p:cxnSp>
        <p:sp>
          <p:nvSpPr>
            <p:cNvPr id="246" name="Google Shape;246;p26"/>
            <p:cNvSpPr/>
            <p:nvPr/>
          </p:nvSpPr>
          <p:spPr>
            <a:xfrm>
              <a:off x="0" y="2046148"/>
              <a:ext cx="6357385" cy="204614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6"/>
            <p:cNvSpPr txBox="1"/>
            <p:nvPr/>
          </p:nvSpPr>
          <p:spPr>
            <a:xfrm>
              <a:off x="0" y="2046148"/>
              <a:ext cx="6357385" cy="2046148"/>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1" name="Shape 251"/>
        <p:cNvGrpSpPr/>
        <p:nvPr/>
      </p:nvGrpSpPr>
      <p:grpSpPr>
        <a:xfrm>
          <a:off x="0" y="0"/>
          <a:ext cx="0" cy="0"/>
          <a:chOff x="0" y="0"/>
          <a:chExt cx="0" cy="0"/>
        </a:xfrm>
      </p:grpSpPr>
      <p:sp>
        <p:nvSpPr>
          <p:cNvPr id="252" name="Google Shape;252;p27"/>
          <p:cNvSpPr/>
          <p:nvPr/>
        </p:nvSpPr>
        <p:spPr>
          <a:xfrm>
            <a:off x="0" y="0"/>
            <a:ext cx="182880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3" name="Google Shape;253;p27"/>
          <p:cNvSpPr/>
          <p:nvPr/>
        </p:nvSpPr>
        <p:spPr>
          <a:xfrm flipH="1">
            <a:off x="12865080" y="5003800"/>
            <a:ext cx="4937760" cy="48006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4" name="Google Shape;254;p27"/>
          <p:cNvSpPr/>
          <p:nvPr/>
        </p:nvSpPr>
        <p:spPr>
          <a:xfrm>
            <a:off x="962661" y="934912"/>
            <a:ext cx="16357579" cy="8411823"/>
          </a:xfrm>
          <a:prstGeom prst="rect">
            <a:avLst/>
          </a:prstGeom>
          <a:noFill/>
          <a:ln cap="flat" cmpd="sng" w="19050">
            <a:solidFill>
              <a:srgbClr val="3F3F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5" name="Google Shape;255;p27"/>
          <p:cNvSpPr txBox="1"/>
          <p:nvPr/>
        </p:nvSpPr>
        <p:spPr>
          <a:xfrm>
            <a:off x="1685034" y="1782955"/>
            <a:ext cx="14976922" cy="2395842"/>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None/>
            </a:pPr>
            <a:r>
              <a:rPr b="0" i="0" lang="en-US" sz="7700" u="none" cap="none" strike="noStrike">
                <a:solidFill>
                  <a:schemeClr val="dk1"/>
                </a:solidFill>
                <a:latin typeface="Arial"/>
                <a:ea typeface="Arial"/>
                <a:cs typeface="Arial"/>
                <a:sym typeface="Arial"/>
              </a:rPr>
              <a:t>REPASO CONDICIONES Y SELECT CASE</a:t>
            </a:r>
            <a:endParaRPr b="0" i="0" sz="7700" u="none" cap="none" strike="noStrike">
              <a:solidFill>
                <a:schemeClr val="dk1"/>
              </a:solidFill>
              <a:latin typeface="Arial"/>
              <a:ea typeface="Arial"/>
              <a:cs typeface="Arial"/>
              <a:sym typeface="Arial"/>
            </a:endParaRPr>
          </a:p>
        </p:txBody>
      </p:sp>
      <p:pic>
        <p:nvPicPr>
          <p:cNvPr descr="A computer screen shot of white text&#10;&#10;AI-generated content may be incorrect." id="256" name="Google Shape;256;p27"/>
          <p:cNvPicPr preferRelativeResize="0"/>
          <p:nvPr/>
        </p:nvPicPr>
        <p:blipFill rotWithShape="1">
          <a:blip r:embed="rId3">
            <a:alphaModFix/>
          </a:blip>
          <a:srcRect b="0" l="0" r="0" t="0"/>
          <a:stretch/>
        </p:blipFill>
        <p:spPr>
          <a:xfrm>
            <a:off x="1685035" y="5306013"/>
            <a:ext cx="5300978" cy="2535250"/>
          </a:xfrm>
          <a:prstGeom prst="rect">
            <a:avLst/>
          </a:prstGeom>
          <a:noFill/>
          <a:ln>
            <a:noFill/>
          </a:ln>
        </p:spPr>
      </p:pic>
      <p:grpSp>
        <p:nvGrpSpPr>
          <p:cNvPr id="257" name="Google Shape;257;p27"/>
          <p:cNvGrpSpPr/>
          <p:nvPr/>
        </p:nvGrpSpPr>
        <p:grpSpPr>
          <a:xfrm>
            <a:off x="7882890" y="4497417"/>
            <a:ext cx="6357385" cy="4092297"/>
            <a:chOff x="0" y="0"/>
            <a:chExt cx="6357385" cy="4092297"/>
          </a:xfrm>
        </p:grpSpPr>
        <p:cxnSp>
          <p:nvCxnSpPr>
            <p:cNvPr id="258" name="Google Shape;258;p27"/>
            <p:cNvCxnSpPr/>
            <p:nvPr/>
          </p:nvCxnSpPr>
          <p:spPr>
            <a:xfrm>
              <a:off x="0" y="0"/>
              <a:ext cx="6357385" cy="0"/>
            </a:xfrm>
            <a:prstGeom prst="straightConnector1">
              <a:avLst/>
            </a:prstGeom>
            <a:gradFill>
              <a:gsLst>
                <a:gs pos="0">
                  <a:srgbClr val="D03F3B"/>
                </a:gs>
                <a:gs pos="100000">
                  <a:srgbClr val="FF9995"/>
                </a:gs>
              </a:gsLst>
              <a:lin ang="16200000" scaled="0"/>
            </a:gradFill>
            <a:ln cap="flat" cmpd="sng" w="9525">
              <a:solidFill>
                <a:srgbClr val="BF504D"/>
              </a:solidFill>
              <a:prstDash val="solid"/>
              <a:round/>
              <a:headEnd len="sm" w="sm" type="none"/>
              <a:tailEnd len="sm" w="sm" type="none"/>
            </a:ln>
            <a:effectLst>
              <a:outerShdw blurRad="40000" rotWithShape="0" dir="5400000" dist="23000">
                <a:srgbClr val="000000">
                  <a:alpha val="34901"/>
                </a:srgbClr>
              </a:outerShdw>
            </a:effectLst>
          </p:spPr>
        </p:cxnSp>
        <p:sp>
          <p:nvSpPr>
            <p:cNvPr id="259" name="Google Shape;259;p27"/>
            <p:cNvSpPr/>
            <p:nvPr/>
          </p:nvSpPr>
          <p:spPr>
            <a:xfrm>
              <a:off x="0" y="0"/>
              <a:ext cx="6357385" cy="409229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7"/>
            <p:cNvSpPr txBox="1"/>
            <p:nvPr/>
          </p:nvSpPr>
          <p:spPr>
            <a:xfrm>
              <a:off x="0" y="0"/>
              <a:ext cx="6357385" cy="4092297"/>
            </a:xfrm>
            <a:prstGeom prst="rect">
              <a:avLst/>
            </a:prstGeom>
            <a:noFill/>
            <a:ln>
              <a:noFill/>
            </a:ln>
          </p:spPr>
          <p:txBody>
            <a:bodyPr anchorCtr="0" anchor="t" bIns="125725" lIns="125725" spcFirstLastPara="1" rIns="125725" wrap="square" tIns="125725">
              <a:noAutofit/>
            </a:bodyPr>
            <a:lstStyle/>
            <a:p>
              <a:pPr indent="0" lvl="0" marL="0" marR="0" rtl="0" algn="l">
                <a:lnSpc>
                  <a:spcPct val="90000"/>
                </a:lnSpc>
                <a:spcBef>
                  <a:spcPts val="0"/>
                </a:spcBef>
                <a:spcAft>
                  <a:spcPts val="0"/>
                </a:spcAft>
                <a:buClr>
                  <a:srgbClr val="000000"/>
                </a:buClr>
                <a:buSzPts val="3300"/>
                <a:buFont typeface="Arial"/>
                <a:buNone/>
              </a:pPr>
              <a:r>
                <a:rPr b="0" i="0" lang="en-US" sz="3300" u="none" cap="none" strike="noStrike">
                  <a:solidFill>
                    <a:srgbClr val="000000"/>
                  </a:solidFill>
                  <a:latin typeface="Arial"/>
                  <a:ea typeface="Arial"/>
                  <a:cs typeface="Arial"/>
                  <a:sym typeface="Arial"/>
                </a:rPr>
                <a:t>If-Else, esto sirve para que la condición del if no es verdadera, ejecute otras instrucciones que estarán dentro del else.</a:t>
              </a:r>
              <a:endParaRPr/>
            </a:p>
            <a:p>
              <a:pPr indent="0" lvl="0" marL="0" marR="0" rtl="0" algn="l">
                <a:lnSpc>
                  <a:spcPct val="90000"/>
                </a:lnSpc>
                <a:spcBef>
                  <a:spcPts val="1155"/>
                </a:spcBef>
                <a:spcAft>
                  <a:spcPts val="0"/>
                </a:spcAft>
                <a:buClr>
                  <a:srgbClr val="000000"/>
                </a:buClr>
                <a:buSzPts val="3300"/>
                <a:buFont typeface="Arial"/>
                <a:buNone/>
              </a:pPr>
              <a:r>
                <a:t/>
              </a:r>
              <a:endParaRPr b="0" i="0" sz="3300" u="none" cap="none" strike="noStrike">
                <a:solidFill>
                  <a:srgbClr val="000000"/>
                </a:solidFill>
                <a:latin typeface="Arial"/>
                <a:ea typeface="Arial"/>
                <a:cs typeface="Arial"/>
                <a:sym typeface="Arial"/>
              </a:endParaRPr>
            </a:p>
            <a:p>
              <a:pPr indent="0" lvl="0" marL="0" marR="0" rtl="0" algn="l">
                <a:lnSpc>
                  <a:spcPct val="90000"/>
                </a:lnSpc>
                <a:spcBef>
                  <a:spcPts val="1155"/>
                </a:spcBef>
                <a:spcAft>
                  <a:spcPts val="0"/>
                </a:spcAft>
                <a:buClr>
                  <a:srgbClr val="000000"/>
                </a:buClr>
                <a:buSzPts val="3300"/>
                <a:buFont typeface="Arial"/>
                <a:buNone/>
              </a:pPr>
              <a:r>
                <a:rPr b="0" i="0" lang="en-US" sz="3300" u="none" cap="none" strike="noStrike">
                  <a:solidFill>
                    <a:srgbClr val="000000"/>
                  </a:solidFill>
                  <a:latin typeface="Arial"/>
                  <a:ea typeface="Arial"/>
                  <a:cs typeface="Arial"/>
                  <a:sym typeface="Arial"/>
                </a:rPr>
                <a:t>Se suele leer como &lt;&lt; Si se cumple esta condición haz esto y sino haz esto &gt;&gt;</a:t>
              </a:r>
              <a:endParaRPr b="0" i="0" sz="3300" u="none" cap="none" strike="noStrike">
                <a:solidFill>
                  <a:srgbClr val="000000"/>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4" name="Shape 264"/>
        <p:cNvGrpSpPr/>
        <p:nvPr/>
      </p:nvGrpSpPr>
      <p:grpSpPr>
        <a:xfrm>
          <a:off x="0" y="0"/>
          <a:ext cx="0" cy="0"/>
          <a:chOff x="0" y="0"/>
          <a:chExt cx="0" cy="0"/>
        </a:xfrm>
      </p:grpSpPr>
      <p:sp>
        <p:nvSpPr>
          <p:cNvPr id="265" name="Google Shape;265;p28"/>
          <p:cNvSpPr/>
          <p:nvPr/>
        </p:nvSpPr>
        <p:spPr>
          <a:xfrm>
            <a:off x="0" y="0"/>
            <a:ext cx="18287998" cy="1028604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6" name="Google Shape;266;p28"/>
          <p:cNvSpPr txBox="1"/>
          <p:nvPr/>
        </p:nvSpPr>
        <p:spPr>
          <a:xfrm>
            <a:off x="1193292" y="580395"/>
            <a:ext cx="15212698" cy="1950831"/>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600"/>
              </a:spcAft>
              <a:buNone/>
            </a:pPr>
            <a:r>
              <a:rPr b="0" i="0" lang="en-US" sz="6100" u="none" cap="none" strike="noStrike">
                <a:solidFill>
                  <a:schemeClr val="dk1"/>
                </a:solidFill>
                <a:latin typeface="Arial"/>
                <a:ea typeface="Arial"/>
                <a:cs typeface="Arial"/>
                <a:sym typeface="Arial"/>
              </a:rPr>
              <a:t>REPASO CONDICIONES Y SELECT CASE</a:t>
            </a:r>
            <a:endParaRPr b="0" i="0" sz="6100" u="none" cap="none" strike="noStrike">
              <a:solidFill>
                <a:schemeClr val="dk1"/>
              </a:solidFill>
              <a:latin typeface="Arial"/>
              <a:ea typeface="Arial"/>
              <a:cs typeface="Arial"/>
              <a:sym typeface="Arial"/>
            </a:endParaRPr>
          </a:p>
        </p:txBody>
      </p:sp>
      <p:sp>
        <p:nvSpPr>
          <p:cNvPr id="267" name="Google Shape;267;p28"/>
          <p:cNvSpPr/>
          <p:nvPr/>
        </p:nvSpPr>
        <p:spPr>
          <a:xfrm rot="10800000">
            <a:off x="-3" y="2998267"/>
            <a:ext cx="17181892" cy="117254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8" name="Google Shape;268;p28"/>
          <p:cNvSpPr/>
          <p:nvPr/>
        </p:nvSpPr>
        <p:spPr>
          <a:xfrm>
            <a:off x="0" y="3304618"/>
            <a:ext cx="17075043" cy="6401987"/>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A screenshot of a computer program&#10;&#10;AI-generated content may be incorrect." id="269" name="Google Shape;269;p28">
            <a:hlinkClick r:id="rId3"/>
          </p:cNvPr>
          <p:cNvPicPr preferRelativeResize="0"/>
          <p:nvPr/>
        </p:nvPicPr>
        <p:blipFill rotWithShape="1">
          <a:blip r:embed="rId4">
            <a:alphaModFix/>
          </a:blip>
          <a:srcRect b="0" l="0" r="0" t="0"/>
          <a:stretch/>
        </p:blipFill>
        <p:spPr>
          <a:xfrm>
            <a:off x="952942" y="4960075"/>
            <a:ext cx="7725416" cy="3225360"/>
          </a:xfrm>
          <a:prstGeom prst="rect">
            <a:avLst/>
          </a:prstGeom>
          <a:noFill/>
          <a:ln>
            <a:noFill/>
          </a:ln>
        </p:spPr>
      </p:pic>
      <p:sp>
        <p:nvSpPr>
          <p:cNvPr id="270" name="Google Shape;270;p28"/>
          <p:cNvSpPr/>
          <p:nvPr/>
        </p:nvSpPr>
        <p:spPr>
          <a:xfrm rot="5400000">
            <a:off x="16842060" y="3469541"/>
            <a:ext cx="1172550" cy="228573"/>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271" name="Google Shape;271;p28"/>
          <p:cNvGrpSpPr/>
          <p:nvPr/>
        </p:nvGrpSpPr>
        <p:grpSpPr>
          <a:xfrm>
            <a:off x="9609643" y="3899263"/>
            <a:ext cx="6796347" cy="5459175"/>
            <a:chOff x="0" y="0"/>
            <a:chExt cx="6796347" cy="5459175"/>
          </a:xfrm>
        </p:grpSpPr>
        <p:cxnSp>
          <p:nvCxnSpPr>
            <p:cNvPr id="272" name="Google Shape;272;p28"/>
            <p:cNvCxnSpPr/>
            <p:nvPr/>
          </p:nvCxnSpPr>
          <p:spPr>
            <a:xfrm>
              <a:off x="0" y="0"/>
              <a:ext cx="6796347" cy="0"/>
            </a:xfrm>
            <a:prstGeom prst="straightConnector1">
              <a:avLst/>
            </a:prstGeom>
            <a:gradFill>
              <a:gsLst>
                <a:gs pos="0">
                  <a:srgbClr val="0E478B"/>
                </a:gs>
                <a:gs pos="100000">
                  <a:srgbClr val="A7B5DF"/>
                </a:gs>
              </a:gsLst>
              <a:lin ang="16200000" scaled="0"/>
            </a:gradFill>
            <a:ln cap="flat" cmpd="sng" w="9525">
              <a:solidFill>
                <a:srgbClr val="1D497D"/>
              </a:solidFill>
              <a:prstDash val="solid"/>
              <a:round/>
              <a:headEnd len="sm" w="sm" type="none"/>
              <a:tailEnd len="sm" w="sm" type="none"/>
            </a:ln>
            <a:effectLst>
              <a:outerShdw blurRad="40000" rotWithShape="0" dir="5400000" dist="23000">
                <a:srgbClr val="000000">
                  <a:alpha val="34901"/>
                </a:srgbClr>
              </a:outerShdw>
            </a:effectLst>
          </p:spPr>
        </p:cxnSp>
        <p:sp>
          <p:nvSpPr>
            <p:cNvPr id="273" name="Google Shape;273;p28"/>
            <p:cNvSpPr/>
            <p:nvPr/>
          </p:nvSpPr>
          <p:spPr>
            <a:xfrm>
              <a:off x="0" y="0"/>
              <a:ext cx="6796347" cy="545917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8"/>
            <p:cNvSpPr txBox="1"/>
            <p:nvPr/>
          </p:nvSpPr>
          <p:spPr>
            <a:xfrm>
              <a:off x="0" y="0"/>
              <a:ext cx="6796347" cy="5459175"/>
            </a:xfrm>
            <a:prstGeom prst="rect">
              <a:avLst/>
            </a:prstGeom>
            <a:noFill/>
            <a:ln>
              <a:noFill/>
            </a:ln>
          </p:spPr>
          <p:txBody>
            <a:bodyPr anchorCtr="0" anchor="t" bIns="137150" lIns="137150" spcFirstLastPara="1" rIns="137150" wrap="square" tIns="137150">
              <a:noAutofit/>
            </a:bodyPr>
            <a:lstStyle/>
            <a:p>
              <a:pPr indent="0" lvl="0" marL="0" marR="0" rtl="0" algn="l">
                <a:lnSpc>
                  <a:spcPct val="9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If-ElseIF, esta instrucción nos permite, que si no se cumple la condición podamos indicar otra condición para hacerlo aún mas especifico.</a:t>
              </a:r>
              <a:endParaRPr/>
            </a:p>
            <a:p>
              <a:pPr indent="0" lvl="0" marL="0" marR="0" rtl="0" algn="l">
                <a:lnSpc>
                  <a:spcPct val="90000"/>
                </a:lnSpc>
                <a:spcBef>
                  <a:spcPts val="126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a:p>
              <a:pPr indent="0" lvl="0" marL="0" marR="0" rtl="0" algn="l">
                <a:lnSpc>
                  <a:spcPct val="90000"/>
                </a:lnSpc>
                <a:spcBef>
                  <a:spcPts val="126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Se suele leer como &lt;&lt; Si se cumple esta condición haz esto y sino si cumple esta condición haz esto &gt;&gt;</a:t>
              </a:r>
              <a:endParaRPr b="0" i="0" sz="3600" u="none" cap="none" strike="noStrike">
                <a:solidFill>
                  <a:srgbClr val="000000"/>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8" name="Shape 278"/>
        <p:cNvGrpSpPr/>
        <p:nvPr/>
      </p:nvGrpSpPr>
      <p:grpSpPr>
        <a:xfrm>
          <a:off x="0" y="0"/>
          <a:ext cx="0" cy="0"/>
          <a:chOff x="0" y="0"/>
          <a:chExt cx="0" cy="0"/>
        </a:xfrm>
      </p:grpSpPr>
      <p:sp>
        <p:nvSpPr>
          <p:cNvPr id="279" name="Google Shape;279;p29"/>
          <p:cNvSpPr/>
          <p:nvPr/>
        </p:nvSpPr>
        <p:spPr>
          <a:xfrm>
            <a:off x="0" y="0"/>
            <a:ext cx="18287998" cy="1028604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0" name="Google Shape;280;p29"/>
          <p:cNvSpPr txBox="1"/>
          <p:nvPr/>
        </p:nvSpPr>
        <p:spPr>
          <a:xfrm>
            <a:off x="1193292" y="580395"/>
            <a:ext cx="15212698" cy="1950831"/>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600"/>
              </a:spcAft>
              <a:buNone/>
            </a:pPr>
            <a:r>
              <a:rPr b="0" i="0" lang="en-US" sz="6100" u="none" cap="none" strike="noStrike">
                <a:solidFill>
                  <a:schemeClr val="dk1"/>
                </a:solidFill>
                <a:latin typeface="Arial"/>
                <a:ea typeface="Arial"/>
                <a:cs typeface="Arial"/>
                <a:sym typeface="Arial"/>
              </a:rPr>
              <a:t>REPASO CONDICIONES Y SELECT CASE</a:t>
            </a:r>
            <a:endParaRPr b="0" i="0" sz="6100" u="none" cap="none" strike="noStrike">
              <a:solidFill>
                <a:schemeClr val="dk1"/>
              </a:solidFill>
              <a:latin typeface="Arial"/>
              <a:ea typeface="Arial"/>
              <a:cs typeface="Arial"/>
              <a:sym typeface="Arial"/>
            </a:endParaRPr>
          </a:p>
        </p:txBody>
      </p:sp>
      <p:sp>
        <p:nvSpPr>
          <p:cNvPr id="281" name="Google Shape;281;p29"/>
          <p:cNvSpPr/>
          <p:nvPr/>
        </p:nvSpPr>
        <p:spPr>
          <a:xfrm rot="10800000">
            <a:off x="-3" y="2998267"/>
            <a:ext cx="17181892" cy="117254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2" name="Google Shape;282;p29"/>
          <p:cNvSpPr/>
          <p:nvPr/>
        </p:nvSpPr>
        <p:spPr>
          <a:xfrm>
            <a:off x="0" y="3304618"/>
            <a:ext cx="17075043" cy="6401987"/>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A screenshot of a computer&#10;&#10;Description automatically generated" id="283" name="Google Shape;283;p29"/>
          <p:cNvPicPr preferRelativeResize="0"/>
          <p:nvPr/>
        </p:nvPicPr>
        <p:blipFill rotWithShape="1">
          <a:blip r:embed="rId3">
            <a:alphaModFix/>
          </a:blip>
          <a:srcRect b="0" l="0" r="0" t="0"/>
          <a:stretch/>
        </p:blipFill>
        <p:spPr>
          <a:xfrm>
            <a:off x="952942" y="5066299"/>
            <a:ext cx="7725416" cy="3012911"/>
          </a:xfrm>
          <a:prstGeom prst="rect">
            <a:avLst/>
          </a:prstGeom>
          <a:noFill/>
          <a:ln>
            <a:noFill/>
          </a:ln>
        </p:spPr>
      </p:pic>
      <p:sp>
        <p:nvSpPr>
          <p:cNvPr id="284" name="Google Shape;284;p29"/>
          <p:cNvSpPr/>
          <p:nvPr/>
        </p:nvSpPr>
        <p:spPr>
          <a:xfrm rot="5400000">
            <a:off x="16842060" y="3469541"/>
            <a:ext cx="1172550" cy="228573"/>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285" name="Google Shape;285;p29"/>
          <p:cNvGrpSpPr/>
          <p:nvPr/>
        </p:nvGrpSpPr>
        <p:grpSpPr>
          <a:xfrm>
            <a:off x="9609643" y="3899263"/>
            <a:ext cx="6796347" cy="5459175"/>
            <a:chOff x="0" y="0"/>
            <a:chExt cx="6796347" cy="5459175"/>
          </a:xfrm>
        </p:grpSpPr>
        <p:cxnSp>
          <p:nvCxnSpPr>
            <p:cNvPr id="286" name="Google Shape;286;p29"/>
            <p:cNvCxnSpPr/>
            <p:nvPr/>
          </p:nvCxnSpPr>
          <p:spPr>
            <a:xfrm>
              <a:off x="0" y="0"/>
              <a:ext cx="6796347" cy="0"/>
            </a:xfrm>
            <a:prstGeom prst="straightConnector1">
              <a:avLst/>
            </a:prstGeom>
            <a:solidFill>
              <a:srgbClr val="49ACC5"/>
            </a:solidFill>
            <a:ln cap="flat" cmpd="sng" w="25400">
              <a:solidFill>
                <a:srgbClr val="49ACC5"/>
              </a:solidFill>
              <a:prstDash val="solid"/>
              <a:round/>
              <a:headEnd len="sm" w="sm" type="none"/>
              <a:tailEnd len="sm" w="sm" type="none"/>
            </a:ln>
          </p:spPr>
        </p:cxnSp>
        <p:sp>
          <p:nvSpPr>
            <p:cNvPr id="287" name="Google Shape;287;p29"/>
            <p:cNvSpPr/>
            <p:nvPr/>
          </p:nvSpPr>
          <p:spPr>
            <a:xfrm>
              <a:off x="0" y="0"/>
              <a:ext cx="6796347" cy="545917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9"/>
            <p:cNvSpPr txBox="1"/>
            <p:nvPr/>
          </p:nvSpPr>
          <p:spPr>
            <a:xfrm>
              <a:off x="0" y="0"/>
              <a:ext cx="6796347" cy="5459175"/>
            </a:xfrm>
            <a:prstGeom prst="rect">
              <a:avLst/>
            </a:prstGeom>
            <a:noFill/>
            <a:ln>
              <a:noFill/>
            </a:ln>
          </p:spPr>
          <p:txBody>
            <a:bodyPr anchorCtr="0" anchor="t" bIns="129525" lIns="129525" spcFirstLastPara="1" rIns="129525" wrap="square" tIns="129525">
              <a:noAutofit/>
            </a:bodyPr>
            <a:lstStyle/>
            <a:p>
              <a:pPr indent="0" lvl="0" marL="0" marR="0" rtl="0" algn="l">
                <a:lnSpc>
                  <a:spcPct val="90000"/>
                </a:lnSpc>
                <a:spcBef>
                  <a:spcPts val="0"/>
                </a:spcBef>
                <a:spcAft>
                  <a:spcPts val="0"/>
                </a:spcAft>
                <a:buClr>
                  <a:srgbClr val="000000"/>
                </a:buClr>
                <a:buSzPts val="3400"/>
                <a:buFont typeface="Arial"/>
                <a:buNone/>
              </a:pPr>
              <a:r>
                <a:rPr b="0" i="0" lang="en-US" sz="3400" u="none" cap="none" strike="noStrike">
                  <a:solidFill>
                    <a:srgbClr val="000000"/>
                  </a:solidFill>
                  <a:latin typeface="Arial"/>
                  <a:ea typeface="Arial"/>
                  <a:cs typeface="Arial"/>
                  <a:sym typeface="Arial"/>
                </a:rPr>
                <a:t>Select, esta estructura condicional de selección múltiple, le damos un valor (puede ser una variable) y una lista de casos y si cumple alguno de los casos ejecuta las instrucciones asociadas a ella, en caso de que ninguna sea podemos indicarle que hace por defecto, normalmente se usa para indicar de u error con un mensaje.</a:t>
              </a:r>
              <a:endParaRPr b="0" i="0" sz="3400" u="none" cap="none" strike="noStrike">
                <a:solidFill>
                  <a:srgbClr val="000000"/>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2" name="Shape 292"/>
        <p:cNvGrpSpPr/>
        <p:nvPr/>
      </p:nvGrpSpPr>
      <p:grpSpPr>
        <a:xfrm>
          <a:off x="0" y="0"/>
          <a:ext cx="0" cy="0"/>
          <a:chOff x="0" y="0"/>
          <a:chExt cx="0" cy="0"/>
        </a:xfrm>
      </p:grpSpPr>
      <p:sp>
        <p:nvSpPr>
          <p:cNvPr id="293" name="Google Shape;293;p30"/>
          <p:cNvSpPr/>
          <p:nvPr/>
        </p:nvSpPr>
        <p:spPr>
          <a:xfrm>
            <a:off x="0" y="0"/>
            <a:ext cx="182880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4" name="Google Shape;294;p30"/>
          <p:cNvSpPr txBox="1"/>
          <p:nvPr/>
        </p:nvSpPr>
        <p:spPr>
          <a:xfrm>
            <a:off x="538758" y="1717153"/>
            <a:ext cx="5586325" cy="4344648"/>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600"/>
              </a:spcAft>
              <a:buNone/>
            </a:pPr>
            <a:r>
              <a:rPr b="0" i="0" lang="en-US" sz="6000" u="none" cap="none" strike="noStrike">
                <a:solidFill>
                  <a:schemeClr val="dk1"/>
                </a:solidFill>
                <a:latin typeface="Arial"/>
                <a:ea typeface="Arial"/>
                <a:cs typeface="Arial"/>
                <a:sym typeface="Arial"/>
              </a:rPr>
              <a:t>REPASO CONDICIONES Y SELECT CASE</a:t>
            </a:r>
            <a:endParaRPr b="0" i="0" sz="6000" u="none" cap="none" strike="noStrike">
              <a:solidFill>
                <a:schemeClr val="dk1"/>
              </a:solidFill>
              <a:latin typeface="Arial"/>
              <a:ea typeface="Arial"/>
              <a:cs typeface="Arial"/>
              <a:sym typeface="Arial"/>
            </a:endParaRPr>
          </a:p>
        </p:txBody>
      </p:sp>
      <p:sp>
        <p:nvSpPr>
          <p:cNvPr id="295" name="Google Shape;295;p30"/>
          <p:cNvSpPr/>
          <p:nvPr/>
        </p:nvSpPr>
        <p:spPr>
          <a:xfrm rot="5400000">
            <a:off x="1032374" y="520187"/>
            <a:ext cx="219456" cy="10561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descr="A screenshot of a computer program&#10;&#10;AI-generated content may be incorrect." id="296" name="Google Shape;296;p30"/>
          <p:cNvPicPr preferRelativeResize="0"/>
          <p:nvPr/>
        </p:nvPicPr>
        <p:blipFill rotWithShape="1">
          <a:blip r:embed="rId3">
            <a:alphaModFix/>
          </a:blip>
          <a:srcRect b="0" l="0" r="0" t="0"/>
          <a:stretch/>
        </p:blipFill>
        <p:spPr>
          <a:xfrm>
            <a:off x="6789226" y="1070932"/>
            <a:ext cx="5513832" cy="3384728"/>
          </a:xfrm>
          <a:prstGeom prst="rect">
            <a:avLst/>
          </a:prstGeom>
          <a:noFill/>
          <a:ln>
            <a:noFill/>
          </a:ln>
        </p:spPr>
      </p:pic>
      <p:pic>
        <p:nvPicPr>
          <p:cNvPr descr="A computer screen shot of a code&#10;&#10;AI-generated content may be incorrect." id="297" name="Google Shape;297;p30"/>
          <p:cNvPicPr preferRelativeResize="0"/>
          <p:nvPr/>
        </p:nvPicPr>
        <p:blipFill rotWithShape="1">
          <a:blip r:embed="rId4">
            <a:alphaModFix/>
          </a:blip>
          <a:srcRect b="0" l="0" r="0" t="0"/>
          <a:stretch/>
        </p:blipFill>
        <p:spPr>
          <a:xfrm>
            <a:off x="12467844" y="1181269"/>
            <a:ext cx="5513832" cy="3164055"/>
          </a:xfrm>
          <a:prstGeom prst="rect">
            <a:avLst/>
          </a:prstGeom>
          <a:noFill/>
          <a:ln>
            <a:noFill/>
          </a:ln>
        </p:spPr>
      </p:pic>
      <p:sp>
        <p:nvSpPr>
          <p:cNvPr id="298" name="Google Shape;298;p30"/>
          <p:cNvSpPr/>
          <p:nvPr/>
        </p:nvSpPr>
        <p:spPr>
          <a:xfrm>
            <a:off x="538756" y="6266622"/>
            <a:ext cx="5560289" cy="27432"/>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descr="A screenshot of a computer program&#10;&#10;AI-generated content may be incorrect." id="299" name="Google Shape;299;p30"/>
          <p:cNvPicPr preferRelativeResize="0"/>
          <p:nvPr/>
        </p:nvPicPr>
        <p:blipFill rotWithShape="1">
          <a:blip r:embed="rId5">
            <a:alphaModFix/>
          </a:blip>
          <a:srcRect b="0" l="0" r="0" t="0"/>
          <a:stretch/>
        </p:blipFill>
        <p:spPr>
          <a:xfrm>
            <a:off x="6789226" y="6149651"/>
            <a:ext cx="5513832" cy="2359682"/>
          </a:xfrm>
          <a:prstGeom prst="rect">
            <a:avLst/>
          </a:prstGeom>
          <a:noFill/>
          <a:ln>
            <a:noFill/>
          </a:ln>
        </p:spPr>
      </p:pic>
      <p:pic>
        <p:nvPicPr>
          <p:cNvPr descr="A screenshot of a computer program&#10;&#10;AI-generated content may be incorrect." id="300" name="Google Shape;300;p30"/>
          <p:cNvPicPr preferRelativeResize="0"/>
          <p:nvPr/>
        </p:nvPicPr>
        <p:blipFill rotWithShape="1">
          <a:blip r:embed="rId6">
            <a:alphaModFix/>
          </a:blip>
          <a:srcRect b="0" l="0" r="0" t="0"/>
          <a:stretch/>
        </p:blipFill>
        <p:spPr>
          <a:xfrm>
            <a:off x="12465499" y="5948135"/>
            <a:ext cx="5513832" cy="276272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4" name="Shape 304"/>
        <p:cNvGrpSpPr/>
        <p:nvPr/>
      </p:nvGrpSpPr>
      <p:grpSpPr>
        <a:xfrm>
          <a:off x="0" y="0"/>
          <a:ext cx="0" cy="0"/>
          <a:chOff x="0" y="0"/>
          <a:chExt cx="0" cy="0"/>
        </a:xfrm>
      </p:grpSpPr>
      <p:sp>
        <p:nvSpPr>
          <p:cNvPr id="305" name="Google Shape;305;p31"/>
          <p:cNvSpPr/>
          <p:nvPr/>
        </p:nvSpPr>
        <p:spPr>
          <a:xfrm rot="-5400000">
            <a:off x="1200150" y="2237015"/>
            <a:ext cx="5000624" cy="5248655"/>
          </a:xfrm>
          <a:prstGeom prst="downArrow">
            <a:avLst>
              <a:gd fmla="val 100000" name="adj1"/>
              <a:gd fmla="val 15788" name="adj2"/>
            </a:avLst>
          </a:prstGeom>
          <a:solidFill>
            <a:srgbClr val="4040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6" name="Google Shape;306;p31"/>
          <p:cNvSpPr txBox="1"/>
          <p:nvPr/>
        </p:nvSpPr>
        <p:spPr>
          <a:xfrm>
            <a:off x="1543050" y="2950899"/>
            <a:ext cx="3943350" cy="382088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600"/>
              </a:spcAft>
              <a:buNone/>
            </a:pPr>
            <a:r>
              <a:rPr b="0" i="0" lang="en-US" sz="5000" u="none" cap="none" strike="noStrike">
                <a:solidFill>
                  <a:srgbClr val="FFFFFF"/>
                </a:solidFill>
                <a:latin typeface="Arial"/>
                <a:ea typeface="Arial"/>
                <a:cs typeface="Arial"/>
                <a:sym typeface="Arial"/>
              </a:rPr>
              <a:t>CONTROLES BASICOS DE VISUAL BASIC .NET</a:t>
            </a:r>
            <a:endParaRPr b="0" i="0" sz="5000" u="none" cap="none" strike="noStrike">
              <a:solidFill>
                <a:srgbClr val="FFFFFF"/>
              </a:solidFill>
              <a:latin typeface="Arial"/>
              <a:ea typeface="Arial"/>
              <a:cs typeface="Arial"/>
              <a:sym typeface="Arial"/>
            </a:endParaRPr>
          </a:p>
        </p:txBody>
      </p:sp>
      <p:pic>
        <p:nvPicPr>
          <p:cNvPr descr="A screenshot of a computer&#10;&#10;Description automatically generated" id="307" name="Google Shape;307;p31">
            <a:hlinkClick r:id="rId3"/>
          </p:cNvPr>
          <p:cNvPicPr preferRelativeResize="0"/>
          <p:nvPr/>
        </p:nvPicPr>
        <p:blipFill rotWithShape="1">
          <a:blip r:embed="rId4">
            <a:alphaModFix/>
          </a:blip>
          <a:srcRect b="47985" l="0" r="0" t="0"/>
          <a:stretch/>
        </p:blipFill>
        <p:spPr>
          <a:xfrm>
            <a:off x="6390103" y="1479830"/>
            <a:ext cx="11680261" cy="644614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1" name="Shape 311"/>
        <p:cNvGrpSpPr/>
        <p:nvPr/>
      </p:nvGrpSpPr>
      <p:grpSpPr>
        <a:xfrm>
          <a:off x="0" y="0"/>
          <a:ext cx="0" cy="0"/>
          <a:chOff x="0" y="0"/>
          <a:chExt cx="0" cy="0"/>
        </a:xfrm>
      </p:grpSpPr>
      <p:sp>
        <p:nvSpPr>
          <p:cNvPr id="312" name="Google Shape;312;p32"/>
          <p:cNvSpPr/>
          <p:nvPr/>
        </p:nvSpPr>
        <p:spPr>
          <a:xfrm rot="-5400000">
            <a:off x="1200150" y="2237015"/>
            <a:ext cx="5000624" cy="5248655"/>
          </a:xfrm>
          <a:prstGeom prst="downArrow">
            <a:avLst>
              <a:gd fmla="val 100000" name="adj1"/>
              <a:gd fmla="val 15788" name="adj2"/>
            </a:avLst>
          </a:prstGeom>
          <a:solidFill>
            <a:srgbClr val="4040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3" name="Google Shape;313;p32"/>
          <p:cNvSpPr txBox="1"/>
          <p:nvPr/>
        </p:nvSpPr>
        <p:spPr>
          <a:xfrm>
            <a:off x="1543050" y="2950899"/>
            <a:ext cx="3943350" cy="382088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600"/>
              </a:spcAft>
              <a:buNone/>
            </a:pPr>
            <a:r>
              <a:rPr b="0" i="0" lang="en-US" sz="5000" u="none" cap="none" strike="noStrike">
                <a:solidFill>
                  <a:srgbClr val="FFFFFF"/>
                </a:solidFill>
                <a:latin typeface="Arial"/>
                <a:ea typeface="Arial"/>
                <a:cs typeface="Arial"/>
                <a:sym typeface="Arial"/>
              </a:rPr>
              <a:t>CONTROLES BASICOS DE VISUAL BASIC .NET</a:t>
            </a:r>
            <a:endParaRPr b="0" i="0" sz="5000" u="none" cap="none" strike="noStrike">
              <a:solidFill>
                <a:srgbClr val="FFFFFF"/>
              </a:solidFill>
              <a:latin typeface="Arial"/>
              <a:ea typeface="Arial"/>
              <a:cs typeface="Arial"/>
              <a:sym typeface="Arial"/>
            </a:endParaRPr>
          </a:p>
        </p:txBody>
      </p:sp>
      <p:pic>
        <p:nvPicPr>
          <p:cNvPr descr="A screenshot of a computer&#10;&#10;AI-generated content may be incorrect." id="314" name="Google Shape;314;p32">
            <a:hlinkClick r:id="rId3"/>
          </p:cNvPr>
          <p:cNvPicPr preferRelativeResize="0"/>
          <p:nvPr/>
        </p:nvPicPr>
        <p:blipFill rotWithShape="1">
          <a:blip r:embed="rId4">
            <a:alphaModFix/>
          </a:blip>
          <a:srcRect b="0" l="0" r="0" t="51749"/>
          <a:stretch/>
        </p:blipFill>
        <p:spPr>
          <a:xfrm>
            <a:off x="6220875" y="1567543"/>
            <a:ext cx="12067125" cy="617772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3"/>
          <p:cNvSpPr txBox="1"/>
          <p:nvPr>
            <p:ph type="title"/>
          </p:nvPr>
        </p:nvSpPr>
        <p:spPr>
          <a:xfrm>
            <a:off x="867657" y="8537306"/>
            <a:ext cx="16544424" cy="85010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SzPts val="4400"/>
              <a:buNone/>
            </a:pPr>
            <a:r>
              <a:rPr lang="en-US"/>
              <a:t>Ejemplo practico</a:t>
            </a:r>
            <a:endParaRPr/>
          </a:p>
        </p:txBody>
      </p:sp>
      <p:sp>
        <p:nvSpPr>
          <p:cNvPr id="320" name="Google Shape;320;p33"/>
          <p:cNvSpPr txBox="1"/>
          <p:nvPr/>
        </p:nvSpPr>
        <p:spPr>
          <a:xfrm>
            <a:off x="1758851" y="899588"/>
            <a:ext cx="14762037" cy="6593600"/>
          </a:xfrm>
          <a:prstGeom prst="rect">
            <a:avLst/>
          </a:prstGeom>
          <a:noFill/>
          <a:ln>
            <a:noFill/>
          </a:ln>
        </p:spPr>
        <p:txBody>
          <a:bodyPr anchorCtr="0" anchor="t" bIns="45700" lIns="91425" spcFirstLastPara="1" rIns="91425" wrap="square" tIns="45700">
            <a:spAutoFit/>
          </a:bodyPr>
          <a:lstStyle/>
          <a:p>
            <a:pPr indent="-372905" lvl="0" marL="372905" marR="0" rtl="0" algn="l">
              <a:lnSpc>
                <a:spcPct val="100000"/>
              </a:lnSpc>
              <a:spcBef>
                <a:spcPts val="0"/>
              </a:spcBef>
              <a:spcAft>
                <a:spcPts val="0"/>
              </a:spcAft>
              <a:buClr>
                <a:srgbClr val="000000"/>
              </a:buClr>
              <a:buSzPts val="2349"/>
              <a:buFont typeface="Arial"/>
              <a:buChar char="•"/>
            </a:pPr>
            <a:r>
              <a:rPr b="0" i="0" lang="en-US" sz="2349" u="none" cap="none" strike="noStrike">
                <a:solidFill>
                  <a:schemeClr val="dk1"/>
                </a:solidFill>
                <a:latin typeface="Arial"/>
                <a:ea typeface="Arial"/>
                <a:cs typeface="Arial"/>
                <a:sym typeface="Arial"/>
              </a:rPr>
              <a:t>Una compañía de seguros para autos ofrece dos tipos de póliza:</a:t>
            </a:r>
            <a:endParaRPr/>
          </a:p>
          <a:p>
            <a:pPr indent="-372905" lvl="1" marL="1058705" marR="0" rtl="0" algn="l">
              <a:lnSpc>
                <a:spcPct val="100000"/>
              </a:lnSpc>
              <a:spcBef>
                <a:spcPts val="900"/>
              </a:spcBef>
              <a:spcAft>
                <a:spcPts val="0"/>
              </a:spcAft>
              <a:buClr>
                <a:srgbClr val="000000"/>
              </a:buClr>
              <a:buSzPts val="2349"/>
              <a:buFont typeface="Arial"/>
              <a:buChar char="•"/>
            </a:pPr>
            <a:r>
              <a:rPr b="0" i="0" lang="en-US" sz="2349" u="none" cap="none" strike="noStrike">
                <a:solidFill>
                  <a:srgbClr val="000000"/>
                </a:solidFill>
                <a:latin typeface="Arial"/>
                <a:ea typeface="Arial"/>
                <a:cs typeface="Arial"/>
                <a:sym typeface="Arial"/>
              </a:rPr>
              <a:t>Cobertura Amplica (A)</a:t>
            </a:r>
            <a:r>
              <a:rPr b="0" i="0" lang="en-US" sz="2349" u="none" cap="none" strike="noStrike">
                <a:solidFill>
                  <a:schemeClr val="dk1"/>
                </a:solidFill>
                <a:latin typeface="Arial"/>
                <a:ea typeface="Arial"/>
                <a:cs typeface="Arial"/>
                <a:sym typeface="Arial"/>
              </a:rPr>
              <a:t>.</a:t>
            </a:r>
            <a:endParaRPr/>
          </a:p>
          <a:p>
            <a:pPr indent="-372905" lvl="1" marL="1058705" marR="0" rtl="0" algn="l">
              <a:lnSpc>
                <a:spcPct val="100000"/>
              </a:lnSpc>
              <a:spcBef>
                <a:spcPts val="900"/>
              </a:spcBef>
              <a:spcAft>
                <a:spcPts val="0"/>
              </a:spcAft>
              <a:buClr>
                <a:srgbClr val="000000"/>
              </a:buClr>
              <a:buSzPts val="2349"/>
              <a:buFont typeface="Arial"/>
              <a:buChar char="•"/>
            </a:pPr>
            <a:r>
              <a:rPr b="0" i="0" lang="en-US" sz="2349" u="none" cap="none" strike="noStrike">
                <a:solidFill>
                  <a:srgbClr val="000000"/>
                </a:solidFill>
                <a:latin typeface="Arial"/>
                <a:ea typeface="Arial"/>
                <a:cs typeface="Arial"/>
                <a:sym typeface="Arial"/>
              </a:rPr>
              <a:t>Daños a terceros (B).</a:t>
            </a:r>
            <a:endParaRPr/>
          </a:p>
          <a:p>
            <a:pPr indent="0" lvl="1" marL="0" marR="0" rtl="0" algn="l">
              <a:lnSpc>
                <a:spcPct val="100000"/>
              </a:lnSpc>
              <a:spcBef>
                <a:spcPts val="900"/>
              </a:spcBef>
              <a:spcAft>
                <a:spcPts val="0"/>
              </a:spcAft>
              <a:buNone/>
            </a:pPr>
            <a:r>
              <a:t/>
            </a:r>
            <a:endParaRPr b="0" i="0" sz="2349" u="none" cap="none" strike="noStrike">
              <a:solidFill>
                <a:srgbClr val="000000"/>
              </a:solidFill>
              <a:latin typeface="Arial"/>
              <a:ea typeface="Arial"/>
              <a:cs typeface="Arial"/>
              <a:sym typeface="Arial"/>
            </a:endParaRPr>
          </a:p>
          <a:p>
            <a:pPr indent="-372905" lvl="0" marL="372905" marR="0" rtl="0" algn="l">
              <a:lnSpc>
                <a:spcPct val="100000"/>
              </a:lnSpc>
              <a:spcBef>
                <a:spcPts val="900"/>
              </a:spcBef>
              <a:spcAft>
                <a:spcPts val="0"/>
              </a:spcAft>
              <a:buClr>
                <a:srgbClr val="000000"/>
              </a:buClr>
              <a:buSzPts val="2100"/>
              <a:buFont typeface="Arial"/>
              <a:buChar char="•"/>
            </a:pPr>
            <a:r>
              <a:rPr b="0" i="0" lang="en-US" sz="2100" u="none" cap="none" strike="noStrike">
                <a:solidFill>
                  <a:srgbClr val="000000"/>
                </a:solidFill>
                <a:latin typeface="Arial"/>
                <a:ea typeface="Arial"/>
                <a:cs typeface="Arial"/>
                <a:sym typeface="Arial"/>
              </a:rPr>
              <a:t>Para le plan A la cuota base es de $ 500.00 y para el plan B de $ 250.00</a:t>
            </a:r>
            <a:endParaRPr/>
          </a:p>
          <a:p>
            <a:pPr indent="0" lvl="0" marL="0" marR="0" rtl="0" algn="l">
              <a:lnSpc>
                <a:spcPct val="100000"/>
              </a:lnSpc>
              <a:spcBef>
                <a:spcPts val="900"/>
              </a:spcBef>
              <a:spcAft>
                <a:spcPts val="0"/>
              </a:spcAft>
              <a:buNone/>
            </a:pPr>
            <a:r>
              <a:t/>
            </a:r>
            <a:endParaRPr b="0" i="0" sz="2100" u="none" cap="none" strike="noStrike">
              <a:solidFill>
                <a:srgbClr val="000000"/>
              </a:solidFill>
              <a:latin typeface="Arial"/>
              <a:ea typeface="Arial"/>
              <a:cs typeface="Arial"/>
              <a:sym typeface="Arial"/>
            </a:endParaRPr>
          </a:p>
          <a:p>
            <a:pPr indent="-372905" lvl="0" marL="372905" marR="0" rtl="0" algn="l">
              <a:lnSpc>
                <a:spcPct val="100000"/>
              </a:lnSpc>
              <a:spcBef>
                <a:spcPts val="900"/>
              </a:spcBef>
              <a:spcAft>
                <a:spcPts val="0"/>
              </a:spcAft>
              <a:buClr>
                <a:srgbClr val="000000"/>
              </a:buClr>
              <a:buSzPts val="2100"/>
              <a:buFont typeface="Arial"/>
              <a:buChar char="•"/>
            </a:pPr>
            <a:r>
              <a:rPr b="0" i="0" lang="en-US" sz="2100" u="none" cap="none" strike="noStrike">
                <a:solidFill>
                  <a:srgbClr val="000000"/>
                </a:solidFill>
                <a:latin typeface="Arial"/>
                <a:ea typeface="Arial"/>
                <a:cs typeface="Arial"/>
                <a:sym typeface="Arial"/>
              </a:rPr>
              <a:t>Ambos planes se les carga 10% del costo</a:t>
            </a:r>
            <a:endParaRPr/>
          </a:p>
          <a:p>
            <a:pPr indent="-372905" lvl="1" marL="1058705" marR="0" rtl="0" algn="l">
              <a:lnSpc>
                <a:spcPct val="100000"/>
              </a:lnSpc>
              <a:spcBef>
                <a:spcPts val="900"/>
              </a:spcBef>
              <a:spcAft>
                <a:spcPts val="0"/>
              </a:spcAft>
              <a:buClr>
                <a:srgbClr val="000000"/>
              </a:buClr>
              <a:buSzPts val="2100"/>
              <a:buFont typeface="Arial"/>
              <a:buChar char="•"/>
            </a:pPr>
            <a:r>
              <a:rPr b="0" i="0" lang="en-US" sz="2100" u="none" cap="none" strike="noStrike">
                <a:solidFill>
                  <a:srgbClr val="000000"/>
                </a:solidFill>
                <a:latin typeface="Arial"/>
                <a:ea typeface="Arial"/>
                <a:cs typeface="Arial"/>
                <a:sym typeface="Arial"/>
              </a:rPr>
              <a:t>Si la persona que conduce bebe alcohol</a:t>
            </a:r>
            <a:endParaRPr/>
          </a:p>
          <a:p>
            <a:pPr indent="-372905" lvl="1" marL="1058705" marR="0" rtl="0" algn="l">
              <a:lnSpc>
                <a:spcPct val="100000"/>
              </a:lnSpc>
              <a:spcBef>
                <a:spcPts val="900"/>
              </a:spcBef>
              <a:spcAft>
                <a:spcPts val="0"/>
              </a:spcAft>
              <a:buClr>
                <a:srgbClr val="000000"/>
              </a:buClr>
              <a:buSzPts val="2100"/>
              <a:buFont typeface="Arial"/>
              <a:buChar char="•"/>
            </a:pPr>
            <a:r>
              <a:rPr b="0" i="0" lang="en-US" sz="2100" u="none" cap="none" strike="noStrike">
                <a:solidFill>
                  <a:srgbClr val="000000"/>
                </a:solidFill>
                <a:latin typeface="Arial"/>
                <a:ea typeface="Arial"/>
                <a:cs typeface="Arial"/>
                <a:sym typeface="Arial"/>
              </a:rPr>
              <a:t>5% si utiliza lentes</a:t>
            </a:r>
            <a:endParaRPr/>
          </a:p>
          <a:p>
            <a:pPr indent="-372905" lvl="1" marL="1058705" marR="0" rtl="0" algn="l">
              <a:lnSpc>
                <a:spcPct val="100000"/>
              </a:lnSpc>
              <a:spcBef>
                <a:spcPts val="900"/>
              </a:spcBef>
              <a:spcAft>
                <a:spcPts val="0"/>
              </a:spcAft>
              <a:buClr>
                <a:srgbClr val="000000"/>
              </a:buClr>
              <a:buSzPts val="2100"/>
              <a:buFont typeface="Arial"/>
              <a:buChar char="•"/>
            </a:pPr>
            <a:r>
              <a:rPr b="0" i="0" lang="en-US" sz="2100" u="none" cap="none" strike="noStrike">
                <a:solidFill>
                  <a:srgbClr val="000000"/>
                </a:solidFill>
                <a:latin typeface="Arial"/>
                <a:ea typeface="Arial"/>
                <a:cs typeface="Arial"/>
                <a:sym typeface="Arial"/>
              </a:rPr>
              <a:t>5% si padece alguna enfermedad</a:t>
            </a:r>
            <a:endParaRPr/>
          </a:p>
          <a:p>
            <a:pPr indent="-372905" lvl="1" marL="1058705" marR="0" rtl="0" algn="l">
              <a:lnSpc>
                <a:spcPct val="100000"/>
              </a:lnSpc>
              <a:spcBef>
                <a:spcPts val="900"/>
              </a:spcBef>
              <a:spcAft>
                <a:spcPts val="0"/>
              </a:spcAft>
              <a:buClr>
                <a:srgbClr val="000000"/>
              </a:buClr>
              <a:buSzPts val="2100"/>
              <a:buFont typeface="Arial"/>
              <a:buChar char="•"/>
            </a:pPr>
            <a:r>
              <a:rPr b="0" i="0" lang="en-US" sz="2100" u="none" cap="none" strike="noStrike">
                <a:solidFill>
                  <a:srgbClr val="000000"/>
                </a:solidFill>
                <a:latin typeface="Arial"/>
                <a:ea typeface="Arial"/>
                <a:cs typeface="Arial"/>
                <a:sym typeface="Arial"/>
              </a:rPr>
              <a:t>Si tiene más de 40 años se le carga 20% de lo contrario sólo 10%</a:t>
            </a:r>
            <a:endParaRPr/>
          </a:p>
          <a:p>
            <a:pPr indent="0" lvl="1" marL="0" marR="0" rtl="0" algn="l">
              <a:lnSpc>
                <a:spcPct val="100000"/>
              </a:lnSpc>
              <a:spcBef>
                <a:spcPts val="900"/>
              </a:spcBef>
              <a:spcAft>
                <a:spcPts val="0"/>
              </a:spcAft>
              <a:buNone/>
            </a:pPr>
            <a:r>
              <a:t/>
            </a:r>
            <a:endParaRPr b="0" i="0" sz="2100" u="none" cap="none" strike="noStrike">
              <a:solidFill>
                <a:srgbClr val="000000"/>
              </a:solidFill>
              <a:latin typeface="Arial"/>
              <a:ea typeface="Arial"/>
              <a:cs typeface="Arial"/>
              <a:sym typeface="Arial"/>
            </a:endParaRPr>
          </a:p>
          <a:p>
            <a:pPr indent="-372905" lvl="0" marL="372905" marR="0" rtl="0" algn="l">
              <a:lnSpc>
                <a:spcPct val="100000"/>
              </a:lnSpc>
              <a:spcBef>
                <a:spcPts val="900"/>
              </a:spcBef>
              <a:spcAft>
                <a:spcPts val="0"/>
              </a:spcAft>
              <a:buClr>
                <a:srgbClr val="000000"/>
              </a:buClr>
              <a:buSzPts val="2100"/>
              <a:buFont typeface="Arial"/>
              <a:buChar char="•"/>
            </a:pPr>
            <a:r>
              <a:rPr b="0" i="0" lang="en-US" sz="2100" u="none" cap="none" strike="noStrike">
                <a:solidFill>
                  <a:srgbClr val="000000"/>
                </a:solidFill>
                <a:latin typeface="Arial"/>
                <a:ea typeface="Arial"/>
                <a:cs typeface="Arial"/>
                <a:sym typeface="Arial"/>
              </a:rPr>
              <a:t>El programa se le solicita que ingrese los datos del cliente siendo estos: Nombre, tipo de licencia, DPI, No. Licencia y género.</a:t>
            </a:r>
            <a:endParaRPr/>
          </a:p>
          <a:p>
            <a:pPr indent="-239555" lvl="0" marL="372905" marR="0" rtl="0" algn="l">
              <a:lnSpc>
                <a:spcPct val="100000"/>
              </a:lnSpc>
              <a:spcBef>
                <a:spcPts val="90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326" name="Google Shape;326;p6"/>
          <p:cNvSpPr txBox="1"/>
          <p:nvPr/>
        </p:nvSpPr>
        <p:spPr>
          <a:xfrm>
            <a:off x="2507390" y="3538103"/>
            <a:ext cx="11773386" cy="2843855"/>
          </a:xfrm>
          <a:prstGeom prst="rect">
            <a:avLst/>
          </a:prstGeom>
          <a:noFill/>
          <a:ln>
            <a:noFill/>
          </a:ln>
        </p:spPr>
        <p:txBody>
          <a:bodyPr anchorCtr="0" anchor="t" bIns="0" lIns="0" spcFirstLastPara="1" rIns="0" wrap="square" tIns="0">
            <a:spAutoFit/>
          </a:bodyPr>
          <a:lstStyle/>
          <a:p>
            <a:pPr indent="-457200" lvl="0" marL="457200" marR="0" rtl="0" algn="l">
              <a:lnSpc>
                <a:spcPct val="140019"/>
              </a:lnSpc>
              <a:spcBef>
                <a:spcPts val="0"/>
              </a:spcBef>
              <a:spcAft>
                <a:spcPts val="0"/>
              </a:spcAft>
              <a:buClr>
                <a:srgbClr val="000000"/>
              </a:buClr>
              <a:buSzPts val="4400"/>
              <a:buFont typeface="Arial"/>
              <a:buChar char="•"/>
            </a:pPr>
            <a:r>
              <a:rPr b="0" i="0" lang="en-US" sz="4400" u="none" cap="none" strike="noStrike">
                <a:solidFill>
                  <a:srgbClr val="131416"/>
                </a:solidFill>
                <a:latin typeface="Arial"/>
                <a:ea typeface="Arial"/>
                <a:cs typeface="Arial"/>
                <a:sym typeface="Arial"/>
              </a:rPr>
              <a:t>USO DE FUNCIONES Y PROCEDIMIENTOS</a:t>
            </a:r>
            <a:endParaRPr/>
          </a:p>
          <a:p>
            <a:pPr indent="-285750" lvl="0" marL="285750" marR="0" rtl="0" algn="l">
              <a:lnSpc>
                <a:spcPct val="140019"/>
              </a:lnSpc>
              <a:spcBef>
                <a:spcPts val="0"/>
              </a:spcBef>
              <a:spcAft>
                <a:spcPts val="0"/>
              </a:spcAft>
              <a:buClr>
                <a:srgbClr val="000000"/>
              </a:buClr>
              <a:buSzPts val="4400"/>
              <a:buFont typeface="Arial"/>
              <a:buChar char="•"/>
            </a:pPr>
            <a:r>
              <a:rPr b="0" i="0" lang="en-US" sz="4400" u="none" cap="none" strike="noStrike">
                <a:solidFill>
                  <a:srgbClr val="131416"/>
                </a:solidFill>
                <a:latin typeface="Arial"/>
                <a:ea typeface="Arial"/>
                <a:cs typeface="Arial"/>
                <a:sym typeface="Arial"/>
              </a:rPr>
              <a:t>USO DE CONDICIONES Y SELECT CASE</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0" name="Shape 330"/>
        <p:cNvGrpSpPr/>
        <p:nvPr/>
      </p:nvGrpSpPr>
      <p:grpSpPr>
        <a:xfrm>
          <a:off x="0" y="0"/>
          <a:ext cx="0" cy="0"/>
          <a:chOff x="0" y="0"/>
          <a:chExt cx="0" cy="0"/>
        </a:xfrm>
      </p:grpSpPr>
      <p:sp>
        <p:nvSpPr>
          <p:cNvPr id="331" name="Google Shape;331;p7"/>
          <p:cNvSpPr/>
          <p:nvPr/>
        </p:nvSpPr>
        <p:spPr>
          <a:xfrm>
            <a:off x="0" y="0"/>
            <a:ext cx="18283428"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2" name="Google Shape;332;p7"/>
          <p:cNvSpPr txBox="1"/>
          <p:nvPr/>
        </p:nvSpPr>
        <p:spPr>
          <a:xfrm>
            <a:off x="3295651" y="1102924"/>
            <a:ext cx="7467599" cy="4747568"/>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600"/>
              </a:spcAft>
              <a:buNone/>
            </a:pPr>
            <a:r>
              <a:rPr b="0" i="0" lang="en-US" sz="7800" u="none" cap="none" strike="noStrike">
                <a:solidFill>
                  <a:schemeClr val="dk1"/>
                </a:solidFill>
                <a:latin typeface="Arial"/>
                <a:ea typeface="Arial"/>
                <a:cs typeface="Arial"/>
                <a:sym typeface="Arial"/>
              </a:rPr>
              <a:t>DISCIPLINA</a:t>
            </a:r>
            <a:endParaRPr/>
          </a:p>
        </p:txBody>
      </p:sp>
      <p:sp>
        <p:nvSpPr>
          <p:cNvPr id="333" name="Google Shape;333;p7"/>
          <p:cNvSpPr txBox="1"/>
          <p:nvPr/>
        </p:nvSpPr>
        <p:spPr>
          <a:xfrm>
            <a:off x="3295651" y="6117634"/>
            <a:ext cx="7467599" cy="3087986"/>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1000"/>
              </a:spcBef>
              <a:spcAft>
                <a:spcPts val="0"/>
              </a:spcAft>
              <a:buNone/>
            </a:pPr>
            <a:r>
              <a:t/>
            </a:r>
            <a:endParaRPr b="0" i="0" sz="2400" u="none" cap="none" strike="noStrike">
              <a:solidFill>
                <a:schemeClr val="dk1"/>
              </a:solidFill>
              <a:latin typeface="Arial"/>
              <a:ea typeface="Arial"/>
              <a:cs typeface="Arial"/>
              <a:sym typeface="Arial"/>
            </a:endParaRPr>
          </a:p>
        </p:txBody>
      </p:sp>
      <p:pic>
        <p:nvPicPr>
          <p:cNvPr descr="Wreath" id="334" name="Google Shape;334;p7"/>
          <p:cNvPicPr preferRelativeResize="0"/>
          <p:nvPr/>
        </p:nvPicPr>
        <p:blipFill rotWithShape="1">
          <a:blip r:embed="rId3">
            <a:alphaModFix/>
          </a:blip>
          <a:srcRect b="0" l="0" r="0" t="0"/>
          <a:stretch/>
        </p:blipFill>
        <p:spPr>
          <a:xfrm>
            <a:off x="1076323" y="4164928"/>
            <a:ext cx="1933577" cy="1933577"/>
          </a:xfrm>
          <a:prstGeom prst="rect">
            <a:avLst/>
          </a:prstGeom>
          <a:noFill/>
          <a:ln>
            <a:noFill/>
          </a:ln>
        </p:spPr>
      </p:pic>
      <p:pic>
        <p:nvPicPr>
          <p:cNvPr descr="Wreath" id="335" name="Google Shape;335;p7"/>
          <p:cNvPicPr preferRelativeResize="0"/>
          <p:nvPr/>
        </p:nvPicPr>
        <p:blipFill rotWithShape="1">
          <a:blip r:embed="rId3">
            <a:alphaModFix amt="15000"/>
          </a:blip>
          <a:srcRect b="0" l="0" r="0" t="0"/>
          <a:stretch/>
        </p:blipFill>
        <p:spPr>
          <a:xfrm>
            <a:off x="9911722" y="1074610"/>
            <a:ext cx="8117015" cy="8117015"/>
          </a:xfrm>
          <a:prstGeom prst="rect">
            <a:avLst/>
          </a:prstGeom>
          <a:noFill/>
          <a:ln>
            <a:noFill/>
          </a:ln>
        </p:spPr>
      </p:pic>
      <p:sp>
        <p:nvSpPr>
          <p:cNvPr id="336" name="Google Shape;336;p7"/>
          <p:cNvSpPr txBox="1"/>
          <p:nvPr/>
        </p:nvSpPr>
        <p:spPr>
          <a:xfrm>
            <a:off x="5056655" y="6413479"/>
            <a:ext cx="9856773" cy="1434624"/>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600"/>
              </a:spcAft>
              <a:buClr>
                <a:srgbClr val="000000"/>
              </a:buClr>
              <a:buSzPts val="3151"/>
              <a:buFont typeface="Arial"/>
              <a:buNone/>
            </a:pPr>
            <a:r>
              <a:rPr b="0" i="0" lang="en-US" sz="3151" u="none" cap="none" strike="noStrike">
                <a:solidFill>
                  <a:srgbClr val="131416"/>
                </a:solidFill>
                <a:latin typeface="Arial"/>
                <a:ea typeface="Arial"/>
                <a:cs typeface="Arial"/>
                <a:sym typeface="Arial"/>
              </a:rPr>
              <a:t>Frase: El repaso constante fortalece lo aprendido y forma caracter.</a:t>
            </a:r>
            <a:endParaRPr b="0" i="0" sz="3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334"/>
                                        </p:tgtEl>
                                        <p:attrNameLst>
                                          <p:attrName>style.visibility</p:attrName>
                                        </p:attrNameLst>
                                      </p:cBhvr>
                                      <p:to>
                                        <p:strVal val="visible"/>
                                      </p:to>
                                    </p:set>
                                    <p:animEffect filter="fade" transition="in">
                                      <p:cBhvr>
                                        <p:cTn dur="700"/>
                                        <p:tgtEl>
                                          <p:spTgt spid="334"/>
                                        </p:tgtEl>
                                      </p:cBhvr>
                                    </p:animEffect>
                                  </p:childTnLst>
                                </p:cTn>
                              </p:par>
                              <p:par>
                                <p:cTn fill="hold" nodeType="withEffect" presetClass="entr" presetID="10" presetSubtype="0">
                                  <p:stCondLst>
                                    <p:cond delay="500"/>
                                  </p:stCondLst>
                                  <p:childTnLst>
                                    <p:set>
                                      <p:cBhvr>
                                        <p:cTn dur="1" fill="hold">
                                          <p:stCondLst>
                                            <p:cond delay="0"/>
                                          </p:stCondLst>
                                        </p:cTn>
                                        <p:tgtEl>
                                          <p:spTgt spid="335"/>
                                        </p:tgtEl>
                                        <p:attrNameLst>
                                          <p:attrName>style.visibility</p:attrName>
                                        </p:attrNameLst>
                                      </p:cBhvr>
                                      <p:to>
                                        <p:strVal val="visible"/>
                                      </p:to>
                                    </p:set>
                                    <p:animEffect filter="fade" transition="in">
                                      <p:cBhvr>
                                        <p:cTn dur="700"/>
                                        <p:tgtEl>
                                          <p:spTgt spid="3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342" name="Google Shape;342;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343" name="Google Shape;343;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