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10287000" cx="18288000"/>
  <p:notesSz cx="6858000" cy="9144000"/>
  <p:embeddedFontLst>
    <p:embeddedFont>
      <p:font typeface="League Spartan"/>
      <p:regular r:id="rId29"/>
      <p:bold r:id="rId30"/>
    </p:embeddedFont>
    <p:embeddedFont>
      <p:font typeface="Montserrat"/>
      <p:bold r:id="rId31"/>
      <p:boldItalic r:id="rId32"/>
    </p:embeddedFont>
    <p:embeddedFont>
      <p:font typeface="Poppins"/>
      <p:bold r:id="rId33"/>
      <p:boldItalic r:id="rId34"/>
    </p:embeddedFont>
    <p:embeddedFont>
      <p:font typeface="Poppins Light"/>
      <p:regular r:id="rId35"/>
      <p:bold r:id="rId36"/>
      <p:italic r:id="rId37"/>
      <p:boldItalic r:id="rId38"/>
    </p:embeddedFont>
    <p:embeddedFont>
      <p:font typeface="Ole"/>
      <p:regular r:id="rId39"/>
    </p:embeddedFont>
    <p:embeddedFont>
      <p:font typeface="Shrikhand"/>
      <p:regular r:id="rId40"/>
    </p:embeddedFont>
    <p:embeddedFont>
      <p:font typeface="Open Sans Light"/>
      <p:regular r:id="rId41"/>
      <p:bold r:id="rId42"/>
      <p:italic r:id="rId43"/>
      <p:boldItalic r:id="rId44"/>
    </p:embeddedFont>
    <p:embeddedFont>
      <p:font typeface="Open Sans"/>
      <p:bold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GzotFp6t45X6wazwnkADHFP4S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350B5D-A004-4698-B816-7CF474AADA7E}">
  <a:tblStyle styleId="{17350B5D-A004-4698-B816-7CF474AADA7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hrikhand-regular.fntdata"/><Relationship Id="rId20" Type="http://schemas.openxmlformats.org/officeDocument/2006/relationships/slide" Target="slides/slide14.xml"/><Relationship Id="rId42" Type="http://schemas.openxmlformats.org/officeDocument/2006/relationships/font" Target="fonts/OpenSansLight-bold.fntdata"/><Relationship Id="rId41" Type="http://schemas.openxmlformats.org/officeDocument/2006/relationships/font" Target="fonts/OpenSansLight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Light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Light-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eagueSpartan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.fntdata"/><Relationship Id="rId30" Type="http://schemas.openxmlformats.org/officeDocument/2006/relationships/font" Target="fonts/LeagueSpartan-bold.fntdata"/><Relationship Id="rId11" Type="http://schemas.openxmlformats.org/officeDocument/2006/relationships/slide" Target="slides/slide5.xml"/><Relationship Id="rId33" Type="http://schemas.openxmlformats.org/officeDocument/2006/relationships/font" Target="fonts/Poppins-bold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Light-regular.fntdata"/><Relationship Id="rId12" Type="http://schemas.openxmlformats.org/officeDocument/2006/relationships/slide" Target="slides/slide6.xml"/><Relationship Id="rId34" Type="http://schemas.openxmlformats.org/officeDocument/2006/relationships/font" Target="fonts/Poppins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Light-italic.fntdata"/><Relationship Id="rId14" Type="http://schemas.openxmlformats.org/officeDocument/2006/relationships/slide" Target="slides/slide8.xml"/><Relationship Id="rId36" Type="http://schemas.openxmlformats.org/officeDocument/2006/relationships/font" Target="fonts/PoppinsLight-bold.fntdata"/><Relationship Id="rId17" Type="http://schemas.openxmlformats.org/officeDocument/2006/relationships/slide" Target="slides/slide11.xml"/><Relationship Id="rId39" Type="http://schemas.openxmlformats.org/officeDocument/2006/relationships/font" Target="fonts/Ole-regular.fntdata"/><Relationship Id="rId16" Type="http://schemas.openxmlformats.org/officeDocument/2006/relationships/slide" Target="slides/slide10.xml"/><Relationship Id="rId38" Type="http://schemas.openxmlformats.org/officeDocument/2006/relationships/font" Target="fonts/PoppinsLigh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4.png"/><Relationship Id="rId5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8846517"/>
            <a:ext cx="18288000" cy="1440483"/>
            <a:chOff x="0" y="-28575"/>
            <a:chExt cx="4816593" cy="37938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816592" cy="350811"/>
            </a:xfrm>
            <a:custGeom>
              <a:rect b="b" l="l" r="r" t="t"/>
              <a:pathLst>
                <a:path extrusionOk="0" h="3508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50811"/>
                  </a:lnTo>
                  <a:lnTo>
                    <a:pt x="0" y="350811"/>
                  </a:lnTo>
                  <a:close/>
                </a:path>
              </a:pathLst>
            </a:custGeom>
            <a:solidFill>
              <a:srgbClr val="DD9C2C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28575"/>
              <a:ext cx="4816593" cy="3793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1577391" y="0"/>
            <a:ext cx="6710609" cy="1778495"/>
          </a:xfrm>
          <a:custGeom>
            <a:rect b="b" l="l" r="r" t="t"/>
            <a:pathLst>
              <a:path extrusionOk="0" h="1778495" w="6710609">
                <a:moveTo>
                  <a:pt x="0" y="0"/>
                </a:moveTo>
                <a:lnTo>
                  <a:pt x="6710609" y="0"/>
                </a:lnTo>
                <a:lnTo>
                  <a:pt x="6710609" y="1778495"/>
                </a:lnTo>
                <a:lnTo>
                  <a:pt x="0" y="1778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-355892" y="-182720"/>
            <a:ext cx="10758965" cy="10652440"/>
          </a:xfrm>
          <a:custGeom>
            <a:rect b="b" l="l" r="r" t="t"/>
            <a:pathLst>
              <a:path extrusionOk="0" h="3298228" w="3331210">
                <a:moveTo>
                  <a:pt x="0" y="0"/>
                </a:moveTo>
                <a:lnTo>
                  <a:pt x="3331210" y="0"/>
                </a:lnTo>
                <a:cubicBezTo>
                  <a:pt x="3331210" y="1822010"/>
                  <a:pt x="1840230" y="3298228"/>
                  <a:pt x="0" y="3298228"/>
                </a:cubicBez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52973" r="-52973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9" name="Google Shape;89;p1"/>
          <p:cNvGraphicFramePr/>
          <p:nvPr/>
        </p:nvGraphicFramePr>
        <p:xfrm>
          <a:off x="13488871" y="2102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{17350B5D-A004-4698-B816-7CF474AADA7E}</a:tableStyleId>
              </a:tblPr>
              <a:tblGrid>
                <a:gridCol w="2067525"/>
                <a:gridCol w="2159700"/>
              </a:tblGrid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Dia, Fecha: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0/00/0000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Hora de  inicio: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99" u="none" cap="none" strike="noStrike">
                          <a:solidFill>
                            <a:srgbClr val="000000"/>
                          </a:solidFill>
                          <a:latin typeface="Ole"/>
                          <a:ea typeface="Ole"/>
                          <a:cs typeface="Ole"/>
                          <a:sym typeface="Ole"/>
                        </a:rPr>
                        <a:t>0:00 am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"/>
          <p:cNvSpPr/>
          <p:nvPr/>
        </p:nvSpPr>
        <p:spPr>
          <a:xfrm>
            <a:off x="1758909" y="8995114"/>
            <a:ext cx="8772067" cy="1291886"/>
          </a:xfrm>
          <a:custGeom>
            <a:rect b="b" l="l" r="r" t="t"/>
            <a:pathLst>
              <a:path extrusionOk="0" h="1291886" w="8772067">
                <a:moveTo>
                  <a:pt x="0" y="0"/>
                </a:moveTo>
                <a:lnTo>
                  <a:pt x="8772068" y="0"/>
                </a:lnTo>
                <a:lnTo>
                  <a:pt x="8772068" y="1291886"/>
                </a:lnTo>
                <a:lnTo>
                  <a:pt x="0" y="1291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9144000" y="4393589"/>
            <a:ext cx="8975100" cy="13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Programación de computadoras 2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2070963" y="7944189"/>
            <a:ext cx="6216900" cy="10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Aux: A</a:t>
            </a:r>
            <a:r>
              <a:rPr b="0" i="0" lang="en-US" sz="54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ndy Ezequiel Sanic Tiul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5885240" y="5601312"/>
            <a:ext cx="22338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Ole"/>
                <a:ea typeface="Ole"/>
                <a:cs typeface="Ole"/>
                <a:sym typeface="Ole"/>
              </a:rPr>
              <a:t>Sección: 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29794" y="0"/>
            <a:ext cx="18258206" cy="10287000"/>
          </a:xfrm>
          <a:custGeom>
            <a:rect b="b" l="l" r="r" t="t"/>
            <a:pathLst>
              <a:path extrusionOk="0" h="10287000" w="18258206">
                <a:moveTo>
                  <a:pt x="0" y="0"/>
                </a:moveTo>
                <a:lnTo>
                  <a:pt x="18258206" y="0"/>
                </a:lnTo>
                <a:lnTo>
                  <a:pt x="182582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3042863" y="4549584"/>
            <a:ext cx="12202273" cy="1187832"/>
          </a:xfrm>
          <a:custGeom>
            <a:rect b="b" l="l" r="r" t="t"/>
            <a:pathLst>
              <a:path extrusionOk="0" h="1187832" w="12202273">
                <a:moveTo>
                  <a:pt x="0" y="0"/>
                </a:moveTo>
                <a:lnTo>
                  <a:pt x="12202274" y="0"/>
                </a:lnTo>
                <a:lnTo>
                  <a:pt x="12202274" y="1187832"/>
                </a:lnTo>
                <a:lnTo>
                  <a:pt x="0" y="1187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3319220" y="5529408"/>
            <a:ext cx="11679354" cy="1146517"/>
          </a:xfrm>
          <a:custGeom>
            <a:rect b="b" l="l" r="r" t="t"/>
            <a:pathLst>
              <a:path extrusionOk="0" h="1146517" w="11679354">
                <a:moveTo>
                  <a:pt x="0" y="0"/>
                </a:moveTo>
                <a:lnTo>
                  <a:pt x="11679354" y="0"/>
                </a:lnTo>
                <a:lnTo>
                  <a:pt x="11679354" y="1146516"/>
                </a:lnTo>
                <a:lnTo>
                  <a:pt x="0" y="1146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12502687" y="2006946"/>
            <a:ext cx="5484899" cy="1382748"/>
          </a:xfrm>
          <a:custGeom>
            <a:rect b="b" l="l" r="r" t="t"/>
            <a:pathLst>
              <a:path extrusionOk="0" h="1382748" w="5484899">
                <a:moveTo>
                  <a:pt x="0" y="0"/>
                </a:moveTo>
                <a:lnTo>
                  <a:pt x="5484899" y="0"/>
                </a:lnTo>
                <a:lnTo>
                  <a:pt x="5484899" y="1382747"/>
                </a:lnTo>
                <a:lnTo>
                  <a:pt x="0" y="1382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-304800" y="-266700"/>
            <a:ext cx="19011900" cy="36957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-1497230" y="1409077"/>
            <a:ext cx="14093462" cy="10287000"/>
          </a:xfrm>
          <a:custGeom>
            <a:rect b="b" l="l" r="r" t="t"/>
            <a:pathLst>
              <a:path extrusionOk="0" h="2462566" w="3373780">
                <a:moveTo>
                  <a:pt x="3249320" y="2462566"/>
                </a:moveTo>
                <a:lnTo>
                  <a:pt x="124460" y="2462566"/>
                </a:lnTo>
                <a:cubicBezTo>
                  <a:pt x="55880" y="2462566"/>
                  <a:pt x="0" y="2406686"/>
                  <a:pt x="0" y="2338106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49320" y="0"/>
                </a:lnTo>
                <a:cubicBezTo>
                  <a:pt x="3317900" y="0"/>
                  <a:pt x="3373780" y="55880"/>
                  <a:pt x="3373780" y="124460"/>
                </a:cubicBezTo>
                <a:lnTo>
                  <a:pt x="3373780" y="2338106"/>
                </a:lnTo>
                <a:cubicBezTo>
                  <a:pt x="3373780" y="2406686"/>
                  <a:pt x="3317900" y="2462566"/>
                  <a:pt x="3249320" y="2462566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3"/>
          <p:cNvGrpSpPr/>
          <p:nvPr/>
        </p:nvGrpSpPr>
        <p:grpSpPr>
          <a:xfrm>
            <a:off x="11587913" y="2053719"/>
            <a:ext cx="5385349" cy="10944768"/>
            <a:chOff x="0" y="0"/>
            <a:chExt cx="5000993" cy="10163632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5000993" cy="10163632"/>
            </a:xfrm>
            <a:custGeom>
              <a:rect b="b" l="l" r="r" t="t"/>
              <a:pathLst>
                <a:path extrusionOk="0"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43" r="-44" t="0"/>
              </a:stretch>
            </a:blipFill>
            <a:ln>
              <a:noFill/>
            </a:ln>
          </p:spPr>
        </p:sp>
        <p:sp>
          <p:nvSpPr>
            <p:cNvPr id="110" name="Google Shape;110;p3"/>
            <p:cNvSpPr/>
            <p:nvPr/>
          </p:nvSpPr>
          <p:spPr>
            <a:xfrm>
              <a:off x="338760" y="288798"/>
              <a:ext cx="4330776" cy="9398000"/>
            </a:xfrm>
            <a:custGeom>
              <a:rect b="b" l="l" r="r" t="t"/>
              <a:pathLst>
                <a:path extrusionOk="0"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41353" r="-184135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3"/>
          <p:cNvSpPr/>
          <p:nvPr/>
        </p:nvSpPr>
        <p:spPr>
          <a:xfrm>
            <a:off x="-304800" y="8305177"/>
            <a:ext cx="3090940" cy="1994712"/>
          </a:xfrm>
          <a:custGeom>
            <a:rect b="b" l="l" r="r" t="t"/>
            <a:pathLst>
              <a:path extrusionOk="0" h="1994712" w="3090940">
                <a:moveTo>
                  <a:pt x="0" y="0"/>
                </a:moveTo>
                <a:lnTo>
                  <a:pt x="3090940" y="0"/>
                </a:lnTo>
                <a:lnTo>
                  <a:pt x="3090940" y="1994712"/>
                </a:lnTo>
                <a:lnTo>
                  <a:pt x="0" y="1994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18895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654534" y="2129919"/>
            <a:ext cx="6791890" cy="144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Clase 09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 rot="5400000">
            <a:off x="14963536" y="6556334"/>
            <a:ext cx="5337506" cy="45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32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CIENCIAS Y SISTEMAS | FACULTAD DE INGENIERÍA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2945575" y="4966120"/>
            <a:ext cx="6255575" cy="1435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Unidad 5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3304934" y="8629027"/>
            <a:ext cx="8282979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Universidad San Carlos de Guatemala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028700" y="7657477"/>
            <a:ext cx="937775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Programación de Computadoras 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7450548" y="-148999"/>
            <a:ext cx="10837452" cy="10584998"/>
          </a:xfrm>
          <a:custGeom>
            <a:rect b="b" l="l" r="r" t="t"/>
            <a:pathLst>
              <a:path extrusionOk="0" h="10584998" w="10837452">
                <a:moveTo>
                  <a:pt x="0" y="0"/>
                </a:moveTo>
                <a:lnTo>
                  <a:pt x="10837452" y="0"/>
                </a:lnTo>
                <a:lnTo>
                  <a:pt x="10837452" y="10584998"/>
                </a:lnTo>
                <a:lnTo>
                  <a:pt x="0" y="10584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-26784" l="0" r="0" t="-26785"/>
            </a:stretch>
          </a:blipFill>
          <a:ln>
            <a:noFill/>
          </a:ln>
        </p:spPr>
      </p:sp>
      <p:sp>
        <p:nvSpPr>
          <p:cNvPr id="122" name="Google Shape;122;p4"/>
          <p:cNvSpPr txBox="1"/>
          <p:nvPr/>
        </p:nvSpPr>
        <p:spPr>
          <a:xfrm>
            <a:off x="1028700" y="900765"/>
            <a:ext cx="5817742" cy="1159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4"/>
          <p:cNvSpPr txBox="1"/>
          <p:nvPr/>
        </p:nvSpPr>
        <p:spPr>
          <a:xfrm>
            <a:off x="10917399" y="3450207"/>
            <a:ext cx="5538304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Bases de Datos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424347" y="3177524"/>
            <a:ext cx="1055905" cy="1055905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9731521" y="3415673"/>
            <a:ext cx="441556" cy="579607"/>
          </a:xfrm>
          <a:custGeom>
            <a:rect b="b" l="l" r="r" t="t"/>
            <a:pathLst>
              <a:path extrusionOk="0"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4"/>
          <p:cNvSpPr txBox="1"/>
          <p:nvPr/>
        </p:nvSpPr>
        <p:spPr>
          <a:xfrm>
            <a:off x="10917399" y="4829832"/>
            <a:ext cx="5538304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Creación de una Base de Datos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9424347" y="4557149"/>
            <a:ext cx="1055905" cy="1055905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731521" y="4795298"/>
            <a:ext cx="441556" cy="579607"/>
          </a:xfrm>
          <a:custGeom>
            <a:rect b="b" l="l" r="r" t="t"/>
            <a:pathLst>
              <a:path extrusionOk="0"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0917399" y="6241109"/>
            <a:ext cx="5538304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Conexión a una Base de Datos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424347" y="5968426"/>
            <a:ext cx="1055905" cy="1055905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9731521" y="6206575"/>
            <a:ext cx="441556" cy="579607"/>
          </a:xfrm>
          <a:custGeom>
            <a:rect b="b" l="l" r="r" t="t"/>
            <a:pathLst>
              <a:path extrusionOk="0"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4"/>
          <p:cNvSpPr txBox="1"/>
          <p:nvPr/>
        </p:nvSpPr>
        <p:spPr>
          <a:xfrm>
            <a:off x="10917399" y="7618424"/>
            <a:ext cx="5538304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9424347" y="7345741"/>
            <a:ext cx="1055905" cy="1055905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9731521" y="7614881"/>
            <a:ext cx="441556" cy="579607"/>
          </a:xfrm>
          <a:custGeom>
            <a:rect b="b" l="l" r="r" t="t"/>
            <a:pathLst>
              <a:path extrusionOk="0" h="579607" w="441556">
                <a:moveTo>
                  <a:pt x="0" y="0"/>
                </a:moveTo>
                <a:lnTo>
                  <a:pt x="441556" y="0"/>
                </a:lnTo>
                <a:lnTo>
                  <a:pt x="441556" y="579607"/>
                </a:lnTo>
                <a:lnTo>
                  <a:pt x="0" y="579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>
            <a:off x="-149033" y="-177577"/>
            <a:ext cx="7599581" cy="10557723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028700" y="900765"/>
            <a:ext cx="5817742" cy="1159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21525" y="3318714"/>
            <a:ext cx="1055905" cy="1055905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028700" y="3556862"/>
            <a:ext cx="441556" cy="579607"/>
          </a:xfrm>
          <a:custGeom>
            <a:rect b="b" l="l" r="r" t="t"/>
            <a:pathLst>
              <a:path extrusionOk="0" h="579607" w="441556">
                <a:moveTo>
                  <a:pt x="0" y="0"/>
                </a:moveTo>
                <a:lnTo>
                  <a:pt x="441556" y="0"/>
                </a:lnTo>
                <a:lnTo>
                  <a:pt x="441556" y="579608"/>
                </a:lnTo>
                <a:lnTo>
                  <a:pt x="0" y="579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 txBox="1"/>
          <p:nvPr/>
        </p:nvSpPr>
        <p:spPr>
          <a:xfrm>
            <a:off x="1912243" y="3591396"/>
            <a:ext cx="55383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Video de SQL https://youtu.be/6mYSc1Vcu1U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912243" y="4846014"/>
            <a:ext cx="553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Corto </a:t>
            </a:r>
            <a:r>
              <a:rPr lang="en-US" sz="2400">
                <a:solidFill>
                  <a:srgbClr val="191919"/>
                </a:solidFill>
              </a:rPr>
              <a:t>9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21525" y="4615548"/>
            <a:ext cx="1055905" cy="1055905"/>
          </a:xfrm>
          <a:custGeom>
            <a:rect b="b" l="l" r="r" t="t"/>
            <a:pathLst>
              <a:path extrusionOk="0" h="2311400" w="2311400">
                <a:moveTo>
                  <a:pt x="2006600" y="0"/>
                </a:moveTo>
                <a:lnTo>
                  <a:pt x="304800" y="0"/>
                </a:lnTo>
                <a:cubicBezTo>
                  <a:pt x="135890" y="0"/>
                  <a:pt x="0" y="135890"/>
                  <a:pt x="0" y="304800"/>
                </a:cubicBezTo>
                <a:lnTo>
                  <a:pt x="0" y="2006600"/>
                </a:lnTo>
                <a:cubicBezTo>
                  <a:pt x="0" y="2175510"/>
                  <a:pt x="135890" y="2311400"/>
                  <a:pt x="304800" y="2311400"/>
                </a:cubicBezTo>
                <a:lnTo>
                  <a:pt x="2006600" y="2311400"/>
                </a:lnTo>
                <a:cubicBezTo>
                  <a:pt x="2175510" y="2311400"/>
                  <a:pt x="2311400" y="2175510"/>
                  <a:pt x="2311400" y="2006600"/>
                </a:cubicBezTo>
                <a:lnTo>
                  <a:pt x="2311400" y="304800"/>
                </a:lnTo>
                <a:cubicBezTo>
                  <a:pt x="2311400" y="135890"/>
                  <a:pt x="2175510" y="0"/>
                  <a:pt x="2006600" y="0"/>
                </a:cubicBezTo>
                <a:close/>
              </a:path>
            </a:pathLst>
          </a:custGeom>
          <a:solidFill>
            <a:srgbClr val="FE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1028700" y="4853696"/>
            <a:ext cx="441556" cy="579607"/>
          </a:xfrm>
          <a:custGeom>
            <a:rect b="b" l="l" r="r" t="t"/>
            <a:pathLst>
              <a:path extrusionOk="0" h="579607" w="441556">
                <a:moveTo>
                  <a:pt x="0" y="0"/>
                </a:moveTo>
                <a:lnTo>
                  <a:pt x="441556" y="0"/>
                </a:lnTo>
                <a:lnTo>
                  <a:pt x="441556" y="579608"/>
                </a:lnTo>
                <a:lnTo>
                  <a:pt x="0" y="5796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5"/>
          <p:cNvGrpSpPr/>
          <p:nvPr/>
        </p:nvGrpSpPr>
        <p:grpSpPr>
          <a:xfrm>
            <a:off x="0" y="-72330"/>
            <a:ext cx="4674349" cy="10359330"/>
            <a:chOff x="0" y="-19050"/>
            <a:chExt cx="1231104" cy="2728383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1231104" cy="2709333"/>
            </a:xfrm>
            <a:custGeom>
              <a:rect b="b" l="l" r="r" t="t"/>
              <a:pathLst>
                <a:path extrusionOk="0" h="2709333" w="1231104">
                  <a:moveTo>
                    <a:pt x="0" y="0"/>
                  </a:moveTo>
                  <a:lnTo>
                    <a:pt x="1231104" y="0"/>
                  </a:lnTo>
                  <a:lnTo>
                    <a:pt x="123110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B13">
                <a:alpha val="83921"/>
              </a:srgbClr>
            </a:solidFill>
            <a:ln>
              <a:noFill/>
            </a:ln>
          </p:spPr>
        </p:sp>
        <p:sp>
          <p:nvSpPr>
            <p:cNvPr id="150" name="Google Shape;150;p5"/>
            <p:cNvSpPr txBox="1"/>
            <p:nvPr/>
          </p:nvSpPr>
          <p:spPr>
            <a:xfrm>
              <a:off x="0" y="-19050"/>
              <a:ext cx="1231104" cy="2728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5"/>
          <p:cNvGrpSpPr/>
          <p:nvPr/>
        </p:nvGrpSpPr>
        <p:grpSpPr>
          <a:xfrm>
            <a:off x="3131884" y="1751879"/>
            <a:ext cx="11988759" cy="7633343"/>
            <a:chOff x="0" y="-38100"/>
            <a:chExt cx="3157533" cy="2010428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3157533" cy="1972328"/>
            </a:xfrm>
            <a:custGeom>
              <a:rect b="b" l="l" r="r" t="t"/>
              <a:pathLst>
                <a:path extrusionOk="0" h="1972328" w="3157533">
                  <a:moveTo>
                    <a:pt x="0" y="0"/>
                  </a:moveTo>
                  <a:lnTo>
                    <a:pt x="3157533" y="0"/>
                  </a:lnTo>
                  <a:lnTo>
                    <a:pt x="3157533" y="1972328"/>
                  </a:lnTo>
                  <a:lnTo>
                    <a:pt x="0" y="1972328"/>
                  </a:lnTo>
                  <a:close/>
                </a:path>
              </a:pathLst>
            </a:custGeom>
            <a:solidFill>
              <a:srgbClr val="FFFFFF"/>
            </a:solidFill>
            <a:ln cap="sq" cmpd="sng" w="66675">
              <a:solidFill>
                <a:srgbClr val="231F2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53" name="Google Shape;153;p5"/>
            <p:cNvSpPr txBox="1"/>
            <p:nvPr/>
          </p:nvSpPr>
          <p:spPr>
            <a:xfrm>
              <a:off x="0" y="-38100"/>
              <a:ext cx="3157533" cy="2010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3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5"/>
          <p:cNvSpPr txBox="1"/>
          <p:nvPr/>
        </p:nvSpPr>
        <p:spPr>
          <a:xfrm>
            <a:off x="5949480" y="2321350"/>
            <a:ext cx="6353568" cy="94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50" u="none" cap="none" strike="noStrike">
                <a:solidFill>
                  <a:srgbClr val="2C2D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Competencias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3621169" y="3458437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3621169" y="5763683"/>
            <a:ext cx="937219" cy="720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4828211" y="3496537"/>
            <a:ext cx="9308304" cy="1732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231F20"/>
                </a:solidFill>
                <a:latin typeface="Montserrat"/>
                <a:ea typeface="Montserrat"/>
                <a:cs typeface="Montserrat"/>
                <a:sym typeface="Montserrat"/>
              </a:rPr>
              <a:t>Integra Base de datos a proyectos en Visual Basic .NET Mediante el uso de ADO.NET   DataGridView para realizar operaciones CRUD con datos almacenados localmente 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4828211" y="6123769"/>
            <a:ext cx="8631578" cy="26092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7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4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Constratar estructuras de datos basicos con los requerimientos de distintos tipos de problemas industriales para apoyar el analisis y la toma de decisiones a partir del almacenamiento y manipulacion de datos simples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6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363189" y="6034968"/>
            <a:ext cx="8631130" cy="3846315"/>
          </a:xfrm>
          <a:custGeom>
            <a:rect b="b" l="l" r="r" t="t"/>
            <a:pathLst>
              <a:path extrusionOk="0" h="3846315" w="8631130">
                <a:moveTo>
                  <a:pt x="0" y="0"/>
                </a:moveTo>
                <a:lnTo>
                  <a:pt x="8631130" y="0"/>
                </a:lnTo>
                <a:lnTo>
                  <a:pt x="8631130" y="3846315"/>
                </a:lnTo>
                <a:lnTo>
                  <a:pt x="0" y="38463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¿Qué es SQL?</a:t>
            </a:r>
            <a:endParaRPr/>
          </a:p>
        </p:txBody>
      </p:sp>
      <p:sp>
        <p:nvSpPr>
          <p:cNvPr id="167" name="Google Shape;167;p6"/>
          <p:cNvSpPr txBox="1"/>
          <p:nvPr/>
        </p:nvSpPr>
        <p:spPr>
          <a:xfrm>
            <a:off x="10481704" y="5147873"/>
            <a:ext cx="952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0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2901805" y="2771950"/>
            <a:ext cx="15386195" cy="31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6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SQL es un acrónimo en inglés para Structured Query Language. Un Lenguaje de Consulta Estructurado. Un tipo de lenguaje de programación que te permite manipular y descargar datos de una base de datos.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7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¿Qué es SQL?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2901805" y="2771950"/>
            <a:ext cx="15386195" cy="31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6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Tiene capacidad de hacer cálculos avanzados y álgebra. Es utilizado en la mayoría de empresas que almacenan datos en una base de datos. Ha sido y sigue siendo el lenguaje de programación más usado para bases de datos relacionales.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/>
          <p:nvPr/>
        </p:nvSpPr>
        <p:spPr>
          <a:xfrm>
            <a:off x="-545621" y="8287828"/>
            <a:ext cx="19566866" cy="2127292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1418429" y="236259"/>
            <a:ext cx="15638767" cy="7841570"/>
          </a:xfrm>
          <a:custGeom>
            <a:rect b="b" l="l" r="r" t="t"/>
            <a:pathLst>
              <a:path extrusionOk="0" h="2230248" w="4447876">
                <a:moveTo>
                  <a:pt x="4323416" y="2230248"/>
                </a:moveTo>
                <a:lnTo>
                  <a:pt x="124460" y="2230248"/>
                </a:lnTo>
                <a:cubicBezTo>
                  <a:pt x="55880" y="2230248"/>
                  <a:pt x="0" y="2174368"/>
                  <a:pt x="0" y="2105788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4323416" y="0"/>
                </a:lnTo>
                <a:cubicBezTo>
                  <a:pt x="4391996" y="0"/>
                  <a:pt x="4447876" y="55880"/>
                  <a:pt x="4447876" y="124460"/>
                </a:cubicBezTo>
                <a:lnTo>
                  <a:pt x="4447876" y="2105788"/>
                </a:lnTo>
                <a:cubicBezTo>
                  <a:pt x="4447876" y="2174368"/>
                  <a:pt x="4391996" y="2230248"/>
                  <a:pt x="4323416" y="2230248"/>
                </a:cubicBezTo>
                <a:close/>
              </a:path>
            </a:pathLst>
          </a:cu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5960" y="615019"/>
            <a:ext cx="12603705" cy="70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9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625171" y="1861812"/>
            <a:ext cx="11037658" cy="6563376"/>
          </a:xfrm>
          <a:custGeom>
            <a:rect b="b" l="l" r="r" t="t"/>
            <a:pathLst>
              <a:path extrusionOk="0" h="6563376" w="11037658">
                <a:moveTo>
                  <a:pt x="0" y="0"/>
                </a:moveTo>
                <a:lnTo>
                  <a:pt x="11037658" y="0"/>
                </a:lnTo>
                <a:lnTo>
                  <a:pt x="11037658" y="6563376"/>
                </a:lnTo>
                <a:lnTo>
                  <a:pt x="0" y="6563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0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6828137" y="6650966"/>
            <a:ext cx="5701234" cy="3190328"/>
          </a:xfrm>
          <a:custGeom>
            <a:rect b="b" l="l" r="r" t="t"/>
            <a:pathLst>
              <a:path extrusionOk="0" h="3190328" w="5701234">
                <a:moveTo>
                  <a:pt x="0" y="0"/>
                </a:moveTo>
                <a:lnTo>
                  <a:pt x="5701234" y="0"/>
                </a:lnTo>
                <a:lnTo>
                  <a:pt x="5701234" y="3190328"/>
                </a:lnTo>
                <a:lnTo>
                  <a:pt x="0" y="3190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037" l="-26571" r="-25781" t="-28538"/>
            </a:stretch>
          </a:blipFill>
          <a:ln>
            <a:noFill/>
          </a:ln>
        </p:spPr>
      </p:sp>
      <p:sp>
        <p:nvSpPr>
          <p:cNvPr id="199" name="Google Shape;199;p10"/>
          <p:cNvSpPr txBox="1"/>
          <p:nvPr/>
        </p:nvSpPr>
        <p:spPr>
          <a:xfrm>
            <a:off x="2901805" y="52075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Comandos Básicos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3255848" y="2210556"/>
            <a:ext cx="14003452" cy="4115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Todos los tipos de SQL tienen algunos comandos básicos. Los 5 más comunes son: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SELECT: Permite seleccionar los datos para descargar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WHERE: Permite seleccionar qué filtro aplicar a los a datos descargar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INSERT: Permite insertar datos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DELETE: Permite borrar datos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UPDATE: Permite actualizar los datos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1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2901805" y="4907125"/>
            <a:ext cx="7355769" cy="1778318"/>
          </a:xfrm>
          <a:custGeom>
            <a:rect b="b" l="l" r="r" t="t"/>
            <a:pathLst>
              <a:path extrusionOk="0" h="1778318" w="7355769">
                <a:moveTo>
                  <a:pt x="0" y="0"/>
                </a:moveTo>
                <a:lnTo>
                  <a:pt x="7355769" y="0"/>
                </a:lnTo>
                <a:lnTo>
                  <a:pt x="7355769" y="1778318"/>
                </a:lnTo>
                <a:lnTo>
                  <a:pt x="0" y="1778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1"/>
          <p:cNvSpPr/>
          <p:nvPr/>
        </p:nvSpPr>
        <p:spPr>
          <a:xfrm>
            <a:off x="10660573" y="3765840"/>
            <a:ext cx="7000838" cy="4872583"/>
          </a:xfrm>
          <a:custGeom>
            <a:rect b="b" l="l" r="r" t="t"/>
            <a:pathLst>
              <a:path extrusionOk="0" h="4872583" w="7000838">
                <a:moveTo>
                  <a:pt x="0" y="0"/>
                </a:moveTo>
                <a:lnTo>
                  <a:pt x="7000838" y="0"/>
                </a:lnTo>
                <a:lnTo>
                  <a:pt x="7000838" y="4872583"/>
                </a:lnTo>
                <a:lnTo>
                  <a:pt x="0" y="4872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1"/>
          <p:cNvSpPr/>
          <p:nvPr/>
        </p:nvSpPr>
        <p:spPr>
          <a:xfrm>
            <a:off x="4411293" y="7110689"/>
            <a:ext cx="4336792" cy="1527734"/>
          </a:xfrm>
          <a:custGeom>
            <a:rect b="b" l="l" r="r" t="t"/>
            <a:pathLst>
              <a:path extrusionOk="0" h="1527734" w="4336792">
                <a:moveTo>
                  <a:pt x="0" y="0"/>
                </a:moveTo>
                <a:lnTo>
                  <a:pt x="4336792" y="0"/>
                </a:lnTo>
                <a:lnTo>
                  <a:pt x="4336792" y="1527734"/>
                </a:lnTo>
                <a:lnTo>
                  <a:pt x="0" y="1527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1"/>
          <p:cNvSpPr txBox="1"/>
          <p:nvPr/>
        </p:nvSpPr>
        <p:spPr>
          <a:xfrm>
            <a:off x="2901805" y="52075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Creación DB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3255848" y="2210556"/>
            <a:ext cx="14003452" cy="2343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 crear una base de datos se usan los siguientes comandos: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 DATABASE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USE </a:t>
            </a:r>
            <a:endParaRPr/>
          </a:p>
          <a:p>
            <a:pPr indent="-361328" lvl="1" marL="722657" marR="0" rtl="0" algn="just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347"/>
              <a:buFont typeface="Arial"/>
              <a:buChar char="•"/>
            </a:pPr>
            <a:r>
              <a:rPr b="0" i="0" lang="en-US" sz="334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CREATE TABLE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2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5615800" y="6541849"/>
            <a:ext cx="9035863" cy="1822046"/>
          </a:xfrm>
          <a:custGeom>
            <a:rect b="b" l="l" r="r" t="t"/>
            <a:pathLst>
              <a:path extrusionOk="0" h="1822046" w="9035863">
                <a:moveTo>
                  <a:pt x="0" y="0"/>
                </a:moveTo>
                <a:lnTo>
                  <a:pt x="9035862" y="0"/>
                </a:lnTo>
                <a:lnTo>
                  <a:pt x="9035862" y="1822047"/>
                </a:lnTo>
                <a:lnTo>
                  <a:pt x="0" y="1822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2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2742795" y="5252164"/>
            <a:ext cx="15871202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Poner la referencia de la libreria </a:t>
            </a:r>
            <a:r>
              <a:rPr b="1" i="1" lang="en-US" sz="5199" u="none" cap="none" strike="noStrike">
                <a:solidFill>
                  <a:srgbClr val="FF1616"/>
                </a:solidFill>
                <a:latin typeface="Open Sans"/>
                <a:ea typeface="Open Sans"/>
                <a:cs typeface="Open Sans"/>
                <a:sym typeface="Open Sans"/>
              </a:rPr>
              <a:t>SqlClient </a:t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2742795" y="2212115"/>
            <a:ext cx="15574400" cy="181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1616"/>
                </a:solidFill>
                <a:latin typeface="Open Sans"/>
                <a:ea typeface="Open Sans"/>
                <a:cs typeface="Open Sans"/>
                <a:sym typeface="Open Sans"/>
              </a:rPr>
              <a:t>*NOTA</a:t>
            </a:r>
            <a:r>
              <a:rPr b="0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 Es importante que el proyecto sea creado con el </a:t>
            </a:r>
            <a:r>
              <a:rPr b="1" i="1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Framework .NET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835542" y="9039860"/>
            <a:ext cx="17686424" cy="389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https://docs.microsoft.com/en-us/troubleshoot/dotnet/framework/open-database-by-sql-server-dotnet-data-provider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3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5629220" y="5918709"/>
            <a:ext cx="9128990" cy="2168572"/>
          </a:xfrm>
          <a:custGeom>
            <a:rect b="b" l="l" r="r" t="t"/>
            <a:pathLst>
              <a:path extrusionOk="0" h="2168572" w="9128990">
                <a:moveTo>
                  <a:pt x="0" y="0"/>
                </a:moveTo>
                <a:lnTo>
                  <a:pt x="9128990" y="0"/>
                </a:lnTo>
                <a:lnTo>
                  <a:pt x="9128990" y="2168572"/>
                </a:lnTo>
                <a:lnTo>
                  <a:pt x="0" y="2168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3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2657905" y="2708886"/>
            <a:ext cx="14041699" cy="181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Crear los objetos necesarios para la conexion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4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3501321" y="4625095"/>
            <a:ext cx="12954382" cy="2024989"/>
          </a:xfrm>
          <a:custGeom>
            <a:rect b="b" l="l" r="r" t="t"/>
            <a:pathLst>
              <a:path extrusionOk="0" h="2024989" w="12954382">
                <a:moveTo>
                  <a:pt x="0" y="0"/>
                </a:moveTo>
                <a:lnTo>
                  <a:pt x="12954382" y="0"/>
                </a:lnTo>
                <a:lnTo>
                  <a:pt x="12954382" y="2024989"/>
                </a:lnTo>
                <a:lnTo>
                  <a:pt x="0" y="20249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14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3217601" y="3098780"/>
            <a:ext cx="140416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Crear objeto SqlConnetion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3501321" y="8595380"/>
            <a:ext cx="931649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*Donde "Northwind" es el nombre de la base de datos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5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3217601" y="2259008"/>
            <a:ext cx="140416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Partes de la cadena de conexion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2901805" y="3669145"/>
            <a:ext cx="15070399" cy="58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37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Server</a:t>
            </a:r>
            <a:r>
              <a:rPr b="0" i="0" lang="en-US" sz="453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               -&gt; Nombre/Direccion del servidor  </a:t>
            </a:r>
            <a:endParaRPr/>
          </a:p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37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Database</a:t>
            </a:r>
            <a:r>
              <a:rPr b="0" i="0" lang="en-US" sz="453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         -&gt; Nombre de la base de datos</a:t>
            </a:r>
            <a:endParaRPr/>
          </a:p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37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Initial Catalog</a:t>
            </a:r>
            <a:r>
              <a:rPr b="0" i="0" lang="en-US" sz="453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-&gt;  Nombre de la base de datos</a:t>
            </a:r>
            <a:endParaRPr/>
          </a:p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37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Integrated Security</a:t>
            </a:r>
            <a:r>
              <a:rPr b="0" i="0" lang="en-US" sz="453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-&gt;  Autentificación de Windows</a:t>
            </a:r>
            <a:endParaRPr/>
          </a:p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7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user id</a:t>
            </a:r>
            <a:r>
              <a:rPr b="0" i="0" lang="en-US" sz="493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           -&gt; Nombre del usuario</a:t>
            </a:r>
            <a:endParaRPr/>
          </a:p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37" u="none" cap="none" strike="noStrike">
                <a:solidFill>
                  <a:srgbClr val="004AAD"/>
                </a:solidFill>
                <a:latin typeface="Open Sans"/>
                <a:ea typeface="Open Sans"/>
                <a:cs typeface="Open Sans"/>
                <a:sym typeface="Open Sans"/>
              </a:rPr>
              <a:t>password</a:t>
            </a:r>
            <a:r>
              <a:rPr b="0" i="0" lang="en-US" sz="4937" u="none" cap="none" strike="noStrike">
                <a:solidFill>
                  <a:srgbClr val="19191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                -&gt; Contraseña del usuario</a:t>
            </a:r>
            <a:endParaRPr/>
          </a:p>
          <a:p>
            <a:pPr indent="0" lvl="0" marL="0" marR="0" rtl="0" algn="l">
              <a:lnSpc>
                <a:spcPct val="1470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937" u="none" cap="none" strike="noStrike">
              <a:solidFill>
                <a:srgbClr val="191919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6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3444176" y="4773359"/>
            <a:ext cx="13815124" cy="3419854"/>
          </a:xfrm>
          <a:custGeom>
            <a:rect b="b" l="l" r="r" t="t"/>
            <a:pathLst>
              <a:path extrusionOk="0" h="3419854" w="13815124">
                <a:moveTo>
                  <a:pt x="0" y="0"/>
                </a:moveTo>
                <a:lnTo>
                  <a:pt x="13815124" y="0"/>
                </a:lnTo>
                <a:lnTo>
                  <a:pt x="13815124" y="3419854"/>
                </a:lnTo>
                <a:lnTo>
                  <a:pt x="0" y="3419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6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3217601" y="2259008"/>
            <a:ext cx="14041699" cy="181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Configuracion para que tenga una consulta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7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5361243" y="3421299"/>
            <a:ext cx="9185074" cy="1722201"/>
          </a:xfrm>
          <a:custGeom>
            <a:rect b="b" l="l" r="r" t="t"/>
            <a:pathLst>
              <a:path extrusionOk="0" h="1722201" w="9185074">
                <a:moveTo>
                  <a:pt x="0" y="0"/>
                </a:moveTo>
                <a:lnTo>
                  <a:pt x="9185074" y="0"/>
                </a:lnTo>
                <a:lnTo>
                  <a:pt x="9185074" y="1722201"/>
                </a:lnTo>
                <a:lnTo>
                  <a:pt x="0" y="1722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/>
          <p:nvPr/>
        </p:nvSpPr>
        <p:spPr>
          <a:xfrm>
            <a:off x="4127862" y="6475093"/>
            <a:ext cx="12327841" cy="3452875"/>
          </a:xfrm>
          <a:custGeom>
            <a:rect b="b" l="l" r="r" t="t"/>
            <a:pathLst>
              <a:path extrusionOk="0" h="3452875" w="12327841">
                <a:moveTo>
                  <a:pt x="0" y="0"/>
                </a:moveTo>
                <a:lnTo>
                  <a:pt x="12327841" y="0"/>
                </a:lnTo>
                <a:lnTo>
                  <a:pt x="12327841" y="3452874"/>
                </a:lnTo>
                <a:lnTo>
                  <a:pt x="0" y="3452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7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3217601" y="2169032"/>
            <a:ext cx="140416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Ejecucion de la consulta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3217601" y="5358717"/>
            <a:ext cx="140416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Usar los datos que devuelve la consulta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/>
          <p:nvPr/>
        </p:nvSpPr>
        <p:spPr>
          <a:xfrm>
            <a:off x="16455703" y="865655"/>
            <a:ext cx="803597" cy="355044"/>
          </a:xfrm>
          <a:custGeom>
            <a:rect b="b" l="l" r="r" t="t"/>
            <a:pathLst>
              <a:path extrusionOk="0" h="355044" w="803597">
                <a:moveTo>
                  <a:pt x="0" y="0"/>
                </a:moveTo>
                <a:lnTo>
                  <a:pt x="803597" y="0"/>
                </a:lnTo>
                <a:lnTo>
                  <a:pt x="803597" y="355044"/>
                </a:lnTo>
                <a:lnTo>
                  <a:pt x="0" y="355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8"/>
          <p:cNvSpPr/>
          <p:nvPr/>
        </p:nvSpPr>
        <p:spPr>
          <a:xfrm>
            <a:off x="-545621" y="-319177"/>
            <a:ext cx="3140015" cy="10925355"/>
          </a:xfrm>
          <a:prstGeom prst="rect">
            <a:avLst/>
          </a:prstGeom>
          <a:solidFill>
            <a:srgbClr val="FEE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4073336" y="4333720"/>
            <a:ext cx="12330229" cy="2322592"/>
          </a:xfrm>
          <a:custGeom>
            <a:rect b="b" l="l" r="r" t="t"/>
            <a:pathLst>
              <a:path extrusionOk="0" h="2322592" w="12330229">
                <a:moveTo>
                  <a:pt x="0" y="0"/>
                </a:moveTo>
                <a:lnTo>
                  <a:pt x="12330229" y="0"/>
                </a:lnTo>
                <a:lnTo>
                  <a:pt x="12330229" y="2322592"/>
                </a:lnTo>
                <a:lnTo>
                  <a:pt x="0" y="232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8"/>
          <p:cNvSpPr txBox="1"/>
          <p:nvPr/>
        </p:nvSpPr>
        <p:spPr>
          <a:xfrm>
            <a:off x="2901805" y="922805"/>
            <a:ext cx="13553898" cy="1073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16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Conexion a la base de datos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3217601" y="2828853"/>
            <a:ext cx="140416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Cerrar la conexion (Importante)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C20D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19"/>
          <p:cNvGrpSpPr/>
          <p:nvPr/>
        </p:nvGrpSpPr>
        <p:grpSpPr>
          <a:xfrm>
            <a:off x="3167915" y="-573219"/>
            <a:ext cx="15472153" cy="11608849"/>
            <a:chOff x="0" y="-66675"/>
            <a:chExt cx="4074970" cy="3057475"/>
          </a:xfrm>
        </p:grpSpPr>
        <p:sp>
          <p:nvSpPr>
            <p:cNvPr id="285" name="Google Shape;285;p19"/>
            <p:cNvSpPr/>
            <p:nvPr/>
          </p:nvSpPr>
          <p:spPr>
            <a:xfrm>
              <a:off x="0" y="0"/>
              <a:ext cx="4074970" cy="2990800"/>
            </a:xfrm>
            <a:custGeom>
              <a:rect b="b" l="l" r="r" t="t"/>
              <a:pathLst>
                <a:path extrusionOk="0" h="2990800" w="4074970">
                  <a:moveTo>
                    <a:pt x="24519" y="0"/>
                  </a:moveTo>
                  <a:lnTo>
                    <a:pt x="4050452" y="0"/>
                  </a:lnTo>
                  <a:cubicBezTo>
                    <a:pt x="4056954" y="0"/>
                    <a:pt x="4063191" y="2583"/>
                    <a:pt x="4067789" y="7181"/>
                  </a:cubicBezTo>
                  <a:cubicBezTo>
                    <a:pt x="4072387" y="11779"/>
                    <a:pt x="4074970" y="18016"/>
                    <a:pt x="4074970" y="24519"/>
                  </a:cubicBezTo>
                  <a:lnTo>
                    <a:pt x="4074970" y="2966281"/>
                  </a:lnTo>
                  <a:cubicBezTo>
                    <a:pt x="4074970" y="2979822"/>
                    <a:pt x="4063993" y="2990800"/>
                    <a:pt x="4050452" y="2990800"/>
                  </a:cubicBezTo>
                  <a:lnTo>
                    <a:pt x="24519" y="2990800"/>
                  </a:lnTo>
                  <a:cubicBezTo>
                    <a:pt x="10977" y="2990800"/>
                    <a:pt x="0" y="2979822"/>
                    <a:pt x="0" y="2966281"/>
                  </a:cubicBezTo>
                  <a:lnTo>
                    <a:pt x="0" y="24519"/>
                  </a:lnTo>
                  <a:cubicBezTo>
                    <a:pt x="0" y="10977"/>
                    <a:pt x="10977" y="0"/>
                    <a:pt x="24519" y="0"/>
                  </a:cubicBezTo>
                  <a:close/>
                </a:path>
              </a:pathLst>
            </a:custGeom>
            <a:solidFill>
              <a:srgbClr val="81858B"/>
            </a:solidFill>
            <a:ln cap="rnd" cmpd="sng" w="47625">
              <a:solidFill>
                <a:srgbClr val="8488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9"/>
            <p:cNvSpPr txBox="1"/>
            <p:nvPr/>
          </p:nvSpPr>
          <p:spPr>
            <a:xfrm>
              <a:off x="0" y="-66675"/>
              <a:ext cx="4074970" cy="3057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l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 </a:t>
              </a:r>
              <a:endParaRPr/>
            </a:p>
          </p:txBody>
        </p:sp>
      </p:grpSp>
      <p:grpSp>
        <p:nvGrpSpPr>
          <p:cNvPr id="287" name="Google Shape;287;p19"/>
          <p:cNvGrpSpPr/>
          <p:nvPr/>
        </p:nvGrpSpPr>
        <p:grpSpPr>
          <a:xfrm>
            <a:off x="3649536" y="991809"/>
            <a:ext cx="14156843" cy="8266491"/>
            <a:chOff x="0" y="-133350"/>
            <a:chExt cx="3728551" cy="2177183"/>
          </a:xfrm>
        </p:grpSpPr>
        <p:sp>
          <p:nvSpPr>
            <p:cNvPr id="288" name="Google Shape;288;p19"/>
            <p:cNvSpPr/>
            <p:nvPr/>
          </p:nvSpPr>
          <p:spPr>
            <a:xfrm>
              <a:off x="0" y="0"/>
              <a:ext cx="3728551" cy="2043833"/>
            </a:xfrm>
            <a:custGeom>
              <a:rect b="b" l="l" r="r" t="t"/>
              <a:pathLst>
                <a:path extrusionOk="0" h="2043833" w="3728551">
                  <a:moveTo>
                    <a:pt x="26797" y="0"/>
                  </a:moveTo>
                  <a:lnTo>
                    <a:pt x="3701755" y="0"/>
                  </a:lnTo>
                  <a:cubicBezTo>
                    <a:pt x="3708862" y="0"/>
                    <a:pt x="3715677" y="2823"/>
                    <a:pt x="3720703" y="7849"/>
                  </a:cubicBezTo>
                  <a:cubicBezTo>
                    <a:pt x="3725728" y="12874"/>
                    <a:pt x="3728551" y="19690"/>
                    <a:pt x="3728551" y="26797"/>
                  </a:cubicBezTo>
                  <a:lnTo>
                    <a:pt x="3728551" y="2017036"/>
                  </a:lnTo>
                  <a:cubicBezTo>
                    <a:pt x="3728551" y="2024143"/>
                    <a:pt x="3725728" y="2030959"/>
                    <a:pt x="3720703" y="2035984"/>
                  </a:cubicBezTo>
                  <a:cubicBezTo>
                    <a:pt x="3715677" y="2041010"/>
                    <a:pt x="3708862" y="2043833"/>
                    <a:pt x="3701755" y="2043833"/>
                  </a:cubicBezTo>
                  <a:lnTo>
                    <a:pt x="26797" y="2043833"/>
                  </a:lnTo>
                  <a:cubicBezTo>
                    <a:pt x="11997" y="2043833"/>
                    <a:pt x="0" y="2031836"/>
                    <a:pt x="0" y="2017036"/>
                  </a:cubicBezTo>
                  <a:lnTo>
                    <a:pt x="0" y="26797"/>
                  </a:lnTo>
                  <a:cubicBezTo>
                    <a:pt x="0" y="11997"/>
                    <a:pt x="11997" y="0"/>
                    <a:pt x="26797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FEE6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0" y="-133350"/>
              <a:ext cx="3728551" cy="21771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  Contenido práctico: 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Repaso (matrices, y vectores)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Instalación MySQL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Conexión MySQL</a:t>
              </a:r>
              <a:endParaRPr/>
            </a:p>
            <a:p>
              <a:pPr indent="-528947" lvl="1" marL="1057895" marR="0" rtl="0" algn="just">
                <a:lnSpc>
                  <a:spcPct val="140008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899"/>
                <a:buFont typeface="Arial"/>
                <a:buChar char="•"/>
              </a:pPr>
              <a:r>
                <a:rPr b="0" i="0" lang="en-US" sz="48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Crear DB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B1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20"/>
          <p:cNvGrpSpPr/>
          <p:nvPr/>
        </p:nvGrpSpPr>
        <p:grpSpPr>
          <a:xfrm>
            <a:off x="448196" y="4359681"/>
            <a:ext cx="17514837" cy="5499039"/>
            <a:chOff x="0" y="-47625"/>
            <a:chExt cx="4612961" cy="1448307"/>
          </a:xfrm>
        </p:grpSpPr>
        <p:sp>
          <p:nvSpPr>
            <p:cNvPr id="295" name="Google Shape;295;p20"/>
            <p:cNvSpPr/>
            <p:nvPr/>
          </p:nvSpPr>
          <p:spPr>
            <a:xfrm>
              <a:off x="0" y="0"/>
              <a:ext cx="4612961" cy="1400682"/>
            </a:xfrm>
            <a:custGeom>
              <a:rect b="b" l="l" r="r" t="t"/>
              <a:pathLst>
                <a:path extrusionOk="0" h="1400682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1379023"/>
                  </a:lnTo>
                  <a:cubicBezTo>
                    <a:pt x="4612961" y="1384767"/>
                    <a:pt x="4610679" y="1390276"/>
                    <a:pt x="4606617" y="1394338"/>
                  </a:cubicBezTo>
                  <a:cubicBezTo>
                    <a:pt x="4602555" y="1398400"/>
                    <a:pt x="4597047" y="1400682"/>
                    <a:pt x="4591302" y="1400682"/>
                  </a:cubicBezTo>
                  <a:lnTo>
                    <a:pt x="21659" y="1400682"/>
                  </a:lnTo>
                  <a:cubicBezTo>
                    <a:pt x="15915" y="1400682"/>
                    <a:pt x="10406" y="1398400"/>
                    <a:pt x="6344" y="1394338"/>
                  </a:cubicBezTo>
                  <a:cubicBezTo>
                    <a:pt x="2282" y="1390276"/>
                    <a:pt x="0" y="1384767"/>
                    <a:pt x="0" y="1379023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0" y="-47625"/>
              <a:ext cx="4612961" cy="14483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20"/>
          <p:cNvGrpSpPr/>
          <p:nvPr/>
        </p:nvGrpSpPr>
        <p:grpSpPr>
          <a:xfrm>
            <a:off x="448196" y="375630"/>
            <a:ext cx="17514837" cy="3640588"/>
            <a:chOff x="0" y="-47625"/>
            <a:chExt cx="4612961" cy="958838"/>
          </a:xfrm>
        </p:grpSpPr>
        <p:sp>
          <p:nvSpPr>
            <p:cNvPr id="298" name="Google Shape;298;p20"/>
            <p:cNvSpPr/>
            <p:nvPr/>
          </p:nvSpPr>
          <p:spPr>
            <a:xfrm>
              <a:off x="0" y="0"/>
              <a:ext cx="4612961" cy="911213"/>
            </a:xfrm>
            <a:custGeom>
              <a:rect b="b" l="l" r="r" t="t"/>
              <a:pathLst>
                <a:path extrusionOk="0" h="911213" w="4612961">
                  <a:moveTo>
                    <a:pt x="21659" y="0"/>
                  </a:moveTo>
                  <a:lnTo>
                    <a:pt x="4591302" y="0"/>
                  </a:lnTo>
                  <a:cubicBezTo>
                    <a:pt x="4597047" y="0"/>
                    <a:pt x="4602555" y="2282"/>
                    <a:pt x="4606617" y="6344"/>
                  </a:cubicBezTo>
                  <a:cubicBezTo>
                    <a:pt x="4610679" y="10406"/>
                    <a:pt x="4612961" y="15915"/>
                    <a:pt x="4612961" y="21659"/>
                  </a:cubicBezTo>
                  <a:lnTo>
                    <a:pt x="4612961" y="889554"/>
                  </a:lnTo>
                  <a:cubicBezTo>
                    <a:pt x="4612961" y="895298"/>
                    <a:pt x="4610679" y="900807"/>
                    <a:pt x="4606617" y="904869"/>
                  </a:cubicBezTo>
                  <a:cubicBezTo>
                    <a:pt x="4602555" y="908931"/>
                    <a:pt x="4597047" y="911213"/>
                    <a:pt x="4591302" y="911213"/>
                  </a:cubicBezTo>
                  <a:lnTo>
                    <a:pt x="21659" y="911213"/>
                  </a:lnTo>
                  <a:cubicBezTo>
                    <a:pt x="15915" y="911213"/>
                    <a:pt x="10406" y="908931"/>
                    <a:pt x="6344" y="904869"/>
                  </a:cubicBezTo>
                  <a:cubicBezTo>
                    <a:pt x="2282" y="900807"/>
                    <a:pt x="0" y="895298"/>
                    <a:pt x="0" y="889554"/>
                  </a:cubicBezTo>
                  <a:lnTo>
                    <a:pt x="0" y="21659"/>
                  </a:lnTo>
                  <a:cubicBezTo>
                    <a:pt x="0" y="15915"/>
                    <a:pt x="2282" y="10406"/>
                    <a:pt x="6344" y="6344"/>
                  </a:cubicBezTo>
                  <a:cubicBezTo>
                    <a:pt x="10406" y="2282"/>
                    <a:pt x="15915" y="0"/>
                    <a:pt x="21659" y="0"/>
                  </a:cubicBezTo>
                  <a:close/>
                </a:path>
              </a:pathLst>
            </a:custGeom>
            <a:solidFill>
              <a:srgbClr val="000000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0" y="-47625"/>
              <a:ext cx="4612961" cy="95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20"/>
          <p:cNvSpPr txBox="1"/>
          <p:nvPr/>
        </p:nvSpPr>
        <p:spPr>
          <a:xfrm>
            <a:off x="1966504" y="1742703"/>
            <a:ext cx="15292796" cy="1258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403" u="none" cap="none" strike="noStrike">
                <a:solidFill>
                  <a:srgbClr val="FEFFFF"/>
                </a:solidFill>
                <a:latin typeface="Shrikhand"/>
                <a:ea typeface="Shrikhand"/>
                <a:cs typeface="Shrikhand"/>
                <a:sym typeface="Shrikhand"/>
              </a:rPr>
              <a:t>Valor : Humildad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1966504" y="4632318"/>
            <a:ext cx="14956731" cy="5226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13" u="none" cap="none" strike="noStrike">
                <a:solidFill>
                  <a:srgbClr val="191919"/>
                </a:solidFill>
                <a:latin typeface="Shrikhand"/>
                <a:ea typeface="Shrikhand"/>
                <a:cs typeface="Shrikhand"/>
                <a:sym typeface="Shrikhand"/>
              </a:rPr>
              <a:t>Reconocer lo que no se sabe es el primer paso para aprender más.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B1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1"/>
          <p:cNvGrpSpPr/>
          <p:nvPr/>
        </p:nvGrpSpPr>
        <p:grpSpPr>
          <a:xfrm>
            <a:off x="1028700" y="751856"/>
            <a:ext cx="16646680" cy="9010846"/>
            <a:chOff x="0" y="-47625"/>
            <a:chExt cx="4384311" cy="2373227"/>
          </a:xfrm>
        </p:grpSpPr>
        <p:sp>
          <p:nvSpPr>
            <p:cNvPr id="307" name="Google Shape;307;p21"/>
            <p:cNvSpPr/>
            <p:nvPr/>
          </p:nvSpPr>
          <p:spPr>
            <a:xfrm>
              <a:off x="0" y="0"/>
              <a:ext cx="4384311" cy="2325602"/>
            </a:xfrm>
            <a:custGeom>
              <a:rect b="b" l="l" r="r" t="t"/>
              <a:pathLst>
                <a:path extrusionOk="0" h="2325602" w="4384311">
                  <a:moveTo>
                    <a:pt x="22789" y="0"/>
                  </a:moveTo>
                  <a:lnTo>
                    <a:pt x="4361522" y="0"/>
                  </a:lnTo>
                  <a:cubicBezTo>
                    <a:pt x="4367566" y="0"/>
                    <a:pt x="4373363" y="2401"/>
                    <a:pt x="4377636" y="6675"/>
                  </a:cubicBezTo>
                  <a:cubicBezTo>
                    <a:pt x="4381910" y="10948"/>
                    <a:pt x="4384311" y="16745"/>
                    <a:pt x="4384311" y="22789"/>
                  </a:cubicBezTo>
                  <a:lnTo>
                    <a:pt x="4384311" y="2302814"/>
                  </a:lnTo>
                  <a:cubicBezTo>
                    <a:pt x="4384311" y="2315399"/>
                    <a:pt x="4374108" y="2325602"/>
                    <a:pt x="4361522" y="2325602"/>
                  </a:cubicBezTo>
                  <a:lnTo>
                    <a:pt x="22789" y="2325602"/>
                  </a:lnTo>
                  <a:cubicBezTo>
                    <a:pt x="10203" y="2325602"/>
                    <a:pt x="0" y="2315399"/>
                    <a:pt x="0" y="2302814"/>
                  </a:cubicBezTo>
                  <a:lnTo>
                    <a:pt x="0" y="22789"/>
                  </a:lnTo>
                  <a:cubicBezTo>
                    <a:pt x="0" y="10203"/>
                    <a:pt x="10203" y="0"/>
                    <a:pt x="22789" y="0"/>
                  </a:cubicBezTo>
                  <a:close/>
                </a:path>
              </a:pathLst>
            </a:custGeom>
            <a:solidFill>
              <a:srgbClr val="191919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0" y="-47625"/>
              <a:ext cx="4384311" cy="2373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21"/>
          <p:cNvSpPr txBox="1"/>
          <p:nvPr/>
        </p:nvSpPr>
        <p:spPr>
          <a:xfrm>
            <a:off x="1700829" y="1380212"/>
            <a:ext cx="15558471" cy="1823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81" u="none" cap="none" strike="noStrike">
                <a:solidFill>
                  <a:srgbClr val="FEFFFF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1289642" y="3127086"/>
            <a:ext cx="16380845" cy="3580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8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Auxiliar - creador : Andy Ezequiel Sanic Tiul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8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Microsoft  : https://visualstudio.microsoft.com/es/vs/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8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Lectura: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28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8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Documentación de MySQL Workbench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8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https://www.mysql.com/products/workbench/</a:t>
            </a:r>
            <a:endParaRPr/>
          </a:p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28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E60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22"/>
          <p:cNvGrpSpPr/>
          <p:nvPr/>
        </p:nvGrpSpPr>
        <p:grpSpPr>
          <a:xfrm>
            <a:off x="496608" y="290709"/>
            <a:ext cx="17178772" cy="9471993"/>
            <a:chOff x="0" y="-47625"/>
            <a:chExt cx="4524450" cy="2494681"/>
          </a:xfrm>
        </p:grpSpPr>
        <p:sp>
          <p:nvSpPr>
            <p:cNvPr id="316" name="Google Shape;316;p22"/>
            <p:cNvSpPr/>
            <p:nvPr/>
          </p:nvSpPr>
          <p:spPr>
            <a:xfrm>
              <a:off x="0" y="0"/>
              <a:ext cx="4524450" cy="2447056"/>
            </a:xfrm>
            <a:custGeom>
              <a:rect b="b" l="l" r="r" t="t"/>
              <a:pathLst>
                <a:path extrusionOk="0" h="2447056" w="4524450">
                  <a:moveTo>
                    <a:pt x="22083" y="0"/>
                  </a:moveTo>
                  <a:lnTo>
                    <a:pt x="4502367" y="0"/>
                  </a:lnTo>
                  <a:cubicBezTo>
                    <a:pt x="4514564" y="0"/>
                    <a:pt x="4524450" y="9887"/>
                    <a:pt x="4524450" y="22083"/>
                  </a:cubicBezTo>
                  <a:lnTo>
                    <a:pt x="4524450" y="2424973"/>
                  </a:lnTo>
                  <a:cubicBezTo>
                    <a:pt x="4524450" y="2430830"/>
                    <a:pt x="4522124" y="2436447"/>
                    <a:pt x="4517982" y="2440588"/>
                  </a:cubicBezTo>
                  <a:cubicBezTo>
                    <a:pt x="4513841" y="2444730"/>
                    <a:pt x="4508224" y="2447056"/>
                    <a:pt x="4502367" y="2447056"/>
                  </a:cubicBezTo>
                  <a:lnTo>
                    <a:pt x="22083" y="2447056"/>
                  </a:lnTo>
                  <a:cubicBezTo>
                    <a:pt x="9887" y="2447056"/>
                    <a:pt x="0" y="2437169"/>
                    <a:pt x="0" y="2424973"/>
                  </a:cubicBezTo>
                  <a:lnTo>
                    <a:pt x="0" y="22083"/>
                  </a:lnTo>
                  <a:cubicBezTo>
                    <a:pt x="0" y="9887"/>
                    <a:pt x="9887" y="0"/>
                    <a:pt x="22083" y="0"/>
                  </a:cubicBezTo>
                  <a:close/>
                </a:path>
              </a:pathLst>
            </a:custGeom>
            <a:solidFill>
              <a:srgbClr val="FEFFFF"/>
            </a:solidFill>
            <a:ln cap="rnd" cmpd="sng" w="47625">
              <a:solidFill>
                <a:srgbClr val="FE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 txBox="1"/>
            <p:nvPr/>
          </p:nvSpPr>
          <p:spPr>
            <a:xfrm>
              <a:off x="0" y="-47625"/>
              <a:ext cx="4524450" cy="24946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22"/>
          <p:cNvSpPr/>
          <p:nvPr/>
        </p:nvSpPr>
        <p:spPr>
          <a:xfrm>
            <a:off x="14106227" y="2020042"/>
            <a:ext cx="2859716" cy="4104533"/>
          </a:xfrm>
          <a:custGeom>
            <a:rect b="b" l="l" r="r" t="t"/>
            <a:pathLst>
              <a:path extrusionOk="0" h="4104533" w="2859716">
                <a:moveTo>
                  <a:pt x="0" y="0"/>
                </a:moveTo>
                <a:lnTo>
                  <a:pt x="2859715" y="0"/>
                </a:lnTo>
                <a:lnTo>
                  <a:pt x="2859715" y="4104533"/>
                </a:lnTo>
                <a:lnTo>
                  <a:pt x="0" y="4104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22"/>
          <p:cNvSpPr txBox="1"/>
          <p:nvPr/>
        </p:nvSpPr>
        <p:spPr>
          <a:xfrm>
            <a:off x="1899004" y="3358624"/>
            <a:ext cx="11865006" cy="2143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¡GRACIAS POR SU  ATENCIÓN!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6457542" y="4660901"/>
            <a:ext cx="3457384" cy="1463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2199302" y="7445375"/>
            <a:ext cx="14766640" cy="284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