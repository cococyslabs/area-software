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embeddedFontLst>
    <p:embeddedFont>
      <p:font typeface="Lobster"/>
      <p:regular r:id="rId18"/>
    </p:embeddedFont>
    <p:embeddedFont>
      <p:font typeface="Pacifico"/>
      <p:regular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jxKadSdAm/cQS7ExmHWK3J3Xdn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6.xml"/><Relationship Id="rId22" Type="http://schemas.openxmlformats.org/officeDocument/2006/relationships/font" Target="fonts/OpenSans-italic.fntdata"/><Relationship Id="rId10" Type="http://schemas.openxmlformats.org/officeDocument/2006/relationships/slide" Target="slides/slide5.xml"/><Relationship Id="rId21" Type="http://schemas.openxmlformats.org/officeDocument/2006/relationships/font" Target="fonts/OpenSans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acifico-regular.fntdata"/><Relationship Id="rId6" Type="http://schemas.openxmlformats.org/officeDocument/2006/relationships/slide" Target="slides/slide1.xml"/><Relationship Id="rId18" Type="http://schemas.openxmlformats.org/officeDocument/2006/relationships/font" Target="fonts/Lobs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2" name="Google Shape;42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3" name="Google Shape;43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1028700" y="5979021"/>
            <a:ext cx="6351814" cy="2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092 Programacion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 Computadoras 2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2956500" y="2132508"/>
            <a:ext cx="12375000" cy="1982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WHILE Y MATRICES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" name="Google Shape;73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" name="Google Shape;74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2"/>
          <p:cNvGrpSpPr/>
          <p:nvPr/>
        </p:nvGrpSpPr>
        <p:grpSpPr>
          <a:xfrm>
            <a:off x="764447" y="4544825"/>
            <a:ext cx="5709916" cy="845385"/>
            <a:chOff x="0" y="-65837"/>
            <a:chExt cx="2430999" cy="359923"/>
          </a:xfrm>
        </p:grpSpPr>
        <p:sp>
          <p:nvSpPr>
            <p:cNvPr id="80" name="Google Shape;8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"/>
            <p:cNvSpPr txBox="1"/>
            <p:nvPr/>
          </p:nvSpPr>
          <p:spPr>
            <a:xfrm>
              <a:off x="367885" y="-65837"/>
              <a:ext cx="2063114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Dudas de clase o generales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" name="Google Shape;82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" name="Google Shape;83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84" name="Google Shape;84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88" name="Google Shape;88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11739805" y="3232617"/>
            <a:ext cx="5353646" cy="1267162"/>
          </a:xfrm>
          <a:custGeom>
            <a:rect b="b" l="l" r="r" t="t"/>
            <a:pathLst>
              <a:path extrusionOk="0" h="333738" w="1410014">
                <a:moveTo>
                  <a:pt x="1206814" y="0"/>
                </a:moveTo>
                <a:lnTo>
                  <a:pt x="0" y="0"/>
                </a:lnTo>
                <a:lnTo>
                  <a:pt x="0" y="333738"/>
                </a:lnTo>
                <a:lnTo>
                  <a:pt x="1206814" y="333738"/>
                </a:lnTo>
                <a:lnTo>
                  <a:pt x="1410014" y="166869"/>
                </a:lnTo>
                <a:lnTo>
                  <a:pt x="120681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" name="Google Shape;90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91" name="Google Shape;91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Ver en el apartado material de apoyo en Uedi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" name="Google Shape;93;p2"/>
          <p:cNvGrpSpPr/>
          <p:nvPr/>
        </p:nvGrpSpPr>
        <p:grpSpPr>
          <a:xfrm>
            <a:off x="176619" y="5444302"/>
            <a:ext cx="4613551" cy="845385"/>
            <a:chOff x="0" y="-76200"/>
            <a:chExt cx="1964221" cy="359923"/>
          </a:xfrm>
        </p:grpSpPr>
        <p:sp>
          <p:nvSpPr>
            <p:cNvPr id="94" name="Google Shape;9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64883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Anuncios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" name="Google Shape;96;p2"/>
          <p:cNvGrpSpPr/>
          <p:nvPr/>
        </p:nvGrpSpPr>
        <p:grpSpPr>
          <a:xfrm>
            <a:off x="176619" y="6425875"/>
            <a:ext cx="5433658" cy="845385"/>
            <a:chOff x="0" y="-76200"/>
            <a:chExt cx="2313383" cy="359923"/>
          </a:xfrm>
        </p:grpSpPr>
        <p:sp>
          <p:nvSpPr>
            <p:cNvPr id="97" name="Google Shape;9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463462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Contenido Laboratorio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" name="Google Shape;99;p2"/>
          <p:cNvGrpSpPr/>
          <p:nvPr/>
        </p:nvGrpSpPr>
        <p:grpSpPr>
          <a:xfrm>
            <a:off x="176619" y="7349457"/>
            <a:ext cx="5237713" cy="845385"/>
            <a:chOff x="0" y="-76200"/>
            <a:chExt cx="2229959" cy="359923"/>
          </a:xfrm>
        </p:grpSpPr>
        <p:sp>
          <p:nvSpPr>
            <p:cNvPr id="100" name="Google Shape;10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380038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Lectura Explicativa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176619" y="8412915"/>
            <a:ext cx="4998222" cy="845385"/>
            <a:chOff x="0" y="-76200"/>
            <a:chExt cx="2127995" cy="359923"/>
          </a:xfrm>
        </p:grpSpPr>
        <p:sp>
          <p:nvSpPr>
            <p:cNvPr id="103" name="Google Shape;103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278074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Dudas del tema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/>
          <p:nvPr/>
        </p:nvSpPr>
        <p:spPr>
          <a:xfrm flipH="1" rot="-5400000">
            <a:off x="3999926" y="-3999282"/>
            <a:ext cx="10287000" cy="18286850"/>
          </a:xfrm>
          <a:prstGeom prst="rect">
            <a:avLst/>
          </a:prstGeom>
          <a:gradFill>
            <a:gsLst>
              <a:gs pos="0">
                <a:schemeClr val="accent1"/>
              </a:gs>
              <a:gs pos="8000">
                <a:schemeClr val="accent1"/>
              </a:gs>
              <a:gs pos="100000">
                <a:srgbClr val="244061"/>
              </a:gs>
            </a:gsLst>
            <a:lin ang="12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/>
          <p:nvPr/>
        </p:nvSpPr>
        <p:spPr>
          <a:xfrm flipH="1" rot="10800000">
            <a:off x="-3466" y="0"/>
            <a:ext cx="13606268" cy="10286358"/>
          </a:xfrm>
          <a:prstGeom prst="rect">
            <a:avLst/>
          </a:prstGeom>
          <a:gradFill>
            <a:gsLst>
              <a:gs pos="0">
                <a:srgbClr val="000000">
                  <a:alpha val="51764"/>
                </a:srgbClr>
              </a:gs>
              <a:gs pos="8000">
                <a:srgbClr val="000000">
                  <a:alpha val="51764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 flipH="1" rot="-5400000">
            <a:off x="5474237" y="-2528760"/>
            <a:ext cx="7341846" cy="18290319"/>
          </a:xfrm>
          <a:prstGeom prst="rect">
            <a:avLst/>
          </a:prstGeom>
          <a:gradFill>
            <a:gsLst>
              <a:gs pos="0">
                <a:srgbClr val="92CCDC">
                  <a:alpha val="0"/>
                </a:srgbClr>
              </a:gs>
              <a:gs pos="100000">
                <a:srgbClr val="000000">
                  <a:alpha val="45882"/>
                </a:srgbClr>
              </a:gs>
            </a:gsLst>
            <a:lin ang="1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946404" y="743988"/>
            <a:ext cx="6292710" cy="84582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3"/>
          <p:cNvGrpSpPr/>
          <p:nvPr/>
        </p:nvGrpSpPr>
        <p:grpSpPr>
          <a:xfrm>
            <a:off x="7373920" y="1511804"/>
            <a:ext cx="9380583" cy="7160400"/>
            <a:chOff x="0" y="211927"/>
            <a:chExt cx="9380583" cy="7160400"/>
          </a:xfrm>
        </p:grpSpPr>
        <p:sp>
          <p:nvSpPr>
            <p:cNvPr id="119" name="Google Shape;119;p3"/>
            <p:cNvSpPr/>
            <p:nvPr/>
          </p:nvSpPr>
          <p:spPr>
            <a:xfrm>
              <a:off x="0" y="211927"/>
              <a:ext cx="9380583" cy="7160400"/>
            </a:xfrm>
            <a:prstGeom prst="roundRect">
              <a:avLst>
                <a:gd fmla="val 16667" name="adj"/>
              </a:avLst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3"/>
            <p:cNvSpPr txBox="1"/>
            <p:nvPr/>
          </p:nvSpPr>
          <p:spPr>
            <a:xfrm>
              <a:off x="349542" y="561469"/>
              <a:ext cx="8681499" cy="64613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4300" lIns="194300" spcFirstLastPara="1" rIns="194300" wrap="square" tIns="19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100"/>
                <a:buFont typeface="Arial"/>
                <a:buNone/>
              </a:pPr>
              <a:r>
                <a:rPr b="0" i="0" lang="en-US" sz="5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Implementa Ciclos y estructuras de datos como vectores  matrices aplicando bucles(For, While) y métodos de ordenamiento para automatizar tareas, consultas de datos en una aplicación interactiva en VB.Net</a:t>
              </a:r>
              <a:endParaRPr b="0" i="0" sz="5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1257301" y="5997027"/>
            <a:ext cx="5972781" cy="3324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 rot="6269068">
            <a:off x="13076768" y="5008913"/>
            <a:ext cx="4481849" cy="4481849"/>
          </a:xfrm>
          <a:prstGeom prst="arc">
            <a:avLst>
              <a:gd fmla="val 14441841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3903" y="1056756"/>
            <a:ext cx="12360193" cy="4436208"/>
          </a:xfrm>
          <a:custGeom>
            <a:rect b="b" l="l" r="r" t="t"/>
            <a:pathLst>
              <a:path extrusionOk="0" h="2957472" w="10580201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  <a:noFill/>
          <a:ln>
            <a:noFill/>
          </a:ln>
        </p:spPr>
      </p:pic>
      <p:grpSp>
        <p:nvGrpSpPr>
          <p:cNvPr id="129" name="Google Shape;129;p4"/>
          <p:cNvGrpSpPr/>
          <p:nvPr/>
        </p:nvGrpSpPr>
        <p:grpSpPr>
          <a:xfrm>
            <a:off x="9751688" y="5998635"/>
            <a:ext cx="4983575" cy="3321553"/>
            <a:chOff x="2295436" y="1607"/>
            <a:chExt cx="4983575" cy="3321553"/>
          </a:xfrm>
        </p:grpSpPr>
        <p:sp>
          <p:nvSpPr>
            <p:cNvPr id="130" name="Google Shape;130;p4"/>
            <p:cNvSpPr/>
            <p:nvPr/>
          </p:nvSpPr>
          <p:spPr>
            <a:xfrm>
              <a:off x="2295436" y="1607"/>
              <a:ext cx="4485217" cy="2848113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7F5AAB"/>
                </a:gs>
                <a:gs pos="100000">
                  <a:srgbClr val="C7AEED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2793794" y="475047"/>
              <a:ext cx="4485217" cy="2848113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4"/>
            <p:cNvSpPr txBox="1"/>
            <p:nvPr/>
          </p:nvSpPr>
          <p:spPr>
            <a:xfrm>
              <a:off x="2877212" y="558465"/>
              <a:ext cx="4318381" cy="2681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b="0" i="0" lang="en-US" sz="2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 utiliza para repetir una secuencia de instrucciones siempre que la condición evaluada sea verdadera. Si al evaluar la condición de la misma es falsa no ingresara al ciclo y continuara con el resto del programa.</a:t>
              </a:r>
              <a:endParaRPr b="0" i="0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1257301" y="5997027"/>
            <a:ext cx="5972781" cy="3324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- LOOP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2"/>
          <p:cNvSpPr/>
          <p:nvPr/>
        </p:nvSpPr>
        <p:spPr>
          <a:xfrm rot="6269068">
            <a:off x="13076768" y="5008913"/>
            <a:ext cx="4481849" cy="4481849"/>
          </a:xfrm>
          <a:prstGeom prst="arc">
            <a:avLst>
              <a:gd fmla="val 14441841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420" y="1056756"/>
            <a:ext cx="13563160" cy="4436208"/>
          </a:xfrm>
          <a:custGeom>
            <a:rect b="b" l="l" r="r" t="t"/>
            <a:pathLst>
              <a:path extrusionOk="0" h="2957472" w="10580201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  <a:noFill/>
          <a:ln>
            <a:noFill/>
          </a:ln>
        </p:spPr>
      </p:pic>
      <p:grpSp>
        <p:nvGrpSpPr>
          <p:cNvPr id="141" name="Google Shape;141;p22"/>
          <p:cNvGrpSpPr/>
          <p:nvPr/>
        </p:nvGrpSpPr>
        <p:grpSpPr>
          <a:xfrm>
            <a:off x="9751688" y="5998635"/>
            <a:ext cx="4983575" cy="3321553"/>
            <a:chOff x="2295436" y="1607"/>
            <a:chExt cx="4983575" cy="3321553"/>
          </a:xfrm>
        </p:grpSpPr>
        <p:sp>
          <p:nvSpPr>
            <p:cNvPr id="142" name="Google Shape;142;p22"/>
            <p:cNvSpPr/>
            <p:nvPr/>
          </p:nvSpPr>
          <p:spPr>
            <a:xfrm>
              <a:off x="2295436" y="1607"/>
              <a:ext cx="4485217" cy="2848113"/>
            </a:xfrm>
            <a:prstGeom prst="roundRect">
              <a:avLst>
                <a:gd fmla="val 10000" name="adj"/>
              </a:avLst>
            </a:prstGeom>
            <a:solidFill>
              <a:srgbClr val="1D497D"/>
            </a:solidFill>
            <a:ln cap="flat" cmpd="sng" w="38100">
              <a:solidFill>
                <a:srgbClr val="EEECE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2"/>
            <p:cNvSpPr/>
            <p:nvPr/>
          </p:nvSpPr>
          <p:spPr>
            <a:xfrm>
              <a:off x="2793794" y="475047"/>
              <a:ext cx="4485217" cy="2848113"/>
            </a:xfrm>
            <a:prstGeom prst="roundRect">
              <a:avLst>
                <a:gd fmla="val 10000" name="adj"/>
              </a:avLst>
            </a:prstGeom>
            <a:solidFill>
              <a:srgbClr val="EEECE0">
                <a:alpha val="89803"/>
              </a:srgbClr>
            </a:solidFill>
            <a:ln cap="flat" cmpd="sng" w="25400">
              <a:solidFill>
                <a:srgbClr val="1D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2"/>
            <p:cNvSpPr txBox="1"/>
            <p:nvPr/>
          </p:nvSpPr>
          <p:spPr>
            <a:xfrm>
              <a:off x="2877212" y="558465"/>
              <a:ext cx="4318381" cy="2681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None/>
              </a:pPr>
              <a:r>
                <a:rPr b="0" i="0" lang="en-US" sz="2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Permite ejecutar por lo menos una vez al grupo de instrucciones. Al contrario de While, Do-Loop primero ejecuta una vez el ciclo y luego evalua si la condición se cumple, en el caso que no se cumpla dejara de ejecutarse.</a:t>
              </a:r>
              <a:endParaRPr b="0" i="0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3"/>
          <p:cNvSpPr/>
          <p:nvPr/>
        </p:nvSpPr>
        <p:spPr>
          <a:xfrm flipH="1" rot="10800000">
            <a:off x="0" y="0"/>
            <a:ext cx="18288000" cy="3556701"/>
          </a:xfrm>
          <a:custGeom>
            <a:rect b="b" l="l" r="r" t="t"/>
            <a:pathLst>
              <a:path extrusionOk="0" h="2515690" w="12192000">
                <a:moveTo>
                  <a:pt x="0" y="0"/>
                </a:moveTo>
                <a:lnTo>
                  <a:pt x="170442" y="96074"/>
                </a:lnTo>
                <a:cubicBezTo>
                  <a:pt x="323315" y="179510"/>
                  <a:pt x="418777" y="223899"/>
                  <a:pt x="424739" y="224865"/>
                </a:cubicBezTo>
                <a:cubicBezTo>
                  <a:pt x="573781" y="248496"/>
                  <a:pt x="654649" y="314572"/>
                  <a:pt x="748273" y="373939"/>
                </a:cubicBezTo>
                <a:cubicBezTo>
                  <a:pt x="830321" y="425631"/>
                  <a:pt x="917271" y="480784"/>
                  <a:pt x="1037058" y="499994"/>
                </a:cubicBezTo>
                <a:cubicBezTo>
                  <a:pt x="1195925" y="525362"/>
                  <a:pt x="1048105" y="445478"/>
                  <a:pt x="1101312" y="428540"/>
                </a:cubicBezTo>
                <a:cubicBezTo>
                  <a:pt x="1188473" y="458169"/>
                  <a:pt x="1274625" y="505369"/>
                  <a:pt x="1367071" y="516118"/>
                </a:cubicBezTo>
                <a:cubicBezTo>
                  <a:pt x="1701323" y="554463"/>
                  <a:pt x="1964451" y="648887"/>
                  <a:pt x="2189943" y="794533"/>
                </a:cubicBezTo>
                <a:cubicBezTo>
                  <a:pt x="2255082" y="836300"/>
                  <a:pt x="2357481" y="862342"/>
                  <a:pt x="2390329" y="920897"/>
                </a:cubicBezTo>
                <a:cubicBezTo>
                  <a:pt x="2406050" y="949359"/>
                  <a:pt x="2430126" y="969285"/>
                  <a:pt x="2459570" y="983740"/>
                </a:cubicBezTo>
                <a:lnTo>
                  <a:pt x="2503252" y="1000151"/>
                </a:lnTo>
                <a:lnTo>
                  <a:pt x="2503252" y="1008273"/>
                </a:lnTo>
                <a:lnTo>
                  <a:pt x="2511191" y="1009499"/>
                </a:lnTo>
                <a:cubicBezTo>
                  <a:pt x="2529847" y="1011974"/>
                  <a:pt x="2562849" y="1015701"/>
                  <a:pt x="2565029" y="1015977"/>
                </a:cubicBezTo>
                <a:cubicBezTo>
                  <a:pt x="2610845" y="1021778"/>
                  <a:pt x="2601577" y="1020837"/>
                  <a:pt x="2593745" y="1019963"/>
                </a:cubicBezTo>
                <a:lnTo>
                  <a:pt x="2591015" y="1019651"/>
                </a:lnTo>
                <a:lnTo>
                  <a:pt x="2590137" y="1019549"/>
                </a:lnTo>
                <a:cubicBezTo>
                  <a:pt x="2588203" y="1019326"/>
                  <a:pt x="2588125" y="1019321"/>
                  <a:pt x="2589021" y="1019424"/>
                </a:cubicBezTo>
                <a:lnTo>
                  <a:pt x="2591015" y="1019651"/>
                </a:lnTo>
                <a:lnTo>
                  <a:pt x="2602385" y="1020975"/>
                </a:lnTo>
                <a:lnTo>
                  <a:pt x="2614445" y="1022389"/>
                </a:lnTo>
                <a:lnTo>
                  <a:pt x="2614445" y="1020966"/>
                </a:lnTo>
                <a:lnTo>
                  <a:pt x="2676661" y="1029355"/>
                </a:lnTo>
                <a:cubicBezTo>
                  <a:pt x="2715592" y="1034194"/>
                  <a:pt x="2753901" y="1039695"/>
                  <a:pt x="2788597" y="1048926"/>
                </a:cubicBezTo>
                <a:lnTo>
                  <a:pt x="2812742" y="1057667"/>
                </a:lnTo>
                <a:lnTo>
                  <a:pt x="2970201" y="949091"/>
                </a:lnTo>
                <a:cubicBezTo>
                  <a:pt x="3052785" y="982961"/>
                  <a:pt x="2996105" y="1020057"/>
                  <a:pt x="3030610" y="1049340"/>
                </a:cubicBezTo>
                <a:cubicBezTo>
                  <a:pt x="3039005" y="1048442"/>
                  <a:pt x="3049621" y="1048500"/>
                  <a:pt x="3058913" y="1048085"/>
                </a:cubicBezTo>
                <a:lnTo>
                  <a:pt x="3072697" y="1045316"/>
                </a:lnTo>
                <a:lnTo>
                  <a:pt x="3083305" y="1040550"/>
                </a:lnTo>
                <a:lnTo>
                  <a:pt x="3125603" y="1004583"/>
                </a:lnTo>
                <a:cubicBezTo>
                  <a:pt x="3221669" y="925596"/>
                  <a:pt x="3242489" y="937564"/>
                  <a:pt x="3385106" y="1042233"/>
                </a:cubicBezTo>
                <a:cubicBezTo>
                  <a:pt x="3399403" y="1052670"/>
                  <a:pt x="3412529" y="1060209"/>
                  <a:pt x="3424945" y="1065268"/>
                </a:cubicBezTo>
                <a:lnTo>
                  <a:pt x="3436948" y="1068018"/>
                </a:lnTo>
                <a:lnTo>
                  <a:pt x="3466714" y="1063419"/>
                </a:lnTo>
                <a:lnTo>
                  <a:pt x="3550909" y="1044511"/>
                </a:lnTo>
                <a:lnTo>
                  <a:pt x="3555900" y="1041996"/>
                </a:lnTo>
                <a:cubicBezTo>
                  <a:pt x="3573827" y="1033454"/>
                  <a:pt x="3594382" y="1025941"/>
                  <a:pt x="3625978" y="1023459"/>
                </a:cubicBezTo>
                <a:lnTo>
                  <a:pt x="3632465" y="1023522"/>
                </a:lnTo>
                <a:lnTo>
                  <a:pt x="3649063" y="1018726"/>
                </a:lnTo>
                <a:cubicBezTo>
                  <a:pt x="3741849" y="989371"/>
                  <a:pt x="3810578" y="953657"/>
                  <a:pt x="3805954" y="917517"/>
                </a:cubicBezTo>
                <a:cubicBezTo>
                  <a:pt x="4031729" y="953901"/>
                  <a:pt x="4031729" y="953901"/>
                  <a:pt x="4020506" y="816231"/>
                </a:cubicBezTo>
                <a:cubicBezTo>
                  <a:pt x="4171643" y="865324"/>
                  <a:pt x="4206308" y="864422"/>
                  <a:pt x="4233682" y="799511"/>
                </a:cubicBezTo>
                <a:cubicBezTo>
                  <a:pt x="4260226" y="737017"/>
                  <a:pt x="4254728" y="668575"/>
                  <a:pt x="4306552" y="610207"/>
                </a:cubicBezTo>
                <a:cubicBezTo>
                  <a:pt x="4495313" y="657923"/>
                  <a:pt x="4699922" y="667347"/>
                  <a:pt x="4816604" y="773163"/>
                </a:cubicBezTo>
                <a:cubicBezTo>
                  <a:pt x="4834734" y="789836"/>
                  <a:pt x="4890507" y="799946"/>
                  <a:pt x="4916502" y="788104"/>
                </a:cubicBezTo>
                <a:cubicBezTo>
                  <a:pt x="5013526" y="746101"/>
                  <a:pt x="5238129" y="796871"/>
                  <a:pt x="5224415" y="674418"/>
                </a:cubicBezTo>
                <a:cubicBezTo>
                  <a:pt x="5223051" y="659300"/>
                  <a:pt x="5240524" y="644890"/>
                  <a:pt x="5274077" y="655978"/>
                </a:cubicBezTo>
                <a:cubicBezTo>
                  <a:pt x="5388582" y="694066"/>
                  <a:pt x="5367022" y="644784"/>
                  <a:pt x="5371217" y="614372"/>
                </a:cubicBezTo>
                <a:cubicBezTo>
                  <a:pt x="5375856" y="577567"/>
                  <a:pt x="5319010" y="537578"/>
                  <a:pt x="5364523" y="502501"/>
                </a:cubicBezTo>
                <a:cubicBezTo>
                  <a:pt x="5425408" y="508891"/>
                  <a:pt x="5433299" y="538191"/>
                  <a:pt x="5457871" y="558285"/>
                </a:cubicBezTo>
                <a:cubicBezTo>
                  <a:pt x="5530352" y="617005"/>
                  <a:pt x="5609566" y="664386"/>
                  <a:pt x="5750580" y="663503"/>
                </a:cubicBezTo>
                <a:cubicBezTo>
                  <a:pt x="5864519" y="662926"/>
                  <a:pt x="5966527" y="666650"/>
                  <a:pt x="5976618" y="582652"/>
                </a:cubicBezTo>
                <a:cubicBezTo>
                  <a:pt x="5978145" y="569455"/>
                  <a:pt x="5990792" y="562346"/>
                  <a:pt x="6009346" y="559470"/>
                </a:cubicBezTo>
                <a:cubicBezTo>
                  <a:pt x="6030639" y="568485"/>
                  <a:pt x="6052592" y="577083"/>
                  <a:pt x="6069735" y="587803"/>
                </a:cubicBezTo>
                <a:cubicBezTo>
                  <a:pt x="6126182" y="623812"/>
                  <a:pt x="6196945" y="634730"/>
                  <a:pt x="6270319" y="643982"/>
                </a:cubicBezTo>
                <a:cubicBezTo>
                  <a:pt x="6317101" y="649940"/>
                  <a:pt x="6363466" y="657107"/>
                  <a:pt x="6406781" y="672327"/>
                </a:cubicBezTo>
                <a:cubicBezTo>
                  <a:pt x="6433586" y="681598"/>
                  <a:pt x="6454928" y="693402"/>
                  <a:pt x="6469508" y="708574"/>
                </a:cubicBezTo>
                <a:cubicBezTo>
                  <a:pt x="6482729" y="721786"/>
                  <a:pt x="6496225" y="725422"/>
                  <a:pt x="6515869" y="715738"/>
                </a:cubicBezTo>
                <a:cubicBezTo>
                  <a:pt x="6572200" y="688353"/>
                  <a:pt x="6639257" y="676241"/>
                  <a:pt x="6725938" y="691128"/>
                </a:cubicBezTo>
                <a:cubicBezTo>
                  <a:pt x="6752109" y="695629"/>
                  <a:pt x="6772625" y="691505"/>
                  <a:pt x="6778240" y="678998"/>
                </a:cubicBezTo>
                <a:cubicBezTo>
                  <a:pt x="6784286" y="665981"/>
                  <a:pt x="6794269" y="655280"/>
                  <a:pt x="6806944" y="646178"/>
                </a:cubicBezTo>
                <a:lnTo>
                  <a:pt x="6830632" y="633915"/>
                </a:lnTo>
                <a:lnTo>
                  <a:pt x="6858072" y="646178"/>
                </a:lnTo>
                <a:cubicBezTo>
                  <a:pt x="6872754" y="655280"/>
                  <a:pt x="6884317" y="665981"/>
                  <a:pt x="6891322" y="678998"/>
                </a:cubicBezTo>
                <a:cubicBezTo>
                  <a:pt x="6897826" y="691505"/>
                  <a:pt x="6921592" y="695629"/>
                  <a:pt x="6951905" y="691128"/>
                </a:cubicBezTo>
                <a:cubicBezTo>
                  <a:pt x="7052317" y="676241"/>
                  <a:pt x="7129994" y="688353"/>
                  <a:pt x="7195246" y="715738"/>
                </a:cubicBezTo>
                <a:cubicBezTo>
                  <a:pt x="7217999" y="725422"/>
                  <a:pt x="7233634" y="721786"/>
                  <a:pt x="7248949" y="708574"/>
                </a:cubicBezTo>
                <a:cubicBezTo>
                  <a:pt x="7265838" y="693402"/>
                  <a:pt x="7290560" y="681598"/>
                  <a:pt x="7321609" y="672327"/>
                </a:cubicBezTo>
                <a:cubicBezTo>
                  <a:pt x="7371785" y="657107"/>
                  <a:pt x="7425493" y="649940"/>
                  <a:pt x="7479684" y="643982"/>
                </a:cubicBezTo>
                <a:cubicBezTo>
                  <a:pt x="7564679" y="634730"/>
                  <a:pt x="7646649" y="623812"/>
                  <a:pt x="7712035" y="587803"/>
                </a:cubicBezTo>
                <a:cubicBezTo>
                  <a:pt x="7731892" y="577083"/>
                  <a:pt x="7757322" y="568485"/>
                  <a:pt x="7781987" y="559470"/>
                </a:cubicBezTo>
                <a:cubicBezTo>
                  <a:pt x="7803481" y="562346"/>
                  <a:pt x="7818130" y="569455"/>
                  <a:pt x="7819900" y="582652"/>
                </a:cubicBezTo>
                <a:cubicBezTo>
                  <a:pt x="7831588" y="666650"/>
                  <a:pt x="7949751" y="662926"/>
                  <a:pt x="8081736" y="663503"/>
                </a:cubicBezTo>
                <a:cubicBezTo>
                  <a:pt x="8245081" y="664386"/>
                  <a:pt x="8336842" y="617005"/>
                  <a:pt x="8420801" y="558285"/>
                </a:cubicBezTo>
                <a:cubicBezTo>
                  <a:pt x="8449265" y="538191"/>
                  <a:pt x="8458404" y="508890"/>
                  <a:pt x="8528933" y="502501"/>
                </a:cubicBezTo>
                <a:cubicBezTo>
                  <a:pt x="8581654" y="537578"/>
                  <a:pt x="8515805" y="577567"/>
                  <a:pt x="8521178" y="614372"/>
                </a:cubicBezTo>
                <a:cubicBezTo>
                  <a:pt x="8526038" y="644784"/>
                  <a:pt x="8501063" y="694066"/>
                  <a:pt x="8633702" y="655978"/>
                </a:cubicBezTo>
                <a:cubicBezTo>
                  <a:pt x="8672570" y="644890"/>
                  <a:pt x="8692811" y="659300"/>
                  <a:pt x="8691231" y="674418"/>
                </a:cubicBezTo>
                <a:cubicBezTo>
                  <a:pt x="8675345" y="796871"/>
                  <a:pt x="8935518" y="746101"/>
                  <a:pt x="9047908" y="788104"/>
                </a:cubicBezTo>
                <a:cubicBezTo>
                  <a:pt x="9078021" y="799946"/>
                  <a:pt x="9142627" y="789836"/>
                  <a:pt x="9163628" y="773163"/>
                </a:cubicBezTo>
                <a:cubicBezTo>
                  <a:pt x="9298789" y="667347"/>
                  <a:pt x="9535801" y="657923"/>
                  <a:pt x="9754459" y="610207"/>
                </a:cubicBezTo>
                <a:cubicBezTo>
                  <a:pt x="9814490" y="668575"/>
                  <a:pt x="9808123" y="737017"/>
                  <a:pt x="9838868" y="799511"/>
                </a:cubicBezTo>
                <a:cubicBezTo>
                  <a:pt x="9870579" y="864422"/>
                  <a:pt x="9910733" y="865324"/>
                  <a:pt x="10085808" y="816231"/>
                </a:cubicBezTo>
                <a:cubicBezTo>
                  <a:pt x="10072804" y="953901"/>
                  <a:pt x="10072804" y="953901"/>
                  <a:pt x="10334338" y="917517"/>
                </a:cubicBezTo>
                <a:cubicBezTo>
                  <a:pt x="10328982" y="953657"/>
                  <a:pt x="10408594" y="989371"/>
                  <a:pt x="10516076" y="1018726"/>
                </a:cubicBezTo>
                <a:lnTo>
                  <a:pt x="10535302" y="1023522"/>
                </a:lnTo>
                <a:lnTo>
                  <a:pt x="10542819" y="1023458"/>
                </a:lnTo>
                <a:cubicBezTo>
                  <a:pt x="10579419" y="1025941"/>
                  <a:pt x="10603227" y="1033454"/>
                  <a:pt x="10623994" y="1041996"/>
                </a:cubicBezTo>
                <a:lnTo>
                  <a:pt x="10629774" y="1044511"/>
                </a:lnTo>
                <a:lnTo>
                  <a:pt x="10727305" y="1063419"/>
                </a:lnTo>
                <a:lnTo>
                  <a:pt x="10761785" y="1068017"/>
                </a:lnTo>
                <a:lnTo>
                  <a:pt x="10775688" y="1065268"/>
                </a:lnTo>
                <a:cubicBezTo>
                  <a:pt x="10790070" y="1060209"/>
                  <a:pt x="10805275" y="1052670"/>
                  <a:pt x="10821837" y="1042232"/>
                </a:cubicBezTo>
                <a:cubicBezTo>
                  <a:pt x="10987041" y="937564"/>
                  <a:pt x="11011156" y="925596"/>
                  <a:pt x="11122438" y="1004583"/>
                </a:cubicBezTo>
                <a:lnTo>
                  <a:pt x="11171433" y="1040550"/>
                </a:lnTo>
                <a:lnTo>
                  <a:pt x="11183724" y="1045316"/>
                </a:lnTo>
                <a:lnTo>
                  <a:pt x="11199690" y="1048085"/>
                </a:lnTo>
                <a:cubicBezTo>
                  <a:pt x="11210452" y="1048499"/>
                  <a:pt x="11222752" y="1048442"/>
                  <a:pt x="11232475" y="1049340"/>
                </a:cubicBezTo>
                <a:cubicBezTo>
                  <a:pt x="11272445" y="1020057"/>
                  <a:pt x="11206789" y="982961"/>
                  <a:pt x="11302451" y="949091"/>
                </a:cubicBezTo>
                <a:lnTo>
                  <a:pt x="11484849" y="1057667"/>
                </a:lnTo>
                <a:lnTo>
                  <a:pt x="11512818" y="1048926"/>
                </a:lnTo>
                <a:cubicBezTo>
                  <a:pt x="11553007" y="1039695"/>
                  <a:pt x="11597385" y="1034194"/>
                  <a:pt x="11642481" y="1029355"/>
                </a:cubicBezTo>
                <a:lnTo>
                  <a:pt x="11714551" y="1020966"/>
                </a:lnTo>
                <a:lnTo>
                  <a:pt x="11714551" y="1022389"/>
                </a:lnTo>
                <a:lnTo>
                  <a:pt x="11728519" y="1020975"/>
                </a:lnTo>
                <a:lnTo>
                  <a:pt x="11741691" y="1019651"/>
                </a:lnTo>
                <a:lnTo>
                  <a:pt x="11743999" y="1019424"/>
                </a:lnTo>
                <a:cubicBezTo>
                  <a:pt x="11745037" y="1019320"/>
                  <a:pt x="11744948" y="1019326"/>
                  <a:pt x="11742709" y="1019549"/>
                </a:cubicBezTo>
                <a:lnTo>
                  <a:pt x="11741691" y="1019651"/>
                </a:lnTo>
                <a:lnTo>
                  <a:pt x="11738529" y="1019963"/>
                </a:lnTo>
                <a:cubicBezTo>
                  <a:pt x="11729455" y="1020837"/>
                  <a:pt x="11718720" y="1021778"/>
                  <a:pt x="11771791" y="1015977"/>
                </a:cubicBezTo>
                <a:cubicBezTo>
                  <a:pt x="11774317" y="1015701"/>
                  <a:pt x="11812546" y="1011974"/>
                  <a:pt x="11834157" y="1009499"/>
                </a:cubicBezTo>
                <a:lnTo>
                  <a:pt x="11843354" y="1008273"/>
                </a:lnTo>
                <a:lnTo>
                  <a:pt x="11843354" y="1000151"/>
                </a:lnTo>
                <a:lnTo>
                  <a:pt x="11893955" y="983740"/>
                </a:lnTo>
                <a:cubicBezTo>
                  <a:pt x="11928061" y="969285"/>
                  <a:pt x="11955951" y="949359"/>
                  <a:pt x="11974160" y="920897"/>
                </a:cubicBezTo>
                <a:cubicBezTo>
                  <a:pt x="12002698" y="876981"/>
                  <a:pt x="12076554" y="851353"/>
                  <a:pt x="12143531" y="823664"/>
                </a:cubicBezTo>
                <a:lnTo>
                  <a:pt x="12192000" y="801163"/>
                </a:lnTo>
                <a:lnTo>
                  <a:pt x="12192000" y="2515690"/>
                </a:lnTo>
                <a:lnTo>
                  <a:pt x="0" y="2515690"/>
                </a:lnTo>
                <a:close/>
              </a:path>
            </a:pathLst>
          </a:custGeom>
          <a:solidFill>
            <a:schemeClr val="dk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3"/>
          <p:cNvSpPr txBox="1"/>
          <p:nvPr/>
        </p:nvSpPr>
        <p:spPr>
          <a:xfrm>
            <a:off x="1257300" y="547687"/>
            <a:ext cx="15773400" cy="1395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MATRICES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" name="Google Shape;152;p23"/>
          <p:cNvGrpSpPr/>
          <p:nvPr/>
        </p:nvGrpSpPr>
        <p:grpSpPr>
          <a:xfrm>
            <a:off x="1345871" y="3018420"/>
            <a:ext cx="15596256" cy="6238502"/>
            <a:chOff x="88571" y="1376"/>
            <a:chExt cx="15596256" cy="6238502"/>
          </a:xfrm>
        </p:grpSpPr>
        <p:sp>
          <p:nvSpPr>
            <p:cNvPr id="153" name="Google Shape;153;p23"/>
            <p:cNvSpPr/>
            <p:nvPr/>
          </p:nvSpPr>
          <p:spPr>
            <a:xfrm>
              <a:off x="88571" y="1376"/>
              <a:ext cx="6238502" cy="6238502"/>
            </a:xfrm>
            <a:prstGeom prst="ellipse">
              <a:avLst/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3"/>
            <p:cNvSpPr txBox="1"/>
            <p:nvPr/>
          </p:nvSpPr>
          <p:spPr>
            <a:xfrm>
              <a:off x="1002178" y="914983"/>
              <a:ext cx="4411288" cy="4411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-US" sz="2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Una matriz es un conjunto de valores que estan relacionados de forma logica entre si, como por ejemplo, el numero de alumnus de cada curoso en un instituto eductativo</a:t>
              </a:r>
              <a:endParaRPr b="0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3"/>
            <p:cNvSpPr/>
            <p:nvPr/>
          </p:nvSpPr>
          <p:spPr>
            <a:xfrm rot="5400000">
              <a:off x="6841750" y="2294026"/>
              <a:ext cx="2183476" cy="1653203"/>
            </a:xfrm>
            <a:prstGeom prst="triangle">
              <a:avLst>
                <a:gd fmla="val 50000" name="adj"/>
              </a:avLst>
            </a:prstGeom>
            <a:solidFill>
              <a:srgbClr val="BF5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3"/>
            <p:cNvSpPr/>
            <p:nvPr/>
          </p:nvSpPr>
          <p:spPr>
            <a:xfrm>
              <a:off x="9446325" y="1376"/>
              <a:ext cx="6238502" cy="6238502"/>
            </a:xfrm>
            <a:prstGeom prst="ellipse">
              <a:avLst/>
            </a:prstGeom>
            <a:solidFill>
              <a:srgbClr val="99B958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3"/>
            <p:cNvSpPr txBox="1"/>
            <p:nvPr/>
          </p:nvSpPr>
          <p:spPr>
            <a:xfrm>
              <a:off x="10359932" y="914983"/>
              <a:ext cx="4411288" cy="4411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-US" sz="2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 las matrices, puede hacer referencia a estos valores relacionados con el mismo nombre y usar un numero denominado índice o subíndice para distinguirlos. Los valores individuales se denominan elementos de la matriz. Son contiguos desde el índice 0 hasta el valor de índice mas alto.</a:t>
              </a:r>
              <a:endParaRPr b="0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9226941" y="729276"/>
            <a:ext cx="8095855" cy="1988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MATRICES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lose-up of a white background&#10;&#10;AI-generated content may be incorrect." id="164" name="Google Shape;164;p24"/>
          <p:cNvPicPr preferRelativeResize="0"/>
          <p:nvPr/>
        </p:nvPicPr>
        <p:blipFill rotWithShape="1">
          <a:blip r:embed="rId3">
            <a:alphaModFix/>
          </a:blip>
          <a:srcRect b="-1" l="9443" r="59485" t="0"/>
          <a:stretch/>
        </p:blipFill>
        <p:spPr>
          <a:xfrm>
            <a:off x="965199" y="868732"/>
            <a:ext cx="7696195" cy="3963102"/>
          </a:xfrm>
          <a:custGeom>
            <a:rect b="b" l="l" r="r" t="t"/>
            <a:pathLst>
              <a:path extrusionOk="0" h="4252881" w="4252881">
                <a:moveTo>
                  <a:pt x="95137" y="0"/>
                </a:moveTo>
                <a:lnTo>
                  <a:pt x="4157744" y="0"/>
                </a:lnTo>
                <a:cubicBezTo>
                  <a:pt x="4210287" y="0"/>
                  <a:pt x="4252881" y="42594"/>
                  <a:pt x="4252881" y="95137"/>
                </a:cubicBezTo>
                <a:lnTo>
                  <a:pt x="4252881" y="4157744"/>
                </a:lnTo>
                <a:cubicBezTo>
                  <a:pt x="4252881" y="4210287"/>
                  <a:pt x="4210287" y="4252881"/>
                  <a:pt x="4157744" y="4252881"/>
                </a:cubicBezTo>
                <a:lnTo>
                  <a:pt x="95137" y="4252881"/>
                </a:lnTo>
                <a:cubicBezTo>
                  <a:pt x="42594" y="4252881"/>
                  <a:pt x="0" y="4210287"/>
                  <a:pt x="0" y="4157744"/>
                </a:cubicBezTo>
                <a:lnTo>
                  <a:pt x="0" y="95137"/>
                </a:lnTo>
                <a:cubicBezTo>
                  <a:pt x="0" y="42594"/>
                  <a:pt x="42594" y="0"/>
                  <a:pt x="95137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descr="A math equation with blue text&#10;&#10;AI-generated content may be incorrect." id="165" name="Google Shape;165;p24"/>
          <p:cNvPicPr preferRelativeResize="0"/>
          <p:nvPr/>
        </p:nvPicPr>
        <p:blipFill rotWithShape="1">
          <a:blip r:embed="rId4">
            <a:alphaModFix/>
          </a:blip>
          <a:srcRect b="-1" l="9819" r="59763" t="0"/>
          <a:stretch/>
        </p:blipFill>
        <p:spPr>
          <a:xfrm>
            <a:off x="1007949" y="5314951"/>
            <a:ext cx="7653445" cy="3963102"/>
          </a:xfrm>
          <a:custGeom>
            <a:rect b="b" l="l" r="r" t="t"/>
            <a:pathLst>
              <a:path extrusionOk="0" h="5712488" w="4114800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66" name="Google Shape;166;p24"/>
          <p:cNvSpPr/>
          <p:nvPr/>
        </p:nvSpPr>
        <p:spPr>
          <a:xfrm>
            <a:off x="599248" y="6885102"/>
            <a:ext cx="937101" cy="937101"/>
          </a:xfrm>
          <a:prstGeom prst="rect">
            <a:avLst/>
          </a:prstGeom>
          <a:noFill/>
          <a:ln cap="flat" cmpd="sng" w="1270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7" name="Google Shape;167;p24"/>
          <p:cNvGrpSpPr/>
          <p:nvPr/>
        </p:nvGrpSpPr>
        <p:grpSpPr>
          <a:xfrm>
            <a:off x="9226941" y="2920026"/>
            <a:ext cx="8095855" cy="6527006"/>
            <a:chOff x="0" y="0"/>
            <a:chExt cx="8095855" cy="6527006"/>
          </a:xfrm>
        </p:grpSpPr>
        <p:cxnSp>
          <p:nvCxnSpPr>
            <p:cNvPr id="168" name="Google Shape;168;p24"/>
            <p:cNvCxnSpPr/>
            <p:nvPr/>
          </p:nvCxnSpPr>
          <p:spPr>
            <a:xfrm>
              <a:off x="0" y="0"/>
              <a:ext cx="8095855" cy="0"/>
            </a:xfrm>
            <a:prstGeom prst="straightConnector1">
              <a:avLst/>
            </a:prstGeom>
            <a:solidFill>
              <a:srgbClr val="49ACC5"/>
            </a:solidFill>
            <a:ln cap="flat" cmpd="sng" w="25400">
              <a:solidFill>
                <a:srgbClr val="49ACC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9" name="Google Shape;169;p24"/>
            <p:cNvSpPr/>
            <p:nvPr/>
          </p:nvSpPr>
          <p:spPr>
            <a:xfrm>
              <a:off x="0" y="0"/>
              <a:ext cx="8095855" cy="3263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4"/>
            <p:cNvSpPr txBox="1"/>
            <p:nvPr/>
          </p:nvSpPr>
          <p:spPr>
            <a:xfrm>
              <a:off x="0" y="0"/>
              <a:ext cx="8095855" cy="3263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6200" lIns="156200" spcFirstLastPara="1" rIns="156200" wrap="square" tIns="15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100"/>
                <a:buFont typeface="Arial"/>
                <a:buNone/>
              </a:pPr>
              <a:r>
                <a:rPr b="0" i="0" lang="en-US" sz="4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 declara de la siguiente manera: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1435"/>
                </a:spcBef>
                <a:spcAft>
                  <a:spcPts val="0"/>
                </a:spcAft>
                <a:buClr>
                  <a:srgbClr val="000000"/>
                </a:buClr>
                <a:buSzPts val="4100"/>
                <a:buFont typeface="Arial"/>
                <a:buNone/>
              </a:pPr>
              <a:r>
                <a:rPr b="0" i="1" lang="en-US" sz="4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	Dim &lt;nombre matriz&gt; (&lt;numero de elementos&gt;) As Tipo de datos</a:t>
              </a:r>
              <a:endParaRPr b="0" i="1" sz="4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1" name="Google Shape;171;p24"/>
            <p:cNvCxnSpPr/>
            <p:nvPr/>
          </p:nvCxnSpPr>
          <p:spPr>
            <a:xfrm>
              <a:off x="0" y="3263503"/>
              <a:ext cx="8095855" cy="0"/>
            </a:xfrm>
            <a:prstGeom prst="straightConnector1">
              <a:avLst/>
            </a:prstGeom>
            <a:solidFill>
              <a:srgbClr val="49ACC5"/>
            </a:solidFill>
            <a:ln cap="flat" cmpd="sng" w="25400">
              <a:solidFill>
                <a:srgbClr val="49ACC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2" name="Google Shape;172;p24"/>
            <p:cNvSpPr/>
            <p:nvPr/>
          </p:nvSpPr>
          <p:spPr>
            <a:xfrm>
              <a:off x="0" y="3263503"/>
              <a:ext cx="8095855" cy="3263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4"/>
            <p:cNvSpPr txBox="1"/>
            <p:nvPr/>
          </p:nvSpPr>
          <p:spPr>
            <a:xfrm>
              <a:off x="0" y="3263503"/>
              <a:ext cx="8095855" cy="3263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6200" lIns="156200" spcFirstLastPara="1" rIns="156200" wrap="square" tIns="15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100"/>
                <a:buFont typeface="Arial"/>
                <a:buNone/>
              </a:pPr>
              <a:r>
                <a:rPr b="0" i="0" lang="en-US" sz="4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 puede inicializar una matriz de la siguiente manera:</a:t>
              </a:r>
              <a:endParaRPr b="0" i="0" sz="4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5"/>
          <p:cNvSpPr/>
          <p:nvPr/>
        </p:nvSpPr>
        <p:spPr>
          <a:xfrm flipH="1">
            <a:off x="12865080" y="5003800"/>
            <a:ext cx="4937760" cy="48006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5"/>
          <p:cNvSpPr/>
          <p:nvPr/>
        </p:nvSpPr>
        <p:spPr>
          <a:xfrm>
            <a:off x="962661" y="934912"/>
            <a:ext cx="16357579" cy="8411823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5"/>
          <p:cNvSpPr txBox="1"/>
          <p:nvPr/>
        </p:nvSpPr>
        <p:spPr>
          <a:xfrm>
            <a:off x="1927860" y="1575892"/>
            <a:ext cx="12112222" cy="2427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MATRICES</a:t>
            </a:r>
            <a:endParaRPr b="0" i="0" sz="10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5"/>
          <p:cNvSpPr txBox="1"/>
          <p:nvPr/>
        </p:nvSpPr>
        <p:spPr>
          <a:xfrm>
            <a:off x="1927860" y="4454203"/>
            <a:ext cx="12112222" cy="4200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06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312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recorrer un array para mostrar sus elementos se utilizan los ciclos.</a:t>
            </a:r>
            <a:endParaRPr/>
          </a:p>
          <a:p>
            <a:pPr indent="-18288" lvl="0" marL="306000" marR="0" rtl="0" algn="l">
              <a:lnSpc>
                <a:spcPct val="90000"/>
              </a:lnSpc>
              <a:spcBef>
                <a:spcPts val="1320"/>
              </a:spcBef>
              <a:spcAft>
                <a:spcPts val="0"/>
              </a:spcAft>
              <a:buClr>
                <a:schemeClr val="accent2"/>
              </a:buClr>
              <a:buSzPts val="3312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06000" marR="0" rtl="0" algn="l">
              <a:lnSpc>
                <a:spcPct val="90000"/>
              </a:lnSpc>
              <a:spcBef>
                <a:spcPts val="1320"/>
              </a:spcBef>
              <a:spcAft>
                <a:spcPts val="0"/>
              </a:spcAft>
              <a:buClr>
                <a:schemeClr val="accent2"/>
              </a:buClr>
              <a:buSzPts val="3312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para acceder a los valores (elementos) de una matriz se debe utiliz</a:t>
            </a:r>
            <a:r>
              <a:rPr lang="en-US" sz="3600">
                <a:solidFill>
                  <a:schemeClr val="dk1"/>
                </a:solidFill>
              </a:rPr>
              <a:t>a</a:t>
            </a: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un valor de indice (ubicacion del elemento dentro del Array) para especificar la posicion a la que se desea acceder, asi como Tambien ciclos.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8" name="Google Shape;188;p6"/>
          <p:cNvSpPr txBox="1"/>
          <p:nvPr/>
        </p:nvSpPr>
        <p:spPr>
          <a:xfrm>
            <a:off x="6212437" y="3860833"/>
            <a:ext cx="6911332" cy="13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USO DE WHILE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USO DE MATRICES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3295651" y="1102924"/>
            <a:ext cx="7467599" cy="47475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7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PACIENCIA</a:t>
            </a:r>
            <a:endParaRPr/>
          </a:p>
        </p:txBody>
      </p:sp>
      <p:sp>
        <p:nvSpPr>
          <p:cNvPr id="195" name="Google Shape;195;p7"/>
          <p:cNvSpPr txBox="1"/>
          <p:nvPr/>
        </p:nvSpPr>
        <p:spPr>
          <a:xfrm>
            <a:off x="3295651" y="6117634"/>
            <a:ext cx="7467599" cy="30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reath" id="196" name="Google Shape;19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323" y="4164928"/>
            <a:ext cx="1933577" cy="19335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reath" id="197" name="Google Shape;197;p7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9911722" y="1074610"/>
            <a:ext cx="8117015" cy="811701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 txBox="1"/>
          <p:nvPr/>
        </p:nvSpPr>
        <p:spPr>
          <a:xfrm>
            <a:off x="5056655" y="6413479"/>
            <a:ext cx="9856773" cy="1434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Frase: Comprender estructuras complejas requiere calma y constancia.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04" name="Google Shape;204;p8"/>
          <p:cNvSpPr txBox="1"/>
          <p:nvPr/>
        </p:nvSpPr>
        <p:spPr>
          <a:xfrm>
            <a:off x="5803381" y="4280604"/>
            <a:ext cx="6911332" cy="2216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hay que dar crédito a las personas de las cuales te has basado para generar tu presentación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0" name="Google Shape;210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