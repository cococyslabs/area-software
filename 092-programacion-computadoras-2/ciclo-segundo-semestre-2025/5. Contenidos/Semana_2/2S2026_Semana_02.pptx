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10287000" cx="18288000"/>
  <p:notesSz cx="6858000" cy="9144000"/>
  <p:embeddedFontLst>
    <p:embeddedFont>
      <p:font typeface="League Spartan"/>
      <p:regular r:id="rId27"/>
      <p:bold r:id="rId28"/>
    </p:embeddedFont>
    <p:embeddedFont>
      <p:font typeface="Montserrat"/>
      <p:regular r:id="rId29"/>
      <p:bold r:id="rId30"/>
      <p:italic r:id="rId31"/>
      <p:boldItalic r:id="rId32"/>
    </p:embeddedFont>
    <p:embeddedFont>
      <p:font typeface="Poppins"/>
      <p:regular r:id="rId33"/>
      <p:bold r:id="rId34"/>
      <p:italic r:id="rId35"/>
      <p:boldItalic r:id="rId36"/>
    </p:embeddedFont>
    <p:embeddedFont>
      <p:font typeface="Poppins Light"/>
      <p:regular r:id="rId37"/>
      <p:bold r:id="rId38"/>
      <p:italic r:id="rId39"/>
      <p:boldItalic r:id="rId40"/>
    </p:embeddedFont>
    <p:embeddedFont>
      <p:font typeface="Ibarra Real Nova"/>
      <p:regular r:id="rId41"/>
      <p:bold r:id="rId42"/>
      <p:italic r:id="rId43"/>
      <p:boldItalic r:id="rId44"/>
    </p:embeddedFont>
    <p:embeddedFont>
      <p:font typeface="Carlito"/>
      <p:regular r:id="rId45"/>
      <p:bold r:id="rId46"/>
      <p:italic r:id="rId47"/>
      <p:boldItalic r:id="rId48"/>
    </p:embeddedFont>
    <p:embeddedFont>
      <p:font typeface="Shrikhand"/>
      <p:regular r:id="rId49"/>
    </p:embeddedFont>
    <p:embeddedFont>
      <p:font typeface="Open Sans"/>
      <p:regular r:id="rId50"/>
      <p:bold r:id="rId51"/>
      <p:italic r:id="rId52"/>
      <p:boldItalic r:id="rId5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54" roundtripDataSignature="AMtx7mjc7Sh4upoiw41xdZiiD8z+mesSW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D00538C-F786-4FEB-B756-EBC45B72D21E}">
  <a:tblStyle styleId="{BD00538C-F786-4FEB-B756-EBC45B72D21E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oppinsLight-boldItalic.fntdata"/><Relationship Id="rId42" Type="http://schemas.openxmlformats.org/officeDocument/2006/relationships/font" Target="fonts/IbarraRealNova-bold.fntdata"/><Relationship Id="rId41" Type="http://schemas.openxmlformats.org/officeDocument/2006/relationships/font" Target="fonts/IbarraRealNova-regular.fntdata"/><Relationship Id="rId44" Type="http://schemas.openxmlformats.org/officeDocument/2006/relationships/font" Target="fonts/IbarraRealNova-boldItalic.fntdata"/><Relationship Id="rId43" Type="http://schemas.openxmlformats.org/officeDocument/2006/relationships/font" Target="fonts/IbarraRealNova-italic.fntdata"/><Relationship Id="rId46" Type="http://schemas.openxmlformats.org/officeDocument/2006/relationships/font" Target="fonts/Carlito-bold.fntdata"/><Relationship Id="rId45" Type="http://schemas.openxmlformats.org/officeDocument/2006/relationships/font" Target="fonts/Carlit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Carlito-boldItalic.fntdata"/><Relationship Id="rId47" Type="http://schemas.openxmlformats.org/officeDocument/2006/relationships/font" Target="fonts/Carlito-italic.fntdata"/><Relationship Id="rId49" Type="http://schemas.openxmlformats.org/officeDocument/2006/relationships/font" Target="fonts/Shrikhand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Montserrat-italic.fntdata"/><Relationship Id="rId30" Type="http://schemas.openxmlformats.org/officeDocument/2006/relationships/font" Target="fonts/Montserrat-bold.fntdata"/><Relationship Id="rId33" Type="http://schemas.openxmlformats.org/officeDocument/2006/relationships/font" Target="fonts/Poppins-regular.fntdata"/><Relationship Id="rId32" Type="http://schemas.openxmlformats.org/officeDocument/2006/relationships/font" Target="fonts/Montserrat-boldItalic.fntdata"/><Relationship Id="rId35" Type="http://schemas.openxmlformats.org/officeDocument/2006/relationships/font" Target="fonts/Poppins-italic.fntdata"/><Relationship Id="rId34" Type="http://schemas.openxmlformats.org/officeDocument/2006/relationships/font" Target="fonts/Poppins-bold.fntdata"/><Relationship Id="rId37" Type="http://schemas.openxmlformats.org/officeDocument/2006/relationships/font" Target="fonts/PoppinsLight-regular.fntdata"/><Relationship Id="rId36" Type="http://schemas.openxmlformats.org/officeDocument/2006/relationships/font" Target="fonts/Poppins-boldItalic.fntdata"/><Relationship Id="rId39" Type="http://schemas.openxmlformats.org/officeDocument/2006/relationships/font" Target="fonts/PoppinsLight-italic.fntdata"/><Relationship Id="rId38" Type="http://schemas.openxmlformats.org/officeDocument/2006/relationships/font" Target="fonts/PoppinsLight-bold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LeagueSpartan-bold.fntdata"/><Relationship Id="rId27" Type="http://schemas.openxmlformats.org/officeDocument/2006/relationships/font" Target="fonts/LeagueSpartan-regular.fntdata"/><Relationship Id="rId29" Type="http://schemas.openxmlformats.org/officeDocument/2006/relationships/font" Target="fonts/Montserrat-regular.fntdata"/><Relationship Id="rId51" Type="http://schemas.openxmlformats.org/officeDocument/2006/relationships/font" Target="fonts/OpenSans-bold.fntdata"/><Relationship Id="rId50" Type="http://schemas.openxmlformats.org/officeDocument/2006/relationships/font" Target="fonts/OpenSans-regular.fntdata"/><Relationship Id="rId53" Type="http://schemas.openxmlformats.org/officeDocument/2006/relationships/font" Target="fonts/OpenSans-boldItalic.fntdata"/><Relationship Id="rId52" Type="http://schemas.openxmlformats.org/officeDocument/2006/relationships/font" Target="fonts/OpenSans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54" Type="http://customschemas.google.com/relationships/presentationmetadata" Target="meta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e0f393a557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g3e0f393a557_0_8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3" name="Google Shape;93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8" name="Google Shape;10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4" name="Google Shape;13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9" name="Google Shape;149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3" name="Google Shape;163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9" name="Google Shape;17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3" name="Google Shape;193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4" name="Google Shape;20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8" name="Google Shape;21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9" name="Google Shape;23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1" name="Google Shape;251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4" name="Google Shape;264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6" name="Google Shape;286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e102e70b1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g3e102e70b16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e102e70b16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g3e102e70b16_0_8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4" name="Google Shape;324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4" name="Google Shape;334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6" name="Google Shape;346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5" name="Google Shape;355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4.jpg"/><Relationship Id="rId5" Type="http://schemas.openxmlformats.org/officeDocument/2006/relationships/image" Target="../media/image2.png"/><Relationship Id="rId6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7.png"/><Relationship Id="rId5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png"/><Relationship Id="rId4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hyperlink" Target="https://visualstudio.microsoft.com/es/downloads/" TargetMode="External"/><Relationship Id="rId5" Type="http://schemas.openxmlformats.org/officeDocument/2006/relationships/hyperlink" Target="https://visualstudio.microsoft.com/es/vs/older-downloads/" TargetMode="External"/><Relationship Id="rId6" Type="http://schemas.openxmlformats.org/officeDocument/2006/relationships/image" Target="../media/image8.png"/><Relationship Id="rId7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Relationship Id="rId4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Relationship Id="rId4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Relationship Id="rId4" Type="http://schemas.openxmlformats.org/officeDocument/2006/relationships/image" Target="../media/image19.png"/><Relationship Id="rId5" Type="http://schemas.openxmlformats.org/officeDocument/2006/relationships/image" Target="../media/image11.png"/><Relationship Id="rId6" Type="http://schemas.openxmlformats.org/officeDocument/2006/relationships/image" Target="../media/image2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9.png"/><Relationship Id="rId4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png"/><Relationship Id="rId4" Type="http://schemas.openxmlformats.org/officeDocument/2006/relationships/image" Target="../media/image2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1.jpg"/><Relationship Id="rId4" Type="http://schemas.openxmlformats.org/officeDocument/2006/relationships/image" Target="../media/image20.png"/><Relationship Id="rId5" Type="http://schemas.openxmlformats.org/officeDocument/2006/relationships/image" Target="../media/image2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1.gif"/><Relationship Id="rId4" Type="http://schemas.openxmlformats.org/officeDocument/2006/relationships/image" Target="../media/image22.png"/><Relationship Id="rId10" Type="http://schemas.openxmlformats.org/officeDocument/2006/relationships/image" Target="../media/image36.gif"/><Relationship Id="rId9" Type="http://schemas.openxmlformats.org/officeDocument/2006/relationships/hyperlink" Target="https://www.microsoft.com/es-mx/download/details.aspx?id=105522" TargetMode="External"/><Relationship Id="rId5" Type="http://schemas.openxmlformats.org/officeDocument/2006/relationships/image" Target="../media/image26.png"/><Relationship Id="rId6" Type="http://schemas.openxmlformats.org/officeDocument/2006/relationships/image" Target="../media/image30.png"/><Relationship Id="rId7" Type="http://schemas.openxmlformats.org/officeDocument/2006/relationships/image" Target="../media/image33.png"/><Relationship Id="rId8" Type="http://schemas.openxmlformats.org/officeDocument/2006/relationships/image" Target="../media/image2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1.jpg"/><Relationship Id="rId4" Type="http://schemas.openxmlformats.org/officeDocument/2006/relationships/image" Target="../media/image2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visualstudio.microsoft.com/es/vs/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e0f393a557_0_8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g3e0f393a557_0_8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6" name="Google Shape;86;g3e0f393a557_0_85"/>
          <p:cNvSpPr/>
          <p:nvPr/>
        </p:nvSpPr>
        <p:spPr>
          <a:xfrm>
            <a:off x="3022664" y="4712989"/>
            <a:ext cx="10278628" cy="861022"/>
          </a:xfrm>
          <a:custGeom>
            <a:rect b="b" l="l" r="r" t="t"/>
            <a:pathLst>
              <a:path extrusionOk="0" h="861022" w="10278628">
                <a:moveTo>
                  <a:pt x="0" y="0"/>
                </a:moveTo>
                <a:lnTo>
                  <a:pt x="10278627" y="0"/>
                </a:lnTo>
                <a:lnTo>
                  <a:pt x="10278627" y="861022"/>
                </a:lnTo>
                <a:lnTo>
                  <a:pt x="0" y="8610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7" name="Google Shape;87;g3e0f393a557_0_85"/>
          <p:cNvSpPr/>
          <p:nvPr/>
        </p:nvSpPr>
        <p:spPr>
          <a:xfrm>
            <a:off x="3529784" y="5920416"/>
            <a:ext cx="7501528" cy="861022"/>
          </a:xfrm>
          <a:custGeom>
            <a:rect b="b" l="l" r="r" t="t"/>
            <a:pathLst>
              <a:path extrusionOk="0" h="861022" w="7501528">
                <a:moveTo>
                  <a:pt x="0" y="0"/>
                </a:moveTo>
                <a:lnTo>
                  <a:pt x="7501528" y="0"/>
                </a:lnTo>
                <a:lnTo>
                  <a:pt x="7501528" y="861022"/>
                </a:lnTo>
                <a:lnTo>
                  <a:pt x="0" y="8610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aphicFrame>
        <p:nvGraphicFramePr>
          <p:cNvPr id="88" name="Google Shape;88;g3e0f393a557_0_85"/>
          <p:cNvGraphicFramePr/>
          <p:nvPr/>
        </p:nvGraphicFramePr>
        <p:xfrm>
          <a:off x="13616890" y="192142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{BD00538C-F786-4FEB-B756-EBC45B72D21E}</a:tableStyleId>
              </a:tblPr>
              <a:tblGrid>
                <a:gridCol w="4444100"/>
              </a:tblGrid>
              <a:tr h="809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290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CE1"/>
                    </a:solidFill>
                  </a:tcPr>
                </a:tc>
              </a:tr>
              <a:tr h="811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290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CE1"/>
                    </a:solidFill>
                  </a:tcPr>
                </a:tc>
              </a:tr>
            </a:tbl>
          </a:graphicData>
        </a:graphic>
      </p:graphicFrame>
      <p:sp>
        <p:nvSpPr>
          <p:cNvPr id="89" name="Google Shape;89;g3e0f393a557_0_85"/>
          <p:cNvSpPr txBox="1"/>
          <p:nvPr/>
        </p:nvSpPr>
        <p:spPr>
          <a:xfrm>
            <a:off x="4996461" y="6050572"/>
            <a:ext cx="4671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latin typeface="Calibri"/>
                <a:ea typeface="Calibri"/>
                <a:cs typeface="Calibri"/>
                <a:sym typeface="Calibri"/>
              </a:rPr>
              <a:t>NOMBRE DEL TUTOR</a:t>
            </a:r>
            <a:endParaRPr/>
          </a:p>
        </p:txBody>
      </p:sp>
      <p:sp>
        <p:nvSpPr>
          <p:cNvPr id="90" name="Google Shape;90;g3e0f393a557_0_85"/>
          <p:cNvSpPr txBox="1"/>
          <p:nvPr/>
        </p:nvSpPr>
        <p:spPr>
          <a:xfrm>
            <a:off x="5452115" y="4787582"/>
            <a:ext cx="55212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9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Programacion de computadoras 2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"/>
          <p:cNvSpPr/>
          <p:nvPr/>
        </p:nvSpPr>
        <p:spPr>
          <a:xfrm>
            <a:off x="0" y="0"/>
            <a:ext cx="18288000" cy="3428999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-1497230" y="1409077"/>
            <a:ext cx="14093462" cy="10287000"/>
          </a:xfrm>
          <a:custGeom>
            <a:rect b="b" l="l" r="r" t="t"/>
            <a:pathLst>
              <a:path extrusionOk="0" h="2462566" w="3373780">
                <a:moveTo>
                  <a:pt x="3249320" y="2462566"/>
                </a:moveTo>
                <a:lnTo>
                  <a:pt x="124460" y="2462566"/>
                </a:lnTo>
                <a:cubicBezTo>
                  <a:pt x="55880" y="2462566"/>
                  <a:pt x="0" y="2406686"/>
                  <a:pt x="0" y="2338106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3249320" y="0"/>
                </a:lnTo>
                <a:cubicBezTo>
                  <a:pt x="3317900" y="0"/>
                  <a:pt x="3373780" y="55880"/>
                  <a:pt x="3373780" y="124460"/>
                </a:cubicBezTo>
                <a:lnTo>
                  <a:pt x="3373780" y="2338106"/>
                </a:lnTo>
                <a:cubicBezTo>
                  <a:pt x="3373780" y="2406686"/>
                  <a:pt x="3317900" y="2462566"/>
                  <a:pt x="3249320" y="2462566"/>
                </a:cubicBezTo>
                <a:close/>
              </a:path>
            </a:pathLst>
          </a:custGeom>
          <a:solidFill>
            <a:srgbClr val="FEE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7" name="Google Shape;97;p3"/>
          <p:cNvGrpSpPr/>
          <p:nvPr/>
        </p:nvGrpSpPr>
        <p:grpSpPr>
          <a:xfrm>
            <a:off x="11587913" y="2053719"/>
            <a:ext cx="5385349" cy="10944768"/>
            <a:chOff x="0" y="0"/>
            <a:chExt cx="5000993" cy="10163632"/>
          </a:xfrm>
        </p:grpSpPr>
        <p:sp>
          <p:nvSpPr>
            <p:cNvPr id="98" name="Google Shape;98;p3"/>
            <p:cNvSpPr/>
            <p:nvPr/>
          </p:nvSpPr>
          <p:spPr>
            <a:xfrm>
              <a:off x="0" y="0"/>
              <a:ext cx="5000993" cy="10163632"/>
            </a:xfrm>
            <a:custGeom>
              <a:rect b="b" l="l" r="r" t="t"/>
              <a:pathLst>
                <a:path extrusionOk="0" h="10163632" w="5000993">
                  <a:moveTo>
                    <a:pt x="0" y="0"/>
                  </a:moveTo>
                  <a:lnTo>
                    <a:pt x="5000993" y="0"/>
                  </a:lnTo>
                  <a:lnTo>
                    <a:pt x="5000993" y="10163632"/>
                  </a:lnTo>
                  <a:lnTo>
                    <a:pt x="0" y="10163632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-43" r="-44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3"/>
            <p:cNvSpPr/>
            <p:nvPr/>
          </p:nvSpPr>
          <p:spPr>
            <a:xfrm>
              <a:off x="338760" y="288798"/>
              <a:ext cx="4330776" cy="9398000"/>
            </a:xfrm>
            <a:custGeom>
              <a:rect b="b" l="l" r="r" t="t"/>
              <a:pathLst>
                <a:path extrusionOk="0" h="9398000" w="4330776">
                  <a:moveTo>
                    <a:pt x="3894366" y="9398000"/>
                  </a:moveTo>
                  <a:lnTo>
                    <a:pt x="436410" y="9398000"/>
                  </a:lnTo>
                  <a:cubicBezTo>
                    <a:pt x="195389" y="9398000"/>
                    <a:pt x="0" y="9202610"/>
                    <a:pt x="0" y="8961590"/>
                  </a:cubicBezTo>
                  <a:lnTo>
                    <a:pt x="0" y="436410"/>
                  </a:lnTo>
                  <a:cubicBezTo>
                    <a:pt x="0" y="195390"/>
                    <a:pt x="195389" y="0"/>
                    <a:pt x="436410" y="0"/>
                  </a:cubicBezTo>
                  <a:lnTo>
                    <a:pt x="861580" y="0"/>
                  </a:lnTo>
                  <a:cubicBezTo>
                    <a:pt x="902373" y="0"/>
                    <a:pt x="935444" y="33071"/>
                    <a:pt x="935444" y="73863"/>
                  </a:cubicBezTo>
                  <a:lnTo>
                    <a:pt x="935444" y="73863"/>
                  </a:lnTo>
                  <a:cubicBezTo>
                    <a:pt x="935444" y="225019"/>
                    <a:pt x="1057745" y="347688"/>
                    <a:pt x="1208913" y="348120"/>
                  </a:cubicBezTo>
                  <a:lnTo>
                    <a:pt x="3105874" y="353619"/>
                  </a:lnTo>
                  <a:cubicBezTo>
                    <a:pt x="3257651" y="354063"/>
                    <a:pt x="3380930" y="231140"/>
                    <a:pt x="3380930" y="79362"/>
                  </a:cubicBezTo>
                  <a:lnTo>
                    <a:pt x="3380930" y="73863"/>
                  </a:lnTo>
                  <a:cubicBezTo>
                    <a:pt x="3380930" y="33071"/>
                    <a:pt x="3414001" y="0"/>
                    <a:pt x="3454794" y="0"/>
                  </a:cubicBezTo>
                  <a:lnTo>
                    <a:pt x="3894366" y="0"/>
                  </a:lnTo>
                  <a:cubicBezTo>
                    <a:pt x="4135387" y="0"/>
                    <a:pt x="4330776" y="195390"/>
                    <a:pt x="4330776" y="436410"/>
                  </a:cubicBezTo>
                  <a:lnTo>
                    <a:pt x="4330776" y="8961603"/>
                  </a:lnTo>
                  <a:cubicBezTo>
                    <a:pt x="4330776" y="9202610"/>
                    <a:pt x="4135387" y="9398000"/>
                    <a:pt x="3894366" y="9398000"/>
                  </a:cubicBez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-41353" r="-184136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0" name="Google Shape;100;p3"/>
          <p:cNvSpPr/>
          <p:nvPr/>
        </p:nvSpPr>
        <p:spPr>
          <a:xfrm>
            <a:off x="-304800" y="8305177"/>
            <a:ext cx="3090940" cy="1994712"/>
          </a:xfrm>
          <a:custGeom>
            <a:rect b="b" l="l" r="r" t="t"/>
            <a:pathLst>
              <a:path extrusionOk="0" h="1994712" w="3090940">
                <a:moveTo>
                  <a:pt x="0" y="0"/>
                </a:moveTo>
                <a:lnTo>
                  <a:pt x="3090940" y="0"/>
                </a:lnTo>
                <a:lnTo>
                  <a:pt x="3090940" y="1994712"/>
                </a:lnTo>
                <a:lnTo>
                  <a:pt x="0" y="19947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-118895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3"/>
          <p:cNvSpPr txBox="1"/>
          <p:nvPr/>
        </p:nvSpPr>
        <p:spPr>
          <a:xfrm>
            <a:off x="654534" y="2129919"/>
            <a:ext cx="67920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0"/>
              <a:buFont typeface="Arial"/>
              <a:buNone/>
            </a:pPr>
            <a:r>
              <a:rPr b="1" lang="en-US" sz="10000">
                <a:solidFill>
                  <a:srgbClr val="191919"/>
                </a:solidFill>
              </a:rPr>
              <a:t>Semana 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3"/>
          <p:cNvSpPr txBox="1"/>
          <p:nvPr/>
        </p:nvSpPr>
        <p:spPr>
          <a:xfrm rot="5400000">
            <a:off x="14963536" y="6556334"/>
            <a:ext cx="5337506" cy="4575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4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32"/>
              <a:buFont typeface="Arial"/>
              <a:buNone/>
            </a:pPr>
            <a:r>
              <a:rPr b="0" i="0" lang="en-US" sz="1432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ESCUELA DE CIENCIAS Y SISTEMAS | FACULTAD DE INGENIERÍA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3"/>
          <p:cNvSpPr txBox="1"/>
          <p:nvPr/>
        </p:nvSpPr>
        <p:spPr>
          <a:xfrm>
            <a:off x="2945575" y="4966120"/>
            <a:ext cx="6255575" cy="14350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99"/>
              <a:buFont typeface="Arial"/>
              <a:buNone/>
            </a:pPr>
            <a:r>
              <a:rPr b="1" i="0" lang="en-US" sz="9999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Unidad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3"/>
          <p:cNvSpPr txBox="1"/>
          <p:nvPr/>
        </p:nvSpPr>
        <p:spPr>
          <a:xfrm>
            <a:off x="3304934" y="8629027"/>
            <a:ext cx="8282979" cy="1419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Escuela de Ingeniería de Ciencias y Sistemas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Facultad de Ingeniería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Universidad San Carlos de Guatemala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1028700" y="7657477"/>
            <a:ext cx="9377753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99"/>
              <a:buFont typeface="Arial"/>
              <a:buNone/>
            </a:pPr>
            <a:r>
              <a:rPr b="0" i="0" lang="en-US" sz="3999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Programación de Computadoras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FFF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oogle Shape;110;p4"/>
          <p:cNvGrpSpPr/>
          <p:nvPr/>
        </p:nvGrpSpPr>
        <p:grpSpPr>
          <a:xfrm>
            <a:off x="0" y="-72330"/>
            <a:ext cx="4674349" cy="10359330"/>
            <a:chOff x="0" y="-19050"/>
            <a:chExt cx="1231104" cy="2728383"/>
          </a:xfrm>
        </p:grpSpPr>
        <p:sp>
          <p:nvSpPr>
            <p:cNvPr id="111" name="Google Shape;111;p4"/>
            <p:cNvSpPr/>
            <p:nvPr/>
          </p:nvSpPr>
          <p:spPr>
            <a:xfrm>
              <a:off x="0" y="0"/>
              <a:ext cx="1231104" cy="2709333"/>
            </a:xfrm>
            <a:custGeom>
              <a:rect b="b" l="l" r="r" t="t"/>
              <a:pathLst>
                <a:path extrusionOk="0" h="2709333" w="1231104">
                  <a:moveTo>
                    <a:pt x="0" y="0"/>
                  </a:moveTo>
                  <a:lnTo>
                    <a:pt x="1231104" y="0"/>
                  </a:lnTo>
                  <a:lnTo>
                    <a:pt x="123110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CB13">
                <a:alpha val="83921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4"/>
            <p:cNvSpPr txBox="1"/>
            <p:nvPr/>
          </p:nvSpPr>
          <p:spPr>
            <a:xfrm>
              <a:off x="0" y="-19050"/>
              <a:ext cx="1231104" cy="27283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88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3" name="Google Shape;113;p4"/>
          <p:cNvGrpSpPr/>
          <p:nvPr/>
        </p:nvGrpSpPr>
        <p:grpSpPr>
          <a:xfrm>
            <a:off x="3131884" y="1858297"/>
            <a:ext cx="12024231" cy="6781996"/>
            <a:chOff x="0" y="-38100"/>
            <a:chExt cx="3166876" cy="1786205"/>
          </a:xfrm>
        </p:grpSpPr>
        <p:sp>
          <p:nvSpPr>
            <p:cNvPr id="114" name="Google Shape;114;p4"/>
            <p:cNvSpPr/>
            <p:nvPr/>
          </p:nvSpPr>
          <p:spPr>
            <a:xfrm>
              <a:off x="0" y="0"/>
              <a:ext cx="3166876" cy="1748105"/>
            </a:xfrm>
            <a:custGeom>
              <a:rect b="b" l="l" r="r" t="t"/>
              <a:pathLst>
                <a:path extrusionOk="0" h="1748105" w="3166876">
                  <a:moveTo>
                    <a:pt x="0" y="0"/>
                  </a:moveTo>
                  <a:lnTo>
                    <a:pt x="3166876" y="0"/>
                  </a:lnTo>
                  <a:lnTo>
                    <a:pt x="3166876" y="1748105"/>
                  </a:lnTo>
                  <a:lnTo>
                    <a:pt x="0" y="1748105"/>
                  </a:lnTo>
                  <a:close/>
                </a:path>
              </a:pathLst>
            </a:custGeom>
            <a:solidFill>
              <a:srgbClr val="FFFFFF"/>
            </a:solidFill>
            <a:ln cap="sq" cmpd="sng" w="66675">
              <a:solidFill>
                <a:srgbClr val="231F2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4"/>
            <p:cNvSpPr txBox="1"/>
            <p:nvPr/>
          </p:nvSpPr>
          <p:spPr>
            <a:xfrm>
              <a:off x="0" y="-38100"/>
              <a:ext cx="3166876" cy="17862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35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6" name="Google Shape;116;p4"/>
          <p:cNvSpPr txBox="1"/>
          <p:nvPr/>
        </p:nvSpPr>
        <p:spPr>
          <a:xfrm>
            <a:off x="4558388" y="2605133"/>
            <a:ext cx="6353568" cy="94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50"/>
              <a:buFont typeface="Arial"/>
              <a:buNone/>
            </a:pPr>
            <a:r>
              <a:rPr b="0" i="0" lang="en-US" sz="5650" u="none" cap="none" strike="noStrike">
                <a:solidFill>
                  <a:srgbClr val="2C2D3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Agenda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4"/>
          <p:cNvSpPr txBox="1"/>
          <p:nvPr/>
        </p:nvSpPr>
        <p:spPr>
          <a:xfrm>
            <a:off x="3658752" y="3983900"/>
            <a:ext cx="937219" cy="720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71"/>
              <a:buFont typeface="Arial"/>
              <a:buNone/>
            </a:pPr>
            <a:r>
              <a:rPr b="1" i="0" lang="en-US" sz="4271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4"/>
          <p:cNvSpPr txBox="1"/>
          <p:nvPr/>
        </p:nvSpPr>
        <p:spPr>
          <a:xfrm>
            <a:off x="3658752" y="4781020"/>
            <a:ext cx="937219" cy="720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71"/>
              <a:buFont typeface="Arial"/>
              <a:buNone/>
            </a:pPr>
            <a:r>
              <a:rPr b="1" i="0" lang="en-US" sz="4271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4"/>
          <p:cNvSpPr txBox="1"/>
          <p:nvPr/>
        </p:nvSpPr>
        <p:spPr>
          <a:xfrm>
            <a:off x="3658752" y="5662177"/>
            <a:ext cx="937219" cy="720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71"/>
              <a:buFont typeface="Arial"/>
              <a:buNone/>
            </a:pPr>
            <a:r>
              <a:rPr b="1" i="0" lang="en-US" sz="4271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4"/>
          <p:cNvSpPr txBox="1"/>
          <p:nvPr/>
        </p:nvSpPr>
        <p:spPr>
          <a:xfrm>
            <a:off x="9144000" y="4178890"/>
            <a:ext cx="937219" cy="720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71"/>
              <a:buFont typeface="Arial"/>
              <a:buNone/>
            </a:pPr>
            <a:r>
              <a:rPr b="1" i="0" lang="en-US" sz="4271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04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4"/>
          <p:cNvSpPr txBox="1"/>
          <p:nvPr/>
        </p:nvSpPr>
        <p:spPr>
          <a:xfrm>
            <a:off x="9144000" y="5067300"/>
            <a:ext cx="937219" cy="720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71"/>
              <a:buFont typeface="Arial"/>
              <a:buNone/>
            </a:pPr>
            <a:r>
              <a:rPr b="1" i="0" lang="en-US" sz="4271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05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4"/>
          <p:cNvSpPr txBox="1"/>
          <p:nvPr/>
        </p:nvSpPr>
        <p:spPr>
          <a:xfrm>
            <a:off x="3621169" y="6997547"/>
            <a:ext cx="937219" cy="720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71"/>
              <a:buFont typeface="Arial"/>
              <a:buNone/>
            </a:pPr>
            <a:r>
              <a:rPr b="1" i="0" lang="en-US" sz="4271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06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4"/>
          <p:cNvSpPr txBox="1"/>
          <p:nvPr/>
        </p:nvSpPr>
        <p:spPr>
          <a:xfrm>
            <a:off x="4700160" y="4158528"/>
            <a:ext cx="3611208" cy="418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4"/>
              <a:buFont typeface="Arial"/>
              <a:buNone/>
            </a:pPr>
            <a:r>
              <a:rPr b="0" i="0" lang="en-US" sz="2524" u="none" cap="none" strike="noStrike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Presentación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4"/>
          <p:cNvSpPr txBox="1"/>
          <p:nvPr/>
        </p:nvSpPr>
        <p:spPr>
          <a:xfrm>
            <a:off x="4700160" y="4952745"/>
            <a:ext cx="3611208" cy="8566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4"/>
              <a:buFont typeface="Arial"/>
              <a:buNone/>
            </a:pPr>
            <a:r>
              <a:rPr b="0" i="0" lang="en-US" sz="2524" u="none" cap="none" strike="noStrike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Instalación de Visual Studio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4"/>
          <p:cNvSpPr txBox="1"/>
          <p:nvPr/>
        </p:nvSpPr>
        <p:spPr>
          <a:xfrm>
            <a:off x="4700160" y="5872836"/>
            <a:ext cx="3611208" cy="8566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4"/>
              <a:buFont typeface="Arial"/>
              <a:buNone/>
            </a:pPr>
            <a:r>
              <a:rPr b="0" i="0" lang="en-US" sz="2524" u="none" cap="none" strike="noStrike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Creación de Proyecto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4"/>
          <p:cNvSpPr txBox="1"/>
          <p:nvPr/>
        </p:nvSpPr>
        <p:spPr>
          <a:xfrm>
            <a:off x="10185994" y="4134147"/>
            <a:ext cx="3611208" cy="8566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4"/>
              <a:buFont typeface="Arial"/>
              <a:buNone/>
            </a:pPr>
            <a:r>
              <a:rPr b="0" i="0" lang="en-US" sz="2524" u="none" cap="none" strike="noStrike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Conociendo Herramientas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4"/>
          <p:cNvSpPr txBox="1"/>
          <p:nvPr/>
        </p:nvSpPr>
        <p:spPr>
          <a:xfrm>
            <a:off x="10185994" y="5237162"/>
            <a:ext cx="4761537" cy="418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4"/>
              <a:buFont typeface="Arial"/>
              <a:buNone/>
            </a:pPr>
            <a:r>
              <a:rPr b="0" i="0" lang="en-US" sz="2524" u="none" cap="none" strike="noStrike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Valor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4"/>
          <p:cNvSpPr txBox="1"/>
          <p:nvPr/>
        </p:nvSpPr>
        <p:spPr>
          <a:xfrm>
            <a:off x="6848331" y="7167409"/>
            <a:ext cx="6526941" cy="418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4"/>
              <a:buFont typeface="Arial"/>
              <a:buNone/>
            </a:pPr>
            <a:r>
              <a:rPr b="0" i="0" lang="en-US" sz="2524" u="none" cap="none" strike="noStrike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Corto 1 habilitado durante 2 días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4"/>
          <p:cNvSpPr txBox="1"/>
          <p:nvPr/>
        </p:nvSpPr>
        <p:spPr>
          <a:xfrm>
            <a:off x="4674349" y="7167409"/>
            <a:ext cx="1947376" cy="418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4"/>
              <a:buFont typeface="Arial"/>
              <a:buNone/>
            </a:pPr>
            <a:r>
              <a:rPr b="0" i="0" lang="en-US" sz="2524" u="none" cap="none" strike="noStrike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Anuncios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4"/>
          <p:cNvSpPr txBox="1"/>
          <p:nvPr/>
        </p:nvSpPr>
        <p:spPr>
          <a:xfrm>
            <a:off x="4700160" y="7869843"/>
            <a:ext cx="1947376" cy="418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4"/>
              <a:buFont typeface="Arial"/>
              <a:buNone/>
            </a:pPr>
            <a:r>
              <a:rPr b="0" i="0" lang="en-US" sz="2524" u="none" cap="none" strike="noStrike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Videos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4"/>
          <p:cNvSpPr txBox="1"/>
          <p:nvPr/>
        </p:nvSpPr>
        <p:spPr>
          <a:xfrm>
            <a:off x="3621169" y="7699981"/>
            <a:ext cx="937219" cy="720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71"/>
              <a:buFont typeface="Arial"/>
              <a:buNone/>
            </a:pPr>
            <a:r>
              <a:rPr b="1" i="0" lang="en-US" sz="4271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07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FFF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5"/>
          <p:cNvGrpSpPr/>
          <p:nvPr/>
        </p:nvGrpSpPr>
        <p:grpSpPr>
          <a:xfrm>
            <a:off x="0" y="-72330"/>
            <a:ext cx="4674349" cy="10359330"/>
            <a:chOff x="0" y="-19050"/>
            <a:chExt cx="1231104" cy="2728383"/>
          </a:xfrm>
        </p:grpSpPr>
        <p:sp>
          <p:nvSpPr>
            <p:cNvPr id="137" name="Google Shape;137;p5"/>
            <p:cNvSpPr/>
            <p:nvPr/>
          </p:nvSpPr>
          <p:spPr>
            <a:xfrm>
              <a:off x="0" y="0"/>
              <a:ext cx="1231104" cy="2709333"/>
            </a:xfrm>
            <a:custGeom>
              <a:rect b="b" l="l" r="r" t="t"/>
              <a:pathLst>
                <a:path extrusionOk="0" h="2709333" w="1231104">
                  <a:moveTo>
                    <a:pt x="0" y="0"/>
                  </a:moveTo>
                  <a:lnTo>
                    <a:pt x="1231104" y="0"/>
                  </a:lnTo>
                  <a:lnTo>
                    <a:pt x="123110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CB13">
                <a:alpha val="83921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5"/>
            <p:cNvSpPr txBox="1"/>
            <p:nvPr/>
          </p:nvSpPr>
          <p:spPr>
            <a:xfrm>
              <a:off x="0" y="-19050"/>
              <a:ext cx="1231104" cy="27283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88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9" name="Google Shape;139;p5"/>
          <p:cNvGrpSpPr/>
          <p:nvPr/>
        </p:nvGrpSpPr>
        <p:grpSpPr>
          <a:xfrm>
            <a:off x="3131884" y="1858297"/>
            <a:ext cx="12024231" cy="6781996"/>
            <a:chOff x="0" y="-38100"/>
            <a:chExt cx="3166876" cy="1786205"/>
          </a:xfrm>
        </p:grpSpPr>
        <p:sp>
          <p:nvSpPr>
            <p:cNvPr id="140" name="Google Shape;140;p5"/>
            <p:cNvSpPr/>
            <p:nvPr/>
          </p:nvSpPr>
          <p:spPr>
            <a:xfrm>
              <a:off x="0" y="0"/>
              <a:ext cx="3166876" cy="1748105"/>
            </a:xfrm>
            <a:custGeom>
              <a:rect b="b" l="l" r="r" t="t"/>
              <a:pathLst>
                <a:path extrusionOk="0" h="1748105" w="3166876">
                  <a:moveTo>
                    <a:pt x="0" y="0"/>
                  </a:moveTo>
                  <a:lnTo>
                    <a:pt x="3166876" y="0"/>
                  </a:lnTo>
                  <a:lnTo>
                    <a:pt x="3166876" y="1748105"/>
                  </a:lnTo>
                  <a:lnTo>
                    <a:pt x="0" y="1748105"/>
                  </a:lnTo>
                  <a:close/>
                </a:path>
              </a:pathLst>
            </a:custGeom>
            <a:solidFill>
              <a:srgbClr val="FFFFFF"/>
            </a:solidFill>
            <a:ln cap="sq" cmpd="sng" w="66675">
              <a:solidFill>
                <a:srgbClr val="231F2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5"/>
            <p:cNvSpPr txBox="1"/>
            <p:nvPr/>
          </p:nvSpPr>
          <p:spPr>
            <a:xfrm>
              <a:off x="0" y="-38100"/>
              <a:ext cx="3166876" cy="17862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35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2" name="Google Shape;142;p5"/>
          <p:cNvSpPr txBox="1"/>
          <p:nvPr/>
        </p:nvSpPr>
        <p:spPr>
          <a:xfrm>
            <a:off x="4558388" y="2605133"/>
            <a:ext cx="6353568" cy="94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50"/>
              <a:buFont typeface="Arial"/>
              <a:buNone/>
            </a:pPr>
            <a:r>
              <a:rPr b="0" i="0" lang="en-US" sz="5650" u="none" cap="none" strike="noStrike">
                <a:solidFill>
                  <a:srgbClr val="2C2D3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Competencias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5"/>
          <p:cNvSpPr txBox="1"/>
          <p:nvPr/>
        </p:nvSpPr>
        <p:spPr>
          <a:xfrm>
            <a:off x="3658752" y="3983900"/>
            <a:ext cx="937219" cy="720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71"/>
              <a:buFont typeface="Arial"/>
              <a:buNone/>
            </a:pPr>
            <a:r>
              <a:rPr b="1" i="0" lang="en-US" sz="4271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5"/>
          <p:cNvSpPr txBox="1"/>
          <p:nvPr/>
        </p:nvSpPr>
        <p:spPr>
          <a:xfrm>
            <a:off x="3621169" y="6045418"/>
            <a:ext cx="937219" cy="720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71"/>
              <a:buFont typeface="Arial"/>
              <a:buNone/>
            </a:pPr>
            <a:r>
              <a:rPr b="1" i="0" lang="en-US" sz="4271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5"/>
          <p:cNvSpPr txBox="1"/>
          <p:nvPr/>
        </p:nvSpPr>
        <p:spPr>
          <a:xfrm>
            <a:off x="4700160" y="3971670"/>
            <a:ext cx="9308304" cy="1732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4"/>
              <a:buFont typeface="Arial"/>
              <a:buNone/>
            </a:pPr>
            <a:r>
              <a:rPr b="0" i="0" lang="en-US" sz="2524" u="none" cap="none" strike="noStrike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Introducir Temas fundamentales de programación mediante presentaciones y documentación para facilitar la comprensión inicial y contextualizacion del estudiante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5"/>
          <p:cNvSpPr txBox="1"/>
          <p:nvPr/>
        </p:nvSpPr>
        <p:spPr>
          <a:xfrm>
            <a:off x="4828211" y="6123769"/>
            <a:ext cx="8631578" cy="1732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7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4"/>
              <a:buFont typeface="Arial"/>
              <a:buNone/>
            </a:pPr>
            <a:r>
              <a:rPr b="0" i="0" lang="en-US" sz="2524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Desarollar Interfaces gráficas funcionales haciendo uso de controles básicos, como textbox, label, combobox capturar  mostrar los datos de forma eficiente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"/>
          <p:cNvSpPr/>
          <p:nvPr/>
        </p:nvSpPr>
        <p:spPr>
          <a:xfrm>
            <a:off x="-545621" y="8287828"/>
            <a:ext cx="19566866" cy="2127292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-1321037" y="-1028700"/>
            <a:ext cx="12174084" cy="9316528"/>
          </a:xfrm>
          <a:custGeom>
            <a:rect b="b" l="l" r="r" t="t"/>
            <a:pathLst>
              <a:path extrusionOk="0" h="2230248" w="2914308">
                <a:moveTo>
                  <a:pt x="2789848" y="2230248"/>
                </a:moveTo>
                <a:lnTo>
                  <a:pt x="124460" y="2230248"/>
                </a:lnTo>
                <a:cubicBezTo>
                  <a:pt x="55880" y="2230248"/>
                  <a:pt x="0" y="2174368"/>
                  <a:pt x="0" y="2105788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2789848" y="0"/>
                </a:lnTo>
                <a:cubicBezTo>
                  <a:pt x="2858428" y="0"/>
                  <a:pt x="2914308" y="55880"/>
                  <a:pt x="2914308" y="124460"/>
                </a:cubicBezTo>
                <a:lnTo>
                  <a:pt x="2914308" y="2105788"/>
                </a:lnTo>
                <a:cubicBezTo>
                  <a:pt x="2914308" y="2174368"/>
                  <a:pt x="2858428" y="2230248"/>
                  <a:pt x="2789848" y="2230248"/>
                </a:cubicBezTo>
                <a:close/>
              </a:path>
            </a:pathLst>
          </a:custGeom>
          <a:solidFill>
            <a:srgbClr val="FEE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16455703" y="865655"/>
            <a:ext cx="803597" cy="355044"/>
          </a:xfrm>
          <a:custGeom>
            <a:rect b="b" l="l" r="r" t="t"/>
            <a:pathLst>
              <a:path extrusionOk="0" h="355044" w="803597">
                <a:moveTo>
                  <a:pt x="0" y="0"/>
                </a:moveTo>
                <a:lnTo>
                  <a:pt x="803597" y="0"/>
                </a:lnTo>
                <a:lnTo>
                  <a:pt x="803597" y="355044"/>
                </a:lnTo>
                <a:lnTo>
                  <a:pt x="0" y="3550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4" name="Google Shape;154;p6"/>
          <p:cNvGrpSpPr/>
          <p:nvPr/>
        </p:nvGrpSpPr>
        <p:grpSpPr>
          <a:xfrm>
            <a:off x="1028700" y="908517"/>
            <a:ext cx="6661673" cy="3454572"/>
            <a:chOff x="0" y="57150"/>
            <a:chExt cx="8882231" cy="4606096"/>
          </a:xfrm>
        </p:grpSpPr>
        <p:sp>
          <p:nvSpPr>
            <p:cNvPr id="155" name="Google Shape;155;p6"/>
            <p:cNvSpPr txBox="1"/>
            <p:nvPr/>
          </p:nvSpPr>
          <p:spPr>
            <a:xfrm>
              <a:off x="0" y="57150"/>
              <a:ext cx="8882231" cy="14039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00"/>
                <a:buFont typeface="Arial"/>
                <a:buNone/>
              </a:pPr>
              <a:r>
                <a:rPr b="1" i="0" lang="en-US" sz="7200" u="none" cap="none" strike="noStrike">
                  <a:solidFill>
                    <a:srgbClr val="191919"/>
                  </a:solidFill>
                  <a:latin typeface="Arial"/>
                  <a:ea typeface="Arial"/>
                  <a:cs typeface="Arial"/>
                  <a:sym typeface="Arial"/>
                </a:rPr>
                <a:t>Visual Studio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6"/>
            <p:cNvSpPr txBox="1"/>
            <p:nvPr/>
          </p:nvSpPr>
          <p:spPr>
            <a:xfrm>
              <a:off x="0" y="2261471"/>
              <a:ext cx="8882231" cy="16743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997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Arial"/>
                <a:buNone/>
              </a:pPr>
              <a:r>
                <a:rPr b="0" i="0" lang="en-US" sz="3400" u="none" cap="none" strike="noStrike">
                  <a:solidFill>
                    <a:srgbClr val="191919"/>
                  </a:solidFill>
                  <a:latin typeface="Arial"/>
                  <a:ea typeface="Arial"/>
                  <a:cs typeface="Arial"/>
                  <a:sym typeface="Arial"/>
                </a:rPr>
                <a:t>Versión gratuita 2022 - 2026 community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6"/>
            <p:cNvSpPr txBox="1"/>
            <p:nvPr/>
          </p:nvSpPr>
          <p:spPr>
            <a:xfrm>
              <a:off x="0" y="4162866"/>
              <a:ext cx="8882231" cy="5003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1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0" i="0" lang="en-US" sz="2100" u="none" cap="none" strike="noStrike">
                  <a:solidFill>
                    <a:srgbClr val="191919"/>
                  </a:solidFill>
                  <a:latin typeface="Arial"/>
                  <a:ea typeface="Arial"/>
                  <a:cs typeface="Arial"/>
                  <a:sym typeface="Arial"/>
                </a:rPr>
                <a:t>https://visualstudio.microsoft.com/es/downloads/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8" name="Google Shape;158;p6"/>
          <p:cNvSpPr txBox="1"/>
          <p:nvPr/>
        </p:nvSpPr>
        <p:spPr>
          <a:xfrm>
            <a:off x="1028700" y="9233535"/>
            <a:ext cx="6899312" cy="2343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EE600"/>
                </a:solidFill>
                <a:latin typeface="Arial"/>
                <a:ea typeface="Arial"/>
                <a:cs typeface="Arial"/>
                <a:sym typeface="Arial"/>
              </a:rPr>
              <a:t>PROGRAMACIÓN DE COMPUTADORAS 2</a:t>
            </a:r>
            <a:r>
              <a:rPr b="1" i="0" lang="en-US" sz="1400" u="none" cap="none" strike="noStrike">
                <a:solidFill>
                  <a:srgbClr val="FEE600"/>
                </a:solidFill>
                <a:latin typeface="Arial"/>
                <a:ea typeface="Arial"/>
                <a:cs typeface="Arial"/>
                <a:sym typeface="Arial"/>
              </a:rPr>
              <a:t> | CLASE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6"/>
          <p:cNvSpPr txBox="1"/>
          <p:nvPr/>
        </p:nvSpPr>
        <p:spPr>
          <a:xfrm>
            <a:off x="1158577" y="4846814"/>
            <a:ext cx="8079235" cy="29885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3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38"/>
              <a:buFont typeface="Arial"/>
              <a:buNone/>
            </a:pPr>
            <a:r>
              <a:rPr b="0" i="0" lang="en-US" sz="24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 un entorno de desarrollo integrado IDE compatible con varios lenguajes de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3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38"/>
              <a:buFont typeface="Arial"/>
              <a:buNone/>
            </a:pPr>
            <a:r>
              <a:t/>
            </a:r>
            <a:endParaRPr b="0" i="0" sz="243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3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38"/>
              <a:buFont typeface="Arial"/>
              <a:buNone/>
            </a:pPr>
            <a:r>
              <a:rPr b="0" i="0" lang="en-US" sz="24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IDE más completo para desarrolladores de .NET y C++ en Windows para crear aplicaciones web, en la nube, de escritorio, móviles, servicios y juegos.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854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38"/>
              <a:buFont typeface="Arial"/>
              <a:buNone/>
            </a:pPr>
            <a:r>
              <a:t/>
            </a:r>
            <a:endParaRPr b="0" i="0" sz="243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0" name="Google Shape;16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628463" y="3987804"/>
            <a:ext cx="6353175" cy="635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5" name="Google Shape;165;p7"/>
          <p:cNvGrpSpPr/>
          <p:nvPr/>
        </p:nvGrpSpPr>
        <p:grpSpPr>
          <a:xfrm>
            <a:off x="6032651" y="1137858"/>
            <a:ext cx="11549898" cy="3657360"/>
            <a:chOff x="0" y="-28575"/>
            <a:chExt cx="3041949" cy="963255"/>
          </a:xfrm>
        </p:grpSpPr>
        <p:sp>
          <p:nvSpPr>
            <p:cNvPr id="166" name="Google Shape;166;p7"/>
            <p:cNvSpPr/>
            <p:nvPr/>
          </p:nvSpPr>
          <p:spPr>
            <a:xfrm>
              <a:off x="0" y="0"/>
              <a:ext cx="3041949" cy="934680"/>
            </a:xfrm>
            <a:custGeom>
              <a:rect b="b" l="l" r="r" t="t"/>
              <a:pathLst>
                <a:path extrusionOk="0" h="934680" w="3041949">
                  <a:moveTo>
                    <a:pt x="34185" y="0"/>
                  </a:moveTo>
                  <a:lnTo>
                    <a:pt x="3007763" y="0"/>
                  </a:lnTo>
                  <a:cubicBezTo>
                    <a:pt x="3026643" y="0"/>
                    <a:pt x="3041949" y="15305"/>
                    <a:pt x="3041949" y="34185"/>
                  </a:cubicBezTo>
                  <a:lnTo>
                    <a:pt x="3041949" y="900495"/>
                  </a:lnTo>
                  <a:cubicBezTo>
                    <a:pt x="3041949" y="909561"/>
                    <a:pt x="3038347" y="918257"/>
                    <a:pt x="3031936" y="924668"/>
                  </a:cubicBezTo>
                  <a:cubicBezTo>
                    <a:pt x="3025525" y="931079"/>
                    <a:pt x="3016830" y="934680"/>
                    <a:pt x="3007763" y="934680"/>
                  </a:cubicBezTo>
                  <a:lnTo>
                    <a:pt x="34185" y="934680"/>
                  </a:lnTo>
                  <a:cubicBezTo>
                    <a:pt x="25119" y="934680"/>
                    <a:pt x="16424" y="931079"/>
                    <a:pt x="10013" y="924668"/>
                  </a:cubicBezTo>
                  <a:cubicBezTo>
                    <a:pt x="3602" y="918257"/>
                    <a:pt x="0" y="909561"/>
                    <a:pt x="0" y="900495"/>
                  </a:cubicBezTo>
                  <a:lnTo>
                    <a:pt x="0" y="34185"/>
                  </a:lnTo>
                  <a:cubicBezTo>
                    <a:pt x="0" y="15305"/>
                    <a:pt x="15305" y="0"/>
                    <a:pt x="34185" y="0"/>
                  </a:cubicBezTo>
                  <a:close/>
                </a:path>
              </a:pathLst>
            </a:custGeom>
            <a:solidFill>
              <a:srgbClr val="686C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7"/>
            <p:cNvSpPr txBox="1"/>
            <p:nvPr/>
          </p:nvSpPr>
          <p:spPr>
            <a:xfrm>
              <a:off x="0" y="-28575"/>
              <a:ext cx="3041949" cy="9632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8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8" name="Google Shape;168;p7"/>
          <p:cNvSpPr/>
          <p:nvPr/>
        </p:nvSpPr>
        <p:spPr>
          <a:xfrm flipH="1">
            <a:off x="6463247" y="1731251"/>
            <a:ext cx="268028" cy="249997"/>
          </a:xfrm>
          <a:custGeom>
            <a:rect b="b" l="l" r="r" t="t"/>
            <a:pathLst>
              <a:path extrusionOk="0" h="249997" w="268028">
                <a:moveTo>
                  <a:pt x="268029" y="0"/>
                </a:moveTo>
                <a:lnTo>
                  <a:pt x="0" y="0"/>
                </a:lnTo>
                <a:lnTo>
                  <a:pt x="0" y="249998"/>
                </a:lnTo>
                <a:lnTo>
                  <a:pt x="268029" y="249998"/>
                </a:lnTo>
                <a:lnTo>
                  <a:pt x="268029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9" name="Google Shape;169;p7"/>
          <p:cNvGrpSpPr/>
          <p:nvPr/>
        </p:nvGrpSpPr>
        <p:grpSpPr>
          <a:xfrm>
            <a:off x="5995585" y="5200828"/>
            <a:ext cx="11549898" cy="3657360"/>
            <a:chOff x="0" y="-28575"/>
            <a:chExt cx="3041949" cy="963255"/>
          </a:xfrm>
        </p:grpSpPr>
        <p:sp>
          <p:nvSpPr>
            <p:cNvPr id="170" name="Google Shape;170;p7"/>
            <p:cNvSpPr/>
            <p:nvPr/>
          </p:nvSpPr>
          <p:spPr>
            <a:xfrm>
              <a:off x="0" y="0"/>
              <a:ext cx="3041949" cy="934680"/>
            </a:xfrm>
            <a:custGeom>
              <a:rect b="b" l="l" r="r" t="t"/>
              <a:pathLst>
                <a:path extrusionOk="0" h="934680" w="3041949">
                  <a:moveTo>
                    <a:pt x="34185" y="0"/>
                  </a:moveTo>
                  <a:lnTo>
                    <a:pt x="3007763" y="0"/>
                  </a:lnTo>
                  <a:cubicBezTo>
                    <a:pt x="3026643" y="0"/>
                    <a:pt x="3041949" y="15305"/>
                    <a:pt x="3041949" y="34185"/>
                  </a:cubicBezTo>
                  <a:lnTo>
                    <a:pt x="3041949" y="900495"/>
                  </a:lnTo>
                  <a:cubicBezTo>
                    <a:pt x="3041949" y="909561"/>
                    <a:pt x="3038347" y="918257"/>
                    <a:pt x="3031936" y="924668"/>
                  </a:cubicBezTo>
                  <a:cubicBezTo>
                    <a:pt x="3025525" y="931079"/>
                    <a:pt x="3016830" y="934680"/>
                    <a:pt x="3007763" y="934680"/>
                  </a:cubicBezTo>
                  <a:lnTo>
                    <a:pt x="34185" y="934680"/>
                  </a:lnTo>
                  <a:cubicBezTo>
                    <a:pt x="25119" y="934680"/>
                    <a:pt x="16424" y="931079"/>
                    <a:pt x="10013" y="924668"/>
                  </a:cubicBezTo>
                  <a:cubicBezTo>
                    <a:pt x="3602" y="918257"/>
                    <a:pt x="0" y="909561"/>
                    <a:pt x="0" y="900495"/>
                  </a:cubicBezTo>
                  <a:lnTo>
                    <a:pt x="0" y="34185"/>
                  </a:lnTo>
                  <a:cubicBezTo>
                    <a:pt x="0" y="15305"/>
                    <a:pt x="15305" y="0"/>
                    <a:pt x="34185" y="0"/>
                  </a:cubicBezTo>
                  <a:close/>
                </a:path>
              </a:pathLst>
            </a:custGeom>
            <a:solidFill>
              <a:srgbClr val="686C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7"/>
            <p:cNvSpPr txBox="1"/>
            <p:nvPr/>
          </p:nvSpPr>
          <p:spPr>
            <a:xfrm>
              <a:off x="0" y="-28575"/>
              <a:ext cx="3041949" cy="9632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8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2" name="Google Shape;172;p7"/>
          <p:cNvSpPr txBox="1"/>
          <p:nvPr/>
        </p:nvSpPr>
        <p:spPr>
          <a:xfrm>
            <a:off x="1028700" y="1778876"/>
            <a:ext cx="5104688" cy="1014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99"/>
              <a:buFont typeface="Arial"/>
              <a:buNone/>
            </a:pPr>
            <a:r>
              <a:rPr b="1" i="0" lang="en-US" sz="6999" u="none" cap="none" strike="noStrike">
                <a:solidFill>
                  <a:srgbClr val="FFFFFF"/>
                </a:solidFill>
                <a:latin typeface="Ibarra Real Nova"/>
                <a:ea typeface="Ibarra Real Nova"/>
                <a:cs typeface="Ibarra Real Nova"/>
                <a:sym typeface="Ibarra Real Nova"/>
              </a:rPr>
              <a:t>Instalación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7"/>
          <p:cNvSpPr txBox="1"/>
          <p:nvPr/>
        </p:nvSpPr>
        <p:spPr>
          <a:xfrm>
            <a:off x="940593" y="4336899"/>
            <a:ext cx="3598935" cy="6622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74"/>
              <a:buFont typeface="Arial"/>
              <a:buNone/>
            </a:pPr>
            <a:r>
              <a:rPr b="0" i="0" lang="en-US" sz="3074" u="sng" cap="none" strike="noStrike">
                <a:solidFill>
                  <a:srgbClr val="FFFFFF"/>
                </a:solidFill>
                <a:latin typeface="Carlito"/>
                <a:ea typeface="Carlito"/>
                <a:cs typeface="Carlito"/>
                <a:sym typeface="Carli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Visual Studio 202</a:t>
            </a:r>
            <a:r>
              <a:rPr b="0" i="0" lang="en-US" sz="3074" u="sng" cap="none" strike="noStrike">
                <a:solidFill>
                  <a:srgbClr val="FFFFFF"/>
                </a:solidFill>
                <a:latin typeface="Carlito"/>
                <a:ea typeface="Carlito"/>
                <a:cs typeface="Carlito"/>
                <a:sym typeface="Carlito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7"/>
          <p:cNvSpPr txBox="1"/>
          <p:nvPr/>
        </p:nvSpPr>
        <p:spPr>
          <a:xfrm>
            <a:off x="940593" y="5841762"/>
            <a:ext cx="4604394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sng" cap="none" strike="noStrike">
                <a:solidFill>
                  <a:srgbClr val="FFFFFF"/>
                </a:solidFill>
                <a:latin typeface="Carlito"/>
                <a:ea typeface="Carlito"/>
                <a:cs typeface="Carlito"/>
                <a:sym typeface="Carlit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Versiones Anteriores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5" name="Google Shape;175;p7"/>
          <p:cNvPicPr preferRelativeResize="0"/>
          <p:nvPr/>
        </p:nvPicPr>
        <p:blipFill rotWithShape="1">
          <a:blip r:embed="rId6">
            <a:alphaModFix/>
          </a:blip>
          <a:srcRect b="30024" l="0" r="0" t="0"/>
          <a:stretch/>
        </p:blipFill>
        <p:spPr>
          <a:xfrm>
            <a:off x="6463247" y="1643037"/>
            <a:ext cx="10966274" cy="23860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379215" y="5318893"/>
            <a:ext cx="5134337" cy="35392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1858B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1" name="Google Shape;181;p8"/>
          <p:cNvGrpSpPr/>
          <p:nvPr/>
        </p:nvGrpSpPr>
        <p:grpSpPr>
          <a:xfrm>
            <a:off x="7149008" y="432718"/>
            <a:ext cx="6515768" cy="3144286"/>
            <a:chOff x="0" y="-28575"/>
            <a:chExt cx="1716087" cy="828125"/>
          </a:xfrm>
        </p:grpSpPr>
        <p:sp>
          <p:nvSpPr>
            <p:cNvPr id="182" name="Google Shape;182;p8"/>
            <p:cNvSpPr/>
            <p:nvPr/>
          </p:nvSpPr>
          <p:spPr>
            <a:xfrm>
              <a:off x="0" y="0"/>
              <a:ext cx="1716087" cy="799550"/>
            </a:xfrm>
            <a:custGeom>
              <a:rect b="b" l="l" r="r" t="t"/>
              <a:pathLst>
                <a:path extrusionOk="0" h="799550" w="1716087">
                  <a:moveTo>
                    <a:pt x="60597" y="0"/>
                  </a:moveTo>
                  <a:lnTo>
                    <a:pt x="1655490" y="0"/>
                  </a:lnTo>
                  <a:cubicBezTo>
                    <a:pt x="1688957" y="0"/>
                    <a:pt x="1716087" y="27130"/>
                    <a:pt x="1716087" y="60597"/>
                  </a:cubicBezTo>
                  <a:lnTo>
                    <a:pt x="1716087" y="738952"/>
                  </a:lnTo>
                  <a:cubicBezTo>
                    <a:pt x="1716087" y="755024"/>
                    <a:pt x="1709703" y="770437"/>
                    <a:pt x="1698339" y="781801"/>
                  </a:cubicBezTo>
                  <a:cubicBezTo>
                    <a:pt x="1686974" y="793165"/>
                    <a:pt x="1671561" y="799550"/>
                    <a:pt x="1655490" y="799550"/>
                  </a:cubicBezTo>
                  <a:lnTo>
                    <a:pt x="60597" y="799550"/>
                  </a:lnTo>
                  <a:cubicBezTo>
                    <a:pt x="44526" y="799550"/>
                    <a:pt x="29113" y="793165"/>
                    <a:pt x="17749" y="781801"/>
                  </a:cubicBezTo>
                  <a:cubicBezTo>
                    <a:pt x="6384" y="770437"/>
                    <a:pt x="0" y="755024"/>
                    <a:pt x="0" y="738952"/>
                  </a:cubicBezTo>
                  <a:lnTo>
                    <a:pt x="0" y="60597"/>
                  </a:lnTo>
                  <a:cubicBezTo>
                    <a:pt x="0" y="44526"/>
                    <a:pt x="6384" y="29113"/>
                    <a:pt x="17749" y="17749"/>
                  </a:cubicBezTo>
                  <a:cubicBezTo>
                    <a:pt x="29113" y="6384"/>
                    <a:pt x="44526" y="0"/>
                    <a:pt x="6059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8"/>
            <p:cNvSpPr txBox="1"/>
            <p:nvPr/>
          </p:nvSpPr>
          <p:spPr>
            <a:xfrm>
              <a:off x="0" y="-28575"/>
              <a:ext cx="1716087" cy="8281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8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4" name="Google Shape;184;p8"/>
          <p:cNvSpPr/>
          <p:nvPr/>
        </p:nvSpPr>
        <p:spPr>
          <a:xfrm>
            <a:off x="7594465" y="824604"/>
            <a:ext cx="5624854" cy="2469010"/>
          </a:xfrm>
          <a:custGeom>
            <a:rect b="b" l="l" r="r" t="t"/>
            <a:pathLst>
              <a:path extrusionOk="0" h="2469010" w="5624854">
                <a:moveTo>
                  <a:pt x="0" y="0"/>
                </a:moveTo>
                <a:lnTo>
                  <a:pt x="5624854" y="0"/>
                </a:lnTo>
                <a:lnTo>
                  <a:pt x="5624854" y="2469009"/>
                </a:lnTo>
                <a:lnTo>
                  <a:pt x="0" y="24690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8432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5" name="Google Shape;185;p8"/>
          <p:cNvGrpSpPr/>
          <p:nvPr/>
        </p:nvGrpSpPr>
        <p:grpSpPr>
          <a:xfrm>
            <a:off x="4536613" y="3724156"/>
            <a:ext cx="11740557" cy="6106898"/>
            <a:chOff x="0" y="-28575"/>
            <a:chExt cx="3092163" cy="1608401"/>
          </a:xfrm>
        </p:grpSpPr>
        <p:sp>
          <p:nvSpPr>
            <p:cNvPr id="186" name="Google Shape;186;p8"/>
            <p:cNvSpPr/>
            <p:nvPr/>
          </p:nvSpPr>
          <p:spPr>
            <a:xfrm>
              <a:off x="0" y="0"/>
              <a:ext cx="3092163" cy="1579826"/>
            </a:xfrm>
            <a:custGeom>
              <a:rect b="b" l="l" r="r" t="t"/>
              <a:pathLst>
                <a:path extrusionOk="0" h="1579826" w="3092163">
                  <a:moveTo>
                    <a:pt x="33630" y="0"/>
                  </a:moveTo>
                  <a:lnTo>
                    <a:pt x="3058533" y="0"/>
                  </a:lnTo>
                  <a:cubicBezTo>
                    <a:pt x="3067452" y="0"/>
                    <a:pt x="3076006" y="3543"/>
                    <a:pt x="3082313" y="9850"/>
                  </a:cubicBezTo>
                  <a:cubicBezTo>
                    <a:pt x="3088620" y="16157"/>
                    <a:pt x="3092163" y="24711"/>
                    <a:pt x="3092163" y="33630"/>
                  </a:cubicBezTo>
                  <a:lnTo>
                    <a:pt x="3092163" y="1546196"/>
                  </a:lnTo>
                  <a:cubicBezTo>
                    <a:pt x="3092163" y="1555115"/>
                    <a:pt x="3088620" y="1563669"/>
                    <a:pt x="3082313" y="1569976"/>
                  </a:cubicBezTo>
                  <a:cubicBezTo>
                    <a:pt x="3076006" y="1576283"/>
                    <a:pt x="3067452" y="1579826"/>
                    <a:pt x="3058533" y="1579826"/>
                  </a:cubicBezTo>
                  <a:lnTo>
                    <a:pt x="33630" y="1579826"/>
                  </a:lnTo>
                  <a:cubicBezTo>
                    <a:pt x="24711" y="1579826"/>
                    <a:pt x="16157" y="1576283"/>
                    <a:pt x="9850" y="1569976"/>
                  </a:cubicBezTo>
                  <a:cubicBezTo>
                    <a:pt x="3543" y="1563669"/>
                    <a:pt x="0" y="1555115"/>
                    <a:pt x="0" y="1546196"/>
                  </a:cubicBezTo>
                  <a:lnTo>
                    <a:pt x="0" y="33630"/>
                  </a:lnTo>
                  <a:cubicBezTo>
                    <a:pt x="0" y="24711"/>
                    <a:pt x="3543" y="16157"/>
                    <a:pt x="9850" y="9850"/>
                  </a:cubicBezTo>
                  <a:cubicBezTo>
                    <a:pt x="16157" y="3543"/>
                    <a:pt x="24711" y="0"/>
                    <a:pt x="3363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8"/>
            <p:cNvSpPr txBox="1"/>
            <p:nvPr/>
          </p:nvSpPr>
          <p:spPr>
            <a:xfrm>
              <a:off x="0" y="-28575"/>
              <a:ext cx="3092163" cy="16084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8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8" name="Google Shape;188;p8"/>
          <p:cNvSpPr/>
          <p:nvPr/>
        </p:nvSpPr>
        <p:spPr>
          <a:xfrm>
            <a:off x="5205501" y="4132760"/>
            <a:ext cx="10402781" cy="5398185"/>
          </a:xfrm>
          <a:custGeom>
            <a:rect b="b" l="l" r="r" t="t"/>
            <a:pathLst>
              <a:path extrusionOk="0" h="5398185" w="10402781">
                <a:moveTo>
                  <a:pt x="0" y="0"/>
                </a:moveTo>
                <a:lnTo>
                  <a:pt x="10402781" y="0"/>
                </a:lnTo>
                <a:lnTo>
                  <a:pt x="10402781" y="5398185"/>
                </a:lnTo>
                <a:lnTo>
                  <a:pt x="0" y="53981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1254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8"/>
          <p:cNvSpPr txBox="1"/>
          <p:nvPr/>
        </p:nvSpPr>
        <p:spPr>
          <a:xfrm>
            <a:off x="1594969" y="1076325"/>
            <a:ext cx="1992294" cy="8200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15"/>
              <a:buFont typeface="Arial"/>
              <a:buNone/>
            </a:pPr>
            <a:r>
              <a:rPr b="1" i="0" lang="en-US" sz="5715" u="none" cap="none" strike="noStrike">
                <a:solidFill>
                  <a:srgbClr val="FFFFFF"/>
                </a:solidFill>
                <a:latin typeface="Ibarra Real Nova"/>
                <a:ea typeface="Ibarra Real Nova"/>
                <a:cs typeface="Ibarra Real Nova"/>
                <a:sym typeface="Ibarra Real Nova"/>
              </a:rPr>
              <a:t>Paso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8"/>
          <p:cNvSpPr txBox="1"/>
          <p:nvPr/>
        </p:nvSpPr>
        <p:spPr>
          <a:xfrm>
            <a:off x="1594969" y="4230154"/>
            <a:ext cx="1992294" cy="9133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19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21"/>
              <a:buFont typeface="Arial"/>
              <a:buNone/>
            </a:pPr>
            <a:r>
              <a:rPr b="0" i="0" lang="en-US" sz="5521" u="none" cap="none" strike="noStrike">
                <a:solidFill>
                  <a:srgbClr val="FFFFFF"/>
                </a:solidFill>
                <a:latin typeface="Carlito"/>
                <a:ea typeface="Carlito"/>
                <a:cs typeface="Carlito"/>
                <a:sym typeface="Carlito"/>
              </a:rPr>
              <a:t>Paso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E600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9"/>
          <p:cNvSpPr/>
          <p:nvPr/>
        </p:nvSpPr>
        <p:spPr>
          <a:xfrm>
            <a:off x="-545621" y="8287828"/>
            <a:ext cx="19566866" cy="2127292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9"/>
          <p:cNvSpPr/>
          <p:nvPr/>
        </p:nvSpPr>
        <p:spPr>
          <a:xfrm>
            <a:off x="16455703" y="865655"/>
            <a:ext cx="803597" cy="355044"/>
          </a:xfrm>
          <a:custGeom>
            <a:rect b="b" l="l" r="r" t="t"/>
            <a:pathLst>
              <a:path extrusionOk="0" h="355044" w="803597">
                <a:moveTo>
                  <a:pt x="0" y="0"/>
                </a:moveTo>
                <a:lnTo>
                  <a:pt x="803597" y="0"/>
                </a:lnTo>
                <a:lnTo>
                  <a:pt x="803597" y="355044"/>
                </a:lnTo>
                <a:lnTo>
                  <a:pt x="0" y="3550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9"/>
          <p:cNvSpPr/>
          <p:nvPr/>
        </p:nvSpPr>
        <p:spPr>
          <a:xfrm>
            <a:off x="0" y="0"/>
            <a:ext cx="10773886" cy="6017019"/>
          </a:xfrm>
          <a:custGeom>
            <a:rect b="b" l="l" r="r" t="t"/>
            <a:pathLst>
              <a:path extrusionOk="0" h="6017019" w="10773886">
                <a:moveTo>
                  <a:pt x="0" y="0"/>
                </a:moveTo>
                <a:lnTo>
                  <a:pt x="10773886" y="0"/>
                </a:lnTo>
                <a:lnTo>
                  <a:pt x="10773886" y="6017019"/>
                </a:lnTo>
                <a:lnTo>
                  <a:pt x="0" y="60170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9"/>
          <p:cNvSpPr txBox="1"/>
          <p:nvPr/>
        </p:nvSpPr>
        <p:spPr>
          <a:xfrm>
            <a:off x="10359988" y="9233535"/>
            <a:ext cx="6899312" cy="2343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EE600"/>
                </a:solidFill>
                <a:latin typeface="Arial"/>
                <a:ea typeface="Arial"/>
                <a:cs typeface="Arial"/>
                <a:sym typeface="Arial"/>
              </a:rPr>
              <a:t>PROGRAMACIÓN DE COMPUTADORAS 2 | CLASE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9"/>
          <p:cNvSpPr txBox="1"/>
          <p:nvPr/>
        </p:nvSpPr>
        <p:spPr>
          <a:xfrm>
            <a:off x="766664" y="6408483"/>
            <a:ext cx="10007221" cy="13290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0" i="0" lang="en-US" sz="2499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Seleccionar únicamente la opción de ".NET desktop development" en el apartado de "Desktop &amp; Mobile" y presionar Install. Requerirá reinicio del sistema al finalizar la instalación.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9"/>
          <p:cNvSpPr txBox="1"/>
          <p:nvPr/>
        </p:nvSpPr>
        <p:spPr>
          <a:xfrm>
            <a:off x="11165651" y="2152568"/>
            <a:ext cx="6524156" cy="1443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4005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</a:pPr>
            <a:r>
              <a:rPr b="1" i="0" lang="en-US" sz="335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Instalación de Visual Studio 2026 community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9"/>
          <p:cNvSpPr txBox="1"/>
          <p:nvPr/>
        </p:nvSpPr>
        <p:spPr>
          <a:xfrm>
            <a:off x="11563685" y="3576960"/>
            <a:ext cx="5728089" cy="2651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0" i="0" lang="en-US" sz="2499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Mínimo: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9874" lvl="1" marL="539749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2499"/>
              <a:buFont typeface="Arial"/>
              <a:buChar char="•"/>
            </a:pPr>
            <a:r>
              <a:rPr b="0" i="0" lang="en-US" sz="2499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4 GB de RAM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9874" lvl="1" marL="539749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2499"/>
              <a:buFont typeface="Arial"/>
              <a:buChar char="•"/>
            </a:pPr>
            <a:r>
              <a:rPr b="0" i="0" lang="en-US" sz="2499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Windows 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0" i="0" lang="en-US" sz="2499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Recomendado: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9874" lvl="1" marL="539749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2499"/>
              <a:buFont typeface="Arial"/>
              <a:buChar char="•"/>
            </a:pPr>
            <a:r>
              <a:rPr b="0" i="0" lang="en-US" sz="2499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8 GB de RAM o más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9875" lvl="1" marL="53975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2499"/>
              <a:buFont typeface="Arial"/>
              <a:buChar char="•"/>
            </a:pPr>
            <a:r>
              <a:rPr b="0" i="0" lang="en-US" sz="2499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Windows 10 version 64-bit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0"/>
          <p:cNvSpPr/>
          <p:nvPr/>
        </p:nvSpPr>
        <p:spPr>
          <a:xfrm>
            <a:off x="12184759" y="6833442"/>
            <a:ext cx="5074543" cy="2424858"/>
          </a:xfrm>
          <a:custGeom>
            <a:rect b="b" l="l" r="r" t="t"/>
            <a:pathLst>
              <a:path extrusionOk="0" h="1430494" w="2993619">
                <a:moveTo>
                  <a:pt x="2869158" y="1430494"/>
                </a:moveTo>
                <a:lnTo>
                  <a:pt x="124460" y="1430494"/>
                </a:lnTo>
                <a:cubicBezTo>
                  <a:pt x="55880" y="1430494"/>
                  <a:pt x="0" y="1374614"/>
                  <a:pt x="0" y="1306034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2869159" y="0"/>
                </a:lnTo>
                <a:cubicBezTo>
                  <a:pt x="2937739" y="0"/>
                  <a:pt x="2993619" y="55880"/>
                  <a:pt x="2993619" y="124460"/>
                </a:cubicBezTo>
                <a:lnTo>
                  <a:pt x="2993619" y="1306034"/>
                </a:lnTo>
                <a:cubicBezTo>
                  <a:pt x="2993619" y="1374614"/>
                  <a:pt x="2937739" y="1430494"/>
                  <a:pt x="2869159" y="1430494"/>
                </a:cubicBezTo>
                <a:close/>
              </a:path>
            </a:pathLst>
          </a:cu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0"/>
          <p:cNvSpPr/>
          <p:nvPr/>
        </p:nvSpPr>
        <p:spPr>
          <a:xfrm>
            <a:off x="12184759" y="934466"/>
            <a:ext cx="5095188" cy="6225274"/>
          </a:xfrm>
          <a:custGeom>
            <a:rect b="b" l="l" r="r" t="t"/>
            <a:pathLst>
              <a:path extrusionOk="0" h="6225274" w="5095188">
                <a:moveTo>
                  <a:pt x="0" y="0"/>
                </a:moveTo>
                <a:lnTo>
                  <a:pt x="5095187" y="0"/>
                </a:lnTo>
                <a:lnTo>
                  <a:pt x="5095187" y="6225274"/>
                </a:lnTo>
                <a:lnTo>
                  <a:pt x="0" y="62252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01" l="0" r="0" t="-20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0"/>
          <p:cNvSpPr/>
          <p:nvPr/>
        </p:nvSpPr>
        <p:spPr>
          <a:xfrm>
            <a:off x="16455703" y="865655"/>
            <a:ext cx="803597" cy="355044"/>
          </a:xfrm>
          <a:custGeom>
            <a:rect b="b" l="l" r="r" t="t"/>
            <a:pathLst>
              <a:path extrusionOk="0" h="355044" w="803597">
                <a:moveTo>
                  <a:pt x="0" y="0"/>
                </a:moveTo>
                <a:lnTo>
                  <a:pt x="803597" y="0"/>
                </a:lnTo>
                <a:lnTo>
                  <a:pt x="803597" y="355044"/>
                </a:lnTo>
                <a:lnTo>
                  <a:pt x="0" y="3550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10"/>
          <p:cNvSpPr/>
          <p:nvPr/>
        </p:nvSpPr>
        <p:spPr>
          <a:xfrm>
            <a:off x="1028700" y="6833442"/>
            <a:ext cx="5074543" cy="2424858"/>
          </a:xfrm>
          <a:custGeom>
            <a:rect b="b" l="l" r="r" t="t"/>
            <a:pathLst>
              <a:path extrusionOk="0" h="1430494" w="2993619">
                <a:moveTo>
                  <a:pt x="2869158" y="1430494"/>
                </a:moveTo>
                <a:lnTo>
                  <a:pt x="124460" y="1430494"/>
                </a:lnTo>
                <a:cubicBezTo>
                  <a:pt x="55880" y="1430494"/>
                  <a:pt x="0" y="1374614"/>
                  <a:pt x="0" y="1306034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2869159" y="0"/>
                </a:lnTo>
                <a:cubicBezTo>
                  <a:pt x="2937739" y="0"/>
                  <a:pt x="2993619" y="55880"/>
                  <a:pt x="2993619" y="124460"/>
                </a:cubicBezTo>
                <a:lnTo>
                  <a:pt x="2993619" y="1306034"/>
                </a:lnTo>
                <a:cubicBezTo>
                  <a:pt x="2993619" y="1374614"/>
                  <a:pt x="2937739" y="1430494"/>
                  <a:pt x="2869159" y="1430494"/>
                </a:cubicBezTo>
                <a:close/>
              </a:path>
            </a:pathLst>
          </a:cu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10"/>
          <p:cNvSpPr/>
          <p:nvPr/>
        </p:nvSpPr>
        <p:spPr>
          <a:xfrm>
            <a:off x="1016542" y="865655"/>
            <a:ext cx="5086699" cy="6277203"/>
          </a:xfrm>
          <a:custGeom>
            <a:rect b="b" l="l" r="r" t="t"/>
            <a:pathLst>
              <a:path extrusionOk="0" h="6277203" w="5086699">
                <a:moveTo>
                  <a:pt x="0" y="0"/>
                </a:moveTo>
                <a:lnTo>
                  <a:pt x="5086699" y="0"/>
                </a:lnTo>
                <a:lnTo>
                  <a:pt x="5086699" y="6277203"/>
                </a:lnTo>
                <a:lnTo>
                  <a:pt x="0" y="62772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0"/>
          <p:cNvSpPr/>
          <p:nvPr/>
        </p:nvSpPr>
        <p:spPr>
          <a:xfrm>
            <a:off x="6606729" y="6833442"/>
            <a:ext cx="5074543" cy="2424858"/>
          </a:xfrm>
          <a:custGeom>
            <a:rect b="b" l="l" r="r" t="t"/>
            <a:pathLst>
              <a:path extrusionOk="0" h="1430494" w="2993619">
                <a:moveTo>
                  <a:pt x="2869158" y="1430494"/>
                </a:moveTo>
                <a:lnTo>
                  <a:pt x="124460" y="1430494"/>
                </a:lnTo>
                <a:cubicBezTo>
                  <a:pt x="55880" y="1430494"/>
                  <a:pt x="0" y="1374614"/>
                  <a:pt x="0" y="1306034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2869159" y="0"/>
                </a:lnTo>
                <a:cubicBezTo>
                  <a:pt x="2937739" y="0"/>
                  <a:pt x="2993619" y="55880"/>
                  <a:pt x="2993619" y="124460"/>
                </a:cubicBezTo>
                <a:lnTo>
                  <a:pt x="2993619" y="1306034"/>
                </a:lnTo>
                <a:cubicBezTo>
                  <a:pt x="2993619" y="1374614"/>
                  <a:pt x="2937739" y="1430494"/>
                  <a:pt x="2869159" y="1430494"/>
                </a:cubicBezTo>
                <a:close/>
              </a:path>
            </a:pathLst>
          </a:cu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0"/>
          <p:cNvSpPr/>
          <p:nvPr/>
        </p:nvSpPr>
        <p:spPr>
          <a:xfrm>
            <a:off x="6606729" y="865655"/>
            <a:ext cx="5074541" cy="6294085"/>
          </a:xfrm>
          <a:custGeom>
            <a:rect b="b" l="l" r="r" t="t"/>
            <a:pathLst>
              <a:path extrusionOk="0" h="6294085" w="5074541">
                <a:moveTo>
                  <a:pt x="0" y="0"/>
                </a:moveTo>
                <a:lnTo>
                  <a:pt x="5074542" y="0"/>
                </a:lnTo>
                <a:lnTo>
                  <a:pt x="5074542" y="6294085"/>
                </a:lnTo>
                <a:lnTo>
                  <a:pt x="0" y="62940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0"/>
          <p:cNvSpPr txBox="1"/>
          <p:nvPr/>
        </p:nvSpPr>
        <p:spPr>
          <a:xfrm>
            <a:off x="1327371" y="7436271"/>
            <a:ext cx="4477199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 iniciar por primera vez, pedirá inicio de sesión. No es necesario, pueden omitir este paso.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0"/>
          <p:cNvSpPr txBox="1"/>
          <p:nvPr/>
        </p:nvSpPr>
        <p:spPr>
          <a:xfrm>
            <a:off x="6905400" y="7316815"/>
            <a:ext cx="4477199" cy="1516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Luego pedirá elegir el tema para el entorno de trabajo. Dejar el primer campo como general y elegir el tema a su propio gusto.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0"/>
          <p:cNvSpPr txBox="1"/>
          <p:nvPr/>
        </p:nvSpPr>
        <p:spPr>
          <a:xfrm>
            <a:off x="12504076" y="7695910"/>
            <a:ext cx="4477199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Para crear su primer proyecto, seleccionar la última opción.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91919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1"/>
          <p:cNvSpPr/>
          <p:nvPr/>
        </p:nvSpPr>
        <p:spPr>
          <a:xfrm>
            <a:off x="8261406" y="1028700"/>
            <a:ext cx="12174084" cy="9959281"/>
          </a:xfrm>
          <a:custGeom>
            <a:rect b="b" l="l" r="r" t="t"/>
            <a:pathLst>
              <a:path extrusionOk="0" h="2384114" w="2914308">
                <a:moveTo>
                  <a:pt x="2789848" y="2384113"/>
                </a:moveTo>
                <a:lnTo>
                  <a:pt x="124460" y="2384113"/>
                </a:lnTo>
                <a:cubicBezTo>
                  <a:pt x="55880" y="2384113"/>
                  <a:pt x="0" y="2328233"/>
                  <a:pt x="0" y="2259653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2789848" y="0"/>
                </a:lnTo>
                <a:cubicBezTo>
                  <a:pt x="2858428" y="0"/>
                  <a:pt x="2914308" y="55880"/>
                  <a:pt x="2914308" y="124460"/>
                </a:cubicBezTo>
                <a:lnTo>
                  <a:pt x="2914308" y="2259654"/>
                </a:lnTo>
                <a:cubicBezTo>
                  <a:pt x="2914308" y="2328233"/>
                  <a:pt x="2858428" y="2384114"/>
                  <a:pt x="2789848" y="2384114"/>
                </a:cubicBezTo>
                <a:close/>
              </a:path>
            </a:pathLst>
          </a:custGeom>
          <a:solidFill>
            <a:srgbClr val="FEE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11"/>
          <p:cNvSpPr/>
          <p:nvPr/>
        </p:nvSpPr>
        <p:spPr>
          <a:xfrm>
            <a:off x="10929143" y="4668799"/>
            <a:ext cx="572933" cy="355044"/>
          </a:xfrm>
          <a:custGeom>
            <a:rect b="b" l="l" r="r" t="t"/>
            <a:pathLst>
              <a:path extrusionOk="0" h="355044" w="572933">
                <a:moveTo>
                  <a:pt x="0" y="0"/>
                </a:moveTo>
                <a:lnTo>
                  <a:pt x="572933" y="0"/>
                </a:lnTo>
                <a:lnTo>
                  <a:pt x="572933" y="355044"/>
                </a:lnTo>
                <a:lnTo>
                  <a:pt x="0" y="3550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40258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11"/>
          <p:cNvSpPr/>
          <p:nvPr/>
        </p:nvSpPr>
        <p:spPr>
          <a:xfrm>
            <a:off x="10929143" y="6224488"/>
            <a:ext cx="572933" cy="355044"/>
          </a:xfrm>
          <a:custGeom>
            <a:rect b="b" l="l" r="r" t="t"/>
            <a:pathLst>
              <a:path extrusionOk="0" h="355044" w="572933">
                <a:moveTo>
                  <a:pt x="0" y="0"/>
                </a:moveTo>
                <a:lnTo>
                  <a:pt x="572933" y="0"/>
                </a:lnTo>
                <a:lnTo>
                  <a:pt x="572933" y="355043"/>
                </a:lnTo>
                <a:lnTo>
                  <a:pt x="0" y="35504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40258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1"/>
          <p:cNvSpPr/>
          <p:nvPr/>
        </p:nvSpPr>
        <p:spPr>
          <a:xfrm>
            <a:off x="10929143" y="7746600"/>
            <a:ext cx="572933" cy="355044"/>
          </a:xfrm>
          <a:custGeom>
            <a:rect b="b" l="l" r="r" t="t"/>
            <a:pathLst>
              <a:path extrusionOk="0" h="355044" w="572933">
                <a:moveTo>
                  <a:pt x="0" y="0"/>
                </a:moveTo>
                <a:lnTo>
                  <a:pt x="572933" y="0"/>
                </a:lnTo>
                <a:lnTo>
                  <a:pt x="572933" y="355043"/>
                </a:lnTo>
                <a:lnTo>
                  <a:pt x="0" y="35504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40258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1"/>
          <p:cNvSpPr/>
          <p:nvPr/>
        </p:nvSpPr>
        <p:spPr>
          <a:xfrm>
            <a:off x="0" y="3469075"/>
            <a:ext cx="9722859" cy="6817925"/>
          </a:xfrm>
          <a:custGeom>
            <a:rect b="b" l="l" r="r" t="t"/>
            <a:pathLst>
              <a:path extrusionOk="0" h="6817925" w="9722859">
                <a:moveTo>
                  <a:pt x="0" y="0"/>
                </a:moveTo>
                <a:lnTo>
                  <a:pt x="9722859" y="0"/>
                </a:lnTo>
                <a:lnTo>
                  <a:pt x="9722859" y="6817925"/>
                </a:lnTo>
                <a:lnTo>
                  <a:pt x="0" y="68179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11"/>
          <p:cNvSpPr txBox="1"/>
          <p:nvPr/>
        </p:nvSpPr>
        <p:spPr>
          <a:xfrm>
            <a:off x="9900129" y="1538556"/>
            <a:ext cx="7359171" cy="16465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00"/>
              <a:buFont typeface="Arial"/>
              <a:buNone/>
            </a:pPr>
            <a:r>
              <a:rPr b="1" i="0" lang="en-US" sz="61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Creando un nuevo proyecto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11"/>
          <p:cNvSpPr txBox="1"/>
          <p:nvPr/>
        </p:nvSpPr>
        <p:spPr>
          <a:xfrm>
            <a:off x="10359988" y="3440500"/>
            <a:ext cx="6899312" cy="790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Para elegir la plantilla correcta, hacer uso de los filtros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7" name="Google Shape;227;p11"/>
          <p:cNvGrpSpPr/>
          <p:nvPr/>
        </p:nvGrpSpPr>
        <p:grpSpPr>
          <a:xfrm>
            <a:off x="11925238" y="4633557"/>
            <a:ext cx="4764908" cy="819150"/>
            <a:chOff x="0" y="-38100"/>
            <a:chExt cx="6353211" cy="1092200"/>
          </a:xfrm>
        </p:grpSpPr>
        <p:sp>
          <p:nvSpPr>
            <p:cNvPr id="228" name="Google Shape;228;p11"/>
            <p:cNvSpPr txBox="1"/>
            <p:nvPr/>
          </p:nvSpPr>
          <p:spPr>
            <a:xfrm>
              <a:off x="0" y="-38100"/>
              <a:ext cx="6353211" cy="5664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r>
                <a:rPr b="1" i="0" lang="en-US" sz="2600" u="none" cap="none" strike="noStrike">
                  <a:solidFill>
                    <a:srgbClr val="191919"/>
                  </a:solidFill>
                  <a:latin typeface="Arial"/>
                  <a:ea typeface="Arial"/>
                  <a:cs typeface="Arial"/>
                  <a:sym typeface="Arial"/>
                </a:rPr>
                <a:t>Lenguaje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11"/>
            <p:cNvSpPr txBox="1"/>
            <p:nvPr/>
          </p:nvSpPr>
          <p:spPr>
            <a:xfrm>
              <a:off x="0" y="490220"/>
              <a:ext cx="6353211" cy="563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191919"/>
                  </a:solidFill>
                  <a:latin typeface="Arial"/>
                  <a:ea typeface="Arial"/>
                  <a:cs typeface="Arial"/>
                  <a:sym typeface="Arial"/>
                </a:rPr>
                <a:t>Visual Basic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0" name="Google Shape;230;p11"/>
          <p:cNvGrpSpPr/>
          <p:nvPr/>
        </p:nvGrpSpPr>
        <p:grpSpPr>
          <a:xfrm>
            <a:off x="11925238" y="5942309"/>
            <a:ext cx="5334062" cy="1245870"/>
            <a:chOff x="0" y="-38100"/>
            <a:chExt cx="7112083" cy="1661160"/>
          </a:xfrm>
        </p:grpSpPr>
        <p:sp>
          <p:nvSpPr>
            <p:cNvPr id="231" name="Google Shape;231;p11"/>
            <p:cNvSpPr txBox="1"/>
            <p:nvPr/>
          </p:nvSpPr>
          <p:spPr>
            <a:xfrm>
              <a:off x="0" y="-38100"/>
              <a:ext cx="7112083" cy="5664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r>
                <a:rPr b="1" i="0" lang="en-US" sz="2600" u="none" cap="none" strike="noStrike">
                  <a:solidFill>
                    <a:srgbClr val="191919"/>
                  </a:solidFill>
                  <a:latin typeface="Arial"/>
                  <a:ea typeface="Arial"/>
                  <a:cs typeface="Arial"/>
                  <a:sym typeface="Arial"/>
                </a:rPr>
                <a:t>Plataforma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11"/>
            <p:cNvSpPr txBox="1"/>
            <p:nvPr/>
          </p:nvSpPr>
          <p:spPr>
            <a:xfrm>
              <a:off x="0" y="490220"/>
              <a:ext cx="7112083" cy="11328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191919"/>
                  </a:solidFill>
                  <a:latin typeface="Arial"/>
                  <a:ea typeface="Arial"/>
                  <a:cs typeface="Arial"/>
                  <a:sym typeface="Arial"/>
                </a:rPr>
                <a:t>Windows o macOS (dependiendo de su sistema operativo)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3" name="Google Shape;233;p11"/>
          <p:cNvGrpSpPr/>
          <p:nvPr/>
        </p:nvGrpSpPr>
        <p:grpSpPr>
          <a:xfrm>
            <a:off x="11925238" y="7677781"/>
            <a:ext cx="4764908" cy="819150"/>
            <a:chOff x="0" y="-38100"/>
            <a:chExt cx="6353211" cy="1092200"/>
          </a:xfrm>
        </p:grpSpPr>
        <p:sp>
          <p:nvSpPr>
            <p:cNvPr id="234" name="Google Shape;234;p11"/>
            <p:cNvSpPr txBox="1"/>
            <p:nvPr/>
          </p:nvSpPr>
          <p:spPr>
            <a:xfrm>
              <a:off x="0" y="-38100"/>
              <a:ext cx="6353211" cy="5664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r>
                <a:rPr b="1" i="0" lang="en-US" sz="2600" u="none" cap="none" strike="noStrike">
                  <a:solidFill>
                    <a:srgbClr val="191919"/>
                  </a:solidFill>
                  <a:latin typeface="Arial"/>
                  <a:ea typeface="Arial"/>
                  <a:cs typeface="Arial"/>
                  <a:sym typeface="Arial"/>
                </a:rPr>
                <a:t>Tipo de proyecto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11"/>
            <p:cNvSpPr txBox="1"/>
            <p:nvPr/>
          </p:nvSpPr>
          <p:spPr>
            <a:xfrm>
              <a:off x="0" y="490220"/>
              <a:ext cx="6353211" cy="563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191919"/>
                  </a:solidFill>
                  <a:latin typeface="Arial"/>
                  <a:ea typeface="Arial"/>
                  <a:cs typeface="Arial"/>
                  <a:sym typeface="Arial"/>
                </a:rPr>
                <a:t>Escritorio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6" name="Google Shape;236;p11"/>
          <p:cNvSpPr txBox="1"/>
          <p:nvPr/>
        </p:nvSpPr>
        <p:spPr>
          <a:xfrm>
            <a:off x="10359988" y="8858250"/>
            <a:ext cx="6899312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0" i="0" lang="en-US" sz="2499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Una vez aplicado el filtro, seleccionar la opción de "Windows Forms App (.NET)"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2"/>
          <p:cNvSpPr/>
          <p:nvPr/>
        </p:nvSpPr>
        <p:spPr>
          <a:xfrm>
            <a:off x="16455703" y="865655"/>
            <a:ext cx="803597" cy="355044"/>
          </a:xfrm>
          <a:custGeom>
            <a:rect b="b" l="l" r="r" t="t"/>
            <a:pathLst>
              <a:path extrusionOk="0" h="355044" w="803597">
                <a:moveTo>
                  <a:pt x="0" y="0"/>
                </a:moveTo>
                <a:lnTo>
                  <a:pt x="803597" y="0"/>
                </a:lnTo>
                <a:lnTo>
                  <a:pt x="803597" y="355044"/>
                </a:lnTo>
                <a:lnTo>
                  <a:pt x="0" y="3550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12"/>
          <p:cNvSpPr/>
          <p:nvPr/>
        </p:nvSpPr>
        <p:spPr>
          <a:xfrm>
            <a:off x="0" y="0"/>
            <a:ext cx="11023098" cy="8374065"/>
          </a:xfrm>
          <a:custGeom>
            <a:rect b="b" l="l" r="r" t="t"/>
            <a:pathLst>
              <a:path extrusionOk="0" h="8374065" w="11023098">
                <a:moveTo>
                  <a:pt x="0" y="0"/>
                </a:moveTo>
                <a:lnTo>
                  <a:pt x="11023098" y="0"/>
                </a:lnTo>
                <a:lnTo>
                  <a:pt x="11023098" y="8374065"/>
                </a:lnTo>
                <a:lnTo>
                  <a:pt x="0" y="83740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8179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12"/>
          <p:cNvSpPr/>
          <p:nvPr/>
        </p:nvSpPr>
        <p:spPr>
          <a:xfrm>
            <a:off x="-187288" y="8374065"/>
            <a:ext cx="11210386" cy="204681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4" name="Google Shape;244;p12"/>
          <p:cNvGrpSpPr/>
          <p:nvPr/>
        </p:nvGrpSpPr>
        <p:grpSpPr>
          <a:xfrm>
            <a:off x="10368661" y="1749883"/>
            <a:ext cx="12174084" cy="6624182"/>
            <a:chOff x="0" y="0"/>
            <a:chExt cx="16232113" cy="8832243"/>
          </a:xfrm>
        </p:grpSpPr>
        <p:sp>
          <p:nvSpPr>
            <p:cNvPr id="245" name="Google Shape;245;p12"/>
            <p:cNvSpPr/>
            <p:nvPr/>
          </p:nvSpPr>
          <p:spPr>
            <a:xfrm>
              <a:off x="0" y="0"/>
              <a:ext cx="16232113" cy="8832243"/>
            </a:xfrm>
            <a:custGeom>
              <a:rect b="b" l="l" r="r" t="t"/>
              <a:pathLst>
                <a:path extrusionOk="0" h="1585738" w="2914308">
                  <a:moveTo>
                    <a:pt x="2789848" y="1585738"/>
                  </a:moveTo>
                  <a:lnTo>
                    <a:pt x="124460" y="1585738"/>
                  </a:lnTo>
                  <a:cubicBezTo>
                    <a:pt x="55880" y="1585738"/>
                    <a:pt x="0" y="1529858"/>
                    <a:pt x="0" y="1461278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789848" y="0"/>
                  </a:lnTo>
                  <a:cubicBezTo>
                    <a:pt x="2858428" y="0"/>
                    <a:pt x="2914308" y="55880"/>
                    <a:pt x="2914308" y="124460"/>
                  </a:cubicBezTo>
                  <a:lnTo>
                    <a:pt x="2914308" y="1461278"/>
                  </a:lnTo>
                  <a:cubicBezTo>
                    <a:pt x="2914308" y="1529858"/>
                    <a:pt x="2858428" y="1585738"/>
                    <a:pt x="2789848" y="1585738"/>
                  </a:cubicBezTo>
                  <a:close/>
                </a:path>
              </a:pathLst>
            </a:custGeom>
            <a:solidFill>
              <a:srgbClr val="FEE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p12"/>
            <p:cNvSpPr txBox="1"/>
            <p:nvPr/>
          </p:nvSpPr>
          <p:spPr>
            <a:xfrm>
              <a:off x="1106333" y="1055624"/>
              <a:ext cx="7637452" cy="118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0"/>
                <a:buFont typeface="Arial"/>
                <a:buNone/>
              </a:pPr>
              <a:r>
                <a:rPr b="1" i="0" lang="en-US" sz="6000" u="none" cap="none" strike="noStrike">
                  <a:solidFill>
                    <a:srgbClr val="191919"/>
                  </a:solidFill>
                  <a:latin typeface="Arial"/>
                  <a:ea typeface="Arial"/>
                  <a:cs typeface="Arial"/>
                  <a:sym typeface="Arial"/>
                </a:rPr>
                <a:t>Configuración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p12"/>
            <p:cNvSpPr txBox="1"/>
            <p:nvPr/>
          </p:nvSpPr>
          <p:spPr>
            <a:xfrm>
              <a:off x="1106333" y="4267268"/>
              <a:ext cx="7637452" cy="17498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1" marL="0" marR="0" rtl="0" algn="l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99"/>
                <a:buFont typeface="Arial"/>
                <a:buNone/>
              </a:pPr>
              <a:r>
                <a:rPr b="0" i="0" lang="en-US" sz="2499" u="none" cap="none" strike="noStrike">
                  <a:solidFill>
                    <a:srgbClr val="191919"/>
                  </a:solidFill>
                  <a:latin typeface="Arial"/>
                  <a:ea typeface="Arial"/>
                  <a:cs typeface="Arial"/>
                  <a:sym typeface="Arial"/>
                </a:rPr>
                <a:t>Ponerle nombre al proyecto y seleccionar la ubicación donde se guardará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8" name="Google Shape;248;p12"/>
          <p:cNvSpPr txBox="1"/>
          <p:nvPr/>
        </p:nvSpPr>
        <p:spPr>
          <a:xfrm>
            <a:off x="1028700" y="9233535"/>
            <a:ext cx="6899312" cy="2343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EE600"/>
                </a:solidFill>
                <a:latin typeface="Arial"/>
                <a:ea typeface="Arial"/>
                <a:cs typeface="Arial"/>
                <a:sym typeface="Arial"/>
              </a:rPr>
              <a:t>PROGRAMACIÓN DE COMPUTADORAS 2 | CLASE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91919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3"/>
          <p:cNvSpPr/>
          <p:nvPr/>
        </p:nvSpPr>
        <p:spPr>
          <a:xfrm>
            <a:off x="7450548" y="-297998"/>
            <a:ext cx="10837452" cy="10584998"/>
          </a:xfrm>
          <a:custGeom>
            <a:rect b="b" l="l" r="r" t="t"/>
            <a:pathLst>
              <a:path extrusionOk="0" h="10584998" w="10837452">
                <a:moveTo>
                  <a:pt x="0" y="0"/>
                </a:moveTo>
                <a:lnTo>
                  <a:pt x="10837452" y="0"/>
                </a:lnTo>
                <a:lnTo>
                  <a:pt x="10837452" y="10584998"/>
                </a:lnTo>
                <a:lnTo>
                  <a:pt x="0" y="10584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5000"/>
            </a:blip>
            <a:stretch>
              <a:fillRect b="-26784" l="0" r="0" t="-2678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3"/>
          <p:cNvSpPr/>
          <p:nvPr/>
        </p:nvSpPr>
        <p:spPr>
          <a:xfrm>
            <a:off x="-149033" y="-177577"/>
            <a:ext cx="7599581" cy="10557723"/>
          </a:xfrm>
          <a:prstGeom prst="rect">
            <a:avLst/>
          </a:prstGeom>
          <a:solidFill>
            <a:srgbClr val="FEE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13"/>
          <p:cNvSpPr/>
          <p:nvPr/>
        </p:nvSpPr>
        <p:spPr>
          <a:xfrm>
            <a:off x="16455703" y="865655"/>
            <a:ext cx="803597" cy="355044"/>
          </a:xfrm>
          <a:custGeom>
            <a:rect b="b" l="l" r="r" t="t"/>
            <a:pathLst>
              <a:path extrusionOk="0" h="355044" w="803597">
                <a:moveTo>
                  <a:pt x="0" y="0"/>
                </a:moveTo>
                <a:lnTo>
                  <a:pt x="803597" y="0"/>
                </a:lnTo>
                <a:lnTo>
                  <a:pt x="803597" y="355044"/>
                </a:lnTo>
                <a:lnTo>
                  <a:pt x="0" y="3550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13"/>
          <p:cNvSpPr/>
          <p:nvPr/>
        </p:nvSpPr>
        <p:spPr>
          <a:xfrm>
            <a:off x="9671948" y="2658692"/>
            <a:ext cx="6394653" cy="4885185"/>
          </a:xfrm>
          <a:custGeom>
            <a:rect b="b" l="l" r="r" t="t"/>
            <a:pathLst>
              <a:path extrusionOk="0" h="4885185" w="6394653">
                <a:moveTo>
                  <a:pt x="0" y="0"/>
                </a:moveTo>
                <a:lnTo>
                  <a:pt x="6394652" y="0"/>
                </a:lnTo>
                <a:lnTo>
                  <a:pt x="6394652" y="4885185"/>
                </a:lnTo>
                <a:lnTo>
                  <a:pt x="0" y="48851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3"/>
          <p:cNvSpPr txBox="1"/>
          <p:nvPr/>
        </p:nvSpPr>
        <p:spPr>
          <a:xfrm>
            <a:off x="1028700" y="941855"/>
            <a:ext cx="5817742" cy="11245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99"/>
              <a:buFont typeface="Arial"/>
              <a:buNone/>
            </a:pPr>
            <a:r>
              <a:rPr b="1" i="0" lang="en-US" sz="7899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Alternativa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8" name="Google Shape;258;p13"/>
          <p:cNvGrpSpPr/>
          <p:nvPr/>
        </p:nvGrpSpPr>
        <p:grpSpPr>
          <a:xfrm>
            <a:off x="1028700" y="6639747"/>
            <a:ext cx="5538304" cy="1658456"/>
            <a:chOff x="0" y="-47625"/>
            <a:chExt cx="7384406" cy="2211275"/>
          </a:xfrm>
        </p:grpSpPr>
        <p:sp>
          <p:nvSpPr>
            <p:cNvPr id="259" name="Google Shape;259;p13"/>
            <p:cNvSpPr txBox="1"/>
            <p:nvPr/>
          </p:nvSpPr>
          <p:spPr>
            <a:xfrm>
              <a:off x="0" y="-47625"/>
              <a:ext cx="7384406" cy="7334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997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Arial"/>
                <a:buNone/>
              </a:pPr>
              <a:r>
                <a:rPr b="0" i="0" lang="en-US" sz="3400" u="none" cap="none" strike="noStrike">
                  <a:solidFill>
                    <a:srgbClr val="191919"/>
                  </a:solidFill>
                  <a:latin typeface="Arial"/>
                  <a:ea typeface="Arial"/>
                  <a:cs typeface="Arial"/>
                  <a:sym typeface="Arial"/>
                </a:rPr>
                <a:t>Visual Studio 2010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13"/>
            <p:cNvSpPr txBox="1"/>
            <p:nvPr/>
          </p:nvSpPr>
          <p:spPr>
            <a:xfrm>
              <a:off x="0" y="1167970"/>
              <a:ext cx="7384406" cy="9956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0" i="0" lang="en-US" sz="2100" u="none" cap="none" strike="noStrike">
                  <a:solidFill>
                    <a:srgbClr val="191919"/>
                  </a:solidFill>
                  <a:latin typeface="Arial"/>
                  <a:ea typeface="Arial"/>
                  <a:cs typeface="Arial"/>
                  <a:sym typeface="Arial"/>
                </a:rPr>
                <a:t>Para computadoras de bajos recursos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26695" lvl="1" marL="45339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91919"/>
                </a:buClr>
                <a:buSzPts val="2100"/>
                <a:buFont typeface="Arial"/>
                <a:buChar char="•"/>
              </a:pPr>
              <a:r>
                <a:rPr b="0" i="0" lang="en-US" sz="2100" u="none" cap="none" strike="noStrike">
                  <a:solidFill>
                    <a:srgbClr val="191919"/>
                  </a:solidFill>
                  <a:latin typeface="Arial"/>
                  <a:ea typeface="Arial"/>
                  <a:cs typeface="Arial"/>
                  <a:sym typeface="Arial"/>
                </a:rPr>
                <a:t>2 GB RAM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1" name="Google Shape;261;p13"/>
          <p:cNvSpPr txBox="1"/>
          <p:nvPr/>
        </p:nvSpPr>
        <p:spPr>
          <a:xfrm>
            <a:off x="1028700" y="9229725"/>
            <a:ext cx="5817742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PROGRAMACIÓN DE COMPUTADORAS 2 | CLASE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E600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51254" y="6789831"/>
            <a:ext cx="971251" cy="1103694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14"/>
          <p:cNvSpPr/>
          <p:nvPr/>
        </p:nvSpPr>
        <p:spPr>
          <a:xfrm>
            <a:off x="2098480" y="6789831"/>
            <a:ext cx="843782" cy="662098"/>
          </a:xfrm>
          <a:custGeom>
            <a:rect b="b" l="l" r="r" t="t"/>
            <a:pathLst>
              <a:path extrusionOk="0" h="662098" w="843782">
                <a:moveTo>
                  <a:pt x="0" y="0"/>
                </a:moveTo>
                <a:lnTo>
                  <a:pt x="843781" y="0"/>
                </a:lnTo>
                <a:lnTo>
                  <a:pt x="843781" y="662098"/>
                </a:lnTo>
                <a:lnTo>
                  <a:pt x="0" y="6620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419967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14"/>
          <p:cNvSpPr/>
          <p:nvPr/>
        </p:nvSpPr>
        <p:spPr>
          <a:xfrm>
            <a:off x="14682597" y="6773499"/>
            <a:ext cx="843782" cy="662098"/>
          </a:xfrm>
          <a:custGeom>
            <a:rect b="b" l="l" r="r" t="t"/>
            <a:pathLst>
              <a:path extrusionOk="0" h="662098" w="843782">
                <a:moveTo>
                  <a:pt x="0" y="0"/>
                </a:moveTo>
                <a:lnTo>
                  <a:pt x="843782" y="0"/>
                </a:lnTo>
                <a:lnTo>
                  <a:pt x="843782" y="662098"/>
                </a:lnTo>
                <a:lnTo>
                  <a:pt x="0" y="6620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419967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14"/>
          <p:cNvSpPr/>
          <p:nvPr/>
        </p:nvSpPr>
        <p:spPr>
          <a:xfrm>
            <a:off x="16415518" y="4647198"/>
            <a:ext cx="843782" cy="662098"/>
          </a:xfrm>
          <a:custGeom>
            <a:rect b="b" l="l" r="r" t="t"/>
            <a:pathLst>
              <a:path extrusionOk="0" h="662098" w="843782">
                <a:moveTo>
                  <a:pt x="0" y="0"/>
                </a:moveTo>
                <a:lnTo>
                  <a:pt x="843782" y="0"/>
                </a:lnTo>
                <a:lnTo>
                  <a:pt x="843782" y="662098"/>
                </a:lnTo>
                <a:lnTo>
                  <a:pt x="0" y="6620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-419967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14"/>
          <p:cNvSpPr/>
          <p:nvPr/>
        </p:nvSpPr>
        <p:spPr>
          <a:xfrm>
            <a:off x="2298984" y="6844147"/>
            <a:ext cx="442773" cy="553467"/>
          </a:xfrm>
          <a:custGeom>
            <a:rect b="b" l="l" r="r" t="t"/>
            <a:pathLst>
              <a:path extrusionOk="0" h="553467" w="442773">
                <a:moveTo>
                  <a:pt x="0" y="0"/>
                </a:moveTo>
                <a:lnTo>
                  <a:pt x="442773" y="0"/>
                </a:lnTo>
                <a:lnTo>
                  <a:pt x="442773" y="553466"/>
                </a:lnTo>
                <a:lnTo>
                  <a:pt x="0" y="5534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14"/>
          <p:cNvSpPr/>
          <p:nvPr/>
        </p:nvSpPr>
        <p:spPr>
          <a:xfrm>
            <a:off x="14882622" y="6827814"/>
            <a:ext cx="442773" cy="553467"/>
          </a:xfrm>
          <a:custGeom>
            <a:rect b="b" l="l" r="r" t="t"/>
            <a:pathLst>
              <a:path extrusionOk="0" h="553467" w="442773">
                <a:moveTo>
                  <a:pt x="0" y="0"/>
                </a:moveTo>
                <a:lnTo>
                  <a:pt x="442774" y="0"/>
                </a:lnTo>
                <a:lnTo>
                  <a:pt x="442774" y="553467"/>
                </a:lnTo>
                <a:lnTo>
                  <a:pt x="0" y="55346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14"/>
          <p:cNvSpPr/>
          <p:nvPr/>
        </p:nvSpPr>
        <p:spPr>
          <a:xfrm>
            <a:off x="16616700" y="4701514"/>
            <a:ext cx="442773" cy="553467"/>
          </a:xfrm>
          <a:custGeom>
            <a:rect b="b" l="l" r="r" t="t"/>
            <a:pathLst>
              <a:path extrusionOk="0" h="553467" w="442773">
                <a:moveTo>
                  <a:pt x="0" y="0"/>
                </a:moveTo>
                <a:lnTo>
                  <a:pt x="442774" y="0"/>
                </a:lnTo>
                <a:lnTo>
                  <a:pt x="442774" y="553466"/>
                </a:lnTo>
                <a:lnTo>
                  <a:pt x="0" y="5534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4"/>
          <p:cNvSpPr/>
          <p:nvPr/>
        </p:nvSpPr>
        <p:spPr>
          <a:xfrm flipH="1">
            <a:off x="14621255" y="6205320"/>
            <a:ext cx="966466" cy="568179"/>
          </a:xfrm>
          <a:custGeom>
            <a:rect b="b" l="l" r="r" t="t"/>
            <a:pathLst>
              <a:path extrusionOk="0" h="568179" w="966466">
                <a:moveTo>
                  <a:pt x="966466" y="0"/>
                </a:moveTo>
                <a:lnTo>
                  <a:pt x="0" y="0"/>
                </a:lnTo>
                <a:lnTo>
                  <a:pt x="0" y="568179"/>
                </a:lnTo>
                <a:lnTo>
                  <a:pt x="966466" y="568179"/>
                </a:lnTo>
                <a:lnTo>
                  <a:pt x="966466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-10099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4" name="Google Shape;274;p14"/>
          <p:cNvGrpSpPr/>
          <p:nvPr/>
        </p:nvGrpSpPr>
        <p:grpSpPr>
          <a:xfrm>
            <a:off x="2107582" y="2562496"/>
            <a:ext cx="7411368" cy="6294933"/>
            <a:chOff x="0" y="-28575"/>
            <a:chExt cx="1951965" cy="1657925"/>
          </a:xfrm>
        </p:grpSpPr>
        <p:sp>
          <p:nvSpPr>
            <p:cNvPr id="275" name="Google Shape;275;p14"/>
            <p:cNvSpPr/>
            <p:nvPr/>
          </p:nvSpPr>
          <p:spPr>
            <a:xfrm>
              <a:off x="0" y="0"/>
              <a:ext cx="1951965" cy="1629350"/>
            </a:xfrm>
            <a:custGeom>
              <a:rect b="b" l="l" r="r" t="t"/>
              <a:pathLst>
                <a:path extrusionOk="0" h="1629350" w="1951965">
                  <a:moveTo>
                    <a:pt x="53275" y="0"/>
                  </a:moveTo>
                  <a:lnTo>
                    <a:pt x="1898691" y="0"/>
                  </a:lnTo>
                  <a:cubicBezTo>
                    <a:pt x="1928113" y="0"/>
                    <a:pt x="1951965" y="23852"/>
                    <a:pt x="1951965" y="53275"/>
                  </a:cubicBezTo>
                  <a:lnTo>
                    <a:pt x="1951965" y="1576075"/>
                  </a:lnTo>
                  <a:cubicBezTo>
                    <a:pt x="1951965" y="1590204"/>
                    <a:pt x="1946352" y="1603755"/>
                    <a:pt x="1936361" y="1613746"/>
                  </a:cubicBezTo>
                  <a:cubicBezTo>
                    <a:pt x="1926370" y="1623737"/>
                    <a:pt x="1912820" y="1629350"/>
                    <a:pt x="1898691" y="1629350"/>
                  </a:cubicBezTo>
                  <a:lnTo>
                    <a:pt x="53275" y="1629350"/>
                  </a:lnTo>
                  <a:cubicBezTo>
                    <a:pt x="39145" y="1629350"/>
                    <a:pt x="25595" y="1623737"/>
                    <a:pt x="15604" y="1613746"/>
                  </a:cubicBezTo>
                  <a:cubicBezTo>
                    <a:pt x="5613" y="1603755"/>
                    <a:pt x="0" y="1590204"/>
                    <a:pt x="0" y="1576075"/>
                  </a:cubicBezTo>
                  <a:lnTo>
                    <a:pt x="0" y="53275"/>
                  </a:lnTo>
                  <a:cubicBezTo>
                    <a:pt x="0" y="39145"/>
                    <a:pt x="5613" y="25595"/>
                    <a:pt x="15604" y="15604"/>
                  </a:cubicBezTo>
                  <a:cubicBezTo>
                    <a:pt x="25595" y="5613"/>
                    <a:pt x="39145" y="0"/>
                    <a:pt x="5327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14"/>
            <p:cNvSpPr txBox="1"/>
            <p:nvPr/>
          </p:nvSpPr>
          <p:spPr>
            <a:xfrm>
              <a:off x="0" y="-28575"/>
              <a:ext cx="1951965" cy="16579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8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7" name="Google Shape;277;p14"/>
          <p:cNvSpPr/>
          <p:nvPr/>
        </p:nvSpPr>
        <p:spPr>
          <a:xfrm>
            <a:off x="10223800" y="4312931"/>
            <a:ext cx="7048022" cy="3020581"/>
          </a:xfrm>
          <a:custGeom>
            <a:rect b="b" l="l" r="r" t="t"/>
            <a:pathLst>
              <a:path extrusionOk="0" h="3020581" w="7048022">
                <a:moveTo>
                  <a:pt x="0" y="0"/>
                </a:moveTo>
                <a:lnTo>
                  <a:pt x="7048022" y="0"/>
                </a:lnTo>
                <a:lnTo>
                  <a:pt x="7048022" y="3020581"/>
                </a:lnTo>
                <a:lnTo>
                  <a:pt x="0" y="30205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14"/>
          <p:cNvSpPr txBox="1"/>
          <p:nvPr/>
        </p:nvSpPr>
        <p:spPr>
          <a:xfrm>
            <a:off x="2521384" y="1610918"/>
            <a:ext cx="6402243" cy="881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19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13"/>
              <a:buFont typeface="Arial"/>
              <a:buNone/>
            </a:pPr>
            <a:r>
              <a:rPr b="1" i="0" lang="en-US" sz="6113" u="none" cap="none" strike="noStrike">
                <a:solidFill>
                  <a:srgbClr val="000000"/>
                </a:solidFill>
                <a:latin typeface="Ibarra Real Nova"/>
                <a:ea typeface="Ibarra Real Nova"/>
                <a:cs typeface="Ibarra Real Nova"/>
                <a:sym typeface="Ibarra Real Nova"/>
              </a:rPr>
              <a:t>Visual studio 2010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14"/>
          <p:cNvSpPr txBox="1"/>
          <p:nvPr/>
        </p:nvSpPr>
        <p:spPr>
          <a:xfrm>
            <a:off x="2592247" y="3001060"/>
            <a:ext cx="6442036" cy="51153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31"/>
              <a:buFont typeface="Arial"/>
              <a:buNone/>
            </a:pPr>
            <a:r>
              <a:rPr b="0" i="0" lang="en-US" sz="2231" u="none" cap="none" strike="noStrike">
                <a:solidFill>
                  <a:srgbClr val="FFFFFF"/>
                </a:solidFill>
                <a:latin typeface="Carlito"/>
                <a:ea typeface="Carlito"/>
                <a:cs typeface="Carlito"/>
                <a:sym typeface="Carlito"/>
              </a:rPr>
              <a:t>Para computadoras de bajos recursos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40940" lvl="1" marL="481881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31"/>
              <a:buFont typeface="Arial"/>
              <a:buChar char="•"/>
            </a:pPr>
            <a:r>
              <a:rPr b="0" i="0" lang="en-US" sz="2231" u="none" cap="none" strike="noStrike">
                <a:solidFill>
                  <a:srgbClr val="FFFFFF"/>
                </a:solidFill>
                <a:latin typeface="Carlito"/>
                <a:ea typeface="Carlito"/>
                <a:cs typeface="Carlito"/>
                <a:sym typeface="Carlito"/>
              </a:rPr>
              <a:t>2 GB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31"/>
              <a:buFont typeface="Arial"/>
              <a:buNone/>
            </a:pPr>
            <a:r>
              <a:rPr b="0" i="0" lang="en-US" sz="2231" u="none" cap="none" strike="noStrike">
                <a:solidFill>
                  <a:srgbClr val="FFFFFF"/>
                </a:solidFill>
                <a:latin typeface="Carlito"/>
                <a:ea typeface="Carlito"/>
                <a:cs typeface="Carlito"/>
                <a:sym typeface="Carlito"/>
              </a:rPr>
              <a:t>Compatible 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40940" lvl="1" marL="481881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31"/>
              <a:buFont typeface="Arial"/>
              <a:buChar char="•"/>
            </a:pPr>
            <a:r>
              <a:rPr b="0" i="0" lang="en-US" sz="2231" u="none" cap="none" strike="noStrike">
                <a:solidFill>
                  <a:srgbClr val="FFFFFF"/>
                </a:solidFill>
                <a:latin typeface="Carlito"/>
                <a:ea typeface="Carlito"/>
                <a:cs typeface="Carlito"/>
                <a:sym typeface="Carlito"/>
              </a:rPr>
              <a:t>Windows 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40940" lvl="1" marL="481881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31"/>
              <a:buFont typeface="Arial"/>
              <a:buChar char="•"/>
            </a:pPr>
            <a:r>
              <a:rPr b="0" i="0" lang="en-US" sz="2231" u="none" cap="none" strike="noStrike">
                <a:solidFill>
                  <a:srgbClr val="FFFFFF"/>
                </a:solidFill>
                <a:latin typeface="Carlito"/>
                <a:ea typeface="Carlito"/>
                <a:cs typeface="Carlito"/>
                <a:sym typeface="Carlito"/>
              </a:rPr>
              <a:t>Windows 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40940" lvl="1" marL="481881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31"/>
              <a:buFont typeface="Arial"/>
              <a:buChar char="•"/>
            </a:pPr>
            <a:r>
              <a:rPr b="0" i="0" lang="en-US" sz="2231" u="none" cap="none" strike="noStrike">
                <a:solidFill>
                  <a:srgbClr val="FFFFFF"/>
                </a:solidFill>
                <a:latin typeface="Carlito"/>
                <a:ea typeface="Carlito"/>
                <a:cs typeface="Carlito"/>
                <a:sym typeface="Carlito"/>
              </a:rPr>
              <a:t>Windows 8.1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31"/>
              <a:buFont typeface="Arial"/>
              <a:buNone/>
            </a:pPr>
            <a:r>
              <a:rPr b="0" i="0" lang="en-US" sz="2231" u="none" cap="none" strike="noStrike">
                <a:solidFill>
                  <a:srgbClr val="FFFFFF"/>
                </a:solidFill>
                <a:latin typeface="Carlito"/>
                <a:ea typeface="Carlito"/>
                <a:cs typeface="Carlito"/>
                <a:sym typeface="Carlito"/>
              </a:rPr>
              <a:t>Requisitos 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40940" lvl="1" marL="481881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31"/>
              <a:buFont typeface="Arial"/>
              <a:buChar char="•"/>
            </a:pPr>
            <a:r>
              <a:rPr b="0" i="0" lang="en-US" sz="2231" u="none" cap="none" strike="noStrike">
                <a:solidFill>
                  <a:srgbClr val="FFFFFF"/>
                </a:solidFill>
                <a:latin typeface="Carlito"/>
                <a:ea typeface="Carlito"/>
                <a:cs typeface="Carlito"/>
                <a:sym typeface="Carlito"/>
              </a:rPr>
              <a:t>.NET Framework: debe instalar .NET Framework 3.5, .NET Framework 4, .NET Framework 4 Client Profile o .NET Framework 4.5 en los equipos de usuario final antes de instalar este runtime.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31"/>
              <a:buFont typeface="Arial"/>
              <a:buNone/>
            </a:pPr>
            <a:r>
              <a:t/>
            </a:r>
            <a:endParaRPr b="0" i="0" sz="2231" u="none" cap="none" strike="noStrike">
              <a:solidFill>
                <a:srgbClr val="FFFFFF"/>
              </a:solidFill>
              <a:latin typeface="Carlito"/>
              <a:ea typeface="Carlito"/>
              <a:cs typeface="Carlito"/>
              <a:sym typeface="Carlito"/>
            </a:endParaRPr>
          </a:p>
          <a:p>
            <a:pPr indent="0" lvl="0" marL="0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31"/>
              <a:buFont typeface="Arial"/>
              <a:buNone/>
            </a:pPr>
            <a:r>
              <a:t/>
            </a:r>
            <a:endParaRPr b="0" i="0" sz="2231" u="none" cap="none" strike="noStrike">
              <a:solidFill>
                <a:srgbClr val="FFFFFF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280" name="Google Shape;280;p14"/>
          <p:cNvSpPr txBox="1"/>
          <p:nvPr/>
        </p:nvSpPr>
        <p:spPr>
          <a:xfrm>
            <a:off x="3876656" y="8164645"/>
            <a:ext cx="3824006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sng" cap="none" strike="noStrike">
                <a:solidFill>
                  <a:srgbClr val="FFFFFF"/>
                </a:solidFill>
                <a:latin typeface="Carlito"/>
                <a:ea typeface="Carlito"/>
                <a:cs typeface="Carlito"/>
                <a:sym typeface="Carlito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Visual Studio 2010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1" name="Google Shape;281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151826" y="8288470"/>
            <a:ext cx="1390843" cy="1528398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14"/>
          <p:cNvSpPr/>
          <p:nvPr/>
        </p:nvSpPr>
        <p:spPr>
          <a:xfrm>
            <a:off x="-264483" y="9052669"/>
            <a:ext cx="19566866" cy="2127292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14"/>
          <p:cNvSpPr/>
          <p:nvPr/>
        </p:nvSpPr>
        <p:spPr>
          <a:xfrm>
            <a:off x="-264483" y="-868798"/>
            <a:ext cx="19566866" cy="2127292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91919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5"/>
          <p:cNvSpPr/>
          <p:nvPr/>
        </p:nvSpPr>
        <p:spPr>
          <a:xfrm>
            <a:off x="7450548" y="-148999"/>
            <a:ext cx="10837452" cy="10584998"/>
          </a:xfrm>
          <a:custGeom>
            <a:rect b="b" l="l" r="r" t="t"/>
            <a:pathLst>
              <a:path extrusionOk="0" h="10584998" w="10837452">
                <a:moveTo>
                  <a:pt x="0" y="0"/>
                </a:moveTo>
                <a:lnTo>
                  <a:pt x="10837452" y="0"/>
                </a:lnTo>
                <a:lnTo>
                  <a:pt x="10837452" y="10584998"/>
                </a:lnTo>
                <a:lnTo>
                  <a:pt x="0" y="10584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5000"/>
            </a:blip>
            <a:stretch>
              <a:fillRect b="-26784" l="0" r="0" t="-2678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15"/>
          <p:cNvSpPr/>
          <p:nvPr/>
        </p:nvSpPr>
        <p:spPr>
          <a:xfrm>
            <a:off x="-149033" y="-177577"/>
            <a:ext cx="7599581" cy="10557723"/>
          </a:xfrm>
          <a:prstGeom prst="rect">
            <a:avLst/>
          </a:prstGeom>
          <a:solidFill>
            <a:srgbClr val="FEE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15"/>
          <p:cNvSpPr txBox="1"/>
          <p:nvPr/>
        </p:nvSpPr>
        <p:spPr>
          <a:xfrm>
            <a:off x="1028700" y="900765"/>
            <a:ext cx="5817742" cy="4024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0"/>
              <a:buFont typeface="Arial"/>
              <a:buNone/>
            </a:pPr>
            <a:r>
              <a:rPr b="1" i="0" lang="en-US" sz="77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Instalación de Visual Studio 2010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15"/>
          <p:cNvSpPr txBox="1"/>
          <p:nvPr/>
        </p:nvSpPr>
        <p:spPr>
          <a:xfrm>
            <a:off x="9896034" y="1738362"/>
            <a:ext cx="5433822" cy="981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4"/>
              <a:buFont typeface="Arial"/>
              <a:buNone/>
            </a:pPr>
            <a:r>
              <a:rPr b="0" i="0" lang="en-US" sz="18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Descargar la imagen iso: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4"/>
              <a:buFont typeface="Arial"/>
              <a:buNone/>
            </a:pPr>
            <a:r>
              <a:rPr b="0" i="0" lang="en-US" sz="18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https://drive.google.com/file/d/1g5rC6DZLRB42_UvB9LS3ugcWLHAtlelf/view?usp=sharing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15"/>
          <p:cNvSpPr txBox="1"/>
          <p:nvPr/>
        </p:nvSpPr>
        <p:spPr>
          <a:xfrm>
            <a:off x="9896034" y="3468853"/>
            <a:ext cx="5433822" cy="333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4"/>
              <a:buFont typeface="Arial"/>
              <a:buNone/>
            </a:pPr>
            <a:r>
              <a:rPr b="0" i="0" lang="en-US" sz="18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Extraer el contenido de la imagen iso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15"/>
          <p:cNvSpPr txBox="1"/>
          <p:nvPr/>
        </p:nvSpPr>
        <p:spPr>
          <a:xfrm>
            <a:off x="9896034" y="4834075"/>
            <a:ext cx="5433822" cy="333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4"/>
              <a:buFont typeface="Arial"/>
              <a:buNone/>
            </a:pPr>
            <a:r>
              <a:rPr b="0" i="0" lang="en-US" sz="18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Ubicarse en la carpeta /VBExpress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15"/>
          <p:cNvSpPr txBox="1"/>
          <p:nvPr/>
        </p:nvSpPr>
        <p:spPr>
          <a:xfrm>
            <a:off x="9896034" y="6282135"/>
            <a:ext cx="5433822" cy="333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4"/>
              <a:buFont typeface="Arial"/>
              <a:buNone/>
            </a:pPr>
            <a:r>
              <a:rPr b="0" i="0" lang="en-US" sz="18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Ejecutar setup.exe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15"/>
          <p:cNvSpPr txBox="1"/>
          <p:nvPr/>
        </p:nvSpPr>
        <p:spPr>
          <a:xfrm>
            <a:off x="9896034" y="7364927"/>
            <a:ext cx="5433822" cy="981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4"/>
              <a:buFont typeface="Arial"/>
              <a:buNone/>
            </a:pPr>
            <a:r>
              <a:rPr b="0" i="0" lang="en-US" sz="18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Instalar según sus preferencias y usar la siguente llave: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4"/>
              <a:buFont typeface="Arial"/>
              <a:buNone/>
            </a:pPr>
            <a:r>
              <a:rPr b="0" i="0" lang="en-US" sz="18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2KQT8-HV27P-GTTV9-2WBVV-M7X96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15"/>
          <p:cNvSpPr/>
          <p:nvPr/>
        </p:nvSpPr>
        <p:spPr>
          <a:xfrm>
            <a:off x="16455703" y="865655"/>
            <a:ext cx="803597" cy="355044"/>
          </a:xfrm>
          <a:custGeom>
            <a:rect b="b" l="l" r="r" t="t"/>
            <a:pathLst>
              <a:path extrusionOk="0" h="355044" w="803597">
                <a:moveTo>
                  <a:pt x="0" y="0"/>
                </a:moveTo>
                <a:lnTo>
                  <a:pt x="803597" y="0"/>
                </a:lnTo>
                <a:lnTo>
                  <a:pt x="803597" y="355044"/>
                </a:lnTo>
                <a:lnTo>
                  <a:pt x="0" y="3550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15"/>
          <p:cNvSpPr txBox="1"/>
          <p:nvPr/>
        </p:nvSpPr>
        <p:spPr>
          <a:xfrm>
            <a:off x="1028700" y="9229725"/>
            <a:ext cx="5817742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PROGRAMACIÓN DE COMPUTADORAS 2 | CLASE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15"/>
          <p:cNvSpPr/>
          <p:nvPr/>
        </p:nvSpPr>
        <p:spPr>
          <a:xfrm>
            <a:off x="8431149" y="3146381"/>
            <a:ext cx="1035984" cy="1035984"/>
          </a:xfrm>
          <a:custGeom>
            <a:rect b="b" l="l" r="r" t="t"/>
            <a:pathLst>
              <a:path extrusionOk="0" h="2311400" w="2311400">
                <a:moveTo>
                  <a:pt x="2006600" y="0"/>
                </a:moveTo>
                <a:lnTo>
                  <a:pt x="304800" y="0"/>
                </a:lnTo>
                <a:cubicBezTo>
                  <a:pt x="135890" y="0"/>
                  <a:pt x="0" y="135890"/>
                  <a:pt x="0" y="304800"/>
                </a:cubicBezTo>
                <a:lnTo>
                  <a:pt x="0" y="2006600"/>
                </a:lnTo>
                <a:cubicBezTo>
                  <a:pt x="0" y="2175510"/>
                  <a:pt x="135890" y="2311400"/>
                  <a:pt x="304800" y="2311400"/>
                </a:cubicBezTo>
                <a:lnTo>
                  <a:pt x="2006600" y="2311400"/>
                </a:lnTo>
                <a:cubicBezTo>
                  <a:pt x="2175510" y="2311400"/>
                  <a:pt x="2311400" y="2175510"/>
                  <a:pt x="2311400" y="2006600"/>
                </a:cubicBezTo>
                <a:lnTo>
                  <a:pt x="2311400" y="304800"/>
                </a:lnTo>
                <a:cubicBezTo>
                  <a:pt x="2311400" y="135890"/>
                  <a:pt x="2175510" y="0"/>
                  <a:pt x="2006600" y="0"/>
                </a:cubicBezTo>
                <a:close/>
              </a:path>
            </a:pathLst>
          </a:custGeom>
          <a:solidFill>
            <a:srgbClr val="FEE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15"/>
          <p:cNvSpPr/>
          <p:nvPr/>
        </p:nvSpPr>
        <p:spPr>
          <a:xfrm>
            <a:off x="8431149" y="4553022"/>
            <a:ext cx="1035984" cy="1035984"/>
          </a:xfrm>
          <a:custGeom>
            <a:rect b="b" l="l" r="r" t="t"/>
            <a:pathLst>
              <a:path extrusionOk="0" h="2311400" w="2311400">
                <a:moveTo>
                  <a:pt x="2006600" y="0"/>
                </a:moveTo>
                <a:lnTo>
                  <a:pt x="304800" y="0"/>
                </a:lnTo>
                <a:cubicBezTo>
                  <a:pt x="135890" y="0"/>
                  <a:pt x="0" y="135890"/>
                  <a:pt x="0" y="304800"/>
                </a:cubicBezTo>
                <a:lnTo>
                  <a:pt x="0" y="2006600"/>
                </a:lnTo>
                <a:cubicBezTo>
                  <a:pt x="0" y="2175510"/>
                  <a:pt x="135890" y="2311400"/>
                  <a:pt x="304800" y="2311400"/>
                </a:cubicBezTo>
                <a:lnTo>
                  <a:pt x="2006600" y="2311400"/>
                </a:lnTo>
                <a:cubicBezTo>
                  <a:pt x="2175510" y="2311400"/>
                  <a:pt x="2311400" y="2175510"/>
                  <a:pt x="2311400" y="2006600"/>
                </a:cubicBezTo>
                <a:lnTo>
                  <a:pt x="2311400" y="304800"/>
                </a:lnTo>
                <a:cubicBezTo>
                  <a:pt x="2311400" y="135890"/>
                  <a:pt x="2175510" y="0"/>
                  <a:pt x="2006600" y="0"/>
                </a:cubicBezTo>
                <a:close/>
              </a:path>
            </a:pathLst>
          </a:custGeom>
          <a:solidFill>
            <a:srgbClr val="FEE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15"/>
          <p:cNvSpPr/>
          <p:nvPr/>
        </p:nvSpPr>
        <p:spPr>
          <a:xfrm>
            <a:off x="8431149" y="5959663"/>
            <a:ext cx="1035984" cy="1035984"/>
          </a:xfrm>
          <a:custGeom>
            <a:rect b="b" l="l" r="r" t="t"/>
            <a:pathLst>
              <a:path extrusionOk="0" h="2311400" w="2311400">
                <a:moveTo>
                  <a:pt x="2006600" y="0"/>
                </a:moveTo>
                <a:lnTo>
                  <a:pt x="304800" y="0"/>
                </a:lnTo>
                <a:cubicBezTo>
                  <a:pt x="135890" y="0"/>
                  <a:pt x="0" y="135890"/>
                  <a:pt x="0" y="304800"/>
                </a:cubicBezTo>
                <a:lnTo>
                  <a:pt x="0" y="2006600"/>
                </a:lnTo>
                <a:cubicBezTo>
                  <a:pt x="0" y="2175510"/>
                  <a:pt x="135890" y="2311400"/>
                  <a:pt x="304800" y="2311400"/>
                </a:cubicBezTo>
                <a:lnTo>
                  <a:pt x="2006600" y="2311400"/>
                </a:lnTo>
                <a:cubicBezTo>
                  <a:pt x="2175510" y="2311400"/>
                  <a:pt x="2311400" y="2175510"/>
                  <a:pt x="2311400" y="2006600"/>
                </a:cubicBezTo>
                <a:lnTo>
                  <a:pt x="2311400" y="304800"/>
                </a:lnTo>
                <a:cubicBezTo>
                  <a:pt x="2311400" y="135890"/>
                  <a:pt x="2175510" y="0"/>
                  <a:pt x="2006600" y="0"/>
                </a:cubicBezTo>
                <a:close/>
              </a:path>
            </a:pathLst>
          </a:custGeom>
          <a:solidFill>
            <a:srgbClr val="FEE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15"/>
          <p:cNvSpPr/>
          <p:nvPr/>
        </p:nvSpPr>
        <p:spPr>
          <a:xfrm>
            <a:off x="8431149" y="7366304"/>
            <a:ext cx="1035984" cy="1035984"/>
          </a:xfrm>
          <a:custGeom>
            <a:rect b="b" l="l" r="r" t="t"/>
            <a:pathLst>
              <a:path extrusionOk="0" h="2311400" w="2311400">
                <a:moveTo>
                  <a:pt x="2006600" y="0"/>
                </a:moveTo>
                <a:lnTo>
                  <a:pt x="304800" y="0"/>
                </a:lnTo>
                <a:cubicBezTo>
                  <a:pt x="135890" y="0"/>
                  <a:pt x="0" y="135890"/>
                  <a:pt x="0" y="304800"/>
                </a:cubicBezTo>
                <a:lnTo>
                  <a:pt x="0" y="2006600"/>
                </a:lnTo>
                <a:cubicBezTo>
                  <a:pt x="0" y="2175510"/>
                  <a:pt x="135890" y="2311400"/>
                  <a:pt x="304800" y="2311400"/>
                </a:cubicBezTo>
                <a:lnTo>
                  <a:pt x="2006600" y="2311400"/>
                </a:lnTo>
                <a:cubicBezTo>
                  <a:pt x="2175510" y="2311400"/>
                  <a:pt x="2311400" y="2175510"/>
                  <a:pt x="2311400" y="2006600"/>
                </a:cubicBezTo>
                <a:lnTo>
                  <a:pt x="2311400" y="304800"/>
                </a:lnTo>
                <a:cubicBezTo>
                  <a:pt x="2311400" y="135890"/>
                  <a:pt x="2175510" y="0"/>
                  <a:pt x="2006600" y="0"/>
                </a:cubicBezTo>
                <a:close/>
              </a:path>
            </a:pathLst>
          </a:custGeom>
          <a:solidFill>
            <a:srgbClr val="FEE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15"/>
          <p:cNvSpPr/>
          <p:nvPr/>
        </p:nvSpPr>
        <p:spPr>
          <a:xfrm>
            <a:off x="8431149" y="1739739"/>
            <a:ext cx="1035984" cy="1035984"/>
          </a:xfrm>
          <a:custGeom>
            <a:rect b="b" l="l" r="r" t="t"/>
            <a:pathLst>
              <a:path extrusionOk="0" h="2311400" w="2311400">
                <a:moveTo>
                  <a:pt x="2006600" y="0"/>
                </a:moveTo>
                <a:lnTo>
                  <a:pt x="304800" y="0"/>
                </a:lnTo>
                <a:cubicBezTo>
                  <a:pt x="135890" y="0"/>
                  <a:pt x="0" y="135890"/>
                  <a:pt x="0" y="304800"/>
                </a:cubicBezTo>
                <a:lnTo>
                  <a:pt x="0" y="2006600"/>
                </a:lnTo>
                <a:cubicBezTo>
                  <a:pt x="0" y="2175510"/>
                  <a:pt x="135890" y="2311400"/>
                  <a:pt x="304800" y="2311400"/>
                </a:cubicBezTo>
                <a:lnTo>
                  <a:pt x="2006600" y="2311400"/>
                </a:lnTo>
                <a:cubicBezTo>
                  <a:pt x="2175510" y="2311400"/>
                  <a:pt x="2311400" y="2175510"/>
                  <a:pt x="2311400" y="2006600"/>
                </a:cubicBezTo>
                <a:lnTo>
                  <a:pt x="2311400" y="304800"/>
                </a:lnTo>
                <a:cubicBezTo>
                  <a:pt x="2311400" y="135890"/>
                  <a:pt x="2175510" y="0"/>
                  <a:pt x="2006600" y="0"/>
                </a:cubicBezTo>
                <a:close/>
              </a:path>
            </a:pathLst>
          </a:custGeom>
          <a:solidFill>
            <a:srgbClr val="FEE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15"/>
          <p:cNvSpPr txBox="1"/>
          <p:nvPr/>
        </p:nvSpPr>
        <p:spPr>
          <a:xfrm>
            <a:off x="8431149" y="9420717"/>
            <a:ext cx="8926749" cy="369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l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4"/>
              <a:buFont typeface="Arial"/>
              <a:buNone/>
            </a:pPr>
            <a:r>
              <a:rPr b="0" i="0" lang="en-US" sz="19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*El archivo es seguro. Descargado directamente de la página de Microsoft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e102e70b16_0_0"/>
          <p:cNvSpPr/>
          <p:nvPr/>
        </p:nvSpPr>
        <p:spPr>
          <a:xfrm>
            <a:off x="0" y="0"/>
            <a:ext cx="18288000" cy="7292340"/>
          </a:xfrm>
          <a:custGeom>
            <a:rect b="b" l="l" r="r" t="t"/>
            <a:pathLst>
              <a:path extrusionOk="0" h="7292340" w="18288000">
                <a:moveTo>
                  <a:pt x="0" y="0"/>
                </a:moveTo>
                <a:lnTo>
                  <a:pt x="18288000" y="0"/>
                </a:lnTo>
                <a:lnTo>
                  <a:pt x="18288000" y="7292340"/>
                </a:lnTo>
                <a:lnTo>
                  <a:pt x="0" y="72923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09" name="Google Shape;309;g3e102e70b16_0_0"/>
          <p:cNvGrpSpPr/>
          <p:nvPr/>
        </p:nvGrpSpPr>
        <p:grpSpPr>
          <a:xfrm>
            <a:off x="15318704" y="7531093"/>
            <a:ext cx="2286000" cy="2307431"/>
            <a:chOff x="0" y="-28575"/>
            <a:chExt cx="3048000" cy="3076575"/>
          </a:xfrm>
        </p:grpSpPr>
        <p:sp>
          <p:nvSpPr>
            <p:cNvPr id="310" name="Google Shape;310;g3e102e70b16_0_0"/>
            <p:cNvSpPr/>
            <p:nvPr/>
          </p:nvSpPr>
          <p:spPr>
            <a:xfrm>
              <a:off x="0" y="0"/>
              <a:ext cx="3048000" cy="2946400"/>
            </a:xfrm>
            <a:custGeom>
              <a:rect b="b" l="l" r="r" t="t"/>
              <a:pathLst>
                <a:path extrusionOk="0" h="2946400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2946400"/>
                  </a:lnTo>
                  <a:lnTo>
                    <a:pt x="0" y="2946400"/>
                  </a:lnTo>
                  <a:close/>
                </a:path>
              </a:pathLst>
            </a:custGeom>
            <a:solidFill>
              <a:srgbClr val="FF5757"/>
            </a:solidFill>
            <a:ln>
              <a:noFill/>
            </a:ln>
          </p:spPr>
        </p:sp>
        <p:sp>
          <p:nvSpPr>
            <p:cNvPr id="311" name="Google Shape;311;g3e102e70b16_0_0"/>
            <p:cNvSpPr/>
            <p:nvPr/>
          </p:nvSpPr>
          <p:spPr>
            <a:xfrm>
              <a:off x="0" y="0"/>
              <a:ext cx="3048000" cy="3048000"/>
            </a:xfrm>
            <a:custGeom>
              <a:rect b="b" l="l" r="r" t="t"/>
              <a:pathLst>
                <a:path extrusionOk="0" h="3048000" w="3048000">
                  <a:moveTo>
                    <a:pt x="0" y="2946400"/>
                  </a:moveTo>
                  <a:lnTo>
                    <a:pt x="3048000" y="2946400"/>
                  </a:lnTo>
                  <a:lnTo>
                    <a:pt x="2921000" y="3048000"/>
                  </a:lnTo>
                  <a:cubicBezTo>
                    <a:pt x="2921000" y="3048000"/>
                    <a:pt x="1930400" y="2971800"/>
                    <a:pt x="1828800" y="2971800"/>
                  </a:cubicBezTo>
                  <a:lnTo>
                    <a:pt x="1219200" y="2971800"/>
                  </a:lnTo>
                  <a:cubicBezTo>
                    <a:pt x="1117600" y="2971800"/>
                    <a:pt x="127000" y="3048000"/>
                    <a:pt x="127000" y="3048000"/>
                  </a:cubicBezTo>
                  <a:lnTo>
                    <a:pt x="0" y="2946400"/>
                  </a:lnTo>
                  <a:lnTo>
                    <a:pt x="0" y="0"/>
                  </a:lnTo>
                  <a:lnTo>
                    <a:pt x="3048000" y="0"/>
                  </a:lnTo>
                  <a:lnTo>
                    <a:pt x="3048000" y="2946400"/>
                  </a:lnTo>
                  <a:lnTo>
                    <a:pt x="12700" y="2946400"/>
                  </a:lnTo>
                  <a:lnTo>
                    <a:pt x="12700" y="2933700"/>
                  </a:lnTo>
                  <a:lnTo>
                    <a:pt x="3035300" y="2933700"/>
                  </a:lnTo>
                  <a:lnTo>
                    <a:pt x="3035300" y="12700"/>
                  </a:lnTo>
                  <a:lnTo>
                    <a:pt x="12700" y="12700"/>
                  </a:lnTo>
                  <a:lnTo>
                    <a:pt x="12700" y="2946400"/>
                  </a:lnTo>
                </a:path>
              </a:pathLst>
            </a:custGeom>
            <a:solidFill>
              <a:srgbClr val="394C60">
                <a:alpha val="7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g3e102e70b16_0_0"/>
            <p:cNvSpPr txBox="1"/>
            <p:nvPr/>
          </p:nvSpPr>
          <p:spPr>
            <a:xfrm>
              <a:off x="0" y="-28575"/>
              <a:ext cx="3048000" cy="251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03200" lIns="203200" spcFirstLastPara="1" rIns="203200" wrap="square" tIns="203200">
              <a:no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Crearas el ejemplo práctico que tu impartirás en la clase como refuerzo de la teoria dada. </a:t>
              </a:r>
              <a:endParaRPr/>
            </a:p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e102e70b16_0_83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18" name="Google Shape;318;g3e102e70b16_0_83"/>
          <p:cNvGrpSpPr/>
          <p:nvPr/>
        </p:nvGrpSpPr>
        <p:grpSpPr>
          <a:xfrm>
            <a:off x="14677737" y="6943540"/>
            <a:ext cx="2286000" cy="2521890"/>
            <a:chOff x="0" y="-28575"/>
            <a:chExt cx="3048000" cy="3362520"/>
          </a:xfrm>
        </p:grpSpPr>
        <p:sp>
          <p:nvSpPr>
            <p:cNvPr id="319" name="Google Shape;319;g3e102e70b16_0_83"/>
            <p:cNvSpPr/>
            <p:nvPr/>
          </p:nvSpPr>
          <p:spPr>
            <a:xfrm>
              <a:off x="0" y="0"/>
              <a:ext cx="3048000" cy="3232345"/>
            </a:xfrm>
            <a:custGeom>
              <a:rect b="b" l="l" r="r" t="t"/>
              <a:pathLst>
                <a:path extrusionOk="0" h="3232345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3232345"/>
                  </a:lnTo>
                  <a:lnTo>
                    <a:pt x="0" y="3232345"/>
                  </a:lnTo>
                  <a:close/>
                </a:path>
              </a:pathLst>
            </a:custGeom>
            <a:solidFill>
              <a:srgbClr val="FF5757"/>
            </a:solidFill>
            <a:ln>
              <a:noFill/>
            </a:ln>
          </p:spPr>
        </p:sp>
        <p:sp>
          <p:nvSpPr>
            <p:cNvPr id="320" name="Google Shape;320;g3e102e70b16_0_83"/>
            <p:cNvSpPr/>
            <p:nvPr/>
          </p:nvSpPr>
          <p:spPr>
            <a:xfrm>
              <a:off x="0" y="0"/>
              <a:ext cx="3048000" cy="3333945"/>
            </a:xfrm>
            <a:custGeom>
              <a:rect b="b" l="l" r="r" t="t"/>
              <a:pathLst>
                <a:path extrusionOk="0" h="3333945" w="3048000">
                  <a:moveTo>
                    <a:pt x="0" y="3232345"/>
                  </a:moveTo>
                  <a:lnTo>
                    <a:pt x="3048000" y="3232345"/>
                  </a:lnTo>
                  <a:lnTo>
                    <a:pt x="2921000" y="3333945"/>
                  </a:lnTo>
                  <a:cubicBezTo>
                    <a:pt x="2921000" y="3333945"/>
                    <a:pt x="1930400" y="3257745"/>
                    <a:pt x="1828800" y="3257745"/>
                  </a:cubicBezTo>
                  <a:lnTo>
                    <a:pt x="1219200" y="3257745"/>
                  </a:lnTo>
                  <a:cubicBezTo>
                    <a:pt x="1117600" y="3257745"/>
                    <a:pt x="127000" y="3333945"/>
                    <a:pt x="127000" y="3333945"/>
                  </a:cubicBezTo>
                  <a:lnTo>
                    <a:pt x="0" y="3232345"/>
                  </a:lnTo>
                  <a:lnTo>
                    <a:pt x="0" y="0"/>
                  </a:lnTo>
                  <a:lnTo>
                    <a:pt x="3048000" y="0"/>
                  </a:lnTo>
                  <a:lnTo>
                    <a:pt x="3048000" y="3232345"/>
                  </a:lnTo>
                  <a:lnTo>
                    <a:pt x="12700" y="3232345"/>
                  </a:lnTo>
                  <a:lnTo>
                    <a:pt x="12700" y="3219645"/>
                  </a:lnTo>
                  <a:lnTo>
                    <a:pt x="3035300" y="3219645"/>
                  </a:lnTo>
                  <a:lnTo>
                    <a:pt x="3035300" y="12700"/>
                  </a:lnTo>
                  <a:lnTo>
                    <a:pt x="12700" y="12700"/>
                  </a:lnTo>
                  <a:lnTo>
                    <a:pt x="12700" y="3232345"/>
                  </a:lnTo>
                </a:path>
              </a:pathLst>
            </a:custGeom>
            <a:solidFill>
              <a:srgbClr val="394C60">
                <a:alpha val="7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g3e102e70b16_0_83"/>
            <p:cNvSpPr txBox="1"/>
            <p:nvPr/>
          </p:nvSpPr>
          <p:spPr>
            <a:xfrm>
              <a:off x="0" y="-28575"/>
              <a:ext cx="3048000" cy="280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03200" lIns="203200" spcFirstLastPara="1" rIns="203200" wrap="square" tIns="203200">
              <a:no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Crearas la actividad donde los alumnos practicarán por sí solos los conocimientos abordados en esta sesión.</a:t>
              </a:r>
              <a:endParaRPr/>
            </a:p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C20D"/>
        </a:solidFill>
      </p:bgPr>
    </p:bg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6" name="Google Shape;326;p16"/>
          <p:cNvGrpSpPr/>
          <p:nvPr/>
        </p:nvGrpSpPr>
        <p:grpSpPr>
          <a:xfrm>
            <a:off x="3167915" y="-573219"/>
            <a:ext cx="15472153" cy="11608849"/>
            <a:chOff x="0" y="-66675"/>
            <a:chExt cx="4074970" cy="3057475"/>
          </a:xfrm>
        </p:grpSpPr>
        <p:sp>
          <p:nvSpPr>
            <p:cNvPr id="327" name="Google Shape;327;p16"/>
            <p:cNvSpPr/>
            <p:nvPr/>
          </p:nvSpPr>
          <p:spPr>
            <a:xfrm>
              <a:off x="0" y="0"/>
              <a:ext cx="4074970" cy="2990800"/>
            </a:xfrm>
            <a:custGeom>
              <a:rect b="b" l="l" r="r" t="t"/>
              <a:pathLst>
                <a:path extrusionOk="0" h="2990800" w="4074970">
                  <a:moveTo>
                    <a:pt x="24519" y="0"/>
                  </a:moveTo>
                  <a:lnTo>
                    <a:pt x="4050452" y="0"/>
                  </a:lnTo>
                  <a:cubicBezTo>
                    <a:pt x="4056954" y="0"/>
                    <a:pt x="4063191" y="2583"/>
                    <a:pt x="4067789" y="7181"/>
                  </a:cubicBezTo>
                  <a:cubicBezTo>
                    <a:pt x="4072387" y="11779"/>
                    <a:pt x="4074970" y="18016"/>
                    <a:pt x="4074970" y="24519"/>
                  </a:cubicBezTo>
                  <a:lnTo>
                    <a:pt x="4074970" y="2966281"/>
                  </a:lnTo>
                  <a:cubicBezTo>
                    <a:pt x="4074970" y="2979822"/>
                    <a:pt x="4063993" y="2990800"/>
                    <a:pt x="4050452" y="2990800"/>
                  </a:cubicBezTo>
                  <a:lnTo>
                    <a:pt x="24519" y="2990800"/>
                  </a:lnTo>
                  <a:cubicBezTo>
                    <a:pt x="10977" y="2990800"/>
                    <a:pt x="0" y="2979822"/>
                    <a:pt x="0" y="2966281"/>
                  </a:cubicBezTo>
                  <a:lnTo>
                    <a:pt x="0" y="24519"/>
                  </a:lnTo>
                  <a:cubicBezTo>
                    <a:pt x="0" y="10977"/>
                    <a:pt x="10977" y="0"/>
                    <a:pt x="24519" y="0"/>
                  </a:cubicBezTo>
                  <a:close/>
                </a:path>
              </a:pathLst>
            </a:custGeom>
            <a:solidFill>
              <a:srgbClr val="81858B"/>
            </a:solidFill>
            <a:ln cap="rnd" cmpd="sng" w="47625">
              <a:solidFill>
                <a:srgbClr val="8488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" name="Google Shape;328;p16"/>
            <p:cNvSpPr txBox="1"/>
            <p:nvPr/>
          </p:nvSpPr>
          <p:spPr>
            <a:xfrm>
              <a:off x="0" y="-66675"/>
              <a:ext cx="4074970" cy="30574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0" lIns="254000" spcFirstLastPara="1" rIns="254000" wrap="square" tIns="254000">
              <a:noAutofit/>
            </a:bodyPr>
            <a:lstStyle/>
            <a:p>
              <a:pPr indent="0" lvl="0" marL="0" marR="0" rtl="0" algn="l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99"/>
                <a:buFont typeface="Arial"/>
                <a:buNone/>
              </a:pPr>
              <a:r>
                <a:rPr b="1" i="0" lang="en-US" sz="2399" u="none" cap="none" strike="noStrik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9" name="Google Shape;329;p16"/>
          <p:cNvGrpSpPr/>
          <p:nvPr/>
        </p:nvGrpSpPr>
        <p:grpSpPr>
          <a:xfrm>
            <a:off x="3649536" y="991809"/>
            <a:ext cx="14156843" cy="8266491"/>
            <a:chOff x="0" y="-133350"/>
            <a:chExt cx="3728551" cy="2177183"/>
          </a:xfrm>
        </p:grpSpPr>
        <p:sp>
          <p:nvSpPr>
            <p:cNvPr id="330" name="Google Shape;330;p16"/>
            <p:cNvSpPr/>
            <p:nvPr/>
          </p:nvSpPr>
          <p:spPr>
            <a:xfrm>
              <a:off x="0" y="0"/>
              <a:ext cx="3728551" cy="2043833"/>
            </a:xfrm>
            <a:custGeom>
              <a:rect b="b" l="l" r="r" t="t"/>
              <a:pathLst>
                <a:path extrusionOk="0" h="2043833" w="3728551">
                  <a:moveTo>
                    <a:pt x="26797" y="0"/>
                  </a:moveTo>
                  <a:lnTo>
                    <a:pt x="3701755" y="0"/>
                  </a:lnTo>
                  <a:cubicBezTo>
                    <a:pt x="3708862" y="0"/>
                    <a:pt x="3715677" y="2823"/>
                    <a:pt x="3720703" y="7849"/>
                  </a:cubicBezTo>
                  <a:cubicBezTo>
                    <a:pt x="3725728" y="12874"/>
                    <a:pt x="3728551" y="19690"/>
                    <a:pt x="3728551" y="26797"/>
                  </a:cubicBezTo>
                  <a:lnTo>
                    <a:pt x="3728551" y="2017036"/>
                  </a:lnTo>
                  <a:cubicBezTo>
                    <a:pt x="3728551" y="2024143"/>
                    <a:pt x="3725728" y="2030959"/>
                    <a:pt x="3720703" y="2035984"/>
                  </a:cubicBezTo>
                  <a:cubicBezTo>
                    <a:pt x="3715677" y="2041010"/>
                    <a:pt x="3708862" y="2043833"/>
                    <a:pt x="3701755" y="2043833"/>
                  </a:cubicBezTo>
                  <a:lnTo>
                    <a:pt x="26797" y="2043833"/>
                  </a:lnTo>
                  <a:cubicBezTo>
                    <a:pt x="11997" y="2043833"/>
                    <a:pt x="0" y="2031836"/>
                    <a:pt x="0" y="2017036"/>
                  </a:cubicBezTo>
                  <a:lnTo>
                    <a:pt x="0" y="26797"/>
                  </a:lnTo>
                  <a:cubicBezTo>
                    <a:pt x="0" y="11997"/>
                    <a:pt x="11997" y="0"/>
                    <a:pt x="26797" y="0"/>
                  </a:cubicBezTo>
                  <a:close/>
                </a:path>
              </a:pathLst>
            </a:custGeom>
            <a:solidFill>
              <a:srgbClr val="000000"/>
            </a:solidFill>
            <a:ln cap="rnd" cmpd="sng" w="47625">
              <a:solidFill>
                <a:srgbClr val="FEE6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" name="Google Shape;331;p16"/>
            <p:cNvSpPr txBox="1"/>
            <p:nvPr/>
          </p:nvSpPr>
          <p:spPr>
            <a:xfrm>
              <a:off x="0" y="-133350"/>
              <a:ext cx="3728551" cy="21771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0" lIns="254000" spcFirstLastPara="1" rIns="254000" wrap="square" tIns="254000">
              <a:noAutofit/>
            </a:bodyPr>
            <a:lstStyle/>
            <a:p>
              <a:pPr indent="0" lvl="0" marL="0" marR="0" rtl="0" algn="just">
                <a:lnSpc>
                  <a:spcPct val="14000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99"/>
                <a:buFont typeface="Arial"/>
                <a:buNone/>
              </a:pPr>
              <a:r>
                <a:rPr b="0" i="0" lang="en-US" sz="4899" u="none" cap="none" strike="noStrike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   Contenido práctico: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528947" lvl="1" marL="1057895" marR="0" rtl="0" algn="just">
                <a:lnSpc>
                  <a:spcPct val="140008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4899"/>
                <a:buFont typeface="Arial"/>
                <a:buChar char="•"/>
              </a:pPr>
              <a:r>
                <a:rPr b="0" i="0" lang="en-US" sz="4899" u="none" cap="none" strike="noStrike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Instalando nuestra IDE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528947" lvl="1" marL="1057895" marR="0" rtl="0" algn="just">
                <a:lnSpc>
                  <a:spcPct val="140008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4899"/>
                <a:buFont typeface="Arial"/>
                <a:buChar char="•"/>
              </a:pPr>
              <a:r>
                <a:rPr b="0" i="0" lang="en-US" sz="4899" u="none" cap="none" strike="noStrike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Creando nuestro primer proyecto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528947" lvl="1" marL="1057895" marR="0" rtl="0" algn="just">
                <a:lnSpc>
                  <a:spcPct val="140008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4899"/>
                <a:buFont typeface="Arial"/>
                <a:buChar char="•"/>
              </a:pPr>
              <a:r>
                <a:rPr b="0" i="0" lang="en-US" sz="4899" u="none" cap="none" strike="noStrike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Conociendo nuestra IDE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CB13"/>
        </a:solid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6" name="Google Shape;336;p17"/>
          <p:cNvGrpSpPr/>
          <p:nvPr/>
        </p:nvGrpSpPr>
        <p:grpSpPr>
          <a:xfrm>
            <a:off x="448196" y="4359681"/>
            <a:ext cx="17514837" cy="5499039"/>
            <a:chOff x="0" y="-47625"/>
            <a:chExt cx="4612961" cy="1448307"/>
          </a:xfrm>
        </p:grpSpPr>
        <p:sp>
          <p:nvSpPr>
            <p:cNvPr id="337" name="Google Shape;337;p17"/>
            <p:cNvSpPr/>
            <p:nvPr/>
          </p:nvSpPr>
          <p:spPr>
            <a:xfrm>
              <a:off x="0" y="0"/>
              <a:ext cx="4612961" cy="1400682"/>
            </a:xfrm>
            <a:custGeom>
              <a:rect b="b" l="l" r="r" t="t"/>
              <a:pathLst>
                <a:path extrusionOk="0" h="1400682" w="4612961">
                  <a:moveTo>
                    <a:pt x="21659" y="0"/>
                  </a:moveTo>
                  <a:lnTo>
                    <a:pt x="4591302" y="0"/>
                  </a:lnTo>
                  <a:cubicBezTo>
                    <a:pt x="4597047" y="0"/>
                    <a:pt x="4602555" y="2282"/>
                    <a:pt x="4606617" y="6344"/>
                  </a:cubicBezTo>
                  <a:cubicBezTo>
                    <a:pt x="4610679" y="10406"/>
                    <a:pt x="4612961" y="15915"/>
                    <a:pt x="4612961" y="21659"/>
                  </a:cubicBezTo>
                  <a:lnTo>
                    <a:pt x="4612961" y="1379023"/>
                  </a:lnTo>
                  <a:cubicBezTo>
                    <a:pt x="4612961" y="1384767"/>
                    <a:pt x="4610679" y="1390276"/>
                    <a:pt x="4606617" y="1394338"/>
                  </a:cubicBezTo>
                  <a:cubicBezTo>
                    <a:pt x="4602555" y="1398400"/>
                    <a:pt x="4597047" y="1400682"/>
                    <a:pt x="4591302" y="1400682"/>
                  </a:cubicBezTo>
                  <a:lnTo>
                    <a:pt x="21659" y="1400682"/>
                  </a:lnTo>
                  <a:cubicBezTo>
                    <a:pt x="15915" y="1400682"/>
                    <a:pt x="10406" y="1398400"/>
                    <a:pt x="6344" y="1394338"/>
                  </a:cubicBezTo>
                  <a:cubicBezTo>
                    <a:pt x="2282" y="1390276"/>
                    <a:pt x="0" y="1384767"/>
                    <a:pt x="0" y="1379023"/>
                  </a:cubicBezTo>
                  <a:lnTo>
                    <a:pt x="0" y="21659"/>
                  </a:lnTo>
                  <a:cubicBezTo>
                    <a:pt x="0" y="15915"/>
                    <a:pt x="2282" y="10406"/>
                    <a:pt x="6344" y="6344"/>
                  </a:cubicBezTo>
                  <a:cubicBezTo>
                    <a:pt x="10406" y="2282"/>
                    <a:pt x="15915" y="0"/>
                    <a:pt x="21659" y="0"/>
                  </a:cubicBezTo>
                  <a:close/>
                </a:path>
              </a:pathLst>
            </a:custGeom>
            <a:solidFill>
              <a:srgbClr val="FEFFFF"/>
            </a:solidFill>
            <a:ln cap="rnd" cmpd="sng" w="47625">
              <a:solidFill>
                <a:srgbClr val="FE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" name="Google Shape;338;p17"/>
            <p:cNvSpPr txBox="1"/>
            <p:nvPr/>
          </p:nvSpPr>
          <p:spPr>
            <a:xfrm>
              <a:off x="0" y="-47625"/>
              <a:ext cx="4612961" cy="14483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0" lIns="254000" spcFirstLastPara="1" rIns="254000" wrap="square" tIns="254000">
              <a:noAutofit/>
            </a:bodyPr>
            <a:lstStyle/>
            <a:p>
              <a:pPr indent="0" lvl="0" marL="0" marR="0" rtl="0" algn="ctr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9" name="Google Shape;339;p17"/>
          <p:cNvGrpSpPr/>
          <p:nvPr/>
        </p:nvGrpSpPr>
        <p:grpSpPr>
          <a:xfrm>
            <a:off x="448196" y="375630"/>
            <a:ext cx="17514837" cy="3640588"/>
            <a:chOff x="0" y="-47625"/>
            <a:chExt cx="4612961" cy="958838"/>
          </a:xfrm>
        </p:grpSpPr>
        <p:sp>
          <p:nvSpPr>
            <p:cNvPr id="340" name="Google Shape;340;p17"/>
            <p:cNvSpPr/>
            <p:nvPr/>
          </p:nvSpPr>
          <p:spPr>
            <a:xfrm>
              <a:off x="0" y="0"/>
              <a:ext cx="4612961" cy="911213"/>
            </a:xfrm>
            <a:custGeom>
              <a:rect b="b" l="l" r="r" t="t"/>
              <a:pathLst>
                <a:path extrusionOk="0" h="911213" w="4612961">
                  <a:moveTo>
                    <a:pt x="21659" y="0"/>
                  </a:moveTo>
                  <a:lnTo>
                    <a:pt x="4591302" y="0"/>
                  </a:lnTo>
                  <a:cubicBezTo>
                    <a:pt x="4597047" y="0"/>
                    <a:pt x="4602555" y="2282"/>
                    <a:pt x="4606617" y="6344"/>
                  </a:cubicBezTo>
                  <a:cubicBezTo>
                    <a:pt x="4610679" y="10406"/>
                    <a:pt x="4612961" y="15915"/>
                    <a:pt x="4612961" y="21659"/>
                  </a:cubicBezTo>
                  <a:lnTo>
                    <a:pt x="4612961" y="889554"/>
                  </a:lnTo>
                  <a:cubicBezTo>
                    <a:pt x="4612961" y="895298"/>
                    <a:pt x="4610679" y="900807"/>
                    <a:pt x="4606617" y="904869"/>
                  </a:cubicBezTo>
                  <a:cubicBezTo>
                    <a:pt x="4602555" y="908931"/>
                    <a:pt x="4597047" y="911213"/>
                    <a:pt x="4591302" y="911213"/>
                  </a:cubicBezTo>
                  <a:lnTo>
                    <a:pt x="21659" y="911213"/>
                  </a:lnTo>
                  <a:cubicBezTo>
                    <a:pt x="15915" y="911213"/>
                    <a:pt x="10406" y="908931"/>
                    <a:pt x="6344" y="904869"/>
                  </a:cubicBezTo>
                  <a:cubicBezTo>
                    <a:pt x="2282" y="900807"/>
                    <a:pt x="0" y="895298"/>
                    <a:pt x="0" y="889554"/>
                  </a:cubicBezTo>
                  <a:lnTo>
                    <a:pt x="0" y="21659"/>
                  </a:lnTo>
                  <a:cubicBezTo>
                    <a:pt x="0" y="15915"/>
                    <a:pt x="2282" y="10406"/>
                    <a:pt x="6344" y="6344"/>
                  </a:cubicBezTo>
                  <a:cubicBezTo>
                    <a:pt x="10406" y="2282"/>
                    <a:pt x="15915" y="0"/>
                    <a:pt x="21659" y="0"/>
                  </a:cubicBezTo>
                  <a:close/>
                </a:path>
              </a:pathLst>
            </a:custGeom>
            <a:solidFill>
              <a:srgbClr val="000000"/>
            </a:solidFill>
            <a:ln cap="rnd" cmpd="sng" w="47625">
              <a:solidFill>
                <a:srgbClr val="FE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" name="Google Shape;341;p17"/>
            <p:cNvSpPr txBox="1"/>
            <p:nvPr/>
          </p:nvSpPr>
          <p:spPr>
            <a:xfrm>
              <a:off x="0" y="-47625"/>
              <a:ext cx="4612961" cy="9588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0" lIns="254000" spcFirstLastPara="1" rIns="254000" wrap="square" tIns="254000">
              <a:noAutofit/>
            </a:bodyPr>
            <a:lstStyle/>
            <a:p>
              <a:pPr indent="0" lvl="0" marL="0" marR="0" rtl="0" algn="ctr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2" name="Google Shape;342;p17"/>
          <p:cNvSpPr txBox="1"/>
          <p:nvPr/>
        </p:nvSpPr>
        <p:spPr>
          <a:xfrm>
            <a:off x="1966504" y="1742703"/>
            <a:ext cx="15292796" cy="12587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403"/>
              <a:buFont typeface="Arial"/>
              <a:buNone/>
            </a:pPr>
            <a:r>
              <a:rPr b="0" i="0" lang="en-US" sz="9403" u="none" cap="none" strike="noStrike">
                <a:solidFill>
                  <a:srgbClr val="FEFFFF"/>
                </a:solidFill>
                <a:latin typeface="Shrikhand"/>
                <a:ea typeface="Shrikhand"/>
                <a:cs typeface="Shrikhand"/>
                <a:sym typeface="Shrikhand"/>
              </a:rPr>
              <a:t>Valor : Responsabilidad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17"/>
          <p:cNvSpPr txBox="1"/>
          <p:nvPr/>
        </p:nvSpPr>
        <p:spPr>
          <a:xfrm>
            <a:off x="1364765" y="5297074"/>
            <a:ext cx="15558471" cy="36050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12"/>
              <a:buFont typeface="Arial"/>
              <a:buNone/>
            </a:pPr>
            <a:r>
              <a:rPr b="0" i="0" lang="en-US" sz="10312" u="none" cap="none" strike="noStrike">
                <a:solidFill>
                  <a:srgbClr val="191919"/>
                </a:solidFill>
                <a:latin typeface="Shrikhand"/>
                <a:ea typeface="Shrikhand"/>
                <a:cs typeface="Shrikhand"/>
                <a:sym typeface="Shrikhand"/>
              </a:rPr>
              <a:t>Empezar con orden y compromiso el curso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CB13"/>
        </a:solidFill>
      </p:bgPr>
    </p:bg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8" name="Google Shape;348;p18"/>
          <p:cNvGrpSpPr/>
          <p:nvPr/>
        </p:nvGrpSpPr>
        <p:grpSpPr>
          <a:xfrm>
            <a:off x="1028700" y="751856"/>
            <a:ext cx="16646680" cy="9010846"/>
            <a:chOff x="0" y="-47625"/>
            <a:chExt cx="4384311" cy="2373227"/>
          </a:xfrm>
        </p:grpSpPr>
        <p:sp>
          <p:nvSpPr>
            <p:cNvPr id="349" name="Google Shape;349;p18"/>
            <p:cNvSpPr/>
            <p:nvPr/>
          </p:nvSpPr>
          <p:spPr>
            <a:xfrm>
              <a:off x="0" y="0"/>
              <a:ext cx="4384311" cy="2325602"/>
            </a:xfrm>
            <a:custGeom>
              <a:rect b="b" l="l" r="r" t="t"/>
              <a:pathLst>
                <a:path extrusionOk="0" h="2325602" w="4384311">
                  <a:moveTo>
                    <a:pt x="22789" y="0"/>
                  </a:moveTo>
                  <a:lnTo>
                    <a:pt x="4361522" y="0"/>
                  </a:lnTo>
                  <a:cubicBezTo>
                    <a:pt x="4367566" y="0"/>
                    <a:pt x="4373363" y="2401"/>
                    <a:pt x="4377636" y="6675"/>
                  </a:cubicBezTo>
                  <a:cubicBezTo>
                    <a:pt x="4381910" y="10948"/>
                    <a:pt x="4384311" y="16745"/>
                    <a:pt x="4384311" y="22789"/>
                  </a:cubicBezTo>
                  <a:lnTo>
                    <a:pt x="4384311" y="2302814"/>
                  </a:lnTo>
                  <a:cubicBezTo>
                    <a:pt x="4384311" y="2315399"/>
                    <a:pt x="4374108" y="2325602"/>
                    <a:pt x="4361522" y="2325602"/>
                  </a:cubicBezTo>
                  <a:lnTo>
                    <a:pt x="22789" y="2325602"/>
                  </a:lnTo>
                  <a:cubicBezTo>
                    <a:pt x="10203" y="2325602"/>
                    <a:pt x="0" y="2315399"/>
                    <a:pt x="0" y="2302814"/>
                  </a:cubicBezTo>
                  <a:lnTo>
                    <a:pt x="0" y="22789"/>
                  </a:lnTo>
                  <a:cubicBezTo>
                    <a:pt x="0" y="10203"/>
                    <a:pt x="10203" y="0"/>
                    <a:pt x="22789" y="0"/>
                  </a:cubicBezTo>
                  <a:close/>
                </a:path>
              </a:pathLst>
            </a:custGeom>
            <a:solidFill>
              <a:srgbClr val="191919"/>
            </a:solidFill>
            <a:ln cap="rnd" cmpd="sng" w="47625">
              <a:solidFill>
                <a:srgbClr val="FE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p18"/>
            <p:cNvSpPr txBox="1"/>
            <p:nvPr/>
          </p:nvSpPr>
          <p:spPr>
            <a:xfrm>
              <a:off x="0" y="-47625"/>
              <a:ext cx="4384311" cy="23732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0" lIns="254000" spcFirstLastPara="1" rIns="254000" wrap="square" tIns="254000">
              <a:noAutofit/>
            </a:bodyPr>
            <a:lstStyle/>
            <a:p>
              <a:pPr indent="0" lvl="0" marL="0" marR="0" rtl="0" algn="ctr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1" name="Google Shape;351;p18"/>
          <p:cNvSpPr txBox="1"/>
          <p:nvPr/>
        </p:nvSpPr>
        <p:spPr>
          <a:xfrm>
            <a:off x="1700829" y="1380212"/>
            <a:ext cx="15558471" cy="18230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81"/>
              <a:buFont typeface="Arial"/>
              <a:buNone/>
            </a:pPr>
            <a:r>
              <a:rPr b="1" i="0" lang="en-US" sz="12781" u="none" cap="none" strike="noStrik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rPr>
              <a:t>Referencias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18"/>
          <p:cNvSpPr txBox="1"/>
          <p:nvPr/>
        </p:nvSpPr>
        <p:spPr>
          <a:xfrm>
            <a:off x="1401300" y="3628300"/>
            <a:ext cx="16274100" cy="6031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95"/>
              <a:buFont typeface="Arial"/>
              <a:buNone/>
            </a:pPr>
            <a:r>
              <a:rPr b="0" i="0" lang="en-US" sz="3195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Microsoft  : </a:t>
            </a:r>
            <a:r>
              <a:rPr b="0" i="0" lang="en-US" sz="3195" u="sng" cap="none" strike="noStrike">
                <a:solidFill>
                  <a:schemeClr val="hlink"/>
                </a:solidFill>
                <a:latin typeface="Poppins Light"/>
                <a:ea typeface="Poppins Light"/>
                <a:cs typeface="Poppins Light"/>
                <a:sym typeface="Poppins Light"/>
                <a:hlinkClick r:id="rId3"/>
              </a:rPr>
              <a:t>https://visualstudio.microsoft.com/es/vs/</a:t>
            </a:r>
            <a:endParaRPr b="0" i="0" sz="3195" u="none" cap="none" strike="noStrik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marR="0" rtl="0" algn="l">
              <a:lnSpc>
                <a:spcPct val="14003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chemeClr val="lt1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Lectura:</a:t>
            </a:r>
            <a:endParaRPr b="0" i="0" sz="2500" u="none" cap="none" strike="noStrike">
              <a:solidFill>
                <a:schemeClr val="lt1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4003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chemeClr val="lt1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Documentación de visual studio : https://visualstudio.microsoft.com/es/vs/</a:t>
            </a:r>
            <a:endParaRPr b="0" i="0" sz="2500" u="none" cap="none" strike="noStrike">
              <a:solidFill>
                <a:schemeClr val="lt1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4003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chemeClr val="lt1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Historial de Version de Visual Studio :</a:t>
            </a:r>
            <a:endParaRPr b="0" i="0" sz="2500" u="none" cap="none" strike="noStrike">
              <a:solidFill>
                <a:schemeClr val="lt1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4003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chemeClr val="lt1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https://learn.microsoft.com/es-es/visualstudio/releases/2022/release-history</a:t>
            </a:r>
            <a:endParaRPr b="0" i="0" sz="2500" u="none" cap="none" strike="noStrike">
              <a:solidFill>
                <a:schemeClr val="lt1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4003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chemeClr val="lt1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Guía para iniciar un nuevo proyecto :</a:t>
            </a:r>
            <a:endParaRPr b="0" i="0" sz="2500" u="none" cap="none" strike="noStrike">
              <a:solidFill>
                <a:schemeClr val="lt1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4003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chemeClr val="lt1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https://learn.microsoft.com/es-es/visualstudio/ide/create-new-project?view=vs-2022</a:t>
            </a:r>
            <a:endParaRPr b="0" i="0" sz="2500" u="none" cap="none" strike="noStrike">
              <a:solidFill>
                <a:schemeClr val="lt1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4003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chemeClr val="lt1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Instalar Visual STUDIO, Guia:</a:t>
            </a:r>
            <a:endParaRPr b="0" i="0" sz="2500" u="none" cap="none" strike="noStrike">
              <a:solidFill>
                <a:schemeClr val="lt1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500" u="none" cap="none" strike="noStrike">
                <a:solidFill>
                  <a:schemeClr val="lt1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https://learn.microsoft.com/es-es/visualstudio/install/install-visual-studio?view=vs-2022</a:t>
            </a:r>
            <a:endParaRPr b="0" i="0" sz="2500" u="none" cap="none" strike="noStrike">
              <a:solidFill>
                <a:schemeClr val="lt1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4003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95"/>
              <a:buFont typeface="Arial"/>
              <a:buNone/>
            </a:pPr>
            <a:r>
              <a:t/>
            </a:r>
            <a:endParaRPr b="0" i="0" sz="3195" u="none" cap="none" strike="noStrik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E600"/>
        </a:solidFill>
      </p:bgPr>
    </p:bg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7" name="Google Shape;357;p19"/>
          <p:cNvGrpSpPr/>
          <p:nvPr/>
        </p:nvGrpSpPr>
        <p:grpSpPr>
          <a:xfrm>
            <a:off x="496608" y="290709"/>
            <a:ext cx="17178772" cy="9471993"/>
            <a:chOff x="0" y="-47625"/>
            <a:chExt cx="4524450" cy="2494681"/>
          </a:xfrm>
        </p:grpSpPr>
        <p:sp>
          <p:nvSpPr>
            <p:cNvPr id="358" name="Google Shape;358;p19"/>
            <p:cNvSpPr/>
            <p:nvPr/>
          </p:nvSpPr>
          <p:spPr>
            <a:xfrm>
              <a:off x="0" y="0"/>
              <a:ext cx="4524450" cy="2447056"/>
            </a:xfrm>
            <a:custGeom>
              <a:rect b="b" l="l" r="r" t="t"/>
              <a:pathLst>
                <a:path extrusionOk="0" h="2447056" w="4524450">
                  <a:moveTo>
                    <a:pt x="22083" y="0"/>
                  </a:moveTo>
                  <a:lnTo>
                    <a:pt x="4502367" y="0"/>
                  </a:lnTo>
                  <a:cubicBezTo>
                    <a:pt x="4514564" y="0"/>
                    <a:pt x="4524450" y="9887"/>
                    <a:pt x="4524450" y="22083"/>
                  </a:cubicBezTo>
                  <a:lnTo>
                    <a:pt x="4524450" y="2424973"/>
                  </a:lnTo>
                  <a:cubicBezTo>
                    <a:pt x="4524450" y="2430830"/>
                    <a:pt x="4522124" y="2436447"/>
                    <a:pt x="4517982" y="2440588"/>
                  </a:cubicBezTo>
                  <a:cubicBezTo>
                    <a:pt x="4513841" y="2444730"/>
                    <a:pt x="4508224" y="2447056"/>
                    <a:pt x="4502367" y="2447056"/>
                  </a:cubicBezTo>
                  <a:lnTo>
                    <a:pt x="22083" y="2447056"/>
                  </a:lnTo>
                  <a:cubicBezTo>
                    <a:pt x="9887" y="2447056"/>
                    <a:pt x="0" y="2437169"/>
                    <a:pt x="0" y="2424973"/>
                  </a:cubicBezTo>
                  <a:lnTo>
                    <a:pt x="0" y="22083"/>
                  </a:lnTo>
                  <a:cubicBezTo>
                    <a:pt x="0" y="9887"/>
                    <a:pt x="9887" y="0"/>
                    <a:pt x="22083" y="0"/>
                  </a:cubicBezTo>
                  <a:close/>
                </a:path>
              </a:pathLst>
            </a:custGeom>
            <a:solidFill>
              <a:srgbClr val="FEFFFF"/>
            </a:solidFill>
            <a:ln cap="rnd" cmpd="sng" w="47625">
              <a:solidFill>
                <a:srgbClr val="FE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" name="Google Shape;359;p19"/>
            <p:cNvSpPr txBox="1"/>
            <p:nvPr/>
          </p:nvSpPr>
          <p:spPr>
            <a:xfrm>
              <a:off x="0" y="-47625"/>
              <a:ext cx="4524450" cy="24946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0" lIns="254000" spcFirstLastPara="1" rIns="254000" wrap="square" tIns="254000">
              <a:noAutofit/>
            </a:bodyPr>
            <a:lstStyle/>
            <a:p>
              <a:pPr indent="0" lvl="0" marL="0" marR="0" rtl="0" algn="ctr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0" name="Google Shape;360;p19"/>
          <p:cNvSpPr/>
          <p:nvPr/>
        </p:nvSpPr>
        <p:spPr>
          <a:xfrm>
            <a:off x="14106227" y="2020042"/>
            <a:ext cx="2859716" cy="4104533"/>
          </a:xfrm>
          <a:custGeom>
            <a:rect b="b" l="l" r="r" t="t"/>
            <a:pathLst>
              <a:path extrusionOk="0" h="4104533" w="2859716">
                <a:moveTo>
                  <a:pt x="0" y="0"/>
                </a:moveTo>
                <a:lnTo>
                  <a:pt x="2859715" y="0"/>
                </a:lnTo>
                <a:lnTo>
                  <a:pt x="2859715" y="4104533"/>
                </a:lnTo>
                <a:lnTo>
                  <a:pt x="0" y="41045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19"/>
          <p:cNvSpPr txBox="1"/>
          <p:nvPr/>
        </p:nvSpPr>
        <p:spPr>
          <a:xfrm>
            <a:off x="1899004" y="3358624"/>
            <a:ext cx="11865006" cy="21431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99"/>
              <a:buFont typeface="Arial"/>
              <a:buNone/>
            </a:pPr>
            <a:r>
              <a:rPr b="1" i="0" lang="en-US" sz="5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¡GRACIAS POR SU  ATENCIÓN!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99"/>
              <a:buFont typeface="Arial"/>
              <a:buNone/>
            </a:pPr>
            <a:r>
              <a:t/>
            </a:r>
            <a:endParaRPr b="1" i="0" sz="59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19"/>
          <p:cNvSpPr txBox="1"/>
          <p:nvPr/>
        </p:nvSpPr>
        <p:spPr>
          <a:xfrm>
            <a:off x="6457555" y="4660900"/>
            <a:ext cx="54762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en-US" sz="8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DUDAS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19"/>
          <p:cNvSpPr txBox="1"/>
          <p:nvPr/>
        </p:nvSpPr>
        <p:spPr>
          <a:xfrm>
            <a:off x="2199303" y="7319328"/>
            <a:ext cx="14766640" cy="2841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99"/>
              <a:buFont typeface="Arial"/>
              <a:buNone/>
            </a:pPr>
            <a:r>
              <a:rPr b="0" i="0" lang="en-US" sz="3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99"/>
              <a:buFont typeface="Arial"/>
              <a:buNone/>
            </a:pPr>
            <a:r>
              <a:t/>
            </a:r>
            <a:endParaRPr b="0" i="0" sz="39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