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  <p:sldMasterId id="214748366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10287000" cx="18288000"/>
  <p:notesSz cx="6858000" cy="9144000"/>
  <p:embeddedFontLst>
    <p:embeddedFont>
      <p:font typeface="Lobster"/>
      <p:regular r:id="rId27"/>
    </p:embeddedFont>
    <p:embeddedFont>
      <p:font typeface="Pacifico"/>
      <p:regular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61VbTylHbZxDcjQuSu8e3Kr4i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1CCF66-51A3-4EF1-A320-F7A1D3B14288}">
  <a:tblStyle styleId="{8B1CCF66-51A3-4EF1-A320-F7A1D3B142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font" Target="fonts/Pacifico-regular.fntdata"/><Relationship Id="rId27" Type="http://schemas.openxmlformats.org/officeDocument/2006/relationships/font" Target="fonts/Lobster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regular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3.xml"/><Relationship Id="rId33" Type="http://customschemas.google.com/relationships/presentationmetadata" Target="metadata"/><Relationship Id="rId10" Type="http://schemas.openxmlformats.org/officeDocument/2006/relationships/slide" Target="slides/slide2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0fafd8e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0fafd8e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2dcc7891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2dcc789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102ed0f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102ed0ff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102ed0ff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102ed0ff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0" name="Google Shape;50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s-es/office/vba/language/reference/user-interface-help/toolbox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arn.microsoft.com/es-es/office/vba/language/reference/user-interface-help/toolbox" TargetMode="External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visualstudio.microsoft.com/es/vs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0fafd8efc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g3e0fafd8efc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g3e0fafd8efc_0_0"/>
          <p:cNvSpPr/>
          <p:nvPr/>
        </p:nvSpPr>
        <p:spPr>
          <a:xfrm>
            <a:off x="3022664" y="4712989"/>
            <a:ext cx="10278628" cy="861022"/>
          </a:xfrm>
          <a:custGeom>
            <a:rect b="b" l="l" r="r" t="t"/>
            <a:pathLst>
              <a:path extrusionOk="0"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e0fafd8efc_0_0"/>
          <p:cNvSpPr/>
          <p:nvPr/>
        </p:nvSpPr>
        <p:spPr>
          <a:xfrm>
            <a:off x="3529784" y="5920416"/>
            <a:ext cx="7501528" cy="861022"/>
          </a:xfrm>
          <a:custGeom>
            <a:rect b="b" l="l" r="r" t="t"/>
            <a:pathLst>
              <a:path extrusionOk="0"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9" name="Google Shape;99;g3e0fafd8efc_0_0"/>
          <p:cNvGraphicFramePr/>
          <p:nvPr/>
        </p:nvGraphicFramePr>
        <p:xfrm>
          <a:off x="13616890" y="19214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{8B1CCF66-51A3-4EF1-A320-F7A1D3B14288}</a:tableStyleId>
              </a:tblPr>
              <a:tblGrid>
                <a:gridCol w="4406925"/>
              </a:tblGrid>
              <a:tr h="8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CE1"/>
                    </a:solidFill>
                  </a:tcPr>
                </a:tc>
              </a:tr>
              <a:tr h="81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g3e0fafd8efc_0_0"/>
          <p:cNvSpPr txBox="1"/>
          <p:nvPr/>
        </p:nvSpPr>
        <p:spPr>
          <a:xfrm>
            <a:off x="4996461" y="6050572"/>
            <a:ext cx="467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/>
          </a:p>
        </p:txBody>
      </p:sp>
      <p:sp>
        <p:nvSpPr>
          <p:cNvPr id="101" name="Google Shape;101;g3e0fafd8efc_0_0"/>
          <p:cNvSpPr txBox="1"/>
          <p:nvPr/>
        </p:nvSpPr>
        <p:spPr>
          <a:xfrm>
            <a:off x="5452115" y="4787582"/>
            <a:ext cx="552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Programacion de computadoras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028700" y="5979021"/>
            <a:ext cx="6351814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092 Programacion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 Computadoras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956500" y="2132508"/>
            <a:ext cx="123750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Variables y Tipos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1496110" y="8154492"/>
            <a:ext cx="6792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1" lang="en-US" sz="10000">
                <a:solidFill>
                  <a:srgbClr val="191919"/>
                </a:solidFill>
              </a:rPr>
              <a:t>Semana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"/>
          <p:cNvGrpSpPr/>
          <p:nvPr/>
        </p:nvGrpSpPr>
        <p:grpSpPr>
          <a:xfrm>
            <a:off x="764447" y="4544825"/>
            <a:ext cx="5709916" cy="845385"/>
            <a:chOff x="0" y="-65837"/>
            <a:chExt cx="2430999" cy="359923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367885" y="-65837"/>
              <a:ext cx="206311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 clase o generales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1739805" y="3232617"/>
            <a:ext cx="5353646" cy="1267162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 en el apartado material de apoyo en Uedi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64883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Anuncios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76619" y="6425875"/>
            <a:ext cx="5433658" cy="845385"/>
            <a:chOff x="0" y="-76200"/>
            <a:chExt cx="2313383" cy="359923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463462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Contenido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176619" y="7349457"/>
            <a:ext cx="5237713" cy="845385"/>
            <a:chOff x="0" y="-76200"/>
            <a:chExt cx="2229959" cy="359923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380038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Explicativa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176619" y="8412915"/>
            <a:ext cx="4998222" cy="845385"/>
            <a:chOff x="0" y="-76200"/>
            <a:chExt cx="2127995" cy="359923"/>
          </a:xfrm>
        </p:grpSpPr>
        <p:sp>
          <p:nvSpPr>
            <p:cNvPr id="141" name="Google Shape;14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278074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del tema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/>
          <p:nvPr/>
        </p:nvSpPr>
        <p:spPr>
          <a:xfrm>
            <a:off x="4572" y="0"/>
            <a:ext cx="18283428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2286" y="0"/>
            <a:ext cx="18283428" cy="10287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3"/>
          <p:cNvGrpSpPr/>
          <p:nvPr/>
        </p:nvGrpSpPr>
        <p:grpSpPr>
          <a:xfrm rot="-5400000">
            <a:off x="252222" y="1346236"/>
            <a:ext cx="304800" cy="644652"/>
            <a:chOff x="215328" y="-46937"/>
            <a:chExt cx="304800" cy="2773841"/>
          </a:xfrm>
        </p:grpSpPr>
        <p:cxnSp>
          <p:nvCxnSpPr>
            <p:cNvPr id="154" name="Google Shape;154;p3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3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3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3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158" name="Google Shape;158;p3"/>
          <p:cNvGrpSpPr/>
          <p:nvPr/>
        </p:nvGrpSpPr>
        <p:grpSpPr>
          <a:xfrm>
            <a:off x="1" y="3113131"/>
            <a:ext cx="18594101" cy="6660966"/>
            <a:chOff x="1" y="2075420"/>
            <a:chExt cx="12396066" cy="4440643"/>
          </a:xfrm>
        </p:grpSpPr>
        <p:sp>
          <p:nvSpPr>
            <p:cNvPr id="159" name="Google Shape;159;p3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C4BD97">
                    <a:alpha val="20000"/>
                  </a:srgbClr>
                </a:gs>
                <a:gs pos="100000">
                  <a:srgbClr val="938953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C4BD97">
                    <a:alpha val="9803"/>
                  </a:srgbClr>
                </a:gs>
                <a:gs pos="100000">
                  <a:srgbClr val="C4BD9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3"/>
          <p:cNvSpPr/>
          <p:nvPr/>
        </p:nvSpPr>
        <p:spPr>
          <a:xfrm rot="-5400000">
            <a:off x="15657219" y="1563908"/>
            <a:ext cx="4194692" cy="1066878"/>
          </a:xfrm>
          <a:prstGeom prst="rect">
            <a:avLst/>
          </a:prstGeom>
          <a:gradFill>
            <a:gsLst>
              <a:gs pos="0">
                <a:srgbClr val="F7F6F2">
                  <a:alpha val="0"/>
                </a:srgbClr>
              </a:gs>
              <a:gs pos="100000">
                <a:srgbClr val="C4BD97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3"/>
          <p:cNvGrpSpPr/>
          <p:nvPr/>
        </p:nvGrpSpPr>
        <p:grpSpPr>
          <a:xfrm>
            <a:off x="16889308" y="-1280992"/>
            <a:ext cx="822960" cy="549007"/>
            <a:chOff x="7029447" y="3514725"/>
            <a:chExt cx="1285875" cy="549007"/>
          </a:xfrm>
        </p:grpSpPr>
        <p:cxnSp>
          <p:nvCxnSpPr>
            <p:cNvPr id="167" name="Google Shape;167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71" name="Google Shape;171;p3"/>
          <p:cNvSpPr/>
          <p:nvPr/>
        </p:nvSpPr>
        <p:spPr>
          <a:xfrm rot="10800000">
            <a:off x="-1" y="9211177"/>
            <a:ext cx="9143995" cy="1066878"/>
          </a:xfrm>
          <a:prstGeom prst="rect">
            <a:avLst/>
          </a:prstGeom>
          <a:gradFill>
            <a:gsLst>
              <a:gs pos="0">
                <a:srgbClr val="938953">
                  <a:alpha val="9803"/>
                </a:srgbClr>
              </a:gs>
              <a:gs pos="10000">
                <a:srgbClr val="938953">
                  <a:alpha val="9803"/>
                </a:srgbClr>
              </a:gs>
              <a:gs pos="100000">
                <a:srgbClr val="F4F3EC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 rot="5400000">
            <a:off x="2819134" y="9048092"/>
            <a:ext cx="1928813" cy="549007"/>
            <a:chOff x="7029447" y="3514725"/>
            <a:chExt cx="1285875" cy="549007"/>
          </a:xfrm>
        </p:grpSpPr>
        <p:cxnSp>
          <p:nvCxnSpPr>
            <p:cNvPr id="173" name="Google Shape;173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77" name="Google Shape;177;p3"/>
          <p:cNvSpPr txBox="1"/>
          <p:nvPr/>
        </p:nvSpPr>
        <p:spPr>
          <a:xfrm>
            <a:off x="946404" y="743988"/>
            <a:ext cx="6292710" cy="8458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7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3"/>
          <p:cNvGrpSpPr/>
          <p:nvPr/>
        </p:nvGrpSpPr>
        <p:grpSpPr>
          <a:xfrm>
            <a:off x="7373920" y="1951904"/>
            <a:ext cx="9380583" cy="6280200"/>
            <a:chOff x="0" y="652027"/>
            <a:chExt cx="9380583" cy="6280200"/>
          </a:xfrm>
        </p:grpSpPr>
        <p:sp>
          <p:nvSpPr>
            <p:cNvPr id="179" name="Google Shape;179;p3"/>
            <p:cNvSpPr/>
            <p:nvPr/>
          </p:nvSpPr>
          <p:spPr>
            <a:xfrm>
              <a:off x="0" y="6520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"/>
            <p:cNvSpPr txBox="1"/>
            <p:nvPr/>
          </p:nvSpPr>
          <p:spPr>
            <a:xfrm>
              <a:off x="99380" y="7514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Introducir Temas fundamentales de programación mediante presentaciones y documentación para facilitar la comprensión inicial y contextualización del estudiante.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0" y="27742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BB995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"/>
            <p:cNvSpPr txBox="1"/>
            <p:nvPr/>
          </p:nvSpPr>
          <p:spPr>
            <a:xfrm>
              <a:off x="99380" y="28736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Implementa Estructuras de Control  procedimientos en VB.NET mediante variables condicionales  ciclos para desarrollar soluciones informaticas que automaticen procesos de gestión de datos 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0" y="48964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99380" y="49958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Desarrolla Interfaces gráficas funcionales haciendo uso de controles básicos, como textbox, label, combobox capturar  mostrar los datos de forma eficiente 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189" name="Google Shape;189;g3d2dcc7891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/>
          <p:nvPr/>
        </p:nvSpPr>
        <p:spPr>
          <a:xfrm flipH="1" rot="10800000">
            <a:off x="0" y="0"/>
            <a:ext cx="18288000" cy="3556701"/>
          </a:xfrm>
          <a:custGeom>
            <a:rect b="b" l="l" r="r" t="t"/>
            <a:pathLst>
              <a:path extrusionOk="0" h="2515690" w="1219200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1257300" y="547687"/>
            <a:ext cx="15773400" cy="1395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22"/>
          <p:cNvGrpSpPr/>
          <p:nvPr/>
        </p:nvGrpSpPr>
        <p:grpSpPr>
          <a:xfrm>
            <a:off x="1345871" y="3018420"/>
            <a:ext cx="15596256" cy="6238502"/>
            <a:chOff x="88571" y="1376"/>
            <a:chExt cx="15596256" cy="6238502"/>
          </a:xfrm>
        </p:grpSpPr>
        <p:sp>
          <p:nvSpPr>
            <p:cNvPr id="198" name="Google Shape;198;p22"/>
            <p:cNvSpPr/>
            <p:nvPr/>
          </p:nvSpPr>
          <p:spPr>
            <a:xfrm>
              <a:off x="88571" y="1376"/>
              <a:ext cx="6238502" cy="6238502"/>
            </a:xfrm>
            <a:prstGeom prst="ellipse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2"/>
            <p:cNvSpPr txBox="1"/>
            <p:nvPr/>
          </p:nvSpPr>
          <p:spPr>
            <a:xfrm>
              <a:off x="1002178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Las variables se utilizan para guardar y recuperar datos, representar valores existentes y asignar unos nuevos.</a:t>
              </a:r>
              <a:endPara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2"/>
            <p:cNvSpPr/>
            <p:nvPr/>
          </p:nvSpPr>
          <p:spPr>
            <a:xfrm rot="5400000">
              <a:off x="6841750" y="2294026"/>
              <a:ext cx="2183476" cy="1653203"/>
            </a:xfrm>
            <a:prstGeom prst="triangle">
              <a:avLst>
                <a:gd fmla="val 5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9446325" y="1376"/>
              <a:ext cx="6238502" cy="6238502"/>
            </a:xfrm>
            <a:prstGeom prst="ellipse">
              <a:avLst/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10359932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Esto permite usar valores almacenados en calculos, operaciones de entrada/salida, comparaciones y otros tipos de procesamiento de datos.</a:t>
              </a:r>
              <a:endPara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1257300" y="547687"/>
            <a:ext cx="8090041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15297985" y="1"/>
            <a:ext cx="1732713" cy="937541"/>
          </a:xfrm>
          <a:custGeom>
            <a:rect b="b" l="l" r="r" t="t"/>
            <a:pathLst>
              <a:path extrusionOk="0" h="625027" w="1155142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10212277" y="5135938"/>
            <a:ext cx="811233" cy="811233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rectangular object with black text&#10;&#10;AI-generated content may be incorrect." id="211" name="Google Shape;2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645" y="6844367"/>
            <a:ext cx="9858821" cy="2610916"/>
          </a:xfrm>
          <a:custGeom>
            <a:rect b="b" l="l" r="r" t="t"/>
            <a:pathLst>
              <a:path extrusionOk="0" h="5712488" w="4114800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12" name="Google Shape;212;p23"/>
          <p:cNvSpPr/>
          <p:nvPr/>
        </p:nvSpPr>
        <p:spPr>
          <a:xfrm>
            <a:off x="10124403" y="1"/>
            <a:ext cx="3100422" cy="2432819"/>
          </a:xfrm>
          <a:custGeom>
            <a:rect b="b" l="l" r="r" t="t"/>
            <a:pathLst>
              <a:path extrusionOk="0" h="1621879" w="2066948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23"/>
          <p:cNvCxnSpPr/>
          <p:nvPr/>
        </p:nvCxnSpPr>
        <p:spPr>
          <a:xfrm>
            <a:off x="18208117" y="1541859"/>
            <a:ext cx="0" cy="2396562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4" name="Google Shape;214;p23"/>
          <p:cNvSpPr/>
          <p:nvPr/>
        </p:nvSpPr>
        <p:spPr>
          <a:xfrm rot="-1136562">
            <a:off x="11184870" y="7750023"/>
            <a:ext cx="2753587" cy="3037177"/>
          </a:xfrm>
          <a:custGeom>
            <a:rect b="b" l="l" r="r" t="t"/>
            <a:pathLst>
              <a:path extrusionOk="0" h="2024785" w="183572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10214290" y="9050692"/>
            <a:ext cx="2986596" cy="1236308"/>
          </a:xfrm>
          <a:custGeom>
            <a:rect b="b" l="l" r="r" t="t"/>
            <a:pathLst>
              <a:path extrusionOk="0" h="824205" w="1991064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16277544" y="8278794"/>
            <a:ext cx="2010457" cy="2008207"/>
          </a:xfrm>
          <a:custGeom>
            <a:rect b="b" l="l" r="r" t="t"/>
            <a:pathLst>
              <a:path extrusionOk="0" h="1338805" w="13403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23"/>
          <p:cNvGrpSpPr/>
          <p:nvPr/>
        </p:nvGrpSpPr>
        <p:grpSpPr>
          <a:xfrm>
            <a:off x="1257300" y="2738437"/>
            <a:ext cx="8090041" cy="6527006"/>
            <a:chOff x="0" y="0"/>
            <a:chExt cx="8090041" cy="6527006"/>
          </a:xfrm>
        </p:grpSpPr>
        <p:cxnSp>
          <p:nvCxnSpPr>
            <p:cNvPr id="218" name="Google Shape;218;p23"/>
            <p:cNvCxnSpPr/>
            <p:nvPr/>
          </p:nvCxnSpPr>
          <p:spPr>
            <a:xfrm>
              <a:off x="0" y="0"/>
              <a:ext cx="8090041" cy="0"/>
            </a:xfrm>
            <a:prstGeom prst="straightConnector1">
              <a:avLst/>
            </a:prstGeom>
            <a:solidFill>
              <a:srgbClr val="1D497D"/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19" name="Google Shape;219;p23"/>
            <p:cNvSpPr/>
            <p:nvPr/>
          </p:nvSpPr>
          <p:spPr>
            <a:xfrm>
              <a:off x="0" y="0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3"/>
            <p:cNvSpPr txBox="1"/>
            <p:nvPr/>
          </p:nvSpPr>
          <p:spPr>
            <a:xfrm>
              <a:off x="0" y="0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Una variable en programación se caracteriza por: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Nombre único que la identifica dentro del programa.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Valor guardado que puede cambiar durante la ejecución del programa.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Tipo de datos que se almacena.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Alcance, que puede ser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global,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si se puede acceder desde cualquier parte del programa 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si solo se puede acceder dentro de un bloque de código.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1" name="Google Shape;221;p23"/>
            <p:cNvCxnSpPr/>
            <p:nvPr/>
          </p:nvCxnSpPr>
          <p:spPr>
            <a:xfrm>
              <a:off x="0" y="3263503"/>
              <a:ext cx="8090041" cy="0"/>
            </a:xfrm>
            <a:prstGeom prst="straightConnector1">
              <a:avLst/>
            </a:prstGeom>
            <a:solidFill>
              <a:srgbClr val="1D497D"/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22" name="Google Shape;222;p23"/>
            <p:cNvSpPr/>
            <p:nvPr/>
          </p:nvSpPr>
          <p:spPr>
            <a:xfrm>
              <a:off x="0" y="3263503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3"/>
            <p:cNvSpPr txBox="1"/>
            <p:nvPr/>
          </p:nvSpPr>
          <p:spPr>
            <a:xfrm>
              <a:off x="0" y="3263503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Sintaxis de una declaración de variables: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1782103" y="572902"/>
            <a:ext cx="14034159" cy="1800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/>
          </a:p>
        </p:txBody>
      </p:sp>
      <p:grpSp>
        <p:nvGrpSpPr>
          <p:cNvPr id="230" name="Google Shape;230;p24"/>
          <p:cNvGrpSpPr/>
          <p:nvPr/>
        </p:nvGrpSpPr>
        <p:grpSpPr>
          <a:xfrm>
            <a:off x="16491261" y="831230"/>
            <a:ext cx="861263" cy="1613803"/>
            <a:chOff x="10994200" y="554152"/>
            <a:chExt cx="574177" cy="1075866"/>
          </a:xfrm>
        </p:grpSpPr>
        <p:sp>
          <p:nvSpPr>
            <p:cNvPr id="231" name="Google Shape;231;p24"/>
            <p:cNvSpPr/>
            <p:nvPr/>
          </p:nvSpPr>
          <p:spPr>
            <a:xfrm>
              <a:off x="11013369" y="554152"/>
              <a:ext cx="171515" cy="171515"/>
            </a:xfrm>
            <a:custGeom>
              <a:rect b="b" l="l" r="r" t="t"/>
              <a:pathLst>
                <a:path extrusionOk="0" h="171515" w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11455951" y="837005"/>
              <a:ext cx="112426" cy="112426"/>
            </a:xfrm>
            <a:custGeom>
              <a:rect b="b" l="l" r="r" t="t"/>
              <a:pathLst>
                <a:path extrusionOk="0" h="112426" w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10994200" y="1472473"/>
              <a:ext cx="157545" cy="157545"/>
            </a:xfrm>
            <a:custGeom>
              <a:rect b="b" l="l" r="r" t="t"/>
              <a:pathLst>
                <a:path extrusionOk="0" h="157545" w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4" name="Google Shape;234;p24"/>
          <p:cNvCxnSpPr/>
          <p:nvPr/>
        </p:nvCxnSpPr>
        <p:spPr>
          <a:xfrm>
            <a:off x="935433" y="5415591"/>
            <a:ext cx="0" cy="4858092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grpSp>
        <p:nvGrpSpPr>
          <p:cNvPr id="235" name="Google Shape;235;p24"/>
          <p:cNvGrpSpPr/>
          <p:nvPr/>
        </p:nvGrpSpPr>
        <p:grpSpPr>
          <a:xfrm>
            <a:off x="1782093" y="3806999"/>
            <a:ext cx="14034159" cy="4454175"/>
            <a:chOff x="1925" y="761026"/>
            <a:chExt cx="15769549" cy="5004954"/>
          </a:xfrm>
        </p:grpSpPr>
        <p:sp>
          <p:nvSpPr>
            <p:cNvPr id="236" name="Google Shape;236;p24"/>
            <p:cNvSpPr/>
            <p:nvPr/>
          </p:nvSpPr>
          <p:spPr>
            <a:xfrm>
              <a:off x="192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1D497D"/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75285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EEECE0">
                <a:alpha val="89803"/>
              </a:srgbClr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87855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Los tipos de variables dependen del lenguaje de programación cada lenguaje tiene sus propios tipos de datos y forma de definir variables.</a:t>
              </a:r>
              <a:endParaRPr b="0" i="0" sz="12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9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9"/>
                </a:spcBef>
                <a:spcAft>
                  <a:spcPts val="0"/>
                </a:spcAft>
                <a:buNone/>
              </a:pPr>
              <a:r>
                <a:rPr b="0" i="0" lang="en-US" sz="21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 tipado puede ser estático, cuando los tipos de variables se establecen al momento que se declaren o dinámico cuando el tipo se determina y se asigna durante la ejecución del programa.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826216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1D497D"/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901309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EEECE0">
                <a:alpha val="89803"/>
              </a:srgbClr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4"/>
            <p:cNvSpPr txBox="1"/>
            <p:nvPr/>
          </p:nvSpPr>
          <p:spPr>
            <a:xfrm>
              <a:off x="913879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Algunos tipos de variables más comunes son:</a:t>
              </a:r>
              <a:endParaRPr b="0" i="0" sz="12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9"/>
                </a:spcBef>
                <a:spcAft>
                  <a:spcPts val="0"/>
                </a:spcAft>
                <a:buNone/>
              </a:pPr>
              <a:r>
                <a:rPr b="0" i="0" lang="en-US" sz="21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numéricas (Números Enteros)</a:t>
              </a:r>
              <a:endParaRPr b="0" i="0" sz="12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9"/>
                </a:spcBef>
                <a:spcAft>
                  <a:spcPts val="0"/>
                </a:spcAft>
                <a:buNone/>
              </a:pPr>
              <a:r>
                <a:rPr b="0" i="0" lang="en-US" sz="21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punto flotante (Números Decimales)</a:t>
              </a:r>
              <a:endParaRPr b="0" i="0" sz="12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9"/>
                </a:spcBef>
                <a:spcAft>
                  <a:spcPts val="0"/>
                </a:spcAft>
                <a:buNone/>
              </a:pPr>
              <a:r>
                <a:rPr b="0" i="0" lang="en-US" sz="21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caracteres (Símbolos o Caracteres)</a:t>
              </a:r>
              <a:endParaRPr b="0" i="0" sz="12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9"/>
                </a:spcBef>
                <a:spcAft>
                  <a:spcPts val="0"/>
                </a:spcAft>
                <a:buNone/>
              </a:pPr>
              <a:r>
                <a:rPr b="0" i="0" lang="en-US" sz="21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cadena de caracteres (Palabras y Textos)</a:t>
              </a:r>
              <a:endParaRPr b="0" i="0" sz="12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39"/>
                </a:spcBef>
                <a:spcAft>
                  <a:spcPts val="0"/>
                </a:spcAft>
                <a:buNone/>
              </a:pPr>
              <a:r>
                <a:rPr b="0" i="0" lang="en-US" sz="21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lógicas o booleanas (Verdadero o Falso)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1257300" y="835492"/>
            <a:ext cx="15773400" cy="170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25"/>
          <p:cNvGrpSpPr/>
          <p:nvPr/>
        </p:nvGrpSpPr>
        <p:grpSpPr>
          <a:xfrm>
            <a:off x="1259225" y="3499463"/>
            <a:ext cx="15769549" cy="5004954"/>
            <a:chOff x="1925" y="761026"/>
            <a:chExt cx="15769549" cy="5004954"/>
          </a:xfrm>
        </p:grpSpPr>
        <p:sp>
          <p:nvSpPr>
            <p:cNvPr id="249" name="Google Shape;249;p25"/>
            <p:cNvSpPr/>
            <p:nvPr/>
          </p:nvSpPr>
          <p:spPr>
            <a:xfrm>
              <a:off x="192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75285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5"/>
            <p:cNvSpPr txBox="1"/>
            <p:nvPr/>
          </p:nvSpPr>
          <p:spPr>
            <a:xfrm>
              <a:off x="87855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 declarar una variable usando la sintaxis básica, seguir estos pasos: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Elegir un nombre que sea descriptivo y fácil de entender.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Cada identificador de la variable debe ser único dentro de un programa.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Evitar usar palabras claves o reservadas por el lenguaje de programación (Ejemplo: For, If, While, Dim, Console, etc).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826216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5"/>
            <p:cNvSpPr/>
            <p:nvPr/>
          </p:nvSpPr>
          <p:spPr>
            <a:xfrm>
              <a:off x="901309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5"/>
            <p:cNvSpPr txBox="1"/>
            <p:nvPr/>
          </p:nvSpPr>
          <p:spPr>
            <a:xfrm>
              <a:off x="913879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El nombre de la variable puede incluir letras, caracteres y números, pero no puede empezar con un número.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Las variables no permiten espacios entre palabras para separar las palabras en el nombre, usar el guion bajo (_) o cambiar de letra minúscula o mayúscula.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Especificar el tipo de dato que la variable va a almacenar.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Para asignarle un valor a tu variable, aplica el operador de asignación “=“, que establece la relación entre el identificador de la variable y el valor que tiene almacenado.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 rot="-5400000">
            <a:off x="1200150" y="2237015"/>
            <a:ext cx="5000624" cy="5248655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1543050" y="2950899"/>
            <a:ext cx="3943350" cy="3820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BASICOS DE VISUAL BASIC .NET</a:t>
            </a:r>
            <a:endParaRPr b="0" i="0" sz="5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Description automatically generated" id="261" name="Google Shape;261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7985" l="0" r="0" t="0"/>
          <a:stretch/>
        </p:blipFill>
        <p:spPr>
          <a:xfrm>
            <a:off x="6390103" y="1479830"/>
            <a:ext cx="11680261" cy="644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/>
          <p:nvPr/>
        </p:nvSpPr>
        <p:spPr>
          <a:xfrm rot="-5400000">
            <a:off x="1200150" y="2237015"/>
            <a:ext cx="5000624" cy="5248655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1543050" y="2950899"/>
            <a:ext cx="3943350" cy="3820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BASICOS DE VISUAL BASIC .NET</a:t>
            </a:r>
            <a:endParaRPr b="0" i="0" sz="5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268" name="Google Shape;268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51749"/>
          <a:stretch/>
        </p:blipFill>
        <p:spPr>
          <a:xfrm>
            <a:off x="6220875" y="1567543"/>
            <a:ext cx="12067125" cy="6177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28"/>
          <p:cNvGrpSpPr/>
          <p:nvPr/>
        </p:nvGrpSpPr>
        <p:grpSpPr>
          <a:xfrm>
            <a:off x="0" y="370750"/>
            <a:ext cx="2792781" cy="1076271"/>
            <a:chOff x="0" y="238499"/>
            <a:chExt cx="1861854" cy="717514"/>
          </a:xfrm>
        </p:grpSpPr>
        <p:grpSp>
          <p:nvGrpSpPr>
            <p:cNvPr id="276" name="Google Shape;276;p28"/>
            <p:cNvGrpSpPr/>
            <p:nvPr/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</p:grpSpPr>
          <p:sp>
            <p:nvSpPr>
              <p:cNvPr id="277" name="Google Shape;277;p28"/>
              <p:cNvSpPr/>
              <p:nvPr/>
            </p:nvSpPr>
            <p:spPr>
              <a:xfrm>
                <a:off x="0" y="604259"/>
                <a:ext cx="1861854" cy="277779"/>
              </a:xfrm>
              <a:custGeom>
                <a:rect b="b" l="l" r="r" t="t"/>
                <a:pathLst>
                  <a:path extrusionOk="0" h="277779" w="1861854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8"/>
              <p:cNvSpPr/>
              <p:nvPr/>
            </p:nvSpPr>
            <p:spPr>
              <a:xfrm>
                <a:off x="0" y="1043994"/>
                <a:ext cx="1861854" cy="277779"/>
              </a:xfrm>
              <a:custGeom>
                <a:rect b="b" l="l" r="r" t="t"/>
                <a:pathLst>
                  <a:path extrusionOk="0" h="277779" w="1861854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9" name="Google Shape;279;p28"/>
            <p:cNvGrpSpPr/>
            <p:nvPr/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</p:grpSpPr>
          <p:sp>
            <p:nvSpPr>
              <p:cNvPr id="280" name="Google Shape;280;p28"/>
              <p:cNvSpPr/>
              <p:nvPr/>
            </p:nvSpPr>
            <p:spPr>
              <a:xfrm>
                <a:off x="0" y="604259"/>
                <a:ext cx="1861854" cy="277779"/>
              </a:xfrm>
              <a:custGeom>
                <a:rect b="b" l="l" r="r" t="t"/>
                <a:pathLst>
                  <a:path extrusionOk="0" h="277779" w="1861854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8"/>
              <p:cNvSpPr/>
              <p:nvPr/>
            </p:nvSpPr>
            <p:spPr>
              <a:xfrm>
                <a:off x="0" y="1043994"/>
                <a:ext cx="1861854" cy="277779"/>
              </a:xfrm>
              <a:custGeom>
                <a:rect b="b" l="l" r="r" t="t"/>
                <a:pathLst>
                  <a:path extrusionOk="0" h="277779" w="1861854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2" name="Google Shape;282;p28"/>
          <p:cNvGrpSpPr/>
          <p:nvPr/>
        </p:nvGrpSpPr>
        <p:grpSpPr>
          <a:xfrm>
            <a:off x="869587" y="1679386"/>
            <a:ext cx="7448802" cy="6897746"/>
            <a:chOff x="579725" y="1119591"/>
            <a:chExt cx="4965868" cy="4598497"/>
          </a:xfrm>
        </p:grpSpPr>
        <p:sp>
          <p:nvSpPr>
            <p:cNvPr id="283" name="Google Shape;283;p28"/>
            <p:cNvSpPr/>
            <p:nvPr/>
          </p:nvSpPr>
          <p:spPr>
            <a:xfrm>
              <a:off x="579725" y="1119591"/>
              <a:ext cx="4965868" cy="4598497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579725" y="1119591"/>
              <a:ext cx="4965868" cy="4598497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28"/>
          <p:cNvSpPr/>
          <p:nvPr/>
        </p:nvSpPr>
        <p:spPr>
          <a:xfrm>
            <a:off x="831058" y="1610673"/>
            <a:ext cx="7290384" cy="6793899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8"/>
          <p:cNvSpPr txBox="1"/>
          <p:nvPr>
            <p:ph type="ctrTitle"/>
          </p:nvPr>
        </p:nvSpPr>
        <p:spPr>
          <a:xfrm>
            <a:off x="1257300" y="1882428"/>
            <a:ext cx="6486963" cy="440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8100">
                <a:solidFill>
                  <a:schemeClr val="lt1"/>
                </a:solidFill>
              </a:rPr>
              <a:t>Dudas</a:t>
            </a:r>
            <a:endParaRPr/>
          </a:p>
        </p:txBody>
      </p:sp>
      <p:pic>
        <p:nvPicPr>
          <p:cNvPr descr="Cartoon person with orange hair and red jacket&#10;&#10;Description automatically generated" id="287" name="Google Shape;287;p28"/>
          <p:cNvPicPr preferRelativeResize="0"/>
          <p:nvPr/>
        </p:nvPicPr>
        <p:blipFill rotWithShape="1">
          <a:blip r:embed="rId3">
            <a:alphaModFix/>
          </a:blip>
          <a:srcRect b="1" l="0" r="3314" t="0"/>
          <a:stretch/>
        </p:blipFill>
        <p:spPr>
          <a:xfrm>
            <a:off x="9141171" y="1981546"/>
            <a:ext cx="8142916" cy="631641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 flipH="1" rot="10800000">
            <a:off x="16185178" y="0"/>
            <a:ext cx="2102822" cy="2017554"/>
          </a:xfrm>
          <a:custGeom>
            <a:rect b="b" l="l" r="r" t="t"/>
            <a:pathLst>
              <a:path extrusionOk="0" h="3293393" w="3432581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/>
          <p:nvPr/>
        </p:nvSpPr>
        <p:spPr>
          <a:xfrm flipH="1" rot="10800000">
            <a:off x="16185178" y="0"/>
            <a:ext cx="2102822" cy="2017554"/>
          </a:xfrm>
          <a:custGeom>
            <a:rect b="b" l="l" r="r" t="t"/>
            <a:pathLst>
              <a:path extrusionOk="0" h="3293393" w="3432581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551451" y="7090950"/>
            <a:ext cx="479911" cy="4799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551451" y="7090950"/>
            <a:ext cx="479911" cy="479911"/>
          </a:xfrm>
          <a:prstGeom prst="ellipse">
            <a:avLst/>
          </a:prstGeom>
          <a:solidFill>
            <a:schemeClr val="accent2">
              <a:alpha val="30196"/>
            </a:scheme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p28"/>
          <p:cNvGrpSpPr/>
          <p:nvPr/>
        </p:nvGrpSpPr>
        <p:grpSpPr>
          <a:xfrm>
            <a:off x="15755802" y="8702272"/>
            <a:ext cx="1581695" cy="704534"/>
            <a:chOff x="9841624" y="4115729"/>
            <a:chExt cx="602169" cy="268223"/>
          </a:xfrm>
        </p:grpSpPr>
        <p:sp>
          <p:nvSpPr>
            <p:cNvPr id="293" name="Google Shape;293;p28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28"/>
          <p:cNvGrpSpPr/>
          <p:nvPr/>
        </p:nvGrpSpPr>
        <p:grpSpPr>
          <a:xfrm>
            <a:off x="15755802" y="8702272"/>
            <a:ext cx="1581695" cy="704534"/>
            <a:chOff x="9841624" y="4115729"/>
            <a:chExt cx="602169" cy="268223"/>
          </a:xfrm>
        </p:grpSpPr>
        <p:sp>
          <p:nvSpPr>
            <p:cNvPr id="299" name="Google Shape;299;p28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8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102ed0ff7_0_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9" name="Google Shape;309;g3e102ed0ff7_0_0"/>
          <p:cNvGrpSpPr/>
          <p:nvPr/>
        </p:nvGrpSpPr>
        <p:grpSpPr>
          <a:xfrm>
            <a:off x="15318704" y="7531093"/>
            <a:ext cx="2286000" cy="2307431"/>
            <a:chOff x="0" y="-28575"/>
            <a:chExt cx="3048000" cy="3076575"/>
          </a:xfrm>
        </p:grpSpPr>
        <p:sp>
          <p:nvSpPr>
            <p:cNvPr id="310" name="Google Shape;310;g3e102ed0ff7_0_0"/>
            <p:cNvSpPr/>
            <p:nvPr/>
          </p:nvSpPr>
          <p:spPr>
            <a:xfrm>
              <a:off x="0" y="0"/>
              <a:ext cx="3048000" cy="2946400"/>
            </a:xfrm>
            <a:custGeom>
              <a:rect b="b" l="l" r="r" t="t"/>
              <a:pathLst>
                <a:path extrusionOk="0"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311" name="Google Shape;311;g3e102ed0ff7_0_0"/>
            <p:cNvSpPr/>
            <p:nvPr/>
          </p:nvSpPr>
          <p:spPr>
            <a:xfrm>
              <a:off x="0" y="0"/>
              <a:ext cx="3048000" cy="3048000"/>
            </a:xfrm>
            <a:custGeom>
              <a:rect b="b" l="l" r="r" t="t"/>
              <a:pathLst>
                <a:path extrusionOk="0"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g3e102ed0ff7_0_0"/>
            <p:cNvSpPr txBox="1"/>
            <p:nvPr/>
          </p:nvSpPr>
          <p:spPr>
            <a:xfrm>
              <a:off x="0" y="-28575"/>
              <a:ext cx="3048000" cy="251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200" lIns="203200" spcFirstLastPara="1" rIns="203200" wrap="square" tIns="20320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Crearas el ejemplo práctico que tu impartirás en la clase como refuerzo de la teoria dada. 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102ed0ff7_0_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8" name="Google Shape;318;g3e102ed0ff7_0_8"/>
          <p:cNvGrpSpPr/>
          <p:nvPr/>
        </p:nvGrpSpPr>
        <p:grpSpPr>
          <a:xfrm>
            <a:off x="14677737" y="6943540"/>
            <a:ext cx="2286000" cy="2521890"/>
            <a:chOff x="0" y="-28575"/>
            <a:chExt cx="3048000" cy="3362520"/>
          </a:xfrm>
        </p:grpSpPr>
        <p:sp>
          <p:nvSpPr>
            <p:cNvPr id="319" name="Google Shape;319;g3e102ed0ff7_0_8"/>
            <p:cNvSpPr/>
            <p:nvPr/>
          </p:nvSpPr>
          <p:spPr>
            <a:xfrm>
              <a:off x="0" y="0"/>
              <a:ext cx="3048000" cy="3232345"/>
            </a:xfrm>
            <a:custGeom>
              <a:rect b="b" l="l" r="r" t="t"/>
              <a:pathLst>
                <a:path extrusionOk="0" h="3232345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232345"/>
                  </a:lnTo>
                  <a:lnTo>
                    <a:pt x="0" y="3232345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320" name="Google Shape;320;g3e102ed0ff7_0_8"/>
            <p:cNvSpPr/>
            <p:nvPr/>
          </p:nvSpPr>
          <p:spPr>
            <a:xfrm>
              <a:off x="0" y="0"/>
              <a:ext cx="3048000" cy="3333945"/>
            </a:xfrm>
            <a:custGeom>
              <a:rect b="b" l="l" r="r" t="t"/>
              <a:pathLst>
                <a:path extrusionOk="0" h="3333945" w="3048000">
                  <a:moveTo>
                    <a:pt x="0" y="3232345"/>
                  </a:moveTo>
                  <a:lnTo>
                    <a:pt x="3048000" y="3232345"/>
                  </a:lnTo>
                  <a:lnTo>
                    <a:pt x="2921000" y="3333945"/>
                  </a:lnTo>
                  <a:cubicBezTo>
                    <a:pt x="2921000" y="3333945"/>
                    <a:pt x="1930400" y="3257745"/>
                    <a:pt x="1828800" y="3257745"/>
                  </a:cubicBezTo>
                  <a:lnTo>
                    <a:pt x="1219200" y="3257745"/>
                  </a:lnTo>
                  <a:cubicBezTo>
                    <a:pt x="1117600" y="3257745"/>
                    <a:pt x="127000" y="3333945"/>
                    <a:pt x="127000" y="3333945"/>
                  </a:cubicBezTo>
                  <a:lnTo>
                    <a:pt x="0" y="3232345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3232345"/>
                  </a:lnTo>
                  <a:lnTo>
                    <a:pt x="12700" y="3232345"/>
                  </a:lnTo>
                  <a:lnTo>
                    <a:pt x="12700" y="3219645"/>
                  </a:lnTo>
                  <a:lnTo>
                    <a:pt x="3035300" y="3219645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3232345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g3e102ed0ff7_0_8"/>
            <p:cNvSpPr txBox="1"/>
            <p:nvPr/>
          </p:nvSpPr>
          <p:spPr>
            <a:xfrm>
              <a:off x="0" y="-28575"/>
              <a:ext cx="3048000" cy="280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200" lIns="203200" spcFirstLastPara="1" rIns="203200" wrap="square" tIns="20320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Crearas la actividad donde los alumnos practicarán por sí solos los conocimientos abordados en esta sesión.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 txBox="1"/>
          <p:nvPr/>
        </p:nvSpPr>
        <p:spPr>
          <a:xfrm>
            <a:off x="1257300" y="673081"/>
            <a:ext cx="7061506" cy="183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cxnSp>
        <p:nvCxnSpPr>
          <p:cNvPr id="328" name="Google Shape;328;p6"/>
          <p:cNvCxnSpPr/>
          <p:nvPr/>
        </p:nvCxnSpPr>
        <p:spPr>
          <a:xfrm rot="10800000">
            <a:off x="1247809" y="2624634"/>
            <a:ext cx="7077456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6"/>
          <p:cNvSpPr txBox="1"/>
          <p:nvPr/>
        </p:nvSpPr>
        <p:spPr>
          <a:xfrm>
            <a:off x="1346653" y="2863788"/>
            <a:ext cx="6879770" cy="5471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USO DE VARIABLES</a:t>
            </a:r>
            <a:endParaRPr b="0" i="0" sz="3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CREACION DE VARIABLES</a:t>
            </a:r>
            <a:endParaRPr/>
          </a:p>
        </p:txBody>
      </p:sp>
      <p:cxnSp>
        <p:nvCxnSpPr>
          <p:cNvPr id="330" name="Google Shape;330;p6"/>
          <p:cNvCxnSpPr/>
          <p:nvPr/>
        </p:nvCxnSpPr>
        <p:spPr>
          <a:xfrm rot="10800000">
            <a:off x="1251040" y="8561508"/>
            <a:ext cx="7070996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imer plano de un teclado" id="331" name="Google Shape;331;p6"/>
          <p:cNvPicPr preferRelativeResize="0"/>
          <p:nvPr/>
        </p:nvPicPr>
        <p:blipFill rotWithShape="1">
          <a:blip r:embed="rId3">
            <a:alphaModFix/>
          </a:blip>
          <a:srcRect b="0" l="13224" r="33275" t="0"/>
          <a:stretch/>
        </p:blipFill>
        <p:spPr>
          <a:xfrm>
            <a:off x="9788179" y="10"/>
            <a:ext cx="8499821" cy="10286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3295651" y="1102924"/>
            <a:ext cx="7467599" cy="47475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0" i="0" lang="en-US" sz="7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 b="0" i="0" sz="7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3295651" y="6117634"/>
            <a:ext cx="7467599" cy="30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Curiosidad: se presentará en una diapositiva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ath" id="339" name="Google Shape;3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3" y="4164928"/>
            <a:ext cx="1933577" cy="1933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reath" id="340" name="Google Shape;340;p7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9911722" y="1074610"/>
            <a:ext cx="8117015" cy="811701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7"/>
          <p:cNvSpPr txBox="1"/>
          <p:nvPr/>
        </p:nvSpPr>
        <p:spPr>
          <a:xfrm>
            <a:off x="5056655" y="6413479"/>
            <a:ext cx="9856773" cy="143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Frase: Explorar lo nuevo con ganas de entender cómo y por qué funciona.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8"/>
          <p:cNvGrpSpPr/>
          <p:nvPr/>
        </p:nvGrpSpPr>
        <p:grpSpPr>
          <a:xfrm>
            <a:off x="14596810" y="7805826"/>
            <a:ext cx="2792246" cy="2335933"/>
            <a:chOff x="9731107" y="5203828"/>
            <a:chExt cx="1861478" cy="1557272"/>
          </a:xfrm>
        </p:grpSpPr>
        <p:sp>
          <p:nvSpPr>
            <p:cNvPr id="348" name="Google Shape;348;p8"/>
            <p:cNvSpPr/>
            <p:nvPr/>
          </p:nvSpPr>
          <p:spPr>
            <a:xfrm>
              <a:off x="9731112" y="5203828"/>
              <a:ext cx="36465" cy="36221"/>
            </a:xfrm>
            <a:custGeom>
              <a:rect b="b" l="l" r="r" t="t"/>
              <a:pathLst>
                <a:path extrusionOk="0" h="14097" w="14192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9883335" y="5203828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10035314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10187538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10339519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0491745" y="5203828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10643724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10795947" y="5203828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10947929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11100152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11252131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11404357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11556336" y="5203828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9731112" y="5356051"/>
              <a:ext cx="36465" cy="36221"/>
            </a:xfrm>
            <a:custGeom>
              <a:rect b="b" l="l" r="r" t="t"/>
              <a:pathLst>
                <a:path extrusionOk="0" h="14097" w="14192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9883335" y="5356046"/>
              <a:ext cx="36221" cy="36226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10035314" y="5356046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10187538" y="5356046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10339519" y="5356046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10491742" y="5356051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10643724" y="5356046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10795947" y="5356044"/>
              <a:ext cx="36221" cy="36226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10947929" y="5356044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11100152" y="5356044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11252131" y="5356044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11404357" y="5356041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11556336" y="5356046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9731112" y="5508030"/>
              <a:ext cx="36465" cy="36219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9883335" y="5508030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0035314" y="550803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0187538" y="550803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0339519" y="550803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0491745" y="5508030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643724" y="550803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795947" y="5508025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947929" y="550802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11100152" y="550802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11252131" y="550802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11404357" y="550802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11556336" y="5508025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9731112" y="5660254"/>
              <a:ext cx="36465" cy="36219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9883335" y="5660248"/>
              <a:ext cx="36221" cy="36226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10035314" y="5660248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10187538" y="5660248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10339519" y="5660248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10491742" y="5660254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10643724" y="5660248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10795947" y="5660246"/>
              <a:ext cx="36221" cy="36226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10947929" y="5660246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11100152" y="5660246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11252131" y="5660246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11404357" y="5660246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11556336" y="5660251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9731112" y="5812233"/>
              <a:ext cx="36465" cy="36219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9883335" y="5812233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10035314" y="58122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10187538" y="58122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10339519" y="58122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10491742" y="5812233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10643724" y="58122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10795947" y="5812233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10947929" y="58122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11100152" y="58122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1252131" y="58122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1404357" y="58122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556336" y="581223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9731112" y="5964459"/>
              <a:ext cx="36465" cy="36221"/>
            </a:xfrm>
            <a:custGeom>
              <a:rect b="b" l="l" r="r" t="t"/>
              <a:pathLst>
                <a:path extrusionOk="0" h="14097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9883335" y="5964453"/>
              <a:ext cx="36221" cy="36226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10035314" y="5964453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10187538" y="5964453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10339519" y="5964453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10491742" y="5964459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10643724" y="5964453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10795947" y="5964451"/>
              <a:ext cx="36221" cy="36226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0947929" y="5964451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11100152" y="5964451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11252131" y="5964451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11404357" y="5964448"/>
              <a:ext cx="36218" cy="36226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11556336" y="5964453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9731112" y="6116440"/>
              <a:ext cx="36465" cy="36219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9883335" y="6116440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10035314" y="611644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10187538" y="611644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10339519" y="611644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10491742" y="6116440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10643724" y="611644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10795947" y="6116435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10947929" y="611643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11100152" y="611643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11252131" y="611643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11404357" y="611643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11556336" y="6116440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9731112" y="6268419"/>
              <a:ext cx="36465" cy="36219"/>
            </a:xfrm>
            <a:custGeom>
              <a:rect b="b" l="l" r="r" t="t"/>
              <a:pathLst>
                <a:path extrusionOk="0" h="14096" w="14192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9883335" y="6268419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10035314" y="6268419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10187538" y="6268419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10339519" y="6268419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10491745" y="6268419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10643724" y="6268419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0795968" y="6268419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10947950" y="6268419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11100173" y="6268419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11252154" y="6268419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11404380" y="6268419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11556357" y="6268417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9731112" y="6420645"/>
              <a:ext cx="36465" cy="36219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9883335" y="6420645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10035314" y="642064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10187538" y="642064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10339519" y="642064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10491745" y="6420645"/>
              <a:ext cx="36221" cy="36221"/>
            </a:xfrm>
            <a:custGeom>
              <a:rect b="b" l="l" r="r" t="t"/>
              <a:pathLst>
                <a:path extrusionOk="0" h="14097" w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10643724" y="6420645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10795968" y="6420653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10947950" y="6420661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11100173" y="642066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11252154" y="642066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11404380" y="642067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11556357" y="6420679"/>
              <a:ext cx="36218" cy="36221"/>
            </a:xfrm>
            <a:custGeom>
              <a:rect b="b" l="l" r="r" t="t"/>
              <a:pathLst>
                <a:path extrusionOk="0" h="14097" w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9731112" y="6572627"/>
              <a:ext cx="36465" cy="36219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9883335" y="6572627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10035314" y="6572627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10187538" y="6572627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10339519" y="6572627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10491742" y="6572627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10643724" y="6572627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10795968" y="6572658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10947950" y="657265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11100173" y="657265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11252154" y="657265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11404380" y="6572653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11556357" y="657265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9731107" y="6724848"/>
              <a:ext cx="36465" cy="36219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9883333" y="6724848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10035312" y="672484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10187538" y="672484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10339517" y="672484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10491740" y="6724848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10643724" y="6724848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10795968" y="6724881"/>
              <a:ext cx="36221" cy="36219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10947950" y="6724881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11100173" y="6724881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11252154" y="6724881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11404380" y="6724881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11556367" y="6724876"/>
              <a:ext cx="36218" cy="36219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8"/>
          <p:cNvSpPr txBox="1"/>
          <p:nvPr/>
        </p:nvSpPr>
        <p:spPr>
          <a:xfrm>
            <a:off x="10540488" y="1803039"/>
            <a:ext cx="6045198" cy="660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492" name="Google Shape;492;p8"/>
          <p:cNvSpPr txBox="1"/>
          <p:nvPr/>
        </p:nvSpPr>
        <p:spPr>
          <a:xfrm>
            <a:off x="1338342" y="1886347"/>
            <a:ext cx="7825759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Microsoft  : </a:t>
            </a:r>
            <a:r>
              <a:rPr b="0" i="0" lang="en-US" sz="3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https://visualstudio.microsoft.com/es/vs/</a:t>
            </a:r>
            <a:endParaRPr b="0" i="0" sz="36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36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https://learn.microsoft.com/es-es/visualstudio/install/install-visual-studio?view=vs-2022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3" name="Google Shape;493;p8"/>
          <p:cNvGrpSpPr/>
          <p:nvPr/>
        </p:nvGrpSpPr>
        <p:grpSpPr>
          <a:xfrm>
            <a:off x="9737296" y="1088928"/>
            <a:ext cx="2398244" cy="796938"/>
            <a:chOff x="2504802" y="1755501"/>
            <a:chExt cx="1598829" cy="531293"/>
          </a:xfrm>
        </p:grpSpPr>
        <p:sp>
          <p:nvSpPr>
            <p:cNvPr id="494" name="Google Shape;494;p8"/>
            <p:cNvSpPr/>
            <p:nvPr/>
          </p:nvSpPr>
          <p:spPr>
            <a:xfrm>
              <a:off x="2504802" y="2113855"/>
              <a:ext cx="1598614" cy="172939"/>
            </a:xfrm>
            <a:custGeom>
              <a:rect b="b" l="l" r="r" t="t"/>
              <a:pathLst>
                <a:path extrusionOk="0" h="172939" w="1598614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2504802" y="1755501"/>
              <a:ext cx="1598829" cy="172724"/>
            </a:xfrm>
            <a:custGeom>
              <a:rect b="b" l="l" r="r" t="t"/>
              <a:pathLst>
                <a:path extrusionOk="0" h="172724" w="1598829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8"/>
          <p:cNvSpPr/>
          <p:nvPr/>
        </p:nvSpPr>
        <p:spPr>
          <a:xfrm>
            <a:off x="16186887" y="473890"/>
            <a:ext cx="1398300" cy="1398300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16186887" y="473890"/>
            <a:ext cx="1398300" cy="1398300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196"/>
            </a:scheme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3" name="Google Shape;50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