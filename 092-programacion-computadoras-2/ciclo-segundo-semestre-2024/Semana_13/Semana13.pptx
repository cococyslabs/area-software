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0fxzGrsZwigcaggO3FFsRYCGm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1bc15c10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1bc15c10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bc15c106b_0_1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1bc15c106b_0_1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1bc15c106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21bc15c106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8820563d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18820563d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8820563d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18820563d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3ac61791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2d3ac61791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2c24a789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2d2c24a789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8820563d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18820563d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8820563d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18820563d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5ebd91d6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2d5ebd91d6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">
  <p:cSld name="TITLE_AND_BODY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1bc15c106b_0_18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g21bc15c106b_0_18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" name="Google Shape;12;g21bc15c106b_0_18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g21bc15c106b_0_180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5" name="Google Shape;15;g21bc15c106b_0_180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g21bc15c106b_0_180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g21bc15c106b_0_180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" name="Google Shape;18;g21bc15c106b_0_180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" name="Google Shape;19;g21bc15c106b_0_18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1bc15c106b_0_1777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g21bc15c106b_0_1777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23" name="Google Shape;23;g21bc15c106b_0_1777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g21bc15c106b_0_1777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g21bc15c106b_0_1777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21bc15c106b_0_1777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g21bc15c106b_0_1777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g21bc15c106b_0_1777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9" name="Google Shape;29;g21bc15c106b_0_17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g21bc15c106b_0_1787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32" name="Google Shape;32;g21bc15c106b_0_178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9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21bc15c106b_0_1787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9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21bc15c106b_0_1787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21bc15c106b_0_1787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21bc15c106b_0_1787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21bc15c106b_0_1787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21bc15c106b_0_178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21bc15c106b_0_1787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21bc15c106b_0_1787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1bc15c106b_0_1787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21bc15c106b_0_178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21bc15c106b_0_1787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21bc15c106b_0_1787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21bc15c106b_0_1787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21bc15c106b_0_1787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21bc15c106b_0_1787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21bc15c106b_0_178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21bc15c106b_0_1787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g21bc15c106b_0_178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g21bc15c106b_0_17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g21bc15c106b_0_181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4" name="Google Shape;54;g21bc15c106b_0_18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21bc15c106b_0_18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g21bc15c106b_0_18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g21bc15c106b_0_1816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g21bc15c106b_0_1816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g21bc15c106b_0_18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g21bc15c106b_0_182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2" name="Google Shape;62;g21bc15c106b_0_182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21bc15c106b_0_182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g21bc15c106b_0_18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g21bc15c106b_0_18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21bc15c106b_0_1830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8" name="Google Shape;68;g21bc15c106b_0_183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21bc15c106b_0_183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g21bc15c106b_0_183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g21bc15c106b_0_183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g21bc15c106b_0_18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21bc15c106b_0_1837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5" name="Google Shape;75;g21bc15c106b_0_1837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9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21bc15c106b_0_1837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9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21bc15c106b_0_1837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21bc15c106b_0_1837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21bc15c106b_0_1837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21bc15c106b_0_1837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21bc15c106b_0_1837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21bc15c106b_0_1837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21bc15c106b_0_1837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21bc15c106b_0_1837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21bc15c106b_0_1837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21bc15c106b_0_1837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21bc15c106b_0_1837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21bc15c106b_0_1837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21bc15c106b_0_1837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21bc15c106b_0_1837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21bc15c106b_0_1837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21bc15c106b_0_1837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g21bc15c106b_0_1837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g21bc15c106b_0_1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g21bc15c106b_0_185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7" name="Google Shape;97;g21bc15c106b_0_185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21bc15c106b_0_185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g21bc15c106b_0_185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g21bc15c106b_0_185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1" name="Google Shape;101;g21bc15c106b_0_185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g21bc15c106b_0_18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g21bc15c106b_0_1867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5" name="Google Shape;105;g21bc15c106b_0_1867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66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21bc15c106b_0_1867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666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g21bc15c106b_0_1867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g21bc15c106b_0_18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g21bc15c106b_0_187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1" name="Google Shape;111;g21bc15c106b_0_187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9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21bc15c106b_0_187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9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21bc15c106b_0_187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21bc15c106b_0_187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21bc15c106b_0_187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21bc15c106b_0_187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21bc15c106b_0_187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21bc15c106b_0_187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21bc15c106b_0_187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21bc15c106b_0_187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21bc15c106b_0_187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21bc15c106b_0_187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21bc15c106b_0_187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21bc15c106b_0_187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21bc15c106b_0_187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21bc15c106b_0_187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21bc15c106b_0_187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21bc15c106b_0_187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g21bc15c106b_0_187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0" name="Google Shape;130;g21bc15c106b_0_187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g21bc15c106b_0_1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1bc15c106b_0_18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1bc15c106b_0_17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21bc15c106b_0_17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21bc15c106b_0_17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1bc15c106b_0_0"/>
          <p:cNvSpPr txBox="1"/>
          <p:nvPr>
            <p:ph type="title"/>
          </p:nvPr>
        </p:nvSpPr>
        <p:spPr>
          <a:xfrm>
            <a:off x="390075" y="1463925"/>
            <a:ext cx="52668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4400"/>
              <a:t>Introducción a la Programación de Computadoras 2</a:t>
            </a:r>
            <a:endParaRPr sz="4400"/>
          </a:p>
        </p:txBody>
      </p:sp>
      <p:pic>
        <p:nvPicPr>
          <p:cNvPr id="139" name="Google Shape;139;g21bc15c106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6875" y="980588"/>
            <a:ext cx="3182324" cy="318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bc15c106b_0_190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4400"/>
              <a:t>Agenda</a:t>
            </a:r>
            <a:endParaRPr sz="4400"/>
          </a:p>
        </p:txBody>
      </p:sp>
      <p:sp>
        <p:nvSpPr>
          <p:cNvPr id="145" name="Google Shape;145;g21bc15c106b_0_1903"/>
          <p:cNvSpPr txBox="1"/>
          <p:nvPr>
            <p:ph idx="1" type="body"/>
          </p:nvPr>
        </p:nvSpPr>
        <p:spPr>
          <a:xfrm>
            <a:off x="1169850" y="1350200"/>
            <a:ext cx="7166700" cy="3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998"/>
              <a:buNone/>
            </a:pPr>
            <a:r>
              <a:t/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00"/>
              <a:t>Introducción a las bases de datos: conceptos básicos y tipos de bases de datos.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00"/>
              <a:t>Crear una base de datos y tablas en SQL Server o SQLite.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00"/>
              <a:t>Conexión de una base de datos a una aplicación en Visual Basic .NET.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00"/>
              <a:t>Ejecución de consultas básicas: insertar, actualizar y eliminar datos desde la aplicación.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00"/>
              <a:t>Ejemplo práctico de almacenamiento y recuperación de datos desde una base de datos.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998"/>
              <a:buNone/>
            </a:pPr>
            <a:r>
              <a:t/>
            </a:r>
            <a:endParaRPr sz="2000"/>
          </a:p>
        </p:txBody>
      </p:sp>
      <p:pic>
        <p:nvPicPr>
          <p:cNvPr id="146" name="Google Shape;146;g21bc15c106b_0_19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725" y="233225"/>
            <a:ext cx="1517149" cy="151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1bc15c106b_1_8"/>
          <p:cNvSpPr txBox="1"/>
          <p:nvPr>
            <p:ph type="title"/>
          </p:nvPr>
        </p:nvSpPr>
        <p:spPr>
          <a:xfrm>
            <a:off x="306425" y="1718750"/>
            <a:ext cx="4265700" cy="22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Introducción a las Bases de Datos y Visual Basic .NET</a:t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3500"/>
          </a:p>
        </p:txBody>
      </p:sp>
      <p:pic>
        <p:nvPicPr>
          <p:cNvPr id="152" name="Google Shape;152;g21bc15c106b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750" y="1213500"/>
            <a:ext cx="4267075" cy="2716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8820563de_0_3"/>
          <p:cNvSpPr txBox="1"/>
          <p:nvPr>
            <p:ph type="title"/>
          </p:nvPr>
        </p:nvSpPr>
        <p:spPr>
          <a:xfrm>
            <a:off x="1160550" y="325225"/>
            <a:ext cx="7867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¿Qué son las bases de datos?</a:t>
            </a:r>
            <a:endParaRPr sz="3500"/>
          </a:p>
        </p:txBody>
      </p:sp>
      <p:sp>
        <p:nvSpPr>
          <p:cNvPr id="158" name="Google Shape;158;g318820563de_0_3"/>
          <p:cNvSpPr txBox="1"/>
          <p:nvPr>
            <p:ph type="title"/>
          </p:nvPr>
        </p:nvSpPr>
        <p:spPr>
          <a:xfrm>
            <a:off x="218900" y="1489800"/>
            <a:ext cx="84528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Definición:</a:t>
            </a:r>
            <a:endParaRPr sz="2062"/>
          </a:p>
          <a:p>
            <a:pPr indent="-988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Una base de datos es un sistema que permite almacenar, organizar y manipular datos de forma eficiente.</a:t>
            </a:r>
            <a:endParaRPr sz="1729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Tipos de bases de datos:</a:t>
            </a:r>
            <a:endParaRPr sz="2062"/>
          </a:p>
          <a:p>
            <a:pPr indent="-988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Relacionales (SQL): MySQL, PostgreSQL.</a:t>
            </a:r>
            <a:endParaRPr sz="1729"/>
          </a:p>
          <a:p>
            <a:pPr indent="-988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No relacionales (NoSQL): MongoDB, DynamoDB.</a:t>
            </a:r>
            <a:endParaRPr sz="1729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¿Por qué son útiles?</a:t>
            </a:r>
            <a:endParaRPr sz="2062"/>
          </a:p>
          <a:p>
            <a:pPr indent="-988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Permiten manejar grandes volúmenes de datos.</a:t>
            </a:r>
            <a:endParaRPr sz="1729"/>
          </a:p>
          <a:p>
            <a:pPr indent="-988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Facilitan búsquedas rápidas.</a:t>
            </a:r>
            <a:endParaRPr sz="1729"/>
          </a:p>
          <a:p>
            <a:pPr indent="-9881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729"/>
              <a:t>Aseguran la integridad y seguridad de los datos.</a:t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0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8820563de_0_10"/>
          <p:cNvSpPr txBox="1"/>
          <p:nvPr>
            <p:ph type="title"/>
          </p:nvPr>
        </p:nvSpPr>
        <p:spPr>
          <a:xfrm>
            <a:off x="1051675" y="295525"/>
            <a:ext cx="7867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2900"/>
              <a:t>Creación de una Base de Datos y Tablas</a:t>
            </a:r>
            <a:endParaRPr sz="2900"/>
          </a:p>
        </p:txBody>
      </p:sp>
      <p:sp>
        <p:nvSpPr>
          <p:cNvPr id="164" name="Google Shape;164;g318820563de_0_10"/>
          <p:cNvSpPr txBox="1"/>
          <p:nvPr>
            <p:ph type="title"/>
          </p:nvPr>
        </p:nvSpPr>
        <p:spPr>
          <a:xfrm>
            <a:off x="218900" y="1489800"/>
            <a:ext cx="84528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1. Estructura de una base de datos relacional:</a:t>
            </a:r>
            <a:endParaRPr sz="2062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Se organiza en tablas compuestas por filas y columnas.</a:t>
            </a:r>
            <a:endParaRPr sz="206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2. Elementos clave en una tabla:</a:t>
            </a:r>
            <a:endParaRPr sz="2062"/>
          </a:p>
          <a:p>
            <a:pPr indent="-3464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62"/>
              <a:t>Clave primaria (Primary Key): Identifica de forma única a cada fila.</a:t>
            </a:r>
            <a:endParaRPr sz="2062"/>
          </a:p>
          <a:p>
            <a:pPr indent="-3464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62"/>
              <a:t>Tipos de datos: Define qué tipo de información puede almacenar una columna.</a:t>
            </a:r>
            <a:endParaRPr sz="2062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2"/>
              <a:t>Ejemplos:</a:t>
            </a:r>
            <a:endParaRPr sz="2062"/>
          </a:p>
          <a:p>
            <a:pPr indent="-34646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62"/>
              <a:t>INT (números enteros).</a:t>
            </a:r>
            <a:endParaRPr sz="2062"/>
          </a:p>
          <a:p>
            <a:pPr indent="-34646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62"/>
              <a:t>VARCHAR(n) (cadenas de texto).</a:t>
            </a:r>
            <a:endParaRPr sz="2062"/>
          </a:p>
          <a:p>
            <a:pPr indent="-34646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062"/>
              <a:t>DATE (fechas).</a:t>
            </a:r>
            <a:endParaRPr sz="2062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62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230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3ac61791f_0_2"/>
          <p:cNvSpPr txBox="1"/>
          <p:nvPr>
            <p:ph type="title"/>
          </p:nvPr>
        </p:nvSpPr>
        <p:spPr>
          <a:xfrm>
            <a:off x="1142425" y="325225"/>
            <a:ext cx="7566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200"/>
              <a:t> Ejemplo de SQL para crear una base de datos y tabla:</a:t>
            </a:r>
            <a:endParaRPr sz="3200"/>
          </a:p>
        </p:txBody>
      </p:sp>
      <p:pic>
        <p:nvPicPr>
          <p:cNvPr id="170" name="Google Shape;170;g2d3ac61791f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125" y="1401625"/>
            <a:ext cx="5334000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2c24a7899_0_2"/>
          <p:cNvSpPr txBox="1"/>
          <p:nvPr>
            <p:ph type="title"/>
          </p:nvPr>
        </p:nvSpPr>
        <p:spPr>
          <a:xfrm>
            <a:off x="1142425" y="325225"/>
            <a:ext cx="7566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200"/>
              <a:t>Configuración de la Cadena de Conexión en Visual Basic .NET</a:t>
            </a:r>
            <a:endParaRPr sz="3200"/>
          </a:p>
        </p:txBody>
      </p:sp>
      <p:sp>
        <p:nvSpPr>
          <p:cNvPr id="176" name="Google Shape;176;g2d2c24a7899_0_2"/>
          <p:cNvSpPr txBox="1"/>
          <p:nvPr>
            <p:ph type="title"/>
          </p:nvPr>
        </p:nvSpPr>
        <p:spPr>
          <a:xfrm>
            <a:off x="248575" y="1578875"/>
            <a:ext cx="81207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29"/>
              <a:t>¿Qué es una cadena de conexión?</a:t>
            </a:r>
            <a:endParaRPr sz="192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29"/>
              <a:t>Es la información que Visual Basic .NET necesita para conectarse a la base de datos.</a:t>
            </a:r>
            <a:endParaRPr sz="19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416"/>
              <a:buNone/>
            </a:pPr>
            <a:r>
              <a:t/>
            </a:r>
            <a:endParaRPr sz="19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416"/>
              <a:buNone/>
            </a:pPr>
            <a:r>
              <a:t/>
            </a:r>
            <a:endParaRPr sz="1929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416"/>
              <a:buNone/>
            </a:pPr>
            <a:r>
              <a:rPr lang="es" sz="1929"/>
              <a:t>Dim connectionString As String = "Server=localhost;Database=Biblioteca;Uid=root;Pwd=tu_contraseña;"</a:t>
            </a:r>
            <a:endParaRPr sz="192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8820563de_0_23"/>
          <p:cNvSpPr txBox="1"/>
          <p:nvPr>
            <p:ph type="title"/>
          </p:nvPr>
        </p:nvSpPr>
        <p:spPr>
          <a:xfrm>
            <a:off x="1142425" y="325225"/>
            <a:ext cx="7566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200"/>
              <a:t>Consultas SQL Básicas (CRUD)</a:t>
            </a:r>
            <a:endParaRPr sz="3200"/>
          </a:p>
        </p:txBody>
      </p:sp>
      <p:sp>
        <p:nvSpPr>
          <p:cNvPr id="182" name="Google Shape;182;g318820563de_0_23"/>
          <p:cNvSpPr txBox="1"/>
          <p:nvPr>
            <p:ph type="title"/>
          </p:nvPr>
        </p:nvSpPr>
        <p:spPr>
          <a:xfrm>
            <a:off x="189200" y="1420525"/>
            <a:ext cx="20895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29"/>
              <a:t>Create</a:t>
            </a:r>
            <a:endParaRPr sz="1929"/>
          </a:p>
        </p:txBody>
      </p:sp>
      <p:pic>
        <p:nvPicPr>
          <p:cNvPr id="183" name="Google Shape;183;g318820563de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325" y="1766950"/>
            <a:ext cx="5833620" cy="9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18820563de_0_23"/>
          <p:cNvSpPr txBox="1"/>
          <p:nvPr>
            <p:ph type="title"/>
          </p:nvPr>
        </p:nvSpPr>
        <p:spPr>
          <a:xfrm>
            <a:off x="189200" y="2780250"/>
            <a:ext cx="20895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29"/>
              <a:t>Read</a:t>
            </a:r>
            <a:endParaRPr sz="1929"/>
          </a:p>
        </p:txBody>
      </p:sp>
      <p:pic>
        <p:nvPicPr>
          <p:cNvPr id="185" name="Google Shape;185;g318820563de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4025" y="3506375"/>
            <a:ext cx="28384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8820563de_0_33"/>
          <p:cNvSpPr txBox="1"/>
          <p:nvPr>
            <p:ph type="title"/>
          </p:nvPr>
        </p:nvSpPr>
        <p:spPr>
          <a:xfrm>
            <a:off x="1142425" y="325225"/>
            <a:ext cx="7566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200"/>
              <a:t>Consultas SQL Básicas (CRUD)</a:t>
            </a:r>
            <a:endParaRPr sz="3200"/>
          </a:p>
        </p:txBody>
      </p:sp>
      <p:sp>
        <p:nvSpPr>
          <p:cNvPr id="191" name="Google Shape;191;g318820563de_0_33"/>
          <p:cNvSpPr txBox="1"/>
          <p:nvPr>
            <p:ph type="title"/>
          </p:nvPr>
        </p:nvSpPr>
        <p:spPr>
          <a:xfrm>
            <a:off x="189200" y="1420525"/>
            <a:ext cx="20895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29"/>
              <a:t>Update</a:t>
            </a:r>
            <a:endParaRPr sz="1929"/>
          </a:p>
        </p:txBody>
      </p:sp>
      <p:sp>
        <p:nvSpPr>
          <p:cNvPr id="192" name="Google Shape;192;g318820563de_0_33"/>
          <p:cNvSpPr txBox="1"/>
          <p:nvPr>
            <p:ph type="title"/>
          </p:nvPr>
        </p:nvSpPr>
        <p:spPr>
          <a:xfrm>
            <a:off x="189200" y="2780250"/>
            <a:ext cx="20895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29"/>
              <a:t>Delete</a:t>
            </a:r>
            <a:endParaRPr sz="1929"/>
          </a:p>
        </p:txBody>
      </p:sp>
      <p:pic>
        <p:nvPicPr>
          <p:cNvPr id="193" name="Google Shape;193;g318820563de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181" y="1680063"/>
            <a:ext cx="2554282" cy="110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18820563de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1350" y="3559625"/>
            <a:ext cx="264795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d5ebd91d6a_0_27"/>
          <p:cNvSpPr txBox="1"/>
          <p:nvPr>
            <p:ph type="title"/>
          </p:nvPr>
        </p:nvSpPr>
        <p:spPr>
          <a:xfrm>
            <a:off x="1761150" y="1698975"/>
            <a:ext cx="56217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Parte Práctica,</a:t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500"/>
              <a:t>¡Vámos a Visual Studio!</a:t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