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Gill Sans MT" panose="020B0502020104020203" pitchFamily="34" charset="0"/>
      <p:regular r:id="rId14"/>
      <p:bold r:id="rId15"/>
      <p:italic r:id="rId16"/>
      <p:boldItalic r:id="rId17"/>
    </p:embeddedFont>
    <p:embeddedFont>
      <p:font typeface="Hanken Grotesk"/>
      <p:regular r:id="rId18"/>
      <p:bold r:id="rId19"/>
      <p:italic r:id="rId20"/>
      <p:boldItalic r:id="rId21"/>
    </p:embeddedFont>
    <p:embeddedFont>
      <p:font typeface="Wingdings 2" panose="05020102010507070707" pitchFamily="18" charset="2"/>
      <p:regular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0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SLIDES_API164663060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SLIDES_API164663060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SLIDES_API1646630607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SLIDES_API1646630607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SLIDES_API1646630607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SLIDES_API1646630607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SLIDES_API1646630607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SLIDES_API1646630607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SLIDES_API1646630607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SLIDES_API1646630607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SLIDES_API1646630607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SLIDES_API1646630607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SLIDES_API1646630607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SLIDES_API1646630607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SLIDES_API1646630607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SLIDES_API1646630607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SLIDES_API1646630607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SLIDES_API1646630607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SLIDES_API1646630607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SLIDES_API1646630607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4900" y="2314324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894" y="765324"/>
            <a:ext cx="8245162" cy="1106260"/>
          </a:xfrm>
          <a:effectLst/>
        </p:spPr>
        <p:txBody>
          <a:bodyPr anchor="b">
            <a:normAutofit/>
          </a:bodyPr>
          <a:lstStyle>
            <a:lvl1pPr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5" y="1871584"/>
            <a:ext cx="8245160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2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704463" y="4467103"/>
            <a:ext cx="2133600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5894" y="4463859"/>
            <a:ext cx="5187908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5" y="4467103"/>
            <a:ext cx="762330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216761735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330214" y="460805"/>
            <a:ext cx="8482004" cy="89197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526617"/>
            <a:ext cx="8272212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5" y="1635373"/>
            <a:ext cx="8272211" cy="2758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5" y="4467103"/>
            <a:ext cx="789381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244810932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3856481"/>
            <a:ext cx="8468145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2282933"/>
            <a:ext cx="8272211" cy="1123130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3406063"/>
            <a:ext cx="8272211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2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339829842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4487" y="454916"/>
            <a:ext cx="8475027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547244"/>
            <a:ext cx="8272212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5" y="1671003"/>
            <a:ext cx="4066793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1313" y="1671003"/>
            <a:ext cx="4066794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284920804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334487" y="454916"/>
            <a:ext cx="8475027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5895" y="547244"/>
            <a:ext cx="8272212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415" y="1688169"/>
            <a:ext cx="3815306" cy="402004"/>
          </a:xfrm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6" y="2194540"/>
            <a:ext cx="4044825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2802" y="1688169"/>
            <a:ext cx="3815305" cy="415030"/>
          </a:xfrm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194540"/>
            <a:ext cx="4044825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282521380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330512" y="454916"/>
            <a:ext cx="8475027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1921" y="547244"/>
            <a:ext cx="8272212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86353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1405909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35863" y="3856480"/>
            <a:ext cx="8473650" cy="9560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3946722"/>
            <a:ext cx="3682084" cy="517136"/>
          </a:xfrm>
        </p:spPr>
        <p:txBody>
          <a:bodyPr anchor="ctr"/>
          <a:lstStyle>
            <a:lvl1pPr algn="l">
              <a:defRPr sz="15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862" y="450900"/>
            <a:ext cx="8469630" cy="3153600"/>
          </a:xfrm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8" y="3946723"/>
            <a:ext cx="4402490" cy="517136"/>
          </a:xfrm>
        </p:spPr>
        <p:txBody>
          <a:bodyPr anchor="ctr">
            <a:normAutofit/>
          </a:bodyPr>
          <a:lstStyle>
            <a:lvl1pPr marL="0" indent="0" algn="r">
              <a:buNone/>
              <a:defRPr sz="825">
                <a:solidFill>
                  <a:schemeClr val="bg1"/>
                </a:solidFill>
              </a:defRPr>
            </a:lvl1pPr>
            <a:lvl2pPr marL="342900" indent="0">
              <a:buNone/>
              <a:defRPr sz="825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146498252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3520042"/>
            <a:ext cx="8272212" cy="425054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3" y="449794"/>
            <a:ext cx="8468144" cy="266793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4" y="3945096"/>
            <a:ext cx="8272213" cy="449003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91446166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0214" y="460805"/>
            <a:ext cx="8482004" cy="89197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35894" y="526617"/>
            <a:ext cx="8272212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209262370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1" y="449794"/>
            <a:ext cx="2180113" cy="43627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506795"/>
            <a:ext cx="1503123" cy="388730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3" y="506795"/>
            <a:ext cx="5922209" cy="388730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4467103"/>
            <a:ext cx="996106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3" y="4463859"/>
            <a:ext cx="5922209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34962" y="4467103"/>
            <a:ext cx="873146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355015038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Bullet Points v1 No Image">
  <p:cSld name="Slide With Bullet Points v1 No Imag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88800" y="597600"/>
            <a:ext cx="70524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388800" y="1342800"/>
            <a:ext cx="7052400" cy="3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53607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Bullet Points v2">
  <p:cSld name="Slide With Bullet Points v2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ctrTitle"/>
          </p:nvPr>
        </p:nvSpPr>
        <p:spPr>
          <a:xfrm>
            <a:off x="316800" y="363600"/>
            <a:ext cx="53532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316800" y="1141200"/>
            <a:ext cx="5353200" cy="35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>
            <a:spLocks noGrp="1"/>
          </p:cNvSpPr>
          <p:nvPr>
            <p:ph type="pic" idx="2"/>
          </p:nvPr>
        </p:nvSpPr>
        <p:spPr>
          <a:xfrm>
            <a:off x="5958000" y="0"/>
            <a:ext cx="3186000" cy="51444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0193091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Bullet Points v1">
  <p:cSld name="Slide With Bullet Points v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ctrTitle"/>
          </p:nvPr>
        </p:nvSpPr>
        <p:spPr>
          <a:xfrm>
            <a:off x="3484800" y="982800"/>
            <a:ext cx="53244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484800" y="1717200"/>
            <a:ext cx="5324400" cy="31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5"/>
          <p:cNvSpPr>
            <a:spLocks noGrp="1"/>
          </p:cNvSpPr>
          <p:nvPr>
            <p:ph type="pic" idx="2"/>
          </p:nvPr>
        </p:nvSpPr>
        <p:spPr>
          <a:xfrm>
            <a:off x="0" y="601225"/>
            <a:ext cx="3149700" cy="4542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732709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columns-v3 1 Image">
  <p:cSld name="Slide with 3 columns-v3 1 Image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ctrTitle"/>
          </p:nvPr>
        </p:nvSpPr>
        <p:spPr>
          <a:xfrm>
            <a:off x="2751025" y="254625"/>
            <a:ext cx="58302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ubTitle" idx="1"/>
          </p:nvPr>
        </p:nvSpPr>
        <p:spPr>
          <a:xfrm>
            <a:off x="2751025" y="986475"/>
            <a:ext cx="5830200" cy="4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1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1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1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1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1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1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1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1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2"/>
          </p:nvPr>
        </p:nvSpPr>
        <p:spPr>
          <a:xfrm>
            <a:off x="2751025" y="1450875"/>
            <a:ext cx="5830200" cy="74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subTitle" idx="3"/>
          </p:nvPr>
        </p:nvSpPr>
        <p:spPr>
          <a:xfrm>
            <a:off x="2751025" y="2288875"/>
            <a:ext cx="5830200" cy="4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1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1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1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1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1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1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1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1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4"/>
          </p:nvPr>
        </p:nvSpPr>
        <p:spPr>
          <a:xfrm>
            <a:off x="2751025" y="2753275"/>
            <a:ext cx="5830200" cy="74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subTitle" idx="5"/>
          </p:nvPr>
        </p:nvSpPr>
        <p:spPr>
          <a:xfrm>
            <a:off x="2751025" y="3573275"/>
            <a:ext cx="58302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1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1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1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1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1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1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1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1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6"/>
          </p:nvPr>
        </p:nvSpPr>
        <p:spPr>
          <a:xfrm>
            <a:off x="2751025" y="4055675"/>
            <a:ext cx="5830200" cy="74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18"/>
          <p:cNvSpPr>
            <a:spLocks noGrp="1"/>
          </p:cNvSpPr>
          <p:nvPr>
            <p:ph type="pic" idx="7"/>
          </p:nvPr>
        </p:nvSpPr>
        <p:spPr>
          <a:xfrm>
            <a:off x="192915" y="967875"/>
            <a:ext cx="2128500" cy="1229700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18"/>
          <p:cNvSpPr>
            <a:spLocks noGrp="1"/>
          </p:cNvSpPr>
          <p:nvPr>
            <p:ph type="pic" idx="8"/>
          </p:nvPr>
        </p:nvSpPr>
        <p:spPr>
          <a:xfrm>
            <a:off x="192915" y="2270575"/>
            <a:ext cx="2128500" cy="12297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18"/>
          <p:cNvSpPr>
            <a:spLocks noGrp="1"/>
          </p:cNvSpPr>
          <p:nvPr>
            <p:ph type="pic" idx="9"/>
          </p:nvPr>
        </p:nvSpPr>
        <p:spPr>
          <a:xfrm>
            <a:off x="192915" y="3573275"/>
            <a:ext cx="2128500" cy="12297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387869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4" y="528843"/>
            <a:ext cx="8272212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1752002"/>
            <a:ext cx="8272212" cy="2642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4467103"/>
            <a:ext cx="21335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4463859"/>
            <a:ext cx="518790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5" y="4467103"/>
            <a:ext cx="78938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  <p:sp>
        <p:nvSpPr>
          <p:cNvPr id="9" name="Rectangle 8"/>
          <p:cNvSpPr/>
          <p:nvPr/>
        </p:nvSpPr>
        <p:spPr>
          <a:xfrm>
            <a:off x="334901" y="342900"/>
            <a:ext cx="2777490" cy="712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031610" y="340232"/>
            <a:ext cx="2777490" cy="7391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181373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17410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1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500" indent="-229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2"/>
          </a:solidFill>
          <a:latin typeface="+mn-lt"/>
          <a:ea typeface="+mn-ea"/>
          <a:cs typeface="+mn-cs"/>
        </a:defRPr>
      </a:lvl1pPr>
      <a:lvl2pPr marL="472500" indent="-229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675000" indent="-202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2"/>
          </a:solidFill>
          <a:latin typeface="+mn-lt"/>
          <a:ea typeface="+mn-ea"/>
          <a:cs typeface="+mn-cs"/>
        </a:defRPr>
      </a:lvl3pPr>
      <a:lvl4pPr marL="931500" indent="-175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4pPr>
      <a:lvl5pPr marL="1201500" indent="-175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5pPr>
      <a:lvl6pPr marL="1425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5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5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1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1" name="Rectangle 120">
            <a:extLst>
              <a:ext uri="{FF2B5EF4-FFF2-40B4-BE49-F238E27FC236}">
                <a16:creationId xmlns:a16="http://schemas.microsoft.com/office/drawing/2014/main" id="{8E019540-1104-4B12-9F83-45F586741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Google Shape;115;p20"/>
          <p:cNvSpPr txBox="1">
            <a:spLocks noGrp="1"/>
          </p:cNvSpPr>
          <p:nvPr>
            <p:ph type="ctrTitle"/>
          </p:nvPr>
        </p:nvSpPr>
        <p:spPr>
          <a:xfrm>
            <a:off x="3643053" y="1183005"/>
            <a:ext cx="4671712" cy="2777490"/>
          </a:xfrm>
          <a:prstGeom prst="rect">
            <a:avLst/>
          </a:prstGeom>
        </p:spPr>
        <p:txBody>
          <a:bodyPr spcFirstLastPara="1" lIns="91425" tIns="91425" rIns="91425" bIns="91425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5000">
                <a:solidFill>
                  <a:schemeClr val="tx2"/>
                </a:solidFill>
              </a:rPr>
              <a:t>CICLOS, VECTORES Y MATRICES</a:t>
            </a:r>
          </a:p>
        </p:txBody>
      </p:sp>
      <p:sp>
        <p:nvSpPr>
          <p:cNvPr id="116" name="Google Shape;116;p20"/>
          <p:cNvSpPr txBox="1">
            <a:spLocks noGrp="1"/>
          </p:cNvSpPr>
          <p:nvPr>
            <p:ph type="subTitle" idx="1"/>
          </p:nvPr>
        </p:nvSpPr>
        <p:spPr>
          <a:xfrm>
            <a:off x="1193898" y="1183005"/>
            <a:ext cx="2037879" cy="2777490"/>
          </a:xfrm>
          <a:prstGeom prst="rect">
            <a:avLst/>
          </a:prstGeom>
          <a:ln w="57150">
            <a:noFill/>
          </a:ln>
        </p:spPr>
        <p:txBody>
          <a:bodyPr spcFirstLastPara="1" lIns="91425" tIns="91425" rIns="91425" bIns="91425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GT" sz="2100"/>
              <a:t>EN VISUAL BASIC .NET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11D976D6-8C98-48CC-8C34-0468F3167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35454" y="2537460"/>
            <a:ext cx="171450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3580CFD6-E44A-486A-9E73-D8D948F78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091447" y="2537460"/>
            <a:ext cx="2777490" cy="6858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126">
            <a:extLst>
              <a:ext uri="{FF2B5EF4-FFF2-40B4-BE49-F238E27FC236}">
                <a16:creationId xmlns:a16="http://schemas.microsoft.com/office/drawing/2014/main" id="{F7660A3D-94D7-4E5D-AE77-F2DEE49DF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42900"/>
            <a:ext cx="2777490" cy="7124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A44EB985-DC5C-4DAC-9D62-8DC7D0F25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340232"/>
            <a:ext cx="2777490" cy="7391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3FCB64ED-B050-4F57-8188-F2332600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495E99FA-492C-4C5E-9893-0F326B1B6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214" y="460805"/>
            <a:ext cx="8482004" cy="89197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 useBgFill="1">
        <p:nvSpPr>
          <p:cNvPr id="135" name="Rectangle 134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935" y="364258"/>
            <a:ext cx="3131058" cy="44165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Google Shape;121;p21"/>
          <p:cNvSpPr txBox="1">
            <a:spLocks noGrp="1"/>
          </p:cNvSpPr>
          <p:nvPr>
            <p:ph type="ctrTitle"/>
          </p:nvPr>
        </p:nvSpPr>
        <p:spPr>
          <a:xfrm>
            <a:off x="719367" y="835323"/>
            <a:ext cx="2452312" cy="346824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</a:pPr>
            <a:r>
              <a:rPr lang="en-US" sz="2400">
                <a:solidFill>
                  <a:srgbClr val="FFFFFF"/>
                </a:solidFill>
              </a:rPr>
              <a:t>¿Qué son los bucles?</a:t>
            </a:r>
          </a:p>
        </p:txBody>
      </p:sp>
      <p:sp>
        <p:nvSpPr>
          <p:cNvPr id="122" name="Google Shape;122;p21"/>
          <p:cNvSpPr txBox="1">
            <a:spLocks noGrp="1"/>
          </p:cNvSpPr>
          <p:nvPr>
            <p:ph type="body" idx="1"/>
          </p:nvPr>
        </p:nvSpPr>
        <p:spPr>
          <a:xfrm>
            <a:off x="3866928" y="835323"/>
            <a:ext cx="4581135" cy="346824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457200">
              <a:spcBef>
                <a:spcPct val="20000"/>
              </a:spcBef>
              <a:spcAft>
                <a:spcPts val="600"/>
              </a:spcAft>
              <a:buSzPct val="92000"/>
              <a:buFont typeface="Wingdings 2" panose="05020102010507070707" pitchFamily="18" charset="2"/>
              <a:buChar char=""/>
            </a:pPr>
            <a:r>
              <a:rPr lang="en-US"/>
              <a:t>Los bucles son fundamentales en programación ya que permiten la repetición de un bloque de código varias veces hasta que se cumpla una condición especificada.</a:t>
            </a:r>
          </a:p>
          <a:p>
            <a:pPr marL="0" lvl="0" indent="0" defTabSz="457200">
              <a:spcBef>
                <a:spcPct val="20000"/>
              </a:spcBef>
              <a:spcAft>
                <a:spcPts val="600"/>
              </a:spcAft>
              <a:buSzPct val="92000"/>
              <a:buFont typeface="Wingdings 2" panose="05020102010507070707" pitchFamily="18" charset="2"/>
              <a:buChar char=""/>
            </a:pPr>
            <a:r>
              <a:rPr lang="en-US"/>
              <a:t>Optimización de tareas repetitivas: Los bucles ayudan en:</a:t>
            </a:r>
          </a:p>
          <a:p>
            <a:pPr marL="457200" lvl="0" indent="-342900" defTabSz="457200">
              <a:spcBef>
                <a:spcPct val="20000"/>
              </a:spcBef>
              <a:spcAft>
                <a:spcPts val="600"/>
              </a:spcAft>
              <a:buSzPct val="92000"/>
              <a:buFont typeface="Wingdings 2" panose="05020102010507070707" pitchFamily="18" charset="2"/>
              <a:buChar char=""/>
            </a:pPr>
            <a:r>
              <a:rPr lang="en-US"/>
              <a:t>Automatización de tareas repetitivas</a:t>
            </a:r>
          </a:p>
          <a:p>
            <a:pPr marL="457200" lvl="0" indent="-342900" defTabSz="457200">
              <a:spcBef>
                <a:spcPct val="20000"/>
              </a:spcBef>
              <a:spcAft>
                <a:spcPts val="600"/>
              </a:spcAft>
              <a:buSzPct val="92000"/>
              <a:buFont typeface="Wingdings 2" panose="05020102010507070707" pitchFamily="18" charset="2"/>
              <a:buChar char=""/>
            </a:pPr>
            <a:r>
              <a:rPr lang="en-US"/>
              <a:t>Reducción de la redundancia de código</a:t>
            </a:r>
          </a:p>
          <a:p>
            <a:pPr marL="0" lvl="0" indent="0" defTabSz="457200">
              <a:spcBef>
                <a:spcPct val="20000"/>
              </a:spcBef>
              <a:spcAft>
                <a:spcPts val="600"/>
              </a:spcAft>
              <a:buSzPct val="92000"/>
              <a:buFont typeface="Wingdings 2" panose="05020102010507070707" pitchFamily="18" charset="2"/>
              <a:buChar char=""/>
            </a:pPr>
            <a:r>
              <a:rPr lang="en-US"/>
              <a:t>Mejora de la eficiencia del código</a:t>
            </a:r>
          </a:p>
          <a:p>
            <a:pPr marL="0" lvl="0" indent="0" defTabSz="457200">
              <a:spcBef>
                <a:spcPct val="20000"/>
              </a:spcBef>
              <a:spcAft>
                <a:spcPts val="600"/>
              </a:spcAft>
              <a:buSzPct val="92000"/>
              <a:buFont typeface="Wingdings 2" panose="05020102010507070707" pitchFamily="18" charset="2"/>
              <a:buChar char=""/>
            </a:pPr>
            <a:r>
              <a:rPr lang="en-US"/>
              <a:t>Ejemplos sencillos: - Impresión de números del 1 al 10</a:t>
            </a:r>
          </a:p>
          <a:p>
            <a:pPr marL="0" lvl="0" indent="0" defTabSz="457200">
              <a:spcBef>
                <a:spcPct val="20000"/>
              </a:spcBef>
              <a:spcAft>
                <a:spcPts val="600"/>
              </a:spcAft>
              <a:buSzPct val="92000"/>
              <a:buFont typeface="Wingdings 2" panose="05020102010507070707" pitchFamily="18" charset="2"/>
              <a:buChar char=""/>
            </a:pPr>
            <a:r>
              <a:rPr lang="en-US"/>
              <a:t>Suma de elementos en una matriz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132">
            <a:extLst>
              <a:ext uri="{FF2B5EF4-FFF2-40B4-BE49-F238E27FC236}">
                <a16:creationId xmlns:a16="http://schemas.microsoft.com/office/drawing/2014/main" id="{F7660A3D-94D7-4E5D-AE77-F2DEE49DF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42900"/>
            <a:ext cx="2777490" cy="7124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A44EB985-DC5C-4DAC-9D62-8DC7D0F25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340232"/>
            <a:ext cx="2777490" cy="7391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3FCB64ED-B050-4F57-8188-F2332600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495E99FA-492C-4C5E-9893-0F326B1B6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214" y="460805"/>
            <a:ext cx="8482004" cy="89197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 useBgFill="1">
        <p:nvSpPr>
          <p:cNvPr id="141" name="Rectangle 140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935" y="364258"/>
            <a:ext cx="3131058" cy="44165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Google Shape;127;p22"/>
          <p:cNvSpPr txBox="1">
            <a:spLocks noGrp="1"/>
          </p:cNvSpPr>
          <p:nvPr>
            <p:ph type="ctrTitle"/>
          </p:nvPr>
        </p:nvSpPr>
        <p:spPr>
          <a:xfrm>
            <a:off x="719367" y="835323"/>
            <a:ext cx="2452312" cy="346824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</a:pPr>
            <a:r>
              <a:rPr lang="en-US" sz="2200">
                <a:solidFill>
                  <a:srgbClr val="FFFFFF"/>
                </a:solidFill>
              </a:rPr>
              <a:t>Introducción a los ciclos en Visual Basic .NET</a:t>
            </a:r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3866928" y="835323"/>
            <a:ext cx="4581135" cy="346824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>
                <a:solidFill>
                  <a:schemeClr val="tx2"/>
                </a:solidFill>
              </a:rPr>
              <a:t>En esta presentación, cubriremos cuatro tipos de bucles en Visual Basic .NET:</a:t>
            </a:r>
          </a:p>
          <a:p>
            <a:pPr marL="457200" lvl="0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>
                <a:solidFill>
                  <a:schemeClr val="tx2"/>
                </a:solidFill>
              </a:rPr>
              <a:t>FOR... NEXT</a:t>
            </a:r>
          </a:p>
          <a:p>
            <a:pPr marL="457200" lvl="0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>
                <a:solidFill>
                  <a:schemeClr val="tx2"/>
                </a:solidFill>
              </a:rPr>
              <a:t>DO... LOOP</a:t>
            </a:r>
          </a:p>
          <a:p>
            <a:pPr marL="457200" lvl="0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>
                <a:solidFill>
                  <a:schemeClr val="tx2"/>
                </a:solidFill>
              </a:rPr>
              <a:t>WHILE... END WHILE</a:t>
            </a:r>
          </a:p>
          <a:p>
            <a:pPr marL="457200" lvl="0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>
                <a:solidFill>
                  <a:schemeClr val="tx2"/>
                </a:solidFill>
              </a:rPr>
              <a:t>FOR EACH bucle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38">
            <a:extLst>
              <a:ext uri="{FF2B5EF4-FFF2-40B4-BE49-F238E27FC236}">
                <a16:creationId xmlns:a16="http://schemas.microsoft.com/office/drawing/2014/main" id="{F7660A3D-94D7-4E5D-AE77-F2DEE49DF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42900"/>
            <a:ext cx="2777490" cy="7124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A44EB985-DC5C-4DAC-9D62-8DC7D0F25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340232"/>
            <a:ext cx="2777490" cy="7391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3FCB64ED-B050-4F57-8188-F2332600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495E99FA-492C-4C5E-9893-0F326B1B6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214" y="460805"/>
            <a:ext cx="8482004" cy="89197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1A59258C-AAC2-41CD-973C-7439B122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54516B72-0116-42B2-82A2-B11218A3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84892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Google Shape;133;p23"/>
          <p:cNvSpPr txBox="1">
            <a:spLocks noGrp="1"/>
          </p:cNvSpPr>
          <p:nvPr>
            <p:ph type="ctrTitle"/>
          </p:nvPr>
        </p:nvSpPr>
        <p:spPr>
          <a:xfrm>
            <a:off x="482601" y="775041"/>
            <a:ext cx="3619692" cy="3619057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</a:pPr>
            <a:r>
              <a:rPr lang="en-US" sz="4100">
                <a:solidFill>
                  <a:srgbClr val="FFFFFF"/>
                </a:solidFill>
              </a:rPr>
              <a:t>Descripción general de los tipos de bucles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7CDB507F-21B7-4C27-B0FC-D9C465C6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934" y="345651"/>
            <a:ext cx="3621024" cy="837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7AB1AE17-B7A3-4363-95CD-25441E2FF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7080" y="345651"/>
            <a:ext cx="3621024" cy="837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134" name="Google Shape;134;p23"/>
          <p:cNvSpPr txBox="1">
            <a:spLocks noGrp="1"/>
          </p:cNvSpPr>
          <p:nvPr>
            <p:ph type="body" idx="1"/>
          </p:nvPr>
        </p:nvSpPr>
        <p:spPr>
          <a:xfrm>
            <a:off x="5066826" y="775042"/>
            <a:ext cx="3641278" cy="3619057"/>
          </a:xfrm>
          <a:prstGeom prst="rect">
            <a:avLst/>
          </a:prstGeom>
          <a:ln w="57150">
            <a:noFill/>
          </a:ln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500">
                <a:solidFill>
                  <a:schemeClr val="accent2">
                    <a:lumMod val="50000"/>
                  </a:schemeClr>
                </a:solidFill>
              </a:rPr>
              <a:t>Breve introducción a los tipos de bucles:</a:t>
            </a:r>
          </a:p>
          <a:p>
            <a:pPr marL="457200" lvl="0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500">
                <a:solidFill>
                  <a:schemeClr val="accent2">
                    <a:lumMod val="50000"/>
                  </a:schemeClr>
                </a:solidFill>
              </a:rPr>
              <a:t>For... Next: itera un número especificado de veces.</a:t>
            </a:r>
          </a:p>
          <a:p>
            <a:pPr marL="457200" lvl="0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500">
                <a:solidFill>
                  <a:schemeClr val="accent2">
                    <a:lumMod val="50000"/>
                  </a:schemeClr>
                </a:solidFill>
              </a:rPr>
              <a:t>Do... Loop: Repite un bloque de código mientras una condición es verdadera o hasta que una condición se convierte en verdadera.</a:t>
            </a:r>
          </a:p>
          <a:p>
            <a:pPr marL="457200" lvl="0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500">
                <a:solidFill>
                  <a:schemeClr val="accent2">
                    <a:lumMod val="50000"/>
                  </a:schemeClr>
                </a:solidFill>
              </a:rPr>
              <a:t>While... End While: Continúa ejecutándose mientras se cumpla una condición.</a:t>
            </a:r>
          </a:p>
          <a:p>
            <a:pPr marL="457200" lvl="0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500">
                <a:solidFill>
                  <a:schemeClr val="accent2">
                    <a:lumMod val="50000"/>
                  </a:schemeClr>
                </a:solidFill>
              </a:rPr>
              <a:t>For Each: recorre en iteración cada elemento de una colección o matriz.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144">
            <a:extLst>
              <a:ext uri="{FF2B5EF4-FFF2-40B4-BE49-F238E27FC236}">
                <a16:creationId xmlns:a16="http://schemas.microsoft.com/office/drawing/2014/main" id="{F7660A3D-94D7-4E5D-AE77-F2DEE49DF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42900"/>
            <a:ext cx="2777490" cy="7124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A44EB985-DC5C-4DAC-9D62-8DC7D0F25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340232"/>
            <a:ext cx="2777490" cy="7391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3FCB64ED-B050-4F57-8188-F2332600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495E99FA-492C-4C5E-9893-0F326B1B6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214" y="460805"/>
            <a:ext cx="8482004" cy="89197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 useBgFill="1">
        <p:nvSpPr>
          <p:cNvPr id="153" name="Rectangle 152">
            <a:extLst>
              <a:ext uri="{FF2B5EF4-FFF2-40B4-BE49-F238E27FC236}">
                <a16:creationId xmlns:a16="http://schemas.microsoft.com/office/drawing/2014/main" id="{E2B7D02C-F642-492B-8E97-FDE1C0FDA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Google Shape;139;p24"/>
          <p:cNvSpPr txBox="1">
            <a:spLocks noGrp="1"/>
          </p:cNvSpPr>
          <p:nvPr>
            <p:ph type="ctrTitle"/>
          </p:nvPr>
        </p:nvSpPr>
        <p:spPr>
          <a:xfrm>
            <a:off x="435894" y="1130560"/>
            <a:ext cx="3840191" cy="2927499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</a:pPr>
            <a:r>
              <a:rPr lang="en-US" sz="3000">
                <a:solidFill>
                  <a:schemeClr val="accent2"/>
                </a:solidFill>
              </a:rPr>
              <a:t>For... Next: Sintaxis y estructura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A2D0BA34-24BC-4C63-945A-90AA854E1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40231"/>
            <a:ext cx="8474200" cy="384531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140" name="Google Shape;140;p24"/>
          <p:cNvSpPr txBox="1">
            <a:spLocks noGrp="1"/>
          </p:cNvSpPr>
          <p:nvPr>
            <p:ph type="body" idx="1"/>
          </p:nvPr>
        </p:nvSpPr>
        <p:spPr>
          <a:xfrm>
            <a:off x="4800600" y="1130561"/>
            <a:ext cx="3907505" cy="2927498"/>
          </a:xfrm>
          <a:prstGeom prst="rect">
            <a:avLst/>
          </a:prstGeom>
          <a:ln w="57150">
            <a:noFill/>
          </a:ln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500">
                <a:solidFill>
                  <a:schemeClr val="tx2"/>
                </a:solidFill>
              </a:rPr>
              <a:t>Sintaxis básica: Estructura:</a:t>
            </a:r>
          </a:p>
          <a:p>
            <a:pPr marL="457200" lvl="0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500">
                <a:solidFill>
                  <a:schemeClr val="tx2"/>
                </a:solidFill>
              </a:rPr>
              <a:t>counter: Variable que controla el bucle.</a:t>
            </a:r>
          </a:p>
          <a:p>
            <a:pPr marL="457200" lvl="0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500">
                <a:solidFill>
                  <a:schemeClr val="tx2"/>
                </a:solidFill>
              </a:rPr>
              <a:t>start: Valor inicial del contador.</a:t>
            </a:r>
          </a:p>
          <a:p>
            <a:pPr marL="457200" lvl="0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500">
                <a:solidFill>
                  <a:schemeClr val="tx2"/>
                </a:solidFill>
              </a:rPr>
              <a:t>end: Valor final del contador.</a:t>
            </a:r>
          </a:p>
          <a:p>
            <a:pPr marL="0" lvl="0" indent="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500">
                <a:solidFill>
                  <a:schemeClr val="tx2"/>
                </a:solidFill>
              </a:rPr>
              <a:t>step: (Opcional) Valor incremental en el que se incrementa el contador.</a:t>
            </a:r>
          </a:p>
          <a:p>
            <a:pPr marL="0" lvl="0" indent="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500">
                <a:solidFill>
                  <a:schemeClr val="tx2"/>
                </a:solidFill>
              </a:rPr>
              <a:t>Ejemplo sencillo: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0647415D-11C2-4BA0-A3EE-E0DA219B3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408514"/>
            <a:ext cx="8474200" cy="384531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50">
            <a:extLst>
              <a:ext uri="{FF2B5EF4-FFF2-40B4-BE49-F238E27FC236}">
                <a16:creationId xmlns:a16="http://schemas.microsoft.com/office/drawing/2014/main" id="{F7660A3D-94D7-4E5D-AE77-F2DEE49DF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42900"/>
            <a:ext cx="2777490" cy="7124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A44EB985-DC5C-4DAC-9D62-8DC7D0F25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340232"/>
            <a:ext cx="2777490" cy="7391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3FCB64ED-B050-4F57-8188-F2332600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495E99FA-492C-4C5E-9893-0F326B1B6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214" y="460805"/>
            <a:ext cx="8482004" cy="89197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 useBgFill="1">
        <p:nvSpPr>
          <p:cNvPr id="159" name="Rectangle 158">
            <a:extLst>
              <a:ext uri="{FF2B5EF4-FFF2-40B4-BE49-F238E27FC236}">
                <a16:creationId xmlns:a16="http://schemas.microsoft.com/office/drawing/2014/main" id="{E2B7D02C-F642-492B-8E97-FDE1C0FDA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Google Shape;145;p25"/>
          <p:cNvSpPr txBox="1">
            <a:spLocks noGrp="1"/>
          </p:cNvSpPr>
          <p:nvPr>
            <p:ph type="ctrTitle"/>
          </p:nvPr>
        </p:nvSpPr>
        <p:spPr>
          <a:xfrm>
            <a:off x="435894" y="1130560"/>
            <a:ext cx="3840191" cy="2927499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</a:pPr>
            <a:r>
              <a:rPr lang="en-US" sz="3000">
                <a:solidFill>
                  <a:schemeClr val="accent2"/>
                </a:solidFill>
              </a:rPr>
              <a:t>While.. End While: Sintaxis y estructura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A2D0BA34-24BC-4C63-945A-90AA854E1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40231"/>
            <a:ext cx="8474200" cy="384531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146" name="Google Shape;146;p25"/>
          <p:cNvSpPr txBox="1">
            <a:spLocks noGrp="1"/>
          </p:cNvSpPr>
          <p:nvPr>
            <p:ph type="body" idx="1"/>
          </p:nvPr>
        </p:nvSpPr>
        <p:spPr>
          <a:xfrm>
            <a:off x="4800600" y="1130561"/>
            <a:ext cx="3907505" cy="2927498"/>
          </a:xfrm>
          <a:prstGeom prst="rect">
            <a:avLst/>
          </a:prstGeom>
          <a:ln w="57150">
            <a:noFill/>
          </a:ln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500">
                <a:solidFill>
                  <a:schemeClr val="tx2"/>
                </a:solidFill>
              </a:rPr>
              <a:t>Sintaxis básica: Estructura:</a:t>
            </a:r>
          </a:p>
          <a:p>
            <a:pPr marL="0" lvl="0" indent="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500">
                <a:solidFill>
                  <a:schemeClr val="tx2"/>
                </a:solidFill>
              </a:rPr>
              <a:t>condition: El bucle continúa mientras se cumpla esta condición.</a:t>
            </a:r>
          </a:p>
          <a:p>
            <a:pPr marL="0" lvl="0" indent="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500">
                <a:solidFill>
                  <a:schemeClr val="tx2"/>
                </a:solidFill>
              </a:rPr>
              <a:t>Diferencia de Do... Loop: - While... End While comprueba la condición antes de ejecutar el cuerpo del bucle. -Do... Loop puede comprobar la condición antes o después del cuerpo del bucle. Ejemplo de sintaxis: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0647415D-11C2-4BA0-A3EE-E0DA219B3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408514"/>
            <a:ext cx="8474200" cy="384531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56">
            <a:extLst>
              <a:ext uri="{FF2B5EF4-FFF2-40B4-BE49-F238E27FC236}">
                <a16:creationId xmlns:a16="http://schemas.microsoft.com/office/drawing/2014/main" id="{F7660A3D-94D7-4E5D-AE77-F2DEE49DF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42900"/>
            <a:ext cx="2777490" cy="7124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A44EB985-DC5C-4DAC-9D62-8DC7D0F25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340232"/>
            <a:ext cx="2777490" cy="7391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FCB64ED-B050-4F57-8188-F2332600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495E99FA-492C-4C5E-9893-0F326B1B6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214" y="460805"/>
            <a:ext cx="8482004" cy="89197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 useBgFill="1">
        <p:nvSpPr>
          <p:cNvPr id="165" name="Rectangle 164">
            <a:extLst>
              <a:ext uri="{FF2B5EF4-FFF2-40B4-BE49-F238E27FC236}">
                <a16:creationId xmlns:a16="http://schemas.microsoft.com/office/drawing/2014/main" id="{E2B7D02C-F642-492B-8E97-FDE1C0FDA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Google Shape;151;p26"/>
          <p:cNvSpPr txBox="1">
            <a:spLocks noGrp="1"/>
          </p:cNvSpPr>
          <p:nvPr>
            <p:ph type="ctrTitle"/>
          </p:nvPr>
        </p:nvSpPr>
        <p:spPr>
          <a:xfrm>
            <a:off x="435894" y="1130560"/>
            <a:ext cx="3840191" cy="2927499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</a:pPr>
            <a:r>
              <a:rPr lang="en-US" sz="3000" dirty="0">
                <a:solidFill>
                  <a:schemeClr val="accent2"/>
                </a:solidFill>
              </a:rPr>
              <a:t>For Each </a:t>
            </a:r>
            <a:r>
              <a:rPr lang="en-US" sz="3000" dirty="0" err="1">
                <a:solidFill>
                  <a:schemeClr val="accent2"/>
                </a:solidFill>
              </a:rPr>
              <a:t>bucle</a:t>
            </a:r>
            <a:r>
              <a:rPr lang="en-US" sz="3000" dirty="0">
                <a:solidFill>
                  <a:schemeClr val="accent2"/>
                </a:solidFill>
              </a:rPr>
              <a:t>: </a:t>
            </a:r>
            <a:r>
              <a:rPr lang="en-US" sz="3000" dirty="0" err="1">
                <a:solidFill>
                  <a:schemeClr val="accent2"/>
                </a:solidFill>
              </a:rPr>
              <a:t>sintaxis</a:t>
            </a:r>
            <a:r>
              <a:rPr lang="en-US" sz="3000" dirty="0">
                <a:solidFill>
                  <a:schemeClr val="accent2"/>
                </a:solidFill>
              </a:rPr>
              <a:t> y </a:t>
            </a:r>
            <a:r>
              <a:rPr lang="en-US" sz="3000" dirty="0" err="1">
                <a:solidFill>
                  <a:schemeClr val="accent2"/>
                </a:solidFill>
              </a:rPr>
              <a:t>estructura</a:t>
            </a:r>
            <a:endParaRPr lang="en-US" sz="3000" dirty="0">
              <a:solidFill>
                <a:schemeClr val="accent2"/>
              </a:solidFill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A2D0BA34-24BC-4C63-945A-90AA854E1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40231"/>
            <a:ext cx="8474200" cy="384531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152" name="Google Shape;152;p26"/>
          <p:cNvSpPr txBox="1">
            <a:spLocks noGrp="1"/>
          </p:cNvSpPr>
          <p:nvPr>
            <p:ph type="body" idx="1"/>
          </p:nvPr>
        </p:nvSpPr>
        <p:spPr>
          <a:xfrm>
            <a:off x="4800600" y="1130561"/>
            <a:ext cx="3907505" cy="2927498"/>
          </a:xfrm>
          <a:prstGeom prst="rect">
            <a:avLst/>
          </a:prstGeom>
          <a:ln w="57150">
            <a:noFill/>
          </a:ln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500">
                <a:solidFill>
                  <a:schemeClr val="tx2"/>
                </a:solidFill>
              </a:rPr>
              <a:t>Explicación detallada: El bucle For Each recorre en iteración cada elemento de una colección o matriz.</a:t>
            </a:r>
          </a:p>
          <a:p>
            <a:pPr marL="457200" lvl="0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500">
                <a:solidFill>
                  <a:schemeClr val="tx2"/>
                </a:solidFill>
              </a:rPr>
              <a:t>element: Variable que representa el elemento actual de la colección.</a:t>
            </a:r>
          </a:p>
          <a:p>
            <a:pPr marL="0" lvl="0" indent="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500">
                <a:solidFill>
                  <a:schemeClr val="tx2"/>
                </a:solidFill>
              </a:rPr>
              <a:t>collection: La colección o matriz por la que se va a iterar.</a:t>
            </a:r>
          </a:p>
          <a:p>
            <a:pPr marL="0" lvl="0" indent="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500">
                <a:solidFill>
                  <a:schemeClr val="tx2"/>
                </a:solidFill>
              </a:rPr>
              <a:t>Ejemplo de sintaxis: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0647415D-11C2-4BA0-A3EE-E0DA219B3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408514"/>
            <a:ext cx="8474200" cy="384531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Comparación de bucles: cuándo usar cada tipo</a:t>
            </a:r>
            <a:endParaRPr/>
          </a:p>
        </p:txBody>
      </p:sp>
      <p:sp>
        <p:nvSpPr>
          <p:cNvPr id="158" name="Google Shape;158;p2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For...Next</a:t>
            </a:r>
            <a:endParaRPr/>
          </a:p>
        </p:txBody>
      </p:sp>
      <p:sp>
        <p:nvSpPr>
          <p:cNvPr id="159" name="Google Shape;159;p27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Adecuado para un número conocido de iteraciones. Ejemplo: Iteración a través de los números del 1 al 10.</a:t>
            </a:r>
            <a:endParaRPr/>
          </a:p>
        </p:txBody>
      </p:sp>
      <p:sp>
        <p:nvSpPr>
          <p:cNvPr id="160" name="Google Shape;160;p27"/>
          <p:cNvSpPr txBox="1">
            <a:spLocks noGrp="1"/>
          </p:cNvSpPr>
          <p:nvPr>
            <p:ph type="subTitle" idx="3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Do... Loop</a:t>
            </a:r>
            <a:endParaRPr/>
          </a:p>
        </p:txBody>
      </p:sp>
      <p:sp>
        <p:nvSpPr>
          <p:cNvPr id="161" name="Google Shape;161;p27"/>
          <p:cNvSpPr txBox="1">
            <a:spLocks noGrp="1"/>
          </p:cNvSpPr>
          <p:nvPr>
            <p:ph type="body" idx="4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Flexible con comprobación de estado. Ejemplo: Ejecutar un bucle hasta que un usuario introduzca una entrada específica.</a:t>
            </a:r>
            <a:endParaRPr/>
          </a:p>
        </p:txBody>
      </p:sp>
      <p:sp>
        <p:nvSpPr>
          <p:cNvPr id="162" name="Google Shape;162;p27"/>
          <p:cNvSpPr txBox="1">
            <a:spLocks noGrp="1"/>
          </p:cNvSpPr>
          <p:nvPr>
            <p:ph type="subTitle" idx="5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While... End While</a:t>
            </a:r>
            <a:endParaRPr/>
          </a:p>
        </p:txBody>
      </p:sp>
      <p:sp>
        <p:nvSpPr>
          <p:cNvPr id="163" name="Google Shape;163;p27"/>
          <p:cNvSpPr txBox="1">
            <a:spLocks noGrp="1"/>
          </p:cNvSpPr>
          <p:nvPr>
            <p:ph type="body" idx="6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Ideal para bucles con comprobaciones de pre-condición. Ejemplo: Procesamiento de la entrada del usuario hasta que se cumpla una condición.</a:t>
            </a:r>
            <a:endParaRPr/>
          </a:p>
        </p:txBody>
      </p:sp>
      <p:pic>
        <p:nvPicPr>
          <p:cNvPr id="164" name="Google Shape;164;p27"/>
          <p:cNvPicPr preferRelativeResize="0">
            <a:picLocks noGrp="1"/>
          </p:cNvPicPr>
          <p:nvPr>
            <p:ph type="pic" idx="7"/>
          </p:nvPr>
        </p:nvPicPr>
        <p:blipFill>
          <a:blip r:embed="rId3">
            <a:alphaModFix/>
          </a:blip>
          <a:srcRect l="6718" r="6718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165" name="Google Shape;165;p27"/>
          <p:cNvPicPr preferRelativeResize="0">
            <a:picLocks noGrp="1"/>
          </p:cNvPicPr>
          <p:nvPr>
            <p:ph type="pic" idx="8"/>
          </p:nvPr>
        </p:nvPicPr>
        <p:blipFill>
          <a:blip r:embed="rId4">
            <a:alphaModFix/>
          </a:blip>
          <a:srcRect l="1371" r="1371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166" name="Google Shape;166;p27"/>
          <p:cNvPicPr preferRelativeResize="0">
            <a:picLocks noGrp="1"/>
          </p:cNvPicPr>
          <p:nvPr>
            <p:ph type="pic" idx="9"/>
          </p:nvPr>
        </p:nvPicPr>
        <p:blipFill>
          <a:blip r:embed="rId5">
            <a:alphaModFix/>
          </a:blip>
          <a:srcRect l="1257" r="1257"/>
          <a:stretch>
            <a:fillRect/>
          </a:stretch>
        </p:blipFill>
        <p:spPr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177">
            <a:extLst>
              <a:ext uri="{FF2B5EF4-FFF2-40B4-BE49-F238E27FC236}">
                <a16:creationId xmlns:a16="http://schemas.microsoft.com/office/drawing/2014/main" id="{A078A52F-85EA-4C0B-962B-D9D9DD4DD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42900"/>
            <a:ext cx="2777490" cy="7124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919797D5-5700-4683-B30A-5B4D56CB8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340232"/>
            <a:ext cx="2777490" cy="7391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4856A7B9-9801-42EC-A4C9-7E22A56EF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A8D10092-A860-4EFB-963F-A14DA3648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214" y="460805"/>
            <a:ext cx="8482004" cy="89197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 useBgFill="1">
        <p:nvSpPr>
          <p:cNvPr id="186" name="Rectangle 185">
            <a:extLst>
              <a:ext uri="{FF2B5EF4-FFF2-40B4-BE49-F238E27FC236}">
                <a16:creationId xmlns:a16="http://schemas.microsoft.com/office/drawing/2014/main" id="{325A0672-A00B-4963-A6A1-170BBE229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Google Shape;171;p28"/>
          <p:cNvSpPr txBox="1">
            <a:spLocks noGrp="1"/>
          </p:cNvSpPr>
          <p:nvPr>
            <p:ph type="ctrTitle"/>
          </p:nvPr>
        </p:nvSpPr>
        <p:spPr>
          <a:xfrm>
            <a:off x="435894" y="526617"/>
            <a:ext cx="5418806" cy="76035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defTabSz="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sz="2400">
                <a:solidFill>
                  <a:schemeClr val="accent1"/>
                </a:solidFill>
              </a:rPr>
              <a:t>Conceptos avanzados de bucle</a:t>
            </a:r>
          </a:p>
        </p:txBody>
      </p: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E8923A14-6C7A-45FB-A5F1-2D2767025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4900" y="340232"/>
            <a:ext cx="8474200" cy="73915"/>
            <a:chOff x="446534" y="453643"/>
            <a:chExt cx="11298933" cy="98554"/>
          </a:xfrm>
        </p:grpSpPr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227738C0-CF5C-4616-B33E-C988DE11BE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GT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784B4E1F-1F78-4844-B851-9410BA477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GT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4B4AE0E5-28A2-4386-BC9B-71ABF5238A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GT"/>
            </a:p>
          </p:txBody>
        </p:sp>
      </p:grpSp>
      <p:sp>
        <p:nvSpPr>
          <p:cNvPr id="172" name="Google Shape;172;p28"/>
          <p:cNvSpPr txBox="1">
            <a:spLocks noGrp="1"/>
          </p:cNvSpPr>
          <p:nvPr>
            <p:ph type="body" idx="1"/>
          </p:nvPr>
        </p:nvSpPr>
        <p:spPr>
          <a:xfrm>
            <a:off x="435895" y="1422399"/>
            <a:ext cx="5418806" cy="297170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>
                <a:solidFill>
                  <a:schemeClr val="tx2"/>
                </a:solidFill>
              </a:rPr>
              <a:t>Bucles anidados: Bucles dentro de bucles utilizados para tareas más complejas.</a:t>
            </a:r>
          </a:p>
          <a:p>
            <a:pPr marL="457200" lvl="0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>
                <a:solidFill>
                  <a:schemeClr val="tx2"/>
                </a:solidFill>
              </a:rPr>
              <a:t>Ejemplo: Crear una tabla de multiplicar.</a:t>
            </a:r>
          </a:p>
          <a:p>
            <a:pPr marL="457200" lvl="0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>
                <a:solidFill>
                  <a:schemeClr val="tx2"/>
                </a:solidFill>
              </a:rPr>
              <a:t>Aplicaciones: Procesamiento de matrices multidimensionales.</a:t>
            </a:r>
          </a:p>
          <a:p>
            <a:pPr marL="0" lvl="0" indent="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>
                <a:solidFill>
                  <a:schemeClr val="tx2"/>
                </a:solidFill>
              </a:rPr>
              <a:t>Realizar tareas repetitivas dentro de tareas repetitivas.</a:t>
            </a:r>
          </a:p>
        </p:txBody>
      </p:sp>
      <p:pic>
        <p:nvPicPr>
          <p:cNvPr id="173" name="Google Shape;173;p2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/>
          <a:srcRect l="2103" r="34094" b="-4"/>
          <a:stretch/>
        </p:blipFill>
        <p:spPr>
          <a:xfrm>
            <a:off x="6031610" y="450056"/>
            <a:ext cx="2771871" cy="43445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 184">
            <a:extLst>
              <a:ext uri="{FF2B5EF4-FFF2-40B4-BE49-F238E27FC236}">
                <a16:creationId xmlns:a16="http://schemas.microsoft.com/office/drawing/2014/main" id="{A078A52F-85EA-4C0B-962B-D9D9DD4DD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42900"/>
            <a:ext cx="2777490" cy="7124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919797D5-5700-4683-B30A-5B4D56CB8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340232"/>
            <a:ext cx="2777490" cy="7391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4856A7B9-9801-42EC-A4C9-7E22A56EF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A8D10092-A860-4EFB-963F-A14DA3648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214" y="460805"/>
            <a:ext cx="8482004" cy="89197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 useBgFill="1">
        <p:nvSpPr>
          <p:cNvPr id="193" name="Rectangle 192">
            <a:extLst>
              <a:ext uri="{FF2B5EF4-FFF2-40B4-BE49-F238E27FC236}">
                <a16:creationId xmlns:a16="http://schemas.microsoft.com/office/drawing/2014/main" id="{325A0672-A00B-4963-A6A1-170BBE229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Google Shape;178;p29"/>
          <p:cNvSpPr txBox="1">
            <a:spLocks noGrp="1"/>
          </p:cNvSpPr>
          <p:nvPr>
            <p:ph type="ctrTitle"/>
          </p:nvPr>
        </p:nvSpPr>
        <p:spPr>
          <a:xfrm>
            <a:off x="435894" y="526617"/>
            <a:ext cx="5418806" cy="76035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defTabSz="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sz="2400">
                <a:solidFill>
                  <a:schemeClr val="accent1"/>
                </a:solidFill>
              </a:rPr>
              <a:t>Depuración de errores de bucle comunes</a:t>
            </a: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E8923A14-6C7A-45FB-A5F1-2D2767025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4900" y="340232"/>
            <a:ext cx="8474200" cy="73915"/>
            <a:chOff x="446534" y="453643"/>
            <a:chExt cx="11298933" cy="98554"/>
          </a:xfrm>
        </p:grpSpPr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227738C0-CF5C-4616-B33E-C988DE11BE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GT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784B4E1F-1F78-4844-B851-9410BA477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GT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4B4AE0E5-28A2-4386-BC9B-71ABF5238A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GT"/>
            </a:p>
          </p:txBody>
        </p:sp>
      </p:grpSp>
      <p:sp>
        <p:nvSpPr>
          <p:cNvPr id="179" name="Google Shape;179;p29"/>
          <p:cNvSpPr txBox="1">
            <a:spLocks noGrp="1"/>
          </p:cNvSpPr>
          <p:nvPr>
            <p:ph type="body" idx="1"/>
          </p:nvPr>
        </p:nvSpPr>
        <p:spPr>
          <a:xfrm>
            <a:off x="435895" y="1422399"/>
            <a:ext cx="5418806" cy="297170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200">
                <a:solidFill>
                  <a:schemeClr val="tx2"/>
                </a:solidFill>
              </a:rPr>
              <a:t>Errores comunes:</a:t>
            </a:r>
          </a:p>
          <a:p>
            <a:pPr marL="457200" lvl="0" indent="-300037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200">
                <a:solidFill>
                  <a:schemeClr val="tx2"/>
                </a:solidFill>
              </a:rPr>
              <a:t>Bucles infinitos debido a condiciones de salida incorrectas.</a:t>
            </a:r>
          </a:p>
          <a:p>
            <a:pPr marL="457200" lvl="0" indent="-300037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200">
                <a:solidFill>
                  <a:schemeClr val="tx2"/>
                </a:solidFill>
              </a:rPr>
              <a:t>Errores fuera de uno en los contadores de bucles.</a:t>
            </a:r>
          </a:p>
          <a:p>
            <a:pPr marL="0" lvl="0" indent="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200">
                <a:solidFill>
                  <a:schemeClr val="tx2"/>
                </a:solidFill>
              </a:rPr>
              <a:t>Límites de bucle incorrectos.</a:t>
            </a:r>
          </a:p>
          <a:p>
            <a:pPr marL="0" lvl="0" indent="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200">
                <a:solidFill>
                  <a:schemeClr val="tx2"/>
                </a:solidFill>
              </a:rPr>
              <a:t>Consejos para la depuración:</a:t>
            </a:r>
          </a:p>
          <a:p>
            <a:pPr marL="0" lvl="0" indent="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200">
                <a:solidFill>
                  <a:schemeClr val="tx2"/>
                </a:solidFill>
              </a:rPr>
              <a:t>Utilice puntos de interrupción para inspeccionar la ejecución del bucle.</a:t>
            </a:r>
          </a:p>
          <a:p>
            <a:pPr marL="0" lvl="0" indent="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200">
                <a:solidFill>
                  <a:schemeClr val="tx2"/>
                </a:solidFill>
              </a:rPr>
              <a:t>Imprima las variables de bucle en la consola para su supervisión.</a:t>
            </a:r>
          </a:p>
          <a:p>
            <a:pPr marL="0" lvl="0" indent="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200">
                <a:solidFill>
                  <a:schemeClr val="tx2"/>
                </a:solidFill>
              </a:rPr>
              <a:t>Asegúrese de que las condiciones de salida estén correctamente definidas.</a:t>
            </a:r>
          </a:p>
          <a:p>
            <a:pPr marL="0" lvl="0" indent="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200">
                <a:solidFill>
                  <a:schemeClr val="tx2"/>
                </a:solidFill>
              </a:rPr>
              <a:t>Ejemplo: For i As Integer = 1 To 5 Console.WriteLine(i) Next i</a:t>
            </a:r>
          </a:p>
          <a:p>
            <a:pPr marL="0" lvl="0" indent="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200">
                <a:solidFill>
                  <a:schemeClr val="tx2"/>
                </a:solidFill>
              </a:rPr>
              <a:t>Asegúrese de que i comience y termine en los valores correctos.</a:t>
            </a:r>
          </a:p>
        </p:txBody>
      </p:sp>
      <p:pic>
        <p:nvPicPr>
          <p:cNvPr id="180" name="Google Shape;180;p29"/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 l="23019" r="40934" b="1"/>
          <a:stretch/>
        </p:blipFill>
        <p:spPr>
          <a:xfrm>
            <a:off x="6031610" y="450056"/>
            <a:ext cx="2771871" cy="43445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ctangle 190">
            <a:extLst>
              <a:ext uri="{FF2B5EF4-FFF2-40B4-BE49-F238E27FC236}">
                <a16:creationId xmlns:a16="http://schemas.microsoft.com/office/drawing/2014/main" id="{F7660A3D-94D7-4E5D-AE77-F2DEE49DF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42900"/>
            <a:ext cx="2777490" cy="7124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A44EB985-DC5C-4DAC-9D62-8DC7D0F25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340232"/>
            <a:ext cx="2777490" cy="7391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3FCB64ED-B050-4F57-8188-F2332600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95E99FA-492C-4C5E-9893-0F326B1B6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214" y="460805"/>
            <a:ext cx="8482004" cy="89197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 useBgFill="1">
        <p:nvSpPr>
          <p:cNvPr id="199" name="Rectangle 198">
            <a:extLst>
              <a:ext uri="{FF2B5EF4-FFF2-40B4-BE49-F238E27FC236}">
                <a16:creationId xmlns:a16="http://schemas.microsoft.com/office/drawing/2014/main" id="{E2B7D02C-F642-492B-8E97-FDE1C0FDA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Google Shape;185;p30"/>
          <p:cNvSpPr txBox="1">
            <a:spLocks noGrp="1"/>
          </p:cNvSpPr>
          <p:nvPr>
            <p:ph type="ctrTitle"/>
          </p:nvPr>
        </p:nvSpPr>
        <p:spPr>
          <a:xfrm>
            <a:off x="435894" y="1130560"/>
            <a:ext cx="3840191" cy="2927499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</a:pPr>
            <a:r>
              <a:rPr lang="en-US" sz="3000">
                <a:solidFill>
                  <a:schemeClr val="accent2"/>
                </a:solidFill>
              </a:rPr>
              <a:t>Preguntas, respuestas y discusión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A2D0BA34-24BC-4C63-945A-90AA854E1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40231"/>
            <a:ext cx="8474200" cy="384531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186" name="Google Shape;186;p30"/>
          <p:cNvSpPr txBox="1">
            <a:spLocks noGrp="1"/>
          </p:cNvSpPr>
          <p:nvPr>
            <p:ph type="body" idx="1"/>
          </p:nvPr>
        </p:nvSpPr>
        <p:spPr>
          <a:xfrm>
            <a:off x="4800600" y="1130561"/>
            <a:ext cx="3907505" cy="2927498"/>
          </a:xfrm>
          <a:prstGeom prst="rect">
            <a:avLst/>
          </a:prstGeom>
          <a:ln w="57150">
            <a:noFill/>
          </a:ln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SzPct val="92000"/>
              <a:buFont typeface="Wingdings 2" panose="05020102010507070707" pitchFamily="18" charset="2"/>
              <a:buChar char=""/>
            </a:pPr>
            <a:r>
              <a:rPr lang="en-US" sz="1200"/>
              <a:t>Discusión abierta:</a:t>
            </a:r>
          </a:p>
          <a:p>
            <a:pPr marL="457200" lvl="0" indent="-34290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SzPct val="92000"/>
              <a:buFont typeface="Wingdings 2" panose="05020102010507070707" pitchFamily="18" charset="2"/>
              <a:buChar char=""/>
            </a:pPr>
            <a:r>
              <a:rPr lang="en-US" sz="1200"/>
              <a:t>Preguntas sobre los bucles y sus aplicaciones prácticas.</a:t>
            </a:r>
          </a:p>
          <a:p>
            <a:pPr marL="457200" lvl="0" indent="-34290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SzPct val="92000"/>
              <a:buFont typeface="Wingdings 2" panose="05020102010507070707" pitchFamily="18" charset="2"/>
              <a:buChar char=""/>
            </a:pPr>
            <a:r>
              <a:rPr lang="en-US" sz="1200"/>
              <a:t>Compartir experiencias y desafíos enfrentados al usar bucles.</a:t>
            </a:r>
          </a:p>
          <a:p>
            <a:pPr marL="0" lvl="0" indent="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SzPct val="92000"/>
              <a:buFont typeface="Wingdings 2" panose="05020102010507070707" pitchFamily="18" charset="2"/>
              <a:buChar char=""/>
            </a:pPr>
            <a:r>
              <a:rPr lang="en-US" sz="1200"/>
              <a:t>Discutir conceptos de bucle avanzados y sus casos de uso en el mundo real.</a:t>
            </a:r>
          </a:p>
          <a:p>
            <a:pPr marL="0" lvl="0" indent="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SzPct val="92000"/>
              <a:buFont typeface="Wingdings 2" panose="05020102010507070707" pitchFamily="18" charset="2"/>
              <a:buChar char=""/>
            </a:pPr>
            <a:r>
              <a:rPr lang="en-US" sz="1200"/>
              <a:t>Fomento de la participación:</a:t>
            </a:r>
          </a:p>
          <a:p>
            <a:pPr marL="0" lvl="0" indent="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SzPct val="92000"/>
              <a:buFont typeface="Wingdings 2" panose="05020102010507070707" pitchFamily="18" charset="2"/>
              <a:buChar char=""/>
            </a:pPr>
            <a:r>
              <a:rPr lang="en-US" sz="1200"/>
              <a:t>Anime a los estudiantes a compartir sus fragmentos de código.</a:t>
            </a:r>
          </a:p>
          <a:p>
            <a:pPr marL="0" lvl="0" indent="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SzPct val="92000"/>
              <a:buFont typeface="Wingdings 2" panose="05020102010507070707" pitchFamily="18" charset="2"/>
              <a:buChar char=""/>
            </a:pPr>
            <a:r>
              <a:rPr lang="en-US" sz="1200"/>
              <a:t>Discutir la importancia de los bucles en los proyectos de programación.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647415D-11C2-4BA0-A3EE-E0DA219B3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408514"/>
            <a:ext cx="8474200" cy="384531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0</TotalTime>
  <Words>665</Words>
  <Application>Microsoft Office PowerPoint</Application>
  <PresentationFormat>On-screen Show (16:9)</PresentationFormat>
  <Paragraphs>69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Gill Sans MT</vt:lpstr>
      <vt:lpstr>Wingdings 2</vt:lpstr>
      <vt:lpstr>Hanken Grotesk</vt:lpstr>
      <vt:lpstr>Dividend</vt:lpstr>
      <vt:lpstr>CICLOS, VECTORES Y MATRICES</vt:lpstr>
      <vt:lpstr>¿Qué son los bucles?</vt:lpstr>
      <vt:lpstr>Introducción a los ciclos en Visual Basic .NET</vt:lpstr>
      <vt:lpstr>Descripción general de los tipos de bucles</vt:lpstr>
      <vt:lpstr>For... Next: Sintaxis y estructura</vt:lpstr>
      <vt:lpstr>While.. End While: Sintaxis y estructura</vt:lpstr>
      <vt:lpstr>For Each bucle: sintaxis y estructura</vt:lpstr>
      <vt:lpstr>Comparación de bucles: cuándo usar cada tipo</vt:lpstr>
      <vt:lpstr>Conceptos avanzados de bucle</vt:lpstr>
      <vt:lpstr>Depuración de errores de bucle comunes</vt:lpstr>
      <vt:lpstr>Preguntas, respuestas y discusión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Libni Pineda</dc:creator>
  <cp:lastModifiedBy>Libni Pineda</cp:lastModifiedBy>
  <cp:revision>1</cp:revision>
  <dcterms:modified xsi:type="dcterms:W3CDTF">2024-11-06T07:41:57Z</dcterms:modified>
</cp:coreProperties>
</file>