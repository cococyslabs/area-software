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</p:sldIdLst>
  <p:sldSz cx="18288000" cy="10287000"/>
  <p:notesSz cx="6858000" cy="9144000"/>
  <p:embeddedFontLst>
    <p:embeddedFont>
      <p:font typeface="Open Sauce Bold Italics" charset="1" panose="00000800000000000000"/>
      <p:regular r:id="rId32"/>
    </p:embeddedFont>
    <p:embeddedFont>
      <p:font typeface="League Spartan" charset="1" panose="00000800000000000000"/>
      <p:regular r:id="rId33"/>
    </p:embeddedFont>
    <p:embeddedFont>
      <p:font typeface="Canva Sans Bold" charset="1" panose="020B0803030501040103"/>
      <p:regular r:id="rId34"/>
    </p:embeddedFont>
    <p:embeddedFont>
      <p:font typeface="Canva Sans" charset="1" panose="020B0503030501040103"/>
      <p:regular r:id="rId35"/>
    </p:embeddedFont>
    <p:embeddedFont>
      <p:font typeface="Open Sauce" charset="1" panose="00000500000000000000"/>
      <p:regular r:id="rId36"/>
    </p:embeddedFont>
    <p:embeddedFont>
      <p:font typeface="Open Sauce Bold" charset="1" panose="00000800000000000000"/>
      <p:regular r:id="rId3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fonts/font32.fntdata" Type="http://schemas.openxmlformats.org/officeDocument/2006/relationships/font"/><Relationship Id="rId33" Target="fonts/font33.fntdata" Type="http://schemas.openxmlformats.org/officeDocument/2006/relationships/font"/><Relationship Id="rId34" Target="fonts/font34.fntdata" Type="http://schemas.openxmlformats.org/officeDocument/2006/relationships/font"/><Relationship Id="rId35" Target="fonts/font35.fntdata" Type="http://schemas.openxmlformats.org/officeDocument/2006/relationships/font"/><Relationship Id="rId36" Target="fonts/font36.fntdata" Type="http://schemas.openxmlformats.org/officeDocument/2006/relationships/font"/><Relationship Id="rId37" Target="fonts/font37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8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svg" Type="http://schemas.openxmlformats.org/officeDocument/2006/relationships/image"/><Relationship Id="rId4" Target="../media/image13.png" Type="http://schemas.openxmlformats.org/officeDocument/2006/relationships/image"/><Relationship Id="rId5" Target="../media/image14.svg" Type="http://schemas.openxmlformats.org/officeDocument/2006/relationships/image"/><Relationship Id="rId6" Target="../media/image1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Relationship Id="rId3" Target="../media/image17.svg" Type="http://schemas.openxmlformats.org/officeDocument/2006/relationships/image"/><Relationship Id="rId4" Target="../media/image18.png" Type="http://schemas.openxmlformats.org/officeDocument/2006/relationships/image"/><Relationship Id="rId5" Target="../media/image19.svg" Type="http://schemas.openxmlformats.org/officeDocument/2006/relationships/image"/><Relationship Id="rId6" Target="../media/image20.png" Type="http://schemas.openxmlformats.org/officeDocument/2006/relationships/image"/><Relationship Id="rId7" Target="https://create.kahoot.it/share/conceptos-basicos-en-la-programacion-en-vb/1a060a34-1f42-45b1-9605-5512dcd92ded" TargetMode="External" Type="http://schemas.openxmlformats.org/officeDocument/2006/relationships/hyperlink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Relationship Id="rId3" Target="../media/image22.svg" Type="http://schemas.openxmlformats.org/officeDocument/2006/relationships/image"/><Relationship Id="rId4" Target="../media/image13.png" Type="http://schemas.openxmlformats.org/officeDocument/2006/relationships/image"/><Relationship Id="rId5" Target="../media/image14.svg" Type="http://schemas.openxmlformats.org/officeDocument/2006/relationships/image"/><Relationship Id="rId6" Target="../media/image23.png" Type="http://schemas.openxmlformats.org/officeDocument/2006/relationships/image"/><Relationship Id="rId7" Target="https://uedi.ingenieria.usac.edu.gt/campus/my/" TargetMode="External" Type="http://schemas.openxmlformats.org/officeDocument/2006/relationships/hyperlink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Relationship Id="rId3" Target="../media/image17.svg" Type="http://schemas.openxmlformats.org/officeDocument/2006/relationships/image"/><Relationship Id="rId4" Target="../media/image18.png" Type="http://schemas.openxmlformats.org/officeDocument/2006/relationships/image"/><Relationship Id="rId5" Target="../media/image19.svg" Type="http://schemas.openxmlformats.org/officeDocument/2006/relationships/image"/><Relationship Id="rId6" Target="../media/image20.png" Type="http://schemas.openxmlformats.org/officeDocument/2006/relationships/image"/><Relationship Id="rId7" Target="https://create.kahoot.it/share/conceptos-avanzados-en-la-programacion-en-vb/8d187fb1-d15f-4157-bbed-e4a3f7c0d087" TargetMode="External" Type="http://schemas.openxmlformats.org/officeDocument/2006/relationships/hyperlink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svg" Type="http://schemas.openxmlformats.org/officeDocument/2006/relationships/image"/><Relationship Id="rId4" Target="../media/image13.png" Type="http://schemas.openxmlformats.org/officeDocument/2006/relationships/image"/><Relationship Id="rId5" Target="../media/image14.svg" Type="http://schemas.openxmlformats.org/officeDocument/2006/relationships/image"/><Relationship Id="rId6" Target="../media/image15.png" Type="http://schemas.openxmlformats.org/officeDocument/2006/relationships/image"/><Relationship Id="rId7" Target="../media/image24.png" Type="http://schemas.openxmlformats.org/officeDocument/2006/relationships/image"/><Relationship Id="rId8" Target="../media/image25.svg" Type="http://schemas.openxmlformats.org/officeDocument/2006/relationships/image"/><Relationship Id="rId9" Target="https://youtu.be/VPQv4o-vvH4?si=2UtXydqd_HtIVg0l" TargetMode="External" Type="http://schemas.openxmlformats.org/officeDocument/2006/relationships/hyperlink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6.png" Type="http://schemas.openxmlformats.org/officeDocument/2006/relationships/image"/><Relationship Id="rId3" Target="https://visualstudio.microsoft.com/es/downloads/" TargetMode="External" Type="http://schemas.openxmlformats.org/officeDocument/2006/relationships/hyperlink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7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8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9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0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1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2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3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4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5.png" Type="http://schemas.openxmlformats.org/officeDocument/2006/relationships/image"/><Relationship Id="rId3" Target="../media/image36.png" Type="http://schemas.openxmlformats.org/officeDocument/2006/relationships/image"/><Relationship Id="rId4" Target="../media/image37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8.png" Type="http://schemas.openxmlformats.org/officeDocument/2006/relationships/image"/><Relationship Id="rId3" Target="../media/image39.pn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0.pn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1.pn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2.png" Type="http://schemas.openxmlformats.org/officeDocument/2006/relationships/image"/><Relationship Id="rId3" Target="../media/image43.svg" Type="http://schemas.openxmlformats.org/officeDocument/2006/relationships/image"/><Relationship Id="rId4" Target="../media/image13.png" Type="http://schemas.openxmlformats.org/officeDocument/2006/relationships/image"/><Relationship Id="rId5" Target="../media/image14.svg" Type="http://schemas.openxmlformats.org/officeDocument/2006/relationships/image"/><Relationship Id="rId6" Target="../media/image15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900067" y="1028700"/>
            <a:ext cx="7289965" cy="13974163"/>
            <a:chOff x="0" y="0"/>
            <a:chExt cx="9719954" cy="1863221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719954" cy="11160698"/>
            </a:xfrm>
            <a:custGeom>
              <a:avLst/>
              <a:gdLst/>
              <a:ahLst/>
              <a:cxnLst/>
              <a:rect r="r" b="b" t="t" l="l"/>
              <a:pathLst>
                <a:path h="11160698" w="9719954">
                  <a:moveTo>
                    <a:pt x="0" y="0"/>
                  </a:moveTo>
                  <a:lnTo>
                    <a:pt x="9719954" y="0"/>
                  </a:lnTo>
                  <a:lnTo>
                    <a:pt x="9719954" y="11160698"/>
                  </a:lnTo>
                  <a:lnTo>
                    <a:pt x="0" y="111606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7471519"/>
              <a:ext cx="9719954" cy="11160698"/>
            </a:xfrm>
            <a:custGeom>
              <a:avLst/>
              <a:gdLst/>
              <a:ahLst/>
              <a:cxnLst/>
              <a:rect r="r" b="b" t="t" l="l"/>
              <a:pathLst>
                <a:path h="11160698" w="9719954">
                  <a:moveTo>
                    <a:pt x="0" y="0"/>
                  </a:moveTo>
                  <a:lnTo>
                    <a:pt x="9719954" y="0"/>
                  </a:lnTo>
                  <a:lnTo>
                    <a:pt x="9719954" y="11160699"/>
                  </a:lnTo>
                  <a:lnTo>
                    <a:pt x="0" y="111606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242913" y="2542638"/>
            <a:ext cx="1543050" cy="1157288"/>
            <a:chOff x="0" y="0"/>
            <a:chExt cx="812800" cy="6096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609600"/>
            </a:xfrm>
            <a:custGeom>
              <a:avLst/>
              <a:gdLst/>
              <a:ahLst/>
              <a:cxnLst/>
              <a:rect r="r" b="b" t="t" l="l"/>
              <a:pathLst>
                <a:path h="609600" w="812800">
                  <a:moveTo>
                    <a:pt x="203200" y="0"/>
                  </a:moveTo>
                  <a:lnTo>
                    <a:pt x="812800" y="0"/>
                  </a:lnTo>
                  <a:lnTo>
                    <a:pt x="609600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502BD4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101600" y="-161925"/>
              <a:ext cx="609600" cy="7715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8249"/>
                </a:lnSpc>
              </a:pPr>
              <a:r>
                <a:rPr lang="en-US" b="true" sz="5499" i="true">
                  <a:solidFill>
                    <a:srgbClr val="FFFFFF"/>
                  </a:solidFill>
                  <a:latin typeface="Open Sauce Bold Italics"/>
                  <a:ea typeface="Open Sauce Bold Italics"/>
                  <a:cs typeface="Open Sauce Bold Italics"/>
                  <a:sym typeface="Open Sauce Bold Italics"/>
                </a:rPr>
                <a:t>01</a:t>
              </a: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028700" y="1028700"/>
            <a:ext cx="10249847" cy="1095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640"/>
              </a:lnSpc>
              <a:spcBef>
                <a:spcPct val="0"/>
              </a:spcBef>
            </a:pPr>
            <a:r>
              <a:rPr lang="en-US" sz="720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AGENDA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290538" y="4983420"/>
            <a:ext cx="1543050" cy="1157288"/>
            <a:chOff x="0" y="0"/>
            <a:chExt cx="812800" cy="6096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609600"/>
            </a:xfrm>
            <a:custGeom>
              <a:avLst/>
              <a:gdLst/>
              <a:ahLst/>
              <a:cxnLst/>
              <a:rect r="r" b="b" t="t" l="l"/>
              <a:pathLst>
                <a:path h="609600" w="812800">
                  <a:moveTo>
                    <a:pt x="203200" y="0"/>
                  </a:moveTo>
                  <a:lnTo>
                    <a:pt x="812800" y="0"/>
                  </a:lnTo>
                  <a:lnTo>
                    <a:pt x="609600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502BD4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101600" y="-161925"/>
              <a:ext cx="609600" cy="7715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8249"/>
                </a:lnSpc>
              </a:pPr>
              <a:r>
                <a:rPr lang="en-US" b="true" sz="5499" i="true">
                  <a:solidFill>
                    <a:srgbClr val="FFFFFF"/>
                  </a:solidFill>
                  <a:latin typeface="Open Sauce Bold Italics"/>
                  <a:ea typeface="Open Sauce Bold Italics"/>
                  <a:cs typeface="Open Sauce Bold Italics"/>
                  <a:sym typeface="Open Sauce Bold Italics"/>
                </a:rPr>
                <a:t>02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223812" y="7426582"/>
            <a:ext cx="1543050" cy="1157288"/>
            <a:chOff x="0" y="0"/>
            <a:chExt cx="812800" cy="6096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609600"/>
            </a:xfrm>
            <a:custGeom>
              <a:avLst/>
              <a:gdLst/>
              <a:ahLst/>
              <a:cxnLst/>
              <a:rect r="r" b="b" t="t" l="l"/>
              <a:pathLst>
                <a:path h="609600" w="812800">
                  <a:moveTo>
                    <a:pt x="203200" y="0"/>
                  </a:moveTo>
                  <a:lnTo>
                    <a:pt x="812800" y="0"/>
                  </a:lnTo>
                  <a:lnTo>
                    <a:pt x="609600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502BD4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101600" y="-161925"/>
              <a:ext cx="609600" cy="7715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8249"/>
                </a:lnSpc>
              </a:pPr>
              <a:r>
                <a:rPr lang="en-US" b="true" sz="5499" i="true">
                  <a:solidFill>
                    <a:srgbClr val="FFFFFF"/>
                  </a:solidFill>
                  <a:latin typeface="Open Sauce Bold Italics"/>
                  <a:ea typeface="Open Sauce Bold Italics"/>
                  <a:cs typeface="Open Sauce Bold Italics"/>
                  <a:sym typeface="Open Sauce Bold Italics"/>
                </a:rPr>
                <a:t>03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7081041" y="2542638"/>
            <a:ext cx="1543050" cy="1157288"/>
            <a:chOff x="0" y="0"/>
            <a:chExt cx="812800" cy="6096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609600"/>
            </a:xfrm>
            <a:custGeom>
              <a:avLst/>
              <a:gdLst/>
              <a:ahLst/>
              <a:cxnLst/>
              <a:rect r="r" b="b" t="t" l="l"/>
              <a:pathLst>
                <a:path h="609600" w="812800">
                  <a:moveTo>
                    <a:pt x="203200" y="0"/>
                  </a:moveTo>
                  <a:lnTo>
                    <a:pt x="812800" y="0"/>
                  </a:lnTo>
                  <a:lnTo>
                    <a:pt x="609600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502BD4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101600" y="-161925"/>
              <a:ext cx="609600" cy="7715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8249"/>
                </a:lnSpc>
              </a:pPr>
              <a:r>
                <a:rPr lang="en-US" b="true" sz="5499" i="true">
                  <a:solidFill>
                    <a:srgbClr val="FFFFFF"/>
                  </a:solidFill>
                  <a:latin typeface="Open Sauce Bold Italics"/>
                  <a:ea typeface="Open Sauce Bold Italics"/>
                  <a:cs typeface="Open Sauce Bold Italics"/>
                  <a:sym typeface="Open Sauce Bold Italics"/>
                </a:rPr>
                <a:t>04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7061939" y="4983420"/>
            <a:ext cx="1543050" cy="1157288"/>
            <a:chOff x="0" y="0"/>
            <a:chExt cx="812800" cy="6096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12800" cy="609600"/>
            </a:xfrm>
            <a:custGeom>
              <a:avLst/>
              <a:gdLst/>
              <a:ahLst/>
              <a:cxnLst/>
              <a:rect r="r" b="b" t="t" l="l"/>
              <a:pathLst>
                <a:path h="609600" w="812800">
                  <a:moveTo>
                    <a:pt x="203200" y="0"/>
                  </a:moveTo>
                  <a:lnTo>
                    <a:pt x="812800" y="0"/>
                  </a:lnTo>
                  <a:lnTo>
                    <a:pt x="609600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502BD4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101600" y="-161925"/>
              <a:ext cx="609600" cy="7715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8249"/>
                </a:lnSpc>
              </a:pPr>
              <a:r>
                <a:rPr lang="en-US" b="true" sz="5499" i="true">
                  <a:solidFill>
                    <a:srgbClr val="FFFFFF"/>
                  </a:solidFill>
                  <a:latin typeface="Open Sauce Bold Italics"/>
                  <a:ea typeface="Open Sauce Bold Italics"/>
                  <a:cs typeface="Open Sauce Bold Italics"/>
                  <a:sym typeface="Open Sauce Bold Italics"/>
                </a:rPr>
                <a:t>05</a:t>
              </a: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1785963" y="2630110"/>
            <a:ext cx="4245769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Presentación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833588" y="5070891"/>
            <a:ext cx="3846165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Diagnóstico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785963" y="7331332"/>
            <a:ext cx="4506889" cy="1811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79"/>
              </a:lnSpc>
            </a:pPr>
            <a:r>
              <a:rPr lang="en-US" sz="5199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Programa y curso en Uedi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8671716" y="2630110"/>
            <a:ext cx="4506889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79"/>
              </a:lnSpc>
            </a:pPr>
            <a:r>
              <a:rPr lang="en-US" sz="5199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Visual basic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8671716" y="5070891"/>
            <a:ext cx="4506889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79"/>
              </a:lnSpc>
            </a:pPr>
            <a:r>
              <a:rPr lang="en-US" sz="5199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Tarea 1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25380" y="234929"/>
            <a:ext cx="12468537" cy="97409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52"/>
              </a:lnSpc>
              <a:spcBef>
                <a:spcPct val="0"/>
              </a:spcBef>
            </a:pPr>
            <a:r>
              <a:rPr lang="en-US" b="true" sz="3823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Hola, soy Alejandro!</a:t>
            </a:r>
            <a:r>
              <a:rPr lang="en-US" sz="3823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👋</a:t>
            </a:r>
          </a:p>
          <a:p>
            <a:pPr algn="l">
              <a:lnSpc>
                <a:spcPts val="3392"/>
              </a:lnSpc>
              <a:spcBef>
                <a:spcPct val="0"/>
              </a:spcBef>
            </a:pPr>
            <a:r>
              <a:rPr lang="en-US" sz="2423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(Estudiante de Ingeniería en ciencias y sistemas, desarrollador full-stack y fanático de las buenas pláticas).</a:t>
            </a:r>
          </a:p>
          <a:p>
            <a:pPr algn="l">
              <a:lnSpc>
                <a:spcPts val="4652"/>
              </a:lnSpc>
              <a:spcBef>
                <a:spcPct val="0"/>
              </a:spcBef>
            </a:pPr>
            <a:r>
              <a:rPr lang="en-US" b="true" sz="3323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Un poco sobre mí:</a:t>
            </a:r>
          </a:p>
          <a:p>
            <a:pPr algn="l" marL="523201" indent="-261600" lvl="1">
              <a:lnSpc>
                <a:spcPts val="3392"/>
              </a:lnSpc>
              <a:buFont typeface="Arial"/>
              <a:buChar char="•"/>
            </a:pPr>
            <a:r>
              <a:rPr lang="en-US" sz="2423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🎬 Soy cinéfilo</a:t>
            </a:r>
          </a:p>
          <a:p>
            <a:pPr algn="l" marL="523201" indent="-261600" lvl="1">
              <a:lnSpc>
                <a:spcPts val="3392"/>
              </a:lnSpc>
              <a:buFont typeface="Arial"/>
              <a:buChar char="•"/>
            </a:pPr>
            <a:r>
              <a:rPr lang="en-US" sz="2423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🏃 Me gusta salir a correr por las mañanas</a:t>
            </a:r>
          </a:p>
          <a:p>
            <a:pPr algn="l" marL="523201" indent="-261600" lvl="1">
              <a:lnSpc>
                <a:spcPts val="3392"/>
              </a:lnSpc>
              <a:buFont typeface="Arial"/>
              <a:buChar char="•"/>
            </a:pPr>
            <a:r>
              <a:rPr lang="en-US" sz="2423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🎵 La música es mi combustible</a:t>
            </a:r>
          </a:p>
          <a:p>
            <a:pPr algn="l" marL="523201" indent="-261600" lvl="1">
              <a:lnSpc>
                <a:spcPts val="3392"/>
              </a:lnSpc>
              <a:buFont typeface="Arial"/>
              <a:buChar char="•"/>
            </a:pPr>
            <a:r>
              <a:rPr lang="en-US" sz="2423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💻 Me apasiona la programación</a:t>
            </a:r>
          </a:p>
          <a:p>
            <a:pPr algn="l" marL="523201" indent="-261600" lvl="1">
              <a:lnSpc>
                <a:spcPts val="3392"/>
              </a:lnSpc>
              <a:buFont typeface="Arial"/>
              <a:buChar char="•"/>
            </a:pPr>
            <a:r>
              <a:rPr lang="en-US" sz="2423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🗣️ Soy de los que platican hasta por los codos</a:t>
            </a:r>
          </a:p>
          <a:p>
            <a:pPr algn="ctr">
              <a:lnSpc>
                <a:spcPts val="3392"/>
              </a:lnSpc>
            </a:pPr>
          </a:p>
          <a:p>
            <a:pPr algn="ctr">
              <a:lnSpc>
                <a:spcPts val="4792"/>
              </a:lnSpc>
              <a:spcBef>
                <a:spcPct val="0"/>
              </a:spcBef>
            </a:pPr>
            <a:r>
              <a:rPr lang="en-US" b="true" sz="3423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¿Por qué estaré guiándolos en este laboratorio?</a:t>
            </a:r>
          </a:p>
          <a:p>
            <a:pPr algn="l">
              <a:lnSpc>
                <a:spcPts val="3392"/>
              </a:lnSpc>
              <a:spcBef>
                <a:spcPct val="0"/>
              </a:spcBef>
            </a:pPr>
            <a:r>
              <a:rPr lang="en-US" sz="2423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Porque sé que la programación puede parecer complicada al inicio… pero con ejemplos claros y paciencia, verán que es como armar un playlist perfecto: se trata de lógica, creatividad y resolver problemas paso a paso.</a:t>
            </a:r>
          </a:p>
          <a:p>
            <a:pPr algn="l">
              <a:lnSpc>
                <a:spcPts val="3392"/>
              </a:lnSpc>
              <a:spcBef>
                <a:spcPct val="0"/>
              </a:spcBef>
            </a:pPr>
            <a:r>
              <a:rPr lang="en-US" sz="2423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Quiero que aprendan no solo para el examen, sino para aplicar estos conocimientos en cosas prácticas (desde automatizar cálculos hasta organizar datos).</a:t>
            </a:r>
          </a:p>
          <a:p>
            <a:pPr algn="l">
              <a:lnSpc>
                <a:spcPts val="3392"/>
              </a:lnSpc>
              <a:spcBef>
                <a:spcPct val="0"/>
              </a:spcBef>
            </a:pPr>
          </a:p>
          <a:p>
            <a:pPr algn="l">
              <a:lnSpc>
                <a:spcPts val="4652"/>
              </a:lnSpc>
              <a:spcBef>
                <a:spcPct val="0"/>
              </a:spcBef>
            </a:pPr>
            <a:r>
              <a:rPr lang="en-US" b="true" sz="3323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Mi estilo:</a:t>
            </a:r>
          </a:p>
          <a:p>
            <a:pPr algn="l" marL="523201" indent="-261600" lvl="1">
              <a:lnSpc>
                <a:spcPts val="3392"/>
              </a:lnSpc>
              <a:buFont typeface="Arial"/>
              <a:buChar char="•"/>
            </a:pPr>
            <a:r>
              <a:rPr lang="en-US" sz="2423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Relajado pero preciso</a:t>
            </a:r>
          </a:p>
          <a:p>
            <a:pPr algn="l" marL="523201" indent="-261600" lvl="1">
              <a:lnSpc>
                <a:spcPts val="3392"/>
              </a:lnSpc>
              <a:buFont typeface="Arial"/>
              <a:buChar char="•"/>
            </a:pPr>
            <a:r>
              <a:rPr lang="en-US" sz="2423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Teoría aplicada</a:t>
            </a:r>
          </a:p>
          <a:p>
            <a:pPr algn="l" marL="523201" indent="-261600" lvl="1">
              <a:lnSpc>
                <a:spcPts val="3392"/>
              </a:lnSpc>
              <a:spcBef>
                <a:spcPct val="0"/>
              </a:spcBef>
              <a:buFont typeface="Arial"/>
              <a:buChar char="•"/>
            </a:pPr>
            <a:r>
              <a:rPr lang="en-US" sz="2423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Mejor con ejemplos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2693918" y="0"/>
            <a:ext cx="5594082" cy="10287000"/>
            <a:chOff x="0" y="0"/>
            <a:chExt cx="1473339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473339" cy="2709333"/>
            </a:xfrm>
            <a:custGeom>
              <a:avLst/>
              <a:gdLst/>
              <a:ahLst/>
              <a:cxnLst/>
              <a:rect r="r" b="b" t="t" l="l"/>
              <a:pathLst>
                <a:path h="2709333" w="1473339">
                  <a:moveTo>
                    <a:pt x="0" y="0"/>
                  </a:moveTo>
                  <a:lnTo>
                    <a:pt x="1473339" y="0"/>
                  </a:lnTo>
                  <a:lnTo>
                    <a:pt x="1473339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2F07BB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1473339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25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2693918" y="5588206"/>
            <a:ext cx="5594082" cy="834027"/>
          </a:xfrm>
          <a:custGeom>
            <a:avLst/>
            <a:gdLst/>
            <a:ahLst/>
            <a:cxnLst/>
            <a:rect r="r" b="b" t="t" l="l"/>
            <a:pathLst>
              <a:path h="834027" w="5594082">
                <a:moveTo>
                  <a:pt x="0" y="0"/>
                </a:moveTo>
                <a:lnTo>
                  <a:pt x="5594082" y="0"/>
                </a:lnTo>
                <a:lnTo>
                  <a:pt x="5594082" y="834027"/>
                </a:lnTo>
                <a:lnTo>
                  <a:pt x="0" y="83402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2693918" y="9433746"/>
            <a:ext cx="5594082" cy="834027"/>
          </a:xfrm>
          <a:custGeom>
            <a:avLst/>
            <a:gdLst/>
            <a:ahLst/>
            <a:cxnLst/>
            <a:rect r="r" b="b" t="t" l="l"/>
            <a:pathLst>
              <a:path h="834027" w="5594082">
                <a:moveTo>
                  <a:pt x="0" y="0"/>
                </a:moveTo>
                <a:lnTo>
                  <a:pt x="5594082" y="0"/>
                </a:lnTo>
                <a:lnTo>
                  <a:pt x="5594082" y="834027"/>
                </a:lnTo>
                <a:lnTo>
                  <a:pt x="0" y="83402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2693918" y="0"/>
            <a:ext cx="5594082" cy="5588206"/>
          </a:xfrm>
          <a:custGeom>
            <a:avLst/>
            <a:gdLst/>
            <a:ahLst/>
            <a:cxnLst/>
            <a:rect r="r" b="b" t="t" l="l"/>
            <a:pathLst>
              <a:path h="5588206" w="5594082">
                <a:moveTo>
                  <a:pt x="0" y="0"/>
                </a:moveTo>
                <a:lnTo>
                  <a:pt x="5594082" y="0"/>
                </a:lnTo>
                <a:lnTo>
                  <a:pt x="5594082" y="5588206"/>
                </a:lnTo>
                <a:lnTo>
                  <a:pt x="0" y="558820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3067751" y="6960210"/>
            <a:ext cx="3328648" cy="7159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30"/>
              </a:lnSpc>
            </a:pPr>
            <a:r>
              <a:rPr lang="en-US" b="true" sz="4164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CONTACTO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693918" y="7866622"/>
            <a:ext cx="5594082" cy="3645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05"/>
              </a:lnSpc>
            </a:pPr>
            <a:r>
              <a:rPr lang="en-US" b="true" sz="2146" i="true">
                <a:solidFill>
                  <a:srgbClr val="FFFFFF"/>
                </a:solidFill>
                <a:latin typeface="Open Sauce Bold Italics"/>
                <a:ea typeface="Open Sauce Bold Italics"/>
                <a:cs typeface="Open Sauce Bold Italics"/>
                <a:sym typeface="Open Sauce Bold Italics"/>
              </a:rPr>
              <a:t>2995019300101@ingenieria.usac.edu.gt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814122" y="8421697"/>
            <a:ext cx="2496022" cy="3883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0"/>
              </a:lnSpc>
            </a:pPr>
            <a:r>
              <a:rPr lang="en-US" b="true" sz="2335" i="true">
                <a:solidFill>
                  <a:srgbClr val="FFFFFF"/>
                </a:solidFill>
                <a:latin typeface="Open Sauce Bold Italics"/>
                <a:ea typeface="Open Sauce Bold Italics"/>
                <a:cs typeface="Open Sauce Bold Italics"/>
                <a:sym typeface="Open Sauce Bold Italics"/>
              </a:rPr>
              <a:t>Tel: 56276439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365938" y="4317978"/>
            <a:ext cx="5778062" cy="5778062"/>
          </a:xfrm>
          <a:custGeom>
            <a:avLst/>
            <a:gdLst/>
            <a:ahLst/>
            <a:cxnLst/>
            <a:rect r="r" b="b" t="t" l="l"/>
            <a:pathLst>
              <a:path h="5778062" w="5778062">
                <a:moveTo>
                  <a:pt x="0" y="0"/>
                </a:moveTo>
                <a:lnTo>
                  <a:pt x="5778062" y="0"/>
                </a:lnTo>
                <a:lnTo>
                  <a:pt x="5778062" y="5778062"/>
                </a:lnTo>
                <a:lnTo>
                  <a:pt x="0" y="577806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144000" y="4317978"/>
            <a:ext cx="5778062" cy="5778062"/>
          </a:xfrm>
          <a:custGeom>
            <a:avLst/>
            <a:gdLst/>
            <a:ahLst/>
            <a:cxnLst/>
            <a:rect r="r" b="b" t="t" l="l"/>
            <a:pathLst>
              <a:path h="5778062" w="5778062">
                <a:moveTo>
                  <a:pt x="0" y="0"/>
                </a:moveTo>
                <a:lnTo>
                  <a:pt x="5778062" y="0"/>
                </a:lnTo>
                <a:lnTo>
                  <a:pt x="5778062" y="5778062"/>
                </a:lnTo>
                <a:lnTo>
                  <a:pt x="0" y="577806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424646" y="828675"/>
            <a:ext cx="15438708" cy="34893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001"/>
              </a:lnSpc>
            </a:pPr>
            <a:r>
              <a:rPr lang="en-US" sz="1000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PRESENTACION DE ESTUDIANTES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530873" y="494507"/>
            <a:ext cx="5323671" cy="1372189"/>
            <a:chOff x="0" y="0"/>
            <a:chExt cx="3472874" cy="89874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472874" cy="898741"/>
            </a:xfrm>
            <a:custGeom>
              <a:avLst/>
              <a:gdLst/>
              <a:ahLst/>
              <a:cxnLst/>
              <a:rect r="r" b="b" t="t" l="l"/>
              <a:pathLst>
                <a:path h="898741" w="3472874">
                  <a:moveTo>
                    <a:pt x="3348414" y="898741"/>
                  </a:moveTo>
                  <a:lnTo>
                    <a:pt x="124460" y="898741"/>
                  </a:lnTo>
                  <a:cubicBezTo>
                    <a:pt x="55880" y="898741"/>
                    <a:pt x="0" y="842861"/>
                    <a:pt x="0" y="774281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3348414" y="0"/>
                  </a:lnTo>
                  <a:cubicBezTo>
                    <a:pt x="3416994" y="0"/>
                    <a:pt x="3472874" y="55880"/>
                    <a:pt x="3472874" y="124460"/>
                  </a:cubicBezTo>
                  <a:lnTo>
                    <a:pt x="3472874" y="774281"/>
                  </a:lnTo>
                  <a:cubicBezTo>
                    <a:pt x="3472874" y="842861"/>
                    <a:pt x="3416994" y="898741"/>
                    <a:pt x="3348414" y="898741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13754257" y="1393502"/>
            <a:ext cx="3988803" cy="260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00"/>
              </a:lnSpc>
              <a:spcBef>
                <a:spcPct val="0"/>
              </a:spcBef>
            </a:pPr>
            <a:r>
              <a:rPr lang="en-US" b="true" sz="1400" i="true">
                <a:solidFill>
                  <a:srgbClr val="502BD4"/>
                </a:solidFill>
                <a:latin typeface="Open Sauce Bold Italics"/>
                <a:ea typeface="Open Sauce Bold Italics"/>
                <a:cs typeface="Open Sauce Bold Italics"/>
                <a:sym typeface="Open Sauce Bold Italics"/>
              </a:rPr>
              <a:t>RESPONSABILIDAD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3754257" y="607695"/>
            <a:ext cx="3994580" cy="794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100"/>
              </a:lnSpc>
              <a:spcBef>
                <a:spcPct val="0"/>
              </a:spcBef>
            </a:pPr>
            <a:r>
              <a:rPr lang="en-US" sz="14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"La </a:t>
            </a:r>
            <a:r>
              <a:rPr lang="en-US" sz="14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responsabilidad es el precio de la grandeza. Cada acción cuenta, cada decisión importa."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1125200" y="2057400"/>
            <a:ext cx="10287000" cy="10287000"/>
          </a:xfrm>
          <a:custGeom>
            <a:avLst/>
            <a:gdLst/>
            <a:ahLst/>
            <a:cxnLst/>
            <a:rect r="r" b="b" t="t" l="l"/>
            <a:pathLst>
              <a:path h="10287000" w="10287000">
                <a:moveTo>
                  <a:pt x="0" y="0"/>
                </a:moveTo>
                <a:lnTo>
                  <a:pt x="10287000" y="0"/>
                </a:lnTo>
                <a:lnTo>
                  <a:pt x="10287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2675760" y="706767"/>
            <a:ext cx="947670" cy="947670"/>
          </a:xfrm>
          <a:custGeom>
            <a:avLst/>
            <a:gdLst/>
            <a:ahLst/>
            <a:cxnLst/>
            <a:rect r="r" b="b" t="t" l="l"/>
            <a:pathLst>
              <a:path h="947670" w="947670">
                <a:moveTo>
                  <a:pt x="0" y="0"/>
                </a:moveTo>
                <a:lnTo>
                  <a:pt x="947670" y="0"/>
                </a:lnTo>
                <a:lnTo>
                  <a:pt x="947670" y="947670"/>
                </a:lnTo>
                <a:lnTo>
                  <a:pt x="0" y="94767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009598" y="4784708"/>
            <a:ext cx="14164008" cy="1838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4400"/>
              </a:lnSpc>
              <a:spcBef>
                <a:spcPct val="0"/>
              </a:spcBef>
            </a:pPr>
            <a:r>
              <a:rPr lang="en-US" sz="1200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DIAGNOSTICO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028700" y="6623033"/>
            <a:ext cx="8254702" cy="1186215"/>
            <a:chOff x="0" y="0"/>
            <a:chExt cx="11006270" cy="1581620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876770"/>
              <a:ext cx="11006270" cy="7048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500"/>
                </a:lnSpc>
              </a:pP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-95250"/>
              <a:ext cx="11006270" cy="7048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500"/>
                </a:lnSpc>
                <a:spcBef>
                  <a:spcPct val="0"/>
                </a:spcBef>
              </a:pPr>
              <a:r>
                <a:rPr lang="en-US" b="true" sz="3000">
                  <a:solidFill>
                    <a:srgbClr val="FFFFFF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Programación de computadoras 2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0" y="0"/>
            <a:ext cx="9911135" cy="1714536"/>
            <a:chOff x="0" y="0"/>
            <a:chExt cx="13214846" cy="2286047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544422" cy="2286047"/>
            </a:xfrm>
            <a:custGeom>
              <a:avLst/>
              <a:gdLst/>
              <a:ahLst/>
              <a:cxnLst/>
              <a:rect r="r" b="b" t="t" l="l"/>
              <a:pathLst>
                <a:path h="2286047" w="3544422">
                  <a:moveTo>
                    <a:pt x="0" y="0"/>
                  </a:moveTo>
                  <a:lnTo>
                    <a:pt x="3544422" y="0"/>
                  </a:lnTo>
                  <a:lnTo>
                    <a:pt x="3544422" y="2286047"/>
                  </a:lnTo>
                  <a:lnTo>
                    <a:pt x="0" y="22860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 rot="0">
              <a:off x="3544422" y="470891"/>
              <a:ext cx="9670424" cy="181515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20"/>
                </a:lnSpc>
              </a:pPr>
              <a:r>
                <a:rPr lang="en-US" sz="1943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Escuela </a:t>
              </a:r>
              <a:r>
                <a:rPr lang="en-US" sz="1943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de Ingeniería de Ciencias y Sistemas</a:t>
              </a:r>
            </a:p>
            <a:p>
              <a:pPr algn="l">
                <a:lnSpc>
                  <a:spcPts val="2720"/>
                </a:lnSpc>
              </a:pPr>
              <a:r>
                <a:rPr lang="en-US" sz="1943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Facultad de Ingeniería</a:t>
              </a:r>
            </a:p>
            <a:p>
              <a:pPr algn="l">
                <a:lnSpc>
                  <a:spcPts val="2720"/>
                </a:lnSpc>
              </a:pPr>
              <a:r>
                <a:rPr lang="en-US" sz="1943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Universidad San Carlos de Guatemala</a:t>
              </a:r>
            </a:p>
            <a:p>
              <a:pPr algn="l">
                <a:lnSpc>
                  <a:spcPts val="2720"/>
                </a:lnSpc>
              </a:pP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65371" y="-10169515"/>
            <a:ext cx="16757257" cy="11696055"/>
            <a:chOff x="0" y="0"/>
            <a:chExt cx="22343010" cy="155947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171505" cy="15594740"/>
            </a:xfrm>
            <a:custGeom>
              <a:avLst/>
              <a:gdLst/>
              <a:ahLst/>
              <a:cxnLst/>
              <a:rect r="r" b="b" t="t" l="l"/>
              <a:pathLst>
                <a:path h="15594740" w="11171505">
                  <a:moveTo>
                    <a:pt x="0" y="0"/>
                  </a:moveTo>
                  <a:lnTo>
                    <a:pt x="11171505" y="0"/>
                  </a:lnTo>
                  <a:lnTo>
                    <a:pt x="11171505" y="15594740"/>
                  </a:lnTo>
                  <a:lnTo>
                    <a:pt x="0" y="155947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1171505" y="0"/>
              <a:ext cx="11171505" cy="15594740"/>
            </a:xfrm>
            <a:custGeom>
              <a:avLst/>
              <a:gdLst/>
              <a:ahLst/>
              <a:cxnLst/>
              <a:rect r="r" b="b" t="t" l="l"/>
              <a:pathLst>
                <a:path h="15594740" w="11171505">
                  <a:moveTo>
                    <a:pt x="0" y="0"/>
                  </a:moveTo>
                  <a:lnTo>
                    <a:pt x="11171505" y="0"/>
                  </a:lnTo>
                  <a:lnTo>
                    <a:pt x="11171505" y="15594740"/>
                  </a:lnTo>
                  <a:lnTo>
                    <a:pt x="0" y="155947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5" id="5">
            <a:hlinkClick r:id="rId7" tooltip="https://create.kahoot.it/share/conceptos-basicos-en-la-programacion-en-vb/1a060a34-1f42-45b1-9605-5512dcd92ded"/>
          </p:cNvPr>
          <p:cNvSpPr/>
          <p:nvPr/>
        </p:nvSpPr>
        <p:spPr>
          <a:xfrm flipH="false" flipV="false" rot="0">
            <a:off x="1586893" y="3580923"/>
            <a:ext cx="5555829" cy="3125154"/>
          </a:xfrm>
          <a:custGeom>
            <a:avLst/>
            <a:gdLst/>
            <a:ahLst/>
            <a:cxnLst/>
            <a:rect r="r" b="b" t="t" l="l"/>
            <a:pathLst>
              <a:path h="3125154" w="5555829">
                <a:moveTo>
                  <a:pt x="0" y="0"/>
                </a:moveTo>
                <a:lnTo>
                  <a:pt x="5555829" y="0"/>
                </a:lnTo>
                <a:lnTo>
                  <a:pt x="5555829" y="3125154"/>
                </a:lnTo>
                <a:lnTo>
                  <a:pt x="0" y="312515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7661188" y="3409473"/>
            <a:ext cx="9039919" cy="31953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Conocimientos previos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028365" y="1028700"/>
            <a:ext cx="8259635" cy="8229600"/>
          </a:xfrm>
          <a:custGeom>
            <a:avLst/>
            <a:gdLst/>
            <a:ahLst/>
            <a:cxnLst/>
            <a:rect r="r" b="b" t="t" l="l"/>
            <a:pathLst>
              <a:path h="8229600" w="8259635">
                <a:moveTo>
                  <a:pt x="0" y="0"/>
                </a:moveTo>
                <a:lnTo>
                  <a:pt x="8259635" y="0"/>
                </a:lnTo>
                <a:lnTo>
                  <a:pt x="8259635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328920" y="7886111"/>
            <a:ext cx="5323671" cy="1372189"/>
            <a:chOff x="0" y="0"/>
            <a:chExt cx="3472874" cy="89874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472874" cy="898741"/>
            </a:xfrm>
            <a:custGeom>
              <a:avLst/>
              <a:gdLst/>
              <a:ahLst/>
              <a:cxnLst/>
              <a:rect r="r" b="b" t="t" l="l"/>
              <a:pathLst>
                <a:path h="898741" w="3472874">
                  <a:moveTo>
                    <a:pt x="3348414" y="898741"/>
                  </a:moveTo>
                  <a:lnTo>
                    <a:pt x="124460" y="898741"/>
                  </a:lnTo>
                  <a:cubicBezTo>
                    <a:pt x="55880" y="898741"/>
                    <a:pt x="0" y="842861"/>
                    <a:pt x="0" y="774281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3348414" y="0"/>
                  </a:lnTo>
                  <a:cubicBezTo>
                    <a:pt x="3416994" y="0"/>
                    <a:pt x="3472874" y="55880"/>
                    <a:pt x="3472874" y="124460"/>
                  </a:cubicBezTo>
                  <a:lnTo>
                    <a:pt x="3472874" y="774281"/>
                  </a:lnTo>
                  <a:cubicBezTo>
                    <a:pt x="3472874" y="842861"/>
                    <a:pt x="3416994" y="898741"/>
                    <a:pt x="3348414" y="898741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1473807" y="8098370"/>
            <a:ext cx="947670" cy="947670"/>
          </a:xfrm>
          <a:custGeom>
            <a:avLst/>
            <a:gdLst/>
            <a:ahLst/>
            <a:cxnLst/>
            <a:rect r="r" b="b" t="t" l="l"/>
            <a:pathLst>
              <a:path h="947670" w="947670">
                <a:moveTo>
                  <a:pt x="0" y="0"/>
                </a:moveTo>
                <a:lnTo>
                  <a:pt x="947670" y="0"/>
                </a:lnTo>
                <a:lnTo>
                  <a:pt x="947670" y="947671"/>
                </a:lnTo>
                <a:lnTo>
                  <a:pt x="0" y="94767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>
            <a:hlinkClick r:id="rId7" tooltip="https://uedi.ingenieria.usac.edu.gt/campus/my/"/>
          </p:cNvPr>
          <p:cNvSpPr/>
          <p:nvPr/>
        </p:nvSpPr>
        <p:spPr>
          <a:xfrm flipH="false" flipV="false" rot="0">
            <a:off x="1328920" y="4330772"/>
            <a:ext cx="7518039" cy="2753482"/>
          </a:xfrm>
          <a:custGeom>
            <a:avLst/>
            <a:gdLst/>
            <a:ahLst/>
            <a:cxnLst/>
            <a:rect r="r" b="b" t="t" l="l"/>
            <a:pathLst>
              <a:path h="2753482" w="7518039">
                <a:moveTo>
                  <a:pt x="0" y="0"/>
                </a:moveTo>
                <a:lnTo>
                  <a:pt x="7518039" y="0"/>
                </a:lnTo>
                <a:lnTo>
                  <a:pt x="7518039" y="2753482"/>
                </a:lnTo>
                <a:lnTo>
                  <a:pt x="0" y="275348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328920" y="1219200"/>
            <a:ext cx="9336086" cy="3941650"/>
            <a:chOff x="0" y="0"/>
            <a:chExt cx="12448115" cy="5255534"/>
          </a:xfrm>
        </p:grpSpPr>
        <p:sp>
          <p:nvSpPr>
            <p:cNvPr name="TextBox 8" id="8"/>
            <p:cNvSpPr txBox="true"/>
            <p:nvPr/>
          </p:nvSpPr>
          <p:spPr>
            <a:xfrm rot="0">
              <a:off x="0" y="4550684"/>
              <a:ext cx="12448115" cy="7048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500"/>
                </a:lnSpc>
              </a:pP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-9525"/>
              <a:ext cx="12448115" cy="3667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0800"/>
                </a:lnSpc>
                <a:spcBef>
                  <a:spcPct val="0"/>
                </a:spcBef>
              </a:pPr>
              <a:r>
                <a:rPr lang="en-US" sz="9000">
                  <a:solidFill>
                    <a:srgbClr val="FFFFFF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PROGRAMA Y UEDI</a:t>
              </a: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2552305" y="8785105"/>
            <a:ext cx="3988803" cy="260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00"/>
              </a:lnSpc>
              <a:spcBef>
                <a:spcPct val="0"/>
              </a:spcBef>
            </a:pPr>
            <a:r>
              <a:rPr lang="en-US" b="true" sz="1400" i="true">
                <a:solidFill>
                  <a:srgbClr val="502BD4"/>
                </a:solidFill>
                <a:latin typeface="Open Sauce Bold Italics"/>
                <a:ea typeface="Open Sauce Bold Italics"/>
                <a:cs typeface="Open Sauce Bold Italics"/>
                <a:sym typeface="Open Sauce Bold Italics"/>
              </a:rPr>
              <a:t>RESPONSABILIDAD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552305" y="7999299"/>
            <a:ext cx="3994580" cy="794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100"/>
              </a:lnSpc>
              <a:spcBef>
                <a:spcPct val="0"/>
              </a:spcBef>
            </a:pPr>
            <a:r>
              <a:rPr lang="en-US" sz="14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"La </a:t>
            </a:r>
            <a:r>
              <a:rPr lang="en-US" sz="14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responsabilidad es el precio de la grandeza. Cada acción cuenta, cada decisión importa."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65371" y="-10169515"/>
            <a:ext cx="16757257" cy="11696055"/>
            <a:chOff x="0" y="0"/>
            <a:chExt cx="22343010" cy="155947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171505" cy="15594740"/>
            </a:xfrm>
            <a:custGeom>
              <a:avLst/>
              <a:gdLst/>
              <a:ahLst/>
              <a:cxnLst/>
              <a:rect r="r" b="b" t="t" l="l"/>
              <a:pathLst>
                <a:path h="15594740" w="11171505">
                  <a:moveTo>
                    <a:pt x="0" y="0"/>
                  </a:moveTo>
                  <a:lnTo>
                    <a:pt x="11171505" y="0"/>
                  </a:lnTo>
                  <a:lnTo>
                    <a:pt x="11171505" y="15594740"/>
                  </a:lnTo>
                  <a:lnTo>
                    <a:pt x="0" y="155947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1171505" y="0"/>
              <a:ext cx="11171505" cy="15594740"/>
            </a:xfrm>
            <a:custGeom>
              <a:avLst/>
              <a:gdLst/>
              <a:ahLst/>
              <a:cxnLst/>
              <a:rect r="r" b="b" t="t" l="l"/>
              <a:pathLst>
                <a:path h="15594740" w="11171505">
                  <a:moveTo>
                    <a:pt x="0" y="0"/>
                  </a:moveTo>
                  <a:lnTo>
                    <a:pt x="11171505" y="0"/>
                  </a:lnTo>
                  <a:lnTo>
                    <a:pt x="11171505" y="15594740"/>
                  </a:lnTo>
                  <a:lnTo>
                    <a:pt x="0" y="155947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5" id="5">
            <a:hlinkClick r:id="rId7" tooltip="https://create.kahoot.it/share/conceptos-avanzados-en-la-programacion-en-vb/8d187fb1-d15f-4157-bbed-e4a3f7c0d087"/>
          </p:cNvPr>
          <p:cNvSpPr/>
          <p:nvPr/>
        </p:nvSpPr>
        <p:spPr>
          <a:xfrm flipH="false" flipV="false" rot="0">
            <a:off x="11145278" y="3580923"/>
            <a:ext cx="5555829" cy="3125154"/>
          </a:xfrm>
          <a:custGeom>
            <a:avLst/>
            <a:gdLst/>
            <a:ahLst/>
            <a:cxnLst/>
            <a:rect r="r" b="b" t="t" l="l"/>
            <a:pathLst>
              <a:path h="3125154" w="5555829">
                <a:moveTo>
                  <a:pt x="0" y="0"/>
                </a:moveTo>
                <a:lnTo>
                  <a:pt x="5555829" y="0"/>
                </a:lnTo>
                <a:lnTo>
                  <a:pt x="5555829" y="3125154"/>
                </a:lnTo>
                <a:lnTo>
                  <a:pt x="0" y="312515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586893" y="3510758"/>
            <a:ext cx="9039919" cy="31953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Conocimientos futuros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555282" y="2057400"/>
            <a:ext cx="10287000" cy="10287000"/>
          </a:xfrm>
          <a:custGeom>
            <a:avLst/>
            <a:gdLst/>
            <a:ahLst/>
            <a:cxnLst/>
            <a:rect r="r" b="b" t="t" l="l"/>
            <a:pathLst>
              <a:path h="10287000" w="10287000">
                <a:moveTo>
                  <a:pt x="0" y="0"/>
                </a:moveTo>
                <a:lnTo>
                  <a:pt x="10287000" y="0"/>
                </a:lnTo>
                <a:lnTo>
                  <a:pt x="10287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2530873" y="494507"/>
            <a:ext cx="5323671" cy="1372189"/>
            <a:chOff x="0" y="0"/>
            <a:chExt cx="7098228" cy="1829586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0"/>
              <a:ext cx="7098228" cy="1829586"/>
              <a:chOff x="0" y="0"/>
              <a:chExt cx="3472874" cy="898741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3472874" cy="898741"/>
              </a:xfrm>
              <a:custGeom>
                <a:avLst/>
                <a:gdLst/>
                <a:ahLst/>
                <a:cxnLst/>
                <a:rect r="r" b="b" t="t" l="l"/>
                <a:pathLst>
                  <a:path h="898741" w="3472874">
                    <a:moveTo>
                      <a:pt x="3348414" y="898741"/>
                    </a:moveTo>
                    <a:lnTo>
                      <a:pt x="124460" y="898741"/>
                    </a:lnTo>
                    <a:cubicBezTo>
                      <a:pt x="55880" y="898741"/>
                      <a:pt x="0" y="842861"/>
                      <a:pt x="0" y="774281"/>
                    </a:cubicBezTo>
                    <a:lnTo>
                      <a:pt x="0" y="124460"/>
                    </a:lnTo>
                    <a:cubicBezTo>
                      <a:pt x="0" y="55880"/>
                      <a:pt x="55880" y="0"/>
                      <a:pt x="124460" y="0"/>
                    </a:cubicBezTo>
                    <a:lnTo>
                      <a:pt x="3348414" y="0"/>
                    </a:lnTo>
                    <a:cubicBezTo>
                      <a:pt x="3416994" y="0"/>
                      <a:pt x="3472874" y="55880"/>
                      <a:pt x="3472874" y="124460"/>
                    </a:cubicBezTo>
                    <a:lnTo>
                      <a:pt x="3472874" y="774281"/>
                    </a:lnTo>
                    <a:cubicBezTo>
                      <a:pt x="3472874" y="842861"/>
                      <a:pt x="3416994" y="898741"/>
                      <a:pt x="3348414" y="898741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sp>
          <p:nvSpPr>
            <p:cNvPr name="TextBox 6" id="6"/>
            <p:cNvSpPr txBox="true"/>
            <p:nvPr/>
          </p:nvSpPr>
          <p:spPr>
            <a:xfrm rot="0">
              <a:off x="1631180" y="1214534"/>
              <a:ext cx="5318404" cy="3321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2100"/>
                </a:lnSpc>
                <a:spcBef>
                  <a:spcPct val="0"/>
                </a:spcBef>
              </a:pPr>
              <a:r>
                <a:rPr lang="en-US" b="true" sz="1400" i="true">
                  <a:solidFill>
                    <a:srgbClr val="502BD4"/>
                  </a:solidFill>
                  <a:latin typeface="Open Sauce Bold Italics"/>
                  <a:ea typeface="Open Sauce Bold Italics"/>
                  <a:cs typeface="Open Sauce Bold Italics"/>
                  <a:sym typeface="Open Sauce Bold Italics"/>
                </a:rPr>
                <a:t>RESPONSABILIDAD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1631180" y="166792"/>
              <a:ext cx="5326106" cy="10433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100"/>
                </a:lnSpc>
                <a:spcBef>
                  <a:spcPct val="0"/>
                </a:spcBef>
              </a:pPr>
              <a:r>
                <a:rPr lang="en-US" sz="1400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"La </a:t>
              </a:r>
              <a:r>
                <a:rPr lang="en-US" sz="1400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responsabilidad es el precio de la grandeza. Cada acción cuenta, cada decisión importa."</a:t>
              </a:r>
            </a:p>
          </p:txBody>
        </p:sp>
        <p:sp>
          <p:nvSpPr>
            <p:cNvPr name="Freeform 8" id="8"/>
            <p:cNvSpPr/>
            <p:nvPr/>
          </p:nvSpPr>
          <p:spPr>
            <a:xfrm flipH="false" flipV="false" rot="0">
              <a:off x="193183" y="283013"/>
              <a:ext cx="1263561" cy="1263561"/>
            </a:xfrm>
            <a:custGeom>
              <a:avLst/>
              <a:gdLst/>
              <a:ahLst/>
              <a:cxnLst/>
              <a:rect r="r" b="b" t="t" l="l"/>
              <a:pathLst>
                <a:path h="1263561" w="1263561">
                  <a:moveTo>
                    <a:pt x="0" y="0"/>
                  </a:moveTo>
                  <a:lnTo>
                    <a:pt x="1263561" y="0"/>
                  </a:lnTo>
                  <a:lnTo>
                    <a:pt x="1263561" y="1263560"/>
                  </a:lnTo>
                  <a:lnTo>
                    <a:pt x="0" y="12635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0" y="0"/>
            <a:ext cx="9911135" cy="1714536"/>
            <a:chOff x="0" y="0"/>
            <a:chExt cx="13214846" cy="228604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544422" cy="2286047"/>
            </a:xfrm>
            <a:custGeom>
              <a:avLst/>
              <a:gdLst/>
              <a:ahLst/>
              <a:cxnLst/>
              <a:rect r="r" b="b" t="t" l="l"/>
              <a:pathLst>
                <a:path h="2286047" w="3544422">
                  <a:moveTo>
                    <a:pt x="0" y="0"/>
                  </a:moveTo>
                  <a:lnTo>
                    <a:pt x="3544422" y="0"/>
                  </a:lnTo>
                  <a:lnTo>
                    <a:pt x="3544422" y="2286047"/>
                  </a:lnTo>
                  <a:lnTo>
                    <a:pt x="0" y="22860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 rot="0">
              <a:off x="3544422" y="470891"/>
              <a:ext cx="9670424" cy="181515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20"/>
                </a:lnSpc>
              </a:pPr>
              <a:r>
                <a:rPr lang="en-US" sz="1943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Escuela </a:t>
              </a:r>
              <a:r>
                <a:rPr lang="en-US" sz="1943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de Ingeniería de Ciencias y Sistemas</a:t>
              </a:r>
            </a:p>
            <a:p>
              <a:pPr algn="l">
                <a:lnSpc>
                  <a:spcPts val="2720"/>
                </a:lnSpc>
              </a:pPr>
              <a:r>
                <a:rPr lang="en-US" sz="1943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Facultad de Ingeniería</a:t>
              </a:r>
            </a:p>
            <a:p>
              <a:pPr algn="l">
                <a:lnSpc>
                  <a:spcPts val="2720"/>
                </a:lnSpc>
              </a:pPr>
              <a:r>
                <a:rPr lang="en-US" sz="1943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Universidad San Carlos de Guatemala</a:t>
              </a:r>
            </a:p>
            <a:p>
              <a:pPr algn="l">
                <a:lnSpc>
                  <a:spcPts val="2720"/>
                </a:lnSpc>
              </a:pPr>
            </a:p>
          </p:txBody>
        </p:sp>
      </p:grpSp>
      <p:sp>
        <p:nvSpPr>
          <p:cNvPr name="Freeform 12" id="12">
            <a:hlinkClick r:id="rId9" tooltip="https://youtu.be/VPQv4o-vvH4?si=2UtXydqd_HtIVg0l"/>
          </p:cNvPr>
          <p:cNvSpPr/>
          <p:nvPr/>
        </p:nvSpPr>
        <p:spPr>
          <a:xfrm flipH="false" flipV="false" rot="0">
            <a:off x="1009598" y="7200900"/>
            <a:ext cx="2954491" cy="2057400"/>
          </a:xfrm>
          <a:custGeom>
            <a:avLst/>
            <a:gdLst/>
            <a:ahLst/>
            <a:cxnLst/>
            <a:rect r="r" b="b" t="t" l="l"/>
            <a:pathLst>
              <a:path h="2057400" w="2954491">
                <a:moveTo>
                  <a:pt x="0" y="0"/>
                </a:moveTo>
                <a:lnTo>
                  <a:pt x="2954491" y="0"/>
                </a:lnTo>
                <a:lnTo>
                  <a:pt x="2954491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028700" y="4478586"/>
            <a:ext cx="14164008" cy="1838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4400"/>
              </a:lnSpc>
              <a:spcBef>
                <a:spcPct val="0"/>
              </a:spcBef>
            </a:pPr>
            <a:r>
              <a:rPr lang="en-US" sz="1200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VISUAL BASIC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028700" y="6316911"/>
            <a:ext cx="6677040" cy="1186215"/>
            <a:chOff x="0" y="0"/>
            <a:chExt cx="8902720" cy="1581620"/>
          </a:xfrm>
        </p:grpSpPr>
        <p:sp>
          <p:nvSpPr>
            <p:cNvPr name="TextBox 15" id="15"/>
            <p:cNvSpPr txBox="true"/>
            <p:nvPr/>
          </p:nvSpPr>
          <p:spPr>
            <a:xfrm rot="0">
              <a:off x="0" y="876770"/>
              <a:ext cx="8902720" cy="7048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500"/>
                </a:lnSpc>
              </a:pP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0" y="-95250"/>
              <a:ext cx="8902720" cy="7048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500"/>
                </a:lnSpc>
                <a:spcBef>
                  <a:spcPct val="0"/>
                </a:spcBef>
              </a:pPr>
              <a:r>
                <a:rPr lang="en-US" b="true" sz="3000">
                  <a:solidFill>
                    <a:srgbClr val="FFFFFF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INSTALACIÓN Y CONFIGURACIÓN</a:t>
              </a: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4367220" y="7906067"/>
            <a:ext cx="8660309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Video recomendado en Youtube </a:t>
            </a:r>
            <a:r>
              <a:rPr lang="en-US" sz="3399">
                <a:solidFill>
                  <a:srgbClr val="FFDE59"/>
                </a:solidFill>
                <a:latin typeface="Canva Sans"/>
                <a:ea typeface="Canva Sans"/>
                <a:cs typeface="Canva Sans"/>
                <a:sym typeface="Canva Sans"/>
              </a:rPr>
              <a:t>Dar Click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840682" y="140634"/>
            <a:ext cx="12606635" cy="23215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039"/>
              </a:lnSpc>
            </a:pPr>
            <a:r>
              <a:rPr lang="en-US" sz="13599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INSTALACION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2408397" y="3065224"/>
            <a:ext cx="1543050" cy="1157288"/>
            <a:chOff x="0" y="0"/>
            <a:chExt cx="812800" cy="6096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609600"/>
            </a:xfrm>
            <a:custGeom>
              <a:avLst/>
              <a:gdLst/>
              <a:ahLst/>
              <a:cxnLst/>
              <a:rect r="r" b="b" t="t" l="l"/>
              <a:pathLst>
                <a:path h="609600" w="812800">
                  <a:moveTo>
                    <a:pt x="203200" y="0"/>
                  </a:moveTo>
                  <a:lnTo>
                    <a:pt x="812800" y="0"/>
                  </a:lnTo>
                  <a:lnTo>
                    <a:pt x="609600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502BD4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101600" y="-161925"/>
              <a:ext cx="609600" cy="7715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8249"/>
                </a:lnSpc>
              </a:pPr>
              <a:r>
                <a:rPr lang="en-US" b="true" sz="5499" i="true">
                  <a:solidFill>
                    <a:srgbClr val="FFFFFF"/>
                  </a:solidFill>
                  <a:latin typeface="Open Sauce Bold Italics"/>
                  <a:ea typeface="Open Sauce Bold Italics"/>
                  <a:cs typeface="Open Sauce Bold Italics"/>
                  <a:sym typeface="Open Sauce Bold Italics"/>
                </a:rPr>
                <a:t>01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2456022" y="5506006"/>
            <a:ext cx="1543050" cy="1157288"/>
            <a:chOff x="0" y="0"/>
            <a:chExt cx="812800" cy="6096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609600"/>
            </a:xfrm>
            <a:custGeom>
              <a:avLst/>
              <a:gdLst/>
              <a:ahLst/>
              <a:cxnLst/>
              <a:rect r="r" b="b" t="t" l="l"/>
              <a:pathLst>
                <a:path h="609600" w="812800">
                  <a:moveTo>
                    <a:pt x="203200" y="0"/>
                  </a:moveTo>
                  <a:lnTo>
                    <a:pt x="812800" y="0"/>
                  </a:lnTo>
                  <a:lnTo>
                    <a:pt x="609600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502BD4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101600" y="-161925"/>
              <a:ext cx="609600" cy="7715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8249"/>
                </a:lnSpc>
              </a:pPr>
              <a:r>
                <a:rPr lang="en-US" b="true" sz="5499" i="true">
                  <a:solidFill>
                    <a:srgbClr val="FFFFFF"/>
                  </a:solidFill>
                  <a:latin typeface="Open Sauce Bold Italics"/>
                  <a:ea typeface="Open Sauce Bold Italics"/>
                  <a:cs typeface="Open Sauce Bold Italics"/>
                  <a:sym typeface="Open Sauce Bold Italics"/>
                </a:rPr>
                <a:t>02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311690" y="3065224"/>
            <a:ext cx="1543050" cy="1157288"/>
            <a:chOff x="0" y="0"/>
            <a:chExt cx="812800" cy="6096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609600"/>
            </a:xfrm>
            <a:custGeom>
              <a:avLst/>
              <a:gdLst/>
              <a:ahLst/>
              <a:cxnLst/>
              <a:rect r="r" b="b" t="t" l="l"/>
              <a:pathLst>
                <a:path h="609600" w="812800">
                  <a:moveTo>
                    <a:pt x="203200" y="0"/>
                  </a:moveTo>
                  <a:lnTo>
                    <a:pt x="812800" y="0"/>
                  </a:lnTo>
                  <a:lnTo>
                    <a:pt x="609600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502BD4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101600" y="-161925"/>
              <a:ext cx="609600" cy="7715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8249"/>
                </a:lnSpc>
              </a:pPr>
              <a:r>
                <a:rPr lang="en-US" b="true" sz="5499" i="true">
                  <a:solidFill>
                    <a:srgbClr val="FFFFFF"/>
                  </a:solidFill>
                  <a:latin typeface="Open Sauce Bold Italics"/>
                  <a:ea typeface="Open Sauce Bold Italics"/>
                  <a:cs typeface="Open Sauce Bold Italics"/>
                  <a:sym typeface="Open Sauce Bold Italics"/>
                </a:rPr>
                <a:t>03</a:t>
              </a: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4450319" y="3152696"/>
            <a:ext cx="3248025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Descargar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4450319" y="5410756"/>
            <a:ext cx="4506889" cy="1811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79"/>
              </a:lnSpc>
            </a:pPr>
            <a:r>
              <a:rPr lang="en-US" sz="5199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Instalar paquetes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372714" y="2969974"/>
            <a:ext cx="4506889" cy="1811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79"/>
              </a:lnSpc>
            </a:pPr>
            <a:r>
              <a:rPr lang="en-US" sz="5199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Crear un proyecto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576986" y="3786555"/>
            <a:ext cx="9134028" cy="6051294"/>
          </a:xfrm>
          <a:custGeom>
            <a:avLst/>
            <a:gdLst/>
            <a:ahLst/>
            <a:cxnLst/>
            <a:rect r="r" b="b" t="t" l="l"/>
            <a:pathLst>
              <a:path h="6051294" w="9134028">
                <a:moveTo>
                  <a:pt x="0" y="0"/>
                </a:moveTo>
                <a:lnTo>
                  <a:pt x="9134028" y="0"/>
                </a:lnTo>
                <a:lnTo>
                  <a:pt x="9134028" y="6051294"/>
                </a:lnTo>
                <a:lnTo>
                  <a:pt x="0" y="605129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24009" y="1722266"/>
            <a:ext cx="17239982" cy="1811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Desde su sitio oficial</a:t>
            </a:r>
          </a:p>
          <a:p>
            <a:pPr algn="ctr">
              <a:lnSpc>
                <a:spcPts val="7279"/>
              </a:lnSpc>
            </a:pPr>
            <a:r>
              <a:rPr lang="en-US" b="true" sz="5199" u="sng">
                <a:solidFill>
                  <a:srgbClr val="38B6FF"/>
                </a:solidFill>
                <a:latin typeface="Canva Sans Bold"/>
                <a:ea typeface="Canva Sans Bold"/>
                <a:cs typeface="Canva Sans Bold"/>
                <a:sym typeface="Canva Sans Bold"/>
                <a:hlinkClick r:id="rId3" tooltip="https://visualstudio.microsoft.com/es/downloads/"/>
              </a:rPr>
              <a:t>https://visualstudio.microsoft.com/es/downloads/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47486" y="359804"/>
            <a:ext cx="11950512" cy="12044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878"/>
              </a:lnSpc>
            </a:pPr>
            <a:r>
              <a:rPr lang="en-US" sz="7056">
                <a:solidFill>
                  <a:srgbClr val="FE502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OPCIONES DE DESCARGA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329111" y="2949146"/>
            <a:ext cx="11629778" cy="6309154"/>
          </a:xfrm>
          <a:custGeom>
            <a:avLst/>
            <a:gdLst/>
            <a:ahLst/>
            <a:cxnLst/>
            <a:rect r="r" b="b" t="t" l="l"/>
            <a:pathLst>
              <a:path h="6309154" w="11629778">
                <a:moveTo>
                  <a:pt x="0" y="0"/>
                </a:moveTo>
                <a:lnTo>
                  <a:pt x="11629778" y="0"/>
                </a:lnTo>
                <a:lnTo>
                  <a:pt x="11629778" y="6309154"/>
                </a:lnTo>
                <a:lnTo>
                  <a:pt x="0" y="63091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47486" y="359804"/>
            <a:ext cx="11950512" cy="12044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878"/>
              </a:lnSpc>
            </a:pPr>
            <a:r>
              <a:rPr lang="en-US" sz="7056">
                <a:solidFill>
                  <a:srgbClr val="FE502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OPCIONES DE DESCARGA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3329111" y="2062050"/>
            <a:ext cx="8355458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Desde la Microsoft store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493371" y="4924629"/>
            <a:ext cx="11301259" cy="4958427"/>
          </a:xfrm>
          <a:custGeom>
            <a:avLst/>
            <a:gdLst/>
            <a:ahLst/>
            <a:cxnLst/>
            <a:rect r="r" b="b" t="t" l="l"/>
            <a:pathLst>
              <a:path h="4958427" w="11301259">
                <a:moveTo>
                  <a:pt x="0" y="0"/>
                </a:moveTo>
                <a:lnTo>
                  <a:pt x="11301258" y="0"/>
                </a:lnTo>
                <a:lnTo>
                  <a:pt x="11301258" y="4958427"/>
                </a:lnTo>
                <a:lnTo>
                  <a:pt x="0" y="495842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47486" y="359804"/>
            <a:ext cx="11950512" cy="12044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878"/>
              </a:lnSpc>
            </a:pPr>
            <a:r>
              <a:rPr lang="en-US" sz="7056">
                <a:solidFill>
                  <a:srgbClr val="FE502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INSTALAR PAQUETES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1827734"/>
            <a:ext cx="16230600" cy="2734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Antes de tener nuestro programa nos solicitara que especifiquemos las herramientas con las que queremos trabajar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493371" y="4000704"/>
            <a:ext cx="11301259" cy="5862528"/>
          </a:xfrm>
          <a:custGeom>
            <a:avLst/>
            <a:gdLst/>
            <a:ahLst/>
            <a:cxnLst/>
            <a:rect r="r" b="b" t="t" l="l"/>
            <a:pathLst>
              <a:path h="5862528" w="11301259">
                <a:moveTo>
                  <a:pt x="0" y="0"/>
                </a:moveTo>
                <a:lnTo>
                  <a:pt x="11301258" y="0"/>
                </a:lnTo>
                <a:lnTo>
                  <a:pt x="11301258" y="5862528"/>
                </a:lnTo>
                <a:lnTo>
                  <a:pt x="0" y="586252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47486" y="359804"/>
            <a:ext cx="11950512" cy="12044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878"/>
              </a:lnSpc>
            </a:pPr>
            <a:r>
              <a:rPr lang="en-US" sz="7056">
                <a:solidFill>
                  <a:srgbClr val="FE502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INSTALAR PAQUETES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1827734"/>
            <a:ext cx="16230600" cy="1811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El paquete que debemos seleccionar es </a:t>
            </a:r>
          </a:p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FFDE59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Desarrollo de escritorio de .NET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226641" y="140634"/>
            <a:ext cx="15834717" cy="23215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039"/>
              </a:lnSpc>
            </a:pPr>
            <a:r>
              <a:rPr lang="en-US" sz="13599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CONFIGURACION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2685705" y="2658586"/>
            <a:ext cx="1543050" cy="1157288"/>
            <a:chOff x="0" y="0"/>
            <a:chExt cx="812800" cy="6096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609600"/>
            </a:xfrm>
            <a:custGeom>
              <a:avLst/>
              <a:gdLst/>
              <a:ahLst/>
              <a:cxnLst/>
              <a:rect r="r" b="b" t="t" l="l"/>
              <a:pathLst>
                <a:path h="609600" w="812800">
                  <a:moveTo>
                    <a:pt x="203200" y="0"/>
                  </a:moveTo>
                  <a:lnTo>
                    <a:pt x="812800" y="0"/>
                  </a:lnTo>
                  <a:lnTo>
                    <a:pt x="609600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502BD4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101600" y="-161925"/>
              <a:ext cx="609600" cy="7715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8249"/>
                </a:lnSpc>
              </a:pPr>
              <a:r>
                <a:rPr lang="en-US" b="true" sz="5499" i="true">
                  <a:solidFill>
                    <a:srgbClr val="FFFFFF"/>
                  </a:solidFill>
                  <a:latin typeface="Open Sauce Bold Italics"/>
                  <a:ea typeface="Open Sauce Bold Italics"/>
                  <a:cs typeface="Open Sauce Bold Italics"/>
                  <a:sym typeface="Open Sauce Bold Italics"/>
                </a:rPr>
                <a:t>01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2733330" y="5099367"/>
            <a:ext cx="1543050" cy="1157288"/>
            <a:chOff x="0" y="0"/>
            <a:chExt cx="812800" cy="6096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609600"/>
            </a:xfrm>
            <a:custGeom>
              <a:avLst/>
              <a:gdLst/>
              <a:ahLst/>
              <a:cxnLst/>
              <a:rect r="r" b="b" t="t" l="l"/>
              <a:pathLst>
                <a:path h="609600" w="812800">
                  <a:moveTo>
                    <a:pt x="203200" y="0"/>
                  </a:moveTo>
                  <a:lnTo>
                    <a:pt x="812800" y="0"/>
                  </a:lnTo>
                  <a:lnTo>
                    <a:pt x="609600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502BD4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101600" y="-161925"/>
              <a:ext cx="609600" cy="7715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8249"/>
                </a:lnSpc>
              </a:pPr>
              <a:r>
                <a:rPr lang="en-US" b="true" sz="5499" i="true">
                  <a:solidFill>
                    <a:srgbClr val="FFFFFF"/>
                  </a:solidFill>
                  <a:latin typeface="Open Sauce Bold Italics"/>
                  <a:ea typeface="Open Sauce Bold Italics"/>
                  <a:cs typeface="Open Sauce Bold Italics"/>
                  <a:sym typeface="Open Sauce Bold Italics"/>
                </a:rPr>
                <a:t>02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2666603" y="7542530"/>
            <a:ext cx="1543050" cy="1157288"/>
            <a:chOff x="0" y="0"/>
            <a:chExt cx="812800" cy="6096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609600"/>
            </a:xfrm>
            <a:custGeom>
              <a:avLst/>
              <a:gdLst/>
              <a:ahLst/>
              <a:cxnLst/>
              <a:rect r="r" b="b" t="t" l="l"/>
              <a:pathLst>
                <a:path h="609600" w="812800">
                  <a:moveTo>
                    <a:pt x="203200" y="0"/>
                  </a:moveTo>
                  <a:lnTo>
                    <a:pt x="812800" y="0"/>
                  </a:lnTo>
                  <a:lnTo>
                    <a:pt x="609600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502BD4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101600" y="-161925"/>
              <a:ext cx="609600" cy="7715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8249"/>
                </a:lnSpc>
              </a:pPr>
              <a:r>
                <a:rPr lang="en-US" b="true" sz="5499" i="true">
                  <a:solidFill>
                    <a:srgbClr val="FFFFFF"/>
                  </a:solidFill>
                  <a:latin typeface="Open Sauce Bold Italics"/>
                  <a:ea typeface="Open Sauce Bold Italics"/>
                  <a:cs typeface="Open Sauce Bold Italics"/>
                  <a:sym typeface="Open Sauce Bold Italics"/>
                </a:rPr>
                <a:t>03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0151678" y="2657396"/>
            <a:ext cx="1543050" cy="1157288"/>
            <a:chOff x="0" y="0"/>
            <a:chExt cx="812800" cy="6096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609600"/>
            </a:xfrm>
            <a:custGeom>
              <a:avLst/>
              <a:gdLst/>
              <a:ahLst/>
              <a:cxnLst/>
              <a:rect r="r" b="b" t="t" l="l"/>
              <a:pathLst>
                <a:path h="609600" w="812800">
                  <a:moveTo>
                    <a:pt x="203200" y="0"/>
                  </a:moveTo>
                  <a:lnTo>
                    <a:pt x="812800" y="0"/>
                  </a:lnTo>
                  <a:lnTo>
                    <a:pt x="609600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502BD4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101600" y="-161925"/>
              <a:ext cx="609600" cy="7715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8249"/>
                </a:lnSpc>
              </a:pPr>
              <a:r>
                <a:rPr lang="en-US" b="true" sz="5499" i="true">
                  <a:solidFill>
                    <a:srgbClr val="FFFFFF"/>
                  </a:solidFill>
                  <a:latin typeface="Open Sauce Bold Italics"/>
                  <a:ea typeface="Open Sauce Bold Italics"/>
                  <a:cs typeface="Open Sauce Bold Italics"/>
                  <a:sym typeface="Open Sauce Bold Italics"/>
                </a:rPr>
                <a:t>04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0199303" y="5098177"/>
            <a:ext cx="1543050" cy="1157288"/>
            <a:chOff x="0" y="0"/>
            <a:chExt cx="812800" cy="6096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609600"/>
            </a:xfrm>
            <a:custGeom>
              <a:avLst/>
              <a:gdLst/>
              <a:ahLst/>
              <a:cxnLst/>
              <a:rect r="r" b="b" t="t" l="l"/>
              <a:pathLst>
                <a:path h="609600" w="812800">
                  <a:moveTo>
                    <a:pt x="203200" y="0"/>
                  </a:moveTo>
                  <a:lnTo>
                    <a:pt x="812800" y="0"/>
                  </a:lnTo>
                  <a:lnTo>
                    <a:pt x="609600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502BD4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101600" y="-161925"/>
              <a:ext cx="609600" cy="7715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8249"/>
                </a:lnSpc>
              </a:pPr>
              <a:r>
                <a:rPr lang="en-US" b="true" sz="5499" i="true">
                  <a:solidFill>
                    <a:srgbClr val="FFFFFF"/>
                  </a:solidFill>
                  <a:latin typeface="Open Sauce Bold Italics"/>
                  <a:ea typeface="Open Sauce Bold Italics"/>
                  <a:cs typeface="Open Sauce Bold Italics"/>
                  <a:sym typeface="Open Sauce Bold Italics"/>
                </a:rPr>
                <a:t>05</a:t>
              </a: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11930211" y="2744867"/>
            <a:ext cx="5329089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Escoger un tema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4637111" y="5048250"/>
            <a:ext cx="4471962" cy="1811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79"/>
              </a:lnSpc>
            </a:pPr>
            <a:r>
              <a:rPr lang="en-US" sz="5199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Configurar herramientas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4637111" y="7447280"/>
            <a:ext cx="4506889" cy="1811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79"/>
              </a:lnSpc>
            </a:pPr>
            <a:r>
              <a:rPr lang="en-US" sz="5199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Conocer el entorno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4637111" y="2562146"/>
            <a:ext cx="4506889" cy="1811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79"/>
              </a:lnSpc>
            </a:pPr>
            <a:r>
              <a:rPr lang="en-US" sz="5199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Crea un proyecto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1930211" y="5004117"/>
            <a:ext cx="4506889" cy="1811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79"/>
              </a:lnSpc>
            </a:pPr>
            <a:r>
              <a:rPr lang="en-US" sz="5199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Guardar proyecto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401577" y="1922984"/>
            <a:ext cx="6766301" cy="7949406"/>
          </a:xfrm>
          <a:custGeom>
            <a:avLst/>
            <a:gdLst/>
            <a:ahLst/>
            <a:cxnLst/>
            <a:rect r="r" b="b" t="t" l="l"/>
            <a:pathLst>
              <a:path h="7949406" w="6766301">
                <a:moveTo>
                  <a:pt x="0" y="0"/>
                </a:moveTo>
                <a:lnTo>
                  <a:pt x="6766301" y="0"/>
                </a:lnTo>
                <a:lnTo>
                  <a:pt x="6766301" y="7949406"/>
                </a:lnTo>
                <a:lnTo>
                  <a:pt x="0" y="794940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6750139" y="6058673"/>
            <a:ext cx="3086100" cy="3086100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812800" y="406400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0" y="203200"/>
                  </a:lnTo>
                  <a:lnTo>
                    <a:pt x="0" y="609600"/>
                  </a:lnTo>
                  <a:lnTo>
                    <a:pt x="406400" y="609600"/>
                  </a:lnTo>
                  <a:lnTo>
                    <a:pt x="406400" y="812800"/>
                  </a:lnTo>
                  <a:lnTo>
                    <a:pt x="812800" y="406400"/>
                  </a:lnTo>
                  <a:close/>
                </a:path>
              </a:pathLst>
            </a:custGeom>
            <a:solidFill>
              <a:srgbClr val="FFDE59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155575"/>
              <a:ext cx="711200" cy="454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247486" y="359804"/>
            <a:ext cx="11950512" cy="12044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878"/>
              </a:lnSpc>
            </a:pPr>
            <a:r>
              <a:rPr lang="en-US" sz="7056">
                <a:solidFill>
                  <a:srgbClr val="FE502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CREA UN PROYECTO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1827734"/>
            <a:ext cx="8004220" cy="1811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Selecciona la opción </a:t>
            </a:r>
          </a:p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FFDE59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Create a new project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707" y="1715770"/>
            <a:ext cx="12962162" cy="8571230"/>
          </a:xfrm>
          <a:custGeom>
            <a:avLst/>
            <a:gdLst/>
            <a:ahLst/>
            <a:cxnLst/>
            <a:rect r="r" b="b" t="t" l="l"/>
            <a:pathLst>
              <a:path h="8571230" w="12962162">
                <a:moveTo>
                  <a:pt x="0" y="0"/>
                </a:moveTo>
                <a:lnTo>
                  <a:pt x="12962162" y="0"/>
                </a:lnTo>
                <a:lnTo>
                  <a:pt x="12962162" y="8571230"/>
                </a:lnTo>
                <a:lnTo>
                  <a:pt x="0" y="857123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-10800000">
            <a:off x="12197998" y="2275366"/>
            <a:ext cx="3086100" cy="3086100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812800" y="406400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0" y="203200"/>
                  </a:lnTo>
                  <a:lnTo>
                    <a:pt x="0" y="609600"/>
                  </a:lnTo>
                  <a:lnTo>
                    <a:pt x="406400" y="609600"/>
                  </a:lnTo>
                  <a:lnTo>
                    <a:pt x="406400" y="812800"/>
                  </a:lnTo>
                  <a:lnTo>
                    <a:pt x="812800" y="406400"/>
                  </a:lnTo>
                  <a:close/>
                </a:path>
              </a:pathLst>
            </a:custGeom>
            <a:solidFill>
              <a:srgbClr val="FFDE59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155575"/>
              <a:ext cx="711200" cy="454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5734763" y="9067255"/>
            <a:ext cx="1795571" cy="781757"/>
            <a:chOff x="0" y="0"/>
            <a:chExt cx="472908" cy="20589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72908" cy="205895"/>
            </a:xfrm>
            <a:custGeom>
              <a:avLst/>
              <a:gdLst/>
              <a:ahLst/>
              <a:cxnLst/>
              <a:rect r="r" b="b" t="t" l="l"/>
              <a:pathLst>
                <a:path h="205895" w="472908">
                  <a:moveTo>
                    <a:pt x="0" y="0"/>
                  </a:moveTo>
                  <a:lnTo>
                    <a:pt x="472908" y="0"/>
                  </a:lnTo>
                  <a:lnTo>
                    <a:pt x="472908" y="205895"/>
                  </a:lnTo>
                  <a:lnTo>
                    <a:pt x="0" y="205895"/>
                  </a:lnTo>
                  <a:close/>
                </a:path>
              </a:pathLst>
            </a:custGeom>
            <a:solidFill>
              <a:srgbClr val="502BD4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472908" cy="2535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247486" y="359804"/>
            <a:ext cx="14671174" cy="12044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878"/>
              </a:lnSpc>
            </a:pPr>
            <a:r>
              <a:rPr lang="en-US" sz="7056">
                <a:solidFill>
                  <a:srgbClr val="FE502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SELECCIONA LA HERRAMIENTA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976869" y="5266216"/>
            <a:ext cx="5331854" cy="4582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Selecciona la opción </a:t>
            </a:r>
          </a:p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FFDE59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Windows Forms App</a:t>
            </a:r>
          </a:p>
          <a:p>
            <a:pPr algn="ctr">
              <a:lnSpc>
                <a:spcPts val="7279"/>
              </a:lnSpc>
            </a:pPr>
            <a:r>
              <a:rPr lang="en-US" b="true" sz="5199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luego Next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750862" y="4752622"/>
            <a:ext cx="1795571" cy="781757"/>
            <a:chOff x="0" y="0"/>
            <a:chExt cx="472908" cy="20589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72908" cy="205895"/>
            </a:xfrm>
            <a:custGeom>
              <a:avLst/>
              <a:gdLst/>
              <a:ahLst/>
              <a:cxnLst/>
              <a:rect r="r" b="b" t="t" l="l"/>
              <a:pathLst>
                <a:path h="205895" w="472908">
                  <a:moveTo>
                    <a:pt x="0" y="0"/>
                  </a:moveTo>
                  <a:lnTo>
                    <a:pt x="472908" y="0"/>
                  </a:lnTo>
                  <a:lnTo>
                    <a:pt x="472908" y="205895"/>
                  </a:lnTo>
                  <a:lnTo>
                    <a:pt x="0" y="205895"/>
                  </a:lnTo>
                  <a:close/>
                </a:path>
              </a:pathLst>
            </a:custGeom>
            <a:solidFill>
              <a:srgbClr val="502BD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72908" cy="2535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387355" y="1782070"/>
            <a:ext cx="12589514" cy="8372027"/>
          </a:xfrm>
          <a:custGeom>
            <a:avLst/>
            <a:gdLst/>
            <a:ahLst/>
            <a:cxnLst/>
            <a:rect r="r" b="b" t="t" l="l"/>
            <a:pathLst>
              <a:path h="8372027" w="12589514">
                <a:moveTo>
                  <a:pt x="0" y="0"/>
                </a:moveTo>
                <a:lnTo>
                  <a:pt x="12589514" y="0"/>
                </a:lnTo>
                <a:lnTo>
                  <a:pt x="12589514" y="8372026"/>
                </a:lnTo>
                <a:lnTo>
                  <a:pt x="0" y="837202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-10800000">
            <a:off x="7867477" y="2275366"/>
            <a:ext cx="5109392" cy="3086100"/>
            <a:chOff x="0" y="0"/>
            <a:chExt cx="1345684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345684" cy="812800"/>
            </a:xfrm>
            <a:custGeom>
              <a:avLst/>
              <a:gdLst/>
              <a:ahLst/>
              <a:cxnLst/>
              <a:rect r="r" b="b" t="t" l="l"/>
              <a:pathLst>
                <a:path h="812800" w="1345684">
                  <a:moveTo>
                    <a:pt x="1345684" y="406400"/>
                  </a:moveTo>
                  <a:lnTo>
                    <a:pt x="939284" y="0"/>
                  </a:lnTo>
                  <a:lnTo>
                    <a:pt x="939284" y="203200"/>
                  </a:lnTo>
                  <a:lnTo>
                    <a:pt x="0" y="203200"/>
                  </a:lnTo>
                  <a:lnTo>
                    <a:pt x="0" y="609600"/>
                  </a:lnTo>
                  <a:lnTo>
                    <a:pt x="939284" y="609600"/>
                  </a:lnTo>
                  <a:lnTo>
                    <a:pt x="939284" y="812800"/>
                  </a:lnTo>
                  <a:lnTo>
                    <a:pt x="1345684" y="406400"/>
                  </a:lnTo>
                  <a:close/>
                </a:path>
              </a:pathLst>
            </a:custGeom>
            <a:solidFill>
              <a:srgbClr val="FFDE59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155575"/>
              <a:ext cx="1244084" cy="454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247486" y="359804"/>
            <a:ext cx="11950512" cy="12044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878"/>
              </a:lnSpc>
            </a:pPr>
            <a:r>
              <a:rPr lang="en-US" sz="7056">
                <a:solidFill>
                  <a:srgbClr val="FE502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CREA UN PROYECTO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956146" y="1827734"/>
            <a:ext cx="5331854" cy="3658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Ingresa el nombre de tu proyecto</a:t>
            </a:r>
          </a:p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luego next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829543" y="7117885"/>
            <a:ext cx="2343955" cy="781757"/>
            <a:chOff x="0" y="0"/>
            <a:chExt cx="617338" cy="20589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17338" cy="205895"/>
            </a:xfrm>
            <a:custGeom>
              <a:avLst/>
              <a:gdLst/>
              <a:ahLst/>
              <a:cxnLst/>
              <a:rect r="r" b="b" t="t" l="l"/>
              <a:pathLst>
                <a:path h="205895" w="617338">
                  <a:moveTo>
                    <a:pt x="0" y="0"/>
                  </a:moveTo>
                  <a:lnTo>
                    <a:pt x="617338" y="0"/>
                  </a:lnTo>
                  <a:lnTo>
                    <a:pt x="617338" y="205895"/>
                  </a:lnTo>
                  <a:lnTo>
                    <a:pt x="0" y="205895"/>
                  </a:lnTo>
                  <a:close/>
                </a:path>
              </a:pathLst>
            </a:custGeom>
            <a:solidFill>
              <a:srgbClr val="502BD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617338" cy="2535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247486" y="1564246"/>
            <a:ext cx="11705008" cy="7769199"/>
          </a:xfrm>
          <a:custGeom>
            <a:avLst/>
            <a:gdLst/>
            <a:ahLst/>
            <a:cxnLst/>
            <a:rect r="r" b="b" t="t" l="l"/>
            <a:pathLst>
              <a:path h="7769199" w="11705008">
                <a:moveTo>
                  <a:pt x="0" y="0"/>
                </a:moveTo>
                <a:lnTo>
                  <a:pt x="11705008" y="0"/>
                </a:lnTo>
                <a:lnTo>
                  <a:pt x="11705008" y="7769199"/>
                </a:lnTo>
                <a:lnTo>
                  <a:pt x="0" y="776919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47486" y="359804"/>
            <a:ext cx="11950512" cy="12044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878"/>
              </a:lnSpc>
            </a:pPr>
            <a:r>
              <a:rPr lang="en-US" sz="7056">
                <a:solidFill>
                  <a:srgbClr val="FE502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CREA UN PROYECTO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956519" y="1468996"/>
            <a:ext cx="6090002" cy="6430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En esta sección nos da la opción de escoger la versión de .NET</a:t>
            </a:r>
          </a:p>
          <a:p>
            <a:pPr algn="ctr">
              <a:lnSpc>
                <a:spcPts val="7279"/>
              </a:lnSpc>
            </a:pPr>
            <a:r>
              <a:rPr lang="en-US" b="true" sz="5199">
                <a:solidFill>
                  <a:srgbClr val="FFDE59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Podemos ignorarla</a:t>
            </a:r>
            <a:r>
              <a:rPr lang="en-US" b="true" sz="5199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y dar al boton Create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1564246"/>
            <a:ext cx="16458026" cy="8722754"/>
          </a:xfrm>
          <a:custGeom>
            <a:avLst/>
            <a:gdLst/>
            <a:ahLst/>
            <a:cxnLst/>
            <a:rect r="r" b="b" t="t" l="l"/>
            <a:pathLst>
              <a:path h="8722754" w="16458026">
                <a:moveTo>
                  <a:pt x="0" y="0"/>
                </a:moveTo>
                <a:lnTo>
                  <a:pt x="16458026" y="0"/>
                </a:lnTo>
                <a:lnTo>
                  <a:pt x="16458026" y="8722754"/>
                </a:lnTo>
                <a:lnTo>
                  <a:pt x="0" y="87227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08854" y="359804"/>
            <a:ext cx="8135146" cy="12044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878"/>
              </a:lnSpc>
            </a:pPr>
            <a:r>
              <a:rPr lang="en-US" sz="7056">
                <a:solidFill>
                  <a:srgbClr val="FE502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MENU PRINCIPAL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47486" y="4938893"/>
            <a:ext cx="5272293" cy="5237027"/>
          </a:xfrm>
          <a:custGeom>
            <a:avLst/>
            <a:gdLst/>
            <a:ahLst/>
            <a:cxnLst/>
            <a:rect r="r" b="b" t="t" l="l"/>
            <a:pathLst>
              <a:path h="5237027" w="5272293">
                <a:moveTo>
                  <a:pt x="0" y="0"/>
                </a:moveTo>
                <a:lnTo>
                  <a:pt x="5272293" y="0"/>
                </a:lnTo>
                <a:lnTo>
                  <a:pt x="5272293" y="5237027"/>
                </a:lnTo>
                <a:lnTo>
                  <a:pt x="0" y="523702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167704" y="4938893"/>
            <a:ext cx="5952592" cy="5237027"/>
          </a:xfrm>
          <a:custGeom>
            <a:avLst/>
            <a:gdLst/>
            <a:ahLst/>
            <a:cxnLst/>
            <a:rect r="r" b="b" t="t" l="l"/>
            <a:pathLst>
              <a:path h="5237027" w="5952592">
                <a:moveTo>
                  <a:pt x="0" y="0"/>
                </a:moveTo>
                <a:lnTo>
                  <a:pt x="5952592" y="0"/>
                </a:lnTo>
                <a:lnTo>
                  <a:pt x="5952592" y="5237027"/>
                </a:lnTo>
                <a:lnTo>
                  <a:pt x="0" y="523702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-2237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833643" y="4938893"/>
            <a:ext cx="4463375" cy="5237027"/>
          </a:xfrm>
          <a:custGeom>
            <a:avLst/>
            <a:gdLst/>
            <a:ahLst/>
            <a:cxnLst/>
            <a:rect r="r" b="b" t="t" l="l"/>
            <a:pathLst>
              <a:path h="5237027" w="4463375">
                <a:moveTo>
                  <a:pt x="0" y="0"/>
                </a:moveTo>
                <a:lnTo>
                  <a:pt x="4463376" y="0"/>
                </a:lnTo>
                <a:lnTo>
                  <a:pt x="4463376" y="5237027"/>
                </a:lnTo>
                <a:lnTo>
                  <a:pt x="0" y="523702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47486" y="359804"/>
            <a:ext cx="14043329" cy="12044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878"/>
              </a:lnSpc>
            </a:pPr>
            <a:r>
              <a:rPr lang="en-US" sz="7056">
                <a:solidFill>
                  <a:srgbClr val="FE502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HERRAMIENTAS ESCENCIALES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85205" y="1769034"/>
            <a:ext cx="5234574" cy="27101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FFDE59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Toolbox</a:t>
            </a:r>
          </a:p>
          <a:p>
            <a:pPr algn="ctr">
              <a:lnSpc>
                <a:spcPts val="4760"/>
              </a:lnSpc>
            </a:pPr>
            <a:r>
              <a:rPr lang="en-US" b="true" sz="34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Sets de componentes para nuestros formularios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167704" y="1769034"/>
            <a:ext cx="5952592" cy="27101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FFDE59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Solution explorer</a:t>
            </a:r>
          </a:p>
          <a:p>
            <a:pPr algn="ctr">
              <a:lnSpc>
                <a:spcPts val="4760"/>
              </a:lnSpc>
            </a:pPr>
            <a:r>
              <a:rPr lang="en-US" b="true" sz="34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Sitio de navegación entre los elementos que vayamos creando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833643" y="1468996"/>
            <a:ext cx="4463375" cy="33102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FFDE59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Properties</a:t>
            </a:r>
          </a:p>
          <a:p>
            <a:pPr algn="ctr">
              <a:lnSpc>
                <a:spcPts val="4760"/>
              </a:lnSpc>
            </a:pPr>
            <a:r>
              <a:rPr lang="en-US" b="true" sz="34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Nos ayuda a conocer y modificar los componentes que utilicemos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910498" y="4219496"/>
            <a:ext cx="4441662" cy="5827635"/>
          </a:xfrm>
          <a:custGeom>
            <a:avLst/>
            <a:gdLst/>
            <a:ahLst/>
            <a:cxnLst/>
            <a:rect r="r" b="b" t="t" l="l"/>
            <a:pathLst>
              <a:path h="5827635" w="4441662">
                <a:moveTo>
                  <a:pt x="0" y="0"/>
                </a:moveTo>
                <a:lnTo>
                  <a:pt x="4441662" y="0"/>
                </a:lnTo>
                <a:lnTo>
                  <a:pt x="4441662" y="5827635"/>
                </a:lnTo>
                <a:lnTo>
                  <a:pt x="0" y="582763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897787" y="4210586"/>
            <a:ext cx="8678877" cy="5836545"/>
          </a:xfrm>
          <a:custGeom>
            <a:avLst/>
            <a:gdLst/>
            <a:ahLst/>
            <a:cxnLst/>
            <a:rect r="r" b="b" t="t" l="l"/>
            <a:pathLst>
              <a:path h="5836545" w="8678877">
                <a:moveTo>
                  <a:pt x="0" y="0"/>
                </a:moveTo>
                <a:lnTo>
                  <a:pt x="8678876" y="0"/>
                </a:lnTo>
                <a:lnTo>
                  <a:pt x="8678876" y="5836545"/>
                </a:lnTo>
                <a:lnTo>
                  <a:pt x="0" y="583654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47486" y="359804"/>
            <a:ext cx="8762991" cy="12044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878"/>
              </a:lnSpc>
            </a:pPr>
            <a:r>
              <a:rPr lang="en-US" sz="7056">
                <a:solidFill>
                  <a:srgbClr val="FE502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CAMBIAR EL TEMA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51535" y="1517731"/>
            <a:ext cx="7359589" cy="17805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60"/>
              </a:lnSpc>
            </a:pPr>
            <a:r>
              <a:rPr lang="en-US" sz="34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En el panel superior buscamos </a:t>
            </a:r>
            <a:r>
              <a:rPr lang="en-US" sz="3400" b="true">
                <a:solidFill>
                  <a:srgbClr val="FFDE59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Tools </a:t>
            </a:r>
            <a:r>
              <a:rPr lang="en-US" sz="34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(Herramientas) y seleccionamos </a:t>
            </a:r>
            <a:r>
              <a:rPr lang="en-US" sz="3400" b="true">
                <a:solidFill>
                  <a:srgbClr val="FFDE59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Options</a:t>
            </a:r>
            <a:r>
              <a:rPr lang="en-US" sz="34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(Opciones)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366533" y="1517731"/>
            <a:ext cx="9741384" cy="23806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60"/>
              </a:lnSpc>
            </a:pPr>
            <a:r>
              <a:rPr lang="en-US" sz="34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En en recuadro con el titulo </a:t>
            </a:r>
            <a:r>
              <a:rPr lang="en-US" sz="3400" b="true">
                <a:solidFill>
                  <a:srgbClr val="FFDE59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Enviroment</a:t>
            </a:r>
            <a:r>
              <a:rPr lang="en-US" sz="34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(Ambiente) debe estar en </a:t>
            </a:r>
            <a:r>
              <a:rPr lang="en-US" sz="3400" b="true">
                <a:solidFill>
                  <a:srgbClr val="FFDE59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General</a:t>
            </a:r>
            <a:r>
              <a:rPr lang="en-US" sz="34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y buscamos donde diga </a:t>
            </a:r>
            <a:r>
              <a:rPr lang="en-US" sz="3400" b="true">
                <a:solidFill>
                  <a:srgbClr val="FFDE59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Color Theme</a:t>
            </a:r>
            <a:r>
              <a:rPr lang="en-US" sz="34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y escogemos el de nuestra preferencia y damos </a:t>
            </a:r>
            <a:r>
              <a:rPr lang="en-US" sz="3400" b="true">
                <a:solidFill>
                  <a:srgbClr val="FFDE59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OK</a:t>
            </a: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477521" y="1568601"/>
            <a:ext cx="13332958" cy="7149799"/>
          </a:xfrm>
          <a:custGeom>
            <a:avLst/>
            <a:gdLst/>
            <a:ahLst/>
            <a:cxnLst/>
            <a:rect r="r" b="b" t="t" l="l"/>
            <a:pathLst>
              <a:path h="7149799" w="13332958">
                <a:moveTo>
                  <a:pt x="0" y="0"/>
                </a:moveTo>
                <a:lnTo>
                  <a:pt x="13332958" y="0"/>
                </a:lnTo>
                <a:lnTo>
                  <a:pt x="13332958" y="7149798"/>
                </a:lnTo>
                <a:lnTo>
                  <a:pt x="0" y="714979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47486" y="359804"/>
            <a:ext cx="10340653" cy="12044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878"/>
              </a:lnSpc>
            </a:pPr>
            <a:r>
              <a:rPr lang="en-US" sz="7056">
                <a:solidFill>
                  <a:srgbClr val="FE502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GUARDAR PROYECTO</a:t>
            </a:r>
          </a:p>
        </p:txBody>
      </p:sp>
      <p:grpSp>
        <p:nvGrpSpPr>
          <p:cNvPr name="Group 4" id="4"/>
          <p:cNvGrpSpPr/>
          <p:nvPr/>
        </p:nvGrpSpPr>
        <p:grpSpPr>
          <a:xfrm rot="-5400000">
            <a:off x="1439647" y="4032801"/>
            <a:ext cx="6285097" cy="3086100"/>
            <a:chOff x="0" y="0"/>
            <a:chExt cx="1655334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655334" cy="812800"/>
            </a:xfrm>
            <a:custGeom>
              <a:avLst/>
              <a:gdLst/>
              <a:ahLst/>
              <a:cxnLst/>
              <a:rect r="r" b="b" t="t" l="l"/>
              <a:pathLst>
                <a:path h="812800" w="1655334">
                  <a:moveTo>
                    <a:pt x="1655334" y="406400"/>
                  </a:moveTo>
                  <a:lnTo>
                    <a:pt x="1248934" y="0"/>
                  </a:lnTo>
                  <a:lnTo>
                    <a:pt x="1248934" y="203200"/>
                  </a:lnTo>
                  <a:lnTo>
                    <a:pt x="0" y="203200"/>
                  </a:lnTo>
                  <a:lnTo>
                    <a:pt x="0" y="609600"/>
                  </a:lnTo>
                  <a:lnTo>
                    <a:pt x="1248934" y="609600"/>
                  </a:lnTo>
                  <a:lnTo>
                    <a:pt x="1248934" y="812800"/>
                  </a:lnTo>
                  <a:lnTo>
                    <a:pt x="1655334" y="406400"/>
                  </a:lnTo>
                  <a:close/>
                </a:path>
              </a:pathLst>
            </a:custGeom>
            <a:solidFill>
              <a:srgbClr val="FFDE59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155575"/>
              <a:ext cx="1553734" cy="454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3926342" y="8634731"/>
            <a:ext cx="10435316" cy="11804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60"/>
              </a:lnSpc>
            </a:pPr>
            <a:r>
              <a:rPr lang="en-US" sz="34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Las opciones de guardar estaran en la barra de herramientas en la parte superior</a:t>
            </a: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47486" y="2495282"/>
            <a:ext cx="2666359" cy="2446986"/>
          </a:xfrm>
          <a:custGeom>
            <a:avLst/>
            <a:gdLst/>
            <a:ahLst/>
            <a:cxnLst/>
            <a:rect r="r" b="b" t="t" l="l"/>
            <a:pathLst>
              <a:path h="2446986" w="2666359">
                <a:moveTo>
                  <a:pt x="0" y="0"/>
                </a:moveTo>
                <a:lnTo>
                  <a:pt x="2666359" y="0"/>
                </a:lnTo>
                <a:lnTo>
                  <a:pt x="2666359" y="2446986"/>
                </a:lnTo>
                <a:lnTo>
                  <a:pt x="0" y="244698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1064" r="-93909" b="-2194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47486" y="359804"/>
            <a:ext cx="10340653" cy="12044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878"/>
              </a:lnSpc>
            </a:pPr>
            <a:r>
              <a:rPr lang="en-US" sz="7056">
                <a:solidFill>
                  <a:srgbClr val="FE502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GUARDAR PROYECTO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247486" y="5731099"/>
            <a:ext cx="2666359" cy="2775936"/>
          </a:xfrm>
          <a:custGeom>
            <a:avLst/>
            <a:gdLst/>
            <a:ahLst/>
            <a:cxnLst/>
            <a:rect r="r" b="b" t="t" l="l"/>
            <a:pathLst>
              <a:path h="2775936" w="2666359">
                <a:moveTo>
                  <a:pt x="0" y="0"/>
                </a:moveTo>
                <a:lnTo>
                  <a:pt x="2666359" y="0"/>
                </a:lnTo>
                <a:lnTo>
                  <a:pt x="2666359" y="2775935"/>
                </a:lnTo>
                <a:lnTo>
                  <a:pt x="0" y="277593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7963" t="-30921" r="-12013" b="-22084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867045" y="348266"/>
            <a:ext cx="2623575" cy="1030310"/>
          </a:xfrm>
          <a:custGeom>
            <a:avLst/>
            <a:gdLst/>
            <a:ahLst/>
            <a:cxnLst/>
            <a:rect r="r" b="b" t="t" l="l"/>
            <a:pathLst>
              <a:path h="1030310" w="2623575">
                <a:moveTo>
                  <a:pt x="0" y="0"/>
                </a:moveTo>
                <a:lnTo>
                  <a:pt x="2623575" y="0"/>
                </a:lnTo>
                <a:lnTo>
                  <a:pt x="2623575" y="1030310"/>
                </a:lnTo>
                <a:lnTo>
                  <a:pt x="0" y="103031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45885" r="-3" b="-38515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231082" y="2795168"/>
            <a:ext cx="14028218" cy="17805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60"/>
              </a:lnSpc>
            </a:pPr>
            <a:r>
              <a:rPr lang="en-US" sz="34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La primera opción guardara unicamente los cambios en el elemento en el que nos encontremos trabajando o sobre el que estemos posicionados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574030" y="6495497"/>
            <a:ext cx="14028218" cy="11804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60"/>
              </a:lnSpc>
            </a:pPr>
            <a:r>
              <a:rPr lang="en-US" sz="34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La segunda opción guardara todos los cambios sobre todos los elementos creados</a:t>
            </a:r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563567" y="88579"/>
            <a:ext cx="7160865" cy="23215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039"/>
              </a:lnSpc>
            </a:pPr>
            <a:r>
              <a:rPr lang="en-US" sz="13599">
                <a:solidFill>
                  <a:srgbClr val="FE502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TAREA 1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176731" y="2459546"/>
            <a:ext cx="15934539" cy="67987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840"/>
              </a:lnSpc>
            </a:pPr>
            <a:r>
              <a:rPr lang="en-US" sz="3457" b="true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Investigar:</a:t>
            </a:r>
            <a:r>
              <a:rPr lang="en-US" sz="3457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3457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Tipos variables, Operadores aritméticos, lógicos, </a:t>
            </a:r>
          </a:p>
          <a:p>
            <a:pPr algn="just">
              <a:lnSpc>
                <a:spcPts val="4840"/>
              </a:lnSpc>
            </a:pPr>
            <a:r>
              <a:rPr lang="en-US" sz="3457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relacionales, precedencia de operadores, </a:t>
            </a:r>
            <a:r>
              <a:rPr lang="en-US" b="true" sz="3457">
                <a:solidFill>
                  <a:srgbClr val="FE502D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MsgBox</a:t>
            </a:r>
            <a:r>
              <a:rPr lang="en-US" sz="3457">
                <a:solidFill>
                  <a:srgbClr val="FE502D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3457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y s</a:t>
            </a:r>
            <a:r>
              <a:rPr lang="en-US" sz="3457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us parámetros, </a:t>
            </a:r>
          </a:p>
          <a:p>
            <a:pPr algn="just">
              <a:lnSpc>
                <a:spcPts val="4840"/>
              </a:lnSpc>
            </a:pPr>
            <a:r>
              <a:rPr lang="en-US" b="true" sz="3457">
                <a:solidFill>
                  <a:srgbClr val="FE502D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Inputbox</a:t>
            </a:r>
            <a:r>
              <a:rPr lang="en-US" sz="3457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 y sus parámetros. Archivos y carpetas que genera Visual Basic, </a:t>
            </a:r>
          </a:p>
          <a:p>
            <a:pPr algn="just">
              <a:lnSpc>
                <a:spcPts val="4840"/>
              </a:lnSpc>
            </a:pPr>
          </a:p>
          <a:p>
            <a:pPr algn="just" marL="789656" indent="-394828" lvl="1">
              <a:lnSpc>
                <a:spcPts val="5120"/>
              </a:lnSpc>
              <a:buFont typeface="Arial"/>
              <a:buChar char="•"/>
            </a:pPr>
            <a:r>
              <a:rPr lang="en-US" b="true" sz="3657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Ejecutar paso a paso</a:t>
            </a:r>
            <a:r>
              <a:rPr lang="en-US" b="true" sz="3657">
                <a:solidFill>
                  <a:srgbClr val="FE502D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</a:t>
            </a:r>
          </a:p>
          <a:p>
            <a:pPr algn="just" marL="789656" indent="-394828" lvl="1">
              <a:lnSpc>
                <a:spcPts val="5120"/>
              </a:lnSpc>
              <a:buFont typeface="Arial"/>
              <a:buChar char="•"/>
            </a:pPr>
            <a:r>
              <a:rPr lang="en-US" b="true" sz="3657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Ejecutar desde adentro de Visual Basic.</a:t>
            </a:r>
            <a:r>
              <a:rPr lang="en-US" sz="3657">
                <a:solidFill>
                  <a:srgbClr val="FE502D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</a:p>
          <a:p>
            <a:pPr algn="just" marL="789656" indent="-394828" lvl="1">
              <a:lnSpc>
                <a:spcPts val="5120"/>
              </a:lnSpc>
              <a:buFont typeface="Arial"/>
              <a:buChar char="•"/>
            </a:pPr>
            <a:r>
              <a:rPr lang="en-US" b="true" sz="3657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Realizar tarea a mano.</a:t>
            </a:r>
          </a:p>
          <a:p>
            <a:pPr algn="just">
              <a:lnSpc>
                <a:spcPts val="4840"/>
              </a:lnSpc>
            </a:pPr>
          </a:p>
          <a:p>
            <a:pPr algn="just">
              <a:lnSpc>
                <a:spcPts val="4840"/>
              </a:lnSpc>
            </a:pPr>
            <a:r>
              <a:rPr lang="en-US" sz="3457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Entregar en un PDF con la investigación hecha a mano </a:t>
            </a:r>
            <a:r>
              <a:rPr lang="en-US" sz="3457" u="sng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escaneada.</a:t>
            </a:r>
          </a:p>
          <a:p>
            <a:pPr algn="just">
              <a:lnSpc>
                <a:spcPts val="4840"/>
              </a:lnSpc>
            </a:pPr>
          </a:p>
          <a:p>
            <a:pPr algn="just">
              <a:lnSpc>
                <a:spcPts val="4840"/>
              </a:lnSpc>
            </a:pPr>
            <a:r>
              <a:rPr lang="en-US" b="true" sz="3457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Formato de entrega:</a:t>
            </a:r>
            <a:r>
              <a:rPr lang="en-US" sz="3457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 PC2_T1_#Carne.pdf</a:t>
            </a:r>
          </a:p>
        </p:txBody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818073" y="1714536"/>
            <a:ext cx="7876514" cy="9101014"/>
          </a:xfrm>
          <a:custGeom>
            <a:avLst/>
            <a:gdLst/>
            <a:ahLst/>
            <a:cxnLst/>
            <a:rect r="r" b="b" t="t" l="l"/>
            <a:pathLst>
              <a:path h="9101014" w="7876514">
                <a:moveTo>
                  <a:pt x="0" y="0"/>
                </a:moveTo>
                <a:lnTo>
                  <a:pt x="7876515" y="0"/>
                </a:lnTo>
                <a:lnTo>
                  <a:pt x="7876515" y="9101014"/>
                </a:lnTo>
                <a:lnTo>
                  <a:pt x="0" y="91010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2530873" y="494507"/>
            <a:ext cx="5323671" cy="1372189"/>
            <a:chOff x="0" y="0"/>
            <a:chExt cx="7098228" cy="1829586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0"/>
              <a:ext cx="7098228" cy="1829586"/>
              <a:chOff x="0" y="0"/>
              <a:chExt cx="3472874" cy="898741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3472874" cy="898741"/>
              </a:xfrm>
              <a:custGeom>
                <a:avLst/>
                <a:gdLst/>
                <a:ahLst/>
                <a:cxnLst/>
                <a:rect r="r" b="b" t="t" l="l"/>
                <a:pathLst>
                  <a:path h="898741" w="3472874">
                    <a:moveTo>
                      <a:pt x="3348414" y="898741"/>
                    </a:moveTo>
                    <a:lnTo>
                      <a:pt x="124460" y="898741"/>
                    </a:lnTo>
                    <a:cubicBezTo>
                      <a:pt x="55880" y="898741"/>
                      <a:pt x="0" y="842861"/>
                      <a:pt x="0" y="774281"/>
                    </a:cubicBezTo>
                    <a:lnTo>
                      <a:pt x="0" y="124460"/>
                    </a:lnTo>
                    <a:cubicBezTo>
                      <a:pt x="0" y="55880"/>
                      <a:pt x="55880" y="0"/>
                      <a:pt x="124460" y="0"/>
                    </a:cubicBezTo>
                    <a:lnTo>
                      <a:pt x="3348414" y="0"/>
                    </a:lnTo>
                    <a:cubicBezTo>
                      <a:pt x="3416994" y="0"/>
                      <a:pt x="3472874" y="55880"/>
                      <a:pt x="3472874" y="124460"/>
                    </a:cubicBezTo>
                    <a:lnTo>
                      <a:pt x="3472874" y="774281"/>
                    </a:lnTo>
                    <a:cubicBezTo>
                      <a:pt x="3472874" y="842861"/>
                      <a:pt x="3416994" y="898741"/>
                      <a:pt x="3348414" y="898741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sp>
          <p:nvSpPr>
            <p:cNvPr name="TextBox 6" id="6"/>
            <p:cNvSpPr txBox="true"/>
            <p:nvPr/>
          </p:nvSpPr>
          <p:spPr>
            <a:xfrm rot="0">
              <a:off x="1631180" y="1214534"/>
              <a:ext cx="5318404" cy="3321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2100"/>
                </a:lnSpc>
                <a:spcBef>
                  <a:spcPct val="0"/>
                </a:spcBef>
              </a:pPr>
              <a:r>
                <a:rPr lang="en-US" b="true" sz="1400" i="true">
                  <a:solidFill>
                    <a:srgbClr val="502BD4"/>
                  </a:solidFill>
                  <a:latin typeface="Open Sauce Bold Italics"/>
                  <a:ea typeface="Open Sauce Bold Italics"/>
                  <a:cs typeface="Open Sauce Bold Italics"/>
                  <a:sym typeface="Open Sauce Bold Italics"/>
                </a:rPr>
                <a:t>RESPONSABILIDAD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1631180" y="166792"/>
              <a:ext cx="5326106" cy="10433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100"/>
                </a:lnSpc>
                <a:spcBef>
                  <a:spcPct val="0"/>
                </a:spcBef>
              </a:pPr>
              <a:r>
                <a:rPr lang="en-US" sz="1400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"La </a:t>
              </a:r>
              <a:r>
                <a:rPr lang="en-US" sz="1400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responsabilidad es el precio de la grandeza. Cada acción cuenta, cada decisión importa."</a:t>
              </a:r>
            </a:p>
          </p:txBody>
        </p:sp>
        <p:sp>
          <p:nvSpPr>
            <p:cNvPr name="Freeform 8" id="8"/>
            <p:cNvSpPr/>
            <p:nvPr/>
          </p:nvSpPr>
          <p:spPr>
            <a:xfrm flipH="false" flipV="false" rot="0">
              <a:off x="193183" y="283013"/>
              <a:ext cx="1263561" cy="1263561"/>
            </a:xfrm>
            <a:custGeom>
              <a:avLst/>
              <a:gdLst/>
              <a:ahLst/>
              <a:cxnLst/>
              <a:rect r="r" b="b" t="t" l="l"/>
              <a:pathLst>
                <a:path h="1263561" w="1263561">
                  <a:moveTo>
                    <a:pt x="0" y="0"/>
                  </a:moveTo>
                  <a:lnTo>
                    <a:pt x="1263561" y="0"/>
                  </a:lnTo>
                  <a:lnTo>
                    <a:pt x="1263561" y="1263560"/>
                  </a:lnTo>
                  <a:lnTo>
                    <a:pt x="0" y="12635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6351356" y="4500432"/>
            <a:ext cx="11503188" cy="31767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049"/>
              </a:lnSpc>
            </a:pPr>
            <a:r>
              <a:rPr lang="en-US" sz="18606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¿DUDAS?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0" y="0"/>
            <a:ext cx="9911135" cy="1714536"/>
            <a:chOff x="0" y="0"/>
            <a:chExt cx="13214846" cy="228604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544422" cy="2286047"/>
            </a:xfrm>
            <a:custGeom>
              <a:avLst/>
              <a:gdLst/>
              <a:ahLst/>
              <a:cxnLst/>
              <a:rect r="r" b="b" t="t" l="l"/>
              <a:pathLst>
                <a:path h="2286047" w="3544422">
                  <a:moveTo>
                    <a:pt x="0" y="0"/>
                  </a:moveTo>
                  <a:lnTo>
                    <a:pt x="3544422" y="0"/>
                  </a:lnTo>
                  <a:lnTo>
                    <a:pt x="3544422" y="2286047"/>
                  </a:lnTo>
                  <a:lnTo>
                    <a:pt x="0" y="22860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 rot="0">
              <a:off x="3544422" y="470891"/>
              <a:ext cx="9670424" cy="181515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20"/>
                </a:lnSpc>
              </a:pPr>
              <a:r>
                <a:rPr lang="en-US" sz="1943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Escuela </a:t>
              </a:r>
              <a:r>
                <a:rPr lang="en-US" sz="1943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de Ingeniería de Ciencias y Sistemas</a:t>
              </a:r>
            </a:p>
            <a:p>
              <a:pPr algn="l">
                <a:lnSpc>
                  <a:spcPts val="2720"/>
                </a:lnSpc>
              </a:pPr>
              <a:r>
                <a:rPr lang="en-US" sz="1943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Facultad de Ingeniería</a:t>
              </a:r>
            </a:p>
            <a:p>
              <a:pPr algn="l">
                <a:lnSpc>
                  <a:spcPts val="2720"/>
                </a:lnSpc>
              </a:pPr>
              <a:r>
                <a:rPr lang="en-US" sz="1943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Universidad San Carlos de Guatemala</a:t>
              </a:r>
            </a:p>
            <a:p>
              <a:pPr algn="l">
                <a:lnSpc>
                  <a:spcPts val="2720"/>
                </a:lnSpc>
              </a:p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DAGo2A6kboc</dc:identifier>
  <dcterms:modified xsi:type="dcterms:W3CDTF">2011-08-01T06:04:30Z</dcterms:modified>
  <cp:revision>1</cp:revision>
  <dc:title>LAB PC2 C1</dc:title>
</cp:coreProperties>
</file>