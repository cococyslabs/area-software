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10287000" cx="18288000"/>
  <p:notesSz cx="6858000" cy="9144000"/>
  <p:embeddedFontLst>
    <p:embeddedFont>
      <p:font typeface="League Spartan"/>
      <p:regular r:id="rId27"/>
      <p:bold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g2oZpp4i67e/o6Ou1mlKUxfUk4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2326B8-47E8-45CD-AD36-1EE49A816F37}">
  <a:tblStyle styleId="{062326B8-47E8-45CD-AD36-1EE49A816F3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B20C20C-8AD7-44A4-8484-583C968531E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agueSpartan-bold.fntdata"/><Relationship Id="rId27" Type="http://schemas.openxmlformats.org/officeDocument/2006/relationships/font" Target="fonts/LeagueSpartan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5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0af2efd4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60af2efd40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0ad9b33eb_1_5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60ad9b33eb_1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0ad9b33eb_1_6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60ad9b33eb_1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fac0b3d1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5fac0b3d1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0ad9b33eb_1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60ad9b33eb_1_6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0ad9b33eb_1_6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60ad9b33eb_1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0ad9b33eb_1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60ad9b33eb_1_6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0ad9b33eb_1_6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60ad9b33eb_1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0ad9b33eb_1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60ad9b33eb_1_6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fac0b3d10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5fac0b3d1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0af2efd4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60af2efd40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earn.microsoft.com/es-es/sql/t-sql/queries/select-clause-transact-sql?view=sql-server-ver17" TargetMode="External"/><Relationship Id="rId4" Type="http://schemas.openxmlformats.org/officeDocument/2006/relationships/hyperlink" Target="https://learn.microsoft.com/es-es/sql/t-sql/queries/where-transact-sql?view=sql-server-ver17" TargetMode="External"/><Relationship Id="rId5" Type="http://schemas.openxmlformats.org/officeDocument/2006/relationships/hyperlink" Target="https://learn.microsoft.com/es-es/sql/t-sql/queries/from-transact-sql?view=sql-server-ver17" TargetMode="External"/><Relationship Id="rId6" Type="http://schemas.openxmlformats.org/officeDocument/2006/relationships/hyperlink" Target="https://learn.microsoft.com/es-es/dotnet/desktop/winforms/controls/datagridview-control-overview-windows-form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794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1639847" y="2038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{062326B8-47E8-45CD-AD36-1EE49A816F37}</a:tableStyleId>
              </a:tblPr>
              <a:tblGrid>
                <a:gridCol w="2777675"/>
                <a:gridCol w="347492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54"/>
                        <a:buFont typeface="Arial"/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54"/>
                        <a:buFont typeface="Arial"/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dd/mm/yyyy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54"/>
                        <a:buFont typeface="Arial"/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54"/>
                        <a:buFont typeface="Arial"/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12:00 - 12:00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3829698" y="4269739"/>
            <a:ext cx="14062762" cy="873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0092 PROGRAMACION DE COMPUTADORAS 2 [Q]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471672" y="5204170"/>
            <a:ext cx="8420788" cy="755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Nombre_aux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2"/>
          <p:cNvGrpSpPr/>
          <p:nvPr/>
        </p:nvGrpSpPr>
        <p:grpSpPr>
          <a:xfrm>
            <a:off x="12388703" y="2053719"/>
            <a:ext cx="5385349" cy="10944768"/>
            <a:chOff x="0" y="0"/>
            <a:chExt cx="5000993" cy="10163632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0" r="-39" t="0"/>
              </a:stretch>
            </a:blipFill>
            <a:ln>
              <a:noFill/>
            </a:ln>
          </p:spPr>
        </p:sp>
        <p:sp>
          <p:nvSpPr>
            <p:cNvPr id="96" name="Google Shape;96;p2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38" r="-184108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0" y="8582374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80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654534" y="2054704"/>
            <a:ext cx="6792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9"/>
              <a:buFont typeface="Arial"/>
              <a:buNone/>
            </a:pPr>
            <a:r>
              <a:rPr b="0" i="0" lang="en-US" sz="9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 </a:t>
            </a:r>
            <a:r>
              <a:rPr lang="en-US" sz="9499">
                <a:solidFill>
                  <a:srgbClr val="191919"/>
                </a:solidFill>
              </a:rPr>
              <a:t>11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3109990" y="9079667"/>
            <a:ext cx="828297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0" y="7740512"/>
            <a:ext cx="12388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b="0" i="0" lang="en-US" sz="40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305699" y="3823150"/>
            <a:ext cx="90873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lang="en-US" sz="9999">
                <a:solidFill>
                  <a:srgbClr val="191919"/>
                </a:solidFill>
              </a:rPr>
              <a:t>Manejo de 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47616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3"/>
          <p:cNvGrpSpPr/>
          <p:nvPr/>
        </p:nvGrpSpPr>
        <p:grpSpPr>
          <a:xfrm>
            <a:off x="1090975" y="580175"/>
            <a:ext cx="15941420" cy="8729720"/>
            <a:chOff x="0" y="-38100"/>
            <a:chExt cx="3166876" cy="1786205"/>
          </a:xfrm>
        </p:grpSpPr>
        <p:sp>
          <p:nvSpPr>
            <p:cNvPr id="108" name="Google Shape;108;p3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9" name="Google Shape;109;p3"/>
            <p:cNvSpPr txBox="1"/>
            <p:nvPr/>
          </p:nvSpPr>
          <p:spPr>
            <a:xfrm>
              <a:off x="0" y="-38100"/>
              <a:ext cx="3166800" cy="17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3"/>
          <p:cNvSpPr txBox="1"/>
          <p:nvPr/>
        </p:nvSpPr>
        <p:spPr>
          <a:xfrm>
            <a:off x="2517488" y="1327008"/>
            <a:ext cx="6353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0"/>
              <a:buFont typeface="Arial"/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617852" y="2705775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580302" y="3704820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580302" y="4773300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580300" y="5832013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580288" y="6890745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2633449" y="2743875"/>
            <a:ext cx="4136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Anuncios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2555049" y="3742920"/>
            <a:ext cx="3611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Repaso clase 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2517509" y="4902837"/>
            <a:ext cx="4018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Manejo de consultas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2517491" y="5896788"/>
            <a:ext cx="3611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Filtros con: where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2517504" y="6890756"/>
            <a:ext cx="476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Sentencias: join avg, desc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391101" y="1327008"/>
            <a:ext cx="6353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0"/>
              <a:buFont typeface="Arial"/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1477300" y="2503275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Select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1477300" y="3429000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Where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1477300" y="4354713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Join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1477300" y="5385163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DataGridView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1617838" y="7895745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2633454" y="7895756"/>
            <a:ext cx="476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DataGridView</a:t>
            </a:r>
            <a:endParaRPr b="0" i="0" sz="2524" u="none" cap="none" strike="noStrike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0af2efd40_0_2"/>
          <p:cNvSpPr/>
          <p:nvPr/>
        </p:nvSpPr>
        <p:spPr>
          <a:xfrm>
            <a:off x="12184750" y="3511121"/>
            <a:ext cx="5074184" cy="5747010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60af2efd40_0_2"/>
          <p:cNvSpPr/>
          <p:nvPr/>
        </p:nvSpPr>
        <p:spPr>
          <a:xfrm>
            <a:off x="1028700" y="3512821"/>
            <a:ext cx="5074184" cy="5747010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60af2efd40_0_2"/>
          <p:cNvSpPr/>
          <p:nvPr/>
        </p:nvSpPr>
        <p:spPr>
          <a:xfrm>
            <a:off x="6606725" y="336371"/>
            <a:ext cx="5074184" cy="5747010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60af2efd40_0_2"/>
          <p:cNvSpPr txBox="1"/>
          <p:nvPr/>
        </p:nvSpPr>
        <p:spPr>
          <a:xfrm>
            <a:off x="1327371" y="7436271"/>
            <a:ext cx="447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Anuncio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60af2efd40_0_2"/>
          <p:cNvSpPr txBox="1"/>
          <p:nvPr/>
        </p:nvSpPr>
        <p:spPr>
          <a:xfrm>
            <a:off x="6905400" y="7316815"/>
            <a:ext cx="44772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Luego pedirá elegir el tema para el entorno de trabajo. Dejar el primer campo como general y elegir el tema a su propio gusto.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60af2efd40_0_2"/>
          <p:cNvSpPr txBox="1"/>
          <p:nvPr/>
        </p:nvSpPr>
        <p:spPr>
          <a:xfrm>
            <a:off x="12504076" y="7695910"/>
            <a:ext cx="447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anuncio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60af2efd40_0_2"/>
          <p:cNvSpPr txBox="1"/>
          <p:nvPr/>
        </p:nvSpPr>
        <p:spPr>
          <a:xfrm>
            <a:off x="6905213" y="3663410"/>
            <a:ext cx="447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anuncio 2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4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Competencias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7291525" y="2391300"/>
            <a:ext cx="9483000" cy="55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 bases de datos en proyectos VB.NET usando ADO.NET y DataGridView para operaciones CRUD locales.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Mejora soluciones de programación aplicando buenas prácticas y uso ético de herramientas tecnológicas básicas.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0ad9b33eb_1_594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60ad9b33eb_1_594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60ad9b33eb_1_594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60ad9b33eb_1_594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b="0" i="0" sz="6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60ad9b33eb_1_594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cláusula SELECT se utiliza para </a:t>
            </a:r>
            <a:r>
              <a:rPr lang="en-US" sz="40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consultar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extraer datos de una tabla en la base de datos. Permite mostrar columnas específicas, aplicar filtros, ordenar resultados y mucho más.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no se sabe cuántas columnas tiene la tabla, se usa el simbolo: *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/>
          <p:nvPr/>
        </p:nvSpPr>
        <p:spPr>
          <a:xfrm>
            <a:off x="1251000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251000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con 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581350" y="688550"/>
            <a:ext cx="12410400" cy="7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sz="3200">
              <a:solidFill>
                <a:srgbClr val="FFE5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nombre_columna1, …nombre_columnaN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nombre_tabla;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Ejemplos:</a:t>
            </a:r>
            <a:endParaRPr sz="3200">
              <a:solidFill>
                <a:srgbClr val="FFE5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Nombre, Apellido FROM Empleados;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Empleados;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Nombre AS 'Nombre del Empleado' FROM Empleados;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TOP 5 * FROM Empleados;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6"/>
          <p:cNvGrpSpPr/>
          <p:nvPr/>
        </p:nvGrpSpPr>
        <p:grpSpPr>
          <a:xfrm>
            <a:off x="-289042" y="407918"/>
            <a:ext cx="17178772" cy="9471993"/>
            <a:chOff x="0" y="-47625"/>
            <a:chExt cx="4524450" cy="2494681"/>
          </a:xfrm>
        </p:grpSpPr>
        <p:sp>
          <p:nvSpPr>
            <p:cNvPr id="169" name="Google Shape;169;p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6"/>
          <p:cNvSpPr txBox="1"/>
          <p:nvPr/>
        </p:nvSpPr>
        <p:spPr>
          <a:xfrm>
            <a:off x="3220492" y="781050"/>
            <a:ext cx="11847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6248697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774" y="2592400"/>
            <a:ext cx="8273200" cy="349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5755" y="6454205"/>
            <a:ext cx="9647975" cy="3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0ad9b33eb_1_611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360ad9b33eb_1_611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60ad9b33eb_1_611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0ad9b33eb_1_611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b="0" i="0" sz="6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60ad9b33eb_1_611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cláusula WHERE se utiliza para </a:t>
            </a:r>
            <a:r>
              <a:rPr lang="en-US" sz="40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filtrar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registros en una consulta.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Sólo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 mostrarán las filas que </a:t>
            </a:r>
            <a:r>
              <a:rPr lang="en-US" sz="40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cumplen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condición especificada.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columnas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tabla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condición;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g35fac0b3d10_0_10"/>
          <p:cNvGrpSpPr/>
          <p:nvPr/>
        </p:nvGrpSpPr>
        <p:grpSpPr>
          <a:xfrm>
            <a:off x="-289042" y="407917"/>
            <a:ext cx="17179454" cy="9472506"/>
            <a:chOff x="0" y="-47625"/>
            <a:chExt cx="4524600" cy="2494800"/>
          </a:xfrm>
        </p:grpSpPr>
        <p:sp>
          <p:nvSpPr>
            <p:cNvPr id="189" name="Google Shape;189;g35fac0b3d10_0_10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5fac0b3d10_0_10"/>
            <p:cNvSpPr txBox="1"/>
            <p:nvPr/>
          </p:nvSpPr>
          <p:spPr>
            <a:xfrm>
              <a:off x="0" y="-47625"/>
              <a:ext cx="4524600" cy="24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g35fac0b3d10_0_10"/>
          <p:cNvSpPr txBox="1"/>
          <p:nvPr/>
        </p:nvSpPr>
        <p:spPr>
          <a:xfrm>
            <a:off x="3220492" y="781050"/>
            <a:ext cx="11847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5fac0b3d10_0_10"/>
          <p:cNvSpPr/>
          <p:nvPr/>
        </p:nvSpPr>
        <p:spPr>
          <a:xfrm>
            <a:off x="16248697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5fac0b3d10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050" y="1891550"/>
            <a:ext cx="7181625" cy="358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5fac0b3d10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6674" y="6560567"/>
            <a:ext cx="8776050" cy="3013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60ad9b33eb_1_619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60ad9b33eb_1_619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60ad9b33eb_1_619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otras 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condiciones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60ad9b33eb_1_619"/>
          <p:cNvSpPr txBox="1"/>
          <p:nvPr/>
        </p:nvSpPr>
        <p:spPr>
          <a:xfrm>
            <a:off x="6539150" y="338100"/>
            <a:ext cx="10245900" cy="3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g360ad9b33eb_1_619"/>
          <p:cNvGraphicFramePr/>
          <p:nvPr/>
        </p:nvGraphicFramePr>
        <p:xfrm>
          <a:off x="6807200" y="84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{AB20C20C-8AD7-44A4-8484-583C968531E9}</a:tableStyleId>
              </a:tblPr>
              <a:tblGrid>
                <a:gridCol w="2384500"/>
                <a:gridCol w="3580200"/>
                <a:gridCol w="4404800"/>
              </a:tblGrid>
              <a:tr h="1036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lt1"/>
                          </a:solidFill>
                        </a:rPr>
                        <a:t>Operador</a:t>
                      </a:r>
                      <a:endParaRPr b="1" sz="2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lt1"/>
                          </a:solidFill>
                        </a:rPr>
                        <a:t>Significado</a:t>
                      </a:r>
                      <a:endParaRPr b="1" sz="2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lt1"/>
                          </a:solidFill>
                        </a:rPr>
                        <a:t>Ejemplo</a:t>
                      </a:r>
                      <a:endParaRPr b="1" sz="2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5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=</a:t>
                      </a:r>
                      <a:endParaRPr sz="25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</a:rPr>
                        <a:t>Igual</a:t>
                      </a:r>
                      <a:endParaRPr sz="2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WHERE SueldoBase = 8000</a:t>
                      </a:r>
                      <a:endParaRPr sz="22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05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&lt;&gt;</a:t>
                      </a:r>
                      <a:endParaRPr sz="25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</a:rPr>
                        <a:t>Distinto de</a:t>
                      </a:r>
                      <a:endParaRPr sz="2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WHERE SueldoBase &lt;&gt; 6000</a:t>
                      </a:r>
                      <a:endParaRPr sz="22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05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</a:t>
                      </a:r>
                      <a:endParaRPr sz="25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</a:rPr>
                        <a:t>Mayor que</a:t>
                      </a:r>
                      <a:endParaRPr sz="2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WHERE SueldoBase &gt; 7000</a:t>
                      </a:r>
                      <a:endParaRPr sz="22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05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</a:t>
                      </a:r>
                      <a:endParaRPr sz="25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</a:rPr>
                        <a:t>Menor que</a:t>
                      </a:r>
                      <a:endParaRPr sz="2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WHERE SueldoBase &lt; 9000</a:t>
                      </a:r>
                      <a:endParaRPr sz="22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05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&gt;=</a:t>
                      </a:r>
                      <a:endParaRPr sz="25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</a:rPr>
                        <a:t>Mayor o igual que</a:t>
                      </a:r>
                      <a:endParaRPr sz="2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WHERE SueldoBase &gt;= 9500</a:t>
                      </a:r>
                      <a:endParaRPr sz="22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05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&lt;=</a:t>
                      </a:r>
                      <a:endParaRPr sz="25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1"/>
                          </a:solidFill>
                        </a:rPr>
                        <a:t>Menor o igual que</a:t>
                      </a:r>
                      <a:endParaRPr sz="2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WHERE SueldoBase &lt;= 10000</a:t>
                      </a:r>
                      <a:endParaRPr sz="22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0ad9b33eb_1_635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360ad9b33eb_1_635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60ad9b33eb_1_635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60ad9b33eb_1_635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</a:t>
            </a:r>
            <a:endParaRPr b="0" i="0" sz="6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60ad9b33eb_1_635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cláusula JOIN se usa para </a:t>
            </a:r>
            <a:r>
              <a:rPr lang="en-US" sz="40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combinar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 de dos o más tablas en una sola consulta, utilizando columnas relacionadas (llaves foráneas).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columnas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Tabla1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INNER JOIN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Tabla2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Tabla1.columna = Tabla2.columna;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60ad9b33eb_1_643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60ad9b33eb_1_643"/>
          <p:cNvSpPr/>
          <p:nvPr/>
        </p:nvSpPr>
        <p:spPr>
          <a:xfrm>
            <a:off x="1251000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60ad9b33eb_1_643"/>
          <p:cNvSpPr txBox="1"/>
          <p:nvPr/>
        </p:nvSpPr>
        <p:spPr>
          <a:xfrm>
            <a:off x="1251000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60ad9b33eb_1_643"/>
          <p:cNvSpPr txBox="1"/>
          <p:nvPr/>
        </p:nvSpPr>
        <p:spPr>
          <a:xfrm>
            <a:off x="1034875" y="894700"/>
            <a:ext cx="10348800" cy="7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Muestra el nombre y apellido del empleado, junto con el nombre del puesto y el sueldo base.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Solo aparecen empleados que tienen un puesto asignado.</a:t>
            </a:r>
            <a:endParaRPr b="0" i="0" sz="4000" u="none" cap="none" strike="noStrike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34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360ad9b33eb_1_6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795" y="4261975"/>
            <a:ext cx="11332975" cy="41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0ad9b33eb_1_654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g360ad9b33eb_1_654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60ad9b33eb_1_654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60ad9b33eb_1_654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AVG</a:t>
            </a:r>
            <a:endParaRPr b="0" i="0" sz="6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60ad9b33eb_1_654"/>
          <p:cNvSpPr txBox="1"/>
          <p:nvPr/>
        </p:nvSpPr>
        <p:spPr>
          <a:xfrm>
            <a:off x="422825" y="2286000"/>
            <a:ext cx="174702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función AVG() (de “average”) se usa para calcular el promedio de los valores de una columna numérica.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AVG() ignora valores NULL automáticamente.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Solo se puede usar con columnas numéricas (int, decimal, float, etc.).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360ad9b33eb_1_663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60ad9b33eb_1_663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60ad9b33eb_1_663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60ad9b33eb_1_6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0400" y="1728785"/>
            <a:ext cx="10253700" cy="34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60ad9b33eb_1_663"/>
          <p:cNvSpPr txBox="1"/>
          <p:nvPr/>
        </p:nvSpPr>
        <p:spPr>
          <a:xfrm>
            <a:off x="6475500" y="667275"/>
            <a:ext cx="111210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Cálculo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promedio solo de los sueldos mayores a 8000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g360ad9b33eb_1_6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0400" y="6893279"/>
            <a:ext cx="11121001" cy="231384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60ad9b33eb_1_663"/>
          <p:cNvSpPr txBox="1"/>
          <p:nvPr/>
        </p:nvSpPr>
        <p:spPr>
          <a:xfrm>
            <a:off x="6475500" y="5812988"/>
            <a:ext cx="111210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Cálculo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promedio de duración de vacaciones por empleado.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fac0b3d10_0_25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35fac0b3d10_0_25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5fac0b3d10_0_25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5fac0b3d10_0_25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DataGridView</a:t>
            </a:r>
            <a:endParaRPr b="0" i="0" sz="6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5fac0b3d10_0_25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DataGridView es un control visual que permite mostrar, editar y organizar datos en </a:t>
            </a:r>
            <a:r>
              <a:rPr lang="en-US" sz="40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forma de tabla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dentro de un formulario de Windows Forms.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muy utilizado para mostrar datos de una base de datos, una lista o una tabla en memoria.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g35fac0b3d10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9481" y="5579775"/>
            <a:ext cx="7416900" cy="37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"/>
          <p:cNvSpPr/>
          <p:nvPr/>
        </p:nvSpPr>
        <p:spPr>
          <a:xfrm>
            <a:off x="0" y="0"/>
            <a:ext cx="47616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7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258" name="Google Shape;258;p7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59" name="Google Shape;259;p7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7"/>
          <p:cNvSpPr txBox="1"/>
          <p:nvPr/>
        </p:nvSpPr>
        <p:spPr>
          <a:xfrm>
            <a:off x="4558400" y="2605125"/>
            <a:ext cx="8874300" cy="3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0"/>
              <a:buFont typeface="Arial"/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Resumen</a:t>
            </a:r>
            <a:endParaRPr b="0" i="0" sz="5650" u="none" cap="none" strike="noStrike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Consulta datos de una tabla</a:t>
            </a:r>
            <a:endParaRPr b="0" i="0" sz="4450" u="none" cap="none" strike="noStrike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Uso de filtros y </a:t>
            </a: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unión</a:t>
            </a:r>
            <a:endParaRPr b="0" i="0" sz="4450" u="none" cap="none" strike="noStrike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Visualización</a:t>
            </a: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información</a:t>
            </a:r>
            <a:endParaRPr b="0" i="0" sz="4450" u="none" cap="none" strike="noStrike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-1" y="8159700"/>
            <a:ext cx="18288000" cy="21273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0" y="1"/>
            <a:ext cx="12174522" cy="8592030"/>
          </a:xfrm>
          <a:custGeom>
            <a:rect b="b" l="l" r="r" t="t"/>
            <a:pathLst>
              <a:path extrusionOk="0" h="2230248" w="2914308">
                <a:moveTo>
                  <a:pt x="2789848" y="2230248"/>
                </a:moveTo>
                <a:lnTo>
                  <a:pt x="124460" y="2230248"/>
                </a:lnTo>
                <a:cubicBezTo>
                  <a:pt x="55880" y="2230248"/>
                  <a:pt x="0" y="2174368"/>
                  <a:pt x="0" y="2105788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789848" y="0"/>
                </a:lnTo>
                <a:cubicBezTo>
                  <a:pt x="2858428" y="0"/>
                  <a:pt x="2914308" y="55880"/>
                  <a:pt x="2914308" y="124460"/>
                </a:cubicBezTo>
                <a:lnTo>
                  <a:pt x="2914308" y="2105788"/>
                </a:lnTo>
                <a:cubicBezTo>
                  <a:pt x="2914308" y="2174368"/>
                  <a:pt x="2858428" y="2230248"/>
                  <a:pt x="2789848" y="2230248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1189475" y="1170875"/>
            <a:ext cx="10012800" cy="6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t/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-US" sz="7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Usar los datos correctamente también es escribir buen código.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13246725" y="1984000"/>
            <a:ext cx="4135200" cy="50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US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Nuestra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US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frase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0af2efd40_0_27"/>
          <p:cNvSpPr/>
          <p:nvPr/>
        </p:nvSpPr>
        <p:spPr>
          <a:xfrm>
            <a:off x="-1" y="8159700"/>
            <a:ext cx="18288000" cy="21273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60af2efd40_0_27"/>
          <p:cNvSpPr txBox="1"/>
          <p:nvPr/>
        </p:nvSpPr>
        <p:spPr>
          <a:xfrm>
            <a:off x="13246725" y="1984000"/>
            <a:ext cx="4135200" cy="50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Etica</a:t>
            </a:r>
            <a:endParaRPr b="1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t/>
            </a:r>
            <a:endParaRPr b="1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 de principios y valores que guían el uso responsable y correcto de la tecnología.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t/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g360af2efd40_0_27"/>
          <p:cNvPicPr preferRelativeResize="0"/>
          <p:nvPr/>
        </p:nvPicPr>
        <p:blipFill rotWithShape="1">
          <a:blip r:embed="rId3">
            <a:alphaModFix/>
          </a:blip>
          <a:srcRect b="0" l="4066" r="3297" t="0"/>
          <a:stretch/>
        </p:blipFill>
        <p:spPr>
          <a:xfrm>
            <a:off x="1055500" y="625600"/>
            <a:ext cx="11173450" cy="80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/>
          <p:nvPr/>
        </p:nvSpPr>
        <p:spPr>
          <a:xfrm>
            <a:off x="14087458" y="3091234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6" y="0"/>
                </a:lnTo>
                <a:lnTo>
                  <a:pt x="2859716" y="4104532"/>
                </a:lnTo>
                <a:lnTo>
                  <a:pt x="0" y="4104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1"/>
          <p:cNvSpPr txBox="1"/>
          <p:nvPr/>
        </p:nvSpPr>
        <p:spPr>
          <a:xfrm>
            <a:off x="3277902" y="1334560"/>
            <a:ext cx="11616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 b="0" i="0" sz="4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7332538" y="4343720"/>
            <a:ext cx="3622923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1760680" y="8134350"/>
            <a:ext cx="14766640" cy="13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24"/>
              <a:buFont typeface="Arial"/>
              <a:buNone/>
            </a:pPr>
            <a:r>
              <a:rPr b="0" i="0" lang="en-US" sz="36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