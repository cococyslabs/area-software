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League Spartan"/>
      <p:regular r:id="rId26"/>
      <p:bold r:id="rId27"/>
    </p:embeddedFont>
    <p:embeddedFont>
      <p:font typeface="Montserra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gfHtQInbWwNrwLliw1YqwjMPX/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366007-AB64-4AFF-83E0-D489ADD82CFD}">
  <a:tblStyle styleId="{66366007-AB64-4AFF-83E0-D489ADD82CF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eagueSpartan-regular.fntdata"/><Relationship Id="rId25" Type="http://schemas.openxmlformats.org/officeDocument/2006/relationships/slide" Target="slides/slide19.xml"/><Relationship Id="rId28" Type="http://schemas.openxmlformats.org/officeDocument/2006/relationships/font" Target="fonts/Montserrat-regular.fntdata"/><Relationship Id="rId27" Type="http://schemas.openxmlformats.org/officeDocument/2006/relationships/font" Target="fonts/LeagueSpartan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0af2efd4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60af2efd40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0ad9b33eb_1_5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60ad9b33eb_1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0ad9b33eb_1_6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60ad9b33eb_1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0ad9b33eb_1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60ad9b33eb_1_6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0ad9b33eb_1_6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60ad9b33eb_1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0ad9b33eb_1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60ad9b33eb_1_6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0ad9b33eb_1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60ad9b33eb_1_6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0ad9b33eb_1_6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60ad9b33eb_1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0ad9b33eb_1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60ad9b33eb_1_6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0af2efd4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60af2efd40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learn.microsoft.com/es-mx/dotnet/visual-basic/language-reference/statements/for-next-statement" TargetMode="External"/><Relationship Id="rId4" Type="http://schemas.openxmlformats.org/officeDocument/2006/relationships/hyperlink" Target="https://learn.microsoft.com/es-mx/dotnet/visual-basic/language-reference/statements/while-end-while-statement" TargetMode="External"/><Relationship Id="rId5" Type="http://schemas.openxmlformats.org/officeDocument/2006/relationships/hyperlink" Target="https://learn.microsoft.com/es-mx/dotnet/visual-basic/language-reference/statements/do-loop-statement" TargetMode="External"/><Relationship Id="rId6" Type="http://schemas.openxmlformats.org/officeDocument/2006/relationships/hyperlink" Target="https://learn.microsoft.com/es-mx/dotnet/visual-basic/developing-apps/windows-forms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9794" y="0"/>
            <a:ext cx="18258206" cy="10287000"/>
          </a:xfrm>
          <a:custGeom>
            <a:rect b="b" l="l" r="r" t="t"/>
            <a:pathLst>
              <a:path extrusionOk="0"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1639847" y="2038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{66366007-AB64-4AFF-83E0-D489ADD82CFD}</a:tableStyleId>
              </a:tblPr>
              <a:tblGrid>
                <a:gridCol w="2777675"/>
                <a:gridCol w="3474925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54"/>
                        <a:buFont typeface="Arial"/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Fecha: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54"/>
                        <a:buFont typeface="Arial"/>
                        <a:buNone/>
                      </a:pP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dd/mm/yyyy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54"/>
                        <a:buFont typeface="Arial"/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54"/>
                        <a:buFont typeface="Arial"/>
                        <a:buNone/>
                      </a:pP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12:00 - 12:00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3829698" y="4269739"/>
            <a:ext cx="14062762" cy="873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0092 PROGRAMACION DE COMPUTADORAS 2 [Q]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471672" y="5204170"/>
            <a:ext cx="8420788" cy="755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Nombre_aux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-304800" y="-266700"/>
            <a:ext cx="19011900" cy="36957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-1497230" y="1409077"/>
            <a:ext cx="14093462" cy="10287000"/>
          </a:xfrm>
          <a:custGeom>
            <a:rect b="b" l="l" r="r" t="t"/>
            <a:pathLst>
              <a:path extrusionOk="0" h="2462566" w="3373780">
                <a:moveTo>
                  <a:pt x="3249320" y="2462566"/>
                </a:moveTo>
                <a:lnTo>
                  <a:pt x="124460" y="2462566"/>
                </a:lnTo>
                <a:cubicBezTo>
                  <a:pt x="55880" y="2462566"/>
                  <a:pt x="0" y="2406686"/>
                  <a:pt x="0" y="233810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49320" y="0"/>
                </a:lnTo>
                <a:cubicBezTo>
                  <a:pt x="3317900" y="0"/>
                  <a:pt x="3373780" y="55880"/>
                  <a:pt x="3373780" y="124460"/>
                </a:cubicBezTo>
                <a:lnTo>
                  <a:pt x="3373780" y="2338106"/>
                </a:lnTo>
                <a:cubicBezTo>
                  <a:pt x="3373780" y="2406686"/>
                  <a:pt x="3317900" y="2462566"/>
                  <a:pt x="3249320" y="2462566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2"/>
          <p:cNvGrpSpPr/>
          <p:nvPr/>
        </p:nvGrpSpPr>
        <p:grpSpPr>
          <a:xfrm>
            <a:off x="12388703" y="2053719"/>
            <a:ext cx="5385349" cy="10944768"/>
            <a:chOff x="0" y="0"/>
            <a:chExt cx="5000993" cy="10163632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1" r="-41" t="0"/>
              </a:stretch>
            </a:blipFill>
            <a:ln>
              <a:noFill/>
            </a:ln>
          </p:spPr>
        </p:sp>
        <p:sp>
          <p:nvSpPr>
            <p:cNvPr id="96" name="Google Shape;96;p2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342" r="-184114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0" y="8582374"/>
            <a:ext cx="3090940" cy="1994712"/>
          </a:xfrm>
          <a:custGeom>
            <a:rect b="b" l="l" r="r" t="t"/>
            <a:pathLst>
              <a:path extrusionOk="0" h="1994712" w="3090940">
                <a:moveTo>
                  <a:pt x="0" y="0"/>
                </a:moveTo>
                <a:lnTo>
                  <a:pt x="3090940" y="0"/>
                </a:lnTo>
                <a:lnTo>
                  <a:pt x="3090940" y="1994712"/>
                </a:lnTo>
                <a:lnTo>
                  <a:pt x="0" y="1994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18885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654534" y="2054704"/>
            <a:ext cx="67920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99"/>
              <a:buFont typeface="Arial"/>
              <a:buNone/>
            </a:pPr>
            <a:r>
              <a:rPr b="0" i="0" lang="en-US" sz="9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Clase 7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3109990" y="9079667"/>
            <a:ext cx="8282979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Universidad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0" y="7740512"/>
            <a:ext cx="12388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b="0" i="0" lang="en-US" sz="40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305709" y="3823150"/>
            <a:ext cx="7960500" cy="1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47616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3"/>
          <p:cNvGrpSpPr/>
          <p:nvPr/>
        </p:nvGrpSpPr>
        <p:grpSpPr>
          <a:xfrm>
            <a:off x="1090975" y="580175"/>
            <a:ext cx="15941420" cy="8729720"/>
            <a:chOff x="0" y="-38100"/>
            <a:chExt cx="3166876" cy="1786205"/>
          </a:xfrm>
        </p:grpSpPr>
        <p:sp>
          <p:nvSpPr>
            <p:cNvPr id="108" name="Google Shape;108;p3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9" name="Google Shape;109;p3"/>
            <p:cNvSpPr txBox="1"/>
            <p:nvPr/>
          </p:nvSpPr>
          <p:spPr>
            <a:xfrm>
              <a:off x="0" y="-38100"/>
              <a:ext cx="3166800" cy="17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3"/>
          <p:cNvSpPr txBox="1"/>
          <p:nvPr/>
        </p:nvSpPr>
        <p:spPr>
          <a:xfrm>
            <a:off x="2517488" y="1327008"/>
            <a:ext cx="6353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0"/>
              <a:buFont typeface="Arial"/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617852" y="2705775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1617852" y="3679545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659477" y="4703887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659475" y="5841750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736738" y="6890720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2633449" y="2743875"/>
            <a:ext cx="4136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Anuncios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2633449" y="3717645"/>
            <a:ext cx="36111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Repaso clase 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2793284" y="4741987"/>
            <a:ext cx="40182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For …Next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2932466" y="5879850"/>
            <a:ext cx="36111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While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2904954" y="7060581"/>
            <a:ext cx="4761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Do …Loop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9391101" y="1327008"/>
            <a:ext cx="6353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0"/>
              <a:buFont typeface="Arial"/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1477300" y="2503275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For ...Next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11477300" y="3429000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While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11477300" y="4354713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Do ...Loop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11477300" y="5385163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Formularios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1837463" y="8241295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b="1" lang="en-US" sz="4271"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3005679" y="8411156"/>
            <a:ext cx="4761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Vectores</a:t>
            </a:r>
            <a:endParaRPr sz="2524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0af2efd40_0_2"/>
          <p:cNvSpPr/>
          <p:nvPr/>
        </p:nvSpPr>
        <p:spPr>
          <a:xfrm>
            <a:off x="12184750" y="3511121"/>
            <a:ext cx="5074184" cy="5747010"/>
          </a:xfrm>
          <a:custGeom>
            <a:rect b="b" l="l" r="r" t="t"/>
            <a:pathLst>
              <a:path extrusionOk="0" h="1430494" w="2993619">
                <a:moveTo>
                  <a:pt x="2869158" y="1430494"/>
                </a:moveTo>
                <a:lnTo>
                  <a:pt x="124460" y="1430494"/>
                </a:lnTo>
                <a:cubicBezTo>
                  <a:pt x="55880" y="1430494"/>
                  <a:pt x="0" y="1374614"/>
                  <a:pt x="0" y="1306034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306034"/>
                </a:lnTo>
                <a:cubicBezTo>
                  <a:pt x="2993619" y="1374614"/>
                  <a:pt x="2937739" y="1430494"/>
                  <a:pt x="2869159" y="1430494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60af2efd40_0_2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g360af2efd40_0_2"/>
          <p:cNvSpPr/>
          <p:nvPr/>
        </p:nvSpPr>
        <p:spPr>
          <a:xfrm>
            <a:off x="1028700" y="3512821"/>
            <a:ext cx="5074184" cy="5747010"/>
          </a:xfrm>
          <a:custGeom>
            <a:rect b="b" l="l" r="r" t="t"/>
            <a:pathLst>
              <a:path extrusionOk="0" h="1430494" w="2993619">
                <a:moveTo>
                  <a:pt x="2869158" y="1430494"/>
                </a:moveTo>
                <a:lnTo>
                  <a:pt x="124460" y="1430494"/>
                </a:lnTo>
                <a:cubicBezTo>
                  <a:pt x="55880" y="1430494"/>
                  <a:pt x="0" y="1374614"/>
                  <a:pt x="0" y="1306034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306034"/>
                </a:lnTo>
                <a:cubicBezTo>
                  <a:pt x="2993619" y="1374614"/>
                  <a:pt x="2937739" y="1430494"/>
                  <a:pt x="2869159" y="1430494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60af2efd40_0_2"/>
          <p:cNvSpPr/>
          <p:nvPr/>
        </p:nvSpPr>
        <p:spPr>
          <a:xfrm>
            <a:off x="6606725" y="336371"/>
            <a:ext cx="5074184" cy="5747010"/>
          </a:xfrm>
          <a:custGeom>
            <a:rect b="b" l="l" r="r" t="t"/>
            <a:pathLst>
              <a:path extrusionOk="0" h="1430494" w="2993619">
                <a:moveTo>
                  <a:pt x="2869158" y="1430494"/>
                </a:moveTo>
                <a:lnTo>
                  <a:pt x="124460" y="1430494"/>
                </a:lnTo>
                <a:cubicBezTo>
                  <a:pt x="55880" y="1430494"/>
                  <a:pt x="0" y="1374614"/>
                  <a:pt x="0" y="1306034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306034"/>
                </a:lnTo>
                <a:cubicBezTo>
                  <a:pt x="2993619" y="1374614"/>
                  <a:pt x="2937739" y="1430494"/>
                  <a:pt x="2869159" y="1430494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60af2efd40_0_2"/>
          <p:cNvSpPr txBox="1"/>
          <p:nvPr/>
        </p:nvSpPr>
        <p:spPr>
          <a:xfrm>
            <a:off x="1327371" y="7436271"/>
            <a:ext cx="447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FFFFFF"/>
                </a:solidFill>
              </a:rPr>
              <a:t>Anuncio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60af2efd40_0_2"/>
          <p:cNvSpPr txBox="1"/>
          <p:nvPr/>
        </p:nvSpPr>
        <p:spPr>
          <a:xfrm>
            <a:off x="6905400" y="7316815"/>
            <a:ext cx="44772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Luego pedirá elegir el tema para el entorno de trabajo. Dejar el primer campo como general y elegir el tema a su propio gusto.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60af2efd40_0_2"/>
          <p:cNvSpPr txBox="1"/>
          <p:nvPr/>
        </p:nvSpPr>
        <p:spPr>
          <a:xfrm>
            <a:off x="12504076" y="7695910"/>
            <a:ext cx="447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FFFFFF"/>
                </a:solidFill>
              </a:rPr>
              <a:t>anuncio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60af2efd40_0_2"/>
          <p:cNvSpPr txBox="1"/>
          <p:nvPr/>
        </p:nvSpPr>
        <p:spPr>
          <a:xfrm>
            <a:off x="6905213" y="3663410"/>
            <a:ext cx="447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FFFFFF"/>
                </a:solidFill>
              </a:rPr>
              <a:t>anuncio 2</a:t>
            </a:r>
            <a:endParaRPr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4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/>
          <p:nvPr/>
        </p:nvSpPr>
        <p:spPr>
          <a:xfrm>
            <a:off x="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Competencias</a:t>
            </a:r>
            <a:endParaRPr b="1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7291525" y="2391300"/>
            <a:ext cx="9483000" cy="55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Aplica ciclos </a:t>
            </a: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While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Visual Basic .NET para automatizar tareas dentro de aplicaciones interactivas.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Utiliza vectores, matrices y métodos de ordenamiento en Visual Basic .NET para organizar y consultar datos de manera eficiente.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0ad9b33eb_1_594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360ad9b33eb_1_594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60ad9b33eb_1_594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60ad9b33eb_1_594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…Next</a:t>
            </a:r>
            <a:endParaRPr b="0" i="0" sz="6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60ad9b33eb_1_594"/>
          <p:cNvSpPr txBox="1"/>
          <p:nvPr/>
        </p:nvSpPr>
        <p:spPr>
          <a:xfrm>
            <a:off x="422825" y="2286000"/>
            <a:ext cx="17470200" cy="5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ciclo For...Next se utiliza para repetir un bloque de instrucciones un número determinado de veces.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muy útil cuando se conoce de antemano cuántas veces debe ejecutarse el código.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5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/>
          <p:nvPr/>
        </p:nvSpPr>
        <p:spPr>
          <a:xfrm>
            <a:off x="1251000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1251000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For…Next</a:t>
            </a:r>
            <a:endParaRPr b="1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581350" y="688550"/>
            <a:ext cx="12410400" cy="7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contador As Integer = valor_inicial To valor_final [Step incremento]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' Instrucciones que se repiten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b="1" lang="en-US" sz="3000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contador</a:t>
            </a: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variable de control del ciclo.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b="1" lang="en-US" sz="3000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valor_inicial</a:t>
            </a: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desde dónde empieza.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b="1" lang="en-US" sz="3000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valor_final</a:t>
            </a: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hasta dónde llega.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Step</a:t>
            </a: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(opcional) define el incremento o decremento del contador (por defecto es 1).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6"/>
          <p:cNvGrpSpPr/>
          <p:nvPr/>
        </p:nvGrpSpPr>
        <p:grpSpPr>
          <a:xfrm>
            <a:off x="-289042" y="407918"/>
            <a:ext cx="17178772" cy="9471993"/>
            <a:chOff x="0" y="-47625"/>
            <a:chExt cx="4524450" cy="2494681"/>
          </a:xfrm>
        </p:grpSpPr>
        <p:sp>
          <p:nvSpPr>
            <p:cNvPr id="170" name="Google Shape;170;p6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6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6"/>
          <p:cNvSpPr txBox="1"/>
          <p:nvPr/>
        </p:nvSpPr>
        <p:spPr>
          <a:xfrm>
            <a:off x="3220492" y="781050"/>
            <a:ext cx="118470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0" lang="en-US" sz="6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6248697" y="3886200"/>
            <a:ext cx="609600" cy="560070"/>
          </a:xfrm>
          <a:custGeom>
            <a:rect b="b" l="l" r="r" t="t"/>
            <a:pathLst>
              <a:path extrusionOk="0" h="746760" w="812800">
                <a:moveTo>
                  <a:pt x="452120" y="194310"/>
                </a:moveTo>
                <a:cubicBezTo>
                  <a:pt x="422910" y="335280"/>
                  <a:pt x="419100" y="449580"/>
                  <a:pt x="420370" y="449580"/>
                </a:cubicBezTo>
                <a:cubicBezTo>
                  <a:pt x="422910" y="450850"/>
                  <a:pt x="426720" y="336550"/>
                  <a:pt x="438150" y="288290"/>
                </a:cubicBezTo>
                <a:cubicBezTo>
                  <a:pt x="449580" y="245110"/>
                  <a:pt x="466090" y="203200"/>
                  <a:pt x="485140" y="171450"/>
                </a:cubicBezTo>
                <a:cubicBezTo>
                  <a:pt x="500380" y="146050"/>
                  <a:pt x="515620" y="124460"/>
                  <a:pt x="535940" y="109220"/>
                </a:cubicBezTo>
                <a:cubicBezTo>
                  <a:pt x="556260" y="92710"/>
                  <a:pt x="584200" y="81280"/>
                  <a:pt x="609600" y="76200"/>
                </a:cubicBezTo>
                <a:cubicBezTo>
                  <a:pt x="636270" y="72390"/>
                  <a:pt x="665480" y="74930"/>
                  <a:pt x="690880" y="82550"/>
                </a:cubicBezTo>
                <a:cubicBezTo>
                  <a:pt x="715010" y="91440"/>
                  <a:pt x="740410" y="106680"/>
                  <a:pt x="759460" y="125730"/>
                </a:cubicBezTo>
                <a:cubicBezTo>
                  <a:pt x="777240" y="144780"/>
                  <a:pt x="792480" y="170180"/>
                  <a:pt x="800100" y="195580"/>
                </a:cubicBezTo>
                <a:cubicBezTo>
                  <a:pt x="807720" y="220980"/>
                  <a:pt x="812800" y="247650"/>
                  <a:pt x="803910" y="275590"/>
                </a:cubicBezTo>
                <a:cubicBezTo>
                  <a:pt x="791210" y="314960"/>
                  <a:pt x="749300" y="358140"/>
                  <a:pt x="709930" y="400050"/>
                </a:cubicBezTo>
                <a:cubicBezTo>
                  <a:pt x="664210" y="450850"/>
                  <a:pt x="600710" y="524510"/>
                  <a:pt x="538480" y="551180"/>
                </a:cubicBezTo>
                <a:cubicBezTo>
                  <a:pt x="482600" y="575310"/>
                  <a:pt x="415290" y="582930"/>
                  <a:pt x="359410" y="567690"/>
                </a:cubicBezTo>
                <a:cubicBezTo>
                  <a:pt x="302260" y="552450"/>
                  <a:pt x="196850" y="490220"/>
                  <a:pt x="199390" y="458470"/>
                </a:cubicBezTo>
                <a:cubicBezTo>
                  <a:pt x="200660" y="425450"/>
                  <a:pt x="349250" y="359410"/>
                  <a:pt x="365760" y="373380"/>
                </a:cubicBezTo>
                <a:cubicBezTo>
                  <a:pt x="378460" y="383540"/>
                  <a:pt x="353060" y="447040"/>
                  <a:pt x="336550" y="477520"/>
                </a:cubicBezTo>
                <a:cubicBezTo>
                  <a:pt x="317500" y="509270"/>
                  <a:pt x="289560" y="542290"/>
                  <a:pt x="259080" y="558800"/>
                </a:cubicBezTo>
                <a:cubicBezTo>
                  <a:pt x="227330" y="574040"/>
                  <a:pt x="179070" y="577850"/>
                  <a:pt x="148590" y="575310"/>
                </a:cubicBezTo>
                <a:cubicBezTo>
                  <a:pt x="127000" y="574040"/>
                  <a:pt x="113030" y="568960"/>
                  <a:pt x="95250" y="557530"/>
                </a:cubicBezTo>
                <a:cubicBezTo>
                  <a:pt x="69850" y="541020"/>
                  <a:pt x="33020" y="508000"/>
                  <a:pt x="19050" y="476250"/>
                </a:cubicBezTo>
                <a:cubicBezTo>
                  <a:pt x="3810" y="443230"/>
                  <a:pt x="0" y="398780"/>
                  <a:pt x="7620" y="364490"/>
                </a:cubicBezTo>
                <a:cubicBezTo>
                  <a:pt x="15240" y="330200"/>
                  <a:pt x="44450" y="290830"/>
                  <a:pt x="66040" y="269240"/>
                </a:cubicBezTo>
                <a:cubicBezTo>
                  <a:pt x="80010" y="254000"/>
                  <a:pt x="96520" y="247650"/>
                  <a:pt x="114300" y="241300"/>
                </a:cubicBezTo>
                <a:cubicBezTo>
                  <a:pt x="130810" y="233680"/>
                  <a:pt x="147320" y="228600"/>
                  <a:pt x="168910" y="228600"/>
                </a:cubicBezTo>
                <a:cubicBezTo>
                  <a:pt x="199390" y="229870"/>
                  <a:pt x="247650" y="240030"/>
                  <a:pt x="276860" y="259080"/>
                </a:cubicBezTo>
                <a:cubicBezTo>
                  <a:pt x="306070" y="279400"/>
                  <a:pt x="331470" y="321310"/>
                  <a:pt x="344170" y="347980"/>
                </a:cubicBezTo>
                <a:cubicBezTo>
                  <a:pt x="351790" y="368300"/>
                  <a:pt x="354330" y="383540"/>
                  <a:pt x="353060" y="403860"/>
                </a:cubicBezTo>
                <a:cubicBezTo>
                  <a:pt x="350520" y="434340"/>
                  <a:pt x="337820" y="482600"/>
                  <a:pt x="316230" y="510540"/>
                </a:cubicBezTo>
                <a:cubicBezTo>
                  <a:pt x="294640" y="538480"/>
                  <a:pt x="251460" y="561340"/>
                  <a:pt x="223520" y="571500"/>
                </a:cubicBezTo>
                <a:cubicBezTo>
                  <a:pt x="203200" y="579120"/>
                  <a:pt x="187960" y="580390"/>
                  <a:pt x="167640" y="577850"/>
                </a:cubicBezTo>
                <a:cubicBezTo>
                  <a:pt x="137160" y="574040"/>
                  <a:pt x="90170" y="558800"/>
                  <a:pt x="63500" y="535940"/>
                </a:cubicBezTo>
                <a:cubicBezTo>
                  <a:pt x="36830" y="513080"/>
                  <a:pt x="15240" y="468630"/>
                  <a:pt x="6350" y="439420"/>
                </a:cubicBezTo>
                <a:cubicBezTo>
                  <a:pt x="1270" y="419100"/>
                  <a:pt x="1270" y="406400"/>
                  <a:pt x="3810" y="383540"/>
                </a:cubicBezTo>
                <a:cubicBezTo>
                  <a:pt x="7620" y="347980"/>
                  <a:pt x="13970" y="292100"/>
                  <a:pt x="38100" y="251460"/>
                </a:cubicBezTo>
                <a:cubicBezTo>
                  <a:pt x="64770" y="205740"/>
                  <a:pt x="114300" y="146050"/>
                  <a:pt x="166370" y="128270"/>
                </a:cubicBezTo>
                <a:cubicBezTo>
                  <a:pt x="222250" y="109220"/>
                  <a:pt x="309880" y="124460"/>
                  <a:pt x="365760" y="151130"/>
                </a:cubicBezTo>
                <a:cubicBezTo>
                  <a:pt x="419100" y="176530"/>
                  <a:pt x="506730" y="257810"/>
                  <a:pt x="499110" y="279400"/>
                </a:cubicBezTo>
                <a:cubicBezTo>
                  <a:pt x="491490" y="299720"/>
                  <a:pt x="340360" y="298450"/>
                  <a:pt x="336550" y="287020"/>
                </a:cubicBezTo>
                <a:cubicBezTo>
                  <a:pt x="334010" y="275590"/>
                  <a:pt x="444500" y="241300"/>
                  <a:pt x="472440" y="210820"/>
                </a:cubicBezTo>
                <a:cubicBezTo>
                  <a:pt x="492760" y="187960"/>
                  <a:pt x="494030" y="154940"/>
                  <a:pt x="506730" y="137160"/>
                </a:cubicBezTo>
                <a:cubicBezTo>
                  <a:pt x="515620" y="124460"/>
                  <a:pt x="525780" y="116840"/>
                  <a:pt x="535940" y="109220"/>
                </a:cubicBezTo>
                <a:cubicBezTo>
                  <a:pt x="546100" y="100330"/>
                  <a:pt x="556260" y="93980"/>
                  <a:pt x="571500" y="88900"/>
                </a:cubicBezTo>
                <a:cubicBezTo>
                  <a:pt x="591820" y="81280"/>
                  <a:pt x="624840" y="72390"/>
                  <a:pt x="650240" y="74930"/>
                </a:cubicBezTo>
                <a:cubicBezTo>
                  <a:pt x="676910" y="77470"/>
                  <a:pt x="708660" y="90170"/>
                  <a:pt x="727710" y="100330"/>
                </a:cubicBezTo>
                <a:cubicBezTo>
                  <a:pt x="741680" y="107950"/>
                  <a:pt x="749300" y="114300"/>
                  <a:pt x="759460" y="125730"/>
                </a:cubicBezTo>
                <a:cubicBezTo>
                  <a:pt x="773430" y="142240"/>
                  <a:pt x="792480" y="170180"/>
                  <a:pt x="800100" y="195580"/>
                </a:cubicBezTo>
                <a:cubicBezTo>
                  <a:pt x="807720" y="219710"/>
                  <a:pt x="808990" y="245110"/>
                  <a:pt x="803910" y="275590"/>
                </a:cubicBezTo>
                <a:cubicBezTo>
                  <a:pt x="796290" y="321310"/>
                  <a:pt x="765810" y="386080"/>
                  <a:pt x="739140" y="436880"/>
                </a:cubicBezTo>
                <a:cubicBezTo>
                  <a:pt x="711200" y="488950"/>
                  <a:pt x="680720" y="539750"/>
                  <a:pt x="640080" y="585470"/>
                </a:cubicBezTo>
                <a:cubicBezTo>
                  <a:pt x="595630" y="636270"/>
                  <a:pt x="542290" y="701040"/>
                  <a:pt x="480060" y="723900"/>
                </a:cubicBezTo>
                <a:cubicBezTo>
                  <a:pt x="419100" y="746760"/>
                  <a:pt x="330200" y="744220"/>
                  <a:pt x="270510" y="723900"/>
                </a:cubicBezTo>
                <a:cubicBezTo>
                  <a:pt x="214630" y="703580"/>
                  <a:pt x="158750" y="662940"/>
                  <a:pt x="129540" y="610870"/>
                </a:cubicBezTo>
                <a:cubicBezTo>
                  <a:pt x="96520" y="552450"/>
                  <a:pt x="99060" y="459740"/>
                  <a:pt x="101600" y="381000"/>
                </a:cubicBezTo>
                <a:cubicBezTo>
                  <a:pt x="102870" y="295910"/>
                  <a:pt x="123190" y="181610"/>
                  <a:pt x="149860" y="119380"/>
                </a:cubicBezTo>
                <a:cubicBezTo>
                  <a:pt x="166370" y="78740"/>
                  <a:pt x="184150" y="48260"/>
                  <a:pt x="213360" y="27940"/>
                </a:cubicBezTo>
                <a:cubicBezTo>
                  <a:pt x="241300" y="8890"/>
                  <a:pt x="288290" y="0"/>
                  <a:pt x="320040" y="2540"/>
                </a:cubicBezTo>
                <a:cubicBezTo>
                  <a:pt x="346710" y="3810"/>
                  <a:pt x="369570" y="12700"/>
                  <a:pt x="389890" y="29210"/>
                </a:cubicBezTo>
                <a:cubicBezTo>
                  <a:pt x="415290" y="48260"/>
                  <a:pt x="443230" y="90170"/>
                  <a:pt x="452120" y="120650"/>
                </a:cubicBezTo>
                <a:cubicBezTo>
                  <a:pt x="459740" y="144780"/>
                  <a:pt x="452120" y="194310"/>
                  <a:pt x="452120" y="194310"/>
                </a:cubicBezTo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1175" y="1945550"/>
            <a:ext cx="10238450" cy="77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0ad9b33eb_1_611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g360ad9b33eb_1_611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60ad9b33eb_1_611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60ad9b33eb_1_611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endParaRPr b="0" i="0" sz="6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60ad9b33eb_1_611"/>
          <p:cNvSpPr txBox="1"/>
          <p:nvPr/>
        </p:nvSpPr>
        <p:spPr>
          <a:xfrm>
            <a:off x="422825" y="2286000"/>
            <a:ext cx="17470200" cy="5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ciclo While se utiliza para repetir un bloque de código mientras se cumpla </a:t>
            </a:r>
            <a:r>
              <a:rPr lang="en-US" sz="40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una condición lógica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evalúa la condición antes de ejecutar el bloque, y si es verdadera, el código se repite. Si es falsa, el 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ya no se ejecuta.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360ad9b33eb_1_619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60ad9b33eb_1_619"/>
          <p:cNvSpPr/>
          <p:nvPr/>
        </p:nvSpPr>
        <p:spPr>
          <a:xfrm>
            <a:off x="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60ad9b33eb_1_619"/>
          <p:cNvSpPr txBox="1"/>
          <p:nvPr/>
        </p:nvSpPr>
        <p:spPr>
          <a:xfrm>
            <a:off x="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while</a:t>
            </a:r>
            <a:endParaRPr b="1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60ad9b33eb_1_619"/>
          <p:cNvSpPr txBox="1"/>
          <p:nvPr/>
        </p:nvSpPr>
        <p:spPr>
          <a:xfrm>
            <a:off x="6745325" y="338100"/>
            <a:ext cx="10245900" cy="3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While condicion</a:t>
            </a:r>
            <a:endParaRPr sz="3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' Instrucciones que se repiten</a:t>
            </a:r>
            <a:endParaRPr sz="3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End While</a:t>
            </a:r>
            <a:endParaRPr sz="3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g360ad9b33eb_1_6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5325" y="3141750"/>
            <a:ext cx="8082399" cy="65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0ad9b33eb_1_635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60ad9b33eb_1_635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60ad9b33eb_1_635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60ad9b33eb_1_635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Do…Loop</a:t>
            </a:r>
            <a:endParaRPr b="0" i="0" sz="6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60ad9b33eb_1_635"/>
          <p:cNvSpPr txBox="1"/>
          <p:nvPr/>
        </p:nvSpPr>
        <p:spPr>
          <a:xfrm>
            <a:off x="422825" y="2286000"/>
            <a:ext cx="17470200" cy="5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Do...Loop se usa para repetir un bloque de instrucciones </a:t>
            </a:r>
            <a:r>
              <a:rPr lang="en-US" sz="40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mientras se cumpla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una condición, o hasta que se cumpla una condición.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diferencia del While, el Do...Loop puede evaluar la condición </a:t>
            </a:r>
            <a:r>
              <a:rPr lang="en-US" sz="40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al principio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 al final, lo que permite mayor flexibilidad.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60ad9b33eb_1_643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60ad9b33eb_1_643"/>
          <p:cNvSpPr/>
          <p:nvPr/>
        </p:nvSpPr>
        <p:spPr>
          <a:xfrm>
            <a:off x="1251000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60ad9b33eb_1_643"/>
          <p:cNvSpPr txBox="1"/>
          <p:nvPr/>
        </p:nvSpPr>
        <p:spPr>
          <a:xfrm>
            <a:off x="1251000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Do…Loop</a:t>
            </a:r>
            <a:endParaRPr b="1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60ad9b33eb_1_643"/>
          <p:cNvSpPr txBox="1"/>
          <p:nvPr/>
        </p:nvSpPr>
        <p:spPr>
          <a:xfrm>
            <a:off x="1034875" y="894700"/>
            <a:ext cx="10348800" cy="76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sz="400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   ' Instrucciones</a:t>
            </a:r>
            <a:endParaRPr sz="400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Loop While condicion</a:t>
            </a:r>
            <a:endParaRPr sz="400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EFFFF"/>
                </a:solidFill>
                <a:latin typeface="Calibri"/>
                <a:ea typeface="Calibri"/>
                <a:cs typeface="Calibri"/>
                <a:sym typeface="Calibri"/>
              </a:rPr>
              <a:t>En este ciclo, la condición se evalúa después de ejecutar el bloque de código, lo que garantiza que el bloque se ejecute al menos una vez.</a:t>
            </a:r>
            <a:endParaRPr sz="4000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E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g360ad9b33eb_1_626"/>
          <p:cNvGrpSpPr/>
          <p:nvPr/>
        </p:nvGrpSpPr>
        <p:grpSpPr>
          <a:xfrm>
            <a:off x="-289042" y="407917"/>
            <a:ext cx="17179454" cy="9472506"/>
            <a:chOff x="0" y="-47625"/>
            <a:chExt cx="4524600" cy="2494800"/>
          </a:xfrm>
        </p:grpSpPr>
        <p:sp>
          <p:nvSpPr>
            <p:cNvPr id="215" name="Google Shape;215;g360ad9b33eb_1_626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360ad9b33eb_1_626"/>
            <p:cNvSpPr txBox="1"/>
            <p:nvPr/>
          </p:nvSpPr>
          <p:spPr>
            <a:xfrm>
              <a:off x="0" y="-47625"/>
              <a:ext cx="4524600" cy="24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g360ad9b33eb_1_626"/>
          <p:cNvSpPr txBox="1"/>
          <p:nvPr/>
        </p:nvSpPr>
        <p:spPr>
          <a:xfrm>
            <a:off x="3220492" y="781050"/>
            <a:ext cx="118470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0" lang="en-US" sz="6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60ad9b33eb_1_626"/>
          <p:cNvSpPr/>
          <p:nvPr/>
        </p:nvSpPr>
        <p:spPr>
          <a:xfrm>
            <a:off x="16248698" y="3886200"/>
            <a:ext cx="609600" cy="560070"/>
          </a:xfrm>
          <a:custGeom>
            <a:rect b="b" l="l" r="r" t="t"/>
            <a:pathLst>
              <a:path extrusionOk="0" h="746760" w="812800">
                <a:moveTo>
                  <a:pt x="452120" y="194310"/>
                </a:moveTo>
                <a:cubicBezTo>
                  <a:pt x="422910" y="335280"/>
                  <a:pt x="419100" y="449580"/>
                  <a:pt x="420370" y="449580"/>
                </a:cubicBezTo>
                <a:cubicBezTo>
                  <a:pt x="422910" y="450850"/>
                  <a:pt x="426720" y="336550"/>
                  <a:pt x="438150" y="288290"/>
                </a:cubicBezTo>
                <a:cubicBezTo>
                  <a:pt x="449580" y="245110"/>
                  <a:pt x="466090" y="203200"/>
                  <a:pt x="485140" y="171450"/>
                </a:cubicBezTo>
                <a:cubicBezTo>
                  <a:pt x="500380" y="146050"/>
                  <a:pt x="515620" y="124460"/>
                  <a:pt x="535940" y="109220"/>
                </a:cubicBezTo>
                <a:cubicBezTo>
                  <a:pt x="556260" y="92710"/>
                  <a:pt x="584200" y="81280"/>
                  <a:pt x="609600" y="76200"/>
                </a:cubicBezTo>
                <a:cubicBezTo>
                  <a:pt x="636270" y="72390"/>
                  <a:pt x="665480" y="74930"/>
                  <a:pt x="690880" y="82550"/>
                </a:cubicBezTo>
                <a:cubicBezTo>
                  <a:pt x="715010" y="91440"/>
                  <a:pt x="740410" y="106680"/>
                  <a:pt x="759460" y="125730"/>
                </a:cubicBezTo>
                <a:cubicBezTo>
                  <a:pt x="777240" y="144780"/>
                  <a:pt x="792480" y="170180"/>
                  <a:pt x="800100" y="195580"/>
                </a:cubicBezTo>
                <a:cubicBezTo>
                  <a:pt x="807720" y="220980"/>
                  <a:pt x="812800" y="247650"/>
                  <a:pt x="803910" y="275590"/>
                </a:cubicBezTo>
                <a:cubicBezTo>
                  <a:pt x="791210" y="314960"/>
                  <a:pt x="749300" y="358140"/>
                  <a:pt x="709930" y="400050"/>
                </a:cubicBezTo>
                <a:cubicBezTo>
                  <a:pt x="664210" y="450850"/>
                  <a:pt x="600710" y="524510"/>
                  <a:pt x="538480" y="551180"/>
                </a:cubicBezTo>
                <a:cubicBezTo>
                  <a:pt x="482600" y="575310"/>
                  <a:pt x="415290" y="582930"/>
                  <a:pt x="359410" y="567690"/>
                </a:cubicBezTo>
                <a:cubicBezTo>
                  <a:pt x="302260" y="552450"/>
                  <a:pt x="196850" y="490220"/>
                  <a:pt x="199390" y="458470"/>
                </a:cubicBezTo>
                <a:cubicBezTo>
                  <a:pt x="200660" y="425450"/>
                  <a:pt x="349250" y="359410"/>
                  <a:pt x="365760" y="373380"/>
                </a:cubicBezTo>
                <a:cubicBezTo>
                  <a:pt x="378460" y="383540"/>
                  <a:pt x="353060" y="447040"/>
                  <a:pt x="336550" y="477520"/>
                </a:cubicBezTo>
                <a:cubicBezTo>
                  <a:pt x="317500" y="509270"/>
                  <a:pt x="289560" y="542290"/>
                  <a:pt x="259080" y="558800"/>
                </a:cubicBezTo>
                <a:cubicBezTo>
                  <a:pt x="227330" y="574040"/>
                  <a:pt x="179070" y="577850"/>
                  <a:pt x="148590" y="575310"/>
                </a:cubicBezTo>
                <a:cubicBezTo>
                  <a:pt x="127000" y="574040"/>
                  <a:pt x="113030" y="568960"/>
                  <a:pt x="95250" y="557530"/>
                </a:cubicBezTo>
                <a:cubicBezTo>
                  <a:pt x="69850" y="541020"/>
                  <a:pt x="33020" y="508000"/>
                  <a:pt x="19050" y="476250"/>
                </a:cubicBezTo>
                <a:cubicBezTo>
                  <a:pt x="3810" y="443230"/>
                  <a:pt x="0" y="398780"/>
                  <a:pt x="7620" y="364490"/>
                </a:cubicBezTo>
                <a:cubicBezTo>
                  <a:pt x="15240" y="330200"/>
                  <a:pt x="44450" y="290830"/>
                  <a:pt x="66040" y="269240"/>
                </a:cubicBezTo>
                <a:cubicBezTo>
                  <a:pt x="80010" y="254000"/>
                  <a:pt x="96520" y="247650"/>
                  <a:pt x="114300" y="241300"/>
                </a:cubicBezTo>
                <a:cubicBezTo>
                  <a:pt x="130810" y="233680"/>
                  <a:pt x="147320" y="228600"/>
                  <a:pt x="168910" y="228600"/>
                </a:cubicBezTo>
                <a:cubicBezTo>
                  <a:pt x="199390" y="229870"/>
                  <a:pt x="247650" y="240030"/>
                  <a:pt x="276860" y="259080"/>
                </a:cubicBezTo>
                <a:cubicBezTo>
                  <a:pt x="306070" y="279400"/>
                  <a:pt x="331470" y="321310"/>
                  <a:pt x="344170" y="347980"/>
                </a:cubicBezTo>
                <a:cubicBezTo>
                  <a:pt x="351790" y="368300"/>
                  <a:pt x="354330" y="383540"/>
                  <a:pt x="353060" y="403860"/>
                </a:cubicBezTo>
                <a:cubicBezTo>
                  <a:pt x="350520" y="434340"/>
                  <a:pt x="337820" y="482600"/>
                  <a:pt x="316230" y="510540"/>
                </a:cubicBezTo>
                <a:cubicBezTo>
                  <a:pt x="294640" y="538480"/>
                  <a:pt x="251460" y="561340"/>
                  <a:pt x="223520" y="571500"/>
                </a:cubicBezTo>
                <a:cubicBezTo>
                  <a:pt x="203200" y="579120"/>
                  <a:pt x="187960" y="580390"/>
                  <a:pt x="167640" y="577850"/>
                </a:cubicBezTo>
                <a:cubicBezTo>
                  <a:pt x="137160" y="574040"/>
                  <a:pt x="90170" y="558800"/>
                  <a:pt x="63500" y="535940"/>
                </a:cubicBezTo>
                <a:cubicBezTo>
                  <a:pt x="36830" y="513080"/>
                  <a:pt x="15240" y="468630"/>
                  <a:pt x="6350" y="439420"/>
                </a:cubicBezTo>
                <a:cubicBezTo>
                  <a:pt x="1270" y="419100"/>
                  <a:pt x="1270" y="406400"/>
                  <a:pt x="3810" y="383540"/>
                </a:cubicBezTo>
                <a:cubicBezTo>
                  <a:pt x="7620" y="347980"/>
                  <a:pt x="13970" y="292100"/>
                  <a:pt x="38100" y="251460"/>
                </a:cubicBezTo>
                <a:cubicBezTo>
                  <a:pt x="64770" y="205740"/>
                  <a:pt x="114300" y="146050"/>
                  <a:pt x="166370" y="128270"/>
                </a:cubicBezTo>
                <a:cubicBezTo>
                  <a:pt x="222250" y="109220"/>
                  <a:pt x="309880" y="124460"/>
                  <a:pt x="365760" y="151130"/>
                </a:cubicBezTo>
                <a:cubicBezTo>
                  <a:pt x="419100" y="176530"/>
                  <a:pt x="506730" y="257810"/>
                  <a:pt x="499110" y="279400"/>
                </a:cubicBezTo>
                <a:cubicBezTo>
                  <a:pt x="491490" y="299720"/>
                  <a:pt x="340360" y="298450"/>
                  <a:pt x="336550" y="287020"/>
                </a:cubicBezTo>
                <a:cubicBezTo>
                  <a:pt x="334010" y="275590"/>
                  <a:pt x="444500" y="241300"/>
                  <a:pt x="472440" y="210820"/>
                </a:cubicBezTo>
                <a:cubicBezTo>
                  <a:pt x="492760" y="187960"/>
                  <a:pt x="494030" y="154940"/>
                  <a:pt x="506730" y="137160"/>
                </a:cubicBezTo>
                <a:cubicBezTo>
                  <a:pt x="515620" y="124460"/>
                  <a:pt x="525780" y="116840"/>
                  <a:pt x="535940" y="109220"/>
                </a:cubicBezTo>
                <a:cubicBezTo>
                  <a:pt x="546100" y="100330"/>
                  <a:pt x="556260" y="93980"/>
                  <a:pt x="571500" y="88900"/>
                </a:cubicBezTo>
                <a:cubicBezTo>
                  <a:pt x="591820" y="81280"/>
                  <a:pt x="624840" y="72390"/>
                  <a:pt x="650240" y="74930"/>
                </a:cubicBezTo>
                <a:cubicBezTo>
                  <a:pt x="676910" y="77470"/>
                  <a:pt x="708660" y="90170"/>
                  <a:pt x="727710" y="100330"/>
                </a:cubicBezTo>
                <a:cubicBezTo>
                  <a:pt x="741680" y="107950"/>
                  <a:pt x="749300" y="114300"/>
                  <a:pt x="759460" y="125730"/>
                </a:cubicBezTo>
                <a:cubicBezTo>
                  <a:pt x="773430" y="142240"/>
                  <a:pt x="792480" y="170180"/>
                  <a:pt x="800100" y="195580"/>
                </a:cubicBezTo>
                <a:cubicBezTo>
                  <a:pt x="807720" y="219710"/>
                  <a:pt x="808990" y="245110"/>
                  <a:pt x="803910" y="275590"/>
                </a:cubicBezTo>
                <a:cubicBezTo>
                  <a:pt x="796290" y="321310"/>
                  <a:pt x="765810" y="386080"/>
                  <a:pt x="739140" y="436880"/>
                </a:cubicBezTo>
                <a:cubicBezTo>
                  <a:pt x="711200" y="488950"/>
                  <a:pt x="680720" y="539750"/>
                  <a:pt x="640080" y="585470"/>
                </a:cubicBezTo>
                <a:cubicBezTo>
                  <a:pt x="595630" y="636270"/>
                  <a:pt x="542290" y="701040"/>
                  <a:pt x="480060" y="723900"/>
                </a:cubicBezTo>
                <a:cubicBezTo>
                  <a:pt x="419100" y="746760"/>
                  <a:pt x="330200" y="744220"/>
                  <a:pt x="270510" y="723900"/>
                </a:cubicBezTo>
                <a:cubicBezTo>
                  <a:pt x="214630" y="703580"/>
                  <a:pt x="158750" y="662940"/>
                  <a:pt x="129540" y="610870"/>
                </a:cubicBezTo>
                <a:cubicBezTo>
                  <a:pt x="96520" y="552450"/>
                  <a:pt x="99060" y="459740"/>
                  <a:pt x="101600" y="381000"/>
                </a:cubicBezTo>
                <a:cubicBezTo>
                  <a:pt x="102870" y="295910"/>
                  <a:pt x="123190" y="181610"/>
                  <a:pt x="149860" y="119380"/>
                </a:cubicBezTo>
                <a:cubicBezTo>
                  <a:pt x="166370" y="78740"/>
                  <a:pt x="184150" y="48260"/>
                  <a:pt x="213360" y="27940"/>
                </a:cubicBezTo>
                <a:cubicBezTo>
                  <a:pt x="241300" y="8890"/>
                  <a:pt x="288290" y="0"/>
                  <a:pt x="320040" y="2540"/>
                </a:cubicBezTo>
                <a:cubicBezTo>
                  <a:pt x="346710" y="3810"/>
                  <a:pt x="369570" y="12700"/>
                  <a:pt x="389890" y="29210"/>
                </a:cubicBezTo>
                <a:cubicBezTo>
                  <a:pt x="415290" y="48260"/>
                  <a:pt x="443230" y="90170"/>
                  <a:pt x="452120" y="120650"/>
                </a:cubicBezTo>
                <a:cubicBezTo>
                  <a:pt x="459740" y="144780"/>
                  <a:pt x="452120" y="194310"/>
                  <a:pt x="452120" y="194310"/>
                </a:cubicBezTo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g360ad9b33eb_1_626"/>
          <p:cNvPicPr preferRelativeResize="0"/>
          <p:nvPr/>
        </p:nvPicPr>
        <p:blipFill rotWithShape="1">
          <a:blip r:embed="rId3">
            <a:alphaModFix/>
          </a:blip>
          <a:srcRect b="0" l="0" r="8029" t="0"/>
          <a:stretch/>
        </p:blipFill>
        <p:spPr>
          <a:xfrm>
            <a:off x="3220500" y="2786800"/>
            <a:ext cx="12429225" cy="4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0ad9b33eb_1_654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g360ad9b33eb_1_654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60ad9b33eb_1_654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60ad9b33eb_1_654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Vectores</a:t>
            </a:r>
            <a:endParaRPr b="0" i="0" sz="6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60ad9b33eb_1_654"/>
          <p:cNvSpPr txBox="1"/>
          <p:nvPr/>
        </p:nvSpPr>
        <p:spPr>
          <a:xfrm>
            <a:off x="422825" y="2286000"/>
            <a:ext cx="174702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vector en VB.NET es una colección de elementos del mismo tipo, almacenados en posiciones consecutivas de memoria.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Cada elemento se accede mediante un índice numérico que comienza en 0.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g360ad9b33eb_1_654"/>
          <p:cNvPicPr preferRelativeResize="0"/>
          <p:nvPr/>
        </p:nvPicPr>
        <p:blipFill rotWithShape="1">
          <a:blip r:embed="rId4">
            <a:alphaModFix/>
          </a:blip>
          <a:srcRect b="0" l="0" r="0" t="29368"/>
          <a:stretch/>
        </p:blipFill>
        <p:spPr>
          <a:xfrm>
            <a:off x="5534763" y="6808625"/>
            <a:ext cx="7218469" cy="212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g360ad9b33eb_1_663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60ad9b33eb_1_663"/>
          <p:cNvSpPr/>
          <p:nvPr/>
        </p:nvSpPr>
        <p:spPr>
          <a:xfrm>
            <a:off x="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60ad9b33eb_1_663"/>
          <p:cNvSpPr txBox="1"/>
          <p:nvPr/>
        </p:nvSpPr>
        <p:spPr>
          <a:xfrm>
            <a:off x="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 b="1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g360ad9b33eb_1_6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8050" y="1376350"/>
            <a:ext cx="10294574" cy="60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/>
          <p:cNvSpPr/>
          <p:nvPr/>
        </p:nvSpPr>
        <p:spPr>
          <a:xfrm>
            <a:off x="0" y="0"/>
            <a:ext cx="47616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" name="Google Shape;243;p7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244" name="Google Shape;244;p7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5" name="Google Shape;245;p7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7"/>
          <p:cNvSpPr txBox="1"/>
          <p:nvPr/>
        </p:nvSpPr>
        <p:spPr>
          <a:xfrm>
            <a:off x="4558400" y="2605125"/>
            <a:ext cx="8874300" cy="3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0"/>
              <a:buFont typeface="Arial"/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Resumen</a:t>
            </a:r>
            <a:endParaRPr b="0" i="0" sz="5650" u="none" cap="none" strike="noStrike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11175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4450"/>
              <a:buFont typeface="League Spartan"/>
              <a:buChar char="●"/>
            </a:pP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Definición de Ciclos</a:t>
            </a:r>
            <a:endParaRPr b="0" i="0" sz="4450" u="none" cap="none" strike="noStrike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11175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4450"/>
              <a:buFont typeface="League Spartan"/>
              <a:buChar char="●"/>
            </a:pPr>
            <a:r>
              <a:rPr b="0" i="0" lang="en-US" sz="44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Definición de </a:t>
            </a: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Vectores</a:t>
            </a:r>
            <a:endParaRPr b="0" i="0" sz="4450" u="none" cap="none" strike="noStrike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11175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4450"/>
              <a:buFont typeface="League Spartan"/>
              <a:buChar char="●"/>
            </a:pP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Uso de condiciones</a:t>
            </a:r>
            <a:endParaRPr b="0" i="0" sz="4450" u="none" cap="none" strike="noStrike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/>
          <p:nvPr/>
        </p:nvSpPr>
        <p:spPr>
          <a:xfrm>
            <a:off x="-1" y="8159700"/>
            <a:ext cx="18288000" cy="21273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0" y="1"/>
            <a:ext cx="12174522" cy="8592030"/>
          </a:xfrm>
          <a:custGeom>
            <a:rect b="b" l="l" r="r" t="t"/>
            <a:pathLst>
              <a:path extrusionOk="0" h="2230248" w="2914308">
                <a:moveTo>
                  <a:pt x="2789848" y="2230248"/>
                </a:moveTo>
                <a:lnTo>
                  <a:pt x="124460" y="2230248"/>
                </a:lnTo>
                <a:cubicBezTo>
                  <a:pt x="55880" y="2230248"/>
                  <a:pt x="0" y="2174368"/>
                  <a:pt x="0" y="2105788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789848" y="0"/>
                </a:lnTo>
                <a:cubicBezTo>
                  <a:pt x="2858428" y="0"/>
                  <a:pt x="2914308" y="55880"/>
                  <a:pt x="2914308" y="124460"/>
                </a:cubicBezTo>
                <a:lnTo>
                  <a:pt x="2914308" y="2105788"/>
                </a:lnTo>
                <a:cubicBezTo>
                  <a:pt x="2914308" y="2174368"/>
                  <a:pt x="2858428" y="2230248"/>
                  <a:pt x="2789848" y="2230248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1189475" y="1170875"/>
            <a:ext cx="10012800" cy="6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t/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-US" sz="7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código puede fallar cien veces, pero siempre habrá una línea que lo resuelva.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13246725" y="1984000"/>
            <a:ext cx="4135200" cy="50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US" sz="4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Nuestr</a:t>
            </a:r>
            <a:r>
              <a:rPr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frase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0af2efd40_0_27"/>
          <p:cNvSpPr/>
          <p:nvPr/>
        </p:nvSpPr>
        <p:spPr>
          <a:xfrm>
            <a:off x="-1" y="8159700"/>
            <a:ext cx="18288000" cy="21273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60af2efd40_0_27"/>
          <p:cNvSpPr txBox="1"/>
          <p:nvPr/>
        </p:nvSpPr>
        <p:spPr>
          <a:xfrm>
            <a:off x="13246725" y="1984000"/>
            <a:ext cx="4135200" cy="50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Resiliencia</a:t>
            </a:r>
            <a:endParaRPr b="1"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t/>
            </a:r>
            <a:endParaRPr b="1"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de una persona para adaptarse positivamente a situaciones difíciles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g360af2efd40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874" y="647175"/>
            <a:ext cx="10869325" cy="787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/>
          <p:nvPr/>
        </p:nvSpPr>
        <p:spPr>
          <a:xfrm>
            <a:off x="14087458" y="3091234"/>
            <a:ext cx="2859716" cy="4104533"/>
          </a:xfrm>
          <a:custGeom>
            <a:rect b="b" l="l" r="r" t="t"/>
            <a:pathLst>
              <a:path extrusionOk="0" h="4104533" w="2859716">
                <a:moveTo>
                  <a:pt x="0" y="0"/>
                </a:moveTo>
                <a:lnTo>
                  <a:pt x="2859716" y="0"/>
                </a:lnTo>
                <a:lnTo>
                  <a:pt x="2859716" y="4104532"/>
                </a:lnTo>
                <a:lnTo>
                  <a:pt x="0" y="4104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1"/>
          <p:cNvSpPr txBox="1"/>
          <p:nvPr/>
        </p:nvSpPr>
        <p:spPr>
          <a:xfrm>
            <a:off x="3277902" y="1334560"/>
            <a:ext cx="11616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 b="0" i="0" sz="4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1"/>
          <p:cNvSpPr txBox="1"/>
          <p:nvPr/>
        </p:nvSpPr>
        <p:spPr>
          <a:xfrm>
            <a:off x="7332538" y="4343720"/>
            <a:ext cx="3622923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1760680" y="8134350"/>
            <a:ext cx="14766640" cy="1327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24"/>
              <a:buFont typeface="Arial"/>
              <a:buNone/>
            </a:pPr>
            <a:r>
              <a:rPr b="0" i="0" lang="en-US" sz="36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