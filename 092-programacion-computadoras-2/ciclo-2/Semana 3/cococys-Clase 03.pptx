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10287000" cx="18288000"/>
  <p:notesSz cx="6858000" cy="9144000"/>
  <p:embeddedFontLst>
    <p:embeddedFont>
      <p:font typeface="League Spartan"/>
      <p:regular r:id="rId36"/>
      <p:bold r:id="rId37"/>
    </p:embeddedFont>
    <p:embeddedFont>
      <p:font typeface="Montserrat"/>
      <p:bold r:id="rId38"/>
      <p:boldItalic r:id="rId39"/>
    </p:embeddedFont>
    <p:embeddedFont>
      <p:font typeface="Poppins"/>
      <p:bold r:id="rId40"/>
      <p:boldItalic r:id="rId41"/>
    </p:embeddedFont>
    <p:embeddedFont>
      <p:font typeface="Poppins Light"/>
      <p:regular r:id="rId42"/>
      <p:bold r:id="rId43"/>
      <p:italic r:id="rId44"/>
      <p:boldItalic r:id="rId45"/>
    </p:embeddedFont>
    <p:embeddedFont>
      <p:font typeface="Ole"/>
      <p:regular r:id="rId46"/>
    </p:embeddedFont>
    <p:embeddedFont>
      <p:font typeface="Open Sans ExtraBold"/>
      <p:bold r:id="rId47"/>
      <p:boldItalic r:id="rId48"/>
    </p:embeddedFont>
    <p:embeddedFont>
      <p:font typeface="Shrikhand"/>
      <p:regular r:id="rId49"/>
    </p:embeddedFont>
    <p:embeddedFont>
      <p:font typeface="Open Sans Light"/>
      <p:regular r:id="rId50"/>
      <p:bold r:id="rId51"/>
      <p:italic r:id="rId52"/>
      <p:boldItalic r:id="rId53"/>
    </p:embeddedFont>
    <p:embeddedFont>
      <p:font typeface="Open Sa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8" roundtripDataSignature="AMtx7mg/vura21bV8SEqiGM9XGoPvQfk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EB5F29-3DEA-4989-8E32-603AF35D629C}">
  <a:tblStyle styleId="{A2EB5F29-3DEA-4989-8E32-603AF35D629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bold.fntdata"/><Relationship Id="rId42" Type="http://schemas.openxmlformats.org/officeDocument/2006/relationships/font" Target="fonts/PoppinsLight-regular.fntdata"/><Relationship Id="rId41" Type="http://schemas.openxmlformats.org/officeDocument/2006/relationships/font" Target="fonts/Poppins-boldItalic.fntdata"/><Relationship Id="rId44" Type="http://schemas.openxmlformats.org/officeDocument/2006/relationships/font" Target="fonts/PoppinsLight-italic.fntdata"/><Relationship Id="rId43" Type="http://schemas.openxmlformats.org/officeDocument/2006/relationships/font" Target="fonts/PoppinsLight-bold.fntdata"/><Relationship Id="rId46" Type="http://schemas.openxmlformats.org/officeDocument/2006/relationships/font" Target="fonts/Ole-regular.fntdata"/><Relationship Id="rId45" Type="http://schemas.openxmlformats.org/officeDocument/2006/relationships/font" Target="fonts/PoppinsLigh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OpenSansExtraBold-boldItalic.fntdata"/><Relationship Id="rId47" Type="http://schemas.openxmlformats.org/officeDocument/2006/relationships/font" Target="fonts/OpenSansExtraBold-bold.fntdata"/><Relationship Id="rId49" Type="http://schemas.openxmlformats.org/officeDocument/2006/relationships/font" Target="fonts/Shrikhand-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LeagueSpartan-bold.fntdata"/><Relationship Id="rId36" Type="http://schemas.openxmlformats.org/officeDocument/2006/relationships/font" Target="fonts/LeagueSpartan-regular.fntdata"/><Relationship Id="rId39" Type="http://schemas.openxmlformats.org/officeDocument/2006/relationships/font" Target="fonts/Montserrat-boldItalic.fntdata"/><Relationship Id="rId38" Type="http://schemas.openxmlformats.org/officeDocument/2006/relationships/font" Target="fonts/Montserrat-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Light-bold.fntdata"/><Relationship Id="rId50" Type="http://schemas.openxmlformats.org/officeDocument/2006/relationships/font" Target="fonts/OpenSansLight-regular.fntdata"/><Relationship Id="rId53" Type="http://schemas.openxmlformats.org/officeDocument/2006/relationships/font" Target="fonts/OpenSansLight-boldItalic.fntdata"/><Relationship Id="rId52" Type="http://schemas.openxmlformats.org/officeDocument/2006/relationships/font" Target="fonts/OpenSansLight-italic.fntdata"/><Relationship Id="rId11" Type="http://schemas.openxmlformats.org/officeDocument/2006/relationships/slide" Target="slides/slide5.xml"/><Relationship Id="rId55" Type="http://schemas.openxmlformats.org/officeDocument/2006/relationships/font" Target="fonts/OpenSans-bold.fntdata"/><Relationship Id="rId10" Type="http://schemas.openxmlformats.org/officeDocument/2006/relationships/slide" Target="slides/slide4.xml"/><Relationship Id="rId54" Type="http://schemas.openxmlformats.org/officeDocument/2006/relationships/font" Target="fonts/OpenSans-regular.fntdata"/><Relationship Id="rId13" Type="http://schemas.openxmlformats.org/officeDocument/2006/relationships/slide" Target="slides/slide7.xml"/><Relationship Id="rId57" Type="http://schemas.openxmlformats.org/officeDocument/2006/relationships/font" Target="fonts/OpenSans-boldItalic.fntdata"/><Relationship Id="rId12" Type="http://schemas.openxmlformats.org/officeDocument/2006/relationships/slide" Target="slides/slide6.xml"/><Relationship Id="rId56" Type="http://schemas.openxmlformats.org/officeDocument/2006/relationships/font" Target="fonts/OpenSans-italic.fntdata"/><Relationship Id="rId15" Type="http://schemas.openxmlformats.org/officeDocument/2006/relationships/slide" Target="slides/slide9.xml"/><Relationship Id="rId14" Type="http://schemas.openxmlformats.org/officeDocument/2006/relationships/slide" Target="slides/slide8.xml"/><Relationship Id="rId58"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6"/>
          <p:cNvSpPr/>
          <p:nvPr>
            <p:ph idx="2" type="pic"/>
          </p:nvPr>
        </p:nvSpPr>
        <p:spPr>
          <a:xfrm>
            <a:off x="1792288" y="612775"/>
            <a:ext cx="5486400" cy="4114800"/>
          </a:xfrm>
          <a:prstGeom prst="rect">
            <a:avLst/>
          </a:prstGeom>
          <a:noFill/>
          <a:ln>
            <a:noFill/>
          </a:ln>
        </p:spPr>
      </p:sp>
      <p:sp>
        <p:nvSpPr>
          <p:cNvPr id="64" name="Google Shape;64;p4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hyperlink" Target="https://youtu.be/g9EnPacHa7c"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12.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4.jp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3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4.jpg"/><Relationship Id="rId4" Type="http://schemas.openxmlformats.org/officeDocument/2006/relationships/image" Target="../media/image16.png"/><Relationship Id="rId5" Type="http://schemas.openxmlformats.org/officeDocument/2006/relationships/image" Target="../media/image22.png"/><Relationship Id="rId6"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4.jpg"/><Relationship Id="rId4" Type="http://schemas.openxmlformats.org/officeDocument/2006/relationships/image" Target="../media/image16.png"/><Relationship Id="rId5" Type="http://schemas.openxmlformats.org/officeDocument/2006/relationships/image" Target="../media/image34.png"/><Relationship Id="rId6"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12.png"/><Relationship Id="rId5" Type="http://schemas.openxmlformats.org/officeDocument/2006/relationships/image" Target="../media/image23.png"/><Relationship Id="rId6" Type="http://schemas.openxmlformats.org/officeDocument/2006/relationships/image" Target="../media/image3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pSp>
        <p:nvGrpSpPr>
          <p:cNvPr id="84" name="Google Shape;84;p1"/>
          <p:cNvGrpSpPr/>
          <p:nvPr/>
        </p:nvGrpSpPr>
        <p:grpSpPr>
          <a:xfrm>
            <a:off x="0" y="8846517"/>
            <a:ext cx="18288000" cy="1440483"/>
            <a:chOff x="0" y="-28575"/>
            <a:chExt cx="4816593" cy="379386"/>
          </a:xfrm>
        </p:grpSpPr>
        <p:sp>
          <p:nvSpPr>
            <p:cNvPr id="85" name="Google Shape;85;p1"/>
            <p:cNvSpPr/>
            <p:nvPr/>
          </p:nvSpPr>
          <p:spPr>
            <a:xfrm>
              <a:off x="0" y="0"/>
              <a:ext cx="4816592" cy="350811"/>
            </a:xfrm>
            <a:custGeom>
              <a:rect b="b" l="l" r="r" t="t"/>
              <a:pathLst>
                <a:path extrusionOk="0" h="350811" w="4816592">
                  <a:moveTo>
                    <a:pt x="0" y="0"/>
                  </a:moveTo>
                  <a:lnTo>
                    <a:pt x="4816592" y="0"/>
                  </a:lnTo>
                  <a:lnTo>
                    <a:pt x="4816592" y="350811"/>
                  </a:lnTo>
                  <a:lnTo>
                    <a:pt x="0" y="350811"/>
                  </a:lnTo>
                  <a:close/>
                </a:path>
              </a:pathLst>
            </a:custGeom>
            <a:solidFill>
              <a:srgbClr val="DD9C2C"/>
            </a:solidFill>
            <a:ln>
              <a:noFill/>
            </a:ln>
          </p:spPr>
        </p:sp>
        <p:sp>
          <p:nvSpPr>
            <p:cNvPr id="86" name="Google Shape;86;p1"/>
            <p:cNvSpPr txBox="1"/>
            <p:nvPr/>
          </p:nvSpPr>
          <p:spPr>
            <a:xfrm>
              <a:off x="0" y="-28575"/>
              <a:ext cx="4816593" cy="379386"/>
            </a:xfrm>
            <a:prstGeom prst="rect">
              <a:avLst/>
            </a:prstGeom>
            <a:noFill/>
            <a:ln>
              <a:noFill/>
            </a:ln>
          </p:spPr>
          <p:txBody>
            <a:bodyPr anchorCtr="0" anchor="ctr" bIns="50800" lIns="50800" spcFirstLastPara="1" rIns="50800" wrap="square" tIns="50800">
              <a:noAutofit/>
            </a:bodyPr>
            <a:lstStyle/>
            <a:p>
              <a:pPr indent="0" lvl="0" marL="0" marR="0" rtl="0" algn="ctr">
                <a:lnSpc>
                  <a:spcPct val="136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7" name="Google Shape;87;p1"/>
          <p:cNvSpPr/>
          <p:nvPr/>
        </p:nvSpPr>
        <p:spPr>
          <a:xfrm>
            <a:off x="11577391" y="0"/>
            <a:ext cx="6710609" cy="1778495"/>
          </a:xfrm>
          <a:custGeom>
            <a:rect b="b" l="l" r="r" t="t"/>
            <a:pathLst>
              <a:path extrusionOk="0" h="1778495" w="6710609">
                <a:moveTo>
                  <a:pt x="0" y="0"/>
                </a:moveTo>
                <a:lnTo>
                  <a:pt x="6710609" y="0"/>
                </a:lnTo>
                <a:lnTo>
                  <a:pt x="6710609" y="1778495"/>
                </a:lnTo>
                <a:lnTo>
                  <a:pt x="0" y="1778495"/>
                </a:lnTo>
                <a:lnTo>
                  <a:pt x="0" y="0"/>
                </a:lnTo>
                <a:close/>
              </a:path>
            </a:pathLst>
          </a:custGeom>
          <a:blipFill rotWithShape="1">
            <a:blip r:embed="rId3">
              <a:alphaModFix/>
            </a:blip>
            <a:stretch>
              <a:fillRect b="0" l="0" r="0" t="0"/>
            </a:stretch>
          </a:blipFill>
          <a:ln>
            <a:noFill/>
          </a:ln>
        </p:spPr>
      </p:sp>
      <p:sp>
        <p:nvSpPr>
          <p:cNvPr id="88" name="Google Shape;88;p1"/>
          <p:cNvSpPr/>
          <p:nvPr/>
        </p:nvSpPr>
        <p:spPr>
          <a:xfrm>
            <a:off x="-355892" y="-182720"/>
            <a:ext cx="10758965" cy="10652440"/>
          </a:xfrm>
          <a:custGeom>
            <a:rect b="b" l="l" r="r" t="t"/>
            <a:pathLst>
              <a:path extrusionOk="0" h="3298228" w="3331210">
                <a:moveTo>
                  <a:pt x="0" y="0"/>
                </a:moveTo>
                <a:lnTo>
                  <a:pt x="3331210" y="0"/>
                </a:lnTo>
                <a:cubicBezTo>
                  <a:pt x="3331210" y="1822010"/>
                  <a:pt x="1840230" y="3298228"/>
                  <a:pt x="0" y="3298228"/>
                </a:cubicBezTo>
                <a:lnTo>
                  <a:pt x="0" y="0"/>
                </a:lnTo>
                <a:close/>
              </a:path>
            </a:pathLst>
          </a:custGeom>
          <a:blipFill rotWithShape="1">
            <a:blip r:embed="rId4">
              <a:alphaModFix/>
            </a:blip>
            <a:stretch>
              <a:fillRect b="0" l="-52973" r="-52973"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89" name="Google Shape;89;p1"/>
          <p:cNvGraphicFramePr/>
          <p:nvPr/>
        </p:nvGraphicFramePr>
        <p:xfrm>
          <a:off x="13488871" y="2102841"/>
          <a:ext cx="3000000" cy="3000000"/>
        </p:xfrm>
        <a:graphic>
          <a:graphicData uri="http://schemas.openxmlformats.org/drawingml/2006/table">
            <a:tbl>
              <a:tblPr>
                <a:noFill/>
                <a:tableStyleId>{A2EB5F29-3DEA-4989-8E32-603AF35D629C}</a:tableStyleId>
              </a:tblPr>
              <a:tblGrid>
                <a:gridCol w="2067525"/>
                <a:gridCol w="2159700"/>
              </a:tblGrid>
              <a:tr h="933450">
                <a:tc>
                  <a:txBody>
                    <a:bodyPr/>
                    <a:lstStyle/>
                    <a:p>
                      <a:pPr indent="0" lvl="0" marL="0" marR="0" rtl="0" algn="ctr">
                        <a:lnSpc>
                          <a:spcPct val="140015"/>
                        </a:lnSpc>
                        <a:spcBef>
                          <a:spcPts val="0"/>
                        </a:spcBef>
                        <a:spcAft>
                          <a:spcPts val="0"/>
                        </a:spcAft>
                        <a:buNone/>
                      </a:pPr>
                      <a:r>
                        <a:rPr lang="en-US" sz="2599" u="none" cap="none" strike="noStrike">
                          <a:solidFill>
                            <a:srgbClr val="000000"/>
                          </a:solidFill>
                          <a:latin typeface="Ole"/>
                          <a:ea typeface="Ole"/>
                          <a:cs typeface="Ole"/>
                          <a:sym typeface="Ole"/>
                        </a:rPr>
                        <a:t>Dia, Fecha:</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15"/>
                        </a:lnSpc>
                        <a:spcBef>
                          <a:spcPts val="0"/>
                        </a:spcBef>
                        <a:spcAft>
                          <a:spcPts val="0"/>
                        </a:spcAft>
                        <a:buNone/>
                      </a:pPr>
                      <a:r>
                        <a:rPr lang="en-US" sz="2599" u="none" cap="none" strike="noStrike">
                          <a:solidFill>
                            <a:srgbClr val="000000"/>
                          </a:solidFill>
                          <a:latin typeface="Ole"/>
                          <a:ea typeface="Ole"/>
                          <a:cs typeface="Ole"/>
                          <a:sym typeface="Ole"/>
                        </a:rPr>
                        <a:t>0/00/0000</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r h="933450">
                <a:tc>
                  <a:txBody>
                    <a:bodyPr/>
                    <a:lstStyle/>
                    <a:p>
                      <a:pPr indent="0" lvl="0" marL="0" marR="0" rtl="0" algn="ctr">
                        <a:lnSpc>
                          <a:spcPct val="140015"/>
                        </a:lnSpc>
                        <a:spcBef>
                          <a:spcPts val="0"/>
                        </a:spcBef>
                        <a:spcAft>
                          <a:spcPts val="0"/>
                        </a:spcAft>
                        <a:buNone/>
                      </a:pPr>
                      <a:r>
                        <a:rPr lang="en-US" sz="2599" u="none" cap="none" strike="noStrike">
                          <a:solidFill>
                            <a:srgbClr val="000000"/>
                          </a:solidFill>
                          <a:latin typeface="Ole"/>
                          <a:ea typeface="Ole"/>
                          <a:cs typeface="Ole"/>
                          <a:sym typeface="Ole"/>
                        </a:rPr>
                        <a:t>Hora de  inicio: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marR="0" rtl="0" algn="ctr">
                        <a:lnSpc>
                          <a:spcPct val="140015"/>
                        </a:lnSpc>
                        <a:spcBef>
                          <a:spcPts val="0"/>
                        </a:spcBef>
                        <a:spcAft>
                          <a:spcPts val="0"/>
                        </a:spcAft>
                        <a:buNone/>
                      </a:pPr>
                      <a:r>
                        <a:rPr lang="en-US" sz="2599" u="none" cap="none" strike="noStrike">
                          <a:solidFill>
                            <a:srgbClr val="000000"/>
                          </a:solidFill>
                          <a:latin typeface="Ole"/>
                          <a:ea typeface="Ole"/>
                          <a:cs typeface="Ole"/>
                          <a:sym typeface="Ole"/>
                        </a:rPr>
                        <a:t>0:00 am</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
        <p:nvSpPr>
          <p:cNvPr id="90" name="Google Shape;90;p1"/>
          <p:cNvSpPr/>
          <p:nvPr/>
        </p:nvSpPr>
        <p:spPr>
          <a:xfrm>
            <a:off x="1758909" y="8995114"/>
            <a:ext cx="8772067" cy="1291886"/>
          </a:xfrm>
          <a:custGeom>
            <a:rect b="b" l="l" r="r" t="t"/>
            <a:pathLst>
              <a:path extrusionOk="0" h="1291886" w="8772067">
                <a:moveTo>
                  <a:pt x="0" y="0"/>
                </a:moveTo>
                <a:lnTo>
                  <a:pt x="8772068" y="0"/>
                </a:lnTo>
                <a:lnTo>
                  <a:pt x="8772068" y="1291886"/>
                </a:lnTo>
                <a:lnTo>
                  <a:pt x="0" y="1291886"/>
                </a:lnTo>
                <a:lnTo>
                  <a:pt x="0" y="0"/>
                </a:lnTo>
                <a:close/>
              </a:path>
            </a:pathLst>
          </a:custGeom>
          <a:blipFill rotWithShape="1">
            <a:blip r:embed="rId5">
              <a:alphaModFix/>
            </a:blip>
            <a:stretch>
              <a:fillRect b="0" l="0" r="0" t="0"/>
            </a:stretch>
          </a:blipFill>
          <a:ln>
            <a:noFill/>
          </a:ln>
        </p:spPr>
      </p:sp>
      <p:sp>
        <p:nvSpPr>
          <p:cNvPr id="91" name="Google Shape;91;p1"/>
          <p:cNvSpPr txBox="1"/>
          <p:nvPr/>
        </p:nvSpPr>
        <p:spPr>
          <a:xfrm>
            <a:off x="7857475" y="5330850"/>
            <a:ext cx="11313300" cy="769500"/>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i="0" lang="en-US" sz="5000" u="none" cap="none" strike="noStrike">
                <a:solidFill>
                  <a:srgbClr val="000000"/>
                </a:solidFill>
                <a:latin typeface="Times New Roman"/>
                <a:ea typeface="Times New Roman"/>
                <a:cs typeface="Times New Roman"/>
                <a:sym typeface="Times New Roman"/>
              </a:rPr>
              <a:t>Programación de computadoras 2</a:t>
            </a:r>
            <a:endParaRPr sz="5000">
              <a:latin typeface="Times New Roman"/>
              <a:ea typeface="Times New Roman"/>
              <a:cs typeface="Times New Roman"/>
              <a:sym typeface="Times New Roman"/>
            </a:endParaRPr>
          </a:p>
        </p:txBody>
      </p:sp>
      <p:sp>
        <p:nvSpPr>
          <p:cNvPr id="92" name="Google Shape;92;p1"/>
          <p:cNvSpPr txBox="1"/>
          <p:nvPr/>
        </p:nvSpPr>
        <p:spPr>
          <a:xfrm>
            <a:off x="8740531" y="7944200"/>
            <a:ext cx="9547200" cy="846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i="0" lang="en-US" sz="5499" u="none" cap="none" strike="noStrike">
                <a:solidFill>
                  <a:srgbClr val="000000"/>
                </a:solidFill>
                <a:latin typeface="Times New Roman"/>
                <a:ea typeface="Times New Roman"/>
                <a:cs typeface="Times New Roman"/>
                <a:sym typeface="Times New Roman"/>
              </a:rPr>
              <a:t>Aux: </a:t>
            </a:r>
            <a:r>
              <a:rPr lang="en-US" sz="5499">
                <a:latin typeface="Times New Roman"/>
                <a:ea typeface="Times New Roman"/>
                <a:cs typeface="Times New Roman"/>
                <a:sym typeface="Times New Roman"/>
              </a:rPr>
              <a:t>Allan Estuardo Sitan</a:t>
            </a:r>
            <a:endParaRPr>
              <a:latin typeface="Times New Roman"/>
              <a:ea typeface="Times New Roman"/>
              <a:cs typeface="Times New Roman"/>
              <a:sym typeface="Times New Roman"/>
            </a:endParaRPr>
          </a:p>
        </p:txBody>
      </p:sp>
      <p:sp>
        <p:nvSpPr>
          <p:cNvPr id="93" name="Google Shape;93;p1"/>
          <p:cNvSpPr txBox="1"/>
          <p:nvPr/>
        </p:nvSpPr>
        <p:spPr>
          <a:xfrm>
            <a:off x="15816815" y="6100350"/>
            <a:ext cx="2233800" cy="6156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i="0" lang="en-US" sz="3999" u="none" cap="none" strike="noStrike">
                <a:solidFill>
                  <a:srgbClr val="000000"/>
                </a:solidFill>
                <a:latin typeface="Times New Roman"/>
                <a:ea typeface="Times New Roman"/>
                <a:cs typeface="Times New Roman"/>
                <a:sym typeface="Times New Roman"/>
              </a:rPr>
              <a:t>Sección: </a:t>
            </a:r>
            <a:r>
              <a:rPr lang="en-US" sz="3999">
                <a:latin typeface="Times New Roman"/>
                <a:ea typeface="Times New Roman"/>
                <a:cs typeface="Times New Roman"/>
                <a:sym typeface="Times New Roman"/>
              </a:rPr>
              <a:t>R</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p:nvPr/>
        </p:nvSpPr>
        <p:spPr>
          <a:xfrm>
            <a:off x="29794" y="0"/>
            <a:ext cx="18258206" cy="10287000"/>
          </a:xfrm>
          <a:custGeom>
            <a:rect b="b" l="l" r="r" t="t"/>
            <a:pathLst>
              <a:path extrusionOk="0" h="10287000" w="18258206">
                <a:moveTo>
                  <a:pt x="0" y="0"/>
                </a:moveTo>
                <a:lnTo>
                  <a:pt x="18258206" y="0"/>
                </a:lnTo>
                <a:lnTo>
                  <a:pt x="18258206" y="10287000"/>
                </a:lnTo>
                <a:lnTo>
                  <a:pt x="0" y="10287000"/>
                </a:lnTo>
                <a:lnTo>
                  <a:pt x="0" y="0"/>
                </a:lnTo>
                <a:close/>
              </a:path>
            </a:pathLst>
          </a:custGeom>
          <a:blipFill rotWithShape="1">
            <a:blip r:embed="rId3">
              <a:alphaModFix/>
            </a:blip>
            <a:stretch>
              <a:fillRect b="0" l="0" r="0" t="0"/>
            </a:stretch>
          </a:blipFill>
          <a:ln>
            <a:noFill/>
          </a:ln>
        </p:spPr>
      </p:sp>
      <p:sp>
        <p:nvSpPr>
          <p:cNvPr id="99" name="Google Shape;99;p2"/>
          <p:cNvSpPr/>
          <p:nvPr/>
        </p:nvSpPr>
        <p:spPr>
          <a:xfrm>
            <a:off x="12502687" y="2006946"/>
            <a:ext cx="5484899" cy="1382748"/>
          </a:xfrm>
          <a:custGeom>
            <a:rect b="b" l="l" r="r" t="t"/>
            <a:pathLst>
              <a:path extrusionOk="0" h="1382748" w="5484899">
                <a:moveTo>
                  <a:pt x="0" y="0"/>
                </a:moveTo>
                <a:lnTo>
                  <a:pt x="5484899" y="0"/>
                </a:lnTo>
                <a:lnTo>
                  <a:pt x="5484899" y="1382747"/>
                </a:lnTo>
                <a:lnTo>
                  <a:pt x="0" y="1382747"/>
                </a:lnTo>
                <a:lnTo>
                  <a:pt x="0" y="0"/>
                </a:lnTo>
                <a:close/>
              </a:path>
            </a:pathLst>
          </a:custGeom>
          <a:blipFill rotWithShape="1">
            <a:blip r:embed="rId4">
              <a:alphaModFix/>
            </a:blip>
            <a:stretch>
              <a:fillRect b="0" l="0" r="0" t="0"/>
            </a:stretch>
          </a:blipFill>
          <a:ln>
            <a:noFill/>
          </a:ln>
        </p:spPr>
      </p:sp>
      <p:sp>
        <p:nvSpPr>
          <p:cNvPr id="100" name="Google Shape;100;p2"/>
          <p:cNvSpPr txBox="1"/>
          <p:nvPr/>
        </p:nvSpPr>
        <p:spPr>
          <a:xfrm>
            <a:off x="3319225" y="4541514"/>
            <a:ext cx="8975100" cy="708000"/>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00000"/>
              </a:buClr>
              <a:buSzPts val="7199"/>
              <a:buFont typeface="Arial"/>
              <a:buNone/>
            </a:pPr>
            <a:r>
              <a:rPr i="0" lang="en-US" sz="4600" u="none" cap="none" strike="noStrike">
                <a:solidFill>
                  <a:srgbClr val="000000"/>
                </a:solidFill>
              </a:rPr>
              <a:t>Programación de computadoras 2</a:t>
            </a:r>
            <a:endParaRPr i="0" sz="4600" u="none" cap="none" strike="noStrike">
              <a:solidFill>
                <a:srgbClr val="000000"/>
              </a:solidFill>
            </a:endParaRPr>
          </a:p>
        </p:txBody>
      </p:sp>
      <p:sp>
        <p:nvSpPr>
          <p:cNvPr id="101" name="Google Shape;101;p2"/>
          <p:cNvSpPr txBox="1"/>
          <p:nvPr/>
        </p:nvSpPr>
        <p:spPr>
          <a:xfrm>
            <a:off x="4247875" y="5359650"/>
            <a:ext cx="6836700" cy="5541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499"/>
              <a:buFont typeface="Arial"/>
              <a:buNone/>
            </a:pPr>
            <a:r>
              <a:rPr i="0" lang="en-US" sz="3600" u="none" cap="none" strike="noStrike">
                <a:solidFill>
                  <a:srgbClr val="000000"/>
                </a:solidFill>
              </a:rPr>
              <a:t>Aux: A</a:t>
            </a:r>
            <a:r>
              <a:rPr lang="en-US" sz="3600"/>
              <a:t>llan Estuardo Sitan</a:t>
            </a:r>
            <a:endParaRPr i="0" sz="3600" u="none" cap="none" strike="noStrike">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p:nvPr/>
        </p:nvSpPr>
        <p:spPr>
          <a:xfrm>
            <a:off x="-304800" y="-266700"/>
            <a:ext cx="19011900" cy="3695700"/>
          </a:xfrm>
          <a:prstGeom prst="rect">
            <a:avLst/>
          </a:pr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1497230" y="1409077"/>
            <a:ext cx="14093462" cy="10287000"/>
          </a:xfrm>
          <a:custGeom>
            <a:rect b="b" l="l" r="r" t="t"/>
            <a:pathLst>
              <a:path extrusionOk="0" h="2462566" w="3373780">
                <a:moveTo>
                  <a:pt x="3249320" y="2462566"/>
                </a:moveTo>
                <a:lnTo>
                  <a:pt x="124460" y="2462566"/>
                </a:lnTo>
                <a:cubicBezTo>
                  <a:pt x="55880" y="2462566"/>
                  <a:pt x="0" y="2406686"/>
                  <a:pt x="0" y="2338106"/>
                </a:cubicBezTo>
                <a:lnTo>
                  <a:pt x="0" y="124460"/>
                </a:lnTo>
                <a:cubicBezTo>
                  <a:pt x="0" y="55880"/>
                  <a:pt x="55880" y="0"/>
                  <a:pt x="124460" y="0"/>
                </a:cubicBezTo>
                <a:lnTo>
                  <a:pt x="3249320" y="0"/>
                </a:lnTo>
                <a:cubicBezTo>
                  <a:pt x="3317900" y="0"/>
                  <a:pt x="3373780" y="55880"/>
                  <a:pt x="3373780" y="124460"/>
                </a:cubicBezTo>
                <a:lnTo>
                  <a:pt x="3373780" y="2338106"/>
                </a:lnTo>
                <a:cubicBezTo>
                  <a:pt x="3373780" y="2406686"/>
                  <a:pt x="3317900" y="2462566"/>
                  <a:pt x="3249320" y="2462566"/>
                </a:cubicBezTo>
                <a:close/>
              </a:path>
            </a:pathLst>
          </a:cu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 name="Google Shape;108;p3"/>
          <p:cNvGrpSpPr/>
          <p:nvPr/>
        </p:nvGrpSpPr>
        <p:grpSpPr>
          <a:xfrm>
            <a:off x="11587913" y="2053719"/>
            <a:ext cx="5385349" cy="10944768"/>
            <a:chOff x="0" y="0"/>
            <a:chExt cx="5000993" cy="10163632"/>
          </a:xfrm>
        </p:grpSpPr>
        <p:sp>
          <p:nvSpPr>
            <p:cNvPr id="109" name="Google Shape;109;p3"/>
            <p:cNvSpPr/>
            <p:nvPr/>
          </p:nvSpPr>
          <p:spPr>
            <a:xfrm>
              <a:off x="0" y="0"/>
              <a:ext cx="5000993" cy="10163632"/>
            </a:xfrm>
            <a:custGeom>
              <a:rect b="b" l="l" r="r" t="t"/>
              <a:pathLst>
                <a:path extrusionOk="0" h="10163632" w="5000993">
                  <a:moveTo>
                    <a:pt x="0" y="0"/>
                  </a:moveTo>
                  <a:lnTo>
                    <a:pt x="5000993" y="0"/>
                  </a:lnTo>
                  <a:lnTo>
                    <a:pt x="5000993" y="10163632"/>
                  </a:lnTo>
                  <a:lnTo>
                    <a:pt x="0" y="10163632"/>
                  </a:lnTo>
                  <a:close/>
                </a:path>
              </a:pathLst>
            </a:custGeom>
            <a:blipFill rotWithShape="1">
              <a:blip r:embed="rId3">
                <a:alphaModFix/>
              </a:blip>
              <a:stretch>
                <a:fillRect b="0" l="-43" r="-44" t="0"/>
              </a:stretch>
            </a:blipFill>
            <a:ln>
              <a:noFill/>
            </a:ln>
          </p:spPr>
        </p:sp>
        <p:sp>
          <p:nvSpPr>
            <p:cNvPr id="110" name="Google Shape;110;p3"/>
            <p:cNvSpPr/>
            <p:nvPr/>
          </p:nvSpPr>
          <p:spPr>
            <a:xfrm>
              <a:off x="338760" y="288798"/>
              <a:ext cx="4330776" cy="9398000"/>
            </a:xfrm>
            <a:custGeom>
              <a:rect b="b" l="l" r="r" t="t"/>
              <a:pathLst>
                <a:path extrusionOk="0" h="9398000" w="4330776">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rotWithShape="1">
              <a:blip r:embed="rId4">
                <a:alphaModFix/>
              </a:blip>
              <a:stretch>
                <a:fillRect b="0" l="-41353" r="-184135"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3"/>
          <p:cNvSpPr/>
          <p:nvPr/>
        </p:nvSpPr>
        <p:spPr>
          <a:xfrm>
            <a:off x="-304800" y="8305177"/>
            <a:ext cx="3090940" cy="1994712"/>
          </a:xfrm>
          <a:custGeom>
            <a:rect b="b" l="l" r="r" t="t"/>
            <a:pathLst>
              <a:path extrusionOk="0" h="1994712" w="3090940">
                <a:moveTo>
                  <a:pt x="0" y="0"/>
                </a:moveTo>
                <a:lnTo>
                  <a:pt x="3090940" y="0"/>
                </a:lnTo>
                <a:lnTo>
                  <a:pt x="3090940" y="1994712"/>
                </a:lnTo>
                <a:lnTo>
                  <a:pt x="0" y="1994712"/>
                </a:lnTo>
                <a:lnTo>
                  <a:pt x="0" y="0"/>
                </a:lnTo>
                <a:close/>
              </a:path>
            </a:pathLst>
          </a:custGeom>
          <a:blipFill rotWithShape="1">
            <a:blip r:embed="rId5">
              <a:alphaModFix/>
            </a:blip>
            <a:stretch>
              <a:fillRect b="0" l="0" r="-118895" t="0"/>
            </a:stretch>
          </a:blipFill>
          <a:ln>
            <a:noFill/>
          </a:ln>
        </p:spPr>
      </p:sp>
      <p:sp>
        <p:nvSpPr>
          <p:cNvPr id="112" name="Google Shape;112;p3"/>
          <p:cNvSpPr txBox="1"/>
          <p:nvPr/>
        </p:nvSpPr>
        <p:spPr>
          <a:xfrm>
            <a:off x="654534" y="2129919"/>
            <a:ext cx="6791890" cy="144659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0" u="none" cap="none" strike="noStrike">
                <a:solidFill>
                  <a:srgbClr val="191919"/>
                </a:solidFill>
                <a:latin typeface="Arial"/>
                <a:ea typeface="Arial"/>
                <a:cs typeface="Arial"/>
                <a:sym typeface="Arial"/>
              </a:rPr>
              <a:t>Clase 03</a:t>
            </a:r>
            <a:endParaRPr/>
          </a:p>
        </p:txBody>
      </p:sp>
      <p:sp>
        <p:nvSpPr>
          <p:cNvPr id="113" name="Google Shape;113;p3"/>
          <p:cNvSpPr txBox="1"/>
          <p:nvPr/>
        </p:nvSpPr>
        <p:spPr>
          <a:xfrm rot="5400000">
            <a:off x="14963536" y="6556334"/>
            <a:ext cx="5337506" cy="457506"/>
          </a:xfrm>
          <a:prstGeom prst="rect">
            <a:avLst/>
          </a:prstGeom>
          <a:noFill/>
          <a:ln>
            <a:noFill/>
          </a:ln>
        </p:spPr>
        <p:txBody>
          <a:bodyPr anchorCtr="0" anchor="t" bIns="0" lIns="0" spcFirstLastPara="1" rIns="0" wrap="square" tIns="0">
            <a:spAutoFit/>
          </a:bodyPr>
          <a:lstStyle/>
          <a:p>
            <a:pPr indent="0" lvl="0" marL="0" marR="0" rtl="0" algn="ctr">
              <a:lnSpc>
                <a:spcPct val="120041"/>
              </a:lnSpc>
              <a:spcBef>
                <a:spcPts val="0"/>
              </a:spcBef>
              <a:spcAft>
                <a:spcPts val="0"/>
              </a:spcAft>
              <a:buNone/>
            </a:pPr>
            <a:r>
              <a:rPr b="0" i="0" lang="en-US" sz="1432" u="none" cap="none" strike="noStrike">
                <a:solidFill>
                  <a:srgbClr val="191919"/>
                </a:solidFill>
                <a:latin typeface="Arial"/>
                <a:ea typeface="Arial"/>
                <a:cs typeface="Arial"/>
                <a:sym typeface="Arial"/>
              </a:rPr>
              <a:t>ESCUELA DE CIENCIAS Y SISTEMAS | FACULTAD DE INGENIERÍA</a:t>
            </a:r>
            <a:endParaRPr/>
          </a:p>
        </p:txBody>
      </p:sp>
      <p:sp>
        <p:nvSpPr>
          <p:cNvPr id="114" name="Google Shape;114;p3"/>
          <p:cNvSpPr txBox="1"/>
          <p:nvPr/>
        </p:nvSpPr>
        <p:spPr>
          <a:xfrm>
            <a:off x="2945575" y="4966120"/>
            <a:ext cx="6255575" cy="14350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999" u="none" cap="none" strike="noStrike">
                <a:solidFill>
                  <a:srgbClr val="191919"/>
                </a:solidFill>
                <a:latin typeface="Arial"/>
                <a:ea typeface="Arial"/>
                <a:cs typeface="Arial"/>
                <a:sym typeface="Arial"/>
              </a:rPr>
              <a:t>Unidad 1</a:t>
            </a:r>
            <a:endParaRPr/>
          </a:p>
        </p:txBody>
      </p:sp>
      <p:sp>
        <p:nvSpPr>
          <p:cNvPr id="115" name="Google Shape;115;p3"/>
          <p:cNvSpPr txBox="1"/>
          <p:nvPr/>
        </p:nvSpPr>
        <p:spPr>
          <a:xfrm>
            <a:off x="3304934" y="8629027"/>
            <a:ext cx="8282979" cy="14192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000" u="none" cap="none" strike="noStrike">
                <a:solidFill>
                  <a:srgbClr val="191919"/>
                </a:solidFill>
                <a:latin typeface="Arial"/>
                <a:ea typeface="Arial"/>
                <a:cs typeface="Arial"/>
                <a:sym typeface="Arial"/>
              </a:rPr>
              <a:t>Escuela de Ingeniería de Ciencias y Sistemas</a:t>
            </a:r>
            <a:endParaRPr/>
          </a:p>
          <a:p>
            <a:pPr indent="0" lvl="0" marL="0" marR="0" rtl="0" algn="l">
              <a:lnSpc>
                <a:spcPct val="120000"/>
              </a:lnSpc>
              <a:spcBef>
                <a:spcPts val="0"/>
              </a:spcBef>
              <a:spcAft>
                <a:spcPts val="0"/>
              </a:spcAft>
              <a:buNone/>
            </a:pPr>
            <a:r>
              <a:rPr b="0" i="0" lang="en-US" sz="3000" u="none" cap="none" strike="noStrike">
                <a:solidFill>
                  <a:srgbClr val="191919"/>
                </a:solidFill>
                <a:latin typeface="Arial"/>
                <a:ea typeface="Arial"/>
                <a:cs typeface="Arial"/>
                <a:sym typeface="Arial"/>
              </a:rPr>
              <a:t>Facultad de Ingeniería</a:t>
            </a:r>
            <a:endParaRPr/>
          </a:p>
          <a:p>
            <a:pPr indent="0" lvl="0" marL="0" marR="0" rtl="0" algn="l">
              <a:lnSpc>
                <a:spcPct val="120000"/>
              </a:lnSpc>
              <a:spcBef>
                <a:spcPts val="0"/>
              </a:spcBef>
              <a:spcAft>
                <a:spcPts val="0"/>
              </a:spcAft>
              <a:buNone/>
            </a:pPr>
            <a:r>
              <a:rPr b="0" i="0" lang="en-US" sz="3000" u="none" cap="none" strike="noStrike">
                <a:solidFill>
                  <a:srgbClr val="191919"/>
                </a:solidFill>
                <a:latin typeface="Arial"/>
                <a:ea typeface="Arial"/>
                <a:cs typeface="Arial"/>
                <a:sym typeface="Arial"/>
              </a:rPr>
              <a:t>Universidad San Carlos de Guatemala</a:t>
            </a:r>
            <a:endParaRPr/>
          </a:p>
        </p:txBody>
      </p:sp>
      <p:sp>
        <p:nvSpPr>
          <p:cNvPr id="116" name="Google Shape;116;p3"/>
          <p:cNvSpPr txBox="1"/>
          <p:nvPr/>
        </p:nvSpPr>
        <p:spPr>
          <a:xfrm>
            <a:off x="1028700" y="7657477"/>
            <a:ext cx="9377753" cy="647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3999" u="none" cap="none" strike="noStrike">
                <a:solidFill>
                  <a:srgbClr val="191919"/>
                </a:solidFill>
                <a:latin typeface="Arial"/>
                <a:ea typeface="Arial"/>
                <a:cs typeface="Arial"/>
                <a:sym typeface="Arial"/>
              </a:rPr>
              <a:t>Programación de Computadoras 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919"/>
        </a:solidFill>
      </p:bgPr>
    </p:bg>
    <p:spTree>
      <p:nvGrpSpPr>
        <p:cNvPr id="120" name="Shape 120"/>
        <p:cNvGrpSpPr/>
        <p:nvPr/>
      </p:nvGrpSpPr>
      <p:grpSpPr>
        <a:xfrm>
          <a:off x="0" y="0"/>
          <a:ext cx="0" cy="0"/>
          <a:chOff x="0" y="0"/>
          <a:chExt cx="0" cy="0"/>
        </a:xfrm>
      </p:grpSpPr>
      <p:sp>
        <p:nvSpPr>
          <p:cNvPr id="121" name="Google Shape;121;p4"/>
          <p:cNvSpPr/>
          <p:nvPr/>
        </p:nvSpPr>
        <p:spPr>
          <a:xfrm>
            <a:off x="7450548" y="-148999"/>
            <a:ext cx="10837452" cy="10584998"/>
          </a:xfrm>
          <a:custGeom>
            <a:rect b="b" l="l" r="r" t="t"/>
            <a:pathLst>
              <a:path extrusionOk="0" h="10584998" w="10837452">
                <a:moveTo>
                  <a:pt x="0" y="0"/>
                </a:moveTo>
                <a:lnTo>
                  <a:pt x="10837452" y="0"/>
                </a:lnTo>
                <a:lnTo>
                  <a:pt x="10837452" y="10584998"/>
                </a:lnTo>
                <a:lnTo>
                  <a:pt x="0" y="10584998"/>
                </a:lnTo>
                <a:lnTo>
                  <a:pt x="0" y="0"/>
                </a:lnTo>
                <a:close/>
              </a:path>
            </a:pathLst>
          </a:custGeom>
          <a:blipFill rotWithShape="1">
            <a:blip r:embed="rId3">
              <a:alphaModFix amt="15000"/>
            </a:blip>
            <a:stretch>
              <a:fillRect b="-26784" l="0" r="0" t="-26785"/>
            </a:stretch>
          </a:blipFill>
          <a:ln>
            <a:noFill/>
          </a:ln>
        </p:spPr>
      </p:sp>
      <p:sp>
        <p:nvSpPr>
          <p:cNvPr id="122" name="Google Shape;122;p4"/>
          <p:cNvSpPr/>
          <p:nvPr/>
        </p:nvSpPr>
        <p:spPr>
          <a:xfrm>
            <a:off x="-149033" y="-177577"/>
            <a:ext cx="7599581" cy="10557723"/>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txBox="1"/>
          <p:nvPr/>
        </p:nvSpPr>
        <p:spPr>
          <a:xfrm>
            <a:off x="1028700" y="900765"/>
            <a:ext cx="5817742" cy="115966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8000" u="none" cap="none" strike="noStrike">
                <a:solidFill>
                  <a:srgbClr val="191919"/>
                </a:solidFill>
                <a:latin typeface="Arial"/>
                <a:ea typeface="Arial"/>
                <a:cs typeface="Arial"/>
                <a:sym typeface="Arial"/>
              </a:rPr>
              <a:t>Agenda</a:t>
            </a:r>
            <a:endParaRPr/>
          </a:p>
        </p:txBody>
      </p:sp>
      <p:sp>
        <p:nvSpPr>
          <p:cNvPr id="124" name="Google Shape;124;p4"/>
          <p:cNvSpPr txBox="1"/>
          <p:nvPr/>
        </p:nvSpPr>
        <p:spPr>
          <a:xfrm>
            <a:off x="10917399" y="1978637"/>
            <a:ext cx="5538304" cy="4343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Tipo de Sentencia de Control</a:t>
            </a:r>
            <a:endParaRPr/>
          </a:p>
        </p:txBody>
      </p:sp>
      <p:sp>
        <p:nvSpPr>
          <p:cNvPr id="125" name="Google Shape;125;p4"/>
          <p:cNvSpPr txBox="1"/>
          <p:nvPr/>
        </p:nvSpPr>
        <p:spPr>
          <a:xfrm>
            <a:off x="10917399" y="3412326"/>
            <a:ext cx="5538304" cy="434340"/>
          </a:xfrm>
          <a:prstGeom prst="rect">
            <a:avLst/>
          </a:prstGeom>
          <a:noFill/>
          <a:ln>
            <a:noFill/>
          </a:ln>
        </p:spPr>
        <p:txBody>
          <a:bodyPr anchorCtr="0" anchor="t" bIns="0" lIns="0" spcFirstLastPara="1" rIns="0" wrap="square" tIns="0">
            <a:spAutoFit/>
          </a:bodyPr>
          <a:lstStyle/>
          <a:p>
            <a:pPr indent="0" lvl="1"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If / If-Else / If-ElseIf</a:t>
            </a:r>
            <a:endParaRPr/>
          </a:p>
        </p:txBody>
      </p:sp>
      <p:sp>
        <p:nvSpPr>
          <p:cNvPr id="126" name="Google Shape;126;p4"/>
          <p:cNvSpPr txBox="1"/>
          <p:nvPr/>
        </p:nvSpPr>
        <p:spPr>
          <a:xfrm>
            <a:off x="10917399" y="4799989"/>
            <a:ext cx="5538304" cy="441960"/>
          </a:xfrm>
          <a:prstGeom prst="rect">
            <a:avLst/>
          </a:prstGeom>
          <a:noFill/>
          <a:ln>
            <a:noFill/>
          </a:ln>
        </p:spPr>
        <p:txBody>
          <a:bodyPr anchorCtr="0" anchor="t" bIns="0" lIns="0" spcFirstLastPara="1" rIns="0" wrap="square" tIns="0">
            <a:spAutoFit/>
          </a:bodyPr>
          <a:lstStyle/>
          <a:p>
            <a:pPr indent="0" lvl="1"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Select-Case</a:t>
            </a:r>
            <a:endParaRPr/>
          </a:p>
        </p:txBody>
      </p:sp>
      <p:sp>
        <p:nvSpPr>
          <p:cNvPr id="127" name="Google Shape;127;p4"/>
          <p:cNvSpPr txBox="1"/>
          <p:nvPr/>
        </p:nvSpPr>
        <p:spPr>
          <a:xfrm>
            <a:off x="10917399" y="6279703"/>
            <a:ext cx="5538304" cy="434340"/>
          </a:xfrm>
          <a:prstGeom prst="rect">
            <a:avLst/>
          </a:prstGeom>
          <a:noFill/>
          <a:ln>
            <a:noFill/>
          </a:ln>
        </p:spPr>
        <p:txBody>
          <a:bodyPr anchorCtr="0" anchor="t" bIns="0" lIns="0" spcFirstLastPara="1" rIns="0" wrap="square" tIns="0">
            <a:spAutoFit/>
          </a:bodyPr>
          <a:lstStyle/>
          <a:p>
            <a:pPr indent="0" lvl="1"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Funciones Básicas</a:t>
            </a:r>
            <a:endParaRPr/>
          </a:p>
        </p:txBody>
      </p:sp>
      <p:sp>
        <p:nvSpPr>
          <p:cNvPr id="128" name="Google Shape;128;p4"/>
          <p:cNvSpPr txBox="1"/>
          <p:nvPr/>
        </p:nvSpPr>
        <p:spPr>
          <a:xfrm>
            <a:off x="10917399" y="7713391"/>
            <a:ext cx="5538304" cy="434340"/>
          </a:xfrm>
          <a:prstGeom prst="rect">
            <a:avLst/>
          </a:prstGeom>
          <a:noFill/>
          <a:ln>
            <a:noFill/>
          </a:ln>
        </p:spPr>
        <p:txBody>
          <a:bodyPr anchorCtr="0" anchor="t" bIns="0" lIns="0" spcFirstLastPara="1" rIns="0" wrap="square" tIns="0">
            <a:spAutoFit/>
          </a:bodyPr>
          <a:lstStyle/>
          <a:p>
            <a:pPr indent="0" lvl="1"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Ejemplo</a:t>
            </a:r>
            <a:endParaRPr/>
          </a:p>
        </p:txBody>
      </p:sp>
      <p:sp>
        <p:nvSpPr>
          <p:cNvPr id="129" name="Google Shape;129;p4"/>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4">
              <a:alphaModFix/>
            </a:blip>
            <a:stretch>
              <a:fillRect b="0" l="0" r="0" t="0"/>
            </a:stretch>
          </a:blipFill>
          <a:ln>
            <a:noFill/>
          </a:ln>
        </p:spPr>
      </p:sp>
      <p:sp>
        <p:nvSpPr>
          <p:cNvPr id="130" name="Google Shape;130;p4"/>
          <p:cNvSpPr/>
          <p:nvPr/>
        </p:nvSpPr>
        <p:spPr>
          <a:xfrm>
            <a:off x="9424347" y="3139644"/>
            <a:ext cx="1055905" cy="1055905"/>
          </a:xfrm>
          <a:custGeom>
            <a:rect b="b" l="l" r="r" t="t"/>
            <a:pathLst>
              <a:path extrusionOk="0" h="2311400" w="2311400">
                <a:moveTo>
                  <a:pt x="2006600" y="0"/>
                </a:moveTo>
                <a:lnTo>
                  <a:pt x="304800" y="0"/>
                </a:lnTo>
                <a:cubicBezTo>
                  <a:pt x="135890" y="0"/>
                  <a:pt x="0" y="135890"/>
                  <a:pt x="0" y="304800"/>
                </a:cubicBezTo>
                <a:lnTo>
                  <a:pt x="0" y="2006600"/>
                </a:lnTo>
                <a:cubicBezTo>
                  <a:pt x="0" y="2175510"/>
                  <a:pt x="135890" y="2311400"/>
                  <a:pt x="304800" y="2311400"/>
                </a:cubicBezTo>
                <a:lnTo>
                  <a:pt x="2006600" y="2311400"/>
                </a:lnTo>
                <a:cubicBezTo>
                  <a:pt x="2175510" y="2311400"/>
                  <a:pt x="2311400" y="2175510"/>
                  <a:pt x="2311400" y="2006600"/>
                </a:cubicBezTo>
                <a:lnTo>
                  <a:pt x="2311400" y="304800"/>
                </a:lnTo>
                <a:cubicBezTo>
                  <a:pt x="2311400" y="135890"/>
                  <a:pt x="2175510" y="0"/>
                  <a:pt x="2006600" y="0"/>
                </a:cubicBezTo>
                <a:close/>
              </a:path>
            </a:pathLst>
          </a:cu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9424347" y="4573332"/>
            <a:ext cx="1055905" cy="1055905"/>
          </a:xfrm>
          <a:custGeom>
            <a:rect b="b" l="l" r="r" t="t"/>
            <a:pathLst>
              <a:path extrusionOk="0" h="2311400" w="2311400">
                <a:moveTo>
                  <a:pt x="2006600" y="0"/>
                </a:moveTo>
                <a:lnTo>
                  <a:pt x="304800" y="0"/>
                </a:lnTo>
                <a:cubicBezTo>
                  <a:pt x="135890" y="0"/>
                  <a:pt x="0" y="135890"/>
                  <a:pt x="0" y="304800"/>
                </a:cubicBezTo>
                <a:lnTo>
                  <a:pt x="0" y="2006600"/>
                </a:lnTo>
                <a:cubicBezTo>
                  <a:pt x="0" y="2175510"/>
                  <a:pt x="135890" y="2311400"/>
                  <a:pt x="304800" y="2311400"/>
                </a:cubicBezTo>
                <a:lnTo>
                  <a:pt x="2006600" y="2311400"/>
                </a:lnTo>
                <a:cubicBezTo>
                  <a:pt x="2175510" y="2311400"/>
                  <a:pt x="2311400" y="2175510"/>
                  <a:pt x="2311400" y="2006600"/>
                </a:cubicBezTo>
                <a:lnTo>
                  <a:pt x="2311400" y="304800"/>
                </a:lnTo>
                <a:cubicBezTo>
                  <a:pt x="2311400" y="135890"/>
                  <a:pt x="2175510" y="0"/>
                  <a:pt x="2006600" y="0"/>
                </a:cubicBezTo>
                <a:close/>
              </a:path>
            </a:pathLst>
          </a:cu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9424347" y="6007021"/>
            <a:ext cx="1055905" cy="1055905"/>
          </a:xfrm>
          <a:custGeom>
            <a:rect b="b" l="l" r="r" t="t"/>
            <a:pathLst>
              <a:path extrusionOk="0" h="2311400" w="2311400">
                <a:moveTo>
                  <a:pt x="2006600" y="0"/>
                </a:moveTo>
                <a:lnTo>
                  <a:pt x="304800" y="0"/>
                </a:lnTo>
                <a:cubicBezTo>
                  <a:pt x="135890" y="0"/>
                  <a:pt x="0" y="135890"/>
                  <a:pt x="0" y="304800"/>
                </a:cubicBezTo>
                <a:lnTo>
                  <a:pt x="0" y="2006600"/>
                </a:lnTo>
                <a:cubicBezTo>
                  <a:pt x="0" y="2175510"/>
                  <a:pt x="135890" y="2311400"/>
                  <a:pt x="304800" y="2311400"/>
                </a:cubicBezTo>
                <a:lnTo>
                  <a:pt x="2006600" y="2311400"/>
                </a:lnTo>
                <a:cubicBezTo>
                  <a:pt x="2175510" y="2311400"/>
                  <a:pt x="2311400" y="2175510"/>
                  <a:pt x="2311400" y="2006600"/>
                </a:cubicBezTo>
                <a:lnTo>
                  <a:pt x="2311400" y="304800"/>
                </a:lnTo>
                <a:cubicBezTo>
                  <a:pt x="2311400" y="135890"/>
                  <a:pt x="2175510" y="0"/>
                  <a:pt x="2006600" y="0"/>
                </a:cubicBezTo>
                <a:close/>
              </a:path>
            </a:pathLst>
          </a:cu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9424347" y="7440709"/>
            <a:ext cx="1055905" cy="1055905"/>
          </a:xfrm>
          <a:custGeom>
            <a:rect b="b" l="l" r="r" t="t"/>
            <a:pathLst>
              <a:path extrusionOk="0" h="2311400" w="2311400">
                <a:moveTo>
                  <a:pt x="2006600" y="0"/>
                </a:moveTo>
                <a:lnTo>
                  <a:pt x="304800" y="0"/>
                </a:lnTo>
                <a:cubicBezTo>
                  <a:pt x="135890" y="0"/>
                  <a:pt x="0" y="135890"/>
                  <a:pt x="0" y="304800"/>
                </a:cubicBezTo>
                <a:lnTo>
                  <a:pt x="0" y="2006600"/>
                </a:lnTo>
                <a:cubicBezTo>
                  <a:pt x="0" y="2175510"/>
                  <a:pt x="135890" y="2311400"/>
                  <a:pt x="304800" y="2311400"/>
                </a:cubicBezTo>
                <a:lnTo>
                  <a:pt x="2006600" y="2311400"/>
                </a:lnTo>
                <a:cubicBezTo>
                  <a:pt x="2175510" y="2311400"/>
                  <a:pt x="2311400" y="2175510"/>
                  <a:pt x="2311400" y="2006600"/>
                </a:cubicBezTo>
                <a:lnTo>
                  <a:pt x="2311400" y="304800"/>
                </a:lnTo>
                <a:cubicBezTo>
                  <a:pt x="2311400" y="135890"/>
                  <a:pt x="2175510" y="0"/>
                  <a:pt x="2006600" y="0"/>
                </a:cubicBezTo>
                <a:close/>
              </a:path>
            </a:pathLst>
          </a:cu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9424347" y="1705955"/>
            <a:ext cx="1055905" cy="1055905"/>
          </a:xfrm>
          <a:custGeom>
            <a:rect b="b" l="l" r="r" t="t"/>
            <a:pathLst>
              <a:path extrusionOk="0" h="2311400" w="2311400">
                <a:moveTo>
                  <a:pt x="2006600" y="0"/>
                </a:moveTo>
                <a:lnTo>
                  <a:pt x="304800" y="0"/>
                </a:lnTo>
                <a:cubicBezTo>
                  <a:pt x="135890" y="0"/>
                  <a:pt x="0" y="135890"/>
                  <a:pt x="0" y="304800"/>
                </a:cubicBezTo>
                <a:lnTo>
                  <a:pt x="0" y="2006600"/>
                </a:lnTo>
                <a:cubicBezTo>
                  <a:pt x="0" y="2175510"/>
                  <a:pt x="135890" y="2311400"/>
                  <a:pt x="304800" y="2311400"/>
                </a:cubicBezTo>
                <a:lnTo>
                  <a:pt x="2006600" y="2311400"/>
                </a:lnTo>
                <a:cubicBezTo>
                  <a:pt x="2175510" y="2311400"/>
                  <a:pt x="2311400" y="2175510"/>
                  <a:pt x="2311400" y="2006600"/>
                </a:cubicBezTo>
                <a:lnTo>
                  <a:pt x="2311400" y="304800"/>
                </a:lnTo>
                <a:cubicBezTo>
                  <a:pt x="2311400" y="135890"/>
                  <a:pt x="2175510" y="0"/>
                  <a:pt x="2006600" y="0"/>
                </a:cubicBezTo>
                <a:close/>
              </a:path>
            </a:pathLst>
          </a:cu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9731521" y="7678858"/>
            <a:ext cx="441556" cy="579607"/>
          </a:xfrm>
          <a:custGeom>
            <a:rect b="b" l="l" r="r" t="t"/>
            <a:pathLst>
              <a:path extrusionOk="0" h="579607" w="441556">
                <a:moveTo>
                  <a:pt x="0" y="0"/>
                </a:moveTo>
                <a:lnTo>
                  <a:pt x="441556" y="0"/>
                </a:lnTo>
                <a:lnTo>
                  <a:pt x="441556" y="579607"/>
                </a:lnTo>
                <a:lnTo>
                  <a:pt x="0" y="579607"/>
                </a:lnTo>
                <a:lnTo>
                  <a:pt x="0" y="0"/>
                </a:lnTo>
                <a:close/>
              </a:path>
            </a:pathLst>
          </a:custGeom>
          <a:blipFill rotWithShape="1">
            <a:blip r:embed="rId5">
              <a:alphaModFix/>
            </a:blip>
            <a:stretch>
              <a:fillRect b="0" l="0" r="0" t="0"/>
            </a:stretch>
          </a:blipFill>
          <a:ln>
            <a:noFill/>
          </a:ln>
        </p:spPr>
      </p:sp>
      <p:sp>
        <p:nvSpPr>
          <p:cNvPr id="136" name="Google Shape;136;p4"/>
          <p:cNvSpPr/>
          <p:nvPr/>
        </p:nvSpPr>
        <p:spPr>
          <a:xfrm>
            <a:off x="9731521" y="1944104"/>
            <a:ext cx="441556" cy="579607"/>
          </a:xfrm>
          <a:custGeom>
            <a:rect b="b" l="l" r="r" t="t"/>
            <a:pathLst>
              <a:path extrusionOk="0" h="579607" w="441556">
                <a:moveTo>
                  <a:pt x="0" y="0"/>
                </a:moveTo>
                <a:lnTo>
                  <a:pt x="441556" y="0"/>
                </a:lnTo>
                <a:lnTo>
                  <a:pt x="441556" y="579607"/>
                </a:lnTo>
                <a:lnTo>
                  <a:pt x="0" y="579607"/>
                </a:lnTo>
                <a:lnTo>
                  <a:pt x="0" y="0"/>
                </a:lnTo>
                <a:close/>
              </a:path>
            </a:pathLst>
          </a:custGeom>
          <a:blipFill rotWithShape="1">
            <a:blip r:embed="rId5">
              <a:alphaModFix/>
            </a:blip>
            <a:stretch>
              <a:fillRect b="0" l="0" r="0" t="0"/>
            </a:stretch>
          </a:blipFill>
          <a:ln>
            <a:noFill/>
          </a:ln>
        </p:spPr>
      </p:sp>
      <p:sp>
        <p:nvSpPr>
          <p:cNvPr id="137" name="Google Shape;137;p4"/>
          <p:cNvSpPr/>
          <p:nvPr/>
        </p:nvSpPr>
        <p:spPr>
          <a:xfrm>
            <a:off x="9731521" y="3377792"/>
            <a:ext cx="441556" cy="579607"/>
          </a:xfrm>
          <a:custGeom>
            <a:rect b="b" l="l" r="r" t="t"/>
            <a:pathLst>
              <a:path extrusionOk="0" h="579607" w="441556">
                <a:moveTo>
                  <a:pt x="0" y="0"/>
                </a:moveTo>
                <a:lnTo>
                  <a:pt x="441556" y="0"/>
                </a:lnTo>
                <a:lnTo>
                  <a:pt x="441556" y="579608"/>
                </a:lnTo>
                <a:lnTo>
                  <a:pt x="0" y="579608"/>
                </a:lnTo>
                <a:lnTo>
                  <a:pt x="0" y="0"/>
                </a:lnTo>
                <a:close/>
              </a:path>
            </a:pathLst>
          </a:custGeom>
          <a:blipFill rotWithShape="1">
            <a:blip r:embed="rId5">
              <a:alphaModFix/>
            </a:blip>
            <a:stretch>
              <a:fillRect b="0" l="0" r="0" t="0"/>
            </a:stretch>
          </a:blipFill>
          <a:ln>
            <a:noFill/>
          </a:ln>
        </p:spPr>
      </p:sp>
      <p:sp>
        <p:nvSpPr>
          <p:cNvPr id="138" name="Google Shape;138;p4"/>
          <p:cNvSpPr/>
          <p:nvPr/>
        </p:nvSpPr>
        <p:spPr>
          <a:xfrm>
            <a:off x="9731521" y="4811481"/>
            <a:ext cx="441556" cy="579607"/>
          </a:xfrm>
          <a:custGeom>
            <a:rect b="b" l="l" r="r" t="t"/>
            <a:pathLst>
              <a:path extrusionOk="0" h="579607" w="441556">
                <a:moveTo>
                  <a:pt x="0" y="0"/>
                </a:moveTo>
                <a:lnTo>
                  <a:pt x="441556" y="0"/>
                </a:lnTo>
                <a:lnTo>
                  <a:pt x="441556" y="579607"/>
                </a:lnTo>
                <a:lnTo>
                  <a:pt x="0" y="579607"/>
                </a:lnTo>
                <a:lnTo>
                  <a:pt x="0" y="0"/>
                </a:lnTo>
                <a:close/>
              </a:path>
            </a:pathLst>
          </a:custGeom>
          <a:blipFill rotWithShape="1">
            <a:blip r:embed="rId5">
              <a:alphaModFix/>
            </a:blip>
            <a:stretch>
              <a:fillRect b="0" l="0" r="0" t="0"/>
            </a:stretch>
          </a:blipFill>
          <a:ln>
            <a:noFill/>
          </a:ln>
        </p:spPr>
      </p:sp>
      <p:sp>
        <p:nvSpPr>
          <p:cNvPr id="139" name="Google Shape;139;p4"/>
          <p:cNvSpPr/>
          <p:nvPr/>
        </p:nvSpPr>
        <p:spPr>
          <a:xfrm>
            <a:off x="9731521" y="6245169"/>
            <a:ext cx="441556" cy="579607"/>
          </a:xfrm>
          <a:custGeom>
            <a:rect b="b" l="l" r="r" t="t"/>
            <a:pathLst>
              <a:path extrusionOk="0" h="579607" w="441556">
                <a:moveTo>
                  <a:pt x="0" y="0"/>
                </a:moveTo>
                <a:lnTo>
                  <a:pt x="441556" y="0"/>
                </a:lnTo>
                <a:lnTo>
                  <a:pt x="441556" y="579608"/>
                </a:lnTo>
                <a:lnTo>
                  <a:pt x="0" y="579608"/>
                </a:lnTo>
                <a:lnTo>
                  <a:pt x="0" y="0"/>
                </a:lnTo>
                <a:close/>
              </a:path>
            </a:pathLst>
          </a:custGeom>
          <a:blipFill rotWithShape="1">
            <a:blip r:embed="rId5">
              <a:alphaModFix/>
            </a:blip>
            <a:stretch>
              <a:fillRect b="0" l="0" r="0" t="0"/>
            </a:stretch>
          </a:blipFill>
          <a:ln>
            <a:noFill/>
          </a:ln>
        </p:spPr>
      </p:sp>
      <p:sp>
        <p:nvSpPr>
          <p:cNvPr id="140" name="Google Shape;140;p4"/>
          <p:cNvSpPr/>
          <p:nvPr/>
        </p:nvSpPr>
        <p:spPr>
          <a:xfrm>
            <a:off x="721525" y="3318714"/>
            <a:ext cx="1055905" cy="1055905"/>
          </a:xfrm>
          <a:custGeom>
            <a:rect b="b" l="l" r="r" t="t"/>
            <a:pathLst>
              <a:path extrusionOk="0" h="2311400" w="2311400">
                <a:moveTo>
                  <a:pt x="2006600" y="0"/>
                </a:moveTo>
                <a:lnTo>
                  <a:pt x="304800" y="0"/>
                </a:lnTo>
                <a:cubicBezTo>
                  <a:pt x="135890" y="0"/>
                  <a:pt x="0" y="135890"/>
                  <a:pt x="0" y="304800"/>
                </a:cubicBezTo>
                <a:lnTo>
                  <a:pt x="0" y="2006600"/>
                </a:lnTo>
                <a:cubicBezTo>
                  <a:pt x="0" y="2175510"/>
                  <a:pt x="135890" y="2311400"/>
                  <a:pt x="304800" y="2311400"/>
                </a:cubicBezTo>
                <a:lnTo>
                  <a:pt x="2006600" y="2311400"/>
                </a:lnTo>
                <a:cubicBezTo>
                  <a:pt x="2175510" y="2311400"/>
                  <a:pt x="2311400" y="2175510"/>
                  <a:pt x="2311400" y="2006600"/>
                </a:cubicBezTo>
                <a:lnTo>
                  <a:pt x="2311400" y="304800"/>
                </a:lnTo>
                <a:cubicBezTo>
                  <a:pt x="2311400" y="135890"/>
                  <a:pt x="2175510" y="0"/>
                  <a:pt x="2006600"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1028700" y="3556862"/>
            <a:ext cx="441556" cy="579607"/>
          </a:xfrm>
          <a:custGeom>
            <a:rect b="b" l="l" r="r" t="t"/>
            <a:pathLst>
              <a:path extrusionOk="0" h="579607" w="441556">
                <a:moveTo>
                  <a:pt x="0" y="0"/>
                </a:moveTo>
                <a:lnTo>
                  <a:pt x="441556" y="0"/>
                </a:lnTo>
                <a:lnTo>
                  <a:pt x="441556" y="579608"/>
                </a:lnTo>
                <a:lnTo>
                  <a:pt x="0" y="579608"/>
                </a:lnTo>
                <a:lnTo>
                  <a:pt x="0" y="0"/>
                </a:lnTo>
                <a:close/>
              </a:path>
            </a:pathLst>
          </a:custGeom>
          <a:blipFill rotWithShape="1">
            <a:blip r:embed="rId5">
              <a:alphaModFix/>
            </a:blip>
            <a:stretch>
              <a:fillRect b="0" l="0" r="0" t="0"/>
            </a:stretch>
          </a:blipFill>
          <a:ln>
            <a:noFill/>
          </a:ln>
        </p:spPr>
      </p:sp>
      <p:sp>
        <p:nvSpPr>
          <p:cNvPr id="142" name="Google Shape;142;p4"/>
          <p:cNvSpPr txBox="1"/>
          <p:nvPr/>
        </p:nvSpPr>
        <p:spPr>
          <a:xfrm>
            <a:off x="1912243" y="3591396"/>
            <a:ext cx="5538304" cy="4343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sng" cap="none" strike="noStrike">
                <a:solidFill>
                  <a:srgbClr val="191919"/>
                </a:solidFill>
                <a:latin typeface="Arial"/>
                <a:ea typeface="Arial"/>
                <a:cs typeface="Arial"/>
                <a:sym typeface="Arial"/>
                <a:hlinkClick r:id="rId6">
                  <a:extLst>
                    <a:ext uri="{A12FA001-AC4F-418D-AE19-62706E023703}">
                      <ahyp:hlinkClr val="tx"/>
                    </a:ext>
                  </a:extLst>
                </a:hlinkClick>
              </a:rPr>
              <a:t>Video If Control</a:t>
            </a:r>
            <a:endParaRPr/>
          </a:p>
        </p:txBody>
      </p:sp>
      <p:sp>
        <p:nvSpPr>
          <p:cNvPr id="143" name="Google Shape;143;p4"/>
          <p:cNvSpPr txBox="1"/>
          <p:nvPr/>
        </p:nvSpPr>
        <p:spPr>
          <a:xfrm>
            <a:off x="1912243" y="4846014"/>
            <a:ext cx="5538304" cy="4343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191919"/>
                </a:solidFill>
                <a:latin typeface="Arial"/>
                <a:ea typeface="Arial"/>
                <a:cs typeface="Arial"/>
                <a:sym typeface="Arial"/>
              </a:rPr>
              <a:t>Corto 3</a:t>
            </a:r>
            <a:endParaRPr/>
          </a:p>
        </p:txBody>
      </p:sp>
      <p:sp>
        <p:nvSpPr>
          <p:cNvPr id="144" name="Google Shape;144;p4"/>
          <p:cNvSpPr/>
          <p:nvPr/>
        </p:nvSpPr>
        <p:spPr>
          <a:xfrm>
            <a:off x="721525" y="4615548"/>
            <a:ext cx="1055905" cy="1055905"/>
          </a:xfrm>
          <a:custGeom>
            <a:rect b="b" l="l" r="r" t="t"/>
            <a:pathLst>
              <a:path extrusionOk="0" h="2311400" w="2311400">
                <a:moveTo>
                  <a:pt x="2006600" y="0"/>
                </a:moveTo>
                <a:lnTo>
                  <a:pt x="304800" y="0"/>
                </a:lnTo>
                <a:cubicBezTo>
                  <a:pt x="135890" y="0"/>
                  <a:pt x="0" y="135890"/>
                  <a:pt x="0" y="304800"/>
                </a:cubicBezTo>
                <a:lnTo>
                  <a:pt x="0" y="2006600"/>
                </a:lnTo>
                <a:cubicBezTo>
                  <a:pt x="0" y="2175510"/>
                  <a:pt x="135890" y="2311400"/>
                  <a:pt x="304800" y="2311400"/>
                </a:cubicBezTo>
                <a:lnTo>
                  <a:pt x="2006600" y="2311400"/>
                </a:lnTo>
                <a:cubicBezTo>
                  <a:pt x="2175510" y="2311400"/>
                  <a:pt x="2311400" y="2175510"/>
                  <a:pt x="2311400" y="2006600"/>
                </a:cubicBezTo>
                <a:lnTo>
                  <a:pt x="2311400" y="304800"/>
                </a:lnTo>
                <a:cubicBezTo>
                  <a:pt x="2311400" y="135890"/>
                  <a:pt x="2175510" y="0"/>
                  <a:pt x="2006600" y="0"/>
                </a:cubicBezTo>
                <a:close/>
              </a:path>
            </a:pathLst>
          </a:custGeom>
          <a:solidFill>
            <a:srgbClr val="FE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1028700" y="4853696"/>
            <a:ext cx="441556" cy="579607"/>
          </a:xfrm>
          <a:custGeom>
            <a:rect b="b" l="l" r="r" t="t"/>
            <a:pathLst>
              <a:path extrusionOk="0" h="579607" w="441556">
                <a:moveTo>
                  <a:pt x="0" y="0"/>
                </a:moveTo>
                <a:lnTo>
                  <a:pt x="441556" y="0"/>
                </a:lnTo>
                <a:lnTo>
                  <a:pt x="441556" y="579608"/>
                </a:lnTo>
                <a:lnTo>
                  <a:pt x="0" y="579608"/>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F"/>
        </a:solidFill>
      </p:bgPr>
    </p:bg>
    <p:spTree>
      <p:nvGrpSpPr>
        <p:cNvPr id="149" name="Shape 149"/>
        <p:cNvGrpSpPr/>
        <p:nvPr/>
      </p:nvGrpSpPr>
      <p:grpSpPr>
        <a:xfrm>
          <a:off x="0" y="0"/>
          <a:ext cx="0" cy="0"/>
          <a:chOff x="0" y="0"/>
          <a:chExt cx="0" cy="0"/>
        </a:xfrm>
      </p:grpSpPr>
      <p:grpSp>
        <p:nvGrpSpPr>
          <p:cNvPr id="150" name="Google Shape;150;p5"/>
          <p:cNvGrpSpPr/>
          <p:nvPr/>
        </p:nvGrpSpPr>
        <p:grpSpPr>
          <a:xfrm>
            <a:off x="0" y="-72330"/>
            <a:ext cx="4674349" cy="10359330"/>
            <a:chOff x="0" y="-19050"/>
            <a:chExt cx="1231104" cy="2728383"/>
          </a:xfrm>
        </p:grpSpPr>
        <p:sp>
          <p:nvSpPr>
            <p:cNvPr id="151" name="Google Shape;151;p5"/>
            <p:cNvSpPr/>
            <p:nvPr/>
          </p:nvSpPr>
          <p:spPr>
            <a:xfrm>
              <a:off x="0" y="0"/>
              <a:ext cx="1231104" cy="2709333"/>
            </a:xfrm>
            <a:custGeom>
              <a:rect b="b" l="l" r="r" t="t"/>
              <a:pathLst>
                <a:path extrusionOk="0" h="2709333" w="1231104">
                  <a:moveTo>
                    <a:pt x="0" y="0"/>
                  </a:moveTo>
                  <a:lnTo>
                    <a:pt x="1231104" y="0"/>
                  </a:lnTo>
                  <a:lnTo>
                    <a:pt x="1231104" y="2709333"/>
                  </a:lnTo>
                  <a:lnTo>
                    <a:pt x="0" y="2709333"/>
                  </a:lnTo>
                  <a:close/>
                </a:path>
              </a:pathLst>
            </a:custGeom>
            <a:solidFill>
              <a:srgbClr val="FFCB13">
                <a:alpha val="83921"/>
              </a:srgbClr>
            </a:solidFill>
            <a:ln>
              <a:noFill/>
            </a:ln>
          </p:spPr>
        </p:sp>
        <p:sp>
          <p:nvSpPr>
            <p:cNvPr id="152" name="Google Shape;152;p5"/>
            <p:cNvSpPr txBox="1"/>
            <p:nvPr/>
          </p:nvSpPr>
          <p:spPr>
            <a:xfrm>
              <a:off x="0" y="-19050"/>
              <a:ext cx="1231104" cy="2728383"/>
            </a:xfrm>
            <a:prstGeom prst="rect">
              <a:avLst/>
            </a:prstGeom>
            <a:noFill/>
            <a:ln>
              <a:noFill/>
            </a:ln>
          </p:spPr>
          <p:txBody>
            <a:bodyPr anchorCtr="0" anchor="ctr" bIns="50800" lIns="50800" spcFirstLastPara="1" rIns="50800" wrap="square" tIns="50800">
              <a:noAutofit/>
            </a:bodyPr>
            <a:lstStyle/>
            <a:p>
              <a:pPr indent="0" lvl="0" marL="0" marR="0" rtl="0" algn="ctr">
                <a:lnSpc>
                  <a:spcPct val="158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3" name="Google Shape;153;p5"/>
          <p:cNvGrpSpPr/>
          <p:nvPr/>
        </p:nvGrpSpPr>
        <p:grpSpPr>
          <a:xfrm>
            <a:off x="3131884" y="1858297"/>
            <a:ext cx="12024231" cy="6781996"/>
            <a:chOff x="0" y="-38100"/>
            <a:chExt cx="3166876" cy="1786205"/>
          </a:xfrm>
        </p:grpSpPr>
        <p:sp>
          <p:nvSpPr>
            <p:cNvPr id="154" name="Google Shape;154;p5"/>
            <p:cNvSpPr/>
            <p:nvPr/>
          </p:nvSpPr>
          <p:spPr>
            <a:xfrm>
              <a:off x="0" y="0"/>
              <a:ext cx="3166876" cy="1748105"/>
            </a:xfrm>
            <a:custGeom>
              <a:rect b="b" l="l" r="r" t="t"/>
              <a:pathLst>
                <a:path extrusionOk="0" h="1748105" w="3166876">
                  <a:moveTo>
                    <a:pt x="0" y="0"/>
                  </a:moveTo>
                  <a:lnTo>
                    <a:pt x="3166876" y="0"/>
                  </a:lnTo>
                  <a:lnTo>
                    <a:pt x="3166876" y="1748105"/>
                  </a:lnTo>
                  <a:lnTo>
                    <a:pt x="0" y="1748105"/>
                  </a:lnTo>
                  <a:close/>
                </a:path>
              </a:pathLst>
            </a:custGeom>
            <a:solidFill>
              <a:srgbClr val="FFFFFF"/>
            </a:solidFill>
            <a:ln cap="sq" cmpd="sng" w="66675">
              <a:solidFill>
                <a:srgbClr val="231F20"/>
              </a:solidFill>
              <a:prstDash val="solid"/>
              <a:miter lim="8000"/>
              <a:headEnd len="sm" w="sm" type="none"/>
              <a:tailEnd len="sm" w="sm" type="none"/>
            </a:ln>
          </p:spPr>
        </p:sp>
        <p:sp>
          <p:nvSpPr>
            <p:cNvPr id="155" name="Google Shape;155;p5"/>
            <p:cNvSpPr txBox="1"/>
            <p:nvPr/>
          </p:nvSpPr>
          <p:spPr>
            <a:xfrm>
              <a:off x="0" y="-38100"/>
              <a:ext cx="3166876" cy="1786205"/>
            </a:xfrm>
            <a:prstGeom prst="rect">
              <a:avLst/>
            </a:prstGeom>
            <a:noFill/>
            <a:ln>
              <a:noFill/>
            </a:ln>
          </p:spPr>
          <p:txBody>
            <a:bodyPr anchorCtr="0" anchor="ctr" bIns="50800" lIns="50800" spcFirstLastPara="1" rIns="50800" wrap="square" tIns="50800">
              <a:noAutofit/>
            </a:bodyPr>
            <a:lstStyle/>
            <a:p>
              <a:pPr indent="0" lvl="0" marL="0" marR="0" rtl="0" algn="ctr">
                <a:lnSpc>
                  <a:spcPct val="193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6" name="Google Shape;156;p5"/>
          <p:cNvSpPr txBox="1"/>
          <p:nvPr/>
        </p:nvSpPr>
        <p:spPr>
          <a:xfrm>
            <a:off x="4558388" y="2605133"/>
            <a:ext cx="6353568" cy="947162"/>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None/>
            </a:pPr>
            <a:r>
              <a:rPr b="0" i="0" lang="en-US" sz="5650" u="none" cap="none" strike="noStrike">
                <a:solidFill>
                  <a:srgbClr val="2C2D30"/>
                </a:solidFill>
                <a:latin typeface="League Spartan"/>
                <a:ea typeface="League Spartan"/>
                <a:cs typeface="League Spartan"/>
                <a:sym typeface="League Spartan"/>
              </a:rPr>
              <a:t>Competencias</a:t>
            </a:r>
            <a:endParaRPr/>
          </a:p>
        </p:txBody>
      </p:sp>
      <p:sp>
        <p:nvSpPr>
          <p:cNvPr id="157" name="Google Shape;157;p5"/>
          <p:cNvSpPr txBox="1"/>
          <p:nvPr/>
        </p:nvSpPr>
        <p:spPr>
          <a:xfrm>
            <a:off x="3658752" y="3983900"/>
            <a:ext cx="937219" cy="720172"/>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i="0" lang="en-US" sz="4271" u="none" cap="none" strike="noStrike">
                <a:solidFill>
                  <a:srgbClr val="000000"/>
                </a:solidFill>
                <a:latin typeface="Montserrat"/>
                <a:ea typeface="Montserrat"/>
                <a:cs typeface="Montserrat"/>
                <a:sym typeface="Montserrat"/>
              </a:rPr>
              <a:t>01</a:t>
            </a:r>
            <a:endParaRPr/>
          </a:p>
        </p:txBody>
      </p:sp>
      <p:sp>
        <p:nvSpPr>
          <p:cNvPr id="158" name="Google Shape;158;p5"/>
          <p:cNvSpPr txBox="1"/>
          <p:nvPr/>
        </p:nvSpPr>
        <p:spPr>
          <a:xfrm>
            <a:off x="3621169" y="6045418"/>
            <a:ext cx="937219" cy="720172"/>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i="0" lang="en-US" sz="4271" u="none" cap="none" strike="noStrike">
                <a:solidFill>
                  <a:srgbClr val="000000"/>
                </a:solidFill>
                <a:latin typeface="Montserrat"/>
                <a:ea typeface="Montserrat"/>
                <a:cs typeface="Montserrat"/>
                <a:sym typeface="Montserrat"/>
              </a:rPr>
              <a:t>02</a:t>
            </a:r>
            <a:endParaRPr/>
          </a:p>
        </p:txBody>
      </p:sp>
      <p:sp>
        <p:nvSpPr>
          <p:cNvPr id="159" name="Google Shape;159;p5"/>
          <p:cNvSpPr txBox="1"/>
          <p:nvPr/>
        </p:nvSpPr>
        <p:spPr>
          <a:xfrm>
            <a:off x="4700160" y="3971670"/>
            <a:ext cx="9308304" cy="1732998"/>
          </a:xfrm>
          <a:prstGeom prst="rect">
            <a:avLst/>
          </a:prstGeom>
          <a:noFill/>
          <a:ln>
            <a:noFill/>
          </a:ln>
        </p:spPr>
        <p:txBody>
          <a:bodyPr anchorCtr="0" anchor="t" bIns="0" lIns="0" spcFirstLastPara="1" rIns="0" wrap="square" tIns="0">
            <a:spAutoFit/>
          </a:bodyPr>
          <a:lstStyle/>
          <a:p>
            <a:pPr indent="0" lvl="0" marL="0" marR="0" rtl="0" algn="l">
              <a:lnSpc>
                <a:spcPct val="137995"/>
              </a:lnSpc>
              <a:spcBef>
                <a:spcPts val="0"/>
              </a:spcBef>
              <a:spcAft>
                <a:spcPts val="0"/>
              </a:spcAft>
              <a:buNone/>
            </a:pPr>
            <a:r>
              <a:rPr b="0" i="0" lang="en-US" sz="2524" u="none" cap="none" strike="noStrike">
                <a:solidFill>
                  <a:srgbClr val="231F20"/>
                </a:solidFill>
                <a:latin typeface="Montserrat"/>
                <a:ea typeface="Montserrat"/>
                <a:cs typeface="Montserrat"/>
                <a:sym typeface="Montserrat"/>
              </a:rPr>
              <a:t>Desarrolla Interfaces gráficas funcionales haciendo uso de controles básicos, como textbox, label, combobox capturar  mostrar los datos de forma eficiente </a:t>
            </a:r>
            <a:endParaRPr/>
          </a:p>
        </p:txBody>
      </p:sp>
      <p:sp>
        <p:nvSpPr>
          <p:cNvPr id="160" name="Google Shape;160;p5"/>
          <p:cNvSpPr txBox="1"/>
          <p:nvPr/>
        </p:nvSpPr>
        <p:spPr>
          <a:xfrm>
            <a:off x="4828211" y="6123769"/>
            <a:ext cx="9180254" cy="2171148"/>
          </a:xfrm>
          <a:prstGeom prst="rect">
            <a:avLst/>
          </a:prstGeom>
          <a:noFill/>
          <a:ln>
            <a:noFill/>
          </a:ln>
        </p:spPr>
        <p:txBody>
          <a:bodyPr anchorCtr="0" anchor="t" bIns="0" lIns="0" spcFirstLastPara="1" rIns="0" wrap="square" tIns="0">
            <a:spAutoFit/>
          </a:bodyPr>
          <a:lstStyle/>
          <a:p>
            <a:pPr indent="0" lvl="0" marL="0" marR="0" rtl="0" algn="just">
              <a:lnSpc>
                <a:spcPct val="137995"/>
              </a:lnSpc>
              <a:spcBef>
                <a:spcPts val="0"/>
              </a:spcBef>
              <a:spcAft>
                <a:spcPts val="0"/>
              </a:spcAft>
              <a:buNone/>
            </a:pPr>
            <a:r>
              <a:rPr b="0" i="0" lang="en-US" sz="2524" u="none" cap="none" strike="noStrike">
                <a:solidFill>
                  <a:srgbClr val="000000"/>
                </a:solidFill>
                <a:latin typeface="Montserrat"/>
                <a:ea typeface="Montserrat"/>
                <a:cs typeface="Montserrat"/>
                <a:sym typeface="Montserrat"/>
              </a:rPr>
              <a:t>Implementa Estructuras de Control  procedimientos en VB.NET mediante variables condicionales  ciclos para desarrollar soluciones informáticas que automaticen procesos de gestión de datos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919"/>
        </a:solidFill>
      </p:bgPr>
    </p:bg>
    <p:spTree>
      <p:nvGrpSpPr>
        <p:cNvPr id="164" name="Shape 164"/>
        <p:cNvGrpSpPr/>
        <p:nvPr/>
      </p:nvGrpSpPr>
      <p:grpSpPr>
        <a:xfrm>
          <a:off x="0" y="0"/>
          <a:ext cx="0" cy="0"/>
          <a:chOff x="0" y="0"/>
          <a:chExt cx="0" cy="0"/>
        </a:xfrm>
      </p:grpSpPr>
      <p:sp>
        <p:nvSpPr>
          <p:cNvPr id="165" name="Google Shape;165;p6"/>
          <p:cNvSpPr/>
          <p:nvPr/>
        </p:nvSpPr>
        <p:spPr>
          <a:xfrm>
            <a:off x="0" y="-148999"/>
            <a:ext cx="9144000" cy="10584998"/>
          </a:xfrm>
          <a:custGeom>
            <a:rect b="b" l="l" r="r" t="t"/>
            <a:pathLst>
              <a:path extrusionOk="0" h="10584998" w="9144000">
                <a:moveTo>
                  <a:pt x="0" y="0"/>
                </a:moveTo>
                <a:lnTo>
                  <a:pt x="9144000" y="0"/>
                </a:lnTo>
                <a:lnTo>
                  <a:pt x="9144000" y="10584998"/>
                </a:lnTo>
                <a:lnTo>
                  <a:pt x="0" y="10584998"/>
                </a:lnTo>
                <a:lnTo>
                  <a:pt x="0" y="0"/>
                </a:lnTo>
                <a:close/>
              </a:path>
            </a:pathLst>
          </a:custGeom>
          <a:blipFill rotWithShape="1">
            <a:blip r:embed="rId3">
              <a:alphaModFix amt="15000"/>
            </a:blip>
            <a:stretch>
              <a:fillRect b="0" l="-32461" r="-32461" t="0"/>
            </a:stretch>
          </a:blipFill>
          <a:ln>
            <a:noFill/>
          </a:ln>
        </p:spPr>
      </p:sp>
      <p:sp>
        <p:nvSpPr>
          <p:cNvPr id="166" name="Google Shape;166;p6"/>
          <p:cNvSpPr/>
          <p:nvPr/>
        </p:nvSpPr>
        <p:spPr>
          <a:xfrm>
            <a:off x="9144000" y="0"/>
            <a:ext cx="9144000" cy="10287000"/>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4">
              <a:alphaModFix/>
            </a:blip>
            <a:stretch>
              <a:fillRect b="0" l="0" r="0" t="0"/>
            </a:stretch>
          </a:blipFill>
          <a:ln>
            <a:noFill/>
          </a:ln>
        </p:spPr>
      </p:sp>
      <p:sp>
        <p:nvSpPr>
          <p:cNvPr id="168" name="Google Shape;168;p6"/>
          <p:cNvSpPr/>
          <p:nvPr/>
        </p:nvSpPr>
        <p:spPr>
          <a:xfrm rot="-700212">
            <a:off x="10301628" y="2668169"/>
            <a:ext cx="6828743" cy="5961091"/>
          </a:xfrm>
          <a:custGeom>
            <a:rect b="b" l="l" r="r" t="t"/>
            <a:pathLst>
              <a:path extrusionOk="0" h="1704828" w="1952971">
                <a:moveTo>
                  <a:pt x="0" y="0"/>
                </a:moveTo>
                <a:lnTo>
                  <a:pt x="1952971" y="0"/>
                </a:lnTo>
                <a:lnTo>
                  <a:pt x="1952971" y="1704828"/>
                </a:lnTo>
                <a:lnTo>
                  <a:pt x="0" y="1704828"/>
                </a:lnTo>
                <a:close/>
              </a:path>
            </a:pathLst>
          </a:custGeom>
          <a:solidFill>
            <a:srgbClr val="353332"/>
          </a:solidFill>
          <a:ln>
            <a:noFill/>
          </a:ln>
        </p:spPr>
      </p:sp>
      <p:grpSp>
        <p:nvGrpSpPr>
          <p:cNvPr id="169" name="Google Shape;169;p6"/>
          <p:cNvGrpSpPr/>
          <p:nvPr/>
        </p:nvGrpSpPr>
        <p:grpSpPr>
          <a:xfrm>
            <a:off x="680627" y="1475135"/>
            <a:ext cx="7782745" cy="7301012"/>
            <a:chOff x="0" y="-47625"/>
            <a:chExt cx="10376993" cy="9734682"/>
          </a:xfrm>
        </p:grpSpPr>
        <p:sp>
          <p:nvSpPr>
            <p:cNvPr id="170" name="Google Shape;170;p6"/>
            <p:cNvSpPr txBox="1"/>
            <p:nvPr/>
          </p:nvSpPr>
          <p:spPr>
            <a:xfrm>
              <a:off x="0" y="-47625"/>
              <a:ext cx="10376993" cy="2130425"/>
            </a:xfrm>
            <a:prstGeom prst="rect">
              <a:avLst/>
            </a:prstGeom>
            <a:noFill/>
            <a:ln>
              <a:noFill/>
            </a:ln>
          </p:spPr>
          <p:txBody>
            <a:bodyPr anchorCtr="0" anchor="t" bIns="0" lIns="0" spcFirstLastPara="1" rIns="0" wrap="square" tIns="0">
              <a:spAutoFit/>
            </a:bodyPr>
            <a:lstStyle/>
            <a:p>
              <a:pPr indent="0" lvl="0" marL="0" marR="0" rtl="0" algn="l">
                <a:lnSpc>
                  <a:spcPct val="120015"/>
                </a:lnSpc>
                <a:spcBef>
                  <a:spcPts val="0"/>
                </a:spcBef>
                <a:spcAft>
                  <a:spcPts val="0"/>
                </a:spcAft>
                <a:buNone/>
              </a:pPr>
              <a:r>
                <a:rPr b="0" i="0" lang="en-US" sz="5161" u="none" cap="none" strike="noStrike">
                  <a:solidFill>
                    <a:srgbClr val="FFFFFF"/>
                  </a:solidFill>
                  <a:latin typeface="Arial"/>
                  <a:ea typeface="Arial"/>
                  <a:cs typeface="Arial"/>
                  <a:sym typeface="Arial"/>
                </a:rPr>
                <a:t>Sentencias de control del flujo</a:t>
              </a:r>
              <a:endParaRPr/>
            </a:p>
          </p:txBody>
        </p:sp>
        <p:sp>
          <p:nvSpPr>
            <p:cNvPr id="171" name="Google Shape;171;p6"/>
            <p:cNvSpPr txBox="1"/>
            <p:nvPr/>
          </p:nvSpPr>
          <p:spPr>
            <a:xfrm>
              <a:off x="0" y="2726834"/>
              <a:ext cx="10376993" cy="6960223"/>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0" i="0" lang="en-US" sz="3334" u="none" cap="none" strike="noStrike">
                  <a:solidFill>
                    <a:srgbClr val="FFFFFF"/>
                  </a:solidFill>
                  <a:latin typeface="Arial"/>
                  <a:ea typeface="Arial"/>
                  <a:cs typeface="Arial"/>
                  <a:sym typeface="Arial"/>
                </a:rPr>
                <a:t>Hasta ahora un programa no era más que una secuencia de instrucciones que son ejecutadas en el orden en que son formuladas. Además, si quisieramos que un conjunto de ellas se repitiera varias veces, no tenemos más remedio que escribirlas varias veces. </a:t>
              </a:r>
              <a:endParaRPr/>
            </a:p>
            <a:p>
              <a:pPr indent="0" lvl="0" marL="0" marR="0" rtl="0" algn="l">
                <a:lnSpc>
                  <a:spcPct val="118236"/>
                </a:lnSpc>
                <a:spcBef>
                  <a:spcPts val="0"/>
                </a:spcBef>
                <a:spcAft>
                  <a:spcPts val="0"/>
                </a:spcAft>
                <a:buNone/>
              </a:pPr>
              <a:r>
                <a:t/>
              </a:r>
              <a:endParaRPr b="0" i="0" sz="3334" u="none" cap="none" strike="noStrike">
                <a:solidFill>
                  <a:srgbClr val="FFFFFF"/>
                </a:solidFill>
                <a:latin typeface="Arial"/>
                <a:ea typeface="Arial"/>
                <a:cs typeface="Arial"/>
                <a:sym typeface="Arial"/>
              </a:endParaRPr>
            </a:p>
          </p:txBody>
        </p:sp>
      </p:grpSp>
      <p:sp>
        <p:nvSpPr>
          <p:cNvPr id="172" name="Google Shape;172;p6"/>
          <p:cNvSpPr/>
          <p:nvPr/>
        </p:nvSpPr>
        <p:spPr>
          <a:xfrm>
            <a:off x="10401085" y="4301961"/>
            <a:ext cx="6629830" cy="2111724"/>
          </a:xfrm>
          <a:custGeom>
            <a:rect b="b" l="l" r="r" t="t"/>
            <a:pathLst>
              <a:path extrusionOk="0" h="2111724" w="6629830">
                <a:moveTo>
                  <a:pt x="0" y="0"/>
                </a:moveTo>
                <a:lnTo>
                  <a:pt x="6629830" y="0"/>
                </a:lnTo>
                <a:lnTo>
                  <a:pt x="6629830" y="2111724"/>
                </a:lnTo>
                <a:lnTo>
                  <a:pt x="0" y="2111724"/>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7"/>
          <p:cNvSpPr/>
          <p:nvPr/>
        </p:nvSpPr>
        <p:spPr>
          <a:xfrm>
            <a:off x="-545621" y="8287828"/>
            <a:ext cx="19566866" cy="2127292"/>
          </a:xfrm>
          <a:prstGeom prst="rect">
            <a:avLst/>
          </a:pr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p:nvPr/>
        </p:nvSpPr>
        <p:spPr>
          <a:xfrm>
            <a:off x="-1321037" y="-1028700"/>
            <a:ext cx="12174084" cy="9316528"/>
          </a:xfrm>
          <a:custGeom>
            <a:rect b="b" l="l" r="r" t="t"/>
            <a:pathLst>
              <a:path extrusionOk="0" h="2230248" w="2914308">
                <a:moveTo>
                  <a:pt x="2789848" y="2230248"/>
                </a:moveTo>
                <a:lnTo>
                  <a:pt x="124460" y="2230248"/>
                </a:lnTo>
                <a:cubicBezTo>
                  <a:pt x="55880" y="2230248"/>
                  <a:pt x="0" y="2174368"/>
                  <a:pt x="0" y="2105788"/>
                </a:cubicBezTo>
                <a:lnTo>
                  <a:pt x="0" y="124460"/>
                </a:lnTo>
                <a:cubicBezTo>
                  <a:pt x="0" y="55880"/>
                  <a:pt x="55880" y="0"/>
                  <a:pt x="124460" y="0"/>
                </a:cubicBezTo>
                <a:lnTo>
                  <a:pt x="2789848" y="0"/>
                </a:lnTo>
                <a:cubicBezTo>
                  <a:pt x="2858428" y="0"/>
                  <a:pt x="2914308" y="55880"/>
                  <a:pt x="2914308" y="124460"/>
                </a:cubicBezTo>
                <a:lnTo>
                  <a:pt x="2914308" y="2105788"/>
                </a:lnTo>
                <a:cubicBezTo>
                  <a:pt x="2914308" y="2174368"/>
                  <a:pt x="2858428" y="2230248"/>
                  <a:pt x="2789848" y="2230248"/>
                </a:cubicBezTo>
                <a:close/>
              </a:path>
            </a:pathLst>
          </a:cu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3">
              <a:alphaModFix/>
            </a:blip>
            <a:stretch>
              <a:fillRect b="0" l="0" r="0" t="0"/>
            </a:stretch>
          </a:blipFill>
          <a:ln>
            <a:noFill/>
          </a:ln>
        </p:spPr>
      </p:sp>
      <p:sp>
        <p:nvSpPr>
          <p:cNvPr id="180" name="Google Shape;180;p7"/>
          <p:cNvSpPr txBox="1"/>
          <p:nvPr/>
        </p:nvSpPr>
        <p:spPr>
          <a:xfrm>
            <a:off x="330543" y="317902"/>
            <a:ext cx="10522504" cy="8940398"/>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None/>
            </a:pPr>
            <a:r>
              <a:rPr b="1" i="0" lang="en-US" sz="3139" u="none" cap="none" strike="noStrike">
                <a:solidFill>
                  <a:srgbClr val="191919"/>
                </a:solidFill>
                <a:latin typeface="Arial"/>
                <a:ea typeface="Arial"/>
                <a:cs typeface="Arial"/>
                <a:sym typeface="Arial"/>
              </a:rPr>
              <a:t>El orden de ejecución de las sentencias es lo que se conoce por el flujo del programa, y se puede variar a voluntad utilizando las sentencias de control de flujo, con las que es muy fácil alterarlo para adecuarlo a nuestras necesidades. Esto es lo que hace potentes a los lenguajes de programación. Básicamente, existen tres tipos de sentencias:</a:t>
            </a:r>
            <a:endParaRPr/>
          </a:p>
          <a:p>
            <a:pPr indent="0" lvl="0" marL="0" marR="0" rtl="0" algn="l">
              <a:lnSpc>
                <a:spcPct val="140012"/>
              </a:lnSpc>
              <a:spcBef>
                <a:spcPts val="0"/>
              </a:spcBef>
              <a:spcAft>
                <a:spcPts val="0"/>
              </a:spcAft>
              <a:buNone/>
            </a:pPr>
            <a:r>
              <a:t/>
            </a:r>
            <a:endParaRPr b="1" i="0" sz="3139" u="none" cap="none" strike="noStrike">
              <a:solidFill>
                <a:srgbClr val="191919"/>
              </a:solidFill>
              <a:latin typeface="Arial"/>
              <a:ea typeface="Arial"/>
              <a:cs typeface="Arial"/>
              <a:sym typeface="Arial"/>
            </a:endParaRPr>
          </a:p>
          <a:p>
            <a:pPr indent="-338953" lvl="1" marL="677908" marR="0" rtl="0" algn="l">
              <a:lnSpc>
                <a:spcPct val="140012"/>
              </a:lnSpc>
              <a:spcBef>
                <a:spcPts val="0"/>
              </a:spcBef>
              <a:spcAft>
                <a:spcPts val="0"/>
              </a:spcAft>
              <a:buClr>
                <a:srgbClr val="191919"/>
              </a:buClr>
              <a:buSzPts val="3139"/>
              <a:buFont typeface="Arial"/>
              <a:buChar char="•"/>
            </a:pPr>
            <a:r>
              <a:rPr b="1" i="0" lang="en-US" sz="3139" u="none" cap="none" strike="noStrike">
                <a:solidFill>
                  <a:srgbClr val="191919"/>
                </a:solidFill>
                <a:latin typeface="Arial"/>
                <a:ea typeface="Arial"/>
                <a:cs typeface="Arial"/>
                <a:sym typeface="Arial"/>
              </a:rPr>
              <a:t>secuencial</a:t>
            </a:r>
            <a:endParaRPr/>
          </a:p>
          <a:p>
            <a:pPr indent="-338953" lvl="1" marL="677908" marR="0" rtl="0" algn="l">
              <a:lnSpc>
                <a:spcPct val="140012"/>
              </a:lnSpc>
              <a:spcBef>
                <a:spcPts val="0"/>
              </a:spcBef>
              <a:spcAft>
                <a:spcPts val="0"/>
              </a:spcAft>
              <a:buClr>
                <a:srgbClr val="191919"/>
              </a:buClr>
              <a:buSzPts val="3139"/>
              <a:buFont typeface="Arial"/>
              <a:buChar char="•"/>
            </a:pPr>
            <a:r>
              <a:rPr b="1" i="0" lang="en-US" sz="3139" u="none" cap="none" strike="noStrike">
                <a:solidFill>
                  <a:srgbClr val="191919"/>
                </a:solidFill>
                <a:latin typeface="Arial"/>
                <a:ea typeface="Arial"/>
                <a:cs typeface="Arial"/>
                <a:sym typeface="Arial"/>
              </a:rPr>
              <a:t>condicional </a:t>
            </a:r>
            <a:endParaRPr/>
          </a:p>
          <a:p>
            <a:pPr indent="-338953" lvl="1" marL="677908" marR="0" rtl="0" algn="l">
              <a:lnSpc>
                <a:spcPct val="140012"/>
              </a:lnSpc>
              <a:spcBef>
                <a:spcPts val="0"/>
              </a:spcBef>
              <a:spcAft>
                <a:spcPts val="0"/>
              </a:spcAft>
              <a:buClr>
                <a:srgbClr val="191919"/>
              </a:buClr>
              <a:buSzPts val="3139"/>
              <a:buFont typeface="Arial"/>
              <a:buChar char="•"/>
            </a:pPr>
            <a:r>
              <a:rPr b="1" i="0" lang="en-US" sz="3139" u="none" cap="none" strike="noStrike">
                <a:solidFill>
                  <a:srgbClr val="191919"/>
                </a:solidFill>
                <a:latin typeface="Arial"/>
                <a:ea typeface="Arial"/>
                <a:cs typeface="Arial"/>
                <a:sym typeface="Arial"/>
              </a:rPr>
              <a:t>iterativa </a:t>
            </a:r>
            <a:endParaRPr/>
          </a:p>
          <a:p>
            <a:pPr indent="0" lvl="0" marL="0" marR="0" rtl="0" algn="l">
              <a:lnSpc>
                <a:spcPct val="140012"/>
              </a:lnSpc>
              <a:spcBef>
                <a:spcPts val="0"/>
              </a:spcBef>
              <a:spcAft>
                <a:spcPts val="0"/>
              </a:spcAft>
              <a:buNone/>
            </a:pPr>
            <a:r>
              <a:t/>
            </a:r>
            <a:endParaRPr b="1" i="0" sz="3139" u="none" cap="none" strike="noStrike">
              <a:solidFill>
                <a:srgbClr val="191919"/>
              </a:solidFill>
              <a:latin typeface="Arial"/>
              <a:ea typeface="Arial"/>
              <a:cs typeface="Arial"/>
              <a:sym typeface="Arial"/>
            </a:endParaRPr>
          </a:p>
          <a:p>
            <a:pPr indent="0" lvl="0" marL="0" marR="0" rtl="0" algn="l">
              <a:lnSpc>
                <a:spcPct val="140012"/>
              </a:lnSpc>
              <a:spcBef>
                <a:spcPts val="0"/>
              </a:spcBef>
              <a:spcAft>
                <a:spcPts val="0"/>
              </a:spcAft>
              <a:buNone/>
            </a:pPr>
            <a:r>
              <a:rPr b="1" i="0" lang="en-US" sz="3139" u="none" cap="none" strike="noStrike">
                <a:solidFill>
                  <a:srgbClr val="191919"/>
                </a:solidFill>
                <a:latin typeface="Arial"/>
                <a:ea typeface="Arial"/>
                <a:cs typeface="Arial"/>
                <a:sym typeface="Arial"/>
              </a:rPr>
              <a:t>Con ellas se puede escribir cualquier programa.</a:t>
            </a:r>
            <a:endParaRPr/>
          </a:p>
          <a:p>
            <a:pPr indent="0" lvl="0" marL="0" marR="0" rtl="0" algn="l">
              <a:lnSpc>
                <a:spcPct val="140012"/>
              </a:lnSpc>
              <a:spcBef>
                <a:spcPts val="0"/>
              </a:spcBef>
              <a:spcAft>
                <a:spcPts val="0"/>
              </a:spcAft>
              <a:buNone/>
            </a:pPr>
            <a:r>
              <a:t/>
            </a:r>
            <a:endParaRPr b="1" i="0" sz="3139" u="none" cap="none" strike="noStrike">
              <a:solidFill>
                <a:srgbClr val="191919"/>
              </a:solidFill>
              <a:latin typeface="Arial"/>
              <a:ea typeface="Arial"/>
              <a:cs typeface="Arial"/>
              <a:sym typeface="Arial"/>
            </a:endParaRPr>
          </a:p>
          <a:p>
            <a:pPr indent="0" lvl="0" marL="0" marR="0" rtl="0" algn="l">
              <a:lnSpc>
                <a:spcPct val="144217"/>
              </a:lnSpc>
              <a:spcBef>
                <a:spcPts val="0"/>
              </a:spcBef>
              <a:spcAft>
                <a:spcPts val="0"/>
              </a:spcAft>
              <a:buNone/>
            </a:pPr>
            <a:r>
              <a:t/>
            </a:r>
            <a:endParaRPr b="1" i="0" sz="3139" u="none" cap="none" strike="noStrike">
              <a:solidFill>
                <a:srgbClr val="191919"/>
              </a:solidFill>
              <a:latin typeface="Arial"/>
              <a:ea typeface="Arial"/>
              <a:cs typeface="Arial"/>
              <a:sym typeface="Arial"/>
            </a:endParaRPr>
          </a:p>
        </p:txBody>
      </p:sp>
      <p:sp>
        <p:nvSpPr>
          <p:cNvPr id="181" name="Google Shape;181;p7"/>
          <p:cNvSpPr/>
          <p:nvPr/>
        </p:nvSpPr>
        <p:spPr>
          <a:xfrm>
            <a:off x="12171948" y="431147"/>
            <a:ext cx="4283755" cy="7649562"/>
          </a:xfrm>
          <a:custGeom>
            <a:rect b="b" l="l" r="r" t="t"/>
            <a:pathLst>
              <a:path extrusionOk="0" h="7649562" w="4283755">
                <a:moveTo>
                  <a:pt x="0" y="0"/>
                </a:moveTo>
                <a:lnTo>
                  <a:pt x="4283755" y="0"/>
                </a:lnTo>
                <a:lnTo>
                  <a:pt x="4283755" y="7649562"/>
                </a:lnTo>
                <a:lnTo>
                  <a:pt x="0" y="764956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919"/>
        </a:solidFill>
      </p:bgPr>
    </p:bg>
    <p:spTree>
      <p:nvGrpSpPr>
        <p:cNvPr id="185" name="Shape 185"/>
        <p:cNvGrpSpPr/>
        <p:nvPr/>
      </p:nvGrpSpPr>
      <p:grpSpPr>
        <a:xfrm>
          <a:off x="0" y="0"/>
          <a:ext cx="0" cy="0"/>
          <a:chOff x="0" y="0"/>
          <a:chExt cx="0" cy="0"/>
        </a:xfrm>
      </p:grpSpPr>
      <p:sp>
        <p:nvSpPr>
          <p:cNvPr id="186" name="Google Shape;186;p8"/>
          <p:cNvSpPr/>
          <p:nvPr/>
        </p:nvSpPr>
        <p:spPr>
          <a:xfrm>
            <a:off x="-123810" y="-148999"/>
            <a:ext cx="18411810" cy="7048545"/>
          </a:xfrm>
          <a:custGeom>
            <a:rect b="b" l="l" r="r" t="t"/>
            <a:pathLst>
              <a:path extrusionOk="0" h="7048545" w="18411810">
                <a:moveTo>
                  <a:pt x="0" y="0"/>
                </a:moveTo>
                <a:lnTo>
                  <a:pt x="18411810" y="0"/>
                </a:lnTo>
                <a:lnTo>
                  <a:pt x="18411810" y="7048545"/>
                </a:lnTo>
                <a:lnTo>
                  <a:pt x="0" y="7048545"/>
                </a:lnTo>
                <a:lnTo>
                  <a:pt x="0" y="0"/>
                </a:lnTo>
                <a:close/>
              </a:path>
            </a:pathLst>
          </a:custGeom>
          <a:blipFill rotWithShape="1">
            <a:blip r:embed="rId3">
              <a:alphaModFix amt="15000"/>
            </a:blip>
            <a:stretch>
              <a:fillRect b="-37068" l="0" r="0" t="-37068"/>
            </a:stretch>
          </a:blipFill>
          <a:ln>
            <a:noFill/>
          </a:ln>
        </p:spPr>
      </p:sp>
      <p:sp>
        <p:nvSpPr>
          <p:cNvPr id="187" name="Google Shape;187;p8"/>
          <p:cNvSpPr/>
          <p:nvPr/>
        </p:nvSpPr>
        <p:spPr>
          <a:xfrm>
            <a:off x="-327892" y="6449003"/>
            <a:ext cx="18819973" cy="4059436"/>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16460016"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4">
              <a:alphaModFix/>
            </a:blip>
            <a:stretch>
              <a:fillRect b="0" l="0" r="0" t="0"/>
            </a:stretch>
          </a:blipFill>
          <a:ln>
            <a:noFill/>
          </a:ln>
        </p:spPr>
      </p:sp>
      <p:sp>
        <p:nvSpPr>
          <p:cNvPr id="189" name="Google Shape;189;p8"/>
          <p:cNvSpPr/>
          <p:nvPr/>
        </p:nvSpPr>
        <p:spPr>
          <a:xfrm>
            <a:off x="2067233" y="4987584"/>
            <a:ext cx="4544843" cy="4495263"/>
          </a:xfrm>
          <a:custGeom>
            <a:rect b="b" l="l" r="r" t="t"/>
            <a:pathLst>
              <a:path extrusionOk="0" h="4495263" w="4544843">
                <a:moveTo>
                  <a:pt x="0" y="0"/>
                </a:moveTo>
                <a:lnTo>
                  <a:pt x="4544844" y="0"/>
                </a:lnTo>
                <a:lnTo>
                  <a:pt x="4544844" y="4495264"/>
                </a:lnTo>
                <a:lnTo>
                  <a:pt x="0" y="4495264"/>
                </a:lnTo>
                <a:lnTo>
                  <a:pt x="0" y="0"/>
                </a:lnTo>
                <a:close/>
              </a:path>
            </a:pathLst>
          </a:custGeom>
          <a:blipFill rotWithShape="1">
            <a:blip r:embed="rId5">
              <a:alphaModFix/>
            </a:blip>
            <a:stretch>
              <a:fillRect b="0" l="0" r="0" t="0"/>
            </a:stretch>
          </a:blipFill>
          <a:ln>
            <a:noFill/>
          </a:ln>
        </p:spPr>
      </p:sp>
      <p:sp>
        <p:nvSpPr>
          <p:cNvPr id="190" name="Google Shape;190;p8"/>
          <p:cNvSpPr/>
          <p:nvPr/>
        </p:nvSpPr>
        <p:spPr>
          <a:xfrm>
            <a:off x="10262821" y="4859600"/>
            <a:ext cx="6598994" cy="1637452"/>
          </a:xfrm>
          <a:custGeom>
            <a:rect b="b" l="l" r="r" t="t"/>
            <a:pathLst>
              <a:path extrusionOk="0" h="1637452" w="6598994">
                <a:moveTo>
                  <a:pt x="0" y="0"/>
                </a:moveTo>
                <a:lnTo>
                  <a:pt x="6598994" y="0"/>
                </a:lnTo>
                <a:lnTo>
                  <a:pt x="6598994" y="1637453"/>
                </a:lnTo>
                <a:lnTo>
                  <a:pt x="0" y="1637453"/>
                </a:lnTo>
                <a:lnTo>
                  <a:pt x="0" y="0"/>
                </a:lnTo>
                <a:close/>
              </a:path>
            </a:pathLst>
          </a:custGeom>
          <a:blipFill rotWithShape="1">
            <a:blip r:embed="rId6">
              <a:alphaModFix/>
            </a:blip>
            <a:stretch>
              <a:fillRect b="-182342" l="0" r="0" t="0"/>
            </a:stretch>
          </a:blipFill>
          <a:ln>
            <a:noFill/>
          </a:ln>
        </p:spPr>
      </p:sp>
      <p:sp>
        <p:nvSpPr>
          <p:cNvPr id="191" name="Google Shape;191;p8"/>
          <p:cNvSpPr txBox="1"/>
          <p:nvPr/>
        </p:nvSpPr>
        <p:spPr>
          <a:xfrm>
            <a:off x="1632129" y="732305"/>
            <a:ext cx="4736400" cy="1108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7200" u="none" cap="none" strike="noStrike">
                <a:solidFill>
                  <a:srgbClr val="FFFFFF"/>
                </a:solidFill>
                <a:latin typeface="Open Sans ExtraBold"/>
                <a:ea typeface="Open Sans ExtraBold"/>
                <a:cs typeface="Open Sans ExtraBold"/>
                <a:sym typeface="Open Sans ExtraBold"/>
              </a:rPr>
              <a:t>Secuencia</a:t>
            </a:r>
            <a:endParaRPr/>
          </a:p>
        </p:txBody>
      </p:sp>
      <p:sp>
        <p:nvSpPr>
          <p:cNvPr id="192" name="Google Shape;192;p8"/>
          <p:cNvSpPr txBox="1"/>
          <p:nvPr/>
        </p:nvSpPr>
        <p:spPr>
          <a:xfrm>
            <a:off x="1106171" y="2227722"/>
            <a:ext cx="5788223" cy="145542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4200" u="none" cap="none" strike="noStrike">
                <a:solidFill>
                  <a:srgbClr val="FFFFFF"/>
                </a:solidFill>
                <a:latin typeface="Open Sans"/>
                <a:ea typeface="Open Sans"/>
                <a:cs typeface="Open Sans"/>
                <a:sym typeface="Open Sans"/>
              </a:rPr>
              <a:t>Es una serie de pasos. </a:t>
            </a:r>
            <a:endParaRPr/>
          </a:p>
          <a:p>
            <a:pPr indent="0" lvl="0" marL="0" marR="0" rtl="0" algn="just">
              <a:lnSpc>
                <a:spcPct val="140000"/>
              </a:lnSpc>
              <a:spcBef>
                <a:spcPts val="0"/>
              </a:spcBef>
              <a:spcAft>
                <a:spcPts val="0"/>
              </a:spcAft>
              <a:buNone/>
            </a:pPr>
            <a:r>
              <a:rPr b="0" i="0" lang="en-US" sz="4200" u="none" cap="none" strike="noStrike">
                <a:solidFill>
                  <a:srgbClr val="FFFFFF"/>
                </a:solidFill>
                <a:latin typeface="Open Sans"/>
                <a:ea typeface="Open Sans"/>
                <a:cs typeface="Open Sans"/>
                <a:sym typeface="Open Sans"/>
              </a:rPr>
              <a:t>Puede ser solo un paso</a:t>
            </a:r>
            <a:endParaRPr/>
          </a:p>
        </p:txBody>
      </p:sp>
      <p:sp>
        <p:nvSpPr>
          <p:cNvPr id="193" name="Google Shape;193;p8"/>
          <p:cNvSpPr txBox="1"/>
          <p:nvPr/>
        </p:nvSpPr>
        <p:spPr>
          <a:xfrm>
            <a:off x="8152348" y="732305"/>
            <a:ext cx="8709467" cy="122682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7200" u="none" cap="none" strike="noStrike">
                <a:solidFill>
                  <a:srgbClr val="FFFFFF"/>
                </a:solidFill>
                <a:latin typeface="Open Sans ExtraBold"/>
                <a:ea typeface="Open Sans ExtraBold"/>
                <a:cs typeface="Open Sans ExtraBold"/>
                <a:sym typeface="Open Sans ExtraBold"/>
              </a:rPr>
              <a:t>Seleccion simple</a:t>
            </a:r>
            <a:endParaRPr/>
          </a:p>
        </p:txBody>
      </p:sp>
      <p:sp>
        <p:nvSpPr>
          <p:cNvPr id="194" name="Google Shape;194;p8"/>
          <p:cNvSpPr txBox="1"/>
          <p:nvPr/>
        </p:nvSpPr>
        <p:spPr>
          <a:xfrm>
            <a:off x="7633589" y="1856247"/>
            <a:ext cx="10354493" cy="21983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200" u="none" cap="none" strike="noStrike">
                <a:solidFill>
                  <a:srgbClr val="FFFFFF"/>
                </a:solidFill>
                <a:latin typeface="Open Sans"/>
                <a:ea typeface="Open Sans"/>
                <a:cs typeface="Open Sans"/>
                <a:sym typeface="Open Sans"/>
              </a:rPr>
              <a:t>Se especifica si una condicion es verdadera se hace la primer secuencia de paso, si no se realiza la otra</a:t>
            </a:r>
            <a:endParaRPr/>
          </a:p>
        </p:txBody>
      </p:sp>
      <p:sp>
        <p:nvSpPr>
          <p:cNvPr id="195" name="Google Shape;195;p8"/>
          <p:cNvSpPr/>
          <p:nvPr/>
        </p:nvSpPr>
        <p:spPr>
          <a:xfrm>
            <a:off x="10262821" y="6908132"/>
            <a:ext cx="6598994" cy="2574716"/>
          </a:xfrm>
          <a:custGeom>
            <a:rect b="b" l="l" r="r" t="t"/>
            <a:pathLst>
              <a:path extrusionOk="0" h="2574716" w="6598994">
                <a:moveTo>
                  <a:pt x="0" y="0"/>
                </a:moveTo>
                <a:lnTo>
                  <a:pt x="6598994" y="0"/>
                </a:lnTo>
                <a:lnTo>
                  <a:pt x="6598994" y="2574716"/>
                </a:lnTo>
                <a:lnTo>
                  <a:pt x="0" y="2574716"/>
                </a:lnTo>
                <a:lnTo>
                  <a:pt x="0" y="0"/>
                </a:lnTo>
                <a:close/>
              </a:path>
            </a:pathLst>
          </a:custGeom>
          <a:blipFill rotWithShape="1">
            <a:blip r:embed="rId6">
              <a:alphaModFix/>
            </a:blip>
            <a:stretch>
              <a:fillRect b="0" l="0" r="0" t="-79562"/>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9"/>
          <p:cNvSpPr/>
          <p:nvPr/>
        </p:nvSpPr>
        <p:spPr>
          <a:xfrm>
            <a:off x="-545621" y="8287828"/>
            <a:ext cx="19566866" cy="2127292"/>
          </a:xfrm>
          <a:prstGeom prst="rect">
            <a:avLst/>
          </a:pr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1418429" y="236259"/>
            <a:ext cx="15638767" cy="7841570"/>
          </a:xfrm>
          <a:custGeom>
            <a:rect b="b" l="l" r="r" t="t"/>
            <a:pathLst>
              <a:path extrusionOk="0" h="2230248" w="4447876">
                <a:moveTo>
                  <a:pt x="4323416" y="2230248"/>
                </a:moveTo>
                <a:lnTo>
                  <a:pt x="124460" y="2230248"/>
                </a:lnTo>
                <a:cubicBezTo>
                  <a:pt x="55880" y="2230248"/>
                  <a:pt x="0" y="2174368"/>
                  <a:pt x="0" y="2105788"/>
                </a:cubicBezTo>
                <a:lnTo>
                  <a:pt x="0" y="124460"/>
                </a:lnTo>
                <a:cubicBezTo>
                  <a:pt x="0" y="55880"/>
                  <a:pt x="55880" y="0"/>
                  <a:pt x="124460" y="0"/>
                </a:cubicBezTo>
                <a:lnTo>
                  <a:pt x="4323416" y="0"/>
                </a:lnTo>
                <a:cubicBezTo>
                  <a:pt x="4391996" y="0"/>
                  <a:pt x="4447876" y="55880"/>
                  <a:pt x="4447876" y="124460"/>
                </a:cubicBezTo>
                <a:lnTo>
                  <a:pt x="4447876" y="2105788"/>
                </a:lnTo>
                <a:cubicBezTo>
                  <a:pt x="4447876" y="2174368"/>
                  <a:pt x="4391996" y="2230248"/>
                  <a:pt x="4323416" y="2230248"/>
                </a:cubicBezTo>
                <a:close/>
              </a:path>
            </a:pathLst>
          </a:cu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3">
              <a:alphaModFix/>
            </a:blip>
            <a:stretch>
              <a:fillRect b="0" l="0" r="0" t="0"/>
            </a:stretch>
          </a:blipFill>
          <a:ln>
            <a:noFill/>
          </a:ln>
        </p:spPr>
      </p:sp>
      <p:pic>
        <p:nvPicPr>
          <p:cNvPr id="203" name="Google Shape;203;p9"/>
          <p:cNvPicPr preferRelativeResize="0"/>
          <p:nvPr/>
        </p:nvPicPr>
        <p:blipFill rotWithShape="1">
          <a:blip r:embed="rId4">
            <a:alphaModFix/>
          </a:blip>
          <a:srcRect b="0" l="0" r="0" t="0"/>
          <a:stretch/>
        </p:blipFill>
        <p:spPr>
          <a:xfrm>
            <a:off x="3014288" y="472519"/>
            <a:ext cx="13110771" cy="736905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919"/>
        </a:solidFill>
      </p:bgPr>
    </p:bg>
    <p:spTree>
      <p:nvGrpSpPr>
        <p:cNvPr id="207" name="Shape 207"/>
        <p:cNvGrpSpPr/>
        <p:nvPr/>
      </p:nvGrpSpPr>
      <p:grpSpPr>
        <a:xfrm>
          <a:off x="0" y="0"/>
          <a:ext cx="0" cy="0"/>
          <a:chOff x="0" y="0"/>
          <a:chExt cx="0" cy="0"/>
        </a:xfrm>
      </p:grpSpPr>
      <p:sp>
        <p:nvSpPr>
          <p:cNvPr id="208" name="Google Shape;208;p10"/>
          <p:cNvSpPr/>
          <p:nvPr/>
        </p:nvSpPr>
        <p:spPr>
          <a:xfrm>
            <a:off x="-123810" y="-148999"/>
            <a:ext cx="18411810" cy="7048545"/>
          </a:xfrm>
          <a:custGeom>
            <a:rect b="b" l="l" r="r" t="t"/>
            <a:pathLst>
              <a:path extrusionOk="0" h="7048545" w="18411810">
                <a:moveTo>
                  <a:pt x="0" y="0"/>
                </a:moveTo>
                <a:lnTo>
                  <a:pt x="18411810" y="0"/>
                </a:lnTo>
                <a:lnTo>
                  <a:pt x="18411810" y="7048545"/>
                </a:lnTo>
                <a:lnTo>
                  <a:pt x="0" y="7048545"/>
                </a:lnTo>
                <a:lnTo>
                  <a:pt x="0" y="0"/>
                </a:lnTo>
                <a:close/>
              </a:path>
            </a:pathLst>
          </a:custGeom>
          <a:blipFill rotWithShape="1">
            <a:blip r:embed="rId3">
              <a:alphaModFix amt="15000"/>
            </a:blip>
            <a:stretch>
              <a:fillRect b="-37068" l="0" r="0" t="-37068"/>
            </a:stretch>
          </a:blipFill>
          <a:ln>
            <a:noFill/>
          </a:ln>
        </p:spPr>
      </p:sp>
      <p:sp>
        <p:nvSpPr>
          <p:cNvPr id="209" name="Google Shape;209;p10"/>
          <p:cNvSpPr/>
          <p:nvPr/>
        </p:nvSpPr>
        <p:spPr>
          <a:xfrm>
            <a:off x="-327892" y="6449003"/>
            <a:ext cx="18819973" cy="4059436"/>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p:nvPr/>
        </p:nvSpPr>
        <p:spPr>
          <a:xfrm>
            <a:off x="16460016"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4">
              <a:alphaModFix/>
            </a:blip>
            <a:stretch>
              <a:fillRect b="0" l="0" r="0" t="0"/>
            </a:stretch>
          </a:blipFill>
          <a:ln>
            <a:noFill/>
          </a:ln>
        </p:spPr>
      </p:sp>
      <p:sp>
        <p:nvSpPr>
          <p:cNvPr id="211" name="Google Shape;211;p10"/>
          <p:cNvSpPr/>
          <p:nvPr/>
        </p:nvSpPr>
        <p:spPr>
          <a:xfrm>
            <a:off x="933415" y="5863543"/>
            <a:ext cx="6700174" cy="3431796"/>
          </a:xfrm>
          <a:custGeom>
            <a:rect b="b" l="l" r="r" t="t"/>
            <a:pathLst>
              <a:path extrusionOk="0" h="3431796" w="6700174">
                <a:moveTo>
                  <a:pt x="0" y="0"/>
                </a:moveTo>
                <a:lnTo>
                  <a:pt x="6700174" y="0"/>
                </a:lnTo>
                <a:lnTo>
                  <a:pt x="6700174" y="3431796"/>
                </a:lnTo>
                <a:lnTo>
                  <a:pt x="0" y="3431796"/>
                </a:lnTo>
                <a:lnTo>
                  <a:pt x="0" y="0"/>
                </a:lnTo>
                <a:close/>
              </a:path>
            </a:pathLst>
          </a:custGeom>
          <a:blipFill rotWithShape="1">
            <a:blip r:embed="rId5">
              <a:alphaModFix/>
            </a:blip>
            <a:stretch>
              <a:fillRect b="0" l="0" r="0" t="0"/>
            </a:stretch>
          </a:blipFill>
          <a:ln>
            <a:noFill/>
          </a:ln>
        </p:spPr>
      </p:sp>
      <p:sp>
        <p:nvSpPr>
          <p:cNvPr id="212" name="Google Shape;212;p10"/>
          <p:cNvSpPr/>
          <p:nvPr/>
        </p:nvSpPr>
        <p:spPr>
          <a:xfrm>
            <a:off x="8719742" y="6150027"/>
            <a:ext cx="8788470" cy="1499037"/>
          </a:xfrm>
          <a:custGeom>
            <a:rect b="b" l="l" r="r" t="t"/>
            <a:pathLst>
              <a:path extrusionOk="0" h="1499037" w="8788470">
                <a:moveTo>
                  <a:pt x="0" y="0"/>
                </a:moveTo>
                <a:lnTo>
                  <a:pt x="8788470" y="0"/>
                </a:lnTo>
                <a:lnTo>
                  <a:pt x="8788470" y="1499037"/>
                </a:lnTo>
                <a:lnTo>
                  <a:pt x="0" y="1499037"/>
                </a:lnTo>
                <a:lnTo>
                  <a:pt x="0" y="0"/>
                </a:lnTo>
                <a:close/>
              </a:path>
            </a:pathLst>
          </a:custGeom>
          <a:blipFill rotWithShape="1">
            <a:blip r:embed="rId6">
              <a:alphaModFix/>
            </a:blip>
            <a:stretch>
              <a:fillRect b="0" l="0" r="0" t="0"/>
            </a:stretch>
          </a:blipFill>
          <a:ln>
            <a:noFill/>
          </a:ln>
        </p:spPr>
      </p:sp>
      <p:sp>
        <p:nvSpPr>
          <p:cNvPr id="213" name="Google Shape;213;p10"/>
          <p:cNvSpPr txBox="1"/>
          <p:nvPr/>
        </p:nvSpPr>
        <p:spPr>
          <a:xfrm>
            <a:off x="933429" y="732300"/>
            <a:ext cx="4809000" cy="1108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7200" u="none" cap="none" strike="noStrike">
                <a:solidFill>
                  <a:srgbClr val="FFFFFF"/>
                </a:solidFill>
                <a:latin typeface="Open Sans ExtraBold"/>
                <a:ea typeface="Open Sans ExtraBold"/>
                <a:cs typeface="Open Sans ExtraBold"/>
                <a:sym typeface="Open Sans ExtraBold"/>
              </a:rPr>
              <a:t>Repetir</a:t>
            </a:r>
            <a:endParaRPr/>
          </a:p>
        </p:txBody>
      </p:sp>
      <p:sp>
        <p:nvSpPr>
          <p:cNvPr id="214" name="Google Shape;214;p10"/>
          <p:cNvSpPr txBox="1"/>
          <p:nvPr/>
        </p:nvSpPr>
        <p:spPr>
          <a:xfrm>
            <a:off x="689813" y="2202180"/>
            <a:ext cx="7221007" cy="294132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4200" u="none" cap="none" strike="noStrike">
                <a:solidFill>
                  <a:srgbClr val="FFFFFF"/>
                </a:solidFill>
                <a:latin typeface="Open Sans"/>
                <a:ea typeface="Open Sans"/>
                <a:cs typeface="Open Sans"/>
                <a:sym typeface="Open Sans"/>
              </a:rPr>
              <a:t>Permite  llevar a cabo la secuencia de pasos al menos una vez, repetiendola hasta que se cumpla la condicion</a:t>
            </a:r>
            <a:endParaRPr/>
          </a:p>
        </p:txBody>
      </p:sp>
      <p:sp>
        <p:nvSpPr>
          <p:cNvPr id="215" name="Google Shape;215;p10"/>
          <p:cNvSpPr txBox="1"/>
          <p:nvPr/>
        </p:nvSpPr>
        <p:spPr>
          <a:xfrm>
            <a:off x="8152348" y="732305"/>
            <a:ext cx="8709467" cy="122682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7200" u="none" cap="none" strike="noStrike">
                <a:solidFill>
                  <a:srgbClr val="FFFFFF"/>
                </a:solidFill>
                <a:latin typeface="Open Sans ExtraBold"/>
                <a:ea typeface="Open Sans ExtraBold"/>
                <a:cs typeface="Open Sans ExtraBold"/>
                <a:sym typeface="Open Sans ExtraBold"/>
              </a:rPr>
              <a:t>Mientras</a:t>
            </a:r>
            <a:endParaRPr/>
          </a:p>
        </p:txBody>
      </p:sp>
      <p:sp>
        <p:nvSpPr>
          <p:cNvPr id="216" name="Google Shape;216;p10"/>
          <p:cNvSpPr txBox="1"/>
          <p:nvPr/>
        </p:nvSpPr>
        <p:spPr>
          <a:xfrm>
            <a:off x="8719742" y="2255520"/>
            <a:ext cx="8844081" cy="14554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200" u="none" cap="none" strike="noStrike">
                <a:solidFill>
                  <a:srgbClr val="FFFFFF"/>
                </a:solidFill>
                <a:latin typeface="Open Sans"/>
                <a:ea typeface="Open Sans"/>
                <a:cs typeface="Open Sans"/>
                <a:sym typeface="Open Sans"/>
              </a:rPr>
              <a:t>Repite una secuencia de pasos, mientras se cumpla la condicion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919"/>
        </a:solidFill>
      </p:bgPr>
    </p:bg>
    <p:spTree>
      <p:nvGrpSpPr>
        <p:cNvPr id="220" name="Shape 220"/>
        <p:cNvGrpSpPr/>
        <p:nvPr/>
      </p:nvGrpSpPr>
      <p:grpSpPr>
        <a:xfrm>
          <a:off x="0" y="0"/>
          <a:ext cx="0" cy="0"/>
          <a:chOff x="0" y="0"/>
          <a:chExt cx="0" cy="0"/>
        </a:xfrm>
      </p:grpSpPr>
      <p:sp>
        <p:nvSpPr>
          <p:cNvPr id="221" name="Google Shape;221;p11"/>
          <p:cNvSpPr/>
          <p:nvPr/>
        </p:nvSpPr>
        <p:spPr>
          <a:xfrm>
            <a:off x="-123810" y="-148999"/>
            <a:ext cx="18411810" cy="7048545"/>
          </a:xfrm>
          <a:custGeom>
            <a:rect b="b" l="l" r="r" t="t"/>
            <a:pathLst>
              <a:path extrusionOk="0" h="7048545" w="18411810">
                <a:moveTo>
                  <a:pt x="0" y="0"/>
                </a:moveTo>
                <a:lnTo>
                  <a:pt x="18411810" y="0"/>
                </a:lnTo>
                <a:lnTo>
                  <a:pt x="18411810" y="7048545"/>
                </a:lnTo>
                <a:lnTo>
                  <a:pt x="0" y="7048545"/>
                </a:lnTo>
                <a:lnTo>
                  <a:pt x="0" y="0"/>
                </a:lnTo>
                <a:close/>
              </a:path>
            </a:pathLst>
          </a:custGeom>
          <a:blipFill rotWithShape="1">
            <a:blip r:embed="rId3">
              <a:alphaModFix amt="15000"/>
            </a:blip>
            <a:stretch>
              <a:fillRect b="-37068" l="0" r="0" t="-37068"/>
            </a:stretch>
          </a:blipFill>
          <a:ln>
            <a:noFill/>
          </a:ln>
        </p:spPr>
      </p:sp>
      <p:sp>
        <p:nvSpPr>
          <p:cNvPr id="222" name="Google Shape;222;p11"/>
          <p:cNvSpPr/>
          <p:nvPr/>
        </p:nvSpPr>
        <p:spPr>
          <a:xfrm>
            <a:off x="-327892" y="6449003"/>
            <a:ext cx="18819973" cy="4059436"/>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1"/>
          <p:cNvSpPr/>
          <p:nvPr/>
        </p:nvSpPr>
        <p:spPr>
          <a:xfrm>
            <a:off x="16460016"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4">
              <a:alphaModFix/>
            </a:blip>
            <a:stretch>
              <a:fillRect b="0" l="0" r="0" t="0"/>
            </a:stretch>
          </a:blipFill>
          <a:ln>
            <a:noFill/>
          </a:ln>
        </p:spPr>
      </p:sp>
      <p:sp>
        <p:nvSpPr>
          <p:cNvPr id="224" name="Google Shape;224;p11"/>
          <p:cNvSpPr/>
          <p:nvPr/>
        </p:nvSpPr>
        <p:spPr>
          <a:xfrm>
            <a:off x="7913846" y="3375273"/>
            <a:ext cx="9130338" cy="1506804"/>
          </a:xfrm>
          <a:custGeom>
            <a:rect b="b" l="l" r="r" t="t"/>
            <a:pathLst>
              <a:path extrusionOk="0" h="1506804" w="9130338">
                <a:moveTo>
                  <a:pt x="0" y="0"/>
                </a:moveTo>
                <a:lnTo>
                  <a:pt x="9130338" y="0"/>
                </a:lnTo>
                <a:lnTo>
                  <a:pt x="9130338" y="1506804"/>
                </a:lnTo>
                <a:lnTo>
                  <a:pt x="0" y="1506804"/>
                </a:lnTo>
                <a:lnTo>
                  <a:pt x="0" y="0"/>
                </a:lnTo>
                <a:close/>
              </a:path>
            </a:pathLst>
          </a:custGeom>
          <a:blipFill rotWithShape="1">
            <a:blip r:embed="rId5">
              <a:alphaModFix/>
            </a:blip>
            <a:stretch>
              <a:fillRect b="0" l="0" r="0" t="0"/>
            </a:stretch>
          </a:blipFill>
          <a:ln>
            <a:noFill/>
          </a:ln>
        </p:spPr>
      </p:sp>
      <p:sp>
        <p:nvSpPr>
          <p:cNvPr id="225" name="Google Shape;225;p11"/>
          <p:cNvSpPr/>
          <p:nvPr/>
        </p:nvSpPr>
        <p:spPr>
          <a:xfrm>
            <a:off x="7118081" y="6710840"/>
            <a:ext cx="10718016" cy="1467754"/>
          </a:xfrm>
          <a:custGeom>
            <a:rect b="b" l="l" r="r" t="t"/>
            <a:pathLst>
              <a:path extrusionOk="0" h="1467754" w="10718016">
                <a:moveTo>
                  <a:pt x="0" y="0"/>
                </a:moveTo>
                <a:lnTo>
                  <a:pt x="10718017" y="0"/>
                </a:lnTo>
                <a:lnTo>
                  <a:pt x="10718017" y="1467753"/>
                </a:lnTo>
                <a:lnTo>
                  <a:pt x="0" y="1467753"/>
                </a:lnTo>
                <a:lnTo>
                  <a:pt x="0" y="0"/>
                </a:lnTo>
                <a:close/>
              </a:path>
            </a:pathLst>
          </a:custGeom>
          <a:blipFill rotWithShape="1">
            <a:blip r:embed="rId6">
              <a:alphaModFix/>
            </a:blip>
            <a:stretch>
              <a:fillRect b="0" l="0" r="0" t="0"/>
            </a:stretch>
          </a:blipFill>
          <a:ln>
            <a:noFill/>
          </a:ln>
        </p:spPr>
      </p:sp>
      <p:sp>
        <p:nvSpPr>
          <p:cNvPr id="226" name="Google Shape;226;p11"/>
          <p:cNvSpPr txBox="1"/>
          <p:nvPr/>
        </p:nvSpPr>
        <p:spPr>
          <a:xfrm>
            <a:off x="689836" y="540625"/>
            <a:ext cx="4069800" cy="1108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7200" u="none" cap="none" strike="noStrike">
                <a:solidFill>
                  <a:srgbClr val="FFFFFF"/>
                </a:solidFill>
                <a:latin typeface="Open Sans ExtraBold"/>
                <a:ea typeface="Open Sans ExtraBold"/>
                <a:cs typeface="Open Sans ExtraBold"/>
                <a:sym typeface="Open Sans ExtraBold"/>
              </a:rPr>
              <a:t>Para</a:t>
            </a:r>
            <a:endParaRPr/>
          </a:p>
        </p:txBody>
      </p:sp>
      <p:sp>
        <p:nvSpPr>
          <p:cNvPr id="227" name="Google Shape;227;p11"/>
          <p:cNvSpPr txBox="1"/>
          <p:nvPr/>
        </p:nvSpPr>
        <p:spPr>
          <a:xfrm>
            <a:off x="689813" y="1866513"/>
            <a:ext cx="11209800" cy="1455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200" u="none" cap="none" strike="noStrike">
                <a:solidFill>
                  <a:srgbClr val="FFFFFF"/>
                </a:solidFill>
                <a:latin typeface="Open Sans"/>
                <a:ea typeface="Open Sans"/>
                <a:cs typeface="Open Sans"/>
                <a:sym typeface="Open Sans"/>
              </a:rPr>
              <a:t>Repite una cantidad fija  de veces, de acuerdo a los elementos  del conjunto</a:t>
            </a:r>
            <a:endParaRPr/>
          </a:p>
        </p:txBody>
      </p:sp>
      <p:sp>
        <p:nvSpPr>
          <p:cNvPr id="228" name="Google Shape;228;p11"/>
          <p:cNvSpPr txBox="1"/>
          <p:nvPr/>
        </p:nvSpPr>
        <p:spPr>
          <a:xfrm>
            <a:off x="689813" y="4993583"/>
            <a:ext cx="11209923" cy="14554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200" u="none" cap="none" strike="noStrike">
                <a:solidFill>
                  <a:srgbClr val="FFFFFF"/>
                </a:solidFill>
                <a:latin typeface="Open Sans"/>
                <a:ea typeface="Open Sans"/>
                <a:cs typeface="Open Sans"/>
                <a:sym typeface="Open Sans"/>
              </a:rPr>
              <a:t>Tambien se le puede indicar la cantidad de veces que debe repetirse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13886"/>
            </a:stretch>
          </a:blipFill>
          <a:ln>
            <a:noFill/>
          </a:ln>
        </p:spPr>
      </p:sp>
      <p:sp>
        <p:nvSpPr>
          <p:cNvPr id="234" name="Google Shape;234;p12"/>
          <p:cNvSpPr/>
          <p:nvPr/>
        </p:nvSpPr>
        <p:spPr>
          <a:xfrm>
            <a:off x="-1527222" y="0"/>
            <a:ext cx="14093462" cy="10287000"/>
          </a:xfrm>
          <a:custGeom>
            <a:rect b="b" l="l" r="r" t="t"/>
            <a:pathLst>
              <a:path extrusionOk="0" h="2462566" w="3373780">
                <a:moveTo>
                  <a:pt x="3249320" y="2462566"/>
                </a:moveTo>
                <a:lnTo>
                  <a:pt x="124460" y="2462566"/>
                </a:lnTo>
                <a:cubicBezTo>
                  <a:pt x="55880" y="2462566"/>
                  <a:pt x="0" y="2406686"/>
                  <a:pt x="0" y="2338106"/>
                </a:cubicBezTo>
                <a:lnTo>
                  <a:pt x="0" y="124460"/>
                </a:lnTo>
                <a:cubicBezTo>
                  <a:pt x="0" y="55880"/>
                  <a:pt x="55880" y="0"/>
                  <a:pt x="124460" y="0"/>
                </a:cubicBezTo>
                <a:lnTo>
                  <a:pt x="3249320" y="0"/>
                </a:lnTo>
                <a:cubicBezTo>
                  <a:pt x="3317900" y="0"/>
                  <a:pt x="3373780" y="55880"/>
                  <a:pt x="3373780" y="124460"/>
                </a:cubicBezTo>
                <a:lnTo>
                  <a:pt x="3373780" y="2338106"/>
                </a:lnTo>
                <a:cubicBezTo>
                  <a:pt x="3373780" y="2406686"/>
                  <a:pt x="3317900" y="2462566"/>
                  <a:pt x="3249320" y="2462566"/>
                </a:cubicBezTo>
                <a:close/>
              </a:path>
            </a:pathLst>
          </a:cu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4">
              <a:alphaModFix/>
            </a:blip>
            <a:stretch>
              <a:fillRect b="0" l="0" r="0" t="0"/>
            </a:stretch>
          </a:blipFill>
          <a:ln>
            <a:noFill/>
          </a:ln>
        </p:spPr>
      </p:sp>
      <p:sp>
        <p:nvSpPr>
          <p:cNvPr id="236" name="Google Shape;236;p12"/>
          <p:cNvSpPr txBox="1"/>
          <p:nvPr/>
        </p:nvSpPr>
        <p:spPr>
          <a:xfrm>
            <a:off x="672825" y="546744"/>
            <a:ext cx="12673005" cy="10305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7199" u="none" cap="none" strike="noStrike">
                <a:solidFill>
                  <a:srgbClr val="191919"/>
                </a:solidFill>
                <a:latin typeface="Arial"/>
                <a:ea typeface="Arial"/>
                <a:cs typeface="Arial"/>
                <a:sym typeface="Arial"/>
              </a:rPr>
              <a:t>Sentencias Condicionales</a:t>
            </a:r>
            <a:endParaRPr/>
          </a:p>
        </p:txBody>
      </p:sp>
      <p:sp>
        <p:nvSpPr>
          <p:cNvPr id="237" name="Google Shape;237;p12"/>
          <p:cNvSpPr txBox="1"/>
          <p:nvPr/>
        </p:nvSpPr>
        <p:spPr>
          <a:xfrm>
            <a:off x="672825" y="1837828"/>
            <a:ext cx="9824100" cy="7732200"/>
          </a:xfrm>
          <a:prstGeom prst="rect">
            <a:avLst/>
          </a:prstGeom>
          <a:noFill/>
          <a:ln>
            <a:noFill/>
          </a:ln>
        </p:spPr>
        <p:txBody>
          <a:bodyPr anchorCtr="0" anchor="t" bIns="0" lIns="0" spcFirstLastPara="1" rIns="0" wrap="square" tIns="0">
            <a:spAutoFit/>
          </a:bodyPr>
          <a:lstStyle/>
          <a:p>
            <a:pPr indent="0" lvl="0" marL="0" marR="0" rtl="0" algn="l">
              <a:lnSpc>
                <a:spcPct val="139985"/>
              </a:lnSpc>
              <a:spcBef>
                <a:spcPts val="0"/>
              </a:spcBef>
              <a:spcAft>
                <a:spcPts val="0"/>
              </a:spcAft>
              <a:buNone/>
            </a:pPr>
            <a:r>
              <a:rPr b="0" i="0" lang="en-US" sz="3693" u="none" cap="none" strike="noStrike">
                <a:solidFill>
                  <a:srgbClr val="191919"/>
                </a:solidFill>
                <a:latin typeface="Open Sans"/>
                <a:ea typeface="Open Sans"/>
                <a:cs typeface="Open Sans"/>
                <a:sym typeface="Open Sans"/>
              </a:rPr>
              <a:t>Exiten dos formas de alterar el flujo dependiendo de una condición. La idea básica es la de encontrarnos ante una bifurcación de un camino, en la que seguiremos por uno u otro camino dependiendo de la respuesta a una pregunta que se halla escrita en la bifurcación. Una variante de esto es que en lugar de dos posibilidades, se nos presenten más caminos por los que poder seguir.</a:t>
            </a:r>
            <a:endParaRPr sz="900"/>
          </a:p>
        </p:txBody>
      </p:sp>
      <p:grpSp>
        <p:nvGrpSpPr>
          <p:cNvPr id="238" name="Google Shape;238;p12"/>
          <p:cNvGrpSpPr/>
          <p:nvPr/>
        </p:nvGrpSpPr>
        <p:grpSpPr>
          <a:xfrm>
            <a:off x="10496802" y="3584532"/>
            <a:ext cx="8052747" cy="5972454"/>
            <a:chOff x="0" y="0"/>
            <a:chExt cx="13716000" cy="10172700"/>
          </a:xfrm>
        </p:grpSpPr>
        <p:sp>
          <p:nvSpPr>
            <p:cNvPr id="239" name="Google Shape;239;p12"/>
            <p:cNvSpPr/>
            <p:nvPr/>
          </p:nvSpPr>
          <p:spPr>
            <a:xfrm>
              <a:off x="0" y="0"/>
              <a:ext cx="13716000" cy="10172700"/>
            </a:xfrm>
            <a:custGeom>
              <a:rect b="b" l="l" r="r" t="t"/>
              <a:pathLst>
                <a:path extrusionOk="0" h="10172700" w="13716000">
                  <a:moveTo>
                    <a:pt x="0" y="0"/>
                  </a:moveTo>
                  <a:lnTo>
                    <a:pt x="13716000" y="0"/>
                  </a:lnTo>
                  <a:lnTo>
                    <a:pt x="13716000" y="10172700"/>
                  </a:lnTo>
                  <a:lnTo>
                    <a:pt x="0" y="10172700"/>
                  </a:lnTo>
                  <a:close/>
                </a:path>
              </a:pathLst>
            </a:custGeom>
            <a:blipFill rotWithShape="1">
              <a:blip r:embed="rId5">
                <a:alphaModFix/>
              </a:blip>
              <a:stretch>
                <a:fillRect b="-391" l="0" r="0" t="-392"/>
              </a:stretch>
            </a:blipFill>
            <a:ln>
              <a:noFill/>
            </a:ln>
          </p:spPr>
        </p:sp>
        <p:sp>
          <p:nvSpPr>
            <p:cNvPr id="240" name="Google Shape;240;p12"/>
            <p:cNvSpPr/>
            <p:nvPr/>
          </p:nvSpPr>
          <p:spPr>
            <a:xfrm>
              <a:off x="393700" y="615950"/>
              <a:ext cx="12941300" cy="9107742"/>
            </a:xfrm>
            <a:custGeom>
              <a:rect b="b" l="l" r="r" t="t"/>
              <a:pathLst>
                <a:path extrusionOk="0" h="9107742" w="12941300">
                  <a:moveTo>
                    <a:pt x="12815112" y="9107742"/>
                  </a:moveTo>
                  <a:lnTo>
                    <a:pt x="126187" y="9107742"/>
                  </a:lnTo>
                  <a:cubicBezTo>
                    <a:pt x="56502" y="9107742"/>
                    <a:pt x="0" y="9051252"/>
                    <a:pt x="0" y="8981555"/>
                  </a:cubicBezTo>
                  <a:lnTo>
                    <a:pt x="0" y="0"/>
                  </a:lnTo>
                  <a:lnTo>
                    <a:pt x="12941300" y="0"/>
                  </a:lnTo>
                  <a:lnTo>
                    <a:pt x="12941300" y="8981554"/>
                  </a:lnTo>
                  <a:cubicBezTo>
                    <a:pt x="12941300" y="9051239"/>
                    <a:pt x="12884810" y="9107742"/>
                    <a:pt x="12815112" y="9107742"/>
                  </a:cubicBezTo>
                  <a:close/>
                </a:path>
              </a:pathLst>
            </a:custGeom>
            <a:blipFill rotWithShape="1">
              <a:blip r:embed="rId6">
                <a:alphaModFix/>
              </a:blip>
              <a:stretch>
                <a:fillRect b="-1387" l="0" r="0" t="-1388"/>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3"/>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3">
              <a:alphaModFix/>
            </a:blip>
            <a:stretch>
              <a:fillRect b="0" l="0" r="0" t="0"/>
            </a:stretch>
          </a:blipFill>
          <a:ln>
            <a:noFill/>
          </a:ln>
        </p:spPr>
      </p:sp>
      <p:sp>
        <p:nvSpPr>
          <p:cNvPr id="246" name="Google Shape;246;p13"/>
          <p:cNvSpPr/>
          <p:nvPr/>
        </p:nvSpPr>
        <p:spPr>
          <a:xfrm>
            <a:off x="-545621" y="-319177"/>
            <a:ext cx="3140015" cy="10925355"/>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3"/>
          <p:cNvSpPr/>
          <p:nvPr/>
        </p:nvSpPr>
        <p:spPr>
          <a:xfrm>
            <a:off x="6310448" y="5832493"/>
            <a:ext cx="7556079" cy="4231404"/>
          </a:xfrm>
          <a:custGeom>
            <a:rect b="b" l="l" r="r" t="t"/>
            <a:pathLst>
              <a:path extrusionOk="0" h="4231404" w="7556079">
                <a:moveTo>
                  <a:pt x="0" y="0"/>
                </a:moveTo>
                <a:lnTo>
                  <a:pt x="7556079" y="0"/>
                </a:lnTo>
                <a:lnTo>
                  <a:pt x="7556079" y="4231404"/>
                </a:lnTo>
                <a:lnTo>
                  <a:pt x="0" y="4231404"/>
                </a:lnTo>
                <a:lnTo>
                  <a:pt x="0" y="0"/>
                </a:lnTo>
                <a:close/>
              </a:path>
            </a:pathLst>
          </a:custGeom>
          <a:blipFill rotWithShape="1">
            <a:blip r:embed="rId4">
              <a:alphaModFix/>
            </a:blip>
            <a:stretch>
              <a:fillRect b="0" l="0" r="0" t="0"/>
            </a:stretch>
          </a:blipFill>
          <a:ln>
            <a:noFill/>
          </a:ln>
        </p:spPr>
      </p:sp>
      <p:sp>
        <p:nvSpPr>
          <p:cNvPr id="248" name="Google Shape;248;p13"/>
          <p:cNvSpPr txBox="1"/>
          <p:nvPr/>
        </p:nvSpPr>
        <p:spPr>
          <a:xfrm>
            <a:off x="3462067" y="1287374"/>
            <a:ext cx="12673005" cy="10305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7199" u="none" cap="none" strike="noStrike">
                <a:solidFill>
                  <a:srgbClr val="191919"/>
                </a:solidFill>
                <a:latin typeface="Arial"/>
                <a:ea typeface="Arial"/>
                <a:cs typeface="Arial"/>
                <a:sym typeface="Arial"/>
              </a:rPr>
              <a:t>If Simple</a:t>
            </a:r>
            <a:endParaRPr/>
          </a:p>
        </p:txBody>
      </p:sp>
      <p:sp>
        <p:nvSpPr>
          <p:cNvPr id="249" name="Google Shape;249;p13"/>
          <p:cNvSpPr txBox="1"/>
          <p:nvPr/>
        </p:nvSpPr>
        <p:spPr>
          <a:xfrm>
            <a:off x="3462067" y="2753360"/>
            <a:ext cx="14825933" cy="272020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900" u="none" cap="none" strike="noStrike">
                <a:solidFill>
                  <a:srgbClr val="191919"/>
                </a:solidFill>
                <a:latin typeface="Open Sans Light"/>
                <a:ea typeface="Open Sans Light"/>
                <a:cs typeface="Open Sans Light"/>
                <a:sym typeface="Open Sans Light"/>
              </a:rPr>
              <a:t>Es la forma más elemental de control de flujo condicional. Una sentencia if evaluará primero su condición, y si se evalúa como true ejecutará la sentencia o bloque de sentencias que se encuentre justo después de la condición.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4"/>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3">
              <a:alphaModFix/>
            </a:blip>
            <a:stretch>
              <a:fillRect b="0" l="0" r="0" t="0"/>
            </a:stretch>
          </a:blipFill>
          <a:ln>
            <a:noFill/>
          </a:ln>
        </p:spPr>
      </p:sp>
      <p:sp>
        <p:nvSpPr>
          <p:cNvPr id="255" name="Google Shape;255;p14"/>
          <p:cNvSpPr/>
          <p:nvPr/>
        </p:nvSpPr>
        <p:spPr>
          <a:xfrm>
            <a:off x="-545621" y="-319177"/>
            <a:ext cx="3140015" cy="10925355"/>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4"/>
          <p:cNvSpPr txBox="1"/>
          <p:nvPr/>
        </p:nvSpPr>
        <p:spPr>
          <a:xfrm>
            <a:off x="3462067" y="1287374"/>
            <a:ext cx="12673005" cy="10305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7199" u="none" cap="none" strike="noStrike">
                <a:solidFill>
                  <a:srgbClr val="191919"/>
                </a:solidFill>
                <a:latin typeface="Arial"/>
                <a:ea typeface="Arial"/>
                <a:cs typeface="Arial"/>
                <a:sym typeface="Arial"/>
              </a:rPr>
              <a:t>If - Else</a:t>
            </a:r>
            <a:endParaRPr/>
          </a:p>
        </p:txBody>
      </p:sp>
      <p:sp>
        <p:nvSpPr>
          <p:cNvPr id="257" name="Google Shape;257;p14"/>
          <p:cNvSpPr/>
          <p:nvPr/>
        </p:nvSpPr>
        <p:spPr>
          <a:xfrm>
            <a:off x="6211896" y="2602759"/>
            <a:ext cx="9243689" cy="7532959"/>
          </a:xfrm>
          <a:custGeom>
            <a:rect b="b" l="l" r="r" t="t"/>
            <a:pathLst>
              <a:path extrusionOk="0" h="7532959" w="9243689">
                <a:moveTo>
                  <a:pt x="0" y="0"/>
                </a:moveTo>
                <a:lnTo>
                  <a:pt x="9243689" y="0"/>
                </a:lnTo>
                <a:lnTo>
                  <a:pt x="9243689" y="7532960"/>
                </a:lnTo>
                <a:lnTo>
                  <a:pt x="0" y="7532960"/>
                </a:lnTo>
                <a:lnTo>
                  <a:pt x="0" y="0"/>
                </a:lnTo>
                <a:close/>
              </a:path>
            </a:pathLst>
          </a:custGeom>
          <a:blipFill rotWithShape="1">
            <a:blip r:embed="rId4">
              <a:alphaModFix/>
            </a:blip>
            <a:stretch>
              <a:fillRect b="0" l="0" r="0" t="0"/>
            </a:stretch>
          </a:blipFill>
          <a:ln>
            <a:noFill/>
          </a:ln>
        </p:spPr>
      </p:sp>
      <p:sp>
        <p:nvSpPr>
          <p:cNvPr id="258" name="Google Shape;258;p14"/>
          <p:cNvSpPr txBox="1"/>
          <p:nvPr/>
        </p:nvSpPr>
        <p:spPr>
          <a:xfrm>
            <a:off x="3462067" y="2356061"/>
            <a:ext cx="12673005" cy="812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5600" u="none" cap="none" strike="noStrike">
                <a:solidFill>
                  <a:srgbClr val="191919"/>
                </a:solidFill>
                <a:latin typeface="Arial"/>
                <a:ea typeface="Arial"/>
                <a:cs typeface="Arial"/>
                <a:sym typeface="Arial"/>
              </a:rPr>
              <a:t>Diagrama de Flujo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5"/>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3">
              <a:alphaModFix/>
            </a:blip>
            <a:stretch>
              <a:fillRect b="0" l="0" r="0" t="0"/>
            </a:stretch>
          </a:blipFill>
          <a:ln>
            <a:noFill/>
          </a:ln>
        </p:spPr>
      </p:sp>
      <p:sp>
        <p:nvSpPr>
          <p:cNvPr id="264" name="Google Shape;264;p15"/>
          <p:cNvSpPr/>
          <p:nvPr/>
        </p:nvSpPr>
        <p:spPr>
          <a:xfrm>
            <a:off x="-545621" y="-319177"/>
            <a:ext cx="3140015" cy="10925355"/>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5"/>
          <p:cNvSpPr/>
          <p:nvPr/>
        </p:nvSpPr>
        <p:spPr>
          <a:xfrm>
            <a:off x="5986949" y="6364666"/>
            <a:ext cx="8773433" cy="3256120"/>
          </a:xfrm>
          <a:custGeom>
            <a:rect b="b" l="l" r="r" t="t"/>
            <a:pathLst>
              <a:path extrusionOk="0" h="3256120" w="8773433">
                <a:moveTo>
                  <a:pt x="0" y="0"/>
                </a:moveTo>
                <a:lnTo>
                  <a:pt x="8773434" y="0"/>
                </a:lnTo>
                <a:lnTo>
                  <a:pt x="8773434" y="3256120"/>
                </a:lnTo>
                <a:lnTo>
                  <a:pt x="0" y="3256120"/>
                </a:lnTo>
                <a:lnTo>
                  <a:pt x="0" y="0"/>
                </a:lnTo>
                <a:close/>
              </a:path>
            </a:pathLst>
          </a:custGeom>
          <a:blipFill rotWithShape="1">
            <a:blip r:embed="rId4">
              <a:alphaModFix/>
            </a:blip>
            <a:stretch>
              <a:fillRect b="0" l="0" r="0" t="0"/>
            </a:stretch>
          </a:blipFill>
          <a:ln>
            <a:noFill/>
          </a:ln>
        </p:spPr>
      </p:sp>
      <p:sp>
        <p:nvSpPr>
          <p:cNvPr id="266" name="Google Shape;266;p15"/>
          <p:cNvSpPr txBox="1"/>
          <p:nvPr/>
        </p:nvSpPr>
        <p:spPr>
          <a:xfrm>
            <a:off x="3462067" y="1287374"/>
            <a:ext cx="12673005" cy="10305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7199" u="none" cap="none" strike="noStrike">
                <a:solidFill>
                  <a:srgbClr val="191919"/>
                </a:solidFill>
                <a:latin typeface="Arial"/>
                <a:ea typeface="Arial"/>
                <a:cs typeface="Arial"/>
                <a:sym typeface="Arial"/>
              </a:rPr>
              <a:t>If - Else</a:t>
            </a:r>
            <a:endParaRPr/>
          </a:p>
        </p:txBody>
      </p:sp>
      <p:sp>
        <p:nvSpPr>
          <p:cNvPr id="267" name="Google Shape;267;p15"/>
          <p:cNvSpPr txBox="1"/>
          <p:nvPr/>
        </p:nvSpPr>
        <p:spPr>
          <a:xfrm>
            <a:off x="3462067" y="2527556"/>
            <a:ext cx="14518831" cy="340614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900" u="none" cap="none" strike="noStrike">
                <a:solidFill>
                  <a:srgbClr val="191919"/>
                </a:solidFill>
                <a:latin typeface="Open Sans Light"/>
                <a:ea typeface="Open Sans Light"/>
                <a:cs typeface="Open Sans Light"/>
                <a:sym typeface="Open Sans Light"/>
              </a:rPr>
              <a:t>Si la condición se evalúa como false y existe una cláusula else, entonces se ejecutará la sentencia o bloque de sentencias que siguen al else. Esta parte es opcional. La única restricción que se impone a la expresión condicional es que sea una expresión válida de tipo booleano que se evalúe como true o como false.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6"/>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3">
              <a:alphaModFix/>
            </a:blip>
            <a:stretch>
              <a:fillRect b="0" l="0" r="0" t="0"/>
            </a:stretch>
          </a:blipFill>
          <a:ln>
            <a:noFill/>
          </a:ln>
        </p:spPr>
      </p:sp>
      <p:sp>
        <p:nvSpPr>
          <p:cNvPr id="273" name="Google Shape;273;p16"/>
          <p:cNvSpPr/>
          <p:nvPr/>
        </p:nvSpPr>
        <p:spPr>
          <a:xfrm>
            <a:off x="-545621" y="-319177"/>
            <a:ext cx="3140015" cy="10925355"/>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6"/>
          <p:cNvSpPr txBox="1"/>
          <p:nvPr/>
        </p:nvSpPr>
        <p:spPr>
          <a:xfrm>
            <a:off x="3462067" y="1287374"/>
            <a:ext cx="12673005" cy="10305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7199" u="none" cap="none" strike="noStrike">
                <a:solidFill>
                  <a:srgbClr val="191919"/>
                </a:solidFill>
                <a:latin typeface="Arial"/>
                <a:ea typeface="Arial"/>
                <a:cs typeface="Arial"/>
                <a:sym typeface="Arial"/>
              </a:rPr>
              <a:t>If - Else</a:t>
            </a:r>
            <a:endParaRPr/>
          </a:p>
        </p:txBody>
      </p:sp>
      <p:sp>
        <p:nvSpPr>
          <p:cNvPr id="275" name="Google Shape;275;p16"/>
          <p:cNvSpPr/>
          <p:nvPr/>
        </p:nvSpPr>
        <p:spPr>
          <a:xfrm>
            <a:off x="7961064" y="2638477"/>
            <a:ext cx="8494640" cy="7224978"/>
          </a:xfrm>
          <a:custGeom>
            <a:rect b="b" l="l" r="r" t="t"/>
            <a:pathLst>
              <a:path extrusionOk="0" h="7224978" w="8494640">
                <a:moveTo>
                  <a:pt x="0" y="0"/>
                </a:moveTo>
                <a:lnTo>
                  <a:pt x="8494639" y="0"/>
                </a:lnTo>
                <a:lnTo>
                  <a:pt x="8494639" y="7224978"/>
                </a:lnTo>
                <a:lnTo>
                  <a:pt x="0" y="7224978"/>
                </a:lnTo>
                <a:lnTo>
                  <a:pt x="0" y="0"/>
                </a:lnTo>
                <a:close/>
              </a:path>
            </a:pathLst>
          </a:custGeom>
          <a:blipFill rotWithShape="1">
            <a:blip r:embed="rId4">
              <a:alphaModFix/>
            </a:blip>
            <a:stretch>
              <a:fillRect b="0" l="0" r="0" t="0"/>
            </a:stretch>
          </a:blipFill>
          <a:ln>
            <a:noFill/>
          </a:ln>
        </p:spPr>
      </p:sp>
      <p:sp>
        <p:nvSpPr>
          <p:cNvPr id="276" name="Google Shape;276;p16"/>
          <p:cNvSpPr txBox="1"/>
          <p:nvPr/>
        </p:nvSpPr>
        <p:spPr>
          <a:xfrm>
            <a:off x="3462067" y="2356061"/>
            <a:ext cx="12673005" cy="812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5600" u="none" cap="none" strike="noStrike">
                <a:solidFill>
                  <a:srgbClr val="191919"/>
                </a:solidFill>
                <a:latin typeface="Arial"/>
                <a:ea typeface="Arial"/>
                <a:cs typeface="Arial"/>
                <a:sym typeface="Arial"/>
              </a:rPr>
              <a:t>Diagrama de Flujo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7"/>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3">
              <a:alphaModFix/>
            </a:blip>
            <a:stretch>
              <a:fillRect b="0" l="0" r="0" t="0"/>
            </a:stretch>
          </a:blipFill>
          <a:ln>
            <a:noFill/>
          </a:ln>
        </p:spPr>
      </p:sp>
      <p:sp>
        <p:nvSpPr>
          <p:cNvPr id="282" name="Google Shape;282;p17"/>
          <p:cNvSpPr/>
          <p:nvPr/>
        </p:nvSpPr>
        <p:spPr>
          <a:xfrm>
            <a:off x="-545621" y="-319177"/>
            <a:ext cx="3140015" cy="10925355"/>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7"/>
          <p:cNvSpPr/>
          <p:nvPr/>
        </p:nvSpPr>
        <p:spPr>
          <a:xfrm>
            <a:off x="3807854" y="3348669"/>
            <a:ext cx="13451446" cy="5909631"/>
          </a:xfrm>
          <a:custGeom>
            <a:rect b="b" l="l" r="r" t="t"/>
            <a:pathLst>
              <a:path extrusionOk="0" h="5909631" w="13451446">
                <a:moveTo>
                  <a:pt x="0" y="0"/>
                </a:moveTo>
                <a:lnTo>
                  <a:pt x="13451446" y="0"/>
                </a:lnTo>
                <a:lnTo>
                  <a:pt x="13451446" y="5909631"/>
                </a:lnTo>
                <a:lnTo>
                  <a:pt x="0" y="5909631"/>
                </a:lnTo>
                <a:lnTo>
                  <a:pt x="0" y="0"/>
                </a:lnTo>
                <a:close/>
              </a:path>
            </a:pathLst>
          </a:custGeom>
          <a:blipFill rotWithShape="1">
            <a:blip r:embed="rId4">
              <a:alphaModFix/>
            </a:blip>
            <a:stretch>
              <a:fillRect b="0" l="0" r="0" t="0"/>
            </a:stretch>
          </a:blipFill>
          <a:ln>
            <a:noFill/>
          </a:ln>
        </p:spPr>
      </p:sp>
      <p:sp>
        <p:nvSpPr>
          <p:cNvPr id="284" name="Google Shape;284;p17"/>
          <p:cNvSpPr txBox="1"/>
          <p:nvPr/>
        </p:nvSpPr>
        <p:spPr>
          <a:xfrm>
            <a:off x="3462067" y="1287374"/>
            <a:ext cx="12673005" cy="10305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7199" u="none" cap="none" strike="noStrike">
                <a:solidFill>
                  <a:srgbClr val="191919"/>
                </a:solidFill>
                <a:latin typeface="Arial"/>
                <a:ea typeface="Arial"/>
                <a:cs typeface="Arial"/>
                <a:sym typeface="Arial"/>
              </a:rPr>
              <a:t>If - Else</a:t>
            </a:r>
            <a:endParaRPr/>
          </a:p>
        </p:txBody>
      </p:sp>
      <p:sp>
        <p:nvSpPr>
          <p:cNvPr id="285" name="Google Shape;285;p17"/>
          <p:cNvSpPr txBox="1"/>
          <p:nvPr/>
        </p:nvSpPr>
        <p:spPr>
          <a:xfrm>
            <a:off x="3462067" y="2356061"/>
            <a:ext cx="12673005" cy="80899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5600" u="none" cap="none" strike="noStrike">
                <a:solidFill>
                  <a:srgbClr val="191919"/>
                </a:solidFill>
                <a:latin typeface="Arial"/>
                <a:ea typeface="Arial"/>
                <a:cs typeface="Arial"/>
                <a:sym typeface="Arial"/>
              </a:rPr>
              <a:t>Sintaxis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8"/>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3">
              <a:alphaModFix/>
            </a:blip>
            <a:stretch>
              <a:fillRect b="0" l="0" r="0" t="0"/>
            </a:stretch>
          </a:blipFill>
          <a:ln>
            <a:noFill/>
          </a:ln>
        </p:spPr>
      </p:sp>
      <p:sp>
        <p:nvSpPr>
          <p:cNvPr id="291" name="Google Shape;291;p18"/>
          <p:cNvSpPr/>
          <p:nvPr/>
        </p:nvSpPr>
        <p:spPr>
          <a:xfrm>
            <a:off x="-545621" y="-319177"/>
            <a:ext cx="3140015" cy="10925355"/>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8"/>
          <p:cNvSpPr/>
          <p:nvPr/>
        </p:nvSpPr>
        <p:spPr>
          <a:xfrm>
            <a:off x="6953912" y="4814125"/>
            <a:ext cx="5689316" cy="5472875"/>
          </a:xfrm>
          <a:custGeom>
            <a:rect b="b" l="l" r="r" t="t"/>
            <a:pathLst>
              <a:path extrusionOk="0" h="5472875" w="5689316">
                <a:moveTo>
                  <a:pt x="0" y="0"/>
                </a:moveTo>
                <a:lnTo>
                  <a:pt x="5689316" y="0"/>
                </a:lnTo>
                <a:lnTo>
                  <a:pt x="5689316" y="5472875"/>
                </a:lnTo>
                <a:lnTo>
                  <a:pt x="0" y="5472875"/>
                </a:lnTo>
                <a:lnTo>
                  <a:pt x="0" y="0"/>
                </a:lnTo>
                <a:close/>
              </a:path>
            </a:pathLst>
          </a:custGeom>
          <a:blipFill rotWithShape="1">
            <a:blip r:embed="rId4">
              <a:alphaModFix/>
            </a:blip>
            <a:stretch>
              <a:fillRect b="0" l="0" r="0" t="0"/>
            </a:stretch>
          </a:blipFill>
          <a:ln>
            <a:noFill/>
          </a:ln>
        </p:spPr>
      </p:sp>
      <p:sp>
        <p:nvSpPr>
          <p:cNvPr id="293" name="Google Shape;293;p18"/>
          <p:cNvSpPr txBox="1"/>
          <p:nvPr/>
        </p:nvSpPr>
        <p:spPr>
          <a:xfrm>
            <a:off x="3462067" y="1287374"/>
            <a:ext cx="12673005" cy="10305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7199" u="none" cap="none" strike="noStrike">
                <a:solidFill>
                  <a:srgbClr val="191919"/>
                </a:solidFill>
                <a:latin typeface="Arial"/>
                <a:ea typeface="Arial"/>
                <a:cs typeface="Arial"/>
                <a:sym typeface="Arial"/>
              </a:rPr>
              <a:t>If - Else</a:t>
            </a:r>
            <a:endParaRPr/>
          </a:p>
        </p:txBody>
      </p:sp>
      <p:sp>
        <p:nvSpPr>
          <p:cNvPr id="294" name="Google Shape;294;p18"/>
          <p:cNvSpPr txBox="1"/>
          <p:nvPr/>
        </p:nvSpPr>
        <p:spPr>
          <a:xfrm>
            <a:off x="3462067" y="2356061"/>
            <a:ext cx="12673005" cy="80899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5600" u="none" cap="none" strike="noStrike">
                <a:solidFill>
                  <a:srgbClr val="191919"/>
                </a:solidFill>
                <a:latin typeface="Arial"/>
                <a:ea typeface="Arial"/>
                <a:cs typeface="Arial"/>
                <a:sym typeface="Arial"/>
              </a:rPr>
              <a:t>Ejemplo</a:t>
            </a:r>
            <a:endParaRPr/>
          </a:p>
        </p:txBody>
      </p:sp>
      <p:sp>
        <p:nvSpPr>
          <p:cNvPr id="295" name="Google Shape;295;p18"/>
          <p:cNvSpPr txBox="1"/>
          <p:nvPr/>
        </p:nvSpPr>
        <p:spPr>
          <a:xfrm>
            <a:off x="3462067" y="3498321"/>
            <a:ext cx="9975949" cy="88709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200" u="none" cap="none" strike="noStrike">
                <a:solidFill>
                  <a:srgbClr val="191919"/>
                </a:solidFill>
                <a:latin typeface="Open Sans"/>
                <a:ea typeface="Open Sans"/>
                <a:cs typeface="Open Sans"/>
                <a:sym typeface="Open Sans"/>
              </a:rPr>
              <a:t>Se elige el mayor de dos enteros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9"/>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3">
              <a:alphaModFix/>
            </a:blip>
            <a:stretch>
              <a:fillRect b="0" l="0" r="0" t="0"/>
            </a:stretch>
          </a:blipFill>
          <a:ln>
            <a:noFill/>
          </a:ln>
        </p:spPr>
      </p:sp>
      <p:sp>
        <p:nvSpPr>
          <p:cNvPr id="301" name="Google Shape;301;p19"/>
          <p:cNvSpPr/>
          <p:nvPr/>
        </p:nvSpPr>
        <p:spPr>
          <a:xfrm>
            <a:off x="-545621" y="-319177"/>
            <a:ext cx="3140015" cy="10925355"/>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9"/>
          <p:cNvSpPr/>
          <p:nvPr/>
        </p:nvSpPr>
        <p:spPr>
          <a:xfrm>
            <a:off x="5227139" y="4910182"/>
            <a:ext cx="10029246" cy="4988774"/>
          </a:xfrm>
          <a:custGeom>
            <a:rect b="b" l="l" r="r" t="t"/>
            <a:pathLst>
              <a:path extrusionOk="0" h="4988774" w="10029246">
                <a:moveTo>
                  <a:pt x="0" y="0"/>
                </a:moveTo>
                <a:lnTo>
                  <a:pt x="10029246" y="0"/>
                </a:lnTo>
                <a:lnTo>
                  <a:pt x="10029246" y="4988775"/>
                </a:lnTo>
                <a:lnTo>
                  <a:pt x="0" y="4988775"/>
                </a:lnTo>
                <a:lnTo>
                  <a:pt x="0" y="0"/>
                </a:lnTo>
                <a:close/>
              </a:path>
            </a:pathLst>
          </a:custGeom>
          <a:blipFill rotWithShape="1">
            <a:blip r:embed="rId4">
              <a:alphaModFix/>
            </a:blip>
            <a:stretch>
              <a:fillRect b="0" l="0" r="0" t="0"/>
            </a:stretch>
          </a:blipFill>
          <a:ln>
            <a:noFill/>
          </a:ln>
        </p:spPr>
      </p:sp>
      <p:sp>
        <p:nvSpPr>
          <p:cNvPr id="303" name="Google Shape;303;p19"/>
          <p:cNvSpPr txBox="1"/>
          <p:nvPr/>
        </p:nvSpPr>
        <p:spPr>
          <a:xfrm>
            <a:off x="3462067" y="1287374"/>
            <a:ext cx="12673005" cy="10305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7199" u="none" cap="none" strike="noStrike">
                <a:solidFill>
                  <a:srgbClr val="191919"/>
                </a:solidFill>
                <a:latin typeface="Arial"/>
                <a:ea typeface="Arial"/>
                <a:cs typeface="Arial"/>
                <a:sym typeface="Arial"/>
              </a:rPr>
              <a:t>If - Else</a:t>
            </a:r>
            <a:endParaRPr/>
          </a:p>
        </p:txBody>
      </p:sp>
      <p:sp>
        <p:nvSpPr>
          <p:cNvPr id="304" name="Google Shape;304;p19"/>
          <p:cNvSpPr txBox="1"/>
          <p:nvPr/>
        </p:nvSpPr>
        <p:spPr>
          <a:xfrm>
            <a:off x="3462067" y="2356061"/>
            <a:ext cx="12673005" cy="80899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5600" u="none" cap="none" strike="noStrike">
                <a:solidFill>
                  <a:srgbClr val="191919"/>
                </a:solidFill>
                <a:latin typeface="Arial"/>
                <a:ea typeface="Arial"/>
                <a:cs typeface="Arial"/>
                <a:sym typeface="Arial"/>
              </a:rPr>
              <a:t>Ejemplo</a:t>
            </a:r>
            <a:endParaRPr/>
          </a:p>
        </p:txBody>
      </p:sp>
      <p:sp>
        <p:nvSpPr>
          <p:cNvPr id="305" name="Google Shape;305;p19"/>
          <p:cNvSpPr txBox="1"/>
          <p:nvPr/>
        </p:nvSpPr>
        <p:spPr>
          <a:xfrm>
            <a:off x="3224223" y="3098376"/>
            <a:ext cx="14035077" cy="1445613"/>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None/>
            </a:pPr>
            <a:r>
              <a:rPr b="0" i="0" lang="en-US" sz="4211" u="none" cap="none" strike="noStrike">
                <a:solidFill>
                  <a:srgbClr val="191919"/>
                </a:solidFill>
                <a:latin typeface="Open Sans"/>
                <a:ea typeface="Open Sans"/>
                <a:cs typeface="Open Sans"/>
                <a:sym typeface="Open Sans"/>
              </a:rPr>
              <a:t>Un ejemplo de condicional sin parte else es el siguiente, donde se imprime si un número es par o impar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0"/>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3">
              <a:alphaModFix/>
            </a:blip>
            <a:stretch>
              <a:fillRect b="0" l="0" r="0" t="0"/>
            </a:stretch>
          </a:blipFill>
          <a:ln>
            <a:noFill/>
          </a:ln>
        </p:spPr>
      </p:sp>
      <p:sp>
        <p:nvSpPr>
          <p:cNvPr id="311" name="Google Shape;311;p20"/>
          <p:cNvSpPr/>
          <p:nvPr/>
        </p:nvSpPr>
        <p:spPr>
          <a:xfrm>
            <a:off x="-545621" y="-319177"/>
            <a:ext cx="3140015" cy="10925355"/>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0"/>
          <p:cNvSpPr/>
          <p:nvPr/>
        </p:nvSpPr>
        <p:spPr>
          <a:xfrm>
            <a:off x="10904395" y="3165051"/>
            <a:ext cx="6832325" cy="6482639"/>
          </a:xfrm>
          <a:custGeom>
            <a:rect b="b" l="l" r="r" t="t"/>
            <a:pathLst>
              <a:path extrusionOk="0" h="6482639" w="6832325">
                <a:moveTo>
                  <a:pt x="0" y="0"/>
                </a:moveTo>
                <a:lnTo>
                  <a:pt x="6832325" y="0"/>
                </a:lnTo>
                <a:lnTo>
                  <a:pt x="6832325" y="6482639"/>
                </a:lnTo>
                <a:lnTo>
                  <a:pt x="0" y="6482639"/>
                </a:lnTo>
                <a:lnTo>
                  <a:pt x="0" y="0"/>
                </a:lnTo>
                <a:close/>
              </a:path>
            </a:pathLst>
          </a:custGeom>
          <a:blipFill rotWithShape="1">
            <a:blip r:embed="rId4">
              <a:alphaModFix/>
            </a:blip>
            <a:stretch>
              <a:fillRect b="0" l="0" r="0" t="0"/>
            </a:stretch>
          </a:blipFill>
          <a:ln>
            <a:noFill/>
          </a:ln>
        </p:spPr>
      </p:sp>
      <p:sp>
        <p:nvSpPr>
          <p:cNvPr id="313" name="Google Shape;313;p20"/>
          <p:cNvSpPr txBox="1"/>
          <p:nvPr/>
        </p:nvSpPr>
        <p:spPr>
          <a:xfrm>
            <a:off x="3462067" y="1287374"/>
            <a:ext cx="12673005" cy="102917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7199" u="none" cap="none" strike="noStrike">
                <a:solidFill>
                  <a:srgbClr val="191919"/>
                </a:solidFill>
                <a:latin typeface="Arial"/>
                <a:ea typeface="Arial"/>
                <a:cs typeface="Arial"/>
                <a:sym typeface="Arial"/>
              </a:rPr>
              <a:t>If - Else-If</a:t>
            </a:r>
            <a:endParaRPr/>
          </a:p>
        </p:txBody>
      </p:sp>
      <p:sp>
        <p:nvSpPr>
          <p:cNvPr id="314" name="Google Shape;314;p20"/>
          <p:cNvSpPr txBox="1"/>
          <p:nvPr/>
        </p:nvSpPr>
        <p:spPr>
          <a:xfrm>
            <a:off x="3462067" y="2356061"/>
            <a:ext cx="12673005" cy="80899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5600" u="none" cap="none" strike="noStrike">
                <a:solidFill>
                  <a:srgbClr val="191919"/>
                </a:solidFill>
                <a:latin typeface="Arial"/>
                <a:ea typeface="Arial"/>
                <a:cs typeface="Arial"/>
                <a:sym typeface="Arial"/>
              </a:rPr>
              <a:t>Ejemplo</a:t>
            </a:r>
            <a:endParaRPr/>
          </a:p>
        </p:txBody>
      </p:sp>
      <p:sp>
        <p:nvSpPr>
          <p:cNvPr id="315" name="Google Shape;315;p20"/>
          <p:cNvSpPr txBox="1"/>
          <p:nvPr/>
        </p:nvSpPr>
        <p:spPr>
          <a:xfrm>
            <a:off x="3224223" y="3079326"/>
            <a:ext cx="7143165" cy="652132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4629" u="none" cap="none" strike="noStrike">
                <a:solidFill>
                  <a:srgbClr val="191919"/>
                </a:solidFill>
                <a:latin typeface="Open Sans"/>
                <a:ea typeface="Open Sans"/>
                <a:cs typeface="Open Sans"/>
                <a:sym typeface="Open Sans"/>
              </a:rPr>
              <a:t>Es posible construir una serie de comprobaciones uniendo un if a la cláusula else de un if anterior. Por ejemplo, el siguiente trozo de código muestra una calificación dada una nota numérica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1"/>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3">
              <a:alphaModFix/>
            </a:blip>
            <a:stretch>
              <a:fillRect b="0" l="0" r="0" t="0"/>
            </a:stretch>
          </a:blipFill>
          <a:ln>
            <a:noFill/>
          </a:ln>
        </p:spPr>
      </p:sp>
      <p:sp>
        <p:nvSpPr>
          <p:cNvPr id="321" name="Google Shape;321;p21"/>
          <p:cNvSpPr/>
          <p:nvPr/>
        </p:nvSpPr>
        <p:spPr>
          <a:xfrm>
            <a:off x="-545621" y="-319177"/>
            <a:ext cx="3140015" cy="10925355"/>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1"/>
          <p:cNvSpPr/>
          <p:nvPr/>
        </p:nvSpPr>
        <p:spPr>
          <a:xfrm>
            <a:off x="7861109" y="407747"/>
            <a:ext cx="10246089" cy="9879253"/>
          </a:xfrm>
          <a:custGeom>
            <a:rect b="b" l="l" r="r" t="t"/>
            <a:pathLst>
              <a:path extrusionOk="0" h="9879253" w="10246089">
                <a:moveTo>
                  <a:pt x="0" y="0"/>
                </a:moveTo>
                <a:lnTo>
                  <a:pt x="10246089" y="0"/>
                </a:lnTo>
                <a:lnTo>
                  <a:pt x="10246089" y="9879253"/>
                </a:lnTo>
                <a:lnTo>
                  <a:pt x="0" y="9879253"/>
                </a:lnTo>
                <a:lnTo>
                  <a:pt x="0" y="0"/>
                </a:lnTo>
                <a:close/>
              </a:path>
            </a:pathLst>
          </a:custGeom>
          <a:blipFill rotWithShape="1">
            <a:blip r:embed="rId4">
              <a:alphaModFix/>
            </a:blip>
            <a:stretch>
              <a:fillRect b="-3167" l="0" r="0" t="0"/>
            </a:stretch>
          </a:blipFill>
          <a:ln>
            <a:noFill/>
          </a:ln>
        </p:spPr>
      </p:sp>
      <p:sp>
        <p:nvSpPr>
          <p:cNvPr id="323" name="Google Shape;323;p21"/>
          <p:cNvSpPr txBox="1"/>
          <p:nvPr/>
        </p:nvSpPr>
        <p:spPr>
          <a:xfrm>
            <a:off x="3462067" y="1287374"/>
            <a:ext cx="12673005" cy="102917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7199" u="none" cap="none" strike="noStrike">
                <a:solidFill>
                  <a:srgbClr val="191919"/>
                </a:solidFill>
                <a:latin typeface="Arial"/>
                <a:ea typeface="Arial"/>
                <a:cs typeface="Arial"/>
                <a:sym typeface="Arial"/>
              </a:rPr>
              <a:t>If - Else - If</a:t>
            </a:r>
            <a:endParaRPr/>
          </a:p>
        </p:txBody>
      </p:sp>
      <p:sp>
        <p:nvSpPr>
          <p:cNvPr id="324" name="Google Shape;324;p21"/>
          <p:cNvSpPr txBox="1"/>
          <p:nvPr/>
        </p:nvSpPr>
        <p:spPr>
          <a:xfrm>
            <a:off x="3462067" y="2356061"/>
            <a:ext cx="12673005" cy="812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5600" u="none" cap="none" strike="noStrike">
                <a:solidFill>
                  <a:srgbClr val="191919"/>
                </a:solidFill>
                <a:latin typeface="Arial"/>
                <a:ea typeface="Arial"/>
                <a:cs typeface="Arial"/>
                <a:sym typeface="Arial"/>
              </a:rPr>
              <a:t>Diagrama de Flujo</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2"/>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3">
              <a:alphaModFix/>
            </a:blip>
            <a:stretch>
              <a:fillRect b="0" l="0" r="0" t="0"/>
            </a:stretch>
          </a:blipFill>
          <a:ln>
            <a:noFill/>
          </a:ln>
        </p:spPr>
      </p:sp>
      <p:sp>
        <p:nvSpPr>
          <p:cNvPr id="330" name="Google Shape;330;p22"/>
          <p:cNvSpPr/>
          <p:nvPr/>
        </p:nvSpPr>
        <p:spPr>
          <a:xfrm>
            <a:off x="-545621" y="-319177"/>
            <a:ext cx="3140015" cy="10925355"/>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2"/>
          <p:cNvSpPr/>
          <p:nvPr/>
        </p:nvSpPr>
        <p:spPr>
          <a:xfrm>
            <a:off x="2594394" y="0"/>
            <a:ext cx="13101954" cy="10287000"/>
          </a:xfrm>
          <a:custGeom>
            <a:rect b="b" l="l" r="r" t="t"/>
            <a:pathLst>
              <a:path extrusionOk="0" h="10287000" w="13101954">
                <a:moveTo>
                  <a:pt x="0" y="0"/>
                </a:moveTo>
                <a:lnTo>
                  <a:pt x="13101954" y="0"/>
                </a:lnTo>
                <a:lnTo>
                  <a:pt x="13101954" y="10287000"/>
                </a:lnTo>
                <a:lnTo>
                  <a:pt x="0" y="1028700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3"/>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3">
              <a:alphaModFix/>
            </a:blip>
            <a:stretch>
              <a:fillRect b="0" l="0" r="0" t="0"/>
            </a:stretch>
          </a:blipFill>
          <a:ln>
            <a:noFill/>
          </a:ln>
        </p:spPr>
      </p:sp>
      <p:sp>
        <p:nvSpPr>
          <p:cNvPr id="337" name="Google Shape;337;p23"/>
          <p:cNvSpPr/>
          <p:nvPr/>
        </p:nvSpPr>
        <p:spPr>
          <a:xfrm>
            <a:off x="-545621" y="-319177"/>
            <a:ext cx="3140015" cy="10925355"/>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3"/>
          <p:cNvSpPr/>
          <p:nvPr/>
        </p:nvSpPr>
        <p:spPr>
          <a:xfrm>
            <a:off x="7668399" y="4885230"/>
            <a:ext cx="4714689" cy="5088541"/>
          </a:xfrm>
          <a:custGeom>
            <a:rect b="b" l="l" r="r" t="t"/>
            <a:pathLst>
              <a:path extrusionOk="0" h="5088541" w="4714689">
                <a:moveTo>
                  <a:pt x="0" y="0"/>
                </a:moveTo>
                <a:lnTo>
                  <a:pt x="4714688" y="0"/>
                </a:lnTo>
                <a:lnTo>
                  <a:pt x="4714688" y="5088540"/>
                </a:lnTo>
                <a:lnTo>
                  <a:pt x="0" y="5088540"/>
                </a:lnTo>
                <a:lnTo>
                  <a:pt x="0" y="0"/>
                </a:lnTo>
                <a:close/>
              </a:path>
            </a:pathLst>
          </a:custGeom>
          <a:blipFill rotWithShape="1">
            <a:blip r:embed="rId4">
              <a:alphaModFix/>
            </a:blip>
            <a:stretch>
              <a:fillRect b="0" l="0" r="0" t="0"/>
            </a:stretch>
          </a:blipFill>
          <a:ln>
            <a:noFill/>
          </a:ln>
        </p:spPr>
      </p:sp>
      <p:sp>
        <p:nvSpPr>
          <p:cNvPr id="339" name="Google Shape;339;p23"/>
          <p:cNvSpPr txBox="1"/>
          <p:nvPr/>
        </p:nvSpPr>
        <p:spPr>
          <a:xfrm>
            <a:off x="3462067" y="1287374"/>
            <a:ext cx="12673005" cy="102917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7199" u="none" cap="none" strike="noStrike">
                <a:solidFill>
                  <a:srgbClr val="191919"/>
                </a:solidFill>
                <a:latin typeface="Arial"/>
                <a:ea typeface="Arial"/>
                <a:cs typeface="Arial"/>
                <a:sym typeface="Arial"/>
              </a:rPr>
              <a:t>Select - Case</a:t>
            </a:r>
            <a:endParaRPr/>
          </a:p>
        </p:txBody>
      </p:sp>
      <p:sp>
        <p:nvSpPr>
          <p:cNvPr id="340" name="Google Shape;340;p23"/>
          <p:cNvSpPr txBox="1"/>
          <p:nvPr/>
        </p:nvSpPr>
        <p:spPr>
          <a:xfrm>
            <a:off x="3462067" y="2762885"/>
            <a:ext cx="14518831" cy="2380615"/>
          </a:xfrm>
          <a:prstGeom prst="rect">
            <a:avLst/>
          </a:prstGeom>
          <a:noFill/>
          <a:ln>
            <a:noFill/>
          </a:ln>
        </p:spPr>
        <p:txBody>
          <a:bodyPr anchorCtr="0" anchor="t" bIns="0" lIns="0" spcFirstLastPara="1" rIns="0" wrap="square" tIns="0">
            <a:spAutoFit/>
          </a:bodyPr>
          <a:lstStyle/>
          <a:p>
            <a:pPr indent="0" lvl="0" marL="0" marR="0" rtl="0" algn="l">
              <a:lnSpc>
                <a:spcPct val="139970"/>
              </a:lnSpc>
              <a:spcBef>
                <a:spcPts val="0"/>
              </a:spcBef>
              <a:spcAft>
                <a:spcPts val="0"/>
              </a:spcAft>
              <a:buNone/>
            </a:pPr>
            <a:r>
              <a:rPr b="0" i="0" lang="en-US" sz="3400" u="none" cap="none" strike="noStrike">
                <a:solidFill>
                  <a:srgbClr val="191919"/>
                </a:solidFill>
                <a:latin typeface="Open Sans Light"/>
                <a:ea typeface="Open Sans Light"/>
                <a:cs typeface="Open Sans Light"/>
                <a:sym typeface="Open Sans Light"/>
              </a:rPr>
              <a:t>Mediante esta instrucción establecemos una serie de casos que se podrían cumplir para el valor de una expresión o variable, y en función del valor de la variable se ejecutarán una serie de instrucciones asociadas u otra.</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4"/>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3">
              <a:alphaModFix/>
            </a:blip>
            <a:stretch>
              <a:fillRect b="0" l="0" r="0" t="0"/>
            </a:stretch>
          </a:blipFill>
          <a:ln>
            <a:noFill/>
          </a:ln>
        </p:spPr>
      </p:sp>
      <p:sp>
        <p:nvSpPr>
          <p:cNvPr id="346" name="Google Shape;346;p24"/>
          <p:cNvSpPr/>
          <p:nvPr/>
        </p:nvSpPr>
        <p:spPr>
          <a:xfrm>
            <a:off x="-545621" y="-319177"/>
            <a:ext cx="3140015" cy="10925355"/>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4"/>
          <p:cNvSpPr/>
          <p:nvPr/>
        </p:nvSpPr>
        <p:spPr>
          <a:xfrm>
            <a:off x="4238376" y="2280910"/>
            <a:ext cx="13020924" cy="7598129"/>
          </a:xfrm>
          <a:custGeom>
            <a:rect b="b" l="l" r="r" t="t"/>
            <a:pathLst>
              <a:path extrusionOk="0" h="7598129" w="13020924">
                <a:moveTo>
                  <a:pt x="0" y="0"/>
                </a:moveTo>
                <a:lnTo>
                  <a:pt x="13020924" y="0"/>
                </a:lnTo>
                <a:lnTo>
                  <a:pt x="13020924" y="7598129"/>
                </a:lnTo>
                <a:lnTo>
                  <a:pt x="0" y="7598129"/>
                </a:lnTo>
                <a:lnTo>
                  <a:pt x="0" y="0"/>
                </a:lnTo>
                <a:close/>
              </a:path>
            </a:pathLst>
          </a:custGeom>
          <a:blipFill rotWithShape="1">
            <a:blip r:embed="rId4">
              <a:alphaModFix/>
            </a:blip>
            <a:stretch>
              <a:fillRect b="0" l="0" r="0" t="0"/>
            </a:stretch>
          </a:blipFill>
          <a:ln>
            <a:noFill/>
          </a:ln>
        </p:spPr>
      </p:sp>
      <p:sp>
        <p:nvSpPr>
          <p:cNvPr id="348" name="Google Shape;348;p24"/>
          <p:cNvSpPr txBox="1"/>
          <p:nvPr/>
        </p:nvSpPr>
        <p:spPr>
          <a:xfrm>
            <a:off x="3462067" y="1287374"/>
            <a:ext cx="12673005" cy="102917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7199" u="none" cap="none" strike="noStrike">
                <a:solidFill>
                  <a:srgbClr val="191919"/>
                </a:solidFill>
                <a:latin typeface="Arial"/>
                <a:ea typeface="Arial"/>
                <a:cs typeface="Arial"/>
                <a:sym typeface="Arial"/>
              </a:rPr>
              <a:t>Select - Case</a:t>
            </a:r>
            <a:endParaRPr/>
          </a:p>
        </p:txBody>
      </p:sp>
      <p:sp>
        <p:nvSpPr>
          <p:cNvPr id="349" name="Google Shape;349;p24"/>
          <p:cNvSpPr txBox="1"/>
          <p:nvPr/>
        </p:nvSpPr>
        <p:spPr>
          <a:xfrm>
            <a:off x="3462067" y="2356061"/>
            <a:ext cx="12673005" cy="812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5600" u="none" cap="none" strike="noStrike">
                <a:solidFill>
                  <a:srgbClr val="191919"/>
                </a:solidFill>
                <a:latin typeface="Arial"/>
                <a:ea typeface="Arial"/>
                <a:cs typeface="Arial"/>
                <a:sym typeface="Arial"/>
              </a:rPr>
              <a:t>Diagrama de Flujo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5"/>
          <p:cNvSpPr/>
          <p:nvPr/>
        </p:nvSpPr>
        <p:spPr>
          <a:xfrm>
            <a:off x="16455703" y="865655"/>
            <a:ext cx="803597" cy="355044"/>
          </a:xfrm>
          <a:custGeom>
            <a:rect b="b" l="l" r="r" t="t"/>
            <a:pathLst>
              <a:path extrusionOk="0" h="355044" w="803597">
                <a:moveTo>
                  <a:pt x="0" y="0"/>
                </a:moveTo>
                <a:lnTo>
                  <a:pt x="803597" y="0"/>
                </a:lnTo>
                <a:lnTo>
                  <a:pt x="803597" y="355044"/>
                </a:lnTo>
                <a:lnTo>
                  <a:pt x="0" y="355044"/>
                </a:lnTo>
                <a:lnTo>
                  <a:pt x="0" y="0"/>
                </a:lnTo>
                <a:close/>
              </a:path>
            </a:pathLst>
          </a:custGeom>
          <a:blipFill rotWithShape="1">
            <a:blip r:embed="rId3">
              <a:alphaModFix/>
            </a:blip>
            <a:stretch>
              <a:fillRect b="0" l="0" r="0" t="0"/>
            </a:stretch>
          </a:blipFill>
          <a:ln>
            <a:noFill/>
          </a:ln>
        </p:spPr>
      </p:sp>
      <p:sp>
        <p:nvSpPr>
          <p:cNvPr id="355" name="Google Shape;355;p25"/>
          <p:cNvSpPr/>
          <p:nvPr/>
        </p:nvSpPr>
        <p:spPr>
          <a:xfrm>
            <a:off x="-545621" y="-319177"/>
            <a:ext cx="3140015" cy="10925355"/>
          </a:xfrm>
          <a:prstGeom prst="rect">
            <a:avLst/>
          </a:prstGeom>
          <a:solidFill>
            <a:srgbClr val="FEE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5"/>
          <p:cNvSpPr txBox="1"/>
          <p:nvPr/>
        </p:nvSpPr>
        <p:spPr>
          <a:xfrm>
            <a:off x="3462067" y="1287374"/>
            <a:ext cx="12673005" cy="102917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7199" u="none" cap="none" strike="noStrike">
                <a:solidFill>
                  <a:srgbClr val="191919"/>
                </a:solidFill>
                <a:latin typeface="Arial"/>
                <a:ea typeface="Arial"/>
                <a:cs typeface="Arial"/>
                <a:sym typeface="Arial"/>
              </a:rPr>
              <a:t>Select - Case</a:t>
            </a:r>
            <a:endParaRPr/>
          </a:p>
        </p:txBody>
      </p:sp>
      <p:sp>
        <p:nvSpPr>
          <p:cNvPr id="357" name="Google Shape;357;p25"/>
          <p:cNvSpPr txBox="1"/>
          <p:nvPr/>
        </p:nvSpPr>
        <p:spPr>
          <a:xfrm>
            <a:off x="3102839" y="2515235"/>
            <a:ext cx="14518831" cy="689102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91919"/>
                </a:solidFill>
                <a:latin typeface="Open Sans Light"/>
                <a:ea typeface="Open Sans Light"/>
                <a:cs typeface="Open Sans Light"/>
                <a:sym typeface="Open Sans Light"/>
              </a:rPr>
              <a:t>La expresión a evaluar puede ser un valor numérico o una cadena de texto. Sólo se puede evaluar una expresión y no múltiples expresiones. La evaluación de expresiones puede ser:</a:t>
            </a:r>
            <a:endParaRPr/>
          </a:p>
          <a:p>
            <a:pPr indent="0" lvl="0" marL="0" marR="0" rtl="0" algn="just">
              <a:lnSpc>
                <a:spcPct val="139966"/>
              </a:lnSpc>
              <a:spcBef>
                <a:spcPts val="0"/>
              </a:spcBef>
              <a:spcAft>
                <a:spcPts val="0"/>
              </a:spcAft>
              <a:buNone/>
            </a:pPr>
            <a:r>
              <a:t/>
            </a:r>
            <a:endParaRPr b="0" i="0" sz="3000" u="none" cap="none" strike="noStrike">
              <a:solidFill>
                <a:srgbClr val="191919"/>
              </a:solidFill>
              <a:latin typeface="Open Sans Light"/>
              <a:ea typeface="Open Sans Light"/>
              <a:cs typeface="Open Sans Light"/>
              <a:sym typeface="Open Sans Light"/>
            </a:endParaRPr>
          </a:p>
          <a:p>
            <a:pPr indent="-323849" lvl="1" marL="647699" marR="0" rtl="0" algn="just">
              <a:lnSpc>
                <a:spcPct val="140013"/>
              </a:lnSpc>
              <a:spcBef>
                <a:spcPts val="0"/>
              </a:spcBef>
              <a:spcAft>
                <a:spcPts val="0"/>
              </a:spcAft>
              <a:buClr>
                <a:srgbClr val="191919"/>
              </a:buClr>
              <a:buSzPts val="2999"/>
              <a:buFont typeface="Arial"/>
              <a:buChar char="•"/>
            </a:pPr>
            <a:r>
              <a:rPr b="1" i="0" lang="en-US" sz="2999" u="none" cap="none" strike="noStrike">
                <a:solidFill>
                  <a:srgbClr val="191919"/>
                </a:solidFill>
                <a:latin typeface="Open Sans"/>
                <a:ea typeface="Open Sans"/>
                <a:cs typeface="Open Sans"/>
                <a:sym typeface="Open Sans"/>
              </a:rPr>
              <a:t>De coincidencia:</a:t>
            </a:r>
            <a:r>
              <a:rPr b="0" i="0" lang="en-US" sz="2999" u="none" cap="none" strike="noStrike">
                <a:solidFill>
                  <a:srgbClr val="191919"/>
                </a:solidFill>
                <a:latin typeface="Open Sans Light"/>
                <a:ea typeface="Open Sans Light"/>
                <a:cs typeface="Open Sans Light"/>
                <a:sym typeface="Open Sans Light"/>
              </a:rPr>
              <a:t> por ejemplo, </a:t>
            </a:r>
            <a:r>
              <a:rPr b="1" i="0" lang="en-US" sz="2999" u="none" cap="none" strike="noStrike">
                <a:solidFill>
                  <a:srgbClr val="191919"/>
                </a:solidFill>
                <a:latin typeface="Open Sans"/>
                <a:ea typeface="Open Sans"/>
                <a:cs typeface="Open Sans"/>
                <a:sym typeface="Open Sans"/>
              </a:rPr>
              <a:t>Case 12</a:t>
            </a:r>
            <a:r>
              <a:rPr b="0" i="0" lang="en-US" sz="2999" u="none" cap="none" strike="noStrike">
                <a:solidFill>
                  <a:srgbClr val="191919"/>
                </a:solidFill>
                <a:latin typeface="Open Sans Light"/>
                <a:ea typeface="Open Sans Light"/>
                <a:cs typeface="Open Sans Light"/>
                <a:sym typeface="Open Sans Light"/>
              </a:rPr>
              <a:t> indicaría que si la expresión evaluada vale 12 se ejecutarán las instrucciones anexas.</a:t>
            </a:r>
            <a:endParaRPr/>
          </a:p>
          <a:p>
            <a:pPr indent="-323849" lvl="1" marL="647699" marR="0" rtl="0" algn="just">
              <a:lnSpc>
                <a:spcPct val="140013"/>
              </a:lnSpc>
              <a:spcBef>
                <a:spcPts val="0"/>
              </a:spcBef>
              <a:spcAft>
                <a:spcPts val="0"/>
              </a:spcAft>
              <a:buClr>
                <a:srgbClr val="191919"/>
              </a:buClr>
              <a:buSzPts val="2999"/>
              <a:buFont typeface="Arial"/>
              <a:buChar char="•"/>
            </a:pPr>
            <a:r>
              <a:rPr b="1" i="0" lang="en-US" sz="2999" u="none" cap="none" strike="noStrike">
                <a:solidFill>
                  <a:srgbClr val="191919"/>
                </a:solidFill>
                <a:latin typeface="Open Sans"/>
                <a:ea typeface="Open Sans"/>
                <a:cs typeface="Open Sans"/>
                <a:sym typeface="Open Sans"/>
              </a:rPr>
              <a:t>De intervalo:</a:t>
            </a:r>
            <a:r>
              <a:rPr b="0" i="0" lang="en-US" sz="2999" u="none" cap="none" strike="noStrike">
                <a:solidFill>
                  <a:srgbClr val="191919"/>
                </a:solidFill>
                <a:latin typeface="Open Sans Light"/>
                <a:ea typeface="Open Sans Light"/>
                <a:cs typeface="Open Sans Light"/>
                <a:sym typeface="Open Sans Light"/>
              </a:rPr>
              <a:t> usando la palabra clave To. Por ejemplo, </a:t>
            </a:r>
            <a:r>
              <a:rPr b="1" i="0" lang="en-US" sz="2999" u="none" cap="none" strike="noStrike">
                <a:solidFill>
                  <a:srgbClr val="191919"/>
                </a:solidFill>
                <a:latin typeface="Open Sans"/>
                <a:ea typeface="Open Sans"/>
                <a:cs typeface="Open Sans"/>
                <a:sym typeface="Open Sans"/>
              </a:rPr>
              <a:t>Case 12 To 14</a:t>
            </a:r>
            <a:r>
              <a:rPr b="0" i="0" lang="en-US" sz="2999" u="none" cap="none" strike="noStrike">
                <a:solidFill>
                  <a:srgbClr val="191919"/>
                </a:solidFill>
                <a:latin typeface="Open Sans Light"/>
                <a:ea typeface="Open Sans Light"/>
                <a:cs typeface="Open Sans Light"/>
                <a:sym typeface="Open Sans Light"/>
              </a:rPr>
              <a:t> indicaría que si la expresión evaluada tiene un valor comprendido entre 12 y 14 (incluidos los extremos de los intervalos), se ejecutarán las instrucciones anexas.</a:t>
            </a:r>
            <a:endParaRPr/>
          </a:p>
          <a:p>
            <a:pPr indent="-323849" lvl="1" marL="647699" marR="0" rtl="0" algn="just">
              <a:lnSpc>
                <a:spcPct val="140013"/>
              </a:lnSpc>
              <a:spcBef>
                <a:spcPts val="0"/>
              </a:spcBef>
              <a:spcAft>
                <a:spcPts val="0"/>
              </a:spcAft>
              <a:buClr>
                <a:srgbClr val="191919"/>
              </a:buClr>
              <a:buSzPts val="2999"/>
              <a:buFont typeface="Arial"/>
              <a:buChar char="•"/>
            </a:pPr>
            <a:r>
              <a:rPr b="1" i="0" lang="en-US" sz="2999" u="none" cap="none" strike="noStrike">
                <a:solidFill>
                  <a:srgbClr val="191919"/>
                </a:solidFill>
                <a:latin typeface="Open Sans"/>
                <a:ea typeface="Open Sans"/>
                <a:cs typeface="Open Sans"/>
                <a:sym typeface="Open Sans"/>
              </a:rPr>
              <a:t>De comparación:</a:t>
            </a:r>
            <a:r>
              <a:rPr b="0" i="0" lang="en-US" sz="2999" u="none" cap="none" strike="noStrike">
                <a:solidFill>
                  <a:srgbClr val="191919"/>
                </a:solidFill>
                <a:latin typeface="Open Sans Light"/>
                <a:ea typeface="Open Sans Light"/>
                <a:cs typeface="Open Sans Light"/>
                <a:sym typeface="Open Sans Light"/>
              </a:rPr>
              <a:t> usando la palabra clave Is. Por ejemplo, </a:t>
            </a:r>
            <a:r>
              <a:rPr b="1" i="0" lang="en-US" sz="2999" u="none" cap="none" strike="noStrike">
                <a:solidFill>
                  <a:srgbClr val="191919"/>
                </a:solidFill>
                <a:latin typeface="Open Sans"/>
                <a:ea typeface="Open Sans"/>
                <a:cs typeface="Open Sans"/>
                <a:sym typeface="Open Sans"/>
              </a:rPr>
              <a:t>Case Is &lt;= 14</a:t>
            </a:r>
            <a:r>
              <a:rPr b="0" i="0" lang="en-US" sz="2999" u="none" cap="none" strike="noStrike">
                <a:solidFill>
                  <a:srgbClr val="191919"/>
                </a:solidFill>
                <a:latin typeface="Open Sans Light"/>
                <a:ea typeface="Open Sans Light"/>
                <a:cs typeface="Open Sans Light"/>
                <a:sym typeface="Open Sans Light"/>
              </a:rPr>
              <a:t> indicaría que si la expresión evaluada tiene un valor menor o igual a 14 se ejecutarán las instrucciones anexas.</a:t>
            </a:r>
            <a:endParaRPr/>
          </a:p>
          <a:p>
            <a:pPr indent="0" lvl="0" marL="0" marR="0" rtl="0" algn="l">
              <a:lnSpc>
                <a:spcPct val="158686"/>
              </a:lnSpc>
              <a:spcBef>
                <a:spcPts val="0"/>
              </a:spcBef>
              <a:spcAft>
                <a:spcPts val="0"/>
              </a:spcAft>
              <a:buNone/>
            </a:pPr>
            <a:r>
              <a:t/>
            </a:r>
            <a:endParaRPr b="0" i="0" sz="2999" u="none" cap="none" strike="noStrike">
              <a:solidFill>
                <a:srgbClr val="191919"/>
              </a:solidFill>
              <a:latin typeface="Open Sans Light"/>
              <a:ea typeface="Open Sans Light"/>
              <a:cs typeface="Open Sans Light"/>
              <a:sym typeface="Open Sans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C20D"/>
        </a:solidFill>
      </p:bgPr>
    </p:bg>
    <p:spTree>
      <p:nvGrpSpPr>
        <p:cNvPr id="361" name="Shape 361"/>
        <p:cNvGrpSpPr/>
        <p:nvPr/>
      </p:nvGrpSpPr>
      <p:grpSpPr>
        <a:xfrm>
          <a:off x="0" y="0"/>
          <a:ext cx="0" cy="0"/>
          <a:chOff x="0" y="0"/>
          <a:chExt cx="0" cy="0"/>
        </a:xfrm>
      </p:grpSpPr>
      <p:grpSp>
        <p:nvGrpSpPr>
          <p:cNvPr id="362" name="Google Shape;362;p33"/>
          <p:cNvGrpSpPr/>
          <p:nvPr/>
        </p:nvGrpSpPr>
        <p:grpSpPr>
          <a:xfrm>
            <a:off x="3167915" y="-573219"/>
            <a:ext cx="15472153" cy="11608849"/>
            <a:chOff x="0" y="-66675"/>
            <a:chExt cx="4074970" cy="3057475"/>
          </a:xfrm>
        </p:grpSpPr>
        <p:sp>
          <p:nvSpPr>
            <p:cNvPr id="363" name="Google Shape;363;p33"/>
            <p:cNvSpPr/>
            <p:nvPr/>
          </p:nvSpPr>
          <p:spPr>
            <a:xfrm>
              <a:off x="0" y="0"/>
              <a:ext cx="4074970" cy="2990800"/>
            </a:xfrm>
            <a:custGeom>
              <a:rect b="b" l="l" r="r" t="t"/>
              <a:pathLst>
                <a:path extrusionOk="0" h="2990800" w="4074970">
                  <a:moveTo>
                    <a:pt x="24519" y="0"/>
                  </a:moveTo>
                  <a:lnTo>
                    <a:pt x="4050452" y="0"/>
                  </a:lnTo>
                  <a:cubicBezTo>
                    <a:pt x="4056954" y="0"/>
                    <a:pt x="4063191" y="2583"/>
                    <a:pt x="4067789" y="7181"/>
                  </a:cubicBezTo>
                  <a:cubicBezTo>
                    <a:pt x="4072387" y="11779"/>
                    <a:pt x="4074970" y="18016"/>
                    <a:pt x="4074970" y="24519"/>
                  </a:cubicBezTo>
                  <a:lnTo>
                    <a:pt x="4074970" y="2966281"/>
                  </a:lnTo>
                  <a:cubicBezTo>
                    <a:pt x="4074970" y="2979822"/>
                    <a:pt x="4063993" y="2990800"/>
                    <a:pt x="4050452" y="2990800"/>
                  </a:cubicBezTo>
                  <a:lnTo>
                    <a:pt x="24519" y="2990800"/>
                  </a:lnTo>
                  <a:cubicBezTo>
                    <a:pt x="10977" y="2990800"/>
                    <a:pt x="0" y="2979822"/>
                    <a:pt x="0" y="2966281"/>
                  </a:cubicBezTo>
                  <a:lnTo>
                    <a:pt x="0" y="24519"/>
                  </a:lnTo>
                  <a:cubicBezTo>
                    <a:pt x="0" y="10977"/>
                    <a:pt x="10977" y="0"/>
                    <a:pt x="24519" y="0"/>
                  </a:cubicBezTo>
                  <a:close/>
                </a:path>
              </a:pathLst>
            </a:custGeom>
            <a:solidFill>
              <a:srgbClr val="81858B"/>
            </a:solidFill>
            <a:ln cap="rnd" cmpd="sng" w="47625">
              <a:solidFill>
                <a:srgbClr val="8488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3"/>
            <p:cNvSpPr txBox="1"/>
            <p:nvPr/>
          </p:nvSpPr>
          <p:spPr>
            <a:xfrm>
              <a:off x="0" y="-66675"/>
              <a:ext cx="4074970" cy="3057475"/>
            </a:xfrm>
            <a:prstGeom prst="rect">
              <a:avLst/>
            </a:prstGeom>
            <a:noFill/>
            <a:ln>
              <a:noFill/>
            </a:ln>
          </p:spPr>
          <p:txBody>
            <a:bodyPr anchorCtr="0" anchor="ctr" bIns="254000" lIns="254000" spcFirstLastPara="1" rIns="254000" wrap="square" tIns="254000">
              <a:noAutofit/>
            </a:bodyPr>
            <a:lstStyle/>
            <a:p>
              <a:pPr indent="0" lvl="0" marL="0" marR="0" rtl="0" algn="l">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l">
                <a:lnSpc>
                  <a:spcPct val="140016"/>
                </a:lnSpc>
                <a:spcBef>
                  <a:spcPts val="0"/>
                </a:spcBef>
                <a:spcAft>
                  <a:spcPts val="0"/>
                </a:spcAft>
                <a:buNone/>
              </a:pPr>
              <a:r>
                <a:rPr b="1" i="0" lang="en-US" sz="2399" u="none" cap="none" strike="noStrike">
                  <a:solidFill>
                    <a:srgbClr val="FFFFFF"/>
                  </a:solidFill>
                  <a:latin typeface="Poppins"/>
                  <a:ea typeface="Poppins"/>
                  <a:cs typeface="Poppins"/>
                  <a:sym typeface="Poppins"/>
                </a:rPr>
                <a:t>   </a:t>
              </a:r>
              <a:endParaRPr/>
            </a:p>
          </p:txBody>
        </p:sp>
      </p:grpSp>
      <p:grpSp>
        <p:nvGrpSpPr>
          <p:cNvPr id="365" name="Google Shape;365;p33"/>
          <p:cNvGrpSpPr/>
          <p:nvPr/>
        </p:nvGrpSpPr>
        <p:grpSpPr>
          <a:xfrm>
            <a:off x="3649536" y="991809"/>
            <a:ext cx="14156843" cy="8266491"/>
            <a:chOff x="0" y="-133350"/>
            <a:chExt cx="3728551" cy="2177183"/>
          </a:xfrm>
        </p:grpSpPr>
        <p:sp>
          <p:nvSpPr>
            <p:cNvPr id="366" name="Google Shape;366;p33"/>
            <p:cNvSpPr/>
            <p:nvPr/>
          </p:nvSpPr>
          <p:spPr>
            <a:xfrm>
              <a:off x="0" y="0"/>
              <a:ext cx="3728551" cy="2043833"/>
            </a:xfrm>
            <a:custGeom>
              <a:rect b="b" l="l" r="r" t="t"/>
              <a:pathLst>
                <a:path extrusionOk="0" h="2043833" w="3728551">
                  <a:moveTo>
                    <a:pt x="26797" y="0"/>
                  </a:moveTo>
                  <a:lnTo>
                    <a:pt x="3701755" y="0"/>
                  </a:lnTo>
                  <a:cubicBezTo>
                    <a:pt x="3708862" y="0"/>
                    <a:pt x="3715677" y="2823"/>
                    <a:pt x="3720703" y="7849"/>
                  </a:cubicBezTo>
                  <a:cubicBezTo>
                    <a:pt x="3725728" y="12874"/>
                    <a:pt x="3728551" y="19690"/>
                    <a:pt x="3728551" y="26797"/>
                  </a:cubicBezTo>
                  <a:lnTo>
                    <a:pt x="3728551" y="2017036"/>
                  </a:lnTo>
                  <a:cubicBezTo>
                    <a:pt x="3728551" y="2024143"/>
                    <a:pt x="3725728" y="2030959"/>
                    <a:pt x="3720703" y="2035984"/>
                  </a:cubicBezTo>
                  <a:cubicBezTo>
                    <a:pt x="3715677" y="2041010"/>
                    <a:pt x="3708862" y="2043833"/>
                    <a:pt x="3701755" y="2043833"/>
                  </a:cubicBezTo>
                  <a:lnTo>
                    <a:pt x="26797" y="2043833"/>
                  </a:lnTo>
                  <a:cubicBezTo>
                    <a:pt x="11997" y="2043833"/>
                    <a:pt x="0" y="2031836"/>
                    <a:pt x="0" y="2017036"/>
                  </a:cubicBezTo>
                  <a:lnTo>
                    <a:pt x="0" y="26797"/>
                  </a:lnTo>
                  <a:cubicBezTo>
                    <a:pt x="0" y="11997"/>
                    <a:pt x="11997" y="0"/>
                    <a:pt x="26797" y="0"/>
                  </a:cubicBezTo>
                  <a:close/>
                </a:path>
              </a:pathLst>
            </a:custGeom>
            <a:solidFill>
              <a:srgbClr val="000000"/>
            </a:solidFill>
            <a:ln cap="rnd" cmpd="sng" w="47625">
              <a:solidFill>
                <a:srgbClr val="FEE6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3"/>
            <p:cNvSpPr txBox="1"/>
            <p:nvPr/>
          </p:nvSpPr>
          <p:spPr>
            <a:xfrm>
              <a:off x="0" y="-133350"/>
              <a:ext cx="3728551" cy="2177183"/>
            </a:xfrm>
            <a:prstGeom prst="rect">
              <a:avLst/>
            </a:prstGeom>
            <a:noFill/>
            <a:ln>
              <a:noFill/>
            </a:ln>
          </p:spPr>
          <p:txBody>
            <a:bodyPr anchorCtr="0" anchor="ctr" bIns="254000" lIns="254000" spcFirstLastPara="1" rIns="254000" wrap="square" tIns="254000">
              <a:noAutofit/>
            </a:bodyPr>
            <a:lstStyle/>
            <a:p>
              <a:pPr indent="0" lvl="0" marL="0" marR="0" rtl="0" algn="just">
                <a:lnSpc>
                  <a:spcPct val="140008"/>
                </a:lnSpc>
                <a:spcBef>
                  <a:spcPts val="0"/>
                </a:spcBef>
                <a:spcAft>
                  <a:spcPts val="0"/>
                </a:spcAft>
                <a:buNone/>
              </a:pPr>
              <a:r>
                <a:rPr b="0" i="0" lang="en-US" sz="4899" u="none" cap="none" strike="noStrike">
                  <a:solidFill>
                    <a:srgbClr val="FFFFFF"/>
                  </a:solidFill>
                  <a:latin typeface="Poppins Light"/>
                  <a:ea typeface="Poppins Light"/>
                  <a:cs typeface="Poppins Light"/>
                  <a:sym typeface="Poppins Light"/>
                </a:rPr>
                <a:t>   Contenido práctico: </a:t>
              </a:r>
              <a:endParaRPr/>
            </a:p>
            <a:p>
              <a:pPr indent="-528947" lvl="1" marL="1057895" marR="0" rtl="0" algn="just">
                <a:lnSpc>
                  <a:spcPct val="140008"/>
                </a:lnSpc>
                <a:spcBef>
                  <a:spcPts val="0"/>
                </a:spcBef>
                <a:spcAft>
                  <a:spcPts val="0"/>
                </a:spcAft>
                <a:buClr>
                  <a:srgbClr val="FFFFFF"/>
                </a:buClr>
                <a:buSzPts val="4899"/>
                <a:buFont typeface="Arial"/>
                <a:buChar char="•"/>
              </a:pPr>
              <a:r>
                <a:rPr b="0" i="0" lang="en-US" sz="4899" u="none" cap="none" strike="noStrike">
                  <a:solidFill>
                    <a:srgbClr val="FFFFFF"/>
                  </a:solidFill>
                  <a:latin typeface="Poppins Light"/>
                  <a:ea typeface="Poppins Light"/>
                  <a:cs typeface="Poppins Light"/>
                  <a:sym typeface="Poppins Light"/>
                </a:rPr>
                <a:t>Sentencias de control</a:t>
              </a:r>
              <a:endParaRPr/>
            </a:p>
            <a:p>
              <a:pPr indent="-528947" lvl="1" marL="1057895" marR="0" rtl="0" algn="just">
                <a:lnSpc>
                  <a:spcPct val="140008"/>
                </a:lnSpc>
                <a:spcBef>
                  <a:spcPts val="0"/>
                </a:spcBef>
                <a:spcAft>
                  <a:spcPts val="0"/>
                </a:spcAft>
                <a:buClr>
                  <a:srgbClr val="FFFFFF"/>
                </a:buClr>
                <a:buSzPts val="4899"/>
                <a:buFont typeface="Arial"/>
                <a:buChar char="•"/>
              </a:pPr>
              <a:r>
                <a:rPr b="0" i="0" lang="en-US" sz="4899" u="none" cap="none" strike="noStrike">
                  <a:solidFill>
                    <a:srgbClr val="FFFFFF"/>
                  </a:solidFill>
                  <a:latin typeface="Poppins Light"/>
                  <a:ea typeface="Poppins Light"/>
                  <a:cs typeface="Poppins Light"/>
                  <a:sym typeface="Poppins Light"/>
                </a:rPr>
                <a:t>If simple</a:t>
              </a:r>
              <a:endParaRPr/>
            </a:p>
            <a:p>
              <a:pPr indent="-528947" lvl="1" marL="1057895" marR="0" rtl="0" algn="just">
                <a:lnSpc>
                  <a:spcPct val="140008"/>
                </a:lnSpc>
                <a:spcBef>
                  <a:spcPts val="0"/>
                </a:spcBef>
                <a:spcAft>
                  <a:spcPts val="0"/>
                </a:spcAft>
                <a:buClr>
                  <a:srgbClr val="FFFFFF"/>
                </a:buClr>
                <a:buSzPts val="4899"/>
                <a:buFont typeface="Arial"/>
                <a:buChar char="•"/>
              </a:pPr>
              <a:r>
                <a:rPr b="0" i="0" lang="en-US" sz="4899" u="none" cap="none" strike="noStrike">
                  <a:solidFill>
                    <a:srgbClr val="FFFFFF"/>
                  </a:solidFill>
                  <a:latin typeface="Poppins Light"/>
                  <a:ea typeface="Poppins Light"/>
                  <a:cs typeface="Poppins Light"/>
                  <a:sym typeface="Poppins Light"/>
                </a:rPr>
                <a:t>If-else</a:t>
              </a:r>
              <a:endParaRPr/>
            </a:p>
            <a:p>
              <a:pPr indent="-528947" lvl="1" marL="1057895" marR="0" rtl="0" algn="just">
                <a:lnSpc>
                  <a:spcPct val="140008"/>
                </a:lnSpc>
                <a:spcBef>
                  <a:spcPts val="0"/>
                </a:spcBef>
                <a:spcAft>
                  <a:spcPts val="0"/>
                </a:spcAft>
                <a:buClr>
                  <a:srgbClr val="FFFFFF"/>
                </a:buClr>
                <a:buSzPts val="4899"/>
                <a:buFont typeface="Arial"/>
                <a:buChar char="•"/>
              </a:pPr>
              <a:r>
                <a:rPr b="0" i="0" lang="en-US" sz="4899" u="none" cap="none" strike="noStrike">
                  <a:solidFill>
                    <a:srgbClr val="FFFFFF"/>
                  </a:solidFill>
                  <a:latin typeface="Poppins Light"/>
                  <a:ea typeface="Poppins Light"/>
                  <a:cs typeface="Poppins Light"/>
                  <a:sym typeface="Poppins Light"/>
                </a:rPr>
                <a:t>If-else-elseif</a:t>
              </a:r>
              <a:endParaRPr/>
            </a:p>
            <a:p>
              <a:pPr indent="-528947" lvl="1" marL="1057895" marR="0" rtl="0" algn="just">
                <a:lnSpc>
                  <a:spcPct val="140008"/>
                </a:lnSpc>
                <a:spcBef>
                  <a:spcPts val="0"/>
                </a:spcBef>
                <a:spcAft>
                  <a:spcPts val="0"/>
                </a:spcAft>
                <a:buClr>
                  <a:srgbClr val="FFFFFF"/>
                </a:buClr>
                <a:buSzPts val="4899"/>
                <a:buFont typeface="Arial"/>
                <a:buChar char="•"/>
              </a:pPr>
              <a:r>
                <a:rPr b="0" i="0" lang="en-US" sz="4899" u="none" cap="none" strike="noStrike">
                  <a:solidFill>
                    <a:srgbClr val="FFFFFF"/>
                  </a:solidFill>
                  <a:latin typeface="Poppins Light"/>
                  <a:ea typeface="Poppins Light"/>
                  <a:cs typeface="Poppins Light"/>
                  <a:sym typeface="Poppins Light"/>
                </a:rPr>
                <a:t>case</a:t>
              </a: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B13"/>
        </a:solidFill>
      </p:bgPr>
    </p:bg>
    <p:spTree>
      <p:nvGrpSpPr>
        <p:cNvPr id="371" name="Shape 371"/>
        <p:cNvGrpSpPr/>
        <p:nvPr/>
      </p:nvGrpSpPr>
      <p:grpSpPr>
        <a:xfrm>
          <a:off x="0" y="0"/>
          <a:ext cx="0" cy="0"/>
          <a:chOff x="0" y="0"/>
          <a:chExt cx="0" cy="0"/>
        </a:xfrm>
      </p:grpSpPr>
      <p:grpSp>
        <p:nvGrpSpPr>
          <p:cNvPr id="372" name="Google Shape;372;p34"/>
          <p:cNvGrpSpPr/>
          <p:nvPr/>
        </p:nvGrpSpPr>
        <p:grpSpPr>
          <a:xfrm>
            <a:off x="448196" y="4359681"/>
            <a:ext cx="17514837" cy="5499039"/>
            <a:chOff x="0" y="-47625"/>
            <a:chExt cx="4612961" cy="1448307"/>
          </a:xfrm>
        </p:grpSpPr>
        <p:sp>
          <p:nvSpPr>
            <p:cNvPr id="373" name="Google Shape;373;p34"/>
            <p:cNvSpPr/>
            <p:nvPr/>
          </p:nvSpPr>
          <p:spPr>
            <a:xfrm>
              <a:off x="0" y="0"/>
              <a:ext cx="4612961" cy="1400682"/>
            </a:xfrm>
            <a:custGeom>
              <a:rect b="b" l="l" r="r" t="t"/>
              <a:pathLst>
                <a:path extrusionOk="0" h="1400682" w="4612961">
                  <a:moveTo>
                    <a:pt x="21659" y="0"/>
                  </a:moveTo>
                  <a:lnTo>
                    <a:pt x="4591302" y="0"/>
                  </a:lnTo>
                  <a:cubicBezTo>
                    <a:pt x="4597047" y="0"/>
                    <a:pt x="4602555" y="2282"/>
                    <a:pt x="4606617" y="6344"/>
                  </a:cubicBezTo>
                  <a:cubicBezTo>
                    <a:pt x="4610679" y="10406"/>
                    <a:pt x="4612961" y="15915"/>
                    <a:pt x="4612961" y="21659"/>
                  </a:cubicBezTo>
                  <a:lnTo>
                    <a:pt x="4612961" y="1379023"/>
                  </a:lnTo>
                  <a:cubicBezTo>
                    <a:pt x="4612961" y="1384767"/>
                    <a:pt x="4610679" y="1390276"/>
                    <a:pt x="4606617" y="1394338"/>
                  </a:cubicBezTo>
                  <a:cubicBezTo>
                    <a:pt x="4602555" y="1398400"/>
                    <a:pt x="4597047" y="1400682"/>
                    <a:pt x="4591302" y="1400682"/>
                  </a:cubicBezTo>
                  <a:lnTo>
                    <a:pt x="21659" y="1400682"/>
                  </a:lnTo>
                  <a:cubicBezTo>
                    <a:pt x="15915" y="1400682"/>
                    <a:pt x="10406" y="1398400"/>
                    <a:pt x="6344" y="1394338"/>
                  </a:cubicBezTo>
                  <a:cubicBezTo>
                    <a:pt x="2282" y="1390276"/>
                    <a:pt x="0" y="1384767"/>
                    <a:pt x="0" y="1379023"/>
                  </a:cubicBezTo>
                  <a:lnTo>
                    <a:pt x="0" y="21659"/>
                  </a:lnTo>
                  <a:cubicBezTo>
                    <a:pt x="0" y="15915"/>
                    <a:pt x="2282" y="10406"/>
                    <a:pt x="6344" y="6344"/>
                  </a:cubicBezTo>
                  <a:cubicBezTo>
                    <a:pt x="10406" y="2282"/>
                    <a:pt x="15915" y="0"/>
                    <a:pt x="21659" y="0"/>
                  </a:cubicBezTo>
                  <a:close/>
                </a:path>
              </a:pathLst>
            </a:custGeom>
            <a:solidFill>
              <a:srgbClr val="FEFFFF"/>
            </a:solidFill>
            <a:ln cap="rnd" cmpd="sng" w="47625">
              <a:solidFill>
                <a:srgbClr val="FE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4"/>
            <p:cNvSpPr txBox="1"/>
            <p:nvPr/>
          </p:nvSpPr>
          <p:spPr>
            <a:xfrm>
              <a:off x="0" y="-47625"/>
              <a:ext cx="4612961" cy="1448307"/>
            </a:xfrm>
            <a:prstGeom prst="rect">
              <a:avLst/>
            </a:prstGeom>
            <a:noFill/>
            <a:ln>
              <a:noFill/>
            </a:ln>
          </p:spPr>
          <p:txBody>
            <a:bodyPr anchorCtr="0" anchor="ctr" bIns="254000" lIns="254000" spcFirstLastPara="1" rIns="254000" wrap="square" tIns="2540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5" name="Google Shape;375;p34"/>
          <p:cNvGrpSpPr/>
          <p:nvPr/>
        </p:nvGrpSpPr>
        <p:grpSpPr>
          <a:xfrm>
            <a:off x="448196" y="375630"/>
            <a:ext cx="17514837" cy="3640588"/>
            <a:chOff x="0" y="-47625"/>
            <a:chExt cx="4612961" cy="958838"/>
          </a:xfrm>
        </p:grpSpPr>
        <p:sp>
          <p:nvSpPr>
            <p:cNvPr id="376" name="Google Shape;376;p34"/>
            <p:cNvSpPr/>
            <p:nvPr/>
          </p:nvSpPr>
          <p:spPr>
            <a:xfrm>
              <a:off x="0" y="0"/>
              <a:ext cx="4612961" cy="911213"/>
            </a:xfrm>
            <a:custGeom>
              <a:rect b="b" l="l" r="r" t="t"/>
              <a:pathLst>
                <a:path extrusionOk="0" h="911213" w="4612961">
                  <a:moveTo>
                    <a:pt x="21659" y="0"/>
                  </a:moveTo>
                  <a:lnTo>
                    <a:pt x="4591302" y="0"/>
                  </a:lnTo>
                  <a:cubicBezTo>
                    <a:pt x="4597047" y="0"/>
                    <a:pt x="4602555" y="2282"/>
                    <a:pt x="4606617" y="6344"/>
                  </a:cubicBezTo>
                  <a:cubicBezTo>
                    <a:pt x="4610679" y="10406"/>
                    <a:pt x="4612961" y="15915"/>
                    <a:pt x="4612961" y="21659"/>
                  </a:cubicBezTo>
                  <a:lnTo>
                    <a:pt x="4612961" y="889554"/>
                  </a:lnTo>
                  <a:cubicBezTo>
                    <a:pt x="4612961" y="895298"/>
                    <a:pt x="4610679" y="900807"/>
                    <a:pt x="4606617" y="904869"/>
                  </a:cubicBezTo>
                  <a:cubicBezTo>
                    <a:pt x="4602555" y="908931"/>
                    <a:pt x="4597047" y="911213"/>
                    <a:pt x="4591302" y="911213"/>
                  </a:cubicBezTo>
                  <a:lnTo>
                    <a:pt x="21659" y="911213"/>
                  </a:lnTo>
                  <a:cubicBezTo>
                    <a:pt x="15915" y="911213"/>
                    <a:pt x="10406" y="908931"/>
                    <a:pt x="6344" y="904869"/>
                  </a:cubicBezTo>
                  <a:cubicBezTo>
                    <a:pt x="2282" y="900807"/>
                    <a:pt x="0" y="895298"/>
                    <a:pt x="0" y="889554"/>
                  </a:cubicBezTo>
                  <a:lnTo>
                    <a:pt x="0" y="21659"/>
                  </a:lnTo>
                  <a:cubicBezTo>
                    <a:pt x="0" y="15915"/>
                    <a:pt x="2282" y="10406"/>
                    <a:pt x="6344" y="6344"/>
                  </a:cubicBezTo>
                  <a:cubicBezTo>
                    <a:pt x="10406" y="2282"/>
                    <a:pt x="15915" y="0"/>
                    <a:pt x="21659" y="0"/>
                  </a:cubicBezTo>
                  <a:close/>
                </a:path>
              </a:pathLst>
            </a:custGeom>
            <a:solidFill>
              <a:srgbClr val="000000"/>
            </a:solidFill>
            <a:ln cap="rnd" cmpd="sng" w="47625">
              <a:solidFill>
                <a:srgbClr val="FE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4"/>
            <p:cNvSpPr txBox="1"/>
            <p:nvPr/>
          </p:nvSpPr>
          <p:spPr>
            <a:xfrm>
              <a:off x="0" y="-47625"/>
              <a:ext cx="4612961" cy="958838"/>
            </a:xfrm>
            <a:prstGeom prst="rect">
              <a:avLst/>
            </a:prstGeom>
            <a:noFill/>
            <a:ln>
              <a:noFill/>
            </a:ln>
          </p:spPr>
          <p:txBody>
            <a:bodyPr anchorCtr="0" anchor="ctr" bIns="254000" lIns="254000" spcFirstLastPara="1" rIns="254000" wrap="square" tIns="2540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8" name="Google Shape;378;p34"/>
          <p:cNvSpPr txBox="1"/>
          <p:nvPr/>
        </p:nvSpPr>
        <p:spPr>
          <a:xfrm>
            <a:off x="1966504" y="1200150"/>
            <a:ext cx="15292796" cy="24500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403" u="none" cap="none" strike="noStrike">
                <a:solidFill>
                  <a:srgbClr val="FEFFFF"/>
                </a:solidFill>
                <a:latin typeface="Shrikhand"/>
                <a:ea typeface="Shrikhand"/>
                <a:cs typeface="Shrikhand"/>
                <a:sym typeface="Shrikhand"/>
              </a:rPr>
              <a:t>Valor : Pensamiento lógico</a:t>
            </a:r>
            <a:endParaRPr/>
          </a:p>
        </p:txBody>
      </p:sp>
      <p:sp>
        <p:nvSpPr>
          <p:cNvPr id="379" name="Google Shape;379;p34"/>
          <p:cNvSpPr txBox="1"/>
          <p:nvPr/>
        </p:nvSpPr>
        <p:spPr>
          <a:xfrm>
            <a:off x="1430690" y="4613525"/>
            <a:ext cx="15549848" cy="4991202"/>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9468" u="none" cap="none" strike="noStrike">
                <a:solidFill>
                  <a:srgbClr val="191919"/>
                </a:solidFill>
                <a:latin typeface="Shrikhand"/>
                <a:ea typeface="Shrikhand"/>
                <a:cs typeface="Shrikhand"/>
                <a:sym typeface="Shrikhand"/>
              </a:rPr>
              <a:t>Cada decisión en el código debe tener una razón clara detrás.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B13"/>
        </a:solidFill>
      </p:bgPr>
    </p:bg>
    <p:spTree>
      <p:nvGrpSpPr>
        <p:cNvPr id="383" name="Shape 383"/>
        <p:cNvGrpSpPr/>
        <p:nvPr/>
      </p:nvGrpSpPr>
      <p:grpSpPr>
        <a:xfrm>
          <a:off x="0" y="0"/>
          <a:ext cx="0" cy="0"/>
          <a:chOff x="0" y="0"/>
          <a:chExt cx="0" cy="0"/>
        </a:xfrm>
      </p:grpSpPr>
      <p:grpSp>
        <p:nvGrpSpPr>
          <p:cNvPr id="384" name="Google Shape;384;p35"/>
          <p:cNvGrpSpPr/>
          <p:nvPr/>
        </p:nvGrpSpPr>
        <p:grpSpPr>
          <a:xfrm>
            <a:off x="1028700" y="751856"/>
            <a:ext cx="16646680" cy="9010846"/>
            <a:chOff x="0" y="-47625"/>
            <a:chExt cx="4384311" cy="2373227"/>
          </a:xfrm>
        </p:grpSpPr>
        <p:sp>
          <p:nvSpPr>
            <p:cNvPr id="385" name="Google Shape;385;p35"/>
            <p:cNvSpPr/>
            <p:nvPr/>
          </p:nvSpPr>
          <p:spPr>
            <a:xfrm>
              <a:off x="0" y="0"/>
              <a:ext cx="4384311" cy="2325602"/>
            </a:xfrm>
            <a:custGeom>
              <a:rect b="b" l="l" r="r" t="t"/>
              <a:pathLst>
                <a:path extrusionOk="0" h="2325602" w="4384311">
                  <a:moveTo>
                    <a:pt x="22789" y="0"/>
                  </a:moveTo>
                  <a:lnTo>
                    <a:pt x="4361522" y="0"/>
                  </a:lnTo>
                  <a:cubicBezTo>
                    <a:pt x="4367566" y="0"/>
                    <a:pt x="4373363" y="2401"/>
                    <a:pt x="4377636" y="6675"/>
                  </a:cubicBezTo>
                  <a:cubicBezTo>
                    <a:pt x="4381910" y="10948"/>
                    <a:pt x="4384311" y="16745"/>
                    <a:pt x="4384311" y="22789"/>
                  </a:cubicBezTo>
                  <a:lnTo>
                    <a:pt x="4384311" y="2302814"/>
                  </a:lnTo>
                  <a:cubicBezTo>
                    <a:pt x="4384311" y="2315399"/>
                    <a:pt x="4374108" y="2325602"/>
                    <a:pt x="4361522" y="2325602"/>
                  </a:cubicBezTo>
                  <a:lnTo>
                    <a:pt x="22789" y="2325602"/>
                  </a:lnTo>
                  <a:cubicBezTo>
                    <a:pt x="10203" y="2325602"/>
                    <a:pt x="0" y="2315399"/>
                    <a:pt x="0" y="2302814"/>
                  </a:cubicBezTo>
                  <a:lnTo>
                    <a:pt x="0" y="22789"/>
                  </a:lnTo>
                  <a:cubicBezTo>
                    <a:pt x="0" y="10203"/>
                    <a:pt x="10203" y="0"/>
                    <a:pt x="22789" y="0"/>
                  </a:cubicBezTo>
                  <a:close/>
                </a:path>
              </a:pathLst>
            </a:custGeom>
            <a:solidFill>
              <a:srgbClr val="191919"/>
            </a:solidFill>
            <a:ln cap="rnd" cmpd="sng" w="47625">
              <a:solidFill>
                <a:srgbClr val="FE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5"/>
            <p:cNvSpPr txBox="1"/>
            <p:nvPr/>
          </p:nvSpPr>
          <p:spPr>
            <a:xfrm>
              <a:off x="0" y="-47625"/>
              <a:ext cx="4384311" cy="2373227"/>
            </a:xfrm>
            <a:prstGeom prst="rect">
              <a:avLst/>
            </a:prstGeom>
            <a:noFill/>
            <a:ln>
              <a:noFill/>
            </a:ln>
          </p:spPr>
          <p:txBody>
            <a:bodyPr anchorCtr="0" anchor="ctr" bIns="254000" lIns="254000" spcFirstLastPara="1" rIns="254000" wrap="square" tIns="2540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7" name="Google Shape;387;p35"/>
          <p:cNvSpPr txBox="1"/>
          <p:nvPr/>
        </p:nvSpPr>
        <p:spPr>
          <a:xfrm>
            <a:off x="1700829" y="1380212"/>
            <a:ext cx="15558471" cy="182307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781" u="none" cap="none" strike="noStrike">
                <a:solidFill>
                  <a:srgbClr val="FEFFFF"/>
                </a:solidFill>
                <a:latin typeface="Arial"/>
                <a:ea typeface="Arial"/>
                <a:cs typeface="Arial"/>
                <a:sym typeface="Arial"/>
              </a:rPr>
              <a:t>Referencias</a:t>
            </a:r>
            <a:endParaRPr/>
          </a:p>
        </p:txBody>
      </p:sp>
      <p:sp>
        <p:nvSpPr>
          <p:cNvPr id="388" name="Google Shape;388;p35"/>
          <p:cNvSpPr txBox="1"/>
          <p:nvPr/>
        </p:nvSpPr>
        <p:spPr>
          <a:xfrm>
            <a:off x="1289642" y="3127086"/>
            <a:ext cx="16380845" cy="6648735"/>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0" i="0" lang="en-US" sz="2928" u="none" cap="none" strike="noStrike">
                <a:solidFill>
                  <a:srgbClr val="FFFFFF"/>
                </a:solidFill>
                <a:latin typeface="Poppins Light"/>
                <a:ea typeface="Poppins Light"/>
                <a:cs typeface="Poppins Light"/>
                <a:sym typeface="Poppins Light"/>
              </a:rPr>
              <a:t>Auxiliar - creador : Andy Ezequiel Sanic Tiul</a:t>
            </a:r>
            <a:endParaRPr/>
          </a:p>
          <a:p>
            <a:pPr indent="0" lvl="0" marL="0" marR="0" rtl="0" algn="l">
              <a:lnSpc>
                <a:spcPct val="139993"/>
              </a:lnSpc>
              <a:spcBef>
                <a:spcPts val="0"/>
              </a:spcBef>
              <a:spcAft>
                <a:spcPts val="0"/>
              </a:spcAft>
              <a:buNone/>
            </a:pPr>
            <a:r>
              <a:t/>
            </a:r>
            <a:endParaRPr b="0" i="0" sz="2928" u="none" cap="none" strike="noStrike">
              <a:solidFill>
                <a:srgbClr val="FFFFFF"/>
              </a:solidFill>
              <a:latin typeface="Poppins Light"/>
              <a:ea typeface="Poppins Light"/>
              <a:cs typeface="Poppins Light"/>
              <a:sym typeface="Poppins Light"/>
            </a:endParaRPr>
          </a:p>
          <a:p>
            <a:pPr indent="0" lvl="0" marL="0" marR="0" rtl="0" algn="l">
              <a:lnSpc>
                <a:spcPct val="139993"/>
              </a:lnSpc>
              <a:spcBef>
                <a:spcPts val="0"/>
              </a:spcBef>
              <a:spcAft>
                <a:spcPts val="0"/>
              </a:spcAft>
              <a:buNone/>
            </a:pPr>
            <a:r>
              <a:rPr b="0" i="0" lang="en-US" sz="2928" u="none" cap="none" strike="noStrike">
                <a:solidFill>
                  <a:srgbClr val="FFFFFF"/>
                </a:solidFill>
                <a:latin typeface="Poppins Light"/>
                <a:ea typeface="Poppins Light"/>
                <a:cs typeface="Poppins Light"/>
                <a:sym typeface="Poppins Light"/>
              </a:rPr>
              <a:t>Uso de If then else : </a:t>
            </a:r>
            <a:endParaRPr/>
          </a:p>
          <a:p>
            <a:pPr indent="0" lvl="0" marL="0" marR="0" rtl="0" algn="l">
              <a:lnSpc>
                <a:spcPct val="139993"/>
              </a:lnSpc>
              <a:spcBef>
                <a:spcPts val="0"/>
              </a:spcBef>
              <a:spcAft>
                <a:spcPts val="0"/>
              </a:spcAft>
              <a:buNone/>
            </a:pPr>
            <a:r>
              <a:rPr b="0" i="0" lang="en-US" sz="2928" u="none" cap="none" strike="noStrike">
                <a:solidFill>
                  <a:srgbClr val="FFFFFF"/>
                </a:solidFill>
                <a:latin typeface="Poppins Light"/>
                <a:ea typeface="Poppins Light"/>
                <a:cs typeface="Poppins Light"/>
                <a:sym typeface="Poppins Light"/>
              </a:rPr>
              <a:t>https://learn.microsoft.com/en-us/dotnet/visual-basic/language-reference/directives/if-then-else-directives </a:t>
            </a:r>
            <a:endParaRPr/>
          </a:p>
          <a:p>
            <a:pPr indent="0" lvl="0" marL="0" marR="0" rtl="0" algn="l">
              <a:lnSpc>
                <a:spcPct val="139993"/>
              </a:lnSpc>
              <a:spcBef>
                <a:spcPts val="0"/>
              </a:spcBef>
              <a:spcAft>
                <a:spcPts val="0"/>
              </a:spcAft>
              <a:buNone/>
            </a:pPr>
            <a:r>
              <a:t/>
            </a:r>
            <a:endParaRPr b="0" i="0" sz="2928" u="none" cap="none" strike="noStrike">
              <a:solidFill>
                <a:srgbClr val="FFFFFF"/>
              </a:solidFill>
              <a:latin typeface="Poppins Light"/>
              <a:ea typeface="Poppins Light"/>
              <a:cs typeface="Poppins Light"/>
              <a:sym typeface="Poppins Light"/>
            </a:endParaRPr>
          </a:p>
          <a:p>
            <a:pPr indent="0" lvl="0" marL="0" marR="0" rtl="0" algn="l">
              <a:lnSpc>
                <a:spcPct val="139993"/>
              </a:lnSpc>
              <a:spcBef>
                <a:spcPts val="0"/>
              </a:spcBef>
              <a:spcAft>
                <a:spcPts val="0"/>
              </a:spcAft>
              <a:buNone/>
            </a:pPr>
            <a:r>
              <a:t/>
            </a:r>
            <a:endParaRPr b="0" i="0" sz="2928" u="none" cap="none" strike="noStrike">
              <a:solidFill>
                <a:srgbClr val="FFFFFF"/>
              </a:solidFill>
              <a:latin typeface="Poppins Light"/>
              <a:ea typeface="Poppins Light"/>
              <a:cs typeface="Poppins Light"/>
              <a:sym typeface="Poppins Light"/>
            </a:endParaRPr>
          </a:p>
          <a:p>
            <a:pPr indent="0" lvl="0" marL="0" marR="0" rtl="0" algn="l">
              <a:lnSpc>
                <a:spcPct val="139993"/>
              </a:lnSpc>
              <a:spcBef>
                <a:spcPts val="0"/>
              </a:spcBef>
              <a:spcAft>
                <a:spcPts val="0"/>
              </a:spcAft>
              <a:buNone/>
            </a:pPr>
            <a:r>
              <a:rPr b="0" i="0" lang="en-US" sz="2928" u="none" cap="none" strike="noStrike">
                <a:solidFill>
                  <a:srgbClr val="FFFFFF"/>
                </a:solidFill>
                <a:latin typeface="Poppins Light"/>
                <a:ea typeface="Poppins Light"/>
                <a:cs typeface="Poppins Light"/>
                <a:sym typeface="Poppins Light"/>
              </a:rPr>
              <a:t>Select Case :</a:t>
            </a:r>
            <a:endParaRPr/>
          </a:p>
          <a:p>
            <a:pPr indent="0" lvl="0" marL="0" marR="0" rtl="0" algn="l">
              <a:lnSpc>
                <a:spcPct val="139993"/>
              </a:lnSpc>
              <a:spcBef>
                <a:spcPts val="0"/>
              </a:spcBef>
              <a:spcAft>
                <a:spcPts val="0"/>
              </a:spcAft>
              <a:buNone/>
            </a:pPr>
            <a:r>
              <a:rPr b="0" i="0" lang="en-US" sz="2928" u="none" cap="none" strike="noStrike">
                <a:solidFill>
                  <a:srgbClr val="FFFFFF"/>
                </a:solidFill>
                <a:latin typeface="Poppins Light"/>
                <a:ea typeface="Poppins Light"/>
                <a:cs typeface="Poppins Light"/>
                <a:sym typeface="Poppins Light"/>
              </a:rPr>
              <a:t>https://learn.microsoft.com/en-us/dotnet/visual-basic/language-reference/statements/select-case-statement</a:t>
            </a:r>
            <a:endParaRPr/>
          </a:p>
          <a:p>
            <a:pPr indent="0" lvl="0" marL="0" marR="0" rtl="0" algn="l">
              <a:lnSpc>
                <a:spcPct val="139993"/>
              </a:lnSpc>
              <a:spcBef>
                <a:spcPts val="0"/>
              </a:spcBef>
              <a:spcAft>
                <a:spcPts val="0"/>
              </a:spcAft>
              <a:buNone/>
            </a:pPr>
            <a:r>
              <a:t/>
            </a:r>
            <a:endParaRPr b="0" i="0" sz="2928" u="none" cap="none" strike="noStrike">
              <a:solidFill>
                <a:srgbClr val="FFFFFF"/>
              </a:solidFill>
              <a:latin typeface="Poppins Light"/>
              <a:ea typeface="Poppins Light"/>
              <a:cs typeface="Poppins Light"/>
              <a:sym typeface="Poppins Light"/>
            </a:endParaRPr>
          </a:p>
          <a:p>
            <a:pPr indent="0" lvl="0" marL="0" marR="0" rtl="0" algn="l">
              <a:lnSpc>
                <a:spcPct val="139993"/>
              </a:lnSpc>
              <a:spcBef>
                <a:spcPts val="0"/>
              </a:spcBef>
              <a:spcAft>
                <a:spcPts val="0"/>
              </a:spcAft>
              <a:buNone/>
            </a:pPr>
            <a:r>
              <a:t/>
            </a:r>
            <a:endParaRPr b="0" i="0" sz="2928" u="none" cap="none" strike="noStrike">
              <a:solidFill>
                <a:srgbClr val="FFFFFF"/>
              </a:solidFill>
              <a:latin typeface="Poppins Light"/>
              <a:ea typeface="Poppins Light"/>
              <a:cs typeface="Poppins Light"/>
              <a:sym typeface="Poppins Light"/>
            </a:endParaRPr>
          </a:p>
          <a:p>
            <a:pPr indent="0" lvl="0" marL="0" marR="0" rtl="0" algn="l">
              <a:lnSpc>
                <a:spcPct val="139993"/>
              </a:lnSpc>
              <a:spcBef>
                <a:spcPts val="0"/>
              </a:spcBef>
              <a:spcAft>
                <a:spcPts val="0"/>
              </a:spcAft>
              <a:buNone/>
            </a:pPr>
            <a:r>
              <a:t/>
            </a:r>
            <a:endParaRPr b="0" i="0" sz="2928" u="none" cap="none" strike="noStrike">
              <a:solidFill>
                <a:srgbClr val="FFFFFF"/>
              </a:solidFill>
              <a:latin typeface="Poppins Light"/>
              <a:ea typeface="Poppins Light"/>
              <a:cs typeface="Poppins Light"/>
              <a:sym typeface="Poppins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E600"/>
        </a:solidFill>
      </p:bgPr>
    </p:bg>
    <p:spTree>
      <p:nvGrpSpPr>
        <p:cNvPr id="392" name="Shape 392"/>
        <p:cNvGrpSpPr/>
        <p:nvPr/>
      </p:nvGrpSpPr>
      <p:grpSpPr>
        <a:xfrm>
          <a:off x="0" y="0"/>
          <a:ext cx="0" cy="0"/>
          <a:chOff x="0" y="0"/>
          <a:chExt cx="0" cy="0"/>
        </a:xfrm>
      </p:grpSpPr>
      <p:grpSp>
        <p:nvGrpSpPr>
          <p:cNvPr id="393" name="Google Shape;393;p36"/>
          <p:cNvGrpSpPr/>
          <p:nvPr/>
        </p:nvGrpSpPr>
        <p:grpSpPr>
          <a:xfrm>
            <a:off x="496608" y="290709"/>
            <a:ext cx="17178772" cy="9471993"/>
            <a:chOff x="0" y="-47625"/>
            <a:chExt cx="4524450" cy="2494681"/>
          </a:xfrm>
        </p:grpSpPr>
        <p:sp>
          <p:nvSpPr>
            <p:cNvPr id="394" name="Google Shape;394;p36"/>
            <p:cNvSpPr/>
            <p:nvPr/>
          </p:nvSpPr>
          <p:spPr>
            <a:xfrm>
              <a:off x="0" y="0"/>
              <a:ext cx="4524450" cy="2447056"/>
            </a:xfrm>
            <a:custGeom>
              <a:rect b="b" l="l" r="r" t="t"/>
              <a:pathLst>
                <a:path extrusionOk="0" h="2447056" w="4524450">
                  <a:moveTo>
                    <a:pt x="22083" y="0"/>
                  </a:moveTo>
                  <a:lnTo>
                    <a:pt x="4502367" y="0"/>
                  </a:lnTo>
                  <a:cubicBezTo>
                    <a:pt x="4514564" y="0"/>
                    <a:pt x="4524450" y="9887"/>
                    <a:pt x="4524450" y="22083"/>
                  </a:cubicBezTo>
                  <a:lnTo>
                    <a:pt x="4524450" y="2424973"/>
                  </a:lnTo>
                  <a:cubicBezTo>
                    <a:pt x="4524450" y="2430830"/>
                    <a:pt x="4522124" y="2436447"/>
                    <a:pt x="4517982" y="2440588"/>
                  </a:cubicBezTo>
                  <a:cubicBezTo>
                    <a:pt x="4513841" y="2444730"/>
                    <a:pt x="4508224" y="2447056"/>
                    <a:pt x="4502367" y="2447056"/>
                  </a:cubicBezTo>
                  <a:lnTo>
                    <a:pt x="22083" y="2447056"/>
                  </a:lnTo>
                  <a:cubicBezTo>
                    <a:pt x="9887" y="2447056"/>
                    <a:pt x="0" y="2437169"/>
                    <a:pt x="0" y="2424973"/>
                  </a:cubicBezTo>
                  <a:lnTo>
                    <a:pt x="0" y="22083"/>
                  </a:lnTo>
                  <a:cubicBezTo>
                    <a:pt x="0" y="9887"/>
                    <a:pt x="9887" y="0"/>
                    <a:pt x="22083" y="0"/>
                  </a:cubicBezTo>
                  <a:close/>
                </a:path>
              </a:pathLst>
            </a:custGeom>
            <a:solidFill>
              <a:srgbClr val="FEFFFF"/>
            </a:solidFill>
            <a:ln cap="rnd" cmpd="sng" w="47625">
              <a:solidFill>
                <a:srgbClr val="FE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6"/>
            <p:cNvSpPr txBox="1"/>
            <p:nvPr/>
          </p:nvSpPr>
          <p:spPr>
            <a:xfrm>
              <a:off x="0" y="-47625"/>
              <a:ext cx="4524450" cy="2494681"/>
            </a:xfrm>
            <a:prstGeom prst="rect">
              <a:avLst/>
            </a:prstGeom>
            <a:noFill/>
            <a:ln>
              <a:noFill/>
            </a:ln>
          </p:spPr>
          <p:txBody>
            <a:bodyPr anchorCtr="0" anchor="ctr" bIns="254000" lIns="254000" spcFirstLastPara="1" rIns="254000" wrap="square" tIns="2540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6" name="Google Shape;396;p36"/>
          <p:cNvSpPr/>
          <p:nvPr/>
        </p:nvSpPr>
        <p:spPr>
          <a:xfrm>
            <a:off x="14106227" y="2020042"/>
            <a:ext cx="2859716" cy="4104533"/>
          </a:xfrm>
          <a:custGeom>
            <a:rect b="b" l="l" r="r" t="t"/>
            <a:pathLst>
              <a:path extrusionOk="0" h="4104533" w="2859716">
                <a:moveTo>
                  <a:pt x="0" y="0"/>
                </a:moveTo>
                <a:lnTo>
                  <a:pt x="2859715" y="0"/>
                </a:lnTo>
                <a:lnTo>
                  <a:pt x="2859715" y="4104533"/>
                </a:lnTo>
                <a:lnTo>
                  <a:pt x="0" y="4104533"/>
                </a:lnTo>
                <a:lnTo>
                  <a:pt x="0" y="0"/>
                </a:lnTo>
                <a:close/>
              </a:path>
            </a:pathLst>
          </a:custGeom>
          <a:blipFill rotWithShape="1">
            <a:blip r:embed="rId3">
              <a:alphaModFix/>
            </a:blip>
            <a:stretch>
              <a:fillRect b="0" l="0" r="0" t="0"/>
            </a:stretch>
          </a:blipFill>
          <a:ln>
            <a:noFill/>
          </a:ln>
        </p:spPr>
      </p:sp>
      <p:sp>
        <p:nvSpPr>
          <p:cNvPr id="397" name="Google Shape;397;p36"/>
          <p:cNvSpPr txBox="1"/>
          <p:nvPr/>
        </p:nvSpPr>
        <p:spPr>
          <a:xfrm>
            <a:off x="1899004" y="3358624"/>
            <a:ext cx="11865006" cy="21431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5999" u="none" cap="none" strike="noStrike">
                <a:solidFill>
                  <a:srgbClr val="000000"/>
                </a:solidFill>
                <a:latin typeface="Arial"/>
                <a:ea typeface="Arial"/>
                <a:cs typeface="Arial"/>
                <a:sym typeface="Arial"/>
              </a:rPr>
              <a:t>¡GRACIAS POR SU  ATENCIÓN!</a:t>
            </a:r>
            <a:endParaRPr/>
          </a:p>
          <a:p>
            <a:pPr indent="0" lvl="0" marL="0" marR="0" rtl="0" algn="ctr">
              <a:lnSpc>
                <a:spcPct val="140006"/>
              </a:lnSpc>
              <a:spcBef>
                <a:spcPts val="0"/>
              </a:spcBef>
              <a:spcAft>
                <a:spcPts val="0"/>
              </a:spcAft>
              <a:buNone/>
            </a:pPr>
            <a:r>
              <a:t/>
            </a:r>
            <a:endParaRPr b="1" i="0" sz="5999" u="none" cap="none" strike="noStrike">
              <a:solidFill>
                <a:srgbClr val="000000"/>
              </a:solidFill>
              <a:latin typeface="Arial"/>
              <a:ea typeface="Arial"/>
              <a:cs typeface="Arial"/>
              <a:sym typeface="Arial"/>
            </a:endParaRPr>
          </a:p>
        </p:txBody>
      </p:sp>
      <p:sp>
        <p:nvSpPr>
          <p:cNvPr id="398" name="Google Shape;398;p36"/>
          <p:cNvSpPr txBox="1"/>
          <p:nvPr/>
        </p:nvSpPr>
        <p:spPr>
          <a:xfrm>
            <a:off x="6457552" y="4660900"/>
            <a:ext cx="4199100" cy="1231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8000" u="none" cap="none" strike="noStrike">
                <a:solidFill>
                  <a:srgbClr val="000000"/>
                </a:solidFill>
                <a:latin typeface="Arial"/>
                <a:ea typeface="Arial"/>
                <a:cs typeface="Arial"/>
                <a:sym typeface="Arial"/>
              </a:rPr>
              <a:t>DUDAS</a:t>
            </a:r>
            <a:endParaRPr/>
          </a:p>
        </p:txBody>
      </p:sp>
      <p:sp>
        <p:nvSpPr>
          <p:cNvPr id="399" name="Google Shape;399;p36"/>
          <p:cNvSpPr txBox="1"/>
          <p:nvPr/>
        </p:nvSpPr>
        <p:spPr>
          <a:xfrm>
            <a:off x="2199302" y="7445375"/>
            <a:ext cx="14766640" cy="2841625"/>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US" sz="3999" u="none" cap="none" strike="noStrike">
                <a:solidFill>
                  <a:srgbClr val="000000"/>
                </a:solidFill>
                <a:latin typeface="Arial"/>
                <a:ea typeface="Arial"/>
                <a:cs typeface="Arial"/>
                <a:sym typeface="Arial"/>
              </a:rPr>
              <a:t>RECUERDA QUE TENEMOS NUESTRO FORO SEMANAL DONDE PUEDES CONSULTAR CUALQUIER DUDA QUE TE SURJA EN LA SEMANA</a:t>
            </a:r>
            <a:endParaRPr/>
          </a:p>
          <a:p>
            <a:pPr indent="0" lvl="0" marL="0" marR="0" rtl="0" algn="ctr">
              <a:lnSpc>
                <a:spcPct val="140010"/>
              </a:lnSpc>
              <a:spcBef>
                <a:spcPts val="0"/>
              </a:spcBef>
              <a:spcAft>
                <a:spcPts val="0"/>
              </a:spcAft>
              <a:buNone/>
            </a:pPr>
            <a:r>
              <a:t/>
            </a:r>
            <a:endParaRPr b="0" i="0" sz="3999"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