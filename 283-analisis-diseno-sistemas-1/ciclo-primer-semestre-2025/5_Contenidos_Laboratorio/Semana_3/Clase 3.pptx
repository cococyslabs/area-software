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8288000" cy="10287000"/>
  <p:notesSz cx="6858000" cy="9144000"/>
  <p:embeddedFontLs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Garet" panose="020B0604020202020204" charset="0"/>
      <p:regular r:id="rId51"/>
    </p:embeddedFont>
    <p:embeddedFont>
      <p:font typeface="Horizon" panose="020B0604020202020204" charset="0"/>
      <p:regular r:id="rId52"/>
    </p:embeddedFont>
    <p:embeddedFont>
      <p:font typeface="Montserrat" panose="020B0604020202020204" charset="0"/>
      <p:regular r:id="rId53"/>
    </p:embeddedFont>
    <p:embeddedFont>
      <p:font typeface="Montserrat Bold" panose="020B0604020202020204" charset="0"/>
      <p:regular r:id="rId54"/>
    </p:embeddedFont>
    <p:embeddedFont>
      <p:font typeface="Montserrat Classic" panose="020B0604020202020204" charset="0"/>
      <p:regular r:id="rId55"/>
    </p:embeddedFont>
    <p:embeddedFont>
      <p:font typeface="Montserrat Classic Bold" panose="020B0604020202020204" charset="0"/>
      <p:regular r:id="rId56"/>
    </p:embeddedFont>
    <p:embeddedFont>
      <p:font typeface="Open Sans Bold" panose="020B0604020202020204" charset="0"/>
      <p:regular r:id="rId57"/>
    </p:embeddedFont>
    <p:embeddedFont>
      <p:font typeface="Playlist Script" panose="020B0604020202020204" charset="0"/>
      <p:regular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sv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sv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sv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sv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sv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sv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sv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7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sv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7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sv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7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sv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7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sv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10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7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sv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7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svg"/><Relationship Id="rId7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7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63303" y="7929276"/>
            <a:ext cx="10161027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dirty="0" err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</a:t>
            </a:r>
            <a:r>
              <a:rPr lang="en-US" sz="5000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sz="5000" b="1" dirty="0" err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</a:t>
            </a:r>
            <a:r>
              <a:rPr lang="en-US" sz="5000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5000" b="1" dirty="0" err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Sistemas</a:t>
            </a:r>
            <a:r>
              <a:rPr lang="en-US" sz="5000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1496" y="3915649"/>
            <a:ext cx="1596672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Metodologías de Desarrollo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Escuela de Ingenieria de Ciencias Y Sistemas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Facultad de Ingenieria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41944" y="4752487"/>
            <a:ext cx="4934192" cy="905505"/>
            <a:chOff x="-250813" y="-76200"/>
            <a:chExt cx="2100734" cy="385519"/>
          </a:xfrm>
        </p:grpSpPr>
        <p:sp>
          <p:nvSpPr>
            <p:cNvPr id="3" name="Freeform 3"/>
            <p:cNvSpPr/>
            <p:nvPr/>
          </p:nvSpPr>
          <p:spPr>
            <a:xfrm>
              <a:off x="-250813" y="25596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GT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143"/>
                </a:lnSpc>
              </a:pPr>
              <a:r>
                <a:rPr lang="en-US" sz="2799" spc="81" dirty="0" err="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Foro</a:t>
              </a:r>
              <a:r>
                <a:rPr lang="en-US" sz="2799" spc="81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  <a:r>
                <a:rPr lang="en-US" sz="2799" spc="81" dirty="0" err="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semana</a:t>
              </a:r>
              <a:r>
                <a:rPr lang="en-US" sz="2799" spc="81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4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6391897" y="498962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380232" y="3552485"/>
            <a:ext cx="4115190" cy="1267162"/>
            <a:chOff x="0" y="0"/>
            <a:chExt cx="1083836" cy="3337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RECORDATORIOS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6164997" y="367891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164997" y="0"/>
            <a:ext cx="6140237" cy="2980843"/>
            <a:chOff x="0" y="0"/>
            <a:chExt cx="8186982" cy="3974458"/>
          </a:xfrm>
        </p:grpSpPr>
        <p:sp>
          <p:nvSpPr>
            <p:cNvPr id="11" name="TextBox 11"/>
            <p:cNvSpPr txBox="1"/>
            <p:nvPr/>
          </p:nvSpPr>
          <p:spPr>
            <a:xfrm>
              <a:off x="0" y="986783"/>
              <a:ext cx="8186982" cy="2987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250"/>
                </a:lnSpc>
              </a:pPr>
              <a:r>
                <a:rPr lang="en-US" sz="15000">
                  <a:solidFill>
                    <a:srgbClr val="131416"/>
                  </a:solidFill>
                  <a:latin typeface="Playlist Script"/>
                  <a:ea typeface="Playlist Script"/>
                  <a:cs typeface="Playlist Script"/>
                  <a:sym typeface="Playlist Script"/>
                </a:rPr>
                <a:t>Agenda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33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131715" y="78516"/>
            <a:ext cx="8416862" cy="579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5"/>
              </a:lnSpc>
            </a:pPr>
            <a:endParaRPr/>
          </a:p>
        </p:txBody>
      </p:sp>
      <p:grpSp>
        <p:nvGrpSpPr>
          <p:cNvPr id="14" name="Group 14"/>
          <p:cNvGrpSpPr/>
          <p:nvPr/>
        </p:nvGrpSpPr>
        <p:grpSpPr>
          <a:xfrm>
            <a:off x="7131052" y="5872460"/>
            <a:ext cx="4613551" cy="666407"/>
            <a:chOff x="0" y="0"/>
            <a:chExt cx="1964221" cy="2837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Enunciado Practica 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131052" y="6825038"/>
            <a:ext cx="4613551" cy="666407"/>
            <a:chOff x="0" y="0"/>
            <a:chExt cx="1964221" cy="2837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Corto 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31052" y="7798599"/>
            <a:ext cx="8967381" cy="660526"/>
            <a:chOff x="0" y="0"/>
            <a:chExt cx="3817867" cy="2812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17867" cy="281219"/>
            </a:xfrm>
            <a:custGeom>
              <a:avLst/>
              <a:gdLst/>
              <a:ahLst/>
              <a:cxnLst/>
              <a:rect l="l" t="t" r="r" b="b"/>
              <a:pathLst>
                <a:path w="3817867" h="281219">
                  <a:moveTo>
                    <a:pt x="3614667" y="0"/>
                  </a:moveTo>
                  <a:lnTo>
                    <a:pt x="0" y="0"/>
                  </a:lnTo>
                  <a:lnTo>
                    <a:pt x="0" y="281219"/>
                  </a:lnTo>
                  <a:lnTo>
                    <a:pt x="3614667" y="281219"/>
                  </a:lnTo>
                  <a:lnTo>
                    <a:pt x="3817867" y="140610"/>
                  </a:lnTo>
                  <a:lnTo>
                    <a:pt x="361466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3703567" cy="357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Semana 4: Diseño y Usabilidad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31052" y="8854721"/>
            <a:ext cx="4613551" cy="666407"/>
            <a:chOff x="0" y="0"/>
            <a:chExt cx="1964221" cy="28372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¿DUDAS?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6391897" y="587246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391897" y="6854033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391897" y="7853815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391897" y="885472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48413" y="1295401"/>
            <a:ext cx="13991174" cy="180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sz="60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COMPETENCIA(S) QUE DESARROLLAREMOS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60838" y="3266440"/>
            <a:ext cx="14766324" cy="365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5199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Aprende a elegir metodologias de desarrollo comparando los requerimientos que exige el proyecto para entregar software que satisfagan las necesidades solicitadas.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4441" y="-237758"/>
            <a:ext cx="4887111" cy="4557231"/>
          </a:xfrm>
          <a:custGeom>
            <a:avLst/>
            <a:gdLst/>
            <a:ahLst/>
            <a:cxnLst/>
            <a:rect l="l" t="t" r="r" b="b"/>
            <a:pathLst>
              <a:path w="4887111" h="4557231">
                <a:moveTo>
                  <a:pt x="0" y="0"/>
                </a:moveTo>
                <a:lnTo>
                  <a:pt x="4887111" y="0"/>
                </a:lnTo>
                <a:lnTo>
                  <a:pt x="4887111" y="4557231"/>
                </a:lnTo>
                <a:lnTo>
                  <a:pt x="0" y="4557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188100" y="5967527"/>
            <a:ext cx="4099900" cy="4319473"/>
          </a:xfrm>
          <a:custGeom>
            <a:avLst/>
            <a:gdLst/>
            <a:ahLst/>
            <a:cxnLst/>
            <a:rect l="l" t="t" r="r" b="b"/>
            <a:pathLst>
              <a:path w="4099900" h="4319473">
                <a:moveTo>
                  <a:pt x="0" y="4319473"/>
                </a:moveTo>
                <a:lnTo>
                  <a:pt x="4099900" y="4319473"/>
                </a:lnTo>
                <a:lnTo>
                  <a:pt x="4099900" y="0"/>
                </a:lnTo>
                <a:lnTo>
                  <a:pt x="0" y="0"/>
                </a:lnTo>
                <a:lnTo>
                  <a:pt x="0" y="43194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446006" y="2528136"/>
            <a:ext cx="13395989" cy="339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9"/>
              </a:lnSpc>
              <a:spcBef>
                <a:spcPct val="0"/>
              </a:spcBef>
            </a:pPr>
            <a:r>
              <a:rPr lang="en-US" sz="9699" b="1">
                <a:solidFill>
                  <a:srgbClr val="1E5A66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DISEÑO Y USABILIDAD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30822" y="6076431"/>
            <a:ext cx="13007228" cy="178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0"/>
              </a:lnSpc>
              <a:spcBef>
                <a:spcPct val="0"/>
              </a:spcBef>
            </a:pPr>
            <a:r>
              <a:rPr lang="en-US" sz="510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CONSTRUYENDO SOFTWARE ÚTIL, CLARO Y CENTRADO EN EL USUARIO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3731408">
            <a:off x="13725951" y="152256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88651" y="933051"/>
            <a:ext cx="16910699" cy="7100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40"/>
              </a:lnSpc>
            </a:pPr>
            <a:r>
              <a:rPr lang="en-US" sz="367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 el desarrollo de sistemas, no basta con que el software sea funcional y cumpla con los requisitos técnicos. Un producto exitoso también debe ser claro, intuitivo y agradable de usar.</a:t>
            </a:r>
          </a:p>
          <a:p>
            <a:pPr algn="just">
              <a:lnSpc>
                <a:spcPts val="5140"/>
              </a:lnSpc>
            </a:pPr>
            <a:endParaRPr lang="en-US" sz="3671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5140"/>
              </a:lnSpc>
            </a:pPr>
            <a:r>
              <a:rPr lang="en-US" sz="367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usuario final no evalúa el código que hay detrás, sino la experiencia que vive al interactuar con la interfaz. Un diseño confuso, sobrecargado o poco accesible puede hacer que un software técnicamente perfecto fracase.</a:t>
            </a:r>
          </a:p>
          <a:p>
            <a:pPr algn="just">
              <a:lnSpc>
                <a:spcPts val="5140"/>
              </a:lnSpc>
            </a:pPr>
            <a:endParaRPr lang="en-US" sz="3671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5140"/>
              </a:lnSpc>
              <a:spcBef>
                <a:spcPct val="0"/>
              </a:spcBef>
            </a:pPr>
            <a:r>
              <a:rPr lang="en-US" sz="367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Nuestro objetivo es lograr el equilibrio de un software sólido en su funcionamiento y pensado para las personas que lo usarán.</a:t>
            </a:r>
          </a:p>
        </p:txBody>
      </p:sp>
      <p:sp>
        <p:nvSpPr>
          <p:cNvPr id="7" name="Freeform 7"/>
          <p:cNvSpPr/>
          <p:nvPr/>
        </p:nvSpPr>
        <p:spPr>
          <a:xfrm>
            <a:off x="16310393" y="-423073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3"/>
                </a:lnTo>
                <a:lnTo>
                  <a:pt x="0" y="1999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9047" y="576654"/>
            <a:ext cx="9426393" cy="1400419"/>
            <a:chOff x="0" y="0"/>
            <a:chExt cx="3002043" cy="445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02043" cy="445994"/>
            </a:xfrm>
            <a:custGeom>
              <a:avLst/>
              <a:gdLst/>
              <a:ahLst/>
              <a:cxnLst/>
              <a:rect l="l" t="t" r="r" b="b"/>
              <a:pathLst>
                <a:path w="3002043" h="445994">
                  <a:moveTo>
                    <a:pt x="38601" y="0"/>
                  </a:moveTo>
                  <a:lnTo>
                    <a:pt x="2963442" y="0"/>
                  </a:lnTo>
                  <a:cubicBezTo>
                    <a:pt x="2973679" y="0"/>
                    <a:pt x="2983498" y="4067"/>
                    <a:pt x="2990737" y="11306"/>
                  </a:cubicBezTo>
                  <a:cubicBezTo>
                    <a:pt x="2997976" y="18545"/>
                    <a:pt x="3002043" y="28364"/>
                    <a:pt x="3002043" y="38601"/>
                  </a:cubicBezTo>
                  <a:lnTo>
                    <a:pt x="3002043" y="407393"/>
                  </a:lnTo>
                  <a:cubicBezTo>
                    <a:pt x="3002043" y="417631"/>
                    <a:pt x="2997976" y="427449"/>
                    <a:pt x="2990737" y="434688"/>
                  </a:cubicBezTo>
                  <a:cubicBezTo>
                    <a:pt x="2983498" y="441927"/>
                    <a:pt x="2973679" y="445994"/>
                    <a:pt x="2963442" y="445994"/>
                  </a:cubicBezTo>
                  <a:lnTo>
                    <a:pt x="38601" y="445994"/>
                  </a:lnTo>
                  <a:cubicBezTo>
                    <a:pt x="28364" y="445994"/>
                    <a:pt x="18545" y="441927"/>
                    <a:pt x="11306" y="434688"/>
                  </a:cubicBezTo>
                  <a:cubicBezTo>
                    <a:pt x="4067" y="427449"/>
                    <a:pt x="0" y="417631"/>
                    <a:pt x="0" y="407393"/>
                  </a:cubicBezTo>
                  <a:lnTo>
                    <a:pt x="0" y="38601"/>
                  </a:lnTo>
                  <a:cubicBezTo>
                    <a:pt x="0" y="28364"/>
                    <a:pt x="4067" y="18545"/>
                    <a:pt x="11306" y="11306"/>
                  </a:cubicBezTo>
                  <a:cubicBezTo>
                    <a:pt x="18545" y="4067"/>
                    <a:pt x="28364" y="0"/>
                    <a:pt x="38601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02043" cy="484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21474" y="678192"/>
            <a:ext cx="8976163" cy="10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20"/>
              </a:lnSpc>
              <a:spcBef>
                <a:spcPct val="0"/>
              </a:spcBef>
            </a:pPr>
            <a:r>
              <a:rPr lang="en-US" sz="6157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Software Generico</a:t>
            </a:r>
          </a:p>
        </p:txBody>
      </p:sp>
      <p:sp>
        <p:nvSpPr>
          <p:cNvPr id="6" name="Freeform 6"/>
          <p:cNvSpPr/>
          <p:nvPr/>
        </p:nvSpPr>
        <p:spPr>
          <a:xfrm rot="-2700000">
            <a:off x="1146631" y="564447"/>
            <a:ext cx="1424832" cy="1424832"/>
          </a:xfrm>
          <a:custGeom>
            <a:avLst/>
            <a:gdLst/>
            <a:ahLst/>
            <a:cxnLst/>
            <a:rect l="l" t="t" r="r" b="b"/>
            <a:pathLst>
              <a:path w="1424832" h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3731408">
            <a:off x="13725951" y="152256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51539" y="2217697"/>
            <a:ext cx="16407761" cy="751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 software genérico se refiere a un programa informático diseñado para ser utilizado por una amplia gama de usuarios o empresas en diferentes sectores o industrias. Estos tipos de software son desarrollados para cumplir con funciones y necesidades comunes que son compartidas por múltiples usuarios.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Algunos ejemplos comunes de software genérico incluyen suites de oficina, programas de contabilidad, software de gestión de proyectos, navegadores web, reproductores multimedia, entre otros.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390186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2700000">
            <a:off x="1292530" y="710346"/>
            <a:ext cx="1133035" cy="1133035"/>
          </a:xfrm>
          <a:custGeom>
            <a:avLst/>
            <a:gdLst/>
            <a:ahLst/>
            <a:cxnLst/>
            <a:rect l="l" t="t" r="r" b="b"/>
            <a:pathLst>
              <a:path w="1133035" h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9047" y="576654"/>
            <a:ext cx="15043099" cy="1400419"/>
            <a:chOff x="0" y="0"/>
            <a:chExt cx="4790807" cy="445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90807" cy="445994"/>
            </a:xfrm>
            <a:custGeom>
              <a:avLst/>
              <a:gdLst/>
              <a:ahLst/>
              <a:cxnLst/>
              <a:rect l="l" t="t" r="r" b="b"/>
              <a:pathLst>
                <a:path w="4790807" h="445994">
                  <a:moveTo>
                    <a:pt x="24189" y="0"/>
                  </a:moveTo>
                  <a:lnTo>
                    <a:pt x="4766618" y="0"/>
                  </a:lnTo>
                  <a:cubicBezTo>
                    <a:pt x="4773033" y="0"/>
                    <a:pt x="4779186" y="2548"/>
                    <a:pt x="4783722" y="7085"/>
                  </a:cubicBezTo>
                  <a:cubicBezTo>
                    <a:pt x="4788259" y="11621"/>
                    <a:pt x="4790807" y="17773"/>
                    <a:pt x="4790807" y="24189"/>
                  </a:cubicBezTo>
                  <a:lnTo>
                    <a:pt x="4790807" y="421806"/>
                  </a:lnTo>
                  <a:cubicBezTo>
                    <a:pt x="4790807" y="428221"/>
                    <a:pt x="4788259" y="434373"/>
                    <a:pt x="4783722" y="438910"/>
                  </a:cubicBezTo>
                  <a:cubicBezTo>
                    <a:pt x="4779186" y="443446"/>
                    <a:pt x="4773033" y="445994"/>
                    <a:pt x="4766618" y="445994"/>
                  </a:cubicBezTo>
                  <a:lnTo>
                    <a:pt x="24189" y="445994"/>
                  </a:lnTo>
                  <a:cubicBezTo>
                    <a:pt x="17773" y="445994"/>
                    <a:pt x="11621" y="443446"/>
                    <a:pt x="7085" y="438910"/>
                  </a:cubicBezTo>
                  <a:cubicBezTo>
                    <a:pt x="2548" y="434373"/>
                    <a:pt x="0" y="428221"/>
                    <a:pt x="0" y="421806"/>
                  </a:cubicBezTo>
                  <a:lnTo>
                    <a:pt x="0" y="24189"/>
                  </a:lnTo>
                  <a:cubicBezTo>
                    <a:pt x="0" y="17773"/>
                    <a:pt x="2548" y="11621"/>
                    <a:pt x="7085" y="7085"/>
                  </a:cubicBezTo>
                  <a:cubicBezTo>
                    <a:pt x="11621" y="2548"/>
                    <a:pt x="17773" y="0"/>
                    <a:pt x="24189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90807" cy="484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21474" y="678192"/>
            <a:ext cx="15137826" cy="10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20"/>
              </a:lnSpc>
              <a:spcBef>
                <a:spcPct val="0"/>
              </a:spcBef>
            </a:pPr>
            <a:r>
              <a:rPr lang="en-US" sz="6157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Software Generico vs Personalizado</a:t>
            </a:r>
          </a:p>
        </p:txBody>
      </p:sp>
      <p:sp>
        <p:nvSpPr>
          <p:cNvPr id="6" name="Freeform 6"/>
          <p:cNvSpPr/>
          <p:nvPr/>
        </p:nvSpPr>
        <p:spPr>
          <a:xfrm rot="-2700000">
            <a:off x="1146631" y="564447"/>
            <a:ext cx="1424832" cy="1424832"/>
          </a:xfrm>
          <a:custGeom>
            <a:avLst/>
            <a:gdLst/>
            <a:ahLst/>
            <a:cxnLst/>
            <a:rect l="l" t="t" r="r" b="b"/>
            <a:pathLst>
              <a:path w="1424832" h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3731408">
            <a:off x="13725951" y="152256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51539" y="2293142"/>
            <a:ext cx="16407761" cy="5005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 software personalizado se refiere a un programa informático diseñado y desarrollado específicamente para satisfacer las necesidades y requerimientos únicos de una organización o empresa en particular. A diferencia del software genérico, que está diseñado para un amplio grupo de usuarios con necesidades comunes y tiende a ser más accesible, ya que se desarrolla y comercializa en masa, el software personalizado se adapta y se construye de acuerdo con las especificaciones y los procesos específicos de una organización.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390186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2700000">
            <a:off x="1292530" y="710346"/>
            <a:ext cx="1133035" cy="1133035"/>
          </a:xfrm>
          <a:custGeom>
            <a:avLst/>
            <a:gdLst/>
            <a:ahLst/>
            <a:cxnLst/>
            <a:rect l="l" t="t" r="r" b="b"/>
            <a:pathLst>
              <a:path w="1133035" h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6465956"/>
            <a:ext cx="3626807" cy="3821044"/>
          </a:xfrm>
          <a:custGeom>
            <a:avLst/>
            <a:gdLst/>
            <a:ahLst/>
            <a:cxnLst/>
            <a:rect l="l" t="t" r="r" b="b"/>
            <a:pathLst>
              <a:path w="3626807" h="3821044">
                <a:moveTo>
                  <a:pt x="3626807" y="3821044"/>
                </a:moveTo>
                <a:lnTo>
                  <a:pt x="0" y="3821044"/>
                </a:lnTo>
                <a:lnTo>
                  <a:pt x="0" y="0"/>
                </a:lnTo>
                <a:lnTo>
                  <a:pt x="3626807" y="0"/>
                </a:lnTo>
                <a:lnTo>
                  <a:pt x="3626807" y="38210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42031" y="3147898"/>
            <a:ext cx="12042039" cy="378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12"/>
              </a:lnSpc>
              <a:spcBef>
                <a:spcPct val="0"/>
              </a:spcBef>
            </a:pPr>
            <a:r>
              <a:rPr lang="en-US" sz="10866" b="1">
                <a:solidFill>
                  <a:srgbClr val="1E5A66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PRINCIPIOS JAKOB NIELSEN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69163">
            <a:off x="17166815" y="-116693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1897814" y="0"/>
                </a:moveTo>
                <a:lnTo>
                  <a:pt x="0" y="0"/>
                </a:lnTo>
                <a:lnTo>
                  <a:pt x="0" y="1999452"/>
                </a:lnTo>
                <a:lnTo>
                  <a:pt x="1897814" y="1999452"/>
                </a:lnTo>
                <a:lnTo>
                  <a:pt x="18978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055623" y="8354196"/>
            <a:ext cx="1582825" cy="158282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75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847890" y="282467"/>
            <a:ext cx="14592220" cy="9722066"/>
          </a:xfrm>
          <a:custGeom>
            <a:avLst/>
            <a:gdLst/>
            <a:ahLst/>
            <a:cxnLst/>
            <a:rect l="l" t="t" r="r" b="b"/>
            <a:pathLst>
              <a:path w="14592220" h="9722066">
                <a:moveTo>
                  <a:pt x="0" y="0"/>
                </a:moveTo>
                <a:lnTo>
                  <a:pt x="14592220" y="0"/>
                </a:lnTo>
                <a:lnTo>
                  <a:pt x="14592220" y="9722066"/>
                </a:lnTo>
                <a:lnTo>
                  <a:pt x="0" y="97220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9047" y="576654"/>
            <a:ext cx="15043099" cy="1400419"/>
            <a:chOff x="0" y="0"/>
            <a:chExt cx="4790807" cy="445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90807" cy="445994"/>
            </a:xfrm>
            <a:custGeom>
              <a:avLst/>
              <a:gdLst/>
              <a:ahLst/>
              <a:cxnLst/>
              <a:rect l="l" t="t" r="r" b="b"/>
              <a:pathLst>
                <a:path w="4790807" h="445994">
                  <a:moveTo>
                    <a:pt x="24189" y="0"/>
                  </a:moveTo>
                  <a:lnTo>
                    <a:pt x="4766618" y="0"/>
                  </a:lnTo>
                  <a:cubicBezTo>
                    <a:pt x="4773033" y="0"/>
                    <a:pt x="4779186" y="2548"/>
                    <a:pt x="4783722" y="7085"/>
                  </a:cubicBezTo>
                  <a:cubicBezTo>
                    <a:pt x="4788259" y="11621"/>
                    <a:pt x="4790807" y="17773"/>
                    <a:pt x="4790807" y="24189"/>
                  </a:cubicBezTo>
                  <a:lnTo>
                    <a:pt x="4790807" y="421806"/>
                  </a:lnTo>
                  <a:cubicBezTo>
                    <a:pt x="4790807" y="428221"/>
                    <a:pt x="4788259" y="434373"/>
                    <a:pt x="4783722" y="438910"/>
                  </a:cubicBezTo>
                  <a:cubicBezTo>
                    <a:pt x="4779186" y="443446"/>
                    <a:pt x="4773033" y="445994"/>
                    <a:pt x="4766618" y="445994"/>
                  </a:cubicBezTo>
                  <a:lnTo>
                    <a:pt x="24189" y="445994"/>
                  </a:lnTo>
                  <a:cubicBezTo>
                    <a:pt x="17773" y="445994"/>
                    <a:pt x="11621" y="443446"/>
                    <a:pt x="7085" y="438910"/>
                  </a:cubicBezTo>
                  <a:cubicBezTo>
                    <a:pt x="2548" y="434373"/>
                    <a:pt x="0" y="428221"/>
                    <a:pt x="0" y="421806"/>
                  </a:cubicBezTo>
                  <a:lnTo>
                    <a:pt x="0" y="24189"/>
                  </a:lnTo>
                  <a:cubicBezTo>
                    <a:pt x="0" y="17773"/>
                    <a:pt x="2548" y="11621"/>
                    <a:pt x="7085" y="7085"/>
                  </a:cubicBezTo>
                  <a:cubicBezTo>
                    <a:pt x="11621" y="2548"/>
                    <a:pt x="17773" y="0"/>
                    <a:pt x="24189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90807" cy="484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21474" y="678192"/>
            <a:ext cx="15137826" cy="214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20"/>
              </a:lnSpc>
            </a:pPr>
            <a:r>
              <a:rPr lang="en-US" sz="6157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1. Visibilidad del estado del sistema</a:t>
            </a:r>
          </a:p>
          <a:p>
            <a:pPr algn="ctr">
              <a:lnSpc>
                <a:spcPts val="8620"/>
              </a:lnSpc>
              <a:spcBef>
                <a:spcPct val="0"/>
              </a:spcBef>
            </a:pPr>
            <a:endParaRPr lang="en-US" sz="6157">
              <a:solidFill>
                <a:srgbClr val="000000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6" name="Freeform 6"/>
          <p:cNvSpPr/>
          <p:nvPr/>
        </p:nvSpPr>
        <p:spPr>
          <a:xfrm rot="-2700000">
            <a:off x="1146631" y="564447"/>
            <a:ext cx="1424832" cy="1424832"/>
          </a:xfrm>
          <a:custGeom>
            <a:avLst/>
            <a:gdLst/>
            <a:ahLst/>
            <a:cxnLst/>
            <a:rect l="l" t="t" r="r" b="b"/>
            <a:pathLst>
              <a:path w="1424832" h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3731408">
            <a:off x="13725951" y="152256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57870" y="3550442"/>
            <a:ext cx="16407761" cy="311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sistema debe mantener informado al usuario sobre lo que esta ocurriendo en la web a cada momento.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Tratar de no dejar a los usuarios pensando «¿Qué esta pasando ahora?»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390186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2700000">
            <a:off x="1292530" y="710346"/>
            <a:ext cx="1133035" cy="1133035"/>
          </a:xfrm>
          <a:custGeom>
            <a:avLst/>
            <a:gdLst/>
            <a:ahLst/>
            <a:cxnLst/>
            <a:rect l="l" t="t" r="r" b="b"/>
            <a:pathLst>
              <a:path w="1133035" h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74519" cy="10484290"/>
          </a:xfrm>
          <a:custGeom>
            <a:avLst/>
            <a:gdLst/>
            <a:ahLst/>
            <a:cxnLst/>
            <a:rect l="l" t="t" r="r" b="b"/>
            <a:pathLst>
              <a:path w="18474519" h="10484290">
                <a:moveTo>
                  <a:pt x="0" y="0"/>
                </a:moveTo>
                <a:lnTo>
                  <a:pt x="18474519" y="0"/>
                </a:lnTo>
                <a:lnTo>
                  <a:pt x="18474519" y="10484290"/>
                </a:lnTo>
                <a:lnTo>
                  <a:pt x="0" y="10484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9047" y="576654"/>
            <a:ext cx="15867289" cy="1400419"/>
            <a:chOff x="0" y="0"/>
            <a:chExt cx="5053289" cy="445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3288" cy="445994"/>
            </a:xfrm>
            <a:custGeom>
              <a:avLst/>
              <a:gdLst/>
              <a:ahLst/>
              <a:cxnLst/>
              <a:rect l="l" t="t" r="r" b="b"/>
              <a:pathLst>
                <a:path w="5053288" h="445994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3289" cy="484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2700000">
            <a:off x="295092" y="564447"/>
            <a:ext cx="1424832" cy="1424832"/>
          </a:xfrm>
          <a:custGeom>
            <a:avLst/>
            <a:gdLst/>
            <a:ahLst/>
            <a:cxnLst/>
            <a:rect l="l" t="t" r="r" b="b"/>
            <a:pathLst>
              <a:path w="1424832" h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3731408">
            <a:off x="13725951" y="152256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18575" y="2604149"/>
            <a:ext cx="16407761" cy="3748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sistema tiene que hablar el idioma del usuario. Se debe utilizar palabras, frases y conceptos que le sean familiares.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 recomendable que el diseño siga las convenciones del mundo real y se pueda intuir o comprender rápidamente como funciona la interfaz.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390186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121474" y="706767"/>
            <a:ext cx="15137826" cy="176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0"/>
              </a:lnSpc>
            </a:pPr>
            <a:r>
              <a:rPr lang="en-US" sz="5057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2. Consistencia entre el sistema y el mundo real</a:t>
            </a:r>
          </a:p>
          <a:p>
            <a:pPr algn="ctr">
              <a:lnSpc>
                <a:spcPts val="7080"/>
              </a:lnSpc>
              <a:spcBef>
                <a:spcPct val="0"/>
              </a:spcBef>
            </a:pPr>
            <a:endParaRPr lang="en-US" sz="5057">
              <a:solidFill>
                <a:srgbClr val="000000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13" name="Freeform 13"/>
          <p:cNvSpPr/>
          <p:nvPr/>
        </p:nvSpPr>
        <p:spPr>
          <a:xfrm rot="-2700000">
            <a:off x="462183" y="710346"/>
            <a:ext cx="1133035" cy="1133035"/>
          </a:xfrm>
          <a:custGeom>
            <a:avLst/>
            <a:gdLst/>
            <a:ahLst/>
            <a:cxnLst/>
            <a:rect l="l" t="t" r="r" b="b"/>
            <a:pathLst>
              <a:path w="1133035" h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78440"/>
          </a:xfrm>
          <a:custGeom>
            <a:avLst/>
            <a:gdLst/>
            <a:ahLst/>
            <a:cxnLst/>
            <a:rect l="l" t="t" r="r" b="b"/>
            <a:pathLst>
              <a:path w="18288000" h="1037844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9047" y="576654"/>
            <a:ext cx="15867289" cy="1400419"/>
            <a:chOff x="0" y="0"/>
            <a:chExt cx="5053289" cy="445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3288" cy="445994"/>
            </a:xfrm>
            <a:custGeom>
              <a:avLst/>
              <a:gdLst/>
              <a:ahLst/>
              <a:cxnLst/>
              <a:rect l="l" t="t" r="r" b="b"/>
              <a:pathLst>
                <a:path w="5053288" h="445994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3289" cy="484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2700000">
            <a:off x="295092" y="564447"/>
            <a:ext cx="1424832" cy="1424832"/>
          </a:xfrm>
          <a:custGeom>
            <a:avLst/>
            <a:gdLst/>
            <a:ahLst/>
            <a:cxnLst/>
            <a:rect l="l" t="t" r="r" b="b"/>
            <a:pathLst>
              <a:path w="1424832" h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3731408">
            <a:off x="13725951" y="152256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18575" y="2604149"/>
            <a:ext cx="16407761" cy="437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 usuarios suelen realizar acciones por error. Siempre debe existir una «salida de emergencia» para revertir una acción no deseada.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Ofrece al usuario el control de la plataforma para que se sienta seguro. Una forma sencilla es agregar la funcionalidad de «rehacer» y «deshacer»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390186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121474" y="687717"/>
            <a:ext cx="15137826" cy="1029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40"/>
              </a:lnSpc>
              <a:spcBef>
                <a:spcPct val="0"/>
              </a:spcBef>
            </a:pPr>
            <a:r>
              <a:rPr lang="en-US" sz="5957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3. Control y libertad del usuario</a:t>
            </a:r>
          </a:p>
        </p:txBody>
      </p:sp>
      <p:sp>
        <p:nvSpPr>
          <p:cNvPr id="13" name="Freeform 13"/>
          <p:cNvSpPr/>
          <p:nvPr/>
        </p:nvSpPr>
        <p:spPr>
          <a:xfrm rot="-2700000">
            <a:off x="462183" y="710346"/>
            <a:ext cx="1133035" cy="1133035"/>
          </a:xfrm>
          <a:custGeom>
            <a:avLst/>
            <a:gdLst/>
            <a:ahLst/>
            <a:cxnLst/>
            <a:rect l="l" t="t" r="r" b="b"/>
            <a:pathLst>
              <a:path w="1133035" h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78440"/>
          </a:xfrm>
          <a:custGeom>
            <a:avLst/>
            <a:gdLst/>
            <a:ahLst/>
            <a:cxnLst/>
            <a:rect l="l" t="t" r="r" b="b"/>
            <a:pathLst>
              <a:path w="18288000" h="1037844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9047" y="576654"/>
            <a:ext cx="15867289" cy="1400419"/>
            <a:chOff x="0" y="0"/>
            <a:chExt cx="5053289" cy="445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3288" cy="445994"/>
            </a:xfrm>
            <a:custGeom>
              <a:avLst/>
              <a:gdLst/>
              <a:ahLst/>
              <a:cxnLst/>
              <a:rect l="l" t="t" r="r" b="b"/>
              <a:pathLst>
                <a:path w="5053288" h="445994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3289" cy="484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2700000">
            <a:off x="295092" y="564447"/>
            <a:ext cx="1424832" cy="1424832"/>
          </a:xfrm>
          <a:custGeom>
            <a:avLst/>
            <a:gdLst/>
            <a:ahLst/>
            <a:cxnLst/>
            <a:rect l="l" t="t" r="r" b="b"/>
            <a:pathLst>
              <a:path w="1424832" h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3731408">
            <a:off x="13725951" y="152256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23505" y="2420996"/>
            <a:ext cx="16407761" cy="6891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 usuarios no deben verse obligados si diferentes palabras, situaciones o acciones significan lo mismo. Se debe seguir las convenciones establecidas en la plataforma y la industria.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Las personas ya tienen experiencia con otros productos, no solo con el nuestro. Cambiar ciertos elementos ya establecidos, obligará a los usuarios a aprender algo nuevo. Esto debe de evitarse.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Como por ejemplo: Mantener las convenciones establecidas por la industria («X» para cerrar, «Lupa» para buscar, etc.)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390186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953543" y="619733"/>
            <a:ext cx="15137826" cy="121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80"/>
              </a:lnSpc>
              <a:spcBef>
                <a:spcPct val="0"/>
              </a:spcBef>
            </a:pPr>
            <a:r>
              <a:rPr lang="en-US" sz="7057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4. Consistencia y estándares</a:t>
            </a:r>
          </a:p>
        </p:txBody>
      </p:sp>
      <p:sp>
        <p:nvSpPr>
          <p:cNvPr id="13" name="Freeform 13"/>
          <p:cNvSpPr/>
          <p:nvPr/>
        </p:nvSpPr>
        <p:spPr>
          <a:xfrm rot="-2700000">
            <a:off x="462183" y="710346"/>
            <a:ext cx="1133035" cy="1133035"/>
          </a:xfrm>
          <a:custGeom>
            <a:avLst/>
            <a:gdLst/>
            <a:ahLst/>
            <a:cxnLst/>
            <a:rect l="l" t="t" r="r" b="b"/>
            <a:pathLst>
              <a:path w="1133035" h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78440"/>
          </a:xfrm>
          <a:custGeom>
            <a:avLst/>
            <a:gdLst/>
            <a:ahLst/>
            <a:cxnLst/>
            <a:rect l="l" t="t" r="r" b="b"/>
            <a:pathLst>
              <a:path w="18288000" h="1037844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9047" y="576654"/>
            <a:ext cx="15867289" cy="1400419"/>
            <a:chOff x="0" y="0"/>
            <a:chExt cx="5053289" cy="445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3288" cy="445994"/>
            </a:xfrm>
            <a:custGeom>
              <a:avLst/>
              <a:gdLst/>
              <a:ahLst/>
              <a:cxnLst/>
              <a:rect l="l" t="t" r="r" b="b"/>
              <a:pathLst>
                <a:path w="5053288" h="445994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3289" cy="484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2700000">
            <a:off x="295092" y="564447"/>
            <a:ext cx="1424832" cy="1424832"/>
          </a:xfrm>
          <a:custGeom>
            <a:avLst/>
            <a:gdLst/>
            <a:ahLst/>
            <a:cxnLst/>
            <a:rect l="l" t="t" r="r" b="b"/>
            <a:pathLst>
              <a:path w="1424832" h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3731408">
            <a:off x="13725951" y="152256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23505" y="2420996"/>
            <a:ext cx="16407761" cy="3748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 buenos mensajes de error son importantes. Pero mejor aún, es crear un diseño que evite que los errores ocurran.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esperar que los usuarios se equivoquen, agrega elementos que lo ayuden a prevenir los errores.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390186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953543" y="619733"/>
            <a:ext cx="15137826" cy="2459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80"/>
              </a:lnSpc>
              <a:spcBef>
                <a:spcPct val="0"/>
              </a:spcBef>
            </a:pPr>
            <a:r>
              <a:rPr lang="en-US" sz="7057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5. Prevención de errores</a:t>
            </a:r>
          </a:p>
          <a:p>
            <a:pPr algn="ctr">
              <a:lnSpc>
                <a:spcPts val="9880"/>
              </a:lnSpc>
              <a:spcBef>
                <a:spcPct val="0"/>
              </a:spcBef>
            </a:pPr>
            <a:endParaRPr lang="en-US" sz="7057">
              <a:solidFill>
                <a:srgbClr val="000000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13" name="Freeform 13"/>
          <p:cNvSpPr/>
          <p:nvPr/>
        </p:nvSpPr>
        <p:spPr>
          <a:xfrm rot="-2700000">
            <a:off x="462183" y="710346"/>
            <a:ext cx="1133035" cy="1133035"/>
          </a:xfrm>
          <a:custGeom>
            <a:avLst/>
            <a:gdLst/>
            <a:ahLst/>
            <a:cxnLst/>
            <a:rect l="l" t="t" r="r" b="b"/>
            <a:pathLst>
              <a:path w="1133035" h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78440"/>
          </a:xfrm>
          <a:custGeom>
            <a:avLst/>
            <a:gdLst/>
            <a:ahLst/>
            <a:cxnLst/>
            <a:rect l="l" t="t" r="r" b="b"/>
            <a:pathLst>
              <a:path w="18288000" h="1037844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9047" y="576654"/>
            <a:ext cx="15867289" cy="1400419"/>
            <a:chOff x="0" y="0"/>
            <a:chExt cx="5053289" cy="445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3288" cy="445994"/>
            </a:xfrm>
            <a:custGeom>
              <a:avLst/>
              <a:gdLst/>
              <a:ahLst/>
              <a:cxnLst/>
              <a:rect l="l" t="t" r="r" b="b"/>
              <a:pathLst>
                <a:path w="5053288" h="445994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3289" cy="484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2700000">
            <a:off x="295092" y="564447"/>
            <a:ext cx="1424832" cy="1424832"/>
          </a:xfrm>
          <a:custGeom>
            <a:avLst/>
            <a:gdLst/>
            <a:ahLst/>
            <a:cxnLst/>
            <a:rect l="l" t="t" r="r" b="b"/>
            <a:pathLst>
              <a:path w="1424832" h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3731408">
            <a:off x="13725951" y="152256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23505" y="2166546"/>
            <a:ext cx="16407761" cy="751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Minimizar el uso de memoria del usuario haciendo visibles los elementos, las acciones y las opciones.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  <a:spcBef>
                <a:spcPct val="0"/>
              </a:spcBef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Las interfaces deben promover el reconocimiento y evitar que los usuarios memoricen sus acciones o elementos al desplazarse por el sistema. Algunas preguntas que te pueden ayudar son: 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769118" lvl="1" indent="-384559" algn="just">
              <a:lnSpc>
                <a:spcPts val="4987"/>
              </a:lnSpc>
              <a:buFont typeface="Arial"/>
              <a:buChar char="•"/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¿Conoce el usuario de donde viene y a donde va? </a:t>
            </a:r>
          </a:p>
          <a:p>
            <a:pPr marL="769118" lvl="1" indent="-384559" algn="just">
              <a:lnSpc>
                <a:spcPts val="4987"/>
              </a:lnSpc>
              <a:buFont typeface="Arial"/>
              <a:buChar char="•"/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¿El usuario tiene que recordar cosas para entender lo que esta pasando? </a:t>
            </a:r>
          </a:p>
          <a:p>
            <a:pPr marL="769118" lvl="1" indent="-384559" algn="just">
              <a:lnSpc>
                <a:spcPts val="4987"/>
              </a:lnSpc>
              <a:buFont typeface="Arial"/>
              <a:buChar char="•"/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¿cómo lo ayudamos a recodar?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390186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121474" y="700060"/>
            <a:ext cx="15137826" cy="1029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40"/>
              </a:lnSpc>
              <a:spcBef>
                <a:spcPct val="0"/>
              </a:spcBef>
            </a:pPr>
            <a:r>
              <a:rPr lang="en-US" sz="5957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6. Reconocimiento en lugar de recuerdo</a:t>
            </a:r>
          </a:p>
        </p:txBody>
      </p:sp>
      <p:sp>
        <p:nvSpPr>
          <p:cNvPr id="13" name="Freeform 13"/>
          <p:cNvSpPr/>
          <p:nvPr/>
        </p:nvSpPr>
        <p:spPr>
          <a:xfrm rot="-2700000">
            <a:off x="462183" y="710346"/>
            <a:ext cx="1133035" cy="1133035"/>
          </a:xfrm>
          <a:custGeom>
            <a:avLst/>
            <a:gdLst/>
            <a:ahLst/>
            <a:cxnLst/>
            <a:rect l="l" t="t" r="r" b="b"/>
            <a:pathLst>
              <a:path w="1133035" h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78440"/>
          </a:xfrm>
          <a:custGeom>
            <a:avLst/>
            <a:gdLst/>
            <a:ahLst/>
            <a:cxnLst/>
            <a:rect l="l" t="t" r="r" b="b"/>
            <a:pathLst>
              <a:path w="18288000" h="1037844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9047" y="576654"/>
            <a:ext cx="15867289" cy="1400419"/>
            <a:chOff x="0" y="0"/>
            <a:chExt cx="5053289" cy="445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3288" cy="445994"/>
            </a:xfrm>
            <a:custGeom>
              <a:avLst/>
              <a:gdLst/>
              <a:ahLst/>
              <a:cxnLst/>
              <a:rect l="l" t="t" r="r" b="b"/>
              <a:pathLst>
                <a:path w="5053288" h="445994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3289" cy="484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2700000">
            <a:off x="295092" y="564447"/>
            <a:ext cx="1424832" cy="1424832"/>
          </a:xfrm>
          <a:custGeom>
            <a:avLst/>
            <a:gdLst/>
            <a:ahLst/>
            <a:cxnLst/>
            <a:rect l="l" t="t" r="r" b="b"/>
            <a:pathLst>
              <a:path w="1424832" h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3731408">
            <a:off x="13725951" y="152256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23505" y="2166546"/>
            <a:ext cx="16407761" cy="5005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 usuarios más experimentados, deben poseer atajos y aceleradores para poder realizar sus operaciones mas habituales. De esta forma, tiene alternativas para personalizar sus acciones frecuentes.</a:t>
            </a:r>
          </a:p>
          <a:p>
            <a:pPr algn="just">
              <a:lnSpc>
                <a:spcPts val="4987"/>
              </a:lnSpc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clave es la personalización tanto del contenido como de la funcionalidad para cada usuario.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390186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121474" y="700060"/>
            <a:ext cx="15137826" cy="1029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40"/>
              </a:lnSpc>
              <a:spcBef>
                <a:spcPct val="0"/>
              </a:spcBef>
            </a:pPr>
            <a:r>
              <a:rPr lang="en-US" sz="5957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7. Flexibilidad y eficiencia de uso</a:t>
            </a:r>
          </a:p>
        </p:txBody>
      </p:sp>
      <p:sp>
        <p:nvSpPr>
          <p:cNvPr id="13" name="Freeform 13"/>
          <p:cNvSpPr/>
          <p:nvPr/>
        </p:nvSpPr>
        <p:spPr>
          <a:xfrm rot="-2700000">
            <a:off x="462183" y="710346"/>
            <a:ext cx="1133035" cy="1133035"/>
          </a:xfrm>
          <a:custGeom>
            <a:avLst/>
            <a:gdLst/>
            <a:ahLst/>
            <a:cxnLst/>
            <a:rect l="l" t="t" r="r" b="b"/>
            <a:pathLst>
              <a:path w="1133035" h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78440"/>
          </a:xfrm>
          <a:custGeom>
            <a:avLst/>
            <a:gdLst/>
            <a:ahLst/>
            <a:cxnLst/>
            <a:rect l="l" t="t" r="r" b="b"/>
            <a:pathLst>
              <a:path w="18288000" h="1037844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9047" y="576654"/>
            <a:ext cx="15867289" cy="1400419"/>
            <a:chOff x="0" y="0"/>
            <a:chExt cx="5053289" cy="445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3288" cy="445994"/>
            </a:xfrm>
            <a:custGeom>
              <a:avLst/>
              <a:gdLst/>
              <a:ahLst/>
              <a:cxnLst/>
              <a:rect l="l" t="t" r="r" b="b"/>
              <a:pathLst>
                <a:path w="5053288" h="445994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23062"/>
                  </a:lnTo>
                  <a:cubicBezTo>
                    <a:pt x="5053288" y="429144"/>
                    <a:pt x="5050872" y="434977"/>
                    <a:pt x="5046572" y="439278"/>
                  </a:cubicBezTo>
                  <a:cubicBezTo>
                    <a:pt x="5042271" y="443578"/>
                    <a:pt x="5036438" y="445994"/>
                    <a:pt x="5030357" y="445994"/>
                  </a:cubicBezTo>
                  <a:lnTo>
                    <a:pt x="22932" y="445994"/>
                  </a:lnTo>
                  <a:cubicBezTo>
                    <a:pt x="16850" y="445994"/>
                    <a:pt x="11017" y="443578"/>
                    <a:pt x="6717" y="439278"/>
                  </a:cubicBezTo>
                  <a:cubicBezTo>
                    <a:pt x="2416" y="434977"/>
                    <a:pt x="0" y="429144"/>
                    <a:pt x="0" y="423062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3289" cy="484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2700000">
            <a:off x="295092" y="564447"/>
            <a:ext cx="1424832" cy="1424832"/>
          </a:xfrm>
          <a:custGeom>
            <a:avLst/>
            <a:gdLst/>
            <a:ahLst/>
            <a:cxnLst/>
            <a:rect l="l" t="t" r="r" b="b"/>
            <a:pathLst>
              <a:path w="1424832" h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3731408">
            <a:off x="13725951" y="152256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23505" y="2166546"/>
            <a:ext cx="16407761" cy="6262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Las interfaces no deben contener información irrelevante o que rara vez se necesite. Se debe conocer que tipo de contenido necesita el usuario.</a:t>
            </a:r>
          </a:p>
          <a:p>
            <a:pPr algn="just">
              <a:lnSpc>
                <a:spcPts val="4987"/>
              </a:lnSpc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Cada elemento extra compite con la información relevante y disminuye su visibilidad. Recuerda, menos es más. Responde a estas preguntas: </a:t>
            </a:r>
          </a:p>
          <a:p>
            <a:pPr marL="769118" lvl="1" indent="-384559" algn="just">
              <a:lnSpc>
                <a:spcPts val="4987"/>
              </a:lnSpc>
              <a:buFont typeface="Arial"/>
              <a:buChar char="•"/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necesita mi usuario?</a:t>
            </a:r>
          </a:p>
          <a:p>
            <a:pPr marL="769118" lvl="1" indent="-384559" algn="just">
              <a:lnSpc>
                <a:spcPts val="4987"/>
              </a:lnSpc>
              <a:buFont typeface="Arial"/>
              <a:buChar char="•"/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valor le aporta lo que le estoy mostrando?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390186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121474" y="700060"/>
            <a:ext cx="15137826" cy="1029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40"/>
              </a:lnSpc>
              <a:spcBef>
                <a:spcPct val="0"/>
              </a:spcBef>
            </a:pPr>
            <a:r>
              <a:rPr lang="en-US" sz="5957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8. Diseño estético y minimalista</a:t>
            </a:r>
          </a:p>
        </p:txBody>
      </p:sp>
      <p:sp>
        <p:nvSpPr>
          <p:cNvPr id="13" name="Freeform 13"/>
          <p:cNvSpPr/>
          <p:nvPr/>
        </p:nvSpPr>
        <p:spPr>
          <a:xfrm rot="-2700000">
            <a:off x="462183" y="710346"/>
            <a:ext cx="1133035" cy="1133035"/>
          </a:xfrm>
          <a:custGeom>
            <a:avLst/>
            <a:gdLst/>
            <a:ahLst/>
            <a:cxnLst/>
            <a:rect l="l" t="t" r="r" b="b"/>
            <a:pathLst>
              <a:path w="1133035" h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126872" cy="10287000"/>
          </a:xfrm>
          <a:custGeom>
            <a:avLst/>
            <a:gdLst/>
            <a:ahLst/>
            <a:cxnLst/>
            <a:rect l="l" t="t" r="r" b="b"/>
            <a:pathLst>
              <a:path w="18126872" h="10287000">
                <a:moveTo>
                  <a:pt x="0" y="0"/>
                </a:moveTo>
                <a:lnTo>
                  <a:pt x="18126872" y="0"/>
                </a:lnTo>
                <a:lnTo>
                  <a:pt x="1812687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60020"/>
            <a:ext cx="18288000" cy="9966960"/>
          </a:xfrm>
          <a:custGeom>
            <a:avLst/>
            <a:gdLst/>
            <a:ahLst/>
            <a:cxnLst/>
            <a:rect l="l" t="t" r="r" b="b"/>
            <a:pathLst>
              <a:path w="18288000" h="9966960">
                <a:moveTo>
                  <a:pt x="0" y="0"/>
                </a:moveTo>
                <a:lnTo>
                  <a:pt x="18288000" y="0"/>
                </a:lnTo>
                <a:lnTo>
                  <a:pt x="18288000" y="9966960"/>
                </a:lnTo>
                <a:lnTo>
                  <a:pt x="0" y="9966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9047" y="269355"/>
            <a:ext cx="15867289" cy="1707718"/>
            <a:chOff x="0" y="0"/>
            <a:chExt cx="5053289" cy="5438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3288" cy="543861"/>
            </a:xfrm>
            <a:custGeom>
              <a:avLst/>
              <a:gdLst/>
              <a:ahLst/>
              <a:cxnLst/>
              <a:rect l="l" t="t" r="r" b="b"/>
              <a:pathLst>
                <a:path w="5053288" h="543861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520928"/>
                  </a:lnTo>
                  <a:cubicBezTo>
                    <a:pt x="5053288" y="527010"/>
                    <a:pt x="5050872" y="532843"/>
                    <a:pt x="5046572" y="537144"/>
                  </a:cubicBezTo>
                  <a:cubicBezTo>
                    <a:pt x="5042271" y="541444"/>
                    <a:pt x="5036438" y="543861"/>
                    <a:pt x="5030357" y="543861"/>
                  </a:cubicBezTo>
                  <a:lnTo>
                    <a:pt x="22932" y="543861"/>
                  </a:lnTo>
                  <a:cubicBezTo>
                    <a:pt x="16850" y="543861"/>
                    <a:pt x="11017" y="541444"/>
                    <a:pt x="6717" y="537144"/>
                  </a:cubicBezTo>
                  <a:cubicBezTo>
                    <a:pt x="2416" y="532843"/>
                    <a:pt x="0" y="527010"/>
                    <a:pt x="0" y="520928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3289" cy="581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2700000">
            <a:off x="295092" y="564447"/>
            <a:ext cx="1424832" cy="1424832"/>
          </a:xfrm>
          <a:custGeom>
            <a:avLst/>
            <a:gdLst/>
            <a:ahLst/>
            <a:cxnLst/>
            <a:rect l="l" t="t" r="r" b="b"/>
            <a:pathLst>
              <a:path w="1424832" h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3731408">
            <a:off x="13725951" y="152256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390186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700000">
            <a:off x="462183" y="710346"/>
            <a:ext cx="1133035" cy="1133035"/>
          </a:xfrm>
          <a:custGeom>
            <a:avLst/>
            <a:gdLst/>
            <a:ahLst/>
            <a:cxnLst/>
            <a:rect l="l" t="t" r="r" b="b"/>
            <a:pathLst>
              <a:path w="1133035" h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50383" y="5285986"/>
            <a:ext cx="13267094" cy="2470996"/>
          </a:xfrm>
          <a:custGeom>
            <a:avLst/>
            <a:gdLst/>
            <a:ahLst/>
            <a:cxnLst/>
            <a:rect l="l" t="t" r="r" b="b"/>
            <a:pathLst>
              <a:path w="13267094" h="2470996">
                <a:moveTo>
                  <a:pt x="0" y="0"/>
                </a:moveTo>
                <a:lnTo>
                  <a:pt x="13267093" y="0"/>
                </a:lnTo>
                <a:lnTo>
                  <a:pt x="13267093" y="2470997"/>
                </a:lnTo>
                <a:lnTo>
                  <a:pt x="0" y="2470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23505" y="2166546"/>
            <a:ext cx="16407761" cy="311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 mensajes de error deben expresarse en un lenguaje entendible, sin códigos de error. Se debe describir con precisión el problema y sugerir constructivamente una solución.</a:t>
            </a:r>
          </a:p>
          <a:p>
            <a:pPr algn="just">
              <a:lnSpc>
                <a:spcPts val="4987"/>
              </a:lnSpc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015017" y="380437"/>
            <a:ext cx="15137826" cy="161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20"/>
              </a:lnSpc>
              <a:spcBef>
                <a:spcPct val="0"/>
              </a:spcBef>
            </a:pPr>
            <a:r>
              <a:rPr lang="en-US" sz="4657" b="1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9. Ayudar a los usuarios a reconocer, diagnosticar y recuperarse de errores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78440"/>
          </a:xfrm>
          <a:custGeom>
            <a:avLst/>
            <a:gdLst/>
            <a:ahLst/>
            <a:cxnLst/>
            <a:rect l="l" t="t" r="r" b="b"/>
            <a:pathLst>
              <a:path w="18288000" h="10378440">
                <a:moveTo>
                  <a:pt x="0" y="0"/>
                </a:moveTo>
                <a:lnTo>
                  <a:pt x="18288000" y="0"/>
                </a:lnTo>
                <a:lnTo>
                  <a:pt x="18288000" y="10378440"/>
                </a:lnTo>
                <a:lnTo>
                  <a:pt x="0" y="1037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9047" y="269355"/>
            <a:ext cx="15867289" cy="1371937"/>
            <a:chOff x="0" y="0"/>
            <a:chExt cx="5053289" cy="4369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53288" cy="436924"/>
            </a:xfrm>
            <a:custGeom>
              <a:avLst/>
              <a:gdLst/>
              <a:ahLst/>
              <a:cxnLst/>
              <a:rect l="l" t="t" r="r" b="b"/>
              <a:pathLst>
                <a:path w="5053288" h="436924">
                  <a:moveTo>
                    <a:pt x="22932" y="0"/>
                  </a:moveTo>
                  <a:lnTo>
                    <a:pt x="5030357" y="0"/>
                  </a:lnTo>
                  <a:cubicBezTo>
                    <a:pt x="5036438" y="0"/>
                    <a:pt x="5042271" y="2416"/>
                    <a:pt x="5046572" y="6717"/>
                  </a:cubicBezTo>
                  <a:cubicBezTo>
                    <a:pt x="5050872" y="11017"/>
                    <a:pt x="5053288" y="16850"/>
                    <a:pt x="5053288" y="22932"/>
                  </a:cubicBezTo>
                  <a:lnTo>
                    <a:pt x="5053288" y="413991"/>
                  </a:lnTo>
                  <a:cubicBezTo>
                    <a:pt x="5053288" y="420073"/>
                    <a:pt x="5050872" y="425906"/>
                    <a:pt x="5046572" y="430207"/>
                  </a:cubicBezTo>
                  <a:cubicBezTo>
                    <a:pt x="5042271" y="434507"/>
                    <a:pt x="5036438" y="436924"/>
                    <a:pt x="5030357" y="436924"/>
                  </a:cubicBezTo>
                  <a:lnTo>
                    <a:pt x="22932" y="436924"/>
                  </a:lnTo>
                  <a:cubicBezTo>
                    <a:pt x="16850" y="436924"/>
                    <a:pt x="11017" y="434507"/>
                    <a:pt x="6717" y="430207"/>
                  </a:cubicBezTo>
                  <a:cubicBezTo>
                    <a:pt x="2416" y="425906"/>
                    <a:pt x="0" y="420073"/>
                    <a:pt x="0" y="413991"/>
                  </a:cubicBezTo>
                  <a:lnTo>
                    <a:pt x="0" y="22932"/>
                  </a:lnTo>
                  <a:cubicBezTo>
                    <a:pt x="0" y="16850"/>
                    <a:pt x="2416" y="11017"/>
                    <a:pt x="6717" y="6717"/>
                  </a:cubicBezTo>
                  <a:cubicBezTo>
                    <a:pt x="11017" y="2416"/>
                    <a:pt x="16850" y="0"/>
                    <a:pt x="22932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53289" cy="475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2700000">
            <a:off x="295092" y="564447"/>
            <a:ext cx="1424832" cy="1424832"/>
          </a:xfrm>
          <a:custGeom>
            <a:avLst/>
            <a:gdLst/>
            <a:ahLst/>
            <a:cxnLst/>
            <a:rect l="l" t="t" r="r" b="b"/>
            <a:pathLst>
              <a:path w="1424832" h="1424832">
                <a:moveTo>
                  <a:pt x="0" y="0"/>
                </a:moveTo>
                <a:lnTo>
                  <a:pt x="1424832" y="0"/>
                </a:lnTo>
                <a:lnTo>
                  <a:pt x="1424832" y="1424832"/>
                </a:lnTo>
                <a:lnTo>
                  <a:pt x="0" y="1424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3731408">
            <a:off x="13725951" y="152256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390186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700000">
            <a:off x="462183" y="710346"/>
            <a:ext cx="1133035" cy="1133035"/>
          </a:xfrm>
          <a:custGeom>
            <a:avLst/>
            <a:gdLst/>
            <a:ahLst/>
            <a:cxnLst/>
            <a:rect l="l" t="t" r="r" b="b"/>
            <a:pathLst>
              <a:path w="1133035" h="1133035">
                <a:moveTo>
                  <a:pt x="0" y="0"/>
                </a:moveTo>
                <a:lnTo>
                  <a:pt x="1133034" y="0"/>
                </a:lnTo>
                <a:lnTo>
                  <a:pt x="1133034" y="1133035"/>
                </a:lnTo>
                <a:lnTo>
                  <a:pt x="0" y="1133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23505" y="2166546"/>
            <a:ext cx="16407761" cy="5634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 ideal es que un sistema no necesite ninguna explicación adicional. Pero en algunos casos, se debe proporcionar una documentación para ayudar a los usuarios a entender cómo completar sus tareas.</a:t>
            </a:r>
          </a:p>
          <a:p>
            <a:pPr algn="just">
              <a:lnSpc>
                <a:spcPts val="4987"/>
              </a:lnSpc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987"/>
              </a:lnSpc>
            </a:pPr>
            <a:r>
              <a:rPr lang="en-US" sz="356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contenido de ayuda y documentación deben ser fáciles de encontrar y tener pasos definidos de manera concisa, es decir, corto no extenso.</a:t>
            </a:r>
          </a:p>
          <a:p>
            <a:pPr algn="just">
              <a:lnSpc>
                <a:spcPts val="4987"/>
              </a:lnSpc>
              <a:spcBef>
                <a:spcPct val="0"/>
              </a:spcBef>
            </a:pPr>
            <a:endParaRPr lang="en-US" sz="356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15017" y="361387"/>
            <a:ext cx="15175332" cy="970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6"/>
              </a:lnSpc>
              <a:spcBef>
                <a:spcPct val="0"/>
              </a:spcBef>
            </a:pPr>
            <a:r>
              <a:rPr lang="en-US" sz="5669" b="1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10. Ayuda y documentación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62355" y="4129262"/>
            <a:ext cx="10552090" cy="2028475"/>
            <a:chOff x="0" y="0"/>
            <a:chExt cx="2320054" cy="445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0054" cy="445994"/>
            </a:xfrm>
            <a:custGeom>
              <a:avLst/>
              <a:gdLst/>
              <a:ahLst/>
              <a:cxnLst/>
              <a:rect l="l" t="t" r="r" b="b"/>
              <a:pathLst>
                <a:path w="2320054" h="445994">
                  <a:moveTo>
                    <a:pt x="34483" y="0"/>
                  </a:moveTo>
                  <a:lnTo>
                    <a:pt x="2285571" y="0"/>
                  </a:lnTo>
                  <a:cubicBezTo>
                    <a:pt x="2294716" y="0"/>
                    <a:pt x="2303487" y="3633"/>
                    <a:pt x="2309954" y="10100"/>
                  </a:cubicBezTo>
                  <a:cubicBezTo>
                    <a:pt x="2316421" y="16567"/>
                    <a:pt x="2320054" y="25338"/>
                    <a:pt x="2320054" y="34483"/>
                  </a:cubicBezTo>
                  <a:lnTo>
                    <a:pt x="2320054" y="411511"/>
                  </a:lnTo>
                  <a:cubicBezTo>
                    <a:pt x="2320054" y="420657"/>
                    <a:pt x="2316421" y="429428"/>
                    <a:pt x="2309954" y="435894"/>
                  </a:cubicBezTo>
                  <a:cubicBezTo>
                    <a:pt x="2303487" y="442361"/>
                    <a:pt x="2294716" y="445994"/>
                    <a:pt x="2285571" y="445994"/>
                  </a:cubicBezTo>
                  <a:lnTo>
                    <a:pt x="34483" y="445994"/>
                  </a:lnTo>
                  <a:cubicBezTo>
                    <a:pt x="25338" y="445994"/>
                    <a:pt x="16567" y="442361"/>
                    <a:pt x="10100" y="435894"/>
                  </a:cubicBezTo>
                  <a:cubicBezTo>
                    <a:pt x="3633" y="429428"/>
                    <a:pt x="0" y="420657"/>
                    <a:pt x="0" y="411511"/>
                  </a:cubicBezTo>
                  <a:lnTo>
                    <a:pt x="0" y="34483"/>
                  </a:lnTo>
                  <a:cubicBezTo>
                    <a:pt x="0" y="25338"/>
                    <a:pt x="3633" y="16567"/>
                    <a:pt x="10100" y="10100"/>
                  </a:cubicBezTo>
                  <a:cubicBezTo>
                    <a:pt x="16567" y="3633"/>
                    <a:pt x="25338" y="0"/>
                    <a:pt x="34483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52400"/>
              <a:ext cx="2320054" cy="598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479"/>
                </a:lnSpc>
                <a:spcBef>
                  <a:spcPct val="0"/>
                </a:spcBef>
              </a:pPr>
              <a:r>
                <a:rPr lang="en-US" sz="8199" b="1">
                  <a:solidFill>
                    <a:srgbClr val="05999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Diseño UX/UI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-2700000">
            <a:off x="12882526" y="4111581"/>
            <a:ext cx="2063837" cy="2063837"/>
          </a:xfrm>
          <a:custGeom>
            <a:avLst/>
            <a:gdLst/>
            <a:ahLst/>
            <a:cxnLst/>
            <a:rect l="l" t="t" r="r" b="b"/>
            <a:pathLst>
              <a:path w="2063837" h="2063837">
                <a:moveTo>
                  <a:pt x="0" y="0"/>
                </a:moveTo>
                <a:lnTo>
                  <a:pt x="2063837" y="0"/>
                </a:lnTo>
                <a:lnTo>
                  <a:pt x="2063837" y="2063838"/>
                </a:lnTo>
                <a:lnTo>
                  <a:pt x="0" y="20638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19545" y="9057886"/>
            <a:ext cx="3086100" cy="946511"/>
            <a:chOff x="0" y="0"/>
            <a:chExt cx="812800" cy="2492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49287"/>
            </a:xfrm>
            <a:custGeom>
              <a:avLst/>
              <a:gdLst/>
              <a:ahLst/>
              <a:cxnLst/>
              <a:rect l="l" t="t" r="r" b="b"/>
              <a:pathLst>
                <a:path w="812800" h="249287">
                  <a:moveTo>
                    <a:pt x="0" y="0"/>
                  </a:moveTo>
                  <a:lnTo>
                    <a:pt x="812800" y="0"/>
                  </a:lnTo>
                  <a:lnTo>
                    <a:pt x="812800" y="249287"/>
                  </a:lnTo>
                  <a:lnTo>
                    <a:pt x="0" y="249287"/>
                  </a:lnTo>
                  <a:close/>
                </a:path>
              </a:pathLst>
            </a:custGeom>
            <a:solidFill>
              <a:srgbClr val="3AB4B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287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3731408">
            <a:off x="-2036363" y="2945364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390186" y="0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0" y="0"/>
                </a:moveTo>
                <a:lnTo>
                  <a:pt x="1897814" y="0"/>
                </a:lnTo>
                <a:lnTo>
                  <a:pt x="1897814" y="1999452"/>
                </a:lnTo>
                <a:lnTo>
                  <a:pt x="0" y="1999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700000">
            <a:off x="13093857" y="4322049"/>
            <a:ext cx="1641175" cy="1641175"/>
          </a:xfrm>
          <a:custGeom>
            <a:avLst/>
            <a:gdLst/>
            <a:ahLst/>
            <a:cxnLst/>
            <a:rect l="l" t="t" r="r" b="b"/>
            <a:pathLst>
              <a:path w="1641175" h="1641175">
                <a:moveTo>
                  <a:pt x="0" y="0"/>
                </a:moveTo>
                <a:lnTo>
                  <a:pt x="1641175" y="0"/>
                </a:lnTo>
                <a:lnTo>
                  <a:pt x="1641175" y="1641175"/>
                </a:lnTo>
                <a:lnTo>
                  <a:pt x="0" y="16411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69163">
            <a:off x="17166815" y="-116693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72479"/>
            <a:ext cx="1920920" cy="10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20"/>
              </a:lnSpc>
              <a:spcBef>
                <a:spcPct val="0"/>
              </a:spcBef>
            </a:pPr>
            <a:r>
              <a:rPr lang="en-US" sz="6157" b="1">
                <a:solidFill>
                  <a:srgbClr val="0147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UX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-325893" y="-149361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055623" y="8354196"/>
            <a:ext cx="1582825" cy="158282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75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193447" y="0"/>
            <a:ext cx="9141978" cy="10287000"/>
          </a:xfrm>
          <a:custGeom>
            <a:avLst/>
            <a:gdLst/>
            <a:ahLst/>
            <a:cxnLst/>
            <a:rect l="l" t="t" r="r" b="b"/>
            <a:pathLst>
              <a:path w="9141978" h="10287000">
                <a:moveTo>
                  <a:pt x="0" y="0"/>
                </a:moveTo>
                <a:lnTo>
                  <a:pt x="9141978" y="0"/>
                </a:lnTo>
                <a:lnTo>
                  <a:pt x="91419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5093" r="-4090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4342663"/>
            <a:ext cx="8937337" cy="5117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820" lvl="1" indent="-313910" algn="l">
              <a:lnSpc>
                <a:spcPts val="4071"/>
              </a:lnSpc>
              <a:buFont typeface="Arial"/>
              <a:buChar char="•"/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Disciplina que diseña experiencias de usuario útiles, fáciles y agradables que se centra en cómo las personas interactúan con un producto o servicio.</a:t>
            </a:r>
          </a:p>
          <a:p>
            <a:pPr algn="l">
              <a:lnSpc>
                <a:spcPts val="4071"/>
              </a:lnSpc>
            </a:pPr>
            <a:endParaRPr lang="en-US" sz="290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27820" lvl="1" indent="-313910" algn="l">
              <a:lnSpc>
                <a:spcPts val="4071"/>
              </a:lnSpc>
              <a:buFont typeface="Arial"/>
              <a:buChar char="•"/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hacer que un producto se sienta fácil e intuitivo de usar. </a:t>
            </a:r>
          </a:p>
          <a:p>
            <a:pPr algn="l">
              <a:lnSpc>
                <a:spcPts val="4071"/>
              </a:lnSpc>
            </a:pPr>
            <a:endParaRPr lang="en-US" sz="290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27820" lvl="1" indent="-313910" algn="l">
              <a:lnSpc>
                <a:spcPts val="4071"/>
              </a:lnSpc>
              <a:buFont typeface="Arial"/>
              <a:buChar char="•"/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Diseñar pensando primero en las personas y no en la tecnología.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336063"/>
            <a:ext cx="5547963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4753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USER</a:t>
            </a:r>
          </a:p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4753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EXPERIENCE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69163">
            <a:off x="17166815" y="-1166935"/>
            <a:ext cx="5328470" cy="5288506"/>
          </a:xfrm>
          <a:custGeom>
            <a:avLst/>
            <a:gdLst/>
            <a:ahLst/>
            <a:cxnLst/>
            <a:rect l="l" t="t" r="r" b="b"/>
            <a:pathLst>
              <a:path w="5328470" h="5288506">
                <a:moveTo>
                  <a:pt x="0" y="0"/>
                </a:moveTo>
                <a:lnTo>
                  <a:pt x="5328470" y="0"/>
                </a:lnTo>
                <a:lnTo>
                  <a:pt x="5328470" y="5288506"/>
                </a:lnTo>
                <a:lnTo>
                  <a:pt x="0" y="52885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72479"/>
            <a:ext cx="1920920" cy="10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20"/>
              </a:lnSpc>
              <a:spcBef>
                <a:spcPct val="0"/>
              </a:spcBef>
            </a:pPr>
            <a:r>
              <a:rPr lang="en-US" sz="6157" b="1">
                <a:solidFill>
                  <a:srgbClr val="0147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-325893" y="-149361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055623" y="8354196"/>
            <a:ext cx="1582825" cy="158282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75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193447" y="0"/>
            <a:ext cx="9141978" cy="10287000"/>
          </a:xfrm>
          <a:custGeom>
            <a:avLst/>
            <a:gdLst/>
            <a:ahLst/>
            <a:cxnLst/>
            <a:rect l="l" t="t" r="r" b="b"/>
            <a:pathLst>
              <a:path w="9141978" h="10287000">
                <a:moveTo>
                  <a:pt x="0" y="0"/>
                </a:moveTo>
                <a:lnTo>
                  <a:pt x="9141978" y="0"/>
                </a:lnTo>
                <a:lnTo>
                  <a:pt x="91419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5093" r="-4090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4542695"/>
            <a:ext cx="8937337" cy="4602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820" lvl="1" indent="-313910" algn="l">
              <a:lnSpc>
                <a:spcPts val="4071"/>
              </a:lnSpc>
              <a:buFont typeface="Arial"/>
              <a:buChar char="•"/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el diseño de la interfaz visual con la que interactúa el usuario donde se analiza colores, tipografía, iconos, botones y disposición de elementos.</a:t>
            </a:r>
          </a:p>
          <a:p>
            <a:pPr algn="l">
              <a:lnSpc>
                <a:spcPts val="4071"/>
              </a:lnSpc>
            </a:pPr>
            <a:endParaRPr lang="en-US" sz="290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27820" lvl="1" indent="-313910" algn="l">
              <a:lnSpc>
                <a:spcPts val="4071"/>
              </a:lnSpc>
              <a:buFont typeface="Arial"/>
              <a:buChar char="•"/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cómo “se ve” y “se toca” una app o página web, es decir, lo que hace que un software no solo funcione bien, sino que sea agradable de mirar y usar.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336063"/>
            <a:ext cx="5547963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4753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USER</a:t>
            </a:r>
          </a:p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4753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INTERFACE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82004"/>
            <a:ext cx="15147403" cy="1029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40"/>
              </a:lnSpc>
              <a:spcBef>
                <a:spcPct val="0"/>
              </a:spcBef>
            </a:pPr>
            <a:r>
              <a:rPr lang="en-US" sz="5957" b="1">
                <a:solidFill>
                  <a:srgbClr val="0147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 - EVOLUCIÓN DE LAS INTERFACES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-325893" y="-149361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472342" y="2589169"/>
            <a:ext cx="7532686" cy="6458313"/>
          </a:xfrm>
          <a:custGeom>
            <a:avLst/>
            <a:gdLst/>
            <a:ahLst/>
            <a:cxnLst/>
            <a:rect l="l" t="t" r="r" b="b"/>
            <a:pathLst>
              <a:path w="7532686" h="6458313">
                <a:moveTo>
                  <a:pt x="0" y="0"/>
                </a:moveTo>
                <a:lnTo>
                  <a:pt x="7532686" y="0"/>
                </a:lnTo>
                <a:lnTo>
                  <a:pt x="7532686" y="6458312"/>
                </a:lnTo>
                <a:lnTo>
                  <a:pt x="0" y="64583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38225" y="4007406"/>
            <a:ext cx="8937337" cy="4602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820" lvl="1" indent="-313910" algn="l">
              <a:lnSpc>
                <a:spcPts val="4071"/>
              </a:lnSpc>
              <a:buFont typeface="Arial"/>
              <a:buChar char="•"/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skeuomorfismo es un estilo de diseño que imita texturas y materiales del mundo real para hacer que los objetos digitales se vean y se sientan más familiares.</a:t>
            </a:r>
          </a:p>
          <a:p>
            <a:pPr algn="l">
              <a:lnSpc>
                <a:spcPts val="4071"/>
              </a:lnSpc>
            </a:pPr>
            <a:endParaRPr lang="en-US" sz="290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27820" lvl="1" indent="-313910" algn="l">
              <a:lnSpc>
                <a:spcPts val="4071"/>
              </a:lnSpc>
              <a:buFont typeface="Arial"/>
              <a:buChar char="•"/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estilo de diseño plano es sin efectos tridimensionales, sombras realistas ni texturas. Se populariza en 2012–2013 gracias a Apple con iOS 7.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512969"/>
            <a:ext cx="9443642" cy="62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14753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SKEUOMORFISMO VS. FLAT DESIGN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72479"/>
            <a:ext cx="7889498" cy="10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20"/>
              </a:lnSpc>
              <a:spcBef>
                <a:spcPct val="0"/>
              </a:spcBef>
            </a:pPr>
            <a:r>
              <a:rPr lang="en-US" sz="6157" b="1">
                <a:solidFill>
                  <a:srgbClr val="0147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 - TENDENCIAS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-325893" y="-149361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865471" y="0"/>
            <a:ext cx="6422529" cy="10287000"/>
          </a:xfrm>
          <a:custGeom>
            <a:avLst/>
            <a:gdLst/>
            <a:ahLst/>
            <a:cxnLst/>
            <a:rect l="l" t="t" r="r" b="b"/>
            <a:pathLst>
              <a:path w="6422529" h="10287000">
                <a:moveTo>
                  <a:pt x="0" y="0"/>
                </a:moveTo>
                <a:lnTo>
                  <a:pt x="6422529" y="0"/>
                </a:lnTo>
                <a:lnTo>
                  <a:pt x="642252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653" t="-2194" r="-10159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4007406"/>
            <a:ext cx="8937337" cy="5117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820" lvl="1" indent="-313910" algn="l">
              <a:lnSpc>
                <a:spcPts val="4071"/>
              </a:lnSpc>
              <a:buFont typeface="Arial"/>
              <a:buChar char="•"/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Tendencia de diseño visual que combina realismo y minimalismo el cual tiene un estilo que usa sombras internas y externas muy suaves para crear efecto 3D.</a:t>
            </a:r>
          </a:p>
          <a:p>
            <a:pPr algn="l">
              <a:lnSpc>
                <a:spcPts val="4071"/>
              </a:lnSpc>
            </a:pPr>
            <a:endParaRPr lang="en-US" sz="290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27820" lvl="1" indent="-313910" algn="l">
              <a:lnSpc>
                <a:spcPts val="4071"/>
              </a:lnSpc>
              <a:buFont typeface="Arial"/>
              <a:buChar char="•"/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neumorfismo como tendencia de diseño empezó a ganar popularidad a finales de 2018</a:t>
            </a:r>
          </a:p>
          <a:p>
            <a:pPr algn="l">
              <a:lnSpc>
                <a:spcPts val="4071"/>
              </a:lnSpc>
            </a:pPr>
            <a:endParaRPr lang="en-US" sz="290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071"/>
              </a:lnSpc>
            </a:pPr>
            <a:endParaRPr lang="en-US" sz="290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2336063"/>
            <a:ext cx="587389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4753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NEUMORFISMO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7092" y="9220200"/>
            <a:ext cx="7436908" cy="396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1"/>
              </a:lnSpc>
            </a:pPr>
            <a:r>
              <a:rPr lang="en-US" sz="240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iOS 14 a implementado este tipo de diseño.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72479"/>
            <a:ext cx="7889498" cy="10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20"/>
              </a:lnSpc>
              <a:spcBef>
                <a:spcPct val="0"/>
              </a:spcBef>
            </a:pPr>
            <a:r>
              <a:rPr lang="en-US" sz="6157" b="1">
                <a:solidFill>
                  <a:srgbClr val="0147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 - TENDENCIAS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-325893" y="-149361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902863" y="0"/>
            <a:ext cx="7971277" cy="10287000"/>
          </a:xfrm>
          <a:custGeom>
            <a:avLst/>
            <a:gdLst/>
            <a:ahLst/>
            <a:cxnLst/>
            <a:rect l="l" t="t" r="r" b="b"/>
            <a:pathLst>
              <a:path w="7971277" h="10287000">
                <a:moveTo>
                  <a:pt x="0" y="0"/>
                </a:moveTo>
                <a:lnTo>
                  <a:pt x="7971277" y="0"/>
                </a:lnTo>
                <a:lnTo>
                  <a:pt x="79712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304" r="-43105" b="-145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4007406"/>
            <a:ext cx="8937337" cy="4602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7820" lvl="1" indent="-313910" algn="l">
              <a:lnSpc>
                <a:spcPts val="4071"/>
              </a:lnSpc>
              <a:buFont typeface="Arial"/>
              <a:buChar char="•"/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glassmorfismo es un estilo de diseño que imita la apariencia del vidrio esmerilado, translúcido o “glassy” mediante efectos de desenfoque y transparencia combinados con sombras suaves y bordes redondeados</a:t>
            </a:r>
          </a:p>
          <a:p>
            <a:pPr algn="l">
              <a:lnSpc>
                <a:spcPts val="4071"/>
              </a:lnSpc>
            </a:pPr>
            <a:endParaRPr lang="en-US" sz="290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27820" lvl="1" indent="-313910" algn="l">
              <a:lnSpc>
                <a:spcPts val="4071"/>
              </a:lnSpc>
              <a:buFont typeface="Arial"/>
              <a:buChar char="•"/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 ido ganando en popularidad desde su aparición, a principios del 2020 hasta la actualidad.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336063"/>
            <a:ext cx="587389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4753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GLASSMORFISMO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7092" y="9220200"/>
            <a:ext cx="7436908" cy="815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1"/>
              </a:lnSpc>
            </a:pPr>
            <a:r>
              <a:rPr lang="en-US" sz="240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Apple Vision Pro es una de las empresas que han sabido implementar este tipo de diseño.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25893" y="-149361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93371" y="3433341"/>
            <a:ext cx="11301259" cy="4642553"/>
          </a:xfrm>
          <a:custGeom>
            <a:avLst/>
            <a:gdLst/>
            <a:ahLst/>
            <a:cxnLst/>
            <a:rect l="l" t="t" r="r" b="b"/>
            <a:pathLst>
              <a:path w="11301259" h="4642553">
                <a:moveTo>
                  <a:pt x="0" y="0"/>
                </a:moveTo>
                <a:lnTo>
                  <a:pt x="11301258" y="0"/>
                </a:lnTo>
                <a:lnTo>
                  <a:pt x="11301258" y="4642553"/>
                </a:lnTo>
                <a:lnTo>
                  <a:pt x="0" y="46425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694" b="-1140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072479"/>
            <a:ext cx="7889498" cy="10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20"/>
              </a:lnSpc>
              <a:spcBef>
                <a:spcPct val="0"/>
              </a:spcBef>
            </a:pPr>
            <a:r>
              <a:rPr lang="en-US" sz="6157" b="1">
                <a:solidFill>
                  <a:srgbClr val="0147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 - PREFERENCIAS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3631" y="8733256"/>
            <a:ext cx="15720738" cy="100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Material Desing es un diseño híbrido de Flat design y Skeumorphime que busca equilibrio entre estética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25893" y="-149361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80180" y="3768161"/>
            <a:ext cx="11508589" cy="3379839"/>
          </a:xfrm>
          <a:custGeom>
            <a:avLst/>
            <a:gdLst/>
            <a:ahLst/>
            <a:cxnLst/>
            <a:rect l="l" t="t" r="r" b="b"/>
            <a:pathLst>
              <a:path w="11508589" h="3379839">
                <a:moveTo>
                  <a:pt x="0" y="0"/>
                </a:moveTo>
                <a:lnTo>
                  <a:pt x="11508590" y="0"/>
                </a:lnTo>
                <a:lnTo>
                  <a:pt x="11508590" y="3379839"/>
                </a:lnTo>
                <a:lnTo>
                  <a:pt x="0" y="33798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619" b="-1411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072479"/>
            <a:ext cx="7889498" cy="10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20"/>
              </a:lnSpc>
              <a:spcBef>
                <a:spcPct val="0"/>
              </a:spcBef>
            </a:pPr>
            <a:r>
              <a:rPr lang="en-US" sz="6157" b="1">
                <a:solidFill>
                  <a:srgbClr val="0147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 - PREFERENCIAS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3631" y="8733256"/>
            <a:ext cx="15720738" cy="100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Material Desing es un diseño híbrido de Flat design y Skeumorphime que busca equilibrio entre estética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25893" y="-149361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93371" y="3861036"/>
            <a:ext cx="11301259" cy="3074193"/>
          </a:xfrm>
          <a:custGeom>
            <a:avLst/>
            <a:gdLst/>
            <a:ahLst/>
            <a:cxnLst/>
            <a:rect l="l" t="t" r="r" b="b"/>
            <a:pathLst>
              <a:path w="11301259" h="3074193">
                <a:moveTo>
                  <a:pt x="0" y="0"/>
                </a:moveTo>
                <a:lnTo>
                  <a:pt x="11301258" y="0"/>
                </a:lnTo>
                <a:lnTo>
                  <a:pt x="11301258" y="3074193"/>
                </a:lnTo>
                <a:lnTo>
                  <a:pt x="0" y="3074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1806" b="-1524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072479"/>
            <a:ext cx="7889498" cy="10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20"/>
              </a:lnSpc>
              <a:spcBef>
                <a:spcPct val="0"/>
              </a:spcBef>
            </a:pPr>
            <a:r>
              <a:rPr lang="en-US" sz="6157" b="1">
                <a:solidFill>
                  <a:srgbClr val="0147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 - PREFERENCIAS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3631" y="8733256"/>
            <a:ext cx="15720738" cy="100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sz="29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Material Desing es un diseño híbrido de Flat design y Skeumorphime que busca equilibrio entre estética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25893" y="-149361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71921" y="3871303"/>
            <a:ext cx="6273802" cy="3136901"/>
          </a:xfrm>
          <a:custGeom>
            <a:avLst/>
            <a:gdLst/>
            <a:ahLst/>
            <a:cxnLst/>
            <a:rect l="l" t="t" r="r" b="b"/>
            <a:pathLst>
              <a:path w="6273802" h="3136901">
                <a:moveTo>
                  <a:pt x="0" y="0"/>
                </a:moveTo>
                <a:lnTo>
                  <a:pt x="6273802" y="0"/>
                </a:lnTo>
                <a:lnTo>
                  <a:pt x="6273802" y="3136901"/>
                </a:lnTo>
                <a:lnTo>
                  <a:pt x="0" y="31369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84227" y="3825608"/>
            <a:ext cx="5739186" cy="3228292"/>
          </a:xfrm>
          <a:custGeom>
            <a:avLst/>
            <a:gdLst/>
            <a:ahLst/>
            <a:cxnLst/>
            <a:rect l="l" t="t" r="r" b="b"/>
            <a:pathLst>
              <a:path w="5739186" h="3228292">
                <a:moveTo>
                  <a:pt x="0" y="0"/>
                </a:moveTo>
                <a:lnTo>
                  <a:pt x="5739186" y="0"/>
                </a:lnTo>
                <a:lnTo>
                  <a:pt x="5739186" y="3228292"/>
                </a:lnTo>
                <a:lnTo>
                  <a:pt x="0" y="32282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072479"/>
            <a:ext cx="15813651" cy="10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20"/>
              </a:lnSpc>
              <a:spcBef>
                <a:spcPct val="0"/>
              </a:spcBef>
            </a:pPr>
            <a:r>
              <a:rPr lang="en-US" sz="6157" b="1">
                <a:solidFill>
                  <a:srgbClr val="0147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Diseño y Desarrollo de Interfaces UI/UX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25893" y="-149361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44189" y="4861682"/>
            <a:ext cx="4856010" cy="2428005"/>
          </a:xfrm>
          <a:custGeom>
            <a:avLst/>
            <a:gdLst/>
            <a:ahLst/>
            <a:cxnLst/>
            <a:rect l="l" t="t" r="r" b="b"/>
            <a:pathLst>
              <a:path w="4856010" h="2428005">
                <a:moveTo>
                  <a:pt x="0" y="0"/>
                </a:moveTo>
                <a:lnTo>
                  <a:pt x="4856010" y="0"/>
                </a:lnTo>
                <a:lnTo>
                  <a:pt x="4856010" y="2428005"/>
                </a:lnTo>
                <a:lnTo>
                  <a:pt x="0" y="2428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072479"/>
            <a:ext cx="15813651" cy="10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20"/>
              </a:lnSpc>
              <a:spcBef>
                <a:spcPct val="0"/>
              </a:spcBef>
            </a:pPr>
            <a:r>
              <a:rPr lang="en-US" sz="6157" b="1">
                <a:solidFill>
                  <a:srgbClr val="0147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Diseño y Desarrollo de Interfaces UI/UX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1921" y="3088875"/>
            <a:ext cx="7860369" cy="5897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2"/>
              </a:lnSpc>
            </a:pPr>
            <a:r>
              <a:rPr lang="en-US" sz="371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Figma es una herramienta de diseño colaborativo basada en la nube que permite a diseñadores crear prototipos interactivos y maquetas visuales con facilidad. Su capacidad para trabajar en tiempo real con equipos y clientes mejora la comunicación y reduce tiempos de desarrollo.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25893" y="-149361"/>
            <a:ext cx="1897814" cy="1999452"/>
          </a:xfrm>
          <a:custGeom>
            <a:avLst/>
            <a:gdLst/>
            <a:ahLst/>
            <a:cxnLst/>
            <a:rect l="l" t="t" r="r" b="b"/>
            <a:pathLst>
              <a:path w="1897814" h="1999452">
                <a:moveTo>
                  <a:pt x="1897814" y="0"/>
                </a:moveTo>
                <a:lnTo>
                  <a:pt x="0" y="0"/>
                </a:lnTo>
                <a:lnTo>
                  <a:pt x="0" y="1999453"/>
                </a:lnTo>
                <a:lnTo>
                  <a:pt x="1897814" y="1999453"/>
                </a:lnTo>
                <a:lnTo>
                  <a:pt x="18978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44189" y="4861682"/>
            <a:ext cx="4856010" cy="2428005"/>
          </a:xfrm>
          <a:custGeom>
            <a:avLst/>
            <a:gdLst/>
            <a:ahLst/>
            <a:cxnLst/>
            <a:rect l="l" t="t" r="r" b="b"/>
            <a:pathLst>
              <a:path w="4856010" h="2428005">
                <a:moveTo>
                  <a:pt x="0" y="0"/>
                </a:moveTo>
                <a:lnTo>
                  <a:pt x="4856010" y="0"/>
                </a:lnTo>
                <a:lnTo>
                  <a:pt x="4856010" y="2428005"/>
                </a:lnTo>
                <a:lnTo>
                  <a:pt x="0" y="2428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072479"/>
            <a:ext cx="15813651" cy="106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20"/>
              </a:lnSpc>
              <a:spcBef>
                <a:spcPct val="0"/>
              </a:spcBef>
            </a:pPr>
            <a:r>
              <a:rPr lang="en-US" sz="6157" b="1">
                <a:solidFill>
                  <a:srgbClr val="01475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Diseño y Desarrollo de Interfaces UI/UX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71921" y="3088875"/>
            <a:ext cx="7860369" cy="5897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2"/>
              </a:lnSpc>
            </a:pPr>
            <a:r>
              <a:rPr lang="en-US" sz="371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combinación de Figma y Bootstrap/Tailwind/Primefaces crea un flujo eficiente en el ciclo de vida del diseño y desarrollo UI/UX. Esto contribuye a una experiencia de usuario más fluida, interfaces consistentes y productos digitales más robustos y atractivos.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CONCEPTOS CLAVE APRENDIDOS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280847"/>
            <a:ext cx="16481717" cy="551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12"/>
              </a:lnSpc>
            </a:pPr>
            <a:r>
              <a:rPr lang="en-US" sz="31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Software Generico: Es aquel que suele ser usado por varios tipos de negocios y pueden ser configurados según necesidades y se producen en masa.</a:t>
            </a:r>
          </a:p>
          <a:p>
            <a:pPr algn="just">
              <a:lnSpc>
                <a:spcPts val="4412"/>
              </a:lnSpc>
            </a:pPr>
            <a:endParaRPr lang="en-US" sz="3151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4412"/>
              </a:lnSpc>
            </a:pPr>
            <a:r>
              <a:rPr lang="en-US" sz="31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Principios de Jakob Nielsen: Sirven para resolver los problemas de usabilidad más comunes en las interfaces web. De esta manera, la interfaz puede ofrecer una mejor experiencia a los usuarios que la visiten.</a:t>
            </a:r>
          </a:p>
          <a:p>
            <a:pPr algn="just">
              <a:lnSpc>
                <a:spcPts val="4412"/>
              </a:lnSpc>
            </a:pPr>
            <a:endParaRPr lang="en-US" sz="3151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4412"/>
              </a:lnSpc>
            </a:pPr>
            <a:r>
              <a:rPr lang="en-US" sz="31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UX/UI: Permiten al usuario interactuar de manera facil e intuitiva con una aplicación ya que al usuario final no le importa saber como funciona por detras sino que el uso sea facil para él.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EMPATIA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6852" y="2090166"/>
            <a:ext cx="15812448" cy="686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72"/>
              </a:lnSpc>
              <a:spcBef>
                <a:spcPct val="0"/>
              </a:spcBef>
            </a:pPr>
            <a:r>
              <a:rPr lang="en-US" sz="324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"IMAGINEN QUE ESTÁN TRABAJANDO EN EQUIPO Y UNO DE SUS COMPAÑEROS COMETE UN ERROR EN SU RAMA, ALGO QUE ROMPE EL PROYECTO. LO FÁCIL SERÍA ENOJARSE, CRITICARLO O DECIR: '¿POR QUÉ NO LO HIZO BIEN?'.</a:t>
            </a:r>
          </a:p>
          <a:p>
            <a:pPr algn="just">
              <a:lnSpc>
                <a:spcPts val="3672"/>
              </a:lnSpc>
              <a:spcBef>
                <a:spcPct val="0"/>
              </a:spcBef>
            </a:pPr>
            <a:r>
              <a:rPr lang="en-US" sz="324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PERO AHORA PIENSEN: ¿Y SI ESA PERSONA ESTABA APRENDIENDO ALGO NUEVO, O TAL VEZ TENÍA UN MAL DÍA?</a:t>
            </a:r>
          </a:p>
          <a:p>
            <a:pPr algn="just">
              <a:lnSpc>
                <a:spcPts val="3672"/>
              </a:lnSpc>
              <a:spcBef>
                <a:spcPct val="0"/>
              </a:spcBef>
            </a:pPr>
            <a:r>
              <a:rPr lang="en-US" sz="324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EMPATÍA ES PARAR UN SEGUNDO ANTES DE JUZGAR, PONERSE EN SUS ZAPATOS Y PREGUNTARSE: '¿CÓMO PUEDO AYUDAR?' EN LUGAR DE '¿QUÉ HIZO MAL?'</a:t>
            </a:r>
          </a:p>
          <a:p>
            <a:pPr algn="just">
              <a:lnSpc>
                <a:spcPts val="3672"/>
              </a:lnSpc>
              <a:spcBef>
                <a:spcPct val="0"/>
              </a:spcBef>
            </a:pPr>
            <a:r>
              <a:rPr lang="en-US" sz="324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CUANDO HACES UN CODE REVIEW, NO SOLO BUSCAS ERRORES, TAMBIÉN DAS ÁNIMOS, SUGERENCIAS Y COMPRENSIÓN. ESO ES EMPATÍA EN ACCIÓN.</a:t>
            </a:r>
          </a:p>
          <a:p>
            <a:pPr algn="just">
              <a:lnSpc>
                <a:spcPts val="3672"/>
              </a:lnSpc>
              <a:spcBef>
                <a:spcPct val="0"/>
              </a:spcBef>
            </a:pPr>
            <a:r>
              <a:rPr lang="en-US" sz="324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Y EN EL MUNDO DEL DESARROLLO, CRÉANME, TRABAJAR CON EMPATÍA HACE QUE LOS EQUIPOS FUNCIONEN MEJOR QUE CUALQUIER FRAMEWORK."</a:t>
            </a:r>
          </a:p>
          <a:p>
            <a:pPr algn="just">
              <a:lnSpc>
                <a:spcPts val="3672"/>
              </a:lnSpc>
              <a:spcBef>
                <a:spcPct val="0"/>
              </a:spcBef>
            </a:pPr>
            <a:endParaRPr lang="en-US" sz="3249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REFERENCIAS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4341" y="2396199"/>
            <a:ext cx="16889413" cy="219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435" lvl="1" indent="-340217" algn="l">
              <a:lnSpc>
                <a:spcPts val="4412"/>
              </a:lnSpc>
              <a:buFont typeface="Arial"/>
              <a:buChar char="•"/>
            </a:pPr>
            <a:r>
              <a:rPr lang="en-US" sz="31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https://es.linkedin.com/pulse/las-diferencias-entre-un-software-gen%C3%A9rico-y-uno-personalizado-1c</a:t>
            </a:r>
          </a:p>
          <a:p>
            <a:pPr marL="680435" lvl="1" indent="-340217" algn="l">
              <a:lnSpc>
                <a:spcPts val="4412"/>
              </a:lnSpc>
              <a:buFont typeface="Arial"/>
              <a:buChar char="•"/>
            </a:pPr>
            <a:r>
              <a:rPr lang="en-US" sz="31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https://diegoamorin.com/10-principios-usabilidad/</a:t>
            </a:r>
          </a:p>
          <a:p>
            <a:pPr marL="680435" lvl="1" indent="-340217" algn="l">
              <a:lnSpc>
                <a:spcPts val="4412"/>
              </a:lnSpc>
              <a:buFont typeface="Arial"/>
              <a:buChar char="•"/>
            </a:pPr>
            <a:endParaRPr lang="en-US" sz="3151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sz="6099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  <a:endParaRPr lang="en-US" sz="6099">
              <a:solidFill>
                <a:srgbClr val="131416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5000" spc="1160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DUDAS</a:t>
            </a:r>
          </a:p>
        </p:txBody>
      </p:sp>
      <p:sp>
        <p:nvSpPr>
          <p:cNvPr id="4" name="Freeform 4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000" spc="464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1752</Words>
  <Application>Microsoft Office PowerPoint</Application>
  <PresentationFormat>Personalizado</PresentationFormat>
  <Paragraphs>136</Paragraphs>
  <Slides>45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6" baseType="lpstr">
      <vt:lpstr>Calibri</vt:lpstr>
      <vt:lpstr>Garet</vt:lpstr>
      <vt:lpstr>Open Sans Bold</vt:lpstr>
      <vt:lpstr>Montserrat Classic Bold</vt:lpstr>
      <vt:lpstr>Montserrat</vt:lpstr>
      <vt:lpstr>Montserrat Bold</vt:lpstr>
      <vt:lpstr>Montserrat Classic</vt:lpstr>
      <vt:lpstr>Arial</vt:lpstr>
      <vt:lpstr>Horizon</vt:lpstr>
      <vt:lpstr>Playlist Script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4</dc:title>
  <cp:lastModifiedBy>Ronald Ordoñez</cp:lastModifiedBy>
  <cp:revision>2</cp:revision>
  <dcterms:created xsi:type="dcterms:W3CDTF">2006-08-16T00:00:00Z</dcterms:created>
  <dcterms:modified xsi:type="dcterms:W3CDTF">2025-11-01T04:51:24Z</dcterms:modified>
  <dc:identifier>DAGvsg1QpNs</dc:identifier>
</cp:coreProperties>
</file>