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10287000" cx="18288000"/>
  <p:notesSz cx="6858000" cy="9144000"/>
  <p:embeddedFontLst>
    <p:embeddedFont>
      <p:font typeface="Play"/>
      <p:regular r:id="rId21"/>
      <p:bold r:id="rId22"/>
    </p:embeddedFont>
    <p:embeddedFont>
      <p:font typeface="Poppins"/>
      <p:regular r:id="rId23"/>
      <p:bold r:id="rId24"/>
      <p:italic r:id="rId25"/>
      <p:boldItalic r:id="rId26"/>
    </p:embeddedFont>
    <p:embeddedFont>
      <p:font typeface="Poppins Black"/>
      <p:bold r:id="rId27"/>
      <p:boldItalic r:id="rId28"/>
    </p:embeddedFont>
    <p:embeddedFont>
      <p:font typeface="Open Sans"/>
      <p:bold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gvi+hJBr0Ps4VH4k+EsFxF0Qbk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y-bold.fntdata"/><Relationship Id="rId21" Type="http://schemas.openxmlformats.org/officeDocument/2006/relationships/font" Target="fonts/Play-regular.fntdata"/><Relationship Id="rId24" Type="http://schemas.openxmlformats.org/officeDocument/2006/relationships/font" Target="fonts/Poppins-bold.fntdata"/><Relationship Id="rId23" Type="http://schemas.openxmlformats.org/officeDocument/2006/relationships/font" Target="fonts/Poppins-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boldItalic.fntdata"/><Relationship Id="rId25" Type="http://schemas.openxmlformats.org/officeDocument/2006/relationships/font" Target="fonts/Poppins-italic.fntdata"/><Relationship Id="rId28" Type="http://schemas.openxmlformats.org/officeDocument/2006/relationships/font" Target="fonts/PoppinsBlack-boldItalic.fntdata"/><Relationship Id="rId27" Type="http://schemas.openxmlformats.org/officeDocument/2006/relationships/font" Target="fonts/PoppinsBlack-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bold.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hyperlink" Target="https://www.youtube.com/watch?v=F8443XQafGU" TargetMode="External"/><Relationship Id="rId6" Type="http://schemas.openxmlformats.org/officeDocument/2006/relationships/hyperlink" Target="https://www.youtube.com/watch?v=F8443XQafGU" TargetMode="External"/><Relationship Id="rId7" Type="http://schemas.openxmlformats.org/officeDocument/2006/relationships/hyperlink" Target="https://quizizz.com/admin/quiz/6799bdd147be86bf76e3a7a5?source=quiz_share" TargetMode="External"/><Relationship Id="rId8" Type="http://schemas.openxmlformats.org/officeDocument/2006/relationships/hyperlink" Target="https://quizizz.com/admin/quiz/6799bdd147be86bf76e3a7a5?source=quiz_shar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9.png"/><Relationship Id="rId4" Type="http://schemas.openxmlformats.org/officeDocument/2006/relationships/image" Target="../media/image2.png"/><Relationship Id="rId5"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0.png"/><Relationship Id="rId4" Type="http://schemas.openxmlformats.org/officeDocument/2006/relationships/image" Target="../media/image13.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image" Target="../media/image28.png"/><Relationship Id="rId6" Type="http://schemas.openxmlformats.org/officeDocument/2006/relationships/image" Target="../media/image17.png"/><Relationship Id="rId7" Type="http://schemas.openxmlformats.org/officeDocument/2006/relationships/image" Target="../media/image24.png"/><Relationship Id="rId8"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png"/><Relationship Id="rId4" Type="http://schemas.openxmlformats.org/officeDocument/2006/relationships/image" Target="../media/image3.png"/><Relationship Id="rId9"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21.png"/><Relationship Id="rId7" Type="http://schemas.openxmlformats.org/officeDocument/2006/relationships/image" Target="../media/image17.png"/><Relationship Id="rId8"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1.png"/><Relationship Id="rId9" Type="http://schemas.openxmlformats.org/officeDocument/2006/relationships/image" Target="../media/image38.png"/><Relationship Id="rId5" Type="http://schemas.openxmlformats.org/officeDocument/2006/relationships/image" Target="../media/image17.png"/><Relationship Id="rId6" Type="http://schemas.openxmlformats.org/officeDocument/2006/relationships/image" Target="../media/image26.png"/><Relationship Id="rId7" Type="http://schemas.openxmlformats.org/officeDocument/2006/relationships/image" Target="../media/image31.png"/><Relationship Id="rId8"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29.png"/><Relationship Id="rId5" Type="http://schemas.openxmlformats.org/officeDocument/2006/relationships/image" Target="../media/image37.png"/><Relationship Id="rId6" Type="http://schemas.openxmlformats.org/officeDocument/2006/relationships/image" Target="../media/image21.png"/><Relationship Id="rId7"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git-scm.com/book/es/v2/Inicio---Sobre-el-Control-de-Versiones-Acerca-del-Control-de-Versiones" TargetMode="External"/><Relationship Id="rId4" Type="http://schemas.openxmlformats.org/officeDocument/2006/relationships/hyperlink" Target="https://unity.com/es/topics/what-is-version-contro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28700" y="7834026"/>
            <a:ext cx="10222811"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Analisis y Diseño de Sistemas 1</a:t>
            </a:r>
            <a:endParaRPr/>
          </a:p>
        </p:txBody>
      </p:sp>
      <p:sp>
        <p:nvSpPr>
          <p:cNvPr id="86" name="Google Shape;86;p1"/>
          <p:cNvSpPr txBox="1"/>
          <p:nvPr/>
        </p:nvSpPr>
        <p:spPr>
          <a:xfrm>
            <a:off x="2839730" y="3915649"/>
            <a:ext cx="12070259"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Control de Versiones</a:t>
            </a:r>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89" name="Google Shape;89;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6" y="4584696"/>
            <a:ext cx="4613562" cy="845387"/>
            <a:chOff x="0" y="-76200"/>
            <a:chExt cx="1964221" cy="359923"/>
          </a:xfrm>
        </p:grpSpPr>
        <p:sp>
          <p:nvSpPr>
            <p:cNvPr id="95" name="Google Shape;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6" name="Google Shape;9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lang="en-US" sz="2799"/>
                <a:t>       </a:t>
              </a:r>
              <a:r>
                <a:rPr b="0" i="0" lang="en-US" sz="2799" u="none" cap="none" strike="noStrike">
                  <a:solidFill>
                    <a:srgbClr val="000000"/>
                  </a:solidFill>
                  <a:latin typeface="Arial"/>
                  <a:ea typeface="Arial"/>
                  <a:cs typeface="Arial"/>
                  <a:sym typeface="Arial"/>
                </a:rPr>
                <a:t>Foro #1</a:t>
              </a:r>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8" name="Google Shape;98;p2"/>
          <p:cNvGrpSpPr/>
          <p:nvPr/>
        </p:nvGrpSpPr>
        <p:grpSpPr>
          <a:xfrm>
            <a:off x="1866989" y="3013981"/>
            <a:ext cx="4115217" cy="155649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2" name="Google Shape;102;p2"/>
          <p:cNvGrpSpPr/>
          <p:nvPr/>
        </p:nvGrpSpPr>
        <p:grpSpPr>
          <a:xfrm>
            <a:off x="651749" y="-320617"/>
            <a:ext cx="7076701" cy="3120467"/>
            <a:chOff x="-6" y="-95250"/>
            <a:chExt cx="9435600" cy="4160623"/>
          </a:xfrm>
        </p:grpSpPr>
        <p:sp>
          <p:nvSpPr>
            <p:cNvPr id="103" name="Google Shape;103;p2"/>
            <p:cNvSpPr txBox="1"/>
            <p:nvPr/>
          </p:nvSpPr>
          <p:spPr>
            <a:xfrm>
              <a:off x="-6" y="986773"/>
              <a:ext cx="94356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4" name="Google Shape;104;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2"/>
          <p:cNvGrpSpPr/>
          <p:nvPr/>
        </p:nvGrpSpPr>
        <p:grpSpPr>
          <a:xfrm>
            <a:off x="10471965" y="97566"/>
            <a:ext cx="9076550" cy="2970051"/>
            <a:chOff x="-879667" y="-76200"/>
            <a:chExt cx="12102067" cy="3960068"/>
          </a:xfrm>
        </p:grpSpPr>
        <p:sp>
          <p:nvSpPr>
            <p:cNvPr id="106" name="Google Shape;106;p2"/>
            <p:cNvSpPr txBox="1"/>
            <p:nvPr/>
          </p:nvSpPr>
          <p:spPr>
            <a:xfrm>
              <a:off x="-879667" y="805268"/>
              <a:ext cx="112224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Recursos</a:t>
              </a:r>
              <a:endParaRPr/>
            </a:p>
          </p:txBody>
        </p:sp>
        <p:sp>
          <p:nvSpPr>
            <p:cNvPr id="107" name="Google Shape;107;p2"/>
            <p:cNvSpPr txBox="1"/>
            <p:nvPr/>
          </p:nvSpPr>
          <p:spPr>
            <a:xfrm>
              <a:off x="0" y="-76200"/>
              <a:ext cx="11222400" cy="747600"/>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11739805" y="2798634"/>
            <a:ext cx="5353646" cy="3121936"/>
            <a:chOff x="0" y="-114300"/>
            <a:chExt cx="1410014" cy="822238"/>
          </a:xfrm>
        </p:grpSpPr>
        <p:sp>
          <p:nvSpPr>
            <p:cNvPr id="109" name="Google Shape;109;p2"/>
            <p:cNvSpPr/>
            <p:nvPr/>
          </p:nvSpPr>
          <p:spPr>
            <a:xfrm>
              <a:off x="0" y="0"/>
              <a:ext cx="1410014" cy="707938"/>
            </a:xfrm>
            <a:custGeom>
              <a:rect b="b" l="l" r="r" t="t"/>
              <a:pathLst>
                <a:path extrusionOk="0" h="707938" w="1410014">
                  <a:moveTo>
                    <a:pt x="1206814" y="0"/>
                  </a:moveTo>
                  <a:lnTo>
                    <a:pt x="0" y="0"/>
                  </a:lnTo>
                  <a:lnTo>
                    <a:pt x="0" y="707938"/>
                  </a:lnTo>
                  <a:lnTo>
                    <a:pt x="1206814" y="707938"/>
                  </a:lnTo>
                  <a:lnTo>
                    <a:pt x="1410014" y="353969"/>
                  </a:lnTo>
                  <a:lnTo>
                    <a:pt x="1206814" y="0"/>
                  </a:lnTo>
                  <a:close/>
                </a:path>
              </a:pathLst>
            </a:custGeom>
            <a:solidFill>
              <a:srgbClr val="FFFFFF"/>
            </a:solidFill>
            <a:ln>
              <a:noFill/>
            </a:ln>
          </p:spPr>
        </p:sp>
        <p:sp>
          <p:nvSpPr>
            <p:cNvPr id="110" name="Google Shape;110;p2"/>
            <p:cNvSpPr txBox="1"/>
            <p:nvPr/>
          </p:nvSpPr>
          <p:spPr>
            <a:xfrm>
              <a:off x="0" y="-114300"/>
              <a:ext cx="1295714" cy="8222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None/>
              </a:pPr>
              <a:r>
                <a:rPr lang="en-US" sz="4499" u="sng">
                  <a:hlinkClick r:id="rId5"/>
                </a:rPr>
                <a:t>Introducción</a:t>
              </a:r>
              <a:r>
                <a:rPr b="0" i="0" lang="en-US" sz="4499" u="sng" cap="none" strike="noStrike">
                  <a:solidFill>
                    <a:srgbClr val="000000"/>
                  </a:solidFill>
                  <a:latin typeface="Arial"/>
                  <a:ea typeface="Arial"/>
                  <a:cs typeface="Arial"/>
                  <a:sym typeface="Arial"/>
                  <a:hlinkClick r:id="rId6">
                    <a:extLst>
                      <a:ext uri="{A12FA001-AC4F-418D-AE19-62706E023703}">
                        <ahyp:hlinkClr val="tx"/>
                      </a:ext>
                    </a:extLst>
                  </a:hlinkClick>
                </a:rPr>
                <a:t> a Control de Versiones</a:t>
              </a:r>
              <a:endParaRPr/>
            </a:p>
          </p:txBody>
        </p:sp>
      </p:grpSp>
      <p:grpSp>
        <p:nvGrpSpPr>
          <p:cNvPr id="111" name="Google Shape;111;p2"/>
          <p:cNvGrpSpPr/>
          <p:nvPr/>
        </p:nvGrpSpPr>
        <p:grpSpPr>
          <a:xfrm>
            <a:off x="1028700" y="5444302"/>
            <a:ext cx="4613551" cy="845385"/>
            <a:chOff x="0" y="-76200"/>
            <a:chExt cx="1964221" cy="359923"/>
          </a:xfrm>
        </p:grpSpPr>
        <p:sp>
          <p:nvSpPr>
            <p:cNvPr id="112" name="Google Shape;112;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3" name="Google Shape;113;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Registro en DTT</a:t>
              </a:r>
              <a:endParaRPr/>
            </a:p>
          </p:txBody>
        </p:sp>
      </p:grpSp>
      <p:grpSp>
        <p:nvGrpSpPr>
          <p:cNvPr id="114" name="Google Shape;114;p2"/>
          <p:cNvGrpSpPr/>
          <p:nvPr/>
        </p:nvGrpSpPr>
        <p:grpSpPr>
          <a:xfrm>
            <a:off x="878654" y="6396879"/>
            <a:ext cx="4613551" cy="845385"/>
            <a:chOff x="0" y="-76200"/>
            <a:chExt cx="1964221" cy="359923"/>
          </a:xfrm>
        </p:grpSpPr>
        <p:sp>
          <p:nvSpPr>
            <p:cNvPr id="115" name="Google Shape;11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6" name="Google Shape;11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Quizz de clase</a:t>
              </a:r>
              <a:endParaRPr/>
            </a:p>
          </p:txBody>
        </p:sp>
      </p:grpSp>
      <p:grpSp>
        <p:nvGrpSpPr>
          <p:cNvPr id="117" name="Google Shape;117;p2"/>
          <p:cNvGrpSpPr/>
          <p:nvPr/>
        </p:nvGrpSpPr>
        <p:grpSpPr>
          <a:xfrm>
            <a:off x="176619" y="7349457"/>
            <a:ext cx="4613551" cy="845385"/>
            <a:chOff x="0" y="-76200"/>
            <a:chExt cx="1964221" cy="359923"/>
          </a:xfrm>
        </p:grpSpPr>
        <p:sp>
          <p:nvSpPr>
            <p:cNvPr id="118" name="Google Shape;118;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9" name="Google Shape;119;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Dudas</a:t>
              </a:r>
              <a:endParaRPr/>
            </a:p>
          </p:txBody>
        </p:sp>
      </p:grpSp>
      <p:sp>
        <p:nvSpPr>
          <p:cNvPr id="120" name="Google Shape;120;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1" name="Google Shape;121;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2" name="Google Shape;122;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23" name="Google Shape;123;p2">
            <a:hlinkClick r:id="rId7"/>
          </p:cNvPr>
          <p:cNvSpPr txBox="1"/>
          <p:nvPr/>
        </p:nvSpPr>
        <p:spPr>
          <a:xfrm>
            <a:off x="12479775" y="6804225"/>
            <a:ext cx="4613700" cy="80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4000" u="sng">
                <a:solidFill>
                  <a:schemeClr val="hlink"/>
                </a:solidFill>
                <a:hlinkClick r:id="rId8"/>
              </a:rPr>
              <a:t>Quizz Del Dia</a:t>
            </a:r>
            <a:endParaRPr sz="4000" u="sng"/>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29" name="Google Shape;129;p3"/>
          <p:cNvSpPr txBox="1"/>
          <p:nvPr/>
        </p:nvSpPr>
        <p:spPr>
          <a:xfrm>
            <a:off x="633284" y="2804477"/>
            <a:ext cx="17021432" cy="4582795"/>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1" i="0" lang="en-US" sz="5199" u="none" cap="none" strike="noStrike">
                <a:solidFill>
                  <a:srgbClr val="131416"/>
                </a:solidFill>
                <a:latin typeface="Open Sans"/>
                <a:ea typeface="Open Sans"/>
                <a:cs typeface="Open Sans"/>
                <a:sym typeface="Open Sans"/>
              </a:rPr>
              <a:t>Genera soluciones de software aplicando buenas prácticas de análisis, control de versiones y metodologías ágiles para garantizar proyectos eficientes y colaborativos en entornos virtuales de trabajo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p:nvPr/>
        </p:nvSpPr>
        <p:spPr>
          <a:xfrm>
            <a:off x="0" y="-92484"/>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8235"/>
            </a:srgbClr>
          </a:solidFill>
          <a:ln>
            <a:noFill/>
          </a:ln>
        </p:spPr>
      </p:sp>
      <p:sp>
        <p:nvSpPr>
          <p:cNvPr id="135" name="Google Shape;135;p4"/>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36" name="Google Shape;136;p4"/>
          <p:cNvGrpSpPr/>
          <p:nvPr/>
        </p:nvGrpSpPr>
        <p:grpSpPr>
          <a:xfrm rot="9869556">
            <a:off x="14359974" y="6332581"/>
            <a:ext cx="6482297" cy="6762426"/>
            <a:chOff x="0" y="0"/>
            <a:chExt cx="8643063" cy="9016568"/>
          </a:xfrm>
        </p:grpSpPr>
        <p:sp>
          <p:nvSpPr>
            <p:cNvPr id="137" name="Google Shape;137;p4"/>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38" name="Google Shape;138;p4"/>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39" name="Google Shape;139;p4"/>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40" name="Google Shape;140;p4"/>
          <p:cNvSpPr/>
          <p:nvPr/>
        </p:nvSpPr>
        <p:spPr>
          <a:xfrm>
            <a:off x="560277" y="4078632"/>
            <a:ext cx="5695225" cy="4114800"/>
          </a:xfrm>
          <a:custGeom>
            <a:rect b="b" l="l" r="r" t="t"/>
            <a:pathLst>
              <a:path extrusionOk="0" h="4114800" w="5695225">
                <a:moveTo>
                  <a:pt x="0" y="0"/>
                </a:moveTo>
                <a:lnTo>
                  <a:pt x="5695225" y="0"/>
                </a:lnTo>
                <a:lnTo>
                  <a:pt x="5695225" y="4114800"/>
                </a:lnTo>
                <a:lnTo>
                  <a:pt x="0" y="4114800"/>
                </a:lnTo>
                <a:lnTo>
                  <a:pt x="0" y="0"/>
                </a:lnTo>
                <a:close/>
              </a:path>
            </a:pathLst>
          </a:custGeom>
          <a:blipFill rotWithShape="1">
            <a:blip r:embed="rId7">
              <a:alphaModFix/>
            </a:blip>
            <a:stretch>
              <a:fillRect b="0" l="0" r="0" t="0"/>
            </a:stretch>
          </a:blipFill>
          <a:ln>
            <a:noFill/>
          </a:ln>
        </p:spPr>
      </p:sp>
      <p:sp>
        <p:nvSpPr>
          <p:cNvPr id="141" name="Google Shape;141;p4"/>
          <p:cNvSpPr txBox="1"/>
          <p:nvPr/>
        </p:nvSpPr>
        <p:spPr>
          <a:xfrm>
            <a:off x="6860717" y="4050057"/>
            <a:ext cx="10740406" cy="4237016"/>
          </a:xfrm>
          <a:prstGeom prst="rect">
            <a:avLst/>
          </a:prstGeom>
          <a:noFill/>
          <a:ln>
            <a:noFill/>
          </a:ln>
        </p:spPr>
        <p:txBody>
          <a:bodyPr anchorCtr="0" anchor="t" bIns="0" lIns="0" spcFirstLastPara="1" rIns="0" wrap="square" tIns="0">
            <a:spAutoFit/>
          </a:bodyPr>
          <a:lstStyle/>
          <a:p>
            <a:pPr indent="0" lvl="0" marL="0" marR="0" rtl="0" algn="l">
              <a:lnSpc>
                <a:spcPct val="118003"/>
              </a:lnSpc>
              <a:spcBef>
                <a:spcPts val="0"/>
              </a:spcBef>
              <a:spcAft>
                <a:spcPts val="0"/>
              </a:spcAft>
              <a:buNone/>
            </a:pPr>
            <a:r>
              <a:rPr b="0" i="0" lang="en-US" sz="3116" u="none" cap="none" strike="noStrike">
                <a:solidFill>
                  <a:srgbClr val="404040"/>
                </a:solidFill>
                <a:latin typeface="Poppins"/>
                <a:ea typeface="Poppins"/>
                <a:cs typeface="Poppins"/>
                <a:sym typeface="Poppins"/>
              </a:rPr>
              <a:t>Son un tipo de software diseñado para realizar un seguimiento de las modificaciones efectuadas en el código a lo largo del tiempo. </a:t>
            </a:r>
            <a:endParaRPr/>
          </a:p>
          <a:p>
            <a:pPr indent="0" lvl="0" marL="0" marR="0" rtl="0" algn="l">
              <a:lnSpc>
                <a:spcPct val="118003"/>
              </a:lnSpc>
              <a:spcBef>
                <a:spcPts val="0"/>
              </a:spcBef>
              <a:spcAft>
                <a:spcPts val="0"/>
              </a:spcAft>
              <a:buNone/>
            </a:pPr>
            <a:r>
              <a:t/>
            </a:r>
            <a:endParaRPr b="0" i="0" sz="3116" u="none" cap="none" strike="noStrike">
              <a:solidFill>
                <a:srgbClr val="404040"/>
              </a:solidFill>
              <a:latin typeface="Poppins"/>
              <a:ea typeface="Poppins"/>
              <a:cs typeface="Poppins"/>
              <a:sym typeface="Poppins"/>
            </a:endParaRPr>
          </a:p>
          <a:p>
            <a:pPr indent="0" lvl="0" marL="0" marR="0" rtl="0" algn="l">
              <a:lnSpc>
                <a:spcPct val="118003"/>
              </a:lnSpc>
              <a:spcBef>
                <a:spcPts val="0"/>
              </a:spcBef>
              <a:spcAft>
                <a:spcPts val="0"/>
              </a:spcAft>
              <a:buNone/>
            </a:pPr>
            <a:r>
              <a:rPr b="0" i="0" lang="en-US" sz="3116" u="none" cap="none" strike="noStrike">
                <a:solidFill>
                  <a:srgbClr val="404040"/>
                </a:solidFill>
                <a:latin typeface="Poppins"/>
                <a:ea typeface="Poppins"/>
                <a:cs typeface="Poppins"/>
                <a:sym typeface="Poppins"/>
              </a:rPr>
              <a:t>Cuando un desarrollador edita el código, el sistema de control de versiones captura instantáneas de los archivos, almacenándolas de manera permanente para posibilitar su recuperación en el futuro, si así se requiere.</a:t>
            </a:r>
            <a:endParaRPr/>
          </a:p>
        </p:txBody>
      </p:sp>
      <p:sp>
        <p:nvSpPr>
          <p:cNvPr id="142" name="Google Shape;142;p4"/>
          <p:cNvSpPr txBox="1"/>
          <p:nvPr/>
        </p:nvSpPr>
        <p:spPr>
          <a:xfrm>
            <a:off x="1455948" y="735241"/>
            <a:ext cx="15376104" cy="2438400"/>
          </a:xfrm>
          <a:prstGeom prst="rect">
            <a:avLst/>
          </a:prstGeom>
          <a:noFill/>
          <a:ln>
            <a:noFill/>
          </a:ln>
        </p:spPr>
        <p:txBody>
          <a:bodyPr anchorCtr="0" anchor="t" bIns="0" lIns="0" spcFirstLastPara="1" rIns="0" wrap="square" tIns="0">
            <a:spAutoFit/>
          </a:bodyPr>
          <a:lstStyle/>
          <a:p>
            <a:pPr indent="0" lvl="0" marL="0" marR="0" rtl="0" algn="ctr">
              <a:lnSpc>
                <a:spcPct val="120010"/>
              </a:lnSpc>
              <a:spcBef>
                <a:spcPts val="0"/>
              </a:spcBef>
              <a:spcAft>
                <a:spcPts val="0"/>
              </a:spcAft>
              <a:buNone/>
            </a:pPr>
            <a:r>
              <a:rPr b="1" i="1" lang="en-US" sz="7806" u="none" cap="none" strike="noStrike">
                <a:solidFill>
                  <a:srgbClr val="1B4A9B"/>
                </a:solidFill>
                <a:latin typeface="Poppins"/>
                <a:ea typeface="Poppins"/>
                <a:cs typeface="Poppins"/>
                <a:sym typeface="Poppins"/>
              </a:rPr>
              <a:t>SISTEMAS DE CONTROL DE VERSIONES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5"/>
          <p:cNvSpPr/>
          <p:nvPr/>
        </p:nvSpPr>
        <p:spPr>
          <a:xfrm>
            <a:off x="-305192" y="0"/>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8235"/>
            </a:srgbClr>
          </a:solidFill>
          <a:ln>
            <a:noFill/>
          </a:ln>
        </p:spPr>
      </p:sp>
      <p:sp>
        <p:nvSpPr>
          <p:cNvPr descr="Round Circle Dots" id="148" name="Google Shape;148;p5"/>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3">
              <a:alphaModFix amt="47000"/>
            </a:blip>
            <a:stretch>
              <a:fillRect b="0" l="0" r="0" t="0"/>
            </a:stretch>
          </a:blipFill>
          <a:ln>
            <a:noFill/>
          </a:ln>
        </p:spPr>
      </p:sp>
      <p:grpSp>
        <p:nvGrpSpPr>
          <p:cNvPr id="149" name="Google Shape;149;p5"/>
          <p:cNvGrpSpPr/>
          <p:nvPr/>
        </p:nvGrpSpPr>
        <p:grpSpPr>
          <a:xfrm>
            <a:off x="806992" y="2091548"/>
            <a:ext cx="1100636" cy="1165126"/>
            <a:chOff x="0" y="-47625"/>
            <a:chExt cx="812800" cy="860425"/>
          </a:xfrm>
        </p:grpSpPr>
        <p:sp>
          <p:nvSpPr>
            <p:cNvPr id="150" name="Google Shape;150;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28297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154018"/>
                </a:lnSpc>
                <a:spcBef>
                  <a:spcPts val="0"/>
                </a:spcBef>
                <a:spcAft>
                  <a:spcPts val="0"/>
                </a:spcAft>
                <a:buNone/>
              </a:pPr>
              <a:r>
                <a:rPr b="1" i="0" lang="en-US" sz="2999" u="none" cap="none" strike="noStrike">
                  <a:solidFill>
                    <a:srgbClr val="282970"/>
                  </a:solidFill>
                  <a:latin typeface="Poppins"/>
                  <a:ea typeface="Poppins"/>
                  <a:cs typeface="Poppins"/>
                  <a:sym typeface="Poppins"/>
                </a:rPr>
                <a:t>1</a:t>
              </a:r>
              <a:endParaRPr/>
            </a:p>
          </p:txBody>
        </p:sp>
      </p:grpSp>
      <p:sp>
        <p:nvSpPr>
          <p:cNvPr id="152" name="Google Shape;152;p5"/>
          <p:cNvSpPr txBox="1"/>
          <p:nvPr/>
        </p:nvSpPr>
        <p:spPr>
          <a:xfrm>
            <a:off x="-3205718" y="744766"/>
            <a:ext cx="16230600" cy="11715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1" lang="en-US" sz="7300" u="none" cap="none" strike="noStrike">
                <a:solidFill>
                  <a:srgbClr val="1B4A9B"/>
                </a:solidFill>
                <a:latin typeface="Poppins"/>
                <a:ea typeface="Poppins"/>
                <a:cs typeface="Poppins"/>
                <a:sym typeface="Poppins"/>
              </a:rPr>
              <a:t>ANTECEDENTES</a:t>
            </a:r>
            <a:endParaRPr/>
          </a:p>
        </p:txBody>
      </p:sp>
      <p:sp>
        <p:nvSpPr>
          <p:cNvPr id="153" name="Google Shape;153;p5"/>
          <p:cNvSpPr txBox="1"/>
          <p:nvPr/>
        </p:nvSpPr>
        <p:spPr>
          <a:xfrm>
            <a:off x="2206945" y="2490980"/>
            <a:ext cx="6141676" cy="4857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1B4A9B"/>
                </a:solidFill>
                <a:latin typeface="Poppins"/>
                <a:ea typeface="Poppins"/>
                <a:cs typeface="Poppins"/>
                <a:sym typeface="Poppins"/>
              </a:rPr>
              <a:t>El Problema Inicial</a:t>
            </a:r>
            <a:endParaRPr/>
          </a:p>
        </p:txBody>
      </p:sp>
      <p:sp>
        <p:nvSpPr>
          <p:cNvPr id="154" name="Google Shape;154;p5"/>
          <p:cNvSpPr txBox="1"/>
          <p:nvPr/>
        </p:nvSpPr>
        <p:spPr>
          <a:xfrm>
            <a:off x="2206945" y="3311697"/>
            <a:ext cx="13698419" cy="11715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00" u="none" cap="none" strike="noStrike">
                <a:solidFill>
                  <a:srgbClr val="000000"/>
                </a:solidFill>
                <a:latin typeface="Poppins"/>
                <a:ea typeface="Poppins"/>
                <a:cs typeface="Poppins"/>
                <a:sym typeface="Poppins"/>
              </a:rPr>
              <a:t>En los primeros días del desarrollo de software, era común perder o sobrescribir código, especialmente en equipos grandes. Los desarrolladores necesitaban una forma de guardar y gestionar cambios de manera organizada.</a:t>
            </a:r>
            <a:endParaRPr/>
          </a:p>
        </p:txBody>
      </p:sp>
      <p:grpSp>
        <p:nvGrpSpPr>
          <p:cNvPr id="155" name="Google Shape;155;p5"/>
          <p:cNvGrpSpPr/>
          <p:nvPr/>
        </p:nvGrpSpPr>
        <p:grpSpPr>
          <a:xfrm>
            <a:off x="806992" y="4643050"/>
            <a:ext cx="1100636" cy="1165126"/>
            <a:chOff x="0" y="-47625"/>
            <a:chExt cx="812800" cy="860425"/>
          </a:xfrm>
        </p:grpSpPr>
        <p:sp>
          <p:nvSpPr>
            <p:cNvPr id="156" name="Google Shape;156;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28297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154018"/>
                </a:lnSpc>
                <a:spcBef>
                  <a:spcPts val="0"/>
                </a:spcBef>
                <a:spcAft>
                  <a:spcPts val="0"/>
                </a:spcAft>
                <a:buNone/>
              </a:pPr>
              <a:r>
                <a:rPr b="1" i="0" lang="en-US" sz="2999" u="none" cap="none" strike="noStrike">
                  <a:solidFill>
                    <a:srgbClr val="282970"/>
                  </a:solidFill>
                  <a:latin typeface="Poppins"/>
                  <a:ea typeface="Poppins"/>
                  <a:cs typeface="Poppins"/>
                  <a:sym typeface="Poppins"/>
                </a:rPr>
                <a:t>2</a:t>
              </a:r>
              <a:endParaRPr/>
            </a:p>
          </p:txBody>
        </p:sp>
      </p:grpSp>
      <p:sp>
        <p:nvSpPr>
          <p:cNvPr id="158" name="Google Shape;158;p5"/>
          <p:cNvSpPr txBox="1"/>
          <p:nvPr/>
        </p:nvSpPr>
        <p:spPr>
          <a:xfrm>
            <a:off x="2206945" y="5042483"/>
            <a:ext cx="10817937" cy="4857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1B4A9B"/>
                </a:solidFill>
                <a:latin typeface="Poppins"/>
                <a:ea typeface="Poppins"/>
                <a:cs typeface="Poppins"/>
                <a:sym typeface="Poppins"/>
              </a:rPr>
              <a:t>Primera Generación: Sistemas Centralizados (1970s)</a:t>
            </a:r>
            <a:endParaRPr/>
          </a:p>
        </p:txBody>
      </p:sp>
      <p:sp>
        <p:nvSpPr>
          <p:cNvPr id="159" name="Google Shape;159;p5"/>
          <p:cNvSpPr txBox="1"/>
          <p:nvPr/>
        </p:nvSpPr>
        <p:spPr>
          <a:xfrm>
            <a:off x="2206945" y="5863200"/>
            <a:ext cx="13698419" cy="11715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00" u="none" cap="none" strike="noStrike">
                <a:solidFill>
                  <a:srgbClr val="000000"/>
                </a:solidFill>
                <a:latin typeface="Poppins"/>
                <a:ea typeface="Poppins"/>
                <a:cs typeface="Poppins"/>
                <a:sym typeface="Poppins"/>
              </a:rPr>
              <a:t>Surgieron sistemas como SCCS y RCS que permitieron almacenar versiones de código de forma centralizada. Sin embargo, tenían limitaciones para el trabajo en equipo, ya que solo permitían a una persona editar un archivo a la vez.</a:t>
            </a:r>
            <a:endParaRPr/>
          </a:p>
        </p:txBody>
      </p:sp>
      <p:grpSp>
        <p:nvGrpSpPr>
          <p:cNvPr id="160" name="Google Shape;160;p5"/>
          <p:cNvGrpSpPr/>
          <p:nvPr/>
        </p:nvGrpSpPr>
        <p:grpSpPr>
          <a:xfrm>
            <a:off x="806992" y="7198885"/>
            <a:ext cx="1100636" cy="1165126"/>
            <a:chOff x="0" y="-47625"/>
            <a:chExt cx="812800" cy="860425"/>
          </a:xfrm>
        </p:grpSpPr>
        <p:sp>
          <p:nvSpPr>
            <p:cNvPr id="161" name="Google Shape;161;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cap="sq" cmpd="sng" w="38100">
              <a:solidFill>
                <a:srgbClr val="28297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txBox="1"/>
            <p:nvPr/>
          </p:nvSpPr>
          <p:spPr>
            <a:xfrm>
              <a:off x="76200" y="-47625"/>
              <a:ext cx="660400" cy="784225"/>
            </a:xfrm>
            <a:prstGeom prst="rect">
              <a:avLst/>
            </a:prstGeom>
            <a:noFill/>
            <a:ln>
              <a:noFill/>
            </a:ln>
          </p:spPr>
          <p:txBody>
            <a:bodyPr anchorCtr="0" anchor="ctr" bIns="50800" lIns="50800" spcFirstLastPara="1" rIns="50800" wrap="square" tIns="50800">
              <a:noAutofit/>
            </a:bodyPr>
            <a:lstStyle/>
            <a:p>
              <a:pPr indent="0" lvl="0" marL="0" marR="0" rtl="0" algn="ctr">
                <a:lnSpc>
                  <a:spcPct val="154018"/>
                </a:lnSpc>
                <a:spcBef>
                  <a:spcPts val="0"/>
                </a:spcBef>
                <a:spcAft>
                  <a:spcPts val="0"/>
                </a:spcAft>
                <a:buNone/>
              </a:pPr>
              <a:r>
                <a:rPr b="1" i="0" lang="en-US" sz="2999" u="none" cap="none" strike="noStrike">
                  <a:solidFill>
                    <a:srgbClr val="282970"/>
                  </a:solidFill>
                  <a:latin typeface="Poppins"/>
                  <a:ea typeface="Poppins"/>
                  <a:cs typeface="Poppins"/>
                  <a:sym typeface="Poppins"/>
                </a:rPr>
                <a:t>3</a:t>
              </a:r>
              <a:endParaRPr/>
            </a:p>
          </p:txBody>
        </p:sp>
      </p:grpSp>
      <p:sp>
        <p:nvSpPr>
          <p:cNvPr id="163" name="Google Shape;163;p5"/>
          <p:cNvSpPr txBox="1"/>
          <p:nvPr/>
        </p:nvSpPr>
        <p:spPr>
          <a:xfrm>
            <a:off x="2206945" y="7598317"/>
            <a:ext cx="9772330" cy="4857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000" u="none" cap="none" strike="noStrike">
                <a:solidFill>
                  <a:srgbClr val="1B4A9B"/>
                </a:solidFill>
                <a:latin typeface="Poppins"/>
                <a:ea typeface="Poppins"/>
                <a:cs typeface="Poppins"/>
                <a:sym typeface="Poppins"/>
              </a:rPr>
              <a:t>Revolución con Sistemas Distribuidos (2000s)</a:t>
            </a:r>
            <a:endParaRPr/>
          </a:p>
        </p:txBody>
      </p:sp>
      <p:sp>
        <p:nvSpPr>
          <p:cNvPr id="164" name="Google Shape;164;p5"/>
          <p:cNvSpPr txBox="1"/>
          <p:nvPr/>
        </p:nvSpPr>
        <p:spPr>
          <a:xfrm>
            <a:off x="2206945" y="8419034"/>
            <a:ext cx="13698419" cy="11715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500" u="none" cap="none" strike="noStrike">
                <a:solidFill>
                  <a:srgbClr val="000000"/>
                </a:solidFill>
                <a:latin typeface="Poppins"/>
                <a:ea typeface="Poppins"/>
                <a:cs typeface="Poppins"/>
                <a:sym typeface="Poppins"/>
              </a:rPr>
              <a:t>Con la llegada de Git y Mercurial, cada desarrollador pudo tener una copia completa del proyecto, facilitando el trabajo paralelo y la integración de cambios. Esto revolucionó la colaboración, especialmente en proyectos de código abierto.</a:t>
            </a:r>
            <a:endParaRPr/>
          </a:p>
        </p:txBody>
      </p:sp>
      <p:grpSp>
        <p:nvGrpSpPr>
          <p:cNvPr id="165" name="Google Shape;165;p5"/>
          <p:cNvGrpSpPr/>
          <p:nvPr/>
        </p:nvGrpSpPr>
        <p:grpSpPr>
          <a:xfrm rot="5526424">
            <a:off x="14866928" y="-1673430"/>
            <a:ext cx="6482297" cy="6762426"/>
            <a:chOff x="0" y="0"/>
            <a:chExt cx="8643063" cy="9016568"/>
          </a:xfrm>
        </p:grpSpPr>
        <p:sp>
          <p:nvSpPr>
            <p:cNvPr id="166" name="Google Shape;166;p5"/>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67" name="Google Shape;167;p5"/>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3" l="0" r="0" t="-38885"/>
            </a:stretch>
          </a:blipFill>
          <a:ln>
            <a:noFill/>
          </a:ln>
        </p:spPr>
      </p:sp>
      <p:sp>
        <p:nvSpPr>
          <p:cNvPr descr="Round Circle Dots" id="173" name="Google Shape;173;p6"/>
          <p:cNvSpPr/>
          <p:nvPr/>
        </p:nvSpPr>
        <p:spPr>
          <a:xfrm>
            <a:off x="14844808" y="8570089"/>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blip>
            <a:stretch>
              <a:fillRect b="0" l="0" r="0" t="0"/>
            </a:stretch>
          </a:blipFill>
          <a:ln>
            <a:noFill/>
          </a:ln>
        </p:spPr>
      </p:sp>
      <p:pic>
        <p:nvPicPr>
          <p:cNvPr id="174" name="Google Shape;174;p6"/>
          <p:cNvPicPr preferRelativeResize="0"/>
          <p:nvPr/>
        </p:nvPicPr>
        <p:blipFill rotWithShape="1">
          <a:blip r:embed="rId5">
            <a:alphaModFix/>
          </a:blip>
          <a:srcRect b="0" l="32618" r="32618" t="0"/>
          <a:stretch/>
        </p:blipFill>
        <p:spPr>
          <a:xfrm>
            <a:off x="0" y="0"/>
            <a:ext cx="5357527" cy="10287000"/>
          </a:xfrm>
          <a:prstGeom prst="rect">
            <a:avLst/>
          </a:prstGeom>
          <a:noFill/>
          <a:ln>
            <a:noFill/>
          </a:ln>
        </p:spPr>
      </p:pic>
      <p:grpSp>
        <p:nvGrpSpPr>
          <p:cNvPr id="175" name="Google Shape;175;p6"/>
          <p:cNvGrpSpPr/>
          <p:nvPr/>
        </p:nvGrpSpPr>
        <p:grpSpPr>
          <a:xfrm>
            <a:off x="5777775" y="3519113"/>
            <a:ext cx="1251320" cy="1078015"/>
            <a:chOff x="-13169" y="0"/>
            <a:chExt cx="329566" cy="283922"/>
          </a:xfrm>
        </p:grpSpPr>
        <p:sp>
          <p:nvSpPr>
            <p:cNvPr id="176" name="Google Shape;176;p6"/>
            <p:cNvSpPr/>
            <p:nvPr/>
          </p:nvSpPr>
          <p:spPr>
            <a:xfrm>
              <a:off x="0" y="0"/>
              <a:ext cx="316397" cy="283922"/>
            </a:xfrm>
            <a:custGeom>
              <a:rect b="b" l="l" r="r" t="t"/>
              <a:pathLst>
                <a:path extrusionOk="0" h="283922" w="316397">
                  <a:moveTo>
                    <a:pt x="141961" y="0"/>
                  </a:moveTo>
                  <a:lnTo>
                    <a:pt x="174436" y="0"/>
                  </a:lnTo>
                  <a:cubicBezTo>
                    <a:pt x="252839" y="0"/>
                    <a:pt x="316397" y="63558"/>
                    <a:pt x="316397" y="141961"/>
                  </a:cubicBezTo>
                  <a:lnTo>
                    <a:pt x="316397" y="141961"/>
                  </a:lnTo>
                  <a:cubicBezTo>
                    <a:pt x="316397" y="220364"/>
                    <a:pt x="252839" y="283922"/>
                    <a:pt x="174436" y="283922"/>
                  </a:cubicBezTo>
                  <a:lnTo>
                    <a:pt x="141961" y="283922"/>
                  </a:lnTo>
                  <a:cubicBezTo>
                    <a:pt x="63558" y="283922"/>
                    <a:pt x="0" y="220364"/>
                    <a:pt x="0" y="141961"/>
                  </a:cubicBezTo>
                  <a:lnTo>
                    <a:pt x="0" y="141961"/>
                  </a:lnTo>
                  <a:cubicBezTo>
                    <a:pt x="0" y="63558"/>
                    <a:pt x="63558" y="0"/>
                    <a:pt x="141961" y="0"/>
                  </a:cubicBezTo>
                  <a:close/>
                </a:path>
              </a:pathLst>
            </a:custGeom>
            <a:solidFill>
              <a:srgbClr val="1B4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txBox="1"/>
            <p:nvPr/>
          </p:nvSpPr>
          <p:spPr>
            <a:xfrm>
              <a:off x="-13169" y="13047"/>
              <a:ext cx="316500" cy="260700"/>
            </a:xfrm>
            <a:prstGeom prst="rect">
              <a:avLst/>
            </a:prstGeom>
            <a:noFill/>
            <a:ln>
              <a:noFill/>
            </a:ln>
          </p:spPr>
          <p:txBody>
            <a:bodyPr anchorCtr="0" anchor="ctr" bIns="50800" lIns="50800" spcFirstLastPara="1" rIns="50800" wrap="square" tIns="50800">
              <a:noAutofit/>
            </a:bodyPr>
            <a:lstStyle/>
            <a:p>
              <a:pPr indent="0" lvl="0" marL="0" marR="0" rtl="0" algn="ctr">
                <a:lnSpc>
                  <a:spcPct val="154017"/>
                </a:lnSpc>
                <a:spcBef>
                  <a:spcPts val="0"/>
                </a:spcBef>
                <a:spcAft>
                  <a:spcPts val="0"/>
                </a:spcAft>
                <a:buNone/>
              </a:pPr>
              <a:r>
                <a:rPr b="1" i="0" lang="en-US" sz="3099" u="none" cap="none" strike="noStrike">
                  <a:solidFill>
                    <a:srgbClr val="FFFFFF"/>
                  </a:solidFill>
                  <a:latin typeface="Poppins"/>
                  <a:ea typeface="Poppins"/>
                  <a:cs typeface="Poppins"/>
                  <a:sym typeface="Poppins"/>
                </a:rPr>
                <a:t>1</a:t>
              </a:r>
              <a:endParaRPr/>
            </a:p>
          </p:txBody>
        </p:sp>
      </p:grpSp>
      <p:sp>
        <p:nvSpPr>
          <p:cNvPr id="178" name="Google Shape;178;p6"/>
          <p:cNvSpPr txBox="1"/>
          <p:nvPr/>
        </p:nvSpPr>
        <p:spPr>
          <a:xfrm>
            <a:off x="6454312" y="304836"/>
            <a:ext cx="11049927" cy="1676400"/>
          </a:xfrm>
          <a:prstGeom prst="rect">
            <a:avLst/>
          </a:prstGeom>
          <a:noFill/>
          <a:ln>
            <a:noFill/>
          </a:ln>
        </p:spPr>
        <p:txBody>
          <a:bodyPr anchorCtr="0" anchor="t" bIns="0" lIns="0" spcFirstLastPara="1" rIns="0" wrap="square" tIns="0">
            <a:spAutoFit/>
          </a:bodyPr>
          <a:lstStyle/>
          <a:p>
            <a:pPr indent="0" lvl="0" marL="0" marR="0" rtl="0" algn="ctr">
              <a:lnSpc>
                <a:spcPct val="120003"/>
              </a:lnSpc>
              <a:spcBef>
                <a:spcPts val="0"/>
              </a:spcBef>
              <a:spcAft>
                <a:spcPts val="0"/>
              </a:spcAft>
              <a:buNone/>
            </a:pPr>
            <a:r>
              <a:rPr b="1" i="1" lang="en-US" sz="5344" u="none" cap="none" strike="noStrike">
                <a:solidFill>
                  <a:srgbClr val="FFFFFF"/>
                </a:solidFill>
                <a:latin typeface="Poppins"/>
                <a:ea typeface="Poppins"/>
                <a:cs typeface="Poppins"/>
                <a:sym typeface="Poppins"/>
              </a:rPr>
              <a:t>IMPORTANCIA DE LOS SISTEMAS DE CONTROL DE VERSIONES</a:t>
            </a:r>
            <a:endParaRPr/>
          </a:p>
        </p:txBody>
      </p:sp>
      <p:sp>
        <p:nvSpPr>
          <p:cNvPr id="179" name="Google Shape;179;p6"/>
          <p:cNvSpPr txBox="1"/>
          <p:nvPr/>
        </p:nvSpPr>
        <p:spPr>
          <a:xfrm>
            <a:off x="7399323" y="4701381"/>
            <a:ext cx="4001014" cy="1910403"/>
          </a:xfrm>
          <a:prstGeom prst="rect">
            <a:avLst/>
          </a:prstGeom>
          <a:noFill/>
          <a:ln>
            <a:noFill/>
          </a:ln>
        </p:spPr>
        <p:txBody>
          <a:bodyPr anchorCtr="0" anchor="t" bIns="0" lIns="0" spcFirstLastPara="1" rIns="0" wrap="square" tIns="0">
            <a:spAutoFit/>
          </a:bodyPr>
          <a:lstStyle/>
          <a:p>
            <a:pPr indent="0" lvl="0" marL="0" marR="0" rtl="0" algn="l">
              <a:lnSpc>
                <a:spcPct val="117959"/>
              </a:lnSpc>
              <a:spcBef>
                <a:spcPts val="0"/>
              </a:spcBef>
              <a:spcAft>
                <a:spcPts val="0"/>
              </a:spcAft>
              <a:buNone/>
            </a:pPr>
            <a:r>
              <a:rPr b="0" i="0" lang="en-US" sz="2127" u="none" cap="none" strike="noStrike">
                <a:solidFill>
                  <a:srgbClr val="FFFFFF"/>
                </a:solidFill>
                <a:latin typeface="Poppins"/>
                <a:ea typeface="Poppins"/>
                <a:cs typeface="Poppins"/>
                <a:sym typeface="Poppins"/>
              </a:rPr>
              <a:t>Permite a los desarrolladores trabajar simultáneamente en el mismo proyecto sin interferir con el trabajo de los demás.</a:t>
            </a:r>
            <a:endParaRPr/>
          </a:p>
          <a:p>
            <a:pPr indent="0" lvl="0" marL="0" marR="0" rtl="0" algn="l">
              <a:lnSpc>
                <a:spcPct val="117959"/>
              </a:lnSpc>
              <a:spcBef>
                <a:spcPts val="0"/>
              </a:spcBef>
              <a:spcAft>
                <a:spcPts val="0"/>
              </a:spcAft>
              <a:buNone/>
            </a:pPr>
            <a:r>
              <a:rPr b="0" i="0" lang="en-US" sz="2127" u="none" cap="none" strike="noStrike">
                <a:solidFill>
                  <a:srgbClr val="404040"/>
                </a:solidFill>
                <a:latin typeface="Poppins"/>
                <a:ea typeface="Poppins"/>
                <a:cs typeface="Poppins"/>
                <a:sym typeface="Poppins"/>
              </a:rPr>
              <a:t> </a:t>
            </a:r>
            <a:endParaRPr/>
          </a:p>
        </p:txBody>
      </p:sp>
      <p:sp>
        <p:nvSpPr>
          <p:cNvPr id="180" name="Google Shape;180;p6"/>
          <p:cNvSpPr txBox="1"/>
          <p:nvPr/>
        </p:nvSpPr>
        <p:spPr>
          <a:xfrm>
            <a:off x="7399323" y="3719983"/>
            <a:ext cx="4884752" cy="571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3500" u="none" cap="none" strike="noStrike">
                <a:solidFill>
                  <a:srgbClr val="FFFFFF"/>
                </a:solidFill>
                <a:latin typeface="Poppins"/>
                <a:ea typeface="Poppins"/>
                <a:cs typeface="Poppins"/>
                <a:sym typeface="Poppins"/>
              </a:rPr>
              <a:t>Colaboración</a:t>
            </a:r>
            <a:endParaRPr/>
          </a:p>
        </p:txBody>
      </p:sp>
      <p:grpSp>
        <p:nvGrpSpPr>
          <p:cNvPr id="181" name="Google Shape;181;p6"/>
          <p:cNvGrpSpPr/>
          <p:nvPr/>
        </p:nvGrpSpPr>
        <p:grpSpPr>
          <a:xfrm>
            <a:off x="11979275" y="3519113"/>
            <a:ext cx="1201719" cy="1078023"/>
            <a:chOff x="0" y="0"/>
            <a:chExt cx="316500" cy="283922"/>
          </a:xfrm>
        </p:grpSpPr>
        <p:sp>
          <p:nvSpPr>
            <p:cNvPr id="182" name="Google Shape;182;p6"/>
            <p:cNvSpPr/>
            <p:nvPr/>
          </p:nvSpPr>
          <p:spPr>
            <a:xfrm>
              <a:off x="0" y="0"/>
              <a:ext cx="316397" cy="283922"/>
            </a:xfrm>
            <a:custGeom>
              <a:rect b="b" l="l" r="r" t="t"/>
              <a:pathLst>
                <a:path extrusionOk="0" h="283922" w="316397">
                  <a:moveTo>
                    <a:pt x="141961" y="0"/>
                  </a:moveTo>
                  <a:lnTo>
                    <a:pt x="174436" y="0"/>
                  </a:lnTo>
                  <a:cubicBezTo>
                    <a:pt x="252839" y="0"/>
                    <a:pt x="316397" y="63558"/>
                    <a:pt x="316397" y="141961"/>
                  </a:cubicBezTo>
                  <a:lnTo>
                    <a:pt x="316397" y="141961"/>
                  </a:lnTo>
                  <a:cubicBezTo>
                    <a:pt x="316397" y="220364"/>
                    <a:pt x="252839" y="283922"/>
                    <a:pt x="174436" y="283922"/>
                  </a:cubicBezTo>
                  <a:lnTo>
                    <a:pt x="141961" y="283922"/>
                  </a:lnTo>
                  <a:cubicBezTo>
                    <a:pt x="63558" y="283922"/>
                    <a:pt x="0" y="220364"/>
                    <a:pt x="0" y="141961"/>
                  </a:cubicBezTo>
                  <a:lnTo>
                    <a:pt x="0" y="141961"/>
                  </a:lnTo>
                  <a:cubicBezTo>
                    <a:pt x="0" y="63558"/>
                    <a:pt x="63558" y="0"/>
                    <a:pt x="141961" y="0"/>
                  </a:cubicBezTo>
                  <a:close/>
                </a:path>
              </a:pathLst>
            </a:custGeom>
            <a:solidFill>
              <a:srgbClr val="1B4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txBox="1"/>
            <p:nvPr/>
          </p:nvSpPr>
          <p:spPr>
            <a:xfrm>
              <a:off x="0" y="35"/>
              <a:ext cx="316500" cy="283800"/>
            </a:xfrm>
            <a:prstGeom prst="rect">
              <a:avLst/>
            </a:prstGeom>
            <a:noFill/>
            <a:ln>
              <a:noFill/>
            </a:ln>
          </p:spPr>
          <p:txBody>
            <a:bodyPr anchorCtr="0" anchor="ctr" bIns="50800" lIns="50800" spcFirstLastPara="1" rIns="50800" wrap="square" tIns="50800">
              <a:noAutofit/>
            </a:bodyPr>
            <a:lstStyle/>
            <a:p>
              <a:pPr indent="0" lvl="0" marL="0" marR="0" rtl="0" algn="ctr">
                <a:lnSpc>
                  <a:spcPct val="154017"/>
                </a:lnSpc>
                <a:spcBef>
                  <a:spcPts val="0"/>
                </a:spcBef>
                <a:spcAft>
                  <a:spcPts val="0"/>
                </a:spcAft>
                <a:buNone/>
              </a:pPr>
              <a:r>
                <a:rPr b="1" i="0" lang="en-US" sz="3099" u="none" cap="none" strike="noStrike">
                  <a:solidFill>
                    <a:srgbClr val="FFFFFF"/>
                  </a:solidFill>
                  <a:latin typeface="Poppins"/>
                  <a:ea typeface="Poppins"/>
                  <a:cs typeface="Poppins"/>
                  <a:sym typeface="Poppins"/>
                </a:rPr>
                <a:t>2</a:t>
              </a:r>
              <a:endParaRPr/>
            </a:p>
          </p:txBody>
        </p:sp>
      </p:grpSp>
      <p:sp>
        <p:nvSpPr>
          <p:cNvPr id="184" name="Google Shape;184;p6"/>
          <p:cNvSpPr txBox="1"/>
          <p:nvPr/>
        </p:nvSpPr>
        <p:spPr>
          <a:xfrm>
            <a:off x="13552068" y="4701381"/>
            <a:ext cx="4001014" cy="1910403"/>
          </a:xfrm>
          <a:prstGeom prst="rect">
            <a:avLst/>
          </a:prstGeom>
          <a:noFill/>
          <a:ln>
            <a:noFill/>
          </a:ln>
        </p:spPr>
        <p:txBody>
          <a:bodyPr anchorCtr="0" anchor="t" bIns="0" lIns="0" spcFirstLastPara="1" rIns="0" wrap="square" tIns="0">
            <a:spAutoFit/>
          </a:bodyPr>
          <a:lstStyle/>
          <a:p>
            <a:pPr indent="0" lvl="0" marL="0" marR="0" rtl="0" algn="l">
              <a:lnSpc>
                <a:spcPct val="117959"/>
              </a:lnSpc>
              <a:spcBef>
                <a:spcPts val="0"/>
              </a:spcBef>
              <a:spcAft>
                <a:spcPts val="0"/>
              </a:spcAft>
              <a:buNone/>
            </a:pPr>
            <a:r>
              <a:rPr b="0" i="0" lang="en-US" sz="2127" u="none" cap="none" strike="noStrike">
                <a:solidFill>
                  <a:srgbClr val="FFFFFF"/>
                </a:solidFill>
                <a:latin typeface="Poppins"/>
                <a:ea typeface="Poppins"/>
                <a:cs typeface="Poppins"/>
                <a:sym typeface="Poppins"/>
              </a:rPr>
              <a:t>Permite a los desarrolladores trabajar simultáneamente en el mismo proyecto sin interferir con el trabajo de los demás.</a:t>
            </a:r>
            <a:endParaRPr/>
          </a:p>
          <a:p>
            <a:pPr indent="0" lvl="0" marL="0" marR="0" rtl="0" algn="l">
              <a:lnSpc>
                <a:spcPct val="117959"/>
              </a:lnSpc>
              <a:spcBef>
                <a:spcPts val="0"/>
              </a:spcBef>
              <a:spcAft>
                <a:spcPts val="0"/>
              </a:spcAft>
              <a:buNone/>
            </a:pPr>
            <a:r>
              <a:rPr b="0" i="0" lang="en-US" sz="2127" u="none" cap="none" strike="noStrike">
                <a:solidFill>
                  <a:srgbClr val="404040"/>
                </a:solidFill>
                <a:latin typeface="Poppins"/>
                <a:ea typeface="Poppins"/>
                <a:cs typeface="Poppins"/>
                <a:sym typeface="Poppins"/>
              </a:rPr>
              <a:t> </a:t>
            </a:r>
            <a:endParaRPr/>
          </a:p>
        </p:txBody>
      </p:sp>
      <p:sp>
        <p:nvSpPr>
          <p:cNvPr id="185" name="Google Shape;185;p6"/>
          <p:cNvSpPr txBox="1"/>
          <p:nvPr/>
        </p:nvSpPr>
        <p:spPr>
          <a:xfrm>
            <a:off x="13552068" y="3453283"/>
            <a:ext cx="4884752" cy="1104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3500" u="none" cap="none" strike="noStrike">
                <a:solidFill>
                  <a:srgbClr val="FFFFFF"/>
                </a:solidFill>
                <a:latin typeface="Poppins"/>
                <a:ea typeface="Poppins"/>
                <a:cs typeface="Poppins"/>
                <a:sym typeface="Poppins"/>
              </a:rPr>
              <a:t>Seguimiento de cambios</a:t>
            </a:r>
            <a:endParaRPr/>
          </a:p>
        </p:txBody>
      </p:sp>
      <p:grpSp>
        <p:nvGrpSpPr>
          <p:cNvPr id="186" name="Google Shape;186;p6"/>
          <p:cNvGrpSpPr/>
          <p:nvPr/>
        </p:nvGrpSpPr>
        <p:grpSpPr>
          <a:xfrm>
            <a:off x="5853650" y="7128376"/>
            <a:ext cx="1201709" cy="1078020"/>
            <a:chOff x="-1" y="-1"/>
            <a:chExt cx="316500" cy="283923"/>
          </a:xfrm>
        </p:grpSpPr>
        <p:sp>
          <p:nvSpPr>
            <p:cNvPr id="187" name="Google Shape;187;p6"/>
            <p:cNvSpPr/>
            <p:nvPr/>
          </p:nvSpPr>
          <p:spPr>
            <a:xfrm>
              <a:off x="0" y="0"/>
              <a:ext cx="316397" cy="283922"/>
            </a:xfrm>
            <a:custGeom>
              <a:rect b="b" l="l" r="r" t="t"/>
              <a:pathLst>
                <a:path extrusionOk="0" h="283922" w="316397">
                  <a:moveTo>
                    <a:pt x="141961" y="0"/>
                  </a:moveTo>
                  <a:lnTo>
                    <a:pt x="174436" y="0"/>
                  </a:lnTo>
                  <a:cubicBezTo>
                    <a:pt x="252839" y="0"/>
                    <a:pt x="316397" y="63558"/>
                    <a:pt x="316397" y="141961"/>
                  </a:cubicBezTo>
                  <a:lnTo>
                    <a:pt x="316397" y="141961"/>
                  </a:lnTo>
                  <a:cubicBezTo>
                    <a:pt x="316397" y="220364"/>
                    <a:pt x="252839" y="283922"/>
                    <a:pt x="174436" y="283922"/>
                  </a:cubicBezTo>
                  <a:lnTo>
                    <a:pt x="141961" y="283922"/>
                  </a:lnTo>
                  <a:cubicBezTo>
                    <a:pt x="63558" y="283922"/>
                    <a:pt x="0" y="220364"/>
                    <a:pt x="0" y="141961"/>
                  </a:cubicBezTo>
                  <a:lnTo>
                    <a:pt x="0" y="141961"/>
                  </a:lnTo>
                  <a:cubicBezTo>
                    <a:pt x="0" y="63558"/>
                    <a:pt x="63558" y="0"/>
                    <a:pt x="141961" y="0"/>
                  </a:cubicBezTo>
                  <a:close/>
                </a:path>
              </a:pathLst>
            </a:custGeom>
            <a:solidFill>
              <a:srgbClr val="1B4A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txBox="1"/>
            <p:nvPr/>
          </p:nvSpPr>
          <p:spPr>
            <a:xfrm>
              <a:off x="-1" y="-1"/>
              <a:ext cx="316500" cy="283800"/>
            </a:xfrm>
            <a:prstGeom prst="rect">
              <a:avLst/>
            </a:prstGeom>
            <a:noFill/>
            <a:ln>
              <a:noFill/>
            </a:ln>
          </p:spPr>
          <p:txBody>
            <a:bodyPr anchorCtr="0" anchor="ctr" bIns="50800" lIns="50800" spcFirstLastPara="1" rIns="50800" wrap="square" tIns="50800">
              <a:noAutofit/>
            </a:bodyPr>
            <a:lstStyle/>
            <a:p>
              <a:pPr indent="0" lvl="0" marL="0" marR="0" rtl="0" algn="ctr">
                <a:lnSpc>
                  <a:spcPct val="154017"/>
                </a:lnSpc>
                <a:spcBef>
                  <a:spcPts val="0"/>
                </a:spcBef>
                <a:spcAft>
                  <a:spcPts val="0"/>
                </a:spcAft>
                <a:buNone/>
              </a:pPr>
              <a:r>
                <a:rPr b="1" lang="en-US" sz="3099">
                  <a:solidFill>
                    <a:srgbClr val="FFFFFF"/>
                  </a:solidFill>
                  <a:latin typeface="Poppins"/>
                  <a:ea typeface="Poppins"/>
                  <a:cs typeface="Poppins"/>
                  <a:sym typeface="Poppins"/>
                </a:rPr>
                <a:t>3</a:t>
              </a:r>
              <a:endParaRPr/>
            </a:p>
          </p:txBody>
        </p:sp>
      </p:grpSp>
      <p:sp>
        <p:nvSpPr>
          <p:cNvPr id="189" name="Google Shape;189;p6"/>
          <p:cNvSpPr txBox="1"/>
          <p:nvPr/>
        </p:nvSpPr>
        <p:spPr>
          <a:xfrm>
            <a:off x="7497762" y="8187346"/>
            <a:ext cx="8054813" cy="1281753"/>
          </a:xfrm>
          <a:prstGeom prst="rect">
            <a:avLst/>
          </a:prstGeom>
          <a:noFill/>
          <a:ln>
            <a:noFill/>
          </a:ln>
        </p:spPr>
        <p:txBody>
          <a:bodyPr anchorCtr="0" anchor="t" bIns="0" lIns="0" spcFirstLastPara="1" rIns="0" wrap="square" tIns="0">
            <a:spAutoFit/>
          </a:bodyPr>
          <a:lstStyle/>
          <a:p>
            <a:pPr indent="0" lvl="0" marL="0" marR="0" rtl="0" algn="l">
              <a:lnSpc>
                <a:spcPct val="117959"/>
              </a:lnSpc>
              <a:spcBef>
                <a:spcPts val="0"/>
              </a:spcBef>
              <a:spcAft>
                <a:spcPts val="0"/>
              </a:spcAft>
              <a:buNone/>
            </a:pPr>
            <a:r>
              <a:rPr b="0" i="0" lang="en-US" sz="2127" u="none" cap="none" strike="noStrike">
                <a:solidFill>
                  <a:srgbClr val="FFFFFF"/>
                </a:solidFill>
                <a:latin typeface="Poppins"/>
                <a:ea typeface="Poppins"/>
                <a:cs typeface="Poppins"/>
                <a:sym typeface="Poppins"/>
              </a:rPr>
              <a:t>En caso de error o de que se desee volver a una versión anterior del código, se puede restaurar la versión deseada de forma rápida y segura.</a:t>
            </a:r>
            <a:endParaRPr/>
          </a:p>
          <a:p>
            <a:pPr indent="0" lvl="0" marL="0" marR="0" rtl="0" algn="l">
              <a:lnSpc>
                <a:spcPct val="117959"/>
              </a:lnSpc>
              <a:spcBef>
                <a:spcPts val="0"/>
              </a:spcBef>
              <a:spcAft>
                <a:spcPts val="0"/>
              </a:spcAft>
              <a:buNone/>
            </a:pPr>
            <a:r>
              <a:t/>
            </a:r>
            <a:endParaRPr b="0" i="0" sz="2127" u="none" cap="none" strike="noStrike">
              <a:solidFill>
                <a:srgbClr val="FFFFFF"/>
              </a:solidFill>
              <a:latin typeface="Poppins"/>
              <a:ea typeface="Poppins"/>
              <a:cs typeface="Poppins"/>
              <a:sym typeface="Poppins"/>
            </a:endParaRPr>
          </a:p>
        </p:txBody>
      </p:sp>
      <p:sp>
        <p:nvSpPr>
          <p:cNvPr id="190" name="Google Shape;190;p6"/>
          <p:cNvSpPr txBox="1"/>
          <p:nvPr/>
        </p:nvSpPr>
        <p:spPr>
          <a:xfrm>
            <a:off x="7497762" y="7362589"/>
            <a:ext cx="7121830" cy="5715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1" lang="en-US" sz="3500" u="none" cap="none" strike="noStrike">
                <a:solidFill>
                  <a:srgbClr val="FFFFFF"/>
                </a:solidFill>
                <a:latin typeface="Poppins"/>
                <a:ea typeface="Poppins"/>
                <a:cs typeface="Poppins"/>
                <a:sym typeface="Poppins"/>
              </a:rPr>
              <a:t>Restauración de versiones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83" l="0" r="0" t="-38885"/>
            </a:stretch>
          </a:blipFill>
          <a:ln>
            <a:noFill/>
          </a:ln>
        </p:spPr>
      </p:sp>
      <p:sp>
        <p:nvSpPr>
          <p:cNvPr id="196" name="Google Shape;196;p7"/>
          <p:cNvSpPr/>
          <p:nvPr/>
        </p:nvSpPr>
        <p:spPr>
          <a:xfrm>
            <a:off x="-8292" y="-135332"/>
            <a:ext cx="18609385" cy="10591576"/>
          </a:xfrm>
          <a:custGeom>
            <a:rect b="b" l="l" r="r" t="t"/>
            <a:pathLst>
              <a:path extrusionOk="0" h="1970170" w="3461586">
                <a:moveTo>
                  <a:pt x="0" y="0"/>
                </a:moveTo>
                <a:lnTo>
                  <a:pt x="3461586" y="0"/>
                </a:lnTo>
                <a:lnTo>
                  <a:pt x="3461586" y="1970170"/>
                </a:lnTo>
                <a:lnTo>
                  <a:pt x="0" y="1970170"/>
                </a:lnTo>
                <a:close/>
              </a:path>
            </a:pathLst>
          </a:custGeom>
          <a:solidFill>
            <a:srgbClr val="209D5C">
              <a:alpha val="19607"/>
            </a:srgbClr>
          </a:solidFill>
          <a:ln>
            <a:noFill/>
          </a:ln>
        </p:spPr>
      </p:sp>
      <p:sp>
        <p:nvSpPr>
          <p:cNvPr descr="Russian Abstract Wireframe Elements Concentric Sound Wave" id="197" name="Google Shape;197;p7"/>
          <p:cNvSpPr/>
          <p:nvPr/>
        </p:nvSpPr>
        <p:spPr>
          <a:xfrm>
            <a:off x="-2413596" y="-3078771"/>
            <a:ext cx="6634070" cy="6597885"/>
          </a:xfrm>
          <a:custGeom>
            <a:rect b="b" l="l" r="r" t="t"/>
            <a:pathLst>
              <a:path extrusionOk="0" h="6597885" w="6634070">
                <a:moveTo>
                  <a:pt x="0" y="0"/>
                </a:moveTo>
                <a:lnTo>
                  <a:pt x="6634070" y="0"/>
                </a:lnTo>
                <a:lnTo>
                  <a:pt x="6634070" y="6597884"/>
                </a:lnTo>
                <a:lnTo>
                  <a:pt x="0" y="6597884"/>
                </a:lnTo>
                <a:lnTo>
                  <a:pt x="0" y="0"/>
                </a:lnTo>
                <a:close/>
              </a:path>
            </a:pathLst>
          </a:custGeom>
          <a:blipFill rotWithShape="1">
            <a:blip r:embed="rId4">
              <a:alphaModFix/>
            </a:blip>
            <a:stretch>
              <a:fillRect b="0" l="0" r="0" t="0"/>
            </a:stretch>
          </a:blipFill>
          <a:ln>
            <a:noFill/>
          </a:ln>
        </p:spPr>
      </p:sp>
      <p:sp>
        <p:nvSpPr>
          <p:cNvPr descr="Round Circle Dots" id="198" name="Google Shape;198;p7"/>
          <p:cNvSpPr/>
          <p:nvPr/>
        </p:nvSpPr>
        <p:spPr>
          <a:xfrm>
            <a:off x="14844808" y="8570089"/>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5">
              <a:alphaModFix/>
            </a:blip>
            <a:stretch>
              <a:fillRect b="0" l="0" r="0" t="0"/>
            </a:stretch>
          </a:blipFill>
          <a:ln>
            <a:noFill/>
          </a:ln>
        </p:spPr>
      </p:sp>
      <p:sp>
        <p:nvSpPr>
          <p:cNvPr id="199" name="Google Shape;199;p7"/>
          <p:cNvSpPr txBox="1"/>
          <p:nvPr/>
        </p:nvSpPr>
        <p:spPr>
          <a:xfrm>
            <a:off x="3606746" y="752083"/>
            <a:ext cx="11074509" cy="15716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000" u="none" cap="none" strike="noStrike">
                <a:solidFill>
                  <a:srgbClr val="FFFFFF"/>
                </a:solidFill>
                <a:latin typeface="Poppins"/>
                <a:ea typeface="Poppins"/>
                <a:cs typeface="Poppins"/>
                <a:sym typeface="Poppins"/>
              </a:rPr>
              <a:t>¿Cómo ha transformado la gestión de versiones de software?</a:t>
            </a:r>
            <a:endParaRPr/>
          </a:p>
        </p:txBody>
      </p:sp>
      <p:grpSp>
        <p:nvGrpSpPr>
          <p:cNvPr id="200" name="Google Shape;200;p7"/>
          <p:cNvGrpSpPr/>
          <p:nvPr/>
        </p:nvGrpSpPr>
        <p:grpSpPr>
          <a:xfrm>
            <a:off x="785624" y="2624227"/>
            <a:ext cx="8036987" cy="6863529"/>
            <a:chOff x="0" y="-38100"/>
            <a:chExt cx="2116737" cy="1807678"/>
          </a:xfrm>
        </p:grpSpPr>
        <p:sp>
          <p:nvSpPr>
            <p:cNvPr id="201" name="Google Shape;201;p7"/>
            <p:cNvSpPr/>
            <p:nvPr/>
          </p:nvSpPr>
          <p:spPr>
            <a:xfrm>
              <a:off x="0" y="0"/>
              <a:ext cx="2116737" cy="1769578"/>
            </a:xfrm>
            <a:custGeom>
              <a:rect b="b" l="l" r="r" t="t"/>
              <a:pathLst>
                <a:path extrusionOk="0" h="1769578" w="2116737">
                  <a:moveTo>
                    <a:pt x="49128" y="0"/>
                  </a:moveTo>
                  <a:lnTo>
                    <a:pt x="2067610" y="0"/>
                  </a:lnTo>
                  <a:cubicBezTo>
                    <a:pt x="2080639" y="0"/>
                    <a:pt x="2093135" y="5176"/>
                    <a:pt x="2102348" y="14389"/>
                  </a:cubicBezTo>
                  <a:cubicBezTo>
                    <a:pt x="2111562" y="23602"/>
                    <a:pt x="2116737" y="36098"/>
                    <a:pt x="2116737" y="49128"/>
                  </a:cubicBezTo>
                  <a:lnTo>
                    <a:pt x="2116737" y="1720451"/>
                  </a:lnTo>
                  <a:cubicBezTo>
                    <a:pt x="2116737" y="1747583"/>
                    <a:pt x="2094742" y="1769578"/>
                    <a:pt x="2067610" y="1769578"/>
                  </a:cubicBezTo>
                  <a:lnTo>
                    <a:pt x="49128" y="1769578"/>
                  </a:lnTo>
                  <a:cubicBezTo>
                    <a:pt x="36098" y="1769578"/>
                    <a:pt x="23602" y="1764403"/>
                    <a:pt x="14389" y="1755189"/>
                  </a:cubicBezTo>
                  <a:cubicBezTo>
                    <a:pt x="5176" y="1745976"/>
                    <a:pt x="0" y="1733480"/>
                    <a:pt x="0" y="1720451"/>
                  </a:cubicBezTo>
                  <a:lnTo>
                    <a:pt x="0" y="49128"/>
                  </a:lnTo>
                  <a:cubicBezTo>
                    <a:pt x="0" y="36098"/>
                    <a:pt x="5176" y="23602"/>
                    <a:pt x="14389" y="14389"/>
                  </a:cubicBezTo>
                  <a:cubicBezTo>
                    <a:pt x="23602" y="5176"/>
                    <a:pt x="36098" y="0"/>
                    <a:pt x="49128" y="0"/>
                  </a:cubicBezTo>
                  <a:close/>
                </a:path>
              </a:pathLst>
            </a:custGeom>
            <a:solidFill>
              <a:srgbClr val="9BC9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7"/>
            <p:cNvSpPr txBox="1"/>
            <p:nvPr/>
          </p:nvSpPr>
          <p:spPr>
            <a:xfrm>
              <a:off x="0" y="-38100"/>
              <a:ext cx="2116737" cy="180767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3" name="Google Shape;203;p7"/>
          <p:cNvGrpSpPr/>
          <p:nvPr/>
        </p:nvGrpSpPr>
        <p:grpSpPr>
          <a:xfrm>
            <a:off x="9296400" y="2665582"/>
            <a:ext cx="8139556" cy="6822174"/>
            <a:chOff x="0" y="-38100"/>
            <a:chExt cx="2143751" cy="1796786"/>
          </a:xfrm>
        </p:grpSpPr>
        <p:sp>
          <p:nvSpPr>
            <p:cNvPr id="204" name="Google Shape;204;p7"/>
            <p:cNvSpPr/>
            <p:nvPr/>
          </p:nvSpPr>
          <p:spPr>
            <a:xfrm>
              <a:off x="0" y="0"/>
              <a:ext cx="2143751" cy="1758686"/>
            </a:xfrm>
            <a:custGeom>
              <a:rect b="b" l="l" r="r" t="t"/>
              <a:pathLst>
                <a:path extrusionOk="0" h="1758686" w="2143751">
                  <a:moveTo>
                    <a:pt x="48509" y="0"/>
                  </a:moveTo>
                  <a:lnTo>
                    <a:pt x="2095243" y="0"/>
                  </a:lnTo>
                  <a:cubicBezTo>
                    <a:pt x="2108108" y="0"/>
                    <a:pt x="2120446" y="5111"/>
                    <a:pt x="2129543" y="14208"/>
                  </a:cubicBezTo>
                  <a:cubicBezTo>
                    <a:pt x="2138641" y="23305"/>
                    <a:pt x="2143751" y="35643"/>
                    <a:pt x="2143751" y="48509"/>
                  </a:cubicBezTo>
                  <a:lnTo>
                    <a:pt x="2143751" y="1710178"/>
                  </a:lnTo>
                  <a:cubicBezTo>
                    <a:pt x="2143751" y="1736968"/>
                    <a:pt x="2122033" y="1758686"/>
                    <a:pt x="2095243" y="1758686"/>
                  </a:cubicBezTo>
                  <a:lnTo>
                    <a:pt x="48509" y="1758686"/>
                  </a:lnTo>
                  <a:cubicBezTo>
                    <a:pt x="21718" y="1758686"/>
                    <a:pt x="0" y="1736968"/>
                    <a:pt x="0" y="1710178"/>
                  </a:cubicBezTo>
                  <a:lnTo>
                    <a:pt x="0" y="48509"/>
                  </a:lnTo>
                  <a:cubicBezTo>
                    <a:pt x="0" y="21718"/>
                    <a:pt x="21718" y="0"/>
                    <a:pt x="48509"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txBox="1"/>
            <p:nvPr/>
          </p:nvSpPr>
          <p:spPr>
            <a:xfrm>
              <a:off x="0" y="-38100"/>
              <a:ext cx="2143751" cy="179678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6" name="Google Shape;206;p7"/>
          <p:cNvSpPr txBox="1"/>
          <p:nvPr/>
        </p:nvSpPr>
        <p:spPr>
          <a:xfrm>
            <a:off x="1285278" y="4257076"/>
            <a:ext cx="6212485" cy="86042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Dificultad para colaborar en proyectos.</a:t>
            </a:r>
            <a:endParaRPr/>
          </a:p>
        </p:txBody>
      </p:sp>
      <p:sp>
        <p:nvSpPr>
          <p:cNvPr id="207" name="Google Shape;207;p7"/>
          <p:cNvSpPr txBox="1"/>
          <p:nvPr/>
        </p:nvSpPr>
        <p:spPr>
          <a:xfrm>
            <a:off x="1285278" y="5983370"/>
            <a:ext cx="6212485" cy="86042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Alto riesgo de perder cambios o de que se sobrescriban.</a:t>
            </a:r>
            <a:endParaRPr/>
          </a:p>
        </p:txBody>
      </p:sp>
      <p:sp>
        <p:nvSpPr>
          <p:cNvPr id="208" name="Google Shape;208;p7"/>
          <p:cNvSpPr txBox="1"/>
          <p:nvPr/>
        </p:nvSpPr>
        <p:spPr>
          <a:xfrm>
            <a:off x="1285278" y="7709664"/>
            <a:ext cx="6212485" cy="86042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Dificultad para gestionar versiones del software.</a:t>
            </a:r>
            <a:endParaRPr/>
          </a:p>
        </p:txBody>
      </p:sp>
      <p:sp>
        <p:nvSpPr>
          <p:cNvPr id="209" name="Google Shape;209;p7"/>
          <p:cNvSpPr txBox="1"/>
          <p:nvPr/>
        </p:nvSpPr>
        <p:spPr>
          <a:xfrm>
            <a:off x="10033693" y="4257076"/>
            <a:ext cx="6212485" cy="42227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Colaboración fluida y eficiente.</a:t>
            </a:r>
            <a:endParaRPr/>
          </a:p>
        </p:txBody>
      </p:sp>
      <p:sp>
        <p:nvSpPr>
          <p:cNvPr id="210" name="Google Shape;210;p7"/>
          <p:cNvSpPr txBox="1"/>
          <p:nvPr/>
        </p:nvSpPr>
        <p:spPr>
          <a:xfrm>
            <a:off x="10033693" y="5545220"/>
            <a:ext cx="6212485" cy="173672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Control total sobre los cambios del código y posibilidad de restaurar versiones anteriores.</a:t>
            </a:r>
            <a:endParaRPr/>
          </a:p>
          <a:p>
            <a:pPr indent="0" lvl="0" marL="0" marR="0" rtl="0" algn="just">
              <a:lnSpc>
                <a:spcPct val="140016"/>
              </a:lnSpc>
              <a:spcBef>
                <a:spcPts val="0"/>
              </a:spcBef>
              <a:spcAft>
                <a:spcPts val="0"/>
              </a:spcAft>
              <a:buNone/>
            </a:pPr>
            <a:r>
              <a:t/>
            </a:r>
            <a:endParaRPr b="0" i="0" sz="2499" u="none" cap="none" strike="noStrike">
              <a:solidFill>
                <a:srgbClr val="000000"/>
              </a:solidFill>
              <a:latin typeface="Open Sans"/>
              <a:ea typeface="Open Sans"/>
              <a:cs typeface="Open Sans"/>
              <a:sym typeface="Open Sans"/>
            </a:endParaRPr>
          </a:p>
        </p:txBody>
      </p:sp>
      <p:sp>
        <p:nvSpPr>
          <p:cNvPr id="211" name="Google Shape;211;p7"/>
          <p:cNvSpPr txBox="1"/>
          <p:nvPr/>
        </p:nvSpPr>
        <p:spPr>
          <a:xfrm>
            <a:off x="10033693" y="7709664"/>
            <a:ext cx="6212485" cy="860425"/>
          </a:xfrm>
          <a:prstGeom prst="rect">
            <a:avLst/>
          </a:prstGeom>
          <a:noFill/>
          <a:ln>
            <a:noFill/>
          </a:ln>
        </p:spPr>
        <p:txBody>
          <a:bodyPr anchorCtr="0" anchor="t" bIns="0" lIns="0" spcFirstLastPara="1" rIns="0" wrap="square" tIns="0">
            <a:spAutoFit/>
          </a:bodyPr>
          <a:lstStyle/>
          <a:p>
            <a:pPr indent="-269874" lvl="1" marL="539749" marR="0" rtl="0" algn="just">
              <a:lnSpc>
                <a:spcPct val="140016"/>
              </a:lnSpc>
              <a:spcBef>
                <a:spcPts val="0"/>
              </a:spcBef>
              <a:spcAft>
                <a:spcPts val="0"/>
              </a:spcAft>
              <a:buClr>
                <a:srgbClr val="000000"/>
              </a:buClr>
              <a:buSzPts val="2499"/>
              <a:buFont typeface="Arial"/>
              <a:buChar char="•"/>
            </a:pPr>
            <a:r>
              <a:rPr b="0" i="0" lang="en-US" sz="2499" u="none" cap="none" strike="noStrike">
                <a:solidFill>
                  <a:srgbClr val="000000"/>
                </a:solidFill>
                <a:latin typeface="Open Sans"/>
                <a:ea typeface="Open Sans"/>
                <a:cs typeface="Open Sans"/>
                <a:sym typeface="Open Sans"/>
              </a:rPr>
              <a:t>Gestión de versiones de software fácil y transparente.</a:t>
            </a:r>
            <a:endParaRPr/>
          </a:p>
        </p:txBody>
      </p:sp>
      <p:sp>
        <p:nvSpPr>
          <p:cNvPr id="212" name="Google Shape;212;p7"/>
          <p:cNvSpPr txBox="1"/>
          <p:nvPr/>
        </p:nvSpPr>
        <p:spPr>
          <a:xfrm>
            <a:off x="3713641" y="3027941"/>
            <a:ext cx="1894731"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Antes</a:t>
            </a:r>
            <a:endParaRPr/>
          </a:p>
        </p:txBody>
      </p:sp>
      <p:sp>
        <p:nvSpPr>
          <p:cNvPr id="213" name="Google Shape;213;p7"/>
          <p:cNvSpPr txBox="1"/>
          <p:nvPr/>
        </p:nvSpPr>
        <p:spPr>
          <a:xfrm>
            <a:off x="11977388" y="3027941"/>
            <a:ext cx="2777579"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1" i="0" lang="en-US" sz="5199" u="none" cap="none" strike="noStrike">
                <a:solidFill>
                  <a:srgbClr val="000000"/>
                </a:solidFill>
                <a:latin typeface="Open Sans"/>
                <a:ea typeface="Open Sans"/>
                <a:cs typeface="Open Sans"/>
                <a:sym typeface="Open Sans"/>
              </a:rPr>
              <a:t>Después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8"/>
          <p:cNvSpPr/>
          <p:nvPr/>
        </p:nvSpPr>
        <p:spPr>
          <a:xfrm>
            <a:off x="-152792" y="-92484"/>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8235"/>
            </a:srgbClr>
          </a:solidFill>
          <a:ln>
            <a:noFill/>
          </a:ln>
        </p:spPr>
      </p:sp>
      <p:sp>
        <p:nvSpPr>
          <p:cNvPr id="219" name="Google Shape;219;p8"/>
          <p:cNvSpPr/>
          <p:nvPr/>
        </p:nvSpPr>
        <p:spPr>
          <a:xfrm rot="9451627">
            <a:off x="-1152667" y="-1825468"/>
            <a:ext cx="5343238" cy="4041431"/>
          </a:xfrm>
          <a:custGeom>
            <a:rect b="b" l="l" r="r" t="t"/>
            <a:pathLst>
              <a:path extrusionOk="0" h="4041431" w="5343238">
                <a:moveTo>
                  <a:pt x="0" y="0"/>
                </a:moveTo>
                <a:lnTo>
                  <a:pt x="5343238" y="0"/>
                </a:lnTo>
                <a:lnTo>
                  <a:pt x="5343238" y="4041431"/>
                </a:lnTo>
                <a:lnTo>
                  <a:pt x="0" y="4041431"/>
                </a:lnTo>
                <a:lnTo>
                  <a:pt x="0" y="0"/>
                </a:lnTo>
                <a:close/>
              </a:path>
            </a:pathLst>
          </a:custGeom>
          <a:blipFill rotWithShape="1">
            <a:blip r:embed="rId3">
              <a:alphaModFix/>
            </a:blip>
            <a:stretch>
              <a:fillRect b="0" l="0" r="0" t="0"/>
            </a:stretch>
          </a:blipFill>
          <a:ln>
            <a:noFill/>
          </a:ln>
        </p:spPr>
      </p:sp>
      <p:sp>
        <p:nvSpPr>
          <p:cNvPr id="220" name="Google Shape;220;p8"/>
          <p:cNvSpPr/>
          <p:nvPr/>
        </p:nvSpPr>
        <p:spPr>
          <a:xfrm>
            <a:off x="-1421876" y="-3678699"/>
            <a:ext cx="5285099" cy="5256271"/>
          </a:xfrm>
          <a:custGeom>
            <a:rect b="b" l="l" r="r" t="t"/>
            <a:pathLst>
              <a:path extrusionOk="0" h="5256271" w="5285099">
                <a:moveTo>
                  <a:pt x="0" y="0"/>
                </a:moveTo>
                <a:lnTo>
                  <a:pt x="5285099" y="0"/>
                </a:lnTo>
                <a:lnTo>
                  <a:pt x="5285099" y="5256271"/>
                </a:lnTo>
                <a:lnTo>
                  <a:pt x="0" y="5256271"/>
                </a:lnTo>
                <a:lnTo>
                  <a:pt x="0" y="0"/>
                </a:lnTo>
                <a:close/>
              </a:path>
            </a:pathLst>
          </a:custGeom>
          <a:blipFill rotWithShape="1">
            <a:blip r:embed="rId4">
              <a:alphaModFix/>
            </a:blip>
            <a:stretch>
              <a:fillRect b="0" l="0" r="0" t="0"/>
            </a:stretch>
          </a:blipFill>
          <a:ln>
            <a:noFill/>
          </a:ln>
        </p:spPr>
      </p:sp>
      <p:sp>
        <p:nvSpPr>
          <p:cNvPr id="221" name="Google Shape;221;p8"/>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6999"/>
            </a:blip>
            <a:stretch>
              <a:fillRect b="0" l="0" r="0" t="0"/>
            </a:stretch>
          </a:blipFill>
          <a:ln>
            <a:noFill/>
          </a:ln>
        </p:spPr>
      </p:sp>
      <p:sp>
        <p:nvSpPr>
          <p:cNvPr id="222" name="Google Shape;222;p8"/>
          <p:cNvSpPr/>
          <p:nvPr/>
        </p:nvSpPr>
        <p:spPr>
          <a:xfrm>
            <a:off x="17981351" y="9071880"/>
            <a:ext cx="322049" cy="1215120"/>
          </a:xfrm>
          <a:custGeom>
            <a:rect b="b" l="l" r="r" t="t"/>
            <a:pathLst>
              <a:path extrusionOk="0" h="754960" w="200091">
                <a:moveTo>
                  <a:pt x="0" y="0"/>
                </a:moveTo>
                <a:lnTo>
                  <a:pt x="200091" y="0"/>
                </a:lnTo>
                <a:lnTo>
                  <a:pt x="200091" y="754960"/>
                </a:lnTo>
                <a:lnTo>
                  <a:pt x="0" y="754960"/>
                </a:lnTo>
                <a:close/>
              </a:path>
            </a:pathLst>
          </a:custGeom>
          <a:solidFill>
            <a:srgbClr val="4458BE"/>
          </a:solidFill>
          <a:ln>
            <a:noFill/>
          </a:ln>
        </p:spPr>
      </p:sp>
      <p:grpSp>
        <p:nvGrpSpPr>
          <p:cNvPr id="223" name="Google Shape;223;p8"/>
          <p:cNvGrpSpPr/>
          <p:nvPr/>
        </p:nvGrpSpPr>
        <p:grpSpPr>
          <a:xfrm>
            <a:off x="1230955" y="4506446"/>
            <a:ext cx="4837579" cy="4837579"/>
            <a:chOff x="0" y="0"/>
            <a:chExt cx="6450106" cy="6450106"/>
          </a:xfrm>
        </p:grpSpPr>
        <p:sp>
          <p:nvSpPr>
            <p:cNvPr id="224" name="Google Shape;224;p8"/>
            <p:cNvSpPr/>
            <p:nvPr/>
          </p:nvSpPr>
          <p:spPr>
            <a:xfrm>
              <a:off x="0" y="0"/>
              <a:ext cx="6450106" cy="6450106"/>
            </a:xfrm>
            <a:custGeom>
              <a:rect b="b" l="l" r="r" t="t"/>
              <a:pathLst>
                <a:path extrusionOk="0" h="6450106" w="6450106">
                  <a:moveTo>
                    <a:pt x="0" y="0"/>
                  </a:moveTo>
                  <a:lnTo>
                    <a:pt x="6450106" y="0"/>
                  </a:lnTo>
                  <a:lnTo>
                    <a:pt x="6450106" y="6450106"/>
                  </a:lnTo>
                  <a:lnTo>
                    <a:pt x="0" y="6450106"/>
                  </a:lnTo>
                  <a:lnTo>
                    <a:pt x="0" y="0"/>
                  </a:lnTo>
                  <a:close/>
                </a:path>
              </a:pathLst>
            </a:custGeom>
            <a:blipFill rotWithShape="1">
              <a:blip r:embed="rId6">
                <a:alphaModFix amt="12000"/>
              </a:blip>
              <a:stretch>
                <a:fillRect b="0" l="0" r="0" t="0"/>
              </a:stretch>
            </a:blipFill>
            <a:ln>
              <a:noFill/>
            </a:ln>
          </p:spPr>
        </p:sp>
        <p:grpSp>
          <p:nvGrpSpPr>
            <p:cNvPr id="225" name="Google Shape;225;p8"/>
            <p:cNvGrpSpPr/>
            <p:nvPr/>
          </p:nvGrpSpPr>
          <p:grpSpPr>
            <a:xfrm>
              <a:off x="627529" y="663164"/>
              <a:ext cx="5123778" cy="5123778"/>
              <a:chOff x="0" y="0"/>
              <a:chExt cx="495300" cy="495300"/>
            </a:xfrm>
          </p:grpSpPr>
          <p:sp>
            <p:nvSpPr>
              <p:cNvPr id="226" name="Google Shape;226;p8"/>
              <p:cNvSpPr/>
              <p:nvPr/>
            </p:nvSpPr>
            <p:spPr>
              <a:xfrm>
                <a:off x="0" y="0"/>
                <a:ext cx="495300" cy="495300"/>
              </a:xfrm>
              <a:custGeom>
                <a:rect b="b" l="l" r="r" t="t"/>
                <a:pathLst>
                  <a:path extrusionOk="0"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445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38100" y="38100"/>
                <a:ext cx="419100" cy="419100"/>
              </a:xfrm>
              <a:custGeom>
                <a:rect b="b" l="l" r="r" t="t"/>
                <a:pathLst>
                  <a:path extrusionOk="0"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8" name="Google Shape;228;p8"/>
            <p:cNvSpPr/>
            <p:nvPr/>
          </p:nvSpPr>
          <p:spPr>
            <a:xfrm>
              <a:off x="828227" y="863861"/>
              <a:ext cx="4722383" cy="4722383"/>
            </a:xfrm>
            <a:custGeom>
              <a:rect b="b" l="l" r="r" t="t"/>
              <a:pathLst>
                <a:path extrusionOk="0" h="4722383" w="4722383">
                  <a:moveTo>
                    <a:pt x="0" y="0"/>
                  </a:moveTo>
                  <a:lnTo>
                    <a:pt x="4722383" y="0"/>
                  </a:lnTo>
                  <a:lnTo>
                    <a:pt x="4722383" y="4722383"/>
                  </a:lnTo>
                  <a:lnTo>
                    <a:pt x="0" y="4722383"/>
                  </a:lnTo>
                  <a:lnTo>
                    <a:pt x="0" y="0"/>
                  </a:lnTo>
                  <a:close/>
                </a:path>
              </a:pathLst>
            </a:custGeom>
            <a:blipFill rotWithShape="1">
              <a:blip r:embed="rId7">
                <a:alphaModFix/>
              </a:blip>
              <a:stretch>
                <a:fillRect b="0" l="0" r="0" t="0"/>
              </a:stretch>
            </a:blipFill>
            <a:ln>
              <a:noFill/>
            </a:ln>
          </p:spPr>
        </p:sp>
      </p:grpSp>
      <p:sp>
        <p:nvSpPr>
          <p:cNvPr id="229" name="Google Shape;229;p8"/>
          <p:cNvSpPr txBox="1"/>
          <p:nvPr/>
        </p:nvSpPr>
        <p:spPr>
          <a:xfrm>
            <a:off x="1404263" y="6643019"/>
            <a:ext cx="4490964" cy="503428"/>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None/>
            </a:pPr>
            <a:r>
              <a:rPr b="1" i="0" lang="en-US" sz="3200" u="none" cap="none" strike="noStrike">
                <a:solidFill>
                  <a:srgbClr val="1B4A9B"/>
                </a:solidFill>
                <a:latin typeface="Poppins"/>
                <a:ea typeface="Poppins"/>
                <a:cs typeface="Poppins"/>
                <a:sym typeface="Poppins"/>
              </a:rPr>
              <a:t>Locales</a:t>
            </a:r>
            <a:endParaRPr/>
          </a:p>
        </p:txBody>
      </p:sp>
      <p:sp>
        <p:nvSpPr>
          <p:cNvPr id="230" name="Google Shape;230;p8"/>
          <p:cNvSpPr txBox="1"/>
          <p:nvPr/>
        </p:nvSpPr>
        <p:spPr>
          <a:xfrm>
            <a:off x="4319736" y="1194600"/>
            <a:ext cx="10471367" cy="15716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5000" u="none" cap="none" strike="noStrike">
                <a:solidFill>
                  <a:srgbClr val="1B4A9B"/>
                </a:solidFill>
                <a:latin typeface="Poppins Black"/>
                <a:ea typeface="Poppins Black"/>
                <a:cs typeface="Poppins Black"/>
                <a:sym typeface="Poppins Black"/>
              </a:rPr>
              <a:t>TIPOS DE CONTROL DE VERSIONES</a:t>
            </a:r>
            <a:endParaRPr/>
          </a:p>
        </p:txBody>
      </p:sp>
      <p:sp>
        <p:nvSpPr>
          <p:cNvPr id="231" name="Google Shape;231;p8"/>
          <p:cNvSpPr/>
          <p:nvPr/>
        </p:nvSpPr>
        <p:spPr>
          <a:xfrm>
            <a:off x="17046764" y="3182967"/>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8">
              <a:alphaModFix amt="47000"/>
            </a:blip>
            <a:stretch>
              <a:fillRect b="0" l="0" r="0" t="0"/>
            </a:stretch>
          </a:blipFill>
          <a:ln>
            <a:noFill/>
          </a:ln>
        </p:spPr>
      </p:sp>
      <p:grpSp>
        <p:nvGrpSpPr>
          <p:cNvPr id="232" name="Google Shape;232;p8"/>
          <p:cNvGrpSpPr/>
          <p:nvPr/>
        </p:nvGrpSpPr>
        <p:grpSpPr>
          <a:xfrm>
            <a:off x="6735492" y="4506446"/>
            <a:ext cx="4837579" cy="4837579"/>
            <a:chOff x="0" y="0"/>
            <a:chExt cx="6450106" cy="6450106"/>
          </a:xfrm>
        </p:grpSpPr>
        <p:sp>
          <p:nvSpPr>
            <p:cNvPr id="233" name="Google Shape;233;p8"/>
            <p:cNvSpPr/>
            <p:nvPr/>
          </p:nvSpPr>
          <p:spPr>
            <a:xfrm>
              <a:off x="0" y="0"/>
              <a:ext cx="6450106" cy="6450106"/>
            </a:xfrm>
            <a:custGeom>
              <a:rect b="b" l="l" r="r" t="t"/>
              <a:pathLst>
                <a:path extrusionOk="0" h="6450106" w="6450106">
                  <a:moveTo>
                    <a:pt x="0" y="0"/>
                  </a:moveTo>
                  <a:lnTo>
                    <a:pt x="6450106" y="0"/>
                  </a:lnTo>
                  <a:lnTo>
                    <a:pt x="6450106" y="6450106"/>
                  </a:lnTo>
                  <a:lnTo>
                    <a:pt x="0" y="6450106"/>
                  </a:lnTo>
                  <a:lnTo>
                    <a:pt x="0" y="0"/>
                  </a:lnTo>
                  <a:close/>
                </a:path>
              </a:pathLst>
            </a:custGeom>
            <a:blipFill rotWithShape="1">
              <a:blip r:embed="rId6">
                <a:alphaModFix amt="12000"/>
              </a:blip>
              <a:stretch>
                <a:fillRect b="0" l="0" r="0" t="0"/>
              </a:stretch>
            </a:blipFill>
            <a:ln>
              <a:noFill/>
            </a:ln>
          </p:spPr>
        </p:sp>
        <p:grpSp>
          <p:nvGrpSpPr>
            <p:cNvPr id="234" name="Google Shape;234;p8"/>
            <p:cNvGrpSpPr/>
            <p:nvPr/>
          </p:nvGrpSpPr>
          <p:grpSpPr>
            <a:xfrm>
              <a:off x="627529" y="663164"/>
              <a:ext cx="5123778" cy="5123778"/>
              <a:chOff x="0" y="0"/>
              <a:chExt cx="495300" cy="495300"/>
            </a:xfrm>
          </p:grpSpPr>
          <p:sp>
            <p:nvSpPr>
              <p:cNvPr id="235" name="Google Shape;235;p8"/>
              <p:cNvSpPr/>
              <p:nvPr/>
            </p:nvSpPr>
            <p:spPr>
              <a:xfrm>
                <a:off x="0" y="0"/>
                <a:ext cx="495300" cy="495300"/>
              </a:xfrm>
              <a:custGeom>
                <a:rect b="b" l="l" r="r" t="t"/>
                <a:pathLst>
                  <a:path extrusionOk="0"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445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38100" y="38100"/>
                <a:ext cx="419100" cy="419100"/>
              </a:xfrm>
              <a:custGeom>
                <a:rect b="b" l="l" r="r" t="t"/>
                <a:pathLst>
                  <a:path extrusionOk="0"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7" name="Google Shape;237;p8"/>
            <p:cNvSpPr/>
            <p:nvPr/>
          </p:nvSpPr>
          <p:spPr>
            <a:xfrm>
              <a:off x="828227" y="863861"/>
              <a:ext cx="4722383" cy="4722383"/>
            </a:xfrm>
            <a:custGeom>
              <a:rect b="b" l="l" r="r" t="t"/>
              <a:pathLst>
                <a:path extrusionOk="0" h="4722383" w="4722383">
                  <a:moveTo>
                    <a:pt x="0" y="0"/>
                  </a:moveTo>
                  <a:lnTo>
                    <a:pt x="4722383" y="0"/>
                  </a:lnTo>
                  <a:lnTo>
                    <a:pt x="4722383" y="4722383"/>
                  </a:lnTo>
                  <a:lnTo>
                    <a:pt x="0" y="4722383"/>
                  </a:lnTo>
                  <a:lnTo>
                    <a:pt x="0" y="0"/>
                  </a:lnTo>
                  <a:close/>
                </a:path>
              </a:pathLst>
            </a:custGeom>
            <a:blipFill rotWithShape="1">
              <a:blip r:embed="rId7">
                <a:alphaModFix/>
              </a:blip>
              <a:stretch>
                <a:fillRect b="0" l="0" r="0" t="0"/>
              </a:stretch>
            </a:blipFill>
            <a:ln>
              <a:noFill/>
            </a:ln>
          </p:spPr>
        </p:sp>
      </p:grpSp>
      <p:sp>
        <p:nvSpPr>
          <p:cNvPr id="238" name="Google Shape;238;p8"/>
          <p:cNvSpPr txBox="1"/>
          <p:nvPr/>
        </p:nvSpPr>
        <p:spPr>
          <a:xfrm>
            <a:off x="7351002" y="6689438"/>
            <a:ext cx="3606559" cy="503428"/>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None/>
            </a:pPr>
            <a:r>
              <a:rPr b="1" i="0" lang="en-US" sz="3200" u="none" cap="none" strike="noStrike">
                <a:solidFill>
                  <a:srgbClr val="1B4A9B"/>
                </a:solidFill>
                <a:latin typeface="Poppins"/>
                <a:ea typeface="Poppins"/>
                <a:cs typeface="Poppins"/>
                <a:sym typeface="Poppins"/>
              </a:rPr>
              <a:t>Centralizados</a:t>
            </a:r>
            <a:endParaRPr/>
          </a:p>
        </p:txBody>
      </p:sp>
      <p:grpSp>
        <p:nvGrpSpPr>
          <p:cNvPr id="239" name="Google Shape;239;p8"/>
          <p:cNvGrpSpPr/>
          <p:nvPr/>
        </p:nvGrpSpPr>
        <p:grpSpPr>
          <a:xfrm>
            <a:off x="12219466" y="4506446"/>
            <a:ext cx="4837579" cy="4837579"/>
            <a:chOff x="0" y="0"/>
            <a:chExt cx="6450106" cy="6450106"/>
          </a:xfrm>
        </p:grpSpPr>
        <p:sp>
          <p:nvSpPr>
            <p:cNvPr id="240" name="Google Shape;240;p8"/>
            <p:cNvSpPr/>
            <p:nvPr/>
          </p:nvSpPr>
          <p:spPr>
            <a:xfrm>
              <a:off x="0" y="0"/>
              <a:ext cx="6450106" cy="6450106"/>
            </a:xfrm>
            <a:custGeom>
              <a:rect b="b" l="l" r="r" t="t"/>
              <a:pathLst>
                <a:path extrusionOk="0" h="6450106" w="6450106">
                  <a:moveTo>
                    <a:pt x="0" y="0"/>
                  </a:moveTo>
                  <a:lnTo>
                    <a:pt x="6450106" y="0"/>
                  </a:lnTo>
                  <a:lnTo>
                    <a:pt x="6450106" y="6450106"/>
                  </a:lnTo>
                  <a:lnTo>
                    <a:pt x="0" y="6450106"/>
                  </a:lnTo>
                  <a:lnTo>
                    <a:pt x="0" y="0"/>
                  </a:lnTo>
                  <a:close/>
                </a:path>
              </a:pathLst>
            </a:custGeom>
            <a:blipFill rotWithShape="1">
              <a:blip r:embed="rId6">
                <a:alphaModFix amt="12000"/>
              </a:blip>
              <a:stretch>
                <a:fillRect b="0" l="0" r="0" t="0"/>
              </a:stretch>
            </a:blipFill>
            <a:ln>
              <a:noFill/>
            </a:ln>
          </p:spPr>
        </p:sp>
        <p:grpSp>
          <p:nvGrpSpPr>
            <p:cNvPr id="241" name="Google Shape;241;p8"/>
            <p:cNvGrpSpPr/>
            <p:nvPr/>
          </p:nvGrpSpPr>
          <p:grpSpPr>
            <a:xfrm>
              <a:off x="627529" y="663164"/>
              <a:ext cx="5123778" cy="5123778"/>
              <a:chOff x="0" y="0"/>
              <a:chExt cx="495300" cy="495300"/>
            </a:xfrm>
          </p:grpSpPr>
          <p:sp>
            <p:nvSpPr>
              <p:cNvPr id="242" name="Google Shape;242;p8"/>
              <p:cNvSpPr/>
              <p:nvPr/>
            </p:nvSpPr>
            <p:spPr>
              <a:xfrm>
                <a:off x="0" y="0"/>
                <a:ext cx="495300" cy="495300"/>
              </a:xfrm>
              <a:custGeom>
                <a:rect b="b" l="l" r="r" t="t"/>
                <a:pathLst>
                  <a:path extrusionOk="0" h="495300" w="495300">
                    <a:moveTo>
                      <a:pt x="247650" y="0"/>
                    </a:moveTo>
                    <a:cubicBezTo>
                      <a:pt x="110490" y="0"/>
                      <a:pt x="0" y="110490"/>
                      <a:pt x="0" y="247650"/>
                    </a:cubicBezTo>
                    <a:cubicBezTo>
                      <a:pt x="0" y="384810"/>
                      <a:pt x="110490" y="495300"/>
                      <a:pt x="247650" y="495300"/>
                    </a:cubicBezTo>
                    <a:cubicBezTo>
                      <a:pt x="383540" y="495300"/>
                      <a:pt x="495300" y="384810"/>
                      <a:pt x="495300" y="247650"/>
                    </a:cubicBezTo>
                    <a:cubicBezTo>
                      <a:pt x="495300" y="110490"/>
                      <a:pt x="383540" y="0"/>
                      <a:pt x="247650" y="0"/>
                    </a:cubicBezTo>
                    <a:close/>
                    <a:moveTo>
                      <a:pt x="247650" y="457200"/>
                    </a:moveTo>
                    <a:cubicBezTo>
                      <a:pt x="132080" y="457200"/>
                      <a:pt x="38100" y="363220"/>
                      <a:pt x="38100" y="247650"/>
                    </a:cubicBezTo>
                    <a:cubicBezTo>
                      <a:pt x="38100" y="132080"/>
                      <a:pt x="132080" y="38100"/>
                      <a:pt x="247650" y="38100"/>
                    </a:cubicBezTo>
                    <a:cubicBezTo>
                      <a:pt x="363220" y="38100"/>
                      <a:pt x="457200" y="132080"/>
                      <a:pt x="457200" y="247650"/>
                    </a:cubicBezTo>
                    <a:cubicBezTo>
                      <a:pt x="457200" y="363220"/>
                      <a:pt x="363220" y="457200"/>
                      <a:pt x="247650" y="457200"/>
                    </a:cubicBezTo>
                    <a:close/>
                  </a:path>
                </a:pathLst>
              </a:custGeom>
              <a:solidFill>
                <a:srgbClr val="4458B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38100" y="38100"/>
                <a:ext cx="419100" cy="419100"/>
              </a:xfrm>
              <a:custGeom>
                <a:rect b="b" l="l" r="r" t="t"/>
                <a:pathLst>
                  <a:path extrusionOk="0" h="419100" w="419100">
                    <a:moveTo>
                      <a:pt x="209550" y="0"/>
                    </a:moveTo>
                    <a:cubicBezTo>
                      <a:pt x="93980" y="0"/>
                      <a:pt x="0" y="93980"/>
                      <a:pt x="0" y="209550"/>
                    </a:cubicBezTo>
                    <a:cubicBezTo>
                      <a:pt x="0" y="325120"/>
                      <a:pt x="93980" y="419100"/>
                      <a:pt x="209550" y="419100"/>
                    </a:cubicBezTo>
                    <a:cubicBezTo>
                      <a:pt x="325120" y="419100"/>
                      <a:pt x="419100" y="325120"/>
                      <a:pt x="419100" y="209550"/>
                    </a:cubicBezTo>
                    <a:cubicBezTo>
                      <a:pt x="419100" y="93980"/>
                      <a:pt x="325120" y="0"/>
                      <a:pt x="20955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4" name="Google Shape;244;p8"/>
            <p:cNvSpPr/>
            <p:nvPr/>
          </p:nvSpPr>
          <p:spPr>
            <a:xfrm>
              <a:off x="828227" y="863861"/>
              <a:ext cx="4722383" cy="4722383"/>
            </a:xfrm>
            <a:custGeom>
              <a:rect b="b" l="l" r="r" t="t"/>
              <a:pathLst>
                <a:path extrusionOk="0" h="4722383" w="4722383">
                  <a:moveTo>
                    <a:pt x="0" y="0"/>
                  </a:moveTo>
                  <a:lnTo>
                    <a:pt x="4722383" y="0"/>
                  </a:lnTo>
                  <a:lnTo>
                    <a:pt x="4722383" y="4722383"/>
                  </a:lnTo>
                  <a:lnTo>
                    <a:pt x="0" y="4722383"/>
                  </a:lnTo>
                  <a:lnTo>
                    <a:pt x="0" y="0"/>
                  </a:lnTo>
                  <a:close/>
                </a:path>
              </a:pathLst>
            </a:custGeom>
            <a:blipFill rotWithShape="1">
              <a:blip r:embed="rId7">
                <a:alphaModFix/>
              </a:blip>
              <a:stretch>
                <a:fillRect b="0" l="0" r="0" t="0"/>
              </a:stretch>
            </a:blipFill>
            <a:ln>
              <a:noFill/>
            </a:ln>
          </p:spPr>
        </p:sp>
      </p:grpSp>
      <p:sp>
        <p:nvSpPr>
          <p:cNvPr id="245" name="Google Shape;245;p8"/>
          <p:cNvSpPr txBox="1"/>
          <p:nvPr/>
        </p:nvSpPr>
        <p:spPr>
          <a:xfrm>
            <a:off x="12818792" y="6643019"/>
            <a:ext cx="3638926" cy="503428"/>
          </a:xfrm>
          <a:prstGeom prst="rect">
            <a:avLst/>
          </a:prstGeom>
          <a:noFill/>
          <a:ln>
            <a:noFill/>
          </a:ln>
        </p:spPr>
        <p:txBody>
          <a:bodyPr anchorCtr="0" anchor="t" bIns="0" lIns="0" spcFirstLastPara="1" rIns="0" wrap="square" tIns="0">
            <a:spAutoFit/>
          </a:bodyPr>
          <a:lstStyle/>
          <a:p>
            <a:pPr indent="0" lvl="0" marL="0" marR="0" rtl="0" algn="ctr">
              <a:lnSpc>
                <a:spcPct val="117999"/>
              </a:lnSpc>
              <a:spcBef>
                <a:spcPts val="0"/>
              </a:spcBef>
              <a:spcAft>
                <a:spcPts val="0"/>
              </a:spcAft>
              <a:buNone/>
            </a:pPr>
            <a:r>
              <a:rPr b="1" i="0" lang="en-US" sz="3200" u="none" cap="none" strike="noStrike">
                <a:solidFill>
                  <a:srgbClr val="1B4A9B"/>
                </a:solidFill>
                <a:latin typeface="Poppins"/>
                <a:ea typeface="Poppins"/>
                <a:cs typeface="Poppins"/>
                <a:sym typeface="Poppins"/>
              </a:rPr>
              <a:t>Distribuidos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58BE"/>
        </a:solidFill>
      </p:bgPr>
    </p:bg>
    <p:spTree>
      <p:nvGrpSpPr>
        <p:cNvPr id="249" name="Shape 249"/>
        <p:cNvGrpSpPr/>
        <p:nvPr/>
      </p:nvGrpSpPr>
      <p:grpSpPr>
        <a:xfrm>
          <a:off x="0" y="0"/>
          <a:ext cx="0" cy="0"/>
          <a:chOff x="0" y="0"/>
          <a:chExt cx="0" cy="0"/>
        </a:xfrm>
      </p:grpSpPr>
      <p:sp>
        <p:nvSpPr>
          <p:cNvPr id="250" name="Google Shape;250;p9"/>
          <p:cNvSpPr/>
          <p:nvPr/>
        </p:nvSpPr>
        <p:spPr>
          <a:xfrm>
            <a:off x="-160692" y="0"/>
            <a:ext cx="18593584" cy="10471968"/>
          </a:xfrm>
          <a:custGeom>
            <a:rect b="b" l="l" r="r" t="t"/>
            <a:pathLst>
              <a:path extrusionOk="0" h="1913890" w="3398222">
                <a:moveTo>
                  <a:pt x="0" y="0"/>
                </a:moveTo>
                <a:lnTo>
                  <a:pt x="3398222" y="0"/>
                </a:lnTo>
                <a:lnTo>
                  <a:pt x="3398222" y="1913890"/>
                </a:lnTo>
                <a:lnTo>
                  <a:pt x="0" y="1913890"/>
                </a:lnTo>
                <a:close/>
              </a:path>
            </a:pathLst>
          </a:custGeom>
          <a:solidFill>
            <a:srgbClr val="5CE1E6">
              <a:alpha val="48235"/>
            </a:srgbClr>
          </a:solidFill>
          <a:ln>
            <a:noFill/>
          </a:ln>
        </p:spPr>
      </p:sp>
      <p:sp>
        <p:nvSpPr>
          <p:cNvPr id="251" name="Google Shape;251;p9"/>
          <p:cNvSpPr/>
          <p:nvPr/>
        </p:nvSpPr>
        <p:spPr>
          <a:xfrm rot="-2308677">
            <a:off x="9864051" y="2521141"/>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52" name="Google Shape;252;p9"/>
          <p:cNvGrpSpPr/>
          <p:nvPr/>
        </p:nvGrpSpPr>
        <p:grpSpPr>
          <a:xfrm rot="9869556">
            <a:off x="14431083" y="6569611"/>
            <a:ext cx="6482297" cy="6762426"/>
            <a:chOff x="0" y="0"/>
            <a:chExt cx="8643063" cy="9016568"/>
          </a:xfrm>
        </p:grpSpPr>
        <p:sp>
          <p:nvSpPr>
            <p:cNvPr id="253" name="Google Shape;253;p9"/>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54" name="Google Shape;254;p9"/>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55" name="Google Shape;255;p9"/>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grpSp>
        <p:nvGrpSpPr>
          <p:cNvPr id="256" name="Google Shape;256;p9"/>
          <p:cNvGrpSpPr/>
          <p:nvPr/>
        </p:nvGrpSpPr>
        <p:grpSpPr>
          <a:xfrm>
            <a:off x="-1529628" y="4443479"/>
            <a:ext cx="6184214" cy="6184214"/>
            <a:chOff x="0" y="0"/>
            <a:chExt cx="8245618" cy="8245618"/>
          </a:xfrm>
        </p:grpSpPr>
        <p:sp>
          <p:nvSpPr>
            <p:cNvPr id="257" name="Google Shape;257;p9"/>
            <p:cNvSpPr/>
            <p:nvPr/>
          </p:nvSpPr>
          <p:spPr>
            <a:xfrm>
              <a:off x="0" y="0"/>
              <a:ext cx="8245618" cy="8245618"/>
            </a:xfrm>
            <a:custGeom>
              <a:rect b="b" l="l" r="r" t="t"/>
              <a:pathLst>
                <a:path extrusionOk="0" h="8245618" w="8245618">
                  <a:moveTo>
                    <a:pt x="0" y="0"/>
                  </a:moveTo>
                  <a:lnTo>
                    <a:pt x="8245618" y="0"/>
                  </a:lnTo>
                  <a:lnTo>
                    <a:pt x="8245618" y="8245618"/>
                  </a:lnTo>
                  <a:lnTo>
                    <a:pt x="0" y="8245618"/>
                  </a:lnTo>
                  <a:lnTo>
                    <a:pt x="0" y="0"/>
                  </a:lnTo>
                  <a:close/>
                </a:path>
              </a:pathLst>
            </a:custGeom>
            <a:blipFill rotWithShape="1">
              <a:blip r:embed="rId7">
                <a:alphaModFix amt="12000"/>
              </a:blip>
              <a:stretch>
                <a:fillRect b="0" l="0" r="0" t="0"/>
              </a:stretch>
            </a:blipFill>
            <a:ln>
              <a:noFill/>
            </a:ln>
          </p:spPr>
        </p:sp>
        <p:sp>
          <p:nvSpPr>
            <p:cNvPr id="258" name="Google Shape;258;p9"/>
            <p:cNvSpPr/>
            <p:nvPr/>
          </p:nvSpPr>
          <p:spPr>
            <a:xfrm>
              <a:off x="439724" y="439724"/>
              <a:ext cx="7366169" cy="7366169"/>
            </a:xfrm>
            <a:custGeom>
              <a:rect b="b" l="l" r="r" t="t"/>
              <a:pathLst>
                <a:path extrusionOk="0" h="7366169" w="7366169">
                  <a:moveTo>
                    <a:pt x="0" y="0"/>
                  </a:moveTo>
                  <a:lnTo>
                    <a:pt x="7366170" y="0"/>
                  </a:lnTo>
                  <a:lnTo>
                    <a:pt x="7366170" y="7366170"/>
                  </a:lnTo>
                  <a:lnTo>
                    <a:pt x="0" y="7366170"/>
                  </a:lnTo>
                  <a:lnTo>
                    <a:pt x="0" y="0"/>
                  </a:lnTo>
                  <a:close/>
                </a:path>
              </a:pathLst>
            </a:custGeom>
            <a:blipFill rotWithShape="1">
              <a:blip r:embed="rId8">
                <a:alphaModFix/>
              </a:blip>
              <a:stretch>
                <a:fillRect b="0" l="0" r="0" t="0"/>
              </a:stretch>
            </a:blipFill>
            <a:ln>
              <a:noFill/>
            </a:ln>
          </p:spPr>
        </p:sp>
      </p:grpSp>
      <p:sp>
        <p:nvSpPr>
          <p:cNvPr id="259" name="Google Shape;259;p9"/>
          <p:cNvSpPr/>
          <p:nvPr/>
        </p:nvSpPr>
        <p:spPr>
          <a:xfrm>
            <a:off x="651776" y="2921002"/>
            <a:ext cx="7190825" cy="6139167"/>
          </a:xfrm>
          <a:custGeom>
            <a:rect b="b" l="l" r="r" t="t"/>
            <a:pathLst>
              <a:path extrusionOk="0" h="6139167" w="7190825">
                <a:moveTo>
                  <a:pt x="0" y="0"/>
                </a:moveTo>
                <a:lnTo>
                  <a:pt x="7190825" y="0"/>
                </a:lnTo>
                <a:lnTo>
                  <a:pt x="7190825" y="6139167"/>
                </a:lnTo>
                <a:lnTo>
                  <a:pt x="0" y="6139167"/>
                </a:lnTo>
                <a:lnTo>
                  <a:pt x="0" y="0"/>
                </a:lnTo>
                <a:close/>
              </a:path>
            </a:pathLst>
          </a:custGeom>
          <a:blipFill rotWithShape="1">
            <a:blip r:embed="rId9">
              <a:alphaModFix/>
            </a:blip>
            <a:stretch>
              <a:fillRect b="0" l="0" r="0" t="0"/>
            </a:stretch>
          </a:blipFill>
          <a:ln>
            <a:noFill/>
          </a:ln>
        </p:spPr>
      </p:sp>
      <p:sp>
        <p:nvSpPr>
          <p:cNvPr id="260" name="Google Shape;260;p9"/>
          <p:cNvSpPr txBox="1"/>
          <p:nvPr/>
        </p:nvSpPr>
        <p:spPr>
          <a:xfrm>
            <a:off x="1028700" y="754291"/>
            <a:ext cx="15537373" cy="782951"/>
          </a:xfrm>
          <a:prstGeom prst="rect">
            <a:avLst/>
          </a:prstGeom>
          <a:noFill/>
          <a:ln>
            <a:noFill/>
          </a:ln>
        </p:spPr>
        <p:txBody>
          <a:bodyPr anchorCtr="0" anchor="t" bIns="0" lIns="0" spcFirstLastPara="1" rIns="0" wrap="square" tIns="0">
            <a:spAutoFit/>
          </a:bodyPr>
          <a:lstStyle/>
          <a:p>
            <a:pPr indent="0" lvl="0" marL="0" marR="0" rtl="0" algn="ctr">
              <a:lnSpc>
                <a:spcPct val="119987"/>
              </a:lnSpc>
              <a:spcBef>
                <a:spcPts val="0"/>
              </a:spcBef>
              <a:spcAft>
                <a:spcPts val="0"/>
              </a:spcAft>
              <a:buNone/>
            </a:pPr>
            <a:r>
              <a:rPr b="1" i="0" lang="en-US" sz="4838" u="none" cap="none" strike="noStrike">
                <a:solidFill>
                  <a:srgbClr val="FFFFFF"/>
                </a:solidFill>
                <a:latin typeface="Poppins"/>
                <a:ea typeface="Poppins"/>
                <a:cs typeface="Poppins"/>
                <a:sym typeface="Poppins"/>
              </a:rPr>
              <a:t>Sistemas de Control de Versiones Local</a:t>
            </a:r>
            <a:endParaRPr/>
          </a:p>
        </p:txBody>
      </p:sp>
      <p:sp>
        <p:nvSpPr>
          <p:cNvPr id="261" name="Google Shape;261;p9"/>
          <p:cNvSpPr txBox="1"/>
          <p:nvPr/>
        </p:nvSpPr>
        <p:spPr>
          <a:xfrm>
            <a:off x="8554997" y="4386329"/>
            <a:ext cx="9283155" cy="29908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3000" u="none" cap="none" strike="noStrike">
                <a:solidFill>
                  <a:srgbClr val="FFFFFF"/>
                </a:solidFill>
                <a:latin typeface="Poppins"/>
                <a:ea typeface="Poppins"/>
                <a:cs typeface="Poppins"/>
                <a:sym typeface="Poppins"/>
              </a:rPr>
              <a:t>En este sistema las instantáneas o cambios en los archivos se registran y almacenan localmente en la máquina del usuario. Este enfoque puede ser adecuado para proyectos más pequeños o individuales donde la colaboración en línea no es esencial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58BE"/>
        </a:solidFill>
      </p:bgPr>
    </p:bg>
    <p:spTree>
      <p:nvGrpSpPr>
        <p:cNvPr id="265" name="Shape 265"/>
        <p:cNvGrpSpPr/>
        <p:nvPr/>
      </p:nvGrpSpPr>
      <p:grpSpPr>
        <a:xfrm>
          <a:off x="0" y="0"/>
          <a:ext cx="0" cy="0"/>
          <a:chOff x="0" y="0"/>
          <a:chExt cx="0" cy="0"/>
        </a:xfrm>
      </p:grpSpPr>
      <p:sp>
        <p:nvSpPr>
          <p:cNvPr id="266" name="Google Shape;266;p10"/>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5CE1E6">
              <a:alpha val="48235"/>
            </a:srgbClr>
          </a:solidFill>
          <a:ln>
            <a:noFill/>
          </a:ln>
        </p:spPr>
      </p:sp>
      <p:sp>
        <p:nvSpPr>
          <p:cNvPr id="267" name="Google Shape;267;p10"/>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268" name="Google Shape;268;p10"/>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sp>
        <p:nvSpPr>
          <p:cNvPr id="269" name="Google Shape;269;p10"/>
          <p:cNvSpPr/>
          <p:nvPr/>
        </p:nvSpPr>
        <p:spPr>
          <a:xfrm>
            <a:off x="13095754" y="1028700"/>
            <a:ext cx="10384491" cy="10384491"/>
          </a:xfrm>
          <a:custGeom>
            <a:rect b="b" l="l" r="r" t="t"/>
            <a:pathLst>
              <a:path extrusionOk="0" h="10384491" w="10384491">
                <a:moveTo>
                  <a:pt x="0" y="0"/>
                </a:moveTo>
                <a:lnTo>
                  <a:pt x="10384492" y="0"/>
                </a:lnTo>
                <a:lnTo>
                  <a:pt x="10384492" y="10384491"/>
                </a:lnTo>
                <a:lnTo>
                  <a:pt x="0" y="10384491"/>
                </a:lnTo>
                <a:lnTo>
                  <a:pt x="0" y="0"/>
                </a:lnTo>
                <a:close/>
              </a:path>
            </a:pathLst>
          </a:custGeom>
          <a:blipFill rotWithShape="1">
            <a:blip r:embed="rId5">
              <a:alphaModFix amt="12000"/>
            </a:blip>
            <a:stretch>
              <a:fillRect b="0" l="0" r="0" t="0"/>
            </a:stretch>
          </a:blipFill>
          <a:ln>
            <a:noFill/>
          </a:ln>
        </p:spPr>
      </p:sp>
      <p:sp>
        <p:nvSpPr>
          <p:cNvPr id="270" name="Google Shape;270;p10"/>
          <p:cNvSpPr/>
          <p:nvPr/>
        </p:nvSpPr>
        <p:spPr>
          <a:xfrm>
            <a:off x="14203328" y="1597064"/>
            <a:ext cx="9276918" cy="9276918"/>
          </a:xfrm>
          <a:custGeom>
            <a:rect b="b" l="l" r="r" t="t"/>
            <a:pathLst>
              <a:path extrusionOk="0" h="9276918" w="9276918">
                <a:moveTo>
                  <a:pt x="0" y="0"/>
                </a:moveTo>
                <a:lnTo>
                  <a:pt x="9276918" y="0"/>
                </a:lnTo>
                <a:lnTo>
                  <a:pt x="9276918" y="9276917"/>
                </a:lnTo>
                <a:lnTo>
                  <a:pt x="0" y="9276917"/>
                </a:lnTo>
                <a:lnTo>
                  <a:pt x="0" y="0"/>
                </a:lnTo>
                <a:close/>
              </a:path>
            </a:pathLst>
          </a:custGeom>
          <a:blipFill rotWithShape="1">
            <a:blip r:embed="rId6">
              <a:alphaModFix/>
            </a:blip>
            <a:stretch>
              <a:fillRect b="0" l="0" r="0" t="0"/>
            </a:stretch>
          </a:blipFill>
          <a:ln>
            <a:noFill/>
          </a:ln>
        </p:spPr>
      </p:sp>
      <p:grpSp>
        <p:nvGrpSpPr>
          <p:cNvPr id="271" name="Google Shape;271;p10"/>
          <p:cNvGrpSpPr/>
          <p:nvPr/>
        </p:nvGrpSpPr>
        <p:grpSpPr>
          <a:xfrm>
            <a:off x="-1722197" y="-3678699"/>
            <a:ext cx="6482297" cy="6762426"/>
            <a:chOff x="0" y="0"/>
            <a:chExt cx="8643063" cy="9016568"/>
          </a:xfrm>
        </p:grpSpPr>
        <p:sp>
          <p:nvSpPr>
            <p:cNvPr id="272" name="Google Shape;272;p10"/>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7">
                <a:alphaModFix/>
              </a:blip>
              <a:stretch>
                <a:fillRect b="0" l="0" r="0" t="0"/>
              </a:stretch>
            </a:blipFill>
            <a:ln>
              <a:noFill/>
            </a:ln>
          </p:spPr>
        </p:sp>
        <p:sp>
          <p:nvSpPr>
            <p:cNvPr id="273" name="Google Shape;273;p10"/>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8">
                <a:alphaModFix/>
              </a:blip>
              <a:stretch>
                <a:fillRect b="0" l="0" r="0" t="0"/>
              </a:stretch>
            </a:blipFill>
            <a:ln>
              <a:noFill/>
            </a:ln>
          </p:spPr>
        </p:sp>
      </p:grpSp>
      <p:sp>
        <p:nvSpPr>
          <p:cNvPr id="274" name="Google Shape;274;p10"/>
          <p:cNvSpPr/>
          <p:nvPr/>
        </p:nvSpPr>
        <p:spPr>
          <a:xfrm>
            <a:off x="9144000" y="2627738"/>
            <a:ext cx="8455030" cy="5876246"/>
          </a:xfrm>
          <a:custGeom>
            <a:rect b="b" l="l" r="r" t="t"/>
            <a:pathLst>
              <a:path extrusionOk="0" h="5876246" w="8455030">
                <a:moveTo>
                  <a:pt x="0" y="0"/>
                </a:moveTo>
                <a:lnTo>
                  <a:pt x="8455030" y="0"/>
                </a:lnTo>
                <a:lnTo>
                  <a:pt x="8455030" y="5876246"/>
                </a:lnTo>
                <a:lnTo>
                  <a:pt x="0" y="5876246"/>
                </a:lnTo>
                <a:lnTo>
                  <a:pt x="0" y="0"/>
                </a:lnTo>
                <a:close/>
              </a:path>
            </a:pathLst>
          </a:custGeom>
          <a:blipFill rotWithShape="1">
            <a:blip r:embed="rId9">
              <a:alphaModFix/>
            </a:blip>
            <a:stretch>
              <a:fillRect b="0" l="0" r="0" t="0"/>
            </a:stretch>
          </a:blipFill>
          <a:ln>
            <a:noFill/>
          </a:ln>
        </p:spPr>
      </p:sp>
      <p:sp>
        <p:nvSpPr>
          <p:cNvPr id="275" name="Google Shape;275;p10"/>
          <p:cNvSpPr txBox="1"/>
          <p:nvPr/>
        </p:nvSpPr>
        <p:spPr>
          <a:xfrm>
            <a:off x="1902313" y="420916"/>
            <a:ext cx="14483375" cy="1508752"/>
          </a:xfrm>
          <a:prstGeom prst="rect">
            <a:avLst/>
          </a:prstGeom>
          <a:noFill/>
          <a:ln>
            <a:noFill/>
          </a:ln>
        </p:spPr>
        <p:txBody>
          <a:bodyPr anchorCtr="0" anchor="t" bIns="0" lIns="0" spcFirstLastPara="1" rIns="0" wrap="square" tIns="0">
            <a:spAutoFit/>
          </a:bodyPr>
          <a:lstStyle/>
          <a:p>
            <a:pPr indent="0" lvl="0" marL="0" marR="0" rtl="0" algn="ctr">
              <a:lnSpc>
                <a:spcPct val="119987"/>
              </a:lnSpc>
              <a:spcBef>
                <a:spcPts val="0"/>
              </a:spcBef>
              <a:spcAft>
                <a:spcPts val="0"/>
              </a:spcAft>
              <a:buNone/>
            </a:pPr>
            <a:r>
              <a:rPr b="1" i="0" lang="en-US" sz="4838" u="none" cap="none" strike="noStrike">
                <a:solidFill>
                  <a:srgbClr val="FFFFFF"/>
                </a:solidFill>
                <a:latin typeface="Poppins"/>
                <a:ea typeface="Poppins"/>
                <a:cs typeface="Poppins"/>
                <a:sym typeface="Poppins"/>
              </a:rPr>
              <a:t>Sistemas de Control de Versiones Centralizado</a:t>
            </a:r>
            <a:endParaRPr/>
          </a:p>
        </p:txBody>
      </p:sp>
      <p:sp>
        <p:nvSpPr>
          <p:cNvPr id="276" name="Google Shape;276;p10"/>
          <p:cNvSpPr txBox="1"/>
          <p:nvPr/>
        </p:nvSpPr>
        <p:spPr>
          <a:xfrm>
            <a:off x="1028700" y="3794211"/>
            <a:ext cx="7449474" cy="34861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3000" u="none" cap="none" strike="noStrike">
                <a:solidFill>
                  <a:srgbClr val="FFFFFF"/>
                </a:solidFill>
                <a:latin typeface="Poppins"/>
                <a:ea typeface="Poppins"/>
                <a:cs typeface="Poppins"/>
                <a:sym typeface="Poppins"/>
              </a:rPr>
              <a:t>Estos sistemas cuentan con un repositorio central que almacena todas las versiones y cambios. En este modelo, cada usuario trabaja con su propia copia local de los archivos, pero las actualizaciones y cambios se registran en un servidor central.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458BE"/>
        </a:solidFill>
      </p:bgPr>
    </p:bg>
    <p:spTree>
      <p:nvGrpSpPr>
        <p:cNvPr id="280" name="Shape 280"/>
        <p:cNvGrpSpPr/>
        <p:nvPr/>
      </p:nvGrpSpPr>
      <p:grpSpPr>
        <a:xfrm>
          <a:off x="0" y="0"/>
          <a:ext cx="0" cy="0"/>
          <a:chOff x="0" y="0"/>
          <a:chExt cx="0" cy="0"/>
        </a:xfrm>
      </p:grpSpPr>
      <p:sp>
        <p:nvSpPr>
          <p:cNvPr id="281" name="Google Shape;281;p11"/>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000000">
              <a:alpha val="48235"/>
            </a:srgbClr>
          </a:solidFill>
          <a:ln>
            <a:noFill/>
          </a:ln>
        </p:spPr>
      </p:sp>
      <p:sp>
        <p:nvSpPr>
          <p:cNvPr id="282" name="Google Shape;282;p11"/>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83" name="Google Shape;283;p11"/>
          <p:cNvGrpSpPr/>
          <p:nvPr/>
        </p:nvGrpSpPr>
        <p:grpSpPr>
          <a:xfrm rot="9869556">
            <a:off x="14431083" y="6569611"/>
            <a:ext cx="6482297" cy="6762426"/>
            <a:chOff x="0" y="0"/>
            <a:chExt cx="8643063" cy="9016568"/>
          </a:xfrm>
        </p:grpSpPr>
        <p:sp>
          <p:nvSpPr>
            <p:cNvPr id="284" name="Google Shape;284;p11"/>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85" name="Google Shape;285;p11"/>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86" name="Google Shape;286;p11"/>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87" name="Google Shape;287;p11"/>
          <p:cNvSpPr/>
          <p:nvPr/>
        </p:nvSpPr>
        <p:spPr>
          <a:xfrm>
            <a:off x="395680" y="1372445"/>
            <a:ext cx="6300971" cy="7546073"/>
          </a:xfrm>
          <a:custGeom>
            <a:rect b="b" l="l" r="r" t="t"/>
            <a:pathLst>
              <a:path extrusionOk="0" h="7546073" w="6300971">
                <a:moveTo>
                  <a:pt x="0" y="0"/>
                </a:moveTo>
                <a:lnTo>
                  <a:pt x="6300971" y="0"/>
                </a:lnTo>
                <a:lnTo>
                  <a:pt x="6300971" y="7546073"/>
                </a:lnTo>
                <a:lnTo>
                  <a:pt x="0" y="7546073"/>
                </a:lnTo>
                <a:lnTo>
                  <a:pt x="0" y="0"/>
                </a:lnTo>
                <a:close/>
              </a:path>
            </a:pathLst>
          </a:custGeom>
          <a:blipFill rotWithShape="1">
            <a:blip r:embed="rId7">
              <a:alphaModFix/>
            </a:blip>
            <a:stretch>
              <a:fillRect b="0" l="0" r="0" t="0"/>
            </a:stretch>
          </a:blipFill>
          <a:ln>
            <a:noFill/>
          </a:ln>
        </p:spPr>
      </p:sp>
      <p:sp>
        <p:nvSpPr>
          <p:cNvPr id="288" name="Google Shape;288;p11"/>
          <p:cNvSpPr txBox="1"/>
          <p:nvPr/>
        </p:nvSpPr>
        <p:spPr>
          <a:xfrm>
            <a:off x="4754706" y="971550"/>
            <a:ext cx="14483375" cy="1508752"/>
          </a:xfrm>
          <a:prstGeom prst="rect">
            <a:avLst/>
          </a:prstGeom>
          <a:noFill/>
          <a:ln>
            <a:noFill/>
          </a:ln>
        </p:spPr>
        <p:txBody>
          <a:bodyPr anchorCtr="0" anchor="t" bIns="0" lIns="0" spcFirstLastPara="1" rIns="0" wrap="square" tIns="0">
            <a:spAutoFit/>
          </a:bodyPr>
          <a:lstStyle/>
          <a:p>
            <a:pPr indent="0" lvl="0" marL="0" marR="0" rtl="0" algn="ctr">
              <a:lnSpc>
                <a:spcPct val="119987"/>
              </a:lnSpc>
              <a:spcBef>
                <a:spcPts val="0"/>
              </a:spcBef>
              <a:spcAft>
                <a:spcPts val="0"/>
              </a:spcAft>
              <a:buNone/>
            </a:pPr>
            <a:r>
              <a:rPr b="1" i="0" lang="en-US" sz="4838" u="none" cap="none" strike="noStrike">
                <a:solidFill>
                  <a:srgbClr val="FFFFFF"/>
                </a:solidFill>
                <a:latin typeface="Poppins"/>
                <a:ea typeface="Poppins"/>
                <a:cs typeface="Poppins"/>
                <a:sym typeface="Poppins"/>
              </a:rPr>
              <a:t>Sistemas de Control de Versiones </a:t>
            </a:r>
            <a:endParaRPr/>
          </a:p>
          <a:p>
            <a:pPr indent="0" lvl="0" marL="0" marR="0" rtl="0" algn="ctr">
              <a:lnSpc>
                <a:spcPct val="119987"/>
              </a:lnSpc>
              <a:spcBef>
                <a:spcPts val="0"/>
              </a:spcBef>
              <a:spcAft>
                <a:spcPts val="0"/>
              </a:spcAft>
              <a:buNone/>
            </a:pPr>
            <a:r>
              <a:rPr b="1" i="0" lang="en-US" sz="4838" u="none" cap="none" strike="noStrike">
                <a:solidFill>
                  <a:srgbClr val="FFFFFF"/>
                </a:solidFill>
                <a:latin typeface="Poppins"/>
                <a:ea typeface="Poppins"/>
                <a:cs typeface="Poppins"/>
                <a:sym typeface="Poppins"/>
              </a:rPr>
              <a:t>Distribuido</a:t>
            </a:r>
            <a:endParaRPr/>
          </a:p>
        </p:txBody>
      </p:sp>
      <p:sp>
        <p:nvSpPr>
          <p:cNvPr id="289" name="Google Shape;289;p11"/>
          <p:cNvSpPr txBox="1"/>
          <p:nvPr/>
        </p:nvSpPr>
        <p:spPr>
          <a:xfrm>
            <a:off x="7624725" y="4095446"/>
            <a:ext cx="10047506" cy="3413760"/>
          </a:xfrm>
          <a:prstGeom prst="rect">
            <a:avLst/>
          </a:prstGeom>
          <a:noFill/>
          <a:ln>
            <a:noFill/>
          </a:ln>
        </p:spPr>
        <p:txBody>
          <a:bodyPr anchorCtr="0" anchor="t" bIns="0" lIns="0" spcFirstLastPara="1" rIns="0" wrap="square" tIns="0">
            <a:spAutoFit/>
          </a:bodyPr>
          <a:lstStyle/>
          <a:p>
            <a:pPr indent="0" lvl="0" marL="0" marR="0" rtl="0" algn="just">
              <a:lnSpc>
                <a:spcPct val="129000"/>
              </a:lnSpc>
              <a:spcBef>
                <a:spcPts val="0"/>
              </a:spcBef>
              <a:spcAft>
                <a:spcPts val="0"/>
              </a:spcAft>
              <a:buNone/>
            </a:pPr>
            <a:r>
              <a:rPr b="0" i="0" lang="en-US" sz="3000" u="none" cap="none" strike="noStrike">
                <a:solidFill>
                  <a:srgbClr val="FFFFFF"/>
                </a:solidFill>
                <a:latin typeface="Poppins"/>
                <a:ea typeface="Poppins"/>
                <a:cs typeface="Poppins"/>
                <a:sym typeface="Poppins"/>
              </a:rPr>
              <a:t>Los desarrolladores pueden trabajar de manera independiente en sus copias locales, realizar cambios, y después compartir esos cambios con otros usuarios a través de la red. Esto permite una mayor flexibilidad y autonomía en el desarrollo, ya que cada copia local es una entidad autónoma con su historial completo de versiones.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2"/>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
        <p:nvSpPr>
          <p:cNvPr id="295" name="Google Shape;295;p12"/>
          <p:cNvSpPr txBox="1"/>
          <p:nvPr/>
        </p:nvSpPr>
        <p:spPr>
          <a:xfrm>
            <a:off x="4420707" y="3860833"/>
            <a:ext cx="8703000" cy="5238900"/>
          </a:xfrm>
          <a:prstGeom prst="rect">
            <a:avLst/>
          </a:prstGeom>
          <a:noFill/>
          <a:ln>
            <a:noFill/>
          </a:ln>
        </p:spPr>
        <p:txBody>
          <a:bodyPr anchorCtr="0" anchor="t" bIns="0" lIns="0" spcFirstLastPara="1" rIns="0" wrap="square" tIns="0">
            <a:spAutoFit/>
          </a:bodyPr>
          <a:lstStyle/>
          <a:p>
            <a:pPr indent="-340217" lvl="1" marL="680435" marR="0" rtl="0" algn="l">
              <a:lnSpc>
                <a:spcPct val="140019"/>
              </a:lnSpc>
              <a:spcBef>
                <a:spcPts val="0"/>
              </a:spcBef>
              <a:spcAft>
                <a:spcPts val="0"/>
              </a:spcAft>
              <a:buClr>
                <a:srgbClr val="131416"/>
              </a:buClr>
              <a:buSzPts val="3151"/>
              <a:buFont typeface="Arial"/>
              <a:buChar char="•"/>
            </a:pPr>
            <a:r>
              <a:rPr lang="en-US" sz="3151">
                <a:solidFill>
                  <a:srgbClr val="131416"/>
                </a:solidFill>
              </a:rPr>
              <a:t>Versiones</a:t>
            </a:r>
            <a:r>
              <a:rPr b="0" i="0" lang="en-US" sz="3151" u="none" cap="none" strike="noStrike">
                <a:solidFill>
                  <a:srgbClr val="131416"/>
                </a:solidFill>
                <a:latin typeface="Arial"/>
                <a:ea typeface="Arial"/>
                <a:cs typeface="Arial"/>
                <a:sym typeface="Arial"/>
              </a:rPr>
              <a:t>: llevar un historial claro y ordenado nos ayuda a tener un mejor control de nuestro </a:t>
            </a:r>
            <a:r>
              <a:rPr lang="en-US" sz="3151">
                <a:solidFill>
                  <a:srgbClr val="131416"/>
                </a:solidFill>
              </a:rPr>
              <a:t>código</a:t>
            </a:r>
            <a:endParaRPr/>
          </a:p>
          <a:p>
            <a:pPr indent="-140128" lvl="1" marL="680435" marR="0" rtl="0" algn="l">
              <a:lnSpc>
                <a:spcPct val="140019"/>
              </a:lnSpc>
              <a:spcBef>
                <a:spcPts val="0"/>
              </a:spcBef>
              <a:spcAft>
                <a:spcPts val="0"/>
              </a:spcAft>
              <a:buClr>
                <a:schemeClr val="dk1"/>
              </a:buClr>
              <a:buSzPts val="3151"/>
              <a:buFont typeface="Arial"/>
              <a:buNone/>
            </a:pPr>
            <a:r>
              <a:t/>
            </a:r>
            <a:endParaRPr b="0" i="0" sz="3151" u="none" cap="none" strike="noStrike">
              <a:solidFill>
                <a:srgbClr val="131416"/>
              </a:solidFill>
              <a:latin typeface="Arial"/>
              <a:ea typeface="Arial"/>
              <a:cs typeface="Arial"/>
              <a:sym typeface="Arial"/>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Repositorios: Dependiendo nuestra necesidad y tipo de negocio se puede implementar un local, centralizado o distribuido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3"/>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RESPETO</a:t>
            </a:r>
            <a:endParaRPr/>
          </a:p>
        </p:txBody>
      </p:sp>
      <p:sp>
        <p:nvSpPr>
          <p:cNvPr id="301" name="Google Shape;301;p13"/>
          <p:cNvSpPr txBox="1"/>
          <p:nvPr/>
        </p:nvSpPr>
        <p:spPr>
          <a:xfrm>
            <a:off x="1924565" y="2078376"/>
            <a:ext cx="15097684" cy="661602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"Imagina que trabajas en equipo y uno de tus compañeros pasó horas corrigiendo errores y mejorando una parte del código. Si tú llegas y subes una versión sin revisar los cambios previos, o sobrescribes su trabajo sin avisar, estás faltando al respeto a su esfuerzo y al trabajo en equipo.</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Usar bien un sistema de control de versiones no solo es cuestión técnica, también es una forma de mostrar respeto: respetas el tiempo de los demás, su conocimiento, y la colaboración. Usar 'pull requests', comentar tus cambios, revisar lo que otros hicieron antes de modificar, son actos de cortesía profesional que demuestran respeto."</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4"/>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307" name="Google Shape;307;p14"/>
          <p:cNvSpPr txBox="1"/>
          <p:nvPr/>
        </p:nvSpPr>
        <p:spPr>
          <a:xfrm>
            <a:off x="1602084" y="2220684"/>
            <a:ext cx="15437494" cy="1091524"/>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0" i="0" lang="en-US" sz="3151" u="sng" cap="none" strike="noStrike">
                <a:solidFill>
                  <a:srgbClr val="131416"/>
                </a:solidFill>
                <a:latin typeface="Arial"/>
                <a:ea typeface="Arial"/>
                <a:cs typeface="Arial"/>
                <a:sym typeface="Arial"/>
                <a:hlinkClick r:id="rId3">
                  <a:extLst>
                    <a:ext uri="{A12FA001-AC4F-418D-AE19-62706E023703}">
                      <ahyp:hlinkClr val="tx"/>
                    </a:ext>
                  </a:extLst>
                </a:hlinkClick>
              </a:rPr>
              <a:t>https://git-scm.com/book/es/v2/Inicio---Sobre-el-Control-de-Versiones-Acerca-del-Control-de-Versiones</a:t>
            </a:r>
            <a:endParaRPr/>
          </a:p>
        </p:txBody>
      </p:sp>
      <p:sp>
        <p:nvSpPr>
          <p:cNvPr id="308" name="Google Shape;308;p14"/>
          <p:cNvSpPr txBox="1"/>
          <p:nvPr/>
        </p:nvSpPr>
        <p:spPr>
          <a:xfrm>
            <a:off x="1602084" y="3951598"/>
            <a:ext cx="10873383" cy="539115"/>
          </a:xfrm>
          <a:prstGeom prst="rect">
            <a:avLst/>
          </a:prstGeom>
          <a:noFill/>
          <a:ln>
            <a:noFill/>
          </a:ln>
        </p:spPr>
        <p:txBody>
          <a:bodyPr anchorCtr="0" anchor="t" bIns="0" lIns="0" spcFirstLastPara="1" rIns="0" wrap="square" tIns="0">
            <a:spAutoFit/>
          </a:bodyPr>
          <a:lstStyle/>
          <a:p>
            <a:pPr indent="0" lvl="0" marL="0" marR="0" rtl="0" algn="l">
              <a:lnSpc>
                <a:spcPct val="139968"/>
              </a:lnSpc>
              <a:spcBef>
                <a:spcPts val="0"/>
              </a:spcBef>
              <a:spcAft>
                <a:spcPts val="0"/>
              </a:spcAft>
              <a:buNone/>
            </a:pPr>
            <a:r>
              <a:rPr b="0" i="0" lang="en-US" sz="3150" u="sng" cap="none" strike="noStrike">
                <a:solidFill>
                  <a:srgbClr val="131416"/>
                </a:solidFill>
                <a:latin typeface="Arial"/>
                <a:ea typeface="Arial"/>
                <a:cs typeface="Arial"/>
                <a:sym typeface="Arial"/>
                <a:hlinkClick r:id="rId4">
                  <a:extLst>
                    <a:ext uri="{A12FA001-AC4F-418D-AE19-62706E023703}">
                      <ahyp:hlinkClr val="tx"/>
                    </a:ext>
                  </a:extLst>
                </a:hlinkClick>
              </a:rPr>
              <a:t>https://unity.com/es/topics/what-is-version-control</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5"/>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314" name="Google Shape;314;p15"/>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315" name="Google Shape;315;p15"/>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316" name="Google Shape;316;p15"/>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