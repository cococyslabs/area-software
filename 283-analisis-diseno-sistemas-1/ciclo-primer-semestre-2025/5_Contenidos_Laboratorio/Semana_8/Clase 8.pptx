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Poppins"/>
      <p:bold r:id="rId27"/>
      <p:boldItalic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hvjYFwHbNRUeCH3vvOb61yTnLi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oppins-bold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ced96960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5ced96960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Burpsuit</a:t>
            </a:r>
            <a:endParaRPr/>
          </a:p>
        </p:txBody>
      </p:sp>
      <p:sp>
        <p:nvSpPr>
          <p:cNvPr id="229" name="Google Shape;2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1792288" y="612775"/>
            <a:ext cx="5486400" cy="4114800"/>
          </a:xfrm>
          <a:prstGeom prst="rect">
            <a:avLst/>
          </a:prstGeom>
          <a:noFill/>
          <a:ln>
            <a:noFill/>
          </a:ln>
        </p:spPr>
      </p:sp>
      <p:sp>
        <p:nvSpPr>
          <p:cNvPr id="64" name="Google Shape;64;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6.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15537"/>
        </a:solidFill>
      </p:bgPr>
    </p:bg>
    <p:spTree>
      <p:nvGrpSpPr>
        <p:cNvPr id="83" name="Shape 83"/>
        <p:cNvGrpSpPr/>
        <p:nvPr/>
      </p:nvGrpSpPr>
      <p:grpSpPr>
        <a:xfrm>
          <a:off x="0" y="0"/>
          <a:ext cx="0" cy="0"/>
          <a:chOff x="0" y="0"/>
          <a:chExt cx="0" cy="0"/>
        </a:xfrm>
      </p:grpSpPr>
      <p:grpSp>
        <p:nvGrpSpPr>
          <p:cNvPr id="84" name="Google Shape;84;p1"/>
          <p:cNvGrpSpPr/>
          <p:nvPr/>
        </p:nvGrpSpPr>
        <p:grpSpPr>
          <a:xfrm>
            <a:off x="-1226109" y="-48038"/>
            <a:ext cx="20740219" cy="10379739"/>
            <a:chOff x="0" y="0"/>
            <a:chExt cx="27653625" cy="13839651"/>
          </a:xfrm>
        </p:grpSpPr>
        <p:sp>
          <p:nvSpPr>
            <p:cNvPr id="85" name="Google Shape;85;p1"/>
            <p:cNvSpPr/>
            <p:nvPr/>
          </p:nvSpPr>
          <p:spPr>
            <a:xfrm>
              <a:off x="0" y="9217875"/>
              <a:ext cx="4621776" cy="4621776"/>
            </a:xfrm>
            <a:custGeom>
              <a:rect b="b" l="l" r="r" t="t"/>
              <a:pathLst>
                <a:path extrusionOk="0" h="4621776" w="4621776">
                  <a:moveTo>
                    <a:pt x="0" y="0"/>
                  </a:moveTo>
                  <a:lnTo>
                    <a:pt x="4621776" y="0"/>
                  </a:lnTo>
                  <a:lnTo>
                    <a:pt x="4621776" y="4621775"/>
                  </a:lnTo>
                  <a:lnTo>
                    <a:pt x="0" y="4621775"/>
                  </a:lnTo>
                  <a:lnTo>
                    <a:pt x="0" y="0"/>
                  </a:lnTo>
                  <a:close/>
                </a:path>
              </a:pathLst>
            </a:custGeom>
            <a:blipFill rotWithShape="1">
              <a:blip r:embed="rId3">
                <a:alphaModFix/>
              </a:blip>
              <a:stretch>
                <a:fillRect b="0" l="0" r="0" t="0"/>
              </a:stretch>
            </a:blipFill>
            <a:ln>
              <a:noFill/>
            </a:ln>
          </p:spPr>
        </p:sp>
        <p:sp>
          <p:nvSpPr>
            <p:cNvPr id="86" name="Google Shape;86;p1"/>
            <p:cNvSpPr/>
            <p:nvPr/>
          </p:nvSpPr>
          <p:spPr>
            <a:xfrm>
              <a:off x="4606370" y="9217875"/>
              <a:ext cx="4621776" cy="4621776"/>
            </a:xfrm>
            <a:custGeom>
              <a:rect b="b" l="l" r="r" t="t"/>
              <a:pathLst>
                <a:path extrusionOk="0" h="4621776" w="4621776">
                  <a:moveTo>
                    <a:pt x="0" y="0"/>
                  </a:moveTo>
                  <a:lnTo>
                    <a:pt x="4621775" y="0"/>
                  </a:lnTo>
                  <a:lnTo>
                    <a:pt x="4621775" y="4621775"/>
                  </a:lnTo>
                  <a:lnTo>
                    <a:pt x="0" y="4621775"/>
                  </a:lnTo>
                  <a:lnTo>
                    <a:pt x="0" y="0"/>
                  </a:lnTo>
                  <a:close/>
                </a:path>
              </a:pathLst>
            </a:custGeom>
            <a:blipFill rotWithShape="1">
              <a:blip r:embed="rId3">
                <a:alphaModFix/>
              </a:blip>
              <a:stretch>
                <a:fillRect b="0" l="0" r="0" t="0"/>
              </a:stretch>
            </a:blipFill>
            <a:ln>
              <a:noFill/>
            </a:ln>
          </p:spPr>
        </p:sp>
        <p:sp>
          <p:nvSpPr>
            <p:cNvPr id="87" name="Google Shape;87;p1"/>
            <p:cNvSpPr/>
            <p:nvPr/>
          </p:nvSpPr>
          <p:spPr>
            <a:xfrm>
              <a:off x="13819109" y="9217875"/>
              <a:ext cx="4621776" cy="4621776"/>
            </a:xfrm>
            <a:custGeom>
              <a:rect b="b" l="l" r="r" t="t"/>
              <a:pathLst>
                <a:path extrusionOk="0" h="4621776" w="4621776">
                  <a:moveTo>
                    <a:pt x="0" y="0"/>
                  </a:moveTo>
                  <a:lnTo>
                    <a:pt x="4621776" y="0"/>
                  </a:lnTo>
                  <a:lnTo>
                    <a:pt x="4621776" y="4621775"/>
                  </a:lnTo>
                  <a:lnTo>
                    <a:pt x="0" y="4621775"/>
                  </a:lnTo>
                  <a:lnTo>
                    <a:pt x="0" y="0"/>
                  </a:lnTo>
                  <a:close/>
                </a:path>
              </a:pathLst>
            </a:custGeom>
            <a:blipFill rotWithShape="1">
              <a:blip r:embed="rId3">
                <a:alphaModFix/>
              </a:blip>
              <a:stretch>
                <a:fillRect b="0" l="0" r="0" t="0"/>
              </a:stretch>
            </a:blipFill>
            <a:ln>
              <a:noFill/>
            </a:ln>
          </p:spPr>
        </p:sp>
        <p:sp>
          <p:nvSpPr>
            <p:cNvPr id="88" name="Google Shape;88;p1"/>
            <p:cNvSpPr/>
            <p:nvPr/>
          </p:nvSpPr>
          <p:spPr>
            <a:xfrm>
              <a:off x="9212739" y="9217875"/>
              <a:ext cx="4621776" cy="4621776"/>
            </a:xfrm>
            <a:custGeom>
              <a:rect b="b" l="l" r="r" t="t"/>
              <a:pathLst>
                <a:path extrusionOk="0" h="4621776" w="4621776">
                  <a:moveTo>
                    <a:pt x="0" y="0"/>
                  </a:moveTo>
                  <a:lnTo>
                    <a:pt x="4621776" y="0"/>
                  </a:lnTo>
                  <a:lnTo>
                    <a:pt x="4621776" y="4621775"/>
                  </a:lnTo>
                  <a:lnTo>
                    <a:pt x="0" y="4621775"/>
                  </a:lnTo>
                  <a:lnTo>
                    <a:pt x="0" y="0"/>
                  </a:lnTo>
                  <a:close/>
                </a:path>
              </a:pathLst>
            </a:custGeom>
            <a:blipFill rotWithShape="1">
              <a:blip r:embed="rId3">
                <a:alphaModFix/>
              </a:blip>
              <a:stretch>
                <a:fillRect b="0" l="0" r="0" t="0"/>
              </a:stretch>
            </a:blipFill>
            <a:ln>
              <a:noFill/>
            </a:ln>
          </p:spPr>
        </p:sp>
        <p:sp>
          <p:nvSpPr>
            <p:cNvPr id="89" name="Google Shape;89;p1"/>
            <p:cNvSpPr/>
            <p:nvPr/>
          </p:nvSpPr>
          <p:spPr>
            <a:xfrm>
              <a:off x="18425479" y="9217875"/>
              <a:ext cx="4621776" cy="4621776"/>
            </a:xfrm>
            <a:custGeom>
              <a:rect b="b" l="l" r="r" t="t"/>
              <a:pathLst>
                <a:path extrusionOk="0" h="4621776" w="4621776">
                  <a:moveTo>
                    <a:pt x="0" y="0"/>
                  </a:moveTo>
                  <a:lnTo>
                    <a:pt x="4621776" y="0"/>
                  </a:lnTo>
                  <a:lnTo>
                    <a:pt x="4621776" y="4621775"/>
                  </a:lnTo>
                  <a:lnTo>
                    <a:pt x="0" y="4621775"/>
                  </a:lnTo>
                  <a:lnTo>
                    <a:pt x="0" y="0"/>
                  </a:lnTo>
                  <a:close/>
                </a:path>
              </a:pathLst>
            </a:custGeom>
            <a:blipFill rotWithShape="1">
              <a:blip r:embed="rId3">
                <a:alphaModFix/>
              </a:blip>
              <a:stretch>
                <a:fillRect b="0" l="0" r="0" t="0"/>
              </a:stretch>
            </a:blipFill>
            <a:ln>
              <a:noFill/>
            </a:ln>
          </p:spPr>
        </p:sp>
        <p:sp>
          <p:nvSpPr>
            <p:cNvPr id="90" name="Google Shape;90;p1"/>
            <p:cNvSpPr/>
            <p:nvPr/>
          </p:nvSpPr>
          <p:spPr>
            <a:xfrm>
              <a:off x="23031849" y="9217875"/>
              <a:ext cx="4621776" cy="4621776"/>
            </a:xfrm>
            <a:custGeom>
              <a:rect b="b" l="l" r="r" t="t"/>
              <a:pathLst>
                <a:path extrusionOk="0" h="4621776" w="4621776">
                  <a:moveTo>
                    <a:pt x="0" y="0"/>
                  </a:moveTo>
                  <a:lnTo>
                    <a:pt x="4621775" y="0"/>
                  </a:lnTo>
                  <a:lnTo>
                    <a:pt x="4621775" y="4621775"/>
                  </a:lnTo>
                  <a:lnTo>
                    <a:pt x="0" y="4621775"/>
                  </a:lnTo>
                  <a:lnTo>
                    <a:pt x="0" y="0"/>
                  </a:lnTo>
                  <a:close/>
                </a:path>
              </a:pathLst>
            </a:custGeom>
            <a:blipFill rotWithShape="1">
              <a:blip r:embed="rId3">
                <a:alphaModFix/>
              </a:blip>
              <a:stretch>
                <a:fillRect b="0" l="0" r="0" t="0"/>
              </a:stretch>
            </a:blipFill>
            <a:ln>
              <a:noFill/>
            </a:ln>
          </p:spPr>
        </p:sp>
        <p:sp>
          <p:nvSpPr>
            <p:cNvPr id="91" name="Google Shape;91;p1"/>
            <p:cNvSpPr/>
            <p:nvPr/>
          </p:nvSpPr>
          <p:spPr>
            <a:xfrm>
              <a:off x="0" y="4608937"/>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92" name="Google Shape;92;p1"/>
            <p:cNvSpPr/>
            <p:nvPr/>
          </p:nvSpPr>
          <p:spPr>
            <a:xfrm>
              <a:off x="4606370" y="4608937"/>
              <a:ext cx="4621776" cy="4621776"/>
            </a:xfrm>
            <a:custGeom>
              <a:rect b="b" l="l" r="r" t="t"/>
              <a:pathLst>
                <a:path extrusionOk="0" h="4621776" w="4621776">
                  <a:moveTo>
                    <a:pt x="0" y="0"/>
                  </a:moveTo>
                  <a:lnTo>
                    <a:pt x="4621775" y="0"/>
                  </a:lnTo>
                  <a:lnTo>
                    <a:pt x="4621775" y="4621776"/>
                  </a:lnTo>
                  <a:lnTo>
                    <a:pt x="0" y="4621776"/>
                  </a:lnTo>
                  <a:lnTo>
                    <a:pt x="0" y="0"/>
                  </a:lnTo>
                  <a:close/>
                </a:path>
              </a:pathLst>
            </a:custGeom>
            <a:blipFill rotWithShape="1">
              <a:blip r:embed="rId3">
                <a:alphaModFix/>
              </a:blip>
              <a:stretch>
                <a:fillRect b="0" l="0" r="0" t="0"/>
              </a:stretch>
            </a:blipFill>
            <a:ln>
              <a:noFill/>
            </a:ln>
          </p:spPr>
        </p:sp>
        <p:sp>
          <p:nvSpPr>
            <p:cNvPr id="93" name="Google Shape;93;p1"/>
            <p:cNvSpPr/>
            <p:nvPr/>
          </p:nvSpPr>
          <p:spPr>
            <a:xfrm>
              <a:off x="13819109" y="4608937"/>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94" name="Google Shape;94;p1"/>
            <p:cNvSpPr/>
            <p:nvPr/>
          </p:nvSpPr>
          <p:spPr>
            <a:xfrm>
              <a:off x="9212739" y="4608937"/>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95" name="Google Shape;95;p1"/>
            <p:cNvSpPr/>
            <p:nvPr/>
          </p:nvSpPr>
          <p:spPr>
            <a:xfrm>
              <a:off x="18425479" y="4608937"/>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96" name="Google Shape;96;p1"/>
            <p:cNvSpPr/>
            <p:nvPr/>
          </p:nvSpPr>
          <p:spPr>
            <a:xfrm>
              <a:off x="23031849" y="4608937"/>
              <a:ext cx="4621776" cy="4621776"/>
            </a:xfrm>
            <a:custGeom>
              <a:rect b="b" l="l" r="r" t="t"/>
              <a:pathLst>
                <a:path extrusionOk="0" h="4621776" w="4621776">
                  <a:moveTo>
                    <a:pt x="0" y="0"/>
                  </a:moveTo>
                  <a:lnTo>
                    <a:pt x="4621775" y="0"/>
                  </a:lnTo>
                  <a:lnTo>
                    <a:pt x="4621775" y="4621776"/>
                  </a:lnTo>
                  <a:lnTo>
                    <a:pt x="0" y="4621776"/>
                  </a:lnTo>
                  <a:lnTo>
                    <a:pt x="0" y="0"/>
                  </a:lnTo>
                  <a:close/>
                </a:path>
              </a:pathLst>
            </a:custGeom>
            <a:blipFill rotWithShape="1">
              <a:blip r:embed="rId3">
                <a:alphaModFix/>
              </a:blip>
              <a:stretch>
                <a:fillRect b="0" l="0" r="0" t="0"/>
              </a:stretch>
            </a:blipFill>
            <a:ln>
              <a:noFill/>
            </a:ln>
          </p:spPr>
        </p:sp>
        <p:sp>
          <p:nvSpPr>
            <p:cNvPr id="97" name="Google Shape;97;p1"/>
            <p:cNvSpPr/>
            <p:nvPr/>
          </p:nvSpPr>
          <p:spPr>
            <a:xfrm>
              <a:off x="0" y="0"/>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98" name="Google Shape;98;p1"/>
            <p:cNvSpPr/>
            <p:nvPr/>
          </p:nvSpPr>
          <p:spPr>
            <a:xfrm>
              <a:off x="4606370" y="0"/>
              <a:ext cx="4621776" cy="4621776"/>
            </a:xfrm>
            <a:custGeom>
              <a:rect b="b" l="l" r="r" t="t"/>
              <a:pathLst>
                <a:path extrusionOk="0" h="4621776" w="4621776">
                  <a:moveTo>
                    <a:pt x="0" y="0"/>
                  </a:moveTo>
                  <a:lnTo>
                    <a:pt x="4621775" y="0"/>
                  </a:lnTo>
                  <a:lnTo>
                    <a:pt x="4621775" y="4621776"/>
                  </a:lnTo>
                  <a:lnTo>
                    <a:pt x="0" y="4621776"/>
                  </a:lnTo>
                  <a:lnTo>
                    <a:pt x="0" y="0"/>
                  </a:lnTo>
                  <a:close/>
                </a:path>
              </a:pathLst>
            </a:custGeom>
            <a:blipFill rotWithShape="1">
              <a:blip r:embed="rId3">
                <a:alphaModFix/>
              </a:blip>
              <a:stretch>
                <a:fillRect b="0" l="0" r="0" t="0"/>
              </a:stretch>
            </a:blipFill>
            <a:ln>
              <a:noFill/>
            </a:ln>
          </p:spPr>
        </p:sp>
        <p:sp>
          <p:nvSpPr>
            <p:cNvPr id="99" name="Google Shape;99;p1"/>
            <p:cNvSpPr/>
            <p:nvPr/>
          </p:nvSpPr>
          <p:spPr>
            <a:xfrm>
              <a:off x="13819109" y="0"/>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100" name="Google Shape;100;p1"/>
            <p:cNvSpPr/>
            <p:nvPr/>
          </p:nvSpPr>
          <p:spPr>
            <a:xfrm>
              <a:off x="9212739" y="0"/>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101" name="Google Shape;101;p1"/>
            <p:cNvSpPr/>
            <p:nvPr/>
          </p:nvSpPr>
          <p:spPr>
            <a:xfrm>
              <a:off x="18425479" y="0"/>
              <a:ext cx="4621776" cy="4621776"/>
            </a:xfrm>
            <a:custGeom>
              <a:rect b="b" l="l" r="r" t="t"/>
              <a:pathLst>
                <a:path extrusionOk="0" h="4621776" w="4621776">
                  <a:moveTo>
                    <a:pt x="0" y="0"/>
                  </a:moveTo>
                  <a:lnTo>
                    <a:pt x="4621776" y="0"/>
                  </a:lnTo>
                  <a:lnTo>
                    <a:pt x="4621776" y="4621776"/>
                  </a:lnTo>
                  <a:lnTo>
                    <a:pt x="0" y="4621776"/>
                  </a:lnTo>
                  <a:lnTo>
                    <a:pt x="0" y="0"/>
                  </a:lnTo>
                  <a:close/>
                </a:path>
              </a:pathLst>
            </a:custGeom>
            <a:blipFill rotWithShape="1">
              <a:blip r:embed="rId3">
                <a:alphaModFix/>
              </a:blip>
              <a:stretch>
                <a:fillRect b="0" l="0" r="0" t="0"/>
              </a:stretch>
            </a:blipFill>
            <a:ln>
              <a:noFill/>
            </a:ln>
          </p:spPr>
        </p:sp>
        <p:sp>
          <p:nvSpPr>
            <p:cNvPr id="102" name="Google Shape;102;p1"/>
            <p:cNvSpPr/>
            <p:nvPr/>
          </p:nvSpPr>
          <p:spPr>
            <a:xfrm>
              <a:off x="23031849" y="0"/>
              <a:ext cx="4621776" cy="4621776"/>
            </a:xfrm>
            <a:custGeom>
              <a:rect b="b" l="l" r="r" t="t"/>
              <a:pathLst>
                <a:path extrusionOk="0" h="4621776" w="4621776">
                  <a:moveTo>
                    <a:pt x="0" y="0"/>
                  </a:moveTo>
                  <a:lnTo>
                    <a:pt x="4621775" y="0"/>
                  </a:lnTo>
                  <a:lnTo>
                    <a:pt x="4621775" y="4621776"/>
                  </a:lnTo>
                  <a:lnTo>
                    <a:pt x="0" y="4621776"/>
                  </a:lnTo>
                  <a:lnTo>
                    <a:pt x="0" y="0"/>
                  </a:lnTo>
                  <a:close/>
                </a:path>
              </a:pathLst>
            </a:custGeom>
            <a:blipFill rotWithShape="1">
              <a:blip r:embed="rId3">
                <a:alphaModFix/>
              </a:blip>
              <a:stretch>
                <a:fillRect b="0" l="0" r="0" t="0"/>
              </a:stretch>
            </a:blipFill>
            <a:ln>
              <a:noFill/>
            </a:ln>
          </p:spPr>
        </p:sp>
      </p:grpSp>
      <p:sp>
        <p:nvSpPr>
          <p:cNvPr id="103" name="Google Shape;103;p1"/>
          <p:cNvSpPr/>
          <p:nvPr/>
        </p:nvSpPr>
        <p:spPr>
          <a:xfrm>
            <a:off x="845914" y="2019238"/>
            <a:ext cx="2775690" cy="2775690"/>
          </a:xfrm>
          <a:custGeom>
            <a:rect b="b" l="l" r="r" t="t"/>
            <a:pathLst>
              <a:path extrusionOk="0" h="2775690" w="2775690">
                <a:moveTo>
                  <a:pt x="0" y="0"/>
                </a:moveTo>
                <a:lnTo>
                  <a:pt x="2775690" y="0"/>
                </a:lnTo>
                <a:lnTo>
                  <a:pt x="2775690" y="2775690"/>
                </a:lnTo>
                <a:lnTo>
                  <a:pt x="0" y="2775690"/>
                </a:lnTo>
                <a:lnTo>
                  <a:pt x="0" y="0"/>
                </a:lnTo>
                <a:close/>
              </a:path>
            </a:pathLst>
          </a:custGeom>
          <a:blipFill rotWithShape="1">
            <a:blip r:embed="rId4">
              <a:alphaModFix/>
            </a:blip>
            <a:stretch>
              <a:fillRect b="0" l="0" r="0" t="0"/>
            </a:stretch>
          </a:blipFill>
          <a:ln>
            <a:noFill/>
          </a:ln>
        </p:spPr>
      </p:sp>
      <p:grpSp>
        <p:nvGrpSpPr>
          <p:cNvPr id="104" name="Google Shape;104;p1"/>
          <p:cNvGrpSpPr/>
          <p:nvPr/>
        </p:nvGrpSpPr>
        <p:grpSpPr>
          <a:xfrm>
            <a:off x="4997932" y="516118"/>
            <a:ext cx="11059430" cy="6398923"/>
            <a:chOff x="0" y="0"/>
            <a:chExt cx="221281923" cy="128032470"/>
          </a:xfrm>
        </p:grpSpPr>
        <p:sp>
          <p:nvSpPr>
            <p:cNvPr id="105" name="Google Shape;105;p1"/>
            <p:cNvSpPr/>
            <p:nvPr/>
          </p:nvSpPr>
          <p:spPr>
            <a:xfrm>
              <a:off x="72390" y="72390"/>
              <a:ext cx="221137153" cy="127887688"/>
            </a:xfrm>
            <a:custGeom>
              <a:rect b="b" l="l" r="r" t="t"/>
              <a:pathLst>
                <a:path extrusionOk="0" h="127887688" w="221137153">
                  <a:moveTo>
                    <a:pt x="0" y="0"/>
                  </a:moveTo>
                  <a:lnTo>
                    <a:pt x="221137153" y="0"/>
                  </a:lnTo>
                  <a:lnTo>
                    <a:pt x="221137153" y="127887688"/>
                  </a:lnTo>
                  <a:lnTo>
                    <a:pt x="0" y="127887688"/>
                  </a:lnTo>
                  <a:lnTo>
                    <a:pt x="0" y="0"/>
                  </a:lnTo>
                  <a:close/>
                </a:path>
              </a:pathLst>
            </a:custGeom>
            <a:solidFill>
              <a:srgbClr val="E15537"/>
            </a:solidFill>
            <a:ln>
              <a:noFill/>
            </a:ln>
          </p:spPr>
        </p:sp>
        <p:sp>
          <p:nvSpPr>
            <p:cNvPr id="106" name="Google Shape;106;p1"/>
            <p:cNvSpPr/>
            <p:nvPr/>
          </p:nvSpPr>
          <p:spPr>
            <a:xfrm>
              <a:off x="0" y="0"/>
              <a:ext cx="221281923" cy="128032470"/>
            </a:xfrm>
            <a:custGeom>
              <a:rect b="b" l="l" r="r" t="t"/>
              <a:pathLst>
                <a:path extrusionOk="0" h="128032470" w="221281923">
                  <a:moveTo>
                    <a:pt x="221137138" y="127887685"/>
                  </a:moveTo>
                  <a:lnTo>
                    <a:pt x="221281923" y="127887685"/>
                  </a:lnTo>
                  <a:lnTo>
                    <a:pt x="221281923" y="128032470"/>
                  </a:lnTo>
                  <a:lnTo>
                    <a:pt x="221137138" y="128032470"/>
                  </a:lnTo>
                  <a:lnTo>
                    <a:pt x="221137138" y="127887685"/>
                  </a:lnTo>
                  <a:close/>
                  <a:moveTo>
                    <a:pt x="0" y="144780"/>
                  </a:moveTo>
                  <a:lnTo>
                    <a:pt x="144780" y="144780"/>
                  </a:lnTo>
                  <a:lnTo>
                    <a:pt x="144780" y="127887685"/>
                  </a:lnTo>
                  <a:lnTo>
                    <a:pt x="0" y="127887685"/>
                  </a:lnTo>
                  <a:lnTo>
                    <a:pt x="0" y="144780"/>
                  </a:lnTo>
                  <a:close/>
                  <a:moveTo>
                    <a:pt x="0" y="127887685"/>
                  </a:moveTo>
                  <a:lnTo>
                    <a:pt x="144780" y="127887685"/>
                  </a:lnTo>
                  <a:lnTo>
                    <a:pt x="144780" y="128032470"/>
                  </a:lnTo>
                  <a:lnTo>
                    <a:pt x="0" y="128032470"/>
                  </a:lnTo>
                  <a:lnTo>
                    <a:pt x="0" y="127887685"/>
                  </a:lnTo>
                  <a:close/>
                  <a:moveTo>
                    <a:pt x="221137138" y="144780"/>
                  </a:moveTo>
                  <a:lnTo>
                    <a:pt x="221281923" y="144780"/>
                  </a:lnTo>
                  <a:lnTo>
                    <a:pt x="221281923" y="127887685"/>
                  </a:lnTo>
                  <a:lnTo>
                    <a:pt x="221137138" y="127887685"/>
                  </a:lnTo>
                  <a:lnTo>
                    <a:pt x="221137138" y="144780"/>
                  </a:lnTo>
                  <a:close/>
                  <a:moveTo>
                    <a:pt x="144780" y="127887685"/>
                  </a:moveTo>
                  <a:lnTo>
                    <a:pt x="221137138" y="127887685"/>
                  </a:lnTo>
                  <a:lnTo>
                    <a:pt x="221137138" y="128032470"/>
                  </a:lnTo>
                  <a:lnTo>
                    <a:pt x="144780" y="128032470"/>
                  </a:lnTo>
                  <a:lnTo>
                    <a:pt x="144780" y="127887685"/>
                  </a:lnTo>
                  <a:close/>
                  <a:moveTo>
                    <a:pt x="221137138" y="0"/>
                  </a:moveTo>
                  <a:lnTo>
                    <a:pt x="221281923" y="0"/>
                  </a:lnTo>
                  <a:lnTo>
                    <a:pt x="221281923" y="144780"/>
                  </a:lnTo>
                  <a:lnTo>
                    <a:pt x="221137138" y="144780"/>
                  </a:lnTo>
                  <a:lnTo>
                    <a:pt x="221137138" y="0"/>
                  </a:lnTo>
                  <a:close/>
                  <a:moveTo>
                    <a:pt x="0" y="0"/>
                  </a:moveTo>
                  <a:lnTo>
                    <a:pt x="144780" y="0"/>
                  </a:lnTo>
                  <a:lnTo>
                    <a:pt x="144780" y="144780"/>
                  </a:lnTo>
                  <a:lnTo>
                    <a:pt x="0" y="144780"/>
                  </a:lnTo>
                  <a:lnTo>
                    <a:pt x="0" y="0"/>
                  </a:lnTo>
                  <a:close/>
                  <a:moveTo>
                    <a:pt x="144780" y="0"/>
                  </a:moveTo>
                  <a:lnTo>
                    <a:pt x="221137138" y="0"/>
                  </a:lnTo>
                  <a:lnTo>
                    <a:pt x="221137138" y="144780"/>
                  </a:lnTo>
                  <a:lnTo>
                    <a:pt x="144780" y="144780"/>
                  </a:lnTo>
                  <a:lnTo>
                    <a:pt x="144780" y="0"/>
                  </a:lnTo>
                  <a:close/>
                </a:path>
              </a:pathLst>
            </a:custGeom>
            <a:solidFill>
              <a:srgbClr val="292929"/>
            </a:solidFill>
            <a:ln>
              <a:noFill/>
            </a:ln>
          </p:spPr>
        </p:sp>
      </p:grpSp>
      <p:sp>
        <p:nvSpPr>
          <p:cNvPr id="107" name="Google Shape;107;p1"/>
          <p:cNvSpPr txBox="1"/>
          <p:nvPr/>
        </p:nvSpPr>
        <p:spPr>
          <a:xfrm>
            <a:off x="6460558" y="1420055"/>
            <a:ext cx="8134177" cy="458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0000" u="none" cap="none" strike="noStrike">
                <a:solidFill>
                  <a:srgbClr val="FFFFFF"/>
                </a:solidFill>
                <a:latin typeface="Arial"/>
                <a:ea typeface="Arial"/>
                <a:cs typeface="Arial"/>
                <a:sym typeface="Arial"/>
              </a:rPr>
              <a:t>Garantía de Calidad del Software</a:t>
            </a:r>
            <a:endParaRPr/>
          </a:p>
        </p:txBody>
      </p:sp>
      <p:sp>
        <p:nvSpPr>
          <p:cNvPr id="108" name="Google Shape;108;p1"/>
          <p:cNvSpPr txBox="1"/>
          <p:nvPr/>
        </p:nvSpPr>
        <p:spPr>
          <a:xfrm>
            <a:off x="1112976" y="2679372"/>
            <a:ext cx="2241567" cy="140779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FFF"/>
                </a:solidFill>
                <a:latin typeface="Arial"/>
                <a:ea typeface="Arial"/>
                <a:cs typeface="Arial"/>
                <a:sym typeface="Arial"/>
              </a:rPr>
              <a:t>Diseño y Desarrollo de Sistemas</a:t>
            </a:r>
            <a:endParaRPr/>
          </a:p>
        </p:txBody>
      </p:sp>
      <p:grpSp>
        <p:nvGrpSpPr>
          <p:cNvPr id="109" name="Google Shape;109;p1"/>
          <p:cNvGrpSpPr/>
          <p:nvPr/>
        </p:nvGrpSpPr>
        <p:grpSpPr>
          <a:xfrm>
            <a:off x="12551645" y="8251647"/>
            <a:ext cx="6119298" cy="2692909"/>
            <a:chOff x="0" y="0"/>
            <a:chExt cx="62797711" cy="27635284"/>
          </a:xfrm>
        </p:grpSpPr>
        <p:sp>
          <p:nvSpPr>
            <p:cNvPr id="110" name="Google Shape;110;p1"/>
            <p:cNvSpPr/>
            <p:nvPr/>
          </p:nvSpPr>
          <p:spPr>
            <a:xfrm>
              <a:off x="72390" y="72390"/>
              <a:ext cx="62652929" cy="27490504"/>
            </a:xfrm>
            <a:custGeom>
              <a:rect b="b" l="l" r="r" t="t"/>
              <a:pathLst>
                <a:path extrusionOk="0" h="27490504" w="62652929">
                  <a:moveTo>
                    <a:pt x="0" y="0"/>
                  </a:moveTo>
                  <a:lnTo>
                    <a:pt x="62652929" y="0"/>
                  </a:lnTo>
                  <a:lnTo>
                    <a:pt x="62652929" y="27490504"/>
                  </a:lnTo>
                  <a:lnTo>
                    <a:pt x="0" y="27490504"/>
                  </a:lnTo>
                  <a:lnTo>
                    <a:pt x="0" y="0"/>
                  </a:lnTo>
                  <a:close/>
                </a:path>
              </a:pathLst>
            </a:custGeom>
            <a:solidFill>
              <a:srgbClr val="E15537"/>
            </a:solidFill>
            <a:ln>
              <a:noFill/>
            </a:ln>
          </p:spPr>
        </p:sp>
        <p:sp>
          <p:nvSpPr>
            <p:cNvPr id="111" name="Google Shape;111;p1"/>
            <p:cNvSpPr/>
            <p:nvPr/>
          </p:nvSpPr>
          <p:spPr>
            <a:xfrm>
              <a:off x="0" y="0"/>
              <a:ext cx="62797711" cy="27635284"/>
            </a:xfrm>
            <a:custGeom>
              <a:rect b="b" l="l" r="r" t="t"/>
              <a:pathLst>
                <a:path extrusionOk="0" h="27635284" w="62797711">
                  <a:moveTo>
                    <a:pt x="62652926" y="27490505"/>
                  </a:moveTo>
                  <a:lnTo>
                    <a:pt x="62797711" y="27490505"/>
                  </a:lnTo>
                  <a:lnTo>
                    <a:pt x="62797711" y="27635284"/>
                  </a:lnTo>
                  <a:lnTo>
                    <a:pt x="62652926" y="27635284"/>
                  </a:lnTo>
                  <a:lnTo>
                    <a:pt x="62652926" y="27490505"/>
                  </a:lnTo>
                  <a:close/>
                  <a:moveTo>
                    <a:pt x="0" y="144780"/>
                  </a:moveTo>
                  <a:lnTo>
                    <a:pt x="144780" y="144780"/>
                  </a:lnTo>
                  <a:lnTo>
                    <a:pt x="144780" y="27490505"/>
                  </a:lnTo>
                  <a:lnTo>
                    <a:pt x="0" y="27490505"/>
                  </a:lnTo>
                  <a:lnTo>
                    <a:pt x="0" y="144780"/>
                  </a:lnTo>
                  <a:close/>
                  <a:moveTo>
                    <a:pt x="0" y="27490505"/>
                  </a:moveTo>
                  <a:lnTo>
                    <a:pt x="144780" y="27490505"/>
                  </a:lnTo>
                  <a:lnTo>
                    <a:pt x="144780" y="27635284"/>
                  </a:lnTo>
                  <a:lnTo>
                    <a:pt x="0" y="27635284"/>
                  </a:lnTo>
                  <a:lnTo>
                    <a:pt x="0" y="27490505"/>
                  </a:lnTo>
                  <a:close/>
                  <a:moveTo>
                    <a:pt x="62652926" y="144780"/>
                  </a:moveTo>
                  <a:lnTo>
                    <a:pt x="62797711" y="144780"/>
                  </a:lnTo>
                  <a:lnTo>
                    <a:pt x="62797711" y="27490505"/>
                  </a:lnTo>
                  <a:lnTo>
                    <a:pt x="62652926" y="27490505"/>
                  </a:lnTo>
                  <a:lnTo>
                    <a:pt x="62652926" y="144780"/>
                  </a:lnTo>
                  <a:close/>
                  <a:moveTo>
                    <a:pt x="144780" y="27490505"/>
                  </a:moveTo>
                  <a:lnTo>
                    <a:pt x="62652926" y="27490505"/>
                  </a:lnTo>
                  <a:lnTo>
                    <a:pt x="62652926" y="27635284"/>
                  </a:lnTo>
                  <a:lnTo>
                    <a:pt x="144780" y="27635284"/>
                  </a:lnTo>
                  <a:lnTo>
                    <a:pt x="144780" y="27490505"/>
                  </a:lnTo>
                  <a:close/>
                  <a:moveTo>
                    <a:pt x="62652926" y="0"/>
                  </a:moveTo>
                  <a:lnTo>
                    <a:pt x="62797711" y="0"/>
                  </a:lnTo>
                  <a:lnTo>
                    <a:pt x="62797711" y="144780"/>
                  </a:lnTo>
                  <a:lnTo>
                    <a:pt x="62652926" y="144780"/>
                  </a:lnTo>
                  <a:lnTo>
                    <a:pt x="62652926" y="0"/>
                  </a:lnTo>
                  <a:close/>
                  <a:moveTo>
                    <a:pt x="0" y="0"/>
                  </a:moveTo>
                  <a:lnTo>
                    <a:pt x="144780" y="0"/>
                  </a:lnTo>
                  <a:lnTo>
                    <a:pt x="144780" y="144780"/>
                  </a:lnTo>
                  <a:lnTo>
                    <a:pt x="0" y="144780"/>
                  </a:lnTo>
                  <a:lnTo>
                    <a:pt x="0" y="0"/>
                  </a:lnTo>
                  <a:close/>
                  <a:moveTo>
                    <a:pt x="144780" y="0"/>
                  </a:moveTo>
                  <a:lnTo>
                    <a:pt x="62652926" y="0"/>
                  </a:lnTo>
                  <a:lnTo>
                    <a:pt x="62652926" y="144780"/>
                  </a:lnTo>
                  <a:lnTo>
                    <a:pt x="144780" y="144780"/>
                  </a:lnTo>
                  <a:lnTo>
                    <a:pt x="144780" y="0"/>
                  </a:lnTo>
                  <a:close/>
                </a:path>
              </a:pathLst>
            </a:custGeom>
            <a:solidFill>
              <a:srgbClr val="292929"/>
            </a:solidFill>
            <a:ln>
              <a:noFill/>
            </a:ln>
          </p:spPr>
        </p:sp>
      </p:grpSp>
      <p:sp>
        <p:nvSpPr>
          <p:cNvPr id="112" name="Google Shape;112;p1"/>
          <p:cNvSpPr txBox="1"/>
          <p:nvPr/>
        </p:nvSpPr>
        <p:spPr>
          <a:xfrm>
            <a:off x="12325612" y="8503920"/>
            <a:ext cx="6345332" cy="147066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Universidad de San Carlos de Guatemala</a:t>
            </a:r>
            <a:endParaRPr/>
          </a:p>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Escuela de Ingenieria de Ciencias Y Sistemas</a:t>
            </a:r>
            <a:endParaRPr/>
          </a:p>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Facultad de Ingenieria</a:t>
            </a:r>
            <a:endParaRPr/>
          </a:p>
          <a:p>
            <a:pPr indent="0" lvl="0" marL="0" marR="0" rtl="0" algn="ctr">
              <a:lnSpc>
                <a:spcPct val="140019"/>
              </a:lnSpc>
              <a:spcBef>
                <a:spcPts val="0"/>
              </a:spcBef>
              <a:spcAft>
                <a:spcPts val="0"/>
              </a:spcAft>
              <a:buNone/>
            </a:pPr>
            <a:r>
              <a:rPr b="0" i="0" lang="en-US" sz="2099" u="none" cap="none" strike="noStrike">
                <a:solidFill>
                  <a:srgbClr val="FFFFFF"/>
                </a:solidFill>
                <a:latin typeface="Arial"/>
                <a:ea typeface="Arial"/>
                <a:cs typeface="Arial"/>
                <a:sym typeface="Arial"/>
              </a:rPr>
              <a:t>Análisis y Diseño de SIstemas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EB"/>
        </a:solidFill>
      </p:bgPr>
    </p:bg>
    <p:spTree>
      <p:nvGrpSpPr>
        <p:cNvPr id="116" name="Shape 116"/>
        <p:cNvGrpSpPr/>
        <p:nvPr/>
      </p:nvGrpSpPr>
      <p:grpSpPr>
        <a:xfrm>
          <a:off x="0" y="0"/>
          <a:ext cx="0" cy="0"/>
          <a:chOff x="0" y="0"/>
          <a:chExt cx="0" cy="0"/>
        </a:xfrm>
      </p:grpSpPr>
      <p:grpSp>
        <p:nvGrpSpPr>
          <p:cNvPr id="117" name="Google Shape;117;g35ced96960e_1_0"/>
          <p:cNvGrpSpPr/>
          <p:nvPr/>
        </p:nvGrpSpPr>
        <p:grpSpPr>
          <a:xfrm>
            <a:off x="2992215" y="3217004"/>
            <a:ext cx="12301395" cy="6169405"/>
            <a:chOff x="0" y="0"/>
            <a:chExt cx="63770842" cy="31982398"/>
          </a:xfrm>
        </p:grpSpPr>
        <p:sp>
          <p:nvSpPr>
            <p:cNvPr id="118" name="Google Shape;118;g35ced96960e_1_0"/>
            <p:cNvSpPr/>
            <p:nvPr/>
          </p:nvSpPr>
          <p:spPr>
            <a:xfrm>
              <a:off x="72390" y="72390"/>
              <a:ext cx="63626066" cy="31837619"/>
            </a:xfrm>
            <a:custGeom>
              <a:rect b="b" l="l" r="r" t="t"/>
              <a:pathLst>
                <a:path extrusionOk="0" h="31837619" w="63626066">
                  <a:moveTo>
                    <a:pt x="0" y="0"/>
                  </a:moveTo>
                  <a:lnTo>
                    <a:pt x="63626066" y="0"/>
                  </a:lnTo>
                  <a:lnTo>
                    <a:pt x="63626066" y="31837619"/>
                  </a:lnTo>
                  <a:lnTo>
                    <a:pt x="0" y="31837619"/>
                  </a:lnTo>
                  <a:lnTo>
                    <a:pt x="0" y="0"/>
                  </a:lnTo>
                  <a:close/>
                </a:path>
              </a:pathLst>
            </a:custGeom>
            <a:solidFill>
              <a:srgbClr val="FFFFFF"/>
            </a:solidFill>
            <a:ln>
              <a:noFill/>
            </a:ln>
          </p:spPr>
        </p:sp>
        <p:sp>
          <p:nvSpPr>
            <p:cNvPr id="119" name="Google Shape;119;g35ced96960e_1_0"/>
            <p:cNvSpPr/>
            <p:nvPr/>
          </p:nvSpPr>
          <p:spPr>
            <a:xfrm>
              <a:off x="0" y="0"/>
              <a:ext cx="63770842" cy="31982398"/>
            </a:xfrm>
            <a:custGeom>
              <a:rect b="b" l="l" r="r" t="t"/>
              <a:pathLst>
                <a:path extrusionOk="0" h="31982398" w="63770842">
                  <a:moveTo>
                    <a:pt x="63626064" y="31837619"/>
                  </a:moveTo>
                  <a:lnTo>
                    <a:pt x="63770842" y="31837619"/>
                  </a:lnTo>
                  <a:lnTo>
                    <a:pt x="63770842" y="31982398"/>
                  </a:lnTo>
                  <a:lnTo>
                    <a:pt x="63626064" y="31982398"/>
                  </a:lnTo>
                  <a:lnTo>
                    <a:pt x="63626064" y="31837619"/>
                  </a:lnTo>
                  <a:close/>
                  <a:moveTo>
                    <a:pt x="0" y="144780"/>
                  </a:moveTo>
                  <a:lnTo>
                    <a:pt x="144780" y="144780"/>
                  </a:lnTo>
                  <a:lnTo>
                    <a:pt x="144780" y="31837619"/>
                  </a:lnTo>
                  <a:lnTo>
                    <a:pt x="0" y="31837619"/>
                  </a:lnTo>
                  <a:lnTo>
                    <a:pt x="0" y="144780"/>
                  </a:lnTo>
                  <a:close/>
                  <a:moveTo>
                    <a:pt x="0" y="31837619"/>
                  </a:moveTo>
                  <a:lnTo>
                    <a:pt x="144780" y="31837619"/>
                  </a:lnTo>
                  <a:lnTo>
                    <a:pt x="144780" y="31982398"/>
                  </a:lnTo>
                  <a:lnTo>
                    <a:pt x="0" y="31982398"/>
                  </a:lnTo>
                  <a:lnTo>
                    <a:pt x="0" y="31837619"/>
                  </a:lnTo>
                  <a:close/>
                  <a:moveTo>
                    <a:pt x="63626064" y="144780"/>
                  </a:moveTo>
                  <a:lnTo>
                    <a:pt x="63770842" y="144780"/>
                  </a:lnTo>
                  <a:lnTo>
                    <a:pt x="63770842" y="31837619"/>
                  </a:lnTo>
                  <a:lnTo>
                    <a:pt x="63626064" y="31837619"/>
                  </a:lnTo>
                  <a:lnTo>
                    <a:pt x="63626064" y="144780"/>
                  </a:lnTo>
                  <a:close/>
                  <a:moveTo>
                    <a:pt x="144780" y="31837619"/>
                  </a:moveTo>
                  <a:lnTo>
                    <a:pt x="63626064" y="31837619"/>
                  </a:lnTo>
                  <a:lnTo>
                    <a:pt x="63626064" y="31982398"/>
                  </a:lnTo>
                  <a:lnTo>
                    <a:pt x="144780" y="31982398"/>
                  </a:lnTo>
                  <a:lnTo>
                    <a:pt x="144780" y="31837619"/>
                  </a:lnTo>
                  <a:close/>
                  <a:moveTo>
                    <a:pt x="63626064" y="0"/>
                  </a:moveTo>
                  <a:lnTo>
                    <a:pt x="63770842" y="0"/>
                  </a:lnTo>
                  <a:lnTo>
                    <a:pt x="63770842" y="144780"/>
                  </a:lnTo>
                  <a:lnTo>
                    <a:pt x="63626064" y="144780"/>
                  </a:lnTo>
                  <a:lnTo>
                    <a:pt x="63626064" y="0"/>
                  </a:lnTo>
                  <a:close/>
                  <a:moveTo>
                    <a:pt x="0" y="0"/>
                  </a:moveTo>
                  <a:lnTo>
                    <a:pt x="144780" y="0"/>
                  </a:lnTo>
                  <a:lnTo>
                    <a:pt x="144780" y="144780"/>
                  </a:lnTo>
                  <a:lnTo>
                    <a:pt x="0" y="144780"/>
                  </a:lnTo>
                  <a:lnTo>
                    <a:pt x="0" y="0"/>
                  </a:lnTo>
                  <a:close/>
                  <a:moveTo>
                    <a:pt x="144780" y="0"/>
                  </a:moveTo>
                  <a:lnTo>
                    <a:pt x="63626064" y="0"/>
                  </a:lnTo>
                  <a:lnTo>
                    <a:pt x="63626064" y="144780"/>
                  </a:lnTo>
                  <a:lnTo>
                    <a:pt x="144780" y="144780"/>
                  </a:lnTo>
                  <a:lnTo>
                    <a:pt x="144780" y="0"/>
                  </a:lnTo>
                  <a:close/>
                </a:path>
              </a:pathLst>
            </a:custGeom>
            <a:solidFill>
              <a:srgbClr val="292929"/>
            </a:solidFill>
            <a:ln>
              <a:noFill/>
            </a:ln>
          </p:spPr>
        </p:sp>
      </p:grpSp>
      <p:sp>
        <p:nvSpPr>
          <p:cNvPr id="120" name="Google Shape;120;g35ced96960e_1_0"/>
          <p:cNvSpPr txBox="1"/>
          <p:nvPr/>
        </p:nvSpPr>
        <p:spPr>
          <a:xfrm>
            <a:off x="3586620" y="5102101"/>
            <a:ext cx="11114700" cy="2092800"/>
          </a:xfrm>
          <a:prstGeom prst="rect">
            <a:avLst/>
          </a:prstGeom>
          <a:noFill/>
          <a:ln>
            <a:noFill/>
          </a:ln>
        </p:spPr>
        <p:txBody>
          <a:bodyPr anchorCtr="0" anchor="t" bIns="0" lIns="0" spcFirstLastPara="1" rIns="0" wrap="square" tIns="0">
            <a:spAutoFit/>
          </a:bodyPr>
          <a:lstStyle/>
          <a:p>
            <a:pPr indent="-482536" lvl="0" marL="457200" marR="0" rtl="0" algn="ctr">
              <a:lnSpc>
                <a:spcPct val="120005"/>
              </a:lnSpc>
              <a:spcBef>
                <a:spcPts val="0"/>
              </a:spcBef>
              <a:spcAft>
                <a:spcPts val="0"/>
              </a:spcAft>
              <a:buClr>
                <a:srgbClr val="292929"/>
              </a:buClr>
              <a:buSzPts val="3999"/>
              <a:buChar char="●"/>
            </a:pPr>
            <a:r>
              <a:rPr b="1" lang="en-US" sz="3999">
                <a:solidFill>
                  <a:srgbClr val="292929"/>
                </a:solidFill>
              </a:rPr>
              <a:t>Tarea 2 al finalizar el laboratorio</a:t>
            </a:r>
            <a:endParaRPr b="1" sz="3999">
              <a:solidFill>
                <a:srgbClr val="292929"/>
              </a:solidFill>
            </a:endParaRPr>
          </a:p>
          <a:p>
            <a:pPr indent="0" lvl="0" marL="457200" marR="0" rtl="0" algn="ctr">
              <a:lnSpc>
                <a:spcPct val="120005"/>
              </a:lnSpc>
              <a:spcBef>
                <a:spcPts val="0"/>
              </a:spcBef>
              <a:spcAft>
                <a:spcPts val="0"/>
              </a:spcAft>
              <a:buNone/>
            </a:pPr>
            <a:r>
              <a:t/>
            </a:r>
            <a:endParaRPr b="1" sz="3999">
              <a:solidFill>
                <a:srgbClr val="292929"/>
              </a:solidFill>
            </a:endParaRPr>
          </a:p>
          <a:p>
            <a:pPr indent="-482536" lvl="0" marL="457200" marR="0" rtl="0" algn="ctr">
              <a:lnSpc>
                <a:spcPct val="120005"/>
              </a:lnSpc>
              <a:spcBef>
                <a:spcPts val="0"/>
              </a:spcBef>
              <a:spcAft>
                <a:spcPts val="0"/>
              </a:spcAft>
              <a:buClr>
                <a:srgbClr val="292929"/>
              </a:buClr>
              <a:buSzPts val="3999"/>
              <a:buChar char="●"/>
            </a:pPr>
            <a:r>
              <a:rPr b="1" lang="en-US" sz="3999">
                <a:solidFill>
                  <a:srgbClr val="292929"/>
                </a:solidFill>
              </a:rPr>
              <a:t>Conferencia próximo laboratorio</a:t>
            </a:r>
            <a:endParaRPr b="1" sz="3999">
              <a:solidFill>
                <a:srgbClr val="292929"/>
              </a:solidFill>
            </a:endParaRPr>
          </a:p>
        </p:txBody>
      </p:sp>
      <p:sp>
        <p:nvSpPr>
          <p:cNvPr id="121" name="Google Shape;121;g35ced96960e_1_0"/>
          <p:cNvSpPr txBox="1"/>
          <p:nvPr/>
        </p:nvSpPr>
        <p:spPr>
          <a:xfrm>
            <a:off x="853544" y="697703"/>
            <a:ext cx="94545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lang="en-US" sz="4999">
                <a:solidFill>
                  <a:srgbClr val="292929"/>
                </a:solidFill>
              </a:rPr>
              <a:t>AGENDA</a:t>
            </a:r>
            <a:endParaRPr/>
          </a:p>
        </p:txBody>
      </p:sp>
      <p:cxnSp>
        <p:nvCxnSpPr>
          <p:cNvPr id="122" name="Google Shape;122;g35ced96960e_1_0"/>
          <p:cNvCxnSpPr/>
          <p:nvPr/>
        </p:nvCxnSpPr>
        <p:spPr>
          <a:xfrm>
            <a:off x="10536539" y="1989612"/>
            <a:ext cx="6818700" cy="0"/>
          </a:xfrm>
          <a:prstGeom prst="straightConnector1">
            <a:avLst/>
          </a:prstGeom>
          <a:noFill/>
          <a:ln cap="rnd" cmpd="sng" w="9525">
            <a:solidFill>
              <a:srgbClr val="292929"/>
            </a:solidFill>
            <a:prstDash val="solid"/>
            <a:round/>
            <a:headEnd len="sm" w="sm" type="none"/>
            <a:tailEnd len="sm" w="sm" type="none"/>
          </a:ln>
        </p:spPr>
      </p:cxnSp>
      <p:cxnSp>
        <p:nvCxnSpPr>
          <p:cNvPr id="123" name="Google Shape;123;g35ced96960e_1_0"/>
          <p:cNvCxnSpPr/>
          <p:nvPr/>
        </p:nvCxnSpPr>
        <p:spPr>
          <a:xfrm>
            <a:off x="10536539" y="1376951"/>
            <a:ext cx="6818700" cy="0"/>
          </a:xfrm>
          <a:prstGeom prst="straightConnector1">
            <a:avLst/>
          </a:prstGeom>
          <a:noFill/>
          <a:ln cap="rnd" cmpd="sng" w="9525">
            <a:solidFill>
              <a:srgbClr val="292929"/>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EB"/>
        </a:solidFill>
      </p:bgPr>
    </p:bg>
    <p:spTree>
      <p:nvGrpSpPr>
        <p:cNvPr id="127" name="Shape 127"/>
        <p:cNvGrpSpPr/>
        <p:nvPr/>
      </p:nvGrpSpPr>
      <p:grpSpPr>
        <a:xfrm>
          <a:off x="0" y="0"/>
          <a:ext cx="0" cy="0"/>
          <a:chOff x="0" y="0"/>
          <a:chExt cx="0" cy="0"/>
        </a:xfrm>
      </p:grpSpPr>
      <p:grpSp>
        <p:nvGrpSpPr>
          <p:cNvPr id="128" name="Google Shape;128;p2"/>
          <p:cNvGrpSpPr/>
          <p:nvPr/>
        </p:nvGrpSpPr>
        <p:grpSpPr>
          <a:xfrm>
            <a:off x="2992215" y="3217004"/>
            <a:ext cx="12303570" cy="6170495"/>
            <a:chOff x="0" y="0"/>
            <a:chExt cx="63770842" cy="31982398"/>
          </a:xfrm>
        </p:grpSpPr>
        <p:sp>
          <p:nvSpPr>
            <p:cNvPr id="129" name="Google Shape;129;p2"/>
            <p:cNvSpPr/>
            <p:nvPr/>
          </p:nvSpPr>
          <p:spPr>
            <a:xfrm>
              <a:off x="72390" y="72390"/>
              <a:ext cx="63626066" cy="31837619"/>
            </a:xfrm>
            <a:custGeom>
              <a:rect b="b" l="l" r="r" t="t"/>
              <a:pathLst>
                <a:path extrusionOk="0" h="31837619" w="63626066">
                  <a:moveTo>
                    <a:pt x="0" y="0"/>
                  </a:moveTo>
                  <a:lnTo>
                    <a:pt x="63626066" y="0"/>
                  </a:lnTo>
                  <a:lnTo>
                    <a:pt x="63626066" y="31837619"/>
                  </a:lnTo>
                  <a:lnTo>
                    <a:pt x="0" y="31837619"/>
                  </a:lnTo>
                  <a:lnTo>
                    <a:pt x="0" y="0"/>
                  </a:lnTo>
                  <a:close/>
                </a:path>
              </a:pathLst>
            </a:custGeom>
            <a:solidFill>
              <a:srgbClr val="FFFFFF"/>
            </a:solidFill>
            <a:ln>
              <a:noFill/>
            </a:ln>
          </p:spPr>
        </p:sp>
        <p:sp>
          <p:nvSpPr>
            <p:cNvPr id="130" name="Google Shape;130;p2"/>
            <p:cNvSpPr/>
            <p:nvPr/>
          </p:nvSpPr>
          <p:spPr>
            <a:xfrm>
              <a:off x="0" y="0"/>
              <a:ext cx="63770842" cy="31982398"/>
            </a:xfrm>
            <a:custGeom>
              <a:rect b="b" l="l" r="r" t="t"/>
              <a:pathLst>
                <a:path extrusionOk="0" h="31982398" w="63770842">
                  <a:moveTo>
                    <a:pt x="63626064" y="31837619"/>
                  </a:moveTo>
                  <a:lnTo>
                    <a:pt x="63770842" y="31837619"/>
                  </a:lnTo>
                  <a:lnTo>
                    <a:pt x="63770842" y="31982398"/>
                  </a:lnTo>
                  <a:lnTo>
                    <a:pt x="63626064" y="31982398"/>
                  </a:lnTo>
                  <a:lnTo>
                    <a:pt x="63626064" y="31837619"/>
                  </a:lnTo>
                  <a:close/>
                  <a:moveTo>
                    <a:pt x="0" y="144780"/>
                  </a:moveTo>
                  <a:lnTo>
                    <a:pt x="144780" y="144780"/>
                  </a:lnTo>
                  <a:lnTo>
                    <a:pt x="144780" y="31837619"/>
                  </a:lnTo>
                  <a:lnTo>
                    <a:pt x="0" y="31837619"/>
                  </a:lnTo>
                  <a:lnTo>
                    <a:pt x="0" y="144780"/>
                  </a:lnTo>
                  <a:close/>
                  <a:moveTo>
                    <a:pt x="0" y="31837619"/>
                  </a:moveTo>
                  <a:lnTo>
                    <a:pt x="144780" y="31837619"/>
                  </a:lnTo>
                  <a:lnTo>
                    <a:pt x="144780" y="31982398"/>
                  </a:lnTo>
                  <a:lnTo>
                    <a:pt x="0" y="31982398"/>
                  </a:lnTo>
                  <a:lnTo>
                    <a:pt x="0" y="31837619"/>
                  </a:lnTo>
                  <a:close/>
                  <a:moveTo>
                    <a:pt x="63626064" y="144780"/>
                  </a:moveTo>
                  <a:lnTo>
                    <a:pt x="63770842" y="144780"/>
                  </a:lnTo>
                  <a:lnTo>
                    <a:pt x="63770842" y="31837619"/>
                  </a:lnTo>
                  <a:lnTo>
                    <a:pt x="63626064" y="31837619"/>
                  </a:lnTo>
                  <a:lnTo>
                    <a:pt x="63626064" y="144780"/>
                  </a:lnTo>
                  <a:close/>
                  <a:moveTo>
                    <a:pt x="144780" y="31837619"/>
                  </a:moveTo>
                  <a:lnTo>
                    <a:pt x="63626064" y="31837619"/>
                  </a:lnTo>
                  <a:lnTo>
                    <a:pt x="63626064" y="31982398"/>
                  </a:lnTo>
                  <a:lnTo>
                    <a:pt x="144780" y="31982398"/>
                  </a:lnTo>
                  <a:lnTo>
                    <a:pt x="144780" y="31837619"/>
                  </a:lnTo>
                  <a:close/>
                  <a:moveTo>
                    <a:pt x="63626064" y="0"/>
                  </a:moveTo>
                  <a:lnTo>
                    <a:pt x="63770842" y="0"/>
                  </a:lnTo>
                  <a:lnTo>
                    <a:pt x="63770842" y="144780"/>
                  </a:lnTo>
                  <a:lnTo>
                    <a:pt x="63626064" y="144780"/>
                  </a:lnTo>
                  <a:lnTo>
                    <a:pt x="63626064" y="0"/>
                  </a:lnTo>
                  <a:close/>
                  <a:moveTo>
                    <a:pt x="0" y="0"/>
                  </a:moveTo>
                  <a:lnTo>
                    <a:pt x="144780" y="0"/>
                  </a:lnTo>
                  <a:lnTo>
                    <a:pt x="144780" y="144780"/>
                  </a:lnTo>
                  <a:lnTo>
                    <a:pt x="0" y="144780"/>
                  </a:lnTo>
                  <a:lnTo>
                    <a:pt x="0" y="0"/>
                  </a:lnTo>
                  <a:close/>
                  <a:moveTo>
                    <a:pt x="144780" y="0"/>
                  </a:moveTo>
                  <a:lnTo>
                    <a:pt x="63626064" y="0"/>
                  </a:lnTo>
                  <a:lnTo>
                    <a:pt x="63626064" y="144780"/>
                  </a:lnTo>
                  <a:lnTo>
                    <a:pt x="144780" y="144780"/>
                  </a:lnTo>
                  <a:lnTo>
                    <a:pt x="144780" y="0"/>
                  </a:lnTo>
                  <a:close/>
                </a:path>
              </a:pathLst>
            </a:custGeom>
            <a:solidFill>
              <a:srgbClr val="292929"/>
            </a:solidFill>
            <a:ln>
              <a:noFill/>
            </a:ln>
          </p:spPr>
        </p:sp>
      </p:grpSp>
      <p:sp>
        <p:nvSpPr>
          <p:cNvPr id="131" name="Google Shape;131;p2"/>
          <p:cNvSpPr txBox="1"/>
          <p:nvPr/>
        </p:nvSpPr>
        <p:spPr>
          <a:xfrm>
            <a:off x="3586625" y="5102100"/>
            <a:ext cx="11256600" cy="28317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3999" u="none" cap="none" strike="noStrike">
                <a:solidFill>
                  <a:srgbClr val="292929"/>
                </a:solidFill>
                <a:latin typeface="Arial"/>
                <a:ea typeface="Arial"/>
                <a:cs typeface="Arial"/>
                <a:sym typeface="Arial"/>
              </a:rPr>
              <a:t>IMPLEMENTAR DE FORMA CORRECTA LAS PRUEBAS UNITARIAS Y CONOCER LA IMPORTANCIA QUE ESTAS TIENEN EN EL DESARROLLO DE UNA APLICACIÓN.</a:t>
            </a:r>
            <a:endParaRPr/>
          </a:p>
        </p:txBody>
      </p:sp>
      <p:sp>
        <p:nvSpPr>
          <p:cNvPr id="132" name="Google Shape;132;p2"/>
          <p:cNvSpPr txBox="1"/>
          <p:nvPr/>
        </p:nvSpPr>
        <p:spPr>
          <a:xfrm>
            <a:off x="853544" y="697703"/>
            <a:ext cx="9454623" cy="1730377"/>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292929"/>
                </a:solidFill>
                <a:latin typeface="Arial"/>
                <a:ea typeface="Arial"/>
                <a:cs typeface="Arial"/>
                <a:sym typeface="Arial"/>
              </a:rPr>
              <a:t>COMPENTENCIAS QUE DESARROLLAREMOS</a:t>
            </a:r>
            <a:endParaRPr/>
          </a:p>
        </p:txBody>
      </p:sp>
      <p:cxnSp>
        <p:nvCxnSpPr>
          <p:cNvPr id="133" name="Google Shape;133;p2"/>
          <p:cNvCxnSpPr/>
          <p:nvPr/>
        </p:nvCxnSpPr>
        <p:spPr>
          <a:xfrm>
            <a:off x="10536539" y="1989612"/>
            <a:ext cx="6818796" cy="0"/>
          </a:xfrm>
          <a:prstGeom prst="straightConnector1">
            <a:avLst/>
          </a:prstGeom>
          <a:noFill/>
          <a:ln cap="rnd" cmpd="sng" w="9525">
            <a:solidFill>
              <a:srgbClr val="292929"/>
            </a:solidFill>
            <a:prstDash val="solid"/>
            <a:round/>
            <a:headEnd len="sm" w="sm" type="none"/>
            <a:tailEnd len="sm" w="sm" type="none"/>
          </a:ln>
        </p:spPr>
      </p:cxnSp>
      <p:cxnSp>
        <p:nvCxnSpPr>
          <p:cNvPr id="134" name="Google Shape;134;p2"/>
          <p:cNvCxnSpPr/>
          <p:nvPr/>
        </p:nvCxnSpPr>
        <p:spPr>
          <a:xfrm>
            <a:off x="10536539" y="1376951"/>
            <a:ext cx="6818796" cy="0"/>
          </a:xfrm>
          <a:prstGeom prst="straightConnector1">
            <a:avLst/>
          </a:prstGeom>
          <a:noFill/>
          <a:ln cap="rnd" cmpd="sng" w="9525">
            <a:solidFill>
              <a:srgbClr val="292929"/>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pSp>
        <p:nvGrpSpPr>
          <p:cNvPr id="139" name="Google Shape;139;p3"/>
          <p:cNvGrpSpPr/>
          <p:nvPr/>
        </p:nvGrpSpPr>
        <p:grpSpPr>
          <a:xfrm>
            <a:off x="-1114425" y="9525"/>
            <a:ext cx="20516850" cy="10267950"/>
            <a:chOff x="0" y="0"/>
            <a:chExt cx="27355800" cy="13690600"/>
          </a:xfrm>
        </p:grpSpPr>
        <p:sp>
          <p:nvSpPr>
            <p:cNvPr id="140" name="Google Shape;140;p3"/>
            <p:cNvSpPr/>
            <p:nvPr/>
          </p:nvSpPr>
          <p:spPr>
            <a:xfrm>
              <a:off x="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1" name="Google Shape;141;p3"/>
            <p:cNvSpPr/>
            <p:nvPr/>
          </p:nvSpPr>
          <p:spPr>
            <a:xfrm>
              <a:off x="455676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2" name="Google Shape;142;p3"/>
            <p:cNvSpPr/>
            <p:nvPr/>
          </p:nvSpPr>
          <p:spPr>
            <a:xfrm>
              <a:off x="1367028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3" name="Google Shape;143;p3"/>
            <p:cNvSpPr/>
            <p:nvPr/>
          </p:nvSpPr>
          <p:spPr>
            <a:xfrm>
              <a:off x="911352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4" name="Google Shape;144;p3"/>
            <p:cNvSpPr/>
            <p:nvPr/>
          </p:nvSpPr>
          <p:spPr>
            <a:xfrm>
              <a:off x="1822704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5" name="Google Shape;145;p3"/>
            <p:cNvSpPr/>
            <p:nvPr/>
          </p:nvSpPr>
          <p:spPr>
            <a:xfrm>
              <a:off x="2278380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6" name="Google Shape;146;p3"/>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7" name="Google Shape;147;p3"/>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8" name="Google Shape;148;p3"/>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49" name="Google Shape;149;p3"/>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sp>
        <p:nvSpPr>
          <p:cNvPr id="150" name="Google Shape;150;p3"/>
          <p:cNvSpPr txBox="1"/>
          <p:nvPr/>
        </p:nvSpPr>
        <p:spPr>
          <a:xfrm>
            <a:off x="631825" y="680325"/>
            <a:ext cx="10879500" cy="6221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300" u="none" cap="none" strike="noStrike">
                <a:solidFill>
                  <a:srgbClr val="292929"/>
                </a:solidFill>
                <a:latin typeface="Arial"/>
                <a:ea typeface="Arial"/>
                <a:cs typeface="Arial"/>
                <a:sym typeface="Arial"/>
              </a:rPr>
              <a:t>CUANDO SE DEFINE REQUERIMIENTOS FUNCIONALES Y NO FUNCIONALES, SE </a:t>
            </a:r>
            <a:r>
              <a:rPr b="1" lang="en-US" sz="4300">
                <a:solidFill>
                  <a:srgbClr val="292929"/>
                </a:solidFill>
              </a:rPr>
              <a:t>ESTÁ</a:t>
            </a:r>
            <a:r>
              <a:rPr b="1" i="0" lang="en-US" sz="4300" u="none" cap="none" strike="noStrike">
                <a:solidFill>
                  <a:srgbClr val="292929"/>
                </a:solidFill>
                <a:latin typeface="Arial"/>
                <a:ea typeface="Arial"/>
                <a:cs typeface="Arial"/>
                <a:sym typeface="Arial"/>
              </a:rPr>
              <a:t> DESCRIBIENDO QUÉ DEBE HACER EL SISTEMA Y CÓMO DEBE COMPORTARSE. </a:t>
            </a:r>
            <a:r>
              <a:rPr b="1" lang="en-US" sz="4300">
                <a:solidFill>
                  <a:srgbClr val="292929"/>
                </a:solidFill>
              </a:rPr>
              <a:t>A PARTIR DE AHÍ, SE BUSCA QUE EL SISTEMA SEA MANTENIBLE, ESCALABLE Y CONFIABLE</a:t>
            </a:r>
            <a:endParaRPr sz="700"/>
          </a:p>
        </p:txBody>
      </p:sp>
      <p:sp>
        <p:nvSpPr>
          <p:cNvPr id="151" name="Google Shape;151;p3"/>
          <p:cNvSpPr/>
          <p:nvPr/>
        </p:nvSpPr>
        <p:spPr>
          <a:xfrm>
            <a:off x="13246151" y="6195300"/>
            <a:ext cx="3991228" cy="3554951"/>
          </a:xfrm>
          <a:custGeom>
            <a:rect b="b" l="l" r="r" t="t"/>
            <a:pathLst>
              <a:path extrusionOk="0" h="3393748" w="3418611">
                <a:moveTo>
                  <a:pt x="0" y="0"/>
                </a:moveTo>
                <a:lnTo>
                  <a:pt x="3418611" y="0"/>
                </a:lnTo>
                <a:lnTo>
                  <a:pt x="3418611" y="3393747"/>
                </a:lnTo>
                <a:lnTo>
                  <a:pt x="0" y="3393747"/>
                </a:lnTo>
                <a:lnTo>
                  <a:pt x="0" y="0"/>
                </a:lnTo>
                <a:close/>
              </a:path>
            </a:pathLst>
          </a:custGeom>
          <a:blipFill rotWithShape="1">
            <a:blip r:embed="rId4">
              <a:alphaModFix/>
            </a:blip>
            <a:stretch>
              <a:fillRect b="0" l="0" r="0" t="0"/>
            </a:stretch>
          </a:blipFill>
          <a:ln>
            <a:noFill/>
          </a:ln>
        </p:spPr>
      </p:sp>
      <p:sp>
        <p:nvSpPr>
          <p:cNvPr id="152" name="Google Shape;152;p3"/>
          <p:cNvSpPr txBox="1"/>
          <p:nvPr/>
        </p:nvSpPr>
        <p:spPr>
          <a:xfrm>
            <a:off x="14119533" y="7185217"/>
            <a:ext cx="2244600" cy="2052600"/>
          </a:xfrm>
          <a:prstGeom prst="rect">
            <a:avLst/>
          </a:prstGeom>
          <a:noFill/>
          <a:ln>
            <a:noFill/>
          </a:ln>
        </p:spPr>
        <p:txBody>
          <a:bodyPr anchorCtr="0" anchor="t" bIns="0" lIns="0" spcFirstLastPara="1" rIns="0" wrap="square" tIns="0">
            <a:spAutoFit/>
          </a:bodyPr>
          <a:lstStyle/>
          <a:p>
            <a:pPr indent="0" lvl="0" marL="0" marR="0" rtl="0" algn="ctr">
              <a:lnSpc>
                <a:spcPct val="120006"/>
              </a:lnSpc>
              <a:spcBef>
                <a:spcPts val="0"/>
              </a:spcBef>
              <a:spcAft>
                <a:spcPts val="0"/>
              </a:spcAft>
              <a:buNone/>
            </a:pPr>
            <a:r>
              <a:rPr b="1" i="0" lang="en-US" sz="2899" u="none" cap="none" strike="noStrike">
                <a:solidFill>
                  <a:srgbClr val="292929"/>
                </a:solidFill>
                <a:latin typeface="Ultra"/>
                <a:ea typeface="Ultra"/>
                <a:cs typeface="Ultra"/>
                <a:sym typeface="Ultra"/>
              </a:rPr>
              <a:t>Ahí es donde entra SOLID</a:t>
            </a:r>
            <a:endParaRPr/>
          </a:p>
        </p:txBody>
      </p:sp>
      <p:cxnSp>
        <p:nvCxnSpPr>
          <p:cNvPr id="153" name="Google Shape;153;p3"/>
          <p:cNvCxnSpPr/>
          <p:nvPr/>
        </p:nvCxnSpPr>
        <p:spPr>
          <a:xfrm>
            <a:off x="11688875" y="3429000"/>
            <a:ext cx="3222300" cy="2878200"/>
          </a:xfrm>
          <a:prstGeom prst="straightConnector1">
            <a:avLst/>
          </a:prstGeom>
          <a:noFill/>
          <a:ln cap="flat" cmpd="sng" w="38100">
            <a:solidFill>
              <a:srgbClr val="000000"/>
            </a:solidFill>
            <a:prstDash val="solid"/>
            <a:round/>
            <a:headEnd len="sm" w="sm"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157" name="Shape 157"/>
        <p:cNvGrpSpPr/>
        <p:nvPr/>
      </p:nvGrpSpPr>
      <p:grpSpPr>
        <a:xfrm>
          <a:off x="0" y="0"/>
          <a:ext cx="0" cy="0"/>
          <a:chOff x="0" y="0"/>
          <a:chExt cx="0" cy="0"/>
        </a:xfrm>
      </p:grpSpPr>
      <p:grpSp>
        <p:nvGrpSpPr>
          <p:cNvPr id="158" name="Google Shape;158;p7"/>
          <p:cNvGrpSpPr/>
          <p:nvPr/>
        </p:nvGrpSpPr>
        <p:grpSpPr>
          <a:xfrm>
            <a:off x="-1114425" y="9525"/>
            <a:ext cx="20516850" cy="10267950"/>
            <a:chOff x="0" y="0"/>
            <a:chExt cx="27355800" cy="13690600"/>
          </a:xfrm>
        </p:grpSpPr>
        <p:sp>
          <p:nvSpPr>
            <p:cNvPr id="159" name="Google Shape;159;p7"/>
            <p:cNvSpPr/>
            <p:nvPr/>
          </p:nvSpPr>
          <p:spPr>
            <a:xfrm>
              <a:off x="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0" name="Google Shape;160;p7"/>
            <p:cNvSpPr/>
            <p:nvPr/>
          </p:nvSpPr>
          <p:spPr>
            <a:xfrm>
              <a:off x="455676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1" name="Google Shape;161;p7"/>
            <p:cNvSpPr/>
            <p:nvPr/>
          </p:nvSpPr>
          <p:spPr>
            <a:xfrm>
              <a:off x="1367028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2" name="Google Shape;162;p7"/>
            <p:cNvSpPr/>
            <p:nvPr/>
          </p:nvSpPr>
          <p:spPr>
            <a:xfrm>
              <a:off x="911352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3" name="Google Shape;163;p7"/>
            <p:cNvSpPr/>
            <p:nvPr/>
          </p:nvSpPr>
          <p:spPr>
            <a:xfrm>
              <a:off x="1822704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4" name="Google Shape;164;p7"/>
            <p:cNvSpPr/>
            <p:nvPr/>
          </p:nvSpPr>
          <p:spPr>
            <a:xfrm>
              <a:off x="2278380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5" name="Google Shape;165;p7"/>
            <p:cNvSpPr/>
            <p:nvPr/>
          </p:nvSpPr>
          <p:spPr>
            <a:xfrm>
              <a:off x="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6" name="Google Shape;166;p7"/>
            <p:cNvSpPr/>
            <p:nvPr/>
          </p:nvSpPr>
          <p:spPr>
            <a:xfrm>
              <a:off x="455676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7" name="Google Shape;167;p7"/>
            <p:cNvSpPr/>
            <p:nvPr/>
          </p:nvSpPr>
          <p:spPr>
            <a:xfrm>
              <a:off x="1367028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8" name="Google Shape;168;p7"/>
            <p:cNvSpPr/>
            <p:nvPr/>
          </p:nvSpPr>
          <p:spPr>
            <a:xfrm>
              <a:off x="911352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69" name="Google Shape;169;p7"/>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0" name="Google Shape;170;p7"/>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1" name="Google Shape;171;p7"/>
            <p:cNvSpPr/>
            <p:nvPr/>
          </p:nvSpPr>
          <p:spPr>
            <a:xfrm>
              <a:off x="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2" name="Google Shape;172;p7"/>
            <p:cNvSpPr/>
            <p:nvPr/>
          </p:nvSpPr>
          <p:spPr>
            <a:xfrm>
              <a:off x="455676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3" name="Google Shape;173;p7"/>
            <p:cNvSpPr/>
            <p:nvPr/>
          </p:nvSpPr>
          <p:spPr>
            <a:xfrm>
              <a:off x="1367028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4" name="Google Shape;174;p7"/>
            <p:cNvSpPr/>
            <p:nvPr/>
          </p:nvSpPr>
          <p:spPr>
            <a:xfrm>
              <a:off x="911352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5" name="Google Shape;175;p7"/>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76" name="Google Shape;176;p7"/>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grpSp>
        <p:nvGrpSpPr>
          <p:cNvPr id="177" name="Google Shape;177;p7"/>
          <p:cNvGrpSpPr/>
          <p:nvPr/>
        </p:nvGrpSpPr>
        <p:grpSpPr>
          <a:xfrm>
            <a:off x="1636244" y="1999066"/>
            <a:ext cx="10259391" cy="4904565"/>
            <a:chOff x="0" y="0"/>
            <a:chExt cx="13679187" cy="6539420"/>
          </a:xfrm>
        </p:grpSpPr>
        <p:grpSp>
          <p:nvGrpSpPr>
            <p:cNvPr id="178" name="Google Shape;178;p7"/>
            <p:cNvGrpSpPr/>
            <p:nvPr/>
          </p:nvGrpSpPr>
          <p:grpSpPr>
            <a:xfrm>
              <a:off x="0" y="0"/>
              <a:ext cx="13679187" cy="6539420"/>
              <a:chOff x="0" y="0"/>
              <a:chExt cx="142927561" cy="68327408"/>
            </a:xfrm>
          </p:grpSpPr>
          <p:sp>
            <p:nvSpPr>
              <p:cNvPr id="179" name="Google Shape;179;p7"/>
              <p:cNvSpPr/>
              <p:nvPr/>
            </p:nvSpPr>
            <p:spPr>
              <a:xfrm>
                <a:off x="72390" y="72390"/>
                <a:ext cx="142782791" cy="68182631"/>
              </a:xfrm>
              <a:custGeom>
                <a:rect b="b" l="l" r="r" t="t"/>
                <a:pathLst>
                  <a:path extrusionOk="0" h="68182631" w="142782791">
                    <a:moveTo>
                      <a:pt x="0" y="0"/>
                    </a:moveTo>
                    <a:lnTo>
                      <a:pt x="142782791" y="0"/>
                    </a:lnTo>
                    <a:lnTo>
                      <a:pt x="142782791" y="68182631"/>
                    </a:lnTo>
                    <a:lnTo>
                      <a:pt x="0" y="68182631"/>
                    </a:lnTo>
                    <a:lnTo>
                      <a:pt x="0" y="0"/>
                    </a:lnTo>
                    <a:close/>
                  </a:path>
                </a:pathLst>
              </a:custGeom>
              <a:solidFill>
                <a:srgbClr val="E15537"/>
              </a:solidFill>
              <a:ln>
                <a:noFill/>
              </a:ln>
            </p:spPr>
          </p:sp>
          <p:sp>
            <p:nvSpPr>
              <p:cNvPr id="180" name="Google Shape;180;p7"/>
              <p:cNvSpPr/>
              <p:nvPr/>
            </p:nvSpPr>
            <p:spPr>
              <a:xfrm>
                <a:off x="0" y="0"/>
                <a:ext cx="142927561" cy="68327408"/>
              </a:xfrm>
              <a:custGeom>
                <a:rect b="b" l="l" r="r" t="t"/>
                <a:pathLst>
                  <a:path extrusionOk="0" h="68327408" w="142927561">
                    <a:moveTo>
                      <a:pt x="142782789" y="68182629"/>
                    </a:moveTo>
                    <a:lnTo>
                      <a:pt x="142927561" y="68182629"/>
                    </a:lnTo>
                    <a:lnTo>
                      <a:pt x="142927561" y="68327408"/>
                    </a:lnTo>
                    <a:lnTo>
                      <a:pt x="142782789" y="68327408"/>
                    </a:lnTo>
                    <a:lnTo>
                      <a:pt x="142782789" y="68182629"/>
                    </a:lnTo>
                    <a:close/>
                    <a:moveTo>
                      <a:pt x="0" y="144780"/>
                    </a:moveTo>
                    <a:lnTo>
                      <a:pt x="144780" y="144780"/>
                    </a:lnTo>
                    <a:lnTo>
                      <a:pt x="144780" y="68182629"/>
                    </a:lnTo>
                    <a:lnTo>
                      <a:pt x="0" y="68182629"/>
                    </a:lnTo>
                    <a:lnTo>
                      <a:pt x="0" y="144780"/>
                    </a:lnTo>
                    <a:close/>
                    <a:moveTo>
                      <a:pt x="0" y="68182629"/>
                    </a:moveTo>
                    <a:lnTo>
                      <a:pt x="144780" y="68182629"/>
                    </a:lnTo>
                    <a:lnTo>
                      <a:pt x="144780" y="68327408"/>
                    </a:lnTo>
                    <a:lnTo>
                      <a:pt x="0" y="68327408"/>
                    </a:lnTo>
                    <a:lnTo>
                      <a:pt x="0" y="68182629"/>
                    </a:lnTo>
                    <a:close/>
                    <a:moveTo>
                      <a:pt x="142782789" y="144780"/>
                    </a:moveTo>
                    <a:lnTo>
                      <a:pt x="142927561" y="144780"/>
                    </a:lnTo>
                    <a:lnTo>
                      <a:pt x="142927561" y="68182629"/>
                    </a:lnTo>
                    <a:lnTo>
                      <a:pt x="142782789" y="68182629"/>
                    </a:lnTo>
                    <a:lnTo>
                      <a:pt x="142782789" y="144780"/>
                    </a:lnTo>
                    <a:close/>
                    <a:moveTo>
                      <a:pt x="144780" y="68182629"/>
                    </a:moveTo>
                    <a:lnTo>
                      <a:pt x="142782789" y="68182629"/>
                    </a:lnTo>
                    <a:lnTo>
                      <a:pt x="142782789" y="68327408"/>
                    </a:lnTo>
                    <a:lnTo>
                      <a:pt x="144780" y="68327408"/>
                    </a:lnTo>
                    <a:lnTo>
                      <a:pt x="144780" y="68182629"/>
                    </a:lnTo>
                    <a:close/>
                    <a:moveTo>
                      <a:pt x="142782789" y="0"/>
                    </a:moveTo>
                    <a:lnTo>
                      <a:pt x="142927561" y="0"/>
                    </a:lnTo>
                    <a:lnTo>
                      <a:pt x="142927561" y="144780"/>
                    </a:lnTo>
                    <a:lnTo>
                      <a:pt x="142782789" y="144780"/>
                    </a:lnTo>
                    <a:lnTo>
                      <a:pt x="142782789" y="0"/>
                    </a:lnTo>
                    <a:close/>
                    <a:moveTo>
                      <a:pt x="0" y="0"/>
                    </a:moveTo>
                    <a:lnTo>
                      <a:pt x="144780" y="0"/>
                    </a:lnTo>
                    <a:lnTo>
                      <a:pt x="144780" y="144780"/>
                    </a:lnTo>
                    <a:lnTo>
                      <a:pt x="0" y="144780"/>
                    </a:lnTo>
                    <a:lnTo>
                      <a:pt x="0" y="0"/>
                    </a:lnTo>
                    <a:close/>
                    <a:moveTo>
                      <a:pt x="144780" y="0"/>
                    </a:moveTo>
                    <a:lnTo>
                      <a:pt x="142782789" y="0"/>
                    </a:lnTo>
                    <a:lnTo>
                      <a:pt x="142782789" y="144780"/>
                    </a:lnTo>
                    <a:lnTo>
                      <a:pt x="144780" y="144780"/>
                    </a:lnTo>
                    <a:lnTo>
                      <a:pt x="144780" y="0"/>
                    </a:lnTo>
                    <a:close/>
                  </a:path>
                </a:pathLst>
              </a:custGeom>
              <a:solidFill>
                <a:srgbClr val="292929"/>
              </a:solidFill>
              <a:ln>
                <a:noFill/>
              </a:ln>
            </p:spPr>
          </p:sp>
        </p:grpSp>
        <p:sp>
          <p:nvSpPr>
            <p:cNvPr id="181" name="Google Shape;181;p7"/>
            <p:cNvSpPr txBox="1"/>
            <p:nvPr/>
          </p:nvSpPr>
          <p:spPr>
            <a:xfrm>
              <a:off x="1388551" y="194741"/>
              <a:ext cx="10901100" cy="6212100"/>
            </a:xfrm>
            <a:prstGeom prst="rect">
              <a:avLst/>
            </a:prstGeom>
            <a:noFill/>
            <a:ln>
              <a:noFill/>
            </a:ln>
          </p:spPr>
          <p:txBody>
            <a:bodyPr anchorCtr="0" anchor="t" bIns="0" lIns="0" spcFirstLastPara="1" rIns="0" wrap="square" tIns="0">
              <a:spAutoFit/>
            </a:bodyPr>
            <a:lstStyle/>
            <a:p>
              <a:pPr indent="0" lvl="0" marL="0" marR="0" rtl="0" algn="ctr">
                <a:lnSpc>
                  <a:spcPct val="140055"/>
                </a:lnSpc>
                <a:spcBef>
                  <a:spcPts val="0"/>
                </a:spcBef>
                <a:spcAft>
                  <a:spcPts val="0"/>
                </a:spcAft>
                <a:buNone/>
              </a:pPr>
              <a:r>
                <a:rPr b="1" i="0" lang="en-US" sz="3218" u="none" cap="none" strike="noStrike">
                  <a:solidFill>
                    <a:srgbClr val="F3F1EE"/>
                  </a:solidFill>
                  <a:latin typeface="Arial"/>
                  <a:ea typeface="Arial"/>
                  <a:cs typeface="Arial"/>
                  <a:sym typeface="Arial"/>
                </a:rPr>
                <a:t>UNA VEZ QUE EL SISTEMA ESTÁ CONSTRUIDO SEGÚN REQUERIMIENTOS CLAROS Y PRINCIPIOS DE DISEÑO, ES FUNDAMENTAL COMPROBAR QUE CUMPLE LO ESPERADO. AQUÍ ES DONDE ENTRAN LAS PRUEBAS DE SOFTWARE (TESTING).</a:t>
              </a:r>
              <a:endParaRPr/>
            </a:p>
          </p:txBody>
        </p:sp>
      </p:grpSp>
      <p:grpSp>
        <p:nvGrpSpPr>
          <p:cNvPr id="182" name="Google Shape;182;p7"/>
          <p:cNvGrpSpPr/>
          <p:nvPr/>
        </p:nvGrpSpPr>
        <p:grpSpPr>
          <a:xfrm>
            <a:off x="11895634" y="7561404"/>
            <a:ext cx="5750763" cy="2343001"/>
            <a:chOff x="0" y="0"/>
            <a:chExt cx="7667685" cy="3124001"/>
          </a:xfrm>
        </p:grpSpPr>
        <p:grpSp>
          <p:nvGrpSpPr>
            <p:cNvPr id="183" name="Google Shape;183;p7"/>
            <p:cNvGrpSpPr/>
            <p:nvPr/>
          </p:nvGrpSpPr>
          <p:grpSpPr>
            <a:xfrm>
              <a:off x="0" y="0"/>
              <a:ext cx="7667685" cy="3124001"/>
              <a:chOff x="0" y="0"/>
              <a:chExt cx="128622239" cy="52403834"/>
            </a:xfrm>
          </p:grpSpPr>
          <p:sp>
            <p:nvSpPr>
              <p:cNvPr id="184" name="Google Shape;184;p7"/>
              <p:cNvSpPr/>
              <p:nvPr/>
            </p:nvSpPr>
            <p:spPr>
              <a:xfrm>
                <a:off x="72390" y="72390"/>
                <a:ext cx="128477456" cy="52259051"/>
              </a:xfrm>
              <a:custGeom>
                <a:rect b="b" l="l" r="r" t="t"/>
                <a:pathLst>
                  <a:path extrusionOk="0" h="52259051" w="128477456">
                    <a:moveTo>
                      <a:pt x="0" y="0"/>
                    </a:moveTo>
                    <a:lnTo>
                      <a:pt x="128477456" y="0"/>
                    </a:lnTo>
                    <a:lnTo>
                      <a:pt x="128477456" y="52259051"/>
                    </a:lnTo>
                    <a:lnTo>
                      <a:pt x="0" y="52259051"/>
                    </a:lnTo>
                    <a:lnTo>
                      <a:pt x="0" y="0"/>
                    </a:lnTo>
                    <a:close/>
                  </a:path>
                </a:pathLst>
              </a:custGeom>
              <a:solidFill>
                <a:srgbClr val="E15537"/>
              </a:solidFill>
              <a:ln>
                <a:noFill/>
              </a:ln>
            </p:spPr>
          </p:sp>
          <p:sp>
            <p:nvSpPr>
              <p:cNvPr id="185" name="Google Shape;185;p7"/>
              <p:cNvSpPr/>
              <p:nvPr/>
            </p:nvSpPr>
            <p:spPr>
              <a:xfrm>
                <a:off x="0" y="0"/>
                <a:ext cx="128622239" cy="52403834"/>
              </a:xfrm>
              <a:custGeom>
                <a:rect b="b" l="l" r="r" t="t"/>
                <a:pathLst>
                  <a:path extrusionOk="0" h="52403834" w="128622239">
                    <a:moveTo>
                      <a:pt x="128477466" y="52259049"/>
                    </a:moveTo>
                    <a:lnTo>
                      <a:pt x="128622239" y="52259049"/>
                    </a:lnTo>
                    <a:lnTo>
                      <a:pt x="128622239" y="52403834"/>
                    </a:lnTo>
                    <a:lnTo>
                      <a:pt x="128477466" y="52403834"/>
                    </a:lnTo>
                    <a:lnTo>
                      <a:pt x="128477466" y="52259049"/>
                    </a:lnTo>
                    <a:close/>
                    <a:moveTo>
                      <a:pt x="0" y="144780"/>
                    </a:moveTo>
                    <a:lnTo>
                      <a:pt x="144780" y="144780"/>
                    </a:lnTo>
                    <a:lnTo>
                      <a:pt x="144780" y="52259049"/>
                    </a:lnTo>
                    <a:lnTo>
                      <a:pt x="0" y="52259049"/>
                    </a:lnTo>
                    <a:lnTo>
                      <a:pt x="0" y="144780"/>
                    </a:lnTo>
                    <a:close/>
                    <a:moveTo>
                      <a:pt x="0" y="52259049"/>
                    </a:moveTo>
                    <a:lnTo>
                      <a:pt x="144780" y="52259049"/>
                    </a:lnTo>
                    <a:lnTo>
                      <a:pt x="144780" y="52403834"/>
                    </a:lnTo>
                    <a:lnTo>
                      <a:pt x="0" y="52403834"/>
                    </a:lnTo>
                    <a:lnTo>
                      <a:pt x="0" y="52259049"/>
                    </a:lnTo>
                    <a:close/>
                    <a:moveTo>
                      <a:pt x="128477466" y="144780"/>
                    </a:moveTo>
                    <a:lnTo>
                      <a:pt x="128622239" y="144780"/>
                    </a:lnTo>
                    <a:lnTo>
                      <a:pt x="128622239" y="52259049"/>
                    </a:lnTo>
                    <a:lnTo>
                      <a:pt x="128477466" y="52259049"/>
                    </a:lnTo>
                    <a:lnTo>
                      <a:pt x="128477466" y="144780"/>
                    </a:lnTo>
                    <a:close/>
                    <a:moveTo>
                      <a:pt x="144780" y="52259049"/>
                    </a:moveTo>
                    <a:lnTo>
                      <a:pt x="128477466" y="52259049"/>
                    </a:lnTo>
                    <a:lnTo>
                      <a:pt x="128477466" y="52403834"/>
                    </a:lnTo>
                    <a:lnTo>
                      <a:pt x="144780" y="52403834"/>
                    </a:lnTo>
                    <a:lnTo>
                      <a:pt x="144780" y="52259049"/>
                    </a:lnTo>
                    <a:close/>
                    <a:moveTo>
                      <a:pt x="128477466" y="0"/>
                    </a:moveTo>
                    <a:lnTo>
                      <a:pt x="128622239" y="0"/>
                    </a:lnTo>
                    <a:lnTo>
                      <a:pt x="128622239" y="144780"/>
                    </a:lnTo>
                    <a:lnTo>
                      <a:pt x="128477466" y="144780"/>
                    </a:lnTo>
                    <a:lnTo>
                      <a:pt x="128477466" y="0"/>
                    </a:lnTo>
                    <a:close/>
                    <a:moveTo>
                      <a:pt x="0" y="0"/>
                    </a:moveTo>
                    <a:lnTo>
                      <a:pt x="144780" y="0"/>
                    </a:lnTo>
                    <a:lnTo>
                      <a:pt x="144780" y="144780"/>
                    </a:lnTo>
                    <a:lnTo>
                      <a:pt x="0" y="144780"/>
                    </a:lnTo>
                    <a:lnTo>
                      <a:pt x="0" y="0"/>
                    </a:lnTo>
                    <a:close/>
                    <a:moveTo>
                      <a:pt x="144780" y="0"/>
                    </a:moveTo>
                    <a:lnTo>
                      <a:pt x="128477466" y="0"/>
                    </a:lnTo>
                    <a:lnTo>
                      <a:pt x="128477466" y="144780"/>
                    </a:lnTo>
                    <a:lnTo>
                      <a:pt x="144780" y="144780"/>
                    </a:lnTo>
                    <a:lnTo>
                      <a:pt x="144780" y="0"/>
                    </a:lnTo>
                    <a:close/>
                  </a:path>
                </a:pathLst>
              </a:custGeom>
              <a:solidFill>
                <a:srgbClr val="292929"/>
              </a:solidFill>
              <a:ln>
                <a:noFill/>
              </a:ln>
            </p:spPr>
          </p:sp>
        </p:grpSp>
        <p:sp>
          <p:nvSpPr>
            <p:cNvPr id="186" name="Google Shape;186;p7"/>
            <p:cNvSpPr txBox="1"/>
            <p:nvPr/>
          </p:nvSpPr>
          <p:spPr>
            <a:xfrm>
              <a:off x="778652" y="371271"/>
              <a:ext cx="6110400" cy="2247300"/>
            </a:xfrm>
            <a:prstGeom prst="rect">
              <a:avLst/>
            </a:prstGeom>
            <a:noFill/>
            <a:ln>
              <a:noFill/>
            </a:ln>
          </p:spPr>
          <p:txBody>
            <a:bodyPr anchorCtr="0" anchor="t" bIns="0" lIns="0" spcFirstLastPara="1" rIns="0" wrap="square" tIns="0">
              <a:spAutoFit/>
            </a:bodyPr>
            <a:lstStyle/>
            <a:p>
              <a:pPr indent="0" lvl="0" marL="0" marR="0" rtl="0" algn="ctr">
                <a:lnSpc>
                  <a:spcPct val="140069"/>
                </a:lnSpc>
                <a:spcBef>
                  <a:spcPts val="0"/>
                </a:spcBef>
                <a:spcAft>
                  <a:spcPts val="0"/>
                </a:spcAft>
                <a:buNone/>
              </a:pPr>
              <a:r>
                <a:rPr b="1" lang="en-US" sz="2105">
                  <a:solidFill>
                    <a:srgbClr val="F3F1EE"/>
                  </a:solidFill>
                </a:rPr>
                <a:t>Primero Diseñamos Bien Con Solid, Luego Escribimos Pruebas Para Verificar Que El Comportamiento Sea El Esperado.</a:t>
              </a:r>
              <a:endParaRPr sz="1500"/>
            </a:p>
          </p:txBody>
        </p:sp>
      </p:grpSp>
      <p:cxnSp>
        <p:nvCxnSpPr>
          <p:cNvPr id="187" name="Google Shape;187;p7"/>
          <p:cNvCxnSpPr/>
          <p:nvPr/>
        </p:nvCxnSpPr>
        <p:spPr>
          <a:xfrm>
            <a:off x="11676678" y="4304758"/>
            <a:ext cx="3725794" cy="3237766"/>
          </a:xfrm>
          <a:prstGeom prst="straightConnector1">
            <a:avLst/>
          </a:prstGeom>
          <a:noFill/>
          <a:ln cap="flat" cmpd="sng" w="38100">
            <a:solidFill>
              <a:srgbClr val="000000"/>
            </a:solidFill>
            <a:prstDash val="solid"/>
            <a:round/>
            <a:headEnd len="sm" w="sm" type="none"/>
            <a:tailEnd len="med" w="med" type="stealth"/>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8"/>
          <p:cNvGrpSpPr/>
          <p:nvPr/>
        </p:nvGrpSpPr>
        <p:grpSpPr>
          <a:xfrm>
            <a:off x="-1114425" y="9525"/>
            <a:ext cx="20516850" cy="10267950"/>
            <a:chOff x="0" y="0"/>
            <a:chExt cx="27355800" cy="13690600"/>
          </a:xfrm>
        </p:grpSpPr>
        <p:sp>
          <p:nvSpPr>
            <p:cNvPr id="193" name="Google Shape;193;p8"/>
            <p:cNvSpPr/>
            <p:nvPr/>
          </p:nvSpPr>
          <p:spPr>
            <a:xfrm>
              <a:off x="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94" name="Google Shape;194;p8"/>
            <p:cNvSpPr/>
            <p:nvPr/>
          </p:nvSpPr>
          <p:spPr>
            <a:xfrm>
              <a:off x="455676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95" name="Google Shape;195;p8"/>
            <p:cNvSpPr/>
            <p:nvPr/>
          </p:nvSpPr>
          <p:spPr>
            <a:xfrm>
              <a:off x="1367028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96" name="Google Shape;196;p8"/>
            <p:cNvSpPr/>
            <p:nvPr/>
          </p:nvSpPr>
          <p:spPr>
            <a:xfrm>
              <a:off x="911352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97" name="Google Shape;197;p8"/>
            <p:cNvSpPr/>
            <p:nvPr/>
          </p:nvSpPr>
          <p:spPr>
            <a:xfrm>
              <a:off x="1822704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98" name="Google Shape;198;p8"/>
            <p:cNvSpPr/>
            <p:nvPr/>
          </p:nvSpPr>
          <p:spPr>
            <a:xfrm>
              <a:off x="22783800" y="91186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199" name="Google Shape;199;p8"/>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00" name="Google Shape;200;p8"/>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01" name="Google Shape;201;p8"/>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02" name="Google Shape;202;p8"/>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grpSp>
        <p:nvGrpSpPr>
          <p:cNvPr id="203" name="Google Shape;203;p8"/>
          <p:cNvGrpSpPr/>
          <p:nvPr/>
        </p:nvGrpSpPr>
        <p:grpSpPr>
          <a:xfrm>
            <a:off x="1259869" y="1028700"/>
            <a:ext cx="10017739" cy="5507471"/>
            <a:chOff x="0" y="0"/>
            <a:chExt cx="13356985" cy="7343295"/>
          </a:xfrm>
        </p:grpSpPr>
        <p:sp>
          <p:nvSpPr>
            <p:cNvPr id="204" name="Google Shape;204;p8"/>
            <p:cNvSpPr txBox="1"/>
            <p:nvPr/>
          </p:nvSpPr>
          <p:spPr>
            <a:xfrm>
              <a:off x="0" y="0"/>
              <a:ext cx="13356985" cy="25908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292929"/>
                  </a:solidFill>
                  <a:latin typeface="Arial"/>
                  <a:ea typeface="Arial"/>
                  <a:cs typeface="Arial"/>
                  <a:sym typeface="Arial"/>
                </a:rPr>
                <a:t>PRUEBAS FUNCIONALES Y NO FUNCIONALES</a:t>
              </a:r>
              <a:endParaRPr/>
            </a:p>
          </p:txBody>
        </p:sp>
        <p:sp>
          <p:nvSpPr>
            <p:cNvPr id="205" name="Google Shape;205;p8"/>
            <p:cNvSpPr txBox="1"/>
            <p:nvPr/>
          </p:nvSpPr>
          <p:spPr>
            <a:xfrm>
              <a:off x="8" y="4462695"/>
              <a:ext cx="13356900" cy="28806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699" u="none" cap="none" strike="noStrike">
                  <a:solidFill>
                    <a:srgbClr val="292929"/>
                  </a:solidFill>
                  <a:latin typeface="Arial"/>
                  <a:ea typeface="Arial"/>
                  <a:cs typeface="Arial"/>
                  <a:sym typeface="Arial"/>
                </a:rPr>
                <a:t>Las pruebas de software son un proceso sistemático de evaluación de una aplicación para encontrar errores y asegurar que cumple con los requisitos especificados</a:t>
              </a:r>
              <a:r>
                <a:rPr lang="en-US" sz="2699">
                  <a:solidFill>
                    <a:srgbClr val="292929"/>
                  </a:solidFill>
                </a:rPr>
                <a:t>.</a:t>
              </a:r>
              <a:endParaRPr b="0" i="0" sz="2699" u="none" cap="none" strike="noStrike">
                <a:solidFill>
                  <a:srgbClr val="292929"/>
                </a:solidFill>
                <a:latin typeface="Arial"/>
                <a:ea typeface="Arial"/>
                <a:cs typeface="Arial"/>
                <a:sym typeface="Arial"/>
              </a:endParaRPr>
            </a:p>
            <a:p>
              <a:pPr indent="0" lvl="0" marL="0" marR="0" rtl="0" algn="l">
                <a:lnSpc>
                  <a:spcPct val="119303"/>
                </a:lnSpc>
                <a:spcBef>
                  <a:spcPts val="0"/>
                </a:spcBef>
                <a:spcAft>
                  <a:spcPts val="0"/>
                </a:spcAft>
                <a:buNone/>
              </a:pPr>
              <a:r>
                <a:t/>
              </a:r>
              <a:endParaRPr b="0" i="0" sz="2699" u="none" cap="none" strike="noStrike">
                <a:solidFill>
                  <a:srgbClr val="292929"/>
                </a:solidFill>
                <a:latin typeface="Arial"/>
                <a:ea typeface="Arial"/>
                <a:cs typeface="Arial"/>
                <a:sym typeface="Arial"/>
              </a:endParaRPr>
            </a:p>
          </p:txBody>
        </p:sp>
      </p:grpSp>
      <p:sp>
        <p:nvSpPr>
          <p:cNvPr id="206" name="Google Shape;206;p8"/>
          <p:cNvSpPr/>
          <p:nvPr/>
        </p:nvSpPr>
        <p:spPr>
          <a:xfrm>
            <a:off x="13246150" y="6195300"/>
            <a:ext cx="4110880" cy="3877357"/>
          </a:xfrm>
          <a:custGeom>
            <a:rect b="b" l="l" r="r" t="t"/>
            <a:pathLst>
              <a:path extrusionOk="0" h="3393748" w="3418611">
                <a:moveTo>
                  <a:pt x="0" y="0"/>
                </a:moveTo>
                <a:lnTo>
                  <a:pt x="3418611" y="0"/>
                </a:lnTo>
                <a:lnTo>
                  <a:pt x="3418611" y="3393747"/>
                </a:lnTo>
                <a:lnTo>
                  <a:pt x="0" y="3393747"/>
                </a:lnTo>
                <a:lnTo>
                  <a:pt x="0" y="0"/>
                </a:lnTo>
                <a:close/>
              </a:path>
            </a:pathLst>
          </a:custGeom>
          <a:blipFill rotWithShape="1">
            <a:blip r:embed="rId4">
              <a:alphaModFix/>
            </a:blip>
            <a:stretch>
              <a:fillRect b="0" l="0" r="0" t="0"/>
            </a:stretch>
          </a:blipFill>
          <a:ln>
            <a:noFill/>
          </a:ln>
        </p:spPr>
      </p:sp>
      <p:sp>
        <p:nvSpPr>
          <p:cNvPr id="207" name="Google Shape;207;p8"/>
          <p:cNvSpPr txBox="1"/>
          <p:nvPr/>
        </p:nvSpPr>
        <p:spPr>
          <a:xfrm>
            <a:off x="13833226" y="7006350"/>
            <a:ext cx="2831400" cy="21540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i="0" lang="en-US" sz="1999" u="none" cap="none" strike="noStrike">
                <a:solidFill>
                  <a:srgbClr val="292929"/>
                </a:solidFill>
                <a:latin typeface="Ultra"/>
                <a:ea typeface="Ultra"/>
                <a:cs typeface="Ultra"/>
                <a:sym typeface="Ultra"/>
              </a:rPr>
              <a:t>El objetivo principal de las pruebas no es demostrar que un software está libre de errores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211" name="Shape 211"/>
        <p:cNvGrpSpPr/>
        <p:nvPr/>
      </p:nvGrpSpPr>
      <p:grpSpPr>
        <a:xfrm>
          <a:off x="0" y="0"/>
          <a:ext cx="0" cy="0"/>
          <a:chOff x="0" y="0"/>
          <a:chExt cx="0" cy="0"/>
        </a:xfrm>
      </p:grpSpPr>
      <p:grpSp>
        <p:nvGrpSpPr>
          <p:cNvPr id="212" name="Google Shape;212;p9"/>
          <p:cNvGrpSpPr/>
          <p:nvPr/>
        </p:nvGrpSpPr>
        <p:grpSpPr>
          <a:xfrm>
            <a:off x="9144000" y="1274556"/>
            <a:ext cx="8115300" cy="7591862"/>
            <a:chOff x="0" y="0"/>
            <a:chExt cx="162374486" cy="151901302"/>
          </a:xfrm>
        </p:grpSpPr>
        <p:sp>
          <p:nvSpPr>
            <p:cNvPr id="213" name="Google Shape;213;p9"/>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214" name="Google Shape;214;p9"/>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215" name="Google Shape;215;p9"/>
          <p:cNvSpPr txBox="1"/>
          <p:nvPr/>
        </p:nvSpPr>
        <p:spPr>
          <a:xfrm>
            <a:off x="10354899" y="4169050"/>
            <a:ext cx="6487200" cy="216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400" u="none" cap="none" strike="noStrike">
                <a:solidFill>
                  <a:srgbClr val="292929"/>
                </a:solidFill>
                <a:latin typeface="Arial"/>
                <a:ea typeface="Arial"/>
                <a:cs typeface="Arial"/>
                <a:sym typeface="Arial"/>
              </a:rPr>
              <a:t>PRUEBAS FUNCIONALES</a:t>
            </a:r>
            <a:endParaRPr/>
          </a:p>
        </p:txBody>
      </p:sp>
      <p:sp>
        <p:nvSpPr>
          <p:cNvPr id="216" name="Google Shape;216;p9"/>
          <p:cNvSpPr txBox="1"/>
          <p:nvPr/>
        </p:nvSpPr>
        <p:spPr>
          <a:xfrm>
            <a:off x="1280298" y="2571762"/>
            <a:ext cx="6818700" cy="4309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500">
                <a:solidFill>
                  <a:srgbClr val="FFFFFF"/>
                </a:solidFill>
              </a:rPr>
              <a:t>S</a:t>
            </a:r>
            <a:r>
              <a:rPr lang="en-US" sz="3500">
                <a:solidFill>
                  <a:srgbClr val="FFFFFF"/>
                </a:solidFill>
              </a:rPr>
              <a:t>e centran en el comportamiento observable del sistema. Buscan verificar que las funciones implementadas hacen lo que se espera que hagan según los requisitos del negocio.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220" name="Shape 220"/>
        <p:cNvGrpSpPr/>
        <p:nvPr/>
      </p:nvGrpSpPr>
      <p:grpSpPr>
        <a:xfrm>
          <a:off x="0" y="0"/>
          <a:ext cx="0" cy="0"/>
          <a:chOff x="0" y="0"/>
          <a:chExt cx="0" cy="0"/>
        </a:xfrm>
      </p:grpSpPr>
      <p:grpSp>
        <p:nvGrpSpPr>
          <p:cNvPr id="221" name="Google Shape;221;p10"/>
          <p:cNvGrpSpPr/>
          <p:nvPr/>
        </p:nvGrpSpPr>
        <p:grpSpPr>
          <a:xfrm>
            <a:off x="9144000" y="1274556"/>
            <a:ext cx="8115300" cy="7591862"/>
            <a:chOff x="0" y="0"/>
            <a:chExt cx="162374486" cy="151901302"/>
          </a:xfrm>
        </p:grpSpPr>
        <p:sp>
          <p:nvSpPr>
            <p:cNvPr id="222" name="Google Shape;222;p10"/>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223" name="Google Shape;223;p10"/>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224" name="Google Shape;224;p10"/>
          <p:cNvSpPr txBox="1"/>
          <p:nvPr/>
        </p:nvSpPr>
        <p:spPr>
          <a:xfrm>
            <a:off x="10354899" y="4169050"/>
            <a:ext cx="6289800" cy="216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400" u="none" cap="none" strike="noStrike">
                <a:solidFill>
                  <a:srgbClr val="292929"/>
                </a:solidFill>
                <a:latin typeface="Arial"/>
                <a:ea typeface="Arial"/>
                <a:cs typeface="Arial"/>
                <a:sym typeface="Arial"/>
              </a:rPr>
              <a:t>PRUEBAS FUNCIONALES</a:t>
            </a:r>
            <a:endParaRPr/>
          </a:p>
        </p:txBody>
      </p:sp>
      <p:sp>
        <p:nvSpPr>
          <p:cNvPr id="225" name="Google Shape;225;p10"/>
          <p:cNvSpPr txBox="1"/>
          <p:nvPr/>
        </p:nvSpPr>
        <p:spPr>
          <a:xfrm>
            <a:off x="1028700" y="962025"/>
            <a:ext cx="6818796" cy="307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Arial"/>
                <a:ea typeface="Arial"/>
                <a:cs typeface="Arial"/>
                <a:sym typeface="Arial"/>
              </a:rPr>
              <a:t>Se basan en:</a:t>
            </a:r>
            <a:endParaRPr/>
          </a:p>
          <a:p>
            <a:pPr indent="-377825" lvl="1" marL="755651" marR="0" rtl="0" algn="l">
              <a:lnSpc>
                <a:spcPct val="140000"/>
              </a:lnSpc>
              <a:spcBef>
                <a:spcPts val="0"/>
              </a:spcBef>
              <a:spcAft>
                <a:spcPts val="0"/>
              </a:spcAft>
              <a:buClr>
                <a:srgbClr val="FFFFFF"/>
              </a:buClr>
              <a:buSzPts val="3500"/>
              <a:buFont typeface="Arial"/>
              <a:buChar char="•"/>
            </a:pPr>
            <a:r>
              <a:rPr b="0" i="0" lang="en-US" sz="3500" u="none" cap="none" strike="noStrike">
                <a:solidFill>
                  <a:srgbClr val="FFFFFF"/>
                </a:solidFill>
                <a:latin typeface="Arial"/>
                <a:ea typeface="Arial"/>
                <a:cs typeface="Arial"/>
                <a:sym typeface="Arial"/>
              </a:rPr>
              <a:t>Casos de uso</a:t>
            </a:r>
            <a:endParaRPr/>
          </a:p>
          <a:p>
            <a:pPr indent="-377825" lvl="1" marL="755651" marR="0" rtl="0" algn="l">
              <a:lnSpc>
                <a:spcPct val="140000"/>
              </a:lnSpc>
              <a:spcBef>
                <a:spcPts val="0"/>
              </a:spcBef>
              <a:spcAft>
                <a:spcPts val="0"/>
              </a:spcAft>
              <a:buClr>
                <a:srgbClr val="FFFFFF"/>
              </a:buClr>
              <a:buSzPts val="3500"/>
              <a:buFont typeface="Arial"/>
              <a:buChar char="•"/>
            </a:pPr>
            <a:r>
              <a:rPr b="0" i="0" lang="en-US" sz="3500" u="none" cap="none" strike="noStrike">
                <a:solidFill>
                  <a:srgbClr val="FFFFFF"/>
                </a:solidFill>
                <a:latin typeface="Arial"/>
                <a:ea typeface="Arial"/>
                <a:cs typeface="Arial"/>
                <a:sym typeface="Arial"/>
              </a:rPr>
              <a:t>Requisitos funcionales</a:t>
            </a:r>
            <a:endParaRPr/>
          </a:p>
          <a:p>
            <a:pPr indent="-377825" lvl="1" marL="755651" marR="0" rtl="0" algn="l">
              <a:lnSpc>
                <a:spcPct val="140000"/>
              </a:lnSpc>
              <a:spcBef>
                <a:spcPts val="0"/>
              </a:spcBef>
              <a:spcAft>
                <a:spcPts val="0"/>
              </a:spcAft>
              <a:buClr>
                <a:srgbClr val="FFFFFF"/>
              </a:buClr>
              <a:buSzPts val="3500"/>
              <a:buFont typeface="Arial"/>
              <a:buChar char="•"/>
            </a:pPr>
            <a:r>
              <a:rPr b="0" i="0" lang="en-US" sz="3500" u="none" cap="none" strike="noStrike">
                <a:solidFill>
                  <a:srgbClr val="FFFFFF"/>
                </a:solidFill>
                <a:latin typeface="Arial"/>
                <a:ea typeface="Arial"/>
                <a:cs typeface="Arial"/>
                <a:sym typeface="Arial"/>
              </a:rPr>
              <a:t>Reglas de negocio</a:t>
            </a:r>
            <a:endParaRPr/>
          </a:p>
          <a:p>
            <a:pPr indent="0" lvl="0" marL="0" marR="0" rtl="0" algn="l">
              <a:lnSpc>
                <a:spcPct val="140000"/>
              </a:lnSpc>
              <a:spcBef>
                <a:spcPts val="0"/>
              </a:spcBef>
              <a:spcAft>
                <a:spcPts val="0"/>
              </a:spcAft>
              <a:buNone/>
            </a:pPr>
            <a:r>
              <a:t/>
            </a:r>
            <a:endParaRPr b="0" i="0" sz="3500" u="none" cap="none" strike="noStrike">
              <a:solidFill>
                <a:srgbClr val="FFFFFF"/>
              </a:solidFill>
              <a:latin typeface="Arial"/>
              <a:ea typeface="Arial"/>
              <a:cs typeface="Arial"/>
              <a:sym typeface="Arial"/>
            </a:endParaRPr>
          </a:p>
        </p:txBody>
      </p:sp>
      <p:sp>
        <p:nvSpPr>
          <p:cNvPr id="226" name="Google Shape;226;p10"/>
          <p:cNvSpPr txBox="1"/>
          <p:nvPr/>
        </p:nvSpPr>
        <p:spPr>
          <a:xfrm>
            <a:off x="1028700" y="4278312"/>
            <a:ext cx="6818796" cy="49307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FFFF"/>
                </a:solidFill>
                <a:latin typeface="Arial"/>
                <a:ea typeface="Arial"/>
                <a:cs typeface="Arial"/>
                <a:sym typeface="Arial"/>
              </a:rPr>
              <a:t>Estas pruebas se realizan típicamente con técnicas de caja negra, en las que el evaluador no necesita conocer la lógica interna del código, sino que se enfoca exclusivamente en las entradas y salidas</a:t>
            </a:r>
            <a:endParaRPr/>
          </a:p>
          <a:p>
            <a:pPr indent="0" lvl="0" marL="0" marR="0" rtl="0" algn="l">
              <a:lnSpc>
                <a:spcPct val="140000"/>
              </a:lnSpc>
              <a:spcBef>
                <a:spcPts val="0"/>
              </a:spcBef>
              <a:spcAft>
                <a:spcPts val="0"/>
              </a:spcAft>
              <a:buNone/>
            </a:pPr>
            <a:r>
              <a:t/>
            </a:r>
            <a:endParaRPr b="0" i="0" sz="3500" u="none" cap="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230" name="Shape 230"/>
        <p:cNvGrpSpPr/>
        <p:nvPr/>
      </p:nvGrpSpPr>
      <p:grpSpPr>
        <a:xfrm>
          <a:off x="0" y="0"/>
          <a:ext cx="0" cy="0"/>
          <a:chOff x="0" y="0"/>
          <a:chExt cx="0" cy="0"/>
        </a:xfrm>
      </p:grpSpPr>
      <p:grpSp>
        <p:nvGrpSpPr>
          <p:cNvPr id="231" name="Google Shape;231;p12"/>
          <p:cNvGrpSpPr/>
          <p:nvPr/>
        </p:nvGrpSpPr>
        <p:grpSpPr>
          <a:xfrm>
            <a:off x="1185531" y="1347569"/>
            <a:ext cx="8115300" cy="7591862"/>
            <a:chOff x="0" y="0"/>
            <a:chExt cx="162374486" cy="151901302"/>
          </a:xfrm>
        </p:grpSpPr>
        <p:sp>
          <p:nvSpPr>
            <p:cNvPr id="232" name="Google Shape;232;p12"/>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233" name="Google Shape;233;p12"/>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234" name="Google Shape;234;p12"/>
          <p:cNvSpPr txBox="1"/>
          <p:nvPr/>
        </p:nvSpPr>
        <p:spPr>
          <a:xfrm>
            <a:off x="2396424" y="4242075"/>
            <a:ext cx="6291300" cy="2166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292929"/>
                </a:solidFill>
                <a:latin typeface="Arial"/>
                <a:ea typeface="Arial"/>
                <a:cs typeface="Arial"/>
                <a:sym typeface="Arial"/>
              </a:rPr>
              <a:t>PRUEBAS NO FUNCIONALES</a:t>
            </a:r>
            <a:endParaRPr/>
          </a:p>
        </p:txBody>
      </p:sp>
      <p:sp>
        <p:nvSpPr>
          <p:cNvPr id="235" name="Google Shape;235;p12"/>
          <p:cNvSpPr txBox="1"/>
          <p:nvPr/>
        </p:nvSpPr>
        <p:spPr>
          <a:xfrm>
            <a:off x="10283672" y="1509077"/>
            <a:ext cx="6818796" cy="720217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Se enfocan en los atributos de calidad del sistema más allá de su funcionalidad básica.</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 </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A diferencia de las pruebas funcionales, las pruebas no funcionales a menudo requieren herramientas especializadas y entornos de prueba controlados para simular escenarios específicos.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239" name="Shape 239"/>
        <p:cNvGrpSpPr/>
        <p:nvPr/>
      </p:nvGrpSpPr>
      <p:grpSpPr>
        <a:xfrm>
          <a:off x="0" y="0"/>
          <a:ext cx="0" cy="0"/>
          <a:chOff x="0" y="0"/>
          <a:chExt cx="0" cy="0"/>
        </a:xfrm>
      </p:grpSpPr>
      <p:grpSp>
        <p:nvGrpSpPr>
          <p:cNvPr id="240" name="Google Shape;240;p13"/>
          <p:cNvGrpSpPr/>
          <p:nvPr/>
        </p:nvGrpSpPr>
        <p:grpSpPr>
          <a:xfrm>
            <a:off x="826918" y="1347569"/>
            <a:ext cx="8115300" cy="7591862"/>
            <a:chOff x="0" y="0"/>
            <a:chExt cx="162374486" cy="151901302"/>
          </a:xfrm>
        </p:grpSpPr>
        <p:sp>
          <p:nvSpPr>
            <p:cNvPr id="241" name="Google Shape;241;p13"/>
            <p:cNvSpPr/>
            <p:nvPr/>
          </p:nvSpPr>
          <p:spPr>
            <a:xfrm>
              <a:off x="72390" y="72390"/>
              <a:ext cx="162229703" cy="151756519"/>
            </a:xfrm>
            <a:custGeom>
              <a:rect b="b" l="l" r="r" t="t"/>
              <a:pathLst>
                <a:path extrusionOk="0" h="151756519" w="162229703">
                  <a:moveTo>
                    <a:pt x="0" y="0"/>
                  </a:moveTo>
                  <a:lnTo>
                    <a:pt x="162229703" y="0"/>
                  </a:lnTo>
                  <a:lnTo>
                    <a:pt x="162229703" y="151756519"/>
                  </a:lnTo>
                  <a:lnTo>
                    <a:pt x="0" y="151756519"/>
                  </a:lnTo>
                  <a:lnTo>
                    <a:pt x="0" y="0"/>
                  </a:lnTo>
                  <a:close/>
                </a:path>
              </a:pathLst>
            </a:custGeom>
            <a:solidFill>
              <a:srgbClr val="EDEBEB"/>
            </a:solidFill>
            <a:ln>
              <a:noFill/>
            </a:ln>
          </p:spPr>
        </p:sp>
        <p:sp>
          <p:nvSpPr>
            <p:cNvPr id="242" name="Google Shape;242;p13"/>
            <p:cNvSpPr/>
            <p:nvPr/>
          </p:nvSpPr>
          <p:spPr>
            <a:xfrm>
              <a:off x="0" y="0"/>
              <a:ext cx="162374486" cy="151901302"/>
            </a:xfrm>
            <a:custGeom>
              <a:rect b="b" l="l" r="r" t="t"/>
              <a:pathLst>
                <a:path extrusionOk="0" h="151901302" w="162374486">
                  <a:moveTo>
                    <a:pt x="162229701" y="151756517"/>
                  </a:moveTo>
                  <a:lnTo>
                    <a:pt x="162374486" y="151756517"/>
                  </a:lnTo>
                  <a:lnTo>
                    <a:pt x="162374486" y="151901302"/>
                  </a:lnTo>
                  <a:lnTo>
                    <a:pt x="162229701" y="151901302"/>
                  </a:lnTo>
                  <a:lnTo>
                    <a:pt x="162229701" y="151756517"/>
                  </a:lnTo>
                  <a:close/>
                  <a:moveTo>
                    <a:pt x="0" y="144780"/>
                  </a:moveTo>
                  <a:lnTo>
                    <a:pt x="144780" y="144780"/>
                  </a:lnTo>
                  <a:lnTo>
                    <a:pt x="144780" y="151756517"/>
                  </a:lnTo>
                  <a:lnTo>
                    <a:pt x="0" y="151756517"/>
                  </a:lnTo>
                  <a:lnTo>
                    <a:pt x="0" y="144780"/>
                  </a:lnTo>
                  <a:close/>
                  <a:moveTo>
                    <a:pt x="0" y="151756517"/>
                  </a:moveTo>
                  <a:lnTo>
                    <a:pt x="144780" y="151756517"/>
                  </a:lnTo>
                  <a:lnTo>
                    <a:pt x="144780" y="151901302"/>
                  </a:lnTo>
                  <a:lnTo>
                    <a:pt x="0" y="151901302"/>
                  </a:lnTo>
                  <a:lnTo>
                    <a:pt x="0" y="151756517"/>
                  </a:lnTo>
                  <a:close/>
                  <a:moveTo>
                    <a:pt x="162229701" y="144780"/>
                  </a:moveTo>
                  <a:lnTo>
                    <a:pt x="162374486" y="144780"/>
                  </a:lnTo>
                  <a:lnTo>
                    <a:pt x="162374486" y="151756517"/>
                  </a:lnTo>
                  <a:lnTo>
                    <a:pt x="162229701" y="151756517"/>
                  </a:lnTo>
                  <a:lnTo>
                    <a:pt x="162229701" y="144780"/>
                  </a:lnTo>
                  <a:close/>
                  <a:moveTo>
                    <a:pt x="144780" y="151756517"/>
                  </a:moveTo>
                  <a:lnTo>
                    <a:pt x="162229701" y="151756517"/>
                  </a:lnTo>
                  <a:lnTo>
                    <a:pt x="162229701" y="151901302"/>
                  </a:lnTo>
                  <a:lnTo>
                    <a:pt x="144780" y="151901302"/>
                  </a:lnTo>
                  <a:lnTo>
                    <a:pt x="144780" y="151756517"/>
                  </a:lnTo>
                  <a:close/>
                  <a:moveTo>
                    <a:pt x="162229701" y="0"/>
                  </a:moveTo>
                  <a:lnTo>
                    <a:pt x="162374486" y="0"/>
                  </a:lnTo>
                  <a:lnTo>
                    <a:pt x="162374486" y="144780"/>
                  </a:lnTo>
                  <a:lnTo>
                    <a:pt x="162229701" y="144780"/>
                  </a:lnTo>
                  <a:lnTo>
                    <a:pt x="162229701" y="0"/>
                  </a:lnTo>
                  <a:close/>
                  <a:moveTo>
                    <a:pt x="0" y="0"/>
                  </a:moveTo>
                  <a:lnTo>
                    <a:pt x="144780" y="0"/>
                  </a:lnTo>
                  <a:lnTo>
                    <a:pt x="144780" y="144780"/>
                  </a:lnTo>
                  <a:lnTo>
                    <a:pt x="0" y="144780"/>
                  </a:lnTo>
                  <a:lnTo>
                    <a:pt x="0" y="0"/>
                  </a:lnTo>
                  <a:close/>
                  <a:moveTo>
                    <a:pt x="144780" y="0"/>
                  </a:moveTo>
                  <a:lnTo>
                    <a:pt x="162229701" y="0"/>
                  </a:lnTo>
                  <a:lnTo>
                    <a:pt x="162229701" y="144780"/>
                  </a:lnTo>
                  <a:lnTo>
                    <a:pt x="144780" y="144780"/>
                  </a:lnTo>
                  <a:lnTo>
                    <a:pt x="144780" y="0"/>
                  </a:lnTo>
                  <a:close/>
                </a:path>
              </a:pathLst>
            </a:custGeom>
            <a:solidFill>
              <a:srgbClr val="292929"/>
            </a:solidFill>
            <a:ln>
              <a:noFill/>
            </a:ln>
          </p:spPr>
        </p:sp>
      </p:grpSp>
      <p:sp>
        <p:nvSpPr>
          <p:cNvPr id="243" name="Google Shape;243;p13"/>
          <p:cNvSpPr txBox="1"/>
          <p:nvPr/>
        </p:nvSpPr>
        <p:spPr>
          <a:xfrm>
            <a:off x="2037825" y="4242075"/>
            <a:ext cx="6610500" cy="21669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292929"/>
                </a:solidFill>
                <a:latin typeface="Arial"/>
                <a:ea typeface="Arial"/>
                <a:cs typeface="Arial"/>
                <a:sym typeface="Arial"/>
              </a:rPr>
              <a:t>PRUEBAS NO FUNCIONALES</a:t>
            </a:r>
            <a:endParaRPr/>
          </a:p>
        </p:txBody>
      </p:sp>
      <p:sp>
        <p:nvSpPr>
          <p:cNvPr id="244" name="Google Shape;244;p13"/>
          <p:cNvSpPr txBox="1"/>
          <p:nvPr/>
        </p:nvSpPr>
        <p:spPr>
          <a:xfrm>
            <a:off x="9761121" y="1926168"/>
            <a:ext cx="5548280" cy="1287145"/>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En lugar de preguntar:</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 “¿qué hace el software?” </a:t>
            </a:r>
            <a:endParaRPr/>
          </a:p>
        </p:txBody>
      </p:sp>
      <p:sp>
        <p:nvSpPr>
          <p:cNvPr id="245" name="Google Shape;245;p13"/>
          <p:cNvSpPr txBox="1"/>
          <p:nvPr/>
        </p:nvSpPr>
        <p:spPr>
          <a:xfrm>
            <a:off x="9761121" y="5035336"/>
            <a:ext cx="7699961" cy="325882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Nos ayudan a responder:</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“¿cuán rápido lo hace?”</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“¿es seguro?”</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“¿es fácil de usar?”</a:t>
            </a:r>
            <a:endParaRPr/>
          </a:p>
          <a:p>
            <a:pPr indent="0" lvl="0" marL="0" marR="0" rtl="0" algn="l">
              <a:lnSpc>
                <a:spcPct val="140010"/>
              </a:lnSpc>
              <a:spcBef>
                <a:spcPts val="0"/>
              </a:spcBef>
              <a:spcAft>
                <a:spcPts val="0"/>
              </a:spcAft>
              <a:buNone/>
            </a:pPr>
            <a:r>
              <a:rPr b="0" i="0" lang="en-US" sz="3699" u="none" cap="none" strike="noStrike">
                <a:solidFill>
                  <a:srgbClr val="FFFFFF"/>
                </a:solidFill>
                <a:latin typeface="Arial"/>
                <a:ea typeface="Arial"/>
                <a:cs typeface="Arial"/>
                <a:sym typeface="Arial"/>
              </a:rPr>
              <a:t>“¿cómo se comporta bajo presión?”</a:t>
            </a:r>
            <a:endParaRPr/>
          </a:p>
        </p:txBody>
      </p:sp>
      <p:cxnSp>
        <p:nvCxnSpPr>
          <p:cNvPr id="246" name="Google Shape;246;p13"/>
          <p:cNvCxnSpPr/>
          <p:nvPr/>
        </p:nvCxnSpPr>
        <p:spPr>
          <a:xfrm>
            <a:off x="12535262" y="3213314"/>
            <a:ext cx="0" cy="1684522"/>
          </a:xfrm>
          <a:prstGeom prst="straightConnector1">
            <a:avLst/>
          </a:prstGeom>
          <a:noFill/>
          <a:ln cap="flat" cmpd="sng" w="38100">
            <a:solidFill>
              <a:srgbClr val="000000"/>
            </a:solidFill>
            <a:prstDash val="lgDash"/>
            <a:round/>
            <a:headEnd len="sm" w="sm" type="none"/>
            <a:tailEnd len="med" w="med" type="stealth"/>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EB"/>
        </a:solidFill>
      </p:bgPr>
    </p:bg>
    <p:spTree>
      <p:nvGrpSpPr>
        <p:cNvPr id="250" name="Shape 250"/>
        <p:cNvGrpSpPr/>
        <p:nvPr/>
      </p:nvGrpSpPr>
      <p:grpSpPr>
        <a:xfrm>
          <a:off x="0" y="0"/>
          <a:ext cx="0" cy="0"/>
          <a:chOff x="0" y="0"/>
          <a:chExt cx="0" cy="0"/>
        </a:xfrm>
      </p:grpSpPr>
      <p:grpSp>
        <p:nvGrpSpPr>
          <p:cNvPr id="251" name="Google Shape;251;p15"/>
          <p:cNvGrpSpPr/>
          <p:nvPr/>
        </p:nvGrpSpPr>
        <p:grpSpPr>
          <a:xfrm>
            <a:off x="-788928" y="3429000"/>
            <a:ext cx="20516850" cy="6848475"/>
            <a:chOff x="0" y="0"/>
            <a:chExt cx="27355800" cy="9131300"/>
          </a:xfrm>
        </p:grpSpPr>
        <p:sp>
          <p:nvSpPr>
            <p:cNvPr id="252" name="Google Shape;252;p15"/>
            <p:cNvSpPr/>
            <p:nvPr/>
          </p:nvSpPr>
          <p:spPr>
            <a:xfrm>
              <a:off x="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3" name="Google Shape;253;p15"/>
            <p:cNvSpPr/>
            <p:nvPr/>
          </p:nvSpPr>
          <p:spPr>
            <a:xfrm>
              <a:off x="455676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4" name="Google Shape;254;p15"/>
            <p:cNvSpPr/>
            <p:nvPr/>
          </p:nvSpPr>
          <p:spPr>
            <a:xfrm>
              <a:off x="1367028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5" name="Google Shape;255;p15"/>
            <p:cNvSpPr/>
            <p:nvPr/>
          </p:nvSpPr>
          <p:spPr>
            <a:xfrm>
              <a:off x="911352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6" name="Google Shape;256;p15"/>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7" name="Google Shape;257;p15"/>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8" name="Google Shape;258;p15"/>
            <p:cNvSpPr/>
            <p:nvPr/>
          </p:nvSpPr>
          <p:spPr>
            <a:xfrm>
              <a:off x="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59" name="Google Shape;259;p15"/>
            <p:cNvSpPr/>
            <p:nvPr/>
          </p:nvSpPr>
          <p:spPr>
            <a:xfrm>
              <a:off x="455676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60" name="Google Shape;260;p15"/>
            <p:cNvSpPr/>
            <p:nvPr/>
          </p:nvSpPr>
          <p:spPr>
            <a:xfrm>
              <a:off x="1367028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61" name="Google Shape;261;p15"/>
            <p:cNvSpPr/>
            <p:nvPr/>
          </p:nvSpPr>
          <p:spPr>
            <a:xfrm>
              <a:off x="911352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62" name="Google Shape;262;p15"/>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263" name="Google Shape;263;p15"/>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grpSp>
        <p:nvGrpSpPr>
          <p:cNvPr id="264" name="Google Shape;264;p15"/>
          <p:cNvGrpSpPr/>
          <p:nvPr/>
        </p:nvGrpSpPr>
        <p:grpSpPr>
          <a:xfrm>
            <a:off x="1266825" y="4801843"/>
            <a:ext cx="4781497" cy="1367055"/>
            <a:chOff x="0" y="0"/>
            <a:chExt cx="95670291" cy="27352631"/>
          </a:xfrm>
        </p:grpSpPr>
        <p:sp>
          <p:nvSpPr>
            <p:cNvPr id="265" name="Google Shape;265;p1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266" name="Google Shape;266;p1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267" name="Google Shape;267;p15"/>
          <p:cNvSpPr txBox="1"/>
          <p:nvPr/>
        </p:nvSpPr>
        <p:spPr>
          <a:xfrm>
            <a:off x="2109600" y="341800"/>
            <a:ext cx="14068800" cy="197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400" u="none" cap="none" strike="noStrike">
                <a:solidFill>
                  <a:srgbClr val="292929"/>
                </a:solidFill>
                <a:latin typeface="Arial"/>
                <a:ea typeface="Arial"/>
                <a:cs typeface="Arial"/>
                <a:sym typeface="Arial"/>
              </a:rPr>
              <a:t>TIPOS DE PRUEBAS FUNCIONALES</a:t>
            </a:r>
            <a:endParaRPr/>
          </a:p>
        </p:txBody>
      </p:sp>
      <p:grpSp>
        <p:nvGrpSpPr>
          <p:cNvPr id="268" name="Google Shape;268;p15"/>
          <p:cNvGrpSpPr/>
          <p:nvPr/>
        </p:nvGrpSpPr>
        <p:grpSpPr>
          <a:xfrm>
            <a:off x="1266825" y="3430158"/>
            <a:ext cx="4781497" cy="1369413"/>
            <a:chOff x="0" y="0"/>
            <a:chExt cx="95670291" cy="27399813"/>
          </a:xfrm>
        </p:grpSpPr>
        <p:sp>
          <p:nvSpPr>
            <p:cNvPr id="269" name="Google Shape;269;p1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270" name="Google Shape;270;p1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271" name="Google Shape;271;p15"/>
          <p:cNvSpPr txBox="1"/>
          <p:nvPr/>
        </p:nvSpPr>
        <p:spPr>
          <a:xfrm>
            <a:off x="1573272" y="4851005"/>
            <a:ext cx="4135311" cy="12401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Verifica que una función o componente individual funcione correctamente. Usualmente hecha por desarrolladores.</a:t>
            </a:r>
            <a:endParaRPr/>
          </a:p>
        </p:txBody>
      </p:sp>
      <p:grpSp>
        <p:nvGrpSpPr>
          <p:cNvPr id="272" name="Google Shape;272;p15"/>
          <p:cNvGrpSpPr/>
          <p:nvPr/>
        </p:nvGrpSpPr>
        <p:grpSpPr>
          <a:xfrm>
            <a:off x="6743726" y="6853238"/>
            <a:ext cx="4781497" cy="1369413"/>
            <a:chOff x="0" y="0"/>
            <a:chExt cx="95670291" cy="27399813"/>
          </a:xfrm>
        </p:grpSpPr>
        <p:sp>
          <p:nvSpPr>
            <p:cNvPr id="273" name="Google Shape;273;p1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274" name="Google Shape;274;p1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275" name="Google Shape;275;p15"/>
          <p:cNvGrpSpPr/>
          <p:nvPr/>
        </p:nvGrpSpPr>
        <p:grpSpPr>
          <a:xfrm>
            <a:off x="12205811" y="6853238"/>
            <a:ext cx="4786436" cy="1369413"/>
            <a:chOff x="0" y="0"/>
            <a:chExt cx="95769112" cy="27399813"/>
          </a:xfrm>
        </p:grpSpPr>
        <p:sp>
          <p:nvSpPr>
            <p:cNvPr id="276" name="Google Shape;276;p15"/>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277" name="Google Shape;277;p15"/>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278" name="Google Shape;278;p15"/>
          <p:cNvGrpSpPr/>
          <p:nvPr/>
        </p:nvGrpSpPr>
        <p:grpSpPr>
          <a:xfrm>
            <a:off x="6743726" y="4801843"/>
            <a:ext cx="4781497" cy="1367055"/>
            <a:chOff x="0" y="0"/>
            <a:chExt cx="95670291" cy="27352631"/>
          </a:xfrm>
        </p:grpSpPr>
        <p:sp>
          <p:nvSpPr>
            <p:cNvPr id="279" name="Google Shape;279;p1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280" name="Google Shape;280;p1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281" name="Google Shape;281;p15"/>
          <p:cNvGrpSpPr/>
          <p:nvPr/>
        </p:nvGrpSpPr>
        <p:grpSpPr>
          <a:xfrm>
            <a:off x="6743726" y="3430158"/>
            <a:ext cx="4781497" cy="1369413"/>
            <a:chOff x="0" y="0"/>
            <a:chExt cx="95670291" cy="27399813"/>
          </a:xfrm>
        </p:grpSpPr>
        <p:sp>
          <p:nvSpPr>
            <p:cNvPr id="282" name="Google Shape;282;p1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283" name="Google Shape;283;p1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284" name="Google Shape;284;p15"/>
          <p:cNvSpPr txBox="1"/>
          <p:nvPr/>
        </p:nvSpPr>
        <p:spPr>
          <a:xfrm>
            <a:off x="7068193" y="4993563"/>
            <a:ext cx="4151614"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Evalúa si múltiples módulos funcionan bien juntos. Asegura que las interfaces entre componentes sean correctas.</a:t>
            </a:r>
            <a:endParaRPr/>
          </a:p>
        </p:txBody>
      </p:sp>
      <p:grpSp>
        <p:nvGrpSpPr>
          <p:cNvPr id="285" name="Google Shape;285;p15"/>
          <p:cNvGrpSpPr/>
          <p:nvPr/>
        </p:nvGrpSpPr>
        <p:grpSpPr>
          <a:xfrm>
            <a:off x="12205811" y="4801843"/>
            <a:ext cx="4781497" cy="1367055"/>
            <a:chOff x="0" y="0"/>
            <a:chExt cx="95670291" cy="27352631"/>
          </a:xfrm>
        </p:grpSpPr>
        <p:sp>
          <p:nvSpPr>
            <p:cNvPr id="286" name="Google Shape;286;p1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287" name="Google Shape;287;p1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288" name="Google Shape;288;p15"/>
          <p:cNvGrpSpPr/>
          <p:nvPr/>
        </p:nvGrpSpPr>
        <p:grpSpPr>
          <a:xfrm>
            <a:off x="12205811" y="3430158"/>
            <a:ext cx="4781497" cy="1369413"/>
            <a:chOff x="0" y="0"/>
            <a:chExt cx="95670291" cy="27399813"/>
          </a:xfrm>
        </p:grpSpPr>
        <p:sp>
          <p:nvSpPr>
            <p:cNvPr id="289" name="Google Shape;289;p1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290" name="Google Shape;290;p1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291" name="Google Shape;291;p15"/>
          <p:cNvSpPr txBox="1"/>
          <p:nvPr/>
        </p:nvSpPr>
        <p:spPr>
          <a:xfrm>
            <a:off x="1573272" y="3678619"/>
            <a:ext cx="413531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UNIDAD (UNIT TEST) </a:t>
            </a:r>
            <a:endParaRPr/>
          </a:p>
        </p:txBody>
      </p:sp>
      <p:sp>
        <p:nvSpPr>
          <p:cNvPr id="292" name="Google Shape;292;p15"/>
          <p:cNvSpPr txBox="1"/>
          <p:nvPr/>
        </p:nvSpPr>
        <p:spPr>
          <a:xfrm>
            <a:off x="7058668" y="388816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INTEGRACIÓN </a:t>
            </a:r>
            <a:endParaRPr/>
          </a:p>
        </p:txBody>
      </p:sp>
      <p:sp>
        <p:nvSpPr>
          <p:cNvPr id="293" name="Google Shape;293;p15"/>
          <p:cNvSpPr txBox="1"/>
          <p:nvPr/>
        </p:nvSpPr>
        <p:spPr>
          <a:xfrm>
            <a:off x="12531134" y="3888169"/>
            <a:ext cx="41310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a:t>
            </a:r>
            <a:r>
              <a:rPr lang="en-US" sz="2400">
                <a:solidFill>
                  <a:srgbClr val="FFFFFF"/>
                </a:solidFill>
              </a:rPr>
              <a:t> E2E</a:t>
            </a:r>
            <a:r>
              <a:rPr b="0" i="0" lang="en-US" sz="2400" u="none" cap="none" strike="noStrike">
                <a:solidFill>
                  <a:srgbClr val="FFFFFF"/>
                </a:solidFill>
                <a:latin typeface="Arial"/>
                <a:ea typeface="Arial"/>
                <a:cs typeface="Arial"/>
                <a:sym typeface="Arial"/>
              </a:rPr>
              <a:t> </a:t>
            </a:r>
            <a:endParaRPr/>
          </a:p>
        </p:txBody>
      </p:sp>
      <p:sp>
        <p:nvSpPr>
          <p:cNvPr id="294" name="Google Shape;294;p15"/>
          <p:cNvSpPr txBox="1"/>
          <p:nvPr/>
        </p:nvSpPr>
        <p:spPr>
          <a:xfrm>
            <a:off x="12531125" y="4993575"/>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292929"/>
                </a:solidFill>
                <a:latin typeface="Open Sans"/>
                <a:ea typeface="Open Sans"/>
                <a:cs typeface="Open Sans"/>
                <a:sym typeface="Open Sans"/>
              </a:rPr>
              <a:t>Verifican que todo el sistema complete un flujo de trabajo de principio a fin tal como lo haría un usuario real</a:t>
            </a:r>
            <a:endParaRPr/>
          </a:p>
        </p:txBody>
      </p:sp>
      <p:grpSp>
        <p:nvGrpSpPr>
          <p:cNvPr id="295" name="Google Shape;295;p15"/>
          <p:cNvGrpSpPr/>
          <p:nvPr/>
        </p:nvGrpSpPr>
        <p:grpSpPr>
          <a:xfrm>
            <a:off x="1266825" y="8224923"/>
            <a:ext cx="4791375" cy="1367055"/>
            <a:chOff x="0" y="0"/>
            <a:chExt cx="95867934" cy="27352631"/>
          </a:xfrm>
        </p:grpSpPr>
        <p:sp>
          <p:nvSpPr>
            <p:cNvPr id="296" name="Google Shape;296;p15"/>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297" name="Google Shape;297;p15"/>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298" name="Google Shape;298;p15"/>
          <p:cNvGrpSpPr/>
          <p:nvPr/>
        </p:nvGrpSpPr>
        <p:grpSpPr>
          <a:xfrm>
            <a:off x="1266825" y="6853238"/>
            <a:ext cx="4791375" cy="1372242"/>
            <a:chOff x="0" y="0"/>
            <a:chExt cx="95670291" cy="27399813"/>
          </a:xfrm>
        </p:grpSpPr>
        <p:sp>
          <p:nvSpPr>
            <p:cNvPr id="299" name="Google Shape;299;p15"/>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00" name="Google Shape;300;p15"/>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01" name="Google Shape;301;p15"/>
          <p:cNvSpPr txBox="1"/>
          <p:nvPr/>
        </p:nvSpPr>
        <p:spPr>
          <a:xfrm>
            <a:off x="1573272" y="7101699"/>
            <a:ext cx="413531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ACEPTACIÓN (UAT) </a:t>
            </a:r>
            <a:endParaRPr/>
          </a:p>
        </p:txBody>
      </p:sp>
      <p:sp>
        <p:nvSpPr>
          <p:cNvPr id="302" name="Google Shape;302;p15"/>
          <p:cNvSpPr txBox="1"/>
          <p:nvPr/>
        </p:nvSpPr>
        <p:spPr>
          <a:xfrm>
            <a:off x="1573272" y="8311204"/>
            <a:ext cx="4135311" cy="15544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Realizada por el cliente o usuario final. Verifica que el software cumple sus expectativas y está listo para producción.</a:t>
            </a:r>
            <a:endParaRPr/>
          </a:p>
          <a:p>
            <a:pPr indent="0" lvl="0" marL="0" marR="0" rtl="0" algn="l">
              <a:lnSpc>
                <a:spcPct val="140000"/>
              </a:lnSpc>
              <a:spcBef>
                <a:spcPts val="0"/>
              </a:spcBef>
              <a:spcAft>
                <a:spcPts val="0"/>
              </a:spcAft>
              <a:buNone/>
            </a:pPr>
            <a:r>
              <a:t/>
            </a:r>
            <a:endParaRPr b="0" i="0" sz="1800" u="none" cap="none" strike="noStrike">
              <a:solidFill>
                <a:srgbClr val="292929"/>
              </a:solidFill>
              <a:latin typeface="Open Sans"/>
              <a:ea typeface="Open Sans"/>
              <a:cs typeface="Open Sans"/>
              <a:sym typeface="Open Sans"/>
            </a:endParaRPr>
          </a:p>
        </p:txBody>
      </p:sp>
      <p:grpSp>
        <p:nvGrpSpPr>
          <p:cNvPr id="303" name="Google Shape;303;p15"/>
          <p:cNvGrpSpPr/>
          <p:nvPr/>
        </p:nvGrpSpPr>
        <p:grpSpPr>
          <a:xfrm>
            <a:off x="6743726" y="8224923"/>
            <a:ext cx="4781497" cy="1367055"/>
            <a:chOff x="0" y="0"/>
            <a:chExt cx="95670291" cy="27352631"/>
          </a:xfrm>
        </p:grpSpPr>
        <p:sp>
          <p:nvSpPr>
            <p:cNvPr id="304" name="Google Shape;304;p1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05" name="Google Shape;305;p1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06" name="Google Shape;306;p15"/>
          <p:cNvSpPr txBox="1"/>
          <p:nvPr/>
        </p:nvSpPr>
        <p:spPr>
          <a:xfrm>
            <a:off x="7058668" y="731124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REGRESIÓN </a:t>
            </a:r>
            <a:endParaRPr/>
          </a:p>
        </p:txBody>
      </p:sp>
      <p:sp>
        <p:nvSpPr>
          <p:cNvPr id="307" name="Google Shape;307;p15"/>
          <p:cNvSpPr txBox="1"/>
          <p:nvPr/>
        </p:nvSpPr>
        <p:spPr>
          <a:xfrm>
            <a:off x="7218860" y="8311204"/>
            <a:ext cx="4151614" cy="12401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Asegura que los cambios o correcciones no hayan roto funcionalidades existentes.</a:t>
            </a:r>
            <a:endParaRPr/>
          </a:p>
          <a:p>
            <a:pPr indent="0" lvl="0" marL="0" marR="0" rtl="0" algn="l">
              <a:lnSpc>
                <a:spcPct val="140000"/>
              </a:lnSpc>
              <a:spcBef>
                <a:spcPts val="0"/>
              </a:spcBef>
              <a:spcAft>
                <a:spcPts val="0"/>
              </a:spcAft>
              <a:buNone/>
            </a:pPr>
            <a:r>
              <a:t/>
            </a:r>
            <a:endParaRPr b="0" i="0" sz="1800" u="none" cap="none" strike="noStrike">
              <a:solidFill>
                <a:srgbClr val="292929"/>
              </a:solidFill>
              <a:latin typeface="Open Sans"/>
              <a:ea typeface="Open Sans"/>
              <a:cs typeface="Open Sans"/>
              <a:sym typeface="Open Sans"/>
            </a:endParaRPr>
          </a:p>
        </p:txBody>
      </p:sp>
      <p:grpSp>
        <p:nvGrpSpPr>
          <p:cNvPr id="308" name="Google Shape;308;p15"/>
          <p:cNvGrpSpPr/>
          <p:nvPr/>
        </p:nvGrpSpPr>
        <p:grpSpPr>
          <a:xfrm>
            <a:off x="12205811" y="8224923"/>
            <a:ext cx="4781497" cy="1367055"/>
            <a:chOff x="0" y="0"/>
            <a:chExt cx="95670291" cy="27352631"/>
          </a:xfrm>
        </p:grpSpPr>
        <p:sp>
          <p:nvSpPr>
            <p:cNvPr id="309" name="Google Shape;309;p15"/>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10" name="Google Shape;310;p15"/>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11" name="Google Shape;311;p15"/>
          <p:cNvSpPr txBox="1"/>
          <p:nvPr/>
        </p:nvSpPr>
        <p:spPr>
          <a:xfrm>
            <a:off x="12531134" y="7101699"/>
            <a:ext cx="413085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HUMO (SMOKE TEST) </a:t>
            </a:r>
            <a:endParaRPr/>
          </a:p>
        </p:txBody>
      </p:sp>
      <p:sp>
        <p:nvSpPr>
          <p:cNvPr id="312" name="Google Shape;312;p15"/>
          <p:cNvSpPr txBox="1"/>
          <p:nvPr/>
        </p:nvSpPr>
        <p:spPr>
          <a:xfrm>
            <a:off x="12531134" y="8416643"/>
            <a:ext cx="4130851"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Verifica que el sistema arranca y responde a las funciones más esenciales sin fallar de inmediato</a:t>
            </a:r>
            <a:endParaRPr/>
          </a:p>
        </p:txBody>
      </p:sp>
      <p:sp>
        <p:nvSpPr>
          <p:cNvPr id="313" name="Google Shape;313;p15"/>
          <p:cNvSpPr txBox="1"/>
          <p:nvPr/>
        </p:nvSpPr>
        <p:spPr>
          <a:xfrm>
            <a:off x="4157300" y="2302020"/>
            <a:ext cx="102747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000000"/>
                </a:solidFill>
                <a:latin typeface="Arial"/>
                <a:ea typeface="Arial"/>
                <a:cs typeface="Arial"/>
                <a:sym typeface="Arial"/>
              </a:rPr>
              <a:t>EVALÚAN QUÉ HACE EL SISTEMA SEGÚN LOS REQUISITOS DEFINIDOS.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EB"/>
        </a:solidFill>
      </p:bgPr>
    </p:bg>
    <p:spTree>
      <p:nvGrpSpPr>
        <p:cNvPr id="317" name="Shape 317"/>
        <p:cNvGrpSpPr/>
        <p:nvPr/>
      </p:nvGrpSpPr>
      <p:grpSpPr>
        <a:xfrm>
          <a:off x="0" y="0"/>
          <a:ext cx="0" cy="0"/>
          <a:chOff x="0" y="0"/>
          <a:chExt cx="0" cy="0"/>
        </a:xfrm>
      </p:grpSpPr>
      <p:grpSp>
        <p:nvGrpSpPr>
          <p:cNvPr id="318" name="Google Shape;318;p16"/>
          <p:cNvGrpSpPr/>
          <p:nvPr/>
        </p:nvGrpSpPr>
        <p:grpSpPr>
          <a:xfrm>
            <a:off x="-788928" y="3429000"/>
            <a:ext cx="20516850" cy="6848475"/>
            <a:chOff x="0" y="0"/>
            <a:chExt cx="27355800" cy="9131300"/>
          </a:xfrm>
        </p:grpSpPr>
        <p:sp>
          <p:nvSpPr>
            <p:cNvPr id="319" name="Google Shape;319;p16"/>
            <p:cNvSpPr/>
            <p:nvPr/>
          </p:nvSpPr>
          <p:spPr>
            <a:xfrm>
              <a:off x="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0" name="Google Shape;320;p16"/>
            <p:cNvSpPr/>
            <p:nvPr/>
          </p:nvSpPr>
          <p:spPr>
            <a:xfrm>
              <a:off x="455676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1" name="Google Shape;321;p16"/>
            <p:cNvSpPr/>
            <p:nvPr/>
          </p:nvSpPr>
          <p:spPr>
            <a:xfrm>
              <a:off x="1367028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2" name="Google Shape;322;p16"/>
            <p:cNvSpPr/>
            <p:nvPr/>
          </p:nvSpPr>
          <p:spPr>
            <a:xfrm>
              <a:off x="911352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3" name="Google Shape;323;p16"/>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4" name="Google Shape;324;p16"/>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5" name="Google Shape;325;p16"/>
            <p:cNvSpPr/>
            <p:nvPr/>
          </p:nvSpPr>
          <p:spPr>
            <a:xfrm>
              <a:off x="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6" name="Google Shape;326;p16"/>
            <p:cNvSpPr/>
            <p:nvPr/>
          </p:nvSpPr>
          <p:spPr>
            <a:xfrm>
              <a:off x="455676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7" name="Google Shape;327;p16"/>
            <p:cNvSpPr/>
            <p:nvPr/>
          </p:nvSpPr>
          <p:spPr>
            <a:xfrm>
              <a:off x="1367028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8" name="Google Shape;328;p16"/>
            <p:cNvSpPr/>
            <p:nvPr/>
          </p:nvSpPr>
          <p:spPr>
            <a:xfrm>
              <a:off x="911352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29" name="Google Shape;329;p16"/>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30" name="Google Shape;330;p16"/>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grpSp>
        <p:nvGrpSpPr>
          <p:cNvPr id="331" name="Google Shape;331;p16"/>
          <p:cNvGrpSpPr/>
          <p:nvPr/>
        </p:nvGrpSpPr>
        <p:grpSpPr>
          <a:xfrm>
            <a:off x="1266825" y="4801843"/>
            <a:ext cx="4781497" cy="1367055"/>
            <a:chOff x="0" y="0"/>
            <a:chExt cx="95670291" cy="27352631"/>
          </a:xfrm>
        </p:grpSpPr>
        <p:sp>
          <p:nvSpPr>
            <p:cNvPr id="332" name="Google Shape;332;p16"/>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33" name="Google Shape;333;p16"/>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34" name="Google Shape;334;p16"/>
          <p:cNvSpPr txBox="1"/>
          <p:nvPr/>
        </p:nvSpPr>
        <p:spPr>
          <a:xfrm>
            <a:off x="2260263" y="282800"/>
            <a:ext cx="14068800" cy="2167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6400" u="none" cap="none" strike="noStrike">
                <a:solidFill>
                  <a:srgbClr val="292929"/>
                </a:solidFill>
                <a:latin typeface="Arial"/>
                <a:ea typeface="Arial"/>
                <a:cs typeface="Arial"/>
                <a:sym typeface="Arial"/>
              </a:rPr>
              <a:t>TIPOS DE PRUEBAS FUNCIONALES</a:t>
            </a:r>
            <a:endParaRPr/>
          </a:p>
        </p:txBody>
      </p:sp>
      <p:grpSp>
        <p:nvGrpSpPr>
          <p:cNvPr id="335" name="Google Shape;335;p16"/>
          <p:cNvGrpSpPr/>
          <p:nvPr/>
        </p:nvGrpSpPr>
        <p:grpSpPr>
          <a:xfrm>
            <a:off x="1266825" y="3430158"/>
            <a:ext cx="4781497" cy="1369413"/>
            <a:chOff x="0" y="0"/>
            <a:chExt cx="95670291" cy="27399813"/>
          </a:xfrm>
        </p:grpSpPr>
        <p:sp>
          <p:nvSpPr>
            <p:cNvPr id="336" name="Google Shape;336;p16"/>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37" name="Google Shape;337;p16"/>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38" name="Google Shape;338;p16"/>
          <p:cNvSpPr txBox="1"/>
          <p:nvPr/>
        </p:nvSpPr>
        <p:spPr>
          <a:xfrm>
            <a:off x="1573272" y="5008168"/>
            <a:ext cx="4135311"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implementa con frameworks como JUnit (Java), pytest (Python), Mocha (JS), etc. </a:t>
            </a:r>
            <a:endParaRPr/>
          </a:p>
        </p:txBody>
      </p:sp>
      <p:grpSp>
        <p:nvGrpSpPr>
          <p:cNvPr id="339" name="Google Shape;339;p16"/>
          <p:cNvGrpSpPr/>
          <p:nvPr/>
        </p:nvGrpSpPr>
        <p:grpSpPr>
          <a:xfrm>
            <a:off x="6743726" y="6853238"/>
            <a:ext cx="4781497" cy="1369413"/>
            <a:chOff x="0" y="0"/>
            <a:chExt cx="95670291" cy="27399813"/>
          </a:xfrm>
        </p:grpSpPr>
        <p:sp>
          <p:nvSpPr>
            <p:cNvPr id="340" name="Google Shape;340;p16"/>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41" name="Google Shape;341;p16"/>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342" name="Google Shape;342;p16"/>
          <p:cNvGrpSpPr/>
          <p:nvPr/>
        </p:nvGrpSpPr>
        <p:grpSpPr>
          <a:xfrm>
            <a:off x="12205811" y="6853238"/>
            <a:ext cx="4786436" cy="1369413"/>
            <a:chOff x="0" y="0"/>
            <a:chExt cx="95769112" cy="27399813"/>
          </a:xfrm>
        </p:grpSpPr>
        <p:sp>
          <p:nvSpPr>
            <p:cNvPr id="343" name="Google Shape;343;p16"/>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344" name="Google Shape;344;p16"/>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345" name="Google Shape;345;p16"/>
          <p:cNvGrpSpPr/>
          <p:nvPr/>
        </p:nvGrpSpPr>
        <p:grpSpPr>
          <a:xfrm>
            <a:off x="6743726" y="4801843"/>
            <a:ext cx="4781497" cy="1367055"/>
            <a:chOff x="0" y="0"/>
            <a:chExt cx="95670291" cy="27352631"/>
          </a:xfrm>
        </p:grpSpPr>
        <p:sp>
          <p:nvSpPr>
            <p:cNvPr id="346" name="Google Shape;346;p16"/>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47" name="Google Shape;347;p16"/>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348" name="Google Shape;348;p16"/>
          <p:cNvGrpSpPr/>
          <p:nvPr/>
        </p:nvGrpSpPr>
        <p:grpSpPr>
          <a:xfrm>
            <a:off x="6743726" y="3430158"/>
            <a:ext cx="4781497" cy="1369413"/>
            <a:chOff x="0" y="0"/>
            <a:chExt cx="95670291" cy="27399813"/>
          </a:xfrm>
        </p:grpSpPr>
        <p:sp>
          <p:nvSpPr>
            <p:cNvPr id="349" name="Google Shape;349;p16"/>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50" name="Google Shape;350;p16"/>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51" name="Google Shape;351;p16"/>
          <p:cNvSpPr txBox="1"/>
          <p:nvPr/>
        </p:nvSpPr>
        <p:spPr>
          <a:xfrm>
            <a:off x="7068193" y="4993563"/>
            <a:ext cx="4151614"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integran módulos y se usan stubs/mocks para probar interacciones </a:t>
            </a:r>
            <a:endParaRPr/>
          </a:p>
        </p:txBody>
      </p:sp>
      <p:grpSp>
        <p:nvGrpSpPr>
          <p:cNvPr id="352" name="Google Shape;352;p16"/>
          <p:cNvGrpSpPr/>
          <p:nvPr/>
        </p:nvGrpSpPr>
        <p:grpSpPr>
          <a:xfrm>
            <a:off x="12205811" y="4801843"/>
            <a:ext cx="4781497" cy="1367055"/>
            <a:chOff x="0" y="0"/>
            <a:chExt cx="95670291" cy="27352631"/>
          </a:xfrm>
        </p:grpSpPr>
        <p:sp>
          <p:nvSpPr>
            <p:cNvPr id="353" name="Google Shape;353;p16"/>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54" name="Google Shape;354;p16"/>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355" name="Google Shape;355;p16"/>
          <p:cNvGrpSpPr/>
          <p:nvPr/>
        </p:nvGrpSpPr>
        <p:grpSpPr>
          <a:xfrm>
            <a:off x="12205811" y="3430158"/>
            <a:ext cx="4781497" cy="1369413"/>
            <a:chOff x="0" y="0"/>
            <a:chExt cx="95670291" cy="27399813"/>
          </a:xfrm>
        </p:grpSpPr>
        <p:sp>
          <p:nvSpPr>
            <p:cNvPr id="356" name="Google Shape;356;p16"/>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57" name="Google Shape;357;p16"/>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58" name="Google Shape;358;p16"/>
          <p:cNvSpPr txBox="1"/>
          <p:nvPr/>
        </p:nvSpPr>
        <p:spPr>
          <a:xfrm>
            <a:off x="1573272" y="3678619"/>
            <a:ext cx="413531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UNIDAD (UNIT TEST) </a:t>
            </a:r>
            <a:endParaRPr/>
          </a:p>
        </p:txBody>
      </p:sp>
      <p:sp>
        <p:nvSpPr>
          <p:cNvPr id="359" name="Google Shape;359;p16"/>
          <p:cNvSpPr txBox="1"/>
          <p:nvPr/>
        </p:nvSpPr>
        <p:spPr>
          <a:xfrm>
            <a:off x="7058668" y="388816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INTEGRACIÓN </a:t>
            </a:r>
            <a:endParaRPr/>
          </a:p>
        </p:txBody>
      </p:sp>
      <p:sp>
        <p:nvSpPr>
          <p:cNvPr id="360" name="Google Shape;360;p16"/>
          <p:cNvSpPr txBox="1"/>
          <p:nvPr/>
        </p:nvSpPr>
        <p:spPr>
          <a:xfrm>
            <a:off x="12531134" y="3888169"/>
            <a:ext cx="41310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a:t>
            </a:r>
            <a:r>
              <a:rPr lang="en-US" sz="2400">
                <a:solidFill>
                  <a:srgbClr val="FFFFFF"/>
                </a:solidFill>
              </a:rPr>
              <a:t>E2E</a:t>
            </a:r>
            <a:endParaRPr/>
          </a:p>
        </p:txBody>
      </p:sp>
      <p:sp>
        <p:nvSpPr>
          <p:cNvPr id="361" name="Google Shape;361;p16"/>
          <p:cNvSpPr txBox="1"/>
          <p:nvPr/>
        </p:nvSpPr>
        <p:spPr>
          <a:xfrm>
            <a:off x="12531134" y="4993563"/>
            <a:ext cx="41310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292929"/>
                </a:solidFill>
                <a:latin typeface="Open Sans"/>
                <a:ea typeface="Open Sans"/>
                <a:cs typeface="Open Sans"/>
                <a:sym typeface="Open Sans"/>
              </a:rPr>
              <a:t>suelen usar herramientas automatizadas como Selenium, Cypress o Playwright</a:t>
            </a:r>
            <a:endParaRPr/>
          </a:p>
        </p:txBody>
      </p:sp>
      <p:grpSp>
        <p:nvGrpSpPr>
          <p:cNvPr id="362" name="Google Shape;362;p16"/>
          <p:cNvGrpSpPr/>
          <p:nvPr/>
        </p:nvGrpSpPr>
        <p:grpSpPr>
          <a:xfrm>
            <a:off x="1266825" y="8224923"/>
            <a:ext cx="4791375" cy="1367055"/>
            <a:chOff x="0" y="0"/>
            <a:chExt cx="95867934" cy="27352631"/>
          </a:xfrm>
        </p:grpSpPr>
        <p:sp>
          <p:nvSpPr>
            <p:cNvPr id="363" name="Google Shape;363;p16"/>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364" name="Google Shape;364;p16"/>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365" name="Google Shape;365;p16"/>
          <p:cNvGrpSpPr/>
          <p:nvPr/>
        </p:nvGrpSpPr>
        <p:grpSpPr>
          <a:xfrm>
            <a:off x="1266825" y="6853238"/>
            <a:ext cx="4791375" cy="1372242"/>
            <a:chOff x="0" y="0"/>
            <a:chExt cx="95670291" cy="27399813"/>
          </a:xfrm>
        </p:grpSpPr>
        <p:sp>
          <p:nvSpPr>
            <p:cNvPr id="366" name="Google Shape;366;p16"/>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367" name="Google Shape;367;p16"/>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68" name="Google Shape;368;p16"/>
          <p:cNvSpPr txBox="1"/>
          <p:nvPr/>
        </p:nvSpPr>
        <p:spPr>
          <a:xfrm>
            <a:off x="1573272" y="7101699"/>
            <a:ext cx="413531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ACEPTACIÓN (UAT) </a:t>
            </a:r>
            <a:endParaRPr/>
          </a:p>
        </p:txBody>
      </p:sp>
      <p:sp>
        <p:nvSpPr>
          <p:cNvPr id="369" name="Google Shape;369;p16"/>
          <p:cNvSpPr txBox="1"/>
          <p:nvPr/>
        </p:nvSpPr>
        <p:spPr>
          <a:xfrm>
            <a:off x="1594857" y="8492179"/>
            <a:ext cx="4135311"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El cliente o usuario final prueba funcionalidades clave usando casos reales </a:t>
            </a:r>
            <a:endParaRPr/>
          </a:p>
        </p:txBody>
      </p:sp>
      <p:grpSp>
        <p:nvGrpSpPr>
          <p:cNvPr id="370" name="Google Shape;370;p16"/>
          <p:cNvGrpSpPr/>
          <p:nvPr/>
        </p:nvGrpSpPr>
        <p:grpSpPr>
          <a:xfrm>
            <a:off x="6743726" y="8224923"/>
            <a:ext cx="4781497" cy="1367055"/>
            <a:chOff x="0" y="0"/>
            <a:chExt cx="95670291" cy="27352631"/>
          </a:xfrm>
        </p:grpSpPr>
        <p:sp>
          <p:nvSpPr>
            <p:cNvPr id="371" name="Google Shape;371;p16"/>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72" name="Google Shape;372;p16"/>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73" name="Google Shape;373;p16"/>
          <p:cNvSpPr txBox="1"/>
          <p:nvPr/>
        </p:nvSpPr>
        <p:spPr>
          <a:xfrm>
            <a:off x="7058668" y="731124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REGRESIÓN </a:t>
            </a:r>
            <a:endParaRPr/>
          </a:p>
        </p:txBody>
      </p:sp>
      <p:sp>
        <p:nvSpPr>
          <p:cNvPr id="374" name="Google Shape;374;p16"/>
          <p:cNvSpPr txBox="1"/>
          <p:nvPr/>
        </p:nvSpPr>
        <p:spPr>
          <a:xfrm>
            <a:off x="7218860" y="8332470"/>
            <a:ext cx="4151614"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reejecutan pruebas antiguas después de cambios. Automatizada con Selenium, Cypress, etc. </a:t>
            </a:r>
            <a:endParaRPr/>
          </a:p>
        </p:txBody>
      </p:sp>
      <p:grpSp>
        <p:nvGrpSpPr>
          <p:cNvPr id="375" name="Google Shape;375;p16"/>
          <p:cNvGrpSpPr/>
          <p:nvPr/>
        </p:nvGrpSpPr>
        <p:grpSpPr>
          <a:xfrm>
            <a:off x="12205811" y="8224923"/>
            <a:ext cx="4781497" cy="1367055"/>
            <a:chOff x="0" y="0"/>
            <a:chExt cx="95670291" cy="27352631"/>
          </a:xfrm>
        </p:grpSpPr>
        <p:sp>
          <p:nvSpPr>
            <p:cNvPr id="376" name="Google Shape;376;p16"/>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377" name="Google Shape;377;p16"/>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378" name="Google Shape;378;p16"/>
          <p:cNvSpPr txBox="1"/>
          <p:nvPr/>
        </p:nvSpPr>
        <p:spPr>
          <a:xfrm>
            <a:off x="12531134" y="7101699"/>
            <a:ext cx="413085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HUMO (SMOKE TEST) </a:t>
            </a:r>
            <a:endParaRPr/>
          </a:p>
        </p:txBody>
      </p:sp>
      <p:sp>
        <p:nvSpPr>
          <p:cNvPr id="379" name="Google Shape;379;p16"/>
          <p:cNvSpPr txBox="1"/>
          <p:nvPr/>
        </p:nvSpPr>
        <p:spPr>
          <a:xfrm>
            <a:off x="12531134" y="8416643"/>
            <a:ext cx="4130851"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ejecutan pruebas básicas para validar que el sistema inicia y responde </a:t>
            </a:r>
            <a:endParaRPr/>
          </a:p>
        </p:txBody>
      </p:sp>
      <p:sp>
        <p:nvSpPr>
          <p:cNvPr id="380" name="Google Shape;380;p16"/>
          <p:cNvSpPr txBox="1"/>
          <p:nvPr/>
        </p:nvSpPr>
        <p:spPr>
          <a:xfrm>
            <a:off x="2260256" y="2450000"/>
            <a:ext cx="140688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3200" u="none" cap="none" strike="noStrike">
                <a:solidFill>
                  <a:srgbClr val="292929"/>
                </a:solidFill>
                <a:latin typeface="Arial"/>
                <a:ea typeface="Arial"/>
                <a:cs typeface="Arial"/>
                <a:sym typeface="Arial"/>
              </a:rPr>
              <a:t>IMPLEMENTACIÓN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EB"/>
        </a:solidFill>
      </p:bgPr>
    </p:bg>
    <p:spTree>
      <p:nvGrpSpPr>
        <p:cNvPr id="384" name="Shape 384"/>
        <p:cNvGrpSpPr/>
        <p:nvPr/>
      </p:nvGrpSpPr>
      <p:grpSpPr>
        <a:xfrm>
          <a:off x="0" y="0"/>
          <a:ext cx="0" cy="0"/>
          <a:chOff x="0" y="0"/>
          <a:chExt cx="0" cy="0"/>
        </a:xfrm>
      </p:grpSpPr>
      <p:grpSp>
        <p:nvGrpSpPr>
          <p:cNvPr id="385" name="Google Shape;385;p17"/>
          <p:cNvGrpSpPr/>
          <p:nvPr/>
        </p:nvGrpSpPr>
        <p:grpSpPr>
          <a:xfrm>
            <a:off x="-788928" y="3429000"/>
            <a:ext cx="20516850" cy="6848475"/>
            <a:chOff x="0" y="0"/>
            <a:chExt cx="27355800" cy="9131300"/>
          </a:xfrm>
        </p:grpSpPr>
        <p:sp>
          <p:nvSpPr>
            <p:cNvPr id="386" name="Google Shape;386;p17"/>
            <p:cNvSpPr/>
            <p:nvPr/>
          </p:nvSpPr>
          <p:spPr>
            <a:xfrm>
              <a:off x="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87" name="Google Shape;387;p17"/>
            <p:cNvSpPr/>
            <p:nvPr/>
          </p:nvSpPr>
          <p:spPr>
            <a:xfrm>
              <a:off x="455676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88" name="Google Shape;388;p17"/>
            <p:cNvSpPr/>
            <p:nvPr/>
          </p:nvSpPr>
          <p:spPr>
            <a:xfrm>
              <a:off x="1367028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89" name="Google Shape;389;p17"/>
            <p:cNvSpPr/>
            <p:nvPr/>
          </p:nvSpPr>
          <p:spPr>
            <a:xfrm>
              <a:off x="911352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0" name="Google Shape;390;p17"/>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1" name="Google Shape;391;p17"/>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2" name="Google Shape;392;p17"/>
            <p:cNvSpPr/>
            <p:nvPr/>
          </p:nvSpPr>
          <p:spPr>
            <a:xfrm>
              <a:off x="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3" name="Google Shape;393;p17"/>
            <p:cNvSpPr/>
            <p:nvPr/>
          </p:nvSpPr>
          <p:spPr>
            <a:xfrm>
              <a:off x="455676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4" name="Google Shape;394;p17"/>
            <p:cNvSpPr/>
            <p:nvPr/>
          </p:nvSpPr>
          <p:spPr>
            <a:xfrm>
              <a:off x="1367028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5" name="Google Shape;395;p17"/>
            <p:cNvSpPr/>
            <p:nvPr/>
          </p:nvSpPr>
          <p:spPr>
            <a:xfrm>
              <a:off x="911352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6" name="Google Shape;396;p17"/>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397" name="Google Shape;397;p17"/>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grpSp>
        <p:nvGrpSpPr>
          <p:cNvPr id="398" name="Google Shape;398;p17"/>
          <p:cNvGrpSpPr/>
          <p:nvPr/>
        </p:nvGrpSpPr>
        <p:grpSpPr>
          <a:xfrm>
            <a:off x="1266825" y="4801843"/>
            <a:ext cx="4781497" cy="1367055"/>
            <a:chOff x="0" y="0"/>
            <a:chExt cx="95670291" cy="27352631"/>
          </a:xfrm>
        </p:grpSpPr>
        <p:sp>
          <p:nvSpPr>
            <p:cNvPr id="399" name="Google Shape;399;p1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00" name="Google Shape;400;p1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01" name="Google Shape;401;p17"/>
          <p:cNvSpPr txBox="1"/>
          <p:nvPr/>
        </p:nvSpPr>
        <p:spPr>
          <a:xfrm>
            <a:off x="1402650" y="331339"/>
            <a:ext cx="15482700" cy="197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400" u="none" cap="none" strike="noStrike">
                <a:solidFill>
                  <a:srgbClr val="292929"/>
                </a:solidFill>
                <a:latin typeface="Arial"/>
                <a:ea typeface="Arial"/>
                <a:cs typeface="Arial"/>
                <a:sym typeface="Arial"/>
              </a:rPr>
              <a:t>TIPOS DE PRUEBAS NO FUNCIONALES</a:t>
            </a:r>
            <a:endParaRPr/>
          </a:p>
        </p:txBody>
      </p:sp>
      <p:grpSp>
        <p:nvGrpSpPr>
          <p:cNvPr id="402" name="Google Shape;402;p17"/>
          <p:cNvGrpSpPr/>
          <p:nvPr/>
        </p:nvGrpSpPr>
        <p:grpSpPr>
          <a:xfrm>
            <a:off x="1266825" y="3430158"/>
            <a:ext cx="4781497" cy="1369413"/>
            <a:chOff x="0" y="0"/>
            <a:chExt cx="95670291" cy="27399813"/>
          </a:xfrm>
        </p:grpSpPr>
        <p:sp>
          <p:nvSpPr>
            <p:cNvPr id="403" name="Google Shape;403;p1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04" name="Google Shape;404;p1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05" name="Google Shape;405;p17"/>
          <p:cNvSpPr txBox="1"/>
          <p:nvPr/>
        </p:nvSpPr>
        <p:spPr>
          <a:xfrm>
            <a:off x="1573272" y="5165330"/>
            <a:ext cx="4135311" cy="6115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Mide velocidad, tiempos de respuesta y uso de recursos.</a:t>
            </a:r>
            <a:endParaRPr/>
          </a:p>
        </p:txBody>
      </p:sp>
      <p:grpSp>
        <p:nvGrpSpPr>
          <p:cNvPr id="406" name="Google Shape;406;p17"/>
          <p:cNvGrpSpPr/>
          <p:nvPr/>
        </p:nvGrpSpPr>
        <p:grpSpPr>
          <a:xfrm>
            <a:off x="12205811" y="6853238"/>
            <a:ext cx="4786436" cy="1369413"/>
            <a:chOff x="0" y="0"/>
            <a:chExt cx="95769112" cy="27399813"/>
          </a:xfrm>
        </p:grpSpPr>
        <p:sp>
          <p:nvSpPr>
            <p:cNvPr id="407" name="Google Shape;407;p17"/>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408" name="Google Shape;408;p17"/>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409" name="Google Shape;409;p17"/>
          <p:cNvGrpSpPr/>
          <p:nvPr/>
        </p:nvGrpSpPr>
        <p:grpSpPr>
          <a:xfrm>
            <a:off x="6743726" y="4801843"/>
            <a:ext cx="4781497" cy="1367055"/>
            <a:chOff x="0" y="0"/>
            <a:chExt cx="95670291" cy="27352631"/>
          </a:xfrm>
        </p:grpSpPr>
        <p:sp>
          <p:nvSpPr>
            <p:cNvPr id="410" name="Google Shape;410;p1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11" name="Google Shape;411;p1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12" name="Google Shape;412;p17"/>
          <p:cNvGrpSpPr/>
          <p:nvPr/>
        </p:nvGrpSpPr>
        <p:grpSpPr>
          <a:xfrm>
            <a:off x="6743726" y="3430158"/>
            <a:ext cx="4781497" cy="1369413"/>
            <a:chOff x="0" y="0"/>
            <a:chExt cx="95670291" cy="27399813"/>
          </a:xfrm>
        </p:grpSpPr>
        <p:sp>
          <p:nvSpPr>
            <p:cNvPr id="413" name="Google Shape;413;p1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14" name="Google Shape;414;p1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15" name="Google Shape;415;p17"/>
          <p:cNvSpPr txBox="1"/>
          <p:nvPr/>
        </p:nvSpPr>
        <p:spPr>
          <a:xfrm>
            <a:off x="7068193" y="4993563"/>
            <a:ext cx="4151614"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Evalúa el comportamiento con múltiples usuarios simultáneos dentro de los límites esperados.</a:t>
            </a:r>
            <a:endParaRPr/>
          </a:p>
        </p:txBody>
      </p:sp>
      <p:grpSp>
        <p:nvGrpSpPr>
          <p:cNvPr id="416" name="Google Shape;416;p17"/>
          <p:cNvGrpSpPr/>
          <p:nvPr/>
        </p:nvGrpSpPr>
        <p:grpSpPr>
          <a:xfrm>
            <a:off x="12205811" y="4801843"/>
            <a:ext cx="4781497" cy="1367055"/>
            <a:chOff x="0" y="0"/>
            <a:chExt cx="95670291" cy="27352631"/>
          </a:xfrm>
        </p:grpSpPr>
        <p:sp>
          <p:nvSpPr>
            <p:cNvPr id="417" name="Google Shape;417;p1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18" name="Google Shape;418;p1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19" name="Google Shape;419;p17"/>
          <p:cNvGrpSpPr/>
          <p:nvPr/>
        </p:nvGrpSpPr>
        <p:grpSpPr>
          <a:xfrm>
            <a:off x="12205811" y="3430158"/>
            <a:ext cx="4781497" cy="1369413"/>
            <a:chOff x="0" y="0"/>
            <a:chExt cx="95670291" cy="27399813"/>
          </a:xfrm>
        </p:grpSpPr>
        <p:sp>
          <p:nvSpPr>
            <p:cNvPr id="420" name="Google Shape;420;p1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21" name="Google Shape;421;p1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22" name="Google Shape;422;p17"/>
          <p:cNvSpPr txBox="1"/>
          <p:nvPr/>
        </p:nvSpPr>
        <p:spPr>
          <a:xfrm>
            <a:off x="1573272" y="3888169"/>
            <a:ext cx="4135311"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RENDIMIENTO </a:t>
            </a:r>
            <a:endParaRPr/>
          </a:p>
        </p:txBody>
      </p:sp>
      <p:sp>
        <p:nvSpPr>
          <p:cNvPr id="423" name="Google Shape;423;p17"/>
          <p:cNvSpPr txBox="1"/>
          <p:nvPr/>
        </p:nvSpPr>
        <p:spPr>
          <a:xfrm>
            <a:off x="7058668" y="388816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CARGA </a:t>
            </a:r>
            <a:endParaRPr/>
          </a:p>
        </p:txBody>
      </p:sp>
      <p:sp>
        <p:nvSpPr>
          <p:cNvPr id="424" name="Google Shape;424;p17"/>
          <p:cNvSpPr txBox="1"/>
          <p:nvPr/>
        </p:nvSpPr>
        <p:spPr>
          <a:xfrm>
            <a:off x="12531134" y="3888169"/>
            <a:ext cx="4130851"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ESTRÉS </a:t>
            </a:r>
            <a:endParaRPr/>
          </a:p>
        </p:txBody>
      </p:sp>
      <p:sp>
        <p:nvSpPr>
          <p:cNvPr id="425" name="Google Shape;425;p17"/>
          <p:cNvSpPr txBox="1"/>
          <p:nvPr/>
        </p:nvSpPr>
        <p:spPr>
          <a:xfrm>
            <a:off x="12531134" y="4993563"/>
            <a:ext cx="4130851"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lleva el sistema más allá de sus límites para ver cómo se comporta bajo presión extrema.</a:t>
            </a:r>
            <a:endParaRPr/>
          </a:p>
        </p:txBody>
      </p:sp>
      <p:grpSp>
        <p:nvGrpSpPr>
          <p:cNvPr id="426" name="Google Shape;426;p17"/>
          <p:cNvGrpSpPr/>
          <p:nvPr/>
        </p:nvGrpSpPr>
        <p:grpSpPr>
          <a:xfrm>
            <a:off x="1266825" y="8224923"/>
            <a:ext cx="4791375" cy="1367055"/>
            <a:chOff x="0" y="0"/>
            <a:chExt cx="95867934" cy="27352631"/>
          </a:xfrm>
        </p:grpSpPr>
        <p:sp>
          <p:nvSpPr>
            <p:cNvPr id="427" name="Google Shape;427;p17"/>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428" name="Google Shape;428;p17"/>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429" name="Google Shape;429;p17"/>
          <p:cNvGrpSpPr/>
          <p:nvPr/>
        </p:nvGrpSpPr>
        <p:grpSpPr>
          <a:xfrm>
            <a:off x="1266825" y="6853238"/>
            <a:ext cx="4791375" cy="1372242"/>
            <a:chOff x="0" y="0"/>
            <a:chExt cx="95670291" cy="27399813"/>
          </a:xfrm>
        </p:grpSpPr>
        <p:sp>
          <p:nvSpPr>
            <p:cNvPr id="430" name="Google Shape;430;p17"/>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31" name="Google Shape;431;p17"/>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32" name="Google Shape;432;p17"/>
          <p:cNvSpPr txBox="1"/>
          <p:nvPr/>
        </p:nvSpPr>
        <p:spPr>
          <a:xfrm>
            <a:off x="1573272" y="7311249"/>
            <a:ext cx="4135311"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VOLUMEN </a:t>
            </a:r>
            <a:endParaRPr/>
          </a:p>
        </p:txBody>
      </p:sp>
      <p:sp>
        <p:nvSpPr>
          <p:cNvPr id="433" name="Google Shape;433;p17"/>
          <p:cNvSpPr txBox="1"/>
          <p:nvPr/>
        </p:nvSpPr>
        <p:spPr>
          <a:xfrm>
            <a:off x="1594857" y="8492179"/>
            <a:ext cx="4135311" cy="9258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Prueba con grandes cantidades de datos para ver cómo afecta al rendimiento.</a:t>
            </a:r>
            <a:endParaRPr/>
          </a:p>
        </p:txBody>
      </p:sp>
      <p:sp>
        <p:nvSpPr>
          <p:cNvPr id="434" name="Google Shape;434;p17"/>
          <p:cNvSpPr txBox="1"/>
          <p:nvPr/>
        </p:nvSpPr>
        <p:spPr>
          <a:xfrm>
            <a:off x="7058668" y="731124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SEGURIDAD </a:t>
            </a:r>
            <a:endParaRPr/>
          </a:p>
        </p:txBody>
      </p:sp>
      <p:grpSp>
        <p:nvGrpSpPr>
          <p:cNvPr id="435" name="Google Shape;435;p17"/>
          <p:cNvGrpSpPr/>
          <p:nvPr/>
        </p:nvGrpSpPr>
        <p:grpSpPr>
          <a:xfrm>
            <a:off x="12205811" y="8224923"/>
            <a:ext cx="4781497" cy="1367055"/>
            <a:chOff x="0" y="0"/>
            <a:chExt cx="95670291" cy="27352631"/>
          </a:xfrm>
        </p:grpSpPr>
        <p:sp>
          <p:nvSpPr>
            <p:cNvPr id="436" name="Google Shape;436;p17"/>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37" name="Google Shape;437;p17"/>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38" name="Google Shape;438;p17"/>
          <p:cNvSpPr txBox="1"/>
          <p:nvPr/>
        </p:nvSpPr>
        <p:spPr>
          <a:xfrm>
            <a:off x="12531134" y="7101699"/>
            <a:ext cx="413085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PENETRACIÓN (PENTESTING) </a:t>
            </a:r>
            <a:endParaRPr/>
          </a:p>
        </p:txBody>
      </p:sp>
      <p:sp>
        <p:nvSpPr>
          <p:cNvPr id="439" name="Google Shape;439;p17"/>
          <p:cNvSpPr txBox="1"/>
          <p:nvPr/>
        </p:nvSpPr>
        <p:spPr>
          <a:xfrm>
            <a:off x="12531134" y="8416643"/>
            <a:ext cx="41310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Simula ataques reales para detectar brechas de seguridad. </a:t>
            </a:r>
            <a:r>
              <a:rPr lang="en-US" sz="1800">
                <a:solidFill>
                  <a:srgbClr val="292929"/>
                </a:solidFill>
                <a:latin typeface="Open Sans"/>
                <a:ea typeface="Open Sans"/>
                <a:cs typeface="Open Sans"/>
                <a:sym typeface="Open Sans"/>
              </a:rPr>
              <a:t>como inyección SQL, XSS y validación de permisos.</a:t>
            </a:r>
            <a:endParaRPr/>
          </a:p>
          <a:p>
            <a:pPr indent="0" lvl="0" marL="0" marR="0" rtl="0" algn="l">
              <a:lnSpc>
                <a:spcPct val="140000"/>
              </a:lnSpc>
              <a:spcBef>
                <a:spcPts val="0"/>
              </a:spcBef>
              <a:spcAft>
                <a:spcPts val="0"/>
              </a:spcAft>
              <a:buNone/>
            </a:pPr>
            <a:r>
              <a:t/>
            </a:r>
            <a:endParaRPr b="0" i="0" sz="1800" u="none" cap="none" strike="noStrike">
              <a:solidFill>
                <a:srgbClr val="292929"/>
              </a:solidFill>
              <a:latin typeface="Open Sans"/>
              <a:ea typeface="Open Sans"/>
              <a:cs typeface="Open Sans"/>
              <a:sym typeface="Open Sans"/>
            </a:endParaRPr>
          </a:p>
        </p:txBody>
      </p:sp>
      <p:sp>
        <p:nvSpPr>
          <p:cNvPr id="440" name="Google Shape;440;p17"/>
          <p:cNvSpPr txBox="1"/>
          <p:nvPr/>
        </p:nvSpPr>
        <p:spPr>
          <a:xfrm>
            <a:off x="3394422" y="2421985"/>
            <a:ext cx="114801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000000"/>
                </a:solidFill>
                <a:latin typeface="Arial"/>
                <a:ea typeface="Arial"/>
                <a:cs typeface="Arial"/>
                <a:sym typeface="Arial"/>
              </a:rPr>
              <a:t>EVALÚAN CÓMO SE COMPORTA EL SISTEMA BAJO DIFERENTES CONDICIONES.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BEB"/>
        </a:solidFill>
      </p:bgPr>
    </p:bg>
    <p:spTree>
      <p:nvGrpSpPr>
        <p:cNvPr id="444" name="Shape 444"/>
        <p:cNvGrpSpPr/>
        <p:nvPr/>
      </p:nvGrpSpPr>
      <p:grpSpPr>
        <a:xfrm>
          <a:off x="0" y="0"/>
          <a:ext cx="0" cy="0"/>
          <a:chOff x="0" y="0"/>
          <a:chExt cx="0" cy="0"/>
        </a:xfrm>
      </p:grpSpPr>
      <p:grpSp>
        <p:nvGrpSpPr>
          <p:cNvPr id="445" name="Google Shape;445;p18"/>
          <p:cNvGrpSpPr/>
          <p:nvPr/>
        </p:nvGrpSpPr>
        <p:grpSpPr>
          <a:xfrm>
            <a:off x="-788928" y="3429000"/>
            <a:ext cx="20516850" cy="6848475"/>
            <a:chOff x="0" y="0"/>
            <a:chExt cx="27355800" cy="9131300"/>
          </a:xfrm>
        </p:grpSpPr>
        <p:sp>
          <p:nvSpPr>
            <p:cNvPr id="446" name="Google Shape;446;p18"/>
            <p:cNvSpPr/>
            <p:nvPr/>
          </p:nvSpPr>
          <p:spPr>
            <a:xfrm>
              <a:off x="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47" name="Google Shape;447;p18"/>
            <p:cNvSpPr/>
            <p:nvPr/>
          </p:nvSpPr>
          <p:spPr>
            <a:xfrm>
              <a:off x="455676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48" name="Google Shape;448;p18"/>
            <p:cNvSpPr/>
            <p:nvPr/>
          </p:nvSpPr>
          <p:spPr>
            <a:xfrm>
              <a:off x="1367028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49" name="Google Shape;449;p18"/>
            <p:cNvSpPr/>
            <p:nvPr/>
          </p:nvSpPr>
          <p:spPr>
            <a:xfrm>
              <a:off x="911352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0" name="Google Shape;450;p18"/>
            <p:cNvSpPr/>
            <p:nvPr/>
          </p:nvSpPr>
          <p:spPr>
            <a:xfrm>
              <a:off x="1822704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1" name="Google Shape;451;p18"/>
            <p:cNvSpPr/>
            <p:nvPr/>
          </p:nvSpPr>
          <p:spPr>
            <a:xfrm>
              <a:off x="22783800" y="455930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2" name="Google Shape;452;p18"/>
            <p:cNvSpPr/>
            <p:nvPr/>
          </p:nvSpPr>
          <p:spPr>
            <a:xfrm>
              <a:off x="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3" name="Google Shape;453;p18"/>
            <p:cNvSpPr/>
            <p:nvPr/>
          </p:nvSpPr>
          <p:spPr>
            <a:xfrm>
              <a:off x="455676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4" name="Google Shape;454;p18"/>
            <p:cNvSpPr/>
            <p:nvPr/>
          </p:nvSpPr>
          <p:spPr>
            <a:xfrm>
              <a:off x="1367028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5" name="Google Shape;455;p18"/>
            <p:cNvSpPr/>
            <p:nvPr/>
          </p:nvSpPr>
          <p:spPr>
            <a:xfrm>
              <a:off x="911352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6" name="Google Shape;456;p18"/>
            <p:cNvSpPr/>
            <p:nvPr/>
          </p:nvSpPr>
          <p:spPr>
            <a:xfrm>
              <a:off x="1822704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sp>
          <p:nvSpPr>
            <p:cNvPr id="457" name="Google Shape;457;p18"/>
            <p:cNvSpPr/>
            <p:nvPr/>
          </p:nvSpPr>
          <p:spPr>
            <a:xfrm>
              <a:off x="22783800" y="0"/>
              <a:ext cx="4572000" cy="4572000"/>
            </a:xfrm>
            <a:custGeom>
              <a:rect b="b" l="l" r="r" t="t"/>
              <a:pathLst>
                <a:path extrusionOk="0" h="4572000" w="4572000">
                  <a:moveTo>
                    <a:pt x="0" y="0"/>
                  </a:moveTo>
                  <a:lnTo>
                    <a:pt x="4572000" y="0"/>
                  </a:lnTo>
                  <a:lnTo>
                    <a:pt x="4572000" y="4572000"/>
                  </a:lnTo>
                  <a:lnTo>
                    <a:pt x="0" y="4572000"/>
                  </a:lnTo>
                  <a:lnTo>
                    <a:pt x="0" y="0"/>
                  </a:lnTo>
                  <a:close/>
                </a:path>
              </a:pathLst>
            </a:custGeom>
            <a:blipFill rotWithShape="1">
              <a:blip r:embed="rId3">
                <a:alphaModFix/>
              </a:blip>
              <a:stretch>
                <a:fillRect b="0" l="0" r="0" t="0"/>
              </a:stretch>
            </a:blipFill>
            <a:ln>
              <a:noFill/>
            </a:ln>
          </p:spPr>
        </p:sp>
      </p:grpSp>
      <p:grpSp>
        <p:nvGrpSpPr>
          <p:cNvPr id="458" name="Google Shape;458;p18"/>
          <p:cNvGrpSpPr/>
          <p:nvPr/>
        </p:nvGrpSpPr>
        <p:grpSpPr>
          <a:xfrm>
            <a:off x="1266825" y="4801843"/>
            <a:ext cx="4781497" cy="1367055"/>
            <a:chOff x="0" y="0"/>
            <a:chExt cx="95670291" cy="27352631"/>
          </a:xfrm>
        </p:grpSpPr>
        <p:sp>
          <p:nvSpPr>
            <p:cNvPr id="459" name="Google Shape;459;p1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60" name="Google Shape;460;p1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61" name="Google Shape;461;p18"/>
          <p:cNvSpPr txBox="1"/>
          <p:nvPr/>
        </p:nvSpPr>
        <p:spPr>
          <a:xfrm>
            <a:off x="1402650" y="351864"/>
            <a:ext cx="15482700" cy="197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400" u="none" cap="none" strike="noStrike">
                <a:solidFill>
                  <a:srgbClr val="292929"/>
                </a:solidFill>
                <a:latin typeface="Arial"/>
                <a:ea typeface="Arial"/>
                <a:cs typeface="Arial"/>
                <a:sym typeface="Arial"/>
              </a:rPr>
              <a:t>TIPOS DE PRUEBAS NO FUNCIONALES</a:t>
            </a:r>
            <a:endParaRPr/>
          </a:p>
        </p:txBody>
      </p:sp>
      <p:grpSp>
        <p:nvGrpSpPr>
          <p:cNvPr id="462" name="Google Shape;462;p18"/>
          <p:cNvGrpSpPr/>
          <p:nvPr/>
        </p:nvGrpSpPr>
        <p:grpSpPr>
          <a:xfrm>
            <a:off x="1266825" y="3430158"/>
            <a:ext cx="4781497" cy="1369413"/>
            <a:chOff x="0" y="0"/>
            <a:chExt cx="95670291" cy="27399813"/>
          </a:xfrm>
        </p:grpSpPr>
        <p:sp>
          <p:nvSpPr>
            <p:cNvPr id="463" name="Google Shape;463;p1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64" name="Google Shape;464;p1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65" name="Google Shape;465;p18"/>
          <p:cNvSpPr txBox="1"/>
          <p:nvPr/>
        </p:nvSpPr>
        <p:spPr>
          <a:xfrm>
            <a:off x="1573272" y="5165330"/>
            <a:ext cx="4135311" cy="6115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Herramientas como JMeter, Gatling, Locust miden tiempos de respuesta </a:t>
            </a:r>
            <a:endParaRPr/>
          </a:p>
        </p:txBody>
      </p:sp>
      <p:grpSp>
        <p:nvGrpSpPr>
          <p:cNvPr id="466" name="Google Shape;466;p18"/>
          <p:cNvGrpSpPr/>
          <p:nvPr/>
        </p:nvGrpSpPr>
        <p:grpSpPr>
          <a:xfrm>
            <a:off x="12205811" y="6853238"/>
            <a:ext cx="4786436" cy="1369413"/>
            <a:chOff x="0" y="0"/>
            <a:chExt cx="95769112" cy="27399813"/>
          </a:xfrm>
        </p:grpSpPr>
        <p:sp>
          <p:nvSpPr>
            <p:cNvPr id="467" name="Google Shape;467;p18"/>
            <p:cNvSpPr/>
            <p:nvPr/>
          </p:nvSpPr>
          <p:spPr>
            <a:xfrm>
              <a:off x="72390" y="72390"/>
              <a:ext cx="95624330" cy="27255033"/>
            </a:xfrm>
            <a:custGeom>
              <a:rect b="b" l="l" r="r" t="t"/>
              <a:pathLst>
                <a:path extrusionOk="0" h="27255033" w="95624330">
                  <a:moveTo>
                    <a:pt x="0" y="0"/>
                  </a:moveTo>
                  <a:lnTo>
                    <a:pt x="95624330" y="0"/>
                  </a:lnTo>
                  <a:lnTo>
                    <a:pt x="95624330" y="27255033"/>
                  </a:lnTo>
                  <a:lnTo>
                    <a:pt x="0" y="27255033"/>
                  </a:lnTo>
                  <a:lnTo>
                    <a:pt x="0" y="0"/>
                  </a:lnTo>
                  <a:close/>
                </a:path>
              </a:pathLst>
            </a:custGeom>
            <a:solidFill>
              <a:srgbClr val="E15537"/>
            </a:solidFill>
            <a:ln>
              <a:noFill/>
            </a:ln>
          </p:spPr>
        </p:sp>
        <p:sp>
          <p:nvSpPr>
            <p:cNvPr id="468" name="Google Shape;468;p18"/>
            <p:cNvSpPr/>
            <p:nvPr/>
          </p:nvSpPr>
          <p:spPr>
            <a:xfrm>
              <a:off x="0" y="0"/>
              <a:ext cx="95769112" cy="27399813"/>
            </a:xfrm>
            <a:custGeom>
              <a:rect b="b" l="l" r="r" t="t"/>
              <a:pathLst>
                <a:path extrusionOk="0" h="27399813" w="95769112">
                  <a:moveTo>
                    <a:pt x="95624334" y="27255031"/>
                  </a:moveTo>
                  <a:lnTo>
                    <a:pt x="95769112" y="27255031"/>
                  </a:lnTo>
                  <a:lnTo>
                    <a:pt x="95769112" y="27399813"/>
                  </a:lnTo>
                  <a:lnTo>
                    <a:pt x="95624334" y="27399813"/>
                  </a:lnTo>
                  <a:lnTo>
                    <a:pt x="95624334"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624334" y="144780"/>
                  </a:moveTo>
                  <a:lnTo>
                    <a:pt x="95769112" y="144780"/>
                  </a:lnTo>
                  <a:lnTo>
                    <a:pt x="95769112" y="27255031"/>
                  </a:lnTo>
                  <a:lnTo>
                    <a:pt x="95624334" y="27255031"/>
                  </a:lnTo>
                  <a:lnTo>
                    <a:pt x="95624334" y="144780"/>
                  </a:lnTo>
                  <a:close/>
                  <a:moveTo>
                    <a:pt x="144780" y="27255031"/>
                  </a:moveTo>
                  <a:lnTo>
                    <a:pt x="95624334" y="27255031"/>
                  </a:lnTo>
                  <a:lnTo>
                    <a:pt x="95624334" y="27399813"/>
                  </a:lnTo>
                  <a:lnTo>
                    <a:pt x="144780" y="27399813"/>
                  </a:lnTo>
                  <a:lnTo>
                    <a:pt x="144780" y="27255031"/>
                  </a:lnTo>
                  <a:close/>
                  <a:moveTo>
                    <a:pt x="95624334" y="0"/>
                  </a:moveTo>
                  <a:lnTo>
                    <a:pt x="95769112" y="0"/>
                  </a:lnTo>
                  <a:lnTo>
                    <a:pt x="95769112" y="144780"/>
                  </a:lnTo>
                  <a:lnTo>
                    <a:pt x="95624334" y="144780"/>
                  </a:lnTo>
                  <a:lnTo>
                    <a:pt x="95624334" y="0"/>
                  </a:lnTo>
                  <a:close/>
                  <a:moveTo>
                    <a:pt x="0" y="0"/>
                  </a:moveTo>
                  <a:lnTo>
                    <a:pt x="144780" y="0"/>
                  </a:lnTo>
                  <a:lnTo>
                    <a:pt x="144780" y="144780"/>
                  </a:lnTo>
                  <a:lnTo>
                    <a:pt x="0" y="144780"/>
                  </a:lnTo>
                  <a:lnTo>
                    <a:pt x="0" y="0"/>
                  </a:lnTo>
                  <a:close/>
                  <a:moveTo>
                    <a:pt x="144780" y="0"/>
                  </a:moveTo>
                  <a:lnTo>
                    <a:pt x="95624334" y="0"/>
                  </a:lnTo>
                  <a:lnTo>
                    <a:pt x="95624334" y="144780"/>
                  </a:lnTo>
                  <a:lnTo>
                    <a:pt x="144780" y="144780"/>
                  </a:lnTo>
                  <a:lnTo>
                    <a:pt x="144780" y="0"/>
                  </a:lnTo>
                  <a:close/>
                </a:path>
              </a:pathLst>
            </a:custGeom>
            <a:solidFill>
              <a:srgbClr val="292929"/>
            </a:solidFill>
            <a:ln>
              <a:noFill/>
            </a:ln>
          </p:spPr>
        </p:sp>
      </p:grpSp>
      <p:grpSp>
        <p:nvGrpSpPr>
          <p:cNvPr id="469" name="Google Shape;469;p18"/>
          <p:cNvGrpSpPr/>
          <p:nvPr/>
        </p:nvGrpSpPr>
        <p:grpSpPr>
          <a:xfrm>
            <a:off x="6743726" y="4801843"/>
            <a:ext cx="4781497" cy="1367055"/>
            <a:chOff x="0" y="0"/>
            <a:chExt cx="95670291" cy="27352631"/>
          </a:xfrm>
        </p:grpSpPr>
        <p:sp>
          <p:nvSpPr>
            <p:cNvPr id="470" name="Google Shape;470;p1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71" name="Google Shape;471;p1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72" name="Google Shape;472;p18"/>
          <p:cNvGrpSpPr/>
          <p:nvPr/>
        </p:nvGrpSpPr>
        <p:grpSpPr>
          <a:xfrm>
            <a:off x="6743726" y="3430158"/>
            <a:ext cx="4781497" cy="1369413"/>
            <a:chOff x="0" y="0"/>
            <a:chExt cx="95670291" cy="27399813"/>
          </a:xfrm>
        </p:grpSpPr>
        <p:sp>
          <p:nvSpPr>
            <p:cNvPr id="473" name="Google Shape;473;p1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74" name="Google Shape;474;p1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75" name="Google Shape;475;p18"/>
          <p:cNvSpPr txBox="1"/>
          <p:nvPr/>
        </p:nvSpPr>
        <p:spPr>
          <a:xfrm>
            <a:off x="7068193" y="4993563"/>
            <a:ext cx="41517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simulan usuarios concurrentes (100, 1,000, etc.) con JMeter, </a:t>
            </a:r>
            <a:r>
              <a:rPr lang="en-US" sz="1800">
                <a:solidFill>
                  <a:srgbClr val="292929"/>
                </a:solidFill>
                <a:latin typeface="Open Sans"/>
                <a:ea typeface="Open Sans"/>
                <a:cs typeface="Open Sans"/>
                <a:sym typeface="Open Sans"/>
              </a:rPr>
              <a:t>Locust</a:t>
            </a:r>
            <a:r>
              <a:rPr b="0" i="0" lang="en-US" sz="1800" u="none" cap="none" strike="noStrike">
                <a:solidFill>
                  <a:srgbClr val="292929"/>
                </a:solidFill>
                <a:latin typeface="Open Sans"/>
                <a:ea typeface="Open Sans"/>
                <a:cs typeface="Open Sans"/>
                <a:sym typeface="Open Sans"/>
              </a:rPr>
              <a:t>, etc. </a:t>
            </a:r>
            <a:endParaRPr/>
          </a:p>
        </p:txBody>
      </p:sp>
      <p:grpSp>
        <p:nvGrpSpPr>
          <p:cNvPr id="476" name="Google Shape;476;p18"/>
          <p:cNvGrpSpPr/>
          <p:nvPr/>
        </p:nvGrpSpPr>
        <p:grpSpPr>
          <a:xfrm>
            <a:off x="12205811" y="4801843"/>
            <a:ext cx="4781497" cy="1367055"/>
            <a:chOff x="0" y="0"/>
            <a:chExt cx="95670291" cy="27352631"/>
          </a:xfrm>
        </p:grpSpPr>
        <p:sp>
          <p:nvSpPr>
            <p:cNvPr id="477" name="Google Shape;477;p1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78" name="Google Shape;478;p1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grpSp>
        <p:nvGrpSpPr>
          <p:cNvPr id="479" name="Google Shape;479;p18"/>
          <p:cNvGrpSpPr/>
          <p:nvPr/>
        </p:nvGrpSpPr>
        <p:grpSpPr>
          <a:xfrm>
            <a:off x="12205811" y="3430158"/>
            <a:ext cx="4781497" cy="1369413"/>
            <a:chOff x="0" y="0"/>
            <a:chExt cx="95670291" cy="27399813"/>
          </a:xfrm>
        </p:grpSpPr>
        <p:sp>
          <p:nvSpPr>
            <p:cNvPr id="480" name="Google Shape;480;p1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81" name="Google Shape;481;p1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82" name="Google Shape;482;p18"/>
          <p:cNvSpPr txBox="1"/>
          <p:nvPr/>
        </p:nvSpPr>
        <p:spPr>
          <a:xfrm>
            <a:off x="1573272" y="3888169"/>
            <a:ext cx="4135311"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RENDIMIENTO </a:t>
            </a:r>
            <a:endParaRPr/>
          </a:p>
        </p:txBody>
      </p:sp>
      <p:sp>
        <p:nvSpPr>
          <p:cNvPr id="483" name="Google Shape;483;p18"/>
          <p:cNvSpPr txBox="1"/>
          <p:nvPr/>
        </p:nvSpPr>
        <p:spPr>
          <a:xfrm>
            <a:off x="7058668" y="388816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CARGA </a:t>
            </a:r>
            <a:endParaRPr/>
          </a:p>
        </p:txBody>
      </p:sp>
      <p:sp>
        <p:nvSpPr>
          <p:cNvPr id="484" name="Google Shape;484;p18"/>
          <p:cNvSpPr txBox="1"/>
          <p:nvPr/>
        </p:nvSpPr>
        <p:spPr>
          <a:xfrm>
            <a:off x="12531134" y="3888169"/>
            <a:ext cx="4130851"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ESTRÉS </a:t>
            </a:r>
            <a:endParaRPr/>
          </a:p>
        </p:txBody>
      </p:sp>
      <p:sp>
        <p:nvSpPr>
          <p:cNvPr id="485" name="Google Shape;485;p18"/>
          <p:cNvSpPr txBox="1"/>
          <p:nvPr/>
        </p:nvSpPr>
        <p:spPr>
          <a:xfrm>
            <a:off x="12531134" y="5150725"/>
            <a:ext cx="4130851" cy="6115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fuerza al sistema a sobrecargas intencionales para probar fallos </a:t>
            </a:r>
            <a:endParaRPr/>
          </a:p>
        </p:txBody>
      </p:sp>
      <p:grpSp>
        <p:nvGrpSpPr>
          <p:cNvPr id="486" name="Google Shape;486;p18"/>
          <p:cNvGrpSpPr/>
          <p:nvPr/>
        </p:nvGrpSpPr>
        <p:grpSpPr>
          <a:xfrm>
            <a:off x="1266825" y="8224923"/>
            <a:ext cx="4791375" cy="1367055"/>
            <a:chOff x="0" y="0"/>
            <a:chExt cx="95867934" cy="27352631"/>
          </a:xfrm>
        </p:grpSpPr>
        <p:sp>
          <p:nvSpPr>
            <p:cNvPr id="487" name="Google Shape;487;p18"/>
            <p:cNvSpPr/>
            <p:nvPr/>
          </p:nvSpPr>
          <p:spPr>
            <a:xfrm>
              <a:off x="72390" y="72390"/>
              <a:ext cx="95723158" cy="27207849"/>
            </a:xfrm>
            <a:custGeom>
              <a:rect b="b" l="l" r="r" t="t"/>
              <a:pathLst>
                <a:path extrusionOk="0" h="27207849" w="95723158">
                  <a:moveTo>
                    <a:pt x="0" y="0"/>
                  </a:moveTo>
                  <a:lnTo>
                    <a:pt x="95723158" y="0"/>
                  </a:lnTo>
                  <a:lnTo>
                    <a:pt x="95723158" y="27207849"/>
                  </a:lnTo>
                  <a:lnTo>
                    <a:pt x="0" y="27207849"/>
                  </a:lnTo>
                  <a:lnTo>
                    <a:pt x="0" y="0"/>
                  </a:lnTo>
                  <a:close/>
                </a:path>
              </a:pathLst>
            </a:custGeom>
            <a:solidFill>
              <a:srgbClr val="FFFFFF"/>
            </a:solidFill>
            <a:ln>
              <a:noFill/>
            </a:ln>
          </p:spPr>
        </p:sp>
        <p:sp>
          <p:nvSpPr>
            <p:cNvPr id="488" name="Google Shape;488;p18"/>
            <p:cNvSpPr/>
            <p:nvPr/>
          </p:nvSpPr>
          <p:spPr>
            <a:xfrm>
              <a:off x="0" y="0"/>
              <a:ext cx="95867934" cy="27352631"/>
            </a:xfrm>
            <a:custGeom>
              <a:rect b="b" l="l" r="r" t="t"/>
              <a:pathLst>
                <a:path extrusionOk="0" h="27352631" w="95867934">
                  <a:moveTo>
                    <a:pt x="95723156" y="27207849"/>
                  </a:moveTo>
                  <a:lnTo>
                    <a:pt x="95867934" y="27207849"/>
                  </a:lnTo>
                  <a:lnTo>
                    <a:pt x="95867934" y="27352631"/>
                  </a:lnTo>
                  <a:lnTo>
                    <a:pt x="95723156" y="27352631"/>
                  </a:lnTo>
                  <a:lnTo>
                    <a:pt x="95723156"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723156" y="144780"/>
                  </a:moveTo>
                  <a:lnTo>
                    <a:pt x="95867934" y="144780"/>
                  </a:lnTo>
                  <a:lnTo>
                    <a:pt x="95867934" y="27207849"/>
                  </a:lnTo>
                  <a:lnTo>
                    <a:pt x="95723156" y="27207849"/>
                  </a:lnTo>
                  <a:lnTo>
                    <a:pt x="95723156" y="144780"/>
                  </a:lnTo>
                  <a:close/>
                  <a:moveTo>
                    <a:pt x="144780" y="27207849"/>
                  </a:moveTo>
                  <a:lnTo>
                    <a:pt x="95723156" y="27207849"/>
                  </a:lnTo>
                  <a:lnTo>
                    <a:pt x="95723156" y="27352631"/>
                  </a:lnTo>
                  <a:lnTo>
                    <a:pt x="144780" y="27352631"/>
                  </a:lnTo>
                  <a:lnTo>
                    <a:pt x="144780" y="27207849"/>
                  </a:lnTo>
                  <a:close/>
                  <a:moveTo>
                    <a:pt x="95723156" y="0"/>
                  </a:moveTo>
                  <a:lnTo>
                    <a:pt x="95867934" y="0"/>
                  </a:lnTo>
                  <a:lnTo>
                    <a:pt x="95867934" y="144780"/>
                  </a:lnTo>
                  <a:lnTo>
                    <a:pt x="95723156" y="144780"/>
                  </a:lnTo>
                  <a:lnTo>
                    <a:pt x="95723156" y="0"/>
                  </a:lnTo>
                  <a:close/>
                  <a:moveTo>
                    <a:pt x="0" y="0"/>
                  </a:moveTo>
                  <a:lnTo>
                    <a:pt x="144780" y="0"/>
                  </a:lnTo>
                  <a:lnTo>
                    <a:pt x="144780" y="144780"/>
                  </a:lnTo>
                  <a:lnTo>
                    <a:pt x="0" y="144780"/>
                  </a:lnTo>
                  <a:lnTo>
                    <a:pt x="0" y="0"/>
                  </a:lnTo>
                  <a:close/>
                  <a:moveTo>
                    <a:pt x="144780" y="0"/>
                  </a:moveTo>
                  <a:lnTo>
                    <a:pt x="95723156" y="0"/>
                  </a:lnTo>
                  <a:lnTo>
                    <a:pt x="95723156" y="144780"/>
                  </a:lnTo>
                  <a:lnTo>
                    <a:pt x="144780" y="144780"/>
                  </a:lnTo>
                  <a:lnTo>
                    <a:pt x="144780" y="0"/>
                  </a:lnTo>
                  <a:close/>
                </a:path>
              </a:pathLst>
            </a:custGeom>
            <a:solidFill>
              <a:srgbClr val="292929"/>
            </a:solidFill>
            <a:ln>
              <a:noFill/>
            </a:ln>
          </p:spPr>
        </p:sp>
      </p:grpSp>
      <p:grpSp>
        <p:nvGrpSpPr>
          <p:cNvPr id="489" name="Google Shape;489;p18"/>
          <p:cNvGrpSpPr/>
          <p:nvPr/>
        </p:nvGrpSpPr>
        <p:grpSpPr>
          <a:xfrm>
            <a:off x="1266825" y="6853238"/>
            <a:ext cx="4791375" cy="1372242"/>
            <a:chOff x="0" y="0"/>
            <a:chExt cx="95670291" cy="27399813"/>
          </a:xfrm>
        </p:grpSpPr>
        <p:sp>
          <p:nvSpPr>
            <p:cNvPr id="490" name="Google Shape;490;p18"/>
            <p:cNvSpPr/>
            <p:nvPr/>
          </p:nvSpPr>
          <p:spPr>
            <a:xfrm>
              <a:off x="72390" y="72390"/>
              <a:ext cx="95525508" cy="27255033"/>
            </a:xfrm>
            <a:custGeom>
              <a:rect b="b" l="l" r="r" t="t"/>
              <a:pathLst>
                <a:path extrusionOk="0" h="27255033" w="95525508">
                  <a:moveTo>
                    <a:pt x="0" y="0"/>
                  </a:moveTo>
                  <a:lnTo>
                    <a:pt x="95525508" y="0"/>
                  </a:lnTo>
                  <a:lnTo>
                    <a:pt x="95525508" y="27255033"/>
                  </a:lnTo>
                  <a:lnTo>
                    <a:pt x="0" y="27255033"/>
                  </a:lnTo>
                  <a:lnTo>
                    <a:pt x="0" y="0"/>
                  </a:lnTo>
                  <a:close/>
                </a:path>
              </a:pathLst>
            </a:custGeom>
            <a:solidFill>
              <a:srgbClr val="E15537"/>
            </a:solidFill>
            <a:ln>
              <a:noFill/>
            </a:ln>
          </p:spPr>
        </p:sp>
        <p:sp>
          <p:nvSpPr>
            <p:cNvPr id="491" name="Google Shape;491;p18"/>
            <p:cNvSpPr/>
            <p:nvPr/>
          </p:nvSpPr>
          <p:spPr>
            <a:xfrm>
              <a:off x="0" y="0"/>
              <a:ext cx="95670291" cy="27399813"/>
            </a:xfrm>
            <a:custGeom>
              <a:rect b="b" l="l" r="r" t="t"/>
              <a:pathLst>
                <a:path extrusionOk="0" h="27399813" w="95670291">
                  <a:moveTo>
                    <a:pt x="95525512" y="27255031"/>
                  </a:moveTo>
                  <a:lnTo>
                    <a:pt x="95670291" y="27255031"/>
                  </a:lnTo>
                  <a:lnTo>
                    <a:pt x="95670291" y="27399813"/>
                  </a:lnTo>
                  <a:lnTo>
                    <a:pt x="95525512" y="27399813"/>
                  </a:lnTo>
                  <a:lnTo>
                    <a:pt x="95525512" y="27255031"/>
                  </a:lnTo>
                  <a:close/>
                  <a:moveTo>
                    <a:pt x="0" y="144780"/>
                  </a:moveTo>
                  <a:lnTo>
                    <a:pt x="144780" y="144780"/>
                  </a:lnTo>
                  <a:lnTo>
                    <a:pt x="144780" y="27255031"/>
                  </a:lnTo>
                  <a:lnTo>
                    <a:pt x="0" y="27255031"/>
                  </a:lnTo>
                  <a:lnTo>
                    <a:pt x="0" y="144780"/>
                  </a:lnTo>
                  <a:close/>
                  <a:moveTo>
                    <a:pt x="0" y="27255031"/>
                  </a:moveTo>
                  <a:lnTo>
                    <a:pt x="144780" y="27255031"/>
                  </a:lnTo>
                  <a:lnTo>
                    <a:pt x="144780" y="27399813"/>
                  </a:lnTo>
                  <a:lnTo>
                    <a:pt x="0" y="27399813"/>
                  </a:lnTo>
                  <a:lnTo>
                    <a:pt x="0" y="27255031"/>
                  </a:lnTo>
                  <a:close/>
                  <a:moveTo>
                    <a:pt x="95525512" y="144780"/>
                  </a:moveTo>
                  <a:lnTo>
                    <a:pt x="95670291" y="144780"/>
                  </a:lnTo>
                  <a:lnTo>
                    <a:pt x="95670291" y="27255031"/>
                  </a:lnTo>
                  <a:lnTo>
                    <a:pt x="95525512" y="27255031"/>
                  </a:lnTo>
                  <a:lnTo>
                    <a:pt x="95525512" y="144780"/>
                  </a:lnTo>
                  <a:close/>
                  <a:moveTo>
                    <a:pt x="144780" y="27255031"/>
                  </a:moveTo>
                  <a:lnTo>
                    <a:pt x="95525512" y="27255031"/>
                  </a:lnTo>
                  <a:lnTo>
                    <a:pt x="95525512" y="27399813"/>
                  </a:lnTo>
                  <a:lnTo>
                    <a:pt x="144780" y="27399813"/>
                  </a:lnTo>
                  <a:lnTo>
                    <a:pt x="144780" y="27255031"/>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92" name="Google Shape;492;p18"/>
          <p:cNvSpPr txBox="1"/>
          <p:nvPr/>
        </p:nvSpPr>
        <p:spPr>
          <a:xfrm>
            <a:off x="1573272" y="7311249"/>
            <a:ext cx="4135311"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VOLUMEN </a:t>
            </a:r>
            <a:endParaRPr/>
          </a:p>
        </p:txBody>
      </p:sp>
      <p:sp>
        <p:nvSpPr>
          <p:cNvPr id="493" name="Google Shape;493;p18"/>
          <p:cNvSpPr txBox="1"/>
          <p:nvPr/>
        </p:nvSpPr>
        <p:spPr>
          <a:xfrm>
            <a:off x="1594857" y="8649342"/>
            <a:ext cx="41352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Se genera gran cantidad de datos </a:t>
            </a:r>
            <a:r>
              <a:rPr lang="en-US" sz="1800">
                <a:solidFill>
                  <a:srgbClr val="292929"/>
                </a:solidFill>
                <a:latin typeface="Open Sans"/>
                <a:ea typeface="Open Sans"/>
                <a:cs typeface="Open Sans"/>
                <a:sym typeface="Open Sans"/>
              </a:rPr>
              <a:t>con LoadRunner</a:t>
            </a:r>
            <a:endParaRPr/>
          </a:p>
        </p:txBody>
      </p:sp>
      <p:sp>
        <p:nvSpPr>
          <p:cNvPr id="494" name="Google Shape;494;p18"/>
          <p:cNvSpPr txBox="1"/>
          <p:nvPr/>
        </p:nvSpPr>
        <p:spPr>
          <a:xfrm>
            <a:off x="7058668" y="7311249"/>
            <a:ext cx="4151614" cy="4057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SEGURIDAD </a:t>
            </a:r>
            <a:endParaRPr/>
          </a:p>
        </p:txBody>
      </p:sp>
      <p:grpSp>
        <p:nvGrpSpPr>
          <p:cNvPr id="495" name="Google Shape;495;p18"/>
          <p:cNvGrpSpPr/>
          <p:nvPr/>
        </p:nvGrpSpPr>
        <p:grpSpPr>
          <a:xfrm>
            <a:off x="12205811" y="8224923"/>
            <a:ext cx="4781497" cy="1367055"/>
            <a:chOff x="0" y="0"/>
            <a:chExt cx="95670291" cy="27352631"/>
          </a:xfrm>
        </p:grpSpPr>
        <p:sp>
          <p:nvSpPr>
            <p:cNvPr id="496" name="Google Shape;496;p18"/>
            <p:cNvSpPr/>
            <p:nvPr/>
          </p:nvSpPr>
          <p:spPr>
            <a:xfrm>
              <a:off x="72390" y="72390"/>
              <a:ext cx="95525508" cy="27207849"/>
            </a:xfrm>
            <a:custGeom>
              <a:rect b="b" l="l" r="r" t="t"/>
              <a:pathLst>
                <a:path extrusionOk="0" h="27207849" w="95525508">
                  <a:moveTo>
                    <a:pt x="0" y="0"/>
                  </a:moveTo>
                  <a:lnTo>
                    <a:pt x="95525508" y="0"/>
                  </a:lnTo>
                  <a:lnTo>
                    <a:pt x="95525508" y="27207849"/>
                  </a:lnTo>
                  <a:lnTo>
                    <a:pt x="0" y="27207849"/>
                  </a:lnTo>
                  <a:lnTo>
                    <a:pt x="0" y="0"/>
                  </a:lnTo>
                  <a:close/>
                </a:path>
              </a:pathLst>
            </a:custGeom>
            <a:solidFill>
              <a:srgbClr val="FFFFFF"/>
            </a:solidFill>
            <a:ln>
              <a:noFill/>
            </a:ln>
          </p:spPr>
        </p:sp>
        <p:sp>
          <p:nvSpPr>
            <p:cNvPr id="497" name="Google Shape;497;p18"/>
            <p:cNvSpPr/>
            <p:nvPr/>
          </p:nvSpPr>
          <p:spPr>
            <a:xfrm>
              <a:off x="0" y="0"/>
              <a:ext cx="95670291" cy="27352631"/>
            </a:xfrm>
            <a:custGeom>
              <a:rect b="b" l="l" r="r" t="t"/>
              <a:pathLst>
                <a:path extrusionOk="0" h="27352631" w="95670291">
                  <a:moveTo>
                    <a:pt x="95525512" y="27207849"/>
                  </a:moveTo>
                  <a:lnTo>
                    <a:pt x="95670291" y="27207849"/>
                  </a:lnTo>
                  <a:lnTo>
                    <a:pt x="95670291" y="27352631"/>
                  </a:lnTo>
                  <a:lnTo>
                    <a:pt x="95525512" y="27352631"/>
                  </a:lnTo>
                  <a:lnTo>
                    <a:pt x="95525512" y="27207849"/>
                  </a:lnTo>
                  <a:close/>
                  <a:moveTo>
                    <a:pt x="0" y="144780"/>
                  </a:moveTo>
                  <a:lnTo>
                    <a:pt x="144780" y="144780"/>
                  </a:lnTo>
                  <a:lnTo>
                    <a:pt x="144780" y="27207849"/>
                  </a:lnTo>
                  <a:lnTo>
                    <a:pt x="0" y="27207849"/>
                  </a:lnTo>
                  <a:lnTo>
                    <a:pt x="0" y="144780"/>
                  </a:lnTo>
                  <a:close/>
                  <a:moveTo>
                    <a:pt x="0" y="27207849"/>
                  </a:moveTo>
                  <a:lnTo>
                    <a:pt x="144780" y="27207849"/>
                  </a:lnTo>
                  <a:lnTo>
                    <a:pt x="144780" y="27352631"/>
                  </a:lnTo>
                  <a:lnTo>
                    <a:pt x="0" y="27352631"/>
                  </a:lnTo>
                  <a:lnTo>
                    <a:pt x="0" y="27207849"/>
                  </a:lnTo>
                  <a:close/>
                  <a:moveTo>
                    <a:pt x="95525512" y="144780"/>
                  </a:moveTo>
                  <a:lnTo>
                    <a:pt x="95670291" y="144780"/>
                  </a:lnTo>
                  <a:lnTo>
                    <a:pt x="95670291" y="27207849"/>
                  </a:lnTo>
                  <a:lnTo>
                    <a:pt x="95525512" y="27207849"/>
                  </a:lnTo>
                  <a:lnTo>
                    <a:pt x="95525512" y="144780"/>
                  </a:lnTo>
                  <a:close/>
                  <a:moveTo>
                    <a:pt x="144780" y="27207849"/>
                  </a:moveTo>
                  <a:lnTo>
                    <a:pt x="95525512" y="27207849"/>
                  </a:lnTo>
                  <a:lnTo>
                    <a:pt x="95525512" y="27352631"/>
                  </a:lnTo>
                  <a:lnTo>
                    <a:pt x="144780" y="27352631"/>
                  </a:lnTo>
                  <a:lnTo>
                    <a:pt x="144780" y="27207849"/>
                  </a:lnTo>
                  <a:close/>
                  <a:moveTo>
                    <a:pt x="95525512" y="0"/>
                  </a:moveTo>
                  <a:lnTo>
                    <a:pt x="95670291" y="0"/>
                  </a:lnTo>
                  <a:lnTo>
                    <a:pt x="95670291" y="144780"/>
                  </a:lnTo>
                  <a:lnTo>
                    <a:pt x="95525512" y="144780"/>
                  </a:lnTo>
                  <a:lnTo>
                    <a:pt x="95525512" y="0"/>
                  </a:lnTo>
                  <a:close/>
                  <a:moveTo>
                    <a:pt x="0" y="0"/>
                  </a:moveTo>
                  <a:lnTo>
                    <a:pt x="144780" y="0"/>
                  </a:lnTo>
                  <a:lnTo>
                    <a:pt x="144780" y="144780"/>
                  </a:lnTo>
                  <a:lnTo>
                    <a:pt x="0" y="144780"/>
                  </a:lnTo>
                  <a:lnTo>
                    <a:pt x="0" y="0"/>
                  </a:lnTo>
                  <a:close/>
                  <a:moveTo>
                    <a:pt x="144780" y="0"/>
                  </a:moveTo>
                  <a:lnTo>
                    <a:pt x="95525512" y="0"/>
                  </a:lnTo>
                  <a:lnTo>
                    <a:pt x="95525512" y="144780"/>
                  </a:lnTo>
                  <a:lnTo>
                    <a:pt x="144780" y="144780"/>
                  </a:lnTo>
                  <a:lnTo>
                    <a:pt x="144780" y="0"/>
                  </a:lnTo>
                  <a:close/>
                </a:path>
              </a:pathLst>
            </a:custGeom>
            <a:solidFill>
              <a:srgbClr val="292929"/>
            </a:solidFill>
            <a:ln>
              <a:noFill/>
            </a:ln>
          </p:spPr>
        </p:sp>
      </p:grpSp>
      <p:sp>
        <p:nvSpPr>
          <p:cNvPr id="498" name="Google Shape;498;p18"/>
          <p:cNvSpPr txBox="1"/>
          <p:nvPr/>
        </p:nvSpPr>
        <p:spPr>
          <a:xfrm>
            <a:off x="12531134" y="7101699"/>
            <a:ext cx="4130851" cy="824865"/>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PRUEBA DE PENETRACIÓN (PENTESTING) </a:t>
            </a:r>
            <a:endParaRPr/>
          </a:p>
        </p:txBody>
      </p:sp>
      <p:sp>
        <p:nvSpPr>
          <p:cNvPr id="499" name="Google Shape;499;p18"/>
          <p:cNvSpPr txBox="1"/>
          <p:nvPr/>
        </p:nvSpPr>
        <p:spPr>
          <a:xfrm>
            <a:off x="12531134" y="8573805"/>
            <a:ext cx="4130851" cy="6115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292929"/>
                </a:solidFill>
                <a:latin typeface="Open Sans"/>
                <a:ea typeface="Open Sans"/>
                <a:cs typeface="Open Sans"/>
                <a:sym typeface="Open Sans"/>
              </a:rPr>
              <a:t> Simulación de ataques reales, a veces por hackers éticos</a:t>
            </a:r>
            <a:endParaRPr/>
          </a:p>
        </p:txBody>
      </p:sp>
      <p:sp>
        <p:nvSpPr>
          <p:cNvPr id="500" name="Google Shape;500;p18"/>
          <p:cNvSpPr txBox="1"/>
          <p:nvPr/>
        </p:nvSpPr>
        <p:spPr>
          <a:xfrm>
            <a:off x="7554302" y="2377100"/>
            <a:ext cx="31794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000000"/>
                </a:solidFill>
                <a:latin typeface="Arial"/>
                <a:ea typeface="Arial"/>
                <a:cs typeface="Arial"/>
                <a:sym typeface="Arial"/>
              </a:rPr>
              <a:t>IMPLEMENTACIÓN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504" name="Shape 504"/>
        <p:cNvGrpSpPr/>
        <p:nvPr/>
      </p:nvGrpSpPr>
      <p:grpSpPr>
        <a:xfrm>
          <a:off x="0" y="0"/>
          <a:ext cx="0" cy="0"/>
          <a:chOff x="0" y="0"/>
          <a:chExt cx="0" cy="0"/>
        </a:xfrm>
      </p:grpSpPr>
      <p:grpSp>
        <p:nvGrpSpPr>
          <p:cNvPr id="505" name="Google Shape;505;p19"/>
          <p:cNvGrpSpPr/>
          <p:nvPr/>
        </p:nvGrpSpPr>
        <p:grpSpPr>
          <a:xfrm>
            <a:off x="-1415561" y="8299195"/>
            <a:ext cx="3086100" cy="3086100"/>
            <a:chOff x="0" y="0"/>
            <a:chExt cx="812800" cy="812800"/>
          </a:xfrm>
        </p:grpSpPr>
        <p:sp>
          <p:nvSpPr>
            <p:cNvPr id="506" name="Google Shape;506;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8" name="Google Shape;508;p19"/>
          <p:cNvGrpSpPr/>
          <p:nvPr/>
        </p:nvGrpSpPr>
        <p:grpSpPr>
          <a:xfrm>
            <a:off x="17259300" y="9258300"/>
            <a:ext cx="3086100" cy="3086100"/>
            <a:chOff x="0" y="0"/>
            <a:chExt cx="812800" cy="812800"/>
          </a:xfrm>
        </p:grpSpPr>
        <p:sp>
          <p:nvSpPr>
            <p:cNvPr id="509" name="Google Shape;509;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1" name="Google Shape;511;p19"/>
          <p:cNvSpPr/>
          <p:nvPr/>
        </p:nvSpPr>
        <p:spPr>
          <a:xfrm>
            <a:off x="-1247819" y="6472207"/>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sp>
        <p:nvSpPr>
          <p:cNvPr id="512" name="Google Shape;512;p19"/>
          <p:cNvSpPr txBox="1"/>
          <p:nvPr/>
        </p:nvSpPr>
        <p:spPr>
          <a:xfrm>
            <a:off x="1236073" y="4319588"/>
            <a:ext cx="15815853" cy="1552575"/>
          </a:xfrm>
          <a:prstGeom prst="rect">
            <a:avLst/>
          </a:prstGeom>
          <a:noFill/>
          <a:ln>
            <a:noFill/>
          </a:ln>
        </p:spPr>
        <p:txBody>
          <a:bodyPr anchorCtr="0" anchor="t" bIns="0" lIns="0" spcFirstLastPara="1" rIns="0" wrap="square" tIns="0">
            <a:spAutoFit/>
          </a:bodyPr>
          <a:lstStyle/>
          <a:p>
            <a:pPr indent="0" lvl="0" marL="0" marR="0" rtl="0" algn="ctr">
              <a:lnSpc>
                <a:spcPct val="119989"/>
              </a:lnSpc>
              <a:spcBef>
                <a:spcPts val="0"/>
              </a:spcBef>
              <a:spcAft>
                <a:spcPts val="0"/>
              </a:spcAft>
              <a:buNone/>
            </a:pPr>
            <a:r>
              <a:rPr b="1" i="0" lang="en-US" sz="9600" u="none" cap="none" strike="noStrike">
                <a:solidFill>
                  <a:srgbClr val="FFFFFF"/>
                </a:solidFill>
                <a:latin typeface="Poppins"/>
                <a:ea typeface="Poppins"/>
                <a:cs typeface="Poppins"/>
                <a:sym typeface="Poppins"/>
              </a:rPr>
              <a:t>PRUEBAS UNITARIAS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516" name="Shape 516"/>
        <p:cNvGrpSpPr/>
        <p:nvPr/>
      </p:nvGrpSpPr>
      <p:grpSpPr>
        <a:xfrm>
          <a:off x="0" y="0"/>
          <a:ext cx="0" cy="0"/>
          <a:chOff x="0" y="0"/>
          <a:chExt cx="0" cy="0"/>
        </a:xfrm>
      </p:grpSpPr>
      <p:sp>
        <p:nvSpPr>
          <p:cNvPr id="517" name="Google Shape;517;p20"/>
          <p:cNvSpPr/>
          <p:nvPr/>
        </p:nvSpPr>
        <p:spPr>
          <a:xfrm>
            <a:off x="11499991" y="6931149"/>
            <a:ext cx="5291714" cy="2976589"/>
          </a:xfrm>
          <a:custGeom>
            <a:rect b="b" l="l" r="r" t="t"/>
            <a:pathLst>
              <a:path extrusionOk="0" h="2976589" w="5291714">
                <a:moveTo>
                  <a:pt x="0" y="0"/>
                </a:moveTo>
                <a:lnTo>
                  <a:pt x="5291714" y="0"/>
                </a:lnTo>
                <a:lnTo>
                  <a:pt x="5291714" y="2976588"/>
                </a:lnTo>
                <a:lnTo>
                  <a:pt x="0" y="2976588"/>
                </a:lnTo>
                <a:lnTo>
                  <a:pt x="0" y="0"/>
                </a:lnTo>
                <a:close/>
              </a:path>
            </a:pathLst>
          </a:custGeom>
          <a:blipFill rotWithShape="1">
            <a:blip r:embed="rId3">
              <a:alphaModFix/>
            </a:blip>
            <a:stretch>
              <a:fillRect b="0" l="0" r="0" t="0"/>
            </a:stretch>
          </a:blipFill>
          <a:ln>
            <a:noFill/>
          </a:ln>
        </p:spPr>
      </p:sp>
      <p:sp>
        <p:nvSpPr>
          <p:cNvPr id="518" name="Google Shape;518;p20"/>
          <p:cNvSpPr txBox="1"/>
          <p:nvPr/>
        </p:nvSpPr>
        <p:spPr>
          <a:xfrm>
            <a:off x="1987338" y="1968915"/>
            <a:ext cx="14313325" cy="55721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500" u="none" cap="none" strike="noStrike">
                <a:solidFill>
                  <a:srgbClr val="EBEBEB"/>
                </a:solidFill>
                <a:latin typeface="Arial"/>
                <a:ea typeface="Arial"/>
                <a:cs typeface="Arial"/>
                <a:sym typeface="Arial"/>
              </a:rPr>
              <a:t>Las pruebas unitarias son un tipo de prueba de software en la que se verifica el funcionamiento de una "unidad" de código, como una función, método o clase. Su propósito principal es asegurar que cada parte del código funcione correctamente de manera aislada a pequeñas porciones de código.</a:t>
            </a:r>
            <a:endParaRPr/>
          </a:p>
        </p:txBody>
      </p:sp>
      <p:grpSp>
        <p:nvGrpSpPr>
          <p:cNvPr id="519" name="Google Shape;519;p20"/>
          <p:cNvGrpSpPr/>
          <p:nvPr/>
        </p:nvGrpSpPr>
        <p:grpSpPr>
          <a:xfrm>
            <a:off x="-1543050" y="3881627"/>
            <a:ext cx="3086100" cy="3086100"/>
            <a:chOff x="0" y="0"/>
            <a:chExt cx="812800" cy="812800"/>
          </a:xfrm>
        </p:grpSpPr>
        <p:sp>
          <p:nvSpPr>
            <p:cNvPr id="520" name="Google Shape;520;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2" name="Google Shape;522;p20"/>
          <p:cNvSpPr/>
          <p:nvPr/>
        </p:nvSpPr>
        <p:spPr>
          <a:xfrm>
            <a:off x="-1375308" y="2054640"/>
            <a:ext cx="2495638" cy="2495638"/>
          </a:xfrm>
          <a:custGeom>
            <a:rect b="b" l="l" r="r" t="t"/>
            <a:pathLst>
              <a:path extrusionOk="0" h="2495638" w="2495638">
                <a:moveTo>
                  <a:pt x="0" y="0"/>
                </a:moveTo>
                <a:lnTo>
                  <a:pt x="2495638" y="0"/>
                </a:lnTo>
                <a:lnTo>
                  <a:pt x="2495638" y="2495637"/>
                </a:lnTo>
                <a:lnTo>
                  <a:pt x="0" y="2495637"/>
                </a:lnTo>
                <a:lnTo>
                  <a:pt x="0" y="0"/>
                </a:lnTo>
                <a:close/>
              </a:path>
            </a:pathLst>
          </a:custGeom>
          <a:blipFill rotWithShape="1">
            <a:blip r:embed="rId4">
              <a:alphaModFix amt="38000"/>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526" name="Shape 526"/>
        <p:cNvGrpSpPr/>
        <p:nvPr/>
      </p:nvGrpSpPr>
      <p:grpSpPr>
        <a:xfrm>
          <a:off x="0" y="0"/>
          <a:ext cx="0" cy="0"/>
          <a:chOff x="0" y="0"/>
          <a:chExt cx="0" cy="0"/>
        </a:xfrm>
      </p:grpSpPr>
      <p:sp>
        <p:nvSpPr>
          <p:cNvPr id="527" name="Google Shape;527;p21"/>
          <p:cNvSpPr txBox="1"/>
          <p:nvPr/>
        </p:nvSpPr>
        <p:spPr>
          <a:xfrm>
            <a:off x="1987338" y="2456840"/>
            <a:ext cx="14313325" cy="55721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500" u="none" cap="none" strike="noStrike">
                <a:solidFill>
                  <a:srgbClr val="EBEBEB"/>
                </a:solidFill>
                <a:latin typeface="Arial"/>
                <a:ea typeface="Arial"/>
                <a:cs typeface="Arial"/>
                <a:sym typeface="Arial"/>
              </a:rPr>
              <a:t>El mocking y los stubs son técnicas utilizadas para simular el comportamiento de dependencias externas, como bases de datos o servicios web. Un mock es un objeto que imita el comportamiento de una dependencia, mientras que un stub proporciona respuestas predefinidas.</a:t>
            </a:r>
            <a:endParaRPr/>
          </a:p>
        </p:txBody>
      </p:sp>
      <p:grpSp>
        <p:nvGrpSpPr>
          <p:cNvPr id="528" name="Google Shape;528;p21"/>
          <p:cNvGrpSpPr/>
          <p:nvPr/>
        </p:nvGrpSpPr>
        <p:grpSpPr>
          <a:xfrm>
            <a:off x="-1543050" y="3881627"/>
            <a:ext cx="3086100" cy="3086100"/>
            <a:chOff x="0" y="0"/>
            <a:chExt cx="812800" cy="812800"/>
          </a:xfrm>
        </p:grpSpPr>
        <p:sp>
          <p:nvSpPr>
            <p:cNvPr id="529" name="Google Shape;52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1"/>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1" name="Google Shape;531;p21"/>
          <p:cNvSpPr/>
          <p:nvPr/>
        </p:nvSpPr>
        <p:spPr>
          <a:xfrm>
            <a:off x="-1375308" y="2054640"/>
            <a:ext cx="2495638" cy="2495638"/>
          </a:xfrm>
          <a:custGeom>
            <a:rect b="b" l="l" r="r" t="t"/>
            <a:pathLst>
              <a:path extrusionOk="0" h="2495638" w="2495638">
                <a:moveTo>
                  <a:pt x="0" y="0"/>
                </a:moveTo>
                <a:lnTo>
                  <a:pt x="2495638" y="0"/>
                </a:lnTo>
                <a:lnTo>
                  <a:pt x="2495638" y="2495637"/>
                </a:lnTo>
                <a:lnTo>
                  <a:pt x="0" y="2495637"/>
                </a:lnTo>
                <a:lnTo>
                  <a:pt x="0" y="0"/>
                </a:lnTo>
                <a:close/>
              </a:path>
            </a:pathLst>
          </a:custGeom>
          <a:blipFill rotWithShape="1">
            <a:blip r:embed="rId3">
              <a:alphaModFix amt="38000"/>
            </a:blip>
            <a:stretch>
              <a:fillRect b="0" l="0" r="0" t="0"/>
            </a:stretch>
          </a:blipFill>
          <a:ln>
            <a:noFill/>
          </a:ln>
        </p:spPr>
      </p:sp>
      <p:sp>
        <p:nvSpPr>
          <p:cNvPr id="532" name="Google Shape;532;p21"/>
          <p:cNvSpPr txBox="1"/>
          <p:nvPr/>
        </p:nvSpPr>
        <p:spPr>
          <a:xfrm>
            <a:off x="5286944" y="779053"/>
            <a:ext cx="7714112" cy="2047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500" u="none" cap="none" strike="noStrike">
                <a:solidFill>
                  <a:srgbClr val="FFFFFF"/>
                </a:solidFill>
                <a:latin typeface="Poppins"/>
                <a:ea typeface="Poppins"/>
                <a:cs typeface="Poppins"/>
                <a:sym typeface="Poppins"/>
              </a:rPr>
              <a:t>MOCKING Y STUBS</a:t>
            </a:r>
            <a:endParaRPr/>
          </a:p>
          <a:p>
            <a:pPr indent="0" lvl="0" marL="0" marR="0" rtl="0" algn="l">
              <a:lnSpc>
                <a:spcPct val="120000"/>
              </a:lnSpc>
              <a:spcBef>
                <a:spcPts val="0"/>
              </a:spcBef>
              <a:spcAft>
                <a:spcPts val="0"/>
              </a:spcAft>
              <a:buNone/>
            </a:pPr>
            <a:r>
              <a:t/>
            </a:r>
            <a:endParaRPr b="1" i="0" sz="6500" u="none" cap="none" strike="noStrike">
              <a:solidFill>
                <a:srgbClr val="FFFFFF"/>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536" name="Shape 536"/>
        <p:cNvGrpSpPr/>
        <p:nvPr/>
      </p:nvGrpSpPr>
      <p:grpSpPr>
        <a:xfrm>
          <a:off x="0" y="0"/>
          <a:ext cx="0" cy="0"/>
          <a:chOff x="0" y="0"/>
          <a:chExt cx="0" cy="0"/>
        </a:xfrm>
      </p:grpSpPr>
      <p:grpSp>
        <p:nvGrpSpPr>
          <p:cNvPr id="537" name="Google Shape;537;p22"/>
          <p:cNvGrpSpPr/>
          <p:nvPr/>
        </p:nvGrpSpPr>
        <p:grpSpPr>
          <a:xfrm>
            <a:off x="-1543050" y="3881627"/>
            <a:ext cx="3086100" cy="3086100"/>
            <a:chOff x="0" y="0"/>
            <a:chExt cx="812800" cy="812800"/>
          </a:xfrm>
        </p:grpSpPr>
        <p:sp>
          <p:nvSpPr>
            <p:cNvPr id="538" name="Google Shape;538;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2"/>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40" name="Google Shape;540;p22"/>
          <p:cNvSpPr/>
          <p:nvPr/>
        </p:nvSpPr>
        <p:spPr>
          <a:xfrm>
            <a:off x="-1375308" y="2054640"/>
            <a:ext cx="2495638" cy="2495638"/>
          </a:xfrm>
          <a:custGeom>
            <a:rect b="b" l="l" r="r" t="t"/>
            <a:pathLst>
              <a:path extrusionOk="0" h="2495638" w="2495638">
                <a:moveTo>
                  <a:pt x="0" y="0"/>
                </a:moveTo>
                <a:lnTo>
                  <a:pt x="2495638" y="0"/>
                </a:lnTo>
                <a:lnTo>
                  <a:pt x="2495638" y="2495637"/>
                </a:lnTo>
                <a:lnTo>
                  <a:pt x="0" y="2495637"/>
                </a:lnTo>
                <a:lnTo>
                  <a:pt x="0" y="0"/>
                </a:lnTo>
                <a:close/>
              </a:path>
            </a:pathLst>
          </a:custGeom>
          <a:blipFill rotWithShape="1">
            <a:blip r:embed="rId3">
              <a:alphaModFix amt="38000"/>
            </a:blip>
            <a:stretch>
              <a:fillRect b="0" l="0" r="0" t="0"/>
            </a:stretch>
          </a:blipFill>
          <a:ln>
            <a:noFill/>
          </a:ln>
        </p:spPr>
      </p:sp>
      <p:sp>
        <p:nvSpPr>
          <p:cNvPr id="541" name="Google Shape;541;p22"/>
          <p:cNvSpPr/>
          <p:nvPr/>
        </p:nvSpPr>
        <p:spPr>
          <a:xfrm>
            <a:off x="15401155" y="7706092"/>
            <a:ext cx="2451148" cy="2451148"/>
          </a:xfrm>
          <a:custGeom>
            <a:rect b="b" l="l" r="r" t="t"/>
            <a:pathLst>
              <a:path extrusionOk="0" h="2451148" w="2451148">
                <a:moveTo>
                  <a:pt x="0" y="0"/>
                </a:moveTo>
                <a:lnTo>
                  <a:pt x="2451148" y="0"/>
                </a:lnTo>
                <a:lnTo>
                  <a:pt x="2451148" y="2451148"/>
                </a:lnTo>
                <a:lnTo>
                  <a:pt x="0" y="2451148"/>
                </a:lnTo>
                <a:lnTo>
                  <a:pt x="0" y="0"/>
                </a:lnTo>
                <a:close/>
              </a:path>
            </a:pathLst>
          </a:custGeom>
          <a:blipFill rotWithShape="1">
            <a:blip r:embed="rId4">
              <a:alphaModFix/>
            </a:blip>
            <a:stretch>
              <a:fillRect b="0" l="0" r="0" t="0"/>
            </a:stretch>
          </a:blipFill>
          <a:ln>
            <a:noFill/>
          </a:ln>
        </p:spPr>
      </p:sp>
      <p:sp>
        <p:nvSpPr>
          <p:cNvPr id="542" name="Google Shape;542;p22"/>
          <p:cNvSpPr/>
          <p:nvPr/>
        </p:nvSpPr>
        <p:spPr>
          <a:xfrm>
            <a:off x="-127498" y="8312527"/>
            <a:ext cx="4585867" cy="2192300"/>
          </a:xfrm>
          <a:custGeom>
            <a:rect b="b" l="l" r="r" t="t"/>
            <a:pathLst>
              <a:path extrusionOk="0" h="3143083" w="5592521">
                <a:moveTo>
                  <a:pt x="0" y="0"/>
                </a:moveTo>
                <a:lnTo>
                  <a:pt x="5592521" y="0"/>
                </a:lnTo>
                <a:lnTo>
                  <a:pt x="5592521" y="3143084"/>
                </a:lnTo>
                <a:lnTo>
                  <a:pt x="0" y="3143084"/>
                </a:lnTo>
                <a:lnTo>
                  <a:pt x="0" y="0"/>
                </a:lnTo>
                <a:close/>
              </a:path>
            </a:pathLst>
          </a:custGeom>
          <a:blipFill rotWithShape="1">
            <a:blip r:embed="rId5">
              <a:alphaModFix/>
            </a:blip>
            <a:stretch>
              <a:fillRect b="0" l="0" r="0" t="0"/>
            </a:stretch>
          </a:blipFill>
          <a:ln>
            <a:noFill/>
          </a:ln>
        </p:spPr>
      </p:sp>
      <p:sp>
        <p:nvSpPr>
          <p:cNvPr id="543" name="Google Shape;543;p22"/>
          <p:cNvSpPr txBox="1"/>
          <p:nvPr/>
        </p:nvSpPr>
        <p:spPr>
          <a:xfrm>
            <a:off x="3422611" y="1968915"/>
            <a:ext cx="4919330" cy="5782042"/>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4077" u="none" cap="none" strike="noStrike">
                <a:solidFill>
                  <a:srgbClr val="EBEBEB"/>
                </a:solidFill>
                <a:latin typeface="Arial"/>
                <a:ea typeface="Arial"/>
                <a:cs typeface="Arial"/>
                <a:sym typeface="Arial"/>
              </a:rPr>
              <a:t>Jest es un framework de pruebas para JavaScript que permite escribir y ejecutar pruebas unitarias y de integración </a:t>
            </a:r>
            <a:endParaRPr/>
          </a:p>
        </p:txBody>
      </p:sp>
      <p:sp>
        <p:nvSpPr>
          <p:cNvPr id="544" name="Google Shape;544;p22"/>
          <p:cNvSpPr txBox="1"/>
          <p:nvPr/>
        </p:nvSpPr>
        <p:spPr>
          <a:xfrm>
            <a:off x="5286944" y="779053"/>
            <a:ext cx="7714112"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500" u="none" cap="none" strike="noStrike">
                <a:solidFill>
                  <a:srgbClr val="FFFFFF"/>
                </a:solidFill>
                <a:latin typeface="Poppins"/>
                <a:ea typeface="Poppins"/>
                <a:cs typeface="Poppins"/>
                <a:sym typeface="Poppins"/>
              </a:rPr>
              <a:t>JEST &amp; SUPERTEST</a:t>
            </a:r>
            <a:endParaRPr/>
          </a:p>
        </p:txBody>
      </p:sp>
      <p:sp>
        <p:nvSpPr>
          <p:cNvPr id="545" name="Google Shape;545;p22"/>
          <p:cNvSpPr txBox="1"/>
          <p:nvPr/>
        </p:nvSpPr>
        <p:spPr>
          <a:xfrm>
            <a:off x="9875888" y="1968915"/>
            <a:ext cx="5161299" cy="6507027"/>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4077" u="none" cap="none" strike="noStrike">
                <a:solidFill>
                  <a:srgbClr val="EBEBEB"/>
                </a:solidFill>
                <a:latin typeface="Arial"/>
                <a:ea typeface="Arial"/>
                <a:cs typeface="Arial"/>
                <a:sym typeface="Arial"/>
              </a:rPr>
              <a:t>Supertest  es una librería especializada en probar APIs HTTP, permitiendo enviar solicitudes y verificar respuestas de servidores.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549" name="Shape 549"/>
        <p:cNvGrpSpPr/>
        <p:nvPr/>
      </p:nvGrpSpPr>
      <p:grpSpPr>
        <a:xfrm>
          <a:off x="0" y="0"/>
          <a:ext cx="0" cy="0"/>
          <a:chOff x="0" y="0"/>
          <a:chExt cx="0" cy="0"/>
        </a:xfrm>
      </p:grpSpPr>
      <p:grpSp>
        <p:nvGrpSpPr>
          <p:cNvPr id="550" name="Google Shape;550;p23"/>
          <p:cNvGrpSpPr/>
          <p:nvPr/>
        </p:nvGrpSpPr>
        <p:grpSpPr>
          <a:xfrm>
            <a:off x="-1543050" y="3881627"/>
            <a:ext cx="3086100" cy="3086100"/>
            <a:chOff x="0" y="0"/>
            <a:chExt cx="812800" cy="812800"/>
          </a:xfrm>
        </p:grpSpPr>
        <p:sp>
          <p:nvSpPr>
            <p:cNvPr id="551" name="Google Shape;551;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3"/>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3" name="Google Shape;553;p23"/>
          <p:cNvSpPr/>
          <p:nvPr/>
        </p:nvSpPr>
        <p:spPr>
          <a:xfrm>
            <a:off x="-1375308" y="2054640"/>
            <a:ext cx="2495638" cy="2495638"/>
          </a:xfrm>
          <a:custGeom>
            <a:rect b="b" l="l" r="r" t="t"/>
            <a:pathLst>
              <a:path extrusionOk="0" h="2495638" w="2495638">
                <a:moveTo>
                  <a:pt x="0" y="0"/>
                </a:moveTo>
                <a:lnTo>
                  <a:pt x="2495638" y="0"/>
                </a:lnTo>
                <a:lnTo>
                  <a:pt x="2495638" y="2495637"/>
                </a:lnTo>
                <a:lnTo>
                  <a:pt x="0" y="2495637"/>
                </a:lnTo>
                <a:lnTo>
                  <a:pt x="0" y="0"/>
                </a:lnTo>
                <a:close/>
              </a:path>
            </a:pathLst>
          </a:custGeom>
          <a:blipFill rotWithShape="1">
            <a:blip r:embed="rId3">
              <a:alphaModFix amt="38000"/>
            </a:blip>
            <a:stretch>
              <a:fillRect b="0" l="0" r="0" t="0"/>
            </a:stretch>
          </a:blipFill>
          <a:ln>
            <a:noFill/>
          </a:ln>
        </p:spPr>
      </p:sp>
      <p:sp>
        <p:nvSpPr>
          <p:cNvPr id="554" name="Google Shape;554;p23"/>
          <p:cNvSpPr txBox="1"/>
          <p:nvPr/>
        </p:nvSpPr>
        <p:spPr>
          <a:xfrm>
            <a:off x="1726612" y="3795902"/>
            <a:ext cx="6527997" cy="3607084"/>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4077" u="none" cap="none" strike="noStrike">
                <a:solidFill>
                  <a:srgbClr val="EBEBEB"/>
                </a:solidFill>
                <a:latin typeface="Arial"/>
                <a:ea typeface="Arial"/>
                <a:cs typeface="Arial"/>
                <a:sym typeface="Arial"/>
              </a:rPr>
              <a:t>Las pruebas funcionales verifican que el sistema haga lo que debe, basándose en entradas y salidas observables</a:t>
            </a:r>
            <a:endParaRPr/>
          </a:p>
        </p:txBody>
      </p:sp>
      <p:sp>
        <p:nvSpPr>
          <p:cNvPr id="555" name="Google Shape;555;p23"/>
          <p:cNvSpPr txBox="1"/>
          <p:nvPr/>
        </p:nvSpPr>
        <p:spPr>
          <a:xfrm>
            <a:off x="4546111" y="525053"/>
            <a:ext cx="9195778" cy="2047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6500" u="none" cap="none" strike="noStrike">
                <a:solidFill>
                  <a:srgbClr val="FFFFFF"/>
                </a:solidFill>
                <a:latin typeface="Poppins"/>
                <a:ea typeface="Poppins"/>
                <a:cs typeface="Poppins"/>
                <a:sym typeface="Poppins"/>
              </a:rPr>
              <a:t>CONCEPTOS CLAVE APRENDIDOS </a:t>
            </a:r>
            <a:endParaRPr/>
          </a:p>
        </p:txBody>
      </p:sp>
      <p:sp>
        <p:nvSpPr>
          <p:cNvPr id="556" name="Google Shape;556;p23"/>
          <p:cNvSpPr txBox="1"/>
          <p:nvPr/>
        </p:nvSpPr>
        <p:spPr>
          <a:xfrm>
            <a:off x="9292167" y="3017301"/>
            <a:ext cx="7141633" cy="5782042"/>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4077" u="none" cap="none" strike="noStrike">
                <a:solidFill>
                  <a:srgbClr val="EBEBEB"/>
                </a:solidFill>
                <a:latin typeface="Arial"/>
                <a:ea typeface="Arial"/>
                <a:cs typeface="Arial"/>
                <a:sym typeface="Arial"/>
              </a:rPr>
              <a:t>Las pruebas no funcionales evalúan atributos como rendimiento, seguridad y comportamiento bajo presión, utilizando herramientas especializadas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7964"/>
        </a:solidFill>
      </p:bgPr>
    </p:bg>
    <p:spTree>
      <p:nvGrpSpPr>
        <p:cNvPr id="560" name="Shape 560"/>
        <p:cNvGrpSpPr/>
        <p:nvPr/>
      </p:nvGrpSpPr>
      <p:grpSpPr>
        <a:xfrm>
          <a:off x="0" y="0"/>
          <a:ext cx="0" cy="0"/>
          <a:chOff x="0" y="0"/>
          <a:chExt cx="0" cy="0"/>
        </a:xfrm>
      </p:grpSpPr>
      <p:grpSp>
        <p:nvGrpSpPr>
          <p:cNvPr id="561" name="Google Shape;561;p24"/>
          <p:cNvGrpSpPr/>
          <p:nvPr/>
        </p:nvGrpSpPr>
        <p:grpSpPr>
          <a:xfrm>
            <a:off x="-1543050" y="3881627"/>
            <a:ext cx="3086100" cy="3086100"/>
            <a:chOff x="0" y="0"/>
            <a:chExt cx="812800" cy="812800"/>
          </a:xfrm>
        </p:grpSpPr>
        <p:sp>
          <p:nvSpPr>
            <p:cNvPr id="562" name="Google Shape;562;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82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4"/>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4" name="Google Shape;564;p24"/>
          <p:cNvSpPr/>
          <p:nvPr/>
        </p:nvSpPr>
        <p:spPr>
          <a:xfrm>
            <a:off x="-1375308" y="2054640"/>
            <a:ext cx="2495638" cy="2495638"/>
          </a:xfrm>
          <a:custGeom>
            <a:rect b="b" l="l" r="r" t="t"/>
            <a:pathLst>
              <a:path extrusionOk="0" h="2495638" w="2495638">
                <a:moveTo>
                  <a:pt x="0" y="0"/>
                </a:moveTo>
                <a:lnTo>
                  <a:pt x="2495638" y="0"/>
                </a:lnTo>
                <a:lnTo>
                  <a:pt x="2495638" y="2495637"/>
                </a:lnTo>
                <a:lnTo>
                  <a:pt x="0" y="2495637"/>
                </a:lnTo>
                <a:lnTo>
                  <a:pt x="0" y="0"/>
                </a:lnTo>
                <a:close/>
              </a:path>
            </a:pathLst>
          </a:custGeom>
          <a:blipFill rotWithShape="1">
            <a:blip r:embed="rId3">
              <a:alphaModFix amt="38000"/>
            </a:blip>
            <a:stretch>
              <a:fillRect b="0" l="0" r="0" t="0"/>
            </a:stretch>
          </a:blipFill>
          <a:ln>
            <a:noFill/>
          </a:ln>
        </p:spPr>
      </p:sp>
      <p:sp>
        <p:nvSpPr>
          <p:cNvPr id="565" name="Google Shape;565;p24"/>
          <p:cNvSpPr txBox="1"/>
          <p:nvPr/>
        </p:nvSpPr>
        <p:spPr>
          <a:xfrm>
            <a:off x="7049273" y="962025"/>
            <a:ext cx="4189455"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500" u="none" cap="none" strike="noStrike">
                <a:solidFill>
                  <a:srgbClr val="FFFFFF"/>
                </a:solidFill>
                <a:latin typeface="Poppins"/>
                <a:ea typeface="Poppins"/>
                <a:cs typeface="Poppins"/>
                <a:sym typeface="Poppins"/>
              </a:rPr>
              <a:t>GRATITUD</a:t>
            </a:r>
            <a:endParaRPr/>
          </a:p>
        </p:txBody>
      </p:sp>
      <p:sp>
        <p:nvSpPr>
          <p:cNvPr id="566" name="Google Shape;566;p24"/>
          <p:cNvSpPr txBox="1"/>
          <p:nvPr/>
        </p:nvSpPr>
        <p:spPr>
          <a:xfrm>
            <a:off x="2319876" y="2512550"/>
            <a:ext cx="5125800" cy="6926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FFFFFF"/>
                </a:solidFill>
                <a:latin typeface="Arial"/>
                <a:ea typeface="Arial"/>
                <a:cs typeface="Arial"/>
                <a:sym typeface="Arial"/>
              </a:rPr>
              <a:t>EN EL DESARROLLO DE SOFTWARE, COMO EN EL APRENDIZAJE, LOS MEJORES SISTEMAS SE CONSTRUYEN EN EQUIPO; NUNCA OLVIDES AGRADECER A QUIENES TE AYUDARON A COMPILAR TUS IDEAS CUANDO EL CÓDIGO NO SALÍA</a:t>
            </a:r>
            <a:endParaRPr/>
          </a:p>
        </p:txBody>
      </p:sp>
      <p:pic>
        <p:nvPicPr>
          <p:cNvPr id="567" name="Google Shape;567;p24"/>
          <p:cNvPicPr preferRelativeResize="0"/>
          <p:nvPr/>
        </p:nvPicPr>
        <p:blipFill>
          <a:blip r:embed="rId4">
            <a:alphaModFix/>
          </a:blip>
          <a:stretch>
            <a:fillRect/>
          </a:stretch>
        </p:blipFill>
        <p:spPr>
          <a:xfrm>
            <a:off x="8595012" y="3034625"/>
            <a:ext cx="7342531" cy="5859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5"/>
          <p:cNvSpPr/>
          <p:nvPr/>
        </p:nvSpPr>
        <p:spPr>
          <a:xfrm>
            <a:off x="-1114425" y="689539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3" name="Google Shape;573;p25"/>
          <p:cNvSpPr/>
          <p:nvPr/>
        </p:nvSpPr>
        <p:spPr>
          <a:xfrm>
            <a:off x="2358992" y="689539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4" name="Google Shape;574;p25"/>
          <p:cNvSpPr/>
          <p:nvPr/>
        </p:nvSpPr>
        <p:spPr>
          <a:xfrm>
            <a:off x="9305826" y="689539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5" name="Google Shape;575;p25"/>
          <p:cNvSpPr/>
          <p:nvPr/>
        </p:nvSpPr>
        <p:spPr>
          <a:xfrm>
            <a:off x="5832409" y="689539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6" name="Google Shape;576;p25"/>
          <p:cNvSpPr/>
          <p:nvPr/>
        </p:nvSpPr>
        <p:spPr>
          <a:xfrm>
            <a:off x="12779243" y="689539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7" name="Google Shape;577;p25"/>
          <p:cNvSpPr/>
          <p:nvPr/>
        </p:nvSpPr>
        <p:spPr>
          <a:xfrm>
            <a:off x="16252660" y="689539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8" name="Google Shape;578;p25"/>
          <p:cNvSpPr/>
          <p:nvPr/>
        </p:nvSpPr>
        <p:spPr>
          <a:xfrm>
            <a:off x="-1114425" y="3420040"/>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79" name="Google Shape;579;p25"/>
          <p:cNvSpPr/>
          <p:nvPr/>
        </p:nvSpPr>
        <p:spPr>
          <a:xfrm>
            <a:off x="2358992" y="3420040"/>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0" name="Google Shape;580;p25"/>
          <p:cNvSpPr/>
          <p:nvPr/>
        </p:nvSpPr>
        <p:spPr>
          <a:xfrm>
            <a:off x="9305826" y="3420040"/>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1" name="Google Shape;581;p25"/>
          <p:cNvSpPr/>
          <p:nvPr/>
        </p:nvSpPr>
        <p:spPr>
          <a:xfrm>
            <a:off x="5832409" y="3420040"/>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2" name="Google Shape;582;p25"/>
          <p:cNvSpPr/>
          <p:nvPr/>
        </p:nvSpPr>
        <p:spPr>
          <a:xfrm>
            <a:off x="12779243" y="3420040"/>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3" name="Google Shape;583;p25"/>
          <p:cNvSpPr/>
          <p:nvPr/>
        </p:nvSpPr>
        <p:spPr>
          <a:xfrm>
            <a:off x="16252660" y="3420040"/>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4" name="Google Shape;584;p25"/>
          <p:cNvSpPr/>
          <p:nvPr/>
        </p:nvSpPr>
        <p:spPr>
          <a:xfrm>
            <a:off x="9305826" y="-5531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5" name="Google Shape;585;p25"/>
          <p:cNvSpPr/>
          <p:nvPr/>
        </p:nvSpPr>
        <p:spPr>
          <a:xfrm>
            <a:off x="12779243" y="-5531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sp>
        <p:nvSpPr>
          <p:cNvPr id="586" name="Google Shape;586;p25"/>
          <p:cNvSpPr/>
          <p:nvPr/>
        </p:nvSpPr>
        <p:spPr>
          <a:xfrm>
            <a:off x="16252660" y="-55313"/>
            <a:ext cx="3485034" cy="3485034"/>
          </a:xfrm>
          <a:custGeom>
            <a:rect b="b" l="l" r="r" t="t"/>
            <a:pathLst>
              <a:path extrusionOk="0" h="3485034" w="3485034">
                <a:moveTo>
                  <a:pt x="0" y="0"/>
                </a:moveTo>
                <a:lnTo>
                  <a:pt x="3485034" y="0"/>
                </a:lnTo>
                <a:lnTo>
                  <a:pt x="3485034" y="3485034"/>
                </a:lnTo>
                <a:lnTo>
                  <a:pt x="0" y="3485034"/>
                </a:lnTo>
                <a:lnTo>
                  <a:pt x="0" y="0"/>
                </a:lnTo>
                <a:close/>
              </a:path>
            </a:pathLst>
          </a:custGeom>
          <a:blipFill rotWithShape="1">
            <a:blip r:embed="rId3">
              <a:alphaModFix/>
            </a:blip>
            <a:stretch>
              <a:fillRect b="0" l="0" r="0" t="0"/>
            </a:stretch>
          </a:blipFill>
          <a:ln>
            <a:noFill/>
          </a:ln>
        </p:spPr>
      </p:sp>
      <p:grpSp>
        <p:nvGrpSpPr>
          <p:cNvPr id="587" name="Google Shape;587;p25"/>
          <p:cNvGrpSpPr/>
          <p:nvPr/>
        </p:nvGrpSpPr>
        <p:grpSpPr>
          <a:xfrm>
            <a:off x="7191106" y="3952421"/>
            <a:ext cx="4213171" cy="2242316"/>
            <a:chOff x="0" y="-47625"/>
            <a:chExt cx="1109642" cy="590569"/>
          </a:xfrm>
        </p:grpSpPr>
        <p:sp>
          <p:nvSpPr>
            <p:cNvPr id="588" name="Google Shape;588;p25"/>
            <p:cNvSpPr/>
            <p:nvPr/>
          </p:nvSpPr>
          <p:spPr>
            <a:xfrm>
              <a:off x="0" y="0"/>
              <a:ext cx="1109642" cy="542944"/>
            </a:xfrm>
            <a:custGeom>
              <a:rect b="b" l="l" r="r" t="t"/>
              <a:pathLst>
                <a:path extrusionOk="0" h="542944" w="1109642">
                  <a:moveTo>
                    <a:pt x="0" y="0"/>
                  </a:moveTo>
                  <a:lnTo>
                    <a:pt x="1109642" y="0"/>
                  </a:lnTo>
                  <a:lnTo>
                    <a:pt x="1109642" y="542944"/>
                  </a:lnTo>
                  <a:lnTo>
                    <a:pt x="0" y="542944"/>
                  </a:lnTo>
                  <a:close/>
                </a:path>
              </a:pathLst>
            </a:custGeom>
            <a:solidFill>
              <a:srgbClr val="FFFFFF"/>
            </a:solidFill>
            <a:ln>
              <a:noFill/>
            </a:ln>
          </p:spPr>
        </p:sp>
        <p:sp>
          <p:nvSpPr>
            <p:cNvPr id="589" name="Google Shape;589;p25"/>
            <p:cNvSpPr txBox="1"/>
            <p:nvPr/>
          </p:nvSpPr>
          <p:spPr>
            <a:xfrm>
              <a:off x="0" y="-47625"/>
              <a:ext cx="1109642" cy="59056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0" name="Google Shape;590;p25"/>
          <p:cNvSpPr txBox="1"/>
          <p:nvPr/>
        </p:nvSpPr>
        <p:spPr>
          <a:xfrm>
            <a:off x="-65222" y="247758"/>
            <a:ext cx="9382664" cy="2793167"/>
          </a:xfrm>
          <a:prstGeom prst="rect">
            <a:avLst/>
          </a:prstGeom>
          <a:noFill/>
          <a:ln>
            <a:noFill/>
          </a:ln>
        </p:spPr>
        <p:txBody>
          <a:bodyPr anchorCtr="0" anchor="t" bIns="0" lIns="0" spcFirstLastPara="1" rIns="0" wrap="square" tIns="0">
            <a:spAutoFit/>
          </a:bodyPr>
          <a:lstStyle/>
          <a:p>
            <a:pPr indent="0" lvl="0" marL="0" marR="0" rtl="0" algn="ctr">
              <a:lnSpc>
                <a:spcPct val="119997"/>
              </a:lnSpc>
              <a:spcBef>
                <a:spcPts val="0"/>
              </a:spcBef>
              <a:spcAft>
                <a:spcPts val="0"/>
              </a:spcAft>
              <a:buNone/>
            </a:pPr>
            <a:r>
              <a:rPr b="1" i="0" lang="en-US" sz="8936" u="none" cap="none" strike="noStrike">
                <a:solidFill>
                  <a:srgbClr val="000000"/>
                </a:solidFill>
                <a:latin typeface="Poppins"/>
                <a:ea typeface="Poppins"/>
                <a:cs typeface="Poppins"/>
                <a:sym typeface="Poppins"/>
              </a:rPr>
              <a:t>¡GRACIAS POR SU ATENCIÓN!</a:t>
            </a:r>
            <a:endParaRPr/>
          </a:p>
        </p:txBody>
      </p:sp>
      <p:sp>
        <p:nvSpPr>
          <p:cNvPr id="591" name="Google Shape;591;p25"/>
          <p:cNvSpPr txBox="1"/>
          <p:nvPr/>
        </p:nvSpPr>
        <p:spPr>
          <a:xfrm>
            <a:off x="6157163" y="4651547"/>
            <a:ext cx="6320560" cy="92011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399" u="none" cap="none" strike="noStrike">
                <a:solidFill>
                  <a:srgbClr val="000000"/>
                </a:solidFill>
                <a:latin typeface="Open Sans"/>
                <a:ea typeface="Open Sans"/>
                <a:cs typeface="Open Sans"/>
                <a:sym typeface="Open Sans"/>
              </a:rPr>
              <a:t>DUDAS?</a:t>
            </a:r>
            <a:endParaRPr/>
          </a:p>
        </p:txBody>
      </p:sp>
      <p:grpSp>
        <p:nvGrpSpPr>
          <p:cNvPr id="592" name="Google Shape;592;p25"/>
          <p:cNvGrpSpPr/>
          <p:nvPr/>
        </p:nvGrpSpPr>
        <p:grpSpPr>
          <a:xfrm>
            <a:off x="1635080" y="7417792"/>
            <a:ext cx="15360923" cy="1545582"/>
            <a:chOff x="0" y="-47625"/>
            <a:chExt cx="4045675" cy="407067"/>
          </a:xfrm>
        </p:grpSpPr>
        <p:sp>
          <p:nvSpPr>
            <p:cNvPr id="593" name="Google Shape;593;p25"/>
            <p:cNvSpPr/>
            <p:nvPr/>
          </p:nvSpPr>
          <p:spPr>
            <a:xfrm>
              <a:off x="0" y="0"/>
              <a:ext cx="4045675" cy="359442"/>
            </a:xfrm>
            <a:custGeom>
              <a:rect b="b" l="l" r="r" t="t"/>
              <a:pathLst>
                <a:path extrusionOk="0" h="359442" w="4045675">
                  <a:moveTo>
                    <a:pt x="0" y="0"/>
                  </a:moveTo>
                  <a:lnTo>
                    <a:pt x="4045675" y="0"/>
                  </a:lnTo>
                  <a:lnTo>
                    <a:pt x="4045675" y="359442"/>
                  </a:lnTo>
                  <a:lnTo>
                    <a:pt x="0" y="359442"/>
                  </a:lnTo>
                  <a:close/>
                </a:path>
              </a:pathLst>
            </a:custGeom>
            <a:solidFill>
              <a:srgbClr val="FFFFFF"/>
            </a:solidFill>
            <a:ln>
              <a:noFill/>
            </a:ln>
          </p:spPr>
        </p:sp>
        <p:sp>
          <p:nvSpPr>
            <p:cNvPr id="594" name="Google Shape;594;p25"/>
            <p:cNvSpPr txBox="1"/>
            <p:nvPr/>
          </p:nvSpPr>
          <p:spPr>
            <a:xfrm>
              <a:off x="0" y="-47625"/>
              <a:ext cx="4045675" cy="40706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5" name="Google Shape;595;p25"/>
          <p:cNvSpPr txBox="1"/>
          <p:nvPr/>
        </p:nvSpPr>
        <p:spPr>
          <a:xfrm>
            <a:off x="1028700" y="7810213"/>
            <a:ext cx="16484687" cy="15811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Open Sans"/>
                <a:ea typeface="Open Sans"/>
                <a:cs typeface="Open Sans"/>
                <a:sym typeface="Open Sans"/>
              </a:rPr>
              <a:t>RECUERDA QUE TENEMOS NUESTRO FORO SEMANAL DONDE PUEDES CONSULTAR CUALQUIER DUDA QUE TE SURJA EN LA SEMANA</a:t>
            </a:r>
            <a:endParaRPr/>
          </a:p>
          <a:p>
            <a:pPr indent="0" lvl="0" marL="0" marR="0" rtl="0" algn="ctr">
              <a:lnSpc>
                <a:spcPct val="140000"/>
              </a:lnSpc>
              <a:spcBef>
                <a:spcPts val="0"/>
              </a:spcBef>
              <a:spcAft>
                <a:spcPts val="0"/>
              </a:spcAft>
              <a:buNone/>
            </a:pPr>
            <a:r>
              <a:t/>
            </a:r>
            <a:endParaRPr b="0" i="0" sz="3000" u="none" cap="none" strike="noStrik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