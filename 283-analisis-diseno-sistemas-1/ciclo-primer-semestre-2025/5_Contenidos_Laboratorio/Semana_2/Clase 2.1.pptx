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10287000" cx="18288000"/>
  <p:notesSz cx="6858000" cy="9144000"/>
  <p:embeddedFontLst>
    <p:embeddedFont>
      <p:font typeface="Play"/>
      <p:regular r:id="rId33"/>
      <p:bold r:id="rId34"/>
    </p:embeddedFont>
    <p:embeddedFont>
      <p:font typeface="Arimo"/>
      <p:regular r:id="rId35"/>
      <p:bold r:id="rId36"/>
      <p:italic r:id="rId37"/>
      <p:boldItalic r:id="rId38"/>
    </p:embeddedFont>
    <p:embeddedFont>
      <p:font typeface="Open Sans"/>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ieuRUJrlorKeDUJ51FMNkaxPXQ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Arimo-regular.fntdata"/><Relationship Id="rId12" Type="http://schemas.openxmlformats.org/officeDocument/2006/relationships/slide" Target="slides/slide7.xml"/><Relationship Id="rId34" Type="http://schemas.openxmlformats.org/officeDocument/2006/relationships/font" Target="fonts/Play-bold.fntdata"/><Relationship Id="rId15" Type="http://schemas.openxmlformats.org/officeDocument/2006/relationships/slide" Target="slides/slide10.xml"/><Relationship Id="rId37" Type="http://schemas.openxmlformats.org/officeDocument/2006/relationships/font" Target="fonts/Arimo-italic.fntdata"/><Relationship Id="rId14" Type="http://schemas.openxmlformats.org/officeDocument/2006/relationships/slide" Target="slides/slide9.xml"/><Relationship Id="rId36" Type="http://schemas.openxmlformats.org/officeDocument/2006/relationships/font" Target="fonts/Arimo-bold.fntdata"/><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Arim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7"/>
          <p:cNvSpPr/>
          <p:nvPr>
            <p:ph idx="2" type="pic"/>
          </p:nvPr>
        </p:nvSpPr>
        <p:spPr>
          <a:xfrm>
            <a:off x="1792288" y="612775"/>
            <a:ext cx="5486400" cy="4114800"/>
          </a:xfrm>
          <a:prstGeom prst="rect">
            <a:avLst/>
          </a:prstGeom>
          <a:noFill/>
          <a:ln>
            <a:noFill/>
          </a:ln>
        </p:spPr>
      </p:sp>
      <p:sp>
        <p:nvSpPr>
          <p:cNvPr id="64" name="Google Shape;64;p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s://youtu.be/atYIzPIeeQk?si=cFY3LInNfZn9ZY_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image" Target="../media/image12.png"/><Relationship Id="rId7"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2.png"/><Relationship Id="rId7"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35.png"/><Relationship Id="rId5" Type="http://schemas.openxmlformats.org/officeDocument/2006/relationships/hyperlink" Target="https://www.atlassian.com/es/git/tutorials/comparing-workflows/gitflow-workflow"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nvie.com/posts/a-successful-git-branching-mode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2.png"/><Relationship Id="rId7"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28700" y="7834026"/>
            <a:ext cx="10253703"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Analisis y Diseño de Sistemas 1</a:t>
            </a:r>
            <a:endParaRPr/>
          </a:p>
        </p:txBody>
      </p:sp>
      <p:sp>
        <p:nvSpPr>
          <p:cNvPr id="86" name="Google Shape;86;p1"/>
          <p:cNvSpPr txBox="1"/>
          <p:nvPr/>
        </p:nvSpPr>
        <p:spPr>
          <a:xfrm>
            <a:off x="2839730" y="3915649"/>
            <a:ext cx="12070259"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Control de Versiones</a:t>
            </a:r>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8" name="Google Shape;88;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89" name="Google Shape;89;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1617809" y="4445150"/>
            <a:ext cx="4613551" cy="845385"/>
            <a:chOff x="0" y="-76200"/>
            <a:chExt cx="1964221" cy="359923"/>
          </a:xfrm>
        </p:grpSpPr>
        <p:sp>
          <p:nvSpPr>
            <p:cNvPr id="95" name="Google Shape;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96" name="Google Shape;9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Foro de la semana</a:t>
              </a:r>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8" name="Google Shape;98;p2"/>
          <p:cNvGrpSpPr/>
          <p:nvPr/>
        </p:nvGrpSpPr>
        <p:grpSpPr>
          <a:xfrm>
            <a:off x="1866989" y="3013983"/>
            <a:ext cx="4115190" cy="155648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2" name="Google Shape;102;p2"/>
          <p:cNvGrpSpPr/>
          <p:nvPr/>
        </p:nvGrpSpPr>
        <p:grpSpPr>
          <a:xfrm>
            <a:off x="651749" y="-320617"/>
            <a:ext cx="7919101" cy="3120467"/>
            <a:chOff x="-7" y="-95250"/>
            <a:chExt cx="10558800" cy="4160623"/>
          </a:xfrm>
        </p:grpSpPr>
        <p:sp>
          <p:nvSpPr>
            <p:cNvPr id="103" name="Google Shape;103;p2"/>
            <p:cNvSpPr txBox="1"/>
            <p:nvPr/>
          </p:nvSpPr>
          <p:spPr>
            <a:xfrm>
              <a:off x="-7" y="986773"/>
              <a:ext cx="105588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4" name="Google Shape;104;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2"/>
          <p:cNvGrpSpPr/>
          <p:nvPr/>
        </p:nvGrpSpPr>
        <p:grpSpPr>
          <a:xfrm>
            <a:off x="10170315" y="97566"/>
            <a:ext cx="9378262" cy="2901857"/>
            <a:chOff x="-1281867" y="-76200"/>
            <a:chExt cx="12504350" cy="3869143"/>
          </a:xfrm>
        </p:grpSpPr>
        <p:sp>
          <p:nvSpPr>
            <p:cNvPr id="106" name="Google Shape;106;p2"/>
            <p:cNvSpPr txBox="1"/>
            <p:nvPr/>
          </p:nvSpPr>
          <p:spPr>
            <a:xfrm>
              <a:off x="0" y="805268"/>
              <a:ext cx="11222483"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Recursos</a:t>
              </a:r>
              <a:endParaRPr/>
            </a:p>
          </p:txBody>
        </p:sp>
        <p:sp>
          <p:nvSpPr>
            <p:cNvPr id="107" name="Google Shape;107;p2"/>
            <p:cNvSpPr txBox="1"/>
            <p:nvPr/>
          </p:nvSpPr>
          <p:spPr>
            <a:xfrm>
              <a:off x="-1281867" y="-76200"/>
              <a:ext cx="11222400" cy="369300"/>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2"/>
          <p:cNvGrpSpPr/>
          <p:nvPr/>
        </p:nvGrpSpPr>
        <p:grpSpPr>
          <a:xfrm>
            <a:off x="11492670" y="3256186"/>
            <a:ext cx="5353646" cy="2283736"/>
            <a:chOff x="0" y="-114300"/>
            <a:chExt cx="1410014" cy="601478"/>
          </a:xfrm>
        </p:grpSpPr>
        <p:sp>
          <p:nvSpPr>
            <p:cNvPr id="109" name="Google Shape;109;p2"/>
            <p:cNvSpPr/>
            <p:nvPr/>
          </p:nvSpPr>
          <p:spPr>
            <a:xfrm>
              <a:off x="0" y="0"/>
              <a:ext cx="1410014" cy="487178"/>
            </a:xfrm>
            <a:custGeom>
              <a:rect b="b" l="l" r="r" t="t"/>
              <a:pathLst>
                <a:path extrusionOk="0" h="487178" w="1410014">
                  <a:moveTo>
                    <a:pt x="1206814" y="0"/>
                  </a:moveTo>
                  <a:lnTo>
                    <a:pt x="0" y="0"/>
                  </a:lnTo>
                  <a:lnTo>
                    <a:pt x="0" y="487178"/>
                  </a:lnTo>
                  <a:lnTo>
                    <a:pt x="1206814" y="487178"/>
                  </a:lnTo>
                  <a:lnTo>
                    <a:pt x="1410014" y="243589"/>
                  </a:lnTo>
                  <a:lnTo>
                    <a:pt x="1206814" y="0"/>
                  </a:lnTo>
                  <a:close/>
                </a:path>
              </a:pathLst>
            </a:custGeom>
            <a:solidFill>
              <a:srgbClr val="FFFFFF"/>
            </a:solidFill>
            <a:ln>
              <a:noFill/>
            </a:ln>
          </p:spPr>
        </p:sp>
        <p:sp>
          <p:nvSpPr>
            <p:cNvPr id="110" name="Google Shape;110;p2"/>
            <p:cNvSpPr txBox="1"/>
            <p:nvPr/>
          </p:nvSpPr>
          <p:spPr>
            <a:xfrm>
              <a:off x="0" y="-114300"/>
              <a:ext cx="1295714" cy="60147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None/>
              </a:pPr>
              <a:r>
                <a:rPr b="0" i="0" lang="en-US" sz="4499" u="sng" cap="none" strike="noStrike">
                  <a:solidFill>
                    <a:srgbClr val="000000"/>
                  </a:solidFill>
                  <a:latin typeface="Arial"/>
                  <a:ea typeface="Arial"/>
                  <a:cs typeface="Arial"/>
                  <a:sym typeface="Arial"/>
                  <a:hlinkClick r:id="rId5">
                    <a:extLst>
                      <a:ext uri="{A12FA001-AC4F-418D-AE19-62706E023703}">
                        <ahyp:hlinkClr val="tx"/>
                      </a:ext>
                    </a:extLst>
                  </a:hlinkClick>
                </a:rPr>
                <a:t>Flujo de trabajo  GitFlow</a:t>
              </a:r>
              <a:endParaRPr/>
            </a:p>
          </p:txBody>
        </p:sp>
      </p:grpSp>
      <p:grpSp>
        <p:nvGrpSpPr>
          <p:cNvPr id="111" name="Google Shape;111;p2"/>
          <p:cNvGrpSpPr/>
          <p:nvPr/>
        </p:nvGrpSpPr>
        <p:grpSpPr>
          <a:xfrm>
            <a:off x="1617809" y="5487269"/>
            <a:ext cx="4613551" cy="845385"/>
            <a:chOff x="0" y="-76200"/>
            <a:chExt cx="1964221" cy="359923"/>
          </a:xfrm>
        </p:grpSpPr>
        <p:sp>
          <p:nvSpPr>
            <p:cNvPr id="112" name="Google Shape;11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3" name="Google Shape;113;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Practica 1</a:t>
              </a:r>
              <a:endParaRPr/>
            </a:p>
          </p:txBody>
        </p:sp>
      </p:grpSp>
      <p:grpSp>
        <p:nvGrpSpPr>
          <p:cNvPr id="114" name="Google Shape;114;p2"/>
          <p:cNvGrpSpPr/>
          <p:nvPr/>
        </p:nvGrpSpPr>
        <p:grpSpPr>
          <a:xfrm>
            <a:off x="1617809" y="6425875"/>
            <a:ext cx="4613551" cy="845385"/>
            <a:chOff x="0" y="-76200"/>
            <a:chExt cx="1964221" cy="359923"/>
          </a:xfrm>
        </p:grpSpPr>
        <p:sp>
          <p:nvSpPr>
            <p:cNvPr id="115" name="Google Shape;11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6" name="Google Shape;11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Tarea 1</a:t>
              </a:r>
              <a:endParaRPr/>
            </a:p>
          </p:txBody>
        </p:sp>
      </p:grpSp>
      <p:sp>
        <p:nvSpPr>
          <p:cNvPr id="117" name="Google Shape;117;p2"/>
          <p:cNvSpPr/>
          <p:nvPr/>
        </p:nvSpPr>
        <p:spPr>
          <a:xfrm>
            <a:off x="207510" y="8591893"/>
            <a:ext cx="4613551" cy="666407"/>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8" name="Google Shape;118;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9" name="Google Shape;119;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5" name="Google Shape;125;p3"/>
          <p:cNvSpPr txBox="1"/>
          <p:nvPr/>
        </p:nvSpPr>
        <p:spPr>
          <a:xfrm>
            <a:off x="1028700" y="2606006"/>
            <a:ext cx="15366063" cy="5506720"/>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0" i="0" lang="en-US" sz="5199" u="none" cap="none" strike="noStrike">
                <a:solidFill>
                  <a:srgbClr val="131416"/>
                </a:solidFill>
                <a:latin typeface="Open Sans"/>
                <a:ea typeface="Open Sans"/>
                <a:cs typeface="Open Sans"/>
                <a:sym typeface="Open Sans"/>
              </a:rPr>
              <a:t>Coordina el desarrollo de soluciones grupales empleando metodologias agiles y plataformas colaborativas para organizar y ejecutar reuniones que favorezcan la toma de decisiones y el cumplimiento de objetivos en entornos de trabajo en equipo.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129" name="Shape 129"/>
        <p:cNvGrpSpPr/>
        <p:nvPr/>
      </p:nvGrpSpPr>
      <p:grpSpPr>
        <a:xfrm>
          <a:off x="0" y="0"/>
          <a:ext cx="0" cy="0"/>
          <a:chOff x="0" y="0"/>
          <a:chExt cx="0" cy="0"/>
        </a:xfrm>
      </p:grpSpPr>
      <p:sp>
        <p:nvSpPr>
          <p:cNvPr id="130" name="Google Shape;130;p4"/>
          <p:cNvSpPr/>
          <p:nvPr/>
        </p:nvSpPr>
        <p:spPr>
          <a:xfrm rot="-5400000">
            <a:off x="-460948" y="-115302"/>
            <a:ext cx="5521140" cy="5094488"/>
          </a:xfrm>
          <a:custGeom>
            <a:rect b="b" l="l" r="r" t="t"/>
            <a:pathLst>
              <a:path extrusionOk="0" h="1913890" w="2074174">
                <a:moveTo>
                  <a:pt x="0" y="0"/>
                </a:moveTo>
                <a:lnTo>
                  <a:pt x="2074174" y="0"/>
                </a:lnTo>
                <a:lnTo>
                  <a:pt x="2074174" y="1913890"/>
                </a:lnTo>
                <a:lnTo>
                  <a:pt x="0" y="1913890"/>
                </a:lnTo>
                <a:close/>
              </a:path>
            </a:pathLst>
          </a:custGeom>
          <a:solidFill>
            <a:srgbClr val="10223D"/>
          </a:solidFill>
          <a:ln>
            <a:noFill/>
          </a:ln>
        </p:spPr>
      </p:sp>
      <p:sp>
        <p:nvSpPr>
          <p:cNvPr id="131" name="Google Shape;131;p4"/>
          <p:cNvSpPr/>
          <p:nvPr/>
        </p:nvSpPr>
        <p:spPr>
          <a:xfrm rot="5400000">
            <a:off x="-247622" y="49012"/>
            <a:ext cx="5094488" cy="5094488"/>
          </a:xfrm>
          <a:custGeom>
            <a:rect b="b" l="l" r="r" t="t"/>
            <a:pathLst>
              <a:path extrusionOk="0" h="5094488" w="5094488">
                <a:moveTo>
                  <a:pt x="0" y="0"/>
                </a:moveTo>
                <a:lnTo>
                  <a:pt x="5094488" y="0"/>
                </a:lnTo>
                <a:lnTo>
                  <a:pt x="5094488" y="5094488"/>
                </a:lnTo>
                <a:lnTo>
                  <a:pt x="0" y="5094488"/>
                </a:lnTo>
                <a:lnTo>
                  <a:pt x="0" y="0"/>
                </a:lnTo>
                <a:close/>
              </a:path>
            </a:pathLst>
          </a:custGeom>
          <a:blipFill rotWithShape="1">
            <a:blip r:embed="rId3">
              <a:alphaModFix/>
            </a:blip>
            <a:stretch>
              <a:fillRect b="0" l="0" r="0" t="0"/>
            </a:stretch>
          </a:blipFill>
          <a:ln>
            <a:noFill/>
          </a:ln>
        </p:spPr>
      </p:sp>
      <p:sp>
        <p:nvSpPr>
          <p:cNvPr id="132" name="Google Shape;132;p4"/>
          <p:cNvSpPr/>
          <p:nvPr/>
        </p:nvSpPr>
        <p:spPr>
          <a:xfrm rot="10800000">
            <a:off x="-247622" y="5143500"/>
            <a:ext cx="5094488" cy="5094488"/>
          </a:xfrm>
          <a:custGeom>
            <a:rect b="b" l="l" r="r" t="t"/>
            <a:pathLst>
              <a:path extrusionOk="0" h="5094488" w="5094488">
                <a:moveTo>
                  <a:pt x="0" y="0"/>
                </a:moveTo>
                <a:lnTo>
                  <a:pt x="5094488" y="0"/>
                </a:lnTo>
                <a:lnTo>
                  <a:pt x="5094488" y="5094488"/>
                </a:lnTo>
                <a:lnTo>
                  <a:pt x="0" y="5094488"/>
                </a:lnTo>
                <a:lnTo>
                  <a:pt x="0" y="0"/>
                </a:lnTo>
                <a:close/>
              </a:path>
            </a:pathLst>
          </a:custGeom>
          <a:blipFill rotWithShape="1">
            <a:blip r:embed="rId4">
              <a:alphaModFix/>
            </a:blip>
            <a:stretch>
              <a:fillRect b="0" l="0" r="0" t="0"/>
            </a:stretch>
          </a:blipFill>
          <a:ln>
            <a:noFill/>
          </a:ln>
        </p:spPr>
      </p:sp>
      <p:grpSp>
        <p:nvGrpSpPr>
          <p:cNvPr id="133" name="Google Shape;133;p4"/>
          <p:cNvGrpSpPr/>
          <p:nvPr/>
        </p:nvGrpSpPr>
        <p:grpSpPr>
          <a:xfrm>
            <a:off x="9460220" y="6835232"/>
            <a:ext cx="7799080" cy="2370032"/>
            <a:chOff x="0" y="-28575"/>
            <a:chExt cx="10398773" cy="3160042"/>
          </a:xfrm>
        </p:grpSpPr>
        <p:sp>
          <p:nvSpPr>
            <p:cNvPr id="134" name="Google Shape;134;p4"/>
            <p:cNvSpPr/>
            <p:nvPr/>
          </p:nvSpPr>
          <p:spPr>
            <a:xfrm>
              <a:off x="0" y="3111419"/>
              <a:ext cx="10398773" cy="20048"/>
            </a:xfrm>
            <a:custGeom>
              <a:rect b="b" l="l" r="r" t="t"/>
              <a:pathLst>
                <a:path extrusionOk="0" h="69850" w="36230443">
                  <a:moveTo>
                    <a:pt x="35939611" y="0"/>
                  </a:moveTo>
                  <a:lnTo>
                    <a:pt x="0" y="0"/>
                  </a:lnTo>
                  <a:lnTo>
                    <a:pt x="0" y="69850"/>
                  </a:lnTo>
                  <a:lnTo>
                    <a:pt x="36230443" y="69850"/>
                  </a:lnTo>
                  <a:lnTo>
                    <a:pt x="36230443" y="0"/>
                  </a:lnTo>
                  <a:close/>
                </a:path>
              </a:pathLst>
            </a:custGeom>
            <a:solidFill>
              <a:srgbClr val="E69451"/>
            </a:solidFill>
            <a:ln>
              <a:noFill/>
            </a:ln>
          </p:spPr>
        </p:sp>
        <p:sp>
          <p:nvSpPr>
            <p:cNvPr id="135" name="Google Shape;135;p4"/>
            <p:cNvSpPr txBox="1"/>
            <p:nvPr/>
          </p:nvSpPr>
          <p:spPr>
            <a:xfrm>
              <a:off x="0" y="-28575"/>
              <a:ext cx="10398773" cy="216045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0540" u="none" cap="none" strike="noStrike">
                  <a:solidFill>
                    <a:srgbClr val="10223D"/>
                  </a:solidFill>
                  <a:latin typeface="Arial"/>
                  <a:ea typeface="Arial"/>
                  <a:cs typeface="Arial"/>
                  <a:sym typeface="Arial"/>
                </a:rPr>
                <a:t>GIT FLOW</a:t>
              </a:r>
              <a:endParaRPr/>
            </a:p>
          </p:txBody>
        </p:sp>
      </p:grpSp>
      <p:sp>
        <p:nvSpPr>
          <p:cNvPr id="136" name="Google Shape;136;p4"/>
          <p:cNvSpPr/>
          <p:nvPr/>
        </p:nvSpPr>
        <p:spPr>
          <a:xfrm>
            <a:off x="10150947" y="260242"/>
            <a:ext cx="10545588" cy="4343400"/>
          </a:xfrm>
          <a:custGeom>
            <a:rect b="b" l="l" r="r" t="t"/>
            <a:pathLst>
              <a:path extrusionOk="0" h="4343400" w="10545588">
                <a:moveTo>
                  <a:pt x="0" y="0"/>
                </a:moveTo>
                <a:lnTo>
                  <a:pt x="10545588" y="0"/>
                </a:lnTo>
                <a:lnTo>
                  <a:pt x="10545588" y="4343400"/>
                </a:lnTo>
                <a:lnTo>
                  <a:pt x="0" y="4343400"/>
                </a:lnTo>
                <a:lnTo>
                  <a:pt x="0" y="0"/>
                </a:lnTo>
                <a:close/>
              </a:path>
            </a:pathLst>
          </a:custGeom>
          <a:blipFill rotWithShape="1">
            <a:blip r:embed="rId5">
              <a:alphaModFix amt="31999"/>
            </a:blip>
            <a:stretch>
              <a:fillRect b="0" l="0" r="0" t="0"/>
            </a:stretch>
          </a:blipFill>
          <a:ln>
            <a:noFill/>
          </a:ln>
        </p:spPr>
      </p:sp>
      <p:sp>
        <p:nvSpPr>
          <p:cNvPr id="137" name="Google Shape;137;p4"/>
          <p:cNvSpPr txBox="1"/>
          <p:nvPr/>
        </p:nvSpPr>
        <p:spPr>
          <a:xfrm>
            <a:off x="722738" y="4363837"/>
            <a:ext cx="345281" cy="16287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0540" u="none" cap="none" strike="noStrike">
                <a:solidFill>
                  <a:srgbClr val="10223D"/>
                </a:solidFill>
                <a:latin typeface="Arial"/>
                <a:ea typeface="Arial"/>
                <a:cs typeface="Arial"/>
                <a:sym typeface="Arial"/>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451"/>
        </a:solidFill>
      </p:bgPr>
    </p:bg>
    <p:spTree>
      <p:nvGrpSpPr>
        <p:cNvPr id="141" name="Shape 141"/>
        <p:cNvGrpSpPr/>
        <p:nvPr/>
      </p:nvGrpSpPr>
      <p:grpSpPr>
        <a:xfrm>
          <a:off x="0" y="0"/>
          <a:ext cx="0" cy="0"/>
          <a:chOff x="0" y="0"/>
          <a:chExt cx="0" cy="0"/>
        </a:xfrm>
      </p:grpSpPr>
      <p:sp>
        <p:nvSpPr>
          <p:cNvPr id="142" name="Google Shape;142;p5"/>
          <p:cNvSpPr/>
          <p:nvPr/>
        </p:nvSpPr>
        <p:spPr>
          <a:xfrm>
            <a:off x="16972506" y="2571750"/>
            <a:ext cx="2571750" cy="2571750"/>
          </a:xfrm>
          <a:custGeom>
            <a:rect b="b" l="l" r="r" t="t"/>
            <a:pathLst>
              <a:path extrusionOk="0" h="1913890" w="1913890">
                <a:moveTo>
                  <a:pt x="0" y="0"/>
                </a:moveTo>
                <a:lnTo>
                  <a:pt x="1913890" y="0"/>
                </a:lnTo>
                <a:lnTo>
                  <a:pt x="1913890" y="1913890"/>
                </a:lnTo>
                <a:lnTo>
                  <a:pt x="0" y="1913890"/>
                </a:lnTo>
                <a:close/>
              </a:path>
            </a:pathLst>
          </a:custGeom>
          <a:solidFill>
            <a:srgbClr val="E69451"/>
          </a:solidFill>
          <a:ln>
            <a:noFill/>
          </a:ln>
        </p:spPr>
      </p:sp>
      <p:sp>
        <p:nvSpPr>
          <p:cNvPr id="143" name="Google Shape;143;p5"/>
          <p:cNvSpPr/>
          <p:nvPr/>
        </p:nvSpPr>
        <p:spPr>
          <a:xfrm rot="10800000">
            <a:off x="17130486" y="-952272"/>
            <a:ext cx="2571750" cy="2571750"/>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3">
              <a:alphaModFix/>
            </a:blip>
            <a:stretch>
              <a:fillRect b="0" l="0" r="0" t="0"/>
            </a:stretch>
          </a:blipFill>
          <a:ln>
            <a:noFill/>
          </a:ln>
        </p:spPr>
      </p:sp>
      <p:sp>
        <p:nvSpPr>
          <p:cNvPr id="144" name="Google Shape;144;p5"/>
          <p:cNvSpPr/>
          <p:nvPr/>
        </p:nvSpPr>
        <p:spPr>
          <a:xfrm rot="10800000">
            <a:off x="16972506" y="7715250"/>
            <a:ext cx="2571750" cy="2571750"/>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145" name="Google Shape;145;p5"/>
          <p:cNvSpPr/>
          <p:nvPr/>
        </p:nvSpPr>
        <p:spPr>
          <a:xfrm>
            <a:off x="14400756" y="5143500"/>
            <a:ext cx="2571750" cy="2571750"/>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146" name="Google Shape;146;p5"/>
          <p:cNvSpPr/>
          <p:nvPr/>
        </p:nvSpPr>
        <p:spPr>
          <a:xfrm rot="5400000">
            <a:off x="13272856" y="-428625"/>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5">
              <a:alphaModFix/>
            </a:blip>
            <a:stretch>
              <a:fillRect b="0" l="0" r="0" t="0"/>
            </a:stretch>
          </a:blipFill>
          <a:ln>
            <a:noFill/>
          </a:ln>
        </p:spPr>
      </p:sp>
      <p:grpSp>
        <p:nvGrpSpPr>
          <p:cNvPr id="147" name="Google Shape;147;p5"/>
          <p:cNvGrpSpPr/>
          <p:nvPr/>
        </p:nvGrpSpPr>
        <p:grpSpPr>
          <a:xfrm>
            <a:off x="290750" y="1726250"/>
            <a:ext cx="17339850" cy="8542564"/>
            <a:chOff x="-184267" y="-85998"/>
            <a:chExt cx="23119800" cy="9571500"/>
          </a:xfrm>
        </p:grpSpPr>
        <p:sp>
          <p:nvSpPr>
            <p:cNvPr id="148" name="Google Shape;148;p5"/>
            <p:cNvSpPr txBox="1"/>
            <p:nvPr/>
          </p:nvSpPr>
          <p:spPr>
            <a:xfrm>
              <a:off x="-184267" y="-85998"/>
              <a:ext cx="23119800" cy="9571500"/>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1" i="0" lang="en-US" sz="4703" u="none" cap="none" strike="noStrike">
                  <a:solidFill>
                    <a:srgbClr val="102B30"/>
                  </a:solidFill>
                  <a:latin typeface="Arial"/>
                  <a:ea typeface="Arial"/>
                  <a:cs typeface="Arial"/>
                  <a:sym typeface="Arial"/>
                </a:rPr>
                <a:t>Es un modelo de flujo de trabajo para gestionar el desarrollo de software utilizando el sistema de control de versiones Git. </a:t>
              </a:r>
              <a:endParaRPr/>
            </a:p>
            <a:p>
              <a:pPr indent="0" lvl="0" marL="0" marR="0" rtl="0" algn="just">
                <a:lnSpc>
                  <a:spcPct val="120008"/>
                </a:lnSpc>
                <a:spcBef>
                  <a:spcPts val="0"/>
                </a:spcBef>
                <a:spcAft>
                  <a:spcPts val="0"/>
                </a:spcAft>
                <a:buNone/>
              </a:pPr>
              <a:r>
                <a:t/>
              </a:r>
              <a:endParaRPr b="1" i="0" sz="4703" u="none" cap="none" strike="noStrike">
                <a:solidFill>
                  <a:srgbClr val="102B30"/>
                </a:solidFill>
                <a:latin typeface="Arial"/>
                <a:ea typeface="Arial"/>
                <a:cs typeface="Arial"/>
                <a:sym typeface="Arial"/>
              </a:endParaRPr>
            </a:p>
            <a:p>
              <a:pPr indent="0" lvl="0" marL="0" marR="0" rtl="0" algn="just">
                <a:lnSpc>
                  <a:spcPct val="120008"/>
                </a:lnSpc>
                <a:spcBef>
                  <a:spcPts val="0"/>
                </a:spcBef>
                <a:spcAft>
                  <a:spcPts val="0"/>
                </a:spcAft>
                <a:buNone/>
              </a:pPr>
              <a:r>
                <a:rPr b="1" i="0" lang="en-US" sz="4703" u="none" cap="none" strike="noStrike">
                  <a:solidFill>
                    <a:srgbClr val="102B30"/>
                  </a:solidFill>
                  <a:latin typeface="Arial"/>
                  <a:ea typeface="Arial"/>
                  <a:cs typeface="Arial"/>
                  <a:sym typeface="Arial"/>
                </a:rPr>
                <a:t>Se basa en la idea de tener ramas específicas para diferentes tipos de desarrollo, como características, versiones de lanzamiento y correcciones de errores, lo que facilita la colaboración y el seguimiento del progreso del </a:t>
              </a:r>
              <a:r>
                <a:rPr b="1" lang="en-US" sz="4703">
                  <a:solidFill>
                    <a:srgbClr val="102B30"/>
                  </a:solidFill>
                </a:rPr>
                <a:t>proyecto de sistemas</a:t>
              </a:r>
              <a:r>
                <a:rPr b="1" i="0" lang="en-US" sz="4703" u="none" cap="none" strike="noStrike">
                  <a:solidFill>
                    <a:srgbClr val="102B30"/>
                  </a:solidFill>
                  <a:latin typeface="Arial"/>
                  <a:ea typeface="Arial"/>
                  <a:cs typeface="Arial"/>
                  <a:sym typeface="Arial"/>
                </a:rPr>
                <a:t> de control de versiones basados en Git</a:t>
              </a:r>
              <a:endParaRPr/>
            </a:p>
          </p:txBody>
        </p:sp>
        <p:sp>
          <p:nvSpPr>
            <p:cNvPr id="149" name="Google Shape;149;p5"/>
            <p:cNvSpPr txBox="1"/>
            <p:nvPr/>
          </p:nvSpPr>
          <p:spPr>
            <a:xfrm>
              <a:off x="0" y="8307388"/>
              <a:ext cx="18337200" cy="310500"/>
            </a:xfrm>
            <a:prstGeom prst="rect">
              <a:avLst/>
            </a:prstGeom>
            <a:noFill/>
            <a:ln>
              <a:noFill/>
            </a:ln>
          </p:spPr>
          <p:txBody>
            <a:bodyPr anchorCtr="0" anchor="t" bIns="0" lIns="0" spcFirstLastPara="1" rIns="0" wrap="square" tIns="0">
              <a:spAutoFit/>
            </a:bodyPr>
            <a:lstStyle/>
            <a:p>
              <a:pPr indent="0" lvl="0" marL="0" marR="0" rtl="0" algn="l">
                <a:lnSpc>
                  <a:spcPct val="181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0" name="Google Shape;150;p5"/>
          <p:cNvSpPr txBox="1"/>
          <p:nvPr/>
        </p:nvSpPr>
        <p:spPr>
          <a:xfrm>
            <a:off x="1028700" y="140653"/>
            <a:ext cx="9449912" cy="158559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200" u="none" cap="none" strike="noStrike">
                <a:solidFill>
                  <a:srgbClr val="000000"/>
                </a:solidFill>
                <a:latin typeface="Arial"/>
                <a:ea typeface="Arial"/>
                <a:cs typeface="Arial"/>
                <a:sym typeface="Arial"/>
              </a:rPr>
              <a:t>Qué es Git Flow?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451"/>
        </a:solidFill>
      </p:bgPr>
    </p:bg>
    <p:spTree>
      <p:nvGrpSpPr>
        <p:cNvPr id="154" name="Shape 154"/>
        <p:cNvGrpSpPr/>
        <p:nvPr/>
      </p:nvGrpSpPr>
      <p:grpSpPr>
        <a:xfrm>
          <a:off x="0" y="0"/>
          <a:ext cx="0" cy="0"/>
          <a:chOff x="0" y="0"/>
          <a:chExt cx="0" cy="0"/>
        </a:xfrm>
      </p:grpSpPr>
      <p:sp>
        <p:nvSpPr>
          <p:cNvPr id="155" name="Google Shape;155;p6"/>
          <p:cNvSpPr/>
          <p:nvPr/>
        </p:nvSpPr>
        <p:spPr>
          <a:xfrm>
            <a:off x="0" y="1395094"/>
            <a:ext cx="18288000" cy="6903720"/>
          </a:xfrm>
          <a:custGeom>
            <a:rect b="b" l="l" r="r" t="t"/>
            <a:pathLst>
              <a:path extrusionOk="0" h="6903720" w="18288000">
                <a:moveTo>
                  <a:pt x="0" y="0"/>
                </a:moveTo>
                <a:lnTo>
                  <a:pt x="18288000" y="0"/>
                </a:lnTo>
                <a:lnTo>
                  <a:pt x="18288000" y="6903720"/>
                </a:lnTo>
                <a:lnTo>
                  <a:pt x="0" y="6903720"/>
                </a:lnTo>
                <a:lnTo>
                  <a:pt x="0" y="0"/>
                </a:lnTo>
                <a:close/>
              </a:path>
            </a:pathLst>
          </a:custGeom>
          <a:blipFill rotWithShape="1">
            <a:blip r:embed="rId3">
              <a:alphaModFix/>
            </a:blip>
            <a:stretch>
              <a:fillRect b="0" l="0" r="0" t="0"/>
            </a:stretch>
          </a:blipFill>
          <a:ln>
            <a:noFill/>
          </a:ln>
        </p:spPr>
      </p:sp>
      <p:sp>
        <p:nvSpPr>
          <p:cNvPr id="156" name="Google Shape;156;p6"/>
          <p:cNvSpPr txBox="1"/>
          <p:nvPr/>
        </p:nvSpPr>
        <p:spPr>
          <a:xfrm>
            <a:off x="0" y="-190500"/>
            <a:ext cx="4824412" cy="158559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200" u="none" cap="none" strike="noStrike">
                <a:solidFill>
                  <a:srgbClr val="000000"/>
                </a:solidFill>
                <a:latin typeface="Arial"/>
                <a:ea typeface="Arial"/>
                <a:cs typeface="Arial"/>
                <a:sym typeface="Arial"/>
              </a:rPr>
              <a:t>Ventajas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451"/>
        </a:solidFill>
      </p:bgPr>
    </p:bg>
    <p:spTree>
      <p:nvGrpSpPr>
        <p:cNvPr id="160" name="Shape 160"/>
        <p:cNvGrpSpPr/>
        <p:nvPr/>
      </p:nvGrpSpPr>
      <p:grpSpPr>
        <a:xfrm>
          <a:off x="0" y="0"/>
          <a:ext cx="0" cy="0"/>
          <a:chOff x="0" y="0"/>
          <a:chExt cx="0" cy="0"/>
        </a:xfrm>
      </p:grpSpPr>
      <p:sp>
        <p:nvSpPr>
          <p:cNvPr id="161" name="Google Shape;161;p7"/>
          <p:cNvSpPr/>
          <p:nvPr/>
        </p:nvSpPr>
        <p:spPr>
          <a:xfrm>
            <a:off x="396663" y="1395094"/>
            <a:ext cx="17582792" cy="5846278"/>
          </a:xfrm>
          <a:custGeom>
            <a:rect b="b" l="l" r="r" t="t"/>
            <a:pathLst>
              <a:path extrusionOk="0" h="5846278" w="17582792">
                <a:moveTo>
                  <a:pt x="0" y="0"/>
                </a:moveTo>
                <a:lnTo>
                  <a:pt x="17582792" y="0"/>
                </a:lnTo>
                <a:lnTo>
                  <a:pt x="17582792" y="5846279"/>
                </a:lnTo>
                <a:lnTo>
                  <a:pt x="0" y="5846279"/>
                </a:lnTo>
                <a:lnTo>
                  <a:pt x="0" y="0"/>
                </a:lnTo>
                <a:close/>
              </a:path>
            </a:pathLst>
          </a:custGeom>
          <a:blipFill rotWithShape="1">
            <a:blip r:embed="rId3">
              <a:alphaModFix/>
            </a:blip>
            <a:stretch>
              <a:fillRect b="0" l="0" r="0" t="0"/>
            </a:stretch>
          </a:blipFill>
          <a:ln>
            <a:noFill/>
          </a:ln>
        </p:spPr>
      </p:sp>
      <p:sp>
        <p:nvSpPr>
          <p:cNvPr id="162" name="Google Shape;162;p7"/>
          <p:cNvSpPr txBox="1"/>
          <p:nvPr/>
        </p:nvSpPr>
        <p:spPr>
          <a:xfrm>
            <a:off x="0" y="-190500"/>
            <a:ext cx="7206495" cy="158559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200" u="none" cap="none" strike="noStrike">
                <a:solidFill>
                  <a:srgbClr val="000000"/>
                </a:solidFill>
                <a:latin typeface="Arial"/>
                <a:ea typeface="Arial"/>
                <a:cs typeface="Arial"/>
                <a:sym typeface="Arial"/>
              </a:rPr>
              <a:t>Desventajas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23D"/>
        </a:solidFill>
      </p:bgPr>
    </p:bg>
    <p:spTree>
      <p:nvGrpSpPr>
        <p:cNvPr id="166" name="Shape 166"/>
        <p:cNvGrpSpPr/>
        <p:nvPr/>
      </p:nvGrpSpPr>
      <p:grpSpPr>
        <a:xfrm>
          <a:off x="0" y="0"/>
          <a:ext cx="0" cy="0"/>
          <a:chOff x="0" y="0"/>
          <a:chExt cx="0" cy="0"/>
        </a:xfrm>
      </p:grpSpPr>
      <p:sp>
        <p:nvSpPr>
          <p:cNvPr id="167" name="Google Shape;167;p8"/>
          <p:cNvSpPr/>
          <p:nvPr/>
        </p:nvSpPr>
        <p:spPr>
          <a:xfrm>
            <a:off x="419132" y="2979437"/>
            <a:ext cx="859832" cy="1206782"/>
          </a:xfrm>
          <a:custGeom>
            <a:rect b="b" l="l" r="r" t="t"/>
            <a:pathLst>
              <a:path extrusionOk="0" h="1206782" w="859832">
                <a:moveTo>
                  <a:pt x="0" y="0"/>
                </a:moveTo>
                <a:lnTo>
                  <a:pt x="859832" y="0"/>
                </a:lnTo>
                <a:lnTo>
                  <a:pt x="859832" y="1206782"/>
                </a:lnTo>
                <a:lnTo>
                  <a:pt x="0" y="1206782"/>
                </a:lnTo>
                <a:lnTo>
                  <a:pt x="0" y="0"/>
                </a:lnTo>
                <a:close/>
              </a:path>
            </a:pathLst>
          </a:custGeom>
          <a:blipFill rotWithShape="1">
            <a:blip r:embed="rId3">
              <a:alphaModFix/>
            </a:blip>
            <a:stretch>
              <a:fillRect b="0" l="0" r="0" t="0"/>
            </a:stretch>
          </a:blipFill>
          <a:ln>
            <a:noFill/>
          </a:ln>
        </p:spPr>
      </p:sp>
      <p:sp>
        <p:nvSpPr>
          <p:cNvPr id="168" name="Google Shape;168;p8"/>
          <p:cNvSpPr/>
          <p:nvPr/>
        </p:nvSpPr>
        <p:spPr>
          <a:xfrm>
            <a:off x="419132" y="6465220"/>
            <a:ext cx="859832" cy="1206782"/>
          </a:xfrm>
          <a:custGeom>
            <a:rect b="b" l="l" r="r" t="t"/>
            <a:pathLst>
              <a:path extrusionOk="0" h="1206782" w="859832">
                <a:moveTo>
                  <a:pt x="0" y="0"/>
                </a:moveTo>
                <a:lnTo>
                  <a:pt x="859832" y="0"/>
                </a:lnTo>
                <a:lnTo>
                  <a:pt x="859832" y="1206782"/>
                </a:lnTo>
                <a:lnTo>
                  <a:pt x="0" y="1206782"/>
                </a:lnTo>
                <a:lnTo>
                  <a:pt x="0" y="0"/>
                </a:lnTo>
                <a:close/>
              </a:path>
            </a:pathLst>
          </a:custGeom>
          <a:blipFill rotWithShape="1">
            <a:blip r:embed="rId3">
              <a:alphaModFix/>
            </a:blip>
            <a:stretch>
              <a:fillRect b="0" l="0" r="0" t="0"/>
            </a:stretch>
          </a:blipFill>
          <a:ln>
            <a:noFill/>
          </a:ln>
        </p:spPr>
      </p:sp>
      <p:sp>
        <p:nvSpPr>
          <p:cNvPr id="169" name="Google Shape;169;p8"/>
          <p:cNvSpPr/>
          <p:nvPr/>
        </p:nvSpPr>
        <p:spPr>
          <a:xfrm>
            <a:off x="6298980" y="2465368"/>
            <a:ext cx="513292" cy="2534778"/>
          </a:xfrm>
          <a:custGeom>
            <a:rect b="b" l="l" r="r" t="t"/>
            <a:pathLst>
              <a:path extrusionOk="0" h="2534778" w="513292">
                <a:moveTo>
                  <a:pt x="0" y="0"/>
                </a:moveTo>
                <a:lnTo>
                  <a:pt x="513292" y="0"/>
                </a:lnTo>
                <a:lnTo>
                  <a:pt x="513292" y="2534778"/>
                </a:lnTo>
                <a:lnTo>
                  <a:pt x="0" y="2534778"/>
                </a:lnTo>
                <a:lnTo>
                  <a:pt x="0" y="0"/>
                </a:lnTo>
                <a:close/>
              </a:path>
            </a:pathLst>
          </a:custGeom>
          <a:blipFill rotWithShape="1">
            <a:blip r:embed="rId4">
              <a:alphaModFix/>
            </a:blip>
            <a:stretch>
              <a:fillRect b="0" l="0" r="0" t="0"/>
            </a:stretch>
          </a:blipFill>
          <a:ln>
            <a:noFill/>
          </a:ln>
        </p:spPr>
      </p:sp>
      <p:sp>
        <p:nvSpPr>
          <p:cNvPr id="170" name="Google Shape;170;p8"/>
          <p:cNvSpPr txBox="1"/>
          <p:nvPr/>
        </p:nvSpPr>
        <p:spPr>
          <a:xfrm>
            <a:off x="1629786" y="3347250"/>
            <a:ext cx="3996732" cy="685289"/>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1" i="0" lang="en-US" sz="3972" u="none" cap="none" strike="noStrike">
                <a:solidFill>
                  <a:srgbClr val="F2EDDB"/>
                </a:solidFill>
                <a:latin typeface="Arial"/>
                <a:ea typeface="Arial"/>
                <a:cs typeface="Arial"/>
                <a:sym typeface="Arial"/>
              </a:rPr>
              <a:t>Ramas principales</a:t>
            </a:r>
            <a:endParaRPr/>
          </a:p>
        </p:txBody>
      </p:sp>
      <p:sp>
        <p:nvSpPr>
          <p:cNvPr id="171" name="Google Shape;171;p8"/>
          <p:cNvSpPr txBox="1"/>
          <p:nvPr/>
        </p:nvSpPr>
        <p:spPr>
          <a:xfrm>
            <a:off x="1775269" y="6683105"/>
            <a:ext cx="3683800" cy="685288"/>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1" i="0" lang="en-US" sz="3972" u="none" cap="none" strike="noStrike">
                <a:solidFill>
                  <a:srgbClr val="F2EDDB"/>
                </a:solidFill>
                <a:latin typeface="Arial"/>
                <a:ea typeface="Arial"/>
                <a:cs typeface="Arial"/>
                <a:sym typeface="Arial"/>
              </a:rPr>
              <a:t>Ramas auxiliares</a:t>
            </a:r>
            <a:endParaRPr/>
          </a:p>
        </p:txBody>
      </p:sp>
      <p:sp>
        <p:nvSpPr>
          <p:cNvPr id="172" name="Google Shape;172;p8"/>
          <p:cNvSpPr txBox="1"/>
          <p:nvPr/>
        </p:nvSpPr>
        <p:spPr>
          <a:xfrm>
            <a:off x="7462593" y="5659595"/>
            <a:ext cx="1874508" cy="655903"/>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3803" u="none" cap="none" strike="noStrike">
                <a:solidFill>
                  <a:srgbClr val="F2EDDB"/>
                </a:solidFill>
                <a:latin typeface="Open Sans"/>
                <a:ea typeface="Open Sans"/>
                <a:cs typeface="Open Sans"/>
                <a:sym typeface="Open Sans"/>
              </a:rPr>
              <a:t>Feature</a:t>
            </a:r>
            <a:endParaRPr/>
          </a:p>
        </p:txBody>
      </p:sp>
      <p:sp>
        <p:nvSpPr>
          <p:cNvPr id="173" name="Google Shape;173;p8"/>
          <p:cNvSpPr txBox="1"/>
          <p:nvPr/>
        </p:nvSpPr>
        <p:spPr>
          <a:xfrm>
            <a:off x="7462593" y="6843156"/>
            <a:ext cx="1937175" cy="675763"/>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1" i="0" lang="en-US" sz="3972" u="none" cap="none" strike="noStrike">
                <a:solidFill>
                  <a:srgbClr val="F2EDDB"/>
                </a:solidFill>
                <a:latin typeface="Open Sans"/>
                <a:ea typeface="Open Sans"/>
                <a:cs typeface="Open Sans"/>
                <a:sym typeface="Open Sans"/>
              </a:rPr>
              <a:t>Release</a:t>
            </a:r>
            <a:endParaRPr/>
          </a:p>
        </p:txBody>
      </p:sp>
      <p:sp>
        <p:nvSpPr>
          <p:cNvPr id="174" name="Google Shape;174;p8"/>
          <p:cNvSpPr txBox="1"/>
          <p:nvPr/>
        </p:nvSpPr>
        <p:spPr>
          <a:xfrm>
            <a:off x="7685014" y="8046577"/>
            <a:ext cx="1492334" cy="655903"/>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3803" u="none" cap="none" strike="noStrike">
                <a:solidFill>
                  <a:srgbClr val="F2EDDB"/>
                </a:solidFill>
                <a:latin typeface="Open Sans"/>
                <a:ea typeface="Open Sans"/>
                <a:cs typeface="Open Sans"/>
                <a:sym typeface="Open Sans"/>
              </a:rPr>
              <a:t>Hotfix</a:t>
            </a:r>
            <a:endParaRPr/>
          </a:p>
        </p:txBody>
      </p:sp>
      <p:sp>
        <p:nvSpPr>
          <p:cNvPr id="175" name="Google Shape;175;p8"/>
          <p:cNvSpPr txBox="1"/>
          <p:nvPr/>
        </p:nvSpPr>
        <p:spPr>
          <a:xfrm>
            <a:off x="1353845" y="741372"/>
            <a:ext cx="15220638" cy="1527340"/>
          </a:xfrm>
          <a:prstGeom prst="rect">
            <a:avLst/>
          </a:prstGeom>
          <a:noFill/>
          <a:ln>
            <a:noFill/>
          </a:ln>
        </p:spPr>
        <p:txBody>
          <a:bodyPr anchorCtr="0" anchor="t" bIns="0" lIns="0" spcFirstLastPara="1" rIns="0" wrap="square" tIns="0">
            <a:spAutoFit/>
          </a:bodyPr>
          <a:lstStyle/>
          <a:p>
            <a:pPr indent="0" lvl="0" marL="0" marR="0" rtl="0" algn="ctr">
              <a:lnSpc>
                <a:spcPct val="139986"/>
              </a:lnSpc>
              <a:spcBef>
                <a:spcPts val="0"/>
              </a:spcBef>
              <a:spcAft>
                <a:spcPts val="0"/>
              </a:spcAft>
              <a:buNone/>
            </a:pPr>
            <a:r>
              <a:rPr b="1" i="0" lang="en-US" sz="4369" u="none" cap="none" strike="noStrike">
                <a:solidFill>
                  <a:srgbClr val="F2EDDB"/>
                </a:solidFill>
                <a:latin typeface="Arial"/>
                <a:ea typeface="Arial"/>
                <a:cs typeface="Arial"/>
                <a:sym typeface="Arial"/>
              </a:rPr>
              <a:t>Existen dos distinciones principales en las ramas que define GitFlow:</a:t>
            </a:r>
            <a:endParaRPr/>
          </a:p>
        </p:txBody>
      </p:sp>
      <p:sp>
        <p:nvSpPr>
          <p:cNvPr id="176" name="Google Shape;176;p8"/>
          <p:cNvSpPr txBox="1"/>
          <p:nvPr/>
        </p:nvSpPr>
        <p:spPr>
          <a:xfrm>
            <a:off x="7793641" y="2636606"/>
            <a:ext cx="1212412" cy="655903"/>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3803" u="none" cap="none" strike="noStrike">
                <a:solidFill>
                  <a:srgbClr val="F2EDDB"/>
                </a:solidFill>
                <a:latin typeface="Open Sans"/>
                <a:ea typeface="Open Sans"/>
                <a:cs typeface="Open Sans"/>
                <a:sym typeface="Open Sans"/>
              </a:rPr>
              <a:t>Main</a:t>
            </a:r>
            <a:endParaRPr/>
          </a:p>
        </p:txBody>
      </p:sp>
      <p:sp>
        <p:nvSpPr>
          <p:cNvPr id="177" name="Google Shape;177;p8"/>
          <p:cNvSpPr txBox="1"/>
          <p:nvPr/>
        </p:nvSpPr>
        <p:spPr>
          <a:xfrm>
            <a:off x="7484734" y="3820167"/>
            <a:ext cx="1955559" cy="655903"/>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3803" u="none" cap="none" strike="noStrike">
                <a:solidFill>
                  <a:srgbClr val="F2EDDB"/>
                </a:solidFill>
                <a:latin typeface="Open Sans"/>
                <a:ea typeface="Open Sans"/>
                <a:cs typeface="Open Sans"/>
                <a:sym typeface="Open Sans"/>
              </a:rPr>
              <a:t>Develop</a:t>
            </a:r>
            <a:endParaRPr/>
          </a:p>
        </p:txBody>
      </p:sp>
      <p:sp>
        <p:nvSpPr>
          <p:cNvPr id="178" name="Google Shape;178;p8"/>
          <p:cNvSpPr/>
          <p:nvPr/>
        </p:nvSpPr>
        <p:spPr>
          <a:xfrm>
            <a:off x="6298980" y="5877851"/>
            <a:ext cx="513292" cy="2534778"/>
          </a:xfrm>
          <a:custGeom>
            <a:rect b="b" l="l" r="r" t="t"/>
            <a:pathLst>
              <a:path extrusionOk="0" h="2534778" w="513292">
                <a:moveTo>
                  <a:pt x="0" y="0"/>
                </a:moveTo>
                <a:lnTo>
                  <a:pt x="513292" y="0"/>
                </a:lnTo>
                <a:lnTo>
                  <a:pt x="513292" y="2534778"/>
                </a:lnTo>
                <a:lnTo>
                  <a:pt x="0" y="2534778"/>
                </a:lnTo>
                <a:lnTo>
                  <a:pt x="0" y="0"/>
                </a:lnTo>
                <a:close/>
              </a:path>
            </a:pathLst>
          </a:custGeom>
          <a:blipFill rotWithShape="1">
            <a:blip r:embed="rId4">
              <a:alphaModFix/>
            </a:blip>
            <a:stretch>
              <a:fillRect b="0" l="0" r="0" t="0"/>
            </a:stretch>
          </a:blipFill>
          <a:ln>
            <a:noFill/>
          </a:ln>
        </p:spPr>
      </p:sp>
      <p:sp>
        <p:nvSpPr>
          <p:cNvPr id="179" name="Google Shape;179;p8"/>
          <p:cNvSpPr txBox="1"/>
          <p:nvPr/>
        </p:nvSpPr>
        <p:spPr>
          <a:xfrm>
            <a:off x="9887453" y="2609228"/>
            <a:ext cx="8171431" cy="2189908"/>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2520" u="none" cap="none" strike="noStrike">
                <a:solidFill>
                  <a:srgbClr val="F2EDDB"/>
                </a:solidFill>
                <a:latin typeface="Open Sans"/>
                <a:ea typeface="Open Sans"/>
                <a:cs typeface="Open Sans"/>
                <a:sym typeface="Open Sans"/>
              </a:rPr>
              <a:t>La principal característica de las ramas principales es que solo existe una de cada tipo. El objetivo es que no se instancien y que no reciban código de forma directa a través de commit, siempre tienen que recibir código a través de ramas auxiliares.</a:t>
            </a:r>
            <a:endParaRPr/>
          </a:p>
        </p:txBody>
      </p:sp>
      <p:sp>
        <p:nvSpPr>
          <p:cNvPr id="180" name="Google Shape;180;p8"/>
          <p:cNvSpPr txBox="1"/>
          <p:nvPr/>
        </p:nvSpPr>
        <p:spPr>
          <a:xfrm>
            <a:off x="9895068" y="6684217"/>
            <a:ext cx="8171431" cy="131120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2520" u="none" cap="none" strike="noStrike">
                <a:solidFill>
                  <a:srgbClr val="F2EDDB"/>
                </a:solidFill>
                <a:latin typeface="Open Sans"/>
                <a:ea typeface="Open Sans"/>
                <a:cs typeface="Open Sans"/>
                <a:sym typeface="Open Sans"/>
              </a:rPr>
              <a:t>Por otro lado las ramas auxiliares se puede instanciarse todas las veces que se consideren necesarias, aquí se deben realizar los commits.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184" name="Shape 184"/>
        <p:cNvGrpSpPr/>
        <p:nvPr/>
      </p:nvGrpSpPr>
      <p:grpSpPr>
        <a:xfrm>
          <a:off x="0" y="0"/>
          <a:ext cx="0" cy="0"/>
          <a:chOff x="0" y="0"/>
          <a:chExt cx="0" cy="0"/>
        </a:xfrm>
      </p:grpSpPr>
      <p:sp>
        <p:nvSpPr>
          <p:cNvPr id="185" name="Google Shape;185;p9"/>
          <p:cNvSpPr/>
          <p:nvPr/>
        </p:nvSpPr>
        <p:spPr>
          <a:xfrm>
            <a:off x="14859000" y="160995"/>
            <a:ext cx="3429000" cy="6858000"/>
          </a:xfrm>
          <a:custGeom>
            <a:rect b="b" l="l" r="r" t="t"/>
            <a:pathLst>
              <a:path extrusionOk="0" h="3827780" w="1913890">
                <a:moveTo>
                  <a:pt x="0" y="0"/>
                </a:moveTo>
                <a:lnTo>
                  <a:pt x="1913890" y="0"/>
                </a:lnTo>
                <a:lnTo>
                  <a:pt x="1913890" y="3827780"/>
                </a:lnTo>
                <a:lnTo>
                  <a:pt x="0" y="3827780"/>
                </a:lnTo>
                <a:close/>
              </a:path>
            </a:pathLst>
          </a:custGeom>
          <a:solidFill>
            <a:srgbClr val="E69451"/>
          </a:solidFill>
          <a:ln>
            <a:noFill/>
          </a:ln>
        </p:spPr>
      </p:sp>
      <p:sp>
        <p:nvSpPr>
          <p:cNvPr id="186" name="Google Shape;186;p9"/>
          <p:cNvSpPr/>
          <p:nvPr/>
        </p:nvSpPr>
        <p:spPr>
          <a:xfrm>
            <a:off x="14849771" y="-12226"/>
            <a:ext cx="3429000" cy="3429000"/>
          </a:xfrm>
          <a:custGeom>
            <a:rect b="b" l="l" r="r" t="t"/>
            <a:pathLst>
              <a:path extrusionOk="0" h="1913890" w="1913890">
                <a:moveTo>
                  <a:pt x="0" y="0"/>
                </a:moveTo>
                <a:lnTo>
                  <a:pt x="1913890" y="0"/>
                </a:lnTo>
                <a:lnTo>
                  <a:pt x="1913890" y="1913890"/>
                </a:lnTo>
                <a:lnTo>
                  <a:pt x="0" y="1913890"/>
                </a:lnTo>
                <a:close/>
              </a:path>
            </a:pathLst>
          </a:custGeom>
          <a:solidFill>
            <a:srgbClr val="000000">
              <a:alpha val="0"/>
            </a:srgbClr>
          </a:solidFill>
          <a:ln>
            <a:noFill/>
          </a:ln>
        </p:spPr>
      </p:sp>
      <p:sp>
        <p:nvSpPr>
          <p:cNvPr id="187" name="Google Shape;187;p9"/>
          <p:cNvSpPr/>
          <p:nvPr/>
        </p:nvSpPr>
        <p:spPr>
          <a:xfrm>
            <a:off x="14535085" y="3416774"/>
            <a:ext cx="3422846" cy="3422846"/>
          </a:xfrm>
          <a:custGeom>
            <a:rect b="b" l="l" r="r" t="t"/>
            <a:pathLst>
              <a:path extrusionOk="0" h="1913890" w="1913890">
                <a:moveTo>
                  <a:pt x="0" y="0"/>
                </a:moveTo>
                <a:lnTo>
                  <a:pt x="1913890" y="0"/>
                </a:lnTo>
                <a:lnTo>
                  <a:pt x="1913890" y="1913890"/>
                </a:lnTo>
                <a:lnTo>
                  <a:pt x="0" y="1913890"/>
                </a:lnTo>
                <a:close/>
              </a:path>
            </a:pathLst>
          </a:custGeom>
          <a:solidFill>
            <a:srgbClr val="000000">
              <a:alpha val="0"/>
            </a:srgbClr>
          </a:solidFill>
          <a:ln>
            <a:noFill/>
          </a:ln>
        </p:spPr>
      </p:sp>
      <p:sp>
        <p:nvSpPr>
          <p:cNvPr id="188" name="Google Shape;188;p9"/>
          <p:cNvSpPr/>
          <p:nvPr/>
        </p:nvSpPr>
        <p:spPr>
          <a:xfrm>
            <a:off x="14849771" y="6858000"/>
            <a:ext cx="3429000" cy="3429000"/>
          </a:xfrm>
          <a:custGeom>
            <a:rect b="b" l="l" r="r" t="t"/>
            <a:pathLst>
              <a:path extrusionOk="0" h="1913890" w="1913890">
                <a:moveTo>
                  <a:pt x="0" y="0"/>
                </a:moveTo>
                <a:lnTo>
                  <a:pt x="1913890" y="0"/>
                </a:lnTo>
                <a:lnTo>
                  <a:pt x="1913890" y="1913890"/>
                </a:lnTo>
                <a:lnTo>
                  <a:pt x="0" y="1913890"/>
                </a:lnTo>
                <a:close/>
              </a:path>
            </a:pathLst>
          </a:custGeom>
          <a:solidFill>
            <a:srgbClr val="F8B740"/>
          </a:solidFill>
          <a:ln>
            <a:noFill/>
          </a:ln>
        </p:spPr>
      </p:sp>
      <p:sp>
        <p:nvSpPr>
          <p:cNvPr id="189" name="Google Shape;189;p9"/>
          <p:cNvSpPr/>
          <p:nvPr/>
        </p:nvSpPr>
        <p:spPr>
          <a:xfrm>
            <a:off x="16662183" y="3589995"/>
            <a:ext cx="1194233" cy="119423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8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14849771" y="0"/>
            <a:ext cx="6858000" cy="3429000"/>
          </a:xfrm>
          <a:custGeom>
            <a:rect b="b" l="l" r="r" t="t"/>
            <a:pathLst>
              <a:path extrusionOk="0" h="3429000" w="6858000">
                <a:moveTo>
                  <a:pt x="0" y="0"/>
                </a:moveTo>
                <a:lnTo>
                  <a:pt x="6858000" y="0"/>
                </a:lnTo>
                <a:lnTo>
                  <a:pt x="6858000" y="3429000"/>
                </a:lnTo>
                <a:lnTo>
                  <a:pt x="0" y="3429000"/>
                </a:lnTo>
                <a:lnTo>
                  <a:pt x="0" y="0"/>
                </a:lnTo>
                <a:close/>
              </a:path>
            </a:pathLst>
          </a:custGeom>
          <a:blipFill rotWithShape="1">
            <a:blip r:embed="rId3">
              <a:alphaModFix/>
            </a:blip>
            <a:stretch>
              <a:fillRect b="0" l="0" r="0" t="0"/>
            </a:stretch>
          </a:blipFill>
          <a:ln>
            <a:noFill/>
          </a:ln>
        </p:spPr>
      </p:sp>
      <p:sp>
        <p:nvSpPr>
          <p:cNvPr id="191" name="Google Shape;191;p9"/>
          <p:cNvSpPr txBox="1"/>
          <p:nvPr/>
        </p:nvSpPr>
        <p:spPr>
          <a:xfrm>
            <a:off x="3862574" y="-10450"/>
            <a:ext cx="96627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D6533C"/>
                </a:solidFill>
                <a:latin typeface="Open Sans"/>
                <a:ea typeface="Open Sans"/>
                <a:cs typeface="Open Sans"/>
                <a:sym typeface="Open Sans"/>
              </a:rPr>
              <a:t>MAIN BRANCH</a:t>
            </a:r>
            <a:endParaRPr/>
          </a:p>
        </p:txBody>
      </p:sp>
      <p:sp>
        <p:nvSpPr>
          <p:cNvPr id="192" name="Google Shape;192;p9"/>
          <p:cNvSpPr/>
          <p:nvPr/>
        </p:nvSpPr>
        <p:spPr>
          <a:xfrm>
            <a:off x="14849771" y="6839620"/>
            <a:ext cx="6639509" cy="663950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65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txBox="1"/>
          <p:nvPr/>
        </p:nvSpPr>
        <p:spPr>
          <a:xfrm>
            <a:off x="167150" y="2072375"/>
            <a:ext cx="14367900" cy="7373100"/>
          </a:xfrm>
          <a:prstGeom prst="rect">
            <a:avLst/>
          </a:prstGeom>
          <a:noFill/>
          <a:ln>
            <a:noFill/>
          </a:ln>
        </p:spPr>
        <p:txBody>
          <a:bodyPr anchorCtr="0" anchor="t" bIns="0" lIns="0" spcFirstLastPara="1" rIns="0" wrap="square" tIns="0">
            <a:spAutoFit/>
          </a:bodyPr>
          <a:lstStyle/>
          <a:p>
            <a:pPr indent="-389123" lvl="1" marL="803645" marR="0" rtl="0" algn="just">
              <a:lnSpc>
                <a:spcPct val="140005"/>
              </a:lnSpc>
              <a:spcBef>
                <a:spcPts val="0"/>
              </a:spcBef>
              <a:spcAft>
                <a:spcPts val="0"/>
              </a:spcAft>
              <a:buClr>
                <a:srgbClr val="10223D"/>
              </a:buClr>
              <a:buSzPts val="3522"/>
              <a:buFont typeface="Arial"/>
              <a:buChar char="•"/>
            </a:pPr>
            <a:r>
              <a:rPr b="0" i="0" lang="en-US" sz="3522" u="none" cap="none" strike="noStrike">
                <a:solidFill>
                  <a:srgbClr val="10223D"/>
                </a:solidFill>
                <a:latin typeface="Arial"/>
                <a:ea typeface="Arial"/>
                <a:cs typeface="Arial"/>
                <a:sym typeface="Arial"/>
              </a:rPr>
              <a:t>Es la rama principal y debe contener siempre la versión más estable del proyecto. Esta rama contiene solo el código que ha sido completamente probado y está listo para ser liberado a los usuarios finales.</a:t>
            </a:r>
            <a:endParaRPr sz="1200"/>
          </a:p>
          <a:p>
            <a:pPr indent="-389122" lvl="1" marL="803644" marR="0" rtl="0" algn="just">
              <a:lnSpc>
                <a:spcPct val="140005"/>
              </a:lnSpc>
              <a:spcBef>
                <a:spcPts val="0"/>
              </a:spcBef>
              <a:spcAft>
                <a:spcPts val="0"/>
              </a:spcAft>
              <a:buClr>
                <a:srgbClr val="10223D"/>
              </a:buClr>
              <a:buSzPts val="3522"/>
              <a:buFont typeface="Arial"/>
              <a:buChar char="•"/>
            </a:pPr>
            <a:r>
              <a:rPr b="0" i="0" lang="en-US" sz="3522" u="none" cap="none" strike="noStrike">
                <a:solidFill>
                  <a:srgbClr val="10223D"/>
                </a:solidFill>
                <a:latin typeface="Arial"/>
                <a:ea typeface="Arial"/>
                <a:cs typeface="Arial"/>
                <a:sym typeface="Arial"/>
              </a:rPr>
              <a:t>Al momento de fusionar el código con la rama main/master se debe de hacer desde la rama release</a:t>
            </a:r>
            <a:r>
              <a:rPr lang="en-US" sz="3522">
                <a:solidFill>
                  <a:srgbClr val="10223D"/>
                </a:solidFill>
              </a:rPr>
              <a:t> </a:t>
            </a:r>
            <a:r>
              <a:rPr b="0" i="0" lang="en-US" sz="3522" u="none" cap="none" strike="noStrike">
                <a:solidFill>
                  <a:srgbClr val="10223D"/>
                </a:solidFill>
                <a:latin typeface="Arial"/>
                <a:ea typeface="Arial"/>
                <a:cs typeface="Arial"/>
                <a:sym typeface="Arial"/>
              </a:rPr>
              <a:t>o en dado caso hotfix.</a:t>
            </a:r>
            <a:endParaRPr b="0" i="0" sz="3522" u="none" cap="none" strike="noStrike">
              <a:solidFill>
                <a:srgbClr val="10223D"/>
              </a:solidFill>
              <a:latin typeface="Arial"/>
              <a:ea typeface="Arial"/>
              <a:cs typeface="Arial"/>
              <a:sym typeface="Arial"/>
            </a:endParaRPr>
          </a:p>
          <a:p>
            <a:pPr indent="-389123" lvl="1" marL="803645" marR="0" rtl="0" algn="just">
              <a:lnSpc>
                <a:spcPct val="140005"/>
              </a:lnSpc>
              <a:spcBef>
                <a:spcPts val="0"/>
              </a:spcBef>
              <a:spcAft>
                <a:spcPts val="0"/>
              </a:spcAft>
              <a:buClr>
                <a:srgbClr val="10223D"/>
              </a:buClr>
              <a:buSzPts val="3522"/>
              <a:buFont typeface="Arial"/>
              <a:buChar char="•"/>
            </a:pPr>
            <a:r>
              <a:rPr b="0" i="0" lang="en-US" sz="3522" u="none" cap="none" strike="noStrike">
                <a:solidFill>
                  <a:srgbClr val="10223D"/>
                </a:solidFill>
                <a:latin typeface="Arial"/>
                <a:ea typeface="Arial"/>
                <a:cs typeface="Arial"/>
                <a:sym typeface="Arial"/>
              </a:rPr>
              <a:t>Cuando se realiza una versión estable del software, se etiqueta la confirmación en la rama main con un número de versión o una etiqueta específica.</a:t>
            </a:r>
            <a:endParaRPr sz="1200"/>
          </a:p>
          <a:p>
            <a:pPr indent="0" lvl="0" marL="0" marR="0" rtl="0" algn="just">
              <a:lnSpc>
                <a:spcPct val="140005"/>
              </a:lnSpc>
              <a:spcBef>
                <a:spcPts val="0"/>
              </a:spcBef>
              <a:spcAft>
                <a:spcPts val="0"/>
              </a:spcAft>
              <a:buNone/>
            </a:pPr>
            <a:r>
              <a:t/>
            </a:r>
            <a:endParaRPr b="0" i="0" sz="3522" u="none" cap="none" strike="noStrike">
              <a:solidFill>
                <a:srgbClr val="10223D"/>
              </a:solidFill>
              <a:latin typeface="Arial"/>
              <a:ea typeface="Arial"/>
              <a:cs typeface="Arial"/>
              <a:sym typeface="Arial"/>
            </a:endParaRPr>
          </a:p>
        </p:txBody>
      </p:sp>
      <p:sp>
        <p:nvSpPr>
          <p:cNvPr id="194" name="Google Shape;194;p9"/>
          <p:cNvSpPr txBox="1"/>
          <p:nvPr/>
        </p:nvSpPr>
        <p:spPr>
          <a:xfrm>
            <a:off x="6796726" y="1489423"/>
            <a:ext cx="31350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10223D"/>
                </a:solidFill>
                <a:latin typeface="Arial"/>
                <a:ea typeface="Arial"/>
                <a:cs typeface="Arial"/>
                <a:sym typeface="Arial"/>
              </a:rPr>
              <a:t>(master/main)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198" name="Shape 198"/>
        <p:cNvGrpSpPr/>
        <p:nvPr/>
      </p:nvGrpSpPr>
      <p:grpSpPr>
        <a:xfrm>
          <a:off x="0" y="0"/>
          <a:ext cx="0" cy="0"/>
          <a:chOff x="0" y="0"/>
          <a:chExt cx="0" cy="0"/>
        </a:xfrm>
      </p:grpSpPr>
      <p:sp>
        <p:nvSpPr>
          <p:cNvPr id="199" name="Google Shape;199;p10"/>
          <p:cNvSpPr/>
          <p:nvPr/>
        </p:nvSpPr>
        <p:spPr>
          <a:xfrm>
            <a:off x="14499580" y="7715250"/>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3">
              <a:alphaModFix/>
            </a:blip>
            <a:stretch>
              <a:fillRect b="0" l="0" r="0" t="0"/>
            </a:stretch>
          </a:blipFill>
          <a:ln>
            <a:noFill/>
          </a:ln>
        </p:spPr>
      </p:sp>
      <p:sp>
        <p:nvSpPr>
          <p:cNvPr id="200" name="Google Shape;200;p10"/>
          <p:cNvSpPr/>
          <p:nvPr/>
        </p:nvSpPr>
        <p:spPr>
          <a:xfrm>
            <a:off x="17071330" y="5143500"/>
            <a:ext cx="2571750" cy="2571750"/>
          </a:xfrm>
          <a:custGeom>
            <a:rect b="b" l="l" r="r" t="t"/>
            <a:pathLst>
              <a:path extrusionOk="0" h="1913890" w="1913890">
                <a:moveTo>
                  <a:pt x="0" y="0"/>
                </a:moveTo>
                <a:lnTo>
                  <a:pt x="1913890" y="0"/>
                </a:lnTo>
                <a:lnTo>
                  <a:pt x="1913890" y="1913890"/>
                </a:lnTo>
                <a:lnTo>
                  <a:pt x="0" y="1913890"/>
                </a:lnTo>
                <a:close/>
              </a:path>
            </a:pathLst>
          </a:custGeom>
          <a:solidFill>
            <a:srgbClr val="FFC2B4"/>
          </a:solidFill>
          <a:ln>
            <a:noFill/>
          </a:ln>
        </p:spPr>
      </p:sp>
      <p:sp>
        <p:nvSpPr>
          <p:cNvPr id="201" name="Google Shape;201;p10"/>
          <p:cNvSpPr/>
          <p:nvPr/>
        </p:nvSpPr>
        <p:spPr>
          <a:xfrm>
            <a:off x="14499580" y="5143500"/>
            <a:ext cx="2571750" cy="2571750"/>
          </a:xfrm>
          <a:custGeom>
            <a:rect b="b" l="l" r="r" t="t"/>
            <a:pathLst>
              <a:path extrusionOk="0" h="1913890" w="1913890">
                <a:moveTo>
                  <a:pt x="0" y="0"/>
                </a:moveTo>
                <a:lnTo>
                  <a:pt x="1913890" y="0"/>
                </a:lnTo>
                <a:lnTo>
                  <a:pt x="1913890" y="1913890"/>
                </a:lnTo>
                <a:lnTo>
                  <a:pt x="0" y="1913890"/>
                </a:lnTo>
                <a:close/>
              </a:path>
            </a:pathLst>
          </a:custGeom>
          <a:solidFill>
            <a:srgbClr val="D6533C"/>
          </a:solidFill>
          <a:ln>
            <a:noFill/>
          </a:ln>
        </p:spPr>
      </p:sp>
      <p:sp>
        <p:nvSpPr>
          <p:cNvPr id="202" name="Google Shape;202;p10"/>
          <p:cNvSpPr/>
          <p:nvPr/>
        </p:nvSpPr>
        <p:spPr>
          <a:xfrm>
            <a:off x="17492566" y="5569659"/>
            <a:ext cx="1719433" cy="171943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2E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rot="-5400000">
            <a:off x="15805145" y="1305245"/>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4">
              <a:alphaModFix/>
            </a:blip>
            <a:stretch>
              <a:fillRect b="0" l="0" r="0" t="0"/>
            </a:stretch>
          </a:blipFill>
          <a:ln>
            <a:noFill/>
          </a:ln>
        </p:spPr>
      </p:sp>
      <p:sp>
        <p:nvSpPr>
          <p:cNvPr id="204" name="Google Shape;204;p10"/>
          <p:cNvSpPr/>
          <p:nvPr/>
        </p:nvSpPr>
        <p:spPr>
          <a:xfrm>
            <a:off x="14499580" y="2571430"/>
            <a:ext cx="2591440" cy="2591440"/>
          </a:xfrm>
          <a:custGeom>
            <a:rect b="b" l="l" r="r" t="t"/>
            <a:pathLst>
              <a:path extrusionOk="0" h="2591440" w="2591440">
                <a:moveTo>
                  <a:pt x="0" y="0"/>
                </a:moveTo>
                <a:lnTo>
                  <a:pt x="2591440" y="0"/>
                </a:lnTo>
                <a:lnTo>
                  <a:pt x="2591440" y="2591440"/>
                </a:lnTo>
                <a:lnTo>
                  <a:pt x="0" y="2591440"/>
                </a:lnTo>
                <a:lnTo>
                  <a:pt x="0" y="0"/>
                </a:lnTo>
                <a:close/>
              </a:path>
            </a:pathLst>
          </a:custGeom>
          <a:blipFill rotWithShape="1">
            <a:blip r:embed="rId5">
              <a:alphaModFix/>
            </a:blip>
            <a:stretch>
              <a:fillRect b="0" l="0" r="0" t="0"/>
            </a:stretch>
          </a:blipFill>
          <a:ln>
            <a:noFill/>
          </a:ln>
        </p:spPr>
      </p:sp>
      <p:sp>
        <p:nvSpPr>
          <p:cNvPr id="205" name="Google Shape;205;p10"/>
          <p:cNvSpPr/>
          <p:nvPr/>
        </p:nvSpPr>
        <p:spPr>
          <a:xfrm>
            <a:off x="14499580" y="19370"/>
            <a:ext cx="2591440" cy="2591440"/>
          </a:xfrm>
          <a:custGeom>
            <a:rect b="b" l="l" r="r" t="t"/>
            <a:pathLst>
              <a:path extrusionOk="0" h="2591440" w="2591440">
                <a:moveTo>
                  <a:pt x="0" y="0"/>
                </a:moveTo>
                <a:lnTo>
                  <a:pt x="2591440" y="0"/>
                </a:lnTo>
                <a:lnTo>
                  <a:pt x="2591440" y="2591440"/>
                </a:lnTo>
                <a:lnTo>
                  <a:pt x="0" y="2591440"/>
                </a:lnTo>
                <a:lnTo>
                  <a:pt x="0" y="0"/>
                </a:lnTo>
                <a:close/>
              </a:path>
            </a:pathLst>
          </a:custGeom>
          <a:blipFill rotWithShape="1">
            <a:blip r:embed="rId6">
              <a:alphaModFix/>
            </a:blip>
            <a:stretch>
              <a:fillRect b="0" l="0" r="0" t="0"/>
            </a:stretch>
          </a:blipFill>
          <a:ln>
            <a:noFill/>
          </a:ln>
        </p:spPr>
      </p:sp>
      <p:sp>
        <p:nvSpPr>
          <p:cNvPr id="206" name="Google Shape;206;p10"/>
          <p:cNvSpPr txBox="1"/>
          <p:nvPr/>
        </p:nvSpPr>
        <p:spPr>
          <a:xfrm>
            <a:off x="6515814" y="159703"/>
            <a:ext cx="5256371"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D6533C"/>
                </a:solidFill>
                <a:latin typeface="Open Sans"/>
                <a:ea typeface="Open Sans"/>
                <a:cs typeface="Open Sans"/>
                <a:sym typeface="Open Sans"/>
              </a:rPr>
              <a:t>DEVELOP</a:t>
            </a:r>
            <a:endParaRPr/>
          </a:p>
        </p:txBody>
      </p:sp>
      <p:sp>
        <p:nvSpPr>
          <p:cNvPr id="207" name="Google Shape;207;p10"/>
          <p:cNvSpPr txBox="1"/>
          <p:nvPr/>
        </p:nvSpPr>
        <p:spPr>
          <a:xfrm>
            <a:off x="387062" y="1999954"/>
            <a:ext cx="14093400" cy="6743700"/>
          </a:xfrm>
          <a:prstGeom prst="rect">
            <a:avLst/>
          </a:prstGeom>
          <a:noFill/>
          <a:ln>
            <a:noFill/>
          </a:ln>
        </p:spPr>
        <p:txBody>
          <a:bodyPr anchorCtr="0" anchor="t" bIns="0" lIns="0" spcFirstLastPara="1" rIns="0" wrap="square" tIns="0">
            <a:spAutoFit/>
          </a:bodyPr>
          <a:lstStyle/>
          <a:p>
            <a:pPr indent="-347762" lvl="1" marL="695524" marR="0" rtl="0" algn="l">
              <a:lnSpc>
                <a:spcPct val="140018"/>
              </a:lnSpc>
              <a:spcBef>
                <a:spcPts val="0"/>
              </a:spcBef>
              <a:spcAft>
                <a:spcPts val="0"/>
              </a:spcAft>
              <a:buClr>
                <a:srgbClr val="10223D"/>
              </a:buClr>
              <a:buSzPts val="3221"/>
              <a:buFont typeface="Arial"/>
              <a:buChar char="•"/>
            </a:pPr>
            <a:r>
              <a:rPr b="0" i="0" lang="en-US" sz="3221" u="none" cap="none" strike="noStrike">
                <a:solidFill>
                  <a:srgbClr val="10223D"/>
                </a:solidFill>
                <a:latin typeface="Arial"/>
                <a:ea typeface="Arial"/>
                <a:cs typeface="Arial"/>
                <a:sym typeface="Arial"/>
              </a:rPr>
              <a:t>Se crea a partir de la rama main</a:t>
            </a:r>
            <a:endParaRPr/>
          </a:p>
          <a:p>
            <a:pPr indent="0" lvl="0" marL="0" marR="0" rtl="0" algn="l">
              <a:lnSpc>
                <a:spcPct val="140018"/>
              </a:lnSpc>
              <a:spcBef>
                <a:spcPts val="0"/>
              </a:spcBef>
              <a:spcAft>
                <a:spcPts val="0"/>
              </a:spcAft>
              <a:buNone/>
            </a:pPr>
            <a:r>
              <a:t/>
            </a:r>
            <a:endParaRPr b="0" i="0" sz="3221" u="none" cap="none" strike="noStrike">
              <a:solidFill>
                <a:srgbClr val="10223D"/>
              </a:solidFill>
              <a:latin typeface="Arial"/>
              <a:ea typeface="Arial"/>
              <a:cs typeface="Arial"/>
              <a:sym typeface="Arial"/>
            </a:endParaRPr>
          </a:p>
          <a:p>
            <a:pPr indent="-347762" lvl="1" marL="695524" marR="0" rtl="0" algn="l">
              <a:lnSpc>
                <a:spcPct val="140018"/>
              </a:lnSpc>
              <a:spcBef>
                <a:spcPts val="0"/>
              </a:spcBef>
              <a:spcAft>
                <a:spcPts val="0"/>
              </a:spcAft>
              <a:buClr>
                <a:srgbClr val="10223D"/>
              </a:buClr>
              <a:buSzPts val="3221"/>
              <a:buFont typeface="Arial"/>
              <a:buChar char="•"/>
            </a:pPr>
            <a:r>
              <a:rPr b="0" i="0" lang="en-US" sz="3221" u="none" cap="none" strike="noStrike">
                <a:solidFill>
                  <a:srgbClr val="10223D"/>
                </a:solidFill>
                <a:latin typeface="Arial"/>
                <a:ea typeface="Arial"/>
                <a:cs typeface="Arial"/>
                <a:sym typeface="Arial"/>
              </a:rPr>
              <a:t>Es el punto de integración para las nuevas características y cambios provenientes de las ramas feature.</a:t>
            </a:r>
            <a:endParaRPr/>
          </a:p>
          <a:p>
            <a:pPr indent="0" lvl="0" marL="0" marR="0" rtl="0" algn="l">
              <a:lnSpc>
                <a:spcPct val="140018"/>
              </a:lnSpc>
              <a:spcBef>
                <a:spcPts val="0"/>
              </a:spcBef>
              <a:spcAft>
                <a:spcPts val="0"/>
              </a:spcAft>
              <a:buNone/>
            </a:pPr>
            <a:r>
              <a:t/>
            </a:r>
            <a:endParaRPr b="0" i="0" sz="3221" u="none" cap="none" strike="noStrike">
              <a:solidFill>
                <a:srgbClr val="10223D"/>
              </a:solidFill>
              <a:latin typeface="Arial"/>
              <a:ea typeface="Arial"/>
              <a:cs typeface="Arial"/>
              <a:sym typeface="Arial"/>
            </a:endParaRPr>
          </a:p>
          <a:p>
            <a:pPr indent="-347762" lvl="1" marL="695524" marR="0" rtl="0" algn="l">
              <a:lnSpc>
                <a:spcPct val="140018"/>
              </a:lnSpc>
              <a:spcBef>
                <a:spcPts val="0"/>
              </a:spcBef>
              <a:spcAft>
                <a:spcPts val="0"/>
              </a:spcAft>
              <a:buClr>
                <a:srgbClr val="10223D"/>
              </a:buClr>
              <a:buSzPts val="3221"/>
              <a:buFont typeface="Arial"/>
              <a:buChar char="•"/>
            </a:pPr>
            <a:r>
              <a:rPr b="0" i="0" lang="en-US" sz="3221" u="none" cap="none" strike="noStrike">
                <a:solidFill>
                  <a:srgbClr val="10223D"/>
                </a:solidFill>
                <a:latin typeface="Arial"/>
                <a:ea typeface="Arial"/>
                <a:cs typeface="Arial"/>
                <a:sym typeface="Arial"/>
              </a:rPr>
              <a:t>Al prepararse para un lanzamiento, una rama release se crea desde develop. </a:t>
            </a:r>
            <a:endParaRPr/>
          </a:p>
          <a:p>
            <a:pPr indent="0" lvl="0" marL="0" marR="0" rtl="0" algn="l">
              <a:lnSpc>
                <a:spcPct val="140018"/>
              </a:lnSpc>
              <a:spcBef>
                <a:spcPts val="0"/>
              </a:spcBef>
              <a:spcAft>
                <a:spcPts val="0"/>
              </a:spcAft>
              <a:buNone/>
            </a:pPr>
            <a:r>
              <a:t/>
            </a:r>
            <a:endParaRPr b="0" i="0" sz="3221" u="none" cap="none" strike="noStrike">
              <a:solidFill>
                <a:srgbClr val="10223D"/>
              </a:solidFill>
              <a:latin typeface="Arial"/>
              <a:ea typeface="Arial"/>
              <a:cs typeface="Arial"/>
              <a:sym typeface="Arial"/>
            </a:endParaRPr>
          </a:p>
          <a:p>
            <a:pPr indent="-347762" lvl="1" marL="695524" marR="0" rtl="0" algn="l">
              <a:lnSpc>
                <a:spcPct val="140018"/>
              </a:lnSpc>
              <a:spcBef>
                <a:spcPts val="0"/>
              </a:spcBef>
              <a:spcAft>
                <a:spcPts val="0"/>
              </a:spcAft>
              <a:buClr>
                <a:srgbClr val="10223D"/>
              </a:buClr>
              <a:buSzPts val="3221"/>
              <a:buFont typeface="Arial"/>
              <a:buChar char="•"/>
            </a:pPr>
            <a:r>
              <a:rPr b="0" i="0" lang="en-US" sz="3221" u="none" cap="none" strike="noStrike">
                <a:solidFill>
                  <a:srgbClr val="10223D"/>
                </a:solidFill>
                <a:latin typeface="Arial"/>
                <a:ea typeface="Arial"/>
                <a:cs typeface="Arial"/>
                <a:sym typeface="Arial"/>
              </a:rPr>
              <a:t>No es necesariamente estable pero si funcional</a:t>
            </a:r>
            <a:endParaRPr/>
          </a:p>
          <a:p>
            <a:pPr indent="0" lvl="0" marL="0" marR="0" rtl="0" algn="l">
              <a:lnSpc>
                <a:spcPct val="140018"/>
              </a:lnSpc>
              <a:spcBef>
                <a:spcPts val="0"/>
              </a:spcBef>
              <a:spcAft>
                <a:spcPts val="0"/>
              </a:spcAft>
              <a:buNone/>
            </a:pPr>
            <a:r>
              <a:t/>
            </a:r>
            <a:endParaRPr b="0" i="0" sz="3221" u="none" cap="none" strike="noStrike">
              <a:solidFill>
                <a:srgbClr val="10223D"/>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451"/>
        </a:solidFill>
      </p:bgPr>
    </p:bg>
    <p:spTree>
      <p:nvGrpSpPr>
        <p:cNvPr id="211" name="Shape 211"/>
        <p:cNvGrpSpPr/>
        <p:nvPr/>
      </p:nvGrpSpPr>
      <p:grpSpPr>
        <a:xfrm>
          <a:off x="0" y="0"/>
          <a:ext cx="0" cy="0"/>
          <a:chOff x="0" y="0"/>
          <a:chExt cx="0" cy="0"/>
        </a:xfrm>
      </p:grpSpPr>
      <p:sp>
        <p:nvSpPr>
          <p:cNvPr id="212" name="Google Shape;212;p11"/>
          <p:cNvSpPr txBox="1"/>
          <p:nvPr/>
        </p:nvSpPr>
        <p:spPr>
          <a:xfrm>
            <a:off x="5043898" y="363500"/>
            <a:ext cx="6033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F2EDDB"/>
                </a:solidFill>
                <a:latin typeface="Arial"/>
                <a:ea typeface="Arial"/>
                <a:cs typeface="Arial"/>
                <a:sym typeface="Arial"/>
              </a:rPr>
              <a:t>FEATURE</a:t>
            </a:r>
            <a:endParaRPr/>
          </a:p>
        </p:txBody>
      </p:sp>
      <p:sp>
        <p:nvSpPr>
          <p:cNvPr id="213" name="Google Shape;213;p11"/>
          <p:cNvSpPr txBox="1"/>
          <p:nvPr/>
        </p:nvSpPr>
        <p:spPr>
          <a:xfrm>
            <a:off x="1980761" y="1872899"/>
            <a:ext cx="11894087" cy="7216208"/>
          </a:xfrm>
          <a:prstGeom prst="rect">
            <a:avLst/>
          </a:prstGeom>
          <a:noFill/>
          <a:ln>
            <a:noFill/>
          </a:ln>
        </p:spPr>
        <p:txBody>
          <a:bodyPr anchorCtr="0" anchor="t" bIns="0" lIns="0" spcFirstLastPara="1" rIns="0" wrap="square" tIns="0">
            <a:spAutoFit/>
          </a:bodyPr>
          <a:lstStyle/>
          <a:p>
            <a:pPr indent="-364040" lvl="1" marL="728080" marR="0" rtl="0" algn="l">
              <a:lnSpc>
                <a:spcPct val="140005"/>
              </a:lnSpc>
              <a:spcBef>
                <a:spcPts val="0"/>
              </a:spcBef>
              <a:spcAft>
                <a:spcPts val="0"/>
              </a:spcAft>
              <a:buClr>
                <a:srgbClr val="10223D"/>
              </a:buClr>
              <a:buSzPts val="3372"/>
              <a:buFont typeface="Arial"/>
              <a:buChar char="•"/>
            </a:pPr>
            <a:r>
              <a:rPr b="0" i="0" lang="en-US" sz="3372" u="none" cap="none" strike="noStrike">
                <a:solidFill>
                  <a:srgbClr val="10223D"/>
                </a:solidFill>
                <a:latin typeface="Arial"/>
                <a:ea typeface="Arial"/>
                <a:cs typeface="Arial"/>
                <a:sym typeface="Arial"/>
              </a:rPr>
              <a:t>Nace de la rama develop y se crea para implementar nuevas funcionalidades.</a:t>
            </a:r>
            <a:endParaRPr/>
          </a:p>
          <a:p>
            <a:pPr indent="0" lvl="0" marL="0" marR="0" rtl="0" algn="l">
              <a:lnSpc>
                <a:spcPct val="140005"/>
              </a:lnSpc>
              <a:spcBef>
                <a:spcPts val="0"/>
              </a:spcBef>
              <a:spcAft>
                <a:spcPts val="0"/>
              </a:spcAft>
              <a:buNone/>
            </a:pPr>
            <a:r>
              <a:t/>
            </a:r>
            <a:endParaRPr b="0" i="0" sz="3372" u="none" cap="none" strike="noStrike">
              <a:solidFill>
                <a:srgbClr val="10223D"/>
              </a:solidFill>
              <a:latin typeface="Arial"/>
              <a:ea typeface="Arial"/>
              <a:cs typeface="Arial"/>
              <a:sym typeface="Arial"/>
            </a:endParaRPr>
          </a:p>
          <a:p>
            <a:pPr indent="-364040" lvl="1" marL="728080" marR="0" rtl="0" algn="l">
              <a:lnSpc>
                <a:spcPct val="140005"/>
              </a:lnSpc>
              <a:spcBef>
                <a:spcPts val="0"/>
              </a:spcBef>
              <a:spcAft>
                <a:spcPts val="0"/>
              </a:spcAft>
              <a:buClr>
                <a:srgbClr val="10223D"/>
              </a:buClr>
              <a:buSzPts val="3372"/>
              <a:buFont typeface="Arial"/>
              <a:buChar char="•"/>
            </a:pPr>
            <a:r>
              <a:rPr b="0" i="0" lang="en-US" sz="3372" u="none" cap="none" strike="noStrike">
                <a:solidFill>
                  <a:srgbClr val="10223D"/>
                </a:solidFill>
                <a:latin typeface="Arial"/>
                <a:ea typeface="Arial"/>
                <a:cs typeface="Arial"/>
                <a:sym typeface="Arial"/>
              </a:rPr>
              <a:t>Después de que la funcionalidad está completa y ha sido probada, se fusiona la rama feature en la rama develop. </a:t>
            </a:r>
            <a:endParaRPr/>
          </a:p>
          <a:p>
            <a:pPr indent="0" lvl="0" marL="0" marR="0" rtl="0" algn="l">
              <a:lnSpc>
                <a:spcPct val="140005"/>
              </a:lnSpc>
              <a:spcBef>
                <a:spcPts val="0"/>
              </a:spcBef>
              <a:spcAft>
                <a:spcPts val="0"/>
              </a:spcAft>
              <a:buNone/>
            </a:pPr>
            <a:r>
              <a:t/>
            </a:r>
            <a:endParaRPr b="0" i="0" sz="3372" u="none" cap="none" strike="noStrike">
              <a:solidFill>
                <a:srgbClr val="10223D"/>
              </a:solidFill>
              <a:latin typeface="Arial"/>
              <a:ea typeface="Arial"/>
              <a:cs typeface="Arial"/>
              <a:sym typeface="Arial"/>
            </a:endParaRPr>
          </a:p>
          <a:p>
            <a:pPr indent="-364040" lvl="1" marL="728080" marR="0" rtl="0" algn="l">
              <a:lnSpc>
                <a:spcPct val="140005"/>
              </a:lnSpc>
              <a:spcBef>
                <a:spcPts val="0"/>
              </a:spcBef>
              <a:spcAft>
                <a:spcPts val="0"/>
              </a:spcAft>
              <a:buClr>
                <a:srgbClr val="10223D"/>
              </a:buClr>
              <a:buSzPts val="3372"/>
              <a:buFont typeface="Arial"/>
              <a:buChar char="•"/>
            </a:pPr>
            <a:r>
              <a:rPr b="0" i="0" lang="en-US" sz="3372" u="none" cap="none" strike="noStrike">
                <a:solidFill>
                  <a:srgbClr val="10223D"/>
                </a:solidFill>
                <a:latin typeface="Arial"/>
                <a:ea typeface="Arial"/>
                <a:cs typeface="Arial"/>
                <a:sym typeface="Arial"/>
              </a:rPr>
              <a:t>Una vez que la rama feature ha sido fusionada en develop, generalmente se elimina.</a:t>
            </a:r>
            <a:endParaRPr/>
          </a:p>
          <a:p>
            <a:pPr indent="0" lvl="0" marL="0" marR="0" rtl="0" algn="l">
              <a:lnSpc>
                <a:spcPct val="140005"/>
              </a:lnSpc>
              <a:spcBef>
                <a:spcPts val="0"/>
              </a:spcBef>
              <a:spcAft>
                <a:spcPts val="0"/>
              </a:spcAft>
              <a:buNone/>
            </a:pPr>
            <a:r>
              <a:t/>
            </a:r>
            <a:endParaRPr b="0" i="0" sz="3372" u="none" cap="none" strike="noStrike">
              <a:solidFill>
                <a:srgbClr val="10223D"/>
              </a:solidFill>
              <a:latin typeface="Arial"/>
              <a:ea typeface="Arial"/>
              <a:cs typeface="Arial"/>
              <a:sym typeface="Arial"/>
            </a:endParaRPr>
          </a:p>
          <a:p>
            <a:pPr indent="-364040" lvl="1" marL="728080" marR="0" rtl="0" algn="l">
              <a:lnSpc>
                <a:spcPct val="140005"/>
              </a:lnSpc>
              <a:spcBef>
                <a:spcPts val="0"/>
              </a:spcBef>
              <a:spcAft>
                <a:spcPts val="0"/>
              </a:spcAft>
              <a:buClr>
                <a:srgbClr val="10223D"/>
              </a:buClr>
              <a:buSzPts val="3372"/>
              <a:buFont typeface="Arial"/>
              <a:buChar char="•"/>
            </a:pPr>
            <a:r>
              <a:rPr b="0" i="0" lang="en-US" sz="3372" u="none" cap="none" strike="noStrike">
                <a:solidFill>
                  <a:srgbClr val="10223D"/>
                </a:solidFill>
                <a:latin typeface="Arial"/>
                <a:ea typeface="Arial"/>
                <a:cs typeface="Arial"/>
                <a:sym typeface="Arial"/>
              </a:rPr>
              <a:t>Se recomienda nombrarlas de las siguiente manera: feature/NuevaFuncionalidad.</a:t>
            </a:r>
            <a:endParaRPr/>
          </a:p>
          <a:p>
            <a:pPr indent="0" lvl="0" marL="0" marR="0" rtl="0" algn="l">
              <a:lnSpc>
                <a:spcPct val="140005"/>
              </a:lnSpc>
              <a:spcBef>
                <a:spcPts val="0"/>
              </a:spcBef>
              <a:spcAft>
                <a:spcPts val="0"/>
              </a:spcAft>
              <a:buNone/>
            </a:pPr>
            <a:r>
              <a:t/>
            </a:r>
            <a:endParaRPr b="0" i="0" sz="3372" u="none" cap="none" strike="noStrike">
              <a:solidFill>
                <a:srgbClr val="10223D"/>
              </a:solidFill>
              <a:latin typeface="Arial"/>
              <a:ea typeface="Arial"/>
              <a:cs typeface="Arial"/>
              <a:sym typeface="Arial"/>
            </a:endParaRPr>
          </a:p>
        </p:txBody>
      </p:sp>
      <p:sp>
        <p:nvSpPr>
          <p:cNvPr id="214" name="Google Shape;214;p11"/>
          <p:cNvSpPr/>
          <p:nvPr/>
        </p:nvSpPr>
        <p:spPr>
          <a:xfrm rot="-5400000">
            <a:off x="12525582" y="2596256"/>
            <a:ext cx="10287000" cy="5094488"/>
          </a:xfrm>
          <a:custGeom>
            <a:rect b="b" l="l" r="r" t="t"/>
            <a:pathLst>
              <a:path extrusionOk="0" h="1913890" w="3864606">
                <a:moveTo>
                  <a:pt x="0" y="0"/>
                </a:moveTo>
                <a:lnTo>
                  <a:pt x="3864606" y="0"/>
                </a:lnTo>
                <a:lnTo>
                  <a:pt x="3864606" y="1913890"/>
                </a:lnTo>
                <a:lnTo>
                  <a:pt x="0" y="1913890"/>
                </a:lnTo>
                <a:close/>
              </a:path>
            </a:pathLst>
          </a:custGeom>
          <a:solidFill>
            <a:srgbClr val="10223D"/>
          </a:solidFill>
          <a:ln>
            <a:noFill/>
          </a:ln>
        </p:spPr>
      </p:sp>
      <p:sp>
        <p:nvSpPr>
          <p:cNvPr id="215" name="Google Shape;215;p11"/>
          <p:cNvSpPr/>
          <p:nvPr/>
        </p:nvSpPr>
        <p:spPr>
          <a:xfrm rot="-5400000">
            <a:off x="15121838" y="5094488"/>
            <a:ext cx="5192512" cy="5192512"/>
          </a:xfrm>
          <a:custGeom>
            <a:rect b="b" l="l" r="r" t="t"/>
            <a:pathLst>
              <a:path extrusionOk="0" h="5192512" w="5192512">
                <a:moveTo>
                  <a:pt x="0" y="0"/>
                </a:moveTo>
                <a:lnTo>
                  <a:pt x="5192512" y="0"/>
                </a:lnTo>
                <a:lnTo>
                  <a:pt x="5192512" y="5192512"/>
                </a:lnTo>
                <a:lnTo>
                  <a:pt x="0" y="5192512"/>
                </a:lnTo>
                <a:lnTo>
                  <a:pt x="0" y="0"/>
                </a:lnTo>
                <a:close/>
              </a:path>
            </a:pathLst>
          </a:custGeom>
          <a:blipFill rotWithShape="1">
            <a:blip r:embed="rId3">
              <a:alphaModFix/>
            </a:blip>
            <a:stretch>
              <a:fillRect b="0" l="0" r="0" t="0"/>
            </a:stretch>
          </a:blipFill>
          <a:ln>
            <a:noFill/>
          </a:ln>
        </p:spPr>
      </p:sp>
      <p:sp>
        <p:nvSpPr>
          <p:cNvPr id="216" name="Google Shape;216;p11"/>
          <p:cNvSpPr/>
          <p:nvPr/>
        </p:nvSpPr>
        <p:spPr>
          <a:xfrm flipH="1" rot="-5400000">
            <a:off x="15121838" y="-49012"/>
            <a:ext cx="5192512" cy="5192512"/>
          </a:xfrm>
          <a:custGeom>
            <a:rect b="b" l="l" r="r" t="t"/>
            <a:pathLst>
              <a:path extrusionOk="0" h="5192512" w="5192512">
                <a:moveTo>
                  <a:pt x="5192512" y="0"/>
                </a:moveTo>
                <a:lnTo>
                  <a:pt x="0" y="0"/>
                </a:lnTo>
                <a:lnTo>
                  <a:pt x="0" y="5192512"/>
                </a:lnTo>
                <a:lnTo>
                  <a:pt x="5192512" y="5192512"/>
                </a:lnTo>
                <a:lnTo>
                  <a:pt x="5192512" y="0"/>
                </a:lnTo>
                <a:close/>
              </a:path>
            </a:pathLst>
          </a:custGeom>
          <a:blipFill rotWithShape="1">
            <a:blip r:embed="rId3">
              <a:alphaModFix/>
            </a:blip>
            <a:stretch>
              <a:fillRect b="0" l="0" r="0" t="0"/>
            </a:stretch>
          </a:blipFill>
          <a:ln>
            <a:noFill/>
          </a:ln>
        </p:spPr>
      </p:sp>
      <p:sp>
        <p:nvSpPr>
          <p:cNvPr id="217" name="Google Shape;217;p11"/>
          <p:cNvSpPr/>
          <p:nvPr/>
        </p:nvSpPr>
        <p:spPr>
          <a:xfrm rot="5400000">
            <a:off x="16127384" y="4007065"/>
            <a:ext cx="4349690" cy="2174845"/>
          </a:xfrm>
          <a:custGeom>
            <a:rect b="b" l="l" r="r" t="t"/>
            <a:pathLst>
              <a:path extrusionOk="0" h="2174845" w="4349690">
                <a:moveTo>
                  <a:pt x="0" y="0"/>
                </a:moveTo>
                <a:lnTo>
                  <a:pt x="4349690" y="0"/>
                </a:lnTo>
                <a:lnTo>
                  <a:pt x="4349690" y="2174845"/>
                </a:lnTo>
                <a:lnTo>
                  <a:pt x="0" y="217484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221" name="Shape 221"/>
        <p:cNvGrpSpPr/>
        <p:nvPr/>
      </p:nvGrpSpPr>
      <p:grpSpPr>
        <a:xfrm>
          <a:off x="0" y="0"/>
          <a:ext cx="0" cy="0"/>
          <a:chOff x="0" y="0"/>
          <a:chExt cx="0" cy="0"/>
        </a:xfrm>
      </p:grpSpPr>
      <p:sp>
        <p:nvSpPr>
          <p:cNvPr id="222" name="Google Shape;222;p12"/>
          <p:cNvSpPr/>
          <p:nvPr/>
        </p:nvSpPr>
        <p:spPr>
          <a:xfrm flipH="1" rot="-5400000">
            <a:off x="-1285875" y="6287157"/>
            <a:ext cx="5143500" cy="2571750"/>
          </a:xfrm>
          <a:custGeom>
            <a:rect b="b" l="l" r="r" t="t"/>
            <a:pathLst>
              <a:path extrusionOk="0" h="2571750" w="5143500">
                <a:moveTo>
                  <a:pt x="0" y="2571750"/>
                </a:moveTo>
                <a:lnTo>
                  <a:pt x="5143500" y="2571750"/>
                </a:lnTo>
                <a:lnTo>
                  <a:pt x="5143500" y="0"/>
                </a:lnTo>
                <a:lnTo>
                  <a:pt x="0" y="0"/>
                </a:lnTo>
                <a:lnTo>
                  <a:pt x="0" y="2571750"/>
                </a:lnTo>
                <a:close/>
              </a:path>
            </a:pathLst>
          </a:custGeom>
          <a:blipFill rotWithShape="1">
            <a:blip r:embed="rId3">
              <a:alphaModFix/>
            </a:blip>
            <a:stretch>
              <a:fillRect b="0" l="0" r="0" t="0"/>
            </a:stretch>
          </a:blipFill>
          <a:ln>
            <a:noFill/>
          </a:ln>
        </p:spPr>
      </p:sp>
      <p:sp>
        <p:nvSpPr>
          <p:cNvPr id="223" name="Google Shape;223;p12"/>
          <p:cNvSpPr/>
          <p:nvPr/>
        </p:nvSpPr>
        <p:spPr>
          <a:xfrm rot="-5400000">
            <a:off x="0" y="4991757"/>
            <a:ext cx="2571750" cy="2571750"/>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224" name="Google Shape;224;p12"/>
          <p:cNvSpPr/>
          <p:nvPr/>
        </p:nvSpPr>
        <p:spPr>
          <a:xfrm>
            <a:off x="-2571750" y="-142218"/>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3">
              <a:alphaModFix/>
            </a:blip>
            <a:stretch>
              <a:fillRect b="0" l="0" r="0" t="0"/>
            </a:stretch>
          </a:blipFill>
          <a:ln>
            <a:noFill/>
          </a:ln>
        </p:spPr>
      </p:sp>
      <p:sp>
        <p:nvSpPr>
          <p:cNvPr id="225" name="Google Shape;225;p12"/>
          <p:cNvSpPr/>
          <p:nvPr/>
        </p:nvSpPr>
        <p:spPr>
          <a:xfrm rot="10800000">
            <a:off x="-2571750" y="2429532"/>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5">
              <a:alphaModFix/>
            </a:blip>
            <a:stretch>
              <a:fillRect b="0" l="0" r="0" t="0"/>
            </a:stretch>
          </a:blipFill>
          <a:ln>
            <a:noFill/>
          </a:ln>
        </p:spPr>
      </p:sp>
      <p:sp>
        <p:nvSpPr>
          <p:cNvPr id="226" name="Google Shape;226;p12"/>
          <p:cNvSpPr/>
          <p:nvPr/>
        </p:nvSpPr>
        <p:spPr>
          <a:xfrm>
            <a:off x="-1758138" y="-142218"/>
            <a:ext cx="3516277" cy="1758138"/>
          </a:xfrm>
          <a:custGeom>
            <a:rect b="b" l="l" r="r" t="t"/>
            <a:pathLst>
              <a:path extrusionOk="0" h="1758138" w="3516277">
                <a:moveTo>
                  <a:pt x="0" y="0"/>
                </a:moveTo>
                <a:lnTo>
                  <a:pt x="3516276" y="0"/>
                </a:lnTo>
                <a:lnTo>
                  <a:pt x="3516276" y="1758139"/>
                </a:lnTo>
                <a:lnTo>
                  <a:pt x="0" y="1758139"/>
                </a:lnTo>
                <a:lnTo>
                  <a:pt x="0" y="0"/>
                </a:lnTo>
                <a:close/>
              </a:path>
            </a:pathLst>
          </a:custGeom>
          <a:blipFill rotWithShape="1">
            <a:blip r:embed="rId6">
              <a:alphaModFix/>
            </a:blip>
            <a:stretch>
              <a:fillRect b="0" l="0" r="0" t="0"/>
            </a:stretch>
          </a:blipFill>
          <a:ln>
            <a:noFill/>
          </a:ln>
        </p:spPr>
      </p:sp>
      <p:sp>
        <p:nvSpPr>
          <p:cNvPr id="227" name="Google Shape;227;p12"/>
          <p:cNvSpPr/>
          <p:nvPr/>
        </p:nvSpPr>
        <p:spPr>
          <a:xfrm>
            <a:off x="-879069" y="-142218"/>
            <a:ext cx="1758138" cy="879069"/>
          </a:xfrm>
          <a:custGeom>
            <a:rect b="b" l="l" r="r" t="t"/>
            <a:pathLst>
              <a:path extrusionOk="0" h="879069" w="1758138">
                <a:moveTo>
                  <a:pt x="0" y="0"/>
                </a:moveTo>
                <a:lnTo>
                  <a:pt x="1758138" y="0"/>
                </a:lnTo>
                <a:lnTo>
                  <a:pt x="1758138" y="879070"/>
                </a:lnTo>
                <a:lnTo>
                  <a:pt x="0" y="879070"/>
                </a:lnTo>
                <a:lnTo>
                  <a:pt x="0" y="0"/>
                </a:lnTo>
                <a:close/>
              </a:path>
            </a:pathLst>
          </a:custGeom>
          <a:blipFill rotWithShape="1">
            <a:blip r:embed="rId7">
              <a:alphaModFix/>
            </a:blip>
            <a:stretch>
              <a:fillRect b="0" l="0" r="0" t="0"/>
            </a:stretch>
          </a:blipFill>
          <a:ln>
            <a:noFill/>
          </a:ln>
        </p:spPr>
      </p:sp>
      <p:sp>
        <p:nvSpPr>
          <p:cNvPr id="228" name="Google Shape;228;p12"/>
          <p:cNvSpPr txBox="1"/>
          <p:nvPr/>
        </p:nvSpPr>
        <p:spPr>
          <a:xfrm>
            <a:off x="6722031" y="159703"/>
            <a:ext cx="4843939"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D6533C"/>
                </a:solidFill>
                <a:latin typeface="Open Sans"/>
                <a:ea typeface="Open Sans"/>
                <a:cs typeface="Open Sans"/>
                <a:sym typeface="Open Sans"/>
              </a:rPr>
              <a:t>RELEASE</a:t>
            </a:r>
            <a:endParaRPr/>
          </a:p>
        </p:txBody>
      </p:sp>
      <p:sp>
        <p:nvSpPr>
          <p:cNvPr id="229" name="Google Shape;229;p12"/>
          <p:cNvSpPr txBox="1"/>
          <p:nvPr/>
        </p:nvSpPr>
        <p:spPr>
          <a:xfrm>
            <a:off x="2916145" y="1997788"/>
            <a:ext cx="14324100" cy="7142400"/>
          </a:xfrm>
          <a:prstGeom prst="rect">
            <a:avLst/>
          </a:prstGeom>
          <a:noFill/>
          <a:ln>
            <a:noFill/>
          </a:ln>
        </p:spPr>
        <p:txBody>
          <a:bodyPr anchorCtr="0" anchor="t" bIns="0" lIns="0" spcFirstLastPara="1" rIns="0" wrap="square" tIns="0">
            <a:spAutoFit/>
          </a:bodyPr>
          <a:lstStyle/>
          <a:p>
            <a:pPr indent="-410622" lvl="1" marL="821245" marR="0" rtl="0" algn="l">
              <a:lnSpc>
                <a:spcPct val="140021"/>
              </a:lnSpc>
              <a:spcBef>
                <a:spcPts val="0"/>
              </a:spcBef>
              <a:spcAft>
                <a:spcPts val="0"/>
              </a:spcAft>
              <a:buClr>
                <a:srgbClr val="10223D"/>
              </a:buClr>
              <a:buSzPts val="3803"/>
              <a:buFont typeface="Arial"/>
              <a:buChar char="•"/>
            </a:pPr>
            <a:r>
              <a:rPr b="0" i="0" lang="en-US" sz="3803" u="none" cap="none" strike="noStrike">
                <a:solidFill>
                  <a:srgbClr val="10223D"/>
                </a:solidFill>
                <a:latin typeface="Arial"/>
                <a:ea typeface="Arial"/>
                <a:cs typeface="Arial"/>
                <a:sym typeface="Arial"/>
              </a:rPr>
              <a:t>Se crea para preparar y realizar lanzamientos de versiones estables del software. </a:t>
            </a:r>
            <a:endParaRPr b="0" i="0" sz="3803" u="none" cap="none" strike="noStrike">
              <a:solidFill>
                <a:srgbClr val="10223D"/>
              </a:solidFill>
              <a:latin typeface="Arial"/>
              <a:ea typeface="Arial"/>
              <a:cs typeface="Arial"/>
              <a:sym typeface="Arial"/>
            </a:endParaRPr>
          </a:p>
          <a:p>
            <a:pPr indent="-410623" lvl="1" marL="821246" marR="0" rtl="0" algn="l">
              <a:lnSpc>
                <a:spcPct val="140021"/>
              </a:lnSpc>
              <a:spcBef>
                <a:spcPts val="0"/>
              </a:spcBef>
              <a:spcAft>
                <a:spcPts val="0"/>
              </a:spcAft>
              <a:buClr>
                <a:srgbClr val="10223D"/>
              </a:buClr>
              <a:buSzPts val="3803"/>
              <a:buFont typeface="Arial"/>
              <a:buChar char="•"/>
            </a:pPr>
            <a:r>
              <a:rPr b="0" i="0" lang="en-US" sz="3803" u="none" cap="none" strike="noStrike">
                <a:solidFill>
                  <a:srgbClr val="10223D"/>
                </a:solidFill>
                <a:latin typeface="Arial"/>
                <a:ea typeface="Arial"/>
                <a:cs typeface="Arial"/>
                <a:sym typeface="Arial"/>
              </a:rPr>
              <a:t>Al finalizar, se fusiona en la rama main y develop. </a:t>
            </a:r>
            <a:endParaRPr/>
          </a:p>
          <a:p>
            <a:pPr indent="-410622" lvl="1" marL="821245" marR="0" rtl="0" algn="l">
              <a:lnSpc>
                <a:spcPct val="140021"/>
              </a:lnSpc>
              <a:spcBef>
                <a:spcPts val="0"/>
              </a:spcBef>
              <a:spcAft>
                <a:spcPts val="0"/>
              </a:spcAft>
              <a:buClr>
                <a:srgbClr val="10223D"/>
              </a:buClr>
              <a:buSzPts val="3803"/>
              <a:buFont typeface="Arial"/>
              <a:buChar char="•"/>
            </a:pPr>
            <a:r>
              <a:rPr b="0" i="0" lang="en-US" sz="3803" u="none" cap="none" strike="noStrike">
                <a:solidFill>
                  <a:srgbClr val="10223D"/>
                </a:solidFill>
                <a:latin typeface="Arial"/>
                <a:ea typeface="Arial"/>
                <a:cs typeface="Arial"/>
                <a:sym typeface="Arial"/>
              </a:rPr>
              <a:t>Una vez que la rama release se ha fusionado en main y develop, generalmente se elimina para mantener un historial limpio.</a:t>
            </a:r>
            <a:endParaRPr b="0" i="0" sz="3803" u="none" cap="none" strike="noStrike">
              <a:solidFill>
                <a:srgbClr val="10223D"/>
              </a:solidFill>
              <a:latin typeface="Arial"/>
              <a:ea typeface="Arial"/>
              <a:cs typeface="Arial"/>
              <a:sym typeface="Arial"/>
            </a:endParaRPr>
          </a:p>
          <a:p>
            <a:pPr indent="-410623" lvl="1" marL="821246" marR="0" rtl="0" algn="l">
              <a:lnSpc>
                <a:spcPct val="140021"/>
              </a:lnSpc>
              <a:spcBef>
                <a:spcPts val="0"/>
              </a:spcBef>
              <a:spcAft>
                <a:spcPts val="0"/>
              </a:spcAft>
              <a:buClr>
                <a:srgbClr val="10223D"/>
              </a:buClr>
              <a:buSzPts val="3803"/>
              <a:buFont typeface="Arial"/>
              <a:buChar char="•"/>
            </a:pPr>
            <a:r>
              <a:rPr b="0" i="0" lang="en-US" sz="3803" u="none" cap="none" strike="noStrike">
                <a:solidFill>
                  <a:srgbClr val="10223D"/>
                </a:solidFill>
                <a:latin typeface="Arial"/>
                <a:ea typeface="Arial"/>
                <a:cs typeface="Arial"/>
                <a:sym typeface="Arial"/>
              </a:rPr>
              <a:t>Se recomienda nombrarlas de las siguiente manera: release/#Numero_version</a:t>
            </a:r>
            <a:endParaRPr/>
          </a:p>
          <a:p>
            <a:pPr indent="0" lvl="0" marL="0" marR="0" rtl="0" algn="l">
              <a:lnSpc>
                <a:spcPct val="140021"/>
              </a:lnSpc>
              <a:spcBef>
                <a:spcPts val="0"/>
              </a:spcBef>
              <a:spcAft>
                <a:spcPts val="0"/>
              </a:spcAft>
              <a:buNone/>
            </a:pPr>
            <a:r>
              <a:t/>
            </a:r>
            <a:endParaRPr b="0" i="0" sz="3803" u="none" cap="none" strike="noStrike">
              <a:solidFill>
                <a:srgbClr val="10223D"/>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233" name="Shape 233"/>
        <p:cNvGrpSpPr/>
        <p:nvPr/>
      </p:nvGrpSpPr>
      <p:grpSpPr>
        <a:xfrm>
          <a:off x="0" y="0"/>
          <a:ext cx="0" cy="0"/>
          <a:chOff x="0" y="0"/>
          <a:chExt cx="0" cy="0"/>
        </a:xfrm>
      </p:grpSpPr>
      <p:sp>
        <p:nvSpPr>
          <p:cNvPr id="234" name="Google Shape;234;p13"/>
          <p:cNvSpPr/>
          <p:nvPr/>
        </p:nvSpPr>
        <p:spPr>
          <a:xfrm flipH="1" rot="-5400000">
            <a:off x="15973425" y="6287157"/>
            <a:ext cx="5143500" cy="2571750"/>
          </a:xfrm>
          <a:custGeom>
            <a:rect b="b" l="l" r="r" t="t"/>
            <a:pathLst>
              <a:path extrusionOk="0" h="2571750" w="5143500">
                <a:moveTo>
                  <a:pt x="0" y="2571750"/>
                </a:moveTo>
                <a:lnTo>
                  <a:pt x="5143500" y="2571750"/>
                </a:lnTo>
                <a:lnTo>
                  <a:pt x="5143500" y="0"/>
                </a:lnTo>
                <a:lnTo>
                  <a:pt x="0" y="0"/>
                </a:lnTo>
                <a:lnTo>
                  <a:pt x="0" y="2571750"/>
                </a:lnTo>
                <a:close/>
              </a:path>
            </a:pathLst>
          </a:custGeom>
          <a:blipFill rotWithShape="1">
            <a:blip r:embed="rId3">
              <a:alphaModFix/>
            </a:blip>
            <a:stretch>
              <a:fillRect b="0" l="0" r="0" t="0"/>
            </a:stretch>
          </a:blipFill>
          <a:ln>
            <a:noFill/>
          </a:ln>
        </p:spPr>
      </p:sp>
      <p:sp>
        <p:nvSpPr>
          <p:cNvPr id="235" name="Google Shape;235;p13"/>
          <p:cNvSpPr/>
          <p:nvPr/>
        </p:nvSpPr>
        <p:spPr>
          <a:xfrm rot="-5400000">
            <a:off x="17259300" y="4991757"/>
            <a:ext cx="2571750" cy="2571750"/>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236" name="Google Shape;236;p13"/>
          <p:cNvSpPr/>
          <p:nvPr/>
        </p:nvSpPr>
        <p:spPr>
          <a:xfrm>
            <a:off x="14687550" y="-142218"/>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5">
              <a:alphaModFix/>
            </a:blip>
            <a:stretch>
              <a:fillRect b="0" l="0" r="0" t="0"/>
            </a:stretch>
          </a:blipFill>
          <a:ln>
            <a:noFill/>
          </a:ln>
        </p:spPr>
      </p:sp>
      <p:sp>
        <p:nvSpPr>
          <p:cNvPr id="237" name="Google Shape;237;p13"/>
          <p:cNvSpPr/>
          <p:nvPr/>
        </p:nvSpPr>
        <p:spPr>
          <a:xfrm rot="10800000">
            <a:off x="14687550" y="2429532"/>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6">
              <a:alphaModFix/>
            </a:blip>
            <a:stretch>
              <a:fillRect b="0" l="0" r="0" t="0"/>
            </a:stretch>
          </a:blipFill>
          <a:ln>
            <a:noFill/>
          </a:ln>
        </p:spPr>
      </p:sp>
      <p:sp>
        <p:nvSpPr>
          <p:cNvPr id="238" name="Google Shape;238;p13"/>
          <p:cNvSpPr/>
          <p:nvPr/>
        </p:nvSpPr>
        <p:spPr>
          <a:xfrm rot="5400000">
            <a:off x="13401675" y="6287157"/>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3">
              <a:alphaModFix/>
            </a:blip>
            <a:stretch>
              <a:fillRect b="0" l="0" r="0" t="0"/>
            </a:stretch>
          </a:blipFill>
          <a:ln>
            <a:noFill/>
          </a:ln>
        </p:spPr>
      </p:sp>
      <p:sp>
        <p:nvSpPr>
          <p:cNvPr id="239" name="Google Shape;239;p13"/>
          <p:cNvSpPr/>
          <p:nvPr/>
        </p:nvSpPr>
        <p:spPr>
          <a:xfrm>
            <a:off x="15501162" y="-142218"/>
            <a:ext cx="3516277" cy="1758138"/>
          </a:xfrm>
          <a:custGeom>
            <a:rect b="b" l="l" r="r" t="t"/>
            <a:pathLst>
              <a:path extrusionOk="0" h="1758138" w="3516277">
                <a:moveTo>
                  <a:pt x="0" y="0"/>
                </a:moveTo>
                <a:lnTo>
                  <a:pt x="3516276" y="0"/>
                </a:lnTo>
                <a:lnTo>
                  <a:pt x="3516276" y="1758139"/>
                </a:lnTo>
                <a:lnTo>
                  <a:pt x="0" y="1758139"/>
                </a:lnTo>
                <a:lnTo>
                  <a:pt x="0" y="0"/>
                </a:lnTo>
                <a:close/>
              </a:path>
            </a:pathLst>
          </a:custGeom>
          <a:blipFill rotWithShape="1">
            <a:blip r:embed="rId3">
              <a:alphaModFix/>
            </a:blip>
            <a:stretch>
              <a:fillRect b="0" l="0" r="0" t="0"/>
            </a:stretch>
          </a:blipFill>
          <a:ln>
            <a:noFill/>
          </a:ln>
        </p:spPr>
      </p:sp>
      <p:sp>
        <p:nvSpPr>
          <p:cNvPr id="240" name="Google Shape;240;p13"/>
          <p:cNvSpPr/>
          <p:nvPr/>
        </p:nvSpPr>
        <p:spPr>
          <a:xfrm>
            <a:off x="16529862" y="0"/>
            <a:ext cx="1758138" cy="879069"/>
          </a:xfrm>
          <a:custGeom>
            <a:rect b="b" l="l" r="r" t="t"/>
            <a:pathLst>
              <a:path extrusionOk="0" h="879069" w="1758138">
                <a:moveTo>
                  <a:pt x="0" y="0"/>
                </a:moveTo>
                <a:lnTo>
                  <a:pt x="1758138" y="0"/>
                </a:lnTo>
                <a:lnTo>
                  <a:pt x="1758138" y="879069"/>
                </a:lnTo>
                <a:lnTo>
                  <a:pt x="0" y="879069"/>
                </a:lnTo>
                <a:lnTo>
                  <a:pt x="0" y="0"/>
                </a:lnTo>
                <a:close/>
              </a:path>
            </a:pathLst>
          </a:custGeom>
          <a:blipFill rotWithShape="1">
            <a:blip r:embed="rId7">
              <a:alphaModFix/>
            </a:blip>
            <a:stretch>
              <a:fillRect b="0" l="0" r="0" t="0"/>
            </a:stretch>
          </a:blipFill>
          <a:ln>
            <a:noFill/>
          </a:ln>
        </p:spPr>
      </p:sp>
      <p:sp>
        <p:nvSpPr>
          <p:cNvPr id="241" name="Google Shape;241;p13"/>
          <p:cNvSpPr txBox="1"/>
          <p:nvPr/>
        </p:nvSpPr>
        <p:spPr>
          <a:xfrm>
            <a:off x="5543127" y="159700"/>
            <a:ext cx="51435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D6533C"/>
                </a:solidFill>
                <a:latin typeface="Open Sans"/>
                <a:ea typeface="Open Sans"/>
                <a:cs typeface="Open Sans"/>
                <a:sym typeface="Open Sans"/>
              </a:rPr>
              <a:t>HOTFIX</a:t>
            </a:r>
            <a:endParaRPr/>
          </a:p>
        </p:txBody>
      </p:sp>
      <p:sp>
        <p:nvSpPr>
          <p:cNvPr id="242" name="Google Shape;242;p13"/>
          <p:cNvSpPr txBox="1"/>
          <p:nvPr/>
        </p:nvSpPr>
        <p:spPr>
          <a:xfrm>
            <a:off x="1028700" y="2804548"/>
            <a:ext cx="13066200" cy="7962300"/>
          </a:xfrm>
          <a:prstGeom prst="rect">
            <a:avLst/>
          </a:prstGeom>
          <a:noFill/>
          <a:ln>
            <a:noFill/>
          </a:ln>
        </p:spPr>
        <p:txBody>
          <a:bodyPr anchorCtr="0" anchor="t" bIns="0" lIns="0" spcFirstLastPara="1" rIns="0" wrap="square" tIns="0">
            <a:spAutoFit/>
          </a:bodyPr>
          <a:lstStyle/>
          <a:p>
            <a:pPr indent="-410623" lvl="1" marL="821246" marR="0" rtl="0" algn="l">
              <a:lnSpc>
                <a:spcPct val="140021"/>
              </a:lnSpc>
              <a:spcBef>
                <a:spcPts val="0"/>
              </a:spcBef>
              <a:spcAft>
                <a:spcPts val="0"/>
              </a:spcAft>
              <a:buClr>
                <a:srgbClr val="10223D"/>
              </a:buClr>
              <a:buSzPts val="3803"/>
              <a:buFont typeface="Arial"/>
              <a:buChar char="•"/>
            </a:pPr>
            <a:r>
              <a:rPr b="0" i="0" lang="en-US" sz="3803" u="none" cap="none" strike="noStrike">
                <a:solidFill>
                  <a:srgbClr val="10223D"/>
                </a:solidFill>
                <a:latin typeface="Arial"/>
                <a:ea typeface="Arial"/>
                <a:cs typeface="Arial"/>
                <a:sym typeface="Arial"/>
              </a:rPr>
              <a:t>Se utiliza para abordar y corregir problemas críticos en la producción de forma rápida y eficiente.</a:t>
            </a:r>
            <a:endParaRPr/>
          </a:p>
          <a:p>
            <a:pPr indent="0" lvl="0" marL="0" marR="0" rtl="0" algn="l">
              <a:lnSpc>
                <a:spcPct val="140021"/>
              </a:lnSpc>
              <a:spcBef>
                <a:spcPts val="0"/>
              </a:spcBef>
              <a:spcAft>
                <a:spcPts val="0"/>
              </a:spcAft>
              <a:buNone/>
            </a:pPr>
            <a:r>
              <a:t/>
            </a:r>
            <a:endParaRPr b="0" i="0" sz="3803" u="none" cap="none" strike="noStrike">
              <a:solidFill>
                <a:srgbClr val="10223D"/>
              </a:solidFill>
              <a:latin typeface="Arial"/>
              <a:ea typeface="Arial"/>
              <a:cs typeface="Arial"/>
              <a:sym typeface="Arial"/>
            </a:endParaRPr>
          </a:p>
          <a:p>
            <a:pPr indent="-410623" lvl="1" marL="821246" marR="0" rtl="0" algn="l">
              <a:lnSpc>
                <a:spcPct val="140021"/>
              </a:lnSpc>
              <a:spcBef>
                <a:spcPts val="0"/>
              </a:spcBef>
              <a:spcAft>
                <a:spcPts val="0"/>
              </a:spcAft>
              <a:buClr>
                <a:srgbClr val="10223D"/>
              </a:buClr>
              <a:buSzPts val="3803"/>
              <a:buFont typeface="Arial"/>
              <a:buChar char="•"/>
            </a:pPr>
            <a:r>
              <a:rPr b="0" i="0" lang="en-US" sz="3803" u="none" cap="none" strike="noStrike">
                <a:solidFill>
                  <a:srgbClr val="10223D"/>
                </a:solidFill>
                <a:latin typeface="Arial"/>
                <a:ea typeface="Arial"/>
                <a:cs typeface="Arial"/>
                <a:sym typeface="Arial"/>
              </a:rPr>
              <a:t>Se crea directamente desde la rama main. </a:t>
            </a:r>
            <a:endParaRPr/>
          </a:p>
          <a:p>
            <a:pPr indent="0" lvl="0" marL="0" marR="0" rtl="0" algn="l">
              <a:lnSpc>
                <a:spcPct val="140021"/>
              </a:lnSpc>
              <a:spcBef>
                <a:spcPts val="0"/>
              </a:spcBef>
              <a:spcAft>
                <a:spcPts val="0"/>
              </a:spcAft>
              <a:buNone/>
            </a:pPr>
            <a:r>
              <a:t/>
            </a:r>
            <a:endParaRPr b="0" i="0" sz="3803" u="none" cap="none" strike="noStrike">
              <a:solidFill>
                <a:srgbClr val="10223D"/>
              </a:solidFill>
              <a:latin typeface="Arial"/>
              <a:ea typeface="Arial"/>
              <a:cs typeface="Arial"/>
              <a:sym typeface="Arial"/>
            </a:endParaRPr>
          </a:p>
          <a:p>
            <a:pPr indent="-410623" lvl="1" marL="821246" marR="0" rtl="0" algn="l">
              <a:lnSpc>
                <a:spcPct val="140021"/>
              </a:lnSpc>
              <a:spcBef>
                <a:spcPts val="0"/>
              </a:spcBef>
              <a:spcAft>
                <a:spcPts val="0"/>
              </a:spcAft>
              <a:buClr>
                <a:srgbClr val="10223D"/>
              </a:buClr>
              <a:buSzPts val="3803"/>
              <a:buFont typeface="Arial"/>
              <a:buChar char="•"/>
            </a:pPr>
            <a:r>
              <a:rPr b="0" i="0" lang="en-US" sz="3803" u="none" cap="none" strike="noStrike">
                <a:solidFill>
                  <a:srgbClr val="10223D"/>
                </a:solidFill>
                <a:latin typeface="Arial"/>
                <a:ea typeface="Arial"/>
                <a:cs typeface="Arial"/>
                <a:sym typeface="Arial"/>
              </a:rPr>
              <a:t>Una vez que la corrección se ha implementado se debe fusionar en main y develop y a su vez se debe crear una etiqueta de versión específica.</a:t>
            </a:r>
            <a:endParaRPr/>
          </a:p>
          <a:p>
            <a:pPr indent="0" lvl="0" marL="0" marR="0" rtl="0" algn="l">
              <a:lnSpc>
                <a:spcPct val="140021"/>
              </a:lnSpc>
              <a:spcBef>
                <a:spcPts val="0"/>
              </a:spcBef>
              <a:spcAft>
                <a:spcPts val="0"/>
              </a:spcAft>
              <a:buNone/>
            </a:pPr>
            <a:r>
              <a:t/>
            </a:r>
            <a:endParaRPr b="0" i="0" sz="3803" u="none" cap="none" strike="noStrike">
              <a:solidFill>
                <a:srgbClr val="10223D"/>
              </a:solidFill>
              <a:latin typeface="Arial"/>
              <a:ea typeface="Arial"/>
              <a:cs typeface="Arial"/>
              <a:sym typeface="Arial"/>
            </a:endParaRPr>
          </a:p>
          <a:p>
            <a:pPr indent="0" lvl="0" marL="0" marR="0" rtl="0" algn="l">
              <a:lnSpc>
                <a:spcPct val="140021"/>
              </a:lnSpc>
              <a:spcBef>
                <a:spcPts val="0"/>
              </a:spcBef>
              <a:spcAft>
                <a:spcPts val="0"/>
              </a:spcAft>
              <a:buNone/>
            </a:pPr>
            <a:r>
              <a:t/>
            </a:r>
            <a:endParaRPr b="0" i="0" sz="3803" u="none" cap="none" strike="noStrike">
              <a:solidFill>
                <a:srgbClr val="10223D"/>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246" name="Shape 246"/>
        <p:cNvGrpSpPr/>
        <p:nvPr/>
      </p:nvGrpSpPr>
      <p:grpSpPr>
        <a:xfrm>
          <a:off x="0" y="0"/>
          <a:ext cx="0" cy="0"/>
          <a:chOff x="0" y="0"/>
          <a:chExt cx="0" cy="0"/>
        </a:xfrm>
      </p:grpSpPr>
      <p:sp>
        <p:nvSpPr>
          <p:cNvPr id="247" name="Google Shape;247;p14"/>
          <p:cNvSpPr/>
          <p:nvPr/>
        </p:nvSpPr>
        <p:spPr>
          <a:xfrm rot="5400000">
            <a:off x="15084455" y="4007065"/>
            <a:ext cx="4349690" cy="2174845"/>
          </a:xfrm>
          <a:custGeom>
            <a:rect b="b" l="l" r="r" t="t"/>
            <a:pathLst>
              <a:path extrusionOk="0" h="2174845" w="4349690">
                <a:moveTo>
                  <a:pt x="0" y="0"/>
                </a:moveTo>
                <a:lnTo>
                  <a:pt x="4349690" y="0"/>
                </a:lnTo>
                <a:lnTo>
                  <a:pt x="4349690" y="2174845"/>
                </a:lnTo>
                <a:lnTo>
                  <a:pt x="0" y="2174845"/>
                </a:lnTo>
                <a:lnTo>
                  <a:pt x="0" y="0"/>
                </a:lnTo>
                <a:close/>
              </a:path>
            </a:pathLst>
          </a:custGeom>
          <a:blipFill rotWithShape="1">
            <a:blip r:embed="rId3">
              <a:alphaModFix/>
            </a:blip>
            <a:stretch>
              <a:fillRect b="0" l="0" r="0" t="0"/>
            </a:stretch>
          </a:blipFill>
          <a:ln>
            <a:noFill/>
          </a:ln>
        </p:spPr>
      </p:sp>
      <p:sp>
        <p:nvSpPr>
          <p:cNvPr id="248" name="Google Shape;248;p14"/>
          <p:cNvSpPr/>
          <p:nvPr/>
        </p:nvSpPr>
        <p:spPr>
          <a:xfrm>
            <a:off x="2503557" y="329970"/>
            <a:ext cx="12513178" cy="8928330"/>
          </a:xfrm>
          <a:custGeom>
            <a:rect b="b" l="l" r="r" t="t"/>
            <a:pathLst>
              <a:path extrusionOk="0" h="8928330" w="12513178">
                <a:moveTo>
                  <a:pt x="0" y="0"/>
                </a:moveTo>
                <a:lnTo>
                  <a:pt x="12513178" y="0"/>
                </a:lnTo>
                <a:lnTo>
                  <a:pt x="12513178" y="8928330"/>
                </a:lnTo>
                <a:lnTo>
                  <a:pt x="0" y="8928330"/>
                </a:lnTo>
                <a:lnTo>
                  <a:pt x="0" y="0"/>
                </a:lnTo>
                <a:close/>
              </a:path>
            </a:pathLst>
          </a:custGeom>
          <a:blipFill rotWithShape="1">
            <a:blip r:embed="rId4">
              <a:alphaModFix/>
            </a:blip>
            <a:stretch>
              <a:fillRect b="-557" l="0" r="0" t="0"/>
            </a:stretch>
          </a:blipFill>
          <a:ln>
            <a:noFill/>
          </a:ln>
        </p:spPr>
      </p:sp>
      <p:sp>
        <p:nvSpPr>
          <p:cNvPr id="249" name="Google Shape;249;p14"/>
          <p:cNvSpPr txBox="1"/>
          <p:nvPr/>
        </p:nvSpPr>
        <p:spPr>
          <a:xfrm>
            <a:off x="1362720" y="9324562"/>
            <a:ext cx="15562561" cy="62547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sng" cap="none" strike="noStrike">
                <a:solidFill>
                  <a:srgbClr val="000000"/>
                </a:solidFill>
                <a:latin typeface="Arimo"/>
                <a:ea typeface="Arimo"/>
                <a:cs typeface="Arimo"/>
                <a:sym typeface="Arimo"/>
                <a:hlinkClick r:id="rId5">
                  <a:extLst>
                    <a:ext uri="{A12FA001-AC4F-418D-AE19-62706E023703}">
                      <ahyp:hlinkClr val="tx"/>
                    </a:ext>
                  </a:extLst>
                </a:hlinkClick>
              </a:rPr>
              <a:t>https://www.atlassian.com/es/git/tutorials/comparing-workflows/gitflow-workflow</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253" name="Shape 253"/>
        <p:cNvGrpSpPr/>
        <p:nvPr/>
      </p:nvGrpSpPr>
      <p:grpSpPr>
        <a:xfrm>
          <a:off x="0" y="0"/>
          <a:ext cx="0" cy="0"/>
          <a:chOff x="0" y="0"/>
          <a:chExt cx="0" cy="0"/>
        </a:xfrm>
      </p:grpSpPr>
      <p:sp>
        <p:nvSpPr>
          <p:cNvPr id="254" name="Google Shape;254;p15"/>
          <p:cNvSpPr txBox="1"/>
          <p:nvPr/>
        </p:nvSpPr>
        <p:spPr>
          <a:xfrm>
            <a:off x="2212826" y="4777471"/>
            <a:ext cx="13862348" cy="655858"/>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3803" u="sng" cap="none" strike="noStrike">
                <a:solidFill>
                  <a:srgbClr val="000000"/>
                </a:solidFill>
                <a:latin typeface="Open Sans"/>
                <a:ea typeface="Open Sans"/>
                <a:cs typeface="Open Sans"/>
                <a:sym typeface="Open Sans"/>
                <a:hlinkClick r:id="rId3">
                  <a:extLst>
                    <a:ext uri="{A12FA001-AC4F-418D-AE19-62706E023703}">
                      <ahyp:hlinkClr val="tx"/>
                    </a:ext>
                  </a:extLst>
                </a:hlinkClick>
              </a:rPr>
              <a:t>https://nvie.com/posts/a-successful-git-branching-model/</a:t>
            </a:r>
            <a:endParaRPr/>
          </a:p>
        </p:txBody>
      </p:sp>
      <p:sp>
        <p:nvSpPr>
          <p:cNvPr id="255" name="Google Shape;255;p15"/>
          <p:cNvSpPr txBox="1"/>
          <p:nvPr/>
        </p:nvSpPr>
        <p:spPr>
          <a:xfrm>
            <a:off x="3325663" y="2859397"/>
            <a:ext cx="11636673"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D6533C"/>
                </a:solidFill>
                <a:latin typeface="Open Sans"/>
                <a:ea typeface="Open Sans"/>
                <a:cs typeface="Open Sans"/>
                <a:sym typeface="Open Sans"/>
              </a:rPr>
              <a:t>Contenido adicional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259" name="Shape 259"/>
        <p:cNvGrpSpPr/>
        <p:nvPr/>
      </p:nvGrpSpPr>
      <p:grpSpPr>
        <a:xfrm>
          <a:off x="0" y="0"/>
          <a:ext cx="0" cy="0"/>
          <a:chOff x="0" y="0"/>
          <a:chExt cx="0" cy="0"/>
        </a:xfrm>
      </p:grpSpPr>
      <p:sp>
        <p:nvSpPr>
          <p:cNvPr id="260" name="Google Shape;260;p16"/>
          <p:cNvSpPr/>
          <p:nvPr/>
        </p:nvSpPr>
        <p:spPr>
          <a:xfrm rot="-5400000">
            <a:off x="-460948" y="-115302"/>
            <a:ext cx="5521140" cy="5094488"/>
          </a:xfrm>
          <a:custGeom>
            <a:rect b="b" l="l" r="r" t="t"/>
            <a:pathLst>
              <a:path extrusionOk="0" h="1913890" w="2074174">
                <a:moveTo>
                  <a:pt x="0" y="0"/>
                </a:moveTo>
                <a:lnTo>
                  <a:pt x="2074174" y="0"/>
                </a:lnTo>
                <a:lnTo>
                  <a:pt x="2074174" y="1913890"/>
                </a:lnTo>
                <a:lnTo>
                  <a:pt x="0" y="1913890"/>
                </a:lnTo>
                <a:close/>
              </a:path>
            </a:pathLst>
          </a:custGeom>
          <a:solidFill>
            <a:srgbClr val="10223D"/>
          </a:solidFill>
          <a:ln>
            <a:noFill/>
          </a:ln>
        </p:spPr>
      </p:sp>
      <p:sp>
        <p:nvSpPr>
          <p:cNvPr id="261" name="Google Shape;261;p16"/>
          <p:cNvSpPr/>
          <p:nvPr/>
        </p:nvSpPr>
        <p:spPr>
          <a:xfrm rot="5400000">
            <a:off x="-247622" y="49012"/>
            <a:ext cx="5094488" cy="5094488"/>
          </a:xfrm>
          <a:custGeom>
            <a:rect b="b" l="l" r="r" t="t"/>
            <a:pathLst>
              <a:path extrusionOk="0" h="5094488" w="5094488">
                <a:moveTo>
                  <a:pt x="0" y="0"/>
                </a:moveTo>
                <a:lnTo>
                  <a:pt x="5094488" y="0"/>
                </a:lnTo>
                <a:lnTo>
                  <a:pt x="5094488" y="5094488"/>
                </a:lnTo>
                <a:lnTo>
                  <a:pt x="0" y="5094488"/>
                </a:lnTo>
                <a:lnTo>
                  <a:pt x="0" y="0"/>
                </a:lnTo>
                <a:close/>
              </a:path>
            </a:pathLst>
          </a:custGeom>
          <a:blipFill rotWithShape="1">
            <a:blip r:embed="rId3">
              <a:alphaModFix/>
            </a:blip>
            <a:stretch>
              <a:fillRect b="0" l="0" r="0" t="0"/>
            </a:stretch>
          </a:blipFill>
          <a:ln>
            <a:noFill/>
          </a:ln>
        </p:spPr>
      </p:sp>
      <p:sp>
        <p:nvSpPr>
          <p:cNvPr id="262" name="Google Shape;262;p16"/>
          <p:cNvSpPr/>
          <p:nvPr/>
        </p:nvSpPr>
        <p:spPr>
          <a:xfrm rot="10800000">
            <a:off x="-247622" y="5143500"/>
            <a:ext cx="5094488" cy="5094488"/>
          </a:xfrm>
          <a:custGeom>
            <a:rect b="b" l="l" r="r" t="t"/>
            <a:pathLst>
              <a:path extrusionOk="0" h="5094488" w="5094488">
                <a:moveTo>
                  <a:pt x="0" y="0"/>
                </a:moveTo>
                <a:lnTo>
                  <a:pt x="5094488" y="0"/>
                </a:lnTo>
                <a:lnTo>
                  <a:pt x="5094488" y="5094488"/>
                </a:lnTo>
                <a:lnTo>
                  <a:pt x="0" y="5094488"/>
                </a:lnTo>
                <a:lnTo>
                  <a:pt x="0" y="0"/>
                </a:lnTo>
                <a:close/>
              </a:path>
            </a:pathLst>
          </a:custGeom>
          <a:blipFill rotWithShape="1">
            <a:blip r:embed="rId4">
              <a:alphaModFix/>
            </a:blip>
            <a:stretch>
              <a:fillRect b="0" l="0" r="0" t="0"/>
            </a:stretch>
          </a:blipFill>
          <a:ln>
            <a:noFill/>
          </a:ln>
        </p:spPr>
      </p:sp>
      <p:grpSp>
        <p:nvGrpSpPr>
          <p:cNvPr id="263" name="Google Shape;263;p16"/>
          <p:cNvGrpSpPr/>
          <p:nvPr/>
        </p:nvGrpSpPr>
        <p:grpSpPr>
          <a:xfrm>
            <a:off x="6125304" y="3171453"/>
            <a:ext cx="11133996" cy="5567852"/>
            <a:chOff x="0" y="-28575"/>
            <a:chExt cx="14845328" cy="7423802"/>
          </a:xfrm>
        </p:grpSpPr>
        <p:sp>
          <p:nvSpPr>
            <p:cNvPr id="264" name="Google Shape;264;p16"/>
            <p:cNvSpPr/>
            <p:nvPr/>
          </p:nvSpPr>
          <p:spPr>
            <a:xfrm>
              <a:off x="0" y="7375179"/>
              <a:ext cx="14845328" cy="20048"/>
            </a:xfrm>
            <a:custGeom>
              <a:rect b="b" l="l" r="r" t="t"/>
              <a:pathLst>
                <a:path extrusionOk="0" h="69850" w="51722716">
                  <a:moveTo>
                    <a:pt x="51431884" y="0"/>
                  </a:moveTo>
                  <a:lnTo>
                    <a:pt x="0" y="0"/>
                  </a:lnTo>
                  <a:lnTo>
                    <a:pt x="0" y="69850"/>
                  </a:lnTo>
                  <a:lnTo>
                    <a:pt x="51722716" y="69850"/>
                  </a:lnTo>
                  <a:lnTo>
                    <a:pt x="51722716" y="0"/>
                  </a:lnTo>
                  <a:close/>
                </a:path>
              </a:pathLst>
            </a:custGeom>
            <a:solidFill>
              <a:srgbClr val="E69451"/>
            </a:solidFill>
            <a:ln>
              <a:noFill/>
            </a:ln>
          </p:spPr>
        </p:sp>
        <p:sp>
          <p:nvSpPr>
            <p:cNvPr id="265" name="Google Shape;265;p16"/>
            <p:cNvSpPr txBox="1"/>
            <p:nvPr/>
          </p:nvSpPr>
          <p:spPr>
            <a:xfrm>
              <a:off x="0" y="-28575"/>
              <a:ext cx="14845328" cy="429233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0540" u="none" cap="none" strike="noStrike">
                  <a:solidFill>
                    <a:srgbClr val="10223D"/>
                  </a:solidFill>
                  <a:latin typeface="Arial"/>
                  <a:ea typeface="Arial"/>
                  <a:cs typeface="Arial"/>
                  <a:sym typeface="Arial"/>
                </a:rPr>
                <a:t>Versionamiento Semantico</a:t>
              </a:r>
              <a:endParaRPr/>
            </a:p>
          </p:txBody>
        </p:sp>
      </p:grpSp>
      <p:sp>
        <p:nvSpPr>
          <p:cNvPr id="266" name="Google Shape;266;p16"/>
          <p:cNvSpPr txBox="1"/>
          <p:nvPr/>
        </p:nvSpPr>
        <p:spPr>
          <a:xfrm>
            <a:off x="722738" y="4363837"/>
            <a:ext cx="345281" cy="16287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0540" u="none" cap="none" strike="noStrike">
                <a:solidFill>
                  <a:srgbClr val="10223D"/>
                </a:solidFill>
                <a:latin typeface="Arial"/>
                <a:ea typeface="Arial"/>
                <a:cs typeface="Arial"/>
                <a:sym typeface="Arial"/>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270" name="Shape 270"/>
        <p:cNvGrpSpPr/>
        <p:nvPr/>
      </p:nvGrpSpPr>
      <p:grpSpPr>
        <a:xfrm>
          <a:off x="0" y="0"/>
          <a:ext cx="0" cy="0"/>
          <a:chOff x="0" y="0"/>
          <a:chExt cx="0" cy="0"/>
        </a:xfrm>
      </p:grpSpPr>
      <p:sp>
        <p:nvSpPr>
          <p:cNvPr id="271" name="Google Shape;271;p17"/>
          <p:cNvSpPr/>
          <p:nvPr/>
        </p:nvSpPr>
        <p:spPr>
          <a:xfrm>
            <a:off x="662894" y="67267"/>
            <a:ext cx="16962212" cy="10219733"/>
          </a:xfrm>
          <a:custGeom>
            <a:rect b="b" l="l" r="r" t="t"/>
            <a:pathLst>
              <a:path extrusionOk="0" h="10219733" w="16962212">
                <a:moveTo>
                  <a:pt x="0" y="0"/>
                </a:moveTo>
                <a:lnTo>
                  <a:pt x="16962212" y="0"/>
                </a:lnTo>
                <a:lnTo>
                  <a:pt x="16962212" y="10219733"/>
                </a:lnTo>
                <a:lnTo>
                  <a:pt x="0" y="1021973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275" name="Shape 275"/>
        <p:cNvGrpSpPr/>
        <p:nvPr/>
      </p:nvGrpSpPr>
      <p:grpSpPr>
        <a:xfrm>
          <a:off x="0" y="0"/>
          <a:ext cx="0" cy="0"/>
          <a:chOff x="0" y="0"/>
          <a:chExt cx="0" cy="0"/>
        </a:xfrm>
      </p:grpSpPr>
      <p:sp>
        <p:nvSpPr>
          <p:cNvPr id="276" name="Google Shape;276;p18"/>
          <p:cNvSpPr/>
          <p:nvPr/>
        </p:nvSpPr>
        <p:spPr>
          <a:xfrm>
            <a:off x="1240441" y="270383"/>
            <a:ext cx="16230600" cy="9746235"/>
          </a:xfrm>
          <a:custGeom>
            <a:rect b="b" l="l" r="r" t="t"/>
            <a:pathLst>
              <a:path extrusionOk="0" h="9746235" w="16230600">
                <a:moveTo>
                  <a:pt x="0" y="0"/>
                </a:moveTo>
                <a:lnTo>
                  <a:pt x="16230600" y="0"/>
                </a:lnTo>
                <a:lnTo>
                  <a:pt x="16230600" y="9746234"/>
                </a:lnTo>
                <a:lnTo>
                  <a:pt x="0" y="9746234"/>
                </a:lnTo>
                <a:lnTo>
                  <a:pt x="0" y="0"/>
                </a:lnTo>
                <a:close/>
              </a:path>
            </a:pathLst>
          </a:custGeom>
          <a:blipFill rotWithShape="1">
            <a:blip r:embed="rId3">
              <a:alphaModFix/>
            </a:blip>
            <a:stretch>
              <a:fillRect b="-862" l="0" r="0" t="-1135"/>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280" name="Shape 280"/>
        <p:cNvGrpSpPr/>
        <p:nvPr/>
      </p:nvGrpSpPr>
      <p:grpSpPr>
        <a:xfrm>
          <a:off x="0" y="0"/>
          <a:ext cx="0" cy="0"/>
          <a:chOff x="0" y="0"/>
          <a:chExt cx="0" cy="0"/>
        </a:xfrm>
      </p:grpSpPr>
      <p:sp>
        <p:nvSpPr>
          <p:cNvPr id="281" name="Google Shape;281;p19"/>
          <p:cNvSpPr/>
          <p:nvPr/>
        </p:nvSpPr>
        <p:spPr>
          <a:xfrm flipH="1" rot="-5400000">
            <a:off x="15973425" y="6287157"/>
            <a:ext cx="5143500" cy="2571750"/>
          </a:xfrm>
          <a:custGeom>
            <a:rect b="b" l="l" r="r" t="t"/>
            <a:pathLst>
              <a:path extrusionOk="0" h="2571750" w="5143500">
                <a:moveTo>
                  <a:pt x="0" y="2571750"/>
                </a:moveTo>
                <a:lnTo>
                  <a:pt x="5143500" y="2571750"/>
                </a:lnTo>
                <a:lnTo>
                  <a:pt x="5143500" y="0"/>
                </a:lnTo>
                <a:lnTo>
                  <a:pt x="0" y="0"/>
                </a:lnTo>
                <a:lnTo>
                  <a:pt x="0" y="2571750"/>
                </a:lnTo>
                <a:close/>
              </a:path>
            </a:pathLst>
          </a:custGeom>
          <a:blipFill rotWithShape="1">
            <a:blip r:embed="rId3">
              <a:alphaModFix/>
            </a:blip>
            <a:stretch>
              <a:fillRect b="0" l="0" r="0" t="0"/>
            </a:stretch>
          </a:blipFill>
          <a:ln>
            <a:noFill/>
          </a:ln>
        </p:spPr>
      </p:sp>
      <p:sp>
        <p:nvSpPr>
          <p:cNvPr id="282" name="Google Shape;282;p19"/>
          <p:cNvSpPr/>
          <p:nvPr/>
        </p:nvSpPr>
        <p:spPr>
          <a:xfrm rot="-5400000">
            <a:off x="17259300" y="4991757"/>
            <a:ext cx="2571750" cy="2571750"/>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283" name="Google Shape;283;p19"/>
          <p:cNvSpPr/>
          <p:nvPr/>
        </p:nvSpPr>
        <p:spPr>
          <a:xfrm>
            <a:off x="14687550" y="-142218"/>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5">
              <a:alphaModFix/>
            </a:blip>
            <a:stretch>
              <a:fillRect b="0" l="0" r="0" t="0"/>
            </a:stretch>
          </a:blipFill>
          <a:ln>
            <a:noFill/>
          </a:ln>
        </p:spPr>
      </p:sp>
      <p:sp>
        <p:nvSpPr>
          <p:cNvPr id="284" name="Google Shape;284;p19"/>
          <p:cNvSpPr/>
          <p:nvPr/>
        </p:nvSpPr>
        <p:spPr>
          <a:xfrm rot="10800000">
            <a:off x="14687550" y="2429532"/>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6">
              <a:alphaModFix/>
            </a:blip>
            <a:stretch>
              <a:fillRect b="0" l="0" r="0" t="0"/>
            </a:stretch>
          </a:blipFill>
          <a:ln>
            <a:noFill/>
          </a:ln>
        </p:spPr>
      </p:sp>
      <p:sp>
        <p:nvSpPr>
          <p:cNvPr id="285" name="Google Shape;285;p19"/>
          <p:cNvSpPr/>
          <p:nvPr/>
        </p:nvSpPr>
        <p:spPr>
          <a:xfrm rot="5400000">
            <a:off x="14430375" y="5228454"/>
            <a:ext cx="5143500" cy="2571750"/>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3">
              <a:alphaModFix/>
            </a:blip>
            <a:stretch>
              <a:fillRect b="0" l="0" r="0" t="0"/>
            </a:stretch>
          </a:blipFill>
          <a:ln>
            <a:noFill/>
          </a:ln>
        </p:spPr>
      </p:sp>
      <p:sp>
        <p:nvSpPr>
          <p:cNvPr id="286" name="Google Shape;286;p19"/>
          <p:cNvSpPr/>
          <p:nvPr/>
        </p:nvSpPr>
        <p:spPr>
          <a:xfrm>
            <a:off x="15501162" y="-142218"/>
            <a:ext cx="3516277" cy="1758138"/>
          </a:xfrm>
          <a:custGeom>
            <a:rect b="b" l="l" r="r" t="t"/>
            <a:pathLst>
              <a:path extrusionOk="0" h="1758138" w="3516277">
                <a:moveTo>
                  <a:pt x="0" y="0"/>
                </a:moveTo>
                <a:lnTo>
                  <a:pt x="3516276" y="0"/>
                </a:lnTo>
                <a:lnTo>
                  <a:pt x="3516276" y="1758139"/>
                </a:lnTo>
                <a:lnTo>
                  <a:pt x="0" y="1758139"/>
                </a:lnTo>
                <a:lnTo>
                  <a:pt x="0" y="0"/>
                </a:lnTo>
                <a:close/>
              </a:path>
            </a:pathLst>
          </a:custGeom>
          <a:blipFill rotWithShape="1">
            <a:blip r:embed="rId3">
              <a:alphaModFix/>
            </a:blip>
            <a:stretch>
              <a:fillRect b="0" l="0" r="0" t="0"/>
            </a:stretch>
          </a:blipFill>
          <a:ln>
            <a:noFill/>
          </a:ln>
        </p:spPr>
      </p:sp>
      <p:sp>
        <p:nvSpPr>
          <p:cNvPr id="287" name="Google Shape;287;p19"/>
          <p:cNvSpPr/>
          <p:nvPr/>
        </p:nvSpPr>
        <p:spPr>
          <a:xfrm>
            <a:off x="16529862" y="0"/>
            <a:ext cx="1758138" cy="879069"/>
          </a:xfrm>
          <a:custGeom>
            <a:rect b="b" l="l" r="r" t="t"/>
            <a:pathLst>
              <a:path extrusionOk="0" h="879069" w="1758138">
                <a:moveTo>
                  <a:pt x="0" y="0"/>
                </a:moveTo>
                <a:lnTo>
                  <a:pt x="1758138" y="0"/>
                </a:lnTo>
                <a:lnTo>
                  <a:pt x="1758138" y="879069"/>
                </a:lnTo>
                <a:lnTo>
                  <a:pt x="0" y="879069"/>
                </a:lnTo>
                <a:lnTo>
                  <a:pt x="0" y="0"/>
                </a:lnTo>
                <a:close/>
              </a:path>
            </a:pathLst>
          </a:custGeom>
          <a:blipFill rotWithShape="1">
            <a:blip r:embed="rId7">
              <a:alphaModFix/>
            </a:blip>
            <a:stretch>
              <a:fillRect b="0" l="0" r="0" t="0"/>
            </a:stretch>
          </a:blipFill>
          <a:ln>
            <a:noFill/>
          </a:ln>
        </p:spPr>
      </p:sp>
      <p:sp>
        <p:nvSpPr>
          <p:cNvPr id="288" name="Google Shape;288;p19"/>
          <p:cNvSpPr txBox="1"/>
          <p:nvPr/>
        </p:nvSpPr>
        <p:spPr>
          <a:xfrm>
            <a:off x="348585" y="118661"/>
            <a:ext cx="2882801" cy="136841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D6533C"/>
                </a:solidFill>
                <a:latin typeface="Open Sans"/>
                <a:ea typeface="Open Sans"/>
                <a:cs typeface="Open Sans"/>
                <a:sym typeface="Open Sans"/>
              </a:rPr>
              <a:t>Patch</a:t>
            </a:r>
            <a:endParaRPr/>
          </a:p>
        </p:txBody>
      </p:sp>
      <p:sp>
        <p:nvSpPr>
          <p:cNvPr id="289" name="Google Shape;289;p19"/>
          <p:cNvSpPr txBox="1"/>
          <p:nvPr/>
        </p:nvSpPr>
        <p:spPr>
          <a:xfrm>
            <a:off x="1028700" y="1488194"/>
            <a:ext cx="14631400" cy="1581052"/>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0" i="0" lang="en-US" sz="3003" u="none" cap="none" strike="noStrike">
                <a:solidFill>
                  <a:srgbClr val="10223D"/>
                </a:solidFill>
                <a:latin typeface="Arial"/>
                <a:ea typeface="Arial"/>
                <a:cs typeface="Arial"/>
                <a:sym typeface="Arial"/>
              </a:rPr>
              <a:t>Incrementa cuando se realizan correcciones de errores compatibles hacia atrás. Esto incluye arreglos de bugs y mejoras menores que no añaden nuevas funcionalidades ni rompen la compatibilidad</a:t>
            </a:r>
            <a:endParaRPr/>
          </a:p>
        </p:txBody>
      </p:sp>
      <p:sp>
        <p:nvSpPr>
          <p:cNvPr id="290" name="Google Shape;290;p19"/>
          <p:cNvSpPr txBox="1"/>
          <p:nvPr/>
        </p:nvSpPr>
        <p:spPr>
          <a:xfrm>
            <a:off x="348585" y="3311816"/>
            <a:ext cx="3130022" cy="136842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D6533C"/>
                </a:solidFill>
                <a:latin typeface="Open Sans"/>
                <a:ea typeface="Open Sans"/>
                <a:cs typeface="Open Sans"/>
                <a:sym typeface="Open Sans"/>
              </a:rPr>
              <a:t>Minor</a:t>
            </a:r>
            <a:endParaRPr/>
          </a:p>
        </p:txBody>
      </p:sp>
      <p:sp>
        <p:nvSpPr>
          <p:cNvPr id="291" name="Google Shape;291;p19"/>
          <p:cNvSpPr txBox="1"/>
          <p:nvPr/>
        </p:nvSpPr>
        <p:spPr>
          <a:xfrm>
            <a:off x="1028700" y="4623091"/>
            <a:ext cx="13807369" cy="2114452"/>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0" i="0" lang="en-US" sz="3003" u="none" cap="none" strike="noStrike">
                <a:solidFill>
                  <a:srgbClr val="10223D"/>
                </a:solidFill>
                <a:latin typeface="Arial"/>
                <a:ea typeface="Arial"/>
                <a:cs typeface="Arial"/>
                <a:sym typeface="Arial"/>
              </a:rPr>
              <a:t>Incrementa cuando se añaden funcionalidades nuevas de forma compatible con versiones anteriores. Los cambios realizados no rompen la compatibilidad con versiones previas, permitiendo que los usuarios adopten las nuevas características sin modificar su código existente. </a:t>
            </a:r>
            <a:endParaRPr/>
          </a:p>
        </p:txBody>
      </p:sp>
      <p:sp>
        <p:nvSpPr>
          <p:cNvPr id="292" name="Google Shape;292;p19"/>
          <p:cNvSpPr txBox="1"/>
          <p:nvPr/>
        </p:nvSpPr>
        <p:spPr>
          <a:xfrm>
            <a:off x="370832" y="6803095"/>
            <a:ext cx="3107775" cy="136842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D6533C"/>
                </a:solidFill>
                <a:latin typeface="Open Sans"/>
                <a:ea typeface="Open Sans"/>
                <a:cs typeface="Open Sans"/>
                <a:sym typeface="Open Sans"/>
              </a:rPr>
              <a:t>Major</a:t>
            </a:r>
            <a:endParaRPr/>
          </a:p>
        </p:txBody>
      </p:sp>
      <p:sp>
        <p:nvSpPr>
          <p:cNvPr id="293" name="Google Shape;293;p19"/>
          <p:cNvSpPr txBox="1"/>
          <p:nvPr/>
        </p:nvSpPr>
        <p:spPr>
          <a:xfrm>
            <a:off x="1028700" y="8333445"/>
            <a:ext cx="14120694" cy="1581052"/>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0" i="0" lang="en-US" sz="3003" u="none" cap="none" strike="noStrike">
                <a:solidFill>
                  <a:srgbClr val="10223D"/>
                </a:solidFill>
                <a:latin typeface="Arial"/>
                <a:ea typeface="Arial"/>
                <a:cs typeface="Arial"/>
                <a:sym typeface="Arial"/>
              </a:rPr>
              <a:t>Incrementa cuando se realizan cambios incompatibles en la API. Esto significa que la nueva versión no es compatible hacia atrás y puede requerir modificaciones en el código que usa esta API</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297" name="Shape 297"/>
        <p:cNvGrpSpPr/>
        <p:nvPr/>
      </p:nvGrpSpPr>
      <p:grpSpPr>
        <a:xfrm>
          <a:off x="0" y="0"/>
          <a:ext cx="0" cy="0"/>
          <a:chOff x="0" y="0"/>
          <a:chExt cx="0" cy="0"/>
        </a:xfrm>
      </p:grpSpPr>
      <p:sp>
        <p:nvSpPr>
          <p:cNvPr id="298" name="Google Shape;298;p20"/>
          <p:cNvSpPr/>
          <p:nvPr/>
        </p:nvSpPr>
        <p:spPr>
          <a:xfrm>
            <a:off x="423871" y="1459246"/>
            <a:ext cx="17440258" cy="7368509"/>
          </a:xfrm>
          <a:custGeom>
            <a:rect b="b" l="l" r="r" t="t"/>
            <a:pathLst>
              <a:path extrusionOk="0" h="7368509" w="17440258">
                <a:moveTo>
                  <a:pt x="0" y="0"/>
                </a:moveTo>
                <a:lnTo>
                  <a:pt x="17440258" y="0"/>
                </a:lnTo>
                <a:lnTo>
                  <a:pt x="17440258" y="7368508"/>
                </a:lnTo>
                <a:lnTo>
                  <a:pt x="0" y="736850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302" name="Shape 302"/>
        <p:cNvGrpSpPr/>
        <p:nvPr/>
      </p:nvGrpSpPr>
      <p:grpSpPr>
        <a:xfrm>
          <a:off x="0" y="0"/>
          <a:ext cx="0" cy="0"/>
          <a:chOff x="0" y="0"/>
          <a:chExt cx="0" cy="0"/>
        </a:xfrm>
      </p:grpSpPr>
      <p:sp>
        <p:nvSpPr>
          <p:cNvPr id="303" name="Google Shape;303;p21"/>
          <p:cNvSpPr/>
          <p:nvPr/>
        </p:nvSpPr>
        <p:spPr>
          <a:xfrm>
            <a:off x="1028700" y="1439477"/>
            <a:ext cx="16571494" cy="8223604"/>
          </a:xfrm>
          <a:custGeom>
            <a:rect b="b" l="l" r="r" t="t"/>
            <a:pathLst>
              <a:path extrusionOk="0" h="8223604" w="16571494">
                <a:moveTo>
                  <a:pt x="0" y="0"/>
                </a:moveTo>
                <a:lnTo>
                  <a:pt x="16571494" y="0"/>
                </a:lnTo>
                <a:lnTo>
                  <a:pt x="16571494" y="8223604"/>
                </a:lnTo>
                <a:lnTo>
                  <a:pt x="0" y="822360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307" name="Shape 307"/>
        <p:cNvGrpSpPr/>
        <p:nvPr/>
      </p:nvGrpSpPr>
      <p:grpSpPr>
        <a:xfrm>
          <a:off x="0" y="0"/>
          <a:ext cx="0" cy="0"/>
          <a:chOff x="0" y="0"/>
          <a:chExt cx="0" cy="0"/>
        </a:xfrm>
      </p:grpSpPr>
      <p:sp>
        <p:nvSpPr>
          <p:cNvPr id="308" name="Google Shape;308;p22"/>
          <p:cNvSpPr/>
          <p:nvPr/>
        </p:nvSpPr>
        <p:spPr>
          <a:xfrm>
            <a:off x="592242" y="675207"/>
            <a:ext cx="17103516" cy="8936587"/>
          </a:xfrm>
          <a:custGeom>
            <a:rect b="b" l="l" r="r" t="t"/>
            <a:pathLst>
              <a:path extrusionOk="0" h="8936587" w="17103516">
                <a:moveTo>
                  <a:pt x="0" y="0"/>
                </a:moveTo>
                <a:lnTo>
                  <a:pt x="17103516" y="0"/>
                </a:lnTo>
                <a:lnTo>
                  <a:pt x="17103516" y="8936586"/>
                </a:lnTo>
                <a:lnTo>
                  <a:pt x="0" y="893658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312" name="Shape 312"/>
        <p:cNvGrpSpPr/>
        <p:nvPr/>
      </p:nvGrpSpPr>
      <p:grpSpPr>
        <a:xfrm>
          <a:off x="0" y="0"/>
          <a:ext cx="0" cy="0"/>
          <a:chOff x="0" y="0"/>
          <a:chExt cx="0" cy="0"/>
        </a:xfrm>
      </p:grpSpPr>
      <p:sp>
        <p:nvSpPr>
          <p:cNvPr id="313" name="Google Shape;313;p23"/>
          <p:cNvSpPr/>
          <p:nvPr/>
        </p:nvSpPr>
        <p:spPr>
          <a:xfrm>
            <a:off x="263247" y="1028700"/>
            <a:ext cx="17650617" cy="8229600"/>
          </a:xfrm>
          <a:custGeom>
            <a:rect b="b" l="l" r="r" t="t"/>
            <a:pathLst>
              <a:path extrusionOk="0" h="8229600" w="17650617">
                <a:moveTo>
                  <a:pt x="0" y="0"/>
                </a:moveTo>
                <a:lnTo>
                  <a:pt x="17650616" y="0"/>
                </a:lnTo>
                <a:lnTo>
                  <a:pt x="17650616" y="8229600"/>
                </a:lnTo>
                <a:lnTo>
                  <a:pt x="0" y="82296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4"/>
          <p:cNvSpPr txBox="1"/>
          <p:nvPr/>
        </p:nvSpPr>
        <p:spPr>
          <a:xfrm>
            <a:off x="2392343" y="444071"/>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
        <p:nvSpPr>
          <p:cNvPr id="319" name="Google Shape;319;p24"/>
          <p:cNvSpPr txBox="1"/>
          <p:nvPr/>
        </p:nvSpPr>
        <p:spPr>
          <a:xfrm>
            <a:off x="1301685" y="2707489"/>
            <a:ext cx="15684630" cy="6063574"/>
          </a:xfrm>
          <a:prstGeom prst="rect">
            <a:avLst/>
          </a:prstGeom>
          <a:noFill/>
          <a:ln>
            <a:noFill/>
          </a:ln>
        </p:spPr>
        <p:txBody>
          <a:bodyPr anchorCtr="0" anchor="t" bIns="0" lIns="0" spcFirstLastPara="1" rIns="0" wrap="square" tIns="0">
            <a:spAutoFit/>
          </a:bodyPr>
          <a:lstStyle/>
          <a:p>
            <a:pPr indent="-340217" lvl="1" marL="680435" marR="0" rtl="0" algn="l">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GitFlow: </a:t>
            </a:r>
            <a:r>
              <a:rPr b="0" i="0" lang="en-US" sz="3151" u="none" cap="none" strike="noStrike">
                <a:solidFill>
                  <a:srgbClr val="131416"/>
                </a:solidFill>
                <a:latin typeface="Arial"/>
                <a:ea typeface="Arial"/>
                <a:cs typeface="Arial"/>
                <a:sym typeface="Arial"/>
              </a:rPr>
              <a:t>como modelo de trabajo basado en la creacion de ramas en los repositorios, ayudan a llevar un orden entre versiones de software para evitar trabajar sobre codigo en produccion.</a:t>
            </a:r>
            <a:endParaRPr/>
          </a:p>
          <a:p>
            <a:pPr indent="-340217" lvl="1" marL="680435" marR="0" rtl="0" algn="l">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Versionamiento  Semantico</a:t>
            </a:r>
            <a:r>
              <a:rPr b="0" i="0" lang="en-US" sz="3151" u="none" cap="none" strike="noStrike">
                <a:solidFill>
                  <a:srgbClr val="131416"/>
                </a:solidFill>
                <a:latin typeface="Arial"/>
                <a:ea typeface="Arial"/>
                <a:cs typeface="Arial"/>
                <a:sym typeface="Arial"/>
              </a:rPr>
              <a:t>: importante para poder saber que tipo de version de software estamos usando, si es la mas actual, se corrigio algun error o es una version compatible.</a:t>
            </a:r>
            <a:endParaRPr/>
          </a:p>
          <a:p>
            <a:pPr indent="-340217" lvl="1" marL="680435" marR="0" rtl="0" algn="l">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Ramas: </a:t>
            </a:r>
            <a:r>
              <a:rPr b="0" i="0" lang="en-US" sz="3151" u="none" cap="none" strike="noStrike">
                <a:solidFill>
                  <a:srgbClr val="131416"/>
                </a:solidFill>
                <a:latin typeface="Arial"/>
                <a:ea typeface="Arial"/>
                <a:cs typeface="Arial"/>
                <a:sym typeface="Arial"/>
              </a:rPr>
              <a:t>Se trabaja siempre sobre una base de ramas predefinidas, no obligatorias pero que ayudan a tener un orden, la main lleva solo codigo en produccon, develop sirve para trabajar todo el codigo antes del lanzamiento, hotfix corrige errores en produccion, realease permite lanzar una version funcional de la aplicacion.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5"/>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TOLERANCIA</a:t>
            </a:r>
            <a:endParaRPr/>
          </a:p>
        </p:txBody>
      </p:sp>
      <p:sp>
        <p:nvSpPr>
          <p:cNvPr id="325" name="Google Shape;325;p25"/>
          <p:cNvSpPr txBox="1"/>
          <p:nvPr/>
        </p:nvSpPr>
        <p:spPr>
          <a:xfrm>
            <a:off x="1028700" y="2318197"/>
            <a:ext cx="16456927" cy="716847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"En un equipo de desarrollo, cada persona trabaja en diferentes ramas: unos en 'feature', otros corrigiendo errores en 'hotfix', y algunos preparando la entrega en 'release'. A veces, los estilos de programación, los tiempos de entrega o incluso la forma de resolver un problema pueden variar mucho.</a:t>
            </a:r>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Usar Gitflow implica colaborar en un entorno donde hay múltiples enfoques, y no siempre estarás de acuerdo con cómo otros hacen su trabajo. La tolerancia se vuelve clave: debes aprender a aceptar distintas formas de programar, ser paciente durante revisiones de código y respetar los tiempos y decisiones de los demás, aunque no coincidan con los tuyos.</a:t>
            </a:r>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Gitflow es más que una estrategia técnica, es una manera estructurada de trabajar en equipo con tolerancia, sin que el caos o el juicio personal afecten el proyecto."</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6"/>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331" name="Google Shape;331;p26"/>
          <p:cNvSpPr txBox="1"/>
          <p:nvPr/>
        </p:nvSpPr>
        <p:spPr>
          <a:xfrm>
            <a:off x="2232668" y="2405724"/>
            <a:ext cx="14189895" cy="3626607"/>
          </a:xfrm>
          <a:prstGeom prst="rect">
            <a:avLst/>
          </a:prstGeom>
          <a:noFill/>
          <a:ln>
            <a:noFill/>
          </a:ln>
        </p:spPr>
        <p:txBody>
          <a:bodyPr anchorCtr="0" anchor="t" bIns="0" lIns="0" spcFirstLastPara="1" rIns="0" wrap="square" tIns="0">
            <a:spAutoFit/>
          </a:bodyPr>
          <a:lstStyle/>
          <a:p>
            <a:pPr indent="-374606" lvl="1" marL="749212" marR="0" rtl="0" algn="l">
              <a:lnSpc>
                <a:spcPct val="140000"/>
              </a:lnSpc>
              <a:spcBef>
                <a:spcPts val="0"/>
              </a:spcBef>
              <a:spcAft>
                <a:spcPts val="0"/>
              </a:spcAft>
              <a:buClr>
                <a:srgbClr val="131416"/>
              </a:buClr>
              <a:buSzPts val="3470"/>
              <a:buFont typeface="Arial"/>
              <a:buChar char="•"/>
            </a:pPr>
            <a:r>
              <a:rPr b="0" i="0" lang="en-US" sz="3470" u="none" cap="none" strike="noStrike">
                <a:solidFill>
                  <a:srgbClr val="131416"/>
                </a:solidFill>
                <a:latin typeface="Arial"/>
                <a:ea typeface="Arial"/>
                <a:cs typeface="Arial"/>
                <a:sym typeface="Arial"/>
              </a:rPr>
              <a:t>https://nvie.com/posts/a-successful-git-branching-model/</a:t>
            </a:r>
            <a:endParaRPr/>
          </a:p>
          <a:p>
            <a:pPr indent="-374606" lvl="1" marL="749212" marR="0" rtl="0" algn="l">
              <a:lnSpc>
                <a:spcPct val="140000"/>
              </a:lnSpc>
              <a:spcBef>
                <a:spcPts val="0"/>
              </a:spcBef>
              <a:spcAft>
                <a:spcPts val="0"/>
              </a:spcAft>
              <a:buClr>
                <a:srgbClr val="131416"/>
              </a:buClr>
              <a:buSzPts val="3470"/>
              <a:buFont typeface="Arial"/>
              <a:buChar char="•"/>
            </a:pPr>
            <a:r>
              <a:rPr b="0" i="0" lang="en-US" sz="3470" u="none" cap="none" strike="noStrike">
                <a:solidFill>
                  <a:srgbClr val="131416"/>
                </a:solidFill>
                <a:latin typeface="Arial"/>
                <a:ea typeface="Arial"/>
                <a:cs typeface="Arial"/>
                <a:sym typeface="Arial"/>
              </a:rPr>
              <a:t>https://dev.to/imgildev/semver-que-es-y-por-que-es-importante-para-el-desarrollo-de-software-4ic1</a:t>
            </a:r>
            <a:endParaRPr/>
          </a:p>
          <a:p>
            <a:pPr indent="-374606" lvl="1" marL="749212" marR="0" rtl="0" algn="l">
              <a:lnSpc>
                <a:spcPct val="140000"/>
              </a:lnSpc>
              <a:spcBef>
                <a:spcPts val="0"/>
              </a:spcBef>
              <a:spcAft>
                <a:spcPts val="0"/>
              </a:spcAft>
              <a:buClr>
                <a:srgbClr val="131416"/>
              </a:buClr>
              <a:buSzPts val="3470"/>
              <a:buFont typeface="Arial"/>
              <a:buChar char="•"/>
            </a:pPr>
            <a:r>
              <a:rPr b="0" i="0" lang="en-US" sz="3470" u="none" cap="none" strike="noStrike">
                <a:solidFill>
                  <a:srgbClr val="131416"/>
                </a:solidFill>
                <a:latin typeface="Arial"/>
                <a:ea typeface="Arial"/>
                <a:cs typeface="Arial"/>
                <a:sym typeface="Arial"/>
              </a:rPr>
              <a:t>https://nvie.com/posts/a-successful-git-branching-model/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7"/>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337" name="Google Shape;337;p27"/>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338" name="Google Shape;338;p27"/>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39" name="Google Shape;339;p27"/>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