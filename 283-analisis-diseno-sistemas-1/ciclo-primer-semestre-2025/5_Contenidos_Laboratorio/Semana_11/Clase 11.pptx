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10287000" cx="18288000"/>
  <p:notesSz cx="6858000" cy="9144000"/>
  <p:embeddedFontLst>
    <p:embeddedFont>
      <p:font typeface="Poppins"/>
      <p:regular r:id="rId23"/>
      <p:bold r:id="rId24"/>
      <p:italic r:id="rId25"/>
      <p:boldItalic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g6GdTH4ddQL3P5Ogf9T44Lp0Z5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cedc1fc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5cedc1fc4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7.png"/><Relationship Id="rId6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8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296111" y="204877"/>
            <a:ext cx="17695777" cy="9732585"/>
            <a:chOff x="0" y="-38100"/>
            <a:chExt cx="4660616" cy="2563315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4660616" cy="2525215"/>
            </a:xfrm>
            <a:custGeom>
              <a:rect b="b" l="l" r="r" t="t"/>
              <a:pathLst>
                <a:path extrusionOk="0" h="2525215" w="4660616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 txBox="1"/>
          <p:nvPr/>
        </p:nvSpPr>
        <p:spPr>
          <a:xfrm>
            <a:off x="3054412" y="2317750"/>
            <a:ext cx="12179177" cy="5356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Integración  de DevOps, Scrumban y GitLab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8496029" y="9002119"/>
            <a:ext cx="1274721" cy="451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7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g35cedc1fc46_0_0"/>
          <p:cNvGrpSpPr/>
          <p:nvPr/>
        </p:nvGrpSpPr>
        <p:grpSpPr>
          <a:xfrm>
            <a:off x="3891875" y="2457248"/>
            <a:ext cx="10607020" cy="5336235"/>
            <a:chOff x="0" y="-47625"/>
            <a:chExt cx="2793600" cy="1027800"/>
          </a:xfrm>
        </p:grpSpPr>
        <p:sp>
          <p:nvSpPr>
            <p:cNvPr id="94" name="Google Shape;94;g35cedc1fc46_0_0"/>
            <p:cNvSpPr/>
            <p:nvPr/>
          </p:nvSpPr>
          <p:spPr>
            <a:xfrm>
              <a:off x="0" y="0"/>
              <a:ext cx="2793543" cy="980111"/>
            </a:xfrm>
            <a:custGeom>
              <a:rect b="b" l="l" r="r" t="t"/>
              <a:pathLst>
                <a:path extrusionOk="0" h="980111" w="2793543">
                  <a:moveTo>
                    <a:pt x="0" y="0"/>
                  </a:moveTo>
                  <a:lnTo>
                    <a:pt x="2793543" y="0"/>
                  </a:lnTo>
                  <a:lnTo>
                    <a:pt x="2793543" y="980111"/>
                  </a:lnTo>
                  <a:lnTo>
                    <a:pt x="0" y="980111"/>
                  </a:lnTo>
                  <a:close/>
                </a:path>
              </a:pathLst>
            </a:custGeom>
            <a:solidFill>
              <a:srgbClr val="224E7F"/>
            </a:solidFill>
            <a:ln>
              <a:noFill/>
            </a:ln>
          </p:spPr>
        </p:sp>
        <p:sp>
          <p:nvSpPr>
            <p:cNvPr id="95" name="Google Shape;95;g35cedc1fc46_0_0"/>
            <p:cNvSpPr txBox="1"/>
            <p:nvPr/>
          </p:nvSpPr>
          <p:spPr>
            <a:xfrm>
              <a:off x="0" y="-47625"/>
              <a:ext cx="2793600" cy="102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g35cedc1fc46_0_0"/>
          <p:cNvSpPr txBox="1"/>
          <p:nvPr/>
        </p:nvSpPr>
        <p:spPr>
          <a:xfrm>
            <a:off x="4795283" y="4014006"/>
            <a:ext cx="8800200" cy="22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69900" lvl="0" marL="4572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Char char="●"/>
            </a:pPr>
            <a:r>
              <a:rPr lang="en-US" sz="3800">
                <a:solidFill>
                  <a:srgbClr val="FFFFFF"/>
                </a:solidFill>
              </a:rPr>
              <a:t>Examen Final Próxima Clase</a:t>
            </a:r>
            <a:endParaRPr sz="3800">
              <a:solidFill>
                <a:srgbClr val="FFFFFF"/>
              </a:solidFill>
            </a:endParaRPr>
          </a:p>
          <a:p>
            <a:pPr indent="-469900" lvl="0" marL="4572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Char char="●"/>
            </a:pPr>
            <a:r>
              <a:rPr lang="en-US" sz="3800">
                <a:solidFill>
                  <a:srgbClr val="FFFFFF"/>
                </a:solidFill>
              </a:rPr>
              <a:t>Descanso 20 de octubre </a:t>
            </a:r>
            <a:endParaRPr sz="3800">
              <a:solidFill>
                <a:srgbClr val="FFFFFF"/>
              </a:solidFill>
            </a:endParaRPr>
          </a:p>
          <a:p>
            <a:pPr indent="-469900" lvl="0" marL="4572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Char char="●"/>
            </a:pPr>
            <a:r>
              <a:rPr lang="en-US" sz="3800">
                <a:solidFill>
                  <a:srgbClr val="FFFFFF"/>
                </a:solidFill>
              </a:rPr>
              <a:t>Video: https://youtu.be/0gyTO48tRxY</a:t>
            </a:r>
            <a:endParaRPr sz="3800">
              <a:solidFill>
                <a:srgbClr val="FFFFFF"/>
              </a:solidFill>
            </a:endParaRPr>
          </a:p>
        </p:txBody>
      </p:sp>
      <p:sp>
        <p:nvSpPr>
          <p:cNvPr id="97" name="Google Shape;97;g35cedc1fc46_0_0"/>
          <p:cNvSpPr txBox="1"/>
          <p:nvPr/>
        </p:nvSpPr>
        <p:spPr>
          <a:xfrm>
            <a:off x="4416688" y="409360"/>
            <a:ext cx="9454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FFFFF"/>
                </a:solidFill>
              </a:rPr>
              <a:t>AGENDA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3891863" y="3890944"/>
            <a:ext cx="10606734" cy="3902184"/>
            <a:chOff x="0" y="-47625"/>
            <a:chExt cx="2793543" cy="1027736"/>
          </a:xfrm>
        </p:grpSpPr>
        <p:sp>
          <p:nvSpPr>
            <p:cNvPr id="103" name="Google Shape;103;p2"/>
            <p:cNvSpPr/>
            <p:nvPr/>
          </p:nvSpPr>
          <p:spPr>
            <a:xfrm>
              <a:off x="0" y="0"/>
              <a:ext cx="2793543" cy="980111"/>
            </a:xfrm>
            <a:custGeom>
              <a:rect b="b" l="l" r="r" t="t"/>
              <a:pathLst>
                <a:path extrusionOk="0" h="980111" w="2793543">
                  <a:moveTo>
                    <a:pt x="0" y="0"/>
                  </a:moveTo>
                  <a:lnTo>
                    <a:pt x="2793543" y="0"/>
                  </a:lnTo>
                  <a:lnTo>
                    <a:pt x="2793543" y="980111"/>
                  </a:lnTo>
                  <a:lnTo>
                    <a:pt x="0" y="980111"/>
                  </a:lnTo>
                  <a:close/>
                </a:path>
              </a:pathLst>
            </a:custGeom>
            <a:solidFill>
              <a:srgbClr val="224E7F"/>
            </a:solidFill>
            <a:ln>
              <a:noFill/>
            </a:ln>
          </p:spPr>
        </p:sp>
        <p:sp>
          <p:nvSpPr>
            <p:cNvPr id="104" name="Google Shape;104;p2"/>
            <p:cNvSpPr txBox="1"/>
            <p:nvPr/>
          </p:nvSpPr>
          <p:spPr>
            <a:xfrm>
              <a:off x="0" y="-47625"/>
              <a:ext cx="2793543" cy="10277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2"/>
          <p:cNvSpPr txBox="1"/>
          <p:nvPr/>
        </p:nvSpPr>
        <p:spPr>
          <a:xfrm>
            <a:off x="4743908" y="4496193"/>
            <a:ext cx="8800183" cy="263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Introducir al manejo de las herramientas de CI/CD en un Proyecto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4416688" y="409360"/>
            <a:ext cx="94545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COMPETENCIAS QUE DESARROLLAREMOS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3"/>
          <p:cNvGrpSpPr/>
          <p:nvPr/>
        </p:nvGrpSpPr>
        <p:grpSpPr>
          <a:xfrm>
            <a:off x="1028700" y="1153641"/>
            <a:ext cx="6250977" cy="2162379"/>
            <a:chOff x="0" y="-66675"/>
            <a:chExt cx="1646348" cy="569515"/>
          </a:xfrm>
        </p:grpSpPr>
        <p:sp>
          <p:nvSpPr>
            <p:cNvPr id="112" name="Google Shape;112;p3"/>
            <p:cNvSpPr/>
            <p:nvPr/>
          </p:nvSpPr>
          <p:spPr>
            <a:xfrm>
              <a:off x="0" y="0"/>
              <a:ext cx="1646348" cy="502840"/>
            </a:xfrm>
            <a:custGeom>
              <a:rect b="b" l="l" r="r" t="t"/>
              <a:pathLst>
                <a:path extrusionOk="0" h="502840" w="1646348">
                  <a:moveTo>
                    <a:pt x="49541" y="0"/>
                  </a:moveTo>
                  <a:lnTo>
                    <a:pt x="1596807" y="0"/>
                  </a:lnTo>
                  <a:cubicBezTo>
                    <a:pt x="1624168" y="0"/>
                    <a:pt x="1646348" y="22180"/>
                    <a:pt x="1646348" y="49541"/>
                  </a:cubicBezTo>
                  <a:lnTo>
                    <a:pt x="1646348" y="453300"/>
                  </a:lnTo>
                  <a:cubicBezTo>
                    <a:pt x="1646348" y="466439"/>
                    <a:pt x="1641129" y="479040"/>
                    <a:pt x="1631838" y="488330"/>
                  </a:cubicBezTo>
                  <a:cubicBezTo>
                    <a:pt x="1622547" y="497621"/>
                    <a:pt x="1609946" y="502840"/>
                    <a:pt x="1596807" y="502840"/>
                  </a:cubicBezTo>
                  <a:lnTo>
                    <a:pt x="49541" y="502840"/>
                  </a:lnTo>
                  <a:cubicBezTo>
                    <a:pt x="22180" y="502840"/>
                    <a:pt x="0" y="480660"/>
                    <a:pt x="0" y="453300"/>
                  </a:cubicBezTo>
                  <a:lnTo>
                    <a:pt x="0" y="49541"/>
                  </a:lnTo>
                  <a:cubicBezTo>
                    <a:pt x="0" y="22180"/>
                    <a:pt x="22180" y="0"/>
                    <a:pt x="49541" y="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77647"/>
                  </a:srgbClr>
                </a:gs>
                <a:gs pos="100000">
                  <a:srgbClr val="DDDDDD">
                    <a:alpha val="14509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3"/>
            <p:cNvSpPr txBox="1"/>
            <p:nvPr/>
          </p:nvSpPr>
          <p:spPr>
            <a:xfrm>
              <a:off x="0" y="-66675"/>
              <a:ext cx="1646348" cy="5695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3"/>
          <p:cNvSpPr/>
          <p:nvPr/>
        </p:nvSpPr>
        <p:spPr>
          <a:xfrm>
            <a:off x="8251475" y="1669944"/>
            <a:ext cx="1783618" cy="1382931"/>
          </a:xfrm>
          <a:custGeom>
            <a:rect b="b" l="l" r="r" t="t"/>
            <a:pathLst>
              <a:path extrusionOk="0" h="1382931" w="1783618">
                <a:moveTo>
                  <a:pt x="0" y="0"/>
                </a:moveTo>
                <a:lnTo>
                  <a:pt x="1783618" y="0"/>
                </a:lnTo>
                <a:lnTo>
                  <a:pt x="1783618" y="1382931"/>
                </a:lnTo>
                <a:lnTo>
                  <a:pt x="0" y="1382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93000"/>
            </a:blip>
            <a:stretch>
              <a:fillRect b="-44848" l="-13084" r="-14681" t="-19931"/>
            </a:stretch>
          </a:blipFill>
          <a:ln>
            <a:noFill/>
          </a:ln>
        </p:spPr>
      </p:sp>
      <p:sp>
        <p:nvSpPr>
          <p:cNvPr id="115" name="Google Shape;115;p3"/>
          <p:cNvSpPr txBox="1"/>
          <p:nvPr/>
        </p:nvSpPr>
        <p:spPr>
          <a:xfrm>
            <a:off x="4562674" y="1731075"/>
            <a:ext cx="25458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</a:t>
            </a:r>
            <a:endParaRPr/>
          </a:p>
        </p:txBody>
      </p:sp>
      <p:grpSp>
        <p:nvGrpSpPr>
          <p:cNvPr id="116" name="Google Shape;116;p3"/>
          <p:cNvGrpSpPr/>
          <p:nvPr/>
        </p:nvGrpSpPr>
        <p:grpSpPr>
          <a:xfrm>
            <a:off x="11178093" y="1153641"/>
            <a:ext cx="6250977" cy="2162379"/>
            <a:chOff x="0" y="-66675"/>
            <a:chExt cx="1646348" cy="569515"/>
          </a:xfrm>
        </p:grpSpPr>
        <p:sp>
          <p:nvSpPr>
            <p:cNvPr id="117" name="Google Shape;117;p3"/>
            <p:cNvSpPr/>
            <p:nvPr/>
          </p:nvSpPr>
          <p:spPr>
            <a:xfrm>
              <a:off x="0" y="0"/>
              <a:ext cx="1646348" cy="502840"/>
            </a:xfrm>
            <a:custGeom>
              <a:rect b="b" l="l" r="r" t="t"/>
              <a:pathLst>
                <a:path extrusionOk="0" h="502840" w="1646348">
                  <a:moveTo>
                    <a:pt x="49541" y="0"/>
                  </a:moveTo>
                  <a:lnTo>
                    <a:pt x="1596807" y="0"/>
                  </a:lnTo>
                  <a:cubicBezTo>
                    <a:pt x="1624168" y="0"/>
                    <a:pt x="1646348" y="22180"/>
                    <a:pt x="1646348" y="49541"/>
                  </a:cubicBezTo>
                  <a:lnTo>
                    <a:pt x="1646348" y="453300"/>
                  </a:lnTo>
                  <a:cubicBezTo>
                    <a:pt x="1646348" y="466439"/>
                    <a:pt x="1641129" y="479040"/>
                    <a:pt x="1631838" y="488330"/>
                  </a:cubicBezTo>
                  <a:cubicBezTo>
                    <a:pt x="1622547" y="497621"/>
                    <a:pt x="1609946" y="502840"/>
                    <a:pt x="1596807" y="502840"/>
                  </a:cubicBezTo>
                  <a:lnTo>
                    <a:pt x="49541" y="502840"/>
                  </a:lnTo>
                  <a:cubicBezTo>
                    <a:pt x="22180" y="502840"/>
                    <a:pt x="0" y="480660"/>
                    <a:pt x="0" y="453300"/>
                  </a:cubicBezTo>
                  <a:lnTo>
                    <a:pt x="0" y="49541"/>
                  </a:lnTo>
                  <a:cubicBezTo>
                    <a:pt x="0" y="22180"/>
                    <a:pt x="22180" y="0"/>
                    <a:pt x="49541" y="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77647"/>
                  </a:srgbClr>
                </a:gs>
                <a:gs pos="100000">
                  <a:srgbClr val="DDDDDD">
                    <a:alpha val="14509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3"/>
            <p:cNvSpPr txBox="1"/>
            <p:nvPr/>
          </p:nvSpPr>
          <p:spPr>
            <a:xfrm>
              <a:off x="0" y="-66675"/>
              <a:ext cx="1646348" cy="5695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" name="Google Shape;119;p3"/>
          <p:cNvSpPr txBox="1"/>
          <p:nvPr/>
        </p:nvSpPr>
        <p:spPr>
          <a:xfrm>
            <a:off x="11445325" y="1764200"/>
            <a:ext cx="23562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OPS</a:t>
            </a:r>
            <a:endParaRPr/>
          </a:p>
        </p:txBody>
      </p:sp>
      <p:cxnSp>
        <p:nvCxnSpPr>
          <p:cNvPr id="120" name="Google Shape;120;p3"/>
          <p:cNvCxnSpPr/>
          <p:nvPr/>
        </p:nvCxnSpPr>
        <p:spPr>
          <a:xfrm>
            <a:off x="7007065" y="2361409"/>
            <a:ext cx="124441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1" name="Google Shape;121;p3"/>
          <p:cNvCxnSpPr/>
          <p:nvPr/>
        </p:nvCxnSpPr>
        <p:spPr>
          <a:xfrm rot="10800000">
            <a:off x="10035093" y="2361409"/>
            <a:ext cx="1410232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122" name="Google Shape;122;p3"/>
          <p:cNvGrpSpPr/>
          <p:nvPr/>
        </p:nvGrpSpPr>
        <p:grpSpPr>
          <a:xfrm>
            <a:off x="2713311" y="5732732"/>
            <a:ext cx="12861378" cy="2858907"/>
            <a:chOff x="0" y="-66675"/>
            <a:chExt cx="3387359" cy="752963"/>
          </a:xfrm>
        </p:grpSpPr>
        <p:sp>
          <p:nvSpPr>
            <p:cNvPr id="123" name="Google Shape;123;p3"/>
            <p:cNvSpPr/>
            <p:nvPr/>
          </p:nvSpPr>
          <p:spPr>
            <a:xfrm>
              <a:off x="0" y="0"/>
              <a:ext cx="3387359" cy="686288"/>
            </a:xfrm>
            <a:custGeom>
              <a:rect b="b" l="l" r="r" t="t"/>
              <a:pathLst>
                <a:path extrusionOk="0" h="686288" w="3387359">
                  <a:moveTo>
                    <a:pt x="24078" y="0"/>
                  </a:moveTo>
                  <a:lnTo>
                    <a:pt x="3363281" y="0"/>
                  </a:lnTo>
                  <a:cubicBezTo>
                    <a:pt x="3369666" y="0"/>
                    <a:pt x="3375791" y="2537"/>
                    <a:pt x="3380306" y="7052"/>
                  </a:cubicBezTo>
                  <a:cubicBezTo>
                    <a:pt x="3384822" y="11568"/>
                    <a:pt x="3387359" y="17692"/>
                    <a:pt x="3387359" y="24078"/>
                  </a:cubicBezTo>
                  <a:lnTo>
                    <a:pt x="3387359" y="662210"/>
                  </a:lnTo>
                  <a:cubicBezTo>
                    <a:pt x="3387359" y="668596"/>
                    <a:pt x="3384822" y="674720"/>
                    <a:pt x="3380306" y="679236"/>
                  </a:cubicBezTo>
                  <a:cubicBezTo>
                    <a:pt x="3375791" y="683751"/>
                    <a:pt x="3369666" y="686288"/>
                    <a:pt x="3363281" y="686288"/>
                  </a:cubicBezTo>
                  <a:lnTo>
                    <a:pt x="24078" y="686288"/>
                  </a:lnTo>
                  <a:cubicBezTo>
                    <a:pt x="17692" y="686288"/>
                    <a:pt x="11568" y="683751"/>
                    <a:pt x="7052" y="679236"/>
                  </a:cubicBezTo>
                  <a:cubicBezTo>
                    <a:pt x="2537" y="674720"/>
                    <a:pt x="0" y="668596"/>
                    <a:pt x="0" y="662210"/>
                  </a:cubicBezTo>
                  <a:lnTo>
                    <a:pt x="0" y="24078"/>
                  </a:lnTo>
                  <a:cubicBezTo>
                    <a:pt x="0" y="17692"/>
                    <a:pt x="2537" y="11568"/>
                    <a:pt x="7052" y="7052"/>
                  </a:cubicBezTo>
                  <a:cubicBezTo>
                    <a:pt x="11568" y="2537"/>
                    <a:pt x="17692" y="0"/>
                    <a:pt x="24078" y="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77647"/>
                  </a:srgbClr>
                </a:gs>
                <a:gs pos="100000">
                  <a:srgbClr val="DDDDDD">
                    <a:alpha val="14509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3"/>
            <p:cNvSpPr txBox="1"/>
            <p:nvPr/>
          </p:nvSpPr>
          <p:spPr>
            <a:xfrm>
              <a:off x="0" y="-66675"/>
              <a:ext cx="3387359" cy="752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3"/>
          <p:cNvSpPr/>
          <p:nvPr/>
        </p:nvSpPr>
        <p:spPr>
          <a:xfrm>
            <a:off x="3138730" y="6172304"/>
            <a:ext cx="2232921" cy="2232921"/>
          </a:xfrm>
          <a:custGeom>
            <a:rect b="b" l="l" r="r" t="t"/>
            <a:pathLst>
              <a:path extrusionOk="0" h="2232921" w="2232921">
                <a:moveTo>
                  <a:pt x="0" y="0"/>
                </a:moveTo>
                <a:lnTo>
                  <a:pt x="2232922" y="0"/>
                </a:lnTo>
                <a:lnTo>
                  <a:pt x="2232922" y="2232921"/>
                </a:lnTo>
                <a:lnTo>
                  <a:pt x="0" y="22329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3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26" name="Google Shape;126;p3"/>
          <p:cNvCxnSpPr/>
          <p:nvPr/>
        </p:nvCxnSpPr>
        <p:spPr>
          <a:xfrm>
            <a:off x="9143284" y="3052875"/>
            <a:ext cx="0" cy="2795232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127" name="Google Shape;127;p3"/>
          <p:cNvGrpSpPr/>
          <p:nvPr/>
        </p:nvGrpSpPr>
        <p:grpSpPr>
          <a:xfrm>
            <a:off x="2006874" y="1254024"/>
            <a:ext cx="2147316" cy="2002274"/>
            <a:chOff x="0" y="-337542"/>
            <a:chExt cx="2863087" cy="2669697"/>
          </a:xfrm>
        </p:grpSpPr>
        <p:sp>
          <p:nvSpPr>
            <p:cNvPr id="128" name="Google Shape;128;p3"/>
            <p:cNvSpPr/>
            <p:nvPr/>
          </p:nvSpPr>
          <p:spPr>
            <a:xfrm>
              <a:off x="0" y="0"/>
              <a:ext cx="2863086" cy="2332155"/>
            </a:xfrm>
            <a:custGeom>
              <a:rect b="b" l="l" r="r" t="t"/>
              <a:pathLst>
                <a:path extrusionOk="0" h="2332155" w="2863086">
                  <a:moveTo>
                    <a:pt x="0" y="0"/>
                  </a:moveTo>
                  <a:lnTo>
                    <a:pt x="2863086" y="0"/>
                  </a:lnTo>
                  <a:lnTo>
                    <a:pt x="2863086" y="2332155"/>
                  </a:lnTo>
                  <a:lnTo>
                    <a:pt x="0" y="233215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-104388" r="-57947" t="-114569"/>
              </a:stretch>
            </a:blipFill>
            <a:ln>
              <a:noFill/>
            </a:ln>
          </p:spPr>
        </p:sp>
        <p:grpSp>
          <p:nvGrpSpPr>
            <p:cNvPr id="129" name="Google Shape;129;p3"/>
            <p:cNvGrpSpPr/>
            <p:nvPr/>
          </p:nvGrpSpPr>
          <p:grpSpPr>
            <a:xfrm>
              <a:off x="1700075" y="-337542"/>
              <a:ext cx="1163012" cy="733855"/>
              <a:chOff x="0" y="-66675"/>
              <a:chExt cx="229731" cy="144959"/>
            </a:xfrm>
          </p:grpSpPr>
          <p:sp>
            <p:nvSpPr>
              <p:cNvPr id="130" name="Google Shape;130;p3"/>
              <p:cNvSpPr/>
              <p:nvPr/>
            </p:nvSpPr>
            <p:spPr>
              <a:xfrm>
                <a:off x="0" y="0"/>
                <a:ext cx="229731" cy="78284"/>
              </a:xfrm>
              <a:custGeom>
                <a:rect b="b" l="l" r="r" t="t"/>
                <a:pathLst>
                  <a:path extrusionOk="0" h="78284" w="229731">
                    <a:moveTo>
                      <a:pt x="0" y="0"/>
                    </a:moveTo>
                    <a:lnTo>
                      <a:pt x="229731" y="0"/>
                    </a:lnTo>
                    <a:lnTo>
                      <a:pt x="229731" y="78284"/>
                    </a:lnTo>
                    <a:lnTo>
                      <a:pt x="0" y="782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1" name="Google Shape;131;p3"/>
              <p:cNvSpPr txBox="1"/>
              <p:nvPr/>
            </p:nvSpPr>
            <p:spPr>
              <a:xfrm>
                <a:off x="0" y="-66675"/>
                <a:ext cx="229731" cy="1449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5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2" name="Google Shape;132;p3"/>
          <p:cNvGrpSpPr/>
          <p:nvPr/>
        </p:nvGrpSpPr>
        <p:grpSpPr>
          <a:xfrm>
            <a:off x="14082155" y="1486851"/>
            <a:ext cx="2827846" cy="1749118"/>
            <a:chOff x="0" y="0"/>
            <a:chExt cx="3770461" cy="2332156"/>
          </a:xfrm>
        </p:grpSpPr>
        <p:sp>
          <p:nvSpPr>
            <p:cNvPr id="133" name="Google Shape;133;p3"/>
            <p:cNvSpPr/>
            <p:nvPr/>
          </p:nvSpPr>
          <p:spPr>
            <a:xfrm>
              <a:off x="0" y="0"/>
              <a:ext cx="3770461" cy="2332155"/>
            </a:xfrm>
            <a:custGeom>
              <a:rect b="b" l="l" r="r" t="t"/>
              <a:pathLst>
                <a:path extrusionOk="0" h="2332155" w="3770461">
                  <a:moveTo>
                    <a:pt x="0" y="0"/>
                  </a:moveTo>
                  <a:lnTo>
                    <a:pt x="3770461" y="0"/>
                  </a:lnTo>
                  <a:lnTo>
                    <a:pt x="3770461" y="2332155"/>
                  </a:lnTo>
                  <a:lnTo>
                    <a:pt x="0" y="233215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196806" l="-85201" r="-90326" t="0"/>
              </a:stretch>
            </a:blipFill>
            <a:ln>
              <a:noFill/>
            </a:ln>
          </p:spPr>
        </p:sp>
        <p:grpSp>
          <p:nvGrpSpPr>
            <p:cNvPr id="134" name="Google Shape;134;p3"/>
            <p:cNvGrpSpPr/>
            <p:nvPr/>
          </p:nvGrpSpPr>
          <p:grpSpPr>
            <a:xfrm>
              <a:off x="0" y="1424566"/>
              <a:ext cx="2804786" cy="907590"/>
              <a:chOff x="0" y="-66675"/>
              <a:chExt cx="621671" cy="201164"/>
            </a:xfrm>
          </p:grpSpPr>
          <p:sp>
            <p:nvSpPr>
              <p:cNvPr id="135" name="Google Shape;135;p3"/>
              <p:cNvSpPr/>
              <p:nvPr/>
            </p:nvSpPr>
            <p:spPr>
              <a:xfrm>
                <a:off x="0" y="0"/>
                <a:ext cx="621671" cy="134489"/>
              </a:xfrm>
              <a:custGeom>
                <a:rect b="b" l="l" r="r" t="t"/>
                <a:pathLst>
                  <a:path extrusionOk="0" h="134489" w="621671">
                    <a:moveTo>
                      <a:pt x="32799" y="0"/>
                    </a:moveTo>
                    <a:lnTo>
                      <a:pt x="588872" y="0"/>
                    </a:lnTo>
                    <a:cubicBezTo>
                      <a:pt x="597571" y="0"/>
                      <a:pt x="605914" y="3456"/>
                      <a:pt x="612065" y="9607"/>
                    </a:cubicBezTo>
                    <a:cubicBezTo>
                      <a:pt x="618216" y="15758"/>
                      <a:pt x="621671" y="24100"/>
                      <a:pt x="621671" y="32799"/>
                    </a:cubicBezTo>
                    <a:lnTo>
                      <a:pt x="621671" y="101690"/>
                    </a:lnTo>
                    <a:cubicBezTo>
                      <a:pt x="621671" y="119804"/>
                      <a:pt x="606986" y="134489"/>
                      <a:pt x="588872" y="134489"/>
                    </a:cubicBezTo>
                    <a:lnTo>
                      <a:pt x="32799" y="134489"/>
                    </a:lnTo>
                    <a:cubicBezTo>
                      <a:pt x="24100" y="134489"/>
                      <a:pt x="15758" y="131033"/>
                      <a:pt x="9607" y="124882"/>
                    </a:cubicBezTo>
                    <a:cubicBezTo>
                      <a:pt x="3456" y="118731"/>
                      <a:pt x="0" y="110389"/>
                      <a:pt x="0" y="101690"/>
                    </a:cubicBezTo>
                    <a:lnTo>
                      <a:pt x="0" y="32799"/>
                    </a:lnTo>
                    <a:cubicBezTo>
                      <a:pt x="0" y="14685"/>
                      <a:pt x="14685" y="0"/>
                      <a:pt x="327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3"/>
              <p:cNvSpPr txBox="1"/>
              <p:nvPr/>
            </p:nvSpPr>
            <p:spPr>
              <a:xfrm>
                <a:off x="0" y="-66675"/>
                <a:ext cx="621671" cy="2011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5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7" name="Google Shape;137;p3"/>
          <p:cNvSpPr txBox="1"/>
          <p:nvPr/>
        </p:nvSpPr>
        <p:spPr>
          <a:xfrm>
            <a:off x="1202470" y="3487697"/>
            <a:ext cx="5903438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Los devs crean funcionalidades del proyecto 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11178093" y="3467367"/>
            <a:ext cx="6246184" cy="905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Operaciones se encarga de la estabilidad e infraestructura en la nube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5534294" y="6105629"/>
            <a:ext cx="9833070" cy="238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objetivo principal es mejorar la colaboración, acortar el ciclo de desarrollo, entregar software de forma más rápida y confiable, y garantizar una mayor calidad del producto.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4"/>
          <p:cNvGrpSpPr/>
          <p:nvPr/>
        </p:nvGrpSpPr>
        <p:grpSpPr>
          <a:xfrm>
            <a:off x="943815" y="311247"/>
            <a:ext cx="6250977" cy="2162379"/>
            <a:chOff x="0" y="-66675"/>
            <a:chExt cx="1646348" cy="569515"/>
          </a:xfrm>
        </p:grpSpPr>
        <p:sp>
          <p:nvSpPr>
            <p:cNvPr id="145" name="Google Shape;145;p4"/>
            <p:cNvSpPr/>
            <p:nvPr/>
          </p:nvSpPr>
          <p:spPr>
            <a:xfrm>
              <a:off x="0" y="0"/>
              <a:ext cx="1646348" cy="502840"/>
            </a:xfrm>
            <a:custGeom>
              <a:rect b="b" l="l" r="r" t="t"/>
              <a:pathLst>
                <a:path extrusionOk="0" h="502840" w="1646348">
                  <a:moveTo>
                    <a:pt x="49541" y="0"/>
                  </a:moveTo>
                  <a:lnTo>
                    <a:pt x="1596807" y="0"/>
                  </a:lnTo>
                  <a:cubicBezTo>
                    <a:pt x="1624168" y="0"/>
                    <a:pt x="1646348" y="22180"/>
                    <a:pt x="1646348" y="49541"/>
                  </a:cubicBezTo>
                  <a:lnTo>
                    <a:pt x="1646348" y="453300"/>
                  </a:lnTo>
                  <a:cubicBezTo>
                    <a:pt x="1646348" y="466439"/>
                    <a:pt x="1641129" y="479040"/>
                    <a:pt x="1631838" y="488330"/>
                  </a:cubicBezTo>
                  <a:cubicBezTo>
                    <a:pt x="1622547" y="497621"/>
                    <a:pt x="1609946" y="502840"/>
                    <a:pt x="1596807" y="502840"/>
                  </a:cubicBezTo>
                  <a:lnTo>
                    <a:pt x="49541" y="502840"/>
                  </a:lnTo>
                  <a:cubicBezTo>
                    <a:pt x="22180" y="502840"/>
                    <a:pt x="0" y="480660"/>
                    <a:pt x="0" y="453300"/>
                  </a:cubicBezTo>
                  <a:lnTo>
                    <a:pt x="0" y="49541"/>
                  </a:lnTo>
                  <a:cubicBezTo>
                    <a:pt x="0" y="22180"/>
                    <a:pt x="22180" y="0"/>
                    <a:pt x="49541" y="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77647"/>
                  </a:srgbClr>
                </a:gs>
                <a:gs pos="100000">
                  <a:srgbClr val="DDDDDD">
                    <a:alpha val="14509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4"/>
            <p:cNvSpPr txBox="1"/>
            <p:nvPr/>
          </p:nvSpPr>
          <p:spPr>
            <a:xfrm>
              <a:off x="0" y="-66675"/>
              <a:ext cx="1646348" cy="5695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7" name="Google Shape;147;p4"/>
          <p:cNvSpPr/>
          <p:nvPr/>
        </p:nvSpPr>
        <p:spPr>
          <a:xfrm>
            <a:off x="8166590" y="827550"/>
            <a:ext cx="1783618" cy="1382931"/>
          </a:xfrm>
          <a:custGeom>
            <a:rect b="b" l="l" r="r" t="t"/>
            <a:pathLst>
              <a:path extrusionOk="0" h="1382931" w="1783618">
                <a:moveTo>
                  <a:pt x="0" y="0"/>
                </a:moveTo>
                <a:lnTo>
                  <a:pt x="1783618" y="0"/>
                </a:lnTo>
                <a:lnTo>
                  <a:pt x="1783618" y="1382931"/>
                </a:lnTo>
                <a:lnTo>
                  <a:pt x="0" y="1382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93000"/>
            </a:blip>
            <a:stretch>
              <a:fillRect b="-44848" l="-13084" r="-14681" t="-19931"/>
            </a:stretch>
          </a:blipFill>
          <a:ln>
            <a:noFill/>
          </a:ln>
        </p:spPr>
      </p:sp>
      <p:grpSp>
        <p:nvGrpSpPr>
          <p:cNvPr id="148" name="Google Shape;148;p4"/>
          <p:cNvGrpSpPr/>
          <p:nvPr/>
        </p:nvGrpSpPr>
        <p:grpSpPr>
          <a:xfrm>
            <a:off x="11093208" y="311247"/>
            <a:ext cx="6250977" cy="2162379"/>
            <a:chOff x="0" y="-66675"/>
            <a:chExt cx="1646348" cy="569515"/>
          </a:xfrm>
        </p:grpSpPr>
        <p:sp>
          <p:nvSpPr>
            <p:cNvPr id="149" name="Google Shape;149;p4"/>
            <p:cNvSpPr/>
            <p:nvPr/>
          </p:nvSpPr>
          <p:spPr>
            <a:xfrm>
              <a:off x="0" y="0"/>
              <a:ext cx="1646348" cy="502840"/>
            </a:xfrm>
            <a:custGeom>
              <a:rect b="b" l="l" r="r" t="t"/>
              <a:pathLst>
                <a:path extrusionOk="0" h="502840" w="1646348">
                  <a:moveTo>
                    <a:pt x="49541" y="0"/>
                  </a:moveTo>
                  <a:lnTo>
                    <a:pt x="1596807" y="0"/>
                  </a:lnTo>
                  <a:cubicBezTo>
                    <a:pt x="1624168" y="0"/>
                    <a:pt x="1646348" y="22180"/>
                    <a:pt x="1646348" y="49541"/>
                  </a:cubicBezTo>
                  <a:lnTo>
                    <a:pt x="1646348" y="453300"/>
                  </a:lnTo>
                  <a:cubicBezTo>
                    <a:pt x="1646348" y="466439"/>
                    <a:pt x="1641129" y="479040"/>
                    <a:pt x="1631838" y="488330"/>
                  </a:cubicBezTo>
                  <a:cubicBezTo>
                    <a:pt x="1622547" y="497621"/>
                    <a:pt x="1609946" y="502840"/>
                    <a:pt x="1596807" y="502840"/>
                  </a:cubicBezTo>
                  <a:lnTo>
                    <a:pt x="49541" y="502840"/>
                  </a:lnTo>
                  <a:cubicBezTo>
                    <a:pt x="22180" y="502840"/>
                    <a:pt x="0" y="480660"/>
                    <a:pt x="0" y="453300"/>
                  </a:cubicBezTo>
                  <a:lnTo>
                    <a:pt x="0" y="49541"/>
                  </a:lnTo>
                  <a:cubicBezTo>
                    <a:pt x="0" y="22180"/>
                    <a:pt x="22180" y="0"/>
                    <a:pt x="49541" y="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77647"/>
                  </a:srgbClr>
                </a:gs>
                <a:gs pos="100000">
                  <a:srgbClr val="DDDDDD">
                    <a:alpha val="14509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4"/>
            <p:cNvSpPr txBox="1"/>
            <p:nvPr/>
          </p:nvSpPr>
          <p:spPr>
            <a:xfrm>
              <a:off x="0" y="-66675"/>
              <a:ext cx="1646348" cy="5695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51" name="Google Shape;151;p4"/>
          <p:cNvCxnSpPr/>
          <p:nvPr/>
        </p:nvCxnSpPr>
        <p:spPr>
          <a:xfrm>
            <a:off x="7107907" y="1519015"/>
            <a:ext cx="1058683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2" name="Google Shape;152;p4"/>
          <p:cNvCxnSpPr/>
          <p:nvPr/>
        </p:nvCxnSpPr>
        <p:spPr>
          <a:xfrm rot="10800000">
            <a:off x="9950208" y="1519015"/>
            <a:ext cx="1476209" cy="5905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3" name="Google Shape;153;p4"/>
          <p:cNvCxnSpPr/>
          <p:nvPr/>
        </p:nvCxnSpPr>
        <p:spPr>
          <a:xfrm>
            <a:off x="9058399" y="2210481"/>
            <a:ext cx="0" cy="2388881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4" name="Google Shape;154;p4"/>
          <p:cNvSpPr/>
          <p:nvPr/>
        </p:nvSpPr>
        <p:spPr>
          <a:xfrm>
            <a:off x="5499076" y="4599361"/>
            <a:ext cx="7289848" cy="3835169"/>
          </a:xfrm>
          <a:custGeom>
            <a:rect b="b" l="l" r="r" t="t"/>
            <a:pathLst>
              <a:path extrusionOk="0" h="3835169" w="7289848">
                <a:moveTo>
                  <a:pt x="0" y="0"/>
                </a:moveTo>
                <a:lnTo>
                  <a:pt x="7289848" y="0"/>
                </a:lnTo>
                <a:lnTo>
                  <a:pt x="7289848" y="3835169"/>
                </a:lnTo>
                <a:lnTo>
                  <a:pt x="0" y="3835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104" l="-20323" r="-17379" t="-16985"/>
            </a:stretch>
          </a:blipFill>
          <a:ln>
            <a:noFill/>
          </a:ln>
        </p:spPr>
      </p:sp>
      <p:grpSp>
        <p:nvGrpSpPr>
          <p:cNvPr id="155" name="Google Shape;155;p4"/>
          <p:cNvGrpSpPr/>
          <p:nvPr/>
        </p:nvGrpSpPr>
        <p:grpSpPr>
          <a:xfrm>
            <a:off x="8090686" y="5497584"/>
            <a:ext cx="919359" cy="919359"/>
            <a:chOff x="0" y="0"/>
            <a:chExt cx="1225812" cy="1225812"/>
          </a:xfrm>
        </p:grpSpPr>
        <p:grpSp>
          <p:nvGrpSpPr>
            <p:cNvPr id="156" name="Google Shape;156;p4"/>
            <p:cNvGrpSpPr/>
            <p:nvPr/>
          </p:nvGrpSpPr>
          <p:grpSpPr>
            <a:xfrm>
              <a:off x="0" y="0"/>
              <a:ext cx="1225812" cy="1225812"/>
              <a:chOff x="0" y="0"/>
              <a:chExt cx="812800" cy="812800"/>
            </a:xfrm>
          </p:grpSpPr>
          <p:sp>
            <p:nvSpPr>
              <p:cNvPr id="157" name="Google Shape;157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476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4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5125" lIns="15125" spcFirstLastPara="1" rIns="15125" wrap="square" tIns="15125">
                <a:noAutofit/>
              </a:bodyPr>
              <a:lstStyle/>
              <a:p>
                <a:pPr indent="0" lvl="0" marL="0" marR="0" rtl="0" algn="ctr">
                  <a:lnSpc>
                    <a:spcPct val="175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4"/>
            <p:cNvGrpSpPr/>
            <p:nvPr/>
          </p:nvGrpSpPr>
          <p:grpSpPr>
            <a:xfrm>
              <a:off x="74477" y="74477"/>
              <a:ext cx="1076857" cy="1076857"/>
              <a:chOff x="0" y="0"/>
              <a:chExt cx="812800" cy="812800"/>
            </a:xfrm>
          </p:grpSpPr>
          <p:sp>
            <p:nvSpPr>
              <p:cNvPr id="160" name="Google Shape;160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4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5125" lIns="15125" spcFirstLastPara="1" rIns="15125" wrap="square" tIns="15125">
                <a:noAutofit/>
              </a:bodyPr>
              <a:lstStyle/>
              <a:p>
                <a:pPr indent="0" lvl="0" marL="0" marR="0" rtl="0" algn="ctr">
                  <a:lnSpc>
                    <a:spcPct val="175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2" name="Google Shape;162;p4"/>
          <p:cNvSpPr txBox="1"/>
          <p:nvPr/>
        </p:nvSpPr>
        <p:spPr>
          <a:xfrm>
            <a:off x="2057425" y="854975"/>
            <a:ext cx="3826500" cy="11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 (Continuous Integration)</a:t>
            </a:r>
            <a:endParaRPr/>
          </a:p>
        </p:txBody>
      </p:sp>
      <p:sp>
        <p:nvSpPr>
          <p:cNvPr id="163" name="Google Shape;163;p4"/>
          <p:cNvSpPr txBox="1"/>
          <p:nvPr/>
        </p:nvSpPr>
        <p:spPr>
          <a:xfrm>
            <a:off x="12532125" y="928313"/>
            <a:ext cx="38265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CD (Continuous Delivery)</a:t>
            </a:r>
            <a:endParaRPr/>
          </a:p>
        </p:txBody>
      </p:sp>
      <p:sp>
        <p:nvSpPr>
          <p:cNvPr id="164" name="Google Shape;164;p4"/>
          <p:cNvSpPr txBox="1"/>
          <p:nvPr/>
        </p:nvSpPr>
        <p:spPr>
          <a:xfrm>
            <a:off x="987257" y="2621060"/>
            <a:ext cx="6164093" cy="1362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 espera que el código en el repositorio principal sea compilado y que pasa pruebas</a:t>
            </a:r>
            <a:endParaRPr/>
          </a:p>
        </p:txBody>
      </p:sp>
      <p:sp>
        <p:nvSpPr>
          <p:cNvPr id="165" name="Google Shape;165;p4"/>
          <p:cNvSpPr txBox="1"/>
          <p:nvPr/>
        </p:nvSpPr>
        <p:spPr>
          <a:xfrm>
            <a:off x="11013116" y="2621060"/>
            <a:ext cx="6246184" cy="1362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 espera que el código llegue a producción automáticamente después de pasar todas las pruebas.</a:t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943815" y="8914765"/>
            <a:ext cx="16400371" cy="2454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CI/CD es una parte de DevOps que automatiza el flujo de trabajo desde que se escribe código hasta que llega a producción.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"/>
          <p:cNvSpPr/>
          <p:nvPr/>
        </p:nvSpPr>
        <p:spPr>
          <a:xfrm>
            <a:off x="807669" y="2372308"/>
            <a:ext cx="6575869" cy="3459546"/>
          </a:xfrm>
          <a:custGeom>
            <a:rect b="b" l="l" r="r" t="t"/>
            <a:pathLst>
              <a:path extrusionOk="0" h="3459546" w="6575869">
                <a:moveTo>
                  <a:pt x="0" y="0"/>
                </a:moveTo>
                <a:lnTo>
                  <a:pt x="6575868" y="0"/>
                </a:lnTo>
                <a:lnTo>
                  <a:pt x="6575868" y="3459546"/>
                </a:lnTo>
                <a:lnTo>
                  <a:pt x="0" y="34595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104" l="-20323" r="-17379" t="-16985"/>
            </a:stretch>
          </a:blipFill>
          <a:ln>
            <a:noFill/>
          </a:ln>
        </p:spPr>
      </p:sp>
      <p:grpSp>
        <p:nvGrpSpPr>
          <p:cNvPr id="172" name="Google Shape;172;p5"/>
          <p:cNvGrpSpPr/>
          <p:nvPr/>
        </p:nvGrpSpPr>
        <p:grpSpPr>
          <a:xfrm>
            <a:off x="3127073" y="3222365"/>
            <a:ext cx="829316" cy="829316"/>
            <a:chOff x="0" y="0"/>
            <a:chExt cx="1105754" cy="1105754"/>
          </a:xfrm>
        </p:grpSpPr>
        <p:grpSp>
          <p:nvGrpSpPr>
            <p:cNvPr id="173" name="Google Shape;173;p5"/>
            <p:cNvGrpSpPr/>
            <p:nvPr/>
          </p:nvGrpSpPr>
          <p:grpSpPr>
            <a:xfrm>
              <a:off x="0" y="0"/>
              <a:ext cx="1105754" cy="1105754"/>
              <a:chOff x="0" y="0"/>
              <a:chExt cx="812800" cy="812800"/>
            </a:xfrm>
          </p:grpSpPr>
          <p:sp>
            <p:nvSpPr>
              <p:cNvPr id="174" name="Google Shape;174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476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5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3650" lIns="13650" spcFirstLastPara="1" rIns="13650" wrap="square" tIns="13650">
                <a:noAutofit/>
              </a:bodyPr>
              <a:lstStyle/>
              <a:p>
                <a:pPr indent="0" lvl="0" marL="0" marR="0" rtl="0" algn="ctr">
                  <a:lnSpc>
                    <a:spcPct val="175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6" name="Google Shape;176;p5"/>
            <p:cNvGrpSpPr/>
            <p:nvPr/>
          </p:nvGrpSpPr>
          <p:grpSpPr>
            <a:xfrm>
              <a:off x="67183" y="67183"/>
              <a:ext cx="971388" cy="971388"/>
              <a:chOff x="0" y="0"/>
              <a:chExt cx="812800" cy="812800"/>
            </a:xfrm>
          </p:grpSpPr>
          <p:sp>
            <p:nvSpPr>
              <p:cNvPr id="177" name="Google Shape;177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476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5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3650" lIns="13650" spcFirstLastPara="1" rIns="13650" wrap="square" tIns="13650">
                <a:noAutofit/>
              </a:bodyPr>
              <a:lstStyle/>
              <a:p>
                <a:pPr indent="0" lvl="0" marL="0" marR="0" rtl="0" algn="ctr">
                  <a:lnSpc>
                    <a:spcPct val="175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9" name="Google Shape;179;p5"/>
          <p:cNvSpPr/>
          <p:nvPr/>
        </p:nvSpPr>
        <p:spPr>
          <a:xfrm>
            <a:off x="11028562" y="874200"/>
            <a:ext cx="6451736" cy="6354960"/>
          </a:xfrm>
          <a:custGeom>
            <a:rect b="b" l="l" r="r" t="t"/>
            <a:pathLst>
              <a:path extrusionOk="0" h="6354960" w="6451736">
                <a:moveTo>
                  <a:pt x="0" y="0"/>
                </a:moveTo>
                <a:lnTo>
                  <a:pt x="6451736" y="0"/>
                </a:lnTo>
                <a:lnTo>
                  <a:pt x="6451736" y="6354960"/>
                </a:lnTo>
                <a:lnTo>
                  <a:pt x="0" y="6354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0" name="Google Shape;180;p5"/>
          <p:cNvGrpSpPr/>
          <p:nvPr/>
        </p:nvGrpSpPr>
        <p:grpSpPr>
          <a:xfrm>
            <a:off x="1818913" y="3336208"/>
            <a:ext cx="1308159" cy="1206258"/>
            <a:chOff x="0" y="-85725"/>
            <a:chExt cx="344536" cy="317697"/>
          </a:xfrm>
        </p:grpSpPr>
        <p:sp>
          <p:nvSpPr>
            <p:cNvPr id="181" name="Google Shape;181;p5"/>
            <p:cNvSpPr/>
            <p:nvPr/>
          </p:nvSpPr>
          <p:spPr>
            <a:xfrm>
              <a:off x="0" y="0"/>
              <a:ext cx="344536" cy="231972"/>
            </a:xfrm>
            <a:custGeom>
              <a:rect b="b" l="l" r="r" t="t"/>
              <a:pathLst>
                <a:path extrusionOk="0" h="231972" w="344536">
                  <a:moveTo>
                    <a:pt x="0" y="0"/>
                  </a:moveTo>
                  <a:lnTo>
                    <a:pt x="344536" y="0"/>
                  </a:lnTo>
                  <a:lnTo>
                    <a:pt x="344536" y="231972"/>
                  </a:lnTo>
                  <a:lnTo>
                    <a:pt x="0" y="231972"/>
                  </a:lnTo>
                  <a:close/>
                </a:path>
              </a:pathLst>
            </a:custGeom>
            <a:solidFill>
              <a:srgbClr val="F3F8FF"/>
            </a:solidFill>
            <a:ln>
              <a:noFill/>
            </a:ln>
          </p:spPr>
        </p:sp>
        <p:sp>
          <p:nvSpPr>
            <p:cNvPr id="182" name="Google Shape;182;p5"/>
            <p:cNvSpPr txBox="1"/>
            <p:nvPr/>
          </p:nvSpPr>
          <p:spPr>
            <a:xfrm>
              <a:off x="0" y="-85725"/>
              <a:ext cx="344536" cy="3176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DEV</a:t>
              </a:r>
              <a:endParaRPr/>
            </a:p>
          </p:txBody>
        </p:sp>
      </p:grpSp>
      <p:sp>
        <p:nvSpPr>
          <p:cNvPr id="183" name="Google Shape;183;p5"/>
          <p:cNvSpPr txBox="1"/>
          <p:nvPr/>
        </p:nvSpPr>
        <p:spPr>
          <a:xfrm>
            <a:off x="8355087" y="1823831"/>
            <a:ext cx="1701958" cy="4008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478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/>
          </a:p>
        </p:txBody>
      </p:sp>
      <p:sp>
        <p:nvSpPr>
          <p:cNvPr id="184" name="Google Shape;184;p5"/>
          <p:cNvSpPr txBox="1"/>
          <p:nvPr/>
        </p:nvSpPr>
        <p:spPr>
          <a:xfrm>
            <a:off x="1301135" y="7650900"/>
            <a:ext cx="15685730" cy="1180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 usa el ciclo de vida de software como marco de trabajo junto a devops y se obtiene un ciclo de vida ágil, automatizado y repetible.</a:t>
            </a:r>
            <a:endParaRPr/>
          </a:p>
        </p:txBody>
      </p:sp>
      <p:grpSp>
        <p:nvGrpSpPr>
          <p:cNvPr id="185" name="Google Shape;185;p5"/>
          <p:cNvGrpSpPr/>
          <p:nvPr/>
        </p:nvGrpSpPr>
        <p:grpSpPr>
          <a:xfrm>
            <a:off x="4984427" y="3336208"/>
            <a:ext cx="1308159" cy="1206258"/>
            <a:chOff x="0" y="-85725"/>
            <a:chExt cx="344536" cy="317697"/>
          </a:xfrm>
        </p:grpSpPr>
        <p:sp>
          <p:nvSpPr>
            <p:cNvPr id="186" name="Google Shape;186;p5"/>
            <p:cNvSpPr/>
            <p:nvPr/>
          </p:nvSpPr>
          <p:spPr>
            <a:xfrm>
              <a:off x="0" y="0"/>
              <a:ext cx="344536" cy="231972"/>
            </a:xfrm>
            <a:custGeom>
              <a:rect b="b" l="l" r="r" t="t"/>
              <a:pathLst>
                <a:path extrusionOk="0" h="231972" w="344536">
                  <a:moveTo>
                    <a:pt x="0" y="0"/>
                  </a:moveTo>
                  <a:lnTo>
                    <a:pt x="344536" y="0"/>
                  </a:lnTo>
                  <a:lnTo>
                    <a:pt x="344536" y="231972"/>
                  </a:lnTo>
                  <a:lnTo>
                    <a:pt x="0" y="231972"/>
                  </a:lnTo>
                  <a:close/>
                </a:path>
              </a:pathLst>
            </a:custGeom>
            <a:solidFill>
              <a:srgbClr val="F3F8FF"/>
            </a:solidFill>
            <a:ln>
              <a:noFill/>
            </a:ln>
          </p:spPr>
        </p:sp>
        <p:sp>
          <p:nvSpPr>
            <p:cNvPr id="187" name="Google Shape;187;p5"/>
            <p:cNvSpPr txBox="1"/>
            <p:nvPr/>
          </p:nvSpPr>
          <p:spPr>
            <a:xfrm>
              <a:off x="0" y="-85725"/>
              <a:ext cx="344536" cy="3176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OPS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7"/>
          <p:cNvGrpSpPr/>
          <p:nvPr/>
        </p:nvGrpSpPr>
        <p:grpSpPr>
          <a:xfrm>
            <a:off x="803986" y="604759"/>
            <a:ext cx="8641761" cy="8951748"/>
            <a:chOff x="0" y="-66675"/>
            <a:chExt cx="2276019" cy="2357662"/>
          </a:xfrm>
        </p:grpSpPr>
        <p:sp>
          <p:nvSpPr>
            <p:cNvPr id="193" name="Google Shape;193;p7"/>
            <p:cNvSpPr/>
            <p:nvPr/>
          </p:nvSpPr>
          <p:spPr>
            <a:xfrm>
              <a:off x="0" y="0"/>
              <a:ext cx="2276019" cy="2290987"/>
            </a:xfrm>
            <a:custGeom>
              <a:rect b="b" l="l" r="r" t="t"/>
              <a:pathLst>
                <a:path extrusionOk="0" h="2290987" w="2276019">
                  <a:moveTo>
                    <a:pt x="50169" y="0"/>
                  </a:moveTo>
                  <a:lnTo>
                    <a:pt x="2225851" y="0"/>
                  </a:lnTo>
                  <a:cubicBezTo>
                    <a:pt x="2239156" y="0"/>
                    <a:pt x="2251917" y="5286"/>
                    <a:pt x="2261325" y="14694"/>
                  </a:cubicBezTo>
                  <a:cubicBezTo>
                    <a:pt x="2270734" y="24103"/>
                    <a:pt x="2276019" y="36863"/>
                    <a:pt x="2276019" y="50169"/>
                  </a:cubicBezTo>
                  <a:lnTo>
                    <a:pt x="2276019" y="2240818"/>
                  </a:lnTo>
                  <a:cubicBezTo>
                    <a:pt x="2276019" y="2254124"/>
                    <a:pt x="2270734" y="2266885"/>
                    <a:pt x="2261325" y="2276293"/>
                  </a:cubicBezTo>
                  <a:cubicBezTo>
                    <a:pt x="2251917" y="2285702"/>
                    <a:pt x="2239156" y="2290987"/>
                    <a:pt x="2225851" y="2290987"/>
                  </a:cubicBezTo>
                  <a:lnTo>
                    <a:pt x="50169" y="2290987"/>
                  </a:lnTo>
                  <a:cubicBezTo>
                    <a:pt x="22461" y="2290987"/>
                    <a:pt x="0" y="2268526"/>
                    <a:pt x="0" y="2240818"/>
                  </a:cubicBezTo>
                  <a:lnTo>
                    <a:pt x="0" y="50169"/>
                  </a:lnTo>
                  <a:cubicBezTo>
                    <a:pt x="0" y="36863"/>
                    <a:pt x="5286" y="24103"/>
                    <a:pt x="14694" y="14694"/>
                  </a:cubicBezTo>
                  <a:cubicBezTo>
                    <a:pt x="24103" y="5286"/>
                    <a:pt x="36863" y="0"/>
                    <a:pt x="50169" y="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77647"/>
                  </a:srgbClr>
                </a:gs>
                <a:gs pos="100000">
                  <a:srgbClr val="DDDDDD">
                    <a:alpha val="14509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7"/>
            <p:cNvSpPr txBox="1"/>
            <p:nvPr/>
          </p:nvSpPr>
          <p:spPr>
            <a:xfrm>
              <a:off x="0" y="-66675"/>
              <a:ext cx="2276019" cy="2357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7"/>
          <p:cNvGrpSpPr/>
          <p:nvPr/>
        </p:nvGrpSpPr>
        <p:grpSpPr>
          <a:xfrm>
            <a:off x="9975275" y="6571867"/>
            <a:ext cx="7524688" cy="2984640"/>
            <a:chOff x="0" y="-66675"/>
            <a:chExt cx="1981811" cy="786078"/>
          </a:xfrm>
        </p:grpSpPr>
        <p:sp>
          <p:nvSpPr>
            <p:cNvPr id="196" name="Google Shape;196;p7"/>
            <p:cNvSpPr/>
            <p:nvPr/>
          </p:nvSpPr>
          <p:spPr>
            <a:xfrm>
              <a:off x="0" y="0"/>
              <a:ext cx="1981811" cy="719403"/>
            </a:xfrm>
            <a:custGeom>
              <a:rect b="b" l="l" r="r" t="t"/>
              <a:pathLst>
                <a:path extrusionOk="0" h="719403" w="1981811">
                  <a:moveTo>
                    <a:pt x="57617" y="0"/>
                  </a:moveTo>
                  <a:lnTo>
                    <a:pt x="1924194" y="0"/>
                  </a:lnTo>
                  <a:cubicBezTo>
                    <a:pt x="1939475" y="0"/>
                    <a:pt x="1954130" y="6070"/>
                    <a:pt x="1964935" y="16876"/>
                  </a:cubicBezTo>
                  <a:cubicBezTo>
                    <a:pt x="1975740" y="27681"/>
                    <a:pt x="1981811" y="42336"/>
                    <a:pt x="1981811" y="57617"/>
                  </a:cubicBezTo>
                  <a:lnTo>
                    <a:pt x="1981811" y="661786"/>
                  </a:lnTo>
                  <a:cubicBezTo>
                    <a:pt x="1981811" y="677067"/>
                    <a:pt x="1975740" y="691722"/>
                    <a:pt x="1964935" y="702528"/>
                  </a:cubicBezTo>
                  <a:cubicBezTo>
                    <a:pt x="1954130" y="713333"/>
                    <a:pt x="1939475" y="719403"/>
                    <a:pt x="1924194" y="719403"/>
                  </a:cubicBezTo>
                  <a:lnTo>
                    <a:pt x="57617" y="719403"/>
                  </a:lnTo>
                  <a:cubicBezTo>
                    <a:pt x="42336" y="719403"/>
                    <a:pt x="27681" y="713333"/>
                    <a:pt x="16876" y="702528"/>
                  </a:cubicBezTo>
                  <a:cubicBezTo>
                    <a:pt x="6070" y="691722"/>
                    <a:pt x="0" y="677067"/>
                    <a:pt x="0" y="661786"/>
                  </a:cubicBezTo>
                  <a:lnTo>
                    <a:pt x="0" y="57617"/>
                  </a:lnTo>
                  <a:cubicBezTo>
                    <a:pt x="0" y="42336"/>
                    <a:pt x="6070" y="27681"/>
                    <a:pt x="16876" y="16876"/>
                  </a:cubicBezTo>
                  <a:cubicBezTo>
                    <a:pt x="27681" y="6070"/>
                    <a:pt x="42336" y="0"/>
                    <a:pt x="57617" y="0"/>
                  </a:cubicBezTo>
                  <a:close/>
                </a:path>
              </a:pathLst>
            </a:custGeom>
            <a:gradFill>
              <a:gsLst>
                <a:gs pos="0">
                  <a:srgbClr val="000F9B"/>
                </a:gs>
                <a:gs pos="50000">
                  <a:srgbClr val="EB0000"/>
                </a:gs>
                <a:gs pos="100000">
                  <a:srgbClr val="A000EB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7"/>
            <p:cNvSpPr txBox="1"/>
            <p:nvPr/>
          </p:nvSpPr>
          <p:spPr>
            <a:xfrm>
              <a:off x="0" y="-66675"/>
              <a:ext cx="1981811" cy="7860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7"/>
          <p:cNvSpPr/>
          <p:nvPr/>
        </p:nvSpPr>
        <p:spPr>
          <a:xfrm>
            <a:off x="10235087" y="1967930"/>
            <a:ext cx="7005064" cy="4124887"/>
          </a:xfrm>
          <a:custGeom>
            <a:rect b="b" l="l" r="r" t="t"/>
            <a:pathLst>
              <a:path extrusionOk="0" h="686457" w="1165771">
                <a:moveTo>
                  <a:pt x="61891" y="0"/>
                </a:moveTo>
                <a:lnTo>
                  <a:pt x="1103880" y="0"/>
                </a:lnTo>
                <a:cubicBezTo>
                  <a:pt x="1120295" y="0"/>
                  <a:pt x="1136037" y="6521"/>
                  <a:pt x="1147644" y="18127"/>
                </a:cubicBezTo>
                <a:cubicBezTo>
                  <a:pt x="1159250" y="29734"/>
                  <a:pt x="1165771" y="45476"/>
                  <a:pt x="1165771" y="61891"/>
                </a:cubicBezTo>
                <a:lnTo>
                  <a:pt x="1165771" y="624566"/>
                </a:lnTo>
                <a:cubicBezTo>
                  <a:pt x="1165771" y="658748"/>
                  <a:pt x="1138062" y="686457"/>
                  <a:pt x="1103880" y="686457"/>
                </a:cubicBezTo>
                <a:lnTo>
                  <a:pt x="61891" y="686457"/>
                </a:lnTo>
                <a:cubicBezTo>
                  <a:pt x="45476" y="686457"/>
                  <a:pt x="29734" y="679936"/>
                  <a:pt x="18127" y="668330"/>
                </a:cubicBezTo>
                <a:cubicBezTo>
                  <a:pt x="6521" y="656723"/>
                  <a:pt x="0" y="640981"/>
                  <a:pt x="0" y="624566"/>
                </a:cubicBezTo>
                <a:lnTo>
                  <a:pt x="0" y="61891"/>
                </a:lnTo>
                <a:cubicBezTo>
                  <a:pt x="0" y="45476"/>
                  <a:pt x="6521" y="29734"/>
                  <a:pt x="18127" y="18127"/>
                </a:cubicBezTo>
                <a:cubicBezTo>
                  <a:pt x="29734" y="6521"/>
                  <a:pt x="45476" y="0"/>
                  <a:pt x="61891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018" l="0" r="0" t="-8018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 txBox="1"/>
          <p:nvPr/>
        </p:nvSpPr>
        <p:spPr>
          <a:xfrm>
            <a:off x="1710852" y="3661343"/>
            <a:ext cx="6828000" cy="59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DevOps, Scrumban y GitLab forman una combinación para mejorar la entrega de software. DevOps promueve la colaboración y automatización entre desarrollo y operaciones; Scrumban aporta flexibilidad y flujo continuo a la gestión de tareas; y Git centraliza todo el proceso en una sola plataforma.</a:t>
            </a:r>
            <a:endParaRPr/>
          </a:p>
        </p:txBody>
      </p:sp>
      <p:sp>
        <p:nvSpPr>
          <p:cNvPr id="200" name="Google Shape;200;p7"/>
          <p:cNvSpPr txBox="1"/>
          <p:nvPr/>
        </p:nvSpPr>
        <p:spPr>
          <a:xfrm>
            <a:off x="10622317" y="7004555"/>
            <a:ext cx="6230604" cy="208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DevOps une equipos para entregar valor continuo de forma automatizada</a:t>
            </a:r>
            <a:endParaRPr/>
          </a:p>
        </p:txBody>
      </p:sp>
      <p:sp>
        <p:nvSpPr>
          <p:cNvPr id="201" name="Google Shape;201;p7"/>
          <p:cNvSpPr txBox="1"/>
          <p:nvPr/>
        </p:nvSpPr>
        <p:spPr>
          <a:xfrm>
            <a:off x="1584615" y="1195976"/>
            <a:ext cx="7719300" cy="21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Entorno integrado de desarrollo ágil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"/>
          <p:cNvSpPr/>
          <p:nvPr/>
        </p:nvSpPr>
        <p:spPr>
          <a:xfrm>
            <a:off x="827997" y="3883075"/>
            <a:ext cx="6092329" cy="3212078"/>
          </a:xfrm>
          <a:custGeom>
            <a:rect b="b" l="l" r="r" t="t"/>
            <a:pathLst>
              <a:path extrusionOk="0" h="3212078" w="6092329">
                <a:moveTo>
                  <a:pt x="0" y="0"/>
                </a:moveTo>
                <a:lnTo>
                  <a:pt x="6092329" y="0"/>
                </a:lnTo>
                <a:lnTo>
                  <a:pt x="6092329" y="3212078"/>
                </a:lnTo>
                <a:lnTo>
                  <a:pt x="0" y="32120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5186" l="-22356" r="-19687" t="-105059"/>
            </a:stretch>
          </a:blipFill>
          <a:ln>
            <a:noFill/>
          </a:ln>
        </p:spPr>
      </p:sp>
      <p:sp>
        <p:nvSpPr>
          <p:cNvPr id="207" name="Google Shape;207;p6"/>
          <p:cNvSpPr/>
          <p:nvPr/>
        </p:nvSpPr>
        <p:spPr>
          <a:xfrm>
            <a:off x="7868583" y="1660067"/>
            <a:ext cx="9591420" cy="3306633"/>
          </a:xfrm>
          <a:custGeom>
            <a:rect b="b" l="l" r="r" t="t"/>
            <a:pathLst>
              <a:path extrusionOk="0" h="3306633" w="9591420">
                <a:moveTo>
                  <a:pt x="0" y="0"/>
                </a:moveTo>
                <a:lnTo>
                  <a:pt x="9591420" y="0"/>
                </a:lnTo>
                <a:lnTo>
                  <a:pt x="9591420" y="3306633"/>
                </a:lnTo>
                <a:lnTo>
                  <a:pt x="0" y="33066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44791" l="0" r="0" t="0"/>
            </a:stretch>
          </a:blipFill>
          <a:ln>
            <a:noFill/>
          </a:ln>
        </p:spPr>
      </p:sp>
      <p:sp>
        <p:nvSpPr>
          <p:cNvPr id="208" name="Google Shape;208;p6"/>
          <p:cNvSpPr/>
          <p:nvPr/>
        </p:nvSpPr>
        <p:spPr>
          <a:xfrm>
            <a:off x="8057487" y="5665124"/>
            <a:ext cx="9213612" cy="3806863"/>
          </a:xfrm>
          <a:custGeom>
            <a:rect b="b" l="l" r="r" t="t"/>
            <a:pathLst>
              <a:path extrusionOk="0" h="3806863" w="9213612">
                <a:moveTo>
                  <a:pt x="0" y="0"/>
                </a:moveTo>
                <a:lnTo>
                  <a:pt x="9213612" y="0"/>
                </a:lnTo>
                <a:lnTo>
                  <a:pt x="9213612" y="3806862"/>
                </a:lnTo>
                <a:lnTo>
                  <a:pt x="0" y="38068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187695"/>
            </a:stretch>
          </a:blipFill>
          <a:ln>
            <a:noFill/>
          </a:ln>
        </p:spPr>
      </p:sp>
      <p:sp>
        <p:nvSpPr>
          <p:cNvPr id="209" name="Google Shape;209;p6"/>
          <p:cNvSpPr txBox="1"/>
          <p:nvPr/>
        </p:nvSpPr>
        <p:spPr>
          <a:xfrm>
            <a:off x="2211065" y="374886"/>
            <a:ext cx="13865870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Herramientas mas populares para Devops</a:t>
            </a:r>
            <a:endParaRPr/>
          </a:p>
        </p:txBody>
      </p:sp>
      <p:cxnSp>
        <p:nvCxnSpPr>
          <p:cNvPr id="210" name="Google Shape;210;p6"/>
          <p:cNvCxnSpPr/>
          <p:nvPr/>
        </p:nvCxnSpPr>
        <p:spPr>
          <a:xfrm>
            <a:off x="3671373" y="3313384"/>
            <a:ext cx="0" cy="1385631"/>
          </a:xfrm>
          <a:prstGeom prst="straightConnector1">
            <a:avLst/>
          </a:prstGeom>
          <a:noFill/>
          <a:ln cap="flat" cmpd="sng" w="38100">
            <a:solidFill>
              <a:srgbClr val="8C52FF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11" name="Google Shape;211;p6"/>
          <p:cNvSpPr txBox="1"/>
          <p:nvPr/>
        </p:nvSpPr>
        <p:spPr>
          <a:xfrm>
            <a:off x="2138071" y="2563351"/>
            <a:ext cx="3066604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Sprint Planning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"/>
          <p:cNvSpPr txBox="1"/>
          <p:nvPr/>
        </p:nvSpPr>
        <p:spPr>
          <a:xfrm>
            <a:off x="3054412" y="2080046"/>
            <a:ext cx="12179177" cy="18129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 qué usar Gitlab?</a:t>
            </a:r>
            <a:endParaRPr/>
          </a:p>
        </p:txBody>
      </p:sp>
      <p:sp>
        <p:nvSpPr>
          <p:cNvPr id="217" name="Google Shape;217;p8"/>
          <p:cNvSpPr txBox="1"/>
          <p:nvPr/>
        </p:nvSpPr>
        <p:spPr>
          <a:xfrm>
            <a:off x="4743908" y="6125493"/>
            <a:ext cx="8800200" cy="3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4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Contiene todas las etapas del ciclo del software DevOps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9150" y="581650"/>
            <a:ext cx="14912825" cy="912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"/>
          <p:cNvSpPr txBox="1"/>
          <p:nvPr/>
        </p:nvSpPr>
        <p:spPr>
          <a:xfrm>
            <a:off x="2180567" y="534353"/>
            <a:ext cx="13926865" cy="1026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Etapas proporcionados por GitLab</a:t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2674537" y="3040674"/>
            <a:ext cx="12938918" cy="6563974"/>
          </a:xfrm>
          <a:custGeom>
            <a:rect b="b" l="l" r="r" t="t"/>
            <a:pathLst>
              <a:path extrusionOk="0" h="7480312" w="13478040">
                <a:moveTo>
                  <a:pt x="0" y="0"/>
                </a:moveTo>
                <a:lnTo>
                  <a:pt x="13478040" y="0"/>
                </a:lnTo>
                <a:lnTo>
                  <a:pt x="13478040" y="7480312"/>
                </a:lnTo>
                <a:lnTo>
                  <a:pt x="0" y="74803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"/>
          <p:cNvSpPr txBox="1"/>
          <p:nvPr/>
        </p:nvSpPr>
        <p:spPr>
          <a:xfrm>
            <a:off x="3969760" y="534353"/>
            <a:ext cx="10348481" cy="1026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Gitflow con sus entornos</a:t>
            </a:r>
            <a:endParaRPr/>
          </a:p>
        </p:txBody>
      </p:sp>
      <p:grpSp>
        <p:nvGrpSpPr>
          <p:cNvPr id="234" name="Google Shape;234;p12"/>
          <p:cNvGrpSpPr/>
          <p:nvPr/>
        </p:nvGrpSpPr>
        <p:grpSpPr>
          <a:xfrm>
            <a:off x="868850" y="1265016"/>
            <a:ext cx="16997565" cy="8477671"/>
            <a:chOff x="0" y="0"/>
            <a:chExt cx="22663420" cy="11303561"/>
          </a:xfrm>
        </p:grpSpPr>
        <p:sp>
          <p:nvSpPr>
            <p:cNvPr id="235" name="Google Shape;235;p12"/>
            <p:cNvSpPr/>
            <p:nvPr/>
          </p:nvSpPr>
          <p:spPr>
            <a:xfrm>
              <a:off x="0" y="2911327"/>
              <a:ext cx="13813545" cy="5801689"/>
            </a:xfrm>
            <a:custGeom>
              <a:rect b="b" l="l" r="r" t="t"/>
              <a:pathLst>
                <a:path extrusionOk="0" h="5801689" w="13813545">
                  <a:moveTo>
                    <a:pt x="0" y="0"/>
                  </a:moveTo>
                  <a:lnTo>
                    <a:pt x="13813545" y="0"/>
                  </a:lnTo>
                  <a:lnTo>
                    <a:pt x="13813545" y="5801690"/>
                  </a:lnTo>
                  <a:lnTo>
                    <a:pt x="0" y="58016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6" name="Google Shape;236;p12"/>
            <p:cNvSpPr/>
            <p:nvPr/>
          </p:nvSpPr>
          <p:spPr>
            <a:xfrm>
              <a:off x="18971100" y="3716245"/>
              <a:ext cx="3692320" cy="3692320"/>
            </a:xfrm>
            <a:custGeom>
              <a:rect b="b" l="l" r="r" t="t"/>
              <a:pathLst>
                <a:path extrusionOk="0" h="3692320" w="3692320">
                  <a:moveTo>
                    <a:pt x="0" y="0"/>
                  </a:moveTo>
                  <a:lnTo>
                    <a:pt x="3692320" y="0"/>
                  </a:lnTo>
                  <a:lnTo>
                    <a:pt x="3692320" y="3692320"/>
                  </a:lnTo>
                  <a:lnTo>
                    <a:pt x="0" y="36923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7" name="Google Shape;237;p12"/>
            <p:cNvSpPr txBox="1"/>
            <p:nvPr/>
          </p:nvSpPr>
          <p:spPr>
            <a:xfrm>
              <a:off x="20093360" y="7360940"/>
              <a:ext cx="1447800" cy="547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99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Staging</a:t>
              </a:r>
              <a:endParaRPr/>
            </a:p>
          </p:txBody>
        </p:sp>
        <p:sp>
          <p:nvSpPr>
            <p:cNvPr id="238" name="Google Shape;238;p12"/>
            <p:cNvSpPr/>
            <p:nvPr/>
          </p:nvSpPr>
          <p:spPr>
            <a:xfrm>
              <a:off x="16319446" y="0"/>
              <a:ext cx="3692320" cy="3692320"/>
            </a:xfrm>
            <a:custGeom>
              <a:rect b="b" l="l" r="r" t="t"/>
              <a:pathLst>
                <a:path extrusionOk="0" h="3692320" w="3692320">
                  <a:moveTo>
                    <a:pt x="0" y="0"/>
                  </a:moveTo>
                  <a:lnTo>
                    <a:pt x="3692320" y="0"/>
                  </a:lnTo>
                  <a:lnTo>
                    <a:pt x="3692320" y="3692320"/>
                  </a:lnTo>
                  <a:lnTo>
                    <a:pt x="0" y="36923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9" name="Google Shape;239;p12"/>
            <p:cNvSpPr txBox="1"/>
            <p:nvPr/>
          </p:nvSpPr>
          <p:spPr>
            <a:xfrm>
              <a:off x="17077672" y="3644695"/>
              <a:ext cx="2175867" cy="547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99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Production</a:t>
              </a:r>
              <a:endParaRPr/>
            </a:p>
          </p:txBody>
        </p:sp>
        <p:sp>
          <p:nvSpPr>
            <p:cNvPr id="240" name="Google Shape;240;p12"/>
            <p:cNvSpPr/>
            <p:nvPr/>
          </p:nvSpPr>
          <p:spPr>
            <a:xfrm>
              <a:off x="16046080" y="7111708"/>
              <a:ext cx="3692320" cy="3692320"/>
            </a:xfrm>
            <a:custGeom>
              <a:rect b="b" l="l" r="r" t="t"/>
              <a:pathLst>
                <a:path extrusionOk="0" h="3692320" w="3692320">
                  <a:moveTo>
                    <a:pt x="0" y="0"/>
                  </a:moveTo>
                  <a:lnTo>
                    <a:pt x="3692320" y="0"/>
                  </a:lnTo>
                  <a:lnTo>
                    <a:pt x="3692320" y="3692320"/>
                  </a:lnTo>
                  <a:lnTo>
                    <a:pt x="0" y="36923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41" name="Google Shape;241;p12"/>
            <p:cNvSpPr txBox="1"/>
            <p:nvPr/>
          </p:nvSpPr>
          <p:spPr>
            <a:xfrm>
              <a:off x="17513125" y="10756403"/>
              <a:ext cx="758230" cy="547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99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Dev</a:t>
              </a:r>
              <a:endParaRPr/>
            </a:p>
          </p:txBody>
        </p:sp>
        <p:cxnSp>
          <p:nvCxnSpPr>
            <p:cNvPr id="242" name="Google Shape;242;p12"/>
            <p:cNvCxnSpPr/>
            <p:nvPr/>
          </p:nvCxnSpPr>
          <p:spPr>
            <a:xfrm>
              <a:off x="13813545" y="6850680"/>
              <a:ext cx="4010475" cy="261028"/>
            </a:xfrm>
            <a:prstGeom prst="straightConnector1">
              <a:avLst/>
            </a:prstGeom>
            <a:noFill/>
            <a:ln cap="flat" cmpd="sng" w="50800">
              <a:solidFill>
                <a:srgbClr val="00A884"/>
              </a:solidFill>
              <a:prstDash val="lgDash"/>
              <a:round/>
              <a:headEnd len="sm" w="sm" type="none"/>
              <a:tailEnd len="sm" w="sm" type="none"/>
            </a:ln>
          </p:spPr>
        </p:cxnSp>
        <p:cxnSp>
          <p:nvCxnSpPr>
            <p:cNvPr id="243" name="Google Shape;243;p12"/>
            <p:cNvCxnSpPr/>
            <p:nvPr/>
          </p:nvCxnSpPr>
          <p:spPr>
            <a:xfrm>
              <a:off x="8409394" y="8353144"/>
              <a:ext cx="8183744" cy="854491"/>
            </a:xfrm>
            <a:prstGeom prst="straightConnector1">
              <a:avLst/>
            </a:prstGeom>
            <a:noFill/>
            <a:ln cap="flat" cmpd="sng" w="50800">
              <a:solidFill>
                <a:srgbClr val="00FDC8"/>
              </a:solidFill>
              <a:prstDash val="lgDash"/>
              <a:round/>
              <a:headEnd len="sm" w="sm" type="none"/>
              <a:tailEnd len="sm" w="sm" type="none"/>
            </a:ln>
          </p:spPr>
        </p:cxnSp>
        <p:cxnSp>
          <p:nvCxnSpPr>
            <p:cNvPr id="244" name="Google Shape;244;p12"/>
            <p:cNvCxnSpPr/>
            <p:nvPr/>
          </p:nvCxnSpPr>
          <p:spPr>
            <a:xfrm>
              <a:off x="12581014" y="5812172"/>
              <a:ext cx="6677556" cy="0"/>
            </a:xfrm>
            <a:prstGeom prst="straightConnector1">
              <a:avLst/>
            </a:prstGeom>
            <a:noFill/>
            <a:ln cap="flat" cmpd="sng" w="50800">
              <a:solidFill>
                <a:srgbClr val="B63833"/>
              </a:solidFill>
              <a:prstDash val="lgDash"/>
              <a:round/>
              <a:headEnd len="sm" w="sm" type="none"/>
              <a:tailEnd len="sm" w="sm" type="none"/>
            </a:ln>
          </p:spPr>
        </p:cxnSp>
        <p:cxnSp>
          <p:nvCxnSpPr>
            <p:cNvPr id="245" name="Google Shape;245;p12"/>
            <p:cNvCxnSpPr/>
            <p:nvPr/>
          </p:nvCxnSpPr>
          <p:spPr>
            <a:xfrm>
              <a:off x="12581014" y="5525797"/>
              <a:ext cx="6677556" cy="877"/>
            </a:xfrm>
            <a:prstGeom prst="straightConnector1">
              <a:avLst/>
            </a:prstGeom>
            <a:noFill/>
            <a:ln cap="flat" cmpd="sng" w="50800">
              <a:solidFill>
                <a:srgbClr val="B6D7A8"/>
              </a:solidFill>
              <a:prstDash val="lgDash"/>
              <a:round/>
              <a:headEnd len="sm" w="sm" type="none"/>
              <a:tailEnd len="sm" w="sm" type="none"/>
            </a:ln>
          </p:spPr>
        </p:cxnSp>
        <p:cxnSp>
          <p:nvCxnSpPr>
            <p:cNvPr id="246" name="Google Shape;246;p12"/>
            <p:cNvCxnSpPr/>
            <p:nvPr/>
          </p:nvCxnSpPr>
          <p:spPr>
            <a:xfrm flipH="1" rot="10800000">
              <a:off x="13813549" y="2095927"/>
              <a:ext cx="2984910" cy="1816093"/>
            </a:xfrm>
            <a:prstGeom prst="straightConnector1">
              <a:avLst/>
            </a:prstGeom>
            <a:noFill/>
            <a:ln cap="flat" cmpd="sng" w="50800">
              <a:solidFill>
                <a:srgbClr val="F6CD4C"/>
              </a:solidFill>
              <a:prstDash val="lgDash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0E3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"/>
          <p:cNvSpPr/>
          <p:nvPr/>
        </p:nvSpPr>
        <p:spPr>
          <a:xfrm rot="10800000">
            <a:off x="16765524" y="0"/>
            <a:ext cx="1522476" cy="1522476"/>
          </a:xfrm>
          <a:custGeom>
            <a:rect b="b" l="l" r="r" t="t"/>
            <a:pathLst>
              <a:path extrusionOk="0" h="2029968" w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rgbClr val="385E88"/>
          </a:solidFill>
          <a:ln>
            <a:noFill/>
          </a:ln>
        </p:spPr>
      </p:sp>
      <p:sp>
        <p:nvSpPr>
          <p:cNvPr id="252" name="Google Shape;252;p14"/>
          <p:cNvSpPr txBox="1"/>
          <p:nvPr/>
        </p:nvSpPr>
        <p:spPr>
          <a:xfrm>
            <a:off x="1237672" y="1532763"/>
            <a:ext cx="15815888" cy="1754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224E7F"/>
                </a:solidFill>
                <a:latin typeface="Avenir"/>
                <a:ea typeface="Avenir"/>
                <a:cs typeface="Avenir"/>
                <a:sym typeface="Avenir"/>
              </a:rPr>
              <a:t>microservicios</a:t>
            </a:r>
            <a:endParaRPr/>
          </a:p>
        </p:txBody>
      </p:sp>
      <p:sp>
        <p:nvSpPr>
          <p:cNvPr id="253" name="Google Shape;253;p14"/>
          <p:cNvSpPr txBox="1"/>
          <p:nvPr/>
        </p:nvSpPr>
        <p:spPr>
          <a:xfrm>
            <a:off x="1234440" y="4406373"/>
            <a:ext cx="12920644" cy="4691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Un microservicio es un enfoque arquitectónico para desarrollar aplicaciones de software como un conjunto de servicios pequeños e independientes, cada uno ejecutando un proceso específico y comunicándose entre sí.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0E3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"/>
          <p:cNvSpPr/>
          <p:nvPr/>
        </p:nvSpPr>
        <p:spPr>
          <a:xfrm rot="10800000">
            <a:off x="16765524" y="0"/>
            <a:ext cx="1522476" cy="1522476"/>
          </a:xfrm>
          <a:custGeom>
            <a:rect b="b" l="l" r="r" t="t"/>
            <a:pathLst>
              <a:path extrusionOk="0" h="2029968" w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rgbClr val="385E88"/>
          </a:solidFill>
          <a:ln>
            <a:noFill/>
          </a:ln>
        </p:spPr>
      </p:sp>
      <p:sp>
        <p:nvSpPr>
          <p:cNvPr id="259" name="Google Shape;259;p16"/>
          <p:cNvSpPr txBox="1"/>
          <p:nvPr/>
        </p:nvSpPr>
        <p:spPr>
          <a:xfrm>
            <a:off x="1237672" y="1532763"/>
            <a:ext cx="15815888" cy="1754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224E7F"/>
                </a:solidFill>
                <a:latin typeface="Avenir"/>
                <a:ea typeface="Avenir"/>
                <a:cs typeface="Avenir"/>
                <a:sym typeface="Avenir"/>
              </a:rPr>
              <a:t>pipeline</a:t>
            </a:r>
            <a:endParaRPr/>
          </a:p>
        </p:txBody>
      </p:sp>
      <p:sp>
        <p:nvSpPr>
          <p:cNvPr id="260" name="Google Shape;260;p16"/>
          <p:cNvSpPr txBox="1"/>
          <p:nvPr/>
        </p:nvSpPr>
        <p:spPr>
          <a:xfrm>
            <a:off x="1234440" y="3875848"/>
            <a:ext cx="12920644" cy="3829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Un pipeline es una serie de pasos automatizados que se ejecutan secuencialmente para llevar a cabo diferentes acciones, como la compilación, pruebas y despliegue de un software.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Pueden ser altamente personalizables según nuestras necesidades.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5E88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0"/>
          <p:cNvSpPr/>
          <p:nvPr/>
        </p:nvSpPr>
        <p:spPr>
          <a:xfrm>
            <a:off x="0" y="7242048"/>
            <a:ext cx="1522476" cy="3044952"/>
          </a:xfrm>
          <a:custGeom>
            <a:rect b="b" l="l" r="r" t="t"/>
            <a:pathLst>
              <a:path extrusionOk="0" h="4059936" w="2029968">
                <a:moveTo>
                  <a:pt x="0" y="0"/>
                </a:moveTo>
                <a:lnTo>
                  <a:pt x="2029968" y="0"/>
                </a:lnTo>
                <a:lnTo>
                  <a:pt x="2029968" y="4059936"/>
                </a:lnTo>
                <a:lnTo>
                  <a:pt x="0" y="4059936"/>
                </a:lnTo>
                <a:close/>
              </a:path>
            </a:pathLst>
          </a:custGeom>
          <a:solidFill>
            <a:srgbClr val="EC008C"/>
          </a:solidFill>
          <a:ln>
            <a:noFill/>
          </a:ln>
        </p:spPr>
      </p:sp>
      <p:sp>
        <p:nvSpPr>
          <p:cNvPr id="266" name="Google Shape;266;p20"/>
          <p:cNvSpPr/>
          <p:nvPr/>
        </p:nvSpPr>
        <p:spPr>
          <a:xfrm>
            <a:off x="0" y="4249949"/>
            <a:ext cx="1522476" cy="3044952"/>
          </a:xfrm>
          <a:custGeom>
            <a:rect b="b" l="l" r="r" t="t"/>
            <a:pathLst>
              <a:path extrusionOk="0" h="4059936" w="2029968">
                <a:moveTo>
                  <a:pt x="0" y="0"/>
                </a:moveTo>
                <a:lnTo>
                  <a:pt x="2029968" y="0"/>
                </a:lnTo>
                <a:lnTo>
                  <a:pt x="2029968" y="4059936"/>
                </a:lnTo>
                <a:lnTo>
                  <a:pt x="0" y="4059936"/>
                </a:lnTo>
                <a:close/>
              </a:path>
            </a:pathLst>
          </a:custGeom>
          <a:solidFill>
            <a:srgbClr val="AA2070"/>
          </a:solidFill>
          <a:ln>
            <a:noFill/>
          </a:ln>
        </p:spPr>
      </p:sp>
      <p:sp>
        <p:nvSpPr>
          <p:cNvPr id="267" name="Google Shape;267;p20"/>
          <p:cNvSpPr/>
          <p:nvPr/>
        </p:nvSpPr>
        <p:spPr>
          <a:xfrm>
            <a:off x="0" y="0"/>
            <a:ext cx="1522476" cy="3044952"/>
          </a:xfrm>
          <a:custGeom>
            <a:rect b="b" l="l" r="r" t="t"/>
            <a:pathLst>
              <a:path extrusionOk="0" h="4059936" w="2029968">
                <a:moveTo>
                  <a:pt x="0" y="0"/>
                </a:moveTo>
                <a:lnTo>
                  <a:pt x="2029968" y="0"/>
                </a:lnTo>
                <a:lnTo>
                  <a:pt x="2029968" y="4059936"/>
                </a:lnTo>
                <a:lnTo>
                  <a:pt x="0" y="4059936"/>
                </a:lnTo>
                <a:close/>
              </a:path>
            </a:pathLst>
          </a:custGeom>
          <a:solidFill>
            <a:srgbClr val="582156"/>
          </a:solidFill>
          <a:ln>
            <a:noFill/>
          </a:ln>
        </p:spPr>
      </p:sp>
      <p:sp>
        <p:nvSpPr>
          <p:cNvPr id="268" name="Google Shape;268;p20"/>
          <p:cNvSpPr/>
          <p:nvPr/>
        </p:nvSpPr>
        <p:spPr>
          <a:xfrm>
            <a:off x="0" y="3044794"/>
            <a:ext cx="1522476" cy="1219390"/>
          </a:xfrm>
          <a:custGeom>
            <a:rect b="b" l="l" r="r" t="t"/>
            <a:pathLst>
              <a:path extrusionOk="0" h="1625854" w="2029968">
                <a:moveTo>
                  <a:pt x="0" y="0"/>
                </a:moveTo>
                <a:lnTo>
                  <a:pt x="2029968" y="0"/>
                </a:lnTo>
                <a:lnTo>
                  <a:pt x="2029968" y="1625854"/>
                </a:lnTo>
                <a:lnTo>
                  <a:pt x="0" y="1625854"/>
                </a:lnTo>
                <a:close/>
              </a:path>
            </a:pathLst>
          </a:custGeom>
          <a:solidFill>
            <a:srgbClr val="224E7F"/>
          </a:solidFill>
          <a:ln>
            <a:noFill/>
          </a:ln>
        </p:spPr>
      </p:sp>
      <p:sp>
        <p:nvSpPr>
          <p:cNvPr id="269" name="Google Shape;269;p20"/>
          <p:cNvSpPr/>
          <p:nvPr/>
        </p:nvSpPr>
        <p:spPr>
          <a:xfrm rot="10800000">
            <a:off x="150873" y="4405088"/>
            <a:ext cx="1371600" cy="2743200"/>
          </a:xfrm>
          <a:custGeom>
            <a:rect b="b" l="l" r="r" t="t"/>
            <a:pathLst>
              <a:path extrusionOk="0" h="3657600" w="1828800">
                <a:moveTo>
                  <a:pt x="2540" y="0"/>
                </a:moveTo>
                <a:cubicBezTo>
                  <a:pt x="1011174" y="0"/>
                  <a:pt x="1828800" y="818769"/>
                  <a:pt x="1828800" y="1828800"/>
                </a:cubicBezTo>
                <a:cubicBezTo>
                  <a:pt x="1828800" y="2838831"/>
                  <a:pt x="1011174" y="3657600"/>
                  <a:pt x="2540" y="3657600"/>
                </a:cubicBezTo>
                <a:lnTo>
                  <a:pt x="0" y="3657473"/>
                </a:lnTo>
                <a:lnTo>
                  <a:pt x="0" y="127"/>
                </a:lnTo>
                <a:close/>
              </a:path>
            </a:pathLst>
          </a:custGeom>
          <a:solidFill>
            <a:srgbClr val="D5D2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0"/>
          <p:cNvSpPr/>
          <p:nvPr/>
        </p:nvSpPr>
        <p:spPr>
          <a:xfrm rot="5400000">
            <a:off x="-685800" y="8124688"/>
            <a:ext cx="2743200" cy="1371600"/>
          </a:xfrm>
          <a:custGeom>
            <a:rect b="b" l="l" r="r" t="t"/>
            <a:pathLst>
              <a:path extrusionOk="0" h="1371600" w="2743200">
                <a:moveTo>
                  <a:pt x="0" y="0"/>
                </a:moveTo>
                <a:lnTo>
                  <a:pt x="2743200" y="0"/>
                </a:lnTo>
                <a:lnTo>
                  <a:pt x="27432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1" name="Google Shape;271;p20"/>
          <p:cNvSpPr/>
          <p:nvPr/>
        </p:nvSpPr>
        <p:spPr>
          <a:xfrm rot="5400000">
            <a:off x="-685800" y="844993"/>
            <a:ext cx="2743200" cy="1371600"/>
          </a:xfrm>
          <a:custGeom>
            <a:rect b="b" l="l" r="r" t="t"/>
            <a:pathLst>
              <a:path extrusionOk="0" h="1371600" w="2743200">
                <a:moveTo>
                  <a:pt x="0" y="0"/>
                </a:moveTo>
                <a:lnTo>
                  <a:pt x="2743200" y="0"/>
                </a:lnTo>
                <a:lnTo>
                  <a:pt x="2743200" y="1371601"/>
                </a:lnTo>
                <a:lnTo>
                  <a:pt x="0" y="1371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2" name="Google Shape;272;p20"/>
          <p:cNvSpPr txBox="1"/>
          <p:nvPr/>
        </p:nvSpPr>
        <p:spPr>
          <a:xfrm>
            <a:off x="2420300" y="3055247"/>
            <a:ext cx="5487000" cy="29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Los pipelines de CI/CD son flujos automatizados que orquestan tareas como compilación, pruebas y despliegue del software. 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4546111" y="525053"/>
            <a:ext cx="9195778" cy="2047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CONCEPTOS CLAVE APRENDIDOS 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10892531" y="3934100"/>
            <a:ext cx="5122382" cy="1838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Para implementarlos, se usan herramientas como Jenkins, GitLab CI, GitHub Actions, CircleCI y Travis CI.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5617074" y="6011801"/>
            <a:ext cx="60180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Un componente clave es la ejecución de pruebas automatizadas (unitarias, de integración, etc.), que garantizan que los cambios no introduzcan errores.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5E88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1"/>
          <p:cNvSpPr/>
          <p:nvPr/>
        </p:nvSpPr>
        <p:spPr>
          <a:xfrm>
            <a:off x="0" y="7242048"/>
            <a:ext cx="1522476" cy="3044952"/>
          </a:xfrm>
          <a:custGeom>
            <a:rect b="b" l="l" r="r" t="t"/>
            <a:pathLst>
              <a:path extrusionOk="0" h="4059936" w="2029968">
                <a:moveTo>
                  <a:pt x="0" y="0"/>
                </a:moveTo>
                <a:lnTo>
                  <a:pt x="2029968" y="0"/>
                </a:lnTo>
                <a:lnTo>
                  <a:pt x="2029968" y="4059936"/>
                </a:lnTo>
                <a:lnTo>
                  <a:pt x="0" y="4059936"/>
                </a:lnTo>
                <a:close/>
              </a:path>
            </a:pathLst>
          </a:custGeom>
          <a:solidFill>
            <a:srgbClr val="EC008C"/>
          </a:solidFill>
          <a:ln>
            <a:noFill/>
          </a:ln>
        </p:spPr>
      </p:sp>
      <p:sp>
        <p:nvSpPr>
          <p:cNvPr id="281" name="Google Shape;281;p21"/>
          <p:cNvSpPr/>
          <p:nvPr/>
        </p:nvSpPr>
        <p:spPr>
          <a:xfrm>
            <a:off x="0" y="4249949"/>
            <a:ext cx="1522476" cy="3044952"/>
          </a:xfrm>
          <a:custGeom>
            <a:rect b="b" l="l" r="r" t="t"/>
            <a:pathLst>
              <a:path extrusionOk="0" h="4059936" w="2029968">
                <a:moveTo>
                  <a:pt x="0" y="0"/>
                </a:moveTo>
                <a:lnTo>
                  <a:pt x="2029968" y="0"/>
                </a:lnTo>
                <a:lnTo>
                  <a:pt x="2029968" y="4059936"/>
                </a:lnTo>
                <a:lnTo>
                  <a:pt x="0" y="4059936"/>
                </a:lnTo>
                <a:close/>
              </a:path>
            </a:pathLst>
          </a:custGeom>
          <a:solidFill>
            <a:srgbClr val="AA2070"/>
          </a:solidFill>
          <a:ln>
            <a:noFill/>
          </a:ln>
        </p:spPr>
      </p:sp>
      <p:sp>
        <p:nvSpPr>
          <p:cNvPr id="282" name="Google Shape;282;p21"/>
          <p:cNvSpPr/>
          <p:nvPr/>
        </p:nvSpPr>
        <p:spPr>
          <a:xfrm>
            <a:off x="0" y="0"/>
            <a:ext cx="1522476" cy="3044952"/>
          </a:xfrm>
          <a:custGeom>
            <a:rect b="b" l="l" r="r" t="t"/>
            <a:pathLst>
              <a:path extrusionOk="0" h="4059936" w="2029968">
                <a:moveTo>
                  <a:pt x="0" y="0"/>
                </a:moveTo>
                <a:lnTo>
                  <a:pt x="2029968" y="0"/>
                </a:lnTo>
                <a:lnTo>
                  <a:pt x="2029968" y="4059936"/>
                </a:lnTo>
                <a:lnTo>
                  <a:pt x="0" y="4059936"/>
                </a:lnTo>
                <a:close/>
              </a:path>
            </a:pathLst>
          </a:custGeom>
          <a:solidFill>
            <a:srgbClr val="582156"/>
          </a:solidFill>
          <a:ln>
            <a:noFill/>
          </a:ln>
        </p:spPr>
      </p:sp>
      <p:sp>
        <p:nvSpPr>
          <p:cNvPr id="283" name="Google Shape;283;p21"/>
          <p:cNvSpPr/>
          <p:nvPr/>
        </p:nvSpPr>
        <p:spPr>
          <a:xfrm>
            <a:off x="0" y="3044794"/>
            <a:ext cx="1522476" cy="1219390"/>
          </a:xfrm>
          <a:custGeom>
            <a:rect b="b" l="l" r="r" t="t"/>
            <a:pathLst>
              <a:path extrusionOk="0" h="1625854" w="2029968">
                <a:moveTo>
                  <a:pt x="0" y="0"/>
                </a:moveTo>
                <a:lnTo>
                  <a:pt x="2029968" y="0"/>
                </a:lnTo>
                <a:lnTo>
                  <a:pt x="2029968" y="1625854"/>
                </a:lnTo>
                <a:lnTo>
                  <a:pt x="0" y="1625854"/>
                </a:lnTo>
                <a:close/>
              </a:path>
            </a:pathLst>
          </a:custGeom>
          <a:solidFill>
            <a:srgbClr val="224E7F"/>
          </a:solidFill>
          <a:ln>
            <a:noFill/>
          </a:ln>
        </p:spPr>
      </p:sp>
      <p:sp>
        <p:nvSpPr>
          <p:cNvPr id="284" name="Google Shape;284;p21"/>
          <p:cNvSpPr/>
          <p:nvPr/>
        </p:nvSpPr>
        <p:spPr>
          <a:xfrm rot="10800000">
            <a:off x="150873" y="4405088"/>
            <a:ext cx="1371600" cy="2743200"/>
          </a:xfrm>
          <a:custGeom>
            <a:rect b="b" l="l" r="r" t="t"/>
            <a:pathLst>
              <a:path extrusionOk="0" h="3657600" w="1828800">
                <a:moveTo>
                  <a:pt x="2540" y="0"/>
                </a:moveTo>
                <a:cubicBezTo>
                  <a:pt x="1011174" y="0"/>
                  <a:pt x="1828800" y="818769"/>
                  <a:pt x="1828800" y="1828800"/>
                </a:cubicBezTo>
                <a:cubicBezTo>
                  <a:pt x="1828800" y="2838831"/>
                  <a:pt x="1011174" y="3657600"/>
                  <a:pt x="2540" y="3657600"/>
                </a:cubicBezTo>
                <a:lnTo>
                  <a:pt x="0" y="3657473"/>
                </a:lnTo>
                <a:lnTo>
                  <a:pt x="0" y="127"/>
                </a:lnTo>
                <a:close/>
              </a:path>
            </a:pathLst>
          </a:custGeom>
          <a:solidFill>
            <a:srgbClr val="D5D2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1"/>
          <p:cNvSpPr/>
          <p:nvPr/>
        </p:nvSpPr>
        <p:spPr>
          <a:xfrm rot="5400000">
            <a:off x="-685800" y="8124688"/>
            <a:ext cx="2743200" cy="1371600"/>
          </a:xfrm>
          <a:custGeom>
            <a:rect b="b" l="l" r="r" t="t"/>
            <a:pathLst>
              <a:path extrusionOk="0" h="1371600" w="2743200">
                <a:moveTo>
                  <a:pt x="0" y="0"/>
                </a:moveTo>
                <a:lnTo>
                  <a:pt x="2743200" y="0"/>
                </a:lnTo>
                <a:lnTo>
                  <a:pt x="27432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6" name="Google Shape;286;p21"/>
          <p:cNvSpPr/>
          <p:nvPr/>
        </p:nvSpPr>
        <p:spPr>
          <a:xfrm rot="5400000">
            <a:off x="-685800" y="844993"/>
            <a:ext cx="2743200" cy="1371600"/>
          </a:xfrm>
          <a:custGeom>
            <a:rect b="b" l="l" r="r" t="t"/>
            <a:pathLst>
              <a:path extrusionOk="0" h="1371600" w="2743200">
                <a:moveTo>
                  <a:pt x="0" y="0"/>
                </a:moveTo>
                <a:lnTo>
                  <a:pt x="2743200" y="0"/>
                </a:lnTo>
                <a:lnTo>
                  <a:pt x="2743200" y="1371601"/>
                </a:lnTo>
                <a:lnTo>
                  <a:pt x="0" y="1371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7" name="Google Shape;287;p21"/>
          <p:cNvSpPr txBox="1"/>
          <p:nvPr/>
        </p:nvSpPr>
        <p:spPr>
          <a:xfrm>
            <a:off x="4730541" y="968818"/>
            <a:ext cx="9195778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PERSEVERANCIA</a:t>
            </a:r>
            <a:endParaRPr/>
          </a:p>
        </p:txBody>
      </p:sp>
      <p:sp>
        <p:nvSpPr>
          <p:cNvPr id="288" name="Google Shape;288;p21"/>
          <p:cNvSpPr txBox="1"/>
          <p:nvPr/>
        </p:nvSpPr>
        <p:spPr>
          <a:xfrm>
            <a:off x="2707201" y="3246200"/>
            <a:ext cx="6136800" cy="54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27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La perseverancia en DevOps, como en su camino académico, es la clave para cerrar </a:t>
            </a:r>
            <a:r>
              <a:rPr b="0" i="0" lang="en-US" sz="3327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ciclos</a:t>
            </a:r>
            <a:r>
              <a:rPr b="0" i="0" lang="en-US" sz="3327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 con éxito: cada línea de código, cada fallo superado y cada despliegue completado los ha preparado para enfrentar cualquier reto con confianza y resiliencia.</a:t>
            </a:r>
            <a:endParaRPr/>
          </a:p>
        </p:txBody>
      </p:sp>
      <p:pic>
        <p:nvPicPr>
          <p:cNvPr id="289" name="Google Shape;28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37247" y="3044800"/>
            <a:ext cx="6291551" cy="5729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p22"/>
          <p:cNvGrpSpPr/>
          <p:nvPr/>
        </p:nvGrpSpPr>
        <p:grpSpPr>
          <a:xfrm>
            <a:off x="296111" y="204877"/>
            <a:ext cx="17695777" cy="9732585"/>
            <a:chOff x="0" y="-38100"/>
            <a:chExt cx="4660616" cy="2563315"/>
          </a:xfrm>
        </p:grpSpPr>
        <p:sp>
          <p:nvSpPr>
            <p:cNvPr id="295" name="Google Shape;295;p22"/>
            <p:cNvSpPr/>
            <p:nvPr/>
          </p:nvSpPr>
          <p:spPr>
            <a:xfrm>
              <a:off x="0" y="0"/>
              <a:ext cx="4660616" cy="2525215"/>
            </a:xfrm>
            <a:custGeom>
              <a:rect b="b" l="l" r="r" t="t"/>
              <a:pathLst>
                <a:path extrusionOk="0" h="2525215" w="4660616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2"/>
            <p:cNvSpPr txBox="1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7" name="Google Shape;297;p22"/>
          <p:cNvSpPr txBox="1"/>
          <p:nvPr/>
        </p:nvSpPr>
        <p:spPr>
          <a:xfrm>
            <a:off x="3054412" y="3687473"/>
            <a:ext cx="12179177" cy="25024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78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