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Poppins"/>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4" roundtripDataSignature="AMtx7mgt3BPM6LIipo05Lg+NI2W6YOE4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FDB73A8-EFF5-4D94-A2D6-E1552448394C}">
  <a:tblStyle styleId="{9FDB73A8-EFF5-4D94-A2D6-E1552448394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Poppins-regular.fntdata"/><Relationship Id="rId25" Type="http://schemas.openxmlformats.org/officeDocument/2006/relationships/slide" Target="slides/slide19.xml"/><Relationship Id="rId28" Type="http://schemas.openxmlformats.org/officeDocument/2006/relationships/font" Target="fonts/Poppins-italic.fntdata"/><Relationship Id="rId27" Type="http://schemas.openxmlformats.org/officeDocument/2006/relationships/font" Target="fonts/Poppi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oppins-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OpenSans-bold.fntdata"/><Relationship Id="rId30" Type="http://schemas.openxmlformats.org/officeDocument/2006/relationships/font" Target="fonts/OpenSans-regular.fntdata"/><Relationship Id="rId11" Type="http://schemas.openxmlformats.org/officeDocument/2006/relationships/slide" Target="slides/slide5.xml"/><Relationship Id="rId33" Type="http://schemas.openxmlformats.org/officeDocument/2006/relationships/font" Target="fonts/OpenSans-boldItalic.fntdata"/><Relationship Id="rId10" Type="http://schemas.openxmlformats.org/officeDocument/2006/relationships/slide" Target="slides/slide4.xml"/><Relationship Id="rId32" Type="http://schemas.openxmlformats.org/officeDocument/2006/relationships/font" Target="fonts/OpenSans-italic.fntdata"/><Relationship Id="rId13" Type="http://schemas.openxmlformats.org/officeDocument/2006/relationships/slide" Target="slides/slide7.xml"/><Relationship Id="rId12" Type="http://schemas.openxmlformats.org/officeDocument/2006/relationships/slide" Target="slides/slide6.xml"/><Relationship Id="rId34" Type="http://customschemas.google.com/relationships/presentationmetadata" Target="meta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f1636e4cb_0_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9f1636e4cb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3" name="Google Shape;9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5cee33ef4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9" name="Google Shape;119;g35cee33ef4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6" name="Google Shape;17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9" name="Google Shape;21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3" name="Google Shape;32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9f1636e4cb_0_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3" name="Google Shape;333;g39f1636e4cb_0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9f1636e4cb_0_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9" name="Google Shape;339;g39f1636e4cb_0_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
          <p:cNvSpPr/>
          <p:nvPr>
            <p:ph idx="2" type="pic"/>
          </p:nvPr>
        </p:nvSpPr>
        <p:spPr>
          <a:xfrm>
            <a:off x="1792288" y="612775"/>
            <a:ext cx="5486400" cy="4114800"/>
          </a:xfrm>
          <a:prstGeom prst="rect">
            <a:avLst/>
          </a:prstGeom>
          <a:noFill/>
          <a:ln>
            <a:noFill/>
          </a:ln>
        </p:spPr>
      </p:sp>
      <p:sp>
        <p:nvSpPr>
          <p:cNvPr id="64" name="Google Shape;64;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9f1636e4cb_0_18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82" name="Google Shape;82;g39f1636e4cb_0_18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83" name="Google Shape;83;g39f1636e4cb_0_18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hyperlink" Target="https://youtu.be/t6gtPdxC24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6.png"/><Relationship Id="rId5" Type="http://schemas.openxmlformats.org/officeDocument/2006/relationships/image" Target="../media/image19.png"/><Relationship Id="rId6" Type="http://schemas.openxmlformats.org/officeDocument/2006/relationships/image" Target="../media/image13.png"/><Relationship Id="rId7"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16.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9f1636e4cb_0_0"/>
          <p:cNvPicPr preferRelativeResize="0"/>
          <p:nvPr/>
        </p:nvPicPr>
        <p:blipFill rotWithShape="1">
          <a:blip r:embed="rId3">
            <a:alphaModFix/>
          </a:blip>
          <a:srcRect b="0" l="0" r="0" t="0"/>
          <a:stretch/>
        </p:blipFill>
        <p:spPr>
          <a:xfrm>
            <a:off x="0" y="0"/>
            <a:ext cx="18288000" cy="10287003"/>
          </a:xfrm>
          <a:prstGeom prst="rect">
            <a:avLst/>
          </a:prstGeom>
          <a:noFill/>
          <a:ln>
            <a:noFill/>
          </a:ln>
        </p:spPr>
      </p:pic>
      <p:sp>
        <p:nvSpPr>
          <p:cNvPr id="89" name="Google Shape;89;g39f1636e4cb_0_0"/>
          <p:cNvSpPr/>
          <p:nvPr/>
        </p:nvSpPr>
        <p:spPr>
          <a:xfrm>
            <a:off x="3598050" y="5988675"/>
            <a:ext cx="73650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600"/>
              <a:buFont typeface="Arial"/>
              <a:buNone/>
            </a:pPr>
            <a:r>
              <a:rPr b="0" i="0" lang="en-US" sz="2600" u="none" cap="none" strike="noStrike">
                <a:solidFill>
                  <a:srgbClr val="000000"/>
                </a:solidFill>
                <a:latin typeface="Calibri"/>
                <a:ea typeface="Calibri"/>
                <a:cs typeface="Calibri"/>
                <a:sym typeface="Calibri"/>
              </a:rPr>
              <a:t>NOMBRE DEL TUTOR</a:t>
            </a:r>
            <a:endParaRPr b="0" i="0" sz="2600" u="none" cap="none" strike="noStrike">
              <a:solidFill>
                <a:srgbClr val="000000"/>
              </a:solidFill>
              <a:latin typeface="Calibri"/>
              <a:ea typeface="Calibri"/>
              <a:cs typeface="Calibri"/>
              <a:sym typeface="Calibri"/>
            </a:endParaRPr>
          </a:p>
        </p:txBody>
      </p:sp>
      <p:sp>
        <p:nvSpPr>
          <p:cNvPr id="90" name="Google Shape;90;g39f1636e4cb_0_0"/>
          <p:cNvSpPr/>
          <p:nvPr/>
        </p:nvSpPr>
        <p:spPr>
          <a:xfrm>
            <a:off x="3090925" y="4781250"/>
            <a:ext cx="10142100" cy="724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100"/>
              <a:buFont typeface="Arial"/>
              <a:buNone/>
            </a:pPr>
            <a:r>
              <a:rPr b="0" i="0" lang="en-US" sz="3100" u="none" cap="none" strike="noStrike">
                <a:solidFill>
                  <a:srgbClr val="000000"/>
                </a:solidFill>
                <a:latin typeface="Calibri"/>
                <a:ea typeface="Calibri"/>
                <a:cs typeface="Calibri"/>
                <a:sym typeface="Calibri"/>
              </a:rPr>
              <a:t>NOMBRE DEL CURSO</a:t>
            </a:r>
            <a:endParaRPr b="0" i="0" sz="31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94" name="Shape 94"/>
        <p:cNvGrpSpPr/>
        <p:nvPr/>
      </p:nvGrpSpPr>
      <p:grpSpPr>
        <a:xfrm>
          <a:off x="0" y="0"/>
          <a:ext cx="0" cy="0"/>
          <a:chOff x="0" y="0"/>
          <a:chExt cx="0" cy="0"/>
        </a:xfrm>
      </p:grpSpPr>
      <p:sp>
        <p:nvSpPr>
          <p:cNvPr id="95" name="Google Shape;95;p1"/>
          <p:cNvSpPr/>
          <p:nvPr/>
        </p:nvSpPr>
        <p:spPr>
          <a:xfrm flipH="1">
            <a:off x="4954663" y="3323515"/>
            <a:ext cx="13333334" cy="6944445"/>
          </a:xfrm>
          <a:custGeom>
            <a:rect b="b" l="l" r="r" t="t"/>
            <a:pathLst>
              <a:path extrusionOk="0" h="6944445" w="13333334">
                <a:moveTo>
                  <a:pt x="13333334" y="0"/>
                </a:moveTo>
                <a:lnTo>
                  <a:pt x="0" y="0"/>
                </a:lnTo>
                <a:lnTo>
                  <a:pt x="0" y="6944445"/>
                </a:lnTo>
                <a:lnTo>
                  <a:pt x="13333334" y="6944445"/>
                </a:lnTo>
                <a:lnTo>
                  <a:pt x="13333334" y="0"/>
                </a:lnTo>
                <a:close/>
              </a:path>
            </a:pathLst>
          </a:custGeom>
          <a:blipFill rotWithShape="1">
            <a:blip r:embed="rId3">
              <a:alphaModFix/>
            </a:blip>
            <a:stretch>
              <a:fillRect b="0" l="0" r="0" t="0"/>
            </a:stretch>
          </a:blipFill>
          <a:ln>
            <a:noFill/>
          </a:ln>
        </p:spPr>
      </p:sp>
      <p:sp>
        <p:nvSpPr>
          <p:cNvPr id="96" name="Google Shape;96;p1"/>
          <p:cNvSpPr/>
          <p:nvPr/>
        </p:nvSpPr>
        <p:spPr>
          <a:xfrm>
            <a:off x="8917417" y="-721195"/>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97" name="Google Shape;97;p1"/>
          <p:cNvSpPr/>
          <p:nvPr/>
        </p:nvSpPr>
        <p:spPr>
          <a:xfrm>
            <a:off x="-219119" y="9039181"/>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grpSp>
        <p:nvGrpSpPr>
          <p:cNvPr id="98" name="Google Shape;98;p1"/>
          <p:cNvGrpSpPr/>
          <p:nvPr/>
        </p:nvGrpSpPr>
        <p:grpSpPr>
          <a:xfrm>
            <a:off x="1685913" y="6825479"/>
            <a:ext cx="9408543" cy="1501908"/>
            <a:chOff x="0" y="-28575"/>
            <a:chExt cx="2833481" cy="452315"/>
          </a:xfrm>
        </p:grpSpPr>
        <p:sp>
          <p:nvSpPr>
            <p:cNvPr id="99" name="Google Shape;99;p1"/>
            <p:cNvSpPr/>
            <p:nvPr/>
          </p:nvSpPr>
          <p:spPr>
            <a:xfrm>
              <a:off x="0" y="0"/>
              <a:ext cx="2833481" cy="423740"/>
            </a:xfrm>
            <a:custGeom>
              <a:rect b="b" l="l" r="r" t="t"/>
              <a:pathLst>
                <a:path extrusionOk="0" h="423740" w="2833481">
                  <a:moveTo>
                    <a:pt x="41966" y="0"/>
                  </a:moveTo>
                  <a:lnTo>
                    <a:pt x="2791515" y="0"/>
                  </a:lnTo>
                  <a:cubicBezTo>
                    <a:pt x="2814692" y="0"/>
                    <a:pt x="2833481" y="18789"/>
                    <a:pt x="2833481" y="41966"/>
                  </a:cubicBezTo>
                  <a:lnTo>
                    <a:pt x="2833481" y="381774"/>
                  </a:lnTo>
                  <a:cubicBezTo>
                    <a:pt x="2833481" y="404951"/>
                    <a:pt x="2814692" y="423740"/>
                    <a:pt x="2791515" y="423740"/>
                  </a:cubicBezTo>
                  <a:lnTo>
                    <a:pt x="41966" y="423740"/>
                  </a:lnTo>
                  <a:cubicBezTo>
                    <a:pt x="18789" y="423740"/>
                    <a:pt x="0" y="404951"/>
                    <a:pt x="0" y="381774"/>
                  </a:cubicBezTo>
                  <a:lnTo>
                    <a:pt x="0" y="41966"/>
                  </a:lnTo>
                  <a:cubicBezTo>
                    <a:pt x="0" y="18789"/>
                    <a:pt x="18789" y="0"/>
                    <a:pt x="4196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1"/>
            <p:cNvSpPr txBox="1"/>
            <p:nvPr/>
          </p:nvSpPr>
          <p:spPr>
            <a:xfrm>
              <a:off x="0" y="-28575"/>
              <a:ext cx="2833480" cy="45231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01" name="Google Shape;101;p1"/>
          <p:cNvSpPr txBox="1"/>
          <p:nvPr/>
        </p:nvSpPr>
        <p:spPr>
          <a:xfrm>
            <a:off x="1563932" y="2540645"/>
            <a:ext cx="11970300" cy="37062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Clr>
                <a:srgbClr val="000000"/>
              </a:buClr>
              <a:buSzPts val="11785"/>
              <a:buFont typeface="Arial"/>
              <a:buNone/>
            </a:pPr>
            <a:r>
              <a:rPr b="1" i="0" lang="en-US" sz="11785" u="none" cap="none" strike="noStrike">
                <a:solidFill>
                  <a:srgbClr val="FFFFFF"/>
                </a:solidFill>
                <a:latin typeface="Poppins"/>
                <a:ea typeface="Poppins"/>
                <a:cs typeface="Poppins"/>
                <a:sym typeface="Poppins"/>
              </a:rPr>
              <a:t>CICLO DE VIDA DEL SOFTWARE</a:t>
            </a:r>
            <a:endParaRPr b="0" i="0" sz="1400" u="none" cap="none" strike="noStrike">
              <a:solidFill>
                <a:srgbClr val="000000"/>
              </a:solidFill>
              <a:latin typeface="Arial"/>
              <a:ea typeface="Arial"/>
              <a:cs typeface="Arial"/>
              <a:sym typeface="Arial"/>
            </a:endParaRPr>
          </a:p>
        </p:txBody>
      </p:sp>
      <p:sp>
        <p:nvSpPr>
          <p:cNvPr id="102" name="Google Shape;102;p1"/>
          <p:cNvSpPr txBox="1"/>
          <p:nvPr/>
        </p:nvSpPr>
        <p:spPr>
          <a:xfrm>
            <a:off x="1685913" y="7414373"/>
            <a:ext cx="9408540" cy="457200"/>
          </a:xfrm>
          <a:prstGeom prst="rect">
            <a:avLst/>
          </a:prstGeom>
          <a:noFill/>
          <a:ln>
            <a:noFill/>
          </a:ln>
        </p:spPr>
        <p:txBody>
          <a:bodyPr anchorCtr="0" anchor="t" bIns="0" lIns="0" spcFirstLastPara="1" rIns="0" wrap="square" tIns="0">
            <a:spAutoFit/>
          </a:bodyPr>
          <a:lstStyle/>
          <a:p>
            <a:pPr indent="0" lvl="0" marL="0" marR="0" rtl="0" algn="ctr">
              <a:lnSpc>
                <a:spcPct val="119986"/>
              </a:lnSpc>
              <a:spcBef>
                <a:spcPts val="0"/>
              </a:spcBef>
              <a:spcAft>
                <a:spcPts val="0"/>
              </a:spcAft>
              <a:buClr>
                <a:srgbClr val="000000"/>
              </a:buClr>
              <a:buSzPts val="3062"/>
              <a:buFont typeface="Arial"/>
              <a:buNone/>
            </a:pPr>
            <a:r>
              <a:rPr b="0" i="0" lang="en-US" sz="3062" u="none" cap="none" strike="noStrike">
                <a:solidFill>
                  <a:srgbClr val="372A28"/>
                </a:solidFill>
                <a:latin typeface="Arial"/>
                <a:ea typeface="Arial"/>
                <a:cs typeface="Arial"/>
                <a:sym typeface="Arial"/>
              </a:rPr>
              <a:t>Diseño y Desarrollo de Sistemas</a:t>
            </a:r>
            <a:endParaRPr b="0" i="0" sz="1400" u="none" cap="none" strike="noStrike">
              <a:solidFill>
                <a:srgbClr val="000000"/>
              </a:solidFill>
              <a:latin typeface="Arial"/>
              <a:ea typeface="Arial"/>
              <a:cs typeface="Arial"/>
              <a:sym typeface="Arial"/>
            </a:endParaRPr>
          </a:p>
        </p:txBody>
      </p:sp>
      <p:sp>
        <p:nvSpPr>
          <p:cNvPr id="103" name="Google Shape;103;p1"/>
          <p:cNvSpPr txBox="1"/>
          <p:nvPr/>
        </p:nvSpPr>
        <p:spPr>
          <a:xfrm>
            <a:off x="12506323" y="8677985"/>
            <a:ext cx="5622600" cy="1520100"/>
          </a:xfrm>
          <a:prstGeom prst="rect">
            <a:avLst/>
          </a:prstGeom>
          <a:noFill/>
          <a:ln>
            <a:noFill/>
          </a:ln>
        </p:spPr>
        <p:txBody>
          <a:bodyPr anchorCtr="0" anchor="t" bIns="0" lIns="0" spcFirstLastPara="1" rIns="0" wrap="square" tIns="0">
            <a:spAutoFit/>
          </a:bodyPr>
          <a:lstStyle/>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FFFFFF"/>
                </a:solidFill>
                <a:latin typeface="Arial"/>
                <a:ea typeface="Arial"/>
                <a:cs typeface="Arial"/>
                <a:sym typeface="Arial"/>
              </a:rPr>
              <a:t>Universidad de San Carlos de Guatemala</a:t>
            </a:r>
            <a:endParaRPr b="0" i="0" sz="14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FFFFFF"/>
                </a:solidFill>
                <a:latin typeface="Arial"/>
                <a:ea typeface="Arial"/>
                <a:cs typeface="Arial"/>
                <a:sym typeface="Arial"/>
              </a:rPr>
              <a:t>Escuela de Ingenieria de Ciencias Y Sistemas</a:t>
            </a:r>
            <a:endParaRPr b="0" i="0" sz="14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FFFFFF"/>
                </a:solidFill>
                <a:latin typeface="Arial"/>
                <a:ea typeface="Arial"/>
                <a:cs typeface="Arial"/>
                <a:sym typeface="Arial"/>
              </a:rPr>
              <a:t>Facultad de Ingenieria</a:t>
            </a:r>
            <a:endParaRPr b="0" i="0" sz="1400" u="none" cap="none" strike="noStrike">
              <a:solidFill>
                <a:srgbClr val="000000"/>
              </a:solidFill>
              <a:latin typeface="Arial"/>
              <a:ea typeface="Arial"/>
              <a:cs typeface="Arial"/>
              <a:sym typeface="Arial"/>
            </a:endParaRPr>
          </a:p>
          <a:p>
            <a:pPr indent="0" lvl="0" marL="0" marR="0" rtl="0" algn="ctr">
              <a:lnSpc>
                <a:spcPct val="140021"/>
              </a:lnSpc>
              <a:spcBef>
                <a:spcPts val="0"/>
              </a:spcBef>
              <a:spcAft>
                <a:spcPts val="0"/>
              </a:spcAft>
              <a:buClr>
                <a:srgbClr val="000000"/>
              </a:buClr>
              <a:buSzPts val="1899"/>
              <a:buFont typeface="Arial"/>
              <a:buNone/>
            </a:pPr>
            <a:r>
              <a:rPr b="1" i="0" lang="en-US" sz="1899" u="none" cap="none" strike="noStrike">
                <a:solidFill>
                  <a:srgbClr val="FFFFFF"/>
                </a:solidFill>
                <a:latin typeface="Arial"/>
                <a:ea typeface="Arial"/>
                <a:cs typeface="Arial"/>
                <a:sym typeface="Arial"/>
              </a:rPr>
              <a:t>Análisis y Diseño de SIstemas 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107" name="Shape 107"/>
        <p:cNvGrpSpPr/>
        <p:nvPr/>
      </p:nvGrpSpPr>
      <p:grpSpPr>
        <a:xfrm>
          <a:off x="0" y="0"/>
          <a:ext cx="0" cy="0"/>
          <a:chOff x="0" y="0"/>
          <a:chExt cx="0" cy="0"/>
        </a:xfrm>
      </p:grpSpPr>
      <p:sp>
        <p:nvSpPr>
          <p:cNvPr id="108" name="Google Shape;108;p2"/>
          <p:cNvSpPr/>
          <p:nvPr/>
        </p:nvSpPr>
        <p:spPr>
          <a:xfrm flipH="1">
            <a:off x="4927363" y="3375365"/>
            <a:ext cx="13333334" cy="6944445"/>
          </a:xfrm>
          <a:custGeom>
            <a:rect b="b" l="l" r="r" t="t"/>
            <a:pathLst>
              <a:path extrusionOk="0" h="6944445" w="13333334">
                <a:moveTo>
                  <a:pt x="13333334" y="0"/>
                </a:moveTo>
                <a:lnTo>
                  <a:pt x="0" y="0"/>
                </a:lnTo>
                <a:lnTo>
                  <a:pt x="0" y="6944445"/>
                </a:lnTo>
                <a:lnTo>
                  <a:pt x="13333334" y="6944445"/>
                </a:lnTo>
                <a:lnTo>
                  <a:pt x="13333334" y="0"/>
                </a:lnTo>
                <a:close/>
              </a:path>
            </a:pathLst>
          </a:custGeom>
          <a:blipFill rotWithShape="1">
            <a:blip r:embed="rId3">
              <a:alphaModFix/>
            </a:blip>
            <a:stretch>
              <a:fillRect b="0" l="0" r="0" t="0"/>
            </a:stretch>
          </a:blipFill>
          <a:ln>
            <a:noFill/>
          </a:ln>
        </p:spPr>
      </p:sp>
      <p:sp>
        <p:nvSpPr>
          <p:cNvPr id="109" name="Google Shape;109;p2"/>
          <p:cNvSpPr/>
          <p:nvPr/>
        </p:nvSpPr>
        <p:spPr>
          <a:xfrm>
            <a:off x="8917417" y="-721195"/>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10" name="Google Shape;110;p2"/>
          <p:cNvSpPr/>
          <p:nvPr/>
        </p:nvSpPr>
        <p:spPr>
          <a:xfrm>
            <a:off x="-219119" y="9039181"/>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11" name="Google Shape;111;p2"/>
          <p:cNvSpPr txBox="1"/>
          <p:nvPr/>
        </p:nvSpPr>
        <p:spPr>
          <a:xfrm>
            <a:off x="6259501" y="1240200"/>
            <a:ext cx="5769000" cy="1567800"/>
          </a:xfrm>
          <a:prstGeom prst="rect">
            <a:avLst/>
          </a:prstGeom>
          <a:noFill/>
          <a:ln>
            <a:noFill/>
          </a:ln>
        </p:spPr>
        <p:txBody>
          <a:bodyPr anchorCtr="0" anchor="t" bIns="0" lIns="0" spcFirstLastPara="1" rIns="0" wrap="square" tIns="0">
            <a:spAutoFit/>
          </a:bodyPr>
          <a:lstStyle/>
          <a:p>
            <a:pPr indent="0" lvl="0" marL="0" marR="0" rtl="0" algn="l">
              <a:lnSpc>
                <a:spcPct val="119998"/>
              </a:lnSpc>
              <a:spcBef>
                <a:spcPts val="0"/>
              </a:spcBef>
              <a:spcAft>
                <a:spcPts val="0"/>
              </a:spcAft>
              <a:buClr>
                <a:srgbClr val="000000"/>
              </a:buClr>
              <a:buSzPts val="10186"/>
              <a:buFont typeface="Arial"/>
              <a:buNone/>
            </a:pPr>
            <a:r>
              <a:rPr b="1" i="0" lang="en-US" sz="10186" u="none" cap="none" strike="noStrike">
                <a:solidFill>
                  <a:srgbClr val="FFFFFF"/>
                </a:solidFill>
                <a:latin typeface="Poppins"/>
                <a:ea typeface="Poppins"/>
                <a:cs typeface="Poppins"/>
                <a:sym typeface="Poppins"/>
              </a:rPr>
              <a:t>AGENDA</a:t>
            </a:r>
            <a:endParaRPr b="0" i="0" sz="1400" u="none" cap="none" strike="noStrike">
              <a:solidFill>
                <a:srgbClr val="000000"/>
              </a:solidFill>
              <a:latin typeface="Arial"/>
              <a:ea typeface="Arial"/>
              <a:cs typeface="Arial"/>
              <a:sym typeface="Arial"/>
            </a:endParaRPr>
          </a:p>
        </p:txBody>
      </p:sp>
      <p:grpSp>
        <p:nvGrpSpPr>
          <p:cNvPr id="112" name="Google Shape;112;p2"/>
          <p:cNvGrpSpPr/>
          <p:nvPr/>
        </p:nvGrpSpPr>
        <p:grpSpPr>
          <a:xfrm>
            <a:off x="3711089" y="4427073"/>
            <a:ext cx="10412720" cy="3428174"/>
            <a:chOff x="0" y="-126511"/>
            <a:chExt cx="13883627" cy="4570898"/>
          </a:xfrm>
        </p:grpSpPr>
        <p:grpSp>
          <p:nvGrpSpPr>
            <p:cNvPr id="113" name="Google Shape;113;p2"/>
            <p:cNvGrpSpPr/>
            <p:nvPr/>
          </p:nvGrpSpPr>
          <p:grpSpPr>
            <a:xfrm>
              <a:off x="0" y="-126511"/>
              <a:ext cx="13883627" cy="4570898"/>
              <a:chOff x="0" y="-28575"/>
              <a:chExt cx="3135900" cy="1032430"/>
            </a:xfrm>
          </p:grpSpPr>
          <p:sp>
            <p:nvSpPr>
              <p:cNvPr id="114" name="Google Shape;114;p2"/>
              <p:cNvSpPr/>
              <p:nvPr/>
            </p:nvSpPr>
            <p:spPr>
              <a:xfrm>
                <a:off x="0" y="0"/>
                <a:ext cx="3135881" cy="1003855"/>
              </a:xfrm>
              <a:custGeom>
                <a:rect b="b" l="l" r="r" t="t"/>
                <a:pathLst>
                  <a:path extrusionOk="0" h="1003855" w="3135881">
                    <a:moveTo>
                      <a:pt x="37919" y="0"/>
                    </a:moveTo>
                    <a:lnTo>
                      <a:pt x="3097962" y="0"/>
                    </a:lnTo>
                    <a:cubicBezTo>
                      <a:pt x="3108019" y="0"/>
                      <a:pt x="3117663" y="3995"/>
                      <a:pt x="3124775" y="11106"/>
                    </a:cubicBezTo>
                    <a:cubicBezTo>
                      <a:pt x="3131886" y="18217"/>
                      <a:pt x="3135881" y="27862"/>
                      <a:pt x="3135881" y="37919"/>
                    </a:cubicBezTo>
                    <a:lnTo>
                      <a:pt x="3135881" y="965936"/>
                    </a:lnTo>
                    <a:cubicBezTo>
                      <a:pt x="3135881" y="975993"/>
                      <a:pt x="3131886" y="985638"/>
                      <a:pt x="3124775" y="992749"/>
                    </a:cubicBezTo>
                    <a:cubicBezTo>
                      <a:pt x="3117663" y="999860"/>
                      <a:pt x="3108019" y="1003855"/>
                      <a:pt x="3097962" y="1003855"/>
                    </a:cubicBezTo>
                    <a:lnTo>
                      <a:pt x="37919" y="1003855"/>
                    </a:lnTo>
                    <a:cubicBezTo>
                      <a:pt x="27862" y="1003855"/>
                      <a:pt x="18217" y="999860"/>
                      <a:pt x="11106" y="992749"/>
                    </a:cubicBezTo>
                    <a:cubicBezTo>
                      <a:pt x="3995" y="985638"/>
                      <a:pt x="0" y="975993"/>
                      <a:pt x="0" y="965936"/>
                    </a:cubicBezTo>
                    <a:lnTo>
                      <a:pt x="0" y="37919"/>
                    </a:lnTo>
                    <a:cubicBezTo>
                      <a:pt x="0" y="27862"/>
                      <a:pt x="3995" y="18217"/>
                      <a:pt x="11106" y="11106"/>
                    </a:cubicBezTo>
                    <a:cubicBezTo>
                      <a:pt x="18217" y="3995"/>
                      <a:pt x="27862" y="0"/>
                      <a:pt x="37919"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0" y="-28575"/>
                <a:ext cx="3135900" cy="1032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16" name="Google Shape;116;p2"/>
            <p:cNvSpPr txBox="1"/>
            <p:nvPr/>
          </p:nvSpPr>
          <p:spPr>
            <a:xfrm>
              <a:off x="669412" y="1002994"/>
              <a:ext cx="12544800" cy="2136600"/>
            </a:xfrm>
            <a:prstGeom prst="rect">
              <a:avLst/>
            </a:prstGeom>
            <a:noFill/>
            <a:ln>
              <a:noFill/>
            </a:ln>
          </p:spPr>
          <p:txBody>
            <a:bodyPr anchorCtr="0" anchor="t" bIns="0" lIns="0" spcFirstLastPara="1" rIns="0" wrap="square" tIns="0">
              <a:spAutoFit/>
            </a:bodyPr>
            <a:lstStyle/>
            <a:p>
              <a:pPr indent="-423037" lvl="0" marL="457200" marR="0" rtl="0" algn="ctr">
                <a:lnSpc>
                  <a:spcPct val="119986"/>
                </a:lnSpc>
                <a:spcBef>
                  <a:spcPts val="0"/>
                </a:spcBef>
                <a:spcAft>
                  <a:spcPts val="0"/>
                </a:spcAft>
                <a:buClr>
                  <a:srgbClr val="000000"/>
                </a:buClr>
                <a:buSzPts val="3062"/>
                <a:buFont typeface="Arial"/>
                <a:buChar char="●"/>
              </a:pPr>
              <a:r>
                <a:rPr b="0" i="0" lang="en-US" sz="3062" u="none" cap="none" strike="noStrike">
                  <a:solidFill>
                    <a:srgbClr val="372A28"/>
                  </a:solidFill>
                  <a:latin typeface="Arial"/>
                  <a:ea typeface="Arial"/>
                  <a:cs typeface="Arial"/>
                  <a:sym typeface="Arial"/>
                </a:rPr>
                <a:t>Video: </a:t>
              </a:r>
              <a:r>
                <a:rPr b="0" i="0" lang="en-US" sz="3062" u="sng" cap="none" strike="noStrike">
                  <a:solidFill>
                    <a:schemeClr val="hlink"/>
                  </a:solidFill>
                  <a:latin typeface="Arial"/>
                  <a:ea typeface="Arial"/>
                  <a:cs typeface="Arial"/>
                  <a:sym typeface="Arial"/>
                  <a:hlinkClick r:id="rId5"/>
                </a:rPr>
                <a:t>https://youtu.be/t6gtPdxC24M</a:t>
              </a:r>
              <a:endParaRPr b="0" i="0" sz="3062" u="none" cap="none" strike="noStrike">
                <a:solidFill>
                  <a:srgbClr val="372A28"/>
                </a:solidFill>
                <a:latin typeface="Arial"/>
                <a:ea typeface="Arial"/>
                <a:cs typeface="Arial"/>
                <a:sym typeface="Arial"/>
              </a:endParaRPr>
            </a:p>
            <a:p>
              <a:pPr indent="0" lvl="0" marL="457200" marR="0" rtl="0" algn="ctr">
                <a:lnSpc>
                  <a:spcPct val="119986"/>
                </a:lnSpc>
                <a:spcBef>
                  <a:spcPts val="0"/>
                </a:spcBef>
                <a:spcAft>
                  <a:spcPts val="0"/>
                </a:spcAft>
                <a:buClr>
                  <a:srgbClr val="000000"/>
                </a:buClr>
                <a:buSzPts val="3062"/>
                <a:buFont typeface="Arial"/>
                <a:buNone/>
              </a:pPr>
              <a:r>
                <a:t/>
              </a:r>
              <a:endParaRPr b="0" i="0" sz="3062" u="none" cap="none" strike="noStrike">
                <a:solidFill>
                  <a:srgbClr val="372A28"/>
                </a:solidFill>
                <a:latin typeface="Arial"/>
                <a:ea typeface="Arial"/>
                <a:cs typeface="Arial"/>
                <a:sym typeface="Arial"/>
              </a:endParaRPr>
            </a:p>
            <a:p>
              <a:pPr indent="-423037" lvl="0" marL="457200" marR="0" rtl="0" algn="ctr">
                <a:lnSpc>
                  <a:spcPct val="119986"/>
                </a:lnSpc>
                <a:spcBef>
                  <a:spcPts val="0"/>
                </a:spcBef>
                <a:spcAft>
                  <a:spcPts val="0"/>
                </a:spcAft>
                <a:buClr>
                  <a:srgbClr val="372A28"/>
                </a:buClr>
                <a:buSzPts val="3062"/>
                <a:buFont typeface="Arial"/>
                <a:buChar char="●"/>
              </a:pPr>
              <a:r>
                <a:rPr b="0" i="0" lang="en-US" sz="3062" u="none" cap="none" strike="noStrike">
                  <a:solidFill>
                    <a:srgbClr val="372A28"/>
                  </a:solidFill>
                  <a:latin typeface="Arial"/>
                  <a:ea typeface="Arial"/>
                  <a:cs typeface="Arial"/>
                  <a:sym typeface="Arial"/>
                </a:rPr>
                <a:t>Quiz al finalizar el laboratorio</a:t>
              </a:r>
              <a:endParaRPr b="0" i="0" sz="3062" u="none" cap="none" strike="noStrike">
                <a:solidFill>
                  <a:srgbClr val="372A28"/>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6" scaled="0"/>
        </a:gradFill>
      </p:bgPr>
    </p:bg>
    <p:spTree>
      <p:nvGrpSpPr>
        <p:cNvPr id="120" name="Shape 120"/>
        <p:cNvGrpSpPr/>
        <p:nvPr/>
      </p:nvGrpSpPr>
      <p:grpSpPr>
        <a:xfrm>
          <a:off x="0" y="0"/>
          <a:ext cx="0" cy="0"/>
          <a:chOff x="0" y="0"/>
          <a:chExt cx="0" cy="0"/>
        </a:xfrm>
      </p:grpSpPr>
      <p:sp>
        <p:nvSpPr>
          <p:cNvPr id="121" name="Google Shape;121;g35cee33ef44_0_0"/>
          <p:cNvSpPr/>
          <p:nvPr/>
        </p:nvSpPr>
        <p:spPr>
          <a:xfrm flipH="1">
            <a:off x="4927363" y="3375365"/>
            <a:ext cx="13333334" cy="6944445"/>
          </a:xfrm>
          <a:custGeom>
            <a:rect b="b" l="l" r="r" t="t"/>
            <a:pathLst>
              <a:path extrusionOk="0" h="6944445" w="13333334">
                <a:moveTo>
                  <a:pt x="13333334" y="0"/>
                </a:moveTo>
                <a:lnTo>
                  <a:pt x="0" y="0"/>
                </a:lnTo>
                <a:lnTo>
                  <a:pt x="0" y="6944445"/>
                </a:lnTo>
                <a:lnTo>
                  <a:pt x="13333334" y="6944445"/>
                </a:lnTo>
                <a:lnTo>
                  <a:pt x="13333334" y="0"/>
                </a:lnTo>
                <a:close/>
              </a:path>
            </a:pathLst>
          </a:custGeom>
          <a:blipFill rotWithShape="1">
            <a:blip r:embed="rId3">
              <a:alphaModFix/>
            </a:blip>
            <a:stretch>
              <a:fillRect b="0" l="0" r="0" t="0"/>
            </a:stretch>
          </a:blipFill>
          <a:ln>
            <a:noFill/>
          </a:ln>
        </p:spPr>
      </p:sp>
      <p:sp>
        <p:nvSpPr>
          <p:cNvPr id="122" name="Google Shape;122;g35cee33ef44_0_0"/>
          <p:cNvSpPr/>
          <p:nvPr/>
        </p:nvSpPr>
        <p:spPr>
          <a:xfrm>
            <a:off x="8917417" y="-721195"/>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23" name="Google Shape;123;g35cee33ef44_0_0"/>
          <p:cNvSpPr/>
          <p:nvPr/>
        </p:nvSpPr>
        <p:spPr>
          <a:xfrm>
            <a:off x="-219119" y="9039181"/>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24" name="Google Shape;124;g35cee33ef44_0_0"/>
          <p:cNvSpPr txBox="1"/>
          <p:nvPr/>
        </p:nvSpPr>
        <p:spPr>
          <a:xfrm>
            <a:off x="1908901" y="717890"/>
            <a:ext cx="14470200" cy="3449400"/>
          </a:xfrm>
          <a:prstGeom prst="rect">
            <a:avLst/>
          </a:prstGeom>
          <a:noFill/>
          <a:ln>
            <a:noFill/>
          </a:ln>
        </p:spPr>
        <p:txBody>
          <a:bodyPr anchorCtr="0" anchor="t" bIns="0" lIns="0" spcFirstLastPara="1" rIns="0" wrap="square" tIns="0">
            <a:spAutoFit/>
          </a:bodyPr>
          <a:lstStyle/>
          <a:p>
            <a:pPr indent="0" lvl="0" marL="0" marR="0" rtl="0" algn="l">
              <a:lnSpc>
                <a:spcPct val="119998"/>
              </a:lnSpc>
              <a:spcBef>
                <a:spcPts val="0"/>
              </a:spcBef>
              <a:spcAft>
                <a:spcPts val="0"/>
              </a:spcAft>
              <a:buClr>
                <a:srgbClr val="000000"/>
              </a:buClr>
              <a:buSzPts val="10186"/>
              <a:buFont typeface="Arial"/>
              <a:buNone/>
            </a:pPr>
            <a:r>
              <a:rPr b="1" i="0" lang="en-US" sz="10186" u="none" cap="none" strike="noStrike">
                <a:solidFill>
                  <a:srgbClr val="FFFFFF"/>
                </a:solidFill>
                <a:latin typeface="Poppins"/>
                <a:ea typeface="Poppins"/>
                <a:cs typeface="Poppins"/>
                <a:sym typeface="Poppins"/>
              </a:rPr>
              <a:t>COMPENTENCIAS QUE DESARROLLAREMOS</a:t>
            </a:r>
            <a:endParaRPr b="0" i="0" sz="1400" u="none" cap="none" strike="noStrike">
              <a:solidFill>
                <a:srgbClr val="000000"/>
              </a:solidFill>
              <a:latin typeface="Arial"/>
              <a:ea typeface="Arial"/>
              <a:cs typeface="Arial"/>
              <a:sym typeface="Arial"/>
            </a:endParaRPr>
          </a:p>
        </p:txBody>
      </p:sp>
      <p:grpSp>
        <p:nvGrpSpPr>
          <p:cNvPr id="125" name="Google Shape;125;g35cee33ef44_0_0"/>
          <p:cNvGrpSpPr/>
          <p:nvPr/>
        </p:nvGrpSpPr>
        <p:grpSpPr>
          <a:xfrm>
            <a:off x="3711089" y="4427073"/>
            <a:ext cx="10412678" cy="3428158"/>
            <a:chOff x="0" y="-126510"/>
            <a:chExt cx="13883570" cy="4570877"/>
          </a:xfrm>
        </p:grpSpPr>
        <p:grpSp>
          <p:nvGrpSpPr>
            <p:cNvPr id="126" name="Google Shape;126;g35cee33ef44_0_0"/>
            <p:cNvGrpSpPr/>
            <p:nvPr/>
          </p:nvGrpSpPr>
          <p:grpSpPr>
            <a:xfrm>
              <a:off x="0" y="-126510"/>
              <a:ext cx="13883570" cy="4570877"/>
              <a:chOff x="0" y="-28575"/>
              <a:chExt cx="3135900" cy="1032430"/>
            </a:xfrm>
          </p:grpSpPr>
          <p:sp>
            <p:nvSpPr>
              <p:cNvPr id="127" name="Google Shape;127;g35cee33ef44_0_0"/>
              <p:cNvSpPr/>
              <p:nvPr/>
            </p:nvSpPr>
            <p:spPr>
              <a:xfrm>
                <a:off x="0" y="0"/>
                <a:ext cx="3135881" cy="1003855"/>
              </a:xfrm>
              <a:custGeom>
                <a:rect b="b" l="l" r="r" t="t"/>
                <a:pathLst>
                  <a:path extrusionOk="0" h="1003855" w="3135881">
                    <a:moveTo>
                      <a:pt x="37919" y="0"/>
                    </a:moveTo>
                    <a:lnTo>
                      <a:pt x="3097962" y="0"/>
                    </a:lnTo>
                    <a:cubicBezTo>
                      <a:pt x="3108019" y="0"/>
                      <a:pt x="3117663" y="3995"/>
                      <a:pt x="3124775" y="11106"/>
                    </a:cubicBezTo>
                    <a:cubicBezTo>
                      <a:pt x="3131886" y="18217"/>
                      <a:pt x="3135881" y="27862"/>
                      <a:pt x="3135881" y="37919"/>
                    </a:cubicBezTo>
                    <a:lnTo>
                      <a:pt x="3135881" y="965936"/>
                    </a:lnTo>
                    <a:cubicBezTo>
                      <a:pt x="3135881" y="975993"/>
                      <a:pt x="3131886" y="985638"/>
                      <a:pt x="3124775" y="992749"/>
                    </a:cubicBezTo>
                    <a:cubicBezTo>
                      <a:pt x="3117663" y="999860"/>
                      <a:pt x="3108019" y="1003855"/>
                      <a:pt x="3097962" y="1003855"/>
                    </a:cubicBezTo>
                    <a:lnTo>
                      <a:pt x="37919" y="1003855"/>
                    </a:lnTo>
                    <a:cubicBezTo>
                      <a:pt x="27862" y="1003855"/>
                      <a:pt x="18217" y="999860"/>
                      <a:pt x="11106" y="992749"/>
                    </a:cubicBezTo>
                    <a:cubicBezTo>
                      <a:pt x="3995" y="985638"/>
                      <a:pt x="0" y="975993"/>
                      <a:pt x="0" y="965936"/>
                    </a:cubicBezTo>
                    <a:lnTo>
                      <a:pt x="0" y="37919"/>
                    </a:lnTo>
                    <a:cubicBezTo>
                      <a:pt x="0" y="27862"/>
                      <a:pt x="3995" y="18217"/>
                      <a:pt x="11106" y="11106"/>
                    </a:cubicBezTo>
                    <a:cubicBezTo>
                      <a:pt x="18217" y="3995"/>
                      <a:pt x="27862" y="0"/>
                      <a:pt x="37919"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g35cee33ef44_0_0"/>
              <p:cNvSpPr txBox="1"/>
              <p:nvPr/>
            </p:nvSpPr>
            <p:spPr>
              <a:xfrm>
                <a:off x="0" y="-28575"/>
                <a:ext cx="3135900" cy="1032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29" name="Google Shape;129;g35cee33ef44_0_0"/>
            <p:cNvSpPr txBox="1"/>
            <p:nvPr/>
          </p:nvSpPr>
          <p:spPr>
            <a:xfrm>
              <a:off x="669412" y="1002994"/>
              <a:ext cx="12544800" cy="2136600"/>
            </a:xfrm>
            <a:prstGeom prst="rect">
              <a:avLst/>
            </a:prstGeom>
            <a:noFill/>
            <a:ln>
              <a:noFill/>
            </a:ln>
          </p:spPr>
          <p:txBody>
            <a:bodyPr anchorCtr="0" anchor="t" bIns="0" lIns="0" spcFirstLastPara="1" rIns="0" wrap="square" tIns="0">
              <a:spAutoFit/>
            </a:bodyPr>
            <a:lstStyle/>
            <a:p>
              <a:pPr indent="0" lvl="0" marL="0" marR="0" rtl="0" algn="ctr">
                <a:lnSpc>
                  <a:spcPct val="119986"/>
                </a:lnSpc>
                <a:spcBef>
                  <a:spcPts val="0"/>
                </a:spcBef>
                <a:spcAft>
                  <a:spcPts val="0"/>
                </a:spcAft>
                <a:buClr>
                  <a:srgbClr val="000000"/>
                </a:buClr>
                <a:buSzPts val="3062"/>
                <a:buFont typeface="Arial"/>
                <a:buNone/>
              </a:pPr>
              <a:r>
                <a:rPr b="0" i="0" lang="en-US" sz="3062" u="none" cap="none" strike="noStrike">
                  <a:solidFill>
                    <a:srgbClr val="372A28"/>
                  </a:solidFill>
                  <a:latin typeface="Arial"/>
                  <a:ea typeface="Arial"/>
                  <a:cs typeface="Arial"/>
                  <a:sym typeface="Arial"/>
                </a:rPr>
                <a:t>Identificar de forma precisa los requerimientos de un sistema e introducir el uso de herramientas para</a:t>
              </a:r>
              <a:endParaRPr b="0" i="0" sz="1400" u="none" cap="none" strike="noStrike">
                <a:solidFill>
                  <a:srgbClr val="000000"/>
                </a:solidFill>
                <a:latin typeface="Arial"/>
                <a:ea typeface="Arial"/>
                <a:cs typeface="Arial"/>
                <a:sym typeface="Arial"/>
              </a:endParaRPr>
            </a:p>
            <a:p>
              <a:pPr indent="0" lvl="0" marL="0" marR="0" rtl="0" algn="ctr">
                <a:lnSpc>
                  <a:spcPct val="119986"/>
                </a:lnSpc>
                <a:spcBef>
                  <a:spcPts val="0"/>
                </a:spcBef>
                <a:spcAft>
                  <a:spcPts val="0"/>
                </a:spcAft>
                <a:buClr>
                  <a:srgbClr val="000000"/>
                </a:buClr>
                <a:buSzPts val="3062"/>
                <a:buFont typeface="Arial"/>
                <a:buNone/>
              </a:pPr>
              <a:r>
                <a:rPr b="0" i="0" lang="en-US" sz="3062" u="none" cap="none" strike="noStrike">
                  <a:solidFill>
                    <a:srgbClr val="372A28"/>
                  </a:solidFill>
                  <a:latin typeface="Arial"/>
                  <a:ea typeface="Arial"/>
                  <a:cs typeface="Arial"/>
                  <a:sym typeface="Arial"/>
                </a:rPr>
                <a:t>la administración de requerimientos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133" name="Shape 133"/>
        <p:cNvGrpSpPr/>
        <p:nvPr/>
      </p:nvGrpSpPr>
      <p:grpSpPr>
        <a:xfrm>
          <a:off x="0" y="0"/>
          <a:ext cx="0" cy="0"/>
          <a:chOff x="0" y="0"/>
          <a:chExt cx="0" cy="0"/>
        </a:xfrm>
      </p:grpSpPr>
      <p:grpSp>
        <p:nvGrpSpPr>
          <p:cNvPr id="134" name="Google Shape;134;p3"/>
          <p:cNvGrpSpPr/>
          <p:nvPr/>
        </p:nvGrpSpPr>
        <p:grpSpPr>
          <a:xfrm>
            <a:off x="-1415561" y="8299195"/>
            <a:ext cx="3086100" cy="3086100"/>
            <a:chOff x="0" y="0"/>
            <a:chExt cx="812800" cy="812800"/>
          </a:xfrm>
        </p:grpSpPr>
        <p:sp>
          <p:nvSpPr>
            <p:cNvPr id="135" name="Google Shape;13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3"/>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7" name="Google Shape;137;p3"/>
          <p:cNvGrpSpPr/>
          <p:nvPr/>
        </p:nvGrpSpPr>
        <p:grpSpPr>
          <a:xfrm>
            <a:off x="17259300" y="9258300"/>
            <a:ext cx="3086100" cy="3086100"/>
            <a:chOff x="0" y="0"/>
            <a:chExt cx="812800" cy="812800"/>
          </a:xfrm>
        </p:grpSpPr>
        <p:sp>
          <p:nvSpPr>
            <p:cNvPr id="138" name="Google Shape;138;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3"/>
          <p:cNvSpPr/>
          <p:nvPr/>
        </p:nvSpPr>
        <p:spPr>
          <a:xfrm>
            <a:off x="-1247819" y="6472207"/>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sp>
        <p:nvSpPr>
          <p:cNvPr id="141" name="Google Shape;141;p3"/>
          <p:cNvSpPr/>
          <p:nvPr/>
        </p:nvSpPr>
        <p:spPr>
          <a:xfrm>
            <a:off x="8768684" y="455237"/>
            <a:ext cx="9519316" cy="9376526"/>
          </a:xfrm>
          <a:custGeom>
            <a:rect b="b" l="l" r="r" t="t"/>
            <a:pathLst>
              <a:path extrusionOk="0" h="9376526" w="9519316">
                <a:moveTo>
                  <a:pt x="0" y="0"/>
                </a:moveTo>
                <a:lnTo>
                  <a:pt x="9519316" y="0"/>
                </a:lnTo>
                <a:lnTo>
                  <a:pt x="9519316" y="9376526"/>
                </a:lnTo>
                <a:lnTo>
                  <a:pt x="0" y="9376526"/>
                </a:lnTo>
                <a:lnTo>
                  <a:pt x="0" y="0"/>
                </a:lnTo>
                <a:close/>
              </a:path>
            </a:pathLst>
          </a:custGeom>
          <a:blipFill rotWithShape="1">
            <a:blip r:embed="rId4">
              <a:alphaModFix/>
            </a:blip>
            <a:stretch>
              <a:fillRect b="0" l="0" r="0" t="0"/>
            </a:stretch>
          </a:blipFill>
          <a:ln>
            <a:noFill/>
          </a:ln>
        </p:spPr>
      </p:sp>
      <p:sp>
        <p:nvSpPr>
          <p:cNvPr id="142" name="Google Shape;142;p3"/>
          <p:cNvSpPr txBox="1"/>
          <p:nvPr/>
        </p:nvSpPr>
        <p:spPr>
          <a:xfrm>
            <a:off x="1422717" y="1051560"/>
            <a:ext cx="7171069" cy="8206740"/>
          </a:xfrm>
          <a:prstGeom prst="rect">
            <a:avLst/>
          </a:prstGeom>
          <a:noFill/>
          <a:ln>
            <a:noFill/>
          </a:ln>
        </p:spPr>
        <p:txBody>
          <a:bodyPr anchorCtr="0" anchor="t" bIns="0" lIns="0" spcFirstLastPara="1" rIns="0" wrap="square" tIns="0">
            <a:spAutoFit/>
          </a:bodyPr>
          <a:lstStyle/>
          <a:p>
            <a:pPr indent="0" lvl="0" marL="0" marR="0" rtl="0" algn="l">
              <a:lnSpc>
                <a:spcPct val="139974"/>
              </a:lnSpc>
              <a:spcBef>
                <a:spcPts val="0"/>
              </a:spcBef>
              <a:spcAft>
                <a:spcPts val="0"/>
              </a:spcAft>
              <a:buClr>
                <a:srgbClr val="000000"/>
              </a:buClr>
              <a:buSzPts val="3900"/>
              <a:buFont typeface="Arial"/>
              <a:buNone/>
            </a:pPr>
            <a:r>
              <a:rPr b="0" i="0" lang="en-US" sz="3900" u="none" cap="none" strike="noStrike">
                <a:solidFill>
                  <a:srgbClr val="EBEBEB"/>
                </a:solidFill>
                <a:latin typeface="Arial"/>
                <a:ea typeface="Arial"/>
                <a:cs typeface="Arial"/>
                <a:sym typeface="Arial"/>
              </a:rPr>
              <a:t>El ciclo de vida del software define las fases por las que pasa un proyecto de software, desde su concepción hasta su retiro, y en cada una de estas fases se aplican actividades de aseguramiento de la calidad para garantizar que el producto final cumpla con los estándares y requisitos establecidos.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146" name="Shape 146"/>
        <p:cNvGrpSpPr/>
        <p:nvPr/>
      </p:nvGrpSpPr>
      <p:grpSpPr>
        <a:xfrm>
          <a:off x="0" y="0"/>
          <a:ext cx="0" cy="0"/>
          <a:chOff x="0" y="0"/>
          <a:chExt cx="0" cy="0"/>
        </a:xfrm>
      </p:grpSpPr>
      <p:grpSp>
        <p:nvGrpSpPr>
          <p:cNvPr id="147" name="Google Shape;147;p4"/>
          <p:cNvGrpSpPr/>
          <p:nvPr/>
        </p:nvGrpSpPr>
        <p:grpSpPr>
          <a:xfrm>
            <a:off x="-1415561" y="8299195"/>
            <a:ext cx="3086100" cy="3086100"/>
            <a:chOff x="0" y="0"/>
            <a:chExt cx="812800" cy="812800"/>
          </a:xfrm>
        </p:grpSpPr>
        <p:sp>
          <p:nvSpPr>
            <p:cNvPr id="148" name="Google Shape;14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4"/>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4"/>
          <p:cNvGrpSpPr/>
          <p:nvPr/>
        </p:nvGrpSpPr>
        <p:grpSpPr>
          <a:xfrm>
            <a:off x="17259300" y="9258300"/>
            <a:ext cx="3086100" cy="3086100"/>
            <a:chOff x="0" y="0"/>
            <a:chExt cx="812800" cy="812800"/>
          </a:xfrm>
        </p:grpSpPr>
        <p:sp>
          <p:nvSpPr>
            <p:cNvPr id="151" name="Google Shape;15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4"/>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53" name="Google Shape;153;p4"/>
          <p:cNvSpPr/>
          <p:nvPr/>
        </p:nvSpPr>
        <p:spPr>
          <a:xfrm>
            <a:off x="-1247819" y="6472207"/>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sp>
        <p:nvSpPr>
          <p:cNvPr id="154" name="Google Shape;154;p4"/>
          <p:cNvSpPr/>
          <p:nvPr/>
        </p:nvSpPr>
        <p:spPr>
          <a:xfrm>
            <a:off x="10857961" y="4471789"/>
            <a:ext cx="6401339" cy="4000837"/>
          </a:xfrm>
          <a:custGeom>
            <a:rect b="b" l="l" r="r" t="t"/>
            <a:pathLst>
              <a:path extrusionOk="0" h="4000837" w="6401339">
                <a:moveTo>
                  <a:pt x="0" y="0"/>
                </a:moveTo>
                <a:lnTo>
                  <a:pt x="6401339" y="0"/>
                </a:lnTo>
                <a:lnTo>
                  <a:pt x="6401339" y="4000837"/>
                </a:lnTo>
                <a:lnTo>
                  <a:pt x="0" y="4000837"/>
                </a:lnTo>
                <a:lnTo>
                  <a:pt x="0" y="0"/>
                </a:lnTo>
                <a:close/>
              </a:path>
            </a:pathLst>
          </a:custGeom>
          <a:blipFill rotWithShape="1">
            <a:blip r:embed="rId4">
              <a:alphaModFix/>
            </a:blip>
            <a:stretch>
              <a:fillRect b="0" l="0" r="0" t="0"/>
            </a:stretch>
          </a:blipFill>
          <a:ln>
            <a:noFill/>
          </a:ln>
        </p:spPr>
      </p:sp>
      <p:sp>
        <p:nvSpPr>
          <p:cNvPr id="155" name="Google Shape;155;p4"/>
          <p:cNvSpPr txBox="1"/>
          <p:nvPr/>
        </p:nvSpPr>
        <p:spPr>
          <a:xfrm>
            <a:off x="1443047" y="3148300"/>
            <a:ext cx="8153263" cy="658114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Clr>
                <a:srgbClr val="000000"/>
              </a:buClr>
              <a:buSzPts val="3399"/>
              <a:buFont typeface="Arial"/>
              <a:buNone/>
            </a:pPr>
            <a:r>
              <a:rPr b="0" i="0" lang="en-US" sz="3399" u="none" cap="none" strike="noStrike">
                <a:solidFill>
                  <a:srgbClr val="EBEBEB"/>
                </a:solidFill>
                <a:latin typeface="Arial"/>
                <a:ea typeface="Arial"/>
                <a:cs typeface="Arial"/>
                <a:sym typeface="Arial"/>
              </a:rPr>
              <a:t>Es un conjunto de actividades y procesos sistemáticos diseñados para garantizar que el software cumpla con los estándares de calidad establecidos y satisfaga las expectativas del cliente. El SQA no se limita a la fase de pruebas, sino que abarca todo el ciclo de vida del software, con el objetivo de prevenir defectos en lugar de simplemente detectarlos.</a:t>
            </a:r>
            <a:endParaRPr b="0" i="0" sz="1400" u="none" cap="none" strike="noStrike">
              <a:solidFill>
                <a:srgbClr val="000000"/>
              </a:solidFill>
              <a:latin typeface="Arial"/>
              <a:ea typeface="Arial"/>
              <a:cs typeface="Arial"/>
              <a:sym typeface="Arial"/>
            </a:endParaRPr>
          </a:p>
        </p:txBody>
      </p:sp>
      <p:sp>
        <p:nvSpPr>
          <p:cNvPr id="156" name="Google Shape;156;p4"/>
          <p:cNvSpPr txBox="1"/>
          <p:nvPr/>
        </p:nvSpPr>
        <p:spPr>
          <a:xfrm>
            <a:off x="0" y="575751"/>
            <a:ext cx="18288000" cy="2047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6500"/>
              <a:buFont typeface="Arial"/>
              <a:buNone/>
            </a:pPr>
            <a:r>
              <a:rPr b="1" i="0" lang="en-US" sz="6500" u="none" cap="none" strike="noStrike">
                <a:solidFill>
                  <a:srgbClr val="FFFFFF"/>
                </a:solidFill>
                <a:latin typeface="Poppins"/>
                <a:ea typeface="Poppins"/>
                <a:cs typeface="Poppins"/>
                <a:sym typeface="Poppins"/>
              </a:rPr>
              <a:t>EL ASEGURAMIENTO DE LA CALIDAD DEL SOFTWARE (SQA)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160" name="Shape 160"/>
        <p:cNvGrpSpPr/>
        <p:nvPr/>
      </p:nvGrpSpPr>
      <p:grpSpPr>
        <a:xfrm>
          <a:off x="0" y="0"/>
          <a:ext cx="0" cy="0"/>
          <a:chOff x="0" y="0"/>
          <a:chExt cx="0" cy="0"/>
        </a:xfrm>
      </p:grpSpPr>
      <p:sp>
        <p:nvSpPr>
          <p:cNvPr id="161" name="Google Shape;161;p5"/>
          <p:cNvSpPr/>
          <p:nvPr/>
        </p:nvSpPr>
        <p:spPr>
          <a:xfrm flipH="1" rot="10800000">
            <a:off x="9329210" y="-1424408"/>
            <a:ext cx="10622517" cy="5771568"/>
          </a:xfrm>
          <a:custGeom>
            <a:rect b="b" l="l" r="r" t="t"/>
            <a:pathLst>
              <a:path extrusionOk="0" h="5771568" w="10622517">
                <a:moveTo>
                  <a:pt x="0" y="5771568"/>
                </a:moveTo>
                <a:lnTo>
                  <a:pt x="10622517" y="5771568"/>
                </a:lnTo>
                <a:lnTo>
                  <a:pt x="10622517" y="0"/>
                </a:lnTo>
                <a:lnTo>
                  <a:pt x="0" y="0"/>
                </a:lnTo>
                <a:lnTo>
                  <a:pt x="0" y="5771568"/>
                </a:lnTo>
                <a:close/>
              </a:path>
            </a:pathLst>
          </a:custGeom>
          <a:blipFill rotWithShape="1">
            <a:blip r:embed="rId3">
              <a:alphaModFix/>
            </a:blip>
            <a:stretch>
              <a:fillRect b="0" l="0" r="0" t="0"/>
            </a:stretch>
          </a:blipFill>
          <a:ln>
            <a:noFill/>
          </a:ln>
        </p:spPr>
      </p:sp>
      <p:sp>
        <p:nvSpPr>
          <p:cNvPr id="162" name="Google Shape;162;p5"/>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63" name="Google Shape;163;p5"/>
          <p:cNvSpPr/>
          <p:nvPr/>
        </p:nvSpPr>
        <p:spPr>
          <a:xfrm>
            <a:off x="-302028" y="5416091"/>
            <a:ext cx="1917346" cy="1736070"/>
          </a:xfrm>
          <a:custGeom>
            <a:rect b="b" l="l" r="r" t="t"/>
            <a:pathLst>
              <a:path extrusionOk="0" h="1736070" w="1917346">
                <a:moveTo>
                  <a:pt x="0" y="0"/>
                </a:moveTo>
                <a:lnTo>
                  <a:pt x="1917345" y="0"/>
                </a:lnTo>
                <a:lnTo>
                  <a:pt x="1917345" y="1736069"/>
                </a:lnTo>
                <a:lnTo>
                  <a:pt x="0" y="1736069"/>
                </a:lnTo>
                <a:lnTo>
                  <a:pt x="0" y="0"/>
                </a:lnTo>
                <a:close/>
              </a:path>
            </a:pathLst>
          </a:custGeom>
          <a:blipFill rotWithShape="1">
            <a:blip r:embed="rId5">
              <a:alphaModFix amt="38000"/>
            </a:blip>
            <a:stretch>
              <a:fillRect b="0" l="0" r="0" t="0"/>
            </a:stretch>
          </a:blipFill>
          <a:ln>
            <a:noFill/>
          </a:ln>
        </p:spPr>
      </p:sp>
      <p:grpSp>
        <p:nvGrpSpPr>
          <p:cNvPr id="164" name="Google Shape;164;p5"/>
          <p:cNvGrpSpPr/>
          <p:nvPr/>
        </p:nvGrpSpPr>
        <p:grpSpPr>
          <a:xfrm>
            <a:off x="1062938" y="2638803"/>
            <a:ext cx="7620000" cy="7217197"/>
            <a:chOff x="0" y="-28575"/>
            <a:chExt cx="2964596" cy="2807884"/>
          </a:xfrm>
        </p:grpSpPr>
        <p:sp>
          <p:nvSpPr>
            <p:cNvPr id="165" name="Google Shape;165;p5"/>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5"/>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67" name="Google Shape;167;p5"/>
          <p:cNvGrpSpPr/>
          <p:nvPr/>
        </p:nvGrpSpPr>
        <p:grpSpPr>
          <a:xfrm>
            <a:off x="9544050" y="2638803"/>
            <a:ext cx="7620000" cy="7217197"/>
            <a:chOff x="0" y="-28575"/>
            <a:chExt cx="2964596" cy="2807884"/>
          </a:xfrm>
        </p:grpSpPr>
        <p:sp>
          <p:nvSpPr>
            <p:cNvPr id="168" name="Google Shape;168;p5"/>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5"/>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0" name="Google Shape;170;p5"/>
          <p:cNvSpPr txBox="1"/>
          <p:nvPr/>
        </p:nvSpPr>
        <p:spPr>
          <a:xfrm>
            <a:off x="1737605" y="1132505"/>
            <a:ext cx="6270665"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rgbClr val="FFFFFF"/>
                </a:solidFill>
                <a:latin typeface="Poppins"/>
                <a:ea typeface="Poppins"/>
                <a:cs typeface="Poppins"/>
                <a:sym typeface="Poppins"/>
              </a:rPr>
              <a:t>FASE: ANÁLISIS</a:t>
            </a:r>
            <a:endParaRPr b="0" i="0" sz="1400" u="none" cap="none" strike="noStrike">
              <a:solidFill>
                <a:srgbClr val="000000"/>
              </a:solidFill>
              <a:latin typeface="Arial"/>
              <a:ea typeface="Arial"/>
              <a:cs typeface="Arial"/>
              <a:sym typeface="Arial"/>
            </a:endParaRPr>
          </a:p>
        </p:txBody>
      </p:sp>
      <p:sp>
        <p:nvSpPr>
          <p:cNvPr id="171" name="Google Shape;171;p5"/>
          <p:cNvSpPr txBox="1"/>
          <p:nvPr/>
        </p:nvSpPr>
        <p:spPr>
          <a:xfrm>
            <a:off x="1411887" y="3419475"/>
            <a:ext cx="6922101" cy="5838825"/>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Se identifican y documentan las necesidades del cliente y los objetivos del software. </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El SQA asegura que los requisitos del software estén bien definidos, sean completos, consistentes y medibles.</a:t>
            </a:r>
            <a:endParaRPr b="0" i="0" sz="1400" u="none" cap="none" strike="noStrike">
              <a:solidFill>
                <a:srgbClr val="000000"/>
              </a:solidFill>
              <a:latin typeface="Arial"/>
              <a:ea typeface="Arial"/>
              <a:cs typeface="Arial"/>
              <a:sym typeface="Arial"/>
            </a:endParaRPr>
          </a:p>
          <a:p>
            <a:pPr indent="0" lvl="0" marL="0" marR="0" rtl="0" algn="l">
              <a:lnSpc>
                <a:spcPct val="107588"/>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Requisitos Funcionales</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Requisitos No Funcionales</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p:txBody>
      </p:sp>
      <p:sp>
        <p:nvSpPr>
          <p:cNvPr id="172" name="Google Shape;172;p5"/>
          <p:cNvSpPr txBox="1"/>
          <p:nvPr/>
        </p:nvSpPr>
        <p:spPr>
          <a:xfrm>
            <a:off x="10555784" y="1132505"/>
            <a:ext cx="5596532"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rgbClr val="FFFFFF"/>
                </a:solidFill>
                <a:latin typeface="Poppins"/>
                <a:ea typeface="Poppins"/>
                <a:cs typeface="Poppins"/>
                <a:sym typeface="Poppins"/>
              </a:rPr>
              <a:t>FASE: DISEÑO</a:t>
            </a:r>
            <a:endParaRPr b="0" i="0" sz="1400" u="none" cap="none" strike="noStrike">
              <a:solidFill>
                <a:srgbClr val="000000"/>
              </a:solidFill>
              <a:latin typeface="Arial"/>
              <a:ea typeface="Arial"/>
              <a:cs typeface="Arial"/>
              <a:sym typeface="Arial"/>
            </a:endParaRPr>
          </a:p>
        </p:txBody>
      </p:sp>
      <p:sp>
        <p:nvSpPr>
          <p:cNvPr id="173" name="Google Shape;173;p5"/>
          <p:cNvSpPr txBox="1"/>
          <p:nvPr/>
        </p:nvSpPr>
        <p:spPr>
          <a:xfrm>
            <a:off x="9918943" y="3350425"/>
            <a:ext cx="7023752" cy="586740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Se crea un plan técnico para implementar los requisitos, incluyendo arquitectura y diseño del sistema.</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El SQA verifica que el diseño del software sea coherente con los requisitos y que siga buenas prácticas de arquitectura y diseño.</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Diseño de la Base de Datos</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Diagramas de componentes</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Diseño de la Interfaz de Usuario (Figma)</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177" name="Shape 177"/>
        <p:cNvGrpSpPr/>
        <p:nvPr/>
      </p:nvGrpSpPr>
      <p:grpSpPr>
        <a:xfrm>
          <a:off x="0" y="0"/>
          <a:ext cx="0" cy="0"/>
          <a:chOff x="0" y="0"/>
          <a:chExt cx="0" cy="0"/>
        </a:xfrm>
      </p:grpSpPr>
      <p:sp>
        <p:nvSpPr>
          <p:cNvPr id="178" name="Google Shape;178;p6"/>
          <p:cNvSpPr/>
          <p:nvPr/>
        </p:nvSpPr>
        <p:spPr>
          <a:xfrm flipH="1" rot="10800000">
            <a:off x="9329210" y="-1424408"/>
            <a:ext cx="10622517" cy="5771568"/>
          </a:xfrm>
          <a:custGeom>
            <a:rect b="b" l="l" r="r" t="t"/>
            <a:pathLst>
              <a:path extrusionOk="0" h="5771568" w="10622517">
                <a:moveTo>
                  <a:pt x="0" y="5771568"/>
                </a:moveTo>
                <a:lnTo>
                  <a:pt x="10622517" y="5771568"/>
                </a:lnTo>
                <a:lnTo>
                  <a:pt x="10622517" y="0"/>
                </a:lnTo>
                <a:lnTo>
                  <a:pt x="0" y="0"/>
                </a:lnTo>
                <a:lnTo>
                  <a:pt x="0" y="5771568"/>
                </a:lnTo>
                <a:close/>
              </a:path>
            </a:pathLst>
          </a:custGeom>
          <a:blipFill rotWithShape="1">
            <a:blip r:embed="rId3">
              <a:alphaModFix/>
            </a:blip>
            <a:stretch>
              <a:fillRect b="0" l="0" r="0" t="0"/>
            </a:stretch>
          </a:blipFill>
          <a:ln>
            <a:noFill/>
          </a:ln>
        </p:spPr>
      </p:sp>
      <p:sp>
        <p:nvSpPr>
          <p:cNvPr id="179" name="Google Shape;179;p6"/>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80" name="Google Shape;180;p6"/>
          <p:cNvSpPr/>
          <p:nvPr/>
        </p:nvSpPr>
        <p:spPr>
          <a:xfrm>
            <a:off x="-302028" y="5416091"/>
            <a:ext cx="1917346" cy="1736070"/>
          </a:xfrm>
          <a:custGeom>
            <a:rect b="b" l="l" r="r" t="t"/>
            <a:pathLst>
              <a:path extrusionOk="0" h="1736070" w="1917346">
                <a:moveTo>
                  <a:pt x="0" y="0"/>
                </a:moveTo>
                <a:lnTo>
                  <a:pt x="1917345" y="0"/>
                </a:lnTo>
                <a:lnTo>
                  <a:pt x="1917345" y="1736069"/>
                </a:lnTo>
                <a:lnTo>
                  <a:pt x="0" y="1736069"/>
                </a:lnTo>
                <a:lnTo>
                  <a:pt x="0" y="0"/>
                </a:lnTo>
                <a:close/>
              </a:path>
            </a:pathLst>
          </a:custGeom>
          <a:blipFill rotWithShape="1">
            <a:blip r:embed="rId5">
              <a:alphaModFix amt="38000"/>
            </a:blip>
            <a:stretch>
              <a:fillRect b="0" l="0" r="0" t="0"/>
            </a:stretch>
          </a:blipFill>
          <a:ln>
            <a:noFill/>
          </a:ln>
        </p:spPr>
      </p:sp>
      <p:grpSp>
        <p:nvGrpSpPr>
          <p:cNvPr id="181" name="Google Shape;181;p6"/>
          <p:cNvGrpSpPr/>
          <p:nvPr/>
        </p:nvGrpSpPr>
        <p:grpSpPr>
          <a:xfrm>
            <a:off x="1062938" y="2638803"/>
            <a:ext cx="7620000" cy="7217197"/>
            <a:chOff x="0" y="-28575"/>
            <a:chExt cx="2964596" cy="2807884"/>
          </a:xfrm>
        </p:grpSpPr>
        <p:sp>
          <p:nvSpPr>
            <p:cNvPr id="182" name="Google Shape;182;p6"/>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6"/>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84" name="Google Shape;184;p6"/>
          <p:cNvGrpSpPr/>
          <p:nvPr/>
        </p:nvGrpSpPr>
        <p:grpSpPr>
          <a:xfrm>
            <a:off x="9544050" y="2638803"/>
            <a:ext cx="7620000" cy="7217197"/>
            <a:chOff x="0" y="-28575"/>
            <a:chExt cx="2964596" cy="2807884"/>
          </a:xfrm>
        </p:grpSpPr>
        <p:sp>
          <p:nvSpPr>
            <p:cNvPr id="185" name="Google Shape;185;p6"/>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6"/>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7" name="Google Shape;187;p6"/>
          <p:cNvSpPr txBox="1"/>
          <p:nvPr/>
        </p:nvSpPr>
        <p:spPr>
          <a:xfrm>
            <a:off x="1676461" y="1246805"/>
            <a:ext cx="6392953"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FASE: DESARROLLO</a:t>
            </a:r>
            <a:endParaRPr b="0" i="0" sz="1400" u="none" cap="none" strike="noStrike">
              <a:solidFill>
                <a:srgbClr val="000000"/>
              </a:solidFill>
              <a:latin typeface="Arial"/>
              <a:ea typeface="Arial"/>
              <a:cs typeface="Arial"/>
              <a:sym typeface="Arial"/>
            </a:endParaRPr>
          </a:p>
        </p:txBody>
      </p:sp>
      <p:sp>
        <p:nvSpPr>
          <p:cNvPr id="188" name="Google Shape;188;p6"/>
          <p:cNvSpPr txBox="1"/>
          <p:nvPr/>
        </p:nvSpPr>
        <p:spPr>
          <a:xfrm>
            <a:off x="1411887" y="3564738"/>
            <a:ext cx="6922200" cy="55887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Se escribe el código según el diseño establecido.</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rPr b="0" i="0" lang="en-US" sz="2899" u="none" cap="none" strike="noStrike">
                <a:solidFill>
                  <a:srgbClr val="372A28"/>
                </a:solidFill>
                <a:latin typeface="Arial"/>
                <a:ea typeface="Arial"/>
                <a:cs typeface="Arial"/>
                <a:sym typeface="Arial"/>
              </a:rPr>
              <a:t>El SQA supervisa la escritura del código, asegurando que se sigan estándares de codificación y buenas prácticas.</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l">
              <a:lnSpc>
                <a:spcPct val="107588"/>
              </a:lnSpc>
              <a:spcBef>
                <a:spcPts val="0"/>
              </a:spcBef>
              <a:spcAft>
                <a:spcPts val="0"/>
              </a:spcAft>
              <a:buClr>
                <a:srgbClr val="000000"/>
              </a:buClr>
              <a:buSzPts val="2899"/>
              <a:buFont typeface="Arial"/>
              <a:buNone/>
            </a:pPr>
            <a:r>
              <a:t/>
            </a:r>
            <a:endParaRPr b="0" i="0" sz="2899" u="none" cap="none" strike="noStrike">
              <a:solidFill>
                <a:srgbClr val="372A28"/>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Principios SOLID</a:t>
            </a:r>
            <a:endParaRPr b="0" i="0" sz="1400" u="none" cap="none" strike="noStrike">
              <a:solidFill>
                <a:srgbClr val="000000"/>
              </a:solidFill>
              <a:latin typeface="Arial"/>
              <a:ea typeface="Arial"/>
              <a:cs typeface="Arial"/>
              <a:sym typeface="Arial"/>
            </a:endParaRPr>
          </a:p>
          <a:p>
            <a:pPr indent="0" lvl="0" marL="0" marR="0" rtl="0" algn="ctr">
              <a:lnSpc>
                <a:spcPct val="120007"/>
              </a:lnSpc>
              <a:spcBef>
                <a:spcPts val="0"/>
              </a:spcBef>
              <a:spcAft>
                <a:spcPts val="0"/>
              </a:spcAft>
              <a:buClr>
                <a:srgbClr val="000000"/>
              </a:buClr>
              <a:buSzPts val="2599"/>
              <a:buFont typeface="Arial"/>
              <a:buNone/>
            </a:pPr>
            <a:r>
              <a:rPr b="1" i="0" lang="en-US" sz="2599" u="none" cap="none" strike="noStrike">
                <a:solidFill>
                  <a:srgbClr val="372A28"/>
                </a:solidFill>
                <a:latin typeface="Arial"/>
                <a:ea typeface="Arial"/>
                <a:cs typeface="Arial"/>
                <a:sym typeface="Arial"/>
              </a:rPr>
              <a:t>Patrones de diseño</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1" i="0" sz="2599" u="none" cap="none" strike="noStrike">
              <a:solidFill>
                <a:srgbClr val="372A28"/>
              </a:solidFill>
              <a:latin typeface="Arial"/>
              <a:ea typeface="Arial"/>
              <a:cs typeface="Arial"/>
              <a:sym typeface="Arial"/>
            </a:endParaRPr>
          </a:p>
        </p:txBody>
      </p:sp>
      <p:sp>
        <p:nvSpPr>
          <p:cNvPr id="189" name="Google Shape;189;p6"/>
          <p:cNvSpPr txBox="1"/>
          <p:nvPr/>
        </p:nvSpPr>
        <p:spPr>
          <a:xfrm>
            <a:off x="10676447" y="1218230"/>
            <a:ext cx="5355207" cy="876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5499"/>
              <a:buFont typeface="Arial"/>
              <a:buNone/>
            </a:pPr>
            <a:r>
              <a:rPr b="1" i="0" lang="en-US" sz="5499" u="none" cap="none" strike="noStrike">
                <a:solidFill>
                  <a:srgbClr val="FFFFFF"/>
                </a:solidFill>
                <a:latin typeface="Poppins"/>
                <a:ea typeface="Poppins"/>
                <a:cs typeface="Poppins"/>
                <a:sym typeface="Poppins"/>
              </a:rPr>
              <a:t>FASE: PRUEBAS</a:t>
            </a:r>
            <a:endParaRPr b="0" i="0" sz="1400" u="none" cap="none" strike="noStrike">
              <a:solidFill>
                <a:srgbClr val="000000"/>
              </a:solidFill>
              <a:latin typeface="Arial"/>
              <a:ea typeface="Arial"/>
              <a:cs typeface="Arial"/>
              <a:sym typeface="Arial"/>
            </a:endParaRPr>
          </a:p>
        </p:txBody>
      </p:sp>
      <p:sp>
        <p:nvSpPr>
          <p:cNvPr id="190" name="Google Shape;190;p6"/>
          <p:cNvSpPr txBox="1"/>
          <p:nvPr/>
        </p:nvSpPr>
        <p:spPr>
          <a:xfrm>
            <a:off x="9842174" y="3555213"/>
            <a:ext cx="7023752" cy="409575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699"/>
              <a:buFont typeface="Arial"/>
              <a:buNone/>
            </a:pPr>
            <a:r>
              <a:rPr b="0" i="0" lang="en-US" sz="2699" u="none" cap="none" strike="noStrike">
                <a:solidFill>
                  <a:srgbClr val="372A28"/>
                </a:solidFill>
                <a:latin typeface="Arial"/>
                <a:ea typeface="Arial"/>
                <a:cs typeface="Arial"/>
                <a:sym typeface="Arial"/>
              </a:rPr>
              <a:t>El equipo de desarrollo hace pruebas técnicas porque están directamente relacionadas con el código y su implementación. </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699"/>
              <a:buFont typeface="Arial"/>
              <a:buNone/>
            </a:pPr>
            <a:r>
              <a:t/>
            </a:r>
            <a:endParaRPr b="0" i="0" sz="26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699"/>
              <a:buFont typeface="Arial"/>
              <a:buNone/>
            </a:pPr>
            <a:r>
              <a:rPr b="0" i="0" lang="en-US" sz="2699" u="none" cap="none" strike="noStrike">
                <a:solidFill>
                  <a:srgbClr val="372A28"/>
                </a:solidFill>
                <a:latin typeface="Arial"/>
                <a:ea typeface="Arial"/>
                <a:cs typeface="Arial"/>
                <a:sym typeface="Arial"/>
              </a:rPr>
              <a:t>El equipo de QA hace pruebas funcionales y no funcionales porque se enfocan en validar el software desde la perspectiva del usuario y los requisitos del negocio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194" name="Shape 194"/>
        <p:cNvGrpSpPr/>
        <p:nvPr/>
      </p:nvGrpSpPr>
      <p:grpSpPr>
        <a:xfrm>
          <a:off x="0" y="0"/>
          <a:ext cx="0" cy="0"/>
          <a:chOff x="0" y="0"/>
          <a:chExt cx="0" cy="0"/>
        </a:xfrm>
      </p:grpSpPr>
      <p:sp>
        <p:nvSpPr>
          <p:cNvPr id="195" name="Google Shape;195;p7"/>
          <p:cNvSpPr/>
          <p:nvPr/>
        </p:nvSpPr>
        <p:spPr>
          <a:xfrm flipH="1">
            <a:off x="-1707716" y="7014377"/>
            <a:ext cx="19995716" cy="4487845"/>
          </a:xfrm>
          <a:custGeom>
            <a:rect b="b" l="l" r="r" t="t"/>
            <a:pathLst>
              <a:path extrusionOk="0" h="4487845" w="19995716">
                <a:moveTo>
                  <a:pt x="19995716" y="0"/>
                </a:moveTo>
                <a:lnTo>
                  <a:pt x="0" y="0"/>
                </a:lnTo>
                <a:lnTo>
                  <a:pt x="0" y="4487846"/>
                </a:lnTo>
                <a:lnTo>
                  <a:pt x="19995716" y="4487846"/>
                </a:lnTo>
                <a:lnTo>
                  <a:pt x="19995716" y="0"/>
                </a:lnTo>
                <a:close/>
              </a:path>
            </a:pathLst>
          </a:custGeom>
          <a:blipFill rotWithShape="1">
            <a:blip r:embed="rId3">
              <a:alphaModFix amt="80000"/>
            </a:blip>
            <a:stretch>
              <a:fillRect b="-62747" l="0" r="0" t="0"/>
            </a:stretch>
          </a:blipFill>
          <a:ln>
            <a:noFill/>
          </a:ln>
        </p:spPr>
      </p:sp>
      <p:sp>
        <p:nvSpPr>
          <p:cNvPr id="196" name="Google Shape;196;p7"/>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197" name="Google Shape;197;p7"/>
          <p:cNvSpPr/>
          <p:nvPr/>
        </p:nvSpPr>
        <p:spPr>
          <a:xfrm>
            <a:off x="-61194" y="7192651"/>
            <a:ext cx="1917346" cy="1736070"/>
          </a:xfrm>
          <a:custGeom>
            <a:rect b="b" l="l" r="r" t="t"/>
            <a:pathLst>
              <a:path extrusionOk="0" h="1736070" w="1917346">
                <a:moveTo>
                  <a:pt x="0" y="0"/>
                </a:moveTo>
                <a:lnTo>
                  <a:pt x="1917346" y="0"/>
                </a:lnTo>
                <a:lnTo>
                  <a:pt x="1917346" y="1736069"/>
                </a:lnTo>
                <a:lnTo>
                  <a:pt x="0" y="1736069"/>
                </a:lnTo>
                <a:lnTo>
                  <a:pt x="0" y="0"/>
                </a:lnTo>
                <a:close/>
              </a:path>
            </a:pathLst>
          </a:custGeom>
          <a:blipFill rotWithShape="1">
            <a:blip r:embed="rId5">
              <a:alphaModFix amt="38000"/>
            </a:blip>
            <a:stretch>
              <a:fillRect b="0" l="0" r="0" t="0"/>
            </a:stretch>
          </a:blipFill>
          <a:ln>
            <a:noFill/>
          </a:ln>
        </p:spPr>
      </p:sp>
      <p:sp>
        <p:nvSpPr>
          <p:cNvPr id="198" name="Google Shape;198;p7"/>
          <p:cNvSpPr/>
          <p:nvPr/>
        </p:nvSpPr>
        <p:spPr>
          <a:xfrm>
            <a:off x="8025849" y="8198847"/>
            <a:ext cx="3103222" cy="1427482"/>
          </a:xfrm>
          <a:custGeom>
            <a:rect b="b" l="l" r="r" t="t"/>
            <a:pathLst>
              <a:path extrusionOk="0" h="1427482" w="3103222">
                <a:moveTo>
                  <a:pt x="0" y="0"/>
                </a:moveTo>
                <a:lnTo>
                  <a:pt x="3103222" y="0"/>
                </a:lnTo>
                <a:lnTo>
                  <a:pt x="3103222" y="1427482"/>
                </a:lnTo>
                <a:lnTo>
                  <a:pt x="0" y="1427482"/>
                </a:lnTo>
                <a:lnTo>
                  <a:pt x="0" y="0"/>
                </a:lnTo>
                <a:close/>
              </a:path>
            </a:pathLst>
          </a:custGeom>
          <a:blipFill rotWithShape="1">
            <a:blip r:embed="rId6">
              <a:alphaModFix/>
            </a:blip>
            <a:stretch>
              <a:fillRect b="0" l="0" r="0" t="0"/>
            </a:stretch>
          </a:blipFill>
          <a:ln>
            <a:noFill/>
          </a:ln>
        </p:spPr>
      </p:sp>
      <p:sp>
        <p:nvSpPr>
          <p:cNvPr id="199" name="Google Shape;199;p7"/>
          <p:cNvSpPr/>
          <p:nvPr/>
        </p:nvSpPr>
        <p:spPr>
          <a:xfrm>
            <a:off x="8221443" y="2100430"/>
            <a:ext cx="3103222" cy="1427482"/>
          </a:xfrm>
          <a:custGeom>
            <a:rect b="b" l="l" r="r" t="t"/>
            <a:pathLst>
              <a:path extrusionOk="0" h="1427482" w="3103222">
                <a:moveTo>
                  <a:pt x="0" y="0"/>
                </a:moveTo>
                <a:lnTo>
                  <a:pt x="3103222" y="0"/>
                </a:lnTo>
                <a:lnTo>
                  <a:pt x="3103222" y="1427482"/>
                </a:lnTo>
                <a:lnTo>
                  <a:pt x="0" y="1427482"/>
                </a:lnTo>
                <a:lnTo>
                  <a:pt x="0" y="0"/>
                </a:lnTo>
                <a:close/>
              </a:path>
            </a:pathLst>
          </a:custGeom>
          <a:blipFill rotWithShape="1">
            <a:blip r:embed="rId6">
              <a:alphaModFix/>
            </a:blip>
            <a:stretch>
              <a:fillRect b="0" l="0" r="0" t="0"/>
            </a:stretch>
          </a:blipFill>
          <a:ln>
            <a:noFill/>
          </a:ln>
        </p:spPr>
      </p:sp>
      <p:grpSp>
        <p:nvGrpSpPr>
          <p:cNvPr id="200" name="Google Shape;200;p7"/>
          <p:cNvGrpSpPr/>
          <p:nvPr/>
        </p:nvGrpSpPr>
        <p:grpSpPr>
          <a:xfrm>
            <a:off x="10467416" y="240324"/>
            <a:ext cx="6280499" cy="4746100"/>
            <a:chOff x="0" y="-28575"/>
            <a:chExt cx="2276039" cy="1719976"/>
          </a:xfrm>
        </p:grpSpPr>
        <p:sp>
          <p:nvSpPr>
            <p:cNvPr id="201" name="Google Shape;201;p7"/>
            <p:cNvSpPr/>
            <p:nvPr/>
          </p:nvSpPr>
          <p:spPr>
            <a:xfrm>
              <a:off x="0" y="0"/>
              <a:ext cx="2276039" cy="1691401"/>
            </a:xfrm>
            <a:custGeom>
              <a:rect b="b" l="l" r="r" t="t"/>
              <a:pathLst>
                <a:path extrusionOk="0" h="1691401" w="2276039">
                  <a:moveTo>
                    <a:pt x="62867" y="0"/>
                  </a:moveTo>
                  <a:lnTo>
                    <a:pt x="2213172" y="0"/>
                  </a:lnTo>
                  <a:cubicBezTo>
                    <a:pt x="2247892" y="0"/>
                    <a:pt x="2276039" y="28147"/>
                    <a:pt x="2276039" y="62867"/>
                  </a:cubicBezTo>
                  <a:lnTo>
                    <a:pt x="2276039" y="1628534"/>
                  </a:lnTo>
                  <a:cubicBezTo>
                    <a:pt x="2276039" y="1663254"/>
                    <a:pt x="2247892" y="1691401"/>
                    <a:pt x="2213172" y="1691401"/>
                  </a:cubicBezTo>
                  <a:lnTo>
                    <a:pt x="62867" y="1691401"/>
                  </a:lnTo>
                  <a:cubicBezTo>
                    <a:pt x="46194" y="1691401"/>
                    <a:pt x="30203" y="1684778"/>
                    <a:pt x="18413" y="1672988"/>
                  </a:cubicBezTo>
                  <a:cubicBezTo>
                    <a:pt x="6623" y="1661198"/>
                    <a:pt x="0" y="1645207"/>
                    <a:pt x="0" y="1628534"/>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7"/>
            <p:cNvSpPr txBox="1"/>
            <p:nvPr/>
          </p:nvSpPr>
          <p:spPr>
            <a:xfrm>
              <a:off x="0" y="-28575"/>
              <a:ext cx="2276039" cy="171997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3" name="Google Shape;203;p7"/>
          <p:cNvGrpSpPr/>
          <p:nvPr/>
        </p:nvGrpSpPr>
        <p:grpSpPr>
          <a:xfrm>
            <a:off x="1524000" y="2740724"/>
            <a:ext cx="7620000" cy="5642082"/>
            <a:chOff x="0" y="-97930"/>
            <a:chExt cx="10160000" cy="7522777"/>
          </a:xfrm>
        </p:grpSpPr>
        <p:grpSp>
          <p:nvGrpSpPr>
            <p:cNvPr id="204" name="Google Shape;204;p7"/>
            <p:cNvGrpSpPr/>
            <p:nvPr/>
          </p:nvGrpSpPr>
          <p:grpSpPr>
            <a:xfrm>
              <a:off x="0" y="-97930"/>
              <a:ext cx="10160000" cy="7522777"/>
              <a:chOff x="0" y="-28575"/>
              <a:chExt cx="2964596" cy="2195078"/>
            </a:xfrm>
          </p:grpSpPr>
          <p:sp>
            <p:nvSpPr>
              <p:cNvPr id="205" name="Google Shape;205;p7"/>
              <p:cNvSpPr/>
              <p:nvPr/>
            </p:nvSpPr>
            <p:spPr>
              <a:xfrm>
                <a:off x="0" y="0"/>
                <a:ext cx="2964596" cy="2166503"/>
              </a:xfrm>
              <a:custGeom>
                <a:rect b="b" l="l" r="r" t="t"/>
                <a:pathLst>
                  <a:path extrusionOk="0" h="2166503" w="2964596">
                    <a:moveTo>
                      <a:pt x="51816" y="0"/>
                    </a:moveTo>
                    <a:lnTo>
                      <a:pt x="2912780" y="0"/>
                    </a:lnTo>
                    <a:cubicBezTo>
                      <a:pt x="2926522" y="0"/>
                      <a:pt x="2939702" y="5459"/>
                      <a:pt x="2949419" y="15177"/>
                    </a:cubicBezTo>
                    <a:cubicBezTo>
                      <a:pt x="2959137" y="24894"/>
                      <a:pt x="2964596" y="38074"/>
                      <a:pt x="2964596" y="51816"/>
                    </a:cubicBezTo>
                    <a:lnTo>
                      <a:pt x="2964596" y="2114687"/>
                    </a:lnTo>
                    <a:cubicBezTo>
                      <a:pt x="2964596" y="2143304"/>
                      <a:pt x="2941397" y="2166503"/>
                      <a:pt x="2912780" y="2166503"/>
                    </a:cubicBezTo>
                    <a:lnTo>
                      <a:pt x="51816" y="2166503"/>
                    </a:lnTo>
                    <a:cubicBezTo>
                      <a:pt x="38074" y="2166503"/>
                      <a:pt x="24894" y="2161044"/>
                      <a:pt x="15177" y="2151326"/>
                    </a:cubicBezTo>
                    <a:cubicBezTo>
                      <a:pt x="5459" y="2141609"/>
                      <a:pt x="0" y="2128430"/>
                      <a:pt x="0" y="2114687"/>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7"/>
              <p:cNvSpPr txBox="1"/>
              <p:nvPr/>
            </p:nvSpPr>
            <p:spPr>
              <a:xfrm>
                <a:off x="0" y="-28575"/>
                <a:ext cx="2964596" cy="2195078"/>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7" name="Google Shape;207;p7"/>
            <p:cNvSpPr txBox="1"/>
            <p:nvPr/>
          </p:nvSpPr>
          <p:spPr>
            <a:xfrm>
              <a:off x="465266" y="578699"/>
              <a:ext cx="9229468" cy="6257925"/>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El software se implementa en el entorno de producción para su uso.</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El equipo de desarrollo se enfoca en tareas técnicas como la configuración del entorno, la implementación del código y la resolución de problemas, mientras que el equipo de QA se encarga de validar que el software funcione correctamente en producción y cumpla con los requisitos del cliente</a:t>
              </a:r>
              <a:endParaRPr b="0" i="0" sz="1400" u="none" cap="none" strike="noStrike">
                <a:solidFill>
                  <a:srgbClr val="000000"/>
                </a:solidFill>
                <a:latin typeface="Arial"/>
                <a:ea typeface="Arial"/>
                <a:cs typeface="Arial"/>
                <a:sym typeface="Arial"/>
              </a:endParaRPr>
            </a:p>
            <a:p>
              <a:pPr indent="0" lvl="0" marL="0" marR="0" rtl="0" algn="l">
                <a:lnSpc>
                  <a:spcPct val="120007"/>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p:txBody>
        </p:sp>
      </p:grpSp>
      <p:grpSp>
        <p:nvGrpSpPr>
          <p:cNvPr id="208" name="Google Shape;208;p7"/>
          <p:cNvGrpSpPr/>
          <p:nvPr/>
        </p:nvGrpSpPr>
        <p:grpSpPr>
          <a:xfrm>
            <a:off x="10467416" y="5064650"/>
            <a:ext cx="6280499" cy="4746100"/>
            <a:chOff x="0" y="-28575"/>
            <a:chExt cx="2276039" cy="1719976"/>
          </a:xfrm>
        </p:grpSpPr>
        <p:sp>
          <p:nvSpPr>
            <p:cNvPr id="209" name="Google Shape;209;p7"/>
            <p:cNvSpPr/>
            <p:nvPr/>
          </p:nvSpPr>
          <p:spPr>
            <a:xfrm>
              <a:off x="0" y="0"/>
              <a:ext cx="2276039" cy="1691401"/>
            </a:xfrm>
            <a:custGeom>
              <a:rect b="b" l="l" r="r" t="t"/>
              <a:pathLst>
                <a:path extrusionOk="0" h="1691401" w="2276039">
                  <a:moveTo>
                    <a:pt x="62867" y="0"/>
                  </a:moveTo>
                  <a:lnTo>
                    <a:pt x="2213172" y="0"/>
                  </a:lnTo>
                  <a:cubicBezTo>
                    <a:pt x="2247892" y="0"/>
                    <a:pt x="2276039" y="28147"/>
                    <a:pt x="2276039" y="62867"/>
                  </a:cubicBezTo>
                  <a:lnTo>
                    <a:pt x="2276039" y="1628534"/>
                  </a:lnTo>
                  <a:cubicBezTo>
                    <a:pt x="2276039" y="1663254"/>
                    <a:pt x="2247892" y="1691401"/>
                    <a:pt x="2213172" y="1691401"/>
                  </a:cubicBezTo>
                  <a:lnTo>
                    <a:pt x="62867" y="1691401"/>
                  </a:lnTo>
                  <a:cubicBezTo>
                    <a:pt x="46194" y="1691401"/>
                    <a:pt x="30203" y="1684778"/>
                    <a:pt x="18413" y="1672988"/>
                  </a:cubicBezTo>
                  <a:cubicBezTo>
                    <a:pt x="6623" y="1661198"/>
                    <a:pt x="0" y="1645207"/>
                    <a:pt x="0" y="1628534"/>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7"/>
            <p:cNvSpPr txBox="1"/>
            <p:nvPr/>
          </p:nvSpPr>
          <p:spPr>
            <a:xfrm>
              <a:off x="0" y="-28575"/>
              <a:ext cx="2276039" cy="1719976"/>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1" name="Google Shape;211;p7"/>
          <p:cNvSpPr/>
          <p:nvPr/>
        </p:nvSpPr>
        <p:spPr>
          <a:xfrm>
            <a:off x="363048" y="307723"/>
            <a:ext cx="1697249" cy="2345076"/>
          </a:xfrm>
          <a:custGeom>
            <a:rect b="b" l="l" r="r" t="t"/>
            <a:pathLst>
              <a:path extrusionOk="0" h="2345076" w="1697249">
                <a:moveTo>
                  <a:pt x="0" y="0"/>
                </a:moveTo>
                <a:lnTo>
                  <a:pt x="1697249" y="0"/>
                </a:lnTo>
                <a:lnTo>
                  <a:pt x="1697249" y="2345076"/>
                </a:lnTo>
                <a:lnTo>
                  <a:pt x="0" y="2345076"/>
                </a:lnTo>
                <a:lnTo>
                  <a:pt x="0" y="0"/>
                </a:lnTo>
                <a:close/>
              </a:path>
            </a:pathLst>
          </a:custGeom>
          <a:blipFill rotWithShape="1">
            <a:blip r:embed="rId7">
              <a:alphaModFix/>
            </a:blip>
            <a:stretch>
              <a:fillRect b="0" l="0" r="0" t="0"/>
            </a:stretch>
          </a:blipFill>
          <a:ln>
            <a:noFill/>
          </a:ln>
        </p:spPr>
      </p:sp>
      <p:sp>
        <p:nvSpPr>
          <p:cNvPr id="212" name="Google Shape;212;p7"/>
          <p:cNvSpPr txBox="1"/>
          <p:nvPr/>
        </p:nvSpPr>
        <p:spPr>
          <a:xfrm>
            <a:off x="2265745" y="1432636"/>
            <a:ext cx="6392953"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FASE: DESPLIEGUE</a:t>
            </a:r>
            <a:endParaRPr b="0" i="0" sz="1400" u="none" cap="none" strike="noStrike">
              <a:solidFill>
                <a:srgbClr val="000000"/>
              </a:solidFill>
              <a:latin typeface="Arial"/>
              <a:ea typeface="Arial"/>
              <a:cs typeface="Arial"/>
              <a:sym typeface="Arial"/>
            </a:endParaRPr>
          </a:p>
        </p:txBody>
      </p:sp>
      <p:sp>
        <p:nvSpPr>
          <p:cNvPr id="213" name="Google Shape;213;p7"/>
          <p:cNvSpPr txBox="1"/>
          <p:nvPr/>
        </p:nvSpPr>
        <p:spPr>
          <a:xfrm>
            <a:off x="10572391" y="1681892"/>
            <a:ext cx="6070550" cy="2082457"/>
          </a:xfrm>
          <a:prstGeom prst="rect">
            <a:avLst/>
          </a:prstGeom>
          <a:noFill/>
          <a:ln>
            <a:noFill/>
          </a:ln>
        </p:spPr>
        <p:txBody>
          <a:bodyPr anchorCtr="0" anchor="t" bIns="0" lIns="0" spcFirstLastPara="1" rIns="0" wrap="square" tIns="0">
            <a:spAutoFit/>
          </a:bodyPr>
          <a:lstStyle/>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Preparación del entorno de producción</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Implementación del código</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Migración de datos</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Configuración de variables de entorno</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Rollback (en caso de fallos)</a:t>
            </a:r>
            <a:endParaRPr b="0" i="0" sz="1400" u="none" cap="none" strike="noStrike">
              <a:solidFill>
                <a:srgbClr val="000000"/>
              </a:solidFill>
              <a:latin typeface="Arial"/>
              <a:ea typeface="Arial"/>
              <a:cs typeface="Arial"/>
              <a:sym typeface="Arial"/>
            </a:endParaRPr>
          </a:p>
        </p:txBody>
      </p:sp>
      <p:sp>
        <p:nvSpPr>
          <p:cNvPr id="214" name="Google Shape;214;p7"/>
          <p:cNvSpPr txBox="1"/>
          <p:nvPr/>
        </p:nvSpPr>
        <p:spPr>
          <a:xfrm>
            <a:off x="10572391" y="6427163"/>
            <a:ext cx="5837634" cy="2501557"/>
          </a:xfrm>
          <a:prstGeom prst="rect">
            <a:avLst/>
          </a:prstGeom>
          <a:noFill/>
          <a:ln>
            <a:noFill/>
          </a:ln>
        </p:spPr>
        <p:txBody>
          <a:bodyPr anchorCtr="0" anchor="t" bIns="0" lIns="0" spcFirstLastPara="1" rIns="0" wrap="square" tIns="0">
            <a:spAutoFit/>
          </a:bodyPr>
          <a:lstStyle/>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Pruebas de humo (Smoke Testing)</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Pruebas de sanidad (Sanity Testing)</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Validación del entorno de producción</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Pruebas de aceptación en producción</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Reporte de problemas nuevos</a:t>
            </a:r>
            <a:endParaRPr b="0" i="0" sz="1400" u="none" cap="none" strike="noStrike">
              <a:solidFill>
                <a:srgbClr val="000000"/>
              </a:solidFill>
              <a:latin typeface="Arial"/>
              <a:ea typeface="Arial"/>
              <a:cs typeface="Arial"/>
              <a:sym typeface="Arial"/>
            </a:endParaRPr>
          </a:p>
          <a:p>
            <a:pPr indent="-257838" lvl="1" marL="515676" marR="0" rtl="0" algn="l">
              <a:lnSpc>
                <a:spcPct val="139991"/>
              </a:lnSpc>
              <a:spcBef>
                <a:spcPts val="0"/>
              </a:spcBef>
              <a:spcAft>
                <a:spcPts val="0"/>
              </a:spcAft>
              <a:buClr>
                <a:srgbClr val="000000"/>
              </a:buClr>
              <a:buSzPts val="2388"/>
              <a:buFont typeface="Arial"/>
              <a:buChar char="•"/>
            </a:pPr>
            <a:r>
              <a:rPr b="0" i="0" lang="en-US" sz="2388" u="none" cap="none" strike="noStrike">
                <a:solidFill>
                  <a:srgbClr val="000000"/>
                </a:solidFill>
                <a:latin typeface="Open Sans"/>
                <a:ea typeface="Open Sans"/>
                <a:cs typeface="Open Sans"/>
                <a:sym typeface="Open Sans"/>
              </a:rPr>
              <a:t>Verificación de seguridad</a:t>
            </a:r>
            <a:endParaRPr b="0" i="0" sz="1400" u="none" cap="none" strike="noStrike">
              <a:solidFill>
                <a:srgbClr val="000000"/>
              </a:solidFill>
              <a:latin typeface="Arial"/>
              <a:ea typeface="Arial"/>
              <a:cs typeface="Arial"/>
              <a:sym typeface="Arial"/>
            </a:endParaRPr>
          </a:p>
        </p:txBody>
      </p:sp>
      <p:sp>
        <p:nvSpPr>
          <p:cNvPr id="215" name="Google Shape;215;p7"/>
          <p:cNvSpPr txBox="1"/>
          <p:nvPr/>
        </p:nvSpPr>
        <p:spPr>
          <a:xfrm>
            <a:off x="11324665" y="581025"/>
            <a:ext cx="4333085"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DEV</a:t>
            </a:r>
            <a:endParaRPr b="0" i="0" sz="1400" u="none" cap="none" strike="noStrike">
              <a:solidFill>
                <a:srgbClr val="000000"/>
              </a:solidFill>
              <a:latin typeface="Arial"/>
              <a:ea typeface="Arial"/>
              <a:cs typeface="Arial"/>
              <a:sym typeface="Arial"/>
            </a:endParaRPr>
          </a:p>
        </p:txBody>
      </p:sp>
      <p:sp>
        <p:nvSpPr>
          <p:cNvPr id="216" name="Google Shape;216;p7"/>
          <p:cNvSpPr txBox="1"/>
          <p:nvPr/>
        </p:nvSpPr>
        <p:spPr>
          <a:xfrm>
            <a:off x="11441123" y="5406241"/>
            <a:ext cx="4333085"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QA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220" name="Shape 220"/>
        <p:cNvGrpSpPr/>
        <p:nvPr/>
      </p:nvGrpSpPr>
      <p:grpSpPr>
        <a:xfrm>
          <a:off x="0" y="0"/>
          <a:ext cx="0" cy="0"/>
          <a:chOff x="0" y="0"/>
          <a:chExt cx="0" cy="0"/>
        </a:xfrm>
      </p:grpSpPr>
      <p:sp>
        <p:nvSpPr>
          <p:cNvPr id="221" name="Google Shape;221;p8"/>
          <p:cNvSpPr/>
          <p:nvPr/>
        </p:nvSpPr>
        <p:spPr>
          <a:xfrm rot="10800000">
            <a:off x="11836056" y="-443753"/>
            <a:ext cx="7315200" cy="3976809"/>
          </a:xfrm>
          <a:custGeom>
            <a:rect b="b" l="l" r="r" t="t"/>
            <a:pathLst>
              <a:path extrusionOk="0" h="3976809" w="7315200">
                <a:moveTo>
                  <a:pt x="7315200" y="3976809"/>
                </a:moveTo>
                <a:lnTo>
                  <a:pt x="0" y="3976809"/>
                </a:lnTo>
                <a:lnTo>
                  <a:pt x="0" y="0"/>
                </a:lnTo>
                <a:lnTo>
                  <a:pt x="7315200" y="0"/>
                </a:lnTo>
                <a:lnTo>
                  <a:pt x="7315200" y="3976809"/>
                </a:lnTo>
                <a:close/>
              </a:path>
            </a:pathLst>
          </a:custGeom>
          <a:blipFill rotWithShape="1">
            <a:blip r:embed="rId3">
              <a:alphaModFix/>
            </a:blip>
            <a:stretch>
              <a:fillRect b="0" l="0" r="0" t="0"/>
            </a:stretch>
          </a:blipFill>
          <a:ln>
            <a:noFill/>
          </a:ln>
        </p:spPr>
      </p:sp>
      <p:sp>
        <p:nvSpPr>
          <p:cNvPr id="222" name="Google Shape;222;p8"/>
          <p:cNvSpPr/>
          <p:nvPr/>
        </p:nvSpPr>
        <p:spPr>
          <a:xfrm>
            <a:off x="7592389" y="8135073"/>
            <a:ext cx="3103222" cy="1427482"/>
          </a:xfrm>
          <a:custGeom>
            <a:rect b="b" l="l" r="r" t="t"/>
            <a:pathLst>
              <a:path extrusionOk="0" h="1427482" w="3103222">
                <a:moveTo>
                  <a:pt x="0" y="0"/>
                </a:moveTo>
                <a:lnTo>
                  <a:pt x="3103222" y="0"/>
                </a:lnTo>
                <a:lnTo>
                  <a:pt x="3103222" y="1427483"/>
                </a:lnTo>
                <a:lnTo>
                  <a:pt x="0" y="1427483"/>
                </a:lnTo>
                <a:lnTo>
                  <a:pt x="0" y="0"/>
                </a:lnTo>
                <a:close/>
              </a:path>
            </a:pathLst>
          </a:custGeom>
          <a:blipFill rotWithShape="1">
            <a:blip r:embed="rId4">
              <a:alphaModFix/>
            </a:blip>
            <a:stretch>
              <a:fillRect b="0" l="0" r="0" t="0"/>
            </a:stretch>
          </a:blipFill>
          <a:ln>
            <a:noFill/>
          </a:ln>
        </p:spPr>
      </p:sp>
      <p:sp>
        <p:nvSpPr>
          <p:cNvPr id="223" name="Google Shape;223;p8"/>
          <p:cNvSpPr/>
          <p:nvPr/>
        </p:nvSpPr>
        <p:spPr>
          <a:xfrm>
            <a:off x="7592389" y="2415404"/>
            <a:ext cx="3103222" cy="1427482"/>
          </a:xfrm>
          <a:custGeom>
            <a:rect b="b" l="l" r="r" t="t"/>
            <a:pathLst>
              <a:path extrusionOk="0" h="1427482" w="3103222">
                <a:moveTo>
                  <a:pt x="0" y="0"/>
                </a:moveTo>
                <a:lnTo>
                  <a:pt x="3103222" y="0"/>
                </a:lnTo>
                <a:lnTo>
                  <a:pt x="3103222" y="1427483"/>
                </a:lnTo>
                <a:lnTo>
                  <a:pt x="0" y="1427483"/>
                </a:lnTo>
                <a:lnTo>
                  <a:pt x="0" y="0"/>
                </a:lnTo>
                <a:close/>
              </a:path>
            </a:pathLst>
          </a:custGeom>
          <a:blipFill rotWithShape="1">
            <a:blip r:embed="rId4">
              <a:alphaModFix/>
            </a:blip>
            <a:stretch>
              <a:fillRect b="0" l="0" r="0" t="0"/>
            </a:stretch>
          </a:blipFill>
          <a:ln>
            <a:noFill/>
          </a:ln>
        </p:spPr>
      </p:sp>
      <p:grpSp>
        <p:nvGrpSpPr>
          <p:cNvPr id="224" name="Google Shape;224;p8"/>
          <p:cNvGrpSpPr/>
          <p:nvPr/>
        </p:nvGrpSpPr>
        <p:grpSpPr>
          <a:xfrm>
            <a:off x="9972116" y="318862"/>
            <a:ext cx="6280499" cy="4607901"/>
            <a:chOff x="0" y="-28575"/>
            <a:chExt cx="2276039" cy="1669893"/>
          </a:xfrm>
        </p:grpSpPr>
        <p:sp>
          <p:nvSpPr>
            <p:cNvPr id="225" name="Google Shape;225;p8"/>
            <p:cNvSpPr/>
            <p:nvPr/>
          </p:nvSpPr>
          <p:spPr>
            <a:xfrm>
              <a:off x="0" y="0"/>
              <a:ext cx="2276039" cy="1641318"/>
            </a:xfrm>
            <a:custGeom>
              <a:rect b="b" l="l" r="r" t="t"/>
              <a:pathLst>
                <a:path extrusionOk="0" h="1641318" w="2276039">
                  <a:moveTo>
                    <a:pt x="62867" y="0"/>
                  </a:moveTo>
                  <a:lnTo>
                    <a:pt x="2213172" y="0"/>
                  </a:lnTo>
                  <a:cubicBezTo>
                    <a:pt x="2247892" y="0"/>
                    <a:pt x="2276039" y="28147"/>
                    <a:pt x="2276039" y="62867"/>
                  </a:cubicBezTo>
                  <a:lnTo>
                    <a:pt x="2276039" y="1578451"/>
                  </a:lnTo>
                  <a:cubicBezTo>
                    <a:pt x="2276039" y="1613171"/>
                    <a:pt x="2247892" y="1641318"/>
                    <a:pt x="2213172" y="1641318"/>
                  </a:cubicBezTo>
                  <a:lnTo>
                    <a:pt x="62867" y="1641318"/>
                  </a:lnTo>
                  <a:cubicBezTo>
                    <a:pt x="46194" y="1641318"/>
                    <a:pt x="30203" y="1634694"/>
                    <a:pt x="18413" y="1622904"/>
                  </a:cubicBezTo>
                  <a:cubicBezTo>
                    <a:pt x="6623" y="1611115"/>
                    <a:pt x="0" y="1595124"/>
                    <a:pt x="0" y="1578451"/>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8"/>
            <p:cNvSpPr txBox="1"/>
            <p:nvPr/>
          </p:nvSpPr>
          <p:spPr>
            <a:xfrm>
              <a:off x="0" y="-28575"/>
              <a:ext cx="2276039" cy="16698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7" name="Google Shape;227;p8"/>
          <p:cNvGrpSpPr/>
          <p:nvPr/>
        </p:nvGrpSpPr>
        <p:grpSpPr>
          <a:xfrm>
            <a:off x="1028700" y="3416352"/>
            <a:ext cx="7620000" cy="5209020"/>
            <a:chOff x="0" y="-97930"/>
            <a:chExt cx="10160000" cy="6945360"/>
          </a:xfrm>
        </p:grpSpPr>
        <p:grpSp>
          <p:nvGrpSpPr>
            <p:cNvPr id="228" name="Google Shape;228;p8"/>
            <p:cNvGrpSpPr/>
            <p:nvPr/>
          </p:nvGrpSpPr>
          <p:grpSpPr>
            <a:xfrm>
              <a:off x="0" y="-97930"/>
              <a:ext cx="10160000" cy="6945360"/>
              <a:chOff x="0" y="-28575"/>
              <a:chExt cx="2964596" cy="2026593"/>
            </a:xfrm>
          </p:grpSpPr>
          <p:sp>
            <p:nvSpPr>
              <p:cNvPr id="229" name="Google Shape;229;p8"/>
              <p:cNvSpPr/>
              <p:nvPr/>
            </p:nvSpPr>
            <p:spPr>
              <a:xfrm>
                <a:off x="0" y="0"/>
                <a:ext cx="2964596" cy="1998018"/>
              </a:xfrm>
              <a:custGeom>
                <a:rect b="b" l="l" r="r" t="t"/>
                <a:pathLst>
                  <a:path extrusionOk="0" h="1998018" w="2964596">
                    <a:moveTo>
                      <a:pt x="51816" y="0"/>
                    </a:moveTo>
                    <a:lnTo>
                      <a:pt x="2912780" y="0"/>
                    </a:lnTo>
                    <a:cubicBezTo>
                      <a:pt x="2926522" y="0"/>
                      <a:pt x="2939702" y="5459"/>
                      <a:pt x="2949419" y="15177"/>
                    </a:cubicBezTo>
                    <a:cubicBezTo>
                      <a:pt x="2959137" y="24894"/>
                      <a:pt x="2964596" y="38074"/>
                      <a:pt x="2964596" y="51816"/>
                    </a:cubicBezTo>
                    <a:lnTo>
                      <a:pt x="2964596" y="1946202"/>
                    </a:lnTo>
                    <a:cubicBezTo>
                      <a:pt x="2964596" y="1959945"/>
                      <a:pt x="2959137" y="1973124"/>
                      <a:pt x="2949419" y="1982841"/>
                    </a:cubicBezTo>
                    <a:cubicBezTo>
                      <a:pt x="2939702" y="1992559"/>
                      <a:pt x="2926522" y="1998018"/>
                      <a:pt x="2912780" y="1998018"/>
                    </a:cubicBezTo>
                    <a:lnTo>
                      <a:pt x="51816" y="1998018"/>
                    </a:lnTo>
                    <a:cubicBezTo>
                      <a:pt x="23199" y="1998018"/>
                      <a:pt x="0" y="1974819"/>
                      <a:pt x="0" y="1946202"/>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8"/>
              <p:cNvSpPr txBox="1"/>
              <p:nvPr/>
            </p:nvSpPr>
            <p:spPr>
              <a:xfrm>
                <a:off x="0" y="-28575"/>
                <a:ext cx="2964596" cy="2026593"/>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1" name="Google Shape;231;p8"/>
            <p:cNvSpPr txBox="1"/>
            <p:nvPr/>
          </p:nvSpPr>
          <p:spPr>
            <a:xfrm>
              <a:off x="465266" y="559649"/>
              <a:ext cx="9229468" cy="5699558"/>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372A28"/>
                  </a:solidFill>
                  <a:latin typeface="Arial"/>
                  <a:ea typeface="Arial"/>
                  <a:cs typeface="Arial"/>
                  <a:sym typeface="Arial"/>
                </a:rPr>
                <a:t>La fase de mantenimiento es la etapa en la que el software ya está en producción  y se realizan actividades para asegurar que continúe funcionando correctamente, se adapte a nuevos requisitos y se corrijan problemas que surjan con el tiempo. Esta fase es crítica porque el software no es estático sino que evoluciona con el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372A28"/>
                </a:solidFill>
                <a:latin typeface="Arial"/>
                <a:ea typeface="Arial"/>
                <a:cs typeface="Arial"/>
                <a:sym typeface="Arial"/>
              </a:endParaRPr>
            </a:p>
          </p:txBody>
        </p:sp>
      </p:grpSp>
      <p:grpSp>
        <p:nvGrpSpPr>
          <p:cNvPr id="232" name="Google Shape;232;p8"/>
          <p:cNvGrpSpPr/>
          <p:nvPr/>
        </p:nvGrpSpPr>
        <p:grpSpPr>
          <a:xfrm>
            <a:off x="9972116" y="5143188"/>
            <a:ext cx="6280499" cy="4542798"/>
            <a:chOff x="0" y="-28575"/>
            <a:chExt cx="2276039" cy="1646300"/>
          </a:xfrm>
        </p:grpSpPr>
        <p:sp>
          <p:nvSpPr>
            <p:cNvPr id="233" name="Google Shape;233;p8"/>
            <p:cNvSpPr/>
            <p:nvPr/>
          </p:nvSpPr>
          <p:spPr>
            <a:xfrm>
              <a:off x="0" y="0"/>
              <a:ext cx="2276039" cy="1617725"/>
            </a:xfrm>
            <a:custGeom>
              <a:rect b="b" l="l" r="r" t="t"/>
              <a:pathLst>
                <a:path extrusionOk="0" h="1617725" w="2276039">
                  <a:moveTo>
                    <a:pt x="62867" y="0"/>
                  </a:moveTo>
                  <a:lnTo>
                    <a:pt x="2213172" y="0"/>
                  </a:lnTo>
                  <a:cubicBezTo>
                    <a:pt x="2247892" y="0"/>
                    <a:pt x="2276039" y="28147"/>
                    <a:pt x="2276039" y="62867"/>
                  </a:cubicBezTo>
                  <a:lnTo>
                    <a:pt x="2276039" y="1554857"/>
                  </a:lnTo>
                  <a:cubicBezTo>
                    <a:pt x="2276039" y="1589578"/>
                    <a:pt x="2247892" y="1617725"/>
                    <a:pt x="2213172" y="1617725"/>
                  </a:cubicBezTo>
                  <a:lnTo>
                    <a:pt x="62867" y="1617725"/>
                  </a:lnTo>
                  <a:cubicBezTo>
                    <a:pt x="46194" y="1617725"/>
                    <a:pt x="30203" y="1611101"/>
                    <a:pt x="18413" y="1599311"/>
                  </a:cubicBezTo>
                  <a:cubicBezTo>
                    <a:pt x="6623" y="1587521"/>
                    <a:pt x="0" y="1571531"/>
                    <a:pt x="0" y="1554857"/>
                  </a:cubicBezTo>
                  <a:lnTo>
                    <a:pt x="0" y="62867"/>
                  </a:lnTo>
                  <a:cubicBezTo>
                    <a:pt x="0" y="28147"/>
                    <a:pt x="28147" y="0"/>
                    <a:pt x="62867" y="0"/>
                  </a:cubicBezTo>
                  <a:close/>
                </a:path>
              </a:pathLst>
            </a:custGeom>
            <a:solidFill>
              <a:srgbClr val="E1E1E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8"/>
            <p:cNvSpPr txBox="1"/>
            <p:nvPr/>
          </p:nvSpPr>
          <p:spPr>
            <a:xfrm>
              <a:off x="0" y="-28575"/>
              <a:ext cx="2276039" cy="16463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5" name="Google Shape;235;p8"/>
          <p:cNvSpPr txBox="1"/>
          <p:nvPr/>
        </p:nvSpPr>
        <p:spPr>
          <a:xfrm>
            <a:off x="921812" y="1487501"/>
            <a:ext cx="7833776" cy="876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400"/>
              <a:buFont typeface="Arial"/>
              <a:buNone/>
            </a:pPr>
            <a:r>
              <a:rPr b="1" i="0" lang="en-US" sz="5400" u="none" cap="none" strike="noStrike">
                <a:solidFill>
                  <a:srgbClr val="FFFFFF"/>
                </a:solidFill>
                <a:latin typeface="Poppins"/>
                <a:ea typeface="Poppins"/>
                <a:cs typeface="Poppins"/>
                <a:sym typeface="Poppins"/>
              </a:rPr>
              <a:t>FASE: MANTENIMIENTO</a:t>
            </a:r>
            <a:endParaRPr b="0" i="0" sz="1400" u="none" cap="none" strike="noStrike">
              <a:solidFill>
                <a:srgbClr val="000000"/>
              </a:solidFill>
              <a:latin typeface="Arial"/>
              <a:ea typeface="Arial"/>
              <a:cs typeface="Arial"/>
              <a:sym typeface="Arial"/>
            </a:endParaRPr>
          </a:p>
        </p:txBody>
      </p:sp>
      <p:sp>
        <p:nvSpPr>
          <p:cNvPr id="236" name="Google Shape;236;p8"/>
          <p:cNvSpPr txBox="1"/>
          <p:nvPr/>
        </p:nvSpPr>
        <p:spPr>
          <a:xfrm>
            <a:off x="10184820" y="1752782"/>
            <a:ext cx="5094000" cy="1991400"/>
          </a:xfrm>
          <a:prstGeom prst="rect">
            <a:avLst/>
          </a:prstGeom>
          <a:noFill/>
          <a:ln>
            <a:noFill/>
          </a:ln>
        </p:spPr>
        <p:txBody>
          <a:bodyPr anchorCtr="0" anchor="t" bIns="0" lIns="0" spcFirstLastPara="1" rIns="0" wrap="square" tIns="0">
            <a:spAutoFit/>
          </a:bodyPr>
          <a:lstStyle/>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Mantenimiento Correctivo</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Mantenimiento Adaptativo</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Mantenimiento Preventivo</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Actualización de Dependencias</a:t>
            </a:r>
            <a:endParaRPr b="0" i="0" sz="1400" u="none" cap="none" strike="noStrike">
              <a:solidFill>
                <a:srgbClr val="000000"/>
              </a:solidFill>
              <a:latin typeface="Arial"/>
              <a:ea typeface="Arial"/>
              <a:cs typeface="Arial"/>
              <a:sym typeface="Arial"/>
            </a:endParaRPr>
          </a:p>
        </p:txBody>
      </p:sp>
      <p:sp>
        <p:nvSpPr>
          <p:cNvPr id="237" name="Google Shape;237;p8"/>
          <p:cNvSpPr txBox="1"/>
          <p:nvPr/>
        </p:nvSpPr>
        <p:spPr>
          <a:xfrm>
            <a:off x="10187893" y="6580154"/>
            <a:ext cx="5848945" cy="1737017"/>
          </a:xfrm>
          <a:prstGeom prst="rect">
            <a:avLst/>
          </a:prstGeom>
          <a:noFill/>
          <a:ln>
            <a:noFill/>
          </a:ln>
        </p:spPr>
        <p:txBody>
          <a:bodyPr anchorCtr="0" anchor="t" bIns="0" lIns="0" spcFirstLastPara="1" rIns="0" wrap="square" tIns="0">
            <a:spAutoFit/>
          </a:bodyPr>
          <a:lstStyle/>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Pruebas de Regresión</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Pruebas No Funcionales</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Validación de Correcciones</a:t>
            </a:r>
            <a:endParaRPr b="0" i="0" sz="1400" u="none" cap="none" strike="noStrike">
              <a:solidFill>
                <a:srgbClr val="000000"/>
              </a:solidFill>
              <a:latin typeface="Arial"/>
              <a:ea typeface="Arial"/>
              <a:cs typeface="Arial"/>
              <a:sym typeface="Arial"/>
            </a:endParaRPr>
          </a:p>
          <a:p>
            <a:pPr indent="-268632" lvl="1" marL="537266" marR="0" rtl="0" algn="l">
              <a:lnSpc>
                <a:spcPct val="139991"/>
              </a:lnSpc>
              <a:spcBef>
                <a:spcPts val="0"/>
              </a:spcBef>
              <a:spcAft>
                <a:spcPts val="0"/>
              </a:spcAft>
              <a:buClr>
                <a:srgbClr val="000000"/>
              </a:buClr>
              <a:buSzPts val="2488"/>
              <a:buFont typeface="Arial"/>
              <a:buChar char="•"/>
            </a:pPr>
            <a:r>
              <a:rPr b="0" i="0" lang="en-US" sz="2488" u="none" cap="none" strike="noStrike">
                <a:solidFill>
                  <a:srgbClr val="000000"/>
                </a:solidFill>
                <a:latin typeface="Open Sans"/>
                <a:ea typeface="Open Sans"/>
                <a:cs typeface="Open Sans"/>
                <a:sym typeface="Open Sans"/>
              </a:rPr>
              <a:t>Pruebas de Nuevas Funcionalidades</a:t>
            </a:r>
            <a:endParaRPr b="0" i="0" sz="1400" u="none" cap="none" strike="noStrike">
              <a:solidFill>
                <a:srgbClr val="000000"/>
              </a:solidFill>
              <a:latin typeface="Arial"/>
              <a:ea typeface="Arial"/>
              <a:cs typeface="Arial"/>
              <a:sym typeface="Arial"/>
            </a:endParaRPr>
          </a:p>
        </p:txBody>
      </p:sp>
      <p:sp>
        <p:nvSpPr>
          <p:cNvPr id="238" name="Google Shape;238;p8"/>
          <p:cNvSpPr txBox="1"/>
          <p:nvPr/>
        </p:nvSpPr>
        <p:spPr>
          <a:xfrm>
            <a:off x="10829365" y="659563"/>
            <a:ext cx="4333085"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DEV</a:t>
            </a:r>
            <a:endParaRPr b="0" i="0" sz="1400" u="none" cap="none" strike="noStrike">
              <a:solidFill>
                <a:srgbClr val="000000"/>
              </a:solidFill>
              <a:latin typeface="Arial"/>
              <a:ea typeface="Arial"/>
              <a:cs typeface="Arial"/>
              <a:sym typeface="Arial"/>
            </a:endParaRPr>
          </a:p>
        </p:txBody>
      </p:sp>
      <p:sp>
        <p:nvSpPr>
          <p:cNvPr id="239" name="Google Shape;239;p8"/>
          <p:cNvSpPr txBox="1"/>
          <p:nvPr/>
        </p:nvSpPr>
        <p:spPr>
          <a:xfrm>
            <a:off x="10945823" y="5484779"/>
            <a:ext cx="4333085"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000000"/>
                </a:solidFill>
                <a:latin typeface="Poppins"/>
                <a:ea typeface="Poppins"/>
                <a:cs typeface="Poppins"/>
                <a:sym typeface="Poppins"/>
              </a:rPr>
              <a:t>EQUIPO</a:t>
            </a:r>
            <a:r>
              <a:rPr b="1" i="0" lang="en-US" sz="5300" u="none" cap="none" strike="noStrike">
                <a:solidFill>
                  <a:srgbClr val="FFFFFF"/>
                </a:solidFill>
                <a:latin typeface="Poppins"/>
                <a:ea typeface="Poppins"/>
                <a:cs typeface="Poppins"/>
                <a:sym typeface="Poppins"/>
              </a:rPr>
              <a:t> </a:t>
            </a:r>
            <a:r>
              <a:rPr b="1" i="0" lang="en-US" sz="5300" u="none" cap="none" strike="noStrike">
                <a:solidFill>
                  <a:srgbClr val="000000"/>
                </a:solidFill>
                <a:latin typeface="Poppins"/>
                <a:ea typeface="Poppins"/>
                <a:cs typeface="Poppins"/>
                <a:sym typeface="Poppins"/>
              </a:rPr>
              <a:t>QA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243" name="Shape 243"/>
        <p:cNvGrpSpPr/>
        <p:nvPr/>
      </p:nvGrpSpPr>
      <p:grpSpPr>
        <a:xfrm>
          <a:off x="0" y="0"/>
          <a:ext cx="0" cy="0"/>
          <a:chOff x="0" y="0"/>
          <a:chExt cx="0" cy="0"/>
        </a:xfrm>
      </p:grpSpPr>
      <p:grpSp>
        <p:nvGrpSpPr>
          <p:cNvPr id="244" name="Google Shape;244;p9"/>
          <p:cNvGrpSpPr/>
          <p:nvPr/>
        </p:nvGrpSpPr>
        <p:grpSpPr>
          <a:xfrm>
            <a:off x="-1415561" y="8299195"/>
            <a:ext cx="3086100" cy="3086100"/>
            <a:chOff x="0" y="0"/>
            <a:chExt cx="812800" cy="812800"/>
          </a:xfrm>
        </p:grpSpPr>
        <p:sp>
          <p:nvSpPr>
            <p:cNvPr id="245" name="Google Shape;245;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9"/>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9"/>
          <p:cNvGrpSpPr/>
          <p:nvPr/>
        </p:nvGrpSpPr>
        <p:grpSpPr>
          <a:xfrm>
            <a:off x="17259300" y="9258300"/>
            <a:ext cx="3086100" cy="3086100"/>
            <a:chOff x="0" y="0"/>
            <a:chExt cx="812800" cy="812800"/>
          </a:xfrm>
        </p:grpSpPr>
        <p:sp>
          <p:nvSpPr>
            <p:cNvPr id="248" name="Google Shape;24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5D5F7">
                <a:alpha val="3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9"/>
            <p:cNvSpPr txBox="1"/>
            <p:nvPr/>
          </p:nvSpPr>
          <p:spPr>
            <a:xfrm>
              <a:off x="76200" y="47625"/>
              <a:ext cx="660400" cy="688975"/>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9"/>
          <p:cNvSpPr/>
          <p:nvPr/>
        </p:nvSpPr>
        <p:spPr>
          <a:xfrm>
            <a:off x="-1247819" y="6472207"/>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3">
              <a:alphaModFix amt="38000"/>
            </a:blip>
            <a:stretch>
              <a:fillRect b="0" l="0" r="0" t="0"/>
            </a:stretch>
          </a:blipFill>
          <a:ln>
            <a:noFill/>
          </a:ln>
        </p:spPr>
      </p:sp>
      <p:sp>
        <p:nvSpPr>
          <p:cNvPr id="251" name="Google Shape;251;p9"/>
          <p:cNvSpPr txBox="1"/>
          <p:nvPr/>
        </p:nvSpPr>
        <p:spPr>
          <a:xfrm>
            <a:off x="1236073" y="4086225"/>
            <a:ext cx="15815853" cy="204787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6500"/>
              <a:buFont typeface="Arial"/>
              <a:buNone/>
            </a:pPr>
            <a:r>
              <a:rPr b="1" i="0" lang="en-US" sz="6500" u="none" cap="none" strike="noStrike">
                <a:solidFill>
                  <a:srgbClr val="FFFFFF"/>
                </a:solidFill>
                <a:latin typeface="Poppins"/>
                <a:ea typeface="Poppins"/>
                <a:cs typeface="Poppins"/>
                <a:sym typeface="Poppins"/>
              </a:rPr>
              <a:t>METODOLOGÍAS ÁGILES EN EL CICLO DE VIDA DEL SOFTWARE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255" name="Shape 255"/>
        <p:cNvGrpSpPr/>
        <p:nvPr/>
      </p:nvGrpSpPr>
      <p:grpSpPr>
        <a:xfrm>
          <a:off x="0" y="0"/>
          <a:ext cx="0" cy="0"/>
          <a:chOff x="0" y="0"/>
          <a:chExt cx="0" cy="0"/>
        </a:xfrm>
      </p:grpSpPr>
      <p:sp>
        <p:nvSpPr>
          <p:cNvPr id="256" name="Google Shape;256;p10"/>
          <p:cNvSpPr/>
          <p:nvPr/>
        </p:nvSpPr>
        <p:spPr>
          <a:xfrm flipH="1" rot="10800000">
            <a:off x="9329210" y="-1424408"/>
            <a:ext cx="10622517" cy="5771568"/>
          </a:xfrm>
          <a:custGeom>
            <a:rect b="b" l="l" r="r" t="t"/>
            <a:pathLst>
              <a:path extrusionOk="0" h="5771568" w="10622517">
                <a:moveTo>
                  <a:pt x="0" y="5771568"/>
                </a:moveTo>
                <a:lnTo>
                  <a:pt x="10622517" y="5771568"/>
                </a:lnTo>
                <a:lnTo>
                  <a:pt x="10622517" y="0"/>
                </a:lnTo>
                <a:lnTo>
                  <a:pt x="0" y="0"/>
                </a:lnTo>
                <a:lnTo>
                  <a:pt x="0" y="5771568"/>
                </a:lnTo>
                <a:close/>
              </a:path>
            </a:pathLst>
          </a:custGeom>
          <a:blipFill rotWithShape="1">
            <a:blip r:embed="rId3">
              <a:alphaModFix/>
            </a:blip>
            <a:stretch>
              <a:fillRect b="0" l="0" r="0" t="0"/>
            </a:stretch>
          </a:blipFill>
          <a:ln>
            <a:noFill/>
          </a:ln>
        </p:spPr>
      </p:sp>
      <p:sp>
        <p:nvSpPr>
          <p:cNvPr id="257" name="Google Shape;257;p10"/>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258" name="Google Shape;258;p10"/>
          <p:cNvSpPr/>
          <p:nvPr/>
        </p:nvSpPr>
        <p:spPr>
          <a:xfrm>
            <a:off x="-302028" y="5416091"/>
            <a:ext cx="1917346" cy="1736070"/>
          </a:xfrm>
          <a:custGeom>
            <a:rect b="b" l="l" r="r" t="t"/>
            <a:pathLst>
              <a:path extrusionOk="0" h="1736070" w="1917346">
                <a:moveTo>
                  <a:pt x="0" y="0"/>
                </a:moveTo>
                <a:lnTo>
                  <a:pt x="1917345" y="0"/>
                </a:lnTo>
                <a:lnTo>
                  <a:pt x="1917345" y="1736069"/>
                </a:lnTo>
                <a:lnTo>
                  <a:pt x="0" y="1736069"/>
                </a:lnTo>
                <a:lnTo>
                  <a:pt x="0" y="0"/>
                </a:lnTo>
                <a:close/>
              </a:path>
            </a:pathLst>
          </a:custGeom>
          <a:blipFill rotWithShape="1">
            <a:blip r:embed="rId5">
              <a:alphaModFix amt="38000"/>
            </a:blip>
            <a:stretch>
              <a:fillRect b="0" l="0" r="0" t="0"/>
            </a:stretch>
          </a:blipFill>
          <a:ln>
            <a:noFill/>
          </a:ln>
        </p:spPr>
      </p:sp>
      <p:grpSp>
        <p:nvGrpSpPr>
          <p:cNvPr id="259" name="Google Shape;259;p10"/>
          <p:cNvGrpSpPr/>
          <p:nvPr/>
        </p:nvGrpSpPr>
        <p:grpSpPr>
          <a:xfrm>
            <a:off x="1062938" y="2638803"/>
            <a:ext cx="7620000" cy="7217197"/>
            <a:chOff x="0" y="-28575"/>
            <a:chExt cx="2964596" cy="2807884"/>
          </a:xfrm>
        </p:grpSpPr>
        <p:sp>
          <p:nvSpPr>
            <p:cNvPr id="260" name="Google Shape;260;p10"/>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10"/>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2" name="Google Shape;262;p10"/>
          <p:cNvGrpSpPr/>
          <p:nvPr/>
        </p:nvGrpSpPr>
        <p:grpSpPr>
          <a:xfrm>
            <a:off x="9544050" y="2638803"/>
            <a:ext cx="7620000" cy="7217197"/>
            <a:chOff x="0" y="-28575"/>
            <a:chExt cx="2964596" cy="2807884"/>
          </a:xfrm>
        </p:grpSpPr>
        <p:sp>
          <p:nvSpPr>
            <p:cNvPr id="263" name="Google Shape;263;p10"/>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10"/>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5" name="Google Shape;265;p10"/>
          <p:cNvSpPr txBox="1"/>
          <p:nvPr/>
        </p:nvSpPr>
        <p:spPr>
          <a:xfrm>
            <a:off x="1737605" y="1132505"/>
            <a:ext cx="6270665"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rgbClr val="FFFFFF"/>
                </a:solidFill>
                <a:latin typeface="Poppins"/>
                <a:ea typeface="Poppins"/>
                <a:cs typeface="Poppins"/>
                <a:sym typeface="Poppins"/>
              </a:rPr>
              <a:t>FASE: ANÁLISIS</a:t>
            </a:r>
            <a:endParaRPr b="0" i="0" sz="1400" u="none" cap="none" strike="noStrike">
              <a:solidFill>
                <a:srgbClr val="000000"/>
              </a:solidFill>
              <a:latin typeface="Arial"/>
              <a:ea typeface="Arial"/>
              <a:cs typeface="Arial"/>
              <a:sym typeface="Arial"/>
            </a:endParaRPr>
          </a:p>
        </p:txBody>
      </p:sp>
      <p:sp>
        <p:nvSpPr>
          <p:cNvPr id="266" name="Google Shape;266;p10"/>
          <p:cNvSpPr txBox="1"/>
          <p:nvPr/>
        </p:nvSpPr>
        <p:spPr>
          <a:xfrm>
            <a:off x="1411887" y="3409950"/>
            <a:ext cx="6596383" cy="57150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149"/>
              <a:buFont typeface="Arial"/>
              <a:buNone/>
            </a:pPr>
            <a:r>
              <a:rPr b="1" i="0" lang="en-US" sz="3149" u="none" cap="none" strike="noStrike">
                <a:solidFill>
                  <a:srgbClr val="372A28"/>
                </a:solidFill>
                <a:latin typeface="Arial"/>
                <a:ea typeface="Arial"/>
                <a:cs typeface="Arial"/>
                <a:sym typeface="Arial"/>
              </a:rPr>
              <a:t>Enfoque tradicional:</a:t>
            </a:r>
            <a:r>
              <a:rPr b="0" i="0" lang="en-US" sz="3149" u="none" cap="none" strike="noStrike">
                <a:solidFill>
                  <a:srgbClr val="372A28"/>
                </a:solidFill>
                <a:latin typeface="Arial"/>
                <a:ea typeface="Arial"/>
                <a:cs typeface="Arial"/>
                <a:sym typeface="Arial"/>
              </a:rPr>
              <a:t> Los requisitos se definen completamente al inicio del proyecto</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14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rPr b="1" i="0" lang="en-US" sz="3149" u="none" cap="none" strike="noStrike">
                <a:solidFill>
                  <a:srgbClr val="372A28"/>
                </a:solidFill>
                <a:latin typeface="Arial"/>
                <a:ea typeface="Arial"/>
                <a:cs typeface="Arial"/>
                <a:sym typeface="Arial"/>
              </a:rPr>
              <a:t>Enfoque ágil:</a:t>
            </a:r>
            <a:r>
              <a:rPr b="0" i="0" lang="en-US" sz="3149" u="none" cap="none" strike="noStrike">
                <a:solidFill>
                  <a:srgbClr val="372A28"/>
                </a:solidFill>
                <a:latin typeface="Arial"/>
                <a:ea typeface="Arial"/>
                <a:cs typeface="Arial"/>
                <a:sym typeface="Arial"/>
              </a:rPr>
              <a:t> Los requisitos se capturan en forma de historias de usuario y se priorizan en un backlog. Los requisitos pueden evolucionar con el tiempo, y se ajustan en cada iteración según el feedback del cliente.</a:t>
            </a:r>
            <a:endParaRPr b="0" i="0" sz="1400" u="none" cap="none" strike="noStrike">
              <a:solidFill>
                <a:srgbClr val="000000"/>
              </a:solidFill>
              <a:latin typeface="Arial"/>
              <a:ea typeface="Arial"/>
              <a:cs typeface="Arial"/>
              <a:sym typeface="Arial"/>
            </a:endParaRPr>
          </a:p>
        </p:txBody>
      </p:sp>
      <p:sp>
        <p:nvSpPr>
          <p:cNvPr id="267" name="Google Shape;267;p10"/>
          <p:cNvSpPr txBox="1"/>
          <p:nvPr/>
        </p:nvSpPr>
        <p:spPr>
          <a:xfrm>
            <a:off x="10555784" y="1132505"/>
            <a:ext cx="5596532" cy="105727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6500"/>
              <a:buFont typeface="Arial"/>
              <a:buNone/>
            </a:pPr>
            <a:r>
              <a:rPr b="1" i="0" lang="en-US" sz="6500" u="none" cap="none" strike="noStrike">
                <a:solidFill>
                  <a:srgbClr val="FFFFFF"/>
                </a:solidFill>
                <a:latin typeface="Poppins"/>
                <a:ea typeface="Poppins"/>
                <a:cs typeface="Poppins"/>
                <a:sym typeface="Poppins"/>
              </a:rPr>
              <a:t>FASE: DISEÑO</a:t>
            </a:r>
            <a:endParaRPr b="0" i="0" sz="1400" u="none" cap="none" strike="noStrike">
              <a:solidFill>
                <a:srgbClr val="000000"/>
              </a:solidFill>
              <a:latin typeface="Arial"/>
              <a:ea typeface="Arial"/>
              <a:cs typeface="Arial"/>
              <a:sym typeface="Arial"/>
            </a:endParaRPr>
          </a:p>
        </p:txBody>
      </p:sp>
      <p:sp>
        <p:nvSpPr>
          <p:cNvPr id="268" name="Google Shape;268;p10"/>
          <p:cNvSpPr txBox="1"/>
          <p:nvPr/>
        </p:nvSpPr>
        <p:spPr>
          <a:xfrm>
            <a:off x="9918943" y="3359950"/>
            <a:ext cx="7023752" cy="5715000"/>
          </a:xfrm>
          <a:prstGeom prst="rect">
            <a:avLst/>
          </a:prstGeom>
          <a:noFill/>
          <a:ln>
            <a:noFill/>
          </a:ln>
        </p:spPr>
        <p:txBody>
          <a:bodyPr anchorCtr="0" anchor="t" bIns="0" lIns="0" spcFirstLastPara="1" rIns="0" wrap="square" tIns="0">
            <a:spAutoFit/>
          </a:bodyPr>
          <a:lstStyle/>
          <a:p>
            <a:pPr indent="0" lvl="0" marL="0" marR="0" rtl="0" algn="l">
              <a:lnSpc>
                <a:spcPct val="119968"/>
              </a:lnSpc>
              <a:spcBef>
                <a:spcPts val="0"/>
              </a:spcBef>
              <a:spcAft>
                <a:spcPts val="0"/>
              </a:spcAft>
              <a:buClr>
                <a:srgbClr val="000000"/>
              </a:buClr>
              <a:buSzPts val="3150"/>
              <a:buFont typeface="Arial"/>
              <a:buNone/>
            </a:pPr>
            <a:r>
              <a:rPr b="1" i="0" lang="en-US" sz="3150" u="none" cap="none" strike="noStrike">
                <a:solidFill>
                  <a:srgbClr val="372A28"/>
                </a:solidFill>
                <a:latin typeface="Arial"/>
                <a:ea typeface="Arial"/>
                <a:cs typeface="Arial"/>
                <a:sym typeface="Arial"/>
              </a:rPr>
              <a:t>Enfoque tradicional:</a:t>
            </a:r>
            <a:r>
              <a:rPr b="0" i="0" lang="en-US" sz="3150" u="none" cap="none" strike="noStrike">
                <a:solidFill>
                  <a:srgbClr val="372A28"/>
                </a:solidFill>
                <a:latin typeface="Arial"/>
                <a:ea typeface="Arial"/>
                <a:cs typeface="Arial"/>
                <a:sym typeface="Arial"/>
              </a:rPr>
              <a:t> El diseño se realiza completamente antes de comenzar la implementación.</a:t>
            </a:r>
            <a:endParaRPr b="0" i="0" sz="1400" u="none" cap="none" strike="noStrike">
              <a:solidFill>
                <a:srgbClr val="000000"/>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t/>
            </a:r>
            <a:endParaRPr b="0" i="0" sz="3150" u="none" cap="none" strike="noStrike">
              <a:solidFill>
                <a:srgbClr val="372A28"/>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rPr b="1" i="0" lang="en-US" sz="3150" u="none" cap="none" strike="noStrike">
                <a:solidFill>
                  <a:srgbClr val="372A28"/>
                </a:solidFill>
                <a:latin typeface="Arial"/>
                <a:ea typeface="Arial"/>
                <a:cs typeface="Arial"/>
                <a:sym typeface="Arial"/>
              </a:rPr>
              <a:t>Enfoque ágil:</a:t>
            </a:r>
            <a:r>
              <a:rPr b="0" i="0" lang="en-US" sz="3150" u="none" cap="none" strike="noStrike">
                <a:solidFill>
                  <a:srgbClr val="372A28"/>
                </a:solidFill>
                <a:latin typeface="Arial"/>
                <a:ea typeface="Arial"/>
                <a:cs typeface="Arial"/>
                <a:sym typeface="Arial"/>
              </a:rPr>
              <a:t> El diseño se hace de manera incremental. En cada iteración, se diseña solo lo necesario para las funcionalidades que se van a desarrollar en ese sprint.</a:t>
            </a:r>
            <a:endParaRPr b="0" i="0" sz="1400" u="none" cap="none" strike="noStrike">
              <a:solidFill>
                <a:srgbClr val="000000"/>
              </a:solidFill>
              <a:latin typeface="Arial"/>
              <a:ea typeface="Arial"/>
              <a:cs typeface="Arial"/>
              <a:sym typeface="Arial"/>
            </a:endParaRPr>
          </a:p>
          <a:p>
            <a:pPr indent="0" lvl="0" marL="0" marR="0" rtl="0" algn="ctr">
              <a:lnSpc>
                <a:spcPct val="119968"/>
              </a:lnSpc>
              <a:spcBef>
                <a:spcPts val="0"/>
              </a:spcBef>
              <a:spcAft>
                <a:spcPts val="0"/>
              </a:spcAft>
              <a:buClr>
                <a:srgbClr val="000000"/>
              </a:buClr>
              <a:buSzPts val="3150"/>
              <a:buFont typeface="Arial"/>
              <a:buNone/>
            </a:pPr>
            <a:r>
              <a:t/>
            </a:r>
            <a:endParaRPr b="0" i="0" sz="3150" u="none" cap="none" strike="noStrike">
              <a:solidFill>
                <a:srgbClr val="372A28"/>
              </a:solidFill>
              <a:latin typeface="Arial"/>
              <a:ea typeface="Arial"/>
              <a:cs typeface="Arial"/>
              <a:sym typeface="Arial"/>
            </a:endParaRPr>
          </a:p>
          <a:p>
            <a:pPr indent="0" lvl="0" marL="0" marR="0" rtl="0" algn="ctr">
              <a:lnSpc>
                <a:spcPct val="119968"/>
              </a:lnSpc>
              <a:spcBef>
                <a:spcPts val="0"/>
              </a:spcBef>
              <a:spcAft>
                <a:spcPts val="0"/>
              </a:spcAft>
              <a:buClr>
                <a:srgbClr val="000000"/>
              </a:buClr>
              <a:buSzPts val="3150"/>
              <a:buFont typeface="Arial"/>
              <a:buNone/>
            </a:pPr>
            <a:r>
              <a:t/>
            </a:r>
            <a:endParaRPr b="0" i="0" sz="3150" u="none" cap="none" strike="noStrike">
              <a:solidFill>
                <a:srgbClr val="372A2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272" name="Shape 272"/>
        <p:cNvGrpSpPr/>
        <p:nvPr/>
      </p:nvGrpSpPr>
      <p:grpSpPr>
        <a:xfrm>
          <a:off x="0" y="0"/>
          <a:ext cx="0" cy="0"/>
          <a:chOff x="0" y="0"/>
          <a:chExt cx="0" cy="0"/>
        </a:xfrm>
      </p:grpSpPr>
      <p:sp>
        <p:nvSpPr>
          <p:cNvPr id="273" name="Google Shape;273;p11"/>
          <p:cNvSpPr/>
          <p:nvPr/>
        </p:nvSpPr>
        <p:spPr>
          <a:xfrm flipH="1" rot="10800000">
            <a:off x="9329210" y="-1424408"/>
            <a:ext cx="10622517" cy="5771568"/>
          </a:xfrm>
          <a:custGeom>
            <a:rect b="b" l="l" r="r" t="t"/>
            <a:pathLst>
              <a:path extrusionOk="0" h="5771568" w="10622517">
                <a:moveTo>
                  <a:pt x="0" y="5771568"/>
                </a:moveTo>
                <a:lnTo>
                  <a:pt x="10622517" y="5771568"/>
                </a:lnTo>
                <a:lnTo>
                  <a:pt x="10622517" y="0"/>
                </a:lnTo>
                <a:lnTo>
                  <a:pt x="0" y="0"/>
                </a:lnTo>
                <a:lnTo>
                  <a:pt x="0" y="5771568"/>
                </a:lnTo>
                <a:close/>
              </a:path>
            </a:pathLst>
          </a:custGeom>
          <a:blipFill rotWithShape="1">
            <a:blip r:embed="rId3">
              <a:alphaModFix/>
            </a:blip>
            <a:stretch>
              <a:fillRect b="0" l="0" r="0" t="0"/>
            </a:stretch>
          </a:blipFill>
          <a:ln>
            <a:noFill/>
          </a:ln>
        </p:spPr>
      </p:sp>
      <p:sp>
        <p:nvSpPr>
          <p:cNvPr id="274" name="Google Shape;274;p11"/>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275" name="Google Shape;275;p11"/>
          <p:cNvSpPr/>
          <p:nvPr/>
        </p:nvSpPr>
        <p:spPr>
          <a:xfrm>
            <a:off x="-302028" y="5416091"/>
            <a:ext cx="1917346" cy="1736070"/>
          </a:xfrm>
          <a:custGeom>
            <a:rect b="b" l="l" r="r" t="t"/>
            <a:pathLst>
              <a:path extrusionOk="0" h="1736070" w="1917346">
                <a:moveTo>
                  <a:pt x="0" y="0"/>
                </a:moveTo>
                <a:lnTo>
                  <a:pt x="1917345" y="0"/>
                </a:lnTo>
                <a:lnTo>
                  <a:pt x="1917345" y="1736069"/>
                </a:lnTo>
                <a:lnTo>
                  <a:pt x="0" y="1736069"/>
                </a:lnTo>
                <a:lnTo>
                  <a:pt x="0" y="0"/>
                </a:lnTo>
                <a:close/>
              </a:path>
            </a:pathLst>
          </a:custGeom>
          <a:blipFill rotWithShape="1">
            <a:blip r:embed="rId5">
              <a:alphaModFix amt="38000"/>
            </a:blip>
            <a:stretch>
              <a:fillRect b="0" l="0" r="0" t="0"/>
            </a:stretch>
          </a:blipFill>
          <a:ln>
            <a:noFill/>
          </a:ln>
        </p:spPr>
      </p:sp>
      <p:grpSp>
        <p:nvGrpSpPr>
          <p:cNvPr id="276" name="Google Shape;276;p11"/>
          <p:cNvGrpSpPr/>
          <p:nvPr/>
        </p:nvGrpSpPr>
        <p:grpSpPr>
          <a:xfrm>
            <a:off x="1062938" y="2638803"/>
            <a:ext cx="7620000" cy="7217197"/>
            <a:chOff x="0" y="-28575"/>
            <a:chExt cx="2964596" cy="2807884"/>
          </a:xfrm>
        </p:grpSpPr>
        <p:sp>
          <p:nvSpPr>
            <p:cNvPr id="277" name="Google Shape;277;p11"/>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1"/>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79" name="Google Shape;279;p11"/>
          <p:cNvGrpSpPr/>
          <p:nvPr/>
        </p:nvGrpSpPr>
        <p:grpSpPr>
          <a:xfrm>
            <a:off x="9544050" y="2638803"/>
            <a:ext cx="7620000" cy="7217197"/>
            <a:chOff x="0" y="-28575"/>
            <a:chExt cx="2964596" cy="2807884"/>
          </a:xfrm>
        </p:grpSpPr>
        <p:sp>
          <p:nvSpPr>
            <p:cNvPr id="280" name="Google Shape;280;p11"/>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11"/>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2" name="Google Shape;282;p11"/>
          <p:cNvSpPr txBox="1"/>
          <p:nvPr/>
        </p:nvSpPr>
        <p:spPr>
          <a:xfrm>
            <a:off x="1473031" y="2962685"/>
            <a:ext cx="6596383" cy="714375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149"/>
              <a:buFont typeface="Arial"/>
              <a:buNone/>
            </a:pPr>
            <a:r>
              <a:rPr b="1" i="0" lang="en-US" sz="3149" u="none" cap="none" strike="noStrike">
                <a:solidFill>
                  <a:srgbClr val="372A28"/>
                </a:solidFill>
                <a:latin typeface="Arial"/>
                <a:ea typeface="Arial"/>
                <a:cs typeface="Arial"/>
                <a:sym typeface="Arial"/>
              </a:rPr>
              <a:t>Enfoque tradicional: </a:t>
            </a:r>
            <a:r>
              <a:rPr b="0" i="0" lang="en-US" sz="3149" u="none" cap="none" strike="noStrike">
                <a:solidFill>
                  <a:srgbClr val="372A28"/>
                </a:solidFill>
                <a:latin typeface="Arial"/>
                <a:ea typeface="Arial"/>
                <a:cs typeface="Arial"/>
                <a:sym typeface="Arial"/>
              </a:rPr>
              <a:t>La implementación se realiza en una sola fase, después del diseño.</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14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rPr b="1" i="0" lang="en-US" sz="3149" u="none" cap="none" strike="noStrike">
                <a:solidFill>
                  <a:srgbClr val="372A28"/>
                </a:solidFill>
                <a:latin typeface="Arial"/>
                <a:ea typeface="Arial"/>
                <a:cs typeface="Arial"/>
                <a:sym typeface="Arial"/>
              </a:rPr>
              <a:t>Enfoque ágil: </a:t>
            </a:r>
            <a:r>
              <a:rPr b="0" i="0" lang="en-US" sz="3149" u="none" cap="none" strike="noStrike">
                <a:solidFill>
                  <a:srgbClr val="372A28"/>
                </a:solidFill>
                <a:latin typeface="Arial"/>
                <a:ea typeface="Arial"/>
                <a:cs typeface="Arial"/>
                <a:sym typeface="Arial"/>
              </a:rPr>
              <a:t>La implementación se realiza en iteraciones cortas (sprints), donde se desarrollan pequeñas funcionalidades completas. El equipo de desarrollo trabaja en colaboración con el equipo de QA para garantizar la calidad del código.</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149" u="none" cap="none" strike="noStrike">
              <a:solidFill>
                <a:srgbClr val="372A28"/>
              </a:solidFill>
              <a:latin typeface="Arial"/>
              <a:ea typeface="Arial"/>
              <a:cs typeface="Arial"/>
              <a:sym typeface="Arial"/>
            </a:endParaRPr>
          </a:p>
        </p:txBody>
      </p:sp>
      <p:sp>
        <p:nvSpPr>
          <p:cNvPr id="283" name="Google Shape;283;p11"/>
          <p:cNvSpPr txBox="1"/>
          <p:nvPr/>
        </p:nvSpPr>
        <p:spPr>
          <a:xfrm>
            <a:off x="9842168" y="2962675"/>
            <a:ext cx="7023900" cy="6883200"/>
          </a:xfrm>
          <a:prstGeom prst="rect">
            <a:avLst/>
          </a:prstGeom>
          <a:noFill/>
          <a:ln>
            <a:noFill/>
          </a:ln>
        </p:spPr>
        <p:txBody>
          <a:bodyPr anchorCtr="0" anchor="t" bIns="0" lIns="0" spcFirstLastPara="1" rIns="0" wrap="square" tIns="0">
            <a:spAutoFit/>
          </a:bodyPr>
          <a:lstStyle/>
          <a:p>
            <a:pPr indent="0" lvl="0" marL="0" marR="0" rtl="0" algn="l">
              <a:lnSpc>
                <a:spcPct val="119968"/>
              </a:lnSpc>
              <a:spcBef>
                <a:spcPts val="0"/>
              </a:spcBef>
              <a:spcAft>
                <a:spcPts val="0"/>
              </a:spcAft>
              <a:buClr>
                <a:srgbClr val="000000"/>
              </a:buClr>
              <a:buSzPts val="3150"/>
              <a:buFont typeface="Arial"/>
              <a:buNone/>
            </a:pPr>
            <a:r>
              <a:rPr b="1" i="0" lang="en-US" sz="3150" u="none" cap="none" strike="noStrike">
                <a:solidFill>
                  <a:srgbClr val="372A28"/>
                </a:solidFill>
                <a:latin typeface="Arial"/>
                <a:ea typeface="Arial"/>
                <a:cs typeface="Arial"/>
                <a:sym typeface="Arial"/>
              </a:rPr>
              <a:t>Enfoque tradicional:</a:t>
            </a:r>
            <a:r>
              <a:rPr b="0" i="0" lang="en-US" sz="3150" u="none" cap="none" strike="noStrike">
                <a:solidFill>
                  <a:srgbClr val="372A28"/>
                </a:solidFill>
                <a:latin typeface="Arial"/>
                <a:ea typeface="Arial"/>
                <a:cs typeface="Arial"/>
                <a:sym typeface="Arial"/>
              </a:rPr>
              <a:t> Las pruebas se realizan después de completar la implementación.</a:t>
            </a:r>
            <a:endParaRPr b="0" i="0" sz="1400" u="none" cap="none" strike="noStrike">
              <a:solidFill>
                <a:srgbClr val="000000"/>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t/>
            </a:r>
            <a:endParaRPr b="0" i="0" sz="3150" u="none" cap="none" strike="noStrike">
              <a:solidFill>
                <a:srgbClr val="372A28"/>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rPr b="1" i="0" lang="en-US" sz="3150" u="none" cap="none" strike="noStrike">
                <a:solidFill>
                  <a:srgbClr val="372A28"/>
                </a:solidFill>
                <a:latin typeface="Arial"/>
                <a:ea typeface="Arial"/>
                <a:cs typeface="Arial"/>
                <a:sym typeface="Arial"/>
              </a:rPr>
              <a:t>Enfoque ágil:</a:t>
            </a:r>
            <a:r>
              <a:rPr b="0" i="0" lang="en-US" sz="3150" u="none" cap="none" strike="noStrike">
                <a:solidFill>
                  <a:srgbClr val="372A28"/>
                </a:solidFill>
                <a:latin typeface="Arial"/>
                <a:ea typeface="Arial"/>
                <a:cs typeface="Arial"/>
                <a:sym typeface="Arial"/>
              </a:rPr>
              <a:t> Las pruebas se integran en cada iteración. El equipo de QA trabaja en paralelo con los desarrolladores, realizando pruebas continuas (unitarias, de integración, funcionales, etc.). Además, se fomenta la automatización de pruebas para agilizar el proceso.</a:t>
            </a:r>
            <a:endParaRPr b="0" i="0" sz="1400" u="none" cap="none" strike="noStrike">
              <a:solidFill>
                <a:srgbClr val="000000"/>
              </a:solidFill>
              <a:latin typeface="Arial"/>
              <a:ea typeface="Arial"/>
              <a:cs typeface="Arial"/>
              <a:sym typeface="Arial"/>
            </a:endParaRPr>
          </a:p>
        </p:txBody>
      </p:sp>
      <p:sp>
        <p:nvSpPr>
          <p:cNvPr id="284" name="Google Shape;284;p11"/>
          <p:cNvSpPr txBox="1"/>
          <p:nvPr/>
        </p:nvSpPr>
        <p:spPr>
          <a:xfrm>
            <a:off x="1676461" y="1246805"/>
            <a:ext cx="6392953"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FASE: DESARROLLO</a:t>
            </a:r>
            <a:endParaRPr b="0" i="0" sz="1400" u="none" cap="none" strike="noStrike">
              <a:solidFill>
                <a:srgbClr val="000000"/>
              </a:solidFill>
              <a:latin typeface="Arial"/>
              <a:ea typeface="Arial"/>
              <a:cs typeface="Arial"/>
              <a:sym typeface="Arial"/>
            </a:endParaRPr>
          </a:p>
        </p:txBody>
      </p:sp>
      <p:sp>
        <p:nvSpPr>
          <p:cNvPr id="285" name="Google Shape;285;p11"/>
          <p:cNvSpPr txBox="1"/>
          <p:nvPr/>
        </p:nvSpPr>
        <p:spPr>
          <a:xfrm>
            <a:off x="10676447" y="1218230"/>
            <a:ext cx="5355207" cy="876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5499"/>
              <a:buFont typeface="Arial"/>
              <a:buNone/>
            </a:pPr>
            <a:r>
              <a:rPr b="1" i="0" lang="en-US" sz="5499" u="none" cap="none" strike="noStrike">
                <a:solidFill>
                  <a:srgbClr val="FFFFFF"/>
                </a:solidFill>
                <a:latin typeface="Poppins"/>
                <a:ea typeface="Poppins"/>
                <a:cs typeface="Poppins"/>
                <a:sym typeface="Poppins"/>
              </a:rPr>
              <a:t>FASE: PRUEBAS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289" name="Shape 289"/>
        <p:cNvGrpSpPr/>
        <p:nvPr/>
      </p:nvGrpSpPr>
      <p:grpSpPr>
        <a:xfrm>
          <a:off x="0" y="0"/>
          <a:ext cx="0" cy="0"/>
          <a:chOff x="0" y="0"/>
          <a:chExt cx="0" cy="0"/>
        </a:xfrm>
      </p:grpSpPr>
      <p:sp>
        <p:nvSpPr>
          <p:cNvPr id="290" name="Google Shape;290;p12"/>
          <p:cNvSpPr/>
          <p:nvPr/>
        </p:nvSpPr>
        <p:spPr>
          <a:xfrm flipH="1" rot="10800000">
            <a:off x="9329210" y="-1424408"/>
            <a:ext cx="10622517" cy="5771568"/>
          </a:xfrm>
          <a:custGeom>
            <a:rect b="b" l="l" r="r" t="t"/>
            <a:pathLst>
              <a:path extrusionOk="0" h="5771568" w="10622517">
                <a:moveTo>
                  <a:pt x="0" y="5771568"/>
                </a:moveTo>
                <a:lnTo>
                  <a:pt x="10622517" y="5771568"/>
                </a:lnTo>
                <a:lnTo>
                  <a:pt x="10622517" y="0"/>
                </a:lnTo>
                <a:lnTo>
                  <a:pt x="0" y="0"/>
                </a:lnTo>
                <a:lnTo>
                  <a:pt x="0" y="5771568"/>
                </a:lnTo>
                <a:close/>
              </a:path>
            </a:pathLst>
          </a:custGeom>
          <a:blipFill rotWithShape="1">
            <a:blip r:embed="rId3">
              <a:alphaModFix/>
            </a:blip>
            <a:stretch>
              <a:fillRect b="0" l="0" r="0" t="0"/>
            </a:stretch>
          </a:blipFill>
          <a:ln>
            <a:noFill/>
          </a:ln>
        </p:spPr>
      </p:sp>
      <p:sp>
        <p:nvSpPr>
          <p:cNvPr id="291" name="Google Shape;291;p12"/>
          <p:cNvSpPr/>
          <p:nvPr/>
        </p:nvSpPr>
        <p:spPr>
          <a:xfrm>
            <a:off x="16297265" y="8378510"/>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292" name="Google Shape;292;p12"/>
          <p:cNvSpPr/>
          <p:nvPr/>
        </p:nvSpPr>
        <p:spPr>
          <a:xfrm>
            <a:off x="-302028" y="5416091"/>
            <a:ext cx="1917346" cy="1736070"/>
          </a:xfrm>
          <a:custGeom>
            <a:rect b="b" l="l" r="r" t="t"/>
            <a:pathLst>
              <a:path extrusionOk="0" h="1736070" w="1917346">
                <a:moveTo>
                  <a:pt x="0" y="0"/>
                </a:moveTo>
                <a:lnTo>
                  <a:pt x="1917345" y="0"/>
                </a:lnTo>
                <a:lnTo>
                  <a:pt x="1917345" y="1736069"/>
                </a:lnTo>
                <a:lnTo>
                  <a:pt x="0" y="1736069"/>
                </a:lnTo>
                <a:lnTo>
                  <a:pt x="0" y="0"/>
                </a:lnTo>
                <a:close/>
              </a:path>
            </a:pathLst>
          </a:custGeom>
          <a:blipFill rotWithShape="1">
            <a:blip r:embed="rId5">
              <a:alphaModFix amt="38000"/>
            </a:blip>
            <a:stretch>
              <a:fillRect b="0" l="0" r="0" t="0"/>
            </a:stretch>
          </a:blipFill>
          <a:ln>
            <a:noFill/>
          </a:ln>
        </p:spPr>
      </p:sp>
      <p:grpSp>
        <p:nvGrpSpPr>
          <p:cNvPr id="293" name="Google Shape;293;p12"/>
          <p:cNvGrpSpPr/>
          <p:nvPr/>
        </p:nvGrpSpPr>
        <p:grpSpPr>
          <a:xfrm>
            <a:off x="1062938" y="2638803"/>
            <a:ext cx="7620000" cy="7217197"/>
            <a:chOff x="0" y="-28575"/>
            <a:chExt cx="2964596" cy="2807884"/>
          </a:xfrm>
        </p:grpSpPr>
        <p:sp>
          <p:nvSpPr>
            <p:cNvPr id="294" name="Google Shape;294;p12"/>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12"/>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6" name="Google Shape;296;p12"/>
          <p:cNvGrpSpPr/>
          <p:nvPr/>
        </p:nvGrpSpPr>
        <p:grpSpPr>
          <a:xfrm>
            <a:off x="9544050" y="2638803"/>
            <a:ext cx="7620000" cy="7217197"/>
            <a:chOff x="0" y="-28575"/>
            <a:chExt cx="2964596" cy="2807884"/>
          </a:xfrm>
        </p:grpSpPr>
        <p:sp>
          <p:nvSpPr>
            <p:cNvPr id="297" name="Google Shape;297;p12"/>
            <p:cNvSpPr/>
            <p:nvPr/>
          </p:nvSpPr>
          <p:spPr>
            <a:xfrm>
              <a:off x="0" y="0"/>
              <a:ext cx="2964596" cy="2779309"/>
            </a:xfrm>
            <a:custGeom>
              <a:rect b="b" l="l" r="r" t="t"/>
              <a:pathLst>
                <a:path extrusionOk="0" h="2779309" w="2964596">
                  <a:moveTo>
                    <a:pt x="51816" y="0"/>
                  </a:moveTo>
                  <a:lnTo>
                    <a:pt x="2912780" y="0"/>
                  </a:lnTo>
                  <a:cubicBezTo>
                    <a:pt x="2926522" y="0"/>
                    <a:pt x="2939702" y="5459"/>
                    <a:pt x="2949419" y="15177"/>
                  </a:cubicBezTo>
                  <a:cubicBezTo>
                    <a:pt x="2959137" y="24894"/>
                    <a:pt x="2964596" y="38074"/>
                    <a:pt x="2964596" y="51816"/>
                  </a:cubicBezTo>
                  <a:lnTo>
                    <a:pt x="2964596" y="2727493"/>
                  </a:lnTo>
                  <a:cubicBezTo>
                    <a:pt x="2964596" y="2756110"/>
                    <a:pt x="2941397" y="2779309"/>
                    <a:pt x="2912780" y="2779309"/>
                  </a:cubicBezTo>
                  <a:lnTo>
                    <a:pt x="51816" y="2779309"/>
                  </a:lnTo>
                  <a:cubicBezTo>
                    <a:pt x="38074" y="2779309"/>
                    <a:pt x="24894" y="2773849"/>
                    <a:pt x="15177" y="2764132"/>
                  </a:cubicBezTo>
                  <a:cubicBezTo>
                    <a:pt x="5459" y="2754415"/>
                    <a:pt x="0" y="2741235"/>
                    <a:pt x="0" y="2727493"/>
                  </a:cubicBezTo>
                  <a:lnTo>
                    <a:pt x="0" y="51816"/>
                  </a:lnTo>
                  <a:cubicBezTo>
                    <a:pt x="0" y="23199"/>
                    <a:pt x="23199" y="0"/>
                    <a:pt x="51816"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2"/>
            <p:cNvSpPr txBox="1"/>
            <p:nvPr/>
          </p:nvSpPr>
          <p:spPr>
            <a:xfrm>
              <a:off x="0" y="-28575"/>
              <a:ext cx="2964596" cy="280788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9" name="Google Shape;299;p12"/>
          <p:cNvSpPr txBox="1"/>
          <p:nvPr/>
        </p:nvSpPr>
        <p:spPr>
          <a:xfrm>
            <a:off x="1473031" y="2962685"/>
            <a:ext cx="6596383" cy="666750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Clr>
                <a:srgbClr val="000000"/>
              </a:buClr>
              <a:buSzPts val="3149"/>
              <a:buFont typeface="Arial"/>
              <a:buNone/>
            </a:pPr>
            <a:r>
              <a:rPr b="1" i="0" lang="en-US" sz="3149" u="none" cap="none" strike="noStrike">
                <a:solidFill>
                  <a:srgbClr val="372A28"/>
                </a:solidFill>
                <a:latin typeface="Arial"/>
                <a:ea typeface="Arial"/>
                <a:cs typeface="Arial"/>
                <a:sym typeface="Arial"/>
              </a:rPr>
              <a:t>Enfoque tradicional:</a:t>
            </a:r>
            <a:r>
              <a:rPr b="0" i="0" lang="en-US" sz="3149" u="none" cap="none" strike="noStrike">
                <a:solidFill>
                  <a:srgbClr val="372A28"/>
                </a:solidFill>
                <a:latin typeface="Arial"/>
                <a:ea typeface="Arial"/>
                <a:cs typeface="Arial"/>
                <a:sym typeface="Arial"/>
              </a:rPr>
              <a:t> El despliegue se realiza al final del proyecto, después de completar todas las fases.</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149" u="none" cap="none" strike="noStrike">
              <a:solidFill>
                <a:srgbClr val="372A28"/>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rPr b="1" i="0" lang="en-US" sz="3149" u="none" cap="none" strike="noStrike">
                <a:solidFill>
                  <a:srgbClr val="372A28"/>
                </a:solidFill>
                <a:latin typeface="Arial"/>
                <a:ea typeface="Arial"/>
                <a:cs typeface="Arial"/>
                <a:sym typeface="Arial"/>
              </a:rPr>
              <a:t>Enfoque ágil:</a:t>
            </a:r>
            <a:r>
              <a:rPr b="0" i="0" lang="en-US" sz="3149" u="none" cap="none" strike="noStrike">
                <a:solidFill>
                  <a:srgbClr val="372A28"/>
                </a:solidFill>
                <a:latin typeface="Arial"/>
                <a:ea typeface="Arial"/>
                <a:cs typeface="Arial"/>
                <a:sym typeface="Arial"/>
              </a:rPr>
              <a:t> El despliegue puede realizarse de manera continua o al final de cada iteración, dependiendo del proyecto. Esto permite entregar valor al cliente de manera frecuente y obtener feedback temprano.</a:t>
            </a:r>
            <a:endParaRPr b="0" i="0" sz="1400" u="none" cap="none" strike="noStrike">
              <a:solidFill>
                <a:srgbClr val="000000"/>
              </a:solidFill>
              <a:latin typeface="Arial"/>
              <a:ea typeface="Arial"/>
              <a:cs typeface="Arial"/>
              <a:sym typeface="Arial"/>
            </a:endParaRPr>
          </a:p>
          <a:p>
            <a:pPr indent="0" lvl="0" marL="0" marR="0" rtl="0" algn="l">
              <a:lnSpc>
                <a:spcPct val="120006"/>
              </a:lnSpc>
              <a:spcBef>
                <a:spcPts val="0"/>
              </a:spcBef>
              <a:spcAft>
                <a:spcPts val="0"/>
              </a:spcAft>
              <a:buClr>
                <a:srgbClr val="000000"/>
              </a:buClr>
              <a:buSzPts val="3149"/>
              <a:buFont typeface="Arial"/>
              <a:buNone/>
            </a:pPr>
            <a:r>
              <a:t/>
            </a:r>
            <a:endParaRPr b="0" i="0" sz="3149" u="none" cap="none" strike="noStrike">
              <a:solidFill>
                <a:srgbClr val="372A28"/>
              </a:solidFill>
              <a:latin typeface="Arial"/>
              <a:ea typeface="Arial"/>
              <a:cs typeface="Arial"/>
              <a:sym typeface="Arial"/>
            </a:endParaRPr>
          </a:p>
        </p:txBody>
      </p:sp>
      <p:sp>
        <p:nvSpPr>
          <p:cNvPr id="300" name="Google Shape;300;p12"/>
          <p:cNvSpPr txBox="1"/>
          <p:nvPr/>
        </p:nvSpPr>
        <p:spPr>
          <a:xfrm>
            <a:off x="9918943" y="3359950"/>
            <a:ext cx="7023752" cy="5715000"/>
          </a:xfrm>
          <a:prstGeom prst="rect">
            <a:avLst/>
          </a:prstGeom>
          <a:noFill/>
          <a:ln>
            <a:noFill/>
          </a:ln>
        </p:spPr>
        <p:txBody>
          <a:bodyPr anchorCtr="0" anchor="t" bIns="0" lIns="0" spcFirstLastPara="1" rIns="0" wrap="square" tIns="0">
            <a:spAutoFit/>
          </a:bodyPr>
          <a:lstStyle/>
          <a:p>
            <a:pPr indent="0" lvl="0" marL="0" marR="0" rtl="0" algn="l">
              <a:lnSpc>
                <a:spcPct val="119968"/>
              </a:lnSpc>
              <a:spcBef>
                <a:spcPts val="0"/>
              </a:spcBef>
              <a:spcAft>
                <a:spcPts val="0"/>
              </a:spcAft>
              <a:buClr>
                <a:srgbClr val="000000"/>
              </a:buClr>
              <a:buSzPts val="3150"/>
              <a:buFont typeface="Arial"/>
              <a:buNone/>
            </a:pPr>
            <a:r>
              <a:rPr b="1" i="0" lang="en-US" sz="3150" u="none" cap="none" strike="noStrike">
                <a:solidFill>
                  <a:srgbClr val="372A28"/>
                </a:solidFill>
                <a:latin typeface="Arial"/>
                <a:ea typeface="Arial"/>
                <a:cs typeface="Arial"/>
                <a:sym typeface="Arial"/>
              </a:rPr>
              <a:t>Enfoque tradicional:</a:t>
            </a:r>
            <a:r>
              <a:rPr b="0" i="0" lang="en-US" sz="3150" u="none" cap="none" strike="noStrike">
                <a:solidFill>
                  <a:srgbClr val="372A28"/>
                </a:solidFill>
                <a:latin typeface="Arial"/>
                <a:ea typeface="Arial"/>
                <a:cs typeface="Arial"/>
                <a:sym typeface="Arial"/>
              </a:rPr>
              <a:t> El mantenimiento comienza después de que el software está en producción.</a:t>
            </a:r>
            <a:endParaRPr b="0" i="0" sz="1400" u="none" cap="none" strike="noStrike">
              <a:solidFill>
                <a:srgbClr val="000000"/>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t/>
            </a:r>
            <a:endParaRPr b="0" i="0" sz="3150" u="none" cap="none" strike="noStrike">
              <a:solidFill>
                <a:srgbClr val="372A28"/>
              </a:solidFill>
              <a:latin typeface="Arial"/>
              <a:ea typeface="Arial"/>
              <a:cs typeface="Arial"/>
              <a:sym typeface="Arial"/>
            </a:endParaRPr>
          </a:p>
          <a:p>
            <a:pPr indent="0" lvl="0" marL="0" marR="0" rtl="0" algn="l">
              <a:lnSpc>
                <a:spcPct val="119968"/>
              </a:lnSpc>
              <a:spcBef>
                <a:spcPts val="0"/>
              </a:spcBef>
              <a:spcAft>
                <a:spcPts val="0"/>
              </a:spcAft>
              <a:buClr>
                <a:srgbClr val="000000"/>
              </a:buClr>
              <a:buSzPts val="3150"/>
              <a:buFont typeface="Arial"/>
              <a:buNone/>
            </a:pPr>
            <a:r>
              <a:rPr b="1" i="0" lang="en-US" sz="3150" u="none" cap="none" strike="noStrike">
                <a:solidFill>
                  <a:srgbClr val="372A28"/>
                </a:solidFill>
                <a:latin typeface="Arial"/>
                <a:ea typeface="Arial"/>
                <a:cs typeface="Arial"/>
                <a:sym typeface="Arial"/>
              </a:rPr>
              <a:t>Enfoque ágil:</a:t>
            </a:r>
            <a:r>
              <a:rPr b="0" i="0" lang="en-US" sz="3150" u="none" cap="none" strike="noStrike">
                <a:solidFill>
                  <a:srgbClr val="372A28"/>
                </a:solidFill>
                <a:latin typeface="Arial"/>
                <a:ea typeface="Arial"/>
                <a:cs typeface="Arial"/>
                <a:sym typeface="Arial"/>
              </a:rPr>
              <a:t> El mantenimiento es parte del ciclo continuo. Los bugs y las mejoras se gestionan en el backlog y se abordan en iteraciones futuras. Además, el software se actualiza y mejora de manera constante.</a:t>
            </a:r>
            <a:endParaRPr b="0" i="0" sz="1400" u="none" cap="none" strike="noStrike">
              <a:solidFill>
                <a:srgbClr val="000000"/>
              </a:solidFill>
              <a:latin typeface="Arial"/>
              <a:ea typeface="Arial"/>
              <a:cs typeface="Arial"/>
              <a:sym typeface="Arial"/>
            </a:endParaRPr>
          </a:p>
        </p:txBody>
      </p:sp>
      <p:sp>
        <p:nvSpPr>
          <p:cNvPr id="301" name="Google Shape;301;p12"/>
          <p:cNvSpPr txBox="1"/>
          <p:nvPr/>
        </p:nvSpPr>
        <p:spPr>
          <a:xfrm>
            <a:off x="1676461" y="1246805"/>
            <a:ext cx="6392953" cy="8477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5300"/>
              <a:buFont typeface="Arial"/>
              <a:buNone/>
            </a:pPr>
            <a:r>
              <a:rPr b="1" i="0" lang="en-US" sz="5300" u="none" cap="none" strike="noStrike">
                <a:solidFill>
                  <a:srgbClr val="FFFFFF"/>
                </a:solidFill>
                <a:latin typeface="Poppins"/>
                <a:ea typeface="Poppins"/>
                <a:cs typeface="Poppins"/>
                <a:sym typeface="Poppins"/>
              </a:rPr>
              <a:t>FASE: DESPLIEGUE</a:t>
            </a:r>
            <a:endParaRPr b="0" i="0" sz="1400" u="none" cap="none" strike="noStrike">
              <a:solidFill>
                <a:srgbClr val="000000"/>
              </a:solidFill>
              <a:latin typeface="Arial"/>
              <a:ea typeface="Arial"/>
              <a:cs typeface="Arial"/>
              <a:sym typeface="Arial"/>
            </a:endParaRPr>
          </a:p>
        </p:txBody>
      </p:sp>
      <p:sp>
        <p:nvSpPr>
          <p:cNvPr id="302" name="Google Shape;302;p12"/>
          <p:cNvSpPr txBox="1"/>
          <p:nvPr/>
        </p:nvSpPr>
        <p:spPr>
          <a:xfrm>
            <a:off x="9544050" y="1218230"/>
            <a:ext cx="7965877" cy="876300"/>
          </a:xfrm>
          <a:prstGeom prst="rect">
            <a:avLst/>
          </a:prstGeom>
          <a:noFill/>
          <a:ln>
            <a:noFill/>
          </a:ln>
        </p:spPr>
        <p:txBody>
          <a:bodyPr anchorCtr="0" anchor="t" bIns="0" lIns="0" spcFirstLastPara="1" rIns="0" wrap="square" tIns="0">
            <a:spAutoFit/>
          </a:bodyPr>
          <a:lstStyle/>
          <a:p>
            <a:pPr indent="0" lvl="0" marL="0" marR="0" rtl="0" algn="l">
              <a:lnSpc>
                <a:spcPct val="120003"/>
              </a:lnSpc>
              <a:spcBef>
                <a:spcPts val="0"/>
              </a:spcBef>
              <a:spcAft>
                <a:spcPts val="0"/>
              </a:spcAft>
              <a:buClr>
                <a:srgbClr val="000000"/>
              </a:buClr>
              <a:buSzPts val="5499"/>
              <a:buFont typeface="Arial"/>
              <a:buNone/>
            </a:pPr>
            <a:r>
              <a:rPr b="1" i="0" lang="en-US" sz="5499" u="none" cap="none" strike="noStrike">
                <a:solidFill>
                  <a:srgbClr val="FFFFFF"/>
                </a:solidFill>
                <a:latin typeface="Poppins"/>
                <a:ea typeface="Poppins"/>
                <a:cs typeface="Poppins"/>
                <a:sym typeface="Poppins"/>
              </a:rPr>
              <a:t>FASE: MANTENIMIENTO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306" name="Shape 306"/>
        <p:cNvGrpSpPr/>
        <p:nvPr/>
      </p:nvGrpSpPr>
      <p:grpSpPr>
        <a:xfrm>
          <a:off x="0" y="0"/>
          <a:ext cx="0" cy="0"/>
          <a:chOff x="0" y="0"/>
          <a:chExt cx="0" cy="0"/>
        </a:xfrm>
      </p:grpSpPr>
      <p:sp>
        <p:nvSpPr>
          <p:cNvPr id="307" name="Google Shape;307;p13"/>
          <p:cNvSpPr/>
          <p:nvPr/>
        </p:nvSpPr>
        <p:spPr>
          <a:xfrm flipH="1">
            <a:off x="5232163" y="3908765"/>
            <a:ext cx="13333334" cy="6944445"/>
          </a:xfrm>
          <a:custGeom>
            <a:rect b="b" l="l" r="r" t="t"/>
            <a:pathLst>
              <a:path extrusionOk="0" h="6944445" w="13333334">
                <a:moveTo>
                  <a:pt x="13333334" y="0"/>
                </a:moveTo>
                <a:lnTo>
                  <a:pt x="0" y="0"/>
                </a:lnTo>
                <a:lnTo>
                  <a:pt x="0" y="6944445"/>
                </a:lnTo>
                <a:lnTo>
                  <a:pt x="13333334" y="6944445"/>
                </a:lnTo>
                <a:lnTo>
                  <a:pt x="13333334" y="0"/>
                </a:lnTo>
                <a:close/>
              </a:path>
            </a:pathLst>
          </a:custGeom>
          <a:blipFill rotWithShape="1">
            <a:blip r:embed="rId3">
              <a:alphaModFix/>
            </a:blip>
            <a:stretch>
              <a:fillRect b="0" l="0" r="0" t="0"/>
            </a:stretch>
          </a:blipFill>
          <a:ln>
            <a:noFill/>
          </a:ln>
        </p:spPr>
      </p:sp>
      <p:sp>
        <p:nvSpPr>
          <p:cNvPr id="308" name="Google Shape;308;p13"/>
          <p:cNvSpPr/>
          <p:nvPr/>
        </p:nvSpPr>
        <p:spPr>
          <a:xfrm>
            <a:off x="8917417" y="-721195"/>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309" name="Google Shape;309;p13"/>
          <p:cNvSpPr/>
          <p:nvPr/>
        </p:nvSpPr>
        <p:spPr>
          <a:xfrm>
            <a:off x="-219119" y="9039181"/>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310" name="Google Shape;310;p13"/>
          <p:cNvSpPr txBox="1"/>
          <p:nvPr/>
        </p:nvSpPr>
        <p:spPr>
          <a:xfrm>
            <a:off x="1908901" y="717890"/>
            <a:ext cx="14470197" cy="473392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186"/>
              <a:buFont typeface="Arial"/>
              <a:buNone/>
            </a:pPr>
            <a:r>
              <a:rPr b="1" i="0" lang="en-US" sz="10186" u="none" cap="none" strike="noStrike">
                <a:solidFill>
                  <a:srgbClr val="FFFFFF"/>
                </a:solidFill>
                <a:latin typeface="Poppins"/>
                <a:ea typeface="Poppins"/>
                <a:cs typeface="Poppins"/>
                <a:sym typeface="Poppins"/>
              </a:rPr>
              <a:t>CONCEPTOS CLAVE APRENDIDOS </a:t>
            </a:r>
            <a:endParaRPr b="0" i="0" sz="1400" u="none" cap="none" strike="noStrike">
              <a:solidFill>
                <a:srgbClr val="000000"/>
              </a:solidFill>
              <a:latin typeface="Arial"/>
              <a:ea typeface="Arial"/>
              <a:cs typeface="Arial"/>
              <a:sym typeface="Arial"/>
            </a:endParaRPr>
          </a:p>
          <a:p>
            <a:pPr indent="0" lvl="0" marL="0" marR="0" rtl="0" algn="ctr">
              <a:lnSpc>
                <a:spcPct val="119998"/>
              </a:lnSpc>
              <a:spcBef>
                <a:spcPts val="0"/>
              </a:spcBef>
              <a:spcAft>
                <a:spcPts val="0"/>
              </a:spcAft>
              <a:buClr>
                <a:srgbClr val="000000"/>
              </a:buClr>
              <a:buSzPts val="10186"/>
              <a:buFont typeface="Arial"/>
              <a:buNone/>
            </a:pPr>
            <a:r>
              <a:t/>
            </a:r>
            <a:endParaRPr b="1" i="0" sz="10186" u="none" cap="none" strike="noStrike">
              <a:solidFill>
                <a:srgbClr val="FFFFFF"/>
              </a:solidFill>
              <a:latin typeface="Poppins"/>
              <a:ea typeface="Poppins"/>
              <a:cs typeface="Poppins"/>
              <a:sym typeface="Poppins"/>
            </a:endParaRPr>
          </a:p>
        </p:txBody>
      </p:sp>
      <p:grpSp>
        <p:nvGrpSpPr>
          <p:cNvPr id="311" name="Google Shape;311;p13"/>
          <p:cNvGrpSpPr/>
          <p:nvPr/>
        </p:nvGrpSpPr>
        <p:grpSpPr>
          <a:xfrm>
            <a:off x="1315591" y="4350156"/>
            <a:ext cx="7083292" cy="4188303"/>
            <a:chOff x="0" y="-109787"/>
            <a:chExt cx="9444390" cy="5584404"/>
          </a:xfrm>
        </p:grpSpPr>
        <p:grpSp>
          <p:nvGrpSpPr>
            <p:cNvPr id="312" name="Google Shape;312;p13"/>
            <p:cNvGrpSpPr/>
            <p:nvPr/>
          </p:nvGrpSpPr>
          <p:grpSpPr>
            <a:xfrm>
              <a:off x="0" y="-109787"/>
              <a:ext cx="9444390" cy="5584404"/>
              <a:chOff x="0" y="-28575"/>
              <a:chExt cx="2458149" cy="1453487"/>
            </a:xfrm>
          </p:grpSpPr>
          <p:sp>
            <p:nvSpPr>
              <p:cNvPr id="313" name="Google Shape;313;p13"/>
              <p:cNvSpPr/>
              <p:nvPr/>
            </p:nvSpPr>
            <p:spPr>
              <a:xfrm>
                <a:off x="0" y="0"/>
                <a:ext cx="2458149" cy="1424912"/>
              </a:xfrm>
              <a:custGeom>
                <a:rect b="b" l="l" r="r" t="t"/>
                <a:pathLst>
                  <a:path extrusionOk="0" h="1424912" w="2458149">
                    <a:moveTo>
                      <a:pt x="48374" y="0"/>
                    </a:moveTo>
                    <a:lnTo>
                      <a:pt x="2409776" y="0"/>
                    </a:lnTo>
                    <a:cubicBezTo>
                      <a:pt x="2436492" y="0"/>
                      <a:pt x="2458149" y="21658"/>
                      <a:pt x="2458149" y="48374"/>
                    </a:cubicBezTo>
                    <a:lnTo>
                      <a:pt x="2458149" y="1376539"/>
                    </a:lnTo>
                    <a:cubicBezTo>
                      <a:pt x="2458149" y="1403255"/>
                      <a:pt x="2436492" y="1424912"/>
                      <a:pt x="2409776" y="1424912"/>
                    </a:cubicBezTo>
                    <a:lnTo>
                      <a:pt x="48374" y="1424912"/>
                    </a:lnTo>
                    <a:cubicBezTo>
                      <a:pt x="21658" y="1424912"/>
                      <a:pt x="0" y="1403255"/>
                      <a:pt x="0" y="1376539"/>
                    </a:cubicBezTo>
                    <a:lnTo>
                      <a:pt x="0" y="48374"/>
                    </a:lnTo>
                    <a:cubicBezTo>
                      <a:pt x="0" y="21658"/>
                      <a:pt x="21658" y="0"/>
                      <a:pt x="48374"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13"/>
              <p:cNvSpPr txBox="1"/>
              <p:nvPr/>
            </p:nvSpPr>
            <p:spPr>
              <a:xfrm>
                <a:off x="0" y="-28575"/>
                <a:ext cx="2458149" cy="145348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5" name="Google Shape;315;p13"/>
            <p:cNvSpPr txBox="1"/>
            <p:nvPr/>
          </p:nvSpPr>
          <p:spPr>
            <a:xfrm>
              <a:off x="455373" y="879933"/>
              <a:ext cx="8533645" cy="3724275"/>
            </a:xfrm>
            <a:prstGeom prst="rect">
              <a:avLst/>
            </a:prstGeom>
            <a:noFill/>
            <a:ln>
              <a:noFill/>
            </a:ln>
          </p:spPr>
          <p:txBody>
            <a:bodyPr anchorCtr="0" anchor="t" bIns="0" lIns="0" spcFirstLastPara="1" rIns="0" wrap="square" tIns="0">
              <a:spAutoFit/>
            </a:bodyPr>
            <a:lstStyle/>
            <a:p>
              <a:pPr indent="0" lvl="0" marL="0" marR="0" rtl="0" algn="ctr">
                <a:lnSpc>
                  <a:spcPct val="119984"/>
                </a:lnSpc>
                <a:spcBef>
                  <a:spcPts val="0"/>
                </a:spcBef>
                <a:spcAft>
                  <a:spcPts val="0"/>
                </a:spcAft>
                <a:buClr>
                  <a:srgbClr val="000000"/>
                </a:buClr>
                <a:buSzPts val="2657"/>
                <a:buFont typeface="Arial"/>
                <a:buNone/>
              </a:pPr>
              <a:r>
                <a:rPr b="1" i="0" lang="en-US" sz="2657" u="none" cap="none" strike="noStrike">
                  <a:solidFill>
                    <a:srgbClr val="372A28"/>
                  </a:solidFill>
                  <a:latin typeface="Arial"/>
                  <a:ea typeface="Arial"/>
                  <a:cs typeface="Arial"/>
                  <a:sym typeface="Arial"/>
                </a:rPr>
                <a:t>Ciclo de Vida del Software</a:t>
              </a:r>
              <a:endParaRPr b="0" i="0" sz="1400" u="none" cap="none" strike="noStrike">
                <a:solidFill>
                  <a:srgbClr val="000000"/>
                </a:solidFill>
                <a:latin typeface="Arial"/>
                <a:ea typeface="Arial"/>
                <a:cs typeface="Arial"/>
                <a:sym typeface="Arial"/>
              </a:endParaRPr>
            </a:p>
            <a:p>
              <a:pPr indent="0" lvl="0" marL="0" marR="0" rtl="0" algn="ctr">
                <a:lnSpc>
                  <a:spcPct val="119984"/>
                </a:lnSpc>
                <a:spcBef>
                  <a:spcPts val="0"/>
                </a:spcBef>
                <a:spcAft>
                  <a:spcPts val="0"/>
                </a:spcAft>
                <a:buClr>
                  <a:srgbClr val="000000"/>
                </a:buClr>
                <a:buSzPts val="2657"/>
                <a:buFont typeface="Arial"/>
                <a:buNone/>
              </a:pPr>
              <a:r>
                <a:rPr b="0" i="0" lang="en-US" sz="2657" u="none" cap="none" strike="noStrike">
                  <a:solidFill>
                    <a:srgbClr val="372A28"/>
                  </a:solidFill>
                  <a:latin typeface="Arial"/>
                  <a:ea typeface="Arial"/>
                  <a:cs typeface="Arial"/>
                  <a:sym typeface="Arial"/>
                </a:rPr>
                <a:t>Comprensión de las fases que recorre un proyecto de software desde su concepción hasta su retiro, incluyendo actividades de aseguramiento de la calidad en cada etapa.</a:t>
              </a:r>
              <a:endParaRPr b="0" i="0" sz="1400" u="none" cap="none" strike="noStrike">
                <a:solidFill>
                  <a:srgbClr val="000000"/>
                </a:solidFill>
                <a:latin typeface="Arial"/>
                <a:ea typeface="Arial"/>
                <a:cs typeface="Arial"/>
                <a:sym typeface="Arial"/>
              </a:endParaRPr>
            </a:p>
          </p:txBody>
        </p:sp>
      </p:grpSp>
      <p:grpSp>
        <p:nvGrpSpPr>
          <p:cNvPr id="316" name="Google Shape;316;p13"/>
          <p:cNvGrpSpPr/>
          <p:nvPr/>
        </p:nvGrpSpPr>
        <p:grpSpPr>
          <a:xfrm>
            <a:off x="9621538" y="4347988"/>
            <a:ext cx="7842089" cy="4083409"/>
            <a:chOff x="0" y="-106764"/>
            <a:chExt cx="10456118" cy="5444546"/>
          </a:xfrm>
        </p:grpSpPr>
        <p:grpSp>
          <p:nvGrpSpPr>
            <p:cNvPr id="317" name="Google Shape;317;p13"/>
            <p:cNvGrpSpPr/>
            <p:nvPr/>
          </p:nvGrpSpPr>
          <p:grpSpPr>
            <a:xfrm>
              <a:off x="0" y="-106764"/>
              <a:ext cx="10456118" cy="5444546"/>
              <a:chOff x="0" y="-28575"/>
              <a:chExt cx="2798539" cy="1457211"/>
            </a:xfrm>
          </p:grpSpPr>
          <p:sp>
            <p:nvSpPr>
              <p:cNvPr id="318" name="Google Shape;318;p13"/>
              <p:cNvSpPr/>
              <p:nvPr/>
            </p:nvSpPr>
            <p:spPr>
              <a:xfrm>
                <a:off x="0" y="0"/>
                <a:ext cx="2798539" cy="1428636"/>
              </a:xfrm>
              <a:custGeom>
                <a:rect b="b" l="l" r="r" t="t"/>
                <a:pathLst>
                  <a:path extrusionOk="0" h="1428636" w="2798539">
                    <a:moveTo>
                      <a:pt x="42490" y="0"/>
                    </a:moveTo>
                    <a:lnTo>
                      <a:pt x="2756049" y="0"/>
                    </a:lnTo>
                    <a:cubicBezTo>
                      <a:pt x="2767318" y="0"/>
                      <a:pt x="2778126" y="4477"/>
                      <a:pt x="2786094" y="12445"/>
                    </a:cubicBezTo>
                    <a:cubicBezTo>
                      <a:pt x="2794062" y="20413"/>
                      <a:pt x="2798539" y="31221"/>
                      <a:pt x="2798539" y="42490"/>
                    </a:cubicBezTo>
                    <a:lnTo>
                      <a:pt x="2798539" y="1386146"/>
                    </a:lnTo>
                    <a:cubicBezTo>
                      <a:pt x="2798539" y="1409613"/>
                      <a:pt x="2779516" y="1428636"/>
                      <a:pt x="2756049" y="1428636"/>
                    </a:cubicBezTo>
                    <a:lnTo>
                      <a:pt x="42490" y="1428636"/>
                    </a:lnTo>
                    <a:cubicBezTo>
                      <a:pt x="19023" y="1428636"/>
                      <a:pt x="0" y="1409613"/>
                      <a:pt x="0" y="1386146"/>
                    </a:cubicBezTo>
                    <a:lnTo>
                      <a:pt x="0" y="42490"/>
                    </a:lnTo>
                    <a:cubicBezTo>
                      <a:pt x="0" y="19023"/>
                      <a:pt x="19023" y="0"/>
                      <a:pt x="42490" y="0"/>
                    </a:cubicBezTo>
                    <a:close/>
                  </a:path>
                </a:pathLst>
              </a:custGeom>
              <a:solidFill>
                <a:srgbClr val="E2E2B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p13"/>
              <p:cNvSpPr txBox="1"/>
              <p:nvPr/>
            </p:nvSpPr>
            <p:spPr>
              <a:xfrm>
                <a:off x="0" y="-28575"/>
                <a:ext cx="2798539" cy="145721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0" name="Google Shape;320;p13"/>
            <p:cNvSpPr txBox="1"/>
            <p:nvPr/>
          </p:nvSpPr>
          <p:spPr>
            <a:xfrm>
              <a:off x="504154" y="836916"/>
              <a:ext cx="9447810" cy="3654425"/>
            </a:xfrm>
            <a:prstGeom prst="rect">
              <a:avLst/>
            </a:prstGeom>
            <a:noFill/>
            <a:ln>
              <a:noFill/>
            </a:ln>
          </p:spPr>
          <p:txBody>
            <a:bodyPr anchorCtr="0" anchor="t" bIns="0" lIns="0" spcFirstLastPara="1" rIns="0" wrap="square" tIns="0">
              <a:spAutoFit/>
            </a:bodyPr>
            <a:lstStyle/>
            <a:p>
              <a:pPr indent="0" lvl="0" marL="0" marR="0" rtl="0" algn="ctr">
                <a:lnSpc>
                  <a:spcPct val="119969"/>
                </a:lnSpc>
                <a:spcBef>
                  <a:spcPts val="0"/>
                </a:spcBef>
                <a:spcAft>
                  <a:spcPts val="0"/>
                </a:spcAft>
                <a:buClr>
                  <a:srgbClr val="000000"/>
                </a:buClr>
                <a:buSzPts val="2584"/>
                <a:buFont typeface="Arial"/>
                <a:buNone/>
              </a:pPr>
              <a:r>
                <a:rPr b="1" i="0" lang="en-US" sz="2584" u="none" cap="none" strike="noStrike">
                  <a:solidFill>
                    <a:srgbClr val="372A28"/>
                  </a:solidFill>
                  <a:latin typeface="Arial"/>
                  <a:ea typeface="Arial"/>
                  <a:cs typeface="Arial"/>
                  <a:sym typeface="Arial"/>
                </a:rPr>
                <a:t>Aseguramiento de la Calidad del Software (SQA)</a:t>
              </a:r>
              <a:endParaRPr b="0" i="0" sz="1400" u="none" cap="none" strike="noStrike">
                <a:solidFill>
                  <a:srgbClr val="000000"/>
                </a:solidFill>
                <a:latin typeface="Arial"/>
                <a:ea typeface="Arial"/>
                <a:cs typeface="Arial"/>
                <a:sym typeface="Arial"/>
              </a:endParaRPr>
            </a:p>
            <a:p>
              <a:pPr indent="0" lvl="0" marL="0" marR="0" rtl="0" algn="ctr">
                <a:lnSpc>
                  <a:spcPct val="119969"/>
                </a:lnSpc>
                <a:spcBef>
                  <a:spcPts val="0"/>
                </a:spcBef>
                <a:spcAft>
                  <a:spcPts val="0"/>
                </a:spcAft>
                <a:buClr>
                  <a:srgbClr val="000000"/>
                </a:buClr>
                <a:buSzPts val="2584"/>
                <a:buFont typeface="Arial"/>
                <a:buNone/>
              </a:pPr>
              <a:r>
                <a:rPr b="0" i="0" lang="en-US" sz="2584" u="none" cap="none" strike="noStrike">
                  <a:solidFill>
                    <a:srgbClr val="372A28"/>
                  </a:solidFill>
                  <a:latin typeface="Arial"/>
                  <a:ea typeface="Arial"/>
                  <a:cs typeface="Arial"/>
                  <a:sym typeface="Arial"/>
                </a:rPr>
                <a:t>Se extiende a lo largo de todo el ciclo de vida del software con el objetivo de prevenir defectos y asegurar el cumplimiento de estándares y requisitos del cliente.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324" name="Shape 324"/>
        <p:cNvGrpSpPr/>
        <p:nvPr/>
      </p:nvGrpSpPr>
      <p:grpSpPr>
        <a:xfrm>
          <a:off x="0" y="0"/>
          <a:ext cx="0" cy="0"/>
          <a:chOff x="0" y="0"/>
          <a:chExt cx="0" cy="0"/>
        </a:xfrm>
      </p:grpSpPr>
      <p:sp>
        <p:nvSpPr>
          <p:cNvPr id="325" name="Google Shape;325;p14"/>
          <p:cNvSpPr/>
          <p:nvPr/>
        </p:nvSpPr>
        <p:spPr>
          <a:xfrm flipH="1">
            <a:off x="5232163" y="3908765"/>
            <a:ext cx="13333334" cy="6944445"/>
          </a:xfrm>
          <a:custGeom>
            <a:rect b="b" l="l" r="r" t="t"/>
            <a:pathLst>
              <a:path extrusionOk="0" h="6944445" w="13333334">
                <a:moveTo>
                  <a:pt x="13333334" y="0"/>
                </a:moveTo>
                <a:lnTo>
                  <a:pt x="0" y="0"/>
                </a:lnTo>
                <a:lnTo>
                  <a:pt x="0" y="6944445"/>
                </a:lnTo>
                <a:lnTo>
                  <a:pt x="13333334" y="6944445"/>
                </a:lnTo>
                <a:lnTo>
                  <a:pt x="13333334" y="0"/>
                </a:lnTo>
                <a:close/>
              </a:path>
            </a:pathLst>
          </a:custGeom>
          <a:blipFill rotWithShape="1">
            <a:blip r:embed="rId3">
              <a:alphaModFix/>
            </a:blip>
            <a:stretch>
              <a:fillRect b="0" l="0" r="0" t="0"/>
            </a:stretch>
          </a:blipFill>
          <a:ln>
            <a:noFill/>
          </a:ln>
        </p:spPr>
      </p:sp>
      <p:sp>
        <p:nvSpPr>
          <p:cNvPr id="326" name="Google Shape;326;p14"/>
          <p:cNvSpPr/>
          <p:nvPr/>
        </p:nvSpPr>
        <p:spPr>
          <a:xfrm>
            <a:off x="8917417" y="-721195"/>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327" name="Google Shape;327;p14"/>
          <p:cNvSpPr/>
          <p:nvPr/>
        </p:nvSpPr>
        <p:spPr>
          <a:xfrm>
            <a:off x="-219119" y="9039181"/>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328" name="Google Shape;328;p14"/>
          <p:cNvSpPr txBox="1"/>
          <p:nvPr/>
        </p:nvSpPr>
        <p:spPr>
          <a:xfrm>
            <a:off x="5015833" y="717890"/>
            <a:ext cx="8256335" cy="164782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186"/>
              <a:buFont typeface="Arial"/>
              <a:buNone/>
            </a:pPr>
            <a:r>
              <a:rPr b="1" i="0" lang="en-US" sz="10186" u="none" cap="none" strike="noStrike">
                <a:solidFill>
                  <a:srgbClr val="FFFFFF"/>
                </a:solidFill>
                <a:latin typeface="Poppins"/>
                <a:ea typeface="Poppins"/>
                <a:cs typeface="Poppins"/>
                <a:sym typeface="Poppins"/>
              </a:rPr>
              <a:t>PACIENCIA</a:t>
            </a:r>
            <a:endParaRPr b="0" i="0" sz="1400" u="none" cap="none" strike="noStrike">
              <a:solidFill>
                <a:srgbClr val="000000"/>
              </a:solidFill>
              <a:latin typeface="Arial"/>
              <a:ea typeface="Arial"/>
              <a:cs typeface="Arial"/>
              <a:sym typeface="Arial"/>
            </a:endParaRPr>
          </a:p>
        </p:txBody>
      </p:sp>
      <p:sp>
        <p:nvSpPr>
          <p:cNvPr id="329" name="Google Shape;329;p14"/>
          <p:cNvSpPr txBox="1"/>
          <p:nvPr/>
        </p:nvSpPr>
        <p:spPr>
          <a:xfrm>
            <a:off x="2823440" y="4582189"/>
            <a:ext cx="6320560" cy="238061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Clr>
                <a:srgbClr val="000000"/>
              </a:buClr>
              <a:buSzPts val="3399"/>
              <a:buFont typeface="Arial"/>
              <a:buNone/>
            </a:pPr>
            <a:r>
              <a:rPr b="0" i="0" lang="en-US" sz="3399" u="none" cap="none" strike="noStrike">
                <a:solidFill>
                  <a:srgbClr val="FFFFFF"/>
                </a:solidFill>
                <a:latin typeface="Open Sans"/>
                <a:ea typeface="Open Sans"/>
                <a:cs typeface="Open Sans"/>
                <a:sym typeface="Open Sans"/>
              </a:rPr>
              <a:t>El desarrollo de software no es instantáneo ni perfecto, y requiere de una mentalidad paciente.</a:t>
            </a:r>
            <a:endParaRPr b="0" i="0" sz="1400" u="none" cap="none" strike="noStrike">
              <a:solidFill>
                <a:srgbClr val="000000"/>
              </a:solidFill>
              <a:latin typeface="Arial"/>
              <a:ea typeface="Arial"/>
              <a:cs typeface="Arial"/>
              <a:sym typeface="Arial"/>
            </a:endParaRPr>
          </a:p>
        </p:txBody>
      </p:sp>
      <p:pic>
        <p:nvPicPr>
          <p:cNvPr id="330" name="Google Shape;330;p14"/>
          <p:cNvPicPr preferRelativeResize="0"/>
          <p:nvPr/>
        </p:nvPicPr>
        <p:blipFill rotWithShape="1">
          <a:blip r:embed="rId5">
            <a:alphaModFix/>
          </a:blip>
          <a:srcRect b="0" l="0" r="0" t="0"/>
          <a:stretch/>
        </p:blipFill>
        <p:spPr>
          <a:xfrm>
            <a:off x="10621050" y="3613575"/>
            <a:ext cx="5959850" cy="46324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9f1636e4cb_0_85"/>
          <p:cNvSpPr txBox="1"/>
          <p:nvPr/>
        </p:nvSpPr>
        <p:spPr>
          <a:xfrm>
            <a:off x="2148439" y="4077814"/>
            <a:ext cx="13991100" cy="938700"/>
          </a:xfrm>
          <a:prstGeom prst="rect">
            <a:avLst/>
          </a:prstGeom>
          <a:noFill/>
          <a:ln>
            <a:noFill/>
          </a:ln>
        </p:spPr>
        <p:txBody>
          <a:bodyPr anchorCtr="0" anchor="t" bIns="0" lIns="0" spcFirstLastPara="1" rIns="0" wrap="square" tIns="0">
            <a:spAutoFit/>
          </a:bodyPr>
          <a:lstStyle/>
          <a:p>
            <a:pPr indent="0" lvl="0" marL="0" marR="0" rtl="0" algn="ctr">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Impact"/>
                <a:ea typeface="Impact"/>
                <a:cs typeface="Impact"/>
                <a:sym typeface="Impact"/>
              </a:rPr>
              <a:t>Practiquemos lo aprendido</a:t>
            </a:r>
            <a:endParaRPr b="0" i="0" sz="1400" u="none" cap="none" strike="noStrike">
              <a:solidFill>
                <a:srgbClr val="000000"/>
              </a:solidFill>
              <a:latin typeface="Impact"/>
              <a:ea typeface="Impact"/>
              <a:cs typeface="Impact"/>
              <a:sym typeface="Impact"/>
            </a:endParaRPr>
          </a:p>
        </p:txBody>
      </p:sp>
      <p:pic>
        <p:nvPicPr>
          <p:cNvPr id="336" name="Google Shape;336;g39f1636e4cb_0_85" title="Gemini_Generated_Image_mopnfwmopnfwmopn (1).png"/>
          <p:cNvPicPr preferRelativeResize="0"/>
          <p:nvPr/>
        </p:nvPicPr>
        <p:blipFill rotWithShape="1">
          <a:blip r:embed="rId3">
            <a:alphaModFix/>
          </a:blip>
          <a:srcRect b="0" l="0" r="0" t="0"/>
          <a:stretch/>
        </p:blipFill>
        <p:spPr>
          <a:xfrm>
            <a:off x="0" y="-5"/>
            <a:ext cx="4077824" cy="40778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pic>
        <p:nvPicPr>
          <p:cNvPr id="341" name="Google Shape;341;g39f1636e4cb_0_92"/>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342" name="Google Shape;342;g39f1636e4cb_0_92"/>
          <p:cNvGraphicFramePr/>
          <p:nvPr/>
        </p:nvGraphicFramePr>
        <p:xfrm>
          <a:off x="16900" y="1507250"/>
          <a:ext cx="3000000" cy="3000000"/>
        </p:xfrm>
        <a:graphic>
          <a:graphicData uri="http://schemas.openxmlformats.org/drawingml/2006/table">
            <a:tbl>
              <a:tblPr>
                <a:noFill/>
                <a:tableStyleId>{9FDB73A8-EFF5-4D94-A2D6-E1552448394C}</a:tableStyleId>
              </a:tblPr>
              <a:tblGrid>
                <a:gridCol w="5533100"/>
                <a:gridCol w="49266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Nombre de la actividad:</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Cantidad de participantes:</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Doy fe que esta actividad está planificada en dtt (Sí/No):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43" name="Google Shape;343;g39f1636e4cb_0_92"/>
          <p:cNvSpPr txBox="1"/>
          <p:nvPr/>
        </p:nvSpPr>
        <p:spPr>
          <a:xfrm>
            <a:off x="0" y="4281900"/>
            <a:ext cx="18037800" cy="8004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Arial"/>
                <a:ea typeface="Arial"/>
                <a:cs typeface="Arial"/>
                <a:sym typeface="Arial"/>
              </a:rPr>
              <a:t>Participantes: llenar las siguientes cajas de texto (tomar información del chat del meet)</a:t>
            </a:r>
            <a:endParaRPr b="1" i="0" sz="2800" u="none" cap="none" strike="noStrike">
              <a:solidFill>
                <a:srgbClr val="000000"/>
              </a:solidFill>
              <a:latin typeface="Arial"/>
              <a:ea typeface="Arial"/>
              <a:cs typeface="Arial"/>
              <a:sym typeface="Arial"/>
            </a:endParaRPr>
          </a:p>
        </p:txBody>
      </p:sp>
      <p:sp>
        <p:nvSpPr>
          <p:cNvPr id="344" name="Google Shape;344;g39f1636e4cb_0_92"/>
          <p:cNvSpPr txBox="1"/>
          <p:nvPr/>
        </p:nvSpPr>
        <p:spPr>
          <a:xfrm>
            <a:off x="169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graphicFrame>
        <p:nvGraphicFramePr>
          <p:cNvPr id="345" name="Google Shape;345;g39f1636e4cb_0_92"/>
          <p:cNvGraphicFramePr/>
          <p:nvPr/>
        </p:nvGraphicFramePr>
        <p:xfrm>
          <a:off x="10656400" y="1940050"/>
          <a:ext cx="3000000" cy="3000000"/>
        </p:xfrm>
        <a:graphic>
          <a:graphicData uri="http://schemas.openxmlformats.org/drawingml/2006/table">
            <a:tbl>
              <a:tblPr>
                <a:noFill/>
                <a:tableStyleId>{9FDB73A8-EFF5-4D94-A2D6-E1552448394C}</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fin:</a:t>
                      </a:r>
                      <a:endParaRPr b="1" sz="2800" u="none" cap="none" strike="noStrike">
                        <a:solidFill>
                          <a:schemeClr val="dk1"/>
                        </a:solidFill>
                      </a:endParaRPr>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7200">
                <a:tc>
                  <a:txBody>
                    <a:bodyPr/>
                    <a:lstStyle/>
                    <a:p>
                      <a:pPr indent="0" lvl="0" marL="0" marR="0" rtl="0" algn="l">
                        <a:lnSpc>
                          <a:spcPct val="100000"/>
                        </a:lnSpc>
                        <a:spcBef>
                          <a:spcPts val="0"/>
                        </a:spcBef>
                        <a:spcAft>
                          <a:spcPts val="0"/>
                        </a:spcAft>
                        <a:buClr>
                          <a:schemeClr val="dk1"/>
                        </a:buClr>
                        <a:buSzPts val="2000"/>
                        <a:buFont typeface="Arial"/>
                        <a:buNone/>
                      </a:pPr>
                      <a:r>
                        <a:rPr b="1" lang="en-US" sz="2800" u="none" cap="none" strike="noStrike">
                          <a:solidFill>
                            <a:schemeClr val="dk1"/>
                          </a:solidFill>
                        </a:rPr>
                        <a:t>Duración (min):</a:t>
                      </a:r>
                      <a:endParaRPr b="1" sz="10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p>
                  </a:txBody>
                  <a:tcPr marT="182850" marB="182850" marR="182850" marL="182850">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46" name="Google Shape;346;g39f1636e4cb_0_92"/>
          <p:cNvSpPr txBox="1"/>
          <p:nvPr/>
        </p:nvSpPr>
        <p:spPr>
          <a:xfrm>
            <a:off x="6261600" y="4955800"/>
            <a:ext cx="61674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None/>
            </a:pPr>
            <a:r>
              <a:t/>
            </a:r>
            <a:endParaRPr b="0" i="0" sz="2400" u="none" cap="none" strike="noStrike">
              <a:solidFill>
                <a:srgbClr val="000000"/>
              </a:solidFill>
              <a:latin typeface="Arial"/>
              <a:ea typeface="Arial"/>
              <a:cs typeface="Arial"/>
              <a:sym typeface="Arial"/>
            </a:endParaRPr>
          </a:p>
        </p:txBody>
      </p:sp>
      <p:sp>
        <p:nvSpPr>
          <p:cNvPr id="347" name="Google Shape;347;g39f1636e4cb_0_92"/>
          <p:cNvSpPr txBox="1"/>
          <p:nvPr/>
        </p:nvSpPr>
        <p:spPr>
          <a:xfrm>
            <a:off x="12506300" y="4955800"/>
            <a:ext cx="5764800" cy="738900"/>
          </a:xfrm>
          <a:prstGeom prst="rect">
            <a:avLst/>
          </a:prstGeom>
          <a:noFill/>
          <a:ln cap="flat" cmpd="sng" w="19050">
            <a:solidFill>
              <a:schemeClr val="dk1"/>
            </a:solidFill>
            <a:prstDash val="solid"/>
            <a:round/>
            <a:headEnd len="sm" w="sm" type="none"/>
            <a:tailEnd len="sm" w="sm" type="none"/>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03346E"/>
            </a:gs>
            <a:gs pos="100000">
              <a:srgbClr val="6EACDA"/>
            </a:gs>
          </a:gsLst>
          <a:lin ang="2700000" scaled="0"/>
        </a:gradFill>
      </p:bgPr>
    </p:bg>
    <p:spTree>
      <p:nvGrpSpPr>
        <p:cNvPr id="351" name="Shape 351"/>
        <p:cNvGrpSpPr/>
        <p:nvPr/>
      </p:nvGrpSpPr>
      <p:grpSpPr>
        <a:xfrm>
          <a:off x="0" y="0"/>
          <a:ext cx="0" cy="0"/>
          <a:chOff x="0" y="0"/>
          <a:chExt cx="0" cy="0"/>
        </a:xfrm>
      </p:grpSpPr>
      <p:sp>
        <p:nvSpPr>
          <p:cNvPr id="352" name="Google Shape;352;p15"/>
          <p:cNvSpPr/>
          <p:nvPr/>
        </p:nvSpPr>
        <p:spPr>
          <a:xfrm flipH="1">
            <a:off x="5232163" y="3908765"/>
            <a:ext cx="13333334" cy="6944445"/>
          </a:xfrm>
          <a:custGeom>
            <a:rect b="b" l="l" r="r" t="t"/>
            <a:pathLst>
              <a:path extrusionOk="0" h="6944445" w="13333334">
                <a:moveTo>
                  <a:pt x="13333334" y="0"/>
                </a:moveTo>
                <a:lnTo>
                  <a:pt x="0" y="0"/>
                </a:lnTo>
                <a:lnTo>
                  <a:pt x="0" y="6944445"/>
                </a:lnTo>
                <a:lnTo>
                  <a:pt x="13333334" y="6944445"/>
                </a:lnTo>
                <a:lnTo>
                  <a:pt x="13333334" y="0"/>
                </a:lnTo>
                <a:close/>
              </a:path>
            </a:pathLst>
          </a:custGeom>
          <a:blipFill rotWithShape="1">
            <a:blip r:embed="rId3">
              <a:alphaModFix/>
            </a:blip>
            <a:stretch>
              <a:fillRect b="0" l="0" r="0" t="0"/>
            </a:stretch>
          </a:blipFill>
          <a:ln>
            <a:noFill/>
          </a:ln>
        </p:spPr>
      </p:sp>
      <p:sp>
        <p:nvSpPr>
          <p:cNvPr id="353" name="Google Shape;353;p15"/>
          <p:cNvSpPr/>
          <p:nvPr/>
        </p:nvSpPr>
        <p:spPr>
          <a:xfrm>
            <a:off x="8917417" y="-721195"/>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354" name="Google Shape;354;p15"/>
          <p:cNvSpPr/>
          <p:nvPr/>
        </p:nvSpPr>
        <p:spPr>
          <a:xfrm>
            <a:off x="-219119" y="9039181"/>
            <a:ext cx="2495638" cy="2495638"/>
          </a:xfrm>
          <a:custGeom>
            <a:rect b="b" l="l" r="r" t="t"/>
            <a:pathLst>
              <a:path extrusionOk="0" h="2495638" w="2495638">
                <a:moveTo>
                  <a:pt x="0" y="0"/>
                </a:moveTo>
                <a:lnTo>
                  <a:pt x="2495638" y="0"/>
                </a:lnTo>
                <a:lnTo>
                  <a:pt x="2495638" y="2495638"/>
                </a:lnTo>
                <a:lnTo>
                  <a:pt x="0" y="2495638"/>
                </a:lnTo>
                <a:lnTo>
                  <a:pt x="0" y="0"/>
                </a:lnTo>
                <a:close/>
              </a:path>
            </a:pathLst>
          </a:custGeom>
          <a:blipFill rotWithShape="1">
            <a:blip r:embed="rId4">
              <a:alphaModFix amt="38000"/>
            </a:blip>
            <a:stretch>
              <a:fillRect b="0" l="0" r="0" t="0"/>
            </a:stretch>
          </a:blipFill>
          <a:ln>
            <a:noFill/>
          </a:ln>
        </p:spPr>
      </p:sp>
      <p:sp>
        <p:nvSpPr>
          <p:cNvPr id="355" name="Google Shape;355;p15"/>
          <p:cNvSpPr txBox="1"/>
          <p:nvPr/>
        </p:nvSpPr>
        <p:spPr>
          <a:xfrm>
            <a:off x="3796547" y="717890"/>
            <a:ext cx="10694906" cy="31908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Clr>
                <a:srgbClr val="000000"/>
              </a:buClr>
              <a:buSzPts val="10186"/>
              <a:buFont typeface="Arial"/>
              <a:buNone/>
            </a:pPr>
            <a:r>
              <a:rPr b="1" i="0" lang="en-US" sz="10186" u="none" cap="none" strike="noStrike">
                <a:solidFill>
                  <a:srgbClr val="FFFFFF"/>
                </a:solidFill>
                <a:latin typeface="Poppins"/>
                <a:ea typeface="Poppins"/>
                <a:cs typeface="Poppins"/>
                <a:sym typeface="Poppins"/>
              </a:rPr>
              <a:t>¡GRACIAS POR SU ATENCIÓN!</a:t>
            </a:r>
            <a:endParaRPr b="0" i="0" sz="1400" u="none" cap="none" strike="noStrike">
              <a:solidFill>
                <a:srgbClr val="000000"/>
              </a:solidFill>
              <a:latin typeface="Arial"/>
              <a:ea typeface="Arial"/>
              <a:cs typeface="Arial"/>
              <a:sym typeface="Arial"/>
            </a:endParaRPr>
          </a:p>
        </p:txBody>
      </p:sp>
      <p:sp>
        <p:nvSpPr>
          <p:cNvPr id="356" name="Google Shape;356;p15"/>
          <p:cNvSpPr txBox="1"/>
          <p:nvPr/>
        </p:nvSpPr>
        <p:spPr>
          <a:xfrm>
            <a:off x="5983720" y="4823250"/>
            <a:ext cx="6320560" cy="92011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399"/>
              <a:buFont typeface="Arial"/>
              <a:buNone/>
            </a:pPr>
            <a:r>
              <a:rPr b="0" i="0" lang="en-US" sz="5399" u="none" cap="none" strike="noStrike">
                <a:solidFill>
                  <a:srgbClr val="FFFFFF"/>
                </a:solidFill>
                <a:latin typeface="Open Sans"/>
                <a:ea typeface="Open Sans"/>
                <a:cs typeface="Open Sans"/>
                <a:sym typeface="Open Sans"/>
              </a:rPr>
              <a:t>DUDAS?</a:t>
            </a:r>
            <a:endParaRPr b="0" i="0" sz="1400" u="none" cap="none" strike="noStrike">
              <a:solidFill>
                <a:srgbClr val="000000"/>
              </a:solidFill>
              <a:latin typeface="Arial"/>
              <a:ea typeface="Arial"/>
              <a:cs typeface="Arial"/>
              <a:sym typeface="Arial"/>
            </a:endParaRPr>
          </a:p>
        </p:txBody>
      </p:sp>
      <p:sp>
        <p:nvSpPr>
          <p:cNvPr id="357" name="Google Shape;357;p15"/>
          <p:cNvSpPr txBox="1"/>
          <p:nvPr/>
        </p:nvSpPr>
        <p:spPr>
          <a:xfrm>
            <a:off x="1028700" y="7810213"/>
            <a:ext cx="16484687" cy="15811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3000"/>
              <a:buFont typeface="Arial"/>
              <a:buNone/>
            </a:pPr>
            <a:r>
              <a:rPr b="0" i="0" lang="en-US" sz="3000" u="none" cap="none" strike="noStrike">
                <a:solidFill>
                  <a:srgbClr val="FFFFFF"/>
                </a:solidFill>
                <a:latin typeface="Open Sans"/>
                <a:ea typeface="Open Sans"/>
                <a:cs typeface="Open Sans"/>
                <a:sym typeface="Open Sans"/>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3000"/>
              <a:buFont typeface="Arial"/>
              <a:buNone/>
            </a:pPr>
            <a:r>
              <a:t/>
            </a:r>
            <a:endParaRPr b="0" i="0" sz="3000" u="none" cap="none" strike="noStrike">
              <a:solidFill>
                <a:srgbClr val="FFFFFF"/>
              </a:solidFill>
              <a:latin typeface="Open Sans"/>
              <a:ea typeface="Open Sans"/>
              <a:cs typeface="Open Sans"/>
              <a:sym typeface="Open Sans"/>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