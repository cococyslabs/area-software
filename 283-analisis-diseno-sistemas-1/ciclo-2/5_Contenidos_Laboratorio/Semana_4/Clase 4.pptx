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Lst>
  <p:sldSz cy="10287000" cx="18288000"/>
  <p:notesSz cx="6858000" cy="9144000"/>
  <p:embeddedFontLst>
    <p:embeddedFont>
      <p:font typeface="Fira Sans Black"/>
      <p:bold r:id="rId44"/>
      <p:boldItalic r:id="rId45"/>
    </p:embeddedFont>
    <p:embeddedFont>
      <p:font typeface="Play"/>
      <p:regular r:id="rId46"/>
      <p:bold r:id="rId47"/>
    </p:embeddedFont>
    <p:embeddedFont>
      <p:font typeface="Montserrat"/>
      <p:bold r:id="rId48"/>
      <p:boldItalic r:id="rId49"/>
    </p:embeddedFont>
    <p:embeddedFont>
      <p:font typeface="Fira Sans Medium"/>
      <p:regular r:id="rId50"/>
      <p:bold r:id="rId51"/>
      <p:italic r:id="rId52"/>
      <p:boldItalic r:id="rId53"/>
    </p:embeddedFont>
    <p:embeddedFont>
      <p:font typeface="Roboto Condensed"/>
      <p:bold r:id="rId54"/>
      <p:boldItalic r:id="rId55"/>
    </p:embeddedFont>
    <p:embeddedFont>
      <p:font typeface="Fira Sans SemiBold"/>
      <p:regular r:id="rId56"/>
      <p:bold r:id="rId57"/>
      <p:italic r:id="rId58"/>
      <p:boldItalic r:id="rId59"/>
    </p:embeddedFont>
    <p:embeddedFont>
      <p:font typeface="Fira Sans"/>
      <p:regular r:id="rId60"/>
      <p:bold r:id="rId61"/>
      <p:italic r:id="rId62"/>
      <p:boldItalic r:id="rId63"/>
    </p:embeddedFont>
    <p:embeddedFont>
      <p:font typeface="Open Sans"/>
      <p:bold r:id="rId64"/>
      <p:boldItalic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6" roundtripDataSignature="AMtx7mhH4tE1iY8UDJEpz5wGwAoGzYjO+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font" Target="fonts/FiraSansBlack-bold.fntdata"/><Relationship Id="rId43" Type="http://schemas.openxmlformats.org/officeDocument/2006/relationships/slide" Target="slides/slide38.xml"/><Relationship Id="rId46" Type="http://schemas.openxmlformats.org/officeDocument/2006/relationships/font" Target="fonts/Play-regular.fntdata"/><Relationship Id="rId45" Type="http://schemas.openxmlformats.org/officeDocument/2006/relationships/font" Target="fonts/FiraSansBlack-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Montserrat-bold.fntdata"/><Relationship Id="rId47" Type="http://schemas.openxmlformats.org/officeDocument/2006/relationships/font" Target="fonts/Play-bold.fntdata"/><Relationship Id="rId49"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FiraSans-italic.fntdata"/><Relationship Id="rId61" Type="http://schemas.openxmlformats.org/officeDocument/2006/relationships/font" Target="fonts/FiraSans-bold.fntdata"/><Relationship Id="rId20" Type="http://schemas.openxmlformats.org/officeDocument/2006/relationships/slide" Target="slides/slide15.xml"/><Relationship Id="rId64" Type="http://schemas.openxmlformats.org/officeDocument/2006/relationships/font" Target="fonts/OpenSans-bold.fntdata"/><Relationship Id="rId63" Type="http://schemas.openxmlformats.org/officeDocument/2006/relationships/font" Target="fonts/FiraSans-boldItalic.fntdata"/><Relationship Id="rId22" Type="http://schemas.openxmlformats.org/officeDocument/2006/relationships/slide" Target="slides/slide17.xml"/><Relationship Id="rId66" Type="http://customschemas.google.com/relationships/presentationmetadata" Target="metadata"/><Relationship Id="rId21" Type="http://schemas.openxmlformats.org/officeDocument/2006/relationships/slide" Target="slides/slide16.xml"/><Relationship Id="rId65" Type="http://schemas.openxmlformats.org/officeDocument/2006/relationships/font" Target="fonts/OpenSans-boldItalic.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FiraSans-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FiraSansMedium-bold.fntdata"/><Relationship Id="rId50" Type="http://schemas.openxmlformats.org/officeDocument/2006/relationships/font" Target="fonts/FiraSansMedium-regular.fntdata"/><Relationship Id="rId53" Type="http://schemas.openxmlformats.org/officeDocument/2006/relationships/font" Target="fonts/FiraSansMedium-boldItalic.fntdata"/><Relationship Id="rId52" Type="http://schemas.openxmlformats.org/officeDocument/2006/relationships/font" Target="fonts/FiraSansMedium-italic.fntdata"/><Relationship Id="rId11" Type="http://schemas.openxmlformats.org/officeDocument/2006/relationships/slide" Target="slides/slide6.xml"/><Relationship Id="rId55" Type="http://schemas.openxmlformats.org/officeDocument/2006/relationships/font" Target="fonts/RobotoCondensed-boldItalic.fntdata"/><Relationship Id="rId10" Type="http://schemas.openxmlformats.org/officeDocument/2006/relationships/slide" Target="slides/slide5.xml"/><Relationship Id="rId54" Type="http://schemas.openxmlformats.org/officeDocument/2006/relationships/font" Target="fonts/RobotoCondensed-bold.fntdata"/><Relationship Id="rId13" Type="http://schemas.openxmlformats.org/officeDocument/2006/relationships/slide" Target="slides/slide8.xml"/><Relationship Id="rId57" Type="http://schemas.openxmlformats.org/officeDocument/2006/relationships/font" Target="fonts/FiraSansSemiBold-bold.fntdata"/><Relationship Id="rId12" Type="http://schemas.openxmlformats.org/officeDocument/2006/relationships/slide" Target="slides/slide7.xml"/><Relationship Id="rId56" Type="http://schemas.openxmlformats.org/officeDocument/2006/relationships/font" Target="fonts/FiraSansSemiBold-regular.fntdata"/><Relationship Id="rId15" Type="http://schemas.openxmlformats.org/officeDocument/2006/relationships/slide" Target="slides/slide10.xml"/><Relationship Id="rId59" Type="http://schemas.openxmlformats.org/officeDocument/2006/relationships/font" Target="fonts/FiraSansSemiBold-boldItalic.fntdata"/><Relationship Id="rId14" Type="http://schemas.openxmlformats.org/officeDocument/2006/relationships/slide" Target="slides/slide9.xml"/><Relationship Id="rId58" Type="http://schemas.openxmlformats.org/officeDocument/2006/relationships/font" Target="fonts/FiraSansSemi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4" name="Shape 394"/>
        <p:cNvGrpSpPr/>
        <p:nvPr/>
      </p:nvGrpSpPr>
      <p:grpSpPr>
        <a:xfrm>
          <a:off x="0" y="0"/>
          <a:ext cx="0" cy="0"/>
          <a:chOff x="0" y="0"/>
          <a:chExt cx="0" cy="0"/>
        </a:xfrm>
      </p:grpSpPr>
      <p:sp>
        <p:nvSpPr>
          <p:cNvPr id="395" name="Google Shape;39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8" name="Shape 438"/>
        <p:cNvGrpSpPr/>
        <p:nvPr/>
      </p:nvGrpSpPr>
      <p:grpSpPr>
        <a:xfrm>
          <a:off x="0" y="0"/>
          <a:ext cx="0" cy="0"/>
          <a:chOff x="0" y="0"/>
          <a:chExt cx="0" cy="0"/>
        </a:xfrm>
      </p:grpSpPr>
      <p:sp>
        <p:nvSpPr>
          <p:cNvPr id="439" name="Google Shape;439;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4" name="Shape 464"/>
        <p:cNvGrpSpPr/>
        <p:nvPr/>
      </p:nvGrpSpPr>
      <p:grpSpPr>
        <a:xfrm>
          <a:off x="0" y="0"/>
          <a:ext cx="0" cy="0"/>
          <a:chOff x="0" y="0"/>
          <a:chExt cx="0" cy="0"/>
        </a:xfrm>
      </p:grpSpPr>
      <p:sp>
        <p:nvSpPr>
          <p:cNvPr id="465" name="Google Shape;46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9da77f8dda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g39da77f8dda_2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9" name="Shape 529"/>
        <p:cNvGrpSpPr/>
        <p:nvPr/>
      </p:nvGrpSpPr>
      <p:grpSpPr>
        <a:xfrm>
          <a:off x="0" y="0"/>
          <a:ext cx="0" cy="0"/>
          <a:chOff x="0" y="0"/>
          <a:chExt cx="0" cy="0"/>
        </a:xfrm>
      </p:grpSpPr>
      <p:sp>
        <p:nvSpPr>
          <p:cNvPr id="530" name="Google Shape;530;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7"/>
          <p:cNvSpPr/>
          <p:nvPr>
            <p:ph idx="2" type="pic"/>
          </p:nvPr>
        </p:nvSpPr>
        <p:spPr>
          <a:xfrm>
            <a:off x="1792288" y="612775"/>
            <a:ext cx="5486400" cy="4114800"/>
          </a:xfrm>
          <a:prstGeom prst="rect">
            <a:avLst/>
          </a:prstGeom>
          <a:noFill/>
          <a:ln>
            <a:noFill/>
          </a:ln>
        </p:spPr>
      </p:sp>
      <p:sp>
        <p:nvSpPr>
          <p:cNvPr id="64" name="Google Shape;64;p4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hyperlink" Target="https://youtu.be/Smf2BKwiBmM?si=sQeuD-ajVp08e8_x"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13.png"/><Relationship Id="rId5" Type="http://schemas.openxmlformats.org/officeDocument/2006/relationships/image" Target="../media/image26.png"/><Relationship Id="rId6" Type="http://schemas.openxmlformats.org/officeDocument/2006/relationships/image" Target="../media/image11.png"/><Relationship Id="rId7"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3.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8.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6.png"/><Relationship Id="rId5" Type="http://schemas.openxmlformats.org/officeDocument/2006/relationships/image" Target="../media/image4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3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1.png"/><Relationship Id="rId4" Type="http://schemas.openxmlformats.org/officeDocument/2006/relationships/image" Target="../media/image34.png"/><Relationship Id="rId5" Type="http://schemas.openxmlformats.org/officeDocument/2006/relationships/image" Target="../media/image2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1.png"/><Relationship Id="rId4" Type="http://schemas.openxmlformats.org/officeDocument/2006/relationships/image" Target="../media/image34.png"/><Relationship Id="rId5" Type="http://schemas.openxmlformats.org/officeDocument/2006/relationships/image" Target="../media/image18.png"/><Relationship Id="rId6"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34.png"/><Relationship Id="rId5"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1.png"/><Relationship Id="rId4" Type="http://schemas.openxmlformats.org/officeDocument/2006/relationships/image" Target="../media/image3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1.png"/><Relationship Id="rId4" Type="http://schemas.openxmlformats.org/officeDocument/2006/relationships/image" Target="../media/image40.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28.png"/><Relationship Id="rId4" Type="http://schemas.openxmlformats.org/officeDocument/2006/relationships/image" Target="../media/image2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0.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30.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3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30.pn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3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37.jpg"/><Relationship Id="rId4" Type="http://schemas.openxmlformats.org/officeDocument/2006/relationships/image" Target="../media/image42.png"/><Relationship Id="rId5" Type="http://schemas.openxmlformats.org/officeDocument/2006/relationships/image" Target="../media/image47.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42.png"/><Relationship Id="rId4" Type="http://schemas.openxmlformats.org/officeDocument/2006/relationships/image" Target="../media/image47.png"/><Relationship Id="rId5" Type="http://schemas.openxmlformats.org/officeDocument/2006/relationships/image" Target="../media/image4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42.png"/><Relationship Id="rId4" Type="http://schemas.openxmlformats.org/officeDocument/2006/relationships/image" Target="../media/image47.png"/><Relationship Id="rId5" Type="http://schemas.openxmlformats.org/officeDocument/2006/relationships/image" Target="../media/image3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42.png"/><Relationship Id="rId4" Type="http://schemas.openxmlformats.org/officeDocument/2006/relationships/image" Target="../media/image47.png"/><Relationship Id="rId5" Type="http://schemas.openxmlformats.org/officeDocument/2006/relationships/image" Target="../media/image4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42.png"/><Relationship Id="rId4" Type="http://schemas.openxmlformats.org/officeDocument/2006/relationships/image" Target="../media/image47.png"/><Relationship Id="rId5" Type="http://schemas.openxmlformats.org/officeDocument/2006/relationships/image" Target="../media/image4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hyperlink" Target="https://www.fdiformacion.com/proyectos-con-exito-metodologias-agiles/#:~:text=Las%20metodolog%C3%ADa%20Agile%20es%20ideal,se%20pueden%20planificar%20con%20anticipaci%C3%B3n."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p:nvPr/>
        </p:nvSpPr>
        <p:spPr>
          <a:xfrm>
            <a:off x="12541309" y="0"/>
            <a:ext cx="5746691" cy="1711780"/>
          </a:xfrm>
          <a:custGeom>
            <a:rect b="b" l="l" r="r" t="t"/>
            <a:pathLst>
              <a:path extrusionOk="0" h="1711780" w="5746691">
                <a:moveTo>
                  <a:pt x="0" y="0"/>
                </a:moveTo>
                <a:lnTo>
                  <a:pt x="5746691" y="0"/>
                </a:lnTo>
                <a:lnTo>
                  <a:pt x="5746691" y="1711780"/>
                </a:lnTo>
                <a:lnTo>
                  <a:pt x="0" y="1711780"/>
                </a:lnTo>
                <a:lnTo>
                  <a:pt x="0" y="0"/>
                </a:lnTo>
                <a:close/>
              </a:path>
            </a:pathLst>
          </a:custGeom>
          <a:blipFill rotWithShape="1">
            <a:blip r:embed="rId3">
              <a:alphaModFix/>
            </a:blip>
            <a:stretch>
              <a:fillRect b="0" l="0" r="0" t="0"/>
            </a:stretch>
          </a:blipFill>
          <a:ln>
            <a:noFill/>
          </a:ln>
        </p:spPr>
      </p:sp>
      <p:sp>
        <p:nvSpPr>
          <p:cNvPr id="85" name="Google Shape;85;p1"/>
          <p:cNvSpPr txBox="1"/>
          <p:nvPr/>
        </p:nvSpPr>
        <p:spPr>
          <a:xfrm>
            <a:off x="1063303" y="7929276"/>
            <a:ext cx="10161027" cy="8636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5000" u="none" cap="none" strike="noStrike">
                <a:solidFill>
                  <a:srgbClr val="131416"/>
                </a:solidFill>
                <a:latin typeface="Open Sans"/>
                <a:ea typeface="Open Sans"/>
                <a:cs typeface="Open Sans"/>
                <a:sym typeface="Open Sans"/>
              </a:rPr>
              <a:t>Analisis y Diseño de Sistemas 1</a:t>
            </a:r>
            <a:endParaRPr/>
          </a:p>
        </p:txBody>
      </p:sp>
      <p:sp>
        <p:nvSpPr>
          <p:cNvPr id="86" name="Google Shape;86;p1"/>
          <p:cNvSpPr txBox="1"/>
          <p:nvPr/>
        </p:nvSpPr>
        <p:spPr>
          <a:xfrm>
            <a:off x="890875" y="3915649"/>
            <a:ext cx="15967968" cy="1566544"/>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1" i="0" lang="en-US" sz="9200" u="none" cap="none" strike="noStrike">
                <a:solidFill>
                  <a:srgbClr val="131416"/>
                </a:solidFill>
                <a:latin typeface="Open Sans"/>
                <a:ea typeface="Open Sans"/>
                <a:cs typeface="Open Sans"/>
                <a:sym typeface="Open Sans"/>
              </a:rPr>
              <a:t>Metodologias de Desarrollo</a:t>
            </a:r>
            <a:endParaRPr/>
          </a:p>
        </p:txBody>
      </p:sp>
      <p:sp>
        <p:nvSpPr>
          <p:cNvPr id="87" name="Google Shape;87;p1"/>
          <p:cNvSpPr txBox="1"/>
          <p:nvPr/>
        </p:nvSpPr>
        <p:spPr>
          <a:xfrm>
            <a:off x="1063303" y="8745251"/>
            <a:ext cx="6981379"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Escuela de Ingenieria de Ciencias Y Sistemas</a:t>
            </a:r>
            <a:endParaRPr/>
          </a:p>
        </p:txBody>
      </p:sp>
      <p:sp>
        <p:nvSpPr>
          <p:cNvPr id="88" name="Google Shape;88;p1"/>
          <p:cNvSpPr txBox="1"/>
          <p:nvPr/>
        </p:nvSpPr>
        <p:spPr>
          <a:xfrm>
            <a:off x="1028700" y="9210675"/>
            <a:ext cx="3525292"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Facultad de Ingenieria</a:t>
            </a:r>
            <a:endParaRPr/>
          </a:p>
        </p:txBody>
      </p:sp>
      <p:sp>
        <p:nvSpPr>
          <p:cNvPr id="89" name="Google Shape;89;p1"/>
          <p:cNvSpPr txBox="1"/>
          <p:nvPr/>
        </p:nvSpPr>
        <p:spPr>
          <a:xfrm>
            <a:off x="1028700" y="9585325"/>
            <a:ext cx="6407944" cy="422275"/>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None/>
            </a:pPr>
            <a:r>
              <a:rPr b="1" i="0" lang="en-US" sz="2499" u="none" cap="none" strike="noStrike">
                <a:solidFill>
                  <a:srgbClr val="131416"/>
                </a:solidFill>
                <a:latin typeface="Open Sans"/>
                <a:ea typeface="Open Sans"/>
                <a:cs typeface="Open Sans"/>
                <a:sym typeface="Open Sans"/>
              </a:rPr>
              <a:t>Universidad de San Carlos de Guatemala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grpSp>
        <p:nvGrpSpPr>
          <p:cNvPr id="94" name="Google Shape;94;p2"/>
          <p:cNvGrpSpPr/>
          <p:nvPr/>
        </p:nvGrpSpPr>
        <p:grpSpPr>
          <a:xfrm>
            <a:off x="1617809" y="4503307"/>
            <a:ext cx="4613551" cy="845385"/>
            <a:chOff x="0" y="-76200"/>
            <a:chExt cx="1964221" cy="359923"/>
          </a:xfrm>
        </p:grpSpPr>
        <p:sp>
          <p:nvSpPr>
            <p:cNvPr id="95" name="Google Shape;95;p2"/>
            <p:cNvSpPr/>
            <p:nvPr/>
          </p:nvSpPr>
          <p:spPr>
            <a:xfrm>
              <a:off x="0" y="0"/>
              <a:ext cx="1964221" cy="283723"/>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96" name="Google Shape;96;p2"/>
            <p:cNvSpPr txBox="1"/>
            <p:nvPr/>
          </p:nvSpPr>
          <p:spPr>
            <a:xfrm>
              <a:off x="0" y="-76200"/>
              <a:ext cx="1849921" cy="359923"/>
            </a:xfrm>
            <a:prstGeom prst="rect">
              <a:avLst/>
            </a:prstGeom>
            <a:noFill/>
            <a:ln>
              <a:noFill/>
            </a:ln>
          </p:spPr>
          <p:txBody>
            <a:bodyPr anchorCtr="0" anchor="ctr" bIns="50800" lIns="50800" spcFirstLastPara="1" rIns="50800" wrap="square" tIns="50800">
              <a:noAutofit/>
            </a:bodyPr>
            <a:lstStyle/>
            <a:p>
              <a:pPr indent="0" lvl="0" marL="0" marR="0" rtl="0" algn="l">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Foro semanal</a:t>
              </a:r>
              <a:endParaRPr/>
            </a:p>
          </p:txBody>
        </p:sp>
      </p:grpSp>
      <p:sp>
        <p:nvSpPr>
          <p:cNvPr id="97" name="Google Shape;97;p2"/>
          <p:cNvSpPr/>
          <p:nvPr/>
        </p:nvSpPr>
        <p:spPr>
          <a:xfrm>
            <a:off x="878654" y="4740441"/>
            <a:ext cx="453358" cy="550094"/>
          </a:xfrm>
          <a:custGeom>
            <a:rect b="b" l="l" r="r" t="t"/>
            <a:pathLst>
              <a:path extrusionOk="0" h="550094" w="453358">
                <a:moveTo>
                  <a:pt x="0" y="0"/>
                </a:moveTo>
                <a:lnTo>
                  <a:pt x="453359" y="0"/>
                </a:lnTo>
                <a:lnTo>
                  <a:pt x="453359" y="550094"/>
                </a:lnTo>
                <a:lnTo>
                  <a:pt x="0" y="550094"/>
                </a:lnTo>
                <a:lnTo>
                  <a:pt x="0" y="0"/>
                </a:lnTo>
                <a:close/>
              </a:path>
            </a:pathLst>
          </a:custGeom>
          <a:blipFill rotWithShape="1">
            <a:blip r:embed="rId3">
              <a:alphaModFix/>
            </a:blip>
            <a:stretch>
              <a:fillRect b="0" l="0" r="0" t="0"/>
            </a:stretch>
          </a:blipFill>
          <a:ln>
            <a:noFill/>
          </a:ln>
        </p:spPr>
      </p:sp>
      <p:grpSp>
        <p:nvGrpSpPr>
          <p:cNvPr id="98" name="Google Shape;98;p2"/>
          <p:cNvGrpSpPr/>
          <p:nvPr/>
        </p:nvGrpSpPr>
        <p:grpSpPr>
          <a:xfrm>
            <a:off x="1866989" y="3013983"/>
            <a:ext cx="4115190" cy="1556484"/>
            <a:chOff x="0" y="-76200"/>
            <a:chExt cx="1083836" cy="409938"/>
          </a:xfrm>
        </p:grpSpPr>
        <p:sp>
          <p:nvSpPr>
            <p:cNvPr id="99" name="Google Shape;99;p2"/>
            <p:cNvSpPr/>
            <p:nvPr/>
          </p:nvSpPr>
          <p:spPr>
            <a:xfrm>
              <a:off x="0" y="0"/>
              <a:ext cx="1083836" cy="333738"/>
            </a:xfrm>
            <a:custGeom>
              <a:rect b="b" l="l" r="r" t="t"/>
              <a:pathLst>
                <a:path extrusionOk="0" h="333738" w="1083836">
                  <a:moveTo>
                    <a:pt x="880636" y="0"/>
                  </a:moveTo>
                  <a:lnTo>
                    <a:pt x="0" y="0"/>
                  </a:lnTo>
                  <a:lnTo>
                    <a:pt x="0" y="333738"/>
                  </a:lnTo>
                  <a:lnTo>
                    <a:pt x="880636" y="333738"/>
                  </a:lnTo>
                  <a:lnTo>
                    <a:pt x="1083836" y="166869"/>
                  </a:lnTo>
                  <a:lnTo>
                    <a:pt x="880636" y="0"/>
                  </a:lnTo>
                  <a:close/>
                </a:path>
              </a:pathLst>
            </a:custGeom>
            <a:solidFill>
              <a:srgbClr val="FFFFFF"/>
            </a:solidFill>
            <a:ln>
              <a:noFill/>
            </a:ln>
          </p:spPr>
        </p:sp>
        <p:sp>
          <p:nvSpPr>
            <p:cNvPr id="100" name="Google Shape;100;p2"/>
            <p:cNvSpPr txBox="1"/>
            <p:nvPr/>
          </p:nvSpPr>
          <p:spPr>
            <a:xfrm>
              <a:off x="0" y="-76200"/>
              <a:ext cx="969536" cy="409938"/>
            </a:xfrm>
            <a:prstGeom prst="rect">
              <a:avLst/>
            </a:prstGeom>
            <a:noFill/>
            <a:ln>
              <a:noFill/>
            </a:ln>
          </p:spPr>
          <p:txBody>
            <a:bodyPr anchorCtr="0" anchor="ctr" bIns="50800" lIns="50800" spcFirstLastPara="1" rIns="50800" wrap="square" tIns="50800">
              <a:noAutofit/>
            </a:bodyPr>
            <a:lstStyle/>
            <a:p>
              <a:pPr indent="0" lvl="0" marL="0" marR="0" rtl="0" algn="ctr">
                <a:lnSpc>
                  <a:spcPct val="148017"/>
                </a:lnSpc>
                <a:spcBef>
                  <a:spcPts val="0"/>
                </a:spcBef>
                <a:spcAft>
                  <a:spcPts val="0"/>
                </a:spcAft>
                <a:buNone/>
              </a:pPr>
              <a:r>
                <a:rPr b="0" i="0" lang="en-US" sz="2799" u="none" cap="none" strike="noStrike">
                  <a:solidFill>
                    <a:srgbClr val="000000"/>
                  </a:solidFill>
                  <a:latin typeface="Arial"/>
                  <a:ea typeface="Arial"/>
                  <a:cs typeface="Arial"/>
                  <a:sym typeface="Arial"/>
                </a:rPr>
                <a:t>RECORDATORIOS</a:t>
              </a:r>
              <a:endParaRPr/>
            </a:p>
          </p:txBody>
        </p:sp>
      </p:grpSp>
      <p:sp>
        <p:nvSpPr>
          <p:cNvPr id="101" name="Google Shape;101;p2"/>
          <p:cNvSpPr/>
          <p:nvPr/>
        </p:nvSpPr>
        <p:spPr>
          <a:xfrm>
            <a:off x="651754" y="3429735"/>
            <a:ext cx="753892" cy="872928"/>
          </a:xfrm>
          <a:custGeom>
            <a:rect b="b" l="l" r="r" t="t"/>
            <a:pathLst>
              <a:path extrusionOk="0" h="872928" w="753892">
                <a:moveTo>
                  <a:pt x="0" y="0"/>
                </a:moveTo>
                <a:lnTo>
                  <a:pt x="753892" y="0"/>
                </a:lnTo>
                <a:lnTo>
                  <a:pt x="753892" y="872927"/>
                </a:lnTo>
                <a:lnTo>
                  <a:pt x="0" y="872927"/>
                </a:lnTo>
                <a:lnTo>
                  <a:pt x="0" y="0"/>
                </a:lnTo>
                <a:close/>
              </a:path>
            </a:pathLst>
          </a:custGeom>
          <a:blipFill rotWithShape="1">
            <a:blip r:embed="rId4">
              <a:alphaModFix/>
            </a:blip>
            <a:stretch>
              <a:fillRect b="0" l="0" r="0" t="0"/>
            </a:stretch>
          </a:blipFill>
          <a:ln>
            <a:noFill/>
          </a:ln>
        </p:spPr>
      </p:sp>
      <p:grpSp>
        <p:nvGrpSpPr>
          <p:cNvPr id="102" name="Google Shape;102;p2"/>
          <p:cNvGrpSpPr/>
          <p:nvPr/>
        </p:nvGrpSpPr>
        <p:grpSpPr>
          <a:xfrm>
            <a:off x="651750" y="-320617"/>
            <a:ext cx="6588001" cy="3120467"/>
            <a:chOff x="-6" y="-95250"/>
            <a:chExt cx="8784000" cy="4160623"/>
          </a:xfrm>
        </p:grpSpPr>
        <p:sp>
          <p:nvSpPr>
            <p:cNvPr id="103" name="Google Shape;103;p2"/>
            <p:cNvSpPr txBox="1"/>
            <p:nvPr/>
          </p:nvSpPr>
          <p:spPr>
            <a:xfrm>
              <a:off x="-6" y="986773"/>
              <a:ext cx="8784000" cy="307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Agenda</a:t>
              </a:r>
              <a:endParaRPr/>
            </a:p>
          </p:txBody>
        </p:sp>
        <p:sp>
          <p:nvSpPr>
            <p:cNvPr id="104" name="Google Shape;104;p2"/>
            <p:cNvSpPr txBox="1"/>
            <p:nvPr/>
          </p:nvSpPr>
          <p:spPr>
            <a:xfrm>
              <a:off x="0" y="-95250"/>
              <a:ext cx="8186982" cy="927435"/>
            </a:xfrm>
            <a:prstGeom prst="rect">
              <a:avLst/>
            </a:prstGeom>
            <a:noFill/>
            <a:ln>
              <a:noFill/>
            </a:ln>
          </p:spPr>
          <p:txBody>
            <a:bodyPr anchorCtr="0" anchor="t" bIns="0" lIns="0" spcFirstLastPara="1" rIns="0" wrap="square" tIns="0">
              <a:spAutoFit/>
            </a:bodyPr>
            <a:lstStyle/>
            <a:p>
              <a:pPr indent="0" lvl="0" marL="0" marR="0" rtl="0" algn="l">
                <a:lnSpc>
                  <a:spcPct val="318500"/>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5" name="Google Shape;105;p2"/>
          <p:cNvGrpSpPr/>
          <p:nvPr/>
        </p:nvGrpSpPr>
        <p:grpSpPr>
          <a:xfrm>
            <a:off x="11131715" y="97566"/>
            <a:ext cx="8416862" cy="2901857"/>
            <a:chOff x="0" y="-76200"/>
            <a:chExt cx="11222483" cy="3869143"/>
          </a:xfrm>
        </p:grpSpPr>
        <p:sp>
          <p:nvSpPr>
            <p:cNvPr id="106" name="Google Shape;106;p2"/>
            <p:cNvSpPr txBox="1"/>
            <p:nvPr/>
          </p:nvSpPr>
          <p:spPr>
            <a:xfrm>
              <a:off x="0" y="805268"/>
              <a:ext cx="11222483" cy="2987675"/>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None/>
              </a:pPr>
              <a:r>
                <a:rPr b="0" i="0" lang="en-US" sz="15000" u="none" cap="none" strike="noStrike">
                  <a:solidFill>
                    <a:srgbClr val="131416"/>
                  </a:solidFill>
                  <a:latin typeface="Play"/>
                  <a:ea typeface="Play"/>
                  <a:cs typeface="Play"/>
                  <a:sym typeface="Play"/>
                </a:rPr>
                <a:t>Recursos</a:t>
              </a:r>
              <a:endParaRPr/>
            </a:p>
          </p:txBody>
        </p:sp>
        <p:sp>
          <p:nvSpPr>
            <p:cNvPr id="107" name="Google Shape;107;p2"/>
            <p:cNvSpPr txBox="1"/>
            <p:nvPr/>
          </p:nvSpPr>
          <p:spPr>
            <a:xfrm>
              <a:off x="0" y="-76200"/>
              <a:ext cx="11222483" cy="747545"/>
            </a:xfrm>
            <a:prstGeom prst="rect">
              <a:avLst/>
            </a:prstGeom>
            <a:noFill/>
            <a:ln>
              <a:noFill/>
            </a:ln>
          </p:spPr>
          <p:txBody>
            <a:bodyPr anchorCtr="0" anchor="t" bIns="0" lIns="0" spcFirstLastPara="1" rIns="0" wrap="square" tIns="0">
              <a:spAutoFit/>
            </a:bodyPr>
            <a:lstStyle/>
            <a:p>
              <a:pPr indent="0" lvl="0" marL="0" marR="0" rtl="0" algn="l">
                <a:lnSpc>
                  <a:spcPct val="256944"/>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08" name="Google Shape;108;p2"/>
          <p:cNvGrpSpPr/>
          <p:nvPr/>
        </p:nvGrpSpPr>
        <p:grpSpPr>
          <a:xfrm>
            <a:off x="11739805" y="2798634"/>
            <a:ext cx="5353646" cy="2283736"/>
            <a:chOff x="0" y="-114300"/>
            <a:chExt cx="1410014" cy="601478"/>
          </a:xfrm>
        </p:grpSpPr>
        <p:sp>
          <p:nvSpPr>
            <p:cNvPr id="109" name="Google Shape;109;p2"/>
            <p:cNvSpPr/>
            <p:nvPr/>
          </p:nvSpPr>
          <p:spPr>
            <a:xfrm>
              <a:off x="0" y="0"/>
              <a:ext cx="1410014" cy="487178"/>
            </a:xfrm>
            <a:custGeom>
              <a:rect b="b" l="l" r="r" t="t"/>
              <a:pathLst>
                <a:path extrusionOk="0" h="487178" w="1410014">
                  <a:moveTo>
                    <a:pt x="1206814" y="0"/>
                  </a:moveTo>
                  <a:lnTo>
                    <a:pt x="0" y="0"/>
                  </a:lnTo>
                  <a:lnTo>
                    <a:pt x="0" y="487178"/>
                  </a:lnTo>
                  <a:lnTo>
                    <a:pt x="1206814" y="487178"/>
                  </a:lnTo>
                  <a:lnTo>
                    <a:pt x="1410014" y="243589"/>
                  </a:lnTo>
                  <a:lnTo>
                    <a:pt x="1206814" y="0"/>
                  </a:lnTo>
                  <a:close/>
                </a:path>
              </a:pathLst>
            </a:custGeom>
            <a:solidFill>
              <a:srgbClr val="FFFFFF"/>
            </a:solidFill>
            <a:ln>
              <a:noFill/>
            </a:ln>
          </p:spPr>
        </p:sp>
        <p:sp>
          <p:nvSpPr>
            <p:cNvPr id="110" name="Google Shape;110;p2"/>
            <p:cNvSpPr txBox="1"/>
            <p:nvPr/>
          </p:nvSpPr>
          <p:spPr>
            <a:xfrm>
              <a:off x="0" y="-114300"/>
              <a:ext cx="1295714" cy="601478"/>
            </a:xfrm>
            <a:prstGeom prst="rect">
              <a:avLst/>
            </a:prstGeom>
            <a:noFill/>
            <a:ln>
              <a:noFill/>
            </a:ln>
          </p:spPr>
          <p:txBody>
            <a:bodyPr anchorCtr="0" anchor="ctr" bIns="50800" lIns="50800" spcFirstLastPara="1" rIns="50800" wrap="square" tIns="50800">
              <a:noAutofit/>
            </a:bodyPr>
            <a:lstStyle/>
            <a:p>
              <a:pPr indent="0" lvl="0" marL="0" marR="0" rtl="0" algn="ctr">
                <a:lnSpc>
                  <a:spcPct val="148010"/>
                </a:lnSpc>
                <a:spcBef>
                  <a:spcPts val="0"/>
                </a:spcBef>
                <a:spcAft>
                  <a:spcPts val="0"/>
                </a:spcAft>
                <a:buNone/>
              </a:pPr>
              <a:r>
                <a:rPr b="0" i="0" lang="en-US" sz="4499" u="sng" cap="none" strike="noStrike">
                  <a:solidFill>
                    <a:srgbClr val="000000"/>
                  </a:solidFill>
                  <a:latin typeface="Arial"/>
                  <a:ea typeface="Arial"/>
                  <a:cs typeface="Arial"/>
                  <a:sym typeface="Arial"/>
                  <a:hlinkClick r:id="rId5">
                    <a:extLst>
                      <a:ext uri="{A12FA001-AC4F-418D-AE19-62706E023703}">
                        <ahyp:hlinkClr val="tx"/>
                      </a:ext>
                    </a:extLst>
                  </a:hlinkClick>
                </a:rPr>
                <a:t>Tipos de Metodologias</a:t>
              </a:r>
              <a:endParaRPr/>
            </a:p>
          </p:txBody>
        </p:sp>
      </p:grpSp>
      <p:sp>
        <p:nvSpPr>
          <p:cNvPr id="111" name="Google Shape;111;p2"/>
          <p:cNvSpPr/>
          <p:nvPr/>
        </p:nvSpPr>
        <p:spPr>
          <a:xfrm>
            <a:off x="1617809" y="5623280"/>
            <a:ext cx="4613551" cy="666407"/>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2" name="Google Shape;112;p2"/>
          <p:cNvSpPr/>
          <p:nvPr/>
        </p:nvSpPr>
        <p:spPr>
          <a:xfrm>
            <a:off x="1617809" y="6575857"/>
            <a:ext cx="4613551" cy="666407"/>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
        <p:nvSpPr>
          <p:cNvPr id="113" name="Google Shape;113;p2"/>
          <p:cNvSpPr/>
          <p:nvPr/>
        </p:nvSpPr>
        <p:spPr>
          <a:xfrm>
            <a:off x="176619" y="7528435"/>
            <a:ext cx="4613551" cy="666407"/>
          </a:xfrm>
          <a:custGeom>
            <a:rect b="b" l="l" r="r" t="t"/>
            <a:pathLst>
              <a:path extrusionOk="0" h="283723" w="1964221">
                <a:moveTo>
                  <a:pt x="1761021" y="0"/>
                </a:moveTo>
                <a:lnTo>
                  <a:pt x="0" y="0"/>
                </a:lnTo>
                <a:lnTo>
                  <a:pt x="0" y="283723"/>
                </a:lnTo>
                <a:lnTo>
                  <a:pt x="1761021" y="283723"/>
                </a:lnTo>
                <a:lnTo>
                  <a:pt x="1964221" y="141862"/>
                </a:lnTo>
                <a:lnTo>
                  <a:pt x="1761021" y="0"/>
                </a:lnTo>
                <a:close/>
              </a:path>
            </a:pathLst>
          </a:custGeom>
          <a:solidFill>
            <a:srgbClr val="FFFFFF"/>
          </a:solidFill>
          <a:ln>
            <a:noFill/>
          </a:ln>
        </p:spPr>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3"/>
          <p:cNvSpPr txBox="1"/>
          <p:nvPr/>
        </p:nvSpPr>
        <p:spPr>
          <a:xfrm>
            <a:off x="1374889" y="654364"/>
            <a:ext cx="13991174" cy="1801020"/>
          </a:xfrm>
          <a:prstGeom prst="rect">
            <a:avLst/>
          </a:prstGeom>
          <a:noFill/>
          <a:ln>
            <a:noFill/>
          </a:ln>
        </p:spPr>
        <p:txBody>
          <a:bodyPr anchorCtr="0" anchor="t" bIns="0" lIns="0" spcFirstLastPara="1" rIns="0" wrap="square" tIns="0">
            <a:spAutoFit/>
          </a:bodyPr>
          <a:lstStyle/>
          <a:p>
            <a:pPr indent="0" lvl="0" marL="0" marR="0" rtl="0" algn="just">
              <a:lnSpc>
                <a:spcPct val="112987"/>
              </a:lnSpc>
              <a:spcBef>
                <a:spcPts val="0"/>
              </a:spcBef>
              <a:spcAft>
                <a:spcPts val="0"/>
              </a:spcAft>
              <a:buNone/>
            </a:pPr>
            <a:r>
              <a:rPr b="0" i="0" lang="en-US" sz="6098" u="none" cap="none" strike="noStrike">
                <a:solidFill>
                  <a:srgbClr val="131416"/>
                </a:solidFill>
                <a:latin typeface="Arial"/>
                <a:ea typeface="Arial"/>
                <a:cs typeface="Arial"/>
                <a:sym typeface="Arial"/>
              </a:rPr>
              <a:t>COMPETENCIA(S) QUE DESARROLLAREMOS</a:t>
            </a:r>
            <a:endParaRPr/>
          </a:p>
        </p:txBody>
      </p:sp>
      <p:sp>
        <p:nvSpPr>
          <p:cNvPr id="119" name="Google Shape;119;p3"/>
          <p:cNvSpPr txBox="1"/>
          <p:nvPr/>
        </p:nvSpPr>
        <p:spPr>
          <a:xfrm>
            <a:off x="1760838" y="2582571"/>
            <a:ext cx="14766324" cy="3658870"/>
          </a:xfrm>
          <a:prstGeom prst="rect">
            <a:avLst/>
          </a:prstGeom>
          <a:noFill/>
          <a:ln>
            <a:noFill/>
          </a:ln>
        </p:spPr>
        <p:txBody>
          <a:bodyPr anchorCtr="0" anchor="t" bIns="0" lIns="0" spcFirstLastPara="1" rIns="0" wrap="square" tIns="0">
            <a:spAutoFit/>
          </a:bodyPr>
          <a:lstStyle/>
          <a:p>
            <a:pPr indent="0" lvl="0" marL="0" marR="0" rtl="0" algn="just">
              <a:lnSpc>
                <a:spcPct val="140007"/>
              </a:lnSpc>
              <a:spcBef>
                <a:spcPts val="0"/>
              </a:spcBef>
              <a:spcAft>
                <a:spcPts val="0"/>
              </a:spcAft>
              <a:buNone/>
            </a:pPr>
            <a:r>
              <a:rPr b="1" i="0" lang="en-US" sz="5199" u="none" cap="none" strike="noStrike">
                <a:solidFill>
                  <a:srgbClr val="131416"/>
                </a:solidFill>
                <a:latin typeface="Open Sans"/>
                <a:ea typeface="Open Sans"/>
                <a:cs typeface="Open Sans"/>
                <a:sym typeface="Open Sans"/>
              </a:rPr>
              <a:t>Aprende a elegir metodologias de desarrollo comparando los requerimientos que exige el proyecto para entregar software que satisfagan las necesidades solicitadas.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2F2F2"/>
        </a:solidFill>
      </p:bgPr>
    </p:bg>
    <p:spTree>
      <p:nvGrpSpPr>
        <p:cNvPr id="123" name="Shape 123"/>
        <p:cNvGrpSpPr/>
        <p:nvPr/>
      </p:nvGrpSpPr>
      <p:grpSpPr>
        <a:xfrm>
          <a:off x="0" y="0"/>
          <a:ext cx="0" cy="0"/>
          <a:chOff x="0" y="0"/>
          <a:chExt cx="0" cy="0"/>
        </a:xfrm>
      </p:grpSpPr>
      <p:sp>
        <p:nvSpPr>
          <p:cNvPr id="124" name="Google Shape;124;p4"/>
          <p:cNvSpPr/>
          <p:nvPr/>
        </p:nvSpPr>
        <p:spPr>
          <a:xfrm>
            <a:off x="-294441" y="-237758"/>
            <a:ext cx="4887111" cy="4557231"/>
          </a:xfrm>
          <a:custGeom>
            <a:rect b="b" l="l" r="r" t="t"/>
            <a:pathLst>
              <a:path extrusionOk="0" h="4557231" w="4887111">
                <a:moveTo>
                  <a:pt x="0" y="0"/>
                </a:moveTo>
                <a:lnTo>
                  <a:pt x="4887111" y="0"/>
                </a:lnTo>
                <a:lnTo>
                  <a:pt x="4887111" y="4557231"/>
                </a:lnTo>
                <a:lnTo>
                  <a:pt x="0" y="4557231"/>
                </a:lnTo>
                <a:lnTo>
                  <a:pt x="0" y="0"/>
                </a:lnTo>
                <a:close/>
              </a:path>
            </a:pathLst>
          </a:custGeom>
          <a:blipFill rotWithShape="1">
            <a:blip r:embed="rId3">
              <a:alphaModFix/>
            </a:blip>
            <a:stretch>
              <a:fillRect b="0" l="0" r="0" t="0"/>
            </a:stretch>
          </a:blipFill>
          <a:ln>
            <a:noFill/>
          </a:ln>
        </p:spPr>
      </p:sp>
      <p:sp>
        <p:nvSpPr>
          <p:cNvPr id="125" name="Google Shape;125;p4"/>
          <p:cNvSpPr/>
          <p:nvPr/>
        </p:nvSpPr>
        <p:spPr>
          <a:xfrm flipH="1" rot="10800000">
            <a:off x="14188100" y="5967527"/>
            <a:ext cx="4099900" cy="4319473"/>
          </a:xfrm>
          <a:custGeom>
            <a:rect b="b" l="l" r="r" t="t"/>
            <a:pathLst>
              <a:path extrusionOk="0" h="4319473" w="4099900">
                <a:moveTo>
                  <a:pt x="0" y="4319473"/>
                </a:moveTo>
                <a:lnTo>
                  <a:pt x="4099900" y="4319473"/>
                </a:lnTo>
                <a:lnTo>
                  <a:pt x="4099900" y="0"/>
                </a:lnTo>
                <a:lnTo>
                  <a:pt x="0" y="0"/>
                </a:lnTo>
                <a:lnTo>
                  <a:pt x="0" y="4319473"/>
                </a:lnTo>
                <a:close/>
              </a:path>
            </a:pathLst>
          </a:custGeom>
          <a:blipFill rotWithShape="1">
            <a:blip r:embed="rId4">
              <a:alphaModFix/>
            </a:blip>
            <a:stretch>
              <a:fillRect b="0" l="0" r="0" t="0"/>
            </a:stretch>
          </a:blipFill>
          <a:ln>
            <a:noFill/>
          </a:ln>
        </p:spPr>
      </p:sp>
      <p:sp>
        <p:nvSpPr>
          <p:cNvPr id="126" name="Google Shape;126;p4"/>
          <p:cNvSpPr txBox="1"/>
          <p:nvPr/>
        </p:nvSpPr>
        <p:spPr>
          <a:xfrm>
            <a:off x="-180641" y="8052275"/>
            <a:ext cx="13395900" cy="1385400"/>
          </a:xfrm>
          <a:prstGeom prst="rect">
            <a:avLst/>
          </a:prstGeom>
          <a:noFill/>
          <a:ln>
            <a:noFill/>
          </a:ln>
        </p:spPr>
        <p:txBody>
          <a:bodyPr anchorCtr="0" anchor="t" bIns="0" lIns="0" spcFirstLastPara="1" rIns="0" wrap="square" tIns="0">
            <a:spAutoFit/>
          </a:bodyPr>
          <a:lstStyle/>
          <a:p>
            <a:pPr indent="0" lvl="0" marL="0" marR="0" rtl="0" algn="ctr">
              <a:lnSpc>
                <a:spcPct val="139988"/>
              </a:lnSpc>
              <a:spcBef>
                <a:spcPts val="0"/>
              </a:spcBef>
              <a:spcAft>
                <a:spcPts val="0"/>
              </a:spcAft>
              <a:buNone/>
            </a:pPr>
            <a:r>
              <a:rPr b="1" i="0" lang="en-US" sz="9000" u="none" cap="none" strike="noStrike">
                <a:solidFill>
                  <a:srgbClr val="1E5A66"/>
                </a:solidFill>
                <a:latin typeface="Montserrat"/>
                <a:ea typeface="Montserrat"/>
                <a:cs typeface="Montserrat"/>
                <a:sym typeface="Montserrat"/>
              </a:rPr>
              <a:t>DE DESARROLLO</a:t>
            </a:r>
            <a:endParaRPr/>
          </a:p>
        </p:txBody>
      </p:sp>
      <p:sp>
        <p:nvSpPr>
          <p:cNvPr id="127" name="Google Shape;127;p4"/>
          <p:cNvSpPr txBox="1"/>
          <p:nvPr/>
        </p:nvSpPr>
        <p:spPr>
          <a:xfrm>
            <a:off x="1435106" y="4523581"/>
            <a:ext cx="13007100" cy="3324600"/>
          </a:xfrm>
          <a:prstGeom prst="rect">
            <a:avLst/>
          </a:prstGeom>
          <a:noFill/>
          <a:ln>
            <a:noFill/>
          </a:ln>
        </p:spPr>
        <p:txBody>
          <a:bodyPr anchorCtr="0" anchor="t" bIns="0" lIns="0" spcFirstLastPara="1" rIns="0" wrap="square" tIns="0">
            <a:spAutoFit/>
          </a:bodyPr>
          <a:lstStyle/>
          <a:p>
            <a:pPr indent="0" lvl="0" marL="0" marR="0" rtl="0" algn="l">
              <a:lnSpc>
                <a:spcPct val="139988"/>
              </a:lnSpc>
              <a:spcBef>
                <a:spcPts val="0"/>
              </a:spcBef>
              <a:spcAft>
                <a:spcPts val="0"/>
              </a:spcAft>
              <a:buNone/>
            </a:pPr>
            <a:r>
              <a:rPr b="0" i="0" lang="en-US" sz="9000" u="none" cap="none" strike="noStrike">
                <a:solidFill>
                  <a:srgbClr val="000000"/>
                </a:solidFill>
                <a:latin typeface="Montserrat"/>
                <a:ea typeface="Montserrat"/>
                <a:cs typeface="Montserrat"/>
                <a:sym typeface="Montserrat"/>
              </a:rPr>
              <a:t>INTRODUCCIÓN A LAS</a:t>
            </a:r>
            <a:r>
              <a:rPr lang="en-US" sz="9000">
                <a:latin typeface="Montserrat"/>
                <a:ea typeface="Montserrat"/>
                <a:cs typeface="Montserrat"/>
                <a:sym typeface="Montserrat"/>
              </a:rPr>
              <a:t> </a:t>
            </a:r>
            <a:r>
              <a:rPr b="0" i="0" lang="en-US" sz="9000" u="none" cap="none" strike="noStrike">
                <a:solidFill>
                  <a:srgbClr val="000000"/>
                </a:solidFill>
                <a:latin typeface="Montserrat"/>
                <a:ea typeface="Montserrat"/>
                <a:cs typeface="Montserrat"/>
                <a:sym typeface="Montserrat"/>
              </a:rPr>
              <a:t>METODOLOGÍAS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14753"/>
        </a:solidFill>
      </p:bgPr>
    </p:bg>
    <p:spTree>
      <p:nvGrpSpPr>
        <p:cNvPr id="131" name="Shape 131"/>
        <p:cNvGrpSpPr/>
        <p:nvPr/>
      </p:nvGrpSpPr>
      <p:grpSpPr>
        <a:xfrm>
          <a:off x="0" y="0"/>
          <a:ext cx="0" cy="0"/>
          <a:chOff x="0" y="0"/>
          <a:chExt cx="0" cy="0"/>
        </a:xfrm>
      </p:grpSpPr>
      <p:grpSp>
        <p:nvGrpSpPr>
          <p:cNvPr id="132" name="Google Shape;132;p5"/>
          <p:cNvGrpSpPr/>
          <p:nvPr/>
        </p:nvGrpSpPr>
        <p:grpSpPr>
          <a:xfrm>
            <a:off x="1859047" y="1555940"/>
            <a:ext cx="7284953" cy="1520053"/>
            <a:chOff x="0" y="-38100"/>
            <a:chExt cx="2320054" cy="484094"/>
          </a:xfrm>
        </p:grpSpPr>
        <p:sp>
          <p:nvSpPr>
            <p:cNvPr id="133" name="Google Shape;133;p5"/>
            <p:cNvSpPr/>
            <p:nvPr/>
          </p:nvSpPr>
          <p:spPr>
            <a:xfrm>
              <a:off x="0" y="0"/>
              <a:ext cx="2320054" cy="445994"/>
            </a:xfrm>
            <a:custGeom>
              <a:rect b="b" l="l" r="r" t="t"/>
              <a:pathLst>
                <a:path extrusionOk="0" h="445994" w="2320054">
                  <a:moveTo>
                    <a:pt x="49948" y="0"/>
                  </a:moveTo>
                  <a:lnTo>
                    <a:pt x="2270106" y="0"/>
                  </a:lnTo>
                  <a:cubicBezTo>
                    <a:pt x="2297692" y="0"/>
                    <a:pt x="2320054" y="22363"/>
                    <a:pt x="2320054" y="49948"/>
                  </a:cubicBezTo>
                  <a:lnTo>
                    <a:pt x="2320054" y="396046"/>
                  </a:lnTo>
                  <a:cubicBezTo>
                    <a:pt x="2320054" y="409293"/>
                    <a:pt x="2314792" y="421998"/>
                    <a:pt x="2305425" y="431365"/>
                  </a:cubicBezTo>
                  <a:cubicBezTo>
                    <a:pt x="2296058" y="440732"/>
                    <a:pt x="2283353" y="445994"/>
                    <a:pt x="2270106" y="445994"/>
                  </a:cubicBezTo>
                  <a:lnTo>
                    <a:pt x="49948" y="445994"/>
                  </a:lnTo>
                  <a:cubicBezTo>
                    <a:pt x="36701" y="445994"/>
                    <a:pt x="23997" y="440732"/>
                    <a:pt x="14629" y="431365"/>
                  </a:cubicBezTo>
                  <a:cubicBezTo>
                    <a:pt x="5262" y="421998"/>
                    <a:pt x="0" y="409293"/>
                    <a:pt x="0" y="396046"/>
                  </a:cubicBezTo>
                  <a:lnTo>
                    <a:pt x="0" y="49948"/>
                  </a:lnTo>
                  <a:cubicBezTo>
                    <a:pt x="0" y="36701"/>
                    <a:pt x="5262" y="23997"/>
                    <a:pt x="14629" y="14629"/>
                  </a:cubicBezTo>
                  <a:cubicBezTo>
                    <a:pt x="23997" y="5262"/>
                    <a:pt x="36701" y="0"/>
                    <a:pt x="49948" y="0"/>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5"/>
            <p:cNvSpPr txBox="1"/>
            <p:nvPr/>
          </p:nvSpPr>
          <p:spPr>
            <a:xfrm>
              <a:off x="0" y="-38100"/>
              <a:ext cx="2320054" cy="48409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35" name="Google Shape;135;p5"/>
          <p:cNvSpPr txBox="1"/>
          <p:nvPr/>
        </p:nvSpPr>
        <p:spPr>
          <a:xfrm>
            <a:off x="2121474" y="1777112"/>
            <a:ext cx="7022526" cy="1062801"/>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6157" u="none" cap="none" strike="noStrike">
                <a:solidFill>
                  <a:srgbClr val="000000"/>
                </a:solidFill>
                <a:latin typeface="Montserrat"/>
                <a:ea typeface="Montserrat"/>
                <a:cs typeface="Montserrat"/>
                <a:sym typeface="Montserrat"/>
              </a:rPr>
              <a:t>¿Qué son?</a:t>
            </a:r>
            <a:endParaRPr/>
          </a:p>
        </p:txBody>
      </p:sp>
      <p:sp>
        <p:nvSpPr>
          <p:cNvPr id="136" name="Google Shape;136;p5"/>
          <p:cNvSpPr/>
          <p:nvPr/>
        </p:nvSpPr>
        <p:spPr>
          <a:xfrm rot="-2700000">
            <a:off x="1146631" y="1663368"/>
            <a:ext cx="1424832" cy="1424832"/>
          </a:xfrm>
          <a:custGeom>
            <a:rect b="b" l="l" r="r" t="t"/>
            <a:pathLst>
              <a:path extrusionOk="0" h="1424832" w="1424832">
                <a:moveTo>
                  <a:pt x="0" y="0"/>
                </a:moveTo>
                <a:lnTo>
                  <a:pt x="1424832" y="0"/>
                </a:lnTo>
                <a:lnTo>
                  <a:pt x="1424832" y="1424832"/>
                </a:lnTo>
                <a:lnTo>
                  <a:pt x="0" y="1424832"/>
                </a:lnTo>
                <a:lnTo>
                  <a:pt x="0" y="0"/>
                </a:lnTo>
                <a:close/>
              </a:path>
            </a:pathLst>
          </a:custGeom>
          <a:blipFill rotWithShape="1">
            <a:blip r:embed="rId3">
              <a:alphaModFix/>
            </a:blip>
            <a:stretch>
              <a:fillRect b="0" l="0" r="0" t="0"/>
            </a:stretch>
          </a:blipFill>
          <a:ln>
            <a:noFill/>
          </a:ln>
        </p:spPr>
      </p:sp>
      <p:grpSp>
        <p:nvGrpSpPr>
          <p:cNvPr id="137" name="Google Shape;137;p5"/>
          <p:cNvGrpSpPr/>
          <p:nvPr/>
        </p:nvGrpSpPr>
        <p:grpSpPr>
          <a:xfrm>
            <a:off x="-219545" y="8913225"/>
            <a:ext cx="3086100" cy="1091172"/>
            <a:chOff x="0" y="-38100"/>
            <a:chExt cx="812800" cy="287387"/>
          </a:xfrm>
        </p:grpSpPr>
        <p:sp>
          <p:nvSpPr>
            <p:cNvPr id="138" name="Google Shape;138;p5"/>
            <p:cNvSpPr/>
            <p:nvPr/>
          </p:nvSpPr>
          <p:spPr>
            <a:xfrm>
              <a:off x="0" y="0"/>
              <a:ext cx="812800" cy="249287"/>
            </a:xfrm>
            <a:custGeom>
              <a:rect b="b" l="l" r="r" t="t"/>
              <a:pathLst>
                <a:path extrusionOk="0" h="249287" w="812800">
                  <a:moveTo>
                    <a:pt x="0" y="0"/>
                  </a:moveTo>
                  <a:lnTo>
                    <a:pt x="812800" y="0"/>
                  </a:lnTo>
                  <a:lnTo>
                    <a:pt x="812800" y="249287"/>
                  </a:lnTo>
                  <a:lnTo>
                    <a:pt x="0" y="249287"/>
                  </a:lnTo>
                  <a:close/>
                </a:path>
              </a:pathLst>
            </a:custGeom>
            <a:solidFill>
              <a:srgbClr val="3AB4B0"/>
            </a:solidFill>
            <a:ln>
              <a:noFill/>
            </a:ln>
          </p:spPr>
        </p:sp>
        <p:sp>
          <p:nvSpPr>
            <p:cNvPr id="139" name="Google Shape;139;p5"/>
            <p:cNvSpPr txBox="1"/>
            <p:nvPr/>
          </p:nvSpPr>
          <p:spPr>
            <a:xfrm>
              <a:off x="0" y="-38100"/>
              <a:ext cx="812800" cy="28738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40" name="Google Shape;140;p5"/>
          <p:cNvSpPr/>
          <p:nvPr/>
        </p:nvSpPr>
        <p:spPr>
          <a:xfrm rot="-3731408">
            <a:off x="12716180" y="3543496"/>
            <a:ext cx="5328470" cy="5288506"/>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4">
              <a:alphaModFix/>
            </a:blip>
            <a:stretch>
              <a:fillRect b="0" l="0" r="0" t="0"/>
            </a:stretch>
          </a:blipFill>
          <a:ln>
            <a:noFill/>
          </a:ln>
        </p:spPr>
      </p:sp>
      <p:sp>
        <p:nvSpPr>
          <p:cNvPr id="141" name="Google Shape;141;p5"/>
          <p:cNvSpPr txBox="1"/>
          <p:nvPr/>
        </p:nvSpPr>
        <p:spPr>
          <a:xfrm>
            <a:off x="1531478" y="3518118"/>
            <a:ext cx="9753962" cy="5005391"/>
          </a:xfrm>
          <a:prstGeom prst="rect">
            <a:avLst/>
          </a:prstGeom>
          <a:noFill/>
          <a:ln>
            <a:noFill/>
          </a:ln>
        </p:spPr>
        <p:txBody>
          <a:bodyPr anchorCtr="0" anchor="t" bIns="0" lIns="0" spcFirstLastPara="1" rIns="0" wrap="square" tIns="0">
            <a:spAutoFit/>
          </a:bodyPr>
          <a:lstStyle/>
          <a:p>
            <a:pPr indent="0" lvl="0" marL="0" marR="0" rtl="0" algn="just">
              <a:lnSpc>
                <a:spcPct val="140005"/>
              </a:lnSpc>
              <a:spcBef>
                <a:spcPts val="0"/>
              </a:spcBef>
              <a:spcAft>
                <a:spcPts val="0"/>
              </a:spcAft>
              <a:buNone/>
            </a:pPr>
            <a:r>
              <a:rPr b="1" i="0" lang="en-US" sz="3562" u="none" cap="none" strike="noStrike">
                <a:solidFill>
                  <a:srgbClr val="FFFFFF"/>
                </a:solidFill>
                <a:latin typeface="Montserrat"/>
                <a:ea typeface="Montserrat"/>
                <a:cs typeface="Montserrat"/>
                <a:sym typeface="Montserrat"/>
              </a:rPr>
              <a:t>Son  un conjunto de prácticas, técnicas y herramientas utilizadas por los equipos de desarrollo de software para planificar, diseñar, construir, probar y entregar software de alta calidad de manera eficiente y efectiva con el objetivo de trabajar en equipo de manera organizada.</a:t>
            </a:r>
            <a:endParaRPr/>
          </a:p>
        </p:txBody>
      </p:sp>
      <p:sp>
        <p:nvSpPr>
          <p:cNvPr id="142" name="Google Shape;142;p5"/>
          <p:cNvSpPr/>
          <p:nvPr/>
        </p:nvSpPr>
        <p:spPr>
          <a:xfrm>
            <a:off x="16390186" y="0"/>
            <a:ext cx="1897814" cy="1999452"/>
          </a:xfrm>
          <a:custGeom>
            <a:rect b="b" l="l" r="r" t="t"/>
            <a:pathLst>
              <a:path extrusionOk="0" h="1999452" w="1897814">
                <a:moveTo>
                  <a:pt x="0" y="0"/>
                </a:moveTo>
                <a:lnTo>
                  <a:pt x="1897814" y="0"/>
                </a:lnTo>
                <a:lnTo>
                  <a:pt x="1897814" y="1999452"/>
                </a:lnTo>
                <a:lnTo>
                  <a:pt x="0" y="1999452"/>
                </a:lnTo>
                <a:lnTo>
                  <a:pt x="0" y="0"/>
                </a:lnTo>
                <a:close/>
              </a:path>
            </a:pathLst>
          </a:custGeom>
          <a:blipFill rotWithShape="1">
            <a:blip r:embed="rId5">
              <a:alphaModFix/>
            </a:blip>
            <a:stretch>
              <a:fillRect b="0" l="0" r="0" t="0"/>
            </a:stretch>
          </a:blipFill>
          <a:ln>
            <a:noFill/>
          </a:ln>
        </p:spPr>
      </p:sp>
      <p:sp>
        <p:nvSpPr>
          <p:cNvPr id="143" name="Google Shape;143;p5"/>
          <p:cNvSpPr/>
          <p:nvPr/>
        </p:nvSpPr>
        <p:spPr>
          <a:xfrm rot="-2700000">
            <a:off x="1292530" y="1809266"/>
            <a:ext cx="1133035" cy="1133035"/>
          </a:xfrm>
          <a:custGeom>
            <a:rect b="b" l="l" r="r" t="t"/>
            <a:pathLst>
              <a:path extrusionOk="0" h="1133035" w="1133035">
                <a:moveTo>
                  <a:pt x="0" y="0"/>
                </a:moveTo>
                <a:lnTo>
                  <a:pt x="1133034" y="0"/>
                </a:lnTo>
                <a:lnTo>
                  <a:pt x="1133034" y="1133035"/>
                </a:lnTo>
                <a:lnTo>
                  <a:pt x="0" y="1133035"/>
                </a:lnTo>
                <a:lnTo>
                  <a:pt x="0" y="0"/>
                </a:lnTo>
                <a:close/>
              </a:path>
            </a:pathLst>
          </a:custGeom>
          <a:blipFill rotWithShape="1">
            <a:blip r:embed="rId6">
              <a:alphaModFix/>
            </a:blip>
            <a:stretch>
              <a:fillRect b="0" l="0" r="0" t="0"/>
            </a:stretch>
          </a:blipFill>
          <a:ln>
            <a:noFill/>
          </a:ln>
        </p:spPr>
      </p:sp>
      <p:sp>
        <p:nvSpPr>
          <p:cNvPr id="144" name="Google Shape;144;p5"/>
          <p:cNvSpPr/>
          <p:nvPr/>
        </p:nvSpPr>
        <p:spPr>
          <a:xfrm>
            <a:off x="11930330" y="4408709"/>
            <a:ext cx="6367195" cy="4114800"/>
          </a:xfrm>
          <a:custGeom>
            <a:rect b="b" l="l" r="r" t="t"/>
            <a:pathLst>
              <a:path extrusionOk="0" h="4114800" w="6367195">
                <a:moveTo>
                  <a:pt x="0" y="0"/>
                </a:moveTo>
                <a:lnTo>
                  <a:pt x="6367195" y="0"/>
                </a:lnTo>
                <a:lnTo>
                  <a:pt x="6367195"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014753"/>
        </a:solidFill>
      </p:bgPr>
    </p:bg>
    <p:spTree>
      <p:nvGrpSpPr>
        <p:cNvPr id="148" name="Shape 148"/>
        <p:cNvGrpSpPr/>
        <p:nvPr/>
      </p:nvGrpSpPr>
      <p:grpSpPr>
        <a:xfrm>
          <a:off x="0" y="0"/>
          <a:ext cx="0" cy="0"/>
          <a:chOff x="0" y="0"/>
          <a:chExt cx="0" cy="0"/>
        </a:xfrm>
      </p:grpSpPr>
      <p:grpSp>
        <p:nvGrpSpPr>
          <p:cNvPr id="149" name="Google Shape;149;p6"/>
          <p:cNvGrpSpPr/>
          <p:nvPr/>
        </p:nvGrpSpPr>
        <p:grpSpPr>
          <a:xfrm>
            <a:off x="8332069" y="903073"/>
            <a:ext cx="7284953" cy="1520053"/>
            <a:chOff x="0" y="-38100"/>
            <a:chExt cx="2320054" cy="484094"/>
          </a:xfrm>
        </p:grpSpPr>
        <p:sp>
          <p:nvSpPr>
            <p:cNvPr id="150" name="Google Shape;150;p6"/>
            <p:cNvSpPr/>
            <p:nvPr/>
          </p:nvSpPr>
          <p:spPr>
            <a:xfrm>
              <a:off x="0" y="0"/>
              <a:ext cx="2320054" cy="445994"/>
            </a:xfrm>
            <a:custGeom>
              <a:rect b="b" l="l" r="r" t="t"/>
              <a:pathLst>
                <a:path extrusionOk="0" h="445994" w="2320054">
                  <a:moveTo>
                    <a:pt x="49948" y="0"/>
                  </a:moveTo>
                  <a:lnTo>
                    <a:pt x="2270106" y="0"/>
                  </a:lnTo>
                  <a:cubicBezTo>
                    <a:pt x="2297692" y="0"/>
                    <a:pt x="2320054" y="22363"/>
                    <a:pt x="2320054" y="49948"/>
                  </a:cubicBezTo>
                  <a:lnTo>
                    <a:pt x="2320054" y="396046"/>
                  </a:lnTo>
                  <a:cubicBezTo>
                    <a:pt x="2320054" y="409293"/>
                    <a:pt x="2314792" y="421998"/>
                    <a:pt x="2305425" y="431365"/>
                  </a:cubicBezTo>
                  <a:cubicBezTo>
                    <a:pt x="2296058" y="440732"/>
                    <a:pt x="2283353" y="445994"/>
                    <a:pt x="2270106" y="445994"/>
                  </a:cubicBezTo>
                  <a:lnTo>
                    <a:pt x="49948" y="445994"/>
                  </a:lnTo>
                  <a:cubicBezTo>
                    <a:pt x="36701" y="445994"/>
                    <a:pt x="23997" y="440732"/>
                    <a:pt x="14629" y="431365"/>
                  </a:cubicBezTo>
                  <a:cubicBezTo>
                    <a:pt x="5262" y="421998"/>
                    <a:pt x="0" y="409293"/>
                    <a:pt x="0" y="396046"/>
                  </a:cubicBezTo>
                  <a:lnTo>
                    <a:pt x="0" y="49948"/>
                  </a:lnTo>
                  <a:cubicBezTo>
                    <a:pt x="0" y="36701"/>
                    <a:pt x="5262" y="23997"/>
                    <a:pt x="14629" y="14629"/>
                  </a:cubicBezTo>
                  <a:cubicBezTo>
                    <a:pt x="23997" y="5262"/>
                    <a:pt x="36701" y="0"/>
                    <a:pt x="49948" y="0"/>
                  </a:cubicBezTo>
                  <a:close/>
                </a:path>
              </a:pathLst>
            </a:custGeom>
            <a:solidFill>
              <a:srgbClr val="F2F2F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txBox="1"/>
            <p:nvPr/>
          </p:nvSpPr>
          <p:spPr>
            <a:xfrm>
              <a:off x="0" y="-38100"/>
              <a:ext cx="2320054" cy="484094"/>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2" name="Google Shape;152;p6"/>
          <p:cNvSpPr txBox="1"/>
          <p:nvPr/>
        </p:nvSpPr>
        <p:spPr>
          <a:xfrm>
            <a:off x="8594496" y="1124245"/>
            <a:ext cx="7022526" cy="1062801"/>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6157" u="none" cap="none" strike="noStrike">
                <a:solidFill>
                  <a:srgbClr val="000000"/>
                </a:solidFill>
                <a:latin typeface="Montserrat"/>
                <a:ea typeface="Montserrat"/>
                <a:cs typeface="Montserrat"/>
                <a:sym typeface="Montserrat"/>
              </a:rPr>
              <a:t>Objetivo</a:t>
            </a:r>
            <a:endParaRPr/>
          </a:p>
        </p:txBody>
      </p:sp>
      <p:sp>
        <p:nvSpPr>
          <p:cNvPr id="153" name="Google Shape;153;p6"/>
          <p:cNvSpPr/>
          <p:nvPr/>
        </p:nvSpPr>
        <p:spPr>
          <a:xfrm rot="-2700000">
            <a:off x="14904606" y="1010501"/>
            <a:ext cx="1424832" cy="1424832"/>
          </a:xfrm>
          <a:custGeom>
            <a:rect b="b" l="l" r="r" t="t"/>
            <a:pathLst>
              <a:path extrusionOk="0" h="1424832" w="1424832">
                <a:moveTo>
                  <a:pt x="0" y="0"/>
                </a:moveTo>
                <a:lnTo>
                  <a:pt x="1424832" y="0"/>
                </a:lnTo>
                <a:lnTo>
                  <a:pt x="1424832" y="1424832"/>
                </a:lnTo>
                <a:lnTo>
                  <a:pt x="0" y="1424832"/>
                </a:lnTo>
                <a:lnTo>
                  <a:pt x="0" y="0"/>
                </a:lnTo>
                <a:close/>
              </a:path>
            </a:pathLst>
          </a:custGeom>
          <a:blipFill rotWithShape="1">
            <a:blip r:embed="rId3">
              <a:alphaModFix/>
            </a:blip>
            <a:stretch>
              <a:fillRect b="0" l="0" r="0" t="0"/>
            </a:stretch>
          </a:blipFill>
          <a:ln>
            <a:noFill/>
          </a:ln>
        </p:spPr>
      </p:sp>
      <p:grpSp>
        <p:nvGrpSpPr>
          <p:cNvPr id="154" name="Google Shape;154;p6"/>
          <p:cNvGrpSpPr/>
          <p:nvPr/>
        </p:nvGrpSpPr>
        <p:grpSpPr>
          <a:xfrm>
            <a:off x="-219545" y="8913225"/>
            <a:ext cx="3086100" cy="1091172"/>
            <a:chOff x="0" y="-38100"/>
            <a:chExt cx="812800" cy="287387"/>
          </a:xfrm>
        </p:grpSpPr>
        <p:sp>
          <p:nvSpPr>
            <p:cNvPr id="155" name="Google Shape;155;p6"/>
            <p:cNvSpPr/>
            <p:nvPr/>
          </p:nvSpPr>
          <p:spPr>
            <a:xfrm>
              <a:off x="0" y="0"/>
              <a:ext cx="812800" cy="249287"/>
            </a:xfrm>
            <a:custGeom>
              <a:rect b="b" l="l" r="r" t="t"/>
              <a:pathLst>
                <a:path extrusionOk="0" h="249287" w="812800">
                  <a:moveTo>
                    <a:pt x="0" y="0"/>
                  </a:moveTo>
                  <a:lnTo>
                    <a:pt x="812800" y="0"/>
                  </a:lnTo>
                  <a:lnTo>
                    <a:pt x="812800" y="249287"/>
                  </a:lnTo>
                  <a:lnTo>
                    <a:pt x="0" y="249287"/>
                  </a:lnTo>
                  <a:close/>
                </a:path>
              </a:pathLst>
            </a:custGeom>
            <a:solidFill>
              <a:srgbClr val="3AB4B0"/>
            </a:solidFill>
            <a:ln>
              <a:noFill/>
            </a:ln>
          </p:spPr>
        </p:sp>
        <p:sp>
          <p:nvSpPr>
            <p:cNvPr id="156" name="Google Shape;156;p6"/>
            <p:cNvSpPr txBox="1"/>
            <p:nvPr/>
          </p:nvSpPr>
          <p:spPr>
            <a:xfrm>
              <a:off x="0" y="-38100"/>
              <a:ext cx="812800" cy="287387"/>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7" name="Google Shape;157;p6"/>
          <p:cNvSpPr/>
          <p:nvPr/>
        </p:nvSpPr>
        <p:spPr>
          <a:xfrm rot="-3731408">
            <a:off x="346994" y="3296724"/>
            <a:ext cx="5328470" cy="5288506"/>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4">
              <a:alphaModFix/>
            </a:blip>
            <a:stretch>
              <a:fillRect b="0" l="0" r="0" t="0"/>
            </a:stretch>
          </a:blipFill>
          <a:ln>
            <a:noFill/>
          </a:ln>
        </p:spPr>
      </p:sp>
      <p:sp>
        <p:nvSpPr>
          <p:cNvPr id="158" name="Google Shape;158;p6"/>
          <p:cNvSpPr txBox="1"/>
          <p:nvPr/>
        </p:nvSpPr>
        <p:spPr>
          <a:xfrm>
            <a:off x="6177120" y="3770420"/>
            <a:ext cx="9753962" cy="4376741"/>
          </a:xfrm>
          <a:prstGeom prst="rect">
            <a:avLst/>
          </a:prstGeom>
          <a:noFill/>
          <a:ln>
            <a:noFill/>
          </a:ln>
        </p:spPr>
        <p:txBody>
          <a:bodyPr anchorCtr="0" anchor="t" bIns="0" lIns="0" spcFirstLastPara="1" rIns="0" wrap="square" tIns="0">
            <a:spAutoFit/>
          </a:bodyPr>
          <a:lstStyle/>
          <a:p>
            <a:pPr indent="0" lvl="0" marL="0" marR="0" rtl="0" algn="just">
              <a:lnSpc>
                <a:spcPct val="140005"/>
              </a:lnSpc>
              <a:spcBef>
                <a:spcPts val="0"/>
              </a:spcBef>
              <a:spcAft>
                <a:spcPts val="0"/>
              </a:spcAft>
              <a:buNone/>
            </a:pPr>
            <a:r>
              <a:rPr b="1" i="0" lang="en-US" sz="3562" u="none" cap="none" strike="noStrike">
                <a:solidFill>
                  <a:srgbClr val="FFFFFF"/>
                </a:solidFill>
                <a:latin typeface="Montserrat"/>
                <a:ea typeface="Montserrat"/>
                <a:cs typeface="Montserrat"/>
                <a:sym typeface="Montserrat"/>
              </a:rPr>
              <a:t>Su objetivo principal es asegurar la eficiencia, consistencia y calidad del producto final, facilitando una gestión adecuada del tiempo, los recursos y los riesgos a lo largo de cada etapa del proyecto.</a:t>
            </a:r>
            <a:endParaRPr/>
          </a:p>
          <a:p>
            <a:pPr indent="0" lvl="0" marL="0" marR="0" rtl="0" algn="just">
              <a:lnSpc>
                <a:spcPct val="140005"/>
              </a:lnSpc>
              <a:spcBef>
                <a:spcPts val="0"/>
              </a:spcBef>
              <a:spcAft>
                <a:spcPts val="0"/>
              </a:spcAft>
              <a:buNone/>
            </a:pPr>
            <a:r>
              <a:t/>
            </a:r>
            <a:endParaRPr b="1" i="0" sz="3562" u="none" cap="none" strike="noStrike">
              <a:solidFill>
                <a:srgbClr val="FFFFFF"/>
              </a:solidFill>
              <a:latin typeface="Montserrat"/>
              <a:ea typeface="Montserrat"/>
              <a:cs typeface="Montserrat"/>
              <a:sym typeface="Montserrat"/>
            </a:endParaRPr>
          </a:p>
        </p:txBody>
      </p:sp>
      <p:sp>
        <p:nvSpPr>
          <p:cNvPr id="159" name="Google Shape;159;p6"/>
          <p:cNvSpPr/>
          <p:nvPr/>
        </p:nvSpPr>
        <p:spPr>
          <a:xfrm>
            <a:off x="16390186" y="0"/>
            <a:ext cx="1897814" cy="1999452"/>
          </a:xfrm>
          <a:custGeom>
            <a:rect b="b" l="l" r="r" t="t"/>
            <a:pathLst>
              <a:path extrusionOk="0" h="1999452" w="1897814">
                <a:moveTo>
                  <a:pt x="0" y="0"/>
                </a:moveTo>
                <a:lnTo>
                  <a:pt x="1897814" y="0"/>
                </a:lnTo>
                <a:lnTo>
                  <a:pt x="1897814" y="1999452"/>
                </a:lnTo>
                <a:lnTo>
                  <a:pt x="0" y="1999452"/>
                </a:lnTo>
                <a:lnTo>
                  <a:pt x="0" y="0"/>
                </a:lnTo>
                <a:close/>
              </a:path>
            </a:pathLst>
          </a:custGeom>
          <a:blipFill rotWithShape="1">
            <a:blip r:embed="rId5">
              <a:alphaModFix/>
            </a:blip>
            <a:stretch>
              <a:fillRect b="0" l="0" r="0" t="0"/>
            </a:stretch>
          </a:blipFill>
          <a:ln>
            <a:noFill/>
          </a:ln>
        </p:spPr>
      </p:sp>
      <p:sp>
        <p:nvSpPr>
          <p:cNvPr id="160" name="Google Shape;160;p6"/>
          <p:cNvSpPr/>
          <p:nvPr/>
        </p:nvSpPr>
        <p:spPr>
          <a:xfrm rot="-2700000">
            <a:off x="15050505" y="1155803"/>
            <a:ext cx="1133035" cy="1133035"/>
          </a:xfrm>
          <a:custGeom>
            <a:rect b="b" l="l" r="r" t="t"/>
            <a:pathLst>
              <a:path extrusionOk="0" h="1133035" w="1133035">
                <a:moveTo>
                  <a:pt x="0" y="0"/>
                </a:moveTo>
                <a:lnTo>
                  <a:pt x="1133035" y="0"/>
                </a:lnTo>
                <a:lnTo>
                  <a:pt x="1133035" y="1133035"/>
                </a:lnTo>
                <a:lnTo>
                  <a:pt x="0" y="1133035"/>
                </a:lnTo>
                <a:lnTo>
                  <a:pt x="0" y="0"/>
                </a:lnTo>
                <a:close/>
              </a:path>
            </a:pathLst>
          </a:custGeom>
          <a:blipFill rotWithShape="1">
            <a:blip r:embed="rId6">
              <a:alphaModFix/>
            </a:blip>
            <a:stretch>
              <a:fillRect b="0" l="0" r="0" t="0"/>
            </a:stretch>
          </a:blipFill>
          <a:ln>
            <a:noFill/>
          </a:ln>
        </p:spPr>
      </p:sp>
      <p:sp>
        <p:nvSpPr>
          <p:cNvPr id="161" name="Google Shape;161;p6"/>
          <p:cNvSpPr/>
          <p:nvPr/>
        </p:nvSpPr>
        <p:spPr>
          <a:xfrm>
            <a:off x="912025" y="3209615"/>
            <a:ext cx="3909060" cy="4114800"/>
          </a:xfrm>
          <a:custGeom>
            <a:rect b="b" l="l" r="r" t="t"/>
            <a:pathLst>
              <a:path extrusionOk="0" h="4114800" w="3909060">
                <a:moveTo>
                  <a:pt x="0" y="0"/>
                </a:moveTo>
                <a:lnTo>
                  <a:pt x="3909060" y="0"/>
                </a:lnTo>
                <a:lnTo>
                  <a:pt x="3909060" y="4114800"/>
                </a:lnTo>
                <a:lnTo>
                  <a:pt x="0" y="4114800"/>
                </a:lnTo>
                <a:lnTo>
                  <a:pt x="0" y="0"/>
                </a:lnTo>
                <a:close/>
              </a:path>
            </a:pathLst>
          </a:custGeom>
          <a:blipFill rotWithShape="1">
            <a:blip r:embed="rId7">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2F2F2"/>
        </a:solidFill>
      </p:bgPr>
    </p:bg>
    <p:spTree>
      <p:nvGrpSpPr>
        <p:cNvPr id="165" name="Shape 165"/>
        <p:cNvGrpSpPr/>
        <p:nvPr/>
      </p:nvGrpSpPr>
      <p:grpSpPr>
        <a:xfrm>
          <a:off x="0" y="0"/>
          <a:ext cx="0" cy="0"/>
          <a:chOff x="0" y="0"/>
          <a:chExt cx="0" cy="0"/>
        </a:xfrm>
      </p:grpSpPr>
      <p:sp>
        <p:nvSpPr>
          <p:cNvPr id="166" name="Google Shape;166;p7"/>
          <p:cNvSpPr/>
          <p:nvPr/>
        </p:nvSpPr>
        <p:spPr>
          <a:xfrm rot="-1969163">
            <a:off x="17166815" y="-1166935"/>
            <a:ext cx="5328470" cy="5288506"/>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sp>
        <p:nvSpPr>
          <p:cNvPr id="167" name="Google Shape;167;p7"/>
          <p:cNvSpPr txBox="1"/>
          <p:nvPr/>
        </p:nvSpPr>
        <p:spPr>
          <a:xfrm>
            <a:off x="4871749" y="447132"/>
            <a:ext cx="12432135" cy="2148651"/>
          </a:xfrm>
          <a:prstGeom prst="rect">
            <a:avLst/>
          </a:prstGeom>
          <a:noFill/>
          <a:ln>
            <a:noFill/>
          </a:ln>
        </p:spPr>
        <p:txBody>
          <a:bodyPr anchorCtr="0" anchor="t" bIns="0" lIns="0" spcFirstLastPara="1" rIns="0" wrap="square" tIns="0">
            <a:spAutoFit/>
          </a:bodyPr>
          <a:lstStyle/>
          <a:p>
            <a:pPr indent="0" lvl="0" marL="0" marR="0" rtl="0" algn="r">
              <a:lnSpc>
                <a:spcPct val="140003"/>
              </a:lnSpc>
              <a:spcBef>
                <a:spcPts val="0"/>
              </a:spcBef>
              <a:spcAft>
                <a:spcPts val="0"/>
              </a:spcAft>
              <a:buNone/>
            </a:pPr>
            <a:r>
              <a:rPr b="0" i="0" lang="en-US" sz="6157" u="none" cap="none" strike="noStrike">
                <a:solidFill>
                  <a:srgbClr val="014753"/>
                </a:solidFill>
                <a:latin typeface="Montserrat"/>
                <a:ea typeface="Montserrat"/>
                <a:cs typeface="Montserrat"/>
                <a:sym typeface="Montserrat"/>
              </a:rPr>
              <a:t>Por qué usar una metodología de desarollo?</a:t>
            </a:r>
            <a:endParaRPr/>
          </a:p>
        </p:txBody>
      </p:sp>
      <p:sp>
        <p:nvSpPr>
          <p:cNvPr id="168" name="Google Shape;168;p7"/>
          <p:cNvSpPr txBox="1"/>
          <p:nvPr/>
        </p:nvSpPr>
        <p:spPr>
          <a:xfrm>
            <a:off x="1234131" y="3148040"/>
            <a:ext cx="12214592" cy="5980430"/>
          </a:xfrm>
          <a:prstGeom prst="rect">
            <a:avLst/>
          </a:prstGeom>
          <a:noFill/>
          <a:ln>
            <a:noFill/>
          </a:ln>
        </p:spPr>
        <p:txBody>
          <a:bodyPr anchorCtr="0" anchor="t" bIns="0" lIns="0" spcFirstLastPara="1" rIns="0" wrap="square" tIns="0">
            <a:spAutoFit/>
          </a:bodyPr>
          <a:lstStyle/>
          <a:p>
            <a:pPr indent="-410210" lvl="1" marL="820421" marR="0" rtl="0" algn="l">
              <a:lnSpc>
                <a:spcPct val="140000"/>
              </a:lnSpc>
              <a:spcBef>
                <a:spcPts val="0"/>
              </a:spcBef>
              <a:spcAft>
                <a:spcPts val="0"/>
              </a:spcAft>
              <a:buClr>
                <a:srgbClr val="000000"/>
              </a:buClr>
              <a:buSzPts val="3800"/>
              <a:buFont typeface="Arial"/>
              <a:buChar char="•"/>
            </a:pPr>
            <a:r>
              <a:rPr b="1" i="0" lang="en-US" sz="3800" u="none" cap="none" strike="noStrike">
                <a:solidFill>
                  <a:srgbClr val="000000"/>
                </a:solidFill>
                <a:latin typeface="Montserrat"/>
                <a:ea typeface="Montserrat"/>
                <a:cs typeface="Montserrat"/>
                <a:sym typeface="Montserrat"/>
              </a:rPr>
              <a:t>Para una mejor organización y estructura</a:t>
            </a:r>
            <a:endParaRPr/>
          </a:p>
          <a:p>
            <a:pPr indent="0" lvl="0" marL="0" marR="0" rtl="0" algn="l">
              <a:lnSpc>
                <a:spcPct val="140000"/>
              </a:lnSpc>
              <a:spcBef>
                <a:spcPts val="0"/>
              </a:spcBef>
              <a:spcAft>
                <a:spcPts val="0"/>
              </a:spcAft>
              <a:buNone/>
            </a:pPr>
            <a:r>
              <a:t/>
            </a:r>
            <a:endParaRPr b="1" i="0" sz="3800" u="none" cap="none" strike="noStrike">
              <a:solidFill>
                <a:srgbClr val="000000"/>
              </a:solidFill>
              <a:latin typeface="Montserrat"/>
              <a:ea typeface="Montserrat"/>
              <a:cs typeface="Montserrat"/>
              <a:sym typeface="Montserrat"/>
            </a:endParaRPr>
          </a:p>
          <a:p>
            <a:pPr indent="-410210" lvl="1" marL="820421" marR="0" rtl="0" algn="l">
              <a:lnSpc>
                <a:spcPct val="140000"/>
              </a:lnSpc>
              <a:spcBef>
                <a:spcPts val="0"/>
              </a:spcBef>
              <a:spcAft>
                <a:spcPts val="0"/>
              </a:spcAft>
              <a:buClr>
                <a:srgbClr val="000000"/>
              </a:buClr>
              <a:buSzPts val="3800"/>
              <a:buFont typeface="Arial"/>
              <a:buChar char="•"/>
            </a:pPr>
            <a:r>
              <a:rPr b="1" i="0" lang="en-US" sz="3800" u="none" cap="none" strike="noStrike">
                <a:solidFill>
                  <a:srgbClr val="000000"/>
                </a:solidFill>
                <a:latin typeface="Montserrat"/>
                <a:ea typeface="Montserrat"/>
                <a:cs typeface="Montserrat"/>
                <a:sym typeface="Montserrat"/>
              </a:rPr>
              <a:t>Mejorar la calidad del producto</a:t>
            </a:r>
            <a:endParaRPr/>
          </a:p>
          <a:p>
            <a:pPr indent="0" lvl="0" marL="0" marR="0" rtl="0" algn="l">
              <a:lnSpc>
                <a:spcPct val="140000"/>
              </a:lnSpc>
              <a:spcBef>
                <a:spcPts val="0"/>
              </a:spcBef>
              <a:spcAft>
                <a:spcPts val="0"/>
              </a:spcAft>
              <a:buNone/>
            </a:pPr>
            <a:r>
              <a:t/>
            </a:r>
            <a:endParaRPr b="1" i="0" sz="3800" u="none" cap="none" strike="noStrike">
              <a:solidFill>
                <a:srgbClr val="000000"/>
              </a:solidFill>
              <a:latin typeface="Montserrat"/>
              <a:ea typeface="Montserrat"/>
              <a:cs typeface="Montserrat"/>
              <a:sym typeface="Montserrat"/>
            </a:endParaRPr>
          </a:p>
          <a:p>
            <a:pPr indent="-410210" lvl="1" marL="820421" marR="0" rtl="0" algn="l">
              <a:lnSpc>
                <a:spcPct val="140000"/>
              </a:lnSpc>
              <a:spcBef>
                <a:spcPts val="0"/>
              </a:spcBef>
              <a:spcAft>
                <a:spcPts val="0"/>
              </a:spcAft>
              <a:buClr>
                <a:srgbClr val="000000"/>
              </a:buClr>
              <a:buSzPts val="3800"/>
              <a:buFont typeface="Arial"/>
              <a:buChar char="•"/>
            </a:pPr>
            <a:r>
              <a:rPr b="1" i="0" lang="en-US" sz="3800" u="none" cap="none" strike="noStrike">
                <a:solidFill>
                  <a:srgbClr val="000000"/>
                </a:solidFill>
                <a:latin typeface="Montserrat"/>
                <a:ea typeface="Montserrat"/>
                <a:cs typeface="Montserrat"/>
                <a:sym typeface="Montserrat"/>
              </a:rPr>
              <a:t>Gestión de riesgos</a:t>
            </a:r>
            <a:endParaRPr/>
          </a:p>
          <a:p>
            <a:pPr indent="0" lvl="0" marL="0" marR="0" rtl="0" algn="l">
              <a:lnSpc>
                <a:spcPct val="140000"/>
              </a:lnSpc>
              <a:spcBef>
                <a:spcPts val="0"/>
              </a:spcBef>
              <a:spcAft>
                <a:spcPts val="0"/>
              </a:spcAft>
              <a:buNone/>
            </a:pPr>
            <a:r>
              <a:t/>
            </a:r>
            <a:endParaRPr b="1" i="0" sz="3800" u="none" cap="none" strike="noStrike">
              <a:solidFill>
                <a:srgbClr val="000000"/>
              </a:solidFill>
              <a:latin typeface="Montserrat"/>
              <a:ea typeface="Montserrat"/>
              <a:cs typeface="Montserrat"/>
              <a:sym typeface="Montserrat"/>
            </a:endParaRPr>
          </a:p>
          <a:p>
            <a:pPr indent="-410210" lvl="1" marL="820421" marR="0" rtl="0" algn="l">
              <a:lnSpc>
                <a:spcPct val="140000"/>
              </a:lnSpc>
              <a:spcBef>
                <a:spcPts val="0"/>
              </a:spcBef>
              <a:spcAft>
                <a:spcPts val="0"/>
              </a:spcAft>
              <a:buClr>
                <a:srgbClr val="000000"/>
              </a:buClr>
              <a:buSzPts val="3800"/>
              <a:buFont typeface="Arial"/>
              <a:buChar char="•"/>
            </a:pPr>
            <a:r>
              <a:rPr b="1" i="0" lang="en-US" sz="3800" u="none" cap="none" strike="noStrike">
                <a:solidFill>
                  <a:srgbClr val="000000"/>
                </a:solidFill>
                <a:latin typeface="Montserrat"/>
                <a:ea typeface="Montserrat"/>
                <a:cs typeface="Montserrat"/>
                <a:sym typeface="Montserrat"/>
              </a:rPr>
              <a:t>Mejora la comunicación y colaboración</a:t>
            </a:r>
            <a:endParaRPr/>
          </a:p>
          <a:p>
            <a:pPr indent="0" lvl="0" marL="0" marR="0" rtl="0" algn="l">
              <a:lnSpc>
                <a:spcPct val="140000"/>
              </a:lnSpc>
              <a:spcBef>
                <a:spcPts val="0"/>
              </a:spcBef>
              <a:spcAft>
                <a:spcPts val="0"/>
              </a:spcAft>
              <a:buNone/>
            </a:pPr>
            <a:r>
              <a:t/>
            </a:r>
            <a:endParaRPr b="1" i="0" sz="3800" u="none" cap="none" strike="noStrike">
              <a:solidFill>
                <a:srgbClr val="000000"/>
              </a:solidFill>
              <a:latin typeface="Montserrat"/>
              <a:ea typeface="Montserrat"/>
              <a:cs typeface="Montserrat"/>
              <a:sym typeface="Montserrat"/>
            </a:endParaRPr>
          </a:p>
          <a:p>
            <a:pPr indent="-410210" lvl="1" marL="820421" marR="0" rtl="0" algn="l">
              <a:lnSpc>
                <a:spcPct val="140000"/>
              </a:lnSpc>
              <a:spcBef>
                <a:spcPts val="0"/>
              </a:spcBef>
              <a:spcAft>
                <a:spcPts val="0"/>
              </a:spcAft>
              <a:buClr>
                <a:srgbClr val="000000"/>
              </a:buClr>
              <a:buSzPts val="3800"/>
              <a:buFont typeface="Arial"/>
              <a:buChar char="•"/>
            </a:pPr>
            <a:r>
              <a:rPr b="1" i="0" lang="en-US" sz="3800" u="none" cap="none" strike="noStrike">
                <a:solidFill>
                  <a:srgbClr val="000000"/>
                </a:solidFill>
                <a:latin typeface="Montserrat"/>
                <a:ea typeface="Montserrat"/>
                <a:cs typeface="Montserrat"/>
                <a:sym typeface="Montserrat"/>
              </a:rPr>
              <a:t>Mejora la satisfacción del cliente</a:t>
            </a:r>
            <a:endParaRPr/>
          </a:p>
        </p:txBody>
      </p:sp>
      <p:sp>
        <p:nvSpPr>
          <p:cNvPr id="169" name="Google Shape;169;p7"/>
          <p:cNvSpPr/>
          <p:nvPr/>
        </p:nvSpPr>
        <p:spPr>
          <a:xfrm flipH="1">
            <a:off x="0" y="0"/>
            <a:ext cx="1897814" cy="1999452"/>
          </a:xfrm>
          <a:custGeom>
            <a:rect b="b" l="l" r="r" t="t"/>
            <a:pathLst>
              <a:path extrusionOk="0" h="1999452" w="1897814">
                <a:moveTo>
                  <a:pt x="1897814" y="0"/>
                </a:moveTo>
                <a:lnTo>
                  <a:pt x="0" y="0"/>
                </a:lnTo>
                <a:lnTo>
                  <a:pt x="0" y="1999452"/>
                </a:lnTo>
                <a:lnTo>
                  <a:pt x="1897814" y="1999452"/>
                </a:lnTo>
                <a:lnTo>
                  <a:pt x="1897814" y="0"/>
                </a:lnTo>
                <a:close/>
              </a:path>
            </a:pathLst>
          </a:custGeom>
          <a:blipFill rotWithShape="1">
            <a:blip r:embed="rId4">
              <a:alphaModFix/>
            </a:blip>
            <a:stretch>
              <a:fillRect b="0" l="0" r="0" t="0"/>
            </a:stretch>
          </a:blipFill>
          <a:ln>
            <a:noFill/>
          </a:ln>
        </p:spPr>
      </p:sp>
      <p:grpSp>
        <p:nvGrpSpPr>
          <p:cNvPr id="170" name="Google Shape;170;p7"/>
          <p:cNvGrpSpPr/>
          <p:nvPr/>
        </p:nvGrpSpPr>
        <p:grpSpPr>
          <a:xfrm>
            <a:off x="16055623" y="8354196"/>
            <a:ext cx="1582825" cy="1582825"/>
            <a:chOff x="0" y="0"/>
            <a:chExt cx="812800" cy="812800"/>
          </a:xfrm>
        </p:grpSpPr>
        <p:sp>
          <p:nvSpPr>
            <p:cNvPr id="171" name="Google Shape;171;p7"/>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7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7"/>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2F2F2"/>
        </a:solidFill>
      </p:bgPr>
    </p:bg>
    <p:spTree>
      <p:nvGrpSpPr>
        <p:cNvPr id="176" name="Shape 176"/>
        <p:cNvGrpSpPr/>
        <p:nvPr/>
      </p:nvGrpSpPr>
      <p:grpSpPr>
        <a:xfrm>
          <a:off x="0" y="0"/>
          <a:ext cx="0" cy="0"/>
          <a:chOff x="0" y="0"/>
          <a:chExt cx="0" cy="0"/>
        </a:xfrm>
      </p:grpSpPr>
      <p:sp>
        <p:nvSpPr>
          <p:cNvPr descr="3/4 circle loading symbol" id="177" name="Google Shape;177;p8"/>
          <p:cNvSpPr/>
          <p:nvPr/>
        </p:nvSpPr>
        <p:spPr>
          <a:xfrm rot="-1969163">
            <a:off x="17166815" y="-1166935"/>
            <a:ext cx="5328470" cy="5288506"/>
          </a:xfrm>
          <a:custGeom>
            <a:rect b="b" l="l" r="r" t="t"/>
            <a:pathLst>
              <a:path extrusionOk="0" h="5288506" w="5328470">
                <a:moveTo>
                  <a:pt x="0" y="0"/>
                </a:moveTo>
                <a:lnTo>
                  <a:pt x="5328470" y="0"/>
                </a:lnTo>
                <a:lnTo>
                  <a:pt x="5328470" y="5288506"/>
                </a:lnTo>
                <a:lnTo>
                  <a:pt x="0" y="5288506"/>
                </a:lnTo>
                <a:lnTo>
                  <a:pt x="0" y="0"/>
                </a:lnTo>
                <a:close/>
              </a:path>
            </a:pathLst>
          </a:custGeom>
          <a:blipFill rotWithShape="1">
            <a:blip r:embed="rId3">
              <a:alphaModFix/>
            </a:blip>
            <a:stretch>
              <a:fillRect b="0" l="0" r="0" t="0"/>
            </a:stretch>
          </a:blipFill>
          <a:ln>
            <a:noFill/>
          </a:ln>
        </p:spPr>
      </p:sp>
      <p:grpSp>
        <p:nvGrpSpPr>
          <p:cNvPr id="178" name="Google Shape;178;p8"/>
          <p:cNvGrpSpPr/>
          <p:nvPr/>
        </p:nvGrpSpPr>
        <p:grpSpPr>
          <a:xfrm>
            <a:off x="16055623" y="8354196"/>
            <a:ext cx="1582825" cy="1582825"/>
            <a:chOff x="0" y="0"/>
            <a:chExt cx="812800" cy="812800"/>
          </a:xfrm>
        </p:grpSpPr>
        <p:sp>
          <p:nvSpPr>
            <p:cNvPr id="179" name="Google Shape;179;p8"/>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147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8"/>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81" name="Google Shape;181;p8"/>
          <p:cNvGrpSpPr/>
          <p:nvPr/>
        </p:nvGrpSpPr>
        <p:grpSpPr>
          <a:xfrm rot="5400000">
            <a:off x="-637746" y="4448574"/>
            <a:ext cx="4722745" cy="1389852"/>
            <a:chOff x="0" y="-885"/>
            <a:chExt cx="6296994" cy="1853137"/>
          </a:xfrm>
        </p:grpSpPr>
        <p:sp>
          <p:nvSpPr>
            <p:cNvPr id="182" name="Google Shape;182;p8"/>
            <p:cNvSpPr/>
            <p:nvPr/>
          </p:nvSpPr>
          <p:spPr>
            <a:xfrm rot="10800000">
              <a:off x="0" y="-885"/>
              <a:ext cx="1848345" cy="1849230"/>
            </a:xfrm>
            <a:custGeom>
              <a:rect b="b" l="l" r="r" t="t"/>
              <a:pathLst>
                <a:path extrusionOk="0" h="2654300" w="2653030">
                  <a:moveTo>
                    <a:pt x="0" y="1535430"/>
                  </a:moveTo>
                  <a:lnTo>
                    <a:pt x="0" y="1463040"/>
                  </a:lnTo>
                  <a:lnTo>
                    <a:pt x="1463040" y="0"/>
                  </a:lnTo>
                  <a:lnTo>
                    <a:pt x="1535430" y="0"/>
                  </a:lnTo>
                  <a:lnTo>
                    <a:pt x="0" y="1535430"/>
                  </a:lnTo>
                  <a:close/>
                  <a:moveTo>
                    <a:pt x="1681480" y="0"/>
                  </a:moveTo>
                  <a:lnTo>
                    <a:pt x="1609090" y="0"/>
                  </a:lnTo>
                  <a:lnTo>
                    <a:pt x="0" y="1607820"/>
                  </a:lnTo>
                  <a:lnTo>
                    <a:pt x="0" y="1680210"/>
                  </a:lnTo>
                  <a:lnTo>
                    <a:pt x="1681480" y="0"/>
                  </a:lnTo>
                  <a:close/>
                  <a:moveTo>
                    <a:pt x="1390650" y="0"/>
                  </a:moveTo>
                  <a:lnTo>
                    <a:pt x="1318260" y="0"/>
                  </a:lnTo>
                  <a:lnTo>
                    <a:pt x="0" y="1318260"/>
                  </a:lnTo>
                  <a:lnTo>
                    <a:pt x="0" y="1390650"/>
                  </a:lnTo>
                  <a:lnTo>
                    <a:pt x="1390650" y="0"/>
                  </a:lnTo>
                  <a:close/>
                  <a:moveTo>
                    <a:pt x="1245870" y="0"/>
                  </a:moveTo>
                  <a:lnTo>
                    <a:pt x="1173480" y="0"/>
                  </a:lnTo>
                  <a:lnTo>
                    <a:pt x="0" y="1173480"/>
                  </a:lnTo>
                  <a:lnTo>
                    <a:pt x="0" y="1245870"/>
                  </a:lnTo>
                  <a:lnTo>
                    <a:pt x="1245870" y="0"/>
                  </a:lnTo>
                  <a:close/>
                  <a:moveTo>
                    <a:pt x="1826260" y="0"/>
                  </a:moveTo>
                  <a:lnTo>
                    <a:pt x="1753870" y="0"/>
                  </a:lnTo>
                  <a:lnTo>
                    <a:pt x="0" y="1753870"/>
                  </a:lnTo>
                  <a:lnTo>
                    <a:pt x="0" y="1826260"/>
                  </a:lnTo>
                  <a:lnTo>
                    <a:pt x="1826260" y="0"/>
                  </a:lnTo>
                  <a:close/>
                  <a:moveTo>
                    <a:pt x="2260600" y="0"/>
                  </a:moveTo>
                  <a:lnTo>
                    <a:pt x="2188210" y="0"/>
                  </a:lnTo>
                  <a:lnTo>
                    <a:pt x="0" y="2188210"/>
                  </a:lnTo>
                  <a:lnTo>
                    <a:pt x="0" y="2260600"/>
                  </a:lnTo>
                  <a:lnTo>
                    <a:pt x="2260600" y="0"/>
                  </a:lnTo>
                  <a:close/>
                  <a:moveTo>
                    <a:pt x="2551430" y="0"/>
                  </a:moveTo>
                  <a:lnTo>
                    <a:pt x="2479040" y="0"/>
                  </a:lnTo>
                  <a:lnTo>
                    <a:pt x="0" y="2479040"/>
                  </a:lnTo>
                  <a:lnTo>
                    <a:pt x="0" y="2551430"/>
                  </a:lnTo>
                  <a:lnTo>
                    <a:pt x="2551430" y="0"/>
                  </a:lnTo>
                  <a:close/>
                  <a:moveTo>
                    <a:pt x="2405380" y="0"/>
                  </a:moveTo>
                  <a:lnTo>
                    <a:pt x="2332990" y="0"/>
                  </a:lnTo>
                  <a:lnTo>
                    <a:pt x="0" y="2332990"/>
                  </a:lnTo>
                  <a:lnTo>
                    <a:pt x="0" y="2405380"/>
                  </a:lnTo>
                  <a:lnTo>
                    <a:pt x="2405380" y="0"/>
                  </a:lnTo>
                  <a:close/>
                  <a:moveTo>
                    <a:pt x="2115820" y="0"/>
                  </a:moveTo>
                  <a:lnTo>
                    <a:pt x="2043430" y="0"/>
                  </a:lnTo>
                  <a:lnTo>
                    <a:pt x="0" y="2043430"/>
                  </a:lnTo>
                  <a:lnTo>
                    <a:pt x="0" y="2115820"/>
                  </a:lnTo>
                  <a:lnTo>
                    <a:pt x="2115820" y="0"/>
                  </a:lnTo>
                  <a:close/>
                  <a:moveTo>
                    <a:pt x="375920" y="0"/>
                  </a:moveTo>
                  <a:lnTo>
                    <a:pt x="303530" y="0"/>
                  </a:lnTo>
                  <a:lnTo>
                    <a:pt x="0" y="303530"/>
                  </a:lnTo>
                  <a:lnTo>
                    <a:pt x="0" y="375920"/>
                  </a:lnTo>
                  <a:lnTo>
                    <a:pt x="375920" y="0"/>
                  </a:lnTo>
                  <a:close/>
                  <a:moveTo>
                    <a:pt x="1101090" y="0"/>
                  </a:moveTo>
                  <a:lnTo>
                    <a:pt x="1028700" y="0"/>
                  </a:lnTo>
                  <a:lnTo>
                    <a:pt x="0" y="1028700"/>
                  </a:lnTo>
                  <a:lnTo>
                    <a:pt x="0" y="1101090"/>
                  </a:lnTo>
                  <a:lnTo>
                    <a:pt x="1101090" y="0"/>
                  </a:lnTo>
                  <a:close/>
                  <a:moveTo>
                    <a:pt x="2653030" y="0"/>
                  </a:moveTo>
                  <a:lnTo>
                    <a:pt x="2623820" y="0"/>
                  </a:lnTo>
                  <a:lnTo>
                    <a:pt x="0" y="2623820"/>
                  </a:lnTo>
                  <a:lnTo>
                    <a:pt x="0" y="2653030"/>
                  </a:lnTo>
                  <a:lnTo>
                    <a:pt x="43180" y="2653030"/>
                  </a:lnTo>
                  <a:lnTo>
                    <a:pt x="2653030" y="43180"/>
                  </a:lnTo>
                  <a:lnTo>
                    <a:pt x="2653030" y="0"/>
                  </a:lnTo>
                  <a:close/>
                  <a:moveTo>
                    <a:pt x="520700" y="0"/>
                  </a:moveTo>
                  <a:lnTo>
                    <a:pt x="448310" y="0"/>
                  </a:lnTo>
                  <a:lnTo>
                    <a:pt x="0" y="448310"/>
                  </a:lnTo>
                  <a:lnTo>
                    <a:pt x="0" y="520700"/>
                  </a:lnTo>
                  <a:lnTo>
                    <a:pt x="520700" y="0"/>
                  </a:lnTo>
                  <a:close/>
                  <a:moveTo>
                    <a:pt x="85090" y="0"/>
                  </a:moveTo>
                  <a:lnTo>
                    <a:pt x="12700" y="0"/>
                  </a:lnTo>
                  <a:lnTo>
                    <a:pt x="0" y="12700"/>
                  </a:lnTo>
                  <a:lnTo>
                    <a:pt x="0" y="85090"/>
                  </a:lnTo>
                  <a:lnTo>
                    <a:pt x="85090" y="0"/>
                  </a:lnTo>
                  <a:close/>
                  <a:moveTo>
                    <a:pt x="231140" y="0"/>
                  </a:moveTo>
                  <a:lnTo>
                    <a:pt x="158750" y="0"/>
                  </a:lnTo>
                  <a:lnTo>
                    <a:pt x="0" y="157480"/>
                  </a:lnTo>
                  <a:lnTo>
                    <a:pt x="0" y="229870"/>
                  </a:lnTo>
                  <a:lnTo>
                    <a:pt x="231140" y="0"/>
                  </a:lnTo>
                  <a:close/>
                  <a:moveTo>
                    <a:pt x="0" y="956310"/>
                  </a:moveTo>
                  <a:lnTo>
                    <a:pt x="956310" y="0"/>
                  </a:lnTo>
                  <a:lnTo>
                    <a:pt x="883920" y="0"/>
                  </a:lnTo>
                  <a:lnTo>
                    <a:pt x="0" y="882650"/>
                  </a:lnTo>
                  <a:lnTo>
                    <a:pt x="0" y="956310"/>
                  </a:lnTo>
                  <a:close/>
                  <a:moveTo>
                    <a:pt x="665480" y="0"/>
                  </a:moveTo>
                  <a:lnTo>
                    <a:pt x="593090" y="0"/>
                  </a:lnTo>
                  <a:lnTo>
                    <a:pt x="0" y="593090"/>
                  </a:lnTo>
                  <a:lnTo>
                    <a:pt x="0" y="665480"/>
                  </a:lnTo>
                  <a:lnTo>
                    <a:pt x="665480" y="0"/>
                  </a:lnTo>
                  <a:close/>
                  <a:moveTo>
                    <a:pt x="810260" y="0"/>
                  </a:moveTo>
                  <a:lnTo>
                    <a:pt x="737870" y="0"/>
                  </a:lnTo>
                  <a:lnTo>
                    <a:pt x="0" y="737870"/>
                  </a:lnTo>
                  <a:lnTo>
                    <a:pt x="0" y="810260"/>
                  </a:lnTo>
                  <a:lnTo>
                    <a:pt x="810260" y="0"/>
                  </a:lnTo>
                  <a:close/>
                  <a:moveTo>
                    <a:pt x="1971040" y="0"/>
                  </a:moveTo>
                  <a:lnTo>
                    <a:pt x="1898650" y="0"/>
                  </a:lnTo>
                  <a:lnTo>
                    <a:pt x="0" y="1898650"/>
                  </a:lnTo>
                  <a:lnTo>
                    <a:pt x="0" y="1971040"/>
                  </a:lnTo>
                  <a:lnTo>
                    <a:pt x="1971040" y="0"/>
                  </a:lnTo>
                  <a:close/>
                  <a:moveTo>
                    <a:pt x="2653030" y="1783080"/>
                  </a:moveTo>
                  <a:lnTo>
                    <a:pt x="2653030" y="1710690"/>
                  </a:lnTo>
                  <a:lnTo>
                    <a:pt x="1710690" y="2653030"/>
                  </a:lnTo>
                  <a:lnTo>
                    <a:pt x="1783080" y="2653030"/>
                  </a:lnTo>
                  <a:lnTo>
                    <a:pt x="2653030" y="1783080"/>
                  </a:lnTo>
                  <a:close/>
                  <a:moveTo>
                    <a:pt x="2653030" y="1927860"/>
                  </a:moveTo>
                  <a:lnTo>
                    <a:pt x="2653030" y="1855470"/>
                  </a:lnTo>
                  <a:lnTo>
                    <a:pt x="1855470" y="2653030"/>
                  </a:lnTo>
                  <a:lnTo>
                    <a:pt x="1927860" y="2653030"/>
                  </a:lnTo>
                  <a:lnTo>
                    <a:pt x="2653030" y="1927860"/>
                  </a:lnTo>
                  <a:close/>
                  <a:moveTo>
                    <a:pt x="2653030" y="2072640"/>
                  </a:moveTo>
                  <a:lnTo>
                    <a:pt x="2653030" y="2000250"/>
                  </a:lnTo>
                  <a:lnTo>
                    <a:pt x="2000250" y="2653030"/>
                  </a:lnTo>
                  <a:lnTo>
                    <a:pt x="2072640" y="2653030"/>
                  </a:lnTo>
                  <a:lnTo>
                    <a:pt x="2653030" y="2072640"/>
                  </a:lnTo>
                  <a:close/>
                  <a:moveTo>
                    <a:pt x="2653030" y="1638300"/>
                  </a:moveTo>
                  <a:lnTo>
                    <a:pt x="2653030" y="1565910"/>
                  </a:lnTo>
                  <a:lnTo>
                    <a:pt x="1564640" y="2654300"/>
                  </a:lnTo>
                  <a:lnTo>
                    <a:pt x="1637030" y="2654300"/>
                  </a:lnTo>
                  <a:lnTo>
                    <a:pt x="2653030" y="1638300"/>
                  </a:lnTo>
                  <a:close/>
                  <a:moveTo>
                    <a:pt x="2217420" y="2653030"/>
                  </a:moveTo>
                  <a:lnTo>
                    <a:pt x="2653030" y="2217420"/>
                  </a:lnTo>
                  <a:lnTo>
                    <a:pt x="2653030" y="2145030"/>
                  </a:lnTo>
                  <a:lnTo>
                    <a:pt x="2145030" y="2653030"/>
                  </a:lnTo>
                  <a:lnTo>
                    <a:pt x="2217420" y="2653030"/>
                  </a:lnTo>
                  <a:close/>
                  <a:moveTo>
                    <a:pt x="2653030" y="2580640"/>
                  </a:moveTo>
                  <a:lnTo>
                    <a:pt x="2580640" y="2653030"/>
                  </a:lnTo>
                  <a:lnTo>
                    <a:pt x="2653030" y="2653030"/>
                  </a:lnTo>
                  <a:lnTo>
                    <a:pt x="2653030" y="2580640"/>
                  </a:lnTo>
                  <a:close/>
                  <a:moveTo>
                    <a:pt x="2653030" y="2508250"/>
                  </a:moveTo>
                  <a:lnTo>
                    <a:pt x="2653030" y="2435860"/>
                  </a:lnTo>
                  <a:lnTo>
                    <a:pt x="2435860" y="2653030"/>
                  </a:lnTo>
                  <a:lnTo>
                    <a:pt x="2508250" y="2653030"/>
                  </a:lnTo>
                  <a:lnTo>
                    <a:pt x="2653030" y="2508250"/>
                  </a:lnTo>
                  <a:close/>
                  <a:moveTo>
                    <a:pt x="2653030" y="2363470"/>
                  </a:moveTo>
                  <a:lnTo>
                    <a:pt x="2653030" y="2291080"/>
                  </a:lnTo>
                  <a:lnTo>
                    <a:pt x="2291080" y="2653030"/>
                  </a:lnTo>
                  <a:lnTo>
                    <a:pt x="2363470" y="2653030"/>
                  </a:lnTo>
                  <a:lnTo>
                    <a:pt x="2653030" y="2363470"/>
                  </a:lnTo>
                  <a:close/>
                  <a:moveTo>
                    <a:pt x="2653030" y="1492250"/>
                  </a:moveTo>
                  <a:lnTo>
                    <a:pt x="2653030" y="1419860"/>
                  </a:lnTo>
                  <a:lnTo>
                    <a:pt x="1419860" y="2653030"/>
                  </a:lnTo>
                  <a:lnTo>
                    <a:pt x="1492250" y="2653030"/>
                  </a:lnTo>
                  <a:lnTo>
                    <a:pt x="2653030" y="1492250"/>
                  </a:lnTo>
                  <a:close/>
                  <a:moveTo>
                    <a:pt x="2653030" y="187960"/>
                  </a:moveTo>
                  <a:lnTo>
                    <a:pt x="2653030" y="115570"/>
                  </a:lnTo>
                  <a:lnTo>
                    <a:pt x="115570" y="2653030"/>
                  </a:lnTo>
                  <a:lnTo>
                    <a:pt x="187960" y="2653030"/>
                  </a:lnTo>
                  <a:lnTo>
                    <a:pt x="2653030" y="187960"/>
                  </a:lnTo>
                  <a:close/>
                  <a:moveTo>
                    <a:pt x="2653030" y="622300"/>
                  </a:moveTo>
                  <a:lnTo>
                    <a:pt x="2653030" y="549910"/>
                  </a:lnTo>
                  <a:lnTo>
                    <a:pt x="549910" y="2653030"/>
                  </a:lnTo>
                  <a:lnTo>
                    <a:pt x="622300" y="2653030"/>
                  </a:lnTo>
                  <a:lnTo>
                    <a:pt x="2653030" y="622300"/>
                  </a:lnTo>
                  <a:close/>
                  <a:moveTo>
                    <a:pt x="2653030" y="477520"/>
                  </a:moveTo>
                  <a:lnTo>
                    <a:pt x="2653030" y="405130"/>
                  </a:lnTo>
                  <a:lnTo>
                    <a:pt x="405130" y="2653030"/>
                  </a:lnTo>
                  <a:lnTo>
                    <a:pt x="477520" y="2653030"/>
                  </a:lnTo>
                  <a:lnTo>
                    <a:pt x="2653030" y="477520"/>
                  </a:lnTo>
                  <a:close/>
                  <a:moveTo>
                    <a:pt x="2653030" y="1347470"/>
                  </a:moveTo>
                  <a:lnTo>
                    <a:pt x="2653030" y="1275080"/>
                  </a:lnTo>
                  <a:lnTo>
                    <a:pt x="1275080" y="2653030"/>
                  </a:lnTo>
                  <a:lnTo>
                    <a:pt x="1347470" y="2653030"/>
                  </a:lnTo>
                  <a:lnTo>
                    <a:pt x="2653030" y="1347470"/>
                  </a:lnTo>
                  <a:close/>
                  <a:moveTo>
                    <a:pt x="2653030" y="767080"/>
                  </a:moveTo>
                  <a:lnTo>
                    <a:pt x="2653030" y="694690"/>
                  </a:lnTo>
                  <a:lnTo>
                    <a:pt x="694690" y="2653030"/>
                  </a:lnTo>
                  <a:lnTo>
                    <a:pt x="767080" y="2653030"/>
                  </a:lnTo>
                  <a:lnTo>
                    <a:pt x="2653030" y="767080"/>
                  </a:lnTo>
                  <a:close/>
                  <a:moveTo>
                    <a:pt x="2653030" y="332740"/>
                  </a:moveTo>
                  <a:lnTo>
                    <a:pt x="2653030" y="260350"/>
                  </a:lnTo>
                  <a:lnTo>
                    <a:pt x="260350" y="2653030"/>
                  </a:lnTo>
                  <a:lnTo>
                    <a:pt x="332740" y="2653030"/>
                  </a:lnTo>
                  <a:lnTo>
                    <a:pt x="2653030" y="332740"/>
                  </a:lnTo>
                  <a:close/>
                  <a:moveTo>
                    <a:pt x="2653030" y="1202690"/>
                  </a:moveTo>
                  <a:lnTo>
                    <a:pt x="2653030" y="1130300"/>
                  </a:lnTo>
                  <a:lnTo>
                    <a:pt x="1130300" y="2653030"/>
                  </a:lnTo>
                  <a:lnTo>
                    <a:pt x="1202690" y="2653030"/>
                  </a:lnTo>
                  <a:lnTo>
                    <a:pt x="2653030" y="1202690"/>
                  </a:lnTo>
                  <a:close/>
                  <a:moveTo>
                    <a:pt x="2653030" y="913130"/>
                  </a:moveTo>
                  <a:lnTo>
                    <a:pt x="2653030" y="840740"/>
                  </a:lnTo>
                  <a:lnTo>
                    <a:pt x="840740" y="2653030"/>
                  </a:lnTo>
                  <a:lnTo>
                    <a:pt x="913130" y="2653030"/>
                  </a:lnTo>
                  <a:lnTo>
                    <a:pt x="2653030" y="913130"/>
                  </a:lnTo>
                  <a:close/>
                  <a:moveTo>
                    <a:pt x="2653030" y="1057910"/>
                  </a:moveTo>
                  <a:lnTo>
                    <a:pt x="2653030" y="985520"/>
                  </a:lnTo>
                  <a:lnTo>
                    <a:pt x="985520" y="2653030"/>
                  </a:lnTo>
                  <a:lnTo>
                    <a:pt x="1057910" y="2653030"/>
                  </a:lnTo>
                  <a:lnTo>
                    <a:pt x="2653030" y="1057910"/>
                  </a:lnTo>
                  <a:close/>
                </a:path>
              </a:pathLst>
            </a:custGeom>
            <a:solidFill>
              <a:srgbClr val="014753"/>
            </a:solidFill>
            <a:ln>
              <a:noFill/>
            </a:ln>
          </p:spPr>
        </p:sp>
        <p:sp>
          <p:nvSpPr>
            <p:cNvPr id="183" name="Google Shape;183;p8"/>
            <p:cNvSpPr/>
            <p:nvPr/>
          </p:nvSpPr>
          <p:spPr>
            <a:xfrm rot="10800000">
              <a:off x="4448649" y="7814"/>
              <a:ext cx="1848345" cy="1840531"/>
            </a:xfrm>
            <a:prstGeom prst="rect">
              <a:avLst/>
            </a:prstGeom>
            <a:solidFill>
              <a:srgbClr val="0147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8"/>
            <p:cNvSpPr/>
            <p:nvPr/>
          </p:nvSpPr>
          <p:spPr>
            <a:xfrm rot="10800000">
              <a:off x="2224324" y="3907"/>
              <a:ext cx="1848345" cy="1848345"/>
            </a:xfrm>
            <a:custGeom>
              <a:rect b="b" l="l" r="r" t="t"/>
              <a:pathLst>
                <a:path extrusionOk="0" h="1708150" w="1708150">
                  <a:moveTo>
                    <a:pt x="853440" y="1708150"/>
                  </a:moveTo>
                  <a:cubicBezTo>
                    <a:pt x="383540" y="1708150"/>
                    <a:pt x="0" y="1324610"/>
                    <a:pt x="0" y="853440"/>
                  </a:cubicBezTo>
                  <a:cubicBezTo>
                    <a:pt x="0" y="383540"/>
                    <a:pt x="383540" y="0"/>
                    <a:pt x="853440" y="0"/>
                  </a:cubicBezTo>
                  <a:cubicBezTo>
                    <a:pt x="1324610" y="0"/>
                    <a:pt x="1706880" y="383540"/>
                    <a:pt x="1706880" y="853440"/>
                  </a:cubicBezTo>
                  <a:cubicBezTo>
                    <a:pt x="1708150" y="1324610"/>
                    <a:pt x="1324610" y="1708150"/>
                    <a:pt x="853440" y="1708150"/>
                  </a:cubicBezTo>
                  <a:close/>
                  <a:moveTo>
                    <a:pt x="853440" y="469900"/>
                  </a:moveTo>
                  <a:cubicBezTo>
                    <a:pt x="642620" y="469900"/>
                    <a:pt x="469900" y="642620"/>
                    <a:pt x="469900" y="853440"/>
                  </a:cubicBezTo>
                  <a:cubicBezTo>
                    <a:pt x="469900" y="1064260"/>
                    <a:pt x="642620" y="1236980"/>
                    <a:pt x="853440" y="1236980"/>
                  </a:cubicBezTo>
                  <a:cubicBezTo>
                    <a:pt x="1064260" y="1236980"/>
                    <a:pt x="1236980" y="1064260"/>
                    <a:pt x="1236980" y="853440"/>
                  </a:cubicBezTo>
                  <a:cubicBezTo>
                    <a:pt x="1236980" y="642620"/>
                    <a:pt x="1065530" y="469900"/>
                    <a:pt x="853440" y="469900"/>
                  </a:cubicBezTo>
                  <a:close/>
                </a:path>
              </a:pathLst>
            </a:custGeom>
            <a:solidFill>
              <a:srgbClr val="0147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5" name="Google Shape;185;p8"/>
          <p:cNvGrpSpPr/>
          <p:nvPr/>
        </p:nvGrpSpPr>
        <p:grpSpPr>
          <a:xfrm>
            <a:off x="3289829" y="795662"/>
            <a:ext cx="13557206" cy="8215130"/>
            <a:chOff x="0" y="-85725"/>
            <a:chExt cx="18076275" cy="10953507"/>
          </a:xfrm>
        </p:grpSpPr>
        <p:sp>
          <p:nvSpPr>
            <p:cNvPr id="186" name="Google Shape;186;p8"/>
            <p:cNvSpPr txBox="1"/>
            <p:nvPr/>
          </p:nvSpPr>
          <p:spPr>
            <a:xfrm>
              <a:off x="0" y="-85725"/>
              <a:ext cx="18076275" cy="3333620"/>
            </a:xfrm>
            <a:prstGeom prst="rect">
              <a:avLst/>
            </a:prstGeom>
            <a:noFill/>
            <a:ln>
              <a:noFill/>
            </a:ln>
          </p:spPr>
          <p:txBody>
            <a:bodyPr anchorCtr="0" anchor="t" bIns="0" lIns="0" spcFirstLastPara="1" rIns="0" wrap="square" tIns="0">
              <a:spAutoFit/>
            </a:bodyPr>
            <a:lstStyle/>
            <a:p>
              <a:pPr indent="0" lvl="0" marL="0" marR="0" rtl="0" algn="l">
                <a:lnSpc>
                  <a:spcPct val="130010"/>
                </a:lnSpc>
                <a:spcBef>
                  <a:spcPts val="0"/>
                </a:spcBef>
                <a:spcAft>
                  <a:spcPts val="0"/>
                </a:spcAft>
                <a:buNone/>
              </a:pPr>
              <a:r>
                <a:rPr b="0" i="0" lang="en-US" sz="7694" u="none" cap="none" strike="noStrike">
                  <a:solidFill>
                    <a:srgbClr val="014753"/>
                  </a:solidFill>
                  <a:latin typeface="Montserrat"/>
                  <a:ea typeface="Montserrat"/>
                  <a:cs typeface="Montserrat"/>
                  <a:sym typeface="Montserrat"/>
                </a:rPr>
                <a:t>Elementos Clave de una Metodología de Desarrollo</a:t>
              </a:r>
              <a:endParaRPr/>
            </a:p>
          </p:txBody>
        </p:sp>
        <p:sp>
          <p:nvSpPr>
            <p:cNvPr id="187" name="Google Shape;187;p8"/>
            <p:cNvSpPr txBox="1"/>
            <p:nvPr/>
          </p:nvSpPr>
          <p:spPr>
            <a:xfrm>
              <a:off x="0" y="4656847"/>
              <a:ext cx="18076275" cy="6210935"/>
            </a:xfrm>
            <a:prstGeom prst="rect">
              <a:avLst/>
            </a:prstGeom>
            <a:noFill/>
            <a:ln>
              <a:noFill/>
            </a:ln>
          </p:spPr>
          <p:txBody>
            <a:bodyPr anchorCtr="0" anchor="t" bIns="0" lIns="0" spcFirstLastPara="1" rIns="0" wrap="square" tIns="0">
              <a:spAutoFit/>
            </a:bodyPr>
            <a:lstStyle/>
            <a:p>
              <a:pPr indent="-302260" lvl="1" marL="604519" marR="0" rtl="0" algn="l">
                <a:lnSpc>
                  <a:spcPct val="150017"/>
                </a:lnSpc>
                <a:spcBef>
                  <a:spcPts val="0"/>
                </a:spcBef>
                <a:spcAft>
                  <a:spcPts val="0"/>
                </a:spcAft>
                <a:buClr>
                  <a:srgbClr val="000000"/>
                </a:buClr>
                <a:buSzPts val="2799"/>
                <a:buFont typeface="Arial"/>
                <a:buChar char="•"/>
              </a:pPr>
              <a:r>
                <a:rPr b="1" i="0" lang="en-US" sz="2799" u="none" cap="none" strike="noStrike">
                  <a:solidFill>
                    <a:srgbClr val="000000"/>
                  </a:solidFill>
                  <a:latin typeface="Montserrat"/>
                  <a:ea typeface="Montserrat"/>
                  <a:cs typeface="Montserrat"/>
                  <a:sym typeface="Montserrat"/>
                </a:rPr>
                <a:t>Fases estructuradas: la mayoría de metodologías dividen el proyecto en fases (análisis, diseño, desarrollo, pruebas, etc.), lo cual ayuda a organizar el flujo de trabajo.</a:t>
              </a:r>
              <a:endParaRPr/>
            </a:p>
            <a:p>
              <a:pPr indent="0" lvl="0" marL="0" marR="0" rtl="0" algn="l">
                <a:lnSpc>
                  <a:spcPct val="150017"/>
                </a:lnSpc>
                <a:spcBef>
                  <a:spcPts val="0"/>
                </a:spcBef>
                <a:spcAft>
                  <a:spcPts val="0"/>
                </a:spcAft>
                <a:buNone/>
              </a:pPr>
              <a:r>
                <a:t/>
              </a:r>
              <a:endParaRPr b="1" i="0" sz="2799" u="none" cap="none" strike="noStrike">
                <a:solidFill>
                  <a:srgbClr val="000000"/>
                </a:solidFill>
                <a:latin typeface="Montserrat"/>
                <a:ea typeface="Montserrat"/>
                <a:cs typeface="Montserrat"/>
                <a:sym typeface="Montserrat"/>
              </a:endParaRPr>
            </a:p>
            <a:p>
              <a:pPr indent="-302260" lvl="1" marL="604519" marR="0" rtl="0" algn="l">
                <a:lnSpc>
                  <a:spcPct val="150017"/>
                </a:lnSpc>
                <a:spcBef>
                  <a:spcPts val="0"/>
                </a:spcBef>
                <a:spcAft>
                  <a:spcPts val="0"/>
                </a:spcAft>
                <a:buClr>
                  <a:srgbClr val="000000"/>
                </a:buClr>
                <a:buSzPts val="2799"/>
                <a:buFont typeface="Arial"/>
                <a:buChar char="•"/>
              </a:pPr>
              <a:r>
                <a:rPr b="1" i="0" lang="en-US" sz="2799" u="none" cap="none" strike="noStrike">
                  <a:solidFill>
                    <a:srgbClr val="000000"/>
                  </a:solidFill>
                  <a:latin typeface="Montserrat"/>
                  <a:ea typeface="Montserrat"/>
                  <a:cs typeface="Montserrat"/>
                  <a:sym typeface="Montserrat"/>
                </a:rPr>
                <a:t>Documentación: el registro detallado de cada paso es fundamental para el control y mejora continua.</a:t>
              </a:r>
              <a:endParaRPr/>
            </a:p>
            <a:p>
              <a:pPr indent="0" lvl="0" marL="0" marR="0" rtl="0" algn="l">
                <a:lnSpc>
                  <a:spcPct val="150017"/>
                </a:lnSpc>
                <a:spcBef>
                  <a:spcPts val="0"/>
                </a:spcBef>
                <a:spcAft>
                  <a:spcPts val="0"/>
                </a:spcAft>
                <a:buNone/>
              </a:pPr>
              <a:r>
                <a:t/>
              </a:r>
              <a:endParaRPr b="1" i="0" sz="2799" u="none" cap="none" strike="noStrike">
                <a:solidFill>
                  <a:srgbClr val="000000"/>
                </a:solidFill>
                <a:latin typeface="Montserrat"/>
                <a:ea typeface="Montserrat"/>
                <a:cs typeface="Montserrat"/>
                <a:sym typeface="Montserrat"/>
              </a:endParaRPr>
            </a:p>
            <a:p>
              <a:pPr indent="-302260" lvl="1" marL="604519" marR="0" rtl="0" algn="l">
                <a:lnSpc>
                  <a:spcPct val="150017"/>
                </a:lnSpc>
                <a:spcBef>
                  <a:spcPts val="0"/>
                </a:spcBef>
                <a:spcAft>
                  <a:spcPts val="0"/>
                </a:spcAft>
                <a:buClr>
                  <a:srgbClr val="000000"/>
                </a:buClr>
                <a:buSzPts val="2799"/>
                <a:buFont typeface="Arial"/>
                <a:buChar char="•"/>
              </a:pPr>
              <a:r>
                <a:rPr b="1" i="0" lang="en-US" sz="2799" u="none" cap="none" strike="noStrike">
                  <a:solidFill>
                    <a:srgbClr val="000000"/>
                  </a:solidFill>
                  <a:latin typeface="Montserrat"/>
                  <a:ea typeface="Montserrat"/>
                  <a:cs typeface="Montserrat"/>
                  <a:sym typeface="Montserrat"/>
                </a:rPr>
                <a:t>Retroalimentación y evaluación continua: permiten identificar y corregir problemas de manera temprana.</a:t>
              </a:r>
              <a:endParaRPr/>
            </a:p>
          </p:txBody>
        </p:sp>
        <p:sp>
          <p:nvSpPr>
            <p:cNvPr id="188" name="Google Shape;188;p8"/>
            <p:cNvSpPr/>
            <p:nvPr/>
          </p:nvSpPr>
          <p:spPr>
            <a:xfrm>
              <a:off x="0" y="3738231"/>
              <a:ext cx="1324627" cy="223120"/>
            </a:xfrm>
            <a:prstGeom prst="rect">
              <a:avLst/>
            </a:prstGeom>
            <a:solidFill>
              <a:srgbClr val="0147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92" name="Shape 192"/>
        <p:cNvGrpSpPr/>
        <p:nvPr/>
      </p:nvGrpSpPr>
      <p:grpSpPr>
        <a:xfrm>
          <a:off x="0" y="0"/>
          <a:ext cx="0" cy="0"/>
          <a:chOff x="0" y="0"/>
          <a:chExt cx="0" cy="0"/>
        </a:xfrm>
      </p:grpSpPr>
      <p:sp>
        <p:nvSpPr>
          <p:cNvPr id="193" name="Google Shape;193;p9"/>
          <p:cNvSpPr/>
          <p:nvPr/>
        </p:nvSpPr>
        <p:spPr>
          <a:xfrm rot="10800000">
            <a:off x="0" y="6465956"/>
            <a:ext cx="3626807" cy="3821044"/>
          </a:xfrm>
          <a:custGeom>
            <a:rect b="b" l="l" r="r" t="t"/>
            <a:pathLst>
              <a:path extrusionOk="0" h="3821044" w="3626807">
                <a:moveTo>
                  <a:pt x="3626807" y="3821044"/>
                </a:moveTo>
                <a:lnTo>
                  <a:pt x="0" y="3821044"/>
                </a:lnTo>
                <a:lnTo>
                  <a:pt x="0" y="0"/>
                </a:lnTo>
                <a:lnTo>
                  <a:pt x="3626807" y="0"/>
                </a:lnTo>
                <a:lnTo>
                  <a:pt x="3626807" y="3821044"/>
                </a:lnTo>
                <a:close/>
              </a:path>
            </a:pathLst>
          </a:custGeom>
          <a:blipFill rotWithShape="1">
            <a:blip r:embed="rId3">
              <a:alphaModFix/>
            </a:blip>
            <a:stretch>
              <a:fillRect b="0" l="0" r="0" t="0"/>
            </a:stretch>
          </a:blipFill>
          <a:ln>
            <a:noFill/>
          </a:ln>
        </p:spPr>
      </p:sp>
      <p:sp>
        <p:nvSpPr>
          <p:cNvPr id="194" name="Google Shape;194;p9"/>
          <p:cNvSpPr txBox="1"/>
          <p:nvPr/>
        </p:nvSpPr>
        <p:spPr>
          <a:xfrm>
            <a:off x="3142031" y="3147898"/>
            <a:ext cx="12042039" cy="3781654"/>
          </a:xfrm>
          <a:prstGeom prst="rect">
            <a:avLst/>
          </a:prstGeom>
          <a:noFill/>
          <a:ln>
            <a:noFill/>
          </a:ln>
        </p:spPr>
        <p:txBody>
          <a:bodyPr anchorCtr="0" anchor="t" bIns="0" lIns="0" spcFirstLastPara="1" rIns="0" wrap="square" tIns="0">
            <a:spAutoFit/>
          </a:bodyPr>
          <a:lstStyle/>
          <a:p>
            <a:pPr indent="0" lvl="0" marL="0" marR="0" rtl="0" algn="ctr">
              <a:lnSpc>
                <a:spcPct val="139996"/>
              </a:lnSpc>
              <a:spcBef>
                <a:spcPts val="0"/>
              </a:spcBef>
              <a:spcAft>
                <a:spcPts val="0"/>
              </a:spcAft>
              <a:buNone/>
            </a:pPr>
            <a:r>
              <a:rPr b="1" i="0" lang="en-US" sz="10866" u="none" cap="none" strike="noStrike">
                <a:solidFill>
                  <a:srgbClr val="1E5A66"/>
                </a:solidFill>
                <a:latin typeface="Montserrat"/>
                <a:ea typeface="Montserrat"/>
                <a:cs typeface="Montserrat"/>
                <a:sym typeface="Montserrat"/>
              </a:rPr>
              <a:t>METODOLOGÍAS </a:t>
            </a:r>
            <a:endParaRPr/>
          </a:p>
          <a:p>
            <a:pPr indent="0" lvl="0" marL="0" marR="0" rtl="0" algn="ctr">
              <a:lnSpc>
                <a:spcPct val="139996"/>
              </a:lnSpc>
              <a:spcBef>
                <a:spcPts val="0"/>
              </a:spcBef>
              <a:spcAft>
                <a:spcPts val="0"/>
              </a:spcAft>
              <a:buNone/>
            </a:pPr>
            <a:r>
              <a:rPr b="1" i="0" lang="en-US" sz="10866" u="none" cap="none" strike="noStrike">
                <a:solidFill>
                  <a:srgbClr val="1E5A66"/>
                </a:solidFill>
                <a:latin typeface="Montserrat"/>
                <a:ea typeface="Montserrat"/>
                <a:cs typeface="Montserrat"/>
                <a:sym typeface="Montserrat"/>
              </a:rPr>
              <a:t>CLÁSICAS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198" name="Shape 198"/>
        <p:cNvGrpSpPr/>
        <p:nvPr/>
      </p:nvGrpSpPr>
      <p:grpSpPr>
        <a:xfrm>
          <a:off x="0" y="0"/>
          <a:ext cx="0" cy="0"/>
          <a:chOff x="0" y="0"/>
          <a:chExt cx="0" cy="0"/>
        </a:xfrm>
      </p:grpSpPr>
      <p:sp>
        <p:nvSpPr>
          <p:cNvPr id="199" name="Google Shape;199;p10"/>
          <p:cNvSpPr/>
          <p:nvPr/>
        </p:nvSpPr>
        <p:spPr>
          <a:xfrm>
            <a:off x="14661193" y="0"/>
            <a:ext cx="3626807" cy="3821044"/>
          </a:xfrm>
          <a:custGeom>
            <a:rect b="b" l="l" r="r" t="t"/>
            <a:pathLst>
              <a:path extrusionOk="0" h="3821044" w="3626807">
                <a:moveTo>
                  <a:pt x="0" y="0"/>
                </a:moveTo>
                <a:lnTo>
                  <a:pt x="3626807" y="0"/>
                </a:lnTo>
                <a:lnTo>
                  <a:pt x="3626807" y="3821044"/>
                </a:lnTo>
                <a:lnTo>
                  <a:pt x="0" y="3821044"/>
                </a:lnTo>
                <a:lnTo>
                  <a:pt x="0" y="0"/>
                </a:lnTo>
                <a:close/>
              </a:path>
            </a:pathLst>
          </a:custGeom>
          <a:blipFill rotWithShape="1">
            <a:blip r:embed="rId3">
              <a:alphaModFix/>
            </a:blip>
            <a:stretch>
              <a:fillRect b="0" l="0" r="0" t="0"/>
            </a:stretch>
          </a:blipFill>
          <a:ln>
            <a:noFill/>
          </a:ln>
        </p:spPr>
      </p:sp>
      <p:grpSp>
        <p:nvGrpSpPr>
          <p:cNvPr id="200" name="Google Shape;200;p10"/>
          <p:cNvGrpSpPr/>
          <p:nvPr/>
        </p:nvGrpSpPr>
        <p:grpSpPr>
          <a:xfrm>
            <a:off x="16744950" y="8599289"/>
            <a:ext cx="3086100" cy="1020063"/>
            <a:chOff x="0" y="-38100"/>
            <a:chExt cx="812800" cy="268659"/>
          </a:xfrm>
        </p:grpSpPr>
        <p:sp>
          <p:nvSpPr>
            <p:cNvPr id="201" name="Google Shape;201;p10"/>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0CA6A2"/>
            </a:solidFill>
            <a:ln>
              <a:noFill/>
            </a:ln>
          </p:spPr>
        </p:sp>
        <p:sp>
          <p:nvSpPr>
            <p:cNvPr id="202" name="Google Shape;202;p10"/>
            <p:cNvSpPr txBox="1"/>
            <p:nvPr/>
          </p:nvSpPr>
          <p:spPr>
            <a:xfrm>
              <a:off x="0" y="-38100"/>
              <a:ext cx="812800" cy="2686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03" name="Google Shape;203;p10"/>
          <p:cNvSpPr/>
          <p:nvPr/>
        </p:nvSpPr>
        <p:spPr>
          <a:xfrm>
            <a:off x="12766964" y="2868171"/>
            <a:ext cx="5521036" cy="5507233"/>
          </a:xfrm>
          <a:custGeom>
            <a:rect b="b" l="l" r="r" t="t"/>
            <a:pathLst>
              <a:path extrusionOk="0" h="5507233" w="5521036">
                <a:moveTo>
                  <a:pt x="0" y="0"/>
                </a:moveTo>
                <a:lnTo>
                  <a:pt x="5521036" y="0"/>
                </a:lnTo>
                <a:lnTo>
                  <a:pt x="5521036" y="5507233"/>
                </a:lnTo>
                <a:lnTo>
                  <a:pt x="0" y="5507233"/>
                </a:lnTo>
                <a:lnTo>
                  <a:pt x="0" y="0"/>
                </a:lnTo>
                <a:close/>
              </a:path>
            </a:pathLst>
          </a:custGeom>
          <a:blipFill rotWithShape="1">
            <a:blip r:embed="rId4">
              <a:alphaModFix/>
            </a:blip>
            <a:stretch>
              <a:fillRect b="0" l="0" r="0" t="0"/>
            </a:stretch>
          </a:blipFill>
          <a:ln>
            <a:noFill/>
          </a:ln>
        </p:spPr>
      </p:sp>
      <p:sp>
        <p:nvSpPr>
          <p:cNvPr id="204" name="Google Shape;204;p10"/>
          <p:cNvSpPr txBox="1"/>
          <p:nvPr/>
        </p:nvSpPr>
        <p:spPr>
          <a:xfrm>
            <a:off x="688889" y="921256"/>
            <a:ext cx="11806200" cy="903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i="0" lang="en-US" sz="3580" u="none" cap="none" strike="noStrike">
                <a:solidFill>
                  <a:srgbClr val="000000"/>
                </a:solidFill>
                <a:latin typeface="Montserrat"/>
                <a:ea typeface="Montserrat"/>
                <a:cs typeface="Montserrat"/>
                <a:sym typeface="Montserrat"/>
              </a:rPr>
              <a:t>Se caracterizan por definir total y rígidamente los requisitos al inicio de los proyectos, los ciclos de desarrollo son poco flexibles y no permiten realizar cambios</a:t>
            </a:r>
            <a:endParaRPr/>
          </a:p>
          <a:p>
            <a:pPr indent="0" lvl="0" marL="0" marR="0" rtl="0" algn="just">
              <a:lnSpc>
                <a:spcPct val="140000"/>
              </a:lnSpc>
              <a:spcBef>
                <a:spcPts val="0"/>
              </a:spcBef>
              <a:spcAft>
                <a:spcPts val="0"/>
              </a:spcAft>
              <a:buNone/>
            </a:pPr>
            <a:r>
              <a:t/>
            </a:r>
            <a:endParaRPr i="0" sz="3580" u="none" cap="none" strike="noStrike">
              <a:solidFill>
                <a:srgbClr val="000000"/>
              </a:solidFill>
              <a:latin typeface="Montserrat"/>
              <a:ea typeface="Montserrat"/>
              <a:cs typeface="Montserrat"/>
              <a:sym typeface="Montserrat"/>
            </a:endParaRPr>
          </a:p>
          <a:p>
            <a:pPr indent="0" lvl="0" marL="0" marR="0" rtl="0" algn="just">
              <a:lnSpc>
                <a:spcPct val="140000"/>
              </a:lnSpc>
              <a:spcBef>
                <a:spcPts val="0"/>
              </a:spcBef>
              <a:spcAft>
                <a:spcPts val="0"/>
              </a:spcAft>
              <a:buNone/>
            </a:pPr>
            <a:r>
              <a:rPr i="0" lang="en-US" sz="3580" u="none" cap="none" strike="noStrike">
                <a:solidFill>
                  <a:srgbClr val="000000"/>
                </a:solidFill>
                <a:latin typeface="Montserrat"/>
                <a:ea typeface="Montserrat"/>
                <a:cs typeface="Montserrat"/>
                <a:sym typeface="Montserrat"/>
              </a:rPr>
              <a:t>La organización del trabajo es lineal, es decir, las etapas se suceden una tras otra y no se puede empezar la siguiente sin terminar la anterior. Tampoco se puede volver hacia atrás una vez se ha cambiado de etapa. Estas metodologías, no se adaptan nada bien a los cambios, y el mundo actual cambia constantemente.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2F2F2"/>
        </a:solidFill>
      </p:bgPr>
    </p:bg>
    <p:spTree>
      <p:nvGrpSpPr>
        <p:cNvPr id="208" name="Shape 208"/>
        <p:cNvGrpSpPr/>
        <p:nvPr/>
      </p:nvGrpSpPr>
      <p:grpSpPr>
        <a:xfrm>
          <a:off x="0" y="0"/>
          <a:ext cx="0" cy="0"/>
          <a:chOff x="0" y="0"/>
          <a:chExt cx="0" cy="0"/>
        </a:xfrm>
      </p:grpSpPr>
      <p:sp>
        <p:nvSpPr>
          <p:cNvPr descr="Rounded Square Shape" id="209" name="Google Shape;209;p11"/>
          <p:cNvSpPr/>
          <p:nvPr/>
        </p:nvSpPr>
        <p:spPr>
          <a:xfrm rot="-2700000">
            <a:off x="15721133" y="1543201"/>
            <a:ext cx="1424832" cy="1424832"/>
          </a:xfrm>
          <a:custGeom>
            <a:rect b="b" l="l" r="r" t="t"/>
            <a:pathLst>
              <a:path extrusionOk="0" h="1424832" w="1424832">
                <a:moveTo>
                  <a:pt x="0" y="0"/>
                </a:moveTo>
                <a:lnTo>
                  <a:pt x="1424832" y="0"/>
                </a:lnTo>
                <a:lnTo>
                  <a:pt x="1424832" y="1424832"/>
                </a:lnTo>
                <a:lnTo>
                  <a:pt x="0" y="1424832"/>
                </a:lnTo>
                <a:lnTo>
                  <a:pt x="0" y="0"/>
                </a:lnTo>
                <a:close/>
              </a:path>
            </a:pathLst>
          </a:custGeom>
          <a:blipFill rotWithShape="1">
            <a:blip r:embed="rId3">
              <a:alphaModFix/>
            </a:blip>
            <a:stretch>
              <a:fillRect b="0" l="0" r="0" t="0"/>
            </a:stretch>
          </a:blipFill>
          <a:ln>
            <a:noFill/>
          </a:ln>
        </p:spPr>
      </p:sp>
      <p:sp>
        <p:nvSpPr>
          <p:cNvPr descr="Rounded Square Shape" id="210" name="Google Shape;210;p11"/>
          <p:cNvSpPr/>
          <p:nvPr/>
        </p:nvSpPr>
        <p:spPr>
          <a:xfrm rot="-2700000">
            <a:off x="15867032" y="1691934"/>
            <a:ext cx="1133035" cy="1133035"/>
          </a:xfrm>
          <a:custGeom>
            <a:rect b="b" l="l" r="r" t="t"/>
            <a:pathLst>
              <a:path extrusionOk="0" h="1133035" w="1133035">
                <a:moveTo>
                  <a:pt x="0" y="0"/>
                </a:moveTo>
                <a:lnTo>
                  <a:pt x="1133035" y="0"/>
                </a:lnTo>
                <a:lnTo>
                  <a:pt x="1133035" y="1133035"/>
                </a:lnTo>
                <a:lnTo>
                  <a:pt x="0" y="1133035"/>
                </a:lnTo>
                <a:lnTo>
                  <a:pt x="0" y="0"/>
                </a:lnTo>
                <a:close/>
              </a:path>
            </a:pathLst>
          </a:custGeom>
          <a:blipFill rotWithShape="1">
            <a:blip r:embed="rId4">
              <a:alphaModFix/>
            </a:blip>
            <a:stretch>
              <a:fillRect b="0" l="0" r="0" t="0"/>
            </a:stretch>
          </a:blipFill>
          <a:ln>
            <a:noFill/>
          </a:ln>
        </p:spPr>
      </p:sp>
      <p:grpSp>
        <p:nvGrpSpPr>
          <p:cNvPr id="211" name="Google Shape;211;p11"/>
          <p:cNvGrpSpPr/>
          <p:nvPr/>
        </p:nvGrpSpPr>
        <p:grpSpPr>
          <a:xfrm>
            <a:off x="16744950" y="8599289"/>
            <a:ext cx="3086100" cy="1020063"/>
            <a:chOff x="0" y="-38100"/>
            <a:chExt cx="812800" cy="268659"/>
          </a:xfrm>
        </p:grpSpPr>
        <p:sp>
          <p:nvSpPr>
            <p:cNvPr id="212" name="Google Shape;212;p11"/>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0CA6A2"/>
            </a:solidFill>
            <a:ln>
              <a:noFill/>
            </a:ln>
          </p:spPr>
        </p:sp>
        <p:sp>
          <p:nvSpPr>
            <p:cNvPr id="213" name="Google Shape;213;p11"/>
            <p:cNvSpPr txBox="1"/>
            <p:nvPr/>
          </p:nvSpPr>
          <p:spPr>
            <a:xfrm>
              <a:off x="0" y="-38100"/>
              <a:ext cx="812800" cy="2686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4" name="Google Shape;214;p11"/>
          <p:cNvGrpSpPr/>
          <p:nvPr/>
        </p:nvGrpSpPr>
        <p:grpSpPr>
          <a:xfrm>
            <a:off x="12429851" y="4413044"/>
            <a:ext cx="1300641" cy="356041"/>
            <a:chOff x="0" y="-9525"/>
            <a:chExt cx="769101" cy="210536"/>
          </a:xfrm>
        </p:grpSpPr>
        <p:sp>
          <p:nvSpPr>
            <p:cNvPr id="215" name="Google Shape;215;p11"/>
            <p:cNvSpPr/>
            <p:nvPr/>
          </p:nvSpPr>
          <p:spPr>
            <a:xfrm>
              <a:off x="0" y="0"/>
              <a:ext cx="769101" cy="201011"/>
            </a:xfrm>
            <a:custGeom>
              <a:rect b="b" l="l" r="r" t="t"/>
              <a:pathLst>
                <a:path extrusionOk="0" h="201011" w="769101">
                  <a:moveTo>
                    <a:pt x="0" y="0"/>
                  </a:moveTo>
                  <a:lnTo>
                    <a:pt x="769101" y="0"/>
                  </a:lnTo>
                  <a:lnTo>
                    <a:pt x="769101" y="201011"/>
                  </a:lnTo>
                  <a:lnTo>
                    <a:pt x="0" y="201011"/>
                  </a:lnTo>
                  <a:close/>
                </a:path>
              </a:pathLst>
            </a:custGeom>
            <a:solidFill>
              <a:srgbClr val="1E5A66"/>
            </a:solidFill>
            <a:ln>
              <a:noFill/>
            </a:ln>
          </p:spPr>
        </p:sp>
        <p:sp>
          <p:nvSpPr>
            <p:cNvPr id="216" name="Google Shape;216;p11"/>
            <p:cNvSpPr txBox="1"/>
            <p:nvPr/>
          </p:nvSpPr>
          <p:spPr>
            <a:xfrm>
              <a:off x="0" y="-9525"/>
              <a:ext cx="769101" cy="210536"/>
            </a:xfrm>
            <a:prstGeom prst="rect">
              <a:avLst/>
            </a:prstGeom>
            <a:noFill/>
            <a:ln>
              <a:noFill/>
            </a:ln>
          </p:spPr>
          <p:txBody>
            <a:bodyPr anchorCtr="0" anchor="ctr" bIns="22625" lIns="22625" spcFirstLastPara="1" rIns="22625" wrap="square" tIns="22625">
              <a:noAutofit/>
            </a:bodyPr>
            <a:lstStyle/>
            <a:p>
              <a:pPr indent="0" lvl="0" marL="0" marR="0" rtl="0" algn="ctr">
                <a:lnSpc>
                  <a:spcPct val="65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17" name="Google Shape;217;p11"/>
          <p:cNvCxnSpPr/>
          <p:nvPr/>
        </p:nvCxnSpPr>
        <p:spPr>
          <a:xfrm>
            <a:off x="1369840" y="3282176"/>
            <a:ext cx="5122944" cy="0"/>
          </a:xfrm>
          <a:prstGeom prst="straightConnector1">
            <a:avLst/>
          </a:prstGeom>
          <a:noFill/>
          <a:ln cap="flat" cmpd="sng" w="38100">
            <a:solidFill>
              <a:srgbClr val="1E5A66"/>
            </a:solidFill>
            <a:prstDash val="solid"/>
            <a:round/>
            <a:headEnd len="sm" w="sm" type="none"/>
            <a:tailEnd len="sm" w="sm" type="none"/>
          </a:ln>
        </p:spPr>
      </p:cxnSp>
      <p:sp>
        <p:nvSpPr>
          <p:cNvPr id="218" name="Google Shape;218;p11"/>
          <p:cNvSpPr/>
          <p:nvPr/>
        </p:nvSpPr>
        <p:spPr>
          <a:xfrm>
            <a:off x="12094005" y="-118229"/>
            <a:ext cx="6193995" cy="10523458"/>
          </a:xfrm>
          <a:custGeom>
            <a:rect b="b" l="l" r="r" t="t"/>
            <a:pathLst>
              <a:path extrusionOk="0" h="10523458" w="6193995">
                <a:moveTo>
                  <a:pt x="0" y="0"/>
                </a:moveTo>
                <a:lnTo>
                  <a:pt x="6193995" y="0"/>
                </a:lnTo>
                <a:lnTo>
                  <a:pt x="6193995" y="10523458"/>
                </a:lnTo>
                <a:lnTo>
                  <a:pt x="0" y="10523458"/>
                </a:lnTo>
                <a:lnTo>
                  <a:pt x="0" y="0"/>
                </a:lnTo>
                <a:close/>
              </a:path>
            </a:pathLst>
          </a:custGeom>
          <a:blipFill rotWithShape="1">
            <a:blip r:embed="rId5">
              <a:alphaModFix/>
            </a:blip>
            <a:stretch>
              <a:fillRect b="0" l="-76132" r="-78858" t="0"/>
            </a:stretch>
          </a:blipFill>
          <a:ln>
            <a:noFill/>
          </a:ln>
        </p:spPr>
      </p:sp>
      <p:sp>
        <p:nvSpPr>
          <p:cNvPr id="219" name="Google Shape;219;p11"/>
          <p:cNvSpPr txBox="1"/>
          <p:nvPr/>
        </p:nvSpPr>
        <p:spPr>
          <a:xfrm>
            <a:off x="1028700" y="1235831"/>
            <a:ext cx="10928168" cy="1823797"/>
          </a:xfrm>
          <a:prstGeom prst="rect">
            <a:avLst/>
          </a:prstGeom>
          <a:noFill/>
          <a:ln>
            <a:noFill/>
          </a:ln>
        </p:spPr>
        <p:txBody>
          <a:bodyPr anchorCtr="0" anchor="t" bIns="0" lIns="0" spcFirstLastPara="1" rIns="0" wrap="square" tIns="0">
            <a:spAutoFit/>
          </a:bodyPr>
          <a:lstStyle/>
          <a:p>
            <a:pPr indent="0" lvl="0" marL="0" marR="0" rtl="0" algn="l">
              <a:lnSpc>
                <a:spcPct val="105002"/>
              </a:lnSpc>
              <a:spcBef>
                <a:spcPts val="0"/>
              </a:spcBef>
              <a:spcAft>
                <a:spcPts val="0"/>
              </a:spcAft>
              <a:buNone/>
            </a:pPr>
            <a:r>
              <a:rPr b="0" i="0" lang="en-US" sz="6737" u="none" cap="none" strike="noStrike">
                <a:solidFill>
                  <a:srgbClr val="1E5A66"/>
                </a:solidFill>
                <a:latin typeface="Montserrat"/>
                <a:ea typeface="Montserrat"/>
                <a:cs typeface="Montserrat"/>
                <a:sym typeface="Montserrat"/>
              </a:rPr>
              <a:t>Beneficios de las Metodologías Clásicas</a:t>
            </a:r>
            <a:endParaRPr/>
          </a:p>
        </p:txBody>
      </p:sp>
      <p:sp>
        <p:nvSpPr>
          <p:cNvPr id="220" name="Google Shape;220;p11"/>
          <p:cNvSpPr txBox="1"/>
          <p:nvPr/>
        </p:nvSpPr>
        <p:spPr>
          <a:xfrm>
            <a:off x="748155" y="3771002"/>
            <a:ext cx="10237987" cy="4781550"/>
          </a:xfrm>
          <a:prstGeom prst="rect">
            <a:avLst/>
          </a:prstGeom>
          <a:noFill/>
          <a:ln>
            <a:noFill/>
          </a:ln>
        </p:spPr>
        <p:txBody>
          <a:bodyPr anchorCtr="0" anchor="t" bIns="0" lIns="0" spcFirstLastPara="1" rIns="0" wrap="square" tIns="0">
            <a:spAutoFit/>
          </a:bodyPr>
          <a:lstStyle/>
          <a:p>
            <a:pPr indent="-323850" lvl="1" marL="647700" marR="0" rtl="0" algn="l">
              <a:lnSpc>
                <a:spcPct val="140000"/>
              </a:lnSpc>
              <a:spcBef>
                <a:spcPts val="0"/>
              </a:spcBef>
              <a:spcAft>
                <a:spcPts val="0"/>
              </a:spcAft>
              <a:buClr>
                <a:srgbClr val="1E5A66"/>
              </a:buClr>
              <a:buSzPts val="3000"/>
              <a:buFont typeface="Arial"/>
              <a:buChar char="•"/>
            </a:pPr>
            <a:r>
              <a:rPr b="1" i="0" lang="en-US" sz="3000" u="none" cap="none" strike="noStrike">
                <a:solidFill>
                  <a:srgbClr val="1E5A66"/>
                </a:solidFill>
                <a:latin typeface="Open Sans"/>
                <a:ea typeface="Open Sans"/>
                <a:cs typeface="Open Sans"/>
                <a:sym typeface="Open Sans"/>
              </a:rPr>
              <a:t>Son particularmente útiles cuando los requisitos son claros y estables desde el inicio.</a:t>
            </a:r>
            <a:endParaRPr/>
          </a:p>
          <a:p>
            <a:pPr indent="0" lvl="0" marL="0" marR="0" rtl="0" algn="l">
              <a:lnSpc>
                <a:spcPct val="140000"/>
              </a:lnSpc>
              <a:spcBef>
                <a:spcPts val="0"/>
              </a:spcBef>
              <a:spcAft>
                <a:spcPts val="0"/>
              </a:spcAft>
              <a:buNone/>
            </a:pPr>
            <a:r>
              <a:t/>
            </a:r>
            <a:endParaRPr b="1" i="0" sz="3000" u="none" cap="none" strike="noStrike">
              <a:solidFill>
                <a:srgbClr val="1E5A66"/>
              </a:solidFill>
              <a:latin typeface="Open Sans"/>
              <a:ea typeface="Open Sans"/>
              <a:cs typeface="Open Sans"/>
              <a:sym typeface="Open Sans"/>
            </a:endParaRPr>
          </a:p>
          <a:p>
            <a:pPr indent="-323850" lvl="1" marL="647700" marR="0" rtl="0" algn="l">
              <a:lnSpc>
                <a:spcPct val="140000"/>
              </a:lnSpc>
              <a:spcBef>
                <a:spcPts val="0"/>
              </a:spcBef>
              <a:spcAft>
                <a:spcPts val="0"/>
              </a:spcAft>
              <a:buClr>
                <a:srgbClr val="1E5A66"/>
              </a:buClr>
              <a:buSzPts val="3000"/>
              <a:buFont typeface="Arial"/>
              <a:buChar char="•"/>
            </a:pPr>
            <a:r>
              <a:rPr b="1" i="0" lang="en-US" sz="3000" u="none" cap="none" strike="noStrike">
                <a:solidFill>
                  <a:srgbClr val="1E5A66"/>
                </a:solidFill>
                <a:latin typeface="Open Sans"/>
                <a:ea typeface="Open Sans"/>
                <a:cs typeface="Open Sans"/>
                <a:sym typeface="Open Sans"/>
              </a:rPr>
              <a:t>Facilitan la planificación a largo plazo en cuanto a recursos, tiempo y presupuesto.</a:t>
            </a:r>
            <a:endParaRPr/>
          </a:p>
          <a:p>
            <a:pPr indent="0" lvl="0" marL="0" marR="0" rtl="0" algn="l">
              <a:lnSpc>
                <a:spcPct val="140000"/>
              </a:lnSpc>
              <a:spcBef>
                <a:spcPts val="0"/>
              </a:spcBef>
              <a:spcAft>
                <a:spcPts val="0"/>
              </a:spcAft>
              <a:buNone/>
            </a:pPr>
            <a:r>
              <a:t/>
            </a:r>
            <a:endParaRPr b="1" i="0" sz="3000" u="none" cap="none" strike="noStrike">
              <a:solidFill>
                <a:srgbClr val="1E5A66"/>
              </a:solidFill>
              <a:latin typeface="Open Sans"/>
              <a:ea typeface="Open Sans"/>
              <a:cs typeface="Open Sans"/>
              <a:sym typeface="Open Sans"/>
            </a:endParaRPr>
          </a:p>
          <a:p>
            <a:pPr indent="-323850" lvl="1" marL="647700" marR="0" rtl="0" algn="l">
              <a:lnSpc>
                <a:spcPct val="140000"/>
              </a:lnSpc>
              <a:spcBef>
                <a:spcPts val="0"/>
              </a:spcBef>
              <a:spcAft>
                <a:spcPts val="0"/>
              </a:spcAft>
              <a:buClr>
                <a:srgbClr val="1E5A66"/>
              </a:buClr>
              <a:buSzPts val="3000"/>
              <a:buFont typeface="Arial"/>
              <a:buChar char="•"/>
            </a:pPr>
            <a:r>
              <a:rPr b="1" i="0" lang="en-US" sz="3000" u="none" cap="none" strike="noStrike">
                <a:solidFill>
                  <a:srgbClr val="1E5A66"/>
                </a:solidFill>
                <a:latin typeface="Open Sans"/>
                <a:ea typeface="Open Sans"/>
                <a:cs typeface="Open Sans"/>
                <a:sym typeface="Open Sans"/>
              </a:rPr>
              <a:t>Permiten identificar y abordar los riesgos de manera anticipada.</a:t>
            </a:r>
            <a:endParaRPr/>
          </a:p>
          <a:p>
            <a:pPr indent="0" lvl="0" marL="0" marR="0" rtl="0" algn="l">
              <a:lnSpc>
                <a:spcPct val="140000"/>
              </a:lnSpc>
              <a:spcBef>
                <a:spcPts val="0"/>
              </a:spcBef>
              <a:spcAft>
                <a:spcPts val="0"/>
              </a:spcAft>
              <a:buNone/>
            </a:pPr>
            <a:r>
              <a:t/>
            </a:r>
            <a:endParaRPr b="1" i="0" sz="3000" u="none" cap="none" strike="noStrike">
              <a:solidFill>
                <a:srgbClr val="1E5A66"/>
              </a:solidFill>
              <a:latin typeface="Open Sans"/>
              <a:ea typeface="Open Sans"/>
              <a:cs typeface="Open Sans"/>
              <a:sym typeface="Open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2F2"/>
        </a:solidFill>
      </p:bgPr>
    </p:bg>
    <p:spTree>
      <p:nvGrpSpPr>
        <p:cNvPr id="224" name="Shape 224"/>
        <p:cNvGrpSpPr/>
        <p:nvPr/>
      </p:nvGrpSpPr>
      <p:grpSpPr>
        <a:xfrm>
          <a:off x="0" y="0"/>
          <a:ext cx="0" cy="0"/>
          <a:chOff x="0" y="0"/>
          <a:chExt cx="0" cy="0"/>
        </a:xfrm>
      </p:grpSpPr>
      <p:sp>
        <p:nvSpPr>
          <p:cNvPr id="225" name="Google Shape;225;p12"/>
          <p:cNvSpPr/>
          <p:nvPr/>
        </p:nvSpPr>
        <p:spPr>
          <a:xfrm>
            <a:off x="14661193" y="0"/>
            <a:ext cx="3626807" cy="3821044"/>
          </a:xfrm>
          <a:custGeom>
            <a:rect b="b" l="l" r="r" t="t"/>
            <a:pathLst>
              <a:path extrusionOk="0" h="3821044" w="3626807">
                <a:moveTo>
                  <a:pt x="0" y="0"/>
                </a:moveTo>
                <a:lnTo>
                  <a:pt x="3626807" y="0"/>
                </a:lnTo>
                <a:lnTo>
                  <a:pt x="3626807" y="3821044"/>
                </a:lnTo>
                <a:lnTo>
                  <a:pt x="0" y="3821044"/>
                </a:lnTo>
                <a:lnTo>
                  <a:pt x="0" y="0"/>
                </a:lnTo>
                <a:close/>
              </a:path>
            </a:pathLst>
          </a:custGeom>
          <a:blipFill rotWithShape="1">
            <a:blip r:embed="rId3">
              <a:alphaModFix/>
            </a:blip>
            <a:stretch>
              <a:fillRect b="0" l="0" r="0" t="0"/>
            </a:stretch>
          </a:blipFill>
          <a:ln>
            <a:noFill/>
          </a:ln>
        </p:spPr>
      </p:sp>
      <p:grpSp>
        <p:nvGrpSpPr>
          <p:cNvPr id="226" name="Google Shape;226;p12"/>
          <p:cNvGrpSpPr/>
          <p:nvPr/>
        </p:nvGrpSpPr>
        <p:grpSpPr>
          <a:xfrm>
            <a:off x="16744950" y="8599289"/>
            <a:ext cx="3086100" cy="1020063"/>
            <a:chOff x="0" y="-38100"/>
            <a:chExt cx="812800" cy="268659"/>
          </a:xfrm>
        </p:grpSpPr>
        <p:sp>
          <p:nvSpPr>
            <p:cNvPr id="227" name="Google Shape;227;p12"/>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0CA6A2"/>
            </a:solidFill>
            <a:ln>
              <a:noFill/>
            </a:ln>
          </p:spPr>
        </p:sp>
        <p:sp>
          <p:nvSpPr>
            <p:cNvPr id="228" name="Google Shape;228;p12"/>
            <p:cNvSpPr txBox="1"/>
            <p:nvPr/>
          </p:nvSpPr>
          <p:spPr>
            <a:xfrm>
              <a:off x="0" y="-38100"/>
              <a:ext cx="812800" cy="2686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9" name="Google Shape;229;p12"/>
          <p:cNvSpPr/>
          <p:nvPr/>
        </p:nvSpPr>
        <p:spPr>
          <a:xfrm>
            <a:off x="1647779" y="3554833"/>
            <a:ext cx="5225801" cy="5703467"/>
          </a:xfrm>
          <a:custGeom>
            <a:rect b="b" l="l" r="r" t="t"/>
            <a:pathLst>
              <a:path extrusionOk="0" h="5703467" w="5225801">
                <a:moveTo>
                  <a:pt x="0" y="0"/>
                </a:moveTo>
                <a:lnTo>
                  <a:pt x="5225801" y="0"/>
                </a:lnTo>
                <a:lnTo>
                  <a:pt x="5225801" y="5703467"/>
                </a:lnTo>
                <a:lnTo>
                  <a:pt x="0" y="5703467"/>
                </a:lnTo>
                <a:lnTo>
                  <a:pt x="0" y="0"/>
                </a:lnTo>
                <a:close/>
              </a:path>
            </a:pathLst>
          </a:custGeom>
          <a:blipFill rotWithShape="1">
            <a:blip r:embed="rId4">
              <a:alphaModFix/>
            </a:blip>
            <a:stretch>
              <a:fillRect b="0" l="0" r="0" t="0"/>
            </a:stretch>
          </a:blipFill>
          <a:ln>
            <a:noFill/>
          </a:ln>
        </p:spPr>
      </p:sp>
      <p:sp>
        <p:nvSpPr>
          <p:cNvPr id="230" name="Google Shape;230;p12"/>
          <p:cNvSpPr txBox="1"/>
          <p:nvPr/>
        </p:nvSpPr>
        <p:spPr>
          <a:xfrm>
            <a:off x="7812200" y="2714625"/>
            <a:ext cx="10147800" cy="6582000"/>
          </a:xfrm>
          <a:prstGeom prst="rect">
            <a:avLst/>
          </a:prstGeom>
          <a:noFill/>
          <a:ln>
            <a:noFill/>
          </a:ln>
        </p:spPr>
        <p:txBody>
          <a:bodyPr anchorCtr="0" anchor="t" bIns="0" lIns="0" spcFirstLastPara="1" rIns="0" wrap="square" tIns="0">
            <a:spAutoFit/>
          </a:bodyPr>
          <a:lstStyle/>
          <a:p>
            <a:pPr indent="-339468" lvl="1" marL="678935" marR="0" rtl="0" algn="l">
              <a:lnSpc>
                <a:spcPct val="140012"/>
              </a:lnSpc>
              <a:spcBef>
                <a:spcPts val="0"/>
              </a:spcBef>
              <a:spcAft>
                <a:spcPts val="0"/>
              </a:spcAft>
              <a:buClr>
                <a:srgbClr val="000000"/>
              </a:buClr>
              <a:buSzPts val="3144"/>
              <a:buChar char="•"/>
            </a:pPr>
            <a:r>
              <a:rPr i="0" lang="en-US" sz="3144" u="none" cap="none" strike="noStrike">
                <a:solidFill>
                  <a:srgbClr val="000000"/>
                </a:solidFill>
                <a:latin typeface="Montserrat"/>
                <a:ea typeface="Montserrat"/>
                <a:cs typeface="Montserrat"/>
                <a:sym typeface="Montserrat"/>
              </a:rPr>
              <a:t>Poca flexibilidad ante cambios</a:t>
            </a:r>
            <a:endParaRPr/>
          </a:p>
          <a:p>
            <a:pPr indent="0" lvl="0" marL="0" marR="0" rtl="0" algn="l">
              <a:lnSpc>
                <a:spcPct val="140012"/>
              </a:lnSpc>
              <a:spcBef>
                <a:spcPts val="0"/>
              </a:spcBef>
              <a:spcAft>
                <a:spcPts val="0"/>
              </a:spcAft>
              <a:buNone/>
            </a:pPr>
            <a:r>
              <a:t/>
            </a:r>
            <a:endParaRPr i="0" sz="3144" u="none" cap="none" strike="noStrike">
              <a:solidFill>
                <a:srgbClr val="000000"/>
              </a:solidFill>
              <a:latin typeface="Montserrat"/>
              <a:ea typeface="Montserrat"/>
              <a:cs typeface="Montserrat"/>
              <a:sym typeface="Montserrat"/>
            </a:endParaRPr>
          </a:p>
          <a:p>
            <a:pPr indent="-339468" lvl="1" marL="678935" marR="0" rtl="0" algn="l">
              <a:lnSpc>
                <a:spcPct val="140012"/>
              </a:lnSpc>
              <a:spcBef>
                <a:spcPts val="0"/>
              </a:spcBef>
              <a:spcAft>
                <a:spcPts val="0"/>
              </a:spcAft>
              <a:buClr>
                <a:srgbClr val="000000"/>
              </a:buClr>
              <a:buSzPts val="3144"/>
              <a:buChar char="•"/>
            </a:pPr>
            <a:r>
              <a:rPr i="0" lang="en-US" sz="3144" u="none" cap="none" strike="noStrike">
                <a:solidFill>
                  <a:srgbClr val="000000"/>
                </a:solidFill>
                <a:latin typeface="Montserrat"/>
                <a:ea typeface="Montserrat"/>
                <a:cs typeface="Montserrat"/>
                <a:sym typeface="Montserrat"/>
              </a:rPr>
              <a:t>Tienen poca participación del cliente.</a:t>
            </a:r>
            <a:endParaRPr/>
          </a:p>
          <a:p>
            <a:pPr indent="0" lvl="0" marL="0" marR="0" rtl="0" algn="just">
              <a:lnSpc>
                <a:spcPct val="140012"/>
              </a:lnSpc>
              <a:spcBef>
                <a:spcPts val="0"/>
              </a:spcBef>
              <a:spcAft>
                <a:spcPts val="0"/>
              </a:spcAft>
              <a:buNone/>
            </a:pPr>
            <a:r>
              <a:t/>
            </a:r>
            <a:endParaRPr i="0" sz="3144" u="none" cap="none" strike="noStrike">
              <a:solidFill>
                <a:srgbClr val="000000"/>
              </a:solidFill>
              <a:latin typeface="Montserrat"/>
              <a:ea typeface="Montserrat"/>
              <a:cs typeface="Montserrat"/>
              <a:sym typeface="Montserrat"/>
            </a:endParaRPr>
          </a:p>
          <a:p>
            <a:pPr indent="-339468" lvl="1" marL="678935" marR="0" rtl="0" algn="just">
              <a:lnSpc>
                <a:spcPct val="140012"/>
              </a:lnSpc>
              <a:spcBef>
                <a:spcPts val="0"/>
              </a:spcBef>
              <a:spcAft>
                <a:spcPts val="0"/>
              </a:spcAft>
              <a:buClr>
                <a:srgbClr val="000000"/>
              </a:buClr>
              <a:buSzPts val="3144"/>
              <a:buChar char="•"/>
            </a:pPr>
            <a:r>
              <a:rPr i="0" lang="en-US" sz="3144" u="none" cap="none" strike="noStrike">
                <a:solidFill>
                  <a:srgbClr val="000000"/>
                </a:solidFill>
                <a:latin typeface="Montserrat"/>
                <a:ea typeface="Montserrat"/>
                <a:cs typeface="Montserrat"/>
                <a:sym typeface="Montserrat"/>
              </a:rPr>
              <a:t>No son ideales para proyectos donde los requisitos son inciertos o evolucionan constantemente.</a:t>
            </a:r>
            <a:endParaRPr/>
          </a:p>
          <a:p>
            <a:pPr indent="0" lvl="0" marL="0" marR="0" rtl="0" algn="just">
              <a:lnSpc>
                <a:spcPct val="140012"/>
              </a:lnSpc>
              <a:spcBef>
                <a:spcPts val="0"/>
              </a:spcBef>
              <a:spcAft>
                <a:spcPts val="0"/>
              </a:spcAft>
              <a:buNone/>
            </a:pPr>
            <a:r>
              <a:t/>
            </a:r>
            <a:endParaRPr i="0" sz="3144" u="none" cap="none" strike="noStrike">
              <a:solidFill>
                <a:srgbClr val="000000"/>
              </a:solidFill>
              <a:latin typeface="Montserrat"/>
              <a:ea typeface="Montserrat"/>
              <a:cs typeface="Montserrat"/>
              <a:sym typeface="Montserrat"/>
            </a:endParaRPr>
          </a:p>
          <a:p>
            <a:pPr indent="-339468" lvl="1" marL="678935" marR="0" rtl="0" algn="l">
              <a:lnSpc>
                <a:spcPct val="140012"/>
              </a:lnSpc>
              <a:spcBef>
                <a:spcPts val="0"/>
              </a:spcBef>
              <a:spcAft>
                <a:spcPts val="0"/>
              </a:spcAft>
              <a:buClr>
                <a:srgbClr val="000000"/>
              </a:buClr>
              <a:buSzPts val="3144"/>
              <a:buChar char="•"/>
            </a:pPr>
            <a:r>
              <a:rPr i="0" lang="en-US" sz="3144" u="none" cap="none" strike="noStrike">
                <a:solidFill>
                  <a:srgbClr val="000000"/>
                </a:solidFill>
                <a:latin typeface="Montserrat"/>
                <a:ea typeface="Montserrat"/>
                <a:cs typeface="Montserrat"/>
                <a:sym typeface="Montserrat"/>
              </a:rPr>
              <a:t>Al ser secuenciales, pueden requerir mucho tiempo para ver resultados.</a:t>
            </a:r>
            <a:endParaRPr/>
          </a:p>
        </p:txBody>
      </p:sp>
      <p:sp>
        <p:nvSpPr>
          <p:cNvPr id="231" name="Google Shape;231;p12"/>
          <p:cNvSpPr txBox="1"/>
          <p:nvPr/>
        </p:nvSpPr>
        <p:spPr>
          <a:xfrm>
            <a:off x="1173161" y="411842"/>
            <a:ext cx="12432135" cy="2148651"/>
          </a:xfrm>
          <a:prstGeom prst="rect">
            <a:avLst/>
          </a:prstGeom>
          <a:noFill/>
          <a:ln>
            <a:noFill/>
          </a:ln>
        </p:spPr>
        <p:txBody>
          <a:bodyPr anchorCtr="0" anchor="t" bIns="0" lIns="0" spcFirstLastPara="1" rIns="0" wrap="square" tIns="0">
            <a:spAutoFit/>
          </a:bodyPr>
          <a:lstStyle/>
          <a:p>
            <a:pPr indent="0" lvl="0" marL="0" marR="0" rtl="0" algn="l">
              <a:lnSpc>
                <a:spcPct val="140003"/>
              </a:lnSpc>
              <a:spcBef>
                <a:spcPts val="0"/>
              </a:spcBef>
              <a:spcAft>
                <a:spcPts val="0"/>
              </a:spcAft>
              <a:buNone/>
            </a:pPr>
            <a:r>
              <a:rPr b="0" i="0" lang="en-US" sz="6157" u="none" cap="none" strike="noStrike">
                <a:solidFill>
                  <a:srgbClr val="014753"/>
                </a:solidFill>
                <a:latin typeface="Montserrat"/>
                <a:ea typeface="Montserrat"/>
                <a:cs typeface="Montserrat"/>
                <a:sym typeface="Montserrat"/>
              </a:rPr>
              <a:t>Limitaciones de las Metodologías Clásicas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AB4B0"/>
        </a:solidFill>
      </p:bgPr>
    </p:bg>
    <p:spTree>
      <p:nvGrpSpPr>
        <p:cNvPr id="235" name="Shape 235"/>
        <p:cNvGrpSpPr/>
        <p:nvPr/>
      </p:nvGrpSpPr>
      <p:grpSpPr>
        <a:xfrm>
          <a:off x="0" y="0"/>
          <a:ext cx="0" cy="0"/>
          <a:chOff x="0" y="0"/>
          <a:chExt cx="0" cy="0"/>
        </a:xfrm>
      </p:grpSpPr>
      <p:sp>
        <p:nvSpPr>
          <p:cNvPr id="236" name="Google Shape;236;p13"/>
          <p:cNvSpPr/>
          <p:nvPr/>
        </p:nvSpPr>
        <p:spPr>
          <a:xfrm rot="-2700000">
            <a:off x="982217" y="1573873"/>
            <a:ext cx="951210" cy="951210"/>
          </a:xfrm>
          <a:custGeom>
            <a:rect b="b" l="l" r="r" t="t"/>
            <a:pathLst>
              <a:path extrusionOk="0" h="951210" w="951210">
                <a:moveTo>
                  <a:pt x="0" y="0"/>
                </a:moveTo>
                <a:lnTo>
                  <a:pt x="951210" y="0"/>
                </a:lnTo>
                <a:lnTo>
                  <a:pt x="951210" y="951210"/>
                </a:lnTo>
                <a:lnTo>
                  <a:pt x="0" y="951210"/>
                </a:lnTo>
                <a:lnTo>
                  <a:pt x="0" y="0"/>
                </a:lnTo>
                <a:close/>
              </a:path>
            </a:pathLst>
          </a:custGeom>
          <a:blipFill rotWithShape="1">
            <a:blip r:embed="rId3">
              <a:alphaModFix/>
            </a:blip>
            <a:stretch>
              <a:fillRect b="0" l="0" r="0" t="0"/>
            </a:stretch>
          </a:blipFill>
          <a:ln>
            <a:noFill/>
          </a:ln>
        </p:spPr>
      </p:sp>
      <p:grpSp>
        <p:nvGrpSpPr>
          <p:cNvPr id="237" name="Google Shape;237;p13"/>
          <p:cNvGrpSpPr/>
          <p:nvPr/>
        </p:nvGrpSpPr>
        <p:grpSpPr>
          <a:xfrm>
            <a:off x="785215" y="2127726"/>
            <a:ext cx="569313" cy="569313"/>
            <a:chOff x="0" y="0"/>
            <a:chExt cx="812800" cy="812800"/>
          </a:xfrm>
        </p:grpSpPr>
        <p:sp>
          <p:nvSpPr>
            <p:cNvPr id="238" name="Google Shape;238;p13"/>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3"/>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0" name="Google Shape;240;p13"/>
          <p:cNvSpPr/>
          <p:nvPr/>
        </p:nvSpPr>
        <p:spPr>
          <a:xfrm>
            <a:off x="15657932" y="-48838"/>
            <a:ext cx="2630068" cy="2770923"/>
          </a:xfrm>
          <a:custGeom>
            <a:rect b="b" l="l" r="r" t="t"/>
            <a:pathLst>
              <a:path extrusionOk="0" h="2770923" w="2630068">
                <a:moveTo>
                  <a:pt x="0" y="0"/>
                </a:moveTo>
                <a:lnTo>
                  <a:pt x="2630068" y="0"/>
                </a:lnTo>
                <a:lnTo>
                  <a:pt x="2630068" y="2770923"/>
                </a:lnTo>
                <a:lnTo>
                  <a:pt x="0" y="2770923"/>
                </a:lnTo>
                <a:lnTo>
                  <a:pt x="0" y="0"/>
                </a:lnTo>
                <a:close/>
              </a:path>
            </a:pathLst>
          </a:custGeom>
          <a:blipFill rotWithShape="1">
            <a:blip r:embed="rId4">
              <a:alphaModFix/>
            </a:blip>
            <a:stretch>
              <a:fillRect b="0" l="0" r="0" t="0"/>
            </a:stretch>
          </a:blipFill>
          <a:ln>
            <a:noFill/>
          </a:ln>
        </p:spPr>
      </p:sp>
      <p:sp>
        <p:nvSpPr>
          <p:cNvPr id="241" name="Google Shape;241;p13"/>
          <p:cNvSpPr/>
          <p:nvPr/>
        </p:nvSpPr>
        <p:spPr>
          <a:xfrm rot="10800000">
            <a:off x="0" y="7516077"/>
            <a:ext cx="2630068" cy="2770923"/>
          </a:xfrm>
          <a:custGeom>
            <a:rect b="b" l="l" r="r" t="t"/>
            <a:pathLst>
              <a:path extrusionOk="0" h="2770923" w="2630068">
                <a:moveTo>
                  <a:pt x="2630068" y="2770923"/>
                </a:moveTo>
                <a:lnTo>
                  <a:pt x="0" y="2770923"/>
                </a:lnTo>
                <a:lnTo>
                  <a:pt x="0" y="0"/>
                </a:lnTo>
                <a:lnTo>
                  <a:pt x="2630068" y="0"/>
                </a:lnTo>
                <a:lnTo>
                  <a:pt x="2630068" y="2770923"/>
                </a:lnTo>
                <a:close/>
              </a:path>
            </a:pathLst>
          </a:custGeom>
          <a:blipFill rotWithShape="1">
            <a:blip r:embed="rId4">
              <a:alphaModFix/>
            </a:blip>
            <a:stretch>
              <a:fillRect b="0" l="0" r="0" t="0"/>
            </a:stretch>
          </a:blipFill>
          <a:ln>
            <a:noFill/>
          </a:ln>
        </p:spPr>
      </p:sp>
      <p:grpSp>
        <p:nvGrpSpPr>
          <p:cNvPr id="242" name="Google Shape;242;p13"/>
          <p:cNvGrpSpPr/>
          <p:nvPr/>
        </p:nvGrpSpPr>
        <p:grpSpPr>
          <a:xfrm>
            <a:off x="16744950" y="8599289"/>
            <a:ext cx="3086100" cy="1020063"/>
            <a:chOff x="0" y="-38100"/>
            <a:chExt cx="812800" cy="268659"/>
          </a:xfrm>
        </p:grpSpPr>
        <p:sp>
          <p:nvSpPr>
            <p:cNvPr id="243" name="Google Shape;243;p13"/>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1E5A66"/>
            </a:solidFill>
            <a:ln>
              <a:noFill/>
            </a:ln>
          </p:spPr>
        </p:sp>
        <p:sp>
          <p:nvSpPr>
            <p:cNvPr id="244" name="Google Shape;244;p13"/>
            <p:cNvSpPr txBox="1"/>
            <p:nvPr/>
          </p:nvSpPr>
          <p:spPr>
            <a:xfrm>
              <a:off x="0" y="-38100"/>
              <a:ext cx="812800" cy="2686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5" name="Google Shape;245;p13"/>
          <p:cNvSpPr/>
          <p:nvPr/>
        </p:nvSpPr>
        <p:spPr>
          <a:xfrm>
            <a:off x="10314701" y="2127726"/>
            <a:ext cx="7624221" cy="6339194"/>
          </a:xfrm>
          <a:custGeom>
            <a:rect b="b" l="l" r="r" t="t"/>
            <a:pathLst>
              <a:path extrusionOk="0" h="6339194" w="7624221">
                <a:moveTo>
                  <a:pt x="0" y="0"/>
                </a:moveTo>
                <a:lnTo>
                  <a:pt x="7624221" y="0"/>
                </a:lnTo>
                <a:lnTo>
                  <a:pt x="7624221" y="6339194"/>
                </a:lnTo>
                <a:lnTo>
                  <a:pt x="0" y="6339194"/>
                </a:lnTo>
                <a:lnTo>
                  <a:pt x="0" y="0"/>
                </a:lnTo>
                <a:close/>
              </a:path>
            </a:pathLst>
          </a:custGeom>
          <a:blipFill rotWithShape="1">
            <a:blip r:embed="rId5">
              <a:alphaModFix/>
            </a:blip>
            <a:stretch>
              <a:fillRect b="-9381" l="0" r="0" t="-9382"/>
            </a:stretch>
          </a:blipFill>
          <a:ln>
            <a:noFill/>
          </a:ln>
        </p:spPr>
      </p:sp>
      <p:sp>
        <p:nvSpPr>
          <p:cNvPr id="246" name="Google Shape;246;p13"/>
          <p:cNvSpPr txBox="1"/>
          <p:nvPr/>
        </p:nvSpPr>
        <p:spPr>
          <a:xfrm>
            <a:off x="1125567" y="1638372"/>
            <a:ext cx="664510" cy="738347"/>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000000"/>
                </a:solidFill>
                <a:latin typeface="Montserrat"/>
                <a:ea typeface="Montserrat"/>
                <a:cs typeface="Montserrat"/>
                <a:sym typeface="Montserrat"/>
              </a:rPr>
              <a:t>1</a:t>
            </a:r>
            <a:endParaRPr/>
          </a:p>
        </p:txBody>
      </p:sp>
      <p:sp>
        <p:nvSpPr>
          <p:cNvPr id="247" name="Google Shape;247;p13"/>
          <p:cNvSpPr txBox="1"/>
          <p:nvPr/>
        </p:nvSpPr>
        <p:spPr>
          <a:xfrm>
            <a:off x="2130429" y="1647897"/>
            <a:ext cx="8414062" cy="7503119"/>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1" i="0" lang="en-US" sz="3863" u="none" cap="none" strike="noStrike">
                <a:solidFill>
                  <a:srgbClr val="000000"/>
                </a:solidFill>
                <a:latin typeface="Montserrat"/>
                <a:ea typeface="Montserrat"/>
                <a:cs typeface="Montserrat"/>
                <a:sym typeface="Montserrat"/>
              </a:rPr>
              <a:t>Waterfall (Cascada):</a:t>
            </a:r>
            <a:r>
              <a:rPr b="0" i="0" lang="en-US" sz="3863" u="none" cap="none" strike="noStrike">
                <a:solidFill>
                  <a:srgbClr val="000000"/>
                </a:solidFill>
                <a:latin typeface="Montserrat"/>
                <a:ea typeface="Montserrat"/>
                <a:cs typeface="Montserrat"/>
                <a:sym typeface="Montserrat"/>
              </a:rPr>
              <a:t> </a:t>
            </a:r>
            <a:r>
              <a:rPr b="0" i="0" lang="en-US" sz="3863" u="none" cap="none" strike="noStrike">
                <a:solidFill>
                  <a:srgbClr val="F2F2F2"/>
                </a:solidFill>
                <a:latin typeface="Montserrat"/>
                <a:ea typeface="Montserrat"/>
                <a:cs typeface="Montserrat"/>
                <a:sym typeface="Montserrat"/>
              </a:rPr>
              <a:t>Las etapas se organizan de arriba a abajo. Antes de cada etapa se debe revisar el producto para ver si está listo para pasar a la siguiente fase. Los requisitos y especificaciones iniciales no están predispuestos para cambiarse, por lo que no se pueden ver los resultados hasta que el proyecto ya esté bastante avanzado</a:t>
            </a:r>
            <a:endParaRPr/>
          </a:p>
        </p:txBody>
      </p:sp>
      <p:sp>
        <p:nvSpPr>
          <p:cNvPr id="248" name="Google Shape;248;p13"/>
          <p:cNvSpPr txBox="1"/>
          <p:nvPr/>
        </p:nvSpPr>
        <p:spPr>
          <a:xfrm>
            <a:off x="1048021" y="183834"/>
            <a:ext cx="15949054" cy="1062801"/>
          </a:xfrm>
          <a:prstGeom prst="rect">
            <a:avLst/>
          </a:prstGeom>
          <a:noFill/>
          <a:ln>
            <a:noFill/>
          </a:ln>
        </p:spPr>
        <p:txBody>
          <a:bodyPr anchorCtr="0" anchor="t" bIns="0" lIns="0" spcFirstLastPara="1" rIns="0" wrap="square" tIns="0">
            <a:spAutoFit/>
          </a:bodyPr>
          <a:lstStyle/>
          <a:p>
            <a:pPr indent="0" lvl="0" marL="0" marR="0" rtl="0" algn="ctr">
              <a:lnSpc>
                <a:spcPct val="140003"/>
              </a:lnSpc>
              <a:spcBef>
                <a:spcPts val="0"/>
              </a:spcBef>
              <a:spcAft>
                <a:spcPts val="0"/>
              </a:spcAft>
              <a:buNone/>
            </a:pPr>
            <a:r>
              <a:rPr b="0" i="0" lang="en-US" sz="6157" u="none" cap="none" strike="noStrike">
                <a:solidFill>
                  <a:srgbClr val="FFFFFF"/>
                </a:solidFill>
                <a:latin typeface="Montserrat"/>
                <a:ea typeface="Montserrat"/>
                <a:cs typeface="Montserrat"/>
                <a:sym typeface="Montserrat"/>
              </a:rPr>
              <a:t>Metodologías Representativas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AB4B0"/>
        </a:solidFill>
      </p:bgPr>
    </p:bg>
    <p:spTree>
      <p:nvGrpSpPr>
        <p:cNvPr id="252" name="Shape 252"/>
        <p:cNvGrpSpPr/>
        <p:nvPr/>
      </p:nvGrpSpPr>
      <p:grpSpPr>
        <a:xfrm>
          <a:off x="0" y="0"/>
          <a:ext cx="0" cy="0"/>
          <a:chOff x="0" y="0"/>
          <a:chExt cx="0" cy="0"/>
        </a:xfrm>
      </p:grpSpPr>
      <p:sp>
        <p:nvSpPr>
          <p:cNvPr id="253" name="Google Shape;253;p14"/>
          <p:cNvSpPr/>
          <p:nvPr/>
        </p:nvSpPr>
        <p:spPr>
          <a:xfrm rot="-2700000">
            <a:off x="197002" y="197002"/>
            <a:ext cx="951210" cy="951210"/>
          </a:xfrm>
          <a:custGeom>
            <a:rect b="b" l="l" r="r" t="t"/>
            <a:pathLst>
              <a:path extrusionOk="0" h="951210" w="951210">
                <a:moveTo>
                  <a:pt x="0" y="0"/>
                </a:moveTo>
                <a:lnTo>
                  <a:pt x="951210" y="0"/>
                </a:lnTo>
                <a:lnTo>
                  <a:pt x="951210" y="951210"/>
                </a:lnTo>
                <a:lnTo>
                  <a:pt x="0" y="951210"/>
                </a:lnTo>
                <a:lnTo>
                  <a:pt x="0" y="0"/>
                </a:lnTo>
                <a:close/>
              </a:path>
            </a:pathLst>
          </a:custGeom>
          <a:blipFill rotWithShape="1">
            <a:blip r:embed="rId3">
              <a:alphaModFix/>
            </a:blip>
            <a:stretch>
              <a:fillRect b="0" l="0" r="0" t="0"/>
            </a:stretch>
          </a:blipFill>
          <a:ln>
            <a:noFill/>
          </a:ln>
        </p:spPr>
      </p:sp>
      <p:grpSp>
        <p:nvGrpSpPr>
          <p:cNvPr id="254" name="Google Shape;254;p14"/>
          <p:cNvGrpSpPr/>
          <p:nvPr/>
        </p:nvGrpSpPr>
        <p:grpSpPr>
          <a:xfrm>
            <a:off x="0" y="750855"/>
            <a:ext cx="569313" cy="569313"/>
            <a:chOff x="0" y="0"/>
            <a:chExt cx="812800" cy="812800"/>
          </a:xfrm>
        </p:grpSpPr>
        <p:sp>
          <p:nvSpPr>
            <p:cNvPr id="255" name="Google Shape;255;p1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4"/>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7" name="Google Shape;257;p14"/>
          <p:cNvSpPr/>
          <p:nvPr/>
        </p:nvSpPr>
        <p:spPr>
          <a:xfrm>
            <a:off x="15657932" y="-48838"/>
            <a:ext cx="2630068" cy="2770923"/>
          </a:xfrm>
          <a:custGeom>
            <a:rect b="b" l="l" r="r" t="t"/>
            <a:pathLst>
              <a:path extrusionOk="0" h="2770923" w="2630068">
                <a:moveTo>
                  <a:pt x="0" y="0"/>
                </a:moveTo>
                <a:lnTo>
                  <a:pt x="2630068" y="0"/>
                </a:lnTo>
                <a:lnTo>
                  <a:pt x="2630068" y="2770923"/>
                </a:lnTo>
                <a:lnTo>
                  <a:pt x="0" y="2770923"/>
                </a:lnTo>
                <a:lnTo>
                  <a:pt x="0" y="0"/>
                </a:lnTo>
                <a:close/>
              </a:path>
            </a:pathLst>
          </a:custGeom>
          <a:blipFill rotWithShape="1">
            <a:blip r:embed="rId4">
              <a:alphaModFix/>
            </a:blip>
            <a:stretch>
              <a:fillRect b="0" l="0" r="0" t="0"/>
            </a:stretch>
          </a:blipFill>
          <a:ln>
            <a:noFill/>
          </a:ln>
        </p:spPr>
      </p:sp>
      <p:sp>
        <p:nvSpPr>
          <p:cNvPr id="258" name="Google Shape;258;p14"/>
          <p:cNvSpPr/>
          <p:nvPr/>
        </p:nvSpPr>
        <p:spPr>
          <a:xfrm rot="10800000">
            <a:off x="0" y="7516077"/>
            <a:ext cx="2630068" cy="2770923"/>
          </a:xfrm>
          <a:custGeom>
            <a:rect b="b" l="l" r="r" t="t"/>
            <a:pathLst>
              <a:path extrusionOk="0" h="2770923" w="2630068">
                <a:moveTo>
                  <a:pt x="2630068" y="2770923"/>
                </a:moveTo>
                <a:lnTo>
                  <a:pt x="0" y="2770923"/>
                </a:lnTo>
                <a:lnTo>
                  <a:pt x="0" y="0"/>
                </a:lnTo>
                <a:lnTo>
                  <a:pt x="2630068" y="0"/>
                </a:lnTo>
                <a:lnTo>
                  <a:pt x="2630068" y="2770923"/>
                </a:lnTo>
                <a:close/>
              </a:path>
            </a:pathLst>
          </a:custGeom>
          <a:blipFill rotWithShape="1">
            <a:blip r:embed="rId4">
              <a:alphaModFix/>
            </a:blip>
            <a:stretch>
              <a:fillRect b="0" l="0" r="0" t="0"/>
            </a:stretch>
          </a:blipFill>
          <a:ln>
            <a:noFill/>
          </a:ln>
        </p:spPr>
      </p:sp>
      <p:grpSp>
        <p:nvGrpSpPr>
          <p:cNvPr id="259" name="Google Shape;259;p14"/>
          <p:cNvGrpSpPr/>
          <p:nvPr/>
        </p:nvGrpSpPr>
        <p:grpSpPr>
          <a:xfrm>
            <a:off x="16744950" y="8599289"/>
            <a:ext cx="3086100" cy="1020063"/>
            <a:chOff x="0" y="-38100"/>
            <a:chExt cx="812800" cy="268659"/>
          </a:xfrm>
        </p:grpSpPr>
        <p:sp>
          <p:nvSpPr>
            <p:cNvPr id="260" name="Google Shape;260;p14"/>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1E5A66"/>
            </a:solidFill>
            <a:ln>
              <a:noFill/>
            </a:ln>
          </p:spPr>
        </p:sp>
        <p:sp>
          <p:nvSpPr>
            <p:cNvPr id="261" name="Google Shape;261;p14"/>
            <p:cNvSpPr txBox="1"/>
            <p:nvPr/>
          </p:nvSpPr>
          <p:spPr>
            <a:xfrm>
              <a:off x="0" y="-38100"/>
              <a:ext cx="812800" cy="2686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62" name="Google Shape;262;p14"/>
          <p:cNvSpPr/>
          <p:nvPr/>
        </p:nvSpPr>
        <p:spPr>
          <a:xfrm>
            <a:off x="2630068" y="3404182"/>
            <a:ext cx="12266136" cy="2869892"/>
          </a:xfrm>
          <a:custGeom>
            <a:rect b="b" l="l" r="r" t="t"/>
            <a:pathLst>
              <a:path extrusionOk="0" h="2869892" w="12266136">
                <a:moveTo>
                  <a:pt x="0" y="0"/>
                </a:moveTo>
                <a:lnTo>
                  <a:pt x="12266136" y="0"/>
                </a:lnTo>
                <a:lnTo>
                  <a:pt x="12266136" y="2869893"/>
                </a:lnTo>
                <a:lnTo>
                  <a:pt x="0" y="2869893"/>
                </a:lnTo>
                <a:lnTo>
                  <a:pt x="0" y="0"/>
                </a:lnTo>
                <a:close/>
              </a:path>
            </a:pathLst>
          </a:custGeom>
          <a:blipFill rotWithShape="1">
            <a:blip r:embed="rId5">
              <a:alphaModFix/>
            </a:blip>
            <a:stretch>
              <a:fillRect b="-5147" l="0" r="0" t="-5148"/>
            </a:stretch>
          </a:blipFill>
          <a:ln>
            <a:noFill/>
          </a:ln>
        </p:spPr>
      </p:sp>
      <p:sp>
        <p:nvSpPr>
          <p:cNvPr id="263" name="Google Shape;263;p14"/>
          <p:cNvSpPr/>
          <p:nvPr/>
        </p:nvSpPr>
        <p:spPr>
          <a:xfrm>
            <a:off x="2630068" y="6274075"/>
            <a:ext cx="12266136" cy="3891332"/>
          </a:xfrm>
          <a:custGeom>
            <a:rect b="b" l="l" r="r" t="t"/>
            <a:pathLst>
              <a:path extrusionOk="0" h="3891332" w="12266136">
                <a:moveTo>
                  <a:pt x="0" y="0"/>
                </a:moveTo>
                <a:lnTo>
                  <a:pt x="12266136" y="0"/>
                </a:lnTo>
                <a:lnTo>
                  <a:pt x="12266136" y="3891332"/>
                </a:lnTo>
                <a:lnTo>
                  <a:pt x="0" y="3891332"/>
                </a:lnTo>
                <a:lnTo>
                  <a:pt x="0" y="0"/>
                </a:lnTo>
                <a:close/>
              </a:path>
            </a:pathLst>
          </a:custGeom>
          <a:blipFill rotWithShape="1">
            <a:blip r:embed="rId6">
              <a:alphaModFix/>
            </a:blip>
            <a:stretch>
              <a:fillRect b="-433" l="0" r="0" t="-433"/>
            </a:stretch>
          </a:blipFill>
          <a:ln>
            <a:noFill/>
          </a:ln>
        </p:spPr>
      </p:sp>
      <p:sp>
        <p:nvSpPr>
          <p:cNvPr id="264" name="Google Shape;264;p14"/>
          <p:cNvSpPr txBox="1"/>
          <p:nvPr/>
        </p:nvSpPr>
        <p:spPr>
          <a:xfrm>
            <a:off x="340352" y="261500"/>
            <a:ext cx="664510" cy="738347"/>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000000"/>
                </a:solidFill>
                <a:latin typeface="Montserrat"/>
                <a:ea typeface="Montserrat"/>
                <a:cs typeface="Montserrat"/>
                <a:sym typeface="Montserrat"/>
              </a:rPr>
              <a:t>2</a:t>
            </a:r>
            <a:endParaRPr/>
          </a:p>
        </p:txBody>
      </p:sp>
      <p:sp>
        <p:nvSpPr>
          <p:cNvPr id="265" name="Google Shape;265;p14"/>
          <p:cNvSpPr txBox="1"/>
          <p:nvPr/>
        </p:nvSpPr>
        <p:spPr>
          <a:xfrm>
            <a:off x="1315034" y="-66675"/>
            <a:ext cx="15139539" cy="2933946"/>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365" u="none" cap="none" strike="noStrike">
                <a:solidFill>
                  <a:srgbClr val="000000"/>
                </a:solidFill>
                <a:latin typeface="Montserrat"/>
                <a:ea typeface="Montserrat"/>
                <a:cs typeface="Montserrat"/>
                <a:sym typeface="Montserrat"/>
              </a:rPr>
              <a:t>Incremental:</a:t>
            </a:r>
            <a:r>
              <a:rPr b="0" i="0" lang="en-US" sz="3365" u="none" cap="none" strike="noStrike">
                <a:solidFill>
                  <a:srgbClr val="000000"/>
                </a:solidFill>
                <a:latin typeface="Montserrat"/>
                <a:ea typeface="Montserrat"/>
                <a:cs typeface="Montserrat"/>
                <a:sym typeface="Montserrat"/>
              </a:rPr>
              <a:t> </a:t>
            </a:r>
            <a:r>
              <a:rPr b="0" i="0" lang="en-US" sz="3365" u="none" cap="none" strike="noStrike">
                <a:solidFill>
                  <a:srgbClr val="F2F2F2"/>
                </a:solidFill>
                <a:latin typeface="Montserrat"/>
                <a:ea typeface="Montserrat"/>
                <a:cs typeface="Montserrat"/>
                <a:sym typeface="Montserrat"/>
              </a:rPr>
              <a:t>Todos los requerimientos se dividen en varias compilaciones. Se producen varios ciclos de desarrollo, por lo que podríamos llamar a este ciclo "multi cascada". Los ciclos se dividen en módulos más pequeños y más fáciles de gestionar. Cada módulo pasa por las fases de requerimientos, diseño, implementación y pruebas.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AB4B0"/>
        </a:solidFill>
      </p:bgPr>
    </p:bg>
    <p:spTree>
      <p:nvGrpSpPr>
        <p:cNvPr id="269" name="Shape 269"/>
        <p:cNvGrpSpPr/>
        <p:nvPr/>
      </p:nvGrpSpPr>
      <p:grpSpPr>
        <a:xfrm>
          <a:off x="0" y="0"/>
          <a:ext cx="0" cy="0"/>
          <a:chOff x="0" y="0"/>
          <a:chExt cx="0" cy="0"/>
        </a:xfrm>
      </p:grpSpPr>
      <p:sp>
        <p:nvSpPr>
          <p:cNvPr id="270" name="Google Shape;270;p15"/>
          <p:cNvSpPr/>
          <p:nvPr/>
        </p:nvSpPr>
        <p:spPr>
          <a:xfrm rot="-2700000">
            <a:off x="839429" y="861018"/>
            <a:ext cx="951210" cy="951210"/>
          </a:xfrm>
          <a:custGeom>
            <a:rect b="b" l="l" r="r" t="t"/>
            <a:pathLst>
              <a:path extrusionOk="0" h="951210" w="951210">
                <a:moveTo>
                  <a:pt x="0" y="0"/>
                </a:moveTo>
                <a:lnTo>
                  <a:pt x="951210" y="0"/>
                </a:lnTo>
                <a:lnTo>
                  <a:pt x="951210" y="951210"/>
                </a:lnTo>
                <a:lnTo>
                  <a:pt x="0" y="951210"/>
                </a:lnTo>
                <a:lnTo>
                  <a:pt x="0" y="0"/>
                </a:lnTo>
                <a:close/>
              </a:path>
            </a:pathLst>
          </a:custGeom>
          <a:blipFill rotWithShape="1">
            <a:blip r:embed="rId3">
              <a:alphaModFix/>
            </a:blip>
            <a:stretch>
              <a:fillRect b="0" l="0" r="0" t="0"/>
            </a:stretch>
          </a:blipFill>
          <a:ln>
            <a:noFill/>
          </a:ln>
        </p:spPr>
      </p:sp>
      <p:grpSp>
        <p:nvGrpSpPr>
          <p:cNvPr id="271" name="Google Shape;271;p15"/>
          <p:cNvGrpSpPr/>
          <p:nvPr/>
        </p:nvGrpSpPr>
        <p:grpSpPr>
          <a:xfrm>
            <a:off x="642427" y="1414871"/>
            <a:ext cx="569313" cy="569313"/>
            <a:chOff x="0" y="0"/>
            <a:chExt cx="812800" cy="812800"/>
          </a:xfrm>
        </p:grpSpPr>
        <p:sp>
          <p:nvSpPr>
            <p:cNvPr id="272" name="Google Shape;272;p15"/>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15"/>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4" name="Google Shape;274;p15"/>
          <p:cNvSpPr/>
          <p:nvPr/>
        </p:nvSpPr>
        <p:spPr>
          <a:xfrm>
            <a:off x="15657932" y="-48838"/>
            <a:ext cx="2630068" cy="2770923"/>
          </a:xfrm>
          <a:custGeom>
            <a:rect b="b" l="l" r="r" t="t"/>
            <a:pathLst>
              <a:path extrusionOk="0" h="2770923" w="2630068">
                <a:moveTo>
                  <a:pt x="0" y="0"/>
                </a:moveTo>
                <a:lnTo>
                  <a:pt x="2630068" y="0"/>
                </a:lnTo>
                <a:lnTo>
                  <a:pt x="2630068" y="2770923"/>
                </a:lnTo>
                <a:lnTo>
                  <a:pt x="0" y="2770923"/>
                </a:lnTo>
                <a:lnTo>
                  <a:pt x="0" y="0"/>
                </a:lnTo>
                <a:close/>
              </a:path>
            </a:pathLst>
          </a:custGeom>
          <a:blipFill rotWithShape="1">
            <a:blip r:embed="rId4">
              <a:alphaModFix/>
            </a:blip>
            <a:stretch>
              <a:fillRect b="0" l="0" r="0" t="0"/>
            </a:stretch>
          </a:blipFill>
          <a:ln>
            <a:noFill/>
          </a:ln>
        </p:spPr>
      </p:sp>
      <p:sp>
        <p:nvSpPr>
          <p:cNvPr id="275" name="Google Shape;275;p15"/>
          <p:cNvSpPr/>
          <p:nvPr/>
        </p:nvSpPr>
        <p:spPr>
          <a:xfrm rot="10800000">
            <a:off x="0" y="7516077"/>
            <a:ext cx="2630068" cy="2770923"/>
          </a:xfrm>
          <a:custGeom>
            <a:rect b="b" l="l" r="r" t="t"/>
            <a:pathLst>
              <a:path extrusionOk="0" h="2770923" w="2630068">
                <a:moveTo>
                  <a:pt x="2630068" y="2770923"/>
                </a:moveTo>
                <a:lnTo>
                  <a:pt x="0" y="2770923"/>
                </a:lnTo>
                <a:lnTo>
                  <a:pt x="0" y="0"/>
                </a:lnTo>
                <a:lnTo>
                  <a:pt x="2630068" y="0"/>
                </a:lnTo>
                <a:lnTo>
                  <a:pt x="2630068" y="2770923"/>
                </a:lnTo>
                <a:close/>
              </a:path>
            </a:pathLst>
          </a:custGeom>
          <a:blipFill rotWithShape="1">
            <a:blip r:embed="rId4">
              <a:alphaModFix/>
            </a:blip>
            <a:stretch>
              <a:fillRect b="0" l="0" r="0" t="0"/>
            </a:stretch>
          </a:blipFill>
          <a:ln>
            <a:noFill/>
          </a:ln>
        </p:spPr>
      </p:sp>
      <p:grpSp>
        <p:nvGrpSpPr>
          <p:cNvPr id="276" name="Google Shape;276;p15"/>
          <p:cNvGrpSpPr/>
          <p:nvPr/>
        </p:nvGrpSpPr>
        <p:grpSpPr>
          <a:xfrm>
            <a:off x="16744950" y="8599289"/>
            <a:ext cx="3086100" cy="1020063"/>
            <a:chOff x="0" y="-38100"/>
            <a:chExt cx="812800" cy="268659"/>
          </a:xfrm>
        </p:grpSpPr>
        <p:sp>
          <p:nvSpPr>
            <p:cNvPr id="277" name="Google Shape;277;p15"/>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1E5A66"/>
            </a:solidFill>
            <a:ln>
              <a:noFill/>
            </a:ln>
          </p:spPr>
        </p:sp>
        <p:sp>
          <p:nvSpPr>
            <p:cNvPr id="278" name="Google Shape;278;p15"/>
            <p:cNvSpPr txBox="1"/>
            <p:nvPr/>
          </p:nvSpPr>
          <p:spPr>
            <a:xfrm>
              <a:off x="0" y="-38100"/>
              <a:ext cx="812800" cy="2686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9" name="Google Shape;279;p15"/>
          <p:cNvSpPr/>
          <p:nvPr/>
        </p:nvSpPr>
        <p:spPr>
          <a:xfrm>
            <a:off x="9651385" y="664016"/>
            <a:ext cx="8636615" cy="7503060"/>
          </a:xfrm>
          <a:custGeom>
            <a:rect b="b" l="l" r="r" t="t"/>
            <a:pathLst>
              <a:path extrusionOk="0" h="7503060" w="8636615">
                <a:moveTo>
                  <a:pt x="0" y="0"/>
                </a:moveTo>
                <a:lnTo>
                  <a:pt x="8636615" y="0"/>
                </a:lnTo>
                <a:lnTo>
                  <a:pt x="8636615" y="7503060"/>
                </a:lnTo>
                <a:lnTo>
                  <a:pt x="0" y="7503060"/>
                </a:lnTo>
                <a:lnTo>
                  <a:pt x="0" y="0"/>
                </a:lnTo>
                <a:close/>
              </a:path>
            </a:pathLst>
          </a:custGeom>
          <a:blipFill rotWithShape="1">
            <a:blip r:embed="rId5">
              <a:alphaModFix/>
            </a:blip>
            <a:stretch>
              <a:fillRect b="0" l="0" r="0" t="0"/>
            </a:stretch>
          </a:blipFill>
          <a:ln>
            <a:noFill/>
          </a:ln>
        </p:spPr>
      </p:sp>
      <p:sp>
        <p:nvSpPr>
          <p:cNvPr id="280" name="Google Shape;280;p15"/>
          <p:cNvSpPr txBox="1"/>
          <p:nvPr/>
        </p:nvSpPr>
        <p:spPr>
          <a:xfrm>
            <a:off x="982779" y="925517"/>
            <a:ext cx="664510" cy="738347"/>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000000"/>
                </a:solidFill>
                <a:latin typeface="Montserrat"/>
                <a:ea typeface="Montserrat"/>
                <a:cs typeface="Montserrat"/>
                <a:sym typeface="Montserrat"/>
              </a:rPr>
              <a:t>3</a:t>
            </a:r>
            <a:endParaRPr/>
          </a:p>
        </p:txBody>
      </p:sp>
      <p:sp>
        <p:nvSpPr>
          <p:cNvPr id="281" name="Google Shape;281;p15"/>
          <p:cNvSpPr txBox="1"/>
          <p:nvPr/>
        </p:nvSpPr>
        <p:spPr>
          <a:xfrm>
            <a:off x="2119761" y="597341"/>
            <a:ext cx="7399500" cy="9649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3265" u="none" cap="none" strike="noStrike">
                <a:solidFill>
                  <a:srgbClr val="000000"/>
                </a:solidFill>
                <a:latin typeface="Montserrat"/>
                <a:ea typeface="Montserrat"/>
                <a:cs typeface="Montserrat"/>
                <a:sym typeface="Montserrat"/>
              </a:rPr>
              <a:t>Espiral:</a:t>
            </a:r>
            <a:r>
              <a:rPr b="0" i="0" lang="en-US" sz="3265" u="none" cap="none" strike="noStrike">
                <a:solidFill>
                  <a:srgbClr val="000000"/>
                </a:solidFill>
                <a:latin typeface="Montserrat"/>
                <a:ea typeface="Montserrat"/>
                <a:cs typeface="Montserrat"/>
                <a:sym typeface="Montserrat"/>
              </a:rPr>
              <a:t> </a:t>
            </a:r>
            <a:r>
              <a:rPr b="0" i="0" lang="en-US" sz="3265" u="none" cap="none" strike="noStrike">
                <a:solidFill>
                  <a:srgbClr val="F2F2F2"/>
                </a:solidFill>
                <a:latin typeface="Montserrat"/>
                <a:ea typeface="Montserrat"/>
                <a:cs typeface="Montserrat"/>
                <a:sym typeface="Montserrat"/>
              </a:rPr>
              <a:t>El modelo espiral es similar al modelo incremental, con mayor énfasis en el análisis de riesgo. El modelo espiral tiene cuatro fases: Planificación, Análisis de Riesgos, Implementación y Evaluación. Un proyecto pasa repetidamente por estas fases en iteraciones (llamadas espirales, que es de donde este modelo toma su nombre). En la espiral inicial, se recopilan los requisitos y se evalúa el riesgo. Cada espiral posterior se basa en la espiral base.</a:t>
            </a:r>
            <a:endParaRPr sz="13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3AB4B0"/>
        </a:solidFill>
      </p:bgPr>
    </p:bg>
    <p:spTree>
      <p:nvGrpSpPr>
        <p:cNvPr id="285" name="Shape 285"/>
        <p:cNvGrpSpPr/>
        <p:nvPr/>
      </p:nvGrpSpPr>
      <p:grpSpPr>
        <a:xfrm>
          <a:off x="0" y="0"/>
          <a:ext cx="0" cy="0"/>
          <a:chOff x="0" y="0"/>
          <a:chExt cx="0" cy="0"/>
        </a:xfrm>
      </p:grpSpPr>
      <p:sp>
        <p:nvSpPr>
          <p:cNvPr id="286" name="Google Shape;286;p16"/>
          <p:cNvSpPr/>
          <p:nvPr/>
        </p:nvSpPr>
        <p:spPr>
          <a:xfrm rot="-2700000">
            <a:off x="1821958" y="835972"/>
            <a:ext cx="951210" cy="951210"/>
          </a:xfrm>
          <a:custGeom>
            <a:rect b="b" l="l" r="r" t="t"/>
            <a:pathLst>
              <a:path extrusionOk="0" h="951210" w="951210">
                <a:moveTo>
                  <a:pt x="0" y="0"/>
                </a:moveTo>
                <a:lnTo>
                  <a:pt x="951210" y="0"/>
                </a:lnTo>
                <a:lnTo>
                  <a:pt x="951210" y="951209"/>
                </a:lnTo>
                <a:lnTo>
                  <a:pt x="0" y="951209"/>
                </a:lnTo>
                <a:lnTo>
                  <a:pt x="0" y="0"/>
                </a:lnTo>
                <a:close/>
              </a:path>
            </a:pathLst>
          </a:custGeom>
          <a:blipFill rotWithShape="1">
            <a:blip r:embed="rId3">
              <a:alphaModFix/>
            </a:blip>
            <a:stretch>
              <a:fillRect b="0" l="0" r="0" t="0"/>
            </a:stretch>
          </a:blipFill>
          <a:ln>
            <a:noFill/>
          </a:ln>
        </p:spPr>
      </p:sp>
      <p:grpSp>
        <p:nvGrpSpPr>
          <p:cNvPr id="287" name="Google Shape;287;p16"/>
          <p:cNvGrpSpPr/>
          <p:nvPr/>
        </p:nvGrpSpPr>
        <p:grpSpPr>
          <a:xfrm>
            <a:off x="1624956" y="1389824"/>
            <a:ext cx="569313" cy="569313"/>
            <a:chOff x="0" y="0"/>
            <a:chExt cx="812800" cy="812800"/>
          </a:xfrm>
        </p:grpSpPr>
        <p:sp>
          <p:nvSpPr>
            <p:cNvPr id="288" name="Google Shape;288;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0" name="Google Shape;290;p16"/>
          <p:cNvSpPr/>
          <p:nvPr/>
        </p:nvSpPr>
        <p:spPr>
          <a:xfrm>
            <a:off x="15657932" y="-48838"/>
            <a:ext cx="2630068" cy="2770923"/>
          </a:xfrm>
          <a:custGeom>
            <a:rect b="b" l="l" r="r" t="t"/>
            <a:pathLst>
              <a:path extrusionOk="0" h="2770923" w="2630068">
                <a:moveTo>
                  <a:pt x="0" y="0"/>
                </a:moveTo>
                <a:lnTo>
                  <a:pt x="2630068" y="0"/>
                </a:lnTo>
                <a:lnTo>
                  <a:pt x="2630068" y="2770923"/>
                </a:lnTo>
                <a:lnTo>
                  <a:pt x="0" y="2770923"/>
                </a:lnTo>
                <a:lnTo>
                  <a:pt x="0" y="0"/>
                </a:lnTo>
                <a:close/>
              </a:path>
            </a:pathLst>
          </a:custGeom>
          <a:blipFill rotWithShape="1">
            <a:blip r:embed="rId4">
              <a:alphaModFix/>
            </a:blip>
            <a:stretch>
              <a:fillRect b="0" l="0" r="0" t="0"/>
            </a:stretch>
          </a:blipFill>
          <a:ln>
            <a:noFill/>
          </a:ln>
        </p:spPr>
      </p:sp>
      <p:sp>
        <p:nvSpPr>
          <p:cNvPr id="291" name="Google Shape;291;p16"/>
          <p:cNvSpPr/>
          <p:nvPr/>
        </p:nvSpPr>
        <p:spPr>
          <a:xfrm rot="10800000">
            <a:off x="0" y="7516077"/>
            <a:ext cx="2630068" cy="2770923"/>
          </a:xfrm>
          <a:custGeom>
            <a:rect b="b" l="l" r="r" t="t"/>
            <a:pathLst>
              <a:path extrusionOk="0" h="2770923" w="2630068">
                <a:moveTo>
                  <a:pt x="2630068" y="2770923"/>
                </a:moveTo>
                <a:lnTo>
                  <a:pt x="0" y="2770923"/>
                </a:lnTo>
                <a:lnTo>
                  <a:pt x="0" y="0"/>
                </a:lnTo>
                <a:lnTo>
                  <a:pt x="2630068" y="0"/>
                </a:lnTo>
                <a:lnTo>
                  <a:pt x="2630068" y="2770923"/>
                </a:lnTo>
                <a:close/>
              </a:path>
            </a:pathLst>
          </a:custGeom>
          <a:blipFill rotWithShape="1">
            <a:blip r:embed="rId4">
              <a:alphaModFix/>
            </a:blip>
            <a:stretch>
              <a:fillRect b="0" l="0" r="0" t="0"/>
            </a:stretch>
          </a:blipFill>
          <a:ln>
            <a:noFill/>
          </a:ln>
        </p:spPr>
      </p:sp>
      <p:grpSp>
        <p:nvGrpSpPr>
          <p:cNvPr id="292" name="Google Shape;292;p16"/>
          <p:cNvGrpSpPr/>
          <p:nvPr/>
        </p:nvGrpSpPr>
        <p:grpSpPr>
          <a:xfrm>
            <a:off x="16744950" y="8599289"/>
            <a:ext cx="3086100" cy="1020063"/>
            <a:chOff x="0" y="-38100"/>
            <a:chExt cx="812800" cy="268659"/>
          </a:xfrm>
        </p:grpSpPr>
        <p:sp>
          <p:nvSpPr>
            <p:cNvPr id="293" name="Google Shape;293;p16"/>
            <p:cNvSpPr/>
            <p:nvPr/>
          </p:nvSpPr>
          <p:spPr>
            <a:xfrm>
              <a:off x="0" y="0"/>
              <a:ext cx="812800" cy="230559"/>
            </a:xfrm>
            <a:custGeom>
              <a:rect b="b" l="l" r="r" t="t"/>
              <a:pathLst>
                <a:path extrusionOk="0" h="230559" w="812800">
                  <a:moveTo>
                    <a:pt x="0" y="0"/>
                  </a:moveTo>
                  <a:lnTo>
                    <a:pt x="812800" y="0"/>
                  </a:lnTo>
                  <a:lnTo>
                    <a:pt x="812800" y="230559"/>
                  </a:lnTo>
                  <a:lnTo>
                    <a:pt x="0" y="230559"/>
                  </a:lnTo>
                  <a:close/>
                </a:path>
              </a:pathLst>
            </a:custGeom>
            <a:solidFill>
              <a:srgbClr val="1E5A66"/>
            </a:solidFill>
            <a:ln>
              <a:noFill/>
            </a:ln>
          </p:spPr>
        </p:sp>
        <p:sp>
          <p:nvSpPr>
            <p:cNvPr id="294" name="Google Shape;294;p16"/>
            <p:cNvSpPr txBox="1"/>
            <p:nvPr/>
          </p:nvSpPr>
          <p:spPr>
            <a:xfrm>
              <a:off x="0" y="-38100"/>
              <a:ext cx="812800" cy="268659"/>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5" name="Google Shape;295;p16"/>
          <p:cNvSpPr txBox="1"/>
          <p:nvPr/>
        </p:nvSpPr>
        <p:spPr>
          <a:xfrm>
            <a:off x="1965308" y="900470"/>
            <a:ext cx="664510" cy="738347"/>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000000"/>
                </a:solidFill>
                <a:latin typeface="Montserrat"/>
                <a:ea typeface="Montserrat"/>
                <a:cs typeface="Montserrat"/>
                <a:sym typeface="Montserrat"/>
              </a:rPr>
              <a:t>4</a:t>
            </a:r>
            <a:endParaRPr/>
          </a:p>
        </p:txBody>
      </p:sp>
      <p:sp>
        <p:nvSpPr>
          <p:cNvPr id="296" name="Google Shape;296;p16"/>
          <p:cNvSpPr txBox="1"/>
          <p:nvPr/>
        </p:nvSpPr>
        <p:spPr>
          <a:xfrm>
            <a:off x="2970170" y="927453"/>
            <a:ext cx="4386415" cy="703826"/>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165" u="none" cap="none" strike="noStrike">
                <a:solidFill>
                  <a:srgbClr val="000000"/>
                </a:solidFill>
                <a:latin typeface="Montserrat"/>
                <a:ea typeface="Montserrat"/>
                <a:cs typeface="Montserrat"/>
                <a:sym typeface="Montserrat"/>
              </a:rPr>
              <a:t>PROTOTIPADO</a:t>
            </a:r>
            <a:endParaRPr/>
          </a:p>
        </p:txBody>
      </p:sp>
      <p:sp>
        <p:nvSpPr>
          <p:cNvPr id="297" name="Google Shape;297;p16"/>
          <p:cNvSpPr/>
          <p:nvPr/>
        </p:nvSpPr>
        <p:spPr>
          <a:xfrm rot="-2700000">
            <a:off x="10123305" y="835972"/>
            <a:ext cx="951210" cy="951210"/>
          </a:xfrm>
          <a:custGeom>
            <a:rect b="b" l="l" r="r" t="t"/>
            <a:pathLst>
              <a:path extrusionOk="0" h="951210" w="951210">
                <a:moveTo>
                  <a:pt x="0" y="0"/>
                </a:moveTo>
                <a:lnTo>
                  <a:pt x="951210" y="0"/>
                </a:lnTo>
                <a:lnTo>
                  <a:pt x="951210" y="951209"/>
                </a:lnTo>
                <a:lnTo>
                  <a:pt x="0" y="951209"/>
                </a:lnTo>
                <a:lnTo>
                  <a:pt x="0" y="0"/>
                </a:lnTo>
                <a:close/>
              </a:path>
            </a:pathLst>
          </a:custGeom>
          <a:blipFill rotWithShape="1">
            <a:blip r:embed="rId3">
              <a:alphaModFix/>
            </a:blip>
            <a:stretch>
              <a:fillRect b="0" l="0" r="0" t="0"/>
            </a:stretch>
          </a:blipFill>
          <a:ln>
            <a:noFill/>
          </a:ln>
        </p:spPr>
      </p:sp>
      <p:grpSp>
        <p:nvGrpSpPr>
          <p:cNvPr id="298" name="Google Shape;298;p16"/>
          <p:cNvGrpSpPr/>
          <p:nvPr/>
        </p:nvGrpSpPr>
        <p:grpSpPr>
          <a:xfrm>
            <a:off x="9926303" y="1389824"/>
            <a:ext cx="569313" cy="569313"/>
            <a:chOff x="0" y="0"/>
            <a:chExt cx="812800" cy="812800"/>
          </a:xfrm>
        </p:grpSpPr>
        <p:sp>
          <p:nvSpPr>
            <p:cNvPr id="299" name="Google Shape;299;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1" name="Google Shape;301;p16"/>
          <p:cNvSpPr txBox="1"/>
          <p:nvPr/>
        </p:nvSpPr>
        <p:spPr>
          <a:xfrm>
            <a:off x="10266655" y="900470"/>
            <a:ext cx="664510" cy="738347"/>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000000"/>
                </a:solidFill>
                <a:latin typeface="Montserrat"/>
                <a:ea typeface="Montserrat"/>
                <a:cs typeface="Montserrat"/>
                <a:sym typeface="Montserrat"/>
              </a:rPr>
              <a:t>5</a:t>
            </a:r>
            <a:endParaRPr/>
          </a:p>
        </p:txBody>
      </p:sp>
      <p:sp>
        <p:nvSpPr>
          <p:cNvPr id="302" name="Google Shape;302;p16"/>
          <p:cNvSpPr txBox="1"/>
          <p:nvPr/>
        </p:nvSpPr>
        <p:spPr>
          <a:xfrm>
            <a:off x="11271517" y="927453"/>
            <a:ext cx="4386415" cy="703826"/>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165" u="none" cap="none" strike="noStrike">
                <a:solidFill>
                  <a:srgbClr val="000000"/>
                </a:solidFill>
                <a:latin typeface="Montserrat"/>
                <a:ea typeface="Montserrat"/>
                <a:cs typeface="Montserrat"/>
                <a:sym typeface="Montserrat"/>
              </a:rPr>
              <a:t>MODELO V</a:t>
            </a:r>
            <a:endParaRPr/>
          </a:p>
        </p:txBody>
      </p:sp>
      <p:sp>
        <p:nvSpPr>
          <p:cNvPr id="303" name="Google Shape;303;p16"/>
          <p:cNvSpPr/>
          <p:nvPr/>
        </p:nvSpPr>
        <p:spPr>
          <a:xfrm rot="-2700000">
            <a:off x="1821958" y="4274525"/>
            <a:ext cx="951210" cy="951210"/>
          </a:xfrm>
          <a:custGeom>
            <a:rect b="b" l="l" r="r" t="t"/>
            <a:pathLst>
              <a:path extrusionOk="0" h="951210" w="951210">
                <a:moveTo>
                  <a:pt x="0" y="0"/>
                </a:moveTo>
                <a:lnTo>
                  <a:pt x="951210" y="0"/>
                </a:lnTo>
                <a:lnTo>
                  <a:pt x="951210" y="951210"/>
                </a:lnTo>
                <a:lnTo>
                  <a:pt x="0" y="951210"/>
                </a:lnTo>
                <a:lnTo>
                  <a:pt x="0" y="0"/>
                </a:lnTo>
                <a:close/>
              </a:path>
            </a:pathLst>
          </a:custGeom>
          <a:blipFill rotWithShape="1">
            <a:blip r:embed="rId3">
              <a:alphaModFix/>
            </a:blip>
            <a:stretch>
              <a:fillRect b="0" l="0" r="0" t="0"/>
            </a:stretch>
          </a:blipFill>
          <a:ln>
            <a:noFill/>
          </a:ln>
        </p:spPr>
      </p:sp>
      <p:grpSp>
        <p:nvGrpSpPr>
          <p:cNvPr id="304" name="Google Shape;304;p16"/>
          <p:cNvGrpSpPr/>
          <p:nvPr/>
        </p:nvGrpSpPr>
        <p:grpSpPr>
          <a:xfrm>
            <a:off x="1624956" y="4828378"/>
            <a:ext cx="569313" cy="569313"/>
            <a:chOff x="0" y="0"/>
            <a:chExt cx="812800" cy="812800"/>
          </a:xfrm>
        </p:grpSpPr>
        <p:sp>
          <p:nvSpPr>
            <p:cNvPr id="305" name="Google Shape;305;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7" name="Google Shape;307;p16"/>
          <p:cNvSpPr txBox="1"/>
          <p:nvPr/>
        </p:nvSpPr>
        <p:spPr>
          <a:xfrm>
            <a:off x="1965308" y="4339024"/>
            <a:ext cx="664510" cy="738347"/>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000000"/>
                </a:solidFill>
                <a:latin typeface="Montserrat"/>
                <a:ea typeface="Montserrat"/>
                <a:cs typeface="Montserrat"/>
                <a:sym typeface="Montserrat"/>
              </a:rPr>
              <a:t>6</a:t>
            </a:r>
            <a:endParaRPr/>
          </a:p>
        </p:txBody>
      </p:sp>
      <p:sp>
        <p:nvSpPr>
          <p:cNvPr id="308" name="Google Shape;308;p16"/>
          <p:cNvSpPr txBox="1"/>
          <p:nvPr/>
        </p:nvSpPr>
        <p:spPr>
          <a:xfrm>
            <a:off x="2970170" y="4366007"/>
            <a:ext cx="4058906" cy="2904101"/>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165" u="none" cap="none" strike="noStrike">
                <a:solidFill>
                  <a:srgbClr val="000000"/>
                </a:solidFill>
                <a:latin typeface="Montserrat"/>
                <a:ea typeface="Montserrat"/>
                <a:cs typeface="Montserrat"/>
                <a:sym typeface="Montserrat"/>
              </a:rPr>
              <a:t>MODELO RAD (Rapid Application Development)</a:t>
            </a:r>
            <a:endParaRPr/>
          </a:p>
        </p:txBody>
      </p:sp>
      <p:sp>
        <p:nvSpPr>
          <p:cNvPr id="309" name="Google Shape;309;p16"/>
          <p:cNvSpPr/>
          <p:nvPr/>
        </p:nvSpPr>
        <p:spPr>
          <a:xfrm rot="-2700000">
            <a:off x="10463657" y="4352773"/>
            <a:ext cx="951210" cy="951210"/>
          </a:xfrm>
          <a:custGeom>
            <a:rect b="b" l="l" r="r" t="t"/>
            <a:pathLst>
              <a:path extrusionOk="0" h="951210" w="951210">
                <a:moveTo>
                  <a:pt x="0" y="0"/>
                </a:moveTo>
                <a:lnTo>
                  <a:pt x="951210" y="0"/>
                </a:lnTo>
                <a:lnTo>
                  <a:pt x="951210" y="951210"/>
                </a:lnTo>
                <a:lnTo>
                  <a:pt x="0" y="951210"/>
                </a:lnTo>
                <a:lnTo>
                  <a:pt x="0" y="0"/>
                </a:lnTo>
                <a:close/>
              </a:path>
            </a:pathLst>
          </a:custGeom>
          <a:blipFill rotWithShape="1">
            <a:blip r:embed="rId3">
              <a:alphaModFix/>
            </a:blip>
            <a:stretch>
              <a:fillRect b="0" l="0" r="0" t="0"/>
            </a:stretch>
          </a:blipFill>
          <a:ln>
            <a:noFill/>
          </a:ln>
        </p:spPr>
      </p:sp>
      <p:grpSp>
        <p:nvGrpSpPr>
          <p:cNvPr id="310" name="Google Shape;310;p16"/>
          <p:cNvGrpSpPr/>
          <p:nvPr/>
        </p:nvGrpSpPr>
        <p:grpSpPr>
          <a:xfrm>
            <a:off x="10266655" y="4906625"/>
            <a:ext cx="569313" cy="569313"/>
            <a:chOff x="0" y="0"/>
            <a:chExt cx="812800" cy="812800"/>
          </a:xfrm>
        </p:grpSpPr>
        <p:sp>
          <p:nvSpPr>
            <p:cNvPr id="311" name="Google Shape;311;p16"/>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E5A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6"/>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3" name="Google Shape;313;p16"/>
          <p:cNvSpPr txBox="1"/>
          <p:nvPr/>
        </p:nvSpPr>
        <p:spPr>
          <a:xfrm>
            <a:off x="10607007" y="4417271"/>
            <a:ext cx="664510" cy="738347"/>
          </a:xfrm>
          <a:prstGeom prst="rect">
            <a:avLst/>
          </a:prstGeom>
          <a:noFill/>
          <a:ln>
            <a:noFill/>
          </a:ln>
        </p:spPr>
        <p:txBody>
          <a:bodyPr anchorCtr="0" anchor="t" bIns="0" lIns="0" spcFirstLastPara="1" rIns="0" wrap="square" tIns="0">
            <a:spAutoFit/>
          </a:bodyPr>
          <a:lstStyle/>
          <a:p>
            <a:pPr indent="0" lvl="0" marL="0" marR="0" rtl="0" algn="ctr">
              <a:lnSpc>
                <a:spcPct val="139990"/>
              </a:lnSpc>
              <a:spcBef>
                <a:spcPts val="0"/>
              </a:spcBef>
              <a:spcAft>
                <a:spcPts val="0"/>
              </a:spcAft>
              <a:buNone/>
            </a:pPr>
            <a:r>
              <a:rPr b="0" i="0" lang="en-US" sz="4306" u="none" cap="none" strike="noStrike">
                <a:solidFill>
                  <a:srgbClr val="000000"/>
                </a:solidFill>
                <a:latin typeface="Montserrat"/>
                <a:ea typeface="Montserrat"/>
                <a:cs typeface="Montserrat"/>
                <a:sym typeface="Montserrat"/>
              </a:rPr>
              <a:t>7</a:t>
            </a:r>
            <a:endParaRPr/>
          </a:p>
        </p:txBody>
      </p:sp>
      <p:sp>
        <p:nvSpPr>
          <p:cNvPr id="314" name="Google Shape;314;p16"/>
          <p:cNvSpPr txBox="1"/>
          <p:nvPr/>
        </p:nvSpPr>
        <p:spPr>
          <a:xfrm>
            <a:off x="11611869" y="4444254"/>
            <a:ext cx="4386415" cy="2170676"/>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i="0" lang="en-US" sz="4165" u="none" cap="none" strike="noStrike">
                <a:solidFill>
                  <a:srgbClr val="000000"/>
                </a:solidFill>
                <a:latin typeface="Montserrat"/>
                <a:ea typeface="Montserrat"/>
                <a:cs typeface="Montserrat"/>
                <a:sym typeface="Montserrat"/>
              </a:rPr>
              <a:t>Iterativo, Sashimi, Evolutivo.</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8" name="Shape 318"/>
        <p:cNvGrpSpPr/>
        <p:nvPr/>
      </p:nvGrpSpPr>
      <p:grpSpPr>
        <a:xfrm>
          <a:off x="0" y="0"/>
          <a:ext cx="0" cy="0"/>
          <a:chOff x="0" y="0"/>
          <a:chExt cx="0" cy="0"/>
        </a:xfrm>
      </p:grpSpPr>
      <p:grpSp>
        <p:nvGrpSpPr>
          <p:cNvPr id="319" name="Google Shape;319;p17"/>
          <p:cNvGrpSpPr/>
          <p:nvPr/>
        </p:nvGrpSpPr>
        <p:grpSpPr>
          <a:xfrm>
            <a:off x="11506841" y="-144637"/>
            <a:ext cx="10786223" cy="10576274"/>
            <a:chOff x="0" y="0"/>
            <a:chExt cx="14381630" cy="14101698"/>
          </a:xfrm>
        </p:grpSpPr>
        <p:sp>
          <p:nvSpPr>
            <p:cNvPr id="320" name="Google Shape;320;p17"/>
            <p:cNvSpPr/>
            <p:nvPr/>
          </p:nvSpPr>
          <p:spPr>
            <a:xfrm>
              <a:off x="0" y="7042815"/>
              <a:ext cx="12363028" cy="7058883"/>
            </a:xfrm>
            <a:custGeom>
              <a:rect b="b" l="l" r="r" t="t"/>
              <a:pathLst>
                <a:path extrusionOk="0" h="7058883" w="12363028">
                  <a:moveTo>
                    <a:pt x="0" y="0"/>
                  </a:moveTo>
                  <a:lnTo>
                    <a:pt x="12363028" y="0"/>
                  </a:lnTo>
                  <a:lnTo>
                    <a:pt x="12363028" y="7058883"/>
                  </a:lnTo>
                  <a:lnTo>
                    <a:pt x="0" y="7058883"/>
                  </a:lnTo>
                  <a:lnTo>
                    <a:pt x="0" y="0"/>
                  </a:lnTo>
                  <a:close/>
                </a:path>
              </a:pathLst>
            </a:custGeom>
            <a:blipFill rotWithShape="1">
              <a:blip r:embed="rId3">
                <a:alphaModFix/>
              </a:blip>
              <a:stretch>
                <a:fillRect b="0" l="0" r="0" t="-51572"/>
              </a:stretch>
            </a:blipFill>
            <a:ln>
              <a:noFill/>
            </a:ln>
          </p:spPr>
        </p:sp>
        <p:sp>
          <p:nvSpPr>
            <p:cNvPr id="321" name="Google Shape;321;p17"/>
            <p:cNvSpPr/>
            <p:nvPr/>
          </p:nvSpPr>
          <p:spPr>
            <a:xfrm>
              <a:off x="2018602" y="0"/>
              <a:ext cx="12363028" cy="7058883"/>
            </a:xfrm>
            <a:custGeom>
              <a:rect b="b" l="l" r="r" t="t"/>
              <a:pathLst>
                <a:path extrusionOk="0" h="7058883" w="12363028">
                  <a:moveTo>
                    <a:pt x="0" y="0"/>
                  </a:moveTo>
                  <a:lnTo>
                    <a:pt x="12363028" y="0"/>
                  </a:lnTo>
                  <a:lnTo>
                    <a:pt x="12363028" y="7058883"/>
                  </a:lnTo>
                  <a:lnTo>
                    <a:pt x="0" y="7058883"/>
                  </a:lnTo>
                  <a:lnTo>
                    <a:pt x="0" y="0"/>
                  </a:lnTo>
                  <a:close/>
                </a:path>
              </a:pathLst>
            </a:custGeom>
            <a:blipFill rotWithShape="1">
              <a:blip r:embed="rId3">
                <a:alphaModFix/>
              </a:blip>
              <a:stretch>
                <a:fillRect b="0" l="0" r="0" t="-51572"/>
              </a:stretch>
            </a:blipFill>
            <a:ln>
              <a:noFill/>
            </a:ln>
          </p:spPr>
        </p:sp>
      </p:grpSp>
      <p:cxnSp>
        <p:nvCxnSpPr>
          <p:cNvPr id="322" name="Google Shape;322;p17"/>
          <p:cNvCxnSpPr/>
          <p:nvPr/>
        </p:nvCxnSpPr>
        <p:spPr>
          <a:xfrm rot="10800000">
            <a:off x="791671" y="7360786"/>
            <a:ext cx="10211441" cy="0"/>
          </a:xfrm>
          <a:prstGeom prst="straightConnector1">
            <a:avLst/>
          </a:prstGeom>
          <a:noFill/>
          <a:ln cap="rnd" cmpd="sng" w="28575">
            <a:solidFill>
              <a:srgbClr val="86C7ED"/>
            </a:solidFill>
            <a:prstDash val="solid"/>
            <a:round/>
            <a:headEnd len="sm" w="sm" type="none"/>
            <a:tailEnd len="sm" w="sm" type="none"/>
          </a:ln>
        </p:spPr>
      </p:cxnSp>
      <p:sp>
        <p:nvSpPr>
          <p:cNvPr id="323" name="Google Shape;323;p17"/>
          <p:cNvSpPr/>
          <p:nvPr/>
        </p:nvSpPr>
        <p:spPr>
          <a:xfrm>
            <a:off x="-9401127" y="8681862"/>
            <a:ext cx="15741700" cy="3210276"/>
          </a:xfrm>
          <a:custGeom>
            <a:rect b="b" l="l" r="r" t="t"/>
            <a:pathLst>
              <a:path extrusionOk="0" h="5372100" w="26342280">
                <a:moveTo>
                  <a:pt x="24791611" y="0"/>
                </a:moveTo>
                <a:lnTo>
                  <a:pt x="1550670" y="0"/>
                </a:lnTo>
                <a:lnTo>
                  <a:pt x="0" y="2686050"/>
                </a:lnTo>
                <a:lnTo>
                  <a:pt x="1550670" y="5372100"/>
                </a:lnTo>
                <a:lnTo>
                  <a:pt x="24791611" y="5372100"/>
                </a:lnTo>
                <a:lnTo>
                  <a:pt x="26342280" y="2686050"/>
                </a:lnTo>
                <a:lnTo>
                  <a:pt x="24791611" y="0"/>
                </a:lnTo>
                <a:close/>
              </a:path>
            </a:pathLst>
          </a:custGeom>
          <a:solidFill>
            <a:srgbClr val="A066CB"/>
          </a:solidFill>
          <a:ln>
            <a:noFill/>
          </a:ln>
        </p:spPr>
      </p:sp>
      <p:sp>
        <p:nvSpPr>
          <p:cNvPr id="324" name="Google Shape;324;p17"/>
          <p:cNvSpPr txBox="1"/>
          <p:nvPr/>
        </p:nvSpPr>
        <p:spPr>
          <a:xfrm>
            <a:off x="791671" y="3673904"/>
            <a:ext cx="11775835" cy="33623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11000" u="none" cap="none" strike="noStrike">
                <a:solidFill>
                  <a:srgbClr val="1836B2"/>
                </a:solidFill>
                <a:latin typeface="Fira Sans Black"/>
                <a:ea typeface="Fira Sans Black"/>
                <a:cs typeface="Fira Sans Black"/>
                <a:sym typeface="Fira Sans Black"/>
              </a:rPr>
              <a:t>METODOLOGÍAS</a:t>
            </a:r>
            <a:endParaRPr/>
          </a:p>
          <a:p>
            <a:pPr indent="0" lvl="0" marL="0" marR="0" rtl="0" algn="l">
              <a:lnSpc>
                <a:spcPct val="120000"/>
              </a:lnSpc>
              <a:spcBef>
                <a:spcPts val="0"/>
              </a:spcBef>
              <a:spcAft>
                <a:spcPts val="0"/>
              </a:spcAft>
              <a:buNone/>
            </a:pPr>
            <a:r>
              <a:rPr b="1" i="0" lang="en-US" sz="11000" u="none" cap="none" strike="noStrike">
                <a:solidFill>
                  <a:srgbClr val="1836B2"/>
                </a:solidFill>
                <a:latin typeface="Fira Sans Black"/>
                <a:ea typeface="Fira Sans Black"/>
                <a:cs typeface="Fira Sans Black"/>
                <a:sym typeface="Fira Sans Black"/>
              </a:rPr>
              <a:t>ÁGILES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28" name="Shape 328"/>
        <p:cNvGrpSpPr/>
        <p:nvPr/>
      </p:nvGrpSpPr>
      <p:grpSpPr>
        <a:xfrm>
          <a:off x="0" y="0"/>
          <a:ext cx="0" cy="0"/>
          <a:chOff x="0" y="0"/>
          <a:chExt cx="0" cy="0"/>
        </a:xfrm>
      </p:grpSpPr>
      <p:sp>
        <p:nvSpPr>
          <p:cNvPr id="329" name="Google Shape;329;p18"/>
          <p:cNvSpPr txBox="1"/>
          <p:nvPr/>
        </p:nvSpPr>
        <p:spPr>
          <a:xfrm>
            <a:off x="1028700" y="2194504"/>
            <a:ext cx="6096574" cy="1422400"/>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US" sz="9999" u="none" cap="none" strike="noStrike">
                <a:solidFill>
                  <a:srgbClr val="1836B2"/>
                </a:solidFill>
                <a:latin typeface="Fira Sans SemiBold"/>
                <a:ea typeface="Fira Sans SemiBold"/>
                <a:cs typeface="Fira Sans SemiBold"/>
                <a:sym typeface="Fira Sans SemiBold"/>
              </a:rPr>
              <a:t>Qué son?</a:t>
            </a:r>
            <a:endParaRPr/>
          </a:p>
        </p:txBody>
      </p:sp>
      <p:sp>
        <p:nvSpPr>
          <p:cNvPr id="330" name="Google Shape;330;p18"/>
          <p:cNvSpPr/>
          <p:nvPr/>
        </p:nvSpPr>
        <p:spPr>
          <a:xfrm>
            <a:off x="1392073" y="1028700"/>
            <a:ext cx="1098500" cy="627207"/>
          </a:xfrm>
          <a:custGeom>
            <a:rect b="b" l="l" r="r" t="t"/>
            <a:pathLst>
              <a:path extrusionOk="0" h="627207" w="1098500">
                <a:moveTo>
                  <a:pt x="0" y="0"/>
                </a:moveTo>
                <a:lnTo>
                  <a:pt x="1098500" y="0"/>
                </a:lnTo>
                <a:lnTo>
                  <a:pt x="1098500" y="627207"/>
                </a:lnTo>
                <a:lnTo>
                  <a:pt x="0" y="627207"/>
                </a:lnTo>
                <a:lnTo>
                  <a:pt x="0" y="0"/>
                </a:lnTo>
                <a:close/>
              </a:path>
            </a:pathLst>
          </a:custGeom>
          <a:blipFill rotWithShape="1">
            <a:blip r:embed="rId3">
              <a:alphaModFix/>
            </a:blip>
            <a:stretch>
              <a:fillRect b="0" l="0" r="0" t="-51572"/>
            </a:stretch>
          </a:blipFill>
          <a:ln>
            <a:noFill/>
          </a:ln>
        </p:spPr>
      </p:sp>
      <p:sp>
        <p:nvSpPr>
          <p:cNvPr id="331" name="Google Shape;331;p18"/>
          <p:cNvSpPr txBox="1"/>
          <p:nvPr/>
        </p:nvSpPr>
        <p:spPr>
          <a:xfrm>
            <a:off x="1028700" y="3984050"/>
            <a:ext cx="16945429" cy="4148741"/>
          </a:xfrm>
          <a:prstGeom prst="rect">
            <a:avLst/>
          </a:prstGeom>
          <a:noFill/>
          <a:ln>
            <a:noFill/>
          </a:ln>
        </p:spPr>
        <p:txBody>
          <a:bodyPr anchorCtr="0" anchor="t" bIns="0" lIns="0" spcFirstLastPara="1" rIns="0" wrap="square" tIns="0">
            <a:spAutoFit/>
          </a:bodyPr>
          <a:lstStyle/>
          <a:p>
            <a:pPr indent="0" lvl="0" marL="0" marR="0" rtl="0" algn="just">
              <a:lnSpc>
                <a:spcPct val="140020"/>
              </a:lnSpc>
              <a:spcBef>
                <a:spcPts val="0"/>
              </a:spcBef>
              <a:spcAft>
                <a:spcPts val="0"/>
              </a:spcAft>
              <a:buNone/>
            </a:pPr>
            <a:r>
              <a:rPr b="0" i="0" lang="en-US" sz="3913" u="none" cap="none" strike="noStrike">
                <a:solidFill>
                  <a:srgbClr val="000000"/>
                </a:solidFill>
                <a:latin typeface="Fira Sans"/>
                <a:ea typeface="Fira Sans"/>
                <a:cs typeface="Fira Sans"/>
                <a:sym typeface="Fira Sans"/>
              </a:rPr>
              <a:t>Las metodologías ágiles son enfoques de desarrollo de software basados en ciclos</a:t>
            </a:r>
            <a:r>
              <a:rPr b="1" i="0" lang="en-US" sz="3913" u="none" cap="none" strike="noStrike">
                <a:solidFill>
                  <a:srgbClr val="000000"/>
                </a:solidFill>
                <a:latin typeface="Fira Sans"/>
                <a:ea typeface="Fira Sans"/>
                <a:cs typeface="Fira Sans"/>
                <a:sym typeface="Fira Sans"/>
              </a:rPr>
              <a:t> iterativos e incrementales</a:t>
            </a:r>
            <a:r>
              <a:rPr b="0" i="0" lang="en-US" sz="3913" u="none" cap="none" strike="noStrike">
                <a:solidFill>
                  <a:srgbClr val="000000"/>
                </a:solidFill>
                <a:latin typeface="Fira Sans"/>
                <a:ea typeface="Fira Sans"/>
                <a:cs typeface="Fira Sans"/>
                <a:sym typeface="Fira Sans"/>
              </a:rPr>
              <a:t>, donde el equipo trabaja en pequeñas partes del proyecto, conocidas como iteraciones o sprints, para ir entregando valor continuamente. Cada iteración permite revisar y ajustar el producto de acuerdo con la retroalimentación del cliente, favoreciendo la adaptación y la mejora constante.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35" name="Shape 335"/>
        <p:cNvGrpSpPr/>
        <p:nvPr/>
      </p:nvGrpSpPr>
      <p:grpSpPr>
        <a:xfrm>
          <a:off x="0" y="0"/>
          <a:ext cx="0" cy="0"/>
          <a:chOff x="0" y="0"/>
          <a:chExt cx="0" cy="0"/>
        </a:xfrm>
      </p:grpSpPr>
      <p:sp>
        <p:nvSpPr>
          <p:cNvPr id="336" name="Google Shape;336;p19"/>
          <p:cNvSpPr/>
          <p:nvPr/>
        </p:nvSpPr>
        <p:spPr>
          <a:xfrm flipH="1">
            <a:off x="-2669395" y="6484439"/>
            <a:ext cx="8370405" cy="4779226"/>
          </a:xfrm>
          <a:custGeom>
            <a:rect b="b" l="l" r="r" t="t"/>
            <a:pathLst>
              <a:path extrusionOk="0" h="4779226" w="8370405">
                <a:moveTo>
                  <a:pt x="8370405" y="0"/>
                </a:moveTo>
                <a:lnTo>
                  <a:pt x="0" y="0"/>
                </a:lnTo>
                <a:lnTo>
                  <a:pt x="0" y="4779227"/>
                </a:lnTo>
                <a:lnTo>
                  <a:pt x="8370405" y="4779227"/>
                </a:lnTo>
                <a:lnTo>
                  <a:pt x="8370405" y="0"/>
                </a:lnTo>
                <a:close/>
              </a:path>
            </a:pathLst>
          </a:custGeom>
          <a:blipFill rotWithShape="1">
            <a:blip r:embed="rId3">
              <a:alphaModFix/>
            </a:blip>
            <a:stretch>
              <a:fillRect b="0" l="0" r="0" t="-51572"/>
            </a:stretch>
          </a:blipFill>
          <a:ln>
            <a:noFill/>
          </a:ln>
        </p:spPr>
      </p:sp>
      <p:sp>
        <p:nvSpPr>
          <p:cNvPr id="337" name="Google Shape;337;p19"/>
          <p:cNvSpPr/>
          <p:nvPr/>
        </p:nvSpPr>
        <p:spPr>
          <a:xfrm>
            <a:off x="-3004651" y="-215277"/>
            <a:ext cx="9437809" cy="10717553"/>
          </a:xfrm>
          <a:custGeom>
            <a:rect b="b" l="l" r="r" t="t"/>
            <a:pathLst>
              <a:path extrusionOk="0" h="10717553" w="9437809">
                <a:moveTo>
                  <a:pt x="0" y="0"/>
                </a:moveTo>
                <a:lnTo>
                  <a:pt x="9437810" y="0"/>
                </a:lnTo>
                <a:lnTo>
                  <a:pt x="9437810" y="10717554"/>
                </a:lnTo>
                <a:lnTo>
                  <a:pt x="0" y="10717554"/>
                </a:lnTo>
                <a:lnTo>
                  <a:pt x="0" y="0"/>
                </a:lnTo>
                <a:close/>
              </a:path>
            </a:pathLst>
          </a:custGeom>
          <a:blipFill rotWithShape="1">
            <a:blip r:embed="rId4">
              <a:alphaModFix/>
            </a:blip>
            <a:stretch>
              <a:fillRect b="0" l="-18927" r="-44167" t="0"/>
            </a:stretch>
          </a:blipFill>
          <a:ln>
            <a:noFill/>
          </a:ln>
        </p:spPr>
      </p:sp>
      <p:sp>
        <p:nvSpPr>
          <p:cNvPr id="338" name="Google Shape;338;p19"/>
          <p:cNvSpPr txBox="1"/>
          <p:nvPr/>
        </p:nvSpPr>
        <p:spPr>
          <a:xfrm>
            <a:off x="6907308" y="721890"/>
            <a:ext cx="10796529" cy="21120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6100" u="none" cap="none" strike="noStrike">
                <a:solidFill>
                  <a:srgbClr val="1836B2"/>
                </a:solidFill>
                <a:latin typeface="Fira Sans Medium"/>
                <a:ea typeface="Fira Sans Medium"/>
                <a:cs typeface="Fira Sans Medium"/>
                <a:sym typeface="Fira Sans Medium"/>
              </a:rPr>
              <a:t>Principios de las Metodologías Ágiles</a:t>
            </a:r>
            <a:endParaRPr/>
          </a:p>
        </p:txBody>
      </p:sp>
      <p:sp>
        <p:nvSpPr>
          <p:cNvPr id="339" name="Google Shape;339;p19"/>
          <p:cNvSpPr txBox="1"/>
          <p:nvPr/>
        </p:nvSpPr>
        <p:spPr>
          <a:xfrm>
            <a:off x="7055761" y="3079750"/>
            <a:ext cx="10499623" cy="6178550"/>
          </a:xfrm>
          <a:prstGeom prst="rect">
            <a:avLst/>
          </a:prstGeom>
          <a:noFill/>
          <a:ln>
            <a:noFill/>
          </a:ln>
        </p:spPr>
        <p:txBody>
          <a:bodyPr anchorCtr="0" anchor="t" bIns="0" lIns="0" spcFirstLastPara="1" rIns="0" wrap="square" tIns="0">
            <a:spAutoFit/>
          </a:bodyPr>
          <a:lstStyle/>
          <a:p>
            <a:pPr indent="0" lvl="0" marL="0" marR="0" rtl="0" algn="just">
              <a:lnSpc>
                <a:spcPct val="272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377825" lvl="1" marL="755651" marR="0" rtl="0" algn="just">
              <a:lnSpc>
                <a:spcPct val="140000"/>
              </a:lnSpc>
              <a:spcBef>
                <a:spcPts val="0"/>
              </a:spcBef>
              <a:spcAft>
                <a:spcPts val="0"/>
              </a:spcAft>
              <a:buClr>
                <a:srgbClr val="000000"/>
              </a:buClr>
              <a:buSzPts val="3500"/>
              <a:buFont typeface="Arial"/>
              <a:buChar char="•"/>
            </a:pPr>
            <a:r>
              <a:rPr b="0" i="0" lang="en-US" sz="3500" u="none" cap="none" strike="noStrike">
                <a:solidFill>
                  <a:srgbClr val="000000"/>
                </a:solidFill>
                <a:latin typeface="Fira Sans"/>
                <a:ea typeface="Fira Sans"/>
                <a:cs typeface="Fira Sans"/>
                <a:sym typeface="Fira Sans"/>
              </a:rPr>
              <a:t>Priorizar la satisfacción del cliente mediante entregas rápidas y continuas.</a:t>
            </a:r>
            <a:endParaRPr/>
          </a:p>
          <a:p>
            <a:pPr indent="-377825" lvl="1" marL="755651" marR="0" rtl="0" algn="just">
              <a:lnSpc>
                <a:spcPct val="140000"/>
              </a:lnSpc>
              <a:spcBef>
                <a:spcPts val="0"/>
              </a:spcBef>
              <a:spcAft>
                <a:spcPts val="0"/>
              </a:spcAft>
              <a:buClr>
                <a:srgbClr val="000000"/>
              </a:buClr>
              <a:buSzPts val="3500"/>
              <a:buFont typeface="Arial"/>
              <a:buChar char="•"/>
            </a:pPr>
            <a:r>
              <a:rPr b="0" i="0" lang="en-US" sz="3500" u="none" cap="none" strike="noStrike">
                <a:solidFill>
                  <a:srgbClr val="000000"/>
                </a:solidFill>
                <a:latin typeface="Fira Sans"/>
                <a:ea typeface="Fira Sans"/>
                <a:cs typeface="Fira Sans"/>
                <a:sym typeface="Fira Sans"/>
              </a:rPr>
              <a:t>Aceptar los cambios en los requisitos, incluso en etapas avanzadas del proyecto.</a:t>
            </a:r>
            <a:endParaRPr/>
          </a:p>
          <a:p>
            <a:pPr indent="-377825" lvl="1" marL="755651" marR="0" rtl="0" algn="just">
              <a:lnSpc>
                <a:spcPct val="140000"/>
              </a:lnSpc>
              <a:spcBef>
                <a:spcPts val="0"/>
              </a:spcBef>
              <a:spcAft>
                <a:spcPts val="0"/>
              </a:spcAft>
              <a:buClr>
                <a:srgbClr val="000000"/>
              </a:buClr>
              <a:buSzPts val="3500"/>
              <a:buFont typeface="Arial"/>
              <a:buChar char="•"/>
            </a:pPr>
            <a:r>
              <a:rPr b="0" i="0" lang="en-US" sz="3500" u="none" cap="none" strike="noStrike">
                <a:solidFill>
                  <a:srgbClr val="000000"/>
                </a:solidFill>
                <a:latin typeface="Fira Sans"/>
                <a:ea typeface="Fira Sans"/>
                <a:cs typeface="Fira Sans"/>
                <a:sym typeface="Fira Sans"/>
              </a:rPr>
              <a:t>Colaboración constante entre el equipo de desarrollo y el cliente.</a:t>
            </a:r>
            <a:endParaRPr/>
          </a:p>
          <a:p>
            <a:pPr indent="-377825" lvl="1" marL="755651" marR="0" rtl="0" algn="just">
              <a:lnSpc>
                <a:spcPct val="140000"/>
              </a:lnSpc>
              <a:spcBef>
                <a:spcPts val="0"/>
              </a:spcBef>
              <a:spcAft>
                <a:spcPts val="0"/>
              </a:spcAft>
              <a:buClr>
                <a:srgbClr val="000000"/>
              </a:buClr>
              <a:buSzPts val="3500"/>
              <a:buFont typeface="Arial"/>
              <a:buChar char="•"/>
            </a:pPr>
            <a:r>
              <a:rPr b="0" i="0" lang="en-US" sz="3500" u="none" cap="none" strike="noStrike">
                <a:solidFill>
                  <a:srgbClr val="000000"/>
                </a:solidFill>
                <a:latin typeface="Fira Sans"/>
                <a:ea typeface="Fira Sans"/>
                <a:cs typeface="Fira Sans"/>
                <a:sym typeface="Fira Sans"/>
              </a:rPr>
              <a:t>Entregas frecuentes de software funcional que aporten valor real al usuario.</a:t>
            </a:r>
            <a:endParaRPr/>
          </a:p>
          <a:p>
            <a:pPr indent="0" lvl="0" marL="0" marR="0" rtl="0" algn="just">
              <a:lnSpc>
                <a:spcPct val="140000"/>
              </a:lnSpc>
              <a:spcBef>
                <a:spcPts val="0"/>
              </a:spcBef>
              <a:spcAft>
                <a:spcPts val="0"/>
              </a:spcAft>
              <a:buNone/>
            </a:pPr>
            <a:r>
              <a:t/>
            </a:r>
            <a:endParaRPr b="0" i="0" sz="3500" u="none" cap="none" strike="noStrike">
              <a:solidFill>
                <a:srgbClr val="000000"/>
              </a:solidFill>
              <a:latin typeface="Fira Sans"/>
              <a:ea typeface="Fira Sans"/>
              <a:cs typeface="Fira Sans"/>
              <a:sym typeface="Fira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1836B2"/>
        </a:solidFill>
      </p:bgPr>
    </p:bg>
    <p:spTree>
      <p:nvGrpSpPr>
        <p:cNvPr id="343" name="Shape 343"/>
        <p:cNvGrpSpPr/>
        <p:nvPr/>
      </p:nvGrpSpPr>
      <p:grpSpPr>
        <a:xfrm>
          <a:off x="0" y="0"/>
          <a:ext cx="0" cy="0"/>
          <a:chOff x="0" y="0"/>
          <a:chExt cx="0" cy="0"/>
        </a:xfrm>
      </p:grpSpPr>
      <p:sp>
        <p:nvSpPr>
          <p:cNvPr id="344" name="Google Shape;344;p20"/>
          <p:cNvSpPr/>
          <p:nvPr/>
        </p:nvSpPr>
        <p:spPr>
          <a:xfrm>
            <a:off x="3524297" y="9515874"/>
            <a:ext cx="15252700" cy="1542251"/>
          </a:xfrm>
          <a:custGeom>
            <a:rect b="b" l="l" r="r" t="t"/>
            <a:pathLst>
              <a:path extrusionOk="0" h="5372100" w="53129495">
                <a:moveTo>
                  <a:pt x="51578821" y="0"/>
                </a:moveTo>
                <a:lnTo>
                  <a:pt x="1550670" y="0"/>
                </a:lnTo>
                <a:lnTo>
                  <a:pt x="0" y="2686050"/>
                </a:lnTo>
                <a:lnTo>
                  <a:pt x="1550670" y="5372100"/>
                </a:lnTo>
                <a:lnTo>
                  <a:pt x="51578821" y="5372100"/>
                </a:lnTo>
                <a:lnTo>
                  <a:pt x="53129495" y="2686050"/>
                </a:lnTo>
                <a:lnTo>
                  <a:pt x="51578821" y="0"/>
                </a:lnTo>
                <a:close/>
              </a:path>
            </a:pathLst>
          </a:custGeom>
          <a:solidFill>
            <a:srgbClr val="FFFFFF"/>
          </a:solidFill>
          <a:ln>
            <a:noFill/>
          </a:ln>
        </p:spPr>
      </p:sp>
      <p:sp>
        <p:nvSpPr>
          <p:cNvPr id="345" name="Google Shape;345;p20"/>
          <p:cNvSpPr/>
          <p:nvPr/>
        </p:nvSpPr>
        <p:spPr>
          <a:xfrm>
            <a:off x="17259300" y="69651"/>
            <a:ext cx="1098500" cy="627207"/>
          </a:xfrm>
          <a:custGeom>
            <a:rect b="b" l="l" r="r" t="t"/>
            <a:pathLst>
              <a:path extrusionOk="0" h="627207" w="1098500">
                <a:moveTo>
                  <a:pt x="0" y="0"/>
                </a:moveTo>
                <a:lnTo>
                  <a:pt x="1098500" y="0"/>
                </a:lnTo>
                <a:lnTo>
                  <a:pt x="1098500" y="627208"/>
                </a:lnTo>
                <a:lnTo>
                  <a:pt x="0" y="627208"/>
                </a:lnTo>
                <a:lnTo>
                  <a:pt x="0" y="0"/>
                </a:lnTo>
                <a:close/>
              </a:path>
            </a:pathLst>
          </a:custGeom>
          <a:blipFill rotWithShape="1">
            <a:blip r:embed="rId3">
              <a:alphaModFix/>
            </a:blip>
            <a:stretch>
              <a:fillRect b="0" l="0" r="0" t="-51572"/>
            </a:stretch>
          </a:blipFill>
          <a:ln>
            <a:noFill/>
          </a:ln>
        </p:spPr>
      </p:sp>
      <p:grpSp>
        <p:nvGrpSpPr>
          <p:cNvPr id="346" name="Google Shape;346;p20"/>
          <p:cNvGrpSpPr/>
          <p:nvPr/>
        </p:nvGrpSpPr>
        <p:grpSpPr>
          <a:xfrm>
            <a:off x="1296321" y="3282388"/>
            <a:ext cx="685870" cy="685870"/>
            <a:chOff x="0" y="0"/>
            <a:chExt cx="812800" cy="812800"/>
          </a:xfrm>
        </p:grpSpPr>
        <p:sp>
          <p:nvSpPr>
            <p:cNvPr id="347" name="Google Shape;347;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8" name="Google Shape;348;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9" name="Google Shape;349;p20"/>
          <p:cNvGrpSpPr/>
          <p:nvPr/>
        </p:nvGrpSpPr>
        <p:grpSpPr>
          <a:xfrm>
            <a:off x="1296321" y="4738449"/>
            <a:ext cx="685870" cy="685870"/>
            <a:chOff x="0" y="0"/>
            <a:chExt cx="812800" cy="812800"/>
          </a:xfrm>
        </p:grpSpPr>
        <p:sp>
          <p:nvSpPr>
            <p:cNvPr id="350" name="Google Shape;350;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1" name="Google Shape;351;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2" name="Google Shape;352;p20"/>
          <p:cNvGrpSpPr/>
          <p:nvPr/>
        </p:nvGrpSpPr>
        <p:grpSpPr>
          <a:xfrm>
            <a:off x="1296321" y="6281569"/>
            <a:ext cx="685870" cy="685870"/>
            <a:chOff x="0" y="0"/>
            <a:chExt cx="812800" cy="812800"/>
          </a:xfrm>
        </p:grpSpPr>
        <p:sp>
          <p:nvSpPr>
            <p:cNvPr id="353" name="Google Shape;353;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55" name="Google Shape;355;p20"/>
          <p:cNvGrpSpPr/>
          <p:nvPr/>
        </p:nvGrpSpPr>
        <p:grpSpPr>
          <a:xfrm>
            <a:off x="1296321" y="7824688"/>
            <a:ext cx="685870" cy="685870"/>
            <a:chOff x="0" y="0"/>
            <a:chExt cx="812800" cy="812800"/>
          </a:xfrm>
        </p:grpSpPr>
        <p:sp>
          <p:nvSpPr>
            <p:cNvPr id="356" name="Google Shape;356;p20"/>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20"/>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8" name="Google Shape;358;p20"/>
          <p:cNvSpPr/>
          <p:nvPr/>
        </p:nvSpPr>
        <p:spPr>
          <a:xfrm>
            <a:off x="11150646" y="2257073"/>
            <a:ext cx="5307726" cy="4942820"/>
          </a:xfrm>
          <a:custGeom>
            <a:rect b="b" l="l" r="r" t="t"/>
            <a:pathLst>
              <a:path extrusionOk="0" h="4942820" w="5307726">
                <a:moveTo>
                  <a:pt x="0" y="0"/>
                </a:moveTo>
                <a:lnTo>
                  <a:pt x="5307726" y="0"/>
                </a:lnTo>
                <a:lnTo>
                  <a:pt x="5307726" y="4942820"/>
                </a:lnTo>
                <a:lnTo>
                  <a:pt x="0" y="4942820"/>
                </a:lnTo>
                <a:lnTo>
                  <a:pt x="0" y="0"/>
                </a:lnTo>
                <a:close/>
              </a:path>
            </a:pathLst>
          </a:custGeom>
          <a:blipFill rotWithShape="1">
            <a:blip r:embed="rId4">
              <a:alphaModFix/>
            </a:blip>
            <a:stretch>
              <a:fillRect b="0" l="0" r="0" t="0"/>
            </a:stretch>
          </a:blipFill>
          <a:ln>
            <a:noFill/>
          </a:ln>
        </p:spPr>
      </p:sp>
      <p:grpSp>
        <p:nvGrpSpPr>
          <p:cNvPr id="359" name="Google Shape;359;p20"/>
          <p:cNvGrpSpPr/>
          <p:nvPr/>
        </p:nvGrpSpPr>
        <p:grpSpPr>
          <a:xfrm>
            <a:off x="1178568" y="686397"/>
            <a:ext cx="12625941" cy="2843022"/>
            <a:chOff x="0" y="66675"/>
            <a:chExt cx="16834588" cy="3790695"/>
          </a:xfrm>
        </p:grpSpPr>
        <p:sp>
          <p:nvSpPr>
            <p:cNvPr id="360" name="Google Shape;360;p20"/>
            <p:cNvSpPr txBox="1"/>
            <p:nvPr/>
          </p:nvSpPr>
          <p:spPr>
            <a:xfrm>
              <a:off x="0" y="66675"/>
              <a:ext cx="16834588" cy="2642658"/>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US" sz="6999" u="none" cap="none" strike="noStrike">
                  <a:solidFill>
                    <a:srgbClr val="FFFFFF"/>
                  </a:solidFill>
                  <a:latin typeface="Fira Sans Black"/>
                  <a:ea typeface="Fira Sans Black"/>
                  <a:cs typeface="Fira Sans Black"/>
                  <a:sym typeface="Fira Sans Black"/>
                </a:rPr>
                <a:t>BENEFICIOS DE LAS METODOLOGÍAS ÁGILES</a:t>
              </a:r>
              <a:endParaRPr/>
            </a:p>
          </p:txBody>
        </p:sp>
        <p:sp>
          <p:nvSpPr>
            <p:cNvPr id="361" name="Google Shape;361;p20"/>
            <p:cNvSpPr txBox="1"/>
            <p:nvPr/>
          </p:nvSpPr>
          <p:spPr>
            <a:xfrm>
              <a:off x="0" y="3181095"/>
              <a:ext cx="16834588" cy="676275"/>
            </a:xfrm>
            <a:prstGeom prst="rect">
              <a:avLst/>
            </a:prstGeom>
            <a:noFill/>
            <a:ln>
              <a:noFill/>
            </a:ln>
          </p:spPr>
          <p:txBody>
            <a:bodyPr anchorCtr="0" anchor="t" bIns="0" lIns="0" spcFirstLastPara="1" rIns="0" wrap="square" tIns="0">
              <a:spAutoFit/>
            </a:bodyPr>
            <a:lstStyle/>
            <a:p>
              <a:pPr indent="0" lvl="0" marL="0" marR="0" rtl="0" algn="l">
                <a:lnSpc>
                  <a:spcPct val="23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62" name="Google Shape;362;p20"/>
          <p:cNvSpPr txBox="1"/>
          <p:nvPr/>
        </p:nvSpPr>
        <p:spPr>
          <a:xfrm>
            <a:off x="2408291" y="3247497"/>
            <a:ext cx="5971877" cy="67945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999" u="none" cap="none" strike="noStrike">
                <a:solidFill>
                  <a:srgbClr val="FFFFFF"/>
                </a:solidFill>
                <a:latin typeface="Fira Sans"/>
                <a:ea typeface="Fira Sans"/>
                <a:cs typeface="Fira Sans"/>
                <a:sym typeface="Fira Sans"/>
              </a:rPr>
              <a:t>Entrega de valor continuo</a:t>
            </a:r>
            <a:endParaRPr/>
          </a:p>
        </p:txBody>
      </p:sp>
      <p:sp>
        <p:nvSpPr>
          <p:cNvPr id="363" name="Google Shape;363;p20"/>
          <p:cNvSpPr txBox="1"/>
          <p:nvPr/>
        </p:nvSpPr>
        <p:spPr>
          <a:xfrm>
            <a:off x="2408316" y="4703559"/>
            <a:ext cx="6113066" cy="67945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999" u="none" cap="none" strike="noStrike">
                <a:solidFill>
                  <a:srgbClr val="FFFFFF"/>
                </a:solidFill>
                <a:latin typeface="Fira Sans"/>
                <a:ea typeface="Fira Sans"/>
                <a:cs typeface="Fira Sans"/>
                <a:sym typeface="Fira Sans"/>
              </a:rPr>
              <a:t>Mejor respuesta al cambio</a:t>
            </a:r>
            <a:endParaRPr/>
          </a:p>
        </p:txBody>
      </p:sp>
      <p:sp>
        <p:nvSpPr>
          <p:cNvPr id="364" name="Google Shape;364;p20"/>
          <p:cNvSpPr txBox="1"/>
          <p:nvPr/>
        </p:nvSpPr>
        <p:spPr>
          <a:xfrm>
            <a:off x="2347160" y="6246678"/>
            <a:ext cx="4908054" cy="67945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999" u="none" cap="none" strike="noStrike">
                <a:solidFill>
                  <a:srgbClr val="FFFFFF"/>
                </a:solidFill>
                <a:latin typeface="Fira Sans"/>
                <a:ea typeface="Fira Sans"/>
                <a:cs typeface="Fira Sans"/>
                <a:sym typeface="Fira Sans"/>
              </a:rPr>
              <a:t>Reducción de riesgos</a:t>
            </a:r>
            <a:endParaRPr/>
          </a:p>
        </p:txBody>
      </p:sp>
      <p:sp>
        <p:nvSpPr>
          <p:cNvPr id="365" name="Google Shape;365;p20"/>
          <p:cNvSpPr txBox="1"/>
          <p:nvPr/>
        </p:nvSpPr>
        <p:spPr>
          <a:xfrm>
            <a:off x="2347160" y="7789798"/>
            <a:ext cx="7162354" cy="679450"/>
          </a:xfrm>
          <a:prstGeom prst="rect">
            <a:avLst/>
          </a:prstGeom>
          <a:noFill/>
          <a:ln>
            <a:noFill/>
          </a:ln>
        </p:spPr>
        <p:txBody>
          <a:bodyPr anchorCtr="0" anchor="t" bIns="0" lIns="0" spcFirstLastPara="1" rIns="0" wrap="square" tIns="0">
            <a:spAutoFit/>
          </a:bodyPr>
          <a:lstStyle/>
          <a:p>
            <a:pPr indent="0" lvl="0" marL="0" marR="0" rtl="0" algn="ctr">
              <a:lnSpc>
                <a:spcPct val="140010"/>
              </a:lnSpc>
              <a:spcBef>
                <a:spcPts val="0"/>
              </a:spcBef>
              <a:spcAft>
                <a:spcPts val="0"/>
              </a:spcAft>
              <a:buNone/>
            </a:pPr>
            <a:r>
              <a:rPr b="0" i="0" lang="en-US" sz="3999" u="none" cap="none" strike="noStrike">
                <a:solidFill>
                  <a:srgbClr val="FFFFFF"/>
                </a:solidFill>
                <a:latin typeface="Fira Sans"/>
                <a:ea typeface="Fira Sans"/>
                <a:cs typeface="Fira Sans"/>
                <a:sym typeface="Fira Sans"/>
              </a:rPr>
              <a:t>Mayor participación del cliente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9" name="Shape 369"/>
        <p:cNvGrpSpPr/>
        <p:nvPr/>
      </p:nvGrpSpPr>
      <p:grpSpPr>
        <a:xfrm>
          <a:off x="0" y="0"/>
          <a:ext cx="0" cy="0"/>
          <a:chOff x="0" y="0"/>
          <a:chExt cx="0" cy="0"/>
        </a:xfrm>
      </p:grpSpPr>
      <p:sp>
        <p:nvSpPr>
          <p:cNvPr id="370" name="Google Shape;370;p21"/>
          <p:cNvSpPr/>
          <p:nvPr/>
        </p:nvSpPr>
        <p:spPr>
          <a:xfrm>
            <a:off x="12038446" y="-2389613"/>
            <a:ext cx="8370405" cy="4779226"/>
          </a:xfrm>
          <a:custGeom>
            <a:rect b="b" l="l" r="r" t="t"/>
            <a:pathLst>
              <a:path extrusionOk="0" h="4779226" w="8370405">
                <a:moveTo>
                  <a:pt x="0" y="0"/>
                </a:moveTo>
                <a:lnTo>
                  <a:pt x="8370405" y="0"/>
                </a:lnTo>
                <a:lnTo>
                  <a:pt x="8370405" y="4779226"/>
                </a:lnTo>
                <a:lnTo>
                  <a:pt x="0" y="4779226"/>
                </a:lnTo>
                <a:lnTo>
                  <a:pt x="0" y="0"/>
                </a:lnTo>
                <a:close/>
              </a:path>
            </a:pathLst>
          </a:custGeom>
          <a:blipFill rotWithShape="1">
            <a:blip r:embed="rId3">
              <a:alphaModFix/>
            </a:blip>
            <a:stretch>
              <a:fillRect b="0" l="0" r="0" t="-51572"/>
            </a:stretch>
          </a:blipFill>
          <a:ln>
            <a:noFill/>
          </a:ln>
        </p:spPr>
      </p:sp>
      <p:sp>
        <p:nvSpPr>
          <p:cNvPr id="371" name="Google Shape;371;p21"/>
          <p:cNvSpPr/>
          <p:nvPr/>
        </p:nvSpPr>
        <p:spPr>
          <a:xfrm>
            <a:off x="680652" y="9515874"/>
            <a:ext cx="16926696" cy="1542251"/>
          </a:xfrm>
          <a:custGeom>
            <a:rect b="b" l="l" r="r" t="t"/>
            <a:pathLst>
              <a:path extrusionOk="0" h="5372100" w="58960500">
                <a:moveTo>
                  <a:pt x="57409829" y="0"/>
                </a:moveTo>
                <a:lnTo>
                  <a:pt x="1550670" y="0"/>
                </a:lnTo>
                <a:lnTo>
                  <a:pt x="0" y="2686050"/>
                </a:lnTo>
                <a:lnTo>
                  <a:pt x="1550670" y="5372100"/>
                </a:lnTo>
                <a:lnTo>
                  <a:pt x="57409829" y="5372100"/>
                </a:lnTo>
                <a:lnTo>
                  <a:pt x="58960500" y="2686050"/>
                </a:lnTo>
                <a:lnTo>
                  <a:pt x="57409829" y="0"/>
                </a:lnTo>
                <a:close/>
              </a:path>
            </a:pathLst>
          </a:custGeom>
          <a:solidFill>
            <a:srgbClr val="1836B2"/>
          </a:solidFill>
          <a:ln>
            <a:noFill/>
          </a:ln>
        </p:spPr>
      </p:sp>
      <p:grpSp>
        <p:nvGrpSpPr>
          <p:cNvPr id="372" name="Google Shape;372;p21"/>
          <p:cNvGrpSpPr/>
          <p:nvPr/>
        </p:nvGrpSpPr>
        <p:grpSpPr>
          <a:xfrm>
            <a:off x="1028700" y="4260455"/>
            <a:ext cx="654149" cy="654149"/>
            <a:chOff x="0" y="0"/>
            <a:chExt cx="812800" cy="812800"/>
          </a:xfrm>
        </p:grpSpPr>
        <p:sp>
          <p:nvSpPr>
            <p:cNvPr id="373" name="Google Shape;373;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75" name="Google Shape;375;p21"/>
          <p:cNvGrpSpPr/>
          <p:nvPr/>
        </p:nvGrpSpPr>
        <p:grpSpPr>
          <a:xfrm>
            <a:off x="1165500" y="470673"/>
            <a:ext cx="9448602" cy="2674065"/>
            <a:chOff x="0" y="66675"/>
            <a:chExt cx="12598136" cy="3565419"/>
          </a:xfrm>
        </p:grpSpPr>
        <p:sp>
          <p:nvSpPr>
            <p:cNvPr id="376" name="Google Shape;376;p21"/>
            <p:cNvSpPr txBox="1"/>
            <p:nvPr/>
          </p:nvSpPr>
          <p:spPr>
            <a:xfrm>
              <a:off x="0" y="66675"/>
              <a:ext cx="12598136" cy="2642658"/>
            </a:xfrm>
            <a:prstGeom prst="rect">
              <a:avLst/>
            </a:prstGeom>
            <a:noFill/>
            <a:ln>
              <a:noFill/>
            </a:ln>
          </p:spPr>
          <p:txBody>
            <a:bodyPr anchorCtr="0" anchor="t" bIns="0" lIns="0" spcFirstLastPara="1" rIns="0" wrap="square" tIns="0">
              <a:spAutoFit/>
            </a:bodyPr>
            <a:lstStyle/>
            <a:p>
              <a:pPr indent="0" lvl="0" marL="0" marR="0" rtl="0" algn="l">
                <a:lnSpc>
                  <a:spcPct val="110001"/>
                </a:lnSpc>
                <a:spcBef>
                  <a:spcPts val="0"/>
                </a:spcBef>
                <a:spcAft>
                  <a:spcPts val="0"/>
                </a:spcAft>
                <a:buNone/>
              </a:pPr>
              <a:r>
                <a:rPr b="1" i="0" lang="en-US" sz="6999" u="none" cap="none" strike="noStrike">
                  <a:solidFill>
                    <a:srgbClr val="1836B2"/>
                  </a:solidFill>
                  <a:latin typeface="Fira Sans SemiBold"/>
                  <a:ea typeface="Fira Sans SemiBold"/>
                  <a:cs typeface="Fira Sans SemiBold"/>
                  <a:sym typeface="Fira Sans SemiBold"/>
                </a:rPr>
                <a:t>Cuándo Usar Metodologías Ágiles</a:t>
              </a:r>
              <a:endParaRPr/>
            </a:p>
          </p:txBody>
        </p:sp>
        <p:sp>
          <p:nvSpPr>
            <p:cNvPr id="377" name="Google Shape;377;p21"/>
            <p:cNvSpPr txBox="1"/>
            <p:nvPr/>
          </p:nvSpPr>
          <p:spPr>
            <a:xfrm>
              <a:off x="0" y="2955819"/>
              <a:ext cx="12598136" cy="676275"/>
            </a:xfrm>
            <a:prstGeom prst="rect">
              <a:avLst/>
            </a:prstGeom>
            <a:noFill/>
            <a:ln>
              <a:noFill/>
            </a:ln>
          </p:spPr>
          <p:txBody>
            <a:bodyPr anchorCtr="0" anchor="t" bIns="0" lIns="0" spcFirstLastPara="1" rIns="0" wrap="square" tIns="0">
              <a:spAutoFit/>
            </a:bodyPr>
            <a:lstStyle/>
            <a:p>
              <a:pPr indent="0" lvl="0" marL="0" marR="0" rtl="0" algn="l">
                <a:lnSpc>
                  <a:spcPct val="233333"/>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78" name="Google Shape;378;p21"/>
          <p:cNvSpPr txBox="1"/>
          <p:nvPr/>
        </p:nvSpPr>
        <p:spPr>
          <a:xfrm>
            <a:off x="2171008" y="4312599"/>
            <a:ext cx="14633562" cy="48875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882" u="none" cap="none" strike="noStrike">
                <a:solidFill>
                  <a:srgbClr val="000000"/>
                </a:solidFill>
                <a:latin typeface="Open Sans"/>
                <a:ea typeface="Open Sans"/>
                <a:cs typeface="Open Sans"/>
                <a:sym typeface="Open Sans"/>
              </a:rPr>
              <a:t>Donde los requisitos son inciertos o susceptibles a cambios frecuentes.</a:t>
            </a:r>
            <a:endParaRPr/>
          </a:p>
        </p:txBody>
      </p:sp>
      <p:grpSp>
        <p:nvGrpSpPr>
          <p:cNvPr id="379" name="Google Shape;379;p21"/>
          <p:cNvGrpSpPr/>
          <p:nvPr/>
        </p:nvGrpSpPr>
        <p:grpSpPr>
          <a:xfrm>
            <a:off x="1028700" y="5334551"/>
            <a:ext cx="654149" cy="654149"/>
            <a:chOff x="0" y="0"/>
            <a:chExt cx="812800" cy="812800"/>
          </a:xfrm>
        </p:grpSpPr>
        <p:sp>
          <p:nvSpPr>
            <p:cNvPr id="380" name="Google Shape;380;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2" name="Google Shape;382;p21"/>
          <p:cNvSpPr txBox="1"/>
          <p:nvPr/>
        </p:nvSpPr>
        <p:spPr>
          <a:xfrm>
            <a:off x="2171008" y="5459379"/>
            <a:ext cx="10915636" cy="488753"/>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882" u="none" cap="none" strike="noStrike">
                <a:solidFill>
                  <a:srgbClr val="000000"/>
                </a:solidFill>
                <a:latin typeface="Open Sans"/>
                <a:ea typeface="Open Sans"/>
                <a:cs typeface="Open Sans"/>
                <a:sym typeface="Open Sans"/>
              </a:rPr>
              <a:t>Que requieren entregas rápidas y valor constante al cliente.</a:t>
            </a:r>
            <a:endParaRPr/>
          </a:p>
        </p:txBody>
      </p:sp>
      <p:grpSp>
        <p:nvGrpSpPr>
          <p:cNvPr id="383" name="Google Shape;383;p21"/>
          <p:cNvGrpSpPr/>
          <p:nvPr/>
        </p:nvGrpSpPr>
        <p:grpSpPr>
          <a:xfrm>
            <a:off x="1028700" y="6742084"/>
            <a:ext cx="654149" cy="654149"/>
            <a:chOff x="0" y="0"/>
            <a:chExt cx="812800" cy="812800"/>
          </a:xfrm>
        </p:grpSpPr>
        <p:sp>
          <p:nvSpPr>
            <p:cNvPr id="384" name="Google Shape;384;p2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6C7E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21"/>
            <p:cNvSpPr txBox="1"/>
            <p:nvPr/>
          </p:nvSpPr>
          <p:spPr>
            <a:xfrm>
              <a:off x="76200" y="38100"/>
              <a:ext cx="660400" cy="69850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86" name="Google Shape;386;p21"/>
          <p:cNvSpPr txBox="1"/>
          <p:nvPr/>
        </p:nvSpPr>
        <p:spPr>
          <a:xfrm>
            <a:off x="2171008" y="6866911"/>
            <a:ext cx="12595904" cy="993578"/>
          </a:xfrm>
          <a:prstGeom prst="rect">
            <a:avLst/>
          </a:prstGeom>
          <a:noFill/>
          <a:ln>
            <a:noFill/>
          </a:ln>
        </p:spPr>
        <p:txBody>
          <a:bodyPr anchorCtr="0" anchor="t" bIns="0" lIns="0" spcFirstLastPara="1" rIns="0" wrap="square" tIns="0">
            <a:spAutoFit/>
          </a:bodyPr>
          <a:lstStyle/>
          <a:p>
            <a:pPr indent="0" lvl="0" marL="0" marR="0" rtl="0" algn="l">
              <a:lnSpc>
                <a:spcPct val="140006"/>
              </a:lnSpc>
              <a:spcBef>
                <a:spcPts val="0"/>
              </a:spcBef>
              <a:spcAft>
                <a:spcPts val="0"/>
              </a:spcAft>
              <a:buNone/>
            </a:pPr>
            <a:r>
              <a:rPr b="0" i="0" lang="en-US" sz="2882" u="none" cap="none" strike="noStrike">
                <a:solidFill>
                  <a:srgbClr val="000000"/>
                </a:solidFill>
                <a:latin typeface="Open Sans"/>
                <a:ea typeface="Open Sans"/>
                <a:cs typeface="Open Sans"/>
                <a:sym typeface="Open Sans"/>
              </a:rPr>
              <a:t>Con equipos que trabajan en entornos dinámicos o de innovación, donde la experimentación y el ajuste continuo son necesarios.</a:t>
            </a:r>
            <a:endParaRPr/>
          </a:p>
        </p:txBody>
      </p:sp>
      <p:sp>
        <p:nvSpPr>
          <p:cNvPr id="387" name="Google Shape;387;p21"/>
          <p:cNvSpPr txBox="1"/>
          <p:nvPr/>
        </p:nvSpPr>
        <p:spPr>
          <a:xfrm>
            <a:off x="1161418" y="3087588"/>
            <a:ext cx="13488496" cy="488823"/>
          </a:xfrm>
          <a:prstGeom prst="rect">
            <a:avLst/>
          </a:prstGeom>
          <a:noFill/>
          <a:ln>
            <a:noFill/>
          </a:ln>
        </p:spPr>
        <p:txBody>
          <a:bodyPr anchorCtr="0" anchor="t" bIns="0" lIns="0" spcFirstLastPara="1" rIns="0" wrap="square" tIns="0">
            <a:spAutoFit/>
          </a:bodyPr>
          <a:lstStyle/>
          <a:p>
            <a:pPr indent="0" lvl="0" marL="0" marR="0" rtl="0" algn="l">
              <a:lnSpc>
                <a:spcPct val="140013"/>
              </a:lnSpc>
              <a:spcBef>
                <a:spcPts val="0"/>
              </a:spcBef>
              <a:spcAft>
                <a:spcPts val="0"/>
              </a:spcAft>
              <a:buNone/>
            </a:pPr>
            <a:r>
              <a:rPr b="0" i="0" lang="en-US" sz="2879" u="none" cap="none" strike="noStrike">
                <a:solidFill>
                  <a:srgbClr val="000000"/>
                </a:solidFill>
                <a:latin typeface="Open Sans"/>
                <a:ea typeface="Open Sans"/>
                <a:cs typeface="Open Sans"/>
                <a:sym typeface="Open Sans"/>
              </a:rPr>
              <a:t>Las metodologías ágiles son especialmente recomendables en proyectos: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391" name="Shape 391"/>
        <p:cNvGrpSpPr/>
        <p:nvPr/>
      </p:nvGrpSpPr>
      <p:grpSpPr>
        <a:xfrm>
          <a:off x="0" y="0"/>
          <a:ext cx="0" cy="0"/>
          <a:chOff x="0" y="0"/>
          <a:chExt cx="0" cy="0"/>
        </a:xfrm>
      </p:grpSpPr>
      <p:sp>
        <p:nvSpPr>
          <p:cNvPr id="392" name="Google Shape;392;p22"/>
          <p:cNvSpPr/>
          <p:nvPr/>
        </p:nvSpPr>
        <p:spPr>
          <a:xfrm flipH="1">
            <a:off x="-2053973" y="6773437"/>
            <a:ext cx="8370405" cy="4779226"/>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2"/>
            </a:stretch>
          </a:blipFill>
          <a:ln>
            <a:noFill/>
          </a:ln>
        </p:spPr>
      </p:sp>
      <p:sp>
        <p:nvSpPr>
          <p:cNvPr id="393" name="Google Shape;393;p22"/>
          <p:cNvSpPr txBox="1"/>
          <p:nvPr/>
        </p:nvSpPr>
        <p:spPr>
          <a:xfrm>
            <a:off x="4869584" y="3043217"/>
            <a:ext cx="10683293" cy="429581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0169" u="none" cap="none" strike="noStrike">
                <a:solidFill>
                  <a:srgbClr val="FFFFFF"/>
                </a:solidFill>
                <a:latin typeface="Fira Sans Black"/>
                <a:ea typeface="Fira Sans Black"/>
                <a:cs typeface="Fira Sans Black"/>
                <a:sym typeface="Fira Sans Black"/>
              </a:rPr>
              <a:t>EJEMPLOS DE METODOLOGÍAS ÁGILES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86C7ED"/>
        </a:solidFill>
      </p:bgPr>
    </p:bg>
    <p:spTree>
      <p:nvGrpSpPr>
        <p:cNvPr id="397" name="Shape 397"/>
        <p:cNvGrpSpPr/>
        <p:nvPr/>
      </p:nvGrpSpPr>
      <p:grpSpPr>
        <a:xfrm>
          <a:off x="0" y="0"/>
          <a:ext cx="0" cy="0"/>
          <a:chOff x="0" y="0"/>
          <a:chExt cx="0" cy="0"/>
        </a:xfrm>
      </p:grpSpPr>
      <p:sp>
        <p:nvSpPr>
          <p:cNvPr id="398" name="Google Shape;398;p23"/>
          <p:cNvSpPr/>
          <p:nvPr/>
        </p:nvSpPr>
        <p:spPr>
          <a:xfrm flipH="1">
            <a:off x="-2053973" y="6773437"/>
            <a:ext cx="8370405" cy="4779226"/>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2"/>
            </a:stretch>
          </a:blipFill>
          <a:ln>
            <a:noFill/>
          </a:ln>
        </p:spPr>
      </p:sp>
      <p:grpSp>
        <p:nvGrpSpPr>
          <p:cNvPr id="399" name="Google Shape;399;p23"/>
          <p:cNvGrpSpPr/>
          <p:nvPr/>
        </p:nvGrpSpPr>
        <p:grpSpPr>
          <a:xfrm>
            <a:off x="327510" y="811709"/>
            <a:ext cx="11121574" cy="4217491"/>
            <a:chOff x="0" y="-57150"/>
            <a:chExt cx="2929139" cy="1110780"/>
          </a:xfrm>
        </p:grpSpPr>
        <p:sp>
          <p:nvSpPr>
            <p:cNvPr id="400" name="Google Shape;400;p23"/>
            <p:cNvSpPr/>
            <p:nvPr/>
          </p:nvSpPr>
          <p:spPr>
            <a:xfrm>
              <a:off x="0" y="0"/>
              <a:ext cx="2929139" cy="1053630"/>
            </a:xfrm>
            <a:custGeom>
              <a:rect b="b" l="l" r="r" t="t"/>
              <a:pathLst>
                <a:path extrusionOk="0" h="1053630" w="2929139">
                  <a:moveTo>
                    <a:pt x="35502" y="0"/>
                  </a:moveTo>
                  <a:lnTo>
                    <a:pt x="2893637" y="0"/>
                  </a:lnTo>
                  <a:cubicBezTo>
                    <a:pt x="2903053" y="0"/>
                    <a:pt x="2912083" y="3740"/>
                    <a:pt x="2918741" y="10398"/>
                  </a:cubicBezTo>
                  <a:cubicBezTo>
                    <a:pt x="2925399" y="17056"/>
                    <a:pt x="2929139" y="26086"/>
                    <a:pt x="2929139" y="35502"/>
                  </a:cubicBezTo>
                  <a:lnTo>
                    <a:pt x="2929139" y="1018128"/>
                  </a:lnTo>
                  <a:cubicBezTo>
                    <a:pt x="2929139" y="1027543"/>
                    <a:pt x="2925399" y="1036573"/>
                    <a:pt x="2918741" y="1043231"/>
                  </a:cubicBezTo>
                  <a:cubicBezTo>
                    <a:pt x="2912083" y="1049889"/>
                    <a:pt x="2903053" y="1053630"/>
                    <a:pt x="2893637" y="1053630"/>
                  </a:cubicBezTo>
                  <a:lnTo>
                    <a:pt x="35502" y="1053630"/>
                  </a:lnTo>
                  <a:cubicBezTo>
                    <a:pt x="26086" y="1053630"/>
                    <a:pt x="17056" y="1049889"/>
                    <a:pt x="10398" y="1043231"/>
                  </a:cubicBezTo>
                  <a:cubicBezTo>
                    <a:pt x="3740" y="1036573"/>
                    <a:pt x="0" y="1027543"/>
                    <a:pt x="0" y="1018128"/>
                  </a:cubicBezTo>
                  <a:lnTo>
                    <a:pt x="0" y="35502"/>
                  </a:lnTo>
                  <a:cubicBezTo>
                    <a:pt x="0" y="26086"/>
                    <a:pt x="3740" y="17056"/>
                    <a:pt x="10398" y="10398"/>
                  </a:cubicBezTo>
                  <a:cubicBezTo>
                    <a:pt x="17056" y="3740"/>
                    <a:pt x="26086" y="0"/>
                    <a:pt x="35502" y="0"/>
                  </a:cubicBezTo>
                  <a:close/>
                </a:path>
              </a:pathLst>
            </a:custGeom>
            <a:solidFill>
              <a:srgbClr val="63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3"/>
            <p:cNvSpPr txBox="1"/>
            <p:nvPr/>
          </p:nvSpPr>
          <p:spPr>
            <a:xfrm>
              <a:off x="0" y="-57150"/>
              <a:ext cx="2929139" cy="1110780"/>
            </a:xfrm>
            <a:prstGeom prst="rect">
              <a:avLst/>
            </a:prstGeom>
            <a:noFill/>
            <a:ln>
              <a:noFill/>
            </a:ln>
          </p:spPr>
          <p:txBody>
            <a:bodyPr anchorCtr="0" anchor="ctr" bIns="50800" lIns="50800" spcFirstLastPara="1" rIns="50800" wrap="square" tIns="50800">
              <a:noAutofit/>
            </a:bodyPr>
            <a:lstStyle/>
            <a:p>
              <a:pPr indent="0" lvl="0" marL="0" marR="0" rtl="0" algn="just">
                <a:lnSpc>
                  <a:spcPct val="140000"/>
                </a:lnSpc>
                <a:spcBef>
                  <a:spcPts val="0"/>
                </a:spcBef>
                <a:spcAft>
                  <a:spcPts val="0"/>
                </a:spcAft>
                <a:buNone/>
              </a:pPr>
              <a:r>
                <a:rPr b="1" i="0" lang="en-US" sz="2800" u="none" cap="none" strike="noStrike">
                  <a:solidFill>
                    <a:srgbClr val="FFFFFF"/>
                  </a:solidFill>
                  <a:latin typeface="Fira Sans"/>
                  <a:ea typeface="Fira Sans"/>
                  <a:cs typeface="Fira Sans"/>
                  <a:sym typeface="Fira Sans"/>
                </a:rPr>
                <a:t>Metodología de trabajo inventada por la empresa de automóviles Toyota. Consiste en dividir las tareas en porciones mínimas y organizarlas en un tablero de trabajo dividido en tareas pendientes, en curso y finalizadas. De esta forma, se crea un flujo de trabajo muy visual basado en tareas prioritarias e incrementando el valor del producto.</a:t>
              </a:r>
              <a:endParaRPr/>
            </a:p>
          </p:txBody>
        </p:sp>
      </p:grpSp>
      <p:sp>
        <p:nvSpPr>
          <p:cNvPr id="402" name="Google Shape;402;p23"/>
          <p:cNvSpPr/>
          <p:nvPr/>
        </p:nvSpPr>
        <p:spPr>
          <a:xfrm>
            <a:off x="8445500" y="5143500"/>
            <a:ext cx="9842500" cy="5143500"/>
          </a:xfrm>
          <a:custGeom>
            <a:rect b="b" l="l" r="r" t="t"/>
            <a:pathLst>
              <a:path extrusionOk="0" h="5143500" w="9842500">
                <a:moveTo>
                  <a:pt x="0" y="0"/>
                </a:moveTo>
                <a:lnTo>
                  <a:pt x="9842500" y="0"/>
                </a:lnTo>
                <a:lnTo>
                  <a:pt x="9842500" y="5143500"/>
                </a:lnTo>
                <a:lnTo>
                  <a:pt x="0" y="5143500"/>
                </a:lnTo>
                <a:lnTo>
                  <a:pt x="0" y="0"/>
                </a:lnTo>
                <a:close/>
              </a:path>
            </a:pathLst>
          </a:custGeom>
          <a:blipFill rotWithShape="1">
            <a:blip r:embed="rId4">
              <a:alphaModFix/>
            </a:blip>
            <a:stretch>
              <a:fillRect b="0" l="0" r="0" t="0"/>
            </a:stretch>
          </a:blipFill>
          <a:ln>
            <a:noFill/>
          </a:ln>
        </p:spPr>
      </p:sp>
      <p:sp>
        <p:nvSpPr>
          <p:cNvPr id="403" name="Google Shape;403;p23"/>
          <p:cNvSpPr txBox="1"/>
          <p:nvPr/>
        </p:nvSpPr>
        <p:spPr>
          <a:xfrm>
            <a:off x="327510" y="66675"/>
            <a:ext cx="3850777" cy="107632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7500" u="none" cap="none" strike="noStrike">
                <a:solidFill>
                  <a:srgbClr val="FFFFFF"/>
                </a:solidFill>
                <a:latin typeface="Fira Sans Black"/>
                <a:ea typeface="Fira Sans Black"/>
                <a:cs typeface="Fira Sans Black"/>
                <a:sym typeface="Fira Sans Black"/>
              </a:rPr>
              <a:t>KANBAN</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86C7ED"/>
        </a:solidFill>
      </p:bgPr>
    </p:bg>
    <p:spTree>
      <p:nvGrpSpPr>
        <p:cNvPr id="407" name="Shape 407"/>
        <p:cNvGrpSpPr/>
        <p:nvPr/>
      </p:nvGrpSpPr>
      <p:grpSpPr>
        <a:xfrm>
          <a:off x="0" y="0"/>
          <a:ext cx="0" cy="0"/>
          <a:chOff x="0" y="0"/>
          <a:chExt cx="0" cy="0"/>
        </a:xfrm>
      </p:grpSpPr>
      <p:sp>
        <p:nvSpPr>
          <p:cNvPr id="408" name="Google Shape;408;p24"/>
          <p:cNvSpPr/>
          <p:nvPr/>
        </p:nvSpPr>
        <p:spPr>
          <a:xfrm flipH="1">
            <a:off x="-2053973" y="6773437"/>
            <a:ext cx="8370405" cy="4779226"/>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2"/>
            </a:stretch>
          </a:blipFill>
          <a:ln>
            <a:noFill/>
          </a:ln>
        </p:spPr>
      </p:sp>
      <p:grpSp>
        <p:nvGrpSpPr>
          <p:cNvPr id="409" name="Google Shape;409;p24"/>
          <p:cNvGrpSpPr/>
          <p:nvPr/>
        </p:nvGrpSpPr>
        <p:grpSpPr>
          <a:xfrm>
            <a:off x="3171904" y="1704811"/>
            <a:ext cx="12069706" cy="4594012"/>
            <a:chOff x="0" y="-66675"/>
            <a:chExt cx="3178853" cy="1209945"/>
          </a:xfrm>
        </p:grpSpPr>
        <p:sp>
          <p:nvSpPr>
            <p:cNvPr id="410" name="Google Shape;410;p24"/>
            <p:cNvSpPr/>
            <p:nvPr/>
          </p:nvSpPr>
          <p:spPr>
            <a:xfrm>
              <a:off x="0" y="0"/>
              <a:ext cx="3178852" cy="1143270"/>
            </a:xfrm>
            <a:custGeom>
              <a:rect b="b" l="l" r="r" t="t"/>
              <a:pathLst>
                <a:path extrusionOk="0" h="1143270" w="3178852">
                  <a:moveTo>
                    <a:pt x="32713" y="0"/>
                  </a:moveTo>
                  <a:lnTo>
                    <a:pt x="3146139" y="0"/>
                  </a:lnTo>
                  <a:cubicBezTo>
                    <a:pt x="3154815" y="0"/>
                    <a:pt x="3163136" y="3447"/>
                    <a:pt x="3169271" y="9581"/>
                  </a:cubicBezTo>
                  <a:cubicBezTo>
                    <a:pt x="3175406" y="15716"/>
                    <a:pt x="3178852" y="24037"/>
                    <a:pt x="3178852" y="32713"/>
                  </a:cubicBezTo>
                  <a:lnTo>
                    <a:pt x="3178852" y="1110557"/>
                  </a:lnTo>
                  <a:cubicBezTo>
                    <a:pt x="3178852" y="1119233"/>
                    <a:pt x="3175406" y="1127554"/>
                    <a:pt x="3169271" y="1133689"/>
                  </a:cubicBezTo>
                  <a:cubicBezTo>
                    <a:pt x="3163136" y="1139824"/>
                    <a:pt x="3154815" y="1143270"/>
                    <a:pt x="3146139" y="1143270"/>
                  </a:cubicBezTo>
                  <a:lnTo>
                    <a:pt x="32713" y="1143270"/>
                  </a:lnTo>
                  <a:cubicBezTo>
                    <a:pt x="24037" y="1143270"/>
                    <a:pt x="15716" y="1139824"/>
                    <a:pt x="9581" y="1133689"/>
                  </a:cubicBezTo>
                  <a:cubicBezTo>
                    <a:pt x="3447" y="1127554"/>
                    <a:pt x="0" y="1119233"/>
                    <a:pt x="0" y="1110557"/>
                  </a:cubicBezTo>
                  <a:lnTo>
                    <a:pt x="0" y="32713"/>
                  </a:lnTo>
                  <a:cubicBezTo>
                    <a:pt x="0" y="24037"/>
                    <a:pt x="3447" y="15716"/>
                    <a:pt x="9581" y="9581"/>
                  </a:cubicBezTo>
                  <a:cubicBezTo>
                    <a:pt x="15716" y="3447"/>
                    <a:pt x="24037" y="0"/>
                    <a:pt x="32713" y="0"/>
                  </a:cubicBezTo>
                  <a:close/>
                </a:path>
              </a:pathLst>
            </a:custGeom>
            <a:solidFill>
              <a:srgbClr val="63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24"/>
            <p:cNvSpPr txBox="1"/>
            <p:nvPr/>
          </p:nvSpPr>
          <p:spPr>
            <a:xfrm>
              <a:off x="0" y="-66675"/>
              <a:ext cx="3178853" cy="1209945"/>
            </a:xfrm>
            <a:prstGeom prst="rect">
              <a:avLst/>
            </a:prstGeom>
            <a:noFill/>
            <a:ln>
              <a:noFill/>
            </a:ln>
          </p:spPr>
          <p:txBody>
            <a:bodyPr anchorCtr="0" anchor="ctr" bIns="50800" lIns="50800" spcFirstLastPara="1" rIns="50800" wrap="square" tIns="50800">
              <a:noAutofit/>
            </a:bodyPr>
            <a:lstStyle/>
            <a:p>
              <a:pPr indent="0" lvl="0" marL="0" marR="0" rtl="0" algn="just">
                <a:lnSpc>
                  <a:spcPct val="140000"/>
                </a:lnSpc>
                <a:spcBef>
                  <a:spcPts val="0"/>
                </a:spcBef>
                <a:spcAft>
                  <a:spcPts val="0"/>
                </a:spcAft>
                <a:buNone/>
              </a:pPr>
              <a:r>
                <a:rPr b="1" i="0" lang="en-US" sz="3000" u="none" cap="none" strike="noStrike">
                  <a:solidFill>
                    <a:srgbClr val="FFFFFF"/>
                  </a:solidFill>
                  <a:latin typeface="Fira Sans"/>
                  <a:ea typeface="Fira Sans"/>
                  <a:cs typeface="Fira Sans"/>
                  <a:sym typeface="Fira Sans"/>
                </a:rPr>
                <a:t>Divide los requisitos y tareas de forma similar a Kanban. Se itera sobre bloques de tiempos cortos y fijos (entre dos y cuatro semanas) para conseguir un resultado completo en cada iteración. Las etapas son: planificación de la iteración (planning sprint), ejecución (sprint), reunión diaria (daily meeting) y demostración de resultados (sprint review). Cada iteración por estas etapas se denomina también sprint. </a:t>
              </a:r>
              <a:endParaRPr/>
            </a:p>
          </p:txBody>
        </p:sp>
      </p:grpSp>
      <p:sp>
        <p:nvSpPr>
          <p:cNvPr id="412" name="Google Shape;412;p24"/>
          <p:cNvSpPr txBox="1"/>
          <p:nvPr/>
        </p:nvSpPr>
        <p:spPr>
          <a:xfrm>
            <a:off x="7218612" y="523875"/>
            <a:ext cx="3850777" cy="107632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7500" u="none" cap="none" strike="noStrike">
                <a:solidFill>
                  <a:srgbClr val="FFFFFF"/>
                </a:solidFill>
                <a:latin typeface="Fira Sans Black"/>
                <a:ea typeface="Fira Sans Black"/>
                <a:cs typeface="Fira Sans Black"/>
                <a:sym typeface="Fira Sans Black"/>
              </a:rPr>
              <a:t>SCRUM</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416" name="Shape 416"/>
        <p:cNvGrpSpPr/>
        <p:nvPr/>
      </p:nvGrpSpPr>
      <p:grpSpPr>
        <a:xfrm>
          <a:off x="0" y="0"/>
          <a:ext cx="0" cy="0"/>
          <a:chOff x="0" y="0"/>
          <a:chExt cx="0" cy="0"/>
        </a:xfrm>
      </p:grpSpPr>
      <p:sp>
        <p:nvSpPr>
          <p:cNvPr id="417" name="Google Shape;417;p25"/>
          <p:cNvSpPr/>
          <p:nvPr/>
        </p:nvSpPr>
        <p:spPr>
          <a:xfrm flipH="1">
            <a:off x="-2053973" y="6773437"/>
            <a:ext cx="8370405" cy="4779226"/>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2"/>
            </a:stretch>
          </a:blipFill>
          <a:ln>
            <a:noFill/>
          </a:ln>
        </p:spPr>
      </p:sp>
      <p:sp>
        <p:nvSpPr>
          <p:cNvPr id="418" name="Google Shape;418;p25"/>
          <p:cNvSpPr/>
          <p:nvPr/>
        </p:nvSpPr>
        <p:spPr>
          <a:xfrm>
            <a:off x="5496557" y="255456"/>
            <a:ext cx="12457214" cy="7848045"/>
          </a:xfrm>
          <a:custGeom>
            <a:rect b="b" l="l" r="r" t="t"/>
            <a:pathLst>
              <a:path extrusionOk="0" h="7848045" w="12457214">
                <a:moveTo>
                  <a:pt x="0" y="0"/>
                </a:moveTo>
                <a:lnTo>
                  <a:pt x="12457214" y="0"/>
                </a:lnTo>
                <a:lnTo>
                  <a:pt x="12457214" y="7848045"/>
                </a:lnTo>
                <a:lnTo>
                  <a:pt x="0" y="7848045"/>
                </a:lnTo>
                <a:lnTo>
                  <a:pt x="0" y="0"/>
                </a:lnTo>
                <a:close/>
              </a:path>
            </a:pathLst>
          </a:custGeom>
          <a:blipFill rotWithShape="1">
            <a:blip r:embed="rId4">
              <a:alphaModFix/>
            </a:blip>
            <a:stretch>
              <a:fillRect b="0" l="0" r="0" t="0"/>
            </a:stretch>
          </a:blipFill>
          <a:ln>
            <a:noFill/>
          </a:ln>
        </p:spPr>
      </p:sp>
      <p:sp>
        <p:nvSpPr>
          <p:cNvPr id="419" name="Google Shape;419;p25"/>
          <p:cNvSpPr txBox="1"/>
          <p:nvPr/>
        </p:nvSpPr>
        <p:spPr>
          <a:xfrm>
            <a:off x="230265" y="2754867"/>
            <a:ext cx="5120425" cy="1424611"/>
          </a:xfrm>
          <a:prstGeom prst="rect">
            <a:avLst/>
          </a:prstGeom>
          <a:noFill/>
          <a:ln>
            <a:noFill/>
          </a:ln>
        </p:spPr>
        <p:txBody>
          <a:bodyPr anchorCtr="0" anchor="t" bIns="0" lIns="0" spcFirstLastPara="1" rIns="0" wrap="square" tIns="0">
            <a:spAutoFit/>
          </a:bodyPr>
          <a:lstStyle/>
          <a:p>
            <a:pPr indent="0" lvl="0" marL="0" marR="0" rtl="0" algn="l">
              <a:lnSpc>
                <a:spcPct val="110008"/>
              </a:lnSpc>
              <a:spcBef>
                <a:spcPts val="0"/>
              </a:spcBef>
              <a:spcAft>
                <a:spcPts val="0"/>
              </a:spcAft>
              <a:buNone/>
            </a:pPr>
            <a:r>
              <a:rPr b="1" i="0" lang="en-US" sz="9972" u="none" cap="none" strike="noStrike">
                <a:solidFill>
                  <a:srgbClr val="FFFFFF"/>
                </a:solidFill>
                <a:latin typeface="Fira Sans Black"/>
                <a:ea typeface="Fira Sans Black"/>
                <a:cs typeface="Fira Sans Black"/>
                <a:sym typeface="Fira Sans Black"/>
              </a:rPr>
              <a:t>SCRUM</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86C7ED"/>
        </a:solidFill>
      </p:bgPr>
    </p:bg>
    <p:spTree>
      <p:nvGrpSpPr>
        <p:cNvPr id="423" name="Shape 423"/>
        <p:cNvGrpSpPr/>
        <p:nvPr/>
      </p:nvGrpSpPr>
      <p:grpSpPr>
        <a:xfrm>
          <a:off x="0" y="0"/>
          <a:ext cx="0" cy="0"/>
          <a:chOff x="0" y="0"/>
          <a:chExt cx="0" cy="0"/>
        </a:xfrm>
      </p:grpSpPr>
      <p:sp>
        <p:nvSpPr>
          <p:cNvPr id="424" name="Google Shape;424;p26"/>
          <p:cNvSpPr/>
          <p:nvPr/>
        </p:nvSpPr>
        <p:spPr>
          <a:xfrm flipH="1">
            <a:off x="-2053973" y="6773437"/>
            <a:ext cx="8370405" cy="4779226"/>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2"/>
            </a:stretch>
          </a:blipFill>
          <a:ln>
            <a:noFill/>
          </a:ln>
        </p:spPr>
      </p:sp>
      <p:grpSp>
        <p:nvGrpSpPr>
          <p:cNvPr id="425" name="Google Shape;425;p26"/>
          <p:cNvGrpSpPr/>
          <p:nvPr/>
        </p:nvGrpSpPr>
        <p:grpSpPr>
          <a:xfrm>
            <a:off x="522778" y="1058384"/>
            <a:ext cx="16736522" cy="8483520"/>
            <a:chOff x="0" y="-66675"/>
            <a:chExt cx="4407973" cy="2234343"/>
          </a:xfrm>
        </p:grpSpPr>
        <p:sp>
          <p:nvSpPr>
            <p:cNvPr id="426" name="Google Shape;426;p26"/>
            <p:cNvSpPr/>
            <p:nvPr/>
          </p:nvSpPr>
          <p:spPr>
            <a:xfrm>
              <a:off x="0" y="0"/>
              <a:ext cx="4407973" cy="2167667"/>
            </a:xfrm>
            <a:custGeom>
              <a:rect b="b" l="l" r="r" t="t"/>
              <a:pathLst>
                <a:path extrusionOk="0" h="2167667" w="4407973">
                  <a:moveTo>
                    <a:pt x="23591" y="0"/>
                  </a:moveTo>
                  <a:lnTo>
                    <a:pt x="4384382" y="0"/>
                  </a:lnTo>
                  <a:cubicBezTo>
                    <a:pt x="4390638" y="0"/>
                    <a:pt x="4396639" y="2486"/>
                    <a:pt x="4401063" y="6910"/>
                  </a:cubicBezTo>
                  <a:cubicBezTo>
                    <a:pt x="4405487" y="11334"/>
                    <a:pt x="4407973" y="17335"/>
                    <a:pt x="4407973" y="23591"/>
                  </a:cubicBezTo>
                  <a:lnTo>
                    <a:pt x="4407973" y="2144076"/>
                  </a:lnTo>
                  <a:cubicBezTo>
                    <a:pt x="4407973" y="2150333"/>
                    <a:pt x="4405487" y="2156333"/>
                    <a:pt x="4401063" y="2160758"/>
                  </a:cubicBezTo>
                  <a:cubicBezTo>
                    <a:pt x="4396639" y="2165182"/>
                    <a:pt x="4390638" y="2167667"/>
                    <a:pt x="4384382" y="2167667"/>
                  </a:cubicBezTo>
                  <a:lnTo>
                    <a:pt x="23591" y="2167667"/>
                  </a:lnTo>
                  <a:cubicBezTo>
                    <a:pt x="17335" y="2167667"/>
                    <a:pt x="11334" y="2165182"/>
                    <a:pt x="6910" y="2160758"/>
                  </a:cubicBezTo>
                  <a:cubicBezTo>
                    <a:pt x="2486" y="2156333"/>
                    <a:pt x="0" y="2150333"/>
                    <a:pt x="0" y="2144076"/>
                  </a:cubicBezTo>
                  <a:lnTo>
                    <a:pt x="0" y="23591"/>
                  </a:lnTo>
                  <a:cubicBezTo>
                    <a:pt x="0" y="17335"/>
                    <a:pt x="2486" y="11334"/>
                    <a:pt x="6910" y="6910"/>
                  </a:cubicBezTo>
                  <a:cubicBezTo>
                    <a:pt x="11334" y="2486"/>
                    <a:pt x="17335" y="0"/>
                    <a:pt x="23591" y="0"/>
                  </a:cubicBezTo>
                  <a:close/>
                </a:path>
              </a:pathLst>
            </a:custGeom>
            <a:solidFill>
              <a:srgbClr val="63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26"/>
            <p:cNvSpPr txBox="1"/>
            <p:nvPr/>
          </p:nvSpPr>
          <p:spPr>
            <a:xfrm>
              <a:off x="0" y="-66675"/>
              <a:ext cx="4407973" cy="2234343"/>
            </a:xfrm>
            <a:prstGeom prst="rect">
              <a:avLst/>
            </a:prstGeom>
            <a:noFill/>
            <a:ln>
              <a:noFill/>
            </a:ln>
          </p:spPr>
          <p:txBody>
            <a:bodyPr anchorCtr="0" anchor="ctr" bIns="50800" lIns="50800" spcFirstLastPara="1" rIns="50800" wrap="square" tIns="50800">
              <a:noAutofit/>
            </a:bodyPr>
            <a:lstStyle/>
            <a:p>
              <a:pPr indent="-323852" lvl="1" marL="647703" marR="0" rtl="0" algn="just">
                <a:lnSpc>
                  <a:spcPct val="140000"/>
                </a:lnSpc>
                <a:spcBef>
                  <a:spcPts val="0"/>
                </a:spcBef>
                <a:spcAft>
                  <a:spcPts val="0"/>
                </a:spcAft>
                <a:buClr>
                  <a:srgbClr val="FFFFFF"/>
                </a:buClr>
                <a:buSzPts val="3000"/>
                <a:buFont typeface="Arial"/>
                <a:buChar char="•"/>
              </a:pPr>
              <a:r>
                <a:rPr b="1" i="0" lang="en-US" sz="3000" u="none" cap="none" strike="noStrike">
                  <a:solidFill>
                    <a:srgbClr val="FFFFFF"/>
                  </a:solidFill>
                  <a:latin typeface="Fira Sans"/>
                  <a:ea typeface="Fira Sans"/>
                  <a:cs typeface="Fira Sans"/>
                  <a:sym typeface="Fira Sans"/>
                </a:rPr>
                <a:t>Esta configurado para que pequeños equipos de desarrollo muy capacitados elaboren cualquier tarea en poco tiempo. </a:t>
              </a:r>
              <a:endParaRPr/>
            </a:p>
            <a:p>
              <a:pPr indent="0" lvl="0" marL="0" marR="0" rtl="0" algn="just">
                <a:lnSpc>
                  <a:spcPct val="140000"/>
                </a:lnSpc>
                <a:spcBef>
                  <a:spcPts val="0"/>
                </a:spcBef>
                <a:spcAft>
                  <a:spcPts val="0"/>
                </a:spcAft>
                <a:buNone/>
              </a:pPr>
              <a:r>
                <a:t/>
              </a:r>
              <a:endParaRPr b="1" i="0" sz="3000" u="none" cap="none" strike="noStrike">
                <a:solidFill>
                  <a:srgbClr val="FFFFFF"/>
                </a:solidFill>
                <a:latin typeface="Fira Sans"/>
                <a:ea typeface="Fira Sans"/>
                <a:cs typeface="Fira Sans"/>
                <a:sym typeface="Fira Sans"/>
              </a:endParaRPr>
            </a:p>
            <a:p>
              <a:pPr indent="-323852" lvl="1" marL="647703" marR="0" rtl="0" algn="just">
                <a:lnSpc>
                  <a:spcPct val="140000"/>
                </a:lnSpc>
                <a:spcBef>
                  <a:spcPts val="0"/>
                </a:spcBef>
                <a:spcAft>
                  <a:spcPts val="0"/>
                </a:spcAft>
                <a:buClr>
                  <a:srgbClr val="FFFFFF"/>
                </a:buClr>
                <a:buSzPts val="3000"/>
                <a:buFont typeface="Arial"/>
                <a:buChar char="•"/>
              </a:pPr>
              <a:r>
                <a:rPr b="1" i="0" lang="en-US" sz="3000" u="none" cap="none" strike="noStrike">
                  <a:solidFill>
                    <a:srgbClr val="FFFFFF"/>
                  </a:solidFill>
                  <a:latin typeface="Fira Sans"/>
                  <a:ea typeface="Fira Sans"/>
                  <a:cs typeface="Fira Sans"/>
                  <a:sym typeface="Fira Sans"/>
                </a:rPr>
                <a:t>Los activos más importantes son las personas y su compromiso, relegando así a un segundo plano el tiempo y los costes.</a:t>
              </a:r>
              <a:endParaRPr/>
            </a:p>
            <a:p>
              <a:pPr indent="0" lvl="0" marL="0" marR="0" rtl="0" algn="just">
                <a:lnSpc>
                  <a:spcPct val="140000"/>
                </a:lnSpc>
                <a:spcBef>
                  <a:spcPts val="0"/>
                </a:spcBef>
                <a:spcAft>
                  <a:spcPts val="0"/>
                </a:spcAft>
                <a:buNone/>
              </a:pPr>
              <a:r>
                <a:t/>
              </a:r>
              <a:endParaRPr b="1" i="0" sz="3000" u="none" cap="none" strike="noStrike">
                <a:solidFill>
                  <a:srgbClr val="FFFFFF"/>
                </a:solidFill>
                <a:latin typeface="Fira Sans"/>
                <a:ea typeface="Fira Sans"/>
                <a:cs typeface="Fira Sans"/>
                <a:sym typeface="Fira Sans"/>
              </a:endParaRPr>
            </a:p>
            <a:p>
              <a:pPr indent="-323852" lvl="1" marL="647703" marR="0" rtl="0" algn="just">
                <a:lnSpc>
                  <a:spcPct val="140000"/>
                </a:lnSpc>
                <a:spcBef>
                  <a:spcPts val="0"/>
                </a:spcBef>
                <a:spcAft>
                  <a:spcPts val="0"/>
                </a:spcAft>
                <a:buClr>
                  <a:srgbClr val="FFFFFF"/>
                </a:buClr>
                <a:buSzPts val="3000"/>
                <a:buFont typeface="Arial"/>
                <a:buChar char="•"/>
              </a:pPr>
              <a:r>
                <a:rPr b="1" i="0" lang="en-US" sz="3000" u="none" cap="none" strike="noStrike">
                  <a:solidFill>
                    <a:srgbClr val="FFFFFF"/>
                  </a:solidFill>
                  <a:latin typeface="Fira Sans"/>
                  <a:ea typeface="Fira Sans"/>
                  <a:cs typeface="Fira Sans"/>
                  <a:sym typeface="Fira Sans"/>
                </a:rPr>
                <a:t>Maximiza el valor para el cliente y tiene como objetivo mejorar los procesos mediante la eliminación de actividades que no tienen valor agregado.</a:t>
              </a:r>
              <a:endParaRPr/>
            </a:p>
            <a:p>
              <a:pPr indent="0" lvl="0" marL="0" marR="0" rtl="0" algn="just">
                <a:lnSpc>
                  <a:spcPct val="140000"/>
                </a:lnSpc>
                <a:spcBef>
                  <a:spcPts val="0"/>
                </a:spcBef>
                <a:spcAft>
                  <a:spcPts val="0"/>
                </a:spcAft>
                <a:buNone/>
              </a:pPr>
              <a:r>
                <a:t/>
              </a:r>
              <a:endParaRPr b="1" i="0" sz="3000" u="none" cap="none" strike="noStrike">
                <a:solidFill>
                  <a:srgbClr val="FFFFFF"/>
                </a:solidFill>
                <a:latin typeface="Fira Sans"/>
                <a:ea typeface="Fira Sans"/>
                <a:cs typeface="Fira Sans"/>
                <a:sym typeface="Fira Sans"/>
              </a:endParaRPr>
            </a:p>
            <a:p>
              <a:pPr indent="-323852" lvl="1" marL="647703" marR="0" rtl="0" algn="just">
                <a:lnSpc>
                  <a:spcPct val="140000"/>
                </a:lnSpc>
                <a:spcBef>
                  <a:spcPts val="0"/>
                </a:spcBef>
                <a:spcAft>
                  <a:spcPts val="0"/>
                </a:spcAft>
                <a:buClr>
                  <a:srgbClr val="FFFFFF"/>
                </a:buClr>
                <a:buSzPts val="3000"/>
                <a:buFont typeface="Arial"/>
                <a:buChar char="•"/>
              </a:pPr>
              <a:r>
                <a:rPr b="1" i="0" lang="en-US" sz="3000" u="none" cap="none" strike="noStrike">
                  <a:solidFill>
                    <a:srgbClr val="FFFFFF"/>
                  </a:solidFill>
                  <a:latin typeface="Fira Sans"/>
                  <a:ea typeface="Fira Sans"/>
                  <a:cs typeface="Fira Sans"/>
                  <a:sym typeface="Fira Sans"/>
                </a:rPr>
                <a:t>Como desperdicios entendemos cualquier actividad que consume recursos, principalmente tiempo de desarrollo, pero que no agrega valor para el cliente. Algunos ejemplos de actividades que pueden dar lugar a estos desperdicios sería la sobre ingeniería, el desarrollo de features no solicitadas o la redundancia de tareas.</a:t>
              </a:r>
              <a:endParaRPr/>
            </a:p>
            <a:p>
              <a:pPr indent="0" lvl="0" marL="0" marR="0" rtl="0" algn="just">
                <a:lnSpc>
                  <a:spcPct val="140000"/>
                </a:lnSpc>
                <a:spcBef>
                  <a:spcPts val="0"/>
                </a:spcBef>
                <a:spcAft>
                  <a:spcPts val="0"/>
                </a:spcAft>
                <a:buNone/>
              </a:pPr>
              <a:r>
                <a:t/>
              </a:r>
              <a:endParaRPr b="1" i="0" sz="3000" u="none" cap="none" strike="noStrike">
                <a:solidFill>
                  <a:srgbClr val="FFFFFF"/>
                </a:solidFill>
                <a:latin typeface="Fira Sans"/>
                <a:ea typeface="Fira Sans"/>
                <a:cs typeface="Fira Sans"/>
                <a:sym typeface="Fira Sans"/>
              </a:endParaRPr>
            </a:p>
            <a:p>
              <a:pPr indent="0" lvl="0" marL="0" marR="0" rtl="0" algn="just">
                <a:lnSpc>
                  <a:spcPct val="140000"/>
                </a:lnSpc>
                <a:spcBef>
                  <a:spcPts val="0"/>
                </a:spcBef>
                <a:spcAft>
                  <a:spcPts val="0"/>
                </a:spcAft>
                <a:buNone/>
              </a:pPr>
              <a:r>
                <a:t/>
              </a:r>
              <a:endParaRPr b="1" i="0" sz="3000" u="none" cap="none" strike="noStrike">
                <a:solidFill>
                  <a:srgbClr val="FFFFFF"/>
                </a:solidFill>
                <a:latin typeface="Fira Sans"/>
                <a:ea typeface="Fira Sans"/>
                <a:cs typeface="Fira Sans"/>
                <a:sym typeface="Fira Sans"/>
              </a:endParaRPr>
            </a:p>
          </p:txBody>
        </p:sp>
      </p:grpSp>
      <p:sp>
        <p:nvSpPr>
          <p:cNvPr id="428" name="Google Shape;428;p26"/>
          <p:cNvSpPr txBox="1"/>
          <p:nvPr/>
        </p:nvSpPr>
        <p:spPr>
          <a:xfrm>
            <a:off x="205841" y="235216"/>
            <a:ext cx="3850777" cy="107632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7500" u="none" cap="none" strike="noStrike">
                <a:solidFill>
                  <a:srgbClr val="FFFFFF"/>
                </a:solidFill>
                <a:latin typeface="Fira Sans Black"/>
                <a:ea typeface="Fira Sans Black"/>
                <a:cs typeface="Fira Sans Black"/>
                <a:sym typeface="Fira Sans Black"/>
              </a:rPr>
              <a:t>LEAN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432" name="Shape 432"/>
        <p:cNvGrpSpPr/>
        <p:nvPr/>
      </p:nvGrpSpPr>
      <p:grpSpPr>
        <a:xfrm>
          <a:off x="0" y="0"/>
          <a:ext cx="0" cy="0"/>
          <a:chOff x="0" y="0"/>
          <a:chExt cx="0" cy="0"/>
        </a:xfrm>
      </p:grpSpPr>
      <p:sp>
        <p:nvSpPr>
          <p:cNvPr id="433" name="Google Shape;433;p27"/>
          <p:cNvSpPr/>
          <p:nvPr/>
        </p:nvSpPr>
        <p:spPr>
          <a:xfrm flipH="1">
            <a:off x="-2053973" y="6773437"/>
            <a:ext cx="8370405" cy="4779226"/>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2"/>
            </a:stretch>
          </a:blipFill>
          <a:ln>
            <a:noFill/>
          </a:ln>
        </p:spPr>
      </p:sp>
      <p:grpSp>
        <p:nvGrpSpPr>
          <p:cNvPr id="434" name="Google Shape;434;p27"/>
          <p:cNvGrpSpPr/>
          <p:nvPr/>
        </p:nvGrpSpPr>
        <p:grpSpPr>
          <a:xfrm>
            <a:off x="2131229" y="2176693"/>
            <a:ext cx="14099721" cy="6475825"/>
            <a:chOff x="0" y="-66675"/>
            <a:chExt cx="3713507" cy="1705567"/>
          </a:xfrm>
        </p:grpSpPr>
        <p:sp>
          <p:nvSpPr>
            <p:cNvPr id="435" name="Google Shape;435;p27"/>
            <p:cNvSpPr/>
            <p:nvPr/>
          </p:nvSpPr>
          <p:spPr>
            <a:xfrm>
              <a:off x="0" y="0"/>
              <a:ext cx="3713507" cy="1638892"/>
            </a:xfrm>
            <a:custGeom>
              <a:rect b="b" l="l" r="r" t="t"/>
              <a:pathLst>
                <a:path extrusionOk="0" h="1638892" w="3713507">
                  <a:moveTo>
                    <a:pt x="28003" y="0"/>
                  </a:moveTo>
                  <a:lnTo>
                    <a:pt x="3685503" y="0"/>
                  </a:lnTo>
                  <a:cubicBezTo>
                    <a:pt x="3700969" y="0"/>
                    <a:pt x="3713507" y="12537"/>
                    <a:pt x="3713507" y="28003"/>
                  </a:cubicBezTo>
                  <a:lnTo>
                    <a:pt x="3713507" y="1610889"/>
                  </a:lnTo>
                  <a:cubicBezTo>
                    <a:pt x="3713507" y="1626354"/>
                    <a:pt x="3700969" y="1638892"/>
                    <a:pt x="3685503" y="1638892"/>
                  </a:cubicBezTo>
                  <a:lnTo>
                    <a:pt x="28003" y="1638892"/>
                  </a:lnTo>
                  <a:cubicBezTo>
                    <a:pt x="12537" y="1638892"/>
                    <a:pt x="0" y="1626354"/>
                    <a:pt x="0" y="1610889"/>
                  </a:cubicBezTo>
                  <a:lnTo>
                    <a:pt x="0" y="28003"/>
                  </a:lnTo>
                  <a:cubicBezTo>
                    <a:pt x="0" y="12537"/>
                    <a:pt x="12537" y="0"/>
                    <a:pt x="28003" y="0"/>
                  </a:cubicBezTo>
                  <a:close/>
                </a:path>
              </a:pathLst>
            </a:custGeom>
            <a:solidFill>
              <a:srgbClr val="63667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27"/>
            <p:cNvSpPr txBox="1"/>
            <p:nvPr/>
          </p:nvSpPr>
          <p:spPr>
            <a:xfrm>
              <a:off x="0" y="-66675"/>
              <a:ext cx="3713507" cy="1705567"/>
            </a:xfrm>
            <a:prstGeom prst="rect">
              <a:avLst/>
            </a:prstGeom>
            <a:noFill/>
            <a:ln>
              <a:noFill/>
            </a:ln>
          </p:spPr>
          <p:txBody>
            <a:bodyPr anchorCtr="0" anchor="ctr" bIns="50800" lIns="50800" spcFirstLastPara="1" rIns="50800" wrap="square" tIns="50800">
              <a:noAutofit/>
            </a:bodyPr>
            <a:lstStyle/>
            <a:p>
              <a:pPr indent="0" lvl="0" marL="0" marR="0" rtl="0" algn="just">
                <a:lnSpc>
                  <a:spcPct val="140000"/>
                </a:lnSpc>
                <a:spcBef>
                  <a:spcPts val="0"/>
                </a:spcBef>
                <a:spcAft>
                  <a:spcPts val="0"/>
                </a:spcAft>
                <a:buNone/>
              </a:pPr>
              <a:r>
                <a:rPr b="1" i="0" lang="en-US" sz="3000" u="none" cap="none" strike="noStrike">
                  <a:solidFill>
                    <a:srgbClr val="FFFFFF"/>
                  </a:solidFill>
                  <a:latin typeface="Fira Sans"/>
                  <a:ea typeface="Fira Sans"/>
                  <a:cs typeface="Fira Sans"/>
                  <a:sym typeface="Fira Sans"/>
                </a:rPr>
                <a:t>Es una metodología de desarrollo de software basada en las relaciones interpersonales, que se consideran la clave del éxito. Su principal objetivo es crear un buen ambiente de trabajo en equipo y que haya un feedback constante del cliente. El trabajo se basa en 12 conceptos: diseño sencillo, testing, refactorización y codificación con estándares, propiedad colectiva del código, programación en parejas, integración continua, entregas semanales e integridad con el cliente, entregas frecuentes y planificación.</a:t>
              </a:r>
              <a:endParaRPr/>
            </a:p>
          </p:txBody>
        </p:sp>
      </p:grpSp>
      <p:sp>
        <p:nvSpPr>
          <p:cNvPr id="437" name="Google Shape;437;p27"/>
          <p:cNvSpPr txBox="1"/>
          <p:nvPr/>
        </p:nvSpPr>
        <p:spPr>
          <a:xfrm>
            <a:off x="1907616" y="842993"/>
            <a:ext cx="15058178" cy="1076325"/>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7500" u="none" cap="none" strike="noStrike">
                <a:solidFill>
                  <a:srgbClr val="FFFFFF"/>
                </a:solidFill>
                <a:latin typeface="Fira Sans Black"/>
                <a:ea typeface="Fira Sans Black"/>
                <a:cs typeface="Fira Sans Black"/>
                <a:sym typeface="Fira Sans Black"/>
              </a:rPr>
              <a:t>XP (EXTREME PROGRAMMING)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441" name="Shape 441"/>
        <p:cNvGrpSpPr/>
        <p:nvPr/>
      </p:nvGrpSpPr>
      <p:grpSpPr>
        <a:xfrm>
          <a:off x="0" y="0"/>
          <a:ext cx="0" cy="0"/>
          <a:chOff x="0" y="0"/>
          <a:chExt cx="0" cy="0"/>
        </a:xfrm>
      </p:grpSpPr>
      <p:sp>
        <p:nvSpPr>
          <p:cNvPr id="442" name="Google Shape;442;p28"/>
          <p:cNvSpPr/>
          <p:nvPr/>
        </p:nvSpPr>
        <p:spPr>
          <a:xfrm flipH="1">
            <a:off x="-2053973" y="6773437"/>
            <a:ext cx="8370405" cy="4779226"/>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2"/>
            </a:stretch>
          </a:blipFill>
          <a:ln>
            <a:noFill/>
          </a:ln>
        </p:spPr>
      </p:sp>
      <p:sp>
        <p:nvSpPr>
          <p:cNvPr id="443" name="Google Shape;443;p28"/>
          <p:cNvSpPr/>
          <p:nvPr/>
        </p:nvSpPr>
        <p:spPr>
          <a:xfrm>
            <a:off x="1845701" y="952463"/>
            <a:ext cx="14596599" cy="8210587"/>
          </a:xfrm>
          <a:custGeom>
            <a:rect b="b" l="l" r="r" t="t"/>
            <a:pathLst>
              <a:path extrusionOk="0" h="8210587" w="14596599">
                <a:moveTo>
                  <a:pt x="0" y="0"/>
                </a:moveTo>
                <a:lnTo>
                  <a:pt x="14596598" y="0"/>
                </a:lnTo>
                <a:lnTo>
                  <a:pt x="14596598" y="8210587"/>
                </a:lnTo>
                <a:lnTo>
                  <a:pt x="0" y="8210587"/>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86C7ED"/>
        </a:solidFill>
      </p:bgPr>
    </p:bg>
    <p:spTree>
      <p:nvGrpSpPr>
        <p:cNvPr id="447" name="Shape 447"/>
        <p:cNvGrpSpPr/>
        <p:nvPr/>
      </p:nvGrpSpPr>
      <p:grpSpPr>
        <a:xfrm>
          <a:off x="0" y="0"/>
          <a:ext cx="0" cy="0"/>
          <a:chOff x="0" y="0"/>
          <a:chExt cx="0" cy="0"/>
        </a:xfrm>
      </p:grpSpPr>
      <p:sp>
        <p:nvSpPr>
          <p:cNvPr id="448" name="Google Shape;448;p29"/>
          <p:cNvSpPr/>
          <p:nvPr/>
        </p:nvSpPr>
        <p:spPr>
          <a:xfrm flipH="1">
            <a:off x="-2053973" y="6773437"/>
            <a:ext cx="8370405" cy="4779226"/>
          </a:xfrm>
          <a:custGeom>
            <a:rect b="b" l="l" r="r" t="t"/>
            <a:pathLst>
              <a:path extrusionOk="0" h="4779226" w="8370405">
                <a:moveTo>
                  <a:pt x="8370405" y="0"/>
                </a:moveTo>
                <a:lnTo>
                  <a:pt x="0" y="0"/>
                </a:lnTo>
                <a:lnTo>
                  <a:pt x="0" y="4779226"/>
                </a:lnTo>
                <a:lnTo>
                  <a:pt x="8370405" y="4779226"/>
                </a:lnTo>
                <a:lnTo>
                  <a:pt x="8370405" y="0"/>
                </a:lnTo>
                <a:close/>
              </a:path>
            </a:pathLst>
          </a:custGeom>
          <a:blipFill rotWithShape="1">
            <a:blip r:embed="rId3">
              <a:alphaModFix/>
            </a:blip>
            <a:stretch>
              <a:fillRect b="0" l="0" r="0" t="-51572"/>
            </a:stretch>
          </a:blipFill>
          <a:ln>
            <a:noFill/>
          </a:ln>
        </p:spPr>
      </p:sp>
      <p:sp>
        <p:nvSpPr>
          <p:cNvPr id="449" name="Google Shape;449;p29"/>
          <p:cNvSpPr/>
          <p:nvPr/>
        </p:nvSpPr>
        <p:spPr>
          <a:xfrm>
            <a:off x="3177844" y="221421"/>
            <a:ext cx="11932313" cy="9844158"/>
          </a:xfrm>
          <a:custGeom>
            <a:rect b="b" l="l" r="r" t="t"/>
            <a:pathLst>
              <a:path extrusionOk="0" h="9844158" w="11932313">
                <a:moveTo>
                  <a:pt x="0" y="0"/>
                </a:moveTo>
                <a:lnTo>
                  <a:pt x="11932312" y="0"/>
                </a:lnTo>
                <a:lnTo>
                  <a:pt x="11932312" y="9844158"/>
                </a:lnTo>
                <a:lnTo>
                  <a:pt x="0" y="9844158"/>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14B"/>
        </a:solidFill>
      </p:bgPr>
    </p:bg>
    <p:spTree>
      <p:nvGrpSpPr>
        <p:cNvPr id="453" name="Shape 453"/>
        <p:cNvGrpSpPr/>
        <p:nvPr/>
      </p:nvGrpSpPr>
      <p:grpSpPr>
        <a:xfrm>
          <a:off x="0" y="0"/>
          <a:ext cx="0" cy="0"/>
          <a:chOff x="0" y="0"/>
          <a:chExt cx="0" cy="0"/>
        </a:xfrm>
      </p:grpSpPr>
      <p:sp>
        <p:nvSpPr>
          <p:cNvPr id="454" name="Google Shape;454;p30"/>
          <p:cNvSpPr/>
          <p:nvPr/>
        </p:nvSpPr>
        <p:spPr>
          <a:xfrm>
            <a:off x="1172686" y="1028700"/>
            <a:ext cx="5154788" cy="7379877"/>
          </a:xfrm>
          <a:custGeom>
            <a:rect b="b" l="l" r="r" t="t"/>
            <a:pathLst>
              <a:path extrusionOk="0" h="15163800" w="10591800">
                <a:moveTo>
                  <a:pt x="10591800" y="254000"/>
                </a:moveTo>
                <a:lnTo>
                  <a:pt x="10591800" y="14909800"/>
                </a:lnTo>
                <a:cubicBezTo>
                  <a:pt x="10591800" y="15050136"/>
                  <a:pt x="10478135" y="15163800"/>
                  <a:pt x="10337800" y="15163800"/>
                </a:cubicBezTo>
                <a:lnTo>
                  <a:pt x="254000" y="15163800"/>
                </a:lnTo>
                <a:cubicBezTo>
                  <a:pt x="113665" y="15163800"/>
                  <a:pt x="0" y="15050136"/>
                  <a:pt x="0" y="14909800"/>
                </a:cubicBezTo>
                <a:lnTo>
                  <a:pt x="0" y="254000"/>
                </a:lnTo>
                <a:cubicBezTo>
                  <a:pt x="0" y="113665"/>
                  <a:pt x="113665" y="0"/>
                  <a:pt x="254000" y="0"/>
                </a:cubicBezTo>
                <a:lnTo>
                  <a:pt x="10337800" y="0"/>
                </a:lnTo>
                <a:cubicBezTo>
                  <a:pt x="10478135" y="0"/>
                  <a:pt x="10591800" y="113665"/>
                  <a:pt x="10591800" y="254000"/>
                </a:cubicBezTo>
                <a:close/>
              </a:path>
            </a:pathLst>
          </a:custGeom>
          <a:blipFill rotWithShape="1">
            <a:blip r:embed="rId3">
              <a:alphaModFix/>
            </a:blip>
            <a:stretch>
              <a:fillRect b="0" l="-56441" r="-56441"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55" name="Google Shape;455;p30"/>
          <p:cNvGrpSpPr/>
          <p:nvPr/>
        </p:nvGrpSpPr>
        <p:grpSpPr>
          <a:xfrm rot="-3652496">
            <a:off x="-431530" y="4384802"/>
            <a:ext cx="7165709" cy="12423070"/>
            <a:chOff x="0" y="-38100"/>
            <a:chExt cx="1887265" cy="3271920"/>
          </a:xfrm>
        </p:grpSpPr>
        <p:sp>
          <p:nvSpPr>
            <p:cNvPr id="456" name="Google Shape;456;p30"/>
            <p:cNvSpPr/>
            <p:nvPr/>
          </p:nvSpPr>
          <p:spPr>
            <a:xfrm>
              <a:off x="0" y="0"/>
              <a:ext cx="1887265" cy="3233819"/>
            </a:xfrm>
            <a:custGeom>
              <a:rect b="b" l="l" r="r" t="t"/>
              <a:pathLst>
                <a:path extrusionOk="0" h="3233819" w="1887265">
                  <a:moveTo>
                    <a:pt x="0" y="0"/>
                  </a:moveTo>
                  <a:lnTo>
                    <a:pt x="1887265" y="0"/>
                  </a:lnTo>
                  <a:lnTo>
                    <a:pt x="1887265" y="3233819"/>
                  </a:lnTo>
                  <a:lnTo>
                    <a:pt x="0" y="3233819"/>
                  </a:lnTo>
                  <a:close/>
                </a:path>
              </a:pathLst>
            </a:custGeom>
            <a:solidFill>
              <a:srgbClr val="15214B"/>
            </a:solidFill>
            <a:ln>
              <a:noFill/>
            </a:ln>
          </p:spPr>
        </p:sp>
        <p:sp>
          <p:nvSpPr>
            <p:cNvPr id="457" name="Google Shape;457;p30"/>
            <p:cNvSpPr txBox="1"/>
            <p:nvPr/>
          </p:nvSpPr>
          <p:spPr>
            <a:xfrm>
              <a:off x="0" y="-38100"/>
              <a:ext cx="1887265" cy="3271920"/>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58" name="Google Shape;458;p30"/>
          <p:cNvSpPr/>
          <p:nvPr/>
        </p:nvSpPr>
        <p:spPr>
          <a:xfrm>
            <a:off x="-3892288" y="5534744"/>
            <a:ext cx="10309576" cy="10193594"/>
          </a:xfrm>
          <a:custGeom>
            <a:rect b="b" l="l" r="r" t="t"/>
            <a:pathLst>
              <a:path extrusionOk="0" h="10193594" w="10309576">
                <a:moveTo>
                  <a:pt x="0" y="0"/>
                </a:moveTo>
                <a:lnTo>
                  <a:pt x="10309576" y="0"/>
                </a:lnTo>
                <a:lnTo>
                  <a:pt x="10309576" y="10193594"/>
                </a:lnTo>
                <a:lnTo>
                  <a:pt x="0" y="10193594"/>
                </a:lnTo>
                <a:lnTo>
                  <a:pt x="0" y="0"/>
                </a:lnTo>
                <a:close/>
              </a:path>
            </a:pathLst>
          </a:custGeom>
          <a:blipFill rotWithShape="1">
            <a:blip r:embed="rId4">
              <a:alphaModFix/>
            </a:blip>
            <a:stretch>
              <a:fillRect b="0" l="0" r="0" t="0"/>
            </a:stretch>
          </a:blipFill>
          <a:ln>
            <a:noFill/>
          </a:ln>
        </p:spPr>
      </p:sp>
      <p:sp>
        <p:nvSpPr>
          <p:cNvPr id="459" name="Google Shape;459;p30"/>
          <p:cNvSpPr/>
          <p:nvPr/>
        </p:nvSpPr>
        <p:spPr>
          <a:xfrm>
            <a:off x="-2418339" y="7218973"/>
            <a:ext cx="6894077" cy="6825136"/>
          </a:xfrm>
          <a:custGeom>
            <a:rect b="b" l="l" r="r" t="t"/>
            <a:pathLst>
              <a:path extrusionOk="0" h="6825136" w="6894077">
                <a:moveTo>
                  <a:pt x="0" y="0"/>
                </a:moveTo>
                <a:lnTo>
                  <a:pt x="6894078" y="0"/>
                </a:lnTo>
                <a:lnTo>
                  <a:pt x="6894078" y="6825136"/>
                </a:lnTo>
                <a:lnTo>
                  <a:pt x="0" y="6825136"/>
                </a:lnTo>
                <a:lnTo>
                  <a:pt x="0" y="0"/>
                </a:lnTo>
                <a:close/>
              </a:path>
            </a:pathLst>
          </a:custGeom>
          <a:blipFill rotWithShape="1">
            <a:blip r:embed="rId5">
              <a:alphaModFix/>
            </a:blip>
            <a:stretch>
              <a:fillRect b="0" l="0" r="0" t="0"/>
            </a:stretch>
          </a:blipFill>
          <a:ln>
            <a:noFill/>
          </a:ln>
        </p:spPr>
      </p:sp>
      <p:sp>
        <p:nvSpPr>
          <p:cNvPr id="460" name="Google Shape;460;p30"/>
          <p:cNvSpPr/>
          <p:nvPr/>
        </p:nvSpPr>
        <p:spPr>
          <a:xfrm>
            <a:off x="17032836" y="-552065"/>
            <a:ext cx="3193464" cy="3161529"/>
          </a:xfrm>
          <a:custGeom>
            <a:rect b="b" l="l" r="r" t="t"/>
            <a:pathLst>
              <a:path extrusionOk="0" h="3161529" w="3193464">
                <a:moveTo>
                  <a:pt x="0" y="0"/>
                </a:moveTo>
                <a:lnTo>
                  <a:pt x="3193464" y="0"/>
                </a:lnTo>
                <a:lnTo>
                  <a:pt x="3193464" y="3161530"/>
                </a:lnTo>
                <a:lnTo>
                  <a:pt x="0" y="3161530"/>
                </a:lnTo>
                <a:lnTo>
                  <a:pt x="0" y="0"/>
                </a:lnTo>
                <a:close/>
              </a:path>
            </a:pathLst>
          </a:custGeom>
          <a:blipFill rotWithShape="1">
            <a:blip r:embed="rId5">
              <a:alphaModFix/>
            </a:blip>
            <a:stretch>
              <a:fillRect b="0" l="0" r="0" t="0"/>
            </a:stretch>
          </a:blipFill>
          <a:ln>
            <a:noFill/>
          </a:ln>
        </p:spPr>
      </p:sp>
      <p:cxnSp>
        <p:nvCxnSpPr>
          <p:cNvPr id="461" name="Google Shape;461;p30"/>
          <p:cNvCxnSpPr/>
          <p:nvPr/>
        </p:nvCxnSpPr>
        <p:spPr>
          <a:xfrm>
            <a:off x="7075187" y="9649562"/>
            <a:ext cx="12340043" cy="0"/>
          </a:xfrm>
          <a:prstGeom prst="straightConnector1">
            <a:avLst/>
          </a:prstGeom>
          <a:noFill/>
          <a:ln cap="flat" cmpd="sng" w="47625">
            <a:solidFill>
              <a:srgbClr val="B2DEFF"/>
            </a:solidFill>
            <a:prstDash val="solid"/>
            <a:round/>
            <a:headEnd len="sm" w="sm" type="none"/>
            <a:tailEnd len="sm" w="sm" type="none"/>
          </a:ln>
        </p:spPr>
      </p:cxnSp>
      <p:sp>
        <p:nvSpPr>
          <p:cNvPr id="462" name="Google Shape;462;p30"/>
          <p:cNvSpPr txBox="1"/>
          <p:nvPr/>
        </p:nvSpPr>
        <p:spPr>
          <a:xfrm>
            <a:off x="7078275" y="1622406"/>
            <a:ext cx="7056457" cy="1900809"/>
          </a:xfrm>
          <a:prstGeom prst="rect">
            <a:avLst/>
          </a:prstGeom>
          <a:noFill/>
          <a:ln>
            <a:noFill/>
          </a:ln>
        </p:spPr>
        <p:txBody>
          <a:bodyPr anchorCtr="0" anchor="t" bIns="0" lIns="0" spcFirstLastPara="1" rIns="0" wrap="square" tIns="0">
            <a:spAutoFit/>
          </a:bodyPr>
          <a:lstStyle/>
          <a:p>
            <a:pPr indent="0" lvl="0" marL="0" marR="0" rtl="0" algn="l">
              <a:lnSpc>
                <a:spcPct val="117002"/>
              </a:lnSpc>
              <a:spcBef>
                <a:spcPts val="0"/>
              </a:spcBef>
              <a:spcAft>
                <a:spcPts val="0"/>
              </a:spcAft>
              <a:buNone/>
            </a:pPr>
            <a:r>
              <a:rPr b="1" i="0" lang="en-US" sz="6399" u="none" cap="none" strike="noStrike">
                <a:solidFill>
                  <a:srgbClr val="637EFF"/>
                </a:solidFill>
                <a:latin typeface="Roboto Condensed"/>
                <a:ea typeface="Roboto Condensed"/>
                <a:cs typeface="Roboto Condensed"/>
                <a:sym typeface="Roboto Condensed"/>
              </a:rPr>
              <a:t>Tendencias Actuales y Futuras</a:t>
            </a:r>
            <a:endParaRPr/>
          </a:p>
        </p:txBody>
      </p:sp>
      <p:sp>
        <p:nvSpPr>
          <p:cNvPr id="463" name="Google Shape;463;p30"/>
          <p:cNvSpPr txBox="1"/>
          <p:nvPr/>
        </p:nvSpPr>
        <p:spPr>
          <a:xfrm>
            <a:off x="6835164" y="4642438"/>
            <a:ext cx="11209725" cy="2205804"/>
          </a:xfrm>
          <a:prstGeom prst="rect">
            <a:avLst/>
          </a:prstGeom>
          <a:noFill/>
          <a:ln>
            <a:noFill/>
          </a:ln>
        </p:spPr>
        <p:txBody>
          <a:bodyPr anchorCtr="0" anchor="t" bIns="0" lIns="0" spcFirstLastPara="1" rIns="0" wrap="square" tIns="0">
            <a:spAutoFit/>
          </a:bodyPr>
          <a:lstStyle/>
          <a:p>
            <a:pPr indent="0" lvl="0" marL="0" marR="0" rtl="0" algn="just">
              <a:lnSpc>
                <a:spcPct val="140006"/>
              </a:lnSpc>
              <a:spcBef>
                <a:spcPts val="0"/>
              </a:spcBef>
              <a:spcAft>
                <a:spcPts val="0"/>
              </a:spcAft>
              <a:buNone/>
            </a:pPr>
            <a:r>
              <a:rPr b="0" i="0" lang="en-US" sz="3157" u="none" cap="none" strike="noStrike">
                <a:solidFill>
                  <a:srgbClr val="FFFFFF"/>
                </a:solidFill>
                <a:latin typeface="Roboto Condensed"/>
                <a:ea typeface="Roboto Condensed"/>
                <a:cs typeface="Roboto Condensed"/>
                <a:sym typeface="Roboto Condensed"/>
              </a:rPr>
              <a:t>Las metodologías de desarrollo de software están en constante evolución, impulsadas por cambios en la tecnología, las expectativas de los usuarios y las dinámicas del mercado. Estas son algunas de las tendencias actuales y futuras más relevantes</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15214B"/>
        </a:solidFill>
      </p:bgPr>
    </p:bg>
    <p:spTree>
      <p:nvGrpSpPr>
        <p:cNvPr id="467" name="Shape 467"/>
        <p:cNvGrpSpPr/>
        <p:nvPr/>
      </p:nvGrpSpPr>
      <p:grpSpPr>
        <a:xfrm>
          <a:off x="0" y="0"/>
          <a:ext cx="0" cy="0"/>
          <a:chOff x="0" y="0"/>
          <a:chExt cx="0" cy="0"/>
        </a:xfrm>
      </p:grpSpPr>
      <p:grpSp>
        <p:nvGrpSpPr>
          <p:cNvPr id="468" name="Google Shape;468;p31"/>
          <p:cNvGrpSpPr/>
          <p:nvPr/>
        </p:nvGrpSpPr>
        <p:grpSpPr>
          <a:xfrm>
            <a:off x="-593457" y="1165907"/>
            <a:ext cx="19474914" cy="7604954"/>
            <a:chOff x="0" y="-38100"/>
            <a:chExt cx="5129195" cy="2002951"/>
          </a:xfrm>
        </p:grpSpPr>
        <p:sp>
          <p:nvSpPr>
            <p:cNvPr id="469" name="Google Shape;469;p31"/>
            <p:cNvSpPr/>
            <p:nvPr/>
          </p:nvSpPr>
          <p:spPr>
            <a:xfrm>
              <a:off x="0" y="0"/>
              <a:ext cx="5129195" cy="1964851"/>
            </a:xfrm>
            <a:custGeom>
              <a:rect b="b" l="l" r="r" t="t"/>
              <a:pathLst>
                <a:path extrusionOk="0" h="1964851" w="5129195">
                  <a:moveTo>
                    <a:pt x="0" y="0"/>
                  </a:moveTo>
                  <a:lnTo>
                    <a:pt x="5129195" y="0"/>
                  </a:lnTo>
                  <a:lnTo>
                    <a:pt x="5129195" y="1964851"/>
                  </a:lnTo>
                  <a:lnTo>
                    <a:pt x="0" y="1964851"/>
                  </a:lnTo>
                  <a:close/>
                </a:path>
              </a:pathLst>
            </a:custGeom>
            <a:solidFill>
              <a:srgbClr val="131E44"/>
            </a:solidFill>
            <a:ln>
              <a:noFill/>
            </a:ln>
          </p:spPr>
        </p:sp>
        <p:sp>
          <p:nvSpPr>
            <p:cNvPr id="470" name="Google Shape;470;p31"/>
            <p:cNvSpPr txBox="1"/>
            <p:nvPr/>
          </p:nvSpPr>
          <p:spPr>
            <a:xfrm>
              <a:off x="0" y="-38100"/>
              <a:ext cx="5129195" cy="20029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71" name="Google Shape;471;p31"/>
          <p:cNvSpPr/>
          <p:nvPr/>
        </p:nvSpPr>
        <p:spPr>
          <a:xfrm flipH="1">
            <a:off x="14996092" y="-182639"/>
            <a:ext cx="3454249" cy="3415389"/>
          </a:xfrm>
          <a:custGeom>
            <a:rect b="b" l="l" r="r" t="t"/>
            <a:pathLst>
              <a:path extrusionOk="0" h="3415389" w="3454249">
                <a:moveTo>
                  <a:pt x="3454248" y="0"/>
                </a:moveTo>
                <a:lnTo>
                  <a:pt x="0" y="0"/>
                </a:lnTo>
                <a:lnTo>
                  <a:pt x="0" y="3415388"/>
                </a:lnTo>
                <a:lnTo>
                  <a:pt x="3454248" y="3415388"/>
                </a:lnTo>
                <a:lnTo>
                  <a:pt x="3454248" y="0"/>
                </a:lnTo>
                <a:close/>
              </a:path>
            </a:pathLst>
          </a:custGeom>
          <a:blipFill rotWithShape="1">
            <a:blip r:embed="rId3">
              <a:alphaModFix/>
            </a:blip>
            <a:stretch>
              <a:fillRect b="0" l="0" r="0" t="0"/>
            </a:stretch>
          </a:blipFill>
          <a:ln>
            <a:noFill/>
          </a:ln>
        </p:spPr>
      </p:sp>
      <p:sp>
        <p:nvSpPr>
          <p:cNvPr id="472" name="Google Shape;472;p31"/>
          <p:cNvSpPr/>
          <p:nvPr/>
        </p:nvSpPr>
        <p:spPr>
          <a:xfrm flipH="1" rot="10800000">
            <a:off x="107635" y="-2794707"/>
            <a:ext cx="4528972" cy="4483682"/>
          </a:xfrm>
          <a:custGeom>
            <a:rect b="b" l="l" r="r" t="t"/>
            <a:pathLst>
              <a:path extrusionOk="0" h="4483682" w="4528972">
                <a:moveTo>
                  <a:pt x="4528972" y="0"/>
                </a:moveTo>
                <a:lnTo>
                  <a:pt x="0" y="0"/>
                </a:lnTo>
                <a:lnTo>
                  <a:pt x="0" y="4483682"/>
                </a:lnTo>
                <a:lnTo>
                  <a:pt x="4528972" y="4483682"/>
                </a:lnTo>
                <a:lnTo>
                  <a:pt x="4528972" y="0"/>
                </a:lnTo>
                <a:close/>
              </a:path>
            </a:pathLst>
          </a:custGeom>
          <a:blipFill rotWithShape="1">
            <a:blip r:embed="rId4">
              <a:alphaModFix/>
            </a:blip>
            <a:stretch>
              <a:fillRect b="0" l="0" r="0" t="0"/>
            </a:stretch>
          </a:blipFill>
          <a:ln>
            <a:noFill/>
          </a:ln>
        </p:spPr>
      </p:sp>
      <p:sp>
        <p:nvSpPr>
          <p:cNvPr id="473" name="Google Shape;473;p31"/>
          <p:cNvSpPr/>
          <p:nvPr/>
        </p:nvSpPr>
        <p:spPr>
          <a:xfrm flipH="1">
            <a:off x="-178523" y="8770861"/>
            <a:ext cx="3454249" cy="3415389"/>
          </a:xfrm>
          <a:custGeom>
            <a:rect b="b" l="l" r="r" t="t"/>
            <a:pathLst>
              <a:path extrusionOk="0" h="3415389" w="3454249">
                <a:moveTo>
                  <a:pt x="3454249" y="0"/>
                </a:moveTo>
                <a:lnTo>
                  <a:pt x="0" y="0"/>
                </a:lnTo>
                <a:lnTo>
                  <a:pt x="0" y="3415388"/>
                </a:lnTo>
                <a:lnTo>
                  <a:pt x="3454249" y="3415388"/>
                </a:lnTo>
                <a:lnTo>
                  <a:pt x="3454249" y="0"/>
                </a:lnTo>
                <a:close/>
              </a:path>
            </a:pathLst>
          </a:custGeom>
          <a:blipFill rotWithShape="1">
            <a:blip r:embed="rId3">
              <a:alphaModFix/>
            </a:blip>
            <a:stretch>
              <a:fillRect b="0" l="0" r="0" t="0"/>
            </a:stretch>
          </a:blipFill>
          <a:ln>
            <a:noFill/>
          </a:ln>
        </p:spPr>
      </p:sp>
      <p:sp>
        <p:nvSpPr>
          <p:cNvPr id="474" name="Google Shape;474;p31"/>
          <p:cNvSpPr/>
          <p:nvPr/>
        </p:nvSpPr>
        <p:spPr>
          <a:xfrm>
            <a:off x="10960130" y="2261957"/>
            <a:ext cx="5763086" cy="5763086"/>
          </a:xfrm>
          <a:custGeom>
            <a:rect b="b" l="l" r="r" t="t"/>
            <a:pathLst>
              <a:path extrusionOk="0" h="5763086" w="5763086">
                <a:moveTo>
                  <a:pt x="0" y="0"/>
                </a:moveTo>
                <a:lnTo>
                  <a:pt x="5763086" y="0"/>
                </a:lnTo>
                <a:lnTo>
                  <a:pt x="5763086" y="5763086"/>
                </a:lnTo>
                <a:lnTo>
                  <a:pt x="0" y="5763086"/>
                </a:lnTo>
                <a:lnTo>
                  <a:pt x="0" y="0"/>
                </a:lnTo>
                <a:close/>
              </a:path>
            </a:pathLst>
          </a:custGeom>
          <a:blipFill rotWithShape="1">
            <a:blip r:embed="rId5">
              <a:alphaModFix/>
            </a:blip>
            <a:stretch>
              <a:fillRect b="0" l="0" r="0" t="0"/>
            </a:stretch>
          </a:blipFill>
          <a:ln>
            <a:noFill/>
          </a:ln>
        </p:spPr>
      </p:sp>
      <p:sp>
        <p:nvSpPr>
          <p:cNvPr id="475" name="Google Shape;475;p31"/>
          <p:cNvSpPr txBox="1"/>
          <p:nvPr/>
        </p:nvSpPr>
        <p:spPr>
          <a:xfrm>
            <a:off x="1028700" y="2022350"/>
            <a:ext cx="8729692" cy="1794510"/>
          </a:xfrm>
          <a:prstGeom prst="rect">
            <a:avLst/>
          </a:prstGeom>
          <a:noFill/>
          <a:ln>
            <a:noFill/>
          </a:ln>
        </p:spPr>
        <p:txBody>
          <a:bodyPr anchorCtr="0" anchor="t" bIns="0" lIns="0" spcFirstLastPara="1" rIns="0" wrap="square" tIns="0">
            <a:spAutoFit/>
          </a:bodyPr>
          <a:lstStyle/>
          <a:p>
            <a:pPr indent="0" lvl="0" marL="0" marR="0" rtl="0" algn="l">
              <a:lnSpc>
                <a:spcPct val="116999"/>
              </a:lnSpc>
              <a:spcBef>
                <a:spcPts val="0"/>
              </a:spcBef>
              <a:spcAft>
                <a:spcPts val="0"/>
              </a:spcAft>
              <a:buNone/>
            </a:pPr>
            <a:r>
              <a:rPr b="1" i="0" lang="en-US" sz="6000" u="none" cap="none" strike="noStrike">
                <a:solidFill>
                  <a:srgbClr val="637EFF"/>
                </a:solidFill>
                <a:latin typeface="Roboto Condensed"/>
                <a:ea typeface="Roboto Condensed"/>
                <a:cs typeface="Roboto Condensed"/>
                <a:sym typeface="Roboto Condensed"/>
              </a:rPr>
              <a:t>Integración de la Inteligencia Artificial (IA)</a:t>
            </a:r>
            <a:endParaRPr/>
          </a:p>
        </p:txBody>
      </p:sp>
      <p:sp>
        <p:nvSpPr>
          <p:cNvPr id="476" name="Google Shape;476;p31"/>
          <p:cNvSpPr txBox="1"/>
          <p:nvPr/>
        </p:nvSpPr>
        <p:spPr>
          <a:xfrm>
            <a:off x="1028700" y="4193598"/>
            <a:ext cx="8729692" cy="37338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Roboto Condensed"/>
                <a:ea typeface="Roboto Condensed"/>
                <a:cs typeface="Roboto Condensed"/>
                <a:sym typeface="Roboto Condensed"/>
              </a:rPr>
              <a:t>Las herramientas impulsadas por IA están ayudando a automatizar tareas repetitivas, mejorar la calidad del código y prever errores. Por ejemplo, los sistemas de análisis predictivo pueden identificar vulnerabilidades potenciales en el código, permitiendo a los equipos abordar problemas antes de que se conviertan en fallos significativos.</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14B"/>
        </a:solidFill>
      </p:bgPr>
    </p:bg>
    <p:spTree>
      <p:nvGrpSpPr>
        <p:cNvPr id="480" name="Shape 480"/>
        <p:cNvGrpSpPr/>
        <p:nvPr/>
      </p:nvGrpSpPr>
      <p:grpSpPr>
        <a:xfrm>
          <a:off x="0" y="0"/>
          <a:ext cx="0" cy="0"/>
          <a:chOff x="0" y="0"/>
          <a:chExt cx="0" cy="0"/>
        </a:xfrm>
      </p:grpSpPr>
      <p:sp>
        <p:nvSpPr>
          <p:cNvPr id="481" name="Google Shape;481;p32"/>
          <p:cNvSpPr txBox="1"/>
          <p:nvPr/>
        </p:nvSpPr>
        <p:spPr>
          <a:xfrm>
            <a:off x="8068118" y="1691969"/>
            <a:ext cx="8784539" cy="1900809"/>
          </a:xfrm>
          <a:prstGeom prst="rect">
            <a:avLst/>
          </a:prstGeom>
          <a:noFill/>
          <a:ln>
            <a:noFill/>
          </a:ln>
        </p:spPr>
        <p:txBody>
          <a:bodyPr anchorCtr="0" anchor="t" bIns="0" lIns="0" spcFirstLastPara="1" rIns="0" wrap="square" tIns="0">
            <a:spAutoFit/>
          </a:bodyPr>
          <a:lstStyle/>
          <a:p>
            <a:pPr indent="0" lvl="0" marL="0" marR="0" rtl="0" algn="r">
              <a:lnSpc>
                <a:spcPct val="117002"/>
              </a:lnSpc>
              <a:spcBef>
                <a:spcPts val="0"/>
              </a:spcBef>
              <a:spcAft>
                <a:spcPts val="0"/>
              </a:spcAft>
              <a:buNone/>
            </a:pPr>
            <a:r>
              <a:rPr b="1" i="0" lang="en-US" sz="6399" u="none" cap="none" strike="noStrike">
                <a:solidFill>
                  <a:srgbClr val="637EFF"/>
                </a:solidFill>
                <a:latin typeface="Roboto Condensed"/>
                <a:ea typeface="Roboto Condensed"/>
                <a:cs typeface="Roboto Condensed"/>
                <a:sym typeface="Roboto Condensed"/>
              </a:rPr>
              <a:t>DevOps y la Cultura de Colaboración</a:t>
            </a:r>
            <a:endParaRPr/>
          </a:p>
        </p:txBody>
      </p:sp>
      <p:sp>
        <p:nvSpPr>
          <p:cNvPr id="482" name="Google Shape;482;p32"/>
          <p:cNvSpPr/>
          <p:nvPr/>
        </p:nvSpPr>
        <p:spPr>
          <a:xfrm>
            <a:off x="15503583" y="-3750128"/>
            <a:ext cx="6460419" cy="6387740"/>
          </a:xfrm>
          <a:custGeom>
            <a:rect b="b" l="l" r="r" t="t"/>
            <a:pathLst>
              <a:path extrusionOk="0" h="6387740" w="6460419">
                <a:moveTo>
                  <a:pt x="0" y="0"/>
                </a:moveTo>
                <a:lnTo>
                  <a:pt x="6460419" y="0"/>
                </a:lnTo>
                <a:lnTo>
                  <a:pt x="6460419" y="6387739"/>
                </a:lnTo>
                <a:lnTo>
                  <a:pt x="0" y="6387739"/>
                </a:lnTo>
                <a:lnTo>
                  <a:pt x="0" y="0"/>
                </a:lnTo>
                <a:close/>
              </a:path>
            </a:pathLst>
          </a:custGeom>
          <a:blipFill rotWithShape="1">
            <a:blip r:embed="rId3">
              <a:alphaModFix/>
            </a:blip>
            <a:stretch>
              <a:fillRect b="0" l="0" r="0" t="0"/>
            </a:stretch>
          </a:blipFill>
          <a:ln>
            <a:noFill/>
          </a:ln>
        </p:spPr>
      </p:sp>
      <p:sp>
        <p:nvSpPr>
          <p:cNvPr id="483" name="Google Shape;483;p32"/>
          <p:cNvSpPr/>
          <p:nvPr/>
        </p:nvSpPr>
        <p:spPr>
          <a:xfrm flipH="1">
            <a:off x="-2000310" y="-3750128"/>
            <a:ext cx="6460419" cy="6387740"/>
          </a:xfrm>
          <a:custGeom>
            <a:rect b="b" l="l" r="r" t="t"/>
            <a:pathLst>
              <a:path extrusionOk="0" h="6387740" w="6460419">
                <a:moveTo>
                  <a:pt x="6460420" y="0"/>
                </a:moveTo>
                <a:lnTo>
                  <a:pt x="0" y="0"/>
                </a:lnTo>
                <a:lnTo>
                  <a:pt x="0" y="6387739"/>
                </a:lnTo>
                <a:lnTo>
                  <a:pt x="6460420" y="6387739"/>
                </a:lnTo>
                <a:lnTo>
                  <a:pt x="6460420" y="0"/>
                </a:lnTo>
                <a:close/>
              </a:path>
            </a:pathLst>
          </a:custGeom>
          <a:blipFill rotWithShape="1">
            <a:blip r:embed="rId3">
              <a:alphaModFix/>
            </a:blip>
            <a:stretch>
              <a:fillRect b="0" l="0" r="0" t="0"/>
            </a:stretch>
          </a:blipFill>
          <a:ln>
            <a:noFill/>
          </a:ln>
        </p:spPr>
      </p:sp>
      <p:sp>
        <p:nvSpPr>
          <p:cNvPr id="484" name="Google Shape;484;p32"/>
          <p:cNvSpPr/>
          <p:nvPr/>
        </p:nvSpPr>
        <p:spPr>
          <a:xfrm>
            <a:off x="15503583" y="-3312832"/>
            <a:ext cx="5568835" cy="5513146"/>
          </a:xfrm>
          <a:custGeom>
            <a:rect b="b" l="l" r="r" t="t"/>
            <a:pathLst>
              <a:path extrusionOk="0" h="5513146" w="5568835">
                <a:moveTo>
                  <a:pt x="0" y="0"/>
                </a:moveTo>
                <a:lnTo>
                  <a:pt x="5568834" y="0"/>
                </a:lnTo>
                <a:lnTo>
                  <a:pt x="5568834" y="5513147"/>
                </a:lnTo>
                <a:lnTo>
                  <a:pt x="0" y="5513147"/>
                </a:lnTo>
                <a:lnTo>
                  <a:pt x="0" y="0"/>
                </a:lnTo>
                <a:close/>
              </a:path>
            </a:pathLst>
          </a:custGeom>
          <a:blipFill rotWithShape="1">
            <a:blip r:embed="rId4">
              <a:alphaModFix/>
            </a:blip>
            <a:stretch>
              <a:fillRect b="0" l="0" r="0" t="0"/>
            </a:stretch>
          </a:blipFill>
          <a:ln>
            <a:noFill/>
          </a:ln>
        </p:spPr>
      </p:sp>
      <p:sp>
        <p:nvSpPr>
          <p:cNvPr id="485" name="Google Shape;485;p32"/>
          <p:cNvSpPr/>
          <p:nvPr/>
        </p:nvSpPr>
        <p:spPr>
          <a:xfrm flipH="1">
            <a:off x="-1755717" y="-3312832"/>
            <a:ext cx="5568835" cy="5513146"/>
          </a:xfrm>
          <a:custGeom>
            <a:rect b="b" l="l" r="r" t="t"/>
            <a:pathLst>
              <a:path extrusionOk="0" h="5513146" w="5568835">
                <a:moveTo>
                  <a:pt x="5568834" y="0"/>
                </a:moveTo>
                <a:lnTo>
                  <a:pt x="0" y="0"/>
                </a:lnTo>
                <a:lnTo>
                  <a:pt x="0" y="5513147"/>
                </a:lnTo>
                <a:lnTo>
                  <a:pt x="5568834" y="5513147"/>
                </a:lnTo>
                <a:lnTo>
                  <a:pt x="5568834" y="0"/>
                </a:lnTo>
                <a:close/>
              </a:path>
            </a:pathLst>
          </a:custGeom>
          <a:blipFill rotWithShape="1">
            <a:blip r:embed="rId4">
              <a:alphaModFix/>
            </a:blip>
            <a:stretch>
              <a:fillRect b="0" l="0" r="0" t="0"/>
            </a:stretch>
          </a:blipFill>
          <a:ln>
            <a:noFill/>
          </a:ln>
        </p:spPr>
      </p:sp>
      <p:sp>
        <p:nvSpPr>
          <p:cNvPr id="486" name="Google Shape;486;p32"/>
          <p:cNvSpPr/>
          <p:nvPr/>
        </p:nvSpPr>
        <p:spPr>
          <a:xfrm flipH="1">
            <a:off x="-2668289" y="8700811"/>
            <a:ext cx="5336579" cy="5276542"/>
          </a:xfrm>
          <a:custGeom>
            <a:rect b="b" l="l" r="r" t="t"/>
            <a:pathLst>
              <a:path extrusionOk="0" h="5276542" w="5336579">
                <a:moveTo>
                  <a:pt x="5336578" y="0"/>
                </a:moveTo>
                <a:lnTo>
                  <a:pt x="0" y="0"/>
                </a:lnTo>
                <a:lnTo>
                  <a:pt x="0" y="5276542"/>
                </a:lnTo>
                <a:lnTo>
                  <a:pt x="5336578" y="5276542"/>
                </a:lnTo>
                <a:lnTo>
                  <a:pt x="5336578" y="0"/>
                </a:lnTo>
                <a:close/>
              </a:path>
            </a:pathLst>
          </a:custGeom>
          <a:blipFill rotWithShape="1">
            <a:blip r:embed="rId3">
              <a:alphaModFix/>
            </a:blip>
            <a:stretch>
              <a:fillRect b="0" l="0" r="0" t="0"/>
            </a:stretch>
          </a:blipFill>
          <a:ln>
            <a:noFill/>
          </a:ln>
        </p:spPr>
      </p:sp>
      <p:sp>
        <p:nvSpPr>
          <p:cNvPr id="487" name="Google Shape;487;p32"/>
          <p:cNvSpPr/>
          <p:nvPr/>
        </p:nvSpPr>
        <p:spPr>
          <a:xfrm flipH="1">
            <a:off x="15257706" y="8700811"/>
            <a:ext cx="5336579" cy="5276542"/>
          </a:xfrm>
          <a:custGeom>
            <a:rect b="b" l="l" r="r" t="t"/>
            <a:pathLst>
              <a:path extrusionOk="0" h="5276542" w="5336579">
                <a:moveTo>
                  <a:pt x="5336579" y="0"/>
                </a:moveTo>
                <a:lnTo>
                  <a:pt x="0" y="0"/>
                </a:lnTo>
                <a:lnTo>
                  <a:pt x="0" y="5276542"/>
                </a:lnTo>
                <a:lnTo>
                  <a:pt x="5336579" y="5276542"/>
                </a:lnTo>
                <a:lnTo>
                  <a:pt x="5336579" y="0"/>
                </a:lnTo>
                <a:close/>
              </a:path>
            </a:pathLst>
          </a:custGeom>
          <a:blipFill rotWithShape="1">
            <a:blip r:embed="rId3">
              <a:alphaModFix/>
            </a:blip>
            <a:stretch>
              <a:fillRect b="0" l="0" r="0" t="0"/>
            </a:stretch>
          </a:blipFill>
          <a:ln>
            <a:noFill/>
          </a:ln>
        </p:spPr>
      </p:sp>
      <p:sp>
        <p:nvSpPr>
          <p:cNvPr id="488" name="Google Shape;488;p32"/>
          <p:cNvSpPr/>
          <p:nvPr/>
        </p:nvSpPr>
        <p:spPr>
          <a:xfrm>
            <a:off x="775187" y="3949369"/>
            <a:ext cx="5481568" cy="3439684"/>
          </a:xfrm>
          <a:custGeom>
            <a:rect b="b" l="l" r="r" t="t"/>
            <a:pathLst>
              <a:path extrusionOk="0" h="3439684" w="5481568">
                <a:moveTo>
                  <a:pt x="0" y="0"/>
                </a:moveTo>
                <a:lnTo>
                  <a:pt x="5481568" y="0"/>
                </a:lnTo>
                <a:lnTo>
                  <a:pt x="5481568" y="3439684"/>
                </a:lnTo>
                <a:lnTo>
                  <a:pt x="0" y="3439684"/>
                </a:lnTo>
                <a:lnTo>
                  <a:pt x="0" y="0"/>
                </a:lnTo>
                <a:close/>
              </a:path>
            </a:pathLst>
          </a:custGeom>
          <a:blipFill rotWithShape="1">
            <a:blip r:embed="rId5">
              <a:alphaModFix/>
            </a:blip>
            <a:stretch>
              <a:fillRect b="0" l="0" r="0" t="0"/>
            </a:stretch>
          </a:blipFill>
          <a:ln>
            <a:noFill/>
          </a:ln>
        </p:spPr>
      </p:sp>
      <p:sp>
        <p:nvSpPr>
          <p:cNvPr id="489" name="Google Shape;489;p32"/>
          <p:cNvSpPr txBox="1"/>
          <p:nvPr/>
        </p:nvSpPr>
        <p:spPr>
          <a:xfrm>
            <a:off x="7284179" y="4069415"/>
            <a:ext cx="9568478" cy="48006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0" i="0" lang="en-US" sz="3000" u="none" cap="none" strike="noStrike">
                <a:solidFill>
                  <a:srgbClr val="FFFFFF"/>
                </a:solidFill>
                <a:latin typeface="Roboto Condensed"/>
                <a:ea typeface="Roboto Condensed"/>
                <a:cs typeface="Roboto Condensed"/>
                <a:sym typeface="Roboto Condensed"/>
              </a:rPr>
              <a:t>La integración de DevOps ha transformado la forma en que los equipos de desarrollo y operaciones colaboran. Esta tendencia promueve una mayor comunicación y colaboración entre ambos grupos, lo que resulta en ciclos de desarrollo más cortos y una entrega continua de software. La adopción de herramientas de integración y entrega continua (CI/CD) permite a los equipos desplegar actualizaciones de manera más eficiente, respondiendo rápidamente a las necesidades del cliente.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14B"/>
        </a:solidFill>
      </p:bgPr>
    </p:bg>
    <p:spTree>
      <p:nvGrpSpPr>
        <p:cNvPr id="493" name="Shape 493"/>
        <p:cNvGrpSpPr/>
        <p:nvPr/>
      </p:nvGrpSpPr>
      <p:grpSpPr>
        <a:xfrm>
          <a:off x="0" y="0"/>
          <a:ext cx="0" cy="0"/>
          <a:chOff x="0" y="0"/>
          <a:chExt cx="0" cy="0"/>
        </a:xfrm>
      </p:grpSpPr>
      <p:grpSp>
        <p:nvGrpSpPr>
          <p:cNvPr id="494" name="Google Shape;494;p33"/>
          <p:cNvGrpSpPr/>
          <p:nvPr/>
        </p:nvGrpSpPr>
        <p:grpSpPr>
          <a:xfrm>
            <a:off x="-593457" y="1165907"/>
            <a:ext cx="19474914" cy="7604954"/>
            <a:chOff x="0" y="-38100"/>
            <a:chExt cx="5129195" cy="2002951"/>
          </a:xfrm>
        </p:grpSpPr>
        <p:sp>
          <p:nvSpPr>
            <p:cNvPr id="495" name="Google Shape;495;p33"/>
            <p:cNvSpPr/>
            <p:nvPr/>
          </p:nvSpPr>
          <p:spPr>
            <a:xfrm>
              <a:off x="0" y="0"/>
              <a:ext cx="5129195" cy="1964851"/>
            </a:xfrm>
            <a:custGeom>
              <a:rect b="b" l="l" r="r" t="t"/>
              <a:pathLst>
                <a:path extrusionOk="0" h="1964851" w="5129195">
                  <a:moveTo>
                    <a:pt x="0" y="0"/>
                  </a:moveTo>
                  <a:lnTo>
                    <a:pt x="5129195" y="0"/>
                  </a:lnTo>
                  <a:lnTo>
                    <a:pt x="5129195" y="1964851"/>
                  </a:lnTo>
                  <a:lnTo>
                    <a:pt x="0" y="1964851"/>
                  </a:lnTo>
                  <a:close/>
                </a:path>
              </a:pathLst>
            </a:custGeom>
            <a:solidFill>
              <a:srgbClr val="131E44"/>
            </a:solidFill>
            <a:ln>
              <a:noFill/>
            </a:ln>
          </p:spPr>
        </p:sp>
        <p:sp>
          <p:nvSpPr>
            <p:cNvPr id="496" name="Google Shape;496;p33"/>
            <p:cNvSpPr txBox="1"/>
            <p:nvPr/>
          </p:nvSpPr>
          <p:spPr>
            <a:xfrm>
              <a:off x="0" y="-38100"/>
              <a:ext cx="5129195" cy="2002951"/>
            </a:xfrm>
            <a:prstGeom prst="rect">
              <a:avLst/>
            </a:prstGeom>
            <a:noFill/>
            <a:ln>
              <a:noFill/>
            </a:ln>
          </p:spPr>
          <p:txBody>
            <a:bodyPr anchorCtr="0" anchor="ctr" bIns="50800" lIns="50800" spcFirstLastPara="1" rIns="50800" wrap="square" tIns="50800">
              <a:noAutofit/>
            </a:bodyPr>
            <a:lstStyle/>
            <a:p>
              <a:pPr indent="0" lvl="0" marL="0" marR="0" rtl="0" algn="ctr">
                <a:lnSpc>
                  <a:spcPct val="1477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97" name="Google Shape;497;p33"/>
          <p:cNvSpPr/>
          <p:nvPr/>
        </p:nvSpPr>
        <p:spPr>
          <a:xfrm flipH="1">
            <a:off x="14996092" y="-182639"/>
            <a:ext cx="3454249" cy="3415389"/>
          </a:xfrm>
          <a:custGeom>
            <a:rect b="b" l="l" r="r" t="t"/>
            <a:pathLst>
              <a:path extrusionOk="0" h="3415389" w="3454249">
                <a:moveTo>
                  <a:pt x="3454248" y="0"/>
                </a:moveTo>
                <a:lnTo>
                  <a:pt x="0" y="0"/>
                </a:lnTo>
                <a:lnTo>
                  <a:pt x="0" y="3415388"/>
                </a:lnTo>
                <a:lnTo>
                  <a:pt x="3454248" y="3415388"/>
                </a:lnTo>
                <a:lnTo>
                  <a:pt x="3454248" y="0"/>
                </a:lnTo>
                <a:close/>
              </a:path>
            </a:pathLst>
          </a:custGeom>
          <a:blipFill rotWithShape="1">
            <a:blip r:embed="rId3">
              <a:alphaModFix/>
            </a:blip>
            <a:stretch>
              <a:fillRect b="0" l="0" r="0" t="0"/>
            </a:stretch>
          </a:blipFill>
          <a:ln>
            <a:noFill/>
          </a:ln>
        </p:spPr>
      </p:sp>
      <p:sp>
        <p:nvSpPr>
          <p:cNvPr id="498" name="Google Shape;498;p33"/>
          <p:cNvSpPr/>
          <p:nvPr/>
        </p:nvSpPr>
        <p:spPr>
          <a:xfrm flipH="1" rot="10800000">
            <a:off x="107635" y="-2794707"/>
            <a:ext cx="4528972" cy="4483682"/>
          </a:xfrm>
          <a:custGeom>
            <a:rect b="b" l="l" r="r" t="t"/>
            <a:pathLst>
              <a:path extrusionOk="0" h="4483682" w="4528972">
                <a:moveTo>
                  <a:pt x="4528972" y="0"/>
                </a:moveTo>
                <a:lnTo>
                  <a:pt x="0" y="0"/>
                </a:lnTo>
                <a:lnTo>
                  <a:pt x="0" y="4483682"/>
                </a:lnTo>
                <a:lnTo>
                  <a:pt x="4528972" y="4483682"/>
                </a:lnTo>
                <a:lnTo>
                  <a:pt x="4528972" y="0"/>
                </a:lnTo>
                <a:close/>
              </a:path>
            </a:pathLst>
          </a:custGeom>
          <a:blipFill rotWithShape="1">
            <a:blip r:embed="rId4">
              <a:alphaModFix/>
            </a:blip>
            <a:stretch>
              <a:fillRect b="0" l="0" r="0" t="0"/>
            </a:stretch>
          </a:blipFill>
          <a:ln>
            <a:noFill/>
          </a:ln>
        </p:spPr>
      </p:sp>
      <p:sp>
        <p:nvSpPr>
          <p:cNvPr id="499" name="Google Shape;499;p33"/>
          <p:cNvSpPr/>
          <p:nvPr/>
        </p:nvSpPr>
        <p:spPr>
          <a:xfrm flipH="1">
            <a:off x="-178523" y="8770861"/>
            <a:ext cx="3454249" cy="3415389"/>
          </a:xfrm>
          <a:custGeom>
            <a:rect b="b" l="l" r="r" t="t"/>
            <a:pathLst>
              <a:path extrusionOk="0" h="3415389" w="3454249">
                <a:moveTo>
                  <a:pt x="3454249" y="0"/>
                </a:moveTo>
                <a:lnTo>
                  <a:pt x="0" y="0"/>
                </a:lnTo>
                <a:lnTo>
                  <a:pt x="0" y="3415388"/>
                </a:lnTo>
                <a:lnTo>
                  <a:pt x="3454249" y="3415388"/>
                </a:lnTo>
                <a:lnTo>
                  <a:pt x="3454249" y="0"/>
                </a:lnTo>
                <a:close/>
              </a:path>
            </a:pathLst>
          </a:custGeom>
          <a:blipFill rotWithShape="1">
            <a:blip r:embed="rId3">
              <a:alphaModFix/>
            </a:blip>
            <a:stretch>
              <a:fillRect b="0" l="0" r="0" t="0"/>
            </a:stretch>
          </a:blipFill>
          <a:ln>
            <a:noFill/>
          </a:ln>
        </p:spPr>
      </p:sp>
      <p:sp>
        <p:nvSpPr>
          <p:cNvPr id="500" name="Google Shape;500;p33"/>
          <p:cNvSpPr/>
          <p:nvPr/>
        </p:nvSpPr>
        <p:spPr>
          <a:xfrm>
            <a:off x="11396395" y="2919605"/>
            <a:ext cx="4723034" cy="4723034"/>
          </a:xfrm>
          <a:custGeom>
            <a:rect b="b" l="l" r="r" t="t"/>
            <a:pathLst>
              <a:path extrusionOk="0" h="4723034" w="4723034">
                <a:moveTo>
                  <a:pt x="0" y="0"/>
                </a:moveTo>
                <a:lnTo>
                  <a:pt x="4723033" y="0"/>
                </a:lnTo>
                <a:lnTo>
                  <a:pt x="4723033" y="4723034"/>
                </a:lnTo>
                <a:lnTo>
                  <a:pt x="0" y="4723034"/>
                </a:lnTo>
                <a:lnTo>
                  <a:pt x="0" y="0"/>
                </a:lnTo>
                <a:close/>
              </a:path>
            </a:pathLst>
          </a:custGeom>
          <a:blipFill rotWithShape="1">
            <a:blip r:embed="rId5">
              <a:alphaModFix/>
            </a:blip>
            <a:stretch>
              <a:fillRect b="0" l="0" r="0" t="0"/>
            </a:stretch>
          </a:blipFill>
          <a:ln>
            <a:noFill/>
          </a:ln>
        </p:spPr>
      </p:sp>
      <p:sp>
        <p:nvSpPr>
          <p:cNvPr id="501" name="Google Shape;501;p33"/>
          <p:cNvSpPr txBox="1"/>
          <p:nvPr/>
        </p:nvSpPr>
        <p:spPr>
          <a:xfrm>
            <a:off x="1028700" y="2022350"/>
            <a:ext cx="8729692" cy="908685"/>
          </a:xfrm>
          <a:prstGeom prst="rect">
            <a:avLst/>
          </a:prstGeom>
          <a:noFill/>
          <a:ln>
            <a:noFill/>
          </a:ln>
        </p:spPr>
        <p:txBody>
          <a:bodyPr anchorCtr="0" anchor="t" bIns="0" lIns="0" spcFirstLastPara="1" rIns="0" wrap="square" tIns="0">
            <a:spAutoFit/>
          </a:bodyPr>
          <a:lstStyle/>
          <a:p>
            <a:pPr indent="0" lvl="0" marL="0" marR="0" rtl="0" algn="l">
              <a:lnSpc>
                <a:spcPct val="116999"/>
              </a:lnSpc>
              <a:spcBef>
                <a:spcPts val="0"/>
              </a:spcBef>
              <a:spcAft>
                <a:spcPts val="0"/>
              </a:spcAft>
              <a:buNone/>
            </a:pPr>
            <a:r>
              <a:rPr b="1" i="0" lang="en-US" sz="6000" u="none" cap="none" strike="noStrike">
                <a:solidFill>
                  <a:srgbClr val="637EFF"/>
                </a:solidFill>
                <a:latin typeface="Roboto Condensed"/>
                <a:ea typeface="Roboto Condensed"/>
                <a:cs typeface="Roboto Condensed"/>
                <a:sym typeface="Roboto Condensed"/>
              </a:rPr>
              <a:t> Metodologías Híbridas</a:t>
            </a:r>
            <a:endParaRPr/>
          </a:p>
        </p:txBody>
      </p:sp>
      <p:sp>
        <p:nvSpPr>
          <p:cNvPr id="502" name="Google Shape;502;p33"/>
          <p:cNvSpPr txBox="1"/>
          <p:nvPr/>
        </p:nvSpPr>
        <p:spPr>
          <a:xfrm>
            <a:off x="1028700" y="3798013"/>
            <a:ext cx="9458401" cy="3200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000" u="none" cap="none" strike="noStrike">
                <a:solidFill>
                  <a:srgbClr val="FFFFFF"/>
                </a:solidFill>
                <a:latin typeface="Roboto Condensed"/>
                <a:ea typeface="Roboto Condensed"/>
                <a:cs typeface="Roboto Condensed"/>
                <a:sym typeface="Roboto Condensed"/>
              </a:rPr>
              <a:t>Con la diversidad de proyectos y equipos, ha surgido una tendencia hacia la adopción de metodologías híbridas que combinan elementos de diferentes enfoques. Por ejemplo, un equipo puede utilizar Scrum para gestionar el desarrollo, mientras que aplica prácticas de la metodología Waterfall para la documentación y planificación de proyectos más grandes.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5214B"/>
        </a:solidFill>
      </p:bgPr>
    </p:bg>
    <p:spTree>
      <p:nvGrpSpPr>
        <p:cNvPr id="506" name="Shape 506"/>
        <p:cNvGrpSpPr/>
        <p:nvPr/>
      </p:nvGrpSpPr>
      <p:grpSpPr>
        <a:xfrm>
          <a:off x="0" y="0"/>
          <a:ext cx="0" cy="0"/>
          <a:chOff x="0" y="0"/>
          <a:chExt cx="0" cy="0"/>
        </a:xfrm>
      </p:grpSpPr>
      <p:sp>
        <p:nvSpPr>
          <p:cNvPr id="507" name="Google Shape;507;g39da77f8dda_2_3"/>
          <p:cNvSpPr/>
          <p:nvPr/>
        </p:nvSpPr>
        <p:spPr>
          <a:xfrm flipH="1">
            <a:off x="14996092" y="-182639"/>
            <a:ext cx="3454249" cy="3415389"/>
          </a:xfrm>
          <a:custGeom>
            <a:rect b="b" l="l" r="r" t="t"/>
            <a:pathLst>
              <a:path extrusionOk="0" h="3415389" w="3454249">
                <a:moveTo>
                  <a:pt x="3454248" y="0"/>
                </a:moveTo>
                <a:lnTo>
                  <a:pt x="0" y="0"/>
                </a:lnTo>
                <a:lnTo>
                  <a:pt x="0" y="3415388"/>
                </a:lnTo>
                <a:lnTo>
                  <a:pt x="3454248" y="3415388"/>
                </a:lnTo>
                <a:lnTo>
                  <a:pt x="3454248" y="0"/>
                </a:lnTo>
                <a:close/>
              </a:path>
            </a:pathLst>
          </a:custGeom>
          <a:blipFill rotWithShape="1">
            <a:blip r:embed="rId3">
              <a:alphaModFix/>
            </a:blip>
            <a:stretch>
              <a:fillRect b="0" l="0" r="0" t="0"/>
            </a:stretch>
          </a:blipFill>
          <a:ln>
            <a:noFill/>
          </a:ln>
        </p:spPr>
      </p:sp>
      <p:sp>
        <p:nvSpPr>
          <p:cNvPr id="508" name="Google Shape;508;g39da77f8dda_2_3"/>
          <p:cNvSpPr/>
          <p:nvPr/>
        </p:nvSpPr>
        <p:spPr>
          <a:xfrm flipH="1" rot="10800000">
            <a:off x="107635" y="-2794707"/>
            <a:ext cx="4528972" cy="4483682"/>
          </a:xfrm>
          <a:custGeom>
            <a:rect b="b" l="l" r="r" t="t"/>
            <a:pathLst>
              <a:path extrusionOk="0" h="4483682" w="4528972">
                <a:moveTo>
                  <a:pt x="4528972" y="0"/>
                </a:moveTo>
                <a:lnTo>
                  <a:pt x="0" y="0"/>
                </a:lnTo>
                <a:lnTo>
                  <a:pt x="0" y="4483682"/>
                </a:lnTo>
                <a:lnTo>
                  <a:pt x="4528972" y="4483682"/>
                </a:lnTo>
                <a:lnTo>
                  <a:pt x="4528972" y="0"/>
                </a:lnTo>
                <a:close/>
              </a:path>
            </a:pathLst>
          </a:custGeom>
          <a:blipFill rotWithShape="1">
            <a:blip r:embed="rId4">
              <a:alphaModFix/>
            </a:blip>
            <a:stretch>
              <a:fillRect b="0" l="0" r="0" t="0"/>
            </a:stretch>
          </a:blipFill>
          <a:ln>
            <a:noFill/>
          </a:ln>
        </p:spPr>
      </p:sp>
      <p:sp>
        <p:nvSpPr>
          <p:cNvPr id="509" name="Google Shape;509;g39da77f8dda_2_3"/>
          <p:cNvSpPr/>
          <p:nvPr/>
        </p:nvSpPr>
        <p:spPr>
          <a:xfrm flipH="1">
            <a:off x="-178523" y="8770861"/>
            <a:ext cx="3454249" cy="3415389"/>
          </a:xfrm>
          <a:custGeom>
            <a:rect b="b" l="l" r="r" t="t"/>
            <a:pathLst>
              <a:path extrusionOk="0" h="3415389" w="3454249">
                <a:moveTo>
                  <a:pt x="3454249" y="0"/>
                </a:moveTo>
                <a:lnTo>
                  <a:pt x="0" y="0"/>
                </a:lnTo>
                <a:lnTo>
                  <a:pt x="0" y="3415388"/>
                </a:lnTo>
                <a:lnTo>
                  <a:pt x="3454249" y="3415388"/>
                </a:lnTo>
                <a:lnTo>
                  <a:pt x="3454249" y="0"/>
                </a:lnTo>
                <a:close/>
              </a:path>
            </a:pathLst>
          </a:custGeom>
          <a:blipFill rotWithShape="1">
            <a:blip r:embed="rId3">
              <a:alphaModFix/>
            </a:blip>
            <a:stretch>
              <a:fillRect b="0" l="0" r="0" t="0"/>
            </a:stretch>
          </a:blipFill>
          <a:ln>
            <a:noFill/>
          </a:ln>
        </p:spPr>
      </p:sp>
      <p:pic>
        <p:nvPicPr>
          <p:cNvPr id="510" name="Google Shape;510;g39da77f8dda_2_3"/>
          <p:cNvPicPr preferRelativeResize="0"/>
          <p:nvPr/>
        </p:nvPicPr>
        <p:blipFill>
          <a:blip r:embed="rId5">
            <a:alphaModFix/>
          </a:blip>
          <a:stretch>
            <a:fillRect/>
          </a:stretch>
        </p:blipFill>
        <p:spPr>
          <a:xfrm>
            <a:off x="1900977" y="2497975"/>
            <a:ext cx="14486025" cy="43316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4" name="Shape 514"/>
        <p:cNvGrpSpPr/>
        <p:nvPr/>
      </p:nvGrpSpPr>
      <p:grpSpPr>
        <a:xfrm>
          <a:off x="0" y="0"/>
          <a:ext cx="0" cy="0"/>
          <a:chOff x="0" y="0"/>
          <a:chExt cx="0" cy="0"/>
        </a:xfrm>
      </p:grpSpPr>
      <p:sp>
        <p:nvSpPr>
          <p:cNvPr id="515" name="Google Shape;515;p34"/>
          <p:cNvSpPr txBox="1"/>
          <p:nvPr/>
        </p:nvSpPr>
        <p:spPr>
          <a:xfrm>
            <a:off x="2507390" y="1000125"/>
            <a:ext cx="13503315" cy="2052066"/>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CONCEPTOS CLAVE APRENDIDOS </a:t>
            </a:r>
            <a:endParaRPr/>
          </a:p>
        </p:txBody>
      </p:sp>
      <p:sp>
        <p:nvSpPr>
          <p:cNvPr id="516" name="Google Shape;516;p34"/>
          <p:cNvSpPr txBox="1"/>
          <p:nvPr/>
        </p:nvSpPr>
        <p:spPr>
          <a:xfrm>
            <a:off x="1028700" y="3860833"/>
            <a:ext cx="16481717" cy="3853774"/>
          </a:xfrm>
          <a:prstGeom prst="rect">
            <a:avLst/>
          </a:prstGeom>
          <a:noFill/>
          <a:ln>
            <a:noFill/>
          </a:ln>
        </p:spPr>
        <p:txBody>
          <a:bodyPr anchorCtr="0" anchor="t" bIns="0" lIns="0" spcFirstLastPara="1" rIns="0" wrap="square" tIns="0">
            <a:spAutoFit/>
          </a:bodyPr>
          <a:lstStyle/>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Metodologia Tradicional: Sigue una ruta lineal en la que antes de realizar una entrega debe pasar por todas las fases de desarrollo, por lo que se vuelve un proceso lento, pero no esta desechado sino que tambien se sigue utilizando.</a:t>
            </a:r>
            <a:endParaRPr/>
          </a:p>
          <a:p>
            <a:pPr indent="0" lvl="0" marL="0" marR="0" rtl="0" algn="just">
              <a:lnSpc>
                <a:spcPct val="140019"/>
              </a:lnSpc>
              <a:spcBef>
                <a:spcPts val="0"/>
              </a:spcBef>
              <a:spcAft>
                <a:spcPts val="0"/>
              </a:spcAft>
              <a:buNone/>
            </a:pPr>
            <a:r>
              <a:t/>
            </a:r>
            <a:endParaRPr b="0" i="0" sz="3151" u="none" cap="none" strike="noStrike">
              <a:solidFill>
                <a:srgbClr val="131416"/>
              </a:solidFill>
              <a:latin typeface="Arial"/>
              <a:ea typeface="Arial"/>
              <a:cs typeface="Arial"/>
              <a:sym typeface="Arial"/>
            </a:endParaRPr>
          </a:p>
          <a:p>
            <a:pPr indent="0" lvl="0" marL="0" marR="0" rtl="0" algn="just">
              <a:lnSpc>
                <a:spcPct val="140019"/>
              </a:lnSpc>
              <a:spcBef>
                <a:spcPts val="0"/>
              </a:spcBef>
              <a:spcAft>
                <a:spcPts val="0"/>
              </a:spcAft>
              <a:buNone/>
            </a:pPr>
            <a:r>
              <a:rPr b="0" i="0" lang="en-US" sz="3151" u="none" cap="none" strike="noStrike">
                <a:solidFill>
                  <a:srgbClr val="131416"/>
                </a:solidFill>
                <a:latin typeface="Arial"/>
                <a:ea typeface="Arial"/>
                <a:cs typeface="Arial"/>
                <a:sym typeface="Arial"/>
              </a:rPr>
              <a:t>Metodologia Agil: esta entrega resultados mucho mas rapido, se ve el avance y el cliente puede dar feedback y eso permite corregir errores e implementarlos inmediatamente, usa ciclos de entrega llamados sprint.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35"/>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EMPATIA</a:t>
            </a:r>
            <a:endParaRPr/>
          </a:p>
        </p:txBody>
      </p:sp>
      <p:sp>
        <p:nvSpPr>
          <p:cNvPr id="522" name="Google Shape;522;p35"/>
          <p:cNvSpPr txBox="1"/>
          <p:nvPr/>
        </p:nvSpPr>
        <p:spPr>
          <a:xfrm>
            <a:off x="1446852" y="2090166"/>
            <a:ext cx="15812448" cy="6867841"/>
          </a:xfrm>
          <a:prstGeom prst="rect">
            <a:avLst/>
          </a:prstGeom>
          <a:noFill/>
          <a:ln>
            <a:noFill/>
          </a:ln>
        </p:spPr>
        <p:txBody>
          <a:bodyPr anchorCtr="0" anchor="t" bIns="0" lIns="0" spcFirstLastPara="1" rIns="0" wrap="square" tIns="0">
            <a:spAutoFit/>
          </a:bodyPr>
          <a:lstStyle/>
          <a:p>
            <a:pPr indent="0" lvl="0" marL="0" marR="0" rtl="0" algn="just">
              <a:lnSpc>
                <a:spcPct val="113019"/>
              </a:lnSpc>
              <a:spcBef>
                <a:spcPts val="0"/>
              </a:spcBef>
              <a:spcAft>
                <a:spcPts val="0"/>
              </a:spcAft>
              <a:buNone/>
            </a:pPr>
            <a:r>
              <a:rPr b="0" i="0" lang="en-US" sz="3249" u="none" cap="none" strike="noStrike">
                <a:solidFill>
                  <a:srgbClr val="131416"/>
                </a:solidFill>
                <a:latin typeface="Arial"/>
                <a:ea typeface="Arial"/>
                <a:cs typeface="Arial"/>
                <a:sym typeface="Arial"/>
              </a:rPr>
              <a:t>"IMAGINEN QUE ESTÁN TRABAJANDO EN EQUIPO Y UNO DE SUS COMPAÑEROS COMETE UN ERROR EN SU RAMA, ALGO QUE ROMPE EL PROYECTO. LO FÁCIL SERÍA ENOJARSE, CRITICARLO O DECIR: '¿POR QUÉ NO LO HIZO BIEN?'.</a:t>
            </a:r>
            <a:endParaRPr/>
          </a:p>
          <a:p>
            <a:pPr indent="0" lvl="0" marL="0" marR="0" rtl="0" algn="just">
              <a:lnSpc>
                <a:spcPct val="113019"/>
              </a:lnSpc>
              <a:spcBef>
                <a:spcPts val="0"/>
              </a:spcBef>
              <a:spcAft>
                <a:spcPts val="0"/>
              </a:spcAft>
              <a:buNone/>
            </a:pPr>
            <a:r>
              <a:rPr b="0" i="0" lang="en-US" sz="3249" u="none" cap="none" strike="noStrike">
                <a:solidFill>
                  <a:srgbClr val="131416"/>
                </a:solidFill>
                <a:latin typeface="Arial"/>
                <a:ea typeface="Arial"/>
                <a:cs typeface="Arial"/>
                <a:sym typeface="Arial"/>
              </a:rPr>
              <a:t>PERO AHORA PIENSEN: ¿Y SI ESA PERSONA ESTABA APRENDIENDO ALGO NUEVO, O TAL VEZ TENÍA UN MAL DÍA?</a:t>
            </a:r>
            <a:endParaRPr/>
          </a:p>
          <a:p>
            <a:pPr indent="0" lvl="0" marL="0" marR="0" rtl="0" algn="just">
              <a:lnSpc>
                <a:spcPct val="113019"/>
              </a:lnSpc>
              <a:spcBef>
                <a:spcPts val="0"/>
              </a:spcBef>
              <a:spcAft>
                <a:spcPts val="0"/>
              </a:spcAft>
              <a:buNone/>
            </a:pPr>
            <a:r>
              <a:rPr b="0" i="0" lang="en-US" sz="3249" u="none" cap="none" strike="noStrike">
                <a:solidFill>
                  <a:srgbClr val="131416"/>
                </a:solidFill>
                <a:latin typeface="Arial"/>
                <a:ea typeface="Arial"/>
                <a:cs typeface="Arial"/>
                <a:sym typeface="Arial"/>
              </a:rPr>
              <a:t>EMPATÍA ES PARAR UN SEGUNDO ANTES DE JUZGAR, PONERSE EN SUS ZAPATOS Y PREGUNTARSE: '¿CÓMO PUEDO AYUDAR?' EN LUGAR DE '¿QUÉ HIZO MAL?'</a:t>
            </a:r>
            <a:endParaRPr/>
          </a:p>
          <a:p>
            <a:pPr indent="0" lvl="0" marL="0" marR="0" rtl="0" algn="just">
              <a:lnSpc>
                <a:spcPct val="113019"/>
              </a:lnSpc>
              <a:spcBef>
                <a:spcPts val="0"/>
              </a:spcBef>
              <a:spcAft>
                <a:spcPts val="0"/>
              </a:spcAft>
              <a:buNone/>
            </a:pPr>
            <a:r>
              <a:rPr b="0" i="0" lang="en-US" sz="3249" u="none" cap="none" strike="noStrike">
                <a:solidFill>
                  <a:srgbClr val="131416"/>
                </a:solidFill>
                <a:latin typeface="Arial"/>
                <a:ea typeface="Arial"/>
                <a:cs typeface="Arial"/>
                <a:sym typeface="Arial"/>
              </a:rPr>
              <a:t>CUANDO HACES UN CODE REVIEW, NO SOLO BUSCAS ERRORES, TAMBIÉN DAS ÁNIMOS, SUGERENCIAS Y COMPRENSIÓN. ESO ES EMPATÍA EN ACCIÓN.</a:t>
            </a:r>
            <a:endParaRPr/>
          </a:p>
          <a:p>
            <a:pPr indent="0" lvl="0" marL="0" marR="0" rtl="0" algn="just">
              <a:lnSpc>
                <a:spcPct val="113019"/>
              </a:lnSpc>
              <a:spcBef>
                <a:spcPts val="0"/>
              </a:spcBef>
              <a:spcAft>
                <a:spcPts val="0"/>
              </a:spcAft>
              <a:buNone/>
            </a:pPr>
            <a:r>
              <a:rPr b="0" i="0" lang="en-US" sz="3249" u="none" cap="none" strike="noStrike">
                <a:solidFill>
                  <a:srgbClr val="131416"/>
                </a:solidFill>
                <a:latin typeface="Arial"/>
                <a:ea typeface="Arial"/>
                <a:cs typeface="Arial"/>
                <a:sym typeface="Arial"/>
              </a:rPr>
              <a:t>Y EN EL MUNDO DEL DESARROLLO, CRÉANME, TRABAJAR CON EMPATÍA HACE QUE LOS EQUIPOS FUNCIONEN MEJOR QUE CUALQUIER FRAMEWORK."</a:t>
            </a:r>
            <a:endParaRPr/>
          </a:p>
          <a:p>
            <a:pPr indent="0" lvl="0" marL="0" marR="0" rtl="0" algn="just">
              <a:lnSpc>
                <a:spcPct val="113019"/>
              </a:lnSpc>
              <a:spcBef>
                <a:spcPts val="0"/>
              </a:spcBef>
              <a:spcAft>
                <a:spcPts val="0"/>
              </a:spcAft>
              <a:buNone/>
            </a:pPr>
            <a:r>
              <a:t/>
            </a:r>
            <a:endParaRPr b="0" i="0" sz="3249" u="none" cap="none" strike="noStrike">
              <a:solidFill>
                <a:srgbClr val="131416"/>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36"/>
          <p:cNvSpPr txBox="1"/>
          <p:nvPr/>
        </p:nvSpPr>
        <p:spPr>
          <a:xfrm>
            <a:off x="2507390" y="1000125"/>
            <a:ext cx="13503315" cy="1070991"/>
          </a:xfrm>
          <a:prstGeom prst="rect">
            <a:avLst/>
          </a:prstGeom>
          <a:noFill/>
          <a:ln>
            <a:noFill/>
          </a:ln>
        </p:spPr>
        <p:txBody>
          <a:bodyPr anchorCtr="0" anchor="t" bIns="0" lIns="0" spcFirstLastPara="1" rIns="0" wrap="square" tIns="0">
            <a:spAutoFit/>
          </a:bodyPr>
          <a:lstStyle/>
          <a:p>
            <a:pPr indent="0" lvl="0" marL="0" marR="0" rtl="0" algn="ctr">
              <a:lnSpc>
                <a:spcPct val="113000"/>
              </a:lnSpc>
              <a:spcBef>
                <a:spcPts val="0"/>
              </a:spcBef>
              <a:spcAft>
                <a:spcPts val="0"/>
              </a:spcAft>
              <a:buNone/>
            </a:pPr>
            <a:r>
              <a:rPr b="0" i="0" lang="en-US" sz="6900" u="none" cap="none" strike="noStrike">
                <a:solidFill>
                  <a:srgbClr val="131416"/>
                </a:solidFill>
                <a:latin typeface="Arial"/>
                <a:ea typeface="Arial"/>
                <a:cs typeface="Arial"/>
                <a:sym typeface="Arial"/>
              </a:rPr>
              <a:t>REFERENCIAS </a:t>
            </a:r>
            <a:endParaRPr/>
          </a:p>
        </p:txBody>
      </p:sp>
      <p:sp>
        <p:nvSpPr>
          <p:cNvPr id="528" name="Google Shape;528;p36"/>
          <p:cNvSpPr txBox="1"/>
          <p:nvPr/>
        </p:nvSpPr>
        <p:spPr>
          <a:xfrm>
            <a:off x="814341" y="2396199"/>
            <a:ext cx="16889413" cy="2748874"/>
          </a:xfrm>
          <a:prstGeom prst="rect">
            <a:avLst/>
          </a:prstGeom>
          <a:noFill/>
          <a:ln>
            <a:noFill/>
          </a:ln>
        </p:spPr>
        <p:txBody>
          <a:bodyPr anchorCtr="0" anchor="t" bIns="0" lIns="0" spcFirstLastPara="1" rIns="0" wrap="square" tIns="0">
            <a:spAutoFit/>
          </a:bodyPr>
          <a:lstStyle/>
          <a:p>
            <a:pPr indent="-340217" lvl="1" marL="680435" marR="0" rtl="0" algn="l">
              <a:lnSpc>
                <a:spcPct val="140019"/>
              </a:lnSpc>
              <a:spcBef>
                <a:spcPts val="0"/>
              </a:spcBef>
              <a:spcAft>
                <a:spcPts val="0"/>
              </a:spcAft>
              <a:buClr>
                <a:srgbClr val="131416"/>
              </a:buClr>
              <a:buSzPts val="3151"/>
              <a:buFont typeface="Arial"/>
              <a:buChar char="•"/>
            </a:pPr>
            <a:r>
              <a:rPr b="0" i="0" lang="en-US" sz="3151" u="sng" cap="none" strike="noStrike">
                <a:solidFill>
                  <a:srgbClr val="131416"/>
                </a:solidFill>
                <a:latin typeface="Arial"/>
                <a:ea typeface="Arial"/>
                <a:cs typeface="Arial"/>
                <a:sym typeface="Arial"/>
                <a:hlinkClick r:id="rId3">
                  <a:extLst>
                    <a:ext uri="{A12FA001-AC4F-418D-AE19-62706E023703}">
                      <ahyp:hlinkClr val="tx"/>
                    </a:ext>
                  </a:extLst>
                </a:hlinkClick>
              </a:rPr>
              <a:t>https://www.fdiformacion.com/proyectos-con-exito-metodologias-agiles/#:~:text=Las%20metodolog%C3%ADa%20Agile%20es%20ideal,se%20pueden%20planificar%20con%20anticipaci%C3%B3n.</a:t>
            </a:r>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https://www.positivo.pro/blog/metodologias-agiles-vs-tradicionales/</a:t>
            </a:r>
            <a:endParaRPr/>
          </a:p>
          <a:p>
            <a:pPr indent="-340217" lvl="1" marL="680435" marR="0" rtl="0" algn="l">
              <a:lnSpc>
                <a:spcPct val="140019"/>
              </a:lnSpc>
              <a:spcBef>
                <a:spcPts val="0"/>
              </a:spcBef>
              <a:spcAft>
                <a:spcPts val="0"/>
              </a:spcAft>
              <a:buClr>
                <a:srgbClr val="131416"/>
              </a:buClr>
              <a:buSzPts val="3151"/>
              <a:buFont typeface="Arial"/>
              <a:buChar char="•"/>
            </a:pPr>
            <a:r>
              <a:rPr b="0" i="0" lang="en-US" sz="3151" u="none" cap="none" strike="noStrike">
                <a:solidFill>
                  <a:srgbClr val="131416"/>
                </a:solidFill>
                <a:latin typeface="Arial"/>
                <a:ea typeface="Arial"/>
                <a:cs typeface="Arial"/>
                <a:sym typeface="Arial"/>
              </a:rPr>
              <a:t>https://www.aden.org/business-magazine/metodologias-agiles/</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2" name="Shape 532"/>
        <p:cNvGrpSpPr/>
        <p:nvPr/>
      </p:nvGrpSpPr>
      <p:grpSpPr>
        <a:xfrm>
          <a:off x="0" y="0"/>
          <a:ext cx="0" cy="0"/>
          <a:chOff x="0" y="0"/>
          <a:chExt cx="0" cy="0"/>
        </a:xfrm>
      </p:grpSpPr>
      <p:sp>
        <p:nvSpPr>
          <p:cNvPr id="533" name="Google Shape;533;p37"/>
          <p:cNvSpPr txBox="1"/>
          <p:nvPr/>
        </p:nvSpPr>
        <p:spPr>
          <a:xfrm>
            <a:off x="4437795" y="3389104"/>
            <a:ext cx="8658828" cy="2495677"/>
          </a:xfrm>
          <a:prstGeom prst="rect">
            <a:avLst/>
          </a:prstGeom>
          <a:noFill/>
          <a:ln>
            <a:noFill/>
          </a:ln>
        </p:spPr>
        <p:txBody>
          <a:bodyPr anchorCtr="0" anchor="t" bIns="0" lIns="0" spcFirstLastPara="1" rIns="0" wrap="square" tIns="0">
            <a:spAutoFit/>
          </a:bodyPr>
          <a:lstStyle/>
          <a:p>
            <a:pPr indent="0" lvl="0" marL="0" marR="0" rtl="0" algn="just">
              <a:lnSpc>
                <a:spcPct val="104000"/>
              </a:lnSpc>
              <a:spcBef>
                <a:spcPts val="0"/>
              </a:spcBef>
              <a:spcAft>
                <a:spcPts val="0"/>
              </a:spcAft>
              <a:buNone/>
            </a:pPr>
            <a:r>
              <a:rPr b="0" i="0" lang="en-US" sz="6099" u="none" cap="none" strike="noStrike">
                <a:solidFill>
                  <a:srgbClr val="131416"/>
                </a:solidFill>
                <a:latin typeface="Arial"/>
                <a:ea typeface="Arial"/>
                <a:cs typeface="Arial"/>
                <a:sym typeface="Arial"/>
              </a:rPr>
              <a:t>¡GRACIAS POR SU  ATENCIÓN!</a:t>
            </a:r>
            <a:endParaRPr/>
          </a:p>
          <a:p>
            <a:pPr indent="0" lvl="0" marL="0" marR="0" rtl="0" algn="just">
              <a:lnSpc>
                <a:spcPct val="104000"/>
              </a:lnSpc>
              <a:spcBef>
                <a:spcPts val="0"/>
              </a:spcBef>
              <a:spcAft>
                <a:spcPts val="0"/>
              </a:spcAft>
              <a:buNone/>
            </a:pPr>
            <a:r>
              <a:t/>
            </a:r>
            <a:endParaRPr b="0" i="0" sz="6099" u="none" cap="none" strike="noStrike">
              <a:solidFill>
                <a:srgbClr val="131416"/>
              </a:solidFill>
              <a:latin typeface="Arial"/>
              <a:ea typeface="Arial"/>
              <a:cs typeface="Arial"/>
              <a:sym typeface="Arial"/>
            </a:endParaRPr>
          </a:p>
        </p:txBody>
      </p:sp>
      <p:sp>
        <p:nvSpPr>
          <p:cNvPr id="534" name="Google Shape;534;p37"/>
          <p:cNvSpPr txBox="1"/>
          <p:nvPr/>
        </p:nvSpPr>
        <p:spPr>
          <a:xfrm>
            <a:off x="5414714" y="5958103"/>
            <a:ext cx="6704991" cy="89852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5000" u="none" cap="none" strike="noStrike">
                <a:solidFill>
                  <a:srgbClr val="131416"/>
                </a:solidFill>
                <a:latin typeface="Arial"/>
                <a:ea typeface="Arial"/>
                <a:cs typeface="Arial"/>
                <a:sym typeface="Arial"/>
              </a:rPr>
              <a:t>DUDAS</a:t>
            </a:r>
            <a:endParaRPr/>
          </a:p>
        </p:txBody>
      </p:sp>
      <p:sp>
        <p:nvSpPr>
          <p:cNvPr id="535" name="Google Shape;535;p37"/>
          <p:cNvSpPr/>
          <p:nvPr/>
        </p:nvSpPr>
        <p:spPr>
          <a:xfrm>
            <a:off x="13963751" y="1028700"/>
            <a:ext cx="2757268" cy="3770970"/>
          </a:xfrm>
          <a:custGeom>
            <a:rect b="b" l="l" r="r" t="t"/>
            <a:pathLst>
              <a:path extrusionOk="0" h="3770970" w="2757268">
                <a:moveTo>
                  <a:pt x="0" y="0"/>
                </a:moveTo>
                <a:lnTo>
                  <a:pt x="2757268" y="0"/>
                </a:lnTo>
                <a:lnTo>
                  <a:pt x="2757268" y="3770970"/>
                </a:lnTo>
                <a:lnTo>
                  <a:pt x="0" y="3770970"/>
                </a:lnTo>
                <a:lnTo>
                  <a:pt x="0" y="0"/>
                </a:lnTo>
                <a:close/>
              </a:path>
            </a:pathLst>
          </a:custGeom>
          <a:blipFill rotWithShape="1">
            <a:blip r:embed="rId3">
              <a:alphaModFix/>
            </a:blip>
            <a:stretch>
              <a:fillRect b="0" l="0" r="0" t="0"/>
            </a:stretch>
          </a:blipFill>
          <a:ln>
            <a:noFill/>
          </a:ln>
        </p:spPr>
      </p:sp>
      <p:sp>
        <p:nvSpPr>
          <p:cNvPr id="536" name="Google Shape;536;p37"/>
          <p:cNvSpPr txBox="1"/>
          <p:nvPr/>
        </p:nvSpPr>
        <p:spPr>
          <a:xfrm>
            <a:off x="2411098" y="7899735"/>
            <a:ext cx="13465804" cy="719455"/>
          </a:xfrm>
          <a:prstGeom prst="rect">
            <a:avLst/>
          </a:prstGeom>
          <a:noFill/>
          <a:ln>
            <a:noFill/>
          </a:ln>
        </p:spPr>
        <p:txBody>
          <a:bodyPr anchorCtr="0" anchor="t" bIns="0" lIns="0" spcFirstLastPara="1" rIns="0" wrap="square" tIns="0">
            <a:spAutoFit/>
          </a:bodyPr>
          <a:lstStyle/>
          <a:p>
            <a:pPr indent="0" lvl="0" marL="0" marR="0" rtl="0" algn="ctr">
              <a:lnSpc>
                <a:spcPct val="148000"/>
              </a:lnSpc>
              <a:spcBef>
                <a:spcPts val="0"/>
              </a:spcBef>
              <a:spcAft>
                <a:spcPts val="0"/>
              </a:spcAft>
              <a:buNone/>
            </a:pPr>
            <a:r>
              <a:rPr b="0" i="0" lang="en-US" sz="2000" u="none" cap="none" strike="noStrike">
                <a:solidFill>
                  <a:srgbClr val="131416"/>
                </a:solidFill>
                <a:latin typeface="Arial"/>
                <a:ea typeface="Arial"/>
                <a:cs typeface="Arial"/>
                <a:sym typeface="Arial"/>
              </a:rPr>
              <a:t>RECUERDA QUE TENEMOS NUESTRO FORO SEMANAL DONDE PUEDES CONSULTAR CUALQUIER DUDA QUE TE SURJA EN LA SEMANA</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