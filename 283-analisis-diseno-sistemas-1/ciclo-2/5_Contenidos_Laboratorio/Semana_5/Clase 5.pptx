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y="10287000" cx="18288000"/>
  <p:notesSz cx="6858000" cy="9144000"/>
  <p:embeddedFontLst>
    <p:embeddedFont>
      <p:font typeface="Play"/>
      <p:regular r:id="rId51"/>
      <p:bold r:id="rId52"/>
    </p:embeddedFont>
    <p:embeddedFont>
      <p:font typeface="Montserrat"/>
      <p:bold r:id="rId53"/>
      <p:boldItalic r:id="rId54"/>
    </p:embeddedFont>
    <p:embeddedFont>
      <p:font typeface="Poppins"/>
      <p:bold r:id="rId55"/>
      <p:boldItalic r:id="rId56"/>
    </p:embeddedFont>
    <p:embeddedFont>
      <p:font typeface="Poppins Light"/>
      <p:regular r:id="rId57"/>
      <p:bold r:id="rId58"/>
      <p:italic r:id="rId59"/>
      <p:boldItalic r:id="rId60"/>
    </p:embeddedFont>
    <p:embeddedFont>
      <p:font typeface="Open Sans"/>
      <p:bold r:id="rId61"/>
      <p:boldItalic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63" roundtripDataSignature="AMtx7miRHhtykNV/uOcjqsvZkQQ03d9F2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OpenSans-boldItalic.fntdata"/><Relationship Id="rId61" Type="http://schemas.openxmlformats.org/officeDocument/2006/relationships/font" Target="fonts/OpenSans-bold.fntdata"/><Relationship Id="rId20" Type="http://schemas.openxmlformats.org/officeDocument/2006/relationships/slide" Target="slides/slide15.xml"/><Relationship Id="rId63" Type="http://customschemas.google.com/relationships/presentationmetadata" Target="meta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PoppinsLight-bold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Play-regular.fntdata"/><Relationship Id="rId50" Type="http://schemas.openxmlformats.org/officeDocument/2006/relationships/slide" Target="slides/slide45.xml"/><Relationship Id="rId53" Type="http://schemas.openxmlformats.org/officeDocument/2006/relationships/font" Target="fonts/Montserrat-bold.fntdata"/><Relationship Id="rId52" Type="http://schemas.openxmlformats.org/officeDocument/2006/relationships/font" Target="fonts/Play-bold.fntdata"/><Relationship Id="rId11" Type="http://schemas.openxmlformats.org/officeDocument/2006/relationships/slide" Target="slides/slide6.xml"/><Relationship Id="rId55" Type="http://schemas.openxmlformats.org/officeDocument/2006/relationships/font" Target="fonts/Poppins-bold.fntdata"/><Relationship Id="rId10" Type="http://schemas.openxmlformats.org/officeDocument/2006/relationships/slide" Target="slides/slide5.xml"/><Relationship Id="rId54" Type="http://schemas.openxmlformats.org/officeDocument/2006/relationships/font" Target="fonts/Montserrat-boldItalic.fntdata"/><Relationship Id="rId13" Type="http://schemas.openxmlformats.org/officeDocument/2006/relationships/slide" Target="slides/slide8.xml"/><Relationship Id="rId57" Type="http://schemas.openxmlformats.org/officeDocument/2006/relationships/font" Target="fonts/PoppinsLight-regular.fntdata"/><Relationship Id="rId12" Type="http://schemas.openxmlformats.org/officeDocument/2006/relationships/slide" Target="slides/slide7.xml"/><Relationship Id="rId56" Type="http://schemas.openxmlformats.org/officeDocument/2006/relationships/font" Target="fonts/Poppins-boldItalic.fntdata"/><Relationship Id="rId15" Type="http://schemas.openxmlformats.org/officeDocument/2006/relationships/slide" Target="slides/slide10.xml"/><Relationship Id="rId59" Type="http://schemas.openxmlformats.org/officeDocument/2006/relationships/font" Target="fonts/PoppinsLight-italic.fntdata"/><Relationship Id="rId14" Type="http://schemas.openxmlformats.org/officeDocument/2006/relationships/slide" Target="slides/slide9.xml"/><Relationship Id="rId58" Type="http://schemas.openxmlformats.org/officeDocument/2006/relationships/font" Target="fonts/PoppinsLight-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principios fundamentales que sostienen todo el marco de trabajo</a:t>
            </a:r>
            <a:endParaRPr/>
          </a:p>
        </p:txBody>
      </p:sp>
      <p:sp>
        <p:nvSpPr>
          <p:cNvPr id="201" name="Google Shape;20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5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5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5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5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5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5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5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5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5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7"/>
          <p:cNvSpPr/>
          <p:nvPr>
            <p:ph idx="2" type="pic"/>
          </p:nvPr>
        </p:nvSpPr>
        <p:spPr>
          <a:xfrm>
            <a:off x="1792288" y="612775"/>
            <a:ext cx="5486400" cy="4114800"/>
          </a:xfrm>
          <a:prstGeom prst="rect">
            <a:avLst/>
          </a:prstGeom>
          <a:noFill/>
          <a:ln>
            <a:noFill/>
          </a:ln>
        </p:spPr>
      </p:sp>
      <p:sp>
        <p:nvSpPr>
          <p:cNvPr id="64" name="Google Shape;64;p5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hyperlink" Target="https://youtu.be/IiUQyM4OovI?si=ypBsoLi6xaKCzfUc"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jp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37.png"/><Relationship Id="rId9" Type="http://schemas.openxmlformats.org/officeDocument/2006/relationships/image" Target="../media/image12.png"/><Relationship Id="rId5" Type="http://schemas.openxmlformats.org/officeDocument/2006/relationships/image" Target="../media/image14.png"/><Relationship Id="rId6" Type="http://schemas.openxmlformats.org/officeDocument/2006/relationships/image" Target="../media/image10.png"/><Relationship Id="rId7" Type="http://schemas.openxmlformats.org/officeDocument/2006/relationships/image" Target="../media/image7.png"/><Relationship Id="rId8"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8.jpg"/><Relationship Id="rId4" Type="http://schemas.openxmlformats.org/officeDocument/2006/relationships/image" Target="../media/image32.jpg"/><Relationship Id="rId5"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5.png"/><Relationship Id="rId4" Type="http://schemas.openxmlformats.org/officeDocument/2006/relationships/image" Target="../media/image2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1.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1.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1.png"/><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1.png"/><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1.png"/><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1.png"/><Relationship Id="rId4" Type="http://schemas.openxmlformats.org/officeDocument/2006/relationships/image" Target="../media/image2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1.png"/><Relationship Id="rId4" Type="http://schemas.openxmlformats.org/officeDocument/2006/relationships/image" Target="../media/image3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hyperlink" Target="https://innevo.com/blog/metodologia-scrum"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85" name="Google Shape;85;p1"/>
          <p:cNvSpPr txBox="1"/>
          <p:nvPr/>
        </p:nvSpPr>
        <p:spPr>
          <a:xfrm>
            <a:off x="1063303" y="7834026"/>
            <a:ext cx="10253703" cy="863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5000" u="none" cap="none" strike="noStrike">
                <a:solidFill>
                  <a:srgbClr val="131416"/>
                </a:solidFill>
                <a:latin typeface="Open Sans"/>
                <a:ea typeface="Open Sans"/>
                <a:cs typeface="Open Sans"/>
                <a:sym typeface="Open Sans"/>
              </a:rPr>
              <a:t>Analisis y diseño de sistemas 1</a:t>
            </a:r>
            <a:endParaRPr/>
          </a:p>
        </p:txBody>
      </p:sp>
      <p:sp>
        <p:nvSpPr>
          <p:cNvPr id="86" name="Google Shape;86;p1"/>
          <p:cNvSpPr txBox="1"/>
          <p:nvPr/>
        </p:nvSpPr>
        <p:spPr>
          <a:xfrm>
            <a:off x="953631" y="3915649"/>
            <a:ext cx="15842456" cy="156654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9200" u="none" cap="none" strike="noStrike">
                <a:solidFill>
                  <a:srgbClr val="131416"/>
                </a:solidFill>
                <a:latin typeface="Open Sans"/>
                <a:ea typeface="Open Sans"/>
                <a:cs typeface="Open Sans"/>
                <a:sym typeface="Open Sans"/>
              </a:rPr>
              <a:t>Metodologias de desarrollo</a:t>
            </a:r>
            <a:endParaRPr/>
          </a:p>
        </p:txBody>
      </p:sp>
      <p:sp>
        <p:nvSpPr>
          <p:cNvPr id="87" name="Google Shape;87;p1"/>
          <p:cNvSpPr txBox="1"/>
          <p:nvPr/>
        </p:nvSpPr>
        <p:spPr>
          <a:xfrm>
            <a:off x="1063303" y="8745251"/>
            <a:ext cx="6981379"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Escuela de Ingenieria de Ciencias Y Sistemas</a:t>
            </a:r>
            <a:endParaRPr/>
          </a:p>
        </p:txBody>
      </p:sp>
      <p:sp>
        <p:nvSpPr>
          <p:cNvPr id="88" name="Google Shape;88;p1"/>
          <p:cNvSpPr txBox="1"/>
          <p:nvPr/>
        </p:nvSpPr>
        <p:spPr>
          <a:xfrm>
            <a:off x="1028700" y="9210675"/>
            <a:ext cx="3525292"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Facultad de Ingenieria</a:t>
            </a:r>
            <a:endParaRPr/>
          </a:p>
        </p:txBody>
      </p:sp>
      <p:sp>
        <p:nvSpPr>
          <p:cNvPr id="89" name="Google Shape;89;p1"/>
          <p:cNvSpPr txBox="1"/>
          <p:nvPr/>
        </p:nvSpPr>
        <p:spPr>
          <a:xfrm>
            <a:off x="1028700" y="9585325"/>
            <a:ext cx="6407944"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Universidad de San Carlos de Guatemala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grpSp>
        <p:nvGrpSpPr>
          <p:cNvPr id="94" name="Google Shape;94;p2"/>
          <p:cNvGrpSpPr/>
          <p:nvPr/>
        </p:nvGrpSpPr>
        <p:grpSpPr>
          <a:xfrm>
            <a:off x="1866989" y="4445150"/>
            <a:ext cx="4613551" cy="845385"/>
            <a:chOff x="0" y="-76200"/>
            <a:chExt cx="1964221" cy="359923"/>
          </a:xfrm>
        </p:grpSpPr>
        <p:sp>
          <p:nvSpPr>
            <p:cNvPr id="95" name="Google Shape;95;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96" name="Google Shape;96;p2"/>
            <p:cNvSpPr txBox="1"/>
            <p:nvPr/>
          </p:nvSpPr>
          <p:spPr>
            <a:xfrm>
              <a:off x="0"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Foro semanal</a:t>
              </a:r>
              <a:endParaRPr/>
            </a:p>
          </p:txBody>
        </p:sp>
      </p:grpSp>
      <p:sp>
        <p:nvSpPr>
          <p:cNvPr id="97" name="Google Shape;97;p2"/>
          <p:cNvSpPr/>
          <p:nvPr/>
        </p:nvSpPr>
        <p:spPr>
          <a:xfrm>
            <a:off x="878654" y="47404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grpSp>
        <p:nvGrpSpPr>
          <p:cNvPr id="98" name="Google Shape;98;p2"/>
          <p:cNvGrpSpPr/>
          <p:nvPr/>
        </p:nvGrpSpPr>
        <p:grpSpPr>
          <a:xfrm>
            <a:off x="1866989" y="3013983"/>
            <a:ext cx="4115190" cy="1556484"/>
            <a:chOff x="0" y="-76200"/>
            <a:chExt cx="1083836" cy="409938"/>
          </a:xfrm>
        </p:grpSpPr>
        <p:sp>
          <p:nvSpPr>
            <p:cNvPr id="99" name="Google Shape;99;p2"/>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sp>
        <p:sp>
          <p:nvSpPr>
            <p:cNvPr id="100" name="Google Shape;100;p2"/>
            <p:cNvSpPr txBox="1"/>
            <p:nvPr/>
          </p:nvSpPr>
          <p:spPr>
            <a:xfrm>
              <a:off x="0" y="-76200"/>
              <a:ext cx="969536" cy="409938"/>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RECORDATORIOS</a:t>
              </a:r>
              <a:endParaRPr/>
            </a:p>
          </p:txBody>
        </p:sp>
      </p:grpSp>
      <p:sp>
        <p:nvSpPr>
          <p:cNvPr id="101" name="Google Shape;101;p2"/>
          <p:cNvSpPr/>
          <p:nvPr/>
        </p:nvSpPr>
        <p:spPr>
          <a:xfrm>
            <a:off x="651754" y="342973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sp>
      <p:grpSp>
        <p:nvGrpSpPr>
          <p:cNvPr id="102" name="Google Shape;102;p2"/>
          <p:cNvGrpSpPr/>
          <p:nvPr/>
        </p:nvGrpSpPr>
        <p:grpSpPr>
          <a:xfrm>
            <a:off x="651750" y="-320617"/>
            <a:ext cx="6871051" cy="3120467"/>
            <a:chOff x="-6" y="-95250"/>
            <a:chExt cx="9161400" cy="4160623"/>
          </a:xfrm>
        </p:grpSpPr>
        <p:sp>
          <p:nvSpPr>
            <p:cNvPr id="103" name="Google Shape;103;p2"/>
            <p:cNvSpPr txBox="1"/>
            <p:nvPr/>
          </p:nvSpPr>
          <p:spPr>
            <a:xfrm>
              <a:off x="-6" y="986773"/>
              <a:ext cx="9161400" cy="3078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5000" u="none" cap="none" strike="noStrike">
                  <a:solidFill>
                    <a:srgbClr val="131416"/>
                  </a:solidFill>
                  <a:latin typeface="Play"/>
                  <a:ea typeface="Play"/>
                  <a:cs typeface="Play"/>
                  <a:sym typeface="Play"/>
                </a:rPr>
                <a:t>Agenda</a:t>
              </a:r>
              <a:endParaRPr/>
            </a:p>
          </p:txBody>
        </p:sp>
        <p:sp>
          <p:nvSpPr>
            <p:cNvPr id="104" name="Google Shape;104;p2"/>
            <p:cNvSpPr txBox="1"/>
            <p:nvPr/>
          </p:nvSpPr>
          <p:spPr>
            <a:xfrm>
              <a:off x="0" y="-95250"/>
              <a:ext cx="8186982" cy="927435"/>
            </a:xfrm>
            <a:prstGeom prst="rect">
              <a:avLst/>
            </a:prstGeom>
            <a:noFill/>
            <a:ln>
              <a:noFill/>
            </a:ln>
          </p:spPr>
          <p:txBody>
            <a:bodyPr anchorCtr="0" anchor="t" bIns="0" lIns="0" spcFirstLastPara="1" rIns="0" wrap="square" tIns="0">
              <a:spAutoFit/>
            </a:bodyPr>
            <a:lstStyle/>
            <a:p>
              <a:pPr indent="0" lvl="0" marL="0" marR="0" rtl="0" algn="l">
                <a:lnSpc>
                  <a:spcPct val="318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5" name="Google Shape;105;p2"/>
          <p:cNvGrpSpPr/>
          <p:nvPr/>
        </p:nvGrpSpPr>
        <p:grpSpPr>
          <a:xfrm>
            <a:off x="11131715" y="97566"/>
            <a:ext cx="8416862" cy="2901857"/>
            <a:chOff x="0" y="-76200"/>
            <a:chExt cx="11222483" cy="3869143"/>
          </a:xfrm>
        </p:grpSpPr>
        <p:sp>
          <p:nvSpPr>
            <p:cNvPr id="106" name="Google Shape;106;p2"/>
            <p:cNvSpPr txBox="1"/>
            <p:nvPr/>
          </p:nvSpPr>
          <p:spPr>
            <a:xfrm>
              <a:off x="0" y="805268"/>
              <a:ext cx="11222483" cy="2987675"/>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5000" u="none" cap="none" strike="noStrike">
                  <a:solidFill>
                    <a:srgbClr val="131416"/>
                  </a:solidFill>
                  <a:latin typeface="Play"/>
                  <a:ea typeface="Play"/>
                  <a:cs typeface="Play"/>
                  <a:sym typeface="Play"/>
                </a:rPr>
                <a:t>Recursos</a:t>
              </a:r>
              <a:endParaRPr/>
            </a:p>
          </p:txBody>
        </p:sp>
        <p:sp>
          <p:nvSpPr>
            <p:cNvPr id="107" name="Google Shape;107;p2"/>
            <p:cNvSpPr txBox="1"/>
            <p:nvPr/>
          </p:nvSpPr>
          <p:spPr>
            <a:xfrm>
              <a:off x="0" y="-76200"/>
              <a:ext cx="11222483" cy="747545"/>
            </a:xfrm>
            <a:prstGeom prst="rect">
              <a:avLst/>
            </a:prstGeom>
            <a:noFill/>
            <a:ln>
              <a:noFill/>
            </a:ln>
          </p:spPr>
          <p:txBody>
            <a:bodyPr anchorCtr="0" anchor="t" bIns="0" lIns="0" spcFirstLastPara="1" rIns="0" wrap="square" tIns="0">
              <a:spAutoFit/>
            </a:bodyPr>
            <a:lstStyle/>
            <a:p>
              <a:pPr indent="0" lvl="0" marL="0" marR="0" rtl="0" algn="l">
                <a:lnSpc>
                  <a:spcPct val="256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8" name="Google Shape;108;p2"/>
          <p:cNvGrpSpPr/>
          <p:nvPr/>
        </p:nvGrpSpPr>
        <p:grpSpPr>
          <a:xfrm>
            <a:off x="11739805" y="2798634"/>
            <a:ext cx="5353646" cy="2283736"/>
            <a:chOff x="0" y="-114300"/>
            <a:chExt cx="1410014" cy="601478"/>
          </a:xfrm>
        </p:grpSpPr>
        <p:sp>
          <p:nvSpPr>
            <p:cNvPr id="109" name="Google Shape;109;p2"/>
            <p:cNvSpPr/>
            <p:nvPr/>
          </p:nvSpPr>
          <p:spPr>
            <a:xfrm>
              <a:off x="0" y="0"/>
              <a:ext cx="1410014" cy="487178"/>
            </a:xfrm>
            <a:custGeom>
              <a:rect b="b" l="l" r="r" t="t"/>
              <a:pathLst>
                <a:path extrusionOk="0" h="487178" w="1410014">
                  <a:moveTo>
                    <a:pt x="1206814" y="0"/>
                  </a:moveTo>
                  <a:lnTo>
                    <a:pt x="0" y="0"/>
                  </a:lnTo>
                  <a:lnTo>
                    <a:pt x="0" y="487178"/>
                  </a:lnTo>
                  <a:lnTo>
                    <a:pt x="1206814" y="487178"/>
                  </a:lnTo>
                  <a:lnTo>
                    <a:pt x="1410014" y="243589"/>
                  </a:lnTo>
                  <a:lnTo>
                    <a:pt x="1206814" y="0"/>
                  </a:lnTo>
                  <a:close/>
                </a:path>
              </a:pathLst>
            </a:custGeom>
            <a:solidFill>
              <a:srgbClr val="FFFFFF"/>
            </a:solidFill>
            <a:ln>
              <a:noFill/>
            </a:ln>
          </p:spPr>
        </p:sp>
        <p:sp>
          <p:nvSpPr>
            <p:cNvPr id="110" name="Google Shape;110;p2"/>
            <p:cNvSpPr txBox="1"/>
            <p:nvPr/>
          </p:nvSpPr>
          <p:spPr>
            <a:xfrm>
              <a:off x="0" y="-114300"/>
              <a:ext cx="1295714" cy="601478"/>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None/>
              </a:pPr>
              <a:r>
                <a:rPr b="0" i="0" lang="en-US" sz="4499" u="sng" cap="none" strike="noStrike">
                  <a:solidFill>
                    <a:srgbClr val="000000"/>
                  </a:solidFill>
                  <a:latin typeface="Arial"/>
                  <a:ea typeface="Arial"/>
                  <a:cs typeface="Arial"/>
                  <a:sym typeface="Arial"/>
                  <a:hlinkClick r:id="rId5">
                    <a:extLst>
                      <a:ext uri="{A12FA001-AC4F-418D-AE19-62706E023703}">
                        <ahyp:hlinkClr val="tx"/>
                      </a:ext>
                    </a:extLst>
                  </a:hlinkClick>
                </a:rPr>
                <a:t>Tecnicas de Estimacion</a:t>
              </a:r>
              <a:endParaRPr/>
            </a:p>
          </p:txBody>
        </p:sp>
      </p:grpSp>
      <p:grpSp>
        <p:nvGrpSpPr>
          <p:cNvPr id="111" name="Google Shape;111;p2"/>
          <p:cNvGrpSpPr/>
          <p:nvPr/>
        </p:nvGrpSpPr>
        <p:grpSpPr>
          <a:xfrm>
            <a:off x="1866989" y="5327989"/>
            <a:ext cx="4613551" cy="845385"/>
            <a:chOff x="0" y="-76200"/>
            <a:chExt cx="1964221" cy="359923"/>
          </a:xfrm>
        </p:grpSpPr>
        <p:sp>
          <p:nvSpPr>
            <p:cNvPr id="112" name="Google Shape;112;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13" name="Google Shape;113;p2"/>
            <p:cNvSpPr txBox="1"/>
            <p:nvPr/>
          </p:nvSpPr>
          <p:spPr>
            <a:xfrm>
              <a:off x="0"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Entrega Practica 1</a:t>
              </a:r>
              <a:endParaRPr/>
            </a:p>
          </p:txBody>
        </p:sp>
      </p:grpSp>
      <p:grpSp>
        <p:nvGrpSpPr>
          <p:cNvPr id="114" name="Google Shape;114;p2"/>
          <p:cNvGrpSpPr/>
          <p:nvPr/>
        </p:nvGrpSpPr>
        <p:grpSpPr>
          <a:xfrm>
            <a:off x="1866989" y="6309562"/>
            <a:ext cx="4613551" cy="845385"/>
            <a:chOff x="0" y="-76200"/>
            <a:chExt cx="1964221" cy="359923"/>
          </a:xfrm>
        </p:grpSpPr>
        <p:sp>
          <p:nvSpPr>
            <p:cNvPr id="115" name="Google Shape;115;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16" name="Google Shape;116;p2"/>
            <p:cNvSpPr txBox="1"/>
            <p:nvPr/>
          </p:nvSpPr>
          <p:spPr>
            <a:xfrm>
              <a:off x="0"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Calificacion Practica 1</a:t>
              </a:r>
              <a:endParaRPr/>
            </a:p>
          </p:txBody>
        </p:sp>
      </p:grpSp>
      <p:grpSp>
        <p:nvGrpSpPr>
          <p:cNvPr id="117" name="Google Shape;117;p2"/>
          <p:cNvGrpSpPr/>
          <p:nvPr/>
        </p:nvGrpSpPr>
        <p:grpSpPr>
          <a:xfrm>
            <a:off x="1866989" y="7367501"/>
            <a:ext cx="5046037" cy="845385"/>
            <a:chOff x="0" y="-76200"/>
            <a:chExt cx="2148353" cy="359923"/>
          </a:xfrm>
        </p:grpSpPr>
        <p:sp>
          <p:nvSpPr>
            <p:cNvPr id="118" name="Google Shape;118;p2"/>
            <p:cNvSpPr/>
            <p:nvPr/>
          </p:nvSpPr>
          <p:spPr>
            <a:xfrm>
              <a:off x="0" y="0"/>
              <a:ext cx="2148353" cy="283723"/>
            </a:xfrm>
            <a:custGeom>
              <a:rect b="b" l="l" r="r" t="t"/>
              <a:pathLst>
                <a:path extrusionOk="0" h="283723" w="2148353">
                  <a:moveTo>
                    <a:pt x="1945153" y="0"/>
                  </a:moveTo>
                  <a:lnTo>
                    <a:pt x="0" y="0"/>
                  </a:lnTo>
                  <a:lnTo>
                    <a:pt x="0" y="283723"/>
                  </a:lnTo>
                  <a:lnTo>
                    <a:pt x="1945153" y="283723"/>
                  </a:lnTo>
                  <a:lnTo>
                    <a:pt x="2148353" y="141862"/>
                  </a:lnTo>
                  <a:lnTo>
                    <a:pt x="1945153" y="0"/>
                  </a:lnTo>
                  <a:close/>
                </a:path>
              </a:pathLst>
            </a:custGeom>
            <a:solidFill>
              <a:srgbClr val="FFFFFF"/>
            </a:solidFill>
            <a:ln>
              <a:noFill/>
            </a:ln>
          </p:spPr>
        </p:sp>
        <p:sp>
          <p:nvSpPr>
            <p:cNvPr id="119" name="Google Shape;119;p2"/>
            <p:cNvSpPr txBox="1"/>
            <p:nvPr/>
          </p:nvSpPr>
          <p:spPr>
            <a:xfrm>
              <a:off x="0" y="-76200"/>
              <a:ext cx="2034053" cy="359923"/>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None/>
              </a:pPr>
              <a:r>
                <a:rPr lang="en-US" sz="2799"/>
                <a:t>Publicación</a:t>
              </a:r>
              <a:r>
                <a:rPr b="0" i="0" lang="en-US" sz="2799" u="none" cap="none" strike="noStrike">
                  <a:solidFill>
                    <a:srgbClr val="000000"/>
                  </a:solidFill>
                  <a:latin typeface="Arial"/>
                  <a:ea typeface="Arial"/>
                  <a:cs typeface="Arial"/>
                  <a:sym typeface="Arial"/>
                </a:rPr>
                <a:t> Proyecto 1</a:t>
              </a:r>
              <a:endParaRPr/>
            </a:p>
          </p:txBody>
        </p:sp>
      </p:grpSp>
      <p:sp>
        <p:nvSpPr>
          <p:cNvPr id="120" name="Google Shape;120;p2"/>
          <p:cNvSpPr/>
          <p:nvPr/>
        </p:nvSpPr>
        <p:spPr>
          <a:xfrm>
            <a:off x="1866989" y="8547384"/>
            <a:ext cx="4613551" cy="666407"/>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21" name="Google Shape;121;p2"/>
          <p:cNvSpPr/>
          <p:nvPr/>
        </p:nvSpPr>
        <p:spPr>
          <a:xfrm>
            <a:off x="878654" y="562328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22" name="Google Shape;122;p2"/>
          <p:cNvSpPr/>
          <p:nvPr/>
        </p:nvSpPr>
        <p:spPr>
          <a:xfrm>
            <a:off x="878654" y="6604853"/>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23" name="Google Shape;123;p2"/>
          <p:cNvSpPr/>
          <p:nvPr/>
        </p:nvSpPr>
        <p:spPr>
          <a:xfrm>
            <a:off x="878654" y="7604635"/>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3"/>
          <p:cNvSpPr txBox="1"/>
          <p:nvPr/>
        </p:nvSpPr>
        <p:spPr>
          <a:xfrm>
            <a:off x="1374889" y="654364"/>
            <a:ext cx="13991174" cy="180102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None/>
            </a:pPr>
            <a:r>
              <a:rPr b="0" i="0" lang="en-US" sz="6098" u="none" cap="none" strike="noStrike">
                <a:solidFill>
                  <a:srgbClr val="131416"/>
                </a:solidFill>
                <a:latin typeface="Arial"/>
                <a:ea typeface="Arial"/>
                <a:cs typeface="Arial"/>
                <a:sym typeface="Arial"/>
              </a:rPr>
              <a:t>COMPETENCIA(S) QUE DESARROLLAREMOS</a:t>
            </a:r>
            <a:endParaRPr/>
          </a:p>
        </p:txBody>
      </p:sp>
      <p:sp>
        <p:nvSpPr>
          <p:cNvPr id="129" name="Google Shape;129;p3"/>
          <p:cNvSpPr txBox="1"/>
          <p:nvPr/>
        </p:nvSpPr>
        <p:spPr>
          <a:xfrm>
            <a:off x="1374889" y="3200409"/>
            <a:ext cx="15075243" cy="2734945"/>
          </a:xfrm>
          <a:prstGeom prst="rect">
            <a:avLst/>
          </a:prstGeom>
          <a:noFill/>
          <a:ln>
            <a:noFill/>
          </a:ln>
        </p:spPr>
        <p:txBody>
          <a:bodyPr anchorCtr="0" anchor="t" bIns="0" lIns="0" spcFirstLastPara="1" rIns="0" wrap="square" tIns="0">
            <a:spAutoFit/>
          </a:bodyPr>
          <a:lstStyle/>
          <a:p>
            <a:pPr indent="0" lvl="0" marL="0" marR="0" rtl="0" algn="just">
              <a:lnSpc>
                <a:spcPct val="140007"/>
              </a:lnSpc>
              <a:spcBef>
                <a:spcPts val="0"/>
              </a:spcBef>
              <a:spcAft>
                <a:spcPts val="0"/>
              </a:spcAft>
              <a:buNone/>
            </a:pPr>
            <a:r>
              <a:rPr b="1" i="0" lang="en-US" sz="5199" u="none" cap="none" strike="noStrike">
                <a:solidFill>
                  <a:srgbClr val="131416"/>
                </a:solidFill>
                <a:latin typeface="Open Sans"/>
                <a:ea typeface="Open Sans"/>
                <a:cs typeface="Open Sans"/>
                <a:sym typeface="Open Sans"/>
              </a:rPr>
              <a:t>Utiliza metodologias agiles  como scrum y tableros Kanban para entregar software funcional en cortos periodos de tiempo.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4"/>
          <p:cNvSpPr/>
          <p:nvPr/>
        </p:nvSpPr>
        <p:spPr>
          <a:xfrm flipH="1">
            <a:off x="-1442622" y="-173511"/>
            <a:ext cx="9643088" cy="9643088"/>
          </a:xfrm>
          <a:custGeom>
            <a:rect b="b" l="l" r="r" t="t"/>
            <a:pathLst>
              <a:path extrusionOk="0" h="3331210" w="3331210">
                <a:moveTo>
                  <a:pt x="3331210" y="3331210"/>
                </a:moveTo>
                <a:lnTo>
                  <a:pt x="3331210" y="0"/>
                </a:lnTo>
                <a:cubicBezTo>
                  <a:pt x="1490980" y="0"/>
                  <a:pt x="0" y="1490980"/>
                  <a:pt x="0" y="3331210"/>
                </a:cubicBezTo>
                <a:lnTo>
                  <a:pt x="3331210" y="3331210"/>
                </a:lnTo>
                <a:close/>
              </a:path>
            </a:pathLst>
          </a:custGeom>
          <a:solidFill>
            <a:srgbClr val="03989E"/>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4"/>
          <p:cNvSpPr/>
          <p:nvPr/>
        </p:nvSpPr>
        <p:spPr>
          <a:xfrm>
            <a:off x="-318259" y="1723742"/>
            <a:ext cx="8518725" cy="8518725"/>
          </a:xfrm>
          <a:custGeom>
            <a:rect b="b" l="l" r="r" t="t"/>
            <a:pathLst>
              <a:path extrusionOk="0" h="3331210" w="3331210">
                <a:moveTo>
                  <a:pt x="0" y="3331210"/>
                </a:moveTo>
                <a:lnTo>
                  <a:pt x="0" y="0"/>
                </a:lnTo>
                <a:cubicBezTo>
                  <a:pt x="1840230" y="0"/>
                  <a:pt x="3331210" y="1490980"/>
                  <a:pt x="3331210" y="3331210"/>
                </a:cubicBezTo>
                <a:lnTo>
                  <a:pt x="0" y="3331210"/>
                </a:lnTo>
                <a:close/>
              </a:path>
            </a:pathLst>
          </a:custGeom>
          <a:blipFill rotWithShape="1">
            <a:blip r:embed="rId3">
              <a:alphaModFix/>
            </a:blip>
            <a:stretch>
              <a:fillRect b="0" l="-24901" r="-24901"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
          <p:cNvSpPr txBox="1"/>
          <p:nvPr/>
        </p:nvSpPr>
        <p:spPr>
          <a:xfrm>
            <a:off x="8733410" y="4252555"/>
            <a:ext cx="10717635" cy="2000966"/>
          </a:xfrm>
          <a:prstGeom prst="rect">
            <a:avLst/>
          </a:prstGeom>
          <a:noFill/>
          <a:ln>
            <a:noFill/>
          </a:ln>
        </p:spPr>
        <p:txBody>
          <a:bodyPr anchorCtr="0" anchor="t" bIns="0" lIns="0" spcFirstLastPara="1" rIns="0" wrap="square" tIns="0">
            <a:spAutoFit/>
          </a:bodyPr>
          <a:lstStyle/>
          <a:p>
            <a:pPr indent="0" lvl="0" marL="0" marR="0" rtl="0" algn="l">
              <a:lnSpc>
                <a:spcPct val="103999"/>
              </a:lnSpc>
              <a:spcBef>
                <a:spcPts val="0"/>
              </a:spcBef>
              <a:spcAft>
                <a:spcPts val="0"/>
              </a:spcAft>
              <a:buNone/>
            </a:pPr>
            <a:r>
              <a:rPr b="1" i="0" lang="en-US" sz="14578" u="none" cap="none" strike="noStrike">
                <a:solidFill>
                  <a:srgbClr val="000000"/>
                </a:solidFill>
                <a:latin typeface="Montserrat"/>
                <a:ea typeface="Montserrat"/>
                <a:cs typeface="Montserrat"/>
                <a:sym typeface="Montserrat"/>
              </a:rPr>
              <a:t>SCRUM</a:t>
            </a:r>
            <a:endParaRPr/>
          </a:p>
        </p:txBody>
      </p:sp>
      <p:sp>
        <p:nvSpPr>
          <p:cNvPr id="137" name="Google Shape;137;p4"/>
          <p:cNvSpPr/>
          <p:nvPr/>
        </p:nvSpPr>
        <p:spPr>
          <a:xfrm flipH="1" rot="9342835">
            <a:off x="15977713" y="-2084736"/>
            <a:ext cx="6946663" cy="6946663"/>
          </a:xfrm>
          <a:custGeom>
            <a:rect b="b" l="l" r="r" t="t"/>
            <a:pathLst>
              <a:path extrusionOk="0" h="3331210" w="3331210">
                <a:moveTo>
                  <a:pt x="3331210" y="3331210"/>
                </a:moveTo>
                <a:lnTo>
                  <a:pt x="3331210" y="0"/>
                </a:lnTo>
                <a:cubicBezTo>
                  <a:pt x="1490980" y="0"/>
                  <a:pt x="0" y="1490980"/>
                  <a:pt x="0" y="3331210"/>
                </a:cubicBezTo>
                <a:lnTo>
                  <a:pt x="3331210" y="3331210"/>
                </a:lnTo>
                <a:close/>
              </a:path>
            </a:pathLst>
          </a:custGeom>
          <a:solidFill>
            <a:srgbClr val="03989E"/>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4"/>
          <p:cNvSpPr/>
          <p:nvPr/>
        </p:nvSpPr>
        <p:spPr>
          <a:xfrm rot="5280122">
            <a:off x="13839448" y="3738571"/>
            <a:ext cx="11605211" cy="11039457"/>
          </a:xfrm>
          <a:custGeom>
            <a:rect b="b" l="l" r="r" t="t"/>
            <a:pathLst>
              <a:path extrusionOk="0" h="11039457" w="11605211">
                <a:moveTo>
                  <a:pt x="0" y="0"/>
                </a:moveTo>
                <a:lnTo>
                  <a:pt x="11605211" y="0"/>
                </a:lnTo>
                <a:lnTo>
                  <a:pt x="11605211" y="11039458"/>
                </a:lnTo>
                <a:lnTo>
                  <a:pt x="0" y="11039458"/>
                </a:lnTo>
                <a:lnTo>
                  <a:pt x="0" y="0"/>
                </a:lnTo>
                <a:close/>
              </a:path>
            </a:pathLst>
          </a:custGeom>
          <a:blipFill rotWithShape="1">
            <a:blip r:embed="rId4">
              <a:alphaModFix amt="6999"/>
            </a:blip>
            <a:stretch>
              <a:fillRect b="0" l="0" r="0"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grpSp>
        <p:nvGrpSpPr>
          <p:cNvPr id="143" name="Google Shape;143;p5"/>
          <p:cNvGrpSpPr/>
          <p:nvPr/>
        </p:nvGrpSpPr>
        <p:grpSpPr>
          <a:xfrm>
            <a:off x="12839828" y="4487199"/>
            <a:ext cx="7594601" cy="7594601"/>
            <a:chOff x="0" y="0"/>
            <a:chExt cx="812800" cy="812800"/>
          </a:xfrm>
        </p:grpSpPr>
        <p:sp>
          <p:nvSpPr>
            <p:cNvPr id="144" name="Google Shape;144;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F3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5"/>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6" name="Google Shape;146;p5"/>
          <p:cNvSpPr/>
          <p:nvPr/>
        </p:nvSpPr>
        <p:spPr>
          <a:xfrm rot="-5400000">
            <a:off x="10834523" y="-2395660"/>
            <a:ext cx="11605211" cy="11039457"/>
          </a:xfrm>
          <a:custGeom>
            <a:rect b="b" l="l" r="r" t="t"/>
            <a:pathLst>
              <a:path extrusionOk="0" h="11039457" w="11605211">
                <a:moveTo>
                  <a:pt x="0" y="0"/>
                </a:moveTo>
                <a:lnTo>
                  <a:pt x="11605211" y="0"/>
                </a:lnTo>
                <a:lnTo>
                  <a:pt x="11605211" y="11039457"/>
                </a:lnTo>
                <a:lnTo>
                  <a:pt x="0" y="11039457"/>
                </a:lnTo>
                <a:lnTo>
                  <a:pt x="0" y="0"/>
                </a:lnTo>
                <a:close/>
              </a:path>
            </a:pathLst>
          </a:custGeom>
          <a:blipFill rotWithShape="1">
            <a:blip r:embed="rId3">
              <a:alphaModFix amt="6999"/>
            </a:blip>
            <a:stretch>
              <a:fillRect b="0" l="0" r="0" t="0"/>
            </a:stretch>
          </a:blipFill>
          <a:ln>
            <a:noFill/>
          </a:ln>
        </p:spPr>
      </p:sp>
      <p:grpSp>
        <p:nvGrpSpPr>
          <p:cNvPr id="147" name="Google Shape;147;p5"/>
          <p:cNvGrpSpPr/>
          <p:nvPr/>
        </p:nvGrpSpPr>
        <p:grpSpPr>
          <a:xfrm>
            <a:off x="-2626650" y="-879490"/>
            <a:ext cx="12177482" cy="12177482"/>
            <a:chOff x="0" y="0"/>
            <a:chExt cx="812800" cy="812800"/>
          </a:xfrm>
        </p:grpSpPr>
        <p:sp>
          <p:nvSpPr>
            <p:cNvPr id="148" name="Google Shape;148;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F3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5"/>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0" name="Google Shape;150;p5"/>
          <p:cNvSpPr/>
          <p:nvPr/>
        </p:nvSpPr>
        <p:spPr>
          <a:xfrm flipH="1" rot="90672">
            <a:off x="-2707187" y="6761424"/>
            <a:ext cx="5801739" cy="5801739"/>
          </a:xfrm>
          <a:custGeom>
            <a:rect b="b" l="l" r="r" t="t"/>
            <a:pathLst>
              <a:path extrusionOk="0" h="3331210" w="3331210">
                <a:moveTo>
                  <a:pt x="3331210" y="3331210"/>
                </a:moveTo>
                <a:lnTo>
                  <a:pt x="3331210" y="0"/>
                </a:lnTo>
                <a:cubicBezTo>
                  <a:pt x="1490980" y="0"/>
                  <a:pt x="0" y="1490980"/>
                  <a:pt x="0" y="3331210"/>
                </a:cubicBezTo>
                <a:lnTo>
                  <a:pt x="3331210" y="3331210"/>
                </a:lnTo>
                <a:close/>
              </a:path>
            </a:pathLst>
          </a:custGeom>
          <a:solidFill>
            <a:srgbClr val="03989E"/>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1" name="Google Shape;151;p5"/>
          <p:cNvGrpSpPr/>
          <p:nvPr/>
        </p:nvGrpSpPr>
        <p:grpSpPr>
          <a:xfrm>
            <a:off x="606746" y="9441892"/>
            <a:ext cx="4224448" cy="4224448"/>
            <a:chOff x="0" y="0"/>
            <a:chExt cx="812800" cy="812800"/>
          </a:xfrm>
        </p:grpSpPr>
        <p:sp>
          <p:nvSpPr>
            <p:cNvPr id="152" name="Google Shape;152;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5"/>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4" name="Google Shape;154;p5"/>
          <p:cNvGrpSpPr/>
          <p:nvPr/>
        </p:nvGrpSpPr>
        <p:grpSpPr>
          <a:xfrm>
            <a:off x="11117400" y="25743"/>
            <a:ext cx="716822" cy="716822"/>
            <a:chOff x="0" y="0"/>
            <a:chExt cx="812800" cy="812800"/>
          </a:xfrm>
        </p:grpSpPr>
        <p:sp>
          <p:nvSpPr>
            <p:cNvPr id="155" name="Google Shape;155;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5"/>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7" name="Google Shape;157;p5"/>
          <p:cNvGrpSpPr/>
          <p:nvPr/>
        </p:nvGrpSpPr>
        <p:grpSpPr>
          <a:xfrm>
            <a:off x="4825222" y="-4485369"/>
            <a:ext cx="5954261" cy="5954261"/>
            <a:chOff x="0" y="0"/>
            <a:chExt cx="812800" cy="812800"/>
          </a:xfrm>
        </p:grpSpPr>
        <p:sp>
          <p:nvSpPr>
            <p:cNvPr id="158" name="Google Shape;158;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5"/>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0" name="Google Shape;160;p5"/>
          <p:cNvGrpSpPr/>
          <p:nvPr/>
        </p:nvGrpSpPr>
        <p:grpSpPr>
          <a:xfrm>
            <a:off x="16637128" y="8526062"/>
            <a:ext cx="2538589" cy="2538589"/>
            <a:chOff x="0" y="0"/>
            <a:chExt cx="812800" cy="812800"/>
          </a:xfrm>
        </p:grpSpPr>
        <p:sp>
          <p:nvSpPr>
            <p:cNvPr id="161" name="Google Shape;161;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5"/>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3" name="Google Shape;163;p5"/>
          <p:cNvSpPr/>
          <p:nvPr/>
        </p:nvSpPr>
        <p:spPr>
          <a:xfrm>
            <a:off x="3256995" y="6075239"/>
            <a:ext cx="2558333" cy="2558333"/>
          </a:xfrm>
          <a:custGeom>
            <a:rect b="b" l="l" r="r" t="t"/>
            <a:pathLst>
              <a:path extrusionOk="0" h="2558333" w="2558333">
                <a:moveTo>
                  <a:pt x="0" y="0"/>
                </a:moveTo>
                <a:lnTo>
                  <a:pt x="2558333" y="0"/>
                </a:lnTo>
                <a:lnTo>
                  <a:pt x="2558333" y="2558333"/>
                </a:lnTo>
                <a:lnTo>
                  <a:pt x="0" y="2558333"/>
                </a:lnTo>
                <a:lnTo>
                  <a:pt x="0" y="0"/>
                </a:lnTo>
                <a:close/>
              </a:path>
            </a:pathLst>
          </a:custGeom>
          <a:blipFill rotWithShape="1">
            <a:blip r:embed="rId4">
              <a:alphaModFix/>
            </a:blip>
            <a:stretch>
              <a:fillRect b="0" l="0" r="0" t="0"/>
            </a:stretch>
          </a:blipFill>
          <a:ln>
            <a:noFill/>
          </a:ln>
        </p:spPr>
      </p:sp>
      <p:sp>
        <p:nvSpPr>
          <p:cNvPr id="164" name="Google Shape;164;p5"/>
          <p:cNvSpPr/>
          <p:nvPr/>
        </p:nvSpPr>
        <p:spPr>
          <a:xfrm>
            <a:off x="3139667" y="1468892"/>
            <a:ext cx="2732297" cy="2732297"/>
          </a:xfrm>
          <a:custGeom>
            <a:rect b="b" l="l" r="r" t="t"/>
            <a:pathLst>
              <a:path extrusionOk="0" h="2732297" w="2732297">
                <a:moveTo>
                  <a:pt x="0" y="0"/>
                </a:moveTo>
                <a:lnTo>
                  <a:pt x="2732297" y="0"/>
                </a:lnTo>
                <a:lnTo>
                  <a:pt x="2732297" y="2732297"/>
                </a:lnTo>
                <a:lnTo>
                  <a:pt x="0" y="2732297"/>
                </a:lnTo>
                <a:lnTo>
                  <a:pt x="0" y="0"/>
                </a:lnTo>
                <a:close/>
              </a:path>
            </a:pathLst>
          </a:custGeom>
          <a:blipFill rotWithShape="1">
            <a:blip r:embed="rId5">
              <a:alphaModFix/>
            </a:blip>
            <a:stretch>
              <a:fillRect b="0" l="0" r="0" t="0"/>
            </a:stretch>
          </a:blipFill>
          <a:ln>
            <a:noFill/>
          </a:ln>
        </p:spPr>
      </p:sp>
      <p:sp>
        <p:nvSpPr>
          <p:cNvPr id="165" name="Google Shape;165;p5"/>
          <p:cNvSpPr/>
          <p:nvPr/>
        </p:nvSpPr>
        <p:spPr>
          <a:xfrm>
            <a:off x="12839828" y="1135166"/>
            <a:ext cx="896159" cy="2757413"/>
          </a:xfrm>
          <a:custGeom>
            <a:rect b="b" l="l" r="r" t="t"/>
            <a:pathLst>
              <a:path extrusionOk="0" h="2757413" w="896159">
                <a:moveTo>
                  <a:pt x="0" y="0"/>
                </a:moveTo>
                <a:lnTo>
                  <a:pt x="896159" y="0"/>
                </a:lnTo>
                <a:lnTo>
                  <a:pt x="896159" y="2757413"/>
                </a:lnTo>
                <a:lnTo>
                  <a:pt x="0" y="2757413"/>
                </a:lnTo>
                <a:lnTo>
                  <a:pt x="0" y="0"/>
                </a:lnTo>
                <a:close/>
              </a:path>
            </a:pathLst>
          </a:custGeom>
          <a:blipFill rotWithShape="1">
            <a:blip r:embed="rId6">
              <a:alphaModFix/>
            </a:blip>
            <a:stretch>
              <a:fillRect b="0" l="0" r="0" t="0"/>
            </a:stretch>
          </a:blipFill>
          <a:ln>
            <a:noFill/>
          </a:ln>
        </p:spPr>
      </p:sp>
      <p:sp>
        <p:nvSpPr>
          <p:cNvPr id="166" name="Google Shape;166;p5"/>
          <p:cNvSpPr/>
          <p:nvPr/>
        </p:nvSpPr>
        <p:spPr>
          <a:xfrm>
            <a:off x="13141132" y="6173050"/>
            <a:ext cx="3217795" cy="2353012"/>
          </a:xfrm>
          <a:custGeom>
            <a:rect b="b" l="l" r="r" t="t"/>
            <a:pathLst>
              <a:path extrusionOk="0" h="2353012" w="3217795">
                <a:moveTo>
                  <a:pt x="0" y="0"/>
                </a:moveTo>
                <a:lnTo>
                  <a:pt x="3217795" y="0"/>
                </a:lnTo>
                <a:lnTo>
                  <a:pt x="3217795" y="2353012"/>
                </a:lnTo>
                <a:lnTo>
                  <a:pt x="0" y="2353012"/>
                </a:lnTo>
                <a:lnTo>
                  <a:pt x="0" y="0"/>
                </a:lnTo>
                <a:close/>
              </a:path>
            </a:pathLst>
          </a:custGeom>
          <a:blipFill rotWithShape="1">
            <a:blip r:embed="rId7">
              <a:alphaModFix/>
            </a:blip>
            <a:stretch>
              <a:fillRect b="0" l="0" r="0" t="0"/>
            </a:stretch>
          </a:blipFill>
          <a:ln>
            <a:noFill/>
          </a:ln>
        </p:spPr>
      </p:sp>
      <p:sp>
        <p:nvSpPr>
          <p:cNvPr id="167" name="Google Shape;167;p5"/>
          <p:cNvSpPr/>
          <p:nvPr/>
        </p:nvSpPr>
        <p:spPr>
          <a:xfrm>
            <a:off x="14301950" y="1135166"/>
            <a:ext cx="896159" cy="2757413"/>
          </a:xfrm>
          <a:custGeom>
            <a:rect b="b" l="l" r="r" t="t"/>
            <a:pathLst>
              <a:path extrusionOk="0" h="2757413" w="896159">
                <a:moveTo>
                  <a:pt x="0" y="0"/>
                </a:moveTo>
                <a:lnTo>
                  <a:pt x="896159" y="0"/>
                </a:lnTo>
                <a:lnTo>
                  <a:pt x="896159" y="2757413"/>
                </a:lnTo>
                <a:lnTo>
                  <a:pt x="0" y="2757413"/>
                </a:lnTo>
                <a:lnTo>
                  <a:pt x="0" y="0"/>
                </a:lnTo>
                <a:close/>
              </a:path>
            </a:pathLst>
          </a:custGeom>
          <a:blipFill rotWithShape="1">
            <a:blip r:embed="rId6">
              <a:alphaModFix/>
            </a:blip>
            <a:stretch>
              <a:fillRect b="0" l="0" r="0" t="0"/>
            </a:stretch>
          </a:blipFill>
          <a:ln>
            <a:noFill/>
          </a:ln>
        </p:spPr>
      </p:sp>
      <p:sp>
        <p:nvSpPr>
          <p:cNvPr id="168" name="Google Shape;168;p5"/>
          <p:cNvSpPr/>
          <p:nvPr/>
        </p:nvSpPr>
        <p:spPr>
          <a:xfrm>
            <a:off x="15771277" y="1135166"/>
            <a:ext cx="896159" cy="2757413"/>
          </a:xfrm>
          <a:custGeom>
            <a:rect b="b" l="l" r="r" t="t"/>
            <a:pathLst>
              <a:path extrusionOk="0" h="2757413" w="896159">
                <a:moveTo>
                  <a:pt x="0" y="0"/>
                </a:moveTo>
                <a:lnTo>
                  <a:pt x="896159" y="0"/>
                </a:lnTo>
                <a:lnTo>
                  <a:pt x="896159" y="2757413"/>
                </a:lnTo>
                <a:lnTo>
                  <a:pt x="0" y="2757413"/>
                </a:lnTo>
                <a:lnTo>
                  <a:pt x="0" y="0"/>
                </a:lnTo>
                <a:close/>
              </a:path>
            </a:pathLst>
          </a:custGeom>
          <a:blipFill rotWithShape="1">
            <a:blip r:embed="rId6">
              <a:alphaModFix/>
            </a:blip>
            <a:stretch>
              <a:fillRect b="0" l="0" r="0" t="0"/>
            </a:stretch>
          </a:blipFill>
          <a:ln>
            <a:noFill/>
          </a:ln>
        </p:spPr>
      </p:sp>
      <p:sp>
        <p:nvSpPr>
          <p:cNvPr id="169" name="Google Shape;169;p5"/>
          <p:cNvSpPr/>
          <p:nvPr/>
        </p:nvSpPr>
        <p:spPr>
          <a:xfrm rot="-8985167">
            <a:off x="6184462" y="2991818"/>
            <a:ext cx="2728572" cy="770822"/>
          </a:xfrm>
          <a:custGeom>
            <a:rect b="b" l="l" r="r" t="t"/>
            <a:pathLst>
              <a:path extrusionOk="0" h="770822" w="2728572">
                <a:moveTo>
                  <a:pt x="0" y="0"/>
                </a:moveTo>
                <a:lnTo>
                  <a:pt x="2728572" y="0"/>
                </a:lnTo>
                <a:lnTo>
                  <a:pt x="2728572" y="770821"/>
                </a:lnTo>
                <a:lnTo>
                  <a:pt x="0" y="770821"/>
                </a:lnTo>
                <a:lnTo>
                  <a:pt x="0" y="0"/>
                </a:lnTo>
                <a:close/>
              </a:path>
            </a:pathLst>
          </a:custGeom>
          <a:blipFill rotWithShape="1">
            <a:blip r:embed="rId8">
              <a:alphaModFix/>
            </a:blip>
            <a:stretch>
              <a:fillRect b="0" l="0" r="0" t="0"/>
            </a:stretch>
          </a:blipFill>
          <a:ln>
            <a:noFill/>
          </a:ln>
        </p:spPr>
      </p:sp>
      <p:sp>
        <p:nvSpPr>
          <p:cNvPr id="170" name="Google Shape;170;p5"/>
          <p:cNvSpPr txBox="1"/>
          <p:nvPr/>
        </p:nvSpPr>
        <p:spPr>
          <a:xfrm>
            <a:off x="5871964" y="4719125"/>
            <a:ext cx="7799961" cy="137794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8000" u="none" cap="none" strike="noStrike">
                <a:solidFill>
                  <a:srgbClr val="000000"/>
                </a:solidFill>
                <a:latin typeface="Montserrat"/>
                <a:ea typeface="Montserrat"/>
                <a:cs typeface="Montserrat"/>
                <a:sym typeface="Montserrat"/>
              </a:rPr>
              <a:t>SCRUM</a:t>
            </a:r>
            <a:endParaRPr/>
          </a:p>
        </p:txBody>
      </p:sp>
      <p:sp>
        <p:nvSpPr>
          <p:cNvPr id="171" name="Google Shape;171;p5"/>
          <p:cNvSpPr/>
          <p:nvPr/>
        </p:nvSpPr>
        <p:spPr>
          <a:xfrm rot="1813850">
            <a:off x="9826520" y="7228267"/>
            <a:ext cx="2728572" cy="770822"/>
          </a:xfrm>
          <a:custGeom>
            <a:rect b="b" l="l" r="r" t="t"/>
            <a:pathLst>
              <a:path extrusionOk="0" h="770822" w="2728572">
                <a:moveTo>
                  <a:pt x="0" y="0"/>
                </a:moveTo>
                <a:lnTo>
                  <a:pt x="2728572" y="0"/>
                </a:lnTo>
                <a:lnTo>
                  <a:pt x="2728572" y="770821"/>
                </a:lnTo>
                <a:lnTo>
                  <a:pt x="0" y="770821"/>
                </a:lnTo>
                <a:lnTo>
                  <a:pt x="0" y="0"/>
                </a:lnTo>
                <a:close/>
              </a:path>
            </a:pathLst>
          </a:custGeom>
          <a:blipFill rotWithShape="1">
            <a:blip r:embed="rId8">
              <a:alphaModFix/>
            </a:blip>
            <a:stretch>
              <a:fillRect b="0" l="0" r="0" t="0"/>
            </a:stretch>
          </a:blipFill>
          <a:ln>
            <a:noFill/>
          </a:ln>
        </p:spPr>
      </p:sp>
      <p:sp>
        <p:nvSpPr>
          <p:cNvPr id="172" name="Google Shape;172;p5"/>
          <p:cNvSpPr/>
          <p:nvPr/>
        </p:nvSpPr>
        <p:spPr>
          <a:xfrm rot="436639">
            <a:off x="6569869" y="6505149"/>
            <a:ext cx="1957759" cy="2020913"/>
          </a:xfrm>
          <a:custGeom>
            <a:rect b="b" l="l" r="r" t="t"/>
            <a:pathLst>
              <a:path extrusionOk="0" h="2020913" w="1957759">
                <a:moveTo>
                  <a:pt x="0" y="0"/>
                </a:moveTo>
                <a:lnTo>
                  <a:pt x="1957759" y="0"/>
                </a:lnTo>
                <a:lnTo>
                  <a:pt x="1957759" y="2020913"/>
                </a:lnTo>
                <a:lnTo>
                  <a:pt x="0" y="2020913"/>
                </a:lnTo>
                <a:lnTo>
                  <a:pt x="0" y="0"/>
                </a:lnTo>
                <a:close/>
              </a:path>
            </a:pathLst>
          </a:custGeom>
          <a:blipFill rotWithShape="1">
            <a:blip r:embed="rId9">
              <a:alphaModFix/>
            </a:blip>
            <a:stretch>
              <a:fillRect b="0" l="0" r="0" t="0"/>
            </a:stretch>
          </a:blipFill>
          <a:ln>
            <a:noFill/>
          </a:ln>
        </p:spPr>
      </p:sp>
      <p:sp>
        <p:nvSpPr>
          <p:cNvPr id="173" name="Google Shape;173;p5"/>
          <p:cNvSpPr txBox="1"/>
          <p:nvPr/>
        </p:nvSpPr>
        <p:spPr>
          <a:xfrm>
            <a:off x="3256995" y="8958022"/>
            <a:ext cx="2732233" cy="483870"/>
          </a:xfrm>
          <a:prstGeom prst="rect">
            <a:avLst/>
          </a:prstGeom>
          <a:noFill/>
          <a:ln>
            <a:noFill/>
          </a:ln>
        </p:spPr>
        <p:txBody>
          <a:bodyPr anchorCtr="0" anchor="t" bIns="0" lIns="0" spcFirstLastPara="1" rIns="0" wrap="square" tIns="0">
            <a:spAutoFit/>
          </a:bodyPr>
          <a:lstStyle/>
          <a:p>
            <a:pPr indent="0" lvl="0" marL="0" marR="0" rtl="0" algn="ctr">
              <a:lnSpc>
                <a:spcPct val="139962"/>
              </a:lnSpc>
              <a:spcBef>
                <a:spcPts val="0"/>
              </a:spcBef>
              <a:spcAft>
                <a:spcPts val="0"/>
              </a:spcAft>
              <a:buNone/>
            </a:pPr>
            <a:r>
              <a:rPr b="1" i="0" lang="en-US" sz="2700" u="none" cap="none" strike="noStrike">
                <a:solidFill>
                  <a:srgbClr val="000000"/>
                </a:solidFill>
                <a:latin typeface="Poppins"/>
                <a:ea typeface="Poppins"/>
                <a:cs typeface="Poppins"/>
                <a:sym typeface="Poppins"/>
              </a:rPr>
              <a:t>Roles</a:t>
            </a:r>
            <a:endParaRPr/>
          </a:p>
        </p:txBody>
      </p:sp>
      <p:sp>
        <p:nvSpPr>
          <p:cNvPr id="174" name="Google Shape;174;p5"/>
          <p:cNvSpPr txBox="1"/>
          <p:nvPr/>
        </p:nvSpPr>
        <p:spPr>
          <a:xfrm>
            <a:off x="3300403" y="4525039"/>
            <a:ext cx="2732233" cy="483870"/>
          </a:xfrm>
          <a:prstGeom prst="rect">
            <a:avLst/>
          </a:prstGeom>
          <a:noFill/>
          <a:ln>
            <a:noFill/>
          </a:ln>
        </p:spPr>
        <p:txBody>
          <a:bodyPr anchorCtr="0" anchor="t" bIns="0" lIns="0" spcFirstLastPara="1" rIns="0" wrap="square" tIns="0">
            <a:spAutoFit/>
          </a:bodyPr>
          <a:lstStyle/>
          <a:p>
            <a:pPr indent="0" lvl="0" marL="0" marR="0" rtl="0" algn="ctr">
              <a:lnSpc>
                <a:spcPct val="139962"/>
              </a:lnSpc>
              <a:spcBef>
                <a:spcPts val="0"/>
              </a:spcBef>
              <a:spcAft>
                <a:spcPts val="0"/>
              </a:spcAft>
              <a:buNone/>
            </a:pPr>
            <a:r>
              <a:rPr b="1" i="0" lang="en-US" sz="2700" u="none" cap="none" strike="noStrike">
                <a:solidFill>
                  <a:srgbClr val="000000"/>
                </a:solidFill>
                <a:latin typeface="Poppins"/>
                <a:ea typeface="Poppins"/>
                <a:cs typeface="Poppins"/>
                <a:sym typeface="Poppins"/>
              </a:rPr>
              <a:t>Artefactos</a:t>
            </a:r>
            <a:endParaRPr/>
          </a:p>
        </p:txBody>
      </p:sp>
      <p:sp>
        <p:nvSpPr>
          <p:cNvPr id="175" name="Google Shape;175;p5"/>
          <p:cNvSpPr txBox="1"/>
          <p:nvPr/>
        </p:nvSpPr>
        <p:spPr>
          <a:xfrm>
            <a:off x="13535230" y="4321204"/>
            <a:ext cx="2386760" cy="483870"/>
          </a:xfrm>
          <a:prstGeom prst="rect">
            <a:avLst/>
          </a:prstGeom>
          <a:noFill/>
          <a:ln>
            <a:noFill/>
          </a:ln>
        </p:spPr>
        <p:txBody>
          <a:bodyPr anchorCtr="0" anchor="t" bIns="0" lIns="0" spcFirstLastPara="1" rIns="0" wrap="square" tIns="0">
            <a:spAutoFit/>
          </a:bodyPr>
          <a:lstStyle/>
          <a:p>
            <a:pPr indent="0" lvl="0" marL="0" marR="0" rtl="0" algn="ctr">
              <a:lnSpc>
                <a:spcPct val="139962"/>
              </a:lnSpc>
              <a:spcBef>
                <a:spcPts val="0"/>
              </a:spcBef>
              <a:spcAft>
                <a:spcPts val="0"/>
              </a:spcAft>
              <a:buNone/>
            </a:pPr>
            <a:r>
              <a:rPr b="1" i="0" lang="en-US" sz="2700" u="none" cap="none" strike="noStrike">
                <a:solidFill>
                  <a:srgbClr val="000000"/>
                </a:solidFill>
                <a:latin typeface="Poppins"/>
                <a:ea typeface="Poppins"/>
                <a:cs typeface="Poppins"/>
                <a:sym typeface="Poppins"/>
              </a:rPr>
              <a:t>Pilares</a:t>
            </a:r>
            <a:endParaRPr/>
          </a:p>
        </p:txBody>
      </p:sp>
      <p:sp>
        <p:nvSpPr>
          <p:cNvPr id="176" name="Google Shape;176;p5"/>
          <p:cNvSpPr txBox="1"/>
          <p:nvPr/>
        </p:nvSpPr>
        <p:spPr>
          <a:xfrm>
            <a:off x="13280702" y="8958022"/>
            <a:ext cx="2938654" cy="483870"/>
          </a:xfrm>
          <a:prstGeom prst="rect">
            <a:avLst/>
          </a:prstGeom>
          <a:noFill/>
          <a:ln>
            <a:noFill/>
          </a:ln>
        </p:spPr>
        <p:txBody>
          <a:bodyPr anchorCtr="0" anchor="t" bIns="0" lIns="0" spcFirstLastPara="1" rIns="0" wrap="square" tIns="0">
            <a:spAutoFit/>
          </a:bodyPr>
          <a:lstStyle/>
          <a:p>
            <a:pPr indent="0" lvl="0" marL="0" marR="0" rtl="0" algn="ctr">
              <a:lnSpc>
                <a:spcPct val="139962"/>
              </a:lnSpc>
              <a:spcBef>
                <a:spcPts val="0"/>
              </a:spcBef>
              <a:spcAft>
                <a:spcPts val="0"/>
              </a:spcAft>
              <a:buNone/>
            </a:pPr>
            <a:r>
              <a:rPr b="1" i="0" lang="en-US" sz="2700" u="none" cap="none" strike="noStrike">
                <a:solidFill>
                  <a:srgbClr val="000000"/>
                </a:solidFill>
                <a:latin typeface="Poppins"/>
                <a:ea typeface="Poppins"/>
                <a:cs typeface="Poppins"/>
                <a:sym typeface="Poppins"/>
              </a:rPr>
              <a:t>Eventos</a:t>
            </a:r>
            <a:endParaRPr/>
          </a:p>
        </p:txBody>
      </p:sp>
      <p:sp>
        <p:nvSpPr>
          <p:cNvPr id="177" name="Google Shape;177;p5"/>
          <p:cNvSpPr/>
          <p:nvPr/>
        </p:nvSpPr>
        <p:spPr>
          <a:xfrm rot="10314737">
            <a:off x="10216451" y="2452659"/>
            <a:ext cx="1957759" cy="2020913"/>
          </a:xfrm>
          <a:custGeom>
            <a:rect b="b" l="l" r="r" t="t"/>
            <a:pathLst>
              <a:path extrusionOk="0" h="2020913" w="1957759">
                <a:moveTo>
                  <a:pt x="0" y="0"/>
                </a:moveTo>
                <a:lnTo>
                  <a:pt x="1957759" y="0"/>
                </a:lnTo>
                <a:lnTo>
                  <a:pt x="1957759" y="2020913"/>
                </a:lnTo>
                <a:lnTo>
                  <a:pt x="0" y="2020913"/>
                </a:lnTo>
                <a:lnTo>
                  <a:pt x="0" y="0"/>
                </a:lnTo>
                <a:close/>
              </a:path>
            </a:pathLst>
          </a:custGeom>
          <a:blipFill rotWithShape="1">
            <a:blip r:embed="rId9">
              <a:alphaModFix/>
            </a:blip>
            <a:stretch>
              <a:fillRect b="0" l="0" r="0" t="0"/>
            </a:stretch>
          </a:blipFill>
          <a:ln>
            <a:noFill/>
          </a:ln>
        </p:spPr>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grpSp>
        <p:nvGrpSpPr>
          <p:cNvPr id="182" name="Google Shape;182;p6"/>
          <p:cNvGrpSpPr/>
          <p:nvPr/>
        </p:nvGrpSpPr>
        <p:grpSpPr>
          <a:xfrm>
            <a:off x="-1028061" y="-2700651"/>
            <a:ext cx="12177482" cy="12177482"/>
            <a:chOff x="0" y="0"/>
            <a:chExt cx="812800" cy="812800"/>
          </a:xfrm>
        </p:grpSpPr>
        <p:sp>
          <p:nvSpPr>
            <p:cNvPr id="183" name="Google Shape;183;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F3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85" name="Google Shape;185;p6"/>
          <p:cNvSpPr/>
          <p:nvPr/>
        </p:nvSpPr>
        <p:spPr>
          <a:xfrm rot="5280122">
            <a:off x="9281751" y="92152"/>
            <a:ext cx="11605211" cy="11039457"/>
          </a:xfrm>
          <a:custGeom>
            <a:rect b="b" l="l" r="r" t="t"/>
            <a:pathLst>
              <a:path extrusionOk="0" h="11039457" w="11605211">
                <a:moveTo>
                  <a:pt x="0" y="0"/>
                </a:moveTo>
                <a:lnTo>
                  <a:pt x="11605211" y="0"/>
                </a:lnTo>
                <a:lnTo>
                  <a:pt x="11605211" y="11039457"/>
                </a:lnTo>
                <a:lnTo>
                  <a:pt x="0" y="11039457"/>
                </a:lnTo>
                <a:lnTo>
                  <a:pt x="0" y="0"/>
                </a:lnTo>
                <a:close/>
              </a:path>
            </a:pathLst>
          </a:custGeom>
          <a:blipFill rotWithShape="1">
            <a:blip r:embed="rId3">
              <a:alphaModFix amt="6999"/>
            </a:blip>
            <a:stretch>
              <a:fillRect b="0" l="0" r="0" t="0"/>
            </a:stretch>
          </a:blipFill>
          <a:ln>
            <a:noFill/>
          </a:ln>
        </p:spPr>
      </p:sp>
      <p:grpSp>
        <p:nvGrpSpPr>
          <p:cNvPr id="186" name="Google Shape;186;p6"/>
          <p:cNvGrpSpPr/>
          <p:nvPr/>
        </p:nvGrpSpPr>
        <p:grpSpPr>
          <a:xfrm>
            <a:off x="12995074" y="5514656"/>
            <a:ext cx="12177482" cy="12177482"/>
            <a:chOff x="0" y="0"/>
            <a:chExt cx="812800" cy="812800"/>
          </a:xfrm>
        </p:grpSpPr>
        <p:sp>
          <p:nvSpPr>
            <p:cNvPr id="187" name="Google Shape;187;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89" name="Google Shape;189;p6"/>
          <p:cNvSpPr txBox="1"/>
          <p:nvPr/>
        </p:nvSpPr>
        <p:spPr>
          <a:xfrm>
            <a:off x="1887586" y="2241550"/>
            <a:ext cx="13019553" cy="5632450"/>
          </a:xfrm>
          <a:prstGeom prst="rect">
            <a:avLst/>
          </a:prstGeom>
          <a:noFill/>
          <a:ln>
            <a:noFill/>
          </a:ln>
        </p:spPr>
        <p:txBody>
          <a:bodyPr anchorCtr="0" anchor="t" bIns="0" lIns="0" spcFirstLastPara="1" rIns="0" wrap="square" tIns="0">
            <a:spAutoFit/>
          </a:bodyPr>
          <a:lstStyle/>
          <a:p>
            <a:pPr indent="0" lvl="0" marL="0" marR="0" rtl="0" algn="just">
              <a:lnSpc>
                <a:spcPct val="160000"/>
              </a:lnSpc>
              <a:spcBef>
                <a:spcPts val="0"/>
              </a:spcBef>
              <a:spcAft>
                <a:spcPts val="0"/>
              </a:spcAft>
              <a:buNone/>
            </a:pPr>
            <a:r>
              <a:rPr b="0" i="0" lang="en-US" sz="3500" u="none" cap="none" strike="noStrike">
                <a:solidFill>
                  <a:srgbClr val="000000"/>
                </a:solidFill>
                <a:latin typeface="Poppins Light"/>
                <a:ea typeface="Poppins Light"/>
                <a:cs typeface="Poppins Light"/>
                <a:sym typeface="Poppins Light"/>
              </a:rPr>
              <a:t>Permite abordar proyectos complejos desarrollados en entornos dinámicos y cambiantes de un modo flexible. Está basada en entregas parciales del producto final en base al valor que ofrecen a los clientes. </a:t>
            </a:r>
            <a:endParaRPr/>
          </a:p>
          <a:p>
            <a:pPr indent="0" lvl="0" marL="0" marR="0" rtl="0" algn="just">
              <a:lnSpc>
                <a:spcPct val="160000"/>
              </a:lnSpc>
              <a:spcBef>
                <a:spcPts val="0"/>
              </a:spcBef>
              <a:spcAft>
                <a:spcPts val="0"/>
              </a:spcAft>
              <a:buNone/>
            </a:pPr>
            <a:r>
              <a:t/>
            </a:r>
            <a:endParaRPr b="0" i="0" sz="3500" u="none" cap="none" strike="noStrike">
              <a:solidFill>
                <a:srgbClr val="000000"/>
              </a:solidFill>
              <a:latin typeface="Poppins Light"/>
              <a:ea typeface="Poppins Light"/>
              <a:cs typeface="Poppins Light"/>
              <a:sym typeface="Poppins Light"/>
            </a:endParaRPr>
          </a:p>
          <a:p>
            <a:pPr indent="0" lvl="0" marL="0" marR="0" rtl="0" algn="just">
              <a:lnSpc>
                <a:spcPct val="160000"/>
              </a:lnSpc>
              <a:spcBef>
                <a:spcPts val="0"/>
              </a:spcBef>
              <a:spcAft>
                <a:spcPts val="0"/>
              </a:spcAft>
              <a:buNone/>
            </a:pPr>
            <a:r>
              <a:rPr b="0" i="0" lang="en-US" sz="3500" u="none" cap="none" strike="noStrike">
                <a:solidFill>
                  <a:srgbClr val="000000"/>
                </a:solidFill>
                <a:latin typeface="Poppins Light"/>
                <a:ea typeface="Poppins Light"/>
                <a:cs typeface="Poppins Light"/>
                <a:sym typeface="Poppins Light"/>
              </a:rPr>
              <a:t>Scrum ayuda a los equipos a aprender y organizarse en base a las experiencias, a la vez que aborda problemas e invita a reflexionar sobre los éxitos y fracasos. </a:t>
            </a:r>
            <a:endParaRPr/>
          </a:p>
        </p:txBody>
      </p:sp>
      <p:grpSp>
        <p:nvGrpSpPr>
          <p:cNvPr id="190" name="Google Shape;190;p6"/>
          <p:cNvGrpSpPr/>
          <p:nvPr/>
        </p:nvGrpSpPr>
        <p:grpSpPr>
          <a:xfrm>
            <a:off x="14733054" y="-2477251"/>
            <a:ext cx="3505951" cy="3505951"/>
            <a:chOff x="0" y="0"/>
            <a:chExt cx="812800" cy="812800"/>
          </a:xfrm>
        </p:grpSpPr>
        <p:sp>
          <p:nvSpPr>
            <p:cNvPr id="191" name="Google Shape;191;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3" name="Google Shape;193;p6"/>
          <p:cNvGrpSpPr/>
          <p:nvPr/>
        </p:nvGrpSpPr>
        <p:grpSpPr>
          <a:xfrm>
            <a:off x="3676952" y="-379636"/>
            <a:ext cx="1551487" cy="1551487"/>
            <a:chOff x="0" y="0"/>
            <a:chExt cx="812800" cy="812800"/>
          </a:xfrm>
        </p:grpSpPr>
        <p:sp>
          <p:nvSpPr>
            <p:cNvPr id="194" name="Google Shape;194;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6" name="Google Shape;196;p6"/>
          <p:cNvGrpSpPr/>
          <p:nvPr/>
        </p:nvGrpSpPr>
        <p:grpSpPr>
          <a:xfrm>
            <a:off x="-3909957" y="8534677"/>
            <a:ext cx="6437648" cy="6437648"/>
            <a:chOff x="0" y="0"/>
            <a:chExt cx="812800" cy="812800"/>
          </a:xfrm>
        </p:grpSpPr>
        <p:sp>
          <p:nvSpPr>
            <p:cNvPr id="197" name="Google Shape;197;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3989E"/>
        </a:solidFill>
      </p:bgPr>
    </p:bg>
    <p:spTree>
      <p:nvGrpSpPr>
        <p:cNvPr id="202" name="Shape 202"/>
        <p:cNvGrpSpPr/>
        <p:nvPr/>
      </p:nvGrpSpPr>
      <p:grpSpPr>
        <a:xfrm>
          <a:off x="0" y="0"/>
          <a:ext cx="0" cy="0"/>
          <a:chOff x="0" y="0"/>
          <a:chExt cx="0" cy="0"/>
        </a:xfrm>
      </p:grpSpPr>
      <p:grpSp>
        <p:nvGrpSpPr>
          <p:cNvPr id="203" name="Google Shape;203;p7"/>
          <p:cNvGrpSpPr/>
          <p:nvPr/>
        </p:nvGrpSpPr>
        <p:grpSpPr>
          <a:xfrm>
            <a:off x="11301677" y="841157"/>
            <a:ext cx="9807414" cy="9807414"/>
            <a:chOff x="0" y="0"/>
            <a:chExt cx="812800" cy="812800"/>
          </a:xfrm>
        </p:grpSpPr>
        <p:sp>
          <p:nvSpPr>
            <p:cNvPr id="204" name="Google Shape;204;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54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6" name="Google Shape;206;p7"/>
          <p:cNvSpPr txBox="1"/>
          <p:nvPr/>
        </p:nvSpPr>
        <p:spPr>
          <a:xfrm>
            <a:off x="1028700" y="1047750"/>
            <a:ext cx="9321000" cy="1293000"/>
          </a:xfrm>
          <a:prstGeom prst="rect">
            <a:avLst/>
          </a:prstGeom>
          <a:noFill/>
          <a:ln>
            <a:noFill/>
          </a:ln>
        </p:spPr>
        <p:txBody>
          <a:bodyPr anchorCtr="0" anchor="t" bIns="0" lIns="0" spcFirstLastPara="1" rIns="0" wrap="square" tIns="0">
            <a:spAutoFit/>
          </a:bodyPr>
          <a:lstStyle/>
          <a:p>
            <a:pPr indent="0" lvl="0" marL="0" marR="0" rtl="0" algn="l">
              <a:lnSpc>
                <a:spcPct val="116999"/>
              </a:lnSpc>
              <a:spcBef>
                <a:spcPts val="0"/>
              </a:spcBef>
              <a:spcAft>
                <a:spcPts val="0"/>
              </a:spcAft>
              <a:buNone/>
            </a:pPr>
            <a:r>
              <a:rPr b="1" i="0" lang="en-US" sz="8400" u="none" cap="none" strike="noStrike">
                <a:solidFill>
                  <a:srgbClr val="F9F9F9"/>
                </a:solidFill>
                <a:latin typeface="Montserrat"/>
                <a:ea typeface="Montserrat"/>
                <a:cs typeface="Montserrat"/>
                <a:sym typeface="Montserrat"/>
              </a:rPr>
              <a:t>Pilares</a:t>
            </a:r>
            <a:endParaRPr sz="1800"/>
          </a:p>
        </p:txBody>
      </p:sp>
      <p:grpSp>
        <p:nvGrpSpPr>
          <p:cNvPr id="207" name="Google Shape;207;p7"/>
          <p:cNvGrpSpPr/>
          <p:nvPr/>
        </p:nvGrpSpPr>
        <p:grpSpPr>
          <a:xfrm>
            <a:off x="15664096" y="-1498702"/>
            <a:ext cx="3978450" cy="3978450"/>
            <a:chOff x="0" y="0"/>
            <a:chExt cx="812800" cy="812800"/>
          </a:xfrm>
        </p:grpSpPr>
        <p:sp>
          <p:nvSpPr>
            <p:cNvPr id="208" name="Google Shape;208;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10" name="Google Shape;210;p7"/>
          <p:cNvGrpSpPr/>
          <p:nvPr/>
        </p:nvGrpSpPr>
        <p:grpSpPr>
          <a:xfrm>
            <a:off x="13983437" y="841157"/>
            <a:ext cx="1147846" cy="1147846"/>
            <a:chOff x="0" y="0"/>
            <a:chExt cx="812800" cy="812800"/>
          </a:xfrm>
        </p:grpSpPr>
        <p:sp>
          <p:nvSpPr>
            <p:cNvPr id="211" name="Google Shape;211;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13" name="Google Shape;213;p7"/>
          <p:cNvSpPr txBox="1"/>
          <p:nvPr/>
        </p:nvSpPr>
        <p:spPr>
          <a:xfrm>
            <a:off x="1586959" y="4377690"/>
            <a:ext cx="3371691" cy="635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3500" u="none" cap="none" strike="noStrike">
                <a:solidFill>
                  <a:srgbClr val="F9F9F9"/>
                </a:solidFill>
                <a:latin typeface="Poppins"/>
                <a:ea typeface="Poppins"/>
                <a:cs typeface="Poppins"/>
                <a:sym typeface="Poppins"/>
              </a:rPr>
              <a:t>Transparencia</a:t>
            </a:r>
            <a:endParaRPr/>
          </a:p>
        </p:txBody>
      </p:sp>
      <p:sp>
        <p:nvSpPr>
          <p:cNvPr id="214" name="Google Shape;214;p7"/>
          <p:cNvSpPr txBox="1"/>
          <p:nvPr/>
        </p:nvSpPr>
        <p:spPr>
          <a:xfrm>
            <a:off x="7890907" y="4377690"/>
            <a:ext cx="2506186" cy="635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3500" u="none" cap="none" strike="noStrike">
                <a:solidFill>
                  <a:srgbClr val="F9F9F9"/>
                </a:solidFill>
                <a:latin typeface="Poppins"/>
                <a:ea typeface="Poppins"/>
                <a:cs typeface="Poppins"/>
                <a:sym typeface="Poppins"/>
              </a:rPr>
              <a:t>Inspección</a:t>
            </a:r>
            <a:endParaRPr/>
          </a:p>
        </p:txBody>
      </p:sp>
      <p:sp>
        <p:nvSpPr>
          <p:cNvPr id="215" name="Google Shape;215;p7"/>
          <p:cNvSpPr txBox="1"/>
          <p:nvPr/>
        </p:nvSpPr>
        <p:spPr>
          <a:xfrm>
            <a:off x="13330793" y="4377690"/>
            <a:ext cx="2698115" cy="635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3500" u="none" cap="none" strike="noStrike">
                <a:solidFill>
                  <a:srgbClr val="F9F9F9"/>
                </a:solidFill>
                <a:latin typeface="Poppins"/>
                <a:ea typeface="Poppins"/>
                <a:cs typeface="Poppins"/>
                <a:sym typeface="Poppins"/>
              </a:rPr>
              <a:t>Adaptación</a:t>
            </a:r>
            <a:endParaRPr/>
          </a:p>
        </p:txBody>
      </p:sp>
      <p:sp>
        <p:nvSpPr>
          <p:cNvPr id="216" name="Google Shape;216;p7"/>
          <p:cNvSpPr txBox="1"/>
          <p:nvPr/>
        </p:nvSpPr>
        <p:spPr>
          <a:xfrm>
            <a:off x="1072963" y="5656400"/>
            <a:ext cx="4616198" cy="10731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2000" u="none" cap="none" strike="noStrike">
                <a:solidFill>
                  <a:srgbClr val="F9F9F9"/>
                </a:solidFill>
                <a:latin typeface="Poppins"/>
                <a:ea typeface="Poppins"/>
                <a:cs typeface="Poppins"/>
                <a:sym typeface="Poppins"/>
              </a:rPr>
              <a:t>Todos los impiicados tienen conocimiento de qué ocurrre en el proyecto y cómo ocurre.</a:t>
            </a:r>
            <a:endParaRPr/>
          </a:p>
        </p:txBody>
      </p:sp>
      <p:sp>
        <p:nvSpPr>
          <p:cNvPr id="217" name="Google Shape;217;p7"/>
          <p:cNvSpPr txBox="1"/>
          <p:nvPr/>
        </p:nvSpPr>
        <p:spPr>
          <a:xfrm>
            <a:off x="6800347" y="5656400"/>
            <a:ext cx="4687200" cy="11697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2000">
                <a:solidFill>
                  <a:srgbClr val="F9F9F9"/>
                </a:solidFill>
                <a:latin typeface="Poppins"/>
                <a:ea typeface="Poppins"/>
                <a:cs typeface="Poppins"/>
                <a:sym typeface="Poppins"/>
              </a:rPr>
              <a:t>Se revisa continuamente el trabajo y el progreso para detectar si algo no va bien.</a:t>
            </a:r>
            <a:endParaRPr/>
          </a:p>
        </p:txBody>
      </p:sp>
      <p:sp>
        <p:nvSpPr>
          <p:cNvPr id="218" name="Google Shape;218;p7"/>
          <p:cNvSpPr txBox="1"/>
          <p:nvPr/>
        </p:nvSpPr>
        <p:spPr>
          <a:xfrm>
            <a:off x="12373441" y="5656400"/>
            <a:ext cx="4885800" cy="16008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2000">
                <a:solidFill>
                  <a:srgbClr val="F9F9F9"/>
                </a:solidFill>
                <a:latin typeface="Poppins"/>
                <a:ea typeface="Poppins"/>
                <a:cs typeface="Poppins"/>
                <a:sym typeface="Poppins"/>
              </a:rPr>
              <a:t>Si se encuentra un problema o algo cambia, el equipo ajusta el plan o la forma de trabajar para mejorar y seguir avanzando.</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3989E"/>
        </a:solidFill>
      </p:bgPr>
    </p:bg>
    <p:spTree>
      <p:nvGrpSpPr>
        <p:cNvPr id="222" name="Shape 222"/>
        <p:cNvGrpSpPr/>
        <p:nvPr/>
      </p:nvGrpSpPr>
      <p:grpSpPr>
        <a:xfrm>
          <a:off x="0" y="0"/>
          <a:ext cx="0" cy="0"/>
          <a:chOff x="0" y="0"/>
          <a:chExt cx="0" cy="0"/>
        </a:xfrm>
      </p:grpSpPr>
      <p:grpSp>
        <p:nvGrpSpPr>
          <p:cNvPr id="223" name="Google Shape;223;p8"/>
          <p:cNvGrpSpPr/>
          <p:nvPr/>
        </p:nvGrpSpPr>
        <p:grpSpPr>
          <a:xfrm>
            <a:off x="11301677" y="841157"/>
            <a:ext cx="9807414" cy="9807414"/>
            <a:chOff x="0" y="0"/>
            <a:chExt cx="812800" cy="812800"/>
          </a:xfrm>
        </p:grpSpPr>
        <p:sp>
          <p:nvSpPr>
            <p:cNvPr id="224" name="Google Shape;224;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54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6" name="Google Shape;226;p8"/>
          <p:cNvSpPr txBox="1"/>
          <p:nvPr/>
        </p:nvSpPr>
        <p:spPr>
          <a:xfrm>
            <a:off x="4673162" y="4258964"/>
            <a:ext cx="9320922" cy="1485900"/>
          </a:xfrm>
          <a:prstGeom prst="rect">
            <a:avLst/>
          </a:prstGeom>
          <a:noFill/>
          <a:ln>
            <a:noFill/>
          </a:ln>
        </p:spPr>
        <p:txBody>
          <a:bodyPr anchorCtr="0" anchor="t" bIns="0" lIns="0" spcFirstLastPara="1" rIns="0" wrap="square" tIns="0">
            <a:spAutoFit/>
          </a:bodyPr>
          <a:lstStyle/>
          <a:p>
            <a:pPr indent="0" lvl="0" marL="0" marR="0" rtl="0" algn="l">
              <a:lnSpc>
                <a:spcPct val="117001"/>
              </a:lnSpc>
              <a:spcBef>
                <a:spcPts val="0"/>
              </a:spcBef>
              <a:spcAft>
                <a:spcPts val="0"/>
              </a:spcAft>
              <a:buNone/>
            </a:pPr>
            <a:r>
              <a:rPr b="1" i="0" lang="en-US" sz="9999" u="none" cap="none" strike="noStrike">
                <a:solidFill>
                  <a:srgbClr val="F9F9F9"/>
                </a:solidFill>
                <a:latin typeface="Montserrat"/>
                <a:ea typeface="Montserrat"/>
                <a:cs typeface="Montserrat"/>
                <a:sym typeface="Montserrat"/>
              </a:rPr>
              <a:t>Roles Scrum</a:t>
            </a:r>
            <a:endParaRPr/>
          </a:p>
        </p:txBody>
      </p:sp>
      <p:grpSp>
        <p:nvGrpSpPr>
          <p:cNvPr id="227" name="Google Shape;227;p8"/>
          <p:cNvGrpSpPr/>
          <p:nvPr/>
        </p:nvGrpSpPr>
        <p:grpSpPr>
          <a:xfrm>
            <a:off x="-1804968" y="3928747"/>
            <a:ext cx="3978450" cy="3978450"/>
            <a:chOff x="0" y="0"/>
            <a:chExt cx="812800" cy="812800"/>
          </a:xfrm>
        </p:grpSpPr>
        <p:sp>
          <p:nvSpPr>
            <p:cNvPr id="228" name="Google Shape;228;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30" name="Google Shape;230;p8"/>
          <p:cNvGrpSpPr/>
          <p:nvPr/>
        </p:nvGrpSpPr>
        <p:grpSpPr>
          <a:xfrm>
            <a:off x="-119146" y="8684377"/>
            <a:ext cx="1147846" cy="1147846"/>
            <a:chOff x="0" y="0"/>
            <a:chExt cx="812800" cy="812800"/>
          </a:xfrm>
        </p:grpSpPr>
        <p:sp>
          <p:nvSpPr>
            <p:cNvPr id="231" name="Google Shape;231;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grpSp>
        <p:nvGrpSpPr>
          <p:cNvPr id="237" name="Google Shape;237;p9"/>
          <p:cNvGrpSpPr/>
          <p:nvPr/>
        </p:nvGrpSpPr>
        <p:grpSpPr>
          <a:xfrm>
            <a:off x="16395487" y="-293046"/>
            <a:ext cx="6123867" cy="6123867"/>
            <a:chOff x="0" y="0"/>
            <a:chExt cx="812800" cy="812800"/>
          </a:xfrm>
        </p:grpSpPr>
        <p:sp>
          <p:nvSpPr>
            <p:cNvPr id="238" name="Google Shape;238;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40" name="Google Shape;240;p9"/>
          <p:cNvGrpSpPr/>
          <p:nvPr/>
        </p:nvGrpSpPr>
        <p:grpSpPr>
          <a:xfrm>
            <a:off x="7279939" y="2503540"/>
            <a:ext cx="12177482" cy="12177482"/>
            <a:chOff x="0" y="0"/>
            <a:chExt cx="812800" cy="812800"/>
          </a:xfrm>
        </p:grpSpPr>
        <p:sp>
          <p:nvSpPr>
            <p:cNvPr id="241" name="Google Shape;241;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929F">
                <a:alpha val="54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43" name="Google Shape;243;p9"/>
          <p:cNvGrpSpPr/>
          <p:nvPr/>
        </p:nvGrpSpPr>
        <p:grpSpPr>
          <a:xfrm>
            <a:off x="15347286" y="-1541874"/>
            <a:ext cx="6123867" cy="6123867"/>
            <a:chOff x="0" y="0"/>
            <a:chExt cx="812800" cy="812800"/>
          </a:xfrm>
        </p:grpSpPr>
        <p:sp>
          <p:nvSpPr>
            <p:cNvPr id="244" name="Google Shape;244;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46" name="Google Shape;246;p9"/>
          <p:cNvGrpSpPr/>
          <p:nvPr/>
        </p:nvGrpSpPr>
        <p:grpSpPr>
          <a:xfrm>
            <a:off x="-880628" y="9258300"/>
            <a:ext cx="1909328" cy="1909328"/>
            <a:chOff x="0" y="0"/>
            <a:chExt cx="812800" cy="812800"/>
          </a:xfrm>
        </p:grpSpPr>
        <p:sp>
          <p:nvSpPr>
            <p:cNvPr id="247" name="Google Shape;247;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49" name="Google Shape;249;p9"/>
          <p:cNvGrpSpPr/>
          <p:nvPr/>
        </p:nvGrpSpPr>
        <p:grpSpPr>
          <a:xfrm>
            <a:off x="16168502" y="8712901"/>
            <a:ext cx="1090798" cy="1090798"/>
            <a:chOff x="0" y="0"/>
            <a:chExt cx="812800" cy="812800"/>
          </a:xfrm>
        </p:grpSpPr>
        <p:sp>
          <p:nvSpPr>
            <p:cNvPr id="250" name="Google Shape;250;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52" name="Google Shape;252;p9"/>
          <p:cNvSpPr/>
          <p:nvPr/>
        </p:nvSpPr>
        <p:spPr>
          <a:xfrm>
            <a:off x="11374450" y="1858027"/>
            <a:ext cx="7945672" cy="7945672"/>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3">
              <a:alphaModFix/>
            </a:blip>
            <a:stretch>
              <a:fillRect b="0" l="-25045" r="-25045"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9"/>
          <p:cNvSpPr txBox="1"/>
          <p:nvPr/>
        </p:nvSpPr>
        <p:spPr>
          <a:xfrm>
            <a:off x="5409282" y="1076325"/>
            <a:ext cx="7469436" cy="116649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1" i="0" lang="en-US" sz="8000" u="none" cap="none" strike="noStrike">
                <a:solidFill>
                  <a:srgbClr val="000000"/>
                </a:solidFill>
                <a:latin typeface="Montserrat"/>
                <a:ea typeface="Montserrat"/>
                <a:cs typeface="Montserrat"/>
                <a:sym typeface="Montserrat"/>
              </a:rPr>
              <a:t>Scrum Master</a:t>
            </a:r>
            <a:endParaRPr/>
          </a:p>
        </p:txBody>
      </p:sp>
      <p:sp>
        <p:nvSpPr>
          <p:cNvPr id="254" name="Google Shape;254;p9"/>
          <p:cNvSpPr txBox="1"/>
          <p:nvPr/>
        </p:nvSpPr>
        <p:spPr>
          <a:xfrm>
            <a:off x="1169202" y="3741539"/>
            <a:ext cx="8480100" cy="4170900"/>
          </a:xfrm>
          <a:prstGeom prst="rect">
            <a:avLst/>
          </a:prstGeom>
          <a:noFill/>
          <a:ln>
            <a:noFill/>
          </a:ln>
        </p:spPr>
        <p:txBody>
          <a:bodyPr anchorCtr="0" anchor="t" bIns="0" lIns="0" spcFirstLastPara="1" rIns="0" wrap="square" tIns="0">
            <a:spAutoFit/>
          </a:bodyPr>
          <a:lstStyle/>
          <a:p>
            <a:pPr indent="0" lvl="0" marL="0" marR="0" rtl="0" algn="just">
              <a:lnSpc>
                <a:spcPct val="160038"/>
              </a:lnSpc>
              <a:spcBef>
                <a:spcPts val="0"/>
              </a:spcBef>
              <a:spcAft>
                <a:spcPts val="0"/>
              </a:spcAft>
              <a:buNone/>
            </a:pPr>
            <a:r>
              <a:rPr b="0" i="0" lang="en-US" sz="3661" u="none" cap="none" strike="noStrike">
                <a:solidFill>
                  <a:srgbClr val="000000"/>
                </a:solidFill>
                <a:latin typeface="Poppins Light"/>
                <a:ea typeface="Poppins Light"/>
                <a:cs typeface="Poppins Light"/>
                <a:sym typeface="Poppins Light"/>
              </a:rPr>
              <a:t>Es el líder del equipo, está a cargo de establecer la metodología Scrum y mantener a los miembros del equipo enfocados en los </a:t>
            </a:r>
            <a:r>
              <a:rPr lang="en-US" sz="3661">
                <a:latin typeface="Poppins Light"/>
                <a:ea typeface="Poppins Light"/>
                <a:cs typeface="Poppins Light"/>
                <a:sym typeface="Poppins Light"/>
              </a:rPr>
              <a:t>pilares</a:t>
            </a:r>
            <a:r>
              <a:rPr b="0" i="0" lang="en-US" sz="3661" u="none" cap="none" strike="noStrike">
                <a:solidFill>
                  <a:srgbClr val="000000"/>
                </a:solidFill>
                <a:latin typeface="Poppins Light"/>
                <a:ea typeface="Poppins Light"/>
                <a:cs typeface="Poppins Light"/>
                <a:sym typeface="Poppins Light"/>
              </a:rPr>
              <a:t> y las prácticas de Scrum.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grpSp>
        <p:nvGrpSpPr>
          <p:cNvPr id="259" name="Google Shape;259;p10"/>
          <p:cNvGrpSpPr/>
          <p:nvPr/>
        </p:nvGrpSpPr>
        <p:grpSpPr>
          <a:xfrm>
            <a:off x="16395487" y="-293046"/>
            <a:ext cx="6123867" cy="6123867"/>
            <a:chOff x="0" y="0"/>
            <a:chExt cx="812800" cy="812800"/>
          </a:xfrm>
        </p:grpSpPr>
        <p:sp>
          <p:nvSpPr>
            <p:cNvPr id="260" name="Google Shape;260;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2" name="Google Shape;262;p10"/>
          <p:cNvGrpSpPr/>
          <p:nvPr/>
        </p:nvGrpSpPr>
        <p:grpSpPr>
          <a:xfrm>
            <a:off x="6310039" y="2727363"/>
            <a:ext cx="12177482" cy="12177482"/>
            <a:chOff x="0" y="0"/>
            <a:chExt cx="812800" cy="812800"/>
          </a:xfrm>
        </p:grpSpPr>
        <p:sp>
          <p:nvSpPr>
            <p:cNvPr id="263" name="Google Shape;263;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929F">
                <a:alpha val="54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5" name="Google Shape;265;p10"/>
          <p:cNvGrpSpPr/>
          <p:nvPr/>
        </p:nvGrpSpPr>
        <p:grpSpPr>
          <a:xfrm>
            <a:off x="-880628" y="9258300"/>
            <a:ext cx="1909328" cy="1909328"/>
            <a:chOff x="0" y="0"/>
            <a:chExt cx="812800" cy="812800"/>
          </a:xfrm>
        </p:grpSpPr>
        <p:sp>
          <p:nvSpPr>
            <p:cNvPr id="266" name="Google Shape;266;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8" name="Google Shape;268;p10"/>
          <p:cNvGrpSpPr/>
          <p:nvPr/>
        </p:nvGrpSpPr>
        <p:grpSpPr>
          <a:xfrm>
            <a:off x="16168502" y="8712901"/>
            <a:ext cx="1090798" cy="1090798"/>
            <a:chOff x="0" y="0"/>
            <a:chExt cx="812800" cy="812800"/>
          </a:xfrm>
        </p:grpSpPr>
        <p:sp>
          <p:nvSpPr>
            <p:cNvPr id="269" name="Google Shape;269;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71" name="Google Shape;271;p10"/>
          <p:cNvGrpSpPr/>
          <p:nvPr/>
        </p:nvGrpSpPr>
        <p:grpSpPr>
          <a:xfrm>
            <a:off x="413744" y="2992711"/>
            <a:ext cx="4752338" cy="4752338"/>
            <a:chOff x="0" y="0"/>
            <a:chExt cx="812800" cy="812800"/>
          </a:xfrm>
        </p:grpSpPr>
        <p:sp>
          <p:nvSpPr>
            <p:cNvPr id="272" name="Google Shape;272;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38100">
              <a:solidFill>
                <a:srgbClr val="322E28"/>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0"/>
            <p:cNvSpPr txBox="1"/>
            <p:nvPr/>
          </p:nvSpPr>
          <p:spPr>
            <a:xfrm>
              <a:off x="76200" y="9525"/>
              <a:ext cx="660400" cy="72707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3000" u="none" cap="none" strike="noStrike">
                  <a:solidFill>
                    <a:srgbClr val="000000"/>
                  </a:solidFill>
                  <a:latin typeface="Montserrat"/>
                  <a:ea typeface="Montserrat"/>
                  <a:cs typeface="Montserrat"/>
                  <a:sym typeface="Montserrat"/>
                </a:rPr>
                <a:t>Responsabilidades del Scrum Master</a:t>
              </a:r>
              <a:endParaRPr/>
            </a:p>
          </p:txBody>
        </p:sp>
      </p:grpSp>
      <p:grpSp>
        <p:nvGrpSpPr>
          <p:cNvPr id="274" name="Google Shape;274;p10"/>
          <p:cNvGrpSpPr/>
          <p:nvPr/>
        </p:nvGrpSpPr>
        <p:grpSpPr>
          <a:xfrm>
            <a:off x="8898492" y="8269564"/>
            <a:ext cx="10313421" cy="1757958"/>
            <a:chOff x="0" y="-38100"/>
            <a:chExt cx="1931727" cy="329270"/>
          </a:xfrm>
        </p:grpSpPr>
        <p:sp>
          <p:nvSpPr>
            <p:cNvPr id="275" name="Google Shape;275;p10"/>
            <p:cNvSpPr/>
            <p:nvPr/>
          </p:nvSpPr>
          <p:spPr>
            <a:xfrm>
              <a:off x="0" y="0"/>
              <a:ext cx="1931727" cy="291170"/>
            </a:xfrm>
            <a:custGeom>
              <a:rect b="b" l="l" r="r" t="t"/>
              <a:pathLst>
                <a:path extrusionOk="0" h="291170" w="1931727">
                  <a:moveTo>
                    <a:pt x="1728527" y="0"/>
                  </a:moveTo>
                  <a:cubicBezTo>
                    <a:pt x="1840752" y="0"/>
                    <a:pt x="1931727" y="65181"/>
                    <a:pt x="1931727" y="145585"/>
                  </a:cubicBezTo>
                  <a:cubicBezTo>
                    <a:pt x="1931727" y="225989"/>
                    <a:pt x="1840752" y="291170"/>
                    <a:pt x="1728527" y="291170"/>
                  </a:cubicBezTo>
                  <a:lnTo>
                    <a:pt x="203200" y="291170"/>
                  </a:lnTo>
                  <a:cubicBezTo>
                    <a:pt x="90976" y="291170"/>
                    <a:pt x="0" y="225989"/>
                    <a:pt x="0" y="145585"/>
                  </a:cubicBezTo>
                  <a:cubicBezTo>
                    <a:pt x="0" y="65181"/>
                    <a:pt x="90976" y="0"/>
                    <a:pt x="203200" y="0"/>
                  </a:cubicBezTo>
                  <a:close/>
                </a:path>
              </a:pathLst>
            </a:custGeom>
            <a:solidFill>
              <a:srgbClr val="03989E">
                <a:alpha val="7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0"/>
            <p:cNvSpPr txBox="1"/>
            <p:nvPr/>
          </p:nvSpPr>
          <p:spPr>
            <a:xfrm>
              <a:off x="0" y="-38100"/>
              <a:ext cx="1931727" cy="32927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77" name="Google Shape;277;p10"/>
          <p:cNvGrpSpPr/>
          <p:nvPr/>
        </p:nvGrpSpPr>
        <p:grpSpPr>
          <a:xfrm>
            <a:off x="8898492" y="6283125"/>
            <a:ext cx="10313421" cy="1757958"/>
            <a:chOff x="0" y="-38100"/>
            <a:chExt cx="1931727" cy="329270"/>
          </a:xfrm>
        </p:grpSpPr>
        <p:sp>
          <p:nvSpPr>
            <p:cNvPr id="278" name="Google Shape;278;p10"/>
            <p:cNvSpPr/>
            <p:nvPr/>
          </p:nvSpPr>
          <p:spPr>
            <a:xfrm>
              <a:off x="0" y="0"/>
              <a:ext cx="1931727" cy="291170"/>
            </a:xfrm>
            <a:custGeom>
              <a:rect b="b" l="l" r="r" t="t"/>
              <a:pathLst>
                <a:path extrusionOk="0" h="291170" w="1931727">
                  <a:moveTo>
                    <a:pt x="1728527" y="0"/>
                  </a:moveTo>
                  <a:cubicBezTo>
                    <a:pt x="1840752" y="0"/>
                    <a:pt x="1931727" y="65181"/>
                    <a:pt x="1931727" y="145585"/>
                  </a:cubicBezTo>
                  <a:cubicBezTo>
                    <a:pt x="1931727" y="225989"/>
                    <a:pt x="1840752" y="291170"/>
                    <a:pt x="1728527" y="291170"/>
                  </a:cubicBezTo>
                  <a:lnTo>
                    <a:pt x="203200" y="291170"/>
                  </a:lnTo>
                  <a:cubicBezTo>
                    <a:pt x="90976" y="291170"/>
                    <a:pt x="0" y="225989"/>
                    <a:pt x="0" y="145585"/>
                  </a:cubicBezTo>
                  <a:cubicBezTo>
                    <a:pt x="0" y="65181"/>
                    <a:pt x="90976" y="0"/>
                    <a:pt x="203200" y="0"/>
                  </a:cubicBezTo>
                  <a:close/>
                </a:path>
              </a:pathLst>
            </a:custGeom>
            <a:solidFill>
              <a:srgbClr val="03989E">
                <a:alpha val="7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0"/>
            <p:cNvSpPr txBox="1"/>
            <p:nvPr/>
          </p:nvSpPr>
          <p:spPr>
            <a:xfrm>
              <a:off x="0" y="-38100"/>
              <a:ext cx="1931727" cy="32927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80" name="Google Shape;280;p10"/>
          <p:cNvGrpSpPr/>
          <p:nvPr/>
        </p:nvGrpSpPr>
        <p:grpSpPr>
          <a:xfrm>
            <a:off x="8898492" y="271837"/>
            <a:ext cx="10313421" cy="1757958"/>
            <a:chOff x="0" y="-38100"/>
            <a:chExt cx="1931727" cy="329270"/>
          </a:xfrm>
        </p:grpSpPr>
        <p:sp>
          <p:nvSpPr>
            <p:cNvPr id="281" name="Google Shape;281;p10"/>
            <p:cNvSpPr/>
            <p:nvPr/>
          </p:nvSpPr>
          <p:spPr>
            <a:xfrm>
              <a:off x="0" y="0"/>
              <a:ext cx="1931727" cy="291170"/>
            </a:xfrm>
            <a:custGeom>
              <a:rect b="b" l="l" r="r" t="t"/>
              <a:pathLst>
                <a:path extrusionOk="0" h="291170" w="1931727">
                  <a:moveTo>
                    <a:pt x="1728527" y="0"/>
                  </a:moveTo>
                  <a:cubicBezTo>
                    <a:pt x="1840752" y="0"/>
                    <a:pt x="1931727" y="65181"/>
                    <a:pt x="1931727" y="145585"/>
                  </a:cubicBezTo>
                  <a:cubicBezTo>
                    <a:pt x="1931727" y="225989"/>
                    <a:pt x="1840752" y="291170"/>
                    <a:pt x="1728527" y="291170"/>
                  </a:cubicBezTo>
                  <a:lnTo>
                    <a:pt x="203200" y="291170"/>
                  </a:lnTo>
                  <a:cubicBezTo>
                    <a:pt x="90976" y="291170"/>
                    <a:pt x="0" y="225989"/>
                    <a:pt x="0" y="145585"/>
                  </a:cubicBezTo>
                  <a:cubicBezTo>
                    <a:pt x="0" y="65181"/>
                    <a:pt x="90976" y="0"/>
                    <a:pt x="203200" y="0"/>
                  </a:cubicBezTo>
                  <a:close/>
                </a:path>
              </a:pathLst>
            </a:custGeom>
            <a:solidFill>
              <a:srgbClr val="03989E">
                <a:alpha val="7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0"/>
            <p:cNvSpPr txBox="1"/>
            <p:nvPr/>
          </p:nvSpPr>
          <p:spPr>
            <a:xfrm>
              <a:off x="0" y="-38100"/>
              <a:ext cx="1931727" cy="32927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83" name="Google Shape;283;p10"/>
          <p:cNvGrpSpPr/>
          <p:nvPr/>
        </p:nvGrpSpPr>
        <p:grpSpPr>
          <a:xfrm>
            <a:off x="8898492" y="2195620"/>
            <a:ext cx="10313421" cy="1757958"/>
            <a:chOff x="0" y="-38100"/>
            <a:chExt cx="1931727" cy="329270"/>
          </a:xfrm>
        </p:grpSpPr>
        <p:sp>
          <p:nvSpPr>
            <p:cNvPr id="284" name="Google Shape;284;p10"/>
            <p:cNvSpPr/>
            <p:nvPr/>
          </p:nvSpPr>
          <p:spPr>
            <a:xfrm>
              <a:off x="0" y="0"/>
              <a:ext cx="1931727" cy="291170"/>
            </a:xfrm>
            <a:custGeom>
              <a:rect b="b" l="l" r="r" t="t"/>
              <a:pathLst>
                <a:path extrusionOk="0" h="291170" w="1931727">
                  <a:moveTo>
                    <a:pt x="1728527" y="0"/>
                  </a:moveTo>
                  <a:cubicBezTo>
                    <a:pt x="1840752" y="0"/>
                    <a:pt x="1931727" y="65181"/>
                    <a:pt x="1931727" y="145585"/>
                  </a:cubicBezTo>
                  <a:cubicBezTo>
                    <a:pt x="1931727" y="225989"/>
                    <a:pt x="1840752" y="291170"/>
                    <a:pt x="1728527" y="291170"/>
                  </a:cubicBezTo>
                  <a:lnTo>
                    <a:pt x="203200" y="291170"/>
                  </a:lnTo>
                  <a:cubicBezTo>
                    <a:pt x="90976" y="291170"/>
                    <a:pt x="0" y="225989"/>
                    <a:pt x="0" y="145585"/>
                  </a:cubicBezTo>
                  <a:cubicBezTo>
                    <a:pt x="0" y="65181"/>
                    <a:pt x="90976" y="0"/>
                    <a:pt x="203200" y="0"/>
                  </a:cubicBezTo>
                  <a:close/>
                </a:path>
              </a:pathLst>
            </a:custGeom>
            <a:solidFill>
              <a:srgbClr val="03989E">
                <a:alpha val="7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0"/>
            <p:cNvSpPr txBox="1"/>
            <p:nvPr/>
          </p:nvSpPr>
          <p:spPr>
            <a:xfrm>
              <a:off x="0" y="-38100"/>
              <a:ext cx="1931727" cy="32927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86" name="Google Shape;286;p10"/>
          <p:cNvGrpSpPr/>
          <p:nvPr/>
        </p:nvGrpSpPr>
        <p:grpSpPr>
          <a:xfrm>
            <a:off x="8898492" y="4239373"/>
            <a:ext cx="10313421" cy="1757958"/>
            <a:chOff x="0" y="-38100"/>
            <a:chExt cx="1931727" cy="329270"/>
          </a:xfrm>
        </p:grpSpPr>
        <p:sp>
          <p:nvSpPr>
            <p:cNvPr id="287" name="Google Shape;287;p10"/>
            <p:cNvSpPr/>
            <p:nvPr/>
          </p:nvSpPr>
          <p:spPr>
            <a:xfrm>
              <a:off x="0" y="0"/>
              <a:ext cx="1931727" cy="291170"/>
            </a:xfrm>
            <a:custGeom>
              <a:rect b="b" l="l" r="r" t="t"/>
              <a:pathLst>
                <a:path extrusionOk="0" h="291170" w="1931727">
                  <a:moveTo>
                    <a:pt x="1728527" y="0"/>
                  </a:moveTo>
                  <a:cubicBezTo>
                    <a:pt x="1840752" y="0"/>
                    <a:pt x="1931727" y="65181"/>
                    <a:pt x="1931727" y="145585"/>
                  </a:cubicBezTo>
                  <a:cubicBezTo>
                    <a:pt x="1931727" y="225989"/>
                    <a:pt x="1840752" y="291170"/>
                    <a:pt x="1728527" y="291170"/>
                  </a:cubicBezTo>
                  <a:lnTo>
                    <a:pt x="203200" y="291170"/>
                  </a:lnTo>
                  <a:cubicBezTo>
                    <a:pt x="90976" y="291170"/>
                    <a:pt x="0" y="225989"/>
                    <a:pt x="0" y="145585"/>
                  </a:cubicBezTo>
                  <a:cubicBezTo>
                    <a:pt x="0" y="65181"/>
                    <a:pt x="90976" y="0"/>
                    <a:pt x="203200" y="0"/>
                  </a:cubicBezTo>
                  <a:close/>
                </a:path>
              </a:pathLst>
            </a:custGeom>
            <a:solidFill>
              <a:srgbClr val="03989E">
                <a:alpha val="7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0"/>
            <p:cNvSpPr txBox="1"/>
            <p:nvPr/>
          </p:nvSpPr>
          <p:spPr>
            <a:xfrm>
              <a:off x="0" y="-38100"/>
              <a:ext cx="1931727" cy="32927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89" name="Google Shape;289;p10"/>
          <p:cNvSpPr txBox="1"/>
          <p:nvPr/>
        </p:nvSpPr>
        <p:spPr>
          <a:xfrm>
            <a:off x="11286920" y="609903"/>
            <a:ext cx="4957762" cy="107632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000" u="none" cap="none" strike="noStrike">
                <a:solidFill>
                  <a:srgbClr val="FFFFFF"/>
                </a:solidFill>
                <a:latin typeface="Poppins"/>
                <a:ea typeface="Poppins"/>
                <a:cs typeface="Poppins"/>
                <a:sym typeface="Poppins"/>
              </a:rPr>
              <a:t>Organiza las reuniones de</a:t>
            </a:r>
            <a:endParaRPr/>
          </a:p>
          <a:p>
            <a:pPr indent="0" lvl="0" marL="0" marR="0" rtl="0" algn="l">
              <a:lnSpc>
                <a:spcPct val="140000"/>
              </a:lnSpc>
              <a:spcBef>
                <a:spcPts val="0"/>
              </a:spcBef>
              <a:spcAft>
                <a:spcPts val="0"/>
              </a:spcAft>
              <a:buNone/>
            </a:pPr>
            <a:r>
              <a:rPr b="0" i="0" lang="en-US" sz="3000" u="none" cap="none" strike="noStrike">
                <a:solidFill>
                  <a:srgbClr val="FFFFFF"/>
                </a:solidFill>
                <a:latin typeface="Poppins"/>
                <a:ea typeface="Poppins"/>
                <a:cs typeface="Poppins"/>
                <a:sym typeface="Poppins"/>
              </a:rPr>
              <a:t>planificación de sprints</a:t>
            </a:r>
            <a:endParaRPr/>
          </a:p>
        </p:txBody>
      </p:sp>
      <p:sp>
        <p:nvSpPr>
          <p:cNvPr id="290" name="Google Shape;290;p10"/>
          <p:cNvSpPr txBox="1"/>
          <p:nvPr/>
        </p:nvSpPr>
        <p:spPr>
          <a:xfrm>
            <a:off x="11286920" y="2595281"/>
            <a:ext cx="5306823" cy="107632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000" u="none" cap="none" strike="noStrike">
                <a:solidFill>
                  <a:srgbClr val="FFFFFF"/>
                </a:solidFill>
                <a:latin typeface="Poppins"/>
                <a:ea typeface="Poppins"/>
                <a:cs typeface="Poppins"/>
                <a:sym typeface="Poppins"/>
              </a:rPr>
              <a:t>Organiza las reuniones diarias</a:t>
            </a:r>
            <a:endParaRPr/>
          </a:p>
        </p:txBody>
      </p:sp>
      <p:sp>
        <p:nvSpPr>
          <p:cNvPr id="291" name="Google Shape;291;p10"/>
          <p:cNvSpPr txBox="1"/>
          <p:nvPr/>
        </p:nvSpPr>
        <p:spPr>
          <a:xfrm>
            <a:off x="11286920" y="4905734"/>
            <a:ext cx="4219416" cy="54292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000" u="none" cap="none" strike="noStrike">
                <a:solidFill>
                  <a:srgbClr val="FFFFFF"/>
                </a:solidFill>
                <a:latin typeface="Poppins"/>
                <a:ea typeface="Poppins"/>
                <a:cs typeface="Poppins"/>
                <a:sym typeface="Poppins"/>
              </a:rPr>
              <a:t>Elimina los obstáculos</a:t>
            </a:r>
            <a:endParaRPr/>
          </a:p>
        </p:txBody>
      </p:sp>
      <p:sp>
        <p:nvSpPr>
          <p:cNvPr id="292" name="Google Shape;292;p10"/>
          <p:cNvSpPr txBox="1"/>
          <p:nvPr/>
        </p:nvSpPr>
        <p:spPr>
          <a:xfrm>
            <a:off x="11286920" y="6740444"/>
            <a:ext cx="4886484" cy="107632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000" u="none" cap="none" strike="noStrike">
                <a:solidFill>
                  <a:srgbClr val="FFFFFF"/>
                </a:solidFill>
                <a:latin typeface="Poppins"/>
                <a:ea typeface="Poppins"/>
                <a:cs typeface="Poppins"/>
                <a:sym typeface="Poppins"/>
              </a:rPr>
              <a:t>Realiza análisis retrospectivos</a:t>
            </a:r>
            <a:endParaRPr/>
          </a:p>
        </p:txBody>
      </p:sp>
      <p:sp>
        <p:nvSpPr>
          <p:cNvPr id="293" name="Google Shape;293;p10"/>
          <p:cNvSpPr txBox="1"/>
          <p:nvPr/>
        </p:nvSpPr>
        <p:spPr>
          <a:xfrm>
            <a:off x="11286920" y="8669225"/>
            <a:ext cx="6031180" cy="107632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000" u="none" cap="none" strike="noStrike">
                <a:solidFill>
                  <a:srgbClr val="FFFFFF"/>
                </a:solidFill>
                <a:latin typeface="Poppins"/>
                <a:ea typeface="Poppins"/>
                <a:cs typeface="Poppins"/>
                <a:sym typeface="Poppins"/>
              </a:rPr>
              <a:t>Ayuda a gestionar el trabajo pendiente del producto</a:t>
            </a:r>
            <a:endParaRPr/>
          </a:p>
        </p:txBody>
      </p:sp>
      <p:cxnSp>
        <p:nvCxnSpPr>
          <p:cNvPr id="294" name="Google Shape;294;p10"/>
          <p:cNvCxnSpPr/>
          <p:nvPr/>
        </p:nvCxnSpPr>
        <p:spPr>
          <a:xfrm flipH="1" rot="10800000">
            <a:off x="2789913" y="1252523"/>
            <a:ext cx="6108579" cy="1740188"/>
          </a:xfrm>
          <a:prstGeom prst="straightConnector1">
            <a:avLst/>
          </a:prstGeom>
          <a:noFill/>
          <a:ln cap="flat" cmpd="sng" w="38100">
            <a:solidFill>
              <a:srgbClr val="000000"/>
            </a:solidFill>
            <a:prstDash val="solid"/>
            <a:round/>
            <a:headEnd len="sm" w="sm" type="none"/>
            <a:tailEnd len="sm" w="sm" type="none"/>
          </a:ln>
        </p:spPr>
      </p:cxnSp>
      <p:cxnSp>
        <p:nvCxnSpPr>
          <p:cNvPr id="295" name="Google Shape;295;p10"/>
          <p:cNvCxnSpPr/>
          <p:nvPr/>
        </p:nvCxnSpPr>
        <p:spPr>
          <a:xfrm flipH="1" rot="10800000">
            <a:off x="4753896" y="3176306"/>
            <a:ext cx="4144597" cy="777272"/>
          </a:xfrm>
          <a:prstGeom prst="straightConnector1">
            <a:avLst/>
          </a:prstGeom>
          <a:noFill/>
          <a:ln cap="flat" cmpd="sng" w="38100">
            <a:solidFill>
              <a:srgbClr val="000000"/>
            </a:solidFill>
            <a:prstDash val="solid"/>
            <a:round/>
            <a:headEnd len="sm" w="sm" type="none"/>
            <a:tailEnd len="sm" w="sm" type="none"/>
          </a:ln>
        </p:spPr>
      </p:cxnSp>
      <p:cxnSp>
        <p:nvCxnSpPr>
          <p:cNvPr id="296" name="Google Shape;296;p10"/>
          <p:cNvCxnSpPr/>
          <p:nvPr/>
        </p:nvCxnSpPr>
        <p:spPr>
          <a:xfrm flipH="1" rot="10800000">
            <a:off x="5166082" y="5220059"/>
            <a:ext cx="3732410" cy="148821"/>
          </a:xfrm>
          <a:prstGeom prst="straightConnector1">
            <a:avLst/>
          </a:prstGeom>
          <a:noFill/>
          <a:ln cap="flat" cmpd="sng" w="38100">
            <a:solidFill>
              <a:srgbClr val="000000"/>
            </a:solidFill>
            <a:prstDash val="solid"/>
            <a:round/>
            <a:headEnd len="sm" w="sm" type="none"/>
            <a:tailEnd len="sm" w="sm" type="none"/>
          </a:ln>
        </p:spPr>
      </p:cxnSp>
      <p:cxnSp>
        <p:nvCxnSpPr>
          <p:cNvPr id="297" name="Google Shape;297;p10"/>
          <p:cNvCxnSpPr/>
          <p:nvPr/>
        </p:nvCxnSpPr>
        <p:spPr>
          <a:xfrm>
            <a:off x="4753896" y="6826169"/>
            <a:ext cx="4144597" cy="437642"/>
          </a:xfrm>
          <a:prstGeom prst="straightConnector1">
            <a:avLst/>
          </a:prstGeom>
          <a:noFill/>
          <a:ln cap="flat" cmpd="sng" w="38100">
            <a:solidFill>
              <a:srgbClr val="000000"/>
            </a:solidFill>
            <a:prstDash val="solid"/>
            <a:round/>
            <a:headEnd len="sm" w="sm" type="none"/>
            <a:tailEnd len="sm" w="sm" type="none"/>
          </a:ln>
        </p:spPr>
      </p:cxnSp>
      <p:cxnSp>
        <p:nvCxnSpPr>
          <p:cNvPr id="298" name="Google Shape;298;p10"/>
          <p:cNvCxnSpPr/>
          <p:nvPr/>
        </p:nvCxnSpPr>
        <p:spPr>
          <a:xfrm>
            <a:off x="2789913" y="7745049"/>
            <a:ext cx="6108579" cy="1505201"/>
          </a:xfrm>
          <a:prstGeom prst="straightConnector1">
            <a:avLst/>
          </a:prstGeom>
          <a:noFill/>
          <a:ln cap="flat" cmpd="sng" w="38100">
            <a:solidFill>
              <a:srgbClr val="000000"/>
            </a:solidFill>
            <a:prstDash val="solid"/>
            <a:round/>
            <a:headEnd len="sm" w="sm" type="none"/>
            <a:tailEnd len="sm" w="sm"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3682" l="0" r="0" t="-4979"/>
            </a:stretch>
          </a:blipFill>
          <a:ln>
            <a:noFill/>
          </a:ln>
        </p:spPr>
      </p:sp>
      <p:sp>
        <p:nvSpPr>
          <p:cNvPr id="304" name="Google Shape;304;p11"/>
          <p:cNvSpPr/>
          <p:nvPr/>
        </p:nvSpPr>
        <p:spPr>
          <a:xfrm>
            <a:off x="-2488276" y="0"/>
            <a:ext cx="9864679" cy="10393597"/>
          </a:xfrm>
          <a:custGeom>
            <a:rect b="b" l="l" r="r" t="t"/>
            <a:pathLst>
              <a:path extrusionOk="0" h="856380" w="812800">
                <a:moveTo>
                  <a:pt x="0" y="0"/>
                </a:moveTo>
                <a:lnTo>
                  <a:pt x="812800" y="0"/>
                </a:lnTo>
                <a:lnTo>
                  <a:pt x="812800" y="856380"/>
                </a:lnTo>
                <a:lnTo>
                  <a:pt x="0" y="856380"/>
                </a:lnTo>
                <a:close/>
              </a:path>
            </a:pathLst>
          </a:custGeom>
          <a:blipFill rotWithShape="1">
            <a:blip r:embed="rId4">
              <a:alphaModFix/>
            </a:blip>
            <a:stretch>
              <a:fillRect b="0" l="-29016" r="-29018" t="0"/>
            </a:stretch>
          </a:blipFill>
          <a:ln>
            <a:noFill/>
          </a:ln>
        </p:spPr>
      </p:sp>
      <p:grpSp>
        <p:nvGrpSpPr>
          <p:cNvPr id="305" name="Google Shape;305;p11"/>
          <p:cNvGrpSpPr/>
          <p:nvPr/>
        </p:nvGrpSpPr>
        <p:grpSpPr>
          <a:xfrm>
            <a:off x="4184909" y="6536177"/>
            <a:ext cx="9995138" cy="8353770"/>
            <a:chOff x="0" y="0"/>
            <a:chExt cx="972501" cy="812800"/>
          </a:xfrm>
        </p:grpSpPr>
        <p:sp>
          <p:nvSpPr>
            <p:cNvPr id="306" name="Google Shape;306;p11"/>
            <p:cNvSpPr/>
            <p:nvPr/>
          </p:nvSpPr>
          <p:spPr>
            <a:xfrm>
              <a:off x="0" y="0"/>
              <a:ext cx="972501" cy="812800"/>
            </a:xfrm>
            <a:custGeom>
              <a:rect b="b" l="l" r="r" t="t"/>
              <a:pathLst>
                <a:path extrusionOk="0" h="812800" w="972501">
                  <a:moveTo>
                    <a:pt x="486250" y="0"/>
                  </a:moveTo>
                  <a:cubicBezTo>
                    <a:pt x="217702" y="0"/>
                    <a:pt x="0" y="181951"/>
                    <a:pt x="0" y="406400"/>
                  </a:cubicBezTo>
                  <a:cubicBezTo>
                    <a:pt x="0" y="630849"/>
                    <a:pt x="217702" y="812800"/>
                    <a:pt x="486250" y="812800"/>
                  </a:cubicBezTo>
                  <a:cubicBezTo>
                    <a:pt x="754799" y="812800"/>
                    <a:pt x="972501" y="630849"/>
                    <a:pt x="972501" y="406400"/>
                  </a:cubicBezTo>
                  <a:cubicBezTo>
                    <a:pt x="972501" y="181951"/>
                    <a:pt x="754799" y="0"/>
                    <a:pt x="48625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1"/>
            <p:cNvSpPr txBox="1"/>
            <p:nvPr/>
          </p:nvSpPr>
          <p:spPr>
            <a:xfrm>
              <a:off x="91172" y="38100"/>
              <a:ext cx="790157"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08" name="Google Shape;308;p11"/>
          <p:cNvGrpSpPr/>
          <p:nvPr/>
        </p:nvGrpSpPr>
        <p:grpSpPr>
          <a:xfrm>
            <a:off x="6246705" y="-1840989"/>
            <a:ext cx="13824023" cy="13824023"/>
            <a:chOff x="0" y="0"/>
            <a:chExt cx="812800" cy="812800"/>
          </a:xfrm>
        </p:grpSpPr>
        <p:sp>
          <p:nvSpPr>
            <p:cNvPr id="309" name="Google Shape;309;p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11" name="Google Shape;311;p11"/>
          <p:cNvSpPr txBox="1"/>
          <p:nvPr/>
        </p:nvSpPr>
        <p:spPr>
          <a:xfrm>
            <a:off x="9182479" y="632915"/>
            <a:ext cx="8910081" cy="1377949"/>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8000" u="none" cap="none" strike="noStrike">
                <a:solidFill>
                  <a:srgbClr val="FFFFFF"/>
                </a:solidFill>
                <a:latin typeface="Montserrat"/>
                <a:ea typeface="Montserrat"/>
                <a:cs typeface="Montserrat"/>
                <a:sym typeface="Montserrat"/>
              </a:rPr>
              <a:t>Product Owner</a:t>
            </a:r>
            <a:endParaRPr/>
          </a:p>
        </p:txBody>
      </p:sp>
      <p:sp>
        <p:nvSpPr>
          <p:cNvPr id="312" name="Google Shape;312;p11"/>
          <p:cNvSpPr txBox="1"/>
          <p:nvPr/>
        </p:nvSpPr>
        <p:spPr>
          <a:xfrm>
            <a:off x="7898341" y="2695867"/>
            <a:ext cx="10389600" cy="6126300"/>
          </a:xfrm>
          <a:prstGeom prst="rect">
            <a:avLst/>
          </a:prstGeom>
          <a:noFill/>
          <a:ln>
            <a:noFill/>
          </a:ln>
        </p:spPr>
        <p:txBody>
          <a:bodyPr anchorCtr="0" anchor="t" bIns="0" lIns="0" spcFirstLastPara="1" rIns="0" wrap="square" tIns="0">
            <a:spAutoFit/>
          </a:bodyPr>
          <a:lstStyle/>
          <a:p>
            <a:pPr indent="-323850" lvl="1" marL="647700" marR="0" rtl="0" algn="l">
              <a:lnSpc>
                <a:spcPct val="160000"/>
              </a:lnSpc>
              <a:spcBef>
                <a:spcPts val="0"/>
              </a:spcBef>
              <a:spcAft>
                <a:spcPts val="0"/>
              </a:spcAft>
              <a:buClr>
                <a:srgbClr val="FFFFFF"/>
              </a:buClr>
              <a:buSzPts val="3000"/>
              <a:buFont typeface="Arial"/>
              <a:buChar char="•"/>
            </a:pPr>
            <a:r>
              <a:rPr b="0" i="0" lang="en-US" sz="3000" u="none" cap="none" strike="noStrike">
                <a:solidFill>
                  <a:srgbClr val="FFFFFF"/>
                </a:solidFill>
                <a:latin typeface="Poppins Light"/>
                <a:ea typeface="Poppins Light"/>
                <a:cs typeface="Poppins Light"/>
                <a:sym typeface="Poppins Light"/>
              </a:rPr>
              <a:t>Define los objetivos del producto.</a:t>
            </a:r>
            <a:endParaRPr/>
          </a:p>
          <a:p>
            <a:pPr indent="0" lvl="0" marL="0" marR="0" rtl="0" algn="l">
              <a:lnSpc>
                <a:spcPct val="160000"/>
              </a:lnSpc>
              <a:spcBef>
                <a:spcPts val="0"/>
              </a:spcBef>
              <a:spcAft>
                <a:spcPts val="0"/>
              </a:spcAft>
              <a:buNone/>
            </a:pPr>
            <a:r>
              <a:t/>
            </a:r>
            <a:endParaRPr b="0" i="0" sz="3000" u="none" cap="none" strike="noStrike">
              <a:solidFill>
                <a:srgbClr val="FFFFFF"/>
              </a:solidFill>
              <a:latin typeface="Poppins Light"/>
              <a:ea typeface="Poppins Light"/>
              <a:cs typeface="Poppins Light"/>
              <a:sym typeface="Poppins Light"/>
            </a:endParaRPr>
          </a:p>
          <a:p>
            <a:pPr indent="-323850" lvl="1" marL="647700" marR="0" rtl="0" algn="l">
              <a:lnSpc>
                <a:spcPct val="160000"/>
              </a:lnSpc>
              <a:spcBef>
                <a:spcPts val="0"/>
              </a:spcBef>
              <a:spcAft>
                <a:spcPts val="0"/>
              </a:spcAft>
              <a:buClr>
                <a:srgbClr val="FFFFFF"/>
              </a:buClr>
              <a:buSzPts val="3000"/>
              <a:buFont typeface="Arial"/>
              <a:buChar char="•"/>
            </a:pPr>
            <a:r>
              <a:rPr b="0" i="0" lang="en-US" sz="3000" u="none" cap="none" strike="noStrike">
                <a:solidFill>
                  <a:srgbClr val="FFFFFF"/>
                </a:solidFill>
                <a:latin typeface="Poppins Light"/>
                <a:ea typeface="Poppins Light"/>
                <a:cs typeface="Poppins Light"/>
                <a:sym typeface="Poppins Light"/>
              </a:rPr>
              <a:t>Determina las características del producto </a:t>
            </a:r>
            <a:r>
              <a:rPr lang="en-US" sz="3000">
                <a:solidFill>
                  <a:srgbClr val="FFFFFF"/>
                </a:solidFill>
                <a:latin typeface="Poppins Light"/>
                <a:ea typeface="Poppins Light"/>
                <a:cs typeface="Poppins Light"/>
                <a:sym typeface="Poppins Light"/>
              </a:rPr>
              <a:t>para</a:t>
            </a:r>
            <a:r>
              <a:rPr b="0" i="0" lang="en-US" sz="3000" u="none" cap="none" strike="noStrike">
                <a:solidFill>
                  <a:srgbClr val="FFFFFF"/>
                </a:solidFill>
                <a:latin typeface="Poppins Light"/>
                <a:ea typeface="Poppins Light"/>
                <a:cs typeface="Poppins Light"/>
                <a:sym typeface="Poppins Light"/>
              </a:rPr>
              <a:t> crear el backlog.</a:t>
            </a:r>
            <a:endParaRPr/>
          </a:p>
          <a:p>
            <a:pPr indent="0" lvl="0" marL="0" marR="0" rtl="0" algn="l">
              <a:lnSpc>
                <a:spcPct val="160000"/>
              </a:lnSpc>
              <a:spcBef>
                <a:spcPts val="0"/>
              </a:spcBef>
              <a:spcAft>
                <a:spcPts val="0"/>
              </a:spcAft>
              <a:buNone/>
            </a:pPr>
            <a:r>
              <a:t/>
            </a:r>
            <a:endParaRPr b="0" i="0" sz="3000" u="none" cap="none" strike="noStrike">
              <a:solidFill>
                <a:srgbClr val="FFFFFF"/>
              </a:solidFill>
              <a:latin typeface="Poppins Light"/>
              <a:ea typeface="Poppins Light"/>
              <a:cs typeface="Poppins Light"/>
              <a:sym typeface="Poppins Light"/>
            </a:endParaRPr>
          </a:p>
          <a:p>
            <a:pPr indent="-323850" lvl="1" marL="647700" marR="0" rtl="0" algn="l">
              <a:lnSpc>
                <a:spcPct val="160000"/>
              </a:lnSpc>
              <a:spcBef>
                <a:spcPts val="0"/>
              </a:spcBef>
              <a:spcAft>
                <a:spcPts val="0"/>
              </a:spcAft>
              <a:buClr>
                <a:srgbClr val="FFFFFF"/>
              </a:buClr>
              <a:buSzPts val="3000"/>
              <a:buFont typeface="Arial"/>
              <a:buChar char="•"/>
            </a:pPr>
            <a:r>
              <a:rPr b="0" i="0" lang="en-US" sz="3000" u="none" cap="none" strike="noStrike">
                <a:solidFill>
                  <a:srgbClr val="FFFFFF"/>
                </a:solidFill>
                <a:latin typeface="Poppins Light"/>
                <a:ea typeface="Poppins Light"/>
                <a:cs typeface="Poppins Light"/>
                <a:sym typeface="Poppins Light"/>
              </a:rPr>
              <a:t>Crea historias de usuario.</a:t>
            </a:r>
            <a:endParaRPr/>
          </a:p>
          <a:p>
            <a:pPr indent="0" lvl="0" marL="0" marR="0" rtl="0" algn="l">
              <a:lnSpc>
                <a:spcPct val="160000"/>
              </a:lnSpc>
              <a:spcBef>
                <a:spcPts val="0"/>
              </a:spcBef>
              <a:spcAft>
                <a:spcPts val="0"/>
              </a:spcAft>
              <a:buNone/>
            </a:pPr>
            <a:r>
              <a:t/>
            </a:r>
            <a:endParaRPr b="0" i="0" sz="3000" u="none" cap="none" strike="noStrike">
              <a:solidFill>
                <a:srgbClr val="FFFFFF"/>
              </a:solidFill>
              <a:latin typeface="Poppins Light"/>
              <a:ea typeface="Poppins Light"/>
              <a:cs typeface="Poppins Light"/>
              <a:sym typeface="Poppins Light"/>
            </a:endParaRPr>
          </a:p>
          <a:p>
            <a:pPr indent="-323850" lvl="1" marL="647700" marR="0" rtl="0" algn="l">
              <a:lnSpc>
                <a:spcPct val="160000"/>
              </a:lnSpc>
              <a:spcBef>
                <a:spcPts val="0"/>
              </a:spcBef>
              <a:spcAft>
                <a:spcPts val="0"/>
              </a:spcAft>
              <a:buClr>
                <a:srgbClr val="FFFFFF"/>
              </a:buClr>
              <a:buSzPts val="3000"/>
              <a:buFont typeface="Arial"/>
              <a:buChar char="•"/>
            </a:pPr>
            <a:r>
              <a:rPr b="0" i="0" lang="en-US" sz="3000" u="none" cap="none" strike="noStrike">
                <a:solidFill>
                  <a:srgbClr val="FFFFFF"/>
                </a:solidFill>
                <a:latin typeface="Poppins Light"/>
                <a:ea typeface="Poppins Light"/>
                <a:cs typeface="Poppins Light"/>
                <a:sym typeface="Poppins Light"/>
              </a:rPr>
              <a:t>Prioriza y gestiona el backlog del producto.</a:t>
            </a:r>
            <a:endParaRPr/>
          </a:p>
          <a:p>
            <a:pPr indent="0" lvl="0" marL="0" marR="0" rtl="0" algn="l">
              <a:lnSpc>
                <a:spcPct val="160000"/>
              </a:lnSpc>
              <a:spcBef>
                <a:spcPts val="0"/>
              </a:spcBef>
              <a:spcAft>
                <a:spcPts val="0"/>
              </a:spcAft>
              <a:buNone/>
            </a:pPr>
            <a:r>
              <a:t/>
            </a:r>
            <a:endParaRPr/>
          </a:p>
        </p:txBody>
      </p:sp>
      <p:grpSp>
        <p:nvGrpSpPr>
          <p:cNvPr id="313" name="Google Shape;313;p11"/>
          <p:cNvGrpSpPr/>
          <p:nvPr/>
        </p:nvGrpSpPr>
        <p:grpSpPr>
          <a:xfrm>
            <a:off x="6638360" y="-1682128"/>
            <a:ext cx="2850007" cy="2850007"/>
            <a:chOff x="0" y="0"/>
            <a:chExt cx="812800" cy="812800"/>
          </a:xfrm>
        </p:grpSpPr>
        <p:sp>
          <p:nvSpPr>
            <p:cNvPr id="314" name="Google Shape;314;p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16" name="Google Shape;316;p11"/>
          <p:cNvSpPr/>
          <p:nvPr/>
        </p:nvSpPr>
        <p:spPr>
          <a:xfrm rot="5280122">
            <a:off x="11456694" y="471788"/>
            <a:ext cx="11605211" cy="11039457"/>
          </a:xfrm>
          <a:custGeom>
            <a:rect b="b" l="l" r="r" t="t"/>
            <a:pathLst>
              <a:path extrusionOk="0" h="11039457" w="11605211">
                <a:moveTo>
                  <a:pt x="0" y="0"/>
                </a:moveTo>
                <a:lnTo>
                  <a:pt x="11605212" y="0"/>
                </a:lnTo>
                <a:lnTo>
                  <a:pt x="11605212" y="11039457"/>
                </a:lnTo>
                <a:lnTo>
                  <a:pt x="0" y="11039457"/>
                </a:lnTo>
                <a:lnTo>
                  <a:pt x="0" y="0"/>
                </a:lnTo>
                <a:close/>
              </a:path>
            </a:pathLst>
          </a:custGeom>
          <a:blipFill rotWithShape="1">
            <a:blip r:embed="rId5">
              <a:alphaModFix amt="6999"/>
            </a:blip>
            <a:stretch>
              <a:fillRect b="0" l="0" r="0" t="0"/>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DCABB"/>
        </a:solidFill>
      </p:bgPr>
    </p:bg>
    <p:spTree>
      <p:nvGrpSpPr>
        <p:cNvPr id="320" name="Shape 320"/>
        <p:cNvGrpSpPr/>
        <p:nvPr/>
      </p:nvGrpSpPr>
      <p:grpSpPr>
        <a:xfrm>
          <a:off x="0" y="0"/>
          <a:ext cx="0" cy="0"/>
          <a:chOff x="0" y="0"/>
          <a:chExt cx="0" cy="0"/>
        </a:xfrm>
      </p:grpSpPr>
      <p:grpSp>
        <p:nvGrpSpPr>
          <p:cNvPr id="321" name="Google Shape;321;p12"/>
          <p:cNvGrpSpPr/>
          <p:nvPr/>
        </p:nvGrpSpPr>
        <p:grpSpPr>
          <a:xfrm>
            <a:off x="-1028061" y="-1890482"/>
            <a:ext cx="12177482" cy="12177482"/>
            <a:chOff x="0" y="0"/>
            <a:chExt cx="812800" cy="812800"/>
          </a:xfrm>
        </p:grpSpPr>
        <p:sp>
          <p:nvSpPr>
            <p:cNvPr id="322" name="Google Shape;322;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2"/>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24" name="Google Shape;324;p12"/>
          <p:cNvSpPr/>
          <p:nvPr/>
        </p:nvSpPr>
        <p:spPr>
          <a:xfrm rot="5280122">
            <a:off x="9381228" y="242255"/>
            <a:ext cx="11605211" cy="11039457"/>
          </a:xfrm>
          <a:custGeom>
            <a:rect b="b" l="l" r="r" t="t"/>
            <a:pathLst>
              <a:path extrusionOk="0" h="11039457" w="11605211">
                <a:moveTo>
                  <a:pt x="0" y="0"/>
                </a:moveTo>
                <a:lnTo>
                  <a:pt x="11605211" y="0"/>
                </a:lnTo>
                <a:lnTo>
                  <a:pt x="11605211" y="11039458"/>
                </a:lnTo>
                <a:lnTo>
                  <a:pt x="0" y="11039458"/>
                </a:lnTo>
                <a:lnTo>
                  <a:pt x="0" y="0"/>
                </a:lnTo>
                <a:close/>
              </a:path>
            </a:pathLst>
          </a:custGeom>
          <a:blipFill rotWithShape="1">
            <a:blip r:embed="rId3">
              <a:alphaModFix amt="6999"/>
            </a:blip>
            <a:stretch>
              <a:fillRect b="0" l="0" r="0" t="0"/>
            </a:stretch>
          </a:blipFill>
          <a:ln>
            <a:noFill/>
          </a:ln>
        </p:spPr>
      </p:sp>
      <p:grpSp>
        <p:nvGrpSpPr>
          <p:cNvPr id="325" name="Google Shape;325;p12"/>
          <p:cNvGrpSpPr/>
          <p:nvPr/>
        </p:nvGrpSpPr>
        <p:grpSpPr>
          <a:xfrm>
            <a:off x="10397288" y="3611490"/>
            <a:ext cx="12177482" cy="12177482"/>
            <a:chOff x="0" y="0"/>
            <a:chExt cx="812800" cy="812800"/>
          </a:xfrm>
        </p:grpSpPr>
        <p:sp>
          <p:nvSpPr>
            <p:cNvPr id="326" name="Google Shape;326;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2"/>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28" name="Google Shape;328;p12"/>
          <p:cNvSpPr/>
          <p:nvPr/>
        </p:nvSpPr>
        <p:spPr>
          <a:xfrm>
            <a:off x="11149421" y="1119193"/>
            <a:ext cx="7302569" cy="8048613"/>
          </a:xfrm>
          <a:custGeom>
            <a:rect b="b" l="l" r="r" t="t"/>
            <a:pathLst>
              <a:path extrusionOk="0" h="6349975" w="5761381">
                <a:moveTo>
                  <a:pt x="5761381" y="3175025"/>
                </a:moveTo>
                <a:cubicBezTo>
                  <a:pt x="5761381" y="4928451"/>
                  <a:pt x="4471627" y="6349975"/>
                  <a:pt x="2880690" y="6349975"/>
                </a:cubicBezTo>
                <a:cubicBezTo>
                  <a:pt x="1289731" y="6349975"/>
                  <a:pt x="0" y="4928451"/>
                  <a:pt x="0" y="3175025"/>
                </a:cubicBezTo>
                <a:cubicBezTo>
                  <a:pt x="0" y="1421511"/>
                  <a:pt x="1289731" y="0"/>
                  <a:pt x="2880690" y="0"/>
                </a:cubicBezTo>
                <a:cubicBezTo>
                  <a:pt x="4471650" y="0"/>
                  <a:pt x="5761381" y="1421511"/>
                  <a:pt x="5761381" y="3175025"/>
                </a:cubicBezTo>
                <a:close/>
              </a:path>
            </a:pathLst>
          </a:custGeom>
          <a:blipFill rotWithShape="1">
            <a:blip r:embed="rId4">
              <a:alphaModFix/>
            </a:blip>
            <a:stretch>
              <a:fillRect b="0" l="-32557" r="-32557"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2"/>
          <p:cNvSpPr txBox="1"/>
          <p:nvPr/>
        </p:nvSpPr>
        <p:spPr>
          <a:xfrm>
            <a:off x="1431419" y="348244"/>
            <a:ext cx="5851571" cy="2752089"/>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7900" u="none" cap="none" strike="noStrike">
                <a:solidFill>
                  <a:srgbClr val="000000"/>
                </a:solidFill>
                <a:latin typeface="Montserrat"/>
                <a:ea typeface="Montserrat"/>
                <a:cs typeface="Montserrat"/>
                <a:sym typeface="Montserrat"/>
              </a:rPr>
              <a:t>Equipo de Desarrollo</a:t>
            </a:r>
            <a:endParaRPr/>
          </a:p>
        </p:txBody>
      </p:sp>
      <p:sp>
        <p:nvSpPr>
          <p:cNvPr id="330" name="Google Shape;330;p12"/>
          <p:cNvSpPr txBox="1"/>
          <p:nvPr/>
        </p:nvSpPr>
        <p:spPr>
          <a:xfrm>
            <a:off x="1431419" y="3459090"/>
            <a:ext cx="9482566" cy="5423724"/>
          </a:xfrm>
          <a:prstGeom prst="rect">
            <a:avLst/>
          </a:prstGeom>
          <a:noFill/>
          <a:ln>
            <a:noFill/>
          </a:ln>
        </p:spPr>
        <p:txBody>
          <a:bodyPr anchorCtr="0" anchor="t" bIns="0" lIns="0" spcFirstLastPara="1" rIns="0" wrap="square" tIns="0">
            <a:spAutoFit/>
          </a:bodyPr>
          <a:lstStyle/>
          <a:p>
            <a:pPr indent="0" lvl="0" marL="0" marR="0" rtl="0" algn="l">
              <a:lnSpc>
                <a:spcPct val="160013"/>
              </a:lnSpc>
              <a:spcBef>
                <a:spcPts val="0"/>
              </a:spcBef>
              <a:spcAft>
                <a:spcPts val="0"/>
              </a:spcAft>
              <a:buNone/>
            </a:pPr>
            <a:r>
              <a:rPr b="0" i="0" lang="en-US" sz="3016" u="none" cap="none" strike="noStrike">
                <a:solidFill>
                  <a:srgbClr val="000000"/>
                </a:solidFill>
                <a:latin typeface="Poppins"/>
                <a:ea typeface="Poppins"/>
                <a:cs typeface="Poppins"/>
                <a:sym typeface="Poppins"/>
              </a:rPr>
              <a:t>Es un equipo multifuncional y auto-organizado que incluye programadores, diseñadores, testers, analistas, y cualquier otro rol necesario para completar las tareas del Sprint.</a:t>
            </a:r>
            <a:endParaRPr/>
          </a:p>
          <a:p>
            <a:pPr indent="0" lvl="0" marL="0" marR="0" rtl="0" algn="l">
              <a:lnSpc>
                <a:spcPct val="160013"/>
              </a:lnSpc>
              <a:spcBef>
                <a:spcPts val="0"/>
              </a:spcBef>
              <a:spcAft>
                <a:spcPts val="0"/>
              </a:spcAft>
              <a:buNone/>
            </a:pPr>
            <a:r>
              <a:t/>
            </a:r>
            <a:endParaRPr b="0" i="0" sz="3016" u="none" cap="none" strike="noStrike">
              <a:solidFill>
                <a:srgbClr val="000000"/>
              </a:solidFill>
              <a:latin typeface="Poppins"/>
              <a:ea typeface="Poppins"/>
              <a:cs typeface="Poppins"/>
              <a:sym typeface="Poppins"/>
            </a:endParaRPr>
          </a:p>
          <a:p>
            <a:pPr indent="0" lvl="0" marL="0" marR="0" rtl="0" algn="l">
              <a:lnSpc>
                <a:spcPct val="160013"/>
              </a:lnSpc>
              <a:spcBef>
                <a:spcPts val="0"/>
              </a:spcBef>
              <a:spcAft>
                <a:spcPts val="0"/>
              </a:spcAft>
              <a:buNone/>
            </a:pPr>
            <a:r>
              <a:rPr b="0" i="0" lang="en-US" sz="3016" u="none" cap="none" strike="noStrike">
                <a:solidFill>
                  <a:srgbClr val="000000"/>
                </a:solidFill>
                <a:latin typeface="Poppins"/>
                <a:ea typeface="Poppins"/>
                <a:cs typeface="Poppins"/>
                <a:sym typeface="Poppins"/>
              </a:rPr>
              <a:t>Tienen un objetivo en común y comparten la responsabilidad del trabajo que realizan, sumado la calidad del proyecto en cada iteración. </a:t>
            </a:r>
            <a:endParaRPr/>
          </a:p>
        </p:txBody>
      </p:sp>
      <p:grpSp>
        <p:nvGrpSpPr>
          <p:cNvPr id="331" name="Google Shape;331;p12"/>
          <p:cNvGrpSpPr/>
          <p:nvPr/>
        </p:nvGrpSpPr>
        <p:grpSpPr>
          <a:xfrm>
            <a:off x="14733054" y="-2477251"/>
            <a:ext cx="3505951" cy="3505951"/>
            <a:chOff x="0" y="0"/>
            <a:chExt cx="812800" cy="812800"/>
          </a:xfrm>
        </p:grpSpPr>
        <p:sp>
          <p:nvSpPr>
            <p:cNvPr id="332" name="Google Shape;332;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844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2"/>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34" name="Google Shape;334;p12"/>
          <p:cNvGrpSpPr/>
          <p:nvPr/>
        </p:nvGrpSpPr>
        <p:grpSpPr>
          <a:xfrm>
            <a:off x="8178282" y="-724276"/>
            <a:ext cx="1551487" cy="1551487"/>
            <a:chOff x="0" y="0"/>
            <a:chExt cx="812800" cy="812800"/>
          </a:xfrm>
        </p:grpSpPr>
        <p:sp>
          <p:nvSpPr>
            <p:cNvPr id="335" name="Google Shape;335;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2"/>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37" name="Google Shape;337;p12"/>
          <p:cNvGrpSpPr/>
          <p:nvPr/>
        </p:nvGrpSpPr>
        <p:grpSpPr>
          <a:xfrm>
            <a:off x="-5006207" y="8435952"/>
            <a:ext cx="6437620" cy="6437620"/>
            <a:chOff x="0" y="0"/>
            <a:chExt cx="812800" cy="812800"/>
          </a:xfrm>
        </p:grpSpPr>
        <p:sp>
          <p:nvSpPr>
            <p:cNvPr id="338" name="Google Shape;338;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844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2"/>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3989E"/>
        </a:solidFill>
      </p:bgPr>
    </p:bg>
    <p:spTree>
      <p:nvGrpSpPr>
        <p:cNvPr id="343" name="Shape 343"/>
        <p:cNvGrpSpPr/>
        <p:nvPr/>
      </p:nvGrpSpPr>
      <p:grpSpPr>
        <a:xfrm>
          <a:off x="0" y="0"/>
          <a:ext cx="0" cy="0"/>
          <a:chOff x="0" y="0"/>
          <a:chExt cx="0" cy="0"/>
        </a:xfrm>
      </p:grpSpPr>
      <p:grpSp>
        <p:nvGrpSpPr>
          <p:cNvPr id="344" name="Google Shape;344;p13"/>
          <p:cNvGrpSpPr/>
          <p:nvPr/>
        </p:nvGrpSpPr>
        <p:grpSpPr>
          <a:xfrm>
            <a:off x="11301677" y="841157"/>
            <a:ext cx="9807414" cy="9807414"/>
            <a:chOff x="0" y="0"/>
            <a:chExt cx="812800" cy="812800"/>
          </a:xfrm>
        </p:grpSpPr>
        <p:sp>
          <p:nvSpPr>
            <p:cNvPr id="345" name="Google Shape;345;p1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54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47" name="Google Shape;347;p13"/>
          <p:cNvSpPr txBox="1"/>
          <p:nvPr/>
        </p:nvSpPr>
        <p:spPr>
          <a:xfrm>
            <a:off x="5218330" y="4258964"/>
            <a:ext cx="9320922" cy="1485900"/>
          </a:xfrm>
          <a:prstGeom prst="rect">
            <a:avLst/>
          </a:prstGeom>
          <a:noFill/>
          <a:ln>
            <a:noFill/>
          </a:ln>
        </p:spPr>
        <p:txBody>
          <a:bodyPr anchorCtr="0" anchor="t" bIns="0" lIns="0" spcFirstLastPara="1" rIns="0" wrap="square" tIns="0">
            <a:spAutoFit/>
          </a:bodyPr>
          <a:lstStyle/>
          <a:p>
            <a:pPr indent="0" lvl="0" marL="0" marR="0" rtl="0" algn="l">
              <a:lnSpc>
                <a:spcPct val="117001"/>
              </a:lnSpc>
              <a:spcBef>
                <a:spcPts val="0"/>
              </a:spcBef>
              <a:spcAft>
                <a:spcPts val="0"/>
              </a:spcAft>
              <a:buNone/>
            </a:pPr>
            <a:r>
              <a:rPr b="1" i="0" lang="en-US" sz="9999" u="none" cap="none" strike="noStrike">
                <a:solidFill>
                  <a:srgbClr val="F9F9F9"/>
                </a:solidFill>
                <a:latin typeface="Montserrat"/>
                <a:ea typeface="Montserrat"/>
                <a:cs typeface="Montserrat"/>
                <a:sym typeface="Montserrat"/>
              </a:rPr>
              <a:t>Artefactos</a:t>
            </a:r>
            <a:endParaRPr/>
          </a:p>
        </p:txBody>
      </p:sp>
      <p:grpSp>
        <p:nvGrpSpPr>
          <p:cNvPr id="348" name="Google Shape;348;p13"/>
          <p:cNvGrpSpPr/>
          <p:nvPr/>
        </p:nvGrpSpPr>
        <p:grpSpPr>
          <a:xfrm>
            <a:off x="-1804968" y="3928747"/>
            <a:ext cx="3978450" cy="3978450"/>
            <a:chOff x="0" y="0"/>
            <a:chExt cx="812800" cy="812800"/>
          </a:xfrm>
        </p:grpSpPr>
        <p:sp>
          <p:nvSpPr>
            <p:cNvPr id="349" name="Google Shape;349;p1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51" name="Google Shape;351;p13"/>
          <p:cNvGrpSpPr/>
          <p:nvPr/>
        </p:nvGrpSpPr>
        <p:grpSpPr>
          <a:xfrm>
            <a:off x="-119146" y="8684377"/>
            <a:ext cx="1147846" cy="1147846"/>
            <a:chOff x="0" y="0"/>
            <a:chExt cx="812800" cy="812800"/>
          </a:xfrm>
        </p:grpSpPr>
        <p:sp>
          <p:nvSpPr>
            <p:cNvPr id="352" name="Google Shape;352;p1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3989E"/>
        </a:solidFill>
      </p:bgPr>
    </p:bg>
    <p:spTree>
      <p:nvGrpSpPr>
        <p:cNvPr id="357" name="Shape 357"/>
        <p:cNvGrpSpPr/>
        <p:nvPr/>
      </p:nvGrpSpPr>
      <p:grpSpPr>
        <a:xfrm>
          <a:off x="0" y="0"/>
          <a:ext cx="0" cy="0"/>
          <a:chOff x="0" y="0"/>
          <a:chExt cx="0" cy="0"/>
        </a:xfrm>
      </p:grpSpPr>
      <p:grpSp>
        <p:nvGrpSpPr>
          <p:cNvPr id="358" name="Google Shape;358;p14"/>
          <p:cNvGrpSpPr/>
          <p:nvPr/>
        </p:nvGrpSpPr>
        <p:grpSpPr>
          <a:xfrm>
            <a:off x="11301677" y="841157"/>
            <a:ext cx="9807414" cy="9807414"/>
            <a:chOff x="0" y="0"/>
            <a:chExt cx="812800" cy="812800"/>
          </a:xfrm>
        </p:grpSpPr>
        <p:sp>
          <p:nvSpPr>
            <p:cNvPr id="359" name="Google Shape;359;p1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54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4"/>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61" name="Google Shape;361;p14"/>
          <p:cNvSpPr txBox="1"/>
          <p:nvPr/>
        </p:nvSpPr>
        <p:spPr>
          <a:xfrm>
            <a:off x="4483539" y="860207"/>
            <a:ext cx="9320922" cy="1192530"/>
          </a:xfrm>
          <a:prstGeom prst="rect">
            <a:avLst/>
          </a:prstGeom>
          <a:noFill/>
          <a:ln>
            <a:noFill/>
          </a:ln>
        </p:spPr>
        <p:txBody>
          <a:bodyPr anchorCtr="0" anchor="t" bIns="0" lIns="0" spcFirstLastPara="1" rIns="0" wrap="square" tIns="0">
            <a:spAutoFit/>
          </a:bodyPr>
          <a:lstStyle/>
          <a:p>
            <a:pPr indent="0" lvl="0" marL="0" marR="0" rtl="0" algn="l">
              <a:lnSpc>
                <a:spcPct val="116999"/>
              </a:lnSpc>
              <a:spcBef>
                <a:spcPts val="0"/>
              </a:spcBef>
              <a:spcAft>
                <a:spcPts val="0"/>
              </a:spcAft>
              <a:buNone/>
            </a:pPr>
            <a:r>
              <a:rPr b="1" i="0" lang="en-US" sz="8000" u="none" cap="none" strike="noStrike">
                <a:solidFill>
                  <a:srgbClr val="F9F9F9"/>
                </a:solidFill>
                <a:latin typeface="Montserrat"/>
                <a:ea typeface="Montserrat"/>
                <a:cs typeface="Montserrat"/>
                <a:sym typeface="Montserrat"/>
              </a:rPr>
              <a:t>Product Backlog</a:t>
            </a:r>
            <a:endParaRPr/>
          </a:p>
        </p:txBody>
      </p:sp>
      <p:grpSp>
        <p:nvGrpSpPr>
          <p:cNvPr id="362" name="Google Shape;362;p14"/>
          <p:cNvGrpSpPr/>
          <p:nvPr/>
        </p:nvGrpSpPr>
        <p:grpSpPr>
          <a:xfrm>
            <a:off x="15664096" y="-1498702"/>
            <a:ext cx="3978450" cy="3978450"/>
            <a:chOff x="0" y="0"/>
            <a:chExt cx="812800" cy="812800"/>
          </a:xfrm>
        </p:grpSpPr>
        <p:sp>
          <p:nvSpPr>
            <p:cNvPr id="363" name="Google Shape;363;p1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4"/>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65" name="Google Shape;365;p14"/>
          <p:cNvGrpSpPr/>
          <p:nvPr/>
        </p:nvGrpSpPr>
        <p:grpSpPr>
          <a:xfrm>
            <a:off x="13983437" y="841157"/>
            <a:ext cx="1147846" cy="1147846"/>
            <a:chOff x="0" y="0"/>
            <a:chExt cx="812800" cy="812800"/>
          </a:xfrm>
        </p:grpSpPr>
        <p:sp>
          <p:nvSpPr>
            <p:cNvPr id="366" name="Google Shape;366;p1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4"/>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68" name="Google Shape;368;p14"/>
          <p:cNvSpPr txBox="1"/>
          <p:nvPr/>
        </p:nvSpPr>
        <p:spPr>
          <a:xfrm>
            <a:off x="1964669" y="3362960"/>
            <a:ext cx="14358662" cy="4780915"/>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0" i="0" lang="en-US" sz="3399" u="none" cap="none" strike="noStrike">
                <a:solidFill>
                  <a:srgbClr val="F9F9F9"/>
                </a:solidFill>
                <a:latin typeface="Open Sans"/>
                <a:ea typeface="Open Sans"/>
                <a:cs typeface="Open Sans"/>
                <a:sym typeface="Open Sans"/>
              </a:rPr>
              <a:t>Es una lista de funciones y elementos, ordenados según las prioridades, que son necesarios para cumplir con los objetivos y las expectativas del proyecto. </a:t>
            </a:r>
            <a:endParaRPr/>
          </a:p>
          <a:p>
            <a:pPr indent="0" lvl="0" marL="0" marR="0" rtl="0" algn="just">
              <a:lnSpc>
                <a:spcPct val="140011"/>
              </a:lnSpc>
              <a:spcBef>
                <a:spcPts val="0"/>
              </a:spcBef>
              <a:spcAft>
                <a:spcPts val="0"/>
              </a:spcAft>
              <a:buNone/>
            </a:pPr>
            <a:r>
              <a:t/>
            </a:r>
            <a:endParaRPr b="0" i="0" sz="3399" u="none" cap="none" strike="noStrike">
              <a:solidFill>
                <a:srgbClr val="F9F9F9"/>
              </a:solidFill>
              <a:latin typeface="Open Sans"/>
              <a:ea typeface="Open Sans"/>
              <a:cs typeface="Open Sans"/>
              <a:sym typeface="Open Sans"/>
            </a:endParaRPr>
          </a:p>
          <a:p>
            <a:pPr indent="0" lvl="0" marL="0" marR="0" rtl="0" algn="just">
              <a:lnSpc>
                <a:spcPct val="140011"/>
              </a:lnSpc>
              <a:spcBef>
                <a:spcPts val="0"/>
              </a:spcBef>
              <a:spcAft>
                <a:spcPts val="0"/>
              </a:spcAft>
              <a:buNone/>
            </a:pPr>
            <a:r>
              <a:t/>
            </a:r>
            <a:endParaRPr b="0" i="0" sz="3399" u="none" cap="none" strike="noStrike">
              <a:solidFill>
                <a:srgbClr val="F9F9F9"/>
              </a:solidFill>
              <a:latin typeface="Open Sans"/>
              <a:ea typeface="Open Sans"/>
              <a:cs typeface="Open Sans"/>
              <a:sym typeface="Open Sans"/>
            </a:endParaRPr>
          </a:p>
          <a:p>
            <a:pPr indent="0" lvl="0" marL="0" marR="0" rtl="0" algn="just">
              <a:lnSpc>
                <a:spcPct val="140011"/>
              </a:lnSpc>
              <a:spcBef>
                <a:spcPts val="0"/>
              </a:spcBef>
              <a:spcAft>
                <a:spcPts val="0"/>
              </a:spcAft>
              <a:buNone/>
            </a:pPr>
            <a:r>
              <a:rPr b="0" i="0" lang="en-US" sz="3399" u="none" cap="none" strike="noStrike">
                <a:solidFill>
                  <a:srgbClr val="F9F9F9"/>
                </a:solidFill>
                <a:latin typeface="Open Sans"/>
                <a:ea typeface="Open Sans"/>
                <a:cs typeface="Open Sans"/>
                <a:sym typeface="Open Sans"/>
              </a:rPr>
              <a:t>Todas las tareas deben listarse en el product backlog, para que estén visibles ante todo el equipo y se pueda tener una visión panorámica de todo lo que se espera realizar.</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grpSp>
        <p:nvGrpSpPr>
          <p:cNvPr id="373" name="Google Shape;373;p15"/>
          <p:cNvGrpSpPr/>
          <p:nvPr/>
        </p:nvGrpSpPr>
        <p:grpSpPr>
          <a:xfrm>
            <a:off x="-2791896" y="-6825767"/>
            <a:ext cx="12177482" cy="12177482"/>
            <a:chOff x="0" y="0"/>
            <a:chExt cx="812800" cy="812800"/>
          </a:xfrm>
        </p:grpSpPr>
        <p:sp>
          <p:nvSpPr>
            <p:cNvPr id="374" name="Google Shape;374;p1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F3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5"/>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76" name="Google Shape;376;p15"/>
          <p:cNvSpPr/>
          <p:nvPr/>
        </p:nvSpPr>
        <p:spPr>
          <a:xfrm rot="5280122">
            <a:off x="10007290" y="155490"/>
            <a:ext cx="11605211" cy="11039457"/>
          </a:xfrm>
          <a:custGeom>
            <a:rect b="b" l="l" r="r" t="t"/>
            <a:pathLst>
              <a:path extrusionOk="0" h="11039457" w="11605211">
                <a:moveTo>
                  <a:pt x="0" y="0"/>
                </a:moveTo>
                <a:lnTo>
                  <a:pt x="11605211" y="0"/>
                </a:lnTo>
                <a:lnTo>
                  <a:pt x="11605211" y="11039457"/>
                </a:lnTo>
                <a:lnTo>
                  <a:pt x="0" y="11039457"/>
                </a:lnTo>
                <a:lnTo>
                  <a:pt x="0" y="0"/>
                </a:lnTo>
                <a:close/>
              </a:path>
            </a:pathLst>
          </a:custGeom>
          <a:blipFill rotWithShape="1">
            <a:blip r:embed="rId3">
              <a:alphaModFix amt="6999"/>
            </a:blip>
            <a:stretch>
              <a:fillRect b="0" l="0" r="0" t="0"/>
            </a:stretch>
          </a:blipFill>
          <a:ln>
            <a:noFill/>
          </a:ln>
        </p:spPr>
      </p:sp>
      <p:sp>
        <p:nvSpPr>
          <p:cNvPr id="377" name="Google Shape;377;p15"/>
          <p:cNvSpPr/>
          <p:nvPr/>
        </p:nvSpPr>
        <p:spPr>
          <a:xfrm flipH="1" rot="10679818">
            <a:off x="8860952" y="-4456951"/>
            <a:ext cx="9643088" cy="9643088"/>
          </a:xfrm>
          <a:custGeom>
            <a:rect b="b" l="l" r="r" t="t"/>
            <a:pathLst>
              <a:path extrusionOk="0" h="3331210" w="3331210">
                <a:moveTo>
                  <a:pt x="3331210" y="3331210"/>
                </a:moveTo>
                <a:lnTo>
                  <a:pt x="3331210" y="0"/>
                </a:lnTo>
                <a:cubicBezTo>
                  <a:pt x="1490980" y="0"/>
                  <a:pt x="0" y="1490980"/>
                  <a:pt x="0" y="3331210"/>
                </a:cubicBezTo>
                <a:lnTo>
                  <a:pt x="3331210" y="3331210"/>
                </a:lnTo>
                <a:close/>
              </a:path>
            </a:pathLst>
          </a:custGeom>
          <a:solidFill>
            <a:srgbClr val="CDCABB"/>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5"/>
          <p:cNvSpPr txBox="1"/>
          <p:nvPr/>
        </p:nvSpPr>
        <p:spPr>
          <a:xfrm>
            <a:off x="1430491" y="315396"/>
            <a:ext cx="10510111" cy="2797174"/>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8000" u="none" cap="none" strike="noStrike">
                <a:solidFill>
                  <a:srgbClr val="000000"/>
                </a:solidFill>
                <a:latin typeface="Montserrat"/>
                <a:ea typeface="Montserrat"/>
                <a:cs typeface="Montserrat"/>
                <a:sym typeface="Montserrat"/>
              </a:rPr>
              <a:t>Qué incluye el  Product Backlog?</a:t>
            </a:r>
            <a:endParaRPr/>
          </a:p>
        </p:txBody>
      </p:sp>
      <p:cxnSp>
        <p:nvCxnSpPr>
          <p:cNvPr id="379" name="Google Shape;379;p15"/>
          <p:cNvCxnSpPr/>
          <p:nvPr/>
        </p:nvCxnSpPr>
        <p:spPr>
          <a:xfrm>
            <a:off x="3105087" y="4829932"/>
            <a:ext cx="0" cy="716311"/>
          </a:xfrm>
          <a:prstGeom prst="straightConnector1">
            <a:avLst/>
          </a:prstGeom>
          <a:noFill/>
          <a:ln cap="flat" cmpd="sng" w="28575">
            <a:solidFill>
              <a:srgbClr val="000000"/>
            </a:solidFill>
            <a:prstDash val="solid"/>
            <a:round/>
            <a:headEnd len="sm" w="sm" type="none"/>
            <a:tailEnd len="sm" w="sm" type="none"/>
          </a:ln>
        </p:spPr>
      </p:cxnSp>
      <p:cxnSp>
        <p:nvCxnSpPr>
          <p:cNvPr id="380" name="Google Shape;380;p15"/>
          <p:cNvCxnSpPr/>
          <p:nvPr/>
        </p:nvCxnSpPr>
        <p:spPr>
          <a:xfrm>
            <a:off x="3105087" y="7183826"/>
            <a:ext cx="0" cy="716311"/>
          </a:xfrm>
          <a:prstGeom prst="straightConnector1">
            <a:avLst/>
          </a:prstGeom>
          <a:noFill/>
          <a:ln cap="flat" cmpd="sng" w="28575">
            <a:solidFill>
              <a:srgbClr val="000000"/>
            </a:solidFill>
            <a:prstDash val="solid"/>
            <a:round/>
            <a:headEnd len="sm" w="sm" type="none"/>
            <a:tailEnd len="sm" w="sm" type="none"/>
          </a:ln>
        </p:spPr>
      </p:cxnSp>
      <p:cxnSp>
        <p:nvCxnSpPr>
          <p:cNvPr id="381" name="Google Shape;381;p15"/>
          <p:cNvCxnSpPr/>
          <p:nvPr/>
        </p:nvCxnSpPr>
        <p:spPr>
          <a:xfrm>
            <a:off x="8300430" y="4785349"/>
            <a:ext cx="0" cy="716400"/>
          </a:xfrm>
          <a:prstGeom prst="straightConnector1">
            <a:avLst/>
          </a:prstGeom>
          <a:noFill/>
          <a:ln cap="flat" cmpd="sng" w="28575">
            <a:solidFill>
              <a:srgbClr val="000000"/>
            </a:solidFill>
            <a:prstDash val="solid"/>
            <a:round/>
            <a:headEnd len="sm" w="sm" type="none"/>
            <a:tailEnd len="sm" w="sm" type="none"/>
          </a:ln>
        </p:spPr>
      </p:cxnSp>
      <p:grpSp>
        <p:nvGrpSpPr>
          <p:cNvPr id="382" name="Google Shape;382;p15"/>
          <p:cNvGrpSpPr/>
          <p:nvPr/>
        </p:nvGrpSpPr>
        <p:grpSpPr>
          <a:xfrm>
            <a:off x="-1143158" y="8926033"/>
            <a:ext cx="2573650" cy="2573650"/>
            <a:chOff x="0" y="0"/>
            <a:chExt cx="812800" cy="812800"/>
          </a:xfrm>
        </p:grpSpPr>
        <p:sp>
          <p:nvSpPr>
            <p:cNvPr id="383" name="Google Shape;383;p1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5"/>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85" name="Google Shape;385;p15"/>
          <p:cNvSpPr/>
          <p:nvPr/>
        </p:nvSpPr>
        <p:spPr>
          <a:xfrm>
            <a:off x="12512102" y="1347651"/>
            <a:ext cx="4772932" cy="5125296"/>
          </a:xfrm>
          <a:custGeom>
            <a:rect b="b" l="l" r="r" t="t"/>
            <a:pathLst>
              <a:path extrusionOk="0" h="5125296" w="4772932">
                <a:moveTo>
                  <a:pt x="0" y="0"/>
                </a:moveTo>
                <a:lnTo>
                  <a:pt x="4772932" y="0"/>
                </a:lnTo>
                <a:lnTo>
                  <a:pt x="4772932" y="5125296"/>
                </a:lnTo>
                <a:lnTo>
                  <a:pt x="0" y="5125296"/>
                </a:lnTo>
                <a:lnTo>
                  <a:pt x="0" y="0"/>
                </a:lnTo>
                <a:close/>
              </a:path>
            </a:pathLst>
          </a:custGeom>
          <a:blipFill rotWithShape="1">
            <a:blip r:embed="rId4">
              <a:alphaModFix/>
            </a:blip>
            <a:stretch>
              <a:fillRect b="0" l="0" r="0" t="0"/>
            </a:stretch>
          </a:blipFill>
          <a:ln>
            <a:noFill/>
          </a:ln>
        </p:spPr>
      </p:sp>
      <p:sp>
        <p:nvSpPr>
          <p:cNvPr id="386" name="Google Shape;386;p15"/>
          <p:cNvSpPr txBox="1"/>
          <p:nvPr/>
        </p:nvSpPr>
        <p:spPr>
          <a:xfrm>
            <a:off x="1210699" y="4500100"/>
            <a:ext cx="1750349" cy="1136710"/>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1" i="0" lang="en-US" sz="6622" u="none" cap="none" strike="noStrike">
                <a:solidFill>
                  <a:srgbClr val="03989E"/>
                </a:solidFill>
                <a:latin typeface="Montserrat"/>
                <a:ea typeface="Montserrat"/>
                <a:cs typeface="Montserrat"/>
                <a:sym typeface="Montserrat"/>
              </a:rPr>
              <a:t>01.</a:t>
            </a:r>
            <a:endParaRPr/>
          </a:p>
        </p:txBody>
      </p:sp>
      <p:sp>
        <p:nvSpPr>
          <p:cNvPr id="387" name="Google Shape;387;p15"/>
          <p:cNvSpPr txBox="1"/>
          <p:nvPr/>
        </p:nvSpPr>
        <p:spPr>
          <a:xfrm>
            <a:off x="3503766" y="4865106"/>
            <a:ext cx="2254317" cy="111985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0" i="0" lang="en-US" sz="3122" u="none" cap="none" strike="noStrike">
                <a:solidFill>
                  <a:srgbClr val="000000"/>
                </a:solidFill>
                <a:latin typeface="Poppins"/>
                <a:ea typeface="Poppins"/>
                <a:cs typeface="Poppins"/>
                <a:sym typeface="Poppins"/>
              </a:rPr>
              <a:t>Historias de Usuario</a:t>
            </a:r>
            <a:endParaRPr/>
          </a:p>
        </p:txBody>
      </p:sp>
      <p:sp>
        <p:nvSpPr>
          <p:cNvPr id="388" name="Google Shape;388;p15"/>
          <p:cNvSpPr txBox="1"/>
          <p:nvPr/>
        </p:nvSpPr>
        <p:spPr>
          <a:xfrm>
            <a:off x="1210699" y="6853995"/>
            <a:ext cx="1750200" cy="1019400"/>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1" i="0" lang="en-US" sz="6622" u="none" cap="none" strike="noStrike">
                <a:solidFill>
                  <a:srgbClr val="03989E"/>
                </a:solidFill>
                <a:latin typeface="Montserrat"/>
                <a:ea typeface="Montserrat"/>
                <a:cs typeface="Montserrat"/>
                <a:sym typeface="Montserrat"/>
              </a:rPr>
              <a:t>0</a:t>
            </a:r>
            <a:r>
              <a:rPr b="1" lang="en-US" sz="6622">
                <a:solidFill>
                  <a:srgbClr val="03989E"/>
                </a:solidFill>
                <a:latin typeface="Montserrat"/>
                <a:ea typeface="Montserrat"/>
                <a:cs typeface="Montserrat"/>
                <a:sym typeface="Montserrat"/>
              </a:rPr>
              <a:t>3</a:t>
            </a:r>
            <a:r>
              <a:rPr b="1" i="0" lang="en-US" sz="6622" u="none" cap="none" strike="noStrike">
                <a:solidFill>
                  <a:srgbClr val="03989E"/>
                </a:solidFill>
                <a:latin typeface="Montserrat"/>
                <a:ea typeface="Montserrat"/>
                <a:cs typeface="Montserrat"/>
                <a:sym typeface="Montserrat"/>
              </a:rPr>
              <a:t>.</a:t>
            </a:r>
            <a:endParaRPr/>
          </a:p>
        </p:txBody>
      </p:sp>
      <p:sp>
        <p:nvSpPr>
          <p:cNvPr id="389" name="Google Shape;389;p15"/>
          <p:cNvSpPr txBox="1"/>
          <p:nvPr/>
        </p:nvSpPr>
        <p:spPr>
          <a:xfrm>
            <a:off x="3503766" y="7210471"/>
            <a:ext cx="2474109" cy="111985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0" i="0" lang="en-US" sz="3122" u="none" cap="none" strike="noStrike">
                <a:solidFill>
                  <a:srgbClr val="000000"/>
                </a:solidFill>
                <a:latin typeface="Poppins"/>
                <a:ea typeface="Poppins"/>
                <a:cs typeface="Poppins"/>
                <a:sym typeface="Poppins"/>
              </a:rPr>
              <a:t>Reparación de errores</a:t>
            </a:r>
            <a:endParaRPr/>
          </a:p>
        </p:txBody>
      </p:sp>
      <p:sp>
        <p:nvSpPr>
          <p:cNvPr id="390" name="Google Shape;390;p15"/>
          <p:cNvSpPr txBox="1"/>
          <p:nvPr/>
        </p:nvSpPr>
        <p:spPr>
          <a:xfrm>
            <a:off x="6367456" y="4508470"/>
            <a:ext cx="1708200" cy="1019400"/>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1" i="0" lang="en-US" sz="6622" u="none" cap="none" strike="noStrike">
                <a:solidFill>
                  <a:srgbClr val="03989E"/>
                </a:solidFill>
                <a:latin typeface="Montserrat"/>
                <a:ea typeface="Montserrat"/>
                <a:cs typeface="Montserrat"/>
                <a:sym typeface="Montserrat"/>
              </a:rPr>
              <a:t>0</a:t>
            </a:r>
            <a:r>
              <a:rPr b="1" lang="en-US" sz="6622">
                <a:solidFill>
                  <a:srgbClr val="03989E"/>
                </a:solidFill>
                <a:latin typeface="Montserrat"/>
                <a:ea typeface="Montserrat"/>
                <a:cs typeface="Montserrat"/>
                <a:sym typeface="Montserrat"/>
              </a:rPr>
              <a:t>2</a:t>
            </a:r>
            <a:r>
              <a:rPr b="1" i="0" lang="en-US" sz="6622" u="none" cap="none" strike="noStrike">
                <a:solidFill>
                  <a:srgbClr val="03989E"/>
                </a:solidFill>
                <a:latin typeface="Montserrat"/>
                <a:ea typeface="Montserrat"/>
                <a:cs typeface="Montserrat"/>
                <a:sym typeface="Montserrat"/>
              </a:rPr>
              <a:t>.</a:t>
            </a:r>
            <a:endParaRPr/>
          </a:p>
        </p:txBody>
      </p:sp>
      <p:sp>
        <p:nvSpPr>
          <p:cNvPr id="391" name="Google Shape;391;p15"/>
          <p:cNvSpPr txBox="1"/>
          <p:nvPr/>
        </p:nvSpPr>
        <p:spPr>
          <a:xfrm>
            <a:off x="8559160" y="4646846"/>
            <a:ext cx="3694200" cy="18261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lang="en-US" sz="3122">
                <a:latin typeface="Poppins"/>
                <a:ea typeface="Poppins"/>
                <a:cs typeface="Poppins"/>
                <a:sym typeface="Poppins"/>
              </a:rPr>
              <a:t>Ideas futuras que podrían añadirse más adelante.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grpSp>
        <p:nvGrpSpPr>
          <p:cNvPr id="396" name="Google Shape;396;p16"/>
          <p:cNvGrpSpPr/>
          <p:nvPr/>
        </p:nvGrpSpPr>
        <p:grpSpPr>
          <a:xfrm>
            <a:off x="-2791896" y="-6825767"/>
            <a:ext cx="12177482" cy="12177482"/>
            <a:chOff x="0" y="0"/>
            <a:chExt cx="812800" cy="812800"/>
          </a:xfrm>
        </p:grpSpPr>
        <p:sp>
          <p:nvSpPr>
            <p:cNvPr id="397" name="Google Shape;397;p1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F3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99" name="Google Shape;399;p16"/>
          <p:cNvSpPr/>
          <p:nvPr/>
        </p:nvSpPr>
        <p:spPr>
          <a:xfrm rot="5280122">
            <a:off x="10007290" y="155490"/>
            <a:ext cx="11605211" cy="11039457"/>
          </a:xfrm>
          <a:custGeom>
            <a:rect b="b" l="l" r="r" t="t"/>
            <a:pathLst>
              <a:path extrusionOk="0" h="11039457" w="11605211">
                <a:moveTo>
                  <a:pt x="0" y="0"/>
                </a:moveTo>
                <a:lnTo>
                  <a:pt x="11605211" y="0"/>
                </a:lnTo>
                <a:lnTo>
                  <a:pt x="11605211" y="11039457"/>
                </a:lnTo>
                <a:lnTo>
                  <a:pt x="0" y="11039457"/>
                </a:lnTo>
                <a:lnTo>
                  <a:pt x="0" y="0"/>
                </a:lnTo>
                <a:close/>
              </a:path>
            </a:pathLst>
          </a:custGeom>
          <a:blipFill rotWithShape="1">
            <a:blip r:embed="rId3">
              <a:alphaModFix amt="6999"/>
            </a:blip>
            <a:stretch>
              <a:fillRect b="0" l="0" r="0" t="0"/>
            </a:stretch>
          </a:blipFill>
          <a:ln>
            <a:noFill/>
          </a:ln>
        </p:spPr>
      </p:sp>
      <p:sp>
        <p:nvSpPr>
          <p:cNvPr id="400" name="Google Shape;400;p16"/>
          <p:cNvSpPr/>
          <p:nvPr/>
        </p:nvSpPr>
        <p:spPr>
          <a:xfrm flipH="1" rot="10679818">
            <a:off x="8860952" y="-4456951"/>
            <a:ext cx="9643088" cy="9643088"/>
          </a:xfrm>
          <a:custGeom>
            <a:rect b="b" l="l" r="r" t="t"/>
            <a:pathLst>
              <a:path extrusionOk="0" h="3331210" w="3331210">
                <a:moveTo>
                  <a:pt x="3331210" y="3331210"/>
                </a:moveTo>
                <a:lnTo>
                  <a:pt x="3331210" y="0"/>
                </a:lnTo>
                <a:cubicBezTo>
                  <a:pt x="1490980" y="0"/>
                  <a:pt x="0" y="1490980"/>
                  <a:pt x="0" y="3331210"/>
                </a:cubicBezTo>
                <a:lnTo>
                  <a:pt x="3331210" y="3331210"/>
                </a:lnTo>
                <a:close/>
              </a:path>
            </a:pathLst>
          </a:custGeom>
          <a:solidFill>
            <a:srgbClr val="CDCABB"/>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1" name="Google Shape;401;p16"/>
          <p:cNvGrpSpPr/>
          <p:nvPr/>
        </p:nvGrpSpPr>
        <p:grpSpPr>
          <a:xfrm>
            <a:off x="-1143158" y="8926033"/>
            <a:ext cx="2573650" cy="2573650"/>
            <a:chOff x="0" y="0"/>
            <a:chExt cx="812800" cy="812800"/>
          </a:xfrm>
        </p:grpSpPr>
        <p:sp>
          <p:nvSpPr>
            <p:cNvPr id="402" name="Google Shape;402;p1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04" name="Google Shape;404;p16"/>
          <p:cNvSpPr/>
          <p:nvPr/>
        </p:nvSpPr>
        <p:spPr>
          <a:xfrm>
            <a:off x="11072371" y="2346427"/>
            <a:ext cx="6648199" cy="6010576"/>
          </a:xfrm>
          <a:custGeom>
            <a:rect b="b" l="l" r="r" t="t"/>
            <a:pathLst>
              <a:path extrusionOk="0" h="6010576" w="6648199">
                <a:moveTo>
                  <a:pt x="0" y="0"/>
                </a:moveTo>
                <a:lnTo>
                  <a:pt x="6648199" y="0"/>
                </a:lnTo>
                <a:lnTo>
                  <a:pt x="6648199" y="6010576"/>
                </a:lnTo>
                <a:lnTo>
                  <a:pt x="0" y="6010576"/>
                </a:lnTo>
                <a:lnTo>
                  <a:pt x="0" y="0"/>
                </a:lnTo>
                <a:close/>
              </a:path>
            </a:pathLst>
          </a:custGeom>
          <a:blipFill rotWithShape="1">
            <a:blip r:embed="rId4">
              <a:alphaModFix/>
            </a:blip>
            <a:stretch>
              <a:fillRect b="0" l="0" r="-109916" t="0"/>
            </a:stretch>
          </a:blipFill>
          <a:ln>
            <a:noFill/>
          </a:ln>
        </p:spPr>
      </p:sp>
      <p:sp>
        <p:nvSpPr>
          <p:cNvPr id="405" name="Google Shape;405;p16"/>
          <p:cNvSpPr txBox="1"/>
          <p:nvPr/>
        </p:nvSpPr>
        <p:spPr>
          <a:xfrm>
            <a:off x="1430491" y="315396"/>
            <a:ext cx="10510111" cy="1377949"/>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8000" u="none" cap="none" strike="noStrike">
                <a:solidFill>
                  <a:srgbClr val="000000"/>
                </a:solidFill>
                <a:latin typeface="Montserrat"/>
                <a:ea typeface="Montserrat"/>
                <a:cs typeface="Montserrat"/>
                <a:sym typeface="Montserrat"/>
              </a:rPr>
              <a:t>Historias de Usuario</a:t>
            </a:r>
            <a:endParaRPr/>
          </a:p>
        </p:txBody>
      </p:sp>
      <p:sp>
        <p:nvSpPr>
          <p:cNvPr id="406" name="Google Shape;406;p16"/>
          <p:cNvSpPr txBox="1"/>
          <p:nvPr/>
        </p:nvSpPr>
        <p:spPr>
          <a:xfrm>
            <a:off x="1265715" y="4239736"/>
            <a:ext cx="9195814" cy="2775714"/>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0" i="0" lang="en-US" sz="3122" u="none" cap="none" strike="noStrike">
                <a:solidFill>
                  <a:srgbClr val="000000"/>
                </a:solidFill>
                <a:latin typeface="Poppins"/>
                <a:ea typeface="Poppins"/>
                <a:cs typeface="Poppins"/>
                <a:sym typeface="Poppins"/>
              </a:rPr>
              <a:t>La historia de usuario es una definición de la necesidad del usuario, como un recordatorio de la conversación con el cliente, siendo un acuerdo final de mínimos para dar por buena la funcionalidad escrita y esperada.</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grpSp>
        <p:nvGrpSpPr>
          <p:cNvPr id="411" name="Google Shape;411;p17"/>
          <p:cNvGrpSpPr/>
          <p:nvPr/>
        </p:nvGrpSpPr>
        <p:grpSpPr>
          <a:xfrm>
            <a:off x="-2791896" y="-6825767"/>
            <a:ext cx="12177482" cy="12177482"/>
            <a:chOff x="0" y="0"/>
            <a:chExt cx="812800" cy="812800"/>
          </a:xfrm>
        </p:grpSpPr>
        <p:sp>
          <p:nvSpPr>
            <p:cNvPr id="412" name="Google Shape;412;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F3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14" name="Google Shape;414;p17"/>
          <p:cNvSpPr/>
          <p:nvPr/>
        </p:nvSpPr>
        <p:spPr>
          <a:xfrm rot="5280122">
            <a:off x="10007290" y="155490"/>
            <a:ext cx="11605211" cy="11039457"/>
          </a:xfrm>
          <a:custGeom>
            <a:rect b="b" l="l" r="r" t="t"/>
            <a:pathLst>
              <a:path extrusionOk="0" h="11039457" w="11605211">
                <a:moveTo>
                  <a:pt x="0" y="0"/>
                </a:moveTo>
                <a:lnTo>
                  <a:pt x="11605211" y="0"/>
                </a:lnTo>
                <a:lnTo>
                  <a:pt x="11605211" y="11039457"/>
                </a:lnTo>
                <a:lnTo>
                  <a:pt x="0" y="11039457"/>
                </a:lnTo>
                <a:lnTo>
                  <a:pt x="0" y="0"/>
                </a:lnTo>
                <a:close/>
              </a:path>
            </a:pathLst>
          </a:custGeom>
          <a:blipFill rotWithShape="1">
            <a:blip r:embed="rId3">
              <a:alphaModFix amt="6999"/>
            </a:blip>
            <a:stretch>
              <a:fillRect b="0" l="0" r="0" t="0"/>
            </a:stretch>
          </a:blipFill>
          <a:ln>
            <a:noFill/>
          </a:ln>
        </p:spPr>
      </p:sp>
      <p:sp>
        <p:nvSpPr>
          <p:cNvPr id="415" name="Google Shape;415;p17"/>
          <p:cNvSpPr/>
          <p:nvPr/>
        </p:nvSpPr>
        <p:spPr>
          <a:xfrm flipH="1" rot="10679818">
            <a:off x="8860952" y="-4456951"/>
            <a:ext cx="9643088" cy="9643088"/>
          </a:xfrm>
          <a:custGeom>
            <a:rect b="b" l="l" r="r" t="t"/>
            <a:pathLst>
              <a:path extrusionOk="0" h="3331210" w="3331210">
                <a:moveTo>
                  <a:pt x="3331210" y="3331210"/>
                </a:moveTo>
                <a:lnTo>
                  <a:pt x="3331210" y="0"/>
                </a:lnTo>
                <a:cubicBezTo>
                  <a:pt x="1490980" y="0"/>
                  <a:pt x="0" y="1490980"/>
                  <a:pt x="0" y="3331210"/>
                </a:cubicBezTo>
                <a:lnTo>
                  <a:pt x="3331210" y="3331210"/>
                </a:lnTo>
                <a:close/>
              </a:path>
            </a:pathLst>
          </a:custGeom>
          <a:solidFill>
            <a:srgbClr val="CDCABB"/>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6" name="Google Shape;416;p17"/>
          <p:cNvGrpSpPr/>
          <p:nvPr/>
        </p:nvGrpSpPr>
        <p:grpSpPr>
          <a:xfrm>
            <a:off x="-1143158" y="8926033"/>
            <a:ext cx="2573650" cy="2573650"/>
            <a:chOff x="0" y="0"/>
            <a:chExt cx="812800" cy="812800"/>
          </a:xfrm>
        </p:grpSpPr>
        <p:sp>
          <p:nvSpPr>
            <p:cNvPr id="417" name="Google Shape;417;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19" name="Google Shape;419;p17"/>
          <p:cNvSpPr txBox="1"/>
          <p:nvPr/>
        </p:nvSpPr>
        <p:spPr>
          <a:xfrm>
            <a:off x="1103583" y="202668"/>
            <a:ext cx="16564007" cy="279717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8000" u="none" cap="none" strike="noStrike">
                <a:solidFill>
                  <a:srgbClr val="000000"/>
                </a:solidFill>
                <a:latin typeface="Montserrat"/>
                <a:ea typeface="Montserrat"/>
                <a:cs typeface="Montserrat"/>
                <a:sym typeface="Montserrat"/>
              </a:rPr>
              <a:t>Componentes de una Historia de usuario</a:t>
            </a:r>
            <a:endParaRPr/>
          </a:p>
        </p:txBody>
      </p:sp>
      <p:sp>
        <p:nvSpPr>
          <p:cNvPr id="420" name="Google Shape;420;p17"/>
          <p:cNvSpPr txBox="1"/>
          <p:nvPr/>
        </p:nvSpPr>
        <p:spPr>
          <a:xfrm>
            <a:off x="1265715" y="3852833"/>
            <a:ext cx="16401874" cy="6124799"/>
          </a:xfrm>
          <a:prstGeom prst="rect">
            <a:avLst/>
          </a:prstGeom>
          <a:noFill/>
          <a:ln>
            <a:noFill/>
          </a:ln>
        </p:spPr>
        <p:txBody>
          <a:bodyPr anchorCtr="0" anchor="t" bIns="0" lIns="0" spcFirstLastPara="1" rIns="0" wrap="square" tIns="0">
            <a:spAutoFit/>
          </a:bodyPr>
          <a:lstStyle/>
          <a:p>
            <a:pPr indent="-337065" lvl="1" marL="674129" marR="0" rtl="0" algn="l">
              <a:lnSpc>
                <a:spcPct val="140006"/>
              </a:lnSpc>
              <a:spcBef>
                <a:spcPts val="0"/>
              </a:spcBef>
              <a:spcAft>
                <a:spcPts val="0"/>
              </a:spcAft>
              <a:buClr>
                <a:srgbClr val="000000"/>
              </a:buClr>
              <a:buSzPts val="3122"/>
              <a:buFont typeface="Arial"/>
              <a:buChar char="•"/>
            </a:pPr>
            <a:r>
              <a:rPr b="1" i="0" lang="en-US" sz="3122" u="none" cap="none" strike="noStrike">
                <a:solidFill>
                  <a:srgbClr val="000000"/>
                </a:solidFill>
                <a:latin typeface="Poppins"/>
                <a:ea typeface="Poppins"/>
                <a:cs typeface="Poppins"/>
                <a:sym typeface="Poppins"/>
              </a:rPr>
              <a:t>Título:</a:t>
            </a:r>
            <a:r>
              <a:rPr b="0" i="0" lang="en-US" sz="3122" u="none" cap="none" strike="noStrike">
                <a:solidFill>
                  <a:srgbClr val="000000"/>
                </a:solidFill>
                <a:latin typeface="Poppins"/>
                <a:ea typeface="Poppins"/>
                <a:cs typeface="Poppins"/>
                <a:sym typeface="Poppins"/>
              </a:rPr>
              <a:t> Un nombre breve y descriptivo que resume la funcionalidad o la necesidad. </a:t>
            </a:r>
            <a:endParaRPr/>
          </a:p>
          <a:p>
            <a:pPr indent="0" lvl="0" marL="0" marR="0" rtl="0" algn="l">
              <a:lnSpc>
                <a:spcPct val="140006"/>
              </a:lnSpc>
              <a:spcBef>
                <a:spcPts val="0"/>
              </a:spcBef>
              <a:spcAft>
                <a:spcPts val="0"/>
              </a:spcAft>
              <a:buNone/>
            </a:pPr>
            <a:r>
              <a:t/>
            </a:r>
            <a:endParaRPr b="0" i="0" sz="3122" u="none" cap="none" strike="noStrike">
              <a:solidFill>
                <a:srgbClr val="000000"/>
              </a:solidFill>
              <a:latin typeface="Poppins"/>
              <a:ea typeface="Poppins"/>
              <a:cs typeface="Poppins"/>
              <a:sym typeface="Poppins"/>
            </a:endParaRPr>
          </a:p>
          <a:p>
            <a:pPr indent="-337065" lvl="1" marL="674129" marR="0" rtl="0" algn="l">
              <a:lnSpc>
                <a:spcPct val="140006"/>
              </a:lnSpc>
              <a:spcBef>
                <a:spcPts val="0"/>
              </a:spcBef>
              <a:spcAft>
                <a:spcPts val="0"/>
              </a:spcAft>
              <a:buClr>
                <a:srgbClr val="000000"/>
              </a:buClr>
              <a:buSzPts val="3122"/>
              <a:buFont typeface="Arial"/>
              <a:buChar char="•"/>
            </a:pPr>
            <a:r>
              <a:rPr b="1" i="0" lang="en-US" sz="3122" u="none" cap="none" strike="noStrike">
                <a:solidFill>
                  <a:srgbClr val="000000"/>
                </a:solidFill>
                <a:latin typeface="Poppins"/>
                <a:ea typeface="Poppins"/>
                <a:cs typeface="Poppins"/>
                <a:sym typeface="Poppins"/>
              </a:rPr>
              <a:t>Descripción o narrativa:</a:t>
            </a:r>
            <a:r>
              <a:rPr b="0" i="0" lang="en-US" sz="3122" u="none" cap="none" strike="noStrike">
                <a:solidFill>
                  <a:srgbClr val="000000"/>
                </a:solidFill>
                <a:latin typeface="Poppins"/>
                <a:ea typeface="Poppins"/>
                <a:cs typeface="Poppins"/>
                <a:sym typeface="Poppins"/>
              </a:rPr>
              <a:t> Esta es la parte principal de la historia de usuario y se formula generalmente en el siguiente formato: </a:t>
            </a:r>
            <a:r>
              <a:rPr b="0" i="1" lang="en-US" sz="3122" u="none" cap="none" strike="noStrike">
                <a:solidFill>
                  <a:srgbClr val="000000"/>
                </a:solidFill>
                <a:latin typeface="Poppins"/>
                <a:ea typeface="Poppins"/>
                <a:cs typeface="Poppins"/>
                <a:sym typeface="Poppins"/>
              </a:rPr>
              <a:t>Como [tipo de usuario], quiero [acción o funcionalidad] para [beneficio o valor].</a:t>
            </a:r>
            <a:endParaRPr/>
          </a:p>
          <a:p>
            <a:pPr indent="0" lvl="0" marL="0" marR="0" rtl="0" algn="l">
              <a:lnSpc>
                <a:spcPct val="140006"/>
              </a:lnSpc>
              <a:spcBef>
                <a:spcPts val="0"/>
              </a:spcBef>
              <a:spcAft>
                <a:spcPts val="0"/>
              </a:spcAft>
              <a:buNone/>
            </a:pPr>
            <a:r>
              <a:t/>
            </a:r>
            <a:endParaRPr b="0" i="1" sz="3122" u="none" cap="none" strike="noStrike">
              <a:solidFill>
                <a:srgbClr val="000000"/>
              </a:solidFill>
              <a:latin typeface="Poppins"/>
              <a:ea typeface="Poppins"/>
              <a:cs typeface="Poppins"/>
              <a:sym typeface="Poppins"/>
            </a:endParaRPr>
          </a:p>
          <a:p>
            <a:pPr indent="-337065" lvl="1" marL="674129" marR="0" rtl="0" algn="l">
              <a:lnSpc>
                <a:spcPct val="140006"/>
              </a:lnSpc>
              <a:spcBef>
                <a:spcPts val="0"/>
              </a:spcBef>
              <a:spcAft>
                <a:spcPts val="0"/>
              </a:spcAft>
              <a:buClr>
                <a:srgbClr val="000000"/>
              </a:buClr>
              <a:buSzPts val="3122"/>
              <a:buFont typeface="Arial"/>
              <a:buChar char="•"/>
            </a:pPr>
            <a:r>
              <a:rPr b="1" i="0" lang="en-US" sz="3122" u="none" cap="none" strike="noStrike">
                <a:solidFill>
                  <a:srgbClr val="000000"/>
                </a:solidFill>
                <a:latin typeface="Poppins"/>
                <a:ea typeface="Poppins"/>
                <a:cs typeface="Poppins"/>
                <a:sym typeface="Poppins"/>
              </a:rPr>
              <a:t>Criterios de aceptación:</a:t>
            </a:r>
            <a:r>
              <a:rPr b="0" i="0" lang="en-US" sz="3122" u="none" cap="none" strike="noStrike">
                <a:solidFill>
                  <a:srgbClr val="000000"/>
                </a:solidFill>
                <a:latin typeface="Poppins"/>
                <a:ea typeface="Poppins"/>
                <a:cs typeface="Poppins"/>
                <a:sym typeface="Poppins"/>
              </a:rPr>
              <a:t> Son las condiciones que deben cumplirse para que la historia de usuario se considere completa. </a:t>
            </a:r>
            <a:endParaRPr/>
          </a:p>
          <a:p>
            <a:pPr indent="0" lvl="0" marL="0" marR="0" rtl="0" algn="l">
              <a:lnSpc>
                <a:spcPct val="140006"/>
              </a:lnSpc>
              <a:spcBef>
                <a:spcPts val="0"/>
              </a:spcBef>
              <a:spcAft>
                <a:spcPts val="0"/>
              </a:spcAft>
              <a:buNone/>
            </a:pPr>
            <a:r>
              <a:t/>
            </a:r>
            <a:endParaRPr b="0" i="0" sz="3122" u="none" cap="none" strike="noStrike">
              <a:solidFill>
                <a:srgbClr val="000000"/>
              </a:solidFill>
              <a:latin typeface="Poppins"/>
              <a:ea typeface="Poppins"/>
              <a:cs typeface="Poppins"/>
              <a:sym typeface="Poppins"/>
            </a:endParaRPr>
          </a:p>
          <a:p>
            <a:pPr indent="0" lvl="0" marL="0" marR="0" rtl="0" algn="l">
              <a:lnSpc>
                <a:spcPct val="140006"/>
              </a:lnSpc>
              <a:spcBef>
                <a:spcPts val="0"/>
              </a:spcBef>
              <a:spcAft>
                <a:spcPts val="0"/>
              </a:spcAft>
              <a:buNone/>
            </a:pPr>
            <a:r>
              <a:t/>
            </a:r>
            <a:endParaRPr b="0" i="0" sz="3122" u="none" cap="none" strike="noStrike">
              <a:solidFill>
                <a:srgbClr val="000000"/>
              </a:solidFill>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grpSp>
        <p:nvGrpSpPr>
          <p:cNvPr id="425" name="Google Shape;425;p18"/>
          <p:cNvGrpSpPr/>
          <p:nvPr/>
        </p:nvGrpSpPr>
        <p:grpSpPr>
          <a:xfrm>
            <a:off x="-2791896" y="-6825767"/>
            <a:ext cx="12177482" cy="12177482"/>
            <a:chOff x="0" y="0"/>
            <a:chExt cx="812800" cy="812800"/>
          </a:xfrm>
        </p:grpSpPr>
        <p:sp>
          <p:nvSpPr>
            <p:cNvPr id="426" name="Google Shape;426;p1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F3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28" name="Google Shape;428;p18"/>
          <p:cNvSpPr/>
          <p:nvPr/>
        </p:nvSpPr>
        <p:spPr>
          <a:xfrm rot="5280122">
            <a:off x="10007290" y="155490"/>
            <a:ext cx="11605211" cy="11039457"/>
          </a:xfrm>
          <a:custGeom>
            <a:rect b="b" l="l" r="r" t="t"/>
            <a:pathLst>
              <a:path extrusionOk="0" h="11039457" w="11605211">
                <a:moveTo>
                  <a:pt x="0" y="0"/>
                </a:moveTo>
                <a:lnTo>
                  <a:pt x="11605211" y="0"/>
                </a:lnTo>
                <a:lnTo>
                  <a:pt x="11605211" y="11039457"/>
                </a:lnTo>
                <a:lnTo>
                  <a:pt x="0" y="11039457"/>
                </a:lnTo>
                <a:lnTo>
                  <a:pt x="0" y="0"/>
                </a:lnTo>
                <a:close/>
              </a:path>
            </a:pathLst>
          </a:custGeom>
          <a:blipFill rotWithShape="1">
            <a:blip r:embed="rId3">
              <a:alphaModFix amt="6999"/>
            </a:blip>
            <a:stretch>
              <a:fillRect b="0" l="0" r="0" t="0"/>
            </a:stretch>
          </a:blipFill>
          <a:ln>
            <a:noFill/>
          </a:ln>
        </p:spPr>
      </p:sp>
      <p:sp>
        <p:nvSpPr>
          <p:cNvPr id="429" name="Google Shape;429;p18"/>
          <p:cNvSpPr/>
          <p:nvPr/>
        </p:nvSpPr>
        <p:spPr>
          <a:xfrm flipH="1" rot="10679818">
            <a:off x="8860952" y="-4456951"/>
            <a:ext cx="9643088" cy="9643088"/>
          </a:xfrm>
          <a:custGeom>
            <a:rect b="b" l="l" r="r" t="t"/>
            <a:pathLst>
              <a:path extrusionOk="0" h="3331210" w="3331210">
                <a:moveTo>
                  <a:pt x="3331210" y="3331210"/>
                </a:moveTo>
                <a:lnTo>
                  <a:pt x="3331210" y="0"/>
                </a:lnTo>
                <a:cubicBezTo>
                  <a:pt x="1490980" y="0"/>
                  <a:pt x="0" y="1490980"/>
                  <a:pt x="0" y="3331210"/>
                </a:cubicBezTo>
                <a:lnTo>
                  <a:pt x="3331210" y="3331210"/>
                </a:lnTo>
                <a:close/>
              </a:path>
            </a:pathLst>
          </a:custGeom>
          <a:solidFill>
            <a:srgbClr val="CDCABB"/>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0" name="Google Shape;430;p18"/>
          <p:cNvGrpSpPr/>
          <p:nvPr/>
        </p:nvGrpSpPr>
        <p:grpSpPr>
          <a:xfrm>
            <a:off x="-1143158" y="8926033"/>
            <a:ext cx="2573650" cy="2573650"/>
            <a:chOff x="0" y="0"/>
            <a:chExt cx="812800" cy="812800"/>
          </a:xfrm>
        </p:grpSpPr>
        <p:sp>
          <p:nvSpPr>
            <p:cNvPr id="431" name="Google Shape;431;p1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33" name="Google Shape;433;p18"/>
          <p:cNvSpPr txBox="1"/>
          <p:nvPr/>
        </p:nvSpPr>
        <p:spPr>
          <a:xfrm>
            <a:off x="1103583" y="202668"/>
            <a:ext cx="16564007" cy="279717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8000" u="none" cap="none" strike="noStrike">
                <a:solidFill>
                  <a:srgbClr val="000000"/>
                </a:solidFill>
                <a:latin typeface="Montserrat"/>
                <a:ea typeface="Montserrat"/>
                <a:cs typeface="Montserrat"/>
                <a:sym typeface="Montserrat"/>
              </a:rPr>
              <a:t>Componentes de una Historia de usuario</a:t>
            </a:r>
            <a:endParaRPr/>
          </a:p>
        </p:txBody>
      </p:sp>
      <p:sp>
        <p:nvSpPr>
          <p:cNvPr id="434" name="Google Shape;434;p18"/>
          <p:cNvSpPr txBox="1"/>
          <p:nvPr/>
        </p:nvSpPr>
        <p:spPr>
          <a:xfrm>
            <a:off x="1265715" y="4239736"/>
            <a:ext cx="16401874" cy="5009263"/>
          </a:xfrm>
          <a:prstGeom prst="rect">
            <a:avLst/>
          </a:prstGeom>
          <a:noFill/>
          <a:ln>
            <a:noFill/>
          </a:ln>
        </p:spPr>
        <p:txBody>
          <a:bodyPr anchorCtr="0" anchor="t" bIns="0" lIns="0" spcFirstLastPara="1" rIns="0" wrap="square" tIns="0">
            <a:spAutoFit/>
          </a:bodyPr>
          <a:lstStyle/>
          <a:p>
            <a:pPr indent="-337065" lvl="1" marL="674129" marR="0" rtl="0" algn="l">
              <a:lnSpc>
                <a:spcPct val="140006"/>
              </a:lnSpc>
              <a:spcBef>
                <a:spcPts val="0"/>
              </a:spcBef>
              <a:spcAft>
                <a:spcPts val="0"/>
              </a:spcAft>
              <a:buClr>
                <a:srgbClr val="000000"/>
              </a:buClr>
              <a:buSzPts val="3122"/>
              <a:buFont typeface="Arial"/>
              <a:buChar char="•"/>
            </a:pPr>
            <a:r>
              <a:rPr b="1" i="0" lang="en-US" sz="3122" u="none" cap="none" strike="noStrike">
                <a:solidFill>
                  <a:srgbClr val="000000"/>
                </a:solidFill>
                <a:latin typeface="Poppins"/>
                <a:ea typeface="Poppins"/>
                <a:cs typeface="Poppins"/>
                <a:sym typeface="Poppins"/>
              </a:rPr>
              <a:t>Tamaño o estimación: </a:t>
            </a:r>
            <a:r>
              <a:rPr b="0" i="0" lang="en-US" sz="3122" u="none" cap="none" strike="noStrike">
                <a:solidFill>
                  <a:srgbClr val="000000"/>
                </a:solidFill>
                <a:latin typeface="Poppins"/>
                <a:ea typeface="Poppins"/>
                <a:cs typeface="Poppins"/>
                <a:sym typeface="Poppins"/>
              </a:rPr>
              <a:t>A veces se incluye una estimación del esfuerzo necesario para completar la historia, utilizando puntos de historia, horas, o cualquier otro método de estimación.</a:t>
            </a:r>
            <a:endParaRPr/>
          </a:p>
          <a:p>
            <a:pPr indent="0" lvl="0" marL="0" marR="0" rtl="0" algn="l">
              <a:lnSpc>
                <a:spcPct val="140006"/>
              </a:lnSpc>
              <a:spcBef>
                <a:spcPts val="0"/>
              </a:spcBef>
              <a:spcAft>
                <a:spcPts val="0"/>
              </a:spcAft>
              <a:buNone/>
            </a:pPr>
            <a:r>
              <a:t/>
            </a:r>
            <a:endParaRPr b="0" i="0" sz="3122" u="none" cap="none" strike="noStrike">
              <a:solidFill>
                <a:srgbClr val="000000"/>
              </a:solidFill>
              <a:latin typeface="Poppins"/>
              <a:ea typeface="Poppins"/>
              <a:cs typeface="Poppins"/>
              <a:sym typeface="Poppins"/>
            </a:endParaRPr>
          </a:p>
          <a:p>
            <a:pPr indent="-337065" lvl="1" marL="674129" marR="0" rtl="0" algn="l">
              <a:lnSpc>
                <a:spcPct val="140006"/>
              </a:lnSpc>
              <a:spcBef>
                <a:spcPts val="0"/>
              </a:spcBef>
              <a:spcAft>
                <a:spcPts val="0"/>
              </a:spcAft>
              <a:buClr>
                <a:srgbClr val="000000"/>
              </a:buClr>
              <a:buSzPts val="3122"/>
              <a:buFont typeface="Arial"/>
              <a:buChar char="•"/>
            </a:pPr>
            <a:r>
              <a:rPr b="1" i="0" lang="en-US" sz="3122" u="none" cap="none" strike="noStrike">
                <a:solidFill>
                  <a:srgbClr val="000000"/>
                </a:solidFill>
                <a:latin typeface="Poppins"/>
                <a:ea typeface="Poppins"/>
                <a:cs typeface="Poppins"/>
                <a:sym typeface="Poppins"/>
              </a:rPr>
              <a:t>Prioridad:</a:t>
            </a:r>
            <a:r>
              <a:rPr b="0" i="0" lang="en-US" sz="3122" u="none" cap="none" strike="noStrike">
                <a:solidFill>
                  <a:srgbClr val="000000"/>
                </a:solidFill>
                <a:latin typeface="Poppins"/>
                <a:ea typeface="Poppins"/>
                <a:cs typeface="Poppins"/>
                <a:sym typeface="Poppins"/>
              </a:rPr>
              <a:t> Indica la importancia o urgencia de la historia dentro del backlog. Esta prioridad es generalmente definida por el Product Owner.</a:t>
            </a:r>
            <a:endParaRPr/>
          </a:p>
          <a:p>
            <a:pPr indent="0" lvl="0" marL="0" marR="0" rtl="0" algn="l">
              <a:lnSpc>
                <a:spcPct val="140006"/>
              </a:lnSpc>
              <a:spcBef>
                <a:spcPts val="0"/>
              </a:spcBef>
              <a:spcAft>
                <a:spcPts val="0"/>
              </a:spcAft>
              <a:buNone/>
            </a:pPr>
            <a:r>
              <a:t/>
            </a:r>
            <a:endParaRPr b="0" i="0" sz="3122" u="none" cap="none" strike="noStrike">
              <a:solidFill>
                <a:srgbClr val="000000"/>
              </a:solidFill>
              <a:latin typeface="Poppins"/>
              <a:ea typeface="Poppins"/>
              <a:cs typeface="Poppins"/>
              <a:sym typeface="Poppins"/>
            </a:endParaRPr>
          </a:p>
          <a:p>
            <a:pPr indent="0" lvl="0" marL="0" marR="0" rtl="0" algn="l">
              <a:lnSpc>
                <a:spcPct val="140006"/>
              </a:lnSpc>
              <a:spcBef>
                <a:spcPts val="0"/>
              </a:spcBef>
              <a:spcAft>
                <a:spcPts val="0"/>
              </a:spcAft>
              <a:buNone/>
            </a:pPr>
            <a:r>
              <a:t/>
            </a:r>
            <a:endParaRPr b="0" i="0" sz="3122" u="none" cap="none" strike="noStrike">
              <a:solidFill>
                <a:srgbClr val="000000"/>
              </a:solidFill>
              <a:latin typeface="Poppins"/>
              <a:ea typeface="Poppins"/>
              <a:cs typeface="Poppins"/>
              <a:sym typeface="Poppins"/>
            </a:endParaRPr>
          </a:p>
          <a:p>
            <a:pPr indent="0" lvl="0" marL="0" marR="0" rtl="0" algn="l">
              <a:lnSpc>
                <a:spcPct val="140006"/>
              </a:lnSpc>
              <a:spcBef>
                <a:spcPts val="0"/>
              </a:spcBef>
              <a:spcAft>
                <a:spcPts val="0"/>
              </a:spcAft>
              <a:buNone/>
            </a:pPr>
            <a:r>
              <a:t/>
            </a:r>
            <a:endParaRPr b="0" i="0" sz="3122" u="none" cap="none" strike="noStrike">
              <a:solidFill>
                <a:srgbClr val="000000"/>
              </a:solidFill>
              <a:latin typeface="Poppins"/>
              <a:ea typeface="Poppins"/>
              <a:cs typeface="Poppins"/>
              <a:sym typeface="Poppi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grpSp>
        <p:nvGrpSpPr>
          <p:cNvPr id="439" name="Google Shape;439;p19"/>
          <p:cNvGrpSpPr/>
          <p:nvPr/>
        </p:nvGrpSpPr>
        <p:grpSpPr>
          <a:xfrm>
            <a:off x="-2791896" y="-6825767"/>
            <a:ext cx="12177482" cy="12177482"/>
            <a:chOff x="0" y="0"/>
            <a:chExt cx="812800" cy="812800"/>
          </a:xfrm>
        </p:grpSpPr>
        <p:sp>
          <p:nvSpPr>
            <p:cNvPr id="440" name="Google Shape;440;p1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F3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42" name="Google Shape;442;p19"/>
          <p:cNvSpPr/>
          <p:nvPr/>
        </p:nvSpPr>
        <p:spPr>
          <a:xfrm rot="5280122">
            <a:off x="10007290" y="155490"/>
            <a:ext cx="11605211" cy="11039457"/>
          </a:xfrm>
          <a:custGeom>
            <a:rect b="b" l="l" r="r" t="t"/>
            <a:pathLst>
              <a:path extrusionOk="0" h="11039457" w="11605211">
                <a:moveTo>
                  <a:pt x="0" y="0"/>
                </a:moveTo>
                <a:lnTo>
                  <a:pt x="11605211" y="0"/>
                </a:lnTo>
                <a:lnTo>
                  <a:pt x="11605211" y="11039457"/>
                </a:lnTo>
                <a:lnTo>
                  <a:pt x="0" y="11039457"/>
                </a:lnTo>
                <a:lnTo>
                  <a:pt x="0" y="0"/>
                </a:lnTo>
                <a:close/>
              </a:path>
            </a:pathLst>
          </a:custGeom>
          <a:blipFill rotWithShape="1">
            <a:blip r:embed="rId3">
              <a:alphaModFix amt="6999"/>
            </a:blip>
            <a:stretch>
              <a:fillRect b="0" l="0" r="0" t="0"/>
            </a:stretch>
          </a:blipFill>
          <a:ln>
            <a:noFill/>
          </a:ln>
        </p:spPr>
      </p:sp>
      <p:sp>
        <p:nvSpPr>
          <p:cNvPr id="443" name="Google Shape;443;p19"/>
          <p:cNvSpPr/>
          <p:nvPr/>
        </p:nvSpPr>
        <p:spPr>
          <a:xfrm flipH="1" rot="10679818">
            <a:off x="8860952" y="-4456951"/>
            <a:ext cx="9643088" cy="9643088"/>
          </a:xfrm>
          <a:custGeom>
            <a:rect b="b" l="l" r="r" t="t"/>
            <a:pathLst>
              <a:path extrusionOk="0" h="3331210" w="3331210">
                <a:moveTo>
                  <a:pt x="3331210" y="3331210"/>
                </a:moveTo>
                <a:lnTo>
                  <a:pt x="3331210" y="0"/>
                </a:lnTo>
                <a:cubicBezTo>
                  <a:pt x="1490980" y="0"/>
                  <a:pt x="0" y="1490980"/>
                  <a:pt x="0" y="3331210"/>
                </a:cubicBezTo>
                <a:lnTo>
                  <a:pt x="3331210" y="3331210"/>
                </a:lnTo>
                <a:close/>
              </a:path>
            </a:pathLst>
          </a:custGeom>
          <a:solidFill>
            <a:srgbClr val="CDCABB"/>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4" name="Google Shape;444;p19"/>
          <p:cNvGrpSpPr/>
          <p:nvPr/>
        </p:nvGrpSpPr>
        <p:grpSpPr>
          <a:xfrm>
            <a:off x="-1143158" y="8926033"/>
            <a:ext cx="2573650" cy="2573650"/>
            <a:chOff x="0" y="0"/>
            <a:chExt cx="812800" cy="812800"/>
          </a:xfrm>
        </p:grpSpPr>
        <p:sp>
          <p:nvSpPr>
            <p:cNvPr id="445" name="Google Shape;445;p1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47" name="Google Shape;447;p19"/>
          <p:cNvSpPr/>
          <p:nvPr/>
        </p:nvSpPr>
        <p:spPr>
          <a:xfrm>
            <a:off x="2755461" y="364593"/>
            <a:ext cx="13260249" cy="9690182"/>
          </a:xfrm>
          <a:custGeom>
            <a:rect b="b" l="l" r="r" t="t"/>
            <a:pathLst>
              <a:path extrusionOk="0" h="9690182" w="13260249">
                <a:moveTo>
                  <a:pt x="0" y="0"/>
                </a:moveTo>
                <a:lnTo>
                  <a:pt x="13260250" y="0"/>
                </a:lnTo>
                <a:lnTo>
                  <a:pt x="13260250" y="9690182"/>
                </a:lnTo>
                <a:lnTo>
                  <a:pt x="0" y="9690182"/>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451" name="Shape 451"/>
        <p:cNvGrpSpPr/>
        <p:nvPr/>
      </p:nvGrpSpPr>
      <p:grpSpPr>
        <a:xfrm>
          <a:off x="0" y="0"/>
          <a:ext cx="0" cy="0"/>
          <a:chOff x="0" y="0"/>
          <a:chExt cx="0" cy="0"/>
        </a:xfrm>
      </p:grpSpPr>
      <p:grpSp>
        <p:nvGrpSpPr>
          <p:cNvPr id="452" name="Google Shape;452;p21"/>
          <p:cNvGrpSpPr/>
          <p:nvPr/>
        </p:nvGrpSpPr>
        <p:grpSpPr>
          <a:xfrm>
            <a:off x="-6385468" y="-549114"/>
            <a:ext cx="9807414" cy="9807414"/>
            <a:chOff x="0" y="0"/>
            <a:chExt cx="812800" cy="812800"/>
          </a:xfrm>
        </p:grpSpPr>
        <p:sp>
          <p:nvSpPr>
            <p:cNvPr id="453" name="Google Shape;453;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54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55" name="Google Shape;455;p21"/>
          <p:cNvGrpSpPr/>
          <p:nvPr/>
        </p:nvGrpSpPr>
        <p:grpSpPr>
          <a:xfrm>
            <a:off x="15664096" y="-1498702"/>
            <a:ext cx="3978450" cy="3978450"/>
            <a:chOff x="0" y="0"/>
            <a:chExt cx="812800" cy="812800"/>
          </a:xfrm>
        </p:grpSpPr>
        <p:sp>
          <p:nvSpPr>
            <p:cNvPr id="456" name="Google Shape;456;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58" name="Google Shape;458;p21"/>
          <p:cNvGrpSpPr/>
          <p:nvPr/>
        </p:nvGrpSpPr>
        <p:grpSpPr>
          <a:xfrm>
            <a:off x="13983437" y="841157"/>
            <a:ext cx="1147846" cy="1147846"/>
            <a:chOff x="0" y="0"/>
            <a:chExt cx="812800" cy="812800"/>
          </a:xfrm>
        </p:grpSpPr>
        <p:sp>
          <p:nvSpPr>
            <p:cNvPr id="459" name="Google Shape;459;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61" name="Google Shape;461;p21"/>
          <p:cNvSpPr/>
          <p:nvPr/>
        </p:nvSpPr>
        <p:spPr>
          <a:xfrm>
            <a:off x="4526845" y="216961"/>
            <a:ext cx="10030515" cy="9432994"/>
          </a:xfrm>
          <a:custGeom>
            <a:rect b="b" l="l" r="r" t="t"/>
            <a:pathLst>
              <a:path extrusionOk="0" h="9432994" w="10030515">
                <a:moveTo>
                  <a:pt x="0" y="0"/>
                </a:moveTo>
                <a:lnTo>
                  <a:pt x="10030515" y="0"/>
                </a:lnTo>
                <a:lnTo>
                  <a:pt x="10030515" y="9432994"/>
                </a:lnTo>
                <a:lnTo>
                  <a:pt x="0" y="9432994"/>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3989E"/>
        </a:solidFill>
      </p:bgPr>
    </p:bg>
    <p:spTree>
      <p:nvGrpSpPr>
        <p:cNvPr id="465" name="Shape 465"/>
        <p:cNvGrpSpPr/>
        <p:nvPr/>
      </p:nvGrpSpPr>
      <p:grpSpPr>
        <a:xfrm>
          <a:off x="0" y="0"/>
          <a:ext cx="0" cy="0"/>
          <a:chOff x="0" y="0"/>
          <a:chExt cx="0" cy="0"/>
        </a:xfrm>
      </p:grpSpPr>
      <p:grpSp>
        <p:nvGrpSpPr>
          <p:cNvPr id="466" name="Google Shape;466;p22"/>
          <p:cNvGrpSpPr/>
          <p:nvPr/>
        </p:nvGrpSpPr>
        <p:grpSpPr>
          <a:xfrm>
            <a:off x="11301677" y="841157"/>
            <a:ext cx="9807414" cy="9807414"/>
            <a:chOff x="0" y="0"/>
            <a:chExt cx="812800" cy="812800"/>
          </a:xfrm>
        </p:grpSpPr>
        <p:sp>
          <p:nvSpPr>
            <p:cNvPr id="467" name="Google Shape;467;p2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54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69" name="Google Shape;469;p22"/>
          <p:cNvGrpSpPr/>
          <p:nvPr/>
        </p:nvGrpSpPr>
        <p:grpSpPr>
          <a:xfrm>
            <a:off x="15664096" y="-1498702"/>
            <a:ext cx="3978450" cy="3978450"/>
            <a:chOff x="0" y="0"/>
            <a:chExt cx="812800" cy="812800"/>
          </a:xfrm>
        </p:grpSpPr>
        <p:sp>
          <p:nvSpPr>
            <p:cNvPr id="470" name="Google Shape;470;p2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72" name="Google Shape;472;p22"/>
          <p:cNvGrpSpPr/>
          <p:nvPr/>
        </p:nvGrpSpPr>
        <p:grpSpPr>
          <a:xfrm>
            <a:off x="13983437" y="841157"/>
            <a:ext cx="1147846" cy="1147846"/>
            <a:chOff x="0" y="0"/>
            <a:chExt cx="812800" cy="812800"/>
          </a:xfrm>
        </p:grpSpPr>
        <p:sp>
          <p:nvSpPr>
            <p:cNvPr id="473" name="Google Shape;473;p2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75" name="Google Shape;475;p22"/>
          <p:cNvSpPr/>
          <p:nvPr/>
        </p:nvSpPr>
        <p:spPr>
          <a:xfrm>
            <a:off x="13352516" y="3469098"/>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blip>
            <a:stretch>
              <a:fillRect b="0" l="0" r="0" t="0"/>
            </a:stretch>
          </a:blipFill>
          <a:ln>
            <a:noFill/>
          </a:ln>
        </p:spPr>
      </p:sp>
      <p:sp>
        <p:nvSpPr>
          <p:cNvPr id="476" name="Google Shape;476;p22"/>
          <p:cNvSpPr txBox="1"/>
          <p:nvPr/>
        </p:nvSpPr>
        <p:spPr>
          <a:xfrm>
            <a:off x="4483539" y="860207"/>
            <a:ext cx="9320922" cy="1192530"/>
          </a:xfrm>
          <a:prstGeom prst="rect">
            <a:avLst/>
          </a:prstGeom>
          <a:noFill/>
          <a:ln>
            <a:noFill/>
          </a:ln>
        </p:spPr>
        <p:txBody>
          <a:bodyPr anchorCtr="0" anchor="t" bIns="0" lIns="0" spcFirstLastPara="1" rIns="0" wrap="square" tIns="0">
            <a:spAutoFit/>
          </a:bodyPr>
          <a:lstStyle/>
          <a:p>
            <a:pPr indent="0" lvl="0" marL="0" marR="0" rtl="0" algn="l">
              <a:lnSpc>
                <a:spcPct val="116999"/>
              </a:lnSpc>
              <a:spcBef>
                <a:spcPts val="0"/>
              </a:spcBef>
              <a:spcAft>
                <a:spcPts val="0"/>
              </a:spcAft>
              <a:buNone/>
            </a:pPr>
            <a:r>
              <a:rPr b="1" i="0" lang="en-US" sz="8000" u="none" cap="none" strike="noStrike">
                <a:solidFill>
                  <a:srgbClr val="F9F9F9"/>
                </a:solidFill>
                <a:latin typeface="Montserrat"/>
                <a:ea typeface="Montserrat"/>
                <a:cs typeface="Montserrat"/>
                <a:sym typeface="Montserrat"/>
              </a:rPr>
              <a:t>Sprint Backlog</a:t>
            </a:r>
            <a:endParaRPr/>
          </a:p>
        </p:txBody>
      </p:sp>
      <p:sp>
        <p:nvSpPr>
          <p:cNvPr id="477" name="Google Shape;477;p22"/>
          <p:cNvSpPr txBox="1"/>
          <p:nvPr/>
        </p:nvSpPr>
        <p:spPr>
          <a:xfrm>
            <a:off x="1193723" y="3687622"/>
            <a:ext cx="10876971" cy="181864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0" i="0" lang="en-US" sz="3399" u="none" cap="none" strike="noStrike">
                <a:solidFill>
                  <a:srgbClr val="F9F9F9"/>
                </a:solidFill>
                <a:latin typeface="Poppins"/>
                <a:ea typeface="Poppins"/>
                <a:cs typeface="Poppins"/>
                <a:sym typeface="Poppins"/>
              </a:rPr>
              <a:t>Es una lista de historias de usuario y tareas que ayuda a los equipos a centrarse en sus objetivos y priorizar su trabajo de forma eficaz. </a:t>
            </a:r>
            <a:endParaRPr/>
          </a:p>
        </p:txBody>
      </p:sp>
      <p:sp>
        <p:nvSpPr>
          <p:cNvPr id="478" name="Google Shape;478;p22"/>
          <p:cNvSpPr txBox="1"/>
          <p:nvPr/>
        </p:nvSpPr>
        <p:spPr>
          <a:xfrm>
            <a:off x="1193723" y="6622190"/>
            <a:ext cx="10628279" cy="181864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0" i="0" lang="en-US" sz="3399" u="none" cap="none" strike="noStrike">
                <a:solidFill>
                  <a:srgbClr val="F9F9F9"/>
                </a:solidFill>
                <a:latin typeface="Poppins"/>
                <a:ea typeface="Poppins"/>
                <a:cs typeface="Poppins"/>
                <a:sym typeface="Poppins"/>
              </a:rPr>
              <a:t>Los elementos de un sprint backlog proceden del product backlog durante una sesión de planificación del sprint.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grpSp>
        <p:nvGrpSpPr>
          <p:cNvPr id="483" name="Google Shape;483;p23"/>
          <p:cNvGrpSpPr/>
          <p:nvPr/>
        </p:nvGrpSpPr>
        <p:grpSpPr>
          <a:xfrm>
            <a:off x="16395487" y="-293046"/>
            <a:ext cx="6123867" cy="6123867"/>
            <a:chOff x="0" y="0"/>
            <a:chExt cx="812800" cy="812800"/>
          </a:xfrm>
        </p:grpSpPr>
        <p:sp>
          <p:nvSpPr>
            <p:cNvPr id="484" name="Google Shape;484;p2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2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86" name="Google Shape;486;p23"/>
          <p:cNvGrpSpPr/>
          <p:nvPr/>
        </p:nvGrpSpPr>
        <p:grpSpPr>
          <a:xfrm>
            <a:off x="7279939" y="2768888"/>
            <a:ext cx="12177482" cy="12177482"/>
            <a:chOff x="0" y="0"/>
            <a:chExt cx="812800" cy="812800"/>
          </a:xfrm>
        </p:grpSpPr>
        <p:sp>
          <p:nvSpPr>
            <p:cNvPr id="487" name="Google Shape;487;p2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929F">
                <a:alpha val="54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2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89" name="Google Shape;489;p23"/>
          <p:cNvGrpSpPr/>
          <p:nvPr/>
        </p:nvGrpSpPr>
        <p:grpSpPr>
          <a:xfrm>
            <a:off x="15944148" y="-1827026"/>
            <a:ext cx="6123867" cy="6123867"/>
            <a:chOff x="0" y="0"/>
            <a:chExt cx="812800" cy="812800"/>
          </a:xfrm>
        </p:grpSpPr>
        <p:sp>
          <p:nvSpPr>
            <p:cNvPr id="490" name="Google Shape;490;p2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92" name="Google Shape;492;p23"/>
          <p:cNvGrpSpPr/>
          <p:nvPr/>
        </p:nvGrpSpPr>
        <p:grpSpPr>
          <a:xfrm>
            <a:off x="-880628" y="9258300"/>
            <a:ext cx="1909328" cy="1909328"/>
            <a:chOff x="0" y="0"/>
            <a:chExt cx="812800" cy="812800"/>
          </a:xfrm>
        </p:grpSpPr>
        <p:sp>
          <p:nvSpPr>
            <p:cNvPr id="493" name="Google Shape;493;p2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2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95" name="Google Shape;495;p23"/>
          <p:cNvGrpSpPr/>
          <p:nvPr/>
        </p:nvGrpSpPr>
        <p:grpSpPr>
          <a:xfrm>
            <a:off x="785624" y="2029226"/>
            <a:ext cx="8134553" cy="7458529"/>
            <a:chOff x="0" y="-38100"/>
            <a:chExt cx="2142434" cy="1964386"/>
          </a:xfrm>
        </p:grpSpPr>
        <p:sp>
          <p:nvSpPr>
            <p:cNvPr id="496" name="Google Shape;496;p23"/>
            <p:cNvSpPr/>
            <p:nvPr/>
          </p:nvSpPr>
          <p:spPr>
            <a:xfrm>
              <a:off x="0" y="0"/>
              <a:ext cx="2142434" cy="1926286"/>
            </a:xfrm>
            <a:custGeom>
              <a:rect b="b" l="l" r="r" t="t"/>
              <a:pathLst>
                <a:path extrusionOk="0" h="1926286" w="2142434">
                  <a:moveTo>
                    <a:pt x="48538" y="0"/>
                  </a:moveTo>
                  <a:lnTo>
                    <a:pt x="2093895" y="0"/>
                  </a:lnTo>
                  <a:cubicBezTo>
                    <a:pt x="2106768" y="0"/>
                    <a:pt x="2119114" y="5114"/>
                    <a:pt x="2128217" y="14217"/>
                  </a:cubicBezTo>
                  <a:cubicBezTo>
                    <a:pt x="2137320" y="23319"/>
                    <a:pt x="2142434" y="35665"/>
                    <a:pt x="2142434" y="48538"/>
                  </a:cubicBezTo>
                  <a:lnTo>
                    <a:pt x="2142434" y="1877748"/>
                  </a:lnTo>
                  <a:cubicBezTo>
                    <a:pt x="2142434" y="1890621"/>
                    <a:pt x="2137320" y="1902967"/>
                    <a:pt x="2128217" y="1912070"/>
                  </a:cubicBezTo>
                  <a:cubicBezTo>
                    <a:pt x="2119114" y="1921172"/>
                    <a:pt x="2106768" y="1926286"/>
                    <a:pt x="2093895" y="1926286"/>
                  </a:cubicBezTo>
                  <a:lnTo>
                    <a:pt x="48538" y="1926286"/>
                  </a:lnTo>
                  <a:cubicBezTo>
                    <a:pt x="35665" y="1926286"/>
                    <a:pt x="23319" y="1921172"/>
                    <a:pt x="14217" y="1912070"/>
                  </a:cubicBezTo>
                  <a:cubicBezTo>
                    <a:pt x="5114" y="1902967"/>
                    <a:pt x="0" y="1890621"/>
                    <a:pt x="0" y="1877748"/>
                  </a:cubicBezTo>
                  <a:lnTo>
                    <a:pt x="0" y="48538"/>
                  </a:lnTo>
                  <a:cubicBezTo>
                    <a:pt x="0" y="35665"/>
                    <a:pt x="5114" y="23319"/>
                    <a:pt x="14217" y="14217"/>
                  </a:cubicBezTo>
                  <a:cubicBezTo>
                    <a:pt x="23319" y="5114"/>
                    <a:pt x="35665" y="0"/>
                    <a:pt x="48538" y="0"/>
                  </a:cubicBezTo>
                  <a:close/>
                </a:path>
              </a:pathLst>
            </a:custGeom>
            <a:solidFill>
              <a:srgbClr val="1447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23"/>
            <p:cNvSpPr txBox="1"/>
            <p:nvPr/>
          </p:nvSpPr>
          <p:spPr>
            <a:xfrm>
              <a:off x="0" y="-38100"/>
              <a:ext cx="2142434" cy="196438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98" name="Google Shape;498;p23"/>
          <p:cNvGrpSpPr/>
          <p:nvPr/>
        </p:nvGrpSpPr>
        <p:grpSpPr>
          <a:xfrm>
            <a:off x="9301403" y="2029226"/>
            <a:ext cx="8134553" cy="7458529"/>
            <a:chOff x="0" y="-38100"/>
            <a:chExt cx="2142434" cy="1964386"/>
          </a:xfrm>
        </p:grpSpPr>
        <p:sp>
          <p:nvSpPr>
            <p:cNvPr id="499" name="Google Shape;499;p23"/>
            <p:cNvSpPr/>
            <p:nvPr/>
          </p:nvSpPr>
          <p:spPr>
            <a:xfrm>
              <a:off x="0" y="0"/>
              <a:ext cx="2142434" cy="1926286"/>
            </a:xfrm>
            <a:custGeom>
              <a:rect b="b" l="l" r="r" t="t"/>
              <a:pathLst>
                <a:path extrusionOk="0" h="1926286" w="2142434">
                  <a:moveTo>
                    <a:pt x="48538" y="0"/>
                  </a:moveTo>
                  <a:lnTo>
                    <a:pt x="2093895" y="0"/>
                  </a:lnTo>
                  <a:cubicBezTo>
                    <a:pt x="2106768" y="0"/>
                    <a:pt x="2119114" y="5114"/>
                    <a:pt x="2128217" y="14217"/>
                  </a:cubicBezTo>
                  <a:cubicBezTo>
                    <a:pt x="2137320" y="23319"/>
                    <a:pt x="2142434" y="35665"/>
                    <a:pt x="2142434" y="48538"/>
                  </a:cubicBezTo>
                  <a:lnTo>
                    <a:pt x="2142434" y="1877748"/>
                  </a:lnTo>
                  <a:cubicBezTo>
                    <a:pt x="2142434" y="1890621"/>
                    <a:pt x="2137320" y="1902967"/>
                    <a:pt x="2128217" y="1912070"/>
                  </a:cubicBezTo>
                  <a:cubicBezTo>
                    <a:pt x="2119114" y="1921172"/>
                    <a:pt x="2106768" y="1926286"/>
                    <a:pt x="2093895" y="1926286"/>
                  </a:cubicBezTo>
                  <a:lnTo>
                    <a:pt x="48538" y="1926286"/>
                  </a:lnTo>
                  <a:cubicBezTo>
                    <a:pt x="35665" y="1926286"/>
                    <a:pt x="23319" y="1921172"/>
                    <a:pt x="14217" y="1912070"/>
                  </a:cubicBezTo>
                  <a:cubicBezTo>
                    <a:pt x="5114" y="1902967"/>
                    <a:pt x="0" y="1890621"/>
                    <a:pt x="0" y="1877748"/>
                  </a:cubicBezTo>
                  <a:lnTo>
                    <a:pt x="0" y="48538"/>
                  </a:lnTo>
                  <a:cubicBezTo>
                    <a:pt x="0" y="35665"/>
                    <a:pt x="5114" y="23319"/>
                    <a:pt x="14217" y="14217"/>
                  </a:cubicBezTo>
                  <a:cubicBezTo>
                    <a:pt x="23319" y="5114"/>
                    <a:pt x="35665" y="0"/>
                    <a:pt x="48538" y="0"/>
                  </a:cubicBezTo>
                  <a:close/>
                </a:path>
              </a:pathLst>
            </a:custGeom>
            <a:solidFill>
              <a:srgbClr val="B4450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3"/>
            <p:cNvSpPr txBox="1"/>
            <p:nvPr/>
          </p:nvSpPr>
          <p:spPr>
            <a:xfrm>
              <a:off x="0" y="-38100"/>
              <a:ext cx="2142434" cy="196438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01" name="Google Shape;501;p23"/>
          <p:cNvGrpSpPr/>
          <p:nvPr/>
        </p:nvGrpSpPr>
        <p:grpSpPr>
          <a:xfrm>
            <a:off x="8546560" y="637467"/>
            <a:ext cx="1194881" cy="1206317"/>
            <a:chOff x="0" y="0"/>
            <a:chExt cx="812800" cy="820579"/>
          </a:xfrm>
        </p:grpSpPr>
        <p:sp>
          <p:nvSpPr>
            <p:cNvPr id="502" name="Google Shape;502;p23"/>
            <p:cNvSpPr/>
            <p:nvPr/>
          </p:nvSpPr>
          <p:spPr>
            <a:xfrm>
              <a:off x="0" y="0"/>
              <a:ext cx="812800" cy="820579"/>
            </a:xfrm>
            <a:custGeom>
              <a:rect b="b" l="l" r="r" t="t"/>
              <a:pathLst>
                <a:path extrusionOk="0" h="820579" w="812800">
                  <a:moveTo>
                    <a:pt x="406400" y="0"/>
                  </a:moveTo>
                  <a:cubicBezTo>
                    <a:pt x="181951" y="0"/>
                    <a:pt x="0" y="183693"/>
                    <a:pt x="0" y="410290"/>
                  </a:cubicBezTo>
                  <a:cubicBezTo>
                    <a:pt x="0" y="636886"/>
                    <a:pt x="181951" y="820579"/>
                    <a:pt x="406400" y="820579"/>
                  </a:cubicBezTo>
                  <a:cubicBezTo>
                    <a:pt x="630849" y="820579"/>
                    <a:pt x="812800" y="636886"/>
                    <a:pt x="812800" y="410290"/>
                  </a:cubicBezTo>
                  <a:cubicBezTo>
                    <a:pt x="812800" y="183693"/>
                    <a:pt x="630849" y="0"/>
                    <a:pt x="406400" y="0"/>
                  </a:cubicBezTo>
                  <a:close/>
                </a:path>
              </a:pathLst>
            </a:custGeom>
            <a:solidFill>
              <a:srgbClr val="FFFFFF"/>
            </a:solidFill>
            <a:ln cap="sq" cmpd="sng" w="38100">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23"/>
            <p:cNvSpPr txBox="1"/>
            <p:nvPr/>
          </p:nvSpPr>
          <p:spPr>
            <a:xfrm>
              <a:off x="76200" y="729"/>
              <a:ext cx="660400" cy="742921"/>
            </a:xfrm>
            <a:prstGeom prst="rect">
              <a:avLst/>
            </a:prstGeom>
            <a:noFill/>
            <a:ln>
              <a:noFill/>
            </a:ln>
          </p:spPr>
          <p:txBody>
            <a:bodyPr anchorCtr="0" anchor="ctr" bIns="50800" lIns="50800" spcFirstLastPara="1" rIns="50800" wrap="square" tIns="50800">
              <a:noAutofit/>
            </a:bodyPr>
            <a:lstStyle/>
            <a:p>
              <a:pPr indent="0" lvl="0" marL="0" marR="0" rtl="0" algn="ctr">
                <a:lnSpc>
                  <a:spcPct val="140010"/>
                </a:lnSpc>
                <a:spcBef>
                  <a:spcPts val="0"/>
                </a:spcBef>
                <a:spcAft>
                  <a:spcPts val="0"/>
                </a:spcAft>
                <a:buNone/>
              </a:pPr>
              <a:r>
                <a:rPr b="1" i="0" lang="en-US" sz="3999" u="none" cap="none" strike="noStrike">
                  <a:solidFill>
                    <a:srgbClr val="000000"/>
                  </a:solidFill>
                  <a:latin typeface="Open Sans"/>
                  <a:ea typeface="Open Sans"/>
                  <a:cs typeface="Open Sans"/>
                  <a:sym typeface="Open Sans"/>
                </a:rPr>
                <a:t>VS</a:t>
              </a:r>
              <a:endParaRPr/>
            </a:p>
          </p:txBody>
        </p:sp>
      </p:grpSp>
      <p:sp>
        <p:nvSpPr>
          <p:cNvPr id="504" name="Google Shape;504;p23"/>
          <p:cNvSpPr txBox="1"/>
          <p:nvPr/>
        </p:nvSpPr>
        <p:spPr>
          <a:xfrm>
            <a:off x="1530771" y="264862"/>
            <a:ext cx="6599100" cy="1967100"/>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1" i="0" lang="en-US" sz="6000" u="none" cap="none" strike="noStrike">
                <a:solidFill>
                  <a:srgbClr val="144758"/>
                </a:solidFill>
                <a:latin typeface="Montserrat"/>
                <a:ea typeface="Montserrat"/>
                <a:cs typeface="Montserrat"/>
                <a:sym typeface="Montserrat"/>
              </a:rPr>
              <a:t>Product Backlog</a:t>
            </a:r>
            <a:endParaRPr/>
          </a:p>
        </p:txBody>
      </p:sp>
      <p:sp>
        <p:nvSpPr>
          <p:cNvPr id="505" name="Google Shape;505;p23"/>
          <p:cNvSpPr txBox="1"/>
          <p:nvPr/>
        </p:nvSpPr>
        <p:spPr>
          <a:xfrm>
            <a:off x="10158218" y="817712"/>
            <a:ext cx="6002152" cy="872490"/>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1" i="0" lang="en-US" sz="6000" u="none" cap="none" strike="noStrike">
                <a:solidFill>
                  <a:srgbClr val="B4450E"/>
                </a:solidFill>
                <a:latin typeface="Montserrat"/>
                <a:ea typeface="Montserrat"/>
                <a:cs typeface="Montserrat"/>
                <a:sym typeface="Montserrat"/>
              </a:rPr>
              <a:t>Sprint Backlog</a:t>
            </a:r>
            <a:endParaRPr/>
          </a:p>
        </p:txBody>
      </p:sp>
      <p:sp>
        <p:nvSpPr>
          <p:cNvPr id="506" name="Google Shape;506;p23"/>
          <p:cNvSpPr txBox="1"/>
          <p:nvPr/>
        </p:nvSpPr>
        <p:spPr>
          <a:xfrm>
            <a:off x="1414493" y="2721263"/>
            <a:ext cx="6212485" cy="1298575"/>
          </a:xfrm>
          <a:prstGeom prst="rect">
            <a:avLst/>
          </a:prstGeom>
          <a:noFill/>
          <a:ln>
            <a:noFill/>
          </a:ln>
        </p:spPr>
        <p:txBody>
          <a:bodyPr anchorCtr="0" anchor="t" bIns="0" lIns="0" spcFirstLastPara="1" rIns="0" wrap="square" tIns="0">
            <a:spAutoFit/>
          </a:bodyPr>
          <a:lstStyle/>
          <a:p>
            <a:pPr indent="-269874" lvl="1" marL="539749" marR="0" rtl="0" algn="l">
              <a:lnSpc>
                <a:spcPct val="140016"/>
              </a:lnSpc>
              <a:spcBef>
                <a:spcPts val="0"/>
              </a:spcBef>
              <a:spcAft>
                <a:spcPts val="0"/>
              </a:spcAft>
              <a:buClr>
                <a:srgbClr val="FFFFFF"/>
              </a:buClr>
              <a:buSzPts val="2499"/>
              <a:buFont typeface="Arial"/>
              <a:buChar char="•"/>
            </a:pPr>
            <a:r>
              <a:rPr b="0" i="0" lang="en-US" sz="2499" u="none" cap="none" strike="noStrike">
                <a:solidFill>
                  <a:srgbClr val="FFFFFF"/>
                </a:solidFill>
                <a:latin typeface="Open Sans"/>
                <a:ea typeface="Open Sans"/>
                <a:cs typeface="Open Sans"/>
                <a:sym typeface="Open Sans"/>
              </a:rPr>
              <a:t>Cubre todas las funcionalidades y requisitos del producto a lo largo del proyecto.</a:t>
            </a:r>
            <a:endParaRPr/>
          </a:p>
        </p:txBody>
      </p:sp>
      <p:sp>
        <p:nvSpPr>
          <p:cNvPr id="507" name="Google Shape;507;p23"/>
          <p:cNvSpPr txBox="1"/>
          <p:nvPr/>
        </p:nvSpPr>
        <p:spPr>
          <a:xfrm>
            <a:off x="10158218" y="2721263"/>
            <a:ext cx="6212485" cy="1298575"/>
          </a:xfrm>
          <a:prstGeom prst="rect">
            <a:avLst/>
          </a:prstGeom>
          <a:noFill/>
          <a:ln>
            <a:noFill/>
          </a:ln>
        </p:spPr>
        <p:txBody>
          <a:bodyPr anchorCtr="0" anchor="t" bIns="0" lIns="0" spcFirstLastPara="1" rIns="0" wrap="square" tIns="0">
            <a:spAutoFit/>
          </a:bodyPr>
          <a:lstStyle/>
          <a:p>
            <a:pPr indent="-269874" lvl="1" marL="539749" marR="0" rtl="0" algn="just">
              <a:lnSpc>
                <a:spcPct val="140016"/>
              </a:lnSpc>
              <a:spcBef>
                <a:spcPts val="0"/>
              </a:spcBef>
              <a:spcAft>
                <a:spcPts val="0"/>
              </a:spcAft>
              <a:buClr>
                <a:srgbClr val="FFFFFF"/>
              </a:buClr>
              <a:buSzPts val="2499"/>
              <a:buFont typeface="Arial"/>
              <a:buChar char="•"/>
            </a:pPr>
            <a:r>
              <a:rPr b="0" i="0" lang="en-US" sz="2499" u="none" cap="none" strike="noStrike">
                <a:solidFill>
                  <a:srgbClr val="FFFFFF"/>
                </a:solidFill>
                <a:latin typeface="Open Sans"/>
                <a:ea typeface="Open Sans"/>
                <a:cs typeface="Open Sans"/>
                <a:sym typeface="Open Sans"/>
              </a:rPr>
              <a:t>Se centra en el trabajo específico que se realizará durante un Sprint individual.</a:t>
            </a:r>
            <a:endParaRPr/>
          </a:p>
        </p:txBody>
      </p:sp>
      <p:sp>
        <p:nvSpPr>
          <p:cNvPr id="508" name="Google Shape;508;p23"/>
          <p:cNvSpPr txBox="1"/>
          <p:nvPr/>
        </p:nvSpPr>
        <p:spPr>
          <a:xfrm>
            <a:off x="1414493" y="4776338"/>
            <a:ext cx="6212485" cy="1303814"/>
          </a:xfrm>
          <a:prstGeom prst="rect">
            <a:avLst/>
          </a:prstGeom>
          <a:noFill/>
          <a:ln>
            <a:noFill/>
          </a:ln>
        </p:spPr>
        <p:txBody>
          <a:bodyPr anchorCtr="0" anchor="t" bIns="0" lIns="0" spcFirstLastPara="1" rIns="0" wrap="square" tIns="0">
            <a:spAutoFit/>
          </a:bodyPr>
          <a:lstStyle/>
          <a:p>
            <a:pPr indent="-269874" lvl="1" marL="539749" marR="0" rtl="0" algn="just">
              <a:lnSpc>
                <a:spcPct val="140016"/>
              </a:lnSpc>
              <a:spcBef>
                <a:spcPts val="0"/>
              </a:spcBef>
              <a:spcAft>
                <a:spcPts val="0"/>
              </a:spcAft>
              <a:buClr>
                <a:srgbClr val="FFFFFF"/>
              </a:buClr>
              <a:buSzPts val="2499"/>
              <a:buFont typeface="Arial"/>
              <a:buChar char="•"/>
            </a:pPr>
            <a:r>
              <a:rPr b="0" i="0" lang="en-US" sz="2499" u="none" cap="none" strike="noStrike">
                <a:solidFill>
                  <a:srgbClr val="FFFFFF"/>
                </a:solidFill>
                <a:latin typeface="Open Sans"/>
                <a:ea typeface="Open Sans"/>
                <a:cs typeface="Open Sans"/>
                <a:sym typeface="Open Sans"/>
              </a:rPr>
              <a:t>Priorizado por el Product Owner basado en el valor que aporta cada elemento al producto.</a:t>
            </a:r>
            <a:endParaRPr/>
          </a:p>
        </p:txBody>
      </p:sp>
      <p:sp>
        <p:nvSpPr>
          <p:cNvPr id="509" name="Google Shape;509;p23"/>
          <p:cNvSpPr txBox="1"/>
          <p:nvPr/>
        </p:nvSpPr>
        <p:spPr>
          <a:xfrm>
            <a:off x="10158218" y="4776338"/>
            <a:ext cx="6212485" cy="1303814"/>
          </a:xfrm>
          <a:prstGeom prst="rect">
            <a:avLst/>
          </a:prstGeom>
          <a:noFill/>
          <a:ln>
            <a:noFill/>
          </a:ln>
        </p:spPr>
        <p:txBody>
          <a:bodyPr anchorCtr="0" anchor="t" bIns="0" lIns="0" spcFirstLastPara="1" rIns="0" wrap="square" tIns="0">
            <a:spAutoFit/>
          </a:bodyPr>
          <a:lstStyle/>
          <a:p>
            <a:pPr indent="-269874" lvl="1" marL="539749" marR="0" rtl="0" algn="just">
              <a:lnSpc>
                <a:spcPct val="140016"/>
              </a:lnSpc>
              <a:spcBef>
                <a:spcPts val="0"/>
              </a:spcBef>
              <a:spcAft>
                <a:spcPts val="0"/>
              </a:spcAft>
              <a:buClr>
                <a:srgbClr val="FFFFFF"/>
              </a:buClr>
              <a:buSzPts val="2499"/>
              <a:buFont typeface="Arial"/>
              <a:buChar char="•"/>
            </a:pPr>
            <a:r>
              <a:rPr b="0" i="0" lang="en-US" sz="2499" u="none" cap="none" strike="noStrike">
                <a:solidFill>
                  <a:srgbClr val="FFFFFF"/>
                </a:solidFill>
                <a:latin typeface="Open Sans"/>
                <a:ea typeface="Open Sans"/>
                <a:cs typeface="Open Sans"/>
                <a:sym typeface="Open Sans"/>
              </a:rPr>
              <a:t>Son los elementos priorizados por el equipo de desarrollo y el Product Owner para el Sprint actual.</a:t>
            </a:r>
            <a:endParaRPr/>
          </a:p>
        </p:txBody>
      </p:sp>
      <p:sp>
        <p:nvSpPr>
          <p:cNvPr id="510" name="Google Shape;510;p23"/>
          <p:cNvSpPr txBox="1"/>
          <p:nvPr/>
        </p:nvSpPr>
        <p:spPr>
          <a:xfrm>
            <a:off x="1414493" y="6831413"/>
            <a:ext cx="6212485" cy="2185353"/>
          </a:xfrm>
          <a:prstGeom prst="rect">
            <a:avLst/>
          </a:prstGeom>
          <a:noFill/>
          <a:ln>
            <a:noFill/>
          </a:ln>
        </p:spPr>
        <p:txBody>
          <a:bodyPr anchorCtr="0" anchor="t" bIns="0" lIns="0" spcFirstLastPara="1" rIns="0" wrap="square" tIns="0">
            <a:spAutoFit/>
          </a:bodyPr>
          <a:lstStyle/>
          <a:p>
            <a:pPr indent="-269874" lvl="1" marL="539749" marR="0" rtl="0" algn="just">
              <a:lnSpc>
                <a:spcPct val="140016"/>
              </a:lnSpc>
              <a:spcBef>
                <a:spcPts val="0"/>
              </a:spcBef>
              <a:spcAft>
                <a:spcPts val="0"/>
              </a:spcAft>
              <a:buClr>
                <a:srgbClr val="FFFFFF"/>
              </a:buClr>
              <a:buSzPts val="2499"/>
              <a:buFont typeface="Arial"/>
              <a:buChar char="•"/>
            </a:pPr>
            <a:r>
              <a:rPr b="0" i="0" lang="en-US" sz="2499" u="none" cap="none" strike="noStrike">
                <a:solidFill>
                  <a:srgbClr val="FFFFFF"/>
                </a:solidFill>
                <a:latin typeface="Open Sans"/>
                <a:ea typeface="Open Sans"/>
                <a:cs typeface="Open Sans"/>
                <a:sym typeface="Open Sans"/>
              </a:rPr>
              <a:t>Puede ajustarse y actualizarse regularmente en respuesta a nuevos conocimientos o cambios en los requisitos.</a:t>
            </a:r>
            <a:endParaRPr/>
          </a:p>
          <a:p>
            <a:pPr indent="0" lvl="0" marL="0" marR="0" rtl="0" algn="just">
              <a:lnSpc>
                <a:spcPct val="140016"/>
              </a:lnSpc>
              <a:spcBef>
                <a:spcPts val="0"/>
              </a:spcBef>
              <a:spcAft>
                <a:spcPts val="0"/>
              </a:spcAft>
              <a:buNone/>
            </a:pPr>
            <a:r>
              <a:t/>
            </a:r>
            <a:endParaRPr b="0" i="0" sz="2499" u="none" cap="none" strike="noStrike">
              <a:solidFill>
                <a:srgbClr val="FFFFFF"/>
              </a:solidFill>
              <a:latin typeface="Open Sans"/>
              <a:ea typeface="Open Sans"/>
              <a:cs typeface="Open Sans"/>
              <a:sym typeface="Open Sans"/>
            </a:endParaRPr>
          </a:p>
        </p:txBody>
      </p:sp>
      <p:sp>
        <p:nvSpPr>
          <p:cNvPr id="511" name="Google Shape;511;p23"/>
          <p:cNvSpPr txBox="1"/>
          <p:nvPr/>
        </p:nvSpPr>
        <p:spPr>
          <a:xfrm>
            <a:off x="10262437" y="6831413"/>
            <a:ext cx="6212485" cy="1741964"/>
          </a:xfrm>
          <a:prstGeom prst="rect">
            <a:avLst/>
          </a:prstGeom>
          <a:noFill/>
          <a:ln>
            <a:noFill/>
          </a:ln>
        </p:spPr>
        <p:txBody>
          <a:bodyPr anchorCtr="0" anchor="t" bIns="0" lIns="0" spcFirstLastPara="1" rIns="0" wrap="square" tIns="0">
            <a:spAutoFit/>
          </a:bodyPr>
          <a:lstStyle/>
          <a:p>
            <a:pPr indent="-269874" lvl="1" marL="539749" marR="0" rtl="0" algn="just">
              <a:lnSpc>
                <a:spcPct val="140016"/>
              </a:lnSpc>
              <a:spcBef>
                <a:spcPts val="0"/>
              </a:spcBef>
              <a:spcAft>
                <a:spcPts val="0"/>
              </a:spcAft>
              <a:buClr>
                <a:srgbClr val="FFFFFF"/>
              </a:buClr>
              <a:buSzPts val="2499"/>
              <a:buFont typeface="Arial"/>
              <a:buChar char="•"/>
            </a:pPr>
            <a:r>
              <a:rPr b="0" i="0" lang="en-US" sz="2499" u="none" cap="none" strike="noStrike">
                <a:solidFill>
                  <a:srgbClr val="FFFFFF"/>
                </a:solidFill>
                <a:latin typeface="Open Sans"/>
                <a:ea typeface="Open Sans"/>
                <a:cs typeface="Open Sans"/>
                <a:sym typeface="Open Sans"/>
              </a:rPr>
              <a:t>Estático durante el Sprint; los cambios solo se realizan en coordinación con el Product Owner durante el Sprint Planning.</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24"/>
          <p:cNvSpPr/>
          <p:nvPr/>
        </p:nvSpPr>
        <p:spPr>
          <a:xfrm>
            <a:off x="1443496" y="1140338"/>
            <a:ext cx="15401007" cy="8006323"/>
          </a:xfrm>
          <a:custGeom>
            <a:rect b="b" l="l" r="r" t="t"/>
            <a:pathLst>
              <a:path extrusionOk="0" h="8006323" w="15401007">
                <a:moveTo>
                  <a:pt x="0" y="0"/>
                </a:moveTo>
                <a:lnTo>
                  <a:pt x="15401008" y="0"/>
                </a:lnTo>
                <a:lnTo>
                  <a:pt x="15401008" y="8006324"/>
                </a:lnTo>
                <a:lnTo>
                  <a:pt x="0" y="8006324"/>
                </a:lnTo>
                <a:lnTo>
                  <a:pt x="0" y="0"/>
                </a:lnTo>
                <a:close/>
              </a:path>
            </a:pathLst>
          </a:custGeom>
          <a:blipFill rotWithShape="1">
            <a:blip r:embed="rId3">
              <a:alphaModFix/>
            </a:blip>
            <a:stretch>
              <a:fillRect b="-4273" l="-2905" r="-2050" t="-1971"/>
            </a:stretch>
          </a:blipFill>
          <a:ln>
            <a:noFill/>
          </a:ln>
        </p:spPr>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3989E"/>
        </a:solidFill>
      </p:bgPr>
    </p:bg>
    <p:spTree>
      <p:nvGrpSpPr>
        <p:cNvPr id="520" name="Shape 520"/>
        <p:cNvGrpSpPr/>
        <p:nvPr/>
      </p:nvGrpSpPr>
      <p:grpSpPr>
        <a:xfrm>
          <a:off x="0" y="0"/>
          <a:ext cx="0" cy="0"/>
          <a:chOff x="0" y="0"/>
          <a:chExt cx="0" cy="0"/>
        </a:xfrm>
      </p:grpSpPr>
      <p:grpSp>
        <p:nvGrpSpPr>
          <p:cNvPr id="521" name="Google Shape;521;p25"/>
          <p:cNvGrpSpPr/>
          <p:nvPr/>
        </p:nvGrpSpPr>
        <p:grpSpPr>
          <a:xfrm>
            <a:off x="11301677" y="841157"/>
            <a:ext cx="9807414" cy="9807414"/>
            <a:chOff x="0" y="0"/>
            <a:chExt cx="812800" cy="812800"/>
          </a:xfrm>
        </p:grpSpPr>
        <p:sp>
          <p:nvSpPr>
            <p:cNvPr id="522" name="Google Shape;522;p2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54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5"/>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24" name="Google Shape;524;p25"/>
          <p:cNvSpPr txBox="1"/>
          <p:nvPr/>
        </p:nvSpPr>
        <p:spPr>
          <a:xfrm>
            <a:off x="5236438" y="509573"/>
            <a:ext cx="9320922" cy="1192530"/>
          </a:xfrm>
          <a:prstGeom prst="rect">
            <a:avLst/>
          </a:prstGeom>
          <a:noFill/>
          <a:ln>
            <a:noFill/>
          </a:ln>
        </p:spPr>
        <p:txBody>
          <a:bodyPr anchorCtr="0" anchor="t" bIns="0" lIns="0" spcFirstLastPara="1" rIns="0" wrap="square" tIns="0">
            <a:spAutoFit/>
          </a:bodyPr>
          <a:lstStyle/>
          <a:p>
            <a:pPr indent="0" lvl="0" marL="0" marR="0" rtl="0" algn="l">
              <a:lnSpc>
                <a:spcPct val="116999"/>
              </a:lnSpc>
              <a:spcBef>
                <a:spcPts val="0"/>
              </a:spcBef>
              <a:spcAft>
                <a:spcPts val="0"/>
              </a:spcAft>
              <a:buNone/>
            </a:pPr>
            <a:r>
              <a:rPr b="1" i="0" lang="en-US" sz="8000" u="none" cap="none" strike="noStrike">
                <a:solidFill>
                  <a:srgbClr val="F9F9F9"/>
                </a:solidFill>
                <a:latin typeface="Montserrat"/>
                <a:ea typeface="Montserrat"/>
                <a:cs typeface="Montserrat"/>
                <a:sym typeface="Montserrat"/>
              </a:rPr>
              <a:t>Increment</a:t>
            </a:r>
            <a:endParaRPr/>
          </a:p>
        </p:txBody>
      </p:sp>
      <p:grpSp>
        <p:nvGrpSpPr>
          <p:cNvPr id="525" name="Google Shape;525;p25"/>
          <p:cNvGrpSpPr/>
          <p:nvPr/>
        </p:nvGrpSpPr>
        <p:grpSpPr>
          <a:xfrm>
            <a:off x="15664096" y="-1498702"/>
            <a:ext cx="3978450" cy="3978450"/>
            <a:chOff x="0" y="0"/>
            <a:chExt cx="812800" cy="812800"/>
          </a:xfrm>
        </p:grpSpPr>
        <p:sp>
          <p:nvSpPr>
            <p:cNvPr id="526" name="Google Shape;526;p2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5"/>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28" name="Google Shape;528;p25"/>
          <p:cNvGrpSpPr/>
          <p:nvPr/>
        </p:nvGrpSpPr>
        <p:grpSpPr>
          <a:xfrm>
            <a:off x="13983437" y="841157"/>
            <a:ext cx="1147846" cy="1147846"/>
            <a:chOff x="0" y="0"/>
            <a:chExt cx="812800" cy="812800"/>
          </a:xfrm>
        </p:grpSpPr>
        <p:sp>
          <p:nvSpPr>
            <p:cNvPr id="529" name="Google Shape;529;p2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5"/>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31" name="Google Shape;531;p25"/>
          <p:cNvSpPr/>
          <p:nvPr/>
        </p:nvSpPr>
        <p:spPr>
          <a:xfrm>
            <a:off x="13393674" y="3086100"/>
            <a:ext cx="3837051" cy="4114800"/>
          </a:xfrm>
          <a:custGeom>
            <a:rect b="b" l="l" r="r" t="t"/>
            <a:pathLst>
              <a:path extrusionOk="0" h="4114800" w="3837051">
                <a:moveTo>
                  <a:pt x="0" y="0"/>
                </a:moveTo>
                <a:lnTo>
                  <a:pt x="3837051" y="0"/>
                </a:lnTo>
                <a:lnTo>
                  <a:pt x="3837051" y="4114800"/>
                </a:lnTo>
                <a:lnTo>
                  <a:pt x="0" y="4114800"/>
                </a:lnTo>
                <a:lnTo>
                  <a:pt x="0" y="0"/>
                </a:lnTo>
                <a:close/>
              </a:path>
            </a:pathLst>
          </a:custGeom>
          <a:blipFill rotWithShape="1">
            <a:blip r:embed="rId3">
              <a:alphaModFix/>
            </a:blip>
            <a:stretch>
              <a:fillRect b="0" l="0" r="0" t="0"/>
            </a:stretch>
          </a:blipFill>
          <a:ln>
            <a:noFill/>
          </a:ln>
        </p:spPr>
      </p:sp>
      <p:sp>
        <p:nvSpPr>
          <p:cNvPr id="532" name="Google Shape;532;p25"/>
          <p:cNvSpPr txBox="1"/>
          <p:nvPr/>
        </p:nvSpPr>
        <p:spPr>
          <a:xfrm>
            <a:off x="752899" y="3478578"/>
            <a:ext cx="11516492" cy="301879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0" i="0" lang="en-US" sz="3399" u="none" cap="none" strike="noStrike">
                <a:solidFill>
                  <a:srgbClr val="F9F9F9"/>
                </a:solidFill>
                <a:latin typeface="Poppins"/>
                <a:ea typeface="Poppins"/>
                <a:cs typeface="Poppins"/>
                <a:sym typeface="Poppins"/>
              </a:rPr>
              <a:t>Es el conjunto de todas las funcionalidades, mejoras y cambios implementados durante un Sprint específico, integrados y probados para crear una versión del producto que sea potencialmente utilizable y entregable.</a:t>
            </a:r>
            <a:endParaRPr/>
          </a:p>
        </p:txBody>
      </p:sp>
      <p:sp>
        <p:nvSpPr>
          <p:cNvPr id="533" name="Google Shape;533;p25"/>
          <p:cNvSpPr txBox="1"/>
          <p:nvPr/>
        </p:nvSpPr>
        <p:spPr>
          <a:xfrm>
            <a:off x="752899" y="7369686"/>
            <a:ext cx="13804461" cy="1218565"/>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0" i="0" lang="en-US" sz="3399" u="none" cap="none" strike="noStrike">
                <a:solidFill>
                  <a:srgbClr val="F9F9F9"/>
                </a:solidFill>
                <a:latin typeface="Poppins"/>
                <a:ea typeface="Poppins"/>
                <a:cs typeface="Poppins"/>
                <a:sym typeface="Poppins"/>
              </a:rPr>
              <a:t>Cada incremento debe cumplir con los estándares de calidad y funcionalidad definidos por el Product Owner y el cliente.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3989E"/>
        </a:solidFill>
      </p:bgPr>
    </p:bg>
    <p:spTree>
      <p:nvGrpSpPr>
        <p:cNvPr id="537" name="Shape 537"/>
        <p:cNvGrpSpPr/>
        <p:nvPr/>
      </p:nvGrpSpPr>
      <p:grpSpPr>
        <a:xfrm>
          <a:off x="0" y="0"/>
          <a:ext cx="0" cy="0"/>
          <a:chOff x="0" y="0"/>
          <a:chExt cx="0" cy="0"/>
        </a:xfrm>
      </p:grpSpPr>
      <p:grpSp>
        <p:nvGrpSpPr>
          <p:cNvPr id="538" name="Google Shape;538;p26"/>
          <p:cNvGrpSpPr/>
          <p:nvPr/>
        </p:nvGrpSpPr>
        <p:grpSpPr>
          <a:xfrm>
            <a:off x="11301677" y="841157"/>
            <a:ext cx="9807414" cy="9807414"/>
            <a:chOff x="0" y="0"/>
            <a:chExt cx="812800" cy="812800"/>
          </a:xfrm>
        </p:grpSpPr>
        <p:sp>
          <p:nvSpPr>
            <p:cNvPr id="539" name="Google Shape;539;p2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54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41" name="Google Shape;541;p26"/>
          <p:cNvSpPr txBox="1"/>
          <p:nvPr/>
        </p:nvSpPr>
        <p:spPr>
          <a:xfrm>
            <a:off x="5218330" y="4258964"/>
            <a:ext cx="10987054" cy="1485900"/>
          </a:xfrm>
          <a:prstGeom prst="rect">
            <a:avLst/>
          </a:prstGeom>
          <a:noFill/>
          <a:ln>
            <a:noFill/>
          </a:ln>
        </p:spPr>
        <p:txBody>
          <a:bodyPr anchorCtr="0" anchor="t" bIns="0" lIns="0" spcFirstLastPara="1" rIns="0" wrap="square" tIns="0">
            <a:spAutoFit/>
          </a:bodyPr>
          <a:lstStyle/>
          <a:p>
            <a:pPr indent="0" lvl="0" marL="0" marR="0" rtl="0" algn="l">
              <a:lnSpc>
                <a:spcPct val="117001"/>
              </a:lnSpc>
              <a:spcBef>
                <a:spcPts val="0"/>
              </a:spcBef>
              <a:spcAft>
                <a:spcPts val="0"/>
              </a:spcAft>
              <a:buNone/>
            </a:pPr>
            <a:r>
              <a:rPr b="1" i="0" lang="en-US" sz="9999" u="none" cap="none" strike="noStrike">
                <a:solidFill>
                  <a:srgbClr val="F9F9F9"/>
                </a:solidFill>
                <a:latin typeface="Montserrat"/>
                <a:ea typeface="Montserrat"/>
                <a:cs typeface="Montserrat"/>
                <a:sym typeface="Montserrat"/>
              </a:rPr>
              <a:t>Eventos </a:t>
            </a:r>
            <a:endParaRPr/>
          </a:p>
        </p:txBody>
      </p:sp>
      <p:grpSp>
        <p:nvGrpSpPr>
          <p:cNvPr id="542" name="Google Shape;542;p26"/>
          <p:cNvGrpSpPr/>
          <p:nvPr/>
        </p:nvGrpSpPr>
        <p:grpSpPr>
          <a:xfrm>
            <a:off x="-1804968" y="3928747"/>
            <a:ext cx="3978450" cy="3978450"/>
            <a:chOff x="0" y="0"/>
            <a:chExt cx="812800" cy="812800"/>
          </a:xfrm>
        </p:grpSpPr>
        <p:sp>
          <p:nvSpPr>
            <p:cNvPr id="543" name="Google Shape;543;p2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45" name="Google Shape;545;p26"/>
          <p:cNvGrpSpPr/>
          <p:nvPr/>
        </p:nvGrpSpPr>
        <p:grpSpPr>
          <a:xfrm>
            <a:off x="-119146" y="8684377"/>
            <a:ext cx="1147846" cy="1147846"/>
            <a:chOff x="0" y="0"/>
            <a:chExt cx="812800" cy="812800"/>
          </a:xfrm>
        </p:grpSpPr>
        <p:sp>
          <p:nvSpPr>
            <p:cNvPr id="546" name="Google Shape;546;p2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grpSp>
        <p:nvGrpSpPr>
          <p:cNvPr id="552" name="Google Shape;552;p27"/>
          <p:cNvGrpSpPr/>
          <p:nvPr/>
        </p:nvGrpSpPr>
        <p:grpSpPr>
          <a:xfrm>
            <a:off x="9172451" y="908552"/>
            <a:ext cx="12177482" cy="12177482"/>
            <a:chOff x="0" y="0"/>
            <a:chExt cx="812800" cy="812800"/>
          </a:xfrm>
        </p:grpSpPr>
        <p:sp>
          <p:nvSpPr>
            <p:cNvPr id="553" name="Google Shape;553;p2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929F">
                <a:alpha val="54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55" name="Google Shape;555;p27"/>
          <p:cNvSpPr txBox="1"/>
          <p:nvPr/>
        </p:nvSpPr>
        <p:spPr>
          <a:xfrm>
            <a:off x="4818778" y="726131"/>
            <a:ext cx="8519672" cy="1096011"/>
          </a:xfrm>
          <a:prstGeom prst="rect">
            <a:avLst/>
          </a:prstGeom>
          <a:noFill/>
          <a:ln>
            <a:noFill/>
          </a:ln>
        </p:spPr>
        <p:txBody>
          <a:bodyPr anchorCtr="0" anchor="t" bIns="0" lIns="0" spcFirstLastPara="1" rIns="0" wrap="square" tIns="0">
            <a:spAutoFit/>
          </a:bodyPr>
          <a:lstStyle/>
          <a:p>
            <a:pPr indent="0" lvl="0" marL="0" marR="0" rtl="0" algn="ctr">
              <a:lnSpc>
                <a:spcPct val="104000"/>
              </a:lnSpc>
              <a:spcBef>
                <a:spcPts val="0"/>
              </a:spcBef>
              <a:spcAft>
                <a:spcPts val="0"/>
              </a:spcAft>
              <a:buNone/>
            </a:pPr>
            <a:r>
              <a:rPr b="1" i="0" lang="en-US" sz="8000" u="none" cap="none" strike="noStrike">
                <a:solidFill>
                  <a:srgbClr val="000000"/>
                </a:solidFill>
                <a:latin typeface="Montserrat"/>
                <a:ea typeface="Montserrat"/>
                <a:cs typeface="Montserrat"/>
                <a:sym typeface="Montserrat"/>
              </a:rPr>
              <a:t>Sprint</a:t>
            </a:r>
            <a:endParaRPr/>
          </a:p>
        </p:txBody>
      </p:sp>
      <p:sp>
        <p:nvSpPr>
          <p:cNvPr id="556" name="Google Shape;556;p27"/>
          <p:cNvSpPr/>
          <p:nvPr/>
        </p:nvSpPr>
        <p:spPr>
          <a:xfrm flipH="1" rot="4914075">
            <a:off x="-6131755" y="-1086732"/>
            <a:ext cx="9643088" cy="9643088"/>
          </a:xfrm>
          <a:custGeom>
            <a:rect b="b" l="l" r="r" t="t"/>
            <a:pathLst>
              <a:path extrusionOk="0" h="3331210" w="3331210">
                <a:moveTo>
                  <a:pt x="3331210" y="3331210"/>
                </a:moveTo>
                <a:lnTo>
                  <a:pt x="3331210" y="0"/>
                </a:lnTo>
                <a:cubicBezTo>
                  <a:pt x="1490980" y="0"/>
                  <a:pt x="0" y="1490980"/>
                  <a:pt x="0" y="3331210"/>
                </a:cubicBezTo>
                <a:lnTo>
                  <a:pt x="3331210" y="3331210"/>
                </a:lnTo>
                <a:close/>
              </a:path>
            </a:pathLst>
          </a:custGeom>
          <a:solidFill>
            <a:srgbClr val="CDCABB"/>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7" name="Google Shape;557;p27"/>
          <p:cNvGrpSpPr/>
          <p:nvPr/>
        </p:nvGrpSpPr>
        <p:grpSpPr>
          <a:xfrm>
            <a:off x="-565220" y="8026060"/>
            <a:ext cx="734554" cy="734554"/>
            <a:chOff x="0" y="0"/>
            <a:chExt cx="812800" cy="812800"/>
          </a:xfrm>
        </p:grpSpPr>
        <p:sp>
          <p:nvSpPr>
            <p:cNvPr id="558" name="Google Shape;558;p2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2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60" name="Google Shape;560;p27"/>
          <p:cNvSpPr/>
          <p:nvPr/>
        </p:nvSpPr>
        <p:spPr>
          <a:xfrm flipH="1" rot="5400000">
            <a:off x="-5192124" y="-3013072"/>
            <a:ext cx="9643088" cy="9643088"/>
          </a:xfrm>
          <a:custGeom>
            <a:rect b="b" l="l" r="r" t="t"/>
            <a:pathLst>
              <a:path extrusionOk="0" h="3331210" w="3331210">
                <a:moveTo>
                  <a:pt x="3331210" y="3331210"/>
                </a:moveTo>
                <a:lnTo>
                  <a:pt x="3331210" y="0"/>
                </a:lnTo>
                <a:cubicBezTo>
                  <a:pt x="1490980" y="0"/>
                  <a:pt x="0" y="1490980"/>
                  <a:pt x="0" y="3331210"/>
                </a:cubicBezTo>
                <a:lnTo>
                  <a:pt x="3331210" y="3331210"/>
                </a:lnTo>
                <a:close/>
              </a:path>
            </a:pathLst>
          </a:custGeom>
          <a:solidFill>
            <a:srgbClr val="03989E"/>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1" name="Google Shape;561;p27"/>
          <p:cNvGrpSpPr/>
          <p:nvPr/>
        </p:nvGrpSpPr>
        <p:grpSpPr>
          <a:xfrm>
            <a:off x="15226066" y="-3136897"/>
            <a:ext cx="6123867" cy="6123867"/>
            <a:chOff x="0" y="0"/>
            <a:chExt cx="812800" cy="812800"/>
          </a:xfrm>
        </p:grpSpPr>
        <p:sp>
          <p:nvSpPr>
            <p:cNvPr id="562" name="Google Shape;562;p2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2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64" name="Google Shape;564;p27"/>
          <p:cNvGrpSpPr/>
          <p:nvPr/>
        </p:nvGrpSpPr>
        <p:grpSpPr>
          <a:xfrm>
            <a:off x="16324255" y="9258300"/>
            <a:ext cx="1742109" cy="1742109"/>
            <a:chOff x="0" y="0"/>
            <a:chExt cx="812800" cy="812800"/>
          </a:xfrm>
        </p:grpSpPr>
        <p:sp>
          <p:nvSpPr>
            <p:cNvPr id="565" name="Google Shape;565;p2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2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67" name="Google Shape;567;p27"/>
          <p:cNvSpPr txBox="1"/>
          <p:nvPr/>
        </p:nvSpPr>
        <p:spPr>
          <a:xfrm>
            <a:off x="2934569" y="3289099"/>
            <a:ext cx="12990855" cy="181864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0" i="0" lang="en-US" sz="3399" u="none" cap="none" strike="noStrike">
                <a:solidFill>
                  <a:srgbClr val="000000"/>
                </a:solidFill>
                <a:latin typeface="Poppins"/>
                <a:ea typeface="Poppins"/>
                <a:cs typeface="Poppins"/>
                <a:sym typeface="Poppins"/>
              </a:rPr>
              <a:t>Es un período breve de tiempo fijo en el que un equipo de scrum trabaja para completar una cantidad de trabajo establecida.</a:t>
            </a:r>
            <a:endParaRPr/>
          </a:p>
        </p:txBody>
      </p:sp>
      <p:sp>
        <p:nvSpPr>
          <p:cNvPr id="568" name="Google Shape;568;p27"/>
          <p:cNvSpPr txBox="1"/>
          <p:nvPr/>
        </p:nvSpPr>
        <p:spPr>
          <a:xfrm>
            <a:off x="2934569" y="6035586"/>
            <a:ext cx="12990855" cy="181864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0" i="0" lang="en-US" sz="3399" u="none" cap="none" strike="noStrike">
                <a:solidFill>
                  <a:srgbClr val="000000"/>
                </a:solidFill>
                <a:latin typeface="Poppins"/>
                <a:ea typeface="Poppins"/>
                <a:cs typeface="Poppins"/>
                <a:sym typeface="Poppins"/>
              </a:rPr>
              <a:t>Con scrum, un producto se basa en una serie de sprints que dividen proyectos grandes y complejos en porciones minúsculas.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28"/>
          <p:cNvSpPr/>
          <p:nvPr/>
        </p:nvSpPr>
        <p:spPr>
          <a:xfrm rot="5280122">
            <a:off x="9281751" y="92152"/>
            <a:ext cx="11605211" cy="11039457"/>
          </a:xfrm>
          <a:custGeom>
            <a:rect b="b" l="l" r="r" t="t"/>
            <a:pathLst>
              <a:path extrusionOk="0" h="11039457" w="11605211">
                <a:moveTo>
                  <a:pt x="0" y="0"/>
                </a:moveTo>
                <a:lnTo>
                  <a:pt x="11605211" y="0"/>
                </a:lnTo>
                <a:lnTo>
                  <a:pt x="11605211" y="11039457"/>
                </a:lnTo>
                <a:lnTo>
                  <a:pt x="0" y="11039457"/>
                </a:lnTo>
                <a:lnTo>
                  <a:pt x="0" y="0"/>
                </a:lnTo>
                <a:close/>
              </a:path>
            </a:pathLst>
          </a:custGeom>
          <a:blipFill rotWithShape="1">
            <a:blip r:embed="rId3">
              <a:alphaModFix amt="6999"/>
            </a:blip>
            <a:stretch>
              <a:fillRect b="0" l="0" r="0" t="0"/>
            </a:stretch>
          </a:blipFill>
          <a:ln>
            <a:noFill/>
          </a:ln>
        </p:spPr>
      </p:sp>
      <p:grpSp>
        <p:nvGrpSpPr>
          <p:cNvPr id="574" name="Google Shape;574;p28"/>
          <p:cNvGrpSpPr/>
          <p:nvPr/>
        </p:nvGrpSpPr>
        <p:grpSpPr>
          <a:xfrm>
            <a:off x="12361957" y="4198259"/>
            <a:ext cx="12177482" cy="12177482"/>
            <a:chOff x="0" y="0"/>
            <a:chExt cx="812800" cy="812800"/>
          </a:xfrm>
        </p:grpSpPr>
        <p:sp>
          <p:nvSpPr>
            <p:cNvPr id="575" name="Google Shape;575;p2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28"/>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77" name="Google Shape;577;p28"/>
          <p:cNvSpPr txBox="1"/>
          <p:nvPr/>
        </p:nvSpPr>
        <p:spPr>
          <a:xfrm>
            <a:off x="1431426" y="1124000"/>
            <a:ext cx="8559300" cy="1215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7900" u="none" cap="none" strike="noStrike">
                <a:solidFill>
                  <a:srgbClr val="000000"/>
                </a:solidFill>
                <a:latin typeface="Montserrat"/>
                <a:ea typeface="Montserrat"/>
                <a:cs typeface="Montserrat"/>
                <a:sym typeface="Montserrat"/>
              </a:rPr>
              <a:t>Características </a:t>
            </a:r>
            <a:endParaRPr/>
          </a:p>
        </p:txBody>
      </p:sp>
      <p:grpSp>
        <p:nvGrpSpPr>
          <p:cNvPr id="578" name="Google Shape;578;p28"/>
          <p:cNvGrpSpPr/>
          <p:nvPr/>
        </p:nvGrpSpPr>
        <p:grpSpPr>
          <a:xfrm>
            <a:off x="14733054" y="-2477251"/>
            <a:ext cx="3505951" cy="3505951"/>
            <a:chOff x="0" y="0"/>
            <a:chExt cx="812800" cy="812800"/>
          </a:xfrm>
        </p:grpSpPr>
        <p:sp>
          <p:nvSpPr>
            <p:cNvPr id="579" name="Google Shape;579;p2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28"/>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81" name="Google Shape;581;p28"/>
          <p:cNvGrpSpPr/>
          <p:nvPr/>
        </p:nvGrpSpPr>
        <p:grpSpPr>
          <a:xfrm>
            <a:off x="3005483" y="-775744"/>
            <a:ext cx="1551487" cy="1551487"/>
            <a:chOff x="0" y="0"/>
            <a:chExt cx="812800" cy="812800"/>
          </a:xfrm>
        </p:grpSpPr>
        <p:sp>
          <p:nvSpPr>
            <p:cNvPr id="582" name="Google Shape;582;p2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28"/>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84" name="Google Shape;584;p28"/>
          <p:cNvGrpSpPr/>
          <p:nvPr/>
        </p:nvGrpSpPr>
        <p:grpSpPr>
          <a:xfrm>
            <a:off x="-3909957" y="8534677"/>
            <a:ext cx="6437648" cy="6437648"/>
            <a:chOff x="0" y="0"/>
            <a:chExt cx="812800" cy="812800"/>
          </a:xfrm>
        </p:grpSpPr>
        <p:sp>
          <p:nvSpPr>
            <p:cNvPr id="585" name="Google Shape;585;p2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28"/>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87" name="Google Shape;587;p28"/>
          <p:cNvSpPr txBox="1"/>
          <p:nvPr/>
        </p:nvSpPr>
        <p:spPr>
          <a:xfrm>
            <a:off x="3258984" y="2987079"/>
            <a:ext cx="8371679" cy="5547598"/>
          </a:xfrm>
          <a:prstGeom prst="rect">
            <a:avLst/>
          </a:prstGeom>
          <a:noFill/>
          <a:ln>
            <a:noFill/>
          </a:ln>
        </p:spPr>
        <p:txBody>
          <a:bodyPr anchorCtr="0" anchor="t" bIns="0" lIns="0" spcFirstLastPara="1" rIns="0" wrap="square" tIns="0">
            <a:spAutoFit/>
          </a:bodyPr>
          <a:lstStyle/>
          <a:p>
            <a:pPr indent="-370741" lvl="1" marL="741482" marR="0" rtl="0" algn="just">
              <a:lnSpc>
                <a:spcPct val="140011"/>
              </a:lnSpc>
              <a:spcBef>
                <a:spcPts val="0"/>
              </a:spcBef>
              <a:spcAft>
                <a:spcPts val="0"/>
              </a:spcAft>
              <a:buClr>
                <a:srgbClr val="000000"/>
              </a:buClr>
              <a:buSzPts val="3434"/>
              <a:buFont typeface="Arial"/>
              <a:buChar char="•"/>
            </a:pPr>
            <a:r>
              <a:rPr b="0" i="0" lang="en-US" sz="3434" u="none" cap="none" strike="noStrike">
                <a:solidFill>
                  <a:srgbClr val="000000"/>
                </a:solidFill>
                <a:latin typeface="Poppins"/>
                <a:ea typeface="Poppins"/>
                <a:cs typeface="Poppins"/>
                <a:sym typeface="Poppins"/>
              </a:rPr>
              <a:t>Duración fija</a:t>
            </a:r>
            <a:endParaRPr/>
          </a:p>
          <a:p>
            <a:pPr indent="0" lvl="0" marL="0" marR="0" rtl="0" algn="just">
              <a:lnSpc>
                <a:spcPct val="140011"/>
              </a:lnSpc>
              <a:spcBef>
                <a:spcPts val="0"/>
              </a:spcBef>
              <a:spcAft>
                <a:spcPts val="0"/>
              </a:spcAft>
              <a:buNone/>
            </a:pPr>
            <a:r>
              <a:t/>
            </a:r>
            <a:endParaRPr b="0" i="0" sz="3434" u="none" cap="none" strike="noStrike">
              <a:solidFill>
                <a:srgbClr val="000000"/>
              </a:solidFill>
              <a:latin typeface="Poppins"/>
              <a:ea typeface="Poppins"/>
              <a:cs typeface="Poppins"/>
              <a:sym typeface="Poppins"/>
            </a:endParaRPr>
          </a:p>
          <a:p>
            <a:pPr indent="-370741" lvl="1" marL="741482" marR="0" rtl="0" algn="just">
              <a:lnSpc>
                <a:spcPct val="140011"/>
              </a:lnSpc>
              <a:spcBef>
                <a:spcPts val="0"/>
              </a:spcBef>
              <a:spcAft>
                <a:spcPts val="0"/>
              </a:spcAft>
              <a:buClr>
                <a:srgbClr val="000000"/>
              </a:buClr>
              <a:buSzPts val="3434"/>
              <a:buFont typeface="Arial"/>
              <a:buChar char="•"/>
            </a:pPr>
            <a:r>
              <a:rPr b="0" i="0" lang="en-US" sz="3434" u="none" cap="none" strike="noStrike">
                <a:solidFill>
                  <a:srgbClr val="000000"/>
                </a:solidFill>
                <a:latin typeface="Poppins"/>
                <a:ea typeface="Poppins"/>
                <a:cs typeface="Poppins"/>
                <a:sym typeface="Poppins"/>
              </a:rPr>
              <a:t>Objetivo definido</a:t>
            </a:r>
            <a:endParaRPr/>
          </a:p>
          <a:p>
            <a:pPr indent="0" lvl="0" marL="0" marR="0" rtl="0" algn="just">
              <a:lnSpc>
                <a:spcPct val="140011"/>
              </a:lnSpc>
              <a:spcBef>
                <a:spcPts val="0"/>
              </a:spcBef>
              <a:spcAft>
                <a:spcPts val="0"/>
              </a:spcAft>
              <a:buNone/>
            </a:pPr>
            <a:r>
              <a:t/>
            </a:r>
            <a:endParaRPr b="0" i="0" sz="3434" u="none" cap="none" strike="noStrike">
              <a:solidFill>
                <a:srgbClr val="000000"/>
              </a:solidFill>
              <a:latin typeface="Poppins"/>
              <a:ea typeface="Poppins"/>
              <a:cs typeface="Poppins"/>
              <a:sym typeface="Poppins"/>
            </a:endParaRPr>
          </a:p>
          <a:p>
            <a:pPr indent="-370741" lvl="1" marL="741482" marR="0" rtl="0" algn="just">
              <a:lnSpc>
                <a:spcPct val="140011"/>
              </a:lnSpc>
              <a:spcBef>
                <a:spcPts val="0"/>
              </a:spcBef>
              <a:spcAft>
                <a:spcPts val="0"/>
              </a:spcAft>
              <a:buClr>
                <a:srgbClr val="000000"/>
              </a:buClr>
              <a:buSzPts val="3434"/>
              <a:buFont typeface="Arial"/>
              <a:buChar char="•"/>
            </a:pPr>
            <a:r>
              <a:rPr b="0" i="0" lang="en-US" sz="3434" u="none" cap="none" strike="noStrike">
                <a:solidFill>
                  <a:srgbClr val="000000"/>
                </a:solidFill>
                <a:latin typeface="Poppins"/>
                <a:ea typeface="Poppins"/>
                <a:cs typeface="Poppins"/>
                <a:sym typeface="Poppins"/>
              </a:rPr>
              <a:t>Equipo autónomo</a:t>
            </a:r>
            <a:endParaRPr/>
          </a:p>
          <a:p>
            <a:pPr indent="0" lvl="0" marL="0" marR="0" rtl="0" algn="just">
              <a:lnSpc>
                <a:spcPct val="140011"/>
              </a:lnSpc>
              <a:spcBef>
                <a:spcPts val="0"/>
              </a:spcBef>
              <a:spcAft>
                <a:spcPts val="0"/>
              </a:spcAft>
              <a:buNone/>
            </a:pPr>
            <a:r>
              <a:t/>
            </a:r>
            <a:endParaRPr b="0" i="0" sz="3434" u="none" cap="none" strike="noStrike">
              <a:solidFill>
                <a:srgbClr val="000000"/>
              </a:solidFill>
              <a:latin typeface="Poppins"/>
              <a:ea typeface="Poppins"/>
              <a:cs typeface="Poppins"/>
              <a:sym typeface="Poppins"/>
            </a:endParaRPr>
          </a:p>
          <a:p>
            <a:pPr indent="-370741" lvl="1" marL="741482" marR="0" rtl="0" algn="just">
              <a:lnSpc>
                <a:spcPct val="140011"/>
              </a:lnSpc>
              <a:spcBef>
                <a:spcPts val="0"/>
              </a:spcBef>
              <a:spcAft>
                <a:spcPts val="0"/>
              </a:spcAft>
              <a:buClr>
                <a:srgbClr val="000000"/>
              </a:buClr>
              <a:buSzPts val="3434"/>
              <a:buFont typeface="Arial"/>
              <a:buChar char="•"/>
            </a:pPr>
            <a:r>
              <a:rPr b="0" i="0" lang="en-US" sz="3434" u="none" cap="none" strike="noStrike">
                <a:solidFill>
                  <a:srgbClr val="000000"/>
                </a:solidFill>
                <a:latin typeface="Poppins"/>
                <a:ea typeface="Poppins"/>
                <a:cs typeface="Poppins"/>
                <a:sym typeface="Poppins"/>
              </a:rPr>
              <a:t>Potencialmente entregable</a:t>
            </a:r>
            <a:endParaRPr/>
          </a:p>
          <a:p>
            <a:pPr indent="0" lvl="0" marL="0" marR="0" rtl="0" algn="just">
              <a:lnSpc>
                <a:spcPct val="140011"/>
              </a:lnSpc>
              <a:spcBef>
                <a:spcPts val="0"/>
              </a:spcBef>
              <a:spcAft>
                <a:spcPts val="0"/>
              </a:spcAft>
              <a:buNone/>
            </a:pPr>
            <a:r>
              <a:t/>
            </a:r>
            <a:endParaRPr b="0" i="0" sz="3434" u="none" cap="none" strike="noStrike">
              <a:solidFill>
                <a:srgbClr val="000000"/>
              </a:solidFill>
              <a:latin typeface="Poppins"/>
              <a:ea typeface="Poppins"/>
              <a:cs typeface="Poppins"/>
              <a:sym typeface="Poppins"/>
            </a:endParaRPr>
          </a:p>
          <a:p>
            <a:pPr indent="-370741" lvl="1" marL="741482" marR="0" rtl="0" algn="just">
              <a:lnSpc>
                <a:spcPct val="140011"/>
              </a:lnSpc>
              <a:spcBef>
                <a:spcPts val="0"/>
              </a:spcBef>
              <a:spcAft>
                <a:spcPts val="0"/>
              </a:spcAft>
              <a:buClr>
                <a:srgbClr val="000000"/>
              </a:buClr>
              <a:buSzPts val="3434"/>
              <a:buFont typeface="Arial"/>
              <a:buChar char="•"/>
            </a:pPr>
            <a:r>
              <a:rPr b="0" i="0" lang="en-US" sz="3434" u="none" cap="none" strike="noStrike">
                <a:solidFill>
                  <a:srgbClr val="000000"/>
                </a:solidFill>
                <a:latin typeface="Poppins"/>
                <a:ea typeface="Poppins"/>
                <a:cs typeface="Poppins"/>
                <a:sym typeface="Poppins"/>
              </a:rPr>
              <a:t>Iterativo e incremental</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grpSp>
        <p:nvGrpSpPr>
          <p:cNvPr id="592" name="Google Shape;592;p29"/>
          <p:cNvGrpSpPr/>
          <p:nvPr/>
        </p:nvGrpSpPr>
        <p:grpSpPr>
          <a:xfrm>
            <a:off x="17526717" y="2411801"/>
            <a:ext cx="7594601" cy="7594601"/>
            <a:chOff x="0" y="0"/>
            <a:chExt cx="812800" cy="812800"/>
          </a:xfrm>
        </p:grpSpPr>
        <p:sp>
          <p:nvSpPr>
            <p:cNvPr id="593" name="Google Shape;593;p2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F3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2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95" name="Google Shape;595;p29"/>
          <p:cNvSpPr/>
          <p:nvPr/>
        </p:nvSpPr>
        <p:spPr>
          <a:xfrm rot="-5400000">
            <a:off x="15733302" y="7324548"/>
            <a:ext cx="11605211" cy="11039457"/>
          </a:xfrm>
          <a:custGeom>
            <a:rect b="b" l="l" r="r" t="t"/>
            <a:pathLst>
              <a:path extrusionOk="0" h="11039457" w="11605211">
                <a:moveTo>
                  <a:pt x="0" y="0"/>
                </a:moveTo>
                <a:lnTo>
                  <a:pt x="11605211" y="0"/>
                </a:lnTo>
                <a:lnTo>
                  <a:pt x="11605211" y="11039457"/>
                </a:lnTo>
                <a:lnTo>
                  <a:pt x="0" y="11039457"/>
                </a:lnTo>
                <a:lnTo>
                  <a:pt x="0" y="0"/>
                </a:lnTo>
                <a:close/>
              </a:path>
            </a:pathLst>
          </a:custGeom>
          <a:blipFill rotWithShape="1">
            <a:blip r:embed="rId3">
              <a:alphaModFix amt="6999"/>
            </a:blip>
            <a:stretch>
              <a:fillRect b="0" l="0" r="0" t="0"/>
            </a:stretch>
          </a:blipFill>
          <a:ln>
            <a:noFill/>
          </a:ln>
        </p:spPr>
      </p:sp>
      <p:sp>
        <p:nvSpPr>
          <p:cNvPr id="596" name="Google Shape;596;p29"/>
          <p:cNvSpPr txBox="1"/>
          <p:nvPr/>
        </p:nvSpPr>
        <p:spPr>
          <a:xfrm>
            <a:off x="0" y="258763"/>
            <a:ext cx="14342336" cy="137794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8000" u="none" cap="none" strike="noStrike">
                <a:solidFill>
                  <a:srgbClr val="000000"/>
                </a:solidFill>
                <a:latin typeface="Montserrat"/>
                <a:ea typeface="Montserrat"/>
                <a:cs typeface="Montserrat"/>
                <a:sym typeface="Montserrat"/>
              </a:rPr>
              <a:t>¿Qué engloba un Sprint?</a:t>
            </a:r>
            <a:endParaRPr/>
          </a:p>
        </p:txBody>
      </p:sp>
      <p:sp>
        <p:nvSpPr>
          <p:cNvPr id="597" name="Google Shape;597;p29"/>
          <p:cNvSpPr/>
          <p:nvPr/>
        </p:nvSpPr>
        <p:spPr>
          <a:xfrm flipH="1" rot="90672">
            <a:off x="-2707187" y="6761424"/>
            <a:ext cx="5801739" cy="5801739"/>
          </a:xfrm>
          <a:custGeom>
            <a:rect b="b" l="l" r="r" t="t"/>
            <a:pathLst>
              <a:path extrusionOk="0" h="3331210" w="3331210">
                <a:moveTo>
                  <a:pt x="3331210" y="3331210"/>
                </a:moveTo>
                <a:lnTo>
                  <a:pt x="3331210" y="0"/>
                </a:lnTo>
                <a:cubicBezTo>
                  <a:pt x="1490980" y="0"/>
                  <a:pt x="0" y="1490980"/>
                  <a:pt x="0" y="3331210"/>
                </a:cubicBezTo>
                <a:lnTo>
                  <a:pt x="3331210" y="3331210"/>
                </a:lnTo>
                <a:close/>
              </a:path>
            </a:pathLst>
          </a:custGeom>
          <a:solidFill>
            <a:srgbClr val="03989E"/>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8" name="Google Shape;598;p29"/>
          <p:cNvGrpSpPr/>
          <p:nvPr/>
        </p:nvGrpSpPr>
        <p:grpSpPr>
          <a:xfrm>
            <a:off x="606746" y="9441892"/>
            <a:ext cx="4224448" cy="4224448"/>
            <a:chOff x="0" y="0"/>
            <a:chExt cx="812800" cy="812800"/>
          </a:xfrm>
        </p:grpSpPr>
        <p:sp>
          <p:nvSpPr>
            <p:cNvPr id="599" name="Google Shape;599;p2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2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01" name="Google Shape;601;p29"/>
          <p:cNvGrpSpPr/>
          <p:nvPr/>
        </p:nvGrpSpPr>
        <p:grpSpPr>
          <a:xfrm>
            <a:off x="12839828" y="-4770402"/>
            <a:ext cx="5954261" cy="5954261"/>
            <a:chOff x="0" y="0"/>
            <a:chExt cx="812800" cy="812800"/>
          </a:xfrm>
        </p:grpSpPr>
        <p:sp>
          <p:nvSpPr>
            <p:cNvPr id="602" name="Google Shape;602;p2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04" name="Google Shape;604;p29"/>
          <p:cNvGrpSpPr/>
          <p:nvPr/>
        </p:nvGrpSpPr>
        <p:grpSpPr>
          <a:xfrm>
            <a:off x="16637128" y="8526062"/>
            <a:ext cx="2538589" cy="2538589"/>
            <a:chOff x="0" y="0"/>
            <a:chExt cx="812800" cy="812800"/>
          </a:xfrm>
        </p:grpSpPr>
        <p:sp>
          <p:nvSpPr>
            <p:cNvPr id="605" name="Google Shape;605;p2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07" name="Google Shape;607;p29"/>
          <p:cNvSpPr/>
          <p:nvPr/>
        </p:nvSpPr>
        <p:spPr>
          <a:xfrm>
            <a:off x="1832729" y="3065068"/>
            <a:ext cx="15005771" cy="4948468"/>
          </a:xfrm>
          <a:custGeom>
            <a:rect b="b" l="l" r="r" t="t"/>
            <a:pathLst>
              <a:path extrusionOk="0" h="4948468" w="15005771">
                <a:moveTo>
                  <a:pt x="0" y="0"/>
                </a:moveTo>
                <a:lnTo>
                  <a:pt x="15005770" y="0"/>
                </a:lnTo>
                <a:lnTo>
                  <a:pt x="15005770" y="4948468"/>
                </a:lnTo>
                <a:lnTo>
                  <a:pt x="0" y="4948468"/>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grpSp>
        <p:nvGrpSpPr>
          <p:cNvPr id="612" name="Google Shape;612;p30"/>
          <p:cNvGrpSpPr/>
          <p:nvPr/>
        </p:nvGrpSpPr>
        <p:grpSpPr>
          <a:xfrm>
            <a:off x="-4109965" y="-6717007"/>
            <a:ext cx="12177451" cy="12177451"/>
            <a:chOff x="0" y="0"/>
            <a:chExt cx="812800" cy="812800"/>
          </a:xfrm>
        </p:grpSpPr>
        <p:sp>
          <p:nvSpPr>
            <p:cNvPr id="613" name="Google Shape;613;p3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F3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30"/>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15" name="Google Shape;615;p30"/>
          <p:cNvSpPr/>
          <p:nvPr/>
        </p:nvSpPr>
        <p:spPr>
          <a:xfrm rot="5279728">
            <a:off x="8399582" y="-895415"/>
            <a:ext cx="11612317" cy="11046217"/>
          </a:xfrm>
          <a:custGeom>
            <a:rect b="b" l="l" r="r" t="t"/>
            <a:pathLst>
              <a:path extrusionOk="0" h="11039457" w="11605211">
                <a:moveTo>
                  <a:pt x="0" y="0"/>
                </a:moveTo>
                <a:lnTo>
                  <a:pt x="11605211" y="0"/>
                </a:lnTo>
                <a:lnTo>
                  <a:pt x="11605211" y="11039457"/>
                </a:lnTo>
                <a:lnTo>
                  <a:pt x="0" y="11039457"/>
                </a:lnTo>
                <a:lnTo>
                  <a:pt x="0" y="0"/>
                </a:lnTo>
                <a:close/>
              </a:path>
            </a:pathLst>
          </a:custGeom>
          <a:blipFill rotWithShape="1">
            <a:blip r:embed="rId3">
              <a:alphaModFix amt="7000"/>
            </a:blip>
            <a:stretch>
              <a:fillRect b="0" l="0" r="0" t="0"/>
            </a:stretch>
          </a:blipFill>
          <a:ln>
            <a:noFill/>
          </a:ln>
        </p:spPr>
      </p:sp>
      <p:sp>
        <p:nvSpPr>
          <p:cNvPr id="616" name="Google Shape;616;p30"/>
          <p:cNvSpPr/>
          <p:nvPr/>
        </p:nvSpPr>
        <p:spPr>
          <a:xfrm flipH="1" rot="10681197">
            <a:off x="8340730" y="-4661463"/>
            <a:ext cx="9641282" cy="9641282"/>
          </a:xfrm>
          <a:custGeom>
            <a:rect b="b" l="l" r="r" t="t"/>
            <a:pathLst>
              <a:path extrusionOk="0" h="3331210" w="3331210">
                <a:moveTo>
                  <a:pt x="3331210" y="3331210"/>
                </a:moveTo>
                <a:lnTo>
                  <a:pt x="3331210" y="0"/>
                </a:lnTo>
                <a:cubicBezTo>
                  <a:pt x="1490980" y="0"/>
                  <a:pt x="0" y="1490980"/>
                  <a:pt x="0" y="3331210"/>
                </a:cubicBezTo>
                <a:lnTo>
                  <a:pt x="3331210" y="3331210"/>
                </a:lnTo>
                <a:close/>
              </a:path>
            </a:pathLst>
          </a:custGeom>
          <a:solidFill>
            <a:srgbClr val="CDCABB"/>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30"/>
          <p:cNvSpPr txBox="1"/>
          <p:nvPr/>
        </p:nvSpPr>
        <p:spPr>
          <a:xfrm>
            <a:off x="4274418" y="1102758"/>
            <a:ext cx="9739200" cy="1377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8000" u="none" cap="none" strike="noStrike">
                <a:solidFill>
                  <a:srgbClr val="000000"/>
                </a:solidFill>
                <a:latin typeface="Montserrat"/>
                <a:ea typeface="Montserrat"/>
                <a:cs typeface="Montserrat"/>
                <a:sym typeface="Montserrat"/>
              </a:rPr>
              <a:t>Sprint Planning</a:t>
            </a:r>
            <a:endParaRPr/>
          </a:p>
        </p:txBody>
      </p:sp>
      <p:sp>
        <p:nvSpPr>
          <p:cNvPr id="618" name="Google Shape;618;p30"/>
          <p:cNvSpPr/>
          <p:nvPr/>
        </p:nvSpPr>
        <p:spPr>
          <a:xfrm flipH="1" rot="10731729">
            <a:off x="12228412" y="-3793995"/>
            <a:ext cx="9645755" cy="9645755"/>
          </a:xfrm>
          <a:custGeom>
            <a:rect b="b" l="l" r="r" t="t"/>
            <a:pathLst>
              <a:path extrusionOk="0" h="3331210" w="3331210">
                <a:moveTo>
                  <a:pt x="3331210" y="3331210"/>
                </a:moveTo>
                <a:lnTo>
                  <a:pt x="3331210" y="0"/>
                </a:lnTo>
                <a:cubicBezTo>
                  <a:pt x="1490980" y="0"/>
                  <a:pt x="0" y="1490980"/>
                  <a:pt x="0" y="3331210"/>
                </a:cubicBezTo>
                <a:lnTo>
                  <a:pt x="3331210" y="3331210"/>
                </a:lnTo>
                <a:close/>
              </a:path>
            </a:pathLst>
          </a:custGeom>
          <a:solidFill>
            <a:srgbClr val="03989E"/>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9" name="Google Shape;619;p30"/>
          <p:cNvGrpSpPr/>
          <p:nvPr/>
        </p:nvGrpSpPr>
        <p:grpSpPr>
          <a:xfrm>
            <a:off x="-1143158" y="8926033"/>
            <a:ext cx="2573650" cy="2573650"/>
            <a:chOff x="0" y="0"/>
            <a:chExt cx="812800" cy="812800"/>
          </a:xfrm>
        </p:grpSpPr>
        <p:sp>
          <p:nvSpPr>
            <p:cNvPr id="620" name="Google Shape;620;p3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30"/>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22" name="Google Shape;622;p30"/>
          <p:cNvSpPr/>
          <p:nvPr/>
        </p:nvSpPr>
        <p:spPr>
          <a:xfrm>
            <a:off x="11123502" y="3389126"/>
            <a:ext cx="6578660" cy="5114908"/>
          </a:xfrm>
          <a:custGeom>
            <a:rect b="b" l="l" r="r" t="t"/>
            <a:pathLst>
              <a:path extrusionOk="0" h="5114908" w="6578660">
                <a:moveTo>
                  <a:pt x="0" y="0"/>
                </a:moveTo>
                <a:lnTo>
                  <a:pt x="6578660" y="0"/>
                </a:lnTo>
                <a:lnTo>
                  <a:pt x="6578660" y="5114908"/>
                </a:lnTo>
                <a:lnTo>
                  <a:pt x="0" y="5114908"/>
                </a:lnTo>
                <a:lnTo>
                  <a:pt x="0" y="0"/>
                </a:lnTo>
                <a:close/>
              </a:path>
            </a:pathLst>
          </a:custGeom>
          <a:blipFill rotWithShape="1">
            <a:blip r:embed="rId4">
              <a:alphaModFix/>
            </a:blip>
            <a:stretch>
              <a:fillRect b="0" l="0" r="0" t="0"/>
            </a:stretch>
          </a:blipFill>
          <a:ln>
            <a:noFill/>
          </a:ln>
        </p:spPr>
      </p:sp>
      <p:sp>
        <p:nvSpPr>
          <p:cNvPr id="623" name="Google Shape;623;p30"/>
          <p:cNvSpPr txBox="1"/>
          <p:nvPr/>
        </p:nvSpPr>
        <p:spPr>
          <a:xfrm>
            <a:off x="1028700" y="3749480"/>
            <a:ext cx="9767400" cy="4222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3500" u="none" cap="none" strike="noStrike">
                <a:solidFill>
                  <a:srgbClr val="000000"/>
                </a:solidFill>
                <a:latin typeface="Poppins Light"/>
                <a:ea typeface="Poppins Light"/>
                <a:cs typeface="Poppins Light"/>
                <a:sym typeface="Poppins Light"/>
              </a:rPr>
              <a:t>El equipo planifica y prepara el trabajo que se llevará a cabo durante el próximo Sprint,  se establece su objetivo y se define qué elementos del Product Backlog se incluirán en el Sprint Backlog para alcanzar ese objetivo.</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grpSp>
        <p:nvGrpSpPr>
          <p:cNvPr id="628" name="Google Shape;628;p31"/>
          <p:cNvGrpSpPr/>
          <p:nvPr/>
        </p:nvGrpSpPr>
        <p:grpSpPr>
          <a:xfrm>
            <a:off x="12839828" y="4487199"/>
            <a:ext cx="7594641" cy="7594641"/>
            <a:chOff x="0" y="0"/>
            <a:chExt cx="812800" cy="812800"/>
          </a:xfrm>
        </p:grpSpPr>
        <p:sp>
          <p:nvSpPr>
            <p:cNvPr id="629" name="Google Shape;629;p3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F3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3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31" name="Google Shape;631;p31"/>
          <p:cNvSpPr/>
          <p:nvPr/>
        </p:nvSpPr>
        <p:spPr>
          <a:xfrm rot="-5400000">
            <a:off x="10834523" y="-2395660"/>
            <a:ext cx="11605211" cy="11039457"/>
          </a:xfrm>
          <a:custGeom>
            <a:rect b="b" l="l" r="r" t="t"/>
            <a:pathLst>
              <a:path extrusionOk="0" h="11039457" w="11605211">
                <a:moveTo>
                  <a:pt x="0" y="0"/>
                </a:moveTo>
                <a:lnTo>
                  <a:pt x="11605211" y="0"/>
                </a:lnTo>
                <a:lnTo>
                  <a:pt x="11605211" y="11039457"/>
                </a:lnTo>
                <a:lnTo>
                  <a:pt x="0" y="11039457"/>
                </a:lnTo>
                <a:lnTo>
                  <a:pt x="0" y="0"/>
                </a:lnTo>
                <a:close/>
              </a:path>
            </a:pathLst>
          </a:custGeom>
          <a:blipFill rotWithShape="1">
            <a:blip r:embed="rId3">
              <a:alphaModFix amt="7000"/>
            </a:blip>
            <a:stretch>
              <a:fillRect b="0" l="0" r="0" t="0"/>
            </a:stretch>
          </a:blipFill>
          <a:ln>
            <a:noFill/>
          </a:ln>
        </p:spPr>
      </p:sp>
      <p:grpSp>
        <p:nvGrpSpPr>
          <p:cNvPr id="632" name="Google Shape;632;p31"/>
          <p:cNvGrpSpPr/>
          <p:nvPr/>
        </p:nvGrpSpPr>
        <p:grpSpPr>
          <a:xfrm>
            <a:off x="-2414229" y="-1231377"/>
            <a:ext cx="12177451" cy="12177451"/>
            <a:chOff x="0" y="0"/>
            <a:chExt cx="812800" cy="812800"/>
          </a:xfrm>
        </p:grpSpPr>
        <p:sp>
          <p:nvSpPr>
            <p:cNvPr id="633" name="Google Shape;633;p3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F3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3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35" name="Google Shape;635;p31"/>
          <p:cNvGrpSpPr/>
          <p:nvPr/>
        </p:nvGrpSpPr>
        <p:grpSpPr>
          <a:xfrm>
            <a:off x="15896170" y="6715631"/>
            <a:ext cx="2726294" cy="2726294"/>
            <a:chOff x="0" y="0"/>
            <a:chExt cx="812800" cy="812800"/>
          </a:xfrm>
        </p:grpSpPr>
        <p:sp>
          <p:nvSpPr>
            <p:cNvPr id="636" name="Google Shape;636;p3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3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38" name="Google Shape;638;p31"/>
          <p:cNvGrpSpPr/>
          <p:nvPr/>
        </p:nvGrpSpPr>
        <p:grpSpPr>
          <a:xfrm>
            <a:off x="-1929853" y="-1231377"/>
            <a:ext cx="2726294" cy="2726294"/>
            <a:chOff x="0" y="0"/>
            <a:chExt cx="812800" cy="812800"/>
          </a:xfrm>
        </p:grpSpPr>
        <p:sp>
          <p:nvSpPr>
            <p:cNvPr id="639" name="Google Shape;639;p3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3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41" name="Google Shape;641;p31"/>
          <p:cNvSpPr/>
          <p:nvPr/>
        </p:nvSpPr>
        <p:spPr>
          <a:xfrm flipH="1" rot="88887">
            <a:off x="-2702181" y="6763014"/>
            <a:ext cx="5798243" cy="5798243"/>
          </a:xfrm>
          <a:custGeom>
            <a:rect b="b" l="l" r="r" t="t"/>
            <a:pathLst>
              <a:path extrusionOk="0" h="3331210" w="3331210">
                <a:moveTo>
                  <a:pt x="3331210" y="3331210"/>
                </a:moveTo>
                <a:lnTo>
                  <a:pt x="3331210" y="0"/>
                </a:lnTo>
                <a:cubicBezTo>
                  <a:pt x="1490980" y="0"/>
                  <a:pt x="0" y="1490980"/>
                  <a:pt x="0" y="3331210"/>
                </a:cubicBezTo>
                <a:lnTo>
                  <a:pt x="3331210" y="3331210"/>
                </a:lnTo>
                <a:close/>
              </a:path>
            </a:pathLst>
          </a:custGeom>
          <a:solidFill>
            <a:srgbClr val="03989E"/>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2" name="Google Shape;642;p31"/>
          <p:cNvGrpSpPr/>
          <p:nvPr/>
        </p:nvGrpSpPr>
        <p:grpSpPr>
          <a:xfrm>
            <a:off x="606746" y="9441892"/>
            <a:ext cx="4224447" cy="4224447"/>
            <a:chOff x="0" y="0"/>
            <a:chExt cx="812800" cy="812800"/>
          </a:xfrm>
        </p:grpSpPr>
        <p:sp>
          <p:nvSpPr>
            <p:cNvPr id="643" name="Google Shape;643;p3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3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45" name="Google Shape;645;p31"/>
          <p:cNvGrpSpPr/>
          <p:nvPr/>
        </p:nvGrpSpPr>
        <p:grpSpPr>
          <a:xfrm>
            <a:off x="16637128" y="8526062"/>
            <a:ext cx="2538618" cy="2538618"/>
            <a:chOff x="0" y="0"/>
            <a:chExt cx="812800" cy="812800"/>
          </a:xfrm>
        </p:grpSpPr>
        <p:sp>
          <p:nvSpPr>
            <p:cNvPr id="646" name="Google Shape;646;p3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3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48" name="Google Shape;648;p31"/>
          <p:cNvSpPr/>
          <p:nvPr/>
        </p:nvSpPr>
        <p:spPr>
          <a:xfrm>
            <a:off x="12512015" y="3680963"/>
            <a:ext cx="4125113" cy="4114800"/>
          </a:xfrm>
          <a:custGeom>
            <a:rect b="b" l="l" r="r" t="t"/>
            <a:pathLst>
              <a:path extrusionOk="0" h="4114800" w="4125113">
                <a:moveTo>
                  <a:pt x="0" y="0"/>
                </a:moveTo>
                <a:lnTo>
                  <a:pt x="4125113" y="0"/>
                </a:lnTo>
                <a:lnTo>
                  <a:pt x="4125113" y="4114800"/>
                </a:lnTo>
                <a:lnTo>
                  <a:pt x="0" y="4114800"/>
                </a:lnTo>
                <a:lnTo>
                  <a:pt x="0" y="0"/>
                </a:lnTo>
                <a:close/>
              </a:path>
            </a:pathLst>
          </a:custGeom>
          <a:blipFill rotWithShape="1">
            <a:blip r:embed="rId4">
              <a:alphaModFix/>
            </a:blip>
            <a:stretch>
              <a:fillRect b="0" l="0" r="0" t="0"/>
            </a:stretch>
          </a:blipFill>
          <a:ln>
            <a:noFill/>
          </a:ln>
        </p:spPr>
      </p:sp>
      <p:sp>
        <p:nvSpPr>
          <p:cNvPr id="649" name="Google Shape;649;p31"/>
          <p:cNvSpPr txBox="1"/>
          <p:nvPr/>
        </p:nvSpPr>
        <p:spPr>
          <a:xfrm>
            <a:off x="1028700" y="676127"/>
            <a:ext cx="14394000" cy="1351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7900" u="none" cap="none" strike="noStrike">
                <a:solidFill>
                  <a:srgbClr val="000000"/>
                </a:solidFill>
                <a:latin typeface="Montserrat"/>
                <a:ea typeface="Montserrat"/>
                <a:cs typeface="Montserrat"/>
                <a:sym typeface="Montserrat"/>
              </a:rPr>
              <a:t>Partes del Sprint Planning </a:t>
            </a:r>
            <a:endParaRPr/>
          </a:p>
        </p:txBody>
      </p:sp>
      <p:sp>
        <p:nvSpPr>
          <p:cNvPr id="650" name="Google Shape;650;p31"/>
          <p:cNvSpPr txBox="1"/>
          <p:nvPr/>
        </p:nvSpPr>
        <p:spPr>
          <a:xfrm>
            <a:off x="3059542" y="4546133"/>
            <a:ext cx="7934700" cy="2997000"/>
          </a:xfrm>
          <a:prstGeom prst="rect">
            <a:avLst/>
          </a:prstGeom>
          <a:noFill/>
          <a:ln>
            <a:noFill/>
          </a:ln>
        </p:spPr>
        <p:txBody>
          <a:bodyPr anchorCtr="0" anchor="t" bIns="0" lIns="0" spcFirstLastPara="1" rIns="0" wrap="square" tIns="0">
            <a:spAutoFit/>
          </a:bodyPr>
          <a:lstStyle/>
          <a:p>
            <a:pPr indent="-367030" lvl="1" marL="734058" marR="0" rtl="0" algn="l">
              <a:lnSpc>
                <a:spcPct val="140011"/>
              </a:lnSpc>
              <a:spcBef>
                <a:spcPts val="0"/>
              </a:spcBef>
              <a:spcAft>
                <a:spcPts val="0"/>
              </a:spcAft>
              <a:buClr>
                <a:srgbClr val="000000"/>
              </a:buClr>
              <a:buSzPts val="3399"/>
              <a:buFont typeface="Arial"/>
              <a:buChar char="•"/>
            </a:pPr>
            <a:r>
              <a:rPr b="0" i="0" lang="en-US" sz="3399" u="none" cap="none" strike="noStrike">
                <a:solidFill>
                  <a:srgbClr val="000000"/>
                </a:solidFill>
                <a:latin typeface="Open Sans"/>
                <a:ea typeface="Open Sans"/>
                <a:cs typeface="Open Sans"/>
                <a:sym typeface="Open Sans"/>
              </a:rPr>
              <a:t>Por qué es valioso este sprint?</a:t>
            </a:r>
            <a:endParaRPr/>
          </a:p>
          <a:p>
            <a:pPr indent="0" lvl="0" marL="0" marR="0" rtl="0" algn="l">
              <a:lnSpc>
                <a:spcPct val="140011"/>
              </a:lnSpc>
              <a:spcBef>
                <a:spcPts val="0"/>
              </a:spcBef>
              <a:spcAft>
                <a:spcPts val="0"/>
              </a:spcAft>
              <a:buNone/>
            </a:pPr>
            <a:r>
              <a:t/>
            </a:r>
            <a:endParaRPr b="0" i="0" sz="3399" u="none" cap="none" strike="noStrike">
              <a:solidFill>
                <a:srgbClr val="000000"/>
              </a:solidFill>
              <a:latin typeface="Open Sans"/>
              <a:ea typeface="Open Sans"/>
              <a:cs typeface="Open Sans"/>
              <a:sym typeface="Open Sans"/>
            </a:endParaRPr>
          </a:p>
          <a:p>
            <a:pPr indent="-367030" lvl="1" marL="734058" marR="0" rtl="0" algn="l">
              <a:lnSpc>
                <a:spcPct val="140011"/>
              </a:lnSpc>
              <a:spcBef>
                <a:spcPts val="0"/>
              </a:spcBef>
              <a:spcAft>
                <a:spcPts val="0"/>
              </a:spcAft>
              <a:buClr>
                <a:srgbClr val="000000"/>
              </a:buClr>
              <a:buSzPts val="3399"/>
              <a:buFont typeface="Arial"/>
              <a:buChar char="•"/>
            </a:pPr>
            <a:r>
              <a:rPr b="0" i="0" lang="en-US" sz="3399" u="none" cap="none" strike="noStrike">
                <a:solidFill>
                  <a:srgbClr val="000000"/>
                </a:solidFill>
                <a:latin typeface="Open Sans"/>
                <a:ea typeface="Open Sans"/>
                <a:cs typeface="Open Sans"/>
                <a:sym typeface="Open Sans"/>
              </a:rPr>
              <a:t>Qué se puede hacer en este sprint</a:t>
            </a:r>
            <a:endParaRPr/>
          </a:p>
          <a:p>
            <a:pPr indent="0" lvl="0" marL="0" marR="0" rtl="0" algn="l">
              <a:lnSpc>
                <a:spcPct val="140011"/>
              </a:lnSpc>
              <a:spcBef>
                <a:spcPts val="0"/>
              </a:spcBef>
              <a:spcAft>
                <a:spcPts val="0"/>
              </a:spcAft>
              <a:buNone/>
            </a:pPr>
            <a:r>
              <a:t/>
            </a:r>
            <a:endParaRPr b="0" i="0" sz="3399" u="none" cap="none" strike="noStrike">
              <a:solidFill>
                <a:srgbClr val="000000"/>
              </a:solidFill>
              <a:latin typeface="Open Sans"/>
              <a:ea typeface="Open Sans"/>
              <a:cs typeface="Open Sans"/>
              <a:sym typeface="Open Sans"/>
            </a:endParaRPr>
          </a:p>
          <a:p>
            <a:pPr indent="-367030" lvl="1" marL="734058" marR="0" rtl="0" algn="l">
              <a:lnSpc>
                <a:spcPct val="140011"/>
              </a:lnSpc>
              <a:spcBef>
                <a:spcPts val="0"/>
              </a:spcBef>
              <a:spcAft>
                <a:spcPts val="0"/>
              </a:spcAft>
              <a:buClr>
                <a:srgbClr val="000000"/>
              </a:buClr>
              <a:buSzPts val="3399"/>
              <a:buFont typeface="Arial"/>
              <a:buChar char="•"/>
            </a:pPr>
            <a:r>
              <a:rPr b="0" i="0" lang="en-US" sz="3399" u="none" cap="none" strike="noStrike">
                <a:solidFill>
                  <a:srgbClr val="000000"/>
                </a:solidFill>
                <a:latin typeface="Open Sans"/>
                <a:ea typeface="Open Sans"/>
                <a:cs typeface="Open Sans"/>
                <a:sym typeface="Open Sans"/>
              </a:rPr>
              <a:t>Cómo se realizará el trabajo elegido</a:t>
            </a:r>
            <a:endParaRPr/>
          </a:p>
        </p:txBody>
      </p:sp>
      <p:sp>
        <p:nvSpPr>
          <p:cNvPr id="651" name="Google Shape;651;p31"/>
          <p:cNvSpPr txBox="1"/>
          <p:nvPr/>
        </p:nvSpPr>
        <p:spPr>
          <a:xfrm>
            <a:off x="1028700" y="2462398"/>
            <a:ext cx="11996400" cy="12186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b="0" i="0" lang="en-US" sz="3399" u="none" cap="none" strike="noStrike">
                <a:solidFill>
                  <a:srgbClr val="000000"/>
                </a:solidFill>
                <a:latin typeface="Poppins Light"/>
                <a:ea typeface="Poppins Light"/>
                <a:cs typeface="Poppins Light"/>
                <a:sym typeface="Poppins Light"/>
              </a:rPr>
              <a:t>La estructura de la reunión está dividida de manera tal que se aborde los siguiente:</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3989E"/>
        </a:solidFill>
      </p:bgPr>
    </p:bg>
    <p:spTree>
      <p:nvGrpSpPr>
        <p:cNvPr id="655" name="Shape 655"/>
        <p:cNvGrpSpPr/>
        <p:nvPr/>
      </p:nvGrpSpPr>
      <p:grpSpPr>
        <a:xfrm>
          <a:off x="0" y="0"/>
          <a:ext cx="0" cy="0"/>
          <a:chOff x="0" y="0"/>
          <a:chExt cx="0" cy="0"/>
        </a:xfrm>
      </p:grpSpPr>
      <p:grpSp>
        <p:nvGrpSpPr>
          <p:cNvPr id="656" name="Google Shape;656;p33"/>
          <p:cNvGrpSpPr/>
          <p:nvPr/>
        </p:nvGrpSpPr>
        <p:grpSpPr>
          <a:xfrm>
            <a:off x="15019289" y="-1821307"/>
            <a:ext cx="2850002" cy="2850002"/>
            <a:chOff x="0" y="0"/>
            <a:chExt cx="812800" cy="812800"/>
          </a:xfrm>
        </p:grpSpPr>
        <p:sp>
          <p:nvSpPr>
            <p:cNvPr id="657" name="Google Shape;657;p3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33"/>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59" name="Google Shape;659;p33"/>
          <p:cNvSpPr/>
          <p:nvPr/>
        </p:nvSpPr>
        <p:spPr>
          <a:xfrm>
            <a:off x="11119929" y="3149482"/>
            <a:ext cx="6571648" cy="3988037"/>
          </a:xfrm>
          <a:custGeom>
            <a:rect b="b" l="l" r="r" t="t"/>
            <a:pathLst>
              <a:path extrusionOk="0" h="3988037" w="6571648">
                <a:moveTo>
                  <a:pt x="0" y="0"/>
                </a:moveTo>
                <a:lnTo>
                  <a:pt x="6571648" y="0"/>
                </a:lnTo>
                <a:lnTo>
                  <a:pt x="6571648" y="3988036"/>
                </a:lnTo>
                <a:lnTo>
                  <a:pt x="0" y="3988036"/>
                </a:lnTo>
                <a:lnTo>
                  <a:pt x="0" y="0"/>
                </a:lnTo>
                <a:close/>
              </a:path>
            </a:pathLst>
          </a:custGeom>
          <a:blipFill rotWithShape="1">
            <a:blip r:embed="rId3">
              <a:alphaModFix/>
            </a:blip>
            <a:stretch>
              <a:fillRect b="0" l="0" r="0" t="0"/>
            </a:stretch>
          </a:blipFill>
          <a:ln>
            <a:noFill/>
          </a:ln>
        </p:spPr>
      </p:sp>
      <p:sp>
        <p:nvSpPr>
          <p:cNvPr id="660" name="Google Shape;660;p33"/>
          <p:cNvSpPr txBox="1"/>
          <p:nvPr/>
        </p:nvSpPr>
        <p:spPr>
          <a:xfrm>
            <a:off x="1028700" y="2244725"/>
            <a:ext cx="9817800" cy="6086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3000" u="none" cap="none" strike="noStrike">
                <a:solidFill>
                  <a:srgbClr val="FFFFFF"/>
                </a:solidFill>
                <a:latin typeface="Poppins Light"/>
                <a:ea typeface="Poppins Light"/>
                <a:cs typeface="Poppins Light"/>
                <a:sym typeface="Poppins Light"/>
              </a:rPr>
              <a:t>Es una reunión diaria dentro del sprint que tiene una duración máxima de 15 minutos.</a:t>
            </a:r>
            <a:endParaRPr/>
          </a:p>
          <a:p>
            <a:pPr indent="0" lvl="0" marL="0" marR="0" rtl="0" algn="l">
              <a:lnSpc>
                <a:spcPct val="160000"/>
              </a:lnSpc>
              <a:spcBef>
                <a:spcPts val="0"/>
              </a:spcBef>
              <a:spcAft>
                <a:spcPts val="0"/>
              </a:spcAft>
              <a:buNone/>
            </a:pPr>
            <a:r>
              <a:t/>
            </a:r>
            <a:endParaRPr b="0" i="0" sz="3000" u="none" cap="none" strike="noStrike">
              <a:solidFill>
                <a:srgbClr val="FFFFFF"/>
              </a:solidFill>
              <a:latin typeface="Poppins Light"/>
              <a:ea typeface="Poppins Light"/>
              <a:cs typeface="Poppins Light"/>
              <a:sym typeface="Poppins Light"/>
            </a:endParaRPr>
          </a:p>
          <a:p>
            <a:pPr indent="0" lvl="0" marL="0" marR="0" rtl="0" algn="l">
              <a:lnSpc>
                <a:spcPct val="160000"/>
              </a:lnSpc>
              <a:spcBef>
                <a:spcPts val="0"/>
              </a:spcBef>
              <a:spcAft>
                <a:spcPts val="0"/>
              </a:spcAft>
              <a:buNone/>
            </a:pPr>
            <a:r>
              <a:rPr b="0" i="0" lang="en-US" sz="3000" u="none" cap="none" strike="noStrike">
                <a:solidFill>
                  <a:srgbClr val="FFFFFF"/>
                </a:solidFill>
                <a:latin typeface="Poppins"/>
                <a:ea typeface="Poppins"/>
                <a:cs typeface="Poppins"/>
                <a:sym typeface="Poppins"/>
              </a:rPr>
              <a:t>Cada miembro del equipo responde a tres preguntas clave:</a:t>
            </a:r>
            <a:endParaRPr/>
          </a:p>
          <a:p>
            <a:pPr indent="0" lvl="0" marL="0" marR="0" rtl="0" algn="l">
              <a:lnSpc>
                <a:spcPct val="160000"/>
              </a:lnSpc>
              <a:spcBef>
                <a:spcPts val="0"/>
              </a:spcBef>
              <a:spcAft>
                <a:spcPts val="0"/>
              </a:spcAft>
              <a:buNone/>
            </a:pPr>
            <a:r>
              <a:t/>
            </a:r>
            <a:endParaRPr b="0" i="0" sz="3000" u="none" cap="none" strike="noStrike">
              <a:solidFill>
                <a:srgbClr val="FFFFFF"/>
              </a:solidFill>
              <a:latin typeface="Poppins"/>
              <a:ea typeface="Poppins"/>
              <a:cs typeface="Poppins"/>
              <a:sym typeface="Poppins"/>
            </a:endParaRPr>
          </a:p>
          <a:p>
            <a:pPr indent="-323850" lvl="1" marL="647700" marR="0" rtl="0" algn="l">
              <a:lnSpc>
                <a:spcPct val="160000"/>
              </a:lnSpc>
              <a:spcBef>
                <a:spcPts val="0"/>
              </a:spcBef>
              <a:spcAft>
                <a:spcPts val="0"/>
              </a:spcAft>
              <a:buClr>
                <a:srgbClr val="FFFFFF"/>
              </a:buClr>
              <a:buSzPts val="3000"/>
              <a:buFont typeface="Poppins"/>
              <a:buAutoNum type="arabicPeriod"/>
            </a:pPr>
            <a:r>
              <a:rPr b="0" i="0" lang="en-US" sz="3000" u="none" cap="none" strike="noStrike">
                <a:solidFill>
                  <a:srgbClr val="FFFFFF"/>
                </a:solidFill>
                <a:latin typeface="Poppins"/>
                <a:ea typeface="Poppins"/>
                <a:cs typeface="Poppins"/>
                <a:sym typeface="Poppins"/>
              </a:rPr>
              <a:t> ¿Qué hice ayer?</a:t>
            </a:r>
            <a:endParaRPr/>
          </a:p>
          <a:p>
            <a:pPr indent="-323850" lvl="1" marL="647700" marR="0" rtl="0" algn="l">
              <a:lnSpc>
                <a:spcPct val="160000"/>
              </a:lnSpc>
              <a:spcBef>
                <a:spcPts val="0"/>
              </a:spcBef>
              <a:spcAft>
                <a:spcPts val="0"/>
              </a:spcAft>
              <a:buClr>
                <a:srgbClr val="FFFFFF"/>
              </a:buClr>
              <a:buSzPts val="3000"/>
              <a:buFont typeface="Poppins"/>
              <a:buAutoNum type="arabicPeriod"/>
            </a:pPr>
            <a:r>
              <a:rPr b="0" i="0" lang="en-US" sz="3000" u="none" cap="none" strike="noStrike">
                <a:solidFill>
                  <a:srgbClr val="FFFFFF"/>
                </a:solidFill>
                <a:latin typeface="Poppins"/>
                <a:ea typeface="Poppins"/>
                <a:cs typeface="Poppins"/>
                <a:sym typeface="Poppins"/>
              </a:rPr>
              <a:t> ¿Qué voy a hacer hoy?</a:t>
            </a:r>
            <a:endParaRPr/>
          </a:p>
          <a:p>
            <a:pPr indent="-323850" lvl="1" marL="647700" marR="0" rtl="0" algn="l">
              <a:lnSpc>
                <a:spcPct val="160000"/>
              </a:lnSpc>
              <a:spcBef>
                <a:spcPts val="0"/>
              </a:spcBef>
              <a:spcAft>
                <a:spcPts val="0"/>
              </a:spcAft>
              <a:buClr>
                <a:srgbClr val="FFFFFF"/>
              </a:buClr>
              <a:buSzPts val="3000"/>
              <a:buFont typeface="Poppins"/>
              <a:buAutoNum type="arabicPeriod"/>
            </a:pPr>
            <a:r>
              <a:rPr b="0" i="0" lang="en-US" sz="3000" u="none" cap="none" strike="noStrike">
                <a:solidFill>
                  <a:srgbClr val="FFFFFF"/>
                </a:solidFill>
                <a:latin typeface="Poppins"/>
                <a:ea typeface="Poppins"/>
                <a:cs typeface="Poppins"/>
                <a:sym typeface="Poppins"/>
              </a:rPr>
              <a:t> ¿Existen obstáculos que me impidan avanzar en mi trabajo?</a:t>
            </a:r>
            <a:endParaRPr/>
          </a:p>
        </p:txBody>
      </p:sp>
      <p:sp>
        <p:nvSpPr>
          <p:cNvPr id="661" name="Google Shape;661;p33"/>
          <p:cNvSpPr txBox="1"/>
          <p:nvPr/>
        </p:nvSpPr>
        <p:spPr>
          <a:xfrm>
            <a:off x="2533147" y="258763"/>
            <a:ext cx="8910000" cy="1377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8000" u="none" cap="none" strike="noStrike">
                <a:solidFill>
                  <a:srgbClr val="FFFFFF"/>
                </a:solidFill>
                <a:latin typeface="Montserrat"/>
                <a:ea typeface="Montserrat"/>
                <a:cs typeface="Montserrat"/>
                <a:sym typeface="Montserrat"/>
              </a:rPr>
              <a:t>Daily Scrum</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grpSp>
        <p:nvGrpSpPr>
          <p:cNvPr id="666" name="Google Shape;666;p34"/>
          <p:cNvGrpSpPr/>
          <p:nvPr/>
        </p:nvGrpSpPr>
        <p:grpSpPr>
          <a:xfrm>
            <a:off x="12830342" y="-2557109"/>
            <a:ext cx="5114219" cy="5114219"/>
            <a:chOff x="0" y="0"/>
            <a:chExt cx="812800" cy="812800"/>
          </a:xfrm>
        </p:grpSpPr>
        <p:sp>
          <p:nvSpPr>
            <p:cNvPr id="667" name="Google Shape;667;p3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34"/>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69" name="Google Shape;669;p34"/>
          <p:cNvGrpSpPr/>
          <p:nvPr/>
        </p:nvGrpSpPr>
        <p:grpSpPr>
          <a:xfrm>
            <a:off x="-3033482" y="-5060041"/>
            <a:ext cx="12177451" cy="12177451"/>
            <a:chOff x="0" y="0"/>
            <a:chExt cx="812800" cy="812800"/>
          </a:xfrm>
        </p:grpSpPr>
        <p:sp>
          <p:nvSpPr>
            <p:cNvPr id="670" name="Google Shape;670;p3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929F">
                <a:alpha val="54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34"/>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72" name="Google Shape;672;p34"/>
          <p:cNvGrpSpPr/>
          <p:nvPr/>
        </p:nvGrpSpPr>
        <p:grpSpPr>
          <a:xfrm>
            <a:off x="-7739137" y="1587776"/>
            <a:ext cx="13824021" cy="13824021"/>
            <a:chOff x="0" y="0"/>
            <a:chExt cx="812800" cy="812800"/>
          </a:xfrm>
        </p:grpSpPr>
        <p:sp>
          <p:nvSpPr>
            <p:cNvPr id="673" name="Google Shape;673;p3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34"/>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75" name="Google Shape;675;p34"/>
          <p:cNvGrpSpPr/>
          <p:nvPr/>
        </p:nvGrpSpPr>
        <p:grpSpPr>
          <a:xfrm>
            <a:off x="16112506" y="8890227"/>
            <a:ext cx="3148543" cy="3148543"/>
            <a:chOff x="0" y="0"/>
            <a:chExt cx="812800" cy="812800"/>
          </a:xfrm>
        </p:grpSpPr>
        <p:sp>
          <p:nvSpPr>
            <p:cNvPr id="676" name="Google Shape;676;p3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34"/>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78" name="Google Shape;678;p34"/>
          <p:cNvGrpSpPr/>
          <p:nvPr/>
        </p:nvGrpSpPr>
        <p:grpSpPr>
          <a:xfrm>
            <a:off x="14154910" y="8287133"/>
            <a:ext cx="1206195" cy="1206195"/>
            <a:chOff x="0" y="0"/>
            <a:chExt cx="812800" cy="812800"/>
          </a:xfrm>
        </p:grpSpPr>
        <p:sp>
          <p:nvSpPr>
            <p:cNvPr id="679" name="Google Shape;679;p3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34"/>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81" name="Google Shape;681;p34"/>
          <p:cNvSpPr txBox="1"/>
          <p:nvPr/>
        </p:nvSpPr>
        <p:spPr>
          <a:xfrm>
            <a:off x="5847922" y="423376"/>
            <a:ext cx="8910000" cy="1377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8000" u="none" cap="none" strike="noStrike">
                <a:solidFill>
                  <a:srgbClr val="322E28"/>
                </a:solidFill>
                <a:latin typeface="Montserrat"/>
                <a:ea typeface="Montserrat"/>
                <a:cs typeface="Montserrat"/>
                <a:sym typeface="Montserrat"/>
              </a:rPr>
              <a:t>Sprint Review</a:t>
            </a:r>
            <a:endParaRPr/>
          </a:p>
        </p:txBody>
      </p:sp>
      <p:sp>
        <p:nvSpPr>
          <p:cNvPr id="682" name="Google Shape;682;p34"/>
          <p:cNvSpPr txBox="1"/>
          <p:nvPr/>
        </p:nvSpPr>
        <p:spPr>
          <a:xfrm>
            <a:off x="1897579" y="4160376"/>
            <a:ext cx="14492700" cy="27207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0" i="0" lang="en-US" sz="3399" u="none" cap="none" strike="noStrike">
                <a:solidFill>
                  <a:srgbClr val="000000"/>
                </a:solidFill>
                <a:latin typeface="Poppins"/>
                <a:ea typeface="Poppins"/>
                <a:cs typeface="Poppins"/>
                <a:sym typeface="Poppins"/>
              </a:rPr>
              <a:t>Tiene lugar al final de un sprint, el </a:t>
            </a:r>
            <a:r>
              <a:rPr lang="en-US" sz="3399">
                <a:latin typeface="Poppins"/>
                <a:ea typeface="Poppins"/>
                <a:cs typeface="Poppins"/>
                <a:sym typeface="Poppins"/>
              </a:rPr>
              <a:t>product owner</a:t>
            </a:r>
            <a:r>
              <a:rPr b="0" i="0" lang="en-US" sz="3399" u="none" cap="none" strike="noStrike">
                <a:solidFill>
                  <a:srgbClr val="000000"/>
                </a:solidFill>
                <a:latin typeface="Poppins"/>
                <a:ea typeface="Poppins"/>
                <a:cs typeface="Poppins"/>
                <a:sym typeface="Poppins"/>
              </a:rPr>
              <a:t> presenta y evalúa si los equipos han alcanzado el objetivo del sprint, y se asegura de que cada historia de usuario o entregable cumple los criterios predefinidos.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grpSp>
        <p:nvGrpSpPr>
          <p:cNvPr id="687" name="Google Shape;687;p35"/>
          <p:cNvGrpSpPr/>
          <p:nvPr/>
        </p:nvGrpSpPr>
        <p:grpSpPr>
          <a:xfrm>
            <a:off x="11041213" y="-2557109"/>
            <a:ext cx="5114219" cy="5114219"/>
            <a:chOff x="0" y="0"/>
            <a:chExt cx="812800" cy="812800"/>
          </a:xfrm>
        </p:grpSpPr>
        <p:sp>
          <p:nvSpPr>
            <p:cNvPr id="688" name="Google Shape;688;p3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35"/>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90" name="Google Shape;690;p35"/>
          <p:cNvGrpSpPr/>
          <p:nvPr/>
        </p:nvGrpSpPr>
        <p:grpSpPr>
          <a:xfrm>
            <a:off x="9538099" y="-343008"/>
            <a:ext cx="12177451" cy="12177451"/>
            <a:chOff x="0" y="0"/>
            <a:chExt cx="812800" cy="812800"/>
          </a:xfrm>
        </p:grpSpPr>
        <p:sp>
          <p:nvSpPr>
            <p:cNvPr id="691" name="Google Shape;691;p3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929F">
                <a:alpha val="54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35"/>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93" name="Google Shape;693;p35"/>
          <p:cNvGrpSpPr/>
          <p:nvPr/>
        </p:nvGrpSpPr>
        <p:grpSpPr>
          <a:xfrm>
            <a:off x="11041213" y="7176623"/>
            <a:ext cx="8172135" cy="8555204"/>
            <a:chOff x="0" y="-38100"/>
            <a:chExt cx="812800" cy="850900"/>
          </a:xfrm>
        </p:grpSpPr>
        <p:sp>
          <p:nvSpPr>
            <p:cNvPr id="694" name="Google Shape;694;p35"/>
            <p:cNvSpPr/>
            <p:nvPr/>
          </p:nvSpPr>
          <p:spPr>
            <a:xfrm>
              <a:off x="0" y="0"/>
              <a:ext cx="812800" cy="812800"/>
            </a:xfrm>
            <a:custGeom>
              <a:rect b="b" l="l" r="r" t="t"/>
              <a:pathLst>
                <a:path extrusionOk="0" h="812800" w="812800">
                  <a:moveTo>
                    <a:pt x="127000" y="0"/>
                  </a:moveTo>
                  <a:lnTo>
                    <a:pt x="685800" y="0"/>
                  </a:lnTo>
                  <a:cubicBezTo>
                    <a:pt x="755940" y="0"/>
                    <a:pt x="812800" y="56860"/>
                    <a:pt x="812800" y="127000"/>
                  </a:cubicBezTo>
                  <a:lnTo>
                    <a:pt x="812800" y="685800"/>
                  </a:lnTo>
                  <a:cubicBezTo>
                    <a:pt x="812800" y="755940"/>
                    <a:pt x="755940" y="812800"/>
                    <a:pt x="685800" y="812800"/>
                  </a:cubicBezTo>
                  <a:lnTo>
                    <a:pt x="127000" y="812800"/>
                  </a:lnTo>
                  <a:cubicBezTo>
                    <a:pt x="56860" y="812800"/>
                    <a:pt x="0" y="755940"/>
                    <a:pt x="0" y="685800"/>
                  </a:cubicBezTo>
                  <a:lnTo>
                    <a:pt x="0" y="127000"/>
                  </a:lnTo>
                  <a:cubicBezTo>
                    <a:pt x="0" y="56860"/>
                    <a:pt x="56860" y="0"/>
                    <a:pt x="1270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35"/>
            <p:cNvSpPr txBox="1"/>
            <p:nvPr/>
          </p:nvSpPr>
          <p:spPr>
            <a:xfrm>
              <a:off x="0" y="-38100"/>
              <a:ext cx="812700" cy="8508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96" name="Google Shape;696;p35"/>
          <p:cNvGrpSpPr/>
          <p:nvPr/>
        </p:nvGrpSpPr>
        <p:grpSpPr>
          <a:xfrm>
            <a:off x="-437093" y="9258300"/>
            <a:ext cx="1206195" cy="1206195"/>
            <a:chOff x="0" y="0"/>
            <a:chExt cx="812800" cy="812800"/>
          </a:xfrm>
        </p:grpSpPr>
        <p:sp>
          <p:nvSpPr>
            <p:cNvPr id="697" name="Google Shape;697;p3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35"/>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99" name="Google Shape;699;p35"/>
          <p:cNvSpPr txBox="1"/>
          <p:nvPr/>
        </p:nvSpPr>
        <p:spPr>
          <a:xfrm>
            <a:off x="11529215" y="7997716"/>
            <a:ext cx="6505800" cy="16098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F9F9F9"/>
                </a:solidFill>
                <a:latin typeface="Poppins"/>
                <a:ea typeface="Poppins"/>
                <a:cs typeface="Poppins"/>
                <a:sym typeface="Poppins"/>
              </a:rPr>
              <a:t>En general, un sprint review dura como máximo 4 horas para un sprint de 4 semanas.</a:t>
            </a:r>
            <a:endParaRPr/>
          </a:p>
        </p:txBody>
      </p:sp>
      <p:sp>
        <p:nvSpPr>
          <p:cNvPr id="700" name="Google Shape;700;p35"/>
          <p:cNvSpPr txBox="1"/>
          <p:nvPr/>
        </p:nvSpPr>
        <p:spPr>
          <a:xfrm>
            <a:off x="2554207" y="1483001"/>
            <a:ext cx="12350100" cy="18186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0" i="0" lang="en-US" sz="3399" u="none" cap="none" strike="noStrike">
                <a:solidFill>
                  <a:srgbClr val="000000"/>
                </a:solidFill>
                <a:latin typeface="Poppins"/>
                <a:ea typeface="Poppins"/>
                <a:cs typeface="Poppins"/>
                <a:sym typeface="Poppins"/>
              </a:rPr>
              <a:t>Los miembros del equipo y las partes interesadas externas asisten y pueden hacer comentarios y preguntas sobre los resultados del sprint.</a:t>
            </a:r>
            <a:endParaRPr/>
          </a:p>
        </p:txBody>
      </p:sp>
      <p:sp>
        <p:nvSpPr>
          <p:cNvPr id="701" name="Google Shape;701;p35"/>
          <p:cNvSpPr/>
          <p:nvPr/>
        </p:nvSpPr>
        <p:spPr>
          <a:xfrm>
            <a:off x="2397998" y="3906972"/>
            <a:ext cx="8096147" cy="5102636"/>
          </a:xfrm>
          <a:custGeom>
            <a:rect b="b" l="l" r="r" t="t"/>
            <a:pathLst>
              <a:path extrusionOk="0" h="5102636" w="8096147">
                <a:moveTo>
                  <a:pt x="0" y="0"/>
                </a:moveTo>
                <a:lnTo>
                  <a:pt x="8096148" y="0"/>
                </a:lnTo>
                <a:lnTo>
                  <a:pt x="8096148" y="5102636"/>
                </a:lnTo>
                <a:lnTo>
                  <a:pt x="0" y="5102636"/>
                </a:lnTo>
                <a:lnTo>
                  <a:pt x="0" y="0"/>
                </a:lnTo>
                <a:close/>
              </a:path>
            </a:pathLst>
          </a:custGeom>
          <a:blipFill rotWithShape="1">
            <a:blip r:embed="rId3">
              <a:alphaModFix/>
            </a:blip>
            <a:stretch>
              <a:fillRect b="0" l="0" r="0" t="-11699"/>
            </a:stretch>
          </a:blipFill>
          <a:ln>
            <a:noFill/>
          </a:ln>
        </p:spPr>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36"/>
          <p:cNvSpPr/>
          <p:nvPr/>
        </p:nvSpPr>
        <p:spPr>
          <a:xfrm rot="-5400000">
            <a:off x="-2350533" y="1191429"/>
            <a:ext cx="11605211" cy="11039457"/>
          </a:xfrm>
          <a:custGeom>
            <a:rect b="b" l="l" r="r" t="t"/>
            <a:pathLst>
              <a:path extrusionOk="0" h="11039457" w="11605211">
                <a:moveTo>
                  <a:pt x="0" y="0"/>
                </a:moveTo>
                <a:lnTo>
                  <a:pt x="11605211" y="0"/>
                </a:lnTo>
                <a:lnTo>
                  <a:pt x="11605211" y="11039458"/>
                </a:lnTo>
                <a:lnTo>
                  <a:pt x="0" y="11039458"/>
                </a:lnTo>
                <a:lnTo>
                  <a:pt x="0" y="0"/>
                </a:lnTo>
                <a:close/>
              </a:path>
            </a:pathLst>
          </a:custGeom>
          <a:blipFill rotWithShape="1">
            <a:blip r:embed="rId3">
              <a:alphaModFix amt="7000"/>
            </a:blip>
            <a:stretch>
              <a:fillRect b="0" l="0" r="0" t="0"/>
            </a:stretch>
          </a:blipFill>
          <a:ln>
            <a:noFill/>
          </a:ln>
        </p:spPr>
      </p:sp>
      <p:grpSp>
        <p:nvGrpSpPr>
          <p:cNvPr id="707" name="Google Shape;707;p36"/>
          <p:cNvGrpSpPr/>
          <p:nvPr/>
        </p:nvGrpSpPr>
        <p:grpSpPr>
          <a:xfrm>
            <a:off x="9172451" y="908552"/>
            <a:ext cx="12177451" cy="12177451"/>
            <a:chOff x="0" y="0"/>
            <a:chExt cx="812800" cy="812800"/>
          </a:xfrm>
        </p:grpSpPr>
        <p:sp>
          <p:nvSpPr>
            <p:cNvPr id="708" name="Google Shape;708;p3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929F">
                <a:alpha val="54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36"/>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10" name="Google Shape;710;p36"/>
          <p:cNvSpPr txBox="1"/>
          <p:nvPr/>
        </p:nvSpPr>
        <p:spPr>
          <a:xfrm>
            <a:off x="3234960" y="712462"/>
            <a:ext cx="12026100" cy="1095900"/>
          </a:xfrm>
          <a:prstGeom prst="rect">
            <a:avLst/>
          </a:prstGeom>
          <a:noFill/>
          <a:ln>
            <a:noFill/>
          </a:ln>
        </p:spPr>
        <p:txBody>
          <a:bodyPr anchorCtr="0" anchor="t" bIns="0" lIns="0" spcFirstLastPara="1" rIns="0" wrap="square" tIns="0">
            <a:spAutoFit/>
          </a:bodyPr>
          <a:lstStyle/>
          <a:p>
            <a:pPr indent="0" lvl="0" marL="0" marR="0" rtl="0" algn="ctr">
              <a:lnSpc>
                <a:spcPct val="104000"/>
              </a:lnSpc>
              <a:spcBef>
                <a:spcPts val="0"/>
              </a:spcBef>
              <a:spcAft>
                <a:spcPts val="0"/>
              </a:spcAft>
              <a:buNone/>
            </a:pPr>
            <a:r>
              <a:rPr b="1" i="0" lang="en-US" sz="8000" u="none" cap="none" strike="noStrike">
                <a:solidFill>
                  <a:srgbClr val="000000"/>
                </a:solidFill>
                <a:latin typeface="Montserrat"/>
                <a:ea typeface="Montserrat"/>
                <a:cs typeface="Montserrat"/>
                <a:sym typeface="Montserrat"/>
              </a:rPr>
              <a:t>Sprint Retrospective</a:t>
            </a:r>
            <a:endParaRPr/>
          </a:p>
        </p:txBody>
      </p:sp>
      <p:sp>
        <p:nvSpPr>
          <p:cNvPr id="711" name="Google Shape;711;p36"/>
          <p:cNvSpPr/>
          <p:nvPr/>
        </p:nvSpPr>
        <p:spPr>
          <a:xfrm flipH="1" rot="4914294">
            <a:off x="-6128175" y="-1084198"/>
            <a:ext cx="9639972" cy="9639972"/>
          </a:xfrm>
          <a:custGeom>
            <a:rect b="b" l="l" r="r" t="t"/>
            <a:pathLst>
              <a:path extrusionOk="0" h="3331210" w="3331210">
                <a:moveTo>
                  <a:pt x="3331210" y="3331210"/>
                </a:moveTo>
                <a:lnTo>
                  <a:pt x="3331210" y="0"/>
                </a:lnTo>
                <a:cubicBezTo>
                  <a:pt x="1490980" y="0"/>
                  <a:pt x="0" y="1490980"/>
                  <a:pt x="0" y="3331210"/>
                </a:cubicBezTo>
                <a:lnTo>
                  <a:pt x="3331210" y="3331210"/>
                </a:lnTo>
                <a:close/>
              </a:path>
            </a:pathLst>
          </a:custGeom>
          <a:solidFill>
            <a:srgbClr val="CDCABB"/>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36"/>
          <p:cNvSpPr/>
          <p:nvPr/>
        </p:nvSpPr>
        <p:spPr>
          <a:xfrm flipH="1" rot="5400000">
            <a:off x="-5192889" y="-3013837"/>
            <a:ext cx="9643853" cy="9643853"/>
          </a:xfrm>
          <a:custGeom>
            <a:rect b="b" l="l" r="r" t="t"/>
            <a:pathLst>
              <a:path extrusionOk="0" h="3331210" w="3331210">
                <a:moveTo>
                  <a:pt x="3331210" y="3331210"/>
                </a:moveTo>
                <a:lnTo>
                  <a:pt x="3331210" y="0"/>
                </a:lnTo>
                <a:cubicBezTo>
                  <a:pt x="1490980" y="0"/>
                  <a:pt x="0" y="1490980"/>
                  <a:pt x="0" y="3331210"/>
                </a:cubicBezTo>
                <a:lnTo>
                  <a:pt x="3331210" y="3331210"/>
                </a:lnTo>
                <a:close/>
              </a:path>
            </a:pathLst>
          </a:custGeom>
          <a:solidFill>
            <a:srgbClr val="03989E"/>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13" name="Google Shape;713;p36"/>
          <p:cNvGrpSpPr/>
          <p:nvPr/>
        </p:nvGrpSpPr>
        <p:grpSpPr>
          <a:xfrm>
            <a:off x="15226066" y="-3136897"/>
            <a:ext cx="6123879" cy="6123879"/>
            <a:chOff x="0" y="0"/>
            <a:chExt cx="812800" cy="812800"/>
          </a:xfrm>
        </p:grpSpPr>
        <p:sp>
          <p:nvSpPr>
            <p:cNvPr id="714" name="Google Shape;714;p3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36"/>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16" name="Google Shape;716;p36"/>
          <p:cNvGrpSpPr/>
          <p:nvPr/>
        </p:nvGrpSpPr>
        <p:grpSpPr>
          <a:xfrm>
            <a:off x="16324255" y="9258300"/>
            <a:ext cx="1742074" cy="1742074"/>
            <a:chOff x="0" y="0"/>
            <a:chExt cx="812800" cy="812800"/>
          </a:xfrm>
        </p:grpSpPr>
        <p:sp>
          <p:nvSpPr>
            <p:cNvPr id="717" name="Google Shape;717;p3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36"/>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19" name="Google Shape;719;p36"/>
          <p:cNvSpPr txBox="1"/>
          <p:nvPr/>
        </p:nvSpPr>
        <p:spPr>
          <a:xfrm>
            <a:off x="2683962" y="3293507"/>
            <a:ext cx="12920100" cy="486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3000" u="none" cap="none" strike="noStrike">
                <a:solidFill>
                  <a:srgbClr val="000000"/>
                </a:solidFill>
                <a:latin typeface="Poppins Light"/>
                <a:ea typeface="Poppins Light"/>
                <a:cs typeface="Poppins Light"/>
                <a:sym typeface="Poppins Light"/>
              </a:rPr>
              <a:t>Después de sprint review, se reailza una reunión donde los miembros del equipo reflexionan sobre qué salió bien y qué podría mejorarse en el próximo sprint.</a:t>
            </a:r>
            <a:endParaRPr/>
          </a:p>
          <a:p>
            <a:pPr indent="0" lvl="0" marL="0" marR="0" rtl="0" algn="l">
              <a:lnSpc>
                <a:spcPct val="160000"/>
              </a:lnSpc>
              <a:spcBef>
                <a:spcPts val="0"/>
              </a:spcBef>
              <a:spcAft>
                <a:spcPts val="0"/>
              </a:spcAft>
              <a:buNone/>
            </a:pPr>
            <a:r>
              <a:t/>
            </a:r>
            <a:endParaRPr b="0" i="0" sz="3000" u="none" cap="none" strike="noStrike">
              <a:solidFill>
                <a:srgbClr val="000000"/>
              </a:solidFill>
              <a:latin typeface="Poppins Light"/>
              <a:ea typeface="Poppins Light"/>
              <a:cs typeface="Poppins Light"/>
              <a:sym typeface="Poppins Light"/>
            </a:endParaRPr>
          </a:p>
          <a:p>
            <a:pPr indent="0" lvl="0" marL="0" marR="0" rtl="0" algn="l">
              <a:lnSpc>
                <a:spcPct val="160000"/>
              </a:lnSpc>
              <a:spcBef>
                <a:spcPts val="0"/>
              </a:spcBef>
              <a:spcAft>
                <a:spcPts val="0"/>
              </a:spcAft>
              <a:buNone/>
            </a:pPr>
            <a:r>
              <a:rPr b="0" i="0" lang="en-US" sz="3000" u="none" cap="none" strike="noStrike">
                <a:solidFill>
                  <a:srgbClr val="000000"/>
                </a:solidFill>
                <a:latin typeface="Poppins Light"/>
                <a:ea typeface="Poppins Light"/>
                <a:cs typeface="Poppins Light"/>
                <a:sym typeface="Poppins Light"/>
              </a:rPr>
              <a:t>Para ello, los integrantes del equipo responder a tres preguntas sobre el últimos sprint:  ¿qué ha ido bien durante el sprint? ¿qué se puede mejorar? y ¿qué ha fallado?</a:t>
            </a:r>
            <a:endParaRPr/>
          </a:p>
          <a:p>
            <a:pPr indent="0" lvl="0" marL="0" marR="0" rtl="0" algn="l">
              <a:lnSpc>
                <a:spcPct val="160000"/>
              </a:lnSpc>
              <a:spcBef>
                <a:spcPts val="0"/>
              </a:spcBef>
              <a:spcAft>
                <a:spcPts val="0"/>
              </a:spcAft>
              <a:buNone/>
            </a:pPr>
            <a:r>
              <a:t/>
            </a:r>
            <a:endParaRPr b="0" i="0" sz="3000" u="none" cap="none" strike="noStrike">
              <a:solidFill>
                <a:srgbClr val="000000"/>
              </a:solidFill>
              <a:latin typeface="Poppins Light"/>
              <a:ea typeface="Poppins Light"/>
              <a:cs typeface="Poppins Light"/>
              <a:sym typeface="Poppins Light"/>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3989E"/>
        </a:solidFill>
      </p:bgPr>
    </p:bg>
    <p:spTree>
      <p:nvGrpSpPr>
        <p:cNvPr id="723" name="Shape 723"/>
        <p:cNvGrpSpPr/>
        <p:nvPr/>
      </p:nvGrpSpPr>
      <p:grpSpPr>
        <a:xfrm>
          <a:off x="0" y="0"/>
          <a:ext cx="0" cy="0"/>
          <a:chOff x="0" y="0"/>
          <a:chExt cx="0" cy="0"/>
        </a:xfrm>
      </p:grpSpPr>
      <p:grpSp>
        <p:nvGrpSpPr>
          <p:cNvPr id="724" name="Google Shape;724;p37"/>
          <p:cNvGrpSpPr/>
          <p:nvPr/>
        </p:nvGrpSpPr>
        <p:grpSpPr>
          <a:xfrm>
            <a:off x="11301677" y="841157"/>
            <a:ext cx="9807407" cy="9807407"/>
            <a:chOff x="0" y="0"/>
            <a:chExt cx="812800" cy="812800"/>
          </a:xfrm>
        </p:grpSpPr>
        <p:sp>
          <p:nvSpPr>
            <p:cNvPr id="725" name="Google Shape;725;p3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54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37"/>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27" name="Google Shape;727;p37"/>
          <p:cNvGrpSpPr/>
          <p:nvPr/>
        </p:nvGrpSpPr>
        <p:grpSpPr>
          <a:xfrm>
            <a:off x="15664096" y="-1498702"/>
            <a:ext cx="3978412" cy="3978412"/>
            <a:chOff x="0" y="0"/>
            <a:chExt cx="812800" cy="812800"/>
          </a:xfrm>
        </p:grpSpPr>
        <p:sp>
          <p:nvSpPr>
            <p:cNvPr id="728" name="Google Shape;728;p3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37"/>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30" name="Google Shape;730;p37"/>
          <p:cNvGrpSpPr/>
          <p:nvPr/>
        </p:nvGrpSpPr>
        <p:grpSpPr>
          <a:xfrm>
            <a:off x="13983437" y="841157"/>
            <a:ext cx="1147836" cy="1147836"/>
            <a:chOff x="0" y="0"/>
            <a:chExt cx="812800" cy="812800"/>
          </a:xfrm>
        </p:grpSpPr>
        <p:sp>
          <p:nvSpPr>
            <p:cNvPr id="731" name="Google Shape;731;p3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37"/>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33" name="Google Shape;733;p37"/>
          <p:cNvSpPr/>
          <p:nvPr/>
        </p:nvSpPr>
        <p:spPr>
          <a:xfrm>
            <a:off x="10977163" y="3671509"/>
            <a:ext cx="6282137" cy="4114800"/>
          </a:xfrm>
          <a:custGeom>
            <a:rect b="b" l="l" r="r" t="t"/>
            <a:pathLst>
              <a:path extrusionOk="0" h="4114800" w="6282137">
                <a:moveTo>
                  <a:pt x="0" y="0"/>
                </a:moveTo>
                <a:lnTo>
                  <a:pt x="6282137" y="0"/>
                </a:lnTo>
                <a:lnTo>
                  <a:pt x="6282137" y="4114800"/>
                </a:lnTo>
                <a:lnTo>
                  <a:pt x="0" y="4114800"/>
                </a:lnTo>
                <a:lnTo>
                  <a:pt x="0" y="0"/>
                </a:lnTo>
                <a:close/>
              </a:path>
            </a:pathLst>
          </a:custGeom>
          <a:blipFill rotWithShape="1">
            <a:blip r:embed="rId3">
              <a:alphaModFix/>
            </a:blip>
            <a:stretch>
              <a:fillRect b="0" l="0" r="0" t="0"/>
            </a:stretch>
          </a:blipFill>
          <a:ln>
            <a:noFill/>
          </a:ln>
        </p:spPr>
      </p:sp>
      <p:sp>
        <p:nvSpPr>
          <p:cNvPr id="734" name="Google Shape;734;p37"/>
          <p:cNvSpPr txBox="1"/>
          <p:nvPr/>
        </p:nvSpPr>
        <p:spPr>
          <a:xfrm>
            <a:off x="1028700" y="1133023"/>
            <a:ext cx="10656900" cy="1530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3800" u="none" cap="none" strike="noStrike">
                <a:solidFill>
                  <a:srgbClr val="FEFEFE"/>
                </a:solidFill>
                <a:latin typeface="Poppins Light"/>
                <a:ea typeface="Poppins Light"/>
                <a:cs typeface="Poppins Light"/>
                <a:sym typeface="Poppins Light"/>
              </a:rPr>
              <a:t>Con una retrospectiva del sprint, el equipo puede lograr:</a:t>
            </a:r>
            <a:endParaRPr/>
          </a:p>
        </p:txBody>
      </p:sp>
      <p:sp>
        <p:nvSpPr>
          <p:cNvPr id="735" name="Google Shape;735;p37"/>
          <p:cNvSpPr txBox="1"/>
          <p:nvPr/>
        </p:nvSpPr>
        <p:spPr>
          <a:xfrm>
            <a:off x="1650431" y="3528634"/>
            <a:ext cx="8965800" cy="4289700"/>
          </a:xfrm>
          <a:prstGeom prst="rect">
            <a:avLst/>
          </a:prstGeom>
          <a:noFill/>
          <a:ln>
            <a:noFill/>
          </a:ln>
        </p:spPr>
        <p:txBody>
          <a:bodyPr anchorCtr="0" anchor="t" bIns="0" lIns="0" spcFirstLastPara="1" rIns="0" wrap="square" tIns="0">
            <a:spAutoFit/>
          </a:bodyPr>
          <a:lstStyle/>
          <a:p>
            <a:pPr indent="-323850" lvl="1" marL="647700" marR="0" rtl="0" algn="l">
              <a:lnSpc>
                <a:spcPct val="160000"/>
              </a:lnSpc>
              <a:spcBef>
                <a:spcPts val="0"/>
              </a:spcBef>
              <a:spcAft>
                <a:spcPts val="0"/>
              </a:spcAft>
              <a:buClr>
                <a:srgbClr val="FEFEFE"/>
              </a:buClr>
              <a:buSzPts val="3000"/>
              <a:buFont typeface="Arial"/>
              <a:buChar char="•"/>
            </a:pPr>
            <a:r>
              <a:rPr b="0" i="0" lang="en-US" sz="3000" u="none" cap="none" strike="noStrike">
                <a:solidFill>
                  <a:srgbClr val="FEFEFE"/>
                </a:solidFill>
                <a:latin typeface="Poppins Light"/>
                <a:ea typeface="Poppins Light"/>
                <a:cs typeface="Poppins Light"/>
                <a:sym typeface="Poppins Light"/>
              </a:rPr>
              <a:t>Reconocer y continuar realizando las tareas que generan resultados. </a:t>
            </a:r>
            <a:endParaRPr/>
          </a:p>
          <a:p>
            <a:pPr indent="0" lvl="0" marL="0" marR="0" rtl="0" algn="l">
              <a:lnSpc>
                <a:spcPct val="160000"/>
              </a:lnSpc>
              <a:spcBef>
                <a:spcPts val="0"/>
              </a:spcBef>
              <a:spcAft>
                <a:spcPts val="0"/>
              </a:spcAft>
              <a:buNone/>
            </a:pPr>
            <a:r>
              <a:t/>
            </a:r>
            <a:endParaRPr b="0" i="0" sz="3000" u="none" cap="none" strike="noStrike">
              <a:solidFill>
                <a:srgbClr val="FEFEFE"/>
              </a:solidFill>
              <a:latin typeface="Poppins Light"/>
              <a:ea typeface="Poppins Light"/>
              <a:cs typeface="Poppins Light"/>
              <a:sym typeface="Poppins Light"/>
            </a:endParaRPr>
          </a:p>
          <a:p>
            <a:pPr indent="-323850" lvl="1" marL="647700" marR="0" rtl="0" algn="l">
              <a:lnSpc>
                <a:spcPct val="160000"/>
              </a:lnSpc>
              <a:spcBef>
                <a:spcPts val="0"/>
              </a:spcBef>
              <a:spcAft>
                <a:spcPts val="0"/>
              </a:spcAft>
              <a:buClr>
                <a:srgbClr val="FEFEFE"/>
              </a:buClr>
              <a:buSzPts val="3000"/>
              <a:buFont typeface="Arial"/>
              <a:buChar char="•"/>
            </a:pPr>
            <a:r>
              <a:rPr b="0" i="0" lang="en-US" sz="3000" u="none" cap="none" strike="noStrike">
                <a:solidFill>
                  <a:srgbClr val="FEFEFE"/>
                </a:solidFill>
                <a:latin typeface="Poppins Light"/>
                <a:ea typeface="Poppins Light"/>
                <a:cs typeface="Poppins Light"/>
                <a:sym typeface="Poppins Light"/>
              </a:rPr>
              <a:t>Identificar áreas de mejora.</a:t>
            </a:r>
            <a:endParaRPr/>
          </a:p>
          <a:p>
            <a:pPr indent="0" lvl="0" marL="0" marR="0" rtl="0" algn="l">
              <a:lnSpc>
                <a:spcPct val="160000"/>
              </a:lnSpc>
              <a:spcBef>
                <a:spcPts val="0"/>
              </a:spcBef>
              <a:spcAft>
                <a:spcPts val="0"/>
              </a:spcAft>
              <a:buNone/>
            </a:pPr>
            <a:r>
              <a:t/>
            </a:r>
            <a:endParaRPr b="0" i="0" sz="3000" u="none" cap="none" strike="noStrike">
              <a:solidFill>
                <a:srgbClr val="FEFEFE"/>
              </a:solidFill>
              <a:latin typeface="Poppins Light"/>
              <a:ea typeface="Poppins Light"/>
              <a:cs typeface="Poppins Light"/>
              <a:sym typeface="Poppins Light"/>
            </a:endParaRPr>
          </a:p>
          <a:p>
            <a:pPr indent="-323850" lvl="1" marL="647700" marR="0" rtl="0" algn="l">
              <a:lnSpc>
                <a:spcPct val="160000"/>
              </a:lnSpc>
              <a:spcBef>
                <a:spcPts val="0"/>
              </a:spcBef>
              <a:spcAft>
                <a:spcPts val="0"/>
              </a:spcAft>
              <a:buClr>
                <a:srgbClr val="FEFEFE"/>
              </a:buClr>
              <a:buSzPts val="3000"/>
              <a:buFont typeface="Arial"/>
              <a:buChar char="•"/>
            </a:pPr>
            <a:r>
              <a:rPr b="0" i="0" lang="en-US" sz="3000" u="none" cap="none" strike="noStrike">
                <a:solidFill>
                  <a:srgbClr val="FEFEFE"/>
                </a:solidFill>
                <a:latin typeface="Poppins Light"/>
                <a:ea typeface="Poppins Light"/>
                <a:cs typeface="Poppins Light"/>
                <a:sym typeface="Poppins Light"/>
              </a:rPr>
              <a:t>Crear un plan para implementar mejoras en el proceso de planificación de sprints.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3F4"/>
        </a:solidFill>
      </p:bgPr>
    </p:bg>
    <p:spTree>
      <p:nvGrpSpPr>
        <p:cNvPr id="739" name="Shape 739"/>
        <p:cNvGrpSpPr/>
        <p:nvPr/>
      </p:nvGrpSpPr>
      <p:grpSpPr>
        <a:xfrm>
          <a:off x="0" y="0"/>
          <a:ext cx="0" cy="0"/>
          <a:chOff x="0" y="0"/>
          <a:chExt cx="0" cy="0"/>
        </a:xfrm>
      </p:grpSpPr>
      <p:grpSp>
        <p:nvGrpSpPr>
          <p:cNvPr id="740" name="Google Shape;740;p38"/>
          <p:cNvGrpSpPr/>
          <p:nvPr/>
        </p:nvGrpSpPr>
        <p:grpSpPr>
          <a:xfrm>
            <a:off x="15664096" y="-1498702"/>
            <a:ext cx="3978412" cy="3978412"/>
            <a:chOff x="0" y="0"/>
            <a:chExt cx="812800" cy="812800"/>
          </a:xfrm>
        </p:grpSpPr>
        <p:sp>
          <p:nvSpPr>
            <p:cNvPr id="741" name="Google Shape;741;p3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38"/>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43" name="Google Shape;743;p38"/>
          <p:cNvGrpSpPr/>
          <p:nvPr/>
        </p:nvGrpSpPr>
        <p:grpSpPr>
          <a:xfrm>
            <a:off x="13983437" y="841157"/>
            <a:ext cx="1147836" cy="1147836"/>
            <a:chOff x="0" y="0"/>
            <a:chExt cx="812800" cy="812800"/>
          </a:xfrm>
        </p:grpSpPr>
        <p:sp>
          <p:nvSpPr>
            <p:cNvPr id="744" name="Google Shape;744;p3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38"/>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46" name="Google Shape;746;p38"/>
          <p:cNvSpPr/>
          <p:nvPr/>
        </p:nvSpPr>
        <p:spPr>
          <a:xfrm>
            <a:off x="949764" y="1902298"/>
            <a:ext cx="16309536" cy="6482404"/>
          </a:xfrm>
          <a:custGeom>
            <a:rect b="b" l="l" r="r" t="t"/>
            <a:pathLst>
              <a:path extrusionOk="0" h="6482404" w="16309536">
                <a:moveTo>
                  <a:pt x="0" y="0"/>
                </a:moveTo>
                <a:lnTo>
                  <a:pt x="16309536" y="0"/>
                </a:lnTo>
                <a:lnTo>
                  <a:pt x="16309536" y="6482404"/>
                </a:lnTo>
                <a:lnTo>
                  <a:pt x="0" y="6482404"/>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grpSp>
        <p:nvGrpSpPr>
          <p:cNvPr id="751" name="Google Shape;751;p39"/>
          <p:cNvGrpSpPr/>
          <p:nvPr/>
        </p:nvGrpSpPr>
        <p:grpSpPr>
          <a:xfrm>
            <a:off x="-1028061" y="-2700651"/>
            <a:ext cx="12177482" cy="12177482"/>
            <a:chOff x="0" y="0"/>
            <a:chExt cx="812800" cy="812800"/>
          </a:xfrm>
        </p:grpSpPr>
        <p:sp>
          <p:nvSpPr>
            <p:cNvPr id="752" name="Google Shape;752;p3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F3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3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54" name="Google Shape;754;p39"/>
          <p:cNvSpPr/>
          <p:nvPr/>
        </p:nvSpPr>
        <p:spPr>
          <a:xfrm rot="5280122">
            <a:off x="9281751" y="92152"/>
            <a:ext cx="11605211" cy="11039457"/>
          </a:xfrm>
          <a:custGeom>
            <a:rect b="b" l="l" r="r" t="t"/>
            <a:pathLst>
              <a:path extrusionOk="0" h="11039457" w="11605211">
                <a:moveTo>
                  <a:pt x="0" y="0"/>
                </a:moveTo>
                <a:lnTo>
                  <a:pt x="11605211" y="0"/>
                </a:lnTo>
                <a:lnTo>
                  <a:pt x="11605211" y="11039457"/>
                </a:lnTo>
                <a:lnTo>
                  <a:pt x="0" y="11039457"/>
                </a:lnTo>
                <a:lnTo>
                  <a:pt x="0" y="0"/>
                </a:lnTo>
                <a:close/>
              </a:path>
            </a:pathLst>
          </a:custGeom>
          <a:blipFill rotWithShape="1">
            <a:blip r:embed="rId3">
              <a:alphaModFix amt="6999"/>
            </a:blip>
            <a:stretch>
              <a:fillRect b="0" l="0" r="0" t="0"/>
            </a:stretch>
          </a:blipFill>
          <a:ln>
            <a:noFill/>
          </a:ln>
        </p:spPr>
      </p:sp>
      <p:grpSp>
        <p:nvGrpSpPr>
          <p:cNvPr id="755" name="Google Shape;755;p39"/>
          <p:cNvGrpSpPr/>
          <p:nvPr/>
        </p:nvGrpSpPr>
        <p:grpSpPr>
          <a:xfrm>
            <a:off x="13478670" y="5514656"/>
            <a:ext cx="12177482" cy="12177482"/>
            <a:chOff x="0" y="0"/>
            <a:chExt cx="812800" cy="812800"/>
          </a:xfrm>
        </p:grpSpPr>
        <p:sp>
          <p:nvSpPr>
            <p:cNvPr id="756" name="Google Shape;756;p3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3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58" name="Google Shape;758;p39"/>
          <p:cNvSpPr txBox="1"/>
          <p:nvPr/>
        </p:nvSpPr>
        <p:spPr>
          <a:xfrm>
            <a:off x="2711654" y="234182"/>
            <a:ext cx="12864692" cy="279717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8000" u="none" cap="none" strike="noStrike">
                <a:solidFill>
                  <a:srgbClr val="000000"/>
                </a:solidFill>
                <a:latin typeface="Montserrat"/>
                <a:ea typeface="Montserrat"/>
                <a:cs typeface="Montserrat"/>
                <a:sym typeface="Montserrat"/>
              </a:rPr>
              <a:t>Técnicas de Estimación en Scrum</a:t>
            </a:r>
            <a:endParaRPr/>
          </a:p>
        </p:txBody>
      </p:sp>
      <p:grpSp>
        <p:nvGrpSpPr>
          <p:cNvPr id="759" name="Google Shape;759;p39"/>
          <p:cNvGrpSpPr/>
          <p:nvPr/>
        </p:nvGrpSpPr>
        <p:grpSpPr>
          <a:xfrm>
            <a:off x="14733054" y="-2477251"/>
            <a:ext cx="3505951" cy="3505951"/>
            <a:chOff x="0" y="0"/>
            <a:chExt cx="812800" cy="812800"/>
          </a:xfrm>
        </p:grpSpPr>
        <p:sp>
          <p:nvSpPr>
            <p:cNvPr id="760" name="Google Shape;760;p3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3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62" name="Google Shape;762;p39"/>
          <p:cNvGrpSpPr/>
          <p:nvPr/>
        </p:nvGrpSpPr>
        <p:grpSpPr>
          <a:xfrm>
            <a:off x="-120068" y="-379636"/>
            <a:ext cx="1551487" cy="1551487"/>
            <a:chOff x="0" y="0"/>
            <a:chExt cx="812800" cy="812800"/>
          </a:xfrm>
        </p:grpSpPr>
        <p:sp>
          <p:nvSpPr>
            <p:cNvPr id="763" name="Google Shape;763;p3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3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65" name="Google Shape;765;p39"/>
          <p:cNvGrpSpPr/>
          <p:nvPr/>
        </p:nvGrpSpPr>
        <p:grpSpPr>
          <a:xfrm>
            <a:off x="-3909957" y="8534677"/>
            <a:ext cx="6437648" cy="6437648"/>
            <a:chOff x="0" y="0"/>
            <a:chExt cx="812800" cy="812800"/>
          </a:xfrm>
        </p:grpSpPr>
        <p:sp>
          <p:nvSpPr>
            <p:cNvPr id="766" name="Google Shape;766;p3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3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68" name="Google Shape;768;p39"/>
          <p:cNvSpPr txBox="1"/>
          <p:nvPr/>
        </p:nvSpPr>
        <p:spPr>
          <a:xfrm>
            <a:off x="1539754" y="3921197"/>
            <a:ext cx="14036592" cy="3618865"/>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000000"/>
                </a:solidFill>
                <a:latin typeface="Poppins"/>
                <a:ea typeface="Poppins"/>
                <a:cs typeface="Poppins"/>
                <a:sym typeface="Poppins"/>
              </a:rPr>
              <a:t>Uno de los atributos que deben tener los elementos del Product Backlog es la estimación, gracias a la cual el equipo SCRUM podrá seleccionar durante la planificación del Sprint, en función de la capacidad que tenga el equipo de desarrollo, los elementos del Backlog que piensa que se podrán acometer dentro del siguiente Sprint.</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grpSp>
        <p:nvGrpSpPr>
          <p:cNvPr id="773" name="Google Shape;773;p40"/>
          <p:cNvGrpSpPr/>
          <p:nvPr/>
        </p:nvGrpSpPr>
        <p:grpSpPr>
          <a:xfrm>
            <a:off x="16395487" y="-293046"/>
            <a:ext cx="6123867" cy="6123867"/>
            <a:chOff x="0" y="0"/>
            <a:chExt cx="812800" cy="812800"/>
          </a:xfrm>
        </p:grpSpPr>
        <p:sp>
          <p:nvSpPr>
            <p:cNvPr id="774" name="Google Shape;774;p4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844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40"/>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76" name="Google Shape;776;p40"/>
          <p:cNvGrpSpPr/>
          <p:nvPr/>
        </p:nvGrpSpPr>
        <p:grpSpPr>
          <a:xfrm>
            <a:off x="7279939" y="2503540"/>
            <a:ext cx="12177482" cy="12177482"/>
            <a:chOff x="0" y="0"/>
            <a:chExt cx="812800" cy="812800"/>
          </a:xfrm>
        </p:grpSpPr>
        <p:sp>
          <p:nvSpPr>
            <p:cNvPr id="777" name="Google Shape;777;p4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alpha val="54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40"/>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79" name="Google Shape;779;p40"/>
          <p:cNvSpPr txBox="1"/>
          <p:nvPr/>
        </p:nvSpPr>
        <p:spPr>
          <a:xfrm>
            <a:off x="1525412" y="901845"/>
            <a:ext cx="9807143" cy="116649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1" i="0" lang="en-US" sz="8000" u="none" cap="none" strike="noStrike">
                <a:solidFill>
                  <a:srgbClr val="000000"/>
                </a:solidFill>
                <a:latin typeface="Montserrat"/>
                <a:ea typeface="Montserrat"/>
                <a:cs typeface="Montserrat"/>
                <a:sym typeface="Montserrat"/>
              </a:rPr>
              <a:t>Planning Póker</a:t>
            </a:r>
            <a:endParaRPr/>
          </a:p>
        </p:txBody>
      </p:sp>
      <p:grpSp>
        <p:nvGrpSpPr>
          <p:cNvPr id="780" name="Google Shape;780;p40"/>
          <p:cNvGrpSpPr/>
          <p:nvPr/>
        </p:nvGrpSpPr>
        <p:grpSpPr>
          <a:xfrm>
            <a:off x="15347286" y="-1541874"/>
            <a:ext cx="6123867" cy="6123867"/>
            <a:chOff x="0" y="0"/>
            <a:chExt cx="812800" cy="812800"/>
          </a:xfrm>
        </p:grpSpPr>
        <p:sp>
          <p:nvSpPr>
            <p:cNvPr id="781" name="Google Shape;781;p4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40"/>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83" name="Google Shape;783;p40"/>
          <p:cNvGrpSpPr/>
          <p:nvPr/>
        </p:nvGrpSpPr>
        <p:grpSpPr>
          <a:xfrm>
            <a:off x="-880628" y="9258300"/>
            <a:ext cx="1909328" cy="1909328"/>
            <a:chOff x="0" y="0"/>
            <a:chExt cx="812800" cy="812800"/>
          </a:xfrm>
        </p:grpSpPr>
        <p:sp>
          <p:nvSpPr>
            <p:cNvPr id="784" name="Google Shape;784;p4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40"/>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86" name="Google Shape;786;p40"/>
          <p:cNvGrpSpPr/>
          <p:nvPr/>
        </p:nvGrpSpPr>
        <p:grpSpPr>
          <a:xfrm>
            <a:off x="16168502" y="8712901"/>
            <a:ext cx="1090798" cy="1090798"/>
            <a:chOff x="0" y="0"/>
            <a:chExt cx="812800" cy="812800"/>
          </a:xfrm>
        </p:grpSpPr>
        <p:sp>
          <p:nvSpPr>
            <p:cNvPr id="787" name="Google Shape;787;p4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844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40"/>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89" name="Google Shape;789;p40"/>
          <p:cNvSpPr txBox="1"/>
          <p:nvPr/>
        </p:nvSpPr>
        <p:spPr>
          <a:xfrm>
            <a:off x="1753280" y="3528801"/>
            <a:ext cx="14781439" cy="3618865"/>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0" i="0" lang="en-US" sz="3399" u="none" cap="none" strike="noStrike">
                <a:solidFill>
                  <a:srgbClr val="000000"/>
                </a:solidFill>
                <a:latin typeface="Poppins"/>
                <a:ea typeface="Poppins"/>
                <a:cs typeface="Poppins"/>
                <a:sym typeface="Poppins"/>
              </a:rPr>
              <a:t>Los participantes emplean cartas con una numeración especial que asignan a cada uno de los elementos del Product Backlog. Después de estimar un elemento del Product Backlog, las personas que han otorgado la mayor y la menor puntuación explican los motivos por los que han escogido dicha puntuación y se vuelve a realizar la estimación, así hasta que se llegue a un consenso.</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grpSp>
        <p:nvGrpSpPr>
          <p:cNvPr id="794" name="Google Shape;794;p41"/>
          <p:cNvGrpSpPr/>
          <p:nvPr/>
        </p:nvGrpSpPr>
        <p:grpSpPr>
          <a:xfrm>
            <a:off x="-5977612" y="-140854"/>
            <a:ext cx="12177482" cy="12177482"/>
            <a:chOff x="0" y="0"/>
            <a:chExt cx="812800" cy="812800"/>
          </a:xfrm>
        </p:grpSpPr>
        <p:sp>
          <p:nvSpPr>
            <p:cNvPr id="795" name="Google Shape;795;p4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929F">
                <a:alpha val="54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4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97" name="Google Shape;797;p41"/>
          <p:cNvSpPr/>
          <p:nvPr/>
        </p:nvSpPr>
        <p:spPr>
          <a:xfrm rot="5280122">
            <a:off x="8534494" y="131981"/>
            <a:ext cx="11605211" cy="11039457"/>
          </a:xfrm>
          <a:custGeom>
            <a:rect b="b" l="l" r="r" t="t"/>
            <a:pathLst>
              <a:path extrusionOk="0" h="11039457" w="11605211">
                <a:moveTo>
                  <a:pt x="0" y="0"/>
                </a:moveTo>
                <a:lnTo>
                  <a:pt x="11605211" y="0"/>
                </a:lnTo>
                <a:lnTo>
                  <a:pt x="11605211" y="11039457"/>
                </a:lnTo>
                <a:lnTo>
                  <a:pt x="0" y="11039457"/>
                </a:lnTo>
                <a:lnTo>
                  <a:pt x="0" y="0"/>
                </a:lnTo>
                <a:close/>
              </a:path>
            </a:pathLst>
          </a:custGeom>
          <a:blipFill rotWithShape="1">
            <a:blip r:embed="rId3">
              <a:alphaModFix amt="6999"/>
            </a:blip>
            <a:stretch>
              <a:fillRect b="0" l="0" r="0" t="0"/>
            </a:stretch>
          </a:blipFill>
          <a:ln>
            <a:noFill/>
          </a:ln>
        </p:spPr>
      </p:sp>
      <p:sp>
        <p:nvSpPr>
          <p:cNvPr id="798" name="Google Shape;798;p41"/>
          <p:cNvSpPr/>
          <p:nvPr/>
        </p:nvSpPr>
        <p:spPr>
          <a:xfrm flipH="1" rot="8559574">
            <a:off x="11443639" y="-3380549"/>
            <a:ext cx="6479390" cy="6479390"/>
          </a:xfrm>
          <a:custGeom>
            <a:rect b="b" l="l" r="r" t="t"/>
            <a:pathLst>
              <a:path extrusionOk="0" h="3331210" w="3331210">
                <a:moveTo>
                  <a:pt x="3331210" y="3331210"/>
                </a:moveTo>
                <a:lnTo>
                  <a:pt x="3331210" y="0"/>
                </a:lnTo>
                <a:cubicBezTo>
                  <a:pt x="1490980" y="0"/>
                  <a:pt x="0" y="1490980"/>
                  <a:pt x="0" y="3331210"/>
                </a:cubicBezTo>
                <a:lnTo>
                  <a:pt x="3331210" y="3331210"/>
                </a:lnTo>
                <a:close/>
              </a:path>
            </a:pathLst>
          </a:custGeom>
          <a:solidFill>
            <a:srgbClr val="CDCABB"/>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9" name="Google Shape;799;p41"/>
          <p:cNvGrpSpPr/>
          <p:nvPr/>
        </p:nvGrpSpPr>
        <p:grpSpPr>
          <a:xfrm>
            <a:off x="-774951" y="8735978"/>
            <a:ext cx="2592345" cy="2592345"/>
            <a:chOff x="0" y="0"/>
            <a:chExt cx="812800" cy="812800"/>
          </a:xfrm>
        </p:grpSpPr>
        <p:sp>
          <p:nvSpPr>
            <p:cNvPr id="800" name="Google Shape;800;p4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4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02" name="Google Shape;802;p41"/>
          <p:cNvGrpSpPr/>
          <p:nvPr/>
        </p:nvGrpSpPr>
        <p:grpSpPr>
          <a:xfrm>
            <a:off x="15989384" y="8506591"/>
            <a:ext cx="1503418" cy="1503418"/>
            <a:chOff x="0" y="0"/>
            <a:chExt cx="812800" cy="812800"/>
          </a:xfrm>
        </p:grpSpPr>
        <p:sp>
          <p:nvSpPr>
            <p:cNvPr id="803" name="Google Shape;803;p4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4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05" name="Google Shape;805;p41"/>
          <p:cNvSpPr/>
          <p:nvPr/>
        </p:nvSpPr>
        <p:spPr>
          <a:xfrm>
            <a:off x="8370802" y="808311"/>
            <a:ext cx="8888498" cy="8222733"/>
          </a:xfrm>
          <a:custGeom>
            <a:rect b="b" l="l" r="r" t="t"/>
            <a:pathLst>
              <a:path extrusionOk="0" h="8222733" w="8888498">
                <a:moveTo>
                  <a:pt x="0" y="0"/>
                </a:moveTo>
                <a:lnTo>
                  <a:pt x="8888498" y="0"/>
                </a:lnTo>
                <a:lnTo>
                  <a:pt x="8888498" y="8222732"/>
                </a:lnTo>
                <a:lnTo>
                  <a:pt x="0" y="8222732"/>
                </a:lnTo>
                <a:lnTo>
                  <a:pt x="0" y="0"/>
                </a:lnTo>
                <a:close/>
              </a:path>
            </a:pathLst>
          </a:custGeom>
          <a:blipFill rotWithShape="1">
            <a:blip r:embed="rId4">
              <a:alphaModFix/>
            </a:blip>
            <a:stretch>
              <a:fillRect b="0" l="-2370" r="0" t="0"/>
            </a:stretch>
          </a:blipFill>
          <a:ln>
            <a:noFill/>
          </a:ln>
        </p:spPr>
      </p:sp>
      <p:sp>
        <p:nvSpPr>
          <p:cNvPr id="806" name="Google Shape;806;p41"/>
          <p:cNvSpPr txBox="1"/>
          <p:nvPr/>
        </p:nvSpPr>
        <p:spPr>
          <a:xfrm>
            <a:off x="1028700" y="3696032"/>
            <a:ext cx="6946878" cy="2380615"/>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En el planning póker, la numeración de las cartas está basada en una serie de Fibonnacci (0, 1, 2, 3, 5, 8, 13, 21 34, etc.),</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grpSp>
        <p:nvGrpSpPr>
          <p:cNvPr id="811" name="Google Shape;811;p42"/>
          <p:cNvGrpSpPr/>
          <p:nvPr/>
        </p:nvGrpSpPr>
        <p:grpSpPr>
          <a:xfrm>
            <a:off x="11041213" y="-1363795"/>
            <a:ext cx="5114218" cy="5114218"/>
            <a:chOff x="0" y="0"/>
            <a:chExt cx="812800" cy="812800"/>
          </a:xfrm>
        </p:grpSpPr>
        <p:sp>
          <p:nvSpPr>
            <p:cNvPr id="812" name="Google Shape;812;p4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4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14" name="Google Shape;814;p42"/>
          <p:cNvGrpSpPr/>
          <p:nvPr/>
        </p:nvGrpSpPr>
        <p:grpSpPr>
          <a:xfrm>
            <a:off x="5767078" y="1595298"/>
            <a:ext cx="12177482" cy="12177482"/>
            <a:chOff x="0" y="0"/>
            <a:chExt cx="812800" cy="812800"/>
          </a:xfrm>
        </p:grpSpPr>
        <p:sp>
          <p:nvSpPr>
            <p:cNvPr id="815" name="Google Shape;815;p4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929F">
                <a:alpha val="54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4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17" name="Google Shape;817;p42"/>
          <p:cNvGrpSpPr/>
          <p:nvPr/>
        </p:nvGrpSpPr>
        <p:grpSpPr>
          <a:xfrm>
            <a:off x="-3188068" y="-155486"/>
            <a:ext cx="13824023" cy="13824023"/>
            <a:chOff x="0" y="0"/>
            <a:chExt cx="812800" cy="812800"/>
          </a:xfrm>
        </p:grpSpPr>
        <p:sp>
          <p:nvSpPr>
            <p:cNvPr id="818" name="Google Shape;818;p4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4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20" name="Google Shape;820;p42"/>
          <p:cNvGrpSpPr/>
          <p:nvPr/>
        </p:nvGrpSpPr>
        <p:grpSpPr>
          <a:xfrm>
            <a:off x="-3411167" y="-9622428"/>
            <a:ext cx="13824023" cy="13824023"/>
            <a:chOff x="0" y="0"/>
            <a:chExt cx="812800" cy="812800"/>
          </a:xfrm>
        </p:grpSpPr>
        <p:sp>
          <p:nvSpPr>
            <p:cNvPr id="821" name="Google Shape;821;p4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4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23" name="Google Shape;823;p42"/>
          <p:cNvGrpSpPr/>
          <p:nvPr/>
        </p:nvGrpSpPr>
        <p:grpSpPr>
          <a:xfrm>
            <a:off x="16370299" y="7684039"/>
            <a:ext cx="3148521" cy="3148521"/>
            <a:chOff x="0" y="0"/>
            <a:chExt cx="812800" cy="812800"/>
          </a:xfrm>
        </p:grpSpPr>
        <p:sp>
          <p:nvSpPr>
            <p:cNvPr id="824" name="Google Shape;824;p4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4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26" name="Google Shape;826;p42"/>
          <p:cNvGrpSpPr/>
          <p:nvPr/>
        </p:nvGrpSpPr>
        <p:grpSpPr>
          <a:xfrm>
            <a:off x="14758003" y="7684039"/>
            <a:ext cx="1206187" cy="1206187"/>
            <a:chOff x="0" y="0"/>
            <a:chExt cx="812800" cy="812800"/>
          </a:xfrm>
        </p:grpSpPr>
        <p:sp>
          <p:nvSpPr>
            <p:cNvPr id="827" name="Google Shape;827;p4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4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29" name="Google Shape;829;p42"/>
          <p:cNvSpPr txBox="1"/>
          <p:nvPr/>
        </p:nvSpPr>
        <p:spPr>
          <a:xfrm>
            <a:off x="605713" y="828204"/>
            <a:ext cx="9807143" cy="116649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1" i="0" lang="en-US" sz="8000" u="none" cap="none" strike="noStrike">
                <a:solidFill>
                  <a:srgbClr val="FEFEFE"/>
                </a:solidFill>
                <a:latin typeface="Montserrat"/>
                <a:ea typeface="Montserrat"/>
                <a:cs typeface="Montserrat"/>
                <a:sym typeface="Montserrat"/>
              </a:rPr>
              <a:t>T-Shirt Sizes</a:t>
            </a:r>
            <a:endParaRPr/>
          </a:p>
        </p:txBody>
      </p:sp>
      <p:sp>
        <p:nvSpPr>
          <p:cNvPr id="830" name="Google Shape;830;p42"/>
          <p:cNvSpPr txBox="1"/>
          <p:nvPr/>
        </p:nvSpPr>
        <p:spPr>
          <a:xfrm>
            <a:off x="605713" y="4703349"/>
            <a:ext cx="16621762" cy="298069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0" i="0" lang="en-US" sz="3399" u="none" cap="none" strike="noStrike">
                <a:solidFill>
                  <a:srgbClr val="000000"/>
                </a:solidFill>
                <a:latin typeface="Open Sans"/>
                <a:ea typeface="Open Sans"/>
                <a:cs typeface="Open Sans"/>
                <a:sym typeface="Open Sans"/>
              </a:rPr>
              <a:t>Esta técnica se basa en asignar tallas de camiseta (XS, S, M L, XL) a la hora de estimar en vez de utilizar números, lo cual puede ayudar a que los miembros del equipo a adoptar la idea de una estimación relativa desasociando el valor de la estimación de un elemento del Product Backlog con el esfuerzo equivalente necesario para su implementación.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grpSp>
        <p:nvGrpSpPr>
          <p:cNvPr id="835" name="Google Shape;835;p43"/>
          <p:cNvGrpSpPr/>
          <p:nvPr/>
        </p:nvGrpSpPr>
        <p:grpSpPr>
          <a:xfrm>
            <a:off x="-5567519" y="-576376"/>
            <a:ext cx="12177482" cy="12177482"/>
            <a:chOff x="0" y="0"/>
            <a:chExt cx="812800" cy="812800"/>
          </a:xfrm>
        </p:grpSpPr>
        <p:sp>
          <p:nvSpPr>
            <p:cNvPr id="836" name="Google Shape;836;p4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929F">
                <a:alpha val="54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4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38" name="Google Shape;838;p43"/>
          <p:cNvSpPr/>
          <p:nvPr/>
        </p:nvSpPr>
        <p:spPr>
          <a:xfrm rot="5280122">
            <a:off x="9547589" y="330935"/>
            <a:ext cx="11605211" cy="11039457"/>
          </a:xfrm>
          <a:custGeom>
            <a:rect b="b" l="l" r="r" t="t"/>
            <a:pathLst>
              <a:path extrusionOk="0" h="11039457" w="11605211">
                <a:moveTo>
                  <a:pt x="0" y="0"/>
                </a:moveTo>
                <a:lnTo>
                  <a:pt x="11605211" y="0"/>
                </a:lnTo>
                <a:lnTo>
                  <a:pt x="11605211" y="11039457"/>
                </a:lnTo>
                <a:lnTo>
                  <a:pt x="0" y="11039457"/>
                </a:lnTo>
                <a:lnTo>
                  <a:pt x="0" y="0"/>
                </a:lnTo>
                <a:close/>
              </a:path>
            </a:pathLst>
          </a:custGeom>
          <a:blipFill rotWithShape="1">
            <a:blip r:embed="rId3">
              <a:alphaModFix amt="6999"/>
            </a:blip>
            <a:stretch>
              <a:fillRect b="0" l="0" r="0" t="0"/>
            </a:stretch>
          </a:blipFill>
          <a:ln>
            <a:noFill/>
          </a:ln>
        </p:spPr>
      </p:sp>
      <p:sp>
        <p:nvSpPr>
          <p:cNvPr id="839" name="Google Shape;839;p43"/>
          <p:cNvSpPr/>
          <p:nvPr/>
        </p:nvSpPr>
        <p:spPr>
          <a:xfrm flipH="1" rot="8559574">
            <a:off x="11443639" y="-3380549"/>
            <a:ext cx="6479390" cy="6479390"/>
          </a:xfrm>
          <a:custGeom>
            <a:rect b="b" l="l" r="r" t="t"/>
            <a:pathLst>
              <a:path extrusionOk="0" h="3331210" w="3331210">
                <a:moveTo>
                  <a:pt x="3331210" y="3331210"/>
                </a:moveTo>
                <a:lnTo>
                  <a:pt x="3331210" y="0"/>
                </a:lnTo>
                <a:cubicBezTo>
                  <a:pt x="1490980" y="0"/>
                  <a:pt x="0" y="1490980"/>
                  <a:pt x="0" y="3331210"/>
                </a:cubicBezTo>
                <a:lnTo>
                  <a:pt x="3331210" y="3331210"/>
                </a:lnTo>
                <a:close/>
              </a:path>
            </a:pathLst>
          </a:custGeom>
          <a:solidFill>
            <a:srgbClr val="CDCABB"/>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0" name="Google Shape;840;p43"/>
          <p:cNvGrpSpPr/>
          <p:nvPr/>
        </p:nvGrpSpPr>
        <p:grpSpPr>
          <a:xfrm>
            <a:off x="-774951" y="8735978"/>
            <a:ext cx="2592345" cy="2592345"/>
            <a:chOff x="0" y="0"/>
            <a:chExt cx="812800" cy="812800"/>
          </a:xfrm>
        </p:grpSpPr>
        <p:sp>
          <p:nvSpPr>
            <p:cNvPr id="841" name="Google Shape;841;p4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4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43" name="Google Shape;843;p43"/>
          <p:cNvGrpSpPr/>
          <p:nvPr/>
        </p:nvGrpSpPr>
        <p:grpSpPr>
          <a:xfrm>
            <a:off x="15989384" y="8506591"/>
            <a:ext cx="1503418" cy="1503418"/>
            <a:chOff x="0" y="0"/>
            <a:chExt cx="812800" cy="812800"/>
          </a:xfrm>
        </p:grpSpPr>
        <p:sp>
          <p:nvSpPr>
            <p:cNvPr id="844" name="Google Shape;844;p4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4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46" name="Google Shape;846;p43"/>
          <p:cNvSpPr/>
          <p:nvPr/>
        </p:nvSpPr>
        <p:spPr>
          <a:xfrm>
            <a:off x="514350" y="1563031"/>
            <a:ext cx="17259300" cy="6404075"/>
          </a:xfrm>
          <a:custGeom>
            <a:rect b="b" l="l" r="r" t="t"/>
            <a:pathLst>
              <a:path extrusionOk="0" h="6404075" w="17259300">
                <a:moveTo>
                  <a:pt x="0" y="0"/>
                </a:moveTo>
                <a:lnTo>
                  <a:pt x="17259300" y="0"/>
                </a:lnTo>
                <a:lnTo>
                  <a:pt x="17259300" y="6404075"/>
                </a:lnTo>
                <a:lnTo>
                  <a:pt x="0" y="6404075"/>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p44"/>
          <p:cNvSpPr txBox="1"/>
          <p:nvPr/>
        </p:nvSpPr>
        <p:spPr>
          <a:xfrm>
            <a:off x="2507390" y="1000125"/>
            <a:ext cx="13503315" cy="2052066"/>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0" i="0" lang="en-US" sz="6900" u="none" cap="none" strike="noStrike">
                <a:solidFill>
                  <a:srgbClr val="131416"/>
                </a:solidFill>
                <a:latin typeface="Arial"/>
                <a:ea typeface="Arial"/>
                <a:cs typeface="Arial"/>
                <a:sym typeface="Arial"/>
              </a:rPr>
              <a:t>CONCEPTOS CLAVE APRENDIDOS </a:t>
            </a:r>
            <a:endParaRPr/>
          </a:p>
        </p:txBody>
      </p:sp>
      <p:sp>
        <p:nvSpPr>
          <p:cNvPr id="852" name="Google Shape;852;p44"/>
          <p:cNvSpPr txBox="1"/>
          <p:nvPr/>
        </p:nvSpPr>
        <p:spPr>
          <a:xfrm>
            <a:off x="1138706" y="3366562"/>
            <a:ext cx="16240684" cy="5511124"/>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None/>
            </a:pPr>
            <a:r>
              <a:rPr b="1" i="0" lang="en-US" sz="3151" u="none" cap="none" strike="noStrike">
                <a:solidFill>
                  <a:srgbClr val="131416"/>
                </a:solidFill>
                <a:latin typeface="Arial"/>
                <a:ea typeface="Arial"/>
                <a:cs typeface="Arial"/>
                <a:sym typeface="Arial"/>
              </a:rPr>
              <a:t>Estimacion: </a:t>
            </a:r>
            <a:r>
              <a:rPr b="0" i="0" lang="en-US" sz="3151" u="none" cap="none" strike="noStrike">
                <a:solidFill>
                  <a:srgbClr val="131416"/>
                </a:solidFill>
                <a:latin typeface="Arial"/>
                <a:ea typeface="Arial"/>
                <a:cs typeface="Arial"/>
                <a:sym typeface="Arial"/>
              </a:rPr>
              <a:t>usar las tecnicas explicadas ayuda a dimensionar el tamaño de la tarea, usar horas en muchos casos no es la mejor alternativa ya que siempre existen atrasos.</a:t>
            </a:r>
            <a:endParaRPr/>
          </a:p>
          <a:p>
            <a:pPr indent="0" lvl="0" marL="0" marR="0" rtl="0" algn="l">
              <a:lnSpc>
                <a:spcPct val="140019"/>
              </a:lnSpc>
              <a:spcBef>
                <a:spcPts val="0"/>
              </a:spcBef>
              <a:spcAft>
                <a:spcPts val="0"/>
              </a:spcAft>
              <a:buNone/>
            </a:pPr>
            <a:r>
              <a:t/>
            </a:r>
            <a:endParaRPr b="0" i="0" sz="3151" u="none" cap="none" strike="noStrike">
              <a:solidFill>
                <a:srgbClr val="131416"/>
              </a:solidFill>
              <a:latin typeface="Arial"/>
              <a:ea typeface="Arial"/>
              <a:cs typeface="Arial"/>
              <a:sym typeface="Arial"/>
            </a:endParaRPr>
          </a:p>
          <a:p>
            <a:pPr indent="0" lvl="0" marL="0" marR="0" rtl="0" algn="l">
              <a:lnSpc>
                <a:spcPct val="140019"/>
              </a:lnSpc>
              <a:spcBef>
                <a:spcPts val="0"/>
              </a:spcBef>
              <a:spcAft>
                <a:spcPts val="0"/>
              </a:spcAft>
              <a:buNone/>
            </a:pPr>
            <a:r>
              <a:rPr b="1" i="0" lang="en-US" sz="3151" u="none" cap="none" strike="noStrike">
                <a:solidFill>
                  <a:srgbClr val="131416"/>
                </a:solidFill>
                <a:latin typeface="Arial"/>
                <a:ea typeface="Arial"/>
                <a:cs typeface="Arial"/>
                <a:sym typeface="Arial"/>
              </a:rPr>
              <a:t>Sprint:</a:t>
            </a:r>
            <a:r>
              <a:rPr b="0" i="0" lang="en-US" sz="3151" u="none" cap="none" strike="noStrike">
                <a:solidFill>
                  <a:srgbClr val="131416"/>
                </a:solidFill>
                <a:latin typeface="Arial"/>
                <a:ea typeface="Arial"/>
                <a:cs typeface="Arial"/>
                <a:sym typeface="Arial"/>
              </a:rPr>
              <a:t> formado siempre por el sprint planning, el daily scrum y la reunion final llamada sprint retrospective.</a:t>
            </a:r>
            <a:endParaRPr/>
          </a:p>
          <a:p>
            <a:pPr indent="0" lvl="0" marL="0" marR="0" rtl="0" algn="l">
              <a:lnSpc>
                <a:spcPct val="140019"/>
              </a:lnSpc>
              <a:spcBef>
                <a:spcPts val="0"/>
              </a:spcBef>
              <a:spcAft>
                <a:spcPts val="0"/>
              </a:spcAft>
              <a:buNone/>
            </a:pPr>
            <a:r>
              <a:t/>
            </a:r>
            <a:endParaRPr b="0" i="0" sz="3151" u="none" cap="none" strike="noStrike">
              <a:solidFill>
                <a:srgbClr val="131416"/>
              </a:solidFill>
              <a:latin typeface="Arial"/>
              <a:ea typeface="Arial"/>
              <a:cs typeface="Arial"/>
              <a:sym typeface="Arial"/>
            </a:endParaRPr>
          </a:p>
          <a:p>
            <a:pPr indent="0" lvl="0" marL="0" marR="0" rtl="0" algn="l">
              <a:lnSpc>
                <a:spcPct val="140019"/>
              </a:lnSpc>
              <a:spcBef>
                <a:spcPts val="0"/>
              </a:spcBef>
              <a:spcAft>
                <a:spcPts val="0"/>
              </a:spcAft>
              <a:buNone/>
            </a:pPr>
            <a:r>
              <a:rPr b="1" i="0" lang="en-US" sz="3151" u="none" cap="none" strike="noStrike">
                <a:solidFill>
                  <a:srgbClr val="131416"/>
                </a:solidFill>
                <a:latin typeface="Arial"/>
                <a:ea typeface="Arial"/>
                <a:cs typeface="Arial"/>
                <a:sym typeface="Arial"/>
              </a:rPr>
              <a:t>Roles: </a:t>
            </a:r>
            <a:r>
              <a:rPr b="0" i="0" lang="en-US" sz="3151" u="none" cap="none" strike="noStrike">
                <a:solidFill>
                  <a:srgbClr val="131416"/>
                </a:solidFill>
                <a:latin typeface="Arial"/>
                <a:ea typeface="Arial"/>
                <a:cs typeface="Arial"/>
                <a:sym typeface="Arial"/>
              </a:rPr>
              <a:t>cada miembro del equipo cumple un rol distinto con sus obligacions y responsabilidades, en scrum existen 3 los cuales son el product owner, scrum master y el develop team.</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45"/>
          <p:cNvSpPr txBox="1"/>
          <p:nvPr/>
        </p:nvSpPr>
        <p:spPr>
          <a:xfrm>
            <a:off x="2507390" y="1000125"/>
            <a:ext cx="13503315" cy="10709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0" i="0" lang="en-US" sz="6900" u="none" cap="none" strike="noStrike">
                <a:solidFill>
                  <a:srgbClr val="131416"/>
                </a:solidFill>
                <a:latin typeface="Arial"/>
                <a:ea typeface="Arial"/>
                <a:cs typeface="Arial"/>
                <a:sym typeface="Arial"/>
              </a:rPr>
              <a:t>SOLIDARIDAD</a:t>
            </a:r>
            <a:endParaRPr/>
          </a:p>
        </p:txBody>
      </p:sp>
      <p:sp>
        <p:nvSpPr>
          <p:cNvPr id="858" name="Google Shape;858;p45"/>
          <p:cNvSpPr txBox="1"/>
          <p:nvPr/>
        </p:nvSpPr>
        <p:spPr>
          <a:xfrm>
            <a:off x="2085203" y="2090166"/>
            <a:ext cx="14117595" cy="7154281"/>
          </a:xfrm>
          <a:prstGeom prst="rect">
            <a:avLst/>
          </a:prstGeom>
          <a:noFill/>
          <a:ln>
            <a:noFill/>
          </a:ln>
        </p:spPr>
        <p:txBody>
          <a:bodyPr anchorCtr="0" anchor="t" bIns="0" lIns="0" spcFirstLastPara="1" rIns="0" wrap="square" tIns="0">
            <a:spAutoFit/>
          </a:bodyPr>
          <a:lstStyle/>
          <a:p>
            <a:pPr indent="0" lvl="0" marL="0" marR="0" rtl="0" algn="just">
              <a:lnSpc>
                <a:spcPct val="113014"/>
              </a:lnSpc>
              <a:spcBef>
                <a:spcPts val="0"/>
              </a:spcBef>
              <a:spcAft>
                <a:spcPts val="0"/>
              </a:spcAft>
              <a:buNone/>
            </a:pPr>
            <a:r>
              <a:rPr b="0" i="0" lang="en-US" sz="3327" u="none" cap="none" strike="noStrike">
                <a:solidFill>
                  <a:srgbClr val="131416"/>
                </a:solidFill>
                <a:latin typeface="Arial"/>
                <a:ea typeface="Arial"/>
                <a:cs typeface="Arial"/>
                <a:sym typeface="Arial"/>
              </a:rPr>
              <a:t>"Imagina que están en un Sprint, y uno de tus compañeros tiene problemas para terminar su feature branch porque encontró un bug complicado. Tú ya terminaste tu tarea, la subiste correctamente usando Gitflow, y podrías quedarte esperando la siguiente reunión.</a:t>
            </a:r>
            <a:endParaRPr/>
          </a:p>
          <a:p>
            <a:pPr indent="0" lvl="0" marL="0" marR="0" rtl="0" algn="just">
              <a:lnSpc>
                <a:spcPct val="113014"/>
              </a:lnSpc>
              <a:spcBef>
                <a:spcPts val="0"/>
              </a:spcBef>
              <a:spcAft>
                <a:spcPts val="0"/>
              </a:spcAft>
              <a:buNone/>
            </a:pPr>
            <a:r>
              <a:rPr b="0" i="0" lang="en-US" sz="3327" u="none" cap="none" strike="noStrike">
                <a:solidFill>
                  <a:srgbClr val="131416"/>
                </a:solidFill>
                <a:latin typeface="Arial"/>
                <a:ea typeface="Arial"/>
                <a:cs typeface="Arial"/>
                <a:sym typeface="Arial"/>
              </a:rPr>
              <a:t>Pero en lugar de eso, te ofreces a ayudar: revisas su código, le explicas cómo resolverlo o incluso haces pair programming para salir del problema juntos.</a:t>
            </a:r>
            <a:endParaRPr/>
          </a:p>
          <a:p>
            <a:pPr indent="0" lvl="0" marL="0" marR="0" rtl="0" algn="just">
              <a:lnSpc>
                <a:spcPct val="113014"/>
              </a:lnSpc>
              <a:spcBef>
                <a:spcPts val="0"/>
              </a:spcBef>
              <a:spcAft>
                <a:spcPts val="0"/>
              </a:spcAft>
              <a:buNone/>
            </a:pPr>
            <a:r>
              <a:rPr b="0" i="0" lang="en-US" sz="3327" u="none" cap="none" strike="noStrike">
                <a:solidFill>
                  <a:srgbClr val="131416"/>
                </a:solidFill>
                <a:latin typeface="Arial"/>
                <a:ea typeface="Arial"/>
                <a:cs typeface="Arial"/>
                <a:sym typeface="Arial"/>
              </a:rPr>
              <a:t>Eso es solidaridad. No es solo cumplir con tu parte y ya, es entender que si alguien del equipo se atrasa, todo el Sprint se ve afectado.</a:t>
            </a:r>
            <a:endParaRPr/>
          </a:p>
          <a:p>
            <a:pPr indent="0" lvl="0" marL="0" marR="0" rtl="0" algn="just">
              <a:lnSpc>
                <a:spcPct val="113014"/>
              </a:lnSpc>
              <a:spcBef>
                <a:spcPts val="0"/>
              </a:spcBef>
              <a:spcAft>
                <a:spcPts val="0"/>
              </a:spcAft>
              <a:buNone/>
            </a:pPr>
            <a:r>
              <a:rPr b="0" i="0" lang="en-US" sz="3327" u="none" cap="none" strike="noStrike">
                <a:solidFill>
                  <a:srgbClr val="131416"/>
                </a:solidFill>
                <a:latin typeface="Arial"/>
                <a:ea typeface="Arial"/>
                <a:cs typeface="Arial"/>
                <a:sym typeface="Arial"/>
              </a:rPr>
              <a:t>En Scrum se trabaja en equipo, y Gitflow permite que todos colaboren sin estorbarse, pero la actitud solidaria es lo que realmente hace que el proyecto avance con fuerza y unidad."</a:t>
            </a:r>
            <a:endParaRPr/>
          </a:p>
          <a:p>
            <a:pPr indent="0" lvl="0" marL="0" marR="0" rtl="0" algn="just">
              <a:lnSpc>
                <a:spcPct val="113014"/>
              </a:lnSpc>
              <a:spcBef>
                <a:spcPts val="0"/>
              </a:spcBef>
              <a:spcAft>
                <a:spcPts val="0"/>
              </a:spcAft>
              <a:buNone/>
            </a:pPr>
            <a:r>
              <a:t/>
            </a:r>
            <a:endParaRPr b="0" i="0" sz="3327" u="none" cap="none" strike="noStrike">
              <a:solidFill>
                <a:srgbClr val="131416"/>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p46"/>
          <p:cNvSpPr txBox="1"/>
          <p:nvPr/>
        </p:nvSpPr>
        <p:spPr>
          <a:xfrm>
            <a:off x="2507390" y="1000125"/>
            <a:ext cx="13503315" cy="10709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0" i="0" lang="en-US" sz="6900" u="none" cap="none" strike="noStrike">
                <a:solidFill>
                  <a:srgbClr val="131416"/>
                </a:solidFill>
                <a:latin typeface="Arial"/>
                <a:ea typeface="Arial"/>
                <a:cs typeface="Arial"/>
                <a:sym typeface="Arial"/>
              </a:rPr>
              <a:t>REFERENCIAS </a:t>
            </a:r>
            <a:endParaRPr/>
          </a:p>
        </p:txBody>
      </p:sp>
      <p:sp>
        <p:nvSpPr>
          <p:cNvPr id="864" name="Google Shape;864;p46"/>
          <p:cNvSpPr txBox="1"/>
          <p:nvPr/>
        </p:nvSpPr>
        <p:spPr>
          <a:xfrm>
            <a:off x="1447625" y="2365307"/>
            <a:ext cx="14563080" cy="2748874"/>
          </a:xfrm>
          <a:prstGeom prst="rect">
            <a:avLst/>
          </a:prstGeom>
          <a:noFill/>
          <a:ln>
            <a:noFill/>
          </a:ln>
        </p:spPr>
        <p:txBody>
          <a:bodyPr anchorCtr="0" anchor="t" bIns="0" lIns="0" spcFirstLastPara="1" rIns="0" wrap="square" tIns="0">
            <a:spAutoFit/>
          </a:bodyPr>
          <a:lstStyle/>
          <a:p>
            <a:pPr indent="-340217" lvl="1" marL="680435" marR="0" rtl="0" algn="l">
              <a:lnSpc>
                <a:spcPct val="140019"/>
              </a:lnSpc>
              <a:spcBef>
                <a:spcPts val="0"/>
              </a:spcBef>
              <a:spcAft>
                <a:spcPts val="0"/>
              </a:spcAft>
              <a:buClr>
                <a:srgbClr val="131416"/>
              </a:buClr>
              <a:buSzPts val="3151"/>
              <a:buFont typeface="Arial"/>
              <a:buChar char="•"/>
            </a:pPr>
            <a:r>
              <a:rPr b="0" i="0" lang="en-US" sz="3151" u="sng" cap="none" strike="noStrike">
                <a:solidFill>
                  <a:srgbClr val="131416"/>
                </a:solidFill>
                <a:latin typeface="Arial"/>
                <a:ea typeface="Arial"/>
                <a:cs typeface="Arial"/>
                <a:sym typeface="Arial"/>
                <a:hlinkClick r:id="rId3">
                  <a:extLst>
                    <a:ext uri="{A12FA001-AC4F-418D-AE19-62706E023703}">
                      <ahyp:hlinkClr val="tx"/>
                    </a:ext>
                  </a:extLst>
                </a:hlinkClick>
              </a:rPr>
              <a:t>https://innevo.com/blog/metodologia-scrum</a:t>
            </a:r>
            <a:endParaRPr/>
          </a:p>
          <a:p>
            <a:pPr indent="-340217" lvl="1" marL="680435" marR="0" rtl="0" algn="l">
              <a:lnSpc>
                <a:spcPct val="140019"/>
              </a:lnSpc>
              <a:spcBef>
                <a:spcPts val="0"/>
              </a:spcBef>
              <a:spcAft>
                <a:spcPts val="0"/>
              </a:spcAft>
              <a:buClr>
                <a:srgbClr val="131416"/>
              </a:buClr>
              <a:buSzPts val="3151"/>
              <a:buFont typeface="Arial"/>
              <a:buChar char="•"/>
            </a:pPr>
            <a:r>
              <a:rPr b="0" i="0" lang="en-US" sz="3151" u="none" cap="none" strike="noStrike">
                <a:solidFill>
                  <a:srgbClr val="131416"/>
                </a:solidFill>
                <a:latin typeface="Arial"/>
                <a:ea typeface="Arial"/>
                <a:cs typeface="Arial"/>
                <a:sym typeface="Arial"/>
              </a:rPr>
              <a:t>https://www.scrummanager.com/blog/2023/07/tecnicas-de-estimacion-agil-tres-metodos/</a:t>
            </a:r>
            <a:endParaRPr/>
          </a:p>
          <a:p>
            <a:pPr indent="-340217" lvl="1" marL="680435" marR="0" rtl="0" algn="l">
              <a:lnSpc>
                <a:spcPct val="140019"/>
              </a:lnSpc>
              <a:spcBef>
                <a:spcPts val="0"/>
              </a:spcBef>
              <a:spcAft>
                <a:spcPts val="0"/>
              </a:spcAft>
              <a:buClr>
                <a:srgbClr val="131416"/>
              </a:buClr>
              <a:buSzPts val="3151"/>
              <a:buFont typeface="Arial"/>
              <a:buChar char="•"/>
            </a:pPr>
            <a:r>
              <a:rPr b="0" i="0" lang="en-US" sz="3151" u="none" cap="none" strike="noStrike">
                <a:solidFill>
                  <a:srgbClr val="131416"/>
                </a:solidFill>
                <a:latin typeface="Arial"/>
                <a:ea typeface="Arial"/>
                <a:cs typeface="Arial"/>
                <a:sym typeface="Arial"/>
              </a:rPr>
              <a:t>https://www.obsbusiness.school/blog/las-5-etapas-en-los-sprints-de-un-desarrollo-scrum</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47"/>
          <p:cNvSpPr txBox="1"/>
          <p:nvPr/>
        </p:nvSpPr>
        <p:spPr>
          <a:xfrm>
            <a:off x="4437795" y="3389104"/>
            <a:ext cx="8658828" cy="2495677"/>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None/>
            </a:pPr>
            <a:r>
              <a:rPr b="0" i="0" lang="en-US" sz="6099" u="none" cap="none" strike="noStrike">
                <a:solidFill>
                  <a:srgbClr val="131416"/>
                </a:solidFill>
                <a:latin typeface="Arial"/>
                <a:ea typeface="Arial"/>
                <a:cs typeface="Arial"/>
                <a:sym typeface="Arial"/>
              </a:rPr>
              <a:t>¡GRACIAS POR SU  ATENCIÓN!</a:t>
            </a:r>
            <a:endParaRPr/>
          </a:p>
          <a:p>
            <a:pPr indent="0" lvl="0" marL="0" marR="0" rtl="0" algn="just">
              <a:lnSpc>
                <a:spcPct val="104000"/>
              </a:lnSpc>
              <a:spcBef>
                <a:spcPts val="0"/>
              </a:spcBef>
              <a:spcAft>
                <a:spcPts val="0"/>
              </a:spcAft>
              <a:buNone/>
            </a:pPr>
            <a:r>
              <a:t/>
            </a:r>
            <a:endParaRPr b="0" i="0" sz="6099" u="none" cap="none" strike="noStrike">
              <a:solidFill>
                <a:srgbClr val="131416"/>
              </a:solidFill>
              <a:latin typeface="Arial"/>
              <a:ea typeface="Arial"/>
              <a:cs typeface="Arial"/>
              <a:sym typeface="Arial"/>
            </a:endParaRPr>
          </a:p>
        </p:txBody>
      </p:sp>
      <p:sp>
        <p:nvSpPr>
          <p:cNvPr id="870" name="Google Shape;870;p47"/>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5000" u="none" cap="none" strike="noStrike">
                <a:solidFill>
                  <a:srgbClr val="131416"/>
                </a:solidFill>
                <a:latin typeface="Arial"/>
                <a:ea typeface="Arial"/>
                <a:cs typeface="Arial"/>
                <a:sym typeface="Arial"/>
              </a:rPr>
              <a:t>DUDAS</a:t>
            </a:r>
            <a:endParaRPr/>
          </a:p>
        </p:txBody>
      </p:sp>
      <p:sp>
        <p:nvSpPr>
          <p:cNvPr id="871" name="Google Shape;871;p47"/>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872" name="Google Shape;872;p47"/>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