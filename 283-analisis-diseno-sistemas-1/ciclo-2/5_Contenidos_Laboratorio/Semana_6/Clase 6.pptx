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ggoP5m4PuV0KFMtr+bRQj9uVPK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2727494" y="2496074"/>
            <a:ext cx="12833101" cy="4595644"/>
            <a:chOff x="0" y="-20996"/>
            <a:chExt cx="17110800" cy="6127525"/>
          </a:xfrm>
        </p:grpSpPr>
        <p:sp>
          <p:nvSpPr>
            <p:cNvPr id="85" name="Google Shape;85;p1"/>
            <p:cNvSpPr txBox="1"/>
            <p:nvPr/>
          </p:nvSpPr>
          <p:spPr>
            <a:xfrm>
              <a:off x="0" y="-20996"/>
              <a:ext cx="17110682" cy="4883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TABLERO KANBAN</a:t>
              </a: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5641829"/>
              <a:ext cx="17110800" cy="4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64" u="none" cap="none" strike="noStrike">
                  <a:solidFill>
                    <a:srgbClr val="57FFFF"/>
                  </a:solidFill>
                  <a:latin typeface="Arial"/>
                  <a:ea typeface="Arial"/>
                  <a:cs typeface="Arial"/>
                  <a:sym typeface="Arial"/>
                </a:rPr>
                <a:t>Scrumban: Lo mejor de Scrum y Kanban para equipos flexibles</a:t>
              </a:r>
              <a:endParaRPr/>
            </a:p>
          </p:txBody>
        </p:sp>
      </p:grpSp>
      <p:sp>
        <p:nvSpPr>
          <p:cNvPr id="87" name="Google Shape;87;p1"/>
          <p:cNvSpPr txBox="1"/>
          <p:nvPr/>
        </p:nvSpPr>
        <p:spPr>
          <a:xfrm>
            <a:off x="11942693" y="8475715"/>
            <a:ext cx="6345300" cy="16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/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Análisis y Diseño de SIstemas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0101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2197603" y="3054692"/>
            <a:ext cx="13892794" cy="116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 DE HOY</a:t>
            </a:r>
            <a:endParaRPr/>
          </a:p>
        </p:txBody>
      </p:sp>
      <p:grpSp>
        <p:nvGrpSpPr>
          <p:cNvPr id="93" name="Google Shape;93;p2"/>
          <p:cNvGrpSpPr/>
          <p:nvPr/>
        </p:nvGrpSpPr>
        <p:grpSpPr>
          <a:xfrm>
            <a:off x="3148263" y="5701821"/>
            <a:ext cx="881343" cy="881343"/>
            <a:chOff x="0" y="0"/>
            <a:chExt cx="1175123" cy="1175123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1175123" cy="1175123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57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366298" y="330048"/>
              <a:ext cx="442528" cy="5340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59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96" name="Google Shape;96;p2"/>
          <p:cNvSpPr txBox="1"/>
          <p:nvPr/>
        </p:nvSpPr>
        <p:spPr>
          <a:xfrm>
            <a:off x="4505855" y="5878374"/>
            <a:ext cx="4190940" cy="423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 Kanban</a:t>
            </a:r>
            <a:endParaRPr/>
          </a:p>
        </p:txBody>
      </p:sp>
      <p:grpSp>
        <p:nvGrpSpPr>
          <p:cNvPr id="97" name="Google Shape;97;p2"/>
          <p:cNvGrpSpPr/>
          <p:nvPr/>
        </p:nvGrpSpPr>
        <p:grpSpPr>
          <a:xfrm>
            <a:off x="3148263" y="7579932"/>
            <a:ext cx="881343" cy="881343"/>
            <a:chOff x="0" y="0"/>
            <a:chExt cx="1175123" cy="1175123"/>
          </a:xfrm>
        </p:grpSpPr>
        <p:sp>
          <p:nvSpPr>
            <p:cNvPr id="98" name="Google Shape;98;p2"/>
            <p:cNvSpPr/>
            <p:nvPr/>
          </p:nvSpPr>
          <p:spPr>
            <a:xfrm>
              <a:off x="0" y="0"/>
              <a:ext cx="1175123" cy="1175123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57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366298" y="330048"/>
              <a:ext cx="442528" cy="5340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59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100" name="Google Shape;100;p2"/>
          <p:cNvSpPr txBox="1"/>
          <p:nvPr/>
        </p:nvSpPr>
        <p:spPr>
          <a:xfrm>
            <a:off x="4505855" y="7792213"/>
            <a:ext cx="4190940" cy="371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Notas</a:t>
            </a:r>
            <a:endParaRPr/>
          </a:p>
        </p:txBody>
      </p:sp>
      <p:grpSp>
        <p:nvGrpSpPr>
          <p:cNvPr id="101" name="Google Shape;101;p2"/>
          <p:cNvGrpSpPr/>
          <p:nvPr/>
        </p:nvGrpSpPr>
        <p:grpSpPr>
          <a:xfrm>
            <a:off x="9631083" y="5701821"/>
            <a:ext cx="881343" cy="881343"/>
            <a:chOff x="0" y="0"/>
            <a:chExt cx="1175123" cy="1175123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1175123" cy="1175123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57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366298" y="330048"/>
              <a:ext cx="442528" cy="5340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59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9631083" y="7579932"/>
            <a:ext cx="881343" cy="881343"/>
            <a:chOff x="0" y="0"/>
            <a:chExt cx="1175123" cy="1175123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1175123" cy="1175123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57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366298" y="330048"/>
              <a:ext cx="442528" cy="5340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59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107" name="Google Shape;107;p2"/>
          <p:cNvSpPr txBox="1"/>
          <p:nvPr/>
        </p:nvSpPr>
        <p:spPr>
          <a:xfrm>
            <a:off x="10988675" y="5897424"/>
            <a:ext cx="41910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6">
                <a:solidFill>
                  <a:srgbClr val="FFFFFF"/>
                </a:solidFill>
              </a:rPr>
              <a:t>Video: </a:t>
            </a:r>
            <a:endParaRPr sz="1896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1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6">
                <a:solidFill>
                  <a:srgbClr val="FFFFFF"/>
                </a:solidFill>
              </a:rPr>
              <a:t>https://youtu.be/qouaRl5JU4Q</a:t>
            </a:r>
            <a:endParaRPr sz="1896">
              <a:solidFill>
                <a:srgbClr val="FFFFFF"/>
              </a:solidFill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0988675" y="7792213"/>
            <a:ext cx="4190940" cy="371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0101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/>
        </p:nvSpPr>
        <p:spPr>
          <a:xfrm>
            <a:off x="2197879" y="1972663"/>
            <a:ext cx="13892241" cy="1901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COMPENTENCIAS QUE DESARROLLAREMOS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3027813" y="5000625"/>
            <a:ext cx="12232374" cy="166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Identificar de forma precisa los requerimientos de un sistema e introducir el uso de herramientas para la administración de requerimientos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16105622" y="3204121"/>
            <a:ext cx="429460" cy="231449"/>
          </a:xfrm>
          <a:custGeom>
            <a:rect b="b" l="l" r="r" t="t"/>
            <a:pathLst>
              <a:path extrusionOk="0" h="434340" w="805931">
                <a:moveTo>
                  <a:pt x="788152" y="187960"/>
                </a:moveTo>
                <a:lnTo>
                  <a:pt x="526531" y="11430"/>
                </a:lnTo>
                <a:cubicBezTo>
                  <a:pt x="508752" y="0"/>
                  <a:pt x="485891" y="3810"/>
                  <a:pt x="473191" y="21590"/>
                </a:cubicBezTo>
                <a:cubicBezTo>
                  <a:pt x="461761" y="39370"/>
                  <a:pt x="465572" y="62230"/>
                  <a:pt x="483352" y="74930"/>
                </a:cubicBezTo>
                <a:lnTo>
                  <a:pt x="642102" y="181610"/>
                </a:lnTo>
                <a:lnTo>
                  <a:pt x="0" y="181610"/>
                </a:lnTo>
                <a:lnTo>
                  <a:pt x="0" y="257810"/>
                </a:lnTo>
                <a:lnTo>
                  <a:pt x="642102" y="257810"/>
                </a:lnTo>
                <a:lnTo>
                  <a:pt x="483352" y="364490"/>
                </a:lnTo>
                <a:cubicBezTo>
                  <a:pt x="465572" y="375920"/>
                  <a:pt x="461761" y="400050"/>
                  <a:pt x="473192" y="417830"/>
                </a:cubicBezTo>
                <a:cubicBezTo>
                  <a:pt x="480811" y="429260"/>
                  <a:pt x="492242" y="434340"/>
                  <a:pt x="504942" y="434340"/>
                </a:cubicBezTo>
                <a:cubicBezTo>
                  <a:pt x="512561" y="434340"/>
                  <a:pt x="520181" y="431800"/>
                  <a:pt x="526531" y="427990"/>
                </a:cubicBezTo>
                <a:lnTo>
                  <a:pt x="789422" y="251460"/>
                </a:lnTo>
                <a:cubicBezTo>
                  <a:pt x="799581" y="243840"/>
                  <a:pt x="805931" y="232410"/>
                  <a:pt x="805931" y="219710"/>
                </a:cubicBezTo>
                <a:cubicBezTo>
                  <a:pt x="805931" y="207010"/>
                  <a:pt x="799581" y="195580"/>
                  <a:pt x="788152" y="187960"/>
                </a:cubicBezTo>
                <a:close/>
              </a:path>
            </a:pathLst>
          </a:custGeom>
          <a:solidFill>
            <a:srgbClr val="10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4"/>
          <p:cNvGrpSpPr/>
          <p:nvPr/>
        </p:nvGrpSpPr>
        <p:grpSpPr>
          <a:xfrm>
            <a:off x="1028700" y="2267204"/>
            <a:ext cx="7656640" cy="5107141"/>
            <a:chOff x="0" y="-9525"/>
            <a:chExt cx="10208853" cy="6809520"/>
          </a:xfrm>
        </p:grpSpPr>
        <p:sp>
          <p:nvSpPr>
            <p:cNvPr id="121" name="Google Shape;121;p4"/>
            <p:cNvSpPr txBox="1"/>
            <p:nvPr/>
          </p:nvSpPr>
          <p:spPr>
            <a:xfrm>
              <a:off x="0" y="-9525"/>
              <a:ext cx="10208853" cy="1677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26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KANBAN</a:t>
              </a:r>
              <a:endParaRPr/>
            </a:p>
          </p:txBody>
        </p:sp>
        <p:sp>
          <p:nvSpPr>
            <p:cNvPr id="122" name="Google Shape;122;p4"/>
            <p:cNvSpPr txBox="1"/>
            <p:nvPr/>
          </p:nvSpPr>
          <p:spPr>
            <a:xfrm>
              <a:off x="0" y="2185719"/>
              <a:ext cx="10208853" cy="4614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4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 metodología Kanban es un enfoque ágil para la gestión de trabajo que se basa en la visualización del flujo de tareas, la limitación del trabajo en curso y la mejora continua de los procesos.</a:t>
              </a:r>
              <a:endParaRPr/>
            </a:p>
            <a:p>
              <a:pPr indent="0" lvl="0" marL="0" marR="0" rtl="0" algn="l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4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Su objetivo principal es optimizar la eficiencia del equipo al permitir una gestión clara, flexible y dinámica de las actividades</a:t>
              </a:r>
              <a:endParaRPr/>
            </a:p>
          </p:txBody>
        </p:sp>
      </p:grpSp>
      <p:grpSp>
        <p:nvGrpSpPr>
          <p:cNvPr id="123" name="Google Shape;123;p4"/>
          <p:cNvGrpSpPr/>
          <p:nvPr/>
        </p:nvGrpSpPr>
        <p:grpSpPr>
          <a:xfrm>
            <a:off x="9144000" y="2249205"/>
            <a:ext cx="881343" cy="881343"/>
            <a:chOff x="0" y="0"/>
            <a:chExt cx="1175123" cy="1175123"/>
          </a:xfrm>
        </p:grpSpPr>
        <p:sp>
          <p:nvSpPr>
            <p:cNvPr id="124" name="Google Shape;124;p4"/>
            <p:cNvSpPr/>
            <p:nvPr/>
          </p:nvSpPr>
          <p:spPr>
            <a:xfrm>
              <a:off x="0" y="0"/>
              <a:ext cx="1175123" cy="1175123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57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366298" y="330048"/>
              <a:ext cx="442528" cy="5340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59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26" name="Google Shape;126;p4"/>
          <p:cNvGrpSpPr/>
          <p:nvPr/>
        </p:nvGrpSpPr>
        <p:grpSpPr>
          <a:xfrm>
            <a:off x="9144000" y="5523573"/>
            <a:ext cx="881343" cy="881343"/>
            <a:chOff x="0" y="0"/>
            <a:chExt cx="1175123" cy="1175123"/>
          </a:xfrm>
        </p:grpSpPr>
        <p:sp>
          <p:nvSpPr>
            <p:cNvPr id="127" name="Google Shape;127;p4"/>
            <p:cNvSpPr/>
            <p:nvPr/>
          </p:nvSpPr>
          <p:spPr>
            <a:xfrm>
              <a:off x="0" y="0"/>
              <a:ext cx="1175123" cy="1175123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57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366298" y="330048"/>
              <a:ext cx="442528" cy="5340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59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29" name="Google Shape;129;p4"/>
          <p:cNvGrpSpPr/>
          <p:nvPr/>
        </p:nvGrpSpPr>
        <p:grpSpPr>
          <a:xfrm>
            <a:off x="9144000" y="7156452"/>
            <a:ext cx="881343" cy="881343"/>
            <a:chOff x="0" y="0"/>
            <a:chExt cx="1175123" cy="1175123"/>
          </a:xfrm>
        </p:grpSpPr>
        <p:sp>
          <p:nvSpPr>
            <p:cNvPr id="130" name="Google Shape;130;p4"/>
            <p:cNvSpPr/>
            <p:nvPr/>
          </p:nvSpPr>
          <p:spPr>
            <a:xfrm>
              <a:off x="0" y="0"/>
              <a:ext cx="1175123" cy="1175123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57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366298" y="330048"/>
              <a:ext cx="442528" cy="5340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59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132" name="Google Shape;132;p4"/>
          <p:cNvSpPr txBox="1"/>
          <p:nvPr/>
        </p:nvSpPr>
        <p:spPr>
          <a:xfrm>
            <a:off x="10255560" y="2334912"/>
            <a:ext cx="4672836" cy="56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10255560" y="5399748"/>
            <a:ext cx="7008946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Representación visual del flujo de trabajo en columnas</a:t>
            </a:r>
            <a:endParaRPr/>
          </a:p>
        </p:txBody>
      </p:sp>
      <p:grpSp>
        <p:nvGrpSpPr>
          <p:cNvPr id="134" name="Google Shape;134;p4"/>
          <p:cNvGrpSpPr/>
          <p:nvPr/>
        </p:nvGrpSpPr>
        <p:grpSpPr>
          <a:xfrm>
            <a:off x="10255560" y="3130548"/>
            <a:ext cx="2302400" cy="1848445"/>
            <a:chOff x="0" y="0"/>
            <a:chExt cx="3069867" cy="2464593"/>
          </a:xfrm>
        </p:grpSpPr>
        <p:grpSp>
          <p:nvGrpSpPr>
            <p:cNvPr id="135" name="Google Shape;135;p4"/>
            <p:cNvGrpSpPr/>
            <p:nvPr/>
          </p:nvGrpSpPr>
          <p:grpSpPr>
            <a:xfrm>
              <a:off x="0" y="0"/>
              <a:ext cx="3069867" cy="2464593"/>
              <a:chOff x="0" y="0"/>
              <a:chExt cx="3484616" cy="2797568"/>
            </a:xfrm>
          </p:grpSpPr>
          <p:sp>
            <p:nvSpPr>
              <p:cNvPr id="136" name="Google Shape;136;p4"/>
              <p:cNvSpPr/>
              <p:nvPr/>
            </p:nvSpPr>
            <p:spPr>
              <a:xfrm>
                <a:off x="57150" y="58420"/>
                <a:ext cx="3414766" cy="2726448"/>
              </a:xfrm>
              <a:custGeom>
                <a:rect b="b" l="l" r="r" t="t"/>
                <a:pathLst>
                  <a:path extrusionOk="0" h="2726448" w="3414766">
                    <a:moveTo>
                      <a:pt x="3329676" y="2695968"/>
                    </a:moveTo>
                    <a:lnTo>
                      <a:pt x="0" y="2695968"/>
                    </a:lnTo>
                    <a:cubicBezTo>
                      <a:pt x="5080" y="2713748"/>
                      <a:pt x="21590" y="2726448"/>
                      <a:pt x="40640" y="2726448"/>
                    </a:cubicBezTo>
                    <a:lnTo>
                      <a:pt x="3371586" y="2726448"/>
                    </a:lnTo>
                    <a:cubicBezTo>
                      <a:pt x="3395716" y="2726448"/>
                      <a:pt x="3414766" y="2707398"/>
                      <a:pt x="3414766" y="2683268"/>
                    </a:cubicBezTo>
                    <a:lnTo>
                      <a:pt x="3414766" y="40640"/>
                    </a:lnTo>
                    <a:cubicBezTo>
                      <a:pt x="3414766" y="21590"/>
                      <a:pt x="3402066" y="6350"/>
                      <a:pt x="3385556" y="0"/>
                    </a:cubicBezTo>
                    <a:lnTo>
                      <a:pt x="3385556" y="2640088"/>
                    </a:lnTo>
                    <a:cubicBezTo>
                      <a:pt x="3385556" y="2670568"/>
                      <a:pt x="3360156" y="2695968"/>
                      <a:pt x="3329676" y="2695968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4"/>
              <p:cNvSpPr/>
              <p:nvPr/>
            </p:nvSpPr>
            <p:spPr>
              <a:xfrm>
                <a:off x="12700" y="12700"/>
                <a:ext cx="3417306" cy="2728988"/>
              </a:xfrm>
              <a:custGeom>
                <a:rect b="b" l="l" r="r" t="t"/>
                <a:pathLst>
                  <a:path extrusionOk="0" h="2728988" w="3417306">
                    <a:moveTo>
                      <a:pt x="43180" y="2728988"/>
                    </a:moveTo>
                    <a:lnTo>
                      <a:pt x="3374126" y="2728988"/>
                    </a:lnTo>
                    <a:cubicBezTo>
                      <a:pt x="3398256" y="2728988"/>
                      <a:pt x="3417306" y="2709938"/>
                      <a:pt x="3417306" y="2685808"/>
                    </a:cubicBezTo>
                    <a:lnTo>
                      <a:pt x="3417306" y="43180"/>
                    </a:lnTo>
                    <a:cubicBezTo>
                      <a:pt x="3417306" y="19050"/>
                      <a:pt x="3398256" y="0"/>
                      <a:pt x="3374126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685808"/>
                    </a:lnTo>
                    <a:cubicBezTo>
                      <a:pt x="0" y="2709938"/>
                      <a:pt x="19050" y="2728988"/>
                      <a:pt x="43180" y="272898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0" y="0"/>
                <a:ext cx="3484616" cy="2797568"/>
              </a:xfrm>
              <a:custGeom>
                <a:rect b="b" l="l" r="r" t="t"/>
                <a:pathLst>
                  <a:path extrusionOk="0" h="2797568" w="3484616">
                    <a:moveTo>
                      <a:pt x="3441436" y="44450"/>
                    </a:moveTo>
                    <a:cubicBezTo>
                      <a:pt x="3436356" y="19050"/>
                      <a:pt x="3413496" y="0"/>
                      <a:pt x="3386825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698508"/>
                    </a:lnTo>
                    <a:cubicBezTo>
                      <a:pt x="0" y="2725178"/>
                      <a:pt x="17780" y="2746768"/>
                      <a:pt x="43180" y="2753118"/>
                    </a:cubicBezTo>
                    <a:cubicBezTo>
                      <a:pt x="48260" y="2778518"/>
                      <a:pt x="71120" y="2797568"/>
                      <a:pt x="97790" y="2797568"/>
                    </a:cubicBezTo>
                    <a:lnTo>
                      <a:pt x="3428736" y="2797568"/>
                    </a:lnTo>
                    <a:cubicBezTo>
                      <a:pt x="3459216" y="2797568"/>
                      <a:pt x="3484616" y="2772168"/>
                      <a:pt x="3484616" y="2741688"/>
                    </a:cubicBezTo>
                    <a:lnTo>
                      <a:pt x="3484616" y="99060"/>
                    </a:lnTo>
                    <a:cubicBezTo>
                      <a:pt x="3484616" y="72390"/>
                      <a:pt x="3466836" y="50800"/>
                      <a:pt x="3441436" y="44450"/>
                    </a:cubicBezTo>
                    <a:close/>
                    <a:moveTo>
                      <a:pt x="12700" y="2698508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386826" y="12700"/>
                    </a:lnTo>
                    <a:cubicBezTo>
                      <a:pt x="3410956" y="12700"/>
                      <a:pt x="3430006" y="31750"/>
                      <a:pt x="3430006" y="55880"/>
                    </a:cubicBezTo>
                    <a:lnTo>
                      <a:pt x="3430006" y="2698508"/>
                    </a:lnTo>
                    <a:cubicBezTo>
                      <a:pt x="3430006" y="2722638"/>
                      <a:pt x="3410956" y="2741688"/>
                      <a:pt x="3386826" y="2741688"/>
                    </a:cubicBezTo>
                    <a:lnTo>
                      <a:pt x="55880" y="2741688"/>
                    </a:lnTo>
                    <a:cubicBezTo>
                      <a:pt x="31750" y="2741688"/>
                      <a:pt x="12700" y="2722638"/>
                      <a:pt x="12700" y="2698508"/>
                    </a:cubicBezTo>
                    <a:close/>
                    <a:moveTo>
                      <a:pt x="3471916" y="2741688"/>
                    </a:moveTo>
                    <a:cubicBezTo>
                      <a:pt x="3471916" y="2765818"/>
                      <a:pt x="3452866" y="2784868"/>
                      <a:pt x="3428736" y="2784868"/>
                    </a:cubicBezTo>
                    <a:lnTo>
                      <a:pt x="97790" y="2784868"/>
                    </a:lnTo>
                    <a:cubicBezTo>
                      <a:pt x="78740" y="2784868"/>
                      <a:pt x="62230" y="2772168"/>
                      <a:pt x="57150" y="2754388"/>
                    </a:cubicBezTo>
                    <a:lnTo>
                      <a:pt x="3386826" y="2754388"/>
                    </a:lnTo>
                    <a:cubicBezTo>
                      <a:pt x="3417306" y="2754388"/>
                      <a:pt x="3442706" y="2728988"/>
                      <a:pt x="3442706" y="2698508"/>
                    </a:cubicBezTo>
                    <a:lnTo>
                      <a:pt x="3442706" y="58420"/>
                    </a:lnTo>
                    <a:cubicBezTo>
                      <a:pt x="3459216" y="64770"/>
                      <a:pt x="3471916" y="80010"/>
                      <a:pt x="3471916" y="99060"/>
                    </a:cubicBezTo>
                    <a:lnTo>
                      <a:pt x="3471916" y="2741688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9" name="Google Shape;139;p4"/>
            <p:cNvSpPr txBox="1"/>
            <p:nvPr/>
          </p:nvSpPr>
          <p:spPr>
            <a:xfrm>
              <a:off x="444105" y="590312"/>
              <a:ext cx="2181657" cy="1217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Claridad sobre el estado del trabajo</a:t>
              </a:r>
              <a:endParaRPr/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12786560" y="3098687"/>
            <a:ext cx="2302400" cy="1848445"/>
            <a:chOff x="0" y="0"/>
            <a:chExt cx="3069867" cy="2464593"/>
          </a:xfrm>
        </p:grpSpPr>
        <p:grpSp>
          <p:nvGrpSpPr>
            <p:cNvPr id="141" name="Google Shape;141;p4"/>
            <p:cNvGrpSpPr/>
            <p:nvPr/>
          </p:nvGrpSpPr>
          <p:grpSpPr>
            <a:xfrm>
              <a:off x="0" y="0"/>
              <a:ext cx="3069867" cy="2464593"/>
              <a:chOff x="0" y="0"/>
              <a:chExt cx="3484616" cy="2797568"/>
            </a:xfrm>
          </p:grpSpPr>
          <p:sp>
            <p:nvSpPr>
              <p:cNvPr id="142" name="Google Shape;142;p4"/>
              <p:cNvSpPr/>
              <p:nvPr/>
            </p:nvSpPr>
            <p:spPr>
              <a:xfrm>
                <a:off x="57150" y="58420"/>
                <a:ext cx="3414766" cy="2726448"/>
              </a:xfrm>
              <a:custGeom>
                <a:rect b="b" l="l" r="r" t="t"/>
                <a:pathLst>
                  <a:path extrusionOk="0" h="2726448" w="3414766">
                    <a:moveTo>
                      <a:pt x="3329676" y="2695968"/>
                    </a:moveTo>
                    <a:lnTo>
                      <a:pt x="0" y="2695968"/>
                    </a:lnTo>
                    <a:cubicBezTo>
                      <a:pt x="5080" y="2713748"/>
                      <a:pt x="21590" y="2726448"/>
                      <a:pt x="40640" y="2726448"/>
                    </a:cubicBezTo>
                    <a:lnTo>
                      <a:pt x="3371586" y="2726448"/>
                    </a:lnTo>
                    <a:cubicBezTo>
                      <a:pt x="3395716" y="2726448"/>
                      <a:pt x="3414766" y="2707398"/>
                      <a:pt x="3414766" y="2683268"/>
                    </a:cubicBezTo>
                    <a:lnTo>
                      <a:pt x="3414766" y="40640"/>
                    </a:lnTo>
                    <a:cubicBezTo>
                      <a:pt x="3414766" y="21590"/>
                      <a:pt x="3402066" y="6350"/>
                      <a:pt x="3385556" y="0"/>
                    </a:cubicBezTo>
                    <a:lnTo>
                      <a:pt x="3385556" y="2640088"/>
                    </a:lnTo>
                    <a:cubicBezTo>
                      <a:pt x="3385556" y="2670568"/>
                      <a:pt x="3360156" y="2695968"/>
                      <a:pt x="3329676" y="2695968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>
                <a:off x="12700" y="12700"/>
                <a:ext cx="3417306" cy="2728988"/>
              </a:xfrm>
              <a:custGeom>
                <a:rect b="b" l="l" r="r" t="t"/>
                <a:pathLst>
                  <a:path extrusionOk="0" h="2728988" w="3417306">
                    <a:moveTo>
                      <a:pt x="43180" y="2728988"/>
                    </a:moveTo>
                    <a:lnTo>
                      <a:pt x="3374126" y="2728988"/>
                    </a:lnTo>
                    <a:cubicBezTo>
                      <a:pt x="3398256" y="2728988"/>
                      <a:pt x="3417306" y="2709938"/>
                      <a:pt x="3417306" y="2685808"/>
                    </a:cubicBezTo>
                    <a:lnTo>
                      <a:pt x="3417306" y="43180"/>
                    </a:lnTo>
                    <a:cubicBezTo>
                      <a:pt x="3417306" y="19050"/>
                      <a:pt x="3398256" y="0"/>
                      <a:pt x="3374126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685808"/>
                    </a:lnTo>
                    <a:cubicBezTo>
                      <a:pt x="0" y="2709938"/>
                      <a:pt x="19050" y="2728988"/>
                      <a:pt x="43180" y="272898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4"/>
              <p:cNvSpPr/>
              <p:nvPr/>
            </p:nvSpPr>
            <p:spPr>
              <a:xfrm>
                <a:off x="0" y="0"/>
                <a:ext cx="3484616" cy="2797568"/>
              </a:xfrm>
              <a:custGeom>
                <a:rect b="b" l="l" r="r" t="t"/>
                <a:pathLst>
                  <a:path extrusionOk="0" h="2797568" w="3484616">
                    <a:moveTo>
                      <a:pt x="3441436" y="44450"/>
                    </a:moveTo>
                    <a:cubicBezTo>
                      <a:pt x="3436356" y="19050"/>
                      <a:pt x="3413496" y="0"/>
                      <a:pt x="3386825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698508"/>
                    </a:lnTo>
                    <a:cubicBezTo>
                      <a:pt x="0" y="2725178"/>
                      <a:pt x="17780" y="2746768"/>
                      <a:pt x="43180" y="2753118"/>
                    </a:cubicBezTo>
                    <a:cubicBezTo>
                      <a:pt x="48260" y="2778518"/>
                      <a:pt x="71120" y="2797568"/>
                      <a:pt x="97790" y="2797568"/>
                    </a:cubicBezTo>
                    <a:lnTo>
                      <a:pt x="3428736" y="2797568"/>
                    </a:lnTo>
                    <a:cubicBezTo>
                      <a:pt x="3459216" y="2797568"/>
                      <a:pt x="3484616" y="2772168"/>
                      <a:pt x="3484616" y="2741688"/>
                    </a:cubicBezTo>
                    <a:lnTo>
                      <a:pt x="3484616" y="99060"/>
                    </a:lnTo>
                    <a:cubicBezTo>
                      <a:pt x="3484616" y="72390"/>
                      <a:pt x="3466836" y="50800"/>
                      <a:pt x="3441436" y="44450"/>
                    </a:cubicBezTo>
                    <a:close/>
                    <a:moveTo>
                      <a:pt x="12700" y="2698508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386826" y="12700"/>
                    </a:lnTo>
                    <a:cubicBezTo>
                      <a:pt x="3410956" y="12700"/>
                      <a:pt x="3430006" y="31750"/>
                      <a:pt x="3430006" y="55880"/>
                    </a:cubicBezTo>
                    <a:lnTo>
                      <a:pt x="3430006" y="2698508"/>
                    </a:lnTo>
                    <a:cubicBezTo>
                      <a:pt x="3430006" y="2722638"/>
                      <a:pt x="3410956" y="2741688"/>
                      <a:pt x="3386826" y="2741688"/>
                    </a:cubicBezTo>
                    <a:lnTo>
                      <a:pt x="55880" y="2741688"/>
                    </a:lnTo>
                    <a:cubicBezTo>
                      <a:pt x="31750" y="2741688"/>
                      <a:pt x="12700" y="2722638"/>
                      <a:pt x="12700" y="2698508"/>
                    </a:cubicBezTo>
                    <a:close/>
                    <a:moveTo>
                      <a:pt x="3471916" y="2741688"/>
                    </a:moveTo>
                    <a:cubicBezTo>
                      <a:pt x="3471916" y="2765818"/>
                      <a:pt x="3452866" y="2784868"/>
                      <a:pt x="3428736" y="2784868"/>
                    </a:cubicBezTo>
                    <a:lnTo>
                      <a:pt x="97790" y="2784868"/>
                    </a:lnTo>
                    <a:cubicBezTo>
                      <a:pt x="78740" y="2784868"/>
                      <a:pt x="62230" y="2772168"/>
                      <a:pt x="57150" y="2754388"/>
                    </a:cubicBezTo>
                    <a:lnTo>
                      <a:pt x="3386826" y="2754388"/>
                    </a:lnTo>
                    <a:cubicBezTo>
                      <a:pt x="3417306" y="2754388"/>
                      <a:pt x="3442706" y="2728988"/>
                      <a:pt x="3442706" y="2698508"/>
                    </a:cubicBezTo>
                    <a:lnTo>
                      <a:pt x="3442706" y="58420"/>
                    </a:lnTo>
                    <a:cubicBezTo>
                      <a:pt x="3459216" y="64770"/>
                      <a:pt x="3471916" y="80010"/>
                      <a:pt x="3471916" y="99060"/>
                    </a:cubicBezTo>
                    <a:lnTo>
                      <a:pt x="3471916" y="2741688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5" name="Google Shape;145;p4"/>
            <p:cNvSpPr txBox="1"/>
            <p:nvPr/>
          </p:nvSpPr>
          <p:spPr>
            <a:xfrm>
              <a:off x="444105" y="590312"/>
              <a:ext cx="2181657" cy="1217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Reducción de cuellos de botella</a:t>
              </a:r>
              <a:endParaRPr/>
            </a:p>
          </p:txBody>
        </p:sp>
      </p:grpSp>
      <p:grpSp>
        <p:nvGrpSpPr>
          <p:cNvPr id="146" name="Google Shape;146;p4"/>
          <p:cNvGrpSpPr/>
          <p:nvPr/>
        </p:nvGrpSpPr>
        <p:grpSpPr>
          <a:xfrm>
            <a:off x="15317561" y="3098687"/>
            <a:ext cx="2302400" cy="1848445"/>
            <a:chOff x="0" y="0"/>
            <a:chExt cx="3069867" cy="2464593"/>
          </a:xfrm>
        </p:grpSpPr>
        <p:grpSp>
          <p:nvGrpSpPr>
            <p:cNvPr id="147" name="Google Shape;147;p4"/>
            <p:cNvGrpSpPr/>
            <p:nvPr/>
          </p:nvGrpSpPr>
          <p:grpSpPr>
            <a:xfrm>
              <a:off x="0" y="0"/>
              <a:ext cx="3069867" cy="2464593"/>
              <a:chOff x="0" y="0"/>
              <a:chExt cx="3484616" cy="2797568"/>
            </a:xfrm>
          </p:grpSpPr>
          <p:sp>
            <p:nvSpPr>
              <p:cNvPr id="148" name="Google Shape;148;p4"/>
              <p:cNvSpPr/>
              <p:nvPr/>
            </p:nvSpPr>
            <p:spPr>
              <a:xfrm>
                <a:off x="57150" y="58420"/>
                <a:ext cx="3414766" cy="2726448"/>
              </a:xfrm>
              <a:custGeom>
                <a:rect b="b" l="l" r="r" t="t"/>
                <a:pathLst>
                  <a:path extrusionOk="0" h="2726448" w="3414766">
                    <a:moveTo>
                      <a:pt x="3329676" y="2695968"/>
                    </a:moveTo>
                    <a:lnTo>
                      <a:pt x="0" y="2695968"/>
                    </a:lnTo>
                    <a:cubicBezTo>
                      <a:pt x="5080" y="2713748"/>
                      <a:pt x="21590" y="2726448"/>
                      <a:pt x="40640" y="2726448"/>
                    </a:cubicBezTo>
                    <a:lnTo>
                      <a:pt x="3371586" y="2726448"/>
                    </a:lnTo>
                    <a:cubicBezTo>
                      <a:pt x="3395716" y="2726448"/>
                      <a:pt x="3414766" y="2707398"/>
                      <a:pt x="3414766" y="2683268"/>
                    </a:cubicBezTo>
                    <a:lnTo>
                      <a:pt x="3414766" y="40640"/>
                    </a:lnTo>
                    <a:cubicBezTo>
                      <a:pt x="3414766" y="21590"/>
                      <a:pt x="3402066" y="6350"/>
                      <a:pt x="3385556" y="0"/>
                    </a:cubicBezTo>
                    <a:lnTo>
                      <a:pt x="3385556" y="2640088"/>
                    </a:lnTo>
                    <a:cubicBezTo>
                      <a:pt x="3385556" y="2670568"/>
                      <a:pt x="3360156" y="2695968"/>
                      <a:pt x="3329676" y="2695968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12700" y="12700"/>
                <a:ext cx="3417306" cy="2728988"/>
              </a:xfrm>
              <a:custGeom>
                <a:rect b="b" l="l" r="r" t="t"/>
                <a:pathLst>
                  <a:path extrusionOk="0" h="2728988" w="3417306">
                    <a:moveTo>
                      <a:pt x="43180" y="2728988"/>
                    </a:moveTo>
                    <a:lnTo>
                      <a:pt x="3374126" y="2728988"/>
                    </a:lnTo>
                    <a:cubicBezTo>
                      <a:pt x="3398256" y="2728988"/>
                      <a:pt x="3417306" y="2709938"/>
                      <a:pt x="3417306" y="2685808"/>
                    </a:cubicBezTo>
                    <a:lnTo>
                      <a:pt x="3417306" y="43180"/>
                    </a:lnTo>
                    <a:cubicBezTo>
                      <a:pt x="3417306" y="19050"/>
                      <a:pt x="3398256" y="0"/>
                      <a:pt x="3374126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685808"/>
                    </a:lnTo>
                    <a:cubicBezTo>
                      <a:pt x="0" y="2709938"/>
                      <a:pt x="19050" y="2728988"/>
                      <a:pt x="43180" y="272898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0" y="0"/>
                <a:ext cx="3484616" cy="2797568"/>
              </a:xfrm>
              <a:custGeom>
                <a:rect b="b" l="l" r="r" t="t"/>
                <a:pathLst>
                  <a:path extrusionOk="0" h="2797568" w="3484616">
                    <a:moveTo>
                      <a:pt x="3441436" y="44450"/>
                    </a:moveTo>
                    <a:cubicBezTo>
                      <a:pt x="3436356" y="19050"/>
                      <a:pt x="3413496" y="0"/>
                      <a:pt x="3386825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698508"/>
                    </a:lnTo>
                    <a:cubicBezTo>
                      <a:pt x="0" y="2725178"/>
                      <a:pt x="17780" y="2746768"/>
                      <a:pt x="43180" y="2753118"/>
                    </a:cubicBezTo>
                    <a:cubicBezTo>
                      <a:pt x="48260" y="2778518"/>
                      <a:pt x="71120" y="2797568"/>
                      <a:pt x="97790" y="2797568"/>
                    </a:cubicBezTo>
                    <a:lnTo>
                      <a:pt x="3428736" y="2797568"/>
                    </a:lnTo>
                    <a:cubicBezTo>
                      <a:pt x="3459216" y="2797568"/>
                      <a:pt x="3484616" y="2772168"/>
                      <a:pt x="3484616" y="2741688"/>
                    </a:cubicBezTo>
                    <a:lnTo>
                      <a:pt x="3484616" y="99060"/>
                    </a:lnTo>
                    <a:cubicBezTo>
                      <a:pt x="3484616" y="72390"/>
                      <a:pt x="3466836" y="50800"/>
                      <a:pt x="3441436" y="44450"/>
                    </a:cubicBezTo>
                    <a:close/>
                    <a:moveTo>
                      <a:pt x="12700" y="2698508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386826" y="12700"/>
                    </a:lnTo>
                    <a:cubicBezTo>
                      <a:pt x="3410956" y="12700"/>
                      <a:pt x="3430006" y="31750"/>
                      <a:pt x="3430006" y="55880"/>
                    </a:cubicBezTo>
                    <a:lnTo>
                      <a:pt x="3430006" y="2698508"/>
                    </a:lnTo>
                    <a:cubicBezTo>
                      <a:pt x="3430006" y="2722638"/>
                      <a:pt x="3410956" y="2741688"/>
                      <a:pt x="3386826" y="2741688"/>
                    </a:cubicBezTo>
                    <a:lnTo>
                      <a:pt x="55880" y="2741688"/>
                    </a:lnTo>
                    <a:cubicBezTo>
                      <a:pt x="31750" y="2741688"/>
                      <a:pt x="12700" y="2722638"/>
                      <a:pt x="12700" y="2698508"/>
                    </a:cubicBezTo>
                    <a:close/>
                    <a:moveTo>
                      <a:pt x="3471916" y="2741688"/>
                    </a:moveTo>
                    <a:cubicBezTo>
                      <a:pt x="3471916" y="2765818"/>
                      <a:pt x="3452866" y="2784868"/>
                      <a:pt x="3428736" y="2784868"/>
                    </a:cubicBezTo>
                    <a:lnTo>
                      <a:pt x="97790" y="2784868"/>
                    </a:lnTo>
                    <a:cubicBezTo>
                      <a:pt x="78740" y="2784868"/>
                      <a:pt x="62230" y="2772168"/>
                      <a:pt x="57150" y="2754388"/>
                    </a:cubicBezTo>
                    <a:lnTo>
                      <a:pt x="3386826" y="2754388"/>
                    </a:lnTo>
                    <a:cubicBezTo>
                      <a:pt x="3417306" y="2754388"/>
                      <a:pt x="3442706" y="2728988"/>
                      <a:pt x="3442706" y="2698508"/>
                    </a:cubicBezTo>
                    <a:lnTo>
                      <a:pt x="3442706" y="58420"/>
                    </a:lnTo>
                    <a:cubicBezTo>
                      <a:pt x="3459216" y="64770"/>
                      <a:pt x="3471916" y="80010"/>
                      <a:pt x="3471916" y="99060"/>
                    </a:cubicBezTo>
                    <a:lnTo>
                      <a:pt x="3471916" y="2741688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1" name="Google Shape;151;p4"/>
            <p:cNvSpPr txBox="1"/>
            <p:nvPr/>
          </p:nvSpPr>
          <p:spPr>
            <a:xfrm>
              <a:off x="444105" y="590312"/>
              <a:ext cx="2181657" cy="1217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Sin roles ni reuniones obligatorias</a:t>
              </a:r>
              <a:endParaRPr/>
            </a:p>
          </p:txBody>
        </p:sp>
      </p:grpSp>
      <p:sp>
        <p:nvSpPr>
          <p:cNvPr id="152" name="Google Shape;152;p4"/>
          <p:cNvSpPr txBox="1"/>
          <p:nvPr/>
        </p:nvSpPr>
        <p:spPr>
          <a:xfrm>
            <a:off x="10255560" y="7065610"/>
            <a:ext cx="7008946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 tarjetas se representan tareas o ítems de trabajo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5"/>
          <p:cNvGrpSpPr/>
          <p:nvPr/>
        </p:nvGrpSpPr>
        <p:grpSpPr>
          <a:xfrm>
            <a:off x="1028700" y="2267204"/>
            <a:ext cx="7656640" cy="4843866"/>
            <a:chOff x="0" y="-9525"/>
            <a:chExt cx="10208853" cy="6458487"/>
          </a:xfrm>
        </p:grpSpPr>
        <p:sp>
          <p:nvSpPr>
            <p:cNvPr id="158" name="Google Shape;158;p5"/>
            <p:cNvSpPr txBox="1"/>
            <p:nvPr/>
          </p:nvSpPr>
          <p:spPr>
            <a:xfrm>
              <a:off x="0" y="-9525"/>
              <a:ext cx="10208853" cy="1326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SCRUMBAN</a:t>
              </a:r>
              <a:endParaRPr/>
            </a:p>
          </p:txBody>
        </p:sp>
        <p:sp>
          <p:nvSpPr>
            <p:cNvPr id="159" name="Google Shape;159;p5"/>
            <p:cNvSpPr txBox="1"/>
            <p:nvPr/>
          </p:nvSpPr>
          <p:spPr>
            <a:xfrm>
              <a:off x="0" y="1834686"/>
              <a:ext cx="10208853" cy="4614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4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Scrumban es una metodología ágil híbrida que combina elementos esenciales de Scrum y Kanban, con el propósito de ofrecer una forma más flexible y adaptable de gestionar proyectos</a:t>
              </a:r>
              <a:endParaRPr/>
            </a:p>
            <a:p>
              <a:pPr indent="0" lvl="0" marL="0" marR="0" rtl="0" algn="l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4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Esta metodología surgió como una evolución natural para equipos que usaban Scrum pero necesitaban una mayor fluidez en su flujo de trabajo</a:t>
              </a:r>
              <a:endParaRPr/>
            </a:p>
          </p:txBody>
        </p:sp>
      </p:grpSp>
      <p:grpSp>
        <p:nvGrpSpPr>
          <p:cNvPr id="160" name="Google Shape;160;p5"/>
          <p:cNvGrpSpPr/>
          <p:nvPr/>
        </p:nvGrpSpPr>
        <p:grpSpPr>
          <a:xfrm>
            <a:off x="9144000" y="2134437"/>
            <a:ext cx="881343" cy="881343"/>
            <a:chOff x="0" y="0"/>
            <a:chExt cx="1175123" cy="1175123"/>
          </a:xfrm>
        </p:grpSpPr>
        <p:sp>
          <p:nvSpPr>
            <p:cNvPr id="161" name="Google Shape;161;p5"/>
            <p:cNvSpPr/>
            <p:nvPr/>
          </p:nvSpPr>
          <p:spPr>
            <a:xfrm>
              <a:off x="0" y="0"/>
              <a:ext cx="1175123" cy="1175123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57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5"/>
            <p:cNvSpPr txBox="1"/>
            <p:nvPr/>
          </p:nvSpPr>
          <p:spPr>
            <a:xfrm>
              <a:off x="366298" y="330048"/>
              <a:ext cx="442528" cy="5340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59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63" name="Google Shape;163;p5"/>
          <p:cNvGrpSpPr/>
          <p:nvPr/>
        </p:nvGrpSpPr>
        <p:grpSpPr>
          <a:xfrm>
            <a:off x="9144000" y="5523573"/>
            <a:ext cx="881343" cy="881343"/>
            <a:chOff x="0" y="0"/>
            <a:chExt cx="1175123" cy="1175123"/>
          </a:xfrm>
        </p:grpSpPr>
        <p:sp>
          <p:nvSpPr>
            <p:cNvPr id="164" name="Google Shape;164;p5"/>
            <p:cNvSpPr/>
            <p:nvPr/>
          </p:nvSpPr>
          <p:spPr>
            <a:xfrm>
              <a:off x="0" y="0"/>
              <a:ext cx="1175123" cy="1175123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57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5"/>
            <p:cNvSpPr txBox="1"/>
            <p:nvPr/>
          </p:nvSpPr>
          <p:spPr>
            <a:xfrm>
              <a:off x="366298" y="330048"/>
              <a:ext cx="442528" cy="5340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59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9144000" y="7156452"/>
            <a:ext cx="881343" cy="881343"/>
            <a:chOff x="0" y="0"/>
            <a:chExt cx="1175123" cy="1175123"/>
          </a:xfrm>
        </p:grpSpPr>
        <p:sp>
          <p:nvSpPr>
            <p:cNvPr id="167" name="Google Shape;167;p5"/>
            <p:cNvSpPr/>
            <p:nvPr/>
          </p:nvSpPr>
          <p:spPr>
            <a:xfrm>
              <a:off x="0" y="0"/>
              <a:ext cx="1175123" cy="1175123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57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5"/>
            <p:cNvSpPr txBox="1"/>
            <p:nvPr/>
          </p:nvSpPr>
          <p:spPr>
            <a:xfrm>
              <a:off x="366298" y="330048"/>
              <a:ext cx="442528" cy="5340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59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169" name="Google Shape;169;p5"/>
          <p:cNvSpPr txBox="1"/>
          <p:nvPr/>
        </p:nvSpPr>
        <p:spPr>
          <a:xfrm>
            <a:off x="10255560" y="2220144"/>
            <a:ext cx="4672836" cy="56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10255560" y="5187639"/>
            <a:ext cx="7008946" cy="142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busca combinar la agilidad de ambas metodologias para la adaptación a necesidades futuras emergentes </a:t>
            </a:r>
            <a:endParaRPr/>
          </a:p>
        </p:txBody>
      </p:sp>
      <p:grpSp>
        <p:nvGrpSpPr>
          <p:cNvPr id="171" name="Google Shape;171;p5"/>
          <p:cNvGrpSpPr/>
          <p:nvPr/>
        </p:nvGrpSpPr>
        <p:grpSpPr>
          <a:xfrm>
            <a:off x="10255560" y="2868143"/>
            <a:ext cx="2302400" cy="2143720"/>
            <a:chOff x="0" y="0"/>
            <a:chExt cx="3069867" cy="2858293"/>
          </a:xfrm>
        </p:grpSpPr>
        <p:grpSp>
          <p:nvGrpSpPr>
            <p:cNvPr id="172" name="Google Shape;172;p5"/>
            <p:cNvGrpSpPr/>
            <p:nvPr/>
          </p:nvGrpSpPr>
          <p:grpSpPr>
            <a:xfrm>
              <a:off x="0" y="0"/>
              <a:ext cx="3069867" cy="2858293"/>
              <a:chOff x="0" y="0"/>
              <a:chExt cx="3484616" cy="3244458"/>
            </a:xfrm>
          </p:grpSpPr>
          <p:sp>
            <p:nvSpPr>
              <p:cNvPr id="173" name="Google Shape;173;p5"/>
              <p:cNvSpPr/>
              <p:nvPr/>
            </p:nvSpPr>
            <p:spPr>
              <a:xfrm>
                <a:off x="57150" y="58420"/>
                <a:ext cx="3414766" cy="3173338"/>
              </a:xfrm>
              <a:custGeom>
                <a:rect b="b" l="l" r="r" t="t"/>
                <a:pathLst>
                  <a:path extrusionOk="0" h="3173338" w="3414766">
                    <a:moveTo>
                      <a:pt x="3329676" y="3142858"/>
                    </a:moveTo>
                    <a:lnTo>
                      <a:pt x="0" y="3142858"/>
                    </a:lnTo>
                    <a:cubicBezTo>
                      <a:pt x="5080" y="3160638"/>
                      <a:pt x="21590" y="3173338"/>
                      <a:pt x="40640" y="3173338"/>
                    </a:cubicBezTo>
                    <a:lnTo>
                      <a:pt x="3371586" y="3173338"/>
                    </a:lnTo>
                    <a:cubicBezTo>
                      <a:pt x="3395716" y="3173338"/>
                      <a:pt x="3414766" y="3154288"/>
                      <a:pt x="3414766" y="3130158"/>
                    </a:cubicBezTo>
                    <a:lnTo>
                      <a:pt x="3414766" y="40640"/>
                    </a:lnTo>
                    <a:cubicBezTo>
                      <a:pt x="3414766" y="21590"/>
                      <a:pt x="3402066" y="6350"/>
                      <a:pt x="3385556" y="0"/>
                    </a:cubicBezTo>
                    <a:lnTo>
                      <a:pt x="3385556" y="3086978"/>
                    </a:lnTo>
                    <a:cubicBezTo>
                      <a:pt x="3385556" y="3117458"/>
                      <a:pt x="3360156" y="3142858"/>
                      <a:pt x="3329676" y="3142858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12700" y="12700"/>
                <a:ext cx="3417306" cy="3175878"/>
              </a:xfrm>
              <a:custGeom>
                <a:rect b="b" l="l" r="r" t="t"/>
                <a:pathLst>
                  <a:path extrusionOk="0" h="3175878" w="3417306">
                    <a:moveTo>
                      <a:pt x="43180" y="3175878"/>
                    </a:moveTo>
                    <a:lnTo>
                      <a:pt x="3374126" y="3175878"/>
                    </a:lnTo>
                    <a:cubicBezTo>
                      <a:pt x="3398256" y="3175878"/>
                      <a:pt x="3417306" y="3156828"/>
                      <a:pt x="3417306" y="3132698"/>
                    </a:cubicBezTo>
                    <a:lnTo>
                      <a:pt x="3417306" y="43180"/>
                    </a:lnTo>
                    <a:cubicBezTo>
                      <a:pt x="3417306" y="19050"/>
                      <a:pt x="3398256" y="0"/>
                      <a:pt x="3374126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132698"/>
                    </a:lnTo>
                    <a:cubicBezTo>
                      <a:pt x="0" y="3156828"/>
                      <a:pt x="19050" y="3175878"/>
                      <a:pt x="43180" y="31758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0" y="0"/>
                <a:ext cx="3484616" cy="3244458"/>
              </a:xfrm>
              <a:custGeom>
                <a:rect b="b" l="l" r="r" t="t"/>
                <a:pathLst>
                  <a:path extrusionOk="0" h="3244458" w="3484616">
                    <a:moveTo>
                      <a:pt x="3441436" y="44450"/>
                    </a:moveTo>
                    <a:cubicBezTo>
                      <a:pt x="3436356" y="19050"/>
                      <a:pt x="3413496" y="0"/>
                      <a:pt x="3386825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145398"/>
                    </a:lnTo>
                    <a:cubicBezTo>
                      <a:pt x="0" y="3172068"/>
                      <a:pt x="17780" y="3193658"/>
                      <a:pt x="43180" y="3200008"/>
                    </a:cubicBezTo>
                    <a:cubicBezTo>
                      <a:pt x="48260" y="3225408"/>
                      <a:pt x="71120" y="3244458"/>
                      <a:pt x="97790" y="3244458"/>
                    </a:cubicBezTo>
                    <a:lnTo>
                      <a:pt x="3428736" y="3244458"/>
                    </a:lnTo>
                    <a:cubicBezTo>
                      <a:pt x="3459216" y="3244458"/>
                      <a:pt x="3484616" y="3219058"/>
                      <a:pt x="3484616" y="3188578"/>
                    </a:cubicBezTo>
                    <a:lnTo>
                      <a:pt x="3484616" y="99060"/>
                    </a:lnTo>
                    <a:cubicBezTo>
                      <a:pt x="3484616" y="72390"/>
                      <a:pt x="3466836" y="50800"/>
                      <a:pt x="3441436" y="44450"/>
                    </a:cubicBezTo>
                    <a:close/>
                    <a:moveTo>
                      <a:pt x="12700" y="3145398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386826" y="12700"/>
                    </a:lnTo>
                    <a:cubicBezTo>
                      <a:pt x="3410956" y="12700"/>
                      <a:pt x="3430006" y="31750"/>
                      <a:pt x="3430006" y="55880"/>
                    </a:cubicBezTo>
                    <a:lnTo>
                      <a:pt x="3430006" y="3145398"/>
                    </a:lnTo>
                    <a:cubicBezTo>
                      <a:pt x="3430006" y="3169528"/>
                      <a:pt x="3410956" y="3188578"/>
                      <a:pt x="3386826" y="3188578"/>
                    </a:cubicBezTo>
                    <a:lnTo>
                      <a:pt x="55880" y="3188578"/>
                    </a:lnTo>
                    <a:cubicBezTo>
                      <a:pt x="31750" y="3188578"/>
                      <a:pt x="12700" y="3169528"/>
                      <a:pt x="12700" y="3145398"/>
                    </a:cubicBezTo>
                    <a:close/>
                    <a:moveTo>
                      <a:pt x="3471916" y="3188578"/>
                    </a:moveTo>
                    <a:cubicBezTo>
                      <a:pt x="3471916" y="3212708"/>
                      <a:pt x="3452866" y="3231758"/>
                      <a:pt x="3428736" y="3231758"/>
                    </a:cubicBezTo>
                    <a:lnTo>
                      <a:pt x="97790" y="3231758"/>
                    </a:lnTo>
                    <a:cubicBezTo>
                      <a:pt x="78740" y="3231758"/>
                      <a:pt x="62230" y="3219058"/>
                      <a:pt x="57150" y="3201278"/>
                    </a:cubicBezTo>
                    <a:lnTo>
                      <a:pt x="3386826" y="3201278"/>
                    </a:lnTo>
                    <a:cubicBezTo>
                      <a:pt x="3417306" y="3201278"/>
                      <a:pt x="3442706" y="3175878"/>
                      <a:pt x="3442706" y="3145398"/>
                    </a:cubicBezTo>
                    <a:lnTo>
                      <a:pt x="3442706" y="58420"/>
                    </a:lnTo>
                    <a:cubicBezTo>
                      <a:pt x="3459216" y="64770"/>
                      <a:pt x="3471916" y="80010"/>
                      <a:pt x="3471916" y="99060"/>
                    </a:cubicBezTo>
                    <a:lnTo>
                      <a:pt x="3471916" y="3188578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6" name="Google Shape;176;p5"/>
            <p:cNvSpPr txBox="1"/>
            <p:nvPr/>
          </p:nvSpPr>
          <p:spPr>
            <a:xfrm>
              <a:off x="444105" y="590312"/>
              <a:ext cx="2181657" cy="1610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No se espera a terminar un sprint para trabajar</a:t>
              </a:r>
              <a:endParaRPr/>
            </a:p>
          </p:txBody>
        </p:sp>
      </p:grpSp>
      <p:grpSp>
        <p:nvGrpSpPr>
          <p:cNvPr id="177" name="Google Shape;177;p5"/>
          <p:cNvGrpSpPr/>
          <p:nvPr/>
        </p:nvGrpSpPr>
        <p:grpSpPr>
          <a:xfrm>
            <a:off x="12786560" y="2836281"/>
            <a:ext cx="2302400" cy="2143720"/>
            <a:chOff x="0" y="0"/>
            <a:chExt cx="3069867" cy="2858293"/>
          </a:xfrm>
        </p:grpSpPr>
        <p:grpSp>
          <p:nvGrpSpPr>
            <p:cNvPr id="178" name="Google Shape;178;p5"/>
            <p:cNvGrpSpPr/>
            <p:nvPr/>
          </p:nvGrpSpPr>
          <p:grpSpPr>
            <a:xfrm>
              <a:off x="0" y="0"/>
              <a:ext cx="3069867" cy="2858293"/>
              <a:chOff x="0" y="0"/>
              <a:chExt cx="3484616" cy="3244458"/>
            </a:xfrm>
          </p:grpSpPr>
          <p:sp>
            <p:nvSpPr>
              <p:cNvPr id="179" name="Google Shape;179;p5"/>
              <p:cNvSpPr/>
              <p:nvPr/>
            </p:nvSpPr>
            <p:spPr>
              <a:xfrm>
                <a:off x="57150" y="58420"/>
                <a:ext cx="3414766" cy="3173338"/>
              </a:xfrm>
              <a:custGeom>
                <a:rect b="b" l="l" r="r" t="t"/>
                <a:pathLst>
                  <a:path extrusionOk="0" h="3173338" w="3414766">
                    <a:moveTo>
                      <a:pt x="3329676" y="3142858"/>
                    </a:moveTo>
                    <a:lnTo>
                      <a:pt x="0" y="3142858"/>
                    </a:lnTo>
                    <a:cubicBezTo>
                      <a:pt x="5080" y="3160638"/>
                      <a:pt x="21590" y="3173338"/>
                      <a:pt x="40640" y="3173338"/>
                    </a:cubicBezTo>
                    <a:lnTo>
                      <a:pt x="3371586" y="3173338"/>
                    </a:lnTo>
                    <a:cubicBezTo>
                      <a:pt x="3395716" y="3173338"/>
                      <a:pt x="3414766" y="3154288"/>
                      <a:pt x="3414766" y="3130158"/>
                    </a:cubicBezTo>
                    <a:lnTo>
                      <a:pt x="3414766" y="40640"/>
                    </a:lnTo>
                    <a:cubicBezTo>
                      <a:pt x="3414766" y="21590"/>
                      <a:pt x="3402066" y="6350"/>
                      <a:pt x="3385556" y="0"/>
                    </a:cubicBezTo>
                    <a:lnTo>
                      <a:pt x="3385556" y="3086978"/>
                    </a:lnTo>
                    <a:cubicBezTo>
                      <a:pt x="3385556" y="3117458"/>
                      <a:pt x="3360156" y="3142858"/>
                      <a:pt x="3329676" y="3142858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12700" y="12700"/>
                <a:ext cx="3417306" cy="3175878"/>
              </a:xfrm>
              <a:custGeom>
                <a:rect b="b" l="l" r="r" t="t"/>
                <a:pathLst>
                  <a:path extrusionOk="0" h="3175878" w="3417306">
                    <a:moveTo>
                      <a:pt x="43180" y="3175878"/>
                    </a:moveTo>
                    <a:lnTo>
                      <a:pt x="3374126" y="3175878"/>
                    </a:lnTo>
                    <a:cubicBezTo>
                      <a:pt x="3398256" y="3175878"/>
                      <a:pt x="3417306" y="3156828"/>
                      <a:pt x="3417306" y="3132698"/>
                    </a:cubicBezTo>
                    <a:lnTo>
                      <a:pt x="3417306" y="43180"/>
                    </a:lnTo>
                    <a:cubicBezTo>
                      <a:pt x="3417306" y="19050"/>
                      <a:pt x="3398256" y="0"/>
                      <a:pt x="3374126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132698"/>
                    </a:lnTo>
                    <a:cubicBezTo>
                      <a:pt x="0" y="3156828"/>
                      <a:pt x="19050" y="3175878"/>
                      <a:pt x="43180" y="31758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0" y="0"/>
                <a:ext cx="3484616" cy="3244458"/>
              </a:xfrm>
              <a:custGeom>
                <a:rect b="b" l="l" r="r" t="t"/>
                <a:pathLst>
                  <a:path extrusionOk="0" h="3244458" w="3484616">
                    <a:moveTo>
                      <a:pt x="3441436" y="44450"/>
                    </a:moveTo>
                    <a:cubicBezTo>
                      <a:pt x="3436356" y="19050"/>
                      <a:pt x="3413496" y="0"/>
                      <a:pt x="3386825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145398"/>
                    </a:lnTo>
                    <a:cubicBezTo>
                      <a:pt x="0" y="3172068"/>
                      <a:pt x="17780" y="3193658"/>
                      <a:pt x="43180" y="3200008"/>
                    </a:cubicBezTo>
                    <a:cubicBezTo>
                      <a:pt x="48260" y="3225408"/>
                      <a:pt x="71120" y="3244458"/>
                      <a:pt x="97790" y="3244458"/>
                    </a:cubicBezTo>
                    <a:lnTo>
                      <a:pt x="3428736" y="3244458"/>
                    </a:lnTo>
                    <a:cubicBezTo>
                      <a:pt x="3459216" y="3244458"/>
                      <a:pt x="3484616" y="3219058"/>
                      <a:pt x="3484616" y="3188578"/>
                    </a:cubicBezTo>
                    <a:lnTo>
                      <a:pt x="3484616" y="99060"/>
                    </a:lnTo>
                    <a:cubicBezTo>
                      <a:pt x="3484616" y="72390"/>
                      <a:pt x="3466836" y="50800"/>
                      <a:pt x="3441436" y="44450"/>
                    </a:cubicBezTo>
                    <a:close/>
                    <a:moveTo>
                      <a:pt x="12700" y="3145398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386826" y="12700"/>
                    </a:lnTo>
                    <a:cubicBezTo>
                      <a:pt x="3410956" y="12700"/>
                      <a:pt x="3430006" y="31750"/>
                      <a:pt x="3430006" y="55880"/>
                    </a:cubicBezTo>
                    <a:lnTo>
                      <a:pt x="3430006" y="3145398"/>
                    </a:lnTo>
                    <a:cubicBezTo>
                      <a:pt x="3430006" y="3169528"/>
                      <a:pt x="3410956" y="3188578"/>
                      <a:pt x="3386826" y="3188578"/>
                    </a:cubicBezTo>
                    <a:lnTo>
                      <a:pt x="55880" y="3188578"/>
                    </a:lnTo>
                    <a:cubicBezTo>
                      <a:pt x="31750" y="3188578"/>
                      <a:pt x="12700" y="3169528"/>
                      <a:pt x="12700" y="3145398"/>
                    </a:cubicBezTo>
                    <a:close/>
                    <a:moveTo>
                      <a:pt x="3471916" y="3188578"/>
                    </a:moveTo>
                    <a:cubicBezTo>
                      <a:pt x="3471916" y="3212708"/>
                      <a:pt x="3452866" y="3231758"/>
                      <a:pt x="3428736" y="3231758"/>
                    </a:cubicBezTo>
                    <a:lnTo>
                      <a:pt x="97790" y="3231758"/>
                    </a:lnTo>
                    <a:cubicBezTo>
                      <a:pt x="78740" y="3231758"/>
                      <a:pt x="62230" y="3219058"/>
                      <a:pt x="57150" y="3201278"/>
                    </a:cubicBezTo>
                    <a:lnTo>
                      <a:pt x="3386826" y="3201278"/>
                    </a:lnTo>
                    <a:cubicBezTo>
                      <a:pt x="3417306" y="3201278"/>
                      <a:pt x="3442706" y="3175878"/>
                      <a:pt x="3442706" y="3145398"/>
                    </a:cubicBezTo>
                    <a:lnTo>
                      <a:pt x="3442706" y="58420"/>
                    </a:lnTo>
                    <a:cubicBezTo>
                      <a:pt x="3459216" y="64770"/>
                      <a:pt x="3471916" y="80010"/>
                      <a:pt x="3471916" y="99060"/>
                    </a:cubicBezTo>
                    <a:lnTo>
                      <a:pt x="3471916" y="3188578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2" name="Google Shape;182;p5"/>
            <p:cNvSpPr txBox="1"/>
            <p:nvPr/>
          </p:nvSpPr>
          <p:spPr>
            <a:xfrm>
              <a:off x="444105" y="590312"/>
              <a:ext cx="2181657" cy="1610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Se sigue trabajando con eventos de scrum</a:t>
              </a:r>
              <a:endParaRPr/>
            </a:p>
          </p:txBody>
        </p:sp>
      </p:grpSp>
      <p:grpSp>
        <p:nvGrpSpPr>
          <p:cNvPr id="183" name="Google Shape;183;p5"/>
          <p:cNvGrpSpPr/>
          <p:nvPr/>
        </p:nvGrpSpPr>
        <p:grpSpPr>
          <a:xfrm>
            <a:off x="15317561" y="2836281"/>
            <a:ext cx="2302400" cy="2143720"/>
            <a:chOff x="0" y="0"/>
            <a:chExt cx="3069867" cy="2858293"/>
          </a:xfrm>
        </p:grpSpPr>
        <p:grpSp>
          <p:nvGrpSpPr>
            <p:cNvPr id="184" name="Google Shape;184;p5"/>
            <p:cNvGrpSpPr/>
            <p:nvPr/>
          </p:nvGrpSpPr>
          <p:grpSpPr>
            <a:xfrm>
              <a:off x="0" y="0"/>
              <a:ext cx="3069867" cy="2858293"/>
              <a:chOff x="0" y="0"/>
              <a:chExt cx="3484616" cy="3244458"/>
            </a:xfrm>
          </p:grpSpPr>
          <p:sp>
            <p:nvSpPr>
              <p:cNvPr id="185" name="Google Shape;185;p5"/>
              <p:cNvSpPr/>
              <p:nvPr/>
            </p:nvSpPr>
            <p:spPr>
              <a:xfrm>
                <a:off x="57150" y="58420"/>
                <a:ext cx="3414766" cy="3173338"/>
              </a:xfrm>
              <a:custGeom>
                <a:rect b="b" l="l" r="r" t="t"/>
                <a:pathLst>
                  <a:path extrusionOk="0" h="3173338" w="3414766">
                    <a:moveTo>
                      <a:pt x="3329676" y="3142858"/>
                    </a:moveTo>
                    <a:lnTo>
                      <a:pt x="0" y="3142858"/>
                    </a:lnTo>
                    <a:cubicBezTo>
                      <a:pt x="5080" y="3160638"/>
                      <a:pt x="21590" y="3173338"/>
                      <a:pt x="40640" y="3173338"/>
                    </a:cubicBezTo>
                    <a:lnTo>
                      <a:pt x="3371586" y="3173338"/>
                    </a:lnTo>
                    <a:cubicBezTo>
                      <a:pt x="3395716" y="3173338"/>
                      <a:pt x="3414766" y="3154288"/>
                      <a:pt x="3414766" y="3130158"/>
                    </a:cubicBezTo>
                    <a:lnTo>
                      <a:pt x="3414766" y="40640"/>
                    </a:lnTo>
                    <a:cubicBezTo>
                      <a:pt x="3414766" y="21590"/>
                      <a:pt x="3402066" y="6350"/>
                      <a:pt x="3385556" y="0"/>
                    </a:cubicBezTo>
                    <a:lnTo>
                      <a:pt x="3385556" y="3086978"/>
                    </a:lnTo>
                    <a:cubicBezTo>
                      <a:pt x="3385556" y="3117458"/>
                      <a:pt x="3360156" y="3142858"/>
                      <a:pt x="3329676" y="3142858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12700" y="12700"/>
                <a:ext cx="3417306" cy="3175878"/>
              </a:xfrm>
              <a:custGeom>
                <a:rect b="b" l="l" r="r" t="t"/>
                <a:pathLst>
                  <a:path extrusionOk="0" h="3175878" w="3417306">
                    <a:moveTo>
                      <a:pt x="43180" y="3175878"/>
                    </a:moveTo>
                    <a:lnTo>
                      <a:pt x="3374126" y="3175878"/>
                    </a:lnTo>
                    <a:cubicBezTo>
                      <a:pt x="3398256" y="3175878"/>
                      <a:pt x="3417306" y="3156828"/>
                      <a:pt x="3417306" y="3132698"/>
                    </a:cubicBezTo>
                    <a:lnTo>
                      <a:pt x="3417306" y="43180"/>
                    </a:lnTo>
                    <a:cubicBezTo>
                      <a:pt x="3417306" y="19050"/>
                      <a:pt x="3398256" y="0"/>
                      <a:pt x="3374126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132698"/>
                    </a:lnTo>
                    <a:cubicBezTo>
                      <a:pt x="0" y="3156828"/>
                      <a:pt x="19050" y="3175878"/>
                      <a:pt x="43180" y="31758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0" y="0"/>
                <a:ext cx="3484616" cy="3244458"/>
              </a:xfrm>
              <a:custGeom>
                <a:rect b="b" l="l" r="r" t="t"/>
                <a:pathLst>
                  <a:path extrusionOk="0" h="3244458" w="3484616">
                    <a:moveTo>
                      <a:pt x="3441436" y="44450"/>
                    </a:moveTo>
                    <a:cubicBezTo>
                      <a:pt x="3436356" y="19050"/>
                      <a:pt x="3413496" y="0"/>
                      <a:pt x="3386825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145398"/>
                    </a:lnTo>
                    <a:cubicBezTo>
                      <a:pt x="0" y="3172068"/>
                      <a:pt x="17780" y="3193658"/>
                      <a:pt x="43180" y="3200008"/>
                    </a:cubicBezTo>
                    <a:cubicBezTo>
                      <a:pt x="48260" y="3225408"/>
                      <a:pt x="71120" y="3244458"/>
                      <a:pt x="97790" y="3244458"/>
                    </a:cubicBezTo>
                    <a:lnTo>
                      <a:pt x="3428736" y="3244458"/>
                    </a:lnTo>
                    <a:cubicBezTo>
                      <a:pt x="3459216" y="3244458"/>
                      <a:pt x="3484616" y="3219058"/>
                      <a:pt x="3484616" y="3188578"/>
                    </a:cubicBezTo>
                    <a:lnTo>
                      <a:pt x="3484616" y="99060"/>
                    </a:lnTo>
                    <a:cubicBezTo>
                      <a:pt x="3484616" y="72390"/>
                      <a:pt x="3466836" y="50800"/>
                      <a:pt x="3441436" y="44450"/>
                    </a:cubicBezTo>
                    <a:close/>
                    <a:moveTo>
                      <a:pt x="12700" y="3145398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386826" y="12700"/>
                    </a:lnTo>
                    <a:cubicBezTo>
                      <a:pt x="3410956" y="12700"/>
                      <a:pt x="3430006" y="31750"/>
                      <a:pt x="3430006" y="55880"/>
                    </a:cubicBezTo>
                    <a:lnTo>
                      <a:pt x="3430006" y="3145398"/>
                    </a:lnTo>
                    <a:cubicBezTo>
                      <a:pt x="3430006" y="3169528"/>
                      <a:pt x="3410956" y="3188578"/>
                      <a:pt x="3386826" y="3188578"/>
                    </a:cubicBezTo>
                    <a:lnTo>
                      <a:pt x="55880" y="3188578"/>
                    </a:lnTo>
                    <a:cubicBezTo>
                      <a:pt x="31750" y="3188578"/>
                      <a:pt x="12700" y="3169528"/>
                      <a:pt x="12700" y="3145398"/>
                    </a:cubicBezTo>
                    <a:close/>
                    <a:moveTo>
                      <a:pt x="3471916" y="3188578"/>
                    </a:moveTo>
                    <a:cubicBezTo>
                      <a:pt x="3471916" y="3212708"/>
                      <a:pt x="3452866" y="3231758"/>
                      <a:pt x="3428736" y="3231758"/>
                    </a:cubicBezTo>
                    <a:lnTo>
                      <a:pt x="97790" y="3231758"/>
                    </a:lnTo>
                    <a:cubicBezTo>
                      <a:pt x="78740" y="3231758"/>
                      <a:pt x="62230" y="3219058"/>
                      <a:pt x="57150" y="3201278"/>
                    </a:cubicBezTo>
                    <a:lnTo>
                      <a:pt x="3386826" y="3201278"/>
                    </a:lnTo>
                    <a:cubicBezTo>
                      <a:pt x="3417306" y="3201278"/>
                      <a:pt x="3442706" y="3175878"/>
                      <a:pt x="3442706" y="3145398"/>
                    </a:cubicBezTo>
                    <a:lnTo>
                      <a:pt x="3442706" y="58420"/>
                    </a:lnTo>
                    <a:cubicBezTo>
                      <a:pt x="3459216" y="64770"/>
                      <a:pt x="3471916" y="80010"/>
                      <a:pt x="3471916" y="99060"/>
                    </a:cubicBezTo>
                    <a:lnTo>
                      <a:pt x="3471916" y="3188578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8" name="Google Shape;188;p5"/>
            <p:cNvSpPr txBox="1"/>
            <p:nvPr/>
          </p:nvSpPr>
          <p:spPr>
            <a:xfrm>
              <a:off x="444105" y="590312"/>
              <a:ext cx="2181657" cy="1610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La gestión es a través de tableros kanban</a:t>
              </a:r>
              <a:endParaRPr/>
            </a:p>
          </p:txBody>
        </p:sp>
      </p:grpSp>
      <p:sp>
        <p:nvSpPr>
          <p:cNvPr id="189" name="Google Shape;189;p5"/>
          <p:cNvSpPr txBox="1"/>
          <p:nvPr/>
        </p:nvSpPr>
        <p:spPr>
          <a:xfrm>
            <a:off x="10255560" y="7285955"/>
            <a:ext cx="7008946" cy="531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Combinación de Scrum y Kanban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/>
          <p:nvPr/>
        </p:nvSpPr>
        <p:spPr>
          <a:xfrm>
            <a:off x="1085139" y="1028700"/>
            <a:ext cx="16117723" cy="8229600"/>
          </a:xfrm>
          <a:custGeom>
            <a:rect b="b" l="l" r="r" t="t"/>
            <a:pathLst>
              <a:path extrusionOk="0" h="16247872" w="31821558">
                <a:moveTo>
                  <a:pt x="31697098" y="59690"/>
                </a:moveTo>
                <a:cubicBezTo>
                  <a:pt x="31732658" y="59690"/>
                  <a:pt x="31761866" y="88900"/>
                  <a:pt x="31761866" y="124460"/>
                </a:cubicBezTo>
                <a:lnTo>
                  <a:pt x="31761866" y="16123411"/>
                </a:lnTo>
                <a:cubicBezTo>
                  <a:pt x="31761866" y="16158972"/>
                  <a:pt x="31732658" y="16188181"/>
                  <a:pt x="31697098" y="16188181"/>
                </a:cubicBezTo>
                <a:lnTo>
                  <a:pt x="124460" y="16188181"/>
                </a:lnTo>
                <a:cubicBezTo>
                  <a:pt x="88900" y="16188181"/>
                  <a:pt x="59690" y="16158972"/>
                  <a:pt x="59690" y="16123411"/>
                </a:cubicBezTo>
                <a:lnTo>
                  <a:pt x="59690" y="124460"/>
                </a:lnTo>
                <a:cubicBezTo>
                  <a:pt x="59690" y="88900"/>
                  <a:pt x="88900" y="59690"/>
                  <a:pt x="124460" y="59690"/>
                </a:cubicBezTo>
                <a:lnTo>
                  <a:pt x="31697098" y="59690"/>
                </a:lnTo>
                <a:moveTo>
                  <a:pt x="31697098" y="0"/>
                </a:moveTo>
                <a:lnTo>
                  <a:pt x="124460" y="0"/>
                </a:lnTo>
                <a:cubicBezTo>
                  <a:pt x="55880" y="0"/>
                  <a:pt x="0" y="55880"/>
                  <a:pt x="0" y="124460"/>
                </a:cubicBezTo>
                <a:lnTo>
                  <a:pt x="0" y="16123411"/>
                </a:lnTo>
                <a:cubicBezTo>
                  <a:pt x="0" y="16191992"/>
                  <a:pt x="55880" y="16247872"/>
                  <a:pt x="124460" y="16247872"/>
                </a:cubicBezTo>
                <a:lnTo>
                  <a:pt x="31697098" y="16247872"/>
                </a:lnTo>
                <a:cubicBezTo>
                  <a:pt x="31765677" y="16247872"/>
                  <a:pt x="31821558" y="16191992"/>
                  <a:pt x="31821558" y="16123411"/>
                </a:cubicBezTo>
                <a:lnTo>
                  <a:pt x="31821558" y="124460"/>
                </a:lnTo>
                <a:cubicBezTo>
                  <a:pt x="31821558" y="55880"/>
                  <a:pt x="31765677" y="0"/>
                  <a:pt x="31697098" y="0"/>
                </a:cubicBezTo>
                <a:close/>
              </a:path>
            </a:pathLst>
          </a:custGeom>
          <a:solidFill>
            <a:srgbClr val="57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" name="Google Shape;195;p6"/>
          <p:cNvGrpSpPr/>
          <p:nvPr/>
        </p:nvGrpSpPr>
        <p:grpSpPr>
          <a:xfrm>
            <a:off x="1085139" y="1028700"/>
            <a:ext cx="16117721" cy="1157308"/>
            <a:chOff x="0" y="0"/>
            <a:chExt cx="21490296" cy="1543077"/>
          </a:xfrm>
        </p:grpSpPr>
        <p:grpSp>
          <p:nvGrpSpPr>
            <p:cNvPr id="196" name="Google Shape;196;p6"/>
            <p:cNvGrpSpPr/>
            <p:nvPr/>
          </p:nvGrpSpPr>
          <p:grpSpPr>
            <a:xfrm>
              <a:off x="0" y="0"/>
              <a:ext cx="21490296" cy="1543077"/>
              <a:chOff x="0" y="0"/>
              <a:chExt cx="31091640" cy="2232485"/>
            </a:xfrm>
          </p:grpSpPr>
          <p:sp>
            <p:nvSpPr>
              <p:cNvPr id="197" name="Google Shape;197;p6"/>
              <p:cNvSpPr/>
              <p:nvPr/>
            </p:nvSpPr>
            <p:spPr>
              <a:xfrm>
                <a:off x="31750" y="31750"/>
                <a:ext cx="31028140" cy="2168984"/>
              </a:xfrm>
              <a:custGeom>
                <a:rect b="b" l="l" r="r" t="t"/>
                <a:pathLst>
                  <a:path extrusionOk="0" h="2168984" w="31028140">
                    <a:moveTo>
                      <a:pt x="30935433" y="2168984"/>
                    </a:moveTo>
                    <a:lnTo>
                      <a:pt x="92710" y="2168984"/>
                    </a:lnTo>
                    <a:cubicBezTo>
                      <a:pt x="41910" y="2168984"/>
                      <a:pt x="0" y="2127074"/>
                      <a:pt x="0" y="2076274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0934161" y="0"/>
                    </a:lnTo>
                    <a:cubicBezTo>
                      <a:pt x="30984961" y="0"/>
                      <a:pt x="31026872" y="41910"/>
                      <a:pt x="31026872" y="92710"/>
                    </a:cubicBezTo>
                    <a:lnTo>
                      <a:pt x="31026872" y="2075005"/>
                    </a:lnTo>
                    <a:cubicBezTo>
                      <a:pt x="31028140" y="2127074"/>
                      <a:pt x="30986233" y="2168984"/>
                      <a:pt x="30935433" y="216898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6"/>
              <p:cNvSpPr/>
              <p:nvPr/>
            </p:nvSpPr>
            <p:spPr>
              <a:xfrm>
                <a:off x="0" y="0"/>
                <a:ext cx="31091640" cy="2232485"/>
              </a:xfrm>
              <a:custGeom>
                <a:rect b="b" l="l" r="r" t="t"/>
                <a:pathLst>
                  <a:path extrusionOk="0" h="2232485" w="31091640">
                    <a:moveTo>
                      <a:pt x="30967183" y="59690"/>
                    </a:moveTo>
                    <a:cubicBezTo>
                      <a:pt x="31002740" y="59690"/>
                      <a:pt x="31031951" y="88900"/>
                      <a:pt x="31031951" y="124460"/>
                    </a:cubicBezTo>
                    <a:lnTo>
                      <a:pt x="31031951" y="2108025"/>
                    </a:lnTo>
                    <a:cubicBezTo>
                      <a:pt x="31031951" y="2143585"/>
                      <a:pt x="31002740" y="2172795"/>
                      <a:pt x="30967183" y="2172795"/>
                    </a:cubicBezTo>
                    <a:lnTo>
                      <a:pt x="124460" y="2172795"/>
                    </a:lnTo>
                    <a:cubicBezTo>
                      <a:pt x="88900" y="2172795"/>
                      <a:pt x="59690" y="2143585"/>
                      <a:pt x="59690" y="2108025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0967183" y="59690"/>
                    </a:lnTo>
                    <a:moveTo>
                      <a:pt x="3096718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08025"/>
                    </a:lnTo>
                    <a:cubicBezTo>
                      <a:pt x="0" y="2176605"/>
                      <a:pt x="55880" y="2232485"/>
                      <a:pt x="124460" y="2232485"/>
                    </a:cubicBezTo>
                    <a:lnTo>
                      <a:pt x="30967183" y="2232485"/>
                    </a:lnTo>
                    <a:cubicBezTo>
                      <a:pt x="31035761" y="2232485"/>
                      <a:pt x="31091640" y="2176605"/>
                      <a:pt x="31091640" y="2108025"/>
                    </a:cubicBezTo>
                    <a:lnTo>
                      <a:pt x="31091640" y="124460"/>
                    </a:lnTo>
                    <a:cubicBezTo>
                      <a:pt x="31091640" y="55880"/>
                      <a:pt x="31035761" y="0"/>
                      <a:pt x="309671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9" name="Google Shape;199;p6"/>
            <p:cNvSpPr/>
            <p:nvPr/>
          </p:nvSpPr>
          <p:spPr>
            <a:xfrm>
              <a:off x="20302666" y="617319"/>
              <a:ext cx="572613" cy="308598"/>
            </a:xfrm>
            <a:custGeom>
              <a:rect b="b" l="l" r="r" t="t"/>
              <a:pathLst>
                <a:path extrusionOk="0" h="434340" w="805931">
                  <a:moveTo>
                    <a:pt x="788152" y="187960"/>
                  </a:moveTo>
                  <a:lnTo>
                    <a:pt x="526531" y="11430"/>
                  </a:lnTo>
                  <a:cubicBezTo>
                    <a:pt x="508752" y="0"/>
                    <a:pt x="485891" y="3810"/>
                    <a:pt x="473191" y="21590"/>
                  </a:cubicBezTo>
                  <a:cubicBezTo>
                    <a:pt x="461761" y="39370"/>
                    <a:pt x="465572" y="62230"/>
                    <a:pt x="483352" y="74930"/>
                  </a:cubicBezTo>
                  <a:lnTo>
                    <a:pt x="642102" y="181610"/>
                  </a:lnTo>
                  <a:lnTo>
                    <a:pt x="0" y="181610"/>
                  </a:lnTo>
                  <a:lnTo>
                    <a:pt x="0" y="257810"/>
                  </a:lnTo>
                  <a:lnTo>
                    <a:pt x="642102" y="257810"/>
                  </a:lnTo>
                  <a:lnTo>
                    <a:pt x="483352" y="364490"/>
                  </a:lnTo>
                  <a:cubicBezTo>
                    <a:pt x="465572" y="375920"/>
                    <a:pt x="461761" y="400050"/>
                    <a:pt x="473192" y="417830"/>
                  </a:cubicBezTo>
                  <a:cubicBezTo>
                    <a:pt x="480811" y="429260"/>
                    <a:pt x="492242" y="434340"/>
                    <a:pt x="504942" y="434340"/>
                  </a:cubicBezTo>
                  <a:cubicBezTo>
                    <a:pt x="512561" y="434340"/>
                    <a:pt x="520181" y="431800"/>
                    <a:pt x="526531" y="427990"/>
                  </a:cubicBezTo>
                  <a:lnTo>
                    <a:pt x="789422" y="251460"/>
                  </a:lnTo>
                  <a:cubicBezTo>
                    <a:pt x="799581" y="243840"/>
                    <a:pt x="805931" y="232410"/>
                    <a:pt x="805931" y="219710"/>
                  </a:cubicBezTo>
                  <a:cubicBezTo>
                    <a:pt x="805931" y="207010"/>
                    <a:pt x="799581" y="195580"/>
                    <a:pt x="788152" y="187960"/>
                  </a:cubicBez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6"/>
            <p:cNvSpPr txBox="1"/>
            <p:nvPr/>
          </p:nvSpPr>
          <p:spPr>
            <a:xfrm>
              <a:off x="1671981" y="206968"/>
              <a:ext cx="9762084" cy="1009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HISTORIAS DE USUARIO</a:t>
              </a:r>
              <a:endParaRPr/>
            </a:p>
          </p:txBody>
        </p:sp>
      </p:grpSp>
      <p:grpSp>
        <p:nvGrpSpPr>
          <p:cNvPr id="201" name="Google Shape;201;p6"/>
          <p:cNvGrpSpPr/>
          <p:nvPr/>
        </p:nvGrpSpPr>
        <p:grpSpPr>
          <a:xfrm>
            <a:off x="1737272" y="4192699"/>
            <a:ext cx="3325234" cy="3032846"/>
            <a:chOff x="0" y="0"/>
            <a:chExt cx="4433645" cy="4043795"/>
          </a:xfrm>
        </p:grpSpPr>
        <p:grpSp>
          <p:nvGrpSpPr>
            <p:cNvPr id="202" name="Google Shape;202;p6"/>
            <p:cNvGrpSpPr/>
            <p:nvPr/>
          </p:nvGrpSpPr>
          <p:grpSpPr>
            <a:xfrm>
              <a:off x="0" y="0"/>
              <a:ext cx="4433645" cy="4043795"/>
              <a:chOff x="0" y="0"/>
              <a:chExt cx="2275056" cy="2075011"/>
            </a:xfrm>
          </p:grpSpPr>
          <p:sp>
            <p:nvSpPr>
              <p:cNvPr id="203" name="Google Shape;203;p6"/>
              <p:cNvSpPr/>
              <p:nvPr/>
            </p:nvSpPr>
            <p:spPr>
              <a:xfrm>
                <a:off x="57150" y="58420"/>
                <a:ext cx="2205206" cy="2003891"/>
              </a:xfrm>
              <a:custGeom>
                <a:rect b="b" l="l" r="r" t="t"/>
                <a:pathLst>
                  <a:path extrusionOk="0" h="2003891" w="2205206">
                    <a:moveTo>
                      <a:pt x="2120117" y="1973411"/>
                    </a:moveTo>
                    <a:lnTo>
                      <a:pt x="0" y="1973411"/>
                    </a:lnTo>
                    <a:cubicBezTo>
                      <a:pt x="5080" y="1991191"/>
                      <a:pt x="21590" y="2003891"/>
                      <a:pt x="40640" y="2003891"/>
                    </a:cubicBezTo>
                    <a:lnTo>
                      <a:pt x="2162027" y="2003891"/>
                    </a:lnTo>
                    <a:cubicBezTo>
                      <a:pt x="2186156" y="2003891"/>
                      <a:pt x="2205206" y="1984841"/>
                      <a:pt x="2205206" y="196071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1917531"/>
                    </a:lnTo>
                    <a:cubicBezTo>
                      <a:pt x="2175996" y="1948011"/>
                      <a:pt x="2150596" y="1973411"/>
                      <a:pt x="2120117" y="1973411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6"/>
              <p:cNvSpPr/>
              <p:nvPr/>
            </p:nvSpPr>
            <p:spPr>
              <a:xfrm>
                <a:off x="12700" y="12700"/>
                <a:ext cx="2207746" cy="2006431"/>
              </a:xfrm>
              <a:custGeom>
                <a:rect b="b" l="l" r="r" t="t"/>
                <a:pathLst>
                  <a:path extrusionOk="0" h="2006431" w="2207746">
                    <a:moveTo>
                      <a:pt x="43180" y="2006431"/>
                    </a:moveTo>
                    <a:lnTo>
                      <a:pt x="2164567" y="2006431"/>
                    </a:lnTo>
                    <a:cubicBezTo>
                      <a:pt x="2188696" y="2006431"/>
                      <a:pt x="2207746" y="1987381"/>
                      <a:pt x="2207746" y="196325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1963251"/>
                    </a:lnTo>
                    <a:cubicBezTo>
                      <a:pt x="0" y="1987381"/>
                      <a:pt x="19050" y="2006431"/>
                      <a:pt x="43180" y="20064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6"/>
              <p:cNvSpPr/>
              <p:nvPr/>
            </p:nvSpPr>
            <p:spPr>
              <a:xfrm>
                <a:off x="0" y="0"/>
                <a:ext cx="2275056" cy="2075011"/>
              </a:xfrm>
              <a:custGeom>
                <a:rect b="b" l="l" r="r" t="t"/>
                <a:pathLst>
                  <a:path extrusionOk="0" h="2075011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1975951"/>
                    </a:lnTo>
                    <a:cubicBezTo>
                      <a:pt x="0" y="2002621"/>
                      <a:pt x="17780" y="2024211"/>
                      <a:pt x="43180" y="2030561"/>
                    </a:cubicBezTo>
                    <a:cubicBezTo>
                      <a:pt x="48260" y="2055961"/>
                      <a:pt x="71120" y="2075011"/>
                      <a:pt x="97790" y="2075011"/>
                    </a:cubicBezTo>
                    <a:lnTo>
                      <a:pt x="2219177" y="2075011"/>
                    </a:lnTo>
                    <a:cubicBezTo>
                      <a:pt x="2249656" y="2075011"/>
                      <a:pt x="2275056" y="2049611"/>
                      <a:pt x="2275056" y="201913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197595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1975951"/>
                    </a:lnTo>
                    <a:cubicBezTo>
                      <a:pt x="2220446" y="2000081"/>
                      <a:pt x="2201396" y="2019131"/>
                      <a:pt x="2177267" y="2019131"/>
                    </a:cubicBezTo>
                    <a:lnTo>
                      <a:pt x="55880" y="2019131"/>
                    </a:lnTo>
                    <a:cubicBezTo>
                      <a:pt x="31750" y="2019131"/>
                      <a:pt x="12700" y="2000081"/>
                      <a:pt x="12700" y="1975951"/>
                    </a:cubicBezTo>
                    <a:close/>
                    <a:moveTo>
                      <a:pt x="2262356" y="2019131"/>
                    </a:moveTo>
                    <a:cubicBezTo>
                      <a:pt x="2262356" y="2043261"/>
                      <a:pt x="2243306" y="2062311"/>
                      <a:pt x="2219177" y="2062311"/>
                    </a:cubicBezTo>
                    <a:lnTo>
                      <a:pt x="97790" y="2062311"/>
                    </a:lnTo>
                    <a:cubicBezTo>
                      <a:pt x="78740" y="2062311"/>
                      <a:pt x="62230" y="2049611"/>
                      <a:pt x="57150" y="2031831"/>
                    </a:cubicBezTo>
                    <a:lnTo>
                      <a:pt x="2177267" y="2031831"/>
                    </a:lnTo>
                    <a:cubicBezTo>
                      <a:pt x="2207746" y="2031831"/>
                      <a:pt x="2233146" y="2006431"/>
                      <a:pt x="2233146" y="197595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019131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6" name="Google Shape;206;p6"/>
            <p:cNvSpPr txBox="1"/>
            <p:nvPr/>
          </p:nvSpPr>
          <p:spPr>
            <a:xfrm>
              <a:off x="420673" y="866204"/>
              <a:ext cx="3592300" cy="22351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96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2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Aquí se organizan las historias de usuario que representan necesidades del cliente o usuario final.</a:t>
              </a:r>
              <a:endParaRPr/>
            </a:p>
          </p:txBody>
        </p:sp>
      </p:grpSp>
      <p:sp>
        <p:nvSpPr>
          <p:cNvPr id="207" name="Google Shape;207;p6"/>
          <p:cNvSpPr txBox="1"/>
          <p:nvPr/>
        </p:nvSpPr>
        <p:spPr>
          <a:xfrm>
            <a:off x="6860957" y="5869189"/>
            <a:ext cx="1410396" cy="649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34" u="none" cap="none" strike="noStrike">
                <a:solidFill>
                  <a:srgbClr val="101010"/>
                </a:solidFill>
                <a:latin typeface="Arial"/>
                <a:ea typeface="Arial"/>
                <a:cs typeface="Arial"/>
                <a:sym typeface="Arial"/>
              </a:rPr>
              <a:t>Escribe tu idea aquí.</a:t>
            </a:r>
            <a:endParaRPr/>
          </a:p>
        </p:txBody>
      </p:sp>
      <p:grpSp>
        <p:nvGrpSpPr>
          <p:cNvPr id="208" name="Google Shape;208;p6"/>
          <p:cNvGrpSpPr/>
          <p:nvPr/>
        </p:nvGrpSpPr>
        <p:grpSpPr>
          <a:xfrm>
            <a:off x="5707825" y="2865480"/>
            <a:ext cx="3325234" cy="3361754"/>
            <a:chOff x="0" y="0"/>
            <a:chExt cx="4433645" cy="4482339"/>
          </a:xfrm>
        </p:grpSpPr>
        <p:grpSp>
          <p:nvGrpSpPr>
            <p:cNvPr id="209" name="Google Shape;209;p6"/>
            <p:cNvGrpSpPr/>
            <p:nvPr/>
          </p:nvGrpSpPr>
          <p:grpSpPr>
            <a:xfrm>
              <a:off x="0" y="0"/>
              <a:ext cx="4433645" cy="4482339"/>
              <a:chOff x="0" y="0"/>
              <a:chExt cx="2275056" cy="2300043"/>
            </a:xfrm>
          </p:grpSpPr>
          <p:sp>
            <p:nvSpPr>
              <p:cNvPr id="210" name="Google Shape;210;p6"/>
              <p:cNvSpPr/>
              <p:nvPr/>
            </p:nvSpPr>
            <p:spPr>
              <a:xfrm>
                <a:off x="57150" y="58420"/>
                <a:ext cx="2205206" cy="2228923"/>
              </a:xfrm>
              <a:custGeom>
                <a:rect b="b" l="l" r="r" t="t"/>
                <a:pathLst>
                  <a:path extrusionOk="0" h="2228923" w="2205206">
                    <a:moveTo>
                      <a:pt x="2120117" y="2198443"/>
                    </a:moveTo>
                    <a:lnTo>
                      <a:pt x="0" y="2198443"/>
                    </a:lnTo>
                    <a:cubicBezTo>
                      <a:pt x="5080" y="2216223"/>
                      <a:pt x="21590" y="2228923"/>
                      <a:pt x="40640" y="2228923"/>
                    </a:cubicBezTo>
                    <a:lnTo>
                      <a:pt x="2162027" y="2228923"/>
                    </a:lnTo>
                    <a:cubicBezTo>
                      <a:pt x="2186156" y="2228923"/>
                      <a:pt x="2205206" y="2209873"/>
                      <a:pt x="2205206" y="2185743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142563"/>
                    </a:lnTo>
                    <a:cubicBezTo>
                      <a:pt x="2175996" y="2173043"/>
                      <a:pt x="2150596" y="2198443"/>
                      <a:pt x="2120117" y="2198443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6"/>
              <p:cNvSpPr/>
              <p:nvPr/>
            </p:nvSpPr>
            <p:spPr>
              <a:xfrm>
                <a:off x="12700" y="12700"/>
                <a:ext cx="2207746" cy="2231463"/>
              </a:xfrm>
              <a:custGeom>
                <a:rect b="b" l="l" r="r" t="t"/>
                <a:pathLst>
                  <a:path extrusionOk="0" h="2231463" w="2207746">
                    <a:moveTo>
                      <a:pt x="43180" y="2231463"/>
                    </a:moveTo>
                    <a:lnTo>
                      <a:pt x="2164567" y="2231463"/>
                    </a:lnTo>
                    <a:cubicBezTo>
                      <a:pt x="2188696" y="2231463"/>
                      <a:pt x="2207746" y="2212413"/>
                      <a:pt x="2207746" y="2188283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188283"/>
                    </a:lnTo>
                    <a:cubicBezTo>
                      <a:pt x="0" y="2212413"/>
                      <a:pt x="19050" y="2231463"/>
                      <a:pt x="43180" y="22314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6"/>
              <p:cNvSpPr/>
              <p:nvPr/>
            </p:nvSpPr>
            <p:spPr>
              <a:xfrm>
                <a:off x="0" y="0"/>
                <a:ext cx="2275056" cy="2300043"/>
              </a:xfrm>
              <a:custGeom>
                <a:rect b="b" l="l" r="r" t="t"/>
                <a:pathLst>
                  <a:path extrusionOk="0" h="2300043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200983"/>
                    </a:lnTo>
                    <a:cubicBezTo>
                      <a:pt x="0" y="2227653"/>
                      <a:pt x="17780" y="2249243"/>
                      <a:pt x="43180" y="2255593"/>
                    </a:cubicBezTo>
                    <a:cubicBezTo>
                      <a:pt x="48260" y="2280993"/>
                      <a:pt x="71120" y="2300043"/>
                      <a:pt x="97790" y="2300043"/>
                    </a:cubicBezTo>
                    <a:lnTo>
                      <a:pt x="2219177" y="2300043"/>
                    </a:lnTo>
                    <a:cubicBezTo>
                      <a:pt x="2249656" y="2300043"/>
                      <a:pt x="2275056" y="2274643"/>
                      <a:pt x="2275056" y="2244163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200983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200983"/>
                    </a:lnTo>
                    <a:cubicBezTo>
                      <a:pt x="2220446" y="2225113"/>
                      <a:pt x="2201396" y="2244163"/>
                      <a:pt x="2177267" y="2244163"/>
                    </a:cubicBezTo>
                    <a:lnTo>
                      <a:pt x="55880" y="2244163"/>
                    </a:lnTo>
                    <a:cubicBezTo>
                      <a:pt x="31750" y="2244163"/>
                      <a:pt x="12700" y="2225113"/>
                      <a:pt x="12700" y="2200983"/>
                    </a:cubicBezTo>
                    <a:close/>
                    <a:moveTo>
                      <a:pt x="2262356" y="2244163"/>
                    </a:moveTo>
                    <a:cubicBezTo>
                      <a:pt x="2262356" y="2268293"/>
                      <a:pt x="2243306" y="2287343"/>
                      <a:pt x="2219177" y="2287343"/>
                    </a:cubicBezTo>
                    <a:lnTo>
                      <a:pt x="97790" y="2287343"/>
                    </a:lnTo>
                    <a:cubicBezTo>
                      <a:pt x="78740" y="2287343"/>
                      <a:pt x="62230" y="2274643"/>
                      <a:pt x="57150" y="2256863"/>
                    </a:cubicBezTo>
                    <a:lnTo>
                      <a:pt x="2177267" y="2256863"/>
                    </a:lnTo>
                    <a:cubicBezTo>
                      <a:pt x="2207746" y="2256863"/>
                      <a:pt x="2233146" y="2231463"/>
                      <a:pt x="2233146" y="2200983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244163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3" name="Google Shape;213;p6"/>
            <p:cNvSpPr txBox="1"/>
            <p:nvPr/>
          </p:nvSpPr>
          <p:spPr>
            <a:xfrm>
              <a:off x="420673" y="866204"/>
              <a:ext cx="3592300" cy="2673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96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2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Aunque todo el equipo puede contribuir, esta columna suele estar bajo la responsabilidad del Product Owner</a:t>
              </a:r>
              <a:endParaRPr/>
            </a:p>
          </p:txBody>
        </p:sp>
      </p:grpSp>
      <p:grpSp>
        <p:nvGrpSpPr>
          <p:cNvPr id="214" name="Google Shape;214;p6"/>
          <p:cNvGrpSpPr/>
          <p:nvPr/>
        </p:nvGrpSpPr>
        <p:grpSpPr>
          <a:xfrm>
            <a:off x="9680759" y="3844330"/>
            <a:ext cx="3325234" cy="3032846"/>
            <a:chOff x="0" y="0"/>
            <a:chExt cx="4433645" cy="4043795"/>
          </a:xfrm>
        </p:grpSpPr>
        <p:grpSp>
          <p:nvGrpSpPr>
            <p:cNvPr id="215" name="Google Shape;215;p6"/>
            <p:cNvGrpSpPr/>
            <p:nvPr/>
          </p:nvGrpSpPr>
          <p:grpSpPr>
            <a:xfrm>
              <a:off x="0" y="0"/>
              <a:ext cx="4433645" cy="4043795"/>
              <a:chOff x="0" y="0"/>
              <a:chExt cx="2275056" cy="2075011"/>
            </a:xfrm>
          </p:grpSpPr>
          <p:sp>
            <p:nvSpPr>
              <p:cNvPr id="216" name="Google Shape;216;p6"/>
              <p:cNvSpPr/>
              <p:nvPr/>
            </p:nvSpPr>
            <p:spPr>
              <a:xfrm>
                <a:off x="57150" y="58420"/>
                <a:ext cx="2205206" cy="2003891"/>
              </a:xfrm>
              <a:custGeom>
                <a:rect b="b" l="l" r="r" t="t"/>
                <a:pathLst>
                  <a:path extrusionOk="0" h="2003891" w="2205206">
                    <a:moveTo>
                      <a:pt x="2120117" y="1973411"/>
                    </a:moveTo>
                    <a:lnTo>
                      <a:pt x="0" y="1973411"/>
                    </a:lnTo>
                    <a:cubicBezTo>
                      <a:pt x="5080" y="1991191"/>
                      <a:pt x="21590" y="2003891"/>
                      <a:pt x="40640" y="2003891"/>
                    </a:cubicBezTo>
                    <a:lnTo>
                      <a:pt x="2162027" y="2003891"/>
                    </a:lnTo>
                    <a:cubicBezTo>
                      <a:pt x="2186156" y="2003891"/>
                      <a:pt x="2205206" y="1984841"/>
                      <a:pt x="2205206" y="196071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1917531"/>
                    </a:lnTo>
                    <a:cubicBezTo>
                      <a:pt x="2175996" y="1948011"/>
                      <a:pt x="2150596" y="1973411"/>
                      <a:pt x="2120117" y="1973411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12700" y="12700"/>
                <a:ext cx="2207746" cy="2006431"/>
              </a:xfrm>
              <a:custGeom>
                <a:rect b="b" l="l" r="r" t="t"/>
                <a:pathLst>
                  <a:path extrusionOk="0" h="2006431" w="2207746">
                    <a:moveTo>
                      <a:pt x="43180" y="2006431"/>
                    </a:moveTo>
                    <a:lnTo>
                      <a:pt x="2164567" y="2006431"/>
                    </a:lnTo>
                    <a:cubicBezTo>
                      <a:pt x="2188696" y="2006431"/>
                      <a:pt x="2207746" y="1987381"/>
                      <a:pt x="2207746" y="196325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1963251"/>
                    </a:lnTo>
                    <a:cubicBezTo>
                      <a:pt x="0" y="1987381"/>
                      <a:pt x="19050" y="2006431"/>
                      <a:pt x="43180" y="20064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0" y="0"/>
                <a:ext cx="2275056" cy="2075011"/>
              </a:xfrm>
              <a:custGeom>
                <a:rect b="b" l="l" r="r" t="t"/>
                <a:pathLst>
                  <a:path extrusionOk="0" h="2075011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1975951"/>
                    </a:lnTo>
                    <a:cubicBezTo>
                      <a:pt x="0" y="2002621"/>
                      <a:pt x="17780" y="2024211"/>
                      <a:pt x="43180" y="2030561"/>
                    </a:cubicBezTo>
                    <a:cubicBezTo>
                      <a:pt x="48260" y="2055961"/>
                      <a:pt x="71120" y="2075011"/>
                      <a:pt x="97790" y="2075011"/>
                    </a:cubicBezTo>
                    <a:lnTo>
                      <a:pt x="2219177" y="2075011"/>
                    </a:lnTo>
                    <a:cubicBezTo>
                      <a:pt x="2249656" y="2075011"/>
                      <a:pt x="2275056" y="2049611"/>
                      <a:pt x="2275056" y="201913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197595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1975951"/>
                    </a:lnTo>
                    <a:cubicBezTo>
                      <a:pt x="2220446" y="2000081"/>
                      <a:pt x="2201396" y="2019131"/>
                      <a:pt x="2177267" y="2019131"/>
                    </a:cubicBezTo>
                    <a:lnTo>
                      <a:pt x="55880" y="2019131"/>
                    </a:lnTo>
                    <a:cubicBezTo>
                      <a:pt x="31750" y="2019131"/>
                      <a:pt x="12700" y="2000081"/>
                      <a:pt x="12700" y="1975951"/>
                    </a:cubicBezTo>
                    <a:close/>
                    <a:moveTo>
                      <a:pt x="2262356" y="2019131"/>
                    </a:moveTo>
                    <a:cubicBezTo>
                      <a:pt x="2262356" y="2043261"/>
                      <a:pt x="2243306" y="2062311"/>
                      <a:pt x="2219177" y="2062311"/>
                    </a:cubicBezTo>
                    <a:lnTo>
                      <a:pt x="97790" y="2062311"/>
                    </a:lnTo>
                    <a:cubicBezTo>
                      <a:pt x="78740" y="2062311"/>
                      <a:pt x="62230" y="2049611"/>
                      <a:pt x="57150" y="2031831"/>
                    </a:cubicBezTo>
                    <a:lnTo>
                      <a:pt x="2177267" y="2031831"/>
                    </a:lnTo>
                    <a:cubicBezTo>
                      <a:pt x="2207746" y="2031831"/>
                      <a:pt x="2233146" y="2006431"/>
                      <a:pt x="2233146" y="197595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019131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9" name="Google Shape;219;p6"/>
            <p:cNvSpPr txBox="1"/>
            <p:nvPr/>
          </p:nvSpPr>
          <p:spPr>
            <a:xfrm>
              <a:off x="420673" y="866204"/>
              <a:ext cx="3592300" cy="22351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96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2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Las historias estén priorizadas de arriba hacia abajo con colores representativos</a:t>
              </a:r>
              <a:endParaRPr/>
            </a:p>
          </p:txBody>
        </p:sp>
      </p:grpSp>
      <p:grpSp>
        <p:nvGrpSpPr>
          <p:cNvPr id="220" name="Google Shape;220;p6"/>
          <p:cNvGrpSpPr/>
          <p:nvPr/>
        </p:nvGrpSpPr>
        <p:grpSpPr>
          <a:xfrm>
            <a:off x="13407324" y="3194388"/>
            <a:ext cx="3325234" cy="2703939"/>
            <a:chOff x="0" y="0"/>
            <a:chExt cx="4433645" cy="3605252"/>
          </a:xfrm>
        </p:grpSpPr>
        <p:grpSp>
          <p:nvGrpSpPr>
            <p:cNvPr id="221" name="Google Shape;221;p6"/>
            <p:cNvGrpSpPr/>
            <p:nvPr/>
          </p:nvGrpSpPr>
          <p:grpSpPr>
            <a:xfrm>
              <a:off x="0" y="0"/>
              <a:ext cx="4433645" cy="3605252"/>
              <a:chOff x="0" y="0"/>
              <a:chExt cx="2275056" cy="1849979"/>
            </a:xfrm>
          </p:grpSpPr>
          <p:sp>
            <p:nvSpPr>
              <p:cNvPr id="222" name="Google Shape;222;p6"/>
              <p:cNvSpPr/>
              <p:nvPr/>
            </p:nvSpPr>
            <p:spPr>
              <a:xfrm>
                <a:off x="57150" y="58420"/>
                <a:ext cx="2205206" cy="1778859"/>
              </a:xfrm>
              <a:custGeom>
                <a:rect b="b" l="l" r="r" t="t"/>
                <a:pathLst>
                  <a:path extrusionOk="0" h="1778859" w="2205206">
                    <a:moveTo>
                      <a:pt x="2120117" y="1748378"/>
                    </a:moveTo>
                    <a:lnTo>
                      <a:pt x="0" y="1748378"/>
                    </a:lnTo>
                    <a:cubicBezTo>
                      <a:pt x="5080" y="1766159"/>
                      <a:pt x="21590" y="1778859"/>
                      <a:pt x="40640" y="1778859"/>
                    </a:cubicBezTo>
                    <a:lnTo>
                      <a:pt x="2162027" y="1778859"/>
                    </a:lnTo>
                    <a:cubicBezTo>
                      <a:pt x="2186156" y="1778859"/>
                      <a:pt x="2205206" y="1759809"/>
                      <a:pt x="2205206" y="1735678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1692499"/>
                    </a:lnTo>
                    <a:cubicBezTo>
                      <a:pt x="2175996" y="1722978"/>
                      <a:pt x="2150596" y="1748378"/>
                      <a:pt x="2120117" y="1748378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12700" y="12700"/>
                <a:ext cx="2207746" cy="1781398"/>
              </a:xfrm>
              <a:custGeom>
                <a:rect b="b" l="l" r="r" t="t"/>
                <a:pathLst>
                  <a:path extrusionOk="0" h="1781398" w="2207746">
                    <a:moveTo>
                      <a:pt x="43180" y="1781398"/>
                    </a:moveTo>
                    <a:lnTo>
                      <a:pt x="2164567" y="1781398"/>
                    </a:lnTo>
                    <a:cubicBezTo>
                      <a:pt x="2188696" y="1781398"/>
                      <a:pt x="2207746" y="1762348"/>
                      <a:pt x="2207746" y="1738219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1738219"/>
                    </a:lnTo>
                    <a:cubicBezTo>
                      <a:pt x="0" y="1762348"/>
                      <a:pt x="19050" y="1781398"/>
                      <a:pt x="43180" y="178139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0" y="0"/>
                <a:ext cx="2275056" cy="1849979"/>
              </a:xfrm>
              <a:custGeom>
                <a:rect b="b" l="l" r="r" t="t"/>
                <a:pathLst>
                  <a:path extrusionOk="0" h="1849979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1750919"/>
                    </a:lnTo>
                    <a:cubicBezTo>
                      <a:pt x="0" y="1777589"/>
                      <a:pt x="17780" y="1799179"/>
                      <a:pt x="43180" y="1805529"/>
                    </a:cubicBezTo>
                    <a:cubicBezTo>
                      <a:pt x="48260" y="1830929"/>
                      <a:pt x="71120" y="1849979"/>
                      <a:pt x="97790" y="1849979"/>
                    </a:cubicBezTo>
                    <a:lnTo>
                      <a:pt x="2219177" y="1849979"/>
                    </a:lnTo>
                    <a:cubicBezTo>
                      <a:pt x="2249656" y="1849979"/>
                      <a:pt x="2275056" y="1824579"/>
                      <a:pt x="2275056" y="1794098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1750919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1750919"/>
                    </a:lnTo>
                    <a:cubicBezTo>
                      <a:pt x="2220446" y="1775048"/>
                      <a:pt x="2201396" y="1794098"/>
                      <a:pt x="2177267" y="1794098"/>
                    </a:cubicBezTo>
                    <a:lnTo>
                      <a:pt x="55880" y="1794098"/>
                    </a:lnTo>
                    <a:cubicBezTo>
                      <a:pt x="31750" y="1794098"/>
                      <a:pt x="12700" y="1775048"/>
                      <a:pt x="12700" y="1750919"/>
                    </a:cubicBezTo>
                    <a:close/>
                    <a:moveTo>
                      <a:pt x="2262356" y="1794098"/>
                    </a:moveTo>
                    <a:cubicBezTo>
                      <a:pt x="2262356" y="1818229"/>
                      <a:pt x="2243306" y="1837279"/>
                      <a:pt x="2219177" y="1837279"/>
                    </a:cubicBezTo>
                    <a:lnTo>
                      <a:pt x="97790" y="1837279"/>
                    </a:lnTo>
                    <a:cubicBezTo>
                      <a:pt x="78740" y="1837279"/>
                      <a:pt x="62230" y="1824579"/>
                      <a:pt x="57150" y="1806798"/>
                    </a:cubicBezTo>
                    <a:lnTo>
                      <a:pt x="2177267" y="1806798"/>
                    </a:lnTo>
                    <a:cubicBezTo>
                      <a:pt x="2207746" y="1806798"/>
                      <a:pt x="2233146" y="1781398"/>
                      <a:pt x="2233146" y="1750919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1794098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5" name="Google Shape;225;p6"/>
            <p:cNvSpPr txBox="1"/>
            <p:nvPr/>
          </p:nvSpPr>
          <p:spPr>
            <a:xfrm>
              <a:off x="420673" y="866204"/>
              <a:ext cx="3592300" cy="1796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96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2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 Desde aquí, las historias pueden moverse a la columna “To-do/sprint backlog”</a:t>
              </a:r>
              <a:endParaRPr/>
            </a:p>
          </p:txBody>
        </p:sp>
      </p:grpSp>
      <p:sp>
        <p:nvSpPr>
          <p:cNvPr id="226" name="Google Shape;226;p6"/>
          <p:cNvSpPr txBox="1"/>
          <p:nvPr/>
        </p:nvSpPr>
        <p:spPr>
          <a:xfrm>
            <a:off x="1504059" y="1209355"/>
            <a:ext cx="555617" cy="779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0101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0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7"/>
          <p:cNvGrpSpPr/>
          <p:nvPr/>
        </p:nvGrpSpPr>
        <p:grpSpPr>
          <a:xfrm>
            <a:off x="1085139" y="1028700"/>
            <a:ext cx="16117723" cy="8229600"/>
            <a:chOff x="0" y="0"/>
            <a:chExt cx="21490298" cy="10972800"/>
          </a:xfrm>
        </p:grpSpPr>
        <p:sp>
          <p:nvSpPr>
            <p:cNvPr id="232" name="Google Shape;232;p7"/>
            <p:cNvSpPr/>
            <p:nvPr/>
          </p:nvSpPr>
          <p:spPr>
            <a:xfrm>
              <a:off x="0" y="0"/>
              <a:ext cx="21490298" cy="10972800"/>
            </a:xfrm>
            <a:custGeom>
              <a:rect b="b" l="l" r="r" t="t"/>
              <a:pathLst>
                <a:path extrusionOk="0" h="16247872" w="31821558">
                  <a:moveTo>
                    <a:pt x="31697098" y="59690"/>
                  </a:moveTo>
                  <a:cubicBezTo>
                    <a:pt x="31732658" y="59690"/>
                    <a:pt x="31761866" y="88900"/>
                    <a:pt x="31761866" y="124460"/>
                  </a:cubicBezTo>
                  <a:lnTo>
                    <a:pt x="31761866" y="16123411"/>
                  </a:lnTo>
                  <a:cubicBezTo>
                    <a:pt x="31761866" y="16158972"/>
                    <a:pt x="31732658" y="16188181"/>
                    <a:pt x="31697098" y="16188181"/>
                  </a:cubicBezTo>
                  <a:lnTo>
                    <a:pt x="124460" y="16188181"/>
                  </a:lnTo>
                  <a:cubicBezTo>
                    <a:pt x="88900" y="16188181"/>
                    <a:pt x="59690" y="16158972"/>
                    <a:pt x="59690" y="1612341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1697098" y="59690"/>
                  </a:lnTo>
                  <a:moveTo>
                    <a:pt x="3169709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123411"/>
                  </a:lnTo>
                  <a:cubicBezTo>
                    <a:pt x="0" y="16191992"/>
                    <a:pt x="55880" y="16247872"/>
                    <a:pt x="124460" y="16247872"/>
                  </a:cubicBezTo>
                  <a:lnTo>
                    <a:pt x="31697098" y="16247872"/>
                  </a:lnTo>
                  <a:cubicBezTo>
                    <a:pt x="31765677" y="16247872"/>
                    <a:pt x="31821558" y="16191992"/>
                    <a:pt x="31821558" y="16123411"/>
                  </a:cubicBezTo>
                  <a:lnTo>
                    <a:pt x="31821558" y="124460"/>
                  </a:lnTo>
                  <a:cubicBezTo>
                    <a:pt x="31821558" y="55880"/>
                    <a:pt x="31765677" y="0"/>
                    <a:pt x="31697098" y="0"/>
                  </a:cubicBezTo>
                  <a:close/>
                </a:path>
              </a:pathLst>
            </a:custGeom>
            <a:solidFill>
              <a:srgbClr val="57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3" name="Google Shape;233;p7"/>
            <p:cNvGrpSpPr/>
            <p:nvPr/>
          </p:nvGrpSpPr>
          <p:grpSpPr>
            <a:xfrm>
              <a:off x="0" y="0"/>
              <a:ext cx="21490296" cy="1546845"/>
              <a:chOff x="0" y="0"/>
              <a:chExt cx="31091640" cy="2237938"/>
            </a:xfrm>
          </p:grpSpPr>
          <p:sp>
            <p:nvSpPr>
              <p:cNvPr id="234" name="Google Shape;234;p7"/>
              <p:cNvSpPr/>
              <p:nvPr/>
            </p:nvSpPr>
            <p:spPr>
              <a:xfrm>
                <a:off x="31750" y="31750"/>
                <a:ext cx="31028140" cy="2174438"/>
              </a:xfrm>
              <a:custGeom>
                <a:rect b="b" l="l" r="r" t="t"/>
                <a:pathLst>
                  <a:path extrusionOk="0" h="2174438" w="31028140">
                    <a:moveTo>
                      <a:pt x="30935433" y="2174438"/>
                    </a:moveTo>
                    <a:lnTo>
                      <a:pt x="92710" y="2174438"/>
                    </a:lnTo>
                    <a:cubicBezTo>
                      <a:pt x="41910" y="2174438"/>
                      <a:pt x="0" y="2132528"/>
                      <a:pt x="0" y="20817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0934161" y="0"/>
                    </a:lnTo>
                    <a:cubicBezTo>
                      <a:pt x="30984961" y="0"/>
                      <a:pt x="31026872" y="41910"/>
                      <a:pt x="31026872" y="92710"/>
                    </a:cubicBezTo>
                    <a:lnTo>
                      <a:pt x="31026872" y="2080458"/>
                    </a:lnTo>
                    <a:cubicBezTo>
                      <a:pt x="31028140" y="2132528"/>
                      <a:pt x="30986233" y="2174438"/>
                      <a:pt x="30935433" y="21744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7"/>
              <p:cNvSpPr/>
              <p:nvPr/>
            </p:nvSpPr>
            <p:spPr>
              <a:xfrm>
                <a:off x="0" y="0"/>
                <a:ext cx="31091640" cy="2237938"/>
              </a:xfrm>
              <a:custGeom>
                <a:rect b="b" l="l" r="r" t="t"/>
                <a:pathLst>
                  <a:path extrusionOk="0" h="2237938" w="31091640">
                    <a:moveTo>
                      <a:pt x="30967183" y="59690"/>
                    </a:moveTo>
                    <a:cubicBezTo>
                      <a:pt x="31002740" y="59690"/>
                      <a:pt x="31031951" y="88900"/>
                      <a:pt x="31031951" y="124460"/>
                    </a:cubicBezTo>
                    <a:lnTo>
                      <a:pt x="31031951" y="2113478"/>
                    </a:lnTo>
                    <a:cubicBezTo>
                      <a:pt x="31031951" y="2149038"/>
                      <a:pt x="31002740" y="2178248"/>
                      <a:pt x="30967183" y="2178248"/>
                    </a:cubicBezTo>
                    <a:lnTo>
                      <a:pt x="124460" y="2178248"/>
                    </a:lnTo>
                    <a:cubicBezTo>
                      <a:pt x="88900" y="2178248"/>
                      <a:pt x="59690" y="2149038"/>
                      <a:pt x="59690" y="211347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0967183" y="59690"/>
                    </a:lnTo>
                    <a:moveTo>
                      <a:pt x="3096718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13478"/>
                    </a:lnTo>
                    <a:cubicBezTo>
                      <a:pt x="0" y="2182058"/>
                      <a:pt x="55880" y="2237938"/>
                      <a:pt x="124460" y="2237938"/>
                    </a:cubicBezTo>
                    <a:lnTo>
                      <a:pt x="30967183" y="2237938"/>
                    </a:lnTo>
                    <a:cubicBezTo>
                      <a:pt x="31035761" y="2237938"/>
                      <a:pt x="31091640" y="2182058"/>
                      <a:pt x="31091640" y="2113478"/>
                    </a:cubicBezTo>
                    <a:lnTo>
                      <a:pt x="31091640" y="124460"/>
                    </a:lnTo>
                    <a:cubicBezTo>
                      <a:pt x="31091640" y="55880"/>
                      <a:pt x="31035761" y="0"/>
                      <a:pt x="309671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6" name="Google Shape;236;p7"/>
            <p:cNvSpPr/>
            <p:nvPr/>
          </p:nvSpPr>
          <p:spPr>
            <a:xfrm>
              <a:off x="20302666" y="617319"/>
              <a:ext cx="572613" cy="308598"/>
            </a:xfrm>
            <a:custGeom>
              <a:rect b="b" l="l" r="r" t="t"/>
              <a:pathLst>
                <a:path extrusionOk="0" h="434340" w="805931">
                  <a:moveTo>
                    <a:pt x="788152" y="187960"/>
                  </a:moveTo>
                  <a:lnTo>
                    <a:pt x="526531" y="11430"/>
                  </a:lnTo>
                  <a:cubicBezTo>
                    <a:pt x="508752" y="0"/>
                    <a:pt x="485891" y="3810"/>
                    <a:pt x="473191" y="21590"/>
                  </a:cubicBezTo>
                  <a:cubicBezTo>
                    <a:pt x="461761" y="39370"/>
                    <a:pt x="465572" y="62230"/>
                    <a:pt x="483352" y="74930"/>
                  </a:cubicBezTo>
                  <a:lnTo>
                    <a:pt x="642102" y="181610"/>
                  </a:lnTo>
                  <a:lnTo>
                    <a:pt x="0" y="181610"/>
                  </a:lnTo>
                  <a:lnTo>
                    <a:pt x="0" y="257810"/>
                  </a:lnTo>
                  <a:lnTo>
                    <a:pt x="642102" y="257810"/>
                  </a:lnTo>
                  <a:lnTo>
                    <a:pt x="483352" y="364490"/>
                  </a:lnTo>
                  <a:cubicBezTo>
                    <a:pt x="465572" y="375920"/>
                    <a:pt x="461761" y="400050"/>
                    <a:pt x="473192" y="417830"/>
                  </a:cubicBezTo>
                  <a:cubicBezTo>
                    <a:pt x="480811" y="429260"/>
                    <a:pt x="492242" y="434340"/>
                    <a:pt x="504942" y="434340"/>
                  </a:cubicBezTo>
                  <a:cubicBezTo>
                    <a:pt x="512561" y="434340"/>
                    <a:pt x="520181" y="431800"/>
                    <a:pt x="526531" y="427990"/>
                  </a:cubicBezTo>
                  <a:lnTo>
                    <a:pt x="789422" y="251460"/>
                  </a:lnTo>
                  <a:cubicBezTo>
                    <a:pt x="799581" y="243840"/>
                    <a:pt x="805931" y="232410"/>
                    <a:pt x="805931" y="219710"/>
                  </a:cubicBezTo>
                  <a:cubicBezTo>
                    <a:pt x="805931" y="207010"/>
                    <a:pt x="799581" y="195580"/>
                    <a:pt x="788152" y="187960"/>
                  </a:cubicBez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7"/>
            <p:cNvSpPr txBox="1"/>
            <p:nvPr/>
          </p:nvSpPr>
          <p:spPr>
            <a:xfrm>
              <a:off x="558560" y="247224"/>
              <a:ext cx="740823" cy="1034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238" name="Google Shape;238;p7"/>
            <p:cNvSpPr txBox="1"/>
            <p:nvPr/>
          </p:nvSpPr>
          <p:spPr>
            <a:xfrm>
              <a:off x="1798981" y="206968"/>
              <a:ext cx="9762084" cy="1009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TO-DO / SPRINT BACKLOG</a:t>
              </a:r>
              <a:endParaRPr/>
            </a:p>
          </p:txBody>
        </p:sp>
      </p:grpSp>
      <p:grpSp>
        <p:nvGrpSpPr>
          <p:cNvPr id="239" name="Google Shape;239;p7"/>
          <p:cNvGrpSpPr/>
          <p:nvPr/>
        </p:nvGrpSpPr>
        <p:grpSpPr>
          <a:xfrm>
            <a:off x="1778256" y="2859673"/>
            <a:ext cx="3325234" cy="3690662"/>
            <a:chOff x="0" y="0"/>
            <a:chExt cx="4433645" cy="4920883"/>
          </a:xfrm>
        </p:grpSpPr>
        <p:grpSp>
          <p:nvGrpSpPr>
            <p:cNvPr id="240" name="Google Shape;240;p7"/>
            <p:cNvGrpSpPr/>
            <p:nvPr/>
          </p:nvGrpSpPr>
          <p:grpSpPr>
            <a:xfrm>
              <a:off x="0" y="0"/>
              <a:ext cx="4433645" cy="4920883"/>
              <a:chOff x="0" y="0"/>
              <a:chExt cx="2275056" cy="2525075"/>
            </a:xfrm>
          </p:grpSpPr>
          <p:sp>
            <p:nvSpPr>
              <p:cNvPr id="241" name="Google Shape;241;p7"/>
              <p:cNvSpPr/>
              <p:nvPr/>
            </p:nvSpPr>
            <p:spPr>
              <a:xfrm>
                <a:off x="57150" y="58420"/>
                <a:ext cx="2205206" cy="2453955"/>
              </a:xfrm>
              <a:custGeom>
                <a:rect b="b" l="l" r="r" t="t"/>
                <a:pathLst>
                  <a:path extrusionOk="0" h="2453955" w="2205206">
                    <a:moveTo>
                      <a:pt x="2120117" y="2423475"/>
                    </a:moveTo>
                    <a:lnTo>
                      <a:pt x="0" y="2423475"/>
                    </a:lnTo>
                    <a:cubicBezTo>
                      <a:pt x="5080" y="2441255"/>
                      <a:pt x="21590" y="2453955"/>
                      <a:pt x="40640" y="2453955"/>
                    </a:cubicBezTo>
                    <a:lnTo>
                      <a:pt x="2162027" y="2453955"/>
                    </a:lnTo>
                    <a:cubicBezTo>
                      <a:pt x="2186156" y="2453955"/>
                      <a:pt x="2205206" y="2434905"/>
                      <a:pt x="2205206" y="2410775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367595"/>
                    </a:lnTo>
                    <a:cubicBezTo>
                      <a:pt x="2175996" y="2398075"/>
                      <a:pt x="2150596" y="2423475"/>
                      <a:pt x="2120117" y="2423475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7"/>
              <p:cNvSpPr/>
              <p:nvPr/>
            </p:nvSpPr>
            <p:spPr>
              <a:xfrm>
                <a:off x="12700" y="12700"/>
                <a:ext cx="2207746" cy="2456495"/>
              </a:xfrm>
              <a:custGeom>
                <a:rect b="b" l="l" r="r" t="t"/>
                <a:pathLst>
                  <a:path extrusionOk="0" h="2456495" w="2207746">
                    <a:moveTo>
                      <a:pt x="43180" y="2456495"/>
                    </a:moveTo>
                    <a:lnTo>
                      <a:pt x="2164567" y="2456495"/>
                    </a:lnTo>
                    <a:cubicBezTo>
                      <a:pt x="2188696" y="2456495"/>
                      <a:pt x="2207746" y="2437445"/>
                      <a:pt x="2207746" y="2413315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413315"/>
                    </a:lnTo>
                    <a:cubicBezTo>
                      <a:pt x="0" y="2437445"/>
                      <a:pt x="19050" y="2456495"/>
                      <a:pt x="43180" y="245649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7"/>
              <p:cNvSpPr/>
              <p:nvPr/>
            </p:nvSpPr>
            <p:spPr>
              <a:xfrm>
                <a:off x="0" y="0"/>
                <a:ext cx="2275056" cy="2525075"/>
              </a:xfrm>
              <a:custGeom>
                <a:rect b="b" l="l" r="r" t="t"/>
                <a:pathLst>
                  <a:path extrusionOk="0" h="2525075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426015"/>
                    </a:lnTo>
                    <a:cubicBezTo>
                      <a:pt x="0" y="2452685"/>
                      <a:pt x="17780" y="2474275"/>
                      <a:pt x="43180" y="2480625"/>
                    </a:cubicBezTo>
                    <a:cubicBezTo>
                      <a:pt x="48260" y="2506025"/>
                      <a:pt x="71120" y="2525075"/>
                      <a:pt x="97790" y="2525075"/>
                    </a:cubicBezTo>
                    <a:lnTo>
                      <a:pt x="2219177" y="2525075"/>
                    </a:lnTo>
                    <a:cubicBezTo>
                      <a:pt x="2249656" y="2525075"/>
                      <a:pt x="2275056" y="2499675"/>
                      <a:pt x="2275056" y="2469195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426015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426015"/>
                    </a:lnTo>
                    <a:cubicBezTo>
                      <a:pt x="2220446" y="2450145"/>
                      <a:pt x="2201396" y="2469195"/>
                      <a:pt x="2177267" y="2469195"/>
                    </a:cubicBezTo>
                    <a:lnTo>
                      <a:pt x="55880" y="2469195"/>
                    </a:lnTo>
                    <a:cubicBezTo>
                      <a:pt x="31750" y="2469195"/>
                      <a:pt x="12700" y="2450145"/>
                      <a:pt x="12700" y="2426015"/>
                    </a:cubicBezTo>
                    <a:close/>
                    <a:moveTo>
                      <a:pt x="2262356" y="2469195"/>
                    </a:moveTo>
                    <a:cubicBezTo>
                      <a:pt x="2262356" y="2493325"/>
                      <a:pt x="2243306" y="2512375"/>
                      <a:pt x="2219177" y="2512375"/>
                    </a:cubicBezTo>
                    <a:lnTo>
                      <a:pt x="97790" y="2512375"/>
                    </a:lnTo>
                    <a:cubicBezTo>
                      <a:pt x="78740" y="2512375"/>
                      <a:pt x="62230" y="2499675"/>
                      <a:pt x="57150" y="2481895"/>
                    </a:cubicBezTo>
                    <a:lnTo>
                      <a:pt x="2177267" y="2481895"/>
                    </a:lnTo>
                    <a:cubicBezTo>
                      <a:pt x="2207746" y="2481895"/>
                      <a:pt x="2233146" y="2456495"/>
                      <a:pt x="2233146" y="2426015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469195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4" name="Google Shape;244;p7"/>
            <p:cNvSpPr txBox="1"/>
            <p:nvPr/>
          </p:nvSpPr>
          <p:spPr>
            <a:xfrm>
              <a:off x="420673" y="866204"/>
              <a:ext cx="3592300" cy="3112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96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2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Aquí se representa el conjunto de tareas seleccionadas del product backlog que están listas para ser trabajadas por el equipo.</a:t>
              </a:r>
              <a:endParaRPr/>
            </a:p>
          </p:txBody>
        </p:sp>
      </p:grpSp>
      <p:grpSp>
        <p:nvGrpSpPr>
          <p:cNvPr id="245" name="Google Shape;245;p7"/>
          <p:cNvGrpSpPr/>
          <p:nvPr/>
        </p:nvGrpSpPr>
        <p:grpSpPr>
          <a:xfrm>
            <a:off x="5947125" y="5983957"/>
            <a:ext cx="3325234" cy="2703939"/>
            <a:chOff x="0" y="0"/>
            <a:chExt cx="4433645" cy="3605252"/>
          </a:xfrm>
        </p:grpSpPr>
        <p:grpSp>
          <p:nvGrpSpPr>
            <p:cNvPr id="246" name="Google Shape;246;p7"/>
            <p:cNvGrpSpPr/>
            <p:nvPr/>
          </p:nvGrpSpPr>
          <p:grpSpPr>
            <a:xfrm>
              <a:off x="0" y="0"/>
              <a:ext cx="4433645" cy="3605252"/>
              <a:chOff x="0" y="0"/>
              <a:chExt cx="2275056" cy="1849979"/>
            </a:xfrm>
          </p:grpSpPr>
          <p:sp>
            <p:nvSpPr>
              <p:cNvPr id="247" name="Google Shape;247;p7"/>
              <p:cNvSpPr/>
              <p:nvPr/>
            </p:nvSpPr>
            <p:spPr>
              <a:xfrm>
                <a:off x="57150" y="58420"/>
                <a:ext cx="2205206" cy="1778859"/>
              </a:xfrm>
              <a:custGeom>
                <a:rect b="b" l="l" r="r" t="t"/>
                <a:pathLst>
                  <a:path extrusionOk="0" h="1778859" w="2205206">
                    <a:moveTo>
                      <a:pt x="2120117" y="1748378"/>
                    </a:moveTo>
                    <a:lnTo>
                      <a:pt x="0" y="1748378"/>
                    </a:lnTo>
                    <a:cubicBezTo>
                      <a:pt x="5080" y="1766159"/>
                      <a:pt x="21590" y="1778859"/>
                      <a:pt x="40640" y="1778859"/>
                    </a:cubicBezTo>
                    <a:lnTo>
                      <a:pt x="2162027" y="1778859"/>
                    </a:lnTo>
                    <a:cubicBezTo>
                      <a:pt x="2186156" y="1778859"/>
                      <a:pt x="2205206" y="1759809"/>
                      <a:pt x="2205206" y="1735678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1692499"/>
                    </a:lnTo>
                    <a:cubicBezTo>
                      <a:pt x="2175996" y="1722978"/>
                      <a:pt x="2150596" y="1748378"/>
                      <a:pt x="2120117" y="1748378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7"/>
              <p:cNvSpPr/>
              <p:nvPr/>
            </p:nvSpPr>
            <p:spPr>
              <a:xfrm>
                <a:off x="12700" y="12700"/>
                <a:ext cx="2207746" cy="1781398"/>
              </a:xfrm>
              <a:custGeom>
                <a:rect b="b" l="l" r="r" t="t"/>
                <a:pathLst>
                  <a:path extrusionOk="0" h="1781398" w="2207746">
                    <a:moveTo>
                      <a:pt x="43180" y="1781398"/>
                    </a:moveTo>
                    <a:lnTo>
                      <a:pt x="2164567" y="1781398"/>
                    </a:lnTo>
                    <a:cubicBezTo>
                      <a:pt x="2188696" y="1781398"/>
                      <a:pt x="2207746" y="1762348"/>
                      <a:pt x="2207746" y="1738219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1738219"/>
                    </a:lnTo>
                    <a:cubicBezTo>
                      <a:pt x="0" y="1762348"/>
                      <a:pt x="19050" y="1781398"/>
                      <a:pt x="43180" y="178139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7"/>
              <p:cNvSpPr/>
              <p:nvPr/>
            </p:nvSpPr>
            <p:spPr>
              <a:xfrm>
                <a:off x="0" y="0"/>
                <a:ext cx="2275056" cy="1849979"/>
              </a:xfrm>
              <a:custGeom>
                <a:rect b="b" l="l" r="r" t="t"/>
                <a:pathLst>
                  <a:path extrusionOk="0" h="1849979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1750919"/>
                    </a:lnTo>
                    <a:cubicBezTo>
                      <a:pt x="0" y="1777589"/>
                      <a:pt x="17780" y="1799179"/>
                      <a:pt x="43180" y="1805529"/>
                    </a:cubicBezTo>
                    <a:cubicBezTo>
                      <a:pt x="48260" y="1830929"/>
                      <a:pt x="71120" y="1849979"/>
                      <a:pt x="97790" y="1849979"/>
                    </a:cubicBezTo>
                    <a:lnTo>
                      <a:pt x="2219177" y="1849979"/>
                    </a:lnTo>
                    <a:cubicBezTo>
                      <a:pt x="2249656" y="1849979"/>
                      <a:pt x="2275056" y="1824579"/>
                      <a:pt x="2275056" y="1794098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1750919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1750919"/>
                    </a:lnTo>
                    <a:cubicBezTo>
                      <a:pt x="2220446" y="1775048"/>
                      <a:pt x="2201396" y="1794098"/>
                      <a:pt x="2177267" y="1794098"/>
                    </a:cubicBezTo>
                    <a:lnTo>
                      <a:pt x="55880" y="1794098"/>
                    </a:lnTo>
                    <a:cubicBezTo>
                      <a:pt x="31750" y="1794098"/>
                      <a:pt x="12700" y="1775048"/>
                      <a:pt x="12700" y="1750919"/>
                    </a:cubicBezTo>
                    <a:close/>
                    <a:moveTo>
                      <a:pt x="2262356" y="1794098"/>
                    </a:moveTo>
                    <a:cubicBezTo>
                      <a:pt x="2262356" y="1818229"/>
                      <a:pt x="2243306" y="1837279"/>
                      <a:pt x="2219177" y="1837279"/>
                    </a:cubicBezTo>
                    <a:lnTo>
                      <a:pt x="97790" y="1837279"/>
                    </a:lnTo>
                    <a:cubicBezTo>
                      <a:pt x="78740" y="1837279"/>
                      <a:pt x="62230" y="1824579"/>
                      <a:pt x="57150" y="1806798"/>
                    </a:cubicBezTo>
                    <a:lnTo>
                      <a:pt x="2177267" y="1806798"/>
                    </a:lnTo>
                    <a:cubicBezTo>
                      <a:pt x="2207746" y="1806798"/>
                      <a:pt x="2233146" y="1781398"/>
                      <a:pt x="2233146" y="1750919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1794098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0" name="Google Shape;250;p7"/>
            <p:cNvSpPr txBox="1"/>
            <p:nvPr/>
          </p:nvSpPr>
          <p:spPr>
            <a:xfrm>
              <a:off x="420673" y="866204"/>
              <a:ext cx="3592300" cy="1796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96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2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Las tareas que llegan aquí han sido "jaladas" desde la columna de “Historias de Usuario”</a:t>
              </a:r>
              <a:endParaRPr/>
            </a:p>
          </p:txBody>
        </p:sp>
      </p:grpSp>
      <p:grpSp>
        <p:nvGrpSpPr>
          <p:cNvPr id="251" name="Google Shape;251;p7"/>
          <p:cNvGrpSpPr/>
          <p:nvPr/>
        </p:nvGrpSpPr>
        <p:grpSpPr>
          <a:xfrm>
            <a:off x="9144000" y="2511821"/>
            <a:ext cx="3325234" cy="3032846"/>
            <a:chOff x="0" y="0"/>
            <a:chExt cx="4433645" cy="4043795"/>
          </a:xfrm>
        </p:grpSpPr>
        <p:grpSp>
          <p:nvGrpSpPr>
            <p:cNvPr id="252" name="Google Shape;252;p7"/>
            <p:cNvGrpSpPr/>
            <p:nvPr/>
          </p:nvGrpSpPr>
          <p:grpSpPr>
            <a:xfrm>
              <a:off x="0" y="0"/>
              <a:ext cx="4433645" cy="4043795"/>
              <a:chOff x="0" y="0"/>
              <a:chExt cx="2275056" cy="2075011"/>
            </a:xfrm>
          </p:grpSpPr>
          <p:sp>
            <p:nvSpPr>
              <p:cNvPr id="253" name="Google Shape;253;p7"/>
              <p:cNvSpPr/>
              <p:nvPr/>
            </p:nvSpPr>
            <p:spPr>
              <a:xfrm>
                <a:off x="57150" y="58420"/>
                <a:ext cx="2205206" cy="2003891"/>
              </a:xfrm>
              <a:custGeom>
                <a:rect b="b" l="l" r="r" t="t"/>
                <a:pathLst>
                  <a:path extrusionOk="0" h="2003891" w="2205206">
                    <a:moveTo>
                      <a:pt x="2120117" y="1973411"/>
                    </a:moveTo>
                    <a:lnTo>
                      <a:pt x="0" y="1973411"/>
                    </a:lnTo>
                    <a:cubicBezTo>
                      <a:pt x="5080" y="1991191"/>
                      <a:pt x="21590" y="2003891"/>
                      <a:pt x="40640" y="2003891"/>
                    </a:cubicBezTo>
                    <a:lnTo>
                      <a:pt x="2162027" y="2003891"/>
                    </a:lnTo>
                    <a:cubicBezTo>
                      <a:pt x="2186156" y="2003891"/>
                      <a:pt x="2205206" y="1984841"/>
                      <a:pt x="2205206" y="196071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1917531"/>
                    </a:lnTo>
                    <a:cubicBezTo>
                      <a:pt x="2175996" y="1948011"/>
                      <a:pt x="2150596" y="1973411"/>
                      <a:pt x="2120117" y="1973411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7"/>
              <p:cNvSpPr/>
              <p:nvPr/>
            </p:nvSpPr>
            <p:spPr>
              <a:xfrm>
                <a:off x="12700" y="12700"/>
                <a:ext cx="2207746" cy="2006431"/>
              </a:xfrm>
              <a:custGeom>
                <a:rect b="b" l="l" r="r" t="t"/>
                <a:pathLst>
                  <a:path extrusionOk="0" h="2006431" w="2207746">
                    <a:moveTo>
                      <a:pt x="43180" y="2006431"/>
                    </a:moveTo>
                    <a:lnTo>
                      <a:pt x="2164567" y="2006431"/>
                    </a:lnTo>
                    <a:cubicBezTo>
                      <a:pt x="2188696" y="2006431"/>
                      <a:pt x="2207746" y="1987381"/>
                      <a:pt x="2207746" y="196325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1963251"/>
                    </a:lnTo>
                    <a:cubicBezTo>
                      <a:pt x="0" y="1987381"/>
                      <a:pt x="19050" y="2006431"/>
                      <a:pt x="43180" y="20064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7"/>
              <p:cNvSpPr/>
              <p:nvPr/>
            </p:nvSpPr>
            <p:spPr>
              <a:xfrm>
                <a:off x="0" y="0"/>
                <a:ext cx="2275056" cy="2075011"/>
              </a:xfrm>
              <a:custGeom>
                <a:rect b="b" l="l" r="r" t="t"/>
                <a:pathLst>
                  <a:path extrusionOk="0" h="2075011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1975951"/>
                    </a:lnTo>
                    <a:cubicBezTo>
                      <a:pt x="0" y="2002621"/>
                      <a:pt x="17780" y="2024211"/>
                      <a:pt x="43180" y="2030561"/>
                    </a:cubicBezTo>
                    <a:cubicBezTo>
                      <a:pt x="48260" y="2055961"/>
                      <a:pt x="71120" y="2075011"/>
                      <a:pt x="97790" y="2075011"/>
                    </a:cubicBezTo>
                    <a:lnTo>
                      <a:pt x="2219177" y="2075011"/>
                    </a:lnTo>
                    <a:cubicBezTo>
                      <a:pt x="2249656" y="2075011"/>
                      <a:pt x="2275056" y="2049611"/>
                      <a:pt x="2275056" y="201913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197595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1975951"/>
                    </a:lnTo>
                    <a:cubicBezTo>
                      <a:pt x="2220446" y="2000081"/>
                      <a:pt x="2201396" y="2019131"/>
                      <a:pt x="2177267" y="2019131"/>
                    </a:cubicBezTo>
                    <a:lnTo>
                      <a:pt x="55880" y="2019131"/>
                    </a:lnTo>
                    <a:cubicBezTo>
                      <a:pt x="31750" y="2019131"/>
                      <a:pt x="12700" y="2000081"/>
                      <a:pt x="12700" y="1975951"/>
                    </a:cubicBezTo>
                    <a:close/>
                    <a:moveTo>
                      <a:pt x="2262356" y="2019131"/>
                    </a:moveTo>
                    <a:cubicBezTo>
                      <a:pt x="2262356" y="2043261"/>
                      <a:pt x="2243306" y="2062311"/>
                      <a:pt x="2219177" y="2062311"/>
                    </a:cubicBezTo>
                    <a:lnTo>
                      <a:pt x="97790" y="2062311"/>
                    </a:lnTo>
                    <a:cubicBezTo>
                      <a:pt x="78740" y="2062311"/>
                      <a:pt x="62230" y="2049611"/>
                      <a:pt x="57150" y="2031831"/>
                    </a:cubicBezTo>
                    <a:lnTo>
                      <a:pt x="2177267" y="2031831"/>
                    </a:lnTo>
                    <a:cubicBezTo>
                      <a:pt x="2207746" y="2031831"/>
                      <a:pt x="2233146" y="2006431"/>
                      <a:pt x="2233146" y="197595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019131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6" name="Google Shape;256;p7"/>
            <p:cNvSpPr txBox="1"/>
            <p:nvPr/>
          </p:nvSpPr>
          <p:spPr>
            <a:xfrm>
              <a:off x="420673" y="866204"/>
              <a:ext cx="3592300" cy="22351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96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2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Las tareas aquí no se están ejecutando aún, pero sí están en la cola inmediata de trabajo</a:t>
              </a:r>
              <a:endParaRPr/>
            </a:p>
          </p:txBody>
        </p:sp>
      </p:grpSp>
      <p:grpSp>
        <p:nvGrpSpPr>
          <p:cNvPr id="257" name="Google Shape;257;p7"/>
          <p:cNvGrpSpPr/>
          <p:nvPr/>
        </p:nvGrpSpPr>
        <p:grpSpPr>
          <a:xfrm>
            <a:off x="12850411" y="5819503"/>
            <a:ext cx="3325234" cy="3032846"/>
            <a:chOff x="0" y="0"/>
            <a:chExt cx="4433645" cy="4043795"/>
          </a:xfrm>
        </p:grpSpPr>
        <p:grpSp>
          <p:nvGrpSpPr>
            <p:cNvPr id="258" name="Google Shape;258;p7"/>
            <p:cNvGrpSpPr/>
            <p:nvPr/>
          </p:nvGrpSpPr>
          <p:grpSpPr>
            <a:xfrm>
              <a:off x="0" y="0"/>
              <a:ext cx="4433645" cy="4043795"/>
              <a:chOff x="0" y="0"/>
              <a:chExt cx="2275056" cy="2075011"/>
            </a:xfrm>
          </p:grpSpPr>
          <p:sp>
            <p:nvSpPr>
              <p:cNvPr id="259" name="Google Shape;259;p7"/>
              <p:cNvSpPr/>
              <p:nvPr/>
            </p:nvSpPr>
            <p:spPr>
              <a:xfrm>
                <a:off x="57150" y="58420"/>
                <a:ext cx="2205206" cy="2003891"/>
              </a:xfrm>
              <a:custGeom>
                <a:rect b="b" l="l" r="r" t="t"/>
                <a:pathLst>
                  <a:path extrusionOk="0" h="2003891" w="2205206">
                    <a:moveTo>
                      <a:pt x="2120117" y="1973411"/>
                    </a:moveTo>
                    <a:lnTo>
                      <a:pt x="0" y="1973411"/>
                    </a:lnTo>
                    <a:cubicBezTo>
                      <a:pt x="5080" y="1991191"/>
                      <a:pt x="21590" y="2003891"/>
                      <a:pt x="40640" y="2003891"/>
                    </a:cubicBezTo>
                    <a:lnTo>
                      <a:pt x="2162027" y="2003891"/>
                    </a:lnTo>
                    <a:cubicBezTo>
                      <a:pt x="2186156" y="2003891"/>
                      <a:pt x="2205206" y="1984841"/>
                      <a:pt x="2205206" y="196071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1917531"/>
                    </a:lnTo>
                    <a:cubicBezTo>
                      <a:pt x="2175996" y="1948011"/>
                      <a:pt x="2150596" y="1973411"/>
                      <a:pt x="2120117" y="1973411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12700" y="12700"/>
                <a:ext cx="2207746" cy="2006431"/>
              </a:xfrm>
              <a:custGeom>
                <a:rect b="b" l="l" r="r" t="t"/>
                <a:pathLst>
                  <a:path extrusionOk="0" h="2006431" w="2207746">
                    <a:moveTo>
                      <a:pt x="43180" y="2006431"/>
                    </a:moveTo>
                    <a:lnTo>
                      <a:pt x="2164567" y="2006431"/>
                    </a:lnTo>
                    <a:cubicBezTo>
                      <a:pt x="2188696" y="2006431"/>
                      <a:pt x="2207746" y="1987381"/>
                      <a:pt x="2207746" y="196325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1963251"/>
                    </a:lnTo>
                    <a:cubicBezTo>
                      <a:pt x="0" y="1987381"/>
                      <a:pt x="19050" y="2006431"/>
                      <a:pt x="43180" y="20064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7"/>
              <p:cNvSpPr/>
              <p:nvPr/>
            </p:nvSpPr>
            <p:spPr>
              <a:xfrm>
                <a:off x="0" y="0"/>
                <a:ext cx="2275056" cy="2075011"/>
              </a:xfrm>
              <a:custGeom>
                <a:rect b="b" l="l" r="r" t="t"/>
                <a:pathLst>
                  <a:path extrusionOk="0" h="2075011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1975951"/>
                    </a:lnTo>
                    <a:cubicBezTo>
                      <a:pt x="0" y="2002621"/>
                      <a:pt x="17780" y="2024211"/>
                      <a:pt x="43180" y="2030561"/>
                    </a:cubicBezTo>
                    <a:cubicBezTo>
                      <a:pt x="48260" y="2055961"/>
                      <a:pt x="71120" y="2075011"/>
                      <a:pt x="97790" y="2075011"/>
                    </a:cubicBezTo>
                    <a:lnTo>
                      <a:pt x="2219177" y="2075011"/>
                    </a:lnTo>
                    <a:cubicBezTo>
                      <a:pt x="2249656" y="2075011"/>
                      <a:pt x="2275056" y="2049611"/>
                      <a:pt x="2275056" y="201913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197595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1975951"/>
                    </a:lnTo>
                    <a:cubicBezTo>
                      <a:pt x="2220446" y="2000081"/>
                      <a:pt x="2201396" y="2019131"/>
                      <a:pt x="2177267" y="2019131"/>
                    </a:cubicBezTo>
                    <a:lnTo>
                      <a:pt x="55880" y="2019131"/>
                    </a:lnTo>
                    <a:cubicBezTo>
                      <a:pt x="31750" y="2019131"/>
                      <a:pt x="12700" y="2000081"/>
                      <a:pt x="12700" y="1975951"/>
                    </a:cubicBezTo>
                    <a:close/>
                    <a:moveTo>
                      <a:pt x="2262356" y="2019131"/>
                    </a:moveTo>
                    <a:cubicBezTo>
                      <a:pt x="2262356" y="2043261"/>
                      <a:pt x="2243306" y="2062311"/>
                      <a:pt x="2219177" y="2062311"/>
                    </a:cubicBezTo>
                    <a:lnTo>
                      <a:pt x="97790" y="2062311"/>
                    </a:lnTo>
                    <a:cubicBezTo>
                      <a:pt x="78740" y="2062311"/>
                      <a:pt x="62230" y="2049611"/>
                      <a:pt x="57150" y="2031831"/>
                    </a:cubicBezTo>
                    <a:lnTo>
                      <a:pt x="2177267" y="2031831"/>
                    </a:lnTo>
                    <a:cubicBezTo>
                      <a:pt x="2207746" y="2031831"/>
                      <a:pt x="2233146" y="2006431"/>
                      <a:pt x="2233146" y="197595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019131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2" name="Google Shape;262;p7"/>
            <p:cNvSpPr txBox="1"/>
            <p:nvPr/>
          </p:nvSpPr>
          <p:spPr>
            <a:xfrm>
              <a:off x="420673" y="866204"/>
              <a:ext cx="3592300" cy="22351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96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2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Las estimaciones en esta columna ayudan a balancear la carga de trabajo (Planning poker)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0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"/>
          <p:cNvSpPr/>
          <p:nvPr/>
        </p:nvSpPr>
        <p:spPr>
          <a:xfrm>
            <a:off x="1085139" y="1028700"/>
            <a:ext cx="16117723" cy="8229600"/>
          </a:xfrm>
          <a:custGeom>
            <a:rect b="b" l="l" r="r" t="t"/>
            <a:pathLst>
              <a:path extrusionOk="0" h="16247872" w="31821558">
                <a:moveTo>
                  <a:pt x="31697098" y="59690"/>
                </a:moveTo>
                <a:cubicBezTo>
                  <a:pt x="31732658" y="59690"/>
                  <a:pt x="31761866" y="88900"/>
                  <a:pt x="31761866" y="124460"/>
                </a:cubicBezTo>
                <a:lnTo>
                  <a:pt x="31761866" y="16123411"/>
                </a:lnTo>
                <a:cubicBezTo>
                  <a:pt x="31761866" y="16158972"/>
                  <a:pt x="31732658" y="16188181"/>
                  <a:pt x="31697098" y="16188181"/>
                </a:cubicBezTo>
                <a:lnTo>
                  <a:pt x="124460" y="16188181"/>
                </a:lnTo>
                <a:cubicBezTo>
                  <a:pt x="88900" y="16188181"/>
                  <a:pt x="59690" y="16158972"/>
                  <a:pt x="59690" y="16123411"/>
                </a:cubicBezTo>
                <a:lnTo>
                  <a:pt x="59690" y="124460"/>
                </a:lnTo>
                <a:cubicBezTo>
                  <a:pt x="59690" y="88900"/>
                  <a:pt x="88900" y="59690"/>
                  <a:pt x="124460" y="59690"/>
                </a:cubicBezTo>
                <a:lnTo>
                  <a:pt x="31697098" y="59690"/>
                </a:lnTo>
                <a:moveTo>
                  <a:pt x="31697098" y="0"/>
                </a:moveTo>
                <a:lnTo>
                  <a:pt x="124460" y="0"/>
                </a:lnTo>
                <a:cubicBezTo>
                  <a:pt x="55880" y="0"/>
                  <a:pt x="0" y="55880"/>
                  <a:pt x="0" y="124460"/>
                </a:cubicBezTo>
                <a:lnTo>
                  <a:pt x="0" y="16123411"/>
                </a:lnTo>
                <a:cubicBezTo>
                  <a:pt x="0" y="16191992"/>
                  <a:pt x="55880" y="16247872"/>
                  <a:pt x="124460" y="16247872"/>
                </a:cubicBezTo>
                <a:lnTo>
                  <a:pt x="31697098" y="16247872"/>
                </a:lnTo>
                <a:cubicBezTo>
                  <a:pt x="31765677" y="16247872"/>
                  <a:pt x="31821558" y="16191992"/>
                  <a:pt x="31821558" y="16123411"/>
                </a:cubicBezTo>
                <a:lnTo>
                  <a:pt x="31821558" y="124460"/>
                </a:lnTo>
                <a:cubicBezTo>
                  <a:pt x="31821558" y="55880"/>
                  <a:pt x="31765677" y="0"/>
                  <a:pt x="31697098" y="0"/>
                </a:cubicBezTo>
                <a:close/>
              </a:path>
            </a:pathLst>
          </a:custGeom>
          <a:solidFill>
            <a:srgbClr val="57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8" name="Google Shape;268;p8"/>
          <p:cNvGrpSpPr/>
          <p:nvPr/>
        </p:nvGrpSpPr>
        <p:grpSpPr>
          <a:xfrm>
            <a:off x="1085139" y="1028700"/>
            <a:ext cx="16117721" cy="1160134"/>
            <a:chOff x="0" y="0"/>
            <a:chExt cx="21490296" cy="1546845"/>
          </a:xfrm>
        </p:grpSpPr>
        <p:grpSp>
          <p:nvGrpSpPr>
            <p:cNvPr id="269" name="Google Shape;269;p8"/>
            <p:cNvGrpSpPr/>
            <p:nvPr/>
          </p:nvGrpSpPr>
          <p:grpSpPr>
            <a:xfrm>
              <a:off x="0" y="0"/>
              <a:ext cx="21490296" cy="1546845"/>
              <a:chOff x="0" y="0"/>
              <a:chExt cx="31091640" cy="2237938"/>
            </a:xfrm>
          </p:grpSpPr>
          <p:sp>
            <p:nvSpPr>
              <p:cNvPr id="270" name="Google Shape;270;p8"/>
              <p:cNvSpPr/>
              <p:nvPr/>
            </p:nvSpPr>
            <p:spPr>
              <a:xfrm>
                <a:off x="31750" y="31750"/>
                <a:ext cx="31028140" cy="2174438"/>
              </a:xfrm>
              <a:custGeom>
                <a:rect b="b" l="l" r="r" t="t"/>
                <a:pathLst>
                  <a:path extrusionOk="0" h="2174438" w="31028140">
                    <a:moveTo>
                      <a:pt x="30935433" y="2174438"/>
                    </a:moveTo>
                    <a:lnTo>
                      <a:pt x="92710" y="2174438"/>
                    </a:lnTo>
                    <a:cubicBezTo>
                      <a:pt x="41910" y="2174438"/>
                      <a:pt x="0" y="2132528"/>
                      <a:pt x="0" y="20817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0934161" y="0"/>
                    </a:lnTo>
                    <a:cubicBezTo>
                      <a:pt x="30984961" y="0"/>
                      <a:pt x="31026872" y="41910"/>
                      <a:pt x="31026872" y="92710"/>
                    </a:cubicBezTo>
                    <a:lnTo>
                      <a:pt x="31026872" y="2080458"/>
                    </a:lnTo>
                    <a:cubicBezTo>
                      <a:pt x="31028140" y="2132528"/>
                      <a:pt x="30986233" y="2174438"/>
                      <a:pt x="30935433" y="21744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8"/>
              <p:cNvSpPr/>
              <p:nvPr/>
            </p:nvSpPr>
            <p:spPr>
              <a:xfrm>
                <a:off x="0" y="0"/>
                <a:ext cx="31091640" cy="2237938"/>
              </a:xfrm>
              <a:custGeom>
                <a:rect b="b" l="l" r="r" t="t"/>
                <a:pathLst>
                  <a:path extrusionOk="0" h="2237938" w="31091640">
                    <a:moveTo>
                      <a:pt x="30967183" y="59690"/>
                    </a:moveTo>
                    <a:cubicBezTo>
                      <a:pt x="31002740" y="59690"/>
                      <a:pt x="31031951" y="88900"/>
                      <a:pt x="31031951" y="124460"/>
                    </a:cubicBezTo>
                    <a:lnTo>
                      <a:pt x="31031951" y="2113478"/>
                    </a:lnTo>
                    <a:cubicBezTo>
                      <a:pt x="31031951" y="2149038"/>
                      <a:pt x="31002740" y="2178248"/>
                      <a:pt x="30967183" y="2178248"/>
                    </a:cubicBezTo>
                    <a:lnTo>
                      <a:pt x="124460" y="2178248"/>
                    </a:lnTo>
                    <a:cubicBezTo>
                      <a:pt x="88900" y="2178248"/>
                      <a:pt x="59690" y="2149038"/>
                      <a:pt x="59690" y="211347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0967183" y="59690"/>
                    </a:lnTo>
                    <a:moveTo>
                      <a:pt x="3096718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13478"/>
                    </a:lnTo>
                    <a:cubicBezTo>
                      <a:pt x="0" y="2182058"/>
                      <a:pt x="55880" y="2237938"/>
                      <a:pt x="124460" y="2237938"/>
                    </a:cubicBezTo>
                    <a:lnTo>
                      <a:pt x="30967183" y="2237938"/>
                    </a:lnTo>
                    <a:cubicBezTo>
                      <a:pt x="31035761" y="2237938"/>
                      <a:pt x="31091640" y="2182058"/>
                      <a:pt x="31091640" y="2113478"/>
                    </a:cubicBezTo>
                    <a:lnTo>
                      <a:pt x="31091640" y="124460"/>
                    </a:lnTo>
                    <a:cubicBezTo>
                      <a:pt x="31091640" y="55880"/>
                      <a:pt x="31035761" y="0"/>
                      <a:pt x="309671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2" name="Google Shape;272;p8"/>
            <p:cNvSpPr/>
            <p:nvPr/>
          </p:nvSpPr>
          <p:spPr>
            <a:xfrm>
              <a:off x="20302666" y="617319"/>
              <a:ext cx="572613" cy="308598"/>
            </a:xfrm>
            <a:custGeom>
              <a:rect b="b" l="l" r="r" t="t"/>
              <a:pathLst>
                <a:path extrusionOk="0" h="434340" w="805931">
                  <a:moveTo>
                    <a:pt x="788152" y="187960"/>
                  </a:moveTo>
                  <a:lnTo>
                    <a:pt x="526531" y="11430"/>
                  </a:lnTo>
                  <a:cubicBezTo>
                    <a:pt x="508752" y="0"/>
                    <a:pt x="485891" y="3810"/>
                    <a:pt x="473191" y="21590"/>
                  </a:cubicBezTo>
                  <a:cubicBezTo>
                    <a:pt x="461761" y="39370"/>
                    <a:pt x="465572" y="62230"/>
                    <a:pt x="483352" y="74930"/>
                  </a:cubicBezTo>
                  <a:lnTo>
                    <a:pt x="642102" y="181610"/>
                  </a:lnTo>
                  <a:lnTo>
                    <a:pt x="0" y="181610"/>
                  </a:lnTo>
                  <a:lnTo>
                    <a:pt x="0" y="257810"/>
                  </a:lnTo>
                  <a:lnTo>
                    <a:pt x="642102" y="257810"/>
                  </a:lnTo>
                  <a:lnTo>
                    <a:pt x="483352" y="364490"/>
                  </a:lnTo>
                  <a:cubicBezTo>
                    <a:pt x="465572" y="375920"/>
                    <a:pt x="461761" y="400050"/>
                    <a:pt x="473192" y="417830"/>
                  </a:cubicBezTo>
                  <a:cubicBezTo>
                    <a:pt x="480811" y="429260"/>
                    <a:pt x="492242" y="434340"/>
                    <a:pt x="504942" y="434340"/>
                  </a:cubicBezTo>
                  <a:cubicBezTo>
                    <a:pt x="512561" y="434340"/>
                    <a:pt x="520181" y="431800"/>
                    <a:pt x="526531" y="427990"/>
                  </a:cubicBezTo>
                  <a:lnTo>
                    <a:pt x="789422" y="251460"/>
                  </a:lnTo>
                  <a:cubicBezTo>
                    <a:pt x="799581" y="243840"/>
                    <a:pt x="805931" y="232410"/>
                    <a:pt x="805931" y="219710"/>
                  </a:cubicBezTo>
                  <a:cubicBezTo>
                    <a:pt x="805931" y="207010"/>
                    <a:pt x="799581" y="195580"/>
                    <a:pt x="788152" y="187960"/>
                  </a:cubicBez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8"/>
            <p:cNvSpPr txBox="1"/>
            <p:nvPr/>
          </p:nvSpPr>
          <p:spPr>
            <a:xfrm>
              <a:off x="558560" y="247224"/>
              <a:ext cx="740823" cy="1034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274" name="Google Shape;274;p8"/>
            <p:cNvSpPr txBox="1"/>
            <p:nvPr/>
          </p:nvSpPr>
          <p:spPr>
            <a:xfrm>
              <a:off x="1798981" y="206968"/>
              <a:ext cx="9762084" cy="1009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BLOCKED</a:t>
              </a:r>
              <a:endParaRPr/>
            </a:p>
          </p:txBody>
        </p:sp>
      </p:grpSp>
      <p:grpSp>
        <p:nvGrpSpPr>
          <p:cNvPr id="275" name="Google Shape;275;p8"/>
          <p:cNvGrpSpPr/>
          <p:nvPr/>
        </p:nvGrpSpPr>
        <p:grpSpPr>
          <a:xfrm>
            <a:off x="1737695" y="2703347"/>
            <a:ext cx="3266700" cy="3527157"/>
            <a:chOff x="0" y="0"/>
            <a:chExt cx="4355600" cy="4702876"/>
          </a:xfrm>
        </p:grpSpPr>
        <p:grpSp>
          <p:nvGrpSpPr>
            <p:cNvPr id="276" name="Google Shape;276;p8"/>
            <p:cNvGrpSpPr/>
            <p:nvPr/>
          </p:nvGrpSpPr>
          <p:grpSpPr>
            <a:xfrm>
              <a:off x="0" y="0"/>
              <a:ext cx="4355600" cy="4702876"/>
              <a:chOff x="0" y="0"/>
              <a:chExt cx="3603011" cy="3890282"/>
            </a:xfrm>
          </p:grpSpPr>
          <p:sp>
            <p:nvSpPr>
              <p:cNvPr id="277" name="Google Shape;277;p8"/>
              <p:cNvSpPr/>
              <p:nvPr/>
            </p:nvSpPr>
            <p:spPr>
              <a:xfrm>
                <a:off x="57150" y="58420"/>
                <a:ext cx="3533161" cy="3819162"/>
              </a:xfrm>
              <a:custGeom>
                <a:rect b="b" l="l" r="r" t="t"/>
                <a:pathLst>
                  <a:path extrusionOk="0" h="3819162" w="3533161">
                    <a:moveTo>
                      <a:pt x="3448071" y="3788682"/>
                    </a:moveTo>
                    <a:lnTo>
                      <a:pt x="0" y="3788682"/>
                    </a:lnTo>
                    <a:cubicBezTo>
                      <a:pt x="5080" y="3806462"/>
                      <a:pt x="21590" y="3819162"/>
                      <a:pt x="40640" y="3819162"/>
                    </a:cubicBezTo>
                    <a:lnTo>
                      <a:pt x="3489981" y="3819162"/>
                    </a:lnTo>
                    <a:cubicBezTo>
                      <a:pt x="3514111" y="3819162"/>
                      <a:pt x="3533161" y="3800112"/>
                      <a:pt x="3533161" y="3775982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3732802"/>
                    </a:lnTo>
                    <a:cubicBezTo>
                      <a:pt x="3503951" y="3763282"/>
                      <a:pt x="3478551" y="3788682"/>
                      <a:pt x="3448071" y="3788682"/>
                    </a:cubicBez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8"/>
              <p:cNvSpPr/>
              <p:nvPr/>
            </p:nvSpPr>
            <p:spPr>
              <a:xfrm>
                <a:off x="12700" y="12700"/>
                <a:ext cx="3535701" cy="3821702"/>
              </a:xfrm>
              <a:custGeom>
                <a:rect b="b" l="l" r="r" t="t"/>
                <a:pathLst>
                  <a:path extrusionOk="0" h="3821702" w="3535701">
                    <a:moveTo>
                      <a:pt x="43180" y="3821702"/>
                    </a:moveTo>
                    <a:lnTo>
                      <a:pt x="3492521" y="3821702"/>
                    </a:lnTo>
                    <a:cubicBezTo>
                      <a:pt x="3516651" y="3821702"/>
                      <a:pt x="3535701" y="3802652"/>
                      <a:pt x="3535701" y="3778522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778522"/>
                    </a:lnTo>
                    <a:cubicBezTo>
                      <a:pt x="0" y="3802652"/>
                      <a:pt x="19050" y="3821702"/>
                      <a:pt x="43180" y="38217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8"/>
              <p:cNvSpPr/>
              <p:nvPr/>
            </p:nvSpPr>
            <p:spPr>
              <a:xfrm>
                <a:off x="0" y="0"/>
                <a:ext cx="3603011" cy="3890282"/>
              </a:xfrm>
              <a:custGeom>
                <a:rect b="b" l="l" r="r" t="t"/>
                <a:pathLst>
                  <a:path extrusionOk="0" h="3890282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791222"/>
                    </a:lnTo>
                    <a:cubicBezTo>
                      <a:pt x="0" y="3817892"/>
                      <a:pt x="17780" y="3839482"/>
                      <a:pt x="43180" y="3845832"/>
                    </a:cubicBezTo>
                    <a:cubicBezTo>
                      <a:pt x="48260" y="3871232"/>
                      <a:pt x="71120" y="3890282"/>
                      <a:pt x="97790" y="3890282"/>
                    </a:cubicBezTo>
                    <a:lnTo>
                      <a:pt x="3547131" y="3890282"/>
                    </a:lnTo>
                    <a:cubicBezTo>
                      <a:pt x="3577611" y="3890282"/>
                      <a:pt x="3603011" y="3864882"/>
                      <a:pt x="3603011" y="3834402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791222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791222"/>
                    </a:lnTo>
                    <a:cubicBezTo>
                      <a:pt x="3548401" y="3815352"/>
                      <a:pt x="3529351" y="3834402"/>
                      <a:pt x="3505221" y="3834402"/>
                    </a:cubicBezTo>
                    <a:lnTo>
                      <a:pt x="55880" y="3834402"/>
                    </a:lnTo>
                    <a:cubicBezTo>
                      <a:pt x="31750" y="3834402"/>
                      <a:pt x="12700" y="3815352"/>
                      <a:pt x="12700" y="3791222"/>
                    </a:cubicBezTo>
                    <a:close/>
                    <a:moveTo>
                      <a:pt x="3590311" y="3834402"/>
                    </a:moveTo>
                    <a:cubicBezTo>
                      <a:pt x="3590311" y="3858532"/>
                      <a:pt x="3571261" y="3877582"/>
                      <a:pt x="3547131" y="3877582"/>
                    </a:cubicBezTo>
                    <a:lnTo>
                      <a:pt x="97790" y="3877582"/>
                    </a:lnTo>
                    <a:cubicBezTo>
                      <a:pt x="78740" y="3877582"/>
                      <a:pt x="62230" y="3864882"/>
                      <a:pt x="57150" y="3847102"/>
                    </a:cubicBezTo>
                    <a:lnTo>
                      <a:pt x="3505221" y="3847102"/>
                    </a:lnTo>
                    <a:cubicBezTo>
                      <a:pt x="3535701" y="3847102"/>
                      <a:pt x="3561101" y="3821702"/>
                      <a:pt x="3561101" y="3791222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834402"/>
                    </a:ln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0" name="Google Shape;280;p8"/>
            <p:cNvSpPr txBox="1"/>
            <p:nvPr/>
          </p:nvSpPr>
          <p:spPr>
            <a:xfrm>
              <a:off x="312336" y="886193"/>
              <a:ext cx="3730929" cy="28447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Encargada de visibilizar de manera inmediata aquellas tareas que no pueden avanzar por razones externas o internas</a:t>
              </a:r>
              <a:endParaRPr/>
            </a:p>
          </p:txBody>
        </p:sp>
      </p:grpSp>
      <p:grpSp>
        <p:nvGrpSpPr>
          <p:cNvPr id="281" name="Google Shape;281;p8"/>
          <p:cNvGrpSpPr/>
          <p:nvPr/>
        </p:nvGrpSpPr>
        <p:grpSpPr>
          <a:xfrm>
            <a:off x="5414752" y="5355794"/>
            <a:ext cx="3266700" cy="3527157"/>
            <a:chOff x="0" y="0"/>
            <a:chExt cx="4355600" cy="4702876"/>
          </a:xfrm>
        </p:grpSpPr>
        <p:grpSp>
          <p:nvGrpSpPr>
            <p:cNvPr id="282" name="Google Shape;282;p8"/>
            <p:cNvGrpSpPr/>
            <p:nvPr/>
          </p:nvGrpSpPr>
          <p:grpSpPr>
            <a:xfrm>
              <a:off x="0" y="0"/>
              <a:ext cx="4355600" cy="4702876"/>
              <a:chOff x="0" y="0"/>
              <a:chExt cx="3603011" cy="3890282"/>
            </a:xfrm>
          </p:grpSpPr>
          <p:sp>
            <p:nvSpPr>
              <p:cNvPr id="283" name="Google Shape;283;p8"/>
              <p:cNvSpPr/>
              <p:nvPr/>
            </p:nvSpPr>
            <p:spPr>
              <a:xfrm>
                <a:off x="57150" y="58420"/>
                <a:ext cx="3533161" cy="3819162"/>
              </a:xfrm>
              <a:custGeom>
                <a:rect b="b" l="l" r="r" t="t"/>
                <a:pathLst>
                  <a:path extrusionOk="0" h="3819162" w="3533161">
                    <a:moveTo>
                      <a:pt x="3448071" y="3788682"/>
                    </a:moveTo>
                    <a:lnTo>
                      <a:pt x="0" y="3788682"/>
                    </a:lnTo>
                    <a:cubicBezTo>
                      <a:pt x="5080" y="3806462"/>
                      <a:pt x="21590" y="3819162"/>
                      <a:pt x="40640" y="3819162"/>
                    </a:cubicBezTo>
                    <a:lnTo>
                      <a:pt x="3489981" y="3819162"/>
                    </a:lnTo>
                    <a:cubicBezTo>
                      <a:pt x="3514111" y="3819162"/>
                      <a:pt x="3533161" y="3800112"/>
                      <a:pt x="3533161" y="3775982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3732802"/>
                    </a:lnTo>
                    <a:cubicBezTo>
                      <a:pt x="3503951" y="3763282"/>
                      <a:pt x="3478551" y="3788682"/>
                      <a:pt x="3448071" y="3788682"/>
                    </a:cubicBez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8"/>
              <p:cNvSpPr/>
              <p:nvPr/>
            </p:nvSpPr>
            <p:spPr>
              <a:xfrm>
                <a:off x="12700" y="12700"/>
                <a:ext cx="3535701" cy="3821702"/>
              </a:xfrm>
              <a:custGeom>
                <a:rect b="b" l="l" r="r" t="t"/>
                <a:pathLst>
                  <a:path extrusionOk="0" h="3821702" w="3535701">
                    <a:moveTo>
                      <a:pt x="43180" y="3821702"/>
                    </a:moveTo>
                    <a:lnTo>
                      <a:pt x="3492521" y="3821702"/>
                    </a:lnTo>
                    <a:cubicBezTo>
                      <a:pt x="3516651" y="3821702"/>
                      <a:pt x="3535701" y="3802652"/>
                      <a:pt x="3535701" y="3778522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778522"/>
                    </a:lnTo>
                    <a:cubicBezTo>
                      <a:pt x="0" y="3802652"/>
                      <a:pt x="19050" y="3821702"/>
                      <a:pt x="43180" y="38217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8"/>
              <p:cNvSpPr/>
              <p:nvPr/>
            </p:nvSpPr>
            <p:spPr>
              <a:xfrm>
                <a:off x="0" y="0"/>
                <a:ext cx="3603011" cy="3890282"/>
              </a:xfrm>
              <a:custGeom>
                <a:rect b="b" l="l" r="r" t="t"/>
                <a:pathLst>
                  <a:path extrusionOk="0" h="3890282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791222"/>
                    </a:lnTo>
                    <a:cubicBezTo>
                      <a:pt x="0" y="3817892"/>
                      <a:pt x="17780" y="3839482"/>
                      <a:pt x="43180" y="3845832"/>
                    </a:cubicBezTo>
                    <a:cubicBezTo>
                      <a:pt x="48260" y="3871232"/>
                      <a:pt x="71120" y="3890282"/>
                      <a:pt x="97790" y="3890282"/>
                    </a:cubicBezTo>
                    <a:lnTo>
                      <a:pt x="3547131" y="3890282"/>
                    </a:lnTo>
                    <a:cubicBezTo>
                      <a:pt x="3577611" y="3890282"/>
                      <a:pt x="3603011" y="3864882"/>
                      <a:pt x="3603011" y="3834402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791222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791222"/>
                    </a:lnTo>
                    <a:cubicBezTo>
                      <a:pt x="3548401" y="3815352"/>
                      <a:pt x="3529351" y="3834402"/>
                      <a:pt x="3505221" y="3834402"/>
                    </a:cubicBezTo>
                    <a:lnTo>
                      <a:pt x="55880" y="3834402"/>
                    </a:lnTo>
                    <a:cubicBezTo>
                      <a:pt x="31750" y="3834402"/>
                      <a:pt x="12700" y="3815352"/>
                      <a:pt x="12700" y="3791222"/>
                    </a:cubicBezTo>
                    <a:close/>
                    <a:moveTo>
                      <a:pt x="3590311" y="3834402"/>
                    </a:moveTo>
                    <a:cubicBezTo>
                      <a:pt x="3590311" y="3858532"/>
                      <a:pt x="3571261" y="3877582"/>
                      <a:pt x="3547131" y="3877582"/>
                    </a:cubicBezTo>
                    <a:lnTo>
                      <a:pt x="97790" y="3877582"/>
                    </a:lnTo>
                    <a:cubicBezTo>
                      <a:pt x="78740" y="3877582"/>
                      <a:pt x="62230" y="3864882"/>
                      <a:pt x="57150" y="3847102"/>
                    </a:cubicBezTo>
                    <a:lnTo>
                      <a:pt x="3505221" y="3847102"/>
                    </a:lnTo>
                    <a:cubicBezTo>
                      <a:pt x="3535701" y="3847102"/>
                      <a:pt x="3561101" y="3821702"/>
                      <a:pt x="3561101" y="3791222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834402"/>
                    </a:ln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6" name="Google Shape;286;p8"/>
            <p:cNvSpPr txBox="1"/>
            <p:nvPr/>
          </p:nvSpPr>
          <p:spPr>
            <a:xfrm>
              <a:off x="312336" y="886193"/>
              <a:ext cx="3730929" cy="28447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Cuando una tarea entra a esta columna el Scrum Master se encarga de intervenir para eliminar el obstáculo.</a:t>
              </a:r>
              <a:endParaRPr/>
            </a:p>
          </p:txBody>
        </p:sp>
      </p:grpSp>
      <p:grpSp>
        <p:nvGrpSpPr>
          <p:cNvPr id="287" name="Google Shape;287;p8"/>
          <p:cNvGrpSpPr/>
          <p:nvPr/>
        </p:nvGrpSpPr>
        <p:grpSpPr>
          <a:xfrm>
            <a:off x="9091027" y="3052715"/>
            <a:ext cx="3266700" cy="2828421"/>
            <a:chOff x="0" y="0"/>
            <a:chExt cx="4355600" cy="3771228"/>
          </a:xfrm>
        </p:grpSpPr>
        <p:grpSp>
          <p:nvGrpSpPr>
            <p:cNvPr id="288" name="Google Shape;288;p8"/>
            <p:cNvGrpSpPr/>
            <p:nvPr/>
          </p:nvGrpSpPr>
          <p:grpSpPr>
            <a:xfrm>
              <a:off x="0" y="0"/>
              <a:ext cx="4355600" cy="3771228"/>
              <a:chOff x="0" y="0"/>
              <a:chExt cx="3603011" cy="3119611"/>
            </a:xfrm>
          </p:grpSpPr>
          <p:sp>
            <p:nvSpPr>
              <p:cNvPr id="289" name="Google Shape;289;p8"/>
              <p:cNvSpPr/>
              <p:nvPr/>
            </p:nvSpPr>
            <p:spPr>
              <a:xfrm>
                <a:off x="57150" y="58420"/>
                <a:ext cx="3533161" cy="3048491"/>
              </a:xfrm>
              <a:custGeom>
                <a:rect b="b" l="l" r="r" t="t"/>
                <a:pathLst>
                  <a:path extrusionOk="0" h="3048491" w="3533161">
                    <a:moveTo>
                      <a:pt x="3448071" y="3018011"/>
                    </a:moveTo>
                    <a:lnTo>
                      <a:pt x="0" y="3018011"/>
                    </a:lnTo>
                    <a:cubicBezTo>
                      <a:pt x="5080" y="3035791"/>
                      <a:pt x="21590" y="3048491"/>
                      <a:pt x="40640" y="3048491"/>
                    </a:cubicBezTo>
                    <a:lnTo>
                      <a:pt x="3489981" y="3048491"/>
                    </a:lnTo>
                    <a:cubicBezTo>
                      <a:pt x="3514111" y="3048491"/>
                      <a:pt x="3533161" y="3029441"/>
                      <a:pt x="3533161" y="3005311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2962131"/>
                    </a:lnTo>
                    <a:cubicBezTo>
                      <a:pt x="3503951" y="2992611"/>
                      <a:pt x="3478551" y="3018011"/>
                      <a:pt x="3448071" y="3018011"/>
                    </a:cubicBez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8"/>
              <p:cNvSpPr/>
              <p:nvPr/>
            </p:nvSpPr>
            <p:spPr>
              <a:xfrm>
                <a:off x="12700" y="12700"/>
                <a:ext cx="3535701" cy="3051031"/>
              </a:xfrm>
              <a:custGeom>
                <a:rect b="b" l="l" r="r" t="t"/>
                <a:pathLst>
                  <a:path extrusionOk="0" h="3051031" w="3535701">
                    <a:moveTo>
                      <a:pt x="43180" y="3051031"/>
                    </a:moveTo>
                    <a:lnTo>
                      <a:pt x="3492521" y="3051031"/>
                    </a:lnTo>
                    <a:cubicBezTo>
                      <a:pt x="3516651" y="3051031"/>
                      <a:pt x="3535701" y="3031981"/>
                      <a:pt x="3535701" y="3007851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007851"/>
                    </a:lnTo>
                    <a:cubicBezTo>
                      <a:pt x="0" y="3031981"/>
                      <a:pt x="19050" y="3051031"/>
                      <a:pt x="43180" y="30510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8"/>
              <p:cNvSpPr/>
              <p:nvPr/>
            </p:nvSpPr>
            <p:spPr>
              <a:xfrm>
                <a:off x="0" y="0"/>
                <a:ext cx="3603011" cy="3119611"/>
              </a:xfrm>
              <a:custGeom>
                <a:rect b="b" l="l" r="r" t="t"/>
                <a:pathLst>
                  <a:path extrusionOk="0" h="3119611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020551"/>
                    </a:lnTo>
                    <a:cubicBezTo>
                      <a:pt x="0" y="3047221"/>
                      <a:pt x="17780" y="3068811"/>
                      <a:pt x="43180" y="3075161"/>
                    </a:cubicBezTo>
                    <a:cubicBezTo>
                      <a:pt x="48260" y="3100561"/>
                      <a:pt x="71120" y="3119611"/>
                      <a:pt x="97790" y="3119611"/>
                    </a:cubicBezTo>
                    <a:lnTo>
                      <a:pt x="3547131" y="3119611"/>
                    </a:lnTo>
                    <a:cubicBezTo>
                      <a:pt x="3577611" y="3119611"/>
                      <a:pt x="3603011" y="3094211"/>
                      <a:pt x="3603011" y="3063731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02055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020551"/>
                    </a:lnTo>
                    <a:cubicBezTo>
                      <a:pt x="3548401" y="3044681"/>
                      <a:pt x="3529351" y="3063731"/>
                      <a:pt x="3505221" y="3063731"/>
                    </a:cubicBezTo>
                    <a:lnTo>
                      <a:pt x="55880" y="3063731"/>
                    </a:lnTo>
                    <a:cubicBezTo>
                      <a:pt x="31750" y="3063731"/>
                      <a:pt x="12700" y="3044681"/>
                      <a:pt x="12700" y="3020551"/>
                    </a:cubicBezTo>
                    <a:close/>
                    <a:moveTo>
                      <a:pt x="3590311" y="3063731"/>
                    </a:moveTo>
                    <a:cubicBezTo>
                      <a:pt x="3590311" y="3087861"/>
                      <a:pt x="3571261" y="3106911"/>
                      <a:pt x="3547131" y="3106911"/>
                    </a:cubicBezTo>
                    <a:lnTo>
                      <a:pt x="97790" y="3106911"/>
                    </a:lnTo>
                    <a:cubicBezTo>
                      <a:pt x="78740" y="3106911"/>
                      <a:pt x="62230" y="3094211"/>
                      <a:pt x="57150" y="3076431"/>
                    </a:cubicBezTo>
                    <a:lnTo>
                      <a:pt x="3505221" y="3076431"/>
                    </a:lnTo>
                    <a:cubicBezTo>
                      <a:pt x="3535701" y="3076431"/>
                      <a:pt x="3561101" y="3051031"/>
                      <a:pt x="3561101" y="3020551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063731"/>
                    </a:ln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2" name="Google Shape;292;p8"/>
            <p:cNvSpPr txBox="1"/>
            <p:nvPr/>
          </p:nvSpPr>
          <p:spPr>
            <a:xfrm>
              <a:off x="312336" y="886193"/>
              <a:ext cx="3730929" cy="1913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Se utiliza un mensaje o comentario visible que indique la razón del bloqueo</a:t>
              </a:r>
              <a:endParaRPr/>
            </a:p>
          </p:txBody>
        </p:sp>
      </p:grpSp>
      <p:grpSp>
        <p:nvGrpSpPr>
          <p:cNvPr id="293" name="Google Shape;293;p8"/>
          <p:cNvGrpSpPr/>
          <p:nvPr/>
        </p:nvGrpSpPr>
        <p:grpSpPr>
          <a:xfrm>
            <a:off x="12993498" y="5705162"/>
            <a:ext cx="3266700" cy="2828421"/>
            <a:chOff x="0" y="0"/>
            <a:chExt cx="4355600" cy="3771228"/>
          </a:xfrm>
        </p:grpSpPr>
        <p:grpSp>
          <p:nvGrpSpPr>
            <p:cNvPr id="294" name="Google Shape;294;p8"/>
            <p:cNvGrpSpPr/>
            <p:nvPr/>
          </p:nvGrpSpPr>
          <p:grpSpPr>
            <a:xfrm>
              <a:off x="0" y="0"/>
              <a:ext cx="4355600" cy="3771228"/>
              <a:chOff x="0" y="0"/>
              <a:chExt cx="3603011" cy="3119611"/>
            </a:xfrm>
          </p:grpSpPr>
          <p:sp>
            <p:nvSpPr>
              <p:cNvPr id="295" name="Google Shape;295;p8"/>
              <p:cNvSpPr/>
              <p:nvPr/>
            </p:nvSpPr>
            <p:spPr>
              <a:xfrm>
                <a:off x="57150" y="58420"/>
                <a:ext cx="3533161" cy="3048491"/>
              </a:xfrm>
              <a:custGeom>
                <a:rect b="b" l="l" r="r" t="t"/>
                <a:pathLst>
                  <a:path extrusionOk="0" h="3048491" w="3533161">
                    <a:moveTo>
                      <a:pt x="3448071" y="3018011"/>
                    </a:moveTo>
                    <a:lnTo>
                      <a:pt x="0" y="3018011"/>
                    </a:lnTo>
                    <a:cubicBezTo>
                      <a:pt x="5080" y="3035791"/>
                      <a:pt x="21590" y="3048491"/>
                      <a:pt x="40640" y="3048491"/>
                    </a:cubicBezTo>
                    <a:lnTo>
                      <a:pt x="3489981" y="3048491"/>
                    </a:lnTo>
                    <a:cubicBezTo>
                      <a:pt x="3514111" y="3048491"/>
                      <a:pt x="3533161" y="3029441"/>
                      <a:pt x="3533161" y="3005311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2962131"/>
                    </a:lnTo>
                    <a:cubicBezTo>
                      <a:pt x="3503951" y="2992611"/>
                      <a:pt x="3478551" y="3018011"/>
                      <a:pt x="3448071" y="3018011"/>
                    </a:cubicBez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8"/>
              <p:cNvSpPr/>
              <p:nvPr/>
            </p:nvSpPr>
            <p:spPr>
              <a:xfrm>
                <a:off x="12700" y="12700"/>
                <a:ext cx="3535701" cy="3051031"/>
              </a:xfrm>
              <a:custGeom>
                <a:rect b="b" l="l" r="r" t="t"/>
                <a:pathLst>
                  <a:path extrusionOk="0" h="3051031" w="3535701">
                    <a:moveTo>
                      <a:pt x="43180" y="3051031"/>
                    </a:moveTo>
                    <a:lnTo>
                      <a:pt x="3492521" y="3051031"/>
                    </a:lnTo>
                    <a:cubicBezTo>
                      <a:pt x="3516651" y="3051031"/>
                      <a:pt x="3535701" y="3031981"/>
                      <a:pt x="3535701" y="3007851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007851"/>
                    </a:lnTo>
                    <a:cubicBezTo>
                      <a:pt x="0" y="3031981"/>
                      <a:pt x="19050" y="3051031"/>
                      <a:pt x="43180" y="30510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8"/>
              <p:cNvSpPr/>
              <p:nvPr/>
            </p:nvSpPr>
            <p:spPr>
              <a:xfrm>
                <a:off x="0" y="0"/>
                <a:ext cx="3603011" cy="3119611"/>
              </a:xfrm>
              <a:custGeom>
                <a:rect b="b" l="l" r="r" t="t"/>
                <a:pathLst>
                  <a:path extrusionOk="0" h="3119611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020551"/>
                    </a:lnTo>
                    <a:cubicBezTo>
                      <a:pt x="0" y="3047221"/>
                      <a:pt x="17780" y="3068811"/>
                      <a:pt x="43180" y="3075161"/>
                    </a:cubicBezTo>
                    <a:cubicBezTo>
                      <a:pt x="48260" y="3100561"/>
                      <a:pt x="71120" y="3119611"/>
                      <a:pt x="97790" y="3119611"/>
                    </a:cubicBezTo>
                    <a:lnTo>
                      <a:pt x="3547131" y="3119611"/>
                    </a:lnTo>
                    <a:cubicBezTo>
                      <a:pt x="3577611" y="3119611"/>
                      <a:pt x="3603011" y="3094211"/>
                      <a:pt x="3603011" y="3063731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02055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020551"/>
                    </a:lnTo>
                    <a:cubicBezTo>
                      <a:pt x="3548401" y="3044681"/>
                      <a:pt x="3529351" y="3063731"/>
                      <a:pt x="3505221" y="3063731"/>
                    </a:cubicBezTo>
                    <a:lnTo>
                      <a:pt x="55880" y="3063731"/>
                    </a:lnTo>
                    <a:cubicBezTo>
                      <a:pt x="31750" y="3063731"/>
                      <a:pt x="12700" y="3044681"/>
                      <a:pt x="12700" y="3020551"/>
                    </a:cubicBezTo>
                    <a:close/>
                    <a:moveTo>
                      <a:pt x="3590311" y="3063731"/>
                    </a:moveTo>
                    <a:cubicBezTo>
                      <a:pt x="3590311" y="3087861"/>
                      <a:pt x="3571261" y="3106911"/>
                      <a:pt x="3547131" y="3106911"/>
                    </a:cubicBezTo>
                    <a:lnTo>
                      <a:pt x="97790" y="3106911"/>
                    </a:lnTo>
                    <a:cubicBezTo>
                      <a:pt x="78740" y="3106911"/>
                      <a:pt x="62230" y="3094211"/>
                      <a:pt x="57150" y="3076431"/>
                    </a:cubicBezTo>
                    <a:lnTo>
                      <a:pt x="3505221" y="3076431"/>
                    </a:lnTo>
                    <a:cubicBezTo>
                      <a:pt x="3535701" y="3076431"/>
                      <a:pt x="3561101" y="3051031"/>
                      <a:pt x="3561101" y="3020551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063731"/>
                    </a:ln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8" name="Google Shape;298;p8"/>
            <p:cNvSpPr txBox="1"/>
            <p:nvPr/>
          </p:nvSpPr>
          <p:spPr>
            <a:xfrm>
              <a:off x="312336" y="886193"/>
              <a:ext cx="3730929" cy="1913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Su uso adecuado permite que los bloqueos no pasen desapercibidos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/>
          <p:nvPr/>
        </p:nvSpPr>
        <p:spPr>
          <a:xfrm>
            <a:off x="1085139" y="1028700"/>
            <a:ext cx="16117723" cy="8229600"/>
          </a:xfrm>
          <a:custGeom>
            <a:rect b="b" l="l" r="r" t="t"/>
            <a:pathLst>
              <a:path extrusionOk="0" h="16247872" w="31821558">
                <a:moveTo>
                  <a:pt x="31697098" y="59690"/>
                </a:moveTo>
                <a:cubicBezTo>
                  <a:pt x="31732658" y="59690"/>
                  <a:pt x="31761866" y="88900"/>
                  <a:pt x="31761866" y="124460"/>
                </a:cubicBezTo>
                <a:lnTo>
                  <a:pt x="31761866" y="16123411"/>
                </a:lnTo>
                <a:cubicBezTo>
                  <a:pt x="31761866" y="16158972"/>
                  <a:pt x="31732658" y="16188181"/>
                  <a:pt x="31697098" y="16188181"/>
                </a:cubicBezTo>
                <a:lnTo>
                  <a:pt x="124460" y="16188181"/>
                </a:lnTo>
                <a:cubicBezTo>
                  <a:pt x="88900" y="16188181"/>
                  <a:pt x="59690" y="16158972"/>
                  <a:pt x="59690" y="16123411"/>
                </a:cubicBezTo>
                <a:lnTo>
                  <a:pt x="59690" y="124460"/>
                </a:lnTo>
                <a:cubicBezTo>
                  <a:pt x="59690" y="88900"/>
                  <a:pt x="88900" y="59690"/>
                  <a:pt x="124460" y="59690"/>
                </a:cubicBezTo>
                <a:lnTo>
                  <a:pt x="31697098" y="59690"/>
                </a:lnTo>
                <a:moveTo>
                  <a:pt x="31697098" y="0"/>
                </a:moveTo>
                <a:lnTo>
                  <a:pt x="124460" y="0"/>
                </a:lnTo>
                <a:cubicBezTo>
                  <a:pt x="55880" y="0"/>
                  <a:pt x="0" y="55880"/>
                  <a:pt x="0" y="124460"/>
                </a:cubicBezTo>
                <a:lnTo>
                  <a:pt x="0" y="16123411"/>
                </a:lnTo>
                <a:cubicBezTo>
                  <a:pt x="0" y="16191992"/>
                  <a:pt x="55880" y="16247872"/>
                  <a:pt x="124460" y="16247872"/>
                </a:cubicBezTo>
                <a:lnTo>
                  <a:pt x="31697098" y="16247872"/>
                </a:lnTo>
                <a:cubicBezTo>
                  <a:pt x="31765677" y="16247872"/>
                  <a:pt x="31821558" y="16191992"/>
                  <a:pt x="31821558" y="16123411"/>
                </a:cubicBezTo>
                <a:lnTo>
                  <a:pt x="31821558" y="124460"/>
                </a:lnTo>
                <a:cubicBezTo>
                  <a:pt x="31821558" y="55880"/>
                  <a:pt x="31765677" y="0"/>
                  <a:pt x="31697098" y="0"/>
                </a:cubicBez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4" name="Google Shape;304;p9"/>
          <p:cNvGrpSpPr/>
          <p:nvPr/>
        </p:nvGrpSpPr>
        <p:grpSpPr>
          <a:xfrm>
            <a:off x="1085139" y="1028700"/>
            <a:ext cx="16117721" cy="1160134"/>
            <a:chOff x="0" y="0"/>
            <a:chExt cx="21490296" cy="1546845"/>
          </a:xfrm>
        </p:grpSpPr>
        <p:grpSp>
          <p:nvGrpSpPr>
            <p:cNvPr id="305" name="Google Shape;305;p9"/>
            <p:cNvGrpSpPr/>
            <p:nvPr/>
          </p:nvGrpSpPr>
          <p:grpSpPr>
            <a:xfrm>
              <a:off x="0" y="0"/>
              <a:ext cx="21490296" cy="1546845"/>
              <a:chOff x="0" y="0"/>
              <a:chExt cx="31091640" cy="2237938"/>
            </a:xfrm>
          </p:grpSpPr>
          <p:sp>
            <p:nvSpPr>
              <p:cNvPr id="306" name="Google Shape;306;p9"/>
              <p:cNvSpPr/>
              <p:nvPr/>
            </p:nvSpPr>
            <p:spPr>
              <a:xfrm>
                <a:off x="31750" y="31750"/>
                <a:ext cx="31028140" cy="2174438"/>
              </a:xfrm>
              <a:custGeom>
                <a:rect b="b" l="l" r="r" t="t"/>
                <a:pathLst>
                  <a:path extrusionOk="0" h="2174438" w="31028140">
                    <a:moveTo>
                      <a:pt x="30935433" y="2174438"/>
                    </a:moveTo>
                    <a:lnTo>
                      <a:pt x="92710" y="2174438"/>
                    </a:lnTo>
                    <a:cubicBezTo>
                      <a:pt x="41910" y="2174438"/>
                      <a:pt x="0" y="2132528"/>
                      <a:pt x="0" y="20817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0934161" y="0"/>
                    </a:lnTo>
                    <a:cubicBezTo>
                      <a:pt x="30984961" y="0"/>
                      <a:pt x="31026872" y="41910"/>
                      <a:pt x="31026872" y="92710"/>
                    </a:cubicBezTo>
                    <a:lnTo>
                      <a:pt x="31026872" y="2080458"/>
                    </a:lnTo>
                    <a:cubicBezTo>
                      <a:pt x="31028140" y="2132528"/>
                      <a:pt x="30986233" y="2174438"/>
                      <a:pt x="30935433" y="21744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9"/>
              <p:cNvSpPr/>
              <p:nvPr/>
            </p:nvSpPr>
            <p:spPr>
              <a:xfrm>
                <a:off x="0" y="0"/>
                <a:ext cx="31091640" cy="2237938"/>
              </a:xfrm>
              <a:custGeom>
                <a:rect b="b" l="l" r="r" t="t"/>
                <a:pathLst>
                  <a:path extrusionOk="0" h="2237938" w="31091640">
                    <a:moveTo>
                      <a:pt x="30967183" y="59690"/>
                    </a:moveTo>
                    <a:cubicBezTo>
                      <a:pt x="31002740" y="59690"/>
                      <a:pt x="31031951" y="88900"/>
                      <a:pt x="31031951" y="124460"/>
                    </a:cubicBezTo>
                    <a:lnTo>
                      <a:pt x="31031951" y="2113478"/>
                    </a:lnTo>
                    <a:cubicBezTo>
                      <a:pt x="31031951" y="2149038"/>
                      <a:pt x="31002740" y="2178248"/>
                      <a:pt x="30967183" y="2178248"/>
                    </a:cubicBezTo>
                    <a:lnTo>
                      <a:pt x="124460" y="2178248"/>
                    </a:lnTo>
                    <a:cubicBezTo>
                      <a:pt x="88900" y="2178248"/>
                      <a:pt x="59690" y="2149038"/>
                      <a:pt x="59690" y="211347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0967183" y="59690"/>
                    </a:lnTo>
                    <a:moveTo>
                      <a:pt x="3096718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13478"/>
                    </a:lnTo>
                    <a:cubicBezTo>
                      <a:pt x="0" y="2182058"/>
                      <a:pt x="55880" y="2237938"/>
                      <a:pt x="124460" y="2237938"/>
                    </a:cubicBezTo>
                    <a:lnTo>
                      <a:pt x="30967183" y="2237938"/>
                    </a:lnTo>
                    <a:cubicBezTo>
                      <a:pt x="31035761" y="2237938"/>
                      <a:pt x="31091640" y="2182058"/>
                      <a:pt x="31091640" y="2113478"/>
                    </a:cubicBezTo>
                    <a:lnTo>
                      <a:pt x="31091640" y="124460"/>
                    </a:lnTo>
                    <a:cubicBezTo>
                      <a:pt x="31091640" y="55880"/>
                      <a:pt x="31035761" y="0"/>
                      <a:pt x="309671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8" name="Google Shape;308;p9"/>
            <p:cNvSpPr/>
            <p:nvPr/>
          </p:nvSpPr>
          <p:spPr>
            <a:xfrm>
              <a:off x="20331621" y="484496"/>
              <a:ext cx="577853" cy="577853"/>
            </a:xfrm>
            <a:custGeom>
              <a:rect b="b" l="l" r="r" t="t"/>
              <a:pathLst>
                <a:path extrusionOk="0" h="577853" w="577853">
                  <a:moveTo>
                    <a:pt x="0" y="0"/>
                  </a:moveTo>
                  <a:lnTo>
                    <a:pt x="577853" y="0"/>
                  </a:lnTo>
                  <a:lnTo>
                    <a:pt x="577853" y="577853"/>
                  </a:lnTo>
                  <a:lnTo>
                    <a:pt x="0" y="5778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9" name="Google Shape;309;p9"/>
            <p:cNvSpPr txBox="1"/>
            <p:nvPr/>
          </p:nvSpPr>
          <p:spPr>
            <a:xfrm>
              <a:off x="558560" y="247224"/>
              <a:ext cx="740823" cy="1034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310" name="Google Shape;310;p9"/>
            <p:cNvSpPr txBox="1"/>
            <p:nvPr/>
          </p:nvSpPr>
          <p:spPr>
            <a:xfrm>
              <a:off x="1798981" y="206968"/>
              <a:ext cx="9762084" cy="1009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IN PROGRESS</a:t>
              </a:r>
              <a:endParaRPr/>
            </a:p>
          </p:txBody>
        </p:sp>
      </p:grpSp>
      <p:grpSp>
        <p:nvGrpSpPr>
          <p:cNvPr id="311" name="Google Shape;311;p9"/>
          <p:cNvGrpSpPr/>
          <p:nvPr/>
        </p:nvGrpSpPr>
        <p:grpSpPr>
          <a:xfrm>
            <a:off x="1652362" y="2695251"/>
            <a:ext cx="3266700" cy="3527157"/>
            <a:chOff x="0" y="0"/>
            <a:chExt cx="4355600" cy="4702876"/>
          </a:xfrm>
        </p:grpSpPr>
        <p:grpSp>
          <p:nvGrpSpPr>
            <p:cNvPr id="312" name="Google Shape;312;p9"/>
            <p:cNvGrpSpPr/>
            <p:nvPr/>
          </p:nvGrpSpPr>
          <p:grpSpPr>
            <a:xfrm>
              <a:off x="0" y="0"/>
              <a:ext cx="4355600" cy="4702876"/>
              <a:chOff x="0" y="0"/>
              <a:chExt cx="3603011" cy="3890282"/>
            </a:xfrm>
          </p:grpSpPr>
          <p:sp>
            <p:nvSpPr>
              <p:cNvPr id="313" name="Google Shape;313;p9"/>
              <p:cNvSpPr/>
              <p:nvPr/>
            </p:nvSpPr>
            <p:spPr>
              <a:xfrm>
                <a:off x="57150" y="58420"/>
                <a:ext cx="3533161" cy="3819162"/>
              </a:xfrm>
              <a:custGeom>
                <a:rect b="b" l="l" r="r" t="t"/>
                <a:pathLst>
                  <a:path extrusionOk="0" h="3819162" w="3533161">
                    <a:moveTo>
                      <a:pt x="3448071" y="3788682"/>
                    </a:moveTo>
                    <a:lnTo>
                      <a:pt x="0" y="3788682"/>
                    </a:lnTo>
                    <a:cubicBezTo>
                      <a:pt x="5080" y="3806462"/>
                      <a:pt x="21590" y="3819162"/>
                      <a:pt x="40640" y="3819162"/>
                    </a:cubicBezTo>
                    <a:lnTo>
                      <a:pt x="3489981" y="3819162"/>
                    </a:lnTo>
                    <a:cubicBezTo>
                      <a:pt x="3514111" y="3819162"/>
                      <a:pt x="3533161" y="3800112"/>
                      <a:pt x="3533161" y="3775982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3732802"/>
                    </a:lnTo>
                    <a:cubicBezTo>
                      <a:pt x="3503951" y="3763282"/>
                      <a:pt x="3478551" y="3788682"/>
                      <a:pt x="3448071" y="3788682"/>
                    </a:cubicBez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9"/>
              <p:cNvSpPr/>
              <p:nvPr/>
            </p:nvSpPr>
            <p:spPr>
              <a:xfrm>
                <a:off x="12700" y="12700"/>
                <a:ext cx="3535701" cy="3821702"/>
              </a:xfrm>
              <a:custGeom>
                <a:rect b="b" l="l" r="r" t="t"/>
                <a:pathLst>
                  <a:path extrusionOk="0" h="3821702" w="3535701">
                    <a:moveTo>
                      <a:pt x="43180" y="3821702"/>
                    </a:moveTo>
                    <a:lnTo>
                      <a:pt x="3492521" y="3821702"/>
                    </a:lnTo>
                    <a:cubicBezTo>
                      <a:pt x="3516651" y="3821702"/>
                      <a:pt x="3535701" y="3802652"/>
                      <a:pt x="3535701" y="3778522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778522"/>
                    </a:lnTo>
                    <a:cubicBezTo>
                      <a:pt x="0" y="3802652"/>
                      <a:pt x="19050" y="3821702"/>
                      <a:pt x="43180" y="38217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9"/>
              <p:cNvSpPr/>
              <p:nvPr/>
            </p:nvSpPr>
            <p:spPr>
              <a:xfrm>
                <a:off x="0" y="0"/>
                <a:ext cx="3603011" cy="3890282"/>
              </a:xfrm>
              <a:custGeom>
                <a:rect b="b" l="l" r="r" t="t"/>
                <a:pathLst>
                  <a:path extrusionOk="0" h="3890282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791222"/>
                    </a:lnTo>
                    <a:cubicBezTo>
                      <a:pt x="0" y="3817892"/>
                      <a:pt x="17780" y="3839482"/>
                      <a:pt x="43180" y="3845832"/>
                    </a:cubicBezTo>
                    <a:cubicBezTo>
                      <a:pt x="48260" y="3871232"/>
                      <a:pt x="71120" y="3890282"/>
                      <a:pt x="97790" y="3890282"/>
                    </a:cubicBezTo>
                    <a:lnTo>
                      <a:pt x="3547131" y="3890282"/>
                    </a:lnTo>
                    <a:cubicBezTo>
                      <a:pt x="3577611" y="3890282"/>
                      <a:pt x="3603011" y="3864882"/>
                      <a:pt x="3603011" y="3834402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791222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791222"/>
                    </a:lnTo>
                    <a:cubicBezTo>
                      <a:pt x="3548401" y="3815352"/>
                      <a:pt x="3529351" y="3834402"/>
                      <a:pt x="3505221" y="3834402"/>
                    </a:cubicBezTo>
                    <a:lnTo>
                      <a:pt x="55880" y="3834402"/>
                    </a:lnTo>
                    <a:cubicBezTo>
                      <a:pt x="31750" y="3834402"/>
                      <a:pt x="12700" y="3815352"/>
                      <a:pt x="12700" y="3791222"/>
                    </a:cubicBezTo>
                    <a:close/>
                    <a:moveTo>
                      <a:pt x="3590311" y="3834402"/>
                    </a:moveTo>
                    <a:cubicBezTo>
                      <a:pt x="3590311" y="3858532"/>
                      <a:pt x="3571261" y="3877582"/>
                      <a:pt x="3547131" y="3877582"/>
                    </a:cubicBezTo>
                    <a:lnTo>
                      <a:pt x="97790" y="3877582"/>
                    </a:lnTo>
                    <a:cubicBezTo>
                      <a:pt x="78740" y="3877582"/>
                      <a:pt x="62230" y="3864882"/>
                      <a:pt x="57150" y="3847102"/>
                    </a:cubicBezTo>
                    <a:lnTo>
                      <a:pt x="3505221" y="3847102"/>
                    </a:lnTo>
                    <a:cubicBezTo>
                      <a:pt x="3535701" y="3847102"/>
                      <a:pt x="3561101" y="3821702"/>
                      <a:pt x="3561101" y="3791222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834402"/>
                    </a:ln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6" name="Google Shape;316;p9"/>
            <p:cNvSpPr txBox="1"/>
            <p:nvPr/>
          </p:nvSpPr>
          <p:spPr>
            <a:xfrm>
              <a:off x="312336" y="886193"/>
              <a:ext cx="3730929" cy="28447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Es el conjunto de tareas que están siendo ejecutadas activamente por el equipo en ese momento</a:t>
              </a:r>
              <a:endParaRPr/>
            </a:p>
          </p:txBody>
        </p:sp>
      </p:grpSp>
      <p:grpSp>
        <p:nvGrpSpPr>
          <p:cNvPr id="317" name="Google Shape;317;p9"/>
          <p:cNvGrpSpPr/>
          <p:nvPr/>
        </p:nvGrpSpPr>
        <p:grpSpPr>
          <a:xfrm>
            <a:off x="5595817" y="5318184"/>
            <a:ext cx="3266700" cy="3177789"/>
            <a:chOff x="0" y="0"/>
            <a:chExt cx="4355600" cy="4237052"/>
          </a:xfrm>
        </p:grpSpPr>
        <p:grpSp>
          <p:nvGrpSpPr>
            <p:cNvPr id="318" name="Google Shape;318;p9"/>
            <p:cNvGrpSpPr/>
            <p:nvPr/>
          </p:nvGrpSpPr>
          <p:grpSpPr>
            <a:xfrm>
              <a:off x="0" y="0"/>
              <a:ext cx="4355600" cy="4237052"/>
              <a:chOff x="0" y="0"/>
              <a:chExt cx="3603011" cy="3504947"/>
            </a:xfrm>
          </p:grpSpPr>
          <p:sp>
            <p:nvSpPr>
              <p:cNvPr id="319" name="Google Shape;319;p9"/>
              <p:cNvSpPr/>
              <p:nvPr/>
            </p:nvSpPr>
            <p:spPr>
              <a:xfrm>
                <a:off x="57150" y="58420"/>
                <a:ext cx="3533161" cy="3433827"/>
              </a:xfrm>
              <a:custGeom>
                <a:rect b="b" l="l" r="r" t="t"/>
                <a:pathLst>
                  <a:path extrusionOk="0" h="3433827" w="3533161">
                    <a:moveTo>
                      <a:pt x="3448071" y="3403347"/>
                    </a:moveTo>
                    <a:lnTo>
                      <a:pt x="0" y="3403347"/>
                    </a:lnTo>
                    <a:cubicBezTo>
                      <a:pt x="5080" y="3421127"/>
                      <a:pt x="21590" y="3433827"/>
                      <a:pt x="40640" y="3433827"/>
                    </a:cubicBezTo>
                    <a:lnTo>
                      <a:pt x="3489981" y="3433827"/>
                    </a:lnTo>
                    <a:cubicBezTo>
                      <a:pt x="3514111" y="3433827"/>
                      <a:pt x="3533161" y="3414777"/>
                      <a:pt x="3533161" y="3390647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3347467"/>
                    </a:lnTo>
                    <a:cubicBezTo>
                      <a:pt x="3503951" y="3377947"/>
                      <a:pt x="3478551" y="3403347"/>
                      <a:pt x="3448071" y="3403347"/>
                    </a:cubicBez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9"/>
              <p:cNvSpPr/>
              <p:nvPr/>
            </p:nvSpPr>
            <p:spPr>
              <a:xfrm>
                <a:off x="12700" y="12700"/>
                <a:ext cx="3535701" cy="3436367"/>
              </a:xfrm>
              <a:custGeom>
                <a:rect b="b" l="l" r="r" t="t"/>
                <a:pathLst>
                  <a:path extrusionOk="0" h="3436367" w="3535701">
                    <a:moveTo>
                      <a:pt x="43180" y="3436367"/>
                    </a:moveTo>
                    <a:lnTo>
                      <a:pt x="3492521" y="3436367"/>
                    </a:lnTo>
                    <a:cubicBezTo>
                      <a:pt x="3516651" y="3436367"/>
                      <a:pt x="3535701" y="3417317"/>
                      <a:pt x="3535701" y="3393187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393187"/>
                    </a:lnTo>
                    <a:cubicBezTo>
                      <a:pt x="0" y="3417317"/>
                      <a:pt x="19050" y="3436367"/>
                      <a:pt x="43180" y="343636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9"/>
              <p:cNvSpPr/>
              <p:nvPr/>
            </p:nvSpPr>
            <p:spPr>
              <a:xfrm>
                <a:off x="0" y="0"/>
                <a:ext cx="3603011" cy="3504947"/>
              </a:xfrm>
              <a:custGeom>
                <a:rect b="b" l="l" r="r" t="t"/>
                <a:pathLst>
                  <a:path extrusionOk="0" h="3504947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405887"/>
                    </a:lnTo>
                    <a:cubicBezTo>
                      <a:pt x="0" y="3432556"/>
                      <a:pt x="17780" y="3454147"/>
                      <a:pt x="43180" y="3460497"/>
                    </a:cubicBezTo>
                    <a:cubicBezTo>
                      <a:pt x="48260" y="3485897"/>
                      <a:pt x="71120" y="3504947"/>
                      <a:pt x="97790" y="3504947"/>
                    </a:cubicBezTo>
                    <a:lnTo>
                      <a:pt x="3547131" y="3504947"/>
                    </a:lnTo>
                    <a:cubicBezTo>
                      <a:pt x="3577611" y="3504947"/>
                      <a:pt x="3603011" y="3479547"/>
                      <a:pt x="3603011" y="3449067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405887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405887"/>
                    </a:lnTo>
                    <a:cubicBezTo>
                      <a:pt x="3548401" y="3430017"/>
                      <a:pt x="3529351" y="3449067"/>
                      <a:pt x="3505221" y="3449067"/>
                    </a:cubicBezTo>
                    <a:lnTo>
                      <a:pt x="55880" y="3449067"/>
                    </a:lnTo>
                    <a:cubicBezTo>
                      <a:pt x="31750" y="3449067"/>
                      <a:pt x="12700" y="3430017"/>
                      <a:pt x="12700" y="3405887"/>
                    </a:cubicBezTo>
                    <a:close/>
                    <a:moveTo>
                      <a:pt x="3590311" y="3449067"/>
                    </a:moveTo>
                    <a:cubicBezTo>
                      <a:pt x="3590311" y="3473197"/>
                      <a:pt x="3571261" y="3492247"/>
                      <a:pt x="3547131" y="3492247"/>
                    </a:cubicBezTo>
                    <a:lnTo>
                      <a:pt x="97790" y="3492247"/>
                    </a:lnTo>
                    <a:cubicBezTo>
                      <a:pt x="78740" y="3492247"/>
                      <a:pt x="62230" y="3479547"/>
                      <a:pt x="57150" y="3461767"/>
                    </a:cubicBezTo>
                    <a:lnTo>
                      <a:pt x="3505221" y="3461767"/>
                    </a:lnTo>
                    <a:cubicBezTo>
                      <a:pt x="3535701" y="3461767"/>
                      <a:pt x="3561101" y="3436367"/>
                      <a:pt x="3561101" y="3405887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449067"/>
                    </a:ln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2" name="Google Shape;322;p9"/>
            <p:cNvSpPr txBox="1"/>
            <p:nvPr/>
          </p:nvSpPr>
          <p:spPr>
            <a:xfrm>
              <a:off x="312336" y="886193"/>
              <a:ext cx="3730929" cy="2378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Los miembros del equipo toman voluntariamente la tarjeta cuando tienen capacidad</a:t>
              </a:r>
              <a:endParaRPr/>
            </a:p>
          </p:txBody>
        </p:sp>
      </p:grpSp>
      <p:grpSp>
        <p:nvGrpSpPr>
          <p:cNvPr id="323" name="Google Shape;323;p9"/>
          <p:cNvGrpSpPr/>
          <p:nvPr/>
        </p:nvGrpSpPr>
        <p:grpSpPr>
          <a:xfrm>
            <a:off x="9334351" y="2695251"/>
            <a:ext cx="3266700" cy="3527157"/>
            <a:chOff x="0" y="0"/>
            <a:chExt cx="4355600" cy="4702876"/>
          </a:xfrm>
        </p:grpSpPr>
        <p:grpSp>
          <p:nvGrpSpPr>
            <p:cNvPr id="324" name="Google Shape;324;p9"/>
            <p:cNvGrpSpPr/>
            <p:nvPr/>
          </p:nvGrpSpPr>
          <p:grpSpPr>
            <a:xfrm>
              <a:off x="0" y="0"/>
              <a:ext cx="4355600" cy="4702876"/>
              <a:chOff x="0" y="0"/>
              <a:chExt cx="3603011" cy="3890282"/>
            </a:xfrm>
          </p:grpSpPr>
          <p:sp>
            <p:nvSpPr>
              <p:cNvPr id="325" name="Google Shape;325;p9"/>
              <p:cNvSpPr/>
              <p:nvPr/>
            </p:nvSpPr>
            <p:spPr>
              <a:xfrm>
                <a:off x="57150" y="58420"/>
                <a:ext cx="3533161" cy="3819162"/>
              </a:xfrm>
              <a:custGeom>
                <a:rect b="b" l="l" r="r" t="t"/>
                <a:pathLst>
                  <a:path extrusionOk="0" h="3819162" w="3533161">
                    <a:moveTo>
                      <a:pt x="3448071" y="3788682"/>
                    </a:moveTo>
                    <a:lnTo>
                      <a:pt x="0" y="3788682"/>
                    </a:lnTo>
                    <a:cubicBezTo>
                      <a:pt x="5080" y="3806462"/>
                      <a:pt x="21590" y="3819162"/>
                      <a:pt x="40640" y="3819162"/>
                    </a:cubicBezTo>
                    <a:lnTo>
                      <a:pt x="3489981" y="3819162"/>
                    </a:lnTo>
                    <a:cubicBezTo>
                      <a:pt x="3514111" y="3819162"/>
                      <a:pt x="3533161" y="3800112"/>
                      <a:pt x="3533161" y="3775982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3732802"/>
                    </a:lnTo>
                    <a:cubicBezTo>
                      <a:pt x="3503951" y="3763282"/>
                      <a:pt x="3478551" y="3788682"/>
                      <a:pt x="3448071" y="3788682"/>
                    </a:cubicBez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9"/>
              <p:cNvSpPr/>
              <p:nvPr/>
            </p:nvSpPr>
            <p:spPr>
              <a:xfrm>
                <a:off x="12700" y="12700"/>
                <a:ext cx="3535701" cy="3821702"/>
              </a:xfrm>
              <a:custGeom>
                <a:rect b="b" l="l" r="r" t="t"/>
                <a:pathLst>
                  <a:path extrusionOk="0" h="3821702" w="3535701">
                    <a:moveTo>
                      <a:pt x="43180" y="3821702"/>
                    </a:moveTo>
                    <a:lnTo>
                      <a:pt x="3492521" y="3821702"/>
                    </a:lnTo>
                    <a:cubicBezTo>
                      <a:pt x="3516651" y="3821702"/>
                      <a:pt x="3535701" y="3802652"/>
                      <a:pt x="3535701" y="3778522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778522"/>
                    </a:lnTo>
                    <a:cubicBezTo>
                      <a:pt x="0" y="3802652"/>
                      <a:pt x="19050" y="3821702"/>
                      <a:pt x="43180" y="38217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9"/>
              <p:cNvSpPr/>
              <p:nvPr/>
            </p:nvSpPr>
            <p:spPr>
              <a:xfrm>
                <a:off x="0" y="0"/>
                <a:ext cx="3603011" cy="3890282"/>
              </a:xfrm>
              <a:custGeom>
                <a:rect b="b" l="l" r="r" t="t"/>
                <a:pathLst>
                  <a:path extrusionOk="0" h="3890282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791222"/>
                    </a:lnTo>
                    <a:cubicBezTo>
                      <a:pt x="0" y="3817892"/>
                      <a:pt x="17780" y="3839482"/>
                      <a:pt x="43180" y="3845832"/>
                    </a:cubicBezTo>
                    <a:cubicBezTo>
                      <a:pt x="48260" y="3871232"/>
                      <a:pt x="71120" y="3890282"/>
                      <a:pt x="97790" y="3890282"/>
                    </a:cubicBezTo>
                    <a:lnTo>
                      <a:pt x="3547131" y="3890282"/>
                    </a:lnTo>
                    <a:cubicBezTo>
                      <a:pt x="3577611" y="3890282"/>
                      <a:pt x="3603011" y="3864882"/>
                      <a:pt x="3603011" y="3834402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791222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791222"/>
                    </a:lnTo>
                    <a:cubicBezTo>
                      <a:pt x="3548401" y="3815352"/>
                      <a:pt x="3529351" y="3834402"/>
                      <a:pt x="3505221" y="3834402"/>
                    </a:cubicBezTo>
                    <a:lnTo>
                      <a:pt x="55880" y="3834402"/>
                    </a:lnTo>
                    <a:cubicBezTo>
                      <a:pt x="31750" y="3834402"/>
                      <a:pt x="12700" y="3815352"/>
                      <a:pt x="12700" y="3791222"/>
                    </a:cubicBezTo>
                    <a:close/>
                    <a:moveTo>
                      <a:pt x="3590311" y="3834402"/>
                    </a:moveTo>
                    <a:cubicBezTo>
                      <a:pt x="3590311" y="3858532"/>
                      <a:pt x="3571261" y="3877582"/>
                      <a:pt x="3547131" y="3877582"/>
                    </a:cubicBezTo>
                    <a:lnTo>
                      <a:pt x="97790" y="3877582"/>
                    </a:lnTo>
                    <a:cubicBezTo>
                      <a:pt x="78740" y="3877582"/>
                      <a:pt x="62230" y="3864882"/>
                      <a:pt x="57150" y="3847102"/>
                    </a:cubicBezTo>
                    <a:lnTo>
                      <a:pt x="3505221" y="3847102"/>
                    </a:lnTo>
                    <a:cubicBezTo>
                      <a:pt x="3535701" y="3847102"/>
                      <a:pt x="3561101" y="3821702"/>
                      <a:pt x="3561101" y="3791222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834402"/>
                    </a:ln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8" name="Google Shape;328;p9"/>
            <p:cNvSpPr txBox="1"/>
            <p:nvPr/>
          </p:nvSpPr>
          <p:spPr>
            <a:xfrm>
              <a:off x="312336" y="886193"/>
              <a:ext cx="3730929" cy="28447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Pueden convivir tareas de distinta naturaleza (desarrollo, análisis, diseño, documentación, etc.)</a:t>
              </a:r>
              <a:endParaRPr/>
            </a:p>
          </p:txBody>
        </p:sp>
      </p:grpSp>
      <p:grpSp>
        <p:nvGrpSpPr>
          <p:cNvPr id="329" name="Google Shape;329;p9"/>
          <p:cNvGrpSpPr/>
          <p:nvPr/>
        </p:nvGrpSpPr>
        <p:grpSpPr>
          <a:xfrm>
            <a:off x="13277326" y="4968816"/>
            <a:ext cx="3266700" cy="3876525"/>
            <a:chOff x="0" y="0"/>
            <a:chExt cx="4355600" cy="5168699"/>
          </a:xfrm>
        </p:grpSpPr>
        <p:grpSp>
          <p:nvGrpSpPr>
            <p:cNvPr id="330" name="Google Shape;330;p9"/>
            <p:cNvGrpSpPr/>
            <p:nvPr/>
          </p:nvGrpSpPr>
          <p:grpSpPr>
            <a:xfrm>
              <a:off x="0" y="0"/>
              <a:ext cx="4355600" cy="5168699"/>
              <a:chOff x="0" y="0"/>
              <a:chExt cx="3603011" cy="4275618"/>
            </a:xfrm>
          </p:grpSpPr>
          <p:sp>
            <p:nvSpPr>
              <p:cNvPr id="331" name="Google Shape;331;p9"/>
              <p:cNvSpPr/>
              <p:nvPr/>
            </p:nvSpPr>
            <p:spPr>
              <a:xfrm>
                <a:off x="57150" y="58420"/>
                <a:ext cx="3533161" cy="4204498"/>
              </a:xfrm>
              <a:custGeom>
                <a:rect b="b" l="l" r="r" t="t"/>
                <a:pathLst>
                  <a:path extrusionOk="0" h="4204498" w="3533161">
                    <a:moveTo>
                      <a:pt x="3448071" y="4174018"/>
                    </a:moveTo>
                    <a:lnTo>
                      <a:pt x="0" y="4174018"/>
                    </a:lnTo>
                    <a:cubicBezTo>
                      <a:pt x="5080" y="4191798"/>
                      <a:pt x="21590" y="4204498"/>
                      <a:pt x="40640" y="4204498"/>
                    </a:cubicBezTo>
                    <a:lnTo>
                      <a:pt x="3489981" y="4204498"/>
                    </a:lnTo>
                    <a:cubicBezTo>
                      <a:pt x="3514111" y="4204498"/>
                      <a:pt x="3533161" y="4185448"/>
                      <a:pt x="3533161" y="4161318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4118138"/>
                    </a:lnTo>
                    <a:cubicBezTo>
                      <a:pt x="3503951" y="4148618"/>
                      <a:pt x="3478551" y="4174018"/>
                      <a:pt x="3448071" y="4174018"/>
                    </a:cubicBez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9"/>
              <p:cNvSpPr/>
              <p:nvPr/>
            </p:nvSpPr>
            <p:spPr>
              <a:xfrm>
                <a:off x="12700" y="12700"/>
                <a:ext cx="3535701" cy="4207038"/>
              </a:xfrm>
              <a:custGeom>
                <a:rect b="b" l="l" r="r" t="t"/>
                <a:pathLst>
                  <a:path extrusionOk="0" h="4207038" w="3535701">
                    <a:moveTo>
                      <a:pt x="43180" y="4207038"/>
                    </a:moveTo>
                    <a:lnTo>
                      <a:pt x="3492521" y="4207038"/>
                    </a:lnTo>
                    <a:cubicBezTo>
                      <a:pt x="3516651" y="4207038"/>
                      <a:pt x="3535701" y="4187988"/>
                      <a:pt x="3535701" y="4163858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4163858"/>
                    </a:lnTo>
                    <a:cubicBezTo>
                      <a:pt x="0" y="4187988"/>
                      <a:pt x="19050" y="4207038"/>
                      <a:pt x="43180" y="42070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9"/>
              <p:cNvSpPr/>
              <p:nvPr/>
            </p:nvSpPr>
            <p:spPr>
              <a:xfrm>
                <a:off x="0" y="0"/>
                <a:ext cx="3603011" cy="4275618"/>
              </a:xfrm>
              <a:custGeom>
                <a:rect b="b" l="l" r="r" t="t"/>
                <a:pathLst>
                  <a:path extrusionOk="0" h="4275618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4176558"/>
                    </a:lnTo>
                    <a:cubicBezTo>
                      <a:pt x="0" y="4203228"/>
                      <a:pt x="17780" y="4224818"/>
                      <a:pt x="43180" y="4231168"/>
                    </a:cubicBezTo>
                    <a:cubicBezTo>
                      <a:pt x="48260" y="4256568"/>
                      <a:pt x="71120" y="4275618"/>
                      <a:pt x="97790" y="4275618"/>
                    </a:cubicBezTo>
                    <a:lnTo>
                      <a:pt x="3547131" y="4275618"/>
                    </a:lnTo>
                    <a:cubicBezTo>
                      <a:pt x="3577611" y="4275618"/>
                      <a:pt x="3603011" y="4250218"/>
                      <a:pt x="3603011" y="4219738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4176558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4176558"/>
                    </a:lnTo>
                    <a:cubicBezTo>
                      <a:pt x="3548401" y="4200688"/>
                      <a:pt x="3529351" y="4219738"/>
                      <a:pt x="3505221" y="4219738"/>
                    </a:cubicBezTo>
                    <a:lnTo>
                      <a:pt x="55880" y="4219738"/>
                    </a:lnTo>
                    <a:cubicBezTo>
                      <a:pt x="31750" y="4219738"/>
                      <a:pt x="12700" y="4200688"/>
                      <a:pt x="12700" y="4176558"/>
                    </a:cubicBezTo>
                    <a:close/>
                    <a:moveTo>
                      <a:pt x="3590311" y="4219738"/>
                    </a:moveTo>
                    <a:cubicBezTo>
                      <a:pt x="3590311" y="4243868"/>
                      <a:pt x="3571261" y="4262918"/>
                      <a:pt x="3547131" y="4262918"/>
                    </a:cubicBezTo>
                    <a:lnTo>
                      <a:pt x="97790" y="4262918"/>
                    </a:lnTo>
                    <a:cubicBezTo>
                      <a:pt x="78740" y="4262918"/>
                      <a:pt x="62230" y="4250218"/>
                      <a:pt x="57150" y="4232438"/>
                    </a:cubicBezTo>
                    <a:lnTo>
                      <a:pt x="3505221" y="4232438"/>
                    </a:lnTo>
                    <a:cubicBezTo>
                      <a:pt x="3535701" y="4232438"/>
                      <a:pt x="3561101" y="4207038"/>
                      <a:pt x="3561101" y="4176558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4219738"/>
                    </a:ln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4" name="Google Shape;334;p9"/>
            <p:cNvSpPr txBox="1"/>
            <p:nvPr/>
          </p:nvSpPr>
          <p:spPr>
            <a:xfrm>
              <a:off x="312336" y="886193"/>
              <a:ext cx="3730929" cy="3310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Las tareas que pasan demasiado tiempo en esta columna pueden analizarse en retrospectivas para identificar causas de demora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0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"/>
          <p:cNvSpPr/>
          <p:nvPr/>
        </p:nvSpPr>
        <p:spPr>
          <a:xfrm>
            <a:off x="1085139" y="1028700"/>
            <a:ext cx="16117723" cy="8229600"/>
          </a:xfrm>
          <a:custGeom>
            <a:rect b="b" l="l" r="r" t="t"/>
            <a:pathLst>
              <a:path extrusionOk="0" h="16247872" w="31821558">
                <a:moveTo>
                  <a:pt x="31697098" y="59690"/>
                </a:moveTo>
                <a:cubicBezTo>
                  <a:pt x="31732658" y="59690"/>
                  <a:pt x="31761866" y="88900"/>
                  <a:pt x="31761866" y="124460"/>
                </a:cubicBezTo>
                <a:lnTo>
                  <a:pt x="31761866" y="16123411"/>
                </a:lnTo>
                <a:cubicBezTo>
                  <a:pt x="31761866" y="16158972"/>
                  <a:pt x="31732658" y="16188181"/>
                  <a:pt x="31697098" y="16188181"/>
                </a:cubicBezTo>
                <a:lnTo>
                  <a:pt x="124460" y="16188181"/>
                </a:lnTo>
                <a:cubicBezTo>
                  <a:pt x="88900" y="16188181"/>
                  <a:pt x="59690" y="16158972"/>
                  <a:pt x="59690" y="16123411"/>
                </a:cubicBezTo>
                <a:lnTo>
                  <a:pt x="59690" y="124460"/>
                </a:lnTo>
                <a:cubicBezTo>
                  <a:pt x="59690" y="88900"/>
                  <a:pt x="88900" y="59690"/>
                  <a:pt x="124460" y="59690"/>
                </a:cubicBezTo>
                <a:lnTo>
                  <a:pt x="31697098" y="59690"/>
                </a:lnTo>
                <a:moveTo>
                  <a:pt x="31697098" y="0"/>
                </a:moveTo>
                <a:lnTo>
                  <a:pt x="124460" y="0"/>
                </a:lnTo>
                <a:cubicBezTo>
                  <a:pt x="55880" y="0"/>
                  <a:pt x="0" y="55880"/>
                  <a:pt x="0" y="124460"/>
                </a:cubicBezTo>
                <a:lnTo>
                  <a:pt x="0" y="16123411"/>
                </a:lnTo>
                <a:cubicBezTo>
                  <a:pt x="0" y="16191992"/>
                  <a:pt x="55880" y="16247872"/>
                  <a:pt x="124460" y="16247872"/>
                </a:cubicBezTo>
                <a:lnTo>
                  <a:pt x="31697098" y="16247872"/>
                </a:lnTo>
                <a:cubicBezTo>
                  <a:pt x="31765677" y="16247872"/>
                  <a:pt x="31821558" y="16191992"/>
                  <a:pt x="31821558" y="16123411"/>
                </a:cubicBezTo>
                <a:lnTo>
                  <a:pt x="31821558" y="124460"/>
                </a:lnTo>
                <a:cubicBezTo>
                  <a:pt x="31821558" y="55880"/>
                  <a:pt x="31765677" y="0"/>
                  <a:pt x="31697098" y="0"/>
                </a:cubicBez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0" name="Google Shape;340;p10"/>
          <p:cNvGrpSpPr/>
          <p:nvPr/>
        </p:nvGrpSpPr>
        <p:grpSpPr>
          <a:xfrm>
            <a:off x="1085139" y="1028700"/>
            <a:ext cx="16117721" cy="1158907"/>
            <a:chOff x="0" y="0"/>
            <a:chExt cx="21490296" cy="1545210"/>
          </a:xfrm>
        </p:grpSpPr>
        <p:grpSp>
          <p:nvGrpSpPr>
            <p:cNvPr id="341" name="Google Shape;341;p10"/>
            <p:cNvGrpSpPr/>
            <p:nvPr/>
          </p:nvGrpSpPr>
          <p:grpSpPr>
            <a:xfrm>
              <a:off x="0" y="0"/>
              <a:ext cx="21490296" cy="1545210"/>
              <a:chOff x="0" y="0"/>
              <a:chExt cx="31091640" cy="2235572"/>
            </a:xfrm>
          </p:grpSpPr>
          <p:sp>
            <p:nvSpPr>
              <p:cNvPr id="342" name="Google Shape;342;p10"/>
              <p:cNvSpPr/>
              <p:nvPr/>
            </p:nvSpPr>
            <p:spPr>
              <a:xfrm>
                <a:off x="31750" y="31750"/>
                <a:ext cx="31028140" cy="2172072"/>
              </a:xfrm>
              <a:custGeom>
                <a:rect b="b" l="l" r="r" t="t"/>
                <a:pathLst>
                  <a:path extrusionOk="0" h="2172072" w="31028140">
                    <a:moveTo>
                      <a:pt x="30935433" y="2172072"/>
                    </a:moveTo>
                    <a:lnTo>
                      <a:pt x="92710" y="2172072"/>
                    </a:lnTo>
                    <a:cubicBezTo>
                      <a:pt x="41910" y="2172072"/>
                      <a:pt x="0" y="2130162"/>
                      <a:pt x="0" y="2079362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0934161" y="0"/>
                    </a:lnTo>
                    <a:cubicBezTo>
                      <a:pt x="30984961" y="0"/>
                      <a:pt x="31026872" y="41910"/>
                      <a:pt x="31026872" y="92710"/>
                    </a:cubicBezTo>
                    <a:lnTo>
                      <a:pt x="31026872" y="2078092"/>
                    </a:lnTo>
                    <a:cubicBezTo>
                      <a:pt x="31028140" y="2130162"/>
                      <a:pt x="30986233" y="2172072"/>
                      <a:pt x="30935433" y="21720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10"/>
              <p:cNvSpPr/>
              <p:nvPr/>
            </p:nvSpPr>
            <p:spPr>
              <a:xfrm>
                <a:off x="0" y="0"/>
                <a:ext cx="31091640" cy="2235572"/>
              </a:xfrm>
              <a:custGeom>
                <a:rect b="b" l="l" r="r" t="t"/>
                <a:pathLst>
                  <a:path extrusionOk="0" h="2235572" w="31091640">
                    <a:moveTo>
                      <a:pt x="30967183" y="59690"/>
                    </a:moveTo>
                    <a:cubicBezTo>
                      <a:pt x="31002740" y="59690"/>
                      <a:pt x="31031951" y="88900"/>
                      <a:pt x="31031951" y="124460"/>
                    </a:cubicBezTo>
                    <a:lnTo>
                      <a:pt x="31031951" y="2111112"/>
                    </a:lnTo>
                    <a:cubicBezTo>
                      <a:pt x="31031951" y="2146672"/>
                      <a:pt x="31002740" y="2175882"/>
                      <a:pt x="30967183" y="2175882"/>
                    </a:cubicBezTo>
                    <a:lnTo>
                      <a:pt x="124460" y="2175882"/>
                    </a:lnTo>
                    <a:cubicBezTo>
                      <a:pt x="88900" y="2175882"/>
                      <a:pt x="59690" y="2146672"/>
                      <a:pt x="59690" y="2111112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0967183" y="59690"/>
                    </a:lnTo>
                    <a:moveTo>
                      <a:pt x="3096718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11112"/>
                    </a:lnTo>
                    <a:cubicBezTo>
                      <a:pt x="0" y="2179692"/>
                      <a:pt x="55880" y="2235572"/>
                      <a:pt x="124460" y="2235572"/>
                    </a:cubicBezTo>
                    <a:lnTo>
                      <a:pt x="30967183" y="2235572"/>
                    </a:lnTo>
                    <a:cubicBezTo>
                      <a:pt x="31035761" y="2235572"/>
                      <a:pt x="31091640" y="2179692"/>
                      <a:pt x="31091640" y="2111112"/>
                    </a:cubicBezTo>
                    <a:lnTo>
                      <a:pt x="31091640" y="124460"/>
                    </a:lnTo>
                    <a:cubicBezTo>
                      <a:pt x="31091640" y="55880"/>
                      <a:pt x="31035761" y="0"/>
                      <a:pt x="309671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4" name="Google Shape;344;p10"/>
            <p:cNvSpPr/>
            <p:nvPr/>
          </p:nvSpPr>
          <p:spPr>
            <a:xfrm>
              <a:off x="20331621" y="484496"/>
              <a:ext cx="577853" cy="577853"/>
            </a:xfrm>
            <a:custGeom>
              <a:rect b="b" l="l" r="r" t="t"/>
              <a:pathLst>
                <a:path extrusionOk="0" h="577853" w="577853">
                  <a:moveTo>
                    <a:pt x="0" y="0"/>
                  </a:moveTo>
                  <a:lnTo>
                    <a:pt x="577853" y="0"/>
                  </a:lnTo>
                  <a:lnTo>
                    <a:pt x="577853" y="577853"/>
                  </a:lnTo>
                  <a:lnTo>
                    <a:pt x="0" y="5778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5" name="Google Shape;345;p10"/>
            <p:cNvSpPr txBox="1"/>
            <p:nvPr/>
          </p:nvSpPr>
          <p:spPr>
            <a:xfrm>
              <a:off x="558560" y="247224"/>
              <a:ext cx="740823" cy="10333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346" name="Google Shape;346;p10"/>
            <p:cNvSpPr txBox="1"/>
            <p:nvPr/>
          </p:nvSpPr>
          <p:spPr>
            <a:xfrm>
              <a:off x="1798981" y="206968"/>
              <a:ext cx="9762084" cy="1009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TEST/QA</a:t>
              </a:r>
              <a:endParaRPr/>
            </a:p>
          </p:txBody>
        </p:sp>
      </p:grpSp>
      <p:grpSp>
        <p:nvGrpSpPr>
          <p:cNvPr id="347" name="Google Shape;347;p10"/>
          <p:cNvGrpSpPr/>
          <p:nvPr/>
        </p:nvGrpSpPr>
        <p:grpSpPr>
          <a:xfrm>
            <a:off x="1652362" y="2520567"/>
            <a:ext cx="3266700" cy="3876525"/>
            <a:chOff x="0" y="0"/>
            <a:chExt cx="4355600" cy="5168699"/>
          </a:xfrm>
        </p:grpSpPr>
        <p:grpSp>
          <p:nvGrpSpPr>
            <p:cNvPr id="348" name="Google Shape;348;p10"/>
            <p:cNvGrpSpPr/>
            <p:nvPr/>
          </p:nvGrpSpPr>
          <p:grpSpPr>
            <a:xfrm>
              <a:off x="0" y="0"/>
              <a:ext cx="4355600" cy="5168699"/>
              <a:chOff x="0" y="0"/>
              <a:chExt cx="3603011" cy="4275618"/>
            </a:xfrm>
          </p:grpSpPr>
          <p:sp>
            <p:nvSpPr>
              <p:cNvPr id="349" name="Google Shape;349;p10"/>
              <p:cNvSpPr/>
              <p:nvPr/>
            </p:nvSpPr>
            <p:spPr>
              <a:xfrm>
                <a:off x="57150" y="58420"/>
                <a:ext cx="3533161" cy="4204498"/>
              </a:xfrm>
              <a:custGeom>
                <a:rect b="b" l="l" r="r" t="t"/>
                <a:pathLst>
                  <a:path extrusionOk="0" h="4204498" w="3533161">
                    <a:moveTo>
                      <a:pt x="3448071" y="4174018"/>
                    </a:moveTo>
                    <a:lnTo>
                      <a:pt x="0" y="4174018"/>
                    </a:lnTo>
                    <a:cubicBezTo>
                      <a:pt x="5080" y="4191798"/>
                      <a:pt x="21590" y="4204498"/>
                      <a:pt x="40640" y="4204498"/>
                    </a:cubicBezTo>
                    <a:lnTo>
                      <a:pt x="3489981" y="4204498"/>
                    </a:lnTo>
                    <a:cubicBezTo>
                      <a:pt x="3514111" y="4204498"/>
                      <a:pt x="3533161" y="4185448"/>
                      <a:pt x="3533161" y="4161318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4118138"/>
                    </a:lnTo>
                    <a:cubicBezTo>
                      <a:pt x="3503951" y="4148618"/>
                      <a:pt x="3478551" y="4174018"/>
                      <a:pt x="3448071" y="4174018"/>
                    </a:cubicBez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10"/>
              <p:cNvSpPr/>
              <p:nvPr/>
            </p:nvSpPr>
            <p:spPr>
              <a:xfrm>
                <a:off x="12700" y="12700"/>
                <a:ext cx="3535701" cy="4207038"/>
              </a:xfrm>
              <a:custGeom>
                <a:rect b="b" l="l" r="r" t="t"/>
                <a:pathLst>
                  <a:path extrusionOk="0" h="4207038" w="3535701">
                    <a:moveTo>
                      <a:pt x="43180" y="4207038"/>
                    </a:moveTo>
                    <a:lnTo>
                      <a:pt x="3492521" y="4207038"/>
                    </a:lnTo>
                    <a:cubicBezTo>
                      <a:pt x="3516651" y="4207038"/>
                      <a:pt x="3535701" y="4187988"/>
                      <a:pt x="3535701" y="4163858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4163858"/>
                    </a:lnTo>
                    <a:cubicBezTo>
                      <a:pt x="0" y="4187988"/>
                      <a:pt x="19050" y="4207038"/>
                      <a:pt x="43180" y="42070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10"/>
              <p:cNvSpPr/>
              <p:nvPr/>
            </p:nvSpPr>
            <p:spPr>
              <a:xfrm>
                <a:off x="0" y="0"/>
                <a:ext cx="3603011" cy="4275618"/>
              </a:xfrm>
              <a:custGeom>
                <a:rect b="b" l="l" r="r" t="t"/>
                <a:pathLst>
                  <a:path extrusionOk="0" h="4275618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4176558"/>
                    </a:lnTo>
                    <a:cubicBezTo>
                      <a:pt x="0" y="4203228"/>
                      <a:pt x="17780" y="4224818"/>
                      <a:pt x="43180" y="4231168"/>
                    </a:cubicBezTo>
                    <a:cubicBezTo>
                      <a:pt x="48260" y="4256568"/>
                      <a:pt x="71120" y="4275618"/>
                      <a:pt x="97790" y="4275618"/>
                    </a:cubicBezTo>
                    <a:lnTo>
                      <a:pt x="3547131" y="4275618"/>
                    </a:lnTo>
                    <a:cubicBezTo>
                      <a:pt x="3577611" y="4275618"/>
                      <a:pt x="3603011" y="4250218"/>
                      <a:pt x="3603011" y="4219738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4176558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4176558"/>
                    </a:lnTo>
                    <a:cubicBezTo>
                      <a:pt x="3548401" y="4200688"/>
                      <a:pt x="3529351" y="4219738"/>
                      <a:pt x="3505221" y="4219738"/>
                    </a:cubicBezTo>
                    <a:lnTo>
                      <a:pt x="55880" y="4219738"/>
                    </a:lnTo>
                    <a:cubicBezTo>
                      <a:pt x="31750" y="4219738"/>
                      <a:pt x="12700" y="4200688"/>
                      <a:pt x="12700" y="4176558"/>
                    </a:cubicBezTo>
                    <a:close/>
                    <a:moveTo>
                      <a:pt x="3590311" y="4219738"/>
                    </a:moveTo>
                    <a:cubicBezTo>
                      <a:pt x="3590311" y="4243868"/>
                      <a:pt x="3571261" y="4262918"/>
                      <a:pt x="3547131" y="4262918"/>
                    </a:cubicBezTo>
                    <a:lnTo>
                      <a:pt x="97790" y="4262918"/>
                    </a:lnTo>
                    <a:cubicBezTo>
                      <a:pt x="78740" y="4262918"/>
                      <a:pt x="62230" y="4250218"/>
                      <a:pt x="57150" y="4232438"/>
                    </a:cubicBezTo>
                    <a:lnTo>
                      <a:pt x="3505221" y="4232438"/>
                    </a:lnTo>
                    <a:cubicBezTo>
                      <a:pt x="3535701" y="4232438"/>
                      <a:pt x="3561101" y="4207038"/>
                      <a:pt x="3561101" y="4176558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4219738"/>
                    </a:ln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2" name="Google Shape;352;p10"/>
            <p:cNvSpPr txBox="1"/>
            <p:nvPr/>
          </p:nvSpPr>
          <p:spPr>
            <a:xfrm>
              <a:off x="312336" y="886193"/>
              <a:ext cx="3730929" cy="3310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Son las tareas ya desarrolladas que entran en un proceso de verificación de calidad antes de ser consideradas completadas</a:t>
              </a:r>
              <a:endParaRPr/>
            </a:p>
          </p:txBody>
        </p:sp>
      </p:grpSp>
      <p:grpSp>
        <p:nvGrpSpPr>
          <p:cNvPr id="353" name="Google Shape;353;p10"/>
          <p:cNvGrpSpPr/>
          <p:nvPr/>
        </p:nvGrpSpPr>
        <p:grpSpPr>
          <a:xfrm>
            <a:off x="5595817" y="5143500"/>
            <a:ext cx="3266700" cy="3527157"/>
            <a:chOff x="0" y="0"/>
            <a:chExt cx="4355600" cy="4702876"/>
          </a:xfrm>
        </p:grpSpPr>
        <p:grpSp>
          <p:nvGrpSpPr>
            <p:cNvPr id="354" name="Google Shape;354;p10"/>
            <p:cNvGrpSpPr/>
            <p:nvPr/>
          </p:nvGrpSpPr>
          <p:grpSpPr>
            <a:xfrm>
              <a:off x="0" y="0"/>
              <a:ext cx="4355600" cy="4702876"/>
              <a:chOff x="0" y="0"/>
              <a:chExt cx="3603011" cy="3890282"/>
            </a:xfrm>
          </p:grpSpPr>
          <p:sp>
            <p:nvSpPr>
              <p:cNvPr id="355" name="Google Shape;355;p10"/>
              <p:cNvSpPr/>
              <p:nvPr/>
            </p:nvSpPr>
            <p:spPr>
              <a:xfrm>
                <a:off x="57150" y="58420"/>
                <a:ext cx="3533161" cy="3819162"/>
              </a:xfrm>
              <a:custGeom>
                <a:rect b="b" l="l" r="r" t="t"/>
                <a:pathLst>
                  <a:path extrusionOk="0" h="3819162" w="3533161">
                    <a:moveTo>
                      <a:pt x="3448071" y="3788682"/>
                    </a:moveTo>
                    <a:lnTo>
                      <a:pt x="0" y="3788682"/>
                    </a:lnTo>
                    <a:cubicBezTo>
                      <a:pt x="5080" y="3806462"/>
                      <a:pt x="21590" y="3819162"/>
                      <a:pt x="40640" y="3819162"/>
                    </a:cubicBezTo>
                    <a:lnTo>
                      <a:pt x="3489981" y="3819162"/>
                    </a:lnTo>
                    <a:cubicBezTo>
                      <a:pt x="3514111" y="3819162"/>
                      <a:pt x="3533161" y="3800112"/>
                      <a:pt x="3533161" y="3775982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3732802"/>
                    </a:lnTo>
                    <a:cubicBezTo>
                      <a:pt x="3503951" y="3763282"/>
                      <a:pt x="3478551" y="3788682"/>
                      <a:pt x="3448071" y="3788682"/>
                    </a:cubicBez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10"/>
              <p:cNvSpPr/>
              <p:nvPr/>
            </p:nvSpPr>
            <p:spPr>
              <a:xfrm>
                <a:off x="12700" y="12700"/>
                <a:ext cx="3535701" cy="3821702"/>
              </a:xfrm>
              <a:custGeom>
                <a:rect b="b" l="l" r="r" t="t"/>
                <a:pathLst>
                  <a:path extrusionOk="0" h="3821702" w="3535701">
                    <a:moveTo>
                      <a:pt x="43180" y="3821702"/>
                    </a:moveTo>
                    <a:lnTo>
                      <a:pt x="3492521" y="3821702"/>
                    </a:lnTo>
                    <a:cubicBezTo>
                      <a:pt x="3516651" y="3821702"/>
                      <a:pt x="3535701" y="3802652"/>
                      <a:pt x="3535701" y="3778522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778522"/>
                    </a:lnTo>
                    <a:cubicBezTo>
                      <a:pt x="0" y="3802652"/>
                      <a:pt x="19050" y="3821702"/>
                      <a:pt x="43180" y="38217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10"/>
              <p:cNvSpPr/>
              <p:nvPr/>
            </p:nvSpPr>
            <p:spPr>
              <a:xfrm>
                <a:off x="0" y="0"/>
                <a:ext cx="3603011" cy="3890282"/>
              </a:xfrm>
              <a:custGeom>
                <a:rect b="b" l="l" r="r" t="t"/>
                <a:pathLst>
                  <a:path extrusionOk="0" h="3890282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791222"/>
                    </a:lnTo>
                    <a:cubicBezTo>
                      <a:pt x="0" y="3817892"/>
                      <a:pt x="17780" y="3839482"/>
                      <a:pt x="43180" y="3845832"/>
                    </a:cubicBezTo>
                    <a:cubicBezTo>
                      <a:pt x="48260" y="3871232"/>
                      <a:pt x="71120" y="3890282"/>
                      <a:pt x="97790" y="3890282"/>
                    </a:cubicBezTo>
                    <a:lnTo>
                      <a:pt x="3547131" y="3890282"/>
                    </a:lnTo>
                    <a:cubicBezTo>
                      <a:pt x="3577611" y="3890282"/>
                      <a:pt x="3603011" y="3864882"/>
                      <a:pt x="3603011" y="3834402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791222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791222"/>
                    </a:lnTo>
                    <a:cubicBezTo>
                      <a:pt x="3548401" y="3815352"/>
                      <a:pt x="3529351" y="3834402"/>
                      <a:pt x="3505221" y="3834402"/>
                    </a:cubicBezTo>
                    <a:lnTo>
                      <a:pt x="55880" y="3834402"/>
                    </a:lnTo>
                    <a:cubicBezTo>
                      <a:pt x="31750" y="3834402"/>
                      <a:pt x="12700" y="3815352"/>
                      <a:pt x="12700" y="3791222"/>
                    </a:cubicBezTo>
                    <a:close/>
                    <a:moveTo>
                      <a:pt x="3590311" y="3834402"/>
                    </a:moveTo>
                    <a:cubicBezTo>
                      <a:pt x="3590311" y="3858532"/>
                      <a:pt x="3571261" y="3877582"/>
                      <a:pt x="3547131" y="3877582"/>
                    </a:cubicBezTo>
                    <a:lnTo>
                      <a:pt x="97790" y="3877582"/>
                    </a:lnTo>
                    <a:cubicBezTo>
                      <a:pt x="78740" y="3877582"/>
                      <a:pt x="62230" y="3864882"/>
                      <a:pt x="57150" y="3847102"/>
                    </a:cubicBezTo>
                    <a:lnTo>
                      <a:pt x="3505221" y="3847102"/>
                    </a:lnTo>
                    <a:cubicBezTo>
                      <a:pt x="3535701" y="3847102"/>
                      <a:pt x="3561101" y="3821702"/>
                      <a:pt x="3561101" y="3791222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834402"/>
                    </a:ln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8" name="Google Shape;358;p10"/>
            <p:cNvSpPr txBox="1"/>
            <p:nvPr/>
          </p:nvSpPr>
          <p:spPr>
            <a:xfrm>
              <a:off x="312336" y="886193"/>
              <a:ext cx="3730929" cy="28447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Esta columna tiene como objetivo asegurar que cada ítem cumple con los criterios de aceptación definidos</a:t>
              </a:r>
              <a:endParaRPr/>
            </a:p>
          </p:txBody>
        </p:sp>
      </p:grpSp>
      <p:grpSp>
        <p:nvGrpSpPr>
          <p:cNvPr id="359" name="Google Shape;359;p10"/>
          <p:cNvGrpSpPr/>
          <p:nvPr/>
        </p:nvGrpSpPr>
        <p:grpSpPr>
          <a:xfrm>
            <a:off x="9334351" y="2695251"/>
            <a:ext cx="3266700" cy="3527157"/>
            <a:chOff x="0" y="0"/>
            <a:chExt cx="4355600" cy="4702876"/>
          </a:xfrm>
        </p:grpSpPr>
        <p:grpSp>
          <p:nvGrpSpPr>
            <p:cNvPr id="360" name="Google Shape;360;p10"/>
            <p:cNvGrpSpPr/>
            <p:nvPr/>
          </p:nvGrpSpPr>
          <p:grpSpPr>
            <a:xfrm>
              <a:off x="0" y="0"/>
              <a:ext cx="4355600" cy="4702876"/>
              <a:chOff x="0" y="0"/>
              <a:chExt cx="3603011" cy="3890282"/>
            </a:xfrm>
          </p:grpSpPr>
          <p:sp>
            <p:nvSpPr>
              <p:cNvPr id="361" name="Google Shape;361;p10"/>
              <p:cNvSpPr/>
              <p:nvPr/>
            </p:nvSpPr>
            <p:spPr>
              <a:xfrm>
                <a:off x="57150" y="58420"/>
                <a:ext cx="3533161" cy="3819162"/>
              </a:xfrm>
              <a:custGeom>
                <a:rect b="b" l="l" r="r" t="t"/>
                <a:pathLst>
                  <a:path extrusionOk="0" h="3819162" w="3533161">
                    <a:moveTo>
                      <a:pt x="3448071" y="3788682"/>
                    </a:moveTo>
                    <a:lnTo>
                      <a:pt x="0" y="3788682"/>
                    </a:lnTo>
                    <a:cubicBezTo>
                      <a:pt x="5080" y="3806462"/>
                      <a:pt x="21590" y="3819162"/>
                      <a:pt x="40640" y="3819162"/>
                    </a:cubicBezTo>
                    <a:lnTo>
                      <a:pt x="3489981" y="3819162"/>
                    </a:lnTo>
                    <a:cubicBezTo>
                      <a:pt x="3514111" y="3819162"/>
                      <a:pt x="3533161" y="3800112"/>
                      <a:pt x="3533161" y="3775982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3732802"/>
                    </a:lnTo>
                    <a:cubicBezTo>
                      <a:pt x="3503951" y="3763282"/>
                      <a:pt x="3478551" y="3788682"/>
                      <a:pt x="3448071" y="3788682"/>
                    </a:cubicBez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10"/>
              <p:cNvSpPr/>
              <p:nvPr/>
            </p:nvSpPr>
            <p:spPr>
              <a:xfrm>
                <a:off x="12700" y="12700"/>
                <a:ext cx="3535701" cy="3821702"/>
              </a:xfrm>
              <a:custGeom>
                <a:rect b="b" l="l" r="r" t="t"/>
                <a:pathLst>
                  <a:path extrusionOk="0" h="3821702" w="3535701">
                    <a:moveTo>
                      <a:pt x="43180" y="3821702"/>
                    </a:moveTo>
                    <a:lnTo>
                      <a:pt x="3492521" y="3821702"/>
                    </a:lnTo>
                    <a:cubicBezTo>
                      <a:pt x="3516651" y="3821702"/>
                      <a:pt x="3535701" y="3802652"/>
                      <a:pt x="3535701" y="3778522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778522"/>
                    </a:lnTo>
                    <a:cubicBezTo>
                      <a:pt x="0" y="3802652"/>
                      <a:pt x="19050" y="3821702"/>
                      <a:pt x="43180" y="38217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10"/>
              <p:cNvSpPr/>
              <p:nvPr/>
            </p:nvSpPr>
            <p:spPr>
              <a:xfrm>
                <a:off x="0" y="0"/>
                <a:ext cx="3603011" cy="3890282"/>
              </a:xfrm>
              <a:custGeom>
                <a:rect b="b" l="l" r="r" t="t"/>
                <a:pathLst>
                  <a:path extrusionOk="0" h="3890282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791222"/>
                    </a:lnTo>
                    <a:cubicBezTo>
                      <a:pt x="0" y="3817892"/>
                      <a:pt x="17780" y="3839482"/>
                      <a:pt x="43180" y="3845832"/>
                    </a:cubicBezTo>
                    <a:cubicBezTo>
                      <a:pt x="48260" y="3871232"/>
                      <a:pt x="71120" y="3890282"/>
                      <a:pt x="97790" y="3890282"/>
                    </a:cubicBezTo>
                    <a:lnTo>
                      <a:pt x="3547131" y="3890282"/>
                    </a:lnTo>
                    <a:cubicBezTo>
                      <a:pt x="3577611" y="3890282"/>
                      <a:pt x="3603011" y="3864882"/>
                      <a:pt x="3603011" y="3834402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791222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791222"/>
                    </a:lnTo>
                    <a:cubicBezTo>
                      <a:pt x="3548401" y="3815352"/>
                      <a:pt x="3529351" y="3834402"/>
                      <a:pt x="3505221" y="3834402"/>
                    </a:cubicBezTo>
                    <a:lnTo>
                      <a:pt x="55880" y="3834402"/>
                    </a:lnTo>
                    <a:cubicBezTo>
                      <a:pt x="31750" y="3834402"/>
                      <a:pt x="12700" y="3815352"/>
                      <a:pt x="12700" y="3791222"/>
                    </a:cubicBezTo>
                    <a:close/>
                    <a:moveTo>
                      <a:pt x="3590311" y="3834402"/>
                    </a:moveTo>
                    <a:cubicBezTo>
                      <a:pt x="3590311" y="3858532"/>
                      <a:pt x="3571261" y="3877582"/>
                      <a:pt x="3547131" y="3877582"/>
                    </a:cubicBezTo>
                    <a:lnTo>
                      <a:pt x="97790" y="3877582"/>
                    </a:lnTo>
                    <a:cubicBezTo>
                      <a:pt x="78740" y="3877582"/>
                      <a:pt x="62230" y="3864882"/>
                      <a:pt x="57150" y="3847102"/>
                    </a:cubicBezTo>
                    <a:lnTo>
                      <a:pt x="3505221" y="3847102"/>
                    </a:lnTo>
                    <a:cubicBezTo>
                      <a:pt x="3535701" y="3847102"/>
                      <a:pt x="3561101" y="3821702"/>
                      <a:pt x="3561101" y="3791222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834402"/>
                    </a:ln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4" name="Google Shape;364;p10"/>
            <p:cNvSpPr txBox="1"/>
            <p:nvPr/>
          </p:nvSpPr>
          <p:spPr>
            <a:xfrm>
              <a:off x="312336" y="886193"/>
              <a:ext cx="3730929" cy="28447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Listas para realizar pruebas funcionales, de integración, de regresión, o cualquier otra validación acordada</a:t>
              </a:r>
              <a:endParaRPr/>
            </a:p>
          </p:txBody>
        </p:sp>
      </p:grpSp>
      <p:grpSp>
        <p:nvGrpSpPr>
          <p:cNvPr id="365" name="Google Shape;365;p10"/>
          <p:cNvGrpSpPr/>
          <p:nvPr/>
        </p:nvGrpSpPr>
        <p:grpSpPr>
          <a:xfrm>
            <a:off x="13277326" y="5318184"/>
            <a:ext cx="3266700" cy="3177789"/>
            <a:chOff x="0" y="0"/>
            <a:chExt cx="4355600" cy="4237052"/>
          </a:xfrm>
        </p:grpSpPr>
        <p:grpSp>
          <p:nvGrpSpPr>
            <p:cNvPr id="366" name="Google Shape;366;p10"/>
            <p:cNvGrpSpPr/>
            <p:nvPr/>
          </p:nvGrpSpPr>
          <p:grpSpPr>
            <a:xfrm>
              <a:off x="0" y="0"/>
              <a:ext cx="4355600" cy="4237052"/>
              <a:chOff x="0" y="0"/>
              <a:chExt cx="3603011" cy="3504947"/>
            </a:xfrm>
          </p:grpSpPr>
          <p:sp>
            <p:nvSpPr>
              <p:cNvPr id="367" name="Google Shape;367;p10"/>
              <p:cNvSpPr/>
              <p:nvPr/>
            </p:nvSpPr>
            <p:spPr>
              <a:xfrm>
                <a:off x="57150" y="58420"/>
                <a:ext cx="3533161" cy="3433827"/>
              </a:xfrm>
              <a:custGeom>
                <a:rect b="b" l="l" r="r" t="t"/>
                <a:pathLst>
                  <a:path extrusionOk="0" h="3433827" w="3533161">
                    <a:moveTo>
                      <a:pt x="3448071" y="3403347"/>
                    </a:moveTo>
                    <a:lnTo>
                      <a:pt x="0" y="3403347"/>
                    </a:lnTo>
                    <a:cubicBezTo>
                      <a:pt x="5080" y="3421127"/>
                      <a:pt x="21590" y="3433827"/>
                      <a:pt x="40640" y="3433827"/>
                    </a:cubicBezTo>
                    <a:lnTo>
                      <a:pt x="3489981" y="3433827"/>
                    </a:lnTo>
                    <a:cubicBezTo>
                      <a:pt x="3514111" y="3433827"/>
                      <a:pt x="3533161" y="3414777"/>
                      <a:pt x="3533161" y="3390647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3347467"/>
                    </a:lnTo>
                    <a:cubicBezTo>
                      <a:pt x="3503951" y="3377947"/>
                      <a:pt x="3478551" y="3403347"/>
                      <a:pt x="3448071" y="3403347"/>
                    </a:cubicBez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10"/>
              <p:cNvSpPr/>
              <p:nvPr/>
            </p:nvSpPr>
            <p:spPr>
              <a:xfrm>
                <a:off x="12700" y="12700"/>
                <a:ext cx="3535701" cy="3436367"/>
              </a:xfrm>
              <a:custGeom>
                <a:rect b="b" l="l" r="r" t="t"/>
                <a:pathLst>
                  <a:path extrusionOk="0" h="3436367" w="3535701">
                    <a:moveTo>
                      <a:pt x="43180" y="3436367"/>
                    </a:moveTo>
                    <a:lnTo>
                      <a:pt x="3492521" y="3436367"/>
                    </a:lnTo>
                    <a:cubicBezTo>
                      <a:pt x="3516651" y="3436367"/>
                      <a:pt x="3535701" y="3417317"/>
                      <a:pt x="3535701" y="3393187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393187"/>
                    </a:lnTo>
                    <a:cubicBezTo>
                      <a:pt x="0" y="3417317"/>
                      <a:pt x="19050" y="3436367"/>
                      <a:pt x="43180" y="343636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10"/>
              <p:cNvSpPr/>
              <p:nvPr/>
            </p:nvSpPr>
            <p:spPr>
              <a:xfrm>
                <a:off x="0" y="0"/>
                <a:ext cx="3603011" cy="3504947"/>
              </a:xfrm>
              <a:custGeom>
                <a:rect b="b" l="l" r="r" t="t"/>
                <a:pathLst>
                  <a:path extrusionOk="0" h="3504947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405887"/>
                    </a:lnTo>
                    <a:cubicBezTo>
                      <a:pt x="0" y="3432556"/>
                      <a:pt x="17780" y="3454147"/>
                      <a:pt x="43180" y="3460497"/>
                    </a:cubicBezTo>
                    <a:cubicBezTo>
                      <a:pt x="48260" y="3485897"/>
                      <a:pt x="71120" y="3504947"/>
                      <a:pt x="97790" y="3504947"/>
                    </a:cubicBezTo>
                    <a:lnTo>
                      <a:pt x="3547131" y="3504947"/>
                    </a:lnTo>
                    <a:cubicBezTo>
                      <a:pt x="3577611" y="3504947"/>
                      <a:pt x="3603011" y="3479547"/>
                      <a:pt x="3603011" y="3449067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405887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405887"/>
                    </a:lnTo>
                    <a:cubicBezTo>
                      <a:pt x="3548401" y="3430017"/>
                      <a:pt x="3529351" y="3449067"/>
                      <a:pt x="3505221" y="3449067"/>
                    </a:cubicBezTo>
                    <a:lnTo>
                      <a:pt x="55880" y="3449067"/>
                    </a:lnTo>
                    <a:cubicBezTo>
                      <a:pt x="31750" y="3449067"/>
                      <a:pt x="12700" y="3430017"/>
                      <a:pt x="12700" y="3405887"/>
                    </a:cubicBezTo>
                    <a:close/>
                    <a:moveTo>
                      <a:pt x="3590311" y="3449067"/>
                    </a:moveTo>
                    <a:cubicBezTo>
                      <a:pt x="3590311" y="3473197"/>
                      <a:pt x="3571261" y="3492247"/>
                      <a:pt x="3547131" y="3492247"/>
                    </a:cubicBezTo>
                    <a:lnTo>
                      <a:pt x="97790" y="3492247"/>
                    </a:lnTo>
                    <a:cubicBezTo>
                      <a:pt x="78740" y="3492247"/>
                      <a:pt x="62230" y="3479547"/>
                      <a:pt x="57150" y="3461767"/>
                    </a:cubicBezTo>
                    <a:lnTo>
                      <a:pt x="3505221" y="3461767"/>
                    </a:lnTo>
                    <a:cubicBezTo>
                      <a:pt x="3535701" y="3461767"/>
                      <a:pt x="3561101" y="3436367"/>
                      <a:pt x="3561101" y="3405887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449067"/>
                    </a:ln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0" name="Google Shape;370;p10"/>
            <p:cNvSpPr txBox="1"/>
            <p:nvPr/>
          </p:nvSpPr>
          <p:spPr>
            <a:xfrm>
              <a:off x="312336" y="886193"/>
              <a:ext cx="3730929" cy="2378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Ninguna tarea debe avanzar a “Done” sin haber pasado satisfactoriamente por esta verificación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0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"/>
          <p:cNvSpPr/>
          <p:nvPr/>
        </p:nvSpPr>
        <p:spPr>
          <a:xfrm>
            <a:off x="1085139" y="1028700"/>
            <a:ext cx="16117723" cy="8229600"/>
          </a:xfrm>
          <a:custGeom>
            <a:rect b="b" l="l" r="r" t="t"/>
            <a:pathLst>
              <a:path extrusionOk="0" h="16247872" w="31821558">
                <a:moveTo>
                  <a:pt x="31697098" y="59690"/>
                </a:moveTo>
                <a:cubicBezTo>
                  <a:pt x="31732658" y="59690"/>
                  <a:pt x="31761866" y="88900"/>
                  <a:pt x="31761866" y="124460"/>
                </a:cubicBezTo>
                <a:lnTo>
                  <a:pt x="31761866" y="16123411"/>
                </a:lnTo>
                <a:cubicBezTo>
                  <a:pt x="31761866" y="16158972"/>
                  <a:pt x="31732658" y="16188181"/>
                  <a:pt x="31697098" y="16188181"/>
                </a:cubicBezTo>
                <a:lnTo>
                  <a:pt x="124460" y="16188181"/>
                </a:lnTo>
                <a:cubicBezTo>
                  <a:pt x="88900" y="16188181"/>
                  <a:pt x="59690" y="16158972"/>
                  <a:pt x="59690" y="16123411"/>
                </a:cubicBezTo>
                <a:lnTo>
                  <a:pt x="59690" y="124460"/>
                </a:lnTo>
                <a:cubicBezTo>
                  <a:pt x="59690" y="88900"/>
                  <a:pt x="88900" y="59690"/>
                  <a:pt x="124460" y="59690"/>
                </a:cubicBezTo>
                <a:lnTo>
                  <a:pt x="31697098" y="59690"/>
                </a:lnTo>
                <a:moveTo>
                  <a:pt x="31697098" y="0"/>
                </a:moveTo>
                <a:lnTo>
                  <a:pt x="124460" y="0"/>
                </a:lnTo>
                <a:cubicBezTo>
                  <a:pt x="55880" y="0"/>
                  <a:pt x="0" y="55880"/>
                  <a:pt x="0" y="124460"/>
                </a:cubicBezTo>
                <a:lnTo>
                  <a:pt x="0" y="16123411"/>
                </a:lnTo>
                <a:cubicBezTo>
                  <a:pt x="0" y="16191992"/>
                  <a:pt x="55880" y="16247872"/>
                  <a:pt x="124460" y="16247872"/>
                </a:cubicBezTo>
                <a:lnTo>
                  <a:pt x="31697098" y="16247872"/>
                </a:lnTo>
                <a:cubicBezTo>
                  <a:pt x="31765677" y="16247872"/>
                  <a:pt x="31821558" y="16191992"/>
                  <a:pt x="31821558" y="16123411"/>
                </a:cubicBezTo>
                <a:lnTo>
                  <a:pt x="31821558" y="124460"/>
                </a:lnTo>
                <a:cubicBezTo>
                  <a:pt x="31821558" y="55880"/>
                  <a:pt x="31765677" y="0"/>
                  <a:pt x="31697098" y="0"/>
                </a:cubicBez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6" name="Google Shape;376;p11"/>
          <p:cNvGrpSpPr/>
          <p:nvPr/>
        </p:nvGrpSpPr>
        <p:grpSpPr>
          <a:xfrm>
            <a:off x="1085139" y="1028700"/>
            <a:ext cx="16117721" cy="1158907"/>
            <a:chOff x="0" y="0"/>
            <a:chExt cx="21490296" cy="1545210"/>
          </a:xfrm>
        </p:grpSpPr>
        <p:grpSp>
          <p:nvGrpSpPr>
            <p:cNvPr id="377" name="Google Shape;377;p11"/>
            <p:cNvGrpSpPr/>
            <p:nvPr/>
          </p:nvGrpSpPr>
          <p:grpSpPr>
            <a:xfrm>
              <a:off x="0" y="0"/>
              <a:ext cx="21490296" cy="1545210"/>
              <a:chOff x="0" y="0"/>
              <a:chExt cx="31091640" cy="2235572"/>
            </a:xfrm>
          </p:grpSpPr>
          <p:sp>
            <p:nvSpPr>
              <p:cNvPr id="378" name="Google Shape;378;p11"/>
              <p:cNvSpPr/>
              <p:nvPr/>
            </p:nvSpPr>
            <p:spPr>
              <a:xfrm>
                <a:off x="31750" y="31750"/>
                <a:ext cx="31028140" cy="2172072"/>
              </a:xfrm>
              <a:custGeom>
                <a:rect b="b" l="l" r="r" t="t"/>
                <a:pathLst>
                  <a:path extrusionOk="0" h="2172072" w="31028140">
                    <a:moveTo>
                      <a:pt x="30935433" y="2172072"/>
                    </a:moveTo>
                    <a:lnTo>
                      <a:pt x="92710" y="2172072"/>
                    </a:lnTo>
                    <a:cubicBezTo>
                      <a:pt x="41910" y="2172072"/>
                      <a:pt x="0" y="2130162"/>
                      <a:pt x="0" y="2079362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0934161" y="0"/>
                    </a:lnTo>
                    <a:cubicBezTo>
                      <a:pt x="30984961" y="0"/>
                      <a:pt x="31026872" y="41910"/>
                      <a:pt x="31026872" y="92710"/>
                    </a:cubicBezTo>
                    <a:lnTo>
                      <a:pt x="31026872" y="2078092"/>
                    </a:lnTo>
                    <a:cubicBezTo>
                      <a:pt x="31028140" y="2130162"/>
                      <a:pt x="30986233" y="2172072"/>
                      <a:pt x="30935433" y="21720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1"/>
              <p:cNvSpPr/>
              <p:nvPr/>
            </p:nvSpPr>
            <p:spPr>
              <a:xfrm>
                <a:off x="0" y="0"/>
                <a:ext cx="31091640" cy="2235572"/>
              </a:xfrm>
              <a:custGeom>
                <a:rect b="b" l="l" r="r" t="t"/>
                <a:pathLst>
                  <a:path extrusionOk="0" h="2235572" w="31091640">
                    <a:moveTo>
                      <a:pt x="30967183" y="59690"/>
                    </a:moveTo>
                    <a:cubicBezTo>
                      <a:pt x="31002740" y="59690"/>
                      <a:pt x="31031951" y="88900"/>
                      <a:pt x="31031951" y="124460"/>
                    </a:cubicBezTo>
                    <a:lnTo>
                      <a:pt x="31031951" y="2111112"/>
                    </a:lnTo>
                    <a:cubicBezTo>
                      <a:pt x="31031951" y="2146672"/>
                      <a:pt x="31002740" y="2175882"/>
                      <a:pt x="30967183" y="2175882"/>
                    </a:cubicBezTo>
                    <a:lnTo>
                      <a:pt x="124460" y="2175882"/>
                    </a:lnTo>
                    <a:cubicBezTo>
                      <a:pt x="88900" y="2175882"/>
                      <a:pt x="59690" y="2146672"/>
                      <a:pt x="59690" y="2111112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0967183" y="59690"/>
                    </a:lnTo>
                    <a:moveTo>
                      <a:pt x="3096718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11112"/>
                    </a:lnTo>
                    <a:cubicBezTo>
                      <a:pt x="0" y="2179692"/>
                      <a:pt x="55880" y="2235572"/>
                      <a:pt x="124460" y="2235572"/>
                    </a:cubicBezTo>
                    <a:lnTo>
                      <a:pt x="30967183" y="2235572"/>
                    </a:lnTo>
                    <a:cubicBezTo>
                      <a:pt x="31035761" y="2235572"/>
                      <a:pt x="31091640" y="2179692"/>
                      <a:pt x="31091640" y="2111112"/>
                    </a:cubicBezTo>
                    <a:lnTo>
                      <a:pt x="31091640" y="124460"/>
                    </a:lnTo>
                    <a:cubicBezTo>
                      <a:pt x="31091640" y="55880"/>
                      <a:pt x="31035761" y="0"/>
                      <a:pt x="309671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0" name="Google Shape;380;p11"/>
            <p:cNvSpPr/>
            <p:nvPr/>
          </p:nvSpPr>
          <p:spPr>
            <a:xfrm>
              <a:off x="20331621" y="484496"/>
              <a:ext cx="577853" cy="577853"/>
            </a:xfrm>
            <a:custGeom>
              <a:rect b="b" l="l" r="r" t="t"/>
              <a:pathLst>
                <a:path extrusionOk="0" h="577853" w="577853">
                  <a:moveTo>
                    <a:pt x="0" y="0"/>
                  </a:moveTo>
                  <a:lnTo>
                    <a:pt x="577853" y="0"/>
                  </a:lnTo>
                  <a:lnTo>
                    <a:pt x="577853" y="577853"/>
                  </a:lnTo>
                  <a:lnTo>
                    <a:pt x="0" y="5778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81" name="Google Shape;381;p11"/>
            <p:cNvSpPr txBox="1"/>
            <p:nvPr/>
          </p:nvSpPr>
          <p:spPr>
            <a:xfrm>
              <a:off x="558560" y="247224"/>
              <a:ext cx="740823" cy="10333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382" name="Google Shape;382;p11"/>
            <p:cNvSpPr txBox="1"/>
            <p:nvPr/>
          </p:nvSpPr>
          <p:spPr>
            <a:xfrm>
              <a:off x="1798981" y="206968"/>
              <a:ext cx="9762084" cy="1009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DEPLOY / DONE</a:t>
              </a:r>
              <a:endParaRPr/>
            </a:p>
          </p:txBody>
        </p:sp>
      </p:grpSp>
      <p:grpSp>
        <p:nvGrpSpPr>
          <p:cNvPr id="383" name="Google Shape;383;p11"/>
          <p:cNvGrpSpPr/>
          <p:nvPr/>
        </p:nvGrpSpPr>
        <p:grpSpPr>
          <a:xfrm>
            <a:off x="1652842" y="2345883"/>
            <a:ext cx="3266700" cy="4225892"/>
            <a:chOff x="0" y="0"/>
            <a:chExt cx="4355600" cy="5634523"/>
          </a:xfrm>
        </p:grpSpPr>
        <p:grpSp>
          <p:nvGrpSpPr>
            <p:cNvPr id="384" name="Google Shape;384;p11"/>
            <p:cNvGrpSpPr/>
            <p:nvPr/>
          </p:nvGrpSpPr>
          <p:grpSpPr>
            <a:xfrm>
              <a:off x="0" y="0"/>
              <a:ext cx="4355600" cy="5634523"/>
              <a:chOff x="0" y="0"/>
              <a:chExt cx="3603011" cy="4660953"/>
            </a:xfrm>
          </p:grpSpPr>
          <p:sp>
            <p:nvSpPr>
              <p:cNvPr id="385" name="Google Shape;385;p11"/>
              <p:cNvSpPr/>
              <p:nvPr/>
            </p:nvSpPr>
            <p:spPr>
              <a:xfrm>
                <a:off x="57150" y="58420"/>
                <a:ext cx="3533161" cy="4589833"/>
              </a:xfrm>
              <a:custGeom>
                <a:rect b="b" l="l" r="r" t="t"/>
                <a:pathLst>
                  <a:path extrusionOk="0" h="4589833" w="3533161">
                    <a:moveTo>
                      <a:pt x="3448071" y="4559354"/>
                    </a:moveTo>
                    <a:lnTo>
                      <a:pt x="0" y="4559354"/>
                    </a:lnTo>
                    <a:cubicBezTo>
                      <a:pt x="5080" y="4577133"/>
                      <a:pt x="21590" y="4589833"/>
                      <a:pt x="40640" y="4589833"/>
                    </a:cubicBezTo>
                    <a:lnTo>
                      <a:pt x="3489981" y="4589833"/>
                    </a:lnTo>
                    <a:cubicBezTo>
                      <a:pt x="3514111" y="4589833"/>
                      <a:pt x="3533161" y="4570783"/>
                      <a:pt x="3533161" y="4546654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4503473"/>
                    </a:lnTo>
                    <a:cubicBezTo>
                      <a:pt x="3503951" y="4533954"/>
                      <a:pt x="3478551" y="4559354"/>
                      <a:pt x="3448071" y="4559354"/>
                    </a:cubicBez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11"/>
              <p:cNvSpPr/>
              <p:nvPr/>
            </p:nvSpPr>
            <p:spPr>
              <a:xfrm>
                <a:off x="12700" y="12700"/>
                <a:ext cx="3535701" cy="4592374"/>
              </a:xfrm>
              <a:custGeom>
                <a:rect b="b" l="l" r="r" t="t"/>
                <a:pathLst>
                  <a:path extrusionOk="0" h="4592374" w="3535701">
                    <a:moveTo>
                      <a:pt x="43180" y="4592374"/>
                    </a:moveTo>
                    <a:lnTo>
                      <a:pt x="3492521" y="4592374"/>
                    </a:lnTo>
                    <a:cubicBezTo>
                      <a:pt x="3516651" y="4592374"/>
                      <a:pt x="3535701" y="4573324"/>
                      <a:pt x="3535701" y="4549193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4549193"/>
                    </a:lnTo>
                    <a:cubicBezTo>
                      <a:pt x="0" y="4573324"/>
                      <a:pt x="19050" y="4592374"/>
                      <a:pt x="43180" y="459237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11"/>
              <p:cNvSpPr/>
              <p:nvPr/>
            </p:nvSpPr>
            <p:spPr>
              <a:xfrm>
                <a:off x="0" y="0"/>
                <a:ext cx="3603011" cy="4660953"/>
              </a:xfrm>
              <a:custGeom>
                <a:rect b="b" l="l" r="r" t="t"/>
                <a:pathLst>
                  <a:path extrusionOk="0" h="4660953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4561893"/>
                    </a:lnTo>
                    <a:cubicBezTo>
                      <a:pt x="0" y="4588563"/>
                      <a:pt x="17780" y="4610153"/>
                      <a:pt x="43180" y="4616503"/>
                    </a:cubicBezTo>
                    <a:cubicBezTo>
                      <a:pt x="48260" y="4641903"/>
                      <a:pt x="71120" y="4660953"/>
                      <a:pt x="97790" y="4660953"/>
                    </a:cubicBezTo>
                    <a:lnTo>
                      <a:pt x="3547131" y="4660953"/>
                    </a:lnTo>
                    <a:cubicBezTo>
                      <a:pt x="3577611" y="4660953"/>
                      <a:pt x="3603011" y="4635553"/>
                      <a:pt x="3603011" y="4605074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4561893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4561893"/>
                    </a:lnTo>
                    <a:cubicBezTo>
                      <a:pt x="3548401" y="4586024"/>
                      <a:pt x="3529351" y="4605074"/>
                      <a:pt x="3505221" y="4605074"/>
                    </a:cubicBezTo>
                    <a:lnTo>
                      <a:pt x="55880" y="4605074"/>
                    </a:lnTo>
                    <a:cubicBezTo>
                      <a:pt x="31750" y="4605074"/>
                      <a:pt x="12700" y="4586024"/>
                      <a:pt x="12700" y="4561893"/>
                    </a:cubicBezTo>
                    <a:close/>
                    <a:moveTo>
                      <a:pt x="3590311" y="4605074"/>
                    </a:moveTo>
                    <a:cubicBezTo>
                      <a:pt x="3590311" y="4629203"/>
                      <a:pt x="3571261" y="4648253"/>
                      <a:pt x="3547131" y="4648253"/>
                    </a:cubicBezTo>
                    <a:lnTo>
                      <a:pt x="97790" y="4648253"/>
                    </a:lnTo>
                    <a:cubicBezTo>
                      <a:pt x="78740" y="4648253"/>
                      <a:pt x="62230" y="4635553"/>
                      <a:pt x="57150" y="4617774"/>
                    </a:cubicBezTo>
                    <a:lnTo>
                      <a:pt x="3505221" y="4617774"/>
                    </a:lnTo>
                    <a:cubicBezTo>
                      <a:pt x="3535701" y="4617774"/>
                      <a:pt x="3561101" y="4592374"/>
                      <a:pt x="3561101" y="4561893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4605074"/>
                    </a:ln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8" name="Google Shape;388;p11"/>
            <p:cNvSpPr txBox="1"/>
            <p:nvPr/>
          </p:nvSpPr>
          <p:spPr>
            <a:xfrm>
              <a:off x="312336" y="886193"/>
              <a:ext cx="3730929" cy="37764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Esta columna simboliza la culminación del trabajo comprometido y es una pieza clave para medir el rendimiento del equipo</a:t>
              </a:r>
              <a:endParaRPr/>
            </a:p>
          </p:txBody>
        </p:sp>
      </p:grpSp>
      <p:grpSp>
        <p:nvGrpSpPr>
          <p:cNvPr id="389" name="Google Shape;389;p11"/>
          <p:cNvGrpSpPr/>
          <p:nvPr/>
        </p:nvGrpSpPr>
        <p:grpSpPr>
          <a:xfrm>
            <a:off x="5391375" y="4458829"/>
            <a:ext cx="3266700" cy="4575260"/>
            <a:chOff x="0" y="0"/>
            <a:chExt cx="4355600" cy="6100347"/>
          </a:xfrm>
        </p:grpSpPr>
        <p:grpSp>
          <p:nvGrpSpPr>
            <p:cNvPr id="390" name="Google Shape;390;p11"/>
            <p:cNvGrpSpPr/>
            <p:nvPr/>
          </p:nvGrpSpPr>
          <p:grpSpPr>
            <a:xfrm>
              <a:off x="0" y="0"/>
              <a:ext cx="4355600" cy="6100347"/>
              <a:chOff x="0" y="0"/>
              <a:chExt cx="3603011" cy="5046289"/>
            </a:xfrm>
          </p:grpSpPr>
          <p:sp>
            <p:nvSpPr>
              <p:cNvPr id="391" name="Google Shape;391;p11"/>
              <p:cNvSpPr/>
              <p:nvPr/>
            </p:nvSpPr>
            <p:spPr>
              <a:xfrm>
                <a:off x="57150" y="58420"/>
                <a:ext cx="3533161" cy="4975169"/>
              </a:xfrm>
              <a:custGeom>
                <a:rect b="b" l="l" r="r" t="t"/>
                <a:pathLst>
                  <a:path extrusionOk="0" h="4975169" w="3533161">
                    <a:moveTo>
                      <a:pt x="3448071" y="4944689"/>
                    </a:moveTo>
                    <a:lnTo>
                      <a:pt x="0" y="4944689"/>
                    </a:lnTo>
                    <a:cubicBezTo>
                      <a:pt x="5080" y="4962469"/>
                      <a:pt x="21590" y="4975169"/>
                      <a:pt x="40640" y="4975169"/>
                    </a:cubicBezTo>
                    <a:lnTo>
                      <a:pt x="3489981" y="4975169"/>
                    </a:lnTo>
                    <a:cubicBezTo>
                      <a:pt x="3514111" y="4975169"/>
                      <a:pt x="3533161" y="4956119"/>
                      <a:pt x="3533161" y="4931989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4888809"/>
                    </a:lnTo>
                    <a:cubicBezTo>
                      <a:pt x="3503951" y="4919289"/>
                      <a:pt x="3478551" y="4944689"/>
                      <a:pt x="3448071" y="4944689"/>
                    </a:cubicBez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1"/>
              <p:cNvSpPr/>
              <p:nvPr/>
            </p:nvSpPr>
            <p:spPr>
              <a:xfrm>
                <a:off x="12700" y="12700"/>
                <a:ext cx="3535701" cy="4977709"/>
              </a:xfrm>
              <a:custGeom>
                <a:rect b="b" l="l" r="r" t="t"/>
                <a:pathLst>
                  <a:path extrusionOk="0" h="4977709" w="3535701">
                    <a:moveTo>
                      <a:pt x="43180" y="4977709"/>
                    </a:moveTo>
                    <a:lnTo>
                      <a:pt x="3492521" y="4977709"/>
                    </a:lnTo>
                    <a:cubicBezTo>
                      <a:pt x="3516651" y="4977709"/>
                      <a:pt x="3535701" y="4958659"/>
                      <a:pt x="3535701" y="4934529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4934529"/>
                    </a:lnTo>
                    <a:cubicBezTo>
                      <a:pt x="0" y="4958659"/>
                      <a:pt x="19050" y="4977709"/>
                      <a:pt x="43180" y="497770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11"/>
              <p:cNvSpPr/>
              <p:nvPr/>
            </p:nvSpPr>
            <p:spPr>
              <a:xfrm>
                <a:off x="0" y="0"/>
                <a:ext cx="3603011" cy="5046289"/>
              </a:xfrm>
              <a:custGeom>
                <a:rect b="b" l="l" r="r" t="t"/>
                <a:pathLst>
                  <a:path extrusionOk="0" h="5046289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4947229"/>
                    </a:lnTo>
                    <a:cubicBezTo>
                      <a:pt x="0" y="4973899"/>
                      <a:pt x="17780" y="4995489"/>
                      <a:pt x="43180" y="5001839"/>
                    </a:cubicBezTo>
                    <a:cubicBezTo>
                      <a:pt x="48260" y="5027239"/>
                      <a:pt x="71120" y="5046289"/>
                      <a:pt x="97790" y="5046289"/>
                    </a:cubicBezTo>
                    <a:lnTo>
                      <a:pt x="3547131" y="5046289"/>
                    </a:lnTo>
                    <a:cubicBezTo>
                      <a:pt x="3577611" y="5046289"/>
                      <a:pt x="3603011" y="5020889"/>
                      <a:pt x="3603011" y="4990409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4947229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4947229"/>
                    </a:lnTo>
                    <a:cubicBezTo>
                      <a:pt x="3548401" y="4971359"/>
                      <a:pt x="3529351" y="4990409"/>
                      <a:pt x="3505221" y="4990409"/>
                    </a:cubicBezTo>
                    <a:lnTo>
                      <a:pt x="55880" y="4990409"/>
                    </a:lnTo>
                    <a:cubicBezTo>
                      <a:pt x="31750" y="4990409"/>
                      <a:pt x="12700" y="4971359"/>
                      <a:pt x="12700" y="4947229"/>
                    </a:cubicBezTo>
                    <a:close/>
                    <a:moveTo>
                      <a:pt x="3590311" y="4990409"/>
                    </a:moveTo>
                    <a:cubicBezTo>
                      <a:pt x="3590311" y="5014539"/>
                      <a:pt x="3571261" y="5033589"/>
                      <a:pt x="3547131" y="5033589"/>
                    </a:cubicBezTo>
                    <a:lnTo>
                      <a:pt x="97790" y="5033589"/>
                    </a:lnTo>
                    <a:cubicBezTo>
                      <a:pt x="78740" y="5033589"/>
                      <a:pt x="62230" y="5020889"/>
                      <a:pt x="57150" y="5003109"/>
                    </a:cubicBezTo>
                    <a:lnTo>
                      <a:pt x="3505221" y="5003109"/>
                    </a:lnTo>
                    <a:cubicBezTo>
                      <a:pt x="3535701" y="5003109"/>
                      <a:pt x="3561101" y="4977709"/>
                      <a:pt x="3561101" y="4947229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4990409"/>
                    </a:ln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4" name="Google Shape;394;p11"/>
            <p:cNvSpPr txBox="1"/>
            <p:nvPr/>
          </p:nvSpPr>
          <p:spPr>
            <a:xfrm>
              <a:off x="312336" y="886193"/>
              <a:ext cx="3730929" cy="4242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Deben de estar con la funcionalidad completa y sin errores, la documentación actualizada, cobertura de pruebas suficiente y revisión de código</a:t>
              </a:r>
              <a:endParaRPr/>
            </a:p>
          </p:txBody>
        </p:sp>
      </p:grpSp>
      <p:grpSp>
        <p:nvGrpSpPr>
          <p:cNvPr id="395" name="Google Shape;395;p11"/>
          <p:cNvGrpSpPr/>
          <p:nvPr/>
        </p:nvGrpSpPr>
        <p:grpSpPr>
          <a:xfrm>
            <a:off x="9334351" y="2695251"/>
            <a:ext cx="3266700" cy="3527157"/>
            <a:chOff x="0" y="0"/>
            <a:chExt cx="4355600" cy="4702876"/>
          </a:xfrm>
        </p:grpSpPr>
        <p:grpSp>
          <p:nvGrpSpPr>
            <p:cNvPr id="396" name="Google Shape;396;p11"/>
            <p:cNvGrpSpPr/>
            <p:nvPr/>
          </p:nvGrpSpPr>
          <p:grpSpPr>
            <a:xfrm>
              <a:off x="0" y="0"/>
              <a:ext cx="4355600" cy="4702876"/>
              <a:chOff x="0" y="0"/>
              <a:chExt cx="3603011" cy="3890282"/>
            </a:xfrm>
          </p:grpSpPr>
          <p:sp>
            <p:nvSpPr>
              <p:cNvPr id="397" name="Google Shape;397;p11"/>
              <p:cNvSpPr/>
              <p:nvPr/>
            </p:nvSpPr>
            <p:spPr>
              <a:xfrm>
                <a:off x="57150" y="58420"/>
                <a:ext cx="3533161" cy="3819162"/>
              </a:xfrm>
              <a:custGeom>
                <a:rect b="b" l="l" r="r" t="t"/>
                <a:pathLst>
                  <a:path extrusionOk="0" h="3819162" w="3533161">
                    <a:moveTo>
                      <a:pt x="3448071" y="3788682"/>
                    </a:moveTo>
                    <a:lnTo>
                      <a:pt x="0" y="3788682"/>
                    </a:lnTo>
                    <a:cubicBezTo>
                      <a:pt x="5080" y="3806462"/>
                      <a:pt x="21590" y="3819162"/>
                      <a:pt x="40640" y="3819162"/>
                    </a:cubicBezTo>
                    <a:lnTo>
                      <a:pt x="3489981" y="3819162"/>
                    </a:lnTo>
                    <a:cubicBezTo>
                      <a:pt x="3514111" y="3819162"/>
                      <a:pt x="3533161" y="3800112"/>
                      <a:pt x="3533161" y="3775982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3732802"/>
                    </a:lnTo>
                    <a:cubicBezTo>
                      <a:pt x="3503951" y="3763282"/>
                      <a:pt x="3478551" y="3788682"/>
                      <a:pt x="3448071" y="3788682"/>
                    </a:cubicBez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11"/>
              <p:cNvSpPr/>
              <p:nvPr/>
            </p:nvSpPr>
            <p:spPr>
              <a:xfrm>
                <a:off x="12700" y="12700"/>
                <a:ext cx="3535701" cy="3821702"/>
              </a:xfrm>
              <a:custGeom>
                <a:rect b="b" l="l" r="r" t="t"/>
                <a:pathLst>
                  <a:path extrusionOk="0" h="3821702" w="3535701">
                    <a:moveTo>
                      <a:pt x="43180" y="3821702"/>
                    </a:moveTo>
                    <a:lnTo>
                      <a:pt x="3492521" y="3821702"/>
                    </a:lnTo>
                    <a:cubicBezTo>
                      <a:pt x="3516651" y="3821702"/>
                      <a:pt x="3535701" y="3802652"/>
                      <a:pt x="3535701" y="3778522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778522"/>
                    </a:lnTo>
                    <a:cubicBezTo>
                      <a:pt x="0" y="3802652"/>
                      <a:pt x="19050" y="3821702"/>
                      <a:pt x="43180" y="38217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11"/>
              <p:cNvSpPr/>
              <p:nvPr/>
            </p:nvSpPr>
            <p:spPr>
              <a:xfrm>
                <a:off x="0" y="0"/>
                <a:ext cx="3603011" cy="3890282"/>
              </a:xfrm>
              <a:custGeom>
                <a:rect b="b" l="l" r="r" t="t"/>
                <a:pathLst>
                  <a:path extrusionOk="0" h="3890282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791222"/>
                    </a:lnTo>
                    <a:cubicBezTo>
                      <a:pt x="0" y="3817892"/>
                      <a:pt x="17780" y="3839482"/>
                      <a:pt x="43180" y="3845832"/>
                    </a:cubicBezTo>
                    <a:cubicBezTo>
                      <a:pt x="48260" y="3871232"/>
                      <a:pt x="71120" y="3890282"/>
                      <a:pt x="97790" y="3890282"/>
                    </a:cubicBezTo>
                    <a:lnTo>
                      <a:pt x="3547131" y="3890282"/>
                    </a:lnTo>
                    <a:cubicBezTo>
                      <a:pt x="3577611" y="3890282"/>
                      <a:pt x="3603011" y="3864882"/>
                      <a:pt x="3603011" y="3834402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791222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791222"/>
                    </a:lnTo>
                    <a:cubicBezTo>
                      <a:pt x="3548401" y="3815352"/>
                      <a:pt x="3529351" y="3834402"/>
                      <a:pt x="3505221" y="3834402"/>
                    </a:cubicBezTo>
                    <a:lnTo>
                      <a:pt x="55880" y="3834402"/>
                    </a:lnTo>
                    <a:cubicBezTo>
                      <a:pt x="31750" y="3834402"/>
                      <a:pt x="12700" y="3815352"/>
                      <a:pt x="12700" y="3791222"/>
                    </a:cubicBezTo>
                    <a:close/>
                    <a:moveTo>
                      <a:pt x="3590311" y="3834402"/>
                    </a:moveTo>
                    <a:cubicBezTo>
                      <a:pt x="3590311" y="3858532"/>
                      <a:pt x="3571261" y="3877582"/>
                      <a:pt x="3547131" y="3877582"/>
                    </a:cubicBezTo>
                    <a:lnTo>
                      <a:pt x="97790" y="3877582"/>
                    </a:lnTo>
                    <a:cubicBezTo>
                      <a:pt x="78740" y="3877582"/>
                      <a:pt x="62230" y="3864882"/>
                      <a:pt x="57150" y="3847102"/>
                    </a:cubicBezTo>
                    <a:lnTo>
                      <a:pt x="3505221" y="3847102"/>
                    </a:lnTo>
                    <a:cubicBezTo>
                      <a:pt x="3535701" y="3847102"/>
                      <a:pt x="3561101" y="3821702"/>
                      <a:pt x="3561101" y="3791222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834402"/>
                    </a:ln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0" name="Google Shape;400;p11"/>
            <p:cNvSpPr txBox="1"/>
            <p:nvPr/>
          </p:nvSpPr>
          <p:spPr>
            <a:xfrm>
              <a:off x="312336" y="886193"/>
              <a:ext cx="3730929" cy="28447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EL Scrum Master no despliega directamente, pero puede facilitar la coordinación con infraestructura</a:t>
              </a:r>
              <a:endParaRPr/>
            </a:p>
          </p:txBody>
        </p:sp>
      </p:grpSp>
      <p:grpSp>
        <p:nvGrpSpPr>
          <p:cNvPr id="401" name="Google Shape;401;p11"/>
          <p:cNvGrpSpPr/>
          <p:nvPr/>
        </p:nvGrpSpPr>
        <p:grpSpPr>
          <a:xfrm>
            <a:off x="13277326" y="5492868"/>
            <a:ext cx="3266700" cy="2828421"/>
            <a:chOff x="0" y="0"/>
            <a:chExt cx="4355600" cy="3771228"/>
          </a:xfrm>
        </p:grpSpPr>
        <p:grpSp>
          <p:nvGrpSpPr>
            <p:cNvPr id="402" name="Google Shape;402;p11"/>
            <p:cNvGrpSpPr/>
            <p:nvPr/>
          </p:nvGrpSpPr>
          <p:grpSpPr>
            <a:xfrm>
              <a:off x="0" y="0"/>
              <a:ext cx="4355600" cy="3771228"/>
              <a:chOff x="0" y="0"/>
              <a:chExt cx="3603011" cy="3119611"/>
            </a:xfrm>
          </p:grpSpPr>
          <p:sp>
            <p:nvSpPr>
              <p:cNvPr id="403" name="Google Shape;403;p11"/>
              <p:cNvSpPr/>
              <p:nvPr/>
            </p:nvSpPr>
            <p:spPr>
              <a:xfrm>
                <a:off x="57150" y="58420"/>
                <a:ext cx="3533161" cy="3048491"/>
              </a:xfrm>
              <a:custGeom>
                <a:rect b="b" l="l" r="r" t="t"/>
                <a:pathLst>
                  <a:path extrusionOk="0" h="3048491" w="3533161">
                    <a:moveTo>
                      <a:pt x="3448071" y="3018011"/>
                    </a:moveTo>
                    <a:lnTo>
                      <a:pt x="0" y="3018011"/>
                    </a:lnTo>
                    <a:cubicBezTo>
                      <a:pt x="5080" y="3035791"/>
                      <a:pt x="21590" y="3048491"/>
                      <a:pt x="40640" y="3048491"/>
                    </a:cubicBezTo>
                    <a:lnTo>
                      <a:pt x="3489981" y="3048491"/>
                    </a:lnTo>
                    <a:cubicBezTo>
                      <a:pt x="3514111" y="3048491"/>
                      <a:pt x="3533161" y="3029441"/>
                      <a:pt x="3533161" y="3005311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2962131"/>
                    </a:lnTo>
                    <a:cubicBezTo>
                      <a:pt x="3503951" y="2992611"/>
                      <a:pt x="3478551" y="3018011"/>
                      <a:pt x="3448071" y="3018011"/>
                    </a:cubicBez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11"/>
              <p:cNvSpPr/>
              <p:nvPr/>
            </p:nvSpPr>
            <p:spPr>
              <a:xfrm>
                <a:off x="12700" y="12700"/>
                <a:ext cx="3535701" cy="3051031"/>
              </a:xfrm>
              <a:custGeom>
                <a:rect b="b" l="l" r="r" t="t"/>
                <a:pathLst>
                  <a:path extrusionOk="0" h="3051031" w="3535701">
                    <a:moveTo>
                      <a:pt x="43180" y="3051031"/>
                    </a:moveTo>
                    <a:lnTo>
                      <a:pt x="3492521" y="3051031"/>
                    </a:lnTo>
                    <a:cubicBezTo>
                      <a:pt x="3516651" y="3051031"/>
                      <a:pt x="3535701" y="3031981"/>
                      <a:pt x="3535701" y="3007851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007851"/>
                    </a:lnTo>
                    <a:cubicBezTo>
                      <a:pt x="0" y="3031981"/>
                      <a:pt x="19050" y="3051031"/>
                      <a:pt x="43180" y="30510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1"/>
              <p:cNvSpPr/>
              <p:nvPr/>
            </p:nvSpPr>
            <p:spPr>
              <a:xfrm>
                <a:off x="0" y="0"/>
                <a:ext cx="3603011" cy="3119611"/>
              </a:xfrm>
              <a:custGeom>
                <a:rect b="b" l="l" r="r" t="t"/>
                <a:pathLst>
                  <a:path extrusionOk="0" h="3119611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020551"/>
                    </a:lnTo>
                    <a:cubicBezTo>
                      <a:pt x="0" y="3047221"/>
                      <a:pt x="17780" y="3068811"/>
                      <a:pt x="43180" y="3075161"/>
                    </a:cubicBezTo>
                    <a:cubicBezTo>
                      <a:pt x="48260" y="3100561"/>
                      <a:pt x="71120" y="3119611"/>
                      <a:pt x="97790" y="3119611"/>
                    </a:cubicBezTo>
                    <a:lnTo>
                      <a:pt x="3547131" y="3119611"/>
                    </a:lnTo>
                    <a:cubicBezTo>
                      <a:pt x="3577611" y="3119611"/>
                      <a:pt x="3603011" y="3094211"/>
                      <a:pt x="3603011" y="3063731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02055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020551"/>
                    </a:lnTo>
                    <a:cubicBezTo>
                      <a:pt x="3548401" y="3044681"/>
                      <a:pt x="3529351" y="3063731"/>
                      <a:pt x="3505221" y="3063731"/>
                    </a:cubicBezTo>
                    <a:lnTo>
                      <a:pt x="55880" y="3063731"/>
                    </a:lnTo>
                    <a:cubicBezTo>
                      <a:pt x="31750" y="3063731"/>
                      <a:pt x="12700" y="3044681"/>
                      <a:pt x="12700" y="3020551"/>
                    </a:cubicBezTo>
                    <a:close/>
                    <a:moveTo>
                      <a:pt x="3590311" y="3063731"/>
                    </a:moveTo>
                    <a:cubicBezTo>
                      <a:pt x="3590311" y="3087861"/>
                      <a:pt x="3571261" y="3106911"/>
                      <a:pt x="3547131" y="3106911"/>
                    </a:cubicBezTo>
                    <a:lnTo>
                      <a:pt x="97790" y="3106911"/>
                    </a:lnTo>
                    <a:cubicBezTo>
                      <a:pt x="78740" y="3106911"/>
                      <a:pt x="62230" y="3094211"/>
                      <a:pt x="57150" y="3076431"/>
                    </a:cubicBezTo>
                    <a:lnTo>
                      <a:pt x="3505221" y="3076431"/>
                    </a:lnTo>
                    <a:cubicBezTo>
                      <a:pt x="3535701" y="3076431"/>
                      <a:pt x="3561101" y="3051031"/>
                      <a:pt x="3561101" y="3020551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063731"/>
                    </a:ln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6" name="Google Shape;406;p11"/>
            <p:cNvSpPr txBox="1"/>
            <p:nvPr/>
          </p:nvSpPr>
          <p:spPr>
            <a:xfrm>
              <a:off x="312336" y="886193"/>
              <a:ext cx="3730929" cy="1913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El análisis de lo que llega a esta columna puede informar retrospectivas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0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2"/>
          <p:cNvSpPr txBox="1"/>
          <p:nvPr/>
        </p:nvSpPr>
        <p:spPr>
          <a:xfrm>
            <a:off x="2736967" y="4352216"/>
            <a:ext cx="12814067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¿CÓMO MANEJO MI TABLERO?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0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3"/>
          <p:cNvSpPr/>
          <p:nvPr/>
        </p:nvSpPr>
        <p:spPr>
          <a:xfrm>
            <a:off x="9976213" y="3095132"/>
            <a:ext cx="7283087" cy="4096736"/>
          </a:xfrm>
          <a:custGeom>
            <a:rect b="b" l="l" r="r" t="t"/>
            <a:pathLst>
              <a:path extrusionOk="0" h="4096736" w="7283087">
                <a:moveTo>
                  <a:pt x="0" y="0"/>
                </a:moveTo>
                <a:lnTo>
                  <a:pt x="7283087" y="0"/>
                </a:lnTo>
                <a:lnTo>
                  <a:pt x="7283087" y="4096736"/>
                </a:lnTo>
                <a:lnTo>
                  <a:pt x="0" y="4096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7" name="Google Shape;417;p13"/>
          <p:cNvGrpSpPr/>
          <p:nvPr/>
        </p:nvGrpSpPr>
        <p:grpSpPr>
          <a:xfrm>
            <a:off x="1550297" y="2658745"/>
            <a:ext cx="7865644" cy="4969160"/>
            <a:chOff x="0" y="-9525"/>
            <a:chExt cx="10487525" cy="6625545"/>
          </a:xfrm>
        </p:grpSpPr>
        <p:sp>
          <p:nvSpPr>
            <p:cNvPr id="418" name="Google Shape;418;p13"/>
            <p:cNvSpPr txBox="1"/>
            <p:nvPr/>
          </p:nvSpPr>
          <p:spPr>
            <a:xfrm>
              <a:off x="0" y="-9525"/>
              <a:ext cx="10487525" cy="17361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52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TRELLO</a:t>
              </a:r>
              <a:endParaRPr/>
            </a:p>
          </p:txBody>
        </p:sp>
        <p:sp>
          <p:nvSpPr>
            <p:cNvPr id="419" name="Google Shape;419;p13"/>
            <p:cNvSpPr txBox="1"/>
            <p:nvPr/>
          </p:nvSpPr>
          <p:spPr>
            <a:xfrm>
              <a:off x="0" y="2465502"/>
              <a:ext cx="10487525" cy="4150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En Trello, el enfoque es más visual, simple y flexible. Cada columna del tablero puede representarse como una "lista", y cada tarea como una "tarjeta".</a:t>
              </a:r>
              <a:endParaRPr/>
            </a:p>
            <a:p>
              <a:pPr indent="0" lvl="0" marL="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9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Trello permite mover fácilmente las tarjetas entre columnas, lo que facilita el seguimiento visual del flujo de trabajo.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0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4"/>
          <p:cNvSpPr/>
          <p:nvPr/>
        </p:nvSpPr>
        <p:spPr>
          <a:xfrm>
            <a:off x="10322956" y="4312474"/>
            <a:ext cx="6936344" cy="2720135"/>
          </a:xfrm>
          <a:custGeom>
            <a:rect b="b" l="l" r="r" t="t"/>
            <a:pathLst>
              <a:path extrusionOk="0" h="2720135" w="6936344">
                <a:moveTo>
                  <a:pt x="0" y="0"/>
                </a:moveTo>
                <a:lnTo>
                  <a:pt x="6936344" y="0"/>
                </a:lnTo>
                <a:lnTo>
                  <a:pt x="6936344" y="2720135"/>
                </a:lnTo>
                <a:lnTo>
                  <a:pt x="0" y="27201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25" name="Google Shape;425;p14"/>
          <p:cNvGrpSpPr/>
          <p:nvPr/>
        </p:nvGrpSpPr>
        <p:grpSpPr>
          <a:xfrm>
            <a:off x="1550297" y="2658745"/>
            <a:ext cx="7865644" cy="5410668"/>
            <a:chOff x="0" y="-9525"/>
            <a:chExt cx="10487525" cy="7214223"/>
          </a:xfrm>
        </p:grpSpPr>
        <p:sp>
          <p:nvSpPr>
            <p:cNvPr id="426" name="Google Shape;426;p14"/>
            <p:cNvSpPr txBox="1"/>
            <p:nvPr/>
          </p:nvSpPr>
          <p:spPr>
            <a:xfrm>
              <a:off x="0" y="-9525"/>
              <a:ext cx="10487525" cy="17361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52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JIRA</a:t>
              </a:r>
              <a:endParaRPr/>
            </a:p>
          </p:txBody>
        </p:sp>
        <p:sp>
          <p:nvSpPr>
            <p:cNvPr id="427" name="Google Shape;427;p14"/>
            <p:cNvSpPr txBox="1"/>
            <p:nvPr/>
          </p:nvSpPr>
          <p:spPr>
            <a:xfrm>
              <a:off x="0" y="2465502"/>
              <a:ext cx="10487525" cy="4739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Jira está orientado específicamente al trabajo ágil y ofrece una estructura más robusta y configurable. Es ideal para equipos que necesitan seguimiento detallado, reportes automáticos y métricas.</a:t>
              </a:r>
              <a:endParaRPr/>
            </a:p>
            <a:p>
              <a:pPr indent="0" lvl="0" marL="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9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En Jira, se puede configurar un tablero tipo Kanban y añadir las columnas necesarias siguiendo la lógica de Scrumban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0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15"/>
          <p:cNvGrpSpPr/>
          <p:nvPr/>
        </p:nvGrpSpPr>
        <p:grpSpPr>
          <a:xfrm>
            <a:off x="1276087" y="3613025"/>
            <a:ext cx="15488437" cy="2819475"/>
            <a:chOff x="329850" y="1819941"/>
            <a:chExt cx="20651250" cy="3759300"/>
          </a:xfrm>
        </p:grpSpPr>
        <p:sp>
          <p:nvSpPr>
            <p:cNvPr id="433" name="Google Shape;433;p15"/>
            <p:cNvSpPr txBox="1"/>
            <p:nvPr/>
          </p:nvSpPr>
          <p:spPr>
            <a:xfrm>
              <a:off x="659700" y="1819941"/>
              <a:ext cx="20321400" cy="306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47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EL USO DISCIPLINADO DE HERRAMIENTAS COMO TRELLO O JIRA NO SOLO REFLEJA EL FLUJO DE TRABAJO DEL EQUIPO, SINO QUE TAMBIÉN EVIDENCIA SU COMPROMISO CON LA TRANSPARENCIA, LA COLABORACIÓN Y LA ENTREGA CONTINUA DE VALOR.</a:t>
              </a:r>
              <a:endParaRPr/>
            </a:p>
          </p:txBody>
        </p:sp>
        <p:sp>
          <p:nvSpPr>
            <p:cNvPr id="434" name="Google Shape;434;p15"/>
            <p:cNvSpPr txBox="1"/>
            <p:nvPr/>
          </p:nvSpPr>
          <p:spPr>
            <a:xfrm>
              <a:off x="329850" y="4884441"/>
              <a:ext cx="20321400" cy="69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86" u="none" cap="none" strike="noStrike">
                  <a:solidFill>
                    <a:srgbClr val="57FFFF"/>
                  </a:solidFill>
                  <a:latin typeface="Arial"/>
                  <a:ea typeface="Arial"/>
                  <a:cs typeface="Arial"/>
                  <a:sym typeface="Arial"/>
                </a:rPr>
                <a:t>COMPROMISO</a:t>
              </a:r>
              <a:endParaRPr sz="320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0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6"/>
          <p:cNvSpPr txBox="1"/>
          <p:nvPr/>
        </p:nvSpPr>
        <p:spPr>
          <a:xfrm>
            <a:off x="4356853" y="1180211"/>
            <a:ext cx="9574294" cy="1023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7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  <p:sp>
        <p:nvSpPr>
          <p:cNvPr id="440" name="Google Shape;440;p16"/>
          <p:cNvSpPr txBox="1"/>
          <p:nvPr/>
        </p:nvSpPr>
        <p:spPr>
          <a:xfrm>
            <a:off x="2362200" y="2912699"/>
            <a:ext cx="5432383" cy="5733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Tanto en Scrumban como en las herramientas que lo soportan (Trello o Jira), el enfoque visual y ordenado del flujo permite que todos los miembros del equipo comprendan en qué estado se encuentra cada tarea y facilitando la toma de decisiones</a:t>
            </a:r>
            <a:endParaRPr/>
          </a:p>
        </p:txBody>
      </p:sp>
      <p:sp>
        <p:nvSpPr>
          <p:cNvPr id="441" name="Google Shape;441;p16"/>
          <p:cNvSpPr txBox="1"/>
          <p:nvPr/>
        </p:nvSpPr>
        <p:spPr>
          <a:xfrm>
            <a:off x="9753600" y="2912699"/>
            <a:ext cx="5432383" cy="4031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 miembro del equipo asume un rol activo en la selección, ejecución, validación y finalización de tareas, lo que fomenta una cultura de compromiso colectivo.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0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17"/>
          <p:cNvGrpSpPr/>
          <p:nvPr/>
        </p:nvGrpSpPr>
        <p:grpSpPr>
          <a:xfrm>
            <a:off x="2736967" y="4069120"/>
            <a:ext cx="12814067" cy="3885342"/>
            <a:chOff x="0" y="1056293"/>
            <a:chExt cx="17085423" cy="5180456"/>
          </a:xfrm>
        </p:grpSpPr>
        <p:sp>
          <p:nvSpPr>
            <p:cNvPr id="447" name="Google Shape;447;p17"/>
            <p:cNvSpPr txBox="1"/>
            <p:nvPr/>
          </p:nvSpPr>
          <p:spPr>
            <a:xfrm>
              <a:off x="0" y="1056293"/>
              <a:ext cx="17085423" cy="27328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999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35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¡GRACIAS!</a:t>
              </a:r>
              <a:endParaRPr/>
            </a:p>
          </p:txBody>
        </p:sp>
        <p:sp>
          <p:nvSpPr>
            <p:cNvPr id="448" name="Google Shape;448;p17"/>
            <p:cNvSpPr txBox="1"/>
            <p:nvPr/>
          </p:nvSpPr>
          <p:spPr>
            <a:xfrm>
              <a:off x="0" y="5612251"/>
              <a:ext cx="17085423" cy="624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57FFFF"/>
                  </a:solidFill>
                  <a:latin typeface="Arial"/>
                  <a:ea typeface="Arial"/>
                  <a:cs typeface="Arial"/>
                  <a:sym typeface="Arial"/>
                </a:rPr>
                <a:t>DUDAS?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