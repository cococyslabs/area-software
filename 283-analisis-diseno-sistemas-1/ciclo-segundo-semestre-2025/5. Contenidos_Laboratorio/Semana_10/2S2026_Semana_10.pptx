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Open Sans"/>
      <p:bold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bold.fntdata"/><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OpenSans-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fcedbeef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g3dfcedbeef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dfcedbeef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g3dfcedbeef4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fcedbeef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g3dfcedbeef4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dfcedbeef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dfcedbeef4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fcedbeef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3dfcedbeef4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fcedbeef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3dfcedbeef4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fcedbeef4_0_3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g3dfcedbeef4_0_3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fcedbeef4_0_3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g3dfcedbeef4_0_3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fcedbeef4_0_3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g3dfcedbeef4_0_3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dfcedbeef4_0_3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g3dfcedbeef4_0_3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dfcedbeef4_0_3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g3dfcedbeef4_0_3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fcedbeef4_0_4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g3dfcedbeef4_0_4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dfcedbeef4_0_4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g3dfcedbeef4_0_4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dfcedbeef4_0_4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g3dfcedbeef4_0_4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fcedbeef4_0_4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g3dfcedbeef4_0_4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dfcedbeef4_0_4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g3dfcedbeef4_0_4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dfcedbeef4_0_4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g3dfcedbeef4_0_4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dfcedbeef4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g3dfcedbeef4_0_1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dfcedbeef4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3dfcedbeef4_0_1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dfcedbeef4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g3dfcedbeef4_0_2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dfcedbeef4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g3dfcedbeef4_0_2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dfcedbeef4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3dfcedbeef4_0_2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dfcedbeef4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3dfcedbeef4_0_2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dfcedbeef4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3dfcedbeef4_0_2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dfcedbeef4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g3dfcedbeef4_0_2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1.png"/><Relationship Id="rId4" Type="http://schemas.openxmlformats.org/officeDocument/2006/relationships/image" Target="../media/image7.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7.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1" Type="http://schemas.openxmlformats.org/officeDocument/2006/relationships/hyperlink" Target="https://www.npmjs.com/package/cypress" TargetMode="External"/><Relationship Id="rId10" Type="http://schemas.openxmlformats.org/officeDocument/2006/relationships/hyperlink" Target="https://www.npmjs.com/package/cypress" TargetMode="External"/><Relationship Id="rId13" Type="http://schemas.openxmlformats.org/officeDocument/2006/relationships/hyperlink" Target="https://owasp.org/www-project-web-security-testing-guide/" TargetMode="External"/><Relationship Id="rId12" Type="http://schemas.openxmlformats.org/officeDocument/2006/relationships/hyperlink" Target="https://owasp.org/www-project-web-security-testing-guide/" TargetMode="External"/><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12.png"/><Relationship Id="rId9" Type="http://schemas.openxmlformats.org/officeDocument/2006/relationships/hyperlink" Target="https://martinfowler.com/articles/practical-test-pyramid.html" TargetMode="External"/><Relationship Id="rId15" Type="http://schemas.openxmlformats.org/officeDocument/2006/relationships/hyperlink" Target="https://github.com/GoogleChrome/lighthouse-ci" TargetMode="External"/><Relationship Id="rId14" Type="http://schemas.openxmlformats.org/officeDocument/2006/relationships/hyperlink" Target="https://github.com/GoogleChrome/lighthouse-ci" TargetMode="External"/><Relationship Id="rId5" Type="http://schemas.openxmlformats.org/officeDocument/2006/relationships/hyperlink" Target="https://cypress.io" TargetMode="External"/><Relationship Id="rId6" Type="http://schemas.openxmlformats.org/officeDocument/2006/relationships/hyperlink" Target="https://docs.cypress.io/guides/end-to-end-testing/writing-your-first-end-to-end-test" TargetMode="External"/><Relationship Id="rId7" Type="http://schemas.openxmlformats.org/officeDocument/2006/relationships/hyperlink" Target="https://docs.cypress.io/guides/end-to-end-testing/writing-your-first-end-to-end-test" TargetMode="External"/><Relationship Id="rId8" Type="http://schemas.openxmlformats.org/officeDocument/2006/relationships/hyperlink" Target="https://martinfowler.com/articles/practical-test-pyramid.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hyperlink" Target="https://www.youtube.com/watch?v=F8443XQafGU"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55" name="Google Shape;55;p13"/>
          <p:cNvSpPr/>
          <p:nvPr/>
        </p:nvSpPr>
        <p:spPr>
          <a:xfrm>
            <a:off x="984925" y="1515075"/>
            <a:ext cx="7539188" cy="1630490"/>
          </a:xfrm>
          <a:custGeom>
            <a:rect b="b" l="l" r="r" t="t"/>
            <a:pathLst>
              <a:path extrusionOk="0" h="1811656" w="9002016">
                <a:moveTo>
                  <a:pt x="0" y="0"/>
                </a:moveTo>
                <a:lnTo>
                  <a:pt x="9002016" y="0"/>
                </a:lnTo>
                <a:lnTo>
                  <a:pt x="9002016" y="1811656"/>
                </a:lnTo>
                <a:lnTo>
                  <a:pt x="0" y="1811656"/>
                </a:lnTo>
                <a:lnTo>
                  <a:pt x="0" y="0"/>
                </a:lnTo>
                <a:close/>
              </a:path>
            </a:pathLst>
          </a:custGeom>
          <a:blipFill rotWithShape="1">
            <a:blip r:embed="rId4">
              <a:alphaModFix/>
            </a:blip>
            <a:stretch>
              <a:fillRect b="0" l="0" r="0" t="0"/>
            </a:stretch>
          </a:blipFill>
          <a:ln>
            <a:noFill/>
          </a:ln>
        </p:spPr>
      </p:sp>
      <p:pic>
        <p:nvPicPr>
          <p:cNvPr id="56" name="Google Shape;56;p13"/>
          <p:cNvPicPr preferRelativeResize="0"/>
          <p:nvPr/>
        </p:nvPicPr>
        <p:blipFill rotWithShape="1">
          <a:blip r:embed="rId5">
            <a:alphaModFix/>
          </a:blip>
          <a:srcRect b="0" l="0" r="0" t="0"/>
          <a:stretch/>
        </p:blipFill>
        <p:spPr>
          <a:xfrm>
            <a:off x="5335013" y="883388"/>
            <a:ext cx="4762338" cy="940550"/>
          </a:xfrm>
          <a:prstGeom prst="rect">
            <a:avLst/>
          </a:prstGeom>
          <a:noFill/>
          <a:ln>
            <a:noFill/>
          </a:ln>
        </p:spPr>
      </p:pic>
      <p:sp>
        <p:nvSpPr>
          <p:cNvPr id="57" name="Google Shape;57;p13"/>
          <p:cNvSpPr txBox="1"/>
          <p:nvPr/>
        </p:nvSpPr>
        <p:spPr>
          <a:xfrm>
            <a:off x="2896307" y="3145566"/>
            <a:ext cx="33516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Escuela de Ingeniería de Ciencias Y Sistemas</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58" name="Google Shape;58;p13"/>
          <p:cNvSpPr txBox="1"/>
          <p:nvPr/>
        </p:nvSpPr>
        <p:spPr>
          <a:xfrm>
            <a:off x="174325" y="4600575"/>
            <a:ext cx="3687300" cy="591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s" sz="1600" u="none" cap="none" strike="noStrike">
                <a:solidFill>
                  <a:srgbClr val="000000"/>
                </a:solidFill>
                <a:latin typeface="Open Sans"/>
                <a:ea typeface="Open Sans"/>
                <a:cs typeface="Open Sans"/>
                <a:sym typeface="Open Sans"/>
              </a:rPr>
              <a:t>NOMBRE DEL TUTOR</a:t>
            </a:r>
            <a:endParaRPr sz="700"/>
          </a:p>
          <a:p>
            <a:pPr indent="0" lvl="0" marL="0" marR="0" rtl="0" algn="ctr">
              <a:lnSpc>
                <a:spcPct val="140000"/>
              </a:lnSpc>
              <a:spcBef>
                <a:spcPts val="0"/>
              </a:spcBef>
              <a:spcAft>
                <a:spcPts val="0"/>
              </a:spcAft>
              <a:buNone/>
            </a:pPr>
            <a:r>
              <a:t/>
            </a:r>
            <a:endParaRPr b="1" i="0" sz="1600" u="none" cap="none" strike="noStrike">
              <a:solidFill>
                <a:srgbClr val="000000"/>
              </a:solidFill>
              <a:latin typeface="Open Sans"/>
              <a:ea typeface="Open Sans"/>
              <a:cs typeface="Open Sans"/>
              <a:sym typeface="Open Sans"/>
            </a:endParaRPr>
          </a:p>
        </p:txBody>
      </p:sp>
      <p:sp>
        <p:nvSpPr>
          <p:cNvPr id="59" name="Google Shape;59;p13"/>
          <p:cNvSpPr txBox="1"/>
          <p:nvPr/>
        </p:nvSpPr>
        <p:spPr>
          <a:xfrm>
            <a:off x="1452118" y="1900975"/>
            <a:ext cx="6593700" cy="711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t/>
            </a:r>
            <a:endParaRPr b="1" sz="2100">
              <a:latin typeface="Open Sans"/>
              <a:ea typeface="Open Sans"/>
              <a:cs typeface="Open Sans"/>
              <a:sym typeface="Open Sans"/>
            </a:endParaRPr>
          </a:p>
          <a:p>
            <a:pPr indent="0" lvl="0" marL="0" marR="0" rtl="0" algn="ctr">
              <a:lnSpc>
                <a:spcPct val="140000"/>
              </a:lnSpc>
              <a:spcBef>
                <a:spcPts val="0"/>
              </a:spcBef>
              <a:spcAft>
                <a:spcPts val="0"/>
              </a:spcAft>
              <a:buNone/>
            </a:pPr>
            <a:r>
              <a:rPr b="1" lang="es" sz="2100">
                <a:latin typeface="Open Sans"/>
                <a:ea typeface="Open Sans"/>
                <a:cs typeface="Open Sans"/>
                <a:sym typeface="Open Sans"/>
              </a:rPr>
              <a:t>Analisis y Diseño de Sistemas 1</a:t>
            </a:r>
            <a:endParaRPr sz="700"/>
          </a:p>
          <a:p>
            <a:pPr indent="0" lvl="0" marL="0" marR="0" rtl="0" algn="ctr">
              <a:lnSpc>
                <a:spcPct val="79976"/>
              </a:lnSpc>
              <a:spcBef>
                <a:spcPts val="0"/>
              </a:spcBef>
              <a:spcAft>
                <a:spcPts val="0"/>
              </a:spcAft>
              <a:buNone/>
            </a:pPr>
            <a:r>
              <a:t/>
            </a:r>
            <a:endParaRPr b="1" i="0" sz="21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p:nvPr/>
        </p:nvSpPr>
        <p:spPr>
          <a:xfrm>
            <a:off x="0" y="0"/>
            <a:ext cx="9144000" cy="5200650"/>
          </a:xfrm>
          <a:custGeom>
            <a:rect b="b" l="l" r="r" t="t"/>
            <a:pathLst>
              <a:path extrusionOk="0" h="10401300" w="18288000">
                <a:moveTo>
                  <a:pt x="0" y="0"/>
                </a:moveTo>
                <a:lnTo>
                  <a:pt x="18288000" y="0"/>
                </a:lnTo>
                <a:lnTo>
                  <a:pt x="18288000" y="10401300"/>
                </a:lnTo>
                <a:lnTo>
                  <a:pt x="0" y="10401300"/>
                </a:lnTo>
                <a:lnTo>
                  <a:pt x="0" y="0"/>
                </a:lnTo>
                <a:close/>
              </a:path>
            </a:pathLst>
          </a:custGeom>
          <a:blipFill rotWithShape="1">
            <a:blip r:embed="rId3">
              <a:alphaModFix/>
            </a:blip>
            <a:stretch>
              <a:fillRect b="0" l="0" r="0" t="0"/>
            </a:stretch>
          </a:blipFill>
          <a:ln>
            <a:noFill/>
          </a:ln>
        </p:spPr>
      </p:sp>
      <p:sp>
        <p:nvSpPr>
          <p:cNvPr id="65" name="Google Shape;65;p14"/>
          <p:cNvSpPr txBox="1"/>
          <p:nvPr/>
        </p:nvSpPr>
        <p:spPr>
          <a:xfrm>
            <a:off x="3101999" y="1293595"/>
            <a:ext cx="2940000" cy="6774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s" sz="4400" u="none" cap="none" strike="noStrike">
                <a:solidFill>
                  <a:srgbClr val="000000"/>
                </a:solidFill>
                <a:latin typeface="Open Sans"/>
                <a:ea typeface="Open Sans"/>
                <a:cs typeface="Open Sans"/>
                <a:sym typeface="Open Sans"/>
              </a:rPr>
              <a:t>UNIDAD </a:t>
            </a:r>
            <a:r>
              <a:rPr b="1" lang="es" sz="4400">
                <a:latin typeface="Open Sans"/>
                <a:ea typeface="Open Sans"/>
                <a:cs typeface="Open Sans"/>
                <a:sym typeface="Open Sans"/>
              </a:rPr>
              <a:t>3</a:t>
            </a:r>
            <a:endParaRPr b="1" i="0" sz="4400" u="none" cap="none" strike="noStrike">
              <a:solidFill>
                <a:srgbClr val="000000"/>
              </a:solidFill>
              <a:latin typeface="Open Sans"/>
              <a:ea typeface="Open Sans"/>
              <a:cs typeface="Open Sans"/>
              <a:sym typeface="Open Sans"/>
            </a:endParaRPr>
          </a:p>
        </p:txBody>
      </p:sp>
      <p:sp>
        <p:nvSpPr>
          <p:cNvPr id="66" name="Google Shape;66;p14"/>
          <p:cNvSpPr txBox="1"/>
          <p:nvPr/>
        </p:nvSpPr>
        <p:spPr>
          <a:xfrm>
            <a:off x="2758500" y="2273675"/>
            <a:ext cx="3627000" cy="1514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s" sz="4100">
                <a:latin typeface="Open Sans"/>
                <a:ea typeface="Open Sans"/>
                <a:cs typeface="Open Sans"/>
                <a:sym typeface="Open Sans"/>
              </a:rPr>
              <a:t>PRUEBAS </a:t>
            </a:r>
            <a:endParaRPr b="1" sz="4100">
              <a:latin typeface="Open Sans"/>
              <a:ea typeface="Open Sans"/>
              <a:cs typeface="Open Sans"/>
              <a:sym typeface="Open Sans"/>
            </a:endParaRPr>
          </a:p>
          <a:p>
            <a:pPr indent="0" lvl="0" marL="0" marR="0" rtl="0" algn="ctr">
              <a:lnSpc>
                <a:spcPct val="140000"/>
              </a:lnSpc>
              <a:spcBef>
                <a:spcPts val="0"/>
              </a:spcBef>
              <a:spcAft>
                <a:spcPts val="0"/>
              </a:spcAft>
              <a:buNone/>
            </a:pPr>
            <a:r>
              <a:rPr b="1" lang="es" sz="4100">
                <a:latin typeface="Open Sans"/>
                <a:ea typeface="Open Sans"/>
                <a:cs typeface="Open Sans"/>
                <a:sym typeface="Open Sans"/>
              </a:rPr>
              <a:t>E2E</a:t>
            </a:r>
            <a:endParaRPr b="1" i="0" sz="41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p:nvPr/>
        </p:nvSpPr>
        <p:spPr>
          <a:xfrm>
            <a:off x="2343568" y="1246386"/>
            <a:ext cx="4716047" cy="3382765"/>
          </a:xfrm>
          <a:custGeom>
            <a:rect b="b" l="l" r="r" t="t"/>
            <a:pathLst>
              <a:path extrusionOk="0" h="6765529" w="9432094">
                <a:moveTo>
                  <a:pt x="0" y="0"/>
                </a:moveTo>
                <a:lnTo>
                  <a:pt x="9432093" y="0"/>
                </a:lnTo>
                <a:lnTo>
                  <a:pt x="9432093" y="6765529"/>
                </a:lnTo>
                <a:lnTo>
                  <a:pt x="0" y="6765529"/>
                </a:lnTo>
                <a:lnTo>
                  <a:pt x="0" y="0"/>
                </a:lnTo>
                <a:close/>
              </a:path>
            </a:pathLst>
          </a:custGeom>
          <a:blipFill rotWithShape="1">
            <a:blip r:embed="rId3">
              <a:alphaModFix/>
            </a:blip>
            <a:stretch>
              <a:fillRect b="0" l="0" r="0" t="0"/>
            </a:stretch>
          </a:blipFill>
          <a:ln>
            <a:noFill/>
          </a:ln>
        </p:spPr>
      </p:sp>
      <p:sp>
        <p:nvSpPr>
          <p:cNvPr id="72" name="Google Shape;72;p15"/>
          <p:cNvSpPr/>
          <p:nvPr/>
        </p:nvSpPr>
        <p:spPr>
          <a:xfrm>
            <a:off x="1985714" y="306419"/>
            <a:ext cx="5650630" cy="1144253"/>
          </a:xfrm>
          <a:custGeom>
            <a:rect b="b" l="l" r="r" t="t"/>
            <a:pathLst>
              <a:path extrusionOk="0" h="2288505" w="11301259">
                <a:moveTo>
                  <a:pt x="0" y="0"/>
                </a:moveTo>
                <a:lnTo>
                  <a:pt x="11301259" y="0"/>
                </a:lnTo>
                <a:lnTo>
                  <a:pt x="11301259" y="2288505"/>
                </a:lnTo>
                <a:lnTo>
                  <a:pt x="0" y="2288505"/>
                </a:lnTo>
                <a:lnTo>
                  <a:pt x="0" y="0"/>
                </a:lnTo>
                <a:close/>
              </a:path>
            </a:pathLst>
          </a:custGeom>
          <a:blipFill rotWithShape="1">
            <a:blip r:embed="rId4">
              <a:alphaModFix/>
            </a:blip>
            <a:stretch>
              <a:fillRect b="0" l="0" r="0" t="0"/>
            </a:stretch>
          </a:blipFill>
          <a:ln>
            <a:noFill/>
          </a:ln>
        </p:spPr>
      </p:sp>
      <p:sp>
        <p:nvSpPr>
          <p:cNvPr id="73" name="Google Shape;73;p15"/>
          <p:cNvSpPr/>
          <p:nvPr/>
        </p:nvSpPr>
        <p:spPr>
          <a:xfrm>
            <a:off x="157446" y="1450671"/>
            <a:ext cx="2480817" cy="2480817"/>
          </a:xfrm>
          <a:custGeom>
            <a:rect b="b" l="l" r="r" t="t"/>
            <a:pathLst>
              <a:path extrusionOk="0" h="4961633" w="4961633">
                <a:moveTo>
                  <a:pt x="0" y="0"/>
                </a:moveTo>
                <a:lnTo>
                  <a:pt x="4961633" y="0"/>
                </a:lnTo>
                <a:lnTo>
                  <a:pt x="4961633" y="4961632"/>
                </a:lnTo>
                <a:lnTo>
                  <a:pt x="0" y="4961632"/>
                </a:lnTo>
                <a:lnTo>
                  <a:pt x="0" y="0"/>
                </a:lnTo>
                <a:close/>
              </a:path>
            </a:pathLst>
          </a:custGeom>
          <a:blipFill rotWithShape="1">
            <a:blip r:embed="rId5">
              <a:alphaModFix/>
            </a:blip>
            <a:stretch>
              <a:fillRect b="0" l="0" r="0" t="0"/>
            </a:stretch>
          </a:blipFill>
          <a:ln>
            <a:noFill/>
          </a:ln>
        </p:spPr>
      </p:sp>
      <p:sp>
        <p:nvSpPr>
          <p:cNvPr id="74" name="Google Shape;74;p15"/>
          <p:cNvSpPr/>
          <p:nvPr/>
        </p:nvSpPr>
        <p:spPr>
          <a:xfrm>
            <a:off x="2638262" y="1587241"/>
            <a:ext cx="339092" cy="412410"/>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75" name="Google Shape;75;p15"/>
          <p:cNvSpPr txBox="1"/>
          <p:nvPr/>
        </p:nvSpPr>
        <p:spPr>
          <a:xfrm>
            <a:off x="2977349" y="2164075"/>
            <a:ext cx="14046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lang="es" sz="1200">
                <a:latin typeface="Open Sans"/>
                <a:ea typeface="Open Sans"/>
                <a:cs typeface="Open Sans"/>
                <a:sym typeface="Open Sans"/>
              </a:rPr>
              <a:t>Asignacion DTT</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76" name="Google Shape;76;p15"/>
          <p:cNvSpPr txBox="1"/>
          <p:nvPr/>
        </p:nvSpPr>
        <p:spPr>
          <a:xfrm>
            <a:off x="2977355" y="1671356"/>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lang="es" sz="1200">
                <a:latin typeface="Open Sans"/>
                <a:ea typeface="Open Sans"/>
                <a:cs typeface="Open Sans"/>
                <a:sym typeface="Open Sans"/>
              </a:rPr>
              <a:t>Foro Semanal</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77" name="Google Shape;77;p15"/>
          <p:cNvSpPr/>
          <p:nvPr/>
        </p:nvSpPr>
        <p:spPr>
          <a:xfrm>
            <a:off x="2638262" y="2079026"/>
            <a:ext cx="339092" cy="412410"/>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78" name="Google Shape;78;p15"/>
          <p:cNvSpPr/>
          <p:nvPr/>
        </p:nvSpPr>
        <p:spPr>
          <a:xfrm>
            <a:off x="2638262" y="2629548"/>
            <a:ext cx="339092" cy="412410"/>
          </a:xfrm>
          <a:custGeom>
            <a:rect b="b" l="l" r="r" t="t"/>
            <a:pathLst>
              <a:path extrusionOk="0" h="824819" w="678185">
                <a:moveTo>
                  <a:pt x="0" y="0"/>
                </a:moveTo>
                <a:lnTo>
                  <a:pt x="678185" y="0"/>
                </a:lnTo>
                <a:lnTo>
                  <a:pt x="678185" y="824820"/>
                </a:lnTo>
                <a:lnTo>
                  <a:pt x="0" y="824820"/>
                </a:lnTo>
                <a:lnTo>
                  <a:pt x="0" y="0"/>
                </a:lnTo>
                <a:close/>
              </a:path>
            </a:pathLst>
          </a:custGeom>
          <a:blipFill rotWithShape="1">
            <a:blip r:embed="rId6">
              <a:alphaModFix/>
            </a:blip>
            <a:stretch>
              <a:fillRect b="0" l="0" r="0" t="0"/>
            </a:stretch>
          </a:blipFill>
          <a:ln>
            <a:noFill/>
          </a:ln>
        </p:spPr>
      </p:sp>
      <p:sp>
        <p:nvSpPr>
          <p:cNvPr id="79" name="Google Shape;79;p15"/>
          <p:cNvSpPr/>
          <p:nvPr/>
        </p:nvSpPr>
        <p:spPr>
          <a:xfrm>
            <a:off x="2638262" y="3180070"/>
            <a:ext cx="339092" cy="41240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80" name="Google Shape;80;p15"/>
          <p:cNvSpPr/>
          <p:nvPr/>
        </p:nvSpPr>
        <p:spPr>
          <a:xfrm>
            <a:off x="2638262" y="3730592"/>
            <a:ext cx="339092" cy="412410"/>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81" name="Google Shape;81;p15"/>
          <p:cNvSpPr txBox="1"/>
          <p:nvPr/>
        </p:nvSpPr>
        <p:spPr>
          <a:xfrm>
            <a:off x="2977355" y="2724408"/>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Anuncio 3</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82" name="Google Shape;82;p15"/>
          <p:cNvSpPr txBox="1"/>
          <p:nvPr/>
        </p:nvSpPr>
        <p:spPr>
          <a:xfrm>
            <a:off x="2977355" y="3217803"/>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Anuncio 4</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83" name="Google Shape;83;p15"/>
          <p:cNvSpPr txBox="1"/>
          <p:nvPr/>
        </p:nvSpPr>
        <p:spPr>
          <a:xfrm>
            <a:off x="2977355" y="3777873"/>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Anuncio 5</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p:nvPr/>
        </p:nvSpPr>
        <p:spPr>
          <a:xfrm>
            <a:off x="2008474" y="1779402"/>
            <a:ext cx="4948254" cy="2956582"/>
          </a:xfrm>
          <a:custGeom>
            <a:rect b="b" l="l" r="r" t="t"/>
            <a:pathLst>
              <a:path extrusionOk="0" h="5913163" w="9896507">
                <a:moveTo>
                  <a:pt x="0" y="0"/>
                </a:moveTo>
                <a:lnTo>
                  <a:pt x="9896507" y="0"/>
                </a:lnTo>
                <a:lnTo>
                  <a:pt x="9896507" y="5913163"/>
                </a:lnTo>
                <a:lnTo>
                  <a:pt x="0" y="5913163"/>
                </a:lnTo>
                <a:lnTo>
                  <a:pt x="0" y="0"/>
                </a:lnTo>
                <a:close/>
              </a:path>
            </a:pathLst>
          </a:custGeom>
          <a:blipFill rotWithShape="1">
            <a:blip r:embed="rId3">
              <a:alphaModFix/>
            </a:blip>
            <a:stretch>
              <a:fillRect b="0" l="0" r="0" t="0"/>
            </a:stretch>
          </a:blipFill>
          <a:ln>
            <a:noFill/>
          </a:ln>
        </p:spPr>
      </p:sp>
      <p:sp>
        <p:nvSpPr>
          <p:cNvPr id="89" name="Google Shape;89;p16"/>
          <p:cNvSpPr/>
          <p:nvPr/>
        </p:nvSpPr>
        <p:spPr>
          <a:xfrm>
            <a:off x="1746686" y="-312653"/>
            <a:ext cx="5650630" cy="2563973"/>
          </a:xfrm>
          <a:custGeom>
            <a:rect b="b" l="l" r="r" t="t"/>
            <a:pathLst>
              <a:path extrusionOk="0" h="5127946" w="11301259">
                <a:moveTo>
                  <a:pt x="0" y="0"/>
                </a:moveTo>
                <a:lnTo>
                  <a:pt x="11301258" y="0"/>
                </a:lnTo>
                <a:lnTo>
                  <a:pt x="11301258" y="5127946"/>
                </a:lnTo>
                <a:lnTo>
                  <a:pt x="0" y="5127946"/>
                </a:lnTo>
                <a:lnTo>
                  <a:pt x="0" y="0"/>
                </a:lnTo>
                <a:close/>
              </a:path>
            </a:pathLst>
          </a:custGeom>
          <a:blipFill rotWithShape="1">
            <a:blip r:embed="rId4">
              <a:alphaModFix/>
            </a:blip>
            <a:stretch>
              <a:fillRect b="0" l="0" r="0" t="0"/>
            </a:stretch>
          </a:blipFill>
          <a:ln>
            <a:noFill/>
          </a:ln>
        </p:spPr>
      </p:sp>
      <p:sp>
        <p:nvSpPr>
          <p:cNvPr id="90" name="Google Shape;90;p16"/>
          <p:cNvSpPr/>
          <p:nvPr/>
        </p:nvSpPr>
        <p:spPr>
          <a:xfrm>
            <a:off x="2437960" y="2045115"/>
            <a:ext cx="339092" cy="412410"/>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91" name="Google Shape;91;p16"/>
          <p:cNvSpPr txBox="1"/>
          <p:nvPr/>
        </p:nvSpPr>
        <p:spPr>
          <a:xfrm>
            <a:off x="2607506" y="2164080"/>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TEMA 1</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92" name="Google Shape;92;p16"/>
          <p:cNvSpPr/>
          <p:nvPr/>
        </p:nvSpPr>
        <p:spPr>
          <a:xfrm>
            <a:off x="2437960" y="2571750"/>
            <a:ext cx="339092" cy="412410"/>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93" name="Google Shape;93;p16"/>
          <p:cNvSpPr txBox="1"/>
          <p:nvPr/>
        </p:nvSpPr>
        <p:spPr>
          <a:xfrm>
            <a:off x="2607506" y="2689778"/>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TEMA 2</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94" name="Google Shape;94;p16"/>
          <p:cNvSpPr/>
          <p:nvPr/>
        </p:nvSpPr>
        <p:spPr>
          <a:xfrm>
            <a:off x="2437960" y="3097448"/>
            <a:ext cx="339092" cy="41240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95" name="Google Shape;95;p16"/>
          <p:cNvSpPr/>
          <p:nvPr/>
        </p:nvSpPr>
        <p:spPr>
          <a:xfrm>
            <a:off x="2437960" y="3624157"/>
            <a:ext cx="339092" cy="412410"/>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96" name="Google Shape;96;p16"/>
          <p:cNvSpPr/>
          <p:nvPr/>
        </p:nvSpPr>
        <p:spPr>
          <a:xfrm>
            <a:off x="2437960" y="4150867"/>
            <a:ext cx="339092" cy="412410"/>
          </a:xfrm>
          <a:custGeom>
            <a:rect b="b" l="l" r="r" t="t"/>
            <a:pathLst>
              <a:path extrusionOk="0" h="824819" w="678185">
                <a:moveTo>
                  <a:pt x="0" y="0"/>
                </a:moveTo>
                <a:lnTo>
                  <a:pt x="678184" y="0"/>
                </a:lnTo>
                <a:lnTo>
                  <a:pt x="678184" y="824820"/>
                </a:lnTo>
                <a:lnTo>
                  <a:pt x="0" y="824820"/>
                </a:lnTo>
                <a:lnTo>
                  <a:pt x="0" y="0"/>
                </a:lnTo>
                <a:close/>
              </a:path>
            </a:pathLst>
          </a:custGeom>
          <a:blipFill rotWithShape="1">
            <a:blip r:embed="rId5">
              <a:alphaModFix/>
            </a:blip>
            <a:stretch>
              <a:fillRect b="0" l="0" r="0" t="0"/>
            </a:stretch>
          </a:blipFill>
          <a:ln>
            <a:noFill/>
          </a:ln>
        </p:spPr>
      </p:sp>
      <p:sp>
        <p:nvSpPr>
          <p:cNvPr id="97" name="Google Shape;97;p16"/>
          <p:cNvSpPr txBox="1"/>
          <p:nvPr/>
        </p:nvSpPr>
        <p:spPr>
          <a:xfrm>
            <a:off x="2607506" y="3192698"/>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TEMA 3</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98" name="Google Shape;98;p16"/>
          <p:cNvSpPr txBox="1"/>
          <p:nvPr/>
        </p:nvSpPr>
        <p:spPr>
          <a:xfrm>
            <a:off x="2607506" y="3695618"/>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TEMA 4</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99" name="Google Shape;99;p16"/>
          <p:cNvSpPr txBox="1"/>
          <p:nvPr/>
        </p:nvSpPr>
        <p:spPr>
          <a:xfrm>
            <a:off x="2607506" y="4222351"/>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TEMA 5</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p:nvPr/>
        </p:nvSpPr>
        <p:spPr>
          <a:xfrm>
            <a:off x="0" y="0"/>
            <a:ext cx="9144000" cy="5223510"/>
          </a:xfrm>
          <a:custGeom>
            <a:rect b="b" l="l" r="r" t="t"/>
            <a:pathLst>
              <a:path extrusionOk="0" h="10447020" w="18288000">
                <a:moveTo>
                  <a:pt x="0" y="0"/>
                </a:moveTo>
                <a:lnTo>
                  <a:pt x="18288000" y="0"/>
                </a:lnTo>
                <a:lnTo>
                  <a:pt x="18288000" y="10447020"/>
                </a:lnTo>
                <a:lnTo>
                  <a:pt x="0" y="10447020"/>
                </a:lnTo>
                <a:lnTo>
                  <a:pt x="0" y="0"/>
                </a:lnTo>
                <a:close/>
              </a:path>
            </a:pathLst>
          </a:custGeom>
          <a:blipFill rotWithShape="1">
            <a:blip r:embed="rId3">
              <a:alphaModFix/>
            </a:blip>
            <a:stretch>
              <a:fillRect b="0" l="0" r="0" t="0"/>
            </a:stretch>
          </a:blipFill>
          <a:ln>
            <a:noFill/>
          </a:ln>
        </p:spPr>
      </p:sp>
      <p:sp>
        <p:nvSpPr>
          <p:cNvPr id="105" name="Google Shape;105;p17"/>
          <p:cNvSpPr/>
          <p:nvPr/>
        </p:nvSpPr>
        <p:spPr>
          <a:xfrm>
            <a:off x="1444200" y="1290900"/>
            <a:ext cx="6974985" cy="2457392"/>
          </a:xfrm>
          <a:custGeom>
            <a:rect b="b" l="l" r="r" t="t"/>
            <a:pathLst>
              <a:path extrusionOk="0" h="3424936" w="12511183">
                <a:moveTo>
                  <a:pt x="0" y="0"/>
                </a:moveTo>
                <a:lnTo>
                  <a:pt x="12511184" y="0"/>
                </a:lnTo>
                <a:lnTo>
                  <a:pt x="12511184" y="3424937"/>
                </a:lnTo>
                <a:lnTo>
                  <a:pt x="0" y="3424937"/>
                </a:lnTo>
                <a:lnTo>
                  <a:pt x="0" y="0"/>
                </a:lnTo>
                <a:close/>
              </a:path>
            </a:pathLst>
          </a:custGeom>
          <a:blipFill rotWithShape="1">
            <a:blip r:embed="rId4">
              <a:alphaModFix/>
            </a:blip>
            <a:stretch>
              <a:fillRect b="0" l="0" r="0" t="0"/>
            </a:stretch>
          </a:blipFill>
          <a:ln>
            <a:noFill/>
          </a:ln>
        </p:spPr>
      </p:sp>
      <p:sp>
        <p:nvSpPr>
          <p:cNvPr id="106" name="Google Shape;106;p17"/>
          <p:cNvSpPr txBox="1"/>
          <p:nvPr/>
        </p:nvSpPr>
        <p:spPr>
          <a:xfrm>
            <a:off x="2754250" y="1590350"/>
            <a:ext cx="5338500" cy="994500"/>
          </a:xfrm>
          <a:prstGeom prst="rect">
            <a:avLst/>
          </a:prstGeom>
          <a:noFill/>
          <a:ln>
            <a:noFill/>
          </a:ln>
        </p:spPr>
        <p:txBody>
          <a:bodyPr anchorCtr="0" anchor="t" bIns="0" lIns="0" spcFirstLastPara="1" rIns="0" wrap="square" tIns="0">
            <a:spAutoFit/>
          </a:bodyPr>
          <a:lstStyle/>
          <a:p>
            <a:pPr indent="0" lvl="0" marL="0" rtl="0" algn="just">
              <a:lnSpc>
                <a:spcPct val="140007"/>
              </a:lnSpc>
              <a:spcBef>
                <a:spcPts val="0"/>
              </a:spcBef>
              <a:spcAft>
                <a:spcPts val="0"/>
              </a:spcAft>
              <a:buClr>
                <a:schemeClr val="dk1"/>
              </a:buClr>
              <a:buSzPts val="5199"/>
              <a:buFont typeface="Arial"/>
              <a:buNone/>
            </a:pPr>
            <a:r>
              <a:rPr b="1" lang="es" sz="1700">
                <a:solidFill>
                  <a:srgbClr val="131416"/>
                </a:solidFill>
                <a:latin typeface="Open Sans"/>
                <a:ea typeface="Open Sans"/>
                <a:cs typeface="Open Sans"/>
                <a:sym typeface="Open Sans"/>
              </a:rPr>
              <a:t>Implementar de forma correcta las pruebas E2E y conocer la importancia que estas tienen en el desarrollo de una aplicación.</a:t>
            </a:r>
            <a:endParaRPr b="1" i="0" sz="3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nvSpPr>
        <p:spPr>
          <a:xfrm>
            <a:off x="468425" y="1442700"/>
            <a:ext cx="8207100" cy="877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s" sz="1500">
                <a:latin typeface="Open Sans"/>
                <a:ea typeface="Open Sans"/>
                <a:cs typeface="Open Sans"/>
                <a:sym typeface="Open Sans"/>
              </a:rPr>
              <a:t>Las pruebas end-to-end son el resultado de la cooperación entre equipos, ya que validan que todos los componentes del sistema trabajen juntos como una sola unidad para brindar valor al usuario final.</a:t>
            </a:r>
            <a:endParaRPr b="0" i="0" sz="1600" u="none" cap="none" strike="noStrike">
              <a:solidFill>
                <a:srgbClr val="000000"/>
              </a:solidFill>
              <a:latin typeface="Open Sans"/>
              <a:ea typeface="Open Sans"/>
              <a:cs typeface="Open Sans"/>
              <a:sym typeface="Open Sans"/>
            </a:endParaRPr>
          </a:p>
        </p:txBody>
      </p:sp>
      <p:sp>
        <p:nvSpPr>
          <p:cNvPr id="112" name="Google Shape;112;p18"/>
          <p:cNvSpPr txBox="1"/>
          <p:nvPr/>
        </p:nvSpPr>
        <p:spPr>
          <a:xfrm>
            <a:off x="3323375" y="552975"/>
            <a:ext cx="2497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3200">
                <a:latin typeface="Impact"/>
                <a:ea typeface="Impact"/>
                <a:cs typeface="Impact"/>
                <a:sym typeface="Impact"/>
              </a:rPr>
              <a:t>COOPERACIÓN</a:t>
            </a:r>
            <a:endParaRPr b="1" sz="3200">
              <a:latin typeface="Impact"/>
              <a:ea typeface="Impact"/>
              <a:cs typeface="Impact"/>
              <a:sym typeface="Impac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116" name="Shape 116"/>
        <p:cNvGrpSpPr/>
        <p:nvPr/>
      </p:nvGrpSpPr>
      <p:grpSpPr>
        <a:xfrm>
          <a:off x="0" y="0"/>
          <a:ext cx="0" cy="0"/>
          <a:chOff x="0" y="0"/>
          <a:chExt cx="0" cy="0"/>
        </a:xfrm>
      </p:grpSpPr>
      <p:grpSp>
        <p:nvGrpSpPr>
          <p:cNvPr id="117" name="Google Shape;117;p19"/>
          <p:cNvGrpSpPr/>
          <p:nvPr/>
        </p:nvGrpSpPr>
        <p:grpSpPr>
          <a:xfrm>
            <a:off x="3255175" y="2973521"/>
            <a:ext cx="5889147" cy="2197552"/>
            <a:chOff x="0" y="-57150"/>
            <a:chExt cx="3102000" cy="1157520"/>
          </a:xfrm>
        </p:grpSpPr>
        <p:sp>
          <p:nvSpPr>
            <p:cNvPr id="118" name="Google Shape;118;p19"/>
            <p:cNvSpPr/>
            <p:nvPr/>
          </p:nvSpPr>
          <p:spPr>
            <a:xfrm>
              <a:off x="0" y="0"/>
              <a:ext cx="3101933" cy="1100370"/>
            </a:xfrm>
            <a:custGeom>
              <a:rect b="b" l="l" r="r" t="t"/>
              <a:pathLst>
                <a:path extrusionOk="0" h="1100370" w="3101933">
                  <a:moveTo>
                    <a:pt x="0" y="0"/>
                  </a:moveTo>
                  <a:lnTo>
                    <a:pt x="3101933" y="0"/>
                  </a:lnTo>
                  <a:lnTo>
                    <a:pt x="3101933" y="1100370"/>
                  </a:lnTo>
                  <a:lnTo>
                    <a:pt x="0" y="1100370"/>
                  </a:lnTo>
                  <a:close/>
                </a:path>
              </a:pathLst>
            </a:custGeom>
            <a:solidFill>
              <a:srgbClr val="A4C2F4"/>
            </a:solidFill>
            <a:ln>
              <a:noFill/>
            </a:ln>
          </p:spPr>
        </p:sp>
        <p:sp>
          <p:nvSpPr>
            <p:cNvPr id="119" name="Google Shape;119;p19"/>
            <p:cNvSpPr txBox="1"/>
            <p:nvPr/>
          </p:nvSpPr>
          <p:spPr>
            <a:xfrm>
              <a:off x="0" y="-57150"/>
              <a:ext cx="3102000" cy="1157400"/>
            </a:xfrm>
            <a:prstGeom prst="rect">
              <a:avLst/>
            </a:prstGeom>
            <a:solidFill>
              <a:srgbClr val="A4C2F4"/>
            </a:solid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20" name="Google Shape;120;p19"/>
          <p:cNvSpPr txBox="1"/>
          <p:nvPr/>
        </p:nvSpPr>
        <p:spPr>
          <a:xfrm>
            <a:off x="2188188" y="1336797"/>
            <a:ext cx="3839700" cy="1218900"/>
          </a:xfrm>
          <a:prstGeom prst="rect">
            <a:avLst/>
          </a:prstGeom>
          <a:solidFill>
            <a:srgbClr val="D9EAD3"/>
          </a:solidFill>
          <a:ln>
            <a:noFill/>
          </a:ln>
        </p:spPr>
        <p:txBody>
          <a:bodyPr anchorCtr="0" anchor="t" bIns="0" lIns="0" spcFirstLastPara="1" rIns="0" wrap="square" tIns="0">
            <a:spAutoFit/>
          </a:bodyPr>
          <a:lstStyle/>
          <a:p>
            <a:pPr indent="0" lvl="0" marL="0" marR="0" rtl="0" algn="ctr">
              <a:lnSpc>
                <a:spcPct val="89995"/>
              </a:lnSpc>
              <a:spcBef>
                <a:spcPts val="0"/>
              </a:spcBef>
              <a:spcAft>
                <a:spcPts val="0"/>
              </a:spcAft>
              <a:buClr>
                <a:srgbClr val="000000"/>
              </a:buClr>
              <a:buSzPts val="4400"/>
              <a:buFont typeface="Arial"/>
              <a:buNone/>
            </a:pPr>
            <a:r>
              <a:rPr b="0" i="0" lang="es" sz="4400" u="none" cap="none" strike="noStrike">
                <a:solidFill>
                  <a:schemeClr val="dk1"/>
                </a:solidFill>
                <a:latin typeface="Arial"/>
                <a:ea typeface="Arial"/>
                <a:cs typeface="Arial"/>
                <a:sym typeface="Arial"/>
              </a:rPr>
              <a:t>PRUEBAS E2E</a:t>
            </a:r>
            <a:endParaRPr b="0" i="0" sz="700" u="none" cap="none" strike="noStrike">
              <a:solidFill>
                <a:schemeClr val="dk1"/>
              </a:solidFill>
              <a:latin typeface="Arial"/>
              <a:ea typeface="Arial"/>
              <a:cs typeface="Arial"/>
              <a:sym typeface="Arial"/>
            </a:endParaRPr>
          </a:p>
        </p:txBody>
      </p:sp>
      <p:sp>
        <p:nvSpPr>
          <p:cNvPr id="121" name="Google Shape;121;p19"/>
          <p:cNvSpPr txBox="1"/>
          <p:nvPr/>
        </p:nvSpPr>
        <p:spPr>
          <a:xfrm>
            <a:off x="3673656" y="3439677"/>
            <a:ext cx="4625100" cy="172410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Las pruebas end-to-end (E2E) son un tipo de pruebas funcionales que validan el comportamiento de una aplicación desde el punto de vista del usuario final, cubriendo todo el flujo del sistema, incluyendo componentes internos y externos.</a:t>
            </a:r>
            <a:endParaRPr b="0" i="0" sz="700" u="none" cap="none" strike="noStrike">
              <a:solidFill>
                <a:schemeClr val="dk1"/>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nvGrpSpPr>
          <p:cNvPr id="122" name="Google Shape;122;p19"/>
          <p:cNvGrpSpPr/>
          <p:nvPr/>
        </p:nvGrpSpPr>
        <p:grpSpPr>
          <a:xfrm>
            <a:off x="4572000" y="2816575"/>
            <a:ext cx="2828472" cy="472636"/>
            <a:chOff x="0" y="-57150"/>
            <a:chExt cx="2774100" cy="463550"/>
          </a:xfrm>
        </p:grpSpPr>
        <p:sp>
          <p:nvSpPr>
            <p:cNvPr id="123" name="Google Shape;123;p19"/>
            <p:cNvSpPr/>
            <p:nvPr/>
          </p:nvSpPr>
          <p:spPr>
            <a:xfrm>
              <a:off x="0" y="0"/>
              <a:ext cx="2774082" cy="406400"/>
            </a:xfrm>
            <a:custGeom>
              <a:rect b="b" l="l" r="r" t="t"/>
              <a:pathLst>
                <a:path extrusionOk="0" h="406400" w="2774082">
                  <a:moveTo>
                    <a:pt x="2570882" y="0"/>
                  </a:moveTo>
                  <a:cubicBezTo>
                    <a:pt x="2683106" y="0"/>
                    <a:pt x="2774082" y="90976"/>
                    <a:pt x="2774082" y="203200"/>
                  </a:cubicBezTo>
                  <a:cubicBezTo>
                    <a:pt x="2774082" y="315424"/>
                    <a:pt x="2683106" y="406400"/>
                    <a:pt x="2570882" y="406400"/>
                  </a:cubicBezTo>
                  <a:lnTo>
                    <a:pt x="203200" y="406400"/>
                  </a:lnTo>
                  <a:cubicBezTo>
                    <a:pt x="90976" y="406400"/>
                    <a:pt x="0" y="315424"/>
                    <a:pt x="0" y="203200"/>
                  </a:cubicBezTo>
                  <a:cubicBezTo>
                    <a:pt x="0" y="90976"/>
                    <a:pt x="90976" y="0"/>
                    <a:pt x="203200" y="0"/>
                  </a:cubicBezTo>
                  <a:lnTo>
                    <a:pt x="2570882" y="0"/>
                  </a:lnTo>
                  <a:close/>
                </a:path>
              </a:pathLst>
            </a:custGeom>
            <a:solidFill>
              <a:srgbClr val="C9DAF8"/>
            </a:solidFill>
            <a:ln cap="rnd" cmpd="sng" w="4775">
              <a:solidFill>
                <a:srgbClr val="E7E8DE"/>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24" name="Google Shape;124;p19"/>
            <p:cNvSpPr txBox="1"/>
            <p:nvPr/>
          </p:nvSpPr>
          <p:spPr>
            <a:xfrm>
              <a:off x="0" y="-57150"/>
              <a:ext cx="2774100" cy="463500"/>
            </a:xfrm>
            <a:prstGeom prst="rect">
              <a:avLst/>
            </a:prstGeom>
            <a:solidFill>
              <a:srgbClr val="C9DAF8"/>
            </a:solidFill>
            <a:ln cap="flat" cmpd="sng" w="4775">
              <a:solidFill>
                <a:srgbClr val="000000"/>
              </a:solidFill>
              <a:prstDash val="solid"/>
              <a:round/>
              <a:headEnd len="sm" w="sm" type="none"/>
              <a:tailEnd len="sm" w="sm" type="none"/>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QUE SON?</a:t>
              </a:r>
              <a:endParaRPr b="0" i="0" sz="700" u="none" cap="none" strike="noStrike">
                <a:solidFill>
                  <a:schemeClr val="dk1"/>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128" name="Shape 128"/>
        <p:cNvGrpSpPr/>
        <p:nvPr/>
      </p:nvGrpSpPr>
      <p:grpSpPr>
        <a:xfrm>
          <a:off x="0" y="0"/>
          <a:ext cx="0" cy="0"/>
          <a:chOff x="0" y="0"/>
          <a:chExt cx="0" cy="0"/>
        </a:xfrm>
      </p:grpSpPr>
      <p:grpSp>
        <p:nvGrpSpPr>
          <p:cNvPr id="129" name="Google Shape;129;p20"/>
          <p:cNvGrpSpPr/>
          <p:nvPr/>
        </p:nvGrpSpPr>
        <p:grpSpPr>
          <a:xfrm>
            <a:off x="2059899" y="1438956"/>
            <a:ext cx="4483603" cy="1284060"/>
            <a:chOff x="0" y="-57150"/>
            <a:chExt cx="2682704" cy="768300"/>
          </a:xfrm>
        </p:grpSpPr>
        <p:sp>
          <p:nvSpPr>
            <p:cNvPr id="130" name="Google Shape;130;p20"/>
            <p:cNvSpPr/>
            <p:nvPr/>
          </p:nvSpPr>
          <p:spPr>
            <a:xfrm>
              <a:off x="0" y="0"/>
              <a:ext cx="2682704" cy="711096"/>
            </a:xfrm>
            <a:custGeom>
              <a:rect b="b" l="l" r="r" t="t"/>
              <a:pathLst>
                <a:path extrusionOk="0" h="711096" w="2682704">
                  <a:moveTo>
                    <a:pt x="0" y="0"/>
                  </a:moveTo>
                  <a:lnTo>
                    <a:pt x="2682704" y="0"/>
                  </a:lnTo>
                  <a:lnTo>
                    <a:pt x="2682704" y="711096"/>
                  </a:lnTo>
                  <a:lnTo>
                    <a:pt x="0" y="711096"/>
                  </a:lnTo>
                  <a:close/>
                </a:path>
              </a:pathLst>
            </a:custGeom>
            <a:solidFill>
              <a:srgbClr val="9FC5E8"/>
            </a:solidFill>
            <a:ln>
              <a:noFill/>
            </a:ln>
          </p:spPr>
        </p:sp>
        <p:sp>
          <p:nvSpPr>
            <p:cNvPr id="131" name="Google Shape;131;p20"/>
            <p:cNvSpPr txBox="1"/>
            <p:nvPr/>
          </p:nvSpPr>
          <p:spPr>
            <a:xfrm>
              <a:off x="0" y="-57150"/>
              <a:ext cx="2682600" cy="768300"/>
            </a:xfrm>
            <a:prstGeom prst="rect">
              <a:avLst/>
            </a:prstGeom>
            <a:solidFill>
              <a:srgbClr val="9FC5E8"/>
            </a:solid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32" name="Google Shape;132;p20"/>
          <p:cNvSpPr txBox="1"/>
          <p:nvPr/>
        </p:nvSpPr>
        <p:spPr>
          <a:xfrm>
            <a:off x="2952087" y="1884796"/>
            <a:ext cx="2923500" cy="5541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1500"/>
              <a:buFont typeface="Arial"/>
              <a:buNone/>
            </a:pPr>
            <a:r>
              <a:rPr b="0" i="0" lang="es" sz="1500" u="none" cap="none" strike="noStrike">
                <a:solidFill>
                  <a:schemeClr val="dk1"/>
                </a:solidFill>
                <a:latin typeface="Arial"/>
                <a:ea typeface="Arial"/>
                <a:cs typeface="Arial"/>
                <a:sym typeface="Arial"/>
              </a:rPr>
              <a:t>Prueban todo el sistema de extremo a extremo.</a:t>
            </a:r>
            <a:endParaRPr b="0" i="0" sz="700" u="none" cap="none" strike="noStrike">
              <a:solidFill>
                <a:schemeClr val="dk1"/>
              </a:solidFill>
              <a:latin typeface="Arial"/>
              <a:ea typeface="Arial"/>
              <a:cs typeface="Arial"/>
              <a:sym typeface="Arial"/>
            </a:endParaRPr>
          </a:p>
        </p:txBody>
      </p:sp>
      <p:grpSp>
        <p:nvGrpSpPr>
          <p:cNvPr id="133" name="Google Shape;133;p20"/>
          <p:cNvGrpSpPr/>
          <p:nvPr/>
        </p:nvGrpSpPr>
        <p:grpSpPr>
          <a:xfrm>
            <a:off x="3524393" y="1300789"/>
            <a:ext cx="2490032" cy="416082"/>
            <a:chOff x="0" y="-57150"/>
            <a:chExt cx="2774100" cy="463550"/>
          </a:xfrm>
        </p:grpSpPr>
        <p:sp>
          <p:nvSpPr>
            <p:cNvPr id="134" name="Google Shape;134;p20"/>
            <p:cNvSpPr/>
            <p:nvPr/>
          </p:nvSpPr>
          <p:spPr>
            <a:xfrm>
              <a:off x="0" y="0"/>
              <a:ext cx="2774082" cy="406400"/>
            </a:xfrm>
            <a:custGeom>
              <a:rect b="b" l="l" r="r" t="t"/>
              <a:pathLst>
                <a:path extrusionOk="0" h="406400" w="2774082">
                  <a:moveTo>
                    <a:pt x="2570882" y="0"/>
                  </a:moveTo>
                  <a:cubicBezTo>
                    <a:pt x="2683106" y="0"/>
                    <a:pt x="2774082" y="90976"/>
                    <a:pt x="2774082" y="203200"/>
                  </a:cubicBezTo>
                  <a:cubicBezTo>
                    <a:pt x="2774082" y="315424"/>
                    <a:pt x="2683106" y="406400"/>
                    <a:pt x="2570882" y="406400"/>
                  </a:cubicBezTo>
                  <a:lnTo>
                    <a:pt x="203200" y="406400"/>
                  </a:lnTo>
                  <a:cubicBezTo>
                    <a:pt x="90976" y="406400"/>
                    <a:pt x="0" y="315424"/>
                    <a:pt x="0" y="203200"/>
                  </a:cubicBezTo>
                  <a:cubicBezTo>
                    <a:pt x="0" y="90976"/>
                    <a:pt x="90976" y="0"/>
                    <a:pt x="203200" y="0"/>
                  </a:cubicBezTo>
                  <a:lnTo>
                    <a:pt x="2570882" y="0"/>
                  </a:lnTo>
                  <a:close/>
                </a:path>
              </a:pathLst>
            </a:custGeom>
            <a:solidFill>
              <a:srgbClr val="C9DAF8"/>
            </a:solidFill>
            <a:ln cap="rnd" cmpd="sng" w="4775">
              <a:solidFill>
                <a:srgbClr val="E7E8DE"/>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35" name="Google Shape;135;p20"/>
            <p:cNvSpPr txBox="1"/>
            <p:nvPr/>
          </p:nvSpPr>
          <p:spPr>
            <a:xfrm>
              <a:off x="0" y="-57150"/>
              <a:ext cx="2774100" cy="463500"/>
            </a:xfrm>
            <a:prstGeom prst="rect">
              <a:avLst/>
            </a:prstGeom>
            <a:solidFill>
              <a:srgbClr val="C9DAF8"/>
            </a:solidFill>
            <a:ln cap="flat" cmpd="sng" w="4775">
              <a:solidFill>
                <a:schemeClr val="dk1"/>
              </a:solidFill>
              <a:prstDash val="solid"/>
              <a:round/>
              <a:headEnd len="sm" w="sm" type="none"/>
              <a:tailEnd len="sm" w="sm" type="none"/>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01. COBERTURA TOTAL </a:t>
              </a:r>
              <a:endParaRPr b="0" i="0" sz="700" u="none" cap="none" strike="noStrike">
                <a:solidFill>
                  <a:schemeClr val="dk1"/>
                </a:solidFill>
                <a:latin typeface="Arial"/>
                <a:ea typeface="Arial"/>
                <a:cs typeface="Arial"/>
                <a:sym typeface="Arial"/>
              </a:endParaRPr>
            </a:p>
          </p:txBody>
        </p:sp>
      </p:grpSp>
      <p:grpSp>
        <p:nvGrpSpPr>
          <p:cNvPr id="136" name="Google Shape;136;p20"/>
          <p:cNvGrpSpPr/>
          <p:nvPr/>
        </p:nvGrpSpPr>
        <p:grpSpPr>
          <a:xfrm>
            <a:off x="1005618" y="3011013"/>
            <a:ext cx="4483603" cy="1284060"/>
            <a:chOff x="0" y="-57150"/>
            <a:chExt cx="2682704" cy="768300"/>
          </a:xfrm>
        </p:grpSpPr>
        <p:sp>
          <p:nvSpPr>
            <p:cNvPr id="137" name="Google Shape;137;p20"/>
            <p:cNvSpPr/>
            <p:nvPr/>
          </p:nvSpPr>
          <p:spPr>
            <a:xfrm>
              <a:off x="0" y="0"/>
              <a:ext cx="2682704" cy="711096"/>
            </a:xfrm>
            <a:custGeom>
              <a:rect b="b" l="l" r="r" t="t"/>
              <a:pathLst>
                <a:path extrusionOk="0" h="711096" w="2682704">
                  <a:moveTo>
                    <a:pt x="0" y="0"/>
                  </a:moveTo>
                  <a:lnTo>
                    <a:pt x="2682704" y="0"/>
                  </a:lnTo>
                  <a:lnTo>
                    <a:pt x="2682704" y="711096"/>
                  </a:lnTo>
                  <a:lnTo>
                    <a:pt x="0" y="711096"/>
                  </a:lnTo>
                  <a:close/>
                </a:path>
              </a:pathLst>
            </a:custGeom>
            <a:solidFill>
              <a:srgbClr val="9FC5E8"/>
            </a:solidFill>
            <a:ln>
              <a:noFill/>
            </a:ln>
          </p:spPr>
        </p:sp>
        <p:sp>
          <p:nvSpPr>
            <p:cNvPr id="138" name="Google Shape;138;p20"/>
            <p:cNvSpPr txBox="1"/>
            <p:nvPr/>
          </p:nvSpPr>
          <p:spPr>
            <a:xfrm>
              <a:off x="0" y="-57150"/>
              <a:ext cx="2682600" cy="768300"/>
            </a:xfrm>
            <a:prstGeom prst="rect">
              <a:avLst/>
            </a:prstGeom>
            <a:solidFill>
              <a:srgbClr val="9FC5E8"/>
            </a:solid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39" name="Google Shape;139;p20"/>
          <p:cNvSpPr txBox="1"/>
          <p:nvPr/>
        </p:nvSpPr>
        <p:spPr>
          <a:xfrm>
            <a:off x="1530435" y="3579234"/>
            <a:ext cx="3669300" cy="517200"/>
          </a:xfrm>
          <a:prstGeom prst="rect">
            <a:avLst/>
          </a:prstGeom>
          <a:noFill/>
          <a:ln>
            <a:noFill/>
          </a:ln>
        </p:spPr>
        <p:txBody>
          <a:bodyPr anchorCtr="0" anchor="t" bIns="0" lIns="0" spcFirstLastPara="1" rIns="0" wrap="square" tIns="0">
            <a:spAutoFit/>
          </a:bodyPr>
          <a:lstStyle/>
          <a:p>
            <a:pPr indent="0" lvl="0" marL="0" marR="0" rtl="0" algn="just">
              <a:lnSpc>
                <a:spcPct val="139985"/>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Se ejecutan en entornos lo más parecidos posibles al de producción.</a:t>
            </a:r>
            <a:endParaRPr b="0" i="0" sz="700" u="none" cap="none" strike="noStrike">
              <a:solidFill>
                <a:schemeClr val="dk1"/>
              </a:solidFill>
              <a:latin typeface="Arial"/>
              <a:ea typeface="Arial"/>
              <a:cs typeface="Arial"/>
              <a:sym typeface="Arial"/>
            </a:endParaRPr>
          </a:p>
        </p:txBody>
      </p:sp>
      <p:grpSp>
        <p:nvGrpSpPr>
          <p:cNvPr id="140" name="Google Shape;140;p20"/>
          <p:cNvGrpSpPr/>
          <p:nvPr/>
        </p:nvGrpSpPr>
        <p:grpSpPr>
          <a:xfrm>
            <a:off x="1463487" y="2996480"/>
            <a:ext cx="3306004" cy="416082"/>
            <a:chOff x="0" y="-57150"/>
            <a:chExt cx="3683159" cy="463550"/>
          </a:xfrm>
        </p:grpSpPr>
        <p:sp>
          <p:nvSpPr>
            <p:cNvPr id="141" name="Google Shape;141;p20"/>
            <p:cNvSpPr/>
            <p:nvPr/>
          </p:nvSpPr>
          <p:spPr>
            <a:xfrm>
              <a:off x="0" y="0"/>
              <a:ext cx="3683159" cy="406400"/>
            </a:xfrm>
            <a:custGeom>
              <a:rect b="b" l="l" r="r" t="t"/>
              <a:pathLst>
                <a:path extrusionOk="0" h="406400" w="3683159">
                  <a:moveTo>
                    <a:pt x="3479959" y="0"/>
                  </a:moveTo>
                  <a:cubicBezTo>
                    <a:pt x="3592183" y="0"/>
                    <a:pt x="3683159" y="90976"/>
                    <a:pt x="3683159" y="203200"/>
                  </a:cubicBezTo>
                  <a:cubicBezTo>
                    <a:pt x="3683159" y="315424"/>
                    <a:pt x="3592183" y="406400"/>
                    <a:pt x="3479959" y="406400"/>
                  </a:cubicBezTo>
                  <a:lnTo>
                    <a:pt x="203200" y="406400"/>
                  </a:lnTo>
                  <a:cubicBezTo>
                    <a:pt x="90976" y="406400"/>
                    <a:pt x="0" y="315424"/>
                    <a:pt x="0" y="203200"/>
                  </a:cubicBezTo>
                  <a:cubicBezTo>
                    <a:pt x="0" y="90976"/>
                    <a:pt x="90976" y="0"/>
                    <a:pt x="203200" y="0"/>
                  </a:cubicBezTo>
                  <a:lnTo>
                    <a:pt x="3479959" y="0"/>
                  </a:lnTo>
                  <a:close/>
                </a:path>
              </a:pathLst>
            </a:custGeom>
            <a:solidFill>
              <a:srgbClr val="C9DAF8"/>
            </a:solidFill>
            <a:ln cap="rnd" cmpd="sng" w="4775">
              <a:solidFill>
                <a:srgbClr val="E7E8DE"/>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2" name="Google Shape;142;p20"/>
            <p:cNvSpPr txBox="1"/>
            <p:nvPr/>
          </p:nvSpPr>
          <p:spPr>
            <a:xfrm>
              <a:off x="0" y="-57150"/>
              <a:ext cx="3683100" cy="463500"/>
            </a:xfrm>
            <a:prstGeom prst="rect">
              <a:avLst/>
            </a:prstGeom>
            <a:solidFill>
              <a:srgbClr val="C9DAF8"/>
            </a:solidFill>
            <a:ln cap="flat" cmpd="sng" w="4775">
              <a:solidFill>
                <a:srgbClr val="000000"/>
              </a:solidFill>
              <a:prstDash val="solid"/>
              <a:round/>
              <a:headEnd len="sm" w="sm" type="none"/>
              <a:tailEnd len="sm" w="sm" type="none"/>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02. SIMULAN UN ENTORNO REAL</a:t>
              </a:r>
              <a:r>
                <a:rPr b="0" i="0" lang="es" sz="1400" u="none" cap="none" strike="noStrike">
                  <a:solidFill>
                    <a:srgbClr val="FFFFFF"/>
                  </a:solidFill>
                  <a:latin typeface="Arial"/>
                  <a:ea typeface="Arial"/>
                  <a:cs typeface="Arial"/>
                  <a:sym typeface="Arial"/>
                </a:rPr>
                <a:t> </a:t>
              </a:r>
              <a:endParaRPr b="0" i="0" sz="700" u="none" cap="none" strike="noStrike">
                <a:solidFill>
                  <a:srgbClr val="000000"/>
                </a:solidFill>
                <a:latin typeface="Arial"/>
                <a:ea typeface="Arial"/>
                <a:cs typeface="Arial"/>
                <a:sym typeface="Arial"/>
              </a:endParaRPr>
            </a:p>
          </p:txBody>
        </p:sp>
      </p:grpSp>
      <p:cxnSp>
        <p:nvCxnSpPr>
          <p:cNvPr id="143" name="Google Shape;143;p20"/>
          <p:cNvCxnSpPr/>
          <p:nvPr/>
        </p:nvCxnSpPr>
        <p:spPr>
          <a:xfrm flipH="1" rot="10800000">
            <a:off x="299182" y="4916563"/>
            <a:ext cx="8536500" cy="35700"/>
          </a:xfrm>
          <a:prstGeom prst="straightConnector1">
            <a:avLst/>
          </a:prstGeom>
          <a:noFill/>
          <a:ln cap="flat" cmpd="sng" w="9525">
            <a:solidFill>
              <a:srgbClr val="FFFFFF"/>
            </a:solidFill>
            <a:prstDash val="solid"/>
            <a:round/>
            <a:headEnd len="sm" w="sm" type="none"/>
            <a:tailEnd len="sm" w="sm" type="none"/>
          </a:ln>
        </p:spPr>
      </p:cxnSp>
      <p:sp>
        <p:nvSpPr>
          <p:cNvPr id="144" name="Google Shape;144;p20"/>
          <p:cNvSpPr txBox="1"/>
          <p:nvPr/>
        </p:nvSpPr>
        <p:spPr>
          <a:xfrm>
            <a:off x="1828143" y="335321"/>
            <a:ext cx="5478900" cy="969600"/>
          </a:xfrm>
          <a:prstGeom prst="rect">
            <a:avLst/>
          </a:prstGeom>
          <a:solidFill>
            <a:srgbClr val="D9EAD3"/>
          </a:solidFill>
          <a:ln>
            <a:noFill/>
          </a:ln>
        </p:spPr>
        <p:txBody>
          <a:bodyPr anchorCtr="0" anchor="t" bIns="0" lIns="0" spcFirstLastPara="1" rIns="0" wrap="square" tIns="0">
            <a:spAutoFit/>
          </a:bodyPr>
          <a:lstStyle/>
          <a:p>
            <a:pPr indent="0" lvl="0" marL="0" marR="0" rtl="0" algn="l">
              <a:lnSpc>
                <a:spcPct val="89998"/>
              </a:lnSpc>
              <a:spcBef>
                <a:spcPts val="0"/>
              </a:spcBef>
              <a:spcAft>
                <a:spcPts val="0"/>
              </a:spcAft>
              <a:buClr>
                <a:srgbClr val="000000"/>
              </a:buClr>
              <a:buSzPts val="3500"/>
              <a:buFont typeface="Arial"/>
              <a:buNone/>
            </a:pPr>
            <a:r>
              <a:rPr b="0" i="0" lang="es" sz="3500" u="none" cap="none" strike="noStrike">
                <a:solidFill>
                  <a:srgbClr val="191919"/>
                </a:solidFill>
                <a:latin typeface="Arial"/>
                <a:ea typeface="Arial"/>
                <a:cs typeface="Arial"/>
                <a:sym typeface="Arial"/>
              </a:rPr>
              <a:t>OBJETIVOS </a:t>
            </a:r>
            <a:r>
              <a:rPr b="0" i="0" lang="es" sz="3500" u="none" cap="none" strike="noStrike">
                <a:solidFill>
                  <a:schemeClr val="dk1"/>
                </a:solidFill>
                <a:latin typeface="Arial"/>
                <a:ea typeface="Arial"/>
                <a:cs typeface="Arial"/>
                <a:sym typeface="Arial"/>
              </a:rPr>
              <a:t>PRINCIPALES</a:t>
            </a:r>
            <a:endParaRPr b="0" i="0" sz="7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148" name="Shape 148"/>
        <p:cNvGrpSpPr/>
        <p:nvPr/>
      </p:nvGrpSpPr>
      <p:grpSpPr>
        <a:xfrm>
          <a:off x="0" y="0"/>
          <a:ext cx="0" cy="0"/>
          <a:chOff x="0" y="0"/>
          <a:chExt cx="0" cy="0"/>
        </a:xfrm>
      </p:grpSpPr>
      <p:grpSp>
        <p:nvGrpSpPr>
          <p:cNvPr id="149" name="Google Shape;149;p21"/>
          <p:cNvGrpSpPr/>
          <p:nvPr/>
        </p:nvGrpSpPr>
        <p:grpSpPr>
          <a:xfrm>
            <a:off x="2059899" y="1438956"/>
            <a:ext cx="4483603" cy="1284060"/>
            <a:chOff x="0" y="-57150"/>
            <a:chExt cx="2682704" cy="768300"/>
          </a:xfrm>
        </p:grpSpPr>
        <p:sp>
          <p:nvSpPr>
            <p:cNvPr id="150" name="Google Shape;150;p21"/>
            <p:cNvSpPr/>
            <p:nvPr/>
          </p:nvSpPr>
          <p:spPr>
            <a:xfrm>
              <a:off x="0" y="0"/>
              <a:ext cx="2682704" cy="711096"/>
            </a:xfrm>
            <a:custGeom>
              <a:rect b="b" l="l" r="r" t="t"/>
              <a:pathLst>
                <a:path extrusionOk="0" h="711096" w="2682704">
                  <a:moveTo>
                    <a:pt x="0" y="0"/>
                  </a:moveTo>
                  <a:lnTo>
                    <a:pt x="2682704" y="0"/>
                  </a:lnTo>
                  <a:lnTo>
                    <a:pt x="2682704" y="711096"/>
                  </a:lnTo>
                  <a:lnTo>
                    <a:pt x="0" y="711096"/>
                  </a:lnTo>
                  <a:close/>
                </a:path>
              </a:pathLst>
            </a:custGeom>
            <a:solidFill>
              <a:srgbClr val="9FC5E8"/>
            </a:solidFill>
            <a:ln>
              <a:noFill/>
            </a:ln>
          </p:spPr>
        </p:sp>
        <p:sp>
          <p:nvSpPr>
            <p:cNvPr id="151" name="Google Shape;151;p21"/>
            <p:cNvSpPr txBox="1"/>
            <p:nvPr/>
          </p:nvSpPr>
          <p:spPr>
            <a:xfrm>
              <a:off x="0" y="-57150"/>
              <a:ext cx="2682600" cy="768300"/>
            </a:xfrm>
            <a:prstGeom prst="rect">
              <a:avLst/>
            </a:prstGeom>
            <a:solidFill>
              <a:srgbClr val="9FC5E8"/>
            </a:solid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52" name="Google Shape;152;p21"/>
          <p:cNvSpPr txBox="1"/>
          <p:nvPr/>
        </p:nvSpPr>
        <p:spPr>
          <a:xfrm>
            <a:off x="2952087" y="1884796"/>
            <a:ext cx="2923500" cy="5541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1500"/>
              <a:buFont typeface="Arial"/>
              <a:buNone/>
            </a:pPr>
            <a:r>
              <a:rPr b="0" i="0" lang="es" sz="1500" u="none" cap="none" strike="noStrike">
                <a:solidFill>
                  <a:schemeClr val="dk1"/>
                </a:solidFill>
                <a:latin typeface="Arial"/>
                <a:ea typeface="Arial"/>
                <a:cs typeface="Arial"/>
                <a:sym typeface="Arial"/>
              </a:rPr>
              <a:t>Prueban cómo interactúan varios sistemas entre sí.</a:t>
            </a:r>
            <a:endParaRPr b="0" i="0" sz="700" u="none" cap="none" strike="noStrike">
              <a:solidFill>
                <a:schemeClr val="dk1"/>
              </a:solidFill>
              <a:latin typeface="Arial"/>
              <a:ea typeface="Arial"/>
              <a:cs typeface="Arial"/>
              <a:sym typeface="Arial"/>
            </a:endParaRPr>
          </a:p>
        </p:txBody>
      </p:sp>
      <p:grpSp>
        <p:nvGrpSpPr>
          <p:cNvPr id="153" name="Google Shape;153;p21"/>
          <p:cNvGrpSpPr/>
          <p:nvPr/>
        </p:nvGrpSpPr>
        <p:grpSpPr>
          <a:xfrm>
            <a:off x="2549513" y="1300789"/>
            <a:ext cx="3504422" cy="416082"/>
            <a:chOff x="0" y="-57150"/>
            <a:chExt cx="3904214" cy="463550"/>
          </a:xfrm>
        </p:grpSpPr>
        <p:sp>
          <p:nvSpPr>
            <p:cNvPr id="154" name="Google Shape;154;p21"/>
            <p:cNvSpPr/>
            <p:nvPr/>
          </p:nvSpPr>
          <p:spPr>
            <a:xfrm>
              <a:off x="0" y="0"/>
              <a:ext cx="3904214" cy="406400"/>
            </a:xfrm>
            <a:custGeom>
              <a:rect b="b" l="l" r="r" t="t"/>
              <a:pathLst>
                <a:path extrusionOk="0" h="406400" w="3904214">
                  <a:moveTo>
                    <a:pt x="3701014" y="0"/>
                  </a:moveTo>
                  <a:cubicBezTo>
                    <a:pt x="3813239" y="0"/>
                    <a:pt x="3904214" y="90976"/>
                    <a:pt x="3904214" y="203200"/>
                  </a:cubicBezTo>
                  <a:cubicBezTo>
                    <a:pt x="3904214" y="315424"/>
                    <a:pt x="3813239" y="406400"/>
                    <a:pt x="3701014" y="406400"/>
                  </a:cubicBezTo>
                  <a:lnTo>
                    <a:pt x="203200" y="406400"/>
                  </a:lnTo>
                  <a:cubicBezTo>
                    <a:pt x="90976" y="406400"/>
                    <a:pt x="0" y="315424"/>
                    <a:pt x="0" y="203200"/>
                  </a:cubicBezTo>
                  <a:cubicBezTo>
                    <a:pt x="0" y="90976"/>
                    <a:pt x="90976" y="0"/>
                    <a:pt x="203200" y="0"/>
                  </a:cubicBezTo>
                  <a:lnTo>
                    <a:pt x="3701014" y="0"/>
                  </a:lnTo>
                  <a:close/>
                </a:path>
              </a:pathLst>
            </a:custGeom>
            <a:solidFill>
              <a:srgbClr val="191919"/>
            </a:solidFill>
            <a:ln cap="rnd" cmpd="sng" w="19050">
              <a:solidFill>
                <a:srgbClr val="E7E8DE"/>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55" name="Google Shape;155;p21"/>
            <p:cNvSpPr txBox="1"/>
            <p:nvPr/>
          </p:nvSpPr>
          <p:spPr>
            <a:xfrm>
              <a:off x="0" y="-57150"/>
              <a:ext cx="3904200" cy="463500"/>
            </a:xfrm>
            <a:prstGeom prst="rect">
              <a:avLst/>
            </a:prstGeom>
            <a:solidFill>
              <a:srgbClr val="CFE2F3"/>
            </a:solid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03. DEPENDENCIA DE COMPONENTES</a:t>
              </a:r>
              <a:r>
                <a:rPr b="0" i="0" lang="es" sz="1400" u="none" cap="none" strike="noStrike">
                  <a:solidFill>
                    <a:srgbClr val="FFFFFF"/>
                  </a:solidFill>
                  <a:latin typeface="Arial"/>
                  <a:ea typeface="Arial"/>
                  <a:cs typeface="Arial"/>
                  <a:sym typeface="Arial"/>
                </a:rPr>
                <a:t>  </a:t>
              </a:r>
              <a:endParaRPr b="0" i="0" sz="700" u="none" cap="none" strike="noStrike">
                <a:solidFill>
                  <a:srgbClr val="000000"/>
                </a:solidFill>
                <a:latin typeface="Arial"/>
                <a:ea typeface="Arial"/>
                <a:cs typeface="Arial"/>
                <a:sym typeface="Arial"/>
              </a:endParaRPr>
            </a:p>
          </p:txBody>
        </p:sp>
      </p:grpSp>
      <p:grpSp>
        <p:nvGrpSpPr>
          <p:cNvPr id="156" name="Google Shape;156;p21"/>
          <p:cNvGrpSpPr/>
          <p:nvPr/>
        </p:nvGrpSpPr>
        <p:grpSpPr>
          <a:xfrm>
            <a:off x="1005618" y="3011013"/>
            <a:ext cx="4483603" cy="1284060"/>
            <a:chOff x="0" y="-57150"/>
            <a:chExt cx="2682704" cy="768300"/>
          </a:xfrm>
        </p:grpSpPr>
        <p:sp>
          <p:nvSpPr>
            <p:cNvPr id="157" name="Google Shape;157;p21"/>
            <p:cNvSpPr/>
            <p:nvPr/>
          </p:nvSpPr>
          <p:spPr>
            <a:xfrm>
              <a:off x="0" y="0"/>
              <a:ext cx="2682704" cy="711096"/>
            </a:xfrm>
            <a:custGeom>
              <a:rect b="b" l="l" r="r" t="t"/>
              <a:pathLst>
                <a:path extrusionOk="0" h="711096" w="2682704">
                  <a:moveTo>
                    <a:pt x="0" y="0"/>
                  </a:moveTo>
                  <a:lnTo>
                    <a:pt x="2682704" y="0"/>
                  </a:lnTo>
                  <a:lnTo>
                    <a:pt x="2682704" y="711096"/>
                  </a:lnTo>
                  <a:lnTo>
                    <a:pt x="0" y="711096"/>
                  </a:lnTo>
                  <a:close/>
                </a:path>
              </a:pathLst>
            </a:custGeom>
            <a:solidFill>
              <a:srgbClr val="9FC5E8"/>
            </a:solidFill>
            <a:ln>
              <a:noFill/>
            </a:ln>
          </p:spPr>
        </p:sp>
        <p:sp>
          <p:nvSpPr>
            <p:cNvPr id="158" name="Google Shape;158;p21"/>
            <p:cNvSpPr txBox="1"/>
            <p:nvPr/>
          </p:nvSpPr>
          <p:spPr>
            <a:xfrm>
              <a:off x="0" y="-57150"/>
              <a:ext cx="2682600" cy="768300"/>
            </a:xfrm>
            <a:prstGeom prst="rect">
              <a:avLst/>
            </a:prstGeom>
            <a:solidFill>
              <a:srgbClr val="9FC5E8"/>
            </a:solid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59" name="Google Shape;159;p21"/>
          <p:cNvSpPr txBox="1"/>
          <p:nvPr/>
        </p:nvSpPr>
        <p:spPr>
          <a:xfrm>
            <a:off x="1530435" y="3579234"/>
            <a:ext cx="3669300" cy="517200"/>
          </a:xfrm>
          <a:prstGeom prst="rect">
            <a:avLst/>
          </a:prstGeom>
          <a:noFill/>
          <a:ln>
            <a:noFill/>
          </a:ln>
        </p:spPr>
        <p:txBody>
          <a:bodyPr anchorCtr="0" anchor="t" bIns="0" lIns="0" spcFirstLastPara="1" rIns="0" wrap="square" tIns="0">
            <a:spAutoFit/>
          </a:bodyPr>
          <a:lstStyle/>
          <a:p>
            <a:pPr indent="0" lvl="0" marL="0" marR="0" rtl="0" algn="just">
              <a:lnSpc>
                <a:spcPct val="139985"/>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Usan interfaces reales como la UI o la API pública.</a:t>
            </a:r>
            <a:endParaRPr b="0" i="0" sz="700" u="none" cap="none" strike="noStrike">
              <a:solidFill>
                <a:schemeClr val="dk1"/>
              </a:solidFill>
              <a:latin typeface="Arial"/>
              <a:ea typeface="Arial"/>
              <a:cs typeface="Arial"/>
              <a:sym typeface="Arial"/>
            </a:endParaRPr>
          </a:p>
        </p:txBody>
      </p:sp>
      <p:grpSp>
        <p:nvGrpSpPr>
          <p:cNvPr id="160" name="Google Shape;160;p21"/>
          <p:cNvGrpSpPr/>
          <p:nvPr/>
        </p:nvGrpSpPr>
        <p:grpSpPr>
          <a:xfrm>
            <a:off x="1463487" y="2996480"/>
            <a:ext cx="3306004" cy="416082"/>
            <a:chOff x="0" y="-57150"/>
            <a:chExt cx="3683159" cy="463550"/>
          </a:xfrm>
        </p:grpSpPr>
        <p:sp>
          <p:nvSpPr>
            <p:cNvPr id="161" name="Google Shape;161;p21"/>
            <p:cNvSpPr/>
            <p:nvPr/>
          </p:nvSpPr>
          <p:spPr>
            <a:xfrm>
              <a:off x="0" y="0"/>
              <a:ext cx="3683159" cy="406400"/>
            </a:xfrm>
            <a:custGeom>
              <a:rect b="b" l="l" r="r" t="t"/>
              <a:pathLst>
                <a:path extrusionOk="0" h="406400" w="3683159">
                  <a:moveTo>
                    <a:pt x="3479959" y="0"/>
                  </a:moveTo>
                  <a:cubicBezTo>
                    <a:pt x="3592183" y="0"/>
                    <a:pt x="3683159" y="90976"/>
                    <a:pt x="3683159" y="203200"/>
                  </a:cubicBezTo>
                  <a:cubicBezTo>
                    <a:pt x="3683159" y="315424"/>
                    <a:pt x="3592183" y="406400"/>
                    <a:pt x="3479959" y="406400"/>
                  </a:cubicBezTo>
                  <a:lnTo>
                    <a:pt x="203200" y="406400"/>
                  </a:lnTo>
                  <a:cubicBezTo>
                    <a:pt x="90976" y="406400"/>
                    <a:pt x="0" y="315424"/>
                    <a:pt x="0" y="203200"/>
                  </a:cubicBezTo>
                  <a:cubicBezTo>
                    <a:pt x="0" y="90976"/>
                    <a:pt x="90976" y="0"/>
                    <a:pt x="203200" y="0"/>
                  </a:cubicBezTo>
                  <a:lnTo>
                    <a:pt x="3479959" y="0"/>
                  </a:lnTo>
                  <a:close/>
                </a:path>
              </a:pathLst>
            </a:custGeom>
            <a:solidFill>
              <a:srgbClr val="191919"/>
            </a:solidFill>
            <a:ln cap="rnd" cmpd="sng" w="19050">
              <a:solidFill>
                <a:srgbClr val="E7E8DE"/>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62" name="Google Shape;162;p21"/>
            <p:cNvSpPr txBox="1"/>
            <p:nvPr/>
          </p:nvSpPr>
          <p:spPr>
            <a:xfrm>
              <a:off x="0" y="-57150"/>
              <a:ext cx="3683100" cy="463500"/>
            </a:xfrm>
            <a:prstGeom prst="rect">
              <a:avLst/>
            </a:prstGeom>
            <a:solidFill>
              <a:srgbClr val="C9DAF8"/>
            </a:solid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04. INTERACCIÓN COMO USUARIO</a:t>
              </a:r>
              <a:r>
                <a:rPr b="0" i="0" lang="es" sz="1400" u="none" cap="none" strike="noStrike">
                  <a:solidFill>
                    <a:srgbClr val="FFFFFF"/>
                  </a:solidFill>
                  <a:latin typeface="Arial"/>
                  <a:ea typeface="Arial"/>
                  <a:cs typeface="Arial"/>
                  <a:sym typeface="Arial"/>
                </a:rPr>
                <a:t>  </a:t>
              </a:r>
              <a:endParaRPr b="0" i="0" sz="700" u="none" cap="none" strike="noStrike">
                <a:solidFill>
                  <a:srgbClr val="000000"/>
                </a:solidFill>
                <a:latin typeface="Arial"/>
                <a:ea typeface="Arial"/>
                <a:cs typeface="Arial"/>
                <a:sym typeface="Arial"/>
              </a:endParaRPr>
            </a:p>
          </p:txBody>
        </p:sp>
      </p:grpSp>
      <p:cxnSp>
        <p:nvCxnSpPr>
          <p:cNvPr id="163" name="Google Shape;163;p21"/>
          <p:cNvCxnSpPr/>
          <p:nvPr/>
        </p:nvCxnSpPr>
        <p:spPr>
          <a:xfrm flipH="1" rot="10800000">
            <a:off x="299182" y="4906663"/>
            <a:ext cx="8595900" cy="45600"/>
          </a:xfrm>
          <a:prstGeom prst="straightConnector1">
            <a:avLst/>
          </a:prstGeom>
          <a:noFill/>
          <a:ln cap="flat" cmpd="sng" w="9525">
            <a:solidFill>
              <a:srgbClr val="FFFFFF"/>
            </a:solidFill>
            <a:prstDash val="solid"/>
            <a:round/>
            <a:headEnd len="sm" w="sm" type="none"/>
            <a:tailEnd len="sm" w="sm" type="none"/>
          </a:ln>
        </p:spPr>
      </p:cxnSp>
      <p:sp>
        <p:nvSpPr>
          <p:cNvPr id="164" name="Google Shape;164;p21"/>
          <p:cNvSpPr txBox="1"/>
          <p:nvPr/>
        </p:nvSpPr>
        <p:spPr>
          <a:xfrm>
            <a:off x="1747181" y="331183"/>
            <a:ext cx="5478900" cy="969600"/>
          </a:xfrm>
          <a:prstGeom prst="rect">
            <a:avLst/>
          </a:prstGeom>
          <a:solidFill>
            <a:srgbClr val="D9EAD3"/>
          </a:solidFill>
          <a:ln>
            <a:noFill/>
          </a:ln>
        </p:spPr>
        <p:txBody>
          <a:bodyPr anchorCtr="0" anchor="t" bIns="0" lIns="0" spcFirstLastPara="1" rIns="0" wrap="square" tIns="0">
            <a:spAutoFit/>
          </a:bodyPr>
          <a:lstStyle/>
          <a:p>
            <a:pPr indent="0" lvl="0" marL="0" marR="0" rtl="0" algn="l">
              <a:lnSpc>
                <a:spcPct val="89998"/>
              </a:lnSpc>
              <a:spcBef>
                <a:spcPts val="0"/>
              </a:spcBef>
              <a:spcAft>
                <a:spcPts val="0"/>
              </a:spcAft>
              <a:buClr>
                <a:srgbClr val="000000"/>
              </a:buClr>
              <a:buSzPts val="3500"/>
              <a:buFont typeface="Arial"/>
              <a:buNone/>
            </a:pPr>
            <a:r>
              <a:rPr b="0" i="0" lang="es" sz="3500" u="none" cap="none" strike="noStrike">
                <a:solidFill>
                  <a:schemeClr val="dk1"/>
                </a:solidFill>
                <a:latin typeface="Arial"/>
                <a:ea typeface="Arial"/>
                <a:cs typeface="Arial"/>
                <a:sym typeface="Arial"/>
              </a:rPr>
              <a:t>OBJETIVOS PRINCIPALES</a:t>
            </a:r>
            <a:endParaRPr b="0" i="0" sz="7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168" name="Shape 168"/>
        <p:cNvGrpSpPr/>
        <p:nvPr/>
      </p:nvGrpSpPr>
      <p:grpSpPr>
        <a:xfrm>
          <a:off x="0" y="0"/>
          <a:ext cx="0" cy="0"/>
          <a:chOff x="0" y="0"/>
          <a:chExt cx="0" cy="0"/>
        </a:xfrm>
      </p:grpSpPr>
      <p:grpSp>
        <p:nvGrpSpPr>
          <p:cNvPr id="169" name="Google Shape;169;p22"/>
          <p:cNvGrpSpPr/>
          <p:nvPr/>
        </p:nvGrpSpPr>
        <p:grpSpPr>
          <a:xfrm>
            <a:off x="379539" y="777636"/>
            <a:ext cx="4483603" cy="1284060"/>
            <a:chOff x="0" y="-57150"/>
            <a:chExt cx="2682704" cy="768300"/>
          </a:xfrm>
        </p:grpSpPr>
        <p:sp>
          <p:nvSpPr>
            <p:cNvPr id="170" name="Google Shape;170;p22"/>
            <p:cNvSpPr/>
            <p:nvPr/>
          </p:nvSpPr>
          <p:spPr>
            <a:xfrm>
              <a:off x="0" y="0"/>
              <a:ext cx="2682704" cy="711096"/>
            </a:xfrm>
            <a:custGeom>
              <a:rect b="b" l="l" r="r" t="t"/>
              <a:pathLst>
                <a:path extrusionOk="0" h="711096" w="2682704">
                  <a:moveTo>
                    <a:pt x="0" y="0"/>
                  </a:moveTo>
                  <a:lnTo>
                    <a:pt x="2682704" y="0"/>
                  </a:lnTo>
                  <a:lnTo>
                    <a:pt x="2682704" y="711096"/>
                  </a:lnTo>
                  <a:lnTo>
                    <a:pt x="0" y="711096"/>
                  </a:lnTo>
                  <a:close/>
                </a:path>
              </a:pathLst>
            </a:custGeom>
            <a:solidFill>
              <a:srgbClr val="CFE2F3"/>
            </a:solidFill>
            <a:ln>
              <a:noFill/>
            </a:ln>
          </p:spPr>
        </p:sp>
        <p:sp>
          <p:nvSpPr>
            <p:cNvPr id="171" name="Google Shape;171;p22"/>
            <p:cNvSpPr txBox="1"/>
            <p:nvPr/>
          </p:nvSpPr>
          <p:spPr>
            <a:xfrm>
              <a:off x="0" y="-57150"/>
              <a:ext cx="2682600" cy="768300"/>
            </a:xfrm>
            <a:prstGeom prst="rect">
              <a:avLst/>
            </a:prstGeom>
            <a:solidFill>
              <a:srgbClr val="CFE2F3"/>
            </a:solid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72" name="Google Shape;172;p22"/>
          <p:cNvGrpSpPr/>
          <p:nvPr/>
        </p:nvGrpSpPr>
        <p:grpSpPr>
          <a:xfrm>
            <a:off x="869154" y="1120296"/>
            <a:ext cx="3504422" cy="642864"/>
            <a:chOff x="0" y="-57150"/>
            <a:chExt cx="3904214" cy="716203"/>
          </a:xfrm>
        </p:grpSpPr>
        <p:sp>
          <p:nvSpPr>
            <p:cNvPr id="173" name="Google Shape;173;p22"/>
            <p:cNvSpPr/>
            <p:nvPr/>
          </p:nvSpPr>
          <p:spPr>
            <a:xfrm>
              <a:off x="0" y="0"/>
              <a:ext cx="3904214" cy="659053"/>
            </a:xfrm>
            <a:custGeom>
              <a:rect b="b" l="l" r="r" t="t"/>
              <a:pathLst>
                <a:path extrusionOk="0" h="659053" w="3904214">
                  <a:moveTo>
                    <a:pt x="3701014" y="0"/>
                  </a:moveTo>
                  <a:cubicBezTo>
                    <a:pt x="3813239" y="0"/>
                    <a:pt x="3904214" y="147534"/>
                    <a:pt x="3904214" y="329527"/>
                  </a:cubicBezTo>
                  <a:cubicBezTo>
                    <a:pt x="3904214" y="511519"/>
                    <a:pt x="3813239" y="659053"/>
                    <a:pt x="3701014" y="659053"/>
                  </a:cubicBezTo>
                  <a:lnTo>
                    <a:pt x="203200" y="659053"/>
                  </a:lnTo>
                  <a:cubicBezTo>
                    <a:pt x="90976" y="659053"/>
                    <a:pt x="0" y="511519"/>
                    <a:pt x="0" y="329527"/>
                  </a:cubicBezTo>
                  <a:cubicBezTo>
                    <a:pt x="0" y="147534"/>
                    <a:pt x="90976" y="0"/>
                    <a:pt x="203200" y="0"/>
                  </a:cubicBezTo>
                  <a:lnTo>
                    <a:pt x="3701014" y="0"/>
                  </a:lnTo>
                  <a:close/>
                </a:path>
              </a:pathLst>
            </a:custGeom>
            <a:solidFill>
              <a:srgbClr val="191919"/>
            </a:solidFill>
            <a:ln cap="rnd" cmpd="sng" w="19050">
              <a:solidFill>
                <a:srgbClr val="E7E8DE"/>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74" name="Google Shape;174;p22"/>
            <p:cNvSpPr txBox="1"/>
            <p:nvPr/>
          </p:nvSpPr>
          <p:spPr>
            <a:xfrm>
              <a:off x="0" y="-57150"/>
              <a:ext cx="3904200" cy="716100"/>
            </a:xfrm>
            <a:prstGeom prst="rect">
              <a:avLst/>
            </a:prstGeom>
            <a:solidFill>
              <a:srgbClr val="A4C2F4"/>
            </a:solid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MÁS LENTAS QUE OTROS TIPOS DE PRUEBAS.</a:t>
              </a:r>
              <a:endParaRPr b="0" i="0" sz="700" u="none" cap="none" strike="noStrike">
                <a:solidFill>
                  <a:schemeClr val="dk1"/>
                </a:solidFill>
                <a:latin typeface="Arial"/>
                <a:ea typeface="Arial"/>
                <a:cs typeface="Arial"/>
                <a:sym typeface="Arial"/>
              </a:endParaRPr>
            </a:p>
          </p:txBody>
        </p:sp>
      </p:grpSp>
      <p:grpSp>
        <p:nvGrpSpPr>
          <p:cNvPr id="175" name="Google Shape;175;p22"/>
          <p:cNvGrpSpPr/>
          <p:nvPr/>
        </p:nvGrpSpPr>
        <p:grpSpPr>
          <a:xfrm>
            <a:off x="2416147" y="2125259"/>
            <a:ext cx="4483603" cy="1284060"/>
            <a:chOff x="0" y="-57150"/>
            <a:chExt cx="2682704" cy="768300"/>
          </a:xfrm>
        </p:grpSpPr>
        <p:sp>
          <p:nvSpPr>
            <p:cNvPr id="176" name="Google Shape;176;p22"/>
            <p:cNvSpPr/>
            <p:nvPr/>
          </p:nvSpPr>
          <p:spPr>
            <a:xfrm>
              <a:off x="0" y="0"/>
              <a:ext cx="2682704" cy="711096"/>
            </a:xfrm>
            <a:custGeom>
              <a:rect b="b" l="l" r="r" t="t"/>
              <a:pathLst>
                <a:path extrusionOk="0" h="711096" w="2682704">
                  <a:moveTo>
                    <a:pt x="0" y="0"/>
                  </a:moveTo>
                  <a:lnTo>
                    <a:pt x="2682704" y="0"/>
                  </a:lnTo>
                  <a:lnTo>
                    <a:pt x="2682704" y="711096"/>
                  </a:lnTo>
                  <a:lnTo>
                    <a:pt x="0" y="711096"/>
                  </a:lnTo>
                  <a:close/>
                </a:path>
              </a:pathLst>
            </a:custGeom>
            <a:solidFill>
              <a:srgbClr val="C9DAF8"/>
            </a:solidFill>
            <a:ln>
              <a:noFill/>
            </a:ln>
          </p:spPr>
        </p:sp>
        <p:sp>
          <p:nvSpPr>
            <p:cNvPr id="177" name="Google Shape;177;p22"/>
            <p:cNvSpPr txBox="1"/>
            <p:nvPr/>
          </p:nvSpPr>
          <p:spPr>
            <a:xfrm>
              <a:off x="0" y="-57150"/>
              <a:ext cx="2682600" cy="768300"/>
            </a:xfrm>
            <a:prstGeom prst="rect">
              <a:avLst/>
            </a:prstGeom>
            <a:solidFill>
              <a:srgbClr val="C9DAF8"/>
            </a:solid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78" name="Google Shape;178;p22"/>
          <p:cNvGrpSpPr/>
          <p:nvPr/>
        </p:nvGrpSpPr>
        <p:grpSpPr>
          <a:xfrm>
            <a:off x="3004968" y="2581305"/>
            <a:ext cx="3306004" cy="416082"/>
            <a:chOff x="0" y="-57150"/>
            <a:chExt cx="3683159" cy="463550"/>
          </a:xfrm>
        </p:grpSpPr>
        <p:sp>
          <p:nvSpPr>
            <p:cNvPr id="179" name="Google Shape;179;p22"/>
            <p:cNvSpPr/>
            <p:nvPr/>
          </p:nvSpPr>
          <p:spPr>
            <a:xfrm>
              <a:off x="0" y="0"/>
              <a:ext cx="3683159" cy="406400"/>
            </a:xfrm>
            <a:custGeom>
              <a:rect b="b" l="l" r="r" t="t"/>
              <a:pathLst>
                <a:path extrusionOk="0" h="406400" w="3683159">
                  <a:moveTo>
                    <a:pt x="3479959" y="0"/>
                  </a:moveTo>
                  <a:cubicBezTo>
                    <a:pt x="3592183" y="0"/>
                    <a:pt x="3683159" y="90976"/>
                    <a:pt x="3683159" y="203200"/>
                  </a:cubicBezTo>
                  <a:cubicBezTo>
                    <a:pt x="3683159" y="315424"/>
                    <a:pt x="3592183" y="406400"/>
                    <a:pt x="3479959" y="406400"/>
                  </a:cubicBezTo>
                  <a:lnTo>
                    <a:pt x="203200" y="406400"/>
                  </a:lnTo>
                  <a:cubicBezTo>
                    <a:pt x="90976" y="406400"/>
                    <a:pt x="0" y="315424"/>
                    <a:pt x="0" y="203200"/>
                  </a:cubicBezTo>
                  <a:cubicBezTo>
                    <a:pt x="0" y="90976"/>
                    <a:pt x="90976" y="0"/>
                    <a:pt x="203200" y="0"/>
                  </a:cubicBezTo>
                  <a:lnTo>
                    <a:pt x="3479959" y="0"/>
                  </a:lnTo>
                  <a:close/>
                </a:path>
              </a:pathLst>
            </a:custGeom>
            <a:solidFill>
              <a:srgbClr val="191919"/>
            </a:solidFill>
            <a:ln cap="rnd" cmpd="sng" w="19050">
              <a:solidFill>
                <a:srgbClr val="E7E8DE"/>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80" name="Google Shape;180;p22"/>
            <p:cNvSpPr txBox="1"/>
            <p:nvPr/>
          </p:nvSpPr>
          <p:spPr>
            <a:xfrm>
              <a:off x="0" y="-57150"/>
              <a:ext cx="3683100" cy="463500"/>
            </a:xfrm>
            <a:prstGeom prst="rect">
              <a:avLst/>
            </a:prstGeom>
            <a:solidFill>
              <a:srgbClr val="A4C2F4"/>
            </a:solid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FRÁGILES ANTE CAMBIOS EN LA UI.</a:t>
              </a:r>
              <a:endParaRPr b="0" i="0" sz="700" u="none" cap="none" strike="noStrike">
                <a:solidFill>
                  <a:schemeClr val="dk1"/>
                </a:solidFill>
                <a:latin typeface="Arial"/>
                <a:ea typeface="Arial"/>
                <a:cs typeface="Arial"/>
                <a:sym typeface="Arial"/>
              </a:endParaRPr>
            </a:p>
          </p:txBody>
        </p:sp>
      </p:grpSp>
      <p:cxnSp>
        <p:nvCxnSpPr>
          <p:cNvPr id="181" name="Google Shape;181;p22"/>
          <p:cNvCxnSpPr/>
          <p:nvPr/>
        </p:nvCxnSpPr>
        <p:spPr>
          <a:xfrm>
            <a:off x="1215585" y="4964612"/>
            <a:ext cx="6712800" cy="0"/>
          </a:xfrm>
          <a:prstGeom prst="straightConnector1">
            <a:avLst/>
          </a:prstGeom>
          <a:noFill/>
          <a:ln cap="flat" cmpd="sng" w="9525">
            <a:solidFill>
              <a:srgbClr val="FFFFFF"/>
            </a:solidFill>
            <a:prstDash val="solid"/>
            <a:round/>
            <a:headEnd len="sm" w="sm" type="none"/>
            <a:tailEnd len="sm" w="sm" type="none"/>
          </a:ln>
        </p:spPr>
      </p:cxnSp>
      <p:sp>
        <p:nvSpPr>
          <p:cNvPr id="182" name="Google Shape;182;p22"/>
          <p:cNvSpPr txBox="1"/>
          <p:nvPr/>
        </p:nvSpPr>
        <p:spPr>
          <a:xfrm>
            <a:off x="1947316" y="245400"/>
            <a:ext cx="5140800" cy="415500"/>
          </a:xfrm>
          <a:prstGeom prst="rect">
            <a:avLst/>
          </a:prstGeom>
          <a:solidFill>
            <a:srgbClr val="D9EAD3"/>
          </a:solid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3000"/>
              <a:buFont typeface="Arial"/>
              <a:buNone/>
            </a:pPr>
            <a:r>
              <a:rPr b="0" i="0" lang="es" sz="3000" u="none" cap="none" strike="noStrike">
                <a:solidFill>
                  <a:schemeClr val="dk1"/>
                </a:solidFill>
                <a:latin typeface="Arial"/>
                <a:ea typeface="Arial"/>
                <a:cs typeface="Arial"/>
                <a:sym typeface="Arial"/>
              </a:rPr>
              <a:t>DESVENTAJAS Y DESAFÍOS</a:t>
            </a:r>
            <a:endParaRPr b="0" i="0" sz="700" u="none" cap="none" strike="noStrike">
              <a:solidFill>
                <a:schemeClr val="dk1"/>
              </a:solidFill>
              <a:latin typeface="Arial"/>
              <a:ea typeface="Arial"/>
              <a:cs typeface="Arial"/>
              <a:sym typeface="Arial"/>
            </a:endParaRPr>
          </a:p>
        </p:txBody>
      </p:sp>
      <p:grpSp>
        <p:nvGrpSpPr>
          <p:cNvPr id="183" name="Google Shape;183;p22"/>
          <p:cNvGrpSpPr/>
          <p:nvPr/>
        </p:nvGrpSpPr>
        <p:grpSpPr>
          <a:xfrm>
            <a:off x="4335697" y="3442274"/>
            <a:ext cx="4483603" cy="1284060"/>
            <a:chOff x="0" y="-57150"/>
            <a:chExt cx="2682704" cy="768300"/>
          </a:xfrm>
        </p:grpSpPr>
        <p:sp>
          <p:nvSpPr>
            <p:cNvPr id="184" name="Google Shape;184;p22"/>
            <p:cNvSpPr/>
            <p:nvPr/>
          </p:nvSpPr>
          <p:spPr>
            <a:xfrm>
              <a:off x="0" y="0"/>
              <a:ext cx="2682704" cy="711096"/>
            </a:xfrm>
            <a:custGeom>
              <a:rect b="b" l="l" r="r" t="t"/>
              <a:pathLst>
                <a:path extrusionOk="0" h="711096" w="2682704">
                  <a:moveTo>
                    <a:pt x="0" y="0"/>
                  </a:moveTo>
                  <a:lnTo>
                    <a:pt x="2682704" y="0"/>
                  </a:lnTo>
                  <a:lnTo>
                    <a:pt x="2682704" y="711096"/>
                  </a:lnTo>
                  <a:lnTo>
                    <a:pt x="0" y="711096"/>
                  </a:lnTo>
                  <a:close/>
                </a:path>
              </a:pathLst>
            </a:custGeom>
            <a:solidFill>
              <a:srgbClr val="C9DAF8"/>
            </a:solidFill>
            <a:ln>
              <a:noFill/>
            </a:ln>
          </p:spPr>
        </p:sp>
        <p:sp>
          <p:nvSpPr>
            <p:cNvPr id="185" name="Google Shape;185;p22"/>
            <p:cNvSpPr txBox="1"/>
            <p:nvPr/>
          </p:nvSpPr>
          <p:spPr>
            <a:xfrm>
              <a:off x="0" y="-57150"/>
              <a:ext cx="2682600" cy="768300"/>
            </a:xfrm>
            <a:prstGeom prst="rect">
              <a:avLst/>
            </a:prstGeom>
            <a:solidFill>
              <a:srgbClr val="C9DAF8"/>
            </a:solid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86" name="Google Shape;186;p22"/>
          <p:cNvGrpSpPr/>
          <p:nvPr/>
        </p:nvGrpSpPr>
        <p:grpSpPr>
          <a:xfrm>
            <a:off x="4924518" y="3815681"/>
            <a:ext cx="3306004" cy="581376"/>
            <a:chOff x="0" y="-57150"/>
            <a:chExt cx="3683159" cy="647700"/>
          </a:xfrm>
        </p:grpSpPr>
        <p:sp>
          <p:nvSpPr>
            <p:cNvPr id="187" name="Google Shape;187;p22"/>
            <p:cNvSpPr/>
            <p:nvPr/>
          </p:nvSpPr>
          <p:spPr>
            <a:xfrm>
              <a:off x="0" y="0"/>
              <a:ext cx="3683159" cy="590542"/>
            </a:xfrm>
            <a:custGeom>
              <a:rect b="b" l="l" r="r" t="t"/>
              <a:pathLst>
                <a:path extrusionOk="0" h="590542" w="3683159">
                  <a:moveTo>
                    <a:pt x="3479959" y="0"/>
                  </a:moveTo>
                  <a:cubicBezTo>
                    <a:pt x="3592183" y="0"/>
                    <a:pt x="3683159" y="132197"/>
                    <a:pt x="3683159" y="295271"/>
                  </a:cubicBezTo>
                  <a:cubicBezTo>
                    <a:pt x="3683159" y="458345"/>
                    <a:pt x="3592183" y="590542"/>
                    <a:pt x="3479959" y="590542"/>
                  </a:cubicBezTo>
                  <a:lnTo>
                    <a:pt x="203200" y="590542"/>
                  </a:lnTo>
                  <a:cubicBezTo>
                    <a:pt x="90976" y="590542"/>
                    <a:pt x="0" y="458345"/>
                    <a:pt x="0" y="295271"/>
                  </a:cubicBezTo>
                  <a:cubicBezTo>
                    <a:pt x="0" y="132197"/>
                    <a:pt x="90976" y="0"/>
                    <a:pt x="203200" y="0"/>
                  </a:cubicBezTo>
                  <a:lnTo>
                    <a:pt x="3479959" y="0"/>
                  </a:lnTo>
                  <a:close/>
                </a:path>
              </a:pathLst>
            </a:custGeom>
            <a:solidFill>
              <a:srgbClr val="191919"/>
            </a:solidFill>
            <a:ln cap="rnd" cmpd="sng" w="19050">
              <a:solidFill>
                <a:srgbClr val="E7E8DE"/>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88" name="Google Shape;188;p22"/>
            <p:cNvSpPr txBox="1"/>
            <p:nvPr/>
          </p:nvSpPr>
          <p:spPr>
            <a:xfrm>
              <a:off x="0" y="-57150"/>
              <a:ext cx="3683100" cy="647700"/>
            </a:xfrm>
            <a:prstGeom prst="rect">
              <a:avLst/>
            </a:prstGeom>
            <a:solidFill>
              <a:srgbClr val="A4C2F4"/>
            </a:solid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Clr>
                  <a:srgbClr val="000000"/>
                </a:buClr>
                <a:buSzPts val="1200"/>
                <a:buFont typeface="Arial"/>
                <a:buNone/>
              </a:pPr>
              <a:r>
                <a:rPr b="0" i="0" lang="es" sz="1200" u="none" cap="none" strike="noStrike">
                  <a:solidFill>
                    <a:schemeClr val="dk1"/>
                  </a:solidFill>
                  <a:latin typeface="Arial"/>
                  <a:ea typeface="Arial"/>
                  <a:cs typeface="Arial"/>
                  <a:sym typeface="Arial"/>
                </a:rPr>
                <a:t>DIFÍCILES DE ESCALAR SI NO SE DISEÑAN CON UNA ESTRATEGIA CLARA</a:t>
              </a:r>
              <a:r>
                <a:rPr b="0" i="0" lang="es" sz="1200" u="none" cap="none" strike="noStrike">
                  <a:solidFill>
                    <a:srgbClr val="FFFFFF"/>
                  </a:solidFill>
                  <a:latin typeface="Arial"/>
                  <a:ea typeface="Arial"/>
                  <a:cs typeface="Arial"/>
                  <a:sym typeface="Arial"/>
                </a:rPr>
                <a:t>.</a:t>
              </a:r>
              <a:endParaRPr b="0" i="0" sz="700" u="none" cap="none" strike="noStrike">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192" name="Shape 192"/>
        <p:cNvGrpSpPr/>
        <p:nvPr/>
      </p:nvGrpSpPr>
      <p:grpSpPr>
        <a:xfrm>
          <a:off x="0" y="0"/>
          <a:ext cx="0" cy="0"/>
          <a:chOff x="0" y="0"/>
          <a:chExt cx="0" cy="0"/>
        </a:xfrm>
      </p:grpSpPr>
      <p:cxnSp>
        <p:nvCxnSpPr>
          <p:cNvPr id="193" name="Google Shape;193;p23"/>
          <p:cNvCxnSpPr/>
          <p:nvPr/>
        </p:nvCxnSpPr>
        <p:spPr>
          <a:xfrm>
            <a:off x="5003811" y="1837022"/>
            <a:ext cx="3625800" cy="0"/>
          </a:xfrm>
          <a:prstGeom prst="straightConnector1">
            <a:avLst/>
          </a:prstGeom>
          <a:noFill/>
          <a:ln cap="flat" cmpd="sng" w="9525">
            <a:solidFill>
              <a:srgbClr val="FFFFFF"/>
            </a:solidFill>
            <a:prstDash val="solid"/>
            <a:round/>
            <a:headEnd len="sm" w="sm" type="none"/>
            <a:tailEnd len="sm" w="sm" type="none"/>
          </a:ln>
        </p:spPr>
      </p:cxnSp>
      <p:pic>
        <p:nvPicPr>
          <p:cNvPr id="194" name="Google Shape;194;p23"/>
          <p:cNvPicPr preferRelativeResize="0"/>
          <p:nvPr/>
        </p:nvPicPr>
        <p:blipFill rotWithShape="1">
          <a:blip r:embed="rId3">
            <a:alphaModFix/>
          </a:blip>
          <a:srcRect b="0" l="3144" r="6243" t="15161"/>
          <a:stretch/>
        </p:blipFill>
        <p:spPr>
          <a:xfrm>
            <a:off x="386339" y="1490413"/>
            <a:ext cx="4185662" cy="2449566"/>
          </a:xfrm>
          <a:prstGeom prst="rect">
            <a:avLst/>
          </a:prstGeom>
          <a:noFill/>
          <a:ln>
            <a:noFill/>
          </a:ln>
        </p:spPr>
      </p:pic>
      <p:cxnSp>
        <p:nvCxnSpPr>
          <p:cNvPr id="195" name="Google Shape;195;p23"/>
          <p:cNvCxnSpPr/>
          <p:nvPr/>
        </p:nvCxnSpPr>
        <p:spPr>
          <a:xfrm>
            <a:off x="5003811" y="3593369"/>
            <a:ext cx="3625800" cy="0"/>
          </a:xfrm>
          <a:prstGeom prst="straightConnector1">
            <a:avLst/>
          </a:prstGeom>
          <a:noFill/>
          <a:ln cap="flat" cmpd="sng" w="9525">
            <a:solidFill>
              <a:srgbClr val="FFFFFF"/>
            </a:solidFill>
            <a:prstDash val="solid"/>
            <a:round/>
            <a:headEnd len="sm" w="sm" type="none"/>
            <a:tailEnd len="sm" w="sm" type="none"/>
          </a:ln>
        </p:spPr>
      </p:cxnSp>
      <p:sp>
        <p:nvSpPr>
          <p:cNvPr id="196" name="Google Shape;196;p23"/>
          <p:cNvSpPr txBox="1"/>
          <p:nvPr/>
        </p:nvSpPr>
        <p:spPr>
          <a:xfrm>
            <a:off x="5003811" y="1967236"/>
            <a:ext cx="3625800" cy="1360800"/>
          </a:xfrm>
          <a:prstGeom prst="rect">
            <a:avLst/>
          </a:prstGeom>
          <a:noFill/>
          <a:ln>
            <a:noFill/>
          </a:ln>
        </p:spPr>
        <p:txBody>
          <a:bodyPr anchorCtr="0" anchor="t" bIns="0" lIns="0" spcFirstLastPara="1" rIns="0" wrap="square" tIns="0">
            <a:spAutoFit/>
          </a:bodyPr>
          <a:lstStyle/>
          <a:p>
            <a:pPr indent="0" lvl="0" marL="0" marR="0" rtl="0" algn="just">
              <a:lnSpc>
                <a:spcPct val="140006"/>
              </a:lnSpc>
              <a:spcBef>
                <a:spcPts val="0"/>
              </a:spcBef>
              <a:spcAft>
                <a:spcPts val="0"/>
              </a:spcAft>
              <a:buClr>
                <a:srgbClr val="000000"/>
              </a:buClr>
              <a:buSzPts val="1700"/>
              <a:buFont typeface="Arial"/>
              <a:buNone/>
            </a:pPr>
            <a:r>
              <a:rPr b="0" i="0" lang="es" sz="1700" u="none" cap="none" strike="noStrike">
                <a:solidFill>
                  <a:schemeClr val="dk1"/>
                </a:solidFill>
                <a:latin typeface="Arial"/>
                <a:ea typeface="Arial"/>
                <a:cs typeface="Arial"/>
                <a:sym typeface="Arial"/>
              </a:rPr>
              <a:t>La Pirámide de Pruebas es un modelo conceptual que guía la estrategia de automatización de pruebas en el desarrollo de software.</a:t>
            </a:r>
            <a:endParaRPr b="0" i="0" sz="700" u="none" cap="none" strike="noStrike">
              <a:solidFill>
                <a:schemeClr val="dk1"/>
              </a:solidFill>
              <a:latin typeface="Arial"/>
              <a:ea typeface="Arial"/>
              <a:cs typeface="Arial"/>
              <a:sym typeface="Arial"/>
            </a:endParaRPr>
          </a:p>
        </p:txBody>
      </p:sp>
      <p:sp>
        <p:nvSpPr>
          <p:cNvPr id="197" name="Google Shape;197;p23"/>
          <p:cNvSpPr txBox="1"/>
          <p:nvPr/>
        </p:nvSpPr>
        <p:spPr>
          <a:xfrm>
            <a:off x="2769026" y="396050"/>
            <a:ext cx="3606000" cy="692700"/>
          </a:xfrm>
          <a:prstGeom prst="rect">
            <a:avLst/>
          </a:prstGeom>
          <a:solidFill>
            <a:srgbClr val="D9EAD3"/>
          </a:solidFill>
          <a:ln>
            <a:noFill/>
          </a:ln>
        </p:spPr>
        <p:txBody>
          <a:bodyPr anchorCtr="0" anchor="t" bIns="0" lIns="0" spcFirstLastPara="1" rIns="0" wrap="square" tIns="0">
            <a:spAutoFit/>
          </a:bodyPr>
          <a:lstStyle/>
          <a:p>
            <a:pPr indent="0" lvl="0" marL="0" marR="0" rtl="0" algn="ctr">
              <a:lnSpc>
                <a:spcPct val="89998"/>
              </a:lnSpc>
              <a:spcBef>
                <a:spcPts val="0"/>
              </a:spcBef>
              <a:spcAft>
                <a:spcPts val="0"/>
              </a:spcAft>
              <a:buClr>
                <a:srgbClr val="000000"/>
              </a:buClr>
              <a:buSzPts val="2500"/>
              <a:buFont typeface="Arial"/>
              <a:buNone/>
            </a:pPr>
            <a:r>
              <a:rPr b="0" i="0" lang="es" sz="2500" u="none" cap="none" strike="noStrike">
                <a:solidFill>
                  <a:schemeClr val="dk1"/>
                </a:solidFill>
                <a:latin typeface="Arial"/>
                <a:ea typeface="Arial"/>
                <a:cs typeface="Arial"/>
                <a:sym typeface="Arial"/>
              </a:rPr>
              <a:t>PIRÁMIDE DE PRUEBAS</a:t>
            </a:r>
            <a:endParaRPr b="0" i="0" sz="7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201" name="Shape 201"/>
        <p:cNvGrpSpPr/>
        <p:nvPr/>
      </p:nvGrpSpPr>
      <p:grpSpPr>
        <a:xfrm>
          <a:off x="0" y="0"/>
          <a:ext cx="0" cy="0"/>
          <a:chOff x="0" y="0"/>
          <a:chExt cx="0" cy="0"/>
        </a:xfrm>
      </p:grpSpPr>
      <p:pic>
        <p:nvPicPr>
          <p:cNvPr id="202" name="Google Shape;202;p24"/>
          <p:cNvPicPr preferRelativeResize="0"/>
          <p:nvPr/>
        </p:nvPicPr>
        <p:blipFill rotWithShape="1">
          <a:blip r:embed="rId3">
            <a:alphaModFix/>
          </a:blip>
          <a:srcRect b="-2828" l="0" r="0" t="0"/>
          <a:stretch/>
        </p:blipFill>
        <p:spPr>
          <a:xfrm>
            <a:off x="333663" y="206169"/>
            <a:ext cx="8476676" cy="473116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206" name="Shape 206"/>
        <p:cNvGrpSpPr/>
        <p:nvPr/>
      </p:nvGrpSpPr>
      <p:grpSpPr>
        <a:xfrm>
          <a:off x="0" y="0"/>
          <a:ext cx="0" cy="0"/>
          <a:chOff x="0" y="0"/>
          <a:chExt cx="0" cy="0"/>
        </a:xfrm>
      </p:grpSpPr>
      <p:pic>
        <p:nvPicPr>
          <p:cNvPr id="207" name="Google Shape;207;p25"/>
          <p:cNvPicPr preferRelativeResize="0"/>
          <p:nvPr/>
        </p:nvPicPr>
        <p:blipFill rotWithShape="1">
          <a:blip r:embed="rId3">
            <a:alphaModFix/>
          </a:blip>
          <a:srcRect b="2582" l="0" r="0" t="0"/>
          <a:stretch/>
        </p:blipFill>
        <p:spPr>
          <a:xfrm>
            <a:off x="228025" y="158531"/>
            <a:ext cx="8687950" cy="482643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211" name="Shape 211"/>
        <p:cNvGrpSpPr/>
        <p:nvPr/>
      </p:nvGrpSpPr>
      <p:grpSpPr>
        <a:xfrm>
          <a:off x="0" y="0"/>
          <a:ext cx="0" cy="0"/>
          <a:chOff x="0" y="0"/>
          <a:chExt cx="0" cy="0"/>
        </a:xfrm>
      </p:grpSpPr>
      <p:pic>
        <p:nvPicPr>
          <p:cNvPr id="212" name="Google Shape;212;p26"/>
          <p:cNvPicPr preferRelativeResize="0"/>
          <p:nvPr/>
        </p:nvPicPr>
        <p:blipFill rotWithShape="1">
          <a:blip r:embed="rId3">
            <a:alphaModFix/>
          </a:blip>
          <a:srcRect b="3568" l="0" r="0" t="0"/>
          <a:stretch/>
        </p:blipFill>
        <p:spPr>
          <a:xfrm>
            <a:off x="251331" y="263419"/>
            <a:ext cx="8641338" cy="461666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216" name="Shape 216"/>
        <p:cNvGrpSpPr/>
        <p:nvPr/>
      </p:nvGrpSpPr>
      <p:grpSpPr>
        <a:xfrm>
          <a:off x="0" y="0"/>
          <a:ext cx="0" cy="0"/>
          <a:chOff x="0" y="0"/>
          <a:chExt cx="0" cy="0"/>
        </a:xfrm>
      </p:grpSpPr>
      <p:pic>
        <p:nvPicPr>
          <p:cNvPr id="217" name="Google Shape;217;p27"/>
          <p:cNvPicPr preferRelativeResize="0"/>
          <p:nvPr/>
        </p:nvPicPr>
        <p:blipFill>
          <a:blip r:embed="rId3">
            <a:alphaModFix/>
          </a:blip>
          <a:stretch>
            <a:fillRect/>
          </a:stretch>
        </p:blipFill>
        <p:spPr>
          <a:xfrm>
            <a:off x="251331" y="224575"/>
            <a:ext cx="8641338" cy="4694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221" name="Shape 221"/>
        <p:cNvGrpSpPr/>
        <p:nvPr/>
      </p:nvGrpSpPr>
      <p:grpSpPr>
        <a:xfrm>
          <a:off x="0" y="0"/>
          <a:ext cx="0" cy="0"/>
          <a:chOff x="0" y="0"/>
          <a:chExt cx="0" cy="0"/>
        </a:xfrm>
      </p:grpSpPr>
      <p:pic>
        <p:nvPicPr>
          <p:cNvPr id="222" name="Google Shape;222;p28"/>
          <p:cNvPicPr preferRelativeResize="0"/>
          <p:nvPr/>
        </p:nvPicPr>
        <p:blipFill rotWithShape="1">
          <a:blip r:embed="rId3">
            <a:alphaModFix/>
          </a:blip>
          <a:srcRect b="3260" l="0" r="0" t="0"/>
          <a:stretch/>
        </p:blipFill>
        <p:spPr>
          <a:xfrm>
            <a:off x="185288" y="158531"/>
            <a:ext cx="8773424" cy="482643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226" name="Shape 226"/>
        <p:cNvGrpSpPr/>
        <p:nvPr/>
      </p:nvGrpSpPr>
      <p:grpSpPr>
        <a:xfrm>
          <a:off x="0" y="0"/>
          <a:ext cx="0" cy="0"/>
          <a:chOff x="0" y="0"/>
          <a:chExt cx="0" cy="0"/>
        </a:xfrm>
      </p:grpSpPr>
      <p:pic>
        <p:nvPicPr>
          <p:cNvPr id="227" name="Google Shape;227;p29"/>
          <p:cNvPicPr preferRelativeResize="0"/>
          <p:nvPr/>
        </p:nvPicPr>
        <p:blipFill rotWithShape="1">
          <a:blip r:embed="rId3">
            <a:alphaModFix/>
          </a:blip>
          <a:srcRect b="3082" l="0" r="0" t="0"/>
          <a:stretch/>
        </p:blipFill>
        <p:spPr>
          <a:xfrm>
            <a:off x="193063" y="251769"/>
            <a:ext cx="8757875" cy="463996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0"/>
          <p:cNvSpPr/>
          <p:nvPr/>
        </p:nvSpPr>
        <p:spPr>
          <a:xfrm>
            <a:off x="1746686" y="273722"/>
            <a:ext cx="5650630" cy="776962"/>
          </a:xfrm>
          <a:custGeom>
            <a:rect b="b" l="l" r="r" t="t"/>
            <a:pathLst>
              <a:path extrusionOk="0" h="1553923" w="11301259">
                <a:moveTo>
                  <a:pt x="0" y="0"/>
                </a:moveTo>
                <a:lnTo>
                  <a:pt x="11301258" y="0"/>
                </a:lnTo>
                <a:lnTo>
                  <a:pt x="11301258" y="1553923"/>
                </a:lnTo>
                <a:lnTo>
                  <a:pt x="0" y="1553923"/>
                </a:lnTo>
                <a:lnTo>
                  <a:pt x="0" y="0"/>
                </a:lnTo>
                <a:close/>
              </a:path>
            </a:pathLst>
          </a:custGeom>
          <a:blipFill rotWithShape="1">
            <a:blip r:embed="rId3">
              <a:alphaModFix/>
            </a:blip>
            <a:stretch>
              <a:fillRect b="0" l="0" r="0" t="0"/>
            </a:stretch>
          </a:blipFill>
          <a:ln>
            <a:noFill/>
          </a:ln>
        </p:spPr>
      </p:sp>
      <p:sp>
        <p:nvSpPr>
          <p:cNvPr id="233" name="Google Shape;233;p30"/>
          <p:cNvSpPr/>
          <p:nvPr/>
        </p:nvSpPr>
        <p:spPr>
          <a:xfrm>
            <a:off x="588413" y="1171175"/>
            <a:ext cx="8180784" cy="3439697"/>
          </a:xfrm>
          <a:custGeom>
            <a:rect b="b" l="l" r="r" t="t"/>
            <a:pathLst>
              <a:path extrusionOk="0" h="5956185" w="14352253">
                <a:moveTo>
                  <a:pt x="0" y="0"/>
                </a:moveTo>
                <a:lnTo>
                  <a:pt x="14352254" y="0"/>
                </a:lnTo>
                <a:lnTo>
                  <a:pt x="14352254" y="5956185"/>
                </a:lnTo>
                <a:lnTo>
                  <a:pt x="0" y="5956185"/>
                </a:lnTo>
                <a:lnTo>
                  <a:pt x="0" y="0"/>
                </a:lnTo>
                <a:close/>
              </a:path>
            </a:pathLst>
          </a:custGeom>
          <a:blipFill rotWithShape="1">
            <a:blip r:embed="rId4">
              <a:alphaModFix/>
            </a:blip>
            <a:stretch>
              <a:fillRect b="0" l="0" r="0" t="0"/>
            </a:stretch>
          </a:blipFill>
          <a:ln>
            <a:noFill/>
          </a:ln>
        </p:spPr>
      </p:sp>
      <p:sp>
        <p:nvSpPr>
          <p:cNvPr id="234" name="Google Shape;234;p30"/>
          <p:cNvSpPr txBox="1"/>
          <p:nvPr/>
        </p:nvSpPr>
        <p:spPr>
          <a:xfrm>
            <a:off x="785863" y="1425675"/>
            <a:ext cx="7785900" cy="819000"/>
          </a:xfrm>
          <a:prstGeom prst="rect">
            <a:avLst/>
          </a:prstGeom>
          <a:noFill/>
          <a:ln>
            <a:noFill/>
          </a:ln>
        </p:spPr>
        <p:txBody>
          <a:bodyPr anchorCtr="0" anchor="t" bIns="0" lIns="0" spcFirstLastPara="1" rIns="0" wrap="square" tIns="0">
            <a:spAutoFit/>
          </a:bodyPr>
          <a:lstStyle/>
          <a:p>
            <a:pPr indent="-152400" lvl="1" marL="342900" marR="0" rtl="0" algn="l">
              <a:lnSpc>
                <a:spcPct val="140000"/>
              </a:lnSpc>
              <a:spcBef>
                <a:spcPts val="0"/>
              </a:spcBef>
              <a:spcAft>
                <a:spcPts val="0"/>
              </a:spcAft>
              <a:buClr>
                <a:srgbClr val="000000"/>
              </a:buClr>
              <a:buSzPts val="1400"/>
              <a:buFont typeface="Arial"/>
              <a:buChar char="•"/>
            </a:pPr>
            <a:r>
              <a:rPr lang="es">
                <a:latin typeface="Open Sans"/>
                <a:ea typeface="Open Sans"/>
                <a:cs typeface="Open Sans"/>
                <a:sym typeface="Open Sans"/>
              </a:rPr>
              <a:t>Aplica pruebas End to End (E2E) para validar el funcionamiento integral de una aplicación de software, simulando el comportamiento real del usuario y detectando fallos en el flujo completo del sistema.</a:t>
            </a:r>
            <a:endParaRPr b="0" i="0" sz="16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1"/>
          <p:cNvSpPr/>
          <p:nvPr/>
        </p:nvSpPr>
        <p:spPr>
          <a:xfrm>
            <a:off x="1158508" y="260483"/>
            <a:ext cx="6826983" cy="936976"/>
          </a:xfrm>
          <a:custGeom>
            <a:rect b="b" l="l" r="r" t="t"/>
            <a:pathLst>
              <a:path extrusionOk="0" h="1873953" w="13653966">
                <a:moveTo>
                  <a:pt x="0" y="0"/>
                </a:moveTo>
                <a:lnTo>
                  <a:pt x="13653966" y="0"/>
                </a:lnTo>
                <a:lnTo>
                  <a:pt x="13653966" y="1873953"/>
                </a:lnTo>
                <a:lnTo>
                  <a:pt x="0" y="1873953"/>
                </a:lnTo>
                <a:lnTo>
                  <a:pt x="0" y="0"/>
                </a:lnTo>
                <a:close/>
              </a:path>
            </a:pathLst>
          </a:custGeom>
          <a:blipFill rotWithShape="1">
            <a:blip r:embed="rId3">
              <a:alphaModFix/>
            </a:blip>
            <a:stretch>
              <a:fillRect b="0" l="0" r="0" t="0"/>
            </a:stretch>
          </a:blipFill>
          <a:ln>
            <a:noFill/>
          </a:ln>
        </p:spPr>
      </p:sp>
      <p:sp>
        <p:nvSpPr>
          <p:cNvPr id="240" name="Google Shape;240;p31"/>
          <p:cNvSpPr/>
          <p:nvPr/>
        </p:nvSpPr>
        <p:spPr>
          <a:xfrm>
            <a:off x="994550" y="1064324"/>
            <a:ext cx="7154911" cy="3413787"/>
          </a:xfrm>
          <a:custGeom>
            <a:rect b="b" l="l" r="r" t="t"/>
            <a:pathLst>
              <a:path extrusionOk="0" h="6206885" w="14309822">
                <a:moveTo>
                  <a:pt x="0" y="0"/>
                </a:moveTo>
                <a:lnTo>
                  <a:pt x="14309822" y="0"/>
                </a:lnTo>
                <a:lnTo>
                  <a:pt x="14309822" y="6206885"/>
                </a:lnTo>
                <a:lnTo>
                  <a:pt x="0" y="6206885"/>
                </a:lnTo>
                <a:lnTo>
                  <a:pt x="0" y="0"/>
                </a:lnTo>
                <a:close/>
              </a:path>
            </a:pathLst>
          </a:custGeom>
          <a:blipFill rotWithShape="1">
            <a:blip r:embed="rId4">
              <a:alphaModFix/>
            </a:blip>
            <a:stretch>
              <a:fillRect b="0" l="0" r="0" t="0"/>
            </a:stretch>
          </a:blipFill>
          <a:ln>
            <a:noFill/>
          </a:ln>
        </p:spPr>
      </p:sp>
      <p:sp>
        <p:nvSpPr>
          <p:cNvPr id="241" name="Google Shape;241;p31"/>
          <p:cNvSpPr txBox="1"/>
          <p:nvPr/>
        </p:nvSpPr>
        <p:spPr>
          <a:xfrm>
            <a:off x="1128450" y="1413563"/>
            <a:ext cx="6887100" cy="2715300"/>
          </a:xfrm>
          <a:prstGeom prst="rect">
            <a:avLst/>
          </a:prstGeom>
          <a:noFill/>
          <a:ln>
            <a:noFill/>
          </a:ln>
        </p:spPr>
        <p:txBody>
          <a:bodyPr anchorCtr="0" anchor="t" bIns="0" lIns="0" spcFirstLastPara="1" rIns="0" wrap="square" tIns="0">
            <a:spAutoFit/>
          </a:bodyPr>
          <a:lstStyle/>
          <a:p>
            <a:pPr indent="-298450" lvl="0" marL="457200" rtl="0" algn="l">
              <a:lnSpc>
                <a:spcPct val="140000"/>
              </a:lnSpc>
              <a:spcBef>
                <a:spcPts val="0"/>
              </a:spcBef>
              <a:spcAft>
                <a:spcPts val="0"/>
              </a:spcAft>
              <a:buSzPts val="1100"/>
              <a:buFont typeface="Open Sans"/>
              <a:buChar char="●"/>
            </a:pPr>
            <a:r>
              <a:rPr lang="es" sz="1100" u="sng">
                <a:solidFill>
                  <a:schemeClr val="hlink"/>
                </a:solidFill>
                <a:hlinkClick r:id="rId5"/>
              </a:rPr>
              <a:t>Cypress.io</a:t>
            </a:r>
            <a:r>
              <a:rPr lang="es" sz="1100">
                <a:solidFill>
                  <a:schemeClr val="dk1"/>
                </a:solidFill>
              </a:rPr>
              <a:t>. (2024). </a:t>
            </a:r>
            <a:r>
              <a:rPr i="1" lang="es" sz="1100">
                <a:solidFill>
                  <a:schemeClr val="dk1"/>
                </a:solidFill>
              </a:rPr>
              <a:t>Cypress Documentation | End to End Testing</a:t>
            </a:r>
            <a:r>
              <a:rPr lang="es" sz="1100">
                <a:solidFill>
                  <a:schemeClr val="dk1"/>
                </a:solidFill>
              </a:rPr>
              <a:t>. Recuperado de</a:t>
            </a:r>
            <a:r>
              <a:rPr lang="es" sz="1100">
                <a:solidFill>
                  <a:schemeClr val="dk1"/>
                </a:solidFill>
                <a:uFill>
                  <a:noFill/>
                </a:uFill>
                <a:hlinkClick r:id="rId6">
                  <a:extLst>
                    <a:ext uri="{A12FA001-AC4F-418D-AE19-62706E023703}">
                      <ahyp:hlinkClr val="tx"/>
                    </a:ext>
                  </a:extLst>
                </a:hlinkClick>
              </a:rPr>
              <a:t> </a:t>
            </a:r>
            <a:r>
              <a:rPr lang="es" sz="1100" u="sng">
                <a:solidFill>
                  <a:schemeClr val="hlink"/>
                </a:solidFill>
                <a:hlinkClick r:id="rId7"/>
              </a:rPr>
              <a:t>https://docs.cypress.io/guides/end-to-end-testing/writing-your-first-end-to-end-test</a:t>
            </a:r>
            <a:endParaRPr sz="1100" u="sng">
              <a:solidFill>
                <a:schemeClr val="hlink"/>
              </a:solidFill>
            </a:endParaRPr>
          </a:p>
          <a:p>
            <a:pPr indent="-298450" lvl="0" marL="457200" rtl="0" algn="l">
              <a:lnSpc>
                <a:spcPct val="140000"/>
              </a:lnSpc>
              <a:spcBef>
                <a:spcPts val="0"/>
              </a:spcBef>
              <a:spcAft>
                <a:spcPts val="0"/>
              </a:spcAft>
              <a:buSzPts val="1100"/>
              <a:buFont typeface="Open Sans"/>
              <a:buChar char="●"/>
            </a:pPr>
            <a:r>
              <a:rPr lang="es" sz="1100">
                <a:solidFill>
                  <a:schemeClr val="dk1"/>
                </a:solidFill>
              </a:rPr>
              <a:t>Myers, G., Sandler, C., &amp; Badgett, T. (2011). </a:t>
            </a:r>
            <a:r>
              <a:rPr i="1" lang="es" sz="1100">
                <a:solidFill>
                  <a:schemeClr val="dk1"/>
                </a:solidFill>
              </a:rPr>
              <a:t>The Art of Software Testing</a:t>
            </a:r>
            <a:r>
              <a:rPr lang="es" sz="1100">
                <a:solidFill>
                  <a:schemeClr val="dk1"/>
                </a:solidFill>
              </a:rPr>
              <a:t> (3ª ed.). Wiley. (Capítulos sobre pruebas funcionales vs no funcionales).</a:t>
            </a:r>
            <a:endParaRPr sz="1100">
              <a:solidFill>
                <a:schemeClr val="dk1"/>
              </a:solidFill>
            </a:endParaRPr>
          </a:p>
          <a:p>
            <a:pPr indent="-298450" lvl="0" marL="457200" rtl="0" algn="l">
              <a:lnSpc>
                <a:spcPct val="140000"/>
              </a:lnSpc>
              <a:spcBef>
                <a:spcPts val="0"/>
              </a:spcBef>
              <a:spcAft>
                <a:spcPts val="0"/>
              </a:spcAft>
              <a:buSzPts val="1100"/>
              <a:buFont typeface="Open Sans"/>
              <a:buChar char="●"/>
            </a:pPr>
            <a:r>
              <a:rPr lang="es" sz="1100">
                <a:solidFill>
                  <a:schemeClr val="dk1"/>
                </a:solidFill>
              </a:rPr>
              <a:t>Fowler, M. (2021). </a:t>
            </a:r>
            <a:r>
              <a:rPr i="1" lang="es" sz="1100">
                <a:solidFill>
                  <a:schemeClr val="dk1"/>
                </a:solidFill>
              </a:rPr>
              <a:t>The Practical Test Pyramid</a:t>
            </a:r>
            <a:r>
              <a:rPr lang="es" sz="1100">
                <a:solidFill>
                  <a:schemeClr val="dk1"/>
                </a:solidFill>
              </a:rPr>
              <a:t>. Recuperado de</a:t>
            </a:r>
            <a:r>
              <a:rPr lang="es" sz="1100">
                <a:solidFill>
                  <a:schemeClr val="dk1"/>
                </a:solidFill>
                <a:uFill>
                  <a:noFill/>
                </a:uFill>
                <a:hlinkClick r:id="rId8">
                  <a:extLst>
                    <a:ext uri="{A12FA001-AC4F-418D-AE19-62706E023703}">
                      <ahyp:hlinkClr val="tx"/>
                    </a:ext>
                  </a:extLst>
                </a:hlinkClick>
              </a:rPr>
              <a:t> </a:t>
            </a:r>
            <a:r>
              <a:rPr lang="es" sz="1100" u="sng">
                <a:solidFill>
                  <a:schemeClr val="hlink"/>
                </a:solidFill>
                <a:hlinkClick r:id="rId9"/>
              </a:rPr>
              <a:t>https://martinfowler.com/articles/practical-test-pyramid.html</a:t>
            </a:r>
            <a:endParaRPr sz="1100" u="sng">
              <a:solidFill>
                <a:schemeClr val="hlink"/>
              </a:solidFill>
            </a:endParaRPr>
          </a:p>
          <a:p>
            <a:pPr indent="-298450" lvl="0" marL="457200" rtl="0" algn="l">
              <a:lnSpc>
                <a:spcPct val="140000"/>
              </a:lnSpc>
              <a:spcBef>
                <a:spcPts val="0"/>
              </a:spcBef>
              <a:spcAft>
                <a:spcPts val="0"/>
              </a:spcAft>
              <a:buSzPts val="1100"/>
              <a:buFont typeface="Open Sans"/>
              <a:buChar char="●"/>
            </a:pPr>
            <a:r>
              <a:rPr lang="es" sz="1100">
                <a:solidFill>
                  <a:schemeClr val="dk1"/>
                </a:solidFill>
              </a:rPr>
              <a:t>npm, Inc. (2024). </a:t>
            </a:r>
            <a:r>
              <a:rPr i="1" lang="es" sz="1100">
                <a:solidFill>
                  <a:schemeClr val="dk1"/>
                </a:solidFill>
              </a:rPr>
              <a:t>Cypress package</a:t>
            </a:r>
            <a:r>
              <a:rPr lang="es" sz="1100">
                <a:solidFill>
                  <a:schemeClr val="dk1"/>
                </a:solidFill>
              </a:rPr>
              <a:t>. Recuperado de</a:t>
            </a:r>
            <a:r>
              <a:rPr lang="es" sz="1100">
                <a:solidFill>
                  <a:schemeClr val="dk1"/>
                </a:solidFill>
                <a:uFill>
                  <a:noFill/>
                </a:uFill>
                <a:hlinkClick r:id="rId10">
                  <a:extLst>
                    <a:ext uri="{A12FA001-AC4F-418D-AE19-62706E023703}">
                      <ahyp:hlinkClr val="tx"/>
                    </a:ext>
                  </a:extLst>
                </a:hlinkClick>
              </a:rPr>
              <a:t> </a:t>
            </a:r>
            <a:r>
              <a:rPr lang="es" sz="1100" u="sng">
                <a:solidFill>
                  <a:schemeClr val="hlink"/>
                </a:solidFill>
                <a:hlinkClick r:id="rId11"/>
              </a:rPr>
              <a:t>https://www.npmjs.com/package/cypress</a:t>
            </a:r>
            <a:endParaRPr sz="1100" u="sng">
              <a:solidFill>
                <a:schemeClr val="hlink"/>
              </a:solidFill>
            </a:endParaRPr>
          </a:p>
          <a:p>
            <a:pPr indent="-298450" lvl="0" marL="457200" rtl="0" algn="l">
              <a:lnSpc>
                <a:spcPct val="140000"/>
              </a:lnSpc>
              <a:spcBef>
                <a:spcPts val="0"/>
              </a:spcBef>
              <a:spcAft>
                <a:spcPts val="0"/>
              </a:spcAft>
              <a:buSzPts val="1100"/>
              <a:buFont typeface="Open Sans"/>
              <a:buChar char="●"/>
            </a:pPr>
            <a:r>
              <a:rPr lang="es" sz="1100">
                <a:solidFill>
                  <a:schemeClr val="dk1"/>
                </a:solidFill>
              </a:rPr>
              <a:t>OWASP Foundation. (2024). *OWASP Testing Guide (v4) - Non-Functional Testing*. Recuperado de</a:t>
            </a:r>
            <a:r>
              <a:rPr lang="es" sz="1100">
                <a:solidFill>
                  <a:schemeClr val="dk1"/>
                </a:solidFill>
                <a:uFill>
                  <a:noFill/>
                </a:uFill>
                <a:hlinkClick r:id="rId12">
                  <a:extLst>
                    <a:ext uri="{A12FA001-AC4F-418D-AE19-62706E023703}">
                      <ahyp:hlinkClr val="tx"/>
                    </a:ext>
                  </a:extLst>
                </a:hlinkClick>
              </a:rPr>
              <a:t> </a:t>
            </a:r>
            <a:r>
              <a:rPr lang="es" sz="1100" u="sng">
                <a:solidFill>
                  <a:schemeClr val="hlink"/>
                </a:solidFill>
                <a:hlinkClick r:id="rId13"/>
              </a:rPr>
              <a:t>https://owasp.org/www-project-web-security-testing-guide/</a:t>
            </a:r>
            <a:endParaRPr sz="1100" u="sng">
              <a:solidFill>
                <a:schemeClr val="hlink"/>
              </a:solidFill>
            </a:endParaRPr>
          </a:p>
          <a:p>
            <a:pPr indent="-298450" lvl="0" marL="457200" rtl="0" algn="l">
              <a:lnSpc>
                <a:spcPct val="140000"/>
              </a:lnSpc>
              <a:spcBef>
                <a:spcPts val="0"/>
              </a:spcBef>
              <a:spcAft>
                <a:spcPts val="0"/>
              </a:spcAft>
              <a:buSzPts val="1100"/>
              <a:buFont typeface="Open Sans"/>
              <a:buChar char="●"/>
            </a:pPr>
            <a:r>
              <a:rPr lang="es" sz="1100">
                <a:solidFill>
                  <a:schemeClr val="dk1"/>
                </a:solidFill>
              </a:rPr>
              <a:t>Google Chrome Labs. (2024). </a:t>
            </a:r>
            <a:r>
              <a:rPr i="1" lang="es" sz="1100">
                <a:solidFill>
                  <a:schemeClr val="dk1"/>
                </a:solidFill>
              </a:rPr>
              <a:t>Lighthouse CI | Performance testing</a:t>
            </a:r>
            <a:r>
              <a:rPr lang="es" sz="1100">
                <a:solidFill>
                  <a:schemeClr val="dk1"/>
                </a:solidFill>
              </a:rPr>
              <a:t>. Recuperado de</a:t>
            </a:r>
            <a:r>
              <a:rPr lang="es" sz="1100">
                <a:solidFill>
                  <a:schemeClr val="dk1"/>
                </a:solidFill>
                <a:uFill>
                  <a:noFill/>
                </a:uFill>
                <a:hlinkClick r:id="rId14">
                  <a:extLst>
                    <a:ext uri="{A12FA001-AC4F-418D-AE19-62706E023703}">
                      <ahyp:hlinkClr val="tx"/>
                    </a:ext>
                  </a:extLst>
                </a:hlinkClick>
              </a:rPr>
              <a:t> </a:t>
            </a:r>
            <a:r>
              <a:rPr lang="es" sz="1100" u="sng">
                <a:solidFill>
                  <a:schemeClr val="hlink"/>
                </a:solidFill>
                <a:hlinkClick r:id="rId15"/>
              </a:rPr>
              <a:t>https://github.com/GoogleChrome/lighthouse-ci</a:t>
            </a:r>
            <a:endParaRPr sz="700"/>
          </a:p>
          <a:p>
            <a:pPr indent="0" lvl="0" marL="0" marR="0" rtl="0" algn="l">
              <a:lnSpc>
                <a:spcPct val="140000"/>
              </a:lnSpc>
              <a:spcBef>
                <a:spcPts val="0"/>
              </a:spcBef>
              <a:spcAft>
                <a:spcPts val="0"/>
              </a:spcAft>
              <a:buNone/>
            </a:pPr>
            <a:r>
              <a:t/>
            </a:r>
            <a:endParaRPr b="1" i="0" sz="7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2"/>
          <p:cNvSpPr/>
          <p:nvPr/>
        </p:nvSpPr>
        <p:spPr>
          <a:xfrm>
            <a:off x="0" y="0"/>
            <a:ext cx="9144000" cy="3646170"/>
          </a:xfrm>
          <a:custGeom>
            <a:rect b="b" l="l" r="r" t="t"/>
            <a:pathLst>
              <a:path extrusionOk="0" h="7292340" w="18288000">
                <a:moveTo>
                  <a:pt x="0" y="0"/>
                </a:moveTo>
                <a:lnTo>
                  <a:pt x="18288000" y="0"/>
                </a:lnTo>
                <a:lnTo>
                  <a:pt x="18288000" y="7292340"/>
                </a:lnTo>
                <a:lnTo>
                  <a:pt x="0" y="729234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3"/>
          <p:cNvSpPr/>
          <p:nvPr/>
        </p:nvSpPr>
        <p:spPr>
          <a:xfrm>
            <a:off x="0" y="0"/>
            <a:ext cx="9144000" cy="310896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4"/>
          <p:cNvSpPr/>
          <p:nvPr/>
        </p:nvSpPr>
        <p:spPr>
          <a:xfrm>
            <a:off x="0" y="0"/>
            <a:ext cx="9144000" cy="5132070"/>
          </a:xfrm>
          <a:custGeom>
            <a:rect b="b" l="l" r="r" t="t"/>
            <a:pathLst>
              <a:path extrusionOk="0" h="10264140" w="18288000">
                <a:moveTo>
                  <a:pt x="0" y="0"/>
                </a:moveTo>
                <a:lnTo>
                  <a:pt x="18288000" y="0"/>
                </a:lnTo>
                <a:lnTo>
                  <a:pt x="18288000" y="10264140"/>
                </a:lnTo>
                <a:lnTo>
                  <a:pt x="0" y="10264140"/>
                </a:lnTo>
                <a:lnTo>
                  <a:pt x="0" y="0"/>
                </a:lnTo>
                <a:close/>
              </a:path>
            </a:pathLst>
          </a:custGeom>
          <a:blipFill rotWithShape="1">
            <a:blip r:embed="rId3">
              <a:alphaModFix/>
            </a:blip>
            <a:stretch>
              <a:fillRect b="0" l="0" r="0" t="0"/>
            </a:stretch>
          </a:blipFill>
          <a:ln>
            <a:noFill/>
          </a:ln>
        </p:spPr>
      </p:sp>
      <p:sp>
        <p:nvSpPr>
          <p:cNvPr id="257" name="Google Shape;257;p34"/>
          <p:cNvSpPr txBox="1"/>
          <p:nvPr/>
        </p:nvSpPr>
        <p:spPr>
          <a:xfrm>
            <a:off x="2827535" y="833539"/>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58" name="Google Shape;258;p34"/>
          <p:cNvSpPr txBox="1"/>
          <p:nvPr/>
        </p:nvSpPr>
        <p:spPr>
          <a:xfrm>
            <a:off x="2827535" y="123022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59" name="Google Shape;259;p34"/>
          <p:cNvSpPr txBox="1"/>
          <p:nvPr/>
        </p:nvSpPr>
        <p:spPr>
          <a:xfrm>
            <a:off x="2827535" y="1737654"/>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60" name="Google Shape;260;p34"/>
          <p:cNvSpPr txBox="1"/>
          <p:nvPr/>
        </p:nvSpPr>
        <p:spPr>
          <a:xfrm>
            <a:off x="6976544" y="1045629"/>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61" name="Google Shape;261;p34"/>
          <p:cNvSpPr txBox="1"/>
          <p:nvPr/>
        </p:nvSpPr>
        <p:spPr>
          <a:xfrm>
            <a:off x="6976544" y="144231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62" name="Google Shape;262;p34"/>
          <p:cNvSpPr txBox="1"/>
          <p:nvPr/>
        </p:nvSpPr>
        <p:spPr>
          <a:xfrm>
            <a:off x="6976544" y="184014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63" name="Google Shape;263;p34"/>
          <p:cNvSpPr txBox="1"/>
          <p:nvPr/>
        </p:nvSpPr>
        <p:spPr>
          <a:xfrm>
            <a:off x="138615" y="25431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64" name="Google Shape;264;p34"/>
          <p:cNvSpPr txBox="1"/>
          <p:nvPr/>
        </p:nvSpPr>
        <p:spPr>
          <a:xfrm>
            <a:off x="138615"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65" name="Google Shape;265;p34"/>
          <p:cNvSpPr txBox="1"/>
          <p:nvPr/>
        </p:nvSpPr>
        <p:spPr>
          <a:xfrm>
            <a:off x="138615" y="331004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66" name="Google Shape;266;p34"/>
          <p:cNvSpPr txBox="1"/>
          <p:nvPr/>
        </p:nvSpPr>
        <p:spPr>
          <a:xfrm>
            <a:off x="138615" y="380020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67" name="Google Shape;267;p34"/>
          <p:cNvSpPr txBox="1"/>
          <p:nvPr/>
        </p:nvSpPr>
        <p:spPr>
          <a:xfrm>
            <a:off x="138615"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68" name="Google Shape;268;p34"/>
          <p:cNvSpPr txBox="1"/>
          <p:nvPr/>
        </p:nvSpPr>
        <p:spPr>
          <a:xfrm>
            <a:off x="138615" y="46005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69" name="Google Shape;269;p34"/>
          <p:cNvSpPr txBox="1"/>
          <p:nvPr/>
        </p:nvSpPr>
        <p:spPr>
          <a:xfrm>
            <a:off x="3203269" y="25374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70" name="Google Shape;270;p34"/>
          <p:cNvSpPr txBox="1"/>
          <p:nvPr/>
        </p:nvSpPr>
        <p:spPr>
          <a:xfrm>
            <a:off x="3203269"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71" name="Google Shape;271;p34"/>
          <p:cNvSpPr txBox="1"/>
          <p:nvPr/>
        </p:nvSpPr>
        <p:spPr>
          <a:xfrm>
            <a:off x="3203269" y="3324332"/>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72" name="Google Shape;272;p34"/>
          <p:cNvSpPr txBox="1"/>
          <p:nvPr/>
        </p:nvSpPr>
        <p:spPr>
          <a:xfrm>
            <a:off x="3203269" y="37221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73" name="Google Shape;273;p34"/>
          <p:cNvSpPr txBox="1"/>
          <p:nvPr/>
        </p:nvSpPr>
        <p:spPr>
          <a:xfrm>
            <a:off x="3203269"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74" name="Google Shape;274;p34"/>
          <p:cNvSpPr txBox="1"/>
          <p:nvPr/>
        </p:nvSpPr>
        <p:spPr>
          <a:xfrm>
            <a:off x="3203269" y="46005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75" name="Google Shape;275;p34"/>
          <p:cNvSpPr txBox="1"/>
          <p:nvPr/>
        </p:nvSpPr>
        <p:spPr>
          <a:xfrm>
            <a:off x="6269313" y="25374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76" name="Google Shape;276;p34"/>
          <p:cNvSpPr txBox="1"/>
          <p:nvPr/>
        </p:nvSpPr>
        <p:spPr>
          <a:xfrm>
            <a:off x="6269313"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77" name="Google Shape;277;p34"/>
          <p:cNvSpPr txBox="1"/>
          <p:nvPr/>
        </p:nvSpPr>
        <p:spPr>
          <a:xfrm>
            <a:off x="6269313" y="3324332"/>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78" name="Google Shape;278;p34"/>
          <p:cNvSpPr txBox="1"/>
          <p:nvPr/>
        </p:nvSpPr>
        <p:spPr>
          <a:xfrm>
            <a:off x="6269313" y="37221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79" name="Google Shape;279;p34"/>
          <p:cNvSpPr txBox="1"/>
          <p:nvPr/>
        </p:nvSpPr>
        <p:spPr>
          <a:xfrm>
            <a:off x="6269313"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280" name="Google Shape;280;p34"/>
          <p:cNvSpPr txBox="1"/>
          <p:nvPr/>
        </p:nvSpPr>
        <p:spPr>
          <a:xfrm>
            <a:off x="6269313" y="458157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5"/>
          <p:cNvSpPr/>
          <p:nvPr/>
        </p:nvSpPr>
        <p:spPr>
          <a:xfrm>
            <a:off x="1746686" y="-295768"/>
            <a:ext cx="5650630" cy="2556910"/>
          </a:xfrm>
          <a:custGeom>
            <a:rect b="b" l="l" r="r" t="t"/>
            <a:pathLst>
              <a:path extrusionOk="0" h="5113820" w="11301259">
                <a:moveTo>
                  <a:pt x="0" y="0"/>
                </a:moveTo>
                <a:lnTo>
                  <a:pt x="11301258" y="0"/>
                </a:lnTo>
                <a:lnTo>
                  <a:pt x="11301258" y="5113820"/>
                </a:lnTo>
                <a:lnTo>
                  <a:pt x="0" y="5113820"/>
                </a:lnTo>
                <a:lnTo>
                  <a:pt x="0" y="0"/>
                </a:lnTo>
                <a:close/>
              </a:path>
            </a:pathLst>
          </a:custGeom>
          <a:blipFill rotWithShape="1">
            <a:blip r:embed="rId3">
              <a:alphaModFix/>
            </a:blip>
            <a:stretch>
              <a:fillRect b="0" l="0" r="0" t="0"/>
            </a:stretch>
          </a:blipFill>
          <a:ln>
            <a:noFill/>
          </a:ln>
        </p:spPr>
      </p:sp>
      <p:sp>
        <p:nvSpPr>
          <p:cNvPr id="286" name="Google Shape;286;p35"/>
          <p:cNvSpPr/>
          <p:nvPr/>
        </p:nvSpPr>
        <p:spPr>
          <a:xfrm>
            <a:off x="1098849" y="1746435"/>
            <a:ext cx="6946302" cy="2882716"/>
          </a:xfrm>
          <a:custGeom>
            <a:rect b="b" l="l" r="r" t="t"/>
            <a:pathLst>
              <a:path extrusionOk="0" h="5765431" w="13892604">
                <a:moveTo>
                  <a:pt x="0" y="0"/>
                </a:moveTo>
                <a:lnTo>
                  <a:pt x="13892604" y="0"/>
                </a:lnTo>
                <a:lnTo>
                  <a:pt x="13892604" y="5765431"/>
                </a:lnTo>
                <a:lnTo>
                  <a:pt x="0" y="5765431"/>
                </a:lnTo>
                <a:lnTo>
                  <a:pt x="0" y="0"/>
                </a:lnTo>
                <a:close/>
              </a:path>
            </a:pathLst>
          </a:custGeom>
          <a:blipFill rotWithShape="1">
            <a:blip r:embed="rId4">
              <a:alphaModFix/>
            </a:blip>
            <a:stretch>
              <a:fillRect b="0" l="0" r="0" t="0"/>
            </a:stretch>
          </a:blipFill>
          <a:ln>
            <a:noFill/>
          </a:ln>
        </p:spPr>
      </p:sp>
      <p:sp>
        <p:nvSpPr>
          <p:cNvPr id="287" name="Google Shape;287;p35"/>
          <p:cNvSpPr txBox="1"/>
          <p:nvPr/>
        </p:nvSpPr>
        <p:spPr>
          <a:xfrm>
            <a:off x="1290197" y="2230813"/>
            <a:ext cx="6563700" cy="1271400"/>
          </a:xfrm>
          <a:prstGeom prst="rect">
            <a:avLst/>
          </a:prstGeom>
          <a:noFill/>
          <a:ln>
            <a:noFill/>
          </a:ln>
        </p:spPr>
        <p:txBody>
          <a:bodyPr anchorCtr="0" anchor="t" bIns="0" lIns="0" spcFirstLastPara="1" rIns="0" wrap="square" tIns="0">
            <a:spAutoFit/>
          </a:bodyPr>
          <a:lstStyle/>
          <a:p>
            <a:pPr indent="-152400" lvl="1" marL="304800" marR="0" rtl="0" algn="l">
              <a:lnSpc>
                <a:spcPct val="140014"/>
              </a:lnSpc>
              <a:spcBef>
                <a:spcPts val="0"/>
              </a:spcBef>
              <a:spcAft>
                <a:spcPts val="0"/>
              </a:spcAft>
              <a:buClr>
                <a:srgbClr val="000000"/>
              </a:buClr>
              <a:buSzPts val="1400"/>
              <a:buFont typeface="Arial"/>
              <a:buChar char="•"/>
            </a:pPr>
            <a:r>
              <a:rPr lang="es" u="sng">
                <a:solidFill>
                  <a:schemeClr val="hlink"/>
                </a:solidFill>
                <a:latin typeface="Open Sans"/>
                <a:ea typeface="Open Sans"/>
                <a:cs typeface="Open Sans"/>
                <a:sym typeface="Open Sans"/>
                <a:hlinkClick r:id="rId5"/>
              </a:rPr>
              <a:t>https://www.youtube.com/watch?v=F8443XQafGU</a:t>
            </a:r>
            <a:endParaRPr sz="700"/>
          </a:p>
          <a:p>
            <a:pPr indent="0" lvl="0" marL="0" marR="0" rtl="0" algn="l">
              <a:lnSpc>
                <a:spcPct val="140014"/>
              </a:lnSpc>
              <a:spcBef>
                <a:spcPts val="0"/>
              </a:spcBef>
              <a:spcAft>
                <a:spcPts val="0"/>
              </a:spcAft>
              <a:buNone/>
            </a:pPr>
            <a:r>
              <a:t/>
            </a:r>
            <a:endParaRPr b="0" i="0" sz="1400" u="none" cap="none" strike="noStrike">
              <a:solidFill>
                <a:srgbClr val="000000"/>
              </a:solidFill>
              <a:latin typeface="Open Sans"/>
              <a:ea typeface="Open Sans"/>
              <a:cs typeface="Open Sans"/>
              <a:sym typeface="Open Sans"/>
            </a:endParaRPr>
          </a:p>
          <a:p>
            <a:pPr indent="-152400" lvl="1" marL="304800" marR="0" rtl="0" algn="l">
              <a:lnSpc>
                <a:spcPct val="140014"/>
              </a:lnSpc>
              <a:spcBef>
                <a:spcPts val="0"/>
              </a:spcBef>
              <a:spcAft>
                <a:spcPts val="0"/>
              </a:spcAft>
              <a:buClr>
                <a:srgbClr val="000000"/>
              </a:buClr>
              <a:buSzPts val="1400"/>
              <a:buFont typeface="Arial"/>
              <a:buChar char="•"/>
            </a:pPr>
            <a:r>
              <a:rPr b="0" i="0" lang="es" sz="1400" u="none" cap="none" strike="noStrike">
                <a:solidFill>
                  <a:srgbClr val="000000"/>
                </a:solidFill>
                <a:latin typeface="Open Sans"/>
                <a:ea typeface="Open Sans"/>
                <a:cs typeface="Open Sans"/>
                <a:sym typeface="Open Sans"/>
              </a:rPr>
              <a:t>Link del </a:t>
            </a:r>
            <a:r>
              <a:rPr lang="es">
                <a:latin typeface="Open Sans"/>
                <a:ea typeface="Open Sans"/>
                <a:cs typeface="Open Sans"/>
                <a:sym typeface="Open Sans"/>
              </a:rPr>
              <a:t>Quizz (cada instructor colocara su link)</a:t>
            </a:r>
            <a:endParaRPr sz="700"/>
          </a:p>
          <a:p>
            <a:pPr indent="0" lvl="0" marL="457200" marR="0" rtl="0" algn="l">
              <a:lnSpc>
                <a:spcPct val="140014"/>
              </a:lnSpc>
              <a:spcBef>
                <a:spcPts val="0"/>
              </a:spcBef>
              <a:spcAft>
                <a:spcPts val="0"/>
              </a:spcAft>
              <a:buNone/>
            </a:pPr>
            <a:r>
              <a:t/>
            </a:r>
            <a:endParaRPr sz="700"/>
          </a:p>
          <a:p>
            <a:pPr indent="0" lvl="0" marL="0" marR="0" rtl="0" algn="ctr">
              <a:lnSpc>
                <a:spcPct val="140014"/>
              </a:lnSpc>
              <a:spcBef>
                <a:spcPts val="0"/>
              </a:spcBef>
              <a:spcAft>
                <a:spcPts val="0"/>
              </a:spcAft>
              <a:buNone/>
            </a:pPr>
            <a:r>
              <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6"/>
          <p:cNvSpPr/>
          <p:nvPr/>
        </p:nvSpPr>
        <p:spPr>
          <a:xfrm>
            <a:off x="1930841" y="297649"/>
            <a:ext cx="5282318" cy="4331501"/>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7"/>
          <p:cNvSpPr/>
          <p:nvPr/>
        </p:nvSpPr>
        <p:spPr>
          <a:xfrm>
            <a:off x="407222" y="0"/>
            <a:ext cx="8329555" cy="5143500"/>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