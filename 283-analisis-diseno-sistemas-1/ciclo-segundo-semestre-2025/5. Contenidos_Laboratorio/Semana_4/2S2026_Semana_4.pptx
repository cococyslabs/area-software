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5143500" cx="9144000"/>
  <p:notesSz cx="6858000" cy="9144000"/>
  <p:embeddedFontLst>
    <p:embeddedFont>
      <p:font typeface="Fira Sans Black"/>
      <p:bold r:id="rId51"/>
      <p:boldItalic r:id="rId52"/>
    </p:embeddedFont>
    <p:embeddedFont>
      <p:font typeface="Montserrat"/>
      <p:regular r:id="rId53"/>
      <p:bold r:id="rId54"/>
      <p:italic r:id="rId55"/>
      <p:boldItalic r:id="rId56"/>
    </p:embeddedFont>
    <p:embeddedFont>
      <p:font typeface="Fira Sans Medium"/>
      <p:regular r:id="rId57"/>
      <p:bold r:id="rId58"/>
      <p:italic r:id="rId59"/>
      <p:boldItalic r:id="rId60"/>
    </p:embeddedFont>
    <p:embeddedFont>
      <p:font typeface="Roboto Condensed"/>
      <p:regular r:id="rId61"/>
      <p:bold r:id="rId62"/>
      <p:italic r:id="rId63"/>
      <p:boldItalic r:id="rId64"/>
    </p:embeddedFont>
    <p:embeddedFont>
      <p:font typeface="Fira Sans SemiBold"/>
      <p:regular r:id="rId65"/>
      <p:bold r:id="rId66"/>
      <p:italic r:id="rId67"/>
      <p:boldItalic r:id="rId68"/>
    </p:embeddedFont>
    <p:embeddedFont>
      <p:font typeface="Fira Sans"/>
      <p:regular r:id="rId69"/>
      <p:bold r:id="rId70"/>
      <p:italic r:id="rId71"/>
      <p:boldItalic r:id="rId72"/>
    </p:embeddedFont>
    <p:embeddedFont>
      <p:font typeface="Open Sans"/>
      <p:bold r:id="rId73"/>
      <p:boldItalic r:id="rId7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OpenSans-bold.fntdata"/><Relationship Id="rId72" Type="http://schemas.openxmlformats.org/officeDocument/2006/relationships/font" Target="fonts/FiraSans-boldItalic.fntdata"/><Relationship Id="rId31" Type="http://schemas.openxmlformats.org/officeDocument/2006/relationships/slide" Target="slides/slide26.xml"/><Relationship Id="rId30" Type="http://schemas.openxmlformats.org/officeDocument/2006/relationships/slide" Target="slides/slide25.xml"/><Relationship Id="rId74" Type="http://schemas.openxmlformats.org/officeDocument/2006/relationships/font" Target="fonts/OpenSans-boldItalic.fntdata"/><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FiraSans-italic.fntdata"/><Relationship Id="rId70" Type="http://schemas.openxmlformats.org/officeDocument/2006/relationships/font" Target="fonts/FiraSans-bold.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obotoCondensed-bold.fntdata"/><Relationship Id="rId61" Type="http://schemas.openxmlformats.org/officeDocument/2006/relationships/font" Target="fonts/RobotoCondensed-regular.fntdata"/><Relationship Id="rId20" Type="http://schemas.openxmlformats.org/officeDocument/2006/relationships/slide" Target="slides/slide15.xml"/><Relationship Id="rId64" Type="http://schemas.openxmlformats.org/officeDocument/2006/relationships/font" Target="fonts/RobotoCondensed-boldItalic.fntdata"/><Relationship Id="rId63" Type="http://schemas.openxmlformats.org/officeDocument/2006/relationships/font" Target="fonts/RobotoCondensed-italic.fntdata"/><Relationship Id="rId22" Type="http://schemas.openxmlformats.org/officeDocument/2006/relationships/slide" Target="slides/slide17.xml"/><Relationship Id="rId66" Type="http://schemas.openxmlformats.org/officeDocument/2006/relationships/font" Target="fonts/FiraSansSemiBold-bold.fntdata"/><Relationship Id="rId21" Type="http://schemas.openxmlformats.org/officeDocument/2006/relationships/slide" Target="slides/slide16.xml"/><Relationship Id="rId65" Type="http://schemas.openxmlformats.org/officeDocument/2006/relationships/font" Target="fonts/FiraSansSemiBold-regular.fntdata"/><Relationship Id="rId24" Type="http://schemas.openxmlformats.org/officeDocument/2006/relationships/slide" Target="slides/slide19.xml"/><Relationship Id="rId68" Type="http://schemas.openxmlformats.org/officeDocument/2006/relationships/font" Target="fonts/FiraSansSemiBold-boldItalic.fntdata"/><Relationship Id="rId23" Type="http://schemas.openxmlformats.org/officeDocument/2006/relationships/slide" Target="slides/slide18.xml"/><Relationship Id="rId67" Type="http://schemas.openxmlformats.org/officeDocument/2006/relationships/font" Target="fonts/FiraSansSemiBold-italic.fntdata"/><Relationship Id="rId60" Type="http://schemas.openxmlformats.org/officeDocument/2006/relationships/font" Target="fonts/FiraSansMedium-boldItalic.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FiraSans-regular.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FiraSansBlack-bold.fntdata"/><Relationship Id="rId50" Type="http://schemas.openxmlformats.org/officeDocument/2006/relationships/slide" Target="slides/slide45.xml"/><Relationship Id="rId53" Type="http://schemas.openxmlformats.org/officeDocument/2006/relationships/font" Target="fonts/Montserrat-regular.fntdata"/><Relationship Id="rId52" Type="http://schemas.openxmlformats.org/officeDocument/2006/relationships/font" Target="fonts/FiraSansBlack-boldItalic.fntdata"/><Relationship Id="rId11" Type="http://schemas.openxmlformats.org/officeDocument/2006/relationships/slide" Target="slides/slide6.xml"/><Relationship Id="rId55" Type="http://schemas.openxmlformats.org/officeDocument/2006/relationships/font" Target="fonts/Montserrat-italic.fntdata"/><Relationship Id="rId10" Type="http://schemas.openxmlformats.org/officeDocument/2006/relationships/slide" Target="slides/slide5.xml"/><Relationship Id="rId54" Type="http://schemas.openxmlformats.org/officeDocument/2006/relationships/font" Target="fonts/Montserrat-bold.fntdata"/><Relationship Id="rId13" Type="http://schemas.openxmlformats.org/officeDocument/2006/relationships/slide" Target="slides/slide8.xml"/><Relationship Id="rId57" Type="http://schemas.openxmlformats.org/officeDocument/2006/relationships/font" Target="fonts/FiraSansMedium-regular.fntdata"/><Relationship Id="rId12" Type="http://schemas.openxmlformats.org/officeDocument/2006/relationships/slide" Target="slides/slide7.xml"/><Relationship Id="rId56" Type="http://schemas.openxmlformats.org/officeDocument/2006/relationships/font" Target="fonts/Montserrat-boldItalic.fntdata"/><Relationship Id="rId15" Type="http://schemas.openxmlformats.org/officeDocument/2006/relationships/slide" Target="slides/slide10.xml"/><Relationship Id="rId59" Type="http://schemas.openxmlformats.org/officeDocument/2006/relationships/font" Target="fonts/FiraSansMedium-italic.fntdata"/><Relationship Id="rId14" Type="http://schemas.openxmlformats.org/officeDocument/2006/relationships/slide" Target="slides/slide9.xml"/><Relationship Id="rId58" Type="http://schemas.openxmlformats.org/officeDocument/2006/relationships/font" Target="fonts/FiraSansMedium-bold.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bc41eb4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g3dbc41eb43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dbc41eb43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g3dbc41eb434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dbc41eb434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g3dbc41eb434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dbc41eb434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g3dbc41eb434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dbc41eb434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g3dbc41eb434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bc41eb434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dbc41eb434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bc41eb434_0_1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5" name="Google Shape;115;g3dbc41eb434_0_1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dbc41eb434_0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g3dbc41eb434_0_1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bc41eb434_0_20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g3dbc41eb434_0_2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bc41eb434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dbc41eb434_0_2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dbc41eb434_0_2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g3dbc41eb434_0_2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dbc41eb434_0_2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g3dbc41eb434_0_2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dbc41eb434_0_2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g3dbc41eb434_0_2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dbc41eb434_0_2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8" name="Google Shape;198;g3dbc41eb434_0_2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bc41eb434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g3dbc41eb434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dbc41eb434_0_2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g3dbc41eb434_0_2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dbc41eb434_0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1" name="Google Shape;241;g3dbc41eb434_0_2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bc41eb434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dbc41eb434_0_3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dbc41eb434_0_3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3dbc41eb434_0_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dbc41eb434_0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0" name="Google Shape;290;g3dbc41eb434_0_3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dbc41eb434_0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g3dbc41eb434_0_3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bc41eb434_0_3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g3dbc41eb434_0_3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3dbc41eb434_0_3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g3dbc41eb434_0_3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dbc41eb434_0_3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8" name="Google Shape;348;g3dbc41eb434_0_3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dbc41eb434_0_4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g3dbc41eb434_0_4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dbc41eb434_0_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g3dbc41eb434_0_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dbc41eb434_0_4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g3dbc41eb434_0_4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dbc41eb434_0_4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2" name="Google Shape;412;g3dbc41eb434_0_4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dbc41eb434_0_4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1" name="Google Shape;421;g3dbc41eb434_0_4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dbc41eb434_0_4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8" name="Google Shape;428;g3dbc41eb434_0_4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dbc41eb434_0_4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6" name="Google Shape;436;g3dbc41eb434_0_4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dbc41eb434_0_4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g3dbc41eb434_0_4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bc41eb434_0_4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0" name="Google Shape;450;g3dbc41eb434_0_4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dbc41eb434_0_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6" name="Google Shape;456;g3dbc41eb434_0_4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dbc41eb434_0_5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0" name="Google Shape;470;g3dbc41eb434_0_5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dbc41eb434_0_5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3" name="Google Shape;483;g3dbc41eb434_0_5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dbc41eb434_0_5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6" name="Google Shape;496;g3dbc41eb434_0_5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dbc41eb434_0_6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g3dbc41eb434_0_6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dbc41eb434_0_6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g3dbc41eb434_0_6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dbc41eb434_0_6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g3dbc41eb434_0_6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dbc41eb434_0_6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g3dbc41eb434_0_6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3dbc41eb434_0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g3dbc41eb434_0_6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dbc41eb434_0_6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g3dbc41eb434_0_6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g3dbc41eb434_0_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g3dbc41eb434_0_6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dbc41eb434_0_6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g3dbc41eb434_0_68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48.png"/><Relationship Id="rId4" Type="http://schemas.openxmlformats.org/officeDocument/2006/relationships/image" Target="../media/image7.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46.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19.png"/><Relationship Id="rId7"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12.png"/><Relationship Id="rId6" Type="http://schemas.openxmlformats.org/officeDocument/2006/relationships/image" Target="../media/image19.png"/><Relationship Id="rId7"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24.png"/><Relationship Id="rId5" Type="http://schemas.openxmlformats.org/officeDocument/2006/relationships/image" Target="../media/image3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31.png"/><Relationship Id="rId5"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19.png"/><Relationship Id="rId4" Type="http://schemas.openxmlformats.org/officeDocument/2006/relationships/image" Target="../media/image29.png"/><Relationship Id="rId5"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3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4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40.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 Id="rId3" Type="http://schemas.openxmlformats.org/officeDocument/2006/relationships/image" Target="../media/image3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 Id="rId3"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 Id="rId3" Type="http://schemas.openxmlformats.org/officeDocument/2006/relationships/image" Target="../media/image42.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4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image" Target="../media/image42.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 Id="rId3" Type="http://schemas.openxmlformats.org/officeDocument/2006/relationships/image" Target="../media/image4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 Id="rId3" Type="http://schemas.openxmlformats.org/officeDocument/2006/relationships/image" Target="../media/image42.png"/><Relationship Id="rId4" Type="http://schemas.openxmlformats.org/officeDocument/2006/relationships/image" Target="../media/image4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42.png"/><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 Id="rId3" Type="http://schemas.openxmlformats.org/officeDocument/2006/relationships/image" Target="../media/image59.jpg"/><Relationship Id="rId4" Type="http://schemas.openxmlformats.org/officeDocument/2006/relationships/image" Target="../media/image53.png"/><Relationship Id="rId5" Type="http://schemas.openxmlformats.org/officeDocument/2006/relationships/image" Target="../media/image5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53.png"/><Relationship Id="rId4" Type="http://schemas.openxmlformats.org/officeDocument/2006/relationships/image" Target="../media/image50.png"/><Relationship Id="rId5" Type="http://schemas.openxmlformats.org/officeDocument/2006/relationships/image" Target="../media/image5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 Id="rId3" Type="http://schemas.openxmlformats.org/officeDocument/2006/relationships/image" Target="../media/image53.png"/><Relationship Id="rId4" Type="http://schemas.openxmlformats.org/officeDocument/2006/relationships/image" Target="../media/image50.png"/><Relationship Id="rId5" Type="http://schemas.openxmlformats.org/officeDocument/2006/relationships/image" Target="../media/image5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 Id="rId3" Type="http://schemas.openxmlformats.org/officeDocument/2006/relationships/image" Target="../media/image53.png"/><Relationship Id="rId4" Type="http://schemas.openxmlformats.org/officeDocument/2006/relationships/image" Target="../media/image50.png"/><Relationship Id="rId5"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58.png"/><Relationship Id="rId4" Type="http://schemas.openxmlformats.org/officeDocument/2006/relationships/image" Target="../media/image6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 Id="rId3" Type="http://schemas.openxmlformats.org/officeDocument/2006/relationships/image" Target="../media/image56.png"/><Relationship Id="rId4" Type="http://schemas.openxmlformats.org/officeDocument/2006/relationships/image" Target="../media/image6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image" Target="../media/image6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image" Target="../media/image6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2.xml"/><Relationship Id="rId3" Type="http://schemas.openxmlformats.org/officeDocument/2006/relationships/image" Target="../media/image6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3.xml"/><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hyperlink" Target="https://www.youtube.com/watch?v=F8443XQafGU"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4.xml"/><Relationship Id="rId3" Type="http://schemas.openxmlformats.org/officeDocument/2006/relationships/image" Target="../media/image6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5.xml"/><Relationship Id="rId3"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9144000" cy="51435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5" name="Google Shape;55;p13"/>
          <p:cNvSpPr/>
          <p:nvPr/>
        </p:nvSpPr>
        <p:spPr>
          <a:xfrm>
            <a:off x="984925" y="1515075"/>
            <a:ext cx="7539188" cy="1630490"/>
          </a:xfrm>
          <a:custGeom>
            <a:rect b="b" l="l" r="r" t="t"/>
            <a:pathLst>
              <a:path extrusionOk="0" h="1811656" w="9002016">
                <a:moveTo>
                  <a:pt x="0" y="0"/>
                </a:moveTo>
                <a:lnTo>
                  <a:pt x="9002016" y="0"/>
                </a:lnTo>
                <a:lnTo>
                  <a:pt x="9002016" y="1811656"/>
                </a:lnTo>
                <a:lnTo>
                  <a:pt x="0" y="1811656"/>
                </a:lnTo>
                <a:lnTo>
                  <a:pt x="0" y="0"/>
                </a:lnTo>
                <a:close/>
              </a:path>
            </a:pathLst>
          </a:custGeom>
          <a:blipFill rotWithShape="1">
            <a:blip r:embed="rId4">
              <a:alphaModFix/>
            </a:blip>
            <a:stretch>
              <a:fillRect b="0" l="0" r="0" t="0"/>
            </a:stretch>
          </a:blipFill>
          <a:ln>
            <a:noFill/>
          </a:ln>
        </p:spPr>
      </p:sp>
      <p:pic>
        <p:nvPicPr>
          <p:cNvPr id="56" name="Google Shape;56;p13"/>
          <p:cNvPicPr preferRelativeResize="0"/>
          <p:nvPr/>
        </p:nvPicPr>
        <p:blipFill rotWithShape="1">
          <a:blip r:embed="rId5">
            <a:alphaModFix/>
          </a:blip>
          <a:srcRect b="0" l="0" r="0" t="0"/>
          <a:stretch/>
        </p:blipFill>
        <p:spPr>
          <a:xfrm>
            <a:off x="5335013" y="883388"/>
            <a:ext cx="4762338" cy="940550"/>
          </a:xfrm>
          <a:prstGeom prst="rect">
            <a:avLst/>
          </a:prstGeom>
          <a:noFill/>
          <a:ln>
            <a:noFill/>
          </a:ln>
        </p:spPr>
      </p:pic>
      <p:sp>
        <p:nvSpPr>
          <p:cNvPr id="57" name="Google Shape;57;p13"/>
          <p:cNvSpPr txBox="1"/>
          <p:nvPr/>
        </p:nvSpPr>
        <p:spPr>
          <a:xfrm>
            <a:off x="2896307" y="3145566"/>
            <a:ext cx="33516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Escuela de Ingeniería de Ciencias Y Sistemas</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58" name="Google Shape;58;p13"/>
          <p:cNvSpPr txBox="1"/>
          <p:nvPr/>
        </p:nvSpPr>
        <p:spPr>
          <a:xfrm>
            <a:off x="174325" y="4600575"/>
            <a:ext cx="3687300" cy="591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s" sz="1600" u="none" cap="none" strike="noStrike">
                <a:solidFill>
                  <a:srgbClr val="000000"/>
                </a:solidFill>
                <a:latin typeface="Open Sans"/>
                <a:ea typeface="Open Sans"/>
                <a:cs typeface="Open Sans"/>
                <a:sym typeface="Open Sans"/>
              </a:rPr>
              <a:t>NOMBRE DEL TUTOR</a:t>
            </a:r>
            <a:endParaRPr sz="700"/>
          </a:p>
          <a:p>
            <a:pPr indent="0" lvl="0" marL="0" marR="0" rtl="0" algn="ctr">
              <a:lnSpc>
                <a:spcPct val="140000"/>
              </a:lnSpc>
              <a:spcBef>
                <a:spcPts val="0"/>
              </a:spcBef>
              <a:spcAft>
                <a:spcPts val="0"/>
              </a:spcAft>
              <a:buNone/>
            </a:pPr>
            <a:r>
              <a:t/>
            </a:r>
            <a:endParaRPr b="1" i="0" sz="1600" u="none" cap="none" strike="noStrike">
              <a:solidFill>
                <a:srgbClr val="000000"/>
              </a:solidFill>
              <a:latin typeface="Open Sans"/>
              <a:ea typeface="Open Sans"/>
              <a:cs typeface="Open Sans"/>
              <a:sym typeface="Open Sans"/>
            </a:endParaRPr>
          </a:p>
        </p:txBody>
      </p:sp>
      <p:sp>
        <p:nvSpPr>
          <p:cNvPr id="59" name="Google Shape;59;p13"/>
          <p:cNvSpPr txBox="1"/>
          <p:nvPr/>
        </p:nvSpPr>
        <p:spPr>
          <a:xfrm>
            <a:off x="1452118" y="1900975"/>
            <a:ext cx="6593700" cy="7110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t/>
            </a:r>
            <a:endParaRPr b="1" sz="2100">
              <a:latin typeface="Open Sans"/>
              <a:ea typeface="Open Sans"/>
              <a:cs typeface="Open Sans"/>
              <a:sym typeface="Open Sans"/>
            </a:endParaRPr>
          </a:p>
          <a:p>
            <a:pPr indent="0" lvl="0" marL="0" marR="0" rtl="0" algn="ctr">
              <a:lnSpc>
                <a:spcPct val="140000"/>
              </a:lnSpc>
              <a:spcBef>
                <a:spcPts val="0"/>
              </a:spcBef>
              <a:spcAft>
                <a:spcPts val="0"/>
              </a:spcAft>
              <a:buNone/>
            </a:pPr>
            <a:r>
              <a:rPr b="1" lang="es" sz="2100">
                <a:latin typeface="Open Sans"/>
                <a:ea typeface="Open Sans"/>
                <a:cs typeface="Open Sans"/>
                <a:sym typeface="Open Sans"/>
              </a:rPr>
              <a:t>Analisis y Diseño de Sistemas 1</a:t>
            </a:r>
            <a:endParaRPr sz="700"/>
          </a:p>
          <a:p>
            <a:pPr indent="0" lvl="0" marL="0" marR="0" rtl="0" algn="ctr">
              <a:lnSpc>
                <a:spcPct val="79976"/>
              </a:lnSpc>
              <a:spcBef>
                <a:spcPts val="0"/>
              </a:spcBef>
              <a:spcAft>
                <a:spcPts val="0"/>
              </a:spcAft>
              <a:buNone/>
            </a:pPr>
            <a:r>
              <a:t/>
            </a:r>
            <a:endParaRPr b="1" i="0" sz="2100" u="none" cap="none" strike="noStrike">
              <a:solidFill>
                <a:srgbClr val="000000"/>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p:nvPr/>
        </p:nvSpPr>
        <p:spPr>
          <a:xfrm>
            <a:off x="0" y="0"/>
            <a:ext cx="9144000" cy="5200650"/>
          </a:xfrm>
          <a:custGeom>
            <a:rect b="b" l="l" r="r" t="t"/>
            <a:pathLst>
              <a:path extrusionOk="0" h="10401300" w="18288000">
                <a:moveTo>
                  <a:pt x="0" y="0"/>
                </a:moveTo>
                <a:lnTo>
                  <a:pt x="18288000" y="0"/>
                </a:lnTo>
                <a:lnTo>
                  <a:pt x="18288000" y="10401300"/>
                </a:lnTo>
                <a:lnTo>
                  <a:pt x="0" y="10401300"/>
                </a:lnTo>
                <a:lnTo>
                  <a:pt x="0" y="0"/>
                </a:lnTo>
                <a:close/>
              </a:path>
            </a:pathLst>
          </a:custGeom>
          <a:blipFill rotWithShape="1">
            <a:blip r:embed="rId3">
              <a:alphaModFix/>
            </a:blip>
            <a:stretch>
              <a:fillRect b="0" l="0" r="0" t="0"/>
            </a:stretch>
          </a:blipFill>
          <a:ln>
            <a:noFill/>
          </a:ln>
        </p:spPr>
      </p:sp>
      <p:sp>
        <p:nvSpPr>
          <p:cNvPr id="65" name="Google Shape;65;p14"/>
          <p:cNvSpPr txBox="1"/>
          <p:nvPr/>
        </p:nvSpPr>
        <p:spPr>
          <a:xfrm>
            <a:off x="3102024" y="1595120"/>
            <a:ext cx="2940000" cy="1625400"/>
          </a:xfrm>
          <a:prstGeom prst="rect">
            <a:avLst/>
          </a:prstGeom>
          <a:noFill/>
          <a:ln>
            <a:noFill/>
          </a:ln>
        </p:spPr>
        <p:txBody>
          <a:bodyPr anchorCtr="0" anchor="t" bIns="0" lIns="0" spcFirstLastPara="1" rIns="0" wrap="square" tIns="0">
            <a:spAutoFit/>
          </a:bodyPr>
          <a:lstStyle/>
          <a:p>
            <a:pPr indent="0" lvl="0" marL="0" marR="0" rtl="0" algn="ctr">
              <a:lnSpc>
                <a:spcPct val="140004"/>
              </a:lnSpc>
              <a:spcBef>
                <a:spcPts val="0"/>
              </a:spcBef>
              <a:spcAft>
                <a:spcPts val="0"/>
              </a:spcAft>
              <a:buNone/>
            </a:pPr>
            <a:r>
              <a:rPr b="1" i="0" lang="es" sz="4400" u="none" cap="none" strike="noStrike">
                <a:solidFill>
                  <a:srgbClr val="000000"/>
                </a:solidFill>
                <a:latin typeface="Open Sans"/>
                <a:ea typeface="Open Sans"/>
                <a:cs typeface="Open Sans"/>
                <a:sym typeface="Open Sans"/>
              </a:rPr>
              <a:t>UNIDAD </a:t>
            </a:r>
            <a:r>
              <a:rPr b="1" lang="es" sz="4400">
                <a:latin typeface="Open Sans"/>
                <a:ea typeface="Open Sans"/>
                <a:cs typeface="Open Sans"/>
                <a:sym typeface="Open Sans"/>
              </a:rPr>
              <a:t>2</a:t>
            </a:r>
            <a:endParaRPr sz="700"/>
          </a:p>
          <a:p>
            <a:pPr indent="0" lvl="0" marL="0" marR="0" rtl="0" algn="ctr">
              <a:lnSpc>
                <a:spcPct val="140004"/>
              </a:lnSpc>
              <a:spcBef>
                <a:spcPts val="0"/>
              </a:spcBef>
              <a:spcAft>
                <a:spcPts val="0"/>
              </a:spcAft>
              <a:buNone/>
            </a:pPr>
            <a:r>
              <a:t/>
            </a:r>
            <a:endParaRPr b="1" i="0" sz="4400" u="none" cap="none" strike="noStrike">
              <a:solidFill>
                <a:srgbClr val="000000"/>
              </a:solidFill>
              <a:latin typeface="Open Sans"/>
              <a:ea typeface="Open Sans"/>
              <a:cs typeface="Open Sans"/>
              <a:sym typeface="Open Sans"/>
            </a:endParaRPr>
          </a:p>
        </p:txBody>
      </p:sp>
      <p:sp>
        <p:nvSpPr>
          <p:cNvPr id="66" name="Google Shape;66;p14"/>
          <p:cNvSpPr txBox="1"/>
          <p:nvPr/>
        </p:nvSpPr>
        <p:spPr>
          <a:xfrm>
            <a:off x="1802250" y="2415550"/>
            <a:ext cx="5539500" cy="2105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lang="es" sz="3600">
                <a:latin typeface="Open Sans"/>
                <a:ea typeface="Open Sans"/>
                <a:cs typeface="Open Sans"/>
                <a:sym typeface="Open Sans"/>
              </a:rPr>
              <a:t>Metodologias de Desarrollo</a:t>
            </a:r>
            <a:endParaRPr sz="700"/>
          </a:p>
          <a:p>
            <a:pPr indent="0" lvl="0" marL="0" marR="0" rtl="0" algn="ctr">
              <a:lnSpc>
                <a:spcPct val="140000"/>
              </a:lnSpc>
              <a:spcBef>
                <a:spcPts val="0"/>
              </a:spcBef>
              <a:spcAft>
                <a:spcPts val="0"/>
              </a:spcAft>
              <a:buNone/>
            </a:pPr>
            <a:r>
              <a:t/>
            </a:r>
            <a:endParaRPr b="1" i="0" sz="3600" u="none" cap="none" strike="noStrik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p:nvPr/>
        </p:nvSpPr>
        <p:spPr>
          <a:xfrm>
            <a:off x="2343568" y="1246386"/>
            <a:ext cx="4716047" cy="3382765"/>
          </a:xfrm>
          <a:custGeom>
            <a:rect b="b" l="l" r="r" t="t"/>
            <a:pathLst>
              <a:path extrusionOk="0" h="6765529" w="9432094">
                <a:moveTo>
                  <a:pt x="0" y="0"/>
                </a:moveTo>
                <a:lnTo>
                  <a:pt x="9432093" y="0"/>
                </a:lnTo>
                <a:lnTo>
                  <a:pt x="9432093" y="6765529"/>
                </a:lnTo>
                <a:lnTo>
                  <a:pt x="0" y="6765529"/>
                </a:lnTo>
                <a:lnTo>
                  <a:pt x="0" y="0"/>
                </a:lnTo>
                <a:close/>
              </a:path>
            </a:pathLst>
          </a:custGeom>
          <a:blipFill rotWithShape="1">
            <a:blip r:embed="rId3">
              <a:alphaModFix/>
            </a:blip>
            <a:stretch>
              <a:fillRect b="0" l="0" r="0" t="0"/>
            </a:stretch>
          </a:blipFill>
          <a:ln>
            <a:noFill/>
          </a:ln>
        </p:spPr>
      </p:sp>
      <p:sp>
        <p:nvSpPr>
          <p:cNvPr id="72" name="Google Shape;72;p15"/>
          <p:cNvSpPr/>
          <p:nvPr/>
        </p:nvSpPr>
        <p:spPr>
          <a:xfrm>
            <a:off x="1985714" y="306419"/>
            <a:ext cx="5650630" cy="1144253"/>
          </a:xfrm>
          <a:custGeom>
            <a:rect b="b" l="l" r="r" t="t"/>
            <a:pathLst>
              <a:path extrusionOk="0" h="2288505" w="11301259">
                <a:moveTo>
                  <a:pt x="0" y="0"/>
                </a:moveTo>
                <a:lnTo>
                  <a:pt x="11301259" y="0"/>
                </a:lnTo>
                <a:lnTo>
                  <a:pt x="11301259" y="2288505"/>
                </a:lnTo>
                <a:lnTo>
                  <a:pt x="0" y="2288505"/>
                </a:lnTo>
                <a:lnTo>
                  <a:pt x="0" y="0"/>
                </a:lnTo>
                <a:close/>
              </a:path>
            </a:pathLst>
          </a:custGeom>
          <a:blipFill rotWithShape="1">
            <a:blip r:embed="rId4">
              <a:alphaModFix/>
            </a:blip>
            <a:stretch>
              <a:fillRect b="0" l="0" r="0" t="0"/>
            </a:stretch>
          </a:blipFill>
          <a:ln>
            <a:noFill/>
          </a:ln>
        </p:spPr>
      </p:sp>
      <p:sp>
        <p:nvSpPr>
          <p:cNvPr id="73" name="Google Shape;73;p15"/>
          <p:cNvSpPr/>
          <p:nvPr/>
        </p:nvSpPr>
        <p:spPr>
          <a:xfrm>
            <a:off x="157446" y="1450671"/>
            <a:ext cx="2480817" cy="2480817"/>
          </a:xfrm>
          <a:custGeom>
            <a:rect b="b" l="l" r="r" t="t"/>
            <a:pathLst>
              <a:path extrusionOk="0" h="4961633" w="4961633">
                <a:moveTo>
                  <a:pt x="0" y="0"/>
                </a:moveTo>
                <a:lnTo>
                  <a:pt x="4961633" y="0"/>
                </a:lnTo>
                <a:lnTo>
                  <a:pt x="4961633" y="4961632"/>
                </a:lnTo>
                <a:lnTo>
                  <a:pt x="0" y="4961632"/>
                </a:lnTo>
                <a:lnTo>
                  <a:pt x="0" y="0"/>
                </a:lnTo>
                <a:close/>
              </a:path>
            </a:pathLst>
          </a:custGeom>
          <a:blipFill rotWithShape="1">
            <a:blip r:embed="rId5">
              <a:alphaModFix/>
            </a:blip>
            <a:stretch>
              <a:fillRect b="0" l="0" r="0" t="0"/>
            </a:stretch>
          </a:blipFill>
          <a:ln>
            <a:noFill/>
          </a:ln>
        </p:spPr>
      </p:sp>
      <p:sp>
        <p:nvSpPr>
          <p:cNvPr id="74" name="Google Shape;74;p15"/>
          <p:cNvSpPr/>
          <p:nvPr/>
        </p:nvSpPr>
        <p:spPr>
          <a:xfrm>
            <a:off x="2638262" y="1587241"/>
            <a:ext cx="339092" cy="412410"/>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75" name="Google Shape;75;p15"/>
          <p:cNvSpPr txBox="1"/>
          <p:nvPr/>
        </p:nvSpPr>
        <p:spPr>
          <a:xfrm>
            <a:off x="2977349" y="2164075"/>
            <a:ext cx="1404600" cy="443100"/>
          </a:xfrm>
          <a:prstGeom prst="rect">
            <a:avLst/>
          </a:prstGeom>
          <a:noFill/>
          <a:ln>
            <a:noFill/>
          </a:ln>
        </p:spPr>
        <p:txBody>
          <a:bodyPr anchorCtr="0" anchor="t" bIns="0" lIns="0" spcFirstLastPara="1" rIns="0" wrap="square" tIns="0">
            <a:spAutoFit/>
          </a:bodyPr>
          <a:lstStyle/>
          <a:p>
            <a:pPr indent="0" lvl="0" marL="0" marR="0" rtl="0" algn="l">
              <a:lnSpc>
                <a:spcPct val="139958"/>
              </a:lnSpc>
              <a:spcBef>
                <a:spcPts val="0"/>
              </a:spcBef>
              <a:spcAft>
                <a:spcPts val="0"/>
              </a:spcAft>
              <a:buNone/>
            </a:pPr>
            <a:r>
              <a:rPr b="1" lang="es" sz="1200">
                <a:latin typeface="Open Sans"/>
                <a:ea typeface="Open Sans"/>
                <a:cs typeface="Open Sans"/>
                <a:sym typeface="Open Sans"/>
              </a:rPr>
              <a:t>    Anuncio 2</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76" name="Google Shape;76;p15"/>
          <p:cNvSpPr txBox="1"/>
          <p:nvPr/>
        </p:nvSpPr>
        <p:spPr>
          <a:xfrm>
            <a:off x="2977355" y="1671356"/>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s" sz="1200">
                <a:latin typeface="Open Sans"/>
                <a:ea typeface="Open Sans"/>
                <a:cs typeface="Open Sans"/>
                <a:sym typeface="Open Sans"/>
              </a:rPr>
              <a:t>Foro Semanal</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77" name="Google Shape;77;p15"/>
          <p:cNvSpPr/>
          <p:nvPr/>
        </p:nvSpPr>
        <p:spPr>
          <a:xfrm>
            <a:off x="2638262" y="2079026"/>
            <a:ext cx="339092" cy="412410"/>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78" name="Google Shape;78;p15"/>
          <p:cNvSpPr/>
          <p:nvPr/>
        </p:nvSpPr>
        <p:spPr>
          <a:xfrm>
            <a:off x="2638262" y="2629548"/>
            <a:ext cx="339092" cy="412410"/>
          </a:xfrm>
          <a:custGeom>
            <a:rect b="b" l="l" r="r" t="t"/>
            <a:pathLst>
              <a:path extrusionOk="0" h="824819" w="678185">
                <a:moveTo>
                  <a:pt x="0" y="0"/>
                </a:moveTo>
                <a:lnTo>
                  <a:pt x="678185" y="0"/>
                </a:lnTo>
                <a:lnTo>
                  <a:pt x="678185" y="824820"/>
                </a:lnTo>
                <a:lnTo>
                  <a:pt x="0" y="824820"/>
                </a:lnTo>
                <a:lnTo>
                  <a:pt x="0" y="0"/>
                </a:lnTo>
                <a:close/>
              </a:path>
            </a:pathLst>
          </a:custGeom>
          <a:blipFill rotWithShape="1">
            <a:blip r:embed="rId6">
              <a:alphaModFix/>
            </a:blip>
            <a:stretch>
              <a:fillRect b="0" l="0" r="0" t="0"/>
            </a:stretch>
          </a:blipFill>
          <a:ln>
            <a:noFill/>
          </a:ln>
        </p:spPr>
      </p:sp>
      <p:sp>
        <p:nvSpPr>
          <p:cNvPr id="79" name="Google Shape;79;p15"/>
          <p:cNvSpPr/>
          <p:nvPr/>
        </p:nvSpPr>
        <p:spPr>
          <a:xfrm>
            <a:off x="2638262" y="3180070"/>
            <a:ext cx="339092" cy="412409"/>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80" name="Google Shape;80;p15"/>
          <p:cNvSpPr/>
          <p:nvPr/>
        </p:nvSpPr>
        <p:spPr>
          <a:xfrm>
            <a:off x="2638262" y="3730592"/>
            <a:ext cx="339092" cy="412410"/>
          </a:xfrm>
          <a:custGeom>
            <a:rect b="b" l="l" r="r" t="t"/>
            <a:pathLst>
              <a:path extrusionOk="0" h="824819" w="678185">
                <a:moveTo>
                  <a:pt x="0" y="0"/>
                </a:moveTo>
                <a:lnTo>
                  <a:pt x="678185" y="0"/>
                </a:lnTo>
                <a:lnTo>
                  <a:pt x="678185" y="824819"/>
                </a:lnTo>
                <a:lnTo>
                  <a:pt x="0" y="824819"/>
                </a:lnTo>
                <a:lnTo>
                  <a:pt x="0" y="0"/>
                </a:lnTo>
                <a:close/>
              </a:path>
            </a:pathLst>
          </a:custGeom>
          <a:blipFill rotWithShape="1">
            <a:blip r:embed="rId6">
              <a:alphaModFix/>
            </a:blip>
            <a:stretch>
              <a:fillRect b="0" l="0" r="0" t="0"/>
            </a:stretch>
          </a:blipFill>
          <a:ln>
            <a:noFill/>
          </a:ln>
        </p:spPr>
      </p:sp>
      <p:sp>
        <p:nvSpPr>
          <p:cNvPr id="81" name="Google Shape;81;p15"/>
          <p:cNvSpPr txBox="1"/>
          <p:nvPr/>
        </p:nvSpPr>
        <p:spPr>
          <a:xfrm>
            <a:off x="2977355" y="272440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Anuncio 3</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82" name="Google Shape;82;p15"/>
          <p:cNvSpPr txBox="1"/>
          <p:nvPr/>
        </p:nvSpPr>
        <p:spPr>
          <a:xfrm>
            <a:off x="2977355" y="3217803"/>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Anuncio 4</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83" name="Google Shape;83;p15"/>
          <p:cNvSpPr txBox="1"/>
          <p:nvPr/>
        </p:nvSpPr>
        <p:spPr>
          <a:xfrm>
            <a:off x="2977355" y="3777873"/>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Anuncio 5</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p:nvPr/>
        </p:nvSpPr>
        <p:spPr>
          <a:xfrm>
            <a:off x="2008474" y="1779402"/>
            <a:ext cx="4948254" cy="2956582"/>
          </a:xfrm>
          <a:custGeom>
            <a:rect b="b" l="l" r="r" t="t"/>
            <a:pathLst>
              <a:path extrusionOk="0" h="5913163" w="9896507">
                <a:moveTo>
                  <a:pt x="0" y="0"/>
                </a:moveTo>
                <a:lnTo>
                  <a:pt x="9896507" y="0"/>
                </a:lnTo>
                <a:lnTo>
                  <a:pt x="9896507" y="5913163"/>
                </a:lnTo>
                <a:lnTo>
                  <a:pt x="0" y="5913163"/>
                </a:lnTo>
                <a:lnTo>
                  <a:pt x="0" y="0"/>
                </a:lnTo>
                <a:close/>
              </a:path>
            </a:pathLst>
          </a:custGeom>
          <a:blipFill rotWithShape="1">
            <a:blip r:embed="rId3">
              <a:alphaModFix/>
            </a:blip>
            <a:stretch>
              <a:fillRect b="0" l="0" r="0" t="0"/>
            </a:stretch>
          </a:blipFill>
          <a:ln>
            <a:noFill/>
          </a:ln>
        </p:spPr>
      </p:sp>
      <p:sp>
        <p:nvSpPr>
          <p:cNvPr id="89" name="Google Shape;89;p16"/>
          <p:cNvSpPr/>
          <p:nvPr/>
        </p:nvSpPr>
        <p:spPr>
          <a:xfrm>
            <a:off x="1746686" y="-312653"/>
            <a:ext cx="5650630" cy="2563973"/>
          </a:xfrm>
          <a:custGeom>
            <a:rect b="b" l="l" r="r" t="t"/>
            <a:pathLst>
              <a:path extrusionOk="0" h="5127946" w="11301259">
                <a:moveTo>
                  <a:pt x="0" y="0"/>
                </a:moveTo>
                <a:lnTo>
                  <a:pt x="11301258" y="0"/>
                </a:lnTo>
                <a:lnTo>
                  <a:pt x="11301258" y="5127946"/>
                </a:lnTo>
                <a:lnTo>
                  <a:pt x="0" y="5127946"/>
                </a:lnTo>
                <a:lnTo>
                  <a:pt x="0" y="0"/>
                </a:lnTo>
                <a:close/>
              </a:path>
            </a:pathLst>
          </a:custGeom>
          <a:blipFill rotWithShape="1">
            <a:blip r:embed="rId4">
              <a:alphaModFix/>
            </a:blip>
            <a:stretch>
              <a:fillRect b="0" l="0" r="0" t="0"/>
            </a:stretch>
          </a:blipFill>
          <a:ln>
            <a:noFill/>
          </a:ln>
        </p:spPr>
      </p:sp>
      <p:sp>
        <p:nvSpPr>
          <p:cNvPr id="90" name="Google Shape;90;p16"/>
          <p:cNvSpPr/>
          <p:nvPr/>
        </p:nvSpPr>
        <p:spPr>
          <a:xfrm>
            <a:off x="2437960" y="2045115"/>
            <a:ext cx="339092" cy="412410"/>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91" name="Google Shape;91;p16"/>
          <p:cNvSpPr txBox="1"/>
          <p:nvPr/>
        </p:nvSpPr>
        <p:spPr>
          <a:xfrm>
            <a:off x="2607500" y="2163050"/>
            <a:ext cx="16788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s" sz="1200">
                <a:latin typeface="Open Sans"/>
                <a:ea typeface="Open Sans"/>
                <a:cs typeface="Open Sans"/>
                <a:sym typeface="Open Sans"/>
              </a:rPr>
              <a:t>Foro Semanal</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92" name="Google Shape;92;p16"/>
          <p:cNvSpPr/>
          <p:nvPr/>
        </p:nvSpPr>
        <p:spPr>
          <a:xfrm>
            <a:off x="2437960" y="2571750"/>
            <a:ext cx="339092" cy="412410"/>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93" name="Google Shape;93;p16"/>
          <p:cNvSpPr txBox="1"/>
          <p:nvPr/>
        </p:nvSpPr>
        <p:spPr>
          <a:xfrm>
            <a:off x="2607496" y="2689775"/>
            <a:ext cx="18381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lang="es" sz="1200">
                <a:latin typeface="Open Sans"/>
                <a:ea typeface="Open Sans"/>
                <a:cs typeface="Open Sans"/>
                <a:sym typeface="Open Sans"/>
              </a:rPr>
              <a:t>Asignacion DTT</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94" name="Google Shape;94;p16"/>
          <p:cNvSpPr/>
          <p:nvPr/>
        </p:nvSpPr>
        <p:spPr>
          <a:xfrm>
            <a:off x="2437960" y="3097448"/>
            <a:ext cx="339092" cy="412409"/>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95" name="Google Shape;95;p16"/>
          <p:cNvSpPr/>
          <p:nvPr/>
        </p:nvSpPr>
        <p:spPr>
          <a:xfrm>
            <a:off x="2437960" y="3624157"/>
            <a:ext cx="339092" cy="412410"/>
          </a:xfrm>
          <a:custGeom>
            <a:rect b="b" l="l" r="r" t="t"/>
            <a:pathLst>
              <a:path extrusionOk="0" h="824819" w="678185">
                <a:moveTo>
                  <a:pt x="0" y="0"/>
                </a:moveTo>
                <a:lnTo>
                  <a:pt x="678184" y="0"/>
                </a:lnTo>
                <a:lnTo>
                  <a:pt x="678184" y="824819"/>
                </a:lnTo>
                <a:lnTo>
                  <a:pt x="0" y="824819"/>
                </a:lnTo>
                <a:lnTo>
                  <a:pt x="0" y="0"/>
                </a:lnTo>
                <a:close/>
              </a:path>
            </a:pathLst>
          </a:custGeom>
          <a:blipFill rotWithShape="1">
            <a:blip r:embed="rId5">
              <a:alphaModFix/>
            </a:blip>
            <a:stretch>
              <a:fillRect b="0" l="0" r="0" t="0"/>
            </a:stretch>
          </a:blipFill>
          <a:ln>
            <a:noFill/>
          </a:ln>
        </p:spPr>
      </p:sp>
      <p:sp>
        <p:nvSpPr>
          <p:cNvPr id="96" name="Google Shape;96;p16"/>
          <p:cNvSpPr/>
          <p:nvPr/>
        </p:nvSpPr>
        <p:spPr>
          <a:xfrm>
            <a:off x="2437960" y="4150867"/>
            <a:ext cx="339092" cy="412410"/>
          </a:xfrm>
          <a:custGeom>
            <a:rect b="b" l="l" r="r" t="t"/>
            <a:pathLst>
              <a:path extrusionOk="0" h="824819" w="678185">
                <a:moveTo>
                  <a:pt x="0" y="0"/>
                </a:moveTo>
                <a:lnTo>
                  <a:pt x="678184" y="0"/>
                </a:lnTo>
                <a:lnTo>
                  <a:pt x="678184" y="824820"/>
                </a:lnTo>
                <a:lnTo>
                  <a:pt x="0" y="824820"/>
                </a:lnTo>
                <a:lnTo>
                  <a:pt x="0" y="0"/>
                </a:lnTo>
                <a:close/>
              </a:path>
            </a:pathLst>
          </a:custGeom>
          <a:blipFill rotWithShape="1">
            <a:blip r:embed="rId5">
              <a:alphaModFix/>
            </a:blip>
            <a:stretch>
              <a:fillRect b="0" l="0" r="0" t="0"/>
            </a:stretch>
          </a:blipFill>
          <a:ln>
            <a:noFill/>
          </a:ln>
        </p:spPr>
      </p:sp>
      <p:sp>
        <p:nvSpPr>
          <p:cNvPr id="97" name="Google Shape;97;p16"/>
          <p:cNvSpPr txBox="1"/>
          <p:nvPr/>
        </p:nvSpPr>
        <p:spPr>
          <a:xfrm>
            <a:off x="2607506" y="319269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3</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98" name="Google Shape;98;p16"/>
          <p:cNvSpPr txBox="1"/>
          <p:nvPr/>
        </p:nvSpPr>
        <p:spPr>
          <a:xfrm>
            <a:off x="2607506" y="3695618"/>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4</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
        <p:nvSpPr>
          <p:cNvPr id="99" name="Google Shape;99;p16"/>
          <p:cNvSpPr txBox="1"/>
          <p:nvPr/>
        </p:nvSpPr>
        <p:spPr>
          <a:xfrm>
            <a:off x="2607506" y="4222351"/>
            <a:ext cx="1070700" cy="443100"/>
          </a:xfrm>
          <a:prstGeom prst="rect">
            <a:avLst/>
          </a:prstGeom>
          <a:noFill/>
          <a:ln>
            <a:noFill/>
          </a:ln>
        </p:spPr>
        <p:txBody>
          <a:bodyPr anchorCtr="0" anchor="t" bIns="0" lIns="0" spcFirstLastPara="1" rIns="0" wrap="square" tIns="0">
            <a:spAutoFit/>
          </a:bodyPr>
          <a:lstStyle/>
          <a:p>
            <a:pPr indent="0" lvl="0" marL="0" marR="0" rtl="0" algn="ctr">
              <a:lnSpc>
                <a:spcPct val="139958"/>
              </a:lnSpc>
              <a:spcBef>
                <a:spcPts val="0"/>
              </a:spcBef>
              <a:spcAft>
                <a:spcPts val="0"/>
              </a:spcAft>
              <a:buNone/>
            </a:pPr>
            <a:r>
              <a:rPr b="1" i="0" lang="es" sz="1200" u="none" cap="none" strike="noStrike">
                <a:solidFill>
                  <a:srgbClr val="000000"/>
                </a:solidFill>
                <a:latin typeface="Open Sans"/>
                <a:ea typeface="Open Sans"/>
                <a:cs typeface="Open Sans"/>
                <a:sym typeface="Open Sans"/>
              </a:rPr>
              <a:t>TEMA 5</a:t>
            </a:r>
            <a:endParaRPr sz="700"/>
          </a:p>
          <a:p>
            <a:pPr indent="0" lvl="0" marL="0" marR="0" rtl="0" algn="ctr">
              <a:lnSpc>
                <a:spcPct val="139958"/>
              </a:lnSpc>
              <a:spcBef>
                <a:spcPts val="0"/>
              </a:spcBef>
              <a:spcAft>
                <a:spcPts val="0"/>
              </a:spcAft>
              <a:buNone/>
            </a:pPr>
            <a:r>
              <a:t/>
            </a:r>
            <a:endParaRPr b="1" i="0" sz="1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7"/>
          <p:cNvSpPr/>
          <p:nvPr/>
        </p:nvSpPr>
        <p:spPr>
          <a:xfrm>
            <a:off x="0" y="0"/>
            <a:ext cx="9144000" cy="5223510"/>
          </a:xfrm>
          <a:custGeom>
            <a:rect b="b" l="l" r="r" t="t"/>
            <a:pathLst>
              <a:path extrusionOk="0" h="10447020" w="18288000">
                <a:moveTo>
                  <a:pt x="0" y="0"/>
                </a:moveTo>
                <a:lnTo>
                  <a:pt x="18288000" y="0"/>
                </a:lnTo>
                <a:lnTo>
                  <a:pt x="18288000" y="10447020"/>
                </a:lnTo>
                <a:lnTo>
                  <a:pt x="0" y="10447020"/>
                </a:lnTo>
                <a:lnTo>
                  <a:pt x="0" y="0"/>
                </a:lnTo>
                <a:close/>
              </a:path>
            </a:pathLst>
          </a:custGeom>
          <a:blipFill rotWithShape="1">
            <a:blip r:embed="rId3">
              <a:alphaModFix/>
            </a:blip>
            <a:stretch>
              <a:fillRect b="0" l="0" r="0" t="0"/>
            </a:stretch>
          </a:blipFill>
          <a:ln>
            <a:noFill/>
          </a:ln>
        </p:spPr>
      </p:sp>
      <p:sp>
        <p:nvSpPr>
          <p:cNvPr id="105" name="Google Shape;105;p17"/>
          <p:cNvSpPr/>
          <p:nvPr/>
        </p:nvSpPr>
        <p:spPr>
          <a:xfrm>
            <a:off x="1444200" y="1290900"/>
            <a:ext cx="6974985" cy="2457392"/>
          </a:xfrm>
          <a:custGeom>
            <a:rect b="b" l="l" r="r" t="t"/>
            <a:pathLst>
              <a:path extrusionOk="0" h="3424936" w="12511183">
                <a:moveTo>
                  <a:pt x="0" y="0"/>
                </a:moveTo>
                <a:lnTo>
                  <a:pt x="12511184" y="0"/>
                </a:lnTo>
                <a:lnTo>
                  <a:pt x="12511184" y="3424937"/>
                </a:lnTo>
                <a:lnTo>
                  <a:pt x="0" y="3424937"/>
                </a:lnTo>
                <a:lnTo>
                  <a:pt x="0" y="0"/>
                </a:lnTo>
                <a:close/>
              </a:path>
            </a:pathLst>
          </a:custGeom>
          <a:blipFill rotWithShape="1">
            <a:blip r:embed="rId4">
              <a:alphaModFix/>
            </a:blip>
            <a:stretch>
              <a:fillRect b="0" l="0" r="0" t="0"/>
            </a:stretch>
          </a:blipFill>
          <a:ln>
            <a:noFill/>
          </a:ln>
        </p:spPr>
      </p:sp>
      <p:sp>
        <p:nvSpPr>
          <p:cNvPr id="106" name="Google Shape;106;p17"/>
          <p:cNvSpPr txBox="1"/>
          <p:nvPr/>
        </p:nvSpPr>
        <p:spPr>
          <a:xfrm>
            <a:off x="2754250" y="1590350"/>
            <a:ext cx="5338500" cy="2647500"/>
          </a:xfrm>
          <a:prstGeom prst="rect">
            <a:avLst/>
          </a:prstGeom>
          <a:noFill/>
          <a:ln>
            <a:noFill/>
          </a:ln>
        </p:spPr>
        <p:txBody>
          <a:bodyPr anchorCtr="0" anchor="t" bIns="0" lIns="0" spcFirstLastPara="1" rIns="0" wrap="square" tIns="0">
            <a:spAutoFit/>
          </a:bodyPr>
          <a:lstStyle/>
          <a:p>
            <a:pPr indent="0" lvl="0" marL="0" rtl="0" algn="just">
              <a:lnSpc>
                <a:spcPct val="140007"/>
              </a:lnSpc>
              <a:spcBef>
                <a:spcPts val="0"/>
              </a:spcBef>
              <a:spcAft>
                <a:spcPts val="0"/>
              </a:spcAft>
              <a:buClr>
                <a:schemeClr val="dk1"/>
              </a:buClr>
              <a:buSzPts val="5199"/>
              <a:buFont typeface="Arial"/>
              <a:buNone/>
            </a:pPr>
            <a:r>
              <a:rPr b="1" lang="es" sz="1700">
                <a:solidFill>
                  <a:srgbClr val="131416"/>
                </a:solidFill>
                <a:latin typeface="Open Sans"/>
                <a:ea typeface="Open Sans"/>
                <a:cs typeface="Open Sans"/>
                <a:sym typeface="Open Sans"/>
              </a:rPr>
              <a:t>Aprende a elegir metodologias de desarrollo comparando los requerimientos que exige el proyecto para entregar software que satisfagan las necesidades solicitadas.</a:t>
            </a:r>
            <a:endParaRPr sz="1700">
              <a:solidFill>
                <a:schemeClr val="dk1"/>
              </a:solidFill>
              <a:latin typeface="Open Sans"/>
              <a:ea typeface="Open Sans"/>
              <a:cs typeface="Open Sans"/>
              <a:sym typeface="Open Sans"/>
            </a:endParaRPr>
          </a:p>
          <a:p>
            <a:pPr indent="0" lvl="0" marL="0" marR="0" rtl="0" algn="ctr">
              <a:lnSpc>
                <a:spcPct val="140006"/>
              </a:lnSpc>
              <a:spcBef>
                <a:spcPts val="0"/>
              </a:spcBef>
              <a:spcAft>
                <a:spcPts val="0"/>
              </a:spcAft>
              <a:buNone/>
            </a:pPr>
            <a:r>
              <a:t/>
            </a:r>
            <a:endParaRPr b="1" sz="3200">
              <a:latin typeface="Open Sans"/>
              <a:ea typeface="Open Sans"/>
              <a:cs typeface="Open Sans"/>
              <a:sym typeface="Open Sans"/>
            </a:endParaRPr>
          </a:p>
          <a:p>
            <a:pPr indent="0" lvl="0" marL="0" marR="0" rtl="0" algn="ctr">
              <a:lnSpc>
                <a:spcPct val="140006"/>
              </a:lnSpc>
              <a:spcBef>
                <a:spcPts val="0"/>
              </a:spcBef>
              <a:spcAft>
                <a:spcPts val="0"/>
              </a:spcAft>
              <a:buNone/>
            </a:pPr>
            <a:r>
              <a:t/>
            </a:r>
            <a:endParaRPr b="1" i="0" sz="3200" u="none" cap="none" strike="noStrike">
              <a:solidFill>
                <a:srgbClr val="000000"/>
              </a:solidFill>
              <a:latin typeface="Open Sans"/>
              <a:ea typeface="Open Sans"/>
              <a:cs typeface="Open Sans"/>
              <a:sym typeface="Open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8"/>
          <p:cNvSpPr txBox="1"/>
          <p:nvPr/>
        </p:nvSpPr>
        <p:spPr>
          <a:xfrm>
            <a:off x="468425" y="1442700"/>
            <a:ext cx="8207100" cy="28167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lang="es" sz="1500">
                <a:latin typeface="Open Sans"/>
                <a:ea typeface="Open Sans"/>
                <a:cs typeface="Open Sans"/>
                <a:sym typeface="Open Sans"/>
              </a:rPr>
              <a:t>En el desarrollo de software, la responsabilidad va más allá de terminar tu parte del código. Significa comprometerte con acuerdos de equipo, respetar los estándares que definieron juntos, y entender que tu decisión técnica de hoy puede facilitar o complicar el trabajo de tus compañeros mañana. </a:t>
            </a:r>
            <a:endParaRPr sz="1500">
              <a:latin typeface="Open Sans"/>
              <a:ea typeface="Open Sans"/>
              <a:cs typeface="Open Sans"/>
              <a:sym typeface="Open Sans"/>
            </a:endParaRPr>
          </a:p>
          <a:p>
            <a:pPr indent="0" lvl="0" marL="0" marR="0" rtl="0" algn="l">
              <a:lnSpc>
                <a:spcPct val="140000"/>
              </a:lnSpc>
              <a:spcBef>
                <a:spcPts val="0"/>
              </a:spcBef>
              <a:spcAft>
                <a:spcPts val="0"/>
              </a:spcAft>
              <a:buNone/>
            </a:pPr>
            <a:r>
              <a:t/>
            </a:r>
            <a:endParaRPr sz="1500">
              <a:latin typeface="Open Sans"/>
              <a:ea typeface="Open Sans"/>
              <a:cs typeface="Open Sans"/>
              <a:sym typeface="Open Sans"/>
            </a:endParaRPr>
          </a:p>
          <a:p>
            <a:pPr indent="0" lvl="0" marL="0" marR="0" rtl="0" algn="l">
              <a:lnSpc>
                <a:spcPct val="140000"/>
              </a:lnSpc>
              <a:spcBef>
                <a:spcPts val="0"/>
              </a:spcBef>
              <a:spcAft>
                <a:spcPts val="0"/>
              </a:spcAft>
              <a:buNone/>
            </a:pPr>
            <a:r>
              <a:rPr lang="es" sz="1500">
                <a:latin typeface="Open Sans"/>
                <a:ea typeface="Open Sans"/>
                <a:cs typeface="Open Sans"/>
                <a:sym typeface="Open Sans"/>
              </a:rPr>
              <a:t>Cuando trabajamos en equipo, cada elección que hacemos tiene un impacto: desde nombrar una variable hasta diseñar un endpoint. Ser responsable es pensar no solo en 'que funcione', sino en que funcione para todos</a:t>
            </a:r>
            <a:endParaRPr sz="1500">
              <a:latin typeface="Open Sans"/>
              <a:ea typeface="Open Sans"/>
              <a:cs typeface="Open Sans"/>
              <a:sym typeface="Open Sans"/>
            </a:endParaRPr>
          </a:p>
          <a:p>
            <a:pPr indent="0" lvl="0" marL="0" marR="0" rtl="0" algn="l">
              <a:lnSpc>
                <a:spcPct val="140000"/>
              </a:lnSpc>
              <a:spcBef>
                <a:spcPts val="0"/>
              </a:spcBef>
              <a:spcAft>
                <a:spcPts val="0"/>
              </a:spcAft>
              <a:buNone/>
            </a:pPr>
            <a:r>
              <a:t/>
            </a:r>
            <a:endParaRPr sz="1500">
              <a:latin typeface="Open Sans"/>
              <a:ea typeface="Open Sans"/>
              <a:cs typeface="Open Sans"/>
              <a:sym typeface="Open Sans"/>
            </a:endParaRPr>
          </a:p>
        </p:txBody>
      </p:sp>
      <p:sp>
        <p:nvSpPr>
          <p:cNvPr id="112" name="Google Shape;112;p18"/>
          <p:cNvSpPr txBox="1"/>
          <p:nvPr/>
        </p:nvSpPr>
        <p:spPr>
          <a:xfrm>
            <a:off x="2570275" y="581975"/>
            <a:ext cx="38208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s" sz="3200">
                <a:latin typeface="Impact"/>
                <a:ea typeface="Impact"/>
                <a:cs typeface="Impact"/>
                <a:sym typeface="Impact"/>
              </a:rPr>
              <a:t>RESPONSABILIDAD</a:t>
            </a:r>
            <a:endParaRPr b="1" sz="3200">
              <a:latin typeface="Impact"/>
              <a:ea typeface="Impact"/>
              <a:cs typeface="Impact"/>
              <a:sym typeface="Impac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16" name="Shape 116"/>
        <p:cNvGrpSpPr/>
        <p:nvPr/>
      </p:nvGrpSpPr>
      <p:grpSpPr>
        <a:xfrm>
          <a:off x="0" y="0"/>
          <a:ext cx="0" cy="0"/>
          <a:chOff x="0" y="0"/>
          <a:chExt cx="0" cy="0"/>
        </a:xfrm>
      </p:grpSpPr>
      <p:sp>
        <p:nvSpPr>
          <p:cNvPr id="117" name="Google Shape;117;p19"/>
          <p:cNvSpPr/>
          <p:nvPr/>
        </p:nvSpPr>
        <p:spPr>
          <a:xfrm>
            <a:off x="-147220" y="-118879"/>
            <a:ext cx="2443556" cy="2278616"/>
          </a:xfrm>
          <a:custGeom>
            <a:rect b="b" l="l" r="r" t="t"/>
            <a:pathLst>
              <a:path extrusionOk="0" h="4557231" w="4887111">
                <a:moveTo>
                  <a:pt x="0" y="0"/>
                </a:moveTo>
                <a:lnTo>
                  <a:pt x="4887111" y="0"/>
                </a:lnTo>
                <a:lnTo>
                  <a:pt x="4887111" y="4557231"/>
                </a:lnTo>
                <a:lnTo>
                  <a:pt x="0" y="4557231"/>
                </a:lnTo>
                <a:lnTo>
                  <a:pt x="0" y="0"/>
                </a:lnTo>
                <a:close/>
              </a:path>
            </a:pathLst>
          </a:custGeom>
          <a:blipFill rotWithShape="1">
            <a:blip r:embed="rId3">
              <a:alphaModFix/>
            </a:blip>
            <a:stretch>
              <a:fillRect b="0" l="0" r="0" t="0"/>
            </a:stretch>
          </a:blipFill>
          <a:ln>
            <a:noFill/>
          </a:ln>
        </p:spPr>
      </p:sp>
      <p:sp>
        <p:nvSpPr>
          <p:cNvPr id="118" name="Google Shape;118;p19"/>
          <p:cNvSpPr/>
          <p:nvPr/>
        </p:nvSpPr>
        <p:spPr>
          <a:xfrm flipH="1" rot="10800000">
            <a:off x="7094050" y="2983763"/>
            <a:ext cx="2049950" cy="2159737"/>
          </a:xfrm>
          <a:custGeom>
            <a:rect b="b" l="l" r="r" t="t"/>
            <a:pathLst>
              <a:path extrusionOk="0" h="4319473" w="4099900">
                <a:moveTo>
                  <a:pt x="0" y="4319473"/>
                </a:moveTo>
                <a:lnTo>
                  <a:pt x="4099900" y="4319473"/>
                </a:lnTo>
                <a:lnTo>
                  <a:pt x="4099900" y="0"/>
                </a:lnTo>
                <a:lnTo>
                  <a:pt x="0" y="0"/>
                </a:lnTo>
                <a:lnTo>
                  <a:pt x="0" y="4319473"/>
                </a:lnTo>
                <a:close/>
              </a:path>
            </a:pathLst>
          </a:custGeom>
          <a:blipFill rotWithShape="1">
            <a:blip r:embed="rId4">
              <a:alphaModFix/>
            </a:blip>
            <a:stretch>
              <a:fillRect b="0" l="0" r="0" t="0"/>
            </a:stretch>
          </a:blipFill>
          <a:ln>
            <a:noFill/>
          </a:ln>
        </p:spPr>
      </p:sp>
      <p:sp>
        <p:nvSpPr>
          <p:cNvPr id="119" name="Google Shape;119;p19"/>
          <p:cNvSpPr txBox="1"/>
          <p:nvPr/>
        </p:nvSpPr>
        <p:spPr>
          <a:xfrm>
            <a:off x="-90321" y="4026138"/>
            <a:ext cx="6698100" cy="692700"/>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Clr>
                <a:srgbClr val="000000"/>
              </a:buClr>
              <a:buSzPts val="4500"/>
              <a:buFont typeface="Arial"/>
              <a:buNone/>
            </a:pPr>
            <a:r>
              <a:rPr b="1" i="0" lang="es" sz="4500" u="none" cap="none" strike="noStrike">
                <a:solidFill>
                  <a:srgbClr val="1E5A66"/>
                </a:solidFill>
                <a:latin typeface="Montserrat"/>
                <a:ea typeface="Montserrat"/>
                <a:cs typeface="Montserrat"/>
                <a:sym typeface="Montserrat"/>
              </a:rPr>
              <a:t>DE DESARROLLO</a:t>
            </a:r>
            <a:endParaRPr b="0" i="0" sz="700" u="none" cap="none" strike="noStrike">
              <a:solidFill>
                <a:srgbClr val="000000"/>
              </a:solidFill>
              <a:latin typeface="Arial"/>
              <a:ea typeface="Arial"/>
              <a:cs typeface="Arial"/>
              <a:sym typeface="Arial"/>
            </a:endParaRPr>
          </a:p>
        </p:txBody>
      </p:sp>
      <p:sp>
        <p:nvSpPr>
          <p:cNvPr id="120" name="Google Shape;120;p19"/>
          <p:cNvSpPr txBox="1"/>
          <p:nvPr/>
        </p:nvSpPr>
        <p:spPr>
          <a:xfrm>
            <a:off x="717553" y="2261791"/>
            <a:ext cx="6503700" cy="1662300"/>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Clr>
                <a:srgbClr val="000000"/>
              </a:buClr>
              <a:buSzPts val="4500"/>
              <a:buFont typeface="Arial"/>
              <a:buNone/>
            </a:pPr>
            <a:r>
              <a:rPr b="0" i="0" lang="es" sz="4500" u="none" cap="none" strike="noStrike">
                <a:solidFill>
                  <a:srgbClr val="000000"/>
                </a:solidFill>
                <a:latin typeface="Montserrat"/>
                <a:ea typeface="Montserrat"/>
                <a:cs typeface="Montserrat"/>
                <a:sym typeface="Montserrat"/>
              </a:rPr>
              <a:t>INTRODUCCIÓN A LAS METODOLOGÍAS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4753"/>
        </a:solidFill>
      </p:bgPr>
    </p:bg>
    <p:spTree>
      <p:nvGrpSpPr>
        <p:cNvPr id="124" name="Shape 124"/>
        <p:cNvGrpSpPr/>
        <p:nvPr/>
      </p:nvGrpSpPr>
      <p:grpSpPr>
        <a:xfrm>
          <a:off x="0" y="0"/>
          <a:ext cx="0" cy="0"/>
          <a:chOff x="0" y="0"/>
          <a:chExt cx="0" cy="0"/>
        </a:xfrm>
      </p:grpSpPr>
      <p:grpSp>
        <p:nvGrpSpPr>
          <p:cNvPr id="125" name="Google Shape;125;p20"/>
          <p:cNvGrpSpPr/>
          <p:nvPr/>
        </p:nvGrpSpPr>
        <p:grpSpPr>
          <a:xfrm>
            <a:off x="929524" y="777970"/>
            <a:ext cx="3642714" cy="760194"/>
            <a:chOff x="0" y="-38100"/>
            <a:chExt cx="2320200" cy="484200"/>
          </a:xfrm>
        </p:grpSpPr>
        <p:sp>
          <p:nvSpPr>
            <p:cNvPr id="126" name="Google Shape;126;p20"/>
            <p:cNvSpPr/>
            <p:nvPr/>
          </p:nvSpPr>
          <p:spPr>
            <a:xfrm>
              <a:off x="0" y="0"/>
              <a:ext cx="2320054" cy="445994"/>
            </a:xfrm>
            <a:custGeom>
              <a:rect b="b" l="l" r="r" t="t"/>
              <a:pathLst>
                <a:path extrusionOk="0" h="445994" w="2320054">
                  <a:moveTo>
                    <a:pt x="49948" y="0"/>
                  </a:moveTo>
                  <a:lnTo>
                    <a:pt x="2270106" y="0"/>
                  </a:lnTo>
                  <a:cubicBezTo>
                    <a:pt x="2297692" y="0"/>
                    <a:pt x="2320054" y="22363"/>
                    <a:pt x="2320054" y="49948"/>
                  </a:cubicBezTo>
                  <a:lnTo>
                    <a:pt x="2320054" y="396046"/>
                  </a:lnTo>
                  <a:cubicBezTo>
                    <a:pt x="2320054" y="409293"/>
                    <a:pt x="2314792" y="421998"/>
                    <a:pt x="2305425" y="431365"/>
                  </a:cubicBezTo>
                  <a:cubicBezTo>
                    <a:pt x="2296058" y="440732"/>
                    <a:pt x="2283353" y="445994"/>
                    <a:pt x="2270106" y="445994"/>
                  </a:cubicBezTo>
                  <a:lnTo>
                    <a:pt x="49948" y="445994"/>
                  </a:lnTo>
                  <a:cubicBezTo>
                    <a:pt x="36701" y="445994"/>
                    <a:pt x="23997" y="440732"/>
                    <a:pt x="14629" y="431365"/>
                  </a:cubicBezTo>
                  <a:cubicBezTo>
                    <a:pt x="5262" y="421998"/>
                    <a:pt x="0" y="409293"/>
                    <a:pt x="0" y="396046"/>
                  </a:cubicBezTo>
                  <a:lnTo>
                    <a:pt x="0" y="49948"/>
                  </a:lnTo>
                  <a:cubicBezTo>
                    <a:pt x="0" y="36701"/>
                    <a:pt x="5262" y="23997"/>
                    <a:pt x="14629" y="14629"/>
                  </a:cubicBezTo>
                  <a:cubicBezTo>
                    <a:pt x="23997" y="5262"/>
                    <a:pt x="36701" y="0"/>
                    <a:pt x="49948" y="0"/>
                  </a:cubicBezTo>
                  <a:close/>
                </a:path>
              </a:pathLst>
            </a:custGeom>
            <a:solidFill>
              <a:srgbClr val="F2F2F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27" name="Google Shape;127;p20"/>
            <p:cNvSpPr txBox="1"/>
            <p:nvPr/>
          </p:nvSpPr>
          <p:spPr>
            <a:xfrm>
              <a:off x="0" y="-38100"/>
              <a:ext cx="2320200" cy="484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28" name="Google Shape;128;p20"/>
          <p:cNvSpPr txBox="1"/>
          <p:nvPr/>
        </p:nvSpPr>
        <p:spPr>
          <a:xfrm>
            <a:off x="1060737" y="888556"/>
            <a:ext cx="3511200" cy="4773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Clr>
                <a:srgbClr val="000000"/>
              </a:buClr>
              <a:buSzPts val="3100"/>
              <a:buFont typeface="Arial"/>
              <a:buNone/>
            </a:pPr>
            <a:r>
              <a:rPr b="0" i="0" lang="es" sz="3100" u="none" cap="none" strike="noStrike">
                <a:solidFill>
                  <a:srgbClr val="000000"/>
                </a:solidFill>
                <a:latin typeface="Montserrat"/>
                <a:ea typeface="Montserrat"/>
                <a:cs typeface="Montserrat"/>
                <a:sym typeface="Montserrat"/>
              </a:rPr>
              <a:t>¿Qué son?</a:t>
            </a:r>
            <a:endParaRPr b="0" i="0" sz="700" u="none" cap="none" strike="noStrike">
              <a:solidFill>
                <a:srgbClr val="000000"/>
              </a:solidFill>
              <a:latin typeface="Arial"/>
              <a:ea typeface="Arial"/>
              <a:cs typeface="Arial"/>
              <a:sym typeface="Arial"/>
            </a:endParaRPr>
          </a:p>
        </p:txBody>
      </p:sp>
      <p:sp>
        <p:nvSpPr>
          <p:cNvPr id="129" name="Google Shape;129;p20"/>
          <p:cNvSpPr/>
          <p:nvPr/>
        </p:nvSpPr>
        <p:spPr>
          <a:xfrm rot="-2687853">
            <a:off x="575176" y="832008"/>
            <a:ext cx="712817" cy="715331"/>
          </a:xfrm>
          <a:custGeom>
            <a:rect b="b" l="l" r="r" t="t"/>
            <a:pathLst>
              <a:path extrusionOk="0" h="1424832" w="1424832">
                <a:moveTo>
                  <a:pt x="0" y="0"/>
                </a:moveTo>
                <a:lnTo>
                  <a:pt x="1424832" y="0"/>
                </a:lnTo>
                <a:lnTo>
                  <a:pt x="1424832" y="1424832"/>
                </a:lnTo>
                <a:lnTo>
                  <a:pt x="0" y="1424832"/>
                </a:lnTo>
                <a:lnTo>
                  <a:pt x="0" y="0"/>
                </a:lnTo>
                <a:close/>
              </a:path>
            </a:pathLst>
          </a:custGeom>
          <a:blipFill rotWithShape="1">
            <a:blip r:embed="rId3">
              <a:alphaModFix/>
            </a:blip>
            <a:stretch>
              <a:fillRect b="0" l="0" r="0" t="0"/>
            </a:stretch>
          </a:blipFill>
          <a:ln>
            <a:noFill/>
          </a:ln>
        </p:spPr>
      </p:sp>
      <p:grpSp>
        <p:nvGrpSpPr>
          <p:cNvPr id="130" name="Google Shape;130;p20"/>
          <p:cNvGrpSpPr/>
          <p:nvPr/>
        </p:nvGrpSpPr>
        <p:grpSpPr>
          <a:xfrm>
            <a:off x="-109772" y="4456610"/>
            <a:ext cx="1543101" cy="545629"/>
            <a:chOff x="0" y="-38100"/>
            <a:chExt cx="812800" cy="287400"/>
          </a:xfrm>
        </p:grpSpPr>
        <p:sp>
          <p:nvSpPr>
            <p:cNvPr id="131" name="Google Shape;131;p20"/>
            <p:cNvSpPr/>
            <p:nvPr/>
          </p:nvSpPr>
          <p:spPr>
            <a:xfrm>
              <a:off x="0" y="0"/>
              <a:ext cx="812800" cy="249287"/>
            </a:xfrm>
            <a:custGeom>
              <a:rect b="b" l="l" r="r" t="t"/>
              <a:pathLst>
                <a:path extrusionOk="0" h="249287" w="812800">
                  <a:moveTo>
                    <a:pt x="0" y="0"/>
                  </a:moveTo>
                  <a:lnTo>
                    <a:pt x="812800" y="0"/>
                  </a:lnTo>
                  <a:lnTo>
                    <a:pt x="812800" y="249287"/>
                  </a:lnTo>
                  <a:lnTo>
                    <a:pt x="0" y="249287"/>
                  </a:lnTo>
                  <a:close/>
                </a:path>
              </a:pathLst>
            </a:custGeom>
            <a:solidFill>
              <a:srgbClr val="3AB4B0"/>
            </a:solidFill>
            <a:ln>
              <a:noFill/>
            </a:ln>
          </p:spPr>
        </p:sp>
        <p:sp>
          <p:nvSpPr>
            <p:cNvPr id="132" name="Google Shape;132;p20"/>
            <p:cNvSpPr txBox="1"/>
            <p:nvPr/>
          </p:nvSpPr>
          <p:spPr>
            <a:xfrm>
              <a:off x="0" y="-38100"/>
              <a:ext cx="812700" cy="287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33" name="Google Shape;133;p20"/>
          <p:cNvSpPr/>
          <p:nvPr/>
        </p:nvSpPr>
        <p:spPr>
          <a:xfrm rot="-3721705">
            <a:off x="6360616" y="1772935"/>
            <a:ext cx="2669724" cy="2649701"/>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4">
              <a:alphaModFix/>
            </a:blip>
            <a:stretch>
              <a:fillRect b="0" l="0" r="0" t="0"/>
            </a:stretch>
          </a:blipFill>
          <a:ln>
            <a:noFill/>
          </a:ln>
        </p:spPr>
      </p:sp>
      <p:sp>
        <p:nvSpPr>
          <p:cNvPr id="134" name="Google Shape;134;p20"/>
          <p:cNvSpPr txBox="1"/>
          <p:nvPr/>
        </p:nvSpPr>
        <p:spPr>
          <a:xfrm>
            <a:off x="765739" y="1835874"/>
            <a:ext cx="4877100" cy="2336700"/>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Clr>
                <a:srgbClr val="000000"/>
              </a:buClr>
              <a:buSzPts val="1800"/>
              <a:buFont typeface="Arial"/>
              <a:buNone/>
            </a:pPr>
            <a:r>
              <a:rPr b="1" i="0" lang="es" sz="1700" u="none" cap="none" strike="noStrike">
                <a:solidFill>
                  <a:srgbClr val="FFFFFF"/>
                </a:solidFill>
                <a:latin typeface="Montserrat"/>
                <a:ea typeface="Montserrat"/>
                <a:cs typeface="Montserrat"/>
                <a:sym typeface="Montserrat"/>
              </a:rPr>
              <a:t>S</a:t>
            </a:r>
            <a:r>
              <a:rPr b="1" i="0" lang="es" sz="1600" u="none" cap="none" strike="noStrike">
                <a:solidFill>
                  <a:srgbClr val="FFFFFF"/>
                </a:solidFill>
                <a:latin typeface="Montserrat"/>
                <a:ea typeface="Montserrat"/>
                <a:cs typeface="Montserrat"/>
                <a:sym typeface="Montserrat"/>
              </a:rPr>
              <a:t>on  un conjunto de prácticas, técnicas y herramientas utilizadas por los equipos de desarrollo de software para planificar, diseñar, construir, probar y entregar software de alta calidad de manera eficiente y efectiva con el objetivo de trabajar en equipo de manera organizada.</a:t>
            </a:r>
            <a:endParaRPr b="0" i="0" sz="500" u="none" cap="none" strike="noStrike">
              <a:solidFill>
                <a:srgbClr val="000000"/>
              </a:solidFill>
              <a:latin typeface="Arial"/>
              <a:ea typeface="Arial"/>
              <a:cs typeface="Arial"/>
              <a:sym typeface="Arial"/>
            </a:endParaRPr>
          </a:p>
        </p:txBody>
      </p:sp>
      <p:sp>
        <p:nvSpPr>
          <p:cNvPr id="135" name="Google Shape;135;p20"/>
          <p:cNvSpPr/>
          <p:nvPr/>
        </p:nvSpPr>
        <p:spPr>
          <a:xfrm>
            <a:off x="8195093" y="0"/>
            <a:ext cx="948907" cy="999726"/>
          </a:xfrm>
          <a:custGeom>
            <a:rect b="b" l="l" r="r" t="t"/>
            <a:pathLst>
              <a:path extrusionOk="0" h="1999452" w="1897814">
                <a:moveTo>
                  <a:pt x="0" y="0"/>
                </a:moveTo>
                <a:lnTo>
                  <a:pt x="1897814" y="0"/>
                </a:lnTo>
                <a:lnTo>
                  <a:pt x="1897814" y="1999452"/>
                </a:lnTo>
                <a:lnTo>
                  <a:pt x="0" y="1999452"/>
                </a:lnTo>
                <a:lnTo>
                  <a:pt x="0" y="0"/>
                </a:lnTo>
                <a:close/>
              </a:path>
            </a:pathLst>
          </a:custGeom>
          <a:blipFill rotWithShape="1">
            <a:blip r:embed="rId5">
              <a:alphaModFix/>
            </a:blip>
            <a:stretch>
              <a:fillRect b="0" l="0" r="0" t="0"/>
            </a:stretch>
          </a:blipFill>
          <a:ln>
            <a:noFill/>
          </a:ln>
        </p:spPr>
      </p:sp>
      <p:sp>
        <p:nvSpPr>
          <p:cNvPr id="136" name="Google Shape;136;p20"/>
          <p:cNvSpPr/>
          <p:nvPr/>
        </p:nvSpPr>
        <p:spPr>
          <a:xfrm rot="-2687853">
            <a:off x="647745" y="904890"/>
            <a:ext cx="566836" cy="568835"/>
          </a:xfrm>
          <a:custGeom>
            <a:rect b="b" l="l" r="r" t="t"/>
            <a:pathLst>
              <a:path extrusionOk="0" h="1133035" w="1133035">
                <a:moveTo>
                  <a:pt x="0" y="0"/>
                </a:moveTo>
                <a:lnTo>
                  <a:pt x="1133034" y="0"/>
                </a:lnTo>
                <a:lnTo>
                  <a:pt x="1133034" y="1133035"/>
                </a:lnTo>
                <a:lnTo>
                  <a:pt x="0" y="1133035"/>
                </a:lnTo>
                <a:lnTo>
                  <a:pt x="0" y="0"/>
                </a:lnTo>
                <a:close/>
              </a:path>
            </a:pathLst>
          </a:custGeom>
          <a:blipFill rotWithShape="1">
            <a:blip r:embed="rId6">
              <a:alphaModFix/>
            </a:blip>
            <a:stretch>
              <a:fillRect b="0" l="0" r="0" t="0"/>
            </a:stretch>
          </a:blipFill>
          <a:ln>
            <a:noFill/>
          </a:ln>
        </p:spPr>
      </p:sp>
      <p:sp>
        <p:nvSpPr>
          <p:cNvPr id="137" name="Google Shape;137;p20"/>
          <p:cNvSpPr/>
          <p:nvPr/>
        </p:nvSpPr>
        <p:spPr>
          <a:xfrm>
            <a:off x="5965165" y="2204355"/>
            <a:ext cx="3183598" cy="2057400"/>
          </a:xfrm>
          <a:custGeom>
            <a:rect b="b" l="l" r="r" t="t"/>
            <a:pathLst>
              <a:path extrusionOk="0" h="4114800" w="6367195">
                <a:moveTo>
                  <a:pt x="0" y="0"/>
                </a:moveTo>
                <a:lnTo>
                  <a:pt x="6367195" y="0"/>
                </a:lnTo>
                <a:lnTo>
                  <a:pt x="6367195"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14753"/>
        </a:solidFill>
      </p:bgPr>
    </p:bg>
    <p:spTree>
      <p:nvGrpSpPr>
        <p:cNvPr id="141" name="Shape 141"/>
        <p:cNvGrpSpPr/>
        <p:nvPr/>
      </p:nvGrpSpPr>
      <p:grpSpPr>
        <a:xfrm>
          <a:off x="0" y="0"/>
          <a:ext cx="0" cy="0"/>
          <a:chOff x="0" y="0"/>
          <a:chExt cx="0" cy="0"/>
        </a:xfrm>
      </p:grpSpPr>
      <p:grpSp>
        <p:nvGrpSpPr>
          <p:cNvPr id="142" name="Google Shape;142;p21"/>
          <p:cNvGrpSpPr/>
          <p:nvPr/>
        </p:nvGrpSpPr>
        <p:grpSpPr>
          <a:xfrm>
            <a:off x="4166035" y="451536"/>
            <a:ext cx="3642714" cy="760194"/>
            <a:chOff x="0" y="-38100"/>
            <a:chExt cx="2320200" cy="484200"/>
          </a:xfrm>
        </p:grpSpPr>
        <p:sp>
          <p:nvSpPr>
            <p:cNvPr id="143" name="Google Shape;143;p21"/>
            <p:cNvSpPr/>
            <p:nvPr/>
          </p:nvSpPr>
          <p:spPr>
            <a:xfrm>
              <a:off x="0" y="0"/>
              <a:ext cx="2320054" cy="445994"/>
            </a:xfrm>
            <a:custGeom>
              <a:rect b="b" l="l" r="r" t="t"/>
              <a:pathLst>
                <a:path extrusionOk="0" h="445994" w="2320054">
                  <a:moveTo>
                    <a:pt x="49948" y="0"/>
                  </a:moveTo>
                  <a:lnTo>
                    <a:pt x="2270106" y="0"/>
                  </a:lnTo>
                  <a:cubicBezTo>
                    <a:pt x="2297692" y="0"/>
                    <a:pt x="2320054" y="22363"/>
                    <a:pt x="2320054" y="49948"/>
                  </a:cubicBezTo>
                  <a:lnTo>
                    <a:pt x="2320054" y="396046"/>
                  </a:lnTo>
                  <a:cubicBezTo>
                    <a:pt x="2320054" y="409293"/>
                    <a:pt x="2314792" y="421998"/>
                    <a:pt x="2305425" y="431365"/>
                  </a:cubicBezTo>
                  <a:cubicBezTo>
                    <a:pt x="2296058" y="440732"/>
                    <a:pt x="2283353" y="445994"/>
                    <a:pt x="2270106" y="445994"/>
                  </a:cubicBezTo>
                  <a:lnTo>
                    <a:pt x="49948" y="445994"/>
                  </a:lnTo>
                  <a:cubicBezTo>
                    <a:pt x="36701" y="445994"/>
                    <a:pt x="23997" y="440732"/>
                    <a:pt x="14629" y="431365"/>
                  </a:cubicBezTo>
                  <a:cubicBezTo>
                    <a:pt x="5262" y="421998"/>
                    <a:pt x="0" y="409293"/>
                    <a:pt x="0" y="396046"/>
                  </a:cubicBezTo>
                  <a:lnTo>
                    <a:pt x="0" y="49948"/>
                  </a:lnTo>
                  <a:cubicBezTo>
                    <a:pt x="0" y="36701"/>
                    <a:pt x="5262" y="23997"/>
                    <a:pt x="14629" y="14629"/>
                  </a:cubicBezTo>
                  <a:cubicBezTo>
                    <a:pt x="23997" y="5262"/>
                    <a:pt x="36701" y="0"/>
                    <a:pt x="49948" y="0"/>
                  </a:cubicBezTo>
                  <a:close/>
                </a:path>
              </a:pathLst>
            </a:custGeom>
            <a:solidFill>
              <a:srgbClr val="F2F2F2"/>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44" name="Google Shape;144;p21"/>
            <p:cNvSpPr txBox="1"/>
            <p:nvPr/>
          </p:nvSpPr>
          <p:spPr>
            <a:xfrm>
              <a:off x="0" y="-38100"/>
              <a:ext cx="2320200" cy="4842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45" name="Google Shape;145;p21"/>
          <p:cNvSpPr txBox="1"/>
          <p:nvPr/>
        </p:nvSpPr>
        <p:spPr>
          <a:xfrm>
            <a:off x="4297248" y="562123"/>
            <a:ext cx="3511200" cy="4773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Clr>
                <a:srgbClr val="000000"/>
              </a:buClr>
              <a:buSzPts val="3100"/>
              <a:buFont typeface="Arial"/>
              <a:buNone/>
            </a:pPr>
            <a:r>
              <a:rPr b="0" i="0" lang="es" sz="3100" u="none" cap="none" strike="noStrike">
                <a:solidFill>
                  <a:srgbClr val="000000"/>
                </a:solidFill>
                <a:latin typeface="Montserrat"/>
                <a:ea typeface="Montserrat"/>
                <a:cs typeface="Montserrat"/>
                <a:sym typeface="Montserrat"/>
              </a:rPr>
              <a:t>Objetivo</a:t>
            </a:r>
            <a:endParaRPr b="0" i="0" sz="700" u="none" cap="none" strike="noStrike">
              <a:solidFill>
                <a:srgbClr val="000000"/>
              </a:solidFill>
              <a:latin typeface="Arial"/>
              <a:ea typeface="Arial"/>
              <a:cs typeface="Arial"/>
              <a:sym typeface="Arial"/>
            </a:endParaRPr>
          </a:p>
        </p:txBody>
      </p:sp>
      <p:sp>
        <p:nvSpPr>
          <p:cNvPr id="146" name="Google Shape;146;p21"/>
          <p:cNvSpPr/>
          <p:nvPr/>
        </p:nvSpPr>
        <p:spPr>
          <a:xfrm rot="-2687853">
            <a:off x="7454164" y="505574"/>
            <a:ext cx="712817" cy="715331"/>
          </a:xfrm>
          <a:custGeom>
            <a:rect b="b" l="l" r="r" t="t"/>
            <a:pathLst>
              <a:path extrusionOk="0" h="1424832" w="1424832">
                <a:moveTo>
                  <a:pt x="0" y="0"/>
                </a:moveTo>
                <a:lnTo>
                  <a:pt x="1424832" y="0"/>
                </a:lnTo>
                <a:lnTo>
                  <a:pt x="1424832" y="1424832"/>
                </a:lnTo>
                <a:lnTo>
                  <a:pt x="0" y="1424832"/>
                </a:lnTo>
                <a:lnTo>
                  <a:pt x="0" y="0"/>
                </a:lnTo>
                <a:close/>
              </a:path>
            </a:pathLst>
          </a:custGeom>
          <a:blipFill rotWithShape="1">
            <a:blip r:embed="rId3">
              <a:alphaModFix/>
            </a:blip>
            <a:stretch>
              <a:fillRect b="0" l="0" r="0" t="0"/>
            </a:stretch>
          </a:blipFill>
          <a:ln>
            <a:noFill/>
          </a:ln>
        </p:spPr>
      </p:sp>
      <p:grpSp>
        <p:nvGrpSpPr>
          <p:cNvPr id="147" name="Google Shape;147;p21"/>
          <p:cNvGrpSpPr/>
          <p:nvPr/>
        </p:nvGrpSpPr>
        <p:grpSpPr>
          <a:xfrm>
            <a:off x="-109772" y="4456610"/>
            <a:ext cx="1543101" cy="545629"/>
            <a:chOff x="0" y="-38100"/>
            <a:chExt cx="812800" cy="287400"/>
          </a:xfrm>
        </p:grpSpPr>
        <p:sp>
          <p:nvSpPr>
            <p:cNvPr id="148" name="Google Shape;148;p21"/>
            <p:cNvSpPr/>
            <p:nvPr/>
          </p:nvSpPr>
          <p:spPr>
            <a:xfrm>
              <a:off x="0" y="0"/>
              <a:ext cx="812800" cy="249287"/>
            </a:xfrm>
            <a:custGeom>
              <a:rect b="b" l="l" r="r" t="t"/>
              <a:pathLst>
                <a:path extrusionOk="0" h="249287" w="812800">
                  <a:moveTo>
                    <a:pt x="0" y="0"/>
                  </a:moveTo>
                  <a:lnTo>
                    <a:pt x="812800" y="0"/>
                  </a:lnTo>
                  <a:lnTo>
                    <a:pt x="812800" y="249287"/>
                  </a:lnTo>
                  <a:lnTo>
                    <a:pt x="0" y="249287"/>
                  </a:lnTo>
                  <a:close/>
                </a:path>
              </a:pathLst>
            </a:custGeom>
            <a:solidFill>
              <a:srgbClr val="3AB4B0"/>
            </a:solidFill>
            <a:ln>
              <a:noFill/>
            </a:ln>
          </p:spPr>
        </p:sp>
        <p:sp>
          <p:nvSpPr>
            <p:cNvPr id="149" name="Google Shape;149;p21"/>
            <p:cNvSpPr txBox="1"/>
            <p:nvPr/>
          </p:nvSpPr>
          <p:spPr>
            <a:xfrm>
              <a:off x="0" y="-38100"/>
              <a:ext cx="812700" cy="287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50" name="Google Shape;150;p21"/>
          <p:cNvSpPr/>
          <p:nvPr/>
        </p:nvSpPr>
        <p:spPr>
          <a:xfrm rot="-3721705">
            <a:off x="176023" y="1649549"/>
            <a:ext cx="2669724" cy="2649701"/>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4">
              <a:alphaModFix/>
            </a:blip>
            <a:stretch>
              <a:fillRect b="0" l="0" r="0" t="0"/>
            </a:stretch>
          </a:blipFill>
          <a:ln>
            <a:noFill/>
          </a:ln>
        </p:spPr>
      </p:sp>
      <p:sp>
        <p:nvSpPr>
          <p:cNvPr id="151" name="Google Shape;151;p21"/>
          <p:cNvSpPr txBox="1"/>
          <p:nvPr/>
        </p:nvSpPr>
        <p:spPr>
          <a:xfrm>
            <a:off x="3296522" y="1876304"/>
            <a:ext cx="4877100" cy="2604600"/>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Clr>
                <a:srgbClr val="000000"/>
              </a:buClr>
              <a:buSzPts val="1800"/>
              <a:buFont typeface="Arial"/>
              <a:buNone/>
            </a:pPr>
            <a:r>
              <a:rPr b="1" i="0" lang="es" sz="1800" u="none" cap="none" strike="noStrike">
                <a:solidFill>
                  <a:srgbClr val="FFFFFF"/>
                </a:solidFill>
                <a:latin typeface="Montserrat"/>
                <a:ea typeface="Montserrat"/>
                <a:cs typeface="Montserrat"/>
                <a:sym typeface="Montserrat"/>
              </a:rPr>
              <a:t>Su objetivo principal es asegurar la eficiencia, consistencia y calidad del producto final, facilitando una gestión adecuada del tiempo, los recursos y los riesgos a lo largo de cada etapa del proyecto.</a:t>
            </a:r>
            <a:endParaRPr b="0" i="0" sz="700" u="none" cap="none" strike="noStrike">
              <a:solidFill>
                <a:srgbClr val="000000"/>
              </a:solidFill>
              <a:latin typeface="Arial"/>
              <a:ea typeface="Arial"/>
              <a:cs typeface="Arial"/>
              <a:sym typeface="Arial"/>
            </a:endParaRPr>
          </a:p>
          <a:p>
            <a:pPr indent="0" lvl="0" marL="0" marR="0" rtl="0" algn="just">
              <a:lnSpc>
                <a:spcPct val="140005"/>
              </a:lnSpc>
              <a:spcBef>
                <a:spcPts val="0"/>
              </a:spcBef>
              <a:spcAft>
                <a:spcPts val="0"/>
              </a:spcAft>
              <a:buClr>
                <a:srgbClr val="000000"/>
              </a:buClr>
              <a:buSzPts val="1800"/>
              <a:buFont typeface="Arial"/>
              <a:buNone/>
            </a:pPr>
            <a:r>
              <a:t/>
            </a:r>
            <a:endParaRPr b="1" i="0" sz="1800" u="none" cap="none" strike="noStrike">
              <a:solidFill>
                <a:srgbClr val="FFFFFF"/>
              </a:solidFill>
              <a:latin typeface="Montserrat"/>
              <a:ea typeface="Montserrat"/>
              <a:cs typeface="Montserrat"/>
              <a:sym typeface="Montserrat"/>
            </a:endParaRPr>
          </a:p>
        </p:txBody>
      </p:sp>
      <p:sp>
        <p:nvSpPr>
          <p:cNvPr id="152" name="Google Shape;152;p21"/>
          <p:cNvSpPr/>
          <p:nvPr/>
        </p:nvSpPr>
        <p:spPr>
          <a:xfrm>
            <a:off x="8195093" y="0"/>
            <a:ext cx="948907" cy="999726"/>
          </a:xfrm>
          <a:custGeom>
            <a:rect b="b" l="l" r="r" t="t"/>
            <a:pathLst>
              <a:path extrusionOk="0" h="1999452" w="1897814">
                <a:moveTo>
                  <a:pt x="0" y="0"/>
                </a:moveTo>
                <a:lnTo>
                  <a:pt x="1897814" y="0"/>
                </a:lnTo>
                <a:lnTo>
                  <a:pt x="1897814" y="1999452"/>
                </a:lnTo>
                <a:lnTo>
                  <a:pt x="0" y="1999452"/>
                </a:lnTo>
                <a:lnTo>
                  <a:pt x="0" y="0"/>
                </a:lnTo>
                <a:close/>
              </a:path>
            </a:pathLst>
          </a:custGeom>
          <a:blipFill rotWithShape="1">
            <a:blip r:embed="rId5">
              <a:alphaModFix/>
            </a:blip>
            <a:stretch>
              <a:fillRect b="0" l="0" r="0" t="0"/>
            </a:stretch>
          </a:blipFill>
          <a:ln>
            <a:noFill/>
          </a:ln>
        </p:spPr>
      </p:sp>
      <p:sp>
        <p:nvSpPr>
          <p:cNvPr id="153" name="Google Shape;153;p21"/>
          <p:cNvSpPr/>
          <p:nvPr/>
        </p:nvSpPr>
        <p:spPr>
          <a:xfrm rot="-2687853">
            <a:off x="7526732" y="578159"/>
            <a:ext cx="566836" cy="568835"/>
          </a:xfrm>
          <a:custGeom>
            <a:rect b="b" l="l" r="r" t="t"/>
            <a:pathLst>
              <a:path extrusionOk="0" h="1133035" w="1133035">
                <a:moveTo>
                  <a:pt x="0" y="0"/>
                </a:moveTo>
                <a:lnTo>
                  <a:pt x="1133035" y="0"/>
                </a:lnTo>
                <a:lnTo>
                  <a:pt x="1133035" y="1133035"/>
                </a:lnTo>
                <a:lnTo>
                  <a:pt x="0" y="1133035"/>
                </a:lnTo>
                <a:lnTo>
                  <a:pt x="0" y="0"/>
                </a:lnTo>
                <a:close/>
              </a:path>
            </a:pathLst>
          </a:custGeom>
          <a:blipFill rotWithShape="1">
            <a:blip r:embed="rId6">
              <a:alphaModFix/>
            </a:blip>
            <a:stretch>
              <a:fillRect b="0" l="0" r="0" t="0"/>
            </a:stretch>
          </a:blipFill>
          <a:ln>
            <a:noFill/>
          </a:ln>
        </p:spPr>
      </p:sp>
      <p:sp>
        <p:nvSpPr>
          <p:cNvPr id="154" name="Google Shape;154;p21"/>
          <p:cNvSpPr/>
          <p:nvPr/>
        </p:nvSpPr>
        <p:spPr>
          <a:xfrm>
            <a:off x="456013" y="1604808"/>
            <a:ext cx="1954530" cy="2057400"/>
          </a:xfrm>
          <a:custGeom>
            <a:rect b="b" l="l" r="r" t="t"/>
            <a:pathLst>
              <a:path extrusionOk="0" h="4114800" w="3909060">
                <a:moveTo>
                  <a:pt x="0" y="0"/>
                </a:moveTo>
                <a:lnTo>
                  <a:pt x="3909060" y="0"/>
                </a:lnTo>
                <a:lnTo>
                  <a:pt x="3909060"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58" name="Shape 158"/>
        <p:cNvGrpSpPr/>
        <p:nvPr/>
      </p:nvGrpSpPr>
      <p:grpSpPr>
        <a:xfrm>
          <a:off x="0" y="0"/>
          <a:ext cx="0" cy="0"/>
          <a:chOff x="0" y="0"/>
          <a:chExt cx="0" cy="0"/>
        </a:xfrm>
      </p:grpSpPr>
      <p:sp>
        <p:nvSpPr>
          <p:cNvPr id="159" name="Google Shape;159;p22"/>
          <p:cNvSpPr/>
          <p:nvPr/>
        </p:nvSpPr>
        <p:spPr>
          <a:xfrm rot="-1964114">
            <a:off x="8588739" y="-583054"/>
            <a:ext cx="2660502" cy="2647721"/>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160" name="Google Shape;160;p22"/>
          <p:cNvSpPr txBox="1"/>
          <p:nvPr/>
        </p:nvSpPr>
        <p:spPr>
          <a:xfrm>
            <a:off x="2113262" y="508755"/>
            <a:ext cx="6216000" cy="1145100"/>
          </a:xfrm>
          <a:prstGeom prst="rect">
            <a:avLst/>
          </a:prstGeom>
          <a:noFill/>
          <a:ln>
            <a:noFill/>
          </a:ln>
        </p:spPr>
        <p:txBody>
          <a:bodyPr anchorCtr="0" anchor="t" bIns="0" lIns="0" spcFirstLastPara="1" rIns="0" wrap="square" tIns="0">
            <a:spAutoFit/>
          </a:bodyPr>
          <a:lstStyle/>
          <a:p>
            <a:pPr indent="0" lvl="0" marL="0" marR="0" rtl="0" algn="r">
              <a:lnSpc>
                <a:spcPct val="140003"/>
              </a:lnSpc>
              <a:spcBef>
                <a:spcPts val="0"/>
              </a:spcBef>
              <a:spcAft>
                <a:spcPts val="0"/>
              </a:spcAft>
              <a:buClr>
                <a:srgbClr val="000000"/>
              </a:buClr>
              <a:buSzPts val="3100"/>
              <a:buFont typeface="Arial"/>
              <a:buNone/>
            </a:pPr>
            <a:r>
              <a:rPr b="0" i="0" lang="es" sz="3100" u="none" cap="none" strike="noStrike">
                <a:solidFill>
                  <a:srgbClr val="014753"/>
                </a:solidFill>
                <a:latin typeface="Montserrat"/>
                <a:ea typeface="Montserrat"/>
                <a:cs typeface="Montserrat"/>
                <a:sym typeface="Montserrat"/>
              </a:rPr>
              <a:t>Por qué usar una metodología de desarollo?</a:t>
            </a:r>
            <a:endParaRPr b="0" i="0" sz="700" u="none" cap="none" strike="noStrike">
              <a:solidFill>
                <a:srgbClr val="000000"/>
              </a:solidFill>
              <a:latin typeface="Arial"/>
              <a:ea typeface="Arial"/>
              <a:cs typeface="Arial"/>
              <a:sym typeface="Arial"/>
            </a:endParaRPr>
          </a:p>
        </p:txBody>
      </p:sp>
      <p:sp>
        <p:nvSpPr>
          <p:cNvPr id="161" name="Google Shape;161;p22"/>
          <p:cNvSpPr txBox="1"/>
          <p:nvPr/>
        </p:nvSpPr>
        <p:spPr>
          <a:xfrm>
            <a:off x="617065" y="1881278"/>
            <a:ext cx="6107400" cy="2632200"/>
          </a:xfrm>
          <a:prstGeom prst="rect">
            <a:avLst/>
          </a:prstGeom>
          <a:noFill/>
          <a:ln>
            <a:noFill/>
          </a:ln>
        </p:spPr>
        <p:txBody>
          <a:bodyPr anchorCtr="0" anchor="t" bIns="0" lIns="0" spcFirstLastPara="1" rIns="0" wrap="square" tIns="0">
            <a:spAutoFit/>
          </a:bodyPr>
          <a:lstStyle/>
          <a:p>
            <a:pPr indent="-196850" lvl="1" marL="406400" marR="0" rtl="0" algn="l">
              <a:lnSpc>
                <a:spcPct val="200000"/>
              </a:lnSpc>
              <a:spcBef>
                <a:spcPts val="0"/>
              </a:spcBef>
              <a:spcAft>
                <a:spcPts val="0"/>
              </a:spcAft>
              <a:buClr>
                <a:srgbClr val="000000"/>
              </a:buClr>
              <a:buSzPts val="1900"/>
              <a:buFont typeface="Arial"/>
              <a:buChar char="•"/>
            </a:pPr>
            <a:r>
              <a:rPr b="1" i="0" lang="es" sz="1900" u="none" cap="none" strike="noStrike">
                <a:solidFill>
                  <a:srgbClr val="000000"/>
                </a:solidFill>
                <a:latin typeface="Montserrat"/>
                <a:ea typeface="Montserrat"/>
                <a:cs typeface="Montserrat"/>
                <a:sym typeface="Montserrat"/>
              </a:rPr>
              <a:t>Para una mejor organización y estructura</a:t>
            </a:r>
            <a:endParaRPr b="1" i="0" sz="1900" u="none" cap="none" strike="noStrike">
              <a:solidFill>
                <a:srgbClr val="000000"/>
              </a:solidFill>
              <a:latin typeface="Montserrat"/>
              <a:ea typeface="Montserrat"/>
              <a:cs typeface="Montserrat"/>
              <a:sym typeface="Montserrat"/>
            </a:endParaRPr>
          </a:p>
          <a:p>
            <a:pPr indent="-196850" lvl="1" marL="406400" marR="0" rtl="0" algn="l">
              <a:lnSpc>
                <a:spcPct val="200000"/>
              </a:lnSpc>
              <a:spcBef>
                <a:spcPts val="0"/>
              </a:spcBef>
              <a:spcAft>
                <a:spcPts val="0"/>
              </a:spcAft>
              <a:buClr>
                <a:srgbClr val="000000"/>
              </a:buClr>
              <a:buSzPts val="1900"/>
              <a:buFont typeface="Arial"/>
              <a:buChar char="•"/>
            </a:pPr>
            <a:r>
              <a:rPr b="1" i="0" lang="es" sz="1900" u="none" cap="none" strike="noStrike">
                <a:solidFill>
                  <a:srgbClr val="000000"/>
                </a:solidFill>
                <a:latin typeface="Montserrat"/>
                <a:ea typeface="Montserrat"/>
                <a:cs typeface="Montserrat"/>
                <a:sym typeface="Montserrat"/>
              </a:rPr>
              <a:t>Mejorar la calidad del producto</a:t>
            </a:r>
            <a:endParaRPr b="1" i="0" sz="1900" u="none" cap="none" strike="noStrike">
              <a:solidFill>
                <a:srgbClr val="000000"/>
              </a:solidFill>
              <a:latin typeface="Montserrat"/>
              <a:ea typeface="Montserrat"/>
              <a:cs typeface="Montserrat"/>
              <a:sym typeface="Montserrat"/>
            </a:endParaRPr>
          </a:p>
          <a:p>
            <a:pPr indent="-196850" lvl="1" marL="406400" marR="0" rtl="0" algn="l">
              <a:lnSpc>
                <a:spcPct val="200000"/>
              </a:lnSpc>
              <a:spcBef>
                <a:spcPts val="0"/>
              </a:spcBef>
              <a:spcAft>
                <a:spcPts val="0"/>
              </a:spcAft>
              <a:buClr>
                <a:srgbClr val="000000"/>
              </a:buClr>
              <a:buSzPts val="1900"/>
              <a:buFont typeface="Arial"/>
              <a:buChar char="•"/>
            </a:pPr>
            <a:r>
              <a:rPr b="1" i="0" lang="es" sz="1900" u="none" cap="none" strike="noStrike">
                <a:solidFill>
                  <a:srgbClr val="000000"/>
                </a:solidFill>
                <a:latin typeface="Montserrat"/>
                <a:ea typeface="Montserrat"/>
                <a:cs typeface="Montserrat"/>
                <a:sym typeface="Montserrat"/>
              </a:rPr>
              <a:t>Gestión de riesgos</a:t>
            </a:r>
            <a:endParaRPr b="1" i="0" sz="1900" u="none" cap="none" strike="noStrike">
              <a:solidFill>
                <a:srgbClr val="000000"/>
              </a:solidFill>
              <a:latin typeface="Montserrat"/>
              <a:ea typeface="Montserrat"/>
              <a:cs typeface="Montserrat"/>
              <a:sym typeface="Montserrat"/>
            </a:endParaRPr>
          </a:p>
          <a:p>
            <a:pPr indent="-196850" lvl="1" marL="406400" marR="0" rtl="0" algn="l">
              <a:lnSpc>
                <a:spcPct val="200000"/>
              </a:lnSpc>
              <a:spcBef>
                <a:spcPts val="0"/>
              </a:spcBef>
              <a:spcAft>
                <a:spcPts val="0"/>
              </a:spcAft>
              <a:buClr>
                <a:srgbClr val="000000"/>
              </a:buClr>
              <a:buSzPts val="1900"/>
              <a:buFont typeface="Arial"/>
              <a:buChar char="•"/>
            </a:pPr>
            <a:r>
              <a:rPr b="1" i="0" lang="es" sz="1900" u="none" cap="none" strike="noStrike">
                <a:solidFill>
                  <a:srgbClr val="000000"/>
                </a:solidFill>
                <a:latin typeface="Montserrat"/>
                <a:ea typeface="Montserrat"/>
                <a:cs typeface="Montserrat"/>
                <a:sym typeface="Montserrat"/>
              </a:rPr>
              <a:t>Mejora la comunicación y colaboración</a:t>
            </a:r>
            <a:endParaRPr b="1" i="0" sz="1900" u="none" cap="none" strike="noStrike">
              <a:solidFill>
                <a:srgbClr val="000000"/>
              </a:solidFill>
              <a:latin typeface="Montserrat"/>
              <a:ea typeface="Montserrat"/>
              <a:cs typeface="Montserrat"/>
              <a:sym typeface="Montserrat"/>
            </a:endParaRPr>
          </a:p>
          <a:p>
            <a:pPr indent="-196850" lvl="1" marL="406400" marR="0" rtl="0" algn="l">
              <a:lnSpc>
                <a:spcPct val="200000"/>
              </a:lnSpc>
              <a:spcBef>
                <a:spcPts val="0"/>
              </a:spcBef>
              <a:spcAft>
                <a:spcPts val="0"/>
              </a:spcAft>
              <a:buClr>
                <a:srgbClr val="000000"/>
              </a:buClr>
              <a:buSzPts val="1900"/>
              <a:buFont typeface="Arial"/>
              <a:buChar char="•"/>
            </a:pPr>
            <a:r>
              <a:rPr b="1" i="0" lang="es" sz="1900" u="none" cap="none" strike="noStrike">
                <a:solidFill>
                  <a:srgbClr val="000000"/>
                </a:solidFill>
                <a:latin typeface="Montserrat"/>
                <a:ea typeface="Montserrat"/>
                <a:cs typeface="Montserrat"/>
                <a:sym typeface="Montserrat"/>
              </a:rPr>
              <a:t>Mejora la satisfacción del cliente</a:t>
            </a:r>
            <a:endParaRPr b="0" i="0" sz="700" u="none" cap="none" strike="noStrike">
              <a:solidFill>
                <a:srgbClr val="000000"/>
              </a:solidFill>
              <a:latin typeface="Arial"/>
              <a:ea typeface="Arial"/>
              <a:cs typeface="Arial"/>
              <a:sym typeface="Arial"/>
            </a:endParaRPr>
          </a:p>
        </p:txBody>
      </p:sp>
      <p:sp>
        <p:nvSpPr>
          <p:cNvPr id="162" name="Google Shape;162;p22"/>
          <p:cNvSpPr/>
          <p:nvPr/>
        </p:nvSpPr>
        <p:spPr>
          <a:xfrm flipH="1">
            <a:off x="0" y="0"/>
            <a:ext cx="948907" cy="999726"/>
          </a:xfrm>
          <a:custGeom>
            <a:rect b="b" l="l" r="r" t="t"/>
            <a:pathLst>
              <a:path extrusionOk="0" h="1999452" w="1897814">
                <a:moveTo>
                  <a:pt x="1897814" y="0"/>
                </a:moveTo>
                <a:lnTo>
                  <a:pt x="0" y="0"/>
                </a:lnTo>
                <a:lnTo>
                  <a:pt x="0" y="1999452"/>
                </a:lnTo>
                <a:lnTo>
                  <a:pt x="1897814" y="1999452"/>
                </a:lnTo>
                <a:lnTo>
                  <a:pt x="1897814" y="0"/>
                </a:lnTo>
                <a:close/>
              </a:path>
            </a:pathLst>
          </a:custGeom>
          <a:blipFill rotWithShape="1">
            <a:blip r:embed="rId4">
              <a:alphaModFix/>
            </a:blip>
            <a:stretch>
              <a:fillRect b="0" l="0" r="0" t="0"/>
            </a:stretch>
          </a:blipFill>
          <a:ln>
            <a:noFill/>
          </a:ln>
        </p:spPr>
      </p:sp>
      <p:grpSp>
        <p:nvGrpSpPr>
          <p:cNvPr id="163" name="Google Shape;163;p22"/>
          <p:cNvGrpSpPr/>
          <p:nvPr/>
        </p:nvGrpSpPr>
        <p:grpSpPr>
          <a:xfrm>
            <a:off x="8027812" y="4177098"/>
            <a:ext cx="791423" cy="791423"/>
            <a:chOff x="0" y="0"/>
            <a:chExt cx="812800" cy="812800"/>
          </a:xfrm>
        </p:grpSpPr>
        <p:sp>
          <p:nvSpPr>
            <p:cNvPr id="164" name="Google Shape;164;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753"/>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65" name="Google Shape;165;p22"/>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69" name="Shape 169"/>
        <p:cNvGrpSpPr/>
        <p:nvPr/>
      </p:nvGrpSpPr>
      <p:grpSpPr>
        <a:xfrm>
          <a:off x="0" y="0"/>
          <a:ext cx="0" cy="0"/>
          <a:chOff x="0" y="0"/>
          <a:chExt cx="0" cy="0"/>
        </a:xfrm>
      </p:grpSpPr>
      <p:sp>
        <p:nvSpPr>
          <p:cNvPr descr="3/4 circle loading symbol" id="170" name="Google Shape;170;p23"/>
          <p:cNvSpPr/>
          <p:nvPr/>
        </p:nvSpPr>
        <p:spPr>
          <a:xfrm rot="-1964114">
            <a:off x="8588739" y="-583054"/>
            <a:ext cx="2660502" cy="2647721"/>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grpSp>
        <p:nvGrpSpPr>
          <p:cNvPr id="171" name="Google Shape;171;p23"/>
          <p:cNvGrpSpPr/>
          <p:nvPr/>
        </p:nvGrpSpPr>
        <p:grpSpPr>
          <a:xfrm>
            <a:off x="8027812" y="4177098"/>
            <a:ext cx="791423" cy="791423"/>
            <a:chOff x="0" y="0"/>
            <a:chExt cx="812800" cy="812800"/>
          </a:xfrm>
        </p:grpSpPr>
        <p:sp>
          <p:nvSpPr>
            <p:cNvPr id="172" name="Google Shape;172;p2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753"/>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3" name="Google Shape;173;p23"/>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174" name="Google Shape;174;p23"/>
          <p:cNvGrpSpPr/>
          <p:nvPr/>
        </p:nvGrpSpPr>
        <p:grpSpPr>
          <a:xfrm rot="5400000">
            <a:off x="-580043" y="2100580"/>
            <a:ext cx="2362177" cy="695730"/>
            <a:chOff x="-2143" y="-3029"/>
            <a:chExt cx="6299137" cy="1855281"/>
          </a:xfrm>
        </p:grpSpPr>
        <p:sp>
          <p:nvSpPr>
            <p:cNvPr id="175" name="Google Shape;175;p23"/>
            <p:cNvSpPr/>
            <p:nvPr/>
          </p:nvSpPr>
          <p:spPr>
            <a:xfrm rot="10800000">
              <a:off x="-2143" y="-3029"/>
              <a:ext cx="1850488" cy="1851374"/>
            </a:xfrm>
            <a:custGeom>
              <a:rect b="b" l="l" r="r" t="t"/>
              <a:pathLst>
                <a:path extrusionOk="0" h="2654300" w="2653030">
                  <a:moveTo>
                    <a:pt x="0" y="1535430"/>
                  </a:moveTo>
                  <a:lnTo>
                    <a:pt x="0" y="1463040"/>
                  </a:lnTo>
                  <a:lnTo>
                    <a:pt x="1463040" y="0"/>
                  </a:lnTo>
                  <a:lnTo>
                    <a:pt x="1535430" y="0"/>
                  </a:lnTo>
                  <a:lnTo>
                    <a:pt x="0" y="1535430"/>
                  </a:lnTo>
                  <a:close/>
                  <a:moveTo>
                    <a:pt x="1681480" y="0"/>
                  </a:moveTo>
                  <a:lnTo>
                    <a:pt x="1609090" y="0"/>
                  </a:lnTo>
                  <a:lnTo>
                    <a:pt x="0" y="1607820"/>
                  </a:lnTo>
                  <a:lnTo>
                    <a:pt x="0" y="1680210"/>
                  </a:lnTo>
                  <a:lnTo>
                    <a:pt x="1681480" y="0"/>
                  </a:lnTo>
                  <a:close/>
                  <a:moveTo>
                    <a:pt x="1390650" y="0"/>
                  </a:moveTo>
                  <a:lnTo>
                    <a:pt x="1318260" y="0"/>
                  </a:lnTo>
                  <a:lnTo>
                    <a:pt x="0" y="1318260"/>
                  </a:lnTo>
                  <a:lnTo>
                    <a:pt x="0" y="1390650"/>
                  </a:lnTo>
                  <a:lnTo>
                    <a:pt x="1390650" y="0"/>
                  </a:lnTo>
                  <a:close/>
                  <a:moveTo>
                    <a:pt x="1245870" y="0"/>
                  </a:moveTo>
                  <a:lnTo>
                    <a:pt x="1173480" y="0"/>
                  </a:lnTo>
                  <a:lnTo>
                    <a:pt x="0" y="1173480"/>
                  </a:lnTo>
                  <a:lnTo>
                    <a:pt x="0" y="1245870"/>
                  </a:lnTo>
                  <a:lnTo>
                    <a:pt x="1245870" y="0"/>
                  </a:lnTo>
                  <a:close/>
                  <a:moveTo>
                    <a:pt x="1826260" y="0"/>
                  </a:moveTo>
                  <a:lnTo>
                    <a:pt x="1753870" y="0"/>
                  </a:lnTo>
                  <a:lnTo>
                    <a:pt x="0" y="1753870"/>
                  </a:lnTo>
                  <a:lnTo>
                    <a:pt x="0" y="1826260"/>
                  </a:lnTo>
                  <a:lnTo>
                    <a:pt x="1826260" y="0"/>
                  </a:lnTo>
                  <a:close/>
                  <a:moveTo>
                    <a:pt x="2260600" y="0"/>
                  </a:moveTo>
                  <a:lnTo>
                    <a:pt x="2188210" y="0"/>
                  </a:lnTo>
                  <a:lnTo>
                    <a:pt x="0" y="2188210"/>
                  </a:lnTo>
                  <a:lnTo>
                    <a:pt x="0" y="2260600"/>
                  </a:lnTo>
                  <a:lnTo>
                    <a:pt x="2260600" y="0"/>
                  </a:lnTo>
                  <a:close/>
                  <a:moveTo>
                    <a:pt x="2551430" y="0"/>
                  </a:moveTo>
                  <a:lnTo>
                    <a:pt x="2479040" y="0"/>
                  </a:lnTo>
                  <a:lnTo>
                    <a:pt x="0" y="2479040"/>
                  </a:lnTo>
                  <a:lnTo>
                    <a:pt x="0" y="2551430"/>
                  </a:lnTo>
                  <a:lnTo>
                    <a:pt x="2551430" y="0"/>
                  </a:lnTo>
                  <a:close/>
                  <a:moveTo>
                    <a:pt x="2405380" y="0"/>
                  </a:moveTo>
                  <a:lnTo>
                    <a:pt x="2332990" y="0"/>
                  </a:lnTo>
                  <a:lnTo>
                    <a:pt x="0" y="2332990"/>
                  </a:lnTo>
                  <a:lnTo>
                    <a:pt x="0" y="2405380"/>
                  </a:lnTo>
                  <a:lnTo>
                    <a:pt x="2405380" y="0"/>
                  </a:lnTo>
                  <a:close/>
                  <a:moveTo>
                    <a:pt x="2115820" y="0"/>
                  </a:moveTo>
                  <a:lnTo>
                    <a:pt x="2043430" y="0"/>
                  </a:lnTo>
                  <a:lnTo>
                    <a:pt x="0" y="2043430"/>
                  </a:lnTo>
                  <a:lnTo>
                    <a:pt x="0" y="2115820"/>
                  </a:lnTo>
                  <a:lnTo>
                    <a:pt x="2115820" y="0"/>
                  </a:lnTo>
                  <a:close/>
                  <a:moveTo>
                    <a:pt x="375920" y="0"/>
                  </a:moveTo>
                  <a:lnTo>
                    <a:pt x="303530" y="0"/>
                  </a:lnTo>
                  <a:lnTo>
                    <a:pt x="0" y="303530"/>
                  </a:lnTo>
                  <a:lnTo>
                    <a:pt x="0" y="375920"/>
                  </a:lnTo>
                  <a:lnTo>
                    <a:pt x="375920" y="0"/>
                  </a:lnTo>
                  <a:close/>
                  <a:moveTo>
                    <a:pt x="1101090" y="0"/>
                  </a:moveTo>
                  <a:lnTo>
                    <a:pt x="1028700" y="0"/>
                  </a:lnTo>
                  <a:lnTo>
                    <a:pt x="0" y="1028700"/>
                  </a:lnTo>
                  <a:lnTo>
                    <a:pt x="0" y="1101090"/>
                  </a:lnTo>
                  <a:lnTo>
                    <a:pt x="1101090" y="0"/>
                  </a:lnTo>
                  <a:close/>
                  <a:moveTo>
                    <a:pt x="2653030" y="0"/>
                  </a:moveTo>
                  <a:lnTo>
                    <a:pt x="2623820" y="0"/>
                  </a:lnTo>
                  <a:lnTo>
                    <a:pt x="0" y="2623820"/>
                  </a:lnTo>
                  <a:lnTo>
                    <a:pt x="0" y="2653030"/>
                  </a:lnTo>
                  <a:lnTo>
                    <a:pt x="43180" y="2653030"/>
                  </a:lnTo>
                  <a:lnTo>
                    <a:pt x="2653030" y="43180"/>
                  </a:lnTo>
                  <a:lnTo>
                    <a:pt x="2653030" y="0"/>
                  </a:lnTo>
                  <a:close/>
                  <a:moveTo>
                    <a:pt x="520700" y="0"/>
                  </a:moveTo>
                  <a:lnTo>
                    <a:pt x="448310" y="0"/>
                  </a:lnTo>
                  <a:lnTo>
                    <a:pt x="0" y="448310"/>
                  </a:lnTo>
                  <a:lnTo>
                    <a:pt x="0" y="520700"/>
                  </a:lnTo>
                  <a:lnTo>
                    <a:pt x="520700" y="0"/>
                  </a:lnTo>
                  <a:close/>
                  <a:moveTo>
                    <a:pt x="85090" y="0"/>
                  </a:moveTo>
                  <a:lnTo>
                    <a:pt x="12700" y="0"/>
                  </a:lnTo>
                  <a:lnTo>
                    <a:pt x="0" y="12700"/>
                  </a:lnTo>
                  <a:lnTo>
                    <a:pt x="0" y="85090"/>
                  </a:lnTo>
                  <a:lnTo>
                    <a:pt x="85090" y="0"/>
                  </a:lnTo>
                  <a:close/>
                  <a:moveTo>
                    <a:pt x="231140" y="0"/>
                  </a:moveTo>
                  <a:lnTo>
                    <a:pt x="158750" y="0"/>
                  </a:lnTo>
                  <a:lnTo>
                    <a:pt x="0" y="157480"/>
                  </a:lnTo>
                  <a:lnTo>
                    <a:pt x="0" y="229870"/>
                  </a:lnTo>
                  <a:lnTo>
                    <a:pt x="231140" y="0"/>
                  </a:lnTo>
                  <a:close/>
                  <a:moveTo>
                    <a:pt x="0" y="956310"/>
                  </a:moveTo>
                  <a:lnTo>
                    <a:pt x="956310" y="0"/>
                  </a:lnTo>
                  <a:lnTo>
                    <a:pt x="883920" y="0"/>
                  </a:lnTo>
                  <a:lnTo>
                    <a:pt x="0" y="882650"/>
                  </a:lnTo>
                  <a:lnTo>
                    <a:pt x="0" y="956310"/>
                  </a:lnTo>
                  <a:close/>
                  <a:moveTo>
                    <a:pt x="665480" y="0"/>
                  </a:moveTo>
                  <a:lnTo>
                    <a:pt x="593090" y="0"/>
                  </a:lnTo>
                  <a:lnTo>
                    <a:pt x="0" y="593090"/>
                  </a:lnTo>
                  <a:lnTo>
                    <a:pt x="0" y="665480"/>
                  </a:lnTo>
                  <a:lnTo>
                    <a:pt x="665480" y="0"/>
                  </a:lnTo>
                  <a:close/>
                  <a:moveTo>
                    <a:pt x="810260" y="0"/>
                  </a:moveTo>
                  <a:lnTo>
                    <a:pt x="737870" y="0"/>
                  </a:lnTo>
                  <a:lnTo>
                    <a:pt x="0" y="737870"/>
                  </a:lnTo>
                  <a:lnTo>
                    <a:pt x="0" y="810260"/>
                  </a:lnTo>
                  <a:lnTo>
                    <a:pt x="810260" y="0"/>
                  </a:lnTo>
                  <a:close/>
                  <a:moveTo>
                    <a:pt x="1971040" y="0"/>
                  </a:moveTo>
                  <a:lnTo>
                    <a:pt x="1898650" y="0"/>
                  </a:lnTo>
                  <a:lnTo>
                    <a:pt x="0" y="1898650"/>
                  </a:lnTo>
                  <a:lnTo>
                    <a:pt x="0" y="1971040"/>
                  </a:lnTo>
                  <a:lnTo>
                    <a:pt x="1971040" y="0"/>
                  </a:lnTo>
                  <a:close/>
                  <a:moveTo>
                    <a:pt x="2653030" y="1783080"/>
                  </a:moveTo>
                  <a:lnTo>
                    <a:pt x="2653030" y="1710690"/>
                  </a:lnTo>
                  <a:lnTo>
                    <a:pt x="1710690" y="2653030"/>
                  </a:lnTo>
                  <a:lnTo>
                    <a:pt x="1783080" y="2653030"/>
                  </a:lnTo>
                  <a:lnTo>
                    <a:pt x="2653030" y="1783080"/>
                  </a:lnTo>
                  <a:close/>
                  <a:moveTo>
                    <a:pt x="2653030" y="1927860"/>
                  </a:moveTo>
                  <a:lnTo>
                    <a:pt x="2653030" y="1855470"/>
                  </a:lnTo>
                  <a:lnTo>
                    <a:pt x="1855470" y="2653030"/>
                  </a:lnTo>
                  <a:lnTo>
                    <a:pt x="1927860" y="2653030"/>
                  </a:lnTo>
                  <a:lnTo>
                    <a:pt x="2653030" y="1927860"/>
                  </a:lnTo>
                  <a:close/>
                  <a:moveTo>
                    <a:pt x="2653030" y="2072640"/>
                  </a:moveTo>
                  <a:lnTo>
                    <a:pt x="2653030" y="2000250"/>
                  </a:lnTo>
                  <a:lnTo>
                    <a:pt x="2000250" y="2653030"/>
                  </a:lnTo>
                  <a:lnTo>
                    <a:pt x="2072640" y="2653030"/>
                  </a:lnTo>
                  <a:lnTo>
                    <a:pt x="2653030" y="2072640"/>
                  </a:lnTo>
                  <a:close/>
                  <a:moveTo>
                    <a:pt x="2653030" y="1638300"/>
                  </a:moveTo>
                  <a:lnTo>
                    <a:pt x="2653030" y="1565910"/>
                  </a:lnTo>
                  <a:lnTo>
                    <a:pt x="1564640" y="2654300"/>
                  </a:lnTo>
                  <a:lnTo>
                    <a:pt x="1637030" y="2654300"/>
                  </a:lnTo>
                  <a:lnTo>
                    <a:pt x="2653030" y="1638300"/>
                  </a:lnTo>
                  <a:close/>
                  <a:moveTo>
                    <a:pt x="2217420" y="2653030"/>
                  </a:moveTo>
                  <a:lnTo>
                    <a:pt x="2653030" y="2217420"/>
                  </a:lnTo>
                  <a:lnTo>
                    <a:pt x="2653030" y="2145030"/>
                  </a:lnTo>
                  <a:lnTo>
                    <a:pt x="2145030" y="2653030"/>
                  </a:lnTo>
                  <a:lnTo>
                    <a:pt x="2217420" y="2653030"/>
                  </a:lnTo>
                  <a:close/>
                  <a:moveTo>
                    <a:pt x="2653030" y="2580640"/>
                  </a:moveTo>
                  <a:lnTo>
                    <a:pt x="2580640" y="2653030"/>
                  </a:lnTo>
                  <a:lnTo>
                    <a:pt x="2653030" y="2653030"/>
                  </a:lnTo>
                  <a:lnTo>
                    <a:pt x="2653030" y="2580640"/>
                  </a:lnTo>
                  <a:close/>
                  <a:moveTo>
                    <a:pt x="2653030" y="2508250"/>
                  </a:moveTo>
                  <a:lnTo>
                    <a:pt x="2653030" y="2435860"/>
                  </a:lnTo>
                  <a:lnTo>
                    <a:pt x="2435860" y="2653030"/>
                  </a:lnTo>
                  <a:lnTo>
                    <a:pt x="2508250" y="2653030"/>
                  </a:lnTo>
                  <a:lnTo>
                    <a:pt x="2653030" y="2508250"/>
                  </a:lnTo>
                  <a:close/>
                  <a:moveTo>
                    <a:pt x="2653030" y="2363470"/>
                  </a:moveTo>
                  <a:lnTo>
                    <a:pt x="2653030" y="2291080"/>
                  </a:lnTo>
                  <a:lnTo>
                    <a:pt x="2291080" y="2653030"/>
                  </a:lnTo>
                  <a:lnTo>
                    <a:pt x="2363470" y="2653030"/>
                  </a:lnTo>
                  <a:lnTo>
                    <a:pt x="2653030" y="2363470"/>
                  </a:lnTo>
                  <a:close/>
                  <a:moveTo>
                    <a:pt x="2653030" y="1492250"/>
                  </a:moveTo>
                  <a:lnTo>
                    <a:pt x="2653030" y="1419860"/>
                  </a:lnTo>
                  <a:lnTo>
                    <a:pt x="1419860" y="2653030"/>
                  </a:lnTo>
                  <a:lnTo>
                    <a:pt x="1492250" y="2653030"/>
                  </a:lnTo>
                  <a:lnTo>
                    <a:pt x="2653030" y="1492250"/>
                  </a:lnTo>
                  <a:close/>
                  <a:moveTo>
                    <a:pt x="2653030" y="187960"/>
                  </a:moveTo>
                  <a:lnTo>
                    <a:pt x="2653030" y="115570"/>
                  </a:lnTo>
                  <a:lnTo>
                    <a:pt x="115570" y="2653030"/>
                  </a:lnTo>
                  <a:lnTo>
                    <a:pt x="187960" y="2653030"/>
                  </a:lnTo>
                  <a:lnTo>
                    <a:pt x="2653030" y="187960"/>
                  </a:lnTo>
                  <a:close/>
                  <a:moveTo>
                    <a:pt x="2653030" y="622300"/>
                  </a:moveTo>
                  <a:lnTo>
                    <a:pt x="2653030" y="549910"/>
                  </a:lnTo>
                  <a:lnTo>
                    <a:pt x="549910" y="2653030"/>
                  </a:lnTo>
                  <a:lnTo>
                    <a:pt x="622300" y="2653030"/>
                  </a:lnTo>
                  <a:lnTo>
                    <a:pt x="2653030" y="622300"/>
                  </a:lnTo>
                  <a:close/>
                  <a:moveTo>
                    <a:pt x="2653030" y="477520"/>
                  </a:moveTo>
                  <a:lnTo>
                    <a:pt x="2653030" y="405130"/>
                  </a:lnTo>
                  <a:lnTo>
                    <a:pt x="405130" y="2653030"/>
                  </a:lnTo>
                  <a:lnTo>
                    <a:pt x="477520" y="2653030"/>
                  </a:lnTo>
                  <a:lnTo>
                    <a:pt x="2653030" y="477520"/>
                  </a:lnTo>
                  <a:close/>
                  <a:moveTo>
                    <a:pt x="2653030" y="1347470"/>
                  </a:moveTo>
                  <a:lnTo>
                    <a:pt x="2653030" y="1275080"/>
                  </a:lnTo>
                  <a:lnTo>
                    <a:pt x="1275080" y="2653030"/>
                  </a:lnTo>
                  <a:lnTo>
                    <a:pt x="1347470" y="2653030"/>
                  </a:lnTo>
                  <a:lnTo>
                    <a:pt x="2653030" y="1347470"/>
                  </a:lnTo>
                  <a:close/>
                  <a:moveTo>
                    <a:pt x="2653030" y="767080"/>
                  </a:moveTo>
                  <a:lnTo>
                    <a:pt x="2653030" y="694690"/>
                  </a:lnTo>
                  <a:lnTo>
                    <a:pt x="694690" y="2653030"/>
                  </a:lnTo>
                  <a:lnTo>
                    <a:pt x="767080" y="2653030"/>
                  </a:lnTo>
                  <a:lnTo>
                    <a:pt x="2653030" y="767080"/>
                  </a:lnTo>
                  <a:close/>
                  <a:moveTo>
                    <a:pt x="2653030" y="332740"/>
                  </a:moveTo>
                  <a:lnTo>
                    <a:pt x="2653030" y="260350"/>
                  </a:lnTo>
                  <a:lnTo>
                    <a:pt x="260350" y="2653030"/>
                  </a:lnTo>
                  <a:lnTo>
                    <a:pt x="332740" y="2653030"/>
                  </a:lnTo>
                  <a:lnTo>
                    <a:pt x="2653030" y="332740"/>
                  </a:lnTo>
                  <a:close/>
                  <a:moveTo>
                    <a:pt x="2653030" y="1202690"/>
                  </a:moveTo>
                  <a:lnTo>
                    <a:pt x="2653030" y="1130300"/>
                  </a:lnTo>
                  <a:lnTo>
                    <a:pt x="1130300" y="2653030"/>
                  </a:lnTo>
                  <a:lnTo>
                    <a:pt x="1202690" y="2653030"/>
                  </a:lnTo>
                  <a:lnTo>
                    <a:pt x="2653030" y="1202690"/>
                  </a:lnTo>
                  <a:close/>
                  <a:moveTo>
                    <a:pt x="2653030" y="913130"/>
                  </a:moveTo>
                  <a:lnTo>
                    <a:pt x="2653030" y="840740"/>
                  </a:lnTo>
                  <a:lnTo>
                    <a:pt x="840740" y="2653030"/>
                  </a:lnTo>
                  <a:lnTo>
                    <a:pt x="913130" y="2653030"/>
                  </a:lnTo>
                  <a:lnTo>
                    <a:pt x="2653030" y="913130"/>
                  </a:lnTo>
                  <a:close/>
                  <a:moveTo>
                    <a:pt x="2653030" y="1057910"/>
                  </a:moveTo>
                  <a:lnTo>
                    <a:pt x="2653030" y="985520"/>
                  </a:lnTo>
                  <a:lnTo>
                    <a:pt x="985520" y="2653030"/>
                  </a:lnTo>
                  <a:lnTo>
                    <a:pt x="1057910" y="2653030"/>
                  </a:lnTo>
                  <a:lnTo>
                    <a:pt x="2653030" y="1057910"/>
                  </a:lnTo>
                  <a:close/>
                </a:path>
              </a:pathLst>
            </a:custGeom>
            <a:solidFill>
              <a:srgbClr val="014753"/>
            </a:solidFill>
            <a:ln>
              <a:noFill/>
            </a:ln>
          </p:spPr>
        </p:sp>
        <p:sp>
          <p:nvSpPr>
            <p:cNvPr id="176" name="Google Shape;176;p23"/>
            <p:cNvSpPr/>
            <p:nvPr/>
          </p:nvSpPr>
          <p:spPr>
            <a:xfrm rot="10800000">
              <a:off x="4448694" y="7845"/>
              <a:ext cx="1848300" cy="1840500"/>
            </a:xfrm>
            <a:prstGeom prst="rect">
              <a:avLst/>
            </a:prstGeom>
            <a:solidFill>
              <a:srgbClr val="014753"/>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177" name="Google Shape;177;p23"/>
            <p:cNvSpPr/>
            <p:nvPr/>
          </p:nvSpPr>
          <p:spPr>
            <a:xfrm rot="10800000">
              <a:off x="2223597" y="3180"/>
              <a:ext cx="1849072" cy="1849072"/>
            </a:xfrm>
            <a:custGeom>
              <a:rect b="b" l="l" r="r" t="t"/>
              <a:pathLst>
                <a:path extrusionOk="0"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014753"/>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sp>
        <p:nvSpPr>
          <p:cNvPr id="178" name="Google Shape;178;p23"/>
          <p:cNvSpPr txBox="1"/>
          <p:nvPr/>
        </p:nvSpPr>
        <p:spPr>
          <a:xfrm>
            <a:off x="1383745" y="274928"/>
            <a:ext cx="6778500" cy="12390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3800"/>
              <a:buFont typeface="Arial"/>
              <a:buNone/>
            </a:pPr>
            <a:r>
              <a:rPr b="0" i="0" lang="es" sz="3500" u="none" cap="none" strike="noStrike">
                <a:solidFill>
                  <a:srgbClr val="014753"/>
                </a:solidFill>
                <a:latin typeface="Montserrat"/>
                <a:ea typeface="Montserrat"/>
                <a:cs typeface="Montserrat"/>
                <a:sym typeface="Montserrat"/>
              </a:rPr>
              <a:t>Elementos Clave de una Metodología de Desarrollo</a:t>
            </a:r>
            <a:endParaRPr b="0" i="0" sz="400" u="none" cap="none" strike="noStrike">
              <a:solidFill>
                <a:srgbClr val="000000"/>
              </a:solidFill>
              <a:latin typeface="Arial"/>
              <a:ea typeface="Arial"/>
              <a:cs typeface="Arial"/>
              <a:sym typeface="Arial"/>
            </a:endParaRPr>
          </a:p>
        </p:txBody>
      </p:sp>
      <p:sp>
        <p:nvSpPr>
          <p:cNvPr id="179" name="Google Shape;179;p23"/>
          <p:cNvSpPr txBox="1"/>
          <p:nvPr/>
        </p:nvSpPr>
        <p:spPr>
          <a:xfrm>
            <a:off x="1383745" y="1838316"/>
            <a:ext cx="6778500" cy="2801700"/>
          </a:xfrm>
          <a:prstGeom prst="rect">
            <a:avLst/>
          </a:prstGeom>
          <a:noFill/>
          <a:ln>
            <a:noFill/>
          </a:ln>
        </p:spPr>
        <p:txBody>
          <a:bodyPr anchorCtr="0" anchor="t" bIns="0" lIns="0" spcFirstLastPara="1" rIns="0" wrap="square" tIns="0">
            <a:spAutoFit/>
          </a:bodyPr>
          <a:lstStyle/>
          <a:p>
            <a:pPr indent="-152400" lvl="1" marL="304800" marR="0" rtl="0" algn="l">
              <a:lnSpc>
                <a:spcPct val="150017"/>
              </a:lnSpc>
              <a:spcBef>
                <a:spcPts val="0"/>
              </a:spcBef>
              <a:spcAft>
                <a:spcPts val="0"/>
              </a:spcAft>
              <a:buClr>
                <a:srgbClr val="000000"/>
              </a:buClr>
              <a:buSzPts val="1400"/>
              <a:buFont typeface="Arial"/>
              <a:buChar char="•"/>
            </a:pPr>
            <a:r>
              <a:rPr b="1" i="0" lang="es" sz="1400" u="none" cap="none" strike="noStrike">
                <a:solidFill>
                  <a:srgbClr val="000000"/>
                </a:solidFill>
                <a:latin typeface="Montserrat"/>
                <a:ea typeface="Montserrat"/>
                <a:cs typeface="Montserrat"/>
                <a:sym typeface="Montserrat"/>
              </a:rPr>
              <a:t>Fases estructuradas: </a:t>
            </a:r>
            <a:r>
              <a:rPr i="0" lang="es" sz="1400" u="none" cap="none" strike="noStrike">
                <a:solidFill>
                  <a:srgbClr val="000000"/>
                </a:solidFill>
                <a:latin typeface="Montserrat"/>
                <a:ea typeface="Montserrat"/>
                <a:cs typeface="Montserrat"/>
                <a:sym typeface="Montserrat"/>
              </a:rPr>
              <a:t>la mayoría de metodologías dividen el proyecto en fases (análisis, diseño, desarrollo, pruebas, etc.), lo cual ayuda a organizar el flujo de trabajo.</a:t>
            </a:r>
            <a:endParaRPr b="0" i="0" sz="700" u="none" cap="none" strike="noStrike">
              <a:solidFill>
                <a:srgbClr val="000000"/>
              </a:solidFill>
              <a:latin typeface="Arial"/>
              <a:ea typeface="Arial"/>
              <a:cs typeface="Arial"/>
              <a:sym typeface="Arial"/>
            </a:endParaRPr>
          </a:p>
          <a:p>
            <a:pPr indent="0" lvl="0" marL="0" marR="0" rtl="0" algn="l">
              <a:lnSpc>
                <a:spcPct val="150017"/>
              </a:lnSpc>
              <a:spcBef>
                <a:spcPts val="0"/>
              </a:spcBef>
              <a:spcAft>
                <a:spcPts val="0"/>
              </a:spcAft>
              <a:buClr>
                <a:srgbClr val="000000"/>
              </a:buClr>
              <a:buSzPts val="1400"/>
              <a:buFont typeface="Arial"/>
              <a:buNone/>
            </a:pPr>
            <a:r>
              <a:t/>
            </a:r>
            <a:endParaRPr b="1" i="0" sz="1400" u="none" cap="none" strike="noStrike">
              <a:solidFill>
                <a:srgbClr val="000000"/>
              </a:solidFill>
              <a:latin typeface="Montserrat"/>
              <a:ea typeface="Montserrat"/>
              <a:cs typeface="Montserrat"/>
              <a:sym typeface="Montserrat"/>
            </a:endParaRPr>
          </a:p>
          <a:p>
            <a:pPr indent="-152400" lvl="1" marL="304800" marR="0" rtl="0" algn="l">
              <a:lnSpc>
                <a:spcPct val="150017"/>
              </a:lnSpc>
              <a:spcBef>
                <a:spcPts val="0"/>
              </a:spcBef>
              <a:spcAft>
                <a:spcPts val="0"/>
              </a:spcAft>
              <a:buClr>
                <a:srgbClr val="000000"/>
              </a:buClr>
              <a:buSzPts val="1400"/>
              <a:buFont typeface="Arial"/>
              <a:buChar char="•"/>
            </a:pPr>
            <a:r>
              <a:rPr b="1" i="0" lang="es" sz="1400" u="none" cap="none" strike="noStrike">
                <a:solidFill>
                  <a:srgbClr val="000000"/>
                </a:solidFill>
                <a:latin typeface="Montserrat"/>
                <a:ea typeface="Montserrat"/>
                <a:cs typeface="Montserrat"/>
                <a:sym typeface="Montserrat"/>
              </a:rPr>
              <a:t>Documentación: </a:t>
            </a:r>
            <a:r>
              <a:rPr i="0" lang="es" sz="1400" u="none" cap="none" strike="noStrike">
                <a:solidFill>
                  <a:srgbClr val="000000"/>
                </a:solidFill>
                <a:latin typeface="Montserrat"/>
                <a:ea typeface="Montserrat"/>
                <a:cs typeface="Montserrat"/>
                <a:sym typeface="Montserrat"/>
              </a:rPr>
              <a:t>el registro detallado de cada paso es fundamental para el control y mejora continua.</a:t>
            </a:r>
            <a:endParaRPr b="0" i="0" sz="700" u="none" cap="none" strike="noStrike">
              <a:solidFill>
                <a:srgbClr val="000000"/>
              </a:solidFill>
              <a:latin typeface="Arial"/>
              <a:ea typeface="Arial"/>
              <a:cs typeface="Arial"/>
              <a:sym typeface="Arial"/>
            </a:endParaRPr>
          </a:p>
          <a:p>
            <a:pPr indent="0" lvl="0" marL="0" marR="0" rtl="0" algn="l">
              <a:lnSpc>
                <a:spcPct val="150017"/>
              </a:lnSpc>
              <a:spcBef>
                <a:spcPts val="0"/>
              </a:spcBef>
              <a:spcAft>
                <a:spcPts val="0"/>
              </a:spcAft>
              <a:buClr>
                <a:srgbClr val="000000"/>
              </a:buClr>
              <a:buSzPts val="1400"/>
              <a:buFont typeface="Arial"/>
              <a:buNone/>
            </a:pPr>
            <a:r>
              <a:t/>
            </a:r>
            <a:endParaRPr b="1" i="0" sz="1400" u="none" cap="none" strike="noStrike">
              <a:solidFill>
                <a:srgbClr val="000000"/>
              </a:solidFill>
              <a:latin typeface="Montserrat"/>
              <a:ea typeface="Montserrat"/>
              <a:cs typeface="Montserrat"/>
              <a:sym typeface="Montserrat"/>
            </a:endParaRPr>
          </a:p>
          <a:p>
            <a:pPr indent="-152400" lvl="1" marL="304800" marR="0" rtl="0" algn="l">
              <a:lnSpc>
                <a:spcPct val="150017"/>
              </a:lnSpc>
              <a:spcBef>
                <a:spcPts val="0"/>
              </a:spcBef>
              <a:spcAft>
                <a:spcPts val="0"/>
              </a:spcAft>
              <a:buClr>
                <a:srgbClr val="000000"/>
              </a:buClr>
              <a:buSzPts val="1400"/>
              <a:buFont typeface="Arial"/>
              <a:buChar char="•"/>
            </a:pPr>
            <a:r>
              <a:rPr b="1" i="0" lang="es" sz="1400" u="none" cap="none" strike="noStrike">
                <a:solidFill>
                  <a:srgbClr val="000000"/>
                </a:solidFill>
                <a:latin typeface="Montserrat"/>
                <a:ea typeface="Montserrat"/>
                <a:cs typeface="Montserrat"/>
                <a:sym typeface="Montserrat"/>
              </a:rPr>
              <a:t>Retroalimentación y evaluación continua: </a:t>
            </a:r>
            <a:r>
              <a:rPr i="0" lang="es" sz="1400" u="none" cap="none" strike="noStrike">
                <a:solidFill>
                  <a:srgbClr val="000000"/>
                </a:solidFill>
                <a:latin typeface="Montserrat"/>
                <a:ea typeface="Montserrat"/>
                <a:cs typeface="Montserrat"/>
                <a:sym typeface="Montserrat"/>
              </a:rPr>
              <a:t>permiten identificar y corregir problemas de manera temprana.</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83" name="Shape 183"/>
        <p:cNvGrpSpPr/>
        <p:nvPr/>
      </p:nvGrpSpPr>
      <p:grpSpPr>
        <a:xfrm>
          <a:off x="0" y="0"/>
          <a:ext cx="0" cy="0"/>
          <a:chOff x="0" y="0"/>
          <a:chExt cx="0" cy="0"/>
        </a:xfrm>
      </p:grpSpPr>
      <p:sp>
        <p:nvSpPr>
          <p:cNvPr id="184" name="Google Shape;184;p24"/>
          <p:cNvSpPr/>
          <p:nvPr/>
        </p:nvSpPr>
        <p:spPr>
          <a:xfrm rot="10800000">
            <a:off x="0" y="3232978"/>
            <a:ext cx="1813404" cy="1910522"/>
          </a:xfrm>
          <a:custGeom>
            <a:rect b="b" l="l" r="r" t="t"/>
            <a:pathLst>
              <a:path extrusionOk="0" h="3821044" w="3626807">
                <a:moveTo>
                  <a:pt x="3626807" y="3821044"/>
                </a:moveTo>
                <a:lnTo>
                  <a:pt x="0" y="3821044"/>
                </a:lnTo>
                <a:lnTo>
                  <a:pt x="0" y="0"/>
                </a:lnTo>
                <a:lnTo>
                  <a:pt x="3626807" y="0"/>
                </a:lnTo>
                <a:lnTo>
                  <a:pt x="3626807" y="3821044"/>
                </a:lnTo>
                <a:close/>
              </a:path>
            </a:pathLst>
          </a:custGeom>
          <a:blipFill rotWithShape="1">
            <a:blip r:embed="rId3">
              <a:alphaModFix/>
            </a:blip>
            <a:stretch>
              <a:fillRect b="0" l="0" r="0" t="0"/>
            </a:stretch>
          </a:blipFill>
          <a:ln>
            <a:noFill/>
          </a:ln>
        </p:spPr>
      </p:sp>
      <p:sp>
        <p:nvSpPr>
          <p:cNvPr id="185" name="Google Shape;185;p24"/>
          <p:cNvSpPr txBox="1"/>
          <p:nvPr/>
        </p:nvSpPr>
        <p:spPr>
          <a:xfrm>
            <a:off x="1571015" y="1573949"/>
            <a:ext cx="6021000" cy="1994700"/>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Clr>
                <a:srgbClr val="000000"/>
              </a:buClr>
              <a:buSzPts val="5400"/>
              <a:buFont typeface="Arial"/>
              <a:buNone/>
            </a:pPr>
            <a:r>
              <a:rPr b="1" i="0" lang="es" sz="5400" u="none" cap="none" strike="noStrike">
                <a:solidFill>
                  <a:srgbClr val="1E5A66"/>
                </a:solidFill>
                <a:latin typeface="Montserrat"/>
                <a:ea typeface="Montserrat"/>
                <a:cs typeface="Montserrat"/>
                <a:sym typeface="Montserrat"/>
              </a:rPr>
              <a:t>METODOLOGÍAS </a:t>
            </a:r>
            <a:endParaRPr b="0" i="0" sz="700" u="none" cap="none" strike="noStrike">
              <a:solidFill>
                <a:srgbClr val="000000"/>
              </a:solidFill>
              <a:latin typeface="Arial"/>
              <a:ea typeface="Arial"/>
              <a:cs typeface="Arial"/>
              <a:sym typeface="Arial"/>
            </a:endParaRPr>
          </a:p>
          <a:p>
            <a:pPr indent="0" lvl="0" marL="0" marR="0" rtl="0" algn="ctr">
              <a:lnSpc>
                <a:spcPct val="139996"/>
              </a:lnSpc>
              <a:spcBef>
                <a:spcPts val="0"/>
              </a:spcBef>
              <a:spcAft>
                <a:spcPts val="0"/>
              </a:spcAft>
              <a:buClr>
                <a:srgbClr val="000000"/>
              </a:buClr>
              <a:buSzPts val="5400"/>
              <a:buFont typeface="Arial"/>
              <a:buNone/>
            </a:pPr>
            <a:r>
              <a:rPr b="1" i="0" lang="es" sz="5400" u="none" cap="none" strike="noStrike">
                <a:solidFill>
                  <a:srgbClr val="1E5A66"/>
                </a:solidFill>
                <a:latin typeface="Montserrat"/>
                <a:ea typeface="Montserrat"/>
                <a:cs typeface="Montserrat"/>
                <a:sym typeface="Montserrat"/>
              </a:rPr>
              <a:t>CLÁSICAS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89" name="Shape 189"/>
        <p:cNvGrpSpPr/>
        <p:nvPr/>
      </p:nvGrpSpPr>
      <p:grpSpPr>
        <a:xfrm>
          <a:off x="0" y="0"/>
          <a:ext cx="0" cy="0"/>
          <a:chOff x="0" y="0"/>
          <a:chExt cx="0" cy="0"/>
        </a:xfrm>
      </p:grpSpPr>
      <p:sp>
        <p:nvSpPr>
          <p:cNvPr id="190" name="Google Shape;190;p25"/>
          <p:cNvSpPr/>
          <p:nvPr/>
        </p:nvSpPr>
        <p:spPr>
          <a:xfrm>
            <a:off x="7330597" y="0"/>
            <a:ext cx="1813404" cy="1910522"/>
          </a:xfrm>
          <a:custGeom>
            <a:rect b="b" l="l" r="r" t="t"/>
            <a:pathLst>
              <a:path extrusionOk="0" h="3821044" w="3626807">
                <a:moveTo>
                  <a:pt x="0" y="0"/>
                </a:moveTo>
                <a:lnTo>
                  <a:pt x="3626807" y="0"/>
                </a:lnTo>
                <a:lnTo>
                  <a:pt x="3626807" y="3821044"/>
                </a:lnTo>
                <a:lnTo>
                  <a:pt x="0" y="3821044"/>
                </a:lnTo>
                <a:lnTo>
                  <a:pt x="0" y="0"/>
                </a:lnTo>
                <a:close/>
              </a:path>
            </a:pathLst>
          </a:custGeom>
          <a:blipFill rotWithShape="1">
            <a:blip r:embed="rId3">
              <a:alphaModFix/>
            </a:blip>
            <a:stretch>
              <a:fillRect b="0" l="0" r="0" t="0"/>
            </a:stretch>
          </a:blipFill>
          <a:ln>
            <a:noFill/>
          </a:ln>
        </p:spPr>
      </p:sp>
      <p:grpSp>
        <p:nvGrpSpPr>
          <p:cNvPr id="191" name="Google Shape;191;p25"/>
          <p:cNvGrpSpPr/>
          <p:nvPr/>
        </p:nvGrpSpPr>
        <p:grpSpPr>
          <a:xfrm>
            <a:off x="8372475" y="4299642"/>
            <a:ext cx="1543101" cy="510317"/>
            <a:chOff x="0" y="-38100"/>
            <a:chExt cx="812800" cy="268800"/>
          </a:xfrm>
        </p:grpSpPr>
        <p:sp>
          <p:nvSpPr>
            <p:cNvPr id="192" name="Google Shape;192;p25"/>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0CA6A2"/>
            </a:solidFill>
            <a:ln>
              <a:noFill/>
            </a:ln>
          </p:spPr>
        </p:sp>
        <p:sp>
          <p:nvSpPr>
            <p:cNvPr id="193" name="Google Shape;193;p25"/>
            <p:cNvSpPr txBox="1"/>
            <p:nvPr/>
          </p:nvSpPr>
          <p:spPr>
            <a:xfrm>
              <a:off x="0" y="-38100"/>
              <a:ext cx="812700" cy="268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194" name="Google Shape;194;p25"/>
          <p:cNvSpPr/>
          <p:nvPr/>
        </p:nvSpPr>
        <p:spPr>
          <a:xfrm>
            <a:off x="6383482" y="1434085"/>
            <a:ext cx="2760518" cy="2753617"/>
          </a:xfrm>
          <a:custGeom>
            <a:rect b="b" l="l" r="r" t="t"/>
            <a:pathLst>
              <a:path extrusionOk="0" h="5507233" w="5521036">
                <a:moveTo>
                  <a:pt x="0" y="0"/>
                </a:moveTo>
                <a:lnTo>
                  <a:pt x="5521036" y="0"/>
                </a:lnTo>
                <a:lnTo>
                  <a:pt x="5521036" y="5507233"/>
                </a:lnTo>
                <a:lnTo>
                  <a:pt x="0" y="5507233"/>
                </a:lnTo>
                <a:lnTo>
                  <a:pt x="0" y="0"/>
                </a:lnTo>
                <a:close/>
              </a:path>
            </a:pathLst>
          </a:custGeom>
          <a:blipFill rotWithShape="1">
            <a:blip r:embed="rId4">
              <a:alphaModFix/>
            </a:blip>
            <a:stretch>
              <a:fillRect b="0" l="0" r="0" t="0"/>
            </a:stretch>
          </a:blipFill>
          <a:ln>
            <a:noFill/>
          </a:ln>
        </p:spPr>
      </p:sp>
      <p:sp>
        <p:nvSpPr>
          <p:cNvPr id="195" name="Google Shape;195;p25"/>
          <p:cNvSpPr txBox="1"/>
          <p:nvPr/>
        </p:nvSpPr>
        <p:spPr>
          <a:xfrm>
            <a:off x="498075" y="782400"/>
            <a:ext cx="5511900" cy="4038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800"/>
              <a:buFont typeface="Arial"/>
              <a:buNone/>
            </a:pPr>
            <a:r>
              <a:rPr b="0" i="0" lang="es" sz="1600" u="none" cap="none" strike="noStrike">
                <a:solidFill>
                  <a:srgbClr val="000000"/>
                </a:solidFill>
                <a:latin typeface="Montserrat"/>
                <a:ea typeface="Montserrat"/>
                <a:cs typeface="Montserrat"/>
                <a:sym typeface="Montserrat"/>
              </a:rPr>
              <a:t>Se caracterizan por definir total y rígidamente los requisitos al inicio de los proyectos, los ciclos de desarrollo son poco flexibles y no permiten realizar cambios</a:t>
            </a:r>
            <a:endParaRPr b="0" i="0" sz="16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800"/>
              <a:buFont typeface="Arial"/>
              <a:buNone/>
            </a:pPr>
            <a:r>
              <a:t/>
            </a:r>
            <a:endParaRPr b="0" i="0" sz="1600" u="none" cap="none" strike="noStrike">
              <a:solidFill>
                <a:srgbClr val="000000"/>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1800"/>
              <a:buFont typeface="Arial"/>
              <a:buNone/>
            </a:pPr>
            <a:r>
              <a:rPr b="0" i="0" lang="es" sz="1600" u="none" cap="none" strike="noStrike">
                <a:solidFill>
                  <a:srgbClr val="000000"/>
                </a:solidFill>
                <a:latin typeface="Montserrat"/>
                <a:ea typeface="Montserrat"/>
                <a:cs typeface="Montserrat"/>
                <a:sym typeface="Montserrat"/>
              </a:rPr>
              <a:t>La organización del trabajo es lineal, es decir, las etapas se suceden una tras otra y no se puede empezar la siguiente sin terminar la anterior. Tampoco se puede volver hacia atrás una vez se ha cambiado de etapa. Estas metodologías, no se adaptan nada bien a los cambios, y el mundo actual cambia constantemente.</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99" name="Shape 199"/>
        <p:cNvGrpSpPr/>
        <p:nvPr/>
      </p:nvGrpSpPr>
      <p:grpSpPr>
        <a:xfrm>
          <a:off x="0" y="0"/>
          <a:ext cx="0" cy="0"/>
          <a:chOff x="0" y="0"/>
          <a:chExt cx="0" cy="0"/>
        </a:xfrm>
      </p:grpSpPr>
      <p:sp>
        <p:nvSpPr>
          <p:cNvPr descr="Rounded Square Shape" id="200" name="Google Shape;200;p26"/>
          <p:cNvSpPr/>
          <p:nvPr/>
        </p:nvSpPr>
        <p:spPr>
          <a:xfrm rot="-2687853">
            <a:off x="7862427" y="771924"/>
            <a:ext cx="712817" cy="715331"/>
          </a:xfrm>
          <a:custGeom>
            <a:rect b="b" l="l" r="r" t="t"/>
            <a:pathLst>
              <a:path extrusionOk="0" h="1424832" w="1424832">
                <a:moveTo>
                  <a:pt x="0" y="0"/>
                </a:moveTo>
                <a:lnTo>
                  <a:pt x="1424832" y="0"/>
                </a:lnTo>
                <a:lnTo>
                  <a:pt x="1424832" y="1424832"/>
                </a:lnTo>
                <a:lnTo>
                  <a:pt x="0" y="1424832"/>
                </a:lnTo>
                <a:lnTo>
                  <a:pt x="0" y="0"/>
                </a:lnTo>
                <a:close/>
              </a:path>
            </a:pathLst>
          </a:custGeom>
          <a:blipFill rotWithShape="1">
            <a:blip r:embed="rId3">
              <a:alphaModFix/>
            </a:blip>
            <a:stretch>
              <a:fillRect b="0" l="0" r="0" t="0"/>
            </a:stretch>
          </a:blipFill>
          <a:ln>
            <a:noFill/>
          </a:ln>
        </p:spPr>
      </p:sp>
      <p:sp>
        <p:nvSpPr>
          <p:cNvPr descr="Rounded Square Shape" id="201" name="Google Shape;201;p26"/>
          <p:cNvSpPr/>
          <p:nvPr/>
        </p:nvSpPr>
        <p:spPr>
          <a:xfrm rot="-2687853">
            <a:off x="7934996" y="846224"/>
            <a:ext cx="566836" cy="568835"/>
          </a:xfrm>
          <a:custGeom>
            <a:rect b="b" l="l" r="r" t="t"/>
            <a:pathLst>
              <a:path extrusionOk="0" h="1133035" w="1133035">
                <a:moveTo>
                  <a:pt x="0" y="0"/>
                </a:moveTo>
                <a:lnTo>
                  <a:pt x="1133035" y="0"/>
                </a:lnTo>
                <a:lnTo>
                  <a:pt x="1133035" y="1133035"/>
                </a:lnTo>
                <a:lnTo>
                  <a:pt x="0" y="1133035"/>
                </a:lnTo>
                <a:lnTo>
                  <a:pt x="0" y="0"/>
                </a:lnTo>
                <a:close/>
              </a:path>
            </a:pathLst>
          </a:custGeom>
          <a:blipFill rotWithShape="1">
            <a:blip r:embed="rId4">
              <a:alphaModFix/>
            </a:blip>
            <a:stretch>
              <a:fillRect b="0" l="0" r="0" t="0"/>
            </a:stretch>
          </a:blipFill>
          <a:ln>
            <a:noFill/>
          </a:ln>
        </p:spPr>
      </p:sp>
      <p:grpSp>
        <p:nvGrpSpPr>
          <p:cNvPr id="202" name="Google Shape;202;p26"/>
          <p:cNvGrpSpPr/>
          <p:nvPr/>
        </p:nvGrpSpPr>
        <p:grpSpPr>
          <a:xfrm>
            <a:off x="8372475" y="4299642"/>
            <a:ext cx="1543101" cy="510317"/>
            <a:chOff x="0" y="-38100"/>
            <a:chExt cx="812800" cy="268800"/>
          </a:xfrm>
        </p:grpSpPr>
        <p:sp>
          <p:nvSpPr>
            <p:cNvPr id="203" name="Google Shape;203;p26"/>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0CA6A2"/>
            </a:solidFill>
            <a:ln>
              <a:noFill/>
            </a:ln>
          </p:spPr>
        </p:sp>
        <p:sp>
          <p:nvSpPr>
            <p:cNvPr id="204" name="Google Shape;204;p26"/>
            <p:cNvSpPr txBox="1"/>
            <p:nvPr/>
          </p:nvSpPr>
          <p:spPr>
            <a:xfrm>
              <a:off x="0" y="-38100"/>
              <a:ext cx="812700" cy="268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205" name="Google Shape;205;p26"/>
          <p:cNvGrpSpPr/>
          <p:nvPr/>
        </p:nvGrpSpPr>
        <p:grpSpPr>
          <a:xfrm>
            <a:off x="6214926" y="2206522"/>
            <a:ext cx="650436" cy="178083"/>
            <a:chOff x="0" y="-9525"/>
            <a:chExt cx="769200" cy="210600"/>
          </a:xfrm>
        </p:grpSpPr>
        <p:sp>
          <p:nvSpPr>
            <p:cNvPr id="206" name="Google Shape;206;p26"/>
            <p:cNvSpPr/>
            <p:nvPr/>
          </p:nvSpPr>
          <p:spPr>
            <a:xfrm>
              <a:off x="0" y="0"/>
              <a:ext cx="769101" cy="201011"/>
            </a:xfrm>
            <a:custGeom>
              <a:rect b="b" l="l" r="r" t="t"/>
              <a:pathLst>
                <a:path extrusionOk="0" h="201011" w="769101">
                  <a:moveTo>
                    <a:pt x="0" y="0"/>
                  </a:moveTo>
                  <a:lnTo>
                    <a:pt x="769101" y="0"/>
                  </a:lnTo>
                  <a:lnTo>
                    <a:pt x="769101" y="201011"/>
                  </a:lnTo>
                  <a:lnTo>
                    <a:pt x="0" y="201011"/>
                  </a:lnTo>
                  <a:close/>
                </a:path>
              </a:pathLst>
            </a:custGeom>
            <a:solidFill>
              <a:srgbClr val="1E5A66"/>
            </a:solidFill>
            <a:ln>
              <a:noFill/>
            </a:ln>
          </p:spPr>
        </p:sp>
        <p:sp>
          <p:nvSpPr>
            <p:cNvPr id="207" name="Google Shape;207;p26"/>
            <p:cNvSpPr txBox="1"/>
            <p:nvPr/>
          </p:nvSpPr>
          <p:spPr>
            <a:xfrm>
              <a:off x="0" y="-9525"/>
              <a:ext cx="769200" cy="210600"/>
            </a:xfrm>
            <a:prstGeom prst="rect">
              <a:avLst/>
            </a:prstGeom>
            <a:noFill/>
            <a:ln>
              <a:noFill/>
            </a:ln>
          </p:spPr>
          <p:txBody>
            <a:bodyPr anchorCtr="0" anchor="ctr" bIns="11325" lIns="11325" spcFirstLastPara="1" rIns="11325" wrap="square" tIns="11325">
              <a:noAutofit/>
            </a:bodyPr>
            <a:lstStyle/>
            <a:p>
              <a:pPr indent="0" lvl="0" marL="0" marR="0" rtl="0" algn="ctr">
                <a:lnSpc>
                  <a:spcPct val="65777"/>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08" name="Google Shape;208;p26"/>
          <p:cNvSpPr/>
          <p:nvPr/>
        </p:nvSpPr>
        <p:spPr>
          <a:xfrm>
            <a:off x="6047002" y="-59115"/>
            <a:ext cx="3096998" cy="5261729"/>
          </a:xfrm>
          <a:custGeom>
            <a:rect b="b" l="l" r="r" t="t"/>
            <a:pathLst>
              <a:path extrusionOk="0" h="10523458" w="6193995">
                <a:moveTo>
                  <a:pt x="0" y="0"/>
                </a:moveTo>
                <a:lnTo>
                  <a:pt x="6193995" y="0"/>
                </a:lnTo>
                <a:lnTo>
                  <a:pt x="6193995" y="10523458"/>
                </a:lnTo>
                <a:lnTo>
                  <a:pt x="0" y="10523458"/>
                </a:lnTo>
                <a:lnTo>
                  <a:pt x="0" y="0"/>
                </a:lnTo>
                <a:close/>
              </a:path>
            </a:pathLst>
          </a:custGeom>
          <a:blipFill rotWithShape="1">
            <a:blip r:embed="rId5">
              <a:alphaModFix/>
            </a:blip>
            <a:stretch>
              <a:fillRect b="0" l="-76121" r="-78838" t="0"/>
            </a:stretch>
          </a:blipFill>
          <a:ln>
            <a:noFill/>
          </a:ln>
        </p:spPr>
      </p:sp>
      <p:sp>
        <p:nvSpPr>
          <p:cNvPr id="209" name="Google Shape;209;p26"/>
          <p:cNvSpPr txBox="1"/>
          <p:nvPr/>
        </p:nvSpPr>
        <p:spPr>
          <a:xfrm>
            <a:off x="514350" y="617915"/>
            <a:ext cx="5464200" cy="1072800"/>
          </a:xfrm>
          <a:prstGeom prst="rect">
            <a:avLst/>
          </a:prstGeom>
          <a:noFill/>
          <a:ln>
            <a:noFill/>
          </a:ln>
        </p:spPr>
        <p:txBody>
          <a:bodyPr anchorCtr="0" anchor="t" bIns="0" lIns="0" spcFirstLastPara="1" rIns="0" wrap="square" tIns="0">
            <a:spAutoFit/>
          </a:bodyPr>
          <a:lstStyle/>
          <a:p>
            <a:pPr indent="0" lvl="0" marL="0" marR="0" rtl="0" algn="l">
              <a:lnSpc>
                <a:spcPct val="105002"/>
              </a:lnSpc>
              <a:spcBef>
                <a:spcPts val="0"/>
              </a:spcBef>
              <a:spcAft>
                <a:spcPts val="0"/>
              </a:spcAft>
              <a:buClr>
                <a:srgbClr val="000000"/>
              </a:buClr>
              <a:buSzPts val="3400"/>
              <a:buFont typeface="Arial"/>
              <a:buNone/>
            </a:pPr>
            <a:r>
              <a:rPr b="0" i="0" lang="es" sz="3400" u="none" cap="none" strike="noStrike">
                <a:solidFill>
                  <a:srgbClr val="1E5A66"/>
                </a:solidFill>
                <a:latin typeface="Montserrat"/>
                <a:ea typeface="Montserrat"/>
                <a:cs typeface="Montserrat"/>
                <a:sym typeface="Montserrat"/>
              </a:rPr>
              <a:t>Beneficios de las Metodologías Clásicas</a:t>
            </a:r>
            <a:endParaRPr b="0" i="0" sz="700" u="none" cap="none" strike="noStrike">
              <a:solidFill>
                <a:srgbClr val="000000"/>
              </a:solidFill>
              <a:latin typeface="Arial"/>
              <a:ea typeface="Arial"/>
              <a:cs typeface="Arial"/>
              <a:sym typeface="Arial"/>
            </a:endParaRPr>
          </a:p>
        </p:txBody>
      </p:sp>
      <p:sp>
        <p:nvSpPr>
          <p:cNvPr id="210" name="Google Shape;210;p26"/>
          <p:cNvSpPr txBox="1"/>
          <p:nvPr/>
        </p:nvSpPr>
        <p:spPr>
          <a:xfrm>
            <a:off x="374078" y="2054493"/>
            <a:ext cx="5119200" cy="2816700"/>
          </a:xfrm>
          <a:prstGeom prst="rect">
            <a:avLst/>
          </a:prstGeom>
          <a:noFill/>
          <a:ln>
            <a:noFill/>
          </a:ln>
        </p:spPr>
        <p:txBody>
          <a:bodyPr anchorCtr="0" anchor="t" bIns="0" lIns="0" spcFirstLastPara="1" rIns="0" wrap="square" tIns="0">
            <a:spAutoFit/>
          </a:bodyPr>
          <a:lstStyle/>
          <a:p>
            <a:pPr indent="-171450" lvl="1" marL="330200" marR="0" rtl="0" algn="l">
              <a:lnSpc>
                <a:spcPct val="140000"/>
              </a:lnSpc>
              <a:spcBef>
                <a:spcPts val="0"/>
              </a:spcBef>
              <a:spcAft>
                <a:spcPts val="0"/>
              </a:spcAft>
              <a:buClr>
                <a:srgbClr val="1E5A66"/>
              </a:buClr>
              <a:buSzPts val="1500"/>
              <a:buFont typeface="Arial"/>
              <a:buChar char="•"/>
            </a:pPr>
            <a:r>
              <a:rPr b="1" i="0" lang="es" sz="1500" u="none" cap="none" strike="noStrike">
                <a:solidFill>
                  <a:srgbClr val="1E5A66"/>
                </a:solidFill>
                <a:latin typeface="Open Sans"/>
                <a:ea typeface="Open Sans"/>
                <a:cs typeface="Open Sans"/>
                <a:sym typeface="Open Sans"/>
              </a:rPr>
              <a:t>Son particularmente útiles cuando los requisitos son claros y estables desde el inicio.</a:t>
            </a:r>
            <a:endParaRPr b="0" i="0" sz="7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1" i="0" sz="1500" u="none" cap="none" strike="noStrike">
              <a:solidFill>
                <a:srgbClr val="1E5A66"/>
              </a:solidFill>
              <a:latin typeface="Open Sans"/>
              <a:ea typeface="Open Sans"/>
              <a:cs typeface="Open Sans"/>
              <a:sym typeface="Open Sans"/>
            </a:endParaRPr>
          </a:p>
          <a:p>
            <a:pPr indent="-171450" lvl="1" marL="330200" marR="0" rtl="0" algn="l">
              <a:lnSpc>
                <a:spcPct val="140000"/>
              </a:lnSpc>
              <a:spcBef>
                <a:spcPts val="0"/>
              </a:spcBef>
              <a:spcAft>
                <a:spcPts val="0"/>
              </a:spcAft>
              <a:buClr>
                <a:srgbClr val="1E5A66"/>
              </a:buClr>
              <a:buSzPts val="1500"/>
              <a:buFont typeface="Arial"/>
              <a:buChar char="•"/>
            </a:pPr>
            <a:r>
              <a:rPr b="1" i="0" lang="es" sz="1500" u="none" cap="none" strike="noStrike">
                <a:solidFill>
                  <a:srgbClr val="1E5A66"/>
                </a:solidFill>
                <a:latin typeface="Open Sans"/>
                <a:ea typeface="Open Sans"/>
                <a:cs typeface="Open Sans"/>
                <a:sym typeface="Open Sans"/>
              </a:rPr>
              <a:t>Facilitan la planificación a largo plazo en cuanto a recursos, tiempo y presupuesto.</a:t>
            </a:r>
            <a:endParaRPr b="0" i="0" sz="7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1" i="0" sz="1500" u="none" cap="none" strike="noStrike">
              <a:solidFill>
                <a:srgbClr val="1E5A66"/>
              </a:solidFill>
              <a:latin typeface="Open Sans"/>
              <a:ea typeface="Open Sans"/>
              <a:cs typeface="Open Sans"/>
              <a:sym typeface="Open Sans"/>
            </a:endParaRPr>
          </a:p>
          <a:p>
            <a:pPr indent="-171450" lvl="1" marL="330200" marR="0" rtl="0" algn="l">
              <a:lnSpc>
                <a:spcPct val="140000"/>
              </a:lnSpc>
              <a:spcBef>
                <a:spcPts val="0"/>
              </a:spcBef>
              <a:spcAft>
                <a:spcPts val="0"/>
              </a:spcAft>
              <a:buClr>
                <a:srgbClr val="1E5A66"/>
              </a:buClr>
              <a:buSzPts val="1500"/>
              <a:buFont typeface="Arial"/>
              <a:buChar char="•"/>
            </a:pPr>
            <a:r>
              <a:rPr b="1" i="0" lang="es" sz="1500" u="none" cap="none" strike="noStrike">
                <a:solidFill>
                  <a:srgbClr val="1E5A66"/>
                </a:solidFill>
                <a:latin typeface="Open Sans"/>
                <a:ea typeface="Open Sans"/>
                <a:cs typeface="Open Sans"/>
                <a:sym typeface="Open Sans"/>
              </a:rPr>
              <a:t>Permiten identificar y abordar los riesgos de manera anticipada.</a:t>
            </a:r>
            <a:endParaRPr b="0" i="0" sz="700" u="none" cap="none" strike="noStrike">
              <a:solidFill>
                <a:srgbClr val="000000"/>
              </a:solidFill>
              <a:latin typeface="Arial"/>
              <a:ea typeface="Arial"/>
              <a:cs typeface="Arial"/>
              <a:sym typeface="Arial"/>
            </a:endParaRPr>
          </a:p>
          <a:p>
            <a:pPr indent="0" lvl="0" marL="0" marR="0" rtl="0" algn="l">
              <a:lnSpc>
                <a:spcPct val="140000"/>
              </a:lnSpc>
              <a:spcBef>
                <a:spcPts val="0"/>
              </a:spcBef>
              <a:spcAft>
                <a:spcPts val="0"/>
              </a:spcAft>
              <a:buClr>
                <a:srgbClr val="000000"/>
              </a:buClr>
              <a:buSzPts val="1500"/>
              <a:buFont typeface="Arial"/>
              <a:buNone/>
            </a:pPr>
            <a:r>
              <a:t/>
            </a:r>
            <a:endParaRPr b="1" i="0" sz="1500" u="none" cap="none" strike="noStrike">
              <a:solidFill>
                <a:srgbClr val="1E5A66"/>
              </a:solidFill>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4" name="Shape 214"/>
        <p:cNvGrpSpPr/>
        <p:nvPr/>
      </p:nvGrpSpPr>
      <p:grpSpPr>
        <a:xfrm>
          <a:off x="0" y="0"/>
          <a:ext cx="0" cy="0"/>
          <a:chOff x="0" y="0"/>
          <a:chExt cx="0" cy="0"/>
        </a:xfrm>
      </p:grpSpPr>
      <p:sp>
        <p:nvSpPr>
          <p:cNvPr id="215" name="Google Shape;215;p27"/>
          <p:cNvSpPr/>
          <p:nvPr/>
        </p:nvSpPr>
        <p:spPr>
          <a:xfrm>
            <a:off x="7330597" y="0"/>
            <a:ext cx="1813404" cy="1910522"/>
          </a:xfrm>
          <a:custGeom>
            <a:rect b="b" l="l" r="r" t="t"/>
            <a:pathLst>
              <a:path extrusionOk="0" h="3821044" w="3626807">
                <a:moveTo>
                  <a:pt x="0" y="0"/>
                </a:moveTo>
                <a:lnTo>
                  <a:pt x="3626807" y="0"/>
                </a:lnTo>
                <a:lnTo>
                  <a:pt x="3626807" y="3821044"/>
                </a:lnTo>
                <a:lnTo>
                  <a:pt x="0" y="3821044"/>
                </a:lnTo>
                <a:lnTo>
                  <a:pt x="0" y="0"/>
                </a:lnTo>
                <a:close/>
              </a:path>
            </a:pathLst>
          </a:custGeom>
          <a:blipFill rotWithShape="1">
            <a:blip r:embed="rId3">
              <a:alphaModFix/>
            </a:blip>
            <a:stretch>
              <a:fillRect b="0" l="0" r="0" t="0"/>
            </a:stretch>
          </a:blipFill>
          <a:ln>
            <a:noFill/>
          </a:ln>
        </p:spPr>
      </p:sp>
      <p:grpSp>
        <p:nvGrpSpPr>
          <p:cNvPr id="216" name="Google Shape;216;p27"/>
          <p:cNvGrpSpPr/>
          <p:nvPr/>
        </p:nvGrpSpPr>
        <p:grpSpPr>
          <a:xfrm>
            <a:off x="8372475" y="4299642"/>
            <a:ext cx="1543101" cy="510317"/>
            <a:chOff x="0" y="-38100"/>
            <a:chExt cx="812800" cy="268800"/>
          </a:xfrm>
        </p:grpSpPr>
        <p:sp>
          <p:nvSpPr>
            <p:cNvPr id="217" name="Google Shape;217;p27"/>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0CA6A2"/>
            </a:solidFill>
            <a:ln>
              <a:noFill/>
            </a:ln>
          </p:spPr>
        </p:sp>
        <p:sp>
          <p:nvSpPr>
            <p:cNvPr id="218" name="Google Shape;218;p27"/>
            <p:cNvSpPr txBox="1"/>
            <p:nvPr/>
          </p:nvSpPr>
          <p:spPr>
            <a:xfrm>
              <a:off x="0" y="-38100"/>
              <a:ext cx="812700" cy="268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19" name="Google Shape;219;p27"/>
          <p:cNvSpPr/>
          <p:nvPr/>
        </p:nvSpPr>
        <p:spPr>
          <a:xfrm>
            <a:off x="823889" y="1777417"/>
            <a:ext cx="2612901" cy="2851734"/>
          </a:xfrm>
          <a:custGeom>
            <a:rect b="b" l="l" r="r" t="t"/>
            <a:pathLst>
              <a:path extrusionOk="0" h="5703467" w="5225801">
                <a:moveTo>
                  <a:pt x="0" y="0"/>
                </a:moveTo>
                <a:lnTo>
                  <a:pt x="5225801" y="0"/>
                </a:lnTo>
                <a:lnTo>
                  <a:pt x="5225801" y="5703467"/>
                </a:lnTo>
                <a:lnTo>
                  <a:pt x="0" y="5703467"/>
                </a:lnTo>
                <a:lnTo>
                  <a:pt x="0" y="0"/>
                </a:lnTo>
                <a:close/>
              </a:path>
            </a:pathLst>
          </a:custGeom>
          <a:blipFill rotWithShape="1">
            <a:blip r:embed="rId4">
              <a:alphaModFix/>
            </a:blip>
            <a:stretch>
              <a:fillRect b="0" l="0" r="0" t="0"/>
            </a:stretch>
          </a:blipFill>
          <a:ln>
            <a:noFill/>
          </a:ln>
        </p:spPr>
      </p:sp>
      <p:sp>
        <p:nvSpPr>
          <p:cNvPr id="220" name="Google Shape;220;p27"/>
          <p:cNvSpPr txBox="1"/>
          <p:nvPr/>
        </p:nvSpPr>
        <p:spPr>
          <a:xfrm>
            <a:off x="3890738" y="1652575"/>
            <a:ext cx="4715700" cy="2315100"/>
          </a:xfrm>
          <a:prstGeom prst="rect">
            <a:avLst/>
          </a:prstGeom>
          <a:noFill/>
          <a:ln>
            <a:noFill/>
          </a:ln>
        </p:spPr>
        <p:txBody>
          <a:bodyPr anchorCtr="0" anchor="t" bIns="0" lIns="0" spcFirstLastPara="1" rIns="0" wrap="square" tIns="0">
            <a:spAutoFit/>
          </a:bodyPr>
          <a:lstStyle/>
          <a:p>
            <a:pPr indent="-177800" lvl="1" marL="342900" marR="0" rtl="0" algn="l">
              <a:lnSpc>
                <a:spcPct val="140012"/>
              </a:lnSpc>
              <a:spcBef>
                <a:spcPts val="0"/>
              </a:spcBef>
              <a:spcAft>
                <a:spcPts val="0"/>
              </a:spcAft>
              <a:buClr>
                <a:srgbClr val="000000"/>
              </a:buClr>
              <a:buSzPts val="1600"/>
              <a:buFont typeface="Arial"/>
              <a:buChar char="•"/>
            </a:pPr>
            <a:r>
              <a:rPr b="0" i="0" lang="es" sz="1600" u="none" cap="none" strike="noStrike">
                <a:solidFill>
                  <a:srgbClr val="000000"/>
                </a:solidFill>
                <a:latin typeface="Montserrat"/>
                <a:ea typeface="Montserrat"/>
                <a:cs typeface="Montserrat"/>
                <a:sym typeface="Montserrat"/>
              </a:rPr>
              <a:t>Poca flexibilidad ante cambios</a:t>
            </a:r>
            <a:endParaRPr b="0" i="0" sz="1600" u="none" cap="none" strike="noStrike">
              <a:solidFill>
                <a:srgbClr val="000000"/>
              </a:solidFill>
              <a:latin typeface="Montserrat"/>
              <a:ea typeface="Montserrat"/>
              <a:cs typeface="Montserrat"/>
              <a:sym typeface="Montserrat"/>
            </a:endParaRPr>
          </a:p>
          <a:p>
            <a:pPr indent="-177800" lvl="1" marL="342900" marR="0" rtl="0" algn="l">
              <a:lnSpc>
                <a:spcPct val="140012"/>
              </a:lnSpc>
              <a:spcBef>
                <a:spcPts val="0"/>
              </a:spcBef>
              <a:spcAft>
                <a:spcPts val="0"/>
              </a:spcAft>
              <a:buClr>
                <a:srgbClr val="000000"/>
              </a:buClr>
              <a:buSzPts val="1600"/>
              <a:buFont typeface="Arial"/>
              <a:buChar char="•"/>
            </a:pPr>
            <a:r>
              <a:rPr b="0" i="0" lang="es" sz="1600" u="none" cap="none" strike="noStrike">
                <a:solidFill>
                  <a:srgbClr val="000000"/>
                </a:solidFill>
                <a:latin typeface="Montserrat"/>
                <a:ea typeface="Montserrat"/>
                <a:cs typeface="Montserrat"/>
                <a:sym typeface="Montserrat"/>
              </a:rPr>
              <a:t>Tienen poca participación del cliente.</a:t>
            </a:r>
            <a:endParaRPr b="0" i="0" sz="1600" u="none" cap="none" strike="noStrike">
              <a:solidFill>
                <a:srgbClr val="000000"/>
              </a:solidFill>
              <a:latin typeface="Montserrat"/>
              <a:ea typeface="Montserrat"/>
              <a:cs typeface="Montserrat"/>
              <a:sym typeface="Montserrat"/>
            </a:endParaRPr>
          </a:p>
          <a:p>
            <a:pPr indent="-177800" lvl="1" marL="342900" marR="0" rtl="0" algn="just">
              <a:lnSpc>
                <a:spcPct val="140012"/>
              </a:lnSpc>
              <a:spcBef>
                <a:spcPts val="0"/>
              </a:spcBef>
              <a:spcAft>
                <a:spcPts val="0"/>
              </a:spcAft>
              <a:buClr>
                <a:srgbClr val="000000"/>
              </a:buClr>
              <a:buSzPts val="1600"/>
              <a:buFont typeface="Arial"/>
              <a:buChar char="•"/>
            </a:pPr>
            <a:r>
              <a:rPr b="0" i="0" lang="es" sz="1600" u="none" cap="none" strike="noStrike">
                <a:solidFill>
                  <a:srgbClr val="000000"/>
                </a:solidFill>
                <a:latin typeface="Montserrat"/>
                <a:ea typeface="Montserrat"/>
                <a:cs typeface="Montserrat"/>
                <a:sym typeface="Montserrat"/>
              </a:rPr>
              <a:t>No son ideales para proyectos donde los requisitos son inciertos o evolucionan constantemente.</a:t>
            </a:r>
            <a:endParaRPr b="0" i="0" sz="1600" u="none" cap="none" strike="noStrike">
              <a:solidFill>
                <a:srgbClr val="000000"/>
              </a:solidFill>
              <a:latin typeface="Montserrat"/>
              <a:ea typeface="Montserrat"/>
              <a:cs typeface="Montserrat"/>
              <a:sym typeface="Montserrat"/>
            </a:endParaRPr>
          </a:p>
          <a:p>
            <a:pPr indent="-177800" lvl="1" marL="342900" marR="0" rtl="0" algn="l">
              <a:lnSpc>
                <a:spcPct val="140012"/>
              </a:lnSpc>
              <a:spcBef>
                <a:spcPts val="0"/>
              </a:spcBef>
              <a:spcAft>
                <a:spcPts val="0"/>
              </a:spcAft>
              <a:buClr>
                <a:srgbClr val="000000"/>
              </a:buClr>
              <a:buSzPts val="1600"/>
              <a:buFont typeface="Arial"/>
              <a:buChar char="•"/>
            </a:pPr>
            <a:r>
              <a:rPr b="0" i="0" lang="es" sz="1600" u="none" cap="none" strike="noStrike">
                <a:solidFill>
                  <a:srgbClr val="000000"/>
                </a:solidFill>
                <a:latin typeface="Montserrat"/>
                <a:ea typeface="Montserrat"/>
                <a:cs typeface="Montserrat"/>
                <a:sym typeface="Montserrat"/>
              </a:rPr>
              <a:t>Al ser secuenciales, pueden requerir mucho tiempo para ver resultados.</a:t>
            </a:r>
            <a:endParaRPr b="0" i="0" sz="700" u="none" cap="none" strike="noStrike">
              <a:solidFill>
                <a:srgbClr val="000000"/>
              </a:solidFill>
              <a:latin typeface="Arial"/>
              <a:ea typeface="Arial"/>
              <a:cs typeface="Arial"/>
              <a:sym typeface="Arial"/>
            </a:endParaRPr>
          </a:p>
        </p:txBody>
      </p:sp>
      <p:sp>
        <p:nvSpPr>
          <p:cNvPr id="221" name="Google Shape;221;p27"/>
          <p:cNvSpPr txBox="1"/>
          <p:nvPr/>
        </p:nvSpPr>
        <p:spPr>
          <a:xfrm>
            <a:off x="586581" y="205921"/>
            <a:ext cx="6216000" cy="1145100"/>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Clr>
                <a:srgbClr val="000000"/>
              </a:buClr>
              <a:buSzPts val="3100"/>
              <a:buFont typeface="Arial"/>
              <a:buNone/>
            </a:pPr>
            <a:r>
              <a:rPr b="0" i="0" lang="es" sz="3100" u="none" cap="none" strike="noStrike">
                <a:solidFill>
                  <a:srgbClr val="014753"/>
                </a:solidFill>
                <a:latin typeface="Montserrat"/>
                <a:ea typeface="Montserrat"/>
                <a:cs typeface="Montserrat"/>
                <a:sym typeface="Montserrat"/>
              </a:rPr>
              <a:t>Limitaciones de las Metodologías Clásicas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B4B0"/>
        </a:solidFill>
      </p:bgPr>
    </p:bg>
    <p:spTree>
      <p:nvGrpSpPr>
        <p:cNvPr id="225" name="Shape 225"/>
        <p:cNvGrpSpPr/>
        <p:nvPr/>
      </p:nvGrpSpPr>
      <p:grpSpPr>
        <a:xfrm>
          <a:off x="0" y="0"/>
          <a:ext cx="0" cy="0"/>
          <a:chOff x="0" y="0"/>
          <a:chExt cx="0" cy="0"/>
        </a:xfrm>
      </p:grpSpPr>
      <p:sp>
        <p:nvSpPr>
          <p:cNvPr id="226" name="Google Shape;226;p28"/>
          <p:cNvSpPr/>
          <p:nvPr/>
        </p:nvSpPr>
        <p:spPr>
          <a:xfrm rot="-2687853">
            <a:off x="492351" y="787153"/>
            <a:ext cx="475872" cy="477551"/>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227" name="Google Shape;227;p28"/>
          <p:cNvGrpSpPr/>
          <p:nvPr/>
        </p:nvGrpSpPr>
        <p:grpSpPr>
          <a:xfrm>
            <a:off x="392608" y="1063863"/>
            <a:ext cx="284643" cy="284643"/>
            <a:chOff x="0" y="0"/>
            <a:chExt cx="812800" cy="812800"/>
          </a:xfrm>
        </p:grpSpPr>
        <p:sp>
          <p:nvSpPr>
            <p:cNvPr id="228" name="Google Shape;228;p2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29" name="Google Shape;229;p28"/>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30" name="Google Shape;230;p28"/>
          <p:cNvSpPr/>
          <p:nvPr/>
        </p:nvSpPr>
        <p:spPr>
          <a:xfrm>
            <a:off x="7828966" y="-24419"/>
            <a:ext cx="1315034" cy="1385462"/>
          </a:xfrm>
          <a:custGeom>
            <a:rect b="b" l="l" r="r" t="t"/>
            <a:pathLst>
              <a:path extrusionOk="0" h="2770923" w="2630068">
                <a:moveTo>
                  <a:pt x="0" y="0"/>
                </a:moveTo>
                <a:lnTo>
                  <a:pt x="2630068" y="0"/>
                </a:lnTo>
                <a:lnTo>
                  <a:pt x="2630068" y="2770923"/>
                </a:lnTo>
                <a:lnTo>
                  <a:pt x="0" y="2770923"/>
                </a:lnTo>
                <a:lnTo>
                  <a:pt x="0" y="0"/>
                </a:lnTo>
                <a:close/>
              </a:path>
            </a:pathLst>
          </a:custGeom>
          <a:blipFill rotWithShape="1">
            <a:blip r:embed="rId4">
              <a:alphaModFix/>
            </a:blip>
            <a:stretch>
              <a:fillRect b="0" l="0" r="0" t="0"/>
            </a:stretch>
          </a:blipFill>
          <a:ln>
            <a:noFill/>
          </a:ln>
        </p:spPr>
      </p:sp>
      <p:sp>
        <p:nvSpPr>
          <p:cNvPr id="231" name="Google Shape;231;p28"/>
          <p:cNvSpPr/>
          <p:nvPr/>
        </p:nvSpPr>
        <p:spPr>
          <a:xfrm rot="10800000">
            <a:off x="0" y="3758038"/>
            <a:ext cx="1315034" cy="1385461"/>
          </a:xfrm>
          <a:custGeom>
            <a:rect b="b" l="l" r="r" t="t"/>
            <a:pathLst>
              <a:path extrusionOk="0" h="2770923" w="2630068">
                <a:moveTo>
                  <a:pt x="2630068" y="2770923"/>
                </a:moveTo>
                <a:lnTo>
                  <a:pt x="0" y="2770923"/>
                </a:lnTo>
                <a:lnTo>
                  <a:pt x="0" y="0"/>
                </a:lnTo>
                <a:lnTo>
                  <a:pt x="2630068" y="0"/>
                </a:lnTo>
                <a:lnTo>
                  <a:pt x="2630068" y="2770923"/>
                </a:lnTo>
                <a:close/>
              </a:path>
            </a:pathLst>
          </a:custGeom>
          <a:blipFill rotWithShape="1">
            <a:blip r:embed="rId4">
              <a:alphaModFix/>
            </a:blip>
            <a:stretch>
              <a:fillRect b="0" l="0" r="0" t="0"/>
            </a:stretch>
          </a:blipFill>
          <a:ln>
            <a:noFill/>
          </a:ln>
        </p:spPr>
      </p:sp>
      <p:grpSp>
        <p:nvGrpSpPr>
          <p:cNvPr id="232" name="Google Shape;232;p28"/>
          <p:cNvGrpSpPr/>
          <p:nvPr/>
        </p:nvGrpSpPr>
        <p:grpSpPr>
          <a:xfrm>
            <a:off x="8372475" y="4299642"/>
            <a:ext cx="1543101" cy="510317"/>
            <a:chOff x="0" y="-38100"/>
            <a:chExt cx="812800" cy="268800"/>
          </a:xfrm>
        </p:grpSpPr>
        <p:sp>
          <p:nvSpPr>
            <p:cNvPr id="233" name="Google Shape;233;p28"/>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1E5A66"/>
            </a:solidFill>
            <a:ln>
              <a:noFill/>
            </a:ln>
          </p:spPr>
        </p:sp>
        <p:sp>
          <p:nvSpPr>
            <p:cNvPr id="234" name="Google Shape;234;p28"/>
            <p:cNvSpPr txBox="1"/>
            <p:nvPr/>
          </p:nvSpPr>
          <p:spPr>
            <a:xfrm>
              <a:off x="0" y="-38100"/>
              <a:ext cx="812700" cy="268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35" name="Google Shape;235;p28"/>
          <p:cNvSpPr/>
          <p:nvPr/>
        </p:nvSpPr>
        <p:spPr>
          <a:xfrm>
            <a:off x="5157350" y="1063863"/>
            <a:ext cx="3812111" cy="3169597"/>
          </a:xfrm>
          <a:custGeom>
            <a:rect b="b" l="l" r="r" t="t"/>
            <a:pathLst>
              <a:path extrusionOk="0" h="6339194" w="7624221">
                <a:moveTo>
                  <a:pt x="0" y="0"/>
                </a:moveTo>
                <a:lnTo>
                  <a:pt x="7624221" y="0"/>
                </a:lnTo>
                <a:lnTo>
                  <a:pt x="7624221" y="6339194"/>
                </a:lnTo>
                <a:lnTo>
                  <a:pt x="0" y="6339194"/>
                </a:lnTo>
                <a:lnTo>
                  <a:pt x="0" y="0"/>
                </a:lnTo>
                <a:close/>
              </a:path>
            </a:pathLst>
          </a:custGeom>
          <a:blipFill rotWithShape="1">
            <a:blip r:embed="rId5">
              <a:alphaModFix/>
            </a:blip>
            <a:stretch>
              <a:fillRect b="-9380" l="0" r="0" t="-9380"/>
            </a:stretch>
          </a:blipFill>
          <a:ln>
            <a:noFill/>
          </a:ln>
        </p:spPr>
      </p:sp>
      <p:sp>
        <p:nvSpPr>
          <p:cNvPr id="236" name="Google Shape;236;p28"/>
          <p:cNvSpPr txBox="1"/>
          <p:nvPr/>
        </p:nvSpPr>
        <p:spPr>
          <a:xfrm>
            <a:off x="562784" y="819186"/>
            <a:ext cx="332400" cy="338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2200"/>
              <a:buFont typeface="Arial"/>
              <a:buNone/>
            </a:pPr>
            <a:r>
              <a:rPr b="1" i="0" lang="es" sz="2200" u="none" cap="none" strike="noStrike">
                <a:solidFill>
                  <a:srgbClr val="000000"/>
                </a:solidFill>
                <a:latin typeface="Montserrat"/>
                <a:ea typeface="Montserrat"/>
                <a:cs typeface="Montserrat"/>
                <a:sym typeface="Montserrat"/>
              </a:rPr>
              <a:t>1</a:t>
            </a:r>
            <a:endParaRPr b="1" i="0" sz="700" u="none" cap="none" strike="noStrike">
              <a:solidFill>
                <a:srgbClr val="000000"/>
              </a:solidFill>
            </a:endParaRPr>
          </a:p>
        </p:txBody>
      </p:sp>
      <p:sp>
        <p:nvSpPr>
          <p:cNvPr id="237" name="Google Shape;237;p28"/>
          <p:cNvSpPr txBox="1"/>
          <p:nvPr/>
        </p:nvSpPr>
        <p:spPr>
          <a:xfrm>
            <a:off x="1065213" y="823950"/>
            <a:ext cx="4092300" cy="318360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Clr>
                <a:srgbClr val="000000"/>
              </a:buClr>
              <a:buSzPts val="1900"/>
              <a:buFont typeface="Arial"/>
              <a:buNone/>
            </a:pPr>
            <a:r>
              <a:rPr b="1" i="0" lang="es" sz="1700" u="none" cap="none" strike="noStrike">
                <a:solidFill>
                  <a:srgbClr val="000000"/>
                </a:solidFill>
                <a:latin typeface="Montserrat"/>
                <a:ea typeface="Montserrat"/>
                <a:cs typeface="Montserrat"/>
                <a:sym typeface="Montserrat"/>
              </a:rPr>
              <a:t>Waterfall (Cascada):</a:t>
            </a:r>
            <a:r>
              <a:rPr b="0" i="0" lang="es" sz="1700" u="none" cap="none" strike="noStrike">
                <a:solidFill>
                  <a:srgbClr val="000000"/>
                </a:solidFill>
                <a:latin typeface="Montserrat"/>
                <a:ea typeface="Montserrat"/>
                <a:cs typeface="Montserrat"/>
                <a:sym typeface="Montserrat"/>
              </a:rPr>
              <a:t> </a:t>
            </a:r>
            <a:endParaRPr b="0" i="0" sz="1700" u="none" cap="none" strike="noStrike">
              <a:solidFill>
                <a:srgbClr val="000000"/>
              </a:solidFill>
              <a:latin typeface="Montserrat"/>
              <a:ea typeface="Montserrat"/>
              <a:cs typeface="Montserrat"/>
              <a:sym typeface="Montserrat"/>
            </a:endParaRPr>
          </a:p>
          <a:p>
            <a:pPr indent="0" lvl="0" marL="0" marR="0" rtl="0" algn="just">
              <a:lnSpc>
                <a:spcPct val="140020"/>
              </a:lnSpc>
              <a:spcBef>
                <a:spcPts val="0"/>
              </a:spcBef>
              <a:spcAft>
                <a:spcPts val="0"/>
              </a:spcAft>
              <a:buClr>
                <a:srgbClr val="000000"/>
              </a:buClr>
              <a:buSzPts val="1900"/>
              <a:buFont typeface="Arial"/>
              <a:buNone/>
            </a:pPr>
            <a:r>
              <a:rPr b="0" i="0" lang="es" sz="1500" u="none" cap="none" strike="noStrike">
                <a:solidFill>
                  <a:srgbClr val="F2F2F2"/>
                </a:solidFill>
                <a:latin typeface="Montserrat"/>
                <a:ea typeface="Montserrat"/>
                <a:cs typeface="Montserrat"/>
                <a:sym typeface="Montserrat"/>
              </a:rPr>
              <a:t>Las etapas se organizan de arriba a abajo. Antes de cada etapa se debe revisar el producto para ver si está listo para pasar a la siguiente fase. </a:t>
            </a:r>
            <a:endParaRPr b="0" i="0" sz="1500" u="none" cap="none" strike="noStrike">
              <a:solidFill>
                <a:srgbClr val="F2F2F2"/>
              </a:solidFill>
              <a:latin typeface="Montserrat"/>
              <a:ea typeface="Montserrat"/>
              <a:cs typeface="Montserrat"/>
              <a:sym typeface="Montserrat"/>
            </a:endParaRPr>
          </a:p>
          <a:p>
            <a:pPr indent="0" lvl="0" marL="0" marR="0" rtl="0" algn="just">
              <a:lnSpc>
                <a:spcPct val="140020"/>
              </a:lnSpc>
              <a:spcBef>
                <a:spcPts val="0"/>
              </a:spcBef>
              <a:spcAft>
                <a:spcPts val="0"/>
              </a:spcAft>
              <a:buClr>
                <a:srgbClr val="000000"/>
              </a:buClr>
              <a:buSzPts val="1900"/>
              <a:buFont typeface="Arial"/>
              <a:buNone/>
            </a:pPr>
            <a:r>
              <a:rPr b="0" i="0" lang="es" sz="1500" u="none" cap="none" strike="noStrike">
                <a:solidFill>
                  <a:srgbClr val="F2F2F2"/>
                </a:solidFill>
                <a:latin typeface="Montserrat"/>
                <a:ea typeface="Montserrat"/>
                <a:cs typeface="Montserrat"/>
                <a:sym typeface="Montserrat"/>
              </a:rPr>
              <a:t>Los requisitos y especificaciones iniciales no están predispuestos para cambiarse, por lo que no se pueden ver los resultados hasta que el proyecto ya esté bastante avanzado</a:t>
            </a:r>
            <a:endParaRPr b="0" i="0" sz="300" u="none" cap="none" strike="noStrike">
              <a:solidFill>
                <a:srgbClr val="000000"/>
              </a:solidFill>
              <a:latin typeface="Arial"/>
              <a:ea typeface="Arial"/>
              <a:cs typeface="Arial"/>
              <a:sym typeface="Arial"/>
            </a:endParaRPr>
          </a:p>
        </p:txBody>
      </p:sp>
      <p:sp>
        <p:nvSpPr>
          <p:cNvPr id="238" name="Google Shape;238;p28"/>
          <p:cNvSpPr txBox="1"/>
          <p:nvPr/>
        </p:nvSpPr>
        <p:spPr>
          <a:xfrm>
            <a:off x="524010" y="91917"/>
            <a:ext cx="7974600" cy="477300"/>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Clr>
                <a:srgbClr val="000000"/>
              </a:buClr>
              <a:buSzPts val="3100"/>
              <a:buFont typeface="Arial"/>
              <a:buNone/>
            </a:pPr>
            <a:r>
              <a:rPr b="0" i="0" lang="es" sz="3100" u="none" cap="none" strike="noStrike">
                <a:solidFill>
                  <a:srgbClr val="FFFFFF"/>
                </a:solidFill>
                <a:latin typeface="Montserrat"/>
                <a:ea typeface="Montserrat"/>
                <a:cs typeface="Montserrat"/>
                <a:sym typeface="Montserrat"/>
              </a:rPr>
              <a:t>Metodologías Representativas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B4B0"/>
        </a:solidFill>
      </p:bgPr>
    </p:bg>
    <p:spTree>
      <p:nvGrpSpPr>
        <p:cNvPr id="242" name="Shape 242"/>
        <p:cNvGrpSpPr/>
        <p:nvPr/>
      </p:nvGrpSpPr>
      <p:grpSpPr>
        <a:xfrm>
          <a:off x="0" y="0"/>
          <a:ext cx="0" cy="0"/>
          <a:chOff x="0" y="0"/>
          <a:chExt cx="0" cy="0"/>
        </a:xfrm>
      </p:grpSpPr>
      <p:sp>
        <p:nvSpPr>
          <p:cNvPr id="243" name="Google Shape;243;p29"/>
          <p:cNvSpPr/>
          <p:nvPr/>
        </p:nvSpPr>
        <p:spPr>
          <a:xfrm rot="-2687853">
            <a:off x="740516" y="566308"/>
            <a:ext cx="475872" cy="477551"/>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244" name="Google Shape;244;p29"/>
          <p:cNvGrpSpPr/>
          <p:nvPr/>
        </p:nvGrpSpPr>
        <p:grpSpPr>
          <a:xfrm>
            <a:off x="640773" y="843018"/>
            <a:ext cx="284643" cy="284643"/>
            <a:chOff x="0" y="0"/>
            <a:chExt cx="812800" cy="812800"/>
          </a:xfrm>
        </p:grpSpPr>
        <p:sp>
          <p:nvSpPr>
            <p:cNvPr id="245" name="Google Shape;245;p2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46" name="Google Shape;246;p29"/>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47" name="Google Shape;247;p29"/>
          <p:cNvSpPr/>
          <p:nvPr/>
        </p:nvSpPr>
        <p:spPr>
          <a:xfrm>
            <a:off x="7828966" y="-24419"/>
            <a:ext cx="1315034" cy="1385462"/>
          </a:xfrm>
          <a:custGeom>
            <a:rect b="b" l="l" r="r" t="t"/>
            <a:pathLst>
              <a:path extrusionOk="0" h="2770923" w="2630068">
                <a:moveTo>
                  <a:pt x="0" y="0"/>
                </a:moveTo>
                <a:lnTo>
                  <a:pt x="2630068" y="0"/>
                </a:lnTo>
                <a:lnTo>
                  <a:pt x="2630068" y="2770923"/>
                </a:lnTo>
                <a:lnTo>
                  <a:pt x="0" y="2770923"/>
                </a:lnTo>
                <a:lnTo>
                  <a:pt x="0" y="0"/>
                </a:lnTo>
                <a:close/>
              </a:path>
            </a:pathLst>
          </a:custGeom>
          <a:blipFill rotWithShape="1">
            <a:blip r:embed="rId4">
              <a:alphaModFix/>
            </a:blip>
            <a:stretch>
              <a:fillRect b="0" l="0" r="0" t="0"/>
            </a:stretch>
          </a:blipFill>
          <a:ln>
            <a:noFill/>
          </a:ln>
        </p:spPr>
      </p:sp>
      <p:sp>
        <p:nvSpPr>
          <p:cNvPr id="248" name="Google Shape;248;p29"/>
          <p:cNvSpPr/>
          <p:nvPr/>
        </p:nvSpPr>
        <p:spPr>
          <a:xfrm rot="10800000">
            <a:off x="0" y="3758038"/>
            <a:ext cx="1315034" cy="1385461"/>
          </a:xfrm>
          <a:custGeom>
            <a:rect b="b" l="l" r="r" t="t"/>
            <a:pathLst>
              <a:path extrusionOk="0" h="2770923" w="2630068">
                <a:moveTo>
                  <a:pt x="2630068" y="2770923"/>
                </a:moveTo>
                <a:lnTo>
                  <a:pt x="0" y="2770923"/>
                </a:lnTo>
                <a:lnTo>
                  <a:pt x="0" y="0"/>
                </a:lnTo>
                <a:lnTo>
                  <a:pt x="2630068" y="0"/>
                </a:lnTo>
                <a:lnTo>
                  <a:pt x="2630068" y="2770923"/>
                </a:lnTo>
                <a:close/>
              </a:path>
            </a:pathLst>
          </a:custGeom>
          <a:blipFill rotWithShape="1">
            <a:blip r:embed="rId4">
              <a:alphaModFix/>
            </a:blip>
            <a:stretch>
              <a:fillRect b="0" l="0" r="0" t="0"/>
            </a:stretch>
          </a:blipFill>
          <a:ln>
            <a:noFill/>
          </a:ln>
        </p:spPr>
      </p:sp>
      <p:grpSp>
        <p:nvGrpSpPr>
          <p:cNvPr id="249" name="Google Shape;249;p29"/>
          <p:cNvGrpSpPr/>
          <p:nvPr/>
        </p:nvGrpSpPr>
        <p:grpSpPr>
          <a:xfrm>
            <a:off x="8372475" y="4299642"/>
            <a:ext cx="1543101" cy="510317"/>
            <a:chOff x="0" y="-38100"/>
            <a:chExt cx="812800" cy="268800"/>
          </a:xfrm>
        </p:grpSpPr>
        <p:sp>
          <p:nvSpPr>
            <p:cNvPr id="250" name="Google Shape;250;p29"/>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1E5A66"/>
            </a:solidFill>
            <a:ln>
              <a:noFill/>
            </a:ln>
          </p:spPr>
        </p:sp>
        <p:sp>
          <p:nvSpPr>
            <p:cNvPr id="251" name="Google Shape;251;p29"/>
            <p:cNvSpPr txBox="1"/>
            <p:nvPr/>
          </p:nvSpPr>
          <p:spPr>
            <a:xfrm>
              <a:off x="0" y="-38100"/>
              <a:ext cx="812700" cy="268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52" name="Google Shape;252;p29"/>
          <p:cNvSpPr/>
          <p:nvPr/>
        </p:nvSpPr>
        <p:spPr>
          <a:xfrm>
            <a:off x="1298290" y="2959953"/>
            <a:ext cx="6133068" cy="1434946"/>
          </a:xfrm>
          <a:custGeom>
            <a:rect b="b" l="l" r="r" t="t"/>
            <a:pathLst>
              <a:path extrusionOk="0" h="2869892" w="12266136">
                <a:moveTo>
                  <a:pt x="0" y="0"/>
                </a:moveTo>
                <a:lnTo>
                  <a:pt x="12266136" y="0"/>
                </a:lnTo>
                <a:lnTo>
                  <a:pt x="12266136" y="2869893"/>
                </a:lnTo>
                <a:lnTo>
                  <a:pt x="0" y="2869893"/>
                </a:lnTo>
                <a:lnTo>
                  <a:pt x="0" y="0"/>
                </a:lnTo>
                <a:close/>
              </a:path>
            </a:pathLst>
          </a:custGeom>
          <a:blipFill rotWithShape="1">
            <a:blip r:embed="rId5">
              <a:alphaModFix/>
            </a:blip>
            <a:stretch>
              <a:fillRect b="-5140" l="0" r="0" t="-5151"/>
            </a:stretch>
          </a:blipFill>
          <a:ln>
            <a:noFill/>
          </a:ln>
        </p:spPr>
      </p:sp>
      <p:sp>
        <p:nvSpPr>
          <p:cNvPr id="253" name="Google Shape;253;p29"/>
          <p:cNvSpPr txBox="1"/>
          <p:nvPr/>
        </p:nvSpPr>
        <p:spPr>
          <a:xfrm>
            <a:off x="810949" y="598341"/>
            <a:ext cx="332400" cy="338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2200"/>
              <a:buFont typeface="Arial"/>
              <a:buNone/>
            </a:pPr>
            <a:r>
              <a:rPr b="1" i="0" lang="es" sz="2200" u="none" cap="none" strike="noStrike">
                <a:solidFill>
                  <a:srgbClr val="000000"/>
                </a:solidFill>
                <a:latin typeface="Montserrat"/>
                <a:ea typeface="Montserrat"/>
                <a:cs typeface="Montserrat"/>
                <a:sym typeface="Montserrat"/>
              </a:rPr>
              <a:t>2</a:t>
            </a:r>
            <a:endParaRPr b="1" i="0" sz="700" u="none" cap="none" strike="noStrike">
              <a:solidFill>
                <a:srgbClr val="000000"/>
              </a:solidFill>
            </a:endParaRPr>
          </a:p>
        </p:txBody>
      </p:sp>
      <p:sp>
        <p:nvSpPr>
          <p:cNvPr id="254" name="Google Shape;254;p29"/>
          <p:cNvSpPr txBox="1"/>
          <p:nvPr/>
        </p:nvSpPr>
        <p:spPr>
          <a:xfrm>
            <a:off x="1298286" y="434253"/>
            <a:ext cx="6349500" cy="22134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700"/>
              <a:buFont typeface="Arial"/>
              <a:buNone/>
            </a:pPr>
            <a:r>
              <a:rPr b="1" i="0" lang="es" sz="1700" u="none" cap="none" strike="noStrike">
                <a:solidFill>
                  <a:srgbClr val="000000"/>
                </a:solidFill>
                <a:latin typeface="Montserrat"/>
                <a:ea typeface="Montserrat"/>
                <a:cs typeface="Montserrat"/>
                <a:sym typeface="Montserrat"/>
              </a:rPr>
              <a:t>Incremental:</a:t>
            </a:r>
            <a:r>
              <a:rPr b="0" i="0" lang="es" sz="1700" u="none" cap="none" strike="noStrike">
                <a:solidFill>
                  <a:srgbClr val="000000"/>
                </a:solidFill>
                <a:latin typeface="Montserrat"/>
                <a:ea typeface="Montserrat"/>
                <a:cs typeface="Montserrat"/>
                <a:sym typeface="Montserrat"/>
              </a:rPr>
              <a:t> </a:t>
            </a:r>
            <a:endParaRPr b="0" i="0" sz="1700" u="none" cap="none" strike="noStrike">
              <a:solidFill>
                <a:srgbClr val="000000"/>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1700"/>
              <a:buFont typeface="Arial"/>
              <a:buNone/>
            </a:pPr>
            <a:r>
              <a:rPr b="0" i="0" lang="es" sz="1500" u="none" cap="none" strike="noStrike">
                <a:solidFill>
                  <a:srgbClr val="F2F2F2"/>
                </a:solidFill>
                <a:latin typeface="Montserrat"/>
                <a:ea typeface="Montserrat"/>
                <a:cs typeface="Montserrat"/>
                <a:sym typeface="Montserrat"/>
              </a:rPr>
              <a:t>Todos los requerimientos se dividen en varias compilaciones. Se producen varios ciclos de desarrollo, por lo que podríamos llamar a este ciclo "multi cascada". </a:t>
            </a:r>
            <a:endParaRPr b="0" i="0" sz="1500" u="none" cap="none" strike="noStrike">
              <a:solidFill>
                <a:srgbClr val="F2F2F2"/>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1700"/>
              <a:buFont typeface="Arial"/>
              <a:buNone/>
            </a:pPr>
            <a:r>
              <a:rPr b="0" i="0" lang="es" sz="1500" u="none" cap="none" strike="noStrike">
                <a:solidFill>
                  <a:srgbClr val="F2F2F2"/>
                </a:solidFill>
                <a:latin typeface="Montserrat"/>
                <a:ea typeface="Montserrat"/>
                <a:cs typeface="Montserrat"/>
                <a:sym typeface="Montserrat"/>
              </a:rPr>
              <a:t>Los ciclos se dividen en módulos más pequeños y más fáciles de gestionar. Cada módulo pasa por las fases de requerimientos, diseño, implementación y pruebas. </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B4B0"/>
        </a:solidFill>
      </p:bgPr>
    </p:bg>
    <p:spTree>
      <p:nvGrpSpPr>
        <p:cNvPr id="258" name="Shape 258"/>
        <p:cNvGrpSpPr/>
        <p:nvPr/>
      </p:nvGrpSpPr>
      <p:grpSpPr>
        <a:xfrm>
          <a:off x="0" y="0"/>
          <a:ext cx="0" cy="0"/>
          <a:chOff x="0" y="0"/>
          <a:chExt cx="0" cy="0"/>
        </a:xfrm>
      </p:grpSpPr>
      <p:sp>
        <p:nvSpPr>
          <p:cNvPr id="259" name="Google Shape;259;p30"/>
          <p:cNvSpPr/>
          <p:nvPr/>
        </p:nvSpPr>
        <p:spPr>
          <a:xfrm>
            <a:off x="7828966" y="-24419"/>
            <a:ext cx="1315034" cy="1385462"/>
          </a:xfrm>
          <a:custGeom>
            <a:rect b="b" l="l" r="r" t="t"/>
            <a:pathLst>
              <a:path extrusionOk="0" h="2770923" w="2630068">
                <a:moveTo>
                  <a:pt x="0" y="0"/>
                </a:moveTo>
                <a:lnTo>
                  <a:pt x="2630068" y="0"/>
                </a:lnTo>
                <a:lnTo>
                  <a:pt x="2630068" y="2770923"/>
                </a:lnTo>
                <a:lnTo>
                  <a:pt x="0" y="2770923"/>
                </a:lnTo>
                <a:lnTo>
                  <a:pt x="0" y="0"/>
                </a:lnTo>
                <a:close/>
              </a:path>
            </a:pathLst>
          </a:custGeom>
          <a:blipFill rotWithShape="1">
            <a:blip r:embed="rId3">
              <a:alphaModFix/>
            </a:blip>
            <a:stretch>
              <a:fillRect b="0" l="0" r="0" t="0"/>
            </a:stretch>
          </a:blipFill>
          <a:ln>
            <a:noFill/>
          </a:ln>
        </p:spPr>
      </p:sp>
      <p:sp>
        <p:nvSpPr>
          <p:cNvPr id="260" name="Google Shape;260;p30"/>
          <p:cNvSpPr/>
          <p:nvPr/>
        </p:nvSpPr>
        <p:spPr>
          <a:xfrm rot="10800000">
            <a:off x="0" y="3758038"/>
            <a:ext cx="1315034" cy="1385461"/>
          </a:xfrm>
          <a:custGeom>
            <a:rect b="b" l="l" r="r" t="t"/>
            <a:pathLst>
              <a:path extrusionOk="0" h="2770923" w="2630068">
                <a:moveTo>
                  <a:pt x="2630068" y="2770923"/>
                </a:moveTo>
                <a:lnTo>
                  <a:pt x="0" y="2770923"/>
                </a:lnTo>
                <a:lnTo>
                  <a:pt x="0" y="0"/>
                </a:lnTo>
                <a:lnTo>
                  <a:pt x="2630068" y="0"/>
                </a:lnTo>
                <a:lnTo>
                  <a:pt x="2630068" y="2770923"/>
                </a:lnTo>
                <a:close/>
              </a:path>
            </a:pathLst>
          </a:custGeom>
          <a:blipFill rotWithShape="1">
            <a:blip r:embed="rId3">
              <a:alphaModFix/>
            </a:blip>
            <a:stretch>
              <a:fillRect b="0" l="0" r="0" t="0"/>
            </a:stretch>
          </a:blipFill>
          <a:ln>
            <a:noFill/>
          </a:ln>
        </p:spPr>
      </p:sp>
      <p:grpSp>
        <p:nvGrpSpPr>
          <p:cNvPr id="261" name="Google Shape;261;p30"/>
          <p:cNvGrpSpPr/>
          <p:nvPr/>
        </p:nvGrpSpPr>
        <p:grpSpPr>
          <a:xfrm>
            <a:off x="8372475" y="4299642"/>
            <a:ext cx="1543101" cy="510317"/>
            <a:chOff x="0" y="-38100"/>
            <a:chExt cx="812800" cy="268800"/>
          </a:xfrm>
        </p:grpSpPr>
        <p:sp>
          <p:nvSpPr>
            <p:cNvPr id="262" name="Google Shape;262;p30"/>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1E5A66"/>
            </a:solidFill>
            <a:ln>
              <a:noFill/>
            </a:ln>
          </p:spPr>
        </p:sp>
        <p:sp>
          <p:nvSpPr>
            <p:cNvPr id="263" name="Google Shape;263;p30"/>
            <p:cNvSpPr txBox="1"/>
            <p:nvPr/>
          </p:nvSpPr>
          <p:spPr>
            <a:xfrm>
              <a:off x="0" y="-38100"/>
              <a:ext cx="812700" cy="268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64" name="Google Shape;264;p30"/>
          <p:cNvSpPr/>
          <p:nvPr/>
        </p:nvSpPr>
        <p:spPr>
          <a:xfrm>
            <a:off x="1298284" y="1598919"/>
            <a:ext cx="6133068" cy="1945666"/>
          </a:xfrm>
          <a:custGeom>
            <a:rect b="b" l="l" r="r" t="t"/>
            <a:pathLst>
              <a:path extrusionOk="0" h="3891332" w="12266136">
                <a:moveTo>
                  <a:pt x="0" y="0"/>
                </a:moveTo>
                <a:lnTo>
                  <a:pt x="12266136" y="0"/>
                </a:lnTo>
                <a:lnTo>
                  <a:pt x="12266136" y="3891332"/>
                </a:lnTo>
                <a:lnTo>
                  <a:pt x="0" y="3891332"/>
                </a:lnTo>
                <a:lnTo>
                  <a:pt x="0" y="0"/>
                </a:lnTo>
                <a:close/>
              </a:path>
            </a:pathLst>
          </a:custGeom>
          <a:blipFill rotWithShape="1">
            <a:blip r:embed="rId4">
              <a:alphaModFix/>
            </a:blip>
            <a:stretch>
              <a:fillRect b="-430" l="0" r="0" t="-430"/>
            </a:stretch>
          </a:blipFill>
          <a:ln>
            <a:noFill/>
          </a:ln>
        </p:spPr>
      </p:sp>
      <p:sp>
        <p:nvSpPr>
          <p:cNvPr id="265" name="Google Shape;265;p30"/>
          <p:cNvSpPr/>
          <p:nvPr/>
        </p:nvSpPr>
        <p:spPr>
          <a:xfrm rot="-2687853">
            <a:off x="740516" y="566308"/>
            <a:ext cx="475872" cy="477551"/>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5">
              <a:alphaModFix/>
            </a:blip>
            <a:stretch>
              <a:fillRect b="0" l="0" r="0" t="0"/>
            </a:stretch>
          </a:blipFill>
          <a:ln>
            <a:noFill/>
          </a:ln>
        </p:spPr>
      </p:sp>
      <p:grpSp>
        <p:nvGrpSpPr>
          <p:cNvPr id="266" name="Google Shape;266;p30"/>
          <p:cNvGrpSpPr/>
          <p:nvPr/>
        </p:nvGrpSpPr>
        <p:grpSpPr>
          <a:xfrm>
            <a:off x="640773" y="843018"/>
            <a:ext cx="284643" cy="284643"/>
            <a:chOff x="0" y="0"/>
            <a:chExt cx="812800" cy="812800"/>
          </a:xfrm>
        </p:grpSpPr>
        <p:sp>
          <p:nvSpPr>
            <p:cNvPr id="267" name="Google Shape;267;p3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68" name="Google Shape;268;p30"/>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69" name="Google Shape;269;p30"/>
          <p:cNvSpPr txBox="1"/>
          <p:nvPr/>
        </p:nvSpPr>
        <p:spPr>
          <a:xfrm>
            <a:off x="810949" y="598341"/>
            <a:ext cx="332400" cy="338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2200"/>
              <a:buFont typeface="Arial"/>
              <a:buNone/>
            </a:pPr>
            <a:r>
              <a:rPr b="1" i="0" lang="es" sz="2200" u="none" cap="none" strike="noStrike">
                <a:solidFill>
                  <a:srgbClr val="000000"/>
                </a:solidFill>
                <a:latin typeface="Montserrat"/>
                <a:ea typeface="Montserrat"/>
                <a:cs typeface="Montserrat"/>
                <a:sym typeface="Montserrat"/>
              </a:rPr>
              <a:t>2</a:t>
            </a:r>
            <a:endParaRPr b="1" i="0" sz="700" u="none" cap="none" strike="noStrike">
              <a:solidFill>
                <a:srgbClr val="000000"/>
              </a:solidFill>
            </a:endParaRPr>
          </a:p>
        </p:txBody>
      </p:sp>
      <p:sp>
        <p:nvSpPr>
          <p:cNvPr id="270" name="Google Shape;270;p30"/>
          <p:cNvSpPr txBox="1"/>
          <p:nvPr/>
        </p:nvSpPr>
        <p:spPr>
          <a:xfrm>
            <a:off x="1298286" y="434253"/>
            <a:ext cx="6349500" cy="458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700"/>
              <a:buFont typeface="Arial"/>
              <a:buNone/>
            </a:pPr>
            <a:r>
              <a:rPr b="1" i="0" lang="es" sz="1700" u="none" cap="none" strike="noStrike">
                <a:solidFill>
                  <a:srgbClr val="000000"/>
                </a:solidFill>
                <a:latin typeface="Montserrat"/>
                <a:ea typeface="Montserrat"/>
                <a:cs typeface="Montserrat"/>
                <a:sym typeface="Montserrat"/>
              </a:rPr>
              <a:t>Incremental:</a:t>
            </a:r>
            <a:r>
              <a:rPr b="0" i="0" lang="es" sz="1700" u="none" cap="none" strike="noStrike">
                <a:solidFill>
                  <a:srgbClr val="000000"/>
                </a:solidFill>
                <a:latin typeface="Montserrat"/>
                <a:ea typeface="Montserrat"/>
                <a:cs typeface="Montserrat"/>
                <a:sym typeface="Montserrat"/>
              </a:rPr>
              <a:t> </a:t>
            </a:r>
            <a:endParaRPr b="0" i="0" sz="1700" u="none" cap="none" strike="noStrike">
              <a:solidFill>
                <a:srgbClr val="000000"/>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1700"/>
              <a:buFont typeface="Arial"/>
              <a:buNone/>
            </a:pPr>
            <a:r>
              <a:t/>
            </a:r>
            <a:endParaRPr b="0" i="0" sz="6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B4B0"/>
        </a:solidFill>
      </p:bgPr>
    </p:bg>
    <p:spTree>
      <p:nvGrpSpPr>
        <p:cNvPr id="274" name="Shape 274"/>
        <p:cNvGrpSpPr/>
        <p:nvPr/>
      </p:nvGrpSpPr>
      <p:grpSpPr>
        <a:xfrm>
          <a:off x="0" y="0"/>
          <a:ext cx="0" cy="0"/>
          <a:chOff x="0" y="0"/>
          <a:chExt cx="0" cy="0"/>
        </a:xfrm>
      </p:grpSpPr>
      <p:sp>
        <p:nvSpPr>
          <p:cNvPr id="275" name="Google Shape;275;p31"/>
          <p:cNvSpPr/>
          <p:nvPr/>
        </p:nvSpPr>
        <p:spPr>
          <a:xfrm rot="-2687853">
            <a:off x="420957" y="430725"/>
            <a:ext cx="475872" cy="477551"/>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276" name="Google Shape;276;p31"/>
          <p:cNvGrpSpPr/>
          <p:nvPr/>
        </p:nvGrpSpPr>
        <p:grpSpPr>
          <a:xfrm>
            <a:off x="321214" y="707435"/>
            <a:ext cx="284643" cy="284643"/>
            <a:chOff x="0" y="0"/>
            <a:chExt cx="812800" cy="812800"/>
          </a:xfrm>
        </p:grpSpPr>
        <p:sp>
          <p:nvSpPr>
            <p:cNvPr id="277" name="Google Shape;277;p3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78" name="Google Shape;278;p31"/>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79" name="Google Shape;279;p31"/>
          <p:cNvSpPr/>
          <p:nvPr/>
        </p:nvSpPr>
        <p:spPr>
          <a:xfrm>
            <a:off x="7828966" y="-24419"/>
            <a:ext cx="1315034" cy="1385462"/>
          </a:xfrm>
          <a:custGeom>
            <a:rect b="b" l="l" r="r" t="t"/>
            <a:pathLst>
              <a:path extrusionOk="0" h="2770923" w="2630068">
                <a:moveTo>
                  <a:pt x="0" y="0"/>
                </a:moveTo>
                <a:lnTo>
                  <a:pt x="2630068" y="0"/>
                </a:lnTo>
                <a:lnTo>
                  <a:pt x="2630068" y="2770923"/>
                </a:lnTo>
                <a:lnTo>
                  <a:pt x="0" y="2770923"/>
                </a:lnTo>
                <a:lnTo>
                  <a:pt x="0" y="0"/>
                </a:lnTo>
                <a:close/>
              </a:path>
            </a:pathLst>
          </a:custGeom>
          <a:blipFill rotWithShape="1">
            <a:blip r:embed="rId4">
              <a:alphaModFix/>
            </a:blip>
            <a:stretch>
              <a:fillRect b="0" l="0" r="0" t="0"/>
            </a:stretch>
          </a:blipFill>
          <a:ln>
            <a:noFill/>
          </a:ln>
        </p:spPr>
      </p:sp>
      <p:sp>
        <p:nvSpPr>
          <p:cNvPr id="280" name="Google Shape;280;p31"/>
          <p:cNvSpPr/>
          <p:nvPr/>
        </p:nvSpPr>
        <p:spPr>
          <a:xfrm rot="10800000">
            <a:off x="0" y="3758038"/>
            <a:ext cx="1315034" cy="1385461"/>
          </a:xfrm>
          <a:custGeom>
            <a:rect b="b" l="l" r="r" t="t"/>
            <a:pathLst>
              <a:path extrusionOk="0" h="2770923" w="2630068">
                <a:moveTo>
                  <a:pt x="2630068" y="2770923"/>
                </a:moveTo>
                <a:lnTo>
                  <a:pt x="0" y="2770923"/>
                </a:lnTo>
                <a:lnTo>
                  <a:pt x="0" y="0"/>
                </a:lnTo>
                <a:lnTo>
                  <a:pt x="2630068" y="0"/>
                </a:lnTo>
                <a:lnTo>
                  <a:pt x="2630068" y="2770923"/>
                </a:lnTo>
                <a:close/>
              </a:path>
            </a:pathLst>
          </a:custGeom>
          <a:blipFill rotWithShape="1">
            <a:blip r:embed="rId4">
              <a:alphaModFix/>
            </a:blip>
            <a:stretch>
              <a:fillRect b="0" l="0" r="0" t="0"/>
            </a:stretch>
          </a:blipFill>
          <a:ln>
            <a:noFill/>
          </a:ln>
        </p:spPr>
      </p:sp>
      <p:grpSp>
        <p:nvGrpSpPr>
          <p:cNvPr id="281" name="Google Shape;281;p31"/>
          <p:cNvGrpSpPr/>
          <p:nvPr/>
        </p:nvGrpSpPr>
        <p:grpSpPr>
          <a:xfrm>
            <a:off x="8372475" y="4299642"/>
            <a:ext cx="1543101" cy="510317"/>
            <a:chOff x="0" y="-38100"/>
            <a:chExt cx="812800" cy="268800"/>
          </a:xfrm>
        </p:grpSpPr>
        <p:sp>
          <p:nvSpPr>
            <p:cNvPr id="282" name="Google Shape;282;p31"/>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1E5A66"/>
            </a:solidFill>
            <a:ln>
              <a:noFill/>
            </a:ln>
          </p:spPr>
        </p:sp>
        <p:sp>
          <p:nvSpPr>
            <p:cNvPr id="283" name="Google Shape;283;p31"/>
            <p:cNvSpPr txBox="1"/>
            <p:nvPr/>
          </p:nvSpPr>
          <p:spPr>
            <a:xfrm>
              <a:off x="0" y="-38100"/>
              <a:ext cx="812700" cy="268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84" name="Google Shape;284;p31"/>
          <p:cNvSpPr/>
          <p:nvPr/>
        </p:nvSpPr>
        <p:spPr>
          <a:xfrm>
            <a:off x="5068975" y="1488450"/>
            <a:ext cx="3519421" cy="3151285"/>
          </a:xfrm>
          <a:custGeom>
            <a:rect b="b" l="l" r="r" t="t"/>
            <a:pathLst>
              <a:path extrusionOk="0" h="7503060" w="8636615">
                <a:moveTo>
                  <a:pt x="0" y="0"/>
                </a:moveTo>
                <a:lnTo>
                  <a:pt x="8636615" y="0"/>
                </a:lnTo>
                <a:lnTo>
                  <a:pt x="8636615" y="7503060"/>
                </a:lnTo>
                <a:lnTo>
                  <a:pt x="0" y="7503060"/>
                </a:lnTo>
                <a:lnTo>
                  <a:pt x="0" y="0"/>
                </a:lnTo>
                <a:close/>
              </a:path>
            </a:pathLst>
          </a:custGeom>
          <a:blipFill rotWithShape="1">
            <a:blip r:embed="rId5">
              <a:alphaModFix/>
            </a:blip>
            <a:stretch>
              <a:fillRect b="0" l="0" r="0" t="0"/>
            </a:stretch>
          </a:blipFill>
          <a:ln>
            <a:noFill/>
          </a:ln>
        </p:spPr>
      </p:sp>
      <p:sp>
        <p:nvSpPr>
          <p:cNvPr id="285" name="Google Shape;285;p31"/>
          <p:cNvSpPr txBox="1"/>
          <p:nvPr/>
        </p:nvSpPr>
        <p:spPr>
          <a:xfrm>
            <a:off x="491390" y="462759"/>
            <a:ext cx="332400" cy="338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2200"/>
              <a:buFont typeface="Arial"/>
              <a:buNone/>
            </a:pPr>
            <a:r>
              <a:rPr b="1" i="0" lang="es" sz="2200" u="none" cap="none" strike="noStrike">
                <a:solidFill>
                  <a:srgbClr val="000000"/>
                </a:solidFill>
                <a:latin typeface="Montserrat"/>
                <a:ea typeface="Montserrat"/>
                <a:cs typeface="Montserrat"/>
                <a:sym typeface="Montserrat"/>
              </a:rPr>
              <a:t>3</a:t>
            </a:r>
            <a:endParaRPr b="1" i="0" sz="700" u="none" cap="none" strike="noStrike">
              <a:solidFill>
                <a:srgbClr val="000000"/>
              </a:solidFill>
            </a:endParaRPr>
          </a:p>
        </p:txBody>
      </p:sp>
      <p:sp>
        <p:nvSpPr>
          <p:cNvPr id="286" name="Google Shape;286;p31"/>
          <p:cNvSpPr txBox="1"/>
          <p:nvPr/>
        </p:nvSpPr>
        <p:spPr>
          <a:xfrm>
            <a:off x="1077188" y="1488449"/>
            <a:ext cx="3699900" cy="3140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600"/>
              <a:buFont typeface="Arial"/>
              <a:buNone/>
            </a:pPr>
            <a:r>
              <a:rPr b="0" i="0" lang="es" sz="1500" u="none" cap="none" strike="noStrike">
                <a:solidFill>
                  <a:srgbClr val="F2F2F2"/>
                </a:solidFill>
                <a:latin typeface="Montserrat"/>
                <a:ea typeface="Montserrat"/>
                <a:cs typeface="Montserrat"/>
                <a:sym typeface="Montserrat"/>
              </a:rPr>
              <a:t>El modelo espiral tiene cuatro fases: </a:t>
            </a:r>
            <a:r>
              <a:rPr b="1" i="0" lang="es" sz="1500" u="none" cap="none" strike="noStrike">
                <a:solidFill>
                  <a:srgbClr val="F2F2F2"/>
                </a:solidFill>
                <a:latin typeface="Montserrat"/>
                <a:ea typeface="Montserrat"/>
                <a:cs typeface="Montserrat"/>
                <a:sym typeface="Montserrat"/>
              </a:rPr>
              <a:t>Planificación, Análisis de Riesgos, Implementación y Evaluación</a:t>
            </a:r>
            <a:r>
              <a:rPr b="0" i="0" lang="es" sz="1500" u="none" cap="none" strike="noStrike">
                <a:solidFill>
                  <a:srgbClr val="F2F2F2"/>
                </a:solidFill>
                <a:latin typeface="Montserrat"/>
                <a:ea typeface="Montserrat"/>
                <a:cs typeface="Montserrat"/>
                <a:sym typeface="Montserrat"/>
              </a:rPr>
              <a:t>. Un proyecto pasa repetidamente por estas fases en iteraciones (llamadas espirales, que es de donde este modelo toma su nombre). En la espiral inicial, se recopilan los requisitos y se evalúa el riesgo. Cada espiral posterior se basa en la espiral base.</a:t>
            </a:r>
            <a:endParaRPr b="0" i="0" sz="1500" u="none" cap="none" strike="noStrike">
              <a:solidFill>
                <a:srgbClr val="000000"/>
              </a:solidFill>
              <a:latin typeface="Arial"/>
              <a:ea typeface="Arial"/>
              <a:cs typeface="Arial"/>
              <a:sym typeface="Arial"/>
            </a:endParaRPr>
          </a:p>
        </p:txBody>
      </p:sp>
      <p:sp>
        <p:nvSpPr>
          <p:cNvPr id="287" name="Google Shape;287;p31"/>
          <p:cNvSpPr txBox="1"/>
          <p:nvPr/>
        </p:nvSpPr>
        <p:spPr>
          <a:xfrm>
            <a:off x="1136069" y="374875"/>
            <a:ext cx="7631400" cy="1222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600"/>
              <a:buFont typeface="Arial"/>
              <a:buNone/>
            </a:pPr>
            <a:r>
              <a:rPr b="1" i="0" lang="es" sz="1600" u="none" cap="none" strike="noStrike">
                <a:solidFill>
                  <a:srgbClr val="000000"/>
                </a:solidFill>
                <a:latin typeface="Montserrat"/>
                <a:ea typeface="Montserrat"/>
                <a:cs typeface="Montserrat"/>
                <a:sym typeface="Montserrat"/>
              </a:rPr>
              <a:t>Espiral:</a:t>
            </a:r>
            <a:r>
              <a:rPr b="0" i="0" lang="es" sz="1600" u="none" cap="none" strike="noStrike">
                <a:solidFill>
                  <a:srgbClr val="000000"/>
                </a:solidFill>
                <a:latin typeface="Montserrat"/>
                <a:ea typeface="Montserrat"/>
                <a:cs typeface="Montserrat"/>
                <a:sym typeface="Montserrat"/>
              </a:rPr>
              <a:t> </a:t>
            </a:r>
            <a:endParaRPr b="0" i="0" sz="1600" u="none" cap="none" strike="noStrike">
              <a:solidFill>
                <a:srgbClr val="000000"/>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1600"/>
              <a:buFont typeface="Arial"/>
              <a:buNone/>
            </a:pPr>
            <a:r>
              <a:rPr b="0" i="0" lang="es" sz="1500" u="none" cap="none" strike="noStrike">
                <a:solidFill>
                  <a:srgbClr val="F2F2F2"/>
                </a:solidFill>
                <a:latin typeface="Montserrat"/>
                <a:ea typeface="Montserrat"/>
                <a:cs typeface="Montserrat"/>
                <a:sym typeface="Montserrat"/>
              </a:rPr>
              <a:t>El modelo espiral es similar al modelo incremental, con mayor énfasis en el análisis de riesgo. </a:t>
            </a:r>
            <a:endParaRPr b="0" i="0" sz="1500" u="none" cap="none" strike="noStrike">
              <a:solidFill>
                <a:srgbClr val="F2F2F2"/>
              </a:solidFill>
              <a:latin typeface="Montserrat"/>
              <a:ea typeface="Montserrat"/>
              <a:cs typeface="Montserrat"/>
              <a:sym typeface="Montserrat"/>
            </a:endParaRPr>
          </a:p>
          <a:p>
            <a:pPr indent="0" lvl="0" marL="0" marR="0" rtl="0" algn="just">
              <a:lnSpc>
                <a:spcPct val="140000"/>
              </a:lnSpc>
              <a:spcBef>
                <a:spcPts val="0"/>
              </a:spcBef>
              <a:spcAft>
                <a:spcPts val="0"/>
              </a:spcAft>
              <a:buClr>
                <a:srgbClr val="000000"/>
              </a:buClr>
              <a:buSzPts val="1600"/>
              <a:buFont typeface="Arial"/>
              <a:buNone/>
            </a:pPr>
            <a:r>
              <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B4B0"/>
        </a:solidFill>
      </p:bgPr>
    </p:bg>
    <p:spTree>
      <p:nvGrpSpPr>
        <p:cNvPr id="291" name="Shape 291"/>
        <p:cNvGrpSpPr/>
        <p:nvPr/>
      </p:nvGrpSpPr>
      <p:grpSpPr>
        <a:xfrm>
          <a:off x="0" y="0"/>
          <a:ext cx="0" cy="0"/>
          <a:chOff x="0" y="0"/>
          <a:chExt cx="0" cy="0"/>
        </a:xfrm>
      </p:grpSpPr>
      <p:sp>
        <p:nvSpPr>
          <p:cNvPr id="292" name="Google Shape;292;p32"/>
          <p:cNvSpPr/>
          <p:nvPr/>
        </p:nvSpPr>
        <p:spPr>
          <a:xfrm rot="-2687853">
            <a:off x="1056539" y="989702"/>
            <a:ext cx="475872" cy="477551"/>
          </a:xfrm>
          <a:custGeom>
            <a:rect b="b" l="l" r="r" t="t"/>
            <a:pathLst>
              <a:path extrusionOk="0" h="951210" w="951210">
                <a:moveTo>
                  <a:pt x="0" y="0"/>
                </a:moveTo>
                <a:lnTo>
                  <a:pt x="951210" y="0"/>
                </a:lnTo>
                <a:lnTo>
                  <a:pt x="951210" y="951209"/>
                </a:lnTo>
                <a:lnTo>
                  <a:pt x="0" y="951209"/>
                </a:lnTo>
                <a:lnTo>
                  <a:pt x="0" y="0"/>
                </a:lnTo>
                <a:close/>
              </a:path>
            </a:pathLst>
          </a:custGeom>
          <a:blipFill rotWithShape="1">
            <a:blip r:embed="rId3">
              <a:alphaModFix/>
            </a:blip>
            <a:stretch>
              <a:fillRect b="0" l="0" r="0" t="0"/>
            </a:stretch>
          </a:blipFill>
          <a:ln>
            <a:noFill/>
          </a:ln>
        </p:spPr>
      </p:sp>
      <p:grpSp>
        <p:nvGrpSpPr>
          <p:cNvPr id="293" name="Google Shape;293;p32"/>
          <p:cNvGrpSpPr/>
          <p:nvPr/>
        </p:nvGrpSpPr>
        <p:grpSpPr>
          <a:xfrm>
            <a:off x="956796" y="1266412"/>
            <a:ext cx="284643" cy="284643"/>
            <a:chOff x="0" y="0"/>
            <a:chExt cx="812800" cy="812800"/>
          </a:xfrm>
        </p:grpSpPr>
        <p:sp>
          <p:nvSpPr>
            <p:cNvPr id="294" name="Google Shape;294;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295" name="Google Shape;295;p32"/>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296" name="Google Shape;296;p32"/>
          <p:cNvSpPr/>
          <p:nvPr/>
        </p:nvSpPr>
        <p:spPr>
          <a:xfrm>
            <a:off x="7828966" y="-24419"/>
            <a:ext cx="1315034" cy="1385462"/>
          </a:xfrm>
          <a:custGeom>
            <a:rect b="b" l="l" r="r" t="t"/>
            <a:pathLst>
              <a:path extrusionOk="0" h="2770923" w="2630068">
                <a:moveTo>
                  <a:pt x="0" y="0"/>
                </a:moveTo>
                <a:lnTo>
                  <a:pt x="2630068" y="0"/>
                </a:lnTo>
                <a:lnTo>
                  <a:pt x="2630068" y="2770923"/>
                </a:lnTo>
                <a:lnTo>
                  <a:pt x="0" y="2770923"/>
                </a:lnTo>
                <a:lnTo>
                  <a:pt x="0" y="0"/>
                </a:lnTo>
                <a:close/>
              </a:path>
            </a:pathLst>
          </a:custGeom>
          <a:blipFill rotWithShape="1">
            <a:blip r:embed="rId4">
              <a:alphaModFix/>
            </a:blip>
            <a:stretch>
              <a:fillRect b="0" l="0" r="0" t="0"/>
            </a:stretch>
          </a:blipFill>
          <a:ln>
            <a:noFill/>
          </a:ln>
        </p:spPr>
      </p:sp>
      <p:sp>
        <p:nvSpPr>
          <p:cNvPr id="297" name="Google Shape;297;p32"/>
          <p:cNvSpPr/>
          <p:nvPr/>
        </p:nvSpPr>
        <p:spPr>
          <a:xfrm rot="10800000">
            <a:off x="0" y="3758038"/>
            <a:ext cx="1315034" cy="1385461"/>
          </a:xfrm>
          <a:custGeom>
            <a:rect b="b" l="l" r="r" t="t"/>
            <a:pathLst>
              <a:path extrusionOk="0" h="2770923" w="2630068">
                <a:moveTo>
                  <a:pt x="2630068" y="2770923"/>
                </a:moveTo>
                <a:lnTo>
                  <a:pt x="0" y="2770923"/>
                </a:lnTo>
                <a:lnTo>
                  <a:pt x="0" y="0"/>
                </a:lnTo>
                <a:lnTo>
                  <a:pt x="2630068" y="0"/>
                </a:lnTo>
                <a:lnTo>
                  <a:pt x="2630068" y="2770923"/>
                </a:lnTo>
                <a:close/>
              </a:path>
            </a:pathLst>
          </a:custGeom>
          <a:blipFill rotWithShape="1">
            <a:blip r:embed="rId4">
              <a:alphaModFix/>
            </a:blip>
            <a:stretch>
              <a:fillRect b="0" l="0" r="0" t="0"/>
            </a:stretch>
          </a:blipFill>
          <a:ln>
            <a:noFill/>
          </a:ln>
        </p:spPr>
      </p:sp>
      <p:grpSp>
        <p:nvGrpSpPr>
          <p:cNvPr id="298" name="Google Shape;298;p32"/>
          <p:cNvGrpSpPr/>
          <p:nvPr/>
        </p:nvGrpSpPr>
        <p:grpSpPr>
          <a:xfrm>
            <a:off x="8372475" y="4299642"/>
            <a:ext cx="1543101" cy="510317"/>
            <a:chOff x="0" y="-38100"/>
            <a:chExt cx="812800" cy="268800"/>
          </a:xfrm>
        </p:grpSpPr>
        <p:sp>
          <p:nvSpPr>
            <p:cNvPr id="299" name="Google Shape;299;p32"/>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1E5A66"/>
            </a:solidFill>
            <a:ln>
              <a:noFill/>
            </a:ln>
          </p:spPr>
        </p:sp>
        <p:sp>
          <p:nvSpPr>
            <p:cNvPr id="300" name="Google Shape;300;p32"/>
            <p:cNvSpPr txBox="1"/>
            <p:nvPr/>
          </p:nvSpPr>
          <p:spPr>
            <a:xfrm>
              <a:off x="0" y="-38100"/>
              <a:ext cx="812700" cy="268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01" name="Google Shape;301;p32"/>
          <p:cNvSpPr txBox="1"/>
          <p:nvPr/>
        </p:nvSpPr>
        <p:spPr>
          <a:xfrm>
            <a:off x="1126972" y="1021735"/>
            <a:ext cx="332400" cy="338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2200"/>
              <a:buFont typeface="Arial"/>
              <a:buNone/>
            </a:pPr>
            <a:r>
              <a:rPr b="1" i="0" lang="es" sz="2200" u="none" cap="none" strike="noStrike">
                <a:solidFill>
                  <a:srgbClr val="000000"/>
                </a:solidFill>
                <a:latin typeface="Montserrat"/>
                <a:ea typeface="Montserrat"/>
                <a:cs typeface="Montserrat"/>
                <a:sym typeface="Montserrat"/>
              </a:rPr>
              <a:t>4</a:t>
            </a:r>
            <a:endParaRPr b="1" i="0" sz="700" u="none" cap="none" strike="noStrike">
              <a:solidFill>
                <a:srgbClr val="000000"/>
              </a:solidFill>
            </a:endParaRPr>
          </a:p>
        </p:txBody>
      </p:sp>
      <p:sp>
        <p:nvSpPr>
          <p:cNvPr id="302" name="Google Shape;302;p32"/>
          <p:cNvSpPr txBox="1"/>
          <p:nvPr/>
        </p:nvSpPr>
        <p:spPr>
          <a:xfrm>
            <a:off x="1629403" y="1035227"/>
            <a:ext cx="2193300" cy="323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100"/>
              <a:buFont typeface="Arial"/>
              <a:buNone/>
            </a:pPr>
            <a:r>
              <a:rPr b="1" i="0" lang="es" sz="2100" u="none" cap="none" strike="noStrike">
                <a:solidFill>
                  <a:srgbClr val="000000"/>
                </a:solidFill>
                <a:latin typeface="Montserrat"/>
                <a:ea typeface="Montserrat"/>
                <a:cs typeface="Montserrat"/>
                <a:sym typeface="Montserrat"/>
              </a:rPr>
              <a:t>PROTOTIPADO</a:t>
            </a:r>
            <a:endParaRPr b="0" i="0" sz="700" u="none" cap="none" strike="noStrike">
              <a:solidFill>
                <a:srgbClr val="000000"/>
              </a:solidFill>
              <a:latin typeface="Arial"/>
              <a:ea typeface="Arial"/>
              <a:cs typeface="Arial"/>
              <a:sym typeface="Arial"/>
            </a:endParaRPr>
          </a:p>
        </p:txBody>
      </p:sp>
      <p:sp>
        <p:nvSpPr>
          <p:cNvPr id="303" name="Google Shape;303;p32"/>
          <p:cNvSpPr/>
          <p:nvPr/>
        </p:nvSpPr>
        <p:spPr>
          <a:xfrm rot="-2687853">
            <a:off x="5207213" y="989702"/>
            <a:ext cx="475872" cy="477551"/>
          </a:xfrm>
          <a:custGeom>
            <a:rect b="b" l="l" r="r" t="t"/>
            <a:pathLst>
              <a:path extrusionOk="0" h="951210" w="951210">
                <a:moveTo>
                  <a:pt x="0" y="0"/>
                </a:moveTo>
                <a:lnTo>
                  <a:pt x="951210" y="0"/>
                </a:lnTo>
                <a:lnTo>
                  <a:pt x="951210" y="951209"/>
                </a:lnTo>
                <a:lnTo>
                  <a:pt x="0" y="951209"/>
                </a:lnTo>
                <a:lnTo>
                  <a:pt x="0" y="0"/>
                </a:lnTo>
                <a:close/>
              </a:path>
            </a:pathLst>
          </a:custGeom>
          <a:blipFill rotWithShape="1">
            <a:blip r:embed="rId3">
              <a:alphaModFix/>
            </a:blip>
            <a:stretch>
              <a:fillRect b="0" l="0" r="0" t="0"/>
            </a:stretch>
          </a:blipFill>
          <a:ln>
            <a:noFill/>
          </a:ln>
        </p:spPr>
      </p:sp>
      <p:grpSp>
        <p:nvGrpSpPr>
          <p:cNvPr id="304" name="Google Shape;304;p32"/>
          <p:cNvGrpSpPr/>
          <p:nvPr/>
        </p:nvGrpSpPr>
        <p:grpSpPr>
          <a:xfrm>
            <a:off x="5107470" y="1266412"/>
            <a:ext cx="284643" cy="284643"/>
            <a:chOff x="0" y="0"/>
            <a:chExt cx="812800" cy="812800"/>
          </a:xfrm>
        </p:grpSpPr>
        <p:sp>
          <p:nvSpPr>
            <p:cNvPr id="305" name="Google Shape;305;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06" name="Google Shape;306;p32"/>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07" name="Google Shape;307;p32"/>
          <p:cNvSpPr txBox="1"/>
          <p:nvPr/>
        </p:nvSpPr>
        <p:spPr>
          <a:xfrm>
            <a:off x="5277646" y="1021735"/>
            <a:ext cx="332400" cy="338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2200"/>
              <a:buFont typeface="Arial"/>
              <a:buNone/>
            </a:pPr>
            <a:r>
              <a:rPr b="1" i="0" lang="es" sz="2200" u="none" cap="none" strike="noStrike">
                <a:solidFill>
                  <a:srgbClr val="000000"/>
                </a:solidFill>
                <a:latin typeface="Montserrat"/>
                <a:ea typeface="Montserrat"/>
                <a:cs typeface="Montserrat"/>
                <a:sym typeface="Montserrat"/>
              </a:rPr>
              <a:t>5</a:t>
            </a:r>
            <a:endParaRPr b="1" i="0" sz="700" u="none" cap="none" strike="noStrike">
              <a:solidFill>
                <a:srgbClr val="000000"/>
              </a:solidFill>
            </a:endParaRPr>
          </a:p>
        </p:txBody>
      </p:sp>
      <p:sp>
        <p:nvSpPr>
          <p:cNvPr id="308" name="Google Shape;308;p32"/>
          <p:cNvSpPr txBox="1"/>
          <p:nvPr/>
        </p:nvSpPr>
        <p:spPr>
          <a:xfrm>
            <a:off x="5780077" y="1035227"/>
            <a:ext cx="2193300" cy="3231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100"/>
              <a:buFont typeface="Arial"/>
              <a:buNone/>
            </a:pPr>
            <a:r>
              <a:rPr b="1" i="0" lang="es" sz="2100" u="none" cap="none" strike="noStrike">
                <a:solidFill>
                  <a:srgbClr val="000000"/>
                </a:solidFill>
                <a:latin typeface="Montserrat"/>
                <a:ea typeface="Montserrat"/>
                <a:cs typeface="Montserrat"/>
                <a:sym typeface="Montserrat"/>
              </a:rPr>
              <a:t>MODELO V</a:t>
            </a:r>
            <a:endParaRPr b="0" i="0" sz="700" u="none" cap="none" strike="noStrike">
              <a:solidFill>
                <a:srgbClr val="000000"/>
              </a:solidFill>
              <a:latin typeface="Arial"/>
              <a:ea typeface="Arial"/>
              <a:cs typeface="Arial"/>
              <a:sym typeface="Arial"/>
            </a:endParaRPr>
          </a:p>
        </p:txBody>
      </p:sp>
      <p:sp>
        <p:nvSpPr>
          <p:cNvPr id="309" name="Google Shape;309;p32"/>
          <p:cNvSpPr/>
          <p:nvPr/>
        </p:nvSpPr>
        <p:spPr>
          <a:xfrm rot="-2687853">
            <a:off x="1056539" y="2708979"/>
            <a:ext cx="475872" cy="477551"/>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310" name="Google Shape;310;p32"/>
          <p:cNvGrpSpPr/>
          <p:nvPr/>
        </p:nvGrpSpPr>
        <p:grpSpPr>
          <a:xfrm>
            <a:off x="956796" y="2985689"/>
            <a:ext cx="284643" cy="284643"/>
            <a:chOff x="0" y="0"/>
            <a:chExt cx="812800" cy="812800"/>
          </a:xfrm>
        </p:grpSpPr>
        <p:sp>
          <p:nvSpPr>
            <p:cNvPr id="311" name="Google Shape;311;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2" name="Google Shape;312;p32"/>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13" name="Google Shape;313;p32"/>
          <p:cNvSpPr txBox="1"/>
          <p:nvPr/>
        </p:nvSpPr>
        <p:spPr>
          <a:xfrm>
            <a:off x="1126972" y="2741012"/>
            <a:ext cx="332400" cy="338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2200"/>
              <a:buFont typeface="Arial"/>
              <a:buNone/>
            </a:pPr>
            <a:r>
              <a:rPr b="1" i="0" lang="es" sz="2200" u="none" cap="none" strike="noStrike">
                <a:solidFill>
                  <a:srgbClr val="000000"/>
                </a:solidFill>
                <a:latin typeface="Montserrat"/>
                <a:ea typeface="Montserrat"/>
                <a:cs typeface="Montserrat"/>
                <a:sym typeface="Montserrat"/>
              </a:rPr>
              <a:t>6</a:t>
            </a:r>
            <a:endParaRPr b="1" i="0" sz="700" u="none" cap="none" strike="noStrike">
              <a:solidFill>
                <a:srgbClr val="000000"/>
              </a:solidFill>
            </a:endParaRPr>
          </a:p>
        </p:txBody>
      </p:sp>
      <p:sp>
        <p:nvSpPr>
          <p:cNvPr id="314" name="Google Shape;314;p32"/>
          <p:cNvSpPr txBox="1"/>
          <p:nvPr/>
        </p:nvSpPr>
        <p:spPr>
          <a:xfrm>
            <a:off x="1629403" y="2754504"/>
            <a:ext cx="2029500" cy="16809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100"/>
              <a:buFont typeface="Arial"/>
              <a:buNone/>
            </a:pPr>
            <a:r>
              <a:rPr b="1" i="0" lang="es" sz="2100" u="none" cap="none" strike="noStrike">
                <a:solidFill>
                  <a:srgbClr val="000000"/>
                </a:solidFill>
                <a:latin typeface="Montserrat"/>
                <a:ea typeface="Montserrat"/>
                <a:cs typeface="Montserrat"/>
                <a:sym typeface="Montserrat"/>
              </a:rPr>
              <a:t>MODELO RAD (Rapid Application Development)</a:t>
            </a:r>
            <a:endParaRPr b="0" i="0" sz="700" u="none" cap="none" strike="noStrike">
              <a:solidFill>
                <a:srgbClr val="000000"/>
              </a:solidFill>
              <a:latin typeface="Arial"/>
              <a:ea typeface="Arial"/>
              <a:cs typeface="Arial"/>
              <a:sym typeface="Arial"/>
            </a:endParaRPr>
          </a:p>
        </p:txBody>
      </p:sp>
      <p:sp>
        <p:nvSpPr>
          <p:cNvPr id="315" name="Google Shape;315;p32"/>
          <p:cNvSpPr/>
          <p:nvPr/>
        </p:nvSpPr>
        <p:spPr>
          <a:xfrm rot="-2687853">
            <a:off x="5377389" y="2748103"/>
            <a:ext cx="475872" cy="477551"/>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316" name="Google Shape;316;p32"/>
          <p:cNvGrpSpPr/>
          <p:nvPr/>
        </p:nvGrpSpPr>
        <p:grpSpPr>
          <a:xfrm>
            <a:off x="5277646" y="3024813"/>
            <a:ext cx="284643" cy="284643"/>
            <a:chOff x="0" y="0"/>
            <a:chExt cx="812800" cy="812800"/>
          </a:xfrm>
        </p:grpSpPr>
        <p:sp>
          <p:nvSpPr>
            <p:cNvPr id="317" name="Google Shape;317;p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18" name="Google Shape;318;p32"/>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19" name="Google Shape;319;p32"/>
          <p:cNvSpPr txBox="1"/>
          <p:nvPr/>
        </p:nvSpPr>
        <p:spPr>
          <a:xfrm>
            <a:off x="5447822" y="2780136"/>
            <a:ext cx="332400" cy="3387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2200"/>
              <a:buFont typeface="Arial"/>
              <a:buNone/>
            </a:pPr>
            <a:r>
              <a:rPr b="1" i="0" lang="es" sz="2200" u="none" cap="none" strike="noStrike">
                <a:solidFill>
                  <a:srgbClr val="000000"/>
                </a:solidFill>
                <a:latin typeface="Montserrat"/>
                <a:ea typeface="Montserrat"/>
                <a:cs typeface="Montserrat"/>
                <a:sym typeface="Montserrat"/>
              </a:rPr>
              <a:t>7</a:t>
            </a:r>
            <a:endParaRPr b="1" i="0" sz="700" u="none" cap="none" strike="noStrike">
              <a:solidFill>
                <a:srgbClr val="000000"/>
              </a:solidFill>
            </a:endParaRPr>
          </a:p>
        </p:txBody>
      </p:sp>
      <p:sp>
        <p:nvSpPr>
          <p:cNvPr id="320" name="Google Shape;320;p32"/>
          <p:cNvSpPr txBox="1"/>
          <p:nvPr/>
        </p:nvSpPr>
        <p:spPr>
          <a:xfrm>
            <a:off x="5950253" y="2793627"/>
            <a:ext cx="2193300" cy="1228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2100"/>
              <a:buFont typeface="Arial"/>
              <a:buNone/>
            </a:pPr>
            <a:r>
              <a:rPr b="1" i="0" lang="es" sz="2100" u="none" cap="none" strike="noStrike">
                <a:solidFill>
                  <a:srgbClr val="000000"/>
                </a:solidFill>
                <a:latin typeface="Montserrat"/>
                <a:ea typeface="Montserrat"/>
                <a:cs typeface="Montserrat"/>
                <a:sym typeface="Montserrat"/>
              </a:rPr>
              <a:t>Iterativo, Sashimi, Evolutivo.</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grpSp>
        <p:nvGrpSpPr>
          <p:cNvPr id="325" name="Google Shape;325;p33"/>
          <p:cNvGrpSpPr/>
          <p:nvPr/>
        </p:nvGrpSpPr>
        <p:grpSpPr>
          <a:xfrm>
            <a:off x="5753420" y="-72319"/>
            <a:ext cx="5393111" cy="5288137"/>
            <a:chOff x="0" y="0"/>
            <a:chExt cx="14381630" cy="14101698"/>
          </a:xfrm>
        </p:grpSpPr>
        <p:sp>
          <p:nvSpPr>
            <p:cNvPr id="326" name="Google Shape;326;p33"/>
            <p:cNvSpPr/>
            <p:nvPr/>
          </p:nvSpPr>
          <p:spPr>
            <a:xfrm>
              <a:off x="0" y="7042815"/>
              <a:ext cx="12363028" cy="7058883"/>
            </a:xfrm>
            <a:custGeom>
              <a:rect b="b" l="l" r="r" t="t"/>
              <a:pathLst>
                <a:path extrusionOk="0" h="7058883" w="12363028">
                  <a:moveTo>
                    <a:pt x="0" y="0"/>
                  </a:moveTo>
                  <a:lnTo>
                    <a:pt x="12363028" y="0"/>
                  </a:lnTo>
                  <a:lnTo>
                    <a:pt x="12363028" y="7058883"/>
                  </a:lnTo>
                  <a:lnTo>
                    <a:pt x="0" y="7058883"/>
                  </a:lnTo>
                  <a:lnTo>
                    <a:pt x="0" y="0"/>
                  </a:lnTo>
                  <a:close/>
                </a:path>
              </a:pathLst>
            </a:custGeom>
            <a:blipFill rotWithShape="1">
              <a:blip r:embed="rId3">
                <a:alphaModFix/>
              </a:blip>
              <a:stretch>
                <a:fillRect b="0" l="0" r="0" t="-51570"/>
              </a:stretch>
            </a:blipFill>
            <a:ln>
              <a:noFill/>
            </a:ln>
          </p:spPr>
        </p:sp>
        <p:sp>
          <p:nvSpPr>
            <p:cNvPr id="327" name="Google Shape;327;p33"/>
            <p:cNvSpPr/>
            <p:nvPr/>
          </p:nvSpPr>
          <p:spPr>
            <a:xfrm>
              <a:off x="2018602" y="0"/>
              <a:ext cx="12363028" cy="7058883"/>
            </a:xfrm>
            <a:custGeom>
              <a:rect b="b" l="l" r="r" t="t"/>
              <a:pathLst>
                <a:path extrusionOk="0" h="7058883" w="12363028">
                  <a:moveTo>
                    <a:pt x="0" y="0"/>
                  </a:moveTo>
                  <a:lnTo>
                    <a:pt x="12363028" y="0"/>
                  </a:lnTo>
                  <a:lnTo>
                    <a:pt x="12363028" y="7058883"/>
                  </a:lnTo>
                  <a:lnTo>
                    <a:pt x="0" y="7058883"/>
                  </a:lnTo>
                  <a:lnTo>
                    <a:pt x="0" y="0"/>
                  </a:lnTo>
                  <a:close/>
                </a:path>
              </a:pathLst>
            </a:custGeom>
            <a:blipFill rotWithShape="1">
              <a:blip r:embed="rId3">
                <a:alphaModFix/>
              </a:blip>
              <a:stretch>
                <a:fillRect b="0" l="0" r="0" t="-51570"/>
              </a:stretch>
            </a:blipFill>
            <a:ln>
              <a:noFill/>
            </a:ln>
          </p:spPr>
        </p:sp>
      </p:grpSp>
      <p:cxnSp>
        <p:nvCxnSpPr>
          <p:cNvPr id="328" name="Google Shape;328;p33"/>
          <p:cNvCxnSpPr/>
          <p:nvPr/>
        </p:nvCxnSpPr>
        <p:spPr>
          <a:xfrm rot="10800000">
            <a:off x="395856" y="3680393"/>
            <a:ext cx="5105700" cy="0"/>
          </a:xfrm>
          <a:prstGeom prst="straightConnector1">
            <a:avLst/>
          </a:prstGeom>
          <a:noFill/>
          <a:ln cap="rnd" cmpd="sng" w="14300">
            <a:solidFill>
              <a:srgbClr val="86C7ED"/>
            </a:solidFill>
            <a:prstDash val="solid"/>
            <a:round/>
            <a:headEnd len="sm" w="sm" type="none"/>
            <a:tailEnd len="sm" w="sm" type="none"/>
          </a:ln>
        </p:spPr>
      </p:cxnSp>
      <p:sp>
        <p:nvSpPr>
          <p:cNvPr id="329" name="Google Shape;329;p33"/>
          <p:cNvSpPr/>
          <p:nvPr/>
        </p:nvSpPr>
        <p:spPr>
          <a:xfrm>
            <a:off x="-4700563" y="4340931"/>
            <a:ext cx="7902684" cy="1611630"/>
          </a:xfrm>
          <a:custGeom>
            <a:rect b="b" l="l" r="r" t="t"/>
            <a:pathLst>
              <a:path extrusionOk="0" h="5372100" w="26342280">
                <a:moveTo>
                  <a:pt x="24791611" y="0"/>
                </a:moveTo>
                <a:lnTo>
                  <a:pt x="1550670" y="0"/>
                </a:lnTo>
                <a:lnTo>
                  <a:pt x="0" y="2686050"/>
                </a:lnTo>
                <a:lnTo>
                  <a:pt x="1550670" y="5372100"/>
                </a:lnTo>
                <a:lnTo>
                  <a:pt x="24791611" y="5372100"/>
                </a:lnTo>
                <a:lnTo>
                  <a:pt x="26342280" y="2686050"/>
                </a:lnTo>
                <a:lnTo>
                  <a:pt x="24791611" y="0"/>
                </a:lnTo>
                <a:close/>
              </a:path>
            </a:pathLst>
          </a:custGeom>
          <a:solidFill>
            <a:srgbClr val="A066CB"/>
          </a:solidFill>
          <a:ln>
            <a:noFill/>
          </a:ln>
        </p:spPr>
      </p:sp>
      <p:sp>
        <p:nvSpPr>
          <p:cNvPr id="330" name="Google Shape;330;p33"/>
          <p:cNvSpPr txBox="1"/>
          <p:nvPr/>
        </p:nvSpPr>
        <p:spPr>
          <a:xfrm>
            <a:off x="395836" y="1836952"/>
            <a:ext cx="5888100" cy="18624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500"/>
              <a:buFont typeface="Arial"/>
              <a:buNone/>
            </a:pPr>
            <a:r>
              <a:rPr b="1" i="0" lang="es" sz="5500" u="none" cap="none" strike="noStrike">
                <a:solidFill>
                  <a:srgbClr val="1836B2"/>
                </a:solidFill>
                <a:latin typeface="Fira Sans Black"/>
                <a:ea typeface="Fira Sans Black"/>
                <a:cs typeface="Fira Sans Black"/>
                <a:sym typeface="Fira Sans Black"/>
              </a:rPr>
              <a:t>METODOLOGÍAS</a:t>
            </a:r>
            <a:endParaRPr b="0" i="0" sz="700" u="none" cap="none" strike="noStrike">
              <a:solidFill>
                <a:srgbClr val="000000"/>
              </a:solidFill>
              <a:latin typeface="Arial"/>
              <a:ea typeface="Arial"/>
              <a:cs typeface="Arial"/>
              <a:sym typeface="Arial"/>
            </a:endParaRPr>
          </a:p>
          <a:p>
            <a:pPr indent="0" lvl="0" marL="0" marR="0" rtl="0" algn="l">
              <a:lnSpc>
                <a:spcPct val="120000"/>
              </a:lnSpc>
              <a:spcBef>
                <a:spcPts val="0"/>
              </a:spcBef>
              <a:spcAft>
                <a:spcPts val="0"/>
              </a:spcAft>
              <a:buClr>
                <a:srgbClr val="000000"/>
              </a:buClr>
              <a:buSzPts val="5500"/>
              <a:buFont typeface="Arial"/>
              <a:buNone/>
            </a:pPr>
            <a:r>
              <a:rPr b="1" i="0" lang="es" sz="5500" u="none" cap="none" strike="noStrike">
                <a:solidFill>
                  <a:srgbClr val="1836B2"/>
                </a:solidFill>
                <a:latin typeface="Fira Sans Black"/>
                <a:ea typeface="Fira Sans Black"/>
                <a:cs typeface="Fira Sans Black"/>
                <a:sym typeface="Fira Sans Black"/>
              </a:rPr>
              <a:t>ÁGILES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4"/>
          <p:cNvSpPr txBox="1"/>
          <p:nvPr/>
        </p:nvSpPr>
        <p:spPr>
          <a:xfrm>
            <a:off x="514350" y="1097252"/>
            <a:ext cx="3048300" cy="7695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Clr>
                <a:srgbClr val="000000"/>
              </a:buClr>
              <a:buSzPts val="5000"/>
              <a:buFont typeface="Arial"/>
              <a:buNone/>
            </a:pPr>
            <a:r>
              <a:rPr b="1" i="0" lang="es" sz="5000" u="none" cap="none" strike="noStrike">
                <a:solidFill>
                  <a:srgbClr val="1836B2"/>
                </a:solidFill>
                <a:latin typeface="Fira Sans SemiBold"/>
                <a:ea typeface="Fira Sans SemiBold"/>
                <a:cs typeface="Fira Sans SemiBold"/>
                <a:sym typeface="Fira Sans SemiBold"/>
              </a:rPr>
              <a:t>Qué son?</a:t>
            </a:r>
            <a:endParaRPr b="0" i="0" sz="700" u="none" cap="none" strike="noStrike">
              <a:solidFill>
                <a:srgbClr val="000000"/>
              </a:solidFill>
              <a:latin typeface="Arial"/>
              <a:ea typeface="Arial"/>
              <a:cs typeface="Arial"/>
              <a:sym typeface="Arial"/>
            </a:endParaRPr>
          </a:p>
        </p:txBody>
      </p:sp>
      <p:sp>
        <p:nvSpPr>
          <p:cNvPr id="336" name="Google Shape;336;p34"/>
          <p:cNvSpPr/>
          <p:nvPr/>
        </p:nvSpPr>
        <p:spPr>
          <a:xfrm>
            <a:off x="696037" y="514350"/>
            <a:ext cx="549250" cy="313604"/>
          </a:xfrm>
          <a:custGeom>
            <a:rect b="b" l="l" r="r" t="t"/>
            <a:pathLst>
              <a:path extrusionOk="0" h="627207" w="1098500">
                <a:moveTo>
                  <a:pt x="0" y="0"/>
                </a:moveTo>
                <a:lnTo>
                  <a:pt x="1098500" y="0"/>
                </a:lnTo>
                <a:lnTo>
                  <a:pt x="1098500" y="627207"/>
                </a:lnTo>
                <a:lnTo>
                  <a:pt x="0" y="627207"/>
                </a:lnTo>
                <a:lnTo>
                  <a:pt x="0" y="0"/>
                </a:lnTo>
                <a:close/>
              </a:path>
            </a:pathLst>
          </a:custGeom>
          <a:blipFill rotWithShape="1">
            <a:blip r:embed="rId3">
              <a:alphaModFix/>
            </a:blip>
            <a:stretch>
              <a:fillRect b="0" l="0" r="0" t="-51570"/>
            </a:stretch>
          </a:blipFill>
          <a:ln>
            <a:noFill/>
          </a:ln>
        </p:spPr>
      </p:sp>
      <p:sp>
        <p:nvSpPr>
          <p:cNvPr id="337" name="Google Shape;337;p34"/>
          <p:cNvSpPr txBox="1"/>
          <p:nvPr/>
        </p:nvSpPr>
        <p:spPr>
          <a:xfrm>
            <a:off x="514350" y="1992025"/>
            <a:ext cx="8472900" cy="2463000"/>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Clr>
                <a:srgbClr val="000000"/>
              </a:buClr>
              <a:buSzPts val="2000"/>
              <a:buFont typeface="Arial"/>
              <a:buNone/>
            </a:pPr>
            <a:r>
              <a:rPr b="0" i="0" lang="es" sz="2000" u="none" cap="none" strike="noStrike">
                <a:solidFill>
                  <a:srgbClr val="000000"/>
                </a:solidFill>
                <a:latin typeface="Fira Sans"/>
                <a:ea typeface="Fira Sans"/>
                <a:cs typeface="Fira Sans"/>
                <a:sym typeface="Fira Sans"/>
              </a:rPr>
              <a:t>Las metodologías ágiles son enfoques de desarrollo de software basados en ciclos</a:t>
            </a:r>
            <a:r>
              <a:rPr b="1" i="0" lang="es" sz="2000" u="none" cap="none" strike="noStrike">
                <a:solidFill>
                  <a:srgbClr val="000000"/>
                </a:solidFill>
                <a:latin typeface="Fira Sans"/>
                <a:ea typeface="Fira Sans"/>
                <a:cs typeface="Fira Sans"/>
                <a:sym typeface="Fira Sans"/>
              </a:rPr>
              <a:t> iterativos e incrementales</a:t>
            </a:r>
            <a:r>
              <a:rPr b="0" i="0" lang="es" sz="2000" u="none" cap="none" strike="noStrike">
                <a:solidFill>
                  <a:srgbClr val="000000"/>
                </a:solidFill>
                <a:latin typeface="Fira Sans"/>
                <a:ea typeface="Fira Sans"/>
                <a:cs typeface="Fira Sans"/>
                <a:sym typeface="Fira Sans"/>
              </a:rPr>
              <a:t>, donde el equipo trabaja en pequeñas partes del proyecto, conocidas como iteraciones o sprints, para ir entregando valor continuamente. Cada iteración permite revisar y ajustar el producto de acuerdo con la retroalimentación del cliente, favoreciendo la adaptación y la mejora constante.</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5"/>
          <p:cNvSpPr/>
          <p:nvPr/>
        </p:nvSpPr>
        <p:spPr>
          <a:xfrm flipH="1">
            <a:off x="-1334698" y="3242220"/>
            <a:ext cx="4185203" cy="2389613"/>
          </a:xfrm>
          <a:custGeom>
            <a:rect b="b" l="l" r="r" t="t"/>
            <a:pathLst>
              <a:path extrusionOk="0" h="4779226" w="8370405">
                <a:moveTo>
                  <a:pt x="8370405" y="0"/>
                </a:moveTo>
                <a:lnTo>
                  <a:pt x="0" y="0"/>
                </a:lnTo>
                <a:lnTo>
                  <a:pt x="0" y="4779227"/>
                </a:lnTo>
                <a:lnTo>
                  <a:pt x="8370405" y="4779227"/>
                </a:lnTo>
                <a:lnTo>
                  <a:pt x="8370405" y="0"/>
                </a:lnTo>
                <a:close/>
              </a:path>
            </a:pathLst>
          </a:custGeom>
          <a:blipFill rotWithShape="1">
            <a:blip r:embed="rId3">
              <a:alphaModFix/>
            </a:blip>
            <a:stretch>
              <a:fillRect b="0" l="0" r="0" t="-51570"/>
            </a:stretch>
          </a:blipFill>
          <a:ln>
            <a:noFill/>
          </a:ln>
        </p:spPr>
      </p:sp>
      <p:sp>
        <p:nvSpPr>
          <p:cNvPr id="343" name="Google Shape;343;p35"/>
          <p:cNvSpPr/>
          <p:nvPr/>
        </p:nvSpPr>
        <p:spPr>
          <a:xfrm>
            <a:off x="-1502325" y="-107638"/>
            <a:ext cx="4718905" cy="5358777"/>
          </a:xfrm>
          <a:custGeom>
            <a:rect b="b" l="l" r="r" t="t"/>
            <a:pathLst>
              <a:path extrusionOk="0" h="10717553" w="9437809">
                <a:moveTo>
                  <a:pt x="0" y="0"/>
                </a:moveTo>
                <a:lnTo>
                  <a:pt x="9437810" y="0"/>
                </a:lnTo>
                <a:lnTo>
                  <a:pt x="9437810" y="10717554"/>
                </a:lnTo>
                <a:lnTo>
                  <a:pt x="0" y="10717554"/>
                </a:lnTo>
                <a:lnTo>
                  <a:pt x="0" y="0"/>
                </a:lnTo>
                <a:close/>
              </a:path>
            </a:pathLst>
          </a:custGeom>
          <a:blipFill rotWithShape="1">
            <a:blip r:embed="rId4">
              <a:alphaModFix/>
            </a:blip>
            <a:stretch>
              <a:fillRect b="0" l="-18921" r="-44161" t="0"/>
            </a:stretch>
          </a:blipFill>
          <a:ln>
            <a:noFill/>
          </a:ln>
        </p:spPr>
      </p:sp>
      <p:sp>
        <p:nvSpPr>
          <p:cNvPr id="344" name="Google Shape;344;p35"/>
          <p:cNvSpPr txBox="1"/>
          <p:nvPr/>
        </p:nvSpPr>
        <p:spPr>
          <a:xfrm>
            <a:off x="3453654" y="360945"/>
            <a:ext cx="5398200" cy="1145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3100"/>
              <a:buFont typeface="Arial"/>
              <a:buNone/>
            </a:pPr>
            <a:r>
              <a:rPr b="1" i="0" lang="es" sz="3100" u="none" cap="none" strike="noStrike">
                <a:solidFill>
                  <a:srgbClr val="1836B2"/>
                </a:solidFill>
                <a:latin typeface="Fira Sans Medium"/>
                <a:ea typeface="Fira Sans Medium"/>
                <a:cs typeface="Fira Sans Medium"/>
                <a:sym typeface="Fira Sans Medium"/>
              </a:rPr>
              <a:t>Principios de las Metodologías Ágiles</a:t>
            </a:r>
            <a:endParaRPr b="0" i="0" sz="700" u="none" cap="none" strike="noStrike">
              <a:solidFill>
                <a:srgbClr val="000000"/>
              </a:solidFill>
              <a:latin typeface="Arial"/>
              <a:ea typeface="Arial"/>
              <a:cs typeface="Arial"/>
              <a:sym typeface="Arial"/>
            </a:endParaRPr>
          </a:p>
        </p:txBody>
      </p:sp>
      <p:sp>
        <p:nvSpPr>
          <p:cNvPr id="345" name="Google Shape;345;p35"/>
          <p:cNvSpPr txBox="1"/>
          <p:nvPr/>
        </p:nvSpPr>
        <p:spPr>
          <a:xfrm>
            <a:off x="3527881" y="1539875"/>
            <a:ext cx="5250000" cy="3757200"/>
          </a:xfrm>
          <a:prstGeom prst="rect">
            <a:avLst/>
          </a:prstGeom>
          <a:noFill/>
          <a:ln>
            <a:noFill/>
          </a:ln>
        </p:spPr>
        <p:txBody>
          <a:bodyPr anchorCtr="0" anchor="t" bIns="0" lIns="0" spcFirstLastPara="1" rIns="0" wrap="square" tIns="0">
            <a:spAutoFit/>
          </a:bodyPr>
          <a:lstStyle/>
          <a:p>
            <a:pPr indent="0" lvl="0" marL="0" marR="0" rtl="0" algn="just">
              <a:lnSpc>
                <a:spcPct val="2722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a:p>
            <a:pPr indent="-190500" lvl="1" marL="381000" marR="0" rtl="0" algn="just">
              <a:lnSpc>
                <a:spcPct val="140000"/>
              </a:lnSpc>
              <a:spcBef>
                <a:spcPts val="0"/>
              </a:spcBef>
              <a:spcAft>
                <a:spcPts val="0"/>
              </a:spcAft>
              <a:buClr>
                <a:srgbClr val="000000"/>
              </a:buClr>
              <a:buSzPts val="1800"/>
              <a:buFont typeface="Arial"/>
              <a:buChar char="•"/>
            </a:pPr>
            <a:r>
              <a:rPr b="0" i="0" lang="es" sz="1800" u="none" cap="none" strike="noStrike">
                <a:solidFill>
                  <a:srgbClr val="000000"/>
                </a:solidFill>
                <a:latin typeface="Fira Sans"/>
                <a:ea typeface="Fira Sans"/>
                <a:cs typeface="Fira Sans"/>
                <a:sym typeface="Fira Sans"/>
              </a:rPr>
              <a:t>Priorizar la satisfacción del cliente mediante entregas rápidas y continuas.</a:t>
            </a:r>
            <a:endParaRPr b="0" i="0" sz="700" u="none" cap="none" strike="noStrike">
              <a:solidFill>
                <a:srgbClr val="000000"/>
              </a:solidFill>
              <a:latin typeface="Arial"/>
              <a:ea typeface="Arial"/>
              <a:cs typeface="Arial"/>
              <a:sym typeface="Arial"/>
            </a:endParaRPr>
          </a:p>
          <a:p>
            <a:pPr indent="-190500" lvl="1" marL="381000" marR="0" rtl="0" algn="just">
              <a:lnSpc>
                <a:spcPct val="140000"/>
              </a:lnSpc>
              <a:spcBef>
                <a:spcPts val="0"/>
              </a:spcBef>
              <a:spcAft>
                <a:spcPts val="0"/>
              </a:spcAft>
              <a:buClr>
                <a:srgbClr val="000000"/>
              </a:buClr>
              <a:buSzPts val="1800"/>
              <a:buFont typeface="Arial"/>
              <a:buChar char="•"/>
            </a:pPr>
            <a:r>
              <a:rPr b="0" i="0" lang="es" sz="1800" u="none" cap="none" strike="noStrike">
                <a:solidFill>
                  <a:srgbClr val="000000"/>
                </a:solidFill>
                <a:latin typeface="Fira Sans"/>
                <a:ea typeface="Fira Sans"/>
                <a:cs typeface="Fira Sans"/>
                <a:sym typeface="Fira Sans"/>
              </a:rPr>
              <a:t>Aceptar los cambios en los requisitos, incluso en etapas avanzadas del proyecto.</a:t>
            </a:r>
            <a:endParaRPr b="0" i="0" sz="700" u="none" cap="none" strike="noStrike">
              <a:solidFill>
                <a:srgbClr val="000000"/>
              </a:solidFill>
              <a:latin typeface="Arial"/>
              <a:ea typeface="Arial"/>
              <a:cs typeface="Arial"/>
              <a:sym typeface="Arial"/>
            </a:endParaRPr>
          </a:p>
          <a:p>
            <a:pPr indent="-190500" lvl="1" marL="381000" marR="0" rtl="0" algn="just">
              <a:lnSpc>
                <a:spcPct val="140000"/>
              </a:lnSpc>
              <a:spcBef>
                <a:spcPts val="0"/>
              </a:spcBef>
              <a:spcAft>
                <a:spcPts val="0"/>
              </a:spcAft>
              <a:buClr>
                <a:srgbClr val="000000"/>
              </a:buClr>
              <a:buSzPts val="1800"/>
              <a:buFont typeface="Arial"/>
              <a:buChar char="•"/>
            </a:pPr>
            <a:r>
              <a:rPr b="0" i="0" lang="es" sz="1800" u="none" cap="none" strike="noStrike">
                <a:solidFill>
                  <a:srgbClr val="000000"/>
                </a:solidFill>
                <a:latin typeface="Fira Sans"/>
                <a:ea typeface="Fira Sans"/>
                <a:cs typeface="Fira Sans"/>
                <a:sym typeface="Fira Sans"/>
              </a:rPr>
              <a:t>Colaboración constante entre el equipo de desarrollo y el cliente.</a:t>
            </a:r>
            <a:endParaRPr b="0" i="0" sz="700" u="none" cap="none" strike="noStrike">
              <a:solidFill>
                <a:srgbClr val="000000"/>
              </a:solidFill>
              <a:latin typeface="Arial"/>
              <a:ea typeface="Arial"/>
              <a:cs typeface="Arial"/>
              <a:sym typeface="Arial"/>
            </a:endParaRPr>
          </a:p>
          <a:p>
            <a:pPr indent="-190500" lvl="1" marL="381000" marR="0" rtl="0" algn="just">
              <a:lnSpc>
                <a:spcPct val="140000"/>
              </a:lnSpc>
              <a:spcBef>
                <a:spcPts val="0"/>
              </a:spcBef>
              <a:spcAft>
                <a:spcPts val="0"/>
              </a:spcAft>
              <a:buClr>
                <a:srgbClr val="000000"/>
              </a:buClr>
              <a:buSzPts val="1800"/>
              <a:buFont typeface="Arial"/>
              <a:buChar char="•"/>
            </a:pPr>
            <a:r>
              <a:rPr b="0" i="0" lang="es" sz="1800" u="none" cap="none" strike="noStrike">
                <a:solidFill>
                  <a:srgbClr val="000000"/>
                </a:solidFill>
                <a:latin typeface="Fira Sans"/>
                <a:ea typeface="Fira Sans"/>
                <a:cs typeface="Fira Sans"/>
                <a:sym typeface="Fira Sans"/>
              </a:rPr>
              <a:t>Entregas frecuentes de software funcional que aporten valor real al usuario.</a:t>
            </a:r>
            <a:endParaRPr b="0" i="0" sz="7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800"/>
              <a:buFont typeface="Arial"/>
              <a:buNone/>
            </a:pPr>
            <a:r>
              <a:t/>
            </a:r>
            <a:endParaRPr b="0" i="0" sz="1800" u="none" cap="none" strike="noStrike">
              <a:solidFill>
                <a:srgbClr val="000000"/>
              </a:solidFill>
              <a:latin typeface="Fira Sans"/>
              <a:ea typeface="Fira Sans"/>
              <a:cs typeface="Fira Sans"/>
              <a:sym typeface="Fir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836B2"/>
        </a:solidFill>
      </p:bgPr>
    </p:bg>
    <p:spTree>
      <p:nvGrpSpPr>
        <p:cNvPr id="349" name="Shape 349"/>
        <p:cNvGrpSpPr/>
        <p:nvPr/>
      </p:nvGrpSpPr>
      <p:grpSpPr>
        <a:xfrm>
          <a:off x="0" y="0"/>
          <a:ext cx="0" cy="0"/>
          <a:chOff x="0" y="0"/>
          <a:chExt cx="0" cy="0"/>
        </a:xfrm>
      </p:grpSpPr>
      <p:sp>
        <p:nvSpPr>
          <p:cNvPr id="350" name="Google Shape;350;p36"/>
          <p:cNvSpPr/>
          <p:nvPr/>
        </p:nvSpPr>
        <p:spPr>
          <a:xfrm>
            <a:off x="1762149" y="4757937"/>
            <a:ext cx="7703777" cy="778954"/>
          </a:xfrm>
          <a:custGeom>
            <a:rect b="b" l="l" r="r" t="t"/>
            <a:pathLst>
              <a:path extrusionOk="0" h="5372100" w="53129495">
                <a:moveTo>
                  <a:pt x="51578821" y="0"/>
                </a:moveTo>
                <a:lnTo>
                  <a:pt x="1550670" y="0"/>
                </a:lnTo>
                <a:lnTo>
                  <a:pt x="0" y="2686050"/>
                </a:lnTo>
                <a:lnTo>
                  <a:pt x="1550670" y="5372100"/>
                </a:lnTo>
                <a:lnTo>
                  <a:pt x="51578821" y="5372100"/>
                </a:lnTo>
                <a:lnTo>
                  <a:pt x="53129495" y="2686050"/>
                </a:lnTo>
                <a:lnTo>
                  <a:pt x="51578821" y="0"/>
                </a:lnTo>
                <a:close/>
              </a:path>
            </a:pathLst>
          </a:custGeom>
          <a:solidFill>
            <a:srgbClr val="FFFFFF"/>
          </a:solidFill>
          <a:ln>
            <a:noFill/>
          </a:ln>
        </p:spPr>
      </p:sp>
      <p:sp>
        <p:nvSpPr>
          <p:cNvPr id="351" name="Google Shape;351;p36"/>
          <p:cNvSpPr/>
          <p:nvPr/>
        </p:nvSpPr>
        <p:spPr>
          <a:xfrm>
            <a:off x="8629650" y="34826"/>
            <a:ext cx="549250" cy="313604"/>
          </a:xfrm>
          <a:custGeom>
            <a:rect b="b" l="l" r="r" t="t"/>
            <a:pathLst>
              <a:path extrusionOk="0" h="627207" w="1098500">
                <a:moveTo>
                  <a:pt x="0" y="0"/>
                </a:moveTo>
                <a:lnTo>
                  <a:pt x="1098500" y="0"/>
                </a:lnTo>
                <a:lnTo>
                  <a:pt x="1098500" y="627208"/>
                </a:lnTo>
                <a:lnTo>
                  <a:pt x="0" y="627208"/>
                </a:lnTo>
                <a:lnTo>
                  <a:pt x="0" y="0"/>
                </a:lnTo>
                <a:close/>
              </a:path>
            </a:pathLst>
          </a:custGeom>
          <a:blipFill rotWithShape="1">
            <a:blip r:embed="rId3">
              <a:alphaModFix/>
            </a:blip>
            <a:stretch>
              <a:fillRect b="0" l="0" r="0" t="-51570"/>
            </a:stretch>
          </a:blipFill>
          <a:ln>
            <a:noFill/>
          </a:ln>
        </p:spPr>
      </p:sp>
      <p:grpSp>
        <p:nvGrpSpPr>
          <p:cNvPr id="352" name="Google Shape;352;p36"/>
          <p:cNvGrpSpPr/>
          <p:nvPr/>
        </p:nvGrpSpPr>
        <p:grpSpPr>
          <a:xfrm>
            <a:off x="648161" y="1641194"/>
            <a:ext cx="342920" cy="342920"/>
            <a:chOff x="0" y="0"/>
            <a:chExt cx="812800" cy="812800"/>
          </a:xfrm>
        </p:grpSpPr>
        <p:sp>
          <p:nvSpPr>
            <p:cNvPr id="353" name="Google Shape;353;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54" name="Google Shape;354;p36"/>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55" name="Google Shape;355;p36"/>
          <p:cNvGrpSpPr/>
          <p:nvPr/>
        </p:nvGrpSpPr>
        <p:grpSpPr>
          <a:xfrm>
            <a:off x="648161" y="2369224"/>
            <a:ext cx="342920" cy="342920"/>
            <a:chOff x="0" y="0"/>
            <a:chExt cx="812800" cy="812800"/>
          </a:xfrm>
        </p:grpSpPr>
        <p:sp>
          <p:nvSpPr>
            <p:cNvPr id="356" name="Google Shape;356;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57" name="Google Shape;357;p36"/>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58" name="Google Shape;358;p36"/>
          <p:cNvGrpSpPr/>
          <p:nvPr/>
        </p:nvGrpSpPr>
        <p:grpSpPr>
          <a:xfrm>
            <a:off x="648161" y="3140785"/>
            <a:ext cx="342920" cy="342920"/>
            <a:chOff x="0" y="0"/>
            <a:chExt cx="812800" cy="812800"/>
          </a:xfrm>
        </p:grpSpPr>
        <p:sp>
          <p:nvSpPr>
            <p:cNvPr id="359" name="Google Shape;359;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60" name="Google Shape;360;p36"/>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61" name="Google Shape;361;p36"/>
          <p:cNvGrpSpPr/>
          <p:nvPr/>
        </p:nvGrpSpPr>
        <p:grpSpPr>
          <a:xfrm>
            <a:off x="648161" y="3912344"/>
            <a:ext cx="342920" cy="342920"/>
            <a:chOff x="0" y="0"/>
            <a:chExt cx="812800" cy="812800"/>
          </a:xfrm>
        </p:grpSpPr>
        <p:sp>
          <p:nvSpPr>
            <p:cNvPr id="362" name="Google Shape;362;p3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63" name="Google Shape;363;p36"/>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64" name="Google Shape;364;p36"/>
          <p:cNvSpPr/>
          <p:nvPr/>
        </p:nvSpPr>
        <p:spPr>
          <a:xfrm>
            <a:off x="5575323" y="1128536"/>
            <a:ext cx="2653863" cy="2471410"/>
          </a:xfrm>
          <a:custGeom>
            <a:rect b="b" l="l" r="r" t="t"/>
            <a:pathLst>
              <a:path extrusionOk="0" h="4942820" w="5307726">
                <a:moveTo>
                  <a:pt x="0" y="0"/>
                </a:moveTo>
                <a:lnTo>
                  <a:pt x="5307726" y="0"/>
                </a:lnTo>
                <a:lnTo>
                  <a:pt x="5307726" y="4942820"/>
                </a:lnTo>
                <a:lnTo>
                  <a:pt x="0" y="4942820"/>
                </a:lnTo>
                <a:lnTo>
                  <a:pt x="0" y="0"/>
                </a:lnTo>
                <a:close/>
              </a:path>
            </a:pathLst>
          </a:custGeom>
          <a:blipFill rotWithShape="1">
            <a:blip r:embed="rId4">
              <a:alphaModFix/>
            </a:blip>
            <a:stretch>
              <a:fillRect b="0" l="0" r="0" t="0"/>
            </a:stretch>
          </a:blipFill>
          <a:ln>
            <a:noFill/>
          </a:ln>
        </p:spPr>
      </p:sp>
      <p:grpSp>
        <p:nvGrpSpPr>
          <p:cNvPr id="365" name="Google Shape;365;p36"/>
          <p:cNvGrpSpPr/>
          <p:nvPr/>
        </p:nvGrpSpPr>
        <p:grpSpPr>
          <a:xfrm>
            <a:off x="589284" y="343198"/>
            <a:ext cx="6312938" cy="1306395"/>
            <a:chOff x="0" y="66675"/>
            <a:chExt cx="16834500" cy="3483720"/>
          </a:xfrm>
        </p:grpSpPr>
        <p:sp>
          <p:nvSpPr>
            <p:cNvPr id="366" name="Google Shape;366;p36"/>
            <p:cNvSpPr txBox="1"/>
            <p:nvPr/>
          </p:nvSpPr>
          <p:spPr>
            <a:xfrm>
              <a:off x="0" y="66675"/>
              <a:ext cx="16834500" cy="30168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Clr>
                  <a:srgbClr val="000000"/>
                </a:buClr>
                <a:buSzPts val="3500"/>
                <a:buFont typeface="Arial"/>
                <a:buNone/>
              </a:pPr>
              <a:r>
                <a:rPr b="1" i="0" lang="es" sz="3500" u="none" cap="none" strike="noStrike">
                  <a:solidFill>
                    <a:srgbClr val="FFFFFF"/>
                  </a:solidFill>
                  <a:latin typeface="Fira Sans Black"/>
                  <a:ea typeface="Fira Sans Black"/>
                  <a:cs typeface="Fira Sans Black"/>
                  <a:sym typeface="Fira Sans Black"/>
                </a:rPr>
                <a:t>BENEFICIOS DE LAS METODOLOGÍAS ÁGILES</a:t>
              </a:r>
              <a:endParaRPr b="0" i="0" sz="700" u="none" cap="none" strike="noStrike">
                <a:solidFill>
                  <a:srgbClr val="000000"/>
                </a:solidFill>
                <a:latin typeface="Arial"/>
                <a:ea typeface="Arial"/>
                <a:cs typeface="Arial"/>
                <a:sym typeface="Arial"/>
              </a:endParaRPr>
            </a:p>
          </p:txBody>
        </p:sp>
        <p:sp>
          <p:nvSpPr>
            <p:cNvPr id="367" name="Google Shape;367;p36"/>
            <p:cNvSpPr txBox="1"/>
            <p:nvPr/>
          </p:nvSpPr>
          <p:spPr>
            <a:xfrm>
              <a:off x="0" y="3181095"/>
              <a:ext cx="16834500" cy="369300"/>
            </a:xfrm>
            <a:prstGeom prst="rect">
              <a:avLst/>
            </a:prstGeom>
            <a:noFill/>
            <a:ln>
              <a:noFill/>
            </a:ln>
          </p:spPr>
          <p:txBody>
            <a:bodyPr anchorCtr="0" anchor="t" bIns="0" lIns="0" spcFirstLastPara="1" rIns="0" wrap="square" tIns="0">
              <a:spAutoFit/>
            </a:bodyPr>
            <a:lstStyle/>
            <a:p>
              <a:pPr indent="0" lvl="0" marL="0" marR="0" rtl="0" algn="l">
                <a:lnSpc>
                  <a:spcPct val="2333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68" name="Google Shape;368;p36"/>
          <p:cNvSpPr txBox="1"/>
          <p:nvPr/>
        </p:nvSpPr>
        <p:spPr>
          <a:xfrm>
            <a:off x="1204146" y="1623749"/>
            <a:ext cx="2985900" cy="3078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2000"/>
              <a:buFont typeface="Arial"/>
              <a:buNone/>
            </a:pPr>
            <a:r>
              <a:rPr b="0" i="0" lang="es" sz="2000" u="none" cap="none" strike="noStrike">
                <a:solidFill>
                  <a:srgbClr val="FFFFFF"/>
                </a:solidFill>
                <a:latin typeface="Fira Sans"/>
                <a:ea typeface="Fira Sans"/>
                <a:cs typeface="Fira Sans"/>
                <a:sym typeface="Fira Sans"/>
              </a:rPr>
              <a:t>Entrega de valor continuo</a:t>
            </a:r>
            <a:endParaRPr b="0" i="0" sz="700" u="none" cap="none" strike="noStrike">
              <a:solidFill>
                <a:srgbClr val="000000"/>
              </a:solidFill>
              <a:latin typeface="Arial"/>
              <a:ea typeface="Arial"/>
              <a:cs typeface="Arial"/>
              <a:sym typeface="Arial"/>
            </a:endParaRPr>
          </a:p>
        </p:txBody>
      </p:sp>
      <p:sp>
        <p:nvSpPr>
          <p:cNvPr id="369" name="Google Shape;369;p36"/>
          <p:cNvSpPr txBox="1"/>
          <p:nvPr/>
        </p:nvSpPr>
        <p:spPr>
          <a:xfrm>
            <a:off x="1204158" y="2351780"/>
            <a:ext cx="3056700" cy="3078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2000"/>
              <a:buFont typeface="Arial"/>
              <a:buNone/>
            </a:pPr>
            <a:r>
              <a:rPr b="0" i="0" lang="es" sz="2000" u="none" cap="none" strike="noStrike">
                <a:solidFill>
                  <a:srgbClr val="FFFFFF"/>
                </a:solidFill>
                <a:latin typeface="Fira Sans"/>
                <a:ea typeface="Fira Sans"/>
                <a:cs typeface="Fira Sans"/>
                <a:sym typeface="Fira Sans"/>
              </a:rPr>
              <a:t>Mejor respuesta al cambio</a:t>
            </a:r>
            <a:endParaRPr b="0" i="0" sz="700" u="none" cap="none" strike="noStrike">
              <a:solidFill>
                <a:srgbClr val="000000"/>
              </a:solidFill>
              <a:latin typeface="Arial"/>
              <a:ea typeface="Arial"/>
              <a:cs typeface="Arial"/>
              <a:sym typeface="Arial"/>
            </a:endParaRPr>
          </a:p>
        </p:txBody>
      </p:sp>
      <p:sp>
        <p:nvSpPr>
          <p:cNvPr id="370" name="Google Shape;370;p36"/>
          <p:cNvSpPr txBox="1"/>
          <p:nvPr/>
        </p:nvSpPr>
        <p:spPr>
          <a:xfrm>
            <a:off x="1173580" y="3123339"/>
            <a:ext cx="2454000" cy="3078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2000"/>
              <a:buFont typeface="Arial"/>
              <a:buNone/>
            </a:pPr>
            <a:r>
              <a:rPr b="0" i="0" lang="es" sz="2000" u="none" cap="none" strike="noStrike">
                <a:solidFill>
                  <a:srgbClr val="FFFFFF"/>
                </a:solidFill>
                <a:latin typeface="Fira Sans"/>
                <a:ea typeface="Fira Sans"/>
                <a:cs typeface="Fira Sans"/>
                <a:sym typeface="Fira Sans"/>
              </a:rPr>
              <a:t>Reducción de riesgos</a:t>
            </a:r>
            <a:endParaRPr b="0" i="0" sz="700" u="none" cap="none" strike="noStrike">
              <a:solidFill>
                <a:srgbClr val="000000"/>
              </a:solidFill>
              <a:latin typeface="Arial"/>
              <a:ea typeface="Arial"/>
              <a:cs typeface="Arial"/>
              <a:sym typeface="Arial"/>
            </a:endParaRPr>
          </a:p>
        </p:txBody>
      </p:sp>
      <p:sp>
        <p:nvSpPr>
          <p:cNvPr id="371" name="Google Shape;371;p36"/>
          <p:cNvSpPr txBox="1"/>
          <p:nvPr/>
        </p:nvSpPr>
        <p:spPr>
          <a:xfrm>
            <a:off x="1173580" y="3894899"/>
            <a:ext cx="3581400" cy="30780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Clr>
                <a:srgbClr val="000000"/>
              </a:buClr>
              <a:buSzPts val="2000"/>
              <a:buFont typeface="Arial"/>
              <a:buNone/>
            </a:pPr>
            <a:r>
              <a:rPr b="0" i="0" lang="es" sz="2000" u="none" cap="none" strike="noStrike">
                <a:solidFill>
                  <a:srgbClr val="FFFFFF"/>
                </a:solidFill>
                <a:latin typeface="Fira Sans"/>
                <a:ea typeface="Fira Sans"/>
                <a:cs typeface="Fira Sans"/>
                <a:sym typeface="Fira Sans"/>
              </a:rPr>
              <a:t>Mayor participación del cliente</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37"/>
          <p:cNvSpPr/>
          <p:nvPr/>
        </p:nvSpPr>
        <p:spPr>
          <a:xfrm>
            <a:off x="6019223" y="-1194806"/>
            <a:ext cx="4185203" cy="2389613"/>
          </a:xfrm>
          <a:custGeom>
            <a:rect b="b" l="l" r="r" t="t"/>
            <a:pathLst>
              <a:path extrusionOk="0" h="4779226" w="8370405">
                <a:moveTo>
                  <a:pt x="0" y="0"/>
                </a:moveTo>
                <a:lnTo>
                  <a:pt x="8370405" y="0"/>
                </a:lnTo>
                <a:lnTo>
                  <a:pt x="8370405" y="4779226"/>
                </a:lnTo>
                <a:lnTo>
                  <a:pt x="0" y="4779226"/>
                </a:lnTo>
                <a:lnTo>
                  <a:pt x="0" y="0"/>
                </a:lnTo>
                <a:close/>
              </a:path>
            </a:pathLst>
          </a:custGeom>
          <a:blipFill rotWithShape="1">
            <a:blip r:embed="rId3">
              <a:alphaModFix/>
            </a:blip>
            <a:stretch>
              <a:fillRect b="0" l="0" r="0" t="-51570"/>
            </a:stretch>
          </a:blipFill>
          <a:ln>
            <a:noFill/>
          </a:ln>
        </p:spPr>
      </p:sp>
      <p:sp>
        <p:nvSpPr>
          <p:cNvPr id="377" name="Google Shape;377;p37"/>
          <p:cNvSpPr/>
          <p:nvPr/>
        </p:nvSpPr>
        <p:spPr>
          <a:xfrm>
            <a:off x="340326" y="4757937"/>
            <a:ext cx="8549272" cy="778954"/>
          </a:xfrm>
          <a:custGeom>
            <a:rect b="b" l="l" r="r" t="t"/>
            <a:pathLst>
              <a:path extrusionOk="0" h="5372100" w="589605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1836B2"/>
          </a:solidFill>
          <a:ln>
            <a:noFill/>
          </a:ln>
        </p:spPr>
      </p:sp>
      <p:grpSp>
        <p:nvGrpSpPr>
          <p:cNvPr id="378" name="Google Shape;378;p37"/>
          <p:cNvGrpSpPr/>
          <p:nvPr/>
        </p:nvGrpSpPr>
        <p:grpSpPr>
          <a:xfrm>
            <a:off x="514350" y="2130228"/>
            <a:ext cx="327071" cy="327071"/>
            <a:chOff x="0" y="0"/>
            <a:chExt cx="812800" cy="812800"/>
          </a:xfrm>
        </p:grpSpPr>
        <p:sp>
          <p:nvSpPr>
            <p:cNvPr id="379" name="Google Shape;379;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80" name="Google Shape;380;p3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grpSp>
        <p:nvGrpSpPr>
          <p:cNvPr id="381" name="Google Shape;381;p37"/>
          <p:cNvGrpSpPr/>
          <p:nvPr/>
        </p:nvGrpSpPr>
        <p:grpSpPr>
          <a:xfrm>
            <a:off x="582750" y="235336"/>
            <a:ext cx="4724325" cy="1221917"/>
            <a:chOff x="0" y="66675"/>
            <a:chExt cx="12598200" cy="3258444"/>
          </a:xfrm>
        </p:grpSpPr>
        <p:sp>
          <p:nvSpPr>
            <p:cNvPr id="382" name="Google Shape;382;p37"/>
            <p:cNvSpPr txBox="1"/>
            <p:nvPr/>
          </p:nvSpPr>
          <p:spPr>
            <a:xfrm>
              <a:off x="0" y="66675"/>
              <a:ext cx="12598200" cy="30168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Clr>
                  <a:srgbClr val="000000"/>
                </a:buClr>
                <a:buSzPts val="3500"/>
                <a:buFont typeface="Arial"/>
                <a:buNone/>
              </a:pPr>
              <a:r>
                <a:rPr b="1" i="0" lang="es" sz="3500" u="none" cap="none" strike="noStrike">
                  <a:solidFill>
                    <a:srgbClr val="1836B2"/>
                  </a:solidFill>
                  <a:latin typeface="Fira Sans SemiBold"/>
                  <a:ea typeface="Fira Sans SemiBold"/>
                  <a:cs typeface="Fira Sans SemiBold"/>
                  <a:sym typeface="Fira Sans SemiBold"/>
                </a:rPr>
                <a:t>Cuándo Usar Metodologías Ágiles</a:t>
              </a:r>
              <a:endParaRPr b="0" i="0" sz="700" u="none" cap="none" strike="noStrike">
                <a:solidFill>
                  <a:srgbClr val="000000"/>
                </a:solidFill>
                <a:latin typeface="Arial"/>
                <a:ea typeface="Arial"/>
                <a:cs typeface="Arial"/>
                <a:sym typeface="Arial"/>
              </a:endParaRPr>
            </a:p>
          </p:txBody>
        </p:sp>
        <p:sp>
          <p:nvSpPr>
            <p:cNvPr id="383" name="Google Shape;383;p37"/>
            <p:cNvSpPr txBox="1"/>
            <p:nvPr/>
          </p:nvSpPr>
          <p:spPr>
            <a:xfrm>
              <a:off x="0" y="2955819"/>
              <a:ext cx="12598200" cy="369300"/>
            </a:xfrm>
            <a:prstGeom prst="rect">
              <a:avLst/>
            </a:prstGeom>
            <a:noFill/>
            <a:ln>
              <a:noFill/>
            </a:ln>
          </p:spPr>
          <p:txBody>
            <a:bodyPr anchorCtr="0" anchor="t" bIns="0" lIns="0" spcFirstLastPara="1" rIns="0" wrap="square" tIns="0">
              <a:spAutoFit/>
            </a:bodyPr>
            <a:lstStyle/>
            <a:p>
              <a:pPr indent="0" lvl="0" marL="0" marR="0" rtl="0" algn="l">
                <a:lnSpc>
                  <a:spcPct val="233333"/>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84" name="Google Shape;384;p37"/>
          <p:cNvSpPr txBox="1"/>
          <p:nvPr/>
        </p:nvSpPr>
        <p:spPr>
          <a:xfrm>
            <a:off x="1085504" y="2156300"/>
            <a:ext cx="7317000" cy="215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Donde los requisitos son inciertos o susceptibles a cambios frecuentes.</a:t>
            </a:r>
            <a:endParaRPr b="0" i="0" sz="700" u="none" cap="none" strike="noStrike">
              <a:solidFill>
                <a:srgbClr val="000000"/>
              </a:solidFill>
              <a:latin typeface="Arial"/>
              <a:ea typeface="Arial"/>
              <a:cs typeface="Arial"/>
              <a:sym typeface="Arial"/>
            </a:endParaRPr>
          </a:p>
        </p:txBody>
      </p:sp>
      <p:grpSp>
        <p:nvGrpSpPr>
          <p:cNvPr id="385" name="Google Shape;385;p37"/>
          <p:cNvGrpSpPr/>
          <p:nvPr/>
        </p:nvGrpSpPr>
        <p:grpSpPr>
          <a:xfrm>
            <a:off x="514350" y="2667275"/>
            <a:ext cx="327071" cy="327071"/>
            <a:chOff x="0" y="0"/>
            <a:chExt cx="812800" cy="812800"/>
          </a:xfrm>
        </p:grpSpPr>
        <p:sp>
          <p:nvSpPr>
            <p:cNvPr id="386" name="Google Shape;386;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87" name="Google Shape;387;p3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88" name="Google Shape;388;p37"/>
          <p:cNvSpPr txBox="1"/>
          <p:nvPr/>
        </p:nvSpPr>
        <p:spPr>
          <a:xfrm>
            <a:off x="1085504" y="2729690"/>
            <a:ext cx="5457900" cy="2154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Que requieren entregas rápidas y valor constante al cliente.</a:t>
            </a:r>
            <a:endParaRPr b="0" i="0" sz="700" u="none" cap="none" strike="noStrike">
              <a:solidFill>
                <a:srgbClr val="000000"/>
              </a:solidFill>
              <a:latin typeface="Arial"/>
              <a:ea typeface="Arial"/>
              <a:cs typeface="Arial"/>
              <a:sym typeface="Arial"/>
            </a:endParaRPr>
          </a:p>
        </p:txBody>
      </p:sp>
      <p:grpSp>
        <p:nvGrpSpPr>
          <p:cNvPr id="389" name="Google Shape;389;p37"/>
          <p:cNvGrpSpPr/>
          <p:nvPr/>
        </p:nvGrpSpPr>
        <p:grpSpPr>
          <a:xfrm>
            <a:off x="514350" y="3371042"/>
            <a:ext cx="327071" cy="327071"/>
            <a:chOff x="0" y="0"/>
            <a:chExt cx="812800" cy="812800"/>
          </a:xfrm>
        </p:grpSpPr>
        <p:sp>
          <p:nvSpPr>
            <p:cNvPr id="390" name="Google Shape;390;p3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391" name="Google Shape;391;p37"/>
            <p:cNvSpPr txBox="1"/>
            <p:nvPr/>
          </p:nvSpPr>
          <p:spPr>
            <a:xfrm>
              <a:off x="76200" y="38100"/>
              <a:ext cx="660300" cy="6984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392" name="Google Shape;392;p37"/>
          <p:cNvSpPr txBox="1"/>
          <p:nvPr/>
        </p:nvSpPr>
        <p:spPr>
          <a:xfrm>
            <a:off x="1085504" y="3433456"/>
            <a:ext cx="6297900" cy="517200"/>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Con equipos que trabajan en entornos dinámicos o de innovación, donde la experimentación y el ajuste continuo son necesarios.</a:t>
            </a:r>
            <a:endParaRPr b="0" i="0" sz="700" u="none" cap="none" strike="noStrike">
              <a:solidFill>
                <a:srgbClr val="000000"/>
              </a:solidFill>
              <a:latin typeface="Arial"/>
              <a:ea typeface="Arial"/>
              <a:cs typeface="Arial"/>
              <a:sym typeface="Arial"/>
            </a:endParaRPr>
          </a:p>
        </p:txBody>
      </p:sp>
      <p:sp>
        <p:nvSpPr>
          <p:cNvPr id="393" name="Google Shape;393;p37"/>
          <p:cNvSpPr txBox="1"/>
          <p:nvPr/>
        </p:nvSpPr>
        <p:spPr>
          <a:xfrm>
            <a:off x="580709" y="1543794"/>
            <a:ext cx="6744300" cy="215400"/>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Clr>
                <a:srgbClr val="000000"/>
              </a:buClr>
              <a:buSzPts val="1400"/>
              <a:buFont typeface="Arial"/>
              <a:buNone/>
            </a:pPr>
            <a:r>
              <a:rPr b="0" i="0" lang="es" sz="1400" u="none" cap="none" strike="noStrike">
                <a:solidFill>
                  <a:srgbClr val="000000"/>
                </a:solidFill>
                <a:latin typeface="Open Sans"/>
                <a:ea typeface="Open Sans"/>
                <a:cs typeface="Open Sans"/>
                <a:sym typeface="Open Sans"/>
              </a:rPr>
              <a:t>Las metodologías ágiles son especialmente recomendables en proyectos: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397" name="Shape 397"/>
        <p:cNvGrpSpPr/>
        <p:nvPr/>
      </p:nvGrpSpPr>
      <p:grpSpPr>
        <a:xfrm>
          <a:off x="0" y="0"/>
          <a:ext cx="0" cy="0"/>
          <a:chOff x="0" y="0"/>
          <a:chExt cx="0" cy="0"/>
        </a:xfrm>
      </p:grpSpPr>
      <p:sp>
        <p:nvSpPr>
          <p:cNvPr id="398" name="Google Shape;398;p38"/>
          <p:cNvSpPr/>
          <p:nvPr/>
        </p:nvSpPr>
        <p:spPr>
          <a:xfrm flipH="1">
            <a:off x="-1026987" y="3386718"/>
            <a:ext cx="4185203" cy="2389613"/>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0"/>
            </a:stretch>
          </a:blipFill>
          <a:ln>
            <a:noFill/>
          </a:ln>
        </p:spPr>
      </p:sp>
      <p:sp>
        <p:nvSpPr>
          <p:cNvPr id="399" name="Google Shape;399;p38"/>
          <p:cNvSpPr txBox="1"/>
          <p:nvPr/>
        </p:nvSpPr>
        <p:spPr>
          <a:xfrm>
            <a:off x="2434792" y="1521609"/>
            <a:ext cx="5341800" cy="2511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5100"/>
              <a:buFont typeface="Arial"/>
              <a:buNone/>
            </a:pPr>
            <a:r>
              <a:rPr b="1" i="0" lang="es" sz="5100" u="none" cap="none" strike="noStrike">
                <a:solidFill>
                  <a:srgbClr val="FFFFFF"/>
                </a:solidFill>
                <a:latin typeface="Fira Sans Black"/>
                <a:ea typeface="Fira Sans Black"/>
                <a:cs typeface="Fira Sans Black"/>
                <a:sym typeface="Fira Sans Black"/>
              </a:rPr>
              <a:t>EJEMPLOS DE METODOLOGÍAS ÁGILES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03" name="Shape 403"/>
        <p:cNvGrpSpPr/>
        <p:nvPr/>
      </p:nvGrpSpPr>
      <p:grpSpPr>
        <a:xfrm>
          <a:off x="0" y="0"/>
          <a:ext cx="0" cy="0"/>
          <a:chOff x="0" y="0"/>
          <a:chExt cx="0" cy="0"/>
        </a:xfrm>
      </p:grpSpPr>
      <p:sp>
        <p:nvSpPr>
          <p:cNvPr id="404" name="Google Shape;404;p39"/>
          <p:cNvSpPr/>
          <p:nvPr/>
        </p:nvSpPr>
        <p:spPr>
          <a:xfrm flipH="1">
            <a:off x="-1026987" y="3386718"/>
            <a:ext cx="4185203" cy="2389613"/>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0"/>
            </a:stretch>
          </a:blipFill>
          <a:ln>
            <a:noFill/>
          </a:ln>
        </p:spPr>
      </p:sp>
      <p:grpSp>
        <p:nvGrpSpPr>
          <p:cNvPr id="405" name="Google Shape;405;p39"/>
          <p:cNvGrpSpPr/>
          <p:nvPr/>
        </p:nvGrpSpPr>
        <p:grpSpPr>
          <a:xfrm>
            <a:off x="277092" y="972700"/>
            <a:ext cx="8494335" cy="1541577"/>
            <a:chOff x="76147" y="-184639"/>
            <a:chExt cx="2855911" cy="1238015"/>
          </a:xfrm>
        </p:grpSpPr>
        <p:sp>
          <p:nvSpPr>
            <p:cNvPr id="406" name="Google Shape;406;p39"/>
            <p:cNvSpPr/>
            <p:nvPr/>
          </p:nvSpPr>
          <p:spPr>
            <a:xfrm>
              <a:off x="76147" y="-184639"/>
              <a:ext cx="2855911" cy="1238015"/>
            </a:xfrm>
            <a:custGeom>
              <a:rect b="b" l="l" r="r" t="t"/>
              <a:pathLst>
                <a:path extrusionOk="0" h="1053630" w="2929139">
                  <a:moveTo>
                    <a:pt x="35502" y="0"/>
                  </a:moveTo>
                  <a:lnTo>
                    <a:pt x="2893637" y="0"/>
                  </a:lnTo>
                  <a:cubicBezTo>
                    <a:pt x="2903053" y="0"/>
                    <a:pt x="2912083" y="3740"/>
                    <a:pt x="2918741" y="10398"/>
                  </a:cubicBezTo>
                  <a:cubicBezTo>
                    <a:pt x="2925399" y="17056"/>
                    <a:pt x="2929139" y="26086"/>
                    <a:pt x="2929139" y="35502"/>
                  </a:cubicBezTo>
                  <a:lnTo>
                    <a:pt x="2929139" y="1018128"/>
                  </a:lnTo>
                  <a:cubicBezTo>
                    <a:pt x="2929139" y="1027543"/>
                    <a:pt x="2925399" y="1036573"/>
                    <a:pt x="2918741" y="1043231"/>
                  </a:cubicBezTo>
                  <a:cubicBezTo>
                    <a:pt x="2912083" y="1049889"/>
                    <a:pt x="2903053" y="1053630"/>
                    <a:pt x="2893637" y="1053630"/>
                  </a:cubicBezTo>
                  <a:lnTo>
                    <a:pt x="35502" y="1053630"/>
                  </a:lnTo>
                  <a:cubicBezTo>
                    <a:pt x="26086" y="1053630"/>
                    <a:pt x="17056" y="1049889"/>
                    <a:pt x="10398" y="1043231"/>
                  </a:cubicBezTo>
                  <a:cubicBezTo>
                    <a:pt x="3740" y="1036573"/>
                    <a:pt x="0" y="1027543"/>
                    <a:pt x="0" y="1018128"/>
                  </a:cubicBezTo>
                  <a:lnTo>
                    <a:pt x="0" y="35502"/>
                  </a:lnTo>
                  <a:cubicBezTo>
                    <a:pt x="0" y="26086"/>
                    <a:pt x="3740" y="17056"/>
                    <a:pt x="10398" y="10398"/>
                  </a:cubicBezTo>
                  <a:cubicBezTo>
                    <a:pt x="17056" y="3740"/>
                    <a:pt x="26086" y="0"/>
                    <a:pt x="35502" y="0"/>
                  </a:cubicBezTo>
                  <a:close/>
                </a:path>
              </a:pathLst>
            </a:custGeom>
            <a:solidFill>
              <a:srgbClr val="63667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07" name="Google Shape;407;p39"/>
            <p:cNvSpPr txBox="1"/>
            <p:nvPr/>
          </p:nvSpPr>
          <p:spPr>
            <a:xfrm>
              <a:off x="169661" y="-109591"/>
              <a:ext cx="2707800" cy="1110900"/>
            </a:xfrm>
            <a:prstGeom prst="rect">
              <a:avLst/>
            </a:prstGeom>
            <a:noFill/>
            <a:ln>
              <a:noFill/>
            </a:ln>
          </p:spPr>
          <p:txBody>
            <a:bodyPr anchorCtr="0" anchor="ctr" bIns="25400" lIns="25400" spcFirstLastPara="1" rIns="25400" wrap="square" tIns="25400">
              <a:noAutofit/>
            </a:bodyPr>
            <a:lstStyle/>
            <a:p>
              <a:pPr indent="0" lvl="0" marL="0" marR="0" rtl="0" algn="just">
                <a:lnSpc>
                  <a:spcPct val="140000"/>
                </a:lnSpc>
                <a:spcBef>
                  <a:spcPts val="0"/>
                </a:spcBef>
                <a:spcAft>
                  <a:spcPts val="0"/>
                </a:spcAft>
                <a:buClr>
                  <a:srgbClr val="000000"/>
                </a:buClr>
                <a:buSzPts val="1400"/>
                <a:buFont typeface="Arial"/>
                <a:buNone/>
              </a:pPr>
              <a:r>
                <a:rPr b="1" i="0" lang="es" sz="1400" u="none" cap="none" strike="noStrike">
                  <a:solidFill>
                    <a:srgbClr val="FFFFFF"/>
                  </a:solidFill>
                  <a:latin typeface="Fira Sans"/>
                  <a:ea typeface="Fira Sans"/>
                  <a:cs typeface="Fira Sans"/>
                  <a:sym typeface="Fira Sans"/>
                </a:rPr>
                <a:t>Metodología de trabajo inventada por la empresa de automóviles Toyota. Consiste en dividir las tareas en porciones mínimas y organizarlas en un tablero de trabajo dividido en tareas pendientes, en curso y finalizadas. De esta forma, se crea un flujo de trabajo muy visual basado en tareas prioritarias e incrementando el valor del producto.</a:t>
              </a:r>
              <a:endParaRPr b="0" i="0" sz="700" u="none" cap="none" strike="noStrike">
                <a:solidFill>
                  <a:srgbClr val="000000"/>
                </a:solidFill>
                <a:latin typeface="Arial"/>
                <a:ea typeface="Arial"/>
                <a:cs typeface="Arial"/>
                <a:sym typeface="Arial"/>
              </a:endParaRPr>
            </a:p>
          </p:txBody>
        </p:sp>
      </p:grpSp>
      <p:sp>
        <p:nvSpPr>
          <p:cNvPr id="408" name="Google Shape;408;p39"/>
          <p:cNvSpPr/>
          <p:nvPr/>
        </p:nvSpPr>
        <p:spPr>
          <a:xfrm>
            <a:off x="3841725" y="2571750"/>
            <a:ext cx="4921250" cy="2571750"/>
          </a:xfrm>
          <a:custGeom>
            <a:rect b="b" l="l" r="r" t="t"/>
            <a:pathLst>
              <a:path extrusionOk="0" h="5143500" w="9842500">
                <a:moveTo>
                  <a:pt x="0" y="0"/>
                </a:moveTo>
                <a:lnTo>
                  <a:pt x="9842500" y="0"/>
                </a:lnTo>
                <a:lnTo>
                  <a:pt x="9842500" y="5143500"/>
                </a:lnTo>
                <a:lnTo>
                  <a:pt x="0" y="5143500"/>
                </a:lnTo>
                <a:lnTo>
                  <a:pt x="0" y="0"/>
                </a:lnTo>
                <a:close/>
              </a:path>
            </a:pathLst>
          </a:custGeom>
          <a:blipFill rotWithShape="1">
            <a:blip r:embed="rId4">
              <a:alphaModFix/>
            </a:blip>
            <a:stretch>
              <a:fillRect b="0" l="0" r="0" t="0"/>
            </a:stretch>
          </a:blipFill>
          <a:ln>
            <a:noFill/>
          </a:ln>
        </p:spPr>
      </p:sp>
      <p:sp>
        <p:nvSpPr>
          <p:cNvPr id="409" name="Google Shape;409;p39"/>
          <p:cNvSpPr txBox="1"/>
          <p:nvPr/>
        </p:nvSpPr>
        <p:spPr>
          <a:xfrm>
            <a:off x="277092" y="395500"/>
            <a:ext cx="1925400" cy="585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800"/>
              <a:buFont typeface="Arial"/>
              <a:buNone/>
            </a:pPr>
            <a:r>
              <a:rPr b="1" i="0" lang="es" sz="3800" u="none" cap="none" strike="noStrike">
                <a:solidFill>
                  <a:srgbClr val="FFFFFF"/>
                </a:solidFill>
                <a:latin typeface="Fira Sans Black"/>
                <a:ea typeface="Fira Sans Black"/>
                <a:cs typeface="Fira Sans Black"/>
                <a:sym typeface="Fira Sans Black"/>
              </a:rPr>
              <a:t>KANBAN</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13" name="Shape 413"/>
        <p:cNvGrpSpPr/>
        <p:nvPr/>
      </p:nvGrpSpPr>
      <p:grpSpPr>
        <a:xfrm>
          <a:off x="0" y="0"/>
          <a:ext cx="0" cy="0"/>
          <a:chOff x="0" y="0"/>
          <a:chExt cx="0" cy="0"/>
        </a:xfrm>
      </p:grpSpPr>
      <p:sp>
        <p:nvSpPr>
          <p:cNvPr id="414" name="Google Shape;414;p40"/>
          <p:cNvSpPr/>
          <p:nvPr/>
        </p:nvSpPr>
        <p:spPr>
          <a:xfrm flipH="1">
            <a:off x="-1026987" y="3386718"/>
            <a:ext cx="4185203" cy="2389613"/>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0"/>
            </a:stretch>
          </a:blipFill>
          <a:ln>
            <a:noFill/>
          </a:ln>
        </p:spPr>
      </p:sp>
      <p:grpSp>
        <p:nvGrpSpPr>
          <p:cNvPr id="415" name="Google Shape;415;p40"/>
          <p:cNvGrpSpPr/>
          <p:nvPr/>
        </p:nvGrpSpPr>
        <p:grpSpPr>
          <a:xfrm>
            <a:off x="868800" y="1145886"/>
            <a:ext cx="7647760" cy="1977116"/>
            <a:chOff x="279935" y="-139299"/>
            <a:chExt cx="3027857" cy="1291895"/>
          </a:xfrm>
        </p:grpSpPr>
        <p:sp>
          <p:nvSpPr>
            <p:cNvPr id="416" name="Google Shape;416;p40"/>
            <p:cNvSpPr/>
            <p:nvPr/>
          </p:nvSpPr>
          <p:spPr>
            <a:xfrm>
              <a:off x="279935" y="-139299"/>
              <a:ext cx="3027857" cy="1291895"/>
            </a:xfrm>
            <a:custGeom>
              <a:rect b="b" l="l" r="r" t="t"/>
              <a:pathLst>
                <a:path extrusionOk="0" h="1143270" w="3178852">
                  <a:moveTo>
                    <a:pt x="32713" y="0"/>
                  </a:moveTo>
                  <a:lnTo>
                    <a:pt x="3146139" y="0"/>
                  </a:lnTo>
                  <a:cubicBezTo>
                    <a:pt x="3154815" y="0"/>
                    <a:pt x="3163136" y="3447"/>
                    <a:pt x="3169271" y="9581"/>
                  </a:cubicBezTo>
                  <a:cubicBezTo>
                    <a:pt x="3175406" y="15716"/>
                    <a:pt x="3178852" y="24037"/>
                    <a:pt x="3178852" y="32713"/>
                  </a:cubicBezTo>
                  <a:lnTo>
                    <a:pt x="3178852" y="1110557"/>
                  </a:lnTo>
                  <a:cubicBezTo>
                    <a:pt x="3178852" y="1119233"/>
                    <a:pt x="3175406" y="1127554"/>
                    <a:pt x="3169271" y="1133689"/>
                  </a:cubicBezTo>
                  <a:cubicBezTo>
                    <a:pt x="3163136" y="1139824"/>
                    <a:pt x="3154815" y="1143270"/>
                    <a:pt x="3146139" y="1143270"/>
                  </a:cubicBezTo>
                  <a:lnTo>
                    <a:pt x="32713" y="1143270"/>
                  </a:lnTo>
                  <a:cubicBezTo>
                    <a:pt x="24037" y="1143270"/>
                    <a:pt x="15716" y="1139824"/>
                    <a:pt x="9581" y="1133689"/>
                  </a:cubicBezTo>
                  <a:cubicBezTo>
                    <a:pt x="3447" y="1127554"/>
                    <a:pt x="0" y="1119233"/>
                    <a:pt x="0" y="1110557"/>
                  </a:cubicBezTo>
                  <a:lnTo>
                    <a:pt x="0" y="32713"/>
                  </a:lnTo>
                  <a:cubicBezTo>
                    <a:pt x="0" y="24037"/>
                    <a:pt x="3447" y="15716"/>
                    <a:pt x="9581" y="9581"/>
                  </a:cubicBezTo>
                  <a:cubicBezTo>
                    <a:pt x="15716" y="3447"/>
                    <a:pt x="24037" y="0"/>
                    <a:pt x="32713" y="0"/>
                  </a:cubicBezTo>
                  <a:close/>
                </a:path>
              </a:pathLst>
            </a:custGeom>
            <a:solidFill>
              <a:srgbClr val="63667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17" name="Google Shape;417;p40"/>
            <p:cNvSpPr txBox="1"/>
            <p:nvPr/>
          </p:nvSpPr>
          <p:spPr>
            <a:xfrm>
              <a:off x="356030" y="2177"/>
              <a:ext cx="2864700" cy="1068900"/>
            </a:xfrm>
            <a:prstGeom prst="rect">
              <a:avLst/>
            </a:prstGeom>
            <a:noFill/>
            <a:ln>
              <a:noFill/>
            </a:ln>
          </p:spPr>
          <p:txBody>
            <a:bodyPr anchorCtr="0" anchor="ctr" bIns="25400" lIns="25400" spcFirstLastPara="1" rIns="25400" wrap="square" tIns="25400">
              <a:noAutofit/>
            </a:bodyPr>
            <a:lstStyle/>
            <a:p>
              <a:pPr indent="0" lvl="0" marL="0" marR="0" rtl="0" algn="just">
                <a:lnSpc>
                  <a:spcPct val="140000"/>
                </a:lnSpc>
                <a:spcBef>
                  <a:spcPts val="0"/>
                </a:spcBef>
                <a:spcAft>
                  <a:spcPts val="0"/>
                </a:spcAft>
                <a:buClr>
                  <a:srgbClr val="000000"/>
                </a:buClr>
                <a:buSzPts val="1500"/>
                <a:buFont typeface="Arial"/>
                <a:buNone/>
              </a:pPr>
              <a:r>
                <a:rPr b="1" i="0" lang="es" sz="1500" u="none" cap="none" strike="noStrike">
                  <a:solidFill>
                    <a:srgbClr val="FFFFFF"/>
                  </a:solidFill>
                  <a:latin typeface="Fira Sans"/>
                  <a:ea typeface="Fira Sans"/>
                  <a:cs typeface="Fira Sans"/>
                  <a:sym typeface="Fira Sans"/>
                </a:rPr>
                <a:t>Divide los requisitos y tareas de forma similar a Kanban. Se itera sobre bloques de tiempos cortos y fijos (entre dos y cuatro semanas) para conseguir un resultado completo en cada iteración. Las etapas son: planificación de la iteración (planning sprint), ejecución (sprint), reunión diaria (daily meeting) y demostración de resultados (sprint review). Cada iteración por estas etapas se denomina también sprint. </a:t>
              </a:r>
              <a:endParaRPr b="0" i="0" sz="700" u="none" cap="none" strike="noStrike">
                <a:solidFill>
                  <a:srgbClr val="000000"/>
                </a:solidFill>
                <a:latin typeface="Arial"/>
                <a:ea typeface="Arial"/>
                <a:cs typeface="Arial"/>
                <a:sym typeface="Arial"/>
              </a:endParaRPr>
            </a:p>
          </p:txBody>
        </p:sp>
      </p:grpSp>
      <p:sp>
        <p:nvSpPr>
          <p:cNvPr id="418" name="Google Shape;418;p40"/>
          <p:cNvSpPr txBox="1"/>
          <p:nvPr/>
        </p:nvSpPr>
        <p:spPr>
          <a:xfrm>
            <a:off x="868806" y="463413"/>
            <a:ext cx="1925400" cy="585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800"/>
              <a:buFont typeface="Arial"/>
              <a:buNone/>
            </a:pPr>
            <a:r>
              <a:rPr b="1" i="0" lang="es" sz="3800" u="none" cap="none" strike="noStrike">
                <a:solidFill>
                  <a:srgbClr val="FFFFFF"/>
                </a:solidFill>
                <a:latin typeface="Fira Sans Black"/>
                <a:ea typeface="Fira Sans Black"/>
                <a:cs typeface="Fira Sans Black"/>
                <a:sym typeface="Fira Sans Black"/>
              </a:rPr>
              <a:t>SCRUM</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22" name="Shape 422"/>
        <p:cNvGrpSpPr/>
        <p:nvPr/>
      </p:nvGrpSpPr>
      <p:grpSpPr>
        <a:xfrm>
          <a:off x="0" y="0"/>
          <a:ext cx="0" cy="0"/>
          <a:chOff x="0" y="0"/>
          <a:chExt cx="0" cy="0"/>
        </a:xfrm>
      </p:grpSpPr>
      <p:sp>
        <p:nvSpPr>
          <p:cNvPr id="423" name="Google Shape;423;p41"/>
          <p:cNvSpPr/>
          <p:nvPr/>
        </p:nvSpPr>
        <p:spPr>
          <a:xfrm flipH="1">
            <a:off x="-1026987" y="3386718"/>
            <a:ext cx="4185203" cy="2389613"/>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0"/>
            </a:stretch>
          </a:blipFill>
          <a:ln>
            <a:noFill/>
          </a:ln>
        </p:spPr>
      </p:sp>
      <p:sp>
        <p:nvSpPr>
          <p:cNvPr id="424" name="Google Shape;424;p41"/>
          <p:cNvSpPr/>
          <p:nvPr/>
        </p:nvSpPr>
        <p:spPr>
          <a:xfrm>
            <a:off x="2748279" y="127728"/>
            <a:ext cx="6228607" cy="3924023"/>
          </a:xfrm>
          <a:custGeom>
            <a:rect b="b" l="l" r="r" t="t"/>
            <a:pathLst>
              <a:path extrusionOk="0" h="7848045" w="12457214">
                <a:moveTo>
                  <a:pt x="0" y="0"/>
                </a:moveTo>
                <a:lnTo>
                  <a:pt x="12457214" y="0"/>
                </a:lnTo>
                <a:lnTo>
                  <a:pt x="12457214" y="7848045"/>
                </a:lnTo>
                <a:lnTo>
                  <a:pt x="0" y="7848045"/>
                </a:lnTo>
                <a:lnTo>
                  <a:pt x="0" y="0"/>
                </a:lnTo>
                <a:close/>
              </a:path>
            </a:pathLst>
          </a:custGeom>
          <a:blipFill rotWithShape="1">
            <a:blip r:embed="rId4">
              <a:alphaModFix/>
            </a:blip>
            <a:stretch>
              <a:fillRect b="0" l="0" r="0" t="0"/>
            </a:stretch>
          </a:blipFill>
          <a:ln>
            <a:noFill/>
          </a:ln>
        </p:spPr>
      </p:sp>
      <p:sp>
        <p:nvSpPr>
          <p:cNvPr id="425" name="Google Shape;425;p41"/>
          <p:cNvSpPr txBox="1"/>
          <p:nvPr/>
        </p:nvSpPr>
        <p:spPr>
          <a:xfrm>
            <a:off x="115133" y="1377434"/>
            <a:ext cx="2560200" cy="769500"/>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Clr>
                <a:srgbClr val="000000"/>
              </a:buClr>
              <a:buSzPts val="5000"/>
              <a:buFont typeface="Arial"/>
              <a:buNone/>
            </a:pPr>
            <a:r>
              <a:rPr b="1" i="0" lang="es" sz="5000" u="none" cap="none" strike="noStrike">
                <a:solidFill>
                  <a:srgbClr val="FFFFFF"/>
                </a:solidFill>
                <a:latin typeface="Fira Sans Black"/>
                <a:ea typeface="Fira Sans Black"/>
                <a:cs typeface="Fira Sans Black"/>
                <a:sym typeface="Fira Sans Black"/>
              </a:rPr>
              <a:t>SCRUM</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29" name="Shape 429"/>
        <p:cNvGrpSpPr/>
        <p:nvPr/>
      </p:nvGrpSpPr>
      <p:grpSpPr>
        <a:xfrm>
          <a:off x="0" y="0"/>
          <a:ext cx="0" cy="0"/>
          <a:chOff x="0" y="0"/>
          <a:chExt cx="0" cy="0"/>
        </a:xfrm>
      </p:grpSpPr>
      <p:sp>
        <p:nvSpPr>
          <p:cNvPr id="430" name="Google Shape;430;p42"/>
          <p:cNvSpPr/>
          <p:nvPr/>
        </p:nvSpPr>
        <p:spPr>
          <a:xfrm flipH="1">
            <a:off x="-1026987" y="3386718"/>
            <a:ext cx="4185203" cy="2389613"/>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0"/>
            </a:stretch>
          </a:blipFill>
          <a:ln>
            <a:noFill/>
          </a:ln>
        </p:spPr>
      </p:sp>
      <p:sp>
        <p:nvSpPr>
          <p:cNvPr id="431" name="Google Shape;431;p42"/>
          <p:cNvSpPr/>
          <p:nvPr/>
        </p:nvSpPr>
        <p:spPr>
          <a:xfrm>
            <a:off x="261388" y="1232475"/>
            <a:ext cx="8529428" cy="4216112"/>
          </a:xfrm>
          <a:custGeom>
            <a:rect b="b" l="l" r="r" t="t"/>
            <a:pathLst>
              <a:path extrusionOk="0" h="2167667" w="4407973">
                <a:moveTo>
                  <a:pt x="23591" y="0"/>
                </a:moveTo>
                <a:lnTo>
                  <a:pt x="4384382" y="0"/>
                </a:lnTo>
                <a:cubicBezTo>
                  <a:pt x="4390638" y="0"/>
                  <a:pt x="4396639" y="2486"/>
                  <a:pt x="4401063" y="6910"/>
                </a:cubicBezTo>
                <a:cubicBezTo>
                  <a:pt x="4405487" y="11334"/>
                  <a:pt x="4407973" y="17335"/>
                  <a:pt x="4407973" y="23591"/>
                </a:cubicBezTo>
                <a:lnTo>
                  <a:pt x="4407973" y="2144076"/>
                </a:lnTo>
                <a:cubicBezTo>
                  <a:pt x="4407973" y="2150333"/>
                  <a:pt x="4405487" y="2156333"/>
                  <a:pt x="4401063" y="2160758"/>
                </a:cubicBezTo>
                <a:cubicBezTo>
                  <a:pt x="4396639" y="2165182"/>
                  <a:pt x="4390638" y="2167667"/>
                  <a:pt x="4384382" y="2167667"/>
                </a:cubicBezTo>
                <a:lnTo>
                  <a:pt x="23591" y="2167667"/>
                </a:lnTo>
                <a:cubicBezTo>
                  <a:pt x="17335" y="2167667"/>
                  <a:pt x="11334" y="2165182"/>
                  <a:pt x="6910" y="2160758"/>
                </a:cubicBezTo>
                <a:cubicBezTo>
                  <a:pt x="2486" y="2156333"/>
                  <a:pt x="0" y="2150333"/>
                  <a:pt x="0" y="2144076"/>
                </a:cubicBezTo>
                <a:lnTo>
                  <a:pt x="0" y="23591"/>
                </a:lnTo>
                <a:cubicBezTo>
                  <a:pt x="0" y="17335"/>
                  <a:pt x="2486" y="11334"/>
                  <a:pt x="6910" y="6910"/>
                </a:cubicBezTo>
                <a:cubicBezTo>
                  <a:pt x="11334" y="2486"/>
                  <a:pt x="17335" y="0"/>
                  <a:pt x="23591" y="0"/>
                </a:cubicBezTo>
                <a:close/>
              </a:path>
            </a:pathLst>
          </a:custGeom>
          <a:solidFill>
            <a:srgbClr val="63667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32" name="Google Shape;432;p42"/>
          <p:cNvSpPr txBox="1"/>
          <p:nvPr/>
        </p:nvSpPr>
        <p:spPr>
          <a:xfrm>
            <a:off x="261388" y="2156110"/>
            <a:ext cx="8314200" cy="3088500"/>
          </a:xfrm>
          <a:prstGeom prst="rect">
            <a:avLst/>
          </a:prstGeom>
          <a:noFill/>
          <a:ln>
            <a:noFill/>
          </a:ln>
        </p:spPr>
        <p:txBody>
          <a:bodyPr anchorCtr="0" anchor="ctr" bIns="25400" lIns="25400" spcFirstLastPara="1" rIns="25400" wrap="square" tIns="25400">
            <a:noAutofit/>
          </a:bodyPr>
          <a:lstStyle/>
          <a:p>
            <a:pPr indent="-165100" lvl="1" marL="330200" marR="0" rtl="0" algn="just">
              <a:lnSpc>
                <a:spcPct val="140000"/>
              </a:lnSpc>
              <a:spcBef>
                <a:spcPts val="0"/>
              </a:spcBef>
              <a:spcAft>
                <a:spcPts val="0"/>
              </a:spcAft>
              <a:buClr>
                <a:srgbClr val="FFFFFF"/>
              </a:buClr>
              <a:buSzPts val="1400"/>
              <a:buFont typeface="Arial"/>
              <a:buChar char="•"/>
            </a:pPr>
            <a:r>
              <a:rPr b="1" i="0" lang="es" sz="1400" u="none" cap="none" strike="noStrike">
                <a:solidFill>
                  <a:srgbClr val="FFFFFF"/>
                </a:solidFill>
                <a:latin typeface="Fira Sans"/>
                <a:ea typeface="Fira Sans"/>
                <a:cs typeface="Fira Sans"/>
                <a:sym typeface="Fira Sans"/>
              </a:rPr>
              <a:t>Esta configurado para que pequeños equipos de desarrollo muy capacitados elaboren cualquier tarea en poco tiempo. </a:t>
            </a:r>
            <a:endParaRPr b="1" i="0" sz="1400" u="none" cap="none" strike="noStrike">
              <a:solidFill>
                <a:srgbClr val="FFFFFF"/>
              </a:solidFill>
              <a:latin typeface="Fira Sans"/>
              <a:ea typeface="Fira Sans"/>
              <a:cs typeface="Fira Sans"/>
              <a:sym typeface="Fira Sans"/>
            </a:endParaRPr>
          </a:p>
          <a:p>
            <a:pPr indent="0" lvl="0" marL="0" marR="0" rtl="0" algn="just">
              <a:lnSpc>
                <a:spcPct val="140000"/>
              </a:lnSpc>
              <a:spcBef>
                <a:spcPts val="0"/>
              </a:spcBef>
              <a:spcAft>
                <a:spcPts val="0"/>
              </a:spcAft>
              <a:buNone/>
            </a:pPr>
            <a:r>
              <a:t/>
            </a:r>
            <a:endParaRPr b="1" sz="1400">
              <a:solidFill>
                <a:srgbClr val="FFFFFF"/>
              </a:solidFill>
              <a:latin typeface="Fira Sans"/>
              <a:ea typeface="Fira Sans"/>
              <a:cs typeface="Fira Sans"/>
              <a:sym typeface="Fira Sans"/>
            </a:endParaRPr>
          </a:p>
          <a:p>
            <a:pPr indent="-165100" lvl="1" marL="330200" marR="0" rtl="0" algn="just">
              <a:lnSpc>
                <a:spcPct val="140000"/>
              </a:lnSpc>
              <a:spcBef>
                <a:spcPts val="0"/>
              </a:spcBef>
              <a:spcAft>
                <a:spcPts val="0"/>
              </a:spcAft>
              <a:buClr>
                <a:srgbClr val="FFFFFF"/>
              </a:buClr>
              <a:buSzPts val="1400"/>
              <a:buFont typeface="Arial"/>
              <a:buChar char="•"/>
            </a:pPr>
            <a:r>
              <a:rPr b="1" i="0" lang="es" sz="1400" u="none" cap="none" strike="noStrike">
                <a:solidFill>
                  <a:srgbClr val="FFFFFF"/>
                </a:solidFill>
                <a:latin typeface="Fira Sans"/>
                <a:ea typeface="Fira Sans"/>
                <a:cs typeface="Fira Sans"/>
                <a:sym typeface="Fira Sans"/>
              </a:rPr>
              <a:t>Los activos más importantes son las personas y su compromiso, relegando así a un segundo plano el tiempo y los costes.</a:t>
            </a:r>
            <a:endParaRPr b="1" i="0" sz="1400" u="none" cap="none" strike="noStrike">
              <a:solidFill>
                <a:srgbClr val="FFFFFF"/>
              </a:solidFill>
              <a:latin typeface="Fira Sans"/>
              <a:ea typeface="Fira Sans"/>
              <a:cs typeface="Fira Sans"/>
              <a:sym typeface="Fira Sans"/>
            </a:endParaRPr>
          </a:p>
          <a:p>
            <a:pPr indent="0" lvl="0" marL="457200" marR="0" rtl="0" algn="just">
              <a:lnSpc>
                <a:spcPct val="140000"/>
              </a:lnSpc>
              <a:spcBef>
                <a:spcPts val="0"/>
              </a:spcBef>
              <a:spcAft>
                <a:spcPts val="0"/>
              </a:spcAft>
              <a:buNone/>
            </a:pPr>
            <a:r>
              <a:t/>
            </a:r>
            <a:endParaRPr b="1" sz="1400">
              <a:solidFill>
                <a:srgbClr val="FFFFFF"/>
              </a:solidFill>
              <a:latin typeface="Fira Sans"/>
              <a:ea typeface="Fira Sans"/>
              <a:cs typeface="Fira Sans"/>
              <a:sym typeface="Fira Sans"/>
            </a:endParaRPr>
          </a:p>
          <a:p>
            <a:pPr indent="-165100" lvl="1" marL="330200" marR="0" rtl="0" algn="just">
              <a:lnSpc>
                <a:spcPct val="140000"/>
              </a:lnSpc>
              <a:spcBef>
                <a:spcPts val="0"/>
              </a:spcBef>
              <a:spcAft>
                <a:spcPts val="0"/>
              </a:spcAft>
              <a:buClr>
                <a:srgbClr val="FFFFFF"/>
              </a:buClr>
              <a:buSzPts val="1400"/>
              <a:buFont typeface="Arial"/>
              <a:buChar char="•"/>
            </a:pPr>
            <a:r>
              <a:rPr b="1" i="0" lang="es" sz="1400" u="none" cap="none" strike="noStrike">
                <a:solidFill>
                  <a:srgbClr val="FFFFFF"/>
                </a:solidFill>
                <a:latin typeface="Fira Sans"/>
                <a:ea typeface="Fira Sans"/>
                <a:cs typeface="Fira Sans"/>
                <a:sym typeface="Fira Sans"/>
              </a:rPr>
              <a:t>Maximiza el valor para el cliente y tiene como objetivo mejorar los procesos mediante la eliminación de actividades que no tienen valor agregado.</a:t>
            </a:r>
            <a:endParaRPr b="1" i="0" sz="1400" u="none" cap="none" strike="noStrike">
              <a:solidFill>
                <a:srgbClr val="FFFFFF"/>
              </a:solidFill>
              <a:latin typeface="Fira Sans"/>
              <a:ea typeface="Fira Sans"/>
              <a:cs typeface="Fira Sans"/>
              <a:sym typeface="Fira Sans"/>
            </a:endParaRPr>
          </a:p>
          <a:p>
            <a:pPr indent="0" lvl="0" marL="457200" marR="0" rtl="0" algn="just">
              <a:lnSpc>
                <a:spcPct val="140000"/>
              </a:lnSpc>
              <a:spcBef>
                <a:spcPts val="0"/>
              </a:spcBef>
              <a:spcAft>
                <a:spcPts val="0"/>
              </a:spcAft>
              <a:buNone/>
            </a:pPr>
            <a:r>
              <a:t/>
            </a:r>
            <a:endParaRPr b="1" sz="1400">
              <a:solidFill>
                <a:srgbClr val="FFFFFF"/>
              </a:solidFill>
              <a:latin typeface="Fira Sans"/>
              <a:ea typeface="Fira Sans"/>
              <a:cs typeface="Fira Sans"/>
              <a:sym typeface="Fira Sans"/>
            </a:endParaRPr>
          </a:p>
          <a:p>
            <a:pPr indent="-165100" lvl="1" marL="330200" marR="0" rtl="0" algn="just">
              <a:lnSpc>
                <a:spcPct val="140000"/>
              </a:lnSpc>
              <a:spcBef>
                <a:spcPts val="0"/>
              </a:spcBef>
              <a:spcAft>
                <a:spcPts val="0"/>
              </a:spcAft>
              <a:buClr>
                <a:srgbClr val="FFFFFF"/>
              </a:buClr>
              <a:buSzPts val="1400"/>
              <a:buFont typeface="Arial"/>
              <a:buChar char="•"/>
            </a:pPr>
            <a:r>
              <a:rPr b="1" i="0" lang="es" sz="1400" u="none" cap="none" strike="noStrike">
                <a:solidFill>
                  <a:srgbClr val="FFFFFF"/>
                </a:solidFill>
                <a:latin typeface="Fira Sans"/>
                <a:ea typeface="Fira Sans"/>
                <a:cs typeface="Fira Sans"/>
                <a:sym typeface="Fira Sans"/>
              </a:rPr>
              <a:t>Como desperdicios entendemos cualquier actividad que consume recursos, principalmente tiempo de desarrollo, pero que no agrega valor para el cliente. Algunos ejemplos de actividades que pueden dar lugar a estos desperdicios sería la sobre ingeniería, el desarrollo de features no solicitadas o la redundancia de tareas.</a:t>
            </a:r>
            <a:endParaRPr b="0" i="0" sz="600" u="none" cap="none" strike="noStrike">
              <a:solidFill>
                <a:srgbClr val="000000"/>
              </a:solidFill>
              <a:latin typeface="Arial"/>
              <a:ea typeface="Arial"/>
              <a:cs typeface="Arial"/>
              <a:sym typeface="Arial"/>
            </a:endParaRPr>
          </a:p>
          <a:p>
            <a:pPr indent="0" lvl="0" marL="0" marR="0" rtl="0" algn="just">
              <a:lnSpc>
                <a:spcPct val="140000"/>
              </a:lnSpc>
              <a:spcBef>
                <a:spcPts val="0"/>
              </a:spcBef>
              <a:spcAft>
                <a:spcPts val="0"/>
              </a:spcAft>
              <a:buClr>
                <a:srgbClr val="000000"/>
              </a:buClr>
              <a:buSzPts val="1500"/>
              <a:buFont typeface="Arial"/>
              <a:buNone/>
            </a:pPr>
            <a:r>
              <a:t/>
            </a:r>
            <a:endParaRPr b="1" i="0" sz="1500" u="none" cap="none" strike="noStrike">
              <a:solidFill>
                <a:srgbClr val="FFFFFF"/>
              </a:solidFill>
              <a:latin typeface="Fira Sans"/>
              <a:ea typeface="Fira Sans"/>
              <a:cs typeface="Fira Sans"/>
              <a:sym typeface="Fira Sans"/>
            </a:endParaRPr>
          </a:p>
          <a:p>
            <a:pPr indent="0" lvl="0" marL="0" marR="0" rtl="0" algn="just">
              <a:lnSpc>
                <a:spcPct val="140000"/>
              </a:lnSpc>
              <a:spcBef>
                <a:spcPts val="0"/>
              </a:spcBef>
              <a:spcAft>
                <a:spcPts val="0"/>
              </a:spcAft>
              <a:buClr>
                <a:srgbClr val="000000"/>
              </a:buClr>
              <a:buSzPts val="1500"/>
              <a:buFont typeface="Arial"/>
              <a:buNone/>
            </a:pPr>
            <a:r>
              <a:t/>
            </a:r>
            <a:endParaRPr b="1" i="0" sz="1500" u="none" cap="none" strike="noStrike">
              <a:solidFill>
                <a:srgbClr val="FFFFFF"/>
              </a:solidFill>
              <a:latin typeface="Fira Sans"/>
              <a:ea typeface="Fira Sans"/>
              <a:cs typeface="Fira Sans"/>
              <a:sym typeface="Fira Sans"/>
            </a:endParaRPr>
          </a:p>
        </p:txBody>
      </p:sp>
      <p:sp>
        <p:nvSpPr>
          <p:cNvPr id="433" name="Google Shape;433;p42"/>
          <p:cNvSpPr txBox="1"/>
          <p:nvPr/>
        </p:nvSpPr>
        <p:spPr>
          <a:xfrm>
            <a:off x="274005" y="655271"/>
            <a:ext cx="1925400" cy="585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800"/>
              <a:buFont typeface="Arial"/>
              <a:buNone/>
            </a:pPr>
            <a:r>
              <a:rPr b="1" i="0" lang="es" sz="3800" u="none" cap="none" strike="noStrike">
                <a:solidFill>
                  <a:srgbClr val="FFFFFF"/>
                </a:solidFill>
                <a:latin typeface="Fira Sans Black"/>
                <a:ea typeface="Fira Sans Black"/>
                <a:cs typeface="Fira Sans Black"/>
                <a:sym typeface="Fira Sans Black"/>
              </a:rPr>
              <a:t>LEAN</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37" name="Shape 437"/>
        <p:cNvGrpSpPr/>
        <p:nvPr/>
      </p:nvGrpSpPr>
      <p:grpSpPr>
        <a:xfrm>
          <a:off x="0" y="0"/>
          <a:ext cx="0" cy="0"/>
          <a:chOff x="0" y="0"/>
          <a:chExt cx="0" cy="0"/>
        </a:xfrm>
      </p:grpSpPr>
      <p:sp>
        <p:nvSpPr>
          <p:cNvPr id="438" name="Google Shape;438;p43"/>
          <p:cNvSpPr/>
          <p:nvPr/>
        </p:nvSpPr>
        <p:spPr>
          <a:xfrm flipH="1">
            <a:off x="-1026987" y="3386718"/>
            <a:ext cx="4185203" cy="2389613"/>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0"/>
            </a:stretch>
          </a:blipFill>
          <a:ln>
            <a:noFill/>
          </a:ln>
        </p:spPr>
      </p:sp>
      <p:sp>
        <p:nvSpPr>
          <p:cNvPr id="439" name="Google Shape;439;p43"/>
          <p:cNvSpPr/>
          <p:nvPr/>
        </p:nvSpPr>
        <p:spPr>
          <a:xfrm>
            <a:off x="508000" y="1200613"/>
            <a:ext cx="8216134" cy="2757436"/>
          </a:xfrm>
          <a:custGeom>
            <a:rect b="b" l="l" r="r" t="t"/>
            <a:pathLst>
              <a:path extrusionOk="0" h="1638892" w="3713507">
                <a:moveTo>
                  <a:pt x="28003" y="0"/>
                </a:moveTo>
                <a:lnTo>
                  <a:pt x="3685503" y="0"/>
                </a:lnTo>
                <a:cubicBezTo>
                  <a:pt x="3700969" y="0"/>
                  <a:pt x="3713507" y="12537"/>
                  <a:pt x="3713507" y="28003"/>
                </a:cubicBezTo>
                <a:lnTo>
                  <a:pt x="3713507" y="1610889"/>
                </a:lnTo>
                <a:cubicBezTo>
                  <a:pt x="3713507" y="1626354"/>
                  <a:pt x="3700969" y="1638892"/>
                  <a:pt x="3685503" y="1638892"/>
                </a:cubicBezTo>
                <a:lnTo>
                  <a:pt x="28003" y="1638892"/>
                </a:lnTo>
                <a:cubicBezTo>
                  <a:pt x="12537" y="1638892"/>
                  <a:pt x="0" y="1626354"/>
                  <a:pt x="0" y="1610889"/>
                </a:cubicBezTo>
                <a:lnTo>
                  <a:pt x="0" y="28003"/>
                </a:lnTo>
                <a:cubicBezTo>
                  <a:pt x="0" y="12537"/>
                  <a:pt x="12537" y="0"/>
                  <a:pt x="28003" y="0"/>
                </a:cubicBezTo>
                <a:close/>
              </a:path>
            </a:pathLst>
          </a:custGeom>
          <a:solidFill>
            <a:srgbClr val="63667A"/>
          </a:solid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sp>
        <p:nvSpPr>
          <p:cNvPr id="440" name="Google Shape;440;p43"/>
          <p:cNvSpPr txBox="1"/>
          <p:nvPr/>
        </p:nvSpPr>
        <p:spPr>
          <a:xfrm>
            <a:off x="738912" y="1248299"/>
            <a:ext cx="7677900" cy="2759700"/>
          </a:xfrm>
          <a:prstGeom prst="rect">
            <a:avLst/>
          </a:prstGeom>
          <a:noFill/>
          <a:ln>
            <a:noFill/>
          </a:ln>
        </p:spPr>
        <p:txBody>
          <a:bodyPr anchorCtr="0" anchor="ctr" bIns="25400" lIns="25400" spcFirstLastPara="1" rIns="25400" wrap="square" tIns="25400">
            <a:noAutofit/>
          </a:bodyPr>
          <a:lstStyle/>
          <a:p>
            <a:pPr indent="0" lvl="0" marL="0" marR="0" rtl="0" algn="just">
              <a:lnSpc>
                <a:spcPct val="140000"/>
              </a:lnSpc>
              <a:spcBef>
                <a:spcPts val="0"/>
              </a:spcBef>
              <a:spcAft>
                <a:spcPts val="0"/>
              </a:spcAft>
              <a:buClr>
                <a:srgbClr val="000000"/>
              </a:buClr>
              <a:buSzPts val="1500"/>
              <a:buFont typeface="Arial"/>
              <a:buNone/>
            </a:pPr>
            <a:r>
              <a:rPr b="1" i="0" lang="es" sz="1500" u="none" cap="none" strike="noStrike">
                <a:solidFill>
                  <a:srgbClr val="FFFFFF"/>
                </a:solidFill>
                <a:latin typeface="Fira Sans"/>
                <a:ea typeface="Fira Sans"/>
                <a:cs typeface="Fira Sans"/>
                <a:sym typeface="Fira Sans"/>
              </a:rPr>
              <a:t>Es una metodología de desarrollo de software basada en las relaciones interpersonales, que se consideran la clave del éxito. Su principal objetivo es crear un buen ambiente de trabajo en equipo y que haya un feedback constante del cliente. El trabajo se basa en 12 conceptos: diseño sencillo, testing, refactorización y codificación con estándares, propiedad colectiva del código, programación en parejas, integración continua, entregas semanales e integridad con el cliente, entregas frecuentes y planificación.</a:t>
            </a:r>
            <a:endParaRPr b="0" i="0" sz="700" u="none" cap="none" strike="noStrike">
              <a:solidFill>
                <a:srgbClr val="000000"/>
              </a:solidFill>
              <a:latin typeface="Arial"/>
              <a:ea typeface="Arial"/>
              <a:cs typeface="Arial"/>
              <a:sym typeface="Arial"/>
            </a:endParaRPr>
          </a:p>
        </p:txBody>
      </p:sp>
      <p:sp>
        <p:nvSpPr>
          <p:cNvPr id="441" name="Google Shape;441;p43"/>
          <p:cNvSpPr txBox="1"/>
          <p:nvPr/>
        </p:nvSpPr>
        <p:spPr>
          <a:xfrm>
            <a:off x="953808" y="421497"/>
            <a:ext cx="7529100" cy="585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800"/>
              <a:buFont typeface="Arial"/>
              <a:buNone/>
            </a:pPr>
            <a:r>
              <a:rPr b="1" i="0" lang="es" sz="3800" u="none" cap="none" strike="noStrike">
                <a:solidFill>
                  <a:srgbClr val="FFFFFF"/>
                </a:solidFill>
                <a:latin typeface="Fira Sans Black"/>
                <a:ea typeface="Fira Sans Black"/>
                <a:cs typeface="Fira Sans Black"/>
                <a:sym typeface="Fira Sans Black"/>
              </a:rPr>
              <a:t>XP (EXTREME PROGRAMMING)</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45" name="Shape 445"/>
        <p:cNvGrpSpPr/>
        <p:nvPr/>
      </p:nvGrpSpPr>
      <p:grpSpPr>
        <a:xfrm>
          <a:off x="0" y="0"/>
          <a:ext cx="0" cy="0"/>
          <a:chOff x="0" y="0"/>
          <a:chExt cx="0" cy="0"/>
        </a:xfrm>
      </p:grpSpPr>
      <p:sp>
        <p:nvSpPr>
          <p:cNvPr id="446" name="Google Shape;446;p44"/>
          <p:cNvSpPr/>
          <p:nvPr/>
        </p:nvSpPr>
        <p:spPr>
          <a:xfrm flipH="1">
            <a:off x="-1026987" y="3386718"/>
            <a:ext cx="4185203" cy="2389613"/>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0"/>
            </a:stretch>
          </a:blipFill>
          <a:ln>
            <a:noFill/>
          </a:ln>
        </p:spPr>
      </p:sp>
      <p:sp>
        <p:nvSpPr>
          <p:cNvPr id="447" name="Google Shape;447;p44"/>
          <p:cNvSpPr/>
          <p:nvPr/>
        </p:nvSpPr>
        <p:spPr>
          <a:xfrm>
            <a:off x="922850" y="476231"/>
            <a:ext cx="7298299" cy="4105294"/>
          </a:xfrm>
          <a:custGeom>
            <a:rect b="b" l="l" r="r" t="t"/>
            <a:pathLst>
              <a:path extrusionOk="0" h="8210587" w="14596599">
                <a:moveTo>
                  <a:pt x="0" y="0"/>
                </a:moveTo>
                <a:lnTo>
                  <a:pt x="14596598" y="0"/>
                </a:lnTo>
                <a:lnTo>
                  <a:pt x="14596598" y="8210587"/>
                </a:lnTo>
                <a:lnTo>
                  <a:pt x="0" y="821058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51" name="Shape 451"/>
        <p:cNvGrpSpPr/>
        <p:nvPr/>
      </p:nvGrpSpPr>
      <p:grpSpPr>
        <a:xfrm>
          <a:off x="0" y="0"/>
          <a:ext cx="0" cy="0"/>
          <a:chOff x="0" y="0"/>
          <a:chExt cx="0" cy="0"/>
        </a:xfrm>
      </p:grpSpPr>
      <p:sp>
        <p:nvSpPr>
          <p:cNvPr id="452" name="Google Shape;452;p45"/>
          <p:cNvSpPr/>
          <p:nvPr/>
        </p:nvSpPr>
        <p:spPr>
          <a:xfrm flipH="1">
            <a:off x="-1026987" y="3386718"/>
            <a:ext cx="4185203" cy="2389613"/>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0"/>
            </a:stretch>
          </a:blipFill>
          <a:ln>
            <a:noFill/>
          </a:ln>
        </p:spPr>
      </p:sp>
      <p:sp>
        <p:nvSpPr>
          <p:cNvPr id="453" name="Google Shape;453;p45"/>
          <p:cNvSpPr/>
          <p:nvPr/>
        </p:nvSpPr>
        <p:spPr>
          <a:xfrm>
            <a:off x="1051969" y="121225"/>
            <a:ext cx="7040065" cy="5537339"/>
          </a:xfrm>
          <a:custGeom>
            <a:rect b="b" l="l" r="r" t="t"/>
            <a:pathLst>
              <a:path extrusionOk="0" h="9844158" w="11932313">
                <a:moveTo>
                  <a:pt x="0" y="0"/>
                </a:moveTo>
                <a:lnTo>
                  <a:pt x="11932312" y="0"/>
                </a:lnTo>
                <a:lnTo>
                  <a:pt x="11932312" y="9844158"/>
                </a:lnTo>
                <a:lnTo>
                  <a:pt x="0" y="984415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14B"/>
        </a:solidFill>
      </p:bgPr>
    </p:bg>
    <p:spTree>
      <p:nvGrpSpPr>
        <p:cNvPr id="457" name="Shape 457"/>
        <p:cNvGrpSpPr/>
        <p:nvPr/>
      </p:nvGrpSpPr>
      <p:grpSpPr>
        <a:xfrm>
          <a:off x="0" y="0"/>
          <a:ext cx="0" cy="0"/>
          <a:chOff x="0" y="0"/>
          <a:chExt cx="0" cy="0"/>
        </a:xfrm>
      </p:grpSpPr>
      <p:sp>
        <p:nvSpPr>
          <p:cNvPr id="458" name="Google Shape;458;p46"/>
          <p:cNvSpPr/>
          <p:nvPr/>
        </p:nvSpPr>
        <p:spPr>
          <a:xfrm>
            <a:off x="586343" y="514350"/>
            <a:ext cx="2594991" cy="3715131"/>
          </a:xfrm>
          <a:custGeom>
            <a:rect b="b" l="l" r="r" t="t"/>
            <a:pathLst>
              <a:path extrusionOk="0" h="15163800" w="10591800">
                <a:moveTo>
                  <a:pt x="10591800" y="254000"/>
                </a:moveTo>
                <a:lnTo>
                  <a:pt x="10591800" y="14909800"/>
                </a:lnTo>
                <a:cubicBezTo>
                  <a:pt x="10591800" y="15050136"/>
                  <a:pt x="10478135" y="15163800"/>
                  <a:pt x="10337800" y="15163800"/>
                </a:cubicBezTo>
                <a:lnTo>
                  <a:pt x="254000" y="15163800"/>
                </a:lnTo>
                <a:cubicBezTo>
                  <a:pt x="113665" y="15163800"/>
                  <a:pt x="0" y="15050136"/>
                  <a:pt x="0" y="14909800"/>
                </a:cubicBezTo>
                <a:lnTo>
                  <a:pt x="0" y="254000"/>
                </a:lnTo>
                <a:cubicBezTo>
                  <a:pt x="0" y="113665"/>
                  <a:pt x="113665" y="0"/>
                  <a:pt x="254000" y="0"/>
                </a:cubicBezTo>
                <a:lnTo>
                  <a:pt x="10337800" y="0"/>
                </a:lnTo>
                <a:cubicBezTo>
                  <a:pt x="10478135" y="0"/>
                  <a:pt x="10591800" y="113665"/>
                  <a:pt x="10591800" y="254000"/>
                </a:cubicBezTo>
                <a:close/>
              </a:path>
            </a:pathLst>
          </a:custGeom>
          <a:blipFill rotWithShape="1">
            <a:blip r:embed="rId3">
              <a:alphaModFix/>
            </a:blip>
            <a:stretch>
              <a:fillRect b="0" l="-56430" r="-56440" t="0"/>
            </a:stretch>
          </a:blipFill>
          <a:ln>
            <a:noFill/>
          </a:ln>
        </p:spPr>
        <p:txBody>
          <a:bodyPr anchorCtr="0" anchor="ctr" bIns="45725" lIns="45725" spcFirstLastPara="1" rIns="45725" wrap="square" tIns="45725">
            <a:noAutofit/>
          </a:bodyPr>
          <a:lstStyle/>
          <a:p>
            <a:pPr indent="0" lvl="0" marL="0" marR="0" rtl="0" algn="l">
              <a:lnSpc>
                <a:spcPct val="100000"/>
              </a:lnSpc>
              <a:spcBef>
                <a:spcPts val="0"/>
              </a:spcBef>
              <a:spcAft>
                <a:spcPts val="0"/>
              </a:spcAft>
              <a:buClr>
                <a:srgbClr val="000000"/>
              </a:buClr>
              <a:buSzPts val="700"/>
              <a:buFont typeface="Arial"/>
              <a:buNone/>
            </a:pPr>
            <a:r>
              <a:t/>
            </a:r>
            <a:endParaRPr b="0" i="0" sz="700" u="none" cap="none" strike="noStrike">
              <a:solidFill>
                <a:srgbClr val="000000"/>
              </a:solidFill>
              <a:latin typeface="Arial"/>
              <a:ea typeface="Arial"/>
              <a:cs typeface="Arial"/>
              <a:sym typeface="Arial"/>
            </a:endParaRPr>
          </a:p>
        </p:txBody>
      </p:sp>
      <p:grpSp>
        <p:nvGrpSpPr>
          <p:cNvPr id="459" name="Google Shape;459;p46"/>
          <p:cNvGrpSpPr/>
          <p:nvPr/>
        </p:nvGrpSpPr>
        <p:grpSpPr>
          <a:xfrm rot="-3652503">
            <a:off x="-215782" y="2192365"/>
            <a:ext cx="3582922" cy="6211535"/>
            <a:chOff x="0" y="-38100"/>
            <a:chExt cx="1887300" cy="3271919"/>
          </a:xfrm>
        </p:grpSpPr>
        <p:sp>
          <p:nvSpPr>
            <p:cNvPr id="460" name="Google Shape;460;p46"/>
            <p:cNvSpPr/>
            <p:nvPr/>
          </p:nvSpPr>
          <p:spPr>
            <a:xfrm>
              <a:off x="0" y="0"/>
              <a:ext cx="1887265" cy="3233819"/>
            </a:xfrm>
            <a:custGeom>
              <a:rect b="b" l="l" r="r" t="t"/>
              <a:pathLst>
                <a:path extrusionOk="0" h="3233819" w="1887265">
                  <a:moveTo>
                    <a:pt x="0" y="0"/>
                  </a:moveTo>
                  <a:lnTo>
                    <a:pt x="1887265" y="0"/>
                  </a:lnTo>
                  <a:lnTo>
                    <a:pt x="1887265" y="3233819"/>
                  </a:lnTo>
                  <a:lnTo>
                    <a:pt x="0" y="3233819"/>
                  </a:lnTo>
                  <a:close/>
                </a:path>
              </a:pathLst>
            </a:custGeom>
            <a:solidFill>
              <a:srgbClr val="15214B"/>
            </a:solidFill>
            <a:ln>
              <a:noFill/>
            </a:ln>
          </p:spPr>
        </p:sp>
        <p:sp>
          <p:nvSpPr>
            <p:cNvPr id="461" name="Google Shape;461;p46"/>
            <p:cNvSpPr txBox="1"/>
            <p:nvPr/>
          </p:nvSpPr>
          <p:spPr>
            <a:xfrm>
              <a:off x="0" y="-38100"/>
              <a:ext cx="1887300" cy="32718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62" name="Google Shape;462;p46"/>
          <p:cNvSpPr/>
          <p:nvPr/>
        </p:nvSpPr>
        <p:spPr>
          <a:xfrm>
            <a:off x="-1946144" y="2767372"/>
            <a:ext cx="5154788" cy="5096797"/>
          </a:xfrm>
          <a:custGeom>
            <a:rect b="b" l="l" r="r" t="t"/>
            <a:pathLst>
              <a:path extrusionOk="0" h="10193594" w="10309576">
                <a:moveTo>
                  <a:pt x="0" y="0"/>
                </a:moveTo>
                <a:lnTo>
                  <a:pt x="10309576" y="0"/>
                </a:lnTo>
                <a:lnTo>
                  <a:pt x="10309576" y="10193594"/>
                </a:lnTo>
                <a:lnTo>
                  <a:pt x="0" y="10193594"/>
                </a:lnTo>
                <a:lnTo>
                  <a:pt x="0" y="0"/>
                </a:lnTo>
                <a:close/>
              </a:path>
            </a:pathLst>
          </a:custGeom>
          <a:blipFill rotWithShape="1">
            <a:blip r:embed="rId4">
              <a:alphaModFix/>
            </a:blip>
            <a:stretch>
              <a:fillRect b="0" l="0" r="0" t="0"/>
            </a:stretch>
          </a:blipFill>
          <a:ln>
            <a:noFill/>
          </a:ln>
        </p:spPr>
      </p:sp>
      <p:sp>
        <p:nvSpPr>
          <p:cNvPr id="463" name="Google Shape;463;p46"/>
          <p:cNvSpPr/>
          <p:nvPr/>
        </p:nvSpPr>
        <p:spPr>
          <a:xfrm>
            <a:off x="-1209169" y="3609487"/>
            <a:ext cx="3447039" cy="3412568"/>
          </a:xfrm>
          <a:custGeom>
            <a:rect b="b" l="l" r="r" t="t"/>
            <a:pathLst>
              <a:path extrusionOk="0" h="6825136" w="6894077">
                <a:moveTo>
                  <a:pt x="0" y="0"/>
                </a:moveTo>
                <a:lnTo>
                  <a:pt x="6894078" y="0"/>
                </a:lnTo>
                <a:lnTo>
                  <a:pt x="6894078" y="6825136"/>
                </a:lnTo>
                <a:lnTo>
                  <a:pt x="0" y="6825136"/>
                </a:lnTo>
                <a:lnTo>
                  <a:pt x="0" y="0"/>
                </a:lnTo>
                <a:close/>
              </a:path>
            </a:pathLst>
          </a:custGeom>
          <a:blipFill rotWithShape="1">
            <a:blip r:embed="rId5">
              <a:alphaModFix/>
            </a:blip>
            <a:stretch>
              <a:fillRect b="0" l="0" r="0" t="0"/>
            </a:stretch>
          </a:blipFill>
          <a:ln>
            <a:noFill/>
          </a:ln>
        </p:spPr>
      </p:sp>
      <p:sp>
        <p:nvSpPr>
          <p:cNvPr id="464" name="Google Shape;464;p46"/>
          <p:cNvSpPr/>
          <p:nvPr/>
        </p:nvSpPr>
        <p:spPr>
          <a:xfrm>
            <a:off x="8516418" y="-276032"/>
            <a:ext cx="1596732" cy="1580765"/>
          </a:xfrm>
          <a:custGeom>
            <a:rect b="b" l="l" r="r" t="t"/>
            <a:pathLst>
              <a:path extrusionOk="0" h="3161529" w="3193464">
                <a:moveTo>
                  <a:pt x="0" y="0"/>
                </a:moveTo>
                <a:lnTo>
                  <a:pt x="3193464" y="0"/>
                </a:lnTo>
                <a:lnTo>
                  <a:pt x="3193464" y="3161530"/>
                </a:lnTo>
                <a:lnTo>
                  <a:pt x="0" y="3161530"/>
                </a:lnTo>
                <a:lnTo>
                  <a:pt x="0" y="0"/>
                </a:lnTo>
                <a:close/>
              </a:path>
            </a:pathLst>
          </a:custGeom>
          <a:blipFill rotWithShape="1">
            <a:blip r:embed="rId5">
              <a:alphaModFix/>
            </a:blip>
            <a:stretch>
              <a:fillRect b="0" l="0" r="0" t="0"/>
            </a:stretch>
          </a:blipFill>
          <a:ln>
            <a:noFill/>
          </a:ln>
        </p:spPr>
      </p:sp>
      <p:cxnSp>
        <p:nvCxnSpPr>
          <p:cNvPr id="465" name="Google Shape;465;p46"/>
          <p:cNvCxnSpPr/>
          <p:nvPr/>
        </p:nvCxnSpPr>
        <p:spPr>
          <a:xfrm>
            <a:off x="3537593" y="4824781"/>
            <a:ext cx="6170100" cy="0"/>
          </a:xfrm>
          <a:prstGeom prst="straightConnector1">
            <a:avLst/>
          </a:prstGeom>
          <a:noFill/>
          <a:ln cap="flat" cmpd="sng" w="23825">
            <a:solidFill>
              <a:srgbClr val="B2DEFF"/>
            </a:solidFill>
            <a:prstDash val="solid"/>
            <a:round/>
            <a:headEnd len="sm" w="sm" type="none"/>
            <a:tailEnd len="sm" w="sm" type="none"/>
          </a:ln>
        </p:spPr>
      </p:cxnSp>
      <p:sp>
        <p:nvSpPr>
          <p:cNvPr id="466" name="Google Shape;466;p46"/>
          <p:cNvSpPr txBox="1"/>
          <p:nvPr/>
        </p:nvSpPr>
        <p:spPr>
          <a:xfrm>
            <a:off x="3539138" y="811203"/>
            <a:ext cx="3528300" cy="1068900"/>
          </a:xfrm>
          <a:prstGeom prst="rect">
            <a:avLst/>
          </a:prstGeom>
          <a:noFill/>
          <a:ln>
            <a:noFill/>
          </a:ln>
        </p:spPr>
        <p:txBody>
          <a:bodyPr anchorCtr="0" anchor="t" bIns="0" lIns="0" spcFirstLastPara="1" rIns="0" wrap="square" tIns="0">
            <a:spAutoFit/>
          </a:bodyPr>
          <a:lstStyle/>
          <a:p>
            <a:pPr indent="0" lvl="0" marL="0" marR="0" rtl="0" algn="l">
              <a:lnSpc>
                <a:spcPct val="117002"/>
              </a:lnSpc>
              <a:spcBef>
                <a:spcPts val="0"/>
              </a:spcBef>
              <a:spcAft>
                <a:spcPts val="0"/>
              </a:spcAft>
              <a:buClr>
                <a:srgbClr val="000000"/>
              </a:buClr>
              <a:buSzPts val="3200"/>
              <a:buFont typeface="Arial"/>
              <a:buNone/>
            </a:pPr>
            <a:r>
              <a:rPr b="1" i="0" lang="es" sz="3200" u="none" cap="none" strike="noStrike">
                <a:solidFill>
                  <a:srgbClr val="637EFF"/>
                </a:solidFill>
                <a:latin typeface="Roboto Condensed"/>
                <a:ea typeface="Roboto Condensed"/>
                <a:cs typeface="Roboto Condensed"/>
                <a:sym typeface="Roboto Condensed"/>
              </a:rPr>
              <a:t>Tendencias Actuales y Futuras</a:t>
            </a:r>
            <a:endParaRPr b="0" i="0" sz="700" u="none" cap="none" strike="noStrike">
              <a:solidFill>
                <a:srgbClr val="000000"/>
              </a:solidFill>
              <a:latin typeface="Arial"/>
              <a:ea typeface="Arial"/>
              <a:cs typeface="Arial"/>
              <a:sym typeface="Arial"/>
            </a:endParaRPr>
          </a:p>
        </p:txBody>
      </p:sp>
      <p:sp>
        <p:nvSpPr>
          <p:cNvPr id="467" name="Google Shape;467;p46"/>
          <p:cNvSpPr txBox="1"/>
          <p:nvPr/>
        </p:nvSpPr>
        <p:spPr>
          <a:xfrm>
            <a:off x="3417587" y="2321225"/>
            <a:ext cx="5518800" cy="1280700"/>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Clr>
                <a:srgbClr val="000000"/>
              </a:buClr>
              <a:buSzPts val="1600"/>
              <a:buFont typeface="Arial"/>
              <a:buNone/>
            </a:pPr>
            <a:r>
              <a:rPr b="0" i="0" lang="es" sz="1600" u="none" cap="none" strike="noStrike">
                <a:solidFill>
                  <a:srgbClr val="FFFFFF"/>
                </a:solidFill>
                <a:latin typeface="Roboto Condensed"/>
                <a:ea typeface="Roboto Condensed"/>
                <a:cs typeface="Roboto Condensed"/>
                <a:sym typeface="Roboto Condensed"/>
              </a:rPr>
              <a:t>Las metodologías de desarrollo de software están en constante evolución, impulsadas por cambios en la tecnología, las expectativas de los usuarios y las dinámicas del mercado. Estas son algunas de las tendencias actuales y futuras más relevantes</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14B"/>
        </a:solidFill>
      </p:bgPr>
    </p:bg>
    <p:spTree>
      <p:nvGrpSpPr>
        <p:cNvPr id="471" name="Shape 471"/>
        <p:cNvGrpSpPr/>
        <p:nvPr/>
      </p:nvGrpSpPr>
      <p:grpSpPr>
        <a:xfrm>
          <a:off x="0" y="0"/>
          <a:ext cx="0" cy="0"/>
          <a:chOff x="0" y="0"/>
          <a:chExt cx="0" cy="0"/>
        </a:xfrm>
      </p:grpSpPr>
      <p:sp>
        <p:nvSpPr>
          <p:cNvPr id="472" name="Google Shape;472;p47"/>
          <p:cNvSpPr txBox="1"/>
          <p:nvPr/>
        </p:nvSpPr>
        <p:spPr>
          <a:xfrm>
            <a:off x="4034059" y="845984"/>
            <a:ext cx="4392300" cy="1068900"/>
          </a:xfrm>
          <a:prstGeom prst="rect">
            <a:avLst/>
          </a:prstGeom>
          <a:noFill/>
          <a:ln>
            <a:noFill/>
          </a:ln>
        </p:spPr>
        <p:txBody>
          <a:bodyPr anchorCtr="0" anchor="t" bIns="0" lIns="0" spcFirstLastPara="1" rIns="0" wrap="square" tIns="0">
            <a:spAutoFit/>
          </a:bodyPr>
          <a:lstStyle/>
          <a:p>
            <a:pPr indent="0" lvl="0" marL="0" marR="0" rtl="0" algn="r">
              <a:lnSpc>
                <a:spcPct val="117002"/>
              </a:lnSpc>
              <a:spcBef>
                <a:spcPts val="0"/>
              </a:spcBef>
              <a:spcAft>
                <a:spcPts val="0"/>
              </a:spcAft>
              <a:buClr>
                <a:srgbClr val="000000"/>
              </a:buClr>
              <a:buSzPts val="3200"/>
              <a:buFont typeface="Arial"/>
              <a:buNone/>
            </a:pPr>
            <a:r>
              <a:rPr b="1" i="0" lang="es" sz="3200" u="none" cap="none" strike="noStrike">
                <a:solidFill>
                  <a:srgbClr val="637EFF"/>
                </a:solidFill>
                <a:latin typeface="Roboto Condensed"/>
                <a:ea typeface="Roboto Condensed"/>
                <a:cs typeface="Roboto Condensed"/>
                <a:sym typeface="Roboto Condensed"/>
              </a:rPr>
              <a:t>DevOps y la Cultura de Colaboración</a:t>
            </a:r>
            <a:endParaRPr b="0" i="0" sz="700" u="none" cap="none" strike="noStrike">
              <a:solidFill>
                <a:srgbClr val="000000"/>
              </a:solidFill>
              <a:latin typeface="Arial"/>
              <a:ea typeface="Arial"/>
              <a:cs typeface="Arial"/>
              <a:sym typeface="Arial"/>
            </a:endParaRPr>
          </a:p>
        </p:txBody>
      </p:sp>
      <p:sp>
        <p:nvSpPr>
          <p:cNvPr id="473" name="Google Shape;473;p47"/>
          <p:cNvSpPr/>
          <p:nvPr/>
        </p:nvSpPr>
        <p:spPr>
          <a:xfrm>
            <a:off x="7751792" y="-1875064"/>
            <a:ext cx="3230210" cy="3193870"/>
          </a:xfrm>
          <a:custGeom>
            <a:rect b="b" l="l" r="r" t="t"/>
            <a:pathLst>
              <a:path extrusionOk="0" h="6387740" w="6460419">
                <a:moveTo>
                  <a:pt x="0" y="0"/>
                </a:moveTo>
                <a:lnTo>
                  <a:pt x="6460419" y="0"/>
                </a:lnTo>
                <a:lnTo>
                  <a:pt x="6460419" y="6387739"/>
                </a:lnTo>
                <a:lnTo>
                  <a:pt x="0" y="6387739"/>
                </a:lnTo>
                <a:lnTo>
                  <a:pt x="0" y="0"/>
                </a:lnTo>
                <a:close/>
              </a:path>
            </a:pathLst>
          </a:custGeom>
          <a:blipFill rotWithShape="1">
            <a:blip r:embed="rId3">
              <a:alphaModFix/>
            </a:blip>
            <a:stretch>
              <a:fillRect b="0" l="0" r="0" t="0"/>
            </a:stretch>
          </a:blipFill>
          <a:ln>
            <a:noFill/>
          </a:ln>
        </p:spPr>
      </p:sp>
      <p:sp>
        <p:nvSpPr>
          <p:cNvPr id="474" name="Google Shape;474;p47"/>
          <p:cNvSpPr/>
          <p:nvPr/>
        </p:nvSpPr>
        <p:spPr>
          <a:xfrm flipH="1">
            <a:off x="-1000155" y="-1875064"/>
            <a:ext cx="3230210" cy="3193870"/>
          </a:xfrm>
          <a:custGeom>
            <a:rect b="b" l="l" r="r" t="t"/>
            <a:pathLst>
              <a:path extrusionOk="0" h="6387740" w="6460419">
                <a:moveTo>
                  <a:pt x="6460420" y="0"/>
                </a:moveTo>
                <a:lnTo>
                  <a:pt x="0" y="0"/>
                </a:lnTo>
                <a:lnTo>
                  <a:pt x="0" y="6387739"/>
                </a:lnTo>
                <a:lnTo>
                  <a:pt x="6460420" y="6387739"/>
                </a:lnTo>
                <a:lnTo>
                  <a:pt x="6460420" y="0"/>
                </a:lnTo>
                <a:close/>
              </a:path>
            </a:pathLst>
          </a:custGeom>
          <a:blipFill rotWithShape="1">
            <a:blip r:embed="rId3">
              <a:alphaModFix/>
            </a:blip>
            <a:stretch>
              <a:fillRect b="0" l="0" r="0" t="0"/>
            </a:stretch>
          </a:blipFill>
          <a:ln>
            <a:noFill/>
          </a:ln>
        </p:spPr>
      </p:sp>
      <p:sp>
        <p:nvSpPr>
          <p:cNvPr id="475" name="Google Shape;475;p47"/>
          <p:cNvSpPr/>
          <p:nvPr/>
        </p:nvSpPr>
        <p:spPr>
          <a:xfrm>
            <a:off x="7751791" y="-1656416"/>
            <a:ext cx="2784418" cy="2756573"/>
          </a:xfrm>
          <a:custGeom>
            <a:rect b="b" l="l" r="r" t="t"/>
            <a:pathLst>
              <a:path extrusionOk="0" h="5513146" w="5568835">
                <a:moveTo>
                  <a:pt x="0" y="0"/>
                </a:moveTo>
                <a:lnTo>
                  <a:pt x="5568834" y="0"/>
                </a:lnTo>
                <a:lnTo>
                  <a:pt x="5568834" y="5513147"/>
                </a:lnTo>
                <a:lnTo>
                  <a:pt x="0" y="5513147"/>
                </a:lnTo>
                <a:lnTo>
                  <a:pt x="0" y="0"/>
                </a:lnTo>
                <a:close/>
              </a:path>
            </a:pathLst>
          </a:custGeom>
          <a:blipFill rotWithShape="1">
            <a:blip r:embed="rId4">
              <a:alphaModFix/>
            </a:blip>
            <a:stretch>
              <a:fillRect b="0" l="0" r="0" t="0"/>
            </a:stretch>
          </a:blipFill>
          <a:ln>
            <a:noFill/>
          </a:ln>
        </p:spPr>
      </p:sp>
      <p:sp>
        <p:nvSpPr>
          <p:cNvPr id="476" name="Google Shape;476;p47"/>
          <p:cNvSpPr/>
          <p:nvPr/>
        </p:nvSpPr>
        <p:spPr>
          <a:xfrm flipH="1">
            <a:off x="-877858" y="-1656416"/>
            <a:ext cx="2784418" cy="2756573"/>
          </a:xfrm>
          <a:custGeom>
            <a:rect b="b" l="l" r="r" t="t"/>
            <a:pathLst>
              <a:path extrusionOk="0" h="5513146" w="5568835">
                <a:moveTo>
                  <a:pt x="5568834" y="0"/>
                </a:moveTo>
                <a:lnTo>
                  <a:pt x="0" y="0"/>
                </a:lnTo>
                <a:lnTo>
                  <a:pt x="0" y="5513147"/>
                </a:lnTo>
                <a:lnTo>
                  <a:pt x="5568834" y="5513147"/>
                </a:lnTo>
                <a:lnTo>
                  <a:pt x="5568834" y="0"/>
                </a:lnTo>
                <a:close/>
              </a:path>
            </a:pathLst>
          </a:custGeom>
          <a:blipFill rotWithShape="1">
            <a:blip r:embed="rId4">
              <a:alphaModFix/>
            </a:blip>
            <a:stretch>
              <a:fillRect b="0" l="0" r="0" t="0"/>
            </a:stretch>
          </a:blipFill>
          <a:ln>
            <a:noFill/>
          </a:ln>
        </p:spPr>
      </p:sp>
      <p:sp>
        <p:nvSpPr>
          <p:cNvPr id="477" name="Google Shape;477;p47"/>
          <p:cNvSpPr/>
          <p:nvPr/>
        </p:nvSpPr>
        <p:spPr>
          <a:xfrm flipH="1">
            <a:off x="-1334144" y="4350406"/>
            <a:ext cx="2668290" cy="2638271"/>
          </a:xfrm>
          <a:custGeom>
            <a:rect b="b" l="l" r="r" t="t"/>
            <a:pathLst>
              <a:path extrusionOk="0" h="5276542" w="5336579">
                <a:moveTo>
                  <a:pt x="5336578" y="0"/>
                </a:moveTo>
                <a:lnTo>
                  <a:pt x="0" y="0"/>
                </a:lnTo>
                <a:lnTo>
                  <a:pt x="0" y="5276542"/>
                </a:lnTo>
                <a:lnTo>
                  <a:pt x="5336578" y="5276542"/>
                </a:lnTo>
                <a:lnTo>
                  <a:pt x="5336578" y="0"/>
                </a:lnTo>
                <a:close/>
              </a:path>
            </a:pathLst>
          </a:custGeom>
          <a:blipFill rotWithShape="1">
            <a:blip r:embed="rId3">
              <a:alphaModFix/>
            </a:blip>
            <a:stretch>
              <a:fillRect b="0" l="0" r="0" t="0"/>
            </a:stretch>
          </a:blipFill>
          <a:ln>
            <a:noFill/>
          </a:ln>
        </p:spPr>
      </p:sp>
      <p:sp>
        <p:nvSpPr>
          <p:cNvPr id="478" name="Google Shape;478;p47"/>
          <p:cNvSpPr/>
          <p:nvPr/>
        </p:nvSpPr>
        <p:spPr>
          <a:xfrm flipH="1">
            <a:off x="7628853" y="4350406"/>
            <a:ext cx="2668290" cy="2638271"/>
          </a:xfrm>
          <a:custGeom>
            <a:rect b="b" l="l" r="r" t="t"/>
            <a:pathLst>
              <a:path extrusionOk="0" h="5276542" w="5336579">
                <a:moveTo>
                  <a:pt x="5336579" y="0"/>
                </a:moveTo>
                <a:lnTo>
                  <a:pt x="0" y="0"/>
                </a:lnTo>
                <a:lnTo>
                  <a:pt x="0" y="5276542"/>
                </a:lnTo>
                <a:lnTo>
                  <a:pt x="5336579" y="5276542"/>
                </a:lnTo>
                <a:lnTo>
                  <a:pt x="5336579" y="0"/>
                </a:lnTo>
                <a:close/>
              </a:path>
            </a:pathLst>
          </a:custGeom>
          <a:blipFill rotWithShape="1">
            <a:blip r:embed="rId3">
              <a:alphaModFix/>
            </a:blip>
            <a:stretch>
              <a:fillRect b="0" l="0" r="0" t="0"/>
            </a:stretch>
          </a:blipFill>
          <a:ln>
            <a:noFill/>
          </a:ln>
        </p:spPr>
      </p:sp>
      <p:sp>
        <p:nvSpPr>
          <p:cNvPr id="479" name="Google Shape;479;p47"/>
          <p:cNvSpPr/>
          <p:nvPr/>
        </p:nvSpPr>
        <p:spPr>
          <a:xfrm>
            <a:off x="387593" y="1974685"/>
            <a:ext cx="2740784" cy="1719842"/>
          </a:xfrm>
          <a:custGeom>
            <a:rect b="b" l="l" r="r" t="t"/>
            <a:pathLst>
              <a:path extrusionOk="0" h="3439684" w="5481568">
                <a:moveTo>
                  <a:pt x="0" y="0"/>
                </a:moveTo>
                <a:lnTo>
                  <a:pt x="5481568" y="0"/>
                </a:lnTo>
                <a:lnTo>
                  <a:pt x="5481568" y="3439684"/>
                </a:lnTo>
                <a:lnTo>
                  <a:pt x="0" y="3439684"/>
                </a:lnTo>
                <a:lnTo>
                  <a:pt x="0" y="0"/>
                </a:lnTo>
                <a:close/>
              </a:path>
            </a:pathLst>
          </a:custGeom>
          <a:blipFill rotWithShape="1">
            <a:blip r:embed="rId5">
              <a:alphaModFix/>
            </a:blip>
            <a:stretch>
              <a:fillRect b="0" l="0" r="0" t="0"/>
            </a:stretch>
          </a:blipFill>
          <a:ln>
            <a:noFill/>
          </a:ln>
        </p:spPr>
      </p:sp>
      <p:sp>
        <p:nvSpPr>
          <p:cNvPr id="480" name="Google Shape;480;p47"/>
          <p:cNvSpPr txBox="1"/>
          <p:nvPr/>
        </p:nvSpPr>
        <p:spPr>
          <a:xfrm>
            <a:off x="3642090" y="2034707"/>
            <a:ext cx="4784100" cy="28167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Clr>
                <a:srgbClr val="000000"/>
              </a:buClr>
              <a:buSzPts val="1500"/>
              <a:buFont typeface="Arial"/>
              <a:buNone/>
            </a:pPr>
            <a:r>
              <a:rPr b="0" i="0" lang="es" sz="1500" u="none" cap="none" strike="noStrike">
                <a:solidFill>
                  <a:srgbClr val="FFFFFF"/>
                </a:solidFill>
                <a:latin typeface="Roboto Condensed"/>
                <a:ea typeface="Roboto Condensed"/>
                <a:cs typeface="Roboto Condensed"/>
                <a:sym typeface="Roboto Condensed"/>
              </a:rPr>
              <a:t>La integración de DevOps ha transformado la forma en que los equipos de desarrollo y operaciones colaboran. Esta tendencia promueve una mayor comunicación y colaboración entre ambos grupos, lo que resulta en ciclos de desarrollo más cortos y una entrega continua de software. La adopción de herramientas de integración y entrega continua (CI/CD) permite a los equipos desplegar actualizaciones de manera más eficiente, respondiendo rápidamente a las necesidades del cliente.</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14B"/>
        </a:solidFill>
      </p:bgPr>
    </p:bg>
    <p:spTree>
      <p:nvGrpSpPr>
        <p:cNvPr id="484" name="Shape 484"/>
        <p:cNvGrpSpPr/>
        <p:nvPr/>
      </p:nvGrpSpPr>
      <p:grpSpPr>
        <a:xfrm>
          <a:off x="0" y="0"/>
          <a:ext cx="0" cy="0"/>
          <a:chOff x="0" y="0"/>
          <a:chExt cx="0" cy="0"/>
        </a:xfrm>
      </p:grpSpPr>
      <p:grpSp>
        <p:nvGrpSpPr>
          <p:cNvPr id="485" name="Google Shape;485;p48"/>
          <p:cNvGrpSpPr/>
          <p:nvPr/>
        </p:nvGrpSpPr>
        <p:grpSpPr>
          <a:xfrm>
            <a:off x="-296729" y="582951"/>
            <a:ext cx="9737777" cy="3802885"/>
            <a:chOff x="0" y="-38100"/>
            <a:chExt cx="5129195" cy="2003100"/>
          </a:xfrm>
        </p:grpSpPr>
        <p:sp>
          <p:nvSpPr>
            <p:cNvPr id="486" name="Google Shape;486;p48"/>
            <p:cNvSpPr/>
            <p:nvPr/>
          </p:nvSpPr>
          <p:spPr>
            <a:xfrm>
              <a:off x="0" y="0"/>
              <a:ext cx="5129195" cy="1964851"/>
            </a:xfrm>
            <a:custGeom>
              <a:rect b="b" l="l" r="r" t="t"/>
              <a:pathLst>
                <a:path extrusionOk="0" h="1964851" w="5129195">
                  <a:moveTo>
                    <a:pt x="0" y="0"/>
                  </a:moveTo>
                  <a:lnTo>
                    <a:pt x="5129195" y="0"/>
                  </a:lnTo>
                  <a:lnTo>
                    <a:pt x="5129195" y="1964851"/>
                  </a:lnTo>
                  <a:lnTo>
                    <a:pt x="0" y="1964851"/>
                  </a:lnTo>
                  <a:close/>
                </a:path>
              </a:pathLst>
            </a:custGeom>
            <a:solidFill>
              <a:srgbClr val="131E44"/>
            </a:solidFill>
            <a:ln>
              <a:noFill/>
            </a:ln>
          </p:spPr>
        </p:sp>
        <p:sp>
          <p:nvSpPr>
            <p:cNvPr id="487" name="Google Shape;487;p48"/>
            <p:cNvSpPr txBox="1"/>
            <p:nvPr/>
          </p:nvSpPr>
          <p:spPr>
            <a:xfrm>
              <a:off x="0" y="-38100"/>
              <a:ext cx="5129100" cy="2003100"/>
            </a:xfrm>
            <a:prstGeom prst="rect">
              <a:avLst/>
            </a:prstGeom>
            <a:noFill/>
            <a:ln>
              <a:noFill/>
            </a:ln>
          </p:spPr>
          <p:txBody>
            <a:bodyPr anchorCtr="0" anchor="ctr" bIns="25400" lIns="25400" spcFirstLastPara="1" rIns="25400" wrap="square" tIns="25400">
              <a:noAutofit/>
            </a:bodyPr>
            <a:lstStyle/>
            <a:p>
              <a:pPr indent="0" lvl="0" marL="0" marR="0" rtl="0" algn="ctr">
                <a:lnSpc>
                  <a:spcPct val="147722"/>
                </a:lnSpc>
                <a:spcBef>
                  <a:spcPts val="0"/>
                </a:spcBef>
                <a:spcAft>
                  <a:spcPts val="0"/>
                </a:spcAft>
                <a:buClr>
                  <a:srgbClr val="000000"/>
                </a:buClr>
                <a:buSzPts val="900"/>
                <a:buFont typeface="Arial"/>
                <a:buNone/>
              </a:pPr>
              <a:r>
                <a:t/>
              </a:r>
              <a:endParaRPr b="0" i="0" sz="900" u="none" cap="none" strike="noStrike">
                <a:solidFill>
                  <a:schemeClr val="dk1"/>
                </a:solidFill>
                <a:latin typeface="Calibri"/>
                <a:ea typeface="Calibri"/>
                <a:cs typeface="Calibri"/>
                <a:sym typeface="Calibri"/>
              </a:endParaRPr>
            </a:p>
          </p:txBody>
        </p:sp>
      </p:grpSp>
      <p:sp>
        <p:nvSpPr>
          <p:cNvPr id="488" name="Google Shape;488;p48"/>
          <p:cNvSpPr/>
          <p:nvPr/>
        </p:nvSpPr>
        <p:spPr>
          <a:xfrm flipH="1">
            <a:off x="7498046" y="-91319"/>
            <a:ext cx="1727124" cy="1707695"/>
          </a:xfrm>
          <a:custGeom>
            <a:rect b="b" l="l" r="r" t="t"/>
            <a:pathLst>
              <a:path extrusionOk="0" h="3415389" w="3454249">
                <a:moveTo>
                  <a:pt x="3454248" y="0"/>
                </a:moveTo>
                <a:lnTo>
                  <a:pt x="0" y="0"/>
                </a:lnTo>
                <a:lnTo>
                  <a:pt x="0" y="3415388"/>
                </a:lnTo>
                <a:lnTo>
                  <a:pt x="3454248" y="3415388"/>
                </a:lnTo>
                <a:lnTo>
                  <a:pt x="3454248" y="0"/>
                </a:lnTo>
                <a:close/>
              </a:path>
            </a:pathLst>
          </a:custGeom>
          <a:blipFill rotWithShape="1">
            <a:blip r:embed="rId3">
              <a:alphaModFix/>
            </a:blip>
            <a:stretch>
              <a:fillRect b="0" l="0" r="0" t="0"/>
            </a:stretch>
          </a:blipFill>
          <a:ln>
            <a:noFill/>
          </a:ln>
        </p:spPr>
      </p:sp>
      <p:sp>
        <p:nvSpPr>
          <p:cNvPr id="489" name="Google Shape;489;p48"/>
          <p:cNvSpPr/>
          <p:nvPr/>
        </p:nvSpPr>
        <p:spPr>
          <a:xfrm flipH="1" rot="10800000">
            <a:off x="53817" y="-1397353"/>
            <a:ext cx="2264486" cy="2241841"/>
          </a:xfrm>
          <a:custGeom>
            <a:rect b="b" l="l" r="r" t="t"/>
            <a:pathLst>
              <a:path extrusionOk="0" h="4483682" w="4528972">
                <a:moveTo>
                  <a:pt x="4528972" y="0"/>
                </a:moveTo>
                <a:lnTo>
                  <a:pt x="0" y="0"/>
                </a:lnTo>
                <a:lnTo>
                  <a:pt x="0" y="4483682"/>
                </a:lnTo>
                <a:lnTo>
                  <a:pt x="4528972" y="4483682"/>
                </a:lnTo>
                <a:lnTo>
                  <a:pt x="4528972" y="0"/>
                </a:lnTo>
                <a:close/>
              </a:path>
            </a:pathLst>
          </a:custGeom>
          <a:blipFill rotWithShape="1">
            <a:blip r:embed="rId4">
              <a:alphaModFix/>
            </a:blip>
            <a:stretch>
              <a:fillRect b="0" l="0" r="0" t="0"/>
            </a:stretch>
          </a:blipFill>
          <a:ln>
            <a:noFill/>
          </a:ln>
        </p:spPr>
      </p:sp>
      <p:sp>
        <p:nvSpPr>
          <p:cNvPr id="490" name="Google Shape;490;p48"/>
          <p:cNvSpPr/>
          <p:nvPr/>
        </p:nvSpPr>
        <p:spPr>
          <a:xfrm flipH="1">
            <a:off x="-89261" y="4385430"/>
            <a:ext cx="1727125" cy="1707695"/>
          </a:xfrm>
          <a:custGeom>
            <a:rect b="b" l="l" r="r" t="t"/>
            <a:pathLst>
              <a:path extrusionOk="0" h="3415389" w="3454249">
                <a:moveTo>
                  <a:pt x="3454249" y="0"/>
                </a:moveTo>
                <a:lnTo>
                  <a:pt x="0" y="0"/>
                </a:lnTo>
                <a:lnTo>
                  <a:pt x="0" y="3415388"/>
                </a:lnTo>
                <a:lnTo>
                  <a:pt x="3454249" y="3415388"/>
                </a:lnTo>
                <a:lnTo>
                  <a:pt x="3454249" y="0"/>
                </a:lnTo>
                <a:close/>
              </a:path>
            </a:pathLst>
          </a:custGeom>
          <a:blipFill rotWithShape="1">
            <a:blip r:embed="rId3">
              <a:alphaModFix/>
            </a:blip>
            <a:stretch>
              <a:fillRect b="0" l="0" r="0" t="0"/>
            </a:stretch>
          </a:blipFill>
          <a:ln>
            <a:noFill/>
          </a:ln>
        </p:spPr>
      </p:sp>
      <p:sp>
        <p:nvSpPr>
          <p:cNvPr id="491" name="Google Shape;491;p48"/>
          <p:cNvSpPr/>
          <p:nvPr/>
        </p:nvSpPr>
        <p:spPr>
          <a:xfrm>
            <a:off x="5698197" y="1459803"/>
            <a:ext cx="2361517" cy="2361517"/>
          </a:xfrm>
          <a:custGeom>
            <a:rect b="b" l="l" r="r" t="t"/>
            <a:pathLst>
              <a:path extrusionOk="0" h="4723034" w="4723034">
                <a:moveTo>
                  <a:pt x="0" y="0"/>
                </a:moveTo>
                <a:lnTo>
                  <a:pt x="4723033" y="0"/>
                </a:lnTo>
                <a:lnTo>
                  <a:pt x="4723033" y="4723034"/>
                </a:lnTo>
                <a:lnTo>
                  <a:pt x="0" y="4723034"/>
                </a:lnTo>
                <a:lnTo>
                  <a:pt x="0" y="0"/>
                </a:lnTo>
                <a:close/>
              </a:path>
            </a:pathLst>
          </a:custGeom>
          <a:blipFill rotWithShape="1">
            <a:blip r:embed="rId5">
              <a:alphaModFix/>
            </a:blip>
            <a:stretch>
              <a:fillRect b="0" l="0" r="0" t="0"/>
            </a:stretch>
          </a:blipFill>
          <a:ln>
            <a:noFill/>
          </a:ln>
        </p:spPr>
      </p:sp>
      <p:sp>
        <p:nvSpPr>
          <p:cNvPr id="492" name="Google Shape;492;p48"/>
          <p:cNvSpPr txBox="1"/>
          <p:nvPr/>
        </p:nvSpPr>
        <p:spPr>
          <a:xfrm>
            <a:off x="514350" y="1011175"/>
            <a:ext cx="4365000" cy="46170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Clr>
                <a:srgbClr val="000000"/>
              </a:buClr>
              <a:buSzPts val="3000"/>
              <a:buFont typeface="Arial"/>
              <a:buNone/>
            </a:pPr>
            <a:r>
              <a:rPr b="1" i="0" lang="es" sz="3000" u="none" cap="none" strike="noStrike">
                <a:solidFill>
                  <a:srgbClr val="637EFF"/>
                </a:solidFill>
                <a:latin typeface="Roboto Condensed"/>
                <a:ea typeface="Roboto Condensed"/>
                <a:cs typeface="Roboto Condensed"/>
                <a:sym typeface="Roboto Condensed"/>
              </a:rPr>
              <a:t> Metodologías Híbridas</a:t>
            </a:r>
            <a:endParaRPr b="0" i="0" sz="700" u="none" cap="none" strike="noStrike">
              <a:solidFill>
                <a:srgbClr val="000000"/>
              </a:solidFill>
              <a:latin typeface="Arial"/>
              <a:ea typeface="Arial"/>
              <a:cs typeface="Arial"/>
              <a:sym typeface="Arial"/>
            </a:endParaRPr>
          </a:p>
        </p:txBody>
      </p:sp>
      <p:sp>
        <p:nvSpPr>
          <p:cNvPr id="493" name="Google Shape;493;p48"/>
          <p:cNvSpPr txBox="1"/>
          <p:nvPr/>
        </p:nvSpPr>
        <p:spPr>
          <a:xfrm>
            <a:off x="514350" y="1899006"/>
            <a:ext cx="4729200" cy="1847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500"/>
              <a:buFont typeface="Arial"/>
              <a:buNone/>
            </a:pPr>
            <a:r>
              <a:rPr b="0" i="0" lang="es" sz="1500" u="none" cap="none" strike="noStrike">
                <a:solidFill>
                  <a:srgbClr val="FFFFFF"/>
                </a:solidFill>
                <a:latin typeface="Roboto Condensed"/>
                <a:ea typeface="Roboto Condensed"/>
                <a:cs typeface="Roboto Condensed"/>
                <a:sym typeface="Roboto Condensed"/>
              </a:rPr>
              <a:t>Con la diversidad de proyectos y equipos, ha surgido una tendencia hacia la adopción de metodologías híbridas que combinan elementos de diferentes enfoques. Por ejemplo, un equipo puede utilizar Scrum para gestionar el desarrollo, mientras que aplica prácticas de la metodología Waterfall para la documentación y planificación de proyectos más grandes. </a:t>
            </a:r>
            <a:endParaRPr b="0" i="0" sz="7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14B"/>
        </a:solidFill>
      </p:bgPr>
    </p:bg>
    <p:spTree>
      <p:nvGrpSpPr>
        <p:cNvPr id="497" name="Shape 497"/>
        <p:cNvGrpSpPr/>
        <p:nvPr/>
      </p:nvGrpSpPr>
      <p:grpSpPr>
        <a:xfrm>
          <a:off x="0" y="0"/>
          <a:ext cx="0" cy="0"/>
          <a:chOff x="0" y="0"/>
          <a:chExt cx="0" cy="0"/>
        </a:xfrm>
      </p:grpSpPr>
      <p:sp>
        <p:nvSpPr>
          <p:cNvPr id="498" name="Google Shape;498;p49"/>
          <p:cNvSpPr/>
          <p:nvPr/>
        </p:nvSpPr>
        <p:spPr>
          <a:xfrm flipH="1">
            <a:off x="7498046" y="-91319"/>
            <a:ext cx="1727124" cy="1707695"/>
          </a:xfrm>
          <a:custGeom>
            <a:rect b="b" l="l" r="r" t="t"/>
            <a:pathLst>
              <a:path extrusionOk="0" h="3415389" w="3454249">
                <a:moveTo>
                  <a:pt x="3454248" y="0"/>
                </a:moveTo>
                <a:lnTo>
                  <a:pt x="0" y="0"/>
                </a:lnTo>
                <a:lnTo>
                  <a:pt x="0" y="3415388"/>
                </a:lnTo>
                <a:lnTo>
                  <a:pt x="3454248" y="3415388"/>
                </a:lnTo>
                <a:lnTo>
                  <a:pt x="3454248" y="0"/>
                </a:lnTo>
                <a:close/>
              </a:path>
            </a:pathLst>
          </a:custGeom>
          <a:blipFill rotWithShape="1">
            <a:blip r:embed="rId3">
              <a:alphaModFix/>
            </a:blip>
            <a:stretch>
              <a:fillRect b="0" l="0" r="0" t="0"/>
            </a:stretch>
          </a:blipFill>
          <a:ln>
            <a:noFill/>
          </a:ln>
        </p:spPr>
      </p:sp>
      <p:sp>
        <p:nvSpPr>
          <p:cNvPr id="499" name="Google Shape;499;p49"/>
          <p:cNvSpPr/>
          <p:nvPr/>
        </p:nvSpPr>
        <p:spPr>
          <a:xfrm flipH="1" rot="10800000">
            <a:off x="53817" y="-1397353"/>
            <a:ext cx="2264486" cy="2241841"/>
          </a:xfrm>
          <a:custGeom>
            <a:rect b="b" l="l" r="r" t="t"/>
            <a:pathLst>
              <a:path extrusionOk="0" h="4483682" w="4528972">
                <a:moveTo>
                  <a:pt x="4528972" y="0"/>
                </a:moveTo>
                <a:lnTo>
                  <a:pt x="0" y="0"/>
                </a:lnTo>
                <a:lnTo>
                  <a:pt x="0" y="4483682"/>
                </a:lnTo>
                <a:lnTo>
                  <a:pt x="4528972" y="4483682"/>
                </a:lnTo>
                <a:lnTo>
                  <a:pt x="4528972" y="0"/>
                </a:lnTo>
                <a:close/>
              </a:path>
            </a:pathLst>
          </a:custGeom>
          <a:blipFill rotWithShape="1">
            <a:blip r:embed="rId4">
              <a:alphaModFix/>
            </a:blip>
            <a:stretch>
              <a:fillRect b="0" l="0" r="0" t="0"/>
            </a:stretch>
          </a:blipFill>
          <a:ln>
            <a:noFill/>
          </a:ln>
        </p:spPr>
      </p:sp>
      <p:sp>
        <p:nvSpPr>
          <p:cNvPr id="500" name="Google Shape;500;p49"/>
          <p:cNvSpPr/>
          <p:nvPr/>
        </p:nvSpPr>
        <p:spPr>
          <a:xfrm flipH="1">
            <a:off x="-89261" y="4385430"/>
            <a:ext cx="1727125" cy="1707695"/>
          </a:xfrm>
          <a:custGeom>
            <a:rect b="b" l="l" r="r" t="t"/>
            <a:pathLst>
              <a:path extrusionOk="0" h="3415389" w="3454249">
                <a:moveTo>
                  <a:pt x="3454249" y="0"/>
                </a:moveTo>
                <a:lnTo>
                  <a:pt x="0" y="0"/>
                </a:lnTo>
                <a:lnTo>
                  <a:pt x="0" y="3415388"/>
                </a:lnTo>
                <a:lnTo>
                  <a:pt x="3454249" y="3415388"/>
                </a:lnTo>
                <a:lnTo>
                  <a:pt x="3454249" y="0"/>
                </a:lnTo>
                <a:close/>
              </a:path>
            </a:pathLst>
          </a:custGeom>
          <a:blipFill rotWithShape="1">
            <a:blip r:embed="rId3">
              <a:alphaModFix/>
            </a:blip>
            <a:stretch>
              <a:fillRect b="0" l="0" r="0" t="0"/>
            </a:stretch>
          </a:blipFill>
          <a:ln>
            <a:noFill/>
          </a:ln>
        </p:spPr>
      </p:sp>
      <p:pic>
        <p:nvPicPr>
          <p:cNvPr id="501" name="Google Shape;501;p49"/>
          <p:cNvPicPr preferRelativeResize="0"/>
          <p:nvPr/>
        </p:nvPicPr>
        <p:blipFill rotWithShape="1">
          <a:blip r:embed="rId5">
            <a:alphaModFix/>
          </a:blip>
          <a:srcRect b="0" l="0" r="0" t="0"/>
          <a:stretch/>
        </p:blipFill>
        <p:spPr>
          <a:xfrm>
            <a:off x="950489" y="1248988"/>
            <a:ext cx="7243012" cy="21658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50"/>
          <p:cNvSpPr/>
          <p:nvPr/>
        </p:nvSpPr>
        <p:spPr>
          <a:xfrm>
            <a:off x="1746686" y="273722"/>
            <a:ext cx="5650630" cy="776962"/>
          </a:xfrm>
          <a:custGeom>
            <a:rect b="b" l="l" r="r" t="t"/>
            <a:pathLst>
              <a:path extrusionOk="0" h="1553923" w="11301259">
                <a:moveTo>
                  <a:pt x="0" y="0"/>
                </a:moveTo>
                <a:lnTo>
                  <a:pt x="11301258" y="0"/>
                </a:lnTo>
                <a:lnTo>
                  <a:pt x="11301258" y="1553923"/>
                </a:lnTo>
                <a:lnTo>
                  <a:pt x="0" y="1553923"/>
                </a:lnTo>
                <a:lnTo>
                  <a:pt x="0" y="0"/>
                </a:lnTo>
                <a:close/>
              </a:path>
            </a:pathLst>
          </a:custGeom>
          <a:blipFill rotWithShape="1">
            <a:blip r:embed="rId3">
              <a:alphaModFix/>
            </a:blip>
            <a:stretch>
              <a:fillRect b="0" l="0" r="0" t="0"/>
            </a:stretch>
          </a:blipFill>
          <a:ln>
            <a:noFill/>
          </a:ln>
        </p:spPr>
      </p:sp>
      <p:sp>
        <p:nvSpPr>
          <p:cNvPr id="507" name="Google Shape;507;p50"/>
          <p:cNvSpPr/>
          <p:nvPr/>
        </p:nvSpPr>
        <p:spPr>
          <a:xfrm>
            <a:off x="588413" y="1171175"/>
            <a:ext cx="8180784" cy="3439697"/>
          </a:xfrm>
          <a:custGeom>
            <a:rect b="b" l="l" r="r" t="t"/>
            <a:pathLst>
              <a:path extrusionOk="0" h="5956185" w="14352253">
                <a:moveTo>
                  <a:pt x="0" y="0"/>
                </a:moveTo>
                <a:lnTo>
                  <a:pt x="14352254" y="0"/>
                </a:lnTo>
                <a:lnTo>
                  <a:pt x="14352254" y="5956185"/>
                </a:lnTo>
                <a:lnTo>
                  <a:pt x="0" y="5956185"/>
                </a:lnTo>
                <a:lnTo>
                  <a:pt x="0" y="0"/>
                </a:lnTo>
                <a:close/>
              </a:path>
            </a:pathLst>
          </a:custGeom>
          <a:blipFill rotWithShape="1">
            <a:blip r:embed="rId4">
              <a:alphaModFix/>
            </a:blip>
            <a:stretch>
              <a:fillRect b="0" l="0" r="0" t="0"/>
            </a:stretch>
          </a:blipFill>
          <a:ln>
            <a:noFill/>
          </a:ln>
        </p:spPr>
      </p:sp>
      <p:sp>
        <p:nvSpPr>
          <p:cNvPr id="508" name="Google Shape;508;p50"/>
          <p:cNvSpPr txBox="1"/>
          <p:nvPr/>
        </p:nvSpPr>
        <p:spPr>
          <a:xfrm>
            <a:off x="785863" y="1425675"/>
            <a:ext cx="7785900" cy="2025600"/>
          </a:xfrm>
          <a:prstGeom prst="rect">
            <a:avLst/>
          </a:prstGeom>
          <a:noFill/>
          <a:ln>
            <a:noFill/>
          </a:ln>
        </p:spPr>
        <p:txBody>
          <a:bodyPr anchorCtr="0" anchor="t" bIns="0" lIns="0" spcFirstLastPara="1" rIns="0" wrap="square" tIns="0">
            <a:spAutoFit/>
          </a:bodyPr>
          <a:lstStyle/>
          <a:p>
            <a:pPr indent="-152400" lvl="1" marL="342900" marR="0" rtl="0" algn="l">
              <a:lnSpc>
                <a:spcPct val="140000"/>
              </a:lnSpc>
              <a:spcBef>
                <a:spcPts val="0"/>
              </a:spcBef>
              <a:spcAft>
                <a:spcPts val="0"/>
              </a:spcAft>
              <a:buClr>
                <a:srgbClr val="000000"/>
              </a:buClr>
              <a:buSzPts val="1400"/>
              <a:buFont typeface="Arial"/>
              <a:buChar char="•"/>
            </a:pPr>
            <a:r>
              <a:rPr lang="es">
                <a:latin typeface="Open Sans"/>
                <a:ea typeface="Open Sans"/>
                <a:cs typeface="Open Sans"/>
                <a:sym typeface="Open Sans"/>
              </a:rPr>
              <a:t>Metodologia Tradicional: Sigue una ruta lineal en la que antes de realizar una entrega debe pasar por todas las fases de desarrollo, por lo que se vuelve un proceso lento, pero no esta desechado sino que tambien se sigue utilizando.</a:t>
            </a:r>
            <a:endParaRPr>
              <a:latin typeface="Open Sans"/>
              <a:ea typeface="Open Sans"/>
              <a:cs typeface="Open Sans"/>
              <a:sym typeface="Open Sans"/>
            </a:endParaRPr>
          </a:p>
          <a:p>
            <a:pPr indent="-152400" lvl="1" marL="342900" marR="0" rtl="0" algn="l">
              <a:lnSpc>
                <a:spcPct val="140000"/>
              </a:lnSpc>
              <a:spcBef>
                <a:spcPts val="0"/>
              </a:spcBef>
              <a:spcAft>
                <a:spcPts val="0"/>
              </a:spcAft>
              <a:buClr>
                <a:srgbClr val="000000"/>
              </a:buClr>
              <a:buSzPts val="1400"/>
              <a:buFont typeface="Arial"/>
              <a:buChar char="•"/>
            </a:pPr>
            <a:r>
              <a:rPr lang="es">
                <a:latin typeface="Open Sans"/>
                <a:ea typeface="Open Sans"/>
                <a:cs typeface="Open Sans"/>
                <a:sym typeface="Open Sans"/>
              </a:rPr>
              <a:t>Metodologia Agil: esta entrega resultados mucho mas rapido, se ve el avance y el cliente puede dar feedback y eso permite corregir errores e implementarlos inmediatamente, usa ciclos de entrega llamados sprint.</a:t>
            </a:r>
            <a:endParaRPr>
              <a:latin typeface="Open Sans"/>
              <a:ea typeface="Open Sans"/>
              <a:cs typeface="Open Sans"/>
              <a:sym typeface="Open Sans"/>
            </a:endParaRPr>
          </a:p>
          <a:p>
            <a:pPr indent="0" lvl="0" marL="457200" marR="0" rtl="0" algn="l">
              <a:lnSpc>
                <a:spcPct val="140000"/>
              </a:lnSpc>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1"/>
          <p:cNvSpPr/>
          <p:nvPr/>
        </p:nvSpPr>
        <p:spPr>
          <a:xfrm>
            <a:off x="1158508" y="260483"/>
            <a:ext cx="6826983" cy="936976"/>
          </a:xfrm>
          <a:custGeom>
            <a:rect b="b" l="l" r="r" t="t"/>
            <a:pathLst>
              <a:path extrusionOk="0" h="1873953" w="13653966">
                <a:moveTo>
                  <a:pt x="0" y="0"/>
                </a:moveTo>
                <a:lnTo>
                  <a:pt x="13653966" y="0"/>
                </a:lnTo>
                <a:lnTo>
                  <a:pt x="13653966" y="1873953"/>
                </a:lnTo>
                <a:lnTo>
                  <a:pt x="0" y="1873953"/>
                </a:lnTo>
                <a:lnTo>
                  <a:pt x="0" y="0"/>
                </a:lnTo>
                <a:close/>
              </a:path>
            </a:pathLst>
          </a:custGeom>
          <a:blipFill rotWithShape="1">
            <a:blip r:embed="rId3">
              <a:alphaModFix/>
            </a:blip>
            <a:stretch>
              <a:fillRect b="0" l="0" r="0" t="0"/>
            </a:stretch>
          </a:blipFill>
          <a:ln>
            <a:noFill/>
          </a:ln>
        </p:spPr>
      </p:sp>
      <p:sp>
        <p:nvSpPr>
          <p:cNvPr id="514" name="Google Shape;514;p51"/>
          <p:cNvSpPr/>
          <p:nvPr/>
        </p:nvSpPr>
        <p:spPr>
          <a:xfrm>
            <a:off x="994550" y="1064324"/>
            <a:ext cx="7154911" cy="3413787"/>
          </a:xfrm>
          <a:custGeom>
            <a:rect b="b" l="l" r="r" t="t"/>
            <a:pathLst>
              <a:path extrusionOk="0" h="6206885" w="14309822">
                <a:moveTo>
                  <a:pt x="0" y="0"/>
                </a:moveTo>
                <a:lnTo>
                  <a:pt x="14309822" y="0"/>
                </a:lnTo>
                <a:lnTo>
                  <a:pt x="14309822" y="6206885"/>
                </a:lnTo>
                <a:lnTo>
                  <a:pt x="0" y="6206885"/>
                </a:lnTo>
                <a:lnTo>
                  <a:pt x="0" y="0"/>
                </a:lnTo>
                <a:close/>
              </a:path>
            </a:pathLst>
          </a:custGeom>
          <a:blipFill rotWithShape="1">
            <a:blip r:embed="rId4">
              <a:alphaModFix/>
            </a:blip>
            <a:stretch>
              <a:fillRect b="0" l="0" r="0" t="0"/>
            </a:stretch>
          </a:blipFill>
          <a:ln>
            <a:noFill/>
          </a:ln>
        </p:spPr>
      </p:sp>
      <p:sp>
        <p:nvSpPr>
          <p:cNvPr id="515" name="Google Shape;515;p51"/>
          <p:cNvSpPr txBox="1"/>
          <p:nvPr/>
        </p:nvSpPr>
        <p:spPr>
          <a:xfrm>
            <a:off x="1128450" y="1413563"/>
            <a:ext cx="6887100" cy="1354500"/>
          </a:xfrm>
          <a:prstGeom prst="rect">
            <a:avLst/>
          </a:prstGeom>
          <a:noFill/>
          <a:ln>
            <a:noFill/>
          </a:ln>
        </p:spPr>
        <p:txBody>
          <a:bodyPr anchorCtr="0" anchor="t" bIns="0" lIns="0" spcFirstLastPara="1" rIns="0" wrap="square" tIns="0">
            <a:spAutoFit/>
          </a:bodyPr>
          <a:lstStyle/>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https://www.fdiformacion.com/proyectos-con-exito-metodologias-agiles/#:~:text=Las%20metodolog%C3%ADa%20Agile%20es%20ideal,se%20pueden%20planificar%20con%20anticipaci%C3%B3n.</a:t>
            </a:r>
            <a:endParaRPr b="1" sz="1100">
              <a:latin typeface="Open Sans"/>
              <a:ea typeface="Open Sans"/>
              <a:cs typeface="Open Sans"/>
              <a:sym typeface="Open Sans"/>
            </a:endParaRPr>
          </a:p>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https://www.positivo.pro/blog/metodologias-agiles-vs-tradicionales/</a:t>
            </a:r>
            <a:endParaRPr b="1" sz="1100">
              <a:latin typeface="Open Sans"/>
              <a:ea typeface="Open Sans"/>
              <a:cs typeface="Open Sans"/>
              <a:sym typeface="Open Sans"/>
            </a:endParaRPr>
          </a:p>
          <a:p>
            <a:pPr indent="-298450" lvl="0" marL="457200" marR="0" rtl="0" algn="l">
              <a:lnSpc>
                <a:spcPct val="140000"/>
              </a:lnSpc>
              <a:spcBef>
                <a:spcPts val="0"/>
              </a:spcBef>
              <a:spcAft>
                <a:spcPts val="0"/>
              </a:spcAft>
              <a:buSzPts val="1100"/>
              <a:buFont typeface="Open Sans"/>
              <a:buChar char="●"/>
            </a:pPr>
            <a:r>
              <a:rPr b="1" lang="es" sz="1100">
                <a:latin typeface="Open Sans"/>
                <a:ea typeface="Open Sans"/>
                <a:cs typeface="Open Sans"/>
                <a:sym typeface="Open Sans"/>
              </a:rPr>
              <a:t>https://www.aden.org/business-magazine/metodologias-agiles/</a:t>
            </a:r>
            <a:endParaRPr b="1" sz="1100">
              <a:latin typeface="Open Sans"/>
              <a:ea typeface="Open Sans"/>
              <a:cs typeface="Open Sans"/>
              <a:sym typeface="Open Sans"/>
            </a:endParaRPr>
          </a:p>
          <a:p>
            <a:pPr indent="0" lvl="0" marL="0" marR="0" rtl="0" algn="l">
              <a:lnSpc>
                <a:spcPct val="140000"/>
              </a:lnSpc>
              <a:spcBef>
                <a:spcPts val="0"/>
              </a:spcBef>
              <a:spcAft>
                <a:spcPts val="0"/>
              </a:spcAft>
              <a:buNone/>
            </a:pPr>
            <a:r>
              <a:t/>
            </a:r>
            <a:endParaRPr b="1" sz="1100">
              <a:latin typeface="Open Sans"/>
              <a:ea typeface="Open Sans"/>
              <a:cs typeface="Open Sans"/>
              <a:sym typeface="Open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2"/>
          <p:cNvSpPr/>
          <p:nvPr/>
        </p:nvSpPr>
        <p:spPr>
          <a:xfrm>
            <a:off x="0" y="0"/>
            <a:ext cx="9144000" cy="3646170"/>
          </a:xfrm>
          <a:custGeom>
            <a:rect b="b" l="l" r="r" t="t"/>
            <a:pathLst>
              <a:path extrusionOk="0" h="7292340" w="18288000">
                <a:moveTo>
                  <a:pt x="0" y="0"/>
                </a:moveTo>
                <a:lnTo>
                  <a:pt x="18288000" y="0"/>
                </a:lnTo>
                <a:lnTo>
                  <a:pt x="18288000" y="7292340"/>
                </a:lnTo>
                <a:lnTo>
                  <a:pt x="0" y="729234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3"/>
          <p:cNvSpPr/>
          <p:nvPr/>
        </p:nvSpPr>
        <p:spPr>
          <a:xfrm>
            <a:off x="0" y="0"/>
            <a:ext cx="9144000" cy="3108960"/>
          </a:xfrm>
          <a:custGeom>
            <a:rect b="b" l="l" r="r" t="t"/>
            <a:pathLst>
              <a:path extrusionOk="0" h="6217920" w="18288000">
                <a:moveTo>
                  <a:pt x="0" y="0"/>
                </a:moveTo>
                <a:lnTo>
                  <a:pt x="18288000" y="0"/>
                </a:lnTo>
                <a:lnTo>
                  <a:pt x="18288000" y="6217920"/>
                </a:lnTo>
                <a:lnTo>
                  <a:pt x="0" y="6217920"/>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54"/>
          <p:cNvSpPr/>
          <p:nvPr/>
        </p:nvSpPr>
        <p:spPr>
          <a:xfrm>
            <a:off x="0" y="0"/>
            <a:ext cx="9144000" cy="5132070"/>
          </a:xfrm>
          <a:custGeom>
            <a:rect b="b" l="l" r="r" t="t"/>
            <a:pathLst>
              <a:path extrusionOk="0" h="10264140" w="18288000">
                <a:moveTo>
                  <a:pt x="0" y="0"/>
                </a:moveTo>
                <a:lnTo>
                  <a:pt x="18288000" y="0"/>
                </a:lnTo>
                <a:lnTo>
                  <a:pt x="18288000" y="10264140"/>
                </a:lnTo>
                <a:lnTo>
                  <a:pt x="0" y="10264140"/>
                </a:lnTo>
                <a:lnTo>
                  <a:pt x="0" y="0"/>
                </a:lnTo>
                <a:close/>
              </a:path>
            </a:pathLst>
          </a:custGeom>
          <a:blipFill rotWithShape="1">
            <a:blip r:embed="rId3">
              <a:alphaModFix/>
            </a:blip>
            <a:stretch>
              <a:fillRect b="0" l="0" r="0" t="0"/>
            </a:stretch>
          </a:blipFill>
          <a:ln>
            <a:noFill/>
          </a:ln>
        </p:spPr>
      </p:sp>
      <p:sp>
        <p:nvSpPr>
          <p:cNvPr id="531" name="Google Shape;531;p54"/>
          <p:cNvSpPr txBox="1"/>
          <p:nvPr/>
        </p:nvSpPr>
        <p:spPr>
          <a:xfrm>
            <a:off x="2827535" y="83353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32" name="Google Shape;532;p54"/>
          <p:cNvSpPr txBox="1"/>
          <p:nvPr/>
        </p:nvSpPr>
        <p:spPr>
          <a:xfrm>
            <a:off x="2827535" y="123022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33" name="Google Shape;533;p54"/>
          <p:cNvSpPr txBox="1"/>
          <p:nvPr/>
        </p:nvSpPr>
        <p:spPr>
          <a:xfrm>
            <a:off x="2827535" y="1737654"/>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34" name="Google Shape;534;p54"/>
          <p:cNvSpPr txBox="1"/>
          <p:nvPr/>
        </p:nvSpPr>
        <p:spPr>
          <a:xfrm>
            <a:off x="6976544" y="1045629"/>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35" name="Google Shape;535;p54"/>
          <p:cNvSpPr txBox="1"/>
          <p:nvPr/>
        </p:nvSpPr>
        <p:spPr>
          <a:xfrm>
            <a:off x="6976544" y="144231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36" name="Google Shape;536;p54"/>
          <p:cNvSpPr txBox="1"/>
          <p:nvPr/>
        </p:nvSpPr>
        <p:spPr>
          <a:xfrm>
            <a:off x="6976544" y="184014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37" name="Google Shape;537;p54"/>
          <p:cNvSpPr txBox="1"/>
          <p:nvPr/>
        </p:nvSpPr>
        <p:spPr>
          <a:xfrm>
            <a:off x="138615" y="25431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38" name="Google Shape;538;p54"/>
          <p:cNvSpPr txBox="1"/>
          <p:nvPr/>
        </p:nvSpPr>
        <p:spPr>
          <a:xfrm>
            <a:off x="138615"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39" name="Google Shape;539;p54"/>
          <p:cNvSpPr txBox="1"/>
          <p:nvPr/>
        </p:nvSpPr>
        <p:spPr>
          <a:xfrm>
            <a:off x="138615" y="331004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0" name="Google Shape;540;p54"/>
          <p:cNvSpPr txBox="1"/>
          <p:nvPr/>
        </p:nvSpPr>
        <p:spPr>
          <a:xfrm>
            <a:off x="138615" y="380020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1" name="Google Shape;541;p54"/>
          <p:cNvSpPr txBox="1"/>
          <p:nvPr/>
        </p:nvSpPr>
        <p:spPr>
          <a:xfrm>
            <a:off x="138615"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2" name="Google Shape;542;p54"/>
          <p:cNvSpPr txBox="1"/>
          <p:nvPr/>
        </p:nvSpPr>
        <p:spPr>
          <a:xfrm>
            <a:off x="138615"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3" name="Google Shape;543;p54"/>
          <p:cNvSpPr txBox="1"/>
          <p:nvPr/>
        </p:nvSpPr>
        <p:spPr>
          <a:xfrm>
            <a:off x="3203269"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4" name="Google Shape;544;p54"/>
          <p:cNvSpPr txBox="1"/>
          <p:nvPr/>
        </p:nvSpPr>
        <p:spPr>
          <a:xfrm>
            <a:off x="3203269"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5" name="Google Shape;545;p54"/>
          <p:cNvSpPr txBox="1"/>
          <p:nvPr/>
        </p:nvSpPr>
        <p:spPr>
          <a:xfrm>
            <a:off x="3203269"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6" name="Google Shape;546;p54"/>
          <p:cNvSpPr txBox="1"/>
          <p:nvPr/>
        </p:nvSpPr>
        <p:spPr>
          <a:xfrm>
            <a:off x="3203269"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7" name="Google Shape;547;p54"/>
          <p:cNvSpPr txBox="1"/>
          <p:nvPr/>
        </p:nvSpPr>
        <p:spPr>
          <a:xfrm>
            <a:off x="3203269"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8" name="Google Shape;548;p54"/>
          <p:cNvSpPr txBox="1"/>
          <p:nvPr/>
        </p:nvSpPr>
        <p:spPr>
          <a:xfrm>
            <a:off x="3203269" y="460057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49" name="Google Shape;549;p54"/>
          <p:cNvSpPr txBox="1"/>
          <p:nvPr/>
        </p:nvSpPr>
        <p:spPr>
          <a:xfrm>
            <a:off x="6269313" y="25374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50" name="Google Shape;550;p54"/>
          <p:cNvSpPr txBox="1"/>
          <p:nvPr/>
        </p:nvSpPr>
        <p:spPr>
          <a:xfrm>
            <a:off x="6269313" y="2926505"/>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51" name="Google Shape;551;p54"/>
          <p:cNvSpPr txBox="1"/>
          <p:nvPr/>
        </p:nvSpPr>
        <p:spPr>
          <a:xfrm>
            <a:off x="6269313" y="3324332"/>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52" name="Google Shape;552;p54"/>
          <p:cNvSpPr txBox="1"/>
          <p:nvPr/>
        </p:nvSpPr>
        <p:spPr>
          <a:xfrm>
            <a:off x="6269313" y="372216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53" name="Google Shape;553;p54"/>
          <p:cNvSpPr txBox="1"/>
          <p:nvPr/>
        </p:nvSpPr>
        <p:spPr>
          <a:xfrm>
            <a:off x="6269313" y="4183743"/>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
        <p:nvSpPr>
          <p:cNvPr id="554" name="Google Shape;554;p54"/>
          <p:cNvSpPr txBox="1"/>
          <p:nvPr/>
        </p:nvSpPr>
        <p:spPr>
          <a:xfrm>
            <a:off x="6269313" y="4581570"/>
            <a:ext cx="751500" cy="215400"/>
          </a:xfrm>
          <a:prstGeom prst="rect">
            <a:avLst/>
          </a:prstGeom>
          <a:noFill/>
          <a:ln>
            <a:noFill/>
          </a:ln>
        </p:spPr>
        <p:txBody>
          <a:bodyPr anchorCtr="0" anchor="t" bIns="0" lIns="0" spcFirstLastPara="1" rIns="0" wrap="square" tIns="0">
            <a:spAutoFit/>
          </a:bodyPr>
          <a:lstStyle/>
          <a:p>
            <a:pPr indent="0" lvl="0" marL="0" marR="0" rtl="0" algn="ctr">
              <a:lnSpc>
                <a:spcPct val="140014"/>
              </a:lnSpc>
              <a:spcBef>
                <a:spcPts val="0"/>
              </a:spcBef>
              <a:spcAft>
                <a:spcPts val="0"/>
              </a:spcAft>
              <a:buNone/>
            </a:pPr>
            <a:r>
              <a:rPr b="0" i="0" lang="es" sz="1400" u="none" cap="none" strike="noStrike">
                <a:solidFill>
                  <a:srgbClr val="000000"/>
                </a:solidFill>
                <a:latin typeface="Open Sans"/>
                <a:ea typeface="Open Sans"/>
                <a:cs typeface="Open Sans"/>
                <a:sym typeface="Open Sans"/>
              </a:rPr>
              <a:t>---</a:t>
            </a:r>
            <a:endParaRPr sz="7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5"/>
          <p:cNvSpPr/>
          <p:nvPr/>
        </p:nvSpPr>
        <p:spPr>
          <a:xfrm>
            <a:off x="1746686" y="-295768"/>
            <a:ext cx="5650630" cy="2556910"/>
          </a:xfrm>
          <a:custGeom>
            <a:rect b="b" l="l" r="r" t="t"/>
            <a:pathLst>
              <a:path extrusionOk="0" h="5113820" w="11301259">
                <a:moveTo>
                  <a:pt x="0" y="0"/>
                </a:moveTo>
                <a:lnTo>
                  <a:pt x="11301258" y="0"/>
                </a:lnTo>
                <a:lnTo>
                  <a:pt x="11301258" y="5113820"/>
                </a:lnTo>
                <a:lnTo>
                  <a:pt x="0" y="5113820"/>
                </a:lnTo>
                <a:lnTo>
                  <a:pt x="0" y="0"/>
                </a:lnTo>
                <a:close/>
              </a:path>
            </a:pathLst>
          </a:custGeom>
          <a:blipFill rotWithShape="1">
            <a:blip r:embed="rId3">
              <a:alphaModFix/>
            </a:blip>
            <a:stretch>
              <a:fillRect b="0" l="0" r="0" t="0"/>
            </a:stretch>
          </a:blipFill>
          <a:ln>
            <a:noFill/>
          </a:ln>
        </p:spPr>
      </p:sp>
      <p:sp>
        <p:nvSpPr>
          <p:cNvPr id="560" name="Google Shape;560;p55"/>
          <p:cNvSpPr/>
          <p:nvPr/>
        </p:nvSpPr>
        <p:spPr>
          <a:xfrm>
            <a:off x="1098849" y="1746435"/>
            <a:ext cx="6946302" cy="2882716"/>
          </a:xfrm>
          <a:custGeom>
            <a:rect b="b" l="l" r="r" t="t"/>
            <a:pathLst>
              <a:path extrusionOk="0" h="5765431" w="13892604">
                <a:moveTo>
                  <a:pt x="0" y="0"/>
                </a:moveTo>
                <a:lnTo>
                  <a:pt x="13892604" y="0"/>
                </a:lnTo>
                <a:lnTo>
                  <a:pt x="13892604" y="5765431"/>
                </a:lnTo>
                <a:lnTo>
                  <a:pt x="0" y="5765431"/>
                </a:lnTo>
                <a:lnTo>
                  <a:pt x="0" y="0"/>
                </a:lnTo>
                <a:close/>
              </a:path>
            </a:pathLst>
          </a:custGeom>
          <a:blipFill rotWithShape="1">
            <a:blip r:embed="rId4">
              <a:alphaModFix/>
            </a:blip>
            <a:stretch>
              <a:fillRect b="0" l="0" r="0" t="0"/>
            </a:stretch>
          </a:blipFill>
          <a:ln>
            <a:noFill/>
          </a:ln>
        </p:spPr>
      </p:sp>
      <p:sp>
        <p:nvSpPr>
          <p:cNvPr id="561" name="Google Shape;561;p55"/>
          <p:cNvSpPr txBox="1"/>
          <p:nvPr/>
        </p:nvSpPr>
        <p:spPr>
          <a:xfrm>
            <a:off x="1290197" y="2230813"/>
            <a:ext cx="6563700" cy="1271400"/>
          </a:xfrm>
          <a:prstGeom prst="rect">
            <a:avLst/>
          </a:prstGeom>
          <a:noFill/>
          <a:ln>
            <a:noFill/>
          </a:ln>
        </p:spPr>
        <p:txBody>
          <a:bodyPr anchorCtr="0" anchor="t" bIns="0" lIns="0" spcFirstLastPara="1" rIns="0" wrap="square" tIns="0">
            <a:spAutoFit/>
          </a:bodyPr>
          <a:lstStyle/>
          <a:p>
            <a:pPr indent="-152400" lvl="1" marL="304800" marR="0" rtl="0" algn="l">
              <a:lnSpc>
                <a:spcPct val="140014"/>
              </a:lnSpc>
              <a:spcBef>
                <a:spcPts val="0"/>
              </a:spcBef>
              <a:spcAft>
                <a:spcPts val="0"/>
              </a:spcAft>
              <a:buClr>
                <a:srgbClr val="000000"/>
              </a:buClr>
              <a:buSzPts val="1400"/>
              <a:buFont typeface="Arial"/>
              <a:buChar char="•"/>
            </a:pPr>
            <a:r>
              <a:rPr lang="es" u="sng">
                <a:solidFill>
                  <a:schemeClr val="hlink"/>
                </a:solidFill>
                <a:latin typeface="Open Sans"/>
                <a:ea typeface="Open Sans"/>
                <a:cs typeface="Open Sans"/>
                <a:sym typeface="Open Sans"/>
                <a:hlinkClick r:id="rId5"/>
              </a:rPr>
              <a:t>https://www.youtube.com/watch?v=F8443XQafGU</a:t>
            </a:r>
            <a:endParaRPr sz="700"/>
          </a:p>
          <a:p>
            <a:pPr indent="0" lvl="0" marL="0" marR="0" rtl="0" algn="l">
              <a:lnSpc>
                <a:spcPct val="140014"/>
              </a:lnSpc>
              <a:spcBef>
                <a:spcPts val="0"/>
              </a:spcBef>
              <a:spcAft>
                <a:spcPts val="0"/>
              </a:spcAft>
              <a:buNone/>
            </a:pPr>
            <a:r>
              <a:t/>
            </a:r>
            <a:endParaRPr b="0" i="0" sz="1400" u="none" cap="none" strike="noStrike">
              <a:solidFill>
                <a:srgbClr val="000000"/>
              </a:solidFill>
              <a:latin typeface="Open Sans"/>
              <a:ea typeface="Open Sans"/>
              <a:cs typeface="Open Sans"/>
              <a:sym typeface="Open Sans"/>
            </a:endParaRPr>
          </a:p>
          <a:p>
            <a:pPr indent="-152400" lvl="1" marL="304800" marR="0" rtl="0" algn="l">
              <a:lnSpc>
                <a:spcPct val="140014"/>
              </a:lnSpc>
              <a:spcBef>
                <a:spcPts val="0"/>
              </a:spcBef>
              <a:spcAft>
                <a:spcPts val="0"/>
              </a:spcAft>
              <a:buClr>
                <a:srgbClr val="000000"/>
              </a:buClr>
              <a:buSzPts val="1400"/>
              <a:buFont typeface="Arial"/>
              <a:buChar char="•"/>
            </a:pPr>
            <a:r>
              <a:rPr b="0" i="0" lang="es" sz="1400" u="none" cap="none" strike="noStrike">
                <a:solidFill>
                  <a:srgbClr val="000000"/>
                </a:solidFill>
                <a:latin typeface="Open Sans"/>
                <a:ea typeface="Open Sans"/>
                <a:cs typeface="Open Sans"/>
                <a:sym typeface="Open Sans"/>
              </a:rPr>
              <a:t>Link del </a:t>
            </a:r>
            <a:r>
              <a:rPr lang="es">
                <a:latin typeface="Open Sans"/>
                <a:ea typeface="Open Sans"/>
                <a:cs typeface="Open Sans"/>
                <a:sym typeface="Open Sans"/>
              </a:rPr>
              <a:t>Quizz (cada instructor colocara su link)</a:t>
            </a:r>
            <a:endParaRPr sz="700"/>
          </a:p>
          <a:p>
            <a:pPr indent="0" lvl="0" marL="457200" marR="0" rtl="0" algn="l">
              <a:lnSpc>
                <a:spcPct val="140014"/>
              </a:lnSpc>
              <a:spcBef>
                <a:spcPts val="0"/>
              </a:spcBef>
              <a:spcAft>
                <a:spcPts val="0"/>
              </a:spcAft>
              <a:buNone/>
            </a:pPr>
            <a:r>
              <a:t/>
            </a:r>
            <a:endParaRPr sz="700"/>
          </a:p>
          <a:p>
            <a:pPr indent="0" lvl="0" marL="0" marR="0" rtl="0" algn="ctr">
              <a:lnSpc>
                <a:spcPct val="140014"/>
              </a:lnSpc>
              <a:spcBef>
                <a:spcPts val="0"/>
              </a:spcBef>
              <a:spcAft>
                <a:spcPts val="0"/>
              </a:spcAft>
              <a:buNone/>
            </a:pPr>
            <a:r>
              <a:t/>
            </a:r>
            <a:endParaRPr b="0" i="0" sz="1400" u="none" cap="none" strike="noStrike">
              <a:solidFill>
                <a:srgbClr val="000000"/>
              </a:solidFill>
              <a:latin typeface="Open Sans"/>
              <a:ea typeface="Open Sans"/>
              <a:cs typeface="Open Sans"/>
              <a:sym typeface="Open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5" name="Shape 565"/>
        <p:cNvGrpSpPr/>
        <p:nvPr/>
      </p:nvGrpSpPr>
      <p:grpSpPr>
        <a:xfrm>
          <a:off x="0" y="0"/>
          <a:ext cx="0" cy="0"/>
          <a:chOff x="0" y="0"/>
          <a:chExt cx="0" cy="0"/>
        </a:xfrm>
      </p:grpSpPr>
      <p:sp>
        <p:nvSpPr>
          <p:cNvPr id="566" name="Google Shape;566;p56"/>
          <p:cNvSpPr/>
          <p:nvPr/>
        </p:nvSpPr>
        <p:spPr>
          <a:xfrm>
            <a:off x="1930841" y="297649"/>
            <a:ext cx="5282318" cy="4331501"/>
          </a:xfrm>
          <a:custGeom>
            <a:rect b="b" l="l" r="r" t="t"/>
            <a:pathLst>
              <a:path extrusionOk="0" h="8663002" w="10564636">
                <a:moveTo>
                  <a:pt x="0" y="0"/>
                </a:moveTo>
                <a:lnTo>
                  <a:pt x="10564636" y="0"/>
                </a:lnTo>
                <a:lnTo>
                  <a:pt x="10564636" y="8663002"/>
                </a:lnTo>
                <a:lnTo>
                  <a:pt x="0" y="866300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57"/>
          <p:cNvSpPr/>
          <p:nvPr/>
        </p:nvSpPr>
        <p:spPr>
          <a:xfrm>
            <a:off x="407222" y="0"/>
            <a:ext cx="8329555" cy="5143500"/>
          </a:xfrm>
          <a:custGeom>
            <a:rect b="b" l="l" r="r" t="t"/>
            <a:pathLst>
              <a:path extrusionOk="0" h="10287000" w="16659109">
                <a:moveTo>
                  <a:pt x="0" y="0"/>
                </a:moveTo>
                <a:lnTo>
                  <a:pt x="16659110" y="0"/>
                </a:lnTo>
                <a:lnTo>
                  <a:pt x="16659110" y="10287000"/>
                </a:lnTo>
                <a:lnTo>
                  <a:pt x="0" y="10287000"/>
                </a:lnTo>
                <a:lnTo>
                  <a:pt x="0" y="0"/>
                </a:lnTo>
                <a:close/>
              </a:path>
            </a:pathLst>
          </a:custGeom>
          <a:blipFill rotWithShape="1">
            <a:blip r:embed="rId3">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