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y="10287000" cx="18288000"/>
  <p:notesSz cx="6858000" cy="9144000"/>
  <p:embeddedFontLst>
    <p:embeddedFont>
      <p:font typeface="Montserrat"/>
      <p:regular r:id="rId41"/>
      <p:bold r:id="rId42"/>
      <p:italic r:id="rId43"/>
      <p:boldItalic r:id="rId44"/>
    </p:embeddedFont>
    <p:embeddedFont>
      <p:font typeface="Lato"/>
      <p:regular r:id="rId45"/>
      <p:bold r:id="rId46"/>
      <p:italic r:id="rId47"/>
      <p:boldItalic r:id="rId48"/>
    </p:embeddedFont>
    <p:embeddedFont>
      <p:font typeface="Open Sans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3" roundtripDataSignature="AMtx7mh5Mv5AZEZ+kL8KsjlxO1Vd1Yx8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DBF856-1902-4871-9763-8E21BDC4DF07}">
  <a:tblStyle styleId="{68DBF856-1902-4871-9763-8E21BDC4DF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font" Target="fonts/Montserrat-bold.fntdata"/><Relationship Id="rId41" Type="http://schemas.openxmlformats.org/officeDocument/2006/relationships/font" Target="fonts/Montserrat-regular.fntdata"/><Relationship Id="rId44" Type="http://schemas.openxmlformats.org/officeDocument/2006/relationships/font" Target="fonts/Montserrat-boldItalic.fntdata"/><Relationship Id="rId43" Type="http://schemas.openxmlformats.org/officeDocument/2006/relationships/font" Target="fonts/Montserrat-italic.fntdata"/><Relationship Id="rId46" Type="http://schemas.openxmlformats.org/officeDocument/2006/relationships/font" Target="fonts/Lato-bold.fntdata"/><Relationship Id="rId45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Lato-boldItalic.fntdata"/><Relationship Id="rId47" Type="http://schemas.openxmlformats.org/officeDocument/2006/relationships/font" Target="fonts/Lato-italic.fntdata"/><Relationship Id="rId49" Type="http://schemas.openxmlformats.org/officeDocument/2006/relationships/font" Target="fonts/OpenSans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OpenSans-italic.fntdata"/><Relationship Id="rId50" Type="http://schemas.openxmlformats.org/officeDocument/2006/relationships/font" Target="fonts/OpenSans-bold.fntdata"/><Relationship Id="rId53" Type="http://customschemas.google.com/relationships/presentationmetadata" Target="metadata"/><Relationship Id="rId52" Type="http://schemas.openxmlformats.org/officeDocument/2006/relationships/font" Target="fonts/OpenSans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ab178ca3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39ab178ca3a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ab178ca3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9ab178ca3a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ab178ca3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9ab178ca3a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9ab178ca3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39ab178ca3a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ab178ca3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g39ab178ca3a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ab178ca3a_0_4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9ab178ca3a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ab178ca3a_0_4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9ab178ca3a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9ab178ca3a_0_4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9ab178ca3a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9ab178ca3a_0_4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9ab178ca3a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ab178ca3a_0_4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9ab178ca3a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9ab178ca3a_0_4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9ab178ca3a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9ab178ca3a_0_4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9ab178ca3a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9ab178ca3a_0_4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9ab178ca3a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ab178ca3a_0_4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9ab178ca3a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ab178ca3a_0_4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9ab178ca3a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9ab178ca3a_0_4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9ab178ca3a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9ab178ca3a_0_4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39ab178ca3a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ab178ca3a_0_4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9ab178ca3a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9ab178ca3a_0_4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9ab178ca3a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9ab178ca3a_0_4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39ab178ca3a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9ab178ca3a_0_5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39ab178ca3a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9ab178ca3a_0_5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9ab178ca3a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9ab178ca3a_0_5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9ab178ca3a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9ab178ca3a_0_5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39ab178ca3a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7" name="Google Shape;4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4" name="Google Shape;4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1" name="Google Shape;4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1" name="Google Shape;4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7" name="Google Shape;47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2" name="Google Shape;48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ab178ca3a_0_53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ab178ca3a_0_534"/>
          <p:cNvSpPr/>
          <p:nvPr/>
        </p:nvSpPr>
        <p:spPr>
          <a:xfrm rot="5400000">
            <a:off x="15000600" y="1010"/>
            <a:ext cx="3287400" cy="3287400"/>
          </a:xfrm>
          <a:prstGeom prst="diagStripe">
            <a:avLst>
              <a:gd fmla="val 0" name="adj"/>
            </a:avLst>
          </a:prstGeom>
          <a:solidFill>
            <a:schemeClr val="lt1">
              <a:alpha val="3140"/>
            </a:schemeClr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g39ab178ca3a_0_534"/>
          <p:cNvGrpSpPr/>
          <p:nvPr/>
        </p:nvGrpSpPr>
        <p:grpSpPr>
          <a:xfrm>
            <a:off x="0" y="980"/>
            <a:ext cx="10307410" cy="10268799"/>
            <a:chOff x="0" y="75"/>
            <a:chExt cx="5153705" cy="5152950"/>
          </a:xfrm>
        </p:grpSpPr>
        <p:sp>
          <p:nvSpPr>
            <p:cNvPr id="89" name="Google Shape;89;g39ab178ca3a_0_534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14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g39ab178ca3a_0_534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14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39ab178ca3a_0_534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39ab178ca3a_0_534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g39ab178ca3a_0_534"/>
          <p:cNvSpPr txBox="1"/>
          <p:nvPr>
            <p:ph type="ctrTitle"/>
          </p:nvPr>
        </p:nvSpPr>
        <p:spPr>
          <a:xfrm>
            <a:off x="7074300" y="3156800"/>
            <a:ext cx="10035000" cy="3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94" name="Google Shape;94;g39ab178ca3a_0_534"/>
          <p:cNvSpPr txBox="1"/>
          <p:nvPr>
            <p:ph idx="1" type="subTitle"/>
          </p:nvPr>
        </p:nvSpPr>
        <p:spPr>
          <a:xfrm>
            <a:off x="10167900" y="7849850"/>
            <a:ext cx="6941400" cy="1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5" name="Google Shape;95;g39ab178ca3a_0_53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g39ab178ca3a_0_544"/>
          <p:cNvGrpSpPr/>
          <p:nvPr/>
        </p:nvGrpSpPr>
        <p:grpSpPr>
          <a:xfrm>
            <a:off x="0" y="762003"/>
            <a:ext cx="2075700" cy="2032576"/>
            <a:chOff x="0" y="381001"/>
            <a:chExt cx="1037850" cy="1016288"/>
          </a:xfrm>
        </p:grpSpPr>
        <p:sp>
          <p:nvSpPr>
            <p:cNvPr id="98" name="Google Shape;98;g39ab178ca3a_0_54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9ab178ca3a_0_54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g39ab178ca3a_0_544"/>
          <p:cNvSpPr txBox="1"/>
          <p:nvPr>
            <p:ph type="title"/>
          </p:nvPr>
        </p:nvSpPr>
        <p:spPr>
          <a:xfrm>
            <a:off x="2595000" y="787500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1" name="Google Shape;101;g39ab178ca3a_0_54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g39ab178ca3a_0_550"/>
          <p:cNvGrpSpPr/>
          <p:nvPr/>
        </p:nvGrpSpPr>
        <p:grpSpPr>
          <a:xfrm>
            <a:off x="0" y="762003"/>
            <a:ext cx="2075700" cy="2032576"/>
            <a:chOff x="0" y="381001"/>
            <a:chExt cx="1037850" cy="1016288"/>
          </a:xfrm>
        </p:grpSpPr>
        <p:sp>
          <p:nvSpPr>
            <p:cNvPr id="104" name="Google Shape;104;g39ab178ca3a_0_55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9ab178ca3a_0_55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g39ab178ca3a_0_550"/>
          <p:cNvSpPr txBox="1"/>
          <p:nvPr>
            <p:ph type="title"/>
          </p:nvPr>
        </p:nvSpPr>
        <p:spPr>
          <a:xfrm>
            <a:off x="2595000" y="787500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7" name="Google Shape;107;g39ab178ca3a_0_550"/>
          <p:cNvSpPr txBox="1"/>
          <p:nvPr>
            <p:ph idx="1" type="body"/>
          </p:nvPr>
        </p:nvSpPr>
        <p:spPr>
          <a:xfrm>
            <a:off x="2595000" y="3135100"/>
            <a:ext cx="14077800" cy="58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8" name="Google Shape;108;g39ab178ca3a_0_55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g39ab178ca3a_0_557"/>
          <p:cNvGrpSpPr/>
          <p:nvPr/>
        </p:nvGrpSpPr>
        <p:grpSpPr>
          <a:xfrm>
            <a:off x="0" y="762003"/>
            <a:ext cx="2075700" cy="2032576"/>
            <a:chOff x="0" y="381001"/>
            <a:chExt cx="1037850" cy="1016288"/>
          </a:xfrm>
        </p:grpSpPr>
        <p:sp>
          <p:nvSpPr>
            <p:cNvPr id="111" name="Google Shape;111;g39ab178ca3a_0_55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9ab178ca3a_0_55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g39ab178ca3a_0_557"/>
          <p:cNvSpPr txBox="1"/>
          <p:nvPr>
            <p:ph type="title"/>
          </p:nvPr>
        </p:nvSpPr>
        <p:spPr>
          <a:xfrm>
            <a:off x="2595000" y="787500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4" name="Google Shape;114;g39ab178ca3a_0_557"/>
          <p:cNvSpPr txBox="1"/>
          <p:nvPr>
            <p:ph idx="1" type="body"/>
          </p:nvPr>
        </p:nvSpPr>
        <p:spPr>
          <a:xfrm>
            <a:off x="2595000" y="3135100"/>
            <a:ext cx="6806400" cy="58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15" name="Google Shape;115;g39ab178ca3a_0_557"/>
          <p:cNvSpPr txBox="1"/>
          <p:nvPr>
            <p:ph idx="2" type="body"/>
          </p:nvPr>
        </p:nvSpPr>
        <p:spPr>
          <a:xfrm>
            <a:off x="9866442" y="3135100"/>
            <a:ext cx="6806400" cy="58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16" name="Google Shape;116;g39ab178ca3a_0_55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g39ab178ca3a_0_565"/>
          <p:cNvGrpSpPr/>
          <p:nvPr/>
        </p:nvGrpSpPr>
        <p:grpSpPr>
          <a:xfrm>
            <a:off x="8812800" y="0"/>
            <a:ext cx="9475200" cy="10286130"/>
            <a:chOff x="4406400" y="0"/>
            <a:chExt cx="4737600" cy="5143065"/>
          </a:xfrm>
        </p:grpSpPr>
        <p:sp>
          <p:nvSpPr>
            <p:cNvPr id="119" name="Google Shape;119;g39ab178ca3a_0_565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53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9ab178ca3a_0_565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53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9ab178ca3a_0_565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9ab178ca3a_0_565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9ab178ca3a_0_56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9ab178ca3a_0_565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9ab178ca3a_0_565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39ab178ca3a_0_565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39ab178ca3a_0_56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39ab178ca3a_0_565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g39ab178ca3a_0_565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g39ab178ca3a_0_565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g39ab178ca3a_0_565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g39ab178ca3a_0_565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g39ab178ca3a_0_56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g39ab178ca3a_0_565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39ab178ca3a_0_565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g39ab178ca3a_0_565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g39ab178ca3a_0_565"/>
          <p:cNvSpPr txBox="1"/>
          <p:nvPr>
            <p:ph type="title"/>
          </p:nvPr>
        </p:nvSpPr>
        <p:spPr>
          <a:xfrm>
            <a:off x="1647700" y="4106000"/>
            <a:ext cx="9174000" cy="22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38" name="Google Shape;138;g39ab178ca3a_0_56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g39ab178ca3a_0_587"/>
          <p:cNvGrpSpPr/>
          <p:nvPr/>
        </p:nvGrpSpPr>
        <p:grpSpPr>
          <a:xfrm>
            <a:off x="0" y="762003"/>
            <a:ext cx="2075700" cy="2032576"/>
            <a:chOff x="0" y="381001"/>
            <a:chExt cx="1037850" cy="1016288"/>
          </a:xfrm>
        </p:grpSpPr>
        <p:sp>
          <p:nvSpPr>
            <p:cNvPr id="141" name="Google Shape;141;g39ab178ca3a_0_58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9ab178ca3a_0_58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g39ab178ca3a_0_587"/>
          <p:cNvSpPr txBox="1"/>
          <p:nvPr>
            <p:ph type="title"/>
          </p:nvPr>
        </p:nvSpPr>
        <p:spPr>
          <a:xfrm>
            <a:off x="2595000" y="787500"/>
            <a:ext cx="75978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4" name="Google Shape;144;g39ab178ca3a_0_587"/>
          <p:cNvSpPr txBox="1"/>
          <p:nvPr>
            <p:ph idx="1" type="body"/>
          </p:nvPr>
        </p:nvSpPr>
        <p:spPr>
          <a:xfrm>
            <a:off x="2595000" y="3945100"/>
            <a:ext cx="7597800" cy="4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45" name="Google Shape;145;g39ab178ca3a_0_58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g39ab178ca3a_0_594"/>
          <p:cNvGrpSpPr/>
          <p:nvPr/>
        </p:nvGrpSpPr>
        <p:grpSpPr>
          <a:xfrm>
            <a:off x="8812800" y="0"/>
            <a:ext cx="9475200" cy="10287000"/>
            <a:chOff x="4406400" y="0"/>
            <a:chExt cx="4737600" cy="5143500"/>
          </a:xfrm>
        </p:grpSpPr>
        <p:sp>
          <p:nvSpPr>
            <p:cNvPr id="148" name="Google Shape;148;g39ab178ca3a_0_594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53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g39ab178ca3a_0_594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53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39ab178ca3a_0_594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g39ab178ca3a_0_594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g39ab178ca3a_0_594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g39ab178ca3a_0_594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g39ab178ca3a_0_594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g39ab178ca3a_0_594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g39ab178ca3a_0_594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39ab178ca3a_0_594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39ab178ca3a_0_594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g39ab178ca3a_0_594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39ab178ca3a_0_594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g39ab178ca3a_0_594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g39ab178ca3a_0_594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g39ab178ca3a_0_594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39ab178ca3a_0_594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g39ab178ca3a_0_594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" name="Google Shape;166;g39ab178ca3a_0_594"/>
          <p:cNvSpPr txBox="1"/>
          <p:nvPr>
            <p:ph type="title"/>
          </p:nvPr>
        </p:nvSpPr>
        <p:spPr>
          <a:xfrm>
            <a:off x="1647700" y="1733550"/>
            <a:ext cx="9174000" cy="70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67" name="Google Shape;167;g39ab178ca3a_0_59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g39ab178ca3a_0_616"/>
          <p:cNvGrpSpPr/>
          <p:nvPr/>
        </p:nvGrpSpPr>
        <p:grpSpPr>
          <a:xfrm>
            <a:off x="0" y="762003"/>
            <a:ext cx="2075700" cy="2032576"/>
            <a:chOff x="0" y="381001"/>
            <a:chExt cx="1037850" cy="1016288"/>
          </a:xfrm>
        </p:grpSpPr>
        <p:sp>
          <p:nvSpPr>
            <p:cNvPr id="170" name="Google Shape;170;g39ab178ca3a_0_6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39ab178ca3a_0_6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g39ab178ca3a_0_616"/>
          <p:cNvSpPr txBox="1"/>
          <p:nvPr>
            <p:ph type="title"/>
          </p:nvPr>
        </p:nvSpPr>
        <p:spPr>
          <a:xfrm>
            <a:off x="2595000" y="3316650"/>
            <a:ext cx="6072600" cy="3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3" name="Google Shape;173;g39ab178ca3a_0_616"/>
          <p:cNvSpPr txBox="1"/>
          <p:nvPr>
            <p:ph idx="1" type="subTitle"/>
          </p:nvPr>
        </p:nvSpPr>
        <p:spPr>
          <a:xfrm>
            <a:off x="2595000" y="7076000"/>
            <a:ext cx="6072600" cy="1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74" name="Google Shape;174;g39ab178ca3a_0_616"/>
          <p:cNvSpPr txBox="1"/>
          <p:nvPr>
            <p:ph idx="2" type="body"/>
          </p:nvPr>
        </p:nvSpPr>
        <p:spPr>
          <a:xfrm>
            <a:off x="9296400" y="3393200"/>
            <a:ext cx="7353600" cy="46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75" name="Google Shape;175;g39ab178ca3a_0_6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g39ab178ca3a_0_624"/>
          <p:cNvGrpSpPr/>
          <p:nvPr/>
        </p:nvGrpSpPr>
        <p:grpSpPr>
          <a:xfrm>
            <a:off x="0" y="8257144"/>
            <a:ext cx="1397850" cy="1369314"/>
            <a:chOff x="0" y="3785672"/>
            <a:chExt cx="698925" cy="684657"/>
          </a:xfrm>
        </p:grpSpPr>
        <p:sp>
          <p:nvSpPr>
            <p:cNvPr id="178" name="Google Shape;178;g39ab178ca3a_0_624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80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39ab178ca3a_0_624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80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g39ab178ca3a_0_624"/>
          <p:cNvSpPr txBox="1"/>
          <p:nvPr>
            <p:ph idx="1" type="body"/>
          </p:nvPr>
        </p:nvSpPr>
        <p:spPr>
          <a:xfrm>
            <a:off x="1625450" y="8610750"/>
            <a:ext cx="13872000" cy="10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/>
        </p:txBody>
      </p:sp>
      <p:sp>
        <p:nvSpPr>
          <p:cNvPr id="181" name="Google Shape;181;g39ab178ca3a_0_62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g39ab178ca3a_0_630"/>
          <p:cNvGrpSpPr/>
          <p:nvPr/>
        </p:nvGrpSpPr>
        <p:grpSpPr>
          <a:xfrm>
            <a:off x="8812800" y="0"/>
            <a:ext cx="9475200" cy="10286130"/>
            <a:chOff x="4406400" y="0"/>
            <a:chExt cx="4737600" cy="5143065"/>
          </a:xfrm>
        </p:grpSpPr>
        <p:sp>
          <p:nvSpPr>
            <p:cNvPr id="184" name="Google Shape;184;g39ab178ca3a_0_630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53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g39ab178ca3a_0_630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53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g39ab178ca3a_0_630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g39ab178ca3a_0_630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39ab178ca3a_0_630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g39ab178ca3a_0_630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g39ab178ca3a_0_630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g39ab178ca3a_0_630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g39ab178ca3a_0_630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39ab178ca3a_0_630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39ab178ca3a_0_630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39ab178ca3a_0_630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39ab178ca3a_0_630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g39ab178ca3a_0_630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g39ab178ca3a_0_630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39ab178ca3a_0_630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g39ab178ca3a_0_630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g39ab178ca3a_0_630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2" name="Google Shape;202;g39ab178ca3a_0_630"/>
          <p:cNvSpPr txBox="1"/>
          <p:nvPr>
            <p:ph hasCustomPrompt="1" type="title"/>
          </p:nvPr>
        </p:nvSpPr>
        <p:spPr>
          <a:xfrm>
            <a:off x="1647700" y="2569350"/>
            <a:ext cx="95520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03" name="Google Shape;203;g39ab178ca3a_0_630"/>
          <p:cNvSpPr txBox="1"/>
          <p:nvPr>
            <p:ph idx="1" type="body"/>
          </p:nvPr>
        </p:nvSpPr>
        <p:spPr>
          <a:xfrm>
            <a:off x="1647700" y="5286248"/>
            <a:ext cx="9552000" cy="24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04" name="Google Shape;204;g39ab178ca3a_0_63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ab178ca3a_0_52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Montserrat"/>
              <a:buNone/>
              <a:defRPr b="0" i="0" sz="5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Montserrat"/>
              <a:buNone/>
              <a:defRPr b="0" i="0" sz="5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Montserrat"/>
              <a:buNone/>
              <a:defRPr b="0" i="0" sz="5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Montserrat"/>
              <a:buNone/>
              <a:defRPr b="0" i="0" sz="5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Montserrat"/>
              <a:buNone/>
              <a:defRPr b="0" i="0" sz="5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Montserrat"/>
              <a:buNone/>
              <a:defRPr b="0" i="0" sz="5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Montserrat"/>
              <a:buNone/>
              <a:defRPr b="0" i="0" sz="5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Montserrat"/>
              <a:buNone/>
              <a:defRPr b="0" i="0" sz="5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Montserrat"/>
              <a:buNone/>
              <a:defRPr b="0" i="0" sz="5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2" name="Google Shape;82;g39ab178ca3a_0_528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Lato"/>
              <a:buChar char="●"/>
              <a:defRPr b="0" i="0" sz="2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683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○"/>
              <a:defRPr b="0" i="0" sz="2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683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■"/>
              <a:defRPr b="0" i="0" sz="2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683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●"/>
              <a:defRPr b="0" i="0" sz="2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683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○"/>
              <a:defRPr b="0" i="0" sz="2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683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■"/>
              <a:defRPr b="0" i="0" sz="2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683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●"/>
              <a:defRPr b="0" i="0" sz="2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683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○"/>
              <a:defRPr b="0" i="0" sz="2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683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■"/>
              <a:defRPr b="0" i="0" sz="2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3" name="Google Shape;83;g39ab178ca3a_0_52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Relationship Id="rId4" Type="http://schemas.openxmlformats.org/officeDocument/2006/relationships/image" Target="../media/image38.png"/><Relationship Id="rId5" Type="http://schemas.openxmlformats.org/officeDocument/2006/relationships/hyperlink" Target="https://docs.docker.com/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ab178ca3a_0_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0" name="Google Shape;210;g39ab178ca3a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1775" y="1547900"/>
            <a:ext cx="8652400" cy="18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9ab178ca3a_0_1"/>
          <p:cNvSpPr/>
          <p:nvPr/>
        </p:nvSpPr>
        <p:spPr>
          <a:xfrm>
            <a:off x="2107150" y="3631999"/>
            <a:ext cx="14257800" cy="180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342900" rotWithShape="0" algn="bl" dir="2160000" dist="361950">
              <a:srgbClr val="888888">
                <a:alpha val="5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9ab178ca3a_0_1"/>
          <p:cNvSpPr/>
          <p:nvPr/>
        </p:nvSpPr>
        <p:spPr>
          <a:xfrm>
            <a:off x="5172300" y="6211275"/>
            <a:ext cx="7943400" cy="522600"/>
          </a:xfrm>
          <a:prstGeom prst="roundRect">
            <a:avLst>
              <a:gd fmla="val 16667" name="adj"/>
            </a:avLst>
          </a:prstGeom>
          <a:solidFill>
            <a:srgbClr val="E6E6E6"/>
          </a:solidFill>
          <a:ln>
            <a:noFill/>
          </a:ln>
          <a:effectLst>
            <a:outerShdw blurRad="200025" rotWithShape="0" algn="bl" dir="2160000" dist="171450">
              <a:srgbClr val="888888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9ab178ca3a_0_1"/>
          <p:cNvSpPr txBox="1"/>
          <p:nvPr/>
        </p:nvSpPr>
        <p:spPr>
          <a:xfrm>
            <a:off x="2550461" y="4212800"/>
            <a:ext cx="1318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Análisis y Diseño de Sistemas 1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g39ab178ca3a_0_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" name="Google Shape;215;g39ab178ca3a_0_1"/>
          <p:cNvSpPr/>
          <p:nvPr/>
        </p:nvSpPr>
        <p:spPr>
          <a:xfrm>
            <a:off x="740000" y="9310075"/>
            <a:ext cx="6904500" cy="522600"/>
          </a:xfrm>
          <a:prstGeom prst="roundRect">
            <a:avLst>
              <a:gd fmla="val 16667" name="adj"/>
            </a:avLst>
          </a:prstGeom>
          <a:solidFill>
            <a:srgbClr val="E1C794"/>
          </a:solidFill>
          <a:ln>
            <a:noFill/>
          </a:ln>
          <a:effectLst>
            <a:outerShdw blurRad="200025" rotWithShape="0" algn="bl" dir="2160000" dist="171450">
              <a:srgbClr val="B19867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9ab178ca3a_0_1"/>
          <p:cNvSpPr/>
          <p:nvPr/>
        </p:nvSpPr>
        <p:spPr>
          <a:xfrm>
            <a:off x="13871300" y="2240450"/>
            <a:ext cx="2172300" cy="5226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00/00/202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9ab178ca3a_0_1"/>
          <p:cNvSpPr txBox="1"/>
          <p:nvPr/>
        </p:nvSpPr>
        <p:spPr>
          <a:xfrm>
            <a:off x="828900" y="9353000"/>
            <a:ext cx="62442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2740">
                <a:latin typeface="Open Sans"/>
                <a:ea typeface="Open Sans"/>
                <a:cs typeface="Open Sans"/>
                <a:sym typeface="Open Sans"/>
              </a:rPr>
              <a:t>Tutor: </a:t>
            </a:r>
            <a:r>
              <a:rPr lang="en-US" sz="2740"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i="0" sz="10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"/>
          <p:cNvSpPr/>
          <p:nvPr/>
        </p:nvSpPr>
        <p:spPr>
          <a:xfrm>
            <a:off x="0" y="0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</a:t>
            </a:r>
            <a:r>
              <a:rPr b="1" lang="en-US" sz="8799"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2"/>
          <p:cNvSpPr txBox="1"/>
          <p:nvPr/>
        </p:nvSpPr>
        <p:spPr>
          <a:xfrm>
            <a:off x="6504150" y="4885500"/>
            <a:ext cx="52797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latin typeface="Open Sans"/>
                <a:ea typeface="Open Sans"/>
                <a:cs typeface="Open Sans"/>
                <a:sym typeface="Open Sans"/>
              </a:rPr>
              <a:t>Docker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ab178ca3a_0_19"/>
          <p:cNvSpPr/>
          <p:nvPr/>
        </p:nvSpPr>
        <p:spPr>
          <a:xfrm>
            <a:off x="4687137" y="2492771"/>
            <a:ext cx="9432094" cy="6765529"/>
          </a:xfrm>
          <a:custGeom>
            <a:rect b="b" l="l" r="r" t="t"/>
            <a:pathLst>
              <a:path extrusionOk="0" h="6765529" w="9432094">
                <a:moveTo>
                  <a:pt x="0" y="0"/>
                </a:moveTo>
                <a:lnTo>
                  <a:pt x="9432093" y="0"/>
                </a:lnTo>
                <a:lnTo>
                  <a:pt x="9432093" y="6765529"/>
                </a:lnTo>
                <a:lnTo>
                  <a:pt x="0" y="6765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g39ab178ca3a_0_19"/>
          <p:cNvSpPr/>
          <p:nvPr/>
        </p:nvSpPr>
        <p:spPr>
          <a:xfrm>
            <a:off x="3971429" y="612837"/>
            <a:ext cx="11301259" cy="2288505"/>
          </a:xfrm>
          <a:custGeom>
            <a:rect b="b" l="l" r="r" t="t"/>
            <a:pathLst>
              <a:path extrusionOk="0" h="2288505" w="11301259">
                <a:moveTo>
                  <a:pt x="0" y="0"/>
                </a:moveTo>
                <a:lnTo>
                  <a:pt x="11301259" y="0"/>
                </a:lnTo>
                <a:lnTo>
                  <a:pt x="11301259" y="2288505"/>
                </a:lnTo>
                <a:lnTo>
                  <a:pt x="0" y="228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g39ab178ca3a_0_19"/>
          <p:cNvSpPr/>
          <p:nvPr/>
        </p:nvSpPr>
        <p:spPr>
          <a:xfrm>
            <a:off x="314891" y="2901342"/>
            <a:ext cx="4961633" cy="4961633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g39ab178ca3a_0_19"/>
          <p:cNvSpPr/>
          <p:nvPr/>
        </p:nvSpPr>
        <p:spPr>
          <a:xfrm>
            <a:off x="5276524" y="317448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g39ab178ca3a_0_19"/>
          <p:cNvSpPr txBox="1"/>
          <p:nvPr/>
        </p:nvSpPr>
        <p:spPr>
          <a:xfrm>
            <a:off x="5954709" y="4328160"/>
            <a:ext cx="21411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Anuncio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4" name="Google Shape;234;g39ab178ca3a_0_19"/>
          <p:cNvSpPr txBox="1"/>
          <p:nvPr/>
        </p:nvSpPr>
        <p:spPr>
          <a:xfrm>
            <a:off x="5954709" y="3342711"/>
            <a:ext cx="21411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Anuncio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g39ab178ca3a_0_19"/>
          <p:cNvSpPr/>
          <p:nvPr/>
        </p:nvSpPr>
        <p:spPr>
          <a:xfrm>
            <a:off x="5276524" y="415805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g39ab178ca3a_0_19"/>
          <p:cNvSpPr/>
          <p:nvPr/>
        </p:nvSpPr>
        <p:spPr>
          <a:xfrm>
            <a:off x="5276524" y="525909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g39ab178ca3a_0_19"/>
          <p:cNvSpPr/>
          <p:nvPr/>
        </p:nvSpPr>
        <p:spPr>
          <a:xfrm>
            <a:off x="5276524" y="636014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g39ab178ca3a_0_19"/>
          <p:cNvSpPr/>
          <p:nvPr/>
        </p:nvSpPr>
        <p:spPr>
          <a:xfrm>
            <a:off x="5276524" y="746118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g39ab178ca3a_0_19"/>
          <p:cNvSpPr txBox="1"/>
          <p:nvPr/>
        </p:nvSpPr>
        <p:spPr>
          <a:xfrm>
            <a:off x="5954709" y="5448816"/>
            <a:ext cx="21411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Anuncio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g39ab178ca3a_0_19"/>
          <p:cNvSpPr txBox="1"/>
          <p:nvPr/>
        </p:nvSpPr>
        <p:spPr>
          <a:xfrm>
            <a:off x="5954709" y="6435606"/>
            <a:ext cx="21411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Anuncio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g39ab178ca3a_0_19"/>
          <p:cNvSpPr txBox="1"/>
          <p:nvPr/>
        </p:nvSpPr>
        <p:spPr>
          <a:xfrm>
            <a:off x="5954709" y="7555746"/>
            <a:ext cx="21411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Anuncio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ab178ca3a_0_35"/>
          <p:cNvSpPr/>
          <p:nvPr/>
        </p:nvSpPr>
        <p:spPr>
          <a:xfrm>
            <a:off x="4016947" y="3558803"/>
            <a:ext cx="9896507" cy="5913163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g39ab178ca3a_0_35"/>
          <p:cNvSpPr/>
          <p:nvPr/>
        </p:nvSpPr>
        <p:spPr>
          <a:xfrm>
            <a:off x="3493371" y="-625307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g39ab178ca3a_0_35"/>
          <p:cNvSpPr/>
          <p:nvPr/>
        </p:nvSpPr>
        <p:spPr>
          <a:xfrm>
            <a:off x="4875920" y="4090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g39ab178ca3a_0_35"/>
          <p:cNvSpPr txBox="1"/>
          <p:nvPr/>
        </p:nvSpPr>
        <p:spPr>
          <a:xfrm>
            <a:off x="5215012" y="4328160"/>
            <a:ext cx="21411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g39ab178ca3a_0_35"/>
          <p:cNvSpPr/>
          <p:nvPr/>
        </p:nvSpPr>
        <p:spPr>
          <a:xfrm>
            <a:off x="4875920" y="514350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g39ab178ca3a_0_35"/>
          <p:cNvSpPr txBox="1"/>
          <p:nvPr/>
        </p:nvSpPr>
        <p:spPr>
          <a:xfrm>
            <a:off x="5215012" y="5379556"/>
            <a:ext cx="21411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2" name="Google Shape;252;g39ab178ca3a_0_35"/>
          <p:cNvSpPr/>
          <p:nvPr/>
        </p:nvSpPr>
        <p:spPr>
          <a:xfrm>
            <a:off x="4875920" y="6194896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g39ab178ca3a_0_35"/>
          <p:cNvSpPr/>
          <p:nvPr/>
        </p:nvSpPr>
        <p:spPr>
          <a:xfrm>
            <a:off x="4875920" y="72483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g39ab178ca3a_0_35"/>
          <p:cNvSpPr/>
          <p:nvPr/>
        </p:nvSpPr>
        <p:spPr>
          <a:xfrm>
            <a:off x="4875920" y="830173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g39ab178ca3a_0_35"/>
          <p:cNvSpPr txBox="1"/>
          <p:nvPr/>
        </p:nvSpPr>
        <p:spPr>
          <a:xfrm>
            <a:off x="5215012" y="6385396"/>
            <a:ext cx="21411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g39ab178ca3a_0_35"/>
          <p:cNvSpPr txBox="1"/>
          <p:nvPr/>
        </p:nvSpPr>
        <p:spPr>
          <a:xfrm>
            <a:off x="5215012" y="7391236"/>
            <a:ext cx="21411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g39ab178ca3a_0_35"/>
          <p:cNvSpPr txBox="1"/>
          <p:nvPr/>
        </p:nvSpPr>
        <p:spPr>
          <a:xfrm>
            <a:off x="5215012" y="8444701"/>
            <a:ext cx="21411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ab178ca3a_0_50"/>
          <p:cNvSpPr/>
          <p:nvPr/>
        </p:nvSpPr>
        <p:spPr>
          <a:xfrm>
            <a:off x="0" y="0"/>
            <a:ext cx="18288000" cy="10447020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g39ab178ca3a_0_50"/>
          <p:cNvSpPr/>
          <p:nvPr/>
        </p:nvSpPr>
        <p:spPr>
          <a:xfrm>
            <a:off x="2888408" y="2581776"/>
            <a:ext cx="12511183" cy="3424936"/>
          </a:xfrm>
          <a:custGeom>
            <a:rect b="b" l="l" r="r" t="t"/>
            <a:pathLst>
              <a:path extrusionOk="0" h="3424936" w="12511183">
                <a:moveTo>
                  <a:pt x="0" y="0"/>
                </a:moveTo>
                <a:lnTo>
                  <a:pt x="12511184" y="0"/>
                </a:lnTo>
                <a:lnTo>
                  <a:pt x="12511184" y="3424937"/>
                </a:lnTo>
                <a:lnTo>
                  <a:pt x="0" y="342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g39ab178ca3a_0_50"/>
          <p:cNvSpPr txBox="1"/>
          <p:nvPr/>
        </p:nvSpPr>
        <p:spPr>
          <a:xfrm>
            <a:off x="5720825" y="3055088"/>
            <a:ext cx="84039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b="1" lang="en-US" sz="1500">
                <a:latin typeface="Open Sans"/>
                <a:ea typeface="Open Sans"/>
                <a:cs typeface="Open Sans"/>
                <a:sym typeface="Open Sans"/>
              </a:rPr>
              <a:t>El estudiante Analiza conceptos fundamentales de Docker Docker  						</a:t>
            </a:r>
            <a:endParaRPr b="1" sz="1500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b="1" lang="en-US" sz="1500">
                <a:latin typeface="Open Sans"/>
                <a:ea typeface="Open Sans"/>
                <a:cs typeface="Open Sans"/>
                <a:sym typeface="Open Sans"/>
              </a:rPr>
              <a:t>El estudiante Crea imágenes de Docker para empaquetar aplicaciones 						</a:t>
            </a:r>
            <a:endParaRPr b="1" sz="1500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b="1" lang="en-US" sz="1500">
                <a:latin typeface="Open Sans"/>
                <a:ea typeface="Open Sans"/>
                <a:cs typeface="Open Sans"/>
                <a:sym typeface="Open Sans"/>
              </a:rPr>
              <a:t>El estudiante Implementa contenedores Docker para despliegue de servicios 						</a:t>
            </a:r>
            <a:endParaRPr b="1" sz="1500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b="1" lang="en-US" sz="1500">
                <a:latin typeface="Open Sans"/>
                <a:ea typeface="Open Sans"/>
                <a:cs typeface="Open Sans"/>
                <a:sym typeface="Open Sans"/>
              </a:rPr>
              <a:t>El estudiante Utiliza Docker Compose Docker Compose para orquestación de múltiples contenedores 						</a:t>
            </a:r>
            <a:r>
              <a:rPr b="1" lang="en-US" sz="1500">
                <a:latin typeface="Open Sans"/>
                <a:ea typeface="Open Sans"/>
                <a:cs typeface="Open Sans"/>
                <a:sym typeface="Open Sans"/>
              </a:rPr>
              <a:t>					</a:t>
            </a: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			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ab178ca3a_0_56"/>
          <p:cNvSpPr txBox="1"/>
          <p:nvPr/>
        </p:nvSpPr>
        <p:spPr>
          <a:xfrm>
            <a:off x="1556675" y="2732550"/>
            <a:ext cx="15638700" cy="48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30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27"/>
              <a:buFont typeface="Arial"/>
              <a:buNone/>
            </a:pPr>
            <a:r>
              <a:rPr lang="en-US" sz="3027">
                <a:solidFill>
                  <a:srgbClr val="131416"/>
                </a:solidFill>
              </a:rPr>
              <a:t>En entornos DevOps con Docker, el trabajo colaborativo es constante: compartir imágenes, revisar Docker Compose de compañeros, reportar errores en contenedores. </a:t>
            </a:r>
            <a:endParaRPr sz="3027">
              <a:solidFill>
                <a:srgbClr val="131416"/>
              </a:solidFill>
            </a:endParaRPr>
          </a:p>
          <a:p>
            <a:pPr indent="0" lvl="0" marL="0" rtl="0" algn="just">
              <a:lnSpc>
                <a:spcPct val="1130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27"/>
              <a:buFont typeface="Arial"/>
              <a:buNone/>
            </a:pPr>
            <a:r>
              <a:t/>
            </a:r>
            <a:endParaRPr sz="3027">
              <a:solidFill>
                <a:srgbClr val="131416"/>
              </a:solidFill>
            </a:endParaRPr>
          </a:p>
          <a:p>
            <a:pPr indent="0" lvl="0" marL="0" rtl="0" algn="just">
              <a:lnSpc>
                <a:spcPct val="1130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27"/>
              <a:buFont typeface="Arial"/>
              <a:buNone/>
            </a:pPr>
            <a:r>
              <a:rPr lang="en-US" sz="3027">
                <a:solidFill>
                  <a:srgbClr val="131416"/>
                </a:solidFill>
              </a:rPr>
              <a:t>La amabilidad facilita la comunicación técnica, hace que las revisiones de código y configuraciones sean más constructivas, y construye la confianza necesaria para que un equipo de desarrollo e infraestructura funcione de manera efectiva.</a:t>
            </a:r>
            <a:r>
              <a:rPr lang="en-US" sz="3027">
                <a:solidFill>
                  <a:srgbClr val="131416"/>
                </a:solidFill>
              </a:rPr>
              <a:t>			</a:t>
            </a:r>
            <a:endParaRPr sz="3027">
              <a:solidFill>
                <a:srgbClr val="131416"/>
              </a:solidFill>
            </a:endParaRPr>
          </a:p>
          <a:p>
            <a:pPr indent="0" lvl="0" marL="0" rtl="0" algn="just">
              <a:lnSpc>
                <a:spcPct val="1130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27"/>
              <a:buFont typeface="Arial"/>
              <a:buNone/>
            </a:pPr>
            <a:r>
              <a:rPr lang="en-US" sz="3027">
                <a:solidFill>
                  <a:srgbClr val="131416"/>
                </a:solidFill>
              </a:rPr>
              <a:t>							</a:t>
            </a:r>
            <a:endParaRPr sz="3027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13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9"/>
              <a:buFont typeface="Arial"/>
              <a:buNone/>
            </a:pPr>
            <a:r>
              <a:t/>
            </a:r>
            <a:endParaRPr sz="3549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13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9"/>
              <a:buFont typeface="Arial"/>
              <a:buNone/>
            </a:pPr>
            <a:r>
              <a:t/>
            </a:r>
            <a:endParaRPr b="0" i="0" sz="324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9ab178ca3a_0_56"/>
          <p:cNvSpPr txBox="1"/>
          <p:nvPr/>
        </p:nvSpPr>
        <p:spPr>
          <a:xfrm>
            <a:off x="239234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 DE LA SEMANA: Amabilidad</a:t>
            </a:r>
            <a:endParaRPr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ab178ca3a_0_403"/>
          <p:cNvSpPr txBox="1"/>
          <p:nvPr>
            <p:ph type="ctrTitle"/>
          </p:nvPr>
        </p:nvSpPr>
        <p:spPr>
          <a:xfrm>
            <a:off x="6169575" y="3089775"/>
            <a:ext cx="10035000" cy="3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b="1" lang="en-US" sz="11900"/>
              <a:t>Docker</a:t>
            </a:r>
            <a:endParaRPr b="1" sz="11900"/>
          </a:p>
        </p:txBody>
      </p:sp>
      <p:pic>
        <p:nvPicPr>
          <p:cNvPr id="276" name="Google Shape;276;g39ab178ca3a_0_4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30834" y="6247575"/>
            <a:ext cx="4265991" cy="31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9ab178ca3a_0_403"/>
          <p:cNvSpPr txBox="1"/>
          <p:nvPr>
            <p:ph idx="1" type="subTitle"/>
          </p:nvPr>
        </p:nvSpPr>
        <p:spPr>
          <a:xfrm>
            <a:off x="6169575" y="5235375"/>
            <a:ext cx="6941400" cy="1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sz="2800"/>
              <a:t>Construye una vez.</a:t>
            </a:r>
            <a:endParaRPr sz="2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sz="2800"/>
              <a:t>Ejecuta en cualquier lugar.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ab178ca3a_0_409"/>
          <p:cNvSpPr txBox="1"/>
          <p:nvPr>
            <p:ph type="title"/>
          </p:nvPr>
        </p:nvSpPr>
        <p:spPr>
          <a:xfrm>
            <a:off x="2662000" y="603200"/>
            <a:ext cx="14077800" cy="1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-US"/>
              <a:t>El Problema que Resuelve Docker</a:t>
            </a:r>
            <a:endParaRPr b="1"/>
          </a:p>
        </p:txBody>
      </p:sp>
      <p:graphicFrame>
        <p:nvGraphicFramePr>
          <p:cNvPr id="283" name="Google Shape;283;g39ab178ca3a_0_409"/>
          <p:cNvGraphicFramePr/>
          <p:nvPr/>
        </p:nvGraphicFramePr>
        <p:xfrm>
          <a:off x="5356900" y="20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{68DBF856-1902-4871-9763-8E21BDC4DF07}</a:tableStyleId>
              </a:tblPr>
              <a:tblGrid>
                <a:gridCol w="3787100"/>
                <a:gridCol w="3787100"/>
              </a:tblGrid>
              <a:tr h="73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chemeClr val="lt1"/>
                          </a:solidFill>
                        </a:rPr>
                        <a:t>Desarrollador A</a:t>
                      </a:r>
                      <a:endParaRPr b="1"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chemeClr val="lt1"/>
                          </a:solidFill>
                        </a:rPr>
                        <a:t>Desarrollador B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73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lt1"/>
                          </a:solidFill>
                        </a:rPr>
                        <a:t>Node.js 20 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lt1"/>
                          </a:solidFill>
                        </a:rPr>
                        <a:t>Node.js 18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3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lt1"/>
                          </a:solidFill>
                        </a:rPr>
                        <a:t>PostgreSQL 15 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lt1"/>
                          </a:solidFill>
                        </a:rPr>
                        <a:t>PostgreSQL 14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3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lt1"/>
                          </a:solidFill>
                        </a:rPr>
                        <a:t>Ubuntu 22.04 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lt1"/>
                          </a:solidFill>
                        </a:rPr>
                        <a:t>Windows 11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3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lt1"/>
                          </a:solidFill>
                        </a:rPr>
                        <a:t>Puerto 5432 libre  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lt1"/>
                          </a:solidFill>
                        </a:rPr>
                        <a:t>Puerto 5432 ocupado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4" name="Google Shape;284;g39ab178ca3a_0_409"/>
          <p:cNvSpPr txBox="1"/>
          <p:nvPr>
            <p:ph type="title"/>
          </p:nvPr>
        </p:nvSpPr>
        <p:spPr>
          <a:xfrm>
            <a:off x="2662000" y="6124000"/>
            <a:ext cx="14077800" cy="29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-US" sz="2800"/>
              <a:t>"En mi máquina funciona." ← frase más costosa del desarrollo </a:t>
            </a:r>
            <a:endParaRPr b="1"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-US" sz="2800"/>
              <a:t>¿Qué pasa en producción? </a:t>
            </a:r>
            <a:endParaRPr b="1"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→ Servidor tiene Node.js 16, PostgreSQL 13, CentOS 7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→ La aplicación explota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-US" sz="2800"/>
              <a:t> </a:t>
            </a:r>
            <a:endParaRPr b="1"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-US" sz="2800"/>
              <a:t>SOLUCIÓN: Empaquetar la app con TODO lo que necesita. Eso es Docker.</a:t>
            </a:r>
            <a:endParaRPr b="1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9ab178ca3a_0_415"/>
          <p:cNvSpPr txBox="1"/>
          <p:nvPr>
            <p:ph type="title"/>
          </p:nvPr>
        </p:nvSpPr>
        <p:spPr>
          <a:xfrm>
            <a:off x="2595000" y="787500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-US"/>
              <a:t>¿Qué es Docker?</a:t>
            </a:r>
            <a:endParaRPr b="1"/>
          </a:p>
        </p:txBody>
      </p:sp>
      <p:sp>
        <p:nvSpPr>
          <p:cNvPr id="290" name="Google Shape;290;g39ab178ca3a_0_415"/>
          <p:cNvSpPr txBox="1"/>
          <p:nvPr>
            <p:ph idx="1" type="body"/>
          </p:nvPr>
        </p:nvSpPr>
        <p:spPr>
          <a:xfrm>
            <a:off x="2595000" y="2111100"/>
            <a:ext cx="14077800" cy="13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SzPts val="2600"/>
              <a:buNone/>
            </a:pPr>
            <a:r>
              <a:rPr lang="en-US" sz="2900"/>
              <a:t>Docker es una plataforma de código abierto para desarrollar, empaquetar y desplegar aplicaciones en contenedores.</a:t>
            </a:r>
            <a:endParaRPr sz="2900"/>
          </a:p>
        </p:txBody>
      </p:sp>
      <p:pic>
        <p:nvPicPr>
          <p:cNvPr id="291" name="Google Shape;291;g39ab178ca3a_0_4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5000" y="4017975"/>
            <a:ext cx="14077800" cy="575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ab178ca3a_0_421"/>
          <p:cNvSpPr txBox="1"/>
          <p:nvPr>
            <p:ph type="title"/>
          </p:nvPr>
        </p:nvSpPr>
        <p:spPr>
          <a:xfrm>
            <a:off x="2595000" y="787500"/>
            <a:ext cx="14077800" cy="11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CONCEPTOS FUNDAMENTALES</a:t>
            </a:r>
            <a:endParaRPr/>
          </a:p>
        </p:txBody>
      </p:sp>
      <p:sp>
        <p:nvSpPr>
          <p:cNvPr id="297" name="Google Shape;297;g39ab178ca3a_0_421"/>
          <p:cNvSpPr txBox="1"/>
          <p:nvPr>
            <p:ph idx="1" type="body"/>
          </p:nvPr>
        </p:nvSpPr>
        <p:spPr>
          <a:xfrm>
            <a:off x="407625" y="3066000"/>
            <a:ext cx="5395200" cy="50094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5880"/>
              </a:srgbClr>
            </a:outerShdw>
          </a:effectLst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en-US"/>
              <a:t>IMAGEN (Image) </a:t>
            </a:r>
            <a:endParaRPr b="1"/>
          </a:p>
          <a:p>
            <a:pPr indent="-3810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Plantilla de solo lectura que define el entorno. 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Contiene: OS base, runtime, dependencias, código.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Como una "foto" del sistema en un momento dado.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Se comparte y versiona en un Registry. </a:t>
            </a:r>
            <a:endParaRPr sz="2400"/>
          </a:p>
        </p:txBody>
      </p:sp>
      <p:sp>
        <p:nvSpPr>
          <p:cNvPr id="298" name="Google Shape;298;g39ab178ca3a_0_421"/>
          <p:cNvSpPr txBox="1"/>
          <p:nvPr>
            <p:ph idx="1" type="body"/>
          </p:nvPr>
        </p:nvSpPr>
        <p:spPr>
          <a:xfrm>
            <a:off x="6372075" y="3066000"/>
            <a:ext cx="5395200" cy="50094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5880"/>
              </a:srgbClr>
            </a:outerShdw>
          </a:effectLst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en-US"/>
              <a:t>CONTENEDOR (Container)</a:t>
            </a:r>
            <a:endParaRPr b="1"/>
          </a:p>
          <a:p>
            <a:pPr indent="-3810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 Una instancia ejecutándose de una imagen. 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Aislado del sistema host y de otros contenedores. 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Efímero: puede detenerse, reiniciarse o eliminarse. 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Como "correr" la foto.</a:t>
            </a:r>
            <a:endParaRPr sz="2400"/>
          </a:p>
        </p:txBody>
      </p:sp>
      <p:sp>
        <p:nvSpPr>
          <p:cNvPr id="299" name="Google Shape;299;g39ab178ca3a_0_421"/>
          <p:cNvSpPr txBox="1"/>
          <p:nvPr>
            <p:ph idx="1" type="body"/>
          </p:nvPr>
        </p:nvSpPr>
        <p:spPr>
          <a:xfrm>
            <a:off x="12336525" y="3066000"/>
            <a:ext cx="5395200" cy="50094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en-US"/>
              <a:t>REGISTRY</a:t>
            </a:r>
            <a:endParaRPr b="1"/>
          </a:p>
          <a:p>
            <a:pPr indent="-3810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Repositorio donde se almacenan y distribuyen imágenes. 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Docker Hub: el registry público oficial. 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También: GitHub Container Registry, AWS ECR, etc.</a:t>
            </a:r>
            <a:endParaRPr sz="2400"/>
          </a:p>
        </p:txBody>
      </p:sp>
      <p:sp>
        <p:nvSpPr>
          <p:cNvPr id="300" name="Google Shape;300;g39ab178ca3a_0_421"/>
          <p:cNvSpPr txBox="1"/>
          <p:nvPr>
            <p:ph type="title"/>
          </p:nvPr>
        </p:nvSpPr>
        <p:spPr>
          <a:xfrm>
            <a:off x="3670950" y="8372800"/>
            <a:ext cx="10946100" cy="11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200"/>
              <a:t>  Imagen : Contenedor = Clase : Objeto</a:t>
            </a:r>
            <a:endParaRPr sz="4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ab178ca3a_0_429"/>
          <p:cNvSpPr txBox="1"/>
          <p:nvPr>
            <p:ph type="title"/>
          </p:nvPr>
        </p:nvSpPr>
        <p:spPr>
          <a:xfrm>
            <a:off x="2595000" y="787500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DOCKER vs MÁQUINAS VIRTUALES</a:t>
            </a:r>
            <a:endParaRPr/>
          </a:p>
        </p:txBody>
      </p:sp>
      <p:sp>
        <p:nvSpPr>
          <p:cNvPr id="306" name="Google Shape;306;g39ab178ca3a_0_429"/>
          <p:cNvSpPr txBox="1"/>
          <p:nvPr>
            <p:ph idx="1" type="body"/>
          </p:nvPr>
        </p:nvSpPr>
        <p:spPr>
          <a:xfrm>
            <a:off x="2095300" y="7474425"/>
            <a:ext cx="5527800" cy="24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Cada VM carga un OS completo.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Arranque: minutos.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Tamaño: GB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Aislamiento: total.</a:t>
            </a:r>
            <a:endParaRPr/>
          </a:p>
        </p:txBody>
      </p:sp>
      <p:sp>
        <p:nvSpPr>
          <p:cNvPr id="307" name="Google Shape;307;g39ab178ca3a_0_429"/>
          <p:cNvSpPr txBox="1"/>
          <p:nvPr>
            <p:ph idx="1" type="body"/>
          </p:nvPr>
        </p:nvSpPr>
        <p:spPr>
          <a:xfrm>
            <a:off x="3391350" y="2230950"/>
            <a:ext cx="35799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SzPts val="2600"/>
              <a:buNone/>
            </a:pPr>
            <a:r>
              <a:rPr lang="en-US" sz="3000"/>
              <a:t>Maquina Virtual</a:t>
            </a:r>
            <a:endParaRPr sz="3000"/>
          </a:p>
        </p:txBody>
      </p:sp>
      <p:sp>
        <p:nvSpPr>
          <p:cNvPr id="308" name="Google Shape;308;g39ab178ca3a_0_429"/>
          <p:cNvSpPr txBox="1"/>
          <p:nvPr>
            <p:ph idx="1" type="body"/>
          </p:nvPr>
        </p:nvSpPr>
        <p:spPr>
          <a:xfrm>
            <a:off x="12505450" y="2230950"/>
            <a:ext cx="24669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SzPts val="2600"/>
              <a:buNone/>
            </a:pPr>
            <a:r>
              <a:rPr lang="en-US" sz="3000"/>
              <a:t>DOCKER</a:t>
            </a:r>
            <a:endParaRPr sz="3000"/>
          </a:p>
        </p:txBody>
      </p:sp>
      <p:sp>
        <p:nvSpPr>
          <p:cNvPr id="309" name="Google Shape;309;g39ab178ca3a_0_429"/>
          <p:cNvSpPr txBox="1"/>
          <p:nvPr>
            <p:ph idx="1" type="body"/>
          </p:nvPr>
        </p:nvSpPr>
        <p:spPr>
          <a:xfrm>
            <a:off x="10975000" y="7474425"/>
            <a:ext cx="5527800" cy="24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Comparte el kernel del host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Arranque: segundos.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Tamaño: MB.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Aislamiento: procesos</a:t>
            </a:r>
            <a:endParaRPr/>
          </a:p>
        </p:txBody>
      </p:sp>
      <p:pic>
        <p:nvPicPr>
          <p:cNvPr id="310" name="Google Shape;310;g39ab178ca3a_0_429"/>
          <p:cNvPicPr preferRelativeResize="0"/>
          <p:nvPr/>
        </p:nvPicPr>
        <p:blipFill rotWithShape="1">
          <a:blip r:embed="rId3">
            <a:alphaModFix/>
          </a:blip>
          <a:srcRect b="0" l="0" r="49817" t="0"/>
          <a:stretch/>
        </p:blipFill>
        <p:spPr>
          <a:xfrm>
            <a:off x="2595000" y="3386775"/>
            <a:ext cx="6461176" cy="3977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39ab178ca3a_0_429"/>
          <p:cNvPicPr preferRelativeResize="0"/>
          <p:nvPr/>
        </p:nvPicPr>
        <p:blipFill rotWithShape="1">
          <a:blip r:embed="rId3">
            <a:alphaModFix/>
          </a:blip>
          <a:srcRect b="0" l="47674" r="-5" t="28515"/>
          <a:stretch/>
        </p:blipFill>
        <p:spPr>
          <a:xfrm>
            <a:off x="11266725" y="3429000"/>
            <a:ext cx="4828577" cy="389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ab178ca3a_0_439"/>
          <p:cNvSpPr txBox="1"/>
          <p:nvPr>
            <p:ph type="title"/>
          </p:nvPr>
        </p:nvSpPr>
        <p:spPr>
          <a:xfrm>
            <a:off x="2595000" y="394000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 Instalación y Comandos</a:t>
            </a:r>
            <a:endParaRPr/>
          </a:p>
        </p:txBody>
      </p:sp>
      <p:sp>
        <p:nvSpPr>
          <p:cNvPr id="317" name="Google Shape;317;g39ab178ca3a_0_439"/>
          <p:cNvSpPr txBox="1"/>
          <p:nvPr>
            <p:ph idx="1" type="body"/>
          </p:nvPr>
        </p:nvSpPr>
        <p:spPr>
          <a:xfrm>
            <a:off x="2723350" y="1862600"/>
            <a:ext cx="11985600" cy="1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SzPts val="2600"/>
              <a:buNone/>
            </a:pPr>
            <a:r>
              <a:rPr lang="en-US"/>
              <a:t>Descargar Docker Desktop desde: https://docker.com </a:t>
            </a:r>
            <a:endParaRPr/>
          </a:p>
        </p:txBody>
      </p:sp>
      <p:pic>
        <p:nvPicPr>
          <p:cNvPr id="318" name="Google Shape;318;g39ab178ca3a_0_4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6600" y="2858150"/>
            <a:ext cx="10127776" cy="694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ab178ca3a_0_445"/>
          <p:cNvSpPr txBox="1"/>
          <p:nvPr>
            <p:ph type="ctrTitle"/>
          </p:nvPr>
        </p:nvSpPr>
        <p:spPr>
          <a:xfrm>
            <a:off x="6275500" y="1562025"/>
            <a:ext cx="11329200" cy="3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 CREACIÓN Y GESTIÓN DE IMÁGENES</a:t>
            </a:r>
            <a:endParaRPr/>
          </a:p>
        </p:txBody>
      </p:sp>
      <p:pic>
        <p:nvPicPr>
          <p:cNvPr id="324" name="Google Shape;324;g39ab178ca3a_0_4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1087" y="4852525"/>
            <a:ext cx="8198025" cy="43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ab178ca3a_0_450"/>
          <p:cNvSpPr txBox="1"/>
          <p:nvPr>
            <p:ph type="title"/>
          </p:nvPr>
        </p:nvSpPr>
        <p:spPr>
          <a:xfrm>
            <a:off x="2595000" y="787500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US"/>
              <a:t>DOCKERFILE 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Receta para construir una imagen</a:t>
            </a:r>
            <a:endParaRPr/>
          </a:p>
        </p:txBody>
      </p:sp>
      <p:pic>
        <p:nvPicPr>
          <p:cNvPr id="330" name="Google Shape;330;g39ab178ca3a_0_4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4675" y="4390775"/>
            <a:ext cx="10438450" cy="515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9ab178ca3a_0_450"/>
          <p:cNvSpPr txBox="1"/>
          <p:nvPr/>
        </p:nvSpPr>
        <p:spPr>
          <a:xfrm>
            <a:off x="5115725" y="2905488"/>
            <a:ext cx="845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 archivo de texto con instrucciones paso a paso.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ab178ca3a_0_456"/>
          <p:cNvSpPr txBox="1"/>
          <p:nvPr>
            <p:ph type="title"/>
          </p:nvPr>
        </p:nvSpPr>
        <p:spPr>
          <a:xfrm>
            <a:off x="2595000" y="1201725"/>
            <a:ext cx="140778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600"/>
              <a:buNone/>
            </a:pPr>
            <a:r>
              <a:rPr b="1" lang="en-US" sz="4911"/>
              <a:t> Instrucciones del Dockerfile</a:t>
            </a:r>
            <a:endParaRPr b="1" sz="4911"/>
          </a:p>
        </p:txBody>
      </p:sp>
      <p:sp>
        <p:nvSpPr>
          <p:cNvPr id="337" name="Google Shape;337;g39ab178ca3a_0_456"/>
          <p:cNvSpPr txBox="1"/>
          <p:nvPr>
            <p:ph idx="1" type="body"/>
          </p:nvPr>
        </p:nvSpPr>
        <p:spPr>
          <a:xfrm>
            <a:off x="2595000" y="3135100"/>
            <a:ext cx="14077800" cy="6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 FROM &lt;imagen&gt;:&lt;tag&gt; Base de la imagen. Siempre primera. 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WORKDIR &lt;ruta&gt; Establece el directorio de trabajo. 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COPY &lt;src&gt; &lt;dst&gt; Copia archivos del host al contenedor. 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ADD &lt;src&gt; &lt;dst&gt; Como COPY pero descomprime .tar.gz. 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RUN &lt;comando&gt; Ejecuta durante el BUILD de la imagen. 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CMD ["cmd","arg"] Comando por defecto al iniciar. 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ENTRYPOINT ["cmd"] Comando fijo (CMD es sus argumentos). 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EXPOSE &lt;puerto&gt; Documenta qué puerto usa la app. 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ENV &lt;nombre&gt;=&lt;valor&gt; Variables de entorno.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ARG &lt;nombre&gt; Variable solo disponible durante build. 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VOLUME &lt;ruta&gt; Punto de montaje para datos persistentes. 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USER &lt;usuario&gt; Cambia el usuario para los siguientes RUN/CMD.</a:t>
            </a:r>
            <a:endParaRPr sz="2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9ab178ca3a_0_461"/>
          <p:cNvSpPr txBox="1"/>
          <p:nvPr>
            <p:ph type="title"/>
          </p:nvPr>
        </p:nvSpPr>
        <p:spPr>
          <a:xfrm>
            <a:off x="2677850" y="1015325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Construir y Etiquetar Imágenes</a:t>
            </a:r>
            <a:endParaRPr/>
          </a:p>
        </p:txBody>
      </p:sp>
      <p:sp>
        <p:nvSpPr>
          <p:cNvPr id="343" name="Google Shape;343;g39ab178ca3a_0_461"/>
          <p:cNvSpPr txBox="1"/>
          <p:nvPr>
            <p:ph idx="1" type="body"/>
          </p:nvPr>
        </p:nvSpPr>
        <p:spPr>
          <a:xfrm>
            <a:off x="812850" y="3272375"/>
            <a:ext cx="7844400" cy="56127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Construir desde el directorio actual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600"/>
              <a:buNone/>
            </a:pPr>
            <a:r>
              <a:rPr lang="en-US"/>
              <a:t>docker build -t task-api:1.0.0 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600"/>
              <a:buNone/>
            </a:pPr>
            <a:r>
              <a:rPr b="1" lang="en-US"/>
              <a:t> Estructura del tag: </a:t>
            </a:r>
            <a:endParaRPr b="1"/>
          </a:p>
          <a:p>
            <a:pPr indent="-3937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task-api → nombre de la imagen 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1.0.0 → versión (tag) 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 . → contexto de build (directorio actual)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600"/>
              <a:buNone/>
            </a:pPr>
            <a:r>
              <a:rPr lang="en-US"/>
              <a:t>Construir con múltiples tags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SzPts val="2600"/>
              <a:buNone/>
            </a:pPr>
            <a:r>
              <a:rPr lang="en-US"/>
              <a:t>docker build -t task-api:1.0.0 -t task-api:latest . </a:t>
            </a:r>
            <a:endParaRPr/>
          </a:p>
        </p:txBody>
      </p:sp>
      <p:sp>
        <p:nvSpPr>
          <p:cNvPr id="344" name="Google Shape;344;g39ab178ca3a_0_461"/>
          <p:cNvSpPr txBox="1"/>
          <p:nvPr>
            <p:ph idx="1" type="body"/>
          </p:nvPr>
        </p:nvSpPr>
        <p:spPr>
          <a:xfrm>
            <a:off x="8959775" y="3272375"/>
            <a:ext cx="8251200" cy="56127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en-US"/>
              <a:t>LISTAR Y ELIMINAR IMÁGENES: </a:t>
            </a:r>
            <a:endParaRPr b="1"/>
          </a:p>
          <a:p>
            <a:pPr indent="-3937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docker images → Ver todas las imágenes 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docker image inspect task-api → Detalles de una imagen 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docker rmi task-api:1.0.0 → Eliminar por tag 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docker image prune → Eliminar imágenes sin usar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600"/>
              <a:buNone/>
            </a:pPr>
            <a:r>
              <a:rPr lang="en-US"/>
              <a:t>BUENAS PRÁCTICAS DE VERSIONADO: 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task-api:1.0.0 → versión específica (inmutable) 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task-api:1.0 → minor version más reciente 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task-api:latest → última versión estable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ab178ca3a_0_467"/>
          <p:cNvSpPr txBox="1"/>
          <p:nvPr>
            <p:ph type="title"/>
          </p:nvPr>
        </p:nvSpPr>
        <p:spPr>
          <a:xfrm>
            <a:off x="2595000" y="787500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.dockerignore y Optimización de Capas</a:t>
            </a:r>
            <a:endParaRPr/>
          </a:p>
        </p:txBody>
      </p:sp>
      <p:sp>
        <p:nvSpPr>
          <p:cNvPr id="350" name="Google Shape;350;g39ab178ca3a_0_467"/>
          <p:cNvSpPr txBox="1"/>
          <p:nvPr>
            <p:ph idx="1" type="body"/>
          </p:nvPr>
        </p:nvSpPr>
        <p:spPr>
          <a:xfrm>
            <a:off x="278150" y="3135100"/>
            <a:ext cx="5210400" cy="33759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en-US" sz="2200"/>
              <a:t>.dockerignore — Excluir archivos del contexto de build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/>
              <a:t>Reduce el contexto de build (más rápido) 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/>
              <a:t>Evita enviar secretos al daemon de Docker 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/>
              <a:t>Evita sobrescribir node_modules del contenedor </a:t>
            </a:r>
            <a:endParaRPr sz="2200"/>
          </a:p>
        </p:txBody>
      </p:sp>
      <p:sp>
        <p:nvSpPr>
          <p:cNvPr id="351" name="Google Shape;351;g39ab178ca3a_0_467"/>
          <p:cNvSpPr txBox="1"/>
          <p:nvPr>
            <p:ph idx="2" type="body"/>
          </p:nvPr>
        </p:nvSpPr>
        <p:spPr>
          <a:xfrm>
            <a:off x="11722613" y="3135100"/>
            <a:ext cx="5819700" cy="8829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5556"/>
              <a:buNone/>
            </a:pPr>
            <a:r>
              <a:rPr b="1" lang="en-US" sz="9000"/>
              <a:t>MULTI-STAGE BUILD</a:t>
            </a:r>
            <a:r>
              <a:rPr lang="en-US" sz="9000"/>
              <a:t> (imagen final más pequeña): </a:t>
            </a:r>
            <a:endParaRPr sz="90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SzPts val="2600"/>
              <a:buNone/>
            </a:pPr>
            <a:r>
              <a:t/>
            </a:r>
            <a:endParaRPr/>
          </a:p>
        </p:txBody>
      </p:sp>
      <p:pic>
        <p:nvPicPr>
          <p:cNvPr id="352" name="Google Shape;352;g39ab178ca3a_0_4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2550" y="4305800"/>
            <a:ext cx="5819825" cy="550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g39ab178ca3a_0_467"/>
          <p:cNvPicPr preferRelativeResize="0"/>
          <p:nvPr/>
        </p:nvPicPr>
        <p:blipFill rotWithShape="1">
          <a:blip r:embed="rId4">
            <a:alphaModFix/>
          </a:blip>
          <a:srcRect b="0" l="0" r="29319" t="0"/>
          <a:stretch/>
        </p:blipFill>
        <p:spPr>
          <a:xfrm>
            <a:off x="278151" y="6896350"/>
            <a:ext cx="5210400" cy="2915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9ab178ca3a_0_467"/>
          <p:cNvSpPr txBox="1"/>
          <p:nvPr>
            <p:ph idx="1" type="body"/>
          </p:nvPr>
        </p:nvSpPr>
        <p:spPr>
          <a:xfrm>
            <a:off x="6083250" y="3135100"/>
            <a:ext cx="5210400" cy="6677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en-US" sz="2200"/>
              <a:t>OPTIMIZACIÓN DE CAPAS (orden importa):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200"/>
              <a:buChar char="●"/>
            </a:pPr>
            <a:r>
              <a:rPr b="1" lang="en-US" sz="2200"/>
              <a:t>Bien:</a:t>
            </a:r>
            <a:endParaRPr b="1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US"/>
              <a:t>COPY package*.json ./ </a:t>
            </a:r>
            <a:endParaRPr b="1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US"/>
              <a:t>RUN npm ci  </a:t>
            </a:r>
            <a:endParaRPr b="1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US"/>
              <a:t>COPY . .  </a:t>
            </a:r>
            <a:endParaRPr b="1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b="1" lang="en-US"/>
              <a:t>Mal </a:t>
            </a:r>
            <a:endParaRPr b="1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US"/>
              <a:t>COPY . .</a:t>
            </a:r>
            <a:endParaRPr b="1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US"/>
              <a:t>RUN npm ci</a:t>
            </a:r>
            <a:endParaRPr b="1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US"/>
              <a:t>(cualquier cambio en src/ invalida el caché de npm)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ab178ca3a_0_476"/>
          <p:cNvSpPr txBox="1"/>
          <p:nvPr>
            <p:ph type="title"/>
          </p:nvPr>
        </p:nvSpPr>
        <p:spPr>
          <a:xfrm>
            <a:off x="2595000" y="787500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DOCKER RUN — OPCIONES ESENCIALES</a:t>
            </a:r>
            <a:endParaRPr/>
          </a:p>
        </p:txBody>
      </p:sp>
      <p:sp>
        <p:nvSpPr>
          <p:cNvPr id="360" name="Google Shape;360;g39ab178ca3a_0_476"/>
          <p:cNvSpPr txBox="1"/>
          <p:nvPr>
            <p:ph idx="1" type="body"/>
          </p:nvPr>
        </p:nvSpPr>
        <p:spPr>
          <a:xfrm>
            <a:off x="1857825" y="2615700"/>
            <a:ext cx="7005000" cy="6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-US"/>
              <a:t>docker run [opciones] &lt;imagen&gt; [comando]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-d, --detach         Ejecutar en background (detached)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-p, --publish        Mapear puertos host:contenedor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-e, --env            Variable de entorno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--env-file           Archivo con variables de entorno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--name               Nombre del contenedor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-v, --volume         Montar volumen o directorio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--rm                 Eliminar contenedor al detenerse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--network            Red de Docker a usar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-it                  Modo interactivo (terminal)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--restart            Política de reinicio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SzPct val="108108"/>
              <a:buNone/>
            </a:pPr>
            <a:r>
              <a:t/>
            </a:r>
            <a:endParaRPr/>
          </a:p>
        </p:txBody>
      </p:sp>
      <p:pic>
        <p:nvPicPr>
          <p:cNvPr id="361" name="Google Shape;361;g39ab178ca3a_0_4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64475" y="4186225"/>
            <a:ext cx="8779125" cy="281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9ab178ca3a_0_476"/>
          <p:cNvSpPr txBox="1"/>
          <p:nvPr>
            <p:ph idx="1" type="body"/>
          </p:nvPr>
        </p:nvSpPr>
        <p:spPr>
          <a:xfrm>
            <a:off x="9784375" y="2967163"/>
            <a:ext cx="21780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5246"/>
              <a:buNone/>
            </a:pPr>
            <a:r>
              <a:rPr lang="en-US" sz="12200"/>
              <a:t>Ejemplo: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ab178ca3a_0_483"/>
          <p:cNvSpPr txBox="1"/>
          <p:nvPr>
            <p:ph type="title"/>
          </p:nvPr>
        </p:nvSpPr>
        <p:spPr>
          <a:xfrm>
            <a:off x="2595000" y="787500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CICLO DE VIDA DEL CONTENEDOR</a:t>
            </a:r>
            <a:endParaRPr/>
          </a:p>
        </p:txBody>
      </p:sp>
      <p:sp>
        <p:nvSpPr>
          <p:cNvPr id="368" name="Google Shape;368;g39ab178ca3a_0_483"/>
          <p:cNvSpPr txBox="1"/>
          <p:nvPr>
            <p:ph idx="1" type="body"/>
          </p:nvPr>
        </p:nvSpPr>
        <p:spPr>
          <a:xfrm>
            <a:off x="418850" y="2730925"/>
            <a:ext cx="8796000" cy="6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b="1" lang="en-US"/>
              <a:t>COMANDOS DE GESTIÓN:</a:t>
            </a:r>
            <a:endParaRPr b="1"/>
          </a:p>
          <a:p>
            <a:pPr indent="-381318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docker start &lt;nombre&gt;      → Iniciar contenedor detenido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docker stop &lt;nombre&gt;       → Detener gracefully (SIGTERM)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docker kill &lt;nombre&gt;       → Detener forzado (SIGKILL)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docker restart &lt;nombre&gt;    → Detener y reiniciar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docker pause &lt;nombre&gt;      → Pausar (congela el proceso)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docker unpause &lt;nombre&gt;    → Reanudar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ct val="108108"/>
              <a:buNone/>
            </a:pPr>
            <a:r>
              <a:rPr b="1" lang="en-US"/>
              <a:t>INSPECCIÓN Y DIAGNÓSTICO:</a:t>
            </a:r>
            <a:endParaRPr b="1"/>
          </a:p>
          <a:p>
            <a:pPr indent="-381318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docker logs &lt;nombre&gt;          → Ver logs del contenedor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docker logs -f &lt;nombre&gt;       → Seguir logs en tiempo real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docker stats                  → Uso de CPU/RAM en tiempo real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docker inspect &lt;nombre&gt;       → Configuración completa en JSON</a:t>
            </a:r>
            <a:endParaRPr/>
          </a:p>
          <a:p>
            <a:pPr indent="-3813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  docker exec -it &lt;nombre&gt; sh   → Abrir terminal dentro</a:t>
            </a:r>
            <a:endParaRPr/>
          </a:p>
        </p:txBody>
      </p:sp>
      <p:pic>
        <p:nvPicPr>
          <p:cNvPr id="369" name="Google Shape;369;g39ab178ca3a_0_4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85425" y="2781125"/>
            <a:ext cx="7907900" cy="648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9ab178ca3a_0_489"/>
          <p:cNvSpPr txBox="1"/>
          <p:nvPr>
            <p:ph type="title"/>
          </p:nvPr>
        </p:nvSpPr>
        <p:spPr>
          <a:xfrm>
            <a:off x="2595000" y="787500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VOLÚMENES — DATOS PERSISTENTES</a:t>
            </a:r>
            <a:endParaRPr/>
          </a:p>
        </p:txBody>
      </p:sp>
      <p:sp>
        <p:nvSpPr>
          <p:cNvPr id="375" name="Google Shape;375;g39ab178ca3a_0_489"/>
          <p:cNvSpPr txBox="1"/>
          <p:nvPr>
            <p:ph idx="1" type="body"/>
          </p:nvPr>
        </p:nvSpPr>
        <p:spPr>
          <a:xfrm>
            <a:off x="1565638" y="2782625"/>
            <a:ext cx="7775700" cy="14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SzPct val="108108"/>
              <a:buNone/>
            </a:pPr>
            <a:r>
              <a:rPr lang="en-US"/>
              <a:t>PROBLEMA: Los contenedores son efímeros. Al eliminar un contenedor, sus datos desaparecen. SOLUCIÓN: Volúmenes</a:t>
            </a:r>
            <a:endParaRPr/>
          </a:p>
        </p:txBody>
      </p:sp>
      <p:graphicFrame>
        <p:nvGraphicFramePr>
          <p:cNvPr id="376" name="Google Shape;376;g39ab178ca3a_0_489"/>
          <p:cNvGraphicFramePr/>
          <p:nvPr/>
        </p:nvGraphicFramePr>
        <p:xfrm>
          <a:off x="1341613" y="439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{68DBF856-1902-4871-9763-8E21BDC4DF07}</a:tableStyleId>
              </a:tblPr>
              <a:tblGrid>
                <a:gridCol w="1722450"/>
                <a:gridCol w="5596575"/>
              </a:tblGrid>
              <a:tr h="65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Tipo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Descripción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43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Named Volume 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docker volume create db-data 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-355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Gestionado por Docker. 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-355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Persiste entre contenedores.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43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Bind Mount 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 -v /host/path:/container/path 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-355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 Sincroniza directorio del host. 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-355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Útil en desarrollo (hot reload). 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41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tmpfs Mount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-- tmpfs /app/temp 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-355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Solo en memoria, no persiste.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77" name="Google Shape;377;g39ab178ca3a_0_4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4800" y="3278225"/>
            <a:ext cx="7137225" cy="552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ab178ca3a_0_496"/>
          <p:cNvSpPr txBox="1"/>
          <p:nvPr>
            <p:ph type="title"/>
          </p:nvPr>
        </p:nvSpPr>
        <p:spPr>
          <a:xfrm>
            <a:off x="2595000" y="787500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Docker Compose</a:t>
            </a:r>
            <a:endParaRPr/>
          </a:p>
        </p:txBody>
      </p:sp>
      <p:sp>
        <p:nvSpPr>
          <p:cNvPr id="383" name="Google Shape;383;g39ab178ca3a_0_496"/>
          <p:cNvSpPr txBox="1"/>
          <p:nvPr>
            <p:ph idx="1" type="body"/>
          </p:nvPr>
        </p:nvSpPr>
        <p:spPr>
          <a:xfrm>
            <a:off x="2595000" y="2099775"/>
            <a:ext cx="13539300" cy="14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SzPts val="523"/>
              <a:buNone/>
            </a:pPr>
            <a:r>
              <a:rPr lang="en-US" sz="2749"/>
              <a:t>Docker Compose es una herramienta que permite definir y ejecutar aplicaciones multicontenedor usando un solo archivo YAML (docker-compose.yml).</a:t>
            </a:r>
            <a:endParaRPr sz="735"/>
          </a:p>
        </p:txBody>
      </p:sp>
      <p:pic>
        <p:nvPicPr>
          <p:cNvPr id="384" name="Google Shape;384;g39ab178ca3a_0_4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725" y="4495300"/>
            <a:ext cx="7456550" cy="561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39ab178ca3a_0_496"/>
          <p:cNvPicPr preferRelativeResize="0"/>
          <p:nvPr/>
        </p:nvPicPr>
        <p:blipFill rotWithShape="1">
          <a:blip r:embed="rId4">
            <a:alphaModFix/>
          </a:blip>
          <a:srcRect b="0" l="0" r="0" t="2856"/>
          <a:stretch/>
        </p:blipFill>
        <p:spPr>
          <a:xfrm>
            <a:off x="9300150" y="4495300"/>
            <a:ext cx="7841774" cy="561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9ab178ca3a_0_496"/>
          <p:cNvSpPr txBox="1"/>
          <p:nvPr>
            <p:ph idx="1" type="body"/>
          </p:nvPr>
        </p:nvSpPr>
        <p:spPr>
          <a:xfrm>
            <a:off x="843725" y="3585375"/>
            <a:ext cx="35733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SzPts val="523"/>
              <a:buNone/>
            </a:pPr>
            <a:r>
              <a:rPr lang="en-US" sz="2749"/>
              <a:t>Comandos Básicos:</a:t>
            </a:r>
            <a:endParaRPr sz="735"/>
          </a:p>
        </p:txBody>
      </p:sp>
      <p:sp>
        <p:nvSpPr>
          <p:cNvPr id="387" name="Google Shape;387;g39ab178ca3a_0_496"/>
          <p:cNvSpPr txBox="1"/>
          <p:nvPr>
            <p:ph idx="1" type="body"/>
          </p:nvPr>
        </p:nvSpPr>
        <p:spPr>
          <a:xfrm>
            <a:off x="9300150" y="3585375"/>
            <a:ext cx="35733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7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SzPts val="366"/>
              <a:buNone/>
            </a:pPr>
            <a:r>
              <a:rPr lang="en-US" sz="2749"/>
              <a:t>Ejemplo docker-compose.yml</a:t>
            </a:r>
            <a:endParaRPr sz="735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g39ab178ca3a_0_5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813" y="1529775"/>
            <a:ext cx="14894374" cy="722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ab178ca3a_0_509"/>
          <p:cNvSpPr txBox="1"/>
          <p:nvPr>
            <p:ph type="title"/>
          </p:nvPr>
        </p:nvSpPr>
        <p:spPr>
          <a:xfrm>
            <a:off x="2595000" y="787500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¿Qué es un Container Registry?</a:t>
            </a:r>
            <a:endParaRPr/>
          </a:p>
        </p:txBody>
      </p:sp>
      <p:sp>
        <p:nvSpPr>
          <p:cNvPr id="398" name="Google Shape;398;g39ab178ca3a_0_509"/>
          <p:cNvSpPr txBox="1"/>
          <p:nvPr>
            <p:ph idx="1" type="body"/>
          </p:nvPr>
        </p:nvSpPr>
        <p:spPr>
          <a:xfrm>
            <a:off x="1895100" y="2282375"/>
            <a:ext cx="101064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Servicio para almacenar, versionar y distribuir imágenes Docker.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SzPts val="2600"/>
              <a:buNone/>
            </a:pPr>
            <a:r>
              <a:rPr lang="en-US"/>
              <a:t>ES PARA IMÁGENES lo que GitHub es para código fuente.</a:t>
            </a:r>
            <a:endParaRPr/>
          </a:p>
        </p:txBody>
      </p:sp>
      <p:pic>
        <p:nvPicPr>
          <p:cNvPr id="399" name="Google Shape;399;g39ab178ca3a_0_5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7075" y="4110575"/>
            <a:ext cx="9105814" cy="563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39ab178ca3a_0_509"/>
          <p:cNvSpPr txBox="1"/>
          <p:nvPr>
            <p:ph idx="1" type="body"/>
          </p:nvPr>
        </p:nvSpPr>
        <p:spPr>
          <a:xfrm>
            <a:off x="10890150" y="4110575"/>
            <a:ext cx="7059600" cy="54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REGISTRIES PRINCIPALES: 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 Docker Hub hub.docker.com (público y gratuito) 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 GitHub GHCR ghcr.io (integrado con GitHub Actions) 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AWS ECR *.amazonaws.com (privado, para AWS)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 Google GCR gcr.io (privado, para GCP) 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Registry privado registry:2 (imagen oficial de Docker)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9ab178ca3a_0_516"/>
          <p:cNvSpPr txBox="1"/>
          <p:nvPr>
            <p:ph type="title"/>
          </p:nvPr>
        </p:nvSpPr>
        <p:spPr>
          <a:xfrm>
            <a:off x="2595000" y="787500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Trabajar con Docker Hub y GHCR</a:t>
            </a:r>
            <a:endParaRPr/>
          </a:p>
        </p:txBody>
      </p:sp>
      <p:sp>
        <p:nvSpPr>
          <p:cNvPr id="406" name="Google Shape;406;g39ab178ca3a_0_516"/>
          <p:cNvSpPr txBox="1"/>
          <p:nvPr>
            <p:ph idx="1" type="body"/>
          </p:nvPr>
        </p:nvSpPr>
        <p:spPr>
          <a:xfrm>
            <a:off x="819050" y="3135100"/>
            <a:ext cx="7893000" cy="58224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DOCKER HUB — Flujo de trabajo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600"/>
              <a:buAutoNum type="arabicPeriod"/>
            </a:pPr>
            <a:r>
              <a:rPr lang="en-US"/>
              <a:t>Iniciar sesión</a:t>
            </a:r>
            <a:endParaRPr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en-US"/>
              <a:t> $docker login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US"/>
              <a:t>Etiquetar la imagen con tu usuario</a:t>
            </a:r>
            <a:endParaRPr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en-US"/>
              <a:t>$docker tag task-api:1.0.0 tuusuario/task-api:1.0.0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US"/>
              <a:t>Subir la imagen</a:t>
            </a:r>
            <a:endParaRPr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en-US"/>
              <a:t>$docker push tuusuario/task-api:1.0.0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US"/>
              <a:t>Desde cualquier servidor o equipo:</a:t>
            </a:r>
            <a:endParaRPr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en-US"/>
              <a:t>$docker pull tuusuario/task-api:1.0.0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407" name="Google Shape;407;g39ab178ca3a_0_516"/>
          <p:cNvSpPr txBox="1"/>
          <p:nvPr>
            <p:ph idx="2" type="body"/>
          </p:nvPr>
        </p:nvSpPr>
        <p:spPr>
          <a:xfrm>
            <a:off x="9968675" y="3135100"/>
            <a:ext cx="7371900" cy="58224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GITHUB CONTAINER REGISTRY (GHCR) — Más usado en proyectos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600"/>
              <a:buAutoNum type="arabicPeriod"/>
            </a:pPr>
            <a:r>
              <a:rPr lang="en-US"/>
              <a:t>Login con token de GitHub</a:t>
            </a:r>
            <a:endParaRPr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en-US"/>
              <a:t>  $ echo $GITHUB_TOKEN | docker login ghcr.io -u USERNAME --password-stdin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US"/>
              <a:t>Tag para GHCR</a:t>
            </a:r>
            <a:endParaRPr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en-US"/>
              <a:t>  $ docker tag task-api:1.0.0 ghcr.io/tuorg/task-api:1.0.0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US"/>
              <a:t> Push</a:t>
            </a:r>
            <a:endParaRPr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en-US"/>
              <a:t>  $ docker push ghcr.io/tuorg/task-api:1.0.0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9ab178ca3a_0_522"/>
          <p:cNvSpPr txBox="1"/>
          <p:nvPr>
            <p:ph type="title"/>
          </p:nvPr>
        </p:nvSpPr>
        <p:spPr>
          <a:xfrm>
            <a:off x="2595000" y="787500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GitHub Actions: Build y Push Automático</a:t>
            </a:r>
            <a:endParaRPr/>
          </a:p>
        </p:txBody>
      </p:sp>
      <p:sp>
        <p:nvSpPr>
          <p:cNvPr id="413" name="Google Shape;413;g39ab178ca3a_0_522"/>
          <p:cNvSpPr txBox="1"/>
          <p:nvPr>
            <p:ph idx="1" type="body"/>
          </p:nvPr>
        </p:nvSpPr>
        <p:spPr>
          <a:xfrm>
            <a:off x="11027550" y="4909713"/>
            <a:ext cx="6257400" cy="21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Cada push a main construye y sube la imagen automáticamente.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Tag con SHA del commit = deploy reproducible y trazable.</a:t>
            </a:r>
            <a:endParaRPr/>
          </a:p>
        </p:txBody>
      </p:sp>
      <p:pic>
        <p:nvPicPr>
          <p:cNvPr id="414" name="Google Shape;414;g39ab178ca3a_0_5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650" y="2496350"/>
            <a:ext cx="8432550" cy="70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7"/>
          <p:cNvSpPr/>
          <p:nvPr/>
        </p:nvSpPr>
        <p:spPr>
          <a:xfrm>
            <a:off x="3493371" y="547445"/>
            <a:ext cx="11301259" cy="1553923"/>
          </a:xfrm>
          <a:custGeom>
            <a:rect b="b" l="l" r="r" t="t"/>
            <a:pathLst>
              <a:path extrusionOk="0" h="1553923" w="11301259">
                <a:moveTo>
                  <a:pt x="0" y="0"/>
                </a:moveTo>
                <a:lnTo>
                  <a:pt x="11301258" y="0"/>
                </a:lnTo>
                <a:lnTo>
                  <a:pt x="11301258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0" name="Google Shape;420;p7"/>
          <p:cNvSpPr/>
          <p:nvPr/>
        </p:nvSpPr>
        <p:spPr>
          <a:xfrm>
            <a:off x="1967873" y="2798489"/>
            <a:ext cx="14352253" cy="5956185"/>
          </a:xfrm>
          <a:custGeom>
            <a:rect b="b" l="l" r="r" t="t"/>
            <a:pathLst>
              <a:path extrusionOk="0" h="5956185" w="14352253">
                <a:moveTo>
                  <a:pt x="0" y="0"/>
                </a:moveTo>
                <a:lnTo>
                  <a:pt x="14352254" y="0"/>
                </a:lnTo>
                <a:lnTo>
                  <a:pt x="14352254" y="5956185"/>
                </a:lnTo>
                <a:lnTo>
                  <a:pt x="0" y="5956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1" name="Google Shape;421;p7"/>
          <p:cNvSpPr txBox="1"/>
          <p:nvPr/>
        </p:nvSpPr>
        <p:spPr>
          <a:xfrm>
            <a:off x="2554316" y="3194590"/>
            <a:ext cx="13765800" cy="6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40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>
                <a:latin typeface="Open Sans"/>
                <a:ea typeface="Open Sans"/>
                <a:cs typeface="Open Sans"/>
                <a:sym typeface="Open Sans"/>
              </a:rPr>
              <a:t>Docker es una plataforma diseñada para desarrollar, enviar y ejecutar aplicaciones mediante contenedores.</a:t>
            </a:r>
            <a:endParaRPr sz="3200">
              <a:latin typeface="Open Sans"/>
              <a:ea typeface="Open Sans"/>
              <a:cs typeface="Open Sans"/>
              <a:sym typeface="Open Sans"/>
            </a:endParaRPr>
          </a:p>
          <a:p>
            <a:pPr indent="-345440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200"/>
              <a:buFont typeface="Open Sans"/>
              <a:buChar char="•"/>
            </a:pPr>
            <a:r>
              <a:rPr lang="en-US" sz="3200">
                <a:latin typeface="Open Sans"/>
                <a:ea typeface="Open Sans"/>
                <a:cs typeface="Open Sans"/>
                <a:sym typeface="Open Sans"/>
              </a:rPr>
              <a:t>Las imágenes son la base de los contenedores en Docker.</a:t>
            </a:r>
            <a:endParaRPr sz="3200">
              <a:latin typeface="Open Sans"/>
              <a:ea typeface="Open Sans"/>
              <a:cs typeface="Open Sans"/>
              <a:sym typeface="Open Sans"/>
            </a:endParaRPr>
          </a:p>
          <a:p>
            <a:pPr indent="-345440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200"/>
              <a:buFont typeface="Open Sans"/>
              <a:buChar char="•"/>
            </a:pPr>
            <a:r>
              <a:rPr lang="en-US" sz="3200">
                <a:latin typeface="Open Sans"/>
                <a:ea typeface="Open Sans"/>
                <a:cs typeface="Open Sans"/>
                <a:sym typeface="Open Sans"/>
              </a:rPr>
              <a:t>Cuando una aplicación depende de múltiples contenedores, como una API, una base de datos y un servicio de caché, Docker Compose simplifica su orquestación</a:t>
            </a:r>
            <a:endParaRPr sz="3200">
              <a:latin typeface="Open Sans"/>
              <a:ea typeface="Open Sans"/>
              <a:cs typeface="Open Sans"/>
              <a:sym typeface="Open Sans"/>
            </a:endParaRPr>
          </a:p>
          <a:p>
            <a:pPr indent="-345440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200"/>
              <a:buFont typeface="Open Sans"/>
              <a:buChar char="•"/>
            </a:pPr>
            <a:r>
              <a:rPr lang="en-US" sz="3200">
                <a:latin typeface="Open Sans"/>
                <a:ea typeface="Open Sans"/>
                <a:cs typeface="Open Sans"/>
                <a:sym typeface="Open Sans"/>
              </a:rPr>
              <a:t>Docker Hub es el registro público por defecto, pero también existen soluciones privadas</a:t>
            </a:r>
            <a:endParaRPr sz="3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4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9"/>
          <p:cNvSpPr/>
          <p:nvPr/>
        </p:nvSpPr>
        <p:spPr>
          <a:xfrm>
            <a:off x="2317017" y="520965"/>
            <a:ext cx="13653966" cy="1873953"/>
          </a:xfrm>
          <a:custGeom>
            <a:rect b="b" l="l" r="r" t="t"/>
            <a:pathLst>
              <a:path extrusionOk="0" h="1873953" w="13653966">
                <a:moveTo>
                  <a:pt x="0" y="0"/>
                </a:moveTo>
                <a:lnTo>
                  <a:pt x="13653966" y="0"/>
                </a:lnTo>
                <a:lnTo>
                  <a:pt x="13653966" y="1873953"/>
                </a:lnTo>
                <a:lnTo>
                  <a:pt x="0" y="1873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7" name="Google Shape;427;p9"/>
          <p:cNvSpPr/>
          <p:nvPr/>
        </p:nvSpPr>
        <p:spPr>
          <a:xfrm>
            <a:off x="1989089" y="2422796"/>
            <a:ext cx="14309822" cy="6206885"/>
          </a:xfrm>
          <a:custGeom>
            <a:rect b="b" l="l" r="r" t="t"/>
            <a:pathLst>
              <a:path extrusionOk="0" h="6206885" w="14309822">
                <a:moveTo>
                  <a:pt x="0" y="0"/>
                </a:moveTo>
                <a:lnTo>
                  <a:pt x="14309822" y="0"/>
                </a:lnTo>
                <a:lnTo>
                  <a:pt x="14309822" y="6206885"/>
                </a:lnTo>
                <a:lnTo>
                  <a:pt x="0" y="6206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8" name="Google Shape;428;p9"/>
          <p:cNvSpPr txBox="1"/>
          <p:nvPr/>
        </p:nvSpPr>
        <p:spPr>
          <a:xfrm>
            <a:off x="2843570" y="2761666"/>
            <a:ext cx="12236400" cy="59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Documentación oficial de Docker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Docker Desktop: https://www.docker.com/products/docker-desktop (docker.com in Bing)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Documentación general: </a:t>
            </a:r>
            <a:r>
              <a:rPr b="1" lang="en-US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5"/>
              </a:rPr>
              <a:t>https://docs.docker.com/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Conceptos fundamentales (Imágenes, Contenedores, Registry)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Docker Hub (registro público): https://hub.docker.com/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GitHub Container Registry (GHCR): https://docs.github.com/en/packages/working-with-a-github-packages-registry/working-with-the-container-registry (docs.github.com in Bing)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Dockerfile y construcción de imágenes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Referencia oficial de Dockerfile: https://docs.docker.com/engine/reference/builder/ (docs.docker.com in Bing)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Gestión de contenedores y comandos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Comandos básicos de Docker CLI: https://docs.docker.com/engine/reference/commandline/docker/ (docs.docker.com in Bing)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Docker Compose (orquestación de múltiples contenedores)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Documentación oficial de Docker Compose: https://docs.docker.com/compose/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0"/>
          <p:cNvSpPr/>
          <p:nvPr/>
        </p:nvSpPr>
        <p:spPr>
          <a:xfrm>
            <a:off x="0" y="0"/>
            <a:ext cx="18288000" cy="7292340"/>
          </a:xfrm>
          <a:custGeom>
            <a:rect b="b" l="l" r="r" t="t"/>
            <a:pathLst>
              <a:path extrusionOk="0" h="7292340" w="18288000">
                <a:moveTo>
                  <a:pt x="0" y="0"/>
                </a:moveTo>
                <a:lnTo>
                  <a:pt x="18288000" y="0"/>
                </a:lnTo>
                <a:lnTo>
                  <a:pt x="18288000" y="7292340"/>
                </a:lnTo>
                <a:lnTo>
                  <a:pt x="0" y="7292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4" name="Google Shape;444;p12"/>
          <p:cNvSpPr txBox="1"/>
          <p:nvPr/>
        </p:nvSpPr>
        <p:spPr>
          <a:xfrm>
            <a:off x="5655069" y="166707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3"/>
          <p:cNvSpPr/>
          <p:nvPr/>
        </p:nvSpPr>
        <p:spPr>
          <a:xfrm>
            <a:off x="3493371" y="-591537"/>
            <a:ext cx="11301259" cy="5113820"/>
          </a:xfrm>
          <a:custGeom>
            <a:rect b="b" l="l" r="r" t="t"/>
            <a:pathLst>
              <a:path extrusionOk="0" h="5113820" w="11301259">
                <a:moveTo>
                  <a:pt x="0" y="0"/>
                </a:moveTo>
                <a:lnTo>
                  <a:pt x="11301258" y="0"/>
                </a:lnTo>
                <a:lnTo>
                  <a:pt x="11301258" y="5113820"/>
                </a:lnTo>
                <a:lnTo>
                  <a:pt x="0" y="5113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3" name="Google Shape;473;p13"/>
          <p:cNvSpPr/>
          <p:nvPr/>
        </p:nvSpPr>
        <p:spPr>
          <a:xfrm>
            <a:off x="2197698" y="3492869"/>
            <a:ext cx="13892604" cy="5765431"/>
          </a:xfrm>
          <a:custGeom>
            <a:rect b="b" l="l" r="r" t="t"/>
            <a:pathLst>
              <a:path extrusionOk="0" h="5765431" w="13892604">
                <a:moveTo>
                  <a:pt x="0" y="0"/>
                </a:moveTo>
                <a:lnTo>
                  <a:pt x="13892604" y="0"/>
                </a:lnTo>
                <a:lnTo>
                  <a:pt x="13892604" y="5765431"/>
                </a:lnTo>
                <a:lnTo>
                  <a:pt x="0" y="5765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4" name="Google Shape;474;p13"/>
          <p:cNvSpPr txBox="1"/>
          <p:nvPr/>
        </p:nvSpPr>
        <p:spPr>
          <a:xfrm>
            <a:off x="2580394" y="4461626"/>
            <a:ext cx="13127100" cy="19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9"/>
              <a:buChar char="•"/>
            </a:pPr>
            <a:r>
              <a:rPr lang="en-US" sz="279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 colocará el recordatorio de las actividades según corresponda</a:t>
            </a:r>
            <a:endParaRPr b="0" i="0" sz="2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Link del Video: https://youtu.be/IimwOve2p6E?si=-W_h8Hn7oiL-6cxy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