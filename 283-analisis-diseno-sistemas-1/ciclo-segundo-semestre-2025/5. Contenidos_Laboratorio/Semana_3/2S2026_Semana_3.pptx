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10287000" cx="18288000"/>
  <p:notesSz cx="6858000" cy="9144000"/>
  <p:embeddedFontLst>
    <p:embeddedFont>
      <p:font typeface="Montserrat"/>
      <p:regular r:id="rId58"/>
      <p:bold r:id="rId59"/>
      <p:italic r:id="rId60"/>
      <p:boldItalic r:id="rId61"/>
    </p:embeddedFont>
    <p:embeddedFont>
      <p:font typeface="Open Sa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6" roundtripDataSignature="AMtx7mj3T2UNoMTK+DGFj2F+D9MEM+XQ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regular.fntdata"/><Relationship Id="rId61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64" Type="http://schemas.openxmlformats.org/officeDocument/2006/relationships/font" Target="fonts/OpenSans-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font" Target="fonts/Open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Montserrat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bold.fntdata"/><Relationship Id="rId14" Type="http://schemas.openxmlformats.org/officeDocument/2006/relationships/slide" Target="slides/slide9.xml"/><Relationship Id="rId58" Type="http://schemas.openxmlformats.org/officeDocument/2006/relationships/font" Target="fonts/Montserrat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b1047fa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9ab1047fa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b1047fa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9ab1047faa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ab1047fa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9ab1047fa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ab1047f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9ab1047faa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ab1047f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9ab1047faa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ab1047fa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9ab1047faa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ab1047fa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9ab1047faa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ab1047fa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9ab1047faa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ab1047f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9ab1047faa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ab1047fa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9ab1047faa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ab1047fa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9ab1047faa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ab1047fa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9ab1047faa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ab1047fa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9ab1047faa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ab1047fa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9ab1047faa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ab1047fa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9ab1047faa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ab1047fa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9ab1047faa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ab1047fa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9ab1047faa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ab1047fa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9ab1047faa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ab1047fa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9ab1047faa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ab1047fa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9ab1047faa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ab1047fa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9ab1047faa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ab1047fa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g39ab1047faa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ab1047fa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g39ab1047faa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ab1047fa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g39ab1047faa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ab1047fa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39ab1047faa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ab1047fa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g39ab1047faa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ab1047faa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g39ab1047faa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ab1047faa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39ab1047faa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ab1047faa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g39ab1047faa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9ab1047fa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g39ab1047faa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ab1047faa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g39ab1047faa_0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ab1047fa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g39ab1047faa_0_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ab1047faa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g39ab1047faa_0_3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ab1047faa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39ab1047faa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9ab1047faa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g39ab1047faa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9ab1047faa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g39ab1047faa_0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9ab1047faa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7" name="Google Shape;517;g39ab1047faa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9ab1047faa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g39ab1047faa_0_3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3" name="Google Shape;5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0" name="Google Shape;5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8" name="Google Shape;5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23.png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Relationship Id="rId6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61.png"/><Relationship Id="rId5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61.png"/><Relationship Id="rId5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png"/><Relationship Id="rId4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1.png"/><Relationship Id="rId4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Relationship Id="rId4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1331775" y="1547900"/>
          <a:ext cx="8652400" cy="1881100"/>
        </p:xfrm>
        <a:graphic>
          <a:graphicData uri="http://schemas.openxmlformats.org/presentationml/2006/ole">
            <mc:AlternateContent>
              <mc:Choice Requires="v">
                <p:oleObj r:id="rId5" imgH="1881100" imgW="8652400" progId="Excel.Sheet.12" spid="_x0000_s1">
                  <p:embed/>
                </p:oleObj>
              </mc:Choice>
              <mc:Fallback>
                <p:oleObj r:id="rId6" imgH="1881100" imgW="8652400" progId="Excel.Sheet.12">
                  <p:embed/>
                  <p:pic>
                    <p:nvPicPr>
                      <p:cNvPr id="85" name="Google Shape;85;p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331775" y="1547900"/>
                        <a:ext cx="8652400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Google Shape;86;p1"/>
          <p:cNvSpPr/>
          <p:nvPr/>
        </p:nvSpPr>
        <p:spPr>
          <a:xfrm>
            <a:off x="2107150" y="3631999"/>
            <a:ext cx="14257800" cy="180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342900" rotWithShape="0" algn="bl" dir="2160000" dist="361950">
              <a:srgbClr val="888888">
                <a:alpha val="5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172300" y="6211275"/>
            <a:ext cx="7943400" cy="5226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>
            <a:noFill/>
          </a:ln>
          <a:effectLst>
            <a:outerShdw blurRad="200025" rotWithShape="0" algn="bl" dir="2160000" dist="171450">
              <a:srgbClr val="888888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550461" y="4212800"/>
            <a:ext cx="1318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Análisis y Diseño de Sistemas 1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40000" y="9310075"/>
            <a:ext cx="6904500" cy="522600"/>
          </a:xfrm>
          <a:prstGeom prst="roundRect">
            <a:avLst>
              <a:gd fmla="val 16667" name="adj"/>
            </a:avLst>
          </a:prstGeom>
          <a:solidFill>
            <a:srgbClr val="E1C794"/>
          </a:solidFill>
          <a:ln>
            <a:noFill/>
          </a:ln>
          <a:effectLst>
            <a:outerShdw blurRad="200025" rotWithShape="0" algn="bl" dir="2160000" dist="171450">
              <a:srgbClr val="B19867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3871300" y="2240450"/>
            <a:ext cx="2172300" cy="5226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00/00/202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28900" y="9353000"/>
            <a:ext cx="62442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2740">
                <a:latin typeface="Open Sans"/>
                <a:ea typeface="Open Sans"/>
                <a:cs typeface="Open Sans"/>
                <a:sym typeface="Open Sans"/>
              </a:rPr>
              <a:t>Tutor: </a:t>
            </a:r>
            <a:r>
              <a:rPr lang="en-US" sz="2740"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748850" y="4967150"/>
            <a:ext cx="87903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UX/UI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3"/>
          <p:cNvSpPr txBox="1"/>
          <p:nvPr/>
        </p:nvSpPr>
        <p:spPr>
          <a:xfrm>
            <a:off x="5954709" y="4328160"/>
            <a:ext cx="21411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954709" y="3342711"/>
            <a:ext cx="21411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3"/>
          <p:cNvSpPr txBox="1"/>
          <p:nvPr/>
        </p:nvSpPr>
        <p:spPr>
          <a:xfrm>
            <a:off x="5954709" y="5448816"/>
            <a:ext cx="21411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954709" y="6435606"/>
            <a:ext cx="21411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uncio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954709" y="7555746"/>
            <a:ext cx="21411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</a:t>
            </a: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ncio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215012" y="4328160"/>
            <a:ext cx="21411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 txBox="1"/>
          <p:nvPr/>
        </p:nvSpPr>
        <p:spPr>
          <a:xfrm>
            <a:off x="5215012" y="5379556"/>
            <a:ext cx="21411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5215012" y="6385396"/>
            <a:ext cx="2141097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215012" y="7391236"/>
            <a:ext cx="2141097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215012" y="8444701"/>
            <a:ext cx="2141097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>
            <a:off x="2888400" y="2581775"/>
            <a:ext cx="12511183" cy="3365000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 txBox="1"/>
          <p:nvPr/>
        </p:nvSpPr>
        <p:spPr>
          <a:xfrm>
            <a:off x="5582025" y="3498088"/>
            <a:ext cx="84039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b="1" lang="en-US" sz="1500">
                <a:latin typeface="Open Sans"/>
                <a:ea typeface="Open Sans"/>
                <a:cs typeface="Open Sans"/>
                <a:sym typeface="Open Sans"/>
              </a:rPr>
              <a:t>El estudiante Analiza principios fundamentales de UX/UI   					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b="1" lang="en-US" sz="1500">
                <a:latin typeface="Open Sans"/>
                <a:ea typeface="Open Sans"/>
                <a:cs typeface="Open Sans"/>
                <a:sym typeface="Open Sans"/>
              </a:rPr>
              <a:t>El estudiante Aplica 10 principios de Jakob Nielsen Heurísticas de Nielsen en diseño de interfaces 						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b="1" lang="en-US" sz="1500">
                <a:latin typeface="Open Sans"/>
                <a:ea typeface="Open Sans"/>
                <a:cs typeface="Open Sans"/>
                <a:sym typeface="Open Sans"/>
              </a:rPr>
              <a:t>El estudiante Utiliza herramientas especializadas Figma, Adobe XD, Sketch para diseño UX/UI 		</a:t>
            </a: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					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/>
        </p:nvSpPr>
        <p:spPr>
          <a:xfrm>
            <a:off x="2879550" y="2732550"/>
            <a:ext cx="12528900" cy="6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549">
                <a:solidFill>
                  <a:srgbClr val="131416"/>
                </a:solidFill>
              </a:rPr>
              <a:t>En UX, la empatía significa dejar de pensar como desarrolladores y empezar a pensar como usuarios.</a:t>
            </a:r>
            <a:endParaRPr sz="3549">
              <a:solidFill>
                <a:srgbClr val="131416"/>
              </a:solidFill>
            </a:endParaRPr>
          </a:p>
          <a:p>
            <a:pPr indent="0" lvl="0" marL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549">
              <a:solidFill>
                <a:srgbClr val="131416"/>
              </a:solidFill>
            </a:endParaRPr>
          </a:p>
          <a:p>
            <a:pPr indent="0" lvl="0" marL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549">
                <a:solidFill>
                  <a:srgbClr val="131416"/>
                </a:solidFill>
              </a:rPr>
              <a:t>No diseñamos para nosotros, diseñamos para personas con diferentes conocimientos, contextos y necesidades.</a:t>
            </a:r>
            <a:endParaRPr sz="3549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lang="en-US" sz="3549">
                <a:solidFill>
                  <a:srgbClr val="131416"/>
                </a:solidFill>
              </a:rPr>
              <a:t>Cuando entendemos eso, creamos interfaces más claras, simples y útiles. </a:t>
            </a:r>
            <a:endParaRPr sz="3549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t/>
            </a:r>
            <a:endParaRPr sz="3549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lang="en-US" sz="3549">
                <a:solidFill>
                  <a:srgbClr val="131416"/>
                </a:solidFill>
              </a:rPr>
              <a:t>Porque una buena interfaz no es la que más le gusta al desarrollador, sino la que mejor le sirve al usuario.</a:t>
            </a:r>
            <a:endParaRPr sz="3549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13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t/>
            </a:r>
            <a:endParaRPr b="0" i="0" sz="324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239234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 DE LA SEMANA: </a:t>
            </a:r>
            <a:r>
              <a:rPr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EMPATÍA</a:t>
            </a:r>
            <a:endParaRPr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b1047faa_0_4"/>
          <p:cNvSpPr/>
          <p:nvPr/>
        </p:nvSpPr>
        <p:spPr>
          <a:xfrm>
            <a:off x="-294441" y="-237758"/>
            <a:ext cx="4887111" cy="4557231"/>
          </a:xfrm>
          <a:custGeom>
            <a:rect b="b" l="l" r="r" t="t"/>
            <a:pathLst>
              <a:path extrusionOk="0" h="4557231" w="4887111">
                <a:moveTo>
                  <a:pt x="0" y="0"/>
                </a:moveTo>
                <a:lnTo>
                  <a:pt x="4887111" y="0"/>
                </a:lnTo>
                <a:lnTo>
                  <a:pt x="4887111" y="4557231"/>
                </a:lnTo>
                <a:lnTo>
                  <a:pt x="0" y="4557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g39ab1047faa_0_4"/>
          <p:cNvSpPr/>
          <p:nvPr/>
        </p:nvSpPr>
        <p:spPr>
          <a:xfrm flipH="1" rot="10800000">
            <a:off x="14188100" y="5967527"/>
            <a:ext cx="4099900" cy="4319473"/>
          </a:xfrm>
          <a:custGeom>
            <a:rect b="b" l="l" r="r" t="t"/>
            <a:pathLst>
              <a:path extrusionOk="0" h="4319473" w="4099900">
                <a:moveTo>
                  <a:pt x="0" y="4319473"/>
                </a:moveTo>
                <a:lnTo>
                  <a:pt x="4099900" y="4319473"/>
                </a:lnTo>
                <a:lnTo>
                  <a:pt x="4099900" y="0"/>
                </a:lnTo>
                <a:lnTo>
                  <a:pt x="0" y="0"/>
                </a:lnTo>
                <a:lnTo>
                  <a:pt x="0" y="431947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g39ab1047faa_0_4"/>
          <p:cNvSpPr txBox="1"/>
          <p:nvPr/>
        </p:nvSpPr>
        <p:spPr>
          <a:xfrm>
            <a:off x="2446006" y="2528136"/>
            <a:ext cx="13395900" cy="3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99"/>
              <a:buFont typeface="Arial"/>
              <a:buNone/>
            </a:pPr>
            <a:r>
              <a:rPr b="1" i="0" lang="en-US" sz="9699" u="none" cap="none" strike="noStrike">
                <a:solidFill>
                  <a:srgbClr val="1E5A66"/>
                </a:solidFill>
                <a:latin typeface="Montserrat"/>
                <a:ea typeface="Montserrat"/>
                <a:cs typeface="Montserrat"/>
                <a:sym typeface="Montserrat"/>
              </a:rPr>
              <a:t>DISEÑO Y USABILIDAD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9ab1047faa_0_4"/>
          <p:cNvSpPr txBox="1"/>
          <p:nvPr/>
        </p:nvSpPr>
        <p:spPr>
          <a:xfrm>
            <a:off x="3230822" y="6076431"/>
            <a:ext cx="13007100" cy="18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CONSTRUYENDO SOFTWARE ÚTIL, CLARO Y CENTRADO EN 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g39ab1047faa_0_11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159" name="Google Shape;159;g39ab1047faa_0_11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160" name="Google Shape;160;g39ab1047faa_0_11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g39ab1047faa_0_11"/>
          <p:cNvSpPr/>
          <p:nvPr/>
        </p:nvSpPr>
        <p:spPr>
          <a:xfrm rot="3882905">
            <a:off x="16493454" y="6515611"/>
            <a:ext cx="5333214" cy="5293214"/>
          </a:xfrm>
          <a:custGeom>
            <a:rect b="b" l="l" r="r" t="t"/>
            <a:pathLst>
              <a:path extrusionOk="0" h="5288506" w="5328470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reflection blurRad="0" dir="5400000" dist="38100" endA="0" endPos="30000" fadeDir="5400012" kx="0" rotWithShape="0" algn="bl" stA="50000" stPos="0" sy="-100000" ky="0"/>
          </a:effectLst>
        </p:spPr>
      </p:sp>
      <p:sp>
        <p:nvSpPr>
          <p:cNvPr id="162" name="Google Shape;162;g39ab1047faa_0_11"/>
          <p:cNvSpPr txBox="1"/>
          <p:nvPr/>
        </p:nvSpPr>
        <p:spPr>
          <a:xfrm>
            <a:off x="1493550" y="1880850"/>
            <a:ext cx="15300900" cy="6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1"/>
              <a:buFont typeface="Arial"/>
              <a:buNone/>
            </a:pPr>
            <a:r>
              <a:rPr b="1" i="0" lang="en-US" sz="297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 el desarrollo de sistemas, no basta con que el software sea funcional y cumpla con los requisitos técnicos. Un producto exitoso también debe ser claro, intuitivo y agradable de usar.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1"/>
              <a:buFont typeface="Arial"/>
              <a:buNone/>
            </a:pPr>
            <a:r>
              <a:t/>
            </a:r>
            <a:endParaRPr b="1" i="0" sz="2971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1"/>
              <a:buFont typeface="Arial"/>
              <a:buNone/>
            </a:pPr>
            <a:r>
              <a:rPr b="1" i="0" lang="en-US" sz="297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usuario final no evalúa el código que hay detrás, sino la experiencia que vive al interactuar con la interfaz. Un diseño confuso, sobrecargado o poco accesible puede hacer que un software técnicamente perfecto fracase.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1"/>
              <a:buFont typeface="Arial"/>
              <a:buNone/>
            </a:pPr>
            <a:r>
              <a:t/>
            </a:r>
            <a:endParaRPr b="1" i="0" sz="2971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1"/>
              <a:buFont typeface="Arial"/>
              <a:buNone/>
            </a:pPr>
            <a:r>
              <a:rPr b="1" i="0" lang="en-US" sz="297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Nuestro objetivo es lograr el equilibrio de un software sólido en su funcionamiento y pensado para las personas que lo usarán.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9ab1047faa_0_11"/>
          <p:cNvSpPr/>
          <p:nvPr/>
        </p:nvSpPr>
        <p:spPr>
          <a:xfrm>
            <a:off x="16310393" y="-423073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3"/>
                </a:lnTo>
                <a:lnTo>
                  <a:pt x="0" y="1999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g39ab1047faa_0_20"/>
          <p:cNvGrpSpPr/>
          <p:nvPr/>
        </p:nvGrpSpPr>
        <p:grpSpPr>
          <a:xfrm>
            <a:off x="1859047" y="457020"/>
            <a:ext cx="9426594" cy="1520388"/>
            <a:chOff x="0" y="-38100"/>
            <a:chExt cx="3002100" cy="484200"/>
          </a:xfrm>
        </p:grpSpPr>
        <p:sp>
          <p:nvSpPr>
            <p:cNvPr id="169" name="Google Shape;169;g39ab1047faa_0_20"/>
            <p:cNvSpPr/>
            <p:nvPr/>
          </p:nvSpPr>
          <p:spPr>
            <a:xfrm>
              <a:off x="0" y="0"/>
              <a:ext cx="3002043" cy="445994"/>
            </a:xfrm>
            <a:custGeom>
              <a:rect b="b" l="l" r="r" t="t"/>
              <a:pathLst>
                <a:path extrusionOk="0" h="445994" w="3002043">
                  <a:moveTo>
                    <a:pt x="38601" y="0"/>
                  </a:moveTo>
                  <a:lnTo>
                    <a:pt x="2963442" y="0"/>
                  </a:lnTo>
                  <a:cubicBezTo>
                    <a:pt x="2973679" y="0"/>
                    <a:pt x="2983498" y="4067"/>
                    <a:pt x="2990737" y="11306"/>
                  </a:cubicBezTo>
                  <a:cubicBezTo>
                    <a:pt x="2997976" y="18545"/>
                    <a:pt x="3002043" y="28364"/>
                    <a:pt x="3002043" y="38601"/>
                  </a:cubicBezTo>
                  <a:lnTo>
                    <a:pt x="3002043" y="407393"/>
                  </a:lnTo>
                  <a:cubicBezTo>
                    <a:pt x="3002043" y="417631"/>
                    <a:pt x="2997976" y="427449"/>
                    <a:pt x="2990737" y="434688"/>
                  </a:cubicBezTo>
                  <a:cubicBezTo>
                    <a:pt x="2983498" y="441927"/>
                    <a:pt x="2973679" y="445994"/>
                    <a:pt x="2963442" y="445994"/>
                  </a:cubicBezTo>
                  <a:lnTo>
                    <a:pt x="38601" y="445994"/>
                  </a:lnTo>
                  <a:cubicBezTo>
                    <a:pt x="28364" y="445994"/>
                    <a:pt x="18545" y="441927"/>
                    <a:pt x="11306" y="434688"/>
                  </a:cubicBezTo>
                  <a:cubicBezTo>
                    <a:pt x="4067" y="427449"/>
                    <a:pt x="0" y="417631"/>
                    <a:pt x="0" y="407393"/>
                  </a:cubicBezTo>
                  <a:lnTo>
                    <a:pt x="0" y="38601"/>
                  </a:lnTo>
                  <a:cubicBezTo>
                    <a:pt x="0" y="28364"/>
                    <a:pt x="4067" y="18545"/>
                    <a:pt x="11306" y="11306"/>
                  </a:cubicBezTo>
                  <a:cubicBezTo>
                    <a:pt x="18545" y="4067"/>
                    <a:pt x="28364" y="0"/>
                    <a:pt x="3860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9ab1047faa_0_20"/>
            <p:cNvSpPr txBox="1"/>
            <p:nvPr/>
          </p:nvSpPr>
          <p:spPr>
            <a:xfrm>
              <a:off x="0" y="-38100"/>
              <a:ext cx="30021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g39ab1047faa_0_20"/>
          <p:cNvSpPr txBox="1"/>
          <p:nvPr/>
        </p:nvSpPr>
        <p:spPr>
          <a:xfrm>
            <a:off x="2121474" y="678192"/>
            <a:ext cx="89763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0" i="0" lang="en-US" sz="61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Software Generico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9ab1047faa_0_20"/>
          <p:cNvSpPr/>
          <p:nvPr/>
        </p:nvSpPr>
        <p:spPr>
          <a:xfrm rot="-2700000">
            <a:off x="1146795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3" name="Google Shape;173;g39ab1047faa_0_20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174" name="Google Shape;174;g39ab1047faa_0_20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175" name="Google Shape;175;g39ab1047faa_0_20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g39ab1047faa_0_20"/>
          <p:cNvSpPr/>
          <p:nvPr/>
        </p:nvSpPr>
        <p:spPr>
          <a:xfrm rot="-3729289">
            <a:off x="13727460" y="1521422"/>
            <a:ext cx="5333214" cy="5293214"/>
          </a:xfrm>
          <a:custGeom>
            <a:rect b="b" l="l" r="r" t="t"/>
            <a:pathLst>
              <a:path extrusionOk="0" h="5288506" w="5328470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g39ab1047faa_0_20"/>
          <p:cNvSpPr txBox="1"/>
          <p:nvPr/>
        </p:nvSpPr>
        <p:spPr>
          <a:xfrm>
            <a:off x="1311900" y="2592600"/>
            <a:ext cx="15664200" cy="74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1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software genérico se refiere a un programa informático diseñado para ser utilizado por una amplia gama de usuarios o empresas en diferentes sectores o industrias. Estos tipos de software son desarrollados para cumplir con funciones y necesidades comunes que son compartidas por múltiples usuarios.</a:t>
            </a:r>
            <a:endParaRPr b="1" i="0" sz="31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1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1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Algunos ejemplos comunes de software genérico incluyen suites de oficina, programas de contabilidad, software de gestión de proyectos, navegadores web, reproductores multimedia, entre otros.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4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4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g39ab1047faa_0_20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g39ab1047faa_0_20"/>
          <p:cNvSpPr/>
          <p:nvPr/>
        </p:nvSpPr>
        <p:spPr>
          <a:xfrm rot="-2700000">
            <a:off x="1292660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g39ab1047faa_0_35"/>
          <p:cNvGrpSpPr/>
          <p:nvPr/>
        </p:nvGrpSpPr>
        <p:grpSpPr>
          <a:xfrm>
            <a:off x="1859047" y="457020"/>
            <a:ext cx="15043134" cy="1520388"/>
            <a:chOff x="0" y="-38100"/>
            <a:chExt cx="4790807" cy="484200"/>
          </a:xfrm>
        </p:grpSpPr>
        <p:sp>
          <p:nvSpPr>
            <p:cNvPr id="185" name="Google Shape;185;g39ab1047faa_0_35"/>
            <p:cNvSpPr/>
            <p:nvPr/>
          </p:nvSpPr>
          <p:spPr>
            <a:xfrm>
              <a:off x="0" y="0"/>
              <a:ext cx="4790807" cy="445994"/>
            </a:xfrm>
            <a:custGeom>
              <a:rect b="b" l="l" r="r" t="t"/>
              <a:pathLst>
                <a:path extrusionOk="0" h="445994" w="4790807">
                  <a:moveTo>
                    <a:pt x="24189" y="0"/>
                  </a:moveTo>
                  <a:lnTo>
                    <a:pt x="4766618" y="0"/>
                  </a:lnTo>
                  <a:cubicBezTo>
                    <a:pt x="4773033" y="0"/>
                    <a:pt x="4779186" y="2548"/>
                    <a:pt x="4783722" y="7085"/>
                  </a:cubicBezTo>
                  <a:cubicBezTo>
                    <a:pt x="4788259" y="11621"/>
                    <a:pt x="4790807" y="17773"/>
                    <a:pt x="4790807" y="24189"/>
                  </a:cubicBezTo>
                  <a:lnTo>
                    <a:pt x="4790807" y="421806"/>
                  </a:lnTo>
                  <a:cubicBezTo>
                    <a:pt x="4790807" y="428221"/>
                    <a:pt x="4788259" y="434373"/>
                    <a:pt x="4783722" y="438910"/>
                  </a:cubicBezTo>
                  <a:cubicBezTo>
                    <a:pt x="4779186" y="443446"/>
                    <a:pt x="4773033" y="445994"/>
                    <a:pt x="4766618" y="445994"/>
                  </a:cubicBezTo>
                  <a:lnTo>
                    <a:pt x="24189" y="445994"/>
                  </a:lnTo>
                  <a:cubicBezTo>
                    <a:pt x="17773" y="445994"/>
                    <a:pt x="11621" y="443446"/>
                    <a:pt x="7085" y="438910"/>
                  </a:cubicBezTo>
                  <a:cubicBezTo>
                    <a:pt x="2548" y="434373"/>
                    <a:pt x="0" y="428221"/>
                    <a:pt x="0" y="421806"/>
                  </a:cubicBezTo>
                  <a:lnTo>
                    <a:pt x="0" y="24189"/>
                  </a:lnTo>
                  <a:cubicBezTo>
                    <a:pt x="0" y="17773"/>
                    <a:pt x="2548" y="11621"/>
                    <a:pt x="7085" y="7085"/>
                  </a:cubicBezTo>
                  <a:cubicBezTo>
                    <a:pt x="11621" y="2548"/>
                    <a:pt x="17773" y="0"/>
                    <a:pt x="2418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9ab1047faa_0_35"/>
            <p:cNvSpPr txBox="1"/>
            <p:nvPr/>
          </p:nvSpPr>
          <p:spPr>
            <a:xfrm>
              <a:off x="0" y="-38100"/>
              <a:ext cx="47907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g39ab1047faa_0_35"/>
          <p:cNvSpPr txBox="1"/>
          <p:nvPr/>
        </p:nvSpPr>
        <p:spPr>
          <a:xfrm>
            <a:off x="2121474" y="678192"/>
            <a:ext cx="151377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0" i="0" lang="en-US" sz="61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Software Generico vs Personalizado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9ab1047faa_0_35"/>
          <p:cNvSpPr/>
          <p:nvPr/>
        </p:nvSpPr>
        <p:spPr>
          <a:xfrm rot="-2700000">
            <a:off x="1146795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9" name="Google Shape;189;g39ab1047faa_0_35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190" name="Google Shape;190;g39ab1047faa_0_35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191" name="Google Shape;191;g39ab1047faa_0_35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g39ab1047faa_0_35"/>
          <p:cNvSpPr/>
          <p:nvPr/>
        </p:nvSpPr>
        <p:spPr>
          <a:xfrm rot="-3729289">
            <a:off x="13698610" y="8414447"/>
            <a:ext cx="5333214" cy="5293214"/>
          </a:xfrm>
          <a:custGeom>
            <a:rect b="b" l="l" r="r" t="t"/>
            <a:pathLst>
              <a:path extrusionOk="0" h="5288506" w="5328470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g39ab1047faa_0_35"/>
          <p:cNvSpPr txBox="1"/>
          <p:nvPr/>
        </p:nvSpPr>
        <p:spPr>
          <a:xfrm>
            <a:off x="940039" y="2442042"/>
            <a:ext cx="16407900" cy="6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3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software personalizado se refiere a un programa informático diseñado y desarrollado específicamente para satisfacer las necesidades y requerimientos únicos de una organización o empresa en particular. </a:t>
            </a:r>
            <a:endParaRPr b="0" i="0" sz="33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sz="336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3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diferencia del software genérico, que está diseñado para un amplio grupo de usuarios con necesidades comunes y tiende a ser más accesible, ya que se desarrolla y comercializa en masa, el software personalizado se adapta y se construye de acuerdo con las especificaciones y los procesos específicos de una organización.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9ab1047faa_0_35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g39ab1047faa_0_35"/>
          <p:cNvSpPr/>
          <p:nvPr/>
        </p:nvSpPr>
        <p:spPr>
          <a:xfrm rot="-2700000">
            <a:off x="1292660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ab1047faa_0_50"/>
          <p:cNvSpPr/>
          <p:nvPr/>
        </p:nvSpPr>
        <p:spPr>
          <a:xfrm rot="10800000">
            <a:off x="0" y="6465956"/>
            <a:ext cx="3626807" cy="3821044"/>
          </a:xfrm>
          <a:custGeom>
            <a:rect b="b" l="l" r="r" t="t"/>
            <a:pathLst>
              <a:path extrusionOk="0" h="3821044" w="3626807">
                <a:moveTo>
                  <a:pt x="3626807" y="3821044"/>
                </a:moveTo>
                <a:lnTo>
                  <a:pt x="0" y="3821044"/>
                </a:lnTo>
                <a:lnTo>
                  <a:pt x="0" y="0"/>
                </a:lnTo>
                <a:lnTo>
                  <a:pt x="3626807" y="0"/>
                </a:lnTo>
                <a:lnTo>
                  <a:pt x="3626807" y="38210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g39ab1047faa_0_50"/>
          <p:cNvSpPr txBox="1"/>
          <p:nvPr/>
        </p:nvSpPr>
        <p:spPr>
          <a:xfrm>
            <a:off x="3142031" y="3147898"/>
            <a:ext cx="12042000" cy="4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66"/>
              <a:buFont typeface="Arial"/>
              <a:buNone/>
            </a:pPr>
            <a:r>
              <a:rPr b="1" i="0" lang="en-US" sz="10866" u="none" cap="none" strike="noStrike">
                <a:solidFill>
                  <a:srgbClr val="1E5A66"/>
                </a:solidFill>
                <a:latin typeface="Montserrat"/>
                <a:ea typeface="Montserrat"/>
                <a:cs typeface="Montserrat"/>
                <a:sym typeface="Montserrat"/>
              </a:rPr>
              <a:t>PRINCIPIOS JAKOB NIELSEN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ab1047faa_0_55"/>
          <p:cNvSpPr/>
          <p:nvPr/>
        </p:nvSpPr>
        <p:spPr>
          <a:xfrm rot="-1971343">
            <a:off x="17167261" y="-1169177"/>
            <a:ext cx="5328220" cy="5288258"/>
          </a:xfrm>
          <a:custGeom>
            <a:rect b="b" l="l" r="r" t="t"/>
            <a:pathLst>
              <a:path extrusionOk="0" h="5288506" w="5328470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g39ab1047faa_0_55"/>
          <p:cNvSpPr/>
          <p:nvPr/>
        </p:nvSpPr>
        <p:spPr>
          <a:xfrm flipH="1">
            <a:off x="0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2"/>
                </a:lnTo>
                <a:lnTo>
                  <a:pt x="1897814" y="1999452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8" name="Google Shape;208;g39ab1047faa_0_55"/>
          <p:cNvGrpSpPr/>
          <p:nvPr/>
        </p:nvGrpSpPr>
        <p:grpSpPr>
          <a:xfrm>
            <a:off x="16055623" y="8354196"/>
            <a:ext cx="1582847" cy="1582847"/>
            <a:chOff x="0" y="0"/>
            <a:chExt cx="812800" cy="812800"/>
          </a:xfrm>
        </p:grpSpPr>
        <p:sp>
          <p:nvSpPr>
            <p:cNvPr id="209" name="Google Shape;209;g39ab1047faa_0_5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9ab1047faa_0_5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g39ab1047faa_0_55"/>
          <p:cNvSpPr/>
          <p:nvPr/>
        </p:nvSpPr>
        <p:spPr>
          <a:xfrm>
            <a:off x="1847890" y="282467"/>
            <a:ext cx="14592220" cy="9722066"/>
          </a:xfrm>
          <a:custGeom>
            <a:rect b="b" l="l" r="r" t="t"/>
            <a:pathLst>
              <a:path extrusionOk="0" h="9722066" w="14592220">
                <a:moveTo>
                  <a:pt x="0" y="0"/>
                </a:moveTo>
                <a:lnTo>
                  <a:pt x="14592220" y="0"/>
                </a:lnTo>
                <a:lnTo>
                  <a:pt x="14592220" y="9722066"/>
                </a:lnTo>
                <a:lnTo>
                  <a:pt x="0" y="97220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g39ab1047faa_0_64"/>
          <p:cNvGrpSpPr/>
          <p:nvPr/>
        </p:nvGrpSpPr>
        <p:grpSpPr>
          <a:xfrm>
            <a:off x="1859047" y="457020"/>
            <a:ext cx="15043134" cy="1520388"/>
            <a:chOff x="0" y="-38100"/>
            <a:chExt cx="4790807" cy="484200"/>
          </a:xfrm>
        </p:grpSpPr>
        <p:sp>
          <p:nvSpPr>
            <p:cNvPr id="217" name="Google Shape;217;g39ab1047faa_0_64"/>
            <p:cNvSpPr/>
            <p:nvPr/>
          </p:nvSpPr>
          <p:spPr>
            <a:xfrm>
              <a:off x="0" y="0"/>
              <a:ext cx="4790807" cy="445994"/>
            </a:xfrm>
            <a:custGeom>
              <a:rect b="b" l="l" r="r" t="t"/>
              <a:pathLst>
                <a:path extrusionOk="0" h="445994" w="4790807">
                  <a:moveTo>
                    <a:pt x="24189" y="0"/>
                  </a:moveTo>
                  <a:lnTo>
                    <a:pt x="4766618" y="0"/>
                  </a:lnTo>
                  <a:cubicBezTo>
                    <a:pt x="4773033" y="0"/>
                    <a:pt x="4779186" y="2548"/>
                    <a:pt x="4783722" y="7085"/>
                  </a:cubicBezTo>
                  <a:cubicBezTo>
                    <a:pt x="4788259" y="11621"/>
                    <a:pt x="4790807" y="17773"/>
                    <a:pt x="4790807" y="24189"/>
                  </a:cubicBezTo>
                  <a:lnTo>
                    <a:pt x="4790807" y="421806"/>
                  </a:lnTo>
                  <a:cubicBezTo>
                    <a:pt x="4790807" y="428221"/>
                    <a:pt x="4788259" y="434373"/>
                    <a:pt x="4783722" y="438910"/>
                  </a:cubicBezTo>
                  <a:cubicBezTo>
                    <a:pt x="4779186" y="443446"/>
                    <a:pt x="4773033" y="445994"/>
                    <a:pt x="4766618" y="445994"/>
                  </a:cubicBezTo>
                  <a:lnTo>
                    <a:pt x="24189" y="445994"/>
                  </a:lnTo>
                  <a:cubicBezTo>
                    <a:pt x="17773" y="445994"/>
                    <a:pt x="11621" y="443446"/>
                    <a:pt x="7085" y="438910"/>
                  </a:cubicBezTo>
                  <a:cubicBezTo>
                    <a:pt x="2548" y="434373"/>
                    <a:pt x="0" y="428221"/>
                    <a:pt x="0" y="421806"/>
                  </a:cubicBezTo>
                  <a:lnTo>
                    <a:pt x="0" y="24189"/>
                  </a:lnTo>
                  <a:cubicBezTo>
                    <a:pt x="0" y="17773"/>
                    <a:pt x="2548" y="11621"/>
                    <a:pt x="7085" y="7085"/>
                  </a:cubicBezTo>
                  <a:cubicBezTo>
                    <a:pt x="11621" y="2548"/>
                    <a:pt x="17773" y="0"/>
                    <a:pt x="24189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9ab1047faa_0_64"/>
            <p:cNvSpPr txBox="1"/>
            <p:nvPr/>
          </p:nvSpPr>
          <p:spPr>
            <a:xfrm>
              <a:off x="0" y="-38100"/>
              <a:ext cx="47907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9ab1047faa_0_64"/>
          <p:cNvSpPr txBox="1"/>
          <p:nvPr/>
        </p:nvSpPr>
        <p:spPr>
          <a:xfrm>
            <a:off x="2121474" y="678192"/>
            <a:ext cx="15137700" cy="2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0" i="0" lang="en-US" sz="61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Visibilidad del estado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t/>
            </a:r>
            <a:endParaRPr b="0" i="0" sz="615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g39ab1047faa_0_64"/>
          <p:cNvSpPr/>
          <p:nvPr/>
        </p:nvSpPr>
        <p:spPr>
          <a:xfrm rot="-2700000">
            <a:off x="1146795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1" name="Google Shape;221;g39ab1047faa_0_64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222" name="Google Shape;222;g39ab1047faa_0_64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223" name="Google Shape;223;g39ab1047faa_0_64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g39ab1047faa_0_64"/>
          <p:cNvSpPr/>
          <p:nvPr/>
        </p:nvSpPr>
        <p:spPr>
          <a:xfrm rot="-3729289">
            <a:off x="13727460" y="1521422"/>
            <a:ext cx="5333214" cy="5293214"/>
          </a:xfrm>
          <a:custGeom>
            <a:rect b="b" l="l" r="r" t="t"/>
            <a:pathLst>
              <a:path extrusionOk="0" h="5288506" w="5328470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g39ab1047faa_0_64"/>
          <p:cNvSpPr txBox="1"/>
          <p:nvPr/>
        </p:nvSpPr>
        <p:spPr>
          <a:xfrm>
            <a:off x="1057870" y="3550442"/>
            <a:ext cx="16407900" cy="3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sistema debe mantener informado al usuario sobre lo que esta ocurriendo en la web a cada momento.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Tratar de no dejar a los usuarios pensando «¿Qué esta pasando ahora?»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9ab1047faa_0_64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g39ab1047faa_0_64"/>
          <p:cNvSpPr/>
          <p:nvPr/>
        </p:nvSpPr>
        <p:spPr>
          <a:xfrm rot="-2700000">
            <a:off x="1292660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ab1047faa_0_79"/>
          <p:cNvSpPr/>
          <p:nvPr/>
        </p:nvSpPr>
        <p:spPr>
          <a:xfrm>
            <a:off x="0" y="0"/>
            <a:ext cx="18474519" cy="10484290"/>
          </a:xfrm>
          <a:custGeom>
            <a:rect b="b" l="l" r="r" t="t"/>
            <a:pathLst>
              <a:path extrusionOk="0" h="10484290" w="18474519">
                <a:moveTo>
                  <a:pt x="0" y="0"/>
                </a:moveTo>
                <a:lnTo>
                  <a:pt x="18474519" y="0"/>
                </a:lnTo>
                <a:lnTo>
                  <a:pt x="18474519" y="10484290"/>
                </a:lnTo>
                <a:lnTo>
                  <a:pt x="0" y="104842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39ab1047faa_0_83"/>
          <p:cNvGrpSpPr/>
          <p:nvPr/>
        </p:nvGrpSpPr>
        <p:grpSpPr>
          <a:xfrm>
            <a:off x="1859047" y="457020"/>
            <a:ext cx="15867324" cy="1520388"/>
            <a:chOff x="0" y="-38100"/>
            <a:chExt cx="5053288" cy="484200"/>
          </a:xfrm>
        </p:grpSpPr>
        <p:sp>
          <p:nvSpPr>
            <p:cNvPr id="238" name="Google Shape;238;g39ab1047faa_0_83"/>
            <p:cNvSpPr/>
            <p:nvPr/>
          </p:nvSpPr>
          <p:spPr>
            <a:xfrm>
              <a:off x="0" y="0"/>
              <a:ext cx="5053288" cy="445994"/>
            </a:xfrm>
            <a:custGeom>
              <a:rect b="b" l="l" r="r" t="t"/>
              <a:pathLst>
                <a:path extrusionOk="0" h="445994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9ab1047faa_0_83"/>
            <p:cNvSpPr txBox="1"/>
            <p:nvPr/>
          </p:nvSpPr>
          <p:spPr>
            <a:xfrm>
              <a:off x="0" y="-38100"/>
              <a:ext cx="50532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g39ab1047faa_0_83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1" name="Google Shape;241;g39ab1047faa_0_83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242" name="Google Shape;242;g39ab1047faa_0_83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243" name="Google Shape;243;g39ab1047faa_0_83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g39ab1047faa_0_83"/>
          <p:cNvSpPr txBox="1"/>
          <p:nvPr/>
        </p:nvSpPr>
        <p:spPr>
          <a:xfrm>
            <a:off x="1546286" y="3500350"/>
            <a:ext cx="15137700" cy="43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sistema tiene que hablar el idioma del usuario. Se debe utilizar palabras, frases y conceptos que le sean familiares.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 recomendable que el diseño siga las convenciones del mundo real y se pueda intuir o comprender rápidamente como funciona la interfaz.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9ab1047faa_0_83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g39ab1047faa_0_83"/>
          <p:cNvSpPr txBox="1"/>
          <p:nvPr/>
        </p:nvSpPr>
        <p:spPr>
          <a:xfrm>
            <a:off x="2121474" y="908812"/>
            <a:ext cx="15137700" cy="29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7"/>
              <a:buFont typeface="Arial"/>
              <a:buNone/>
            </a:pPr>
            <a:r>
              <a:rPr b="0" i="0" lang="en-US" sz="50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Consistencia entre el sistema y el mundo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7"/>
              <a:buFont typeface="Arial"/>
              <a:buNone/>
            </a:pPr>
            <a:r>
              <a:t/>
            </a:r>
            <a:endParaRPr b="0" i="0" sz="505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g39ab1047faa_0_83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ab1047faa_0_97"/>
          <p:cNvSpPr/>
          <p:nvPr/>
        </p:nvSpPr>
        <p:spPr>
          <a:xfrm>
            <a:off x="0" y="0"/>
            <a:ext cx="18288000" cy="10378440"/>
          </a:xfrm>
          <a:custGeom>
            <a:rect b="b" l="l" r="r" t="t"/>
            <a:pathLst>
              <a:path extrusionOk="0"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g39ab1047faa_0_101"/>
          <p:cNvGrpSpPr/>
          <p:nvPr/>
        </p:nvGrpSpPr>
        <p:grpSpPr>
          <a:xfrm>
            <a:off x="1859047" y="457020"/>
            <a:ext cx="15867324" cy="1520388"/>
            <a:chOff x="0" y="-38100"/>
            <a:chExt cx="5053288" cy="484200"/>
          </a:xfrm>
        </p:grpSpPr>
        <p:sp>
          <p:nvSpPr>
            <p:cNvPr id="258" name="Google Shape;258;g39ab1047faa_0_101"/>
            <p:cNvSpPr/>
            <p:nvPr/>
          </p:nvSpPr>
          <p:spPr>
            <a:xfrm>
              <a:off x="0" y="0"/>
              <a:ext cx="5053288" cy="445994"/>
            </a:xfrm>
            <a:custGeom>
              <a:rect b="b" l="l" r="r" t="t"/>
              <a:pathLst>
                <a:path extrusionOk="0" h="445994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9ab1047faa_0_101"/>
            <p:cNvSpPr txBox="1"/>
            <p:nvPr/>
          </p:nvSpPr>
          <p:spPr>
            <a:xfrm>
              <a:off x="0" y="-38100"/>
              <a:ext cx="50532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g39ab1047faa_0_101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g39ab1047faa_0_101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262" name="Google Shape;262;g39ab1047faa_0_101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263" name="Google Shape;263;g39ab1047faa_0_101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g39ab1047faa_0_101"/>
          <p:cNvSpPr txBox="1"/>
          <p:nvPr/>
        </p:nvSpPr>
        <p:spPr>
          <a:xfrm>
            <a:off x="1829875" y="2950507"/>
            <a:ext cx="15399300" cy="59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usuarios suelen realizar acciones por error. Siempre debe existir una «salida de emergencia» para revertir una acción no deseada.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Ofrece al usuario el control de la plataforma para que se sienta seguro. Una forma sencilla es agregar la funcionalidad de «rehacer» y «deshacer»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g39ab1047faa_0_101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g39ab1047faa_0_101"/>
          <p:cNvSpPr txBox="1"/>
          <p:nvPr/>
        </p:nvSpPr>
        <p:spPr>
          <a:xfrm>
            <a:off x="2121474" y="832035"/>
            <a:ext cx="151377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rial"/>
              <a:buNone/>
            </a:pPr>
            <a:r>
              <a:rPr b="0" i="0" lang="en-US" sz="59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 Control y libertad del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9ab1047faa_0_101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ab1047faa_0_115"/>
          <p:cNvSpPr/>
          <p:nvPr/>
        </p:nvSpPr>
        <p:spPr>
          <a:xfrm>
            <a:off x="0" y="0"/>
            <a:ext cx="18288000" cy="10378440"/>
          </a:xfrm>
          <a:custGeom>
            <a:rect b="b" l="l" r="r" t="t"/>
            <a:pathLst>
              <a:path extrusionOk="0"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g39ab1047faa_0_119"/>
          <p:cNvGrpSpPr/>
          <p:nvPr/>
        </p:nvGrpSpPr>
        <p:grpSpPr>
          <a:xfrm>
            <a:off x="1859047" y="457020"/>
            <a:ext cx="15867324" cy="1520388"/>
            <a:chOff x="0" y="-38100"/>
            <a:chExt cx="5053288" cy="484200"/>
          </a:xfrm>
        </p:grpSpPr>
        <p:sp>
          <p:nvSpPr>
            <p:cNvPr id="278" name="Google Shape;278;g39ab1047faa_0_119"/>
            <p:cNvSpPr/>
            <p:nvPr/>
          </p:nvSpPr>
          <p:spPr>
            <a:xfrm>
              <a:off x="0" y="0"/>
              <a:ext cx="5053288" cy="445994"/>
            </a:xfrm>
            <a:custGeom>
              <a:rect b="b" l="l" r="r" t="t"/>
              <a:pathLst>
                <a:path extrusionOk="0" h="445994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9ab1047faa_0_119"/>
            <p:cNvSpPr txBox="1"/>
            <p:nvPr/>
          </p:nvSpPr>
          <p:spPr>
            <a:xfrm>
              <a:off x="0" y="-38100"/>
              <a:ext cx="50532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g39ab1047faa_0_119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1" name="Google Shape;281;g39ab1047faa_0_119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282" name="Google Shape;282;g39ab1047faa_0_119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283" name="Google Shape;283;g39ab1047faa_0_119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g39ab1047faa_0_119"/>
          <p:cNvSpPr txBox="1"/>
          <p:nvPr/>
        </p:nvSpPr>
        <p:spPr>
          <a:xfrm>
            <a:off x="1323505" y="2420996"/>
            <a:ext cx="16407900" cy="7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usuarios no deben verse obligados si diferentes palabras, situaciones o acciones significan lo mismo. Se debe seguir las convenciones establecidas en la plataforma y la industria.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Las personas ya tienen experiencia con otros productos, no solo con el nuestro. Cambiar ciertos elementos ya establecidos, obligará a los usuarios a aprender algo nuevo. Esto debe de evitarse.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Como por ejemplo: Mantener las convenciones establecidas por la industria («X» para cerrar, «Lupa» para buscar, etc.)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g39ab1047faa_0_119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39ab1047faa_0_119"/>
          <p:cNvSpPr txBox="1"/>
          <p:nvPr/>
        </p:nvSpPr>
        <p:spPr>
          <a:xfrm>
            <a:off x="1953543" y="619733"/>
            <a:ext cx="15137700" cy="1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57"/>
              <a:buFont typeface="Arial"/>
              <a:buNone/>
            </a:pPr>
            <a:r>
              <a:rPr b="0" i="0" lang="en-US" sz="70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4. Consistencia y estándares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9ab1047faa_0_119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ab1047faa_0_133"/>
          <p:cNvSpPr/>
          <p:nvPr/>
        </p:nvSpPr>
        <p:spPr>
          <a:xfrm>
            <a:off x="0" y="0"/>
            <a:ext cx="18288000" cy="10378440"/>
          </a:xfrm>
          <a:custGeom>
            <a:rect b="b" l="l" r="r" t="t"/>
            <a:pathLst>
              <a:path extrusionOk="0"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g39ab1047faa_0_137"/>
          <p:cNvGrpSpPr/>
          <p:nvPr/>
        </p:nvGrpSpPr>
        <p:grpSpPr>
          <a:xfrm>
            <a:off x="1859047" y="457020"/>
            <a:ext cx="15867324" cy="1520388"/>
            <a:chOff x="0" y="-38100"/>
            <a:chExt cx="5053288" cy="484200"/>
          </a:xfrm>
        </p:grpSpPr>
        <p:sp>
          <p:nvSpPr>
            <p:cNvPr id="298" name="Google Shape;298;g39ab1047faa_0_137"/>
            <p:cNvSpPr/>
            <p:nvPr/>
          </p:nvSpPr>
          <p:spPr>
            <a:xfrm>
              <a:off x="0" y="0"/>
              <a:ext cx="5053288" cy="445994"/>
            </a:xfrm>
            <a:custGeom>
              <a:rect b="b" l="l" r="r" t="t"/>
              <a:pathLst>
                <a:path extrusionOk="0" h="445994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9ab1047faa_0_137"/>
            <p:cNvSpPr txBox="1"/>
            <p:nvPr/>
          </p:nvSpPr>
          <p:spPr>
            <a:xfrm>
              <a:off x="0" y="-38100"/>
              <a:ext cx="50532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g39ab1047faa_0_137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1" name="Google Shape;301;g39ab1047faa_0_137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302" name="Google Shape;302;g39ab1047faa_0_137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303" name="Google Shape;303;g39ab1047faa_0_137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g39ab1047faa_0_137"/>
          <p:cNvSpPr txBox="1"/>
          <p:nvPr/>
        </p:nvSpPr>
        <p:spPr>
          <a:xfrm>
            <a:off x="2179163" y="2950350"/>
            <a:ext cx="14211000" cy="43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buenos mensajes de error son importantes. Pero mejor aún, es crear un diseño que evite que los errores ocurran.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esperar que los usuarios se equivoquen, agrega elementos que lo ayuden a prevenir los errores.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g39ab1047faa_0_137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g39ab1047faa_0_137"/>
          <p:cNvSpPr txBox="1"/>
          <p:nvPr/>
        </p:nvSpPr>
        <p:spPr>
          <a:xfrm>
            <a:off x="1953543" y="619733"/>
            <a:ext cx="15137700" cy="26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57"/>
              <a:buFont typeface="Arial"/>
              <a:buNone/>
            </a:pPr>
            <a:r>
              <a:rPr b="0" i="0" lang="en-US" sz="70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5. Prevención de errores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57"/>
              <a:buFont typeface="Arial"/>
              <a:buNone/>
            </a:pPr>
            <a:r>
              <a:t/>
            </a:r>
            <a:endParaRPr b="0" i="0" sz="705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g39ab1047faa_0_137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ab1047faa_0_151"/>
          <p:cNvSpPr/>
          <p:nvPr/>
        </p:nvSpPr>
        <p:spPr>
          <a:xfrm>
            <a:off x="0" y="0"/>
            <a:ext cx="18288000" cy="10378440"/>
          </a:xfrm>
          <a:custGeom>
            <a:rect b="b" l="l" r="r" t="t"/>
            <a:pathLst>
              <a:path extrusionOk="0"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g39ab1047faa_0_155"/>
          <p:cNvGrpSpPr/>
          <p:nvPr/>
        </p:nvGrpSpPr>
        <p:grpSpPr>
          <a:xfrm>
            <a:off x="1859047" y="457020"/>
            <a:ext cx="15867324" cy="1520388"/>
            <a:chOff x="0" y="-38100"/>
            <a:chExt cx="5053288" cy="484200"/>
          </a:xfrm>
        </p:grpSpPr>
        <p:sp>
          <p:nvSpPr>
            <p:cNvPr id="318" name="Google Shape;318;g39ab1047faa_0_155"/>
            <p:cNvSpPr/>
            <p:nvPr/>
          </p:nvSpPr>
          <p:spPr>
            <a:xfrm>
              <a:off x="0" y="0"/>
              <a:ext cx="5053288" cy="445994"/>
            </a:xfrm>
            <a:custGeom>
              <a:rect b="b" l="l" r="r" t="t"/>
              <a:pathLst>
                <a:path extrusionOk="0" h="445994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9ab1047faa_0_155"/>
            <p:cNvSpPr txBox="1"/>
            <p:nvPr/>
          </p:nvSpPr>
          <p:spPr>
            <a:xfrm>
              <a:off x="0" y="-38100"/>
              <a:ext cx="50532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g39ab1047faa_0_155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1" name="Google Shape;321;g39ab1047faa_0_155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322" name="Google Shape;322;g39ab1047faa_0_155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323" name="Google Shape;323;g39ab1047faa_0_155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g39ab1047faa_0_155"/>
          <p:cNvSpPr txBox="1"/>
          <p:nvPr/>
        </p:nvSpPr>
        <p:spPr>
          <a:xfrm>
            <a:off x="1462750" y="2541750"/>
            <a:ext cx="15927600" cy="6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Minimizar el uso de memoria del usuario haciendo visibles los elementos, las acciones y las opciones.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Las interfaces deben promover el reconocimiento y evitar que los usuarios memoricen sus acciones o elementos al desplazarse por el sistema. Algunas preguntas que te pueden ayudar son: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8873" lvl="1" marL="769118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¿Conoce el usuario de donde viene y a donde va?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873" lvl="1" marL="769118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¿El usuario tiene que recordar cosas para entender lo que esta pasando?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873" lvl="1" marL="769118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¿cómo lo ayudamos a recodar?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g39ab1047faa_0_155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g39ab1047faa_0_155"/>
          <p:cNvSpPr txBox="1"/>
          <p:nvPr/>
        </p:nvSpPr>
        <p:spPr>
          <a:xfrm>
            <a:off x="2108382" y="885736"/>
            <a:ext cx="151377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rial"/>
              <a:buNone/>
            </a:pPr>
            <a:r>
              <a:rPr b="0" i="0" lang="en-US" sz="54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6. Reconocimiento en lugar de recuerdo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9ab1047faa_0_155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ab1047faa_0_169"/>
          <p:cNvSpPr/>
          <p:nvPr/>
        </p:nvSpPr>
        <p:spPr>
          <a:xfrm>
            <a:off x="0" y="0"/>
            <a:ext cx="18288000" cy="10378440"/>
          </a:xfrm>
          <a:custGeom>
            <a:rect b="b" l="l" r="r" t="t"/>
            <a:pathLst>
              <a:path extrusionOk="0"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g39ab1047faa_0_173"/>
          <p:cNvGrpSpPr/>
          <p:nvPr/>
        </p:nvGrpSpPr>
        <p:grpSpPr>
          <a:xfrm>
            <a:off x="1859047" y="457020"/>
            <a:ext cx="15867324" cy="1520388"/>
            <a:chOff x="0" y="-38100"/>
            <a:chExt cx="5053288" cy="484200"/>
          </a:xfrm>
        </p:grpSpPr>
        <p:sp>
          <p:nvSpPr>
            <p:cNvPr id="338" name="Google Shape;338;g39ab1047faa_0_173"/>
            <p:cNvSpPr/>
            <p:nvPr/>
          </p:nvSpPr>
          <p:spPr>
            <a:xfrm>
              <a:off x="0" y="0"/>
              <a:ext cx="5053288" cy="445994"/>
            </a:xfrm>
            <a:custGeom>
              <a:rect b="b" l="l" r="r" t="t"/>
              <a:pathLst>
                <a:path extrusionOk="0" h="445994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9ab1047faa_0_173"/>
            <p:cNvSpPr txBox="1"/>
            <p:nvPr/>
          </p:nvSpPr>
          <p:spPr>
            <a:xfrm>
              <a:off x="0" y="-38100"/>
              <a:ext cx="50532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g39ab1047faa_0_173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1" name="Google Shape;341;g39ab1047faa_0_173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342" name="Google Shape;342;g39ab1047faa_0_173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343" name="Google Shape;343;g39ab1047faa_0_173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g39ab1047faa_0_173"/>
          <p:cNvSpPr txBox="1"/>
          <p:nvPr/>
        </p:nvSpPr>
        <p:spPr>
          <a:xfrm>
            <a:off x="2007675" y="2991525"/>
            <a:ext cx="15365400" cy="59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usuarios más experimentados, deben poseer atajos y aceleradores para poder realizar sus operaciones mas habituales. De esta forma, tiene alternativas para personalizar sus acciones frecuentes.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5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clave es la personalización tanto del contenido como de la funcionalidad para cada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g39ab1047faa_0_173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g39ab1047faa_0_173"/>
          <p:cNvSpPr txBox="1"/>
          <p:nvPr/>
        </p:nvSpPr>
        <p:spPr>
          <a:xfrm>
            <a:off x="2121474" y="700060"/>
            <a:ext cx="151377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rial"/>
              <a:buNone/>
            </a:pPr>
            <a:r>
              <a:rPr b="0" i="0" lang="en-US" sz="59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7. Flexibilidad y eficiencia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9ab1047faa_0_173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ab1047faa_0_187"/>
          <p:cNvSpPr/>
          <p:nvPr/>
        </p:nvSpPr>
        <p:spPr>
          <a:xfrm>
            <a:off x="0" y="0"/>
            <a:ext cx="18288000" cy="10378440"/>
          </a:xfrm>
          <a:custGeom>
            <a:rect b="b" l="l" r="r" t="t"/>
            <a:pathLst>
              <a:path extrusionOk="0"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g39ab1047faa_0_191"/>
          <p:cNvGrpSpPr/>
          <p:nvPr/>
        </p:nvGrpSpPr>
        <p:grpSpPr>
          <a:xfrm>
            <a:off x="1859047" y="457020"/>
            <a:ext cx="15867324" cy="1520388"/>
            <a:chOff x="0" y="-38100"/>
            <a:chExt cx="5053288" cy="484200"/>
          </a:xfrm>
        </p:grpSpPr>
        <p:sp>
          <p:nvSpPr>
            <p:cNvPr id="358" name="Google Shape;358;g39ab1047faa_0_191"/>
            <p:cNvSpPr/>
            <p:nvPr/>
          </p:nvSpPr>
          <p:spPr>
            <a:xfrm>
              <a:off x="0" y="0"/>
              <a:ext cx="5053288" cy="445994"/>
            </a:xfrm>
            <a:custGeom>
              <a:rect b="b" l="l" r="r" t="t"/>
              <a:pathLst>
                <a:path extrusionOk="0" h="445994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9ab1047faa_0_191"/>
            <p:cNvSpPr txBox="1"/>
            <p:nvPr/>
          </p:nvSpPr>
          <p:spPr>
            <a:xfrm>
              <a:off x="0" y="-38100"/>
              <a:ext cx="50532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g39ab1047faa_0_191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1" name="Google Shape;361;g39ab1047faa_0_191"/>
          <p:cNvGrpSpPr/>
          <p:nvPr/>
        </p:nvGrpSpPr>
        <p:grpSpPr>
          <a:xfrm>
            <a:off x="-219545" y="9403906"/>
            <a:ext cx="3086120" cy="1091229"/>
            <a:chOff x="0" y="-38100"/>
            <a:chExt cx="812800" cy="287400"/>
          </a:xfrm>
        </p:grpSpPr>
        <p:sp>
          <p:nvSpPr>
            <p:cNvPr id="362" name="Google Shape;362;g39ab1047faa_0_191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363" name="Google Shape;363;g39ab1047faa_0_191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g39ab1047faa_0_191"/>
          <p:cNvSpPr txBox="1"/>
          <p:nvPr/>
        </p:nvSpPr>
        <p:spPr>
          <a:xfrm>
            <a:off x="1829875" y="2515300"/>
            <a:ext cx="15480900" cy="7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Las interfaces no deben contener información irrelevante o que rara vez se necesite. Se debe conocer que tipo de contenido necesita el usuario.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Cada elemento extra compite con la información relevante y disminuye su visibilidad. Recuerda, menos es más. Responde a estas preguntas: 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273" lvl="1" marL="769118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¿Qué necesita mi usuario?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273" lvl="1" marL="769118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¿Qué valor le aporta lo que le estoy mostrando?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g39ab1047faa_0_191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g39ab1047faa_0_191"/>
          <p:cNvSpPr txBox="1"/>
          <p:nvPr/>
        </p:nvSpPr>
        <p:spPr>
          <a:xfrm>
            <a:off x="2121474" y="700060"/>
            <a:ext cx="151377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rial"/>
              <a:buNone/>
            </a:pPr>
            <a:r>
              <a:rPr b="0" i="0" lang="en-US" sz="59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8. Diseño estético y minimalista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9ab1047faa_0_191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9ab1047faa_0_205"/>
          <p:cNvSpPr/>
          <p:nvPr/>
        </p:nvSpPr>
        <p:spPr>
          <a:xfrm>
            <a:off x="0" y="0"/>
            <a:ext cx="18126872" cy="10287000"/>
          </a:xfrm>
          <a:custGeom>
            <a:rect b="b" l="l" r="r" t="t"/>
            <a:pathLst>
              <a:path extrusionOk="0" h="10287000" w="18126872">
                <a:moveTo>
                  <a:pt x="0" y="0"/>
                </a:moveTo>
                <a:lnTo>
                  <a:pt x="18126872" y="0"/>
                </a:lnTo>
                <a:lnTo>
                  <a:pt x="181268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ab1047faa_0_209"/>
          <p:cNvSpPr/>
          <p:nvPr/>
        </p:nvSpPr>
        <p:spPr>
          <a:xfrm>
            <a:off x="0" y="160020"/>
            <a:ext cx="18288000" cy="9966960"/>
          </a:xfrm>
          <a:custGeom>
            <a:rect b="b" l="l" r="r" t="t"/>
            <a:pathLst>
              <a:path extrusionOk="0" h="9966960" w="18288000">
                <a:moveTo>
                  <a:pt x="0" y="0"/>
                </a:moveTo>
                <a:lnTo>
                  <a:pt x="18288000" y="0"/>
                </a:lnTo>
                <a:lnTo>
                  <a:pt x="18288000" y="9966960"/>
                </a:lnTo>
                <a:lnTo>
                  <a:pt x="0" y="9966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g39ab1047faa_0_213"/>
          <p:cNvGrpSpPr/>
          <p:nvPr/>
        </p:nvGrpSpPr>
        <p:grpSpPr>
          <a:xfrm>
            <a:off x="1859050" y="149727"/>
            <a:ext cx="15867324" cy="2134776"/>
            <a:chOff x="0" y="-38100"/>
            <a:chExt cx="5053288" cy="582000"/>
          </a:xfrm>
        </p:grpSpPr>
        <p:sp>
          <p:nvSpPr>
            <p:cNvPr id="383" name="Google Shape;383;g39ab1047faa_0_213"/>
            <p:cNvSpPr/>
            <p:nvPr/>
          </p:nvSpPr>
          <p:spPr>
            <a:xfrm>
              <a:off x="0" y="0"/>
              <a:ext cx="5053288" cy="543861"/>
            </a:xfrm>
            <a:custGeom>
              <a:rect b="b" l="l" r="r" t="t"/>
              <a:pathLst>
                <a:path extrusionOk="0" h="543861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520928"/>
                  </a:lnTo>
                  <a:cubicBezTo>
                    <a:pt x="5053288" y="527010"/>
                    <a:pt x="5050872" y="532843"/>
                    <a:pt x="5046572" y="537144"/>
                  </a:cubicBezTo>
                  <a:cubicBezTo>
                    <a:pt x="5042271" y="541444"/>
                    <a:pt x="5036438" y="543861"/>
                    <a:pt x="5030357" y="543861"/>
                  </a:cubicBezTo>
                  <a:lnTo>
                    <a:pt x="22932" y="543861"/>
                  </a:lnTo>
                  <a:cubicBezTo>
                    <a:pt x="16850" y="543861"/>
                    <a:pt x="11017" y="541444"/>
                    <a:pt x="6717" y="537144"/>
                  </a:cubicBezTo>
                  <a:cubicBezTo>
                    <a:pt x="2416" y="532843"/>
                    <a:pt x="0" y="527010"/>
                    <a:pt x="0" y="520928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9ab1047faa_0_213"/>
            <p:cNvSpPr txBox="1"/>
            <p:nvPr/>
          </p:nvSpPr>
          <p:spPr>
            <a:xfrm>
              <a:off x="0" y="-38100"/>
              <a:ext cx="50532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g39ab1047faa_0_213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6" name="Google Shape;386;g39ab1047faa_0_213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387" name="Google Shape;387;g39ab1047faa_0_213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388" name="Google Shape;388;g39ab1047faa_0_213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g39ab1047faa_0_213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g39ab1047faa_0_213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g39ab1047faa_0_213"/>
          <p:cNvSpPr/>
          <p:nvPr/>
        </p:nvSpPr>
        <p:spPr>
          <a:xfrm>
            <a:off x="2950383" y="5718941"/>
            <a:ext cx="13267094" cy="2470996"/>
          </a:xfrm>
          <a:custGeom>
            <a:rect b="b" l="l" r="r" t="t"/>
            <a:pathLst>
              <a:path extrusionOk="0" h="2470996" w="13267094">
                <a:moveTo>
                  <a:pt x="0" y="0"/>
                </a:moveTo>
                <a:lnTo>
                  <a:pt x="13267093" y="0"/>
                </a:lnTo>
                <a:lnTo>
                  <a:pt x="13267093" y="2470997"/>
                </a:lnTo>
                <a:lnTo>
                  <a:pt x="0" y="2470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2" name="Google Shape;392;g39ab1047faa_0_213"/>
          <p:cNvSpPr txBox="1"/>
          <p:nvPr/>
        </p:nvSpPr>
        <p:spPr>
          <a:xfrm>
            <a:off x="1829875" y="2945850"/>
            <a:ext cx="15388200" cy="3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4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mensajes de error deben expresarse en un lenguaje entendible, sin códigos de error. Se debe describir con precisión el problema y sugerir constructivamente una solución.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g39ab1047faa_0_213"/>
          <p:cNvSpPr txBox="1"/>
          <p:nvPr/>
        </p:nvSpPr>
        <p:spPr>
          <a:xfrm>
            <a:off x="2015017" y="380437"/>
            <a:ext cx="15137700" cy="17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7"/>
              <a:buFont typeface="Arial"/>
              <a:buNone/>
            </a:pPr>
            <a:r>
              <a:rPr b="1" i="0" lang="en-US" sz="465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9. Ayudar a los usuarios a reconocer, diagnosticar y recuperarse de errores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ab1047faa_0_228"/>
          <p:cNvSpPr/>
          <p:nvPr/>
        </p:nvSpPr>
        <p:spPr>
          <a:xfrm>
            <a:off x="0" y="0"/>
            <a:ext cx="18288000" cy="10378440"/>
          </a:xfrm>
          <a:custGeom>
            <a:rect b="b" l="l" r="r" t="t"/>
            <a:pathLst>
              <a:path extrusionOk="0"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g39ab1047faa_0_232"/>
          <p:cNvGrpSpPr/>
          <p:nvPr/>
        </p:nvGrpSpPr>
        <p:grpSpPr>
          <a:xfrm>
            <a:off x="1859047" y="149721"/>
            <a:ext cx="15867324" cy="1491575"/>
            <a:chOff x="0" y="-38100"/>
            <a:chExt cx="5053288" cy="475024"/>
          </a:xfrm>
        </p:grpSpPr>
        <p:sp>
          <p:nvSpPr>
            <p:cNvPr id="404" name="Google Shape;404;g39ab1047faa_0_232"/>
            <p:cNvSpPr/>
            <p:nvPr/>
          </p:nvSpPr>
          <p:spPr>
            <a:xfrm>
              <a:off x="0" y="0"/>
              <a:ext cx="5053288" cy="436924"/>
            </a:xfrm>
            <a:custGeom>
              <a:rect b="b" l="l" r="r" t="t"/>
              <a:pathLst>
                <a:path extrusionOk="0" h="436924" w="5053288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13991"/>
                  </a:lnTo>
                  <a:cubicBezTo>
                    <a:pt x="5053288" y="420073"/>
                    <a:pt x="5050872" y="425906"/>
                    <a:pt x="5046572" y="430207"/>
                  </a:cubicBezTo>
                  <a:cubicBezTo>
                    <a:pt x="5042271" y="434507"/>
                    <a:pt x="5036438" y="436924"/>
                    <a:pt x="5030357" y="436924"/>
                  </a:cubicBezTo>
                  <a:lnTo>
                    <a:pt x="22932" y="436924"/>
                  </a:lnTo>
                  <a:cubicBezTo>
                    <a:pt x="16850" y="436924"/>
                    <a:pt x="11017" y="434507"/>
                    <a:pt x="6717" y="430207"/>
                  </a:cubicBezTo>
                  <a:cubicBezTo>
                    <a:pt x="2416" y="425906"/>
                    <a:pt x="0" y="420073"/>
                    <a:pt x="0" y="413991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9ab1047faa_0_232"/>
            <p:cNvSpPr txBox="1"/>
            <p:nvPr/>
          </p:nvSpPr>
          <p:spPr>
            <a:xfrm>
              <a:off x="0" y="-38100"/>
              <a:ext cx="5053200" cy="4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g39ab1047faa_0_232"/>
          <p:cNvSpPr/>
          <p:nvPr/>
        </p:nvSpPr>
        <p:spPr>
          <a:xfrm rot="-2700000">
            <a:off x="295256" y="564051"/>
            <a:ext cx="1425624" cy="1425624"/>
          </a:xfrm>
          <a:custGeom>
            <a:rect b="b" l="l" r="r" t="t"/>
            <a:pathLst>
              <a:path extrusionOk="0" h="1424832" w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7" name="Google Shape;407;g39ab1047faa_0_232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408" name="Google Shape;408;g39ab1047faa_0_232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409" name="Google Shape;409;g39ab1047faa_0_232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g39ab1047faa_0_232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1" name="Google Shape;411;g39ab1047faa_0_232"/>
          <p:cNvSpPr/>
          <p:nvPr/>
        </p:nvSpPr>
        <p:spPr>
          <a:xfrm rot="-2700000">
            <a:off x="462313" y="710031"/>
            <a:ext cx="1133665" cy="1133665"/>
          </a:xfrm>
          <a:custGeom>
            <a:rect b="b" l="l" r="r" t="t"/>
            <a:pathLst>
              <a:path extrusionOk="0" h="1133035" w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g39ab1047faa_0_232"/>
          <p:cNvSpPr txBox="1"/>
          <p:nvPr/>
        </p:nvSpPr>
        <p:spPr>
          <a:xfrm>
            <a:off x="1829875" y="2284375"/>
            <a:ext cx="151752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4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 ideal es que un sistema no necesite ninguna explicación adicional. Pero en algunos casos, se debe proporcionar una documentación para ayudar a los usuarios a entender cómo completar sus tareas.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4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1" i="0" lang="en-US" sz="346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contenido de ayuda y documentación deben ser fáciles de encontrar y tener pasos definidos de manera concisa, es decir, corto no extenso.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t/>
            </a:r>
            <a:endParaRPr b="1" i="0" sz="3562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g39ab1047faa_0_232"/>
          <p:cNvSpPr txBox="1"/>
          <p:nvPr/>
        </p:nvSpPr>
        <p:spPr>
          <a:xfrm>
            <a:off x="2015017" y="361387"/>
            <a:ext cx="151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69"/>
              <a:buFont typeface="Arial"/>
              <a:buNone/>
            </a:pPr>
            <a:r>
              <a:rPr b="1" i="0" lang="en-US" sz="566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10. Ayuda y documentación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753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g39ab1047faa_0_246"/>
          <p:cNvGrpSpPr/>
          <p:nvPr/>
        </p:nvGrpSpPr>
        <p:grpSpPr>
          <a:xfrm>
            <a:off x="3362355" y="3436117"/>
            <a:ext cx="10552734" cy="2722098"/>
            <a:chOff x="0" y="-152400"/>
            <a:chExt cx="2320200" cy="598500"/>
          </a:xfrm>
        </p:grpSpPr>
        <p:sp>
          <p:nvSpPr>
            <p:cNvPr id="419" name="Google Shape;419;g39ab1047faa_0_246"/>
            <p:cNvSpPr/>
            <p:nvPr/>
          </p:nvSpPr>
          <p:spPr>
            <a:xfrm>
              <a:off x="0" y="0"/>
              <a:ext cx="2320054" cy="445994"/>
            </a:xfrm>
            <a:custGeom>
              <a:rect b="b" l="l" r="r" t="t"/>
              <a:pathLst>
                <a:path extrusionOk="0" h="445994" w="2320054">
                  <a:moveTo>
                    <a:pt x="34483" y="0"/>
                  </a:moveTo>
                  <a:lnTo>
                    <a:pt x="2285571" y="0"/>
                  </a:lnTo>
                  <a:cubicBezTo>
                    <a:pt x="2294716" y="0"/>
                    <a:pt x="2303487" y="3633"/>
                    <a:pt x="2309954" y="10100"/>
                  </a:cubicBezTo>
                  <a:cubicBezTo>
                    <a:pt x="2316421" y="16567"/>
                    <a:pt x="2320054" y="25338"/>
                    <a:pt x="2320054" y="34483"/>
                  </a:cubicBezTo>
                  <a:lnTo>
                    <a:pt x="2320054" y="411511"/>
                  </a:lnTo>
                  <a:cubicBezTo>
                    <a:pt x="2320054" y="420657"/>
                    <a:pt x="2316421" y="429428"/>
                    <a:pt x="2309954" y="435894"/>
                  </a:cubicBezTo>
                  <a:cubicBezTo>
                    <a:pt x="2303487" y="442361"/>
                    <a:pt x="2294716" y="445994"/>
                    <a:pt x="2285571" y="445994"/>
                  </a:cubicBezTo>
                  <a:lnTo>
                    <a:pt x="34483" y="445994"/>
                  </a:lnTo>
                  <a:cubicBezTo>
                    <a:pt x="25338" y="445994"/>
                    <a:pt x="16567" y="442361"/>
                    <a:pt x="10100" y="435894"/>
                  </a:cubicBezTo>
                  <a:cubicBezTo>
                    <a:pt x="3633" y="429428"/>
                    <a:pt x="0" y="420657"/>
                    <a:pt x="0" y="411511"/>
                  </a:cubicBezTo>
                  <a:lnTo>
                    <a:pt x="0" y="34483"/>
                  </a:lnTo>
                  <a:cubicBezTo>
                    <a:pt x="0" y="25338"/>
                    <a:pt x="3633" y="16567"/>
                    <a:pt x="10100" y="10100"/>
                  </a:cubicBezTo>
                  <a:cubicBezTo>
                    <a:pt x="16567" y="3633"/>
                    <a:pt x="25338" y="0"/>
                    <a:pt x="3448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9ab1047faa_0_246"/>
            <p:cNvSpPr txBox="1"/>
            <p:nvPr/>
          </p:nvSpPr>
          <p:spPr>
            <a:xfrm>
              <a:off x="0" y="-152400"/>
              <a:ext cx="2320200" cy="5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9"/>
                <a:buFont typeface="Arial"/>
                <a:buNone/>
              </a:pPr>
              <a:r>
                <a:rPr b="1" i="0" lang="en-US" sz="8199" u="none" cap="none" strike="noStrike">
                  <a:solidFill>
                    <a:srgbClr val="05999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Diseño UX/UI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1" name="Google Shape;421;g39ab1047faa_0_246"/>
          <p:cNvSpPr/>
          <p:nvPr/>
        </p:nvSpPr>
        <p:spPr>
          <a:xfrm rot="-2700000">
            <a:off x="12882764" y="4111007"/>
            <a:ext cx="2064985" cy="2064985"/>
          </a:xfrm>
          <a:custGeom>
            <a:rect b="b" l="l" r="r" t="t"/>
            <a:pathLst>
              <a:path extrusionOk="0" h="2063837" w="2063837">
                <a:moveTo>
                  <a:pt x="0" y="0"/>
                </a:moveTo>
                <a:lnTo>
                  <a:pt x="2063837" y="0"/>
                </a:lnTo>
                <a:lnTo>
                  <a:pt x="2063837" y="2063838"/>
                </a:lnTo>
                <a:lnTo>
                  <a:pt x="0" y="20638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2" name="Google Shape;422;g39ab1047faa_0_246"/>
          <p:cNvGrpSpPr/>
          <p:nvPr/>
        </p:nvGrpSpPr>
        <p:grpSpPr>
          <a:xfrm>
            <a:off x="-219545" y="8913224"/>
            <a:ext cx="3086120" cy="1091229"/>
            <a:chOff x="0" y="-38100"/>
            <a:chExt cx="812800" cy="287400"/>
          </a:xfrm>
        </p:grpSpPr>
        <p:sp>
          <p:nvSpPr>
            <p:cNvPr id="423" name="Google Shape;423;g39ab1047faa_0_246"/>
            <p:cNvSpPr/>
            <p:nvPr/>
          </p:nvSpPr>
          <p:spPr>
            <a:xfrm>
              <a:off x="0" y="0"/>
              <a:ext cx="812800" cy="249287"/>
            </a:xfrm>
            <a:custGeom>
              <a:rect b="b" l="l" r="r" t="t"/>
              <a:pathLst>
                <a:path extrusionOk="0" h="2492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  <a:ln>
              <a:noFill/>
            </a:ln>
          </p:spPr>
        </p:sp>
        <p:sp>
          <p:nvSpPr>
            <p:cNvPr id="424" name="Google Shape;424;g39ab1047faa_0_246"/>
            <p:cNvSpPr txBox="1"/>
            <p:nvPr/>
          </p:nvSpPr>
          <p:spPr>
            <a:xfrm>
              <a:off x="0" y="-38100"/>
              <a:ext cx="812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g39ab1047faa_0_246"/>
          <p:cNvSpPr/>
          <p:nvPr/>
        </p:nvSpPr>
        <p:spPr>
          <a:xfrm rot="-3729289">
            <a:off x="-2034854" y="2944221"/>
            <a:ext cx="5333214" cy="5293214"/>
          </a:xfrm>
          <a:custGeom>
            <a:rect b="b" l="l" r="r" t="t"/>
            <a:pathLst>
              <a:path extrusionOk="0" h="5288506" w="5328470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6" name="Google Shape;426;g39ab1047faa_0_246"/>
          <p:cNvSpPr/>
          <p:nvPr/>
        </p:nvSpPr>
        <p:spPr>
          <a:xfrm>
            <a:off x="16390186" y="0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g39ab1047faa_0_246"/>
          <p:cNvSpPr/>
          <p:nvPr/>
        </p:nvSpPr>
        <p:spPr>
          <a:xfrm rot="-2700000">
            <a:off x="13094046" y="4321593"/>
            <a:ext cx="1642088" cy="1642088"/>
          </a:xfrm>
          <a:custGeom>
            <a:rect b="b" l="l" r="r" t="t"/>
            <a:pathLst>
              <a:path extrusionOk="0" h="1641175" w="1641175">
                <a:moveTo>
                  <a:pt x="0" y="0"/>
                </a:moveTo>
                <a:lnTo>
                  <a:pt x="1641175" y="0"/>
                </a:lnTo>
                <a:lnTo>
                  <a:pt x="1641175" y="1641175"/>
                </a:lnTo>
                <a:lnTo>
                  <a:pt x="0" y="164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ab1047faa_0_259"/>
          <p:cNvSpPr/>
          <p:nvPr/>
        </p:nvSpPr>
        <p:spPr>
          <a:xfrm rot="-1971343">
            <a:off x="17167261" y="-1169177"/>
            <a:ext cx="5328220" cy="5288258"/>
          </a:xfrm>
          <a:custGeom>
            <a:rect b="b" l="l" r="r" t="t"/>
            <a:pathLst>
              <a:path extrusionOk="0" h="5288506" w="5328470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g39ab1047faa_0_259"/>
          <p:cNvSpPr txBox="1"/>
          <p:nvPr/>
        </p:nvSpPr>
        <p:spPr>
          <a:xfrm>
            <a:off x="1028700" y="1072479"/>
            <a:ext cx="19209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9ab1047faa_0_259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5" name="Google Shape;435;g39ab1047faa_0_259"/>
          <p:cNvGrpSpPr/>
          <p:nvPr/>
        </p:nvGrpSpPr>
        <p:grpSpPr>
          <a:xfrm>
            <a:off x="16055623" y="8354196"/>
            <a:ext cx="1582847" cy="1582847"/>
            <a:chOff x="0" y="0"/>
            <a:chExt cx="812800" cy="812800"/>
          </a:xfrm>
        </p:grpSpPr>
        <p:sp>
          <p:nvSpPr>
            <p:cNvPr id="436" name="Google Shape;436;g39ab1047faa_0_25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9ab1047faa_0_25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g39ab1047faa_0_259"/>
          <p:cNvSpPr/>
          <p:nvPr/>
        </p:nvSpPr>
        <p:spPr>
          <a:xfrm>
            <a:off x="11193447" y="0"/>
            <a:ext cx="9141978" cy="10287000"/>
          </a:xfrm>
          <a:custGeom>
            <a:rect b="b" l="l" r="r" t="t"/>
            <a:pathLst>
              <a:path extrusionOk="0" h="10287000" w="9141978">
                <a:moveTo>
                  <a:pt x="0" y="0"/>
                </a:moveTo>
                <a:lnTo>
                  <a:pt x="9141978" y="0"/>
                </a:lnTo>
                <a:lnTo>
                  <a:pt x="91419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65079" r="-40899" t="0"/>
            </a:stretch>
          </a:blipFill>
          <a:ln>
            <a:noFill/>
          </a:ln>
        </p:spPr>
      </p:sp>
      <p:sp>
        <p:nvSpPr>
          <p:cNvPr id="439" name="Google Shape;439;g39ab1047faa_0_259"/>
          <p:cNvSpPr txBox="1"/>
          <p:nvPr/>
        </p:nvSpPr>
        <p:spPr>
          <a:xfrm>
            <a:off x="1028700" y="3591538"/>
            <a:ext cx="8937300" cy="59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Disciplina que diseña experiencias de usuario útiles, fáciles y agradables que se centra en cómo las personas interactúan con un producto o servicio.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3195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Montserrat"/>
              <a:buChar char="•"/>
            </a:pPr>
            <a:r>
              <a:t/>
            </a:r>
            <a:endParaRPr b="0" i="0" sz="290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hacer que un producto se sienta fácil e intuitivo de usar.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t/>
            </a:r>
            <a:endParaRPr b="0" i="0" sz="290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Diseñar pensando primero en las personas y no en la tecnología.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9ab1047faa_0_259"/>
          <p:cNvSpPr txBox="1"/>
          <p:nvPr/>
        </p:nvSpPr>
        <p:spPr>
          <a:xfrm>
            <a:off x="1028700" y="2336075"/>
            <a:ext cx="8040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-US"/>
              <a:t>    </a:t>
            </a:r>
            <a:r>
              <a:rPr b="0" i="0" lang="en-US" sz="5000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9ab1047faa_0_271"/>
          <p:cNvSpPr/>
          <p:nvPr/>
        </p:nvSpPr>
        <p:spPr>
          <a:xfrm rot="-1971343">
            <a:off x="17167261" y="-1169177"/>
            <a:ext cx="5328220" cy="5288258"/>
          </a:xfrm>
          <a:custGeom>
            <a:rect b="b" l="l" r="r" t="t"/>
            <a:pathLst>
              <a:path extrusionOk="0" h="5288506" w="5328470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g39ab1047faa_0_271"/>
          <p:cNvSpPr txBox="1"/>
          <p:nvPr/>
        </p:nvSpPr>
        <p:spPr>
          <a:xfrm>
            <a:off x="1028700" y="1072479"/>
            <a:ext cx="19209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9ab1047faa_0_271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8" name="Google Shape;448;g39ab1047faa_0_271"/>
          <p:cNvGrpSpPr/>
          <p:nvPr/>
        </p:nvGrpSpPr>
        <p:grpSpPr>
          <a:xfrm>
            <a:off x="16055623" y="8354196"/>
            <a:ext cx="1582847" cy="1582847"/>
            <a:chOff x="0" y="0"/>
            <a:chExt cx="812800" cy="812800"/>
          </a:xfrm>
        </p:grpSpPr>
        <p:sp>
          <p:nvSpPr>
            <p:cNvPr id="449" name="Google Shape;449;g39ab1047faa_0_27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9ab1047faa_0_27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1" name="Google Shape;451;g39ab1047faa_0_271"/>
          <p:cNvSpPr/>
          <p:nvPr/>
        </p:nvSpPr>
        <p:spPr>
          <a:xfrm>
            <a:off x="11193447" y="0"/>
            <a:ext cx="9141978" cy="10287000"/>
          </a:xfrm>
          <a:custGeom>
            <a:rect b="b" l="l" r="r" t="t"/>
            <a:pathLst>
              <a:path extrusionOk="0" h="10287000" w="9141978">
                <a:moveTo>
                  <a:pt x="0" y="0"/>
                </a:moveTo>
                <a:lnTo>
                  <a:pt x="9141978" y="0"/>
                </a:lnTo>
                <a:lnTo>
                  <a:pt x="91419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65079" r="-40899" t="0"/>
            </a:stretch>
          </a:blipFill>
          <a:ln>
            <a:noFill/>
          </a:ln>
        </p:spPr>
      </p:sp>
      <p:sp>
        <p:nvSpPr>
          <p:cNvPr id="452" name="Google Shape;452;g39ab1047faa_0_271"/>
          <p:cNvSpPr txBox="1"/>
          <p:nvPr/>
        </p:nvSpPr>
        <p:spPr>
          <a:xfrm>
            <a:off x="1028700" y="4542695"/>
            <a:ext cx="8937300" cy="54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el diseño de la interfaz visual con la que interactúa el usuario donde se analiza colores, tipografía, iconos, botones y disposición de elementos.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t/>
            </a:r>
            <a:endParaRPr b="0" i="0" sz="290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cómo “se ve” y “se toca” una app o página web, es decir, lo que hace que un software no solo funcione bien, sino que sea agradable de mirar y usar.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9ab1047faa_0_271"/>
          <p:cNvSpPr txBox="1"/>
          <p:nvPr/>
        </p:nvSpPr>
        <p:spPr>
          <a:xfrm>
            <a:off x="1028700" y="2336063"/>
            <a:ext cx="5547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9ab1047faa_0_283"/>
          <p:cNvSpPr txBox="1"/>
          <p:nvPr/>
        </p:nvSpPr>
        <p:spPr>
          <a:xfrm>
            <a:off x="1028700" y="1082004"/>
            <a:ext cx="151473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rial"/>
              <a:buNone/>
            </a:pPr>
            <a:r>
              <a:rPr b="1" i="0" lang="en-US" sz="59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UI - EVOLUCIÓN DE LAS INTERFACES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9ab1047faa_0_283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0" name="Google Shape;460;g39ab1047faa_0_283"/>
          <p:cNvSpPr/>
          <p:nvPr/>
        </p:nvSpPr>
        <p:spPr>
          <a:xfrm>
            <a:off x="10472342" y="2589169"/>
            <a:ext cx="7532686" cy="6458313"/>
          </a:xfrm>
          <a:custGeom>
            <a:rect b="b" l="l" r="r" t="t"/>
            <a:pathLst>
              <a:path extrusionOk="0" h="6458313" w="7532686">
                <a:moveTo>
                  <a:pt x="0" y="0"/>
                </a:moveTo>
                <a:lnTo>
                  <a:pt x="7532686" y="0"/>
                </a:lnTo>
                <a:lnTo>
                  <a:pt x="7532686" y="6458312"/>
                </a:lnTo>
                <a:lnTo>
                  <a:pt x="0" y="6458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g39ab1047faa_0_283"/>
          <p:cNvSpPr txBox="1"/>
          <p:nvPr/>
        </p:nvSpPr>
        <p:spPr>
          <a:xfrm>
            <a:off x="1038225" y="4007406"/>
            <a:ext cx="8937300" cy="54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skeuomorfismo es un estilo de diseño que imita texturas y materiales del mundo real para hacer que los objetos digitales se vean y se sientan más familiares.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t/>
            </a:r>
            <a:endParaRPr b="0" i="0" sz="290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estilo de diseño plano es sin efectos tridimensionales, sombras realistas ni texturas. Se populariza en 2012–2013 gracias a Apple con iOS 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9ab1047faa_0_283"/>
          <p:cNvSpPr txBox="1"/>
          <p:nvPr/>
        </p:nvSpPr>
        <p:spPr>
          <a:xfrm>
            <a:off x="1028700" y="2512969"/>
            <a:ext cx="944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SKEUOMORFISMO VS. FLAT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ab1047faa_0_291"/>
          <p:cNvSpPr txBox="1"/>
          <p:nvPr/>
        </p:nvSpPr>
        <p:spPr>
          <a:xfrm>
            <a:off x="1028700" y="1072479"/>
            <a:ext cx="78894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UI - TENDENCIAS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9ab1047faa_0_291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9" name="Google Shape;469;g39ab1047faa_0_291"/>
          <p:cNvSpPr/>
          <p:nvPr/>
        </p:nvSpPr>
        <p:spPr>
          <a:xfrm>
            <a:off x="11865471" y="0"/>
            <a:ext cx="6422529" cy="10287000"/>
          </a:xfrm>
          <a:custGeom>
            <a:rect b="b" l="l" r="r" t="t"/>
            <a:pathLst>
              <a:path extrusionOk="0" h="10287000" w="6422529">
                <a:moveTo>
                  <a:pt x="0" y="0"/>
                </a:moveTo>
                <a:lnTo>
                  <a:pt x="6422529" y="0"/>
                </a:lnTo>
                <a:lnTo>
                  <a:pt x="642252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6651" r="-101580" t="-2190"/>
            </a:stretch>
          </a:blipFill>
          <a:ln>
            <a:noFill/>
          </a:ln>
        </p:spPr>
      </p:sp>
      <p:sp>
        <p:nvSpPr>
          <p:cNvPr id="470" name="Google Shape;470;g39ab1047faa_0_291"/>
          <p:cNvSpPr txBox="1"/>
          <p:nvPr/>
        </p:nvSpPr>
        <p:spPr>
          <a:xfrm>
            <a:off x="1028700" y="4007406"/>
            <a:ext cx="8937300" cy="60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Tendencia de diseño visual que combina realismo y minimalismo el cual tiene un estilo que usa sombras internas y externas muy suaves para crear efecto 3D.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t/>
            </a:r>
            <a:endParaRPr b="0" i="0" sz="290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neumorfismo como tendencia de diseño empezó a ganar popularidad a finales de 2018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t/>
            </a:r>
            <a:endParaRPr b="0" i="0" sz="290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t/>
            </a:r>
            <a:endParaRPr b="0" i="0" sz="290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g39ab1047faa_0_291"/>
          <p:cNvSpPr txBox="1"/>
          <p:nvPr/>
        </p:nvSpPr>
        <p:spPr>
          <a:xfrm>
            <a:off x="1028700" y="2336063"/>
            <a:ext cx="587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NEUMORFISMO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9ab1047faa_0_291"/>
          <p:cNvSpPr txBox="1"/>
          <p:nvPr/>
        </p:nvSpPr>
        <p:spPr>
          <a:xfrm>
            <a:off x="1707092" y="9220200"/>
            <a:ext cx="7437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7"/>
              <a:buFont typeface="Arial"/>
              <a:buNone/>
            </a:pPr>
            <a:r>
              <a:rPr b="1" i="0" lang="en-US" sz="24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iOS 14 a implementado este tipo de diseño.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ab1047faa_0_300"/>
          <p:cNvSpPr txBox="1"/>
          <p:nvPr/>
        </p:nvSpPr>
        <p:spPr>
          <a:xfrm>
            <a:off x="1028700" y="1072479"/>
            <a:ext cx="78894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UI - TENDENCIAS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9ab1047faa_0_300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g39ab1047faa_0_300"/>
          <p:cNvSpPr/>
          <p:nvPr/>
        </p:nvSpPr>
        <p:spPr>
          <a:xfrm>
            <a:off x="10902863" y="0"/>
            <a:ext cx="7971277" cy="10287000"/>
          </a:xfrm>
          <a:custGeom>
            <a:rect b="b" l="l" r="r" t="t"/>
            <a:pathLst>
              <a:path extrusionOk="0" h="10287000" w="7971277">
                <a:moveTo>
                  <a:pt x="0" y="0"/>
                </a:moveTo>
                <a:lnTo>
                  <a:pt x="7971277" y="0"/>
                </a:lnTo>
                <a:lnTo>
                  <a:pt x="79712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50" l="-52301" r="-43099" t="0"/>
            </a:stretch>
          </a:blipFill>
          <a:ln>
            <a:noFill/>
          </a:ln>
        </p:spPr>
      </p:sp>
      <p:sp>
        <p:nvSpPr>
          <p:cNvPr id="480" name="Google Shape;480;g39ab1047faa_0_300"/>
          <p:cNvSpPr txBox="1"/>
          <p:nvPr/>
        </p:nvSpPr>
        <p:spPr>
          <a:xfrm>
            <a:off x="985751" y="3483611"/>
            <a:ext cx="8937300" cy="54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glassmorfismo es un estilo de diseño que imita la apariencia del vidrio esmerilado, translúcido o “glassy” mediante efectos de desenfoque y transparencia combinados con sombras suaves y bordes redondeados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t/>
            </a:r>
            <a:endParaRPr b="0" i="0" sz="290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3910" lvl="1" marL="627819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Char char="•"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 ido ganando en popularidad desde su aparición, a principios del 2020 hasta la actualidad.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9ab1047faa_0_300"/>
          <p:cNvSpPr txBox="1"/>
          <p:nvPr/>
        </p:nvSpPr>
        <p:spPr>
          <a:xfrm>
            <a:off x="1028700" y="2336063"/>
            <a:ext cx="587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GLASSMORFISMO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9ab1047faa_0_300"/>
          <p:cNvSpPr txBox="1"/>
          <p:nvPr/>
        </p:nvSpPr>
        <p:spPr>
          <a:xfrm>
            <a:off x="1707092" y="9220200"/>
            <a:ext cx="74370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7"/>
              <a:buFont typeface="Arial"/>
              <a:buNone/>
            </a:pPr>
            <a:r>
              <a:rPr b="1" i="0" lang="en-US" sz="24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Apple Vision Pro es una de las empresas que han sabido implementar este tipo de diseño.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9ab1047faa_0_309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8" name="Google Shape;488;g39ab1047faa_0_309"/>
          <p:cNvSpPr/>
          <p:nvPr/>
        </p:nvSpPr>
        <p:spPr>
          <a:xfrm>
            <a:off x="3493371" y="3433341"/>
            <a:ext cx="11301259" cy="4642553"/>
          </a:xfrm>
          <a:custGeom>
            <a:rect b="b" l="l" r="r" t="t"/>
            <a:pathLst>
              <a:path extrusionOk="0" h="4642553" w="11301259">
                <a:moveTo>
                  <a:pt x="0" y="0"/>
                </a:moveTo>
                <a:lnTo>
                  <a:pt x="11301258" y="0"/>
                </a:lnTo>
                <a:lnTo>
                  <a:pt x="11301258" y="4642553"/>
                </a:lnTo>
                <a:lnTo>
                  <a:pt x="0" y="4642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1400" l="0" r="0" t="-23689"/>
            </a:stretch>
          </a:blipFill>
          <a:ln>
            <a:noFill/>
          </a:ln>
        </p:spPr>
      </p:sp>
      <p:sp>
        <p:nvSpPr>
          <p:cNvPr id="489" name="Google Shape;489;g39ab1047faa_0_309"/>
          <p:cNvSpPr txBox="1"/>
          <p:nvPr/>
        </p:nvSpPr>
        <p:spPr>
          <a:xfrm>
            <a:off x="1028700" y="1072479"/>
            <a:ext cx="7889400" cy="2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UI - PREFERENCIAS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9ab1047faa_0_309"/>
          <p:cNvSpPr txBox="1"/>
          <p:nvPr/>
        </p:nvSpPr>
        <p:spPr>
          <a:xfrm>
            <a:off x="1283631" y="8733256"/>
            <a:ext cx="157206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Material Desing es un diseño híbrido de Flat design y Skeumorphime que busca equilibrio entre estética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ab1047faa_0_316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6" name="Google Shape;496;g39ab1047faa_0_316"/>
          <p:cNvSpPr/>
          <p:nvPr/>
        </p:nvSpPr>
        <p:spPr>
          <a:xfrm>
            <a:off x="3380180" y="3768161"/>
            <a:ext cx="11508589" cy="3379839"/>
          </a:xfrm>
          <a:custGeom>
            <a:rect b="b" l="l" r="r" t="t"/>
            <a:pathLst>
              <a:path extrusionOk="0" h="3379839" w="11508589">
                <a:moveTo>
                  <a:pt x="0" y="0"/>
                </a:moveTo>
                <a:lnTo>
                  <a:pt x="11508590" y="0"/>
                </a:lnTo>
                <a:lnTo>
                  <a:pt x="11508590" y="3379839"/>
                </a:lnTo>
                <a:lnTo>
                  <a:pt x="0" y="3379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111" l="0" r="0" t="-27621"/>
            </a:stretch>
          </a:blipFill>
          <a:ln>
            <a:noFill/>
          </a:ln>
        </p:spPr>
      </p:sp>
      <p:sp>
        <p:nvSpPr>
          <p:cNvPr id="497" name="Google Shape;497;g39ab1047faa_0_316"/>
          <p:cNvSpPr txBox="1"/>
          <p:nvPr/>
        </p:nvSpPr>
        <p:spPr>
          <a:xfrm>
            <a:off x="1028700" y="1072479"/>
            <a:ext cx="7889400" cy="2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UI - PREFERENCIAS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9ab1047faa_0_316"/>
          <p:cNvSpPr txBox="1"/>
          <p:nvPr/>
        </p:nvSpPr>
        <p:spPr>
          <a:xfrm>
            <a:off x="1283631" y="8733256"/>
            <a:ext cx="157206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Material Desing es un diseño híbrido de Flat design y Skeumorphime que busca equilibrio entre estética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ab1047faa_0_323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4" name="Google Shape;504;g39ab1047faa_0_323"/>
          <p:cNvSpPr/>
          <p:nvPr/>
        </p:nvSpPr>
        <p:spPr>
          <a:xfrm>
            <a:off x="3493371" y="3861036"/>
            <a:ext cx="11301259" cy="3074193"/>
          </a:xfrm>
          <a:custGeom>
            <a:rect b="b" l="l" r="r" t="t"/>
            <a:pathLst>
              <a:path extrusionOk="0" h="3074193" w="11301259">
                <a:moveTo>
                  <a:pt x="0" y="0"/>
                </a:moveTo>
                <a:lnTo>
                  <a:pt x="11301258" y="0"/>
                </a:lnTo>
                <a:lnTo>
                  <a:pt x="11301258" y="3074193"/>
                </a:lnTo>
                <a:lnTo>
                  <a:pt x="0" y="30741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241" l="0" r="0" t="-31801"/>
            </a:stretch>
          </a:blipFill>
          <a:ln>
            <a:noFill/>
          </a:ln>
        </p:spPr>
      </p:sp>
      <p:sp>
        <p:nvSpPr>
          <p:cNvPr id="505" name="Google Shape;505;g39ab1047faa_0_323"/>
          <p:cNvSpPr txBox="1"/>
          <p:nvPr/>
        </p:nvSpPr>
        <p:spPr>
          <a:xfrm>
            <a:off x="1028700" y="1072479"/>
            <a:ext cx="7889400" cy="2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UI - PREFERENCIAS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9ab1047faa_0_323"/>
          <p:cNvSpPr txBox="1"/>
          <p:nvPr/>
        </p:nvSpPr>
        <p:spPr>
          <a:xfrm>
            <a:off x="1283631" y="8733256"/>
            <a:ext cx="157206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7"/>
              <a:buFont typeface="Arial"/>
              <a:buNone/>
            </a:pPr>
            <a:r>
              <a:rPr b="0" i="0" lang="en-US" sz="290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Material Desing es un diseño híbrido de Flat design y Skeumorphime que busca equilibrio entre estética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9ab1047faa_0_330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2" name="Google Shape;512;g39ab1047faa_0_330"/>
          <p:cNvSpPr/>
          <p:nvPr/>
        </p:nvSpPr>
        <p:spPr>
          <a:xfrm>
            <a:off x="1571921" y="3871303"/>
            <a:ext cx="6273802" cy="3136901"/>
          </a:xfrm>
          <a:custGeom>
            <a:rect b="b" l="l" r="r" t="t"/>
            <a:pathLst>
              <a:path extrusionOk="0" h="3136901" w="6273802">
                <a:moveTo>
                  <a:pt x="0" y="0"/>
                </a:moveTo>
                <a:lnTo>
                  <a:pt x="6273802" y="0"/>
                </a:lnTo>
                <a:lnTo>
                  <a:pt x="6273802" y="3136901"/>
                </a:lnTo>
                <a:lnTo>
                  <a:pt x="0" y="3136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3" name="Google Shape;513;g39ab1047faa_0_330"/>
          <p:cNvSpPr/>
          <p:nvPr/>
        </p:nvSpPr>
        <p:spPr>
          <a:xfrm>
            <a:off x="10184227" y="3825608"/>
            <a:ext cx="5739186" cy="3228292"/>
          </a:xfrm>
          <a:custGeom>
            <a:rect b="b" l="l" r="r" t="t"/>
            <a:pathLst>
              <a:path extrusionOk="0" h="3228292" w="5739186">
                <a:moveTo>
                  <a:pt x="0" y="0"/>
                </a:moveTo>
                <a:lnTo>
                  <a:pt x="5739186" y="0"/>
                </a:lnTo>
                <a:lnTo>
                  <a:pt x="5739186" y="3228292"/>
                </a:lnTo>
                <a:lnTo>
                  <a:pt x="0" y="3228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g39ab1047faa_0_330"/>
          <p:cNvSpPr txBox="1"/>
          <p:nvPr/>
        </p:nvSpPr>
        <p:spPr>
          <a:xfrm>
            <a:off x="1028700" y="1072479"/>
            <a:ext cx="15813600" cy="2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Diseño y Desarrollo de Interfaces UI/UX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ab1047faa_0_337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0" name="Google Shape;520;g39ab1047faa_0_337"/>
          <p:cNvSpPr/>
          <p:nvPr/>
        </p:nvSpPr>
        <p:spPr>
          <a:xfrm>
            <a:off x="11344189" y="4861682"/>
            <a:ext cx="4856010" cy="2428005"/>
          </a:xfrm>
          <a:custGeom>
            <a:rect b="b" l="l" r="r" t="t"/>
            <a:pathLst>
              <a:path extrusionOk="0" h="2428005" w="4856010">
                <a:moveTo>
                  <a:pt x="0" y="0"/>
                </a:moveTo>
                <a:lnTo>
                  <a:pt x="4856010" y="0"/>
                </a:lnTo>
                <a:lnTo>
                  <a:pt x="4856010" y="2428005"/>
                </a:lnTo>
                <a:lnTo>
                  <a:pt x="0" y="2428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1" name="Google Shape;521;g39ab1047faa_0_337"/>
          <p:cNvSpPr txBox="1"/>
          <p:nvPr/>
        </p:nvSpPr>
        <p:spPr>
          <a:xfrm>
            <a:off x="1028700" y="1072479"/>
            <a:ext cx="15813600" cy="2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Diseño y Desarrollo de Interfaces UI/UX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9ab1047faa_0_337"/>
          <p:cNvSpPr txBox="1"/>
          <p:nvPr/>
        </p:nvSpPr>
        <p:spPr>
          <a:xfrm>
            <a:off x="1028696" y="3429000"/>
            <a:ext cx="7860300" cy="6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16"/>
              <a:buFont typeface="Arial"/>
              <a:buNone/>
            </a:pPr>
            <a:r>
              <a:rPr b="0" i="0" lang="en-US" sz="341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Figma es una herramienta de diseño colaborativo basada en la nube que permite a diseñadores crear prototipos interactivos y maquetas visuales con facilidad. Su capacidad para trabajar en tiempo real con equipos y clientes mejora la comunicación y reduce tiempos de desarrollo.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9ab1047faa_0_344"/>
          <p:cNvSpPr/>
          <p:nvPr/>
        </p:nvSpPr>
        <p:spPr>
          <a:xfrm flipH="1">
            <a:off x="-325893" y="-149361"/>
            <a:ext cx="1897814" cy="1999452"/>
          </a:xfrm>
          <a:custGeom>
            <a:rect b="b" l="l" r="r" t="t"/>
            <a:pathLst>
              <a:path extrusionOk="0" h="1999452" w="1897814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8" name="Google Shape;528;g39ab1047faa_0_344"/>
          <p:cNvSpPr/>
          <p:nvPr/>
        </p:nvSpPr>
        <p:spPr>
          <a:xfrm>
            <a:off x="11344189" y="4861682"/>
            <a:ext cx="4856010" cy="2428005"/>
          </a:xfrm>
          <a:custGeom>
            <a:rect b="b" l="l" r="r" t="t"/>
            <a:pathLst>
              <a:path extrusionOk="0" h="2428005" w="4856010">
                <a:moveTo>
                  <a:pt x="0" y="0"/>
                </a:moveTo>
                <a:lnTo>
                  <a:pt x="4856010" y="0"/>
                </a:lnTo>
                <a:lnTo>
                  <a:pt x="4856010" y="2428005"/>
                </a:lnTo>
                <a:lnTo>
                  <a:pt x="0" y="2428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9" name="Google Shape;529;g39ab1047faa_0_344"/>
          <p:cNvSpPr txBox="1"/>
          <p:nvPr/>
        </p:nvSpPr>
        <p:spPr>
          <a:xfrm>
            <a:off x="1028700" y="1072479"/>
            <a:ext cx="15813600" cy="2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7"/>
              <a:buFont typeface="Arial"/>
              <a:buNone/>
            </a:pPr>
            <a:r>
              <a:rPr b="1" i="0" lang="en-US" sz="6157" u="none" cap="none" strike="noStrike">
                <a:solidFill>
                  <a:srgbClr val="014753"/>
                </a:solidFill>
                <a:latin typeface="Montserrat"/>
                <a:ea typeface="Montserrat"/>
                <a:cs typeface="Montserrat"/>
                <a:sym typeface="Montserrat"/>
              </a:rPr>
              <a:t>Diseño y Desarrollo de Interfaces UI/UX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9ab1047faa_0_344"/>
          <p:cNvSpPr txBox="1"/>
          <p:nvPr/>
        </p:nvSpPr>
        <p:spPr>
          <a:xfrm>
            <a:off x="1028701" y="3688750"/>
            <a:ext cx="9772200" cy="6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16"/>
              <a:buFont typeface="Arial"/>
              <a:buNone/>
            </a:pPr>
            <a:r>
              <a:rPr b="0" i="0" lang="en-US" sz="371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combinación de Figma y Bootstrap/Tailwind/Primefaces crea un flujo eficiente en el ciclo de vida del diseño y desarrollo UI/UX. Esto contribuye a una experiencia de usuario más fluida, interfaces consistentes y productos digitales más robustos y atractivos.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6" name="Google Shape;536;p7"/>
          <p:cNvSpPr/>
          <p:nvPr/>
        </p:nvSpPr>
        <p:spPr>
          <a:xfrm>
            <a:off x="1967875" y="2798502"/>
            <a:ext cx="14352253" cy="6819832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p7"/>
          <p:cNvSpPr txBox="1"/>
          <p:nvPr/>
        </p:nvSpPr>
        <p:spPr>
          <a:xfrm>
            <a:off x="2458842" y="3534467"/>
            <a:ext cx="12699900" cy="69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1" marL="9144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651">
                <a:solidFill>
                  <a:srgbClr val="131416"/>
                </a:solidFill>
              </a:rPr>
              <a:t>Software Generico: Es aquel que suele ser usado por varios tipos de negocios y pueden ser configurados según necesidades y se producen en masa.</a:t>
            </a:r>
            <a:endParaRPr sz="9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1">
              <a:solidFill>
                <a:srgbClr val="131416"/>
              </a:solidFill>
            </a:endParaRPr>
          </a:p>
          <a:p>
            <a:pPr indent="-400050" lvl="1" marL="9144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651">
                <a:solidFill>
                  <a:srgbClr val="131416"/>
                </a:solidFill>
              </a:rPr>
              <a:t>Principios de Jakob Nielsen: Sirven para resolver los problemas de usabilidad más comunes en las interfaces web. De esta manera, la interfaz puede ofrecer una mejor experiencia a los usuarios que la visiten.</a:t>
            </a:r>
            <a:endParaRPr sz="9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1">
              <a:solidFill>
                <a:srgbClr val="131416"/>
              </a:solidFill>
            </a:endParaRPr>
          </a:p>
          <a:p>
            <a:pPr indent="-400050" lvl="1" marL="9144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651">
                <a:solidFill>
                  <a:srgbClr val="131416"/>
                </a:solidFill>
              </a:rPr>
              <a:t>UX/UI: Permiten al usuario interactuar de manera facil e intuitiva con una aplicación ya que al usuario final no le importa saber como funciona por detras sino que el uso sea facil para él.</a:t>
            </a:r>
            <a:endParaRPr sz="9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4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3" name="Google Shape;543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4" name="Google Shape;544;p9"/>
          <p:cNvSpPr txBox="1"/>
          <p:nvPr/>
        </p:nvSpPr>
        <p:spPr>
          <a:xfrm>
            <a:off x="2970400" y="3429000"/>
            <a:ext cx="120915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8" lvl="1" marL="680436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https://es.linkedin.com/pulse/las-diferencias-entre-un-software-gen%C3%A9rico-y-uno-personalizado-1c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8" lvl="1" marL="680436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https://diegoamorin.com/10-principios-usabilidad/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0128" lvl="1" marL="680436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0" name="Google Shape;560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9" name="Google Shape;589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0" name="Google Shape;590;p13"/>
          <p:cNvSpPr txBox="1"/>
          <p:nvPr/>
        </p:nvSpPr>
        <p:spPr>
          <a:xfrm>
            <a:off x="2580394" y="4461626"/>
            <a:ext cx="131271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Se colocará el recordatorio de las actividades según corresponda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