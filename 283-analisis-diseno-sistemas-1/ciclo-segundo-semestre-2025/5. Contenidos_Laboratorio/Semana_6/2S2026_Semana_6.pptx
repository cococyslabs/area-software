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Poppins"/>
      <p:regular r:id="rId45"/>
      <p:bold r:id="rId46"/>
      <p:italic r:id="rId47"/>
      <p:boldItalic r:id="rId48"/>
    </p:embeddedFont>
    <p:embeddedFont>
      <p:font typeface="Open Sans"/>
      <p:bold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Poppins-bold.fntdata"/><Relationship Id="rId45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boldItalic.fntdata"/><Relationship Id="rId47" Type="http://schemas.openxmlformats.org/officeDocument/2006/relationships/font" Target="fonts/Poppins-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882d98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9a882d98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a882d983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9a882d9830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a882d983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9a882d9830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a882d983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9a882d9830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882d983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9a882d9830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882d983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9a882d9830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882d983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9a882d9830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882d983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9a882d9830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882d983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a882d9830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a882d9830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9a882d9830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a882d983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9a882d9830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a882d9830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9a882d9830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a882d9830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39a882d9830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a882d9830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39a882d9830_0_3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a882d9830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39a882d9830_0_4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a882d9830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39a882d9830_0_4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9a882d9830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9" name="Google Shape;429;g39a882d9830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a882d9830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g39a882d9830_0_4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a882d9830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g39a882d9830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9a882d9830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9a882d9830_0_5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a882d9830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0" name="Google Shape;490;g39a882d9830_0_5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a882d9830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4" name="Google Shape;504;g39a882d9830_0_5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a882d9830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g39a882d9830_0_5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a882d9830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8" name="Google Shape;528;g39a882d9830_0_5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9a882d9830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g39a882d9830_0_5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9a882d9830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1" name="Google Shape;551;g39a882d9830_0_5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9a882d9830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g39a882d9830_0_6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a882d9830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g39a882d9830_0_6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9a882d9830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7" name="Google Shape;577;g39a882d9830_0_6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9a882d9830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5" name="Google Shape;585;g39a882d9830_0_6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9a882d9830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3" name="Google Shape;593;g39a882d9830_0_6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9a882d9830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9a882d9830_0_7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9a882d9830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9a882d9830_0_7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9a882d9830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g39a882d9830_0_7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9a882d9830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9a882d9830_0_7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9a882d9830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9a882d9830_0_7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9a882d9830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9a882d9830_0_7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9a882d9830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9a882d9830_0_7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9a882d9830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9a882d9830_0_7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2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hyperlink" Target="https://trello.com/tour" TargetMode="External"/><Relationship Id="rId6" Type="http://schemas.openxmlformats.org/officeDocument/2006/relationships/hyperlink" Target="https://www.atlassian.com/es/software/jira/guides/getting-started/introduction" TargetMode="External"/><Relationship Id="rId7" Type="http://schemas.openxmlformats.org/officeDocument/2006/relationships/hyperlink" Target="https://clickup.com/general-resources/guides-and-reports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13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6" name="Google Shape;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5013" y="883388"/>
            <a:ext cx="4762338" cy="9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4325" y="4600575"/>
            <a:ext cx="36873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latin typeface="Open Sans"/>
                <a:ea typeface="Open Sans"/>
                <a:cs typeface="Open Sans"/>
                <a:sym typeface="Open Sans"/>
              </a:rPr>
              <a:t>Analisis y Diseño de Sistemas 1</a:t>
            </a:r>
            <a:endParaRPr sz="700"/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00" cy="520065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14"/>
          <p:cNvSpPr txBox="1"/>
          <p:nvPr/>
        </p:nvSpPr>
        <p:spPr>
          <a:xfrm>
            <a:off x="3102024" y="1595120"/>
            <a:ext cx="29400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s" sz="44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700"/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802250" y="2415550"/>
            <a:ext cx="55395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latin typeface="Open Sans"/>
                <a:ea typeface="Open Sans"/>
                <a:cs typeface="Open Sans"/>
                <a:sym typeface="Open Sans"/>
              </a:rPr>
              <a:t>Herramientas de Gestion Agil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2343568" y="1246386"/>
            <a:ext cx="4716047" cy="3382765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" name="Google Shape;72;p15"/>
          <p:cNvSpPr/>
          <p:nvPr/>
        </p:nvSpPr>
        <p:spPr>
          <a:xfrm>
            <a:off x="1985714" y="306419"/>
            <a:ext cx="5650630" cy="1144253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5"/>
          <p:cNvSpPr/>
          <p:nvPr/>
        </p:nvSpPr>
        <p:spPr>
          <a:xfrm>
            <a:off x="157446" y="1450671"/>
            <a:ext cx="2480817" cy="2480817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5"/>
          <p:cNvSpPr/>
          <p:nvPr/>
        </p:nvSpPr>
        <p:spPr>
          <a:xfrm>
            <a:off x="2638262" y="1587241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" name="Google Shape;75;p15"/>
          <p:cNvSpPr txBox="1"/>
          <p:nvPr/>
        </p:nvSpPr>
        <p:spPr>
          <a:xfrm>
            <a:off x="2977349" y="2164075"/>
            <a:ext cx="1404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Open Sans"/>
                <a:ea typeface="Open Sans"/>
                <a:cs typeface="Open Sans"/>
                <a:sym typeface="Open Sans"/>
              </a:rPr>
              <a:t>Asignacion DTT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977355" y="1671356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Open Sans"/>
                <a:ea typeface="Open Sans"/>
                <a:cs typeface="Open Sans"/>
                <a:sym typeface="Open Sans"/>
              </a:rPr>
              <a:t>Foro Semanal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638262" y="2079026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8" name="Google Shape;78;p15"/>
          <p:cNvSpPr/>
          <p:nvPr/>
        </p:nvSpPr>
        <p:spPr>
          <a:xfrm>
            <a:off x="2638262" y="2629548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9" name="Google Shape;79;p15"/>
          <p:cNvSpPr/>
          <p:nvPr/>
        </p:nvSpPr>
        <p:spPr>
          <a:xfrm>
            <a:off x="2638262" y="3180070"/>
            <a:ext cx="339092" cy="41240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15"/>
          <p:cNvSpPr/>
          <p:nvPr/>
        </p:nvSpPr>
        <p:spPr>
          <a:xfrm>
            <a:off x="2638262" y="3730592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" name="Google Shape;81;p15"/>
          <p:cNvSpPr txBox="1"/>
          <p:nvPr/>
        </p:nvSpPr>
        <p:spPr>
          <a:xfrm>
            <a:off x="2977355" y="2724408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3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977355" y="3217803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4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2977355" y="3777873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Anuncio 5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2008474" y="1779402"/>
            <a:ext cx="4948254" cy="2956582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6"/>
          <p:cNvSpPr/>
          <p:nvPr/>
        </p:nvSpPr>
        <p:spPr>
          <a:xfrm>
            <a:off x="1746686" y="-312653"/>
            <a:ext cx="5650630" cy="2563973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6"/>
          <p:cNvSpPr/>
          <p:nvPr/>
        </p:nvSpPr>
        <p:spPr>
          <a:xfrm>
            <a:off x="2437960" y="2045115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6"/>
          <p:cNvSpPr txBox="1"/>
          <p:nvPr/>
        </p:nvSpPr>
        <p:spPr>
          <a:xfrm>
            <a:off x="2607506" y="2164080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1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2437960" y="2571750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6"/>
          <p:cNvSpPr txBox="1"/>
          <p:nvPr/>
        </p:nvSpPr>
        <p:spPr>
          <a:xfrm>
            <a:off x="2607506" y="2689778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2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2437960" y="3097448"/>
            <a:ext cx="339092" cy="41240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6"/>
          <p:cNvSpPr/>
          <p:nvPr/>
        </p:nvSpPr>
        <p:spPr>
          <a:xfrm>
            <a:off x="2437960" y="3624157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6"/>
          <p:cNvSpPr/>
          <p:nvPr/>
        </p:nvSpPr>
        <p:spPr>
          <a:xfrm>
            <a:off x="2437960" y="4150867"/>
            <a:ext cx="339092" cy="412410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6"/>
          <p:cNvSpPr txBox="1"/>
          <p:nvPr/>
        </p:nvSpPr>
        <p:spPr>
          <a:xfrm>
            <a:off x="2607506" y="3192698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3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2607506" y="3695618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4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2607506" y="4222351"/>
            <a:ext cx="107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TEMA 5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0"/>
            <a:ext cx="9144000" cy="522351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7"/>
          <p:cNvSpPr/>
          <p:nvPr/>
        </p:nvSpPr>
        <p:spPr>
          <a:xfrm>
            <a:off x="1444200" y="1290900"/>
            <a:ext cx="6974985" cy="2457392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7"/>
          <p:cNvSpPr txBox="1"/>
          <p:nvPr/>
        </p:nvSpPr>
        <p:spPr>
          <a:xfrm>
            <a:off x="2754250" y="1590350"/>
            <a:ext cx="5338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99"/>
              <a:buFont typeface="Arial"/>
              <a:buNone/>
            </a:pPr>
            <a:r>
              <a:rPr b="1" lang="es" sz="17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Identificar de forma precisa los requerimientos de un sistema e introducir el uso de herramientas para la administración de requerimientos</a:t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468425" y="1442700"/>
            <a:ext cx="8207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latin typeface="Open Sans"/>
                <a:ea typeface="Open Sans"/>
                <a:cs typeface="Open Sans"/>
                <a:sym typeface="Open Sans"/>
              </a:rPr>
              <a:t>EL USO DISCIPLINADO DE HERRAMIENTAS COMO TRELLO O JIRA NO SOLO REFLEJA EL FLUJO DE TRABAJO DEL EQUIPO, SINO QUE TAMBIÉN EVIDENCIA SU COMPROMISO CON LA TRANSPARENCIA, LA COLABORACIÓN Y LA ENTREGA CONTINUA DE VALOR.</a:t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219825" y="581975"/>
            <a:ext cx="233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Impact"/>
                <a:ea typeface="Impact"/>
                <a:cs typeface="Impact"/>
                <a:sym typeface="Impact"/>
              </a:rPr>
              <a:t>Disciplina</a:t>
            </a:r>
            <a:endParaRPr b="1" sz="3200"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9"/>
          <p:cNvGrpSpPr/>
          <p:nvPr/>
        </p:nvGrpSpPr>
        <p:grpSpPr>
          <a:xfrm>
            <a:off x="514350" y="1133602"/>
            <a:ext cx="3828375" cy="2817954"/>
            <a:chOff x="0" y="-9525"/>
            <a:chExt cx="10209000" cy="7514544"/>
          </a:xfrm>
        </p:grpSpPr>
        <p:sp>
          <p:nvSpPr>
            <p:cNvPr id="118" name="Google Shape;118;p19"/>
            <p:cNvSpPr txBox="1"/>
            <p:nvPr/>
          </p:nvSpPr>
          <p:spPr>
            <a:xfrm>
              <a:off x="0" y="-9525"/>
              <a:ext cx="10209000" cy="16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00"/>
                <a:buFont typeface="Arial"/>
                <a:buNone/>
              </a:pPr>
              <a:r>
                <a:rPr b="1" i="0" lang="es" sz="4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KANBAN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9"/>
            <p:cNvSpPr txBox="1"/>
            <p:nvPr/>
          </p:nvSpPr>
          <p:spPr>
            <a:xfrm>
              <a:off x="0" y="2185719"/>
              <a:ext cx="10209000" cy="53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metodología Kanban es un enfoque ágil para la gestión de trabajo que se basa en la visualización del flujo de tareas, la limitación del trabajo en curso y la mejora continua de los procesos.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Su objetivo principal es optimizar la eficiencia del equipo al permitir una gestión clara, flexible y dinámica de las actividades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9"/>
          <p:cNvGrpSpPr/>
          <p:nvPr/>
        </p:nvGrpSpPr>
        <p:grpSpPr>
          <a:xfrm>
            <a:off x="4572000" y="1124602"/>
            <a:ext cx="440884" cy="440884"/>
            <a:chOff x="0" y="0"/>
            <a:chExt cx="1175690" cy="1175690"/>
          </a:xfrm>
        </p:grpSpPr>
        <p:sp>
          <p:nvSpPr>
            <p:cNvPr id="121" name="Google Shape;121;p19"/>
            <p:cNvSpPr/>
            <p:nvPr/>
          </p:nvSpPr>
          <p:spPr>
            <a:xfrm>
              <a:off x="0" y="0"/>
              <a:ext cx="1175690" cy="117569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9"/>
            <p:cNvSpPr txBox="1"/>
            <p:nvPr/>
          </p:nvSpPr>
          <p:spPr>
            <a:xfrm>
              <a:off x="366298" y="330048"/>
              <a:ext cx="442500" cy="5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9"/>
          <p:cNvGrpSpPr/>
          <p:nvPr/>
        </p:nvGrpSpPr>
        <p:grpSpPr>
          <a:xfrm>
            <a:off x="4572000" y="2761787"/>
            <a:ext cx="440884" cy="440884"/>
            <a:chOff x="0" y="0"/>
            <a:chExt cx="1175690" cy="1175690"/>
          </a:xfrm>
        </p:grpSpPr>
        <p:sp>
          <p:nvSpPr>
            <p:cNvPr id="124" name="Google Shape;124;p19"/>
            <p:cNvSpPr/>
            <p:nvPr/>
          </p:nvSpPr>
          <p:spPr>
            <a:xfrm>
              <a:off x="0" y="0"/>
              <a:ext cx="1175690" cy="117569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9"/>
            <p:cNvSpPr txBox="1"/>
            <p:nvPr/>
          </p:nvSpPr>
          <p:spPr>
            <a:xfrm>
              <a:off x="366298" y="330048"/>
              <a:ext cx="442500" cy="5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9"/>
          <p:cNvGrpSpPr/>
          <p:nvPr/>
        </p:nvGrpSpPr>
        <p:grpSpPr>
          <a:xfrm>
            <a:off x="4572000" y="3578226"/>
            <a:ext cx="440884" cy="440884"/>
            <a:chOff x="0" y="0"/>
            <a:chExt cx="1175690" cy="1175690"/>
          </a:xfrm>
        </p:grpSpPr>
        <p:sp>
          <p:nvSpPr>
            <p:cNvPr id="127" name="Google Shape;127;p19"/>
            <p:cNvSpPr/>
            <p:nvPr/>
          </p:nvSpPr>
          <p:spPr>
            <a:xfrm>
              <a:off x="0" y="0"/>
              <a:ext cx="1175690" cy="117569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9"/>
            <p:cNvSpPr txBox="1"/>
            <p:nvPr/>
          </p:nvSpPr>
          <p:spPr>
            <a:xfrm>
              <a:off x="366298" y="330048"/>
              <a:ext cx="442500" cy="5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19"/>
          <p:cNvSpPr txBox="1"/>
          <p:nvPr/>
        </p:nvSpPr>
        <p:spPr>
          <a:xfrm>
            <a:off x="5127780" y="1167456"/>
            <a:ext cx="233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5127780" y="2699874"/>
            <a:ext cx="3504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Representación visual del flujo de trabajo en columnas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19"/>
          <p:cNvGrpSpPr/>
          <p:nvPr/>
        </p:nvGrpSpPr>
        <p:grpSpPr>
          <a:xfrm>
            <a:off x="5127780" y="1565274"/>
            <a:ext cx="1151230" cy="924247"/>
            <a:chOff x="0" y="0"/>
            <a:chExt cx="3069947" cy="2464657"/>
          </a:xfrm>
        </p:grpSpPr>
        <p:grpSp>
          <p:nvGrpSpPr>
            <p:cNvPr id="132" name="Google Shape;132;p19"/>
            <p:cNvGrpSpPr/>
            <p:nvPr/>
          </p:nvGrpSpPr>
          <p:grpSpPr>
            <a:xfrm>
              <a:off x="0" y="0"/>
              <a:ext cx="3069947" cy="2464657"/>
              <a:chOff x="0" y="0"/>
              <a:chExt cx="3484616" cy="2797568"/>
            </a:xfrm>
          </p:grpSpPr>
          <p:sp>
            <p:nvSpPr>
              <p:cNvPr id="133" name="Google Shape;133;p19"/>
              <p:cNvSpPr/>
              <p:nvPr/>
            </p:nvSpPr>
            <p:spPr>
              <a:xfrm>
                <a:off x="57150" y="58420"/>
                <a:ext cx="3414766" cy="2726448"/>
              </a:xfrm>
              <a:custGeom>
                <a:rect b="b" l="l" r="r" t="t"/>
                <a:pathLst>
                  <a:path extrusionOk="0" h="2726448" w="3414766">
                    <a:moveTo>
                      <a:pt x="3329676" y="2695968"/>
                    </a:moveTo>
                    <a:lnTo>
                      <a:pt x="0" y="2695968"/>
                    </a:lnTo>
                    <a:cubicBezTo>
                      <a:pt x="5080" y="2713748"/>
                      <a:pt x="21590" y="2726448"/>
                      <a:pt x="40640" y="2726448"/>
                    </a:cubicBezTo>
                    <a:lnTo>
                      <a:pt x="3371586" y="2726448"/>
                    </a:lnTo>
                    <a:cubicBezTo>
                      <a:pt x="3395716" y="2726448"/>
                      <a:pt x="3414766" y="2707398"/>
                      <a:pt x="3414766" y="268326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2640088"/>
                    </a:lnTo>
                    <a:cubicBezTo>
                      <a:pt x="3385556" y="2670568"/>
                      <a:pt x="3360156" y="2695968"/>
                      <a:pt x="3329676" y="269596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>
                <a:off x="12700" y="12700"/>
                <a:ext cx="3417306" cy="2728988"/>
              </a:xfrm>
              <a:custGeom>
                <a:rect b="b" l="l" r="r" t="t"/>
                <a:pathLst>
                  <a:path extrusionOk="0" h="2728988" w="3417306">
                    <a:moveTo>
                      <a:pt x="43180" y="2728988"/>
                    </a:moveTo>
                    <a:lnTo>
                      <a:pt x="3374126" y="2728988"/>
                    </a:lnTo>
                    <a:cubicBezTo>
                      <a:pt x="3398256" y="2728988"/>
                      <a:pt x="3417306" y="2709938"/>
                      <a:pt x="3417306" y="268580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685808"/>
                    </a:lnTo>
                    <a:cubicBezTo>
                      <a:pt x="0" y="2709938"/>
                      <a:pt x="19050" y="2728988"/>
                      <a:pt x="43180" y="27289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9"/>
              <p:cNvSpPr/>
              <p:nvPr/>
            </p:nvSpPr>
            <p:spPr>
              <a:xfrm>
                <a:off x="0" y="0"/>
                <a:ext cx="3484616" cy="2797568"/>
              </a:xfrm>
              <a:custGeom>
                <a:rect b="b" l="l" r="r" t="t"/>
                <a:pathLst>
                  <a:path extrusionOk="0" h="279756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698508"/>
                    </a:lnTo>
                    <a:cubicBezTo>
                      <a:pt x="0" y="2725178"/>
                      <a:pt x="17780" y="2746768"/>
                      <a:pt x="43180" y="2753118"/>
                    </a:cubicBezTo>
                    <a:cubicBezTo>
                      <a:pt x="48260" y="2778518"/>
                      <a:pt x="71120" y="2797568"/>
                      <a:pt x="97790" y="2797568"/>
                    </a:cubicBezTo>
                    <a:lnTo>
                      <a:pt x="3428736" y="2797568"/>
                    </a:lnTo>
                    <a:cubicBezTo>
                      <a:pt x="3459216" y="2797568"/>
                      <a:pt x="3484616" y="2772168"/>
                      <a:pt x="3484616" y="274168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269850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2698508"/>
                    </a:lnTo>
                    <a:cubicBezTo>
                      <a:pt x="3430006" y="2722638"/>
                      <a:pt x="3410956" y="2741688"/>
                      <a:pt x="3386826" y="2741688"/>
                    </a:cubicBezTo>
                    <a:lnTo>
                      <a:pt x="55880" y="2741688"/>
                    </a:lnTo>
                    <a:cubicBezTo>
                      <a:pt x="31750" y="2741688"/>
                      <a:pt x="12700" y="2722638"/>
                      <a:pt x="12700" y="2698508"/>
                    </a:cubicBezTo>
                    <a:close/>
                    <a:moveTo>
                      <a:pt x="3471916" y="2741688"/>
                    </a:moveTo>
                    <a:cubicBezTo>
                      <a:pt x="3471916" y="2765818"/>
                      <a:pt x="3452866" y="2784868"/>
                      <a:pt x="3428736" y="2784868"/>
                    </a:cubicBezTo>
                    <a:lnTo>
                      <a:pt x="97790" y="2784868"/>
                    </a:lnTo>
                    <a:cubicBezTo>
                      <a:pt x="78740" y="2784868"/>
                      <a:pt x="62230" y="2772168"/>
                      <a:pt x="57150" y="2754388"/>
                    </a:cubicBezTo>
                    <a:lnTo>
                      <a:pt x="3386826" y="2754388"/>
                    </a:lnTo>
                    <a:cubicBezTo>
                      <a:pt x="3417306" y="2754388"/>
                      <a:pt x="3442706" y="2728988"/>
                      <a:pt x="3442706" y="269850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274168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19"/>
            <p:cNvSpPr txBox="1"/>
            <p:nvPr/>
          </p:nvSpPr>
          <p:spPr>
            <a:xfrm>
              <a:off x="444105" y="590312"/>
              <a:ext cx="2181600" cy="13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Claridad sobre el estado del trabajo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19"/>
          <p:cNvGrpSpPr/>
          <p:nvPr/>
        </p:nvGrpSpPr>
        <p:grpSpPr>
          <a:xfrm>
            <a:off x="6393280" y="1549343"/>
            <a:ext cx="1151230" cy="924247"/>
            <a:chOff x="0" y="0"/>
            <a:chExt cx="3069947" cy="2464657"/>
          </a:xfrm>
        </p:grpSpPr>
        <p:grpSp>
          <p:nvGrpSpPr>
            <p:cNvPr id="138" name="Google Shape;138;p19"/>
            <p:cNvGrpSpPr/>
            <p:nvPr/>
          </p:nvGrpSpPr>
          <p:grpSpPr>
            <a:xfrm>
              <a:off x="0" y="0"/>
              <a:ext cx="3069947" cy="2464657"/>
              <a:chOff x="0" y="0"/>
              <a:chExt cx="3484616" cy="2797568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57150" y="58420"/>
                <a:ext cx="3414766" cy="2726448"/>
              </a:xfrm>
              <a:custGeom>
                <a:rect b="b" l="l" r="r" t="t"/>
                <a:pathLst>
                  <a:path extrusionOk="0" h="2726448" w="3414766">
                    <a:moveTo>
                      <a:pt x="3329676" y="2695968"/>
                    </a:moveTo>
                    <a:lnTo>
                      <a:pt x="0" y="2695968"/>
                    </a:lnTo>
                    <a:cubicBezTo>
                      <a:pt x="5080" y="2713748"/>
                      <a:pt x="21590" y="2726448"/>
                      <a:pt x="40640" y="2726448"/>
                    </a:cubicBezTo>
                    <a:lnTo>
                      <a:pt x="3371586" y="2726448"/>
                    </a:lnTo>
                    <a:cubicBezTo>
                      <a:pt x="3395716" y="2726448"/>
                      <a:pt x="3414766" y="2707398"/>
                      <a:pt x="3414766" y="268326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2640088"/>
                    </a:lnTo>
                    <a:cubicBezTo>
                      <a:pt x="3385556" y="2670568"/>
                      <a:pt x="3360156" y="2695968"/>
                      <a:pt x="3329676" y="269596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12700" y="12700"/>
                <a:ext cx="3417306" cy="2728988"/>
              </a:xfrm>
              <a:custGeom>
                <a:rect b="b" l="l" r="r" t="t"/>
                <a:pathLst>
                  <a:path extrusionOk="0" h="2728988" w="3417306">
                    <a:moveTo>
                      <a:pt x="43180" y="2728988"/>
                    </a:moveTo>
                    <a:lnTo>
                      <a:pt x="3374126" y="2728988"/>
                    </a:lnTo>
                    <a:cubicBezTo>
                      <a:pt x="3398256" y="2728988"/>
                      <a:pt x="3417306" y="2709938"/>
                      <a:pt x="3417306" y="268580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685808"/>
                    </a:lnTo>
                    <a:cubicBezTo>
                      <a:pt x="0" y="2709938"/>
                      <a:pt x="19050" y="2728988"/>
                      <a:pt x="43180" y="27289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0" y="0"/>
                <a:ext cx="3484616" cy="2797568"/>
              </a:xfrm>
              <a:custGeom>
                <a:rect b="b" l="l" r="r" t="t"/>
                <a:pathLst>
                  <a:path extrusionOk="0" h="279756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698508"/>
                    </a:lnTo>
                    <a:cubicBezTo>
                      <a:pt x="0" y="2725178"/>
                      <a:pt x="17780" y="2746768"/>
                      <a:pt x="43180" y="2753118"/>
                    </a:cubicBezTo>
                    <a:cubicBezTo>
                      <a:pt x="48260" y="2778518"/>
                      <a:pt x="71120" y="2797568"/>
                      <a:pt x="97790" y="2797568"/>
                    </a:cubicBezTo>
                    <a:lnTo>
                      <a:pt x="3428736" y="2797568"/>
                    </a:lnTo>
                    <a:cubicBezTo>
                      <a:pt x="3459216" y="2797568"/>
                      <a:pt x="3484616" y="2772168"/>
                      <a:pt x="3484616" y="274168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269850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2698508"/>
                    </a:lnTo>
                    <a:cubicBezTo>
                      <a:pt x="3430006" y="2722638"/>
                      <a:pt x="3410956" y="2741688"/>
                      <a:pt x="3386826" y="2741688"/>
                    </a:cubicBezTo>
                    <a:lnTo>
                      <a:pt x="55880" y="2741688"/>
                    </a:lnTo>
                    <a:cubicBezTo>
                      <a:pt x="31750" y="2741688"/>
                      <a:pt x="12700" y="2722638"/>
                      <a:pt x="12700" y="2698508"/>
                    </a:cubicBezTo>
                    <a:close/>
                    <a:moveTo>
                      <a:pt x="3471916" y="2741688"/>
                    </a:moveTo>
                    <a:cubicBezTo>
                      <a:pt x="3471916" y="2765818"/>
                      <a:pt x="3452866" y="2784868"/>
                      <a:pt x="3428736" y="2784868"/>
                    </a:cubicBezTo>
                    <a:lnTo>
                      <a:pt x="97790" y="2784868"/>
                    </a:lnTo>
                    <a:cubicBezTo>
                      <a:pt x="78740" y="2784868"/>
                      <a:pt x="62230" y="2772168"/>
                      <a:pt x="57150" y="2754388"/>
                    </a:cubicBezTo>
                    <a:lnTo>
                      <a:pt x="3386826" y="2754388"/>
                    </a:lnTo>
                    <a:cubicBezTo>
                      <a:pt x="3417306" y="2754388"/>
                      <a:pt x="3442706" y="2728988"/>
                      <a:pt x="3442706" y="269850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274168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2" name="Google Shape;142;p19"/>
            <p:cNvSpPr txBox="1"/>
            <p:nvPr/>
          </p:nvSpPr>
          <p:spPr>
            <a:xfrm>
              <a:off x="444105" y="590312"/>
              <a:ext cx="2181600" cy="13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Reducción de cuellos de botella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19"/>
          <p:cNvGrpSpPr/>
          <p:nvPr/>
        </p:nvGrpSpPr>
        <p:grpSpPr>
          <a:xfrm>
            <a:off x="7658781" y="1549343"/>
            <a:ext cx="1151230" cy="924247"/>
            <a:chOff x="0" y="0"/>
            <a:chExt cx="3069947" cy="2464657"/>
          </a:xfrm>
        </p:grpSpPr>
        <p:grpSp>
          <p:nvGrpSpPr>
            <p:cNvPr id="144" name="Google Shape;144;p19"/>
            <p:cNvGrpSpPr/>
            <p:nvPr/>
          </p:nvGrpSpPr>
          <p:grpSpPr>
            <a:xfrm>
              <a:off x="0" y="0"/>
              <a:ext cx="3069947" cy="2464657"/>
              <a:chOff x="0" y="0"/>
              <a:chExt cx="3484616" cy="2797568"/>
            </a:xfrm>
          </p:grpSpPr>
          <p:sp>
            <p:nvSpPr>
              <p:cNvPr id="145" name="Google Shape;145;p19"/>
              <p:cNvSpPr/>
              <p:nvPr/>
            </p:nvSpPr>
            <p:spPr>
              <a:xfrm>
                <a:off x="57150" y="58420"/>
                <a:ext cx="3414766" cy="2726448"/>
              </a:xfrm>
              <a:custGeom>
                <a:rect b="b" l="l" r="r" t="t"/>
                <a:pathLst>
                  <a:path extrusionOk="0" h="2726448" w="3414766">
                    <a:moveTo>
                      <a:pt x="3329676" y="2695968"/>
                    </a:moveTo>
                    <a:lnTo>
                      <a:pt x="0" y="2695968"/>
                    </a:lnTo>
                    <a:cubicBezTo>
                      <a:pt x="5080" y="2713748"/>
                      <a:pt x="21590" y="2726448"/>
                      <a:pt x="40640" y="2726448"/>
                    </a:cubicBezTo>
                    <a:lnTo>
                      <a:pt x="3371586" y="2726448"/>
                    </a:lnTo>
                    <a:cubicBezTo>
                      <a:pt x="3395716" y="2726448"/>
                      <a:pt x="3414766" y="2707398"/>
                      <a:pt x="3414766" y="268326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2640088"/>
                    </a:lnTo>
                    <a:cubicBezTo>
                      <a:pt x="3385556" y="2670568"/>
                      <a:pt x="3360156" y="2695968"/>
                      <a:pt x="3329676" y="269596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12700" y="12700"/>
                <a:ext cx="3417306" cy="2728988"/>
              </a:xfrm>
              <a:custGeom>
                <a:rect b="b" l="l" r="r" t="t"/>
                <a:pathLst>
                  <a:path extrusionOk="0" h="2728988" w="3417306">
                    <a:moveTo>
                      <a:pt x="43180" y="2728988"/>
                    </a:moveTo>
                    <a:lnTo>
                      <a:pt x="3374126" y="2728988"/>
                    </a:lnTo>
                    <a:cubicBezTo>
                      <a:pt x="3398256" y="2728988"/>
                      <a:pt x="3417306" y="2709938"/>
                      <a:pt x="3417306" y="268580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685808"/>
                    </a:lnTo>
                    <a:cubicBezTo>
                      <a:pt x="0" y="2709938"/>
                      <a:pt x="19050" y="2728988"/>
                      <a:pt x="43180" y="272898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>
                <a:off x="0" y="0"/>
                <a:ext cx="3484616" cy="2797568"/>
              </a:xfrm>
              <a:custGeom>
                <a:rect b="b" l="l" r="r" t="t"/>
                <a:pathLst>
                  <a:path extrusionOk="0" h="279756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698508"/>
                    </a:lnTo>
                    <a:cubicBezTo>
                      <a:pt x="0" y="2725178"/>
                      <a:pt x="17780" y="2746768"/>
                      <a:pt x="43180" y="2753118"/>
                    </a:cubicBezTo>
                    <a:cubicBezTo>
                      <a:pt x="48260" y="2778518"/>
                      <a:pt x="71120" y="2797568"/>
                      <a:pt x="97790" y="2797568"/>
                    </a:cubicBezTo>
                    <a:lnTo>
                      <a:pt x="3428736" y="2797568"/>
                    </a:lnTo>
                    <a:cubicBezTo>
                      <a:pt x="3459216" y="2797568"/>
                      <a:pt x="3484616" y="2772168"/>
                      <a:pt x="3484616" y="274168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269850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2698508"/>
                    </a:lnTo>
                    <a:cubicBezTo>
                      <a:pt x="3430006" y="2722638"/>
                      <a:pt x="3410956" y="2741688"/>
                      <a:pt x="3386826" y="2741688"/>
                    </a:cubicBezTo>
                    <a:lnTo>
                      <a:pt x="55880" y="2741688"/>
                    </a:lnTo>
                    <a:cubicBezTo>
                      <a:pt x="31750" y="2741688"/>
                      <a:pt x="12700" y="2722638"/>
                      <a:pt x="12700" y="2698508"/>
                    </a:cubicBezTo>
                    <a:close/>
                    <a:moveTo>
                      <a:pt x="3471916" y="2741688"/>
                    </a:moveTo>
                    <a:cubicBezTo>
                      <a:pt x="3471916" y="2765818"/>
                      <a:pt x="3452866" y="2784868"/>
                      <a:pt x="3428736" y="2784868"/>
                    </a:cubicBezTo>
                    <a:lnTo>
                      <a:pt x="97790" y="2784868"/>
                    </a:lnTo>
                    <a:cubicBezTo>
                      <a:pt x="78740" y="2784868"/>
                      <a:pt x="62230" y="2772168"/>
                      <a:pt x="57150" y="2754388"/>
                    </a:cubicBezTo>
                    <a:lnTo>
                      <a:pt x="3386826" y="2754388"/>
                    </a:lnTo>
                    <a:cubicBezTo>
                      <a:pt x="3417306" y="2754388"/>
                      <a:pt x="3442706" y="2728988"/>
                      <a:pt x="3442706" y="269850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274168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" name="Google Shape;148;p19"/>
            <p:cNvSpPr txBox="1"/>
            <p:nvPr/>
          </p:nvSpPr>
          <p:spPr>
            <a:xfrm>
              <a:off x="444105" y="590312"/>
              <a:ext cx="2181600" cy="13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Sin roles ni reuniones obligatorias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19"/>
          <p:cNvSpPr txBox="1"/>
          <p:nvPr/>
        </p:nvSpPr>
        <p:spPr>
          <a:xfrm>
            <a:off x="5127780" y="3532805"/>
            <a:ext cx="3504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tarjetas se representan tareas o ítems de trabajo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50" y="-16762"/>
            <a:ext cx="9144000" cy="5143500"/>
          </a:xfrm>
          <a:prstGeom prst="rect">
            <a:avLst/>
          </a:prstGeom>
          <a:solidFill>
            <a:schemeClr val="lt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 rot="-2309583">
            <a:off x="2105608" y="-145717"/>
            <a:ext cx="8485362" cy="641801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20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7" name="Google Shape;1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7238" y="1262559"/>
            <a:ext cx="6583900" cy="35941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584050" y="405727"/>
            <a:ext cx="3828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s" sz="4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KANBAN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1"/>
          <p:cNvGrpSpPr/>
          <p:nvPr/>
        </p:nvGrpSpPr>
        <p:grpSpPr>
          <a:xfrm>
            <a:off x="514350" y="1133602"/>
            <a:ext cx="3828375" cy="2686317"/>
            <a:chOff x="0" y="-9525"/>
            <a:chExt cx="10209000" cy="7163511"/>
          </a:xfrm>
        </p:grpSpPr>
        <p:sp>
          <p:nvSpPr>
            <p:cNvPr id="164" name="Google Shape;164;p21"/>
            <p:cNvSpPr txBox="1"/>
            <p:nvPr/>
          </p:nvSpPr>
          <p:spPr>
            <a:xfrm>
              <a:off x="0" y="-9525"/>
              <a:ext cx="10209000" cy="13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00"/>
                <a:buFont typeface="Arial"/>
                <a:buNone/>
              </a:pPr>
              <a:r>
                <a:rPr b="1" i="0" lang="es" sz="3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SCRUMBAN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1"/>
            <p:cNvSpPr txBox="1"/>
            <p:nvPr/>
          </p:nvSpPr>
          <p:spPr>
            <a:xfrm>
              <a:off x="0" y="1834686"/>
              <a:ext cx="10209000" cy="53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Scrumban es una metodología ágil híbrida que combina elementos esenciales de Scrum y Kanban, con el propósito de ofrecer una forma más flexible y adaptable de gestionar proyectos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Esta metodología surgió como una evolución natural para equipos que usaban Scrum pero necesitaban una mayor fluidez en su flujo de trabajo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21"/>
          <p:cNvGrpSpPr/>
          <p:nvPr/>
        </p:nvGrpSpPr>
        <p:grpSpPr>
          <a:xfrm>
            <a:off x="4572000" y="1067218"/>
            <a:ext cx="440884" cy="440884"/>
            <a:chOff x="0" y="0"/>
            <a:chExt cx="1175690" cy="1175690"/>
          </a:xfrm>
        </p:grpSpPr>
        <p:sp>
          <p:nvSpPr>
            <p:cNvPr id="167" name="Google Shape;167;p21"/>
            <p:cNvSpPr/>
            <p:nvPr/>
          </p:nvSpPr>
          <p:spPr>
            <a:xfrm>
              <a:off x="0" y="0"/>
              <a:ext cx="1175690" cy="117569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1"/>
            <p:cNvSpPr txBox="1"/>
            <p:nvPr/>
          </p:nvSpPr>
          <p:spPr>
            <a:xfrm>
              <a:off x="366298" y="330048"/>
              <a:ext cx="442500" cy="5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21"/>
          <p:cNvGrpSpPr/>
          <p:nvPr/>
        </p:nvGrpSpPr>
        <p:grpSpPr>
          <a:xfrm>
            <a:off x="4572000" y="2761787"/>
            <a:ext cx="440884" cy="440884"/>
            <a:chOff x="0" y="0"/>
            <a:chExt cx="1175690" cy="1175690"/>
          </a:xfrm>
        </p:grpSpPr>
        <p:sp>
          <p:nvSpPr>
            <p:cNvPr id="170" name="Google Shape;170;p21"/>
            <p:cNvSpPr/>
            <p:nvPr/>
          </p:nvSpPr>
          <p:spPr>
            <a:xfrm>
              <a:off x="0" y="0"/>
              <a:ext cx="1175690" cy="117569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1"/>
            <p:cNvSpPr txBox="1"/>
            <p:nvPr/>
          </p:nvSpPr>
          <p:spPr>
            <a:xfrm>
              <a:off x="366298" y="330048"/>
              <a:ext cx="442500" cy="5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21"/>
          <p:cNvGrpSpPr/>
          <p:nvPr/>
        </p:nvGrpSpPr>
        <p:grpSpPr>
          <a:xfrm>
            <a:off x="4572000" y="3578226"/>
            <a:ext cx="440884" cy="440884"/>
            <a:chOff x="0" y="0"/>
            <a:chExt cx="1175690" cy="1175690"/>
          </a:xfrm>
        </p:grpSpPr>
        <p:sp>
          <p:nvSpPr>
            <p:cNvPr id="173" name="Google Shape;173;p21"/>
            <p:cNvSpPr/>
            <p:nvPr/>
          </p:nvSpPr>
          <p:spPr>
            <a:xfrm>
              <a:off x="0" y="0"/>
              <a:ext cx="1175690" cy="1175690"/>
            </a:xfrm>
            <a:custGeom>
              <a:rect b="b" l="l" r="r" t="t"/>
              <a:pathLst>
                <a:path extrusionOk="0"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57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366298" y="330048"/>
              <a:ext cx="442500" cy="55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5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21"/>
          <p:cNvSpPr txBox="1"/>
          <p:nvPr/>
        </p:nvSpPr>
        <p:spPr>
          <a:xfrm>
            <a:off x="5127780" y="1110072"/>
            <a:ext cx="233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Ventajas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5127780" y="2593820"/>
            <a:ext cx="35046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busca combinar la agilidad de ambas metodologías para la adaptación a necesidades futuras emergentes 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1"/>
          <p:cNvGrpSpPr/>
          <p:nvPr/>
        </p:nvGrpSpPr>
        <p:grpSpPr>
          <a:xfrm>
            <a:off x="5127780" y="1434071"/>
            <a:ext cx="1151230" cy="1071888"/>
            <a:chOff x="0" y="0"/>
            <a:chExt cx="3069947" cy="2858367"/>
          </a:xfrm>
        </p:grpSpPr>
        <p:grpSp>
          <p:nvGrpSpPr>
            <p:cNvPr id="178" name="Google Shape;178;p21"/>
            <p:cNvGrpSpPr/>
            <p:nvPr/>
          </p:nvGrpSpPr>
          <p:grpSpPr>
            <a:xfrm>
              <a:off x="0" y="0"/>
              <a:ext cx="3069947" cy="2858367"/>
              <a:chOff x="0" y="0"/>
              <a:chExt cx="3484616" cy="3244458"/>
            </a:xfrm>
          </p:grpSpPr>
          <p:sp>
            <p:nvSpPr>
              <p:cNvPr id="179" name="Google Shape;179;p21"/>
              <p:cNvSpPr/>
              <p:nvPr/>
            </p:nvSpPr>
            <p:spPr>
              <a:xfrm>
                <a:off x="57150" y="58420"/>
                <a:ext cx="3414766" cy="3173338"/>
              </a:xfrm>
              <a:custGeom>
                <a:rect b="b" l="l" r="r" t="t"/>
                <a:pathLst>
                  <a:path extrusionOk="0" h="3173338" w="3414766">
                    <a:moveTo>
                      <a:pt x="3329676" y="3142858"/>
                    </a:moveTo>
                    <a:lnTo>
                      <a:pt x="0" y="3142858"/>
                    </a:lnTo>
                    <a:cubicBezTo>
                      <a:pt x="5080" y="3160638"/>
                      <a:pt x="21590" y="3173338"/>
                      <a:pt x="40640" y="3173338"/>
                    </a:cubicBezTo>
                    <a:lnTo>
                      <a:pt x="3371586" y="3173338"/>
                    </a:lnTo>
                    <a:cubicBezTo>
                      <a:pt x="3395716" y="3173338"/>
                      <a:pt x="3414766" y="3154288"/>
                      <a:pt x="3414766" y="313015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3086978"/>
                    </a:lnTo>
                    <a:cubicBezTo>
                      <a:pt x="3385556" y="3117458"/>
                      <a:pt x="3360156" y="3142858"/>
                      <a:pt x="3329676" y="314285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1"/>
              <p:cNvSpPr/>
              <p:nvPr/>
            </p:nvSpPr>
            <p:spPr>
              <a:xfrm>
                <a:off x="12700" y="12700"/>
                <a:ext cx="3417306" cy="3175878"/>
              </a:xfrm>
              <a:custGeom>
                <a:rect b="b" l="l" r="r" t="t"/>
                <a:pathLst>
                  <a:path extrusionOk="0" h="3175878" w="3417306">
                    <a:moveTo>
                      <a:pt x="43180" y="3175878"/>
                    </a:moveTo>
                    <a:lnTo>
                      <a:pt x="3374126" y="3175878"/>
                    </a:lnTo>
                    <a:cubicBezTo>
                      <a:pt x="3398256" y="3175878"/>
                      <a:pt x="3417306" y="3156828"/>
                      <a:pt x="3417306" y="313269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132698"/>
                    </a:lnTo>
                    <a:cubicBezTo>
                      <a:pt x="0" y="3156828"/>
                      <a:pt x="19050" y="3175878"/>
                      <a:pt x="43180" y="31758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1"/>
              <p:cNvSpPr/>
              <p:nvPr/>
            </p:nvSpPr>
            <p:spPr>
              <a:xfrm>
                <a:off x="0" y="0"/>
                <a:ext cx="3484616" cy="3244458"/>
              </a:xfrm>
              <a:custGeom>
                <a:rect b="b" l="l" r="r" t="t"/>
                <a:pathLst>
                  <a:path extrusionOk="0" h="324445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145398"/>
                    </a:lnTo>
                    <a:cubicBezTo>
                      <a:pt x="0" y="3172068"/>
                      <a:pt x="17780" y="3193658"/>
                      <a:pt x="43180" y="3200008"/>
                    </a:cubicBezTo>
                    <a:cubicBezTo>
                      <a:pt x="48260" y="3225408"/>
                      <a:pt x="71120" y="3244458"/>
                      <a:pt x="97790" y="3244458"/>
                    </a:cubicBezTo>
                    <a:lnTo>
                      <a:pt x="3428736" y="3244458"/>
                    </a:lnTo>
                    <a:cubicBezTo>
                      <a:pt x="3459216" y="3244458"/>
                      <a:pt x="3484616" y="3219058"/>
                      <a:pt x="3484616" y="318857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314539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3145398"/>
                    </a:lnTo>
                    <a:cubicBezTo>
                      <a:pt x="3430006" y="3169528"/>
                      <a:pt x="3410956" y="3188578"/>
                      <a:pt x="3386826" y="3188578"/>
                    </a:cubicBezTo>
                    <a:lnTo>
                      <a:pt x="55880" y="3188578"/>
                    </a:lnTo>
                    <a:cubicBezTo>
                      <a:pt x="31750" y="3188578"/>
                      <a:pt x="12700" y="3169528"/>
                      <a:pt x="12700" y="3145398"/>
                    </a:cubicBezTo>
                    <a:close/>
                    <a:moveTo>
                      <a:pt x="3471916" y="3188578"/>
                    </a:moveTo>
                    <a:cubicBezTo>
                      <a:pt x="3471916" y="3212708"/>
                      <a:pt x="3452866" y="3231758"/>
                      <a:pt x="3428736" y="3231758"/>
                    </a:cubicBezTo>
                    <a:lnTo>
                      <a:pt x="97790" y="3231758"/>
                    </a:lnTo>
                    <a:cubicBezTo>
                      <a:pt x="78740" y="3231758"/>
                      <a:pt x="62230" y="3219058"/>
                      <a:pt x="57150" y="3201278"/>
                    </a:cubicBezTo>
                    <a:lnTo>
                      <a:pt x="3386826" y="3201278"/>
                    </a:lnTo>
                    <a:cubicBezTo>
                      <a:pt x="3417306" y="3201278"/>
                      <a:pt x="3442706" y="3175878"/>
                      <a:pt x="3442706" y="314539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318857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" name="Google Shape;182;p21"/>
            <p:cNvSpPr txBox="1"/>
            <p:nvPr/>
          </p:nvSpPr>
          <p:spPr>
            <a:xfrm>
              <a:off x="444105" y="590312"/>
              <a:ext cx="2181600" cy="18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 se espera a terminar un sprint para trabajar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1"/>
          <p:cNvGrpSpPr/>
          <p:nvPr/>
        </p:nvGrpSpPr>
        <p:grpSpPr>
          <a:xfrm>
            <a:off x="6393280" y="1418140"/>
            <a:ext cx="1151230" cy="1071888"/>
            <a:chOff x="0" y="0"/>
            <a:chExt cx="3069947" cy="2858367"/>
          </a:xfrm>
        </p:grpSpPr>
        <p:grpSp>
          <p:nvGrpSpPr>
            <p:cNvPr id="184" name="Google Shape;184;p21"/>
            <p:cNvGrpSpPr/>
            <p:nvPr/>
          </p:nvGrpSpPr>
          <p:grpSpPr>
            <a:xfrm>
              <a:off x="0" y="0"/>
              <a:ext cx="3069947" cy="2858367"/>
              <a:chOff x="0" y="0"/>
              <a:chExt cx="3484616" cy="3244458"/>
            </a:xfrm>
          </p:grpSpPr>
          <p:sp>
            <p:nvSpPr>
              <p:cNvPr id="185" name="Google Shape;185;p21"/>
              <p:cNvSpPr/>
              <p:nvPr/>
            </p:nvSpPr>
            <p:spPr>
              <a:xfrm>
                <a:off x="57150" y="58420"/>
                <a:ext cx="3414766" cy="3173338"/>
              </a:xfrm>
              <a:custGeom>
                <a:rect b="b" l="l" r="r" t="t"/>
                <a:pathLst>
                  <a:path extrusionOk="0" h="3173338" w="3414766">
                    <a:moveTo>
                      <a:pt x="3329676" y="3142858"/>
                    </a:moveTo>
                    <a:lnTo>
                      <a:pt x="0" y="3142858"/>
                    </a:lnTo>
                    <a:cubicBezTo>
                      <a:pt x="5080" y="3160638"/>
                      <a:pt x="21590" y="3173338"/>
                      <a:pt x="40640" y="3173338"/>
                    </a:cubicBezTo>
                    <a:lnTo>
                      <a:pt x="3371586" y="3173338"/>
                    </a:lnTo>
                    <a:cubicBezTo>
                      <a:pt x="3395716" y="3173338"/>
                      <a:pt x="3414766" y="3154288"/>
                      <a:pt x="3414766" y="313015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3086978"/>
                    </a:lnTo>
                    <a:cubicBezTo>
                      <a:pt x="3385556" y="3117458"/>
                      <a:pt x="3360156" y="3142858"/>
                      <a:pt x="3329676" y="314285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1"/>
              <p:cNvSpPr/>
              <p:nvPr/>
            </p:nvSpPr>
            <p:spPr>
              <a:xfrm>
                <a:off x="12700" y="12700"/>
                <a:ext cx="3417306" cy="3175878"/>
              </a:xfrm>
              <a:custGeom>
                <a:rect b="b" l="l" r="r" t="t"/>
                <a:pathLst>
                  <a:path extrusionOk="0" h="3175878" w="3417306">
                    <a:moveTo>
                      <a:pt x="43180" y="3175878"/>
                    </a:moveTo>
                    <a:lnTo>
                      <a:pt x="3374126" y="3175878"/>
                    </a:lnTo>
                    <a:cubicBezTo>
                      <a:pt x="3398256" y="3175878"/>
                      <a:pt x="3417306" y="3156828"/>
                      <a:pt x="3417306" y="313269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132698"/>
                    </a:lnTo>
                    <a:cubicBezTo>
                      <a:pt x="0" y="3156828"/>
                      <a:pt x="19050" y="3175878"/>
                      <a:pt x="43180" y="31758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1"/>
              <p:cNvSpPr/>
              <p:nvPr/>
            </p:nvSpPr>
            <p:spPr>
              <a:xfrm>
                <a:off x="0" y="0"/>
                <a:ext cx="3484616" cy="3244458"/>
              </a:xfrm>
              <a:custGeom>
                <a:rect b="b" l="l" r="r" t="t"/>
                <a:pathLst>
                  <a:path extrusionOk="0" h="324445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145398"/>
                    </a:lnTo>
                    <a:cubicBezTo>
                      <a:pt x="0" y="3172068"/>
                      <a:pt x="17780" y="3193658"/>
                      <a:pt x="43180" y="3200008"/>
                    </a:cubicBezTo>
                    <a:cubicBezTo>
                      <a:pt x="48260" y="3225408"/>
                      <a:pt x="71120" y="3244458"/>
                      <a:pt x="97790" y="3244458"/>
                    </a:cubicBezTo>
                    <a:lnTo>
                      <a:pt x="3428736" y="3244458"/>
                    </a:lnTo>
                    <a:cubicBezTo>
                      <a:pt x="3459216" y="3244458"/>
                      <a:pt x="3484616" y="3219058"/>
                      <a:pt x="3484616" y="318857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314539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3145398"/>
                    </a:lnTo>
                    <a:cubicBezTo>
                      <a:pt x="3430006" y="3169528"/>
                      <a:pt x="3410956" y="3188578"/>
                      <a:pt x="3386826" y="3188578"/>
                    </a:cubicBezTo>
                    <a:lnTo>
                      <a:pt x="55880" y="3188578"/>
                    </a:lnTo>
                    <a:cubicBezTo>
                      <a:pt x="31750" y="3188578"/>
                      <a:pt x="12700" y="3169528"/>
                      <a:pt x="12700" y="3145398"/>
                    </a:cubicBezTo>
                    <a:close/>
                    <a:moveTo>
                      <a:pt x="3471916" y="3188578"/>
                    </a:moveTo>
                    <a:cubicBezTo>
                      <a:pt x="3471916" y="3212708"/>
                      <a:pt x="3452866" y="3231758"/>
                      <a:pt x="3428736" y="3231758"/>
                    </a:cubicBezTo>
                    <a:lnTo>
                      <a:pt x="97790" y="3231758"/>
                    </a:lnTo>
                    <a:cubicBezTo>
                      <a:pt x="78740" y="3231758"/>
                      <a:pt x="62230" y="3219058"/>
                      <a:pt x="57150" y="3201278"/>
                    </a:cubicBezTo>
                    <a:lnTo>
                      <a:pt x="3386826" y="3201278"/>
                    </a:lnTo>
                    <a:cubicBezTo>
                      <a:pt x="3417306" y="3201278"/>
                      <a:pt x="3442706" y="3175878"/>
                      <a:pt x="3442706" y="314539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318857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" name="Google Shape;188;p21"/>
            <p:cNvSpPr txBox="1"/>
            <p:nvPr/>
          </p:nvSpPr>
          <p:spPr>
            <a:xfrm>
              <a:off x="444105" y="590312"/>
              <a:ext cx="2181600" cy="18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 sigue trabajando con eventos de scrum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21"/>
          <p:cNvGrpSpPr/>
          <p:nvPr/>
        </p:nvGrpSpPr>
        <p:grpSpPr>
          <a:xfrm>
            <a:off x="7658781" y="1418140"/>
            <a:ext cx="1151230" cy="1071888"/>
            <a:chOff x="0" y="0"/>
            <a:chExt cx="3069947" cy="2858367"/>
          </a:xfrm>
        </p:grpSpPr>
        <p:grpSp>
          <p:nvGrpSpPr>
            <p:cNvPr id="190" name="Google Shape;190;p21"/>
            <p:cNvGrpSpPr/>
            <p:nvPr/>
          </p:nvGrpSpPr>
          <p:grpSpPr>
            <a:xfrm>
              <a:off x="0" y="0"/>
              <a:ext cx="3069947" cy="2858367"/>
              <a:chOff x="0" y="0"/>
              <a:chExt cx="3484616" cy="3244458"/>
            </a:xfrm>
          </p:grpSpPr>
          <p:sp>
            <p:nvSpPr>
              <p:cNvPr id="191" name="Google Shape;191;p21"/>
              <p:cNvSpPr/>
              <p:nvPr/>
            </p:nvSpPr>
            <p:spPr>
              <a:xfrm>
                <a:off x="57150" y="58420"/>
                <a:ext cx="3414766" cy="3173338"/>
              </a:xfrm>
              <a:custGeom>
                <a:rect b="b" l="l" r="r" t="t"/>
                <a:pathLst>
                  <a:path extrusionOk="0" h="3173338" w="3414766">
                    <a:moveTo>
                      <a:pt x="3329676" y="3142858"/>
                    </a:moveTo>
                    <a:lnTo>
                      <a:pt x="0" y="3142858"/>
                    </a:lnTo>
                    <a:cubicBezTo>
                      <a:pt x="5080" y="3160638"/>
                      <a:pt x="21590" y="3173338"/>
                      <a:pt x="40640" y="3173338"/>
                    </a:cubicBezTo>
                    <a:lnTo>
                      <a:pt x="3371586" y="3173338"/>
                    </a:lnTo>
                    <a:cubicBezTo>
                      <a:pt x="3395716" y="3173338"/>
                      <a:pt x="3414766" y="3154288"/>
                      <a:pt x="3414766" y="3130158"/>
                    </a:cubicBezTo>
                    <a:lnTo>
                      <a:pt x="3414766" y="40640"/>
                    </a:lnTo>
                    <a:cubicBezTo>
                      <a:pt x="3414766" y="21590"/>
                      <a:pt x="3402066" y="6350"/>
                      <a:pt x="3385556" y="0"/>
                    </a:cubicBezTo>
                    <a:lnTo>
                      <a:pt x="3385556" y="3086978"/>
                    </a:lnTo>
                    <a:cubicBezTo>
                      <a:pt x="3385556" y="3117458"/>
                      <a:pt x="3360156" y="3142858"/>
                      <a:pt x="3329676" y="3142858"/>
                    </a:cubicBez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1"/>
              <p:cNvSpPr/>
              <p:nvPr/>
            </p:nvSpPr>
            <p:spPr>
              <a:xfrm>
                <a:off x="12700" y="12700"/>
                <a:ext cx="3417306" cy="3175878"/>
              </a:xfrm>
              <a:custGeom>
                <a:rect b="b" l="l" r="r" t="t"/>
                <a:pathLst>
                  <a:path extrusionOk="0" h="3175878" w="3417306">
                    <a:moveTo>
                      <a:pt x="43180" y="3175878"/>
                    </a:moveTo>
                    <a:lnTo>
                      <a:pt x="3374126" y="3175878"/>
                    </a:lnTo>
                    <a:cubicBezTo>
                      <a:pt x="3398256" y="3175878"/>
                      <a:pt x="3417306" y="3156828"/>
                      <a:pt x="3417306" y="3132698"/>
                    </a:cubicBezTo>
                    <a:lnTo>
                      <a:pt x="3417306" y="43180"/>
                    </a:lnTo>
                    <a:cubicBezTo>
                      <a:pt x="3417306" y="19050"/>
                      <a:pt x="3398256" y="0"/>
                      <a:pt x="3374126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132698"/>
                    </a:lnTo>
                    <a:cubicBezTo>
                      <a:pt x="0" y="3156828"/>
                      <a:pt x="19050" y="3175878"/>
                      <a:pt x="43180" y="31758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1"/>
              <p:cNvSpPr/>
              <p:nvPr/>
            </p:nvSpPr>
            <p:spPr>
              <a:xfrm>
                <a:off x="0" y="0"/>
                <a:ext cx="3484616" cy="3244458"/>
              </a:xfrm>
              <a:custGeom>
                <a:rect b="b" l="l" r="r" t="t"/>
                <a:pathLst>
                  <a:path extrusionOk="0" h="3244458" w="3484616">
                    <a:moveTo>
                      <a:pt x="3441436" y="44450"/>
                    </a:moveTo>
                    <a:cubicBezTo>
                      <a:pt x="3436356" y="19050"/>
                      <a:pt x="3413496" y="0"/>
                      <a:pt x="3386825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145398"/>
                    </a:lnTo>
                    <a:cubicBezTo>
                      <a:pt x="0" y="3172068"/>
                      <a:pt x="17780" y="3193658"/>
                      <a:pt x="43180" y="3200008"/>
                    </a:cubicBezTo>
                    <a:cubicBezTo>
                      <a:pt x="48260" y="3225408"/>
                      <a:pt x="71120" y="3244458"/>
                      <a:pt x="97790" y="3244458"/>
                    </a:cubicBezTo>
                    <a:lnTo>
                      <a:pt x="3428736" y="3244458"/>
                    </a:lnTo>
                    <a:cubicBezTo>
                      <a:pt x="3459216" y="3244458"/>
                      <a:pt x="3484616" y="3219058"/>
                      <a:pt x="3484616" y="3188578"/>
                    </a:cubicBezTo>
                    <a:lnTo>
                      <a:pt x="3484616" y="99060"/>
                    </a:lnTo>
                    <a:cubicBezTo>
                      <a:pt x="3484616" y="72390"/>
                      <a:pt x="3466836" y="50800"/>
                      <a:pt x="3441436" y="44450"/>
                    </a:cubicBezTo>
                    <a:close/>
                    <a:moveTo>
                      <a:pt x="12700" y="314539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386826" y="12700"/>
                    </a:lnTo>
                    <a:cubicBezTo>
                      <a:pt x="3410956" y="12700"/>
                      <a:pt x="3430006" y="31750"/>
                      <a:pt x="3430006" y="55880"/>
                    </a:cubicBezTo>
                    <a:lnTo>
                      <a:pt x="3430006" y="3145398"/>
                    </a:lnTo>
                    <a:cubicBezTo>
                      <a:pt x="3430006" y="3169528"/>
                      <a:pt x="3410956" y="3188578"/>
                      <a:pt x="3386826" y="3188578"/>
                    </a:cubicBezTo>
                    <a:lnTo>
                      <a:pt x="55880" y="3188578"/>
                    </a:lnTo>
                    <a:cubicBezTo>
                      <a:pt x="31750" y="3188578"/>
                      <a:pt x="12700" y="3169528"/>
                      <a:pt x="12700" y="3145398"/>
                    </a:cubicBezTo>
                    <a:close/>
                    <a:moveTo>
                      <a:pt x="3471916" y="3188578"/>
                    </a:moveTo>
                    <a:cubicBezTo>
                      <a:pt x="3471916" y="3212708"/>
                      <a:pt x="3452866" y="3231758"/>
                      <a:pt x="3428736" y="3231758"/>
                    </a:cubicBezTo>
                    <a:lnTo>
                      <a:pt x="97790" y="3231758"/>
                    </a:lnTo>
                    <a:cubicBezTo>
                      <a:pt x="78740" y="3231758"/>
                      <a:pt x="62230" y="3219058"/>
                      <a:pt x="57150" y="3201278"/>
                    </a:cubicBezTo>
                    <a:lnTo>
                      <a:pt x="3386826" y="3201278"/>
                    </a:lnTo>
                    <a:cubicBezTo>
                      <a:pt x="3417306" y="3201278"/>
                      <a:pt x="3442706" y="3175878"/>
                      <a:pt x="3442706" y="3145398"/>
                    </a:cubicBezTo>
                    <a:lnTo>
                      <a:pt x="3442706" y="58420"/>
                    </a:lnTo>
                    <a:cubicBezTo>
                      <a:pt x="3459216" y="64770"/>
                      <a:pt x="3471916" y="80010"/>
                      <a:pt x="3471916" y="99060"/>
                    </a:cubicBezTo>
                    <a:lnTo>
                      <a:pt x="3471916" y="3188578"/>
                    </a:lnTo>
                    <a:close/>
                  </a:path>
                </a:pathLst>
              </a:custGeom>
              <a:solidFill>
                <a:srgbClr val="57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" name="Google Shape;194;p21"/>
            <p:cNvSpPr txBox="1"/>
            <p:nvPr/>
          </p:nvSpPr>
          <p:spPr>
            <a:xfrm>
              <a:off x="444105" y="590312"/>
              <a:ext cx="2181600" cy="13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s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gestión es a través de tableros kanban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21"/>
          <p:cNvSpPr txBox="1"/>
          <p:nvPr/>
        </p:nvSpPr>
        <p:spPr>
          <a:xfrm>
            <a:off x="5127780" y="3642978"/>
            <a:ext cx="350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Combinación de Scrum y Kanban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/>
          <p:nvPr/>
        </p:nvSpPr>
        <p:spPr>
          <a:xfrm>
            <a:off x="0" y="-46242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201" name="Google Shape;201;p22"/>
          <p:cNvSpPr/>
          <p:nvPr/>
        </p:nvSpPr>
        <p:spPr>
          <a:xfrm rot="-2298120">
            <a:off x="4849589" y="1094702"/>
            <a:ext cx="6327075" cy="478556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22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22"/>
          <p:cNvSpPr txBox="1"/>
          <p:nvPr/>
        </p:nvSpPr>
        <p:spPr>
          <a:xfrm>
            <a:off x="584050" y="405727"/>
            <a:ext cx="382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i="0" lang="e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SCRUMBAN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850" y="991125"/>
            <a:ext cx="6946276" cy="379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0" y="-46237"/>
            <a:ext cx="9149713" cy="5311045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210" name="Google Shape;210;p23"/>
          <p:cNvSpPr/>
          <p:nvPr/>
        </p:nvSpPr>
        <p:spPr>
          <a:xfrm>
            <a:off x="542570" y="514350"/>
            <a:ext cx="8114497" cy="4143207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chemeClr val="dk1"/>
          </a:solidFill>
          <a:ln cap="flat" cmpd="sng" w="4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23"/>
          <p:cNvGrpSpPr/>
          <p:nvPr/>
        </p:nvGrpSpPr>
        <p:grpSpPr>
          <a:xfrm>
            <a:off x="542570" y="514350"/>
            <a:ext cx="8058953" cy="578660"/>
            <a:chOff x="0" y="0"/>
            <a:chExt cx="21490542" cy="1543094"/>
          </a:xfrm>
        </p:grpSpPr>
        <p:grpSp>
          <p:nvGrpSpPr>
            <p:cNvPr id="212" name="Google Shape;212;p23"/>
            <p:cNvGrpSpPr/>
            <p:nvPr/>
          </p:nvGrpSpPr>
          <p:grpSpPr>
            <a:xfrm>
              <a:off x="0" y="0"/>
              <a:ext cx="21490542" cy="1543094"/>
              <a:chOff x="0" y="0"/>
              <a:chExt cx="31091640" cy="2232485"/>
            </a:xfrm>
          </p:grpSpPr>
          <p:sp>
            <p:nvSpPr>
              <p:cNvPr id="213" name="Google Shape;213;p23"/>
              <p:cNvSpPr/>
              <p:nvPr/>
            </p:nvSpPr>
            <p:spPr>
              <a:xfrm>
                <a:off x="31750" y="31750"/>
                <a:ext cx="31028140" cy="2168984"/>
              </a:xfrm>
              <a:custGeom>
                <a:rect b="b" l="l" r="r" t="t"/>
                <a:pathLst>
                  <a:path extrusionOk="0" h="2168984" w="31028140">
                    <a:moveTo>
                      <a:pt x="30935433" y="2168984"/>
                    </a:moveTo>
                    <a:lnTo>
                      <a:pt x="92710" y="2168984"/>
                    </a:lnTo>
                    <a:cubicBezTo>
                      <a:pt x="41910" y="2168984"/>
                      <a:pt x="0" y="2127074"/>
                      <a:pt x="0" y="2076274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75005"/>
                    </a:lnTo>
                    <a:cubicBezTo>
                      <a:pt x="31028140" y="2127074"/>
                      <a:pt x="30986233" y="2168984"/>
                      <a:pt x="30935433" y="2168984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3"/>
              <p:cNvSpPr/>
              <p:nvPr/>
            </p:nvSpPr>
            <p:spPr>
              <a:xfrm>
                <a:off x="0" y="0"/>
                <a:ext cx="31091640" cy="2232485"/>
              </a:xfrm>
              <a:custGeom>
                <a:rect b="b" l="l" r="r" t="t"/>
                <a:pathLst>
                  <a:path extrusionOk="0" h="2232485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08025"/>
                    </a:lnTo>
                    <a:cubicBezTo>
                      <a:pt x="31031951" y="2143585"/>
                      <a:pt x="31002740" y="2172795"/>
                      <a:pt x="30967183" y="2172795"/>
                    </a:cubicBezTo>
                    <a:lnTo>
                      <a:pt x="124460" y="2172795"/>
                    </a:lnTo>
                    <a:cubicBezTo>
                      <a:pt x="88900" y="2172795"/>
                      <a:pt x="59690" y="2143585"/>
                      <a:pt x="59690" y="2108025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08025"/>
                    </a:lnTo>
                    <a:cubicBezTo>
                      <a:pt x="0" y="2176605"/>
                      <a:pt x="55880" y="2232485"/>
                      <a:pt x="124460" y="2232485"/>
                    </a:cubicBezTo>
                    <a:lnTo>
                      <a:pt x="30967183" y="2232485"/>
                    </a:lnTo>
                    <a:cubicBezTo>
                      <a:pt x="31035761" y="2232485"/>
                      <a:pt x="31091640" y="2176605"/>
                      <a:pt x="31091640" y="2108025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23"/>
            <p:cNvSpPr/>
            <p:nvPr/>
          </p:nvSpPr>
          <p:spPr>
            <a:xfrm>
              <a:off x="20302666" y="617319"/>
              <a:ext cx="572211" cy="308381"/>
            </a:xfrm>
            <a:custGeom>
              <a:rect b="b" l="l" r="r" t="t"/>
              <a:pathLst>
                <a:path extrusionOk="0" h="434340" w="805931">
                  <a:moveTo>
                    <a:pt x="788152" y="187960"/>
                  </a:moveTo>
                  <a:lnTo>
                    <a:pt x="526531" y="11430"/>
                  </a:lnTo>
                  <a:cubicBezTo>
                    <a:pt x="508752" y="0"/>
                    <a:pt x="485891" y="3810"/>
                    <a:pt x="473191" y="21590"/>
                  </a:cubicBezTo>
                  <a:cubicBezTo>
                    <a:pt x="461761" y="39370"/>
                    <a:pt x="465572" y="62230"/>
                    <a:pt x="483352" y="74930"/>
                  </a:cubicBezTo>
                  <a:lnTo>
                    <a:pt x="642102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42102" y="257810"/>
                  </a:lnTo>
                  <a:lnTo>
                    <a:pt x="483352" y="364490"/>
                  </a:lnTo>
                  <a:cubicBezTo>
                    <a:pt x="465572" y="375920"/>
                    <a:pt x="461761" y="400050"/>
                    <a:pt x="473192" y="417830"/>
                  </a:cubicBezTo>
                  <a:cubicBezTo>
                    <a:pt x="480811" y="429260"/>
                    <a:pt x="492242" y="434340"/>
                    <a:pt x="504942" y="434340"/>
                  </a:cubicBezTo>
                  <a:cubicBezTo>
                    <a:pt x="512561" y="434340"/>
                    <a:pt x="520181" y="431800"/>
                    <a:pt x="526531" y="427990"/>
                  </a:cubicBezTo>
                  <a:lnTo>
                    <a:pt x="789422" y="251460"/>
                  </a:lnTo>
                  <a:cubicBezTo>
                    <a:pt x="799581" y="243840"/>
                    <a:pt x="805931" y="232410"/>
                    <a:pt x="805931" y="219710"/>
                  </a:cubicBezTo>
                  <a:cubicBezTo>
                    <a:pt x="805931" y="207010"/>
                    <a:pt x="799581" y="195580"/>
                    <a:pt x="788152" y="187960"/>
                  </a:cubicBezTo>
                  <a:close/>
                </a:path>
              </a:pathLst>
            </a:custGeom>
            <a:solidFill>
              <a:srgbClr val="101010"/>
            </a:solidFill>
            <a:ln cap="flat" cmpd="sng" w="4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1671981" y="206968"/>
              <a:ext cx="9762000" cy="8208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" sz="2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HISTORIAS DE USUARIO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23"/>
          <p:cNvGrpSpPr/>
          <p:nvPr/>
        </p:nvGrpSpPr>
        <p:grpSpPr>
          <a:xfrm>
            <a:off x="868636" y="2096349"/>
            <a:ext cx="1662611" cy="1516418"/>
            <a:chOff x="0" y="0"/>
            <a:chExt cx="4433629" cy="4043781"/>
          </a:xfrm>
        </p:grpSpPr>
        <p:grpSp>
          <p:nvGrpSpPr>
            <p:cNvPr id="218" name="Google Shape;218;p23"/>
            <p:cNvGrpSpPr/>
            <p:nvPr/>
          </p:nvGrpSpPr>
          <p:grpSpPr>
            <a:xfrm>
              <a:off x="0" y="0"/>
              <a:ext cx="4433629" cy="4043781"/>
              <a:chOff x="0" y="0"/>
              <a:chExt cx="2275056" cy="2075011"/>
            </a:xfrm>
          </p:grpSpPr>
          <p:sp>
            <p:nvSpPr>
              <p:cNvPr id="219" name="Google Shape;219;p23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3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3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" name="Google Shape;222;p23"/>
            <p:cNvSpPr txBox="1"/>
            <p:nvPr/>
          </p:nvSpPr>
          <p:spPr>
            <a:xfrm>
              <a:off x="420673" y="866204"/>
              <a:ext cx="3592200" cy="2544300"/>
            </a:xfrm>
            <a:prstGeom prst="rect">
              <a:avLst/>
            </a:prstGeom>
            <a:solidFill>
              <a:schemeClr val="lt1"/>
            </a:solidFill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Aquí se organizan las historias de usuario que representan necesidades del cliente o usuario final.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3"/>
          <p:cNvGrpSpPr/>
          <p:nvPr/>
        </p:nvGrpSpPr>
        <p:grpSpPr>
          <a:xfrm>
            <a:off x="2853912" y="1432740"/>
            <a:ext cx="1662611" cy="1680871"/>
            <a:chOff x="0" y="0"/>
            <a:chExt cx="4433629" cy="4482324"/>
          </a:xfrm>
        </p:grpSpPr>
        <p:grpSp>
          <p:nvGrpSpPr>
            <p:cNvPr id="224" name="Google Shape;224;p23"/>
            <p:cNvGrpSpPr/>
            <p:nvPr/>
          </p:nvGrpSpPr>
          <p:grpSpPr>
            <a:xfrm>
              <a:off x="0" y="0"/>
              <a:ext cx="4433629" cy="4482324"/>
              <a:chOff x="0" y="0"/>
              <a:chExt cx="2275056" cy="2300043"/>
            </a:xfrm>
          </p:grpSpPr>
          <p:sp>
            <p:nvSpPr>
              <p:cNvPr id="225" name="Google Shape;225;p23"/>
              <p:cNvSpPr/>
              <p:nvPr/>
            </p:nvSpPr>
            <p:spPr>
              <a:xfrm>
                <a:off x="57150" y="58420"/>
                <a:ext cx="2205206" cy="2228923"/>
              </a:xfrm>
              <a:custGeom>
                <a:rect b="b" l="l" r="r" t="t"/>
                <a:pathLst>
                  <a:path extrusionOk="0" h="2228923" w="2205206">
                    <a:moveTo>
                      <a:pt x="2120117" y="2198443"/>
                    </a:moveTo>
                    <a:lnTo>
                      <a:pt x="0" y="2198443"/>
                    </a:lnTo>
                    <a:cubicBezTo>
                      <a:pt x="5080" y="2216223"/>
                      <a:pt x="21590" y="2228923"/>
                      <a:pt x="40640" y="2228923"/>
                    </a:cubicBezTo>
                    <a:lnTo>
                      <a:pt x="2162027" y="2228923"/>
                    </a:lnTo>
                    <a:cubicBezTo>
                      <a:pt x="2186156" y="2228923"/>
                      <a:pt x="2205206" y="2209873"/>
                      <a:pt x="2205206" y="2185743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142563"/>
                    </a:lnTo>
                    <a:cubicBezTo>
                      <a:pt x="2175996" y="2173043"/>
                      <a:pt x="2150596" y="2198443"/>
                      <a:pt x="2120117" y="2198443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3"/>
              <p:cNvSpPr/>
              <p:nvPr/>
            </p:nvSpPr>
            <p:spPr>
              <a:xfrm>
                <a:off x="12700" y="12700"/>
                <a:ext cx="2207746" cy="2231463"/>
              </a:xfrm>
              <a:custGeom>
                <a:rect b="b" l="l" r="r" t="t"/>
                <a:pathLst>
                  <a:path extrusionOk="0" h="2231463" w="2207746">
                    <a:moveTo>
                      <a:pt x="43180" y="2231463"/>
                    </a:moveTo>
                    <a:lnTo>
                      <a:pt x="2164567" y="2231463"/>
                    </a:lnTo>
                    <a:cubicBezTo>
                      <a:pt x="2188696" y="2231463"/>
                      <a:pt x="2207746" y="2212413"/>
                      <a:pt x="2207746" y="2188283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188283"/>
                    </a:lnTo>
                    <a:cubicBezTo>
                      <a:pt x="0" y="2212413"/>
                      <a:pt x="19050" y="2231463"/>
                      <a:pt x="43180" y="2231463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3"/>
              <p:cNvSpPr/>
              <p:nvPr/>
            </p:nvSpPr>
            <p:spPr>
              <a:xfrm>
                <a:off x="0" y="0"/>
                <a:ext cx="2275056" cy="2300043"/>
              </a:xfrm>
              <a:custGeom>
                <a:rect b="b" l="l" r="r" t="t"/>
                <a:pathLst>
                  <a:path extrusionOk="0" h="2300043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200983"/>
                    </a:lnTo>
                    <a:cubicBezTo>
                      <a:pt x="0" y="2227653"/>
                      <a:pt x="17780" y="2249243"/>
                      <a:pt x="43180" y="2255593"/>
                    </a:cubicBezTo>
                    <a:cubicBezTo>
                      <a:pt x="48260" y="2280993"/>
                      <a:pt x="71120" y="2300043"/>
                      <a:pt x="97790" y="2300043"/>
                    </a:cubicBezTo>
                    <a:lnTo>
                      <a:pt x="2219177" y="2300043"/>
                    </a:lnTo>
                    <a:cubicBezTo>
                      <a:pt x="2249656" y="2300043"/>
                      <a:pt x="2275056" y="2274643"/>
                      <a:pt x="2275056" y="2244163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200983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200983"/>
                    </a:lnTo>
                    <a:cubicBezTo>
                      <a:pt x="2220446" y="2225113"/>
                      <a:pt x="2201396" y="2244163"/>
                      <a:pt x="2177267" y="2244163"/>
                    </a:cubicBezTo>
                    <a:lnTo>
                      <a:pt x="55880" y="2244163"/>
                    </a:lnTo>
                    <a:cubicBezTo>
                      <a:pt x="31750" y="2244163"/>
                      <a:pt x="12700" y="2225113"/>
                      <a:pt x="12700" y="2200983"/>
                    </a:cubicBezTo>
                    <a:close/>
                    <a:moveTo>
                      <a:pt x="2262356" y="2244163"/>
                    </a:moveTo>
                    <a:cubicBezTo>
                      <a:pt x="2262356" y="2268293"/>
                      <a:pt x="2243306" y="2287343"/>
                      <a:pt x="2219177" y="2287343"/>
                    </a:cubicBezTo>
                    <a:lnTo>
                      <a:pt x="97790" y="2287343"/>
                    </a:lnTo>
                    <a:cubicBezTo>
                      <a:pt x="78740" y="2287343"/>
                      <a:pt x="62230" y="2274643"/>
                      <a:pt x="57150" y="2256863"/>
                    </a:cubicBezTo>
                    <a:lnTo>
                      <a:pt x="2177267" y="2256863"/>
                    </a:lnTo>
                    <a:cubicBezTo>
                      <a:pt x="2207746" y="2256863"/>
                      <a:pt x="2233146" y="2231463"/>
                      <a:pt x="2233146" y="2200983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244163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" name="Google Shape;228;p23"/>
            <p:cNvSpPr txBox="1"/>
            <p:nvPr/>
          </p:nvSpPr>
          <p:spPr>
            <a:xfrm>
              <a:off x="420673" y="866204"/>
              <a:ext cx="3592200" cy="2544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Aunque todo el equipo puede contribuir, esta columna suele estar bajo la responsabilidad del Product Owner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3"/>
          <p:cNvGrpSpPr/>
          <p:nvPr/>
        </p:nvGrpSpPr>
        <p:grpSpPr>
          <a:xfrm>
            <a:off x="4840380" y="1922165"/>
            <a:ext cx="1662611" cy="1516418"/>
            <a:chOff x="0" y="0"/>
            <a:chExt cx="4433629" cy="4043781"/>
          </a:xfrm>
        </p:grpSpPr>
        <p:grpSp>
          <p:nvGrpSpPr>
            <p:cNvPr id="230" name="Google Shape;230;p23"/>
            <p:cNvGrpSpPr/>
            <p:nvPr/>
          </p:nvGrpSpPr>
          <p:grpSpPr>
            <a:xfrm>
              <a:off x="0" y="0"/>
              <a:ext cx="4433629" cy="4043781"/>
              <a:chOff x="0" y="0"/>
              <a:chExt cx="2275056" cy="2075011"/>
            </a:xfrm>
          </p:grpSpPr>
          <p:sp>
            <p:nvSpPr>
              <p:cNvPr id="231" name="Google Shape;231;p23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3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3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4" name="Google Shape;234;p23"/>
            <p:cNvSpPr txBox="1"/>
            <p:nvPr/>
          </p:nvSpPr>
          <p:spPr>
            <a:xfrm>
              <a:off x="420673" y="866204"/>
              <a:ext cx="3592200" cy="20109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historias estén priorizadas de arriba hacia abajo con colores representativos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23"/>
          <p:cNvGrpSpPr/>
          <p:nvPr/>
        </p:nvGrpSpPr>
        <p:grpSpPr>
          <a:xfrm>
            <a:off x="6703662" y="1597194"/>
            <a:ext cx="1662611" cy="1351965"/>
            <a:chOff x="0" y="0"/>
            <a:chExt cx="4433629" cy="3605239"/>
          </a:xfrm>
        </p:grpSpPr>
        <p:grpSp>
          <p:nvGrpSpPr>
            <p:cNvPr id="236" name="Google Shape;236;p23"/>
            <p:cNvGrpSpPr/>
            <p:nvPr/>
          </p:nvGrpSpPr>
          <p:grpSpPr>
            <a:xfrm>
              <a:off x="0" y="0"/>
              <a:ext cx="4433629" cy="3605239"/>
              <a:chOff x="0" y="0"/>
              <a:chExt cx="2275056" cy="1849979"/>
            </a:xfrm>
          </p:grpSpPr>
          <p:sp>
            <p:nvSpPr>
              <p:cNvPr id="237" name="Google Shape;237;p23"/>
              <p:cNvSpPr/>
              <p:nvPr/>
            </p:nvSpPr>
            <p:spPr>
              <a:xfrm>
                <a:off x="57150" y="58420"/>
                <a:ext cx="2205206" cy="1778859"/>
              </a:xfrm>
              <a:custGeom>
                <a:rect b="b" l="l" r="r" t="t"/>
                <a:pathLst>
                  <a:path extrusionOk="0" h="1778859" w="2205206">
                    <a:moveTo>
                      <a:pt x="2120117" y="1748378"/>
                    </a:moveTo>
                    <a:lnTo>
                      <a:pt x="0" y="1748378"/>
                    </a:lnTo>
                    <a:cubicBezTo>
                      <a:pt x="5080" y="1766159"/>
                      <a:pt x="21590" y="1778859"/>
                      <a:pt x="40640" y="1778859"/>
                    </a:cubicBezTo>
                    <a:lnTo>
                      <a:pt x="2162027" y="1778859"/>
                    </a:lnTo>
                    <a:cubicBezTo>
                      <a:pt x="2186156" y="1778859"/>
                      <a:pt x="2205206" y="1759809"/>
                      <a:pt x="2205206" y="1735678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692499"/>
                    </a:lnTo>
                    <a:cubicBezTo>
                      <a:pt x="2175996" y="1722978"/>
                      <a:pt x="2150596" y="1748378"/>
                      <a:pt x="2120117" y="1748378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3"/>
              <p:cNvSpPr/>
              <p:nvPr/>
            </p:nvSpPr>
            <p:spPr>
              <a:xfrm>
                <a:off x="12700" y="12700"/>
                <a:ext cx="2207746" cy="1781398"/>
              </a:xfrm>
              <a:custGeom>
                <a:rect b="b" l="l" r="r" t="t"/>
                <a:pathLst>
                  <a:path extrusionOk="0" h="1781398" w="2207746">
                    <a:moveTo>
                      <a:pt x="43180" y="1781398"/>
                    </a:moveTo>
                    <a:lnTo>
                      <a:pt x="2164567" y="1781398"/>
                    </a:lnTo>
                    <a:cubicBezTo>
                      <a:pt x="2188696" y="1781398"/>
                      <a:pt x="2207746" y="1762348"/>
                      <a:pt x="2207746" y="1738219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738219"/>
                    </a:lnTo>
                    <a:cubicBezTo>
                      <a:pt x="0" y="1762348"/>
                      <a:pt x="19050" y="1781398"/>
                      <a:pt x="43180" y="178139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3"/>
              <p:cNvSpPr/>
              <p:nvPr/>
            </p:nvSpPr>
            <p:spPr>
              <a:xfrm>
                <a:off x="0" y="0"/>
                <a:ext cx="2275056" cy="1849979"/>
              </a:xfrm>
              <a:custGeom>
                <a:rect b="b" l="l" r="r" t="t"/>
                <a:pathLst>
                  <a:path extrusionOk="0" h="1849979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750919"/>
                    </a:lnTo>
                    <a:cubicBezTo>
                      <a:pt x="0" y="1777589"/>
                      <a:pt x="17780" y="1799179"/>
                      <a:pt x="43180" y="1805529"/>
                    </a:cubicBezTo>
                    <a:cubicBezTo>
                      <a:pt x="48260" y="1830929"/>
                      <a:pt x="71120" y="1849979"/>
                      <a:pt x="97790" y="1849979"/>
                    </a:cubicBezTo>
                    <a:lnTo>
                      <a:pt x="2219177" y="1849979"/>
                    </a:lnTo>
                    <a:cubicBezTo>
                      <a:pt x="2249656" y="1849979"/>
                      <a:pt x="2275056" y="1824579"/>
                      <a:pt x="2275056" y="1794098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750919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750919"/>
                    </a:lnTo>
                    <a:cubicBezTo>
                      <a:pt x="2220446" y="1775048"/>
                      <a:pt x="2201396" y="1794098"/>
                      <a:pt x="2177267" y="1794098"/>
                    </a:cubicBezTo>
                    <a:lnTo>
                      <a:pt x="55880" y="1794098"/>
                    </a:lnTo>
                    <a:cubicBezTo>
                      <a:pt x="31750" y="1794098"/>
                      <a:pt x="12700" y="1775048"/>
                      <a:pt x="12700" y="1750919"/>
                    </a:cubicBezTo>
                    <a:close/>
                    <a:moveTo>
                      <a:pt x="2262356" y="1794098"/>
                    </a:moveTo>
                    <a:cubicBezTo>
                      <a:pt x="2262356" y="1818229"/>
                      <a:pt x="2243306" y="1837279"/>
                      <a:pt x="2219177" y="1837279"/>
                    </a:cubicBezTo>
                    <a:lnTo>
                      <a:pt x="97790" y="1837279"/>
                    </a:lnTo>
                    <a:cubicBezTo>
                      <a:pt x="78740" y="1837279"/>
                      <a:pt x="62230" y="1824579"/>
                      <a:pt x="57150" y="1806798"/>
                    </a:cubicBezTo>
                    <a:lnTo>
                      <a:pt x="2177267" y="1806798"/>
                    </a:lnTo>
                    <a:cubicBezTo>
                      <a:pt x="2207746" y="1806798"/>
                      <a:pt x="2233146" y="1781398"/>
                      <a:pt x="2233146" y="1750919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1794098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0" name="Google Shape;240;p23"/>
            <p:cNvSpPr txBox="1"/>
            <p:nvPr/>
          </p:nvSpPr>
          <p:spPr>
            <a:xfrm>
              <a:off x="420673" y="866204"/>
              <a:ext cx="3592200" cy="20109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 Desde aquí, las historias pueden moverse a la columna “To-do/sprint backlog”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23"/>
          <p:cNvSpPr txBox="1"/>
          <p:nvPr/>
        </p:nvSpPr>
        <p:spPr>
          <a:xfrm>
            <a:off x="752030" y="604678"/>
            <a:ext cx="277800" cy="384900"/>
          </a:xfrm>
          <a:prstGeom prst="rect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rgbClr val="10101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/>
          <p:nvPr/>
        </p:nvSpPr>
        <p:spPr>
          <a:xfrm>
            <a:off x="0" y="-46237"/>
            <a:ext cx="9149713" cy="5311045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grpSp>
        <p:nvGrpSpPr>
          <p:cNvPr id="247" name="Google Shape;247;p24"/>
          <p:cNvGrpSpPr/>
          <p:nvPr/>
        </p:nvGrpSpPr>
        <p:grpSpPr>
          <a:xfrm>
            <a:off x="542570" y="514350"/>
            <a:ext cx="8058953" cy="4112743"/>
            <a:chOff x="0" y="0"/>
            <a:chExt cx="21490542" cy="10967314"/>
          </a:xfrm>
        </p:grpSpPr>
        <p:sp>
          <p:nvSpPr>
            <p:cNvPr id="248" name="Google Shape;248;p24"/>
            <p:cNvSpPr/>
            <p:nvPr/>
          </p:nvSpPr>
          <p:spPr>
            <a:xfrm>
              <a:off x="0" y="0"/>
              <a:ext cx="21479552" cy="10967314"/>
            </a:xfrm>
            <a:custGeom>
              <a:rect b="b" l="l" r="r" t="t"/>
              <a:pathLst>
                <a:path extrusionOk="0" h="16247872" w="31821558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6123411"/>
                  </a:lnTo>
                  <a:cubicBezTo>
                    <a:pt x="31761866" y="16158972"/>
                    <a:pt x="31732658" y="16188181"/>
                    <a:pt x="31697098" y="16188181"/>
                  </a:cubicBezTo>
                  <a:lnTo>
                    <a:pt x="124460" y="16188181"/>
                  </a:lnTo>
                  <a:cubicBezTo>
                    <a:pt x="88900" y="16188181"/>
                    <a:pt x="59690" y="16158972"/>
                    <a:pt x="59690" y="1612341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123411"/>
                  </a:lnTo>
                  <a:cubicBezTo>
                    <a:pt x="0" y="16191992"/>
                    <a:pt x="55880" y="16247872"/>
                    <a:pt x="124460" y="16247872"/>
                  </a:cubicBezTo>
                  <a:lnTo>
                    <a:pt x="31697098" y="16247872"/>
                  </a:lnTo>
                  <a:cubicBezTo>
                    <a:pt x="31765677" y="16247872"/>
                    <a:pt x="31821558" y="16191992"/>
                    <a:pt x="31821558" y="16123411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4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9" name="Google Shape;249;p24"/>
            <p:cNvGrpSpPr/>
            <p:nvPr/>
          </p:nvGrpSpPr>
          <p:grpSpPr>
            <a:xfrm>
              <a:off x="0" y="0"/>
              <a:ext cx="21490542" cy="1546863"/>
              <a:chOff x="0" y="0"/>
              <a:chExt cx="31091640" cy="2237938"/>
            </a:xfrm>
          </p:grpSpPr>
          <p:sp>
            <p:nvSpPr>
              <p:cNvPr id="250" name="Google Shape;250;p24"/>
              <p:cNvSpPr/>
              <p:nvPr/>
            </p:nvSpPr>
            <p:spPr>
              <a:xfrm>
                <a:off x="31750" y="31750"/>
                <a:ext cx="31028140" cy="2174438"/>
              </a:xfrm>
              <a:custGeom>
                <a:rect b="b" l="l" r="r" t="t"/>
                <a:pathLst>
                  <a:path extrusionOk="0" h="2174438" w="31028140">
                    <a:moveTo>
                      <a:pt x="30935433" y="2174438"/>
                    </a:moveTo>
                    <a:lnTo>
                      <a:pt x="92710" y="2174438"/>
                    </a:lnTo>
                    <a:cubicBezTo>
                      <a:pt x="41910" y="2174438"/>
                      <a:pt x="0" y="2132528"/>
                      <a:pt x="0" y="20817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80458"/>
                    </a:lnTo>
                    <a:cubicBezTo>
                      <a:pt x="31028140" y="2132528"/>
                      <a:pt x="30986233" y="2174438"/>
                      <a:pt x="30935433" y="217443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4"/>
              <p:cNvSpPr/>
              <p:nvPr/>
            </p:nvSpPr>
            <p:spPr>
              <a:xfrm>
                <a:off x="0" y="0"/>
                <a:ext cx="31091640" cy="2237938"/>
              </a:xfrm>
              <a:custGeom>
                <a:rect b="b" l="l" r="r" t="t"/>
                <a:pathLst>
                  <a:path extrusionOk="0" h="2237938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3478"/>
                    </a:lnTo>
                    <a:cubicBezTo>
                      <a:pt x="31031951" y="2149038"/>
                      <a:pt x="31002740" y="2178248"/>
                      <a:pt x="30967183" y="2178248"/>
                    </a:cubicBezTo>
                    <a:lnTo>
                      <a:pt x="124460" y="2178248"/>
                    </a:lnTo>
                    <a:cubicBezTo>
                      <a:pt x="88900" y="2178248"/>
                      <a:pt x="59690" y="2149038"/>
                      <a:pt x="59690" y="21134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3478"/>
                    </a:lnTo>
                    <a:cubicBezTo>
                      <a:pt x="0" y="2182058"/>
                      <a:pt x="55880" y="2237938"/>
                      <a:pt x="124460" y="2237938"/>
                    </a:cubicBezTo>
                    <a:lnTo>
                      <a:pt x="30967183" y="2237938"/>
                    </a:lnTo>
                    <a:cubicBezTo>
                      <a:pt x="31035761" y="2237938"/>
                      <a:pt x="31091640" y="2182058"/>
                      <a:pt x="31091640" y="2113478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2" name="Google Shape;252;p24"/>
            <p:cNvSpPr/>
            <p:nvPr/>
          </p:nvSpPr>
          <p:spPr>
            <a:xfrm>
              <a:off x="20302666" y="617319"/>
              <a:ext cx="572211" cy="308381"/>
            </a:xfrm>
            <a:custGeom>
              <a:rect b="b" l="l" r="r" t="t"/>
              <a:pathLst>
                <a:path extrusionOk="0" h="434340" w="805931">
                  <a:moveTo>
                    <a:pt x="788152" y="187960"/>
                  </a:moveTo>
                  <a:lnTo>
                    <a:pt x="526531" y="11430"/>
                  </a:lnTo>
                  <a:cubicBezTo>
                    <a:pt x="508752" y="0"/>
                    <a:pt x="485891" y="3810"/>
                    <a:pt x="473191" y="21590"/>
                  </a:cubicBezTo>
                  <a:cubicBezTo>
                    <a:pt x="461761" y="39370"/>
                    <a:pt x="465572" y="62230"/>
                    <a:pt x="483352" y="74930"/>
                  </a:cubicBezTo>
                  <a:lnTo>
                    <a:pt x="642102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42102" y="257810"/>
                  </a:lnTo>
                  <a:lnTo>
                    <a:pt x="483352" y="364490"/>
                  </a:lnTo>
                  <a:cubicBezTo>
                    <a:pt x="465572" y="375920"/>
                    <a:pt x="461761" y="400050"/>
                    <a:pt x="473192" y="417830"/>
                  </a:cubicBezTo>
                  <a:cubicBezTo>
                    <a:pt x="480811" y="429260"/>
                    <a:pt x="492242" y="434340"/>
                    <a:pt x="504942" y="434340"/>
                  </a:cubicBezTo>
                  <a:cubicBezTo>
                    <a:pt x="512561" y="434340"/>
                    <a:pt x="520181" y="431800"/>
                    <a:pt x="526531" y="427990"/>
                  </a:cubicBezTo>
                  <a:lnTo>
                    <a:pt x="789422" y="251460"/>
                  </a:lnTo>
                  <a:cubicBezTo>
                    <a:pt x="799581" y="243840"/>
                    <a:pt x="805931" y="232410"/>
                    <a:pt x="805931" y="219710"/>
                  </a:cubicBezTo>
                  <a:cubicBezTo>
                    <a:pt x="805931" y="207010"/>
                    <a:pt x="799581" y="195580"/>
                    <a:pt x="788152" y="187960"/>
                  </a:cubicBezTo>
                  <a:close/>
                </a:path>
              </a:pathLst>
            </a:custGeom>
            <a:solidFill>
              <a:srgbClr val="101010"/>
            </a:solidFill>
            <a:ln cap="flat" cmpd="sng" w="4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4"/>
            <p:cNvSpPr txBox="1"/>
            <p:nvPr/>
          </p:nvSpPr>
          <p:spPr>
            <a:xfrm>
              <a:off x="558560" y="247224"/>
              <a:ext cx="740700" cy="1026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s" sz="25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4"/>
            <p:cNvSpPr txBox="1"/>
            <p:nvPr/>
          </p:nvSpPr>
          <p:spPr>
            <a:xfrm>
              <a:off x="1798981" y="206968"/>
              <a:ext cx="9762000" cy="8208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" sz="2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TO-DO / SPRINT BACKLOG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24"/>
          <p:cNvGrpSpPr/>
          <p:nvPr/>
        </p:nvGrpSpPr>
        <p:grpSpPr>
          <a:xfrm>
            <a:off x="889128" y="1429836"/>
            <a:ext cx="1662611" cy="1845325"/>
            <a:chOff x="0" y="0"/>
            <a:chExt cx="4433629" cy="4920866"/>
          </a:xfrm>
        </p:grpSpPr>
        <p:grpSp>
          <p:nvGrpSpPr>
            <p:cNvPr id="256" name="Google Shape;256;p24"/>
            <p:cNvGrpSpPr/>
            <p:nvPr/>
          </p:nvGrpSpPr>
          <p:grpSpPr>
            <a:xfrm>
              <a:off x="0" y="0"/>
              <a:ext cx="4433629" cy="4920866"/>
              <a:chOff x="0" y="0"/>
              <a:chExt cx="2275056" cy="2525075"/>
            </a:xfrm>
          </p:grpSpPr>
          <p:sp>
            <p:nvSpPr>
              <p:cNvPr id="257" name="Google Shape;257;p24"/>
              <p:cNvSpPr/>
              <p:nvPr/>
            </p:nvSpPr>
            <p:spPr>
              <a:xfrm>
                <a:off x="57150" y="58420"/>
                <a:ext cx="2205206" cy="2453955"/>
              </a:xfrm>
              <a:custGeom>
                <a:rect b="b" l="l" r="r" t="t"/>
                <a:pathLst>
                  <a:path extrusionOk="0" h="2453955" w="2205206">
                    <a:moveTo>
                      <a:pt x="2120117" y="2423475"/>
                    </a:moveTo>
                    <a:lnTo>
                      <a:pt x="0" y="2423475"/>
                    </a:lnTo>
                    <a:cubicBezTo>
                      <a:pt x="5080" y="2441255"/>
                      <a:pt x="21590" y="2453955"/>
                      <a:pt x="40640" y="2453955"/>
                    </a:cubicBezTo>
                    <a:lnTo>
                      <a:pt x="2162027" y="2453955"/>
                    </a:lnTo>
                    <a:cubicBezTo>
                      <a:pt x="2186156" y="2453955"/>
                      <a:pt x="2205206" y="2434905"/>
                      <a:pt x="2205206" y="2410775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367595"/>
                    </a:lnTo>
                    <a:cubicBezTo>
                      <a:pt x="2175996" y="2398075"/>
                      <a:pt x="2150596" y="2423475"/>
                      <a:pt x="2120117" y="2423475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4"/>
              <p:cNvSpPr/>
              <p:nvPr/>
            </p:nvSpPr>
            <p:spPr>
              <a:xfrm>
                <a:off x="12700" y="12700"/>
                <a:ext cx="2207746" cy="2456495"/>
              </a:xfrm>
              <a:custGeom>
                <a:rect b="b" l="l" r="r" t="t"/>
                <a:pathLst>
                  <a:path extrusionOk="0" h="2456495" w="2207746">
                    <a:moveTo>
                      <a:pt x="43180" y="2456495"/>
                    </a:moveTo>
                    <a:lnTo>
                      <a:pt x="2164567" y="2456495"/>
                    </a:lnTo>
                    <a:cubicBezTo>
                      <a:pt x="2188696" y="2456495"/>
                      <a:pt x="2207746" y="2437445"/>
                      <a:pt x="2207746" y="2413315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413315"/>
                    </a:lnTo>
                    <a:cubicBezTo>
                      <a:pt x="0" y="2437445"/>
                      <a:pt x="19050" y="2456495"/>
                      <a:pt x="43180" y="245649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4"/>
              <p:cNvSpPr/>
              <p:nvPr/>
            </p:nvSpPr>
            <p:spPr>
              <a:xfrm>
                <a:off x="0" y="0"/>
                <a:ext cx="2275056" cy="2525075"/>
              </a:xfrm>
              <a:custGeom>
                <a:rect b="b" l="l" r="r" t="t"/>
                <a:pathLst>
                  <a:path extrusionOk="0" h="2525075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426015"/>
                    </a:lnTo>
                    <a:cubicBezTo>
                      <a:pt x="0" y="2452685"/>
                      <a:pt x="17780" y="2474275"/>
                      <a:pt x="43180" y="2480625"/>
                    </a:cubicBezTo>
                    <a:cubicBezTo>
                      <a:pt x="48260" y="2506025"/>
                      <a:pt x="71120" y="2525075"/>
                      <a:pt x="97790" y="2525075"/>
                    </a:cubicBezTo>
                    <a:lnTo>
                      <a:pt x="2219177" y="2525075"/>
                    </a:lnTo>
                    <a:cubicBezTo>
                      <a:pt x="2249656" y="2525075"/>
                      <a:pt x="2275056" y="2499675"/>
                      <a:pt x="2275056" y="2469195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426015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426015"/>
                    </a:lnTo>
                    <a:cubicBezTo>
                      <a:pt x="2220446" y="2450145"/>
                      <a:pt x="2201396" y="2469195"/>
                      <a:pt x="2177267" y="2469195"/>
                    </a:cubicBezTo>
                    <a:lnTo>
                      <a:pt x="55880" y="2469195"/>
                    </a:lnTo>
                    <a:cubicBezTo>
                      <a:pt x="31750" y="2469195"/>
                      <a:pt x="12700" y="2450145"/>
                      <a:pt x="12700" y="2426015"/>
                    </a:cubicBezTo>
                    <a:close/>
                    <a:moveTo>
                      <a:pt x="2262356" y="2469195"/>
                    </a:moveTo>
                    <a:cubicBezTo>
                      <a:pt x="2262356" y="2493325"/>
                      <a:pt x="2243306" y="2512375"/>
                      <a:pt x="2219177" y="2512375"/>
                    </a:cubicBezTo>
                    <a:lnTo>
                      <a:pt x="97790" y="2512375"/>
                    </a:lnTo>
                    <a:cubicBezTo>
                      <a:pt x="78740" y="2512375"/>
                      <a:pt x="62230" y="2499675"/>
                      <a:pt x="57150" y="2481895"/>
                    </a:cubicBezTo>
                    <a:lnTo>
                      <a:pt x="2177267" y="2481895"/>
                    </a:lnTo>
                    <a:cubicBezTo>
                      <a:pt x="2207746" y="2481895"/>
                      <a:pt x="2233146" y="2456495"/>
                      <a:pt x="2233146" y="2426015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46919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24"/>
            <p:cNvSpPr txBox="1"/>
            <p:nvPr/>
          </p:nvSpPr>
          <p:spPr>
            <a:xfrm>
              <a:off x="420673" y="866204"/>
              <a:ext cx="3592200" cy="36114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Aquí se representa el conjunto de tareas seleccionadas del product backlog que están listas para ser trabajadas por el equipo.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24"/>
          <p:cNvGrpSpPr/>
          <p:nvPr/>
        </p:nvGrpSpPr>
        <p:grpSpPr>
          <a:xfrm>
            <a:off x="2973562" y="2991979"/>
            <a:ext cx="1662611" cy="1351965"/>
            <a:chOff x="0" y="0"/>
            <a:chExt cx="4433629" cy="3605239"/>
          </a:xfrm>
        </p:grpSpPr>
        <p:grpSp>
          <p:nvGrpSpPr>
            <p:cNvPr id="262" name="Google Shape;262;p24"/>
            <p:cNvGrpSpPr/>
            <p:nvPr/>
          </p:nvGrpSpPr>
          <p:grpSpPr>
            <a:xfrm>
              <a:off x="0" y="0"/>
              <a:ext cx="4433629" cy="3605239"/>
              <a:chOff x="0" y="0"/>
              <a:chExt cx="2275056" cy="1849979"/>
            </a:xfrm>
          </p:grpSpPr>
          <p:sp>
            <p:nvSpPr>
              <p:cNvPr id="263" name="Google Shape;263;p24"/>
              <p:cNvSpPr/>
              <p:nvPr/>
            </p:nvSpPr>
            <p:spPr>
              <a:xfrm>
                <a:off x="57150" y="58420"/>
                <a:ext cx="2205206" cy="1778859"/>
              </a:xfrm>
              <a:custGeom>
                <a:rect b="b" l="l" r="r" t="t"/>
                <a:pathLst>
                  <a:path extrusionOk="0" h="1778859" w="2205206">
                    <a:moveTo>
                      <a:pt x="2120117" y="1748378"/>
                    </a:moveTo>
                    <a:lnTo>
                      <a:pt x="0" y="1748378"/>
                    </a:lnTo>
                    <a:cubicBezTo>
                      <a:pt x="5080" y="1766159"/>
                      <a:pt x="21590" y="1778859"/>
                      <a:pt x="40640" y="1778859"/>
                    </a:cubicBezTo>
                    <a:lnTo>
                      <a:pt x="2162027" y="1778859"/>
                    </a:lnTo>
                    <a:cubicBezTo>
                      <a:pt x="2186156" y="1778859"/>
                      <a:pt x="2205206" y="1759809"/>
                      <a:pt x="2205206" y="1735678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692499"/>
                    </a:lnTo>
                    <a:cubicBezTo>
                      <a:pt x="2175996" y="1722978"/>
                      <a:pt x="2150596" y="1748378"/>
                      <a:pt x="2120117" y="1748378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4"/>
              <p:cNvSpPr/>
              <p:nvPr/>
            </p:nvSpPr>
            <p:spPr>
              <a:xfrm>
                <a:off x="12700" y="12700"/>
                <a:ext cx="2207746" cy="1781398"/>
              </a:xfrm>
              <a:custGeom>
                <a:rect b="b" l="l" r="r" t="t"/>
                <a:pathLst>
                  <a:path extrusionOk="0" h="1781398" w="2207746">
                    <a:moveTo>
                      <a:pt x="43180" y="1781398"/>
                    </a:moveTo>
                    <a:lnTo>
                      <a:pt x="2164567" y="1781398"/>
                    </a:lnTo>
                    <a:cubicBezTo>
                      <a:pt x="2188696" y="1781398"/>
                      <a:pt x="2207746" y="1762348"/>
                      <a:pt x="2207746" y="1738219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738219"/>
                    </a:lnTo>
                    <a:cubicBezTo>
                      <a:pt x="0" y="1762348"/>
                      <a:pt x="19050" y="1781398"/>
                      <a:pt x="43180" y="178139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0" y="0"/>
                <a:ext cx="2275056" cy="1849979"/>
              </a:xfrm>
              <a:custGeom>
                <a:rect b="b" l="l" r="r" t="t"/>
                <a:pathLst>
                  <a:path extrusionOk="0" h="1849979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750919"/>
                    </a:lnTo>
                    <a:cubicBezTo>
                      <a:pt x="0" y="1777589"/>
                      <a:pt x="17780" y="1799179"/>
                      <a:pt x="43180" y="1805529"/>
                    </a:cubicBezTo>
                    <a:cubicBezTo>
                      <a:pt x="48260" y="1830929"/>
                      <a:pt x="71120" y="1849979"/>
                      <a:pt x="97790" y="1849979"/>
                    </a:cubicBezTo>
                    <a:lnTo>
                      <a:pt x="2219177" y="1849979"/>
                    </a:lnTo>
                    <a:cubicBezTo>
                      <a:pt x="2249656" y="1849979"/>
                      <a:pt x="2275056" y="1824579"/>
                      <a:pt x="2275056" y="1794098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750919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750919"/>
                    </a:lnTo>
                    <a:cubicBezTo>
                      <a:pt x="2220446" y="1775048"/>
                      <a:pt x="2201396" y="1794098"/>
                      <a:pt x="2177267" y="1794098"/>
                    </a:cubicBezTo>
                    <a:lnTo>
                      <a:pt x="55880" y="1794098"/>
                    </a:lnTo>
                    <a:cubicBezTo>
                      <a:pt x="31750" y="1794098"/>
                      <a:pt x="12700" y="1775048"/>
                      <a:pt x="12700" y="1750919"/>
                    </a:cubicBezTo>
                    <a:close/>
                    <a:moveTo>
                      <a:pt x="2262356" y="1794098"/>
                    </a:moveTo>
                    <a:cubicBezTo>
                      <a:pt x="2262356" y="1818229"/>
                      <a:pt x="2243306" y="1837279"/>
                      <a:pt x="2219177" y="1837279"/>
                    </a:cubicBezTo>
                    <a:lnTo>
                      <a:pt x="97790" y="1837279"/>
                    </a:lnTo>
                    <a:cubicBezTo>
                      <a:pt x="78740" y="1837279"/>
                      <a:pt x="62230" y="1824579"/>
                      <a:pt x="57150" y="1806798"/>
                    </a:cubicBezTo>
                    <a:lnTo>
                      <a:pt x="2177267" y="1806798"/>
                    </a:lnTo>
                    <a:cubicBezTo>
                      <a:pt x="2207746" y="1806798"/>
                      <a:pt x="2233146" y="1781398"/>
                      <a:pt x="2233146" y="1750919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1794098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6" name="Google Shape;266;p24"/>
            <p:cNvSpPr txBox="1"/>
            <p:nvPr/>
          </p:nvSpPr>
          <p:spPr>
            <a:xfrm>
              <a:off x="420673" y="866204"/>
              <a:ext cx="3592200" cy="20109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tareas que llegan aquí han sido "jaladas" desde la columna de “Historias de Usuario”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24"/>
          <p:cNvGrpSpPr/>
          <p:nvPr/>
        </p:nvGrpSpPr>
        <p:grpSpPr>
          <a:xfrm>
            <a:off x="4572000" y="1255911"/>
            <a:ext cx="1662611" cy="1516418"/>
            <a:chOff x="0" y="0"/>
            <a:chExt cx="4433629" cy="4043781"/>
          </a:xfrm>
        </p:grpSpPr>
        <p:grpSp>
          <p:nvGrpSpPr>
            <p:cNvPr id="268" name="Google Shape;268;p24"/>
            <p:cNvGrpSpPr/>
            <p:nvPr/>
          </p:nvGrpSpPr>
          <p:grpSpPr>
            <a:xfrm>
              <a:off x="0" y="0"/>
              <a:ext cx="4433629" cy="4043781"/>
              <a:chOff x="0" y="0"/>
              <a:chExt cx="2275056" cy="2075011"/>
            </a:xfrm>
          </p:grpSpPr>
          <p:sp>
            <p:nvSpPr>
              <p:cNvPr id="269" name="Google Shape;269;p24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24"/>
            <p:cNvSpPr txBox="1"/>
            <p:nvPr/>
          </p:nvSpPr>
          <p:spPr>
            <a:xfrm>
              <a:off x="420673" y="866204"/>
              <a:ext cx="3592200" cy="20109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tareas aquí no se están ejecutando aún, pero sí están en la cola inmediata de trabajo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24"/>
          <p:cNvGrpSpPr/>
          <p:nvPr/>
        </p:nvGrpSpPr>
        <p:grpSpPr>
          <a:xfrm>
            <a:off x="6425206" y="2909752"/>
            <a:ext cx="1662611" cy="1516418"/>
            <a:chOff x="0" y="0"/>
            <a:chExt cx="4433629" cy="4043781"/>
          </a:xfrm>
        </p:grpSpPr>
        <p:grpSp>
          <p:nvGrpSpPr>
            <p:cNvPr id="274" name="Google Shape;274;p24"/>
            <p:cNvGrpSpPr/>
            <p:nvPr/>
          </p:nvGrpSpPr>
          <p:grpSpPr>
            <a:xfrm>
              <a:off x="0" y="0"/>
              <a:ext cx="4433629" cy="4043781"/>
              <a:chOff x="0" y="0"/>
              <a:chExt cx="2275056" cy="2075011"/>
            </a:xfrm>
          </p:grpSpPr>
          <p:sp>
            <p:nvSpPr>
              <p:cNvPr id="275" name="Google Shape;275;p24"/>
              <p:cNvSpPr/>
              <p:nvPr/>
            </p:nvSpPr>
            <p:spPr>
              <a:xfrm>
                <a:off x="57150" y="58420"/>
                <a:ext cx="2205206" cy="2003891"/>
              </a:xfrm>
              <a:custGeom>
                <a:rect b="b" l="l" r="r" t="t"/>
                <a:pathLst>
                  <a:path extrusionOk="0" h="2003891" w="2205206">
                    <a:moveTo>
                      <a:pt x="2120117" y="1973411"/>
                    </a:moveTo>
                    <a:lnTo>
                      <a:pt x="0" y="1973411"/>
                    </a:lnTo>
                    <a:cubicBezTo>
                      <a:pt x="5080" y="1991191"/>
                      <a:pt x="21590" y="2003891"/>
                      <a:pt x="40640" y="2003891"/>
                    </a:cubicBezTo>
                    <a:lnTo>
                      <a:pt x="2162027" y="2003891"/>
                    </a:lnTo>
                    <a:cubicBezTo>
                      <a:pt x="2186156" y="2003891"/>
                      <a:pt x="2205206" y="1984841"/>
                      <a:pt x="2205206" y="196071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1917531"/>
                    </a:lnTo>
                    <a:cubicBezTo>
                      <a:pt x="2175996" y="1948011"/>
                      <a:pt x="2150596" y="1973411"/>
                      <a:pt x="2120117" y="1973411"/>
                    </a:cubicBezTo>
                    <a:close/>
                  </a:path>
                </a:pathLst>
              </a:custGeom>
              <a:solidFill>
                <a:srgbClr val="57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12700" y="12700"/>
                <a:ext cx="2207746" cy="2006431"/>
              </a:xfrm>
              <a:custGeom>
                <a:rect b="b" l="l" r="r" t="t"/>
                <a:pathLst>
                  <a:path extrusionOk="0" h="2006431" w="2207746">
                    <a:moveTo>
                      <a:pt x="43180" y="2006431"/>
                    </a:moveTo>
                    <a:lnTo>
                      <a:pt x="2164567" y="2006431"/>
                    </a:lnTo>
                    <a:cubicBezTo>
                      <a:pt x="2188696" y="2006431"/>
                      <a:pt x="2207746" y="1987381"/>
                      <a:pt x="2207746" y="196325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1963251"/>
                    </a:lnTo>
                    <a:cubicBezTo>
                      <a:pt x="0" y="1987381"/>
                      <a:pt x="19050" y="2006431"/>
                      <a:pt x="43180" y="200643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>
                <a:off x="0" y="0"/>
                <a:ext cx="2275056" cy="2075011"/>
              </a:xfrm>
              <a:custGeom>
                <a:rect b="b" l="l" r="r" t="t"/>
                <a:pathLst>
                  <a:path extrusionOk="0" h="207501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1975951"/>
                    </a:lnTo>
                    <a:cubicBezTo>
                      <a:pt x="0" y="2002621"/>
                      <a:pt x="17780" y="2024211"/>
                      <a:pt x="43180" y="2030561"/>
                    </a:cubicBezTo>
                    <a:cubicBezTo>
                      <a:pt x="48260" y="2055961"/>
                      <a:pt x="71120" y="2075011"/>
                      <a:pt x="97790" y="2075011"/>
                    </a:cubicBezTo>
                    <a:lnTo>
                      <a:pt x="2219177" y="2075011"/>
                    </a:lnTo>
                    <a:cubicBezTo>
                      <a:pt x="2249656" y="2075011"/>
                      <a:pt x="2275056" y="2049611"/>
                      <a:pt x="2275056" y="201913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19759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1975951"/>
                    </a:lnTo>
                    <a:cubicBezTo>
                      <a:pt x="2220446" y="2000081"/>
                      <a:pt x="2201396" y="2019131"/>
                      <a:pt x="2177267" y="2019131"/>
                    </a:cubicBezTo>
                    <a:lnTo>
                      <a:pt x="55880" y="2019131"/>
                    </a:lnTo>
                    <a:cubicBezTo>
                      <a:pt x="31750" y="2019131"/>
                      <a:pt x="12700" y="2000081"/>
                      <a:pt x="12700" y="1975951"/>
                    </a:cubicBezTo>
                    <a:close/>
                    <a:moveTo>
                      <a:pt x="2262356" y="2019131"/>
                    </a:moveTo>
                    <a:cubicBezTo>
                      <a:pt x="2262356" y="2043261"/>
                      <a:pt x="2243306" y="2062311"/>
                      <a:pt x="2219177" y="2062311"/>
                    </a:cubicBezTo>
                    <a:lnTo>
                      <a:pt x="97790" y="2062311"/>
                    </a:lnTo>
                    <a:cubicBezTo>
                      <a:pt x="78740" y="2062311"/>
                      <a:pt x="62230" y="2049611"/>
                      <a:pt x="57150" y="2031831"/>
                    </a:cubicBezTo>
                    <a:lnTo>
                      <a:pt x="2177267" y="2031831"/>
                    </a:lnTo>
                    <a:cubicBezTo>
                      <a:pt x="2207746" y="2031831"/>
                      <a:pt x="2233146" y="2006431"/>
                      <a:pt x="2233146" y="197595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0191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24"/>
            <p:cNvSpPr txBox="1"/>
            <p:nvPr/>
          </p:nvSpPr>
          <p:spPr>
            <a:xfrm>
              <a:off x="420673" y="866204"/>
              <a:ext cx="3592200" cy="2544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996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estimaciones en esta columna ayudan a balancear la carga de trabajo (Planning poker)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/>
          <p:nvPr/>
        </p:nvSpPr>
        <p:spPr>
          <a:xfrm>
            <a:off x="0" y="-46237"/>
            <a:ext cx="9149713" cy="5311045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284" name="Google Shape;284;p25"/>
          <p:cNvSpPr/>
          <p:nvPr/>
        </p:nvSpPr>
        <p:spPr>
          <a:xfrm>
            <a:off x="542570" y="514350"/>
            <a:ext cx="8114497" cy="4143207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chemeClr val="dk1"/>
          </a:solidFill>
          <a:ln cap="flat" cmpd="sng" w="4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25"/>
          <p:cNvGrpSpPr/>
          <p:nvPr/>
        </p:nvGrpSpPr>
        <p:grpSpPr>
          <a:xfrm>
            <a:off x="542570" y="514350"/>
            <a:ext cx="8058953" cy="580074"/>
            <a:chOff x="0" y="0"/>
            <a:chExt cx="21490542" cy="1546863"/>
          </a:xfrm>
        </p:grpSpPr>
        <p:grpSp>
          <p:nvGrpSpPr>
            <p:cNvPr id="286" name="Google Shape;286;p25"/>
            <p:cNvGrpSpPr/>
            <p:nvPr/>
          </p:nvGrpSpPr>
          <p:grpSpPr>
            <a:xfrm>
              <a:off x="0" y="0"/>
              <a:ext cx="21490542" cy="1546863"/>
              <a:chOff x="0" y="0"/>
              <a:chExt cx="31091640" cy="2237938"/>
            </a:xfrm>
          </p:grpSpPr>
          <p:sp>
            <p:nvSpPr>
              <p:cNvPr id="287" name="Google Shape;287;p25"/>
              <p:cNvSpPr/>
              <p:nvPr/>
            </p:nvSpPr>
            <p:spPr>
              <a:xfrm>
                <a:off x="31750" y="31750"/>
                <a:ext cx="31028140" cy="2174438"/>
              </a:xfrm>
              <a:custGeom>
                <a:rect b="b" l="l" r="r" t="t"/>
                <a:pathLst>
                  <a:path extrusionOk="0" h="2174438" w="31028140">
                    <a:moveTo>
                      <a:pt x="30935433" y="2174438"/>
                    </a:moveTo>
                    <a:lnTo>
                      <a:pt x="92710" y="2174438"/>
                    </a:lnTo>
                    <a:cubicBezTo>
                      <a:pt x="41910" y="2174438"/>
                      <a:pt x="0" y="2132528"/>
                      <a:pt x="0" y="20817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80458"/>
                    </a:lnTo>
                    <a:cubicBezTo>
                      <a:pt x="31028140" y="2132528"/>
                      <a:pt x="30986233" y="2174438"/>
                      <a:pt x="30935433" y="217443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0" y="0"/>
                <a:ext cx="31091640" cy="2237938"/>
              </a:xfrm>
              <a:custGeom>
                <a:rect b="b" l="l" r="r" t="t"/>
                <a:pathLst>
                  <a:path extrusionOk="0" h="2237938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3478"/>
                    </a:lnTo>
                    <a:cubicBezTo>
                      <a:pt x="31031951" y="2149038"/>
                      <a:pt x="31002740" y="2178248"/>
                      <a:pt x="30967183" y="2178248"/>
                    </a:cubicBezTo>
                    <a:lnTo>
                      <a:pt x="124460" y="2178248"/>
                    </a:lnTo>
                    <a:cubicBezTo>
                      <a:pt x="88900" y="2178248"/>
                      <a:pt x="59690" y="2149038"/>
                      <a:pt x="59690" y="21134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3478"/>
                    </a:lnTo>
                    <a:cubicBezTo>
                      <a:pt x="0" y="2182058"/>
                      <a:pt x="55880" y="2237938"/>
                      <a:pt x="124460" y="2237938"/>
                    </a:cubicBezTo>
                    <a:lnTo>
                      <a:pt x="30967183" y="2237938"/>
                    </a:lnTo>
                    <a:cubicBezTo>
                      <a:pt x="31035761" y="2237938"/>
                      <a:pt x="31091640" y="2182058"/>
                      <a:pt x="31091640" y="2113478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9" name="Google Shape;289;p25"/>
            <p:cNvSpPr/>
            <p:nvPr/>
          </p:nvSpPr>
          <p:spPr>
            <a:xfrm>
              <a:off x="20302666" y="617319"/>
              <a:ext cx="572211" cy="308381"/>
            </a:xfrm>
            <a:custGeom>
              <a:rect b="b" l="l" r="r" t="t"/>
              <a:pathLst>
                <a:path extrusionOk="0" h="434340" w="805931">
                  <a:moveTo>
                    <a:pt x="788152" y="187960"/>
                  </a:moveTo>
                  <a:lnTo>
                    <a:pt x="526531" y="11430"/>
                  </a:lnTo>
                  <a:cubicBezTo>
                    <a:pt x="508752" y="0"/>
                    <a:pt x="485891" y="3810"/>
                    <a:pt x="473191" y="21590"/>
                  </a:cubicBezTo>
                  <a:cubicBezTo>
                    <a:pt x="461761" y="39370"/>
                    <a:pt x="465572" y="62230"/>
                    <a:pt x="483352" y="74930"/>
                  </a:cubicBezTo>
                  <a:lnTo>
                    <a:pt x="642102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42102" y="257810"/>
                  </a:lnTo>
                  <a:lnTo>
                    <a:pt x="483352" y="364490"/>
                  </a:lnTo>
                  <a:cubicBezTo>
                    <a:pt x="465572" y="375920"/>
                    <a:pt x="461761" y="400050"/>
                    <a:pt x="473192" y="417830"/>
                  </a:cubicBezTo>
                  <a:cubicBezTo>
                    <a:pt x="480811" y="429260"/>
                    <a:pt x="492242" y="434340"/>
                    <a:pt x="504942" y="434340"/>
                  </a:cubicBezTo>
                  <a:cubicBezTo>
                    <a:pt x="512561" y="434340"/>
                    <a:pt x="520181" y="431800"/>
                    <a:pt x="526531" y="427990"/>
                  </a:cubicBezTo>
                  <a:lnTo>
                    <a:pt x="789422" y="251460"/>
                  </a:lnTo>
                  <a:cubicBezTo>
                    <a:pt x="799581" y="243840"/>
                    <a:pt x="805931" y="232410"/>
                    <a:pt x="805931" y="219710"/>
                  </a:cubicBezTo>
                  <a:cubicBezTo>
                    <a:pt x="805931" y="207010"/>
                    <a:pt x="799581" y="195580"/>
                    <a:pt x="788152" y="187960"/>
                  </a:cubicBezTo>
                  <a:close/>
                </a:path>
              </a:pathLst>
            </a:custGeom>
            <a:solidFill>
              <a:srgbClr val="101010"/>
            </a:solidFill>
            <a:ln cap="flat" cmpd="sng" w="4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5"/>
            <p:cNvSpPr txBox="1"/>
            <p:nvPr/>
          </p:nvSpPr>
          <p:spPr>
            <a:xfrm>
              <a:off x="558560" y="247224"/>
              <a:ext cx="740700" cy="1026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s" sz="25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5"/>
            <p:cNvSpPr txBox="1"/>
            <p:nvPr/>
          </p:nvSpPr>
          <p:spPr>
            <a:xfrm>
              <a:off x="1798981" y="206968"/>
              <a:ext cx="9762000" cy="8208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" sz="2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BLOCKED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25"/>
          <p:cNvGrpSpPr/>
          <p:nvPr/>
        </p:nvGrpSpPr>
        <p:grpSpPr>
          <a:xfrm>
            <a:off x="868847" y="1351673"/>
            <a:ext cx="1633380" cy="1763611"/>
            <a:chOff x="0" y="0"/>
            <a:chExt cx="4355680" cy="4702962"/>
          </a:xfrm>
        </p:grpSpPr>
        <p:grpSp>
          <p:nvGrpSpPr>
            <p:cNvPr id="293" name="Google Shape;293;p25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294" name="Google Shape;294;p25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25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25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7" name="Google Shape;297;p25"/>
            <p:cNvSpPr txBox="1"/>
            <p:nvPr/>
          </p:nvSpPr>
          <p:spPr>
            <a:xfrm>
              <a:off x="312336" y="886193"/>
              <a:ext cx="3730800" cy="33864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Encargada de visibilizar de manera inmediata aquellas tareas que no pueden avanzar por razones externas o internas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25"/>
          <p:cNvGrpSpPr/>
          <p:nvPr/>
        </p:nvGrpSpPr>
        <p:grpSpPr>
          <a:xfrm>
            <a:off x="2707376" y="2677897"/>
            <a:ext cx="1633380" cy="1763611"/>
            <a:chOff x="0" y="0"/>
            <a:chExt cx="4355680" cy="4702962"/>
          </a:xfrm>
        </p:grpSpPr>
        <p:grpSp>
          <p:nvGrpSpPr>
            <p:cNvPr id="299" name="Google Shape;299;p25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300" name="Google Shape;300;p25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25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5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" name="Google Shape;303;p25"/>
            <p:cNvSpPr txBox="1"/>
            <p:nvPr/>
          </p:nvSpPr>
          <p:spPr>
            <a:xfrm>
              <a:off x="312336" y="886193"/>
              <a:ext cx="3730800" cy="3386400"/>
            </a:xfrm>
            <a:prstGeom prst="rect">
              <a:avLst/>
            </a:prstGeom>
            <a:solidFill>
              <a:schemeClr val="lt1"/>
            </a:solidFill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Cuando una tarea entra a esta columna el Scrum Master se encarga de intervenir para eliminar el obstáculo.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25"/>
          <p:cNvGrpSpPr/>
          <p:nvPr/>
        </p:nvGrpSpPr>
        <p:grpSpPr>
          <a:xfrm>
            <a:off x="4545514" y="1526358"/>
            <a:ext cx="1633380" cy="1414237"/>
            <a:chOff x="0" y="0"/>
            <a:chExt cx="4355680" cy="3771298"/>
          </a:xfrm>
        </p:grpSpPr>
        <p:grpSp>
          <p:nvGrpSpPr>
            <p:cNvPr id="305" name="Google Shape;305;p25"/>
            <p:cNvGrpSpPr/>
            <p:nvPr/>
          </p:nvGrpSpPr>
          <p:grpSpPr>
            <a:xfrm>
              <a:off x="0" y="0"/>
              <a:ext cx="4355680" cy="3771298"/>
              <a:chOff x="0" y="0"/>
              <a:chExt cx="3603011" cy="3119611"/>
            </a:xfrm>
          </p:grpSpPr>
          <p:sp>
            <p:nvSpPr>
              <p:cNvPr id="306" name="Google Shape;306;p25"/>
              <p:cNvSpPr/>
              <p:nvPr/>
            </p:nvSpPr>
            <p:spPr>
              <a:xfrm>
                <a:off x="57150" y="58420"/>
                <a:ext cx="3533161" cy="3048491"/>
              </a:xfrm>
              <a:custGeom>
                <a:rect b="b" l="l" r="r" t="t"/>
                <a:pathLst>
                  <a:path extrusionOk="0" h="3048491" w="3533161">
                    <a:moveTo>
                      <a:pt x="3448071" y="3018011"/>
                    </a:moveTo>
                    <a:lnTo>
                      <a:pt x="0" y="3018011"/>
                    </a:lnTo>
                    <a:cubicBezTo>
                      <a:pt x="5080" y="3035791"/>
                      <a:pt x="21590" y="3048491"/>
                      <a:pt x="40640" y="3048491"/>
                    </a:cubicBezTo>
                    <a:lnTo>
                      <a:pt x="3489981" y="3048491"/>
                    </a:lnTo>
                    <a:cubicBezTo>
                      <a:pt x="3514111" y="3048491"/>
                      <a:pt x="3533161" y="3029441"/>
                      <a:pt x="3533161" y="3005311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2962131"/>
                    </a:lnTo>
                    <a:cubicBezTo>
                      <a:pt x="3503951" y="2992611"/>
                      <a:pt x="3478551" y="3018011"/>
                      <a:pt x="3448071" y="3018011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25"/>
              <p:cNvSpPr/>
              <p:nvPr/>
            </p:nvSpPr>
            <p:spPr>
              <a:xfrm>
                <a:off x="12700" y="12700"/>
                <a:ext cx="3535701" cy="3051031"/>
              </a:xfrm>
              <a:custGeom>
                <a:rect b="b" l="l" r="r" t="t"/>
                <a:pathLst>
                  <a:path extrusionOk="0" h="3051031" w="3535701">
                    <a:moveTo>
                      <a:pt x="43180" y="3051031"/>
                    </a:moveTo>
                    <a:lnTo>
                      <a:pt x="3492521" y="3051031"/>
                    </a:lnTo>
                    <a:cubicBezTo>
                      <a:pt x="3516651" y="3051031"/>
                      <a:pt x="3535701" y="3031981"/>
                      <a:pt x="3535701" y="3007851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007851"/>
                    </a:lnTo>
                    <a:cubicBezTo>
                      <a:pt x="0" y="3031981"/>
                      <a:pt x="19050" y="3051031"/>
                      <a:pt x="43180" y="305103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5"/>
              <p:cNvSpPr/>
              <p:nvPr/>
            </p:nvSpPr>
            <p:spPr>
              <a:xfrm>
                <a:off x="0" y="0"/>
                <a:ext cx="3603011" cy="3119611"/>
              </a:xfrm>
              <a:custGeom>
                <a:rect b="b" l="l" r="r" t="t"/>
                <a:pathLst>
                  <a:path extrusionOk="0" h="3119611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020551"/>
                    </a:lnTo>
                    <a:cubicBezTo>
                      <a:pt x="0" y="3047221"/>
                      <a:pt x="17780" y="3068811"/>
                      <a:pt x="43180" y="3075161"/>
                    </a:cubicBezTo>
                    <a:cubicBezTo>
                      <a:pt x="48260" y="3100561"/>
                      <a:pt x="71120" y="3119611"/>
                      <a:pt x="97790" y="3119611"/>
                    </a:cubicBezTo>
                    <a:lnTo>
                      <a:pt x="3547131" y="3119611"/>
                    </a:lnTo>
                    <a:cubicBezTo>
                      <a:pt x="3577611" y="3119611"/>
                      <a:pt x="3603011" y="3094211"/>
                      <a:pt x="3603011" y="3063731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0205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020551"/>
                    </a:lnTo>
                    <a:cubicBezTo>
                      <a:pt x="3548401" y="3044681"/>
                      <a:pt x="3529351" y="3063731"/>
                      <a:pt x="3505221" y="3063731"/>
                    </a:cubicBezTo>
                    <a:lnTo>
                      <a:pt x="55880" y="3063731"/>
                    </a:lnTo>
                    <a:cubicBezTo>
                      <a:pt x="31750" y="3063731"/>
                      <a:pt x="12700" y="3044681"/>
                      <a:pt x="12700" y="3020551"/>
                    </a:cubicBezTo>
                    <a:close/>
                    <a:moveTo>
                      <a:pt x="3590311" y="3063731"/>
                    </a:moveTo>
                    <a:cubicBezTo>
                      <a:pt x="3590311" y="3087861"/>
                      <a:pt x="3571261" y="3106911"/>
                      <a:pt x="3547131" y="3106911"/>
                    </a:cubicBezTo>
                    <a:lnTo>
                      <a:pt x="97790" y="3106911"/>
                    </a:lnTo>
                    <a:cubicBezTo>
                      <a:pt x="78740" y="3106911"/>
                      <a:pt x="62230" y="3094211"/>
                      <a:pt x="57150" y="3076431"/>
                    </a:cubicBezTo>
                    <a:lnTo>
                      <a:pt x="3505221" y="3076431"/>
                    </a:lnTo>
                    <a:cubicBezTo>
                      <a:pt x="3535701" y="3076431"/>
                      <a:pt x="3561101" y="3051031"/>
                      <a:pt x="3561101" y="3020551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0637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" name="Google Shape;309;p25"/>
            <p:cNvSpPr txBox="1"/>
            <p:nvPr/>
          </p:nvSpPr>
          <p:spPr>
            <a:xfrm>
              <a:off x="312336" y="886193"/>
              <a:ext cx="3730800" cy="22125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Se utiliza un mensaje o comentario visible que indique la razón del bloqueo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0" name="Google Shape;310;p25"/>
          <p:cNvGrpSpPr/>
          <p:nvPr/>
        </p:nvGrpSpPr>
        <p:grpSpPr>
          <a:xfrm>
            <a:off x="6496749" y="2852581"/>
            <a:ext cx="1633380" cy="1414237"/>
            <a:chOff x="0" y="0"/>
            <a:chExt cx="4355680" cy="3771298"/>
          </a:xfrm>
        </p:grpSpPr>
        <p:grpSp>
          <p:nvGrpSpPr>
            <p:cNvPr id="311" name="Google Shape;311;p25"/>
            <p:cNvGrpSpPr/>
            <p:nvPr/>
          </p:nvGrpSpPr>
          <p:grpSpPr>
            <a:xfrm>
              <a:off x="0" y="0"/>
              <a:ext cx="4355680" cy="3771298"/>
              <a:chOff x="0" y="0"/>
              <a:chExt cx="3603011" cy="3119611"/>
            </a:xfrm>
          </p:grpSpPr>
          <p:sp>
            <p:nvSpPr>
              <p:cNvPr id="312" name="Google Shape;312;p25"/>
              <p:cNvSpPr/>
              <p:nvPr/>
            </p:nvSpPr>
            <p:spPr>
              <a:xfrm>
                <a:off x="57150" y="58420"/>
                <a:ext cx="3533161" cy="3048491"/>
              </a:xfrm>
              <a:custGeom>
                <a:rect b="b" l="l" r="r" t="t"/>
                <a:pathLst>
                  <a:path extrusionOk="0" h="3048491" w="3533161">
                    <a:moveTo>
                      <a:pt x="3448071" y="3018011"/>
                    </a:moveTo>
                    <a:lnTo>
                      <a:pt x="0" y="3018011"/>
                    </a:lnTo>
                    <a:cubicBezTo>
                      <a:pt x="5080" y="3035791"/>
                      <a:pt x="21590" y="3048491"/>
                      <a:pt x="40640" y="3048491"/>
                    </a:cubicBezTo>
                    <a:lnTo>
                      <a:pt x="3489981" y="3048491"/>
                    </a:lnTo>
                    <a:cubicBezTo>
                      <a:pt x="3514111" y="3048491"/>
                      <a:pt x="3533161" y="3029441"/>
                      <a:pt x="3533161" y="3005311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2962131"/>
                    </a:lnTo>
                    <a:cubicBezTo>
                      <a:pt x="3503951" y="2992611"/>
                      <a:pt x="3478551" y="3018011"/>
                      <a:pt x="3448071" y="3018011"/>
                    </a:cubicBezTo>
                    <a:close/>
                  </a:path>
                </a:pathLst>
              </a:custGeom>
              <a:solidFill>
                <a:srgbClr val="FFF2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12700" y="12700"/>
                <a:ext cx="3535701" cy="3051031"/>
              </a:xfrm>
              <a:custGeom>
                <a:rect b="b" l="l" r="r" t="t"/>
                <a:pathLst>
                  <a:path extrusionOk="0" h="3051031" w="3535701">
                    <a:moveTo>
                      <a:pt x="43180" y="3051031"/>
                    </a:moveTo>
                    <a:lnTo>
                      <a:pt x="3492521" y="3051031"/>
                    </a:lnTo>
                    <a:cubicBezTo>
                      <a:pt x="3516651" y="3051031"/>
                      <a:pt x="3535701" y="3031981"/>
                      <a:pt x="3535701" y="3007851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007851"/>
                    </a:lnTo>
                    <a:cubicBezTo>
                      <a:pt x="0" y="3031981"/>
                      <a:pt x="19050" y="3051031"/>
                      <a:pt x="43180" y="30510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5"/>
              <p:cNvSpPr/>
              <p:nvPr/>
            </p:nvSpPr>
            <p:spPr>
              <a:xfrm>
                <a:off x="0" y="0"/>
                <a:ext cx="3603011" cy="3119611"/>
              </a:xfrm>
              <a:custGeom>
                <a:rect b="b" l="l" r="r" t="t"/>
                <a:pathLst>
                  <a:path extrusionOk="0" h="3119611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020551"/>
                    </a:lnTo>
                    <a:cubicBezTo>
                      <a:pt x="0" y="3047221"/>
                      <a:pt x="17780" y="3068811"/>
                      <a:pt x="43180" y="3075161"/>
                    </a:cubicBezTo>
                    <a:cubicBezTo>
                      <a:pt x="48260" y="3100561"/>
                      <a:pt x="71120" y="3119611"/>
                      <a:pt x="97790" y="3119611"/>
                    </a:cubicBezTo>
                    <a:lnTo>
                      <a:pt x="3547131" y="3119611"/>
                    </a:lnTo>
                    <a:cubicBezTo>
                      <a:pt x="3577611" y="3119611"/>
                      <a:pt x="3603011" y="3094211"/>
                      <a:pt x="3603011" y="3063731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0205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020551"/>
                    </a:lnTo>
                    <a:cubicBezTo>
                      <a:pt x="3548401" y="3044681"/>
                      <a:pt x="3529351" y="3063731"/>
                      <a:pt x="3505221" y="3063731"/>
                    </a:cubicBezTo>
                    <a:lnTo>
                      <a:pt x="55880" y="3063731"/>
                    </a:lnTo>
                    <a:cubicBezTo>
                      <a:pt x="31750" y="3063731"/>
                      <a:pt x="12700" y="3044681"/>
                      <a:pt x="12700" y="3020551"/>
                    </a:cubicBezTo>
                    <a:close/>
                    <a:moveTo>
                      <a:pt x="3590311" y="3063731"/>
                    </a:moveTo>
                    <a:cubicBezTo>
                      <a:pt x="3590311" y="3087861"/>
                      <a:pt x="3571261" y="3106911"/>
                      <a:pt x="3547131" y="3106911"/>
                    </a:cubicBezTo>
                    <a:lnTo>
                      <a:pt x="97790" y="3106911"/>
                    </a:lnTo>
                    <a:cubicBezTo>
                      <a:pt x="78740" y="3106911"/>
                      <a:pt x="62230" y="3094211"/>
                      <a:pt x="57150" y="3076431"/>
                    </a:cubicBezTo>
                    <a:lnTo>
                      <a:pt x="3505221" y="3076431"/>
                    </a:lnTo>
                    <a:cubicBezTo>
                      <a:pt x="3535701" y="3076431"/>
                      <a:pt x="3561101" y="3051031"/>
                      <a:pt x="3561101" y="3020551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0637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" name="Google Shape;315;p25"/>
            <p:cNvSpPr txBox="1"/>
            <p:nvPr/>
          </p:nvSpPr>
          <p:spPr>
            <a:xfrm>
              <a:off x="312336" y="886193"/>
              <a:ext cx="3730800" cy="221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Su uso adecuado permite que los bloqueos no pasen desapercibidos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"/>
          <p:cNvSpPr/>
          <p:nvPr/>
        </p:nvSpPr>
        <p:spPr>
          <a:xfrm>
            <a:off x="0" y="-46237"/>
            <a:ext cx="9149713" cy="5311045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321" name="Google Shape;321;p26"/>
          <p:cNvSpPr/>
          <p:nvPr/>
        </p:nvSpPr>
        <p:spPr>
          <a:xfrm>
            <a:off x="542570" y="514350"/>
            <a:ext cx="8114497" cy="4143207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chemeClr val="dk1"/>
          </a:solidFill>
          <a:ln cap="flat" cmpd="sng" w="4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26"/>
          <p:cNvGrpSpPr/>
          <p:nvPr/>
        </p:nvGrpSpPr>
        <p:grpSpPr>
          <a:xfrm>
            <a:off x="542570" y="514350"/>
            <a:ext cx="8058953" cy="580074"/>
            <a:chOff x="0" y="0"/>
            <a:chExt cx="21490542" cy="1546863"/>
          </a:xfrm>
        </p:grpSpPr>
        <p:grpSp>
          <p:nvGrpSpPr>
            <p:cNvPr id="323" name="Google Shape;323;p26"/>
            <p:cNvGrpSpPr/>
            <p:nvPr/>
          </p:nvGrpSpPr>
          <p:grpSpPr>
            <a:xfrm>
              <a:off x="0" y="0"/>
              <a:ext cx="21490542" cy="1546863"/>
              <a:chOff x="0" y="0"/>
              <a:chExt cx="31091640" cy="2237938"/>
            </a:xfrm>
          </p:grpSpPr>
          <p:sp>
            <p:nvSpPr>
              <p:cNvPr id="324" name="Google Shape;324;p26"/>
              <p:cNvSpPr/>
              <p:nvPr/>
            </p:nvSpPr>
            <p:spPr>
              <a:xfrm>
                <a:off x="31750" y="31750"/>
                <a:ext cx="31028140" cy="2174438"/>
              </a:xfrm>
              <a:custGeom>
                <a:rect b="b" l="l" r="r" t="t"/>
                <a:pathLst>
                  <a:path extrusionOk="0" h="2174438" w="31028140">
                    <a:moveTo>
                      <a:pt x="30935433" y="2174438"/>
                    </a:moveTo>
                    <a:lnTo>
                      <a:pt x="92710" y="2174438"/>
                    </a:lnTo>
                    <a:cubicBezTo>
                      <a:pt x="41910" y="2174438"/>
                      <a:pt x="0" y="2132528"/>
                      <a:pt x="0" y="20817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80458"/>
                    </a:lnTo>
                    <a:cubicBezTo>
                      <a:pt x="31028140" y="2132528"/>
                      <a:pt x="30986233" y="2174438"/>
                      <a:pt x="30935433" y="217443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6"/>
              <p:cNvSpPr/>
              <p:nvPr/>
            </p:nvSpPr>
            <p:spPr>
              <a:xfrm>
                <a:off x="0" y="0"/>
                <a:ext cx="31091640" cy="2237938"/>
              </a:xfrm>
              <a:custGeom>
                <a:rect b="b" l="l" r="r" t="t"/>
                <a:pathLst>
                  <a:path extrusionOk="0" h="2237938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3478"/>
                    </a:lnTo>
                    <a:cubicBezTo>
                      <a:pt x="31031951" y="2149038"/>
                      <a:pt x="31002740" y="2178248"/>
                      <a:pt x="30967183" y="2178248"/>
                    </a:cubicBezTo>
                    <a:lnTo>
                      <a:pt x="124460" y="2178248"/>
                    </a:lnTo>
                    <a:cubicBezTo>
                      <a:pt x="88900" y="2178248"/>
                      <a:pt x="59690" y="2149038"/>
                      <a:pt x="59690" y="21134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3478"/>
                    </a:lnTo>
                    <a:cubicBezTo>
                      <a:pt x="0" y="2182058"/>
                      <a:pt x="55880" y="2237938"/>
                      <a:pt x="124460" y="2237938"/>
                    </a:cubicBezTo>
                    <a:lnTo>
                      <a:pt x="30967183" y="2237938"/>
                    </a:lnTo>
                    <a:cubicBezTo>
                      <a:pt x="31035761" y="2237938"/>
                      <a:pt x="31091640" y="2182058"/>
                      <a:pt x="31091640" y="2113478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6" name="Google Shape;326;p26"/>
            <p:cNvSpPr/>
            <p:nvPr/>
          </p:nvSpPr>
          <p:spPr>
            <a:xfrm>
              <a:off x="20331621" y="484496"/>
              <a:ext cx="577853" cy="577853"/>
            </a:xfrm>
            <a:custGeom>
              <a:rect b="b" l="l" r="r" t="t"/>
              <a:pathLst>
                <a:path extrusionOk="0" h="577853" w="577853">
                  <a:moveTo>
                    <a:pt x="0" y="0"/>
                  </a:moveTo>
                  <a:lnTo>
                    <a:pt x="577853" y="0"/>
                  </a:lnTo>
                  <a:lnTo>
                    <a:pt x="577853" y="577853"/>
                  </a:lnTo>
                  <a:lnTo>
                    <a:pt x="0" y="5778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4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27" name="Google Shape;327;p26"/>
            <p:cNvSpPr txBox="1"/>
            <p:nvPr/>
          </p:nvSpPr>
          <p:spPr>
            <a:xfrm>
              <a:off x="558560" y="247224"/>
              <a:ext cx="740700" cy="1026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s" sz="25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6"/>
            <p:cNvSpPr txBox="1"/>
            <p:nvPr/>
          </p:nvSpPr>
          <p:spPr>
            <a:xfrm>
              <a:off x="1798981" y="206968"/>
              <a:ext cx="9762000" cy="8208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" sz="2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IN PROGRESS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26"/>
          <p:cNvGrpSpPr/>
          <p:nvPr/>
        </p:nvGrpSpPr>
        <p:grpSpPr>
          <a:xfrm>
            <a:off x="826181" y="1347625"/>
            <a:ext cx="1633380" cy="1763611"/>
            <a:chOff x="0" y="0"/>
            <a:chExt cx="4355680" cy="4702962"/>
          </a:xfrm>
        </p:grpSpPr>
        <p:grpSp>
          <p:nvGrpSpPr>
            <p:cNvPr id="330" name="Google Shape;330;p26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331" name="Google Shape;331;p26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6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" name="Google Shape;334;p26"/>
            <p:cNvSpPr txBox="1"/>
            <p:nvPr/>
          </p:nvSpPr>
          <p:spPr>
            <a:xfrm>
              <a:off x="312336" y="886193"/>
              <a:ext cx="3730800" cy="33864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Es el conjunto de tareas que están siendo ejecutadas activamente por el equipo en ese momento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26"/>
          <p:cNvGrpSpPr/>
          <p:nvPr/>
        </p:nvGrpSpPr>
        <p:grpSpPr>
          <a:xfrm>
            <a:off x="2797909" y="2659092"/>
            <a:ext cx="1633380" cy="1588924"/>
            <a:chOff x="0" y="0"/>
            <a:chExt cx="4355680" cy="4237130"/>
          </a:xfrm>
        </p:grpSpPr>
        <p:grpSp>
          <p:nvGrpSpPr>
            <p:cNvPr id="336" name="Google Shape;336;p26"/>
            <p:cNvGrpSpPr/>
            <p:nvPr/>
          </p:nvGrpSpPr>
          <p:grpSpPr>
            <a:xfrm>
              <a:off x="0" y="0"/>
              <a:ext cx="4355680" cy="4237130"/>
              <a:chOff x="0" y="0"/>
              <a:chExt cx="3603011" cy="3504947"/>
            </a:xfrm>
          </p:grpSpPr>
          <p:sp>
            <p:nvSpPr>
              <p:cNvPr id="337" name="Google Shape;337;p26"/>
              <p:cNvSpPr/>
              <p:nvPr/>
            </p:nvSpPr>
            <p:spPr>
              <a:xfrm>
                <a:off x="57150" y="58420"/>
                <a:ext cx="3533161" cy="3433827"/>
              </a:xfrm>
              <a:custGeom>
                <a:rect b="b" l="l" r="r" t="t"/>
                <a:pathLst>
                  <a:path extrusionOk="0" h="3433827" w="3533161">
                    <a:moveTo>
                      <a:pt x="3448071" y="3403347"/>
                    </a:moveTo>
                    <a:lnTo>
                      <a:pt x="0" y="3403347"/>
                    </a:lnTo>
                    <a:cubicBezTo>
                      <a:pt x="5080" y="3421127"/>
                      <a:pt x="21590" y="3433827"/>
                      <a:pt x="40640" y="3433827"/>
                    </a:cubicBezTo>
                    <a:lnTo>
                      <a:pt x="3489981" y="3433827"/>
                    </a:lnTo>
                    <a:cubicBezTo>
                      <a:pt x="3514111" y="3433827"/>
                      <a:pt x="3533161" y="3414777"/>
                      <a:pt x="3533161" y="3390647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347467"/>
                    </a:lnTo>
                    <a:cubicBezTo>
                      <a:pt x="3503951" y="3377947"/>
                      <a:pt x="3478551" y="3403347"/>
                      <a:pt x="3448071" y="3403347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6"/>
              <p:cNvSpPr/>
              <p:nvPr/>
            </p:nvSpPr>
            <p:spPr>
              <a:xfrm>
                <a:off x="12700" y="12700"/>
                <a:ext cx="3535701" cy="3436367"/>
              </a:xfrm>
              <a:custGeom>
                <a:rect b="b" l="l" r="r" t="t"/>
                <a:pathLst>
                  <a:path extrusionOk="0" h="3436367" w="3535701">
                    <a:moveTo>
                      <a:pt x="43180" y="3436367"/>
                    </a:moveTo>
                    <a:lnTo>
                      <a:pt x="3492521" y="3436367"/>
                    </a:lnTo>
                    <a:cubicBezTo>
                      <a:pt x="3516651" y="3436367"/>
                      <a:pt x="3535701" y="3417317"/>
                      <a:pt x="3535701" y="3393187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393187"/>
                    </a:lnTo>
                    <a:cubicBezTo>
                      <a:pt x="0" y="3417317"/>
                      <a:pt x="19050" y="3436367"/>
                      <a:pt x="43180" y="343636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0" y="0"/>
                <a:ext cx="3603011" cy="3504947"/>
              </a:xfrm>
              <a:custGeom>
                <a:rect b="b" l="l" r="r" t="t"/>
                <a:pathLst>
                  <a:path extrusionOk="0" h="3504947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405887"/>
                    </a:lnTo>
                    <a:cubicBezTo>
                      <a:pt x="0" y="3432556"/>
                      <a:pt x="17780" y="3454147"/>
                      <a:pt x="43180" y="3460497"/>
                    </a:cubicBezTo>
                    <a:cubicBezTo>
                      <a:pt x="48260" y="3485897"/>
                      <a:pt x="71120" y="3504947"/>
                      <a:pt x="97790" y="3504947"/>
                    </a:cubicBezTo>
                    <a:lnTo>
                      <a:pt x="3547131" y="3504947"/>
                    </a:lnTo>
                    <a:cubicBezTo>
                      <a:pt x="3577611" y="3504947"/>
                      <a:pt x="3603011" y="3479547"/>
                      <a:pt x="3603011" y="3449067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40588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405887"/>
                    </a:lnTo>
                    <a:cubicBezTo>
                      <a:pt x="3548401" y="3430017"/>
                      <a:pt x="3529351" y="3449067"/>
                      <a:pt x="3505221" y="3449067"/>
                    </a:cubicBezTo>
                    <a:lnTo>
                      <a:pt x="55880" y="3449067"/>
                    </a:lnTo>
                    <a:cubicBezTo>
                      <a:pt x="31750" y="3449067"/>
                      <a:pt x="12700" y="3430017"/>
                      <a:pt x="12700" y="3405887"/>
                    </a:cubicBezTo>
                    <a:close/>
                    <a:moveTo>
                      <a:pt x="3590311" y="3449067"/>
                    </a:moveTo>
                    <a:cubicBezTo>
                      <a:pt x="3590311" y="3473197"/>
                      <a:pt x="3571261" y="3492247"/>
                      <a:pt x="3547131" y="3492247"/>
                    </a:cubicBezTo>
                    <a:lnTo>
                      <a:pt x="97790" y="3492247"/>
                    </a:lnTo>
                    <a:cubicBezTo>
                      <a:pt x="78740" y="3492247"/>
                      <a:pt x="62230" y="3479547"/>
                      <a:pt x="57150" y="3461767"/>
                    </a:cubicBezTo>
                    <a:lnTo>
                      <a:pt x="3505221" y="3461767"/>
                    </a:lnTo>
                    <a:cubicBezTo>
                      <a:pt x="3535701" y="3461767"/>
                      <a:pt x="3561101" y="3436367"/>
                      <a:pt x="3561101" y="3405887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449067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0" name="Google Shape;340;p26"/>
            <p:cNvSpPr txBox="1"/>
            <p:nvPr/>
          </p:nvSpPr>
          <p:spPr>
            <a:xfrm>
              <a:off x="312336" y="886193"/>
              <a:ext cx="3730800" cy="2799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Los miembros del equipo toman voluntariamente la tarjeta cuando tienen capacidad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1" name="Google Shape;341;p26"/>
          <p:cNvGrpSpPr/>
          <p:nvPr/>
        </p:nvGrpSpPr>
        <p:grpSpPr>
          <a:xfrm>
            <a:off x="4667176" y="1347625"/>
            <a:ext cx="1633380" cy="1763611"/>
            <a:chOff x="0" y="0"/>
            <a:chExt cx="4355680" cy="4702962"/>
          </a:xfrm>
        </p:grpSpPr>
        <p:grpSp>
          <p:nvGrpSpPr>
            <p:cNvPr id="342" name="Google Shape;342;p26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6" name="Google Shape;346;p26"/>
            <p:cNvSpPr txBox="1"/>
            <p:nvPr/>
          </p:nvSpPr>
          <p:spPr>
            <a:xfrm>
              <a:off x="312336" y="886193"/>
              <a:ext cx="3730800" cy="2799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Pueden convivir tareas de distinta naturaleza (desarrollo, análisis, diseño, documentación, etc.)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7" name="Google Shape;347;p26"/>
          <p:cNvGrpSpPr/>
          <p:nvPr/>
        </p:nvGrpSpPr>
        <p:grpSpPr>
          <a:xfrm>
            <a:off x="6638663" y="2484408"/>
            <a:ext cx="1633380" cy="1938298"/>
            <a:chOff x="0" y="0"/>
            <a:chExt cx="4355680" cy="5168795"/>
          </a:xfrm>
        </p:grpSpPr>
        <p:grpSp>
          <p:nvGrpSpPr>
            <p:cNvPr id="348" name="Google Shape;348;p26"/>
            <p:cNvGrpSpPr/>
            <p:nvPr/>
          </p:nvGrpSpPr>
          <p:grpSpPr>
            <a:xfrm>
              <a:off x="0" y="0"/>
              <a:ext cx="4355680" cy="5168795"/>
              <a:chOff x="0" y="0"/>
              <a:chExt cx="3603011" cy="4275618"/>
            </a:xfrm>
          </p:grpSpPr>
          <p:sp>
            <p:nvSpPr>
              <p:cNvPr id="349" name="Google Shape;349;p26"/>
              <p:cNvSpPr/>
              <p:nvPr/>
            </p:nvSpPr>
            <p:spPr>
              <a:xfrm>
                <a:off x="57150" y="58420"/>
                <a:ext cx="3533161" cy="4204498"/>
              </a:xfrm>
              <a:custGeom>
                <a:rect b="b" l="l" r="r" t="t"/>
                <a:pathLst>
                  <a:path extrusionOk="0" h="4204498" w="3533161">
                    <a:moveTo>
                      <a:pt x="3448071" y="4174018"/>
                    </a:moveTo>
                    <a:lnTo>
                      <a:pt x="0" y="4174018"/>
                    </a:lnTo>
                    <a:cubicBezTo>
                      <a:pt x="5080" y="4191798"/>
                      <a:pt x="21590" y="4204498"/>
                      <a:pt x="40640" y="4204498"/>
                    </a:cubicBezTo>
                    <a:lnTo>
                      <a:pt x="3489981" y="4204498"/>
                    </a:lnTo>
                    <a:cubicBezTo>
                      <a:pt x="3514111" y="4204498"/>
                      <a:pt x="3533161" y="4185448"/>
                      <a:pt x="3533161" y="4161318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118138"/>
                    </a:lnTo>
                    <a:cubicBezTo>
                      <a:pt x="3503951" y="4148618"/>
                      <a:pt x="3478551" y="4174018"/>
                      <a:pt x="3448071" y="4174018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700" y="12700"/>
                <a:ext cx="3535701" cy="4207038"/>
              </a:xfrm>
              <a:custGeom>
                <a:rect b="b" l="l" r="r" t="t"/>
                <a:pathLst>
                  <a:path extrusionOk="0" h="4207038" w="3535701">
                    <a:moveTo>
                      <a:pt x="43180" y="4207038"/>
                    </a:moveTo>
                    <a:lnTo>
                      <a:pt x="3492521" y="4207038"/>
                    </a:lnTo>
                    <a:cubicBezTo>
                      <a:pt x="3516651" y="4207038"/>
                      <a:pt x="3535701" y="4187988"/>
                      <a:pt x="3535701" y="4163858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163858"/>
                    </a:lnTo>
                    <a:cubicBezTo>
                      <a:pt x="0" y="4187988"/>
                      <a:pt x="19050" y="4207038"/>
                      <a:pt x="43180" y="420703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0" y="0"/>
                <a:ext cx="3603011" cy="4275618"/>
              </a:xfrm>
              <a:custGeom>
                <a:rect b="b" l="l" r="r" t="t"/>
                <a:pathLst>
                  <a:path extrusionOk="0" h="4275618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176558"/>
                    </a:lnTo>
                    <a:cubicBezTo>
                      <a:pt x="0" y="4203228"/>
                      <a:pt x="17780" y="4224818"/>
                      <a:pt x="43180" y="4231168"/>
                    </a:cubicBezTo>
                    <a:cubicBezTo>
                      <a:pt x="48260" y="4256568"/>
                      <a:pt x="71120" y="4275618"/>
                      <a:pt x="97790" y="4275618"/>
                    </a:cubicBezTo>
                    <a:lnTo>
                      <a:pt x="3547131" y="4275618"/>
                    </a:lnTo>
                    <a:cubicBezTo>
                      <a:pt x="3577611" y="4275618"/>
                      <a:pt x="3603011" y="4250218"/>
                      <a:pt x="3603011" y="4219738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17655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176558"/>
                    </a:lnTo>
                    <a:cubicBezTo>
                      <a:pt x="3548401" y="4200688"/>
                      <a:pt x="3529351" y="4219738"/>
                      <a:pt x="3505221" y="4219738"/>
                    </a:cubicBezTo>
                    <a:lnTo>
                      <a:pt x="55880" y="4219738"/>
                    </a:lnTo>
                    <a:cubicBezTo>
                      <a:pt x="31750" y="4219738"/>
                      <a:pt x="12700" y="4200688"/>
                      <a:pt x="12700" y="4176558"/>
                    </a:cubicBezTo>
                    <a:close/>
                    <a:moveTo>
                      <a:pt x="3590311" y="4219738"/>
                    </a:moveTo>
                    <a:cubicBezTo>
                      <a:pt x="3590311" y="4243868"/>
                      <a:pt x="3571261" y="4262918"/>
                      <a:pt x="3547131" y="4262918"/>
                    </a:cubicBezTo>
                    <a:lnTo>
                      <a:pt x="97790" y="4262918"/>
                    </a:lnTo>
                    <a:cubicBezTo>
                      <a:pt x="78740" y="4262918"/>
                      <a:pt x="62230" y="4250218"/>
                      <a:pt x="57150" y="4232438"/>
                    </a:cubicBezTo>
                    <a:lnTo>
                      <a:pt x="3505221" y="4232438"/>
                    </a:lnTo>
                    <a:cubicBezTo>
                      <a:pt x="3535701" y="4232438"/>
                      <a:pt x="3561101" y="4207038"/>
                      <a:pt x="3561101" y="4176558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219738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2" name="Google Shape;352;p26"/>
            <p:cNvSpPr txBox="1"/>
            <p:nvPr/>
          </p:nvSpPr>
          <p:spPr>
            <a:xfrm>
              <a:off x="312336" y="886193"/>
              <a:ext cx="3730800" cy="39732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Las tareas que pasan demasiado tiempo en esta columna pueden analizarse en retrospectivas para identificar causas de demora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"/>
          <p:cNvSpPr/>
          <p:nvPr/>
        </p:nvSpPr>
        <p:spPr>
          <a:xfrm>
            <a:off x="0" y="-46237"/>
            <a:ext cx="9149713" cy="5311045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358" name="Google Shape;358;p27"/>
          <p:cNvSpPr/>
          <p:nvPr/>
        </p:nvSpPr>
        <p:spPr>
          <a:xfrm>
            <a:off x="542570" y="514350"/>
            <a:ext cx="8114497" cy="4143207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chemeClr val="dk1"/>
          </a:solidFill>
          <a:ln cap="flat" cmpd="sng" w="4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27"/>
          <p:cNvGrpSpPr/>
          <p:nvPr/>
        </p:nvGrpSpPr>
        <p:grpSpPr>
          <a:xfrm>
            <a:off x="542570" y="514350"/>
            <a:ext cx="8058953" cy="579460"/>
            <a:chOff x="0" y="0"/>
            <a:chExt cx="21490542" cy="1545227"/>
          </a:xfrm>
        </p:grpSpPr>
        <p:grpSp>
          <p:nvGrpSpPr>
            <p:cNvPr id="360" name="Google Shape;360;p27"/>
            <p:cNvGrpSpPr/>
            <p:nvPr/>
          </p:nvGrpSpPr>
          <p:grpSpPr>
            <a:xfrm>
              <a:off x="0" y="0"/>
              <a:ext cx="21490542" cy="1545227"/>
              <a:chOff x="0" y="0"/>
              <a:chExt cx="31091640" cy="2235572"/>
            </a:xfrm>
          </p:grpSpPr>
          <p:sp>
            <p:nvSpPr>
              <p:cNvPr id="361" name="Google Shape;361;p27"/>
              <p:cNvSpPr/>
              <p:nvPr/>
            </p:nvSpPr>
            <p:spPr>
              <a:xfrm>
                <a:off x="31750" y="31750"/>
                <a:ext cx="31028140" cy="2172072"/>
              </a:xfrm>
              <a:custGeom>
                <a:rect b="b" l="l" r="r" t="t"/>
                <a:pathLst>
                  <a:path extrusionOk="0" h="2172072" w="31028140">
                    <a:moveTo>
                      <a:pt x="30935433" y="2172072"/>
                    </a:moveTo>
                    <a:lnTo>
                      <a:pt x="92710" y="2172072"/>
                    </a:lnTo>
                    <a:cubicBezTo>
                      <a:pt x="41910" y="2172072"/>
                      <a:pt x="0" y="2130162"/>
                      <a:pt x="0" y="207936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78092"/>
                    </a:lnTo>
                    <a:cubicBezTo>
                      <a:pt x="31028140" y="2130162"/>
                      <a:pt x="30986233" y="2172072"/>
                      <a:pt x="30935433" y="217207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0" y="0"/>
                <a:ext cx="31091640" cy="2235572"/>
              </a:xfrm>
              <a:custGeom>
                <a:rect b="b" l="l" r="r" t="t"/>
                <a:pathLst>
                  <a:path extrusionOk="0" h="2235572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1112"/>
                    </a:lnTo>
                    <a:cubicBezTo>
                      <a:pt x="31031951" y="2146672"/>
                      <a:pt x="31002740" y="2175882"/>
                      <a:pt x="30967183" y="2175882"/>
                    </a:cubicBezTo>
                    <a:lnTo>
                      <a:pt x="124460" y="2175882"/>
                    </a:lnTo>
                    <a:cubicBezTo>
                      <a:pt x="88900" y="2175882"/>
                      <a:pt x="59690" y="2146672"/>
                      <a:pt x="59690" y="211111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1112"/>
                    </a:lnTo>
                    <a:cubicBezTo>
                      <a:pt x="0" y="2179692"/>
                      <a:pt x="55880" y="2235572"/>
                      <a:pt x="124460" y="2235572"/>
                    </a:cubicBezTo>
                    <a:lnTo>
                      <a:pt x="30967183" y="2235572"/>
                    </a:lnTo>
                    <a:cubicBezTo>
                      <a:pt x="31035761" y="2235572"/>
                      <a:pt x="31091640" y="2179692"/>
                      <a:pt x="31091640" y="211111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27"/>
            <p:cNvSpPr/>
            <p:nvPr/>
          </p:nvSpPr>
          <p:spPr>
            <a:xfrm>
              <a:off x="20331621" y="484496"/>
              <a:ext cx="577853" cy="577853"/>
            </a:xfrm>
            <a:custGeom>
              <a:rect b="b" l="l" r="r" t="t"/>
              <a:pathLst>
                <a:path extrusionOk="0" h="577853" w="577853">
                  <a:moveTo>
                    <a:pt x="0" y="0"/>
                  </a:moveTo>
                  <a:lnTo>
                    <a:pt x="577853" y="0"/>
                  </a:lnTo>
                  <a:lnTo>
                    <a:pt x="577853" y="577853"/>
                  </a:lnTo>
                  <a:lnTo>
                    <a:pt x="0" y="5778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4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64" name="Google Shape;364;p27"/>
            <p:cNvSpPr txBox="1"/>
            <p:nvPr/>
          </p:nvSpPr>
          <p:spPr>
            <a:xfrm>
              <a:off x="558560" y="247224"/>
              <a:ext cx="740700" cy="1026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s" sz="25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7"/>
            <p:cNvSpPr txBox="1"/>
            <p:nvPr/>
          </p:nvSpPr>
          <p:spPr>
            <a:xfrm>
              <a:off x="1798981" y="206968"/>
              <a:ext cx="9762000" cy="8208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" sz="2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TEST/QA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27"/>
          <p:cNvGrpSpPr/>
          <p:nvPr/>
        </p:nvGrpSpPr>
        <p:grpSpPr>
          <a:xfrm>
            <a:off x="826181" y="1260284"/>
            <a:ext cx="1633380" cy="1938298"/>
            <a:chOff x="0" y="0"/>
            <a:chExt cx="4355680" cy="5168795"/>
          </a:xfrm>
        </p:grpSpPr>
        <p:grpSp>
          <p:nvGrpSpPr>
            <p:cNvPr id="367" name="Google Shape;367;p27"/>
            <p:cNvGrpSpPr/>
            <p:nvPr/>
          </p:nvGrpSpPr>
          <p:grpSpPr>
            <a:xfrm>
              <a:off x="0" y="0"/>
              <a:ext cx="4355680" cy="5168795"/>
              <a:chOff x="0" y="0"/>
              <a:chExt cx="3603011" cy="4275618"/>
            </a:xfrm>
          </p:grpSpPr>
          <p:sp>
            <p:nvSpPr>
              <p:cNvPr id="368" name="Google Shape;368;p27"/>
              <p:cNvSpPr/>
              <p:nvPr/>
            </p:nvSpPr>
            <p:spPr>
              <a:xfrm>
                <a:off x="57150" y="58420"/>
                <a:ext cx="3533161" cy="4204498"/>
              </a:xfrm>
              <a:custGeom>
                <a:rect b="b" l="l" r="r" t="t"/>
                <a:pathLst>
                  <a:path extrusionOk="0" h="4204498" w="3533161">
                    <a:moveTo>
                      <a:pt x="3448071" y="4174018"/>
                    </a:moveTo>
                    <a:lnTo>
                      <a:pt x="0" y="4174018"/>
                    </a:lnTo>
                    <a:cubicBezTo>
                      <a:pt x="5080" y="4191798"/>
                      <a:pt x="21590" y="4204498"/>
                      <a:pt x="40640" y="4204498"/>
                    </a:cubicBezTo>
                    <a:lnTo>
                      <a:pt x="3489981" y="4204498"/>
                    </a:lnTo>
                    <a:cubicBezTo>
                      <a:pt x="3514111" y="4204498"/>
                      <a:pt x="3533161" y="4185448"/>
                      <a:pt x="3533161" y="4161318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118138"/>
                    </a:lnTo>
                    <a:cubicBezTo>
                      <a:pt x="3503951" y="4148618"/>
                      <a:pt x="3478551" y="4174018"/>
                      <a:pt x="3448071" y="4174018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12700" y="12700"/>
                <a:ext cx="3535701" cy="4207038"/>
              </a:xfrm>
              <a:custGeom>
                <a:rect b="b" l="l" r="r" t="t"/>
                <a:pathLst>
                  <a:path extrusionOk="0" h="4207038" w="3535701">
                    <a:moveTo>
                      <a:pt x="43180" y="4207038"/>
                    </a:moveTo>
                    <a:lnTo>
                      <a:pt x="3492521" y="4207038"/>
                    </a:lnTo>
                    <a:cubicBezTo>
                      <a:pt x="3516651" y="4207038"/>
                      <a:pt x="3535701" y="4187988"/>
                      <a:pt x="3535701" y="4163858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163858"/>
                    </a:lnTo>
                    <a:cubicBezTo>
                      <a:pt x="0" y="4187988"/>
                      <a:pt x="19050" y="4207038"/>
                      <a:pt x="43180" y="4207038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7"/>
              <p:cNvSpPr/>
              <p:nvPr/>
            </p:nvSpPr>
            <p:spPr>
              <a:xfrm>
                <a:off x="0" y="0"/>
                <a:ext cx="3603011" cy="4275618"/>
              </a:xfrm>
              <a:custGeom>
                <a:rect b="b" l="l" r="r" t="t"/>
                <a:pathLst>
                  <a:path extrusionOk="0" h="4275618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176558"/>
                    </a:lnTo>
                    <a:cubicBezTo>
                      <a:pt x="0" y="4203228"/>
                      <a:pt x="17780" y="4224818"/>
                      <a:pt x="43180" y="4231168"/>
                    </a:cubicBezTo>
                    <a:cubicBezTo>
                      <a:pt x="48260" y="4256568"/>
                      <a:pt x="71120" y="4275618"/>
                      <a:pt x="97790" y="4275618"/>
                    </a:cubicBezTo>
                    <a:lnTo>
                      <a:pt x="3547131" y="4275618"/>
                    </a:lnTo>
                    <a:cubicBezTo>
                      <a:pt x="3577611" y="4275618"/>
                      <a:pt x="3603011" y="4250218"/>
                      <a:pt x="3603011" y="4219738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176558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176558"/>
                    </a:lnTo>
                    <a:cubicBezTo>
                      <a:pt x="3548401" y="4200688"/>
                      <a:pt x="3529351" y="4219738"/>
                      <a:pt x="3505221" y="4219738"/>
                    </a:cubicBezTo>
                    <a:lnTo>
                      <a:pt x="55880" y="4219738"/>
                    </a:lnTo>
                    <a:cubicBezTo>
                      <a:pt x="31750" y="4219738"/>
                      <a:pt x="12700" y="4200688"/>
                      <a:pt x="12700" y="4176558"/>
                    </a:cubicBezTo>
                    <a:close/>
                    <a:moveTo>
                      <a:pt x="3590311" y="4219738"/>
                    </a:moveTo>
                    <a:cubicBezTo>
                      <a:pt x="3590311" y="4243868"/>
                      <a:pt x="3571261" y="4262918"/>
                      <a:pt x="3547131" y="4262918"/>
                    </a:cubicBezTo>
                    <a:lnTo>
                      <a:pt x="97790" y="4262918"/>
                    </a:lnTo>
                    <a:cubicBezTo>
                      <a:pt x="78740" y="4262918"/>
                      <a:pt x="62230" y="4250218"/>
                      <a:pt x="57150" y="4232438"/>
                    </a:cubicBezTo>
                    <a:lnTo>
                      <a:pt x="3505221" y="4232438"/>
                    </a:lnTo>
                    <a:cubicBezTo>
                      <a:pt x="3535701" y="4232438"/>
                      <a:pt x="3561101" y="4207038"/>
                      <a:pt x="3561101" y="4176558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219738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27"/>
            <p:cNvSpPr txBox="1"/>
            <p:nvPr/>
          </p:nvSpPr>
          <p:spPr>
            <a:xfrm>
              <a:off x="312336" y="886193"/>
              <a:ext cx="3730800" cy="39732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Son las tareas ya desarrolladas que entran en un proceso de verificación de calidad antes de ser consideradas completadas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27"/>
          <p:cNvGrpSpPr/>
          <p:nvPr/>
        </p:nvGrpSpPr>
        <p:grpSpPr>
          <a:xfrm>
            <a:off x="2797909" y="2571750"/>
            <a:ext cx="1633380" cy="1763611"/>
            <a:chOff x="0" y="0"/>
            <a:chExt cx="4355680" cy="4702962"/>
          </a:xfrm>
        </p:grpSpPr>
        <p:grpSp>
          <p:nvGrpSpPr>
            <p:cNvPr id="373" name="Google Shape;373;p27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374" name="Google Shape;374;p27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7" name="Google Shape;377;p27"/>
            <p:cNvSpPr txBox="1"/>
            <p:nvPr/>
          </p:nvSpPr>
          <p:spPr>
            <a:xfrm>
              <a:off x="312336" y="886193"/>
              <a:ext cx="3730800" cy="33864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Esta columna tiene como objetivo asegurar que cada ítem cumple con los criterios de aceptación definidos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27"/>
          <p:cNvGrpSpPr/>
          <p:nvPr/>
        </p:nvGrpSpPr>
        <p:grpSpPr>
          <a:xfrm>
            <a:off x="4667176" y="1347625"/>
            <a:ext cx="1633380" cy="1763611"/>
            <a:chOff x="0" y="0"/>
            <a:chExt cx="4355680" cy="4702962"/>
          </a:xfrm>
        </p:grpSpPr>
        <p:grpSp>
          <p:nvGrpSpPr>
            <p:cNvPr id="379" name="Google Shape;379;p27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380" name="Google Shape;380;p27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3" name="Google Shape;383;p27"/>
            <p:cNvSpPr txBox="1"/>
            <p:nvPr/>
          </p:nvSpPr>
          <p:spPr>
            <a:xfrm>
              <a:off x="312336" y="886193"/>
              <a:ext cx="3730800" cy="33864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Listas para realizar pruebas funcionales, de integración, de regresión, o cualquier otra validación acordada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4" name="Google Shape;384;p27"/>
          <p:cNvGrpSpPr/>
          <p:nvPr/>
        </p:nvGrpSpPr>
        <p:grpSpPr>
          <a:xfrm>
            <a:off x="6638663" y="2659092"/>
            <a:ext cx="1633380" cy="1588924"/>
            <a:chOff x="0" y="0"/>
            <a:chExt cx="4355680" cy="4237130"/>
          </a:xfrm>
        </p:grpSpPr>
        <p:grpSp>
          <p:nvGrpSpPr>
            <p:cNvPr id="385" name="Google Shape;385;p27"/>
            <p:cNvGrpSpPr/>
            <p:nvPr/>
          </p:nvGrpSpPr>
          <p:grpSpPr>
            <a:xfrm>
              <a:off x="0" y="0"/>
              <a:ext cx="4355680" cy="4237130"/>
              <a:chOff x="0" y="0"/>
              <a:chExt cx="3603011" cy="3504947"/>
            </a:xfrm>
          </p:grpSpPr>
          <p:sp>
            <p:nvSpPr>
              <p:cNvPr id="386" name="Google Shape;386;p27"/>
              <p:cNvSpPr/>
              <p:nvPr/>
            </p:nvSpPr>
            <p:spPr>
              <a:xfrm>
                <a:off x="57150" y="58420"/>
                <a:ext cx="3533161" cy="3433827"/>
              </a:xfrm>
              <a:custGeom>
                <a:rect b="b" l="l" r="r" t="t"/>
                <a:pathLst>
                  <a:path extrusionOk="0" h="3433827" w="3533161">
                    <a:moveTo>
                      <a:pt x="3448071" y="3403347"/>
                    </a:moveTo>
                    <a:lnTo>
                      <a:pt x="0" y="3403347"/>
                    </a:lnTo>
                    <a:cubicBezTo>
                      <a:pt x="5080" y="3421127"/>
                      <a:pt x="21590" y="3433827"/>
                      <a:pt x="40640" y="3433827"/>
                    </a:cubicBezTo>
                    <a:lnTo>
                      <a:pt x="3489981" y="3433827"/>
                    </a:lnTo>
                    <a:cubicBezTo>
                      <a:pt x="3514111" y="3433827"/>
                      <a:pt x="3533161" y="3414777"/>
                      <a:pt x="3533161" y="3390647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347467"/>
                    </a:lnTo>
                    <a:cubicBezTo>
                      <a:pt x="3503951" y="3377947"/>
                      <a:pt x="3478551" y="3403347"/>
                      <a:pt x="3448071" y="3403347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12700" y="12700"/>
                <a:ext cx="3535701" cy="3436367"/>
              </a:xfrm>
              <a:custGeom>
                <a:rect b="b" l="l" r="r" t="t"/>
                <a:pathLst>
                  <a:path extrusionOk="0" h="3436367" w="3535701">
                    <a:moveTo>
                      <a:pt x="43180" y="3436367"/>
                    </a:moveTo>
                    <a:lnTo>
                      <a:pt x="3492521" y="3436367"/>
                    </a:lnTo>
                    <a:cubicBezTo>
                      <a:pt x="3516651" y="3436367"/>
                      <a:pt x="3535701" y="3417317"/>
                      <a:pt x="3535701" y="3393187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393187"/>
                    </a:lnTo>
                    <a:cubicBezTo>
                      <a:pt x="0" y="3417317"/>
                      <a:pt x="19050" y="3436367"/>
                      <a:pt x="43180" y="343636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0" y="0"/>
                <a:ext cx="3603011" cy="3504947"/>
              </a:xfrm>
              <a:custGeom>
                <a:rect b="b" l="l" r="r" t="t"/>
                <a:pathLst>
                  <a:path extrusionOk="0" h="3504947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405887"/>
                    </a:lnTo>
                    <a:cubicBezTo>
                      <a:pt x="0" y="3432556"/>
                      <a:pt x="17780" y="3454147"/>
                      <a:pt x="43180" y="3460497"/>
                    </a:cubicBezTo>
                    <a:cubicBezTo>
                      <a:pt x="48260" y="3485897"/>
                      <a:pt x="71120" y="3504947"/>
                      <a:pt x="97790" y="3504947"/>
                    </a:cubicBezTo>
                    <a:lnTo>
                      <a:pt x="3547131" y="3504947"/>
                    </a:lnTo>
                    <a:cubicBezTo>
                      <a:pt x="3577611" y="3504947"/>
                      <a:pt x="3603011" y="3479547"/>
                      <a:pt x="3603011" y="3449067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405887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405887"/>
                    </a:lnTo>
                    <a:cubicBezTo>
                      <a:pt x="3548401" y="3430017"/>
                      <a:pt x="3529351" y="3449067"/>
                      <a:pt x="3505221" y="3449067"/>
                    </a:cubicBezTo>
                    <a:lnTo>
                      <a:pt x="55880" y="3449067"/>
                    </a:lnTo>
                    <a:cubicBezTo>
                      <a:pt x="31750" y="3449067"/>
                      <a:pt x="12700" y="3430017"/>
                      <a:pt x="12700" y="3405887"/>
                    </a:cubicBezTo>
                    <a:close/>
                    <a:moveTo>
                      <a:pt x="3590311" y="3449067"/>
                    </a:moveTo>
                    <a:cubicBezTo>
                      <a:pt x="3590311" y="3473197"/>
                      <a:pt x="3571261" y="3492247"/>
                      <a:pt x="3547131" y="3492247"/>
                    </a:cubicBezTo>
                    <a:lnTo>
                      <a:pt x="97790" y="3492247"/>
                    </a:lnTo>
                    <a:cubicBezTo>
                      <a:pt x="78740" y="3492247"/>
                      <a:pt x="62230" y="3479547"/>
                      <a:pt x="57150" y="3461767"/>
                    </a:cubicBezTo>
                    <a:lnTo>
                      <a:pt x="3505221" y="3461767"/>
                    </a:lnTo>
                    <a:cubicBezTo>
                      <a:pt x="3535701" y="3461767"/>
                      <a:pt x="3561101" y="3436367"/>
                      <a:pt x="3561101" y="3405887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449067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9" name="Google Shape;389;p27"/>
            <p:cNvSpPr txBox="1"/>
            <p:nvPr/>
          </p:nvSpPr>
          <p:spPr>
            <a:xfrm>
              <a:off x="312336" y="886193"/>
              <a:ext cx="3730800" cy="2799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Ninguna tarea debe avanzar a “Done” sin haber pasado satisfactoriamente por esta verificación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"/>
          <p:cNvSpPr/>
          <p:nvPr/>
        </p:nvSpPr>
        <p:spPr>
          <a:xfrm>
            <a:off x="0" y="-46237"/>
            <a:ext cx="9149713" cy="5311045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395" name="Google Shape;395;p28"/>
          <p:cNvSpPr/>
          <p:nvPr/>
        </p:nvSpPr>
        <p:spPr>
          <a:xfrm>
            <a:off x="542570" y="514350"/>
            <a:ext cx="8114497" cy="4143207"/>
          </a:xfrm>
          <a:custGeom>
            <a:rect b="b" l="l" r="r" t="t"/>
            <a:pathLst>
              <a:path extrusionOk="0" h="16247872" w="31821558">
                <a:moveTo>
                  <a:pt x="31697098" y="59690"/>
                </a:moveTo>
                <a:cubicBezTo>
                  <a:pt x="31732658" y="59690"/>
                  <a:pt x="31761866" y="88900"/>
                  <a:pt x="31761866" y="124460"/>
                </a:cubicBezTo>
                <a:lnTo>
                  <a:pt x="31761866" y="16123411"/>
                </a:lnTo>
                <a:cubicBezTo>
                  <a:pt x="31761866" y="16158972"/>
                  <a:pt x="31732658" y="16188181"/>
                  <a:pt x="31697098" y="16188181"/>
                </a:cubicBezTo>
                <a:lnTo>
                  <a:pt x="124460" y="16188181"/>
                </a:lnTo>
                <a:cubicBezTo>
                  <a:pt x="88900" y="16188181"/>
                  <a:pt x="59690" y="16158972"/>
                  <a:pt x="59690" y="16123411"/>
                </a:cubicBezTo>
                <a:lnTo>
                  <a:pt x="59690" y="124460"/>
                </a:lnTo>
                <a:cubicBezTo>
                  <a:pt x="59690" y="88900"/>
                  <a:pt x="88900" y="59690"/>
                  <a:pt x="124460" y="59690"/>
                </a:cubicBezTo>
                <a:lnTo>
                  <a:pt x="31697098" y="59690"/>
                </a:lnTo>
                <a:moveTo>
                  <a:pt x="31697098" y="0"/>
                </a:moveTo>
                <a:lnTo>
                  <a:pt x="124460" y="0"/>
                </a:lnTo>
                <a:cubicBezTo>
                  <a:pt x="55880" y="0"/>
                  <a:pt x="0" y="55880"/>
                  <a:pt x="0" y="124460"/>
                </a:cubicBezTo>
                <a:lnTo>
                  <a:pt x="0" y="16123411"/>
                </a:lnTo>
                <a:cubicBezTo>
                  <a:pt x="0" y="16191992"/>
                  <a:pt x="55880" y="16247872"/>
                  <a:pt x="124460" y="16247872"/>
                </a:cubicBezTo>
                <a:lnTo>
                  <a:pt x="31697098" y="16247872"/>
                </a:lnTo>
                <a:cubicBezTo>
                  <a:pt x="31765677" y="16247872"/>
                  <a:pt x="31821558" y="16191992"/>
                  <a:pt x="31821558" y="16123411"/>
                </a:cubicBezTo>
                <a:lnTo>
                  <a:pt x="31821558" y="124460"/>
                </a:lnTo>
                <a:cubicBezTo>
                  <a:pt x="31821558" y="55880"/>
                  <a:pt x="31765677" y="0"/>
                  <a:pt x="31697098" y="0"/>
                </a:cubicBezTo>
                <a:close/>
              </a:path>
            </a:pathLst>
          </a:custGeom>
          <a:solidFill>
            <a:schemeClr val="dk1"/>
          </a:solidFill>
          <a:ln cap="flat" cmpd="sng" w="4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28"/>
          <p:cNvGrpSpPr/>
          <p:nvPr/>
        </p:nvGrpSpPr>
        <p:grpSpPr>
          <a:xfrm>
            <a:off x="542570" y="514350"/>
            <a:ext cx="8058953" cy="579460"/>
            <a:chOff x="0" y="0"/>
            <a:chExt cx="21490542" cy="1545227"/>
          </a:xfrm>
        </p:grpSpPr>
        <p:grpSp>
          <p:nvGrpSpPr>
            <p:cNvPr id="397" name="Google Shape;397;p28"/>
            <p:cNvGrpSpPr/>
            <p:nvPr/>
          </p:nvGrpSpPr>
          <p:grpSpPr>
            <a:xfrm>
              <a:off x="0" y="0"/>
              <a:ext cx="21490542" cy="1545227"/>
              <a:chOff x="0" y="0"/>
              <a:chExt cx="31091640" cy="2235572"/>
            </a:xfrm>
          </p:grpSpPr>
          <p:sp>
            <p:nvSpPr>
              <p:cNvPr id="398" name="Google Shape;398;p28"/>
              <p:cNvSpPr/>
              <p:nvPr/>
            </p:nvSpPr>
            <p:spPr>
              <a:xfrm>
                <a:off x="31750" y="31750"/>
                <a:ext cx="31028140" cy="2172072"/>
              </a:xfrm>
              <a:custGeom>
                <a:rect b="b" l="l" r="r" t="t"/>
                <a:pathLst>
                  <a:path extrusionOk="0" h="2172072" w="31028140">
                    <a:moveTo>
                      <a:pt x="30935433" y="2172072"/>
                    </a:moveTo>
                    <a:lnTo>
                      <a:pt x="92710" y="2172072"/>
                    </a:lnTo>
                    <a:cubicBezTo>
                      <a:pt x="41910" y="2172072"/>
                      <a:pt x="0" y="2130162"/>
                      <a:pt x="0" y="2079362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2078092"/>
                    </a:lnTo>
                    <a:cubicBezTo>
                      <a:pt x="31028140" y="2130162"/>
                      <a:pt x="30986233" y="2172072"/>
                      <a:pt x="30935433" y="217207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8"/>
              <p:cNvSpPr/>
              <p:nvPr/>
            </p:nvSpPr>
            <p:spPr>
              <a:xfrm>
                <a:off x="0" y="0"/>
                <a:ext cx="31091640" cy="2235572"/>
              </a:xfrm>
              <a:custGeom>
                <a:rect b="b" l="l" r="r" t="t"/>
                <a:pathLst>
                  <a:path extrusionOk="0" h="2235572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2111112"/>
                    </a:lnTo>
                    <a:cubicBezTo>
                      <a:pt x="31031951" y="2146672"/>
                      <a:pt x="31002740" y="2175882"/>
                      <a:pt x="30967183" y="2175882"/>
                    </a:cubicBezTo>
                    <a:lnTo>
                      <a:pt x="124460" y="2175882"/>
                    </a:lnTo>
                    <a:cubicBezTo>
                      <a:pt x="88900" y="2175882"/>
                      <a:pt x="59690" y="2146672"/>
                      <a:pt x="59690" y="2111112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2111112"/>
                    </a:lnTo>
                    <a:cubicBezTo>
                      <a:pt x="0" y="2179692"/>
                      <a:pt x="55880" y="2235572"/>
                      <a:pt x="124460" y="2235572"/>
                    </a:cubicBezTo>
                    <a:lnTo>
                      <a:pt x="30967183" y="2235572"/>
                    </a:lnTo>
                    <a:cubicBezTo>
                      <a:pt x="31035761" y="2235572"/>
                      <a:pt x="31091640" y="2179692"/>
                      <a:pt x="31091640" y="2111112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0" name="Google Shape;400;p28"/>
            <p:cNvSpPr/>
            <p:nvPr/>
          </p:nvSpPr>
          <p:spPr>
            <a:xfrm>
              <a:off x="20331621" y="484496"/>
              <a:ext cx="577853" cy="577853"/>
            </a:xfrm>
            <a:custGeom>
              <a:rect b="b" l="l" r="r" t="t"/>
              <a:pathLst>
                <a:path extrusionOk="0" h="577853" w="577853">
                  <a:moveTo>
                    <a:pt x="0" y="0"/>
                  </a:moveTo>
                  <a:lnTo>
                    <a:pt x="577853" y="0"/>
                  </a:lnTo>
                  <a:lnTo>
                    <a:pt x="577853" y="577853"/>
                  </a:lnTo>
                  <a:lnTo>
                    <a:pt x="0" y="5778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47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1" name="Google Shape;401;p28"/>
            <p:cNvSpPr txBox="1"/>
            <p:nvPr/>
          </p:nvSpPr>
          <p:spPr>
            <a:xfrm>
              <a:off x="558560" y="247224"/>
              <a:ext cx="740700" cy="1026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s" sz="25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8"/>
            <p:cNvSpPr txBox="1"/>
            <p:nvPr/>
          </p:nvSpPr>
          <p:spPr>
            <a:xfrm>
              <a:off x="1798981" y="206968"/>
              <a:ext cx="9762000" cy="8208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" sz="20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DEPLOY / DONE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3" name="Google Shape;403;p28"/>
          <p:cNvGrpSpPr/>
          <p:nvPr/>
        </p:nvGrpSpPr>
        <p:grpSpPr>
          <a:xfrm>
            <a:off x="826421" y="1172942"/>
            <a:ext cx="1633380" cy="2112985"/>
            <a:chOff x="0" y="0"/>
            <a:chExt cx="4355680" cy="5634626"/>
          </a:xfrm>
        </p:grpSpPr>
        <p:grpSp>
          <p:nvGrpSpPr>
            <p:cNvPr id="404" name="Google Shape;404;p28"/>
            <p:cNvGrpSpPr/>
            <p:nvPr/>
          </p:nvGrpSpPr>
          <p:grpSpPr>
            <a:xfrm>
              <a:off x="0" y="0"/>
              <a:ext cx="4355680" cy="5634626"/>
              <a:chOff x="0" y="0"/>
              <a:chExt cx="3603011" cy="4660953"/>
            </a:xfrm>
          </p:grpSpPr>
          <p:sp>
            <p:nvSpPr>
              <p:cNvPr id="405" name="Google Shape;405;p28"/>
              <p:cNvSpPr/>
              <p:nvPr/>
            </p:nvSpPr>
            <p:spPr>
              <a:xfrm>
                <a:off x="57150" y="58420"/>
                <a:ext cx="3533161" cy="4589833"/>
              </a:xfrm>
              <a:custGeom>
                <a:rect b="b" l="l" r="r" t="t"/>
                <a:pathLst>
                  <a:path extrusionOk="0" h="4589833" w="3533161">
                    <a:moveTo>
                      <a:pt x="3448071" y="4559354"/>
                    </a:moveTo>
                    <a:lnTo>
                      <a:pt x="0" y="4559354"/>
                    </a:lnTo>
                    <a:cubicBezTo>
                      <a:pt x="5080" y="4577133"/>
                      <a:pt x="21590" y="4589833"/>
                      <a:pt x="40640" y="4589833"/>
                    </a:cubicBezTo>
                    <a:lnTo>
                      <a:pt x="3489981" y="4589833"/>
                    </a:lnTo>
                    <a:cubicBezTo>
                      <a:pt x="3514111" y="4589833"/>
                      <a:pt x="3533161" y="4570783"/>
                      <a:pt x="3533161" y="4546654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503473"/>
                    </a:lnTo>
                    <a:cubicBezTo>
                      <a:pt x="3503951" y="4533954"/>
                      <a:pt x="3478551" y="4559354"/>
                      <a:pt x="3448071" y="4559354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28"/>
              <p:cNvSpPr/>
              <p:nvPr/>
            </p:nvSpPr>
            <p:spPr>
              <a:xfrm>
                <a:off x="12700" y="12700"/>
                <a:ext cx="3535701" cy="4592374"/>
              </a:xfrm>
              <a:custGeom>
                <a:rect b="b" l="l" r="r" t="t"/>
                <a:pathLst>
                  <a:path extrusionOk="0" h="4592374" w="3535701">
                    <a:moveTo>
                      <a:pt x="43180" y="4592374"/>
                    </a:moveTo>
                    <a:lnTo>
                      <a:pt x="3492521" y="4592374"/>
                    </a:lnTo>
                    <a:cubicBezTo>
                      <a:pt x="3516651" y="4592374"/>
                      <a:pt x="3535701" y="4573324"/>
                      <a:pt x="3535701" y="4549193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549193"/>
                    </a:lnTo>
                    <a:cubicBezTo>
                      <a:pt x="0" y="4573324"/>
                      <a:pt x="19050" y="4592374"/>
                      <a:pt x="43180" y="4592374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>
                <a:off x="0" y="0"/>
                <a:ext cx="3603011" cy="4660953"/>
              </a:xfrm>
              <a:custGeom>
                <a:rect b="b" l="l" r="r" t="t"/>
                <a:pathLst>
                  <a:path extrusionOk="0" h="4660953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561893"/>
                    </a:lnTo>
                    <a:cubicBezTo>
                      <a:pt x="0" y="4588563"/>
                      <a:pt x="17780" y="4610153"/>
                      <a:pt x="43180" y="4616503"/>
                    </a:cubicBezTo>
                    <a:cubicBezTo>
                      <a:pt x="48260" y="4641903"/>
                      <a:pt x="71120" y="4660953"/>
                      <a:pt x="97790" y="4660953"/>
                    </a:cubicBezTo>
                    <a:lnTo>
                      <a:pt x="3547131" y="4660953"/>
                    </a:lnTo>
                    <a:cubicBezTo>
                      <a:pt x="3577611" y="4660953"/>
                      <a:pt x="3603011" y="4635553"/>
                      <a:pt x="3603011" y="4605074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561893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561893"/>
                    </a:lnTo>
                    <a:cubicBezTo>
                      <a:pt x="3548401" y="4586024"/>
                      <a:pt x="3529351" y="4605074"/>
                      <a:pt x="3505221" y="4605074"/>
                    </a:cubicBezTo>
                    <a:lnTo>
                      <a:pt x="55880" y="4605074"/>
                    </a:lnTo>
                    <a:cubicBezTo>
                      <a:pt x="31750" y="4605074"/>
                      <a:pt x="12700" y="4586024"/>
                      <a:pt x="12700" y="4561893"/>
                    </a:cubicBezTo>
                    <a:close/>
                    <a:moveTo>
                      <a:pt x="3590311" y="4605074"/>
                    </a:moveTo>
                    <a:cubicBezTo>
                      <a:pt x="3590311" y="4629203"/>
                      <a:pt x="3571261" y="4648253"/>
                      <a:pt x="3547131" y="4648253"/>
                    </a:cubicBezTo>
                    <a:lnTo>
                      <a:pt x="97790" y="4648253"/>
                    </a:lnTo>
                    <a:cubicBezTo>
                      <a:pt x="78740" y="4648253"/>
                      <a:pt x="62230" y="4635553"/>
                      <a:pt x="57150" y="4617774"/>
                    </a:cubicBezTo>
                    <a:lnTo>
                      <a:pt x="3505221" y="4617774"/>
                    </a:lnTo>
                    <a:cubicBezTo>
                      <a:pt x="3535701" y="4617774"/>
                      <a:pt x="3561101" y="4592374"/>
                      <a:pt x="3561101" y="4561893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60507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28"/>
            <p:cNvSpPr txBox="1"/>
            <p:nvPr/>
          </p:nvSpPr>
          <p:spPr>
            <a:xfrm>
              <a:off x="312336" y="886193"/>
              <a:ext cx="3730800" cy="4560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Esta columna simboliza la culminación del trabajo comprometido y es una pieza clave para medir el rendimiento del equipo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9" name="Google Shape;409;p28"/>
          <p:cNvGrpSpPr/>
          <p:nvPr/>
        </p:nvGrpSpPr>
        <p:grpSpPr>
          <a:xfrm>
            <a:off x="2695688" y="2229414"/>
            <a:ext cx="1633380" cy="2287672"/>
            <a:chOff x="0" y="0"/>
            <a:chExt cx="4355680" cy="6100459"/>
          </a:xfrm>
        </p:grpSpPr>
        <p:grpSp>
          <p:nvGrpSpPr>
            <p:cNvPr id="410" name="Google Shape;410;p28"/>
            <p:cNvGrpSpPr/>
            <p:nvPr/>
          </p:nvGrpSpPr>
          <p:grpSpPr>
            <a:xfrm>
              <a:off x="0" y="0"/>
              <a:ext cx="4355680" cy="6100459"/>
              <a:chOff x="0" y="0"/>
              <a:chExt cx="3603011" cy="5046289"/>
            </a:xfrm>
          </p:grpSpPr>
          <p:sp>
            <p:nvSpPr>
              <p:cNvPr id="411" name="Google Shape;411;p28"/>
              <p:cNvSpPr/>
              <p:nvPr/>
            </p:nvSpPr>
            <p:spPr>
              <a:xfrm>
                <a:off x="57150" y="58420"/>
                <a:ext cx="3533161" cy="4975169"/>
              </a:xfrm>
              <a:custGeom>
                <a:rect b="b" l="l" r="r" t="t"/>
                <a:pathLst>
                  <a:path extrusionOk="0" h="4975169" w="3533161">
                    <a:moveTo>
                      <a:pt x="3448071" y="4944689"/>
                    </a:moveTo>
                    <a:lnTo>
                      <a:pt x="0" y="4944689"/>
                    </a:lnTo>
                    <a:cubicBezTo>
                      <a:pt x="5080" y="4962469"/>
                      <a:pt x="21590" y="4975169"/>
                      <a:pt x="40640" y="4975169"/>
                    </a:cubicBezTo>
                    <a:lnTo>
                      <a:pt x="3489981" y="4975169"/>
                    </a:lnTo>
                    <a:cubicBezTo>
                      <a:pt x="3514111" y="4975169"/>
                      <a:pt x="3533161" y="4956119"/>
                      <a:pt x="3533161" y="4931989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4888809"/>
                    </a:lnTo>
                    <a:cubicBezTo>
                      <a:pt x="3503951" y="4919289"/>
                      <a:pt x="3478551" y="4944689"/>
                      <a:pt x="3448071" y="4944689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8"/>
              <p:cNvSpPr/>
              <p:nvPr/>
            </p:nvSpPr>
            <p:spPr>
              <a:xfrm>
                <a:off x="12700" y="12700"/>
                <a:ext cx="3535701" cy="4977709"/>
              </a:xfrm>
              <a:custGeom>
                <a:rect b="b" l="l" r="r" t="t"/>
                <a:pathLst>
                  <a:path extrusionOk="0" h="4977709" w="3535701">
                    <a:moveTo>
                      <a:pt x="43180" y="4977709"/>
                    </a:moveTo>
                    <a:lnTo>
                      <a:pt x="3492521" y="4977709"/>
                    </a:lnTo>
                    <a:cubicBezTo>
                      <a:pt x="3516651" y="4977709"/>
                      <a:pt x="3535701" y="4958659"/>
                      <a:pt x="3535701" y="4934529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4934529"/>
                    </a:lnTo>
                    <a:cubicBezTo>
                      <a:pt x="0" y="4958659"/>
                      <a:pt x="19050" y="4977709"/>
                      <a:pt x="43180" y="4977709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28"/>
              <p:cNvSpPr/>
              <p:nvPr/>
            </p:nvSpPr>
            <p:spPr>
              <a:xfrm>
                <a:off x="0" y="0"/>
                <a:ext cx="3603011" cy="5046289"/>
              </a:xfrm>
              <a:custGeom>
                <a:rect b="b" l="l" r="r" t="t"/>
                <a:pathLst>
                  <a:path extrusionOk="0" h="5046289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4947229"/>
                    </a:lnTo>
                    <a:cubicBezTo>
                      <a:pt x="0" y="4973899"/>
                      <a:pt x="17780" y="4995489"/>
                      <a:pt x="43180" y="5001839"/>
                    </a:cubicBezTo>
                    <a:cubicBezTo>
                      <a:pt x="48260" y="5027239"/>
                      <a:pt x="71120" y="5046289"/>
                      <a:pt x="97790" y="5046289"/>
                    </a:cubicBezTo>
                    <a:lnTo>
                      <a:pt x="3547131" y="5046289"/>
                    </a:lnTo>
                    <a:cubicBezTo>
                      <a:pt x="3577611" y="5046289"/>
                      <a:pt x="3603011" y="5020889"/>
                      <a:pt x="3603011" y="4990409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4947229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4947229"/>
                    </a:lnTo>
                    <a:cubicBezTo>
                      <a:pt x="3548401" y="4971359"/>
                      <a:pt x="3529351" y="4990409"/>
                      <a:pt x="3505221" y="4990409"/>
                    </a:cubicBezTo>
                    <a:lnTo>
                      <a:pt x="55880" y="4990409"/>
                    </a:lnTo>
                    <a:cubicBezTo>
                      <a:pt x="31750" y="4990409"/>
                      <a:pt x="12700" y="4971359"/>
                      <a:pt x="12700" y="4947229"/>
                    </a:cubicBezTo>
                    <a:close/>
                    <a:moveTo>
                      <a:pt x="3590311" y="4990409"/>
                    </a:moveTo>
                    <a:cubicBezTo>
                      <a:pt x="3590311" y="5014539"/>
                      <a:pt x="3571261" y="5033589"/>
                      <a:pt x="3547131" y="5033589"/>
                    </a:cubicBezTo>
                    <a:lnTo>
                      <a:pt x="97790" y="5033589"/>
                    </a:lnTo>
                    <a:cubicBezTo>
                      <a:pt x="78740" y="5033589"/>
                      <a:pt x="62230" y="5020889"/>
                      <a:pt x="57150" y="5003109"/>
                    </a:cubicBezTo>
                    <a:lnTo>
                      <a:pt x="3505221" y="5003109"/>
                    </a:lnTo>
                    <a:cubicBezTo>
                      <a:pt x="3535701" y="5003109"/>
                      <a:pt x="3561101" y="4977709"/>
                      <a:pt x="3561101" y="4947229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4990409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28"/>
            <p:cNvSpPr txBox="1"/>
            <p:nvPr/>
          </p:nvSpPr>
          <p:spPr>
            <a:xfrm>
              <a:off x="312336" y="886193"/>
              <a:ext cx="3730800" cy="45603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Deben de estar con la funcionalidad completa y sin errores, la documentación actualizada, cobertura de pruebas suficiente y revisión de código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5" name="Google Shape;415;p28"/>
          <p:cNvGrpSpPr/>
          <p:nvPr/>
        </p:nvGrpSpPr>
        <p:grpSpPr>
          <a:xfrm>
            <a:off x="4667176" y="1347625"/>
            <a:ext cx="1633380" cy="1763611"/>
            <a:chOff x="0" y="0"/>
            <a:chExt cx="4355680" cy="4702962"/>
          </a:xfrm>
        </p:grpSpPr>
        <p:grpSp>
          <p:nvGrpSpPr>
            <p:cNvPr id="416" name="Google Shape;416;p28"/>
            <p:cNvGrpSpPr/>
            <p:nvPr/>
          </p:nvGrpSpPr>
          <p:grpSpPr>
            <a:xfrm>
              <a:off x="0" y="0"/>
              <a:ext cx="4355680" cy="4702962"/>
              <a:chOff x="0" y="0"/>
              <a:chExt cx="3603011" cy="3890282"/>
            </a:xfrm>
          </p:grpSpPr>
          <p:sp>
            <p:nvSpPr>
              <p:cNvPr id="417" name="Google Shape;417;p28"/>
              <p:cNvSpPr/>
              <p:nvPr/>
            </p:nvSpPr>
            <p:spPr>
              <a:xfrm>
                <a:off x="57150" y="58420"/>
                <a:ext cx="3533161" cy="3819162"/>
              </a:xfrm>
              <a:custGeom>
                <a:rect b="b" l="l" r="r" t="t"/>
                <a:pathLst>
                  <a:path extrusionOk="0" h="3819162" w="3533161">
                    <a:moveTo>
                      <a:pt x="3448071" y="3788682"/>
                    </a:moveTo>
                    <a:lnTo>
                      <a:pt x="0" y="3788682"/>
                    </a:lnTo>
                    <a:cubicBezTo>
                      <a:pt x="5080" y="3806462"/>
                      <a:pt x="21590" y="3819162"/>
                      <a:pt x="40640" y="3819162"/>
                    </a:cubicBezTo>
                    <a:lnTo>
                      <a:pt x="3489981" y="3819162"/>
                    </a:lnTo>
                    <a:cubicBezTo>
                      <a:pt x="3514111" y="3819162"/>
                      <a:pt x="3533161" y="3800112"/>
                      <a:pt x="3533161" y="3775982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3732802"/>
                    </a:lnTo>
                    <a:cubicBezTo>
                      <a:pt x="3503951" y="3763282"/>
                      <a:pt x="3478551" y="3788682"/>
                      <a:pt x="3448071" y="3788682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12700" y="12700"/>
                <a:ext cx="3535701" cy="3821702"/>
              </a:xfrm>
              <a:custGeom>
                <a:rect b="b" l="l" r="r" t="t"/>
                <a:pathLst>
                  <a:path extrusionOk="0" h="3821702" w="3535701">
                    <a:moveTo>
                      <a:pt x="43180" y="3821702"/>
                    </a:moveTo>
                    <a:lnTo>
                      <a:pt x="3492521" y="3821702"/>
                    </a:lnTo>
                    <a:cubicBezTo>
                      <a:pt x="3516651" y="3821702"/>
                      <a:pt x="3535701" y="3802652"/>
                      <a:pt x="3535701" y="3778522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778522"/>
                    </a:lnTo>
                    <a:cubicBezTo>
                      <a:pt x="0" y="3802652"/>
                      <a:pt x="19050" y="3821702"/>
                      <a:pt x="43180" y="3821702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0" y="0"/>
                <a:ext cx="3603011" cy="3890282"/>
              </a:xfrm>
              <a:custGeom>
                <a:rect b="b" l="l" r="r" t="t"/>
                <a:pathLst>
                  <a:path extrusionOk="0" h="3890282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791222"/>
                    </a:lnTo>
                    <a:cubicBezTo>
                      <a:pt x="0" y="3817892"/>
                      <a:pt x="17780" y="3839482"/>
                      <a:pt x="43180" y="3845832"/>
                    </a:cubicBezTo>
                    <a:cubicBezTo>
                      <a:pt x="48260" y="3871232"/>
                      <a:pt x="71120" y="3890282"/>
                      <a:pt x="97790" y="3890282"/>
                    </a:cubicBezTo>
                    <a:lnTo>
                      <a:pt x="3547131" y="3890282"/>
                    </a:lnTo>
                    <a:cubicBezTo>
                      <a:pt x="3577611" y="3890282"/>
                      <a:pt x="3603011" y="3864882"/>
                      <a:pt x="3603011" y="3834402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791222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791222"/>
                    </a:lnTo>
                    <a:cubicBezTo>
                      <a:pt x="3548401" y="3815352"/>
                      <a:pt x="3529351" y="3834402"/>
                      <a:pt x="3505221" y="3834402"/>
                    </a:cubicBezTo>
                    <a:lnTo>
                      <a:pt x="55880" y="3834402"/>
                    </a:lnTo>
                    <a:cubicBezTo>
                      <a:pt x="31750" y="3834402"/>
                      <a:pt x="12700" y="3815352"/>
                      <a:pt x="12700" y="3791222"/>
                    </a:cubicBezTo>
                    <a:close/>
                    <a:moveTo>
                      <a:pt x="3590311" y="3834402"/>
                    </a:moveTo>
                    <a:cubicBezTo>
                      <a:pt x="3590311" y="3858532"/>
                      <a:pt x="3571261" y="3877582"/>
                      <a:pt x="3547131" y="3877582"/>
                    </a:cubicBezTo>
                    <a:lnTo>
                      <a:pt x="97790" y="3877582"/>
                    </a:lnTo>
                    <a:cubicBezTo>
                      <a:pt x="78740" y="3877582"/>
                      <a:pt x="62230" y="3864882"/>
                      <a:pt x="57150" y="3847102"/>
                    </a:cubicBezTo>
                    <a:lnTo>
                      <a:pt x="3505221" y="3847102"/>
                    </a:lnTo>
                    <a:cubicBezTo>
                      <a:pt x="3535701" y="3847102"/>
                      <a:pt x="3561101" y="3821702"/>
                      <a:pt x="3561101" y="3791222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834402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0" name="Google Shape;420;p28"/>
            <p:cNvSpPr txBox="1"/>
            <p:nvPr/>
          </p:nvSpPr>
          <p:spPr>
            <a:xfrm>
              <a:off x="312336" y="886193"/>
              <a:ext cx="3730800" cy="33864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EL Scrum Master no despliega directamente, pero puede facilitar la coordinación con infraestructura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28"/>
          <p:cNvGrpSpPr/>
          <p:nvPr/>
        </p:nvGrpSpPr>
        <p:grpSpPr>
          <a:xfrm>
            <a:off x="6638663" y="2746434"/>
            <a:ext cx="1633380" cy="1414237"/>
            <a:chOff x="0" y="0"/>
            <a:chExt cx="4355680" cy="3771298"/>
          </a:xfrm>
        </p:grpSpPr>
        <p:grpSp>
          <p:nvGrpSpPr>
            <p:cNvPr id="422" name="Google Shape;422;p28"/>
            <p:cNvGrpSpPr/>
            <p:nvPr/>
          </p:nvGrpSpPr>
          <p:grpSpPr>
            <a:xfrm>
              <a:off x="0" y="0"/>
              <a:ext cx="4355680" cy="3771298"/>
              <a:chOff x="0" y="0"/>
              <a:chExt cx="3603011" cy="3119611"/>
            </a:xfrm>
          </p:grpSpPr>
          <p:sp>
            <p:nvSpPr>
              <p:cNvPr id="423" name="Google Shape;423;p28"/>
              <p:cNvSpPr/>
              <p:nvPr/>
            </p:nvSpPr>
            <p:spPr>
              <a:xfrm>
                <a:off x="57150" y="58420"/>
                <a:ext cx="3533161" cy="3048491"/>
              </a:xfrm>
              <a:custGeom>
                <a:rect b="b" l="l" r="r" t="t"/>
                <a:pathLst>
                  <a:path extrusionOk="0" h="3048491" w="3533161">
                    <a:moveTo>
                      <a:pt x="3448071" y="3018011"/>
                    </a:moveTo>
                    <a:lnTo>
                      <a:pt x="0" y="3018011"/>
                    </a:lnTo>
                    <a:cubicBezTo>
                      <a:pt x="5080" y="3035791"/>
                      <a:pt x="21590" y="3048491"/>
                      <a:pt x="40640" y="3048491"/>
                    </a:cubicBezTo>
                    <a:lnTo>
                      <a:pt x="3489981" y="3048491"/>
                    </a:lnTo>
                    <a:cubicBezTo>
                      <a:pt x="3514111" y="3048491"/>
                      <a:pt x="3533161" y="3029441"/>
                      <a:pt x="3533161" y="3005311"/>
                    </a:cubicBezTo>
                    <a:lnTo>
                      <a:pt x="3533161" y="40640"/>
                    </a:lnTo>
                    <a:cubicBezTo>
                      <a:pt x="3533161" y="21590"/>
                      <a:pt x="3520461" y="6350"/>
                      <a:pt x="3503951" y="0"/>
                    </a:cubicBezTo>
                    <a:lnTo>
                      <a:pt x="3503951" y="2962131"/>
                    </a:lnTo>
                    <a:cubicBezTo>
                      <a:pt x="3503951" y="2992611"/>
                      <a:pt x="3478551" y="3018011"/>
                      <a:pt x="3448071" y="3018011"/>
                    </a:cubicBezTo>
                    <a:close/>
                  </a:path>
                </a:pathLst>
              </a:custGeom>
              <a:solidFill>
                <a:srgbClr val="FFF200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12700" y="12700"/>
                <a:ext cx="3535701" cy="3051031"/>
              </a:xfrm>
              <a:custGeom>
                <a:rect b="b" l="l" r="r" t="t"/>
                <a:pathLst>
                  <a:path extrusionOk="0" h="3051031" w="3535701">
                    <a:moveTo>
                      <a:pt x="43180" y="3051031"/>
                    </a:moveTo>
                    <a:lnTo>
                      <a:pt x="3492521" y="3051031"/>
                    </a:lnTo>
                    <a:cubicBezTo>
                      <a:pt x="3516651" y="3051031"/>
                      <a:pt x="3535701" y="3031981"/>
                      <a:pt x="3535701" y="3007851"/>
                    </a:cubicBezTo>
                    <a:lnTo>
                      <a:pt x="3535701" y="43180"/>
                    </a:lnTo>
                    <a:cubicBezTo>
                      <a:pt x="3535701" y="19050"/>
                      <a:pt x="3516651" y="0"/>
                      <a:pt x="3492521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3007851"/>
                    </a:lnTo>
                    <a:cubicBezTo>
                      <a:pt x="0" y="3031981"/>
                      <a:pt x="19050" y="3051031"/>
                      <a:pt x="43180" y="3051031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0" y="0"/>
                <a:ext cx="3603011" cy="3119611"/>
              </a:xfrm>
              <a:custGeom>
                <a:rect b="b" l="l" r="r" t="t"/>
                <a:pathLst>
                  <a:path extrusionOk="0" h="3119611" w="3603011">
                    <a:moveTo>
                      <a:pt x="3559831" y="44450"/>
                    </a:moveTo>
                    <a:cubicBezTo>
                      <a:pt x="3554751" y="19050"/>
                      <a:pt x="3531891" y="0"/>
                      <a:pt x="3505221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3020551"/>
                    </a:lnTo>
                    <a:cubicBezTo>
                      <a:pt x="0" y="3047221"/>
                      <a:pt x="17780" y="3068811"/>
                      <a:pt x="43180" y="3075161"/>
                    </a:cubicBezTo>
                    <a:cubicBezTo>
                      <a:pt x="48260" y="3100561"/>
                      <a:pt x="71120" y="3119611"/>
                      <a:pt x="97790" y="3119611"/>
                    </a:cubicBezTo>
                    <a:lnTo>
                      <a:pt x="3547131" y="3119611"/>
                    </a:lnTo>
                    <a:cubicBezTo>
                      <a:pt x="3577611" y="3119611"/>
                      <a:pt x="3603011" y="3094211"/>
                      <a:pt x="3603011" y="3063731"/>
                    </a:cubicBezTo>
                    <a:lnTo>
                      <a:pt x="3603011" y="99060"/>
                    </a:lnTo>
                    <a:cubicBezTo>
                      <a:pt x="3603011" y="72390"/>
                      <a:pt x="3585231" y="50800"/>
                      <a:pt x="3559831" y="44450"/>
                    </a:cubicBezTo>
                    <a:close/>
                    <a:moveTo>
                      <a:pt x="12700" y="302055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3505221" y="12700"/>
                    </a:lnTo>
                    <a:cubicBezTo>
                      <a:pt x="3529351" y="12700"/>
                      <a:pt x="3548401" y="31750"/>
                      <a:pt x="3548401" y="55880"/>
                    </a:cubicBezTo>
                    <a:lnTo>
                      <a:pt x="3548401" y="3020551"/>
                    </a:lnTo>
                    <a:cubicBezTo>
                      <a:pt x="3548401" y="3044681"/>
                      <a:pt x="3529351" y="3063731"/>
                      <a:pt x="3505221" y="3063731"/>
                    </a:cubicBezTo>
                    <a:lnTo>
                      <a:pt x="55880" y="3063731"/>
                    </a:lnTo>
                    <a:cubicBezTo>
                      <a:pt x="31750" y="3063731"/>
                      <a:pt x="12700" y="3044681"/>
                      <a:pt x="12700" y="3020551"/>
                    </a:cubicBezTo>
                    <a:close/>
                    <a:moveTo>
                      <a:pt x="3590311" y="3063731"/>
                    </a:moveTo>
                    <a:cubicBezTo>
                      <a:pt x="3590311" y="3087861"/>
                      <a:pt x="3571261" y="3106911"/>
                      <a:pt x="3547131" y="3106911"/>
                    </a:cubicBezTo>
                    <a:lnTo>
                      <a:pt x="97790" y="3106911"/>
                    </a:lnTo>
                    <a:cubicBezTo>
                      <a:pt x="78740" y="3106911"/>
                      <a:pt x="62230" y="3094211"/>
                      <a:pt x="57150" y="3076431"/>
                    </a:cubicBezTo>
                    <a:lnTo>
                      <a:pt x="3505221" y="3076431"/>
                    </a:lnTo>
                    <a:cubicBezTo>
                      <a:pt x="3535701" y="3076431"/>
                      <a:pt x="3561101" y="3051031"/>
                      <a:pt x="3561101" y="3020551"/>
                    </a:cubicBezTo>
                    <a:lnTo>
                      <a:pt x="3561101" y="58420"/>
                    </a:lnTo>
                    <a:cubicBezTo>
                      <a:pt x="3577611" y="64770"/>
                      <a:pt x="3590311" y="80010"/>
                      <a:pt x="3590311" y="99060"/>
                    </a:cubicBezTo>
                    <a:lnTo>
                      <a:pt x="3590311" y="306373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47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t/>
                </a:r>
                <a:endParaRPr b="0" i="0" sz="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6" name="Google Shape;426;p28"/>
            <p:cNvSpPr txBox="1"/>
            <p:nvPr/>
          </p:nvSpPr>
          <p:spPr>
            <a:xfrm>
              <a:off x="312336" y="886193"/>
              <a:ext cx="3730800" cy="2212500"/>
            </a:xfrm>
            <a:prstGeom prst="rect">
              <a:avLst/>
            </a:prstGeom>
            <a:noFill/>
            <a:ln cap="flat" cmpd="sng" w="47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" sz="1100" u="none" cap="none" strike="noStrike">
                  <a:solidFill>
                    <a:srgbClr val="101010"/>
                  </a:solidFill>
                  <a:latin typeface="Arial"/>
                  <a:ea typeface="Arial"/>
                  <a:cs typeface="Arial"/>
                  <a:sym typeface="Arial"/>
                </a:rPr>
                <a:t>El análisis de lo que llega a esta columna puede informar retrospectivas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"/>
          <p:cNvSpPr/>
          <p:nvPr/>
        </p:nvSpPr>
        <p:spPr>
          <a:xfrm>
            <a:off x="0" y="-46242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id="432" name="Google Shape;432;p29"/>
          <p:cNvSpPr/>
          <p:nvPr/>
        </p:nvSpPr>
        <p:spPr>
          <a:xfrm rot="-2298120">
            <a:off x="4849589" y="1094702"/>
            <a:ext cx="6327075" cy="478556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3" name="Google Shape;433;p29"/>
          <p:cNvGrpSpPr/>
          <p:nvPr/>
        </p:nvGrpSpPr>
        <p:grpSpPr>
          <a:xfrm rot="9869093">
            <a:off x="7180031" y="3165770"/>
            <a:ext cx="3243858" cy="3381564"/>
            <a:chOff x="-8061" y="0"/>
            <a:chExt cx="8651124" cy="9018377"/>
          </a:xfrm>
        </p:grpSpPr>
        <p:sp>
          <p:nvSpPr>
            <p:cNvPr id="434" name="Google Shape;434;p29"/>
            <p:cNvSpPr/>
            <p:nvPr/>
          </p:nvSpPr>
          <p:spPr>
            <a:xfrm rot="9452055">
              <a:off x="751904" y="2466748"/>
              <a:ext cx="7131194" cy="5393776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5" name="Google Shape;435;p2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36" name="Google Shape;436;p29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29"/>
          <p:cNvSpPr/>
          <p:nvPr/>
        </p:nvSpPr>
        <p:spPr>
          <a:xfrm>
            <a:off x="727975" y="2304725"/>
            <a:ext cx="2249614" cy="1666494"/>
          </a:xfrm>
          <a:custGeom>
            <a:rect b="b" l="l" r="r" t="t"/>
            <a:pathLst>
              <a:path extrusionOk="0" h="4114800" w="5695225">
                <a:moveTo>
                  <a:pt x="0" y="0"/>
                </a:moveTo>
                <a:lnTo>
                  <a:pt x="5695225" y="0"/>
                </a:lnTo>
                <a:lnTo>
                  <a:pt x="56952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29"/>
          <p:cNvSpPr txBox="1"/>
          <p:nvPr/>
        </p:nvSpPr>
        <p:spPr>
          <a:xfrm>
            <a:off x="3430363" y="2025025"/>
            <a:ext cx="48339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Scrumban combina: </a:t>
            </a:r>
            <a:endParaRPr b="0" i="0" sz="1600" u="none" cap="none" strike="noStrike">
              <a:solidFill>
                <a:srgbClr val="4040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28600" marR="0" rtl="0" algn="l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Poppins"/>
              <a:buChar char="●"/>
            </a:pPr>
            <a:r>
              <a:rPr b="0" i="0" lang="es" sz="16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El tablero visual de KANBAN </a:t>
            </a:r>
            <a:endParaRPr b="0" i="0" sz="1600" u="none" cap="none" strike="noStrike">
              <a:solidFill>
                <a:srgbClr val="4040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15900" lvl="0" marL="228600" marR="0" rtl="0" algn="l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600"/>
              <a:buFont typeface="Poppins"/>
              <a:buChar char="●"/>
            </a:pPr>
            <a:r>
              <a:rPr b="0" i="0" lang="es" sz="16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Los eventos estructurados de SCRUM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040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Tenemos Sprint Planning, Daily Scrum, Sprint Review y Sprint Retrospective</a:t>
            </a:r>
            <a:endParaRPr b="0" i="0" sz="1600" u="none" cap="none" strike="noStrike">
              <a:solidFill>
                <a:srgbClr val="40404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8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404040"/>
                </a:solidFill>
                <a:latin typeface="Poppins"/>
                <a:ea typeface="Poppins"/>
                <a:cs typeface="Poppins"/>
                <a:sym typeface="Poppins"/>
              </a:rPr>
              <a:t>Pero usamos un tablero Kanban para visualizar y gestionar el trabajo durante todo el Sprint.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 txBox="1"/>
          <p:nvPr/>
        </p:nvSpPr>
        <p:spPr>
          <a:xfrm>
            <a:off x="727974" y="367620"/>
            <a:ext cx="76881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b="1" i="1" lang="es" sz="39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Scrumban y los Eventos de Scrum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"/>
          <p:cNvSpPr/>
          <p:nvPr/>
        </p:nvSpPr>
        <p:spPr>
          <a:xfrm>
            <a:off x="1788" y="0"/>
            <a:ext cx="914971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445" name="Google Shape;445;p30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p30"/>
          <p:cNvSpPr txBox="1"/>
          <p:nvPr/>
        </p:nvSpPr>
        <p:spPr>
          <a:xfrm>
            <a:off x="6402995" y="1143462"/>
            <a:ext cx="23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QUÉ TIENE QUE ESTAR LISTO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0"/>
          <p:cNvSpPr txBox="1"/>
          <p:nvPr/>
        </p:nvSpPr>
        <p:spPr>
          <a:xfrm>
            <a:off x="6402997" y="1944417"/>
            <a:ext cx="19602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Product Owner ya priorizó las Historias de Usuario (🔴 Alta, 🟡 Media, 🟢 Baja)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Todas las historias están en la columna "Historias de Usuario"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Las historias tienen criterios de aceptación definidos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-1602862" y="186765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0"/>
          <p:cNvSpPr txBox="1"/>
          <p:nvPr/>
        </p:nvSpPr>
        <p:spPr>
          <a:xfrm>
            <a:off x="-1851909" y="271360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ANTES del Sprint Planning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0" name="Google Shape;4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075" y="1362751"/>
            <a:ext cx="5522675" cy="3014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/>
          <p:nvPr/>
        </p:nvSpPr>
        <p:spPr>
          <a:xfrm>
            <a:off x="-154383" y="405725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456" name="Google Shape;456;p31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p31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1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Planning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31"/>
          <p:cNvGrpSpPr/>
          <p:nvPr/>
        </p:nvGrpSpPr>
        <p:grpSpPr>
          <a:xfrm>
            <a:off x="478206" y="1027098"/>
            <a:ext cx="466060" cy="493368"/>
            <a:chOff x="0" y="-47625"/>
            <a:chExt cx="812800" cy="860425"/>
          </a:xfrm>
        </p:grpSpPr>
        <p:sp>
          <p:nvSpPr>
            <p:cNvPr id="460" name="Google Shape;460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6150">
              <a:solidFill>
                <a:srgbClr val="2829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8725" lIns="38725" spcFirstLastPara="1" rIns="38725" wrap="square" tIns="38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1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25" lIns="21525" spcFirstLastPara="1" rIns="21525" wrap="square" tIns="21525">
              <a:noAutofit/>
            </a:bodyPr>
            <a:lstStyle/>
            <a:p>
              <a:pPr indent="0" lvl="0" marL="0" marR="0" rtl="0" algn="ctr">
                <a:lnSpc>
                  <a:spcPct val="154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" sz="1300" u="none" cap="none" strike="noStrike">
                  <a:solidFill>
                    <a:srgbClr val="282970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" name="Google Shape;462;p31"/>
          <p:cNvSpPr txBox="1"/>
          <p:nvPr/>
        </p:nvSpPr>
        <p:spPr>
          <a:xfrm>
            <a:off x="1147439" y="1066350"/>
            <a:ext cx="575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El Product Owner presenta las Historias de Usuario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1"/>
          <p:cNvSpPr txBox="1"/>
          <p:nvPr/>
        </p:nvSpPr>
        <p:spPr>
          <a:xfrm>
            <a:off x="1147429" y="1340655"/>
            <a:ext cx="6849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Explica cada historia del Product Backlog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equipo hace preguntas para entender los requerimientos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revisan los criterios de aceptación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31"/>
          <p:cNvGrpSpPr/>
          <p:nvPr/>
        </p:nvGrpSpPr>
        <p:grpSpPr>
          <a:xfrm>
            <a:off x="476419" y="3209479"/>
            <a:ext cx="466060" cy="493368"/>
            <a:chOff x="0" y="-47625"/>
            <a:chExt cx="812800" cy="860425"/>
          </a:xfrm>
        </p:grpSpPr>
        <p:sp>
          <p:nvSpPr>
            <p:cNvPr id="465" name="Google Shape;465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6150">
              <a:solidFill>
                <a:srgbClr val="2829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8725" lIns="38725" spcFirstLastPara="1" rIns="38725" wrap="square" tIns="38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1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25" lIns="21525" spcFirstLastPara="1" rIns="21525" wrap="square" tIns="21525">
              <a:noAutofit/>
            </a:bodyPr>
            <a:lstStyle/>
            <a:p>
              <a:pPr indent="0" lvl="0" marL="0" marR="0" rtl="0" algn="ctr">
                <a:lnSpc>
                  <a:spcPct val="154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" sz="1300" u="none" cap="none" strike="noStrike">
                  <a:solidFill>
                    <a:srgbClr val="282970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7" name="Google Shape;467;p31"/>
          <p:cNvGrpSpPr/>
          <p:nvPr/>
        </p:nvGrpSpPr>
        <p:grpSpPr>
          <a:xfrm>
            <a:off x="478206" y="2174315"/>
            <a:ext cx="466060" cy="493368"/>
            <a:chOff x="0" y="-47625"/>
            <a:chExt cx="812800" cy="860425"/>
          </a:xfrm>
        </p:grpSpPr>
        <p:sp>
          <p:nvSpPr>
            <p:cNvPr id="468" name="Google Shape;468;p3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6150">
              <a:solidFill>
                <a:srgbClr val="2829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8725" lIns="38725" spcFirstLastPara="1" rIns="38725" wrap="square" tIns="38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1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25" lIns="21525" spcFirstLastPara="1" rIns="21525" wrap="square" tIns="21525">
              <a:noAutofit/>
            </a:bodyPr>
            <a:lstStyle/>
            <a:p>
              <a:pPr indent="0" lvl="0" marL="0" marR="0" rtl="0" algn="ctr">
                <a:lnSpc>
                  <a:spcPct val="154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" sz="1300" u="none" cap="none" strike="noStrike">
                  <a:solidFill>
                    <a:srgbClr val="282970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0" name="Google Shape;470;p31"/>
          <p:cNvSpPr txBox="1"/>
          <p:nvPr/>
        </p:nvSpPr>
        <p:spPr>
          <a:xfrm>
            <a:off x="1147438" y="3234188"/>
            <a:ext cx="727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Seleccionar historias del Product Backlog Historias para el Sprint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1"/>
          <p:cNvSpPr txBox="1"/>
          <p:nvPr/>
        </p:nvSpPr>
        <p:spPr>
          <a:xfrm>
            <a:off x="1147429" y="3523042"/>
            <a:ext cx="6849000" cy="1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equipo decide cuáles historias puede completar en el Sprint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Basándose en: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Prioridad (definida por Product Owner)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Capacidad del equipo (ej: 13 puntos en 2 semanas)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Dependencias entre historias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" name="Google Shape;472;p31"/>
          <p:cNvSpPr txBox="1"/>
          <p:nvPr/>
        </p:nvSpPr>
        <p:spPr>
          <a:xfrm>
            <a:off x="1147439" y="2269639"/>
            <a:ext cx="575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El equipo estima las Historias de Usuario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1"/>
          <p:cNvSpPr txBox="1"/>
          <p:nvPr/>
        </p:nvSpPr>
        <p:spPr>
          <a:xfrm>
            <a:off x="1147429" y="2543944"/>
            <a:ext cx="6849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Usando Planning Poker (Fibonacci: 1, 2, 3, 5, 8, 13...), T-Shirt Sizes (XS, S, M, L, XL)  u otra técnica de estimación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/>
          <p:nvPr/>
        </p:nvSpPr>
        <p:spPr>
          <a:xfrm>
            <a:off x="1788" y="0"/>
            <a:ext cx="914971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479" name="Google Shape;479;p32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32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2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Planning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2" name="Google Shape;482;p32"/>
          <p:cNvGrpSpPr/>
          <p:nvPr/>
        </p:nvGrpSpPr>
        <p:grpSpPr>
          <a:xfrm>
            <a:off x="485127" y="868344"/>
            <a:ext cx="466060" cy="493368"/>
            <a:chOff x="0" y="-47625"/>
            <a:chExt cx="812800" cy="860425"/>
          </a:xfrm>
        </p:grpSpPr>
        <p:sp>
          <p:nvSpPr>
            <p:cNvPr id="483" name="Google Shape;483;p3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6150">
              <a:solidFill>
                <a:srgbClr val="2829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8725" lIns="38725" spcFirstLastPara="1" rIns="38725" wrap="square" tIns="38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2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25" lIns="21525" spcFirstLastPara="1" rIns="21525" wrap="square" tIns="21525">
              <a:noAutofit/>
            </a:bodyPr>
            <a:lstStyle/>
            <a:p>
              <a:pPr indent="0" lvl="0" marL="0" marR="0" rtl="0" algn="ctr">
                <a:lnSpc>
                  <a:spcPct val="154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" sz="1300" u="none" cap="none" strike="noStrike">
                  <a:solidFill>
                    <a:srgbClr val="282970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" name="Google Shape;485;p32"/>
          <p:cNvSpPr txBox="1"/>
          <p:nvPr/>
        </p:nvSpPr>
        <p:spPr>
          <a:xfrm>
            <a:off x="1153634" y="999607"/>
            <a:ext cx="524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Descomponer en tareas técnicas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2"/>
          <p:cNvSpPr txBox="1"/>
          <p:nvPr/>
        </p:nvSpPr>
        <p:spPr>
          <a:xfrm>
            <a:off x="6862575" y="1548075"/>
            <a:ext cx="1905000" cy="3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historia seleccionada se descompone en tareas más pequeñas y estas se colocan en TO-DO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HU-001: Registro de usuario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├── Tarea 1: Diseñar formulario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├── Tarea 2: Crear API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└── Tarea 3: Validaciones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p32" title="Gemini_Generated_Image_bix91ybix91ybix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125" y="1548075"/>
            <a:ext cx="6145364" cy="321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"/>
          <p:cNvSpPr/>
          <p:nvPr/>
        </p:nvSpPr>
        <p:spPr>
          <a:xfrm>
            <a:off x="1788" y="0"/>
            <a:ext cx="914971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493" name="Google Shape;493;p33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4" name="Google Shape;494;p33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3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Planning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6" name="Google Shape;496;p33"/>
          <p:cNvGrpSpPr/>
          <p:nvPr/>
        </p:nvGrpSpPr>
        <p:grpSpPr>
          <a:xfrm>
            <a:off x="485127" y="868344"/>
            <a:ext cx="466060" cy="493368"/>
            <a:chOff x="0" y="-47625"/>
            <a:chExt cx="812800" cy="860425"/>
          </a:xfrm>
        </p:grpSpPr>
        <p:sp>
          <p:nvSpPr>
            <p:cNvPr id="497" name="Google Shape;497;p3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6150">
              <a:solidFill>
                <a:srgbClr val="2829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8725" lIns="38725" spcFirstLastPara="1" rIns="38725" wrap="square" tIns="38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3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1525" lIns="21525" spcFirstLastPara="1" rIns="21525" wrap="square" tIns="21525">
              <a:noAutofit/>
            </a:bodyPr>
            <a:lstStyle/>
            <a:p>
              <a:pPr indent="0" lvl="0" marL="0" marR="0" rtl="0" algn="ctr">
                <a:lnSpc>
                  <a:spcPct val="154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s" sz="1300" u="none" cap="none" strike="noStrike">
                  <a:solidFill>
                    <a:srgbClr val="282970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  <a:endParaRPr b="0" i="0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33"/>
          <p:cNvSpPr txBox="1"/>
          <p:nvPr/>
        </p:nvSpPr>
        <p:spPr>
          <a:xfrm>
            <a:off x="1153634" y="999607"/>
            <a:ext cx="5242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 Asignación inicial tentativa de tareas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3"/>
          <p:cNvSpPr txBox="1"/>
          <p:nvPr/>
        </p:nvSpPr>
        <p:spPr>
          <a:xfrm>
            <a:off x="6862575" y="1548075"/>
            <a:ext cx="19050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El equipo puede asignar tareas de forma TENTATIVA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el Sprint, pueden cambiar según necesidad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Ana: "Yo tomo el diseño (T-001.3) y la pantalla (T-001.4)"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1" name="Google Shape;501;p33" title="g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613" y="1548075"/>
            <a:ext cx="6086062" cy="318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4"/>
          <p:cNvSpPr/>
          <p:nvPr/>
        </p:nvSpPr>
        <p:spPr>
          <a:xfrm>
            <a:off x="4" y="336175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507" name="Google Shape;507;p34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p34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4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Planning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" name="Google Shape;510;p34"/>
          <p:cNvGrpSpPr/>
          <p:nvPr/>
        </p:nvGrpSpPr>
        <p:grpSpPr>
          <a:xfrm>
            <a:off x="403496" y="1045772"/>
            <a:ext cx="550347" cy="582594"/>
            <a:chOff x="0" y="-47625"/>
            <a:chExt cx="812800" cy="860425"/>
          </a:xfrm>
        </p:grpSpPr>
        <p:sp>
          <p:nvSpPr>
            <p:cNvPr id="511" name="Google Shape;511;p3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28297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4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4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s" sz="1500" u="none" cap="none" strike="noStrike">
                  <a:solidFill>
                    <a:srgbClr val="282970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p34"/>
          <p:cNvSpPr txBox="1"/>
          <p:nvPr/>
        </p:nvSpPr>
        <p:spPr>
          <a:xfrm>
            <a:off x="1103476" y="1245488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Equipo se compromete con el Sprint Goal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1103472" y="1534336"/>
            <a:ext cx="6849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Scrum Master: "¿El equipo se compromete a completar HU-001 y HU-002 en estas 2 semanas?"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-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Equipo: "Sí, estamos comprometidos."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860696" y="3250913"/>
            <a:ext cx="7694100" cy="1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mueven el PRIMER DÍA (Al final del Planning)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developer toma 1-2 tareas de TO-DO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 mueve a IN PROGRESS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Empieza a trabajar inmediatamente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Ejemplo 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2286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Luis: "Yo empiezo con T-001.2" [Arrastra T-001.2 de TO-DO → IN PROGRESS]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860689" y="2891463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¿Cuándo empiezan a moverse a IN PROGRESS?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5"/>
          <p:cNvSpPr/>
          <p:nvPr/>
        </p:nvSpPr>
        <p:spPr>
          <a:xfrm>
            <a:off x="-154383" y="0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522" name="Google Shape;522;p35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35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5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Planning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35" title="Gemini_Generated_Image_is8sq2is8sq2is8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893856"/>
            <a:ext cx="67056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6"/>
          <p:cNvSpPr/>
          <p:nvPr/>
        </p:nvSpPr>
        <p:spPr>
          <a:xfrm>
            <a:off x="-152596" y="0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531" name="Google Shape;531;p36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2" name="Google Shape;532;p36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Daily Scrum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6"/>
          <p:cNvSpPr txBox="1"/>
          <p:nvPr/>
        </p:nvSpPr>
        <p:spPr>
          <a:xfrm>
            <a:off x="833050" y="1263875"/>
            <a:ext cx="620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5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4A9B"/>
              </a:buClr>
              <a:buSzPts val="1500"/>
              <a:buFont typeface="Poppins"/>
              <a:buAutoNum type="arabicPeriod"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Actualizar el tablero ¿Cuándo se hace esto?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6"/>
          <p:cNvSpPr txBox="1"/>
          <p:nvPr/>
        </p:nvSpPr>
        <p:spPr>
          <a:xfrm>
            <a:off x="833047" y="1552718"/>
            <a:ext cx="68490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OPCIÓN 1: ANTES de la Daily 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persona actualiza su tablero 5-10 min antes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la Daily, el tablero YA refleja el estado real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 reunión es más rápida y visual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OPCIÓN 2: DURANTE la Daily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Cada persona mueve las tarjetas MIENTRAS habla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Más visual pero la reunión puede ser más larga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6"/>
          <p:cNvSpPr txBox="1"/>
          <p:nvPr/>
        </p:nvSpPr>
        <p:spPr>
          <a:xfrm>
            <a:off x="827807" y="3474434"/>
            <a:ext cx="610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2. Cada miembro responde 3 preguntas SEÑALANDO el tablero: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1144919" y="3874497"/>
            <a:ext cx="72648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"¿Qué hice ayer?" </a:t>
            </a: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Señala las tareas que movió a TEST/QA o DONE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"¿Qué haré hoy?" </a:t>
            </a: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Señala las tareas que están en IN PROGRESS o que tomará de TO-DO 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"¿Tengo impedimentos?"</a:t>
            </a: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 hay bloqueo, MUEVE la tarea a "BLOCKED"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/>
          <p:nvPr/>
        </p:nvSpPr>
        <p:spPr>
          <a:xfrm>
            <a:off x="-152596" y="0"/>
            <a:ext cx="930263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543" name="Google Shape;543;p37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4" name="Google Shape;544;p37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7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Daily Scrum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7"/>
          <p:cNvSpPr txBox="1"/>
          <p:nvPr/>
        </p:nvSpPr>
        <p:spPr>
          <a:xfrm>
            <a:off x="224113" y="1010869"/>
            <a:ext cx="2353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" sz="13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EJEMPLO DE DAILY</a:t>
            </a:r>
            <a:endParaRPr b="1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7"/>
          <p:cNvSpPr txBox="1"/>
          <p:nvPr/>
        </p:nvSpPr>
        <p:spPr>
          <a:xfrm>
            <a:off x="6373838" y="1122938"/>
            <a:ext cx="2414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05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-"/>
            </a:pPr>
            <a:r>
              <a:rPr b="1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Ana: "</a:t>
            </a:r>
            <a:r>
              <a:rPr b="0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Ayer terminé el diseño del formulario (T-001.1). Hoy voy a implementar la pantalla del menú (T-001.4). Sin bloqueos." 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-"/>
            </a:pPr>
            <a:r>
              <a:rPr b="1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Luis: </a:t>
            </a:r>
            <a:r>
              <a:rPr b="0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"Ayer trabajé en el API (T-001.3) pero me bloqueé porque no tengo acceso a la base de datos de prueba." [Mueve T-001.3 de IN PROGRESS → BLOCKED ] 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05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oppins"/>
              <a:buChar char="-"/>
            </a:pPr>
            <a:r>
              <a:rPr b="1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Carla (Scrum Master)</a:t>
            </a:r>
            <a:r>
              <a:rPr b="0" i="0" lang="es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"Ok Luis, yo te consigo el acceso hoy en la mañana. Mientras tanto, ¿puedes ayudar a Pedro con testing?"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8" name="Google Shape;548;p37" title="Gemini_Generated_Image_kh2rgfkh2rgfkh2r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083" y="1456339"/>
            <a:ext cx="6039275" cy="315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8"/>
          <p:cNvSpPr/>
          <p:nvPr/>
        </p:nvSpPr>
        <p:spPr>
          <a:xfrm>
            <a:off x="1788" y="0"/>
            <a:ext cx="914971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554" name="Google Shape;554;p38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5" name="Google Shape;555;p38"/>
          <p:cNvSpPr/>
          <p:nvPr/>
        </p:nvSpPr>
        <p:spPr>
          <a:xfrm>
            <a:off x="-16028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-18519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Review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8"/>
          <p:cNvSpPr txBox="1"/>
          <p:nvPr/>
        </p:nvSpPr>
        <p:spPr>
          <a:xfrm>
            <a:off x="833050" y="1263875"/>
            <a:ext cx="620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QUÉ SE HACE CON EL TABLERO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833047" y="1552718"/>
            <a:ext cx="68490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Product Owner presenta lo que está en "DONE"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muestra sada historia completada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verifica que cumple criterios de aceptación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DECIDE QUÉ HACER CON LO QUE NO SE TERMINÓ: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 una tarea quedó en "IN PROGRESS" o "TEST/QA"  Se re-prioriza para el próximo Sprint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9"/>
          <p:cNvSpPr/>
          <p:nvPr/>
        </p:nvSpPr>
        <p:spPr>
          <a:xfrm>
            <a:off x="1788" y="0"/>
            <a:ext cx="9149713" cy="5239274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0"/>
            </a:srgbClr>
          </a:solidFill>
          <a:ln>
            <a:noFill/>
          </a:ln>
        </p:spPr>
      </p:sp>
      <p:sp>
        <p:nvSpPr>
          <p:cNvPr descr="Round Circle Dots" id="564" name="Google Shape;564;p39"/>
          <p:cNvSpPr/>
          <p:nvPr/>
        </p:nvSpPr>
        <p:spPr>
          <a:xfrm>
            <a:off x="5043955" y="-2004381"/>
            <a:ext cx="2414492" cy="2410102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5" name="Google Shape;565;p39"/>
          <p:cNvSpPr txBox="1"/>
          <p:nvPr/>
        </p:nvSpPr>
        <p:spPr>
          <a:xfrm>
            <a:off x="243838" y="1360500"/>
            <a:ext cx="648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Review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9"/>
          <p:cNvSpPr txBox="1"/>
          <p:nvPr/>
        </p:nvSpPr>
        <p:spPr>
          <a:xfrm>
            <a:off x="833050" y="1170488"/>
            <a:ext cx="620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QUÉ SE HACE CON EL TABLERO: Se analiza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9"/>
          <p:cNvSpPr txBox="1"/>
          <p:nvPr/>
        </p:nvSpPr>
        <p:spPr>
          <a:xfrm>
            <a:off x="833047" y="1552717"/>
            <a:ext cx="68490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COLUMNA "DONE"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¿Cuántas historias/tareas completamos?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¿Fue más o menos de lo planeado?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COLUMNA "BLOCKED"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¿Qué se bloqueó durante el Sprint?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¿Por qué?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¿Cómo evitarlo en el próximo Sprint?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COLUMNA "IN PROGRESS"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¿Hubo tareas que se quedaron mucho tiempo aquí?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¿Por qué no avanzaron?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●"/>
            </a:pPr>
            <a:r>
              <a:rPr b="1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FLUJO GENERAL</a:t>
            </a:r>
            <a:endParaRPr b="1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¿Las tareas fluyeron bien de izquierda a derecha?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9685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oppins"/>
              <a:buChar char="○"/>
            </a:pPr>
            <a:r>
              <a:rPr b="0" i="0" lang="es" sz="13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¿Hubo cuellos de botella? (muchas tareas en una columna)</a:t>
            </a:r>
            <a:endParaRPr b="0" i="0" sz="13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-1135962" y="0"/>
            <a:ext cx="7132200" cy="561900"/>
          </a:xfrm>
          <a:prstGeom prst="parallelogram">
            <a:avLst>
              <a:gd fmla="val 25000" name="adj"/>
            </a:avLst>
          </a:prstGeom>
          <a:solidFill>
            <a:schemeClr val="dk2"/>
          </a:solidFill>
          <a:ln cap="flat" cmpd="sng" w="4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9"/>
          <p:cNvSpPr txBox="1"/>
          <p:nvPr/>
        </p:nvSpPr>
        <p:spPr>
          <a:xfrm>
            <a:off x="-1385009" y="84595"/>
            <a:ext cx="8115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1" lang="es" sz="2300" u="none" cap="none" strike="noStrike">
                <a:solidFill>
                  <a:srgbClr val="EDEDED"/>
                </a:solidFill>
                <a:latin typeface="Poppins"/>
                <a:ea typeface="Poppins"/>
                <a:cs typeface="Poppins"/>
                <a:sym typeface="Poppins"/>
              </a:rPr>
              <a:t>DURANTE el Sprint Retrospective</a:t>
            </a:r>
            <a:endParaRPr b="0" i="0" sz="100" u="none" cap="none" strike="noStrike">
              <a:solidFill>
                <a:srgbClr val="EDEDE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0"/>
          <p:cNvSpPr txBox="1"/>
          <p:nvPr/>
        </p:nvSpPr>
        <p:spPr>
          <a:xfrm>
            <a:off x="1368484" y="2176108"/>
            <a:ext cx="6407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MANEJO MI TABLERO?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1"/>
          <p:cNvSpPr/>
          <p:nvPr/>
        </p:nvSpPr>
        <p:spPr>
          <a:xfrm>
            <a:off x="4988107" y="1547566"/>
            <a:ext cx="3641543" cy="2048368"/>
          </a:xfrm>
          <a:custGeom>
            <a:rect b="b" l="l" r="r" t="t"/>
            <a:pathLst>
              <a:path extrusionOk="0" h="4096736" w="7283087">
                <a:moveTo>
                  <a:pt x="0" y="0"/>
                </a:moveTo>
                <a:lnTo>
                  <a:pt x="7283087" y="0"/>
                </a:lnTo>
                <a:lnTo>
                  <a:pt x="7283087" y="4096736"/>
                </a:lnTo>
                <a:lnTo>
                  <a:pt x="0" y="4096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0" name="Google Shape;580;p41"/>
          <p:cNvGrpSpPr/>
          <p:nvPr/>
        </p:nvGrpSpPr>
        <p:grpSpPr>
          <a:xfrm>
            <a:off x="775149" y="1329373"/>
            <a:ext cx="3932775" cy="2664798"/>
            <a:chOff x="0" y="-9525"/>
            <a:chExt cx="10487400" cy="7106127"/>
          </a:xfrm>
        </p:grpSpPr>
        <p:sp>
          <p:nvSpPr>
            <p:cNvPr id="581" name="Google Shape;581;p41"/>
            <p:cNvSpPr txBox="1"/>
            <p:nvPr/>
          </p:nvSpPr>
          <p:spPr>
            <a:xfrm>
              <a:off x="0" y="-9525"/>
              <a:ext cx="10487400" cy="17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rPr b="1" i="0" lang="es" sz="4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TRELLO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1"/>
            <p:cNvSpPr txBox="1"/>
            <p:nvPr/>
          </p:nvSpPr>
          <p:spPr>
            <a:xfrm>
              <a:off x="0" y="2465502"/>
              <a:ext cx="10487400" cy="46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Trello, el enfoque es más visual, simple y flexible. Cada columna del tablero puede representarse como una "lista", y cada tarea como una "tarjeta".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Trello permite mover fácilmente las tarjetas entre columnas, lo que facilita el seguimiento visual del flujo de trabajo.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/>
          <p:nvPr/>
        </p:nvSpPr>
        <p:spPr>
          <a:xfrm>
            <a:off x="5161478" y="2156237"/>
            <a:ext cx="3468172" cy="1360068"/>
          </a:xfrm>
          <a:custGeom>
            <a:rect b="b" l="l" r="r" t="t"/>
            <a:pathLst>
              <a:path extrusionOk="0" h="2720135" w="6936344">
                <a:moveTo>
                  <a:pt x="0" y="0"/>
                </a:moveTo>
                <a:lnTo>
                  <a:pt x="6936344" y="0"/>
                </a:lnTo>
                <a:lnTo>
                  <a:pt x="6936344" y="2720135"/>
                </a:lnTo>
                <a:lnTo>
                  <a:pt x="0" y="2720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88" name="Google Shape;588;p42"/>
          <p:cNvGrpSpPr/>
          <p:nvPr/>
        </p:nvGrpSpPr>
        <p:grpSpPr>
          <a:xfrm>
            <a:off x="775149" y="1329373"/>
            <a:ext cx="3932775" cy="2923548"/>
            <a:chOff x="0" y="-9525"/>
            <a:chExt cx="10487400" cy="7796127"/>
          </a:xfrm>
        </p:grpSpPr>
        <p:sp>
          <p:nvSpPr>
            <p:cNvPr id="589" name="Google Shape;589;p42"/>
            <p:cNvSpPr txBox="1"/>
            <p:nvPr/>
          </p:nvSpPr>
          <p:spPr>
            <a:xfrm>
              <a:off x="0" y="-9525"/>
              <a:ext cx="10487400" cy="17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rPr b="1" i="0" lang="es" sz="4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JIRA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2"/>
            <p:cNvSpPr txBox="1"/>
            <p:nvPr/>
          </p:nvSpPr>
          <p:spPr>
            <a:xfrm>
              <a:off x="0" y="2465502"/>
              <a:ext cx="10487400" cy="532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Jira está orientado específicamente al trabajo ágil y ofrece una estructura más robusta y configurable. Es ideal para equipos que necesitan seguimiento detallado, reportes automáticos y métricas.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 Jira, se puede configurar un tablero tipo Kanban y añadir las columnas necesarias siguiendo la lógica de Scrumban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43"/>
          <p:cNvGrpSpPr/>
          <p:nvPr/>
        </p:nvGrpSpPr>
        <p:grpSpPr>
          <a:xfrm>
            <a:off x="709786" y="582320"/>
            <a:ext cx="4492689" cy="3942802"/>
            <a:chOff x="0" y="-9525"/>
            <a:chExt cx="11980504" cy="10514140"/>
          </a:xfrm>
        </p:grpSpPr>
        <p:sp>
          <p:nvSpPr>
            <p:cNvPr id="596" name="Google Shape;596;p43"/>
            <p:cNvSpPr txBox="1"/>
            <p:nvPr/>
          </p:nvSpPr>
          <p:spPr>
            <a:xfrm>
              <a:off x="0" y="-9525"/>
              <a:ext cx="10487400" cy="17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300"/>
                <a:buFont typeface="Arial"/>
                <a:buNone/>
              </a:pPr>
              <a:r>
                <a:rPr b="1" i="0" lang="es" sz="4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ClickUp</a:t>
              </a:r>
              <a:endParaRPr b="0" i="0" sz="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3"/>
            <p:cNvSpPr txBox="1"/>
            <p:nvPr/>
          </p:nvSpPr>
          <p:spPr>
            <a:xfrm>
              <a:off x="4" y="2465515"/>
              <a:ext cx="11980500" cy="80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ClickUp es una plataforma todo-en-uno que combina gestión de proyectos, documentos, objetivos y comunicación en un solo lugar. 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 ideal para equipos que trabajan con Scrumban porque ofrece: 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84150" lvl="0" marL="22860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●"/>
              </a:pPr>
              <a:r>
                <a:rPr b="0" i="0" lang="e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Vistas múltiples: Board (Kanban), List, Calendar, Gantt 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84150" lvl="0" marL="22860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●"/>
              </a:pPr>
              <a:r>
                <a:rPr b="0" i="0" lang="e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Automatizaciones: Mover tareas automáticamente según condiciones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84150" lvl="0" marL="22860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●"/>
              </a:pPr>
              <a:r>
                <a:rPr b="0" i="0" lang="e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Custom Fields: Agregar campos personalizados (Story Points, Sprint, etc.) Dependencias visuales: Ver qué tareas bloquean a otras  Integración con Slack, GitHub, Figma, etc. 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22860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VENTAJA CLAVE: No necesitas cambiar de herramienta entre el Board, la documentación y la comunicación del equipo.</a:t>
              </a:r>
              <a:endPara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8" name="Google Shape;5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2791" y="1173400"/>
            <a:ext cx="2777375" cy="24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4"/>
          <p:cNvSpPr/>
          <p:nvPr/>
        </p:nvSpPr>
        <p:spPr>
          <a:xfrm>
            <a:off x="1746686" y="273722"/>
            <a:ext cx="5650630" cy="776962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4" name="Google Shape;604;p44"/>
          <p:cNvSpPr/>
          <p:nvPr/>
        </p:nvSpPr>
        <p:spPr>
          <a:xfrm>
            <a:off x="588413" y="1171175"/>
            <a:ext cx="8180784" cy="3439697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5" name="Google Shape;605;p44"/>
          <p:cNvSpPr txBox="1"/>
          <p:nvPr/>
        </p:nvSpPr>
        <p:spPr>
          <a:xfrm>
            <a:off x="785863" y="1425675"/>
            <a:ext cx="7785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2400" lvl="1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Tanto en Scrumban como en las herramientas que lo soportan (Trello,Jira o ClickUp), el enfoque visual y ordenado del flujo permite que todos los miembros del equipo comprendan en qué estado se encuentra cada tarea y facilitando la toma de decisiones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107950" lvl="1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•"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Cada miembro del equipo asume un rol activo en la selección, ejecución, validación y finalización de tareas, lo que fomenta una cultura de compromiso colectivo.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5"/>
          <p:cNvSpPr/>
          <p:nvPr/>
        </p:nvSpPr>
        <p:spPr>
          <a:xfrm>
            <a:off x="1158508" y="260483"/>
            <a:ext cx="6826983" cy="936976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1" name="Google Shape;611;p45"/>
          <p:cNvSpPr/>
          <p:nvPr/>
        </p:nvSpPr>
        <p:spPr>
          <a:xfrm>
            <a:off x="994550" y="1064324"/>
            <a:ext cx="7154911" cy="3413787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2" name="Google Shape;612;p45"/>
          <p:cNvSpPr txBox="1"/>
          <p:nvPr/>
        </p:nvSpPr>
        <p:spPr>
          <a:xfrm>
            <a:off x="1128450" y="1413563"/>
            <a:ext cx="68871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s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https://trello.com/tour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s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6"/>
              </a:rPr>
              <a:t>https://www.atlassian.com/es/software/jira/guides/getting-started/introduction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Char char="●"/>
            </a:pPr>
            <a:r>
              <a:rPr b="1" lang="es" sz="11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7"/>
              </a:rPr>
              <a:t>https://clickup.com/general-resources/guides-and-reports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6"/>
          <p:cNvSpPr/>
          <p:nvPr/>
        </p:nvSpPr>
        <p:spPr>
          <a:xfrm>
            <a:off x="0" y="0"/>
            <a:ext cx="9144000" cy="364617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7"/>
          <p:cNvSpPr/>
          <p:nvPr/>
        </p:nvSpPr>
        <p:spPr>
          <a:xfrm>
            <a:off x="0" y="0"/>
            <a:ext cx="9144000" cy="310896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8"/>
          <p:cNvSpPr/>
          <p:nvPr/>
        </p:nvSpPr>
        <p:spPr>
          <a:xfrm>
            <a:off x="0" y="0"/>
            <a:ext cx="9144000" cy="513207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8" name="Google Shape;628;p48"/>
          <p:cNvSpPr txBox="1"/>
          <p:nvPr/>
        </p:nvSpPr>
        <p:spPr>
          <a:xfrm>
            <a:off x="2827535" y="83353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29" name="Google Shape;629;p48"/>
          <p:cNvSpPr txBox="1"/>
          <p:nvPr/>
        </p:nvSpPr>
        <p:spPr>
          <a:xfrm>
            <a:off x="2827535" y="123022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0" name="Google Shape;630;p48"/>
          <p:cNvSpPr txBox="1"/>
          <p:nvPr/>
        </p:nvSpPr>
        <p:spPr>
          <a:xfrm>
            <a:off x="2827535" y="1737654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1" name="Google Shape;631;p48"/>
          <p:cNvSpPr txBox="1"/>
          <p:nvPr/>
        </p:nvSpPr>
        <p:spPr>
          <a:xfrm>
            <a:off x="6976544" y="1045629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2" name="Google Shape;632;p48"/>
          <p:cNvSpPr txBox="1"/>
          <p:nvPr/>
        </p:nvSpPr>
        <p:spPr>
          <a:xfrm>
            <a:off x="6976544" y="144231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3" name="Google Shape;633;p48"/>
          <p:cNvSpPr txBox="1"/>
          <p:nvPr/>
        </p:nvSpPr>
        <p:spPr>
          <a:xfrm>
            <a:off x="6976544" y="184014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4" name="Google Shape;634;p48"/>
          <p:cNvSpPr txBox="1"/>
          <p:nvPr/>
        </p:nvSpPr>
        <p:spPr>
          <a:xfrm>
            <a:off x="138615" y="25431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5" name="Google Shape;635;p48"/>
          <p:cNvSpPr txBox="1"/>
          <p:nvPr/>
        </p:nvSpPr>
        <p:spPr>
          <a:xfrm>
            <a:off x="138615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6" name="Google Shape;636;p48"/>
          <p:cNvSpPr txBox="1"/>
          <p:nvPr/>
        </p:nvSpPr>
        <p:spPr>
          <a:xfrm>
            <a:off x="138615" y="331004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7" name="Google Shape;637;p48"/>
          <p:cNvSpPr txBox="1"/>
          <p:nvPr/>
        </p:nvSpPr>
        <p:spPr>
          <a:xfrm>
            <a:off x="138615" y="380020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8" name="Google Shape;638;p48"/>
          <p:cNvSpPr txBox="1"/>
          <p:nvPr/>
        </p:nvSpPr>
        <p:spPr>
          <a:xfrm>
            <a:off x="138615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39" name="Google Shape;639;p48"/>
          <p:cNvSpPr txBox="1"/>
          <p:nvPr/>
        </p:nvSpPr>
        <p:spPr>
          <a:xfrm>
            <a:off x="138615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0" name="Google Shape;640;p48"/>
          <p:cNvSpPr txBox="1"/>
          <p:nvPr/>
        </p:nvSpPr>
        <p:spPr>
          <a:xfrm>
            <a:off x="3203269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1" name="Google Shape;641;p48"/>
          <p:cNvSpPr txBox="1"/>
          <p:nvPr/>
        </p:nvSpPr>
        <p:spPr>
          <a:xfrm>
            <a:off x="3203269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2" name="Google Shape;642;p48"/>
          <p:cNvSpPr txBox="1"/>
          <p:nvPr/>
        </p:nvSpPr>
        <p:spPr>
          <a:xfrm>
            <a:off x="3203269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3" name="Google Shape;643;p48"/>
          <p:cNvSpPr txBox="1"/>
          <p:nvPr/>
        </p:nvSpPr>
        <p:spPr>
          <a:xfrm>
            <a:off x="3203269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4" name="Google Shape;644;p48"/>
          <p:cNvSpPr txBox="1"/>
          <p:nvPr/>
        </p:nvSpPr>
        <p:spPr>
          <a:xfrm>
            <a:off x="3203269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5" name="Google Shape;645;p48"/>
          <p:cNvSpPr txBox="1"/>
          <p:nvPr/>
        </p:nvSpPr>
        <p:spPr>
          <a:xfrm>
            <a:off x="3203269" y="460057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6" name="Google Shape;646;p48"/>
          <p:cNvSpPr txBox="1"/>
          <p:nvPr/>
        </p:nvSpPr>
        <p:spPr>
          <a:xfrm>
            <a:off x="6269313" y="25374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7" name="Google Shape;647;p48"/>
          <p:cNvSpPr txBox="1"/>
          <p:nvPr/>
        </p:nvSpPr>
        <p:spPr>
          <a:xfrm>
            <a:off x="6269313" y="2926505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8" name="Google Shape;648;p48"/>
          <p:cNvSpPr txBox="1"/>
          <p:nvPr/>
        </p:nvSpPr>
        <p:spPr>
          <a:xfrm>
            <a:off x="6269313" y="3324332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49" name="Google Shape;649;p48"/>
          <p:cNvSpPr txBox="1"/>
          <p:nvPr/>
        </p:nvSpPr>
        <p:spPr>
          <a:xfrm>
            <a:off x="6269313" y="372216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50" name="Google Shape;650;p48"/>
          <p:cNvSpPr txBox="1"/>
          <p:nvPr/>
        </p:nvSpPr>
        <p:spPr>
          <a:xfrm>
            <a:off x="6269313" y="4183743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  <p:sp>
        <p:nvSpPr>
          <p:cNvPr id="651" name="Google Shape;651;p48"/>
          <p:cNvSpPr txBox="1"/>
          <p:nvPr/>
        </p:nvSpPr>
        <p:spPr>
          <a:xfrm>
            <a:off x="6269313" y="4581570"/>
            <a:ext cx="7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sz="7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9"/>
          <p:cNvSpPr/>
          <p:nvPr/>
        </p:nvSpPr>
        <p:spPr>
          <a:xfrm>
            <a:off x="1746686" y="-295768"/>
            <a:ext cx="5650630" cy="255691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7" name="Google Shape;657;p49"/>
          <p:cNvSpPr/>
          <p:nvPr/>
        </p:nvSpPr>
        <p:spPr>
          <a:xfrm>
            <a:off x="1098849" y="1746435"/>
            <a:ext cx="6946302" cy="2882716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8" name="Google Shape;658;p49"/>
          <p:cNvSpPr txBox="1"/>
          <p:nvPr/>
        </p:nvSpPr>
        <p:spPr>
          <a:xfrm>
            <a:off x="1290197" y="2230813"/>
            <a:ext cx="65637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2400" lvl="1" marL="3048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s">
                <a:latin typeface="Open Sans"/>
                <a:ea typeface="Open Sans"/>
                <a:cs typeface="Open Sans"/>
                <a:sym typeface="Open Sans"/>
              </a:rPr>
              <a:t>https://www.youtube.com/watch?v=qouaRl5JU4Q&amp;feature=youtu.be</a:t>
            </a:r>
            <a:endParaRPr sz="700"/>
          </a:p>
          <a:p>
            <a:pPr indent="0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45720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"/>
          <p:cNvSpPr/>
          <p:nvPr/>
        </p:nvSpPr>
        <p:spPr>
          <a:xfrm>
            <a:off x="1930841" y="297649"/>
            <a:ext cx="5282318" cy="4331501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/>
          <p:cNvSpPr/>
          <p:nvPr/>
        </p:nvSpPr>
        <p:spPr>
          <a:xfrm>
            <a:off x="407222" y="0"/>
            <a:ext cx="8329555" cy="51435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