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Lst>
  <p:sldSz cy="10287000" cx="18288000"/>
  <p:notesSz cx="6858000" cy="9144000"/>
  <p:embeddedFontLst>
    <p:embeddedFont>
      <p:font typeface="Poppins"/>
      <p:regular r:id="rId61"/>
      <p:bold r:id="rId62"/>
      <p:italic r:id="rId63"/>
      <p:boldItalic r:id="rId64"/>
    </p:embeddedFont>
    <p:embeddedFont>
      <p:font typeface="Montserrat"/>
      <p:bold r:id="rId65"/>
      <p:boldItalic r:id="rId66"/>
    </p:embeddedFont>
    <p:embeddedFont>
      <p:font typeface="Open Sans"/>
      <p:regular r:id="rId67"/>
      <p:bold r:id="rId68"/>
      <p:italic r:id="rId69"/>
      <p:boldItalic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71" roundtripDataSignature="AMtx7mjmNXDz+7Lb6weJghNjVvgNzQSq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672B294-9F4D-4053-8CF6-60F6C0413512}">
  <a:tblStyle styleId="{5672B294-9F4D-4053-8CF6-60F6C041351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customschemas.google.com/relationships/presentationmetadata" Target="metadata"/><Relationship Id="rId70" Type="http://schemas.openxmlformats.org/officeDocument/2006/relationships/font" Target="fonts/OpenSans-bold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Poppins-bold.fntdata"/><Relationship Id="rId61" Type="http://schemas.openxmlformats.org/officeDocument/2006/relationships/font" Target="fonts/Poppins-regular.fntdata"/><Relationship Id="rId20" Type="http://schemas.openxmlformats.org/officeDocument/2006/relationships/slide" Target="slides/slide14.xml"/><Relationship Id="rId64" Type="http://schemas.openxmlformats.org/officeDocument/2006/relationships/font" Target="fonts/Poppins-boldItalic.fntdata"/><Relationship Id="rId63" Type="http://schemas.openxmlformats.org/officeDocument/2006/relationships/font" Target="fonts/Poppins-italic.fntdata"/><Relationship Id="rId22" Type="http://schemas.openxmlformats.org/officeDocument/2006/relationships/slide" Target="slides/slide16.xml"/><Relationship Id="rId66" Type="http://schemas.openxmlformats.org/officeDocument/2006/relationships/font" Target="fonts/Montserrat-boldItalic.fntdata"/><Relationship Id="rId21" Type="http://schemas.openxmlformats.org/officeDocument/2006/relationships/slide" Target="slides/slide15.xml"/><Relationship Id="rId65" Type="http://schemas.openxmlformats.org/officeDocument/2006/relationships/font" Target="fonts/Montserrat-bold.fntdata"/><Relationship Id="rId24" Type="http://schemas.openxmlformats.org/officeDocument/2006/relationships/slide" Target="slides/slide18.xml"/><Relationship Id="rId68" Type="http://schemas.openxmlformats.org/officeDocument/2006/relationships/font" Target="fonts/OpenSans-bold.fntdata"/><Relationship Id="rId23" Type="http://schemas.openxmlformats.org/officeDocument/2006/relationships/slide" Target="slides/slide17.xml"/><Relationship Id="rId67" Type="http://schemas.openxmlformats.org/officeDocument/2006/relationships/font" Target="fonts/OpenSans-regular.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OpenSans-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9ab1374e1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g39ab1374e1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9ab1374e1b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 name="Google Shape;95;g39ab1374e1b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9ab1374e1b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g39ab1374e1b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9ab1374e1b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 name="Google Shape;119;g39ab1374e1b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9ab1374e1b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g39ab1374e1b_0_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9ab1374e1b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g39ab1374e1b_0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9ab1374e1b_0_1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g39ab1374e1b_0_1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9ab1374e1b_0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g39ab1374e1b_0_1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9ab1374e1b_0_1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g39ab1374e1b_0_1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9ab1374e1b_0_1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6" name="Google Shape;176;g39ab1374e1b_0_1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9ab1374e1b_0_1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g39ab1374e1b_0_1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9ab1374e1b_0_1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g39ab1374e1b_0_1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9ab1374e1b_0_2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7" name="Google Shape;237;g39ab1374e1b_0_2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9ab1374e1b_0_2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2" name="Google Shape;242;g39ab1374e1b_0_2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9ab1374e1b_0_2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8" name="Google Shape;258;g39ab1374e1b_0_2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9ab1374e1b_0_2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3" name="Google Shape;273;g39ab1374e1b_0_2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9ab1374e1b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g39ab1374e1b_0_2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9ab1374e1b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g39ab1374e1b_0_2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9ab1374e1b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g39ab1374e1b_0_2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9ab1374e1b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g39ab1374e1b_0_3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9ab1374e1b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g39ab1374e1b_0_3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9ab1374e1b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g39ab1374e1b_0_3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9ab1374e1b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g39ab1374e1b_0_3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9ab1374e1b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g39ab1374e1b_0_3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9ab1374e1b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g39ab1374e1b_0_3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9ab1374e1b_0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g39ab1374e1b_0_3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9ab1374e1b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g39ab1374e1b_0_3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9ab1374e1b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g39ab1374e1b_0_3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9ab1374e1b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g39ab1374e1b_0_3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9ab1374e1b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g39ab1374e1b_0_3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9ab1374e1b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g39ab1374e1b_0_3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9ab1374e1b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g39ab1374e1b_0_3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9ab1374e1b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g39ab1374e1b_0_3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9ab1374e1b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g39ab1374e1b_0_4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9ab1374e1b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g39ab1374e1b_0_4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9ab1374e1b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g39ab1374e1b_0_4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9ab1374e1b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g39ab1374e1b_0_4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9ab1374e1b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g39ab1374e1b_0_4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9ab1374e1b_0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g39ab1374e1b_0_4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9ab1374e1b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g39ab1374e1b_0_4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9ab1374e1b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g39ab1374e1b_0_4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9ab1374e1b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g39ab1374e1b_0_4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9ab1374e1b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g39ab1374e1b_0_4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9ab1374e1b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g39ab1374e1b_0_4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9ab1374e1b_0_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g39ab1374e1b_0_4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5" name="Google Shape;53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9ab1374e1b_0_5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2" name="Google Shape;542;g39ab1374e1b_0_5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9" name="Google Shape;54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6" name="Google Shape;55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1" name="Google Shape;56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6" name="Google Shape;56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9ab1374e1b_0_5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5" name="Google Shape;595;g39ab1374e1b_0_5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2" name="Google Shape;60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7" name="Google Shape;60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p:nvPr>
            <p:ph idx="2" type="pic"/>
          </p:nvPr>
        </p:nvSpPr>
        <p:spPr>
          <a:xfrm>
            <a:off x="1792288" y="612775"/>
            <a:ext cx="5486400" cy="4114800"/>
          </a:xfrm>
          <a:prstGeom prst="rect">
            <a:avLst/>
          </a:prstGeom>
          <a:noFill/>
          <a:ln>
            <a:noFill/>
          </a:ln>
        </p:spPr>
      </p:sp>
      <p:sp>
        <p:nvSpPr>
          <p:cNvPr id="64" name="Google Shape;64;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13.png"/><Relationship Id="rId5"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1.png"/><Relationship Id="rId4" Type="http://schemas.openxmlformats.org/officeDocument/2006/relationships/image" Target="../media/image16.png"/><Relationship Id="rId5" Type="http://schemas.openxmlformats.org/officeDocument/2006/relationships/image" Target="../media/image19.png"/><Relationship Id="rId6"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6.png"/><Relationship Id="rId4" Type="http://schemas.openxmlformats.org/officeDocument/2006/relationships/image" Target="../media/image23.png"/><Relationship Id="rId5"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23.png"/><Relationship Id="rId5"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6.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6.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6.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6.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6.png"/><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6.png"/><Relationship Id="rId4" Type="http://schemas.openxmlformats.org/officeDocument/2006/relationships/image" Target="../media/image23.png"/><Relationship Id="rId5"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6.png"/><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6.png"/><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6.png"/><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6.png"/><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6.png"/><Relationship Id="rId4" Type="http://schemas.openxmlformats.org/officeDocument/2006/relationships/image" Target="../media/image23.png"/><Relationship Id="rId5"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6.png"/><Relationship Id="rId4" Type="http://schemas.openxmlformats.org/officeDocument/2006/relationships/image" Target="../media/image2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6.png"/><Relationship Id="rId4" Type="http://schemas.openxmlformats.org/officeDocument/2006/relationships/image" Target="../media/image2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6.png"/><Relationship Id="rId4" Type="http://schemas.openxmlformats.org/officeDocument/2006/relationships/image" Target="../media/image2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8.png"/><Relationship Id="rId4" Type="http://schemas.openxmlformats.org/officeDocument/2006/relationships/image" Target="../media/image2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28.png"/><Relationship Id="rId4" Type="http://schemas.openxmlformats.org/officeDocument/2006/relationships/image" Target="../media/image2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31.png"/><Relationship Id="rId4" Type="http://schemas.openxmlformats.org/officeDocument/2006/relationships/image" Target="../media/image4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3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3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3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32.png"/><Relationship Id="rId4" Type="http://schemas.openxmlformats.org/officeDocument/2006/relationships/image" Target="../media/image3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3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9ab1374e1b_0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pic>
        <p:nvPicPr>
          <p:cNvPr id="85" name="Google Shape;85;g39ab1374e1b_0_0"/>
          <p:cNvPicPr preferRelativeResize="0"/>
          <p:nvPr/>
        </p:nvPicPr>
        <p:blipFill rotWithShape="1">
          <a:blip r:embed="rId4">
            <a:alphaModFix/>
          </a:blip>
          <a:srcRect b="0" l="0" r="0" t="0"/>
          <a:stretch/>
        </p:blipFill>
        <p:spPr>
          <a:xfrm>
            <a:off x="11331775" y="1547900"/>
            <a:ext cx="8652400" cy="1881100"/>
          </a:xfrm>
          <a:prstGeom prst="rect">
            <a:avLst/>
          </a:prstGeom>
          <a:noFill/>
          <a:ln>
            <a:noFill/>
          </a:ln>
        </p:spPr>
      </p:pic>
      <p:sp>
        <p:nvSpPr>
          <p:cNvPr id="86" name="Google Shape;86;g39ab1374e1b_0_0"/>
          <p:cNvSpPr/>
          <p:nvPr/>
        </p:nvSpPr>
        <p:spPr>
          <a:xfrm>
            <a:off x="2107150" y="3631999"/>
            <a:ext cx="14257800" cy="1808100"/>
          </a:xfrm>
          <a:prstGeom prst="roundRect">
            <a:avLst>
              <a:gd fmla="val 16667" name="adj"/>
            </a:avLst>
          </a:prstGeom>
          <a:solidFill>
            <a:schemeClr val="lt2"/>
          </a:solidFill>
          <a:ln>
            <a:noFill/>
          </a:ln>
          <a:effectLst>
            <a:outerShdw blurRad="342900" rotWithShape="0" algn="bl" dir="2160000" dist="361950">
              <a:srgbClr val="888888">
                <a:alpha val="5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7" name="Google Shape;87;g39ab1374e1b_0_0"/>
          <p:cNvSpPr/>
          <p:nvPr/>
        </p:nvSpPr>
        <p:spPr>
          <a:xfrm>
            <a:off x="5172300" y="6211275"/>
            <a:ext cx="7943400" cy="522600"/>
          </a:xfrm>
          <a:prstGeom prst="roundRect">
            <a:avLst>
              <a:gd fmla="val 16667" name="adj"/>
            </a:avLst>
          </a:prstGeom>
          <a:solidFill>
            <a:srgbClr val="E6E6E6"/>
          </a:solidFill>
          <a:ln>
            <a:noFill/>
          </a:ln>
          <a:effectLst>
            <a:outerShdw blurRad="200025" rotWithShape="0" algn="bl" dir="2160000" dist="171450">
              <a:srgbClr val="888888">
                <a:alpha val="3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8" name="Google Shape;88;g39ab1374e1b_0_0"/>
          <p:cNvSpPr txBox="1"/>
          <p:nvPr/>
        </p:nvSpPr>
        <p:spPr>
          <a:xfrm>
            <a:off x="2550461" y="4212800"/>
            <a:ext cx="13187100" cy="646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200"/>
              <a:buFont typeface="Arial"/>
              <a:buNone/>
            </a:pPr>
            <a:r>
              <a:rPr b="1" lang="en-US" sz="4200">
                <a:latin typeface="Open Sans"/>
                <a:ea typeface="Open Sans"/>
                <a:cs typeface="Open Sans"/>
                <a:sym typeface="Open Sans"/>
              </a:rPr>
              <a:t>Análisis y Diseño de Sistemas 1</a:t>
            </a:r>
            <a:endParaRPr b="1" i="0" sz="4200" u="none" cap="none" strike="noStrike">
              <a:solidFill>
                <a:srgbClr val="000000"/>
              </a:solidFill>
              <a:latin typeface="Open Sans"/>
              <a:ea typeface="Open Sans"/>
              <a:cs typeface="Open Sans"/>
              <a:sym typeface="Open Sans"/>
            </a:endParaRPr>
          </a:p>
        </p:txBody>
      </p:sp>
      <p:sp>
        <p:nvSpPr>
          <p:cNvPr id="89" name="Google Shape;89;g39ab1374e1b_0_0"/>
          <p:cNvSpPr txBox="1"/>
          <p:nvPr/>
        </p:nvSpPr>
        <p:spPr>
          <a:xfrm>
            <a:off x="5792614" y="6291132"/>
            <a:ext cx="67029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90" name="Google Shape;90;g39ab1374e1b_0_0"/>
          <p:cNvSpPr/>
          <p:nvPr/>
        </p:nvSpPr>
        <p:spPr>
          <a:xfrm>
            <a:off x="740000" y="9310075"/>
            <a:ext cx="6904500" cy="522600"/>
          </a:xfrm>
          <a:prstGeom prst="roundRect">
            <a:avLst>
              <a:gd fmla="val 16667" name="adj"/>
            </a:avLst>
          </a:prstGeom>
          <a:solidFill>
            <a:srgbClr val="E1C794"/>
          </a:solidFill>
          <a:ln>
            <a:noFill/>
          </a:ln>
          <a:effectLst>
            <a:outerShdw blurRad="200025" rotWithShape="0" algn="bl" dir="2160000" dist="171450">
              <a:srgbClr val="B19867">
                <a:alpha val="3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1" name="Google Shape;91;g39ab1374e1b_0_0"/>
          <p:cNvSpPr/>
          <p:nvPr/>
        </p:nvSpPr>
        <p:spPr>
          <a:xfrm>
            <a:off x="13871300" y="2240450"/>
            <a:ext cx="2172300" cy="522600"/>
          </a:xfrm>
          <a:prstGeom prst="rect">
            <a:avLst/>
          </a:prstGeom>
          <a:solidFill>
            <a:srgbClr val="E4E4E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lang="en-US" sz="2800"/>
              <a:t>00/00/202</a:t>
            </a:r>
            <a:r>
              <a:rPr b="0" i="0" lang="en-US" sz="2800" u="none" cap="none" strike="noStrike">
                <a:solidFill>
                  <a:srgbClr val="000000"/>
                </a:solidFill>
                <a:latin typeface="Arial"/>
                <a:ea typeface="Arial"/>
                <a:cs typeface="Arial"/>
                <a:sym typeface="Arial"/>
              </a:rPr>
              <a:t>6</a:t>
            </a:r>
            <a:endParaRPr b="0" i="0" sz="2800" u="none" cap="none" strike="noStrike">
              <a:solidFill>
                <a:srgbClr val="000000"/>
              </a:solidFill>
              <a:latin typeface="Arial"/>
              <a:ea typeface="Arial"/>
              <a:cs typeface="Arial"/>
              <a:sym typeface="Arial"/>
            </a:endParaRPr>
          </a:p>
        </p:txBody>
      </p:sp>
      <p:sp>
        <p:nvSpPr>
          <p:cNvPr id="92" name="Google Shape;92;g39ab1374e1b_0_0"/>
          <p:cNvSpPr txBox="1"/>
          <p:nvPr/>
        </p:nvSpPr>
        <p:spPr>
          <a:xfrm>
            <a:off x="828900" y="9353000"/>
            <a:ext cx="6244200" cy="1073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140"/>
              <a:buFont typeface="Arial"/>
              <a:buNone/>
            </a:pPr>
            <a:r>
              <a:rPr b="1" lang="en-US" sz="2740">
                <a:latin typeface="Open Sans"/>
                <a:ea typeface="Open Sans"/>
                <a:cs typeface="Open Sans"/>
                <a:sym typeface="Open Sans"/>
              </a:rPr>
              <a:t>Tutor: </a:t>
            </a:r>
            <a:r>
              <a:rPr lang="en-US" sz="2740">
                <a:latin typeface="Open Sans"/>
                <a:ea typeface="Open Sans"/>
                <a:cs typeface="Open Sans"/>
                <a:sym typeface="Open Sans"/>
              </a:rPr>
              <a:t>Nombre del tutor</a:t>
            </a:r>
            <a:endParaRPr i="0" sz="1000" u="none" cap="none" strike="noStrike">
              <a:solidFill>
                <a:srgbClr val="000000"/>
              </a:solidFill>
            </a:endParaRPr>
          </a:p>
          <a:p>
            <a:pPr indent="0" lvl="0" marL="0" marR="0" rtl="0" algn="ctr">
              <a:lnSpc>
                <a:spcPct val="140000"/>
              </a:lnSpc>
              <a:spcBef>
                <a:spcPts val="0"/>
              </a:spcBef>
              <a:spcAft>
                <a:spcPts val="0"/>
              </a:spcAft>
              <a:buClr>
                <a:srgbClr val="000000"/>
              </a:buClr>
              <a:buSzPts val="3140"/>
              <a:buFont typeface="Arial"/>
              <a:buNone/>
            </a:pPr>
            <a:r>
              <a:t/>
            </a:r>
            <a:endParaRPr b="1" i="0" sz="3140" u="none" cap="none" strike="noStrike">
              <a:solidFill>
                <a:srgbClr val="000000"/>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9ab1374e1b_0_12"/>
          <p:cNvSpPr/>
          <p:nvPr/>
        </p:nvSpPr>
        <p:spPr>
          <a:xfrm>
            <a:off x="0" y="0"/>
            <a:ext cx="18288000" cy="10401300"/>
          </a:xfrm>
          <a:custGeom>
            <a:rect b="b" l="l" r="r" t="t"/>
            <a:pathLst>
              <a:path extrusionOk="0" h="10401300" w="18288000">
                <a:moveTo>
                  <a:pt x="0" y="0"/>
                </a:moveTo>
                <a:lnTo>
                  <a:pt x="18288000" y="0"/>
                </a:lnTo>
                <a:lnTo>
                  <a:pt x="18288000" y="10401300"/>
                </a:lnTo>
                <a:lnTo>
                  <a:pt x="0" y="10401300"/>
                </a:lnTo>
                <a:lnTo>
                  <a:pt x="0" y="0"/>
                </a:lnTo>
                <a:close/>
              </a:path>
            </a:pathLst>
          </a:custGeom>
          <a:blipFill rotWithShape="1">
            <a:blip r:embed="rId3">
              <a:alphaModFix/>
            </a:blip>
            <a:stretch>
              <a:fillRect b="0" l="0" r="0" t="0"/>
            </a:stretch>
          </a:blipFill>
          <a:ln>
            <a:noFill/>
          </a:ln>
        </p:spPr>
      </p:sp>
      <p:sp>
        <p:nvSpPr>
          <p:cNvPr id="98" name="Google Shape;98;g39ab1374e1b_0_12"/>
          <p:cNvSpPr txBox="1"/>
          <p:nvPr/>
        </p:nvSpPr>
        <p:spPr>
          <a:xfrm>
            <a:off x="6204049" y="3190240"/>
            <a:ext cx="5880000" cy="32505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8799"/>
              <a:buFont typeface="Arial"/>
              <a:buNone/>
            </a:pPr>
            <a:r>
              <a:rPr b="1" i="0" lang="en-US" sz="8799" u="none" cap="none" strike="noStrike">
                <a:solidFill>
                  <a:srgbClr val="000000"/>
                </a:solidFill>
                <a:latin typeface="Open Sans"/>
                <a:ea typeface="Open Sans"/>
                <a:cs typeface="Open Sans"/>
                <a:sym typeface="Open Sans"/>
              </a:rPr>
              <a:t>UNIDAD </a:t>
            </a:r>
            <a:r>
              <a:rPr b="1" lang="en-US" sz="8799">
                <a:latin typeface="Open Sans"/>
                <a:ea typeface="Open Sans"/>
                <a:cs typeface="Open Sans"/>
                <a:sym typeface="Open Sans"/>
              </a:rPr>
              <a:t>3</a:t>
            </a:r>
            <a:r>
              <a:rPr b="1" i="0" lang="en-US" sz="8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a:p>
            <a:pPr indent="0" lvl="0" marL="0" marR="0" rtl="0" algn="ctr">
              <a:lnSpc>
                <a:spcPct val="140004"/>
              </a:lnSpc>
              <a:spcBef>
                <a:spcPts val="0"/>
              </a:spcBef>
              <a:spcAft>
                <a:spcPts val="0"/>
              </a:spcAft>
              <a:buClr>
                <a:srgbClr val="000000"/>
              </a:buClr>
              <a:buSzPts val="8799"/>
              <a:buFont typeface="Arial"/>
              <a:buNone/>
            </a:pPr>
            <a:r>
              <a:t/>
            </a:r>
            <a:endParaRPr b="1" i="0" sz="8799" u="none" cap="none" strike="noStrike">
              <a:solidFill>
                <a:srgbClr val="000000"/>
              </a:solidFill>
              <a:latin typeface="Open Sans"/>
              <a:ea typeface="Open Sans"/>
              <a:cs typeface="Open Sans"/>
              <a:sym typeface="Open Sans"/>
            </a:endParaRPr>
          </a:p>
        </p:txBody>
      </p:sp>
      <p:sp>
        <p:nvSpPr>
          <p:cNvPr id="99" name="Google Shape;99;g39ab1374e1b_0_12"/>
          <p:cNvSpPr txBox="1"/>
          <p:nvPr/>
        </p:nvSpPr>
        <p:spPr>
          <a:xfrm>
            <a:off x="3403350" y="5296850"/>
            <a:ext cx="11481300" cy="23826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7200"/>
              <a:buFont typeface="Arial"/>
              <a:buNone/>
            </a:pPr>
            <a:r>
              <a:rPr b="1" lang="en-US" sz="7200">
                <a:latin typeface="Open Sans"/>
                <a:ea typeface="Open Sans"/>
                <a:cs typeface="Open Sans"/>
                <a:sym typeface="Open Sans"/>
              </a:rPr>
              <a:t>Requerimientos	</a:t>
            </a:r>
            <a:endParaRPr b="0" i="0" sz="14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7200"/>
              <a:buFont typeface="Arial"/>
              <a:buNone/>
            </a:pPr>
            <a:r>
              <a:t/>
            </a:r>
            <a:endParaRPr b="1" i="0" sz="7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39ab1374e1b_0_18"/>
          <p:cNvSpPr/>
          <p:nvPr/>
        </p:nvSpPr>
        <p:spPr>
          <a:xfrm>
            <a:off x="4687137" y="2492771"/>
            <a:ext cx="9432094" cy="6765529"/>
          </a:xfrm>
          <a:custGeom>
            <a:rect b="b" l="l" r="r" t="t"/>
            <a:pathLst>
              <a:path extrusionOk="0" h="6765529" w="9432094">
                <a:moveTo>
                  <a:pt x="0" y="0"/>
                </a:moveTo>
                <a:lnTo>
                  <a:pt x="9432093" y="0"/>
                </a:lnTo>
                <a:lnTo>
                  <a:pt x="9432093" y="6765529"/>
                </a:lnTo>
                <a:lnTo>
                  <a:pt x="0" y="6765529"/>
                </a:lnTo>
                <a:lnTo>
                  <a:pt x="0" y="0"/>
                </a:lnTo>
                <a:close/>
              </a:path>
            </a:pathLst>
          </a:custGeom>
          <a:blipFill rotWithShape="1">
            <a:blip r:embed="rId3">
              <a:alphaModFix/>
            </a:blip>
            <a:stretch>
              <a:fillRect b="0" l="0" r="0" t="0"/>
            </a:stretch>
          </a:blipFill>
          <a:ln>
            <a:noFill/>
          </a:ln>
        </p:spPr>
      </p:sp>
      <p:sp>
        <p:nvSpPr>
          <p:cNvPr id="105" name="Google Shape;105;g39ab1374e1b_0_18"/>
          <p:cNvSpPr/>
          <p:nvPr/>
        </p:nvSpPr>
        <p:spPr>
          <a:xfrm>
            <a:off x="3971429" y="612837"/>
            <a:ext cx="11301259" cy="2288505"/>
          </a:xfrm>
          <a:custGeom>
            <a:rect b="b" l="l" r="r" t="t"/>
            <a:pathLst>
              <a:path extrusionOk="0" h="2288505" w="11301259">
                <a:moveTo>
                  <a:pt x="0" y="0"/>
                </a:moveTo>
                <a:lnTo>
                  <a:pt x="11301259" y="0"/>
                </a:lnTo>
                <a:lnTo>
                  <a:pt x="11301259" y="2288505"/>
                </a:lnTo>
                <a:lnTo>
                  <a:pt x="0" y="2288505"/>
                </a:lnTo>
                <a:lnTo>
                  <a:pt x="0" y="0"/>
                </a:lnTo>
                <a:close/>
              </a:path>
            </a:pathLst>
          </a:custGeom>
          <a:blipFill rotWithShape="1">
            <a:blip r:embed="rId4">
              <a:alphaModFix/>
            </a:blip>
            <a:stretch>
              <a:fillRect b="0" l="0" r="0" t="0"/>
            </a:stretch>
          </a:blipFill>
          <a:ln>
            <a:noFill/>
          </a:ln>
        </p:spPr>
      </p:sp>
      <p:sp>
        <p:nvSpPr>
          <p:cNvPr id="106" name="Google Shape;106;g39ab1374e1b_0_18"/>
          <p:cNvSpPr/>
          <p:nvPr/>
        </p:nvSpPr>
        <p:spPr>
          <a:xfrm>
            <a:off x="314891" y="2901342"/>
            <a:ext cx="4961633" cy="4961633"/>
          </a:xfrm>
          <a:custGeom>
            <a:rect b="b" l="l" r="r" t="t"/>
            <a:pathLst>
              <a:path extrusionOk="0" h="4961633" w="4961633">
                <a:moveTo>
                  <a:pt x="0" y="0"/>
                </a:moveTo>
                <a:lnTo>
                  <a:pt x="4961633" y="0"/>
                </a:lnTo>
                <a:lnTo>
                  <a:pt x="4961633" y="4961632"/>
                </a:lnTo>
                <a:lnTo>
                  <a:pt x="0" y="4961632"/>
                </a:lnTo>
                <a:lnTo>
                  <a:pt x="0" y="0"/>
                </a:lnTo>
                <a:close/>
              </a:path>
            </a:pathLst>
          </a:custGeom>
          <a:blipFill rotWithShape="1">
            <a:blip r:embed="rId5">
              <a:alphaModFix/>
            </a:blip>
            <a:stretch>
              <a:fillRect b="0" l="0" r="0" t="0"/>
            </a:stretch>
          </a:blipFill>
          <a:ln>
            <a:noFill/>
          </a:ln>
        </p:spPr>
      </p:sp>
      <p:sp>
        <p:nvSpPr>
          <p:cNvPr id="107" name="Google Shape;107;g39ab1374e1b_0_18"/>
          <p:cNvSpPr/>
          <p:nvPr/>
        </p:nvSpPr>
        <p:spPr>
          <a:xfrm>
            <a:off x="5276524" y="3174482"/>
            <a:ext cx="678185" cy="82481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108" name="Google Shape;108;g39ab1374e1b_0_18"/>
          <p:cNvSpPr txBox="1"/>
          <p:nvPr/>
        </p:nvSpPr>
        <p:spPr>
          <a:xfrm>
            <a:off x="5954709" y="4328160"/>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Anuncio 2</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09" name="Google Shape;109;g39ab1374e1b_0_18"/>
          <p:cNvSpPr txBox="1"/>
          <p:nvPr/>
        </p:nvSpPr>
        <p:spPr>
          <a:xfrm>
            <a:off x="5954709" y="3342711"/>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Anuncio 1</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10" name="Google Shape;110;g39ab1374e1b_0_18"/>
          <p:cNvSpPr/>
          <p:nvPr/>
        </p:nvSpPr>
        <p:spPr>
          <a:xfrm>
            <a:off x="5276524" y="4158051"/>
            <a:ext cx="678185" cy="82481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111" name="Google Shape;111;g39ab1374e1b_0_18"/>
          <p:cNvSpPr/>
          <p:nvPr/>
        </p:nvSpPr>
        <p:spPr>
          <a:xfrm>
            <a:off x="5276524" y="5259095"/>
            <a:ext cx="678185" cy="824819"/>
          </a:xfrm>
          <a:custGeom>
            <a:rect b="b" l="l" r="r" t="t"/>
            <a:pathLst>
              <a:path extrusionOk="0" h="824819" w="678185">
                <a:moveTo>
                  <a:pt x="0" y="0"/>
                </a:moveTo>
                <a:lnTo>
                  <a:pt x="678185" y="0"/>
                </a:lnTo>
                <a:lnTo>
                  <a:pt x="678185" y="824820"/>
                </a:lnTo>
                <a:lnTo>
                  <a:pt x="0" y="824820"/>
                </a:lnTo>
                <a:lnTo>
                  <a:pt x="0" y="0"/>
                </a:lnTo>
                <a:close/>
              </a:path>
            </a:pathLst>
          </a:custGeom>
          <a:blipFill rotWithShape="1">
            <a:blip r:embed="rId6">
              <a:alphaModFix/>
            </a:blip>
            <a:stretch>
              <a:fillRect b="0" l="0" r="0" t="0"/>
            </a:stretch>
          </a:blipFill>
          <a:ln>
            <a:noFill/>
          </a:ln>
        </p:spPr>
      </p:sp>
      <p:sp>
        <p:nvSpPr>
          <p:cNvPr id="112" name="Google Shape;112;g39ab1374e1b_0_18"/>
          <p:cNvSpPr/>
          <p:nvPr/>
        </p:nvSpPr>
        <p:spPr>
          <a:xfrm>
            <a:off x="5276524" y="6360140"/>
            <a:ext cx="678185" cy="82481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113" name="Google Shape;113;g39ab1374e1b_0_18"/>
          <p:cNvSpPr/>
          <p:nvPr/>
        </p:nvSpPr>
        <p:spPr>
          <a:xfrm>
            <a:off x="5276524" y="7461184"/>
            <a:ext cx="678185" cy="82481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114" name="Google Shape;114;g39ab1374e1b_0_18"/>
          <p:cNvSpPr txBox="1"/>
          <p:nvPr/>
        </p:nvSpPr>
        <p:spPr>
          <a:xfrm>
            <a:off x="5954709" y="5448816"/>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Anuncio 3</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15" name="Google Shape;115;g39ab1374e1b_0_18"/>
          <p:cNvSpPr txBox="1"/>
          <p:nvPr/>
        </p:nvSpPr>
        <p:spPr>
          <a:xfrm>
            <a:off x="5954709" y="6435606"/>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Anuncio 4</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16" name="Google Shape;116;g39ab1374e1b_0_18"/>
          <p:cNvSpPr txBox="1"/>
          <p:nvPr/>
        </p:nvSpPr>
        <p:spPr>
          <a:xfrm>
            <a:off x="5954709" y="7555746"/>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Anuncio 5</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9ab1374e1b_0_34"/>
          <p:cNvSpPr/>
          <p:nvPr/>
        </p:nvSpPr>
        <p:spPr>
          <a:xfrm>
            <a:off x="4016947" y="3558803"/>
            <a:ext cx="9896507" cy="5913163"/>
          </a:xfrm>
          <a:custGeom>
            <a:rect b="b" l="l" r="r" t="t"/>
            <a:pathLst>
              <a:path extrusionOk="0" h="5913163" w="9896507">
                <a:moveTo>
                  <a:pt x="0" y="0"/>
                </a:moveTo>
                <a:lnTo>
                  <a:pt x="9896507" y="0"/>
                </a:lnTo>
                <a:lnTo>
                  <a:pt x="9896507" y="5913163"/>
                </a:lnTo>
                <a:lnTo>
                  <a:pt x="0" y="5913163"/>
                </a:lnTo>
                <a:lnTo>
                  <a:pt x="0" y="0"/>
                </a:lnTo>
                <a:close/>
              </a:path>
            </a:pathLst>
          </a:custGeom>
          <a:blipFill rotWithShape="1">
            <a:blip r:embed="rId3">
              <a:alphaModFix/>
            </a:blip>
            <a:stretch>
              <a:fillRect b="0" l="0" r="0" t="0"/>
            </a:stretch>
          </a:blipFill>
          <a:ln>
            <a:noFill/>
          </a:ln>
        </p:spPr>
      </p:sp>
      <p:sp>
        <p:nvSpPr>
          <p:cNvPr id="122" name="Google Shape;122;g39ab1374e1b_0_34"/>
          <p:cNvSpPr/>
          <p:nvPr/>
        </p:nvSpPr>
        <p:spPr>
          <a:xfrm>
            <a:off x="3493371" y="-625307"/>
            <a:ext cx="11301259" cy="5127946"/>
          </a:xfrm>
          <a:custGeom>
            <a:rect b="b" l="l" r="r" t="t"/>
            <a:pathLst>
              <a:path extrusionOk="0" h="5127946" w="11301259">
                <a:moveTo>
                  <a:pt x="0" y="0"/>
                </a:moveTo>
                <a:lnTo>
                  <a:pt x="11301258" y="0"/>
                </a:lnTo>
                <a:lnTo>
                  <a:pt x="11301258" y="5127946"/>
                </a:lnTo>
                <a:lnTo>
                  <a:pt x="0" y="5127946"/>
                </a:lnTo>
                <a:lnTo>
                  <a:pt x="0" y="0"/>
                </a:lnTo>
                <a:close/>
              </a:path>
            </a:pathLst>
          </a:custGeom>
          <a:blipFill rotWithShape="1">
            <a:blip r:embed="rId4">
              <a:alphaModFix/>
            </a:blip>
            <a:stretch>
              <a:fillRect b="0" l="0" r="0" t="0"/>
            </a:stretch>
          </a:blipFill>
          <a:ln>
            <a:noFill/>
          </a:ln>
        </p:spPr>
      </p:sp>
      <p:sp>
        <p:nvSpPr>
          <p:cNvPr id="123" name="Google Shape;123;g39ab1374e1b_0_34"/>
          <p:cNvSpPr/>
          <p:nvPr/>
        </p:nvSpPr>
        <p:spPr>
          <a:xfrm>
            <a:off x="4875920" y="4090230"/>
            <a:ext cx="678185" cy="82481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124" name="Google Shape;124;g39ab1374e1b_0_34"/>
          <p:cNvSpPr txBox="1"/>
          <p:nvPr/>
        </p:nvSpPr>
        <p:spPr>
          <a:xfrm>
            <a:off x="5215012" y="4328160"/>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TEMA 1</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25" name="Google Shape;125;g39ab1374e1b_0_34"/>
          <p:cNvSpPr/>
          <p:nvPr/>
        </p:nvSpPr>
        <p:spPr>
          <a:xfrm>
            <a:off x="4875920" y="5143500"/>
            <a:ext cx="678185" cy="82481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126" name="Google Shape;126;g39ab1374e1b_0_34"/>
          <p:cNvSpPr txBox="1"/>
          <p:nvPr/>
        </p:nvSpPr>
        <p:spPr>
          <a:xfrm>
            <a:off x="5215012" y="5379556"/>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TEMA 2</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27" name="Google Shape;127;g39ab1374e1b_0_34"/>
          <p:cNvSpPr/>
          <p:nvPr/>
        </p:nvSpPr>
        <p:spPr>
          <a:xfrm>
            <a:off x="4875920" y="6194896"/>
            <a:ext cx="678185" cy="82481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128" name="Google Shape;128;g39ab1374e1b_0_34"/>
          <p:cNvSpPr/>
          <p:nvPr/>
        </p:nvSpPr>
        <p:spPr>
          <a:xfrm>
            <a:off x="4875920" y="7248315"/>
            <a:ext cx="678185" cy="82481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129" name="Google Shape;129;g39ab1374e1b_0_34"/>
          <p:cNvSpPr/>
          <p:nvPr/>
        </p:nvSpPr>
        <p:spPr>
          <a:xfrm>
            <a:off x="4875920" y="8301734"/>
            <a:ext cx="678185" cy="824819"/>
          </a:xfrm>
          <a:custGeom>
            <a:rect b="b" l="l" r="r" t="t"/>
            <a:pathLst>
              <a:path extrusionOk="0" h="824819" w="678185">
                <a:moveTo>
                  <a:pt x="0" y="0"/>
                </a:moveTo>
                <a:lnTo>
                  <a:pt x="678184" y="0"/>
                </a:lnTo>
                <a:lnTo>
                  <a:pt x="678184" y="824820"/>
                </a:lnTo>
                <a:lnTo>
                  <a:pt x="0" y="824820"/>
                </a:lnTo>
                <a:lnTo>
                  <a:pt x="0" y="0"/>
                </a:lnTo>
                <a:close/>
              </a:path>
            </a:pathLst>
          </a:custGeom>
          <a:blipFill rotWithShape="1">
            <a:blip r:embed="rId5">
              <a:alphaModFix/>
            </a:blip>
            <a:stretch>
              <a:fillRect b="0" l="0" r="0" t="0"/>
            </a:stretch>
          </a:blipFill>
          <a:ln>
            <a:noFill/>
          </a:ln>
        </p:spPr>
      </p:sp>
      <p:sp>
        <p:nvSpPr>
          <p:cNvPr id="130" name="Google Shape;130;g39ab1374e1b_0_34"/>
          <p:cNvSpPr txBox="1"/>
          <p:nvPr/>
        </p:nvSpPr>
        <p:spPr>
          <a:xfrm>
            <a:off x="5215012" y="6385396"/>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TEMA 3</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31" name="Google Shape;131;g39ab1374e1b_0_34"/>
          <p:cNvSpPr txBox="1"/>
          <p:nvPr/>
        </p:nvSpPr>
        <p:spPr>
          <a:xfrm>
            <a:off x="5215012" y="7391236"/>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TEMA 4</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32" name="Google Shape;132;g39ab1374e1b_0_34"/>
          <p:cNvSpPr txBox="1"/>
          <p:nvPr/>
        </p:nvSpPr>
        <p:spPr>
          <a:xfrm>
            <a:off x="5215012" y="8444701"/>
            <a:ext cx="2141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TEMA 5</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9ab1374e1b_0_49"/>
          <p:cNvSpPr/>
          <p:nvPr/>
        </p:nvSpPr>
        <p:spPr>
          <a:xfrm>
            <a:off x="0" y="0"/>
            <a:ext cx="18288000" cy="10447020"/>
          </a:xfrm>
          <a:custGeom>
            <a:rect b="b" l="l" r="r" t="t"/>
            <a:pathLst>
              <a:path extrusionOk="0" h="10447020" w="18288000">
                <a:moveTo>
                  <a:pt x="0" y="0"/>
                </a:moveTo>
                <a:lnTo>
                  <a:pt x="18288000" y="0"/>
                </a:lnTo>
                <a:lnTo>
                  <a:pt x="18288000" y="10447020"/>
                </a:lnTo>
                <a:lnTo>
                  <a:pt x="0" y="10447020"/>
                </a:lnTo>
                <a:lnTo>
                  <a:pt x="0" y="0"/>
                </a:lnTo>
                <a:close/>
              </a:path>
            </a:pathLst>
          </a:custGeom>
          <a:blipFill rotWithShape="1">
            <a:blip r:embed="rId3">
              <a:alphaModFix/>
            </a:blip>
            <a:stretch>
              <a:fillRect b="0" l="0" r="0" t="0"/>
            </a:stretch>
          </a:blipFill>
          <a:ln>
            <a:noFill/>
          </a:ln>
        </p:spPr>
      </p:sp>
      <p:sp>
        <p:nvSpPr>
          <p:cNvPr id="138" name="Google Shape;138;g39ab1374e1b_0_49"/>
          <p:cNvSpPr/>
          <p:nvPr/>
        </p:nvSpPr>
        <p:spPr>
          <a:xfrm>
            <a:off x="2888408" y="2581776"/>
            <a:ext cx="12511183" cy="3424936"/>
          </a:xfrm>
          <a:custGeom>
            <a:rect b="b" l="l" r="r" t="t"/>
            <a:pathLst>
              <a:path extrusionOk="0" h="3424936" w="12511183">
                <a:moveTo>
                  <a:pt x="0" y="0"/>
                </a:moveTo>
                <a:lnTo>
                  <a:pt x="12511184" y="0"/>
                </a:lnTo>
                <a:lnTo>
                  <a:pt x="12511184" y="3424937"/>
                </a:lnTo>
                <a:lnTo>
                  <a:pt x="0" y="3424937"/>
                </a:lnTo>
                <a:lnTo>
                  <a:pt x="0" y="0"/>
                </a:lnTo>
                <a:close/>
              </a:path>
            </a:pathLst>
          </a:custGeom>
          <a:blipFill rotWithShape="1">
            <a:blip r:embed="rId4">
              <a:alphaModFix/>
            </a:blip>
            <a:stretch>
              <a:fillRect b="0" l="0" r="0" t="0"/>
            </a:stretch>
          </a:blipFill>
          <a:ln>
            <a:noFill/>
          </a:ln>
        </p:spPr>
      </p:sp>
      <p:sp>
        <p:nvSpPr>
          <p:cNvPr id="139" name="Google Shape;139;g39ab1374e1b_0_49"/>
          <p:cNvSpPr txBox="1"/>
          <p:nvPr/>
        </p:nvSpPr>
        <p:spPr>
          <a:xfrm>
            <a:off x="5720825" y="3428988"/>
            <a:ext cx="8403900" cy="2154900"/>
          </a:xfrm>
          <a:prstGeom prst="rect">
            <a:avLst/>
          </a:prstGeom>
          <a:noFill/>
          <a:ln>
            <a:noFill/>
          </a:ln>
        </p:spPr>
        <p:txBody>
          <a:bodyPr anchorCtr="0" anchor="t" bIns="0" lIns="0" spcFirstLastPara="1" rIns="0" wrap="square" tIns="0">
            <a:spAutoFit/>
          </a:bodyPr>
          <a:lstStyle/>
          <a:p>
            <a:pPr indent="-317500" lvl="0" marL="457200" marR="0" rtl="0" algn="l">
              <a:lnSpc>
                <a:spcPct val="140000"/>
              </a:lnSpc>
              <a:spcBef>
                <a:spcPts val="0"/>
              </a:spcBef>
              <a:spcAft>
                <a:spcPts val="0"/>
              </a:spcAft>
              <a:buSzPts val="1400"/>
              <a:buFont typeface="Open Sans"/>
              <a:buAutoNum type="arabicPeriod"/>
            </a:pPr>
            <a:r>
              <a:rPr b="1" lang="en-US" sz="1500">
                <a:latin typeface="Open Sans"/>
                <a:ea typeface="Open Sans"/>
                <a:cs typeface="Open Sans"/>
                <a:sym typeface="Open Sans"/>
              </a:rPr>
              <a:t>El estudiante Analiza proceso de ingeniería de requerimientos   				</a:t>
            </a:r>
            <a:endParaRPr b="1" sz="1500">
              <a:latin typeface="Open Sans"/>
              <a:ea typeface="Open Sans"/>
              <a:cs typeface="Open Sans"/>
              <a:sym typeface="Open Sans"/>
            </a:endParaRPr>
          </a:p>
          <a:p>
            <a:pPr indent="-317500" lvl="0" marL="457200" marR="0" rtl="0" algn="l">
              <a:lnSpc>
                <a:spcPct val="140000"/>
              </a:lnSpc>
              <a:spcBef>
                <a:spcPts val="0"/>
              </a:spcBef>
              <a:spcAft>
                <a:spcPts val="0"/>
              </a:spcAft>
              <a:buSzPts val="1400"/>
              <a:buFont typeface="Open Sans"/>
              <a:buAutoNum type="arabicPeriod"/>
            </a:pPr>
            <a:r>
              <a:rPr b="1" lang="en-US" sz="1500">
                <a:latin typeface="Open Sans"/>
                <a:ea typeface="Open Sans"/>
                <a:cs typeface="Open Sans"/>
                <a:sym typeface="Open Sans"/>
              </a:rPr>
              <a:t>El estudiante Identifica requerimientos funcionales  de un sistema 				</a:t>
            </a:r>
            <a:endParaRPr b="1" sz="1500">
              <a:latin typeface="Open Sans"/>
              <a:ea typeface="Open Sans"/>
              <a:cs typeface="Open Sans"/>
              <a:sym typeface="Open Sans"/>
            </a:endParaRPr>
          </a:p>
          <a:p>
            <a:pPr indent="-317500" lvl="0" marL="457200" marR="0" rtl="0" algn="l">
              <a:lnSpc>
                <a:spcPct val="140000"/>
              </a:lnSpc>
              <a:spcBef>
                <a:spcPts val="0"/>
              </a:spcBef>
              <a:spcAft>
                <a:spcPts val="0"/>
              </a:spcAft>
              <a:buSzPts val="1400"/>
              <a:buFont typeface="Open Sans"/>
              <a:buAutoNum type="arabicPeriod"/>
            </a:pPr>
            <a:r>
              <a:rPr b="1" lang="en-US" sz="1500">
                <a:latin typeface="Open Sans"/>
                <a:ea typeface="Open Sans"/>
                <a:cs typeface="Open Sans"/>
                <a:sym typeface="Open Sans"/>
              </a:rPr>
              <a:t>El estudiante Define requerimientos no funcionales  para garantizar calidad		</a:t>
            </a:r>
            <a:endParaRPr b="1" sz="1500">
              <a:latin typeface="Open Sans"/>
              <a:ea typeface="Open Sans"/>
              <a:cs typeface="Open Sans"/>
              <a:sym typeface="Open Sans"/>
            </a:endParaRPr>
          </a:p>
          <a:p>
            <a:pPr indent="-317500" lvl="0" marL="457200" marR="0" rtl="0" algn="l">
              <a:lnSpc>
                <a:spcPct val="140000"/>
              </a:lnSpc>
              <a:spcBef>
                <a:spcPts val="0"/>
              </a:spcBef>
              <a:spcAft>
                <a:spcPts val="0"/>
              </a:spcAft>
              <a:buSzPts val="1400"/>
              <a:buFont typeface="Open Sans"/>
              <a:buAutoNum type="arabicPeriod"/>
            </a:pPr>
            <a:r>
              <a:rPr b="1" lang="en-US" sz="1500">
                <a:latin typeface="Open Sans"/>
                <a:ea typeface="Open Sans"/>
                <a:cs typeface="Open Sans"/>
                <a:sym typeface="Open Sans"/>
              </a:rPr>
              <a:t>El estudiante Crea historias de usuario User Stories con formato estándar		</a:t>
            </a:r>
            <a:endParaRPr b="1" sz="1500">
              <a:latin typeface="Open Sans"/>
              <a:ea typeface="Open Sans"/>
              <a:cs typeface="Open Sans"/>
              <a:sym typeface="Open Sans"/>
            </a:endParaRPr>
          </a:p>
          <a:p>
            <a:pPr indent="-317500" lvl="0" marL="457200" marR="0" rtl="0" algn="l">
              <a:lnSpc>
                <a:spcPct val="140000"/>
              </a:lnSpc>
              <a:spcBef>
                <a:spcPts val="0"/>
              </a:spcBef>
              <a:spcAft>
                <a:spcPts val="0"/>
              </a:spcAft>
              <a:buSzPts val="1400"/>
              <a:buFont typeface="Open Sans"/>
              <a:buAutoNum type="arabicPeriod"/>
            </a:pPr>
            <a:r>
              <a:rPr b="1" lang="en-US" sz="1500">
                <a:latin typeface="Open Sans"/>
                <a:ea typeface="Open Sans"/>
                <a:cs typeface="Open Sans"/>
                <a:sym typeface="Open Sans"/>
              </a:rPr>
              <a:t>El estudiante Establece criterios de aceptación  para validar funcionalidades </a:t>
            </a:r>
            <a:r>
              <a:rPr b="1" lang="en-US" sz="1500">
                <a:latin typeface="Open Sans"/>
                <a:ea typeface="Open Sans"/>
                <a:cs typeface="Open Sans"/>
                <a:sym typeface="Open Sans"/>
              </a:rPr>
              <a:t>						</a:t>
            </a:r>
            <a:r>
              <a:rPr b="1" lang="en-US">
                <a:latin typeface="Open Sans"/>
                <a:ea typeface="Open Sans"/>
                <a:cs typeface="Open Sans"/>
                <a:sym typeface="Open Sans"/>
              </a:rPr>
              <a:t>					</a:t>
            </a:r>
            <a:endParaRPr b="1">
              <a:latin typeface="Open Sans"/>
              <a:ea typeface="Open Sans"/>
              <a:cs typeface="Open Sans"/>
              <a:sym typeface="Open Sans"/>
            </a:endParaRPr>
          </a:p>
          <a:p>
            <a:pPr indent="0" lvl="0" marL="0" marR="0" rtl="0" algn="ctr">
              <a:lnSpc>
                <a:spcPct val="140000"/>
              </a:lnSpc>
              <a:spcBef>
                <a:spcPts val="0"/>
              </a:spcBef>
              <a:spcAft>
                <a:spcPts val="0"/>
              </a:spcAft>
              <a:buClr>
                <a:srgbClr val="000000"/>
              </a:buClr>
              <a:buSzPts val="1400"/>
              <a:buFont typeface="Arial"/>
              <a:buNone/>
            </a:pPr>
            <a:r>
              <a:t/>
            </a:r>
            <a:endParaRPr b="1"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9ab1374e1b_0_55"/>
          <p:cNvSpPr txBox="1"/>
          <p:nvPr/>
        </p:nvSpPr>
        <p:spPr>
          <a:xfrm>
            <a:off x="2392350" y="2790225"/>
            <a:ext cx="14918400" cy="6977700"/>
          </a:xfrm>
          <a:prstGeom prst="rect">
            <a:avLst/>
          </a:prstGeom>
          <a:noFill/>
          <a:ln>
            <a:noFill/>
          </a:ln>
        </p:spPr>
        <p:txBody>
          <a:bodyPr anchorCtr="0" anchor="t" bIns="0" lIns="0" spcFirstLastPara="1" rIns="0" wrap="square" tIns="0">
            <a:spAutoFit/>
          </a:bodyPr>
          <a:lstStyle/>
          <a:p>
            <a:pPr indent="0" lvl="0" marL="0" rtl="0" algn="ctr">
              <a:lnSpc>
                <a:spcPct val="140011"/>
              </a:lnSpc>
              <a:spcBef>
                <a:spcPts val="0"/>
              </a:spcBef>
              <a:spcAft>
                <a:spcPts val="0"/>
              </a:spcAft>
              <a:buClr>
                <a:schemeClr val="dk1"/>
              </a:buClr>
              <a:buSzPts val="3399"/>
              <a:buFont typeface="Arial"/>
              <a:buNone/>
            </a:pPr>
            <a:r>
              <a:rPr lang="en-US" sz="3399">
                <a:solidFill>
                  <a:schemeClr val="dk1"/>
                </a:solidFill>
                <a:latin typeface="Open Sans"/>
                <a:ea typeface="Open Sans"/>
                <a:cs typeface="Open Sans"/>
                <a:sym typeface="Open Sans"/>
              </a:rPr>
              <a:t>En la ingeniería de requerimientos, el analista trabaja con múltiples stakeholders que tienen visiones, prioridades y lenguajes distintos. La tolerancia es clave para entender que no hay una sola "versión correcta" del sistema: cada actor aporta una perspectiva válida. Saber tolerar y gestionar esas diferencias es lo que permite construir requerimientos completos, coherentes y aceptados por todos los involucrados.							</a:t>
            </a:r>
            <a:endParaRPr sz="3399">
              <a:solidFill>
                <a:schemeClr val="dk1"/>
              </a:solidFill>
              <a:latin typeface="Open Sans"/>
              <a:ea typeface="Open Sans"/>
              <a:cs typeface="Open Sans"/>
              <a:sym typeface="Open Sans"/>
            </a:endParaRPr>
          </a:p>
          <a:p>
            <a:pPr indent="0" lvl="0" marL="0" rtl="0" algn="ctr">
              <a:lnSpc>
                <a:spcPct val="140011"/>
              </a:lnSpc>
              <a:spcBef>
                <a:spcPts val="0"/>
              </a:spcBef>
              <a:spcAft>
                <a:spcPts val="0"/>
              </a:spcAft>
              <a:buClr>
                <a:schemeClr val="dk1"/>
              </a:buClr>
              <a:buSzPts val="3399"/>
              <a:buFont typeface="Arial"/>
              <a:buNone/>
            </a:pPr>
            <a:r>
              <a:rPr lang="en-US" sz="3399">
                <a:solidFill>
                  <a:schemeClr val="dk1"/>
                </a:solidFill>
                <a:latin typeface="Open Sans"/>
                <a:ea typeface="Open Sans"/>
                <a:cs typeface="Open Sans"/>
                <a:sym typeface="Open Sans"/>
              </a:rPr>
              <a:t>							</a:t>
            </a:r>
            <a:endParaRPr sz="3399">
              <a:solidFill>
                <a:schemeClr val="dk1"/>
              </a:solidFill>
              <a:latin typeface="Open Sans"/>
              <a:ea typeface="Open Sans"/>
              <a:cs typeface="Open Sans"/>
              <a:sym typeface="Open Sans"/>
            </a:endParaRPr>
          </a:p>
          <a:p>
            <a:pPr indent="0" lvl="0" marL="0" marR="0" rtl="0" algn="just">
              <a:lnSpc>
                <a:spcPct val="113019"/>
              </a:lnSpc>
              <a:spcBef>
                <a:spcPts val="0"/>
              </a:spcBef>
              <a:spcAft>
                <a:spcPts val="0"/>
              </a:spcAft>
              <a:buClr>
                <a:srgbClr val="000000"/>
              </a:buClr>
              <a:buSzPts val="3249"/>
              <a:buFont typeface="Arial"/>
              <a:buNone/>
            </a:pPr>
            <a:r>
              <a:t/>
            </a:r>
            <a:endParaRPr sz="3549">
              <a:solidFill>
                <a:srgbClr val="131416"/>
              </a:solidFill>
            </a:endParaRPr>
          </a:p>
          <a:p>
            <a:pPr indent="0" lvl="0" marL="0" marR="0" rtl="0" algn="just">
              <a:lnSpc>
                <a:spcPct val="113019"/>
              </a:lnSpc>
              <a:spcBef>
                <a:spcPts val="0"/>
              </a:spcBef>
              <a:spcAft>
                <a:spcPts val="0"/>
              </a:spcAft>
              <a:buClr>
                <a:srgbClr val="000000"/>
              </a:buClr>
              <a:buSzPts val="3249"/>
              <a:buFont typeface="Arial"/>
              <a:buNone/>
            </a:pPr>
            <a:r>
              <a:t/>
            </a:r>
            <a:endParaRPr b="0" i="0" sz="3249" u="none" cap="none" strike="noStrike">
              <a:solidFill>
                <a:srgbClr val="131416"/>
              </a:solidFill>
              <a:latin typeface="Arial"/>
              <a:ea typeface="Arial"/>
              <a:cs typeface="Arial"/>
              <a:sym typeface="Arial"/>
            </a:endParaRPr>
          </a:p>
        </p:txBody>
      </p:sp>
      <p:sp>
        <p:nvSpPr>
          <p:cNvPr id="145" name="Google Shape;145;g39ab1374e1b_0_55"/>
          <p:cNvSpPr txBox="1"/>
          <p:nvPr/>
        </p:nvSpPr>
        <p:spPr>
          <a:xfrm>
            <a:off x="239234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lang="en-US" sz="6900">
                <a:solidFill>
                  <a:srgbClr val="131416"/>
                </a:solidFill>
                <a:latin typeface="Impact"/>
                <a:ea typeface="Impact"/>
                <a:cs typeface="Impact"/>
                <a:sym typeface="Impact"/>
              </a:rPr>
              <a:t>VALOR DE LA SEMANA: Tolerancia</a:t>
            </a:r>
            <a:endParaRPr i="0" sz="1400" u="none" cap="none" strike="noStrike">
              <a:solidFill>
                <a:srgbClr val="000000"/>
              </a:solidFill>
              <a:latin typeface="Impact"/>
              <a:ea typeface="Impact"/>
              <a:cs typeface="Impact"/>
              <a:sym typeface="Impac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9" name="Shape 149"/>
        <p:cNvGrpSpPr/>
        <p:nvPr/>
      </p:nvGrpSpPr>
      <p:grpSpPr>
        <a:xfrm>
          <a:off x="0" y="0"/>
          <a:ext cx="0" cy="0"/>
          <a:chOff x="0" y="0"/>
          <a:chExt cx="0" cy="0"/>
        </a:xfrm>
      </p:grpSpPr>
      <p:sp>
        <p:nvSpPr>
          <p:cNvPr id="150" name="Google Shape;150;g39ab1374e1b_0_136"/>
          <p:cNvSpPr/>
          <p:nvPr/>
        </p:nvSpPr>
        <p:spPr>
          <a:xfrm>
            <a:off x="8768684" y="455237"/>
            <a:ext cx="9519316" cy="9376526"/>
          </a:xfrm>
          <a:custGeom>
            <a:rect b="b" l="l" r="r" t="t"/>
            <a:pathLst>
              <a:path extrusionOk="0" h="9376526" w="9519316">
                <a:moveTo>
                  <a:pt x="0" y="0"/>
                </a:moveTo>
                <a:lnTo>
                  <a:pt x="9519316" y="0"/>
                </a:lnTo>
                <a:lnTo>
                  <a:pt x="9519316" y="9376526"/>
                </a:lnTo>
                <a:lnTo>
                  <a:pt x="0" y="9376526"/>
                </a:lnTo>
                <a:lnTo>
                  <a:pt x="0" y="0"/>
                </a:lnTo>
                <a:close/>
              </a:path>
            </a:pathLst>
          </a:custGeom>
          <a:blipFill rotWithShape="1">
            <a:blip r:embed="rId3">
              <a:alphaModFix/>
            </a:blip>
            <a:stretch>
              <a:fillRect b="0" l="0" r="0" t="0"/>
            </a:stretch>
          </a:blipFill>
          <a:ln>
            <a:noFill/>
          </a:ln>
        </p:spPr>
      </p:sp>
      <p:sp>
        <p:nvSpPr>
          <p:cNvPr id="151" name="Google Shape;151;g39ab1374e1b_0_136"/>
          <p:cNvSpPr txBox="1"/>
          <p:nvPr/>
        </p:nvSpPr>
        <p:spPr>
          <a:xfrm>
            <a:off x="1710674" y="1585350"/>
            <a:ext cx="6604800" cy="7116300"/>
          </a:xfrm>
          <a:prstGeom prst="rect">
            <a:avLst/>
          </a:prstGeom>
          <a:noFill/>
          <a:ln>
            <a:noFill/>
          </a:ln>
        </p:spPr>
        <p:txBody>
          <a:bodyPr anchorCtr="0" anchor="t" bIns="0" lIns="0" spcFirstLastPara="1" rIns="0" wrap="square" tIns="0">
            <a:spAutoFit/>
          </a:bodyPr>
          <a:lstStyle/>
          <a:p>
            <a:pPr indent="0" lvl="0" marL="0" marR="0" rtl="0" algn="l">
              <a:lnSpc>
                <a:spcPct val="139974"/>
              </a:lnSpc>
              <a:spcBef>
                <a:spcPts val="0"/>
              </a:spcBef>
              <a:spcAft>
                <a:spcPts val="0"/>
              </a:spcAft>
              <a:buClr>
                <a:srgbClr val="000000"/>
              </a:buClr>
              <a:buSzPts val="3900"/>
              <a:buFont typeface="Arial"/>
              <a:buNone/>
            </a:pPr>
            <a:r>
              <a:rPr b="0" i="0" lang="en-US" sz="3400" u="none" cap="none" strike="noStrike">
                <a:solidFill>
                  <a:schemeClr val="dk1"/>
                </a:solidFill>
                <a:latin typeface="Arial"/>
                <a:ea typeface="Arial"/>
                <a:cs typeface="Arial"/>
                <a:sym typeface="Arial"/>
              </a:rPr>
              <a:t>El ciclo de vida del software define las fases por las que pasa un proyecto de software, desde su concepción hasta su retiro, y en cada una de estas fases se aplican actividades de aseguramiento de la calidad para garantizar que el producto final cumpla con los estándares y requisitos establecidos.</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5" name="Shape 155"/>
        <p:cNvGrpSpPr/>
        <p:nvPr/>
      </p:nvGrpSpPr>
      <p:grpSpPr>
        <a:xfrm>
          <a:off x="0" y="0"/>
          <a:ext cx="0" cy="0"/>
          <a:chOff x="0" y="0"/>
          <a:chExt cx="0" cy="0"/>
        </a:xfrm>
      </p:grpSpPr>
      <p:sp>
        <p:nvSpPr>
          <p:cNvPr id="156" name="Google Shape;156;g39ab1374e1b_0_141"/>
          <p:cNvSpPr/>
          <p:nvPr/>
        </p:nvSpPr>
        <p:spPr>
          <a:xfrm>
            <a:off x="10857961" y="4471789"/>
            <a:ext cx="6401339" cy="4000837"/>
          </a:xfrm>
          <a:custGeom>
            <a:rect b="b" l="l" r="r" t="t"/>
            <a:pathLst>
              <a:path extrusionOk="0" h="4000837" w="6401339">
                <a:moveTo>
                  <a:pt x="0" y="0"/>
                </a:moveTo>
                <a:lnTo>
                  <a:pt x="6401339" y="0"/>
                </a:lnTo>
                <a:lnTo>
                  <a:pt x="6401339" y="4000837"/>
                </a:lnTo>
                <a:lnTo>
                  <a:pt x="0" y="4000837"/>
                </a:lnTo>
                <a:lnTo>
                  <a:pt x="0" y="0"/>
                </a:lnTo>
                <a:close/>
              </a:path>
            </a:pathLst>
          </a:custGeom>
          <a:blipFill rotWithShape="1">
            <a:blip r:embed="rId3">
              <a:alphaModFix/>
            </a:blip>
            <a:stretch>
              <a:fillRect b="0" l="0" r="0" t="0"/>
            </a:stretch>
          </a:blipFill>
          <a:ln>
            <a:noFill/>
          </a:ln>
        </p:spPr>
      </p:sp>
      <p:sp>
        <p:nvSpPr>
          <p:cNvPr id="157" name="Google Shape;157;g39ab1374e1b_0_141"/>
          <p:cNvSpPr txBox="1"/>
          <p:nvPr/>
        </p:nvSpPr>
        <p:spPr>
          <a:xfrm>
            <a:off x="1398748" y="3774613"/>
            <a:ext cx="9065400" cy="53952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SzPts val="3399"/>
              <a:buFont typeface="Arial"/>
              <a:buNone/>
            </a:pPr>
            <a:r>
              <a:rPr b="0" i="0" lang="en-US" sz="2999" u="none" cap="none" strike="noStrike">
                <a:solidFill>
                  <a:schemeClr val="dk1"/>
                </a:solidFill>
                <a:latin typeface="Arial"/>
                <a:ea typeface="Arial"/>
                <a:cs typeface="Arial"/>
                <a:sym typeface="Arial"/>
              </a:rPr>
              <a:t>Es un conjunto de actividades y procesos sistemáticos diseñados para garantizar que el software cumpla con los estándares de calidad establecidos y satisfaga las expectativas del cliente. </a:t>
            </a:r>
            <a:endParaRPr b="0" i="0" sz="2999" u="none" cap="none" strike="noStrike">
              <a:solidFill>
                <a:schemeClr val="dk1"/>
              </a:solidFill>
              <a:latin typeface="Arial"/>
              <a:ea typeface="Arial"/>
              <a:cs typeface="Arial"/>
              <a:sym typeface="Arial"/>
            </a:endParaRPr>
          </a:p>
          <a:p>
            <a:pPr indent="0" lvl="0" marL="0" marR="0" rtl="0" algn="l">
              <a:lnSpc>
                <a:spcPct val="140011"/>
              </a:lnSpc>
              <a:spcBef>
                <a:spcPts val="0"/>
              </a:spcBef>
              <a:spcAft>
                <a:spcPts val="0"/>
              </a:spcAft>
              <a:buClr>
                <a:srgbClr val="000000"/>
              </a:buClr>
              <a:buSzPts val="3399"/>
              <a:buFont typeface="Arial"/>
              <a:buNone/>
            </a:pPr>
            <a:r>
              <a:t/>
            </a:r>
            <a:endParaRPr sz="1899">
              <a:solidFill>
                <a:schemeClr val="dk1"/>
              </a:solidFill>
            </a:endParaRPr>
          </a:p>
          <a:p>
            <a:pPr indent="0" lvl="0" marL="0" marR="0" rtl="0" algn="l">
              <a:lnSpc>
                <a:spcPct val="140011"/>
              </a:lnSpc>
              <a:spcBef>
                <a:spcPts val="0"/>
              </a:spcBef>
              <a:spcAft>
                <a:spcPts val="0"/>
              </a:spcAft>
              <a:buClr>
                <a:srgbClr val="000000"/>
              </a:buClr>
              <a:buSzPts val="3399"/>
              <a:buFont typeface="Arial"/>
              <a:buNone/>
            </a:pPr>
            <a:r>
              <a:rPr b="0" i="0" lang="en-US" sz="2999" u="none" cap="none" strike="noStrike">
                <a:solidFill>
                  <a:schemeClr val="dk1"/>
                </a:solidFill>
                <a:latin typeface="Arial"/>
                <a:ea typeface="Arial"/>
                <a:cs typeface="Arial"/>
                <a:sym typeface="Arial"/>
              </a:rPr>
              <a:t>El SQA no se limita a la fase de pruebas, sino que abarca todo el ciclo de vida del software, con el objetivo de prevenir defectos en lugar de simplemente detectarlos.</a:t>
            </a:r>
            <a:endParaRPr b="0" i="0" sz="1000" u="none" cap="none" strike="noStrike">
              <a:solidFill>
                <a:schemeClr val="dk1"/>
              </a:solidFill>
              <a:latin typeface="Arial"/>
              <a:ea typeface="Arial"/>
              <a:cs typeface="Arial"/>
              <a:sym typeface="Arial"/>
            </a:endParaRPr>
          </a:p>
        </p:txBody>
      </p:sp>
      <p:sp>
        <p:nvSpPr>
          <p:cNvPr id="158" name="Google Shape;158;g39ab1374e1b_0_141"/>
          <p:cNvSpPr txBox="1"/>
          <p:nvPr/>
        </p:nvSpPr>
        <p:spPr>
          <a:xfrm>
            <a:off x="0" y="575751"/>
            <a:ext cx="18288000" cy="21333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6500"/>
              <a:buFont typeface="Arial"/>
              <a:buNone/>
            </a:pPr>
            <a:r>
              <a:rPr b="1" i="0" lang="en-US" sz="6300" u="none" cap="none" strike="noStrike">
                <a:solidFill>
                  <a:schemeClr val="dk1"/>
                </a:solidFill>
                <a:latin typeface="Poppins"/>
                <a:ea typeface="Poppins"/>
                <a:cs typeface="Poppins"/>
                <a:sym typeface="Poppins"/>
              </a:rPr>
              <a:t>EL ASEGURAMIENTO DE LA CALIDAD DEL SOFTWARE (SQA)</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2" name="Shape 162"/>
        <p:cNvGrpSpPr/>
        <p:nvPr/>
      </p:nvGrpSpPr>
      <p:grpSpPr>
        <a:xfrm>
          <a:off x="0" y="0"/>
          <a:ext cx="0" cy="0"/>
          <a:chOff x="0" y="0"/>
          <a:chExt cx="0" cy="0"/>
        </a:xfrm>
      </p:grpSpPr>
      <p:sp>
        <p:nvSpPr>
          <p:cNvPr id="163" name="Google Shape;163;g39ab1374e1b_0_147"/>
          <p:cNvSpPr/>
          <p:nvPr/>
        </p:nvSpPr>
        <p:spPr>
          <a:xfrm>
            <a:off x="16297265" y="8378510"/>
            <a:ext cx="2495638" cy="2495638"/>
          </a:xfrm>
          <a:custGeom>
            <a:rect b="b" l="l" r="r" t="t"/>
            <a:pathLst>
              <a:path extrusionOk="0" h="2495638" w="2495638">
                <a:moveTo>
                  <a:pt x="0" y="0"/>
                </a:moveTo>
                <a:lnTo>
                  <a:pt x="2495638" y="0"/>
                </a:lnTo>
                <a:lnTo>
                  <a:pt x="2495638" y="2495638"/>
                </a:lnTo>
                <a:lnTo>
                  <a:pt x="0" y="2495638"/>
                </a:lnTo>
                <a:lnTo>
                  <a:pt x="0" y="0"/>
                </a:lnTo>
                <a:close/>
              </a:path>
            </a:pathLst>
          </a:custGeom>
          <a:blipFill rotWithShape="1">
            <a:blip r:embed="rId3">
              <a:alphaModFix amt="38000"/>
            </a:blip>
            <a:stretch>
              <a:fillRect b="0" l="0" r="0" t="0"/>
            </a:stretch>
          </a:blipFill>
          <a:ln>
            <a:noFill/>
          </a:ln>
        </p:spPr>
      </p:sp>
      <p:grpSp>
        <p:nvGrpSpPr>
          <p:cNvPr id="164" name="Google Shape;164;g39ab1374e1b_0_147"/>
          <p:cNvGrpSpPr/>
          <p:nvPr/>
        </p:nvGrpSpPr>
        <p:grpSpPr>
          <a:xfrm>
            <a:off x="1062938" y="2638804"/>
            <a:ext cx="7619911" cy="7217402"/>
            <a:chOff x="0" y="-28575"/>
            <a:chExt cx="2964600" cy="2808000"/>
          </a:xfrm>
        </p:grpSpPr>
        <p:sp>
          <p:nvSpPr>
            <p:cNvPr id="165" name="Google Shape;165;g39ab1374e1b_0_147"/>
            <p:cNvSpPr/>
            <p:nvPr/>
          </p:nvSpPr>
          <p:spPr>
            <a:xfrm>
              <a:off x="0" y="0"/>
              <a:ext cx="2964596" cy="2779309"/>
            </a:xfrm>
            <a:custGeom>
              <a:rect b="b" l="l" r="r" t="t"/>
              <a:pathLst>
                <a:path extrusionOk="0" h="2779309" w="2964596">
                  <a:moveTo>
                    <a:pt x="51816" y="0"/>
                  </a:moveTo>
                  <a:lnTo>
                    <a:pt x="2912780" y="0"/>
                  </a:lnTo>
                  <a:cubicBezTo>
                    <a:pt x="2926522" y="0"/>
                    <a:pt x="2939702" y="5459"/>
                    <a:pt x="2949419" y="15177"/>
                  </a:cubicBezTo>
                  <a:cubicBezTo>
                    <a:pt x="2959137" y="24894"/>
                    <a:pt x="2964596" y="38074"/>
                    <a:pt x="2964596" y="51816"/>
                  </a:cubicBezTo>
                  <a:lnTo>
                    <a:pt x="2964596" y="2727493"/>
                  </a:lnTo>
                  <a:cubicBezTo>
                    <a:pt x="2964596" y="2756110"/>
                    <a:pt x="2941397" y="2779309"/>
                    <a:pt x="2912780" y="2779309"/>
                  </a:cubicBezTo>
                  <a:lnTo>
                    <a:pt x="51816" y="2779309"/>
                  </a:lnTo>
                  <a:cubicBezTo>
                    <a:pt x="38074" y="2779309"/>
                    <a:pt x="24894" y="2773849"/>
                    <a:pt x="15177" y="2764132"/>
                  </a:cubicBezTo>
                  <a:cubicBezTo>
                    <a:pt x="5459" y="2754415"/>
                    <a:pt x="0" y="2741235"/>
                    <a:pt x="0" y="2727493"/>
                  </a:cubicBezTo>
                  <a:lnTo>
                    <a:pt x="0" y="51816"/>
                  </a:lnTo>
                  <a:cubicBezTo>
                    <a:pt x="0" y="23199"/>
                    <a:pt x="23199" y="0"/>
                    <a:pt x="51816"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g39ab1374e1b_0_147"/>
            <p:cNvSpPr txBox="1"/>
            <p:nvPr/>
          </p:nvSpPr>
          <p:spPr>
            <a:xfrm>
              <a:off x="0" y="-28575"/>
              <a:ext cx="2964600" cy="280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67" name="Google Shape;167;g39ab1374e1b_0_147"/>
          <p:cNvGrpSpPr/>
          <p:nvPr/>
        </p:nvGrpSpPr>
        <p:grpSpPr>
          <a:xfrm>
            <a:off x="9544050" y="2638804"/>
            <a:ext cx="7619911" cy="7217402"/>
            <a:chOff x="0" y="-28575"/>
            <a:chExt cx="2964600" cy="2808000"/>
          </a:xfrm>
        </p:grpSpPr>
        <p:sp>
          <p:nvSpPr>
            <p:cNvPr id="168" name="Google Shape;168;g39ab1374e1b_0_147"/>
            <p:cNvSpPr/>
            <p:nvPr/>
          </p:nvSpPr>
          <p:spPr>
            <a:xfrm>
              <a:off x="0" y="0"/>
              <a:ext cx="2964596" cy="2779309"/>
            </a:xfrm>
            <a:custGeom>
              <a:rect b="b" l="l" r="r" t="t"/>
              <a:pathLst>
                <a:path extrusionOk="0" h="2779309" w="2964596">
                  <a:moveTo>
                    <a:pt x="51816" y="0"/>
                  </a:moveTo>
                  <a:lnTo>
                    <a:pt x="2912780" y="0"/>
                  </a:lnTo>
                  <a:cubicBezTo>
                    <a:pt x="2926522" y="0"/>
                    <a:pt x="2939702" y="5459"/>
                    <a:pt x="2949419" y="15177"/>
                  </a:cubicBezTo>
                  <a:cubicBezTo>
                    <a:pt x="2959137" y="24894"/>
                    <a:pt x="2964596" y="38074"/>
                    <a:pt x="2964596" y="51816"/>
                  </a:cubicBezTo>
                  <a:lnTo>
                    <a:pt x="2964596" y="2727493"/>
                  </a:lnTo>
                  <a:cubicBezTo>
                    <a:pt x="2964596" y="2756110"/>
                    <a:pt x="2941397" y="2779309"/>
                    <a:pt x="2912780" y="2779309"/>
                  </a:cubicBezTo>
                  <a:lnTo>
                    <a:pt x="51816" y="2779309"/>
                  </a:lnTo>
                  <a:cubicBezTo>
                    <a:pt x="38074" y="2779309"/>
                    <a:pt x="24894" y="2773849"/>
                    <a:pt x="15177" y="2764132"/>
                  </a:cubicBezTo>
                  <a:cubicBezTo>
                    <a:pt x="5459" y="2754415"/>
                    <a:pt x="0" y="2741235"/>
                    <a:pt x="0" y="2727493"/>
                  </a:cubicBezTo>
                  <a:lnTo>
                    <a:pt x="0" y="51816"/>
                  </a:lnTo>
                  <a:cubicBezTo>
                    <a:pt x="0" y="23199"/>
                    <a:pt x="23199" y="0"/>
                    <a:pt x="51816"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g39ab1374e1b_0_147"/>
            <p:cNvSpPr txBox="1"/>
            <p:nvPr/>
          </p:nvSpPr>
          <p:spPr>
            <a:xfrm>
              <a:off x="0" y="-28575"/>
              <a:ext cx="2964600" cy="280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0" name="Google Shape;170;g39ab1374e1b_0_147"/>
          <p:cNvSpPr txBox="1"/>
          <p:nvPr/>
        </p:nvSpPr>
        <p:spPr>
          <a:xfrm>
            <a:off x="1737605" y="1132505"/>
            <a:ext cx="6270600" cy="2201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500"/>
              <a:buFont typeface="Arial"/>
              <a:buNone/>
            </a:pPr>
            <a:r>
              <a:rPr b="1" i="0" lang="en-US" sz="6500" u="none" cap="none" strike="noStrike">
                <a:solidFill>
                  <a:schemeClr val="dk1"/>
                </a:solidFill>
                <a:latin typeface="Poppins"/>
                <a:ea typeface="Poppins"/>
                <a:cs typeface="Poppins"/>
                <a:sym typeface="Poppins"/>
              </a:rPr>
              <a:t>FASE: ANÁLISIS</a:t>
            </a:r>
            <a:endParaRPr b="0" i="0" sz="1400" u="none" cap="none" strike="noStrike">
              <a:solidFill>
                <a:schemeClr val="dk1"/>
              </a:solidFill>
              <a:latin typeface="Arial"/>
              <a:ea typeface="Arial"/>
              <a:cs typeface="Arial"/>
              <a:sym typeface="Arial"/>
            </a:endParaRPr>
          </a:p>
        </p:txBody>
      </p:sp>
      <p:sp>
        <p:nvSpPr>
          <p:cNvPr id="171" name="Google Shape;171;g39ab1374e1b_0_147"/>
          <p:cNvSpPr txBox="1"/>
          <p:nvPr/>
        </p:nvSpPr>
        <p:spPr>
          <a:xfrm>
            <a:off x="1411887" y="3419475"/>
            <a:ext cx="6922200" cy="654900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2899"/>
              <a:buFont typeface="Arial"/>
              <a:buNone/>
            </a:pPr>
            <a:r>
              <a:rPr b="0" i="0" lang="en-US" sz="2899" u="none" cap="none" strike="noStrike">
                <a:solidFill>
                  <a:srgbClr val="372A28"/>
                </a:solidFill>
                <a:latin typeface="Arial"/>
                <a:ea typeface="Arial"/>
                <a:cs typeface="Arial"/>
                <a:sym typeface="Arial"/>
              </a:rPr>
              <a:t>Se identifican y documentan las necesidades del cliente y los objetivos del software. </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2899"/>
              <a:buFont typeface="Arial"/>
              <a:buNone/>
            </a:pPr>
            <a:r>
              <a:t/>
            </a:r>
            <a:endParaRPr b="0" i="0" sz="2899" u="none" cap="none" strike="noStrike">
              <a:solidFill>
                <a:srgbClr val="372A28"/>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2899"/>
              <a:buFont typeface="Arial"/>
              <a:buNone/>
            </a:pPr>
            <a:r>
              <a:rPr b="0" i="0" lang="en-US" sz="2899" u="none" cap="none" strike="noStrike">
                <a:solidFill>
                  <a:srgbClr val="372A28"/>
                </a:solidFill>
                <a:latin typeface="Arial"/>
                <a:ea typeface="Arial"/>
                <a:cs typeface="Arial"/>
                <a:sym typeface="Arial"/>
              </a:rPr>
              <a:t>El SQA asegura que los requisitos del software estén bien definidos, sean completos, consistentes y medibles.</a:t>
            </a:r>
            <a:endParaRPr b="0" i="0" sz="1400" u="none" cap="none" strike="noStrike">
              <a:solidFill>
                <a:srgbClr val="000000"/>
              </a:solidFill>
              <a:latin typeface="Arial"/>
              <a:ea typeface="Arial"/>
              <a:cs typeface="Arial"/>
              <a:sym typeface="Arial"/>
            </a:endParaRPr>
          </a:p>
          <a:p>
            <a:pPr indent="0" lvl="0" marL="0" marR="0" rtl="0" algn="l">
              <a:lnSpc>
                <a:spcPct val="107588"/>
              </a:lnSpc>
              <a:spcBef>
                <a:spcPts val="0"/>
              </a:spcBef>
              <a:spcAft>
                <a:spcPts val="0"/>
              </a:spcAft>
              <a:buClr>
                <a:srgbClr val="000000"/>
              </a:buClr>
              <a:buSzPts val="2899"/>
              <a:buFont typeface="Arial"/>
              <a:buNone/>
            </a:pPr>
            <a:r>
              <a:t/>
            </a:r>
            <a:endParaRPr b="0" i="0" sz="2899" u="none" cap="none" strike="noStrike">
              <a:solidFill>
                <a:srgbClr val="372A28"/>
              </a:solidFill>
              <a:latin typeface="Arial"/>
              <a:ea typeface="Arial"/>
              <a:cs typeface="Arial"/>
              <a:sym typeface="Arial"/>
            </a:endParaRPr>
          </a:p>
          <a:p>
            <a:pPr indent="0" lvl="0" marL="0" marR="0" rtl="0" algn="ctr">
              <a:lnSpc>
                <a:spcPct val="120007"/>
              </a:lnSpc>
              <a:spcBef>
                <a:spcPts val="0"/>
              </a:spcBef>
              <a:spcAft>
                <a:spcPts val="0"/>
              </a:spcAft>
              <a:buClr>
                <a:srgbClr val="000000"/>
              </a:buClr>
              <a:buSzPts val="2599"/>
              <a:buFont typeface="Arial"/>
              <a:buNone/>
            </a:pPr>
            <a:r>
              <a:rPr b="1" i="0" lang="en-US" sz="2599" u="none" cap="none" strike="noStrike">
                <a:solidFill>
                  <a:srgbClr val="372A28"/>
                </a:solidFill>
                <a:latin typeface="Arial"/>
                <a:ea typeface="Arial"/>
                <a:cs typeface="Arial"/>
                <a:sym typeface="Arial"/>
              </a:rPr>
              <a:t>Requisitos Funcionales</a:t>
            </a:r>
            <a:endParaRPr b="0" i="0" sz="1400" u="none" cap="none" strike="noStrike">
              <a:solidFill>
                <a:srgbClr val="000000"/>
              </a:solidFill>
              <a:latin typeface="Arial"/>
              <a:ea typeface="Arial"/>
              <a:cs typeface="Arial"/>
              <a:sym typeface="Arial"/>
            </a:endParaRPr>
          </a:p>
          <a:p>
            <a:pPr indent="0" lvl="0" marL="0" marR="0" rtl="0" algn="ctr">
              <a:lnSpc>
                <a:spcPct val="120007"/>
              </a:lnSpc>
              <a:spcBef>
                <a:spcPts val="0"/>
              </a:spcBef>
              <a:spcAft>
                <a:spcPts val="0"/>
              </a:spcAft>
              <a:buClr>
                <a:srgbClr val="000000"/>
              </a:buClr>
              <a:buSzPts val="2599"/>
              <a:buFont typeface="Arial"/>
              <a:buNone/>
            </a:pPr>
            <a:r>
              <a:rPr b="1" i="0" lang="en-US" sz="2599" u="none" cap="none" strike="noStrike">
                <a:solidFill>
                  <a:srgbClr val="372A28"/>
                </a:solidFill>
                <a:latin typeface="Arial"/>
                <a:ea typeface="Arial"/>
                <a:cs typeface="Arial"/>
                <a:sym typeface="Arial"/>
              </a:rPr>
              <a:t>Requisitos No Funcionales</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599"/>
              <a:buFont typeface="Arial"/>
              <a:buNone/>
            </a:pPr>
            <a:r>
              <a:t/>
            </a:r>
            <a:endParaRPr b="1" i="0" sz="2599" u="none" cap="none" strike="noStrike">
              <a:solidFill>
                <a:srgbClr val="372A28"/>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599"/>
              <a:buFont typeface="Arial"/>
              <a:buNone/>
            </a:pPr>
            <a:r>
              <a:t/>
            </a:r>
            <a:endParaRPr b="1" i="0" sz="2599" u="none" cap="none" strike="noStrike">
              <a:solidFill>
                <a:srgbClr val="372A28"/>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599"/>
              <a:buFont typeface="Arial"/>
              <a:buNone/>
            </a:pPr>
            <a:r>
              <a:t/>
            </a:r>
            <a:endParaRPr b="1" i="0" sz="2599" u="none" cap="none" strike="noStrike">
              <a:solidFill>
                <a:srgbClr val="372A28"/>
              </a:solidFill>
              <a:latin typeface="Arial"/>
              <a:ea typeface="Arial"/>
              <a:cs typeface="Arial"/>
              <a:sym typeface="Arial"/>
            </a:endParaRPr>
          </a:p>
        </p:txBody>
      </p:sp>
      <p:sp>
        <p:nvSpPr>
          <p:cNvPr id="172" name="Google Shape;172;g39ab1374e1b_0_147"/>
          <p:cNvSpPr txBox="1"/>
          <p:nvPr/>
        </p:nvSpPr>
        <p:spPr>
          <a:xfrm>
            <a:off x="10555784" y="1132505"/>
            <a:ext cx="5596500" cy="2201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500"/>
              <a:buFont typeface="Arial"/>
              <a:buNone/>
            </a:pPr>
            <a:r>
              <a:rPr b="1" i="0" lang="en-US" sz="6500" u="none" cap="none" strike="noStrike">
                <a:solidFill>
                  <a:schemeClr val="dk1"/>
                </a:solidFill>
                <a:latin typeface="Poppins"/>
                <a:ea typeface="Poppins"/>
                <a:cs typeface="Poppins"/>
                <a:sym typeface="Poppins"/>
              </a:rPr>
              <a:t>FASE: DISEÑO</a:t>
            </a:r>
            <a:endParaRPr b="1" i="0" sz="1400" u="none" cap="none" strike="noStrike">
              <a:solidFill>
                <a:schemeClr val="dk1"/>
              </a:solidFill>
              <a:latin typeface="Arial"/>
              <a:ea typeface="Arial"/>
              <a:cs typeface="Arial"/>
              <a:sym typeface="Arial"/>
            </a:endParaRPr>
          </a:p>
        </p:txBody>
      </p:sp>
      <p:sp>
        <p:nvSpPr>
          <p:cNvPr id="173" name="Google Shape;173;g39ab1374e1b_0_147"/>
          <p:cNvSpPr txBox="1"/>
          <p:nvPr/>
        </p:nvSpPr>
        <p:spPr>
          <a:xfrm>
            <a:off x="9918943" y="3350425"/>
            <a:ext cx="7023900" cy="664110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Clr>
                <a:srgbClr val="000000"/>
              </a:buClr>
              <a:buSzPts val="2599"/>
              <a:buFont typeface="Arial"/>
              <a:buNone/>
            </a:pPr>
            <a:r>
              <a:rPr b="0" i="0" lang="en-US" sz="2599" u="none" cap="none" strike="noStrike">
                <a:solidFill>
                  <a:srgbClr val="372A28"/>
                </a:solidFill>
                <a:latin typeface="Arial"/>
                <a:ea typeface="Arial"/>
                <a:cs typeface="Arial"/>
                <a:sym typeface="Arial"/>
              </a:rPr>
              <a:t>Se crea un plan técnico para implementar los requisitos, incluyendo arquitectura y diseño del sistema.</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599"/>
              <a:buFont typeface="Arial"/>
              <a:buNone/>
            </a:pPr>
            <a:r>
              <a:t/>
            </a:r>
            <a:endParaRPr b="0" i="0" sz="2599" u="none" cap="none" strike="noStrike">
              <a:solidFill>
                <a:srgbClr val="372A28"/>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599"/>
              <a:buFont typeface="Arial"/>
              <a:buNone/>
            </a:pPr>
            <a:r>
              <a:rPr b="0" i="0" lang="en-US" sz="2599" u="none" cap="none" strike="noStrike">
                <a:solidFill>
                  <a:srgbClr val="372A28"/>
                </a:solidFill>
                <a:latin typeface="Arial"/>
                <a:ea typeface="Arial"/>
                <a:cs typeface="Arial"/>
                <a:sym typeface="Arial"/>
              </a:rPr>
              <a:t>El SQA verifica que el diseño del software sea coherente con los requisitos y que siga buenas prácticas de arquitectura y diseño.</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599"/>
              <a:buFont typeface="Arial"/>
              <a:buNone/>
            </a:pPr>
            <a:r>
              <a:t/>
            </a:r>
            <a:endParaRPr b="0" i="0" sz="2599" u="none" cap="none" strike="noStrike">
              <a:solidFill>
                <a:srgbClr val="372A28"/>
              </a:solidFill>
              <a:latin typeface="Arial"/>
              <a:ea typeface="Arial"/>
              <a:cs typeface="Arial"/>
              <a:sym typeface="Arial"/>
            </a:endParaRPr>
          </a:p>
          <a:p>
            <a:pPr indent="0" lvl="0" marL="0" marR="0" rtl="0" algn="ctr">
              <a:lnSpc>
                <a:spcPct val="120007"/>
              </a:lnSpc>
              <a:spcBef>
                <a:spcPts val="0"/>
              </a:spcBef>
              <a:spcAft>
                <a:spcPts val="0"/>
              </a:spcAft>
              <a:buClr>
                <a:srgbClr val="000000"/>
              </a:buClr>
              <a:buSzPts val="2599"/>
              <a:buFont typeface="Arial"/>
              <a:buNone/>
            </a:pPr>
            <a:r>
              <a:rPr b="1" i="0" lang="en-US" sz="2599" u="none" cap="none" strike="noStrike">
                <a:solidFill>
                  <a:srgbClr val="372A28"/>
                </a:solidFill>
                <a:latin typeface="Arial"/>
                <a:ea typeface="Arial"/>
                <a:cs typeface="Arial"/>
                <a:sym typeface="Arial"/>
              </a:rPr>
              <a:t>Diseño de la Base de Datos</a:t>
            </a:r>
            <a:endParaRPr b="0" i="0" sz="1400" u="none" cap="none" strike="noStrike">
              <a:solidFill>
                <a:srgbClr val="000000"/>
              </a:solidFill>
              <a:latin typeface="Arial"/>
              <a:ea typeface="Arial"/>
              <a:cs typeface="Arial"/>
              <a:sym typeface="Arial"/>
            </a:endParaRPr>
          </a:p>
          <a:p>
            <a:pPr indent="0" lvl="0" marL="0" marR="0" rtl="0" algn="ctr">
              <a:lnSpc>
                <a:spcPct val="120007"/>
              </a:lnSpc>
              <a:spcBef>
                <a:spcPts val="0"/>
              </a:spcBef>
              <a:spcAft>
                <a:spcPts val="0"/>
              </a:spcAft>
              <a:buClr>
                <a:srgbClr val="000000"/>
              </a:buClr>
              <a:buSzPts val="2599"/>
              <a:buFont typeface="Arial"/>
              <a:buNone/>
            </a:pPr>
            <a:r>
              <a:rPr b="1" i="0" lang="en-US" sz="2599" u="none" cap="none" strike="noStrike">
                <a:solidFill>
                  <a:srgbClr val="372A28"/>
                </a:solidFill>
                <a:latin typeface="Arial"/>
                <a:ea typeface="Arial"/>
                <a:cs typeface="Arial"/>
                <a:sym typeface="Arial"/>
              </a:rPr>
              <a:t>Diagramas de componentes</a:t>
            </a:r>
            <a:endParaRPr b="0" i="0" sz="1400" u="none" cap="none" strike="noStrike">
              <a:solidFill>
                <a:srgbClr val="000000"/>
              </a:solidFill>
              <a:latin typeface="Arial"/>
              <a:ea typeface="Arial"/>
              <a:cs typeface="Arial"/>
              <a:sym typeface="Arial"/>
            </a:endParaRPr>
          </a:p>
          <a:p>
            <a:pPr indent="0" lvl="0" marL="0" marR="0" rtl="0" algn="ctr">
              <a:lnSpc>
                <a:spcPct val="120007"/>
              </a:lnSpc>
              <a:spcBef>
                <a:spcPts val="0"/>
              </a:spcBef>
              <a:spcAft>
                <a:spcPts val="0"/>
              </a:spcAft>
              <a:buClr>
                <a:srgbClr val="000000"/>
              </a:buClr>
              <a:buSzPts val="2599"/>
              <a:buFont typeface="Arial"/>
              <a:buNone/>
            </a:pPr>
            <a:r>
              <a:rPr b="1" i="0" lang="en-US" sz="2599" u="none" cap="none" strike="noStrike">
                <a:solidFill>
                  <a:srgbClr val="372A28"/>
                </a:solidFill>
                <a:latin typeface="Arial"/>
                <a:ea typeface="Arial"/>
                <a:cs typeface="Arial"/>
                <a:sym typeface="Arial"/>
              </a:rPr>
              <a:t>Diseño de la Interfaz de Usuario (Figma)</a:t>
            </a:r>
            <a:endParaRPr b="0" i="0" sz="1400" u="none" cap="none" strike="noStrike">
              <a:solidFill>
                <a:srgbClr val="000000"/>
              </a:solidFill>
              <a:latin typeface="Arial"/>
              <a:ea typeface="Arial"/>
              <a:cs typeface="Arial"/>
              <a:sym typeface="Arial"/>
            </a:endParaRPr>
          </a:p>
          <a:p>
            <a:pPr indent="0" lvl="0" marL="0" marR="0" rtl="0" algn="ctr">
              <a:lnSpc>
                <a:spcPct val="120007"/>
              </a:lnSpc>
              <a:spcBef>
                <a:spcPts val="0"/>
              </a:spcBef>
              <a:spcAft>
                <a:spcPts val="0"/>
              </a:spcAft>
              <a:buClr>
                <a:srgbClr val="000000"/>
              </a:buClr>
              <a:buSzPts val="2599"/>
              <a:buFont typeface="Arial"/>
              <a:buNone/>
            </a:pPr>
            <a:r>
              <a:t/>
            </a:r>
            <a:endParaRPr b="1" i="0" sz="2599" u="none" cap="none" strike="noStrike">
              <a:solidFill>
                <a:srgbClr val="372A28"/>
              </a:solidFill>
              <a:latin typeface="Arial"/>
              <a:ea typeface="Arial"/>
              <a:cs typeface="Arial"/>
              <a:sym typeface="Arial"/>
            </a:endParaRPr>
          </a:p>
          <a:p>
            <a:pPr indent="0" lvl="0" marL="0" marR="0" rtl="0" algn="ctr">
              <a:lnSpc>
                <a:spcPct val="120007"/>
              </a:lnSpc>
              <a:spcBef>
                <a:spcPts val="0"/>
              </a:spcBef>
              <a:spcAft>
                <a:spcPts val="0"/>
              </a:spcAft>
              <a:buClr>
                <a:srgbClr val="000000"/>
              </a:buClr>
              <a:buSzPts val="2599"/>
              <a:buFont typeface="Arial"/>
              <a:buNone/>
            </a:pPr>
            <a:r>
              <a:t/>
            </a:r>
            <a:endParaRPr b="1" i="0" sz="2599" u="none" cap="none" strike="noStrike">
              <a:solidFill>
                <a:srgbClr val="372A28"/>
              </a:solidFill>
              <a:latin typeface="Arial"/>
              <a:ea typeface="Arial"/>
              <a:cs typeface="Arial"/>
              <a:sym typeface="Arial"/>
            </a:endParaRPr>
          </a:p>
          <a:p>
            <a:pPr indent="0" lvl="0" marL="0" marR="0" rtl="0" algn="ctr">
              <a:lnSpc>
                <a:spcPct val="120007"/>
              </a:lnSpc>
              <a:spcBef>
                <a:spcPts val="0"/>
              </a:spcBef>
              <a:spcAft>
                <a:spcPts val="0"/>
              </a:spcAft>
              <a:buClr>
                <a:srgbClr val="000000"/>
              </a:buClr>
              <a:buSzPts val="2599"/>
              <a:buFont typeface="Arial"/>
              <a:buNone/>
            </a:pPr>
            <a:r>
              <a:t/>
            </a:r>
            <a:endParaRPr b="1" i="0" sz="2599" u="none" cap="none" strike="noStrike">
              <a:solidFill>
                <a:srgbClr val="372A28"/>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7" name="Shape 177"/>
        <p:cNvGrpSpPr/>
        <p:nvPr/>
      </p:nvGrpSpPr>
      <p:grpSpPr>
        <a:xfrm>
          <a:off x="0" y="0"/>
          <a:ext cx="0" cy="0"/>
          <a:chOff x="0" y="0"/>
          <a:chExt cx="0" cy="0"/>
        </a:xfrm>
      </p:grpSpPr>
      <p:sp>
        <p:nvSpPr>
          <p:cNvPr id="178" name="Google Shape;178;g39ab1374e1b_0_161"/>
          <p:cNvSpPr/>
          <p:nvPr/>
        </p:nvSpPr>
        <p:spPr>
          <a:xfrm>
            <a:off x="16297265" y="8378510"/>
            <a:ext cx="2495638" cy="2495638"/>
          </a:xfrm>
          <a:custGeom>
            <a:rect b="b" l="l" r="r" t="t"/>
            <a:pathLst>
              <a:path extrusionOk="0" h="2495638" w="2495638">
                <a:moveTo>
                  <a:pt x="0" y="0"/>
                </a:moveTo>
                <a:lnTo>
                  <a:pt x="2495638" y="0"/>
                </a:lnTo>
                <a:lnTo>
                  <a:pt x="2495638" y="2495638"/>
                </a:lnTo>
                <a:lnTo>
                  <a:pt x="0" y="2495638"/>
                </a:lnTo>
                <a:lnTo>
                  <a:pt x="0" y="0"/>
                </a:lnTo>
                <a:close/>
              </a:path>
            </a:pathLst>
          </a:custGeom>
          <a:blipFill rotWithShape="1">
            <a:blip r:embed="rId3">
              <a:alphaModFix amt="38000"/>
            </a:blip>
            <a:stretch>
              <a:fillRect b="0" l="0" r="0" t="0"/>
            </a:stretch>
          </a:blipFill>
          <a:ln>
            <a:noFill/>
          </a:ln>
        </p:spPr>
      </p:sp>
      <p:grpSp>
        <p:nvGrpSpPr>
          <p:cNvPr id="179" name="Google Shape;179;g39ab1374e1b_0_161"/>
          <p:cNvGrpSpPr/>
          <p:nvPr/>
        </p:nvGrpSpPr>
        <p:grpSpPr>
          <a:xfrm>
            <a:off x="1062938" y="2638804"/>
            <a:ext cx="7619911" cy="7217402"/>
            <a:chOff x="0" y="-28575"/>
            <a:chExt cx="2964600" cy="2808000"/>
          </a:xfrm>
        </p:grpSpPr>
        <p:sp>
          <p:nvSpPr>
            <p:cNvPr id="180" name="Google Shape;180;g39ab1374e1b_0_161"/>
            <p:cNvSpPr/>
            <p:nvPr/>
          </p:nvSpPr>
          <p:spPr>
            <a:xfrm>
              <a:off x="0" y="0"/>
              <a:ext cx="2964596" cy="2779309"/>
            </a:xfrm>
            <a:custGeom>
              <a:rect b="b" l="l" r="r" t="t"/>
              <a:pathLst>
                <a:path extrusionOk="0" h="2779309" w="2964596">
                  <a:moveTo>
                    <a:pt x="51816" y="0"/>
                  </a:moveTo>
                  <a:lnTo>
                    <a:pt x="2912780" y="0"/>
                  </a:lnTo>
                  <a:cubicBezTo>
                    <a:pt x="2926522" y="0"/>
                    <a:pt x="2939702" y="5459"/>
                    <a:pt x="2949419" y="15177"/>
                  </a:cubicBezTo>
                  <a:cubicBezTo>
                    <a:pt x="2959137" y="24894"/>
                    <a:pt x="2964596" y="38074"/>
                    <a:pt x="2964596" y="51816"/>
                  </a:cubicBezTo>
                  <a:lnTo>
                    <a:pt x="2964596" y="2727493"/>
                  </a:lnTo>
                  <a:cubicBezTo>
                    <a:pt x="2964596" y="2756110"/>
                    <a:pt x="2941397" y="2779309"/>
                    <a:pt x="2912780" y="2779309"/>
                  </a:cubicBezTo>
                  <a:lnTo>
                    <a:pt x="51816" y="2779309"/>
                  </a:lnTo>
                  <a:cubicBezTo>
                    <a:pt x="38074" y="2779309"/>
                    <a:pt x="24894" y="2773849"/>
                    <a:pt x="15177" y="2764132"/>
                  </a:cubicBezTo>
                  <a:cubicBezTo>
                    <a:pt x="5459" y="2754415"/>
                    <a:pt x="0" y="2741235"/>
                    <a:pt x="0" y="2727493"/>
                  </a:cubicBezTo>
                  <a:lnTo>
                    <a:pt x="0" y="51816"/>
                  </a:lnTo>
                  <a:cubicBezTo>
                    <a:pt x="0" y="23199"/>
                    <a:pt x="23199" y="0"/>
                    <a:pt x="51816"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g39ab1374e1b_0_161"/>
            <p:cNvSpPr txBox="1"/>
            <p:nvPr/>
          </p:nvSpPr>
          <p:spPr>
            <a:xfrm>
              <a:off x="0" y="-28575"/>
              <a:ext cx="2964600" cy="280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82" name="Google Shape;182;g39ab1374e1b_0_161"/>
          <p:cNvGrpSpPr/>
          <p:nvPr/>
        </p:nvGrpSpPr>
        <p:grpSpPr>
          <a:xfrm>
            <a:off x="9544050" y="2638804"/>
            <a:ext cx="7619911" cy="7217402"/>
            <a:chOff x="0" y="-28575"/>
            <a:chExt cx="2964600" cy="2808000"/>
          </a:xfrm>
        </p:grpSpPr>
        <p:sp>
          <p:nvSpPr>
            <p:cNvPr id="183" name="Google Shape;183;g39ab1374e1b_0_161"/>
            <p:cNvSpPr/>
            <p:nvPr/>
          </p:nvSpPr>
          <p:spPr>
            <a:xfrm>
              <a:off x="0" y="0"/>
              <a:ext cx="2964596" cy="2779309"/>
            </a:xfrm>
            <a:custGeom>
              <a:rect b="b" l="l" r="r" t="t"/>
              <a:pathLst>
                <a:path extrusionOk="0" h="2779309" w="2964596">
                  <a:moveTo>
                    <a:pt x="51816" y="0"/>
                  </a:moveTo>
                  <a:lnTo>
                    <a:pt x="2912780" y="0"/>
                  </a:lnTo>
                  <a:cubicBezTo>
                    <a:pt x="2926522" y="0"/>
                    <a:pt x="2939702" y="5459"/>
                    <a:pt x="2949419" y="15177"/>
                  </a:cubicBezTo>
                  <a:cubicBezTo>
                    <a:pt x="2959137" y="24894"/>
                    <a:pt x="2964596" y="38074"/>
                    <a:pt x="2964596" y="51816"/>
                  </a:cubicBezTo>
                  <a:lnTo>
                    <a:pt x="2964596" y="2727493"/>
                  </a:lnTo>
                  <a:cubicBezTo>
                    <a:pt x="2964596" y="2756110"/>
                    <a:pt x="2941397" y="2779309"/>
                    <a:pt x="2912780" y="2779309"/>
                  </a:cubicBezTo>
                  <a:lnTo>
                    <a:pt x="51816" y="2779309"/>
                  </a:lnTo>
                  <a:cubicBezTo>
                    <a:pt x="38074" y="2779309"/>
                    <a:pt x="24894" y="2773849"/>
                    <a:pt x="15177" y="2764132"/>
                  </a:cubicBezTo>
                  <a:cubicBezTo>
                    <a:pt x="5459" y="2754415"/>
                    <a:pt x="0" y="2741235"/>
                    <a:pt x="0" y="2727493"/>
                  </a:cubicBezTo>
                  <a:lnTo>
                    <a:pt x="0" y="51816"/>
                  </a:lnTo>
                  <a:cubicBezTo>
                    <a:pt x="0" y="23199"/>
                    <a:pt x="23199" y="0"/>
                    <a:pt x="51816"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g39ab1374e1b_0_161"/>
            <p:cNvSpPr txBox="1"/>
            <p:nvPr/>
          </p:nvSpPr>
          <p:spPr>
            <a:xfrm>
              <a:off x="0" y="-28575"/>
              <a:ext cx="2964600" cy="280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5" name="Google Shape;185;g39ab1374e1b_0_161"/>
          <p:cNvSpPr txBox="1"/>
          <p:nvPr/>
        </p:nvSpPr>
        <p:spPr>
          <a:xfrm>
            <a:off x="1676461" y="1246805"/>
            <a:ext cx="6393000" cy="1794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300"/>
              <a:buFont typeface="Arial"/>
              <a:buNone/>
            </a:pPr>
            <a:r>
              <a:rPr b="1" i="0" lang="en-US" sz="5300" u="none" cap="none" strike="noStrike">
                <a:solidFill>
                  <a:schemeClr val="dk1"/>
                </a:solidFill>
                <a:latin typeface="Poppins"/>
                <a:ea typeface="Poppins"/>
                <a:cs typeface="Poppins"/>
                <a:sym typeface="Poppins"/>
              </a:rPr>
              <a:t>FASE: DESARROLLO</a:t>
            </a:r>
            <a:endParaRPr b="0" i="0" sz="1400" u="none" cap="none" strike="noStrike">
              <a:solidFill>
                <a:schemeClr val="dk1"/>
              </a:solidFill>
              <a:latin typeface="Arial"/>
              <a:ea typeface="Arial"/>
              <a:cs typeface="Arial"/>
              <a:sym typeface="Arial"/>
            </a:endParaRPr>
          </a:p>
        </p:txBody>
      </p:sp>
      <p:sp>
        <p:nvSpPr>
          <p:cNvPr id="186" name="Google Shape;186;g39ab1374e1b_0_161"/>
          <p:cNvSpPr txBox="1"/>
          <p:nvPr/>
        </p:nvSpPr>
        <p:spPr>
          <a:xfrm>
            <a:off x="1645401" y="3564750"/>
            <a:ext cx="6455100" cy="612420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2899"/>
              <a:buFont typeface="Arial"/>
              <a:buNone/>
            </a:pPr>
            <a:r>
              <a:rPr b="0" i="0" lang="en-US" sz="2899" u="none" cap="none" strike="noStrike">
                <a:solidFill>
                  <a:srgbClr val="372A28"/>
                </a:solidFill>
                <a:latin typeface="Arial"/>
                <a:ea typeface="Arial"/>
                <a:cs typeface="Arial"/>
                <a:sym typeface="Arial"/>
              </a:rPr>
              <a:t>Se escribe el código según el diseño establecido.</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2899"/>
              <a:buFont typeface="Arial"/>
              <a:buNone/>
            </a:pPr>
            <a:r>
              <a:t/>
            </a:r>
            <a:endParaRPr b="0" i="0" sz="2899" u="none" cap="none" strike="noStrike">
              <a:solidFill>
                <a:srgbClr val="372A28"/>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2899"/>
              <a:buFont typeface="Arial"/>
              <a:buNone/>
            </a:pPr>
            <a:r>
              <a:rPr b="0" i="0" lang="en-US" sz="2899" u="none" cap="none" strike="noStrike">
                <a:solidFill>
                  <a:srgbClr val="372A28"/>
                </a:solidFill>
                <a:latin typeface="Arial"/>
                <a:ea typeface="Arial"/>
                <a:cs typeface="Arial"/>
                <a:sym typeface="Arial"/>
              </a:rPr>
              <a:t>El SQA supervisa la escritura del código, asegurando que se sigan estándares de codificación y buenas prácticas.</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2899"/>
              <a:buFont typeface="Arial"/>
              <a:buNone/>
            </a:pPr>
            <a:r>
              <a:t/>
            </a:r>
            <a:endParaRPr b="0" i="0" sz="2899" u="none" cap="none" strike="noStrike">
              <a:solidFill>
                <a:srgbClr val="372A28"/>
              </a:solidFill>
              <a:latin typeface="Arial"/>
              <a:ea typeface="Arial"/>
              <a:cs typeface="Arial"/>
              <a:sym typeface="Arial"/>
            </a:endParaRPr>
          </a:p>
          <a:p>
            <a:pPr indent="0" lvl="0" marL="0" marR="0" rtl="0" algn="l">
              <a:lnSpc>
                <a:spcPct val="107588"/>
              </a:lnSpc>
              <a:spcBef>
                <a:spcPts val="0"/>
              </a:spcBef>
              <a:spcAft>
                <a:spcPts val="0"/>
              </a:spcAft>
              <a:buClr>
                <a:srgbClr val="000000"/>
              </a:buClr>
              <a:buSzPts val="2899"/>
              <a:buFont typeface="Arial"/>
              <a:buNone/>
            </a:pPr>
            <a:r>
              <a:t/>
            </a:r>
            <a:endParaRPr b="0" i="0" sz="2899" u="none" cap="none" strike="noStrike">
              <a:solidFill>
                <a:srgbClr val="372A28"/>
              </a:solidFill>
              <a:latin typeface="Arial"/>
              <a:ea typeface="Arial"/>
              <a:cs typeface="Arial"/>
              <a:sym typeface="Arial"/>
            </a:endParaRPr>
          </a:p>
          <a:p>
            <a:pPr indent="0" lvl="0" marL="0" marR="0" rtl="0" algn="ctr">
              <a:lnSpc>
                <a:spcPct val="120007"/>
              </a:lnSpc>
              <a:spcBef>
                <a:spcPts val="0"/>
              </a:spcBef>
              <a:spcAft>
                <a:spcPts val="0"/>
              </a:spcAft>
              <a:buClr>
                <a:srgbClr val="000000"/>
              </a:buClr>
              <a:buSzPts val="2599"/>
              <a:buFont typeface="Arial"/>
              <a:buNone/>
            </a:pPr>
            <a:r>
              <a:rPr b="1" i="0" lang="en-US" sz="2599" u="none" cap="none" strike="noStrike">
                <a:solidFill>
                  <a:srgbClr val="372A28"/>
                </a:solidFill>
                <a:latin typeface="Arial"/>
                <a:ea typeface="Arial"/>
                <a:cs typeface="Arial"/>
                <a:sym typeface="Arial"/>
              </a:rPr>
              <a:t>Principios SOLID</a:t>
            </a:r>
            <a:endParaRPr b="0" i="0" sz="1400" u="none" cap="none" strike="noStrike">
              <a:solidFill>
                <a:srgbClr val="000000"/>
              </a:solidFill>
              <a:latin typeface="Arial"/>
              <a:ea typeface="Arial"/>
              <a:cs typeface="Arial"/>
              <a:sym typeface="Arial"/>
            </a:endParaRPr>
          </a:p>
          <a:p>
            <a:pPr indent="0" lvl="0" marL="0" marR="0" rtl="0" algn="ctr">
              <a:lnSpc>
                <a:spcPct val="120007"/>
              </a:lnSpc>
              <a:spcBef>
                <a:spcPts val="0"/>
              </a:spcBef>
              <a:spcAft>
                <a:spcPts val="0"/>
              </a:spcAft>
              <a:buClr>
                <a:srgbClr val="000000"/>
              </a:buClr>
              <a:buSzPts val="2599"/>
              <a:buFont typeface="Arial"/>
              <a:buNone/>
            </a:pPr>
            <a:r>
              <a:rPr b="1" i="0" lang="en-US" sz="2599" u="none" cap="none" strike="noStrike">
                <a:solidFill>
                  <a:srgbClr val="372A28"/>
                </a:solidFill>
                <a:latin typeface="Arial"/>
                <a:ea typeface="Arial"/>
                <a:cs typeface="Arial"/>
                <a:sym typeface="Arial"/>
              </a:rPr>
              <a:t>Patrones de diseño</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599"/>
              <a:buFont typeface="Arial"/>
              <a:buNone/>
            </a:pPr>
            <a:r>
              <a:t/>
            </a:r>
            <a:endParaRPr b="1" i="0" sz="2599" u="none" cap="none" strike="noStrike">
              <a:solidFill>
                <a:srgbClr val="372A28"/>
              </a:solidFill>
              <a:latin typeface="Arial"/>
              <a:ea typeface="Arial"/>
              <a:cs typeface="Arial"/>
              <a:sym typeface="Arial"/>
            </a:endParaRPr>
          </a:p>
        </p:txBody>
      </p:sp>
      <p:sp>
        <p:nvSpPr>
          <p:cNvPr id="187" name="Google Shape;187;g39ab1374e1b_0_161"/>
          <p:cNvSpPr txBox="1"/>
          <p:nvPr/>
        </p:nvSpPr>
        <p:spPr>
          <a:xfrm>
            <a:off x="10676447" y="1218230"/>
            <a:ext cx="5355300" cy="18621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Clr>
                <a:srgbClr val="000000"/>
              </a:buClr>
              <a:buSzPts val="5499"/>
              <a:buFont typeface="Arial"/>
              <a:buNone/>
            </a:pPr>
            <a:r>
              <a:rPr b="1" i="0" lang="en-US" sz="5499" u="none" cap="none" strike="noStrike">
                <a:solidFill>
                  <a:schemeClr val="dk1"/>
                </a:solidFill>
                <a:latin typeface="Poppins"/>
                <a:ea typeface="Poppins"/>
                <a:cs typeface="Poppins"/>
                <a:sym typeface="Poppins"/>
              </a:rPr>
              <a:t>FASE: PRUEBA</a:t>
            </a:r>
            <a:r>
              <a:rPr b="1" i="0" lang="en-US" sz="5499" u="none" cap="none" strike="noStrike">
                <a:solidFill>
                  <a:srgbClr val="FFFFFF"/>
                </a:solidFill>
                <a:latin typeface="Poppins"/>
                <a:ea typeface="Poppins"/>
                <a:cs typeface="Poppins"/>
                <a:sym typeface="Poppins"/>
              </a:rPr>
              <a:t>S</a:t>
            </a:r>
            <a:endParaRPr b="0" i="0" sz="1400" u="none" cap="none" strike="noStrike">
              <a:solidFill>
                <a:srgbClr val="000000"/>
              </a:solidFill>
              <a:latin typeface="Arial"/>
              <a:ea typeface="Arial"/>
              <a:cs typeface="Arial"/>
              <a:sym typeface="Arial"/>
            </a:endParaRPr>
          </a:p>
        </p:txBody>
      </p:sp>
      <p:sp>
        <p:nvSpPr>
          <p:cNvPr id="188" name="Google Shape;188;g39ab1374e1b_0_161"/>
          <p:cNvSpPr txBox="1"/>
          <p:nvPr/>
        </p:nvSpPr>
        <p:spPr>
          <a:xfrm>
            <a:off x="10126550" y="3564750"/>
            <a:ext cx="6455100" cy="490260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Clr>
                <a:srgbClr val="000000"/>
              </a:buClr>
              <a:buSzPts val="2699"/>
              <a:buFont typeface="Arial"/>
              <a:buNone/>
            </a:pPr>
            <a:r>
              <a:rPr b="0" i="0" lang="en-US" sz="2699" u="none" cap="none" strike="noStrike">
                <a:solidFill>
                  <a:srgbClr val="372A28"/>
                </a:solidFill>
                <a:latin typeface="Arial"/>
                <a:ea typeface="Arial"/>
                <a:cs typeface="Arial"/>
                <a:sym typeface="Arial"/>
              </a:rPr>
              <a:t>El equipo de desarrollo hace pruebas técnicas porque están directamente relacionadas con el código y su implementación. </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699"/>
              <a:buFont typeface="Arial"/>
              <a:buNone/>
            </a:pPr>
            <a:r>
              <a:t/>
            </a:r>
            <a:endParaRPr b="0" i="0" sz="2699" u="none" cap="none" strike="noStrike">
              <a:solidFill>
                <a:srgbClr val="372A28"/>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699"/>
              <a:buFont typeface="Arial"/>
              <a:buNone/>
            </a:pPr>
            <a:r>
              <a:rPr b="0" i="0" lang="en-US" sz="2699" u="none" cap="none" strike="noStrike">
                <a:solidFill>
                  <a:srgbClr val="372A28"/>
                </a:solidFill>
                <a:latin typeface="Arial"/>
                <a:ea typeface="Arial"/>
                <a:cs typeface="Arial"/>
                <a:sym typeface="Arial"/>
              </a:rPr>
              <a:t>El equipo de QA hace pruebas funcionales y no funcionales porque se enfocan en validar el software desde la perspectiva del usuario y los requisitos del negocio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2" name="Shape 192"/>
        <p:cNvGrpSpPr/>
        <p:nvPr/>
      </p:nvGrpSpPr>
      <p:grpSpPr>
        <a:xfrm>
          <a:off x="0" y="0"/>
          <a:ext cx="0" cy="0"/>
          <a:chOff x="0" y="0"/>
          <a:chExt cx="0" cy="0"/>
        </a:xfrm>
      </p:grpSpPr>
      <p:sp>
        <p:nvSpPr>
          <p:cNvPr id="193" name="Google Shape;193;g39ab1374e1b_0_175"/>
          <p:cNvSpPr/>
          <p:nvPr/>
        </p:nvSpPr>
        <p:spPr>
          <a:xfrm>
            <a:off x="16297265" y="8378510"/>
            <a:ext cx="2495638" cy="2495638"/>
          </a:xfrm>
          <a:custGeom>
            <a:rect b="b" l="l" r="r" t="t"/>
            <a:pathLst>
              <a:path extrusionOk="0" h="2495638" w="2495638">
                <a:moveTo>
                  <a:pt x="0" y="0"/>
                </a:moveTo>
                <a:lnTo>
                  <a:pt x="2495638" y="0"/>
                </a:lnTo>
                <a:lnTo>
                  <a:pt x="2495638" y="2495638"/>
                </a:lnTo>
                <a:lnTo>
                  <a:pt x="0" y="2495638"/>
                </a:lnTo>
                <a:lnTo>
                  <a:pt x="0" y="0"/>
                </a:lnTo>
                <a:close/>
              </a:path>
            </a:pathLst>
          </a:custGeom>
          <a:blipFill rotWithShape="1">
            <a:blip r:embed="rId3">
              <a:alphaModFix amt="38000"/>
            </a:blip>
            <a:stretch>
              <a:fillRect b="0" l="0" r="0" t="0"/>
            </a:stretch>
          </a:blipFill>
          <a:ln>
            <a:noFill/>
          </a:ln>
        </p:spPr>
      </p:sp>
      <p:sp>
        <p:nvSpPr>
          <p:cNvPr id="194" name="Google Shape;194;g39ab1374e1b_0_175"/>
          <p:cNvSpPr/>
          <p:nvPr/>
        </p:nvSpPr>
        <p:spPr>
          <a:xfrm>
            <a:off x="8025849" y="8198847"/>
            <a:ext cx="3103222" cy="1427482"/>
          </a:xfrm>
          <a:custGeom>
            <a:rect b="b" l="l" r="r" t="t"/>
            <a:pathLst>
              <a:path extrusionOk="0" h="1427482" w="3103222">
                <a:moveTo>
                  <a:pt x="0" y="0"/>
                </a:moveTo>
                <a:lnTo>
                  <a:pt x="3103222" y="0"/>
                </a:lnTo>
                <a:lnTo>
                  <a:pt x="3103222" y="1427482"/>
                </a:lnTo>
                <a:lnTo>
                  <a:pt x="0" y="1427482"/>
                </a:lnTo>
                <a:lnTo>
                  <a:pt x="0" y="0"/>
                </a:lnTo>
                <a:close/>
              </a:path>
            </a:pathLst>
          </a:custGeom>
          <a:blipFill rotWithShape="1">
            <a:blip r:embed="rId4">
              <a:alphaModFix/>
            </a:blip>
            <a:stretch>
              <a:fillRect b="0" l="0" r="0" t="0"/>
            </a:stretch>
          </a:blipFill>
          <a:ln>
            <a:noFill/>
          </a:ln>
        </p:spPr>
      </p:sp>
      <p:sp>
        <p:nvSpPr>
          <p:cNvPr id="195" name="Google Shape;195;g39ab1374e1b_0_175"/>
          <p:cNvSpPr/>
          <p:nvPr/>
        </p:nvSpPr>
        <p:spPr>
          <a:xfrm>
            <a:off x="8221443" y="2100430"/>
            <a:ext cx="3103222" cy="1427482"/>
          </a:xfrm>
          <a:custGeom>
            <a:rect b="b" l="l" r="r" t="t"/>
            <a:pathLst>
              <a:path extrusionOk="0" h="1427482" w="3103222">
                <a:moveTo>
                  <a:pt x="0" y="0"/>
                </a:moveTo>
                <a:lnTo>
                  <a:pt x="3103222" y="0"/>
                </a:lnTo>
                <a:lnTo>
                  <a:pt x="3103222" y="1427482"/>
                </a:lnTo>
                <a:lnTo>
                  <a:pt x="0" y="1427482"/>
                </a:lnTo>
                <a:lnTo>
                  <a:pt x="0" y="0"/>
                </a:lnTo>
                <a:close/>
              </a:path>
            </a:pathLst>
          </a:custGeom>
          <a:blipFill rotWithShape="1">
            <a:blip r:embed="rId4">
              <a:alphaModFix/>
            </a:blip>
            <a:stretch>
              <a:fillRect b="0" l="0" r="0" t="0"/>
            </a:stretch>
          </a:blipFill>
          <a:ln>
            <a:noFill/>
          </a:ln>
        </p:spPr>
      </p:sp>
      <p:grpSp>
        <p:nvGrpSpPr>
          <p:cNvPr id="196" name="Google Shape;196;g39ab1374e1b_0_175"/>
          <p:cNvGrpSpPr/>
          <p:nvPr/>
        </p:nvGrpSpPr>
        <p:grpSpPr>
          <a:xfrm>
            <a:off x="10309150" y="240325"/>
            <a:ext cx="6911378" cy="4746102"/>
            <a:chOff x="0" y="-28575"/>
            <a:chExt cx="2276100" cy="1719976"/>
          </a:xfrm>
        </p:grpSpPr>
        <p:sp>
          <p:nvSpPr>
            <p:cNvPr id="197" name="Google Shape;197;g39ab1374e1b_0_175"/>
            <p:cNvSpPr/>
            <p:nvPr/>
          </p:nvSpPr>
          <p:spPr>
            <a:xfrm>
              <a:off x="0" y="0"/>
              <a:ext cx="2276039" cy="1691401"/>
            </a:xfrm>
            <a:custGeom>
              <a:rect b="b" l="l" r="r" t="t"/>
              <a:pathLst>
                <a:path extrusionOk="0" h="1691401" w="2276039">
                  <a:moveTo>
                    <a:pt x="62867" y="0"/>
                  </a:moveTo>
                  <a:lnTo>
                    <a:pt x="2213172" y="0"/>
                  </a:lnTo>
                  <a:cubicBezTo>
                    <a:pt x="2247892" y="0"/>
                    <a:pt x="2276039" y="28147"/>
                    <a:pt x="2276039" y="62867"/>
                  </a:cubicBezTo>
                  <a:lnTo>
                    <a:pt x="2276039" y="1628534"/>
                  </a:lnTo>
                  <a:cubicBezTo>
                    <a:pt x="2276039" y="1663254"/>
                    <a:pt x="2247892" y="1691401"/>
                    <a:pt x="2213172" y="1691401"/>
                  </a:cubicBezTo>
                  <a:lnTo>
                    <a:pt x="62867" y="1691401"/>
                  </a:lnTo>
                  <a:cubicBezTo>
                    <a:pt x="46194" y="1691401"/>
                    <a:pt x="30203" y="1684778"/>
                    <a:pt x="18413" y="1672988"/>
                  </a:cubicBezTo>
                  <a:cubicBezTo>
                    <a:pt x="6623" y="1661198"/>
                    <a:pt x="0" y="1645207"/>
                    <a:pt x="0" y="1628534"/>
                  </a:cubicBezTo>
                  <a:lnTo>
                    <a:pt x="0" y="62867"/>
                  </a:lnTo>
                  <a:cubicBezTo>
                    <a:pt x="0" y="28147"/>
                    <a:pt x="28147" y="0"/>
                    <a:pt x="62867" y="0"/>
                  </a:cubicBezTo>
                  <a:close/>
                </a:path>
              </a:pathLst>
            </a:custGeom>
            <a:solidFill>
              <a:srgbClr val="E1E1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g39ab1374e1b_0_175"/>
            <p:cNvSpPr txBox="1"/>
            <p:nvPr/>
          </p:nvSpPr>
          <p:spPr>
            <a:xfrm>
              <a:off x="0" y="-28575"/>
              <a:ext cx="2276100" cy="1719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9" name="Google Shape;199;g39ab1374e1b_0_175"/>
          <p:cNvGrpSpPr/>
          <p:nvPr/>
        </p:nvGrpSpPr>
        <p:grpSpPr>
          <a:xfrm>
            <a:off x="1524000" y="2740724"/>
            <a:ext cx="7619985" cy="5708347"/>
            <a:chOff x="0" y="-97930"/>
            <a:chExt cx="10159981" cy="7611129"/>
          </a:xfrm>
        </p:grpSpPr>
        <p:grpSp>
          <p:nvGrpSpPr>
            <p:cNvPr id="200" name="Google Shape;200;g39ab1374e1b_0_175"/>
            <p:cNvGrpSpPr/>
            <p:nvPr/>
          </p:nvGrpSpPr>
          <p:grpSpPr>
            <a:xfrm>
              <a:off x="0" y="-97930"/>
              <a:ext cx="10159981" cy="7522827"/>
              <a:chOff x="0" y="-28575"/>
              <a:chExt cx="2964600" cy="2195100"/>
            </a:xfrm>
          </p:grpSpPr>
          <p:sp>
            <p:nvSpPr>
              <p:cNvPr id="201" name="Google Shape;201;g39ab1374e1b_0_175"/>
              <p:cNvSpPr/>
              <p:nvPr/>
            </p:nvSpPr>
            <p:spPr>
              <a:xfrm>
                <a:off x="0" y="0"/>
                <a:ext cx="2964596" cy="2166503"/>
              </a:xfrm>
              <a:custGeom>
                <a:rect b="b" l="l" r="r" t="t"/>
                <a:pathLst>
                  <a:path extrusionOk="0" h="2166503" w="2964596">
                    <a:moveTo>
                      <a:pt x="51816" y="0"/>
                    </a:moveTo>
                    <a:lnTo>
                      <a:pt x="2912780" y="0"/>
                    </a:lnTo>
                    <a:cubicBezTo>
                      <a:pt x="2926522" y="0"/>
                      <a:pt x="2939702" y="5459"/>
                      <a:pt x="2949419" y="15177"/>
                    </a:cubicBezTo>
                    <a:cubicBezTo>
                      <a:pt x="2959137" y="24894"/>
                      <a:pt x="2964596" y="38074"/>
                      <a:pt x="2964596" y="51816"/>
                    </a:cubicBezTo>
                    <a:lnTo>
                      <a:pt x="2964596" y="2114687"/>
                    </a:lnTo>
                    <a:cubicBezTo>
                      <a:pt x="2964596" y="2143304"/>
                      <a:pt x="2941397" y="2166503"/>
                      <a:pt x="2912780" y="2166503"/>
                    </a:cubicBezTo>
                    <a:lnTo>
                      <a:pt x="51816" y="2166503"/>
                    </a:lnTo>
                    <a:cubicBezTo>
                      <a:pt x="38074" y="2166503"/>
                      <a:pt x="24894" y="2161044"/>
                      <a:pt x="15177" y="2151326"/>
                    </a:cubicBezTo>
                    <a:cubicBezTo>
                      <a:pt x="5459" y="2141609"/>
                      <a:pt x="0" y="2128430"/>
                      <a:pt x="0" y="2114687"/>
                    </a:cubicBezTo>
                    <a:lnTo>
                      <a:pt x="0" y="51816"/>
                    </a:lnTo>
                    <a:cubicBezTo>
                      <a:pt x="0" y="23199"/>
                      <a:pt x="23199" y="0"/>
                      <a:pt x="51816"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g39ab1374e1b_0_175"/>
              <p:cNvSpPr txBox="1"/>
              <p:nvPr/>
            </p:nvSpPr>
            <p:spPr>
              <a:xfrm>
                <a:off x="0" y="-28575"/>
                <a:ext cx="2964600" cy="21951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3" name="Google Shape;203;g39ab1374e1b_0_175"/>
            <p:cNvSpPr txBox="1"/>
            <p:nvPr/>
          </p:nvSpPr>
          <p:spPr>
            <a:xfrm>
              <a:off x="465266" y="578699"/>
              <a:ext cx="9229500" cy="693450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Clr>
                  <a:srgbClr val="000000"/>
                </a:buClr>
                <a:buSzPts val="2599"/>
                <a:buFont typeface="Arial"/>
                <a:buNone/>
              </a:pPr>
              <a:r>
                <a:rPr b="0" i="0" lang="en-US" sz="2599" u="none" cap="none" strike="noStrike">
                  <a:solidFill>
                    <a:srgbClr val="372A28"/>
                  </a:solidFill>
                  <a:latin typeface="Arial"/>
                  <a:ea typeface="Arial"/>
                  <a:cs typeface="Arial"/>
                  <a:sym typeface="Arial"/>
                </a:rPr>
                <a:t>El software se implementa en el entorno de producción para su uso.</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599"/>
                <a:buFont typeface="Arial"/>
                <a:buNone/>
              </a:pPr>
              <a:r>
                <a:t/>
              </a:r>
              <a:endParaRPr b="0" i="0" sz="2599" u="none" cap="none" strike="noStrike">
                <a:solidFill>
                  <a:srgbClr val="372A28"/>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599"/>
                <a:buFont typeface="Arial"/>
                <a:buNone/>
              </a:pPr>
              <a:r>
                <a:rPr b="0" i="0" lang="en-US" sz="2599" u="none" cap="none" strike="noStrike">
                  <a:solidFill>
                    <a:srgbClr val="372A28"/>
                  </a:solidFill>
                  <a:latin typeface="Arial"/>
                  <a:ea typeface="Arial"/>
                  <a:cs typeface="Arial"/>
                  <a:sym typeface="Arial"/>
                </a:rPr>
                <a:t>El equipo de desarrollo se enfoca en tareas técnicas como la configuración del entorno, la implementación del código y la resolución de problemas, mientras que el equipo de QA se encarga de validar que el software funcione correctamente en producción y cumpla con los requisitos del cliente</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599"/>
                <a:buFont typeface="Arial"/>
                <a:buNone/>
              </a:pPr>
              <a:r>
                <a:t/>
              </a:r>
              <a:endParaRPr b="0" i="0" sz="2599" u="none" cap="none" strike="noStrike">
                <a:solidFill>
                  <a:srgbClr val="372A28"/>
                </a:solidFill>
                <a:latin typeface="Arial"/>
                <a:ea typeface="Arial"/>
                <a:cs typeface="Arial"/>
                <a:sym typeface="Arial"/>
              </a:endParaRPr>
            </a:p>
          </p:txBody>
        </p:sp>
      </p:grpSp>
      <p:grpSp>
        <p:nvGrpSpPr>
          <p:cNvPr id="204" name="Google Shape;204;g39ab1374e1b_0_175"/>
          <p:cNvGrpSpPr/>
          <p:nvPr/>
        </p:nvGrpSpPr>
        <p:grpSpPr>
          <a:xfrm>
            <a:off x="10309225" y="5064650"/>
            <a:ext cx="6911378" cy="4746102"/>
            <a:chOff x="0" y="-28575"/>
            <a:chExt cx="2276100" cy="1719976"/>
          </a:xfrm>
        </p:grpSpPr>
        <p:sp>
          <p:nvSpPr>
            <p:cNvPr id="205" name="Google Shape;205;g39ab1374e1b_0_175"/>
            <p:cNvSpPr/>
            <p:nvPr/>
          </p:nvSpPr>
          <p:spPr>
            <a:xfrm>
              <a:off x="0" y="0"/>
              <a:ext cx="2276039" cy="1691401"/>
            </a:xfrm>
            <a:custGeom>
              <a:rect b="b" l="l" r="r" t="t"/>
              <a:pathLst>
                <a:path extrusionOk="0" h="1691401" w="2276039">
                  <a:moveTo>
                    <a:pt x="62867" y="0"/>
                  </a:moveTo>
                  <a:lnTo>
                    <a:pt x="2213172" y="0"/>
                  </a:lnTo>
                  <a:cubicBezTo>
                    <a:pt x="2247892" y="0"/>
                    <a:pt x="2276039" y="28147"/>
                    <a:pt x="2276039" y="62867"/>
                  </a:cubicBezTo>
                  <a:lnTo>
                    <a:pt x="2276039" y="1628534"/>
                  </a:lnTo>
                  <a:cubicBezTo>
                    <a:pt x="2276039" y="1663254"/>
                    <a:pt x="2247892" y="1691401"/>
                    <a:pt x="2213172" y="1691401"/>
                  </a:cubicBezTo>
                  <a:lnTo>
                    <a:pt x="62867" y="1691401"/>
                  </a:lnTo>
                  <a:cubicBezTo>
                    <a:pt x="46194" y="1691401"/>
                    <a:pt x="30203" y="1684778"/>
                    <a:pt x="18413" y="1672988"/>
                  </a:cubicBezTo>
                  <a:cubicBezTo>
                    <a:pt x="6623" y="1661198"/>
                    <a:pt x="0" y="1645207"/>
                    <a:pt x="0" y="1628534"/>
                  </a:cubicBezTo>
                  <a:lnTo>
                    <a:pt x="0" y="62867"/>
                  </a:lnTo>
                  <a:cubicBezTo>
                    <a:pt x="0" y="28147"/>
                    <a:pt x="28147" y="0"/>
                    <a:pt x="62867" y="0"/>
                  </a:cubicBezTo>
                  <a:close/>
                </a:path>
              </a:pathLst>
            </a:custGeom>
            <a:solidFill>
              <a:srgbClr val="E1E1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g39ab1374e1b_0_175"/>
            <p:cNvSpPr txBox="1"/>
            <p:nvPr/>
          </p:nvSpPr>
          <p:spPr>
            <a:xfrm>
              <a:off x="0" y="-28575"/>
              <a:ext cx="2276100" cy="1719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7" name="Google Shape;207;g39ab1374e1b_0_175"/>
          <p:cNvSpPr/>
          <p:nvPr/>
        </p:nvSpPr>
        <p:spPr>
          <a:xfrm>
            <a:off x="363048" y="307723"/>
            <a:ext cx="1697249" cy="2345076"/>
          </a:xfrm>
          <a:custGeom>
            <a:rect b="b" l="l" r="r" t="t"/>
            <a:pathLst>
              <a:path extrusionOk="0" h="2345076" w="1697249">
                <a:moveTo>
                  <a:pt x="0" y="0"/>
                </a:moveTo>
                <a:lnTo>
                  <a:pt x="1697249" y="0"/>
                </a:lnTo>
                <a:lnTo>
                  <a:pt x="1697249" y="2345076"/>
                </a:lnTo>
                <a:lnTo>
                  <a:pt x="0" y="2345076"/>
                </a:lnTo>
                <a:lnTo>
                  <a:pt x="0" y="0"/>
                </a:lnTo>
                <a:close/>
              </a:path>
            </a:pathLst>
          </a:custGeom>
          <a:blipFill rotWithShape="1">
            <a:blip r:embed="rId5">
              <a:alphaModFix/>
            </a:blip>
            <a:stretch>
              <a:fillRect b="0" l="0" r="0" t="0"/>
            </a:stretch>
          </a:blipFill>
          <a:ln>
            <a:noFill/>
          </a:ln>
        </p:spPr>
      </p:sp>
      <p:sp>
        <p:nvSpPr>
          <p:cNvPr id="208" name="Google Shape;208;g39ab1374e1b_0_175"/>
          <p:cNvSpPr txBox="1"/>
          <p:nvPr/>
        </p:nvSpPr>
        <p:spPr>
          <a:xfrm>
            <a:off x="2265745" y="1432636"/>
            <a:ext cx="6393000" cy="1794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300"/>
              <a:buFont typeface="Arial"/>
              <a:buNone/>
            </a:pPr>
            <a:r>
              <a:rPr b="1" i="0" lang="en-US" sz="5300" u="none" cap="none" strike="noStrike">
                <a:solidFill>
                  <a:srgbClr val="FFFFFF"/>
                </a:solidFill>
                <a:latin typeface="Poppins"/>
                <a:ea typeface="Poppins"/>
                <a:cs typeface="Poppins"/>
                <a:sym typeface="Poppins"/>
              </a:rPr>
              <a:t>FASE: DESPLIEGUE</a:t>
            </a:r>
            <a:endParaRPr b="0" i="0" sz="1400" u="none" cap="none" strike="noStrike">
              <a:solidFill>
                <a:srgbClr val="000000"/>
              </a:solidFill>
              <a:latin typeface="Arial"/>
              <a:ea typeface="Arial"/>
              <a:cs typeface="Arial"/>
              <a:sym typeface="Arial"/>
            </a:endParaRPr>
          </a:p>
        </p:txBody>
      </p:sp>
      <p:sp>
        <p:nvSpPr>
          <p:cNvPr id="209" name="Google Shape;209;g39ab1374e1b_0_175"/>
          <p:cNvSpPr txBox="1"/>
          <p:nvPr/>
        </p:nvSpPr>
        <p:spPr>
          <a:xfrm>
            <a:off x="10572391" y="1681892"/>
            <a:ext cx="6070500" cy="2425800"/>
          </a:xfrm>
          <a:prstGeom prst="rect">
            <a:avLst/>
          </a:prstGeom>
          <a:noFill/>
          <a:ln>
            <a:noFill/>
          </a:ln>
        </p:spPr>
        <p:txBody>
          <a:bodyPr anchorCtr="0" anchor="t" bIns="0" lIns="0" spcFirstLastPara="1" rIns="0" wrap="square" tIns="0">
            <a:spAutoFit/>
          </a:bodyPr>
          <a:lstStyle/>
          <a:p>
            <a:pPr indent="-257838" lvl="1" marL="515676" marR="0" rtl="0" algn="l">
              <a:lnSpc>
                <a:spcPct val="139991"/>
              </a:lnSpc>
              <a:spcBef>
                <a:spcPts val="0"/>
              </a:spcBef>
              <a:spcAft>
                <a:spcPts val="0"/>
              </a:spcAft>
              <a:buClr>
                <a:srgbClr val="000000"/>
              </a:buClr>
              <a:buSzPts val="2388"/>
              <a:buFont typeface="Arial"/>
              <a:buChar char="•"/>
            </a:pPr>
            <a:r>
              <a:rPr b="0" i="0" lang="en-US" sz="2388" u="none" cap="none" strike="noStrike">
                <a:solidFill>
                  <a:srgbClr val="000000"/>
                </a:solidFill>
                <a:latin typeface="Open Sans"/>
                <a:ea typeface="Open Sans"/>
                <a:cs typeface="Open Sans"/>
                <a:sym typeface="Open Sans"/>
              </a:rPr>
              <a:t>Preparación del entorno de producción</a:t>
            </a:r>
            <a:endParaRPr b="0" i="0" sz="1400" u="none" cap="none" strike="noStrike">
              <a:solidFill>
                <a:srgbClr val="000000"/>
              </a:solidFill>
              <a:latin typeface="Arial"/>
              <a:ea typeface="Arial"/>
              <a:cs typeface="Arial"/>
              <a:sym typeface="Arial"/>
            </a:endParaRPr>
          </a:p>
          <a:p>
            <a:pPr indent="-257838" lvl="1" marL="515676" marR="0" rtl="0" algn="l">
              <a:lnSpc>
                <a:spcPct val="139991"/>
              </a:lnSpc>
              <a:spcBef>
                <a:spcPts val="0"/>
              </a:spcBef>
              <a:spcAft>
                <a:spcPts val="0"/>
              </a:spcAft>
              <a:buClr>
                <a:srgbClr val="000000"/>
              </a:buClr>
              <a:buSzPts val="2388"/>
              <a:buFont typeface="Arial"/>
              <a:buChar char="•"/>
            </a:pPr>
            <a:r>
              <a:rPr b="0" i="0" lang="en-US" sz="2388" u="none" cap="none" strike="noStrike">
                <a:solidFill>
                  <a:srgbClr val="000000"/>
                </a:solidFill>
                <a:latin typeface="Open Sans"/>
                <a:ea typeface="Open Sans"/>
                <a:cs typeface="Open Sans"/>
                <a:sym typeface="Open Sans"/>
              </a:rPr>
              <a:t>Implementación del código</a:t>
            </a:r>
            <a:endParaRPr b="0" i="0" sz="1400" u="none" cap="none" strike="noStrike">
              <a:solidFill>
                <a:srgbClr val="000000"/>
              </a:solidFill>
              <a:latin typeface="Arial"/>
              <a:ea typeface="Arial"/>
              <a:cs typeface="Arial"/>
              <a:sym typeface="Arial"/>
            </a:endParaRPr>
          </a:p>
          <a:p>
            <a:pPr indent="-257838" lvl="1" marL="515676" marR="0" rtl="0" algn="l">
              <a:lnSpc>
                <a:spcPct val="139991"/>
              </a:lnSpc>
              <a:spcBef>
                <a:spcPts val="0"/>
              </a:spcBef>
              <a:spcAft>
                <a:spcPts val="0"/>
              </a:spcAft>
              <a:buClr>
                <a:srgbClr val="000000"/>
              </a:buClr>
              <a:buSzPts val="2388"/>
              <a:buFont typeface="Arial"/>
              <a:buChar char="•"/>
            </a:pPr>
            <a:r>
              <a:rPr b="0" i="0" lang="en-US" sz="2388" u="none" cap="none" strike="noStrike">
                <a:solidFill>
                  <a:srgbClr val="000000"/>
                </a:solidFill>
                <a:latin typeface="Open Sans"/>
                <a:ea typeface="Open Sans"/>
                <a:cs typeface="Open Sans"/>
                <a:sym typeface="Open Sans"/>
              </a:rPr>
              <a:t>Migración de datos</a:t>
            </a:r>
            <a:endParaRPr b="0" i="0" sz="1400" u="none" cap="none" strike="noStrike">
              <a:solidFill>
                <a:srgbClr val="000000"/>
              </a:solidFill>
              <a:latin typeface="Arial"/>
              <a:ea typeface="Arial"/>
              <a:cs typeface="Arial"/>
              <a:sym typeface="Arial"/>
            </a:endParaRPr>
          </a:p>
          <a:p>
            <a:pPr indent="-257838" lvl="1" marL="515676" marR="0" rtl="0" algn="l">
              <a:lnSpc>
                <a:spcPct val="139991"/>
              </a:lnSpc>
              <a:spcBef>
                <a:spcPts val="0"/>
              </a:spcBef>
              <a:spcAft>
                <a:spcPts val="0"/>
              </a:spcAft>
              <a:buClr>
                <a:srgbClr val="000000"/>
              </a:buClr>
              <a:buSzPts val="2388"/>
              <a:buFont typeface="Arial"/>
              <a:buChar char="•"/>
            </a:pPr>
            <a:r>
              <a:rPr b="0" i="0" lang="en-US" sz="2388" u="none" cap="none" strike="noStrike">
                <a:solidFill>
                  <a:srgbClr val="000000"/>
                </a:solidFill>
                <a:latin typeface="Open Sans"/>
                <a:ea typeface="Open Sans"/>
                <a:cs typeface="Open Sans"/>
                <a:sym typeface="Open Sans"/>
              </a:rPr>
              <a:t>Configuración de variables de entorno</a:t>
            </a:r>
            <a:endParaRPr b="0" i="0" sz="1400" u="none" cap="none" strike="noStrike">
              <a:solidFill>
                <a:srgbClr val="000000"/>
              </a:solidFill>
              <a:latin typeface="Arial"/>
              <a:ea typeface="Arial"/>
              <a:cs typeface="Arial"/>
              <a:sym typeface="Arial"/>
            </a:endParaRPr>
          </a:p>
          <a:p>
            <a:pPr indent="-257838" lvl="1" marL="515676" marR="0" rtl="0" algn="l">
              <a:lnSpc>
                <a:spcPct val="139991"/>
              </a:lnSpc>
              <a:spcBef>
                <a:spcPts val="0"/>
              </a:spcBef>
              <a:spcAft>
                <a:spcPts val="0"/>
              </a:spcAft>
              <a:buClr>
                <a:srgbClr val="000000"/>
              </a:buClr>
              <a:buSzPts val="2388"/>
              <a:buFont typeface="Arial"/>
              <a:buChar char="•"/>
            </a:pPr>
            <a:r>
              <a:rPr b="0" i="0" lang="en-US" sz="2388" u="none" cap="none" strike="noStrike">
                <a:solidFill>
                  <a:srgbClr val="000000"/>
                </a:solidFill>
                <a:latin typeface="Open Sans"/>
                <a:ea typeface="Open Sans"/>
                <a:cs typeface="Open Sans"/>
                <a:sym typeface="Open Sans"/>
              </a:rPr>
              <a:t>Rollback (en caso de fallos)</a:t>
            </a:r>
            <a:endParaRPr b="0" i="0" sz="1400" u="none" cap="none" strike="noStrike">
              <a:solidFill>
                <a:srgbClr val="000000"/>
              </a:solidFill>
              <a:latin typeface="Arial"/>
              <a:ea typeface="Arial"/>
              <a:cs typeface="Arial"/>
              <a:sym typeface="Arial"/>
            </a:endParaRPr>
          </a:p>
        </p:txBody>
      </p:sp>
      <p:sp>
        <p:nvSpPr>
          <p:cNvPr id="210" name="Google Shape;210;g39ab1374e1b_0_175"/>
          <p:cNvSpPr txBox="1"/>
          <p:nvPr/>
        </p:nvSpPr>
        <p:spPr>
          <a:xfrm>
            <a:off x="10572401" y="6427175"/>
            <a:ext cx="6393000" cy="2940300"/>
          </a:xfrm>
          <a:prstGeom prst="rect">
            <a:avLst/>
          </a:prstGeom>
          <a:noFill/>
          <a:ln>
            <a:noFill/>
          </a:ln>
        </p:spPr>
        <p:txBody>
          <a:bodyPr anchorCtr="0" anchor="t" bIns="0" lIns="0" spcFirstLastPara="1" rIns="0" wrap="square" tIns="0">
            <a:spAutoFit/>
          </a:bodyPr>
          <a:lstStyle/>
          <a:p>
            <a:pPr indent="-257838" lvl="1" marL="515676" marR="0" rtl="0" algn="l">
              <a:lnSpc>
                <a:spcPct val="139991"/>
              </a:lnSpc>
              <a:spcBef>
                <a:spcPts val="0"/>
              </a:spcBef>
              <a:spcAft>
                <a:spcPts val="0"/>
              </a:spcAft>
              <a:buClr>
                <a:srgbClr val="000000"/>
              </a:buClr>
              <a:buSzPts val="2388"/>
              <a:buFont typeface="Arial"/>
              <a:buChar char="•"/>
            </a:pPr>
            <a:r>
              <a:rPr b="0" i="0" lang="en-US" sz="2388" u="none" cap="none" strike="noStrike">
                <a:solidFill>
                  <a:srgbClr val="000000"/>
                </a:solidFill>
                <a:latin typeface="Open Sans"/>
                <a:ea typeface="Open Sans"/>
                <a:cs typeface="Open Sans"/>
                <a:sym typeface="Open Sans"/>
              </a:rPr>
              <a:t>Pruebas de humo (Smoke Testing)</a:t>
            </a:r>
            <a:endParaRPr b="0" i="0" sz="1400" u="none" cap="none" strike="noStrike">
              <a:solidFill>
                <a:srgbClr val="000000"/>
              </a:solidFill>
              <a:latin typeface="Arial"/>
              <a:ea typeface="Arial"/>
              <a:cs typeface="Arial"/>
              <a:sym typeface="Arial"/>
            </a:endParaRPr>
          </a:p>
          <a:p>
            <a:pPr indent="-257838" lvl="1" marL="515676" marR="0" rtl="0" algn="l">
              <a:lnSpc>
                <a:spcPct val="139991"/>
              </a:lnSpc>
              <a:spcBef>
                <a:spcPts val="0"/>
              </a:spcBef>
              <a:spcAft>
                <a:spcPts val="0"/>
              </a:spcAft>
              <a:buClr>
                <a:srgbClr val="000000"/>
              </a:buClr>
              <a:buSzPts val="2388"/>
              <a:buFont typeface="Arial"/>
              <a:buChar char="•"/>
            </a:pPr>
            <a:r>
              <a:rPr b="0" i="0" lang="en-US" sz="2388" u="none" cap="none" strike="noStrike">
                <a:solidFill>
                  <a:srgbClr val="000000"/>
                </a:solidFill>
                <a:latin typeface="Open Sans"/>
                <a:ea typeface="Open Sans"/>
                <a:cs typeface="Open Sans"/>
                <a:sym typeface="Open Sans"/>
              </a:rPr>
              <a:t>Pruebas de sanidad (Sanity Testing)</a:t>
            </a:r>
            <a:endParaRPr b="0" i="0" sz="1400" u="none" cap="none" strike="noStrike">
              <a:solidFill>
                <a:srgbClr val="000000"/>
              </a:solidFill>
              <a:latin typeface="Arial"/>
              <a:ea typeface="Arial"/>
              <a:cs typeface="Arial"/>
              <a:sym typeface="Arial"/>
            </a:endParaRPr>
          </a:p>
          <a:p>
            <a:pPr indent="-257838" lvl="1" marL="515676" marR="0" rtl="0" algn="l">
              <a:lnSpc>
                <a:spcPct val="139991"/>
              </a:lnSpc>
              <a:spcBef>
                <a:spcPts val="0"/>
              </a:spcBef>
              <a:spcAft>
                <a:spcPts val="0"/>
              </a:spcAft>
              <a:buClr>
                <a:srgbClr val="000000"/>
              </a:buClr>
              <a:buSzPts val="2388"/>
              <a:buFont typeface="Arial"/>
              <a:buChar char="•"/>
            </a:pPr>
            <a:r>
              <a:rPr b="0" i="0" lang="en-US" sz="2388" u="none" cap="none" strike="noStrike">
                <a:solidFill>
                  <a:srgbClr val="000000"/>
                </a:solidFill>
                <a:latin typeface="Open Sans"/>
                <a:ea typeface="Open Sans"/>
                <a:cs typeface="Open Sans"/>
                <a:sym typeface="Open Sans"/>
              </a:rPr>
              <a:t>Validación del entorno de producción</a:t>
            </a:r>
            <a:endParaRPr b="0" i="0" sz="1400" u="none" cap="none" strike="noStrike">
              <a:solidFill>
                <a:srgbClr val="000000"/>
              </a:solidFill>
              <a:latin typeface="Arial"/>
              <a:ea typeface="Arial"/>
              <a:cs typeface="Arial"/>
              <a:sym typeface="Arial"/>
            </a:endParaRPr>
          </a:p>
          <a:p>
            <a:pPr indent="-257838" lvl="1" marL="515676" marR="0" rtl="0" algn="l">
              <a:lnSpc>
                <a:spcPct val="139991"/>
              </a:lnSpc>
              <a:spcBef>
                <a:spcPts val="0"/>
              </a:spcBef>
              <a:spcAft>
                <a:spcPts val="0"/>
              </a:spcAft>
              <a:buClr>
                <a:srgbClr val="000000"/>
              </a:buClr>
              <a:buSzPts val="2388"/>
              <a:buFont typeface="Arial"/>
              <a:buChar char="•"/>
            </a:pPr>
            <a:r>
              <a:rPr b="0" i="0" lang="en-US" sz="2388" u="none" cap="none" strike="noStrike">
                <a:solidFill>
                  <a:srgbClr val="000000"/>
                </a:solidFill>
                <a:latin typeface="Open Sans"/>
                <a:ea typeface="Open Sans"/>
                <a:cs typeface="Open Sans"/>
                <a:sym typeface="Open Sans"/>
              </a:rPr>
              <a:t>Pruebas de aceptación en producción</a:t>
            </a:r>
            <a:endParaRPr b="0" i="0" sz="1400" u="none" cap="none" strike="noStrike">
              <a:solidFill>
                <a:srgbClr val="000000"/>
              </a:solidFill>
              <a:latin typeface="Arial"/>
              <a:ea typeface="Arial"/>
              <a:cs typeface="Arial"/>
              <a:sym typeface="Arial"/>
            </a:endParaRPr>
          </a:p>
          <a:p>
            <a:pPr indent="-257838" lvl="1" marL="515676" marR="0" rtl="0" algn="l">
              <a:lnSpc>
                <a:spcPct val="139991"/>
              </a:lnSpc>
              <a:spcBef>
                <a:spcPts val="0"/>
              </a:spcBef>
              <a:spcAft>
                <a:spcPts val="0"/>
              </a:spcAft>
              <a:buClr>
                <a:srgbClr val="000000"/>
              </a:buClr>
              <a:buSzPts val="2388"/>
              <a:buFont typeface="Arial"/>
              <a:buChar char="•"/>
            </a:pPr>
            <a:r>
              <a:rPr b="0" i="0" lang="en-US" sz="2388" u="none" cap="none" strike="noStrike">
                <a:solidFill>
                  <a:srgbClr val="000000"/>
                </a:solidFill>
                <a:latin typeface="Open Sans"/>
                <a:ea typeface="Open Sans"/>
                <a:cs typeface="Open Sans"/>
                <a:sym typeface="Open Sans"/>
              </a:rPr>
              <a:t>Reporte de problemas nuevos</a:t>
            </a:r>
            <a:endParaRPr b="0" i="0" sz="1400" u="none" cap="none" strike="noStrike">
              <a:solidFill>
                <a:srgbClr val="000000"/>
              </a:solidFill>
              <a:latin typeface="Arial"/>
              <a:ea typeface="Arial"/>
              <a:cs typeface="Arial"/>
              <a:sym typeface="Arial"/>
            </a:endParaRPr>
          </a:p>
          <a:p>
            <a:pPr indent="-257838" lvl="1" marL="515676" marR="0" rtl="0" algn="l">
              <a:lnSpc>
                <a:spcPct val="139991"/>
              </a:lnSpc>
              <a:spcBef>
                <a:spcPts val="0"/>
              </a:spcBef>
              <a:spcAft>
                <a:spcPts val="0"/>
              </a:spcAft>
              <a:buClr>
                <a:srgbClr val="000000"/>
              </a:buClr>
              <a:buSzPts val="2388"/>
              <a:buFont typeface="Arial"/>
              <a:buChar char="•"/>
            </a:pPr>
            <a:r>
              <a:rPr b="0" i="0" lang="en-US" sz="2388" u="none" cap="none" strike="noStrike">
                <a:solidFill>
                  <a:srgbClr val="000000"/>
                </a:solidFill>
                <a:latin typeface="Open Sans"/>
                <a:ea typeface="Open Sans"/>
                <a:cs typeface="Open Sans"/>
                <a:sym typeface="Open Sans"/>
              </a:rPr>
              <a:t>Verificación de seguridad</a:t>
            </a:r>
            <a:endParaRPr b="0" i="0" sz="1400" u="none" cap="none" strike="noStrike">
              <a:solidFill>
                <a:srgbClr val="000000"/>
              </a:solidFill>
              <a:latin typeface="Arial"/>
              <a:ea typeface="Arial"/>
              <a:cs typeface="Arial"/>
              <a:sym typeface="Arial"/>
            </a:endParaRPr>
          </a:p>
        </p:txBody>
      </p:sp>
      <p:sp>
        <p:nvSpPr>
          <p:cNvPr id="211" name="Google Shape;211;g39ab1374e1b_0_175"/>
          <p:cNvSpPr txBox="1"/>
          <p:nvPr/>
        </p:nvSpPr>
        <p:spPr>
          <a:xfrm>
            <a:off x="11324665" y="581025"/>
            <a:ext cx="4333200" cy="815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300"/>
              <a:buFont typeface="Arial"/>
              <a:buNone/>
            </a:pPr>
            <a:r>
              <a:rPr b="1" i="0" lang="en-US" sz="5300" u="none" cap="none" strike="noStrike">
                <a:solidFill>
                  <a:srgbClr val="000000"/>
                </a:solidFill>
                <a:latin typeface="Poppins"/>
                <a:ea typeface="Poppins"/>
                <a:cs typeface="Poppins"/>
                <a:sym typeface="Poppins"/>
              </a:rPr>
              <a:t>EQUIPO</a:t>
            </a:r>
            <a:r>
              <a:rPr b="1" i="0" lang="en-US" sz="5300" u="none" cap="none" strike="noStrike">
                <a:solidFill>
                  <a:srgbClr val="FFFFFF"/>
                </a:solidFill>
                <a:latin typeface="Poppins"/>
                <a:ea typeface="Poppins"/>
                <a:cs typeface="Poppins"/>
                <a:sym typeface="Poppins"/>
              </a:rPr>
              <a:t> </a:t>
            </a:r>
            <a:r>
              <a:rPr b="1" i="0" lang="en-US" sz="5300" u="none" cap="none" strike="noStrike">
                <a:solidFill>
                  <a:srgbClr val="000000"/>
                </a:solidFill>
                <a:latin typeface="Poppins"/>
                <a:ea typeface="Poppins"/>
                <a:cs typeface="Poppins"/>
                <a:sym typeface="Poppins"/>
              </a:rPr>
              <a:t>DEV</a:t>
            </a:r>
            <a:endParaRPr b="0" i="0" sz="1400" u="none" cap="none" strike="noStrike">
              <a:solidFill>
                <a:srgbClr val="000000"/>
              </a:solidFill>
              <a:latin typeface="Arial"/>
              <a:ea typeface="Arial"/>
              <a:cs typeface="Arial"/>
              <a:sym typeface="Arial"/>
            </a:endParaRPr>
          </a:p>
        </p:txBody>
      </p:sp>
      <p:sp>
        <p:nvSpPr>
          <p:cNvPr id="212" name="Google Shape;212;g39ab1374e1b_0_175"/>
          <p:cNvSpPr txBox="1"/>
          <p:nvPr/>
        </p:nvSpPr>
        <p:spPr>
          <a:xfrm>
            <a:off x="11441123" y="5406241"/>
            <a:ext cx="4333200" cy="815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300"/>
              <a:buFont typeface="Arial"/>
              <a:buNone/>
            </a:pPr>
            <a:r>
              <a:rPr b="1" i="0" lang="en-US" sz="5300" u="none" cap="none" strike="noStrike">
                <a:solidFill>
                  <a:srgbClr val="000000"/>
                </a:solidFill>
                <a:latin typeface="Poppins"/>
                <a:ea typeface="Poppins"/>
                <a:cs typeface="Poppins"/>
                <a:sym typeface="Poppins"/>
              </a:rPr>
              <a:t>EQUIPO</a:t>
            </a:r>
            <a:r>
              <a:rPr b="1" i="0" lang="en-US" sz="5300" u="none" cap="none" strike="noStrike">
                <a:solidFill>
                  <a:srgbClr val="FFFFFF"/>
                </a:solidFill>
                <a:latin typeface="Poppins"/>
                <a:ea typeface="Poppins"/>
                <a:cs typeface="Poppins"/>
                <a:sym typeface="Poppins"/>
              </a:rPr>
              <a:t> </a:t>
            </a:r>
            <a:r>
              <a:rPr b="1" i="0" lang="en-US" sz="5300" u="none" cap="none" strike="noStrike">
                <a:solidFill>
                  <a:srgbClr val="000000"/>
                </a:solidFill>
                <a:latin typeface="Poppins"/>
                <a:ea typeface="Poppins"/>
                <a:cs typeface="Poppins"/>
                <a:sym typeface="Poppins"/>
              </a:rPr>
              <a:t>QA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6" name="Shape 216"/>
        <p:cNvGrpSpPr/>
        <p:nvPr/>
      </p:nvGrpSpPr>
      <p:grpSpPr>
        <a:xfrm>
          <a:off x="0" y="0"/>
          <a:ext cx="0" cy="0"/>
          <a:chOff x="0" y="0"/>
          <a:chExt cx="0" cy="0"/>
        </a:xfrm>
      </p:grpSpPr>
      <p:sp>
        <p:nvSpPr>
          <p:cNvPr id="217" name="Google Shape;217;g39ab1374e1b_0_198"/>
          <p:cNvSpPr/>
          <p:nvPr/>
        </p:nvSpPr>
        <p:spPr>
          <a:xfrm>
            <a:off x="7592389" y="8135073"/>
            <a:ext cx="3103222" cy="1427482"/>
          </a:xfrm>
          <a:custGeom>
            <a:rect b="b" l="l" r="r" t="t"/>
            <a:pathLst>
              <a:path extrusionOk="0" h="1427482" w="3103222">
                <a:moveTo>
                  <a:pt x="0" y="0"/>
                </a:moveTo>
                <a:lnTo>
                  <a:pt x="3103222" y="0"/>
                </a:lnTo>
                <a:lnTo>
                  <a:pt x="3103222" y="1427483"/>
                </a:lnTo>
                <a:lnTo>
                  <a:pt x="0" y="1427483"/>
                </a:lnTo>
                <a:lnTo>
                  <a:pt x="0" y="0"/>
                </a:lnTo>
                <a:close/>
              </a:path>
            </a:pathLst>
          </a:custGeom>
          <a:blipFill rotWithShape="1">
            <a:blip r:embed="rId3">
              <a:alphaModFix/>
            </a:blip>
            <a:stretch>
              <a:fillRect b="0" l="0" r="0" t="0"/>
            </a:stretch>
          </a:blipFill>
          <a:ln>
            <a:noFill/>
          </a:ln>
        </p:spPr>
      </p:sp>
      <p:sp>
        <p:nvSpPr>
          <p:cNvPr id="218" name="Google Shape;218;g39ab1374e1b_0_198"/>
          <p:cNvSpPr/>
          <p:nvPr/>
        </p:nvSpPr>
        <p:spPr>
          <a:xfrm>
            <a:off x="7592389" y="2415404"/>
            <a:ext cx="3103222" cy="1427482"/>
          </a:xfrm>
          <a:custGeom>
            <a:rect b="b" l="l" r="r" t="t"/>
            <a:pathLst>
              <a:path extrusionOk="0" h="1427482" w="3103222">
                <a:moveTo>
                  <a:pt x="0" y="0"/>
                </a:moveTo>
                <a:lnTo>
                  <a:pt x="3103222" y="0"/>
                </a:lnTo>
                <a:lnTo>
                  <a:pt x="3103222" y="1427483"/>
                </a:lnTo>
                <a:lnTo>
                  <a:pt x="0" y="1427483"/>
                </a:lnTo>
                <a:lnTo>
                  <a:pt x="0" y="0"/>
                </a:lnTo>
                <a:close/>
              </a:path>
            </a:pathLst>
          </a:custGeom>
          <a:blipFill rotWithShape="1">
            <a:blip r:embed="rId3">
              <a:alphaModFix/>
            </a:blip>
            <a:stretch>
              <a:fillRect b="0" l="0" r="0" t="0"/>
            </a:stretch>
          </a:blipFill>
          <a:ln>
            <a:noFill/>
          </a:ln>
        </p:spPr>
      </p:sp>
      <p:grpSp>
        <p:nvGrpSpPr>
          <p:cNvPr id="219" name="Google Shape;219;g39ab1374e1b_0_198"/>
          <p:cNvGrpSpPr/>
          <p:nvPr/>
        </p:nvGrpSpPr>
        <p:grpSpPr>
          <a:xfrm>
            <a:off x="9972116" y="318862"/>
            <a:ext cx="6280670" cy="4607903"/>
            <a:chOff x="0" y="-28575"/>
            <a:chExt cx="2276100" cy="1669893"/>
          </a:xfrm>
        </p:grpSpPr>
        <p:sp>
          <p:nvSpPr>
            <p:cNvPr id="220" name="Google Shape;220;g39ab1374e1b_0_198"/>
            <p:cNvSpPr/>
            <p:nvPr/>
          </p:nvSpPr>
          <p:spPr>
            <a:xfrm>
              <a:off x="0" y="0"/>
              <a:ext cx="2276039" cy="1641318"/>
            </a:xfrm>
            <a:custGeom>
              <a:rect b="b" l="l" r="r" t="t"/>
              <a:pathLst>
                <a:path extrusionOk="0" h="1641318" w="2276039">
                  <a:moveTo>
                    <a:pt x="62867" y="0"/>
                  </a:moveTo>
                  <a:lnTo>
                    <a:pt x="2213172" y="0"/>
                  </a:lnTo>
                  <a:cubicBezTo>
                    <a:pt x="2247892" y="0"/>
                    <a:pt x="2276039" y="28147"/>
                    <a:pt x="2276039" y="62867"/>
                  </a:cubicBezTo>
                  <a:lnTo>
                    <a:pt x="2276039" y="1578451"/>
                  </a:lnTo>
                  <a:cubicBezTo>
                    <a:pt x="2276039" y="1613171"/>
                    <a:pt x="2247892" y="1641318"/>
                    <a:pt x="2213172" y="1641318"/>
                  </a:cubicBezTo>
                  <a:lnTo>
                    <a:pt x="62867" y="1641318"/>
                  </a:lnTo>
                  <a:cubicBezTo>
                    <a:pt x="46194" y="1641318"/>
                    <a:pt x="30203" y="1634694"/>
                    <a:pt x="18413" y="1622904"/>
                  </a:cubicBezTo>
                  <a:cubicBezTo>
                    <a:pt x="6623" y="1611115"/>
                    <a:pt x="0" y="1595124"/>
                    <a:pt x="0" y="1578451"/>
                  </a:cubicBezTo>
                  <a:lnTo>
                    <a:pt x="0" y="62867"/>
                  </a:lnTo>
                  <a:cubicBezTo>
                    <a:pt x="0" y="28147"/>
                    <a:pt x="28147" y="0"/>
                    <a:pt x="62867" y="0"/>
                  </a:cubicBezTo>
                  <a:close/>
                </a:path>
              </a:pathLst>
            </a:custGeom>
            <a:solidFill>
              <a:srgbClr val="E1E1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g39ab1374e1b_0_198"/>
            <p:cNvSpPr txBox="1"/>
            <p:nvPr/>
          </p:nvSpPr>
          <p:spPr>
            <a:xfrm>
              <a:off x="0" y="-28575"/>
              <a:ext cx="2276100" cy="16698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2" name="Google Shape;222;g39ab1374e1b_0_198"/>
          <p:cNvGrpSpPr/>
          <p:nvPr/>
        </p:nvGrpSpPr>
        <p:grpSpPr>
          <a:xfrm>
            <a:off x="1028700" y="3416352"/>
            <a:ext cx="7619985" cy="5209003"/>
            <a:chOff x="0" y="-97930"/>
            <a:chExt cx="10159981" cy="6945337"/>
          </a:xfrm>
        </p:grpSpPr>
        <p:grpSp>
          <p:nvGrpSpPr>
            <p:cNvPr id="223" name="Google Shape;223;g39ab1374e1b_0_198"/>
            <p:cNvGrpSpPr/>
            <p:nvPr/>
          </p:nvGrpSpPr>
          <p:grpSpPr>
            <a:xfrm>
              <a:off x="0" y="-97930"/>
              <a:ext cx="10159981" cy="6945337"/>
              <a:chOff x="0" y="-28575"/>
              <a:chExt cx="2964600" cy="2026593"/>
            </a:xfrm>
          </p:grpSpPr>
          <p:sp>
            <p:nvSpPr>
              <p:cNvPr id="224" name="Google Shape;224;g39ab1374e1b_0_198"/>
              <p:cNvSpPr/>
              <p:nvPr/>
            </p:nvSpPr>
            <p:spPr>
              <a:xfrm>
                <a:off x="0" y="0"/>
                <a:ext cx="2964596" cy="1998018"/>
              </a:xfrm>
              <a:custGeom>
                <a:rect b="b" l="l" r="r" t="t"/>
                <a:pathLst>
                  <a:path extrusionOk="0" h="1998018" w="2964596">
                    <a:moveTo>
                      <a:pt x="51816" y="0"/>
                    </a:moveTo>
                    <a:lnTo>
                      <a:pt x="2912780" y="0"/>
                    </a:lnTo>
                    <a:cubicBezTo>
                      <a:pt x="2926522" y="0"/>
                      <a:pt x="2939702" y="5459"/>
                      <a:pt x="2949419" y="15177"/>
                    </a:cubicBezTo>
                    <a:cubicBezTo>
                      <a:pt x="2959137" y="24894"/>
                      <a:pt x="2964596" y="38074"/>
                      <a:pt x="2964596" y="51816"/>
                    </a:cubicBezTo>
                    <a:lnTo>
                      <a:pt x="2964596" y="1946202"/>
                    </a:lnTo>
                    <a:cubicBezTo>
                      <a:pt x="2964596" y="1959945"/>
                      <a:pt x="2959137" y="1973124"/>
                      <a:pt x="2949419" y="1982841"/>
                    </a:cubicBezTo>
                    <a:cubicBezTo>
                      <a:pt x="2939702" y="1992559"/>
                      <a:pt x="2926522" y="1998018"/>
                      <a:pt x="2912780" y="1998018"/>
                    </a:cubicBezTo>
                    <a:lnTo>
                      <a:pt x="51816" y="1998018"/>
                    </a:lnTo>
                    <a:cubicBezTo>
                      <a:pt x="23199" y="1998018"/>
                      <a:pt x="0" y="1974819"/>
                      <a:pt x="0" y="1946202"/>
                    </a:cubicBezTo>
                    <a:lnTo>
                      <a:pt x="0" y="51816"/>
                    </a:lnTo>
                    <a:cubicBezTo>
                      <a:pt x="0" y="23199"/>
                      <a:pt x="23199" y="0"/>
                      <a:pt x="51816"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g39ab1374e1b_0_198"/>
              <p:cNvSpPr txBox="1"/>
              <p:nvPr/>
            </p:nvSpPr>
            <p:spPr>
              <a:xfrm>
                <a:off x="0" y="-28575"/>
                <a:ext cx="2964600" cy="2026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6" name="Google Shape;226;g39ab1374e1b_0_198"/>
            <p:cNvSpPr txBox="1"/>
            <p:nvPr/>
          </p:nvSpPr>
          <p:spPr>
            <a:xfrm>
              <a:off x="465266" y="559649"/>
              <a:ext cx="9229500" cy="60813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372A28"/>
                  </a:solidFill>
                  <a:latin typeface="Arial"/>
                  <a:ea typeface="Arial"/>
                  <a:cs typeface="Arial"/>
                  <a:sym typeface="Arial"/>
                </a:rPr>
                <a:t>La fase de mantenimiento es la etapa en la que el software ya está en producción  y se realizan actividades para asegurar que continúe funcionando correctamente, se adapte a nuevos requisitos y se corrijan problemas que surjan con el tiempo. Esta fase es crítica porque el software no es estático sino que evoluciona con el tiempo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372A28"/>
                </a:solidFill>
                <a:latin typeface="Arial"/>
                <a:ea typeface="Arial"/>
                <a:cs typeface="Arial"/>
                <a:sym typeface="Arial"/>
              </a:endParaRPr>
            </a:p>
          </p:txBody>
        </p:sp>
      </p:grpSp>
      <p:grpSp>
        <p:nvGrpSpPr>
          <p:cNvPr id="227" name="Google Shape;227;g39ab1374e1b_0_198"/>
          <p:cNvGrpSpPr/>
          <p:nvPr/>
        </p:nvGrpSpPr>
        <p:grpSpPr>
          <a:xfrm>
            <a:off x="9972116" y="5143188"/>
            <a:ext cx="6280670" cy="4543076"/>
            <a:chOff x="0" y="-28575"/>
            <a:chExt cx="2276100" cy="1646400"/>
          </a:xfrm>
        </p:grpSpPr>
        <p:sp>
          <p:nvSpPr>
            <p:cNvPr id="228" name="Google Shape;228;g39ab1374e1b_0_198"/>
            <p:cNvSpPr/>
            <p:nvPr/>
          </p:nvSpPr>
          <p:spPr>
            <a:xfrm>
              <a:off x="0" y="0"/>
              <a:ext cx="2276039" cy="1617725"/>
            </a:xfrm>
            <a:custGeom>
              <a:rect b="b" l="l" r="r" t="t"/>
              <a:pathLst>
                <a:path extrusionOk="0" h="1617725" w="2276039">
                  <a:moveTo>
                    <a:pt x="62867" y="0"/>
                  </a:moveTo>
                  <a:lnTo>
                    <a:pt x="2213172" y="0"/>
                  </a:lnTo>
                  <a:cubicBezTo>
                    <a:pt x="2247892" y="0"/>
                    <a:pt x="2276039" y="28147"/>
                    <a:pt x="2276039" y="62867"/>
                  </a:cubicBezTo>
                  <a:lnTo>
                    <a:pt x="2276039" y="1554857"/>
                  </a:lnTo>
                  <a:cubicBezTo>
                    <a:pt x="2276039" y="1589578"/>
                    <a:pt x="2247892" y="1617725"/>
                    <a:pt x="2213172" y="1617725"/>
                  </a:cubicBezTo>
                  <a:lnTo>
                    <a:pt x="62867" y="1617725"/>
                  </a:lnTo>
                  <a:cubicBezTo>
                    <a:pt x="46194" y="1617725"/>
                    <a:pt x="30203" y="1611101"/>
                    <a:pt x="18413" y="1599311"/>
                  </a:cubicBezTo>
                  <a:cubicBezTo>
                    <a:pt x="6623" y="1587521"/>
                    <a:pt x="0" y="1571531"/>
                    <a:pt x="0" y="1554857"/>
                  </a:cubicBezTo>
                  <a:lnTo>
                    <a:pt x="0" y="62867"/>
                  </a:lnTo>
                  <a:cubicBezTo>
                    <a:pt x="0" y="28147"/>
                    <a:pt x="28147" y="0"/>
                    <a:pt x="62867" y="0"/>
                  </a:cubicBezTo>
                  <a:close/>
                </a:path>
              </a:pathLst>
            </a:custGeom>
            <a:solidFill>
              <a:srgbClr val="E1E1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g39ab1374e1b_0_198"/>
            <p:cNvSpPr txBox="1"/>
            <p:nvPr/>
          </p:nvSpPr>
          <p:spPr>
            <a:xfrm>
              <a:off x="0" y="-28575"/>
              <a:ext cx="2276100" cy="1646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0" name="Google Shape;230;g39ab1374e1b_0_198"/>
          <p:cNvSpPr txBox="1"/>
          <p:nvPr/>
        </p:nvSpPr>
        <p:spPr>
          <a:xfrm>
            <a:off x="921812" y="1487501"/>
            <a:ext cx="7833900" cy="1828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400"/>
              <a:buFont typeface="Arial"/>
              <a:buNone/>
            </a:pPr>
            <a:r>
              <a:rPr b="1" i="0" lang="en-US" sz="5400" u="none" cap="none" strike="noStrike">
                <a:solidFill>
                  <a:schemeClr val="dk1"/>
                </a:solidFill>
                <a:latin typeface="Poppins"/>
                <a:ea typeface="Poppins"/>
                <a:cs typeface="Poppins"/>
                <a:sym typeface="Poppins"/>
              </a:rPr>
              <a:t>FASE: MANTENIMIENTO</a:t>
            </a:r>
            <a:endParaRPr b="0" i="0" sz="1400" u="none" cap="none" strike="noStrike">
              <a:solidFill>
                <a:schemeClr val="dk1"/>
              </a:solidFill>
              <a:latin typeface="Arial"/>
              <a:ea typeface="Arial"/>
              <a:cs typeface="Arial"/>
              <a:sym typeface="Arial"/>
            </a:endParaRPr>
          </a:p>
        </p:txBody>
      </p:sp>
      <p:sp>
        <p:nvSpPr>
          <p:cNvPr id="231" name="Google Shape;231;g39ab1374e1b_0_198"/>
          <p:cNvSpPr txBox="1"/>
          <p:nvPr/>
        </p:nvSpPr>
        <p:spPr>
          <a:xfrm>
            <a:off x="10184820" y="1752782"/>
            <a:ext cx="5094000" cy="1991400"/>
          </a:xfrm>
          <a:prstGeom prst="rect">
            <a:avLst/>
          </a:prstGeom>
          <a:noFill/>
          <a:ln>
            <a:noFill/>
          </a:ln>
        </p:spPr>
        <p:txBody>
          <a:bodyPr anchorCtr="0" anchor="t" bIns="0" lIns="0" spcFirstLastPara="1" rIns="0" wrap="square" tIns="0">
            <a:spAutoFit/>
          </a:bodyPr>
          <a:lstStyle/>
          <a:p>
            <a:pPr indent="-268632" lvl="1" marL="537266" marR="0" rtl="0" algn="l">
              <a:lnSpc>
                <a:spcPct val="139991"/>
              </a:lnSpc>
              <a:spcBef>
                <a:spcPts val="0"/>
              </a:spcBef>
              <a:spcAft>
                <a:spcPts val="0"/>
              </a:spcAft>
              <a:buClr>
                <a:srgbClr val="000000"/>
              </a:buClr>
              <a:buSzPts val="2488"/>
              <a:buFont typeface="Arial"/>
              <a:buChar char="•"/>
            </a:pPr>
            <a:r>
              <a:rPr b="0" i="0" lang="en-US" sz="2488" u="none" cap="none" strike="noStrike">
                <a:solidFill>
                  <a:srgbClr val="000000"/>
                </a:solidFill>
                <a:latin typeface="Open Sans"/>
                <a:ea typeface="Open Sans"/>
                <a:cs typeface="Open Sans"/>
                <a:sym typeface="Open Sans"/>
              </a:rPr>
              <a:t>Mantenimiento Correctivo</a:t>
            </a:r>
            <a:endParaRPr b="0" i="0" sz="1400" u="none" cap="none" strike="noStrike">
              <a:solidFill>
                <a:srgbClr val="000000"/>
              </a:solidFill>
              <a:latin typeface="Arial"/>
              <a:ea typeface="Arial"/>
              <a:cs typeface="Arial"/>
              <a:sym typeface="Arial"/>
            </a:endParaRPr>
          </a:p>
          <a:p>
            <a:pPr indent="-268632" lvl="1" marL="537266" marR="0" rtl="0" algn="l">
              <a:lnSpc>
                <a:spcPct val="139991"/>
              </a:lnSpc>
              <a:spcBef>
                <a:spcPts val="0"/>
              </a:spcBef>
              <a:spcAft>
                <a:spcPts val="0"/>
              </a:spcAft>
              <a:buClr>
                <a:srgbClr val="000000"/>
              </a:buClr>
              <a:buSzPts val="2488"/>
              <a:buFont typeface="Arial"/>
              <a:buChar char="•"/>
            </a:pPr>
            <a:r>
              <a:rPr b="0" i="0" lang="en-US" sz="2488" u="none" cap="none" strike="noStrike">
                <a:solidFill>
                  <a:srgbClr val="000000"/>
                </a:solidFill>
                <a:latin typeface="Open Sans"/>
                <a:ea typeface="Open Sans"/>
                <a:cs typeface="Open Sans"/>
                <a:sym typeface="Open Sans"/>
              </a:rPr>
              <a:t>Mantenimiento Adaptativo</a:t>
            </a:r>
            <a:endParaRPr b="0" i="0" sz="1400" u="none" cap="none" strike="noStrike">
              <a:solidFill>
                <a:srgbClr val="000000"/>
              </a:solidFill>
              <a:latin typeface="Arial"/>
              <a:ea typeface="Arial"/>
              <a:cs typeface="Arial"/>
              <a:sym typeface="Arial"/>
            </a:endParaRPr>
          </a:p>
          <a:p>
            <a:pPr indent="-268632" lvl="1" marL="537266" marR="0" rtl="0" algn="l">
              <a:lnSpc>
                <a:spcPct val="139991"/>
              </a:lnSpc>
              <a:spcBef>
                <a:spcPts val="0"/>
              </a:spcBef>
              <a:spcAft>
                <a:spcPts val="0"/>
              </a:spcAft>
              <a:buClr>
                <a:srgbClr val="000000"/>
              </a:buClr>
              <a:buSzPts val="2488"/>
              <a:buFont typeface="Arial"/>
              <a:buChar char="•"/>
            </a:pPr>
            <a:r>
              <a:rPr b="0" i="0" lang="en-US" sz="2488" u="none" cap="none" strike="noStrike">
                <a:solidFill>
                  <a:srgbClr val="000000"/>
                </a:solidFill>
                <a:latin typeface="Open Sans"/>
                <a:ea typeface="Open Sans"/>
                <a:cs typeface="Open Sans"/>
                <a:sym typeface="Open Sans"/>
              </a:rPr>
              <a:t>Mantenimiento Preventivo</a:t>
            </a:r>
            <a:endParaRPr b="0" i="0" sz="1400" u="none" cap="none" strike="noStrike">
              <a:solidFill>
                <a:srgbClr val="000000"/>
              </a:solidFill>
              <a:latin typeface="Arial"/>
              <a:ea typeface="Arial"/>
              <a:cs typeface="Arial"/>
              <a:sym typeface="Arial"/>
            </a:endParaRPr>
          </a:p>
          <a:p>
            <a:pPr indent="-268632" lvl="1" marL="537266" marR="0" rtl="0" algn="l">
              <a:lnSpc>
                <a:spcPct val="139991"/>
              </a:lnSpc>
              <a:spcBef>
                <a:spcPts val="0"/>
              </a:spcBef>
              <a:spcAft>
                <a:spcPts val="0"/>
              </a:spcAft>
              <a:buClr>
                <a:srgbClr val="000000"/>
              </a:buClr>
              <a:buSzPts val="2488"/>
              <a:buFont typeface="Arial"/>
              <a:buChar char="•"/>
            </a:pPr>
            <a:r>
              <a:rPr b="0" i="0" lang="en-US" sz="2488" u="none" cap="none" strike="noStrike">
                <a:solidFill>
                  <a:srgbClr val="000000"/>
                </a:solidFill>
                <a:latin typeface="Open Sans"/>
                <a:ea typeface="Open Sans"/>
                <a:cs typeface="Open Sans"/>
                <a:sym typeface="Open Sans"/>
              </a:rPr>
              <a:t>Actualización de Dependencias</a:t>
            </a:r>
            <a:endParaRPr b="0" i="0" sz="1400" u="none" cap="none" strike="noStrike">
              <a:solidFill>
                <a:srgbClr val="000000"/>
              </a:solidFill>
              <a:latin typeface="Arial"/>
              <a:ea typeface="Arial"/>
              <a:cs typeface="Arial"/>
              <a:sym typeface="Arial"/>
            </a:endParaRPr>
          </a:p>
        </p:txBody>
      </p:sp>
      <p:sp>
        <p:nvSpPr>
          <p:cNvPr id="232" name="Google Shape;232;g39ab1374e1b_0_198"/>
          <p:cNvSpPr txBox="1"/>
          <p:nvPr/>
        </p:nvSpPr>
        <p:spPr>
          <a:xfrm>
            <a:off x="10187893" y="6580154"/>
            <a:ext cx="5848800" cy="1991400"/>
          </a:xfrm>
          <a:prstGeom prst="rect">
            <a:avLst/>
          </a:prstGeom>
          <a:noFill/>
          <a:ln>
            <a:noFill/>
          </a:ln>
        </p:spPr>
        <p:txBody>
          <a:bodyPr anchorCtr="0" anchor="t" bIns="0" lIns="0" spcFirstLastPara="1" rIns="0" wrap="square" tIns="0">
            <a:spAutoFit/>
          </a:bodyPr>
          <a:lstStyle/>
          <a:p>
            <a:pPr indent="-268632" lvl="1" marL="537266" marR="0" rtl="0" algn="l">
              <a:lnSpc>
                <a:spcPct val="139991"/>
              </a:lnSpc>
              <a:spcBef>
                <a:spcPts val="0"/>
              </a:spcBef>
              <a:spcAft>
                <a:spcPts val="0"/>
              </a:spcAft>
              <a:buClr>
                <a:srgbClr val="000000"/>
              </a:buClr>
              <a:buSzPts val="2488"/>
              <a:buFont typeface="Arial"/>
              <a:buChar char="•"/>
            </a:pPr>
            <a:r>
              <a:rPr b="0" i="0" lang="en-US" sz="2488" u="none" cap="none" strike="noStrike">
                <a:solidFill>
                  <a:srgbClr val="000000"/>
                </a:solidFill>
                <a:latin typeface="Open Sans"/>
                <a:ea typeface="Open Sans"/>
                <a:cs typeface="Open Sans"/>
                <a:sym typeface="Open Sans"/>
              </a:rPr>
              <a:t>Pruebas de Regresión</a:t>
            </a:r>
            <a:endParaRPr b="0" i="0" sz="1400" u="none" cap="none" strike="noStrike">
              <a:solidFill>
                <a:srgbClr val="000000"/>
              </a:solidFill>
              <a:latin typeface="Arial"/>
              <a:ea typeface="Arial"/>
              <a:cs typeface="Arial"/>
              <a:sym typeface="Arial"/>
            </a:endParaRPr>
          </a:p>
          <a:p>
            <a:pPr indent="-268632" lvl="1" marL="537266" marR="0" rtl="0" algn="l">
              <a:lnSpc>
                <a:spcPct val="139991"/>
              </a:lnSpc>
              <a:spcBef>
                <a:spcPts val="0"/>
              </a:spcBef>
              <a:spcAft>
                <a:spcPts val="0"/>
              </a:spcAft>
              <a:buClr>
                <a:srgbClr val="000000"/>
              </a:buClr>
              <a:buSzPts val="2488"/>
              <a:buFont typeface="Arial"/>
              <a:buChar char="•"/>
            </a:pPr>
            <a:r>
              <a:rPr b="0" i="0" lang="en-US" sz="2488" u="none" cap="none" strike="noStrike">
                <a:solidFill>
                  <a:srgbClr val="000000"/>
                </a:solidFill>
                <a:latin typeface="Open Sans"/>
                <a:ea typeface="Open Sans"/>
                <a:cs typeface="Open Sans"/>
                <a:sym typeface="Open Sans"/>
              </a:rPr>
              <a:t>Pruebas No Funcionales</a:t>
            </a:r>
            <a:endParaRPr b="0" i="0" sz="1400" u="none" cap="none" strike="noStrike">
              <a:solidFill>
                <a:srgbClr val="000000"/>
              </a:solidFill>
              <a:latin typeface="Arial"/>
              <a:ea typeface="Arial"/>
              <a:cs typeface="Arial"/>
              <a:sym typeface="Arial"/>
            </a:endParaRPr>
          </a:p>
          <a:p>
            <a:pPr indent="-268632" lvl="1" marL="537266" marR="0" rtl="0" algn="l">
              <a:lnSpc>
                <a:spcPct val="139991"/>
              </a:lnSpc>
              <a:spcBef>
                <a:spcPts val="0"/>
              </a:spcBef>
              <a:spcAft>
                <a:spcPts val="0"/>
              </a:spcAft>
              <a:buClr>
                <a:srgbClr val="000000"/>
              </a:buClr>
              <a:buSzPts val="2488"/>
              <a:buFont typeface="Arial"/>
              <a:buChar char="•"/>
            </a:pPr>
            <a:r>
              <a:rPr b="0" i="0" lang="en-US" sz="2488" u="none" cap="none" strike="noStrike">
                <a:solidFill>
                  <a:srgbClr val="000000"/>
                </a:solidFill>
                <a:latin typeface="Open Sans"/>
                <a:ea typeface="Open Sans"/>
                <a:cs typeface="Open Sans"/>
                <a:sym typeface="Open Sans"/>
              </a:rPr>
              <a:t>Validación de Correcciones</a:t>
            </a:r>
            <a:endParaRPr b="0" i="0" sz="1400" u="none" cap="none" strike="noStrike">
              <a:solidFill>
                <a:srgbClr val="000000"/>
              </a:solidFill>
              <a:latin typeface="Arial"/>
              <a:ea typeface="Arial"/>
              <a:cs typeface="Arial"/>
              <a:sym typeface="Arial"/>
            </a:endParaRPr>
          </a:p>
          <a:p>
            <a:pPr indent="-268632" lvl="1" marL="537266" marR="0" rtl="0" algn="l">
              <a:lnSpc>
                <a:spcPct val="139991"/>
              </a:lnSpc>
              <a:spcBef>
                <a:spcPts val="0"/>
              </a:spcBef>
              <a:spcAft>
                <a:spcPts val="0"/>
              </a:spcAft>
              <a:buClr>
                <a:srgbClr val="000000"/>
              </a:buClr>
              <a:buSzPts val="2488"/>
              <a:buFont typeface="Arial"/>
              <a:buChar char="•"/>
            </a:pPr>
            <a:r>
              <a:rPr b="0" i="0" lang="en-US" sz="2488" u="none" cap="none" strike="noStrike">
                <a:solidFill>
                  <a:srgbClr val="000000"/>
                </a:solidFill>
                <a:latin typeface="Open Sans"/>
                <a:ea typeface="Open Sans"/>
                <a:cs typeface="Open Sans"/>
                <a:sym typeface="Open Sans"/>
              </a:rPr>
              <a:t>Pruebas de Nuevas Funcionalidades</a:t>
            </a:r>
            <a:endParaRPr b="0" i="0" sz="1400" u="none" cap="none" strike="noStrike">
              <a:solidFill>
                <a:srgbClr val="000000"/>
              </a:solidFill>
              <a:latin typeface="Arial"/>
              <a:ea typeface="Arial"/>
              <a:cs typeface="Arial"/>
              <a:sym typeface="Arial"/>
            </a:endParaRPr>
          </a:p>
        </p:txBody>
      </p:sp>
      <p:sp>
        <p:nvSpPr>
          <p:cNvPr id="233" name="Google Shape;233;g39ab1374e1b_0_198"/>
          <p:cNvSpPr txBox="1"/>
          <p:nvPr/>
        </p:nvSpPr>
        <p:spPr>
          <a:xfrm>
            <a:off x="10829365" y="659563"/>
            <a:ext cx="4333200" cy="815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300"/>
              <a:buFont typeface="Arial"/>
              <a:buNone/>
            </a:pPr>
            <a:r>
              <a:rPr b="1" i="0" lang="en-US" sz="5300" u="none" cap="none" strike="noStrike">
                <a:solidFill>
                  <a:srgbClr val="000000"/>
                </a:solidFill>
                <a:latin typeface="Poppins"/>
                <a:ea typeface="Poppins"/>
                <a:cs typeface="Poppins"/>
                <a:sym typeface="Poppins"/>
              </a:rPr>
              <a:t>EQUIPO</a:t>
            </a:r>
            <a:r>
              <a:rPr b="1" i="0" lang="en-US" sz="5300" u="none" cap="none" strike="noStrike">
                <a:solidFill>
                  <a:srgbClr val="FFFFFF"/>
                </a:solidFill>
                <a:latin typeface="Poppins"/>
                <a:ea typeface="Poppins"/>
                <a:cs typeface="Poppins"/>
                <a:sym typeface="Poppins"/>
              </a:rPr>
              <a:t> </a:t>
            </a:r>
            <a:r>
              <a:rPr b="1" i="0" lang="en-US" sz="5300" u="none" cap="none" strike="noStrike">
                <a:solidFill>
                  <a:srgbClr val="000000"/>
                </a:solidFill>
                <a:latin typeface="Poppins"/>
                <a:ea typeface="Poppins"/>
                <a:cs typeface="Poppins"/>
                <a:sym typeface="Poppins"/>
              </a:rPr>
              <a:t>DEV</a:t>
            </a:r>
            <a:endParaRPr b="0" i="0" sz="1400" u="none" cap="none" strike="noStrike">
              <a:solidFill>
                <a:srgbClr val="000000"/>
              </a:solidFill>
              <a:latin typeface="Arial"/>
              <a:ea typeface="Arial"/>
              <a:cs typeface="Arial"/>
              <a:sym typeface="Arial"/>
            </a:endParaRPr>
          </a:p>
        </p:txBody>
      </p:sp>
      <p:sp>
        <p:nvSpPr>
          <p:cNvPr id="234" name="Google Shape;234;g39ab1374e1b_0_198"/>
          <p:cNvSpPr txBox="1"/>
          <p:nvPr/>
        </p:nvSpPr>
        <p:spPr>
          <a:xfrm>
            <a:off x="10945823" y="5484779"/>
            <a:ext cx="4333200" cy="815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300"/>
              <a:buFont typeface="Arial"/>
              <a:buNone/>
            </a:pPr>
            <a:r>
              <a:rPr b="1" i="0" lang="en-US" sz="5300" u="none" cap="none" strike="noStrike">
                <a:solidFill>
                  <a:srgbClr val="000000"/>
                </a:solidFill>
                <a:latin typeface="Poppins"/>
                <a:ea typeface="Poppins"/>
                <a:cs typeface="Poppins"/>
                <a:sym typeface="Poppins"/>
              </a:rPr>
              <a:t>EQUIPO</a:t>
            </a:r>
            <a:r>
              <a:rPr b="1" i="0" lang="en-US" sz="5300" u="none" cap="none" strike="noStrike">
                <a:solidFill>
                  <a:srgbClr val="FFFFFF"/>
                </a:solidFill>
                <a:latin typeface="Poppins"/>
                <a:ea typeface="Poppins"/>
                <a:cs typeface="Poppins"/>
                <a:sym typeface="Poppins"/>
              </a:rPr>
              <a:t> </a:t>
            </a:r>
            <a:r>
              <a:rPr b="1" i="0" lang="en-US" sz="5300" u="none" cap="none" strike="noStrike">
                <a:solidFill>
                  <a:srgbClr val="000000"/>
                </a:solidFill>
                <a:latin typeface="Poppins"/>
                <a:ea typeface="Poppins"/>
                <a:cs typeface="Poppins"/>
                <a:sym typeface="Poppins"/>
              </a:rPr>
              <a:t>QA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8" name="Shape 238"/>
        <p:cNvGrpSpPr/>
        <p:nvPr/>
      </p:nvGrpSpPr>
      <p:grpSpPr>
        <a:xfrm>
          <a:off x="0" y="0"/>
          <a:ext cx="0" cy="0"/>
          <a:chOff x="0" y="0"/>
          <a:chExt cx="0" cy="0"/>
        </a:xfrm>
      </p:grpSpPr>
      <p:sp>
        <p:nvSpPr>
          <p:cNvPr id="239" name="Google Shape;239;g39ab1374e1b_0_219"/>
          <p:cNvSpPr txBox="1"/>
          <p:nvPr/>
        </p:nvSpPr>
        <p:spPr>
          <a:xfrm>
            <a:off x="1236073" y="4086225"/>
            <a:ext cx="15816000" cy="2201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6500"/>
              <a:buFont typeface="Arial"/>
              <a:buNone/>
            </a:pPr>
            <a:r>
              <a:rPr b="1" i="0" lang="en-US" sz="6500" u="none" cap="none" strike="noStrike">
                <a:solidFill>
                  <a:schemeClr val="dk1"/>
                </a:solidFill>
                <a:latin typeface="Poppins"/>
                <a:ea typeface="Poppins"/>
                <a:cs typeface="Poppins"/>
                <a:sym typeface="Poppins"/>
              </a:rPr>
              <a:t>METODOLOGÍAS ÁGILES EN EL CICLO DE VIDA DEL SOFTWARE</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3" name="Shape 243"/>
        <p:cNvGrpSpPr/>
        <p:nvPr/>
      </p:nvGrpSpPr>
      <p:grpSpPr>
        <a:xfrm>
          <a:off x="0" y="0"/>
          <a:ext cx="0" cy="0"/>
          <a:chOff x="0" y="0"/>
          <a:chExt cx="0" cy="0"/>
        </a:xfrm>
      </p:grpSpPr>
      <p:sp>
        <p:nvSpPr>
          <p:cNvPr id="244" name="Google Shape;244;g39ab1374e1b_0_223"/>
          <p:cNvSpPr/>
          <p:nvPr/>
        </p:nvSpPr>
        <p:spPr>
          <a:xfrm>
            <a:off x="16297265" y="8378510"/>
            <a:ext cx="2495638" cy="2495638"/>
          </a:xfrm>
          <a:custGeom>
            <a:rect b="b" l="l" r="r" t="t"/>
            <a:pathLst>
              <a:path extrusionOk="0" h="2495638" w="2495638">
                <a:moveTo>
                  <a:pt x="0" y="0"/>
                </a:moveTo>
                <a:lnTo>
                  <a:pt x="2495638" y="0"/>
                </a:lnTo>
                <a:lnTo>
                  <a:pt x="2495638" y="2495638"/>
                </a:lnTo>
                <a:lnTo>
                  <a:pt x="0" y="2495638"/>
                </a:lnTo>
                <a:lnTo>
                  <a:pt x="0" y="0"/>
                </a:lnTo>
                <a:close/>
              </a:path>
            </a:pathLst>
          </a:custGeom>
          <a:blipFill rotWithShape="1">
            <a:blip r:embed="rId3">
              <a:alphaModFix amt="38000"/>
            </a:blip>
            <a:stretch>
              <a:fillRect b="0" l="0" r="0" t="0"/>
            </a:stretch>
          </a:blipFill>
          <a:ln>
            <a:noFill/>
          </a:ln>
        </p:spPr>
      </p:sp>
      <p:sp>
        <p:nvSpPr>
          <p:cNvPr id="245" name="Google Shape;245;g39ab1374e1b_0_223"/>
          <p:cNvSpPr/>
          <p:nvPr/>
        </p:nvSpPr>
        <p:spPr>
          <a:xfrm>
            <a:off x="-302028" y="5416091"/>
            <a:ext cx="1917346" cy="1736070"/>
          </a:xfrm>
          <a:custGeom>
            <a:rect b="b" l="l" r="r" t="t"/>
            <a:pathLst>
              <a:path extrusionOk="0" h="1736070" w="1917346">
                <a:moveTo>
                  <a:pt x="0" y="0"/>
                </a:moveTo>
                <a:lnTo>
                  <a:pt x="1917345" y="0"/>
                </a:lnTo>
                <a:lnTo>
                  <a:pt x="1917345" y="1736069"/>
                </a:lnTo>
                <a:lnTo>
                  <a:pt x="0" y="1736069"/>
                </a:lnTo>
                <a:lnTo>
                  <a:pt x="0" y="0"/>
                </a:lnTo>
                <a:close/>
              </a:path>
            </a:pathLst>
          </a:custGeom>
          <a:blipFill rotWithShape="1">
            <a:blip r:embed="rId4">
              <a:alphaModFix amt="38000"/>
            </a:blip>
            <a:stretch>
              <a:fillRect b="0" l="0" r="0" t="0"/>
            </a:stretch>
          </a:blipFill>
          <a:ln>
            <a:noFill/>
          </a:ln>
        </p:spPr>
      </p:sp>
      <p:grpSp>
        <p:nvGrpSpPr>
          <p:cNvPr id="246" name="Google Shape;246;g39ab1374e1b_0_223"/>
          <p:cNvGrpSpPr/>
          <p:nvPr/>
        </p:nvGrpSpPr>
        <p:grpSpPr>
          <a:xfrm>
            <a:off x="1062938" y="2638804"/>
            <a:ext cx="7619911" cy="7217402"/>
            <a:chOff x="0" y="-28575"/>
            <a:chExt cx="2964600" cy="2808000"/>
          </a:xfrm>
        </p:grpSpPr>
        <p:sp>
          <p:nvSpPr>
            <p:cNvPr id="247" name="Google Shape;247;g39ab1374e1b_0_223"/>
            <p:cNvSpPr/>
            <p:nvPr/>
          </p:nvSpPr>
          <p:spPr>
            <a:xfrm>
              <a:off x="0" y="0"/>
              <a:ext cx="2964596" cy="2779309"/>
            </a:xfrm>
            <a:custGeom>
              <a:rect b="b" l="l" r="r" t="t"/>
              <a:pathLst>
                <a:path extrusionOk="0" h="2779309" w="2964596">
                  <a:moveTo>
                    <a:pt x="51816" y="0"/>
                  </a:moveTo>
                  <a:lnTo>
                    <a:pt x="2912780" y="0"/>
                  </a:lnTo>
                  <a:cubicBezTo>
                    <a:pt x="2926522" y="0"/>
                    <a:pt x="2939702" y="5459"/>
                    <a:pt x="2949419" y="15177"/>
                  </a:cubicBezTo>
                  <a:cubicBezTo>
                    <a:pt x="2959137" y="24894"/>
                    <a:pt x="2964596" y="38074"/>
                    <a:pt x="2964596" y="51816"/>
                  </a:cubicBezTo>
                  <a:lnTo>
                    <a:pt x="2964596" y="2727493"/>
                  </a:lnTo>
                  <a:cubicBezTo>
                    <a:pt x="2964596" y="2756110"/>
                    <a:pt x="2941397" y="2779309"/>
                    <a:pt x="2912780" y="2779309"/>
                  </a:cubicBezTo>
                  <a:lnTo>
                    <a:pt x="51816" y="2779309"/>
                  </a:lnTo>
                  <a:cubicBezTo>
                    <a:pt x="38074" y="2779309"/>
                    <a:pt x="24894" y="2773849"/>
                    <a:pt x="15177" y="2764132"/>
                  </a:cubicBezTo>
                  <a:cubicBezTo>
                    <a:pt x="5459" y="2754415"/>
                    <a:pt x="0" y="2741235"/>
                    <a:pt x="0" y="2727493"/>
                  </a:cubicBezTo>
                  <a:lnTo>
                    <a:pt x="0" y="51816"/>
                  </a:lnTo>
                  <a:cubicBezTo>
                    <a:pt x="0" y="23199"/>
                    <a:pt x="23199" y="0"/>
                    <a:pt x="51816"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g39ab1374e1b_0_223"/>
            <p:cNvSpPr txBox="1"/>
            <p:nvPr/>
          </p:nvSpPr>
          <p:spPr>
            <a:xfrm>
              <a:off x="0" y="-28575"/>
              <a:ext cx="2964600" cy="280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9" name="Google Shape;249;g39ab1374e1b_0_223"/>
          <p:cNvGrpSpPr/>
          <p:nvPr/>
        </p:nvGrpSpPr>
        <p:grpSpPr>
          <a:xfrm>
            <a:off x="9544050" y="2638804"/>
            <a:ext cx="7619911" cy="7217402"/>
            <a:chOff x="0" y="-28575"/>
            <a:chExt cx="2964600" cy="2808000"/>
          </a:xfrm>
        </p:grpSpPr>
        <p:sp>
          <p:nvSpPr>
            <p:cNvPr id="250" name="Google Shape;250;g39ab1374e1b_0_223"/>
            <p:cNvSpPr/>
            <p:nvPr/>
          </p:nvSpPr>
          <p:spPr>
            <a:xfrm>
              <a:off x="0" y="0"/>
              <a:ext cx="2964596" cy="2779309"/>
            </a:xfrm>
            <a:custGeom>
              <a:rect b="b" l="l" r="r" t="t"/>
              <a:pathLst>
                <a:path extrusionOk="0" h="2779309" w="2964596">
                  <a:moveTo>
                    <a:pt x="51816" y="0"/>
                  </a:moveTo>
                  <a:lnTo>
                    <a:pt x="2912780" y="0"/>
                  </a:lnTo>
                  <a:cubicBezTo>
                    <a:pt x="2926522" y="0"/>
                    <a:pt x="2939702" y="5459"/>
                    <a:pt x="2949419" y="15177"/>
                  </a:cubicBezTo>
                  <a:cubicBezTo>
                    <a:pt x="2959137" y="24894"/>
                    <a:pt x="2964596" y="38074"/>
                    <a:pt x="2964596" y="51816"/>
                  </a:cubicBezTo>
                  <a:lnTo>
                    <a:pt x="2964596" y="2727493"/>
                  </a:lnTo>
                  <a:cubicBezTo>
                    <a:pt x="2964596" y="2756110"/>
                    <a:pt x="2941397" y="2779309"/>
                    <a:pt x="2912780" y="2779309"/>
                  </a:cubicBezTo>
                  <a:lnTo>
                    <a:pt x="51816" y="2779309"/>
                  </a:lnTo>
                  <a:cubicBezTo>
                    <a:pt x="38074" y="2779309"/>
                    <a:pt x="24894" y="2773849"/>
                    <a:pt x="15177" y="2764132"/>
                  </a:cubicBezTo>
                  <a:cubicBezTo>
                    <a:pt x="5459" y="2754415"/>
                    <a:pt x="0" y="2741235"/>
                    <a:pt x="0" y="2727493"/>
                  </a:cubicBezTo>
                  <a:lnTo>
                    <a:pt x="0" y="51816"/>
                  </a:lnTo>
                  <a:cubicBezTo>
                    <a:pt x="0" y="23199"/>
                    <a:pt x="23199" y="0"/>
                    <a:pt x="51816"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g39ab1374e1b_0_223"/>
            <p:cNvSpPr txBox="1"/>
            <p:nvPr/>
          </p:nvSpPr>
          <p:spPr>
            <a:xfrm>
              <a:off x="0" y="-28575"/>
              <a:ext cx="2964600" cy="280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2" name="Google Shape;252;g39ab1374e1b_0_223"/>
          <p:cNvSpPr txBox="1"/>
          <p:nvPr/>
        </p:nvSpPr>
        <p:spPr>
          <a:xfrm>
            <a:off x="1737605" y="1132505"/>
            <a:ext cx="6270600" cy="2201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500"/>
              <a:buFont typeface="Arial"/>
              <a:buNone/>
            </a:pPr>
            <a:r>
              <a:rPr b="1" i="0" lang="en-US" sz="6500" u="none" cap="none" strike="noStrike">
                <a:solidFill>
                  <a:schemeClr val="dk1"/>
                </a:solidFill>
                <a:latin typeface="Poppins"/>
                <a:ea typeface="Poppins"/>
                <a:cs typeface="Poppins"/>
                <a:sym typeface="Poppins"/>
              </a:rPr>
              <a:t>FASE: ANÁLISIS</a:t>
            </a:r>
            <a:endParaRPr b="0" i="0" sz="1400" u="none" cap="none" strike="noStrike">
              <a:solidFill>
                <a:schemeClr val="dk1"/>
              </a:solidFill>
              <a:latin typeface="Arial"/>
              <a:ea typeface="Arial"/>
              <a:cs typeface="Arial"/>
              <a:sym typeface="Arial"/>
            </a:endParaRPr>
          </a:p>
        </p:txBody>
      </p:sp>
      <p:sp>
        <p:nvSpPr>
          <p:cNvPr id="253" name="Google Shape;253;g39ab1374e1b_0_223"/>
          <p:cNvSpPr txBox="1"/>
          <p:nvPr/>
        </p:nvSpPr>
        <p:spPr>
          <a:xfrm>
            <a:off x="1615325" y="3409950"/>
            <a:ext cx="6393000" cy="590130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3149"/>
              <a:buFont typeface="Arial"/>
              <a:buNone/>
            </a:pPr>
            <a:r>
              <a:rPr b="1" i="0" lang="en-US" sz="2949" u="none" cap="none" strike="noStrike">
                <a:solidFill>
                  <a:srgbClr val="372A28"/>
                </a:solidFill>
                <a:latin typeface="Arial"/>
                <a:ea typeface="Arial"/>
                <a:cs typeface="Arial"/>
                <a:sym typeface="Arial"/>
              </a:rPr>
              <a:t>Enfoque tradicional:</a:t>
            </a:r>
            <a:r>
              <a:rPr b="0" i="0" lang="en-US" sz="2949" u="none" cap="none" strike="noStrike">
                <a:solidFill>
                  <a:srgbClr val="372A28"/>
                </a:solidFill>
                <a:latin typeface="Arial"/>
                <a:ea typeface="Arial"/>
                <a:cs typeface="Arial"/>
                <a:sym typeface="Arial"/>
              </a:rPr>
              <a:t> Los requisitos se definen completamente al inicio del proyecto</a:t>
            </a:r>
            <a:endParaRPr b="0" i="0" sz="12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149"/>
              <a:buFont typeface="Arial"/>
              <a:buNone/>
            </a:pPr>
            <a:r>
              <a:t/>
            </a:r>
            <a:endParaRPr b="0" i="0" sz="2949" u="none" cap="none" strike="noStrike">
              <a:solidFill>
                <a:srgbClr val="372A28"/>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149"/>
              <a:buFont typeface="Arial"/>
              <a:buNone/>
            </a:pPr>
            <a:r>
              <a:rPr b="1" i="0" lang="en-US" sz="2949" u="none" cap="none" strike="noStrike">
                <a:solidFill>
                  <a:srgbClr val="372A28"/>
                </a:solidFill>
                <a:latin typeface="Arial"/>
                <a:ea typeface="Arial"/>
                <a:cs typeface="Arial"/>
                <a:sym typeface="Arial"/>
              </a:rPr>
              <a:t>Enfoque ágil:</a:t>
            </a:r>
            <a:r>
              <a:rPr b="0" i="0" lang="en-US" sz="2949" u="none" cap="none" strike="noStrike">
                <a:solidFill>
                  <a:srgbClr val="372A28"/>
                </a:solidFill>
                <a:latin typeface="Arial"/>
                <a:ea typeface="Arial"/>
                <a:cs typeface="Arial"/>
                <a:sym typeface="Arial"/>
              </a:rPr>
              <a:t> Los requisitos se capturan en forma de historias de usuario y se priorizan en un backlog. Los requisitos pueden evolucionar con el tiempo, y se ajustan en cada iteración según el feedback del cliente.</a:t>
            </a:r>
            <a:endParaRPr b="0" i="0" sz="1200" u="none" cap="none" strike="noStrike">
              <a:solidFill>
                <a:srgbClr val="000000"/>
              </a:solidFill>
              <a:latin typeface="Arial"/>
              <a:ea typeface="Arial"/>
              <a:cs typeface="Arial"/>
              <a:sym typeface="Arial"/>
            </a:endParaRPr>
          </a:p>
        </p:txBody>
      </p:sp>
      <p:sp>
        <p:nvSpPr>
          <p:cNvPr id="254" name="Google Shape;254;g39ab1374e1b_0_223"/>
          <p:cNvSpPr txBox="1"/>
          <p:nvPr/>
        </p:nvSpPr>
        <p:spPr>
          <a:xfrm>
            <a:off x="10555784" y="1132505"/>
            <a:ext cx="5596500" cy="2201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500"/>
              <a:buFont typeface="Arial"/>
              <a:buNone/>
            </a:pPr>
            <a:r>
              <a:rPr b="1" i="0" lang="en-US" sz="6500" u="none" cap="none" strike="noStrike">
                <a:solidFill>
                  <a:schemeClr val="dk1"/>
                </a:solidFill>
                <a:latin typeface="Poppins"/>
                <a:ea typeface="Poppins"/>
                <a:cs typeface="Poppins"/>
                <a:sym typeface="Poppins"/>
              </a:rPr>
              <a:t>FASE: DISEÑO</a:t>
            </a:r>
            <a:endParaRPr b="0" i="0" sz="1400" u="none" cap="none" strike="noStrike">
              <a:solidFill>
                <a:schemeClr val="dk1"/>
              </a:solidFill>
              <a:latin typeface="Arial"/>
              <a:ea typeface="Arial"/>
              <a:cs typeface="Arial"/>
              <a:sym typeface="Arial"/>
            </a:endParaRPr>
          </a:p>
        </p:txBody>
      </p:sp>
      <p:sp>
        <p:nvSpPr>
          <p:cNvPr id="255" name="Google Shape;255;g39ab1374e1b_0_223"/>
          <p:cNvSpPr txBox="1"/>
          <p:nvPr/>
        </p:nvSpPr>
        <p:spPr>
          <a:xfrm>
            <a:off x="10176250" y="3359950"/>
            <a:ext cx="6393000" cy="5901600"/>
          </a:xfrm>
          <a:prstGeom prst="rect">
            <a:avLst/>
          </a:prstGeom>
          <a:noFill/>
          <a:ln>
            <a:noFill/>
          </a:ln>
        </p:spPr>
        <p:txBody>
          <a:bodyPr anchorCtr="0" anchor="t" bIns="0" lIns="0" spcFirstLastPara="1" rIns="0" wrap="square" tIns="0">
            <a:spAutoFit/>
          </a:bodyPr>
          <a:lstStyle/>
          <a:p>
            <a:pPr indent="0" lvl="0" marL="0" marR="0" rtl="0" algn="l">
              <a:lnSpc>
                <a:spcPct val="119968"/>
              </a:lnSpc>
              <a:spcBef>
                <a:spcPts val="0"/>
              </a:spcBef>
              <a:spcAft>
                <a:spcPts val="0"/>
              </a:spcAft>
              <a:buClr>
                <a:srgbClr val="000000"/>
              </a:buClr>
              <a:buSzPts val="3150"/>
              <a:buFont typeface="Arial"/>
              <a:buNone/>
            </a:pPr>
            <a:r>
              <a:rPr b="1" i="0" lang="en-US" sz="2950" u="none" cap="none" strike="noStrike">
                <a:solidFill>
                  <a:srgbClr val="372A28"/>
                </a:solidFill>
                <a:latin typeface="Arial"/>
                <a:ea typeface="Arial"/>
                <a:cs typeface="Arial"/>
                <a:sym typeface="Arial"/>
              </a:rPr>
              <a:t>Enfoque tradicional:</a:t>
            </a:r>
            <a:r>
              <a:rPr b="0" i="0" lang="en-US" sz="2950" u="none" cap="none" strike="noStrike">
                <a:solidFill>
                  <a:srgbClr val="372A28"/>
                </a:solidFill>
                <a:latin typeface="Arial"/>
                <a:ea typeface="Arial"/>
                <a:cs typeface="Arial"/>
                <a:sym typeface="Arial"/>
              </a:rPr>
              <a:t> El diseño se realiza completamente antes de comenzar la implementación.</a:t>
            </a:r>
            <a:endParaRPr b="0" i="0" sz="1200" u="none" cap="none" strike="noStrike">
              <a:solidFill>
                <a:srgbClr val="000000"/>
              </a:solidFill>
              <a:latin typeface="Arial"/>
              <a:ea typeface="Arial"/>
              <a:cs typeface="Arial"/>
              <a:sym typeface="Arial"/>
            </a:endParaRPr>
          </a:p>
          <a:p>
            <a:pPr indent="0" lvl="0" marL="0" marR="0" rtl="0" algn="l">
              <a:lnSpc>
                <a:spcPct val="119968"/>
              </a:lnSpc>
              <a:spcBef>
                <a:spcPts val="0"/>
              </a:spcBef>
              <a:spcAft>
                <a:spcPts val="0"/>
              </a:spcAft>
              <a:buClr>
                <a:srgbClr val="000000"/>
              </a:buClr>
              <a:buSzPts val="3150"/>
              <a:buFont typeface="Arial"/>
              <a:buNone/>
            </a:pPr>
            <a:r>
              <a:t/>
            </a:r>
            <a:endParaRPr b="0" i="0" sz="2950" u="none" cap="none" strike="noStrike">
              <a:solidFill>
                <a:srgbClr val="372A28"/>
              </a:solidFill>
              <a:latin typeface="Arial"/>
              <a:ea typeface="Arial"/>
              <a:cs typeface="Arial"/>
              <a:sym typeface="Arial"/>
            </a:endParaRPr>
          </a:p>
          <a:p>
            <a:pPr indent="0" lvl="0" marL="0" marR="0" rtl="0" algn="l">
              <a:lnSpc>
                <a:spcPct val="119968"/>
              </a:lnSpc>
              <a:spcBef>
                <a:spcPts val="0"/>
              </a:spcBef>
              <a:spcAft>
                <a:spcPts val="0"/>
              </a:spcAft>
              <a:buClr>
                <a:srgbClr val="000000"/>
              </a:buClr>
              <a:buSzPts val="3150"/>
              <a:buFont typeface="Arial"/>
              <a:buNone/>
            </a:pPr>
            <a:r>
              <a:rPr b="1" i="0" lang="en-US" sz="2950" u="none" cap="none" strike="noStrike">
                <a:solidFill>
                  <a:srgbClr val="372A28"/>
                </a:solidFill>
                <a:latin typeface="Arial"/>
                <a:ea typeface="Arial"/>
                <a:cs typeface="Arial"/>
                <a:sym typeface="Arial"/>
              </a:rPr>
              <a:t>Enfoque ágil:</a:t>
            </a:r>
            <a:r>
              <a:rPr b="0" i="0" lang="en-US" sz="2950" u="none" cap="none" strike="noStrike">
                <a:solidFill>
                  <a:srgbClr val="372A28"/>
                </a:solidFill>
                <a:latin typeface="Arial"/>
                <a:ea typeface="Arial"/>
                <a:cs typeface="Arial"/>
                <a:sym typeface="Arial"/>
              </a:rPr>
              <a:t> El diseño se hace de manera incremental. En cada iteración, se diseña solo lo necesario para las funcionalidades que se van a desarrollar en ese sprint.</a:t>
            </a:r>
            <a:endParaRPr b="0" i="0" sz="1200" u="none" cap="none" strike="noStrike">
              <a:solidFill>
                <a:srgbClr val="000000"/>
              </a:solidFill>
              <a:latin typeface="Arial"/>
              <a:ea typeface="Arial"/>
              <a:cs typeface="Arial"/>
              <a:sym typeface="Arial"/>
            </a:endParaRPr>
          </a:p>
          <a:p>
            <a:pPr indent="0" lvl="0" marL="0" marR="0" rtl="0" algn="ctr">
              <a:lnSpc>
                <a:spcPct val="119968"/>
              </a:lnSpc>
              <a:spcBef>
                <a:spcPts val="0"/>
              </a:spcBef>
              <a:spcAft>
                <a:spcPts val="0"/>
              </a:spcAft>
              <a:buClr>
                <a:srgbClr val="000000"/>
              </a:buClr>
              <a:buSzPts val="3150"/>
              <a:buFont typeface="Arial"/>
              <a:buNone/>
            </a:pPr>
            <a:r>
              <a:t/>
            </a:r>
            <a:endParaRPr b="0" i="0" sz="2950" u="none" cap="none" strike="noStrike">
              <a:solidFill>
                <a:srgbClr val="372A28"/>
              </a:solidFill>
              <a:latin typeface="Arial"/>
              <a:ea typeface="Arial"/>
              <a:cs typeface="Arial"/>
              <a:sym typeface="Arial"/>
            </a:endParaRPr>
          </a:p>
          <a:p>
            <a:pPr indent="0" lvl="0" marL="0" marR="0" rtl="0" algn="ctr">
              <a:lnSpc>
                <a:spcPct val="119968"/>
              </a:lnSpc>
              <a:spcBef>
                <a:spcPts val="0"/>
              </a:spcBef>
              <a:spcAft>
                <a:spcPts val="0"/>
              </a:spcAft>
              <a:buClr>
                <a:srgbClr val="000000"/>
              </a:buClr>
              <a:buSzPts val="3150"/>
              <a:buFont typeface="Arial"/>
              <a:buNone/>
            </a:pPr>
            <a:r>
              <a:t/>
            </a:r>
            <a:endParaRPr b="0" i="0" sz="2950" u="none" cap="none" strike="noStrike">
              <a:solidFill>
                <a:srgbClr val="372A28"/>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9" name="Shape 259"/>
        <p:cNvGrpSpPr/>
        <p:nvPr/>
      </p:nvGrpSpPr>
      <p:grpSpPr>
        <a:xfrm>
          <a:off x="0" y="0"/>
          <a:ext cx="0" cy="0"/>
          <a:chOff x="0" y="0"/>
          <a:chExt cx="0" cy="0"/>
        </a:xfrm>
      </p:grpSpPr>
      <p:sp>
        <p:nvSpPr>
          <p:cNvPr id="260" name="Google Shape;260;g39ab1374e1b_0_238"/>
          <p:cNvSpPr/>
          <p:nvPr/>
        </p:nvSpPr>
        <p:spPr>
          <a:xfrm>
            <a:off x="16297265" y="8378510"/>
            <a:ext cx="2495638" cy="2495638"/>
          </a:xfrm>
          <a:custGeom>
            <a:rect b="b" l="l" r="r" t="t"/>
            <a:pathLst>
              <a:path extrusionOk="0" h="2495638" w="2495638">
                <a:moveTo>
                  <a:pt x="0" y="0"/>
                </a:moveTo>
                <a:lnTo>
                  <a:pt x="2495638" y="0"/>
                </a:lnTo>
                <a:lnTo>
                  <a:pt x="2495638" y="2495638"/>
                </a:lnTo>
                <a:lnTo>
                  <a:pt x="0" y="2495638"/>
                </a:lnTo>
                <a:lnTo>
                  <a:pt x="0" y="0"/>
                </a:lnTo>
                <a:close/>
              </a:path>
            </a:pathLst>
          </a:custGeom>
          <a:blipFill rotWithShape="1">
            <a:blip r:embed="rId3">
              <a:alphaModFix amt="38000"/>
            </a:blip>
            <a:stretch>
              <a:fillRect b="0" l="0" r="0" t="0"/>
            </a:stretch>
          </a:blipFill>
          <a:ln>
            <a:noFill/>
          </a:ln>
        </p:spPr>
      </p:sp>
      <p:grpSp>
        <p:nvGrpSpPr>
          <p:cNvPr id="261" name="Google Shape;261;g39ab1374e1b_0_238"/>
          <p:cNvGrpSpPr/>
          <p:nvPr/>
        </p:nvGrpSpPr>
        <p:grpSpPr>
          <a:xfrm>
            <a:off x="1062938" y="2638804"/>
            <a:ext cx="7619911" cy="7217402"/>
            <a:chOff x="0" y="-28575"/>
            <a:chExt cx="2964600" cy="2808000"/>
          </a:xfrm>
        </p:grpSpPr>
        <p:sp>
          <p:nvSpPr>
            <p:cNvPr id="262" name="Google Shape;262;g39ab1374e1b_0_238"/>
            <p:cNvSpPr/>
            <p:nvPr/>
          </p:nvSpPr>
          <p:spPr>
            <a:xfrm>
              <a:off x="0" y="0"/>
              <a:ext cx="2964596" cy="2779309"/>
            </a:xfrm>
            <a:custGeom>
              <a:rect b="b" l="l" r="r" t="t"/>
              <a:pathLst>
                <a:path extrusionOk="0" h="2779309" w="2964596">
                  <a:moveTo>
                    <a:pt x="51816" y="0"/>
                  </a:moveTo>
                  <a:lnTo>
                    <a:pt x="2912780" y="0"/>
                  </a:lnTo>
                  <a:cubicBezTo>
                    <a:pt x="2926522" y="0"/>
                    <a:pt x="2939702" y="5459"/>
                    <a:pt x="2949419" y="15177"/>
                  </a:cubicBezTo>
                  <a:cubicBezTo>
                    <a:pt x="2959137" y="24894"/>
                    <a:pt x="2964596" y="38074"/>
                    <a:pt x="2964596" y="51816"/>
                  </a:cubicBezTo>
                  <a:lnTo>
                    <a:pt x="2964596" y="2727493"/>
                  </a:lnTo>
                  <a:cubicBezTo>
                    <a:pt x="2964596" y="2756110"/>
                    <a:pt x="2941397" y="2779309"/>
                    <a:pt x="2912780" y="2779309"/>
                  </a:cubicBezTo>
                  <a:lnTo>
                    <a:pt x="51816" y="2779309"/>
                  </a:lnTo>
                  <a:cubicBezTo>
                    <a:pt x="38074" y="2779309"/>
                    <a:pt x="24894" y="2773849"/>
                    <a:pt x="15177" y="2764132"/>
                  </a:cubicBezTo>
                  <a:cubicBezTo>
                    <a:pt x="5459" y="2754415"/>
                    <a:pt x="0" y="2741235"/>
                    <a:pt x="0" y="2727493"/>
                  </a:cubicBezTo>
                  <a:lnTo>
                    <a:pt x="0" y="51816"/>
                  </a:lnTo>
                  <a:cubicBezTo>
                    <a:pt x="0" y="23199"/>
                    <a:pt x="23199" y="0"/>
                    <a:pt x="51816"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g39ab1374e1b_0_238"/>
            <p:cNvSpPr txBox="1"/>
            <p:nvPr/>
          </p:nvSpPr>
          <p:spPr>
            <a:xfrm>
              <a:off x="0" y="-28575"/>
              <a:ext cx="2964600" cy="280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4" name="Google Shape;264;g39ab1374e1b_0_238"/>
          <p:cNvGrpSpPr/>
          <p:nvPr/>
        </p:nvGrpSpPr>
        <p:grpSpPr>
          <a:xfrm>
            <a:off x="9544050" y="2638804"/>
            <a:ext cx="7619911" cy="7217402"/>
            <a:chOff x="0" y="-28575"/>
            <a:chExt cx="2964600" cy="2808000"/>
          </a:xfrm>
        </p:grpSpPr>
        <p:sp>
          <p:nvSpPr>
            <p:cNvPr id="265" name="Google Shape;265;g39ab1374e1b_0_238"/>
            <p:cNvSpPr/>
            <p:nvPr/>
          </p:nvSpPr>
          <p:spPr>
            <a:xfrm>
              <a:off x="0" y="0"/>
              <a:ext cx="2964596" cy="2779309"/>
            </a:xfrm>
            <a:custGeom>
              <a:rect b="b" l="l" r="r" t="t"/>
              <a:pathLst>
                <a:path extrusionOk="0" h="2779309" w="2964596">
                  <a:moveTo>
                    <a:pt x="51816" y="0"/>
                  </a:moveTo>
                  <a:lnTo>
                    <a:pt x="2912780" y="0"/>
                  </a:lnTo>
                  <a:cubicBezTo>
                    <a:pt x="2926522" y="0"/>
                    <a:pt x="2939702" y="5459"/>
                    <a:pt x="2949419" y="15177"/>
                  </a:cubicBezTo>
                  <a:cubicBezTo>
                    <a:pt x="2959137" y="24894"/>
                    <a:pt x="2964596" y="38074"/>
                    <a:pt x="2964596" y="51816"/>
                  </a:cubicBezTo>
                  <a:lnTo>
                    <a:pt x="2964596" y="2727493"/>
                  </a:lnTo>
                  <a:cubicBezTo>
                    <a:pt x="2964596" y="2756110"/>
                    <a:pt x="2941397" y="2779309"/>
                    <a:pt x="2912780" y="2779309"/>
                  </a:cubicBezTo>
                  <a:lnTo>
                    <a:pt x="51816" y="2779309"/>
                  </a:lnTo>
                  <a:cubicBezTo>
                    <a:pt x="38074" y="2779309"/>
                    <a:pt x="24894" y="2773849"/>
                    <a:pt x="15177" y="2764132"/>
                  </a:cubicBezTo>
                  <a:cubicBezTo>
                    <a:pt x="5459" y="2754415"/>
                    <a:pt x="0" y="2741235"/>
                    <a:pt x="0" y="2727493"/>
                  </a:cubicBezTo>
                  <a:lnTo>
                    <a:pt x="0" y="51816"/>
                  </a:lnTo>
                  <a:cubicBezTo>
                    <a:pt x="0" y="23199"/>
                    <a:pt x="23199" y="0"/>
                    <a:pt x="51816"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g39ab1374e1b_0_238"/>
            <p:cNvSpPr txBox="1"/>
            <p:nvPr/>
          </p:nvSpPr>
          <p:spPr>
            <a:xfrm>
              <a:off x="0" y="-28575"/>
              <a:ext cx="2964600" cy="280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7" name="Google Shape;267;g39ab1374e1b_0_238"/>
          <p:cNvSpPr txBox="1"/>
          <p:nvPr/>
        </p:nvSpPr>
        <p:spPr>
          <a:xfrm>
            <a:off x="1676550" y="3158750"/>
            <a:ext cx="6393000" cy="644610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3149"/>
              <a:buFont typeface="Arial"/>
              <a:buNone/>
            </a:pPr>
            <a:r>
              <a:rPr b="1" i="0" lang="en-US" sz="2949" u="none" cap="none" strike="noStrike">
                <a:solidFill>
                  <a:srgbClr val="372A28"/>
                </a:solidFill>
                <a:latin typeface="Arial"/>
                <a:ea typeface="Arial"/>
                <a:cs typeface="Arial"/>
                <a:sym typeface="Arial"/>
              </a:rPr>
              <a:t>Enfoque tradicional: </a:t>
            </a:r>
            <a:r>
              <a:rPr b="0" i="0" lang="en-US" sz="2949" u="none" cap="none" strike="noStrike">
                <a:solidFill>
                  <a:srgbClr val="372A28"/>
                </a:solidFill>
                <a:latin typeface="Arial"/>
                <a:ea typeface="Arial"/>
                <a:cs typeface="Arial"/>
                <a:sym typeface="Arial"/>
              </a:rPr>
              <a:t>La implementación se realiza en una sola fase, después del diseño.</a:t>
            </a:r>
            <a:endParaRPr b="0" i="0" sz="12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149"/>
              <a:buFont typeface="Arial"/>
              <a:buNone/>
            </a:pPr>
            <a:r>
              <a:t/>
            </a:r>
            <a:endParaRPr b="0" i="0" sz="2949" u="none" cap="none" strike="noStrike">
              <a:solidFill>
                <a:srgbClr val="372A28"/>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149"/>
              <a:buFont typeface="Arial"/>
              <a:buNone/>
            </a:pPr>
            <a:r>
              <a:rPr b="1" i="0" lang="en-US" sz="2949" u="none" cap="none" strike="noStrike">
                <a:solidFill>
                  <a:srgbClr val="372A28"/>
                </a:solidFill>
                <a:latin typeface="Arial"/>
                <a:ea typeface="Arial"/>
                <a:cs typeface="Arial"/>
                <a:sym typeface="Arial"/>
              </a:rPr>
              <a:t>Enfoque ágil: </a:t>
            </a:r>
            <a:r>
              <a:rPr b="0" i="0" lang="en-US" sz="2949" u="none" cap="none" strike="noStrike">
                <a:solidFill>
                  <a:srgbClr val="372A28"/>
                </a:solidFill>
                <a:latin typeface="Arial"/>
                <a:ea typeface="Arial"/>
                <a:cs typeface="Arial"/>
                <a:sym typeface="Arial"/>
              </a:rPr>
              <a:t>La implementación se realiza en iteraciones cortas (sprints), donde se desarrollan pequeñas funcionalidades completas. El equipo de desarrollo trabaja en colaboración con el equipo de QA para garantizar la calidad del código.</a:t>
            </a:r>
            <a:endParaRPr b="0" i="0" sz="12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149"/>
              <a:buFont typeface="Arial"/>
              <a:buNone/>
            </a:pPr>
            <a:r>
              <a:t/>
            </a:r>
            <a:endParaRPr b="0" i="0" sz="2949" u="none" cap="none" strike="noStrike">
              <a:solidFill>
                <a:srgbClr val="372A28"/>
              </a:solidFill>
              <a:latin typeface="Arial"/>
              <a:ea typeface="Arial"/>
              <a:cs typeface="Arial"/>
              <a:sym typeface="Arial"/>
            </a:endParaRPr>
          </a:p>
        </p:txBody>
      </p:sp>
      <p:sp>
        <p:nvSpPr>
          <p:cNvPr id="268" name="Google Shape;268;g39ab1374e1b_0_238"/>
          <p:cNvSpPr txBox="1"/>
          <p:nvPr/>
        </p:nvSpPr>
        <p:spPr>
          <a:xfrm>
            <a:off x="10065500" y="3158750"/>
            <a:ext cx="6534600" cy="6446400"/>
          </a:xfrm>
          <a:prstGeom prst="rect">
            <a:avLst/>
          </a:prstGeom>
          <a:noFill/>
          <a:ln>
            <a:noFill/>
          </a:ln>
        </p:spPr>
        <p:txBody>
          <a:bodyPr anchorCtr="0" anchor="t" bIns="0" lIns="0" spcFirstLastPara="1" rIns="0" wrap="square" tIns="0">
            <a:spAutoFit/>
          </a:bodyPr>
          <a:lstStyle/>
          <a:p>
            <a:pPr indent="0" lvl="0" marL="0" marR="0" rtl="0" algn="l">
              <a:lnSpc>
                <a:spcPct val="119968"/>
              </a:lnSpc>
              <a:spcBef>
                <a:spcPts val="0"/>
              </a:spcBef>
              <a:spcAft>
                <a:spcPts val="0"/>
              </a:spcAft>
              <a:buClr>
                <a:srgbClr val="000000"/>
              </a:buClr>
              <a:buSzPts val="3150"/>
              <a:buFont typeface="Arial"/>
              <a:buNone/>
            </a:pPr>
            <a:r>
              <a:rPr b="1" i="0" lang="en-US" sz="2950" u="none" cap="none" strike="noStrike">
                <a:solidFill>
                  <a:srgbClr val="372A28"/>
                </a:solidFill>
                <a:latin typeface="Arial"/>
                <a:ea typeface="Arial"/>
                <a:cs typeface="Arial"/>
                <a:sym typeface="Arial"/>
              </a:rPr>
              <a:t>Enfoque tradicional:</a:t>
            </a:r>
            <a:r>
              <a:rPr b="0" i="0" lang="en-US" sz="2950" u="none" cap="none" strike="noStrike">
                <a:solidFill>
                  <a:srgbClr val="372A28"/>
                </a:solidFill>
                <a:latin typeface="Arial"/>
                <a:ea typeface="Arial"/>
                <a:cs typeface="Arial"/>
                <a:sym typeface="Arial"/>
              </a:rPr>
              <a:t> Las pruebas se realizan después de completar la implementación.</a:t>
            </a:r>
            <a:endParaRPr b="0" i="0" sz="1200" u="none" cap="none" strike="noStrike">
              <a:solidFill>
                <a:srgbClr val="000000"/>
              </a:solidFill>
              <a:latin typeface="Arial"/>
              <a:ea typeface="Arial"/>
              <a:cs typeface="Arial"/>
              <a:sym typeface="Arial"/>
            </a:endParaRPr>
          </a:p>
          <a:p>
            <a:pPr indent="0" lvl="0" marL="0" marR="0" rtl="0" algn="l">
              <a:lnSpc>
                <a:spcPct val="119968"/>
              </a:lnSpc>
              <a:spcBef>
                <a:spcPts val="0"/>
              </a:spcBef>
              <a:spcAft>
                <a:spcPts val="0"/>
              </a:spcAft>
              <a:buClr>
                <a:srgbClr val="000000"/>
              </a:buClr>
              <a:buSzPts val="3150"/>
              <a:buFont typeface="Arial"/>
              <a:buNone/>
            </a:pPr>
            <a:r>
              <a:t/>
            </a:r>
            <a:endParaRPr b="0" i="0" sz="2950" u="none" cap="none" strike="noStrike">
              <a:solidFill>
                <a:srgbClr val="372A28"/>
              </a:solidFill>
              <a:latin typeface="Arial"/>
              <a:ea typeface="Arial"/>
              <a:cs typeface="Arial"/>
              <a:sym typeface="Arial"/>
            </a:endParaRPr>
          </a:p>
          <a:p>
            <a:pPr indent="0" lvl="0" marL="0" marR="0" rtl="0" algn="l">
              <a:lnSpc>
                <a:spcPct val="119968"/>
              </a:lnSpc>
              <a:spcBef>
                <a:spcPts val="0"/>
              </a:spcBef>
              <a:spcAft>
                <a:spcPts val="0"/>
              </a:spcAft>
              <a:buClr>
                <a:srgbClr val="000000"/>
              </a:buClr>
              <a:buSzPts val="3150"/>
              <a:buFont typeface="Arial"/>
              <a:buNone/>
            </a:pPr>
            <a:r>
              <a:rPr b="1" i="0" lang="en-US" sz="2950" u="none" cap="none" strike="noStrike">
                <a:solidFill>
                  <a:srgbClr val="372A28"/>
                </a:solidFill>
                <a:latin typeface="Arial"/>
                <a:ea typeface="Arial"/>
                <a:cs typeface="Arial"/>
                <a:sym typeface="Arial"/>
              </a:rPr>
              <a:t>Enfoque ágil:</a:t>
            </a:r>
            <a:r>
              <a:rPr b="0" i="0" lang="en-US" sz="2950" u="none" cap="none" strike="noStrike">
                <a:solidFill>
                  <a:srgbClr val="372A28"/>
                </a:solidFill>
                <a:latin typeface="Arial"/>
                <a:ea typeface="Arial"/>
                <a:cs typeface="Arial"/>
                <a:sym typeface="Arial"/>
              </a:rPr>
              <a:t> Las pruebas se integran en cada iteración. El equipo de QA trabaja en paralelo con los desarrolladores, realizando pruebas continuas (unitarias, de integración, funcionales, etc.). Además, se fomenta la automatización de pruebas para agilizar el proceso.</a:t>
            </a:r>
            <a:endParaRPr b="0" i="0" sz="1200" u="none" cap="none" strike="noStrike">
              <a:solidFill>
                <a:srgbClr val="000000"/>
              </a:solidFill>
              <a:latin typeface="Arial"/>
              <a:ea typeface="Arial"/>
              <a:cs typeface="Arial"/>
              <a:sym typeface="Arial"/>
            </a:endParaRPr>
          </a:p>
        </p:txBody>
      </p:sp>
      <p:sp>
        <p:nvSpPr>
          <p:cNvPr id="269" name="Google Shape;269;g39ab1374e1b_0_238"/>
          <p:cNvSpPr txBox="1"/>
          <p:nvPr/>
        </p:nvSpPr>
        <p:spPr>
          <a:xfrm>
            <a:off x="1676461" y="1246805"/>
            <a:ext cx="6393000" cy="1794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300"/>
              <a:buFont typeface="Arial"/>
              <a:buNone/>
            </a:pPr>
            <a:r>
              <a:rPr b="1" i="0" lang="en-US" sz="5300" u="none" cap="none" strike="noStrike">
                <a:solidFill>
                  <a:schemeClr val="dk1"/>
                </a:solidFill>
                <a:latin typeface="Poppins"/>
                <a:ea typeface="Poppins"/>
                <a:cs typeface="Poppins"/>
                <a:sym typeface="Poppins"/>
              </a:rPr>
              <a:t>FASE: DESARROLLO</a:t>
            </a:r>
            <a:endParaRPr b="0" i="0" sz="1400" u="none" cap="none" strike="noStrike">
              <a:solidFill>
                <a:schemeClr val="dk1"/>
              </a:solidFill>
              <a:latin typeface="Arial"/>
              <a:ea typeface="Arial"/>
              <a:cs typeface="Arial"/>
              <a:sym typeface="Arial"/>
            </a:endParaRPr>
          </a:p>
        </p:txBody>
      </p:sp>
      <p:sp>
        <p:nvSpPr>
          <p:cNvPr id="270" name="Google Shape;270;g39ab1374e1b_0_238"/>
          <p:cNvSpPr txBox="1"/>
          <p:nvPr/>
        </p:nvSpPr>
        <p:spPr>
          <a:xfrm>
            <a:off x="10676447" y="1218230"/>
            <a:ext cx="5355300" cy="18621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Clr>
                <a:srgbClr val="000000"/>
              </a:buClr>
              <a:buSzPts val="5499"/>
              <a:buFont typeface="Arial"/>
              <a:buNone/>
            </a:pPr>
            <a:r>
              <a:rPr b="1" i="0" lang="en-US" sz="5499" u="none" cap="none" strike="noStrike">
                <a:solidFill>
                  <a:schemeClr val="dk1"/>
                </a:solidFill>
                <a:latin typeface="Poppins"/>
                <a:ea typeface="Poppins"/>
                <a:cs typeface="Poppins"/>
                <a:sym typeface="Poppins"/>
              </a:rPr>
              <a:t>FASE: PRUEBAS</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4" name="Shape 274"/>
        <p:cNvGrpSpPr/>
        <p:nvPr/>
      </p:nvGrpSpPr>
      <p:grpSpPr>
        <a:xfrm>
          <a:off x="0" y="0"/>
          <a:ext cx="0" cy="0"/>
          <a:chOff x="0" y="0"/>
          <a:chExt cx="0" cy="0"/>
        </a:xfrm>
      </p:grpSpPr>
      <p:sp>
        <p:nvSpPr>
          <p:cNvPr id="275" name="Google Shape;275;g39ab1374e1b_0_252"/>
          <p:cNvSpPr/>
          <p:nvPr/>
        </p:nvSpPr>
        <p:spPr>
          <a:xfrm>
            <a:off x="16297265" y="8378510"/>
            <a:ext cx="2495638" cy="2495638"/>
          </a:xfrm>
          <a:custGeom>
            <a:rect b="b" l="l" r="r" t="t"/>
            <a:pathLst>
              <a:path extrusionOk="0" h="2495638" w="2495638">
                <a:moveTo>
                  <a:pt x="0" y="0"/>
                </a:moveTo>
                <a:lnTo>
                  <a:pt x="2495638" y="0"/>
                </a:lnTo>
                <a:lnTo>
                  <a:pt x="2495638" y="2495638"/>
                </a:lnTo>
                <a:lnTo>
                  <a:pt x="0" y="2495638"/>
                </a:lnTo>
                <a:lnTo>
                  <a:pt x="0" y="0"/>
                </a:lnTo>
                <a:close/>
              </a:path>
            </a:pathLst>
          </a:custGeom>
          <a:blipFill rotWithShape="1">
            <a:blip r:embed="rId3">
              <a:alphaModFix amt="38000"/>
            </a:blip>
            <a:stretch>
              <a:fillRect b="0" l="0" r="0" t="0"/>
            </a:stretch>
          </a:blipFill>
          <a:ln>
            <a:noFill/>
          </a:ln>
        </p:spPr>
      </p:sp>
      <p:grpSp>
        <p:nvGrpSpPr>
          <p:cNvPr id="276" name="Google Shape;276;g39ab1374e1b_0_252"/>
          <p:cNvGrpSpPr/>
          <p:nvPr/>
        </p:nvGrpSpPr>
        <p:grpSpPr>
          <a:xfrm>
            <a:off x="1062938" y="2638804"/>
            <a:ext cx="7619911" cy="7217402"/>
            <a:chOff x="0" y="-28575"/>
            <a:chExt cx="2964600" cy="2808000"/>
          </a:xfrm>
        </p:grpSpPr>
        <p:sp>
          <p:nvSpPr>
            <p:cNvPr id="277" name="Google Shape;277;g39ab1374e1b_0_252"/>
            <p:cNvSpPr/>
            <p:nvPr/>
          </p:nvSpPr>
          <p:spPr>
            <a:xfrm>
              <a:off x="0" y="0"/>
              <a:ext cx="2964596" cy="2779309"/>
            </a:xfrm>
            <a:custGeom>
              <a:rect b="b" l="l" r="r" t="t"/>
              <a:pathLst>
                <a:path extrusionOk="0" h="2779309" w="2964596">
                  <a:moveTo>
                    <a:pt x="51816" y="0"/>
                  </a:moveTo>
                  <a:lnTo>
                    <a:pt x="2912780" y="0"/>
                  </a:lnTo>
                  <a:cubicBezTo>
                    <a:pt x="2926522" y="0"/>
                    <a:pt x="2939702" y="5459"/>
                    <a:pt x="2949419" y="15177"/>
                  </a:cubicBezTo>
                  <a:cubicBezTo>
                    <a:pt x="2959137" y="24894"/>
                    <a:pt x="2964596" y="38074"/>
                    <a:pt x="2964596" y="51816"/>
                  </a:cubicBezTo>
                  <a:lnTo>
                    <a:pt x="2964596" y="2727493"/>
                  </a:lnTo>
                  <a:cubicBezTo>
                    <a:pt x="2964596" y="2756110"/>
                    <a:pt x="2941397" y="2779309"/>
                    <a:pt x="2912780" y="2779309"/>
                  </a:cubicBezTo>
                  <a:lnTo>
                    <a:pt x="51816" y="2779309"/>
                  </a:lnTo>
                  <a:cubicBezTo>
                    <a:pt x="38074" y="2779309"/>
                    <a:pt x="24894" y="2773849"/>
                    <a:pt x="15177" y="2764132"/>
                  </a:cubicBezTo>
                  <a:cubicBezTo>
                    <a:pt x="5459" y="2754415"/>
                    <a:pt x="0" y="2741235"/>
                    <a:pt x="0" y="2727493"/>
                  </a:cubicBezTo>
                  <a:lnTo>
                    <a:pt x="0" y="51816"/>
                  </a:lnTo>
                  <a:cubicBezTo>
                    <a:pt x="0" y="23199"/>
                    <a:pt x="23199" y="0"/>
                    <a:pt x="51816"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g39ab1374e1b_0_252"/>
            <p:cNvSpPr txBox="1"/>
            <p:nvPr/>
          </p:nvSpPr>
          <p:spPr>
            <a:xfrm>
              <a:off x="0" y="-28575"/>
              <a:ext cx="2964600" cy="280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9" name="Google Shape;279;g39ab1374e1b_0_252"/>
          <p:cNvGrpSpPr/>
          <p:nvPr/>
        </p:nvGrpSpPr>
        <p:grpSpPr>
          <a:xfrm>
            <a:off x="9544050" y="2638804"/>
            <a:ext cx="7619911" cy="7217402"/>
            <a:chOff x="0" y="-28575"/>
            <a:chExt cx="2964600" cy="2808000"/>
          </a:xfrm>
        </p:grpSpPr>
        <p:sp>
          <p:nvSpPr>
            <p:cNvPr id="280" name="Google Shape;280;g39ab1374e1b_0_252"/>
            <p:cNvSpPr/>
            <p:nvPr/>
          </p:nvSpPr>
          <p:spPr>
            <a:xfrm>
              <a:off x="0" y="0"/>
              <a:ext cx="2964596" cy="2779309"/>
            </a:xfrm>
            <a:custGeom>
              <a:rect b="b" l="l" r="r" t="t"/>
              <a:pathLst>
                <a:path extrusionOk="0" h="2779309" w="2964596">
                  <a:moveTo>
                    <a:pt x="51816" y="0"/>
                  </a:moveTo>
                  <a:lnTo>
                    <a:pt x="2912780" y="0"/>
                  </a:lnTo>
                  <a:cubicBezTo>
                    <a:pt x="2926522" y="0"/>
                    <a:pt x="2939702" y="5459"/>
                    <a:pt x="2949419" y="15177"/>
                  </a:cubicBezTo>
                  <a:cubicBezTo>
                    <a:pt x="2959137" y="24894"/>
                    <a:pt x="2964596" y="38074"/>
                    <a:pt x="2964596" y="51816"/>
                  </a:cubicBezTo>
                  <a:lnTo>
                    <a:pt x="2964596" y="2727493"/>
                  </a:lnTo>
                  <a:cubicBezTo>
                    <a:pt x="2964596" y="2756110"/>
                    <a:pt x="2941397" y="2779309"/>
                    <a:pt x="2912780" y="2779309"/>
                  </a:cubicBezTo>
                  <a:lnTo>
                    <a:pt x="51816" y="2779309"/>
                  </a:lnTo>
                  <a:cubicBezTo>
                    <a:pt x="38074" y="2779309"/>
                    <a:pt x="24894" y="2773849"/>
                    <a:pt x="15177" y="2764132"/>
                  </a:cubicBezTo>
                  <a:cubicBezTo>
                    <a:pt x="5459" y="2754415"/>
                    <a:pt x="0" y="2741235"/>
                    <a:pt x="0" y="2727493"/>
                  </a:cubicBezTo>
                  <a:lnTo>
                    <a:pt x="0" y="51816"/>
                  </a:lnTo>
                  <a:cubicBezTo>
                    <a:pt x="0" y="23199"/>
                    <a:pt x="23199" y="0"/>
                    <a:pt x="51816"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g39ab1374e1b_0_252"/>
            <p:cNvSpPr txBox="1"/>
            <p:nvPr/>
          </p:nvSpPr>
          <p:spPr>
            <a:xfrm>
              <a:off x="0" y="-28575"/>
              <a:ext cx="2964600" cy="280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2" name="Google Shape;282;g39ab1374e1b_0_252"/>
          <p:cNvSpPr txBox="1"/>
          <p:nvPr/>
        </p:nvSpPr>
        <p:spPr>
          <a:xfrm>
            <a:off x="1676425" y="3271350"/>
            <a:ext cx="6393000" cy="666450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3149"/>
              <a:buFont typeface="Arial"/>
              <a:buNone/>
            </a:pPr>
            <a:r>
              <a:rPr b="1" i="0" lang="en-US" sz="3049" u="none" cap="none" strike="noStrike">
                <a:solidFill>
                  <a:srgbClr val="372A28"/>
                </a:solidFill>
                <a:latin typeface="Arial"/>
                <a:ea typeface="Arial"/>
                <a:cs typeface="Arial"/>
                <a:sym typeface="Arial"/>
              </a:rPr>
              <a:t>Enfoque tradicional:</a:t>
            </a:r>
            <a:r>
              <a:rPr b="0" i="0" lang="en-US" sz="3049" u="none" cap="none" strike="noStrike">
                <a:solidFill>
                  <a:srgbClr val="372A28"/>
                </a:solidFill>
                <a:latin typeface="Arial"/>
                <a:ea typeface="Arial"/>
                <a:cs typeface="Arial"/>
                <a:sym typeface="Arial"/>
              </a:rPr>
              <a:t> El despliegue se realiza al final del proyecto, después de completar todas las fases.</a:t>
            </a:r>
            <a:endParaRPr b="0" i="0" sz="13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149"/>
              <a:buFont typeface="Arial"/>
              <a:buNone/>
            </a:pPr>
            <a:r>
              <a:t/>
            </a:r>
            <a:endParaRPr b="0" i="0" sz="3049" u="none" cap="none" strike="noStrike">
              <a:solidFill>
                <a:srgbClr val="372A28"/>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149"/>
              <a:buFont typeface="Arial"/>
              <a:buNone/>
            </a:pPr>
            <a:r>
              <a:rPr b="1" i="0" lang="en-US" sz="3049" u="none" cap="none" strike="noStrike">
                <a:solidFill>
                  <a:srgbClr val="372A28"/>
                </a:solidFill>
                <a:latin typeface="Arial"/>
                <a:ea typeface="Arial"/>
                <a:cs typeface="Arial"/>
                <a:sym typeface="Arial"/>
              </a:rPr>
              <a:t>Enfoque ágil:</a:t>
            </a:r>
            <a:r>
              <a:rPr b="0" i="0" lang="en-US" sz="3049" u="none" cap="none" strike="noStrike">
                <a:solidFill>
                  <a:srgbClr val="372A28"/>
                </a:solidFill>
                <a:latin typeface="Arial"/>
                <a:ea typeface="Arial"/>
                <a:cs typeface="Arial"/>
                <a:sym typeface="Arial"/>
              </a:rPr>
              <a:t> El despliegue puede realizarse de manera continua o al final de cada iteración, dependiendo del proyecto. Esto permite entregar valor al cliente de manera frecuente y obtener feedback temprano.</a:t>
            </a:r>
            <a:endParaRPr b="0" i="0" sz="13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149"/>
              <a:buFont typeface="Arial"/>
              <a:buNone/>
            </a:pPr>
            <a:r>
              <a:t/>
            </a:r>
            <a:endParaRPr b="0" i="0" sz="3049" u="none" cap="none" strike="noStrike">
              <a:solidFill>
                <a:srgbClr val="372A28"/>
              </a:solidFill>
              <a:latin typeface="Arial"/>
              <a:ea typeface="Arial"/>
              <a:cs typeface="Arial"/>
              <a:sym typeface="Arial"/>
            </a:endParaRPr>
          </a:p>
        </p:txBody>
      </p:sp>
      <p:sp>
        <p:nvSpPr>
          <p:cNvPr id="283" name="Google Shape;283;g39ab1374e1b_0_252"/>
          <p:cNvSpPr txBox="1"/>
          <p:nvPr/>
        </p:nvSpPr>
        <p:spPr>
          <a:xfrm>
            <a:off x="10043325" y="3271350"/>
            <a:ext cx="6592500" cy="6101700"/>
          </a:xfrm>
          <a:prstGeom prst="rect">
            <a:avLst/>
          </a:prstGeom>
          <a:noFill/>
          <a:ln>
            <a:noFill/>
          </a:ln>
        </p:spPr>
        <p:txBody>
          <a:bodyPr anchorCtr="0" anchor="t" bIns="0" lIns="0" spcFirstLastPara="1" rIns="0" wrap="square" tIns="0">
            <a:spAutoFit/>
          </a:bodyPr>
          <a:lstStyle/>
          <a:p>
            <a:pPr indent="0" lvl="0" marL="0" marR="0" rtl="0" algn="l">
              <a:lnSpc>
                <a:spcPct val="119968"/>
              </a:lnSpc>
              <a:spcBef>
                <a:spcPts val="0"/>
              </a:spcBef>
              <a:spcAft>
                <a:spcPts val="0"/>
              </a:spcAft>
              <a:buClr>
                <a:srgbClr val="000000"/>
              </a:buClr>
              <a:buSzPts val="3150"/>
              <a:buFont typeface="Arial"/>
              <a:buNone/>
            </a:pPr>
            <a:r>
              <a:rPr b="1" i="0" lang="en-US" sz="3050" u="none" cap="none" strike="noStrike">
                <a:solidFill>
                  <a:srgbClr val="372A28"/>
                </a:solidFill>
                <a:latin typeface="Arial"/>
                <a:ea typeface="Arial"/>
                <a:cs typeface="Arial"/>
                <a:sym typeface="Arial"/>
              </a:rPr>
              <a:t>Enfoque tradicional:</a:t>
            </a:r>
            <a:r>
              <a:rPr b="0" i="0" lang="en-US" sz="3050" u="none" cap="none" strike="noStrike">
                <a:solidFill>
                  <a:srgbClr val="372A28"/>
                </a:solidFill>
                <a:latin typeface="Arial"/>
                <a:ea typeface="Arial"/>
                <a:cs typeface="Arial"/>
                <a:sym typeface="Arial"/>
              </a:rPr>
              <a:t> El mantenimiento comienza después de que el software está en producción.</a:t>
            </a:r>
            <a:endParaRPr b="0" i="0" sz="1300" u="none" cap="none" strike="noStrike">
              <a:solidFill>
                <a:srgbClr val="000000"/>
              </a:solidFill>
              <a:latin typeface="Arial"/>
              <a:ea typeface="Arial"/>
              <a:cs typeface="Arial"/>
              <a:sym typeface="Arial"/>
            </a:endParaRPr>
          </a:p>
          <a:p>
            <a:pPr indent="0" lvl="0" marL="0" marR="0" rtl="0" algn="l">
              <a:lnSpc>
                <a:spcPct val="119968"/>
              </a:lnSpc>
              <a:spcBef>
                <a:spcPts val="0"/>
              </a:spcBef>
              <a:spcAft>
                <a:spcPts val="0"/>
              </a:spcAft>
              <a:buClr>
                <a:srgbClr val="000000"/>
              </a:buClr>
              <a:buSzPts val="3150"/>
              <a:buFont typeface="Arial"/>
              <a:buNone/>
            </a:pPr>
            <a:r>
              <a:t/>
            </a:r>
            <a:endParaRPr b="0" i="0" sz="3050" u="none" cap="none" strike="noStrike">
              <a:solidFill>
                <a:srgbClr val="372A28"/>
              </a:solidFill>
              <a:latin typeface="Arial"/>
              <a:ea typeface="Arial"/>
              <a:cs typeface="Arial"/>
              <a:sym typeface="Arial"/>
            </a:endParaRPr>
          </a:p>
          <a:p>
            <a:pPr indent="0" lvl="0" marL="0" marR="0" rtl="0" algn="l">
              <a:lnSpc>
                <a:spcPct val="119968"/>
              </a:lnSpc>
              <a:spcBef>
                <a:spcPts val="0"/>
              </a:spcBef>
              <a:spcAft>
                <a:spcPts val="0"/>
              </a:spcAft>
              <a:buClr>
                <a:srgbClr val="000000"/>
              </a:buClr>
              <a:buSzPts val="3150"/>
              <a:buFont typeface="Arial"/>
              <a:buNone/>
            </a:pPr>
            <a:r>
              <a:rPr b="1" i="0" lang="en-US" sz="3050" u="none" cap="none" strike="noStrike">
                <a:solidFill>
                  <a:srgbClr val="372A28"/>
                </a:solidFill>
                <a:latin typeface="Arial"/>
                <a:ea typeface="Arial"/>
                <a:cs typeface="Arial"/>
                <a:sym typeface="Arial"/>
              </a:rPr>
              <a:t>Enfoque ágil:</a:t>
            </a:r>
            <a:r>
              <a:rPr b="0" i="0" lang="en-US" sz="3050" u="none" cap="none" strike="noStrike">
                <a:solidFill>
                  <a:srgbClr val="372A28"/>
                </a:solidFill>
                <a:latin typeface="Arial"/>
                <a:ea typeface="Arial"/>
                <a:cs typeface="Arial"/>
                <a:sym typeface="Arial"/>
              </a:rPr>
              <a:t> El mantenimiento es parte del ciclo continuo. Los bugs y las mejoras se gestionan en el backlog y se abordan en iteraciones futuras. Además, el software se actualiza y mejora de manera constante.</a:t>
            </a:r>
            <a:endParaRPr b="0" i="0" sz="1300" u="none" cap="none" strike="noStrike">
              <a:solidFill>
                <a:srgbClr val="000000"/>
              </a:solidFill>
              <a:latin typeface="Arial"/>
              <a:ea typeface="Arial"/>
              <a:cs typeface="Arial"/>
              <a:sym typeface="Arial"/>
            </a:endParaRPr>
          </a:p>
        </p:txBody>
      </p:sp>
      <p:sp>
        <p:nvSpPr>
          <p:cNvPr id="284" name="Google Shape;284;g39ab1374e1b_0_252"/>
          <p:cNvSpPr txBox="1"/>
          <p:nvPr/>
        </p:nvSpPr>
        <p:spPr>
          <a:xfrm>
            <a:off x="1676461" y="1246805"/>
            <a:ext cx="6393000" cy="1794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300"/>
              <a:buFont typeface="Arial"/>
              <a:buNone/>
            </a:pPr>
            <a:r>
              <a:rPr b="1" i="0" lang="en-US" sz="5300" u="none" cap="none" strike="noStrike">
                <a:solidFill>
                  <a:schemeClr val="dk1"/>
                </a:solidFill>
                <a:latin typeface="Poppins"/>
                <a:ea typeface="Poppins"/>
                <a:cs typeface="Poppins"/>
                <a:sym typeface="Poppins"/>
              </a:rPr>
              <a:t>FASE: DESPLIEGUE</a:t>
            </a:r>
            <a:endParaRPr b="0" i="0" sz="1400" u="none" cap="none" strike="noStrike">
              <a:solidFill>
                <a:schemeClr val="dk1"/>
              </a:solidFill>
              <a:latin typeface="Arial"/>
              <a:ea typeface="Arial"/>
              <a:cs typeface="Arial"/>
              <a:sym typeface="Arial"/>
            </a:endParaRPr>
          </a:p>
        </p:txBody>
      </p:sp>
      <p:sp>
        <p:nvSpPr>
          <p:cNvPr id="285" name="Google Shape;285;g39ab1374e1b_0_252"/>
          <p:cNvSpPr txBox="1"/>
          <p:nvPr/>
        </p:nvSpPr>
        <p:spPr>
          <a:xfrm>
            <a:off x="9544050" y="1218230"/>
            <a:ext cx="7965900" cy="18621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Clr>
                <a:srgbClr val="000000"/>
              </a:buClr>
              <a:buSzPts val="5499"/>
              <a:buFont typeface="Arial"/>
              <a:buNone/>
            </a:pPr>
            <a:r>
              <a:rPr b="1" i="0" lang="en-US" sz="5499" u="none" cap="none" strike="noStrike">
                <a:solidFill>
                  <a:schemeClr val="dk1"/>
                </a:solidFill>
                <a:latin typeface="Poppins"/>
                <a:ea typeface="Poppins"/>
                <a:cs typeface="Poppins"/>
                <a:sym typeface="Poppins"/>
              </a:rPr>
              <a:t>FASE: MANTENIMIENTO</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4753"/>
        </a:solidFill>
      </p:bgPr>
    </p:bg>
    <p:spTree>
      <p:nvGrpSpPr>
        <p:cNvPr id="289" name="Shape 289"/>
        <p:cNvGrpSpPr/>
        <p:nvPr/>
      </p:nvGrpSpPr>
      <p:grpSpPr>
        <a:xfrm>
          <a:off x="0" y="0"/>
          <a:ext cx="0" cy="0"/>
          <a:chOff x="0" y="0"/>
          <a:chExt cx="0" cy="0"/>
        </a:xfrm>
      </p:grpSpPr>
      <p:grpSp>
        <p:nvGrpSpPr>
          <p:cNvPr id="290" name="Google Shape;290;g39ab1374e1b_0_266"/>
          <p:cNvGrpSpPr/>
          <p:nvPr/>
        </p:nvGrpSpPr>
        <p:grpSpPr>
          <a:xfrm>
            <a:off x="3808493" y="3349516"/>
            <a:ext cx="10552734" cy="2722098"/>
            <a:chOff x="-74" y="-76254"/>
            <a:chExt cx="2320200" cy="598500"/>
          </a:xfrm>
        </p:grpSpPr>
        <p:sp>
          <p:nvSpPr>
            <p:cNvPr id="291" name="Google Shape;291;g39ab1374e1b_0_266"/>
            <p:cNvSpPr/>
            <p:nvPr/>
          </p:nvSpPr>
          <p:spPr>
            <a:xfrm>
              <a:off x="0" y="0"/>
              <a:ext cx="2320054" cy="445994"/>
            </a:xfrm>
            <a:custGeom>
              <a:rect b="b" l="l" r="r" t="t"/>
              <a:pathLst>
                <a:path extrusionOk="0" h="445994" w="2320054">
                  <a:moveTo>
                    <a:pt x="34483" y="0"/>
                  </a:moveTo>
                  <a:lnTo>
                    <a:pt x="2285571" y="0"/>
                  </a:lnTo>
                  <a:cubicBezTo>
                    <a:pt x="2294716" y="0"/>
                    <a:pt x="2303487" y="3633"/>
                    <a:pt x="2309954" y="10100"/>
                  </a:cubicBezTo>
                  <a:cubicBezTo>
                    <a:pt x="2316421" y="16567"/>
                    <a:pt x="2320054" y="25338"/>
                    <a:pt x="2320054" y="34483"/>
                  </a:cubicBezTo>
                  <a:lnTo>
                    <a:pt x="2320054" y="411511"/>
                  </a:lnTo>
                  <a:cubicBezTo>
                    <a:pt x="2320054" y="420657"/>
                    <a:pt x="2316421" y="429428"/>
                    <a:pt x="2309954" y="435894"/>
                  </a:cubicBezTo>
                  <a:cubicBezTo>
                    <a:pt x="2303487" y="442361"/>
                    <a:pt x="2294716" y="445994"/>
                    <a:pt x="2285571" y="445994"/>
                  </a:cubicBezTo>
                  <a:lnTo>
                    <a:pt x="34483" y="445994"/>
                  </a:lnTo>
                  <a:cubicBezTo>
                    <a:pt x="25338" y="445994"/>
                    <a:pt x="16567" y="442361"/>
                    <a:pt x="10100" y="435894"/>
                  </a:cubicBezTo>
                  <a:cubicBezTo>
                    <a:pt x="3633" y="429428"/>
                    <a:pt x="0" y="420657"/>
                    <a:pt x="0" y="411511"/>
                  </a:cubicBezTo>
                  <a:lnTo>
                    <a:pt x="0" y="34483"/>
                  </a:lnTo>
                  <a:cubicBezTo>
                    <a:pt x="0" y="25338"/>
                    <a:pt x="3633" y="16567"/>
                    <a:pt x="10100" y="10100"/>
                  </a:cubicBezTo>
                  <a:cubicBezTo>
                    <a:pt x="16567" y="3633"/>
                    <a:pt x="25338" y="0"/>
                    <a:pt x="34483" y="0"/>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g39ab1374e1b_0_266"/>
            <p:cNvSpPr txBox="1"/>
            <p:nvPr/>
          </p:nvSpPr>
          <p:spPr>
            <a:xfrm>
              <a:off x="-74" y="-76254"/>
              <a:ext cx="2320200" cy="59850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None/>
              </a:pPr>
              <a:r>
                <a:rPr b="1" lang="en-US" sz="6199">
                  <a:solidFill>
                    <a:srgbClr val="059995"/>
                  </a:solidFill>
                  <a:latin typeface="Montserrat"/>
                  <a:ea typeface="Montserrat"/>
                  <a:cs typeface="Montserrat"/>
                  <a:sym typeface="Montserrat"/>
                </a:rPr>
                <a:t>INGENIERÍA DE REQUERIMIENTOS</a:t>
              </a:r>
              <a:endParaRPr sz="100"/>
            </a:p>
          </p:txBody>
        </p:sp>
      </p:grpSp>
      <p:sp>
        <p:nvSpPr>
          <p:cNvPr id="293" name="Google Shape;293;g39ab1374e1b_0_266"/>
          <p:cNvSpPr/>
          <p:nvPr/>
        </p:nvSpPr>
        <p:spPr>
          <a:xfrm rot="-2700000">
            <a:off x="13329239" y="3678082"/>
            <a:ext cx="2064985" cy="2064985"/>
          </a:xfrm>
          <a:custGeom>
            <a:rect b="b" l="l" r="r" t="t"/>
            <a:pathLst>
              <a:path extrusionOk="0" h="2063837" w="2063837">
                <a:moveTo>
                  <a:pt x="0" y="0"/>
                </a:moveTo>
                <a:lnTo>
                  <a:pt x="2063837" y="0"/>
                </a:lnTo>
                <a:lnTo>
                  <a:pt x="2063837" y="2063838"/>
                </a:lnTo>
                <a:lnTo>
                  <a:pt x="0" y="2063838"/>
                </a:lnTo>
                <a:lnTo>
                  <a:pt x="0" y="0"/>
                </a:lnTo>
                <a:close/>
              </a:path>
            </a:pathLst>
          </a:custGeom>
          <a:blipFill rotWithShape="1">
            <a:blip r:embed="rId3">
              <a:alphaModFix/>
            </a:blip>
            <a:stretch>
              <a:fillRect b="0" l="0" r="0" t="0"/>
            </a:stretch>
          </a:blipFill>
          <a:ln>
            <a:noFill/>
          </a:ln>
        </p:spPr>
      </p:sp>
      <p:grpSp>
        <p:nvGrpSpPr>
          <p:cNvPr id="294" name="Google Shape;294;g39ab1374e1b_0_266"/>
          <p:cNvGrpSpPr/>
          <p:nvPr/>
        </p:nvGrpSpPr>
        <p:grpSpPr>
          <a:xfrm>
            <a:off x="-219545" y="8913224"/>
            <a:ext cx="3086120" cy="1091229"/>
            <a:chOff x="0" y="-38100"/>
            <a:chExt cx="812800" cy="287400"/>
          </a:xfrm>
        </p:grpSpPr>
        <p:sp>
          <p:nvSpPr>
            <p:cNvPr id="295" name="Google Shape;295;g39ab1374e1b_0_266"/>
            <p:cNvSpPr/>
            <p:nvPr/>
          </p:nvSpPr>
          <p:spPr>
            <a:xfrm>
              <a:off x="0" y="0"/>
              <a:ext cx="812800" cy="249287"/>
            </a:xfrm>
            <a:custGeom>
              <a:rect b="b" l="l" r="r" t="t"/>
              <a:pathLst>
                <a:path extrusionOk="0" h="249287" w="812800">
                  <a:moveTo>
                    <a:pt x="0" y="0"/>
                  </a:moveTo>
                  <a:lnTo>
                    <a:pt x="812800" y="0"/>
                  </a:lnTo>
                  <a:lnTo>
                    <a:pt x="812800" y="249287"/>
                  </a:lnTo>
                  <a:lnTo>
                    <a:pt x="0" y="249287"/>
                  </a:lnTo>
                  <a:close/>
                </a:path>
              </a:pathLst>
            </a:custGeom>
            <a:solidFill>
              <a:srgbClr val="3AB4B0"/>
            </a:solidFill>
            <a:ln>
              <a:noFill/>
            </a:ln>
          </p:spPr>
        </p:sp>
        <p:sp>
          <p:nvSpPr>
            <p:cNvPr id="296" name="Google Shape;296;g39ab1374e1b_0_266"/>
            <p:cNvSpPr txBox="1"/>
            <p:nvPr/>
          </p:nvSpPr>
          <p:spPr>
            <a:xfrm>
              <a:off x="0" y="-38100"/>
              <a:ext cx="812700" cy="287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7" name="Google Shape;297;g39ab1374e1b_0_266"/>
          <p:cNvSpPr/>
          <p:nvPr/>
        </p:nvSpPr>
        <p:spPr>
          <a:xfrm rot="-3729289">
            <a:off x="-2034854" y="2944221"/>
            <a:ext cx="5333214" cy="5293214"/>
          </a:xfrm>
          <a:custGeom>
            <a:rect b="b" l="l" r="r" t="t"/>
            <a:pathLst>
              <a:path extrusionOk="0" h="5288506" w="5328470">
                <a:moveTo>
                  <a:pt x="0" y="0"/>
                </a:moveTo>
                <a:lnTo>
                  <a:pt x="5328470" y="0"/>
                </a:lnTo>
                <a:lnTo>
                  <a:pt x="5328470" y="5288506"/>
                </a:lnTo>
                <a:lnTo>
                  <a:pt x="0" y="5288506"/>
                </a:lnTo>
                <a:lnTo>
                  <a:pt x="0" y="0"/>
                </a:lnTo>
                <a:close/>
              </a:path>
            </a:pathLst>
          </a:custGeom>
          <a:blipFill rotWithShape="1">
            <a:blip r:embed="rId4">
              <a:alphaModFix/>
            </a:blip>
            <a:stretch>
              <a:fillRect b="0" l="0" r="0" t="0"/>
            </a:stretch>
          </a:blipFill>
          <a:ln>
            <a:noFill/>
          </a:ln>
        </p:spPr>
      </p:sp>
      <p:sp>
        <p:nvSpPr>
          <p:cNvPr id="298" name="Google Shape;298;g39ab1374e1b_0_266"/>
          <p:cNvSpPr/>
          <p:nvPr/>
        </p:nvSpPr>
        <p:spPr>
          <a:xfrm>
            <a:off x="16390186" y="0"/>
            <a:ext cx="1897814" cy="1999452"/>
          </a:xfrm>
          <a:custGeom>
            <a:rect b="b" l="l" r="r" t="t"/>
            <a:pathLst>
              <a:path extrusionOk="0" h="1999452" w="1897814">
                <a:moveTo>
                  <a:pt x="0" y="0"/>
                </a:moveTo>
                <a:lnTo>
                  <a:pt x="1897814" y="0"/>
                </a:lnTo>
                <a:lnTo>
                  <a:pt x="1897814" y="1999452"/>
                </a:lnTo>
                <a:lnTo>
                  <a:pt x="0" y="1999452"/>
                </a:lnTo>
                <a:lnTo>
                  <a:pt x="0" y="0"/>
                </a:lnTo>
                <a:close/>
              </a:path>
            </a:pathLst>
          </a:custGeom>
          <a:blipFill rotWithShape="1">
            <a:blip r:embed="rId5">
              <a:alphaModFix/>
            </a:blip>
            <a:stretch>
              <a:fillRect b="0" l="0" r="0" t="0"/>
            </a:stretch>
          </a:blipFill>
          <a:ln>
            <a:noFill/>
          </a:ln>
        </p:spPr>
      </p:sp>
      <p:sp>
        <p:nvSpPr>
          <p:cNvPr id="299" name="Google Shape;299;g39ab1374e1b_0_266"/>
          <p:cNvSpPr/>
          <p:nvPr/>
        </p:nvSpPr>
        <p:spPr>
          <a:xfrm rot="-2700000">
            <a:off x="13540521" y="3888668"/>
            <a:ext cx="1642088" cy="1642088"/>
          </a:xfrm>
          <a:custGeom>
            <a:rect b="b" l="l" r="r" t="t"/>
            <a:pathLst>
              <a:path extrusionOk="0" h="1641175" w="1641175">
                <a:moveTo>
                  <a:pt x="0" y="0"/>
                </a:moveTo>
                <a:lnTo>
                  <a:pt x="1641175" y="0"/>
                </a:lnTo>
                <a:lnTo>
                  <a:pt x="1641175" y="1641175"/>
                </a:lnTo>
                <a:lnTo>
                  <a:pt x="0" y="1641175"/>
                </a:lnTo>
                <a:lnTo>
                  <a:pt x="0" y="0"/>
                </a:lnTo>
                <a:close/>
              </a:path>
            </a:pathLst>
          </a:custGeom>
          <a:blipFill rotWithShape="1">
            <a:blip r:embed="rId6">
              <a:alphaModFix/>
            </a:blip>
            <a:stretch>
              <a:fillRect b="0" l="0" r="0" t="0"/>
            </a:stretch>
          </a:blipFill>
          <a:ln>
            <a:noFill/>
          </a:ln>
        </p:spPr>
      </p:sp>
      <p:sp>
        <p:nvSpPr>
          <p:cNvPr id="300" name="Google Shape;300;g39ab1374e1b_0_266"/>
          <p:cNvSpPr txBox="1"/>
          <p:nvPr/>
        </p:nvSpPr>
        <p:spPr>
          <a:xfrm>
            <a:off x="3360525" y="6289813"/>
            <a:ext cx="124599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3000">
                <a:solidFill>
                  <a:srgbClr val="F2F2F2"/>
                </a:solidFill>
              </a:rPr>
              <a:t>"El arte de entender qué debe hacer el software antes de construirlo."</a:t>
            </a:r>
            <a:endParaRPr b="1" sz="3000">
              <a:solidFill>
                <a:srgbClr val="F2F2F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304" name="Shape 304"/>
        <p:cNvGrpSpPr/>
        <p:nvPr/>
      </p:nvGrpSpPr>
      <p:grpSpPr>
        <a:xfrm>
          <a:off x="0" y="0"/>
          <a:ext cx="0" cy="0"/>
          <a:chOff x="0" y="0"/>
          <a:chExt cx="0" cy="0"/>
        </a:xfrm>
      </p:grpSpPr>
      <p:sp>
        <p:nvSpPr>
          <p:cNvPr id="305" name="Google Shape;305;g39ab1374e1b_0_280"/>
          <p:cNvSpPr/>
          <p:nvPr/>
        </p:nvSpPr>
        <p:spPr>
          <a:xfrm rot="-1971343">
            <a:off x="17167261" y="-1169177"/>
            <a:ext cx="5328220" cy="5288258"/>
          </a:xfrm>
          <a:custGeom>
            <a:rect b="b" l="l" r="r" t="t"/>
            <a:pathLst>
              <a:path extrusionOk="0" h="5288506" w="5328470">
                <a:moveTo>
                  <a:pt x="0" y="0"/>
                </a:moveTo>
                <a:lnTo>
                  <a:pt x="5328470" y="0"/>
                </a:lnTo>
                <a:lnTo>
                  <a:pt x="5328470" y="5288506"/>
                </a:lnTo>
                <a:lnTo>
                  <a:pt x="0" y="5288506"/>
                </a:lnTo>
                <a:lnTo>
                  <a:pt x="0" y="0"/>
                </a:lnTo>
                <a:close/>
              </a:path>
            </a:pathLst>
          </a:custGeom>
          <a:blipFill rotWithShape="1">
            <a:blip r:embed="rId3">
              <a:alphaModFix/>
            </a:blip>
            <a:stretch>
              <a:fillRect b="0" l="0" r="0" t="0"/>
            </a:stretch>
          </a:blipFill>
          <a:ln>
            <a:noFill/>
          </a:ln>
        </p:spPr>
      </p:sp>
      <p:sp>
        <p:nvSpPr>
          <p:cNvPr id="306" name="Google Shape;306;g39ab1374e1b_0_280"/>
          <p:cNvSpPr txBox="1"/>
          <p:nvPr/>
        </p:nvSpPr>
        <p:spPr>
          <a:xfrm>
            <a:off x="1028700" y="1072475"/>
            <a:ext cx="16032900" cy="824700"/>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lang="en-US" sz="5357">
                <a:solidFill>
                  <a:srgbClr val="014753"/>
                </a:solidFill>
                <a:latin typeface="Montserrat"/>
                <a:ea typeface="Montserrat"/>
                <a:cs typeface="Montserrat"/>
                <a:sym typeface="Montserrat"/>
              </a:rPr>
              <a:t>¿Qué es la Ingeniería de Requerimientos?</a:t>
            </a:r>
            <a:endParaRPr sz="600"/>
          </a:p>
        </p:txBody>
      </p:sp>
      <p:sp>
        <p:nvSpPr>
          <p:cNvPr id="307" name="Google Shape;307;g39ab1374e1b_0_280"/>
          <p:cNvSpPr/>
          <p:nvPr/>
        </p:nvSpPr>
        <p:spPr>
          <a:xfrm flipH="1">
            <a:off x="-325893" y="-149361"/>
            <a:ext cx="1897814" cy="1999452"/>
          </a:xfrm>
          <a:custGeom>
            <a:rect b="b" l="l" r="r" t="t"/>
            <a:pathLst>
              <a:path extrusionOk="0" h="1999452" w="1897814">
                <a:moveTo>
                  <a:pt x="1897814" y="0"/>
                </a:moveTo>
                <a:lnTo>
                  <a:pt x="0" y="0"/>
                </a:lnTo>
                <a:lnTo>
                  <a:pt x="0" y="1999453"/>
                </a:lnTo>
                <a:lnTo>
                  <a:pt x="1897814" y="1999453"/>
                </a:lnTo>
                <a:lnTo>
                  <a:pt x="1897814" y="0"/>
                </a:lnTo>
                <a:close/>
              </a:path>
            </a:pathLst>
          </a:custGeom>
          <a:blipFill rotWithShape="1">
            <a:blip r:embed="rId4">
              <a:alphaModFix/>
            </a:blip>
            <a:stretch>
              <a:fillRect b="0" l="0" r="0" t="0"/>
            </a:stretch>
          </a:blipFill>
          <a:ln>
            <a:noFill/>
          </a:ln>
        </p:spPr>
      </p:sp>
      <p:grpSp>
        <p:nvGrpSpPr>
          <p:cNvPr id="308" name="Google Shape;308;g39ab1374e1b_0_280"/>
          <p:cNvGrpSpPr/>
          <p:nvPr/>
        </p:nvGrpSpPr>
        <p:grpSpPr>
          <a:xfrm>
            <a:off x="16055623" y="8354196"/>
            <a:ext cx="1582847" cy="1582847"/>
            <a:chOff x="0" y="0"/>
            <a:chExt cx="812800" cy="812800"/>
          </a:xfrm>
        </p:grpSpPr>
        <p:sp>
          <p:nvSpPr>
            <p:cNvPr id="309" name="Google Shape;309;g39ab1374e1b_0_28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7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g39ab1374e1b_0_280"/>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11" name="Google Shape;311;g39ab1374e1b_0_280"/>
          <p:cNvSpPr txBox="1"/>
          <p:nvPr/>
        </p:nvSpPr>
        <p:spPr>
          <a:xfrm>
            <a:off x="1028700" y="2824625"/>
            <a:ext cx="15027000" cy="5880900"/>
          </a:xfrm>
          <a:prstGeom prst="rect">
            <a:avLst/>
          </a:prstGeom>
          <a:noFill/>
          <a:ln>
            <a:noFill/>
          </a:ln>
        </p:spPr>
        <p:txBody>
          <a:bodyPr anchorCtr="0" anchor="t" bIns="0" lIns="0" spcFirstLastPara="1" rIns="0" wrap="square" tIns="0">
            <a:spAutoFit/>
          </a:bodyPr>
          <a:lstStyle/>
          <a:p>
            <a:pPr indent="0" lvl="0" marL="0" marR="0" rtl="0" algn="l">
              <a:lnSpc>
                <a:spcPct val="140041"/>
              </a:lnSpc>
              <a:spcBef>
                <a:spcPts val="0"/>
              </a:spcBef>
              <a:spcAft>
                <a:spcPts val="0"/>
              </a:spcAft>
              <a:buNone/>
            </a:pPr>
            <a:r>
              <a:rPr lang="en-US" sz="3607">
                <a:latin typeface="Montserrat"/>
                <a:ea typeface="Montserrat"/>
                <a:cs typeface="Montserrat"/>
                <a:sym typeface="Montserrat"/>
              </a:rPr>
              <a:t>Es el proceso de identificar, analizar, documentar y validar las necesidades de los stakeholders para guiar el desarrollo del software. </a:t>
            </a:r>
            <a:endParaRPr sz="3607">
              <a:latin typeface="Montserrat"/>
              <a:ea typeface="Montserrat"/>
              <a:cs typeface="Montserrat"/>
              <a:sym typeface="Montserrat"/>
            </a:endParaRPr>
          </a:p>
          <a:p>
            <a:pPr indent="0" lvl="0" marL="0" marR="0" rtl="0" algn="l">
              <a:lnSpc>
                <a:spcPct val="140041"/>
              </a:lnSpc>
              <a:spcBef>
                <a:spcPts val="0"/>
              </a:spcBef>
              <a:spcAft>
                <a:spcPts val="0"/>
              </a:spcAft>
              <a:buNone/>
            </a:pPr>
            <a:r>
              <a:t/>
            </a:r>
            <a:endParaRPr sz="3607">
              <a:latin typeface="Montserrat"/>
              <a:ea typeface="Montserrat"/>
              <a:cs typeface="Montserrat"/>
              <a:sym typeface="Montserrat"/>
            </a:endParaRPr>
          </a:p>
          <a:p>
            <a:pPr indent="0" lvl="0" marL="0" marR="0" rtl="0" algn="l">
              <a:lnSpc>
                <a:spcPct val="140041"/>
              </a:lnSpc>
              <a:spcBef>
                <a:spcPts val="0"/>
              </a:spcBef>
              <a:spcAft>
                <a:spcPts val="0"/>
              </a:spcAft>
              <a:buNone/>
            </a:pPr>
            <a:r>
              <a:rPr lang="en-US" sz="3607">
                <a:latin typeface="Montserrat"/>
                <a:ea typeface="Montserrat"/>
                <a:cs typeface="Montserrat"/>
                <a:sym typeface="Montserrat"/>
              </a:rPr>
              <a:t>Si falla aquí → todo lo demás falla. </a:t>
            </a:r>
            <a:endParaRPr sz="3607">
              <a:latin typeface="Montserrat"/>
              <a:ea typeface="Montserrat"/>
              <a:cs typeface="Montserrat"/>
              <a:sym typeface="Montserrat"/>
            </a:endParaRPr>
          </a:p>
          <a:p>
            <a:pPr indent="0" lvl="0" marL="0" marR="0" rtl="0" algn="l">
              <a:lnSpc>
                <a:spcPct val="140041"/>
              </a:lnSpc>
              <a:spcBef>
                <a:spcPts val="0"/>
              </a:spcBef>
              <a:spcAft>
                <a:spcPts val="0"/>
              </a:spcAft>
              <a:buNone/>
            </a:pPr>
            <a:r>
              <a:t/>
            </a:r>
            <a:endParaRPr sz="3407">
              <a:latin typeface="Montserrat"/>
              <a:ea typeface="Montserrat"/>
              <a:cs typeface="Montserrat"/>
              <a:sym typeface="Montserrat"/>
            </a:endParaRPr>
          </a:p>
          <a:p>
            <a:pPr indent="0" lvl="0" marL="0" marR="0" rtl="0" algn="l">
              <a:lnSpc>
                <a:spcPct val="140041"/>
              </a:lnSpc>
              <a:spcBef>
                <a:spcPts val="0"/>
              </a:spcBef>
              <a:spcAft>
                <a:spcPts val="0"/>
              </a:spcAft>
              <a:buNone/>
            </a:pPr>
            <a:r>
              <a:rPr b="1" lang="en-US" sz="3407">
                <a:latin typeface="Montserrat"/>
                <a:ea typeface="Montserrat"/>
                <a:cs typeface="Montserrat"/>
                <a:sym typeface="Montserrat"/>
              </a:rPr>
              <a:t>DATO</a:t>
            </a:r>
            <a:r>
              <a:rPr lang="en-US" sz="3407">
                <a:latin typeface="Montserrat"/>
                <a:ea typeface="Montserrat"/>
                <a:cs typeface="Montserrat"/>
                <a:sym typeface="Montserrat"/>
              </a:rPr>
              <a:t>: El 70% de los proyectos de software fracasan por requerimientos mal definidos. (Standish Group, CHAOS Report) </a:t>
            </a:r>
            <a:endParaRPr sz="19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315" name="Shape 315"/>
        <p:cNvGrpSpPr/>
        <p:nvPr/>
      </p:nvGrpSpPr>
      <p:grpSpPr>
        <a:xfrm>
          <a:off x="0" y="0"/>
          <a:ext cx="0" cy="0"/>
          <a:chOff x="0" y="0"/>
          <a:chExt cx="0" cy="0"/>
        </a:xfrm>
      </p:grpSpPr>
      <p:sp>
        <p:nvSpPr>
          <p:cNvPr id="316" name="Google Shape;316;g39ab1374e1b_0_290"/>
          <p:cNvSpPr/>
          <p:nvPr/>
        </p:nvSpPr>
        <p:spPr>
          <a:xfrm rot="-1971343">
            <a:off x="17167261" y="-1169177"/>
            <a:ext cx="5328220" cy="5288258"/>
          </a:xfrm>
          <a:custGeom>
            <a:rect b="b" l="l" r="r" t="t"/>
            <a:pathLst>
              <a:path extrusionOk="0" h="5288506" w="5328470">
                <a:moveTo>
                  <a:pt x="0" y="0"/>
                </a:moveTo>
                <a:lnTo>
                  <a:pt x="5328470" y="0"/>
                </a:lnTo>
                <a:lnTo>
                  <a:pt x="5328470" y="5288506"/>
                </a:lnTo>
                <a:lnTo>
                  <a:pt x="0" y="5288506"/>
                </a:lnTo>
                <a:lnTo>
                  <a:pt x="0" y="0"/>
                </a:lnTo>
                <a:close/>
              </a:path>
            </a:pathLst>
          </a:custGeom>
          <a:blipFill rotWithShape="1">
            <a:blip r:embed="rId3">
              <a:alphaModFix/>
            </a:blip>
            <a:stretch>
              <a:fillRect b="0" l="0" r="0" t="0"/>
            </a:stretch>
          </a:blipFill>
          <a:ln>
            <a:noFill/>
          </a:ln>
        </p:spPr>
      </p:sp>
      <p:sp>
        <p:nvSpPr>
          <p:cNvPr id="317" name="Google Shape;317;g39ab1374e1b_0_290"/>
          <p:cNvSpPr txBox="1"/>
          <p:nvPr/>
        </p:nvSpPr>
        <p:spPr>
          <a:xfrm>
            <a:off x="1127556" y="1459431"/>
            <a:ext cx="16032900" cy="824700"/>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lang="en-US" sz="5357">
                <a:solidFill>
                  <a:srgbClr val="014753"/>
                </a:solidFill>
                <a:latin typeface="Montserrat"/>
                <a:ea typeface="Montserrat"/>
                <a:cs typeface="Montserrat"/>
                <a:sym typeface="Montserrat"/>
              </a:rPr>
              <a:t>Características de un buen Requerimiento</a:t>
            </a:r>
            <a:endParaRPr sz="600"/>
          </a:p>
        </p:txBody>
      </p:sp>
      <p:sp>
        <p:nvSpPr>
          <p:cNvPr id="318" name="Google Shape;318;g39ab1374e1b_0_290"/>
          <p:cNvSpPr/>
          <p:nvPr/>
        </p:nvSpPr>
        <p:spPr>
          <a:xfrm flipH="1">
            <a:off x="-325893" y="-149361"/>
            <a:ext cx="1897814" cy="1999452"/>
          </a:xfrm>
          <a:custGeom>
            <a:rect b="b" l="l" r="r" t="t"/>
            <a:pathLst>
              <a:path extrusionOk="0" h="1999452" w="1897814">
                <a:moveTo>
                  <a:pt x="1897814" y="0"/>
                </a:moveTo>
                <a:lnTo>
                  <a:pt x="0" y="0"/>
                </a:lnTo>
                <a:lnTo>
                  <a:pt x="0" y="1999453"/>
                </a:lnTo>
                <a:lnTo>
                  <a:pt x="1897814" y="1999453"/>
                </a:lnTo>
                <a:lnTo>
                  <a:pt x="1897814" y="0"/>
                </a:lnTo>
                <a:close/>
              </a:path>
            </a:pathLst>
          </a:custGeom>
          <a:blipFill rotWithShape="1">
            <a:blip r:embed="rId4">
              <a:alphaModFix/>
            </a:blip>
            <a:stretch>
              <a:fillRect b="0" l="0" r="0" t="0"/>
            </a:stretch>
          </a:blipFill>
          <a:ln>
            <a:noFill/>
          </a:ln>
        </p:spPr>
      </p:sp>
      <p:grpSp>
        <p:nvGrpSpPr>
          <p:cNvPr id="319" name="Google Shape;319;g39ab1374e1b_0_290"/>
          <p:cNvGrpSpPr/>
          <p:nvPr/>
        </p:nvGrpSpPr>
        <p:grpSpPr>
          <a:xfrm>
            <a:off x="16055623" y="8354196"/>
            <a:ext cx="1582847" cy="1582847"/>
            <a:chOff x="0" y="0"/>
            <a:chExt cx="812800" cy="812800"/>
          </a:xfrm>
        </p:grpSpPr>
        <p:sp>
          <p:nvSpPr>
            <p:cNvPr id="320" name="Google Shape;320;g39ab1374e1b_0_29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7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g39ab1374e1b_0_290"/>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2" name="Google Shape;322;g39ab1374e1b_0_290"/>
          <p:cNvSpPr txBox="1"/>
          <p:nvPr/>
        </p:nvSpPr>
        <p:spPr>
          <a:xfrm>
            <a:off x="1574041" y="2859244"/>
            <a:ext cx="15027000" cy="4835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3307">
                <a:latin typeface="Montserrat"/>
                <a:ea typeface="Montserrat"/>
                <a:cs typeface="Montserrat"/>
                <a:sym typeface="Montserrat"/>
              </a:rPr>
              <a:t>🟦 </a:t>
            </a:r>
            <a:r>
              <a:rPr b="1" lang="en-US" sz="3307">
                <a:latin typeface="Montserrat"/>
                <a:ea typeface="Montserrat"/>
                <a:cs typeface="Montserrat"/>
                <a:sym typeface="Montserrat"/>
              </a:rPr>
              <a:t>ESPECÍFICO: </a:t>
            </a:r>
            <a:r>
              <a:rPr lang="en-US" sz="3307">
                <a:latin typeface="Montserrat"/>
                <a:ea typeface="Montserrat"/>
                <a:cs typeface="Montserrat"/>
                <a:sym typeface="Montserrat"/>
              </a:rPr>
              <a:t>Describe una sola cosa concreta</a:t>
            </a:r>
            <a:endParaRPr sz="3307">
              <a:latin typeface="Montserrat"/>
              <a:ea typeface="Montserrat"/>
              <a:cs typeface="Montserrat"/>
              <a:sym typeface="Montserrat"/>
            </a:endParaRPr>
          </a:p>
          <a:p>
            <a:pPr indent="0" lvl="0" marL="0" marR="0" rtl="0" algn="l">
              <a:lnSpc>
                <a:spcPct val="150000"/>
              </a:lnSpc>
              <a:spcBef>
                <a:spcPts val="0"/>
              </a:spcBef>
              <a:spcAft>
                <a:spcPts val="0"/>
              </a:spcAft>
              <a:buNone/>
            </a:pPr>
            <a:r>
              <a:rPr lang="en-US" sz="3307">
                <a:latin typeface="Montserrat"/>
                <a:ea typeface="Montserrat"/>
                <a:cs typeface="Montserrat"/>
                <a:sym typeface="Montserrat"/>
              </a:rPr>
              <a:t>🟦 </a:t>
            </a:r>
            <a:r>
              <a:rPr b="1" lang="en-US" sz="3307">
                <a:latin typeface="Montserrat"/>
                <a:ea typeface="Montserrat"/>
                <a:cs typeface="Montserrat"/>
                <a:sym typeface="Montserrat"/>
              </a:rPr>
              <a:t>MEDIBLE</a:t>
            </a:r>
            <a:r>
              <a:rPr lang="en-US" sz="3307">
                <a:latin typeface="Montserrat"/>
                <a:ea typeface="Montserrat"/>
                <a:cs typeface="Montserrat"/>
                <a:sym typeface="Montserrat"/>
              </a:rPr>
              <a:t>: Puede verificarse con una prueba </a:t>
            </a:r>
            <a:endParaRPr sz="3307">
              <a:latin typeface="Montserrat"/>
              <a:ea typeface="Montserrat"/>
              <a:cs typeface="Montserrat"/>
              <a:sym typeface="Montserrat"/>
            </a:endParaRPr>
          </a:p>
          <a:p>
            <a:pPr indent="0" lvl="0" marL="0" marR="0" rtl="0" algn="l">
              <a:lnSpc>
                <a:spcPct val="150000"/>
              </a:lnSpc>
              <a:spcBef>
                <a:spcPts val="0"/>
              </a:spcBef>
              <a:spcAft>
                <a:spcPts val="0"/>
              </a:spcAft>
              <a:buNone/>
            </a:pPr>
            <a:r>
              <a:rPr lang="en-US" sz="3307">
                <a:latin typeface="Montserrat"/>
                <a:ea typeface="Montserrat"/>
                <a:cs typeface="Montserrat"/>
                <a:sym typeface="Montserrat"/>
              </a:rPr>
              <a:t>🟦 </a:t>
            </a:r>
            <a:r>
              <a:rPr b="1" lang="en-US" sz="3307">
                <a:latin typeface="Montserrat"/>
                <a:ea typeface="Montserrat"/>
                <a:cs typeface="Montserrat"/>
                <a:sym typeface="Montserrat"/>
              </a:rPr>
              <a:t>ALCANZABLE</a:t>
            </a:r>
            <a:r>
              <a:rPr lang="en-US" sz="3307">
                <a:latin typeface="Montserrat"/>
                <a:ea typeface="Montserrat"/>
                <a:cs typeface="Montserrat"/>
                <a:sym typeface="Montserrat"/>
              </a:rPr>
              <a:t>: Técnicamente posible de implementar </a:t>
            </a:r>
            <a:endParaRPr sz="3307">
              <a:latin typeface="Montserrat"/>
              <a:ea typeface="Montserrat"/>
              <a:cs typeface="Montserrat"/>
              <a:sym typeface="Montserrat"/>
            </a:endParaRPr>
          </a:p>
          <a:p>
            <a:pPr indent="0" lvl="0" marL="0" marR="0" rtl="0" algn="l">
              <a:lnSpc>
                <a:spcPct val="150000"/>
              </a:lnSpc>
              <a:spcBef>
                <a:spcPts val="0"/>
              </a:spcBef>
              <a:spcAft>
                <a:spcPts val="0"/>
              </a:spcAft>
              <a:buNone/>
            </a:pPr>
            <a:r>
              <a:rPr lang="en-US" sz="3307">
                <a:latin typeface="Montserrat"/>
                <a:ea typeface="Montserrat"/>
                <a:cs typeface="Montserrat"/>
                <a:sym typeface="Montserrat"/>
              </a:rPr>
              <a:t>🟦 </a:t>
            </a:r>
            <a:r>
              <a:rPr b="1" lang="en-US" sz="3307">
                <a:latin typeface="Montserrat"/>
                <a:ea typeface="Montserrat"/>
                <a:cs typeface="Montserrat"/>
                <a:sym typeface="Montserrat"/>
              </a:rPr>
              <a:t>TRAZABLE: </a:t>
            </a:r>
            <a:r>
              <a:rPr lang="en-US" sz="3307">
                <a:latin typeface="Montserrat"/>
                <a:ea typeface="Montserrat"/>
                <a:cs typeface="Montserrat"/>
                <a:sym typeface="Montserrat"/>
              </a:rPr>
              <a:t>Vinculado a una necesidad real del negocio </a:t>
            </a:r>
            <a:endParaRPr sz="3307">
              <a:latin typeface="Montserrat"/>
              <a:ea typeface="Montserrat"/>
              <a:cs typeface="Montserrat"/>
              <a:sym typeface="Montserrat"/>
            </a:endParaRPr>
          </a:p>
          <a:p>
            <a:pPr indent="0" lvl="0" marL="0" marR="0" rtl="0" algn="l">
              <a:lnSpc>
                <a:spcPct val="150000"/>
              </a:lnSpc>
              <a:spcBef>
                <a:spcPts val="0"/>
              </a:spcBef>
              <a:spcAft>
                <a:spcPts val="0"/>
              </a:spcAft>
              <a:buNone/>
            </a:pPr>
            <a:r>
              <a:rPr lang="en-US" sz="3307">
                <a:latin typeface="Montserrat"/>
                <a:ea typeface="Montserrat"/>
                <a:cs typeface="Montserrat"/>
                <a:sym typeface="Montserrat"/>
              </a:rPr>
              <a:t>🟦 </a:t>
            </a:r>
            <a:r>
              <a:rPr b="1" lang="en-US" sz="3307">
                <a:latin typeface="Montserrat"/>
                <a:ea typeface="Montserrat"/>
                <a:cs typeface="Montserrat"/>
                <a:sym typeface="Montserrat"/>
              </a:rPr>
              <a:t>SIN AMBIGÜEDAD: </a:t>
            </a:r>
            <a:r>
              <a:rPr lang="en-US" sz="3307">
                <a:latin typeface="Montserrat"/>
                <a:ea typeface="Montserrat"/>
                <a:cs typeface="Montserrat"/>
                <a:sym typeface="Montserrat"/>
              </a:rPr>
              <a:t>Un solo significado para </a:t>
            </a:r>
            <a:endParaRPr sz="3307">
              <a:latin typeface="Montserrat"/>
              <a:ea typeface="Montserrat"/>
              <a:cs typeface="Montserrat"/>
              <a:sym typeface="Montserrat"/>
            </a:endParaRPr>
          </a:p>
          <a:p>
            <a:pPr indent="0" lvl="0" marL="457200" marR="0" rtl="0" algn="l">
              <a:lnSpc>
                <a:spcPct val="100000"/>
              </a:lnSpc>
              <a:spcBef>
                <a:spcPts val="0"/>
              </a:spcBef>
              <a:spcAft>
                <a:spcPts val="0"/>
              </a:spcAft>
              <a:buNone/>
            </a:pPr>
            <a:r>
              <a:t/>
            </a:r>
            <a:endParaRPr sz="3307">
              <a:latin typeface="Montserrat"/>
              <a:ea typeface="Montserrat"/>
              <a:cs typeface="Montserrat"/>
              <a:sym typeface="Montserrat"/>
            </a:endParaRPr>
          </a:p>
          <a:p>
            <a:pPr indent="0" lvl="0" marL="457200" marR="0" rtl="0" algn="l">
              <a:lnSpc>
                <a:spcPct val="100000"/>
              </a:lnSpc>
              <a:spcBef>
                <a:spcPts val="0"/>
              </a:spcBef>
              <a:spcAft>
                <a:spcPts val="0"/>
              </a:spcAft>
              <a:buNone/>
            </a:pPr>
            <a:r>
              <a:t/>
            </a:r>
            <a:endParaRPr sz="3307">
              <a:latin typeface="Montserrat"/>
              <a:ea typeface="Montserrat"/>
              <a:cs typeface="Montserrat"/>
              <a:sym typeface="Montserrat"/>
            </a:endParaRPr>
          </a:p>
        </p:txBody>
      </p:sp>
      <p:sp>
        <p:nvSpPr>
          <p:cNvPr id="323" name="Google Shape;323;g39ab1374e1b_0_290"/>
          <p:cNvSpPr txBox="1"/>
          <p:nvPr/>
        </p:nvSpPr>
        <p:spPr>
          <a:xfrm>
            <a:off x="1127550" y="7530684"/>
            <a:ext cx="14098200" cy="12027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lang="en-US" sz="3307">
                <a:solidFill>
                  <a:schemeClr val="dk1"/>
                </a:solidFill>
                <a:latin typeface="Montserrat"/>
                <a:ea typeface="Montserrat"/>
                <a:cs typeface="Montserrat"/>
                <a:sym typeface="Montserrat"/>
              </a:rPr>
              <a:t>EVITAR: </a:t>
            </a:r>
            <a:r>
              <a:rPr lang="en-US" sz="3307">
                <a:solidFill>
                  <a:schemeClr val="dk1"/>
                </a:solidFill>
                <a:latin typeface="Montserrat"/>
                <a:ea typeface="Montserrat"/>
                <a:cs typeface="Montserrat"/>
                <a:sym typeface="Montserrat"/>
              </a:rPr>
              <a:t>"El sistema deberá ser amigable y seguro." (¿Qué significa "amigable"? ¿Cómo medimos "seguro"?)</a:t>
            </a:r>
            <a:endParaRPr sz="1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327" name="Shape 327"/>
        <p:cNvGrpSpPr/>
        <p:nvPr/>
      </p:nvGrpSpPr>
      <p:grpSpPr>
        <a:xfrm>
          <a:off x="0" y="0"/>
          <a:ext cx="0" cy="0"/>
          <a:chOff x="0" y="0"/>
          <a:chExt cx="0" cy="0"/>
        </a:xfrm>
      </p:grpSpPr>
      <p:sp>
        <p:nvSpPr>
          <p:cNvPr id="328" name="Google Shape;328;g39ab1374e1b_0_301"/>
          <p:cNvSpPr/>
          <p:nvPr/>
        </p:nvSpPr>
        <p:spPr>
          <a:xfrm rot="-1971343">
            <a:off x="17167261" y="-1169177"/>
            <a:ext cx="5328220" cy="5288258"/>
          </a:xfrm>
          <a:custGeom>
            <a:rect b="b" l="l" r="r" t="t"/>
            <a:pathLst>
              <a:path extrusionOk="0" h="5288506" w="5328470">
                <a:moveTo>
                  <a:pt x="0" y="0"/>
                </a:moveTo>
                <a:lnTo>
                  <a:pt x="5328470" y="0"/>
                </a:lnTo>
                <a:lnTo>
                  <a:pt x="5328470" y="5288506"/>
                </a:lnTo>
                <a:lnTo>
                  <a:pt x="0" y="5288506"/>
                </a:lnTo>
                <a:lnTo>
                  <a:pt x="0" y="0"/>
                </a:lnTo>
                <a:close/>
              </a:path>
            </a:pathLst>
          </a:custGeom>
          <a:blipFill rotWithShape="1">
            <a:blip r:embed="rId3">
              <a:alphaModFix/>
            </a:blip>
            <a:stretch>
              <a:fillRect b="0" l="0" r="0" t="0"/>
            </a:stretch>
          </a:blipFill>
          <a:ln>
            <a:noFill/>
          </a:ln>
        </p:spPr>
      </p:sp>
      <p:sp>
        <p:nvSpPr>
          <p:cNvPr id="329" name="Google Shape;329;g39ab1374e1b_0_301"/>
          <p:cNvSpPr/>
          <p:nvPr/>
        </p:nvSpPr>
        <p:spPr>
          <a:xfrm flipH="1">
            <a:off x="-325893" y="-149361"/>
            <a:ext cx="1897814" cy="1999452"/>
          </a:xfrm>
          <a:custGeom>
            <a:rect b="b" l="l" r="r" t="t"/>
            <a:pathLst>
              <a:path extrusionOk="0" h="1999452" w="1897814">
                <a:moveTo>
                  <a:pt x="1897814" y="0"/>
                </a:moveTo>
                <a:lnTo>
                  <a:pt x="0" y="0"/>
                </a:lnTo>
                <a:lnTo>
                  <a:pt x="0" y="1999453"/>
                </a:lnTo>
                <a:lnTo>
                  <a:pt x="1897814" y="1999453"/>
                </a:lnTo>
                <a:lnTo>
                  <a:pt x="1897814" y="0"/>
                </a:lnTo>
                <a:close/>
              </a:path>
            </a:pathLst>
          </a:custGeom>
          <a:blipFill rotWithShape="1">
            <a:blip r:embed="rId4">
              <a:alphaModFix/>
            </a:blip>
            <a:stretch>
              <a:fillRect b="0" l="0" r="0" t="0"/>
            </a:stretch>
          </a:blipFill>
          <a:ln>
            <a:noFill/>
          </a:ln>
        </p:spPr>
      </p:sp>
      <p:sp>
        <p:nvSpPr>
          <p:cNvPr id="330" name="Google Shape;330;g39ab1374e1b_0_301"/>
          <p:cNvSpPr txBox="1"/>
          <p:nvPr/>
        </p:nvSpPr>
        <p:spPr>
          <a:xfrm>
            <a:off x="1901425" y="8773569"/>
            <a:ext cx="8323500" cy="709200"/>
          </a:xfrm>
          <a:prstGeom prst="rect">
            <a:avLst/>
          </a:prstGeom>
          <a:noFill/>
          <a:ln>
            <a:noFill/>
          </a:ln>
        </p:spPr>
        <p:txBody>
          <a:bodyPr anchorCtr="0" anchor="t" bIns="91425" lIns="91425" spcFirstLastPara="1" rIns="91425" wrap="square" tIns="91425">
            <a:spAutoFit/>
          </a:bodyPr>
          <a:lstStyle/>
          <a:p>
            <a:pPr indent="0" lvl="0" marL="0" rtl="0" algn="l">
              <a:lnSpc>
                <a:spcPct val="140041"/>
              </a:lnSpc>
              <a:spcBef>
                <a:spcPts val="0"/>
              </a:spcBef>
              <a:spcAft>
                <a:spcPts val="0"/>
              </a:spcAft>
              <a:buNone/>
            </a:pPr>
            <a:r>
              <a:rPr lang="en-US" sz="3407">
                <a:solidFill>
                  <a:schemeClr val="dk1"/>
                </a:solidFill>
                <a:latin typeface="Montserrat"/>
                <a:ea typeface="Montserrat"/>
                <a:cs typeface="Montserrat"/>
                <a:sym typeface="Montserrat"/>
              </a:rPr>
              <a:t>Es un proceso iterativo, no lineal.</a:t>
            </a:r>
            <a:endParaRPr/>
          </a:p>
        </p:txBody>
      </p:sp>
      <p:pic>
        <p:nvPicPr>
          <p:cNvPr id="331" name="Google Shape;331;g39ab1374e1b_0_301"/>
          <p:cNvPicPr preferRelativeResize="0"/>
          <p:nvPr/>
        </p:nvPicPr>
        <p:blipFill>
          <a:blip r:embed="rId5">
            <a:alphaModFix/>
          </a:blip>
          <a:stretch>
            <a:fillRect/>
          </a:stretch>
        </p:blipFill>
        <p:spPr>
          <a:xfrm>
            <a:off x="1901425" y="654007"/>
            <a:ext cx="14485151" cy="79074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335" name="Shape 335"/>
        <p:cNvGrpSpPr/>
        <p:nvPr/>
      </p:nvGrpSpPr>
      <p:grpSpPr>
        <a:xfrm>
          <a:off x="0" y="0"/>
          <a:ext cx="0" cy="0"/>
          <a:chOff x="0" y="0"/>
          <a:chExt cx="0" cy="0"/>
        </a:xfrm>
      </p:grpSpPr>
      <p:sp>
        <p:nvSpPr>
          <p:cNvPr id="336" name="Google Shape;336;g39ab1374e1b_0_308"/>
          <p:cNvSpPr/>
          <p:nvPr/>
        </p:nvSpPr>
        <p:spPr>
          <a:xfrm rot="-1971343">
            <a:off x="17167261" y="-1169177"/>
            <a:ext cx="5328220" cy="5288258"/>
          </a:xfrm>
          <a:custGeom>
            <a:rect b="b" l="l" r="r" t="t"/>
            <a:pathLst>
              <a:path extrusionOk="0" h="5288506" w="5328470">
                <a:moveTo>
                  <a:pt x="0" y="0"/>
                </a:moveTo>
                <a:lnTo>
                  <a:pt x="5328470" y="0"/>
                </a:lnTo>
                <a:lnTo>
                  <a:pt x="5328470" y="5288506"/>
                </a:lnTo>
                <a:lnTo>
                  <a:pt x="0" y="5288506"/>
                </a:lnTo>
                <a:lnTo>
                  <a:pt x="0" y="0"/>
                </a:lnTo>
                <a:close/>
              </a:path>
            </a:pathLst>
          </a:custGeom>
          <a:blipFill rotWithShape="1">
            <a:blip r:embed="rId3">
              <a:alphaModFix/>
            </a:blip>
            <a:stretch>
              <a:fillRect b="0" l="0" r="0" t="0"/>
            </a:stretch>
          </a:blipFill>
          <a:ln>
            <a:noFill/>
          </a:ln>
        </p:spPr>
      </p:sp>
      <p:sp>
        <p:nvSpPr>
          <p:cNvPr id="337" name="Google Shape;337;g39ab1374e1b_0_308"/>
          <p:cNvSpPr txBox="1"/>
          <p:nvPr/>
        </p:nvSpPr>
        <p:spPr>
          <a:xfrm>
            <a:off x="1564484" y="438025"/>
            <a:ext cx="16032900" cy="824700"/>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lang="en-US" sz="5357">
                <a:solidFill>
                  <a:srgbClr val="014753"/>
                </a:solidFill>
                <a:latin typeface="Montserrat"/>
                <a:ea typeface="Montserrat"/>
                <a:cs typeface="Montserrat"/>
                <a:sym typeface="Montserrat"/>
              </a:rPr>
              <a:t>CLASIFICACIÓN DE REQUERIMIENTOS</a:t>
            </a:r>
            <a:endParaRPr sz="600"/>
          </a:p>
        </p:txBody>
      </p:sp>
      <p:sp>
        <p:nvSpPr>
          <p:cNvPr id="338" name="Google Shape;338;g39ab1374e1b_0_308"/>
          <p:cNvSpPr/>
          <p:nvPr/>
        </p:nvSpPr>
        <p:spPr>
          <a:xfrm flipH="1">
            <a:off x="-325893" y="-149361"/>
            <a:ext cx="1897814" cy="1999452"/>
          </a:xfrm>
          <a:custGeom>
            <a:rect b="b" l="l" r="r" t="t"/>
            <a:pathLst>
              <a:path extrusionOk="0" h="1999452" w="1897814">
                <a:moveTo>
                  <a:pt x="1897814" y="0"/>
                </a:moveTo>
                <a:lnTo>
                  <a:pt x="0" y="0"/>
                </a:lnTo>
                <a:lnTo>
                  <a:pt x="0" y="1999453"/>
                </a:lnTo>
                <a:lnTo>
                  <a:pt x="1897814" y="1999453"/>
                </a:lnTo>
                <a:lnTo>
                  <a:pt x="1897814" y="0"/>
                </a:lnTo>
                <a:close/>
              </a:path>
            </a:pathLst>
          </a:custGeom>
          <a:blipFill rotWithShape="1">
            <a:blip r:embed="rId4">
              <a:alphaModFix/>
            </a:blip>
            <a:stretch>
              <a:fillRect b="0" l="0" r="0" t="0"/>
            </a:stretch>
          </a:blipFill>
          <a:ln>
            <a:noFill/>
          </a:ln>
        </p:spPr>
      </p:sp>
      <p:pic>
        <p:nvPicPr>
          <p:cNvPr id="339" name="Google Shape;339;g39ab1374e1b_0_308"/>
          <p:cNvPicPr preferRelativeResize="0"/>
          <p:nvPr/>
        </p:nvPicPr>
        <p:blipFill>
          <a:blip r:embed="rId5">
            <a:alphaModFix/>
          </a:blip>
          <a:stretch>
            <a:fillRect/>
          </a:stretch>
        </p:blipFill>
        <p:spPr>
          <a:xfrm>
            <a:off x="1892065" y="1768078"/>
            <a:ext cx="14503875" cy="791764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343" name="Shape 343"/>
        <p:cNvGrpSpPr/>
        <p:nvPr/>
      </p:nvGrpSpPr>
      <p:grpSpPr>
        <a:xfrm>
          <a:off x="0" y="0"/>
          <a:ext cx="0" cy="0"/>
          <a:chOff x="0" y="0"/>
          <a:chExt cx="0" cy="0"/>
        </a:xfrm>
      </p:grpSpPr>
      <p:sp>
        <p:nvSpPr>
          <p:cNvPr id="344" name="Google Shape;344;g39ab1374e1b_0_315"/>
          <p:cNvSpPr/>
          <p:nvPr/>
        </p:nvSpPr>
        <p:spPr>
          <a:xfrm rot="-1971343">
            <a:off x="17167261" y="-1169177"/>
            <a:ext cx="5328220" cy="5288258"/>
          </a:xfrm>
          <a:custGeom>
            <a:rect b="b" l="l" r="r" t="t"/>
            <a:pathLst>
              <a:path extrusionOk="0" h="5288506" w="5328470">
                <a:moveTo>
                  <a:pt x="0" y="0"/>
                </a:moveTo>
                <a:lnTo>
                  <a:pt x="5328470" y="0"/>
                </a:lnTo>
                <a:lnTo>
                  <a:pt x="5328470" y="5288506"/>
                </a:lnTo>
                <a:lnTo>
                  <a:pt x="0" y="5288506"/>
                </a:lnTo>
                <a:lnTo>
                  <a:pt x="0" y="0"/>
                </a:lnTo>
                <a:close/>
              </a:path>
            </a:pathLst>
          </a:custGeom>
          <a:blipFill rotWithShape="1">
            <a:blip r:embed="rId3">
              <a:alphaModFix/>
            </a:blip>
            <a:stretch>
              <a:fillRect b="0" l="0" r="0" t="0"/>
            </a:stretch>
          </a:blipFill>
          <a:ln>
            <a:noFill/>
          </a:ln>
        </p:spPr>
      </p:sp>
      <p:sp>
        <p:nvSpPr>
          <p:cNvPr id="345" name="Google Shape;345;g39ab1374e1b_0_315"/>
          <p:cNvSpPr txBox="1"/>
          <p:nvPr/>
        </p:nvSpPr>
        <p:spPr>
          <a:xfrm>
            <a:off x="1564484" y="795213"/>
            <a:ext cx="16032900" cy="824700"/>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lang="en-US" sz="5357">
                <a:solidFill>
                  <a:srgbClr val="014753"/>
                </a:solidFill>
                <a:latin typeface="Montserrat"/>
                <a:ea typeface="Montserrat"/>
                <a:cs typeface="Montserrat"/>
                <a:sym typeface="Montserrat"/>
              </a:rPr>
              <a:t>REQUERIMIENTOS FUNCIONALES (RFs)</a:t>
            </a:r>
            <a:endParaRPr sz="600"/>
          </a:p>
        </p:txBody>
      </p:sp>
      <p:sp>
        <p:nvSpPr>
          <p:cNvPr id="346" name="Google Shape;346;g39ab1374e1b_0_315"/>
          <p:cNvSpPr/>
          <p:nvPr/>
        </p:nvSpPr>
        <p:spPr>
          <a:xfrm flipH="1">
            <a:off x="-325893" y="-149361"/>
            <a:ext cx="1897814" cy="1999452"/>
          </a:xfrm>
          <a:custGeom>
            <a:rect b="b" l="l" r="r" t="t"/>
            <a:pathLst>
              <a:path extrusionOk="0" h="1999452" w="1897814">
                <a:moveTo>
                  <a:pt x="1897814" y="0"/>
                </a:moveTo>
                <a:lnTo>
                  <a:pt x="0" y="0"/>
                </a:lnTo>
                <a:lnTo>
                  <a:pt x="0" y="1999453"/>
                </a:lnTo>
                <a:lnTo>
                  <a:pt x="1897814" y="1999453"/>
                </a:lnTo>
                <a:lnTo>
                  <a:pt x="1897814" y="0"/>
                </a:lnTo>
                <a:close/>
              </a:path>
            </a:pathLst>
          </a:custGeom>
          <a:blipFill rotWithShape="1">
            <a:blip r:embed="rId4">
              <a:alphaModFix/>
            </a:blip>
            <a:stretch>
              <a:fillRect b="0" l="0" r="0" t="0"/>
            </a:stretch>
          </a:blipFill>
          <a:ln>
            <a:noFill/>
          </a:ln>
        </p:spPr>
      </p:sp>
      <p:sp>
        <p:nvSpPr>
          <p:cNvPr id="347" name="Google Shape;347;g39ab1374e1b_0_315"/>
          <p:cNvSpPr txBox="1"/>
          <p:nvPr/>
        </p:nvSpPr>
        <p:spPr>
          <a:xfrm>
            <a:off x="1326350" y="3557850"/>
            <a:ext cx="14496600" cy="4207200"/>
          </a:xfrm>
          <a:prstGeom prst="rect">
            <a:avLst/>
          </a:prstGeom>
          <a:noFill/>
          <a:ln>
            <a:noFill/>
          </a:ln>
        </p:spPr>
        <p:txBody>
          <a:bodyPr anchorCtr="0" anchor="t" bIns="0" lIns="0" spcFirstLastPara="1" rIns="0" wrap="square" tIns="0">
            <a:spAutoFit/>
          </a:bodyPr>
          <a:lstStyle/>
          <a:p>
            <a:pPr indent="0" lvl="0" marL="0" marR="0" rtl="0" algn="l">
              <a:lnSpc>
                <a:spcPct val="140041"/>
              </a:lnSpc>
              <a:spcBef>
                <a:spcPts val="0"/>
              </a:spcBef>
              <a:spcAft>
                <a:spcPts val="0"/>
              </a:spcAft>
              <a:buNone/>
            </a:pPr>
            <a:r>
              <a:rPr lang="en-US" sz="2907">
                <a:latin typeface="Montserrat"/>
                <a:ea typeface="Montserrat"/>
                <a:cs typeface="Montserrat"/>
                <a:sym typeface="Montserrat"/>
              </a:rPr>
              <a:t>Es un requerimiento que define una acción específica que el sistema debe realizar. Responde a: ¿Qué debe hacer el sistema? </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rPr lang="en-US" sz="2907">
                <a:latin typeface="Montserrat"/>
                <a:ea typeface="Montserrat"/>
                <a:cs typeface="Montserrat"/>
                <a:sym typeface="Montserrat"/>
              </a:rPr>
              <a:t>EJEMPLOS: </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rPr lang="en-US" sz="2907">
                <a:latin typeface="Montserrat"/>
                <a:ea typeface="Montserrat"/>
                <a:cs typeface="Montserrat"/>
                <a:sym typeface="Montserrat"/>
              </a:rPr>
              <a:t>✔ El sistema debe permitir al usuario registrarse con correo y contraseña. </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rPr lang="en-US" sz="2907">
                <a:latin typeface="Montserrat"/>
                <a:ea typeface="Montserrat"/>
                <a:cs typeface="Montserrat"/>
                <a:sym typeface="Montserrat"/>
              </a:rPr>
              <a:t>✔ El sistema debe generar un reporte en PDF de ventas mensuales. </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rPr lang="en-US" sz="2907">
                <a:latin typeface="Montserrat"/>
                <a:ea typeface="Montserrat"/>
                <a:cs typeface="Montserrat"/>
                <a:sym typeface="Montserrat"/>
              </a:rPr>
              <a:t>✔ El sistema debe enviar un correo de confirmación al completar una compra. </a:t>
            </a:r>
            <a:endParaRPr/>
          </a:p>
        </p:txBody>
      </p:sp>
      <p:sp>
        <p:nvSpPr>
          <p:cNvPr id="348" name="Google Shape;348;g39ab1374e1b_0_315"/>
          <p:cNvSpPr txBox="1"/>
          <p:nvPr/>
        </p:nvSpPr>
        <p:spPr>
          <a:xfrm>
            <a:off x="1028700" y="2425372"/>
            <a:ext cx="11032200" cy="646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4200">
                <a:solidFill>
                  <a:srgbClr val="014753"/>
                </a:solidFill>
                <a:latin typeface="Montserrat"/>
                <a:ea typeface="Montserrat"/>
                <a:cs typeface="Montserrat"/>
                <a:sym typeface="Montserrat"/>
              </a:rPr>
              <a:t>¿Qué es un Requerimiento Funcional?</a:t>
            </a:r>
            <a:endParaRPr sz="6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352" name="Shape 352"/>
        <p:cNvGrpSpPr/>
        <p:nvPr/>
      </p:nvGrpSpPr>
      <p:grpSpPr>
        <a:xfrm>
          <a:off x="0" y="0"/>
          <a:ext cx="0" cy="0"/>
          <a:chOff x="0" y="0"/>
          <a:chExt cx="0" cy="0"/>
        </a:xfrm>
      </p:grpSpPr>
      <p:sp>
        <p:nvSpPr>
          <p:cNvPr id="353" name="Google Shape;353;g39ab1374e1b_0_323"/>
          <p:cNvSpPr/>
          <p:nvPr/>
        </p:nvSpPr>
        <p:spPr>
          <a:xfrm rot="-1971343">
            <a:off x="17167261" y="-1169177"/>
            <a:ext cx="5328220" cy="5288258"/>
          </a:xfrm>
          <a:custGeom>
            <a:rect b="b" l="l" r="r" t="t"/>
            <a:pathLst>
              <a:path extrusionOk="0" h="5288506" w="5328470">
                <a:moveTo>
                  <a:pt x="0" y="0"/>
                </a:moveTo>
                <a:lnTo>
                  <a:pt x="5328470" y="0"/>
                </a:lnTo>
                <a:lnTo>
                  <a:pt x="5328470" y="5288506"/>
                </a:lnTo>
                <a:lnTo>
                  <a:pt x="0" y="5288506"/>
                </a:lnTo>
                <a:lnTo>
                  <a:pt x="0" y="0"/>
                </a:lnTo>
                <a:close/>
              </a:path>
            </a:pathLst>
          </a:custGeom>
          <a:blipFill rotWithShape="1">
            <a:blip r:embed="rId3">
              <a:alphaModFix/>
            </a:blip>
            <a:stretch>
              <a:fillRect b="0" l="0" r="0" t="0"/>
            </a:stretch>
          </a:blipFill>
          <a:ln>
            <a:noFill/>
          </a:ln>
        </p:spPr>
      </p:sp>
      <p:sp>
        <p:nvSpPr>
          <p:cNvPr id="354" name="Google Shape;354;g39ab1374e1b_0_323"/>
          <p:cNvSpPr/>
          <p:nvPr/>
        </p:nvSpPr>
        <p:spPr>
          <a:xfrm flipH="1">
            <a:off x="-325893" y="-149361"/>
            <a:ext cx="1897814" cy="1999452"/>
          </a:xfrm>
          <a:custGeom>
            <a:rect b="b" l="l" r="r" t="t"/>
            <a:pathLst>
              <a:path extrusionOk="0" h="1999452" w="1897814">
                <a:moveTo>
                  <a:pt x="1897814" y="0"/>
                </a:moveTo>
                <a:lnTo>
                  <a:pt x="0" y="0"/>
                </a:lnTo>
                <a:lnTo>
                  <a:pt x="0" y="1999453"/>
                </a:lnTo>
                <a:lnTo>
                  <a:pt x="1897814" y="1999453"/>
                </a:lnTo>
                <a:lnTo>
                  <a:pt x="1897814" y="0"/>
                </a:lnTo>
                <a:close/>
              </a:path>
            </a:pathLst>
          </a:custGeom>
          <a:blipFill rotWithShape="1">
            <a:blip r:embed="rId4">
              <a:alphaModFix/>
            </a:blip>
            <a:stretch>
              <a:fillRect b="0" l="0" r="0" t="0"/>
            </a:stretch>
          </a:blipFill>
          <a:ln>
            <a:noFill/>
          </a:ln>
        </p:spPr>
      </p:sp>
      <p:sp>
        <p:nvSpPr>
          <p:cNvPr id="355" name="Google Shape;355;g39ab1374e1b_0_323"/>
          <p:cNvSpPr txBox="1"/>
          <p:nvPr/>
        </p:nvSpPr>
        <p:spPr>
          <a:xfrm>
            <a:off x="1571925" y="1443125"/>
            <a:ext cx="14574300" cy="133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500">
                <a:solidFill>
                  <a:srgbClr val="014753"/>
                </a:solidFill>
                <a:latin typeface="Montserrat"/>
                <a:ea typeface="Montserrat"/>
                <a:cs typeface="Montserrat"/>
                <a:sym typeface="Montserrat"/>
              </a:rPr>
              <a:t>Plantilla formal de Requerimiento Funcional</a:t>
            </a:r>
            <a:endParaRPr b="1" sz="4500">
              <a:solidFill>
                <a:srgbClr val="014753"/>
              </a:solidFill>
              <a:latin typeface="Montserrat"/>
              <a:ea typeface="Montserrat"/>
              <a:cs typeface="Montserrat"/>
              <a:sym typeface="Montserrat"/>
            </a:endParaRPr>
          </a:p>
          <a:p>
            <a:pPr indent="0" lvl="0" marL="0" marR="0" rtl="0" algn="l">
              <a:lnSpc>
                <a:spcPct val="140000"/>
              </a:lnSpc>
              <a:spcBef>
                <a:spcPts val="0"/>
              </a:spcBef>
              <a:spcAft>
                <a:spcPts val="0"/>
              </a:spcAft>
              <a:buNone/>
            </a:pPr>
            <a:r>
              <a:rPr lang="en-US" sz="4200">
                <a:solidFill>
                  <a:srgbClr val="014753"/>
                </a:solidFill>
                <a:latin typeface="Montserrat"/>
                <a:ea typeface="Montserrat"/>
                <a:cs typeface="Montserrat"/>
                <a:sym typeface="Montserrat"/>
              </a:rPr>
              <a:t>Referencia: IEEE 830 / ISO 29148</a:t>
            </a:r>
            <a:endParaRPr sz="4200">
              <a:solidFill>
                <a:srgbClr val="014753"/>
              </a:solidFill>
              <a:latin typeface="Montserrat"/>
              <a:ea typeface="Montserrat"/>
              <a:cs typeface="Montserrat"/>
              <a:sym typeface="Montserrat"/>
            </a:endParaRPr>
          </a:p>
        </p:txBody>
      </p:sp>
      <p:graphicFrame>
        <p:nvGraphicFramePr>
          <p:cNvPr id="356" name="Google Shape;356;g39ab1374e1b_0_323"/>
          <p:cNvGraphicFramePr/>
          <p:nvPr/>
        </p:nvGraphicFramePr>
        <p:xfrm>
          <a:off x="3316713" y="3429000"/>
          <a:ext cx="3000000" cy="3000000"/>
        </p:xfrm>
        <a:graphic>
          <a:graphicData uri="http://schemas.openxmlformats.org/drawingml/2006/table">
            <a:tbl>
              <a:tblPr>
                <a:noFill/>
                <a:tableStyleId>{5672B294-9F4D-4053-8CF6-60F6C0413512}</a:tableStyleId>
              </a:tblPr>
              <a:tblGrid>
                <a:gridCol w="2998025"/>
                <a:gridCol w="8086700"/>
              </a:tblGrid>
              <a:tr h="449075">
                <a:tc>
                  <a:txBody>
                    <a:bodyPr/>
                    <a:lstStyle/>
                    <a:p>
                      <a:pPr indent="0" lvl="0" marL="0" rtl="0" algn="ctr">
                        <a:lnSpc>
                          <a:spcPct val="115000"/>
                        </a:lnSpc>
                        <a:spcBef>
                          <a:spcPts val="0"/>
                        </a:spcBef>
                        <a:spcAft>
                          <a:spcPts val="0"/>
                        </a:spcAft>
                        <a:buNone/>
                      </a:pPr>
                      <a:r>
                        <a:rPr b="1" lang="en-US" sz="2000">
                          <a:latin typeface="Montserrat"/>
                          <a:ea typeface="Montserrat"/>
                          <a:cs typeface="Montserrat"/>
                          <a:sym typeface="Montserrat"/>
                        </a:rPr>
                        <a:t>CAMPO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US" sz="2000">
                          <a:latin typeface="Montserrat"/>
                          <a:ea typeface="Montserrat"/>
                          <a:cs typeface="Montserrat"/>
                          <a:sym typeface="Montserrat"/>
                        </a:rPr>
                        <a:t>CONTENIDO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EFEFEF"/>
                    </a:solidFill>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ID</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RF-001</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Función</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Nombre corto de la función</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Descripción</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Qué debe hacer el sistema</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Entradas</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Datos que recibe el sistema</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Fuentes</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¿Quién o qué proporciona las entradas?</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Salida</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Resultado producido</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Destino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¿A quién o dónde va la salida?</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Acción</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Procesamiento interno que ocurre</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Precondición</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Qué debe ser verdad ANTES de ejecutar</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Postcondición</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Qué debe ser verdad DESPUÉS</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Prioridad</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Alta / Media / Baja</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360" name="Shape 360"/>
        <p:cNvGrpSpPr/>
        <p:nvPr/>
      </p:nvGrpSpPr>
      <p:grpSpPr>
        <a:xfrm>
          <a:off x="0" y="0"/>
          <a:ext cx="0" cy="0"/>
          <a:chOff x="0" y="0"/>
          <a:chExt cx="0" cy="0"/>
        </a:xfrm>
      </p:grpSpPr>
      <p:sp>
        <p:nvSpPr>
          <p:cNvPr id="361" name="Google Shape;361;g39ab1374e1b_0_330"/>
          <p:cNvSpPr/>
          <p:nvPr/>
        </p:nvSpPr>
        <p:spPr>
          <a:xfrm rot="-1971343">
            <a:off x="17167261" y="-1169177"/>
            <a:ext cx="5328220" cy="5288258"/>
          </a:xfrm>
          <a:custGeom>
            <a:rect b="b" l="l" r="r" t="t"/>
            <a:pathLst>
              <a:path extrusionOk="0" h="5288506" w="5328470">
                <a:moveTo>
                  <a:pt x="0" y="0"/>
                </a:moveTo>
                <a:lnTo>
                  <a:pt x="5328470" y="0"/>
                </a:lnTo>
                <a:lnTo>
                  <a:pt x="5328470" y="5288506"/>
                </a:lnTo>
                <a:lnTo>
                  <a:pt x="0" y="5288506"/>
                </a:lnTo>
                <a:lnTo>
                  <a:pt x="0" y="0"/>
                </a:lnTo>
                <a:close/>
              </a:path>
            </a:pathLst>
          </a:custGeom>
          <a:blipFill rotWithShape="1">
            <a:blip r:embed="rId3">
              <a:alphaModFix/>
            </a:blip>
            <a:stretch>
              <a:fillRect b="0" l="0" r="0" t="0"/>
            </a:stretch>
          </a:blipFill>
          <a:ln>
            <a:noFill/>
          </a:ln>
        </p:spPr>
      </p:sp>
      <p:sp>
        <p:nvSpPr>
          <p:cNvPr id="362" name="Google Shape;362;g39ab1374e1b_0_330"/>
          <p:cNvSpPr/>
          <p:nvPr/>
        </p:nvSpPr>
        <p:spPr>
          <a:xfrm flipH="1">
            <a:off x="-325893" y="-149361"/>
            <a:ext cx="1897814" cy="1999452"/>
          </a:xfrm>
          <a:custGeom>
            <a:rect b="b" l="l" r="r" t="t"/>
            <a:pathLst>
              <a:path extrusionOk="0" h="1999452" w="1897814">
                <a:moveTo>
                  <a:pt x="1897814" y="0"/>
                </a:moveTo>
                <a:lnTo>
                  <a:pt x="0" y="0"/>
                </a:lnTo>
                <a:lnTo>
                  <a:pt x="0" y="1999453"/>
                </a:lnTo>
                <a:lnTo>
                  <a:pt x="1897814" y="1999453"/>
                </a:lnTo>
                <a:lnTo>
                  <a:pt x="1897814" y="0"/>
                </a:lnTo>
                <a:close/>
              </a:path>
            </a:pathLst>
          </a:custGeom>
          <a:blipFill rotWithShape="1">
            <a:blip r:embed="rId4">
              <a:alphaModFix/>
            </a:blip>
            <a:stretch>
              <a:fillRect b="0" l="0" r="0" t="0"/>
            </a:stretch>
          </a:blipFill>
          <a:ln>
            <a:noFill/>
          </a:ln>
        </p:spPr>
      </p:sp>
      <p:sp>
        <p:nvSpPr>
          <p:cNvPr id="363" name="Google Shape;363;g39ab1374e1b_0_330"/>
          <p:cNvSpPr txBox="1"/>
          <p:nvPr/>
        </p:nvSpPr>
        <p:spPr>
          <a:xfrm>
            <a:off x="1571925" y="1443125"/>
            <a:ext cx="14574300" cy="133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500">
                <a:solidFill>
                  <a:srgbClr val="014753"/>
                </a:solidFill>
                <a:latin typeface="Montserrat"/>
                <a:ea typeface="Montserrat"/>
                <a:cs typeface="Montserrat"/>
                <a:sym typeface="Montserrat"/>
              </a:rPr>
              <a:t>Plantilla formal de Requerimiento Funcional</a:t>
            </a:r>
            <a:endParaRPr b="1" sz="4500">
              <a:solidFill>
                <a:srgbClr val="014753"/>
              </a:solidFill>
              <a:latin typeface="Montserrat"/>
              <a:ea typeface="Montserrat"/>
              <a:cs typeface="Montserrat"/>
              <a:sym typeface="Montserrat"/>
            </a:endParaRPr>
          </a:p>
          <a:p>
            <a:pPr indent="0" lvl="0" marL="0" marR="0" rtl="0" algn="l">
              <a:lnSpc>
                <a:spcPct val="140000"/>
              </a:lnSpc>
              <a:spcBef>
                <a:spcPts val="0"/>
              </a:spcBef>
              <a:spcAft>
                <a:spcPts val="0"/>
              </a:spcAft>
              <a:buNone/>
            </a:pPr>
            <a:r>
              <a:rPr lang="en-US" sz="4200">
                <a:solidFill>
                  <a:srgbClr val="014753"/>
                </a:solidFill>
                <a:latin typeface="Montserrat"/>
                <a:ea typeface="Montserrat"/>
                <a:cs typeface="Montserrat"/>
                <a:sym typeface="Montserrat"/>
              </a:rPr>
              <a:t>Ejemplo</a:t>
            </a:r>
            <a:endParaRPr sz="4200">
              <a:solidFill>
                <a:srgbClr val="014753"/>
              </a:solidFill>
              <a:latin typeface="Montserrat"/>
              <a:ea typeface="Montserrat"/>
              <a:cs typeface="Montserrat"/>
              <a:sym typeface="Montserrat"/>
            </a:endParaRPr>
          </a:p>
        </p:txBody>
      </p:sp>
      <p:graphicFrame>
        <p:nvGraphicFramePr>
          <p:cNvPr id="364" name="Google Shape;364;g39ab1374e1b_0_330"/>
          <p:cNvGraphicFramePr/>
          <p:nvPr/>
        </p:nvGraphicFramePr>
        <p:xfrm>
          <a:off x="2898913" y="3293950"/>
          <a:ext cx="3000000" cy="3000000"/>
        </p:xfrm>
        <a:graphic>
          <a:graphicData uri="http://schemas.openxmlformats.org/drawingml/2006/table">
            <a:tbl>
              <a:tblPr>
                <a:noFill/>
                <a:tableStyleId>{5672B294-9F4D-4053-8CF6-60F6C0413512}</a:tableStyleId>
              </a:tblPr>
              <a:tblGrid>
                <a:gridCol w="3223975"/>
                <a:gridCol w="8696325"/>
              </a:tblGrid>
              <a:tr h="372275">
                <a:tc>
                  <a:txBody>
                    <a:bodyPr/>
                    <a:lstStyle/>
                    <a:p>
                      <a:pPr indent="0" lvl="0" marL="0" rtl="0" algn="ctr">
                        <a:lnSpc>
                          <a:spcPct val="115000"/>
                        </a:lnSpc>
                        <a:spcBef>
                          <a:spcPts val="0"/>
                        </a:spcBef>
                        <a:spcAft>
                          <a:spcPts val="0"/>
                        </a:spcAft>
                        <a:buNone/>
                      </a:pPr>
                      <a:r>
                        <a:rPr b="1" lang="en-US" sz="2000">
                          <a:latin typeface="Montserrat"/>
                          <a:ea typeface="Montserrat"/>
                          <a:cs typeface="Montserrat"/>
                          <a:sym typeface="Montserrat"/>
                        </a:rPr>
                        <a:t>CAMPO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US" sz="2000">
                          <a:latin typeface="Montserrat"/>
                          <a:ea typeface="Montserrat"/>
                          <a:cs typeface="Montserrat"/>
                          <a:sym typeface="Montserrat"/>
                        </a:rPr>
                        <a:t>CONTENIDO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EFEFEF"/>
                    </a:solidFill>
                  </a:tcPr>
                </a:tc>
              </a:tr>
              <a:tr h="3722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ID</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RF-001</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722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Función</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Autenticación de usuario</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748050">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Descripción</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El sistema debe permitir al usuario iniciar sesión con correo y contraseña.</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5073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Entradas</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Correo electrónico, contraseña</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5073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Fuentes</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Formulario de login (interfaz web)</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5073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Salida</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Acceso concedido o mensaje de error</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722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Destino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Pantalla principal del sistema</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988750">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Acción</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Validar credenciales contra la base de datos. Si son correctas, crear sesión. Si no, mostrar mensaje de error.</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5073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Precondición</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El usuario debe estar registrado en el sistema</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5073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Postcondición</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El usuario tiene sesión activa o se registra el intento fallido</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722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Prioridad</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Alta</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368" name="Shape 368"/>
        <p:cNvGrpSpPr/>
        <p:nvPr/>
      </p:nvGrpSpPr>
      <p:grpSpPr>
        <a:xfrm>
          <a:off x="0" y="0"/>
          <a:ext cx="0" cy="0"/>
          <a:chOff x="0" y="0"/>
          <a:chExt cx="0" cy="0"/>
        </a:xfrm>
      </p:grpSpPr>
      <p:sp>
        <p:nvSpPr>
          <p:cNvPr id="369" name="Google Shape;369;g39ab1374e1b_0_337"/>
          <p:cNvSpPr/>
          <p:nvPr/>
        </p:nvSpPr>
        <p:spPr>
          <a:xfrm rot="-1971343">
            <a:off x="17167261" y="-1169177"/>
            <a:ext cx="5328220" cy="5288258"/>
          </a:xfrm>
          <a:custGeom>
            <a:rect b="b" l="l" r="r" t="t"/>
            <a:pathLst>
              <a:path extrusionOk="0" h="5288506" w="5328470">
                <a:moveTo>
                  <a:pt x="0" y="0"/>
                </a:moveTo>
                <a:lnTo>
                  <a:pt x="5328470" y="0"/>
                </a:lnTo>
                <a:lnTo>
                  <a:pt x="5328470" y="5288506"/>
                </a:lnTo>
                <a:lnTo>
                  <a:pt x="0" y="5288506"/>
                </a:lnTo>
                <a:lnTo>
                  <a:pt x="0" y="0"/>
                </a:lnTo>
                <a:close/>
              </a:path>
            </a:pathLst>
          </a:custGeom>
          <a:blipFill rotWithShape="1">
            <a:blip r:embed="rId3">
              <a:alphaModFix/>
            </a:blip>
            <a:stretch>
              <a:fillRect b="0" l="0" r="0" t="0"/>
            </a:stretch>
          </a:blipFill>
          <a:ln>
            <a:noFill/>
          </a:ln>
        </p:spPr>
      </p:sp>
      <p:sp>
        <p:nvSpPr>
          <p:cNvPr id="370" name="Google Shape;370;g39ab1374e1b_0_337"/>
          <p:cNvSpPr/>
          <p:nvPr/>
        </p:nvSpPr>
        <p:spPr>
          <a:xfrm flipH="1">
            <a:off x="-325893" y="-149361"/>
            <a:ext cx="1897814" cy="1999452"/>
          </a:xfrm>
          <a:custGeom>
            <a:rect b="b" l="l" r="r" t="t"/>
            <a:pathLst>
              <a:path extrusionOk="0" h="1999452" w="1897814">
                <a:moveTo>
                  <a:pt x="1897814" y="0"/>
                </a:moveTo>
                <a:lnTo>
                  <a:pt x="0" y="0"/>
                </a:lnTo>
                <a:lnTo>
                  <a:pt x="0" y="1999453"/>
                </a:lnTo>
                <a:lnTo>
                  <a:pt x="1897814" y="1999453"/>
                </a:lnTo>
                <a:lnTo>
                  <a:pt x="1897814" y="0"/>
                </a:lnTo>
                <a:close/>
              </a:path>
            </a:pathLst>
          </a:custGeom>
          <a:blipFill rotWithShape="1">
            <a:blip r:embed="rId4">
              <a:alphaModFix/>
            </a:blip>
            <a:stretch>
              <a:fillRect b="0" l="0" r="0" t="0"/>
            </a:stretch>
          </a:blipFill>
          <a:ln>
            <a:noFill/>
          </a:ln>
        </p:spPr>
      </p:sp>
      <p:sp>
        <p:nvSpPr>
          <p:cNvPr id="371" name="Google Shape;371;g39ab1374e1b_0_337"/>
          <p:cNvSpPr txBox="1"/>
          <p:nvPr/>
        </p:nvSpPr>
        <p:spPr>
          <a:xfrm>
            <a:off x="1571925" y="1443125"/>
            <a:ext cx="145743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500">
                <a:solidFill>
                  <a:srgbClr val="014753"/>
                </a:solidFill>
                <a:latin typeface="Montserrat"/>
                <a:ea typeface="Montserrat"/>
                <a:cs typeface="Montserrat"/>
                <a:sym typeface="Montserrat"/>
              </a:rPr>
              <a:t>Plantilla resumida de Requerimiento Funcional</a:t>
            </a:r>
            <a:endParaRPr sz="4200">
              <a:solidFill>
                <a:srgbClr val="014753"/>
              </a:solidFill>
              <a:latin typeface="Montserrat"/>
              <a:ea typeface="Montserrat"/>
              <a:cs typeface="Montserrat"/>
              <a:sym typeface="Montserrat"/>
            </a:endParaRPr>
          </a:p>
        </p:txBody>
      </p:sp>
      <p:graphicFrame>
        <p:nvGraphicFramePr>
          <p:cNvPr id="372" name="Google Shape;372;g39ab1374e1b_0_337"/>
          <p:cNvGraphicFramePr/>
          <p:nvPr/>
        </p:nvGraphicFramePr>
        <p:xfrm>
          <a:off x="3183838" y="3026570"/>
          <a:ext cx="3000000" cy="3000000"/>
        </p:xfrm>
        <a:graphic>
          <a:graphicData uri="http://schemas.openxmlformats.org/drawingml/2006/table">
            <a:tbl>
              <a:tblPr>
                <a:noFill/>
                <a:tableStyleId>{5672B294-9F4D-4053-8CF6-60F6C0413512}</a:tableStyleId>
              </a:tblPr>
              <a:tblGrid>
                <a:gridCol w="3223975"/>
                <a:gridCol w="8696325"/>
              </a:tblGrid>
              <a:tr h="372275">
                <a:tc>
                  <a:txBody>
                    <a:bodyPr/>
                    <a:lstStyle/>
                    <a:p>
                      <a:pPr indent="0" lvl="0" marL="0" rtl="0" algn="ctr">
                        <a:lnSpc>
                          <a:spcPct val="115000"/>
                        </a:lnSpc>
                        <a:spcBef>
                          <a:spcPts val="0"/>
                        </a:spcBef>
                        <a:spcAft>
                          <a:spcPts val="0"/>
                        </a:spcAft>
                        <a:buNone/>
                      </a:pPr>
                      <a:r>
                        <a:rPr b="1" lang="en-US" sz="2000">
                          <a:latin typeface="Montserrat"/>
                          <a:ea typeface="Montserrat"/>
                          <a:cs typeface="Montserrat"/>
                          <a:sym typeface="Montserrat"/>
                        </a:rPr>
                        <a:t>CAMPO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US" sz="2000">
                          <a:latin typeface="Montserrat"/>
                          <a:ea typeface="Montserrat"/>
                          <a:cs typeface="Montserrat"/>
                          <a:sym typeface="Montserrat"/>
                        </a:rPr>
                        <a:t>CONTENIDO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EFEFEF"/>
                    </a:solidFill>
                  </a:tcPr>
                </a:tc>
              </a:tr>
              <a:tr h="3722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ID</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RF-001</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722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Descripción</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Qué debe hacer el sistema </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806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Actores involucrados</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Quiénes interactúan con esta función</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graphicFrame>
        <p:nvGraphicFramePr>
          <p:cNvPr id="373" name="Google Shape;373;g39ab1374e1b_0_337"/>
          <p:cNvGraphicFramePr/>
          <p:nvPr/>
        </p:nvGraphicFramePr>
        <p:xfrm>
          <a:off x="3183838" y="5551870"/>
          <a:ext cx="3000000" cy="3000000"/>
        </p:xfrm>
        <a:graphic>
          <a:graphicData uri="http://schemas.openxmlformats.org/drawingml/2006/table">
            <a:tbl>
              <a:tblPr>
                <a:noFill/>
                <a:tableStyleId>{5672B294-9F4D-4053-8CF6-60F6C0413512}</a:tableStyleId>
              </a:tblPr>
              <a:tblGrid>
                <a:gridCol w="3223975"/>
                <a:gridCol w="8696325"/>
              </a:tblGrid>
              <a:tr h="372275">
                <a:tc>
                  <a:txBody>
                    <a:bodyPr/>
                    <a:lstStyle/>
                    <a:p>
                      <a:pPr indent="0" lvl="0" marL="0" rtl="0" algn="ctr">
                        <a:lnSpc>
                          <a:spcPct val="115000"/>
                        </a:lnSpc>
                        <a:spcBef>
                          <a:spcPts val="0"/>
                        </a:spcBef>
                        <a:spcAft>
                          <a:spcPts val="0"/>
                        </a:spcAft>
                        <a:buNone/>
                      </a:pPr>
                      <a:r>
                        <a:rPr b="1" lang="en-US" sz="2000">
                          <a:latin typeface="Montserrat"/>
                          <a:ea typeface="Montserrat"/>
                          <a:cs typeface="Montserrat"/>
                          <a:sym typeface="Montserrat"/>
                        </a:rPr>
                        <a:t>CAMPO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US" sz="2000">
                          <a:latin typeface="Montserrat"/>
                          <a:ea typeface="Montserrat"/>
                          <a:cs typeface="Montserrat"/>
                          <a:sym typeface="Montserrat"/>
                        </a:rPr>
                        <a:t>CONTENIDO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EFEFEF"/>
                    </a:solidFill>
                  </a:tcPr>
                </a:tc>
              </a:tr>
              <a:tr h="3722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ID</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RF-001</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722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Descripción</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El sistema debe permitir al usuario iniciar sesión con correo y contraseña. Si las credenciales son incorrectas, debe mostrar un mensaje de error.    </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806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Actores involucrados</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Usuario registrado, Sistema</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377" name="Shape 377"/>
        <p:cNvGrpSpPr/>
        <p:nvPr/>
      </p:nvGrpSpPr>
      <p:grpSpPr>
        <a:xfrm>
          <a:off x="0" y="0"/>
          <a:ext cx="0" cy="0"/>
          <a:chOff x="0" y="0"/>
          <a:chExt cx="0" cy="0"/>
        </a:xfrm>
      </p:grpSpPr>
      <p:sp>
        <p:nvSpPr>
          <p:cNvPr id="378" name="Google Shape;378;g39ab1374e1b_0_345"/>
          <p:cNvSpPr/>
          <p:nvPr/>
        </p:nvSpPr>
        <p:spPr>
          <a:xfrm rot="-1971343">
            <a:off x="17167261" y="-1169177"/>
            <a:ext cx="5328220" cy="5288258"/>
          </a:xfrm>
          <a:custGeom>
            <a:rect b="b" l="l" r="r" t="t"/>
            <a:pathLst>
              <a:path extrusionOk="0" h="5288506" w="5328470">
                <a:moveTo>
                  <a:pt x="0" y="0"/>
                </a:moveTo>
                <a:lnTo>
                  <a:pt x="5328470" y="0"/>
                </a:lnTo>
                <a:lnTo>
                  <a:pt x="5328470" y="5288506"/>
                </a:lnTo>
                <a:lnTo>
                  <a:pt x="0" y="5288506"/>
                </a:lnTo>
                <a:lnTo>
                  <a:pt x="0" y="0"/>
                </a:lnTo>
                <a:close/>
              </a:path>
            </a:pathLst>
          </a:custGeom>
          <a:blipFill rotWithShape="1">
            <a:blip r:embed="rId3">
              <a:alphaModFix/>
            </a:blip>
            <a:stretch>
              <a:fillRect b="0" l="0" r="0" t="0"/>
            </a:stretch>
          </a:blipFill>
          <a:ln>
            <a:noFill/>
          </a:ln>
        </p:spPr>
      </p:sp>
      <p:sp>
        <p:nvSpPr>
          <p:cNvPr id="379" name="Google Shape;379;g39ab1374e1b_0_345"/>
          <p:cNvSpPr txBox="1"/>
          <p:nvPr/>
        </p:nvSpPr>
        <p:spPr>
          <a:xfrm>
            <a:off x="1564484" y="795213"/>
            <a:ext cx="16032900" cy="1649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357">
                <a:solidFill>
                  <a:srgbClr val="014753"/>
                </a:solidFill>
                <a:latin typeface="Montserrat"/>
                <a:ea typeface="Montserrat"/>
                <a:cs typeface="Montserrat"/>
                <a:sym typeface="Montserrat"/>
              </a:rPr>
              <a:t>REQUERIMIENTOS NO FUNCIONALES: RESTRICCIÓN (RRs)</a:t>
            </a:r>
            <a:endParaRPr sz="600"/>
          </a:p>
        </p:txBody>
      </p:sp>
      <p:sp>
        <p:nvSpPr>
          <p:cNvPr id="380" name="Google Shape;380;g39ab1374e1b_0_345"/>
          <p:cNvSpPr/>
          <p:nvPr/>
        </p:nvSpPr>
        <p:spPr>
          <a:xfrm flipH="1">
            <a:off x="-325893" y="-149361"/>
            <a:ext cx="1897814" cy="1999452"/>
          </a:xfrm>
          <a:custGeom>
            <a:rect b="b" l="l" r="r" t="t"/>
            <a:pathLst>
              <a:path extrusionOk="0" h="1999452" w="1897814">
                <a:moveTo>
                  <a:pt x="1897814" y="0"/>
                </a:moveTo>
                <a:lnTo>
                  <a:pt x="0" y="0"/>
                </a:lnTo>
                <a:lnTo>
                  <a:pt x="0" y="1999453"/>
                </a:lnTo>
                <a:lnTo>
                  <a:pt x="1897814" y="1999453"/>
                </a:lnTo>
                <a:lnTo>
                  <a:pt x="1897814" y="0"/>
                </a:lnTo>
                <a:close/>
              </a:path>
            </a:pathLst>
          </a:custGeom>
          <a:blipFill rotWithShape="1">
            <a:blip r:embed="rId4">
              <a:alphaModFix/>
            </a:blip>
            <a:stretch>
              <a:fillRect b="0" l="0" r="0" t="0"/>
            </a:stretch>
          </a:blipFill>
          <a:ln>
            <a:noFill/>
          </a:ln>
        </p:spPr>
      </p:sp>
      <p:sp>
        <p:nvSpPr>
          <p:cNvPr id="381" name="Google Shape;381;g39ab1374e1b_0_345"/>
          <p:cNvSpPr txBox="1"/>
          <p:nvPr/>
        </p:nvSpPr>
        <p:spPr>
          <a:xfrm>
            <a:off x="1564475" y="2865125"/>
            <a:ext cx="15095700" cy="5460600"/>
          </a:xfrm>
          <a:prstGeom prst="rect">
            <a:avLst/>
          </a:prstGeom>
          <a:noFill/>
          <a:ln>
            <a:noFill/>
          </a:ln>
        </p:spPr>
        <p:txBody>
          <a:bodyPr anchorCtr="0" anchor="t" bIns="0" lIns="0" spcFirstLastPara="1" rIns="0" wrap="square" tIns="0">
            <a:spAutoFit/>
          </a:bodyPr>
          <a:lstStyle/>
          <a:p>
            <a:pPr indent="0" lvl="0" marL="0" marR="0" rtl="0" algn="l">
              <a:lnSpc>
                <a:spcPct val="140041"/>
              </a:lnSpc>
              <a:spcBef>
                <a:spcPts val="0"/>
              </a:spcBef>
              <a:spcAft>
                <a:spcPts val="0"/>
              </a:spcAft>
              <a:buNone/>
            </a:pPr>
            <a:r>
              <a:rPr lang="en-US" sz="2907">
                <a:latin typeface="Montserrat"/>
                <a:ea typeface="Montserrat"/>
                <a:cs typeface="Montserrat"/>
                <a:sym typeface="Montserrat"/>
              </a:rPr>
              <a:t>Una restricción limita las opciones de diseño o implementación disponibles al desarrollador. Responden a: ¿Qué límites no puede cruzar el sistema?</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rPr b="1" lang="en-US" sz="2907">
                <a:latin typeface="Montserrat"/>
                <a:ea typeface="Montserrat"/>
                <a:cs typeface="Montserrat"/>
                <a:sym typeface="Montserrat"/>
              </a:rPr>
              <a:t>TIPOS DE RESTRICCIÓN: </a:t>
            </a:r>
            <a:endParaRPr b="1" sz="2907">
              <a:latin typeface="Montserrat"/>
              <a:ea typeface="Montserrat"/>
              <a:cs typeface="Montserrat"/>
              <a:sym typeface="Montserrat"/>
            </a:endParaRPr>
          </a:p>
          <a:p>
            <a:pPr indent="-413195" lvl="0" marL="457200" marR="0" rtl="0" algn="l">
              <a:lnSpc>
                <a:spcPct val="140041"/>
              </a:lnSpc>
              <a:spcBef>
                <a:spcPts val="0"/>
              </a:spcBef>
              <a:spcAft>
                <a:spcPts val="0"/>
              </a:spcAft>
              <a:buSzPts val="2907"/>
              <a:buFont typeface="Montserrat"/>
              <a:buChar char="●"/>
            </a:pPr>
            <a:r>
              <a:rPr lang="en-US" sz="2907">
                <a:latin typeface="Montserrat"/>
                <a:ea typeface="Montserrat"/>
                <a:cs typeface="Montserrat"/>
                <a:sym typeface="Montserrat"/>
              </a:rPr>
              <a:t>Tecnológica → Debe desarrollarse en Java </a:t>
            </a:r>
            <a:endParaRPr sz="2907">
              <a:latin typeface="Montserrat"/>
              <a:ea typeface="Montserrat"/>
              <a:cs typeface="Montserrat"/>
              <a:sym typeface="Montserrat"/>
            </a:endParaRPr>
          </a:p>
          <a:p>
            <a:pPr indent="-413195" lvl="0" marL="457200" marR="0" rtl="0" algn="l">
              <a:lnSpc>
                <a:spcPct val="140041"/>
              </a:lnSpc>
              <a:spcBef>
                <a:spcPts val="0"/>
              </a:spcBef>
              <a:spcAft>
                <a:spcPts val="0"/>
              </a:spcAft>
              <a:buSzPts val="2907"/>
              <a:buFont typeface="Montserrat"/>
              <a:buChar char="●"/>
            </a:pPr>
            <a:r>
              <a:rPr lang="en-US" sz="2907">
                <a:latin typeface="Montserrat"/>
                <a:ea typeface="Montserrat"/>
                <a:cs typeface="Montserrat"/>
                <a:sym typeface="Montserrat"/>
              </a:rPr>
              <a:t>Legal → Debe cumplir con la ley de protección de datos vigente en el país </a:t>
            </a:r>
            <a:endParaRPr sz="2907">
              <a:latin typeface="Montserrat"/>
              <a:ea typeface="Montserrat"/>
              <a:cs typeface="Montserrat"/>
              <a:sym typeface="Montserrat"/>
            </a:endParaRPr>
          </a:p>
          <a:p>
            <a:pPr indent="-413195" lvl="0" marL="457200" marR="0" rtl="0" algn="l">
              <a:lnSpc>
                <a:spcPct val="140041"/>
              </a:lnSpc>
              <a:spcBef>
                <a:spcPts val="0"/>
              </a:spcBef>
              <a:spcAft>
                <a:spcPts val="0"/>
              </a:spcAft>
              <a:buSzPts val="2907"/>
              <a:buFont typeface="Montserrat"/>
              <a:buChar char="●"/>
            </a:pPr>
            <a:r>
              <a:rPr lang="en-US" sz="2907">
                <a:latin typeface="Montserrat"/>
                <a:ea typeface="Montserrat"/>
                <a:cs typeface="Montserrat"/>
                <a:sym typeface="Montserrat"/>
              </a:rPr>
              <a:t>Presupuesto → No puede exceder $10,000 USD </a:t>
            </a:r>
            <a:endParaRPr sz="2907">
              <a:latin typeface="Montserrat"/>
              <a:ea typeface="Montserrat"/>
              <a:cs typeface="Montserrat"/>
              <a:sym typeface="Montserrat"/>
            </a:endParaRPr>
          </a:p>
          <a:p>
            <a:pPr indent="-413195" lvl="0" marL="457200" marR="0" rtl="0" algn="l">
              <a:lnSpc>
                <a:spcPct val="140041"/>
              </a:lnSpc>
              <a:spcBef>
                <a:spcPts val="0"/>
              </a:spcBef>
              <a:spcAft>
                <a:spcPts val="0"/>
              </a:spcAft>
              <a:buSzPts val="2907"/>
              <a:buFont typeface="Montserrat"/>
              <a:buChar char="●"/>
            </a:pPr>
            <a:r>
              <a:rPr lang="en-US" sz="2907">
                <a:latin typeface="Montserrat"/>
                <a:ea typeface="Montserrat"/>
                <a:cs typeface="Montserrat"/>
                <a:sym typeface="Montserrat"/>
              </a:rPr>
              <a:t> Interfaz → Debe integrarse con sistema SAP ya existente en la empresa </a:t>
            </a:r>
            <a:endParaRPr sz="2907">
              <a:latin typeface="Montserrat"/>
              <a:ea typeface="Montserrat"/>
              <a:cs typeface="Montserrat"/>
              <a:sym typeface="Montserrat"/>
            </a:endParaRPr>
          </a:p>
          <a:p>
            <a:pPr indent="-413195" lvl="0" marL="457200" marR="0" rtl="0" algn="l">
              <a:lnSpc>
                <a:spcPct val="140041"/>
              </a:lnSpc>
              <a:spcBef>
                <a:spcPts val="0"/>
              </a:spcBef>
              <a:spcAft>
                <a:spcPts val="0"/>
              </a:spcAft>
              <a:buSzPts val="2907"/>
              <a:buFont typeface="Montserrat"/>
              <a:buChar char="●"/>
            </a:pPr>
            <a:r>
              <a:rPr lang="en-US" sz="2907">
                <a:latin typeface="Montserrat"/>
                <a:ea typeface="Montserrat"/>
                <a:cs typeface="Montserrat"/>
                <a:sym typeface="Montserrat"/>
              </a:rPr>
              <a:t>Organizacional → Debe seguir los estándares internos del departamento de TI</a:t>
            </a:r>
            <a:endParaRPr sz="2907">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385" name="Shape 385"/>
        <p:cNvGrpSpPr/>
        <p:nvPr/>
      </p:nvGrpSpPr>
      <p:grpSpPr>
        <a:xfrm>
          <a:off x="0" y="0"/>
          <a:ext cx="0" cy="0"/>
          <a:chOff x="0" y="0"/>
          <a:chExt cx="0" cy="0"/>
        </a:xfrm>
      </p:grpSpPr>
      <p:sp>
        <p:nvSpPr>
          <p:cNvPr id="386" name="Google Shape;386;g39ab1374e1b_0_352"/>
          <p:cNvSpPr/>
          <p:nvPr/>
        </p:nvSpPr>
        <p:spPr>
          <a:xfrm rot="-1971343">
            <a:off x="17167261" y="-1169177"/>
            <a:ext cx="5328220" cy="5288258"/>
          </a:xfrm>
          <a:custGeom>
            <a:rect b="b" l="l" r="r" t="t"/>
            <a:pathLst>
              <a:path extrusionOk="0" h="5288506" w="5328470">
                <a:moveTo>
                  <a:pt x="0" y="0"/>
                </a:moveTo>
                <a:lnTo>
                  <a:pt x="5328470" y="0"/>
                </a:lnTo>
                <a:lnTo>
                  <a:pt x="5328470" y="5288506"/>
                </a:lnTo>
                <a:lnTo>
                  <a:pt x="0" y="5288506"/>
                </a:lnTo>
                <a:lnTo>
                  <a:pt x="0" y="0"/>
                </a:lnTo>
                <a:close/>
              </a:path>
            </a:pathLst>
          </a:custGeom>
          <a:blipFill rotWithShape="1">
            <a:blip r:embed="rId3">
              <a:alphaModFix/>
            </a:blip>
            <a:stretch>
              <a:fillRect b="0" l="0" r="0" t="0"/>
            </a:stretch>
          </a:blipFill>
          <a:ln>
            <a:noFill/>
          </a:ln>
        </p:spPr>
      </p:sp>
      <p:sp>
        <p:nvSpPr>
          <p:cNvPr id="387" name="Google Shape;387;g39ab1374e1b_0_352"/>
          <p:cNvSpPr/>
          <p:nvPr/>
        </p:nvSpPr>
        <p:spPr>
          <a:xfrm flipH="1">
            <a:off x="-325893" y="-149361"/>
            <a:ext cx="1897814" cy="1999452"/>
          </a:xfrm>
          <a:custGeom>
            <a:rect b="b" l="l" r="r" t="t"/>
            <a:pathLst>
              <a:path extrusionOk="0" h="1999452" w="1897814">
                <a:moveTo>
                  <a:pt x="1897814" y="0"/>
                </a:moveTo>
                <a:lnTo>
                  <a:pt x="0" y="0"/>
                </a:lnTo>
                <a:lnTo>
                  <a:pt x="0" y="1999453"/>
                </a:lnTo>
                <a:lnTo>
                  <a:pt x="1897814" y="1999453"/>
                </a:lnTo>
                <a:lnTo>
                  <a:pt x="1897814" y="0"/>
                </a:lnTo>
                <a:close/>
              </a:path>
            </a:pathLst>
          </a:custGeom>
          <a:blipFill rotWithShape="1">
            <a:blip r:embed="rId4">
              <a:alphaModFix/>
            </a:blip>
            <a:stretch>
              <a:fillRect b="0" l="0" r="0" t="0"/>
            </a:stretch>
          </a:blipFill>
          <a:ln>
            <a:noFill/>
          </a:ln>
        </p:spPr>
      </p:sp>
      <p:pic>
        <p:nvPicPr>
          <p:cNvPr id="388" name="Google Shape;388;g39ab1374e1b_0_352"/>
          <p:cNvPicPr preferRelativeResize="0"/>
          <p:nvPr/>
        </p:nvPicPr>
        <p:blipFill>
          <a:blip r:embed="rId5">
            <a:alphaModFix/>
          </a:blip>
          <a:stretch>
            <a:fillRect/>
          </a:stretch>
        </p:blipFill>
        <p:spPr>
          <a:xfrm>
            <a:off x="1707293" y="1083813"/>
            <a:ext cx="14873408" cy="811937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392" name="Shape 392"/>
        <p:cNvGrpSpPr/>
        <p:nvPr/>
      </p:nvGrpSpPr>
      <p:grpSpPr>
        <a:xfrm>
          <a:off x="0" y="0"/>
          <a:ext cx="0" cy="0"/>
          <a:chOff x="0" y="0"/>
          <a:chExt cx="0" cy="0"/>
        </a:xfrm>
      </p:grpSpPr>
      <p:sp>
        <p:nvSpPr>
          <p:cNvPr id="393" name="Google Shape;393;g39ab1374e1b_0_358"/>
          <p:cNvSpPr/>
          <p:nvPr/>
        </p:nvSpPr>
        <p:spPr>
          <a:xfrm rot="-1971343">
            <a:off x="17167261" y="-1169177"/>
            <a:ext cx="5328220" cy="5288258"/>
          </a:xfrm>
          <a:custGeom>
            <a:rect b="b" l="l" r="r" t="t"/>
            <a:pathLst>
              <a:path extrusionOk="0" h="5288506" w="5328470">
                <a:moveTo>
                  <a:pt x="0" y="0"/>
                </a:moveTo>
                <a:lnTo>
                  <a:pt x="5328470" y="0"/>
                </a:lnTo>
                <a:lnTo>
                  <a:pt x="5328470" y="5288506"/>
                </a:lnTo>
                <a:lnTo>
                  <a:pt x="0" y="5288506"/>
                </a:lnTo>
                <a:lnTo>
                  <a:pt x="0" y="0"/>
                </a:lnTo>
                <a:close/>
              </a:path>
            </a:pathLst>
          </a:custGeom>
          <a:blipFill rotWithShape="1">
            <a:blip r:embed="rId3">
              <a:alphaModFix/>
            </a:blip>
            <a:stretch>
              <a:fillRect b="0" l="0" r="0" t="0"/>
            </a:stretch>
          </a:blipFill>
          <a:ln>
            <a:noFill/>
          </a:ln>
        </p:spPr>
      </p:sp>
      <p:sp>
        <p:nvSpPr>
          <p:cNvPr id="394" name="Google Shape;394;g39ab1374e1b_0_358"/>
          <p:cNvSpPr/>
          <p:nvPr/>
        </p:nvSpPr>
        <p:spPr>
          <a:xfrm flipH="1">
            <a:off x="-325893" y="-149361"/>
            <a:ext cx="1897814" cy="1999452"/>
          </a:xfrm>
          <a:custGeom>
            <a:rect b="b" l="l" r="r" t="t"/>
            <a:pathLst>
              <a:path extrusionOk="0" h="1999452" w="1897814">
                <a:moveTo>
                  <a:pt x="1897814" y="0"/>
                </a:moveTo>
                <a:lnTo>
                  <a:pt x="0" y="0"/>
                </a:lnTo>
                <a:lnTo>
                  <a:pt x="0" y="1999453"/>
                </a:lnTo>
                <a:lnTo>
                  <a:pt x="1897814" y="1999453"/>
                </a:lnTo>
                <a:lnTo>
                  <a:pt x="1897814" y="0"/>
                </a:lnTo>
                <a:close/>
              </a:path>
            </a:pathLst>
          </a:custGeom>
          <a:blipFill rotWithShape="1">
            <a:blip r:embed="rId4">
              <a:alphaModFix/>
            </a:blip>
            <a:stretch>
              <a:fillRect b="0" l="0" r="0" t="0"/>
            </a:stretch>
          </a:blipFill>
          <a:ln>
            <a:noFill/>
          </a:ln>
        </p:spPr>
      </p:sp>
      <p:sp>
        <p:nvSpPr>
          <p:cNvPr id="395" name="Google Shape;395;g39ab1374e1b_0_358"/>
          <p:cNvSpPr txBox="1"/>
          <p:nvPr/>
        </p:nvSpPr>
        <p:spPr>
          <a:xfrm>
            <a:off x="1571925" y="1443125"/>
            <a:ext cx="15238200" cy="133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500">
                <a:solidFill>
                  <a:srgbClr val="014753"/>
                </a:solidFill>
                <a:latin typeface="Montserrat"/>
                <a:ea typeface="Montserrat"/>
                <a:cs typeface="Montserrat"/>
                <a:sym typeface="Montserrat"/>
              </a:rPr>
              <a:t>Plantilla formal de Requerimiento de Restricción</a:t>
            </a:r>
            <a:endParaRPr b="1" sz="4500">
              <a:solidFill>
                <a:srgbClr val="014753"/>
              </a:solidFill>
              <a:latin typeface="Montserrat"/>
              <a:ea typeface="Montserrat"/>
              <a:cs typeface="Montserrat"/>
              <a:sym typeface="Montserrat"/>
            </a:endParaRPr>
          </a:p>
          <a:p>
            <a:pPr indent="0" lvl="0" marL="0" marR="0" rtl="0" algn="l">
              <a:lnSpc>
                <a:spcPct val="140000"/>
              </a:lnSpc>
              <a:spcBef>
                <a:spcPts val="0"/>
              </a:spcBef>
              <a:spcAft>
                <a:spcPts val="0"/>
              </a:spcAft>
              <a:buNone/>
            </a:pPr>
            <a:r>
              <a:rPr lang="en-US" sz="4200">
                <a:solidFill>
                  <a:srgbClr val="014753"/>
                </a:solidFill>
                <a:latin typeface="Montserrat"/>
                <a:ea typeface="Montserrat"/>
                <a:cs typeface="Montserrat"/>
                <a:sym typeface="Montserrat"/>
              </a:rPr>
              <a:t>Referencia: IEEE 830</a:t>
            </a:r>
            <a:endParaRPr sz="4200">
              <a:solidFill>
                <a:srgbClr val="014753"/>
              </a:solidFill>
              <a:latin typeface="Montserrat"/>
              <a:ea typeface="Montserrat"/>
              <a:cs typeface="Montserrat"/>
              <a:sym typeface="Montserrat"/>
            </a:endParaRPr>
          </a:p>
        </p:txBody>
      </p:sp>
      <p:graphicFrame>
        <p:nvGraphicFramePr>
          <p:cNvPr id="396" name="Google Shape;396;g39ab1374e1b_0_358"/>
          <p:cNvGraphicFramePr/>
          <p:nvPr/>
        </p:nvGraphicFramePr>
        <p:xfrm>
          <a:off x="2508538" y="3429000"/>
          <a:ext cx="3000000" cy="3000000"/>
        </p:xfrm>
        <a:graphic>
          <a:graphicData uri="http://schemas.openxmlformats.org/drawingml/2006/table">
            <a:tbl>
              <a:tblPr>
                <a:noFill/>
                <a:tableStyleId>{5672B294-9F4D-4053-8CF6-60F6C0413512}</a:tableStyleId>
              </a:tblPr>
              <a:tblGrid>
                <a:gridCol w="3513250"/>
                <a:gridCol w="9476475"/>
              </a:tblGrid>
              <a:tr h="466775">
                <a:tc>
                  <a:txBody>
                    <a:bodyPr/>
                    <a:lstStyle/>
                    <a:p>
                      <a:pPr indent="0" lvl="0" marL="0" rtl="0" algn="ctr">
                        <a:lnSpc>
                          <a:spcPct val="115000"/>
                        </a:lnSpc>
                        <a:spcBef>
                          <a:spcPts val="0"/>
                        </a:spcBef>
                        <a:spcAft>
                          <a:spcPts val="0"/>
                        </a:spcAft>
                        <a:buNone/>
                      </a:pPr>
                      <a:r>
                        <a:rPr b="1" lang="en-US" sz="2200">
                          <a:latin typeface="Montserrat"/>
                          <a:ea typeface="Montserrat"/>
                          <a:cs typeface="Montserrat"/>
                          <a:sym typeface="Montserrat"/>
                        </a:rPr>
                        <a:t>CAMPO</a:t>
                      </a:r>
                      <a:endParaRPr b="1"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US" sz="2200">
                          <a:latin typeface="Montserrat"/>
                          <a:ea typeface="Montserrat"/>
                          <a:cs typeface="Montserrat"/>
                          <a:sym typeface="Montserrat"/>
                        </a:rPr>
                        <a:t>CONTENIDO</a:t>
                      </a:r>
                      <a:endParaRPr b="1"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EFEFEF"/>
                    </a:solidFill>
                  </a:tcPr>
                </a:tc>
              </a:tr>
              <a:tr h="466775">
                <a:tc>
                  <a:txBody>
                    <a:bodyPr/>
                    <a:lstStyle/>
                    <a:p>
                      <a:pPr indent="0" lvl="0" marL="0" rtl="0" algn="l">
                        <a:lnSpc>
                          <a:spcPct val="115000"/>
                        </a:lnSpc>
                        <a:spcBef>
                          <a:spcPts val="0"/>
                        </a:spcBef>
                        <a:spcAft>
                          <a:spcPts val="0"/>
                        </a:spcAft>
                        <a:buNone/>
                      </a:pPr>
                      <a:r>
                        <a:rPr b="1" lang="en-US" sz="2200">
                          <a:latin typeface="Montserrat"/>
                          <a:ea typeface="Montserrat"/>
                          <a:cs typeface="Montserrat"/>
                          <a:sym typeface="Montserrat"/>
                        </a:rPr>
                        <a:t>ID</a:t>
                      </a:r>
                      <a:endParaRPr b="1"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200">
                          <a:latin typeface="Montserrat"/>
                          <a:ea typeface="Montserrat"/>
                          <a:cs typeface="Montserrat"/>
                          <a:sym typeface="Montserrat"/>
                        </a:rPr>
                        <a:t>RR-001 </a:t>
                      </a:r>
                      <a:endParaRPr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66775">
                <a:tc>
                  <a:txBody>
                    <a:bodyPr/>
                    <a:lstStyle/>
                    <a:p>
                      <a:pPr indent="0" lvl="0" marL="0" rtl="0" algn="l">
                        <a:lnSpc>
                          <a:spcPct val="115000"/>
                        </a:lnSpc>
                        <a:spcBef>
                          <a:spcPts val="0"/>
                        </a:spcBef>
                        <a:spcAft>
                          <a:spcPts val="0"/>
                        </a:spcAft>
                        <a:buNone/>
                      </a:pPr>
                      <a:r>
                        <a:rPr b="1" lang="en-US" sz="2200">
                          <a:latin typeface="Montserrat"/>
                          <a:ea typeface="Montserrat"/>
                          <a:cs typeface="Montserrat"/>
                          <a:sym typeface="Montserrat"/>
                        </a:rPr>
                        <a:t>Nombre  </a:t>
                      </a:r>
                      <a:endParaRPr b="1"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200">
                          <a:latin typeface="Montserrat"/>
                          <a:ea typeface="Montserrat"/>
                          <a:cs typeface="Montserrat"/>
                          <a:sym typeface="Montserrat"/>
                        </a:rPr>
                        <a:t>Nombre corto de la restricción</a:t>
                      </a:r>
                      <a:endParaRPr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66775">
                <a:tc>
                  <a:txBody>
                    <a:bodyPr/>
                    <a:lstStyle/>
                    <a:p>
                      <a:pPr indent="0" lvl="0" marL="0" rtl="0" algn="l">
                        <a:lnSpc>
                          <a:spcPct val="115000"/>
                        </a:lnSpc>
                        <a:spcBef>
                          <a:spcPts val="0"/>
                        </a:spcBef>
                        <a:spcAft>
                          <a:spcPts val="0"/>
                        </a:spcAft>
                        <a:buNone/>
                      </a:pPr>
                      <a:r>
                        <a:rPr b="1" lang="en-US" sz="2200">
                          <a:latin typeface="Montserrat"/>
                          <a:ea typeface="Montserrat"/>
                          <a:cs typeface="Montserrat"/>
                          <a:sym typeface="Montserrat"/>
                        </a:rPr>
                        <a:t>Descripción</a:t>
                      </a:r>
                      <a:endParaRPr b="1"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200">
                          <a:latin typeface="Montserrat"/>
                          <a:ea typeface="Montserrat"/>
                          <a:cs typeface="Montserrat"/>
                          <a:sym typeface="Montserrat"/>
                        </a:rPr>
                        <a:t>Qué limita y por qué</a:t>
                      </a:r>
                      <a:endParaRPr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831650">
                <a:tc>
                  <a:txBody>
                    <a:bodyPr/>
                    <a:lstStyle/>
                    <a:p>
                      <a:pPr indent="0" lvl="0" marL="0" rtl="0" algn="l">
                        <a:lnSpc>
                          <a:spcPct val="115000"/>
                        </a:lnSpc>
                        <a:spcBef>
                          <a:spcPts val="0"/>
                        </a:spcBef>
                        <a:spcAft>
                          <a:spcPts val="0"/>
                        </a:spcAft>
                        <a:buNone/>
                      </a:pPr>
                      <a:r>
                        <a:rPr b="1" lang="en-US" sz="2200">
                          <a:latin typeface="Montserrat"/>
                          <a:ea typeface="Montserrat"/>
                          <a:cs typeface="Montserrat"/>
                          <a:sym typeface="Montserrat"/>
                        </a:rPr>
                        <a:t>Categoría</a:t>
                      </a:r>
                      <a:endParaRPr b="1"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200">
                          <a:latin typeface="Montserrat"/>
                          <a:ea typeface="Montserrat"/>
                          <a:cs typeface="Montserrat"/>
                          <a:sym typeface="Montserrat"/>
                        </a:rPr>
                        <a:t>Tecnológica / Legal / Presupuesto /Interfaz / Organizacional </a:t>
                      </a:r>
                      <a:endParaRPr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66775">
                <a:tc>
                  <a:txBody>
                    <a:bodyPr/>
                    <a:lstStyle/>
                    <a:p>
                      <a:pPr indent="0" lvl="0" marL="0" rtl="0" algn="l">
                        <a:lnSpc>
                          <a:spcPct val="115000"/>
                        </a:lnSpc>
                        <a:spcBef>
                          <a:spcPts val="0"/>
                        </a:spcBef>
                        <a:spcAft>
                          <a:spcPts val="0"/>
                        </a:spcAft>
                        <a:buNone/>
                      </a:pPr>
                      <a:r>
                        <a:rPr b="1" lang="en-US" sz="2200">
                          <a:latin typeface="Montserrat"/>
                          <a:ea typeface="Montserrat"/>
                          <a:cs typeface="Montserrat"/>
                          <a:sym typeface="Montserrat"/>
                        </a:rPr>
                        <a:t>Fuente</a:t>
                      </a:r>
                      <a:endParaRPr b="1"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200">
                          <a:latin typeface="Montserrat"/>
                          <a:ea typeface="Montserrat"/>
                          <a:cs typeface="Montserrat"/>
                          <a:sym typeface="Montserrat"/>
                        </a:rPr>
                        <a:t>Quién impone esta restricción</a:t>
                      </a:r>
                      <a:endParaRPr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66775">
                <a:tc>
                  <a:txBody>
                    <a:bodyPr/>
                    <a:lstStyle/>
                    <a:p>
                      <a:pPr indent="0" lvl="0" marL="0" rtl="0" algn="l">
                        <a:lnSpc>
                          <a:spcPct val="115000"/>
                        </a:lnSpc>
                        <a:spcBef>
                          <a:spcPts val="0"/>
                        </a:spcBef>
                        <a:spcAft>
                          <a:spcPts val="0"/>
                        </a:spcAft>
                        <a:buNone/>
                      </a:pPr>
                      <a:r>
                        <a:rPr b="1" lang="en-US" sz="2200">
                          <a:latin typeface="Montserrat"/>
                          <a:ea typeface="Montserrat"/>
                          <a:cs typeface="Montserrat"/>
                          <a:sym typeface="Montserrat"/>
                        </a:rPr>
                        <a:t>Impacto</a:t>
                      </a:r>
                      <a:endParaRPr b="1"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200">
                          <a:latin typeface="Montserrat"/>
                          <a:ea typeface="Montserrat"/>
                          <a:cs typeface="Montserrat"/>
                          <a:sym typeface="Montserrat"/>
                        </a:rPr>
                        <a:t>Qué áreas del sistema afecta</a:t>
                      </a:r>
                      <a:endParaRPr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66775">
                <a:tc>
                  <a:txBody>
                    <a:bodyPr/>
                    <a:lstStyle/>
                    <a:p>
                      <a:pPr indent="0" lvl="0" marL="0" rtl="0" algn="l">
                        <a:lnSpc>
                          <a:spcPct val="115000"/>
                        </a:lnSpc>
                        <a:spcBef>
                          <a:spcPts val="0"/>
                        </a:spcBef>
                        <a:spcAft>
                          <a:spcPts val="0"/>
                        </a:spcAft>
                        <a:buNone/>
                      </a:pPr>
                      <a:r>
                        <a:rPr b="1" lang="en-US" sz="2200">
                          <a:latin typeface="Montserrat"/>
                          <a:ea typeface="Montserrat"/>
                          <a:cs typeface="Montserrat"/>
                          <a:sym typeface="Montserrat"/>
                        </a:rPr>
                        <a:t>Verificación</a:t>
                      </a:r>
                      <a:endParaRPr b="1"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200">
                          <a:latin typeface="Montserrat"/>
                          <a:ea typeface="Montserrat"/>
                          <a:cs typeface="Montserrat"/>
                          <a:sym typeface="Montserrat"/>
                        </a:rPr>
                        <a:t>¿Cómo se comprueba que se cumple?</a:t>
                      </a:r>
                      <a:endParaRPr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66775">
                <a:tc>
                  <a:txBody>
                    <a:bodyPr/>
                    <a:lstStyle/>
                    <a:p>
                      <a:pPr indent="0" lvl="0" marL="0" rtl="0" algn="l">
                        <a:lnSpc>
                          <a:spcPct val="115000"/>
                        </a:lnSpc>
                        <a:spcBef>
                          <a:spcPts val="0"/>
                        </a:spcBef>
                        <a:spcAft>
                          <a:spcPts val="0"/>
                        </a:spcAft>
                        <a:buNone/>
                      </a:pPr>
                      <a:r>
                        <a:rPr b="1" lang="en-US" sz="2200">
                          <a:latin typeface="Montserrat"/>
                          <a:ea typeface="Montserrat"/>
                          <a:cs typeface="Montserrat"/>
                          <a:sym typeface="Montserrat"/>
                        </a:rPr>
                        <a:t>Prioridad </a:t>
                      </a:r>
                      <a:endParaRPr b="1"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200">
                          <a:latin typeface="Montserrat"/>
                          <a:ea typeface="Montserrat"/>
                          <a:cs typeface="Montserrat"/>
                          <a:sym typeface="Montserrat"/>
                        </a:rPr>
                        <a:t>Alta / Media / Baja</a:t>
                      </a:r>
                      <a:endParaRPr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400" name="Shape 400"/>
        <p:cNvGrpSpPr/>
        <p:nvPr/>
      </p:nvGrpSpPr>
      <p:grpSpPr>
        <a:xfrm>
          <a:off x="0" y="0"/>
          <a:ext cx="0" cy="0"/>
          <a:chOff x="0" y="0"/>
          <a:chExt cx="0" cy="0"/>
        </a:xfrm>
      </p:grpSpPr>
      <p:sp>
        <p:nvSpPr>
          <p:cNvPr id="401" name="Google Shape;401;g39ab1374e1b_0_365"/>
          <p:cNvSpPr/>
          <p:nvPr/>
        </p:nvSpPr>
        <p:spPr>
          <a:xfrm rot="-1971343">
            <a:off x="17167261" y="-1169177"/>
            <a:ext cx="5328220" cy="5288258"/>
          </a:xfrm>
          <a:custGeom>
            <a:rect b="b" l="l" r="r" t="t"/>
            <a:pathLst>
              <a:path extrusionOk="0" h="5288506" w="5328470">
                <a:moveTo>
                  <a:pt x="0" y="0"/>
                </a:moveTo>
                <a:lnTo>
                  <a:pt x="5328470" y="0"/>
                </a:lnTo>
                <a:lnTo>
                  <a:pt x="5328470" y="5288506"/>
                </a:lnTo>
                <a:lnTo>
                  <a:pt x="0" y="5288506"/>
                </a:lnTo>
                <a:lnTo>
                  <a:pt x="0" y="0"/>
                </a:lnTo>
                <a:close/>
              </a:path>
            </a:pathLst>
          </a:custGeom>
          <a:blipFill rotWithShape="1">
            <a:blip r:embed="rId3">
              <a:alphaModFix/>
            </a:blip>
            <a:stretch>
              <a:fillRect b="0" l="0" r="0" t="0"/>
            </a:stretch>
          </a:blipFill>
          <a:ln>
            <a:noFill/>
          </a:ln>
        </p:spPr>
      </p:sp>
      <p:sp>
        <p:nvSpPr>
          <p:cNvPr id="402" name="Google Shape;402;g39ab1374e1b_0_365"/>
          <p:cNvSpPr/>
          <p:nvPr/>
        </p:nvSpPr>
        <p:spPr>
          <a:xfrm flipH="1">
            <a:off x="-325893" y="-149361"/>
            <a:ext cx="1897814" cy="1999452"/>
          </a:xfrm>
          <a:custGeom>
            <a:rect b="b" l="l" r="r" t="t"/>
            <a:pathLst>
              <a:path extrusionOk="0" h="1999452" w="1897814">
                <a:moveTo>
                  <a:pt x="1897814" y="0"/>
                </a:moveTo>
                <a:lnTo>
                  <a:pt x="0" y="0"/>
                </a:lnTo>
                <a:lnTo>
                  <a:pt x="0" y="1999453"/>
                </a:lnTo>
                <a:lnTo>
                  <a:pt x="1897814" y="1999453"/>
                </a:lnTo>
                <a:lnTo>
                  <a:pt x="1897814" y="0"/>
                </a:lnTo>
                <a:close/>
              </a:path>
            </a:pathLst>
          </a:custGeom>
          <a:blipFill rotWithShape="1">
            <a:blip r:embed="rId4">
              <a:alphaModFix/>
            </a:blip>
            <a:stretch>
              <a:fillRect b="0" l="0" r="0" t="0"/>
            </a:stretch>
          </a:blipFill>
          <a:ln>
            <a:noFill/>
          </a:ln>
        </p:spPr>
      </p:sp>
      <p:sp>
        <p:nvSpPr>
          <p:cNvPr id="403" name="Google Shape;403;g39ab1374e1b_0_365"/>
          <p:cNvSpPr txBox="1"/>
          <p:nvPr/>
        </p:nvSpPr>
        <p:spPr>
          <a:xfrm>
            <a:off x="1571925" y="1443125"/>
            <a:ext cx="15238200" cy="133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500">
                <a:solidFill>
                  <a:srgbClr val="014753"/>
                </a:solidFill>
                <a:latin typeface="Montserrat"/>
                <a:ea typeface="Montserrat"/>
                <a:cs typeface="Montserrat"/>
                <a:sym typeface="Montserrat"/>
              </a:rPr>
              <a:t>Plantilla formal de Requerimiento de Restricción</a:t>
            </a:r>
            <a:endParaRPr b="1" sz="4500">
              <a:solidFill>
                <a:srgbClr val="014753"/>
              </a:solidFill>
              <a:latin typeface="Montserrat"/>
              <a:ea typeface="Montserrat"/>
              <a:cs typeface="Montserrat"/>
              <a:sym typeface="Montserrat"/>
            </a:endParaRPr>
          </a:p>
          <a:p>
            <a:pPr indent="0" lvl="0" marL="0" marR="0" rtl="0" algn="l">
              <a:lnSpc>
                <a:spcPct val="140000"/>
              </a:lnSpc>
              <a:spcBef>
                <a:spcPts val="0"/>
              </a:spcBef>
              <a:spcAft>
                <a:spcPts val="0"/>
              </a:spcAft>
              <a:buNone/>
            </a:pPr>
            <a:r>
              <a:rPr lang="en-US" sz="4200">
                <a:solidFill>
                  <a:srgbClr val="014753"/>
                </a:solidFill>
                <a:latin typeface="Montserrat"/>
                <a:ea typeface="Montserrat"/>
                <a:cs typeface="Montserrat"/>
                <a:sym typeface="Montserrat"/>
              </a:rPr>
              <a:t>Ejemplo</a:t>
            </a:r>
            <a:endParaRPr sz="4200">
              <a:solidFill>
                <a:srgbClr val="014753"/>
              </a:solidFill>
              <a:latin typeface="Montserrat"/>
              <a:ea typeface="Montserrat"/>
              <a:cs typeface="Montserrat"/>
              <a:sym typeface="Montserrat"/>
            </a:endParaRPr>
          </a:p>
        </p:txBody>
      </p:sp>
      <p:graphicFrame>
        <p:nvGraphicFramePr>
          <p:cNvPr id="404" name="Google Shape;404;g39ab1374e1b_0_365"/>
          <p:cNvGraphicFramePr/>
          <p:nvPr/>
        </p:nvGraphicFramePr>
        <p:xfrm>
          <a:off x="2393063" y="3429000"/>
          <a:ext cx="3000000" cy="3000000"/>
        </p:xfrm>
        <a:graphic>
          <a:graphicData uri="http://schemas.openxmlformats.org/drawingml/2006/table">
            <a:tbl>
              <a:tblPr>
                <a:noFill/>
                <a:tableStyleId>{5672B294-9F4D-4053-8CF6-60F6C0413512}</a:tableStyleId>
              </a:tblPr>
              <a:tblGrid>
                <a:gridCol w="3556725"/>
                <a:gridCol w="9721650"/>
              </a:tblGrid>
              <a:tr h="449075">
                <a:tc>
                  <a:txBody>
                    <a:bodyPr/>
                    <a:lstStyle/>
                    <a:p>
                      <a:pPr indent="0" lvl="0" marL="0" rtl="0" algn="ctr">
                        <a:lnSpc>
                          <a:spcPct val="115000"/>
                        </a:lnSpc>
                        <a:spcBef>
                          <a:spcPts val="0"/>
                        </a:spcBef>
                        <a:spcAft>
                          <a:spcPts val="0"/>
                        </a:spcAft>
                        <a:buNone/>
                      </a:pPr>
                      <a:r>
                        <a:rPr b="1" lang="en-US" sz="2200">
                          <a:latin typeface="Montserrat"/>
                          <a:ea typeface="Montserrat"/>
                          <a:cs typeface="Montserrat"/>
                          <a:sym typeface="Montserrat"/>
                        </a:rPr>
                        <a:t>CAMPO</a:t>
                      </a:r>
                      <a:endParaRPr b="1"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US" sz="2200">
                          <a:latin typeface="Montserrat"/>
                          <a:ea typeface="Montserrat"/>
                          <a:cs typeface="Montserrat"/>
                          <a:sym typeface="Montserrat"/>
                        </a:rPr>
                        <a:t>CONTENIDO</a:t>
                      </a:r>
                      <a:endParaRPr b="1"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EFEFEF"/>
                    </a:solidFill>
                  </a:tcPr>
                </a:tc>
              </a:tr>
              <a:tr h="449075">
                <a:tc>
                  <a:txBody>
                    <a:bodyPr/>
                    <a:lstStyle/>
                    <a:p>
                      <a:pPr indent="0" lvl="0" marL="0" rtl="0" algn="l">
                        <a:lnSpc>
                          <a:spcPct val="115000"/>
                        </a:lnSpc>
                        <a:spcBef>
                          <a:spcPts val="0"/>
                        </a:spcBef>
                        <a:spcAft>
                          <a:spcPts val="0"/>
                        </a:spcAft>
                        <a:buNone/>
                      </a:pPr>
                      <a:r>
                        <a:rPr b="1" lang="en-US" sz="2200">
                          <a:latin typeface="Montserrat"/>
                          <a:ea typeface="Montserrat"/>
                          <a:cs typeface="Montserrat"/>
                          <a:sym typeface="Montserrat"/>
                        </a:rPr>
                        <a:t>ID</a:t>
                      </a:r>
                      <a:endParaRPr b="1"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200">
                          <a:latin typeface="Montserrat"/>
                          <a:ea typeface="Montserrat"/>
                          <a:cs typeface="Montserrat"/>
                          <a:sym typeface="Montserrat"/>
                        </a:rPr>
                        <a:t>RR-001 </a:t>
                      </a:r>
                      <a:endParaRPr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200">
                          <a:latin typeface="Montserrat"/>
                          <a:ea typeface="Montserrat"/>
                          <a:cs typeface="Montserrat"/>
                          <a:sym typeface="Montserrat"/>
                        </a:rPr>
                        <a:t>Nombre  </a:t>
                      </a:r>
                      <a:endParaRPr b="1"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200">
                          <a:latin typeface="Montserrat"/>
                          <a:ea typeface="Montserrat"/>
                          <a:cs typeface="Montserrat"/>
                          <a:sym typeface="Montserrat"/>
                        </a:rPr>
                        <a:t>Lenguaje de desarrollo backend</a:t>
                      </a:r>
                      <a:endParaRPr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892475">
                <a:tc>
                  <a:txBody>
                    <a:bodyPr/>
                    <a:lstStyle/>
                    <a:p>
                      <a:pPr indent="0" lvl="0" marL="0" rtl="0" algn="l">
                        <a:lnSpc>
                          <a:spcPct val="115000"/>
                        </a:lnSpc>
                        <a:spcBef>
                          <a:spcPts val="0"/>
                        </a:spcBef>
                        <a:spcAft>
                          <a:spcPts val="0"/>
                        </a:spcAft>
                        <a:buNone/>
                      </a:pPr>
                      <a:r>
                        <a:rPr b="1" lang="en-US" sz="2200">
                          <a:latin typeface="Montserrat"/>
                          <a:ea typeface="Montserrat"/>
                          <a:cs typeface="Montserrat"/>
                          <a:sym typeface="Montserrat"/>
                        </a:rPr>
                        <a:t>Descripción</a:t>
                      </a:r>
                      <a:endParaRPr b="1"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200">
                          <a:latin typeface="Montserrat"/>
                          <a:ea typeface="Montserrat"/>
                          <a:cs typeface="Montserrat"/>
                          <a:sym typeface="Montserrat"/>
                        </a:rPr>
                        <a:t>El sistema debe desarrollarse usando Java 17+ para el backend, ya que el equipo de TI solo da soporte a esta tecnología.</a:t>
                      </a:r>
                      <a:endParaRPr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200">
                          <a:latin typeface="Montserrat"/>
                          <a:ea typeface="Montserrat"/>
                          <a:cs typeface="Montserrat"/>
                          <a:sym typeface="Montserrat"/>
                        </a:rPr>
                        <a:t>Categoría</a:t>
                      </a:r>
                      <a:endParaRPr b="1"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200">
                          <a:latin typeface="Montserrat"/>
                          <a:ea typeface="Montserrat"/>
                          <a:cs typeface="Montserrat"/>
                          <a:sym typeface="Montserrat"/>
                        </a:rPr>
                        <a:t>Tecnológica / Organizacional</a:t>
                      </a:r>
                      <a:endParaRPr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200">
                          <a:latin typeface="Montserrat"/>
                          <a:ea typeface="Montserrat"/>
                          <a:cs typeface="Montserrat"/>
                          <a:sym typeface="Montserrat"/>
                        </a:rPr>
                        <a:t>Fuente</a:t>
                      </a:r>
                      <a:endParaRPr b="1"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200">
                          <a:latin typeface="Montserrat"/>
                          <a:ea typeface="Montserrat"/>
                          <a:cs typeface="Montserrat"/>
                          <a:sym typeface="Montserrat"/>
                        </a:rPr>
                        <a:t>Departamento de TI de la institución</a:t>
                      </a:r>
                      <a:endParaRPr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800100">
                <a:tc>
                  <a:txBody>
                    <a:bodyPr/>
                    <a:lstStyle/>
                    <a:p>
                      <a:pPr indent="0" lvl="0" marL="0" rtl="0" algn="l">
                        <a:lnSpc>
                          <a:spcPct val="115000"/>
                        </a:lnSpc>
                        <a:spcBef>
                          <a:spcPts val="0"/>
                        </a:spcBef>
                        <a:spcAft>
                          <a:spcPts val="0"/>
                        </a:spcAft>
                        <a:buNone/>
                      </a:pPr>
                      <a:r>
                        <a:rPr b="1" lang="en-US" sz="2200">
                          <a:latin typeface="Montserrat"/>
                          <a:ea typeface="Montserrat"/>
                          <a:cs typeface="Montserrat"/>
                          <a:sym typeface="Montserrat"/>
                        </a:rPr>
                        <a:t>Impacto</a:t>
                      </a:r>
                      <a:endParaRPr b="1"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200">
                          <a:latin typeface="Montserrat"/>
                          <a:ea typeface="Montserrat"/>
                          <a:cs typeface="Montserrat"/>
                          <a:sym typeface="Montserrat"/>
                        </a:rPr>
                        <a:t>Arquitectura del servidor, frameworks disponibles, tiempo de desarrollo</a:t>
                      </a:r>
                      <a:endParaRPr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200">
                          <a:latin typeface="Montserrat"/>
                          <a:ea typeface="Montserrat"/>
                          <a:cs typeface="Montserrat"/>
                          <a:sym typeface="Montserrat"/>
                        </a:rPr>
                        <a:t>Verificación</a:t>
                      </a:r>
                      <a:endParaRPr b="1"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200">
                          <a:latin typeface="Montserrat"/>
                          <a:ea typeface="Montserrat"/>
                          <a:cs typeface="Montserrat"/>
                          <a:sym typeface="Montserrat"/>
                        </a:rPr>
                        <a:t>Revisión del código fuente y del ambiente de despliegue</a:t>
                      </a:r>
                      <a:endParaRPr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200">
                          <a:latin typeface="Montserrat"/>
                          <a:ea typeface="Montserrat"/>
                          <a:cs typeface="Montserrat"/>
                          <a:sym typeface="Montserrat"/>
                        </a:rPr>
                        <a:t>Prioridad </a:t>
                      </a:r>
                      <a:endParaRPr b="1"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200">
                          <a:latin typeface="Montserrat"/>
                          <a:ea typeface="Montserrat"/>
                          <a:cs typeface="Montserrat"/>
                          <a:sym typeface="Montserrat"/>
                        </a:rPr>
                        <a:t>Alta (no negociable)  </a:t>
                      </a:r>
                      <a:endParaRPr sz="22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408" name="Shape 408"/>
        <p:cNvGrpSpPr/>
        <p:nvPr/>
      </p:nvGrpSpPr>
      <p:grpSpPr>
        <a:xfrm>
          <a:off x="0" y="0"/>
          <a:ext cx="0" cy="0"/>
          <a:chOff x="0" y="0"/>
          <a:chExt cx="0" cy="0"/>
        </a:xfrm>
      </p:grpSpPr>
      <p:sp>
        <p:nvSpPr>
          <p:cNvPr id="409" name="Google Shape;409;g39ab1374e1b_0_372"/>
          <p:cNvSpPr/>
          <p:nvPr/>
        </p:nvSpPr>
        <p:spPr>
          <a:xfrm rot="-1971343">
            <a:off x="17167261" y="-1169177"/>
            <a:ext cx="5328220" cy="5288258"/>
          </a:xfrm>
          <a:custGeom>
            <a:rect b="b" l="l" r="r" t="t"/>
            <a:pathLst>
              <a:path extrusionOk="0" h="5288506" w="5328470">
                <a:moveTo>
                  <a:pt x="0" y="0"/>
                </a:moveTo>
                <a:lnTo>
                  <a:pt x="5328470" y="0"/>
                </a:lnTo>
                <a:lnTo>
                  <a:pt x="5328470" y="5288506"/>
                </a:lnTo>
                <a:lnTo>
                  <a:pt x="0" y="5288506"/>
                </a:lnTo>
                <a:lnTo>
                  <a:pt x="0" y="0"/>
                </a:lnTo>
                <a:close/>
              </a:path>
            </a:pathLst>
          </a:custGeom>
          <a:blipFill rotWithShape="1">
            <a:blip r:embed="rId3">
              <a:alphaModFix/>
            </a:blip>
            <a:stretch>
              <a:fillRect b="0" l="0" r="0" t="0"/>
            </a:stretch>
          </a:blipFill>
          <a:ln>
            <a:noFill/>
          </a:ln>
        </p:spPr>
      </p:sp>
      <p:sp>
        <p:nvSpPr>
          <p:cNvPr id="410" name="Google Shape;410;g39ab1374e1b_0_372"/>
          <p:cNvSpPr/>
          <p:nvPr/>
        </p:nvSpPr>
        <p:spPr>
          <a:xfrm flipH="1">
            <a:off x="-325893" y="-149361"/>
            <a:ext cx="1897814" cy="1999452"/>
          </a:xfrm>
          <a:custGeom>
            <a:rect b="b" l="l" r="r" t="t"/>
            <a:pathLst>
              <a:path extrusionOk="0" h="1999452" w="1897814">
                <a:moveTo>
                  <a:pt x="1897814" y="0"/>
                </a:moveTo>
                <a:lnTo>
                  <a:pt x="0" y="0"/>
                </a:lnTo>
                <a:lnTo>
                  <a:pt x="0" y="1999453"/>
                </a:lnTo>
                <a:lnTo>
                  <a:pt x="1897814" y="1999453"/>
                </a:lnTo>
                <a:lnTo>
                  <a:pt x="1897814" y="0"/>
                </a:lnTo>
                <a:close/>
              </a:path>
            </a:pathLst>
          </a:custGeom>
          <a:blipFill rotWithShape="1">
            <a:blip r:embed="rId4">
              <a:alphaModFix/>
            </a:blip>
            <a:stretch>
              <a:fillRect b="0" l="0" r="0" t="0"/>
            </a:stretch>
          </a:blipFill>
          <a:ln>
            <a:noFill/>
          </a:ln>
        </p:spPr>
      </p:sp>
      <p:sp>
        <p:nvSpPr>
          <p:cNvPr id="411" name="Google Shape;411;g39ab1374e1b_0_372"/>
          <p:cNvSpPr txBox="1"/>
          <p:nvPr/>
        </p:nvSpPr>
        <p:spPr>
          <a:xfrm>
            <a:off x="1571925" y="1443125"/>
            <a:ext cx="15093900"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4500">
                <a:solidFill>
                  <a:srgbClr val="014753"/>
                </a:solidFill>
                <a:latin typeface="Montserrat"/>
                <a:ea typeface="Montserrat"/>
                <a:cs typeface="Montserrat"/>
                <a:sym typeface="Montserrat"/>
              </a:rPr>
              <a:t>Plantilla formal de Requerimiento de Restricción Resumida</a:t>
            </a:r>
            <a:endParaRPr b="1" sz="4500">
              <a:solidFill>
                <a:srgbClr val="014753"/>
              </a:solidFill>
              <a:latin typeface="Montserrat"/>
              <a:ea typeface="Montserrat"/>
              <a:cs typeface="Montserrat"/>
              <a:sym typeface="Montserrat"/>
            </a:endParaRPr>
          </a:p>
        </p:txBody>
      </p:sp>
      <p:graphicFrame>
        <p:nvGraphicFramePr>
          <p:cNvPr id="412" name="Google Shape;412;g39ab1374e1b_0_372"/>
          <p:cNvGraphicFramePr/>
          <p:nvPr/>
        </p:nvGraphicFramePr>
        <p:xfrm>
          <a:off x="3183838" y="3401797"/>
          <a:ext cx="3000000" cy="3000000"/>
        </p:xfrm>
        <a:graphic>
          <a:graphicData uri="http://schemas.openxmlformats.org/drawingml/2006/table">
            <a:tbl>
              <a:tblPr>
                <a:noFill/>
                <a:tableStyleId>{5672B294-9F4D-4053-8CF6-60F6C0413512}</a:tableStyleId>
              </a:tblPr>
              <a:tblGrid>
                <a:gridCol w="3223975"/>
                <a:gridCol w="8696325"/>
              </a:tblGrid>
              <a:tr h="372275">
                <a:tc>
                  <a:txBody>
                    <a:bodyPr/>
                    <a:lstStyle/>
                    <a:p>
                      <a:pPr indent="0" lvl="0" marL="0" rtl="0" algn="ctr">
                        <a:lnSpc>
                          <a:spcPct val="115000"/>
                        </a:lnSpc>
                        <a:spcBef>
                          <a:spcPts val="0"/>
                        </a:spcBef>
                        <a:spcAft>
                          <a:spcPts val="0"/>
                        </a:spcAft>
                        <a:buNone/>
                      </a:pPr>
                      <a:r>
                        <a:rPr b="1" lang="en-US" sz="2000">
                          <a:latin typeface="Montserrat"/>
                          <a:ea typeface="Montserrat"/>
                          <a:cs typeface="Montserrat"/>
                          <a:sym typeface="Montserrat"/>
                        </a:rPr>
                        <a:t>CAMPO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US" sz="2000">
                          <a:latin typeface="Montserrat"/>
                          <a:ea typeface="Montserrat"/>
                          <a:cs typeface="Montserrat"/>
                          <a:sym typeface="Montserrat"/>
                        </a:rPr>
                        <a:t>CONTENIDO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EFEFEF"/>
                    </a:solidFill>
                  </a:tcPr>
                </a:tc>
              </a:tr>
              <a:tr h="3722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ID</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RF-001</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722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Descripción</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Qué limita el sistema </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806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Justificación</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Por qué existe esta restricción</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806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Impacto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Qué parte del sistema afecta </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graphicFrame>
        <p:nvGraphicFramePr>
          <p:cNvPr id="413" name="Google Shape;413;g39ab1374e1b_0_372"/>
          <p:cNvGraphicFramePr/>
          <p:nvPr/>
        </p:nvGraphicFramePr>
        <p:xfrm>
          <a:off x="3183838" y="6556022"/>
          <a:ext cx="3000000" cy="3000000"/>
        </p:xfrm>
        <a:graphic>
          <a:graphicData uri="http://schemas.openxmlformats.org/drawingml/2006/table">
            <a:tbl>
              <a:tblPr>
                <a:noFill/>
                <a:tableStyleId>{5672B294-9F4D-4053-8CF6-60F6C0413512}</a:tableStyleId>
              </a:tblPr>
              <a:tblGrid>
                <a:gridCol w="3223975"/>
                <a:gridCol w="8696325"/>
              </a:tblGrid>
              <a:tr h="372275">
                <a:tc>
                  <a:txBody>
                    <a:bodyPr/>
                    <a:lstStyle/>
                    <a:p>
                      <a:pPr indent="0" lvl="0" marL="0" rtl="0" algn="ctr">
                        <a:lnSpc>
                          <a:spcPct val="115000"/>
                        </a:lnSpc>
                        <a:spcBef>
                          <a:spcPts val="0"/>
                        </a:spcBef>
                        <a:spcAft>
                          <a:spcPts val="0"/>
                        </a:spcAft>
                        <a:buNone/>
                      </a:pPr>
                      <a:r>
                        <a:rPr b="1" lang="en-US" sz="2000">
                          <a:latin typeface="Montserrat"/>
                          <a:ea typeface="Montserrat"/>
                          <a:cs typeface="Montserrat"/>
                          <a:sym typeface="Montserrat"/>
                        </a:rPr>
                        <a:t>CAMPO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US" sz="2000">
                          <a:latin typeface="Montserrat"/>
                          <a:ea typeface="Montserrat"/>
                          <a:cs typeface="Montserrat"/>
                          <a:sym typeface="Montserrat"/>
                        </a:rPr>
                        <a:t>CONTENIDO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EFEFEF"/>
                    </a:solidFill>
                  </a:tcPr>
                </a:tc>
              </a:tr>
              <a:tr h="3722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ID</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RF-001</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722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Descripción</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El sistema debe desarrollarse en Java 17+ para el módulo backend.</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806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Justificación</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El departamento de TI de la institución  solo da soporte técnico a Java.</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806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Impacto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Selección de frameworks, herramientas y perfil del equipo de desarrollo</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417" name="Shape 417"/>
        <p:cNvGrpSpPr/>
        <p:nvPr/>
      </p:nvGrpSpPr>
      <p:grpSpPr>
        <a:xfrm>
          <a:off x="0" y="0"/>
          <a:ext cx="0" cy="0"/>
          <a:chOff x="0" y="0"/>
          <a:chExt cx="0" cy="0"/>
        </a:xfrm>
      </p:grpSpPr>
      <p:sp>
        <p:nvSpPr>
          <p:cNvPr id="418" name="Google Shape;418;g39ab1374e1b_0_380"/>
          <p:cNvSpPr/>
          <p:nvPr/>
        </p:nvSpPr>
        <p:spPr>
          <a:xfrm rot="-1971343">
            <a:off x="17167261" y="-1169177"/>
            <a:ext cx="5328220" cy="5288258"/>
          </a:xfrm>
          <a:custGeom>
            <a:rect b="b" l="l" r="r" t="t"/>
            <a:pathLst>
              <a:path extrusionOk="0" h="5288506" w="5328470">
                <a:moveTo>
                  <a:pt x="0" y="0"/>
                </a:moveTo>
                <a:lnTo>
                  <a:pt x="5328470" y="0"/>
                </a:lnTo>
                <a:lnTo>
                  <a:pt x="5328470" y="5288506"/>
                </a:lnTo>
                <a:lnTo>
                  <a:pt x="0" y="5288506"/>
                </a:lnTo>
                <a:lnTo>
                  <a:pt x="0" y="0"/>
                </a:lnTo>
                <a:close/>
              </a:path>
            </a:pathLst>
          </a:custGeom>
          <a:blipFill rotWithShape="1">
            <a:blip r:embed="rId3">
              <a:alphaModFix/>
            </a:blip>
            <a:stretch>
              <a:fillRect b="0" l="0" r="0" t="0"/>
            </a:stretch>
          </a:blipFill>
          <a:ln>
            <a:noFill/>
          </a:ln>
        </p:spPr>
      </p:sp>
      <p:sp>
        <p:nvSpPr>
          <p:cNvPr id="419" name="Google Shape;419;g39ab1374e1b_0_380"/>
          <p:cNvSpPr txBox="1"/>
          <p:nvPr/>
        </p:nvSpPr>
        <p:spPr>
          <a:xfrm>
            <a:off x="1564484" y="795213"/>
            <a:ext cx="16032900" cy="1649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357">
                <a:solidFill>
                  <a:srgbClr val="014753"/>
                </a:solidFill>
                <a:latin typeface="Montserrat"/>
                <a:ea typeface="Montserrat"/>
                <a:cs typeface="Montserrat"/>
                <a:sym typeface="Montserrat"/>
              </a:rPr>
              <a:t>REQUERIMIENTOS NO FUNCIONALES: CALIDAD</a:t>
            </a:r>
            <a:endParaRPr sz="600"/>
          </a:p>
        </p:txBody>
      </p:sp>
      <p:sp>
        <p:nvSpPr>
          <p:cNvPr id="420" name="Google Shape;420;g39ab1374e1b_0_380"/>
          <p:cNvSpPr/>
          <p:nvPr/>
        </p:nvSpPr>
        <p:spPr>
          <a:xfrm flipH="1">
            <a:off x="-325893" y="-149361"/>
            <a:ext cx="1897814" cy="1999452"/>
          </a:xfrm>
          <a:custGeom>
            <a:rect b="b" l="l" r="r" t="t"/>
            <a:pathLst>
              <a:path extrusionOk="0" h="1999452" w="1897814">
                <a:moveTo>
                  <a:pt x="1897814" y="0"/>
                </a:moveTo>
                <a:lnTo>
                  <a:pt x="0" y="0"/>
                </a:lnTo>
                <a:lnTo>
                  <a:pt x="0" y="1999453"/>
                </a:lnTo>
                <a:lnTo>
                  <a:pt x="1897814" y="1999453"/>
                </a:lnTo>
                <a:lnTo>
                  <a:pt x="1897814" y="0"/>
                </a:lnTo>
                <a:close/>
              </a:path>
            </a:pathLst>
          </a:custGeom>
          <a:blipFill rotWithShape="1">
            <a:blip r:embed="rId4">
              <a:alphaModFix/>
            </a:blip>
            <a:stretch>
              <a:fillRect b="0" l="0" r="0" t="0"/>
            </a:stretch>
          </a:blipFill>
          <a:ln>
            <a:noFill/>
          </a:ln>
        </p:spPr>
      </p:sp>
      <p:sp>
        <p:nvSpPr>
          <p:cNvPr id="421" name="Google Shape;421;g39ab1374e1b_0_380"/>
          <p:cNvSpPr txBox="1"/>
          <p:nvPr/>
        </p:nvSpPr>
        <p:spPr>
          <a:xfrm>
            <a:off x="1564475" y="3096034"/>
            <a:ext cx="15095700" cy="6087000"/>
          </a:xfrm>
          <a:prstGeom prst="rect">
            <a:avLst/>
          </a:prstGeom>
          <a:noFill/>
          <a:ln>
            <a:noFill/>
          </a:ln>
        </p:spPr>
        <p:txBody>
          <a:bodyPr anchorCtr="0" anchor="t" bIns="0" lIns="0" spcFirstLastPara="1" rIns="0" wrap="square" tIns="0">
            <a:spAutoFit/>
          </a:bodyPr>
          <a:lstStyle/>
          <a:p>
            <a:pPr indent="0" lvl="0" marL="0" marR="0" rtl="0" algn="l">
              <a:lnSpc>
                <a:spcPct val="140041"/>
              </a:lnSpc>
              <a:spcBef>
                <a:spcPts val="0"/>
              </a:spcBef>
              <a:spcAft>
                <a:spcPts val="0"/>
              </a:spcAft>
              <a:buNone/>
            </a:pPr>
            <a:r>
              <a:rPr lang="en-US" sz="2907">
                <a:latin typeface="Montserrat"/>
                <a:ea typeface="Montserrat"/>
                <a:cs typeface="Montserrat"/>
                <a:sym typeface="Montserrat"/>
              </a:rPr>
              <a:t>Son características que definen QUÉ TAN BIEN el sistema hace lo que tiene que hacer. </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rPr b="1" lang="en-US" sz="2907">
                <a:latin typeface="Montserrat"/>
                <a:ea typeface="Montserrat"/>
                <a:cs typeface="Montserrat"/>
                <a:sym typeface="Montserrat"/>
              </a:rPr>
              <a:t>También llamados: </a:t>
            </a:r>
            <a:endParaRPr b="1" sz="2907">
              <a:latin typeface="Montserrat"/>
              <a:ea typeface="Montserrat"/>
              <a:cs typeface="Montserrat"/>
              <a:sym typeface="Montserrat"/>
            </a:endParaRPr>
          </a:p>
          <a:p>
            <a:pPr indent="0" lvl="0" marL="0" marR="0" rtl="0" algn="l">
              <a:lnSpc>
                <a:spcPct val="140041"/>
              </a:lnSpc>
              <a:spcBef>
                <a:spcPts val="0"/>
              </a:spcBef>
              <a:spcAft>
                <a:spcPts val="0"/>
              </a:spcAft>
              <a:buNone/>
            </a:pPr>
            <a:r>
              <a:rPr lang="en-US" sz="2907">
                <a:latin typeface="Montserrat"/>
                <a:ea typeface="Montserrat"/>
                <a:cs typeface="Montserrat"/>
                <a:sym typeface="Montserrat"/>
              </a:rPr>
              <a:t>• Atributos de calidad</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rPr lang="en-US" sz="2907">
                <a:latin typeface="Montserrat"/>
                <a:ea typeface="Montserrat"/>
                <a:cs typeface="Montserrat"/>
                <a:sym typeface="Montserrat"/>
              </a:rPr>
              <a:t> • Requisitos no funcionales de calidad </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rPr lang="en-US" sz="2907">
                <a:latin typeface="Montserrat"/>
                <a:ea typeface="Montserrat"/>
                <a:cs typeface="Montserrat"/>
                <a:sym typeface="Montserrat"/>
              </a:rPr>
              <a:t>NO describen una función, describen el nivel de desempeño esperado. </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rPr lang="en-US" sz="2907">
                <a:latin typeface="Montserrat"/>
                <a:ea typeface="Montserrat"/>
                <a:cs typeface="Montserrat"/>
                <a:sym typeface="Montserrat"/>
              </a:rPr>
              <a:t>❌ "El sistema debe cargar rápido." → Ambiguo, no medible </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rPr lang="en-US" sz="2907">
                <a:latin typeface="Montserrat"/>
                <a:ea typeface="Montserrat"/>
                <a:cs typeface="Montserrat"/>
                <a:sym typeface="Montserrat"/>
              </a:rPr>
              <a:t>✅ "El sistema debe responder en menos de 2 segundos bajo 500 usuarios simultáneos." → Específico, medible</a:t>
            </a:r>
            <a:endParaRPr sz="2907">
              <a:latin typeface="Montserrat"/>
              <a:ea typeface="Montserrat"/>
              <a:cs typeface="Montserrat"/>
              <a:sym typeface="Montserra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425" name="Shape 425"/>
        <p:cNvGrpSpPr/>
        <p:nvPr/>
      </p:nvGrpSpPr>
      <p:grpSpPr>
        <a:xfrm>
          <a:off x="0" y="0"/>
          <a:ext cx="0" cy="0"/>
          <a:chOff x="0" y="0"/>
          <a:chExt cx="0" cy="0"/>
        </a:xfrm>
      </p:grpSpPr>
      <p:sp>
        <p:nvSpPr>
          <p:cNvPr id="426" name="Google Shape;426;g39ab1374e1b_0_387"/>
          <p:cNvSpPr/>
          <p:nvPr/>
        </p:nvSpPr>
        <p:spPr>
          <a:xfrm rot="-1971343">
            <a:off x="17167261" y="-1169177"/>
            <a:ext cx="5328220" cy="5288258"/>
          </a:xfrm>
          <a:custGeom>
            <a:rect b="b" l="l" r="r" t="t"/>
            <a:pathLst>
              <a:path extrusionOk="0" h="5288506" w="5328470">
                <a:moveTo>
                  <a:pt x="0" y="0"/>
                </a:moveTo>
                <a:lnTo>
                  <a:pt x="5328470" y="0"/>
                </a:lnTo>
                <a:lnTo>
                  <a:pt x="5328470" y="5288506"/>
                </a:lnTo>
                <a:lnTo>
                  <a:pt x="0" y="5288506"/>
                </a:lnTo>
                <a:lnTo>
                  <a:pt x="0" y="0"/>
                </a:lnTo>
                <a:close/>
              </a:path>
            </a:pathLst>
          </a:custGeom>
          <a:blipFill rotWithShape="1">
            <a:blip r:embed="rId3">
              <a:alphaModFix/>
            </a:blip>
            <a:stretch>
              <a:fillRect b="0" l="0" r="0" t="0"/>
            </a:stretch>
          </a:blipFill>
          <a:ln>
            <a:noFill/>
          </a:ln>
        </p:spPr>
      </p:sp>
      <p:sp>
        <p:nvSpPr>
          <p:cNvPr id="427" name="Google Shape;427;g39ab1374e1b_0_387"/>
          <p:cNvSpPr/>
          <p:nvPr/>
        </p:nvSpPr>
        <p:spPr>
          <a:xfrm flipH="1">
            <a:off x="-325893" y="-149361"/>
            <a:ext cx="1897814" cy="1999452"/>
          </a:xfrm>
          <a:custGeom>
            <a:rect b="b" l="l" r="r" t="t"/>
            <a:pathLst>
              <a:path extrusionOk="0" h="1999452" w="1897814">
                <a:moveTo>
                  <a:pt x="1897814" y="0"/>
                </a:moveTo>
                <a:lnTo>
                  <a:pt x="0" y="0"/>
                </a:lnTo>
                <a:lnTo>
                  <a:pt x="0" y="1999453"/>
                </a:lnTo>
                <a:lnTo>
                  <a:pt x="1897814" y="1999453"/>
                </a:lnTo>
                <a:lnTo>
                  <a:pt x="1897814" y="0"/>
                </a:lnTo>
                <a:close/>
              </a:path>
            </a:pathLst>
          </a:custGeom>
          <a:blipFill rotWithShape="1">
            <a:blip r:embed="rId4">
              <a:alphaModFix/>
            </a:blip>
            <a:stretch>
              <a:fillRect b="0" l="0" r="0" t="0"/>
            </a:stretch>
          </a:blipFill>
          <a:ln>
            <a:noFill/>
          </a:ln>
        </p:spPr>
      </p:sp>
      <p:pic>
        <p:nvPicPr>
          <p:cNvPr id="428" name="Google Shape;428;g39ab1374e1b_0_387"/>
          <p:cNvPicPr preferRelativeResize="0"/>
          <p:nvPr/>
        </p:nvPicPr>
        <p:blipFill>
          <a:blip r:embed="rId5">
            <a:alphaModFix/>
          </a:blip>
          <a:stretch>
            <a:fillRect/>
          </a:stretch>
        </p:blipFill>
        <p:spPr>
          <a:xfrm>
            <a:off x="1193938" y="803587"/>
            <a:ext cx="15900124" cy="86798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432" name="Shape 432"/>
        <p:cNvGrpSpPr/>
        <p:nvPr/>
      </p:nvGrpSpPr>
      <p:grpSpPr>
        <a:xfrm>
          <a:off x="0" y="0"/>
          <a:ext cx="0" cy="0"/>
          <a:chOff x="0" y="0"/>
          <a:chExt cx="0" cy="0"/>
        </a:xfrm>
      </p:grpSpPr>
      <p:sp>
        <p:nvSpPr>
          <p:cNvPr id="433" name="Google Shape;433;g39ab1374e1b_0_393"/>
          <p:cNvSpPr/>
          <p:nvPr/>
        </p:nvSpPr>
        <p:spPr>
          <a:xfrm flipH="1">
            <a:off x="-325893" y="-149361"/>
            <a:ext cx="1897814" cy="1999452"/>
          </a:xfrm>
          <a:custGeom>
            <a:rect b="b" l="l" r="r" t="t"/>
            <a:pathLst>
              <a:path extrusionOk="0" h="1999452" w="1897814">
                <a:moveTo>
                  <a:pt x="1897814" y="0"/>
                </a:moveTo>
                <a:lnTo>
                  <a:pt x="0" y="0"/>
                </a:lnTo>
                <a:lnTo>
                  <a:pt x="0" y="1999453"/>
                </a:lnTo>
                <a:lnTo>
                  <a:pt x="1897814" y="1999453"/>
                </a:lnTo>
                <a:lnTo>
                  <a:pt x="1897814" y="0"/>
                </a:lnTo>
                <a:close/>
              </a:path>
            </a:pathLst>
          </a:custGeom>
          <a:blipFill rotWithShape="1">
            <a:blip r:embed="rId3">
              <a:alphaModFix/>
            </a:blip>
            <a:stretch>
              <a:fillRect b="0" l="0" r="0" t="0"/>
            </a:stretch>
          </a:blipFill>
          <a:ln>
            <a:noFill/>
          </a:ln>
        </p:spPr>
      </p:sp>
      <p:sp>
        <p:nvSpPr>
          <p:cNvPr id="434" name="Google Shape;434;g39ab1374e1b_0_393"/>
          <p:cNvSpPr txBox="1"/>
          <p:nvPr/>
        </p:nvSpPr>
        <p:spPr>
          <a:xfrm>
            <a:off x="1028700" y="3429000"/>
            <a:ext cx="15400500" cy="215400"/>
          </a:xfrm>
          <a:prstGeom prst="rect">
            <a:avLst/>
          </a:prstGeom>
          <a:noFill/>
          <a:ln>
            <a:noFill/>
          </a:ln>
        </p:spPr>
        <p:txBody>
          <a:bodyPr anchorCtr="0" anchor="t" bIns="0" lIns="0" spcFirstLastPara="1" rIns="0" wrap="square" tIns="0">
            <a:spAutoFit/>
          </a:bodyPr>
          <a:lstStyle/>
          <a:p>
            <a:pPr indent="0" lvl="0" marL="0" marR="0" rtl="0" algn="l">
              <a:lnSpc>
                <a:spcPct val="140041"/>
              </a:lnSpc>
              <a:spcBef>
                <a:spcPts val="0"/>
              </a:spcBef>
              <a:spcAft>
                <a:spcPts val="0"/>
              </a:spcAft>
              <a:buNone/>
            </a:pPr>
            <a:r>
              <a:t/>
            </a:r>
            <a:endParaRPr/>
          </a:p>
        </p:txBody>
      </p:sp>
      <p:sp>
        <p:nvSpPr>
          <p:cNvPr id="435" name="Google Shape;435;g39ab1374e1b_0_393"/>
          <p:cNvSpPr txBox="1"/>
          <p:nvPr/>
        </p:nvSpPr>
        <p:spPr>
          <a:xfrm>
            <a:off x="1571925" y="1443125"/>
            <a:ext cx="15238200" cy="69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4500">
                <a:solidFill>
                  <a:srgbClr val="014753"/>
                </a:solidFill>
                <a:latin typeface="Montserrat"/>
                <a:ea typeface="Montserrat"/>
                <a:cs typeface="Montserrat"/>
                <a:sym typeface="Montserrat"/>
              </a:rPr>
              <a:t>01. USABILIDAD</a:t>
            </a:r>
            <a:endParaRPr sz="4200">
              <a:solidFill>
                <a:srgbClr val="014753"/>
              </a:solidFill>
              <a:latin typeface="Montserrat"/>
              <a:ea typeface="Montserrat"/>
              <a:cs typeface="Montserrat"/>
              <a:sym typeface="Montserrat"/>
            </a:endParaRPr>
          </a:p>
        </p:txBody>
      </p:sp>
      <p:sp>
        <p:nvSpPr>
          <p:cNvPr id="436" name="Google Shape;436;g39ab1374e1b_0_393"/>
          <p:cNvSpPr txBox="1"/>
          <p:nvPr/>
        </p:nvSpPr>
        <p:spPr>
          <a:xfrm>
            <a:off x="1564475" y="3096025"/>
            <a:ext cx="13479300" cy="5460600"/>
          </a:xfrm>
          <a:prstGeom prst="rect">
            <a:avLst/>
          </a:prstGeom>
          <a:noFill/>
          <a:ln>
            <a:noFill/>
          </a:ln>
        </p:spPr>
        <p:txBody>
          <a:bodyPr anchorCtr="0" anchor="t" bIns="0" lIns="0" spcFirstLastPara="1" rIns="0" wrap="square" tIns="0">
            <a:spAutoFit/>
          </a:bodyPr>
          <a:lstStyle/>
          <a:p>
            <a:pPr indent="0" lvl="0" marL="0" marR="0" rtl="0" algn="l">
              <a:lnSpc>
                <a:spcPct val="140041"/>
              </a:lnSpc>
              <a:spcBef>
                <a:spcPts val="0"/>
              </a:spcBef>
              <a:spcAft>
                <a:spcPts val="0"/>
              </a:spcAft>
              <a:buNone/>
            </a:pPr>
            <a:r>
              <a:rPr lang="en-US" sz="2907">
                <a:latin typeface="Montserrat"/>
                <a:ea typeface="Montserrat"/>
                <a:cs typeface="Montserrat"/>
                <a:sym typeface="Montserrat"/>
              </a:rPr>
              <a:t>La facilidad con la que los usuarios pueden interactuar con el sistema.</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rPr b="1" lang="en-US" sz="2907">
                <a:latin typeface="Montserrat"/>
                <a:ea typeface="Montserrat"/>
                <a:cs typeface="Montserrat"/>
                <a:sym typeface="Montserrat"/>
              </a:rPr>
              <a:t>Aspectos clave:</a:t>
            </a:r>
            <a:endParaRPr b="1" sz="2907">
              <a:latin typeface="Montserrat"/>
              <a:ea typeface="Montserrat"/>
              <a:cs typeface="Montserrat"/>
              <a:sym typeface="Montserrat"/>
            </a:endParaRPr>
          </a:p>
          <a:p>
            <a:pPr indent="0" lvl="0" marL="0" marR="0" rtl="0" algn="l">
              <a:lnSpc>
                <a:spcPct val="140041"/>
              </a:lnSpc>
              <a:spcBef>
                <a:spcPts val="0"/>
              </a:spcBef>
              <a:spcAft>
                <a:spcPts val="0"/>
              </a:spcAft>
              <a:buNone/>
            </a:pPr>
            <a:r>
              <a:rPr lang="en-US" sz="2907">
                <a:latin typeface="Montserrat"/>
                <a:ea typeface="Montserrat"/>
                <a:cs typeface="Montserrat"/>
                <a:sym typeface="Montserrat"/>
              </a:rPr>
              <a:t>  → Facilidad de aprendizaje </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rPr lang="en-US" sz="2907">
                <a:latin typeface="Montserrat"/>
                <a:ea typeface="Montserrat"/>
                <a:cs typeface="Montserrat"/>
                <a:sym typeface="Montserrat"/>
              </a:rPr>
              <a:t>→ Eficiencia de uso →</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rPr lang="en-US" sz="2907">
                <a:latin typeface="Montserrat"/>
                <a:ea typeface="Montserrat"/>
                <a:cs typeface="Montserrat"/>
                <a:sym typeface="Montserrat"/>
              </a:rPr>
              <a:t> Memorabilidad </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rPr lang="en-US" sz="2907">
                <a:latin typeface="Montserrat"/>
                <a:ea typeface="Montserrat"/>
                <a:cs typeface="Montserrat"/>
                <a:sym typeface="Montserrat"/>
              </a:rPr>
              <a:t>→ Prevención de errores </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rPr lang="en-US" sz="2907">
                <a:latin typeface="Montserrat"/>
                <a:ea typeface="Montserrat"/>
                <a:cs typeface="Montserrat"/>
                <a:sym typeface="Montserrat"/>
              </a:rPr>
              <a:t>→ Satisfacción del usuario </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rPr lang="en-US" sz="2907">
                <a:latin typeface="Montserrat"/>
                <a:ea typeface="Montserrat"/>
                <a:cs typeface="Montserrat"/>
                <a:sym typeface="Montserrat"/>
              </a:rPr>
              <a:t>→ Accesibilidad</a:t>
            </a:r>
            <a:endParaRPr sz="2907">
              <a:latin typeface="Montserrat"/>
              <a:ea typeface="Montserrat"/>
              <a:cs typeface="Montserrat"/>
              <a:sym typeface="Montserra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440" name="Shape 440"/>
        <p:cNvGrpSpPr/>
        <p:nvPr/>
      </p:nvGrpSpPr>
      <p:grpSpPr>
        <a:xfrm>
          <a:off x="0" y="0"/>
          <a:ext cx="0" cy="0"/>
          <a:chOff x="0" y="0"/>
          <a:chExt cx="0" cy="0"/>
        </a:xfrm>
      </p:grpSpPr>
      <p:sp>
        <p:nvSpPr>
          <p:cNvPr id="441" name="Google Shape;441;g39ab1374e1b_0_400"/>
          <p:cNvSpPr/>
          <p:nvPr/>
        </p:nvSpPr>
        <p:spPr>
          <a:xfrm flipH="1">
            <a:off x="-325893" y="-149361"/>
            <a:ext cx="1897814" cy="1999452"/>
          </a:xfrm>
          <a:custGeom>
            <a:rect b="b" l="l" r="r" t="t"/>
            <a:pathLst>
              <a:path extrusionOk="0" h="1999452" w="1897814">
                <a:moveTo>
                  <a:pt x="1897814" y="0"/>
                </a:moveTo>
                <a:lnTo>
                  <a:pt x="0" y="0"/>
                </a:lnTo>
                <a:lnTo>
                  <a:pt x="0" y="1999453"/>
                </a:lnTo>
                <a:lnTo>
                  <a:pt x="1897814" y="1999453"/>
                </a:lnTo>
                <a:lnTo>
                  <a:pt x="1897814" y="0"/>
                </a:lnTo>
                <a:close/>
              </a:path>
            </a:pathLst>
          </a:custGeom>
          <a:blipFill rotWithShape="1">
            <a:blip r:embed="rId3">
              <a:alphaModFix/>
            </a:blip>
            <a:stretch>
              <a:fillRect b="0" l="0" r="0" t="0"/>
            </a:stretch>
          </a:blipFill>
          <a:ln>
            <a:noFill/>
          </a:ln>
        </p:spPr>
      </p:sp>
      <p:sp>
        <p:nvSpPr>
          <p:cNvPr id="442" name="Google Shape;442;g39ab1374e1b_0_400"/>
          <p:cNvSpPr txBox="1"/>
          <p:nvPr/>
        </p:nvSpPr>
        <p:spPr>
          <a:xfrm>
            <a:off x="1028700" y="3429000"/>
            <a:ext cx="15400500" cy="215400"/>
          </a:xfrm>
          <a:prstGeom prst="rect">
            <a:avLst/>
          </a:prstGeom>
          <a:noFill/>
          <a:ln>
            <a:noFill/>
          </a:ln>
        </p:spPr>
        <p:txBody>
          <a:bodyPr anchorCtr="0" anchor="t" bIns="0" lIns="0" spcFirstLastPara="1" rIns="0" wrap="square" tIns="0">
            <a:spAutoFit/>
          </a:bodyPr>
          <a:lstStyle/>
          <a:p>
            <a:pPr indent="0" lvl="0" marL="0" marR="0" rtl="0" algn="l">
              <a:lnSpc>
                <a:spcPct val="140041"/>
              </a:lnSpc>
              <a:spcBef>
                <a:spcPts val="0"/>
              </a:spcBef>
              <a:spcAft>
                <a:spcPts val="0"/>
              </a:spcAft>
              <a:buNone/>
            </a:pPr>
            <a:r>
              <a:t/>
            </a:r>
            <a:endParaRPr/>
          </a:p>
        </p:txBody>
      </p:sp>
      <p:sp>
        <p:nvSpPr>
          <p:cNvPr id="443" name="Google Shape;443;g39ab1374e1b_0_400"/>
          <p:cNvSpPr txBox="1"/>
          <p:nvPr/>
        </p:nvSpPr>
        <p:spPr>
          <a:xfrm>
            <a:off x="1571925" y="1443125"/>
            <a:ext cx="15238200" cy="69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4500">
                <a:solidFill>
                  <a:srgbClr val="014753"/>
                </a:solidFill>
                <a:latin typeface="Montserrat"/>
                <a:ea typeface="Montserrat"/>
                <a:cs typeface="Montserrat"/>
                <a:sym typeface="Montserrat"/>
              </a:rPr>
              <a:t>02. RENDIMIENTO</a:t>
            </a:r>
            <a:endParaRPr sz="4200">
              <a:solidFill>
                <a:srgbClr val="014753"/>
              </a:solidFill>
              <a:latin typeface="Montserrat"/>
              <a:ea typeface="Montserrat"/>
              <a:cs typeface="Montserrat"/>
              <a:sym typeface="Montserrat"/>
            </a:endParaRPr>
          </a:p>
        </p:txBody>
      </p:sp>
      <p:sp>
        <p:nvSpPr>
          <p:cNvPr id="444" name="Google Shape;444;g39ab1374e1b_0_400"/>
          <p:cNvSpPr txBox="1"/>
          <p:nvPr/>
        </p:nvSpPr>
        <p:spPr>
          <a:xfrm>
            <a:off x="1564475" y="3096025"/>
            <a:ext cx="14387700" cy="5460600"/>
          </a:xfrm>
          <a:prstGeom prst="rect">
            <a:avLst/>
          </a:prstGeom>
          <a:noFill/>
          <a:ln>
            <a:noFill/>
          </a:ln>
        </p:spPr>
        <p:txBody>
          <a:bodyPr anchorCtr="0" anchor="t" bIns="0" lIns="0" spcFirstLastPara="1" rIns="0" wrap="square" tIns="0">
            <a:spAutoFit/>
          </a:bodyPr>
          <a:lstStyle/>
          <a:p>
            <a:pPr indent="0" lvl="0" marL="0" rtl="0" algn="l">
              <a:lnSpc>
                <a:spcPct val="140041"/>
              </a:lnSpc>
              <a:spcBef>
                <a:spcPts val="0"/>
              </a:spcBef>
              <a:spcAft>
                <a:spcPts val="0"/>
              </a:spcAft>
              <a:buClr>
                <a:schemeClr val="dk1"/>
              </a:buClr>
              <a:buSzPts val="1100"/>
              <a:buFont typeface="Arial"/>
              <a:buNone/>
            </a:pPr>
            <a:r>
              <a:rPr lang="en-US" sz="2907">
                <a:latin typeface="Montserrat"/>
                <a:ea typeface="Montserrat"/>
                <a:cs typeface="Montserrat"/>
                <a:sym typeface="Montserrat"/>
              </a:rPr>
              <a:t>La eficiencia del sistema para responder a</a:t>
            </a:r>
            <a:endParaRPr sz="2907">
              <a:latin typeface="Montserrat"/>
              <a:ea typeface="Montserrat"/>
              <a:cs typeface="Montserrat"/>
              <a:sym typeface="Montserrat"/>
            </a:endParaRPr>
          </a:p>
          <a:p>
            <a:pPr indent="0" lvl="0" marL="0" rtl="0" algn="l">
              <a:lnSpc>
                <a:spcPct val="140041"/>
              </a:lnSpc>
              <a:spcBef>
                <a:spcPts val="0"/>
              </a:spcBef>
              <a:spcAft>
                <a:spcPts val="0"/>
              </a:spcAft>
              <a:buClr>
                <a:schemeClr val="dk1"/>
              </a:buClr>
              <a:buSzPts val="1100"/>
              <a:buFont typeface="Arial"/>
              <a:buNone/>
            </a:pPr>
            <a:r>
              <a:rPr lang="en-US" sz="2907">
                <a:latin typeface="Montserrat"/>
                <a:ea typeface="Montserrat"/>
                <a:cs typeface="Montserrat"/>
                <a:sym typeface="Montserrat"/>
              </a:rPr>
              <a:t>solicitudes de forma rápida y manejando</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adecuadamente sus recursos.</a:t>
            </a:r>
            <a:endParaRPr sz="2907">
              <a:latin typeface="Montserrat"/>
              <a:ea typeface="Montserrat"/>
              <a:cs typeface="Montserrat"/>
              <a:sym typeface="Montserrat"/>
            </a:endParaRPr>
          </a:p>
          <a:p>
            <a:pPr indent="0" lvl="0" marL="0" rtl="0" algn="l">
              <a:lnSpc>
                <a:spcPct val="140041"/>
              </a:lnSpc>
              <a:spcBef>
                <a:spcPts val="0"/>
              </a:spcBef>
              <a:spcAft>
                <a:spcPts val="0"/>
              </a:spcAft>
              <a:buClr>
                <a:schemeClr val="dk1"/>
              </a:buClr>
              <a:buSzPts val="1100"/>
              <a:buFont typeface="Arial"/>
              <a:buNone/>
            </a:pPr>
            <a:r>
              <a:rPr b="1" lang="en-US" sz="2907">
                <a:latin typeface="Montserrat"/>
                <a:ea typeface="Montserrat"/>
                <a:cs typeface="Montserrat"/>
                <a:sym typeface="Montserrat"/>
              </a:rPr>
              <a:t>Aspectos clave:</a:t>
            </a:r>
            <a:endParaRPr sz="2907">
              <a:latin typeface="Montserrat"/>
              <a:ea typeface="Montserrat"/>
              <a:cs typeface="Montserrat"/>
              <a:sym typeface="Montserrat"/>
            </a:endParaRPr>
          </a:p>
          <a:p>
            <a:pPr indent="0" lvl="0" marL="0" rtl="0" algn="l">
              <a:lnSpc>
                <a:spcPct val="140041"/>
              </a:lnSpc>
              <a:spcBef>
                <a:spcPts val="0"/>
              </a:spcBef>
              <a:spcAft>
                <a:spcPts val="0"/>
              </a:spcAft>
              <a:buClr>
                <a:schemeClr val="dk1"/>
              </a:buClr>
              <a:buSzPts val="1100"/>
              <a:buFont typeface="Arial"/>
              <a:buNone/>
            </a:pPr>
            <a:r>
              <a:rPr lang="en-US" sz="2907">
                <a:latin typeface="Montserrat"/>
                <a:ea typeface="Montserrat"/>
                <a:cs typeface="Montserrat"/>
                <a:sym typeface="Montserrat"/>
              </a:rPr>
              <a:t>  → Tiempo de respuesta</a:t>
            </a:r>
            <a:endParaRPr sz="2907">
              <a:latin typeface="Montserrat"/>
              <a:ea typeface="Montserrat"/>
              <a:cs typeface="Montserrat"/>
              <a:sym typeface="Montserrat"/>
            </a:endParaRPr>
          </a:p>
          <a:p>
            <a:pPr indent="0" lvl="0" marL="0" rtl="0" algn="l">
              <a:lnSpc>
                <a:spcPct val="140041"/>
              </a:lnSpc>
              <a:spcBef>
                <a:spcPts val="0"/>
              </a:spcBef>
              <a:spcAft>
                <a:spcPts val="0"/>
              </a:spcAft>
              <a:buClr>
                <a:schemeClr val="dk1"/>
              </a:buClr>
              <a:buSzPts val="1100"/>
              <a:buFont typeface="Arial"/>
              <a:buNone/>
            </a:pPr>
            <a:r>
              <a:rPr lang="en-US" sz="2907">
                <a:latin typeface="Montserrat"/>
                <a:ea typeface="Montserrat"/>
                <a:cs typeface="Montserrat"/>
                <a:sym typeface="Montserrat"/>
              </a:rPr>
              <a:t>  → Latencia</a:t>
            </a:r>
            <a:endParaRPr sz="2907">
              <a:latin typeface="Montserrat"/>
              <a:ea typeface="Montserrat"/>
              <a:cs typeface="Montserrat"/>
              <a:sym typeface="Montserrat"/>
            </a:endParaRPr>
          </a:p>
          <a:p>
            <a:pPr indent="0" lvl="0" marL="0" rtl="0" algn="l">
              <a:lnSpc>
                <a:spcPct val="140041"/>
              </a:lnSpc>
              <a:spcBef>
                <a:spcPts val="0"/>
              </a:spcBef>
              <a:spcAft>
                <a:spcPts val="0"/>
              </a:spcAft>
              <a:buClr>
                <a:schemeClr val="dk1"/>
              </a:buClr>
              <a:buSzPts val="1100"/>
              <a:buFont typeface="Arial"/>
              <a:buNone/>
            </a:pPr>
            <a:r>
              <a:rPr lang="en-US" sz="2907">
                <a:latin typeface="Montserrat"/>
                <a:ea typeface="Montserrat"/>
                <a:cs typeface="Montserrat"/>
                <a:sym typeface="Montserrat"/>
              </a:rPr>
              <a:t>  → Carga máxima soportada</a:t>
            </a:r>
            <a:endParaRPr sz="2907">
              <a:latin typeface="Montserrat"/>
              <a:ea typeface="Montserrat"/>
              <a:cs typeface="Montserrat"/>
              <a:sym typeface="Montserrat"/>
            </a:endParaRPr>
          </a:p>
          <a:p>
            <a:pPr indent="0" lvl="0" marL="0" rtl="0" algn="l">
              <a:lnSpc>
                <a:spcPct val="140041"/>
              </a:lnSpc>
              <a:spcBef>
                <a:spcPts val="0"/>
              </a:spcBef>
              <a:spcAft>
                <a:spcPts val="0"/>
              </a:spcAft>
              <a:buClr>
                <a:schemeClr val="dk1"/>
              </a:buClr>
              <a:buSzPts val="1100"/>
              <a:buFont typeface="Arial"/>
              <a:buNone/>
            </a:pPr>
            <a:r>
              <a:rPr lang="en-US" sz="2907">
                <a:latin typeface="Montserrat"/>
                <a:ea typeface="Montserrat"/>
                <a:cs typeface="Montserrat"/>
                <a:sym typeface="Montserrat"/>
              </a:rPr>
              <a:t>  → Uso de caché y memoria</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t/>
            </a:r>
            <a:endParaRPr b="1" sz="2907">
              <a:latin typeface="Montserrat"/>
              <a:ea typeface="Montserrat"/>
              <a:cs typeface="Montserrat"/>
              <a:sym typeface="Montserra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448" name="Shape 448"/>
        <p:cNvGrpSpPr/>
        <p:nvPr/>
      </p:nvGrpSpPr>
      <p:grpSpPr>
        <a:xfrm>
          <a:off x="0" y="0"/>
          <a:ext cx="0" cy="0"/>
          <a:chOff x="0" y="0"/>
          <a:chExt cx="0" cy="0"/>
        </a:xfrm>
      </p:grpSpPr>
      <p:sp>
        <p:nvSpPr>
          <p:cNvPr id="449" name="Google Shape;449;g39ab1374e1b_0_407"/>
          <p:cNvSpPr/>
          <p:nvPr/>
        </p:nvSpPr>
        <p:spPr>
          <a:xfrm flipH="1">
            <a:off x="-325893" y="-149361"/>
            <a:ext cx="1897814" cy="1999452"/>
          </a:xfrm>
          <a:custGeom>
            <a:rect b="b" l="l" r="r" t="t"/>
            <a:pathLst>
              <a:path extrusionOk="0" h="1999452" w="1897814">
                <a:moveTo>
                  <a:pt x="1897814" y="0"/>
                </a:moveTo>
                <a:lnTo>
                  <a:pt x="0" y="0"/>
                </a:lnTo>
                <a:lnTo>
                  <a:pt x="0" y="1999453"/>
                </a:lnTo>
                <a:lnTo>
                  <a:pt x="1897814" y="1999453"/>
                </a:lnTo>
                <a:lnTo>
                  <a:pt x="1897814" y="0"/>
                </a:lnTo>
                <a:close/>
              </a:path>
            </a:pathLst>
          </a:custGeom>
          <a:blipFill rotWithShape="1">
            <a:blip r:embed="rId3">
              <a:alphaModFix/>
            </a:blip>
            <a:stretch>
              <a:fillRect b="0" l="0" r="0" t="0"/>
            </a:stretch>
          </a:blipFill>
          <a:ln>
            <a:noFill/>
          </a:ln>
        </p:spPr>
      </p:sp>
      <p:sp>
        <p:nvSpPr>
          <p:cNvPr id="450" name="Google Shape;450;g39ab1374e1b_0_407"/>
          <p:cNvSpPr txBox="1"/>
          <p:nvPr/>
        </p:nvSpPr>
        <p:spPr>
          <a:xfrm>
            <a:off x="1028700" y="3429000"/>
            <a:ext cx="15400500" cy="215400"/>
          </a:xfrm>
          <a:prstGeom prst="rect">
            <a:avLst/>
          </a:prstGeom>
          <a:noFill/>
          <a:ln>
            <a:noFill/>
          </a:ln>
        </p:spPr>
        <p:txBody>
          <a:bodyPr anchorCtr="0" anchor="t" bIns="0" lIns="0" spcFirstLastPara="1" rIns="0" wrap="square" tIns="0">
            <a:spAutoFit/>
          </a:bodyPr>
          <a:lstStyle/>
          <a:p>
            <a:pPr indent="0" lvl="0" marL="0" marR="0" rtl="0" algn="l">
              <a:lnSpc>
                <a:spcPct val="140041"/>
              </a:lnSpc>
              <a:spcBef>
                <a:spcPts val="0"/>
              </a:spcBef>
              <a:spcAft>
                <a:spcPts val="0"/>
              </a:spcAft>
              <a:buNone/>
            </a:pPr>
            <a:r>
              <a:t/>
            </a:r>
            <a:endParaRPr/>
          </a:p>
        </p:txBody>
      </p:sp>
      <p:sp>
        <p:nvSpPr>
          <p:cNvPr id="451" name="Google Shape;451;g39ab1374e1b_0_407"/>
          <p:cNvSpPr txBox="1"/>
          <p:nvPr/>
        </p:nvSpPr>
        <p:spPr>
          <a:xfrm>
            <a:off x="1571925" y="1443125"/>
            <a:ext cx="15238200" cy="69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4500">
                <a:solidFill>
                  <a:srgbClr val="014753"/>
                </a:solidFill>
                <a:latin typeface="Montserrat"/>
                <a:ea typeface="Montserrat"/>
                <a:cs typeface="Montserrat"/>
                <a:sym typeface="Montserrat"/>
              </a:rPr>
              <a:t>03. DISPONIBILIDAD</a:t>
            </a:r>
            <a:endParaRPr sz="4200">
              <a:solidFill>
                <a:srgbClr val="014753"/>
              </a:solidFill>
              <a:latin typeface="Montserrat"/>
              <a:ea typeface="Montserrat"/>
              <a:cs typeface="Montserrat"/>
              <a:sym typeface="Montserrat"/>
            </a:endParaRPr>
          </a:p>
        </p:txBody>
      </p:sp>
      <p:sp>
        <p:nvSpPr>
          <p:cNvPr id="452" name="Google Shape;452;g39ab1374e1b_0_407"/>
          <p:cNvSpPr txBox="1"/>
          <p:nvPr/>
        </p:nvSpPr>
        <p:spPr>
          <a:xfrm>
            <a:off x="1564475" y="3096025"/>
            <a:ext cx="14387700" cy="7340400"/>
          </a:xfrm>
          <a:prstGeom prst="rect">
            <a:avLst/>
          </a:prstGeom>
          <a:noFill/>
          <a:ln>
            <a:noFill/>
          </a:ln>
        </p:spPr>
        <p:txBody>
          <a:bodyPr anchorCtr="0" anchor="t" bIns="0" lIns="0" spcFirstLastPara="1" rIns="0" wrap="square" tIns="0">
            <a:spAutoFit/>
          </a:bodyPr>
          <a:lstStyle/>
          <a:p>
            <a:pPr indent="0" lvl="0" marL="0" rtl="0" algn="l">
              <a:lnSpc>
                <a:spcPct val="140041"/>
              </a:lnSpc>
              <a:spcBef>
                <a:spcPts val="0"/>
              </a:spcBef>
              <a:spcAft>
                <a:spcPts val="0"/>
              </a:spcAft>
              <a:buNone/>
            </a:pPr>
            <a:r>
              <a:rPr lang="en-US" sz="2907">
                <a:latin typeface="Montserrat"/>
                <a:ea typeface="Montserrat"/>
                <a:cs typeface="Montserrat"/>
                <a:sym typeface="Montserrat"/>
              </a:rPr>
              <a:t>La capacidad del sistema para estar operativo</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y accesible cuando el usuario lo necesita.</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b="1" lang="en-US" sz="2907">
                <a:latin typeface="Montserrat"/>
                <a:ea typeface="Montserrat"/>
                <a:cs typeface="Montserrat"/>
                <a:sym typeface="Montserrat"/>
              </a:rPr>
              <a:t>Aspectos clave:</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Tiempo de inactividad (downtime)</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Tolerancia a fallos</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Mantenimientos sin interrupciones</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b="1" lang="en-US" sz="2907">
                <a:latin typeface="Montserrat"/>
                <a:ea typeface="Montserrat"/>
                <a:cs typeface="Montserrat"/>
                <a:sym typeface="Montserrat"/>
              </a:rPr>
              <a:t>REFERENCIA DE MEDIDA:</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99.9%  = máx. 8.76 horas/año caído</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99.99% = máx. 52 minutos/año caído</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t/>
            </a:r>
            <a:endParaRPr b="1" sz="2907">
              <a:latin typeface="Montserrat"/>
              <a:ea typeface="Montserrat"/>
              <a:cs typeface="Montserrat"/>
              <a:sym typeface="Montserra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456" name="Shape 456"/>
        <p:cNvGrpSpPr/>
        <p:nvPr/>
      </p:nvGrpSpPr>
      <p:grpSpPr>
        <a:xfrm>
          <a:off x="0" y="0"/>
          <a:ext cx="0" cy="0"/>
          <a:chOff x="0" y="0"/>
          <a:chExt cx="0" cy="0"/>
        </a:xfrm>
      </p:grpSpPr>
      <p:sp>
        <p:nvSpPr>
          <p:cNvPr id="457" name="Google Shape;457;g39ab1374e1b_0_414"/>
          <p:cNvSpPr/>
          <p:nvPr/>
        </p:nvSpPr>
        <p:spPr>
          <a:xfrm flipH="1">
            <a:off x="-325893" y="-149361"/>
            <a:ext cx="1897814" cy="1999452"/>
          </a:xfrm>
          <a:custGeom>
            <a:rect b="b" l="l" r="r" t="t"/>
            <a:pathLst>
              <a:path extrusionOk="0" h="1999452" w="1897814">
                <a:moveTo>
                  <a:pt x="1897814" y="0"/>
                </a:moveTo>
                <a:lnTo>
                  <a:pt x="0" y="0"/>
                </a:lnTo>
                <a:lnTo>
                  <a:pt x="0" y="1999453"/>
                </a:lnTo>
                <a:lnTo>
                  <a:pt x="1897814" y="1999453"/>
                </a:lnTo>
                <a:lnTo>
                  <a:pt x="1897814" y="0"/>
                </a:lnTo>
                <a:close/>
              </a:path>
            </a:pathLst>
          </a:custGeom>
          <a:blipFill rotWithShape="1">
            <a:blip r:embed="rId3">
              <a:alphaModFix/>
            </a:blip>
            <a:stretch>
              <a:fillRect b="0" l="0" r="0" t="0"/>
            </a:stretch>
          </a:blipFill>
          <a:ln>
            <a:noFill/>
          </a:ln>
        </p:spPr>
      </p:sp>
      <p:sp>
        <p:nvSpPr>
          <p:cNvPr id="458" name="Google Shape;458;g39ab1374e1b_0_414"/>
          <p:cNvSpPr txBox="1"/>
          <p:nvPr/>
        </p:nvSpPr>
        <p:spPr>
          <a:xfrm>
            <a:off x="1028700" y="3429000"/>
            <a:ext cx="15400500" cy="215400"/>
          </a:xfrm>
          <a:prstGeom prst="rect">
            <a:avLst/>
          </a:prstGeom>
          <a:noFill/>
          <a:ln>
            <a:noFill/>
          </a:ln>
        </p:spPr>
        <p:txBody>
          <a:bodyPr anchorCtr="0" anchor="t" bIns="0" lIns="0" spcFirstLastPara="1" rIns="0" wrap="square" tIns="0">
            <a:spAutoFit/>
          </a:bodyPr>
          <a:lstStyle/>
          <a:p>
            <a:pPr indent="0" lvl="0" marL="0" marR="0" rtl="0" algn="l">
              <a:lnSpc>
                <a:spcPct val="140041"/>
              </a:lnSpc>
              <a:spcBef>
                <a:spcPts val="0"/>
              </a:spcBef>
              <a:spcAft>
                <a:spcPts val="0"/>
              </a:spcAft>
              <a:buNone/>
            </a:pPr>
            <a:r>
              <a:t/>
            </a:r>
            <a:endParaRPr/>
          </a:p>
        </p:txBody>
      </p:sp>
      <p:sp>
        <p:nvSpPr>
          <p:cNvPr id="459" name="Google Shape;459;g39ab1374e1b_0_414"/>
          <p:cNvSpPr txBox="1"/>
          <p:nvPr/>
        </p:nvSpPr>
        <p:spPr>
          <a:xfrm>
            <a:off x="1571925" y="1443125"/>
            <a:ext cx="15238200" cy="69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4500">
                <a:solidFill>
                  <a:srgbClr val="014753"/>
                </a:solidFill>
                <a:latin typeface="Montserrat"/>
                <a:ea typeface="Montserrat"/>
                <a:cs typeface="Montserrat"/>
                <a:sym typeface="Montserrat"/>
              </a:rPr>
              <a:t>04. CONFIABILIDAD</a:t>
            </a:r>
            <a:endParaRPr sz="4200">
              <a:solidFill>
                <a:srgbClr val="014753"/>
              </a:solidFill>
              <a:latin typeface="Montserrat"/>
              <a:ea typeface="Montserrat"/>
              <a:cs typeface="Montserrat"/>
              <a:sym typeface="Montserrat"/>
            </a:endParaRPr>
          </a:p>
        </p:txBody>
      </p:sp>
      <p:sp>
        <p:nvSpPr>
          <p:cNvPr id="460" name="Google Shape;460;g39ab1374e1b_0_414"/>
          <p:cNvSpPr txBox="1"/>
          <p:nvPr/>
        </p:nvSpPr>
        <p:spPr>
          <a:xfrm>
            <a:off x="1535100" y="2571175"/>
            <a:ext cx="14387700" cy="9220200"/>
          </a:xfrm>
          <a:prstGeom prst="rect">
            <a:avLst/>
          </a:prstGeom>
          <a:noFill/>
          <a:ln>
            <a:noFill/>
          </a:ln>
        </p:spPr>
        <p:txBody>
          <a:bodyPr anchorCtr="0" anchor="t" bIns="0" lIns="0" spcFirstLastPara="1" rIns="0" wrap="square" tIns="0">
            <a:spAutoFit/>
          </a:bodyPr>
          <a:lstStyle/>
          <a:p>
            <a:pPr indent="0" lvl="0" marL="0" rtl="0" algn="l">
              <a:lnSpc>
                <a:spcPct val="140041"/>
              </a:lnSpc>
              <a:spcBef>
                <a:spcPts val="0"/>
              </a:spcBef>
              <a:spcAft>
                <a:spcPts val="0"/>
              </a:spcAft>
              <a:buNone/>
            </a:pPr>
            <a:r>
              <a:rPr lang="en-US" sz="2907">
                <a:latin typeface="Montserrat"/>
                <a:ea typeface="Montserrat"/>
                <a:cs typeface="Montserrat"/>
                <a:sym typeface="Montserrat"/>
              </a:rPr>
              <a:t>La capacidad del sistema para realizar sus</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funciones de forma precisa y consistente</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a lo largo del tiempo.</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b="1" lang="en-US" sz="2907">
                <a:latin typeface="Montserrat"/>
                <a:ea typeface="Montserrat"/>
                <a:cs typeface="Montserrat"/>
                <a:sym typeface="Montserrat"/>
              </a:rPr>
              <a:t>Aspectos clave:</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rPr b="1" lang="en-US" sz="2907">
                <a:latin typeface="Montserrat"/>
                <a:ea typeface="Montserrat"/>
                <a:cs typeface="Montserrat"/>
                <a:sym typeface="Montserrat"/>
              </a:rPr>
              <a:t> </a:t>
            </a:r>
            <a:r>
              <a:rPr lang="en-US" sz="2907">
                <a:latin typeface="Montserrat"/>
                <a:ea typeface="Montserrat"/>
                <a:cs typeface="Montserrat"/>
                <a:sym typeface="Montserrat"/>
              </a:rPr>
              <a:t> → Prevención de errores</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Manejo de excepciones</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Recuperación ante fallos</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rPr b="1" lang="en-US" sz="2907">
                <a:latin typeface="Montserrat"/>
                <a:ea typeface="Montserrat"/>
                <a:cs typeface="Montserrat"/>
                <a:sym typeface="Montserrat"/>
              </a:rPr>
              <a:t>DIFERENCIA IMPORTANTE:</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rPr b="1" lang="en-US" sz="2907">
                <a:latin typeface="Montserrat"/>
                <a:ea typeface="Montserrat"/>
                <a:cs typeface="Montserrat"/>
                <a:sym typeface="Montserrat"/>
              </a:rPr>
              <a:t> </a:t>
            </a:r>
            <a:r>
              <a:rPr lang="en-US" sz="2907">
                <a:latin typeface="Montserrat"/>
                <a:ea typeface="Montserrat"/>
                <a:cs typeface="Montserrat"/>
                <a:sym typeface="Montserrat"/>
              </a:rPr>
              <a:t> Disponibilidad = ¿El sistema está encendido?</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Confiabilidad  = ¿El sistema hace bien su trabajo?</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t/>
            </a:r>
            <a:endParaRPr b="1" sz="2907">
              <a:latin typeface="Montserrat"/>
              <a:ea typeface="Montserrat"/>
              <a:cs typeface="Montserrat"/>
              <a:sym typeface="Montserrat"/>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464" name="Shape 464"/>
        <p:cNvGrpSpPr/>
        <p:nvPr/>
      </p:nvGrpSpPr>
      <p:grpSpPr>
        <a:xfrm>
          <a:off x="0" y="0"/>
          <a:ext cx="0" cy="0"/>
          <a:chOff x="0" y="0"/>
          <a:chExt cx="0" cy="0"/>
        </a:xfrm>
      </p:grpSpPr>
      <p:sp>
        <p:nvSpPr>
          <p:cNvPr id="465" name="Google Shape;465;g39ab1374e1b_0_421"/>
          <p:cNvSpPr/>
          <p:nvPr/>
        </p:nvSpPr>
        <p:spPr>
          <a:xfrm flipH="1">
            <a:off x="-325893" y="-149361"/>
            <a:ext cx="1897814" cy="1999452"/>
          </a:xfrm>
          <a:custGeom>
            <a:rect b="b" l="l" r="r" t="t"/>
            <a:pathLst>
              <a:path extrusionOk="0" h="1999452" w="1897814">
                <a:moveTo>
                  <a:pt x="1897814" y="0"/>
                </a:moveTo>
                <a:lnTo>
                  <a:pt x="0" y="0"/>
                </a:lnTo>
                <a:lnTo>
                  <a:pt x="0" y="1999453"/>
                </a:lnTo>
                <a:lnTo>
                  <a:pt x="1897814" y="1999453"/>
                </a:lnTo>
                <a:lnTo>
                  <a:pt x="1897814" y="0"/>
                </a:lnTo>
                <a:close/>
              </a:path>
            </a:pathLst>
          </a:custGeom>
          <a:blipFill rotWithShape="1">
            <a:blip r:embed="rId3">
              <a:alphaModFix/>
            </a:blip>
            <a:stretch>
              <a:fillRect b="0" l="0" r="0" t="0"/>
            </a:stretch>
          </a:blipFill>
          <a:ln>
            <a:noFill/>
          </a:ln>
        </p:spPr>
      </p:sp>
      <p:sp>
        <p:nvSpPr>
          <p:cNvPr id="466" name="Google Shape;466;g39ab1374e1b_0_421"/>
          <p:cNvSpPr txBox="1"/>
          <p:nvPr/>
        </p:nvSpPr>
        <p:spPr>
          <a:xfrm>
            <a:off x="1028700" y="3429000"/>
            <a:ext cx="15400500" cy="215400"/>
          </a:xfrm>
          <a:prstGeom prst="rect">
            <a:avLst/>
          </a:prstGeom>
          <a:noFill/>
          <a:ln>
            <a:noFill/>
          </a:ln>
        </p:spPr>
        <p:txBody>
          <a:bodyPr anchorCtr="0" anchor="t" bIns="0" lIns="0" spcFirstLastPara="1" rIns="0" wrap="square" tIns="0">
            <a:spAutoFit/>
          </a:bodyPr>
          <a:lstStyle/>
          <a:p>
            <a:pPr indent="0" lvl="0" marL="0" marR="0" rtl="0" algn="l">
              <a:lnSpc>
                <a:spcPct val="140041"/>
              </a:lnSpc>
              <a:spcBef>
                <a:spcPts val="0"/>
              </a:spcBef>
              <a:spcAft>
                <a:spcPts val="0"/>
              </a:spcAft>
              <a:buNone/>
            </a:pPr>
            <a:r>
              <a:t/>
            </a:r>
            <a:endParaRPr/>
          </a:p>
        </p:txBody>
      </p:sp>
      <p:sp>
        <p:nvSpPr>
          <p:cNvPr id="467" name="Google Shape;467;g39ab1374e1b_0_421"/>
          <p:cNvSpPr txBox="1"/>
          <p:nvPr/>
        </p:nvSpPr>
        <p:spPr>
          <a:xfrm>
            <a:off x="1571925" y="1443125"/>
            <a:ext cx="15238200" cy="69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4500">
                <a:solidFill>
                  <a:srgbClr val="014753"/>
                </a:solidFill>
                <a:latin typeface="Montserrat"/>
                <a:ea typeface="Montserrat"/>
                <a:cs typeface="Montserrat"/>
                <a:sym typeface="Montserrat"/>
              </a:rPr>
              <a:t>05. MANTENIBILIDAD</a:t>
            </a:r>
            <a:endParaRPr sz="4200">
              <a:solidFill>
                <a:srgbClr val="014753"/>
              </a:solidFill>
              <a:latin typeface="Montserrat"/>
              <a:ea typeface="Montserrat"/>
              <a:cs typeface="Montserrat"/>
              <a:sym typeface="Montserrat"/>
            </a:endParaRPr>
          </a:p>
        </p:txBody>
      </p:sp>
      <p:sp>
        <p:nvSpPr>
          <p:cNvPr id="468" name="Google Shape;468;g39ab1374e1b_0_421"/>
          <p:cNvSpPr txBox="1"/>
          <p:nvPr/>
        </p:nvSpPr>
        <p:spPr>
          <a:xfrm>
            <a:off x="1535100" y="2571175"/>
            <a:ext cx="14387700" cy="7340400"/>
          </a:xfrm>
          <a:prstGeom prst="rect">
            <a:avLst/>
          </a:prstGeom>
          <a:noFill/>
          <a:ln>
            <a:noFill/>
          </a:ln>
        </p:spPr>
        <p:txBody>
          <a:bodyPr anchorCtr="0" anchor="t" bIns="0" lIns="0" spcFirstLastPara="1" rIns="0" wrap="square" tIns="0">
            <a:spAutoFit/>
          </a:bodyPr>
          <a:lstStyle/>
          <a:p>
            <a:pPr indent="0" lvl="0" marL="0" rtl="0" algn="l">
              <a:lnSpc>
                <a:spcPct val="140041"/>
              </a:lnSpc>
              <a:spcBef>
                <a:spcPts val="0"/>
              </a:spcBef>
              <a:spcAft>
                <a:spcPts val="0"/>
              </a:spcAft>
              <a:buNone/>
            </a:pPr>
            <a:r>
              <a:rPr lang="en-US" sz="2907">
                <a:latin typeface="Montserrat"/>
                <a:ea typeface="Montserrat"/>
                <a:cs typeface="Montserrat"/>
                <a:sym typeface="Montserrat"/>
              </a:rPr>
              <a:t>La facilidad con la que el sistema puede</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ser modificado, actualizado y reparado.</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b="1" lang="en-US" sz="2907">
                <a:latin typeface="Montserrat"/>
                <a:ea typeface="Montserrat"/>
                <a:cs typeface="Montserrat"/>
                <a:sym typeface="Montserrat"/>
              </a:rPr>
              <a:t>Aspectos clave:</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Legibilidad del código</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Modularidad y reusabilidad</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Documentación</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Facilidad de pruebas y depuración</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t/>
            </a:r>
            <a:endParaRPr b="1" sz="2907">
              <a:latin typeface="Montserrat"/>
              <a:ea typeface="Montserrat"/>
              <a:cs typeface="Montserrat"/>
              <a:sym typeface="Montserra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472" name="Shape 472"/>
        <p:cNvGrpSpPr/>
        <p:nvPr/>
      </p:nvGrpSpPr>
      <p:grpSpPr>
        <a:xfrm>
          <a:off x="0" y="0"/>
          <a:ext cx="0" cy="0"/>
          <a:chOff x="0" y="0"/>
          <a:chExt cx="0" cy="0"/>
        </a:xfrm>
      </p:grpSpPr>
      <p:sp>
        <p:nvSpPr>
          <p:cNvPr id="473" name="Google Shape;473;g39ab1374e1b_0_428"/>
          <p:cNvSpPr/>
          <p:nvPr/>
        </p:nvSpPr>
        <p:spPr>
          <a:xfrm flipH="1">
            <a:off x="-325893" y="-149361"/>
            <a:ext cx="1897814" cy="1999452"/>
          </a:xfrm>
          <a:custGeom>
            <a:rect b="b" l="l" r="r" t="t"/>
            <a:pathLst>
              <a:path extrusionOk="0" h="1999452" w="1897814">
                <a:moveTo>
                  <a:pt x="1897814" y="0"/>
                </a:moveTo>
                <a:lnTo>
                  <a:pt x="0" y="0"/>
                </a:lnTo>
                <a:lnTo>
                  <a:pt x="0" y="1999453"/>
                </a:lnTo>
                <a:lnTo>
                  <a:pt x="1897814" y="1999453"/>
                </a:lnTo>
                <a:lnTo>
                  <a:pt x="1897814" y="0"/>
                </a:lnTo>
                <a:close/>
              </a:path>
            </a:pathLst>
          </a:custGeom>
          <a:blipFill rotWithShape="1">
            <a:blip r:embed="rId3">
              <a:alphaModFix/>
            </a:blip>
            <a:stretch>
              <a:fillRect b="0" l="0" r="0" t="0"/>
            </a:stretch>
          </a:blipFill>
          <a:ln>
            <a:noFill/>
          </a:ln>
        </p:spPr>
      </p:sp>
      <p:sp>
        <p:nvSpPr>
          <p:cNvPr id="474" name="Google Shape;474;g39ab1374e1b_0_428"/>
          <p:cNvSpPr txBox="1"/>
          <p:nvPr/>
        </p:nvSpPr>
        <p:spPr>
          <a:xfrm>
            <a:off x="1028700" y="3429000"/>
            <a:ext cx="15400500" cy="215400"/>
          </a:xfrm>
          <a:prstGeom prst="rect">
            <a:avLst/>
          </a:prstGeom>
          <a:noFill/>
          <a:ln>
            <a:noFill/>
          </a:ln>
        </p:spPr>
        <p:txBody>
          <a:bodyPr anchorCtr="0" anchor="t" bIns="0" lIns="0" spcFirstLastPara="1" rIns="0" wrap="square" tIns="0">
            <a:spAutoFit/>
          </a:bodyPr>
          <a:lstStyle/>
          <a:p>
            <a:pPr indent="0" lvl="0" marL="0" marR="0" rtl="0" algn="l">
              <a:lnSpc>
                <a:spcPct val="140041"/>
              </a:lnSpc>
              <a:spcBef>
                <a:spcPts val="0"/>
              </a:spcBef>
              <a:spcAft>
                <a:spcPts val="0"/>
              </a:spcAft>
              <a:buNone/>
            </a:pPr>
            <a:r>
              <a:t/>
            </a:r>
            <a:endParaRPr/>
          </a:p>
        </p:txBody>
      </p:sp>
      <p:sp>
        <p:nvSpPr>
          <p:cNvPr id="475" name="Google Shape;475;g39ab1374e1b_0_428"/>
          <p:cNvSpPr txBox="1"/>
          <p:nvPr/>
        </p:nvSpPr>
        <p:spPr>
          <a:xfrm>
            <a:off x="1571925" y="1443125"/>
            <a:ext cx="15238200" cy="69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4500">
                <a:solidFill>
                  <a:srgbClr val="014753"/>
                </a:solidFill>
                <a:latin typeface="Montserrat"/>
                <a:ea typeface="Montserrat"/>
                <a:cs typeface="Montserrat"/>
                <a:sym typeface="Montserrat"/>
              </a:rPr>
              <a:t>06. PORTABILIDAD</a:t>
            </a:r>
            <a:endParaRPr sz="4200">
              <a:solidFill>
                <a:srgbClr val="014753"/>
              </a:solidFill>
              <a:latin typeface="Montserrat"/>
              <a:ea typeface="Montserrat"/>
              <a:cs typeface="Montserrat"/>
              <a:sym typeface="Montserrat"/>
            </a:endParaRPr>
          </a:p>
        </p:txBody>
      </p:sp>
      <p:sp>
        <p:nvSpPr>
          <p:cNvPr id="476" name="Google Shape;476;g39ab1374e1b_0_428"/>
          <p:cNvSpPr txBox="1"/>
          <p:nvPr/>
        </p:nvSpPr>
        <p:spPr>
          <a:xfrm>
            <a:off x="1535100" y="2571175"/>
            <a:ext cx="14387700" cy="9220200"/>
          </a:xfrm>
          <a:prstGeom prst="rect">
            <a:avLst/>
          </a:prstGeom>
          <a:noFill/>
          <a:ln>
            <a:noFill/>
          </a:ln>
        </p:spPr>
        <p:txBody>
          <a:bodyPr anchorCtr="0" anchor="t" bIns="0" lIns="0" spcFirstLastPara="1" rIns="0" wrap="square" tIns="0">
            <a:spAutoFit/>
          </a:bodyPr>
          <a:lstStyle/>
          <a:p>
            <a:pPr indent="0" lvl="0" marL="0" rtl="0" algn="l">
              <a:lnSpc>
                <a:spcPct val="140041"/>
              </a:lnSpc>
              <a:spcBef>
                <a:spcPts val="0"/>
              </a:spcBef>
              <a:spcAft>
                <a:spcPts val="0"/>
              </a:spcAft>
              <a:buNone/>
            </a:pPr>
            <a:r>
              <a:rPr lang="en-US" sz="2907">
                <a:latin typeface="Montserrat"/>
                <a:ea typeface="Montserrat"/>
                <a:cs typeface="Montserrat"/>
                <a:sym typeface="Montserrat"/>
              </a:rPr>
              <a:t>La capacidad del sistema para funcionar en</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diferentes entornos sin modificaciones mayores.</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b="1" lang="en-US" sz="2907">
                <a:latin typeface="Montserrat"/>
                <a:ea typeface="Montserrat"/>
                <a:cs typeface="Montserrat"/>
                <a:sym typeface="Montserrat"/>
              </a:rPr>
              <a:t>Aspectos clave:</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Compatibilidad entre plataformas</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Independencia tecnológica</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Empaquetado y distribución</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Configurabilidad por entorno</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rPr b="1" lang="en-US" sz="2907">
                <a:latin typeface="Montserrat"/>
                <a:ea typeface="Montserrat"/>
                <a:cs typeface="Montserrat"/>
                <a:sym typeface="Montserrat"/>
              </a:rPr>
              <a:t>Ejemplo moderno: </a:t>
            </a:r>
            <a:r>
              <a:rPr lang="en-US" sz="2907">
                <a:latin typeface="Montserrat"/>
                <a:ea typeface="Montserrat"/>
                <a:cs typeface="Montserrat"/>
                <a:sym typeface="Montserrat"/>
              </a:rPr>
              <a:t>Docker permite alta portabilidad.</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t/>
            </a:r>
            <a:endParaRPr b="1" sz="2907">
              <a:latin typeface="Montserrat"/>
              <a:ea typeface="Montserrat"/>
              <a:cs typeface="Montserrat"/>
              <a:sym typeface="Montserrat"/>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480" name="Shape 480"/>
        <p:cNvGrpSpPr/>
        <p:nvPr/>
      </p:nvGrpSpPr>
      <p:grpSpPr>
        <a:xfrm>
          <a:off x="0" y="0"/>
          <a:ext cx="0" cy="0"/>
          <a:chOff x="0" y="0"/>
          <a:chExt cx="0" cy="0"/>
        </a:xfrm>
      </p:grpSpPr>
      <p:sp>
        <p:nvSpPr>
          <p:cNvPr id="481" name="Google Shape;481;g39ab1374e1b_0_435"/>
          <p:cNvSpPr/>
          <p:nvPr/>
        </p:nvSpPr>
        <p:spPr>
          <a:xfrm flipH="1">
            <a:off x="-325893" y="-149361"/>
            <a:ext cx="1897814" cy="1999452"/>
          </a:xfrm>
          <a:custGeom>
            <a:rect b="b" l="l" r="r" t="t"/>
            <a:pathLst>
              <a:path extrusionOk="0" h="1999452" w="1897814">
                <a:moveTo>
                  <a:pt x="1897814" y="0"/>
                </a:moveTo>
                <a:lnTo>
                  <a:pt x="0" y="0"/>
                </a:lnTo>
                <a:lnTo>
                  <a:pt x="0" y="1999453"/>
                </a:lnTo>
                <a:lnTo>
                  <a:pt x="1897814" y="1999453"/>
                </a:lnTo>
                <a:lnTo>
                  <a:pt x="1897814" y="0"/>
                </a:lnTo>
                <a:close/>
              </a:path>
            </a:pathLst>
          </a:custGeom>
          <a:blipFill rotWithShape="1">
            <a:blip r:embed="rId3">
              <a:alphaModFix/>
            </a:blip>
            <a:stretch>
              <a:fillRect b="0" l="0" r="0" t="0"/>
            </a:stretch>
          </a:blipFill>
          <a:ln>
            <a:noFill/>
          </a:ln>
        </p:spPr>
      </p:sp>
      <p:sp>
        <p:nvSpPr>
          <p:cNvPr id="482" name="Google Shape;482;g39ab1374e1b_0_435"/>
          <p:cNvSpPr txBox="1"/>
          <p:nvPr/>
        </p:nvSpPr>
        <p:spPr>
          <a:xfrm>
            <a:off x="1028700" y="3429000"/>
            <a:ext cx="15400500" cy="215400"/>
          </a:xfrm>
          <a:prstGeom prst="rect">
            <a:avLst/>
          </a:prstGeom>
          <a:noFill/>
          <a:ln>
            <a:noFill/>
          </a:ln>
        </p:spPr>
        <p:txBody>
          <a:bodyPr anchorCtr="0" anchor="t" bIns="0" lIns="0" spcFirstLastPara="1" rIns="0" wrap="square" tIns="0">
            <a:spAutoFit/>
          </a:bodyPr>
          <a:lstStyle/>
          <a:p>
            <a:pPr indent="0" lvl="0" marL="0" marR="0" rtl="0" algn="l">
              <a:lnSpc>
                <a:spcPct val="140041"/>
              </a:lnSpc>
              <a:spcBef>
                <a:spcPts val="0"/>
              </a:spcBef>
              <a:spcAft>
                <a:spcPts val="0"/>
              </a:spcAft>
              <a:buNone/>
            </a:pPr>
            <a:r>
              <a:t/>
            </a:r>
            <a:endParaRPr/>
          </a:p>
        </p:txBody>
      </p:sp>
      <p:sp>
        <p:nvSpPr>
          <p:cNvPr id="483" name="Google Shape;483;g39ab1374e1b_0_435"/>
          <p:cNvSpPr txBox="1"/>
          <p:nvPr/>
        </p:nvSpPr>
        <p:spPr>
          <a:xfrm>
            <a:off x="1571925" y="1443125"/>
            <a:ext cx="15238200" cy="69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4500">
                <a:solidFill>
                  <a:srgbClr val="014753"/>
                </a:solidFill>
                <a:latin typeface="Montserrat"/>
                <a:ea typeface="Montserrat"/>
                <a:cs typeface="Montserrat"/>
                <a:sym typeface="Montserrat"/>
              </a:rPr>
              <a:t>07. SEGURIDAD</a:t>
            </a:r>
            <a:endParaRPr sz="4200">
              <a:solidFill>
                <a:srgbClr val="014753"/>
              </a:solidFill>
              <a:latin typeface="Montserrat"/>
              <a:ea typeface="Montserrat"/>
              <a:cs typeface="Montserrat"/>
              <a:sym typeface="Montserrat"/>
            </a:endParaRPr>
          </a:p>
        </p:txBody>
      </p:sp>
      <p:sp>
        <p:nvSpPr>
          <p:cNvPr id="484" name="Google Shape;484;g39ab1374e1b_0_435"/>
          <p:cNvSpPr txBox="1"/>
          <p:nvPr/>
        </p:nvSpPr>
        <p:spPr>
          <a:xfrm>
            <a:off x="1535100" y="2571175"/>
            <a:ext cx="14387700" cy="7967100"/>
          </a:xfrm>
          <a:prstGeom prst="rect">
            <a:avLst/>
          </a:prstGeom>
          <a:noFill/>
          <a:ln>
            <a:noFill/>
          </a:ln>
        </p:spPr>
        <p:txBody>
          <a:bodyPr anchorCtr="0" anchor="t" bIns="0" lIns="0" spcFirstLastPara="1" rIns="0" wrap="square" tIns="0">
            <a:spAutoFit/>
          </a:bodyPr>
          <a:lstStyle/>
          <a:p>
            <a:pPr indent="0" lvl="0" marL="0" rtl="0" algn="l">
              <a:lnSpc>
                <a:spcPct val="140041"/>
              </a:lnSpc>
              <a:spcBef>
                <a:spcPts val="0"/>
              </a:spcBef>
              <a:spcAft>
                <a:spcPts val="0"/>
              </a:spcAft>
              <a:buNone/>
            </a:pPr>
            <a:r>
              <a:rPr lang="en-US" sz="2907">
                <a:latin typeface="Montserrat"/>
                <a:ea typeface="Montserrat"/>
                <a:cs typeface="Montserrat"/>
                <a:sym typeface="Montserrat"/>
              </a:rPr>
              <a:t>La capacidad del sistema para proteger datos,</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recursos y funcionalidades contra amenazas.</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b="1" lang="en-US" sz="2907">
                <a:latin typeface="Montserrat"/>
                <a:ea typeface="Montserrat"/>
                <a:cs typeface="Montserrat"/>
                <a:sym typeface="Montserrat"/>
              </a:rPr>
              <a:t>Aspectos clave:</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Confidencialidad  (solo quien debe ver, ve)</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Integridad        (los datos no son alterados)</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Autenticación     (verificar identidad del usuario)</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Auditoría         (registrar quién hizo qué y cuándo)</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t/>
            </a:r>
            <a:endParaRPr b="1" sz="2907">
              <a:latin typeface="Montserrat"/>
              <a:ea typeface="Montserrat"/>
              <a:cs typeface="Montserrat"/>
              <a:sym typeface="Montserrat"/>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488" name="Shape 488"/>
        <p:cNvGrpSpPr/>
        <p:nvPr/>
      </p:nvGrpSpPr>
      <p:grpSpPr>
        <a:xfrm>
          <a:off x="0" y="0"/>
          <a:ext cx="0" cy="0"/>
          <a:chOff x="0" y="0"/>
          <a:chExt cx="0" cy="0"/>
        </a:xfrm>
      </p:grpSpPr>
      <p:sp>
        <p:nvSpPr>
          <p:cNvPr id="489" name="Google Shape;489;g39ab1374e1b_0_442"/>
          <p:cNvSpPr/>
          <p:nvPr/>
        </p:nvSpPr>
        <p:spPr>
          <a:xfrm flipH="1">
            <a:off x="-325893" y="-149361"/>
            <a:ext cx="1897814" cy="1999452"/>
          </a:xfrm>
          <a:custGeom>
            <a:rect b="b" l="l" r="r" t="t"/>
            <a:pathLst>
              <a:path extrusionOk="0" h="1999452" w="1897814">
                <a:moveTo>
                  <a:pt x="1897814" y="0"/>
                </a:moveTo>
                <a:lnTo>
                  <a:pt x="0" y="0"/>
                </a:lnTo>
                <a:lnTo>
                  <a:pt x="0" y="1999453"/>
                </a:lnTo>
                <a:lnTo>
                  <a:pt x="1897814" y="1999453"/>
                </a:lnTo>
                <a:lnTo>
                  <a:pt x="1897814" y="0"/>
                </a:lnTo>
                <a:close/>
              </a:path>
            </a:pathLst>
          </a:custGeom>
          <a:blipFill rotWithShape="1">
            <a:blip r:embed="rId3">
              <a:alphaModFix/>
            </a:blip>
            <a:stretch>
              <a:fillRect b="0" l="0" r="0" t="0"/>
            </a:stretch>
          </a:blipFill>
          <a:ln>
            <a:noFill/>
          </a:ln>
        </p:spPr>
      </p:sp>
      <p:sp>
        <p:nvSpPr>
          <p:cNvPr id="490" name="Google Shape;490;g39ab1374e1b_0_442"/>
          <p:cNvSpPr txBox="1"/>
          <p:nvPr/>
        </p:nvSpPr>
        <p:spPr>
          <a:xfrm>
            <a:off x="1028700" y="3429000"/>
            <a:ext cx="15400500" cy="215400"/>
          </a:xfrm>
          <a:prstGeom prst="rect">
            <a:avLst/>
          </a:prstGeom>
          <a:noFill/>
          <a:ln>
            <a:noFill/>
          </a:ln>
        </p:spPr>
        <p:txBody>
          <a:bodyPr anchorCtr="0" anchor="t" bIns="0" lIns="0" spcFirstLastPara="1" rIns="0" wrap="square" tIns="0">
            <a:spAutoFit/>
          </a:bodyPr>
          <a:lstStyle/>
          <a:p>
            <a:pPr indent="0" lvl="0" marL="0" marR="0" rtl="0" algn="l">
              <a:lnSpc>
                <a:spcPct val="140041"/>
              </a:lnSpc>
              <a:spcBef>
                <a:spcPts val="0"/>
              </a:spcBef>
              <a:spcAft>
                <a:spcPts val="0"/>
              </a:spcAft>
              <a:buNone/>
            </a:pPr>
            <a:r>
              <a:t/>
            </a:r>
            <a:endParaRPr/>
          </a:p>
        </p:txBody>
      </p:sp>
      <p:sp>
        <p:nvSpPr>
          <p:cNvPr id="491" name="Google Shape;491;g39ab1374e1b_0_442"/>
          <p:cNvSpPr txBox="1"/>
          <p:nvPr/>
        </p:nvSpPr>
        <p:spPr>
          <a:xfrm>
            <a:off x="1571925" y="1443125"/>
            <a:ext cx="15238200" cy="69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4500">
                <a:solidFill>
                  <a:srgbClr val="014753"/>
                </a:solidFill>
                <a:latin typeface="Montserrat"/>
                <a:ea typeface="Montserrat"/>
                <a:cs typeface="Montserrat"/>
                <a:sym typeface="Montserrat"/>
              </a:rPr>
              <a:t>08. EFICIENCIA</a:t>
            </a:r>
            <a:endParaRPr sz="4200">
              <a:solidFill>
                <a:srgbClr val="014753"/>
              </a:solidFill>
              <a:latin typeface="Montserrat"/>
              <a:ea typeface="Montserrat"/>
              <a:cs typeface="Montserrat"/>
              <a:sym typeface="Montserrat"/>
            </a:endParaRPr>
          </a:p>
        </p:txBody>
      </p:sp>
      <p:sp>
        <p:nvSpPr>
          <p:cNvPr id="492" name="Google Shape;492;g39ab1374e1b_0_442"/>
          <p:cNvSpPr txBox="1"/>
          <p:nvPr/>
        </p:nvSpPr>
        <p:spPr>
          <a:xfrm>
            <a:off x="1535100" y="2571175"/>
            <a:ext cx="14387700" cy="11100000"/>
          </a:xfrm>
          <a:prstGeom prst="rect">
            <a:avLst/>
          </a:prstGeom>
          <a:noFill/>
          <a:ln>
            <a:noFill/>
          </a:ln>
        </p:spPr>
        <p:txBody>
          <a:bodyPr anchorCtr="0" anchor="t" bIns="0" lIns="0" spcFirstLastPara="1" rIns="0" wrap="square" tIns="0">
            <a:spAutoFit/>
          </a:bodyPr>
          <a:lstStyle/>
          <a:p>
            <a:pPr indent="0" lvl="0" marL="0" rtl="0" algn="l">
              <a:lnSpc>
                <a:spcPct val="140041"/>
              </a:lnSpc>
              <a:spcBef>
                <a:spcPts val="0"/>
              </a:spcBef>
              <a:spcAft>
                <a:spcPts val="0"/>
              </a:spcAft>
              <a:buNone/>
            </a:pPr>
            <a:r>
              <a:rPr lang="en-US" sz="2907">
                <a:latin typeface="Montserrat"/>
                <a:ea typeface="Montserrat"/>
                <a:cs typeface="Montserrat"/>
                <a:sym typeface="Montserrat"/>
              </a:rPr>
              <a:t>La capacidad del sistema para utilizar sus</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recursos de forma óptima: CPU, memoria, red.</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b="1" lang="en-US" sz="2907">
                <a:latin typeface="Montserrat"/>
                <a:ea typeface="Montserrat"/>
                <a:cs typeface="Montserrat"/>
                <a:sym typeface="Montserrat"/>
              </a:rPr>
              <a:t>Aspectos clave:</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Optimización de recursos</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Algoritmos eficientes</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Optimización de consultas (queries)</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Tiempo de inicio del sistema</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b="1" lang="en-US" sz="2907">
                <a:latin typeface="Montserrat"/>
                <a:ea typeface="Montserrat"/>
                <a:cs typeface="Montserrat"/>
                <a:sym typeface="Montserrat"/>
              </a:rPr>
              <a:t>Eficiencia ≠ Rendimiento</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Rendimiento = qué tan rápido responde</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Eficiencia  = qué tan poco consume para lograrlo</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t/>
            </a:r>
            <a:endParaRPr b="1" sz="2907">
              <a:latin typeface="Montserrat"/>
              <a:ea typeface="Montserrat"/>
              <a:cs typeface="Montserrat"/>
              <a:sym typeface="Montserrat"/>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496" name="Shape 496"/>
        <p:cNvGrpSpPr/>
        <p:nvPr/>
      </p:nvGrpSpPr>
      <p:grpSpPr>
        <a:xfrm>
          <a:off x="0" y="0"/>
          <a:ext cx="0" cy="0"/>
          <a:chOff x="0" y="0"/>
          <a:chExt cx="0" cy="0"/>
        </a:xfrm>
      </p:grpSpPr>
      <p:sp>
        <p:nvSpPr>
          <p:cNvPr id="497" name="Google Shape;497;g39ab1374e1b_0_449"/>
          <p:cNvSpPr/>
          <p:nvPr/>
        </p:nvSpPr>
        <p:spPr>
          <a:xfrm flipH="1">
            <a:off x="-325893" y="-149361"/>
            <a:ext cx="1897814" cy="1999452"/>
          </a:xfrm>
          <a:custGeom>
            <a:rect b="b" l="l" r="r" t="t"/>
            <a:pathLst>
              <a:path extrusionOk="0" h="1999452" w="1897814">
                <a:moveTo>
                  <a:pt x="1897814" y="0"/>
                </a:moveTo>
                <a:lnTo>
                  <a:pt x="0" y="0"/>
                </a:lnTo>
                <a:lnTo>
                  <a:pt x="0" y="1999453"/>
                </a:lnTo>
                <a:lnTo>
                  <a:pt x="1897814" y="1999453"/>
                </a:lnTo>
                <a:lnTo>
                  <a:pt x="1897814" y="0"/>
                </a:lnTo>
                <a:close/>
              </a:path>
            </a:pathLst>
          </a:custGeom>
          <a:blipFill rotWithShape="1">
            <a:blip r:embed="rId3">
              <a:alphaModFix/>
            </a:blip>
            <a:stretch>
              <a:fillRect b="0" l="0" r="0" t="0"/>
            </a:stretch>
          </a:blipFill>
          <a:ln>
            <a:noFill/>
          </a:ln>
        </p:spPr>
      </p:sp>
      <p:sp>
        <p:nvSpPr>
          <p:cNvPr id="498" name="Google Shape;498;g39ab1374e1b_0_449"/>
          <p:cNvSpPr txBox="1"/>
          <p:nvPr/>
        </p:nvSpPr>
        <p:spPr>
          <a:xfrm>
            <a:off x="1028700" y="3429000"/>
            <a:ext cx="15400500" cy="215400"/>
          </a:xfrm>
          <a:prstGeom prst="rect">
            <a:avLst/>
          </a:prstGeom>
          <a:noFill/>
          <a:ln>
            <a:noFill/>
          </a:ln>
        </p:spPr>
        <p:txBody>
          <a:bodyPr anchorCtr="0" anchor="t" bIns="0" lIns="0" spcFirstLastPara="1" rIns="0" wrap="square" tIns="0">
            <a:spAutoFit/>
          </a:bodyPr>
          <a:lstStyle/>
          <a:p>
            <a:pPr indent="0" lvl="0" marL="0" marR="0" rtl="0" algn="l">
              <a:lnSpc>
                <a:spcPct val="140041"/>
              </a:lnSpc>
              <a:spcBef>
                <a:spcPts val="0"/>
              </a:spcBef>
              <a:spcAft>
                <a:spcPts val="0"/>
              </a:spcAft>
              <a:buNone/>
            </a:pPr>
            <a:r>
              <a:t/>
            </a:r>
            <a:endParaRPr/>
          </a:p>
        </p:txBody>
      </p:sp>
      <p:sp>
        <p:nvSpPr>
          <p:cNvPr id="499" name="Google Shape;499;g39ab1374e1b_0_449"/>
          <p:cNvSpPr txBox="1"/>
          <p:nvPr/>
        </p:nvSpPr>
        <p:spPr>
          <a:xfrm>
            <a:off x="1571925" y="1443125"/>
            <a:ext cx="15238200" cy="69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4500">
                <a:solidFill>
                  <a:srgbClr val="014753"/>
                </a:solidFill>
                <a:latin typeface="Montserrat"/>
                <a:ea typeface="Montserrat"/>
                <a:cs typeface="Montserrat"/>
                <a:sym typeface="Montserrat"/>
              </a:rPr>
              <a:t>09. ESCALABILIDAD</a:t>
            </a:r>
            <a:endParaRPr sz="4200">
              <a:solidFill>
                <a:srgbClr val="014753"/>
              </a:solidFill>
              <a:latin typeface="Montserrat"/>
              <a:ea typeface="Montserrat"/>
              <a:cs typeface="Montserrat"/>
              <a:sym typeface="Montserrat"/>
            </a:endParaRPr>
          </a:p>
        </p:txBody>
      </p:sp>
      <p:sp>
        <p:nvSpPr>
          <p:cNvPr id="500" name="Google Shape;500;g39ab1374e1b_0_449"/>
          <p:cNvSpPr txBox="1"/>
          <p:nvPr/>
        </p:nvSpPr>
        <p:spPr>
          <a:xfrm>
            <a:off x="1535100" y="2571175"/>
            <a:ext cx="14387700" cy="11726700"/>
          </a:xfrm>
          <a:prstGeom prst="rect">
            <a:avLst/>
          </a:prstGeom>
          <a:noFill/>
          <a:ln>
            <a:noFill/>
          </a:ln>
        </p:spPr>
        <p:txBody>
          <a:bodyPr anchorCtr="0" anchor="t" bIns="0" lIns="0" spcFirstLastPara="1" rIns="0" wrap="square" tIns="0">
            <a:spAutoFit/>
          </a:bodyPr>
          <a:lstStyle/>
          <a:p>
            <a:pPr indent="0" lvl="0" marL="0" rtl="0" algn="l">
              <a:lnSpc>
                <a:spcPct val="140041"/>
              </a:lnSpc>
              <a:spcBef>
                <a:spcPts val="0"/>
              </a:spcBef>
              <a:spcAft>
                <a:spcPts val="0"/>
              </a:spcAft>
              <a:buNone/>
            </a:pPr>
            <a:r>
              <a:rPr lang="en-US" sz="2907">
                <a:latin typeface="Montserrat"/>
                <a:ea typeface="Montserrat"/>
                <a:cs typeface="Montserrat"/>
                <a:sym typeface="Montserrat"/>
              </a:rPr>
              <a:t>La capacidad del sistema para manejar</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crecimiento en carga, datos o usuarios</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sin degradar el rendimiento.</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b="1" lang="en-US" sz="2907">
                <a:latin typeface="Montserrat"/>
                <a:ea typeface="Montserrat"/>
                <a:cs typeface="Montserrat"/>
                <a:sym typeface="Montserrat"/>
              </a:rPr>
              <a:t>Tipos:</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VERTICAL    (más recursos al mismo servidor)</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HORIZONTAL  (más servidores en paralelo)</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b="1" lang="en-US" sz="2907">
                <a:latin typeface="Montserrat"/>
                <a:ea typeface="Montserrat"/>
                <a:cs typeface="Montserrat"/>
                <a:sym typeface="Montserrat"/>
              </a:rPr>
              <a:t>Aspectos clave:</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Desempeño consistente bajo carga alta</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Particionamiento de datos</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Gestión de sesiones distribuidas</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t/>
            </a:r>
            <a:endParaRPr b="1" sz="2907">
              <a:latin typeface="Montserrat"/>
              <a:ea typeface="Montserrat"/>
              <a:cs typeface="Montserrat"/>
              <a:sym typeface="Montserrat"/>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504" name="Shape 504"/>
        <p:cNvGrpSpPr/>
        <p:nvPr/>
      </p:nvGrpSpPr>
      <p:grpSpPr>
        <a:xfrm>
          <a:off x="0" y="0"/>
          <a:ext cx="0" cy="0"/>
          <a:chOff x="0" y="0"/>
          <a:chExt cx="0" cy="0"/>
        </a:xfrm>
      </p:grpSpPr>
      <p:sp>
        <p:nvSpPr>
          <p:cNvPr id="505" name="Google Shape;505;g39ab1374e1b_0_456"/>
          <p:cNvSpPr/>
          <p:nvPr/>
        </p:nvSpPr>
        <p:spPr>
          <a:xfrm flipH="1">
            <a:off x="-325893" y="-149361"/>
            <a:ext cx="1897814" cy="1999452"/>
          </a:xfrm>
          <a:custGeom>
            <a:rect b="b" l="l" r="r" t="t"/>
            <a:pathLst>
              <a:path extrusionOk="0" h="1999452" w="1897814">
                <a:moveTo>
                  <a:pt x="1897814" y="0"/>
                </a:moveTo>
                <a:lnTo>
                  <a:pt x="0" y="0"/>
                </a:lnTo>
                <a:lnTo>
                  <a:pt x="0" y="1999453"/>
                </a:lnTo>
                <a:lnTo>
                  <a:pt x="1897814" y="1999453"/>
                </a:lnTo>
                <a:lnTo>
                  <a:pt x="1897814" y="0"/>
                </a:lnTo>
                <a:close/>
              </a:path>
            </a:pathLst>
          </a:custGeom>
          <a:blipFill rotWithShape="1">
            <a:blip r:embed="rId3">
              <a:alphaModFix/>
            </a:blip>
            <a:stretch>
              <a:fillRect b="0" l="0" r="0" t="0"/>
            </a:stretch>
          </a:blipFill>
          <a:ln>
            <a:noFill/>
          </a:ln>
        </p:spPr>
      </p:sp>
      <p:sp>
        <p:nvSpPr>
          <p:cNvPr id="506" name="Google Shape;506;g39ab1374e1b_0_456"/>
          <p:cNvSpPr txBox="1"/>
          <p:nvPr/>
        </p:nvSpPr>
        <p:spPr>
          <a:xfrm>
            <a:off x="1028700" y="3429000"/>
            <a:ext cx="15400500" cy="215400"/>
          </a:xfrm>
          <a:prstGeom prst="rect">
            <a:avLst/>
          </a:prstGeom>
          <a:noFill/>
          <a:ln>
            <a:noFill/>
          </a:ln>
        </p:spPr>
        <p:txBody>
          <a:bodyPr anchorCtr="0" anchor="t" bIns="0" lIns="0" spcFirstLastPara="1" rIns="0" wrap="square" tIns="0">
            <a:spAutoFit/>
          </a:bodyPr>
          <a:lstStyle/>
          <a:p>
            <a:pPr indent="0" lvl="0" marL="0" marR="0" rtl="0" algn="l">
              <a:lnSpc>
                <a:spcPct val="140041"/>
              </a:lnSpc>
              <a:spcBef>
                <a:spcPts val="0"/>
              </a:spcBef>
              <a:spcAft>
                <a:spcPts val="0"/>
              </a:spcAft>
              <a:buNone/>
            </a:pPr>
            <a:r>
              <a:t/>
            </a:r>
            <a:endParaRPr/>
          </a:p>
        </p:txBody>
      </p:sp>
      <p:sp>
        <p:nvSpPr>
          <p:cNvPr id="507" name="Google Shape;507;g39ab1374e1b_0_456"/>
          <p:cNvSpPr txBox="1"/>
          <p:nvPr/>
        </p:nvSpPr>
        <p:spPr>
          <a:xfrm>
            <a:off x="1571925" y="1443125"/>
            <a:ext cx="15238200" cy="69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4500">
                <a:solidFill>
                  <a:srgbClr val="014753"/>
                </a:solidFill>
                <a:latin typeface="Montserrat"/>
                <a:ea typeface="Montserrat"/>
                <a:cs typeface="Montserrat"/>
                <a:sym typeface="Montserrat"/>
              </a:rPr>
              <a:t>10. INTEROPERABILIDAD</a:t>
            </a:r>
            <a:endParaRPr sz="4200">
              <a:solidFill>
                <a:srgbClr val="014753"/>
              </a:solidFill>
              <a:latin typeface="Montserrat"/>
              <a:ea typeface="Montserrat"/>
              <a:cs typeface="Montserrat"/>
              <a:sym typeface="Montserrat"/>
            </a:endParaRPr>
          </a:p>
        </p:txBody>
      </p:sp>
      <p:sp>
        <p:nvSpPr>
          <p:cNvPr id="508" name="Google Shape;508;g39ab1374e1b_0_456"/>
          <p:cNvSpPr txBox="1"/>
          <p:nvPr/>
        </p:nvSpPr>
        <p:spPr>
          <a:xfrm>
            <a:off x="1535100" y="2571175"/>
            <a:ext cx="14387700" cy="11100000"/>
          </a:xfrm>
          <a:prstGeom prst="rect">
            <a:avLst/>
          </a:prstGeom>
          <a:noFill/>
          <a:ln>
            <a:noFill/>
          </a:ln>
        </p:spPr>
        <p:txBody>
          <a:bodyPr anchorCtr="0" anchor="t" bIns="0" lIns="0" spcFirstLastPara="1" rIns="0" wrap="square" tIns="0">
            <a:spAutoFit/>
          </a:bodyPr>
          <a:lstStyle/>
          <a:p>
            <a:pPr indent="0" lvl="0" marL="0" rtl="0" algn="l">
              <a:lnSpc>
                <a:spcPct val="140041"/>
              </a:lnSpc>
              <a:spcBef>
                <a:spcPts val="0"/>
              </a:spcBef>
              <a:spcAft>
                <a:spcPts val="0"/>
              </a:spcAft>
              <a:buNone/>
            </a:pPr>
            <a:r>
              <a:rPr lang="en-US" sz="2907">
                <a:latin typeface="Montserrat"/>
                <a:ea typeface="Montserrat"/>
                <a:cs typeface="Montserrat"/>
                <a:sym typeface="Montserrat"/>
              </a:rPr>
              <a:t>La capacidad del sistema para comunicarse</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e integrarse con otros sistemas externos.</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b="1" lang="en-US" sz="2907">
                <a:latin typeface="Montserrat"/>
                <a:ea typeface="Montserrat"/>
                <a:cs typeface="Montserrat"/>
                <a:sym typeface="Montserrat"/>
              </a:rPr>
              <a:t>Aspectos clave:</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Compatibilidad de formatos de datos</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APIs abiertas y documentadas</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Estándares de la industria (REST, SOAP, OAuth)</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Integración con sistemas externos</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rPr lang="en-US" sz="2907">
                <a:latin typeface="Montserrat"/>
                <a:ea typeface="Montserrat"/>
                <a:cs typeface="Montserrat"/>
                <a:sym typeface="Montserrat"/>
              </a:rPr>
              <a:t>  → Compatibilidad de plataformas</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b="1" sz="2907">
              <a:latin typeface="Montserrat"/>
              <a:ea typeface="Montserrat"/>
              <a:cs typeface="Montserrat"/>
              <a:sym typeface="Montserrat"/>
            </a:endParaRPr>
          </a:p>
          <a:p>
            <a:pPr indent="0" lvl="0" marL="0" rtl="0" algn="l">
              <a:lnSpc>
                <a:spcPct val="140041"/>
              </a:lnSpc>
              <a:spcBef>
                <a:spcPts val="0"/>
              </a:spcBef>
              <a:spcAft>
                <a:spcPts val="0"/>
              </a:spcAft>
              <a:buNone/>
            </a:pPr>
            <a:r>
              <a:t/>
            </a:r>
            <a:endParaRPr sz="2907">
              <a:latin typeface="Montserrat"/>
              <a:ea typeface="Montserrat"/>
              <a:cs typeface="Montserrat"/>
              <a:sym typeface="Montserrat"/>
            </a:endParaRPr>
          </a:p>
          <a:p>
            <a:pPr indent="0" lvl="0" marL="0" marR="0" rtl="0" algn="l">
              <a:lnSpc>
                <a:spcPct val="140041"/>
              </a:lnSpc>
              <a:spcBef>
                <a:spcPts val="0"/>
              </a:spcBef>
              <a:spcAft>
                <a:spcPts val="0"/>
              </a:spcAft>
              <a:buNone/>
            </a:pPr>
            <a:r>
              <a:t/>
            </a:r>
            <a:endParaRPr b="1" sz="2907">
              <a:latin typeface="Montserrat"/>
              <a:ea typeface="Montserrat"/>
              <a:cs typeface="Montserrat"/>
              <a:sym typeface="Montserrat"/>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512" name="Shape 512"/>
        <p:cNvGrpSpPr/>
        <p:nvPr/>
      </p:nvGrpSpPr>
      <p:grpSpPr>
        <a:xfrm>
          <a:off x="0" y="0"/>
          <a:ext cx="0" cy="0"/>
          <a:chOff x="0" y="0"/>
          <a:chExt cx="0" cy="0"/>
        </a:xfrm>
      </p:grpSpPr>
      <p:sp>
        <p:nvSpPr>
          <p:cNvPr id="513" name="Google Shape;513;g39ab1374e1b_0_463"/>
          <p:cNvSpPr/>
          <p:nvPr/>
        </p:nvSpPr>
        <p:spPr>
          <a:xfrm rot="-1971343">
            <a:off x="17167261" y="-1169177"/>
            <a:ext cx="5328220" cy="5288258"/>
          </a:xfrm>
          <a:custGeom>
            <a:rect b="b" l="l" r="r" t="t"/>
            <a:pathLst>
              <a:path extrusionOk="0" h="5288506" w="5328470">
                <a:moveTo>
                  <a:pt x="0" y="0"/>
                </a:moveTo>
                <a:lnTo>
                  <a:pt x="5328470" y="0"/>
                </a:lnTo>
                <a:lnTo>
                  <a:pt x="5328470" y="5288506"/>
                </a:lnTo>
                <a:lnTo>
                  <a:pt x="0" y="5288506"/>
                </a:lnTo>
                <a:lnTo>
                  <a:pt x="0" y="0"/>
                </a:lnTo>
                <a:close/>
              </a:path>
            </a:pathLst>
          </a:custGeom>
          <a:blipFill rotWithShape="1">
            <a:blip r:embed="rId3">
              <a:alphaModFix/>
            </a:blip>
            <a:stretch>
              <a:fillRect b="0" l="0" r="0" t="0"/>
            </a:stretch>
          </a:blipFill>
          <a:ln>
            <a:noFill/>
          </a:ln>
        </p:spPr>
      </p:sp>
      <p:sp>
        <p:nvSpPr>
          <p:cNvPr id="514" name="Google Shape;514;g39ab1374e1b_0_463"/>
          <p:cNvSpPr/>
          <p:nvPr/>
        </p:nvSpPr>
        <p:spPr>
          <a:xfrm flipH="1">
            <a:off x="-325893" y="-149361"/>
            <a:ext cx="1897814" cy="1999452"/>
          </a:xfrm>
          <a:custGeom>
            <a:rect b="b" l="l" r="r" t="t"/>
            <a:pathLst>
              <a:path extrusionOk="0" h="1999452" w="1897814">
                <a:moveTo>
                  <a:pt x="1897814" y="0"/>
                </a:moveTo>
                <a:lnTo>
                  <a:pt x="0" y="0"/>
                </a:lnTo>
                <a:lnTo>
                  <a:pt x="0" y="1999453"/>
                </a:lnTo>
                <a:lnTo>
                  <a:pt x="1897814" y="1999453"/>
                </a:lnTo>
                <a:lnTo>
                  <a:pt x="1897814" y="0"/>
                </a:lnTo>
                <a:close/>
              </a:path>
            </a:pathLst>
          </a:custGeom>
          <a:blipFill rotWithShape="1">
            <a:blip r:embed="rId4">
              <a:alphaModFix/>
            </a:blip>
            <a:stretch>
              <a:fillRect b="0" l="0" r="0" t="0"/>
            </a:stretch>
          </a:blipFill>
          <a:ln>
            <a:noFill/>
          </a:ln>
        </p:spPr>
      </p:sp>
      <p:sp>
        <p:nvSpPr>
          <p:cNvPr id="515" name="Google Shape;515;g39ab1374e1b_0_463"/>
          <p:cNvSpPr txBox="1"/>
          <p:nvPr/>
        </p:nvSpPr>
        <p:spPr>
          <a:xfrm>
            <a:off x="1571925" y="1443125"/>
            <a:ext cx="14574300" cy="2031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500">
                <a:solidFill>
                  <a:srgbClr val="014753"/>
                </a:solidFill>
                <a:latin typeface="Montserrat"/>
                <a:ea typeface="Montserrat"/>
                <a:cs typeface="Montserrat"/>
                <a:sym typeface="Montserrat"/>
              </a:rPr>
              <a:t>Plantilla formal de Requerimiento Plantilla de Atributo de Calidad (Escenario)</a:t>
            </a:r>
            <a:endParaRPr b="1" sz="4500">
              <a:solidFill>
                <a:srgbClr val="014753"/>
              </a:solidFill>
              <a:latin typeface="Montserrat"/>
              <a:ea typeface="Montserrat"/>
              <a:cs typeface="Montserrat"/>
              <a:sym typeface="Montserrat"/>
            </a:endParaRPr>
          </a:p>
          <a:p>
            <a:pPr indent="0" lvl="0" marL="0" marR="0" rtl="0" algn="l">
              <a:lnSpc>
                <a:spcPct val="140000"/>
              </a:lnSpc>
              <a:spcBef>
                <a:spcPts val="0"/>
              </a:spcBef>
              <a:spcAft>
                <a:spcPts val="0"/>
              </a:spcAft>
              <a:buNone/>
            </a:pPr>
            <a:r>
              <a:rPr lang="en-US" sz="4200">
                <a:solidFill>
                  <a:srgbClr val="014753"/>
                </a:solidFill>
                <a:latin typeface="Montserrat"/>
                <a:ea typeface="Montserrat"/>
                <a:cs typeface="Montserrat"/>
                <a:sym typeface="Montserrat"/>
              </a:rPr>
              <a:t>Basada en ISO 9126 / ISO 25010</a:t>
            </a:r>
            <a:endParaRPr sz="4200">
              <a:solidFill>
                <a:srgbClr val="014753"/>
              </a:solidFill>
              <a:latin typeface="Montserrat"/>
              <a:ea typeface="Montserrat"/>
              <a:cs typeface="Montserrat"/>
              <a:sym typeface="Montserrat"/>
            </a:endParaRPr>
          </a:p>
        </p:txBody>
      </p:sp>
      <p:graphicFrame>
        <p:nvGraphicFramePr>
          <p:cNvPr id="516" name="Google Shape;516;g39ab1374e1b_0_463"/>
          <p:cNvGraphicFramePr/>
          <p:nvPr/>
        </p:nvGraphicFramePr>
        <p:xfrm>
          <a:off x="3374438" y="4121725"/>
          <a:ext cx="3000000" cy="3000000"/>
        </p:xfrm>
        <a:graphic>
          <a:graphicData uri="http://schemas.openxmlformats.org/drawingml/2006/table">
            <a:tbl>
              <a:tblPr>
                <a:noFill/>
                <a:tableStyleId>{5672B294-9F4D-4053-8CF6-60F6C0413512}</a:tableStyleId>
              </a:tblPr>
              <a:tblGrid>
                <a:gridCol w="3299950"/>
                <a:gridCol w="7669325"/>
              </a:tblGrid>
              <a:tr h="449075">
                <a:tc>
                  <a:txBody>
                    <a:bodyPr/>
                    <a:lstStyle/>
                    <a:p>
                      <a:pPr indent="0" lvl="0" marL="0" rtl="0" algn="ctr">
                        <a:lnSpc>
                          <a:spcPct val="115000"/>
                        </a:lnSpc>
                        <a:spcBef>
                          <a:spcPts val="0"/>
                        </a:spcBef>
                        <a:spcAft>
                          <a:spcPts val="0"/>
                        </a:spcAft>
                        <a:buNone/>
                      </a:pPr>
                      <a:r>
                        <a:rPr b="1" lang="en-US" sz="2000">
                          <a:latin typeface="Montserrat"/>
                          <a:ea typeface="Montserrat"/>
                          <a:cs typeface="Montserrat"/>
                          <a:sym typeface="Montserrat"/>
                        </a:rPr>
                        <a:t>CAMPO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US" sz="2000">
                          <a:latin typeface="Montserrat"/>
                          <a:ea typeface="Montserrat"/>
                          <a:cs typeface="Montserrat"/>
                          <a:sym typeface="Montserrat"/>
                        </a:rPr>
                        <a:t>CONTENIDO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EFEFEF"/>
                    </a:solidFill>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ID</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EAC-001</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Atributo de Calidad</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(Cuál de los 10 aplica) </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Escenario crudo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Situación real que lo origina</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Estímulo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Evento o acción que lo dispara</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Fuente del estímulo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Quién o qué genera el evento</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Entorno  </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Condiciones en que ocurre   </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Artefacto  </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Componente del sistema afectado </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Respuesta esperada </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Cómo debe reaccionar el sistema</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Medida de la respuesta</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SIEMPRE un número medible</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Objetivo de negocio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Por qué importa al negocio  </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520" name="Shape 520"/>
        <p:cNvGrpSpPr/>
        <p:nvPr/>
      </p:nvGrpSpPr>
      <p:grpSpPr>
        <a:xfrm>
          <a:off x="0" y="0"/>
          <a:ext cx="0" cy="0"/>
          <a:chOff x="0" y="0"/>
          <a:chExt cx="0" cy="0"/>
        </a:xfrm>
      </p:grpSpPr>
      <p:sp>
        <p:nvSpPr>
          <p:cNvPr id="521" name="Google Shape;521;g39ab1374e1b_0_470"/>
          <p:cNvSpPr/>
          <p:nvPr/>
        </p:nvSpPr>
        <p:spPr>
          <a:xfrm rot="-1971343">
            <a:off x="17167261" y="-1169177"/>
            <a:ext cx="5328220" cy="5288258"/>
          </a:xfrm>
          <a:custGeom>
            <a:rect b="b" l="l" r="r" t="t"/>
            <a:pathLst>
              <a:path extrusionOk="0" h="5288506" w="5328470">
                <a:moveTo>
                  <a:pt x="0" y="0"/>
                </a:moveTo>
                <a:lnTo>
                  <a:pt x="5328470" y="0"/>
                </a:lnTo>
                <a:lnTo>
                  <a:pt x="5328470" y="5288506"/>
                </a:lnTo>
                <a:lnTo>
                  <a:pt x="0" y="5288506"/>
                </a:lnTo>
                <a:lnTo>
                  <a:pt x="0" y="0"/>
                </a:lnTo>
                <a:close/>
              </a:path>
            </a:pathLst>
          </a:custGeom>
          <a:blipFill rotWithShape="1">
            <a:blip r:embed="rId3">
              <a:alphaModFix/>
            </a:blip>
            <a:stretch>
              <a:fillRect b="0" l="0" r="0" t="0"/>
            </a:stretch>
          </a:blipFill>
          <a:ln>
            <a:noFill/>
          </a:ln>
        </p:spPr>
      </p:sp>
      <p:sp>
        <p:nvSpPr>
          <p:cNvPr id="522" name="Google Shape;522;g39ab1374e1b_0_470"/>
          <p:cNvSpPr/>
          <p:nvPr/>
        </p:nvSpPr>
        <p:spPr>
          <a:xfrm flipH="1">
            <a:off x="-325893" y="-149361"/>
            <a:ext cx="1897814" cy="1999452"/>
          </a:xfrm>
          <a:custGeom>
            <a:rect b="b" l="l" r="r" t="t"/>
            <a:pathLst>
              <a:path extrusionOk="0" h="1999452" w="1897814">
                <a:moveTo>
                  <a:pt x="1897814" y="0"/>
                </a:moveTo>
                <a:lnTo>
                  <a:pt x="0" y="0"/>
                </a:lnTo>
                <a:lnTo>
                  <a:pt x="0" y="1999453"/>
                </a:lnTo>
                <a:lnTo>
                  <a:pt x="1897814" y="1999453"/>
                </a:lnTo>
                <a:lnTo>
                  <a:pt x="1897814" y="0"/>
                </a:lnTo>
                <a:close/>
              </a:path>
            </a:pathLst>
          </a:custGeom>
          <a:blipFill rotWithShape="1">
            <a:blip r:embed="rId4">
              <a:alphaModFix/>
            </a:blip>
            <a:stretch>
              <a:fillRect b="0" l="0" r="0" t="0"/>
            </a:stretch>
          </a:blipFill>
          <a:ln>
            <a:noFill/>
          </a:ln>
        </p:spPr>
      </p:sp>
      <p:sp>
        <p:nvSpPr>
          <p:cNvPr id="523" name="Google Shape;523;g39ab1374e1b_0_470"/>
          <p:cNvSpPr txBox="1"/>
          <p:nvPr/>
        </p:nvSpPr>
        <p:spPr>
          <a:xfrm>
            <a:off x="1571925" y="1443125"/>
            <a:ext cx="14574300" cy="2031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500">
                <a:solidFill>
                  <a:srgbClr val="014753"/>
                </a:solidFill>
                <a:latin typeface="Montserrat"/>
                <a:ea typeface="Montserrat"/>
                <a:cs typeface="Montserrat"/>
                <a:sym typeface="Montserrat"/>
              </a:rPr>
              <a:t>Plantilla formal de Requerimiento Plantilla de Atributo de Calidad (Escenario)</a:t>
            </a:r>
            <a:endParaRPr b="1" sz="4500">
              <a:solidFill>
                <a:srgbClr val="014753"/>
              </a:solidFill>
              <a:latin typeface="Montserrat"/>
              <a:ea typeface="Montserrat"/>
              <a:cs typeface="Montserrat"/>
              <a:sym typeface="Montserrat"/>
            </a:endParaRPr>
          </a:p>
          <a:p>
            <a:pPr indent="0" lvl="0" marL="0" marR="0" rtl="0" algn="l">
              <a:lnSpc>
                <a:spcPct val="140000"/>
              </a:lnSpc>
              <a:spcBef>
                <a:spcPts val="0"/>
              </a:spcBef>
              <a:spcAft>
                <a:spcPts val="0"/>
              </a:spcAft>
              <a:buNone/>
            </a:pPr>
            <a:r>
              <a:rPr lang="en-US" sz="4200">
                <a:solidFill>
                  <a:srgbClr val="014753"/>
                </a:solidFill>
                <a:latin typeface="Montserrat"/>
                <a:ea typeface="Montserrat"/>
                <a:cs typeface="Montserrat"/>
                <a:sym typeface="Montserrat"/>
              </a:rPr>
              <a:t>Ejemplo</a:t>
            </a:r>
            <a:endParaRPr sz="4200">
              <a:solidFill>
                <a:srgbClr val="014753"/>
              </a:solidFill>
              <a:latin typeface="Montserrat"/>
              <a:ea typeface="Montserrat"/>
              <a:cs typeface="Montserrat"/>
              <a:sym typeface="Montserrat"/>
            </a:endParaRPr>
          </a:p>
        </p:txBody>
      </p:sp>
      <p:graphicFrame>
        <p:nvGraphicFramePr>
          <p:cNvPr id="524" name="Google Shape;524;g39ab1374e1b_0_470"/>
          <p:cNvGraphicFramePr/>
          <p:nvPr/>
        </p:nvGraphicFramePr>
        <p:xfrm>
          <a:off x="3374438" y="4121725"/>
          <a:ext cx="3000000" cy="3000000"/>
        </p:xfrm>
        <a:graphic>
          <a:graphicData uri="http://schemas.openxmlformats.org/drawingml/2006/table">
            <a:tbl>
              <a:tblPr>
                <a:noFill/>
                <a:tableStyleId>{5672B294-9F4D-4053-8CF6-60F6C0413512}</a:tableStyleId>
              </a:tblPr>
              <a:tblGrid>
                <a:gridCol w="3299950"/>
                <a:gridCol w="7669325"/>
              </a:tblGrid>
              <a:tr h="449075">
                <a:tc>
                  <a:txBody>
                    <a:bodyPr/>
                    <a:lstStyle/>
                    <a:p>
                      <a:pPr indent="0" lvl="0" marL="0" rtl="0" algn="ctr">
                        <a:lnSpc>
                          <a:spcPct val="115000"/>
                        </a:lnSpc>
                        <a:spcBef>
                          <a:spcPts val="0"/>
                        </a:spcBef>
                        <a:spcAft>
                          <a:spcPts val="0"/>
                        </a:spcAft>
                        <a:buNone/>
                      </a:pPr>
                      <a:r>
                        <a:rPr b="1" lang="en-US" sz="2000">
                          <a:latin typeface="Montserrat"/>
                          <a:ea typeface="Montserrat"/>
                          <a:cs typeface="Montserrat"/>
                          <a:sym typeface="Montserrat"/>
                        </a:rPr>
                        <a:t>CAMPO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US" sz="2000">
                          <a:latin typeface="Montserrat"/>
                          <a:ea typeface="Montserrat"/>
                          <a:cs typeface="Montserrat"/>
                          <a:sym typeface="Montserrat"/>
                        </a:rPr>
                        <a:t>CONTENIDO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EFEFEF"/>
                    </a:solidFill>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ID</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EAC-001</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Atributo de Calidad</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Disponibilidad</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Escenario crudo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Estudiante intenta ver sus  calificaciones a las 11 PM del cierre de semestre, durante mantenimiento planificado.</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Estímulo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Solicitud de acceso al sistema </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Fuente del estímulo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Estudiante (usuario final)</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Entorno  </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Operación 24/7 con mantenimientos</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Artefacto  </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Infraestructura (servidores, BD)</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Respuesta esperada </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Sistema disponible y respondiendo</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Medida de la respuesta</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99.9% uptime mensual (máx. 43 minutos de downtime/mes)</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490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Objetivo de negocio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Garantizar acceso en períodos críticos del calendario académico</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528" name="Shape 528"/>
        <p:cNvGrpSpPr/>
        <p:nvPr/>
      </p:nvGrpSpPr>
      <p:grpSpPr>
        <a:xfrm>
          <a:off x="0" y="0"/>
          <a:ext cx="0" cy="0"/>
          <a:chOff x="0" y="0"/>
          <a:chExt cx="0" cy="0"/>
        </a:xfrm>
      </p:grpSpPr>
      <p:sp>
        <p:nvSpPr>
          <p:cNvPr id="529" name="Google Shape;529;g39ab1374e1b_0_477"/>
          <p:cNvSpPr/>
          <p:nvPr/>
        </p:nvSpPr>
        <p:spPr>
          <a:xfrm rot="-1971343">
            <a:off x="17167261" y="-1169177"/>
            <a:ext cx="5328220" cy="5288258"/>
          </a:xfrm>
          <a:custGeom>
            <a:rect b="b" l="l" r="r" t="t"/>
            <a:pathLst>
              <a:path extrusionOk="0" h="5288506" w="5328470">
                <a:moveTo>
                  <a:pt x="0" y="0"/>
                </a:moveTo>
                <a:lnTo>
                  <a:pt x="5328470" y="0"/>
                </a:lnTo>
                <a:lnTo>
                  <a:pt x="5328470" y="5288506"/>
                </a:lnTo>
                <a:lnTo>
                  <a:pt x="0" y="5288506"/>
                </a:lnTo>
                <a:lnTo>
                  <a:pt x="0" y="0"/>
                </a:lnTo>
                <a:close/>
              </a:path>
            </a:pathLst>
          </a:custGeom>
          <a:blipFill rotWithShape="1">
            <a:blip r:embed="rId3">
              <a:alphaModFix/>
            </a:blip>
            <a:stretch>
              <a:fillRect b="0" l="0" r="0" t="0"/>
            </a:stretch>
          </a:blipFill>
          <a:ln>
            <a:noFill/>
          </a:ln>
        </p:spPr>
      </p:sp>
      <p:sp>
        <p:nvSpPr>
          <p:cNvPr id="530" name="Google Shape;530;g39ab1374e1b_0_477"/>
          <p:cNvSpPr/>
          <p:nvPr/>
        </p:nvSpPr>
        <p:spPr>
          <a:xfrm flipH="1">
            <a:off x="-325893" y="-149361"/>
            <a:ext cx="1897814" cy="1999452"/>
          </a:xfrm>
          <a:custGeom>
            <a:rect b="b" l="l" r="r" t="t"/>
            <a:pathLst>
              <a:path extrusionOk="0" h="1999452" w="1897814">
                <a:moveTo>
                  <a:pt x="1897814" y="0"/>
                </a:moveTo>
                <a:lnTo>
                  <a:pt x="0" y="0"/>
                </a:lnTo>
                <a:lnTo>
                  <a:pt x="0" y="1999453"/>
                </a:lnTo>
                <a:lnTo>
                  <a:pt x="1897814" y="1999453"/>
                </a:lnTo>
                <a:lnTo>
                  <a:pt x="1897814" y="0"/>
                </a:lnTo>
                <a:close/>
              </a:path>
            </a:pathLst>
          </a:custGeom>
          <a:blipFill rotWithShape="1">
            <a:blip r:embed="rId4">
              <a:alphaModFix/>
            </a:blip>
            <a:stretch>
              <a:fillRect b="0" l="0" r="0" t="0"/>
            </a:stretch>
          </a:blipFill>
          <a:ln>
            <a:noFill/>
          </a:ln>
        </p:spPr>
      </p:sp>
      <p:sp>
        <p:nvSpPr>
          <p:cNvPr id="531" name="Google Shape;531;g39ab1374e1b_0_477"/>
          <p:cNvSpPr txBox="1"/>
          <p:nvPr/>
        </p:nvSpPr>
        <p:spPr>
          <a:xfrm>
            <a:off x="1571925" y="1443125"/>
            <a:ext cx="14574300" cy="133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500">
                <a:solidFill>
                  <a:srgbClr val="014753"/>
                </a:solidFill>
                <a:latin typeface="Montserrat"/>
                <a:ea typeface="Montserrat"/>
                <a:cs typeface="Montserrat"/>
                <a:sym typeface="Montserrat"/>
              </a:rPr>
              <a:t>Plantilla formal de Requerimiento Funcional</a:t>
            </a:r>
            <a:endParaRPr b="1" sz="4500">
              <a:solidFill>
                <a:srgbClr val="014753"/>
              </a:solidFill>
              <a:latin typeface="Montserrat"/>
              <a:ea typeface="Montserrat"/>
              <a:cs typeface="Montserrat"/>
              <a:sym typeface="Montserrat"/>
            </a:endParaRPr>
          </a:p>
          <a:p>
            <a:pPr indent="0" lvl="0" marL="0" marR="0" rtl="0" algn="l">
              <a:lnSpc>
                <a:spcPct val="140000"/>
              </a:lnSpc>
              <a:spcBef>
                <a:spcPts val="0"/>
              </a:spcBef>
              <a:spcAft>
                <a:spcPts val="0"/>
              </a:spcAft>
              <a:buNone/>
            </a:pPr>
            <a:r>
              <a:rPr lang="en-US" sz="4200">
                <a:solidFill>
                  <a:srgbClr val="014753"/>
                </a:solidFill>
                <a:latin typeface="Montserrat"/>
                <a:ea typeface="Montserrat"/>
                <a:cs typeface="Montserrat"/>
                <a:sym typeface="Montserrat"/>
              </a:rPr>
              <a:t>Ejemplo</a:t>
            </a:r>
            <a:endParaRPr sz="4200">
              <a:solidFill>
                <a:srgbClr val="014753"/>
              </a:solidFill>
              <a:latin typeface="Montserrat"/>
              <a:ea typeface="Montserrat"/>
              <a:cs typeface="Montserrat"/>
              <a:sym typeface="Montserrat"/>
            </a:endParaRPr>
          </a:p>
        </p:txBody>
      </p:sp>
      <p:graphicFrame>
        <p:nvGraphicFramePr>
          <p:cNvPr id="532" name="Google Shape;532;g39ab1374e1b_0_477"/>
          <p:cNvGraphicFramePr/>
          <p:nvPr/>
        </p:nvGraphicFramePr>
        <p:xfrm>
          <a:off x="2898913" y="3293950"/>
          <a:ext cx="3000000" cy="3000000"/>
        </p:xfrm>
        <a:graphic>
          <a:graphicData uri="http://schemas.openxmlformats.org/drawingml/2006/table">
            <a:tbl>
              <a:tblPr>
                <a:noFill/>
                <a:tableStyleId>{5672B294-9F4D-4053-8CF6-60F6C0413512}</a:tableStyleId>
              </a:tblPr>
              <a:tblGrid>
                <a:gridCol w="3223975"/>
                <a:gridCol w="8696325"/>
              </a:tblGrid>
              <a:tr h="372275">
                <a:tc>
                  <a:txBody>
                    <a:bodyPr/>
                    <a:lstStyle/>
                    <a:p>
                      <a:pPr indent="0" lvl="0" marL="0" rtl="0" algn="ctr">
                        <a:lnSpc>
                          <a:spcPct val="115000"/>
                        </a:lnSpc>
                        <a:spcBef>
                          <a:spcPts val="0"/>
                        </a:spcBef>
                        <a:spcAft>
                          <a:spcPts val="0"/>
                        </a:spcAft>
                        <a:buNone/>
                      </a:pPr>
                      <a:r>
                        <a:rPr b="1" lang="en-US" sz="2000">
                          <a:latin typeface="Montserrat"/>
                          <a:ea typeface="Montserrat"/>
                          <a:cs typeface="Montserrat"/>
                          <a:sym typeface="Montserrat"/>
                        </a:rPr>
                        <a:t>CAMPO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US" sz="2000">
                          <a:latin typeface="Montserrat"/>
                          <a:ea typeface="Montserrat"/>
                          <a:cs typeface="Montserrat"/>
                          <a:sym typeface="Montserrat"/>
                        </a:rPr>
                        <a:t>CONTENIDO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EFEFEF"/>
                    </a:solidFill>
                  </a:tcPr>
                </a:tc>
              </a:tr>
              <a:tr h="3722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ID</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RF-001</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722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Función</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Autenticación de usuario</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748050">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Descripción</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El sistema debe permitir al usuario iniciar sesión con correo y contraseña.</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5073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Entradas</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Correo electrónico, contraseña</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5073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Fuentes</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Formulario de login (interfaz web)</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5073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Salida</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Acceso concedido o mensaje de error</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722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Destino</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Pantalla principal del sistema</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988750">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Acción</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Validar credenciales contra la base de datos. Si son correctas, crear sesión. Si no, mostrar mensaje de error.</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5073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Precondición</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El usuario debe estar registrado en el sistema</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5073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Postcondición</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El usuario tiene sesión activa o se registra el intento fallido</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72275">
                <a:tc>
                  <a:txBody>
                    <a:bodyPr/>
                    <a:lstStyle/>
                    <a:p>
                      <a:pPr indent="0" lvl="0" marL="0" rtl="0" algn="l">
                        <a:lnSpc>
                          <a:spcPct val="115000"/>
                        </a:lnSpc>
                        <a:spcBef>
                          <a:spcPts val="0"/>
                        </a:spcBef>
                        <a:spcAft>
                          <a:spcPts val="0"/>
                        </a:spcAft>
                        <a:buNone/>
                      </a:pPr>
                      <a:r>
                        <a:rPr b="1" lang="en-US" sz="2000">
                          <a:latin typeface="Montserrat"/>
                          <a:ea typeface="Montserrat"/>
                          <a:cs typeface="Montserrat"/>
                          <a:sym typeface="Montserrat"/>
                        </a:rPr>
                        <a:t>Prioridad</a:t>
                      </a:r>
                      <a:endParaRPr b="1"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Montserrat"/>
                          <a:ea typeface="Montserrat"/>
                          <a:cs typeface="Montserrat"/>
                          <a:sym typeface="Montserrat"/>
                        </a:rPr>
                        <a:t>Alta</a:t>
                      </a:r>
                      <a:endParaRPr sz="2000">
                        <a:latin typeface="Montserrat"/>
                        <a:ea typeface="Montserrat"/>
                        <a:cs typeface="Montserrat"/>
                        <a:sym typeface="Montserrat"/>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7"/>
          <p:cNvSpPr/>
          <p:nvPr/>
        </p:nvSpPr>
        <p:spPr>
          <a:xfrm>
            <a:off x="3493371" y="547445"/>
            <a:ext cx="11301259" cy="1553923"/>
          </a:xfrm>
          <a:custGeom>
            <a:rect b="b" l="l" r="r" t="t"/>
            <a:pathLst>
              <a:path extrusionOk="0" h="1553923" w="11301259">
                <a:moveTo>
                  <a:pt x="0" y="0"/>
                </a:moveTo>
                <a:lnTo>
                  <a:pt x="11301258" y="0"/>
                </a:lnTo>
                <a:lnTo>
                  <a:pt x="11301258" y="1553923"/>
                </a:lnTo>
                <a:lnTo>
                  <a:pt x="0" y="1553923"/>
                </a:lnTo>
                <a:lnTo>
                  <a:pt x="0" y="0"/>
                </a:lnTo>
                <a:close/>
              </a:path>
            </a:pathLst>
          </a:custGeom>
          <a:blipFill rotWithShape="1">
            <a:blip r:embed="rId3">
              <a:alphaModFix/>
            </a:blip>
            <a:stretch>
              <a:fillRect b="0" l="0" r="0" t="0"/>
            </a:stretch>
          </a:blipFill>
          <a:ln>
            <a:noFill/>
          </a:ln>
        </p:spPr>
      </p:sp>
      <p:sp>
        <p:nvSpPr>
          <p:cNvPr id="538" name="Google Shape;538;p7"/>
          <p:cNvSpPr/>
          <p:nvPr/>
        </p:nvSpPr>
        <p:spPr>
          <a:xfrm>
            <a:off x="1967873" y="2798489"/>
            <a:ext cx="14352253" cy="5956185"/>
          </a:xfrm>
          <a:custGeom>
            <a:rect b="b" l="l" r="r" t="t"/>
            <a:pathLst>
              <a:path extrusionOk="0" h="5956185" w="14352253">
                <a:moveTo>
                  <a:pt x="0" y="0"/>
                </a:moveTo>
                <a:lnTo>
                  <a:pt x="14352254" y="0"/>
                </a:lnTo>
                <a:lnTo>
                  <a:pt x="14352254" y="5956185"/>
                </a:lnTo>
                <a:lnTo>
                  <a:pt x="0" y="5956185"/>
                </a:lnTo>
                <a:lnTo>
                  <a:pt x="0" y="0"/>
                </a:lnTo>
                <a:close/>
              </a:path>
            </a:pathLst>
          </a:custGeom>
          <a:blipFill rotWithShape="1">
            <a:blip r:embed="rId4">
              <a:alphaModFix/>
            </a:blip>
            <a:stretch>
              <a:fillRect b="0" l="0" r="0" t="0"/>
            </a:stretch>
          </a:blipFill>
          <a:ln>
            <a:noFill/>
          </a:ln>
        </p:spPr>
      </p:sp>
      <p:sp>
        <p:nvSpPr>
          <p:cNvPr id="539" name="Google Shape;539;p7"/>
          <p:cNvSpPr txBox="1"/>
          <p:nvPr/>
        </p:nvSpPr>
        <p:spPr>
          <a:xfrm>
            <a:off x="2474699" y="3684450"/>
            <a:ext cx="12319800" cy="4497000"/>
          </a:xfrm>
          <a:prstGeom prst="rect">
            <a:avLst/>
          </a:prstGeom>
          <a:noFill/>
          <a:ln>
            <a:noFill/>
          </a:ln>
        </p:spPr>
        <p:txBody>
          <a:bodyPr anchorCtr="0" anchor="t" bIns="0" lIns="0" spcFirstLastPara="1" rIns="0" wrap="square" tIns="0">
            <a:spAutoFit/>
          </a:bodyPr>
          <a:lstStyle/>
          <a:p>
            <a:pPr indent="-431800" lvl="1" marL="914400" rtl="0" algn="l">
              <a:lnSpc>
                <a:spcPct val="119984"/>
              </a:lnSpc>
              <a:spcBef>
                <a:spcPts val="0"/>
              </a:spcBef>
              <a:spcAft>
                <a:spcPts val="0"/>
              </a:spcAft>
              <a:buSzPts val="3200"/>
              <a:buChar char="•"/>
            </a:pPr>
            <a:r>
              <a:rPr b="1" lang="en-US" sz="2657">
                <a:solidFill>
                  <a:srgbClr val="372A28"/>
                </a:solidFill>
              </a:rPr>
              <a:t>Ciclo de Vida del Software </a:t>
            </a:r>
            <a:endParaRPr b="1" sz="2657">
              <a:solidFill>
                <a:srgbClr val="372A28"/>
              </a:solidFill>
            </a:endParaRPr>
          </a:p>
          <a:p>
            <a:pPr indent="0" lvl="0" marL="914400" rtl="0" algn="l">
              <a:lnSpc>
                <a:spcPct val="119984"/>
              </a:lnSpc>
              <a:spcBef>
                <a:spcPts val="0"/>
              </a:spcBef>
              <a:spcAft>
                <a:spcPts val="0"/>
              </a:spcAft>
              <a:buNone/>
            </a:pPr>
            <a:r>
              <a:rPr lang="en-US" sz="2657">
                <a:solidFill>
                  <a:srgbClr val="372A28"/>
                </a:solidFill>
              </a:rPr>
              <a:t>Comprensión de las fases que recorre un proyecto de software desde su concepción hasta su retiro, incluyendo actividades de aseguramiento de la calidad en cada etapa</a:t>
            </a:r>
            <a:endParaRPr sz="2657">
              <a:solidFill>
                <a:srgbClr val="372A28"/>
              </a:solidFill>
            </a:endParaRPr>
          </a:p>
          <a:p>
            <a:pPr indent="0" lvl="0" marL="914400" rtl="0" algn="l">
              <a:lnSpc>
                <a:spcPct val="119984"/>
              </a:lnSpc>
              <a:spcBef>
                <a:spcPts val="0"/>
              </a:spcBef>
              <a:spcAft>
                <a:spcPts val="0"/>
              </a:spcAft>
              <a:buNone/>
            </a:pPr>
            <a:r>
              <a:rPr lang="en-US" sz="2657">
                <a:solidFill>
                  <a:srgbClr val="372A28"/>
                </a:solidFill>
              </a:rPr>
              <a:t>.</a:t>
            </a:r>
            <a:endParaRPr sz="3200">
              <a:latin typeface="Open Sans"/>
              <a:ea typeface="Open Sans"/>
              <a:cs typeface="Open Sans"/>
              <a:sym typeface="Open Sans"/>
            </a:endParaRPr>
          </a:p>
          <a:p>
            <a:pPr indent="-431800" lvl="1" marL="914400" rtl="0" algn="l">
              <a:lnSpc>
                <a:spcPct val="119984"/>
              </a:lnSpc>
              <a:spcBef>
                <a:spcPts val="0"/>
              </a:spcBef>
              <a:spcAft>
                <a:spcPts val="0"/>
              </a:spcAft>
              <a:buSzPts val="3200"/>
              <a:buChar char="•"/>
            </a:pPr>
            <a:r>
              <a:rPr b="1" lang="en-US" sz="2584">
                <a:solidFill>
                  <a:srgbClr val="372A28"/>
                </a:solidFill>
              </a:rPr>
              <a:t>Aseguramiento de la Calidad del Software (SQA)</a:t>
            </a:r>
            <a:endParaRPr b="1" sz="2584">
              <a:solidFill>
                <a:srgbClr val="372A28"/>
              </a:solidFill>
            </a:endParaRPr>
          </a:p>
          <a:p>
            <a:pPr indent="0" lvl="0" marL="914400" rtl="0" algn="l">
              <a:lnSpc>
                <a:spcPct val="119984"/>
              </a:lnSpc>
              <a:spcBef>
                <a:spcPts val="0"/>
              </a:spcBef>
              <a:spcAft>
                <a:spcPts val="0"/>
              </a:spcAft>
              <a:buNone/>
            </a:pPr>
            <a:r>
              <a:rPr lang="en-US">
                <a:solidFill>
                  <a:schemeClr val="dk1"/>
                </a:solidFill>
              </a:rPr>
              <a:t> </a:t>
            </a:r>
            <a:r>
              <a:rPr lang="en-US" sz="2584">
                <a:solidFill>
                  <a:srgbClr val="372A28"/>
                </a:solidFill>
              </a:rPr>
              <a:t>Se extiende a lo largo de todo el ciclo de vida del software con el objetivo de prevenirdefectos y asegurar el cumplimiento de estándares y requisitos del cliente.</a:t>
            </a:r>
            <a:endParaRPr sz="3200">
              <a:latin typeface="Open Sans"/>
              <a:ea typeface="Open Sans"/>
              <a:cs typeface="Open Sans"/>
              <a:sym typeface="Open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g39ab1374e1b_0_531"/>
          <p:cNvSpPr/>
          <p:nvPr/>
        </p:nvSpPr>
        <p:spPr>
          <a:xfrm>
            <a:off x="3493371" y="547445"/>
            <a:ext cx="11301259" cy="1553923"/>
          </a:xfrm>
          <a:custGeom>
            <a:rect b="b" l="l" r="r" t="t"/>
            <a:pathLst>
              <a:path extrusionOk="0" h="1553923" w="11301259">
                <a:moveTo>
                  <a:pt x="0" y="0"/>
                </a:moveTo>
                <a:lnTo>
                  <a:pt x="11301258" y="0"/>
                </a:lnTo>
                <a:lnTo>
                  <a:pt x="11301258" y="1553923"/>
                </a:lnTo>
                <a:lnTo>
                  <a:pt x="0" y="1553923"/>
                </a:lnTo>
                <a:lnTo>
                  <a:pt x="0" y="0"/>
                </a:lnTo>
                <a:close/>
              </a:path>
            </a:pathLst>
          </a:custGeom>
          <a:blipFill rotWithShape="1">
            <a:blip r:embed="rId3">
              <a:alphaModFix/>
            </a:blip>
            <a:stretch>
              <a:fillRect b="0" l="0" r="0" t="0"/>
            </a:stretch>
          </a:blipFill>
          <a:ln>
            <a:noFill/>
          </a:ln>
        </p:spPr>
      </p:sp>
      <p:sp>
        <p:nvSpPr>
          <p:cNvPr id="545" name="Google Shape;545;g39ab1374e1b_0_531"/>
          <p:cNvSpPr/>
          <p:nvPr/>
        </p:nvSpPr>
        <p:spPr>
          <a:xfrm>
            <a:off x="1967873" y="2798489"/>
            <a:ext cx="14352253" cy="5956185"/>
          </a:xfrm>
          <a:custGeom>
            <a:rect b="b" l="l" r="r" t="t"/>
            <a:pathLst>
              <a:path extrusionOk="0" h="5956185" w="14352253">
                <a:moveTo>
                  <a:pt x="0" y="0"/>
                </a:moveTo>
                <a:lnTo>
                  <a:pt x="14352254" y="0"/>
                </a:lnTo>
                <a:lnTo>
                  <a:pt x="14352254" y="5956185"/>
                </a:lnTo>
                <a:lnTo>
                  <a:pt x="0" y="5956185"/>
                </a:lnTo>
                <a:lnTo>
                  <a:pt x="0" y="0"/>
                </a:lnTo>
                <a:close/>
              </a:path>
            </a:pathLst>
          </a:custGeom>
          <a:blipFill rotWithShape="1">
            <a:blip r:embed="rId4">
              <a:alphaModFix/>
            </a:blip>
            <a:stretch>
              <a:fillRect b="0" l="0" r="0" t="0"/>
            </a:stretch>
          </a:blipFill>
          <a:ln>
            <a:noFill/>
          </a:ln>
        </p:spPr>
      </p:sp>
      <p:sp>
        <p:nvSpPr>
          <p:cNvPr id="546" name="Google Shape;546;g39ab1374e1b_0_531"/>
          <p:cNvSpPr txBox="1"/>
          <p:nvPr/>
        </p:nvSpPr>
        <p:spPr>
          <a:xfrm>
            <a:off x="5196125" y="3270250"/>
            <a:ext cx="9598500" cy="5012700"/>
          </a:xfrm>
          <a:prstGeom prst="rect">
            <a:avLst/>
          </a:prstGeom>
          <a:noFill/>
          <a:ln>
            <a:noFill/>
          </a:ln>
        </p:spPr>
        <p:txBody>
          <a:bodyPr anchorCtr="0" anchor="t" bIns="0" lIns="0" spcFirstLastPara="1" rIns="0" wrap="square" tIns="0">
            <a:spAutoFit/>
          </a:bodyPr>
          <a:lstStyle/>
          <a:p>
            <a:pPr indent="0" lvl="0" marL="0" rtl="0" algn="l">
              <a:lnSpc>
                <a:spcPct val="119969"/>
              </a:lnSpc>
              <a:spcBef>
                <a:spcPts val="0"/>
              </a:spcBef>
              <a:spcAft>
                <a:spcPts val="0"/>
              </a:spcAft>
              <a:buClr>
                <a:schemeClr val="dk1"/>
              </a:buClr>
              <a:buSzPts val="2584"/>
              <a:buFont typeface="Arial"/>
              <a:buNone/>
            </a:pPr>
            <a:r>
              <a:rPr b="1" lang="en-US" sz="2484">
                <a:solidFill>
                  <a:srgbClr val="372A28"/>
                </a:solidFill>
                <a:latin typeface="Montserrat"/>
                <a:ea typeface="Montserrat"/>
                <a:cs typeface="Montserrat"/>
                <a:sym typeface="Montserrat"/>
              </a:rPr>
              <a:t>CHECKLIST — ¿Es un buen requerimiento?</a:t>
            </a:r>
            <a:endParaRPr b="1" sz="2484">
              <a:solidFill>
                <a:srgbClr val="372A28"/>
              </a:solidFill>
              <a:latin typeface="Montserrat"/>
              <a:ea typeface="Montserrat"/>
              <a:cs typeface="Montserrat"/>
              <a:sym typeface="Montserrat"/>
            </a:endParaRPr>
          </a:p>
          <a:p>
            <a:pPr indent="0" lvl="0" marL="0" rtl="0" algn="l">
              <a:lnSpc>
                <a:spcPct val="119969"/>
              </a:lnSpc>
              <a:spcBef>
                <a:spcPts val="0"/>
              </a:spcBef>
              <a:spcAft>
                <a:spcPts val="0"/>
              </a:spcAft>
              <a:buClr>
                <a:schemeClr val="dk1"/>
              </a:buClr>
              <a:buSzPts val="2584"/>
              <a:buFont typeface="Arial"/>
              <a:buNone/>
            </a:pPr>
            <a:r>
              <a:rPr b="1" lang="en-US" sz="2084">
                <a:solidFill>
                  <a:srgbClr val="372A28"/>
                </a:solidFill>
                <a:latin typeface="Montserrat"/>
                <a:ea typeface="Montserrat"/>
                <a:cs typeface="Montserrat"/>
                <a:sym typeface="Montserrat"/>
              </a:rPr>
              <a:t>    ───────────────────────────────────</a:t>
            </a:r>
            <a:endParaRPr b="1" sz="2084">
              <a:solidFill>
                <a:srgbClr val="372A28"/>
              </a:solidFill>
              <a:latin typeface="Montserrat"/>
              <a:ea typeface="Montserrat"/>
              <a:cs typeface="Montserrat"/>
              <a:sym typeface="Montserrat"/>
            </a:endParaRPr>
          </a:p>
          <a:p>
            <a:pPr indent="0" lvl="0" marL="0" rtl="0" algn="ctr">
              <a:lnSpc>
                <a:spcPct val="119969"/>
              </a:lnSpc>
              <a:spcBef>
                <a:spcPts val="0"/>
              </a:spcBef>
              <a:spcAft>
                <a:spcPts val="0"/>
              </a:spcAft>
              <a:buClr>
                <a:schemeClr val="dk1"/>
              </a:buClr>
              <a:buSzPts val="2584"/>
              <a:buFont typeface="Arial"/>
              <a:buNone/>
            </a:pPr>
            <a:r>
              <a:t/>
            </a:r>
            <a:endParaRPr b="1" sz="2084">
              <a:solidFill>
                <a:srgbClr val="372A28"/>
              </a:solidFill>
              <a:latin typeface="Montserrat"/>
              <a:ea typeface="Montserrat"/>
              <a:cs typeface="Montserrat"/>
              <a:sym typeface="Montserrat"/>
            </a:endParaRPr>
          </a:p>
          <a:p>
            <a:pPr indent="0" lvl="0" marL="0" rtl="0" algn="l">
              <a:lnSpc>
                <a:spcPct val="119969"/>
              </a:lnSpc>
              <a:spcBef>
                <a:spcPts val="0"/>
              </a:spcBef>
              <a:spcAft>
                <a:spcPts val="0"/>
              </a:spcAft>
              <a:buClr>
                <a:schemeClr val="dk1"/>
              </a:buClr>
              <a:buSzPts val="2584"/>
              <a:buFont typeface="Arial"/>
              <a:buNone/>
            </a:pPr>
            <a:r>
              <a:rPr b="1" lang="en-US" sz="2084">
                <a:solidFill>
                  <a:srgbClr val="372A28"/>
                </a:solidFill>
                <a:latin typeface="Montserrat"/>
                <a:ea typeface="Montserrat"/>
                <a:cs typeface="Montserrat"/>
                <a:sym typeface="Montserrat"/>
              </a:rPr>
              <a:t> </a:t>
            </a:r>
            <a:r>
              <a:rPr lang="en-US" sz="2084">
                <a:solidFill>
                  <a:srgbClr val="372A28"/>
                </a:solidFill>
                <a:latin typeface="Montserrat"/>
                <a:ea typeface="Montserrat"/>
                <a:cs typeface="Montserrat"/>
                <a:sym typeface="Montserrat"/>
              </a:rPr>
              <a:t> □ ¿Tiene un ID único?</a:t>
            </a:r>
            <a:endParaRPr sz="2084">
              <a:solidFill>
                <a:srgbClr val="372A28"/>
              </a:solidFill>
              <a:latin typeface="Montserrat"/>
              <a:ea typeface="Montserrat"/>
              <a:cs typeface="Montserrat"/>
              <a:sym typeface="Montserrat"/>
            </a:endParaRPr>
          </a:p>
          <a:p>
            <a:pPr indent="0" lvl="0" marL="0" rtl="0" algn="l">
              <a:lnSpc>
                <a:spcPct val="119969"/>
              </a:lnSpc>
              <a:spcBef>
                <a:spcPts val="0"/>
              </a:spcBef>
              <a:spcAft>
                <a:spcPts val="0"/>
              </a:spcAft>
              <a:buClr>
                <a:schemeClr val="dk1"/>
              </a:buClr>
              <a:buSzPts val="2584"/>
              <a:buFont typeface="Arial"/>
              <a:buNone/>
            </a:pPr>
            <a:r>
              <a:rPr lang="en-US" sz="2084">
                <a:solidFill>
                  <a:srgbClr val="372A28"/>
                </a:solidFill>
                <a:latin typeface="Montserrat"/>
                <a:ea typeface="Montserrat"/>
                <a:cs typeface="Montserrat"/>
                <a:sym typeface="Montserrat"/>
              </a:rPr>
              <a:t>  □ ¿Es específico? (no vago ni general)</a:t>
            </a:r>
            <a:endParaRPr sz="2084">
              <a:solidFill>
                <a:srgbClr val="372A28"/>
              </a:solidFill>
              <a:latin typeface="Montserrat"/>
              <a:ea typeface="Montserrat"/>
              <a:cs typeface="Montserrat"/>
              <a:sym typeface="Montserrat"/>
            </a:endParaRPr>
          </a:p>
          <a:p>
            <a:pPr indent="0" lvl="0" marL="0" rtl="0" algn="l">
              <a:lnSpc>
                <a:spcPct val="119969"/>
              </a:lnSpc>
              <a:spcBef>
                <a:spcPts val="0"/>
              </a:spcBef>
              <a:spcAft>
                <a:spcPts val="0"/>
              </a:spcAft>
              <a:buClr>
                <a:schemeClr val="dk1"/>
              </a:buClr>
              <a:buSzPts val="2584"/>
              <a:buFont typeface="Arial"/>
              <a:buNone/>
            </a:pPr>
            <a:r>
              <a:rPr lang="en-US" sz="2084">
                <a:solidFill>
                  <a:srgbClr val="372A28"/>
                </a:solidFill>
                <a:latin typeface="Montserrat"/>
                <a:ea typeface="Montserrat"/>
                <a:cs typeface="Montserrat"/>
                <a:sym typeface="Montserrat"/>
              </a:rPr>
              <a:t>  □ ¿Es medible o verificable con una prueba?</a:t>
            </a:r>
            <a:endParaRPr sz="2084">
              <a:solidFill>
                <a:srgbClr val="372A28"/>
              </a:solidFill>
              <a:latin typeface="Montserrat"/>
              <a:ea typeface="Montserrat"/>
              <a:cs typeface="Montserrat"/>
              <a:sym typeface="Montserrat"/>
            </a:endParaRPr>
          </a:p>
          <a:p>
            <a:pPr indent="0" lvl="0" marL="0" rtl="0" algn="l">
              <a:lnSpc>
                <a:spcPct val="119969"/>
              </a:lnSpc>
              <a:spcBef>
                <a:spcPts val="0"/>
              </a:spcBef>
              <a:spcAft>
                <a:spcPts val="0"/>
              </a:spcAft>
              <a:buClr>
                <a:schemeClr val="dk1"/>
              </a:buClr>
              <a:buSzPts val="2584"/>
              <a:buFont typeface="Arial"/>
              <a:buNone/>
            </a:pPr>
            <a:r>
              <a:rPr lang="en-US" sz="2084">
                <a:solidFill>
                  <a:srgbClr val="372A28"/>
                </a:solidFill>
                <a:latin typeface="Montserrat"/>
                <a:ea typeface="Montserrat"/>
                <a:cs typeface="Montserrat"/>
                <a:sym typeface="Montserrat"/>
              </a:rPr>
              <a:t>  □ ¿Es técnicamente alcanzable?</a:t>
            </a:r>
            <a:endParaRPr sz="2084">
              <a:solidFill>
                <a:srgbClr val="372A28"/>
              </a:solidFill>
              <a:latin typeface="Montserrat"/>
              <a:ea typeface="Montserrat"/>
              <a:cs typeface="Montserrat"/>
              <a:sym typeface="Montserrat"/>
            </a:endParaRPr>
          </a:p>
          <a:p>
            <a:pPr indent="0" lvl="0" marL="0" rtl="0" algn="l">
              <a:lnSpc>
                <a:spcPct val="119969"/>
              </a:lnSpc>
              <a:spcBef>
                <a:spcPts val="0"/>
              </a:spcBef>
              <a:spcAft>
                <a:spcPts val="0"/>
              </a:spcAft>
              <a:buClr>
                <a:schemeClr val="dk1"/>
              </a:buClr>
              <a:buSzPts val="2584"/>
              <a:buFont typeface="Arial"/>
              <a:buNone/>
            </a:pPr>
            <a:r>
              <a:rPr lang="en-US" sz="2084">
                <a:solidFill>
                  <a:srgbClr val="372A28"/>
                </a:solidFill>
                <a:latin typeface="Montserrat"/>
                <a:ea typeface="Montserrat"/>
                <a:cs typeface="Montserrat"/>
                <a:sym typeface="Montserrat"/>
              </a:rPr>
              <a:t>  □ ¿Está vinculado a una necesidad real del negocio?</a:t>
            </a:r>
            <a:endParaRPr sz="2084">
              <a:solidFill>
                <a:srgbClr val="372A28"/>
              </a:solidFill>
              <a:latin typeface="Montserrat"/>
              <a:ea typeface="Montserrat"/>
              <a:cs typeface="Montserrat"/>
              <a:sym typeface="Montserrat"/>
            </a:endParaRPr>
          </a:p>
          <a:p>
            <a:pPr indent="0" lvl="0" marL="0" rtl="0" algn="l">
              <a:lnSpc>
                <a:spcPct val="119969"/>
              </a:lnSpc>
              <a:spcBef>
                <a:spcPts val="0"/>
              </a:spcBef>
              <a:spcAft>
                <a:spcPts val="0"/>
              </a:spcAft>
              <a:buClr>
                <a:schemeClr val="dk1"/>
              </a:buClr>
              <a:buSzPts val="2584"/>
              <a:buFont typeface="Arial"/>
              <a:buNone/>
            </a:pPr>
            <a:r>
              <a:rPr lang="en-US" sz="2084">
                <a:solidFill>
                  <a:srgbClr val="372A28"/>
                </a:solidFill>
                <a:latin typeface="Montserrat"/>
                <a:ea typeface="Montserrat"/>
                <a:cs typeface="Montserrat"/>
                <a:sym typeface="Montserrat"/>
              </a:rPr>
              <a:t>  □ ¿Todos lo interpretan igual?</a:t>
            </a:r>
            <a:endParaRPr sz="2084">
              <a:solidFill>
                <a:srgbClr val="372A28"/>
              </a:solidFill>
              <a:latin typeface="Montserrat"/>
              <a:ea typeface="Montserrat"/>
              <a:cs typeface="Montserrat"/>
              <a:sym typeface="Montserrat"/>
            </a:endParaRPr>
          </a:p>
          <a:p>
            <a:pPr indent="0" lvl="0" marL="0" rtl="0" algn="l">
              <a:lnSpc>
                <a:spcPct val="119969"/>
              </a:lnSpc>
              <a:spcBef>
                <a:spcPts val="0"/>
              </a:spcBef>
              <a:spcAft>
                <a:spcPts val="0"/>
              </a:spcAft>
              <a:buClr>
                <a:schemeClr val="dk1"/>
              </a:buClr>
              <a:buSzPts val="2584"/>
              <a:buFont typeface="Arial"/>
              <a:buNone/>
            </a:pPr>
            <a:r>
              <a:rPr lang="en-US" sz="2084">
                <a:solidFill>
                  <a:srgbClr val="372A28"/>
                </a:solidFill>
                <a:latin typeface="Montserrat"/>
                <a:ea typeface="Montserrat"/>
                <a:cs typeface="Montserrat"/>
                <a:sym typeface="Montserrat"/>
              </a:rPr>
              <a:t>  □ ¿Tiene prioridad definida?</a:t>
            </a:r>
            <a:endParaRPr sz="2084">
              <a:solidFill>
                <a:srgbClr val="372A28"/>
              </a:solidFill>
              <a:latin typeface="Montserrat"/>
              <a:ea typeface="Montserrat"/>
              <a:cs typeface="Montserrat"/>
              <a:sym typeface="Montserrat"/>
            </a:endParaRPr>
          </a:p>
          <a:p>
            <a:pPr indent="0" lvl="0" marL="0" rtl="0" algn="l">
              <a:lnSpc>
                <a:spcPct val="119969"/>
              </a:lnSpc>
              <a:spcBef>
                <a:spcPts val="0"/>
              </a:spcBef>
              <a:spcAft>
                <a:spcPts val="0"/>
              </a:spcAft>
              <a:buClr>
                <a:schemeClr val="dk1"/>
              </a:buClr>
              <a:buSzPts val="2584"/>
              <a:buFont typeface="Arial"/>
              <a:buNone/>
            </a:pPr>
            <a:r>
              <a:rPr lang="en-US" sz="2084">
                <a:solidFill>
                  <a:srgbClr val="372A28"/>
                </a:solidFill>
                <a:latin typeface="Montserrat"/>
                <a:ea typeface="Montserrat"/>
                <a:cs typeface="Montserrat"/>
                <a:sym typeface="Montserrat"/>
              </a:rPr>
              <a:t>  □ ¿Se puede rastrear hasta el stakeholder que lo pidió?</a:t>
            </a:r>
            <a:endParaRPr sz="2084">
              <a:solidFill>
                <a:srgbClr val="372A28"/>
              </a:solidFill>
              <a:latin typeface="Montserrat"/>
              <a:ea typeface="Montserrat"/>
              <a:cs typeface="Montserrat"/>
              <a:sym typeface="Montserrat"/>
            </a:endParaRPr>
          </a:p>
          <a:p>
            <a:pPr indent="0" lvl="0" marL="0" rtl="0" algn="l">
              <a:lnSpc>
                <a:spcPct val="119969"/>
              </a:lnSpc>
              <a:spcBef>
                <a:spcPts val="0"/>
              </a:spcBef>
              <a:spcAft>
                <a:spcPts val="0"/>
              </a:spcAft>
              <a:buClr>
                <a:schemeClr val="dk1"/>
              </a:buClr>
              <a:buSzPts val="2584"/>
              <a:buFont typeface="Arial"/>
              <a:buNone/>
            </a:pPr>
            <a:r>
              <a:t/>
            </a:r>
            <a:endParaRPr sz="2084">
              <a:solidFill>
                <a:srgbClr val="372A28"/>
              </a:solidFill>
              <a:latin typeface="Montserrat"/>
              <a:ea typeface="Montserrat"/>
              <a:cs typeface="Montserrat"/>
              <a:sym typeface="Montserrat"/>
            </a:endParaRPr>
          </a:p>
          <a:p>
            <a:pPr indent="0" lvl="0" marL="0" rtl="0" algn="l">
              <a:lnSpc>
                <a:spcPct val="119969"/>
              </a:lnSpc>
              <a:spcBef>
                <a:spcPts val="0"/>
              </a:spcBef>
              <a:spcAft>
                <a:spcPts val="0"/>
              </a:spcAft>
              <a:buClr>
                <a:schemeClr val="dk1"/>
              </a:buClr>
              <a:buSzPts val="2584"/>
              <a:buFont typeface="Arial"/>
              <a:buNone/>
            </a:pPr>
            <a:r>
              <a:rPr lang="en-US" sz="2084">
                <a:solidFill>
                  <a:srgbClr val="372A28"/>
                </a:solidFill>
                <a:latin typeface="Montserrat"/>
                <a:ea typeface="Montserrat"/>
                <a:cs typeface="Montserrat"/>
                <a:sym typeface="Montserrat"/>
              </a:rPr>
              <a:t>  Si alguna respuesta es NO → debe reescribirse.</a:t>
            </a:r>
            <a:endParaRPr b="1" sz="2657">
              <a:solidFill>
                <a:srgbClr val="372A28"/>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9"/>
          <p:cNvSpPr/>
          <p:nvPr/>
        </p:nvSpPr>
        <p:spPr>
          <a:xfrm>
            <a:off x="2317017" y="520965"/>
            <a:ext cx="13653966" cy="1873953"/>
          </a:xfrm>
          <a:custGeom>
            <a:rect b="b" l="l" r="r" t="t"/>
            <a:pathLst>
              <a:path extrusionOk="0" h="1873953" w="13653966">
                <a:moveTo>
                  <a:pt x="0" y="0"/>
                </a:moveTo>
                <a:lnTo>
                  <a:pt x="13653966" y="0"/>
                </a:lnTo>
                <a:lnTo>
                  <a:pt x="13653966" y="1873953"/>
                </a:lnTo>
                <a:lnTo>
                  <a:pt x="0" y="1873953"/>
                </a:lnTo>
                <a:lnTo>
                  <a:pt x="0" y="0"/>
                </a:lnTo>
                <a:close/>
              </a:path>
            </a:pathLst>
          </a:custGeom>
          <a:blipFill rotWithShape="1">
            <a:blip r:embed="rId3">
              <a:alphaModFix/>
            </a:blip>
            <a:stretch>
              <a:fillRect b="0" l="0" r="0" t="0"/>
            </a:stretch>
          </a:blipFill>
          <a:ln>
            <a:noFill/>
          </a:ln>
        </p:spPr>
      </p:sp>
      <p:sp>
        <p:nvSpPr>
          <p:cNvPr id="552" name="Google Shape;552;p9"/>
          <p:cNvSpPr/>
          <p:nvPr/>
        </p:nvSpPr>
        <p:spPr>
          <a:xfrm>
            <a:off x="1989089" y="2422796"/>
            <a:ext cx="14309822" cy="6206885"/>
          </a:xfrm>
          <a:custGeom>
            <a:rect b="b" l="l" r="r" t="t"/>
            <a:pathLst>
              <a:path extrusionOk="0" h="6206885" w="14309822">
                <a:moveTo>
                  <a:pt x="0" y="0"/>
                </a:moveTo>
                <a:lnTo>
                  <a:pt x="14309822" y="0"/>
                </a:lnTo>
                <a:lnTo>
                  <a:pt x="14309822" y="6206885"/>
                </a:lnTo>
                <a:lnTo>
                  <a:pt x="0" y="6206885"/>
                </a:lnTo>
                <a:lnTo>
                  <a:pt x="0" y="0"/>
                </a:lnTo>
                <a:close/>
              </a:path>
            </a:pathLst>
          </a:custGeom>
          <a:blipFill rotWithShape="1">
            <a:blip r:embed="rId4">
              <a:alphaModFix/>
            </a:blip>
            <a:stretch>
              <a:fillRect b="0" l="0" r="0" t="0"/>
            </a:stretch>
          </a:blipFill>
          <a:ln>
            <a:noFill/>
          </a:ln>
        </p:spPr>
      </p:sp>
      <p:sp>
        <p:nvSpPr>
          <p:cNvPr id="553" name="Google Shape;553;p9"/>
          <p:cNvSpPr txBox="1"/>
          <p:nvPr/>
        </p:nvSpPr>
        <p:spPr>
          <a:xfrm>
            <a:off x="2781895" y="3440266"/>
            <a:ext cx="12236400" cy="2628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rPr b="1" lang="en-US">
                <a:latin typeface="Open Sans"/>
                <a:ea typeface="Open Sans"/>
                <a:cs typeface="Open Sans"/>
                <a:sym typeface="Open Sans"/>
              </a:rPr>
              <a:t>https://www.iso.org/standard/63712.html</a:t>
            </a:r>
            <a:endParaRPr b="1">
              <a:latin typeface="Open Sans"/>
              <a:ea typeface="Open Sans"/>
              <a:cs typeface="Open Sans"/>
              <a:sym typeface="Open Sans"/>
            </a:endParaRPr>
          </a:p>
          <a:p>
            <a:pPr indent="0" lvl="0" marL="0" marR="0" rtl="0" algn="l">
              <a:lnSpc>
                <a:spcPct val="140000"/>
              </a:lnSpc>
              <a:spcBef>
                <a:spcPts val="0"/>
              </a:spcBef>
              <a:spcAft>
                <a:spcPts val="0"/>
              </a:spcAft>
              <a:buClr>
                <a:srgbClr val="000000"/>
              </a:buClr>
              <a:buSzPts val="1400"/>
              <a:buFont typeface="Arial"/>
              <a:buNone/>
            </a:pPr>
            <a:r>
              <a:rPr b="1" lang="en-US">
                <a:latin typeface="Open Sans"/>
                <a:ea typeface="Open Sans"/>
                <a:cs typeface="Open Sans"/>
                <a:sym typeface="Open Sans"/>
              </a:rPr>
              <a:t>https://www.iso.org/standard/63711.html</a:t>
            </a:r>
            <a:endParaRPr b="1">
              <a:latin typeface="Open Sans"/>
              <a:ea typeface="Open Sans"/>
              <a:cs typeface="Open Sans"/>
              <a:sym typeface="Open Sans"/>
            </a:endParaRPr>
          </a:p>
          <a:p>
            <a:pPr indent="0" lvl="0" marL="0" marR="0" rtl="0" algn="l">
              <a:lnSpc>
                <a:spcPct val="140000"/>
              </a:lnSpc>
              <a:spcBef>
                <a:spcPts val="0"/>
              </a:spcBef>
              <a:spcAft>
                <a:spcPts val="0"/>
              </a:spcAft>
              <a:buClr>
                <a:srgbClr val="000000"/>
              </a:buClr>
              <a:buSzPts val="1400"/>
              <a:buFont typeface="Arial"/>
              <a:buNone/>
            </a:pPr>
            <a:r>
              <a:rPr b="1" lang="en-US">
                <a:latin typeface="Open Sans"/>
                <a:ea typeface="Open Sans"/>
                <a:cs typeface="Open Sans"/>
                <a:sym typeface="Open Sans"/>
              </a:rPr>
              <a:t>https://www.iso.org/standard/72089.html  </a:t>
            </a:r>
            <a:endParaRPr b="1">
              <a:latin typeface="Open Sans"/>
              <a:ea typeface="Open Sans"/>
              <a:cs typeface="Open Sans"/>
              <a:sym typeface="Open Sans"/>
            </a:endParaRPr>
          </a:p>
          <a:p>
            <a:pPr indent="0" lvl="0" marL="0" marR="0" rtl="0" algn="l">
              <a:lnSpc>
                <a:spcPct val="140000"/>
              </a:lnSpc>
              <a:spcBef>
                <a:spcPts val="0"/>
              </a:spcBef>
              <a:spcAft>
                <a:spcPts val="0"/>
              </a:spcAft>
              <a:buClr>
                <a:srgbClr val="000000"/>
              </a:buClr>
              <a:buSzPts val="1400"/>
              <a:buFont typeface="Arial"/>
              <a:buNone/>
            </a:pPr>
            <a:r>
              <a:rPr b="1" lang="en-US">
                <a:latin typeface="Open Sans"/>
                <a:ea typeface="Open Sans"/>
                <a:cs typeface="Open Sans"/>
                <a:sym typeface="Open Sans"/>
              </a:rPr>
              <a:t>https://ieeexplore.ieee.org/document/8576648</a:t>
            </a:r>
            <a:endParaRPr b="1">
              <a:latin typeface="Open Sans"/>
              <a:ea typeface="Open Sans"/>
              <a:cs typeface="Open Sans"/>
              <a:sym typeface="Open Sans"/>
            </a:endParaRPr>
          </a:p>
          <a:p>
            <a:pPr indent="0" lvl="0" marL="0" marR="0" rtl="0" algn="l">
              <a:lnSpc>
                <a:spcPct val="140000"/>
              </a:lnSpc>
              <a:spcBef>
                <a:spcPts val="0"/>
              </a:spcBef>
              <a:spcAft>
                <a:spcPts val="0"/>
              </a:spcAft>
              <a:buClr>
                <a:srgbClr val="000000"/>
              </a:buClr>
              <a:buSzPts val="1400"/>
              <a:buFont typeface="Arial"/>
              <a:buNone/>
            </a:pPr>
            <a:r>
              <a:rPr b="1" lang="en-US">
                <a:latin typeface="Open Sans"/>
                <a:ea typeface="Open Sans"/>
                <a:cs typeface="Open Sans"/>
                <a:sym typeface="Open Sans"/>
              </a:rPr>
              <a:t>https://ieeexplore.ieee.org/document/216199</a:t>
            </a:r>
            <a:endParaRPr b="1">
              <a:latin typeface="Open Sans"/>
              <a:ea typeface="Open Sans"/>
              <a:cs typeface="Open Sans"/>
              <a:sym typeface="Open Sans"/>
            </a:endParaRPr>
          </a:p>
          <a:p>
            <a:pPr indent="0" lvl="0" marL="0" marR="0" rtl="0" algn="l">
              <a:lnSpc>
                <a:spcPct val="140000"/>
              </a:lnSpc>
              <a:spcBef>
                <a:spcPts val="0"/>
              </a:spcBef>
              <a:spcAft>
                <a:spcPts val="0"/>
              </a:spcAft>
              <a:buClr>
                <a:srgbClr val="000000"/>
              </a:buClr>
              <a:buSzPts val="1400"/>
              <a:buFont typeface="Arial"/>
              <a:buNone/>
            </a:pPr>
            <a:r>
              <a:rPr b="1" lang="en-US">
                <a:latin typeface="Open Sans"/>
                <a:ea typeface="Open Sans"/>
                <a:cs typeface="Open Sans"/>
                <a:sym typeface="Open Sans"/>
              </a:rPr>
              <a:t>https://www.iso.org/standard/35733.html</a:t>
            </a:r>
            <a:endParaRPr b="1">
              <a:latin typeface="Open Sans"/>
              <a:ea typeface="Open Sans"/>
              <a:cs typeface="Open Sans"/>
              <a:sym typeface="Open Sans"/>
            </a:endParaRPr>
          </a:p>
          <a:p>
            <a:pPr indent="0" lvl="0" marL="0" marR="0" rtl="0" algn="l">
              <a:lnSpc>
                <a:spcPct val="140000"/>
              </a:lnSpc>
              <a:spcBef>
                <a:spcPts val="0"/>
              </a:spcBef>
              <a:spcAft>
                <a:spcPts val="0"/>
              </a:spcAft>
              <a:buClr>
                <a:srgbClr val="000000"/>
              </a:buClr>
              <a:buSzPts val="1400"/>
              <a:buFont typeface="Arial"/>
              <a:buNone/>
            </a:pPr>
            <a:r>
              <a:rPr b="1" lang="en-US">
                <a:latin typeface="Open Sans"/>
                <a:ea typeface="Open Sans"/>
                <a:cs typeface="Open Sans"/>
                <a:sym typeface="Open Sans"/>
              </a:rPr>
              <a:t>https://www.standishgroup.com/</a:t>
            </a:r>
            <a:endParaRPr b="1">
              <a:latin typeface="Open Sans"/>
              <a:ea typeface="Open Sans"/>
              <a:cs typeface="Open Sans"/>
              <a:sym typeface="Open Sans"/>
            </a:endParaRPr>
          </a:p>
          <a:p>
            <a:pPr indent="0" lvl="0" marL="0" marR="0" rtl="0" algn="l">
              <a:lnSpc>
                <a:spcPct val="140000"/>
              </a:lnSpc>
              <a:spcBef>
                <a:spcPts val="0"/>
              </a:spcBef>
              <a:spcAft>
                <a:spcPts val="0"/>
              </a:spcAft>
              <a:buClr>
                <a:srgbClr val="000000"/>
              </a:buClr>
              <a:buSzPts val="1400"/>
              <a:buFont typeface="Arial"/>
              <a:buNone/>
            </a:pPr>
            <a:r>
              <a:rPr b="1" lang="en-US">
                <a:latin typeface="Open Sans"/>
                <a:ea typeface="Open Sans"/>
                <a:cs typeface="Open Sans"/>
                <a:sym typeface="Open Sans"/>
              </a:rPr>
              <a:t>https://agilemanifesto.org/</a:t>
            </a:r>
            <a:r>
              <a:rPr b="1" i="0" lang="en-US" sz="1400" u="none" cap="none" strike="noStrike">
                <a:solidFill>
                  <a:srgbClr val="000000"/>
                </a:solidFill>
                <a:latin typeface="Open Sans"/>
                <a:ea typeface="Open Sans"/>
                <a:cs typeface="Open Sans"/>
                <a:sym typeface="Open Sans"/>
              </a:rPr>
              <a:t>n </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400"/>
              <a:buFont typeface="Arial"/>
              <a:buNone/>
            </a:pPr>
            <a:r>
              <a:t/>
            </a:r>
            <a:endParaRPr b="1"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10"/>
          <p:cNvSpPr/>
          <p:nvPr/>
        </p:nvSpPr>
        <p:spPr>
          <a:xfrm>
            <a:off x="0" y="0"/>
            <a:ext cx="18288000" cy="7292340"/>
          </a:xfrm>
          <a:custGeom>
            <a:rect b="b" l="l" r="r" t="t"/>
            <a:pathLst>
              <a:path extrusionOk="0" h="7292340" w="18288000">
                <a:moveTo>
                  <a:pt x="0" y="0"/>
                </a:moveTo>
                <a:lnTo>
                  <a:pt x="18288000" y="0"/>
                </a:lnTo>
                <a:lnTo>
                  <a:pt x="18288000" y="7292340"/>
                </a:lnTo>
                <a:lnTo>
                  <a:pt x="0" y="729234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11"/>
          <p:cNvSpPr/>
          <p:nvPr/>
        </p:nvSpPr>
        <p:spPr>
          <a:xfrm>
            <a:off x="0" y="0"/>
            <a:ext cx="18288000" cy="6217920"/>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12"/>
          <p:cNvSpPr/>
          <p:nvPr/>
        </p:nvSpPr>
        <p:spPr>
          <a:xfrm>
            <a:off x="0" y="0"/>
            <a:ext cx="18288000" cy="10264140"/>
          </a:xfrm>
          <a:custGeom>
            <a:rect b="b" l="l" r="r" t="t"/>
            <a:pathLst>
              <a:path extrusionOk="0" h="10264140" w="18288000">
                <a:moveTo>
                  <a:pt x="0" y="0"/>
                </a:moveTo>
                <a:lnTo>
                  <a:pt x="18288000" y="0"/>
                </a:lnTo>
                <a:lnTo>
                  <a:pt x="18288000" y="10264140"/>
                </a:lnTo>
                <a:lnTo>
                  <a:pt x="0" y="10264140"/>
                </a:lnTo>
                <a:lnTo>
                  <a:pt x="0" y="0"/>
                </a:lnTo>
                <a:close/>
              </a:path>
            </a:pathLst>
          </a:custGeom>
          <a:blipFill rotWithShape="1">
            <a:blip r:embed="rId3">
              <a:alphaModFix/>
            </a:blip>
            <a:stretch>
              <a:fillRect b="0" l="0" r="0" t="0"/>
            </a:stretch>
          </a:blipFill>
          <a:ln>
            <a:noFill/>
          </a:ln>
        </p:spPr>
      </p:sp>
      <p:sp>
        <p:nvSpPr>
          <p:cNvPr id="569" name="Google Shape;569;p12"/>
          <p:cNvSpPr txBox="1"/>
          <p:nvPr/>
        </p:nvSpPr>
        <p:spPr>
          <a:xfrm>
            <a:off x="5655069" y="1667078"/>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570" name="Google Shape;570;p12"/>
          <p:cNvSpPr txBox="1"/>
          <p:nvPr/>
        </p:nvSpPr>
        <p:spPr>
          <a:xfrm>
            <a:off x="5655069" y="246044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571" name="Google Shape;571;p12"/>
          <p:cNvSpPr txBox="1"/>
          <p:nvPr/>
        </p:nvSpPr>
        <p:spPr>
          <a:xfrm>
            <a:off x="5655069" y="3475309"/>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572" name="Google Shape;572;p12"/>
          <p:cNvSpPr txBox="1"/>
          <p:nvPr/>
        </p:nvSpPr>
        <p:spPr>
          <a:xfrm>
            <a:off x="13953088" y="2091258"/>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573" name="Google Shape;573;p12"/>
          <p:cNvSpPr txBox="1"/>
          <p:nvPr/>
        </p:nvSpPr>
        <p:spPr>
          <a:xfrm>
            <a:off x="13953088" y="288462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574" name="Google Shape;574;p12"/>
          <p:cNvSpPr txBox="1"/>
          <p:nvPr/>
        </p:nvSpPr>
        <p:spPr>
          <a:xfrm>
            <a:off x="13953088" y="368028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575" name="Google Shape;575;p12"/>
          <p:cNvSpPr txBox="1"/>
          <p:nvPr/>
        </p:nvSpPr>
        <p:spPr>
          <a:xfrm>
            <a:off x="277231" y="508635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576" name="Google Shape;576;p12"/>
          <p:cNvSpPr txBox="1"/>
          <p:nvPr/>
        </p:nvSpPr>
        <p:spPr>
          <a:xfrm>
            <a:off x="277231" y="585301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577" name="Google Shape;577;p12"/>
          <p:cNvSpPr txBox="1"/>
          <p:nvPr/>
        </p:nvSpPr>
        <p:spPr>
          <a:xfrm>
            <a:off x="277231" y="662009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578" name="Google Shape;578;p12"/>
          <p:cNvSpPr txBox="1"/>
          <p:nvPr/>
        </p:nvSpPr>
        <p:spPr>
          <a:xfrm>
            <a:off x="277231" y="760040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579" name="Google Shape;579;p12"/>
          <p:cNvSpPr txBox="1"/>
          <p:nvPr/>
        </p:nvSpPr>
        <p:spPr>
          <a:xfrm>
            <a:off x="277231" y="836748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580" name="Google Shape;580;p12"/>
          <p:cNvSpPr txBox="1"/>
          <p:nvPr/>
        </p:nvSpPr>
        <p:spPr>
          <a:xfrm>
            <a:off x="277231" y="920115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581" name="Google Shape;581;p12"/>
          <p:cNvSpPr txBox="1"/>
          <p:nvPr/>
        </p:nvSpPr>
        <p:spPr>
          <a:xfrm>
            <a:off x="6406538" y="507492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582" name="Google Shape;582;p12"/>
          <p:cNvSpPr txBox="1"/>
          <p:nvPr/>
        </p:nvSpPr>
        <p:spPr>
          <a:xfrm>
            <a:off x="6406538" y="585301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583" name="Google Shape;583;p12"/>
          <p:cNvSpPr txBox="1"/>
          <p:nvPr/>
        </p:nvSpPr>
        <p:spPr>
          <a:xfrm>
            <a:off x="6406538" y="664866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584" name="Google Shape;584;p12"/>
          <p:cNvSpPr txBox="1"/>
          <p:nvPr/>
        </p:nvSpPr>
        <p:spPr>
          <a:xfrm>
            <a:off x="6406538" y="744432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585" name="Google Shape;585;p12"/>
          <p:cNvSpPr txBox="1"/>
          <p:nvPr/>
        </p:nvSpPr>
        <p:spPr>
          <a:xfrm>
            <a:off x="6406538" y="836748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586" name="Google Shape;586;p12"/>
          <p:cNvSpPr txBox="1"/>
          <p:nvPr/>
        </p:nvSpPr>
        <p:spPr>
          <a:xfrm>
            <a:off x="6406538" y="920115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587" name="Google Shape;587;p12"/>
          <p:cNvSpPr txBox="1"/>
          <p:nvPr/>
        </p:nvSpPr>
        <p:spPr>
          <a:xfrm>
            <a:off x="12538626" y="507492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588" name="Google Shape;588;p12"/>
          <p:cNvSpPr txBox="1"/>
          <p:nvPr/>
        </p:nvSpPr>
        <p:spPr>
          <a:xfrm>
            <a:off x="12538626" y="585301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589" name="Google Shape;589;p12"/>
          <p:cNvSpPr txBox="1"/>
          <p:nvPr/>
        </p:nvSpPr>
        <p:spPr>
          <a:xfrm>
            <a:off x="12538626" y="664866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590" name="Google Shape;590;p12"/>
          <p:cNvSpPr txBox="1"/>
          <p:nvPr/>
        </p:nvSpPr>
        <p:spPr>
          <a:xfrm>
            <a:off x="12538626" y="744432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591" name="Google Shape;591;p12"/>
          <p:cNvSpPr txBox="1"/>
          <p:nvPr/>
        </p:nvSpPr>
        <p:spPr>
          <a:xfrm>
            <a:off x="12538626" y="836748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592" name="Google Shape;592;p12"/>
          <p:cNvSpPr txBox="1"/>
          <p:nvPr/>
        </p:nvSpPr>
        <p:spPr>
          <a:xfrm>
            <a:off x="12538626" y="916314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g39ab1374e1b_0_537"/>
          <p:cNvSpPr/>
          <p:nvPr/>
        </p:nvSpPr>
        <p:spPr>
          <a:xfrm>
            <a:off x="3493371" y="-591537"/>
            <a:ext cx="11301259" cy="5113820"/>
          </a:xfrm>
          <a:custGeom>
            <a:rect b="b" l="l" r="r" t="t"/>
            <a:pathLst>
              <a:path extrusionOk="0" h="5113820" w="11301259">
                <a:moveTo>
                  <a:pt x="0" y="0"/>
                </a:moveTo>
                <a:lnTo>
                  <a:pt x="11301258" y="0"/>
                </a:lnTo>
                <a:lnTo>
                  <a:pt x="11301258" y="5113820"/>
                </a:lnTo>
                <a:lnTo>
                  <a:pt x="0" y="5113820"/>
                </a:lnTo>
                <a:lnTo>
                  <a:pt x="0" y="0"/>
                </a:lnTo>
                <a:close/>
              </a:path>
            </a:pathLst>
          </a:custGeom>
          <a:blipFill rotWithShape="1">
            <a:blip r:embed="rId3">
              <a:alphaModFix/>
            </a:blip>
            <a:stretch>
              <a:fillRect b="0" l="0" r="0" t="0"/>
            </a:stretch>
          </a:blipFill>
          <a:ln>
            <a:noFill/>
          </a:ln>
        </p:spPr>
      </p:sp>
      <p:sp>
        <p:nvSpPr>
          <p:cNvPr id="598" name="Google Shape;598;g39ab1374e1b_0_537"/>
          <p:cNvSpPr/>
          <p:nvPr/>
        </p:nvSpPr>
        <p:spPr>
          <a:xfrm>
            <a:off x="2197698" y="3492869"/>
            <a:ext cx="13892604" cy="5765431"/>
          </a:xfrm>
          <a:custGeom>
            <a:rect b="b" l="l" r="r" t="t"/>
            <a:pathLst>
              <a:path extrusionOk="0" h="5765431" w="13892604">
                <a:moveTo>
                  <a:pt x="0" y="0"/>
                </a:moveTo>
                <a:lnTo>
                  <a:pt x="13892604" y="0"/>
                </a:lnTo>
                <a:lnTo>
                  <a:pt x="13892604" y="5765431"/>
                </a:lnTo>
                <a:lnTo>
                  <a:pt x="0" y="5765431"/>
                </a:lnTo>
                <a:lnTo>
                  <a:pt x="0" y="0"/>
                </a:lnTo>
                <a:close/>
              </a:path>
            </a:pathLst>
          </a:custGeom>
          <a:blipFill rotWithShape="1">
            <a:blip r:embed="rId4">
              <a:alphaModFix/>
            </a:blip>
            <a:stretch>
              <a:fillRect b="0" l="0" r="0" t="0"/>
            </a:stretch>
          </a:blipFill>
          <a:ln>
            <a:noFill/>
          </a:ln>
        </p:spPr>
      </p:sp>
      <p:sp>
        <p:nvSpPr>
          <p:cNvPr id="599" name="Google Shape;599;g39ab1374e1b_0_537"/>
          <p:cNvSpPr txBox="1"/>
          <p:nvPr/>
        </p:nvSpPr>
        <p:spPr>
          <a:xfrm>
            <a:off x="2580394" y="4461626"/>
            <a:ext cx="13127100" cy="1335900"/>
          </a:xfrm>
          <a:prstGeom prst="rect">
            <a:avLst/>
          </a:prstGeom>
          <a:noFill/>
          <a:ln>
            <a:noFill/>
          </a:ln>
        </p:spPr>
        <p:txBody>
          <a:bodyPr anchorCtr="0" anchor="t" bIns="0" lIns="0" spcFirstLastPara="1" rIns="0" wrap="square" tIns="0">
            <a:spAutoFit/>
          </a:bodyPr>
          <a:lstStyle/>
          <a:p>
            <a:pPr indent="-302260" lvl="1" marL="604519" marR="0" rtl="0" algn="l">
              <a:lnSpc>
                <a:spcPct val="140014"/>
              </a:lnSpc>
              <a:spcBef>
                <a:spcPts val="0"/>
              </a:spcBef>
              <a:spcAft>
                <a:spcPts val="0"/>
              </a:spcAft>
              <a:buClr>
                <a:srgbClr val="000000"/>
              </a:buClr>
              <a:buSzPts val="2799"/>
              <a:buFont typeface="Arial"/>
              <a:buChar char="•"/>
            </a:pPr>
            <a:r>
              <a:rPr lang="en-US" sz="2799">
                <a:latin typeface="Open Sans"/>
                <a:ea typeface="Open Sans"/>
                <a:cs typeface="Open Sans"/>
                <a:sym typeface="Open Sans"/>
              </a:rPr>
              <a:t>Se colocará el recordatorio de las actividades según corresponda</a:t>
            </a:r>
            <a:endParaRPr b="0" i="0" sz="1400" u="none" cap="none" strike="noStrike">
              <a:solidFill>
                <a:srgbClr val="000000"/>
              </a:solidFill>
              <a:latin typeface="Arial"/>
              <a:ea typeface="Arial"/>
              <a:cs typeface="Arial"/>
              <a:sym typeface="Arial"/>
            </a:endParaRPr>
          </a:p>
          <a:p>
            <a:pPr indent="0" lvl="0" marL="0" marR="0" rtl="0" algn="l">
              <a:lnSpc>
                <a:spcPct val="140014"/>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ctr">
              <a:lnSpc>
                <a:spcPct val="140014"/>
              </a:lnSpc>
              <a:spcBef>
                <a:spcPts val="0"/>
              </a:spcBef>
              <a:spcAft>
                <a:spcPts val="0"/>
              </a:spcAft>
              <a:buClr>
                <a:srgbClr val="000000"/>
              </a:buClr>
              <a:buSzPts val="2799"/>
              <a:buFont typeface="Arial"/>
              <a:buNone/>
            </a:pPr>
            <a:r>
              <a:t/>
            </a:r>
            <a:endParaRPr b="0" i="0" sz="2799" u="none" cap="none" strike="noStrike">
              <a:solidFill>
                <a:srgbClr val="000000"/>
              </a:solidFill>
              <a:latin typeface="Open Sans"/>
              <a:ea typeface="Open Sans"/>
              <a:cs typeface="Open Sans"/>
              <a:sym typeface="Open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14"/>
          <p:cNvSpPr/>
          <p:nvPr/>
        </p:nvSpPr>
        <p:spPr>
          <a:xfrm>
            <a:off x="3861682" y="595298"/>
            <a:ext cx="10564636" cy="8663002"/>
          </a:xfrm>
          <a:custGeom>
            <a:rect b="b" l="l" r="r" t="t"/>
            <a:pathLst>
              <a:path extrusionOk="0" h="8663002" w="10564636">
                <a:moveTo>
                  <a:pt x="0" y="0"/>
                </a:moveTo>
                <a:lnTo>
                  <a:pt x="10564636" y="0"/>
                </a:lnTo>
                <a:lnTo>
                  <a:pt x="10564636" y="8663002"/>
                </a:lnTo>
                <a:lnTo>
                  <a:pt x="0" y="866300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15"/>
          <p:cNvSpPr/>
          <p:nvPr/>
        </p:nvSpPr>
        <p:spPr>
          <a:xfrm>
            <a:off x="814445" y="0"/>
            <a:ext cx="16659109" cy="10287000"/>
          </a:xfrm>
          <a:custGeom>
            <a:rect b="b" l="l" r="r" t="t"/>
            <a:pathLst>
              <a:path extrusionOk="0" h="10287000" w="16659109">
                <a:moveTo>
                  <a:pt x="0" y="0"/>
                </a:moveTo>
                <a:lnTo>
                  <a:pt x="16659110" y="0"/>
                </a:lnTo>
                <a:lnTo>
                  <a:pt x="16659110" y="10287000"/>
                </a:lnTo>
                <a:lnTo>
                  <a:pt x="0" y="10287000"/>
                </a:lnTo>
                <a:lnTo>
                  <a:pt x="0" y="0"/>
                </a:lnTo>
                <a:close/>
              </a:path>
            </a:pathLst>
          </a:custGeom>
          <a:blipFill rotWithShape="1">
            <a:blip r:embed="rId3">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