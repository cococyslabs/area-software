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Lst>
  <p:sldSz cy="10287000" cx="18288000"/>
  <p:notesSz cx="6858000" cy="9144000"/>
  <p:embeddedFontLst>
    <p:embeddedFont>
      <p:font typeface="Montserrat"/>
      <p:regular r:id="rId75"/>
      <p:bold r:id="rId76"/>
      <p:italic r:id="rId77"/>
      <p:boldItalic r:id="rId78"/>
    </p:embeddedFont>
    <p:embeddedFont>
      <p:font typeface="Poppins"/>
      <p:regular r:id="rId79"/>
      <p:bold r:id="rId80"/>
      <p:italic r:id="rId81"/>
      <p:boldItalic r:id="rId82"/>
    </p:embeddedFont>
    <p:embeddedFont>
      <p:font typeface="Poppins Light"/>
      <p:regular r:id="rId83"/>
      <p:bold r:id="rId84"/>
      <p:italic r:id="rId85"/>
      <p:boldItalic r:id="rId86"/>
    </p:embeddedFont>
    <p:embeddedFont>
      <p:font typeface="Open Sans"/>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91" roundtripDataSignature="AMtx7miUldZaJG0QWYlRqKsqMongs0DK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DF996C-8CD4-4CF7-B734-7595715003B2}">
  <a:tblStyle styleId="{9FDF996C-8CD4-4CF7-B734-7595715003B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PoppinsLight-bold.fntdata"/><Relationship Id="rId83" Type="http://schemas.openxmlformats.org/officeDocument/2006/relationships/font" Target="fonts/PoppinsLight-regular.fntdata"/><Relationship Id="rId42" Type="http://schemas.openxmlformats.org/officeDocument/2006/relationships/slide" Target="slides/slide36.xml"/><Relationship Id="rId86" Type="http://schemas.openxmlformats.org/officeDocument/2006/relationships/font" Target="fonts/PoppinsLight-boldItalic.fntdata"/><Relationship Id="rId41" Type="http://schemas.openxmlformats.org/officeDocument/2006/relationships/slide" Target="slides/slide35.xml"/><Relationship Id="rId85" Type="http://schemas.openxmlformats.org/officeDocument/2006/relationships/font" Target="fonts/PoppinsLight-italic.fntdata"/><Relationship Id="rId44" Type="http://schemas.openxmlformats.org/officeDocument/2006/relationships/slide" Target="slides/slide38.xml"/><Relationship Id="rId88" Type="http://schemas.openxmlformats.org/officeDocument/2006/relationships/font" Target="fonts/OpenSans-bold.fntdata"/><Relationship Id="rId43" Type="http://schemas.openxmlformats.org/officeDocument/2006/relationships/slide" Target="slides/slide37.xml"/><Relationship Id="rId87" Type="http://schemas.openxmlformats.org/officeDocument/2006/relationships/font" Target="fonts/OpenSans-regular.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OpenSans-italic.fntdata"/><Relationship Id="rId80" Type="http://schemas.openxmlformats.org/officeDocument/2006/relationships/font" Target="fonts/Poppins-bold.fntdata"/><Relationship Id="rId82" Type="http://schemas.openxmlformats.org/officeDocument/2006/relationships/font" Target="fonts/Poppins-boldItalic.fntdata"/><Relationship Id="rId81"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Montserrat-regular.fntdata"/><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Montserrat-italic.fntdata"/><Relationship Id="rId32" Type="http://schemas.openxmlformats.org/officeDocument/2006/relationships/slide" Target="slides/slide26.xml"/><Relationship Id="rId76" Type="http://schemas.openxmlformats.org/officeDocument/2006/relationships/font" Target="fonts/Montserrat-bold.fntdata"/><Relationship Id="rId35" Type="http://schemas.openxmlformats.org/officeDocument/2006/relationships/slide" Target="slides/slide29.xml"/><Relationship Id="rId79" Type="http://schemas.openxmlformats.org/officeDocument/2006/relationships/font" Target="fonts/Poppins-regular.fntdata"/><Relationship Id="rId34" Type="http://schemas.openxmlformats.org/officeDocument/2006/relationships/slide" Target="slides/slide28.xml"/><Relationship Id="rId78" Type="http://schemas.openxmlformats.org/officeDocument/2006/relationships/font" Target="fonts/Montserrat-bold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customschemas.google.com/relationships/presentationmetadata" Target="metadata"/><Relationship Id="rId90" Type="http://schemas.openxmlformats.org/officeDocument/2006/relationships/font" Target="fonts/OpenSans-bold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ab12478d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g39ab12478d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ab12478d3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9ab12478d3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ab12478d3_0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9ab12478d3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ab12478d3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9ab12478d3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ab12478d3_0_1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g39ab12478d3_0_1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ab12478d3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39ab12478d3_0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ab12478d3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principios fundamentales que sostienen todo el marco de trabajo</a:t>
            </a:r>
            <a:endParaRPr/>
          </a:p>
        </p:txBody>
      </p:sp>
      <p:sp>
        <p:nvSpPr>
          <p:cNvPr id="232" name="Google Shape;232;g39ab12478d3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9ab12478d3_0_2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g39ab12478d3_0_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9ab12478d3_0_2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g39ab12478d3_0_2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9ab12478d3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g39ab12478d3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9ab12478d3_0_3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2" name="Google Shape;332;g39ab12478d3_0_3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9ab12478d3_0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g39ab12478d3_0_3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9ab12478d3_0_3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9ab12478d3_0_3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ab12478d3_0_3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8" name="Google Shape;388;g39ab12478d3_0_3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9ab12478d3_0_4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g39ab12478d3_0_4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9ab12478d3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g39ab12478d3_0_4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9ab12478d3_0_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1" name="Google Shape;441;g39ab12478d3_0_4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9ab12478d3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5" name="Google Shape;455;g39ab12478d3_0_4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9ab12478d3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9" name="Google Shape;469;g39ab12478d3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9ab12478d3_0_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g39ab12478d3_0_4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9ab12478d3_0_4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39ab12478d3_0_4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9ab12478d3_0_5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3" name="Google Shape;513;g39ab12478d3_0_5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9ab12478d3_0_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6" name="Google Shape;546;g39ab12478d3_0_5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9ab12478d3_0_5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1" name="Google Shape;551;g39ab12478d3_0_5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9ab12478d3_0_5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8" name="Google Shape;568;g39ab12478d3_0_5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9ab12478d3_0_5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2" name="Google Shape;582;g39ab12478d3_0_5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9ab12478d3_0_6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3" name="Google Shape;603;g39ab12478d3_0_6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39ab12478d3_0_6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2" name="Google Shape;622;g39ab12478d3_0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9ab12478d3_0_6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2" name="Google Shape;642;g39ab12478d3_0_6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9ab12478d3_0_6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g39ab12478d3_0_6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9ab12478d3_0_6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6" name="Google Shape;686;g39ab12478d3_0_6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9ab12478d3_0_6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5" name="Google Shape;705;g39ab12478d3_0_6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9ab12478d3_0_7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4" name="Google Shape;724;g39ab12478d3_0_7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9ab12478d3_0_7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4" name="Google Shape;734;g39ab12478d3_0_7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9ab12478d3_0_7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5" name="Google Shape;755;g39ab12478d3_0_7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9ab12478d3_0_7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4" name="Google Shape;774;g39ab12478d3_0_7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9ab12478d3_0_7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92" name="Google Shape;792;g39ab12478d3_0_7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9ab12478d3_0_7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8" name="Google Shape;808;g39ab12478d3_0_7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9ab12478d3_0_8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19" name="Google Shape;819;g39ab12478d3_0_8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9ab12478d3_0_8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1" name="Google Shape;841;g39ab12478d3_0_8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9ab12478d3_0_8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2" name="Google Shape;862;g39ab12478d3_0_8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9ab12478d3_0_8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9" name="Google Shape;879;g39ab12478d3_0_8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9ab12478d3_0_8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3" name="Google Shape;903;g39ab12478d3_0_8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g39ab12478d3_0_8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g39ab12478d3_0_8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9ab12478d3_0_9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5" name="Google Shape;925;g39ab12478d3_0_9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9ab12478d3_0_9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4" name="Google Shape;934;g39ab12478d3_0_9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9ab12478d3_0_9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4" name="Google Shape;944;g39ab12478d3_0_9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g39ab12478d3_0_9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4" name="Google Shape;954;g39ab12478d3_0_9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9ab12478d3_0_9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4" name="Google Shape;964;g39ab12478d3_0_9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9ab12478d3_0_9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4" name="Google Shape;974;g39ab12478d3_0_9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9ab12478d3_0_9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1" name="Google Shape;981;g39ab12478d3_0_9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9ab12478d3_0_9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9" name="Google Shape;989;g39ab12478d3_0_9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9ab12478d3_0_9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7" name="Google Shape;997;g39ab12478d3_0_9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9ab12478d3_0_9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7" name="Google Shape;1007;g39ab12478d3_0_9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9ab12478d3_0_9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5" name="Google Shape;1015;g39ab12478d3_0_9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9ab12478d3_0_9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3" name="Google Shape;1023;g39ab12478d3_0_9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1" name="Google Shape;10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8" name="Google Shape;10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5" name="Google Shape;104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0" name="Google Shape;105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5" name="Google Shape;105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9ab12478d3_0_10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4" name="Google Shape;1084;g39ab12478d3_0_10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1" name="Google Shape;109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6" name="Google Shape;109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1.jp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6.png"/><Relationship Id="rId9" Type="http://schemas.openxmlformats.org/officeDocument/2006/relationships/image" Target="../media/image33.png"/><Relationship Id="rId5" Type="http://schemas.openxmlformats.org/officeDocument/2006/relationships/image" Target="../media/image13.png"/><Relationship Id="rId6" Type="http://schemas.openxmlformats.org/officeDocument/2006/relationships/image" Target="../media/image17.png"/><Relationship Id="rId7" Type="http://schemas.openxmlformats.org/officeDocument/2006/relationships/image" Target="../media/image14.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jpg"/><Relationship Id="rId4" Type="http://schemas.openxmlformats.org/officeDocument/2006/relationships/image" Target="../media/image32.jpg"/><Relationship Id="rId5"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5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pn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png"/><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png"/><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5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45.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3.png"/><Relationship Id="rId4" Type="http://schemas.openxmlformats.org/officeDocument/2006/relationships/image" Target="../media/image4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41.png"/><Relationship Id="rId4" Type="http://schemas.openxmlformats.org/officeDocument/2006/relationships/image" Target="../media/image4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49.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9ab12478d3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pic>
        <p:nvPicPr>
          <p:cNvPr id="85" name="Google Shape;85;g39ab12478d3_0_0"/>
          <p:cNvPicPr preferRelativeResize="0"/>
          <p:nvPr/>
        </p:nvPicPr>
        <p:blipFill rotWithShape="1">
          <a:blip r:embed="rId4">
            <a:alphaModFix/>
          </a:blip>
          <a:srcRect b="0" l="0" r="0" t="0"/>
          <a:stretch/>
        </p:blipFill>
        <p:spPr>
          <a:xfrm>
            <a:off x="11331775" y="1547900"/>
            <a:ext cx="8652400" cy="1881100"/>
          </a:xfrm>
          <a:prstGeom prst="rect">
            <a:avLst/>
          </a:prstGeom>
          <a:noFill/>
          <a:ln>
            <a:noFill/>
          </a:ln>
        </p:spPr>
      </p:pic>
      <p:sp>
        <p:nvSpPr>
          <p:cNvPr id="86" name="Google Shape;86;g39ab12478d3_0_0"/>
          <p:cNvSpPr/>
          <p:nvPr/>
        </p:nvSpPr>
        <p:spPr>
          <a:xfrm>
            <a:off x="2107150" y="3631999"/>
            <a:ext cx="14257800" cy="1808100"/>
          </a:xfrm>
          <a:prstGeom prst="roundRect">
            <a:avLst>
              <a:gd fmla="val 16667" name="adj"/>
            </a:avLst>
          </a:prstGeom>
          <a:solidFill>
            <a:schemeClr val="lt2"/>
          </a:solidFill>
          <a:ln>
            <a:noFill/>
          </a:ln>
          <a:effectLst>
            <a:outerShdw blurRad="342900" rotWithShape="0" algn="bl" dir="2160000" dist="361950">
              <a:srgbClr val="888888">
                <a:alpha val="5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7" name="Google Shape;87;g39ab12478d3_0_0"/>
          <p:cNvSpPr/>
          <p:nvPr/>
        </p:nvSpPr>
        <p:spPr>
          <a:xfrm>
            <a:off x="5172300" y="6211275"/>
            <a:ext cx="7943400" cy="522600"/>
          </a:xfrm>
          <a:prstGeom prst="roundRect">
            <a:avLst>
              <a:gd fmla="val 16667" name="adj"/>
            </a:avLst>
          </a:prstGeom>
          <a:solidFill>
            <a:srgbClr val="E6E6E6"/>
          </a:solidFill>
          <a:ln>
            <a:noFill/>
          </a:ln>
          <a:effectLst>
            <a:outerShdw blurRad="200025" rotWithShape="0" algn="bl" dir="2160000" dist="171450">
              <a:srgbClr val="888888">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8" name="Google Shape;88;g39ab12478d3_0_0"/>
          <p:cNvSpPr txBox="1"/>
          <p:nvPr/>
        </p:nvSpPr>
        <p:spPr>
          <a:xfrm>
            <a:off x="2550461" y="4212800"/>
            <a:ext cx="13187100" cy="646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lang="en-US" sz="4200">
                <a:latin typeface="Open Sans"/>
                <a:ea typeface="Open Sans"/>
                <a:cs typeface="Open Sans"/>
                <a:sym typeface="Open Sans"/>
              </a:rPr>
              <a:t>Análisis y Diseño de Sistemas 1</a:t>
            </a:r>
            <a:endParaRPr b="1" i="0" sz="4200" u="none" cap="none" strike="noStrike">
              <a:solidFill>
                <a:srgbClr val="000000"/>
              </a:solidFill>
              <a:latin typeface="Open Sans"/>
              <a:ea typeface="Open Sans"/>
              <a:cs typeface="Open Sans"/>
              <a:sym typeface="Open Sans"/>
            </a:endParaRPr>
          </a:p>
        </p:txBody>
      </p:sp>
      <p:sp>
        <p:nvSpPr>
          <p:cNvPr id="89" name="Google Shape;89;g39ab12478d3_0_0"/>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90" name="Google Shape;90;g39ab12478d3_0_0"/>
          <p:cNvSpPr/>
          <p:nvPr/>
        </p:nvSpPr>
        <p:spPr>
          <a:xfrm>
            <a:off x="740000" y="9310075"/>
            <a:ext cx="6904500" cy="522600"/>
          </a:xfrm>
          <a:prstGeom prst="roundRect">
            <a:avLst>
              <a:gd fmla="val 16667" name="adj"/>
            </a:avLst>
          </a:prstGeom>
          <a:solidFill>
            <a:srgbClr val="E1C794"/>
          </a:solidFill>
          <a:ln>
            <a:noFill/>
          </a:ln>
          <a:effectLst>
            <a:outerShdw blurRad="200025" rotWithShape="0" algn="bl" dir="2160000" dist="171450">
              <a:srgbClr val="B19867">
                <a:alpha val="3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1" name="Google Shape;91;g39ab12478d3_0_0"/>
          <p:cNvSpPr/>
          <p:nvPr/>
        </p:nvSpPr>
        <p:spPr>
          <a:xfrm>
            <a:off x="13871300" y="2240450"/>
            <a:ext cx="2172300" cy="522600"/>
          </a:xfrm>
          <a:prstGeom prst="rect">
            <a:avLst/>
          </a:prstGeom>
          <a:solidFill>
            <a:srgbClr val="E4E4E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t>00/00/202</a:t>
            </a:r>
            <a:r>
              <a:rPr b="0" i="0" lang="en-US" sz="2800" u="none" cap="none" strike="noStrike">
                <a:solidFill>
                  <a:srgbClr val="000000"/>
                </a:solidFill>
                <a:latin typeface="Arial"/>
                <a:ea typeface="Arial"/>
                <a:cs typeface="Arial"/>
                <a:sym typeface="Arial"/>
              </a:rPr>
              <a:t>6</a:t>
            </a:r>
            <a:endParaRPr b="0" i="0" sz="2800" u="none" cap="none" strike="noStrike">
              <a:solidFill>
                <a:srgbClr val="000000"/>
              </a:solidFill>
              <a:latin typeface="Arial"/>
              <a:ea typeface="Arial"/>
              <a:cs typeface="Arial"/>
              <a:sym typeface="Arial"/>
            </a:endParaRPr>
          </a:p>
        </p:txBody>
      </p:sp>
      <p:sp>
        <p:nvSpPr>
          <p:cNvPr id="92" name="Google Shape;92;g39ab12478d3_0_0"/>
          <p:cNvSpPr txBox="1"/>
          <p:nvPr/>
        </p:nvSpPr>
        <p:spPr>
          <a:xfrm>
            <a:off x="828900" y="9353000"/>
            <a:ext cx="6244200" cy="1073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lang="en-US" sz="2740">
                <a:latin typeface="Open Sans"/>
                <a:ea typeface="Open Sans"/>
                <a:cs typeface="Open Sans"/>
                <a:sym typeface="Open Sans"/>
              </a:rPr>
              <a:t>Tutor: </a:t>
            </a:r>
            <a:r>
              <a:rPr lang="en-US" sz="2740">
                <a:latin typeface="Open Sans"/>
                <a:ea typeface="Open Sans"/>
                <a:cs typeface="Open Sans"/>
                <a:sym typeface="Open Sans"/>
              </a:rPr>
              <a:t>Nombre del tutor</a:t>
            </a:r>
            <a:endParaRPr i="0" sz="1000" u="none" cap="none" strike="noStrike">
              <a:solidFill>
                <a:srgbClr val="000000"/>
              </a:solidFil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8" name="Google Shape;98;p2"/>
          <p:cNvSpPr txBox="1"/>
          <p:nvPr/>
        </p:nvSpPr>
        <p:spPr>
          <a:xfrm>
            <a:off x="6204049" y="3190240"/>
            <a:ext cx="58800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8799"/>
              <a:buFont typeface="Arial"/>
              <a:buNone/>
            </a:pPr>
            <a:r>
              <a:rPr b="1" i="0" lang="en-US" sz="8799" u="none" cap="none" strike="noStrike">
                <a:solidFill>
                  <a:srgbClr val="000000"/>
                </a:solidFill>
                <a:latin typeface="Open Sans"/>
                <a:ea typeface="Open Sans"/>
                <a:cs typeface="Open Sans"/>
                <a:sym typeface="Open Sans"/>
              </a:rPr>
              <a:t>UNIDAD </a:t>
            </a:r>
            <a:r>
              <a:rPr b="1" lang="en-US" sz="8799">
                <a:latin typeface="Open Sans"/>
                <a:ea typeface="Open Sans"/>
                <a:cs typeface="Open Sans"/>
                <a:sym typeface="Open Sans"/>
              </a:rPr>
              <a:t>2</a:t>
            </a:r>
            <a:r>
              <a:rPr b="1" i="0" lang="en-US" sz="8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99" name="Google Shape;99;p2"/>
          <p:cNvSpPr txBox="1"/>
          <p:nvPr/>
        </p:nvSpPr>
        <p:spPr>
          <a:xfrm>
            <a:off x="6647899" y="4888625"/>
            <a:ext cx="4992300" cy="2659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7200"/>
              <a:buFont typeface="Arial"/>
              <a:buNone/>
            </a:pPr>
            <a:r>
              <a:rPr b="1" lang="en-US" sz="7200">
                <a:latin typeface="Open Sans"/>
                <a:ea typeface="Open Sans"/>
                <a:cs typeface="Open Sans"/>
                <a:sym typeface="Open Sans"/>
              </a:rPr>
              <a:t>Scrum </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5" name="Google Shape;105;p3"/>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6" name="Google Shape;106;p3"/>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7" name="Google Shape;107;p3"/>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8" name="Google Shape;108;p3"/>
          <p:cNvSpPr txBox="1"/>
          <p:nvPr/>
        </p:nvSpPr>
        <p:spPr>
          <a:xfrm>
            <a:off x="5954709"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9" name="Google Shape;109;p3"/>
          <p:cNvSpPr txBox="1"/>
          <p:nvPr/>
        </p:nvSpPr>
        <p:spPr>
          <a:xfrm>
            <a:off x="5954709" y="334271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0" name="Google Shape;110;p3"/>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p3"/>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2" name="Google Shape;112;p3"/>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3" name="Google Shape;113;p3"/>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4" name="Google Shape;114;p3"/>
          <p:cNvSpPr txBox="1"/>
          <p:nvPr/>
        </p:nvSpPr>
        <p:spPr>
          <a:xfrm>
            <a:off x="5954709" y="544881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5" name="Google Shape;115;p3"/>
          <p:cNvSpPr txBox="1"/>
          <p:nvPr/>
        </p:nvSpPr>
        <p:spPr>
          <a:xfrm>
            <a:off x="5954709" y="643560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6" name="Google Shape;116;p3"/>
          <p:cNvSpPr txBox="1"/>
          <p:nvPr/>
        </p:nvSpPr>
        <p:spPr>
          <a:xfrm>
            <a:off x="5954709" y="755574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2" name="Google Shape;122;p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3" name="Google Shape;123;p4"/>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p4"/>
          <p:cNvSpPr txBox="1"/>
          <p:nvPr/>
        </p:nvSpPr>
        <p:spPr>
          <a:xfrm>
            <a:off x="5215012"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p4"/>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p4"/>
          <p:cNvSpPr txBox="1"/>
          <p:nvPr/>
        </p:nvSpPr>
        <p:spPr>
          <a:xfrm>
            <a:off x="5215012" y="537955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7" name="Google Shape;127;p4"/>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8" name="Google Shape;128;p4"/>
          <p:cNvSpPr/>
          <p:nvPr/>
        </p:nvSpPr>
        <p:spPr>
          <a:xfrm>
            <a:off x="4875920" y="7248315"/>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9" name="Google Shape;129;p4"/>
          <p:cNvSpPr/>
          <p:nvPr/>
        </p:nvSpPr>
        <p:spPr>
          <a:xfrm>
            <a:off x="4875920" y="8301734"/>
            <a:ext cx="678185" cy="824819"/>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130" name="Google Shape;130;p4"/>
          <p:cNvSpPr txBox="1"/>
          <p:nvPr/>
        </p:nvSpPr>
        <p:spPr>
          <a:xfrm>
            <a:off x="5215012" y="638539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1" name="Google Shape;131;p4"/>
          <p:cNvSpPr txBox="1"/>
          <p:nvPr/>
        </p:nvSpPr>
        <p:spPr>
          <a:xfrm>
            <a:off x="5215012" y="739123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2" name="Google Shape;132;p4"/>
          <p:cNvSpPr txBox="1"/>
          <p:nvPr/>
        </p:nvSpPr>
        <p:spPr>
          <a:xfrm>
            <a:off x="5215012" y="844470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5"/>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8" name="Google Shape;138;p5"/>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9" name="Google Shape;139;p5"/>
          <p:cNvSpPr txBox="1"/>
          <p:nvPr/>
        </p:nvSpPr>
        <p:spPr>
          <a:xfrm>
            <a:off x="5720825" y="3055088"/>
            <a:ext cx="8403900" cy="2478300"/>
          </a:xfrm>
          <a:prstGeom prst="rect">
            <a:avLst/>
          </a:prstGeom>
          <a:noFill/>
          <a:ln>
            <a:noFill/>
          </a:ln>
        </p:spPr>
        <p:txBody>
          <a:bodyPr anchorCtr="0" anchor="t" bIns="0" lIns="0" spcFirstLastPara="1" rIns="0" wrap="square" tIns="0">
            <a:spAutoFit/>
          </a:bodyPr>
          <a:lstStyle/>
          <a:p>
            <a:pPr indent="-323850" lvl="0" marL="457200" marR="0" rtl="0" algn="l">
              <a:lnSpc>
                <a:spcPct val="140000"/>
              </a:lnSpc>
              <a:spcBef>
                <a:spcPts val="0"/>
              </a:spcBef>
              <a:spcAft>
                <a:spcPts val="0"/>
              </a:spcAft>
              <a:buSzPts val="1500"/>
              <a:buFont typeface="Open Sans"/>
              <a:buAutoNum type="arabicPeriod"/>
            </a:pPr>
            <a:r>
              <a:rPr b="1" lang="en-US" sz="1500">
                <a:latin typeface="Open Sans"/>
                <a:ea typeface="Open Sans"/>
                <a:cs typeface="Open Sans"/>
                <a:sym typeface="Open Sans"/>
              </a:rPr>
              <a:t>El estudiante Identifica roles clave en Scrum  en framework Scrum 			</a:t>
            </a:r>
            <a:endParaRPr b="1" sz="1500">
              <a:latin typeface="Open Sans"/>
              <a:ea typeface="Open Sans"/>
              <a:cs typeface="Open Sans"/>
              <a:sym typeface="Open Sans"/>
            </a:endParaRPr>
          </a:p>
          <a:p>
            <a:pPr indent="-323850" lvl="0" marL="457200" marR="0" rtl="0" algn="l">
              <a:lnSpc>
                <a:spcPct val="140000"/>
              </a:lnSpc>
              <a:spcBef>
                <a:spcPts val="0"/>
              </a:spcBef>
              <a:spcAft>
                <a:spcPts val="0"/>
              </a:spcAft>
              <a:buSzPts val="1500"/>
              <a:buFont typeface="Open Sans"/>
              <a:buAutoNum type="arabicPeriod"/>
            </a:pPr>
            <a:r>
              <a:rPr b="1" lang="en-US" sz="1500">
                <a:latin typeface="Open Sans"/>
                <a:ea typeface="Open Sans"/>
                <a:cs typeface="Open Sans"/>
                <a:sym typeface="Open Sans"/>
              </a:rPr>
              <a:t>El estudiante Crea artefactos de Scrum Scrum (Product Backlog, Sprint Backlog) para gestión del proyecto 						</a:t>
            </a:r>
            <a:endParaRPr b="1" sz="1500">
              <a:latin typeface="Open Sans"/>
              <a:ea typeface="Open Sans"/>
              <a:cs typeface="Open Sans"/>
              <a:sym typeface="Open Sans"/>
            </a:endParaRPr>
          </a:p>
          <a:p>
            <a:pPr indent="-323850" lvl="0" marL="457200" marR="0" rtl="0" algn="l">
              <a:lnSpc>
                <a:spcPct val="140000"/>
              </a:lnSpc>
              <a:spcBef>
                <a:spcPts val="0"/>
              </a:spcBef>
              <a:spcAft>
                <a:spcPts val="0"/>
              </a:spcAft>
              <a:buSzPts val="1500"/>
              <a:buFont typeface="Open Sans"/>
              <a:buAutoNum type="arabicPeriod"/>
            </a:pPr>
            <a:r>
              <a:rPr b="1" lang="en-US" sz="1500">
                <a:latin typeface="Open Sans"/>
                <a:ea typeface="Open Sans"/>
                <a:cs typeface="Open Sans"/>
                <a:sym typeface="Open Sans"/>
              </a:rPr>
              <a:t>El estudiante Implementa eventos de Scrum (Daily, Sprint Review, Retrospective) en ciclos de desarrollo 						</a:t>
            </a:r>
            <a:endParaRPr b="1" sz="1500">
              <a:latin typeface="Open Sans"/>
              <a:ea typeface="Open Sans"/>
              <a:cs typeface="Open Sans"/>
              <a:sym typeface="Open Sans"/>
            </a:endParaRPr>
          </a:p>
          <a:p>
            <a:pPr indent="-317500" lvl="0" marL="457200" marR="0" rtl="0" algn="l">
              <a:lnSpc>
                <a:spcPct val="140000"/>
              </a:lnSpc>
              <a:spcBef>
                <a:spcPts val="0"/>
              </a:spcBef>
              <a:spcAft>
                <a:spcPts val="0"/>
              </a:spcAft>
              <a:buSzPts val="1400"/>
              <a:buFont typeface="Open Sans"/>
              <a:buAutoNum type="arabicPeriod"/>
            </a:pPr>
            <a:r>
              <a:rPr b="1" lang="en-US" sz="1500">
                <a:latin typeface="Open Sans"/>
                <a:ea typeface="Open Sans"/>
                <a:cs typeface="Open Sans"/>
                <a:sym typeface="Open Sans"/>
              </a:rPr>
              <a:t>El estudiante Aplica técnicas de estimación Planning Poker, Story Points en planificación ágil 	</a:t>
            </a:r>
            <a:r>
              <a:rPr b="1" lang="en-US">
                <a:latin typeface="Open Sans"/>
                <a:ea typeface="Open Sans"/>
                <a:cs typeface="Open Sans"/>
                <a:sym typeface="Open Sans"/>
              </a:rPr>
              <a:t>					</a:t>
            </a:r>
            <a:endParaRPr b="1">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9ab12478d3_0_89"/>
          <p:cNvSpPr txBox="1"/>
          <p:nvPr/>
        </p:nvSpPr>
        <p:spPr>
          <a:xfrm>
            <a:off x="1556675" y="2732550"/>
            <a:ext cx="15638700" cy="6909600"/>
          </a:xfrm>
          <a:prstGeom prst="rect">
            <a:avLst/>
          </a:prstGeom>
          <a:noFill/>
          <a:ln>
            <a:noFill/>
          </a:ln>
        </p:spPr>
        <p:txBody>
          <a:bodyPr anchorCtr="0" anchor="t" bIns="0" lIns="0" spcFirstLastPara="1" rIns="0" wrap="square" tIns="0">
            <a:spAutoFit/>
          </a:bodyPr>
          <a:lstStyle/>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"Imagina que están en un Sprint, y uno de tus compañeros tiene problemas para terminar su feature branch porque encontró un bug complicado. Tú ya terminaste tu tarea, la subiste correctamente usando Gitflow, y podrías quedarte esperando la siguiente reunión.</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Pero en lugar de eso, te ofreces a ayudar: revisas su código, le explicas cómo resolverlo o incluso haces pair programming para salir del problema juntos.</a:t>
            </a:r>
            <a:endParaRPr sz="1100">
              <a:solidFill>
                <a:schemeClr val="dk1"/>
              </a:solidFill>
            </a:endParaRPr>
          </a:p>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Eso es solidaridad. No es solo cumplir con tu parte y ya, es entender que si alguien del equipo se atrasa, todo el Sprint se ve afectado.</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t/>
            </a:r>
            <a:endParaRPr sz="3027">
              <a:solidFill>
                <a:srgbClr val="131416"/>
              </a:solidFill>
            </a:endParaRPr>
          </a:p>
          <a:p>
            <a:pPr indent="0" lvl="0" marL="0" rtl="0" algn="just">
              <a:lnSpc>
                <a:spcPct val="113014"/>
              </a:lnSpc>
              <a:spcBef>
                <a:spcPts val="0"/>
              </a:spcBef>
              <a:spcAft>
                <a:spcPts val="0"/>
              </a:spcAft>
              <a:buClr>
                <a:schemeClr val="dk1"/>
              </a:buClr>
              <a:buSzPts val="3327"/>
              <a:buFont typeface="Arial"/>
              <a:buNone/>
            </a:pPr>
            <a:r>
              <a:rPr lang="en-US" sz="3027">
                <a:solidFill>
                  <a:srgbClr val="131416"/>
                </a:solidFill>
              </a:rPr>
              <a:t>En Scrum se trabaja en equipo, y Gitflow permite que todos colaboren sin estorbarse, pero la actitud solidaria es lo que realmente hace que el proyecto avance con fuerza y unidad."</a:t>
            </a:r>
            <a:endParaRPr sz="1100">
              <a:solidFill>
                <a:schemeClr val="dk1"/>
              </a:solidFill>
            </a:endParaRPr>
          </a:p>
          <a:p>
            <a:pPr indent="0" lvl="0" marL="0" marR="0" rtl="0" algn="just">
              <a:lnSpc>
                <a:spcPct val="113019"/>
              </a:lnSpc>
              <a:spcBef>
                <a:spcPts val="0"/>
              </a:spcBef>
              <a:spcAft>
                <a:spcPts val="0"/>
              </a:spcAft>
              <a:buClr>
                <a:srgbClr val="000000"/>
              </a:buClr>
              <a:buSzPts val="3249"/>
              <a:buFont typeface="Arial"/>
              <a:buNone/>
            </a:pPr>
            <a:r>
              <a:t/>
            </a:r>
            <a:endParaRPr sz="3549">
              <a:solidFill>
                <a:srgbClr val="131416"/>
              </a:solidFill>
            </a:endParaRPr>
          </a:p>
          <a:p>
            <a:pPr indent="0" lvl="0" marL="0" marR="0" rtl="0" algn="just">
              <a:lnSpc>
                <a:spcPct val="113019"/>
              </a:lnSpc>
              <a:spcBef>
                <a:spcPts val="0"/>
              </a:spcBef>
              <a:spcAft>
                <a:spcPts val="0"/>
              </a:spcAft>
              <a:buClr>
                <a:srgbClr val="000000"/>
              </a:buClr>
              <a:buSzPts val="3249"/>
              <a:buFont typeface="Arial"/>
              <a:buNone/>
            </a:pPr>
            <a:r>
              <a:t/>
            </a:r>
            <a:endParaRPr b="0" i="0" sz="3249" u="none" cap="none" strike="noStrike">
              <a:solidFill>
                <a:srgbClr val="131416"/>
              </a:solidFill>
              <a:latin typeface="Arial"/>
              <a:ea typeface="Arial"/>
              <a:cs typeface="Arial"/>
              <a:sym typeface="Arial"/>
            </a:endParaRPr>
          </a:p>
        </p:txBody>
      </p:sp>
      <p:sp>
        <p:nvSpPr>
          <p:cNvPr id="145" name="Google Shape;145;g39ab12478d3_0_89"/>
          <p:cNvSpPr txBox="1"/>
          <p:nvPr/>
        </p:nvSpPr>
        <p:spPr>
          <a:xfrm>
            <a:off x="239234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VALOR DE LA SEMANA: </a:t>
            </a:r>
            <a:r>
              <a:rPr lang="en-US" sz="6900">
                <a:solidFill>
                  <a:srgbClr val="131416"/>
                </a:solidFill>
                <a:latin typeface="Impact"/>
                <a:ea typeface="Impact"/>
                <a:cs typeface="Impact"/>
                <a:sym typeface="Impact"/>
              </a:rPr>
              <a:t>Solidaridad</a:t>
            </a:r>
            <a:endParaRPr i="0" sz="1400" u="none" cap="none" strike="noStrike">
              <a:solidFill>
                <a:srgbClr val="000000"/>
              </a:solidFill>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9ab12478d3_0_169"/>
          <p:cNvSpPr/>
          <p:nvPr/>
        </p:nvSpPr>
        <p:spPr>
          <a:xfrm flipH="1">
            <a:off x="-1443387" y="-173511"/>
            <a:ext cx="9643853" cy="964385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9ab12478d3_0_169"/>
          <p:cNvSpPr/>
          <p:nvPr/>
        </p:nvSpPr>
        <p:spPr>
          <a:xfrm>
            <a:off x="-318259" y="1723742"/>
            <a:ext cx="8519570" cy="8519570"/>
          </a:xfrm>
          <a:custGeom>
            <a:rect b="b" l="l" r="r" t="t"/>
            <a:pathLst>
              <a:path extrusionOk="0" h="3331210" w="3331210">
                <a:moveTo>
                  <a:pt x="0" y="3331210"/>
                </a:moveTo>
                <a:lnTo>
                  <a:pt x="0" y="0"/>
                </a:lnTo>
                <a:cubicBezTo>
                  <a:pt x="1840230" y="0"/>
                  <a:pt x="3331210" y="1490980"/>
                  <a:pt x="3331210" y="3331210"/>
                </a:cubicBezTo>
                <a:lnTo>
                  <a:pt x="0" y="3331210"/>
                </a:lnTo>
                <a:close/>
              </a:path>
            </a:pathLst>
          </a:custGeom>
          <a:blipFill rotWithShape="1">
            <a:blip r:embed="rId3">
              <a:alphaModFix/>
            </a:blip>
            <a:stretch>
              <a:fillRect b="0" l="-24900" r="-24891"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g39ab12478d3_0_169"/>
          <p:cNvSpPr txBox="1"/>
          <p:nvPr/>
        </p:nvSpPr>
        <p:spPr>
          <a:xfrm>
            <a:off x="8733410" y="4252555"/>
            <a:ext cx="10717500" cy="2244000"/>
          </a:xfrm>
          <a:prstGeom prst="rect">
            <a:avLst/>
          </a:prstGeom>
          <a:noFill/>
          <a:ln>
            <a:noFill/>
          </a:ln>
        </p:spPr>
        <p:txBody>
          <a:bodyPr anchorCtr="0" anchor="t" bIns="0" lIns="0" spcFirstLastPara="1" rIns="0" wrap="square" tIns="0">
            <a:spAutoFit/>
          </a:bodyPr>
          <a:lstStyle/>
          <a:p>
            <a:pPr indent="0" lvl="0" marL="0" marR="0" rtl="0" algn="l">
              <a:lnSpc>
                <a:spcPct val="103999"/>
              </a:lnSpc>
              <a:spcBef>
                <a:spcPts val="0"/>
              </a:spcBef>
              <a:spcAft>
                <a:spcPts val="0"/>
              </a:spcAft>
              <a:buClr>
                <a:srgbClr val="000000"/>
              </a:buClr>
              <a:buSzPts val="14578"/>
              <a:buFont typeface="Arial"/>
              <a:buNone/>
            </a:pPr>
            <a:r>
              <a:rPr b="1" i="0" lang="en-US" sz="14578" u="none" cap="none" strike="noStrike">
                <a:solidFill>
                  <a:srgbClr val="000000"/>
                </a:solidFill>
                <a:latin typeface="Montserrat"/>
                <a:ea typeface="Montserrat"/>
                <a:cs typeface="Montserrat"/>
                <a:sym typeface="Montserrat"/>
              </a:rPr>
              <a:t>SCRUM</a:t>
            </a:r>
            <a:endParaRPr b="0" i="0" sz="1400" u="none" cap="none" strike="noStrike">
              <a:solidFill>
                <a:srgbClr val="000000"/>
              </a:solidFill>
              <a:latin typeface="Arial"/>
              <a:ea typeface="Arial"/>
              <a:cs typeface="Arial"/>
              <a:sym typeface="Arial"/>
            </a:endParaRPr>
          </a:p>
        </p:txBody>
      </p:sp>
      <p:sp>
        <p:nvSpPr>
          <p:cNvPr id="153" name="Google Shape;153;g39ab12478d3_0_169"/>
          <p:cNvSpPr/>
          <p:nvPr/>
        </p:nvSpPr>
        <p:spPr>
          <a:xfrm flipH="1" rot="9342576">
            <a:off x="15978022" y="-2081821"/>
            <a:ext cx="6944040" cy="6944040"/>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g39ab12478d3_0_169"/>
          <p:cNvSpPr/>
          <p:nvPr/>
        </p:nvSpPr>
        <p:spPr>
          <a:xfrm rot="5279728">
            <a:off x="13833328" y="3739469"/>
            <a:ext cx="11612317" cy="1104621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4">
              <a:alphaModFix amt="7000"/>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158" name="Shape 158"/>
        <p:cNvGrpSpPr/>
        <p:nvPr/>
      </p:nvGrpSpPr>
      <p:grpSpPr>
        <a:xfrm>
          <a:off x="0" y="0"/>
          <a:ext cx="0" cy="0"/>
          <a:chOff x="0" y="0"/>
          <a:chExt cx="0" cy="0"/>
        </a:xfrm>
      </p:grpSpPr>
      <p:grpSp>
        <p:nvGrpSpPr>
          <p:cNvPr id="159" name="Google Shape;159;g39ab12478d3_0_177"/>
          <p:cNvGrpSpPr/>
          <p:nvPr/>
        </p:nvGrpSpPr>
        <p:grpSpPr>
          <a:xfrm>
            <a:off x="11301677" y="841157"/>
            <a:ext cx="9807407" cy="9807407"/>
            <a:chOff x="0" y="0"/>
            <a:chExt cx="812800" cy="812800"/>
          </a:xfrm>
        </p:grpSpPr>
        <p:sp>
          <p:nvSpPr>
            <p:cNvPr id="160" name="Google Shape;160;g39ab12478d3_0_1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g39ab12478d3_0_17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2" name="Google Shape;162;g39ab12478d3_0_177"/>
          <p:cNvSpPr txBox="1"/>
          <p:nvPr/>
        </p:nvSpPr>
        <p:spPr>
          <a:xfrm>
            <a:off x="4483539" y="860207"/>
            <a:ext cx="9321000" cy="12315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8000"/>
              <a:buFont typeface="Arial"/>
              <a:buNone/>
            </a:pPr>
            <a:r>
              <a:rPr b="1" lang="en-US" sz="8000">
                <a:solidFill>
                  <a:srgbClr val="F9F9F9"/>
                </a:solidFill>
                <a:latin typeface="Montserrat"/>
                <a:ea typeface="Montserrat"/>
                <a:cs typeface="Montserrat"/>
                <a:sym typeface="Montserrat"/>
              </a:rPr>
              <a:t>¿Qué es Scrum?</a:t>
            </a:r>
            <a:endParaRPr b="0" i="0" sz="1400" u="none" cap="none" strike="noStrike">
              <a:solidFill>
                <a:srgbClr val="000000"/>
              </a:solidFill>
              <a:latin typeface="Arial"/>
              <a:ea typeface="Arial"/>
              <a:cs typeface="Arial"/>
              <a:sym typeface="Arial"/>
            </a:endParaRPr>
          </a:p>
        </p:txBody>
      </p:sp>
      <p:grpSp>
        <p:nvGrpSpPr>
          <p:cNvPr id="163" name="Google Shape;163;g39ab12478d3_0_177"/>
          <p:cNvGrpSpPr/>
          <p:nvPr/>
        </p:nvGrpSpPr>
        <p:grpSpPr>
          <a:xfrm>
            <a:off x="15664096" y="-1498702"/>
            <a:ext cx="3978412" cy="3978412"/>
            <a:chOff x="0" y="0"/>
            <a:chExt cx="812800" cy="812800"/>
          </a:xfrm>
        </p:grpSpPr>
        <p:sp>
          <p:nvSpPr>
            <p:cNvPr id="164" name="Google Shape;164;g39ab12478d3_0_1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39ab12478d3_0_17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6" name="Google Shape;166;g39ab12478d3_0_177"/>
          <p:cNvGrpSpPr/>
          <p:nvPr/>
        </p:nvGrpSpPr>
        <p:grpSpPr>
          <a:xfrm>
            <a:off x="13983437" y="841157"/>
            <a:ext cx="1147836" cy="1147836"/>
            <a:chOff x="0" y="0"/>
            <a:chExt cx="812800" cy="812800"/>
          </a:xfrm>
        </p:grpSpPr>
        <p:sp>
          <p:nvSpPr>
            <p:cNvPr id="167" name="Google Shape;167;g39ab12478d3_0_17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g39ab12478d3_0_17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9" name="Google Shape;169;g39ab12478d3_0_177"/>
          <p:cNvSpPr txBox="1"/>
          <p:nvPr/>
        </p:nvSpPr>
        <p:spPr>
          <a:xfrm>
            <a:off x="1924134" y="2836042"/>
            <a:ext cx="14358600" cy="71160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lang="en-US" sz="3399">
                <a:solidFill>
                  <a:srgbClr val="F9F9F9"/>
                </a:solidFill>
                <a:latin typeface="Open Sans"/>
                <a:ea typeface="Open Sans"/>
                <a:cs typeface="Open Sans"/>
                <a:sym typeface="Open Sans"/>
              </a:rPr>
              <a:t>Scrum es un marco de trabajo ágil para la gestión y desarrollo de proyectos complejos.</a:t>
            </a:r>
            <a:endParaRPr sz="3399">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Clr>
                <a:srgbClr val="000000"/>
              </a:buClr>
              <a:buSzPts val="3399"/>
              <a:buFont typeface="Arial"/>
              <a:buNone/>
            </a:pPr>
            <a:r>
              <a:t/>
            </a:r>
            <a:endParaRPr sz="3399">
              <a:solidFill>
                <a:srgbClr val="F9F9F9"/>
              </a:solidFill>
              <a:latin typeface="Open Sans"/>
              <a:ea typeface="Open Sans"/>
              <a:cs typeface="Open Sans"/>
              <a:sym typeface="Open Sans"/>
            </a:endParaRPr>
          </a:p>
          <a:p>
            <a:pPr indent="0" lvl="0" marL="0" rtl="0" algn="just">
              <a:lnSpc>
                <a:spcPct val="140011"/>
              </a:lnSpc>
              <a:spcBef>
                <a:spcPts val="0"/>
              </a:spcBef>
              <a:spcAft>
                <a:spcPts val="0"/>
              </a:spcAft>
              <a:buClr>
                <a:schemeClr val="dk1"/>
              </a:buClr>
              <a:buSzPts val="1100"/>
              <a:buFont typeface="Arial"/>
              <a:buNone/>
            </a:pPr>
            <a:r>
              <a:rPr lang="en-US" sz="3399">
                <a:solidFill>
                  <a:srgbClr val="F9F9F9"/>
                </a:solidFill>
                <a:latin typeface="Open Sans"/>
                <a:ea typeface="Open Sans"/>
                <a:cs typeface="Open Sans"/>
                <a:sym typeface="Open Sans"/>
              </a:rPr>
              <a:t>Características principales:</a:t>
            </a:r>
            <a:endParaRPr sz="3399">
              <a:solidFill>
                <a:srgbClr val="F9F9F9"/>
              </a:solidFill>
              <a:latin typeface="Open Sans"/>
              <a:ea typeface="Open Sans"/>
              <a:cs typeface="Open Sans"/>
              <a:sym typeface="Open Sans"/>
            </a:endParaRPr>
          </a:p>
          <a:p>
            <a:pPr indent="-444437" lvl="0" marL="457200" rtl="0" algn="just">
              <a:lnSpc>
                <a:spcPct val="140011"/>
              </a:lnSpc>
              <a:spcBef>
                <a:spcPts val="0"/>
              </a:spcBef>
              <a:spcAft>
                <a:spcPts val="0"/>
              </a:spcAft>
              <a:buClr>
                <a:srgbClr val="F9F9F9"/>
              </a:buClr>
              <a:buSzPts val="3399"/>
              <a:buFont typeface="Open Sans"/>
              <a:buChar char="●"/>
            </a:pPr>
            <a:r>
              <a:rPr lang="en-US" sz="3399">
                <a:solidFill>
                  <a:srgbClr val="F9F9F9"/>
                </a:solidFill>
                <a:latin typeface="Open Sans"/>
                <a:ea typeface="Open Sans"/>
                <a:cs typeface="Open Sans"/>
                <a:sym typeface="Open Sans"/>
              </a:rPr>
              <a:t>Trabajo iterativo e incremental</a:t>
            </a:r>
            <a:endParaRPr sz="3399">
              <a:solidFill>
                <a:srgbClr val="F9F9F9"/>
              </a:solidFill>
              <a:latin typeface="Open Sans"/>
              <a:ea typeface="Open Sans"/>
              <a:cs typeface="Open Sans"/>
              <a:sym typeface="Open Sans"/>
            </a:endParaRPr>
          </a:p>
          <a:p>
            <a:pPr indent="-444437" lvl="0" marL="457200" rtl="0" algn="just">
              <a:lnSpc>
                <a:spcPct val="140011"/>
              </a:lnSpc>
              <a:spcBef>
                <a:spcPts val="0"/>
              </a:spcBef>
              <a:spcAft>
                <a:spcPts val="0"/>
              </a:spcAft>
              <a:buClr>
                <a:srgbClr val="F9F9F9"/>
              </a:buClr>
              <a:buSzPts val="3399"/>
              <a:buFont typeface="Open Sans"/>
              <a:buChar char="●"/>
            </a:pPr>
            <a:r>
              <a:rPr lang="en-US" sz="3399">
                <a:solidFill>
                  <a:srgbClr val="F9F9F9"/>
                </a:solidFill>
                <a:latin typeface="Open Sans"/>
                <a:ea typeface="Open Sans"/>
                <a:cs typeface="Open Sans"/>
                <a:sym typeface="Open Sans"/>
              </a:rPr>
              <a:t>Equipos auto-organizados</a:t>
            </a:r>
            <a:endParaRPr sz="3399">
              <a:solidFill>
                <a:srgbClr val="F9F9F9"/>
              </a:solidFill>
              <a:latin typeface="Open Sans"/>
              <a:ea typeface="Open Sans"/>
              <a:cs typeface="Open Sans"/>
              <a:sym typeface="Open Sans"/>
            </a:endParaRPr>
          </a:p>
          <a:p>
            <a:pPr indent="-444437" lvl="0" marL="457200" rtl="0" algn="just">
              <a:lnSpc>
                <a:spcPct val="140011"/>
              </a:lnSpc>
              <a:spcBef>
                <a:spcPts val="0"/>
              </a:spcBef>
              <a:spcAft>
                <a:spcPts val="0"/>
              </a:spcAft>
              <a:buClr>
                <a:srgbClr val="F9F9F9"/>
              </a:buClr>
              <a:buSzPts val="3399"/>
              <a:buFont typeface="Open Sans"/>
              <a:buChar char="●"/>
            </a:pPr>
            <a:r>
              <a:rPr lang="en-US" sz="3399">
                <a:solidFill>
                  <a:srgbClr val="F9F9F9"/>
                </a:solidFill>
                <a:latin typeface="Open Sans"/>
                <a:ea typeface="Open Sans"/>
                <a:cs typeface="Open Sans"/>
                <a:sym typeface="Open Sans"/>
              </a:rPr>
              <a:t>Entregas frecuentes de valor</a:t>
            </a:r>
            <a:endParaRPr sz="3399">
              <a:solidFill>
                <a:srgbClr val="F9F9F9"/>
              </a:solidFill>
              <a:latin typeface="Open Sans"/>
              <a:ea typeface="Open Sans"/>
              <a:cs typeface="Open Sans"/>
              <a:sym typeface="Open Sans"/>
            </a:endParaRPr>
          </a:p>
          <a:p>
            <a:pPr indent="-444437" lvl="0" marL="457200" rtl="0" algn="just">
              <a:lnSpc>
                <a:spcPct val="140011"/>
              </a:lnSpc>
              <a:spcBef>
                <a:spcPts val="0"/>
              </a:spcBef>
              <a:spcAft>
                <a:spcPts val="0"/>
              </a:spcAft>
              <a:buClr>
                <a:srgbClr val="F9F9F9"/>
              </a:buClr>
              <a:buSzPts val="3399"/>
              <a:buFont typeface="Open Sans"/>
              <a:buChar char="●"/>
            </a:pPr>
            <a:r>
              <a:rPr lang="en-US" sz="3399">
                <a:solidFill>
                  <a:srgbClr val="F9F9F9"/>
                </a:solidFill>
                <a:latin typeface="Open Sans"/>
                <a:ea typeface="Open Sans"/>
                <a:cs typeface="Open Sans"/>
                <a:sym typeface="Open Sans"/>
              </a:rPr>
              <a:t>Adaptación continua al cambio</a:t>
            </a:r>
            <a:endParaRPr sz="3399">
              <a:solidFill>
                <a:srgbClr val="F9F9F9"/>
              </a:solidFill>
              <a:latin typeface="Open Sans"/>
              <a:ea typeface="Open Sans"/>
              <a:cs typeface="Open Sans"/>
              <a:sym typeface="Open Sans"/>
            </a:endParaRPr>
          </a:p>
          <a:p>
            <a:pPr indent="-444437" lvl="0" marL="457200" rtl="0" algn="just">
              <a:lnSpc>
                <a:spcPct val="140011"/>
              </a:lnSpc>
              <a:spcBef>
                <a:spcPts val="0"/>
              </a:spcBef>
              <a:spcAft>
                <a:spcPts val="0"/>
              </a:spcAft>
              <a:buClr>
                <a:srgbClr val="F9F9F9"/>
              </a:buClr>
              <a:buSzPts val="3399"/>
              <a:buFont typeface="Open Sans"/>
              <a:buChar char="●"/>
            </a:pPr>
            <a:r>
              <a:rPr lang="en-US" sz="3399">
                <a:solidFill>
                  <a:srgbClr val="F9F9F9"/>
                </a:solidFill>
                <a:latin typeface="Open Sans"/>
                <a:ea typeface="Open Sans"/>
                <a:cs typeface="Open Sans"/>
                <a:sym typeface="Open Sans"/>
              </a:rPr>
              <a:t>Ciclos de trabajo llamados "Sprints"</a:t>
            </a:r>
            <a:endParaRPr sz="3399">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Clr>
                <a:srgbClr val="000000"/>
              </a:buClr>
              <a:buSzPts val="3399"/>
              <a:buFont typeface="Arial"/>
              <a:buNone/>
            </a:pPr>
            <a:r>
              <a:t/>
            </a:r>
            <a:endParaRPr sz="3399">
              <a:solidFill>
                <a:srgbClr val="F9F9F9"/>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grpSp>
        <p:nvGrpSpPr>
          <p:cNvPr id="174" name="Google Shape;174;g39ab12478d3_0_191"/>
          <p:cNvGrpSpPr/>
          <p:nvPr/>
        </p:nvGrpSpPr>
        <p:grpSpPr>
          <a:xfrm>
            <a:off x="12839828" y="4487199"/>
            <a:ext cx="7594641" cy="7594641"/>
            <a:chOff x="0" y="0"/>
            <a:chExt cx="812800" cy="812800"/>
          </a:xfrm>
        </p:grpSpPr>
        <p:sp>
          <p:nvSpPr>
            <p:cNvPr id="175" name="Google Shape;175;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7" name="Google Shape;177;g39ab12478d3_0_191"/>
          <p:cNvSpPr/>
          <p:nvPr/>
        </p:nvSpPr>
        <p:spPr>
          <a:xfrm rot="-5400000">
            <a:off x="10834523" y="-239566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178" name="Google Shape;178;g39ab12478d3_0_191"/>
          <p:cNvGrpSpPr/>
          <p:nvPr/>
        </p:nvGrpSpPr>
        <p:grpSpPr>
          <a:xfrm>
            <a:off x="-2626650" y="-879490"/>
            <a:ext cx="12177451" cy="12177451"/>
            <a:chOff x="0" y="0"/>
            <a:chExt cx="812800" cy="812800"/>
          </a:xfrm>
        </p:grpSpPr>
        <p:sp>
          <p:nvSpPr>
            <p:cNvPr id="179" name="Google Shape;179;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1" name="Google Shape;181;g39ab12478d3_0_191"/>
          <p:cNvSpPr/>
          <p:nvPr/>
        </p:nvSpPr>
        <p:spPr>
          <a:xfrm flipH="1" rot="88887">
            <a:off x="-2702181" y="6763014"/>
            <a:ext cx="5798243" cy="579824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2" name="Google Shape;182;g39ab12478d3_0_191"/>
          <p:cNvGrpSpPr/>
          <p:nvPr/>
        </p:nvGrpSpPr>
        <p:grpSpPr>
          <a:xfrm>
            <a:off x="606746" y="9441892"/>
            <a:ext cx="4224447" cy="4224447"/>
            <a:chOff x="0" y="0"/>
            <a:chExt cx="812800" cy="812800"/>
          </a:xfrm>
        </p:grpSpPr>
        <p:sp>
          <p:nvSpPr>
            <p:cNvPr id="183" name="Google Shape;183;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g39ab12478d3_0_191"/>
          <p:cNvGrpSpPr/>
          <p:nvPr/>
        </p:nvGrpSpPr>
        <p:grpSpPr>
          <a:xfrm>
            <a:off x="11117400" y="25743"/>
            <a:ext cx="716808" cy="716808"/>
            <a:chOff x="0" y="0"/>
            <a:chExt cx="812800" cy="812800"/>
          </a:xfrm>
        </p:grpSpPr>
        <p:sp>
          <p:nvSpPr>
            <p:cNvPr id="186" name="Google Shape;186;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g39ab12478d3_0_191"/>
          <p:cNvGrpSpPr/>
          <p:nvPr/>
        </p:nvGrpSpPr>
        <p:grpSpPr>
          <a:xfrm>
            <a:off x="4825222" y="-4485369"/>
            <a:ext cx="5954248" cy="5954248"/>
            <a:chOff x="0" y="0"/>
            <a:chExt cx="812800" cy="812800"/>
          </a:xfrm>
        </p:grpSpPr>
        <p:sp>
          <p:nvSpPr>
            <p:cNvPr id="189" name="Google Shape;189;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1" name="Google Shape;191;g39ab12478d3_0_191"/>
          <p:cNvGrpSpPr/>
          <p:nvPr/>
        </p:nvGrpSpPr>
        <p:grpSpPr>
          <a:xfrm>
            <a:off x="16637128" y="8526062"/>
            <a:ext cx="2538618" cy="2538618"/>
            <a:chOff x="0" y="0"/>
            <a:chExt cx="812800" cy="812800"/>
          </a:xfrm>
        </p:grpSpPr>
        <p:sp>
          <p:nvSpPr>
            <p:cNvPr id="192" name="Google Shape;192;g39ab12478d3_0_19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g39ab12478d3_0_19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4" name="Google Shape;194;g39ab12478d3_0_191"/>
          <p:cNvSpPr/>
          <p:nvPr/>
        </p:nvSpPr>
        <p:spPr>
          <a:xfrm>
            <a:off x="3256995" y="6075239"/>
            <a:ext cx="2558333" cy="2558333"/>
          </a:xfrm>
          <a:custGeom>
            <a:rect b="b" l="l" r="r" t="t"/>
            <a:pathLst>
              <a:path extrusionOk="0" h="2558333" w="2558333">
                <a:moveTo>
                  <a:pt x="0" y="0"/>
                </a:moveTo>
                <a:lnTo>
                  <a:pt x="2558333" y="0"/>
                </a:lnTo>
                <a:lnTo>
                  <a:pt x="2558333" y="2558333"/>
                </a:lnTo>
                <a:lnTo>
                  <a:pt x="0" y="2558333"/>
                </a:lnTo>
                <a:lnTo>
                  <a:pt x="0" y="0"/>
                </a:lnTo>
                <a:close/>
              </a:path>
            </a:pathLst>
          </a:custGeom>
          <a:blipFill rotWithShape="1">
            <a:blip r:embed="rId4">
              <a:alphaModFix/>
            </a:blip>
            <a:stretch>
              <a:fillRect b="0" l="0" r="0" t="0"/>
            </a:stretch>
          </a:blipFill>
          <a:ln>
            <a:noFill/>
          </a:ln>
        </p:spPr>
      </p:sp>
      <p:sp>
        <p:nvSpPr>
          <p:cNvPr id="195" name="Google Shape;195;g39ab12478d3_0_191"/>
          <p:cNvSpPr/>
          <p:nvPr/>
        </p:nvSpPr>
        <p:spPr>
          <a:xfrm>
            <a:off x="3139667" y="1468892"/>
            <a:ext cx="2732297" cy="2732297"/>
          </a:xfrm>
          <a:custGeom>
            <a:rect b="b" l="l" r="r" t="t"/>
            <a:pathLst>
              <a:path extrusionOk="0" h="2732297" w="2732297">
                <a:moveTo>
                  <a:pt x="0" y="0"/>
                </a:moveTo>
                <a:lnTo>
                  <a:pt x="2732297" y="0"/>
                </a:lnTo>
                <a:lnTo>
                  <a:pt x="2732297" y="2732297"/>
                </a:lnTo>
                <a:lnTo>
                  <a:pt x="0" y="2732297"/>
                </a:lnTo>
                <a:lnTo>
                  <a:pt x="0" y="0"/>
                </a:lnTo>
                <a:close/>
              </a:path>
            </a:pathLst>
          </a:custGeom>
          <a:blipFill rotWithShape="1">
            <a:blip r:embed="rId5">
              <a:alphaModFix/>
            </a:blip>
            <a:stretch>
              <a:fillRect b="0" l="0" r="0" t="0"/>
            </a:stretch>
          </a:blipFill>
          <a:ln>
            <a:noFill/>
          </a:ln>
        </p:spPr>
      </p:sp>
      <p:sp>
        <p:nvSpPr>
          <p:cNvPr id="196" name="Google Shape;196;g39ab12478d3_0_191"/>
          <p:cNvSpPr/>
          <p:nvPr/>
        </p:nvSpPr>
        <p:spPr>
          <a:xfrm>
            <a:off x="12839828"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197" name="Google Shape;197;g39ab12478d3_0_191"/>
          <p:cNvSpPr/>
          <p:nvPr/>
        </p:nvSpPr>
        <p:spPr>
          <a:xfrm>
            <a:off x="13141132" y="6173050"/>
            <a:ext cx="3217795" cy="2353012"/>
          </a:xfrm>
          <a:custGeom>
            <a:rect b="b" l="l" r="r" t="t"/>
            <a:pathLst>
              <a:path extrusionOk="0" h="2353012" w="3217795">
                <a:moveTo>
                  <a:pt x="0" y="0"/>
                </a:moveTo>
                <a:lnTo>
                  <a:pt x="3217795" y="0"/>
                </a:lnTo>
                <a:lnTo>
                  <a:pt x="3217795" y="2353012"/>
                </a:lnTo>
                <a:lnTo>
                  <a:pt x="0" y="2353012"/>
                </a:lnTo>
                <a:lnTo>
                  <a:pt x="0" y="0"/>
                </a:lnTo>
                <a:close/>
              </a:path>
            </a:pathLst>
          </a:custGeom>
          <a:blipFill rotWithShape="1">
            <a:blip r:embed="rId7">
              <a:alphaModFix/>
            </a:blip>
            <a:stretch>
              <a:fillRect b="0" l="0" r="0" t="0"/>
            </a:stretch>
          </a:blipFill>
          <a:ln>
            <a:noFill/>
          </a:ln>
        </p:spPr>
      </p:sp>
      <p:sp>
        <p:nvSpPr>
          <p:cNvPr id="198" name="Google Shape;198;g39ab12478d3_0_191"/>
          <p:cNvSpPr/>
          <p:nvPr/>
        </p:nvSpPr>
        <p:spPr>
          <a:xfrm>
            <a:off x="14301950"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199" name="Google Shape;199;g39ab12478d3_0_191"/>
          <p:cNvSpPr/>
          <p:nvPr/>
        </p:nvSpPr>
        <p:spPr>
          <a:xfrm>
            <a:off x="15771277" y="1135166"/>
            <a:ext cx="896159" cy="2757413"/>
          </a:xfrm>
          <a:custGeom>
            <a:rect b="b" l="l" r="r" t="t"/>
            <a:pathLst>
              <a:path extrusionOk="0" h="2757413" w="896159">
                <a:moveTo>
                  <a:pt x="0" y="0"/>
                </a:moveTo>
                <a:lnTo>
                  <a:pt x="896159" y="0"/>
                </a:lnTo>
                <a:lnTo>
                  <a:pt x="896159" y="2757413"/>
                </a:lnTo>
                <a:lnTo>
                  <a:pt x="0" y="2757413"/>
                </a:lnTo>
                <a:lnTo>
                  <a:pt x="0" y="0"/>
                </a:lnTo>
                <a:close/>
              </a:path>
            </a:pathLst>
          </a:custGeom>
          <a:blipFill rotWithShape="1">
            <a:blip r:embed="rId6">
              <a:alphaModFix/>
            </a:blip>
            <a:stretch>
              <a:fillRect b="0" l="0" r="0" t="0"/>
            </a:stretch>
          </a:blipFill>
          <a:ln>
            <a:noFill/>
          </a:ln>
        </p:spPr>
      </p:sp>
      <p:sp>
        <p:nvSpPr>
          <p:cNvPr id="200" name="Google Shape;200;g39ab12478d3_0_191"/>
          <p:cNvSpPr/>
          <p:nvPr/>
        </p:nvSpPr>
        <p:spPr>
          <a:xfrm rot="-8990798">
            <a:off x="6181933" y="2992919"/>
            <a:ext cx="2729569" cy="771104"/>
          </a:xfrm>
          <a:custGeom>
            <a:rect b="b" l="l" r="r" t="t"/>
            <a:pathLst>
              <a:path extrusionOk="0" h="770822" w="2728572">
                <a:moveTo>
                  <a:pt x="0" y="0"/>
                </a:moveTo>
                <a:lnTo>
                  <a:pt x="2728572" y="0"/>
                </a:lnTo>
                <a:lnTo>
                  <a:pt x="2728572" y="770821"/>
                </a:lnTo>
                <a:lnTo>
                  <a:pt x="0" y="770821"/>
                </a:lnTo>
                <a:lnTo>
                  <a:pt x="0" y="0"/>
                </a:lnTo>
                <a:close/>
              </a:path>
            </a:pathLst>
          </a:custGeom>
          <a:blipFill rotWithShape="1">
            <a:blip r:embed="rId8">
              <a:alphaModFix/>
            </a:blip>
            <a:stretch>
              <a:fillRect b="0" l="0" r="0" t="0"/>
            </a:stretch>
          </a:blipFill>
          <a:ln>
            <a:noFill/>
          </a:ln>
        </p:spPr>
      </p:sp>
      <p:sp>
        <p:nvSpPr>
          <p:cNvPr id="201" name="Google Shape;201;g39ab12478d3_0_191"/>
          <p:cNvSpPr txBox="1"/>
          <p:nvPr/>
        </p:nvSpPr>
        <p:spPr>
          <a:xfrm>
            <a:off x="5871964" y="4719125"/>
            <a:ext cx="7800000" cy="1231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SCRUM</a:t>
            </a:r>
            <a:endParaRPr b="0" i="0" sz="1400" u="none" cap="none" strike="noStrike">
              <a:solidFill>
                <a:srgbClr val="000000"/>
              </a:solidFill>
              <a:latin typeface="Arial"/>
              <a:ea typeface="Arial"/>
              <a:cs typeface="Arial"/>
              <a:sym typeface="Arial"/>
            </a:endParaRPr>
          </a:p>
        </p:txBody>
      </p:sp>
      <p:sp>
        <p:nvSpPr>
          <p:cNvPr id="202" name="Google Shape;202;g39ab12478d3_0_191"/>
          <p:cNvSpPr/>
          <p:nvPr/>
        </p:nvSpPr>
        <p:spPr>
          <a:xfrm rot="1809202">
            <a:off x="9827760" y="7227166"/>
            <a:ext cx="2729569" cy="771104"/>
          </a:xfrm>
          <a:custGeom>
            <a:rect b="b" l="l" r="r" t="t"/>
            <a:pathLst>
              <a:path extrusionOk="0" h="770822" w="2728572">
                <a:moveTo>
                  <a:pt x="0" y="0"/>
                </a:moveTo>
                <a:lnTo>
                  <a:pt x="2728572" y="0"/>
                </a:lnTo>
                <a:lnTo>
                  <a:pt x="2728572" y="770821"/>
                </a:lnTo>
                <a:lnTo>
                  <a:pt x="0" y="770821"/>
                </a:lnTo>
                <a:lnTo>
                  <a:pt x="0" y="0"/>
                </a:lnTo>
                <a:close/>
              </a:path>
            </a:pathLst>
          </a:custGeom>
          <a:blipFill rotWithShape="1">
            <a:blip r:embed="rId8">
              <a:alphaModFix/>
            </a:blip>
            <a:stretch>
              <a:fillRect b="0" l="0" r="0" t="0"/>
            </a:stretch>
          </a:blipFill>
          <a:ln>
            <a:noFill/>
          </a:ln>
        </p:spPr>
      </p:sp>
      <p:sp>
        <p:nvSpPr>
          <p:cNvPr id="203" name="Google Shape;203;g39ab12478d3_0_191"/>
          <p:cNvSpPr/>
          <p:nvPr/>
        </p:nvSpPr>
        <p:spPr>
          <a:xfrm rot="439219">
            <a:off x="6568934" y="6505858"/>
            <a:ext cx="1959043" cy="2022239"/>
          </a:xfrm>
          <a:custGeom>
            <a:rect b="b" l="l" r="r" t="t"/>
            <a:pathLst>
              <a:path extrusionOk="0" h="2020913" w="1957759">
                <a:moveTo>
                  <a:pt x="0" y="0"/>
                </a:moveTo>
                <a:lnTo>
                  <a:pt x="1957759" y="0"/>
                </a:lnTo>
                <a:lnTo>
                  <a:pt x="1957759" y="2020913"/>
                </a:lnTo>
                <a:lnTo>
                  <a:pt x="0" y="2020913"/>
                </a:lnTo>
                <a:lnTo>
                  <a:pt x="0" y="0"/>
                </a:lnTo>
                <a:close/>
              </a:path>
            </a:pathLst>
          </a:custGeom>
          <a:blipFill rotWithShape="1">
            <a:blip r:embed="rId9">
              <a:alphaModFix/>
            </a:blip>
            <a:stretch>
              <a:fillRect b="0" l="0" r="0" t="0"/>
            </a:stretch>
          </a:blipFill>
          <a:ln>
            <a:noFill/>
          </a:ln>
        </p:spPr>
      </p:sp>
      <p:sp>
        <p:nvSpPr>
          <p:cNvPr id="204" name="Google Shape;204;g39ab12478d3_0_191"/>
          <p:cNvSpPr txBox="1"/>
          <p:nvPr/>
        </p:nvSpPr>
        <p:spPr>
          <a:xfrm>
            <a:off x="3256995" y="8958022"/>
            <a:ext cx="2732100" cy="41550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Clr>
                <a:srgbClr val="000000"/>
              </a:buClr>
              <a:buSzPts val="2700"/>
              <a:buFont typeface="Arial"/>
              <a:buNone/>
            </a:pPr>
            <a:r>
              <a:rPr b="1" i="0" lang="en-US" sz="2700" u="none" cap="none" strike="noStrike">
                <a:solidFill>
                  <a:srgbClr val="000000"/>
                </a:solidFill>
                <a:latin typeface="Poppins"/>
                <a:ea typeface="Poppins"/>
                <a:cs typeface="Poppins"/>
                <a:sym typeface="Poppins"/>
              </a:rPr>
              <a:t>Roles</a:t>
            </a:r>
            <a:endParaRPr b="0" i="0" sz="1400" u="none" cap="none" strike="noStrike">
              <a:solidFill>
                <a:srgbClr val="000000"/>
              </a:solidFill>
              <a:latin typeface="Arial"/>
              <a:ea typeface="Arial"/>
              <a:cs typeface="Arial"/>
              <a:sym typeface="Arial"/>
            </a:endParaRPr>
          </a:p>
        </p:txBody>
      </p:sp>
      <p:sp>
        <p:nvSpPr>
          <p:cNvPr id="205" name="Google Shape;205;g39ab12478d3_0_191"/>
          <p:cNvSpPr txBox="1"/>
          <p:nvPr/>
        </p:nvSpPr>
        <p:spPr>
          <a:xfrm>
            <a:off x="3300403" y="4525039"/>
            <a:ext cx="2732100" cy="41550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Clr>
                <a:srgbClr val="000000"/>
              </a:buClr>
              <a:buSzPts val="2700"/>
              <a:buFont typeface="Arial"/>
              <a:buNone/>
            </a:pPr>
            <a:r>
              <a:rPr b="1" i="0" lang="en-US" sz="2700" u="none" cap="none" strike="noStrike">
                <a:solidFill>
                  <a:srgbClr val="000000"/>
                </a:solidFill>
                <a:latin typeface="Poppins"/>
                <a:ea typeface="Poppins"/>
                <a:cs typeface="Poppins"/>
                <a:sym typeface="Poppins"/>
              </a:rPr>
              <a:t>Artefactos</a:t>
            </a:r>
            <a:endParaRPr b="0" i="0" sz="1400" u="none" cap="none" strike="noStrike">
              <a:solidFill>
                <a:srgbClr val="000000"/>
              </a:solidFill>
              <a:latin typeface="Arial"/>
              <a:ea typeface="Arial"/>
              <a:cs typeface="Arial"/>
              <a:sym typeface="Arial"/>
            </a:endParaRPr>
          </a:p>
        </p:txBody>
      </p:sp>
      <p:sp>
        <p:nvSpPr>
          <p:cNvPr id="206" name="Google Shape;206;g39ab12478d3_0_191"/>
          <p:cNvSpPr txBox="1"/>
          <p:nvPr/>
        </p:nvSpPr>
        <p:spPr>
          <a:xfrm>
            <a:off x="13535230" y="4321204"/>
            <a:ext cx="2386800" cy="41550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Clr>
                <a:srgbClr val="000000"/>
              </a:buClr>
              <a:buSzPts val="2700"/>
              <a:buFont typeface="Arial"/>
              <a:buNone/>
            </a:pPr>
            <a:r>
              <a:rPr b="1" i="0" lang="en-US" sz="2700" u="none" cap="none" strike="noStrike">
                <a:solidFill>
                  <a:srgbClr val="000000"/>
                </a:solidFill>
                <a:latin typeface="Poppins"/>
                <a:ea typeface="Poppins"/>
                <a:cs typeface="Poppins"/>
                <a:sym typeface="Poppins"/>
              </a:rPr>
              <a:t>Pilares</a:t>
            </a:r>
            <a:endParaRPr b="0" i="0" sz="1400" u="none" cap="none" strike="noStrike">
              <a:solidFill>
                <a:srgbClr val="000000"/>
              </a:solidFill>
              <a:latin typeface="Arial"/>
              <a:ea typeface="Arial"/>
              <a:cs typeface="Arial"/>
              <a:sym typeface="Arial"/>
            </a:endParaRPr>
          </a:p>
        </p:txBody>
      </p:sp>
      <p:sp>
        <p:nvSpPr>
          <p:cNvPr id="207" name="Google Shape;207;g39ab12478d3_0_191"/>
          <p:cNvSpPr txBox="1"/>
          <p:nvPr/>
        </p:nvSpPr>
        <p:spPr>
          <a:xfrm>
            <a:off x="13280702" y="8958022"/>
            <a:ext cx="2938800" cy="415500"/>
          </a:xfrm>
          <a:prstGeom prst="rect">
            <a:avLst/>
          </a:prstGeom>
          <a:noFill/>
          <a:ln>
            <a:noFill/>
          </a:ln>
        </p:spPr>
        <p:txBody>
          <a:bodyPr anchorCtr="0" anchor="t" bIns="0" lIns="0" spcFirstLastPara="1" rIns="0" wrap="square" tIns="0">
            <a:spAutoFit/>
          </a:bodyPr>
          <a:lstStyle/>
          <a:p>
            <a:pPr indent="0" lvl="0" marL="0" marR="0" rtl="0" algn="ctr">
              <a:lnSpc>
                <a:spcPct val="139962"/>
              </a:lnSpc>
              <a:spcBef>
                <a:spcPts val="0"/>
              </a:spcBef>
              <a:spcAft>
                <a:spcPts val="0"/>
              </a:spcAft>
              <a:buClr>
                <a:srgbClr val="000000"/>
              </a:buClr>
              <a:buSzPts val="2700"/>
              <a:buFont typeface="Arial"/>
              <a:buNone/>
            </a:pPr>
            <a:r>
              <a:rPr b="1" i="0" lang="en-US" sz="2700" u="none" cap="none" strike="noStrike">
                <a:solidFill>
                  <a:srgbClr val="000000"/>
                </a:solidFill>
                <a:latin typeface="Poppins"/>
                <a:ea typeface="Poppins"/>
                <a:cs typeface="Poppins"/>
                <a:sym typeface="Poppins"/>
              </a:rPr>
              <a:t>Eventos</a:t>
            </a:r>
            <a:endParaRPr b="0" i="0" sz="1400" u="none" cap="none" strike="noStrike">
              <a:solidFill>
                <a:srgbClr val="000000"/>
              </a:solidFill>
              <a:latin typeface="Arial"/>
              <a:ea typeface="Arial"/>
              <a:cs typeface="Arial"/>
              <a:sym typeface="Arial"/>
            </a:endParaRPr>
          </a:p>
        </p:txBody>
      </p:sp>
      <p:sp>
        <p:nvSpPr>
          <p:cNvPr id="208" name="Google Shape;208;g39ab12478d3_0_191"/>
          <p:cNvSpPr/>
          <p:nvPr/>
        </p:nvSpPr>
        <p:spPr>
          <a:xfrm rot="10317056">
            <a:off x="10217347" y="2452191"/>
            <a:ext cx="1957465" cy="2020610"/>
          </a:xfrm>
          <a:custGeom>
            <a:rect b="b" l="l" r="r" t="t"/>
            <a:pathLst>
              <a:path extrusionOk="0" h="2020913" w="1957759">
                <a:moveTo>
                  <a:pt x="0" y="0"/>
                </a:moveTo>
                <a:lnTo>
                  <a:pt x="1957759" y="0"/>
                </a:lnTo>
                <a:lnTo>
                  <a:pt x="1957759" y="2020913"/>
                </a:lnTo>
                <a:lnTo>
                  <a:pt x="0" y="2020913"/>
                </a:lnTo>
                <a:lnTo>
                  <a:pt x="0" y="0"/>
                </a:lnTo>
                <a:close/>
              </a:path>
            </a:pathLst>
          </a:custGeom>
          <a:blipFill rotWithShape="1">
            <a:blip r:embed="rId9">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grpSp>
        <p:nvGrpSpPr>
          <p:cNvPr id="213" name="Google Shape;213;g39ab12478d3_0_229"/>
          <p:cNvGrpSpPr/>
          <p:nvPr/>
        </p:nvGrpSpPr>
        <p:grpSpPr>
          <a:xfrm>
            <a:off x="-1028061" y="-2700651"/>
            <a:ext cx="12177451" cy="12177451"/>
            <a:chOff x="0" y="0"/>
            <a:chExt cx="812800" cy="812800"/>
          </a:xfrm>
        </p:grpSpPr>
        <p:sp>
          <p:nvSpPr>
            <p:cNvPr id="214" name="Google Shape;214;g39ab12478d3_0_2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g39ab12478d3_0_22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6" name="Google Shape;216;g39ab12478d3_0_229"/>
          <p:cNvSpPr/>
          <p:nvPr/>
        </p:nvSpPr>
        <p:spPr>
          <a:xfrm rot="5279728">
            <a:off x="9275631" y="93050"/>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217" name="Google Shape;217;g39ab12478d3_0_229"/>
          <p:cNvGrpSpPr/>
          <p:nvPr/>
        </p:nvGrpSpPr>
        <p:grpSpPr>
          <a:xfrm>
            <a:off x="12995074" y="5514656"/>
            <a:ext cx="12177451" cy="12177451"/>
            <a:chOff x="0" y="0"/>
            <a:chExt cx="812800" cy="812800"/>
          </a:xfrm>
        </p:grpSpPr>
        <p:sp>
          <p:nvSpPr>
            <p:cNvPr id="218" name="Google Shape;218;g39ab12478d3_0_2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g39ab12478d3_0_22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0" name="Google Shape;220;g39ab12478d3_0_229"/>
          <p:cNvSpPr txBox="1"/>
          <p:nvPr/>
        </p:nvSpPr>
        <p:spPr>
          <a:xfrm>
            <a:off x="933899" y="1856500"/>
            <a:ext cx="13456200" cy="63849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Clr>
                <a:srgbClr val="000000"/>
              </a:buClr>
              <a:buSzPts val="3500"/>
              <a:buFont typeface="Arial"/>
              <a:buNone/>
            </a:pPr>
            <a:r>
              <a:rPr b="0" i="0" lang="en-US" sz="3400" u="none" cap="none" strike="noStrike">
                <a:solidFill>
                  <a:srgbClr val="000000"/>
                </a:solidFill>
                <a:latin typeface="Poppins Light"/>
                <a:ea typeface="Poppins Light"/>
                <a:cs typeface="Poppins Light"/>
                <a:sym typeface="Poppins Light"/>
              </a:rPr>
              <a:t>Permite abordar proyectos complejos desarrollados en entornos dinámicos y cambiantes de un modo flexible. Está basada en entregas parciales del producto final en base al valor que ofrecen a los clientes. </a:t>
            </a:r>
            <a:endParaRPr b="0" i="0" sz="1300" u="none" cap="none" strike="noStrike">
              <a:solidFill>
                <a:srgbClr val="000000"/>
              </a:solidFill>
              <a:latin typeface="Arial"/>
              <a:ea typeface="Arial"/>
              <a:cs typeface="Arial"/>
              <a:sym typeface="Arial"/>
            </a:endParaRPr>
          </a:p>
          <a:p>
            <a:pPr indent="0" lvl="0" marL="0" marR="0" rtl="0" algn="just">
              <a:lnSpc>
                <a:spcPct val="160000"/>
              </a:lnSpc>
              <a:spcBef>
                <a:spcPts val="0"/>
              </a:spcBef>
              <a:spcAft>
                <a:spcPts val="0"/>
              </a:spcAft>
              <a:buClr>
                <a:srgbClr val="000000"/>
              </a:buClr>
              <a:buSzPts val="3500"/>
              <a:buFont typeface="Arial"/>
              <a:buNone/>
            </a:pPr>
            <a:r>
              <a:t/>
            </a:r>
            <a:endParaRPr b="0" i="0" sz="3400" u="none" cap="none" strike="noStrike">
              <a:solidFill>
                <a:srgbClr val="000000"/>
              </a:solidFill>
              <a:latin typeface="Poppins Light"/>
              <a:ea typeface="Poppins Light"/>
              <a:cs typeface="Poppins Light"/>
              <a:sym typeface="Poppins Light"/>
            </a:endParaRPr>
          </a:p>
          <a:p>
            <a:pPr indent="0" lvl="0" marL="0" marR="0" rtl="0" algn="just">
              <a:lnSpc>
                <a:spcPct val="160000"/>
              </a:lnSpc>
              <a:spcBef>
                <a:spcPts val="0"/>
              </a:spcBef>
              <a:spcAft>
                <a:spcPts val="0"/>
              </a:spcAft>
              <a:buClr>
                <a:srgbClr val="000000"/>
              </a:buClr>
              <a:buSzPts val="3500"/>
              <a:buFont typeface="Arial"/>
              <a:buNone/>
            </a:pPr>
            <a:r>
              <a:rPr b="0" i="0" lang="en-US" sz="3400" u="none" cap="none" strike="noStrike">
                <a:solidFill>
                  <a:srgbClr val="000000"/>
                </a:solidFill>
                <a:latin typeface="Poppins Light"/>
                <a:ea typeface="Poppins Light"/>
                <a:cs typeface="Poppins Light"/>
                <a:sym typeface="Poppins Light"/>
              </a:rPr>
              <a:t>Scrum ayuda a los equipos a aprender y organizarse en base a las experiencias, a la vez que aborda problemas e invita a reflexionar sobre los éxitos y fracasos. </a:t>
            </a:r>
            <a:endParaRPr b="0" i="0" sz="1300" u="none" cap="none" strike="noStrike">
              <a:solidFill>
                <a:srgbClr val="000000"/>
              </a:solidFill>
              <a:latin typeface="Arial"/>
              <a:ea typeface="Arial"/>
              <a:cs typeface="Arial"/>
              <a:sym typeface="Arial"/>
            </a:endParaRPr>
          </a:p>
        </p:txBody>
      </p:sp>
      <p:grpSp>
        <p:nvGrpSpPr>
          <p:cNvPr id="221" name="Google Shape;221;g39ab12478d3_0_229"/>
          <p:cNvGrpSpPr/>
          <p:nvPr/>
        </p:nvGrpSpPr>
        <p:grpSpPr>
          <a:xfrm>
            <a:off x="14733054" y="-2477251"/>
            <a:ext cx="3505932" cy="3505932"/>
            <a:chOff x="0" y="0"/>
            <a:chExt cx="812800" cy="812800"/>
          </a:xfrm>
        </p:grpSpPr>
        <p:sp>
          <p:nvSpPr>
            <p:cNvPr id="222" name="Google Shape;222;g39ab12478d3_0_2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39ab12478d3_0_22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4" name="Google Shape;224;g39ab12478d3_0_229"/>
          <p:cNvGrpSpPr/>
          <p:nvPr/>
        </p:nvGrpSpPr>
        <p:grpSpPr>
          <a:xfrm>
            <a:off x="3676952" y="-379636"/>
            <a:ext cx="1551473" cy="1551473"/>
            <a:chOff x="0" y="0"/>
            <a:chExt cx="812800" cy="812800"/>
          </a:xfrm>
        </p:grpSpPr>
        <p:sp>
          <p:nvSpPr>
            <p:cNvPr id="225" name="Google Shape;225;g39ab12478d3_0_2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39ab12478d3_0_22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g39ab12478d3_0_229"/>
          <p:cNvGrpSpPr/>
          <p:nvPr/>
        </p:nvGrpSpPr>
        <p:grpSpPr>
          <a:xfrm>
            <a:off x="-3909957" y="8534677"/>
            <a:ext cx="6437620" cy="6437620"/>
            <a:chOff x="0" y="0"/>
            <a:chExt cx="812800" cy="812800"/>
          </a:xfrm>
        </p:grpSpPr>
        <p:sp>
          <p:nvSpPr>
            <p:cNvPr id="228" name="Google Shape;228;g39ab12478d3_0_2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39ab12478d3_0_22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233" name="Shape 233"/>
        <p:cNvGrpSpPr/>
        <p:nvPr/>
      </p:nvGrpSpPr>
      <p:grpSpPr>
        <a:xfrm>
          <a:off x="0" y="0"/>
          <a:ext cx="0" cy="0"/>
          <a:chOff x="0" y="0"/>
          <a:chExt cx="0" cy="0"/>
        </a:xfrm>
      </p:grpSpPr>
      <p:grpSp>
        <p:nvGrpSpPr>
          <p:cNvPr id="234" name="Google Shape;234;g39ab12478d3_0_249"/>
          <p:cNvGrpSpPr/>
          <p:nvPr/>
        </p:nvGrpSpPr>
        <p:grpSpPr>
          <a:xfrm>
            <a:off x="11301677" y="841157"/>
            <a:ext cx="9807407" cy="9807407"/>
            <a:chOff x="0" y="0"/>
            <a:chExt cx="812800" cy="812800"/>
          </a:xfrm>
        </p:grpSpPr>
        <p:sp>
          <p:nvSpPr>
            <p:cNvPr id="235" name="Google Shape;235;g39ab12478d3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39ab12478d3_0_24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7" name="Google Shape;237;g39ab12478d3_0_249"/>
          <p:cNvSpPr txBox="1"/>
          <p:nvPr/>
        </p:nvSpPr>
        <p:spPr>
          <a:xfrm>
            <a:off x="1028700" y="1047750"/>
            <a:ext cx="9321000" cy="12930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8400"/>
              <a:buFont typeface="Arial"/>
              <a:buNone/>
            </a:pPr>
            <a:r>
              <a:rPr b="1" i="0" lang="en-US" sz="8400" u="none" cap="none" strike="noStrike">
                <a:solidFill>
                  <a:srgbClr val="F9F9F9"/>
                </a:solidFill>
                <a:latin typeface="Montserrat"/>
                <a:ea typeface="Montserrat"/>
                <a:cs typeface="Montserrat"/>
                <a:sym typeface="Montserrat"/>
              </a:rPr>
              <a:t>Pilares</a:t>
            </a:r>
            <a:endParaRPr b="0" i="0" sz="1800" u="none" cap="none" strike="noStrike">
              <a:solidFill>
                <a:srgbClr val="000000"/>
              </a:solidFill>
              <a:latin typeface="Arial"/>
              <a:ea typeface="Arial"/>
              <a:cs typeface="Arial"/>
              <a:sym typeface="Arial"/>
            </a:endParaRPr>
          </a:p>
        </p:txBody>
      </p:sp>
      <p:grpSp>
        <p:nvGrpSpPr>
          <p:cNvPr id="238" name="Google Shape;238;g39ab12478d3_0_249"/>
          <p:cNvGrpSpPr/>
          <p:nvPr/>
        </p:nvGrpSpPr>
        <p:grpSpPr>
          <a:xfrm>
            <a:off x="15664096" y="-1498702"/>
            <a:ext cx="3978412" cy="3978412"/>
            <a:chOff x="0" y="0"/>
            <a:chExt cx="812800" cy="812800"/>
          </a:xfrm>
        </p:grpSpPr>
        <p:sp>
          <p:nvSpPr>
            <p:cNvPr id="239" name="Google Shape;239;g39ab12478d3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9ab12478d3_0_24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1" name="Google Shape;241;g39ab12478d3_0_249"/>
          <p:cNvGrpSpPr/>
          <p:nvPr/>
        </p:nvGrpSpPr>
        <p:grpSpPr>
          <a:xfrm>
            <a:off x="13983437" y="841157"/>
            <a:ext cx="1147836" cy="1147836"/>
            <a:chOff x="0" y="0"/>
            <a:chExt cx="812800" cy="812800"/>
          </a:xfrm>
        </p:grpSpPr>
        <p:sp>
          <p:nvSpPr>
            <p:cNvPr id="242" name="Google Shape;242;g39ab12478d3_0_24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g39ab12478d3_0_24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4" name="Google Shape;244;g39ab12478d3_0_249"/>
          <p:cNvSpPr txBox="1"/>
          <p:nvPr/>
        </p:nvSpPr>
        <p:spPr>
          <a:xfrm>
            <a:off x="1586959" y="4377690"/>
            <a:ext cx="3371700" cy="538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500"/>
              <a:buFont typeface="Arial"/>
              <a:buNone/>
            </a:pPr>
            <a:r>
              <a:rPr b="1" i="0" lang="en-US" sz="3500" u="none" cap="none" strike="noStrike">
                <a:solidFill>
                  <a:srgbClr val="F9F9F9"/>
                </a:solidFill>
                <a:latin typeface="Poppins"/>
                <a:ea typeface="Poppins"/>
                <a:cs typeface="Poppins"/>
                <a:sym typeface="Poppins"/>
              </a:rPr>
              <a:t>Transparencia</a:t>
            </a:r>
            <a:endParaRPr b="0" i="0" sz="1400" u="none" cap="none" strike="noStrike">
              <a:solidFill>
                <a:srgbClr val="000000"/>
              </a:solidFill>
              <a:latin typeface="Arial"/>
              <a:ea typeface="Arial"/>
              <a:cs typeface="Arial"/>
              <a:sym typeface="Arial"/>
            </a:endParaRPr>
          </a:p>
        </p:txBody>
      </p:sp>
      <p:sp>
        <p:nvSpPr>
          <p:cNvPr id="245" name="Google Shape;245;g39ab12478d3_0_249"/>
          <p:cNvSpPr txBox="1"/>
          <p:nvPr/>
        </p:nvSpPr>
        <p:spPr>
          <a:xfrm>
            <a:off x="7890907" y="4377690"/>
            <a:ext cx="2506200" cy="538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500"/>
              <a:buFont typeface="Arial"/>
              <a:buNone/>
            </a:pPr>
            <a:r>
              <a:rPr b="1" i="0" lang="en-US" sz="3500" u="none" cap="none" strike="noStrike">
                <a:solidFill>
                  <a:srgbClr val="F9F9F9"/>
                </a:solidFill>
                <a:latin typeface="Poppins"/>
                <a:ea typeface="Poppins"/>
                <a:cs typeface="Poppins"/>
                <a:sym typeface="Poppins"/>
              </a:rPr>
              <a:t>Inspección</a:t>
            </a:r>
            <a:endParaRPr b="0" i="0" sz="1400" u="none" cap="none" strike="noStrike">
              <a:solidFill>
                <a:srgbClr val="000000"/>
              </a:solidFill>
              <a:latin typeface="Arial"/>
              <a:ea typeface="Arial"/>
              <a:cs typeface="Arial"/>
              <a:sym typeface="Arial"/>
            </a:endParaRPr>
          </a:p>
        </p:txBody>
      </p:sp>
      <p:sp>
        <p:nvSpPr>
          <p:cNvPr id="246" name="Google Shape;246;g39ab12478d3_0_249"/>
          <p:cNvSpPr txBox="1"/>
          <p:nvPr/>
        </p:nvSpPr>
        <p:spPr>
          <a:xfrm>
            <a:off x="13330793" y="4377690"/>
            <a:ext cx="2698200" cy="538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500"/>
              <a:buFont typeface="Arial"/>
              <a:buNone/>
            </a:pPr>
            <a:r>
              <a:rPr b="1" i="0" lang="en-US" sz="3500" u="none" cap="none" strike="noStrike">
                <a:solidFill>
                  <a:srgbClr val="F9F9F9"/>
                </a:solidFill>
                <a:latin typeface="Poppins"/>
                <a:ea typeface="Poppins"/>
                <a:cs typeface="Poppins"/>
                <a:sym typeface="Poppins"/>
              </a:rPr>
              <a:t>Adaptación</a:t>
            </a:r>
            <a:endParaRPr b="0" i="0" sz="1400" u="none" cap="none" strike="noStrike">
              <a:solidFill>
                <a:srgbClr val="000000"/>
              </a:solidFill>
              <a:latin typeface="Arial"/>
              <a:ea typeface="Arial"/>
              <a:cs typeface="Arial"/>
              <a:sym typeface="Arial"/>
            </a:endParaRPr>
          </a:p>
        </p:txBody>
      </p:sp>
      <p:sp>
        <p:nvSpPr>
          <p:cNvPr id="247" name="Google Shape;247;g39ab12478d3_0_249"/>
          <p:cNvSpPr txBox="1"/>
          <p:nvPr/>
        </p:nvSpPr>
        <p:spPr>
          <a:xfrm>
            <a:off x="1072963" y="5656400"/>
            <a:ext cx="4616100" cy="1169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9F9F9"/>
                </a:solidFill>
                <a:latin typeface="Poppins"/>
                <a:ea typeface="Poppins"/>
                <a:cs typeface="Poppins"/>
                <a:sym typeface="Poppins"/>
              </a:rPr>
              <a:t>Todos los impiicados tienen conocimiento de qué ocurrre en el proyecto y cómo ocurre.</a:t>
            </a:r>
            <a:endParaRPr b="0" i="0" sz="1400" u="none" cap="none" strike="noStrike">
              <a:solidFill>
                <a:srgbClr val="000000"/>
              </a:solidFill>
              <a:latin typeface="Arial"/>
              <a:ea typeface="Arial"/>
              <a:cs typeface="Arial"/>
              <a:sym typeface="Arial"/>
            </a:endParaRPr>
          </a:p>
        </p:txBody>
      </p:sp>
      <p:sp>
        <p:nvSpPr>
          <p:cNvPr id="248" name="Google Shape;248;g39ab12478d3_0_249"/>
          <p:cNvSpPr txBox="1"/>
          <p:nvPr/>
        </p:nvSpPr>
        <p:spPr>
          <a:xfrm>
            <a:off x="6800347" y="5656400"/>
            <a:ext cx="4687200" cy="1169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9F9F9"/>
                </a:solidFill>
                <a:latin typeface="Poppins"/>
                <a:ea typeface="Poppins"/>
                <a:cs typeface="Poppins"/>
                <a:sym typeface="Poppins"/>
              </a:rPr>
              <a:t>Se revisa continuamente el trabajo y el progreso para detectar si algo no va bien.</a:t>
            </a:r>
            <a:endParaRPr b="0" i="0" sz="1400" u="none" cap="none" strike="noStrike">
              <a:solidFill>
                <a:srgbClr val="000000"/>
              </a:solidFill>
              <a:latin typeface="Arial"/>
              <a:ea typeface="Arial"/>
              <a:cs typeface="Arial"/>
              <a:sym typeface="Arial"/>
            </a:endParaRPr>
          </a:p>
        </p:txBody>
      </p:sp>
      <p:sp>
        <p:nvSpPr>
          <p:cNvPr id="249" name="Google Shape;249;g39ab12478d3_0_249"/>
          <p:cNvSpPr txBox="1"/>
          <p:nvPr/>
        </p:nvSpPr>
        <p:spPr>
          <a:xfrm>
            <a:off x="12373441" y="5656400"/>
            <a:ext cx="4885800" cy="16008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000"/>
              <a:buFont typeface="Arial"/>
              <a:buNone/>
            </a:pPr>
            <a:r>
              <a:rPr b="0" i="0" lang="en-US" sz="2000" u="none" cap="none" strike="noStrike">
                <a:solidFill>
                  <a:srgbClr val="F9F9F9"/>
                </a:solidFill>
                <a:latin typeface="Poppins"/>
                <a:ea typeface="Poppins"/>
                <a:cs typeface="Poppins"/>
                <a:sym typeface="Poppins"/>
              </a:rPr>
              <a:t>Si se encuentra un problema o algo cambia, el equipo ajusta el plan o la forma de trabajar para mejorar y seguir avanzando.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253" name="Shape 253"/>
        <p:cNvGrpSpPr/>
        <p:nvPr/>
      </p:nvGrpSpPr>
      <p:grpSpPr>
        <a:xfrm>
          <a:off x="0" y="0"/>
          <a:ext cx="0" cy="0"/>
          <a:chOff x="0" y="0"/>
          <a:chExt cx="0" cy="0"/>
        </a:xfrm>
      </p:grpSpPr>
      <p:grpSp>
        <p:nvGrpSpPr>
          <p:cNvPr id="254" name="Google Shape;254;g39ab12478d3_0_268"/>
          <p:cNvGrpSpPr/>
          <p:nvPr/>
        </p:nvGrpSpPr>
        <p:grpSpPr>
          <a:xfrm>
            <a:off x="11301677" y="841157"/>
            <a:ext cx="9807407" cy="9807407"/>
            <a:chOff x="0" y="0"/>
            <a:chExt cx="812800" cy="812800"/>
          </a:xfrm>
        </p:grpSpPr>
        <p:sp>
          <p:nvSpPr>
            <p:cNvPr id="255" name="Google Shape;255;g39ab12478d3_0_26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g39ab12478d3_0_26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7" name="Google Shape;257;g39ab12478d3_0_268"/>
          <p:cNvSpPr txBox="1"/>
          <p:nvPr/>
        </p:nvSpPr>
        <p:spPr>
          <a:xfrm>
            <a:off x="4673162" y="4258964"/>
            <a:ext cx="9321000" cy="15390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Clr>
                <a:srgbClr val="000000"/>
              </a:buClr>
              <a:buSzPts val="9999"/>
              <a:buFont typeface="Arial"/>
              <a:buNone/>
            </a:pPr>
            <a:r>
              <a:rPr b="1" i="0" lang="en-US" sz="9999" u="none" cap="none" strike="noStrike">
                <a:solidFill>
                  <a:srgbClr val="F9F9F9"/>
                </a:solidFill>
                <a:latin typeface="Montserrat"/>
                <a:ea typeface="Montserrat"/>
                <a:cs typeface="Montserrat"/>
                <a:sym typeface="Montserrat"/>
              </a:rPr>
              <a:t>Roles Scrum</a:t>
            </a:r>
            <a:endParaRPr b="0" i="0" sz="1400" u="none" cap="none" strike="noStrike">
              <a:solidFill>
                <a:srgbClr val="000000"/>
              </a:solidFill>
              <a:latin typeface="Arial"/>
              <a:ea typeface="Arial"/>
              <a:cs typeface="Arial"/>
              <a:sym typeface="Arial"/>
            </a:endParaRPr>
          </a:p>
        </p:txBody>
      </p:sp>
      <p:grpSp>
        <p:nvGrpSpPr>
          <p:cNvPr id="258" name="Google Shape;258;g39ab12478d3_0_268"/>
          <p:cNvGrpSpPr/>
          <p:nvPr/>
        </p:nvGrpSpPr>
        <p:grpSpPr>
          <a:xfrm>
            <a:off x="-1804968" y="3928747"/>
            <a:ext cx="3978412" cy="3978412"/>
            <a:chOff x="0" y="0"/>
            <a:chExt cx="812800" cy="812800"/>
          </a:xfrm>
        </p:grpSpPr>
        <p:sp>
          <p:nvSpPr>
            <p:cNvPr id="259" name="Google Shape;259;g39ab12478d3_0_26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g39ab12478d3_0_26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g39ab12478d3_0_268"/>
          <p:cNvGrpSpPr/>
          <p:nvPr/>
        </p:nvGrpSpPr>
        <p:grpSpPr>
          <a:xfrm>
            <a:off x="-119146" y="8684377"/>
            <a:ext cx="1147836" cy="1147836"/>
            <a:chOff x="0" y="0"/>
            <a:chExt cx="812800" cy="812800"/>
          </a:xfrm>
        </p:grpSpPr>
        <p:sp>
          <p:nvSpPr>
            <p:cNvPr id="262" name="Google Shape;262;g39ab12478d3_0_26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39ab12478d3_0_26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g39ab12478d3_0_281"/>
          <p:cNvGrpSpPr/>
          <p:nvPr/>
        </p:nvGrpSpPr>
        <p:grpSpPr>
          <a:xfrm>
            <a:off x="16395487" y="-293046"/>
            <a:ext cx="6123879" cy="6123879"/>
            <a:chOff x="0" y="0"/>
            <a:chExt cx="812800" cy="812800"/>
          </a:xfrm>
        </p:grpSpPr>
        <p:sp>
          <p:nvSpPr>
            <p:cNvPr id="269" name="Google Shape;269;g39ab12478d3_0_28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39ab12478d3_0_28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g39ab12478d3_0_281"/>
          <p:cNvGrpSpPr/>
          <p:nvPr/>
        </p:nvGrpSpPr>
        <p:grpSpPr>
          <a:xfrm>
            <a:off x="7279939" y="2503540"/>
            <a:ext cx="12177451" cy="12177451"/>
            <a:chOff x="0" y="0"/>
            <a:chExt cx="812800" cy="812800"/>
          </a:xfrm>
        </p:grpSpPr>
        <p:sp>
          <p:nvSpPr>
            <p:cNvPr id="272" name="Google Shape;272;g39ab12478d3_0_28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39ab12478d3_0_28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g39ab12478d3_0_281"/>
          <p:cNvGrpSpPr/>
          <p:nvPr/>
        </p:nvGrpSpPr>
        <p:grpSpPr>
          <a:xfrm>
            <a:off x="15347286" y="-1541874"/>
            <a:ext cx="6123879" cy="6123879"/>
            <a:chOff x="0" y="0"/>
            <a:chExt cx="812800" cy="812800"/>
          </a:xfrm>
        </p:grpSpPr>
        <p:sp>
          <p:nvSpPr>
            <p:cNvPr id="275" name="Google Shape;275;g39ab12478d3_0_28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9ab12478d3_0_28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7" name="Google Shape;277;g39ab12478d3_0_281"/>
          <p:cNvGrpSpPr/>
          <p:nvPr/>
        </p:nvGrpSpPr>
        <p:grpSpPr>
          <a:xfrm>
            <a:off x="-880628" y="9258300"/>
            <a:ext cx="1909348" cy="1909348"/>
            <a:chOff x="0" y="0"/>
            <a:chExt cx="812800" cy="812800"/>
          </a:xfrm>
        </p:grpSpPr>
        <p:sp>
          <p:nvSpPr>
            <p:cNvPr id="278" name="Google Shape;278;g39ab12478d3_0_28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39ab12478d3_0_28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0" name="Google Shape;280;g39ab12478d3_0_281"/>
          <p:cNvGrpSpPr/>
          <p:nvPr/>
        </p:nvGrpSpPr>
        <p:grpSpPr>
          <a:xfrm>
            <a:off x="16168502" y="8712901"/>
            <a:ext cx="1090778" cy="1090778"/>
            <a:chOff x="0" y="0"/>
            <a:chExt cx="812800" cy="812800"/>
          </a:xfrm>
        </p:grpSpPr>
        <p:sp>
          <p:nvSpPr>
            <p:cNvPr id="281" name="Google Shape;281;g39ab12478d3_0_28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g39ab12478d3_0_28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3" name="Google Shape;283;g39ab12478d3_0_281"/>
          <p:cNvSpPr/>
          <p:nvPr/>
        </p:nvSpPr>
        <p:spPr>
          <a:xfrm>
            <a:off x="11374450" y="1858027"/>
            <a:ext cx="7945120" cy="794512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0" l="-25039" r="-2503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39ab12478d3_0_281"/>
          <p:cNvSpPr txBox="1"/>
          <p:nvPr/>
        </p:nvSpPr>
        <p:spPr>
          <a:xfrm>
            <a:off x="5409282" y="1076325"/>
            <a:ext cx="7469400" cy="12315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Scrum Master</a:t>
            </a:r>
            <a:endParaRPr b="0" i="0" sz="1400" u="none" cap="none" strike="noStrike">
              <a:solidFill>
                <a:srgbClr val="000000"/>
              </a:solidFill>
              <a:latin typeface="Arial"/>
              <a:ea typeface="Arial"/>
              <a:cs typeface="Arial"/>
              <a:sym typeface="Arial"/>
            </a:endParaRPr>
          </a:p>
        </p:txBody>
      </p:sp>
      <p:sp>
        <p:nvSpPr>
          <p:cNvPr id="285" name="Google Shape;285;g39ab12478d3_0_281"/>
          <p:cNvSpPr txBox="1"/>
          <p:nvPr/>
        </p:nvSpPr>
        <p:spPr>
          <a:xfrm>
            <a:off x="1169202" y="3741539"/>
            <a:ext cx="8480100" cy="4170900"/>
          </a:xfrm>
          <a:prstGeom prst="rect">
            <a:avLst/>
          </a:prstGeom>
          <a:noFill/>
          <a:ln>
            <a:noFill/>
          </a:ln>
        </p:spPr>
        <p:txBody>
          <a:bodyPr anchorCtr="0" anchor="t" bIns="0" lIns="0" spcFirstLastPara="1" rIns="0" wrap="square" tIns="0">
            <a:spAutoFit/>
          </a:bodyPr>
          <a:lstStyle/>
          <a:p>
            <a:pPr indent="0" lvl="0" marL="0" marR="0" rtl="0" algn="just">
              <a:lnSpc>
                <a:spcPct val="160038"/>
              </a:lnSpc>
              <a:spcBef>
                <a:spcPts val="0"/>
              </a:spcBef>
              <a:spcAft>
                <a:spcPts val="0"/>
              </a:spcAft>
              <a:buClr>
                <a:srgbClr val="000000"/>
              </a:buClr>
              <a:buSzPts val="3661"/>
              <a:buFont typeface="Arial"/>
              <a:buNone/>
            </a:pPr>
            <a:r>
              <a:rPr b="0" i="0" lang="en-US" sz="3661" u="none" cap="none" strike="noStrike">
                <a:solidFill>
                  <a:srgbClr val="000000"/>
                </a:solidFill>
                <a:latin typeface="Poppins Light"/>
                <a:ea typeface="Poppins Light"/>
                <a:cs typeface="Poppins Light"/>
                <a:sym typeface="Poppins Light"/>
              </a:rPr>
              <a:t>Es el líder del equipo, está a cargo de establecer la metodología Scrum y mantener a los miembros del equipo enfocados en los pilares y las prácticas de Scrum.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g39ab12478d3_0_302"/>
          <p:cNvGrpSpPr/>
          <p:nvPr/>
        </p:nvGrpSpPr>
        <p:grpSpPr>
          <a:xfrm>
            <a:off x="16395487" y="-293046"/>
            <a:ext cx="6123879" cy="6123879"/>
            <a:chOff x="0" y="0"/>
            <a:chExt cx="812800" cy="812800"/>
          </a:xfrm>
        </p:grpSpPr>
        <p:sp>
          <p:nvSpPr>
            <p:cNvPr id="291" name="Google Shape;291;g39ab12478d3_0_3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g39ab12478d3_0_30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3" name="Google Shape;293;g39ab12478d3_0_302"/>
          <p:cNvGrpSpPr/>
          <p:nvPr/>
        </p:nvGrpSpPr>
        <p:grpSpPr>
          <a:xfrm>
            <a:off x="6310039" y="2727363"/>
            <a:ext cx="12177451" cy="12177451"/>
            <a:chOff x="0" y="0"/>
            <a:chExt cx="812800" cy="812800"/>
          </a:xfrm>
        </p:grpSpPr>
        <p:sp>
          <p:nvSpPr>
            <p:cNvPr id="294" name="Google Shape;294;g39ab12478d3_0_3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9ab12478d3_0_30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g39ab12478d3_0_302"/>
          <p:cNvGrpSpPr/>
          <p:nvPr/>
        </p:nvGrpSpPr>
        <p:grpSpPr>
          <a:xfrm>
            <a:off x="-880628" y="9258300"/>
            <a:ext cx="1909348" cy="1909348"/>
            <a:chOff x="0" y="0"/>
            <a:chExt cx="812800" cy="812800"/>
          </a:xfrm>
        </p:grpSpPr>
        <p:sp>
          <p:nvSpPr>
            <p:cNvPr id="297" name="Google Shape;297;g39ab12478d3_0_3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39ab12478d3_0_30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9" name="Google Shape;299;g39ab12478d3_0_302"/>
          <p:cNvGrpSpPr/>
          <p:nvPr/>
        </p:nvGrpSpPr>
        <p:grpSpPr>
          <a:xfrm>
            <a:off x="16168502" y="8712901"/>
            <a:ext cx="1090778" cy="1090778"/>
            <a:chOff x="0" y="0"/>
            <a:chExt cx="812800" cy="812800"/>
          </a:xfrm>
        </p:grpSpPr>
        <p:sp>
          <p:nvSpPr>
            <p:cNvPr id="300" name="Google Shape;300;g39ab12478d3_0_3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39ab12478d3_0_30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2" name="Google Shape;302;g39ab12478d3_0_302"/>
          <p:cNvGrpSpPr/>
          <p:nvPr/>
        </p:nvGrpSpPr>
        <p:grpSpPr>
          <a:xfrm>
            <a:off x="413744" y="2992711"/>
            <a:ext cx="4752360" cy="4752360"/>
            <a:chOff x="0" y="0"/>
            <a:chExt cx="812800" cy="812800"/>
          </a:xfrm>
        </p:grpSpPr>
        <p:sp>
          <p:nvSpPr>
            <p:cNvPr id="303" name="Google Shape;303;g39ab12478d3_0_30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322E28"/>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39ab12478d3_0_302"/>
            <p:cNvSpPr txBox="1"/>
            <p:nvPr/>
          </p:nvSpPr>
          <p:spPr>
            <a:xfrm>
              <a:off x="76200" y="9525"/>
              <a:ext cx="660300" cy="7272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Clr>
                  <a:srgbClr val="000000"/>
                </a:buClr>
                <a:buSzPts val="3000"/>
                <a:buFont typeface="Arial"/>
                <a:buNone/>
              </a:pPr>
              <a:r>
                <a:rPr b="1" i="0" lang="en-US" sz="3000" u="none" cap="none" strike="noStrike">
                  <a:solidFill>
                    <a:srgbClr val="000000"/>
                  </a:solidFill>
                  <a:latin typeface="Montserrat"/>
                  <a:ea typeface="Montserrat"/>
                  <a:cs typeface="Montserrat"/>
                  <a:sym typeface="Montserrat"/>
                </a:rPr>
                <a:t>Responsabilidades del Scrum Master</a:t>
              </a:r>
              <a:endParaRPr b="0" i="0" sz="1400" u="none" cap="none" strike="noStrike">
                <a:solidFill>
                  <a:srgbClr val="000000"/>
                </a:solidFill>
                <a:latin typeface="Arial"/>
                <a:ea typeface="Arial"/>
                <a:cs typeface="Arial"/>
                <a:sym typeface="Arial"/>
              </a:endParaRPr>
            </a:p>
          </p:txBody>
        </p:sp>
      </p:grpSp>
      <p:grpSp>
        <p:nvGrpSpPr>
          <p:cNvPr id="305" name="Google Shape;305;g39ab12478d3_0_302"/>
          <p:cNvGrpSpPr/>
          <p:nvPr/>
        </p:nvGrpSpPr>
        <p:grpSpPr>
          <a:xfrm>
            <a:off x="8898492" y="8269562"/>
            <a:ext cx="10313490" cy="1758667"/>
            <a:chOff x="0" y="-38100"/>
            <a:chExt cx="1931727" cy="329400"/>
          </a:xfrm>
        </p:grpSpPr>
        <p:sp>
          <p:nvSpPr>
            <p:cNvPr id="306" name="Google Shape;306;g39ab12478d3_0_302"/>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3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g39ab12478d3_0_302"/>
            <p:cNvSpPr txBox="1"/>
            <p:nvPr/>
          </p:nvSpPr>
          <p:spPr>
            <a:xfrm>
              <a:off x="0" y="-38100"/>
              <a:ext cx="1931700" cy="32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8" name="Google Shape;308;g39ab12478d3_0_302"/>
          <p:cNvGrpSpPr/>
          <p:nvPr/>
        </p:nvGrpSpPr>
        <p:grpSpPr>
          <a:xfrm>
            <a:off x="8898492" y="6283123"/>
            <a:ext cx="10313490" cy="1758667"/>
            <a:chOff x="0" y="-38100"/>
            <a:chExt cx="1931727" cy="329400"/>
          </a:xfrm>
        </p:grpSpPr>
        <p:sp>
          <p:nvSpPr>
            <p:cNvPr id="309" name="Google Shape;309;g39ab12478d3_0_302"/>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3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9ab12478d3_0_302"/>
            <p:cNvSpPr txBox="1"/>
            <p:nvPr/>
          </p:nvSpPr>
          <p:spPr>
            <a:xfrm>
              <a:off x="0" y="-38100"/>
              <a:ext cx="1931700" cy="32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1" name="Google Shape;311;g39ab12478d3_0_302"/>
          <p:cNvGrpSpPr/>
          <p:nvPr/>
        </p:nvGrpSpPr>
        <p:grpSpPr>
          <a:xfrm>
            <a:off x="8898492" y="271835"/>
            <a:ext cx="10313490" cy="1758667"/>
            <a:chOff x="0" y="-38100"/>
            <a:chExt cx="1931727" cy="329400"/>
          </a:xfrm>
        </p:grpSpPr>
        <p:sp>
          <p:nvSpPr>
            <p:cNvPr id="312" name="Google Shape;312;g39ab12478d3_0_302"/>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3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39ab12478d3_0_302"/>
            <p:cNvSpPr txBox="1"/>
            <p:nvPr/>
          </p:nvSpPr>
          <p:spPr>
            <a:xfrm>
              <a:off x="0" y="-38100"/>
              <a:ext cx="1931700" cy="32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4" name="Google Shape;314;g39ab12478d3_0_302"/>
          <p:cNvGrpSpPr/>
          <p:nvPr/>
        </p:nvGrpSpPr>
        <p:grpSpPr>
          <a:xfrm>
            <a:off x="8898492" y="2195618"/>
            <a:ext cx="10313490" cy="1758667"/>
            <a:chOff x="0" y="-38100"/>
            <a:chExt cx="1931727" cy="329400"/>
          </a:xfrm>
        </p:grpSpPr>
        <p:sp>
          <p:nvSpPr>
            <p:cNvPr id="315" name="Google Shape;315;g39ab12478d3_0_302"/>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3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39ab12478d3_0_302"/>
            <p:cNvSpPr txBox="1"/>
            <p:nvPr/>
          </p:nvSpPr>
          <p:spPr>
            <a:xfrm>
              <a:off x="0" y="-38100"/>
              <a:ext cx="1931700" cy="32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g39ab12478d3_0_302"/>
          <p:cNvGrpSpPr/>
          <p:nvPr/>
        </p:nvGrpSpPr>
        <p:grpSpPr>
          <a:xfrm>
            <a:off x="8898492" y="4239371"/>
            <a:ext cx="10313490" cy="1758667"/>
            <a:chOff x="0" y="-38100"/>
            <a:chExt cx="1931727" cy="329400"/>
          </a:xfrm>
        </p:grpSpPr>
        <p:sp>
          <p:nvSpPr>
            <p:cNvPr id="318" name="Google Shape;318;g39ab12478d3_0_302"/>
            <p:cNvSpPr/>
            <p:nvPr/>
          </p:nvSpPr>
          <p:spPr>
            <a:xfrm>
              <a:off x="0" y="0"/>
              <a:ext cx="1931727" cy="291170"/>
            </a:xfrm>
            <a:custGeom>
              <a:rect b="b" l="l" r="r" t="t"/>
              <a:pathLst>
                <a:path extrusionOk="0" h="291170" w="1931727">
                  <a:moveTo>
                    <a:pt x="1728527" y="0"/>
                  </a:moveTo>
                  <a:cubicBezTo>
                    <a:pt x="1840752" y="0"/>
                    <a:pt x="1931727" y="65181"/>
                    <a:pt x="1931727" y="145585"/>
                  </a:cubicBezTo>
                  <a:cubicBezTo>
                    <a:pt x="1931727" y="225989"/>
                    <a:pt x="1840752" y="291170"/>
                    <a:pt x="1728527" y="291170"/>
                  </a:cubicBezTo>
                  <a:lnTo>
                    <a:pt x="203200" y="291170"/>
                  </a:lnTo>
                  <a:cubicBezTo>
                    <a:pt x="90976" y="291170"/>
                    <a:pt x="0" y="225989"/>
                    <a:pt x="0" y="145585"/>
                  </a:cubicBezTo>
                  <a:cubicBezTo>
                    <a:pt x="0" y="65181"/>
                    <a:pt x="90976" y="0"/>
                    <a:pt x="203200" y="0"/>
                  </a:cubicBezTo>
                  <a:close/>
                </a:path>
              </a:pathLst>
            </a:custGeom>
            <a:solidFill>
              <a:srgbClr val="03989E">
                <a:alpha val="7137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39ab12478d3_0_302"/>
            <p:cNvSpPr txBox="1"/>
            <p:nvPr/>
          </p:nvSpPr>
          <p:spPr>
            <a:xfrm>
              <a:off x="0" y="-38100"/>
              <a:ext cx="1931700" cy="329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0" name="Google Shape;320;g39ab12478d3_0_302"/>
          <p:cNvSpPr txBox="1"/>
          <p:nvPr/>
        </p:nvSpPr>
        <p:spPr>
          <a:xfrm>
            <a:off x="11286920" y="609903"/>
            <a:ext cx="49578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Organiza las reuniones de</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planificación de sprints</a:t>
            </a:r>
            <a:endParaRPr b="0" i="0" sz="1400" u="none" cap="none" strike="noStrike">
              <a:solidFill>
                <a:srgbClr val="000000"/>
              </a:solidFill>
              <a:latin typeface="Arial"/>
              <a:ea typeface="Arial"/>
              <a:cs typeface="Arial"/>
              <a:sym typeface="Arial"/>
            </a:endParaRPr>
          </a:p>
        </p:txBody>
      </p:sp>
      <p:sp>
        <p:nvSpPr>
          <p:cNvPr id="321" name="Google Shape;321;g39ab12478d3_0_302"/>
          <p:cNvSpPr txBox="1"/>
          <p:nvPr/>
        </p:nvSpPr>
        <p:spPr>
          <a:xfrm>
            <a:off x="11286920" y="2595281"/>
            <a:ext cx="53067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Organiza las reuniones diarias</a:t>
            </a:r>
            <a:endParaRPr b="0" i="0" sz="1400" u="none" cap="none" strike="noStrike">
              <a:solidFill>
                <a:srgbClr val="000000"/>
              </a:solidFill>
              <a:latin typeface="Arial"/>
              <a:ea typeface="Arial"/>
              <a:cs typeface="Arial"/>
              <a:sym typeface="Arial"/>
            </a:endParaRPr>
          </a:p>
        </p:txBody>
      </p:sp>
      <p:sp>
        <p:nvSpPr>
          <p:cNvPr id="322" name="Google Shape;322;g39ab12478d3_0_302"/>
          <p:cNvSpPr txBox="1"/>
          <p:nvPr/>
        </p:nvSpPr>
        <p:spPr>
          <a:xfrm>
            <a:off x="11286920" y="4905734"/>
            <a:ext cx="42195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Elimina los obstáculos</a:t>
            </a:r>
            <a:endParaRPr b="0" i="0" sz="1400" u="none" cap="none" strike="noStrike">
              <a:solidFill>
                <a:srgbClr val="000000"/>
              </a:solidFill>
              <a:latin typeface="Arial"/>
              <a:ea typeface="Arial"/>
              <a:cs typeface="Arial"/>
              <a:sym typeface="Arial"/>
            </a:endParaRPr>
          </a:p>
        </p:txBody>
      </p:sp>
      <p:sp>
        <p:nvSpPr>
          <p:cNvPr id="323" name="Google Shape;323;g39ab12478d3_0_302"/>
          <p:cNvSpPr txBox="1"/>
          <p:nvPr/>
        </p:nvSpPr>
        <p:spPr>
          <a:xfrm>
            <a:off x="11286920" y="6740444"/>
            <a:ext cx="48864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Realiza análisis retrospectivos</a:t>
            </a:r>
            <a:endParaRPr b="0" i="0" sz="1400" u="none" cap="none" strike="noStrike">
              <a:solidFill>
                <a:srgbClr val="000000"/>
              </a:solidFill>
              <a:latin typeface="Arial"/>
              <a:ea typeface="Arial"/>
              <a:cs typeface="Arial"/>
              <a:sym typeface="Arial"/>
            </a:endParaRPr>
          </a:p>
        </p:txBody>
      </p:sp>
      <p:sp>
        <p:nvSpPr>
          <p:cNvPr id="324" name="Google Shape;324;g39ab12478d3_0_302"/>
          <p:cNvSpPr txBox="1"/>
          <p:nvPr/>
        </p:nvSpPr>
        <p:spPr>
          <a:xfrm>
            <a:off x="11286920" y="8669225"/>
            <a:ext cx="6031200" cy="1108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Ayuda a gestionar el trabajo pendiente del producto</a:t>
            </a:r>
            <a:endParaRPr b="0" i="0" sz="1400" u="none" cap="none" strike="noStrike">
              <a:solidFill>
                <a:srgbClr val="000000"/>
              </a:solidFill>
              <a:latin typeface="Arial"/>
              <a:ea typeface="Arial"/>
              <a:cs typeface="Arial"/>
              <a:sym typeface="Arial"/>
            </a:endParaRPr>
          </a:p>
        </p:txBody>
      </p:sp>
      <p:cxnSp>
        <p:nvCxnSpPr>
          <p:cNvPr id="325" name="Google Shape;325;g39ab12478d3_0_302"/>
          <p:cNvCxnSpPr/>
          <p:nvPr/>
        </p:nvCxnSpPr>
        <p:spPr>
          <a:xfrm flipH="1" rot="10800000">
            <a:off x="2789913" y="1252411"/>
            <a:ext cx="6108600" cy="1740300"/>
          </a:xfrm>
          <a:prstGeom prst="straightConnector1">
            <a:avLst/>
          </a:prstGeom>
          <a:noFill/>
          <a:ln cap="flat" cmpd="sng" w="38100">
            <a:solidFill>
              <a:srgbClr val="000000"/>
            </a:solidFill>
            <a:prstDash val="solid"/>
            <a:round/>
            <a:headEnd len="sm" w="sm" type="none"/>
            <a:tailEnd len="sm" w="sm" type="none"/>
          </a:ln>
        </p:spPr>
      </p:cxnSp>
      <p:cxnSp>
        <p:nvCxnSpPr>
          <p:cNvPr id="326" name="Google Shape;326;g39ab12478d3_0_302"/>
          <p:cNvCxnSpPr/>
          <p:nvPr/>
        </p:nvCxnSpPr>
        <p:spPr>
          <a:xfrm flipH="1" rot="10800000">
            <a:off x="4753896" y="3176278"/>
            <a:ext cx="4144500" cy="777300"/>
          </a:xfrm>
          <a:prstGeom prst="straightConnector1">
            <a:avLst/>
          </a:prstGeom>
          <a:noFill/>
          <a:ln cap="flat" cmpd="sng" w="38100">
            <a:solidFill>
              <a:srgbClr val="000000"/>
            </a:solidFill>
            <a:prstDash val="solid"/>
            <a:round/>
            <a:headEnd len="sm" w="sm" type="none"/>
            <a:tailEnd len="sm" w="sm" type="none"/>
          </a:ln>
        </p:spPr>
      </p:cxnSp>
      <p:cxnSp>
        <p:nvCxnSpPr>
          <p:cNvPr id="327" name="Google Shape;327;g39ab12478d3_0_302"/>
          <p:cNvCxnSpPr/>
          <p:nvPr/>
        </p:nvCxnSpPr>
        <p:spPr>
          <a:xfrm flipH="1" rot="10800000">
            <a:off x="5166082" y="5220080"/>
            <a:ext cx="3732300" cy="148800"/>
          </a:xfrm>
          <a:prstGeom prst="straightConnector1">
            <a:avLst/>
          </a:prstGeom>
          <a:noFill/>
          <a:ln cap="flat" cmpd="sng" w="38100">
            <a:solidFill>
              <a:srgbClr val="000000"/>
            </a:solidFill>
            <a:prstDash val="solid"/>
            <a:round/>
            <a:headEnd len="sm" w="sm" type="none"/>
            <a:tailEnd len="sm" w="sm" type="none"/>
          </a:ln>
        </p:spPr>
      </p:cxnSp>
      <p:cxnSp>
        <p:nvCxnSpPr>
          <p:cNvPr id="328" name="Google Shape;328;g39ab12478d3_0_302"/>
          <p:cNvCxnSpPr/>
          <p:nvPr/>
        </p:nvCxnSpPr>
        <p:spPr>
          <a:xfrm>
            <a:off x="4753896" y="6826169"/>
            <a:ext cx="4144500" cy="437700"/>
          </a:xfrm>
          <a:prstGeom prst="straightConnector1">
            <a:avLst/>
          </a:prstGeom>
          <a:noFill/>
          <a:ln cap="flat" cmpd="sng" w="38100">
            <a:solidFill>
              <a:srgbClr val="000000"/>
            </a:solidFill>
            <a:prstDash val="solid"/>
            <a:round/>
            <a:headEnd len="sm" w="sm" type="none"/>
            <a:tailEnd len="sm" w="sm" type="none"/>
          </a:ln>
        </p:spPr>
      </p:cxnSp>
      <p:cxnSp>
        <p:nvCxnSpPr>
          <p:cNvPr id="329" name="Google Shape;329;g39ab12478d3_0_302"/>
          <p:cNvCxnSpPr/>
          <p:nvPr/>
        </p:nvCxnSpPr>
        <p:spPr>
          <a:xfrm>
            <a:off x="2789913" y="7745049"/>
            <a:ext cx="6108600" cy="1505100"/>
          </a:xfrm>
          <a:prstGeom prst="straightConnector1">
            <a:avLst/>
          </a:prstGeom>
          <a:noFill/>
          <a:ln cap="flat" cmpd="sng" w="38100">
            <a:solidFill>
              <a:srgbClr val="000000"/>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g39ab12478d3_0_34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3680" l="0" r="0" t="-4980"/>
            </a:stretch>
          </a:blipFill>
          <a:ln>
            <a:noFill/>
          </a:ln>
        </p:spPr>
      </p:sp>
      <p:sp>
        <p:nvSpPr>
          <p:cNvPr id="335" name="Google Shape;335;g39ab12478d3_0_345"/>
          <p:cNvSpPr/>
          <p:nvPr/>
        </p:nvSpPr>
        <p:spPr>
          <a:xfrm>
            <a:off x="-2488276" y="0"/>
            <a:ext cx="9865360" cy="10394312"/>
          </a:xfrm>
          <a:custGeom>
            <a:rect b="b" l="l" r="r" t="t"/>
            <a:pathLst>
              <a:path extrusionOk="0" h="856380" w="812800">
                <a:moveTo>
                  <a:pt x="0" y="0"/>
                </a:moveTo>
                <a:lnTo>
                  <a:pt x="812800" y="0"/>
                </a:lnTo>
                <a:lnTo>
                  <a:pt x="812800" y="856380"/>
                </a:lnTo>
                <a:lnTo>
                  <a:pt x="0" y="856380"/>
                </a:lnTo>
                <a:close/>
              </a:path>
            </a:pathLst>
          </a:custGeom>
          <a:blipFill rotWithShape="1">
            <a:blip r:embed="rId4">
              <a:alphaModFix/>
            </a:blip>
            <a:stretch>
              <a:fillRect b="0" l="-29010" r="-29021" t="0"/>
            </a:stretch>
          </a:blipFill>
          <a:ln>
            <a:noFill/>
          </a:ln>
        </p:spPr>
      </p:sp>
      <p:grpSp>
        <p:nvGrpSpPr>
          <p:cNvPr id="336" name="Google Shape;336;g39ab12478d3_0_345"/>
          <p:cNvGrpSpPr/>
          <p:nvPr/>
        </p:nvGrpSpPr>
        <p:grpSpPr>
          <a:xfrm>
            <a:off x="4184909" y="6536177"/>
            <a:ext cx="9995171" cy="8353796"/>
            <a:chOff x="0" y="0"/>
            <a:chExt cx="972501" cy="812800"/>
          </a:xfrm>
        </p:grpSpPr>
        <p:sp>
          <p:nvSpPr>
            <p:cNvPr id="337" name="Google Shape;337;g39ab12478d3_0_345"/>
            <p:cNvSpPr/>
            <p:nvPr/>
          </p:nvSpPr>
          <p:spPr>
            <a:xfrm>
              <a:off x="0" y="0"/>
              <a:ext cx="972501" cy="812800"/>
            </a:xfrm>
            <a:custGeom>
              <a:rect b="b" l="l" r="r" t="t"/>
              <a:pathLst>
                <a:path extrusionOk="0" h="812800" w="972501">
                  <a:moveTo>
                    <a:pt x="486250" y="0"/>
                  </a:moveTo>
                  <a:cubicBezTo>
                    <a:pt x="217702" y="0"/>
                    <a:pt x="0" y="181951"/>
                    <a:pt x="0" y="406400"/>
                  </a:cubicBezTo>
                  <a:cubicBezTo>
                    <a:pt x="0" y="630849"/>
                    <a:pt x="217702" y="812800"/>
                    <a:pt x="486250" y="812800"/>
                  </a:cubicBezTo>
                  <a:cubicBezTo>
                    <a:pt x="754799" y="812800"/>
                    <a:pt x="972501" y="630849"/>
                    <a:pt x="972501" y="406400"/>
                  </a:cubicBezTo>
                  <a:cubicBezTo>
                    <a:pt x="972501" y="181951"/>
                    <a:pt x="754799" y="0"/>
                    <a:pt x="48625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g39ab12478d3_0_345"/>
            <p:cNvSpPr txBox="1"/>
            <p:nvPr/>
          </p:nvSpPr>
          <p:spPr>
            <a:xfrm>
              <a:off x="91172" y="38100"/>
              <a:ext cx="7902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9" name="Google Shape;339;g39ab12478d3_0_345"/>
          <p:cNvGrpSpPr/>
          <p:nvPr/>
        </p:nvGrpSpPr>
        <p:grpSpPr>
          <a:xfrm>
            <a:off x="6246705" y="-1840989"/>
            <a:ext cx="13824021" cy="13824021"/>
            <a:chOff x="0" y="0"/>
            <a:chExt cx="812800" cy="812800"/>
          </a:xfrm>
        </p:grpSpPr>
        <p:sp>
          <p:nvSpPr>
            <p:cNvPr id="340" name="Google Shape;340;g39ab12478d3_0_34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g39ab12478d3_0_34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2" name="Google Shape;342;g39ab12478d3_0_345"/>
          <p:cNvSpPr txBox="1"/>
          <p:nvPr/>
        </p:nvSpPr>
        <p:spPr>
          <a:xfrm>
            <a:off x="9182479" y="632915"/>
            <a:ext cx="8910000" cy="123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FFFFFF"/>
                </a:solidFill>
                <a:latin typeface="Montserrat"/>
                <a:ea typeface="Montserrat"/>
                <a:cs typeface="Montserrat"/>
                <a:sym typeface="Montserrat"/>
              </a:rPr>
              <a:t>Product Owner</a:t>
            </a:r>
            <a:endParaRPr b="0" i="0" sz="1400" u="none" cap="none" strike="noStrike">
              <a:solidFill>
                <a:srgbClr val="000000"/>
              </a:solidFill>
              <a:latin typeface="Arial"/>
              <a:ea typeface="Arial"/>
              <a:cs typeface="Arial"/>
              <a:sym typeface="Arial"/>
            </a:endParaRPr>
          </a:p>
        </p:txBody>
      </p:sp>
      <p:sp>
        <p:nvSpPr>
          <p:cNvPr id="343" name="Google Shape;343;g39ab12478d3_0_345"/>
          <p:cNvSpPr txBox="1"/>
          <p:nvPr/>
        </p:nvSpPr>
        <p:spPr>
          <a:xfrm>
            <a:off x="7898341" y="2695867"/>
            <a:ext cx="10389600" cy="3909600"/>
          </a:xfrm>
          <a:prstGeom prst="rect">
            <a:avLst/>
          </a:prstGeom>
          <a:noFill/>
          <a:ln>
            <a:noFill/>
          </a:ln>
        </p:spPr>
        <p:txBody>
          <a:bodyPr anchorCtr="0" anchor="t" bIns="0" lIns="0" spcFirstLastPara="1" rIns="0" wrap="square" tIns="0">
            <a:spAutoFit/>
          </a:bodyPr>
          <a:lstStyle/>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Define los objetivos del producto.</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Determina las características del producto para crear el backlog.</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Crea historias de usuario.</a:t>
            </a:r>
            <a:endParaRPr b="0" i="0" sz="3000" u="none" cap="none" strike="noStrike">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b="0" i="0" lang="en-US" sz="3000" u="none" cap="none" strike="noStrike">
                <a:solidFill>
                  <a:srgbClr val="FFFFFF"/>
                </a:solidFill>
                <a:latin typeface="Poppins Light"/>
                <a:ea typeface="Poppins Light"/>
                <a:cs typeface="Poppins Light"/>
                <a:sym typeface="Poppins Light"/>
              </a:rPr>
              <a:t>Prioriza y gestiona el backlog del producto.</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44" name="Google Shape;344;g39ab12478d3_0_345"/>
          <p:cNvGrpSpPr/>
          <p:nvPr/>
        </p:nvGrpSpPr>
        <p:grpSpPr>
          <a:xfrm>
            <a:off x="6638360" y="-1682128"/>
            <a:ext cx="2850002" cy="2850002"/>
            <a:chOff x="0" y="0"/>
            <a:chExt cx="812800" cy="812800"/>
          </a:xfrm>
        </p:grpSpPr>
        <p:sp>
          <p:nvSpPr>
            <p:cNvPr id="345" name="Google Shape;345;g39ab12478d3_0_34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g39ab12478d3_0_34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g39ab12478d3_0_345"/>
          <p:cNvSpPr/>
          <p:nvPr/>
        </p:nvSpPr>
        <p:spPr>
          <a:xfrm rot="5279728">
            <a:off x="11450574" y="472686"/>
            <a:ext cx="11612317" cy="11046217"/>
          </a:xfrm>
          <a:custGeom>
            <a:rect b="b" l="l" r="r" t="t"/>
            <a:pathLst>
              <a:path extrusionOk="0" h="11039457" w="11605211">
                <a:moveTo>
                  <a:pt x="0" y="0"/>
                </a:moveTo>
                <a:lnTo>
                  <a:pt x="11605212" y="0"/>
                </a:lnTo>
                <a:lnTo>
                  <a:pt x="11605212" y="11039457"/>
                </a:lnTo>
                <a:lnTo>
                  <a:pt x="0" y="11039457"/>
                </a:lnTo>
                <a:lnTo>
                  <a:pt x="0" y="0"/>
                </a:lnTo>
                <a:close/>
              </a:path>
            </a:pathLst>
          </a:custGeom>
          <a:blipFill rotWithShape="1">
            <a:blip r:embed="rId5">
              <a:alphaModFix amt="7000"/>
            </a:blip>
            <a:stretch>
              <a:fillRect b="0" l="0" r="0" t="0"/>
            </a:stretch>
          </a:blipFill>
          <a:ln>
            <a:noFill/>
          </a:ln>
        </p:spPr>
      </p:sp>
      <p:sp>
        <p:nvSpPr>
          <p:cNvPr id="348" name="Google Shape;348;g39ab12478d3_0_345"/>
          <p:cNvSpPr txBox="1"/>
          <p:nvPr/>
        </p:nvSpPr>
        <p:spPr>
          <a:xfrm>
            <a:off x="7898341" y="6745551"/>
            <a:ext cx="10389600" cy="2727600"/>
          </a:xfrm>
          <a:prstGeom prst="rect">
            <a:avLst/>
          </a:prstGeom>
          <a:noFill/>
          <a:ln>
            <a:noFill/>
          </a:ln>
        </p:spPr>
        <p:txBody>
          <a:bodyPr anchorCtr="0" anchor="t" bIns="0" lIns="0" spcFirstLastPara="1" rIns="0" wrap="square" tIns="0">
            <a:spAutoFit/>
          </a:bodyPr>
          <a:lstStyle/>
          <a:p>
            <a:pPr indent="0" lvl="0" marL="914400" marR="0" rtl="0" algn="l">
              <a:lnSpc>
                <a:spcPct val="160000"/>
              </a:lnSpc>
              <a:spcBef>
                <a:spcPts val="0"/>
              </a:spcBef>
              <a:spcAft>
                <a:spcPts val="0"/>
              </a:spcAft>
              <a:buNone/>
            </a:pPr>
            <a:r>
              <a:rPr b="1" lang="en-US" sz="3200">
                <a:solidFill>
                  <a:srgbClr val="FFFFFF"/>
                </a:solidFill>
                <a:latin typeface="Poppins"/>
                <a:ea typeface="Poppins"/>
                <a:cs typeface="Poppins"/>
                <a:sym typeface="Poppins"/>
              </a:rPr>
              <a:t>Normalmente es:</a:t>
            </a:r>
            <a:endParaRPr b="1" sz="3200">
              <a:solidFill>
                <a:srgbClr val="FFFFFF"/>
              </a:solidFill>
              <a:latin typeface="Poppins"/>
              <a:ea typeface="Poppins"/>
              <a:cs typeface="Poppins"/>
              <a:sym typeface="Poppins"/>
            </a:endParaRPr>
          </a:p>
          <a:p>
            <a:pPr indent="-323850" lvl="1" marL="647700" marR="0" rtl="0" algn="l">
              <a:lnSpc>
                <a:spcPct val="160000"/>
              </a:lnSpc>
              <a:spcBef>
                <a:spcPts val="0"/>
              </a:spcBef>
              <a:spcAft>
                <a:spcPts val="0"/>
              </a:spcAft>
              <a:buClr>
                <a:srgbClr val="FFFFFF"/>
              </a:buClr>
              <a:buSzPts val="3000"/>
              <a:buFont typeface="Arial"/>
              <a:buChar char="•"/>
            </a:pPr>
            <a:r>
              <a:rPr lang="en-US" sz="3000">
                <a:solidFill>
                  <a:srgbClr val="FFFFFF"/>
                </a:solidFill>
                <a:latin typeface="Poppins Light"/>
                <a:ea typeface="Poppins Light"/>
                <a:cs typeface="Poppins Light"/>
                <a:sym typeface="Poppins Light"/>
              </a:rPr>
              <a:t>El representante del cliente o stakeholders</a:t>
            </a:r>
            <a:endParaRPr sz="3000">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lang="en-US" sz="3000">
                <a:solidFill>
                  <a:srgbClr val="FFFFFF"/>
                </a:solidFill>
                <a:latin typeface="Poppins Light"/>
                <a:ea typeface="Poppins Light"/>
                <a:cs typeface="Poppins Light"/>
                <a:sym typeface="Poppins Light"/>
              </a:rPr>
              <a:t>La persona con mayor conocimiento del negocio</a:t>
            </a:r>
            <a:endParaRPr sz="3000">
              <a:solidFill>
                <a:srgbClr val="FFFFFF"/>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FFFFF"/>
              </a:buClr>
              <a:buSzPts val="3000"/>
              <a:buFont typeface="Arial"/>
              <a:buChar char="•"/>
            </a:pPr>
            <a:r>
              <a:rPr lang="en-US" sz="3000">
                <a:solidFill>
                  <a:srgbClr val="FFFFFF"/>
                </a:solidFill>
                <a:latin typeface="Poppins Light"/>
                <a:ea typeface="Poppins Light"/>
                <a:cs typeface="Poppins Light"/>
                <a:sym typeface="Poppins Light"/>
              </a:rPr>
              <a:t>Quien tiene la visión del producto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DCABB"/>
        </a:solidFill>
      </p:bgPr>
    </p:bg>
    <p:spTree>
      <p:nvGrpSpPr>
        <p:cNvPr id="352" name="Shape 352"/>
        <p:cNvGrpSpPr/>
        <p:nvPr/>
      </p:nvGrpSpPr>
      <p:grpSpPr>
        <a:xfrm>
          <a:off x="0" y="0"/>
          <a:ext cx="0" cy="0"/>
          <a:chOff x="0" y="0"/>
          <a:chExt cx="0" cy="0"/>
        </a:xfrm>
      </p:grpSpPr>
      <p:grpSp>
        <p:nvGrpSpPr>
          <p:cNvPr id="353" name="Google Shape;353;g39ab12478d3_0_363"/>
          <p:cNvGrpSpPr/>
          <p:nvPr/>
        </p:nvGrpSpPr>
        <p:grpSpPr>
          <a:xfrm>
            <a:off x="-1028061" y="-1890482"/>
            <a:ext cx="12177451" cy="12177451"/>
            <a:chOff x="0" y="0"/>
            <a:chExt cx="812800" cy="812800"/>
          </a:xfrm>
        </p:grpSpPr>
        <p:sp>
          <p:nvSpPr>
            <p:cNvPr id="354" name="Google Shape;354;g39ab12478d3_0_3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g39ab12478d3_0_3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6" name="Google Shape;356;g39ab12478d3_0_363"/>
          <p:cNvSpPr/>
          <p:nvPr/>
        </p:nvSpPr>
        <p:spPr>
          <a:xfrm rot="5279728">
            <a:off x="9375108" y="243153"/>
            <a:ext cx="11612317" cy="1104621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3">
              <a:alphaModFix amt="7000"/>
            </a:blip>
            <a:stretch>
              <a:fillRect b="0" l="0" r="0" t="0"/>
            </a:stretch>
          </a:blipFill>
          <a:ln>
            <a:noFill/>
          </a:ln>
        </p:spPr>
      </p:sp>
      <p:grpSp>
        <p:nvGrpSpPr>
          <p:cNvPr id="357" name="Google Shape;357;g39ab12478d3_0_363"/>
          <p:cNvGrpSpPr/>
          <p:nvPr/>
        </p:nvGrpSpPr>
        <p:grpSpPr>
          <a:xfrm>
            <a:off x="10397288" y="3611490"/>
            <a:ext cx="12177451" cy="12177451"/>
            <a:chOff x="0" y="0"/>
            <a:chExt cx="812800" cy="812800"/>
          </a:xfrm>
        </p:grpSpPr>
        <p:sp>
          <p:nvSpPr>
            <p:cNvPr id="358" name="Google Shape;358;g39ab12478d3_0_3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39ab12478d3_0_3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0" name="Google Shape;360;g39ab12478d3_0_363"/>
          <p:cNvSpPr/>
          <p:nvPr/>
        </p:nvSpPr>
        <p:spPr>
          <a:xfrm>
            <a:off x="11149421" y="1119193"/>
            <a:ext cx="7302550" cy="8048593"/>
          </a:xfrm>
          <a:custGeom>
            <a:rect b="b" l="l" r="r" t="t"/>
            <a:pathLst>
              <a:path extrusionOk="0" h="6349975" w="5761381">
                <a:moveTo>
                  <a:pt x="5761381" y="3175025"/>
                </a:moveTo>
                <a:cubicBezTo>
                  <a:pt x="5761381" y="4928451"/>
                  <a:pt x="4471627" y="6349975"/>
                  <a:pt x="2880690" y="6349975"/>
                </a:cubicBezTo>
                <a:cubicBezTo>
                  <a:pt x="1289731" y="6349975"/>
                  <a:pt x="0" y="4928451"/>
                  <a:pt x="0" y="3175025"/>
                </a:cubicBezTo>
                <a:cubicBezTo>
                  <a:pt x="0" y="1421511"/>
                  <a:pt x="1289731" y="0"/>
                  <a:pt x="2880690" y="0"/>
                </a:cubicBezTo>
                <a:cubicBezTo>
                  <a:pt x="4471650" y="0"/>
                  <a:pt x="5761381" y="1421511"/>
                  <a:pt x="5761381" y="3175025"/>
                </a:cubicBezTo>
                <a:close/>
              </a:path>
            </a:pathLst>
          </a:custGeom>
          <a:blipFill rotWithShape="1">
            <a:blip r:embed="rId4">
              <a:alphaModFix/>
            </a:blip>
            <a:stretch>
              <a:fillRect b="0" l="-32549" r="-32549"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39ab12478d3_0_363"/>
          <p:cNvSpPr txBox="1"/>
          <p:nvPr/>
        </p:nvSpPr>
        <p:spPr>
          <a:xfrm>
            <a:off x="1431419" y="348244"/>
            <a:ext cx="5851500" cy="2918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900"/>
              <a:buFont typeface="Arial"/>
              <a:buNone/>
            </a:pPr>
            <a:r>
              <a:rPr b="1" i="0" lang="en-US" sz="7900" u="none" cap="none" strike="noStrike">
                <a:solidFill>
                  <a:srgbClr val="000000"/>
                </a:solidFill>
                <a:latin typeface="Montserrat"/>
                <a:ea typeface="Montserrat"/>
                <a:cs typeface="Montserrat"/>
                <a:sym typeface="Montserrat"/>
              </a:rPr>
              <a:t>Equipo de Desarrollo</a:t>
            </a:r>
            <a:endParaRPr b="0" i="0" sz="1400" u="none" cap="none" strike="noStrike">
              <a:solidFill>
                <a:srgbClr val="000000"/>
              </a:solidFill>
              <a:latin typeface="Arial"/>
              <a:ea typeface="Arial"/>
              <a:cs typeface="Arial"/>
              <a:sym typeface="Arial"/>
            </a:endParaRPr>
          </a:p>
        </p:txBody>
      </p:sp>
      <p:sp>
        <p:nvSpPr>
          <p:cNvPr id="362" name="Google Shape;362;g39ab12478d3_0_363"/>
          <p:cNvSpPr txBox="1"/>
          <p:nvPr/>
        </p:nvSpPr>
        <p:spPr>
          <a:xfrm>
            <a:off x="1309825" y="3783350"/>
            <a:ext cx="8980800" cy="5319300"/>
          </a:xfrm>
          <a:prstGeom prst="rect">
            <a:avLst/>
          </a:prstGeom>
          <a:noFill/>
          <a:ln>
            <a:noFill/>
          </a:ln>
        </p:spPr>
        <p:txBody>
          <a:bodyPr anchorCtr="0" anchor="t" bIns="0" lIns="0" spcFirstLastPara="1" rIns="0" wrap="square" tIns="0">
            <a:spAutoFit/>
          </a:bodyPr>
          <a:lstStyle/>
          <a:p>
            <a:pPr indent="0" lvl="0" marL="0" marR="0" rtl="0" algn="l">
              <a:lnSpc>
                <a:spcPct val="160013"/>
              </a:lnSpc>
              <a:spcBef>
                <a:spcPts val="0"/>
              </a:spcBef>
              <a:spcAft>
                <a:spcPts val="0"/>
              </a:spcAft>
              <a:buClr>
                <a:srgbClr val="000000"/>
              </a:buClr>
              <a:buSzPts val="3016"/>
              <a:buFont typeface="Arial"/>
              <a:buNone/>
            </a:pPr>
            <a:r>
              <a:rPr b="0" i="0" lang="en-US" sz="2816" u="none" cap="none" strike="noStrike">
                <a:solidFill>
                  <a:srgbClr val="000000"/>
                </a:solidFill>
                <a:latin typeface="Poppins"/>
                <a:ea typeface="Poppins"/>
                <a:cs typeface="Poppins"/>
                <a:sym typeface="Poppins"/>
              </a:rPr>
              <a:t>Es un equipo multifuncional y auto-organizado que incluye programadores, diseñadores, testers, analistas, y cualquier otro rol necesario para completar las tareas del Sprint.</a:t>
            </a:r>
            <a:endParaRPr b="0" i="0" sz="1200" u="none" cap="none" strike="noStrike">
              <a:solidFill>
                <a:srgbClr val="000000"/>
              </a:solidFill>
              <a:latin typeface="Arial"/>
              <a:ea typeface="Arial"/>
              <a:cs typeface="Arial"/>
              <a:sym typeface="Arial"/>
            </a:endParaRPr>
          </a:p>
          <a:p>
            <a:pPr indent="0" lvl="0" marL="0" marR="0" rtl="0" algn="l">
              <a:lnSpc>
                <a:spcPct val="160013"/>
              </a:lnSpc>
              <a:spcBef>
                <a:spcPts val="0"/>
              </a:spcBef>
              <a:spcAft>
                <a:spcPts val="0"/>
              </a:spcAft>
              <a:buClr>
                <a:srgbClr val="000000"/>
              </a:buClr>
              <a:buSzPts val="3016"/>
              <a:buFont typeface="Arial"/>
              <a:buNone/>
            </a:pPr>
            <a:r>
              <a:t/>
            </a:r>
            <a:endParaRPr b="0" i="0" sz="2816" u="none" cap="none" strike="noStrike">
              <a:solidFill>
                <a:srgbClr val="000000"/>
              </a:solidFill>
              <a:latin typeface="Poppins"/>
              <a:ea typeface="Poppins"/>
              <a:cs typeface="Poppins"/>
              <a:sym typeface="Poppins"/>
            </a:endParaRPr>
          </a:p>
          <a:p>
            <a:pPr indent="0" lvl="0" marL="0" marR="0" rtl="0" algn="l">
              <a:lnSpc>
                <a:spcPct val="160013"/>
              </a:lnSpc>
              <a:spcBef>
                <a:spcPts val="0"/>
              </a:spcBef>
              <a:spcAft>
                <a:spcPts val="0"/>
              </a:spcAft>
              <a:buClr>
                <a:srgbClr val="000000"/>
              </a:buClr>
              <a:buSzPts val="3016"/>
              <a:buFont typeface="Arial"/>
              <a:buNone/>
            </a:pPr>
            <a:r>
              <a:rPr b="0" i="0" lang="en-US" sz="2816" u="none" cap="none" strike="noStrike">
                <a:solidFill>
                  <a:srgbClr val="000000"/>
                </a:solidFill>
                <a:latin typeface="Poppins"/>
                <a:ea typeface="Poppins"/>
                <a:cs typeface="Poppins"/>
                <a:sym typeface="Poppins"/>
              </a:rPr>
              <a:t>Tienen un objetivo en común y comparten la responsabilidad del trabajo que realizan, sumado la calidad del proyecto en cada </a:t>
            </a:r>
            <a:r>
              <a:rPr b="0" i="0" lang="en-US" sz="3016" u="none" cap="none" strike="noStrike">
                <a:solidFill>
                  <a:srgbClr val="000000"/>
                </a:solidFill>
                <a:latin typeface="Poppins"/>
                <a:ea typeface="Poppins"/>
                <a:cs typeface="Poppins"/>
                <a:sym typeface="Poppins"/>
              </a:rPr>
              <a:t>iteración. </a:t>
            </a:r>
            <a:endParaRPr b="0" i="0" sz="1400" u="none" cap="none" strike="noStrike">
              <a:solidFill>
                <a:srgbClr val="000000"/>
              </a:solidFill>
              <a:latin typeface="Arial"/>
              <a:ea typeface="Arial"/>
              <a:cs typeface="Arial"/>
              <a:sym typeface="Arial"/>
            </a:endParaRPr>
          </a:p>
        </p:txBody>
      </p:sp>
      <p:grpSp>
        <p:nvGrpSpPr>
          <p:cNvPr id="363" name="Google Shape;363;g39ab12478d3_0_363"/>
          <p:cNvGrpSpPr/>
          <p:nvPr/>
        </p:nvGrpSpPr>
        <p:grpSpPr>
          <a:xfrm>
            <a:off x="14733054" y="-2477251"/>
            <a:ext cx="3505932" cy="3505932"/>
            <a:chOff x="0" y="0"/>
            <a:chExt cx="812800" cy="812800"/>
          </a:xfrm>
        </p:grpSpPr>
        <p:sp>
          <p:nvSpPr>
            <p:cNvPr id="364" name="Google Shape;364;g39ab12478d3_0_3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39ab12478d3_0_3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g39ab12478d3_0_363"/>
          <p:cNvGrpSpPr/>
          <p:nvPr/>
        </p:nvGrpSpPr>
        <p:grpSpPr>
          <a:xfrm>
            <a:off x="8178282" y="-724276"/>
            <a:ext cx="1551473" cy="1551473"/>
            <a:chOff x="0" y="0"/>
            <a:chExt cx="812800" cy="812800"/>
          </a:xfrm>
        </p:grpSpPr>
        <p:sp>
          <p:nvSpPr>
            <p:cNvPr id="367" name="Google Shape;367;g39ab12478d3_0_3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9ab12478d3_0_3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9" name="Google Shape;369;g39ab12478d3_0_363"/>
          <p:cNvGrpSpPr/>
          <p:nvPr/>
        </p:nvGrpSpPr>
        <p:grpSpPr>
          <a:xfrm>
            <a:off x="-5006207" y="8435952"/>
            <a:ext cx="6437620" cy="6437620"/>
            <a:chOff x="0" y="0"/>
            <a:chExt cx="812800" cy="812800"/>
          </a:xfrm>
        </p:grpSpPr>
        <p:sp>
          <p:nvSpPr>
            <p:cNvPr id="370" name="Google Shape;370;g39ab12478d3_0_36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g39ab12478d3_0_363"/>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375" name="Shape 375"/>
        <p:cNvGrpSpPr/>
        <p:nvPr/>
      </p:nvGrpSpPr>
      <p:grpSpPr>
        <a:xfrm>
          <a:off x="0" y="0"/>
          <a:ext cx="0" cy="0"/>
          <a:chOff x="0" y="0"/>
          <a:chExt cx="0" cy="0"/>
        </a:xfrm>
      </p:grpSpPr>
      <p:grpSp>
        <p:nvGrpSpPr>
          <p:cNvPr id="376" name="Google Shape;376;g39ab12478d3_0_385"/>
          <p:cNvGrpSpPr/>
          <p:nvPr/>
        </p:nvGrpSpPr>
        <p:grpSpPr>
          <a:xfrm>
            <a:off x="11301677" y="841157"/>
            <a:ext cx="9807407" cy="9807407"/>
            <a:chOff x="0" y="0"/>
            <a:chExt cx="812800" cy="812800"/>
          </a:xfrm>
        </p:grpSpPr>
        <p:sp>
          <p:nvSpPr>
            <p:cNvPr id="377" name="Google Shape;377;g39ab12478d3_0_38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9ab12478d3_0_38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g39ab12478d3_0_385"/>
          <p:cNvSpPr txBox="1"/>
          <p:nvPr/>
        </p:nvSpPr>
        <p:spPr>
          <a:xfrm>
            <a:off x="5218330" y="4258964"/>
            <a:ext cx="9321000" cy="15390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Clr>
                <a:srgbClr val="000000"/>
              </a:buClr>
              <a:buSzPts val="9999"/>
              <a:buFont typeface="Arial"/>
              <a:buNone/>
            </a:pPr>
            <a:r>
              <a:rPr b="1" i="0" lang="en-US" sz="9999" u="none" cap="none" strike="noStrike">
                <a:solidFill>
                  <a:srgbClr val="F9F9F9"/>
                </a:solidFill>
                <a:latin typeface="Montserrat"/>
                <a:ea typeface="Montserrat"/>
                <a:cs typeface="Montserrat"/>
                <a:sym typeface="Montserrat"/>
              </a:rPr>
              <a:t>Artefactos</a:t>
            </a:r>
            <a:endParaRPr b="0" i="0" sz="1400" u="none" cap="none" strike="noStrike">
              <a:solidFill>
                <a:srgbClr val="000000"/>
              </a:solidFill>
              <a:latin typeface="Arial"/>
              <a:ea typeface="Arial"/>
              <a:cs typeface="Arial"/>
              <a:sym typeface="Arial"/>
            </a:endParaRPr>
          </a:p>
        </p:txBody>
      </p:sp>
      <p:grpSp>
        <p:nvGrpSpPr>
          <p:cNvPr id="380" name="Google Shape;380;g39ab12478d3_0_385"/>
          <p:cNvGrpSpPr/>
          <p:nvPr/>
        </p:nvGrpSpPr>
        <p:grpSpPr>
          <a:xfrm>
            <a:off x="-1804968" y="3928747"/>
            <a:ext cx="3978412" cy="3978412"/>
            <a:chOff x="0" y="0"/>
            <a:chExt cx="812800" cy="812800"/>
          </a:xfrm>
        </p:grpSpPr>
        <p:sp>
          <p:nvSpPr>
            <p:cNvPr id="381" name="Google Shape;381;g39ab12478d3_0_38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9ab12478d3_0_38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3" name="Google Shape;383;g39ab12478d3_0_385"/>
          <p:cNvGrpSpPr/>
          <p:nvPr/>
        </p:nvGrpSpPr>
        <p:grpSpPr>
          <a:xfrm>
            <a:off x="-119146" y="8684377"/>
            <a:ext cx="1147836" cy="1147836"/>
            <a:chOff x="0" y="0"/>
            <a:chExt cx="812800" cy="812800"/>
          </a:xfrm>
        </p:grpSpPr>
        <p:sp>
          <p:nvSpPr>
            <p:cNvPr id="384" name="Google Shape;384;g39ab12478d3_0_38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g39ab12478d3_0_38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389" name="Shape 389"/>
        <p:cNvGrpSpPr/>
        <p:nvPr/>
      </p:nvGrpSpPr>
      <p:grpSpPr>
        <a:xfrm>
          <a:off x="0" y="0"/>
          <a:ext cx="0" cy="0"/>
          <a:chOff x="0" y="0"/>
          <a:chExt cx="0" cy="0"/>
        </a:xfrm>
      </p:grpSpPr>
      <p:grpSp>
        <p:nvGrpSpPr>
          <p:cNvPr id="390" name="Google Shape;390;g39ab12478d3_0_398"/>
          <p:cNvGrpSpPr/>
          <p:nvPr/>
        </p:nvGrpSpPr>
        <p:grpSpPr>
          <a:xfrm>
            <a:off x="11301677" y="841157"/>
            <a:ext cx="9807407" cy="9807407"/>
            <a:chOff x="0" y="0"/>
            <a:chExt cx="812800" cy="812800"/>
          </a:xfrm>
        </p:grpSpPr>
        <p:sp>
          <p:nvSpPr>
            <p:cNvPr id="391" name="Google Shape;391;g39ab12478d3_0_39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g39ab12478d3_0_39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3" name="Google Shape;393;g39ab12478d3_0_398"/>
          <p:cNvSpPr txBox="1"/>
          <p:nvPr/>
        </p:nvSpPr>
        <p:spPr>
          <a:xfrm>
            <a:off x="4483539" y="860207"/>
            <a:ext cx="9321000" cy="12315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8000"/>
              <a:buFont typeface="Arial"/>
              <a:buNone/>
            </a:pPr>
            <a:r>
              <a:rPr b="1" i="0" lang="en-US" sz="8000" u="none" cap="none" strike="noStrike">
                <a:solidFill>
                  <a:srgbClr val="F9F9F9"/>
                </a:solidFill>
                <a:latin typeface="Montserrat"/>
                <a:ea typeface="Montserrat"/>
                <a:cs typeface="Montserrat"/>
                <a:sym typeface="Montserrat"/>
              </a:rPr>
              <a:t>Product Backlog</a:t>
            </a:r>
            <a:endParaRPr b="0" i="0" sz="1400" u="none" cap="none" strike="noStrike">
              <a:solidFill>
                <a:srgbClr val="000000"/>
              </a:solidFill>
              <a:latin typeface="Arial"/>
              <a:ea typeface="Arial"/>
              <a:cs typeface="Arial"/>
              <a:sym typeface="Arial"/>
            </a:endParaRPr>
          </a:p>
        </p:txBody>
      </p:sp>
      <p:grpSp>
        <p:nvGrpSpPr>
          <p:cNvPr id="394" name="Google Shape;394;g39ab12478d3_0_398"/>
          <p:cNvGrpSpPr/>
          <p:nvPr/>
        </p:nvGrpSpPr>
        <p:grpSpPr>
          <a:xfrm>
            <a:off x="15664096" y="-1498702"/>
            <a:ext cx="3978412" cy="3978412"/>
            <a:chOff x="0" y="0"/>
            <a:chExt cx="812800" cy="812800"/>
          </a:xfrm>
        </p:grpSpPr>
        <p:sp>
          <p:nvSpPr>
            <p:cNvPr id="395" name="Google Shape;395;g39ab12478d3_0_39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39ab12478d3_0_39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7" name="Google Shape;397;g39ab12478d3_0_398"/>
          <p:cNvGrpSpPr/>
          <p:nvPr/>
        </p:nvGrpSpPr>
        <p:grpSpPr>
          <a:xfrm>
            <a:off x="13983437" y="841157"/>
            <a:ext cx="1147836" cy="1147836"/>
            <a:chOff x="0" y="0"/>
            <a:chExt cx="812800" cy="812800"/>
          </a:xfrm>
        </p:grpSpPr>
        <p:sp>
          <p:nvSpPr>
            <p:cNvPr id="398" name="Google Shape;398;g39ab12478d3_0_39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9ab12478d3_0_39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0" name="Google Shape;400;g39ab12478d3_0_398"/>
          <p:cNvSpPr txBox="1"/>
          <p:nvPr/>
        </p:nvSpPr>
        <p:spPr>
          <a:xfrm>
            <a:off x="1964669" y="3362960"/>
            <a:ext cx="14358600" cy="5650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Open Sans"/>
                <a:ea typeface="Open Sans"/>
                <a:cs typeface="Open Sans"/>
                <a:sym typeface="Open Sans"/>
              </a:rPr>
              <a:t>Es una lista de funciones y elementos, ordenados según las prioridades, que son necesarios para cumplir con los objetivos y las expectativas del proyecto. </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Clr>
                <a:srgbClr val="000000"/>
              </a:buClr>
              <a:buSzPts val="3399"/>
              <a:buFont typeface="Arial"/>
              <a:buNone/>
            </a:pPr>
            <a:r>
              <a:t/>
            </a:r>
            <a:endParaRPr b="0" i="0" sz="3399" u="none" cap="none" strike="noStrike">
              <a:solidFill>
                <a:srgbClr val="F9F9F9"/>
              </a:solidFill>
              <a:latin typeface="Open Sans"/>
              <a:ea typeface="Open Sans"/>
              <a:cs typeface="Open Sans"/>
              <a:sym typeface="Open Sans"/>
            </a:endParaRPr>
          </a:p>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Open Sans"/>
                <a:ea typeface="Open Sans"/>
                <a:cs typeface="Open Sans"/>
                <a:sym typeface="Open Sans"/>
              </a:rPr>
              <a:t>Todas las tareas deben listarse en el product backlog, para que estén visibles ante todo el equipo y se pueda tener una visión panorámica de todo lo que se espera realizar.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grpSp>
        <p:nvGrpSpPr>
          <p:cNvPr id="405" name="Google Shape;405;g39ab12478d3_0_412"/>
          <p:cNvGrpSpPr/>
          <p:nvPr/>
        </p:nvGrpSpPr>
        <p:grpSpPr>
          <a:xfrm>
            <a:off x="-2791896" y="-6825767"/>
            <a:ext cx="12177451" cy="12177451"/>
            <a:chOff x="0" y="0"/>
            <a:chExt cx="812800" cy="812800"/>
          </a:xfrm>
        </p:grpSpPr>
        <p:sp>
          <p:nvSpPr>
            <p:cNvPr id="406" name="Google Shape;406;g39ab12478d3_0_4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39ab12478d3_0_4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8" name="Google Shape;408;g39ab12478d3_0_412"/>
          <p:cNvSpPr/>
          <p:nvPr/>
        </p:nvSpPr>
        <p:spPr>
          <a:xfrm rot="5279728">
            <a:off x="10001170" y="156388"/>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409" name="Google Shape;409;g39ab12478d3_0_412"/>
          <p:cNvSpPr/>
          <p:nvPr/>
        </p:nvSpPr>
        <p:spPr>
          <a:xfrm flipH="1" rot="10681197">
            <a:off x="8862984" y="-4453248"/>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39ab12478d3_0_412"/>
          <p:cNvSpPr txBox="1"/>
          <p:nvPr/>
        </p:nvSpPr>
        <p:spPr>
          <a:xfrm>
            <a:off x="1430491" y="315396"/>
            <a:ext cx="10510200" cy="2955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Qué incluye el  Product Backlog?</a:t>
            </a:r>
            <a:endParaRPr b="0" i="0" sz="1400" u="none" cap="none" strike="noStrike">
              <a:solidFill>
                <a:srgbClr val="000000"/>
              </a:solidFill>
              <a:latin typeface="Arial"/>
              <a:ea typeface="Arial"/>
              <a:cs typeface="Arial"/>
              <a:sym typeface="Arial"/>
            </a:endParaRPr>
          </a:p>
        </p:txBody>
      </p:sp>
      <p:cxnSp>
        <p:nvCxnSpPr>
          <p:cNvPr id="411" name="Google Shape;411;g39ab12478d3_0_412"/>
          <p:cNvCxnSpPr/>
          <p:nvPr/>
        </p:nvCxnSpPr>
        <p:spPr>
          <a:xfrm>
            <a:off x="3105087" y="4829932"/>
            <a:ext cx="0" cy="716400"/>
          </a:xfrm>
          <a:prstGeom prst="straightConnector1">
            <a:avLst/>
          </a:prstGeom>
          <a:noFill/>
          <a:ln cap="flat" cmpd="sng" w="28575">
            <a:solidFill>
              <a:srgbClr val="000000"/>
            </a:solidFill>
            <a:prstDash val="solid"/>
            <a:round/>
            <a:headEnd len="sm" w="sm" type="none"/>
            <a:tailEnd len="sm" w="sm" type="none"/>
          </a:ln>
        </p:spPr>
      </p:cxnSp>
      <p:cxnSp>
        <p:nvCxnSpPr>
          <p:cNvPr id="412" name="Google Shape;412;g39ab12478d3_0_412"/>
          <p:cNvCxnSpPr/>
          <p:nvPr/>
        </p:nvCxnSpPr>
        <p:spPr>
          <a:xfrm>
            <a:off x="3105087" y="7183826"/>
            <a:ext cx="0" cy="716400"/>
          </a:xfrm>
          <a:prstGeom prst="straightConnector1">
            <a:avLst/>
          </a:prstGeom>
          <a:noFill/>
          <a:ln cap="flat" cmpd="sng" w="28575">
            <a:solidFill>
              <a:srgbClr val="000000"/>
            </a:solidFill>
            <a:prstDash val="solid"/>
            <a:round/>
            <a:headEnd len="sm" w="sm" type="none"/>
            <a:tailEnd len="sm" w="sm" type="none"/>
          </a:ln>
        </p:spPr>
      </p:cxnSp>
      <p:cxnSp>
        <p:nvCxnSpPr>
          <p:cNvPr id="413" name="Google Shape;413;g39ab12478d3_0_412"/>
          <p:cNvCxnSpPr/>
          <p:nvPr/>
        </p:nvCxnSpPr>
        <p:spPr>
          <a:xfrm>
            <a:off x="8300430" y="4785349"/>
            <a:ext cx="0" cy="716400"/>
          </a:xfrm>
          <a:prstGeom prst="straightConnector1">
            <a:avLst/>
          </a:prstGeom>
          <a:noFill/>
          <a:ln cap="flat" cmpd="sng" w="28575">
            <a:solidFill>
              <a:srgbClr val="000000"/>
            </a:solidFill>
            <a:prstDash val="solid"/>
            <a:round/>
            <a:headEnd len="sm" w="sm" type="none"/>
            <a:tailEnd len="sm" w="sm" type="none"/>
          </a:ln>
        </p:spPr>
      </p:cxnSp>
      <p:grpSp>
        <p:nvGrpSpPr>
          <p:cNvPr id="414" name="Google Shape;414;g39ab12478d3_0_412"/>
          <p:cNvGrpSpPr/>
          <p:nvPr/>
        </p:nvGrpSpPr>
        <p:grpSpPr>
          <a:xfrm>
            <a:off x="-1143158" y="8926033"/>
            <a:ext cx="2573650" cy="2573650"/>
            <a:chOff x="0" y="0"/>
            <a:chExt cx="812800" cy="812800"/>
          </a:xfrm>
        </p:grpSpPr>
        <p:sp>
          <p:nvSpPr>
            <p:cNvPr id="415" name="Google Shape;415;g39ab12478d3_0_4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g39ab12478d3_0_41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7" name="Google Shape;417;g39ab12478d3_0_412"/>
          <p:cNvSpPr/>
          <p:nvPr/>
        </p:nvSpPr>
        <p:spPr>
          <a:xfrm>
            <a:off x="12512102" y="1347651"/>
            <a:ext cx="4772932" cy="5125296"/>
          </a:xfrm>
          <a:custGeom>
            <a:rect b="b" l="l" r="r" t="t"/>
            <a:pathLst>
              <a:path extrusionOk="0" h="5125296" w="4772932">
                <a:moveTo>
                  <a:pt x="0" y="0"/>
                </a:moveTo>
                <a:lnTo>
                  <a:pt x="4772932" y="0"/>
                </a:lnTo>
                <a:lnTo>
                  <a:pt x="4772932" y="5125296"/>
                </a:lnTo>
                <a:lnTo>
                  <a:pt x="0" y="5125296"/>
                </a:lnTo>
                <a:lnTo>
                  <a:pt x="0" y="0"/>
                </a:lnTo>
                <a:close/>
              </a:path>
            </a:pathLst>
          </a:custGeom>
          <a:blipFill rotWithShape="1">
            <a:blip r:embed="rId4">
              <a:alphaModFix/>
            </a:blip>
            <a:stretch>
              <a:fillRect b="0" l="0" r="0" t="0"/>
            </a:stretch>
          </a:blipFill>
          <a:ln>
            <a:noFill/>
          </a:ln>
        </p:spPr>
      </p:sp>
      <p:sp>
        <p:nvSpPr>
          <p:cNvPr id="418" name="Google Shape;418;g39ab12478d3_0_412"/>
          <p:cNvSpPr txBox="1"/>
          <p:nvPr/>
        </p:nvSpPr>
        <p:spPr>
          <a:xfrm>
            <a:off x="1210699" y="4500100"/>
            <a:ext cx="1750200" cy="1019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6622"/>
              <a:buFont typeface="Arial"/>
              <a:buNone/>
            </a:pPr>
            <a:r>
              <a:rPr b="1" i="0" lang="en-US" sz="6622" u="none" cap="none" strike="noStrike">
                <a:solidFill>
                  <a:srgbClr val="03989E"/>
                </a:solidFill>
                <a:latin typeface="Montserrat"/>
                <a:ea typeface="Montserrat"/>
                <a:cs typeface="Montserrat"/>
                <a:sym typeface="Montserrat"/>
              </a:rPr>
              <a:t>01.</a:t>
            </a:r>
            <a:endParaRPr b="0" i="0" sz="1400" u="none" cap="none" strike="noStrike">
              <a:solidFill>
                <a:srgbClr val="000000"/>
              </a:solidFill>
              <a:latin typeface="Arial"/>
              <a:ea typeface="Arial"/>
              <a:cs typeface="Arial"/>
              <a:sym typeface="Arial"/>
            </a:endParaRPr>
          </a:p>
        </p:txBody>
      </p:sp>
      <p:sp>
        <p:nvSpPr>
          <p:cNvPr id="419" name="Google Shape;419;g39ab12478d3_0_412"/>
          <p:cNvSpPr txBox="1"/>
          <p:nvPr/>
        </p:nvSpPr>
        <p:spPr>
          <a:xfrm>
            <a:off x="3503766" y="4865106"/>
            <a:ext cx="2254200" cy="11535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3122"/>
              <a:buFont typeface="Arial"/>
              <a:buNone/>
            </a:pPr>
            <a:r>
              <a:rPr b="0" i="0" lang="en-US" sz="3122" u="none" cap="none" strike="noStrike">
                <a:solidFill>
                  <a:srgbClr val="000000"/>
                </a:solidFill>
                <a:latin typeface="Poppins"/>
                <a:ea typeface="Poppins"/>
                <a:cs typeface="Poppins"/>
                <a:sym typeface="Poppins"/>
              </a:rPr>
              <a:t>Historias de Usuario</a:t>
            </a:r>
            <a:endParaRPr b="0" i="0" sz="1400" u="none" cap="none" strike="noStrike">
              <a:solidFill>
                <a:srgbClr val="000000"/>
              </a:solidFill>
              <a:latin typeface="Arial"/>
              <a:ea typeface="Arial"/>
              <a:cs typeface="Arial"/>
              <a:sym typeface="Arial"/>
            </a:endParaRPr>
          </a:p>
        </p:txBody>
      </p:sp>
      <p:sp>
        <p:nvSpPr>
          <p:cNvPr id="420" name="Google Shape;420;g39ab12478d3_0_412"/>
          <p:cNvSpPr txBox="1"/>
          <p:nvPr/>
        </p:nvSpPr>
        <p:spPr>
          <a:xfrm>
            <a:off x="1210699" y="6853995"/>
            <a:ext cx="1750200" cy="1019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6622"/>
              <a:buFont typeface="Arial"/>
              <a:buNone/>
            </a:pPr>
            <a:r>
              <a:rPr b="1" i="0" lang="en-US" sz="6622" u="none" cap="none" strike="noStrike">
                <a:solidFill>
                  <a:srgbClr val="03989E"/>
                </a:solidFill>
                <a:latin typeface="Montserrat"/>
                <a:ea typeface="Montserrat"/>
                <a:cs typeface="Montserrat"/>
                <a:sym typeface="Montserrat"/>
              </a:rPr>
              <a:t>03.</a:t>
            </a:r>
            <a:endParaRPr b="0" i="0" sz="1400" u="none" cap="none" strike="noStrike">
              <a:solidFill>
                <a:srgbClr val="000000"/>
              </a:solidFill>
              <a:latin typeface="Arial"/>
              <a:ea typeface="Arial"/>
              <a:cs typeface="Arial"/>
              <a:sym typeface="Arial"/>
            </a:endParaRPr>
          </a:p>
        </p:txBody>
      </p:sp>
      <p:sp>
        <p:nvSpPr>
          <p:cNvPr id="421" name="Google Shape;421;g39ab12478d3_0_412"/>
          <p:cNvSpPr txBox="1"/>
          <p:nvPr/>
        </p:nvSpPr>
        <p:spPr>
          <a:xfrm>
            <a:off x="3503766" y="7210471"/>
            <a:ext cx="2474100" cy="11535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3122"/>
              <a:buFont typeface="Arial"/>
              <a:buNone/>
            </a:pPr>
            <a:r>
              <a:rPr b="0" i="0" lang="en-US" sz="3122" u="none" cap="none" strike="noStrike">
                <a:solidFill>
                  <a:srgbClr val="000000"/>
                </a:solidFill>
                <a:latin typeface="Poppins"/>
                <a:ea typeface="Poppins"/>
                <a:cs typeface="Poppins"/>
                <a:sym typeface="Poppins"/>
              </a:rPr>
              <a:t>Reparación de errores</a:t>
            </a:r>
            <a:endParaRPr b="0" i="0" sz="1400" u="none" cap="none" strike="noStrike">
              <a:solidFill>
                <a:srgbClr val="000000"/>
              </a:solidFill>
              <a:latin typeface="Arial"/>
              <a:ea typeface="Arial"/>
              <a:cs typeface="Arial"/>
              <a:sym typeface="Arial"/>
            </a:endParaRPr>
          </a:p>
        </p:txBody>
      </p:sp>
      <p:sp>
        <p:nvSpPr>
          <p:cNvPr id="422" name="Google Shape;422;g39ab12478d3_0_412"/>
          <p:cNvSpPr txBox="1"/>
          <p:nvPr/>
        </p:nvSpPr>
        <p:spPr>
          <a:xfrm>
            <a:off x="6367456" y="4508470"/>
            <a:ext cx="1708200" cy="10194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6622"/>
              <a:buFont typeface="Arial"/>
              <a:buNone/>
            </a:pPr>
            <a:r>
              <a:rPr b="1" i="0" lang="en-US" sz="6622" u="none" cap="none" strike="noStrike">
                <a:solidFill>
                  <a:srgbClr val="03989E"/>
                </a:solidFill>
                <a:latin typeface="Montserrat"/>
                <a:ea typeface="Montserrat"/>
                <a:cs typeface="Montserrat"/>
                <a:sym typeface="Montserrat"/>
              </a:rPr>
              <a:t>02.</a:t>
            </a:r>
            <a:endParaRPr b="0" i="0" sz="1400" u="none" cap="none" strike="noStrike">
              <a:solidFill>
                <a:srgbClr val="000000"/>
              </a:solidFill>
              <a:latin typeface="Arial"/>
              <a:ea typeface="Arial"/>
              <a:cs typeface="Arial"/>
              <a:sym typeface="Arial"/>
            </a:endParaRPr>
          </a:p>
        </p:txBody>
      </p:sp>
      <p:sp>
        <p:nvSpPr>
          <p:cNvPr id="423" name="Google Shape;423;g39ab12478d3_0_412"/>
          <p:cNvSpPr txBox="1"/>
          <p:nvPr/>
        </p:nvSpPr>
        <p:spPr>
          <a:xfrm>
            <a:off x="8559160" y="4646846"/>
            <a:ext cx="3694200" cy="18261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3122"/>
              <a:buFont typeface="Arial"/>
              <a:buNone/>
            </a:pPr>
            <a:r>
              <a:rPr b="0" i="0" lang="en-US" sz="3122" u="none" cap="none" strike="noStrike">
                <a:solidFill>
                  <a:srgbClr val="000000"/>
                </a:solidFill>
                <a:latin typeface="Poppins"/>
                <a:ea typeface="Poppins"/>
                <a:cs typeface="Poppins"/>
                <a:sym typeface="Poppins"/>
              </a:rPr>
              <a:t>Ideas futuras que podrían añadirse más adelante.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grpSp>
        <p:nvGrpSpPr>
          <p:cNvPr id="428" name="Google Shape;428;g39ab12478d3_0_434"/>
          <p:cNvGrpSpPr/>
          <p:nvPr/>
        </p:nvGrpSpPr>
        <p:grpSpPr>
          <a:xfrm>
            <a:off x="-2791896" y="-6825767"/>
            <a:ext cx="12177451" cy="12177451"/>
            <a:chOff x="0" y="0"/>
            <a:chExt cx="812800" cy="812800"/>
          </a:xfrm>
        </p:grpSpPr>
        <p:sp>
          <p:nvSpPr>
            <p:cNvPr id="429" name="Google Shape;429;g39ab12478d3_0_4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g39ab12478d3_0_4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1" name="Google Shape;431;g39ab12478d3_0_434"/>
          <p:cNvSpPr/>
          <p:nvPr/>
        </p:nvSpPr>
        <p:spPr>
          <a:xfrm rot="5279728">
            <a:off x="10001170" y="156388"/>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432" name="Google Shape;432;g39ab12478d3_0_434"/>
          <p:cNvSpPr/>
          <p:nvPr/>
        </p:nvSpPr>
        <p:spPr>
          <a:xfrm flipH="1" rot="10681197">
            <a:off x="8862984" y="-4453248"/>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33" name="Google Shape;433;g39ab12478d3_0_434"/>
          <p:cNvGrpSpPr/>
          <p:nvPr/>
        </p:nvGrpSpPr>
        <p:grpSpPr>
          <a:xfrm>
            <a:off x="-1143158" y="8926033"/>
            <a:ext cx="2573650" cy="2573650"/>
            <a:chOff x="0" y="0"/>
            <a:chExt cx="812800" cy="812800"/>
          </a:xfrm>
        </p:grpSpPr>
        <p:sp>
          <p:nvSpPr>
            <p:cNvPr id="434" name="Google Shape;434;g39ab12478d3_0_43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39ab12478d3_0_43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6" name="Google Shape;436;g39ab12478d3_0_434"/>
          <p:cNvSpPr/>
          <p:nvPr/>
        </p:nvSpPr>
        <p:spPr>
          <a:xfrm>
            <a:off x="11072371" y="2346427"/>
            <a:ext cx="6648199" cy="6010576"/>
          </a:xfrm>
          <a:custGeom>
            <a:rect b="b" l="l" r="r" t="t"/>
            <a:pathLst>
              <a:path extrusionOk="0" h="6010576" w="6648199">
                <a:moveTo>
                  <a:pt x="0" y="0"/>
                </a:moveTo>
                <a:lnTo>
                  <a:pt x="6648199" y="0"/>
                </a:lnTo>
                <a:lnTo>
                  <a:pt x="6648199" y="6010576"/>
                </a:lnTo>
                <a:lnTo>
                  <a:pt x="0" y="6010576"/>
                </a:lnTo>
                <a:lnTo>
                  <a:pt x="0" y="0"/>
                </a:lnTo>
                <a:close/>
              </a:path>
            </a:pathLst>
          </a:custGeom>
          <a:blipFill rotWithShape="1">
            <a:blip r:embed="rId4">
              <a:alphaModFix/>
            </a:blip>
            <a:stretch>
              <a:fillRect b="0" l="0" r="-109912" t="0"/>
            </a:stretch>
          </a:blipFill>
          <a:ln>
            <a:noFill/>
          </a:ln>
        </p:spPr>
      </p:sp>
      <p:sp>
        <p:nvSpPr>
          <p:cNvPr id="437" name="Google Shape;437;g39ab12478d3_0_434"/>
          <p:cNvSpPr txBox="1"/>
          <p:nvPr/>
        </p:nvSpPr>
        <p:spPr>
          <a:xfrm>
            <a:off x="1430491" y="315396"/>
            <a:ext cx="10510200" cy="29553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Historias de Usuario</a:t>
            </a:r>
            <a:endParaRPr b="0" i="0" sz="1400" u="none" cap="none" strike="noStrike">
              <a:solidFill>
                <a:srgbClr val="000000"/>
              </a:solidFill>
              <a:latin typeface="Arial"/>
              <a:ea typeface="Arial"/>
              <a:cs typeface="Arial"/>
              <a:sym typeface="Arial"/>
            </a:endParaRPr>
          </a:p>
        </p:txBody>
      </p:sp>
      <p:sp>
        <p:nvSpPr>
          <p:cNvPr id="438" name="Google Shape;438;g39ab12478d3_0_434"/>
          <p:cNvSpPr txBox="1"/>
          <p:nvPr/>
        </p:nvSpPr>
        <p:spPr>
          <a:xfrm>
            <a:off x="1265715" y="4239736"/>
            <a:ext cx="9195900" cy="31719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3122"/>
              <a:buFont typeface="Arial"/>
              <a:buNone/>
            </a:pPr>
            <a:r>
              <a:rPr b="0" i="0" lang="en-US" sz="3122" u="none" cap="none" strike="noStrike">
                <a:solidFill>
                  <a:srgbClr val="000000"/>
                </a:solidFill>
                <a:latin typeface="Poppins"/>
                <a:ea typeface="Poppins"/>
                <a:cs typeface="Poppins"/>
                <a:sym typeface="Poppins"/>
              </a:rPr>
              <a:t>La historia de usuario es una definición de la necesidad del usuario, como un recordatorio de la conversación con el cliente, siendo un acuerdo final de mínimos para dar por buena la funcionalidad escrita y esperada.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grpSp>
        <p:nvGrpSpPr>
          <p:cNvPr id="443" name="Google Shape;443;g39ab12478d3_0_448"/>
          <p:cNvGrpSpPr/>
          <p:nvPr/>
        </p:nvGrpSpPr>
        <p:grpSpPr>
          <a:xfrm>
            <a:off x="-2791896" y="-6825767"/>
            <a:ext cx="12177451" cy="12177451"/>
            <a:chOff x="0" y="0"/>
            <a:chExt cx="812800" cy="812800"/>
          </a:xfrm>
        </p:grpSpPr>
        <p:sp>
          <p:nvSpPr>
            <p:cNvPr id="444" name="Google Shape;444;g39ab12478d3_0_4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g39ab12478d3_0_44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6" name="Google Shape;446;g39ab12478d3_0_448"/>
          <p:cNvSpPr/>
          <p:nvPr/>
        </p:nvSpPr>
        <p:spPr>
          <a:xfrm rot="5279728">
            <a:off x="10001170" y="156388"/>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447" name="Google Shape;447;g39ab12478d3_0_448"/>
          <p:cNvSpPr/>
          <p:nvPr/>
        </p:nvSpPr>
        <p:spPr>
          <a:xfrm flipH="1" rot="10681197">
            <a:off x="8862984" y="-4453248"/>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8" name="Google Shape;448;g39ab12478d3_0_448"/>
          <p:cNvGrpSpPr/>
          <p:nvPr/>
        </p:nvGrpSpPr>
        <p:grpSpPr>
          <a:xfrm>
            <a:off x="-1143158" y="8926033"/>
            <a:ext cx="2573650" cy="2573650"/>
            <a:chOff x="0" y="0"/>
            <a:chExt cx="812800" cy="812800"/>
          </a:xfrm>
        </p:grpSpPr>
        <p:sp>
          <p:nvSpPr>
            <p:cNvPr id="449" name="Google Shape;449;g39ab12478d3_0_44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9ab12478d3_0_44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1" name="Google Shape;451;g39ab12478d3_0_448"/>
          <p:cNvSpPr txBox="1"/>
          <p:nvPr/>
        </p:nvSpPr>
        <p:spPr>
          <a:xfrm>
            <a:off x="1103583" y="202668"/>
            <a:ext cx="16563900" cy="2955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Componentes de una Historia de usuario</a:t>
            </a:r>
            <a:endParaRPr b="0" i="0" sz="1400" u="none" cap="none" strike="noStrike">
              <a:solidFill>
                <a:srgbClr val="000000"/>
              </a:solidFill>
              <a:latin typeface="Arial"/>
              <a:ea typeface="Arial"/>
              <a:cs typeface="Arial"/>
              <a:sym typeface="Arial"/>
            </a:endParaRPr>
          </a:p>
        </p:txBody>
      </p:sp>
      <p:sp>
        <p:nvSpPr>
          <p:cNvPr id="452" name="Google Shape;452;g39ab12478d3_0_448"/>
          <p:cNvSpPr txBox="1"/>
          <p:nvPr/>
        </p:nvSpPr>
        <p:spPr>
          <a:xfrm>
            <a:off x="1265715" y="3852833"/>
            <a:ext cx="16401900" cy="6535800"/>
          </a:xfrm>
          <a:prstGeom prst="rect">
            <a:avLst/>
          </a:prstGeom>
          <a:noFill/>
          <a:ln>
            <a:noFill/>
          </a:ln>
        </p:spPr>
        <p:txBody>
          <a:bodyPr anchorCtr="0" anchor="t" bIns="0" lIns="0" spcFirstLastPara="1" rIns="0" wrap="square" tIns="0">
            <a:spAutoFit/>
          </a:bodyPr>
          <a:lstStyle/>
          <a:p>
            <a:pPr indent="-337064"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Título:</a:t>
            </a:r>
            <a:r>
              <a:rPr b="0" i="0" lang="en-US" sz="3122" u="none" cap="none" strike="noStrike">
                <a:solidFill>
                  <a:srgbClr val="000000"/>
                </a:solidFill>
                <a:latin typeface="Poppins"/>
                <a:ea typeface="Poppins"/>
                <a:cs typeface="Poppins"/>
                <a:sym typeface="Poppins"/>
              </a:rPr>
              <a:t> Un nombre breve y descriptivo que resume la funcionalidad o la necesidad. </a:t>
            </a:r>
            <a:endParaRPr b="0" i="0" sz="1400" u="none" cap="none" strike="noStrike">
              <a:solidFill>
                <a:srgbClr val="000000"/>
              </a:solidFill>
              <a:latin typeface="Arial"/>
              <a:ea typeface="Arial"/>
              <a:cs typeface="Arial"/>
              <a:sym typeface="Arial"/>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a:p>
            <a:pPr indent="-337064"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Descripción o narrativa:</a:t>
            </a:r>
            <a:r>
              <a:rPr b="0" i="0" lang="en-US" sz="3122" u="none" cap="none" strike="noStrike">
                <a:solidFill>
                  <a:srgbClr val="000000"/>
                </a:solidFill>
                <a:latin typeface="Poppins"/>
                <a:ea typeface="Poppins"/>
                <a:cs typeface="Poppins"/>
                <a:sym typeface="Poppins"/>
              </a:rPr>
              <a:t> Esta es la parte principal de la historia de usuario y se formula generalmente en el siguiente formato: </a:t>
            </a:r>
            <a:r>
              <a:rPr b="0" i="1" lang="en-US" sz="3122" u="none" cap="none" strike="noStrike">
                <a:solidFill>
                  <a:srgbClr val="000000"/>
                </a:solidFill>
                <a:latin typeface="Poppins"/>
                <a:ea typeface="Poppins"/>
                <a:cs typeface="Poppins"/>
                <a:sym typeface="Poppins"/>
              </a:rPr>
              <a:t>Como [tipo de usuario], quiero [acción o funcionalidad] para [beneficio o valor].</a:t>
            </a:r>
            <a:endParaRPr b="0" i="0" sz="1400" u="none" cap="none" strike="noStrike">
              <a:solidFill>
                <a:srgbClr val="000000"/>
              </a:solidFill>
              <a:latin typeface="Arial"/>
              <a:ea typeface="Arial"/>
              <a:cs typeface="Arial"/>
              <a:sym typeface="Arial"/>
            </a:endParaRPr>
          </a:p>
          <a:p>
            <a:pPr indent="0" lvl="0" marL="0" marR="0" rtl="0" algn="l">
              <a:lnSpc>
                <a:spcPct val="140006"/>
              </a:lnSpc>
              <a:spcBef>
                <a:spcPts val="0"/>
              </a:spcBef>
              <a:spcAft>
                <a:spcPts val="0"/>
              </a:spcAft>
              <a:buClr>
                <a:srgbClr val="000000"/>
              </a:buClr>
              <a:buSzPts val="3122"/>
              <a:buFont typeface="Arial"/>
              <a:buNone/>
            </a:pPr>
            <a:r>
              <a:t/>
            </a:r>
            <a:endParaRPr b="0" i="1" sz="3122" u="none" cap="none" strike="noStrike">
              <a:solidFill>
                <a:srgbClr val="000000"/>
              </a:solidFill>
              <a:latin typeface="Poppins"/>
              <a:ea typeface="Poppins"/>
              <a:cs typeface="Poppins"/>
              <a:sym typeface="Poppins"/>
            </a:endParaRPr>
          </a:p>
          <a:p>
            <a:pPr indent="-337064"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Criterios de aceptación:</a:t>
            </a:r>
            <a:r>
              <a:rPr b="0" i="0" lang="en-US" sz="3122" u="none" cap="none" strike="noStrike">
                <a:solidFill>
                  <a:srgbClr val="000000"/>
                </a:solidFill>
                <a:latin typeface="Poppins"/>
                <a:ea typeface="Poppins"/>
                <a:cs typeface="Poppins"/>
                <a:sym typeface="Poppins"/>
              </a:rPr>
              <a:t> Son las condiciones que deben cumplirse para que la historia de usuario se considere completa. </a:t>
            </a:r>
            <a:endParaRPr b="0" i="0" sz="1400" u="none" cap="none" strike="noStrike">
              <a:solidFill>
                <a:srgbClr val="000000"/>
              </a:solidFill>
              <a:latin typeface="Arial"/>
              <a:ea typeface="Arial"/>
              <a:cs typeface="Arial"/>
              <a:sym typeface="Arial"/>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grpSp>
        <p:nvGrpSpPr>
          <p:cNvPr id="457" name="Google Shape;457;g39ab12478d3_0_461"/>
          <p:cNvGrpSpPr/>
          <p:nvPr/>
        </p:nvGrpSpPr>
        <p:grpSpPr>
          <a:xfrm>
            <a:off x="-2791896" y="-6825767"/>
            <a:ext cx="12177451" cy="12177451"/>
            <a:chOff x="0" y="0"/>
            <a:chExt cx="812800" cy="812800"/>
          </a:xfrm>
        </p:grpSpPr>
        <p:sp>
          <p:nvSpPr>
            <p:cNvPr id="458" name="Google Shape;458;g39ab12478d3_0_4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9" name="Google Shape;459;g39ab12478d3_0_4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0" name="Google Shape;460;g39ab12478d3_0_461"/>
          <p:cNvSpPr/>
          <p:nvPr/>
        </p:nvSpPr>
        <p:spPr>
          <a:xfrm rot="5279728">
            <a:off x="10001170" y="156388"/>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461" name="Google Shape;461;g39ab12478d3_0_461"/>
          <p:cNvSpPr/>
          <p:nvPr/>
        </p:nvSpPr>
        <p:spPr>
          <a:xfrm flipH="1" rot="10681197">
            <a:off x="8862984" y="-4453248"/>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62" name="Google Shape;462;g39ab12478d3_0_461"/>
          <p:cNvGrpSpPr/>
          <p:nvPr/>
        </p:nvGrpSpPr>
        <p:grpSpPr>
          <a:xfrm>
            <a:off x="-1143158" y="8926033"/>
            <a:ext cx="2573650" cy="2573650"/>
            <a:chOff x="0" y="0"/>
            <a:chExt cx="812800" cy="812800"/>
          </a:xfrm>
        </p:grpSpPr>
        <p:sp>
          <p:nvSpPr>
            <p:cNvPr id="463" name="Google Shape;463;g39ab12478d3_0_4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g39ab12478d3_0_4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5" name="Google Shape;465;g39ab12478d3_0_461"/>
          <p:cNvSpPr txBox="1"/>
          <p:nvPr/>
        </p:nvSpPr>
        <p:spPr>
          <a:xfrm>
            <a:off x="1103583" y="202668"/>
            <a:ext cx="16563900" cy="2955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Componentes de una Historia de usuario</a:t>
            </a:r>
            <a:endParaRPr b="0" i="0" sz="1400" u="none" cap="none" strike="noStrike">
              <a:solidFill>
                <a:srgbClr val="000000"/>
              </a:solidFill>
              <a:latin typeface="Arial"/>
              <a:ea typeface="Arial"/>
              <a:cs typeface="Arial"/>
              <a:sym typeface="Arial"/>
            </a:endParaRPr>
          </a:p>
        </p:txBody>
      </p:sp>
      <p:sp>
        <p:nvSpPr>
          <p:cNvPr id="466" name="Google Shape;466;g39ab12478d3_0_461"/>
          <p:cNvSpPr txBox="1"/>
          <p:nvPr/>
        </p:nvSpPr>
        <p:spPr>
          <a:xfrm>
            <a:off x="1265715" y="4239736"/>
            <a:ext cx="16401900" cy="5862900"/>
          </a:xfrm>
          <a:prstGeom prst="rect">
            <a:avLst/>
          </a:prstGeom>
          <a:noFill/>
          <a:ln>
            <a:noFill/>
          </a:ln>
        </p:spPr>
        <p:txBody>
          <a:bodyPr anchorCtr="0" anchor="t" bIns="0" lIns="0" spcFirstLastPara="1" rIns="0" wrap="square" tIns="0">
            <a:spAutoFit/>
          </a:bodyPr>
          <a:lstStyle/>
          <a:p>
            <a:pPr indent="-337064"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Tamaño o estimación: </a:t>
            </a:r>
            <a:r>
              <a:rPr b="0" i="0" lang="en-US" sz="3122" u="none" cap="none" strike="noStrike">
                <a:solidFill>
                  <a:srgbClr val="000000"/>
                </a:solidFill>
                <a:latin typeface="Poppins"/>
                <a:ea typeface="Poppins"/>
                <a:cs typeface="Poppins"/>
                <a:sym typeface="Poppins"/>
              </a:rPr>
              <a:t>A veces se incluye una estimación del esfuerzo necesario para completar la historia, utilizando puntos de historia, horas, o cualquier otro método de estimación.</a:t>
            </a:r>
            <a:endParaRPr b="0" i="0" sz="1400" u="none" cap="none" strike="noStrike">
              <a:solidFill>
                <a:srgbClr val="000000"/>
              </a:solidFill>
              <a:latin typeface="Arial"/>
              <a:ea typeface="Arial"/>
              <a:cs typeface="Arial"/>
              <a:sym typeface="Arial"/>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a:p>
            <a:pPr indent="-337064" lvl="1" marL="674129" marR="0" rtl="0" algn="l">
              <a:lnSpc>
                <a:spcPct val="140006"/>
              </a:lnSpc>
              <a:spcBef>
                <a:spcPts val="0"/>
              </a:spcBef>
              <a:spcAft>
                <a:spcPts val="0"/>
              </a:spcAft>
              <a:buClr>
                <a:srgbClr val="000000"/>
              </a:buClr>
              <a:buSzPts val="3122"/>
              <a:buFont typeface="Arial"/>
              <a:buChar char="•"/>
            </a:pPr>
            <a:r>
              <a:rPr b="1" i="0" lang="en-US" sz="3122" u="none" cap="none" strike="noStrike">
                <a:solidFill>
                  <a:srgbClr val="000000"/>
                </a:solidFill>
                <a:latin typeface="Poppins"/>
                <a:ea typeface="Poppins"/>
                <a:cs typeface="Poppins"/>
                <a:sym typeface="Poppins"/>
              </a:rPr>
              <a:t>Prioridad:</a:t>
            </a:r>
            <a:r>
              <a:rPr b="0" i="0" lang="en-US" sz="3122" u="none" cap="none" strike="noStrike">
                <a:solidFill>
                  <a:srgbClr val="000000"/>
                </a:solidFill>
                <a:latin typeface="Poppins"/>
                <a:ea typeface="Poppins"/>
                <a:cs typeface="Poppins"/>
                <a:sym typeface="Poppins"/>
              </a:rPr>
              <a:t> Indica la importancia o urgencia de la historia dentro del backlog. Esta prioridad es generalmente definida por el Product Owner.</a:t>
            </a:r>
            <a:endParaRPr b="0" i="0" sz="1400" u="none" cap="none" strike="noStrike">
              <a:solidFill>
                <a:srgbClr val="000000"/>
              </a:solidFill>
              <a:latin typeface="Arial"/>
              <a:ea typeface="Arial"/>
              <a:cs typeface="Arial"/>
              <a:sym typeface="Arial"/>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a:p>
            <a:pPr indent="0" lvl="0" marL="0" marR="0" rtl="0" algn="l">
              <a:lnSpc>
                <a:spcPct val="140006"/>
              </a:lnSpc>
              <a:spcBef>
                <a:spcPts val="0"/>
              </a:spcBef>
              <a:spcAft>
                <a:spcPts val="0"/>
              </a:spcAft>
              <a:buClr>
                <a:srgbClr val="000000"/>
              </a:buClr>
              <a:buSzPts val="3122"/>
              <a:buFont typeface="Arial"/>
              <a:buNone/>
            </a:pPr>
            <a:r>
              <a:t/>
            </a:r>
            <a:endParaRPr b="0" i="0" sz="3122" u="none" cap="none" strike="noStrike">
              <a:solidFill>
                <a:srgbClr val="000000"/>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grpSp>
        <p:nvGrpSpPr>
          <p:cNvPr id="471" name="Google Shape;471;g39ab12478d3_0_474"/>
          <p:cNvGrpSpPr/>
          <p:nvPr/>
        </p:nvGrpSpPr>
        <p:grpSpPr>
          <a:xfrm>
            <a:off x="-2791896" y="-6825767"/>
            <a:ext cx="12177451" cy="12177451"/>
            <a:chOff x="0" y="0"/>
            <a:chExt cx="812800" cy="812800"/>
          </a:xfrm>
        </p:grpSpPr>
        <p:sp>
          <p:nvSpPr>
            <p:cNvPr id="472" name="Google Shape;472;g39ab12478d3_0_47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g39ab12478d3_0_47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4" name="Google Shape;474;g39ab12478d3_0_474"/>
          <p:cNvSpPr/>
          <p:nvPr/>
        </p:nvSpPr>
        <p:spPr>
          <a:xfrm rot="5279728">
            <a:off x="10001170" y="156388"/>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475" name="Google Shape;475;g39ab12478d3_0_474"/>
          <p:cNvSpPr/>
          <p:nvPr/>
        </p:nvSpPr>
        <p:spPr>
          <a:xfrm flipH="1" rot="10681197">
            <a:off x="8862984" y="-4453248"/>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6" name="Google Shape;476;g39ab12478d3_0_474"/>
          <p:cNvGrpSpPr/>
          <p:nvPr/>
        </p:nvGrpSpPr>
        <p:grpSpPr>
          <a:xfrm>
            <a:off x="-1143158" y="8926033"/>
            <a:ext cx="2573650" cy="2573650"/>
            <a:chOff x="0" y="0"/>
            <a:chExt cx="812800" cy="812800"/>
          </a:xfrm>
        </p:grpSpPr>
        <p:sp>
          <p:nvSpPr>
            <p:cNvPr id="477" name="Google Shape;477;g39ab12478d3_0_47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g39ab12478d3_0_47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9" name="Google Shape;479;g39ab12478d3_0_474"/>
          <p:cNvSpPr/>
          <p:nvPr/>
        </p:nvSpPr>
        <p:spPr>
          <a:xfrm>
            <a:off x="2755461" y="364593"/>
            <a:ext cx="13260249" cy="9690182"/>
          </a:xfrm>
          <a:custGeom>
            <a:rect b="b" l="l" r="r" t="t"/>
            <a:pathLst>
              <a:path extrusionOk="0" h="9690182" w="13260249">
                <a:moveTo>
                  <a:pt x="0" y="0"/>
                </a:moveTo>
                <a:lnTo>
                  <a:pt x="13260250" y="0"/>
                </a:lnTo>
                <a:lnTo>
                  <a:pt x="13260250" y="9690182"/>
                </a:lnTo>
                <a:lnTo>
                  <a:pt x="0" y="969018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6F6"/>
        </a:solidFill>
      </p:bgPr>
    </p:bg>
    <p:spTree>
      <p:nvGrpSpPr>
        <p:cNvPr id="483" name="Shape 483"/>
        <p:cNvGrpSpPr/>
        <p:nvPr/>
      </p:nvGrpSpPr>
      <p:grpSpPr>
        <a:xfrm>
          <a:off x="0" y="0"/>
          <a:ext cx="0" cy="0"/>
          <a:chOff x="0" y="0"/>
          <a:chExt cx="0" cy="0"/>
        </a:xfrm>
      </p:grpSpPr>
      <p:grpSp>
        <p:nvGrpSpPr>
          <p:cNvPr id="484" name="Google Shape;484;g39ab12478d3_0_486"/>
          <p:cNvGrpSpPr/>
          <p:nvPr/>
        </p:nvGrpSpPr>
        <p:grpSpPr>
          <a:xfrm>
            <a:off x="-6385468" y="-549114"/>
            <a:ext cx="9807407" cy="9807407"/>
            <a:chOff x="0" y="0"/>
            <a:chExt cx="812800" cy="812800"/>
          </a:xfrm>
        </p:grpSpPr>
        <p:sp>
          <p:nvSpPr>
            <p:cNvPr id="485" name="Google Shape;485;g39ab12478d3_0_48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9ab12478d3_0_48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7" name="Google Shape;487;g39ab12478d3_0_486"/>
          <p:cNvGrpSpPr/>
          <p:nvPr/>
        </p:nvGrpSpPr>
        <p:grpSpPr>
          <a:xfrm>
            <a:off x="15664096" y="-1498702"/>
            <a:ext cx="3978412" cy="3978412"/>
            <a:chOff x="0" y="0"/>
            <a:chExt cx="812800" cy="812800"/>
          </a:xfrm>
        </p:grpSpPr>
        <p:sp>
          <p:nvSpPr>
            <p:cNvPr id="488" name="Google Shape;488;g39ab12478d3_0_48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g39ab12478d3_0_48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0" name="Google Shape;490;g39ab12478d3_0_486"/>
          <p:cNvGrpSpPr/>
          <p:nvPr/>
        </p:nvGrpSpPr>
        <p:grpSpPr>
          <a:xfrm>
            <a:off x="13983437" y="841157"/>
            <a:ext cx="1147836" cy="1147836"/>
            <a:chOff x="0" y="0"/>
            <a:chExt cx="812800" cy="812800"/>
          </a:xfrm>
        </p:grpSpPr>
        <p:sp>
          <p:nvSpPr>
            <p:cNvPr id="491" name="Google Shape;491;g39ab12478d3_0_48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g39ab12478d3_0_486"/>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93" name="Google Shape;493;g39ab12478d3_0_486"/>
          <p:cNvSpPr/>
          <p:nvPr/>
        </p:nvSpPr>
        <p:spPr>
          <a:xfrm>
            <a:off x="4526845" y="216961"/>
            <a:ext cx="10030515" cy="9432994"/>
          </a:xfrm>
          <a:custGeom>
            <a:rect b="b" l="l" r="r" t="t"/>
            <a:pathLst>
              <a:path extrusionOk="0" h="9432994" w="10030515">
                <a:moveTo>
                  <a:pt x="0" y="0"/>
                </a:moveTo>
                <a:lnTo>
                  <a:pt x="10030515" y="0"/>
                </a:lnTo>
                <a:lnTo>
                  <a:pt x="10030515" y="9432994"/>
                </a:lnTo>
                <a:lnTo>
                  <a:pt x="0" y="943299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497" name="Shape 497"/>
        <p:cNvGrpSpPr/>
        <p:nvPr/>
      </p:nvGrpSpPr>
      <p:grpSpPr>
        <a:xfrm>
          <a:off x="0" y="0"/>
          <a:ext cx="0" cy="0"/>
          <a:chOff x="0" y="0"/>
          <a:chExt cx="0" cy="0"/>
        </a:xfrm>
      </p:grpSpPr>
      <p:grpSp>
        <p:nvGrpSpPr>
          <p:cNvPr id="498" name="Google Shape;498;g39ab12478d3_0_499"/>
          <p:cNvGrpSpPr/>
          <p:nvPr/>
        </p:nvGrpSpPr>
        <p:grpSpPr>
          <a:xfrm>
            <a:off x="11301677" y="841157"/>
            <a:ext cx="9807407" cy="9807407"/>
            <a:chOff x="0" y="0"/>
            <a:chExt cx="812800" cy="812800"/>
          </a:xfrm>
        </p:grpSpPr>
        <p:sp>
          <p:nvSpPr>
            <p:cNvPr id="499" name="Google Shape;499;g39ab12478d3_0_49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g39ab12478d3_0_49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1" name="Google Shape;501;g39ab12478d3_0_499"/>
          <p:cNvGrpSpPr/>
          <p:nvPr/>
        </p:nvGrpSpPr>
        <p:grpSpPr>
          <a:xfrm>
            <a:off x="15664096" y="-1498702"/>
            <a:ext cx="3978412" cy="3978412"/>
            <a:chOff x="0" y="0"/>
            <a:chExt cx="812800" cy="812800"/>
          </a:xfrm>
        </p:grpSpPr>
        <p:sp>
          <p:nvSpPr>
            <p:cNvPr id="502" name="Google Shape;502;g39ab12478d3_0_49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g39ab12478d3_0_49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4" name="Google Shape;504;g39ab12478d3_0_499"/>
          <p:cNvGrpSpPr/>
          <p:nvPr/>
        </p:nvGrpSpPr>
        <p:grpSpPr>
          <a:xfrm>
            <a:off x="13983437" y="841157"/>
            <a:ext cx="1147836" cy="1147836"/>
            <a:chOff x="0" y="0"/>
            <a:chExt cx="812800" cy="812800"/>
          </a:xfrm>
        </p:grpSpPr>
        <p:sp>
          <p:nvSpPr>
            <p:cNvPr id="505" name="Google Shape;505;g39ab12478d3_0_49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g39ab12478d3_0_49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7" name="Google Shape;507;g39ab12478d3_0_499"/>
          <p:cNvSpPr/>
          <p:nvPr/>
        </p:nvSpPr>
        <p:spPr>
          <a:xfrm>
            <a:off x="13352516" y="3469098"/>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3">
              <a:alphaModFix/>
            </a:blip>
            <a:stretch>
              <a:fillRect b="0" l="0" r="0" t="0"/>
            </a:stretch>
          </a:blipFill>
          <a:ln>
            <a:noFill/>
          </a:ln>
        </p:spPr>
      </p:sp>
      <p:sp>
        <p:nvSpPr>
          <p:cNvPr id="508" name="Google Shape;508;g39ab12478d3_0_499"/>
          <p:cNvSpPr txBox="1"/>
          <p:nvPr/>
        </p:nvSpPr>
        <p:spPr>
          <a:xfrm>
            <a:off x="4483539" y="860207"/>
            <a:ext cx="9321000" cy="12315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8000"/>
              <a:buFont typeface="Arial"/>
              <a:buNone/>
            </a:pPr>
            <a:r>
              <a:rPr b="1" i="0" lang="en-US" sz="8000" u="none" cap="none" strike="noStrike">
                <a:solidFill>
                  <a:srgbClr val="F9F9F9"/>
                </a:solidFill>
                <a:latin typeface="Montserrat"/>
                <a:ea typeface="Montserrat"/>
                <a:cs typeface="Montserrat"/>
                <a:sym typeface="Montserrat"/>
              </a:rPr>
              <a:t>Sprint Backlog</a:t>
            </a:r>
            <a:endParaRPr b="0" i="0" sz="1400" u="none" cap="none" strike="noStrike">
              <a:solidFill>
                <a:srgbClr val="000000"/>
              </a:solidFill>
              <a:latin typeface="Arial"/>
              <a:ea typeface="Arial"/>
              <a:cs typeface="Arial"/>
              <a:sym typeface="Arial"/>
            </a:endParaRPr>
          </a:p>
        </p:txBody>
      </p:sp>
      <p:sp>
        <p:nvSpPr>
          <p:cNvPr id="509" name="Google Shape;509;g39ab12478d3_0_499"/>
          <p:cNvSpPr txBox="1"/>
          <p:nvPr/>
        </p:nvSpPr>
        <p:spPr>
          <a:xfrm>
            <a:off x="1193723" y="3687622"/>
            <a:ext cx="10877100" cy="1988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Poppins"/>
                <a:ea typeface="Poppins"/>
                <a:cs typeface="Poppins"/>
                <a:sym typeface="Poppins"/>
              </a:rPr>
              <a:t>Es una lista de historias de usuario y tareas que ayuda a los equipos a centrarse en sus objetivos y priorizar su trabajo de forma eficaz. </a:t>
            </a:r>
            <a:endParaRPr b="0" i="0" sz="1400" u="none" cap="none" strike="noStrike">
              <a:solidFill>
                <a:srgbClr val="000000"/>
              </a:solidFill>
              <a:latin typeface="Arial"/>
              <a:ea typeface="Arial"/>
              <a:cs typeface="Arial"/>
              <a:sym typeface="Arial"/>
            </a:endParaRPr>
          </a:p>
        </p:txBody>
      </p:sp>
      <p:sp>
        <p:nvSpPr>
          <p:cNvPr id="510" name="Google Shape;510;g39ab12478d3_0_499"/>
          <p:cNvSpPr txBox="1"/>
          <p:nvPr/>
        </p:nvSpPr>
        <p:spPr>
          <a:xfrm>
            <a:off x="1193723" y="6622190"/>
            <a:ext cx="10628400" cy="1988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Poppins"/>
                <a:ea typeface="Poppins"/>
                <a:cs typeface="Poppins"/>
                <a:sym typeface="Poppins"/>
              </a:rPr>
              <a:t>Los elementos de un sprint backlog proceden del product backlog durante una sesión de planificación del sprint.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grpSp>
        <p:nvGrpSpPr>
          <p:cNvPr id="515" name="Google Shape;515;g39ab12478d3_0_515"/>
          <p:cNvGrpSpPr/>
          <p:nvPr/>
        </p:nvGrpSpPr>
        <p:grpSpPr>
          <a:xfrm>
            <a:off x="16395487" y="-293046"/>
            <a:ext cx="6123879" cy="6123879"/>
            <a:chOff x="0" y="0"/>
            <a:chExt cx="812800" cy="812800"/>
          </a:xfrm>
        </p:grpSpPr>
        <p:sp>
          <p:nvSpPr>
            <p:cNvPr id="516" name="Google Shape;516;g39ab12478d3_0_5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39ab12478d3_0_5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g39ab12478d3_0_515"/>
          <p:cNvGrpSpPr/>
          <p:nvPr/>
        </p:nvGrpSpPr>
        <p:grpSpPr>
          <a:xfrm>
            <a:off x="7279939" y="2768888"/>
            <a:ext cx="12177451" cy="12177451"/>
            <a:chOff x="0" y="0"/>
            <a:chExt cx="812800" cy="812800"/>
          </a:xfrm>
        </p:grpSpPr>
        <p:sp>
          <p:nvSpPr>
            <p:cNvPr id="519" name="Google Shape;519;g39ab12478d3_0_5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g39ab12478d3_0_5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1" name="Google Shape;521;g39ab12478d3_0_515"/>
          <p:cNvGrpSpPr/>
          <p:nvPr/>
        </p:nvGrpSpPr>
        <p:grpSpPr>
          <a:xfrm>
            <a:off x="15944148" y="-1827026"/>
            <a:ext cx="6123879" cy="6123879"/>
            <a:chOff x="0" y="0"/>
            <a:chExt cx="812800" cy="812800"/>
          </a:xfrm>
        </p:grpSpPr>
        <p:sp>
          <p:nvSpPr>
            <p:cNvPr id="522" name="Google Shape;522;g39ab12478d3_0_5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g39ab12478d3_0_5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4" name="Google Shape;524;g39ab12478d3_0_515"/>
          <p:cNvGrpSpPr/>
          <p:nvPr/>
        </p:nvGrpSpPr>
        <p:grpSpPr>
          <a:xfrm>
            <a:off x="-880628" y="9258300"/>
            <a:ext cx="1909348" cy="1909348"/>
            <a:chOff x="0" y="0"/>
            <a:chExt cx="812800" cy="812800"/>
          </a:xfrm>
        </p:grpSpPr>
        <p:sp>
          <p:nvSpPr>
            <p:cNvPr id="525" name="Google Shape;525;g39ab12478d3_0_5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39ab12478d3_0_5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7" name="Google Shape;527;g39ab12478d3_0_515"/>
          <p:cNvGrpSpPr/>
          <p:nvPr/>
        </p:nvGrpSpPr>
        <p:grpSpPr>
          <a:xfrm>
            <a:off x="785624" y="2029225"/>
            <a:ext cx="8134608" cy="7458630"/>
            <a:chOff x="0" y="-38100"/>
            <a:chExt cx="2142434" cy="1964400"/>
          </a:xfrm>
        </p:grpSpPr>
        <p:sp>
          <p:nvSpPr>
            <p:cNvPr id="528" name="Google Shape;528;g39ab12478d3_0_515"/>
            <p:cNvSpPr/>
            <p:nvPr/>
          </p:nvSpPr>
          <p:spPr>
            <a:xfrm>
              <a:off x="0" y="0"/>
              <a:ext cx="2142434" cy="1926286"/>
            </a:xfrm>
            <a:custGeom>
              <a:rect b="b" l="l" r="r" t="t"/>
              <a:pathLst>
                <a:path extrusionOk="0" h="1926286" w="2142434">
                  <a:moveTo>
                    <a:pt x="48538" y="0"/>
                  </a:moveTo>
                  <a:lnTo>
                    <a:pt x="2093895" y="0"/>
                  </a:lnTo>
                  <a:cubicBezTo>
                    <a:pt x="2106768" y="0"/>
                    <a:pt x="2119114" y="5114"/>
                    <a:pt x="2128217" y="14217"/>
                  </a:cubicBezTo>
                  <a:cubicBezTo>
                    <a:pt x="2137320" y="23319"/>
                    <a:pt x="2142434" y="35665"/>
                    <a:pt x="2142434" y="48538"/>
                  </a:cubicBezTo>
                  <a:lnTo>
                    <a:pt x="2142434" y="1877748"/>
                  </a:lnTo>
                  <a:cubicBezTo>
                    <a:pt x="2142434" y="1890621"/>
                    <a:pt x="2137320" y="1902967"/>
                    <a:pt x="2128217" y="1912070"/>
                  </a:cubicBezTo>
                  <a:cubicBezTo>
                    <a:pt x="2119114" y="1921172"/>
                    <a:pt x="2106768" y="1926286"/>
                    <a:pt x="2093895" y="1926286"/>
                  </a:cubicBezTo>
                  <a:lnTo>
                    <a:pt x="48538" y="1926286"/>
                  </a:lnTo>
                  <a:cubicBezTo>
                    <a:pt x="35665" y="1926286"/>
                    <a:pt x="23319" y="1921172"/>
                    <a:pt x="14217" y="1912070"/>
                  </a:cubicBezTo>
                  <a:cubicBezTo>
                    <a:pt x="5114" y="1902967"/>
                    <a:pt x="0" y="1890621"/>
                    <a:pt x="0" y="1877748"/>
                  </a:cubicBezTo>
                  <a:lnTo>
                    <a:pt x="0" y="48538"/>
                  </a:lnTo>
                  <a:cubicBezTo>
                    <a:pt x="0" y="35665"/>
                    <a:pt x="5114" y="23319"/>
                    <a:pt x="14217" y="14217"/>
                  </a:cubicBezTo>
                  <a:cubicBezTo>
                    <a:pt x="23319" y="5114"/>
                    <a:pt x="35665" y="0"/>
                    <a:pt x="48538" y="0"/>
                  </a:cubicBezTo>
                  <a:close/>
                </a:path>
              </a:pathLst>
            </a:custGeom>
            <a:solidFill>
              <a:srgbClr val="14475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39ab12478d3_0_515"/>
            <p:cNvSpPr txBox="1"/>
            <p:nvPr/>
          </p:nvSpPr>
          <p:spPr>
            <a:xfrm>
              <a:off x="0" y="-38100"/>
              <a:ext cx="2142300" cy="1964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0" name="Google Shape;530;g39ab12478d3_0_515"/>
          <p:cNvGrpSpPr/>
          <p:nvPr/>
        </p:nvGrpSpPr>
        <p:grpSpPr>
          <a:xfrm>
            <a:off x="9301403" y="2029225"/>
            <a:ext cx="8134608" cy="7458630"/>
            <a:chOff x="0" y="-38100"/>
            <a:chExt cx="2142434" cy="1964400"/>
          </a:xfrm>
        </p:grpSpPr>
        <p:sp>
          <p:nvSpPr>
            <p:cNvPr id="531" name="Google Shape;531;g39ab12478d3_0_515"/>
            <p:cNvSpPr/>
            <p:nvPr/>
          </p:nvSpPr>
          <p:spPr>
            <a:xfrm>
              <a:off x="0" y="0"/>
              <a:ext cx="2142434" cy="1926286"/>
            </a:xfrm>
            <a:custGeom>
              <a:rect b="b" l="l" r="r" t="t"/>
              <a:pathLst>
                <a:path extrusionOk="0" h="1926286" w="2142434">
                  <a:moveTo>
                    <a:pt x="48538" y="0"/>
                  </a:moveTo>
                  <a:lnTo>
                    <a:pt x="2093895" y="0"/>
                  </a:lnTo>
                  <a:cubicBezTo>
                    <a:pt x="2106768" y="0"/>
                    <a:pt x="2119114" y="5114"/>
                    <a:pt x="2128217" y="14217"/>
                  </a:cubicBezTo>
                  <a:cubicBezTo>
                    <a:pt x="2137320" y="23319"/>
                    <a:pt x="2142434" y="35665"/>
                    <a:pt x="2142434" y="48538"/>
                  </a:cubicBezTo>
                  <a:lnTo>
                    <a:pt x="2142434" y="1877748"/>
                  </a:lnTo>
                  <a:cubicBezTo>
                    <a:pt x="2142434" y="1890621"/>
                    <a:pt x="2137320" y="1902967"/>
                    <a:pt x="2128217" y="1912070"/>
                  </a:cubicBezTo>
                  <a:cubicBezTo>
                    <a:pt x="2119114" y="1921172"/>
                    <a:pt x="2106768" y="1926286"/>
                    <a:pt x="2093895" y="1926286"/>
                  </a:cubicBezTo>
                  <a:lnTo>
                    <a:pt x="48538" y="1926286"/>
                  </a:lnTo>
                  <a:cubicBezTo>
                    <a:pt x="35665" y="1926286"/>
                    <a:pt x="23319" y="1921172"/>
                    <a:pt x="14217" y="1912070"/>
                  </a:cubicBezTo>
                  <a:cubicBezTo>
                    <a:pt x="5114" y="1902967"/>
                    <a:pt x="0" y="1890621"/>
                    <a:pt x="0" y="1877748"/>
                  </a:cubicBezTo>
                  <a:lnTo>
                    <a:pt x="0" y="48538"/>
                  </a:lnTo>
                  <a:cubicBezTo>
                    <a:pt x="0" y="35665"/>
                    <a:pt x="5114" y="23319"/>
                    <a:pt x="14217" y="14217"/>
                  </a:cubicBezTo>
                  <a:cubicBezTo>
                    <a:pt x="23319" y="5114"/>
                    <a:pt x="35665" y="0"/>
                    <a:pt x="48538" y="0"/>
                  </a:cubicBezTo>
                  <a:close/>
                </a:path>
              </a:pathLst>
            </a:custGeom>
            <a:solidFill>
              <a:srgbClr val="B4450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g39ab12478d3_0_515"/>
            <p:cNvSpPr txBox="1"/>
            <p:nvPr/>
          </p:nvSpPr>
          <p:spPr>
            <a:xfrm>
              <a:off x="0" y="-38100"/>
              <a:ext cx="2142300" cy="1964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33" name="Google Shape;533;g39ab12478d3_0_515"/>
          <p:cNvGrpSpPr/>
          <p:nvPr/>
        </p:nvGrpSpPr>
        <p:grpSpPr>
          <a:xfrm>
            <a:off x="8546560" y="637467"/>
            <a:ext cx="1194897" cy="1206333"/>
            <a:chOff x="0" y="0"/>
            <a:chExt cx="812800" cy="820579"/>
          </a:xfrm>
        </p:grpSpPr>
        <p:sp>
          <p:nvSpPr>
            <p:cNvPr id="534" name="Google Shape;534;g39ab12478d3_0_515"/>
            <p:cNvSpPr/>
            <p:nvPr/>
          </p:nvSpPr>
          <p:spPr>
            <a:xfrm>
              <a:off x="0" y="0"/>
              <a:ext cx="812800" cy="820579"/>
            </a:xfrm>
            <a:custGeom>
              <a:rect b="b" l="l" r="r" t="t"/>
              <a:pathLst>
                <a:path extrusionOk="0" h="820579" w="812800">
                  <a:moveTo>
                    <a:pt x="406400" y="0"/>
                  </a:moveTo>
                  <a:cubicBezTo>
                    <a:pt x="181951" y="0"/>
                    <a:pt x="0" y="183693"/>
                    <a:pt x="0" y="410290"/>
                  </a:cubicBezTo>
                  <a:cubicBezTo>
                    <a:pt x="0" y="636886"/>
                    <a:pt x="181951" y="820579"/>
                    <a:pt x="406400" y="820579"/>
                  </a:cubicBezTo>
                  <a:cubicBezTo>
                    <a:pt x="630849" y="820579"/>
                    <a:pt x="812800" y="636886"/>
                    <a:pt x="812800" y="410290"/>
                  </a:cubicBezTo>
                  <a:cubicBezTo>
                    <a:pt x="812800" y="183693"/>
                    <a:pt x="630849" y="0"/>
                    <a:pt x="406400" y="0"/>
                  </a:cubicBezTo>
                  <a:close/>
                </a:path>
              </a:pathLst>
            </a:custGeom>
            <a:solidFill>
              <a:srgbClr val="FFFFFF"/>
            </a:solidFill>
            <a:ln cap="sq" cmpd="sng" w="3810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g39ab12478d3_0_515"/>
            <p:cNvSpPr txBox="1"/>
            <p:nvPr/>
          </p:nvSpPr>
          <p:spPr>
            <a:xfrm>
              <a:off x="76200" y="729"/>
              <a:ext cx="660300" cy="742800"/>
            </a:xfrm>
            <a:prstGeom prst="rect">
              <a:avLst/>
            </a:prstGeom>
            <a:noFill/>
            <a:ln>
              <a:noFill/>
            </a:ln>
          </p:spPr>
          <p:txBody>
            <a:bodyPr anchorCtr="0" anchor="ctr" bIns="50800" lIns="50800" spcFirstLastPara="1" rIns="50800" wrap="square" tIns="50800">
              <a:noAutofit/>
            </a:bodyPr>
            <a:lstStyle/>
            <a:p>
              <a:pPr indent="0" lvl="0" marL="0" marR="0" rtl="0" algn="ctr">
                <a:lnSpc>
                  <a:spcPct val="140010"/>
                </a:lnSpc>
                <a:spcBef>
                  <a:spcPts val="0"/>
                </a:spcBef>
                <a:spcAft>
                  <a:spcPts val="0"/>
                </a:spcAft>
                <a:buClr>
                  <a:srgbClr val="000000"/>
                </a:buClr>
                <a:buSzPts val="3999"/>
                <a:buFont typeface="Arial"/>
                <a:buNone/>
              </a:pPr>
              <a:r>
                <a:rPr b="1" i="0" lang="en-US" sz="3999" u="none" cap="none" strike="noStrike">
                  <a:solidFill>
                    <a:srgbClr val="000000"/>
                  </a:solidFill>
                  <a:latin typeface="Open Sans"/>
                  <a:ea typeface="Open Sans"/>
                  <a:cs typeface="Open Sans"/>
                  <a:sym typeface="Open Sans"/>
                </a:rPr>
                <a:t>VS</a:t>
              </a:r>
              <a:endParaRPr b="0" i="0" sz="1400" u="none" cap="none" strike="noStrike">
                <a:solidFill>
                  <a:srgbClr val="000000"/>
                </a:solidFill>
                <a:latin typeface="Arial"/>
                <a:ea typeface="Arial"/>
                <a:cs typeface="Arial"/>
                <a:sym typeface="Arial"/>
              </a:endParaRPr>
            </a:p>
          </p:txBody>
        </p:sp>
      </p:grpSp>
      <p:sp>
        <p:nvSpPr>
          <p:cNvPr id="536" name="Google Shape;536;g39ab12478d3_0_515"/>
          <p:cNvSpPr txBox="1"/>
          <p:nvPr/>
        </p:nvSpPr>
        <p:spPr>
          <a:xfrm>
            <a:off x="1530771" y="264862"/>
            <a:ext cx="6599100" cy="19671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6000"/>
              <a:buFont typeface="Arial"/>
              <a:buNone/>
            </a:pPr>
            <a:r>
              <a:rPr b="1" i="0" lang="en-US" sz="6000" u="none" cap="none" strike="noStrike">
                <a:solidFill>
                  <a:srgbClr val="144758"/>
                </a:solidFill>
                <a:latin typeface="Montserrat"/>
                <a:ea typeface="Montserrat"/>
                <a:cs typeface="Montserrat"/>
                <a:sym typeface="Montserrat"/>
              </a:rPr>
              <a:t>Product Backlog</a:t>
            </a:r>
            <a:endParaRPr b="0" i="0" sz="1400" u="none" cap="none" strike="noStrike">
              <a:solidFill>
                <a:srgbClr val="000000"/>
              </a:solidFill>
              <a:latin typeface="Arial"/>
              <a:ea typeface="Arial"/>
              <a:cs typeface="Arial"/>
              <a:sym typeface="Arial"/>
            </a:endParaRPr>
          </a:p>
        </p:txBody>
      </p:sp>
      <p:sp>
        <p:nvSpPr>
          <p:cNvPr id="537" name="Google Shape;537;g39ab12478d3_0_515"/>
          <p:cNvSpPr txBox="1"/>
          <p:nvPr/>
        </p:nvSpPr>
        <p:spPr>
          <a:xfrm>
            <a:off x="10158218" y="817712"/>
            <a:ext cx="6002100" cy="9234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6000"/>
              <a:buFont typeface="Arial"/>
              <a:buNone/>
            </a:pPr>
            <a:r>
              <a:rPr b="1" i="0" lang="en-US" sz="6000" u="none" cap="none" strike="noStrike">
                <a:solidFill>
                  <a:srgbClr val="B4450E"/>
                </a:solidFill>
                <a:latin typeface="Montserrat"/>
                <a:ea typeface="Montserrat"/>
                <a:cs typeface="Montserrat"/>
                <a:sym typeface="Montserrat"/>
              </a:rPr>
              <a:t>Sprint Backlog</a:t>
            </a:r>
            <a:endParaRPr b="0" i="0" sz="1400" u="none" cap="none" strike="noStrike">
              <a:solidFill>
                <a:srgbClr val="000000"/>
              </a:solidFill>
              <a:latin typeface="Arial"/>
              <a:ea typeface="Arial"/>
              <a:cs typeface="Arial"/>
              <a:sym typeface="Arial"/>
            </a:endParaRPr>
          </a:p>
        </p:txBody>
      </p:sp>
      <p:sp>
        <p:nvSpPr>
          <p:cNvPr id="538" name="Google Shape;538;g39ab12478d3_0_515"/>
          <p:cNvSpPr txBox="1"/>
          <p:nvPr/>
        </p:nvSpPr>
        <p:spPr>
          <a:xfrm>
            <a:off x="1414493" y="2721263"/>
            <a:ext cx="6212400" cy="1461900"/>
          </a:xfrm>
          <a:prstGeom prst="rect">
            <a:avLst/>
          </a:prstGeom>
          <a:noFill/>
          <a:ln>
            <a:noFill/>
          </a:ln>
        </p:spPr>
        <p:txBody>
          <a:bodyPr anchorCtr="0" anchor="t" bIns="0" lIns="0" spcFirstLastPara="1" rIns="0" wrap="square" tIns="0">
            <a:spAutoFit/>
          </a:bodyPr>
          <a:lstStyle/>
          <a:p>
            <a:pPr indent="-269872" lvl="1" marL="539749" marR="0" rtl="0" algn="l">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Cubre todas las funcionalidades y requisitos del producto a lo largo del proyecto.</a:t>
            </a:r>
            <a:endParaRPr b="0" i="0" sz="1400" u="none" cap="none" strike="noStrike">
              <a:solidFill>
                <a:srgbClr val="000000"/>
              </a:solidFill>
              <a:latin typeface="Arial"/>
              <a:ea typeface="Arial"/>
              <a:cs typeface="Arial"/>
              <a:sym typeface="Arial"/>
            </a:endParaRPr>
          </a:p>
        </p:txBody>
      </p:sp>
      <p:sp>
        <p:nvSpPr>
          <p:cNvPr id="539" name="Google Shape;539;g39ab12478d3_0_515"/>
          <p:cNvSpPr txBox="1"/>
          <p:nvPr/>
        </p:nvSpPr>
        <p:spPr>
          <a:xfrm>
            <a:off x="10158218" y="2721263"/>
            <a:ext cx="6212400" cy="1461900"/>
          </a:xfrm>
          <a:prstGeom prst="rect">
            <a:avLst/>
          </a:prstGeom>
          <a:noFill/>
          <a:ln>
            <a:noFill/>
          </a:ln>
        </p:spPr>
        <p:txBody>
          <a:bodyPr anchorCtr="0" anchor="t" bIns="0" lIns="0" spcFirstLastPara="1" rIns="0" wrap="square" tIns="0">
            <a:spAutoFit/>
          </a:bodyPr>
          <a:lstStyle/>
          <a:p>
            <a:pPr indent="-269872"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Se centra en el trabajo específico que se realizará durante un Sprint individual.</a:t>
            </a:r>
            <a:endParaRPr b="0" i="0" sz="1400" u="none" cap="none" strike="noStrike">
              <a:solidFill>
                <a:srgbClr val="000000"/>
              </a:solidFill>
              <a:latin typeface="Arial"/>
              <a:ea typeface="Arial"/>
              <a:cs typeface="Arial"/>
              <a:sym typeface="Arial"/>
            </a:endParaRPr>
          </a:p>
        </p:txBody>
      </p:sp>
      <p:sp>
        <p:nvSpPr>
          <p:cNvPr id="540" name="Google Shape;540;g39ab12478d3_0_515"/>
          <p:cNvSpPr txBox="1"/>
          <p:nvPr/>
        </p:nvSpPr>
        <p:spPr>
          <a:xfrm>
            <a:off x="1414493" y="4776338"/>
            <a:ext cx="6212400" cy="1461900"/>
          </a:xfrm>
          <a:prstGeom prst="rect">
            <a:avLst/>
          </a:prstGeom>
          <a:noFill/>
          <a:ln>
            <a:noFill/>
          </a:ln>
        </p:spPr>
        <p:txBody>
          <a:bodyPr anchorCtr="0" anchor="t" bIns="0" lIns="0" spcFirstLastPara="1" rIns="0" wrap="square" tIns="0">
            <a:spAutoFit/>
          </a:bodyPr>
          <a:lstStyle/>
          <a:p>
            <a:pPr indent="-269872"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Priorizado por el Product Owner basado en el valor que aporta cada elemento al producto.</a:t>
            </a:r>
            <a:endParaRPr b="0" i="0" sz="1400" u="none" cap="none" strike="noStrike">
              <a:solidFill>
                <a:srgbClr val="000000"/>
              </a:solidFill>
              <a:latin typeface="Arial"/>
              <a:ea typeface="Arial"/>
              <a:cs typeface="Arial"/>
              <a:sym typeface="Arial"/>
            </a:endParaRPr>
          </a:p>
        </p:txBody>
      </p:sp>
      <p:sp>
        <p:nvSpPr>
          <p:cNvPr id="541" name="Google Shape;541;g39ab12478d3_0_515"/>
          <p:cNvSpPr txBox="1"/>
          <p:nvPr/>
        </p:nvSpPr>
        <p:spPr>
          <a:xfrm>
            <a:off x="10158218" y="4776338"/>
            <a:ext cx="6212400" cy="1461900"/>
          </a:xfrm>
          <a:prstGeom prst="rect">
            <a:avLst/>
          </a:prstGeom>
          <a:noFill/>
          <a:ln>
            <a:noFill/>
          </a:ln>
        </p:spPr>
        <p:txBody>
          <a:bodyPr anchorCtr="0" anchor="t" bIns="0" lIns="0" spcFirstLastPara="1" rIns="0" wrap="square" tIns="0">
            <a:spAutoFit/>
          </a:bodyPr>
          <a:lstStyle/>
          <a:p>
            <a:pPr indent="-269872"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Son los elementos priorizados por el equipo de desarrollo y el Product Owner para el Sprint actual.</a:t>
            </a:r>
            <a:endParaRPr b="0" i="0" sz="1400" u="none" cap="none" strike="noStrike">
              <a:solidFill>
                <a:srgbClr val="000000"/>
              </a:solidFill>
              <a:latin typeface="Arial"/>
              <a:ea typeface="Arial"/>
              <a:cs typeface="Arial"/>
              <a:sym typeface="Arial"/>
            </a:endParaRPr>
          </a:p>
        </p:txBody>
      </p:sp>
      <p:sp>
        <p:nvSpPr>
          <p:cNvPr id="542" name="Google Shape;542;g39ab12478d3_0_515"/>
          <p:cNvSpPr txBox="1"/>
          <p:nvPr/>
        </p:nvSpPr>
        <p:spPr>
          <a:xfrm>
            <a:off x="1414493" y="6831413"/>
            <a:ext cx="6212400" cy="2538900"/>
          </a:xfrm>
          <a:prstGeom prst="rect">
            <a:avLst/>
          </a:prstGeom>
          <a:noFill/>
          <a:ln>
            <a:noFill/>
          </a:ln>
        </p:spPr>
        <p:txBody>
          <a:bodyPr anchorCtr="0" anchor="t" bIns="0" lIns="0" spcFirstLastPara="1" rIns="0" wrap="square" tIns="0">
            <a:spAutoFit/>
          </a:bodyPr>
          <a:lstStyle/>
          <a:p>
            <a:pPr indent="-269872"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Puede ajustarse y actualizarse regularmente en respuesta a nuevos conocimientos o cambios en los requisitos.</a:t>
            </a:r>
            <a:endParaRPr b="0" i="0" sz="1400" u="none" cap="none" strike="noStrike">
              <a:solidFill>
                <a:srgbClr val="000000"/>
              </a:solidFill>
              <a:latin typeface="Arial"/>
              <a:ea typeface="Arial"/>
              <a:cs typeface="Arial"/>
              <a:sym typeface="Arial"/>
            </a:endParaRPr>
          </a:p>
          <a:p>
            <a:pPr indent="0" lvl="0" marL="0" marR="0" rtl="0" algn="just">
              <a:lnSpc>
                <a:spcPct val="140016"/>
              </a:lnSpc>
              <a:spcBef>
                <a:spcPts val="0"/>
              </a:spcBef>
              <a:spcAft>
                <a:spcPts val="0"/>
              </a:spcAft>
              <a:buClr>
                <a:srgbClr val="000000"/>
              </a:buClr>
              <a:buSzPts val="2499"/>
              <a:buFont typeface="Arial"/>
              <a:buNone/>
            </a:pPr>
            <a:r>
              <a:t/>
            </a:r>
            <a:endParaRPr b="0" i="0" sz="2499" u="none" cap="none" strike="noStrike">
              <a:solidFill>
                <a:srgbClr val="FFFFFF"/>
              </a:solidFill>
              <a:latin typeface="Open Sans"/>
              <a:ea typeface="Open Sans"/>
              <a:cs typeface="Open Sans"/>
              <a:sym typeface="Open Sans"/>
            </a:endParaRPr>
          </a:p>
        </p:txBody>
      </p:sp>
      <p:sp>
        <p:nvSpPr>
          <p:cNvPr id="543" name="Google Shape;543;g39ab12478d3_0_515"/>
          <p:cNvSpPr txBox="1"/>
          <p:nvPr/>
        </p:nvSpPr>
        <p:spPr>
          <a:xfrm>
            <a:off x="10262437" y="6831413"/>
            <a:ext cx="6212400" cy="2000400"/>
          </a:xfrm>
          <a:prstGeom prst="rect">
            <a:avLst/>
          </a:prstGeom>
          <a:noFill/>
          <a:ln>
            <a:noFill/>
          </a:ln>
        </p:spPr>
        <p:txBody>
          <a:bodyPr anchorCtr="0" anchor="t" bIns="0" lIns="0" spcFirstLastPara="1" rIns="0" wrap="square" tIns="0">
            <a:spAutoFit/>
          </a:bodyPr>
          <a:lstStyle/>
          <a:p>
            <a:pPr indent="-269872" lvl="1" marL="539749" marR="0" rtl="0" algn="just">
              <a:lnSpc>
                <a:spcPct val="140016"/>
              </a:lnSpc>
              <a:spcBef>
                <a:spcPts val="0"/>
              </a:spcBef>
              <a:spcAft>
                <a:spcPts val="0"/>
              </a:spcAft>
              <a:buClr>
                <a:srgbClr val="FFFFFF"/>
              </a:buClr>
              <a:buSzPts val="2499"/>
              <a:buFont typeface="Arial"/>
              <a:buChar char="•"/>
            </a:pPr>
            <a:r>
              <a:rPr b="0" i="0" lang="en-US" sz="2499" u="none" cap="none" strike="noStrike">
                <a:solidFill>
                  <a:srgbClr val="FFFFFF"/>
                </a:solidFill>
                <a:latin typeface="Open Sans"/>
                <a:ea typeface="Open Sans"/>
                <a:cs typeface="Open Sans"/>
                <a:sym typeface="Open Sans"/>
              </a:rPr>
              <a:t>Estático durante el Sprint; los cambios solo se realizan en coordinación con el Product Owner durante el Sprint Planning.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9ab12478d3_0_547"/>
          <p:cNvSpPr/>
          <p:nvPr/>
        </p:nvSpPr>
        <p:spPr>
          <a:xfrm>
            <a:off x="1443496" y="1140338"/>
            <a:ext cx="15401007" cy="8006323"/>
          </a:xfrm>
          <a:custGeom>
            <a:rect b="b" l="l" r="r" t="t"/>
            <a:pathLst>
              <a:path extrusionOk="0" h="8006323" w="15401007">
                <a:moveTo>
                  <a:pt x="0" y="0"/>
                </a:moveTo>
                <a:lnTo>
                  <a:pt x="15401008" y="0"/>
                </a:lnTo>
                <a:lnTo>
                  <a:pt x="15401008" y="8006324"/>
                </a:lnTo>
                <a:lnTo>
                  <a:pt x="0" y="8006324"/>
                </a:lnTo>
                <a:lnTo>
                  <a:pt x="0" y="0"/>
                </a:lnTo>
                <a:close/>
              </a:path>
            </a:pathLst>
          </a:custGeom>
          <a:blipFill rotWithShape="1">
            <a:blip r:embed="rId3">
              <a:alphaModFix/>
            </a:blip>
            <a:stretch>
              <a:fillRect b="-4270" l="-2900" r="-2050" t="-197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552" name="Shape 552"/>
        <p:cNvGrpSpPr/>
        <p:nvPr/>
      </p:nvGrpSpPr>
      <p:grpSpPr>
        <a:xfrm>
          <a:off x="0" y="0"/>
          <a:ext cx="0" cy="0"/>
          <a:chOff x="0" y="0"/>
          <a:chExt cx="0" cy="0"/>
        </a:xfrm>
      </p:grpSpPr>
      <p:grpSp>
        <p:nvGrpSpPr>
          <p:cNvPr id="553" name="Google Shape;553;g39ab12478d3_0_551"/>
          <p:cNvGrpSpPr/>
          <p:nvPr/>
        </p:nvGrpSpPr>
        <p:grpSpPr>
          <a:xfrm>
            <a:off x="11301677" y="841157"/>
            <a:ext cx="9807407" cy="9807407"/>
            <a:chOff x="0" y="0"/>
            <a:chExt cx="812800" cy="812800"/>
          </a:xfrm>
        </p:grpSpPr>
        <p:sp>
          <p:nvSpPr>
            <p:cNvPr id="554" name="Google Shape;554;g39ab12478d3_0_55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39ab12478d3_0_55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56" name="Google Shape;556;g39ab12478d3_0_551"/>
          <p:cNvSpPr txBox="1"/>
          <p:nvPr/>
        </p:nvSpPr>
        <p:spPr>
          <a:xfrm>
            <a:off x="5236438" y="509573"/>
            <a:ext cx="9321000" cy="12315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8000"/>
              <a:buFont typeface="Arial"/>
              <a:buNone/>
            </a:pPr>
            <a:r>
              <a:rPr b="1" i="0" lang="en-US" sz="8000" u="none" cap="none" strike="noStrike">
                <a:solidFill>
                  <a:srgbClr val="F9F9F9"/>
                </a:solidFill>
                <a:latin typeface="Montserrat"/>
                <a:ea typeface="Montserrat"/>
                <a:cs typeface="Montserrat"/>
                <a:sym typeface="Montserrat"/>
              </a:rPr>
              <a:t>Increment</a:t>
            </a:r>
            <a:endParaRPr b="0" i="0" sz="1400" u="none" cap="none" strike="noStrike">
              <a:solidFill>
                <a:srgbClr val="000000"/>
              </a:solidFill>
              <a:latin typeface="Arial"/>
              <a:ea typeface="Arial"/>
              <a:cs typeface="Arial"/>
              <a:sym typeface="Arial"/>
            </a:endParaRPr>
          </a:p>
        </p:txBody>
      </p:sp>
      <p:grpSp>
        <p:nvGrpSpPr>
          <p:cNvPr id="557" name="Google Shape;557;g39ab12478d3_0_551"/>
          <p:cNvGrpSpPr/>
          <p:nvPr/>
        </p:nvGrpSpPr>
        <p:grpSpPr>
          <a:xfrm>
            <a:off x="15664096" y="-1498702"/>
            <a:ext cx="3978412" cy="3978412"/>
            <a:chOff x="0" y="0"/>
            <a:chExt cx="812800" cy="812800"/>
          </a:xfrm>
        </p:grpSpPr>
        <p:sp>
          <p:nvSpPr>
            <p:cNvPr id="558" name="Google Shape;558;g39ab12478d3_0_55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9ab12478d3_0_55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0" name="Google Shape;560;g39ab12478d3_0_551"/>
          <p:cNvGrpSpPr/>
          <p:nvPr/>
        </p:nvGrpSpPr>
        <p:grpSpPr>
          <a:xfrm>
            <a:off x="13983437" y="841157"/>
            <a:ext cx="1147836" cy="1147836"/>
            <a:chOff x="0" y="0"/>
            <a:chExt cx="812800" cy="812800"/>
          </a:xfrm>
        </p:grpSpPr>
        <p:sp>
          <p:nvSpPr>
            <p:cNvPr id="561" name="Google Shape;561;g39ab12478d3_0_55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39ab12478d3_0_55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3" name="Google Shape;563;g39ab12478d3_0_551"/>
          <p:cNvSpPr/>
          <p:nvPr/>
        </p:nvSpPr>
        <p:spPr>
          <a:xfrm>
            <a:off x="13393674" y="3086100"/>
            <a:ext cx="3837051" cy="4114800"/>
          </a:xfrm>
          <a:custGeom>
            <a:rect b="b" l="l" r="r" t="t"/>
            <a:pathLst>
              <a:path extrusionOk="0" h="4114800" w="3837051">
                <a:moveTo>
                  <a:pt x="0" y="0"/>
                </a:moveTo>
                <a:lnTo>
                  <a:pt x="3837051" y="0"/>
                </a:lnTo>
                <a:lnTo>
                  <a:pt x="3837051" y="4114800"/>
                </a:lnTo>
                <a:lnTo>
                  <a:pt x="0" y="4114800"/>
                </a:lnTo>
                <a:lnTo>
                  <a:pt x="0" y="0"/>
                </a:lnTo>
                <a:close/>
              </a:path>
            </a:pathLst>
          </a:custGeom>
          <a:blipFill rotWithShape="1">
            <a:blip r:embed="rId3">
              <a:alphaModFix/>
            </a:blip>
            <a:stretch>
              <a:fillRect b="0" l="0" r="0" t="0"/>
            </a:stretch>
          </a:blipFill>
          <a:ln>
            <a:noFill/>
          </a:ln>
        </p:spPr>
      </p:sp>
      <p:sp>
        <p:nvSpPr>
          <p:cNvPr id="564" name="Google Shape;564;g39ab12478d3_0_551"/>
          <p:cNvSpPr txBox="1"/>
          <p:nvPr/>
        </p:nvSpPr>
        <p:spPr>
          <a:xfrm>
            <a:off x="752899" y="3478578"/>
            <a:ext cx="11516400" cy="27207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Poppins"/>
                <a:ea typeface="Poppins"/>
                <a:cs typeface="Poppins"/>
                <a:sym typeface="Poppins"/>
              </a:rPr>
              <a:t>Es el conjunto de todas las funcionalidades, mejoras y cambios implementados durante un Sprint específico, integrados y probados para crear una versión del producto que sea potencialmente utilizable y entregable.</a:t>
            </a:r>
            <a:endParaRPr b="0" i="0" sz="1400" u="none" cap="none" strike="noStrike">
              <a:solidFill>
                <a:srgbClr val="000000"/>
              </a:solidFill>
              <a:latin typeface="Arial"/>
              <a:ea typeface="Arial"/>
              <a:cs typeface="Arial"/>
              <a:sym typeface="Arial"/>
            </a:endParaRPr>
          </a:p>
        </p:txBody>
      </p:sp>
      <p:sp>
        <p:nvSpPr>
          <p:cNvPr id="565" name="Google Shape;565;g39ab12478d3_0_551"/>
          <p:cNvSpPr txBox="1"/>
          <p:nvPr/>
        </p:nvSpPr>
        <p:spPr>
          <a:xfrm>
            <a:off x="752899" y="7369686"/>
            <a:ext cx="13804500" cy="1255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F9F9F9"/>
                </a:solidFill>
                <a:latin typeface="Poppins"/>
                <a:ea typeface="Poppins"/>
                <a:cs typeface="Poppins"/>
                <a:sym typeface="Poppins"/>
              </a:rPr>
              <a:t>Cada incremento debe cumplir con los estándares de calidad y funcionalidad definidos por el Product Owner y el cliente.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569" name="Shape 569"/>
        <p:cNvGrpSpPr/>
        <p:nvPr/>
      </p:nvGrpSpPr>
      <p:grpSpPr>
        <a:xfrm>
          <a:off x="0" y="0"/>
          <a:ext cx="0" cy="0"/>
          <a:chOff x="0" y="0"/>
          <a:chExt cx="0" cy="0"/>
        </a:xfrm>
      </p:grpSpPr>
      <p:grpSp>
        <p:nvGrpSpPr>
          <p:cNvPr id="570" name="Google Shape;570;g39ab12478d3_0_567"/>
          <p:cNvGrpSpPr/>
          <p:nvPr/>
        </p:nvGrpSpPr>
        <p:grpSpPr>
          <a:xfrm>
            <a:off x="11301677" y="841157"/>
            <a:ext cx="9807407" cy="9807407"/>
            <a:chOff x="0" y="0"/>
            <a:chExt cx="812800" cy="812800"/>
          </a:xfrm>
        </p:grpSpPr>
        <p:sp>
          <p:nvSpPr>
            <p:cNvPr id="571" name="Google Shape;571;g39ab12478d3_0_56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39ab12478d3_0_56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73" name="Google Shape;573;g39ab12478d3_0_567"/>
          <p:cNvSpPr txBox="1"/>
          <p:nvPr/>
        </p:nvSpPr>
        <p:spPr>
          <a:xfrm>
            <a:off x="5218330" y="4258964"/>
            <a:ext cx="10987200" cy="1539000"/>
          </a:xfrm>
          <a:prstGeom prst="rect">
            <a:avLst/>
          </a:prstGeom>
          <a:noFill/>
          <a:ln>
            <a:noFill/>
          </a:ln>
        </p:spPr>
        <p:txBody>
          <a:bodyPr anchorCtr="0" anchor="t" bIns="0" lIns="0" spcFirstLastPara="1" rIns="0" wrap="square" tIns="0">
            <a:spAutoFit/>
          </a:bodyPr>
          <a:lstStyle/>
          <a:p>
            <a:pPr indent="0" lvl="0" marL="0" marR="0" rtl="0" algn="l">
              <a:lnSpc>
                <a:spcPct val="117001"/>
              </a:lnSpc>
              <a:spcBef>
                <a:spcPts val="0"/>
              </a:spcBef>
              <a:spcAft>
                <a:spcPts val="0"/>
              </a:spcAft>
              <a:buClr>
                <a:srgbClr val="000000"/>
              </a:buClr>
              <a:buSzPts val="9999"/>
              <a:buFont typeface="Arial"/>
              <a:buNone/>
            </a:pPr>
            <a:r>
              <a:rPr b="1" i="0" lang="en-US" sz="9999" u="none" cap="none" strike="noStrike">
                <a:solidFill>
                  <a:srgbClr val="F9F9F9"/>
                </a:solidFill>
                <a:latin typeface="Montserrat"/>
                <a:ea typeface="Montserrat"/>
                <a:cs typeface="Montserrat"/>
                <a:sym typeface="Montserrat"/>
              </a:rPr>
              <a:t>Eventos </a:t>
            </a:r>
            <a:endParaRPr b="0" i="0" sz="1400" u="none" cap="none" strike="noStrike">
              <a:solidFill>
                <a:srgbClr val="000000"/>
              </a:solidFill>
              <a:latin typeface="Arial"/>
              <a:ea typeface="Arial"/>
              <a:cs typeface="Arial"/>
              <a:sym typeface="Arial"/>
            </a:endParaRPr>
          </a:p>
        </p:txBody>
      </p:sp>
      <p:grpSp>
        <p:nvGrpSpPr>
          <p:cNvPr id="574" name="Google Shape;574;g39ab12478d3_0_567"/>
          <p:cNvGrpSpPr/>
          <p:nvPr/>
        </p:nvGrpSpPr>
        <p:grpSpPr>
          <a:xfrm>
            <a:off x="-1804968" y="3928747"/>
            <a:ext cx="3978412" cy="3978412"/>
            <a:chOff x="0" y="0"/>
            <a:chExt cx="812800" cy="812800"/>
          </a:xfrm>
        </p:grpSpPr>
        <p:sp>
          <p:nvSpPr>
            <p:cNvPr id="575" name="Google Shape;575;g39ab12478d3_0_56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39ab12478d3_0_56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g39ab12478d3_0_567"/>
          <p:cNvGrpSpPr/>
          <p:nvPr/>
        </p:nvGrpSpPr>
        <p:grpSpPr>
          <a:xfrm>
            <a:off x="-119146" y="8684377"/>
            <a:ext cx="1147836" cy="1147836"/>
            <a:chOff x="0" y="0"/>
            <a:chExt cx="812800" cy="812800"/>
          </a:xfrm>
        </p:grpSpPr>
        <p:sp>
          <p:nvSpPr>
            <p:cNvPr id="578" name="Google Shape;578;g39ab12478d3_0_56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39ab12478d3_0_56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grpSp>
        <p:nvGrpSpPr>
          <p:cNvPr id="584" name="Google Shape;584;g39ab12478d3_0_580"/>
          <p:cNvGrpSpPr/>
          <p:nvPr/>
        </p:nvGrpSpPr>
        <p:grpSpPr>
          <a:xfrm>
            <a:off x="9172451" y="908552"/>
            <a:ext cx="12177451" cy="12177451"/>
            <a:chOff x="0" y="0"/>
            <a:chExt cx="812800" cy="812800"/>
          </a:xfrm>
        </p:grpSpPr>
        <p:sp>
          <p:nvSpPr>
            <p:cNvPr id="585" name="Google Shape;585;g39ab12478d3_0_5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g39ab12478d3_0_58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7" name="Google Shape;587;g39ab12478d3_0_580"/>
          <p:cNvSpPr txBox="1"/>
          <p:nvPr/>
        </p:nvSpPr>
        <p:spPr>
          <a:xfrm>
            <a:off x="4818778" y="726131"/>
            <a:ext cx="8519700" cy="12315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Sprint</a:t>
            </a:r>
            <a:endParaRPr b="0" i="0" sz="1400" u="none" cap="none" strike="noStrike">
              <a:solidFill>
                <a:srgbClr val="000000"/>
              </a:solidFill>
              <a:latin typeface="Arial"/>
              <a:ea typeface="Arial"/>
              <a:cs typeface="Arial"/>
              <a:sym typeface="Arial"/>
            </a:endParaRPr>
          </a:p>
        </p:txBody>
      </p:sp>
      <p:sp>
        <p:nvSpPr>
          <p:cNvPr id="588" name="Google Shape;588;g39ab12478d3_0_580"/>
          <p:cNvSpPr/>
          <p:nvPr/>
        </p:nvSpPr>
        <p:spPr>
          <a:xfrm flipH="1" rot="4914294">
            <a:off x="-6128175" y="-1084198"/>
            <a:ext cx="9639972" cy="963997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9" name="Google Shape;589;g39ab12478d3_0_580"/>
          <p:cNvGrpSpPr/>
          <p:nvPr/>
        </p:nvGrpSpPr>
        <p:grpSpPr>
          <a:xfrm>
            <a:off x="-565220" y="8026060"/>
            <a:ext cx="734527" cy="734527"/>
            <a:chOff x="0" y="0"/>
            <a:chExt cx="812800" cy="812800"/>
          </a:xfrm>
        </p:grpSpPr>
        <p:sp>
          <p:nvSpPr>
            <p:cNvPr id="590" name="Google Shape;590;g39ab12478d3_0_5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g39ab12478d3_0_58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2" name="Google Shape;592;g39ab12478d3_0_580"/>
          <p:cNvSpPr/>
          <p:nvPr/>
        </p:nvSpPr>
        <p:spPr>
          <a:xfrm flipH="1" rot="5400000">
            <a:off x="-5192889" y="-3013837"/>
            <a:ext cx="9643853" cy="964385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93" name="Google Shape;593;g39ab12478d3_0_580"/>
          <p:cNvGrpSpPr/>
          <p:nvPr/>
        </p:nvGrpSpPr>
        <p:grpSpPr>
          <a:xfrm>
            <a:off x="15226066" y="-3136897"/>
            <a:ext cx="6123879" cy="6123879"/>
            <a:chOff x="0" y="0"/>
            <a:chExt cx="812800" cy="812800"/>
          </a:xfrm>
        </p:grpSpPr>
        <p:sp>
          <p:nvSpPr>
            <p:cNvPr id="594" name="Google Shape;594;g39ab12478d3_0_5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g39ab12478d3_0_58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96" name="Google Shape;596;g39ab12478d3_0_580"/>
          <p:cNvGrpSpPr/>
          <p:nvPr/>
        </p:nvGrpSpPr>
        <p:grpSpPr>
          <a:xfrm>
            <a:off x="16324255" y="9258300"/>
            <a:ext cx="1742074" cy="1742074"/>
            <a:chOff x="0" y="0"/>
            <a:chExt cx="812800" cy="812800"/>
          </a:xfrm>
        </p:grpSpPr>
        <p:sp>
          <p:nvSpPr>
            <p:cNvPr id="597" name="Google Shape;597;g39ab12478d3_0_58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g39ab12478d3_0_580"/>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99" name="Google Shape;599;g39ab12478d3_0_580"/>
          <p:cNvSpPr txBox="1"/>
          <p:nvPr/>
        </p:nvSpPr>
        <p:spPr>
          <a:xfrm>
            <a:off x="2934569" y="3289099"/>
            <a:ext cx="12990900" cy="1255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Es un período breve de tiempo fijo en el que un equipo de scrum trabaja para completar una cantidad de trabajo establecida.</a:t>
            </a:r>
            <a:endParaRPr b="0" i="0" sz="1400" u="none" cap="none" strike="noStrike">
              <a:solidFill>
                <a:srgbClr val="000000"/>
              </a:solidFill>
              <a:latin typeface="Arial"/>
              <a:ea typeface="Arial"/>
              <a:cs typeface="Arial"/>
              <a:sym typeface="Arial"/>
            </a:endParaRPr>
          </a:p>
        </p:txBody>
      </p:sp>
      <p:sp>
        <p:nvSpPr>
          <p:cNvPr id="600" name="Google Shape;600;g39ab12478d3_0_580"/>
          <p:cNvSpPr txBox="1"/>
          <p:nvPr/>
        </p:nvSpPr>
        <p:spPr>
          <a:xfrm>
            <a:off x="2934569" y="6035586"/>
            <a:ext cx="12990900" cy="12558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Con scrum, un producto se basa en una serie de sprints que dividen proyectos grandes y complejos en porciones minúsculas.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9ab12478d3_0_600"/>
          <p:cNvSpPr/>
          <p:nvPr/>
        </p:nvSpPr>
        <p:spPr>
          <a:xfrm rot="5279728">
            <a:off x="9275631" y="93050"/>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606" name="Google Shape;606;g39ab12478d3_0_600"/>
          <p:cNvGrpSpPr/>
          <p:nvPr/>
        </p:nvGrpSpPr>
        <p:grpSpPr>
          <a:xfrm>
            <a:off x="12361957" y="4198259"/>
            <a:ext cx="12177451" cy="12177451"/>
            <a:chOff x="0" y="0"/>
            <a:chExt cx="812800" cy="812800"/>
          </a:xfrm>
        </p:grpSpPr>
        <p:sp>
          <p:nvSpPr>
            <p:cNvPr id="607" name="Google Shape;607;g39ab12478d3_0_6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g39ab12478d3_0_6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9" name="Google Shape;609;g39ab12478d3_0_600"/>
          <p:cNvSpPr txBox="1"/>
          <p:nvPr/>
        </p:nvSpPr>
        <p:spPr>
          <a:xfrm>
            <a:off x="1431426" y="1124000"/>
            <a:ext cx="85593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900"/>
              <a:buFont typeface="Arial"/>
              <a:buNone/>
            </a:pPr>
            <a:r>
              <a:rPr b="1" i="0" lang="en-US" sz="7900" u="none" cap="none" strike="noStrike">
                <a:solidFill>
                  <a:srgbClr val="000000"/>
                </a:solidFill>
                <a:latin typeface="Montserrat"/>
                <a:ea typeface="Montserrat"/>
                <a:cs typeface="Montserrat"/>
                <a:sym typeface="Montserrat"/>
              </a:rPr>
              <a:t>Características </a:t>
            </a:r>
            <a:endParaRPr b="0" i="0" sz="1400" u="none" cap="none" strike="noStrike">
              <a:solidFill>
                <a:srgbClr val="000000"/>
              </a:solidFill>
              <a:latin typeface="Arial"/>
              <a:ea typeface="Arial"/>
              <a:cs typeface="Arial"/>
              <a:sym typeface="Arial"/>
            </a:endParaRPr>
          </a:p>
        </p:txBody>
      </p:sp>
      <p:grpSp>
        <p:nvGrpSpPr>
          <p:cNvPr id="610" name="Google Shape;610;g39ab12478d3_0_600"/>
          <p:cNvGrpSpPr/>
          <p:nvPr/>
        </p:nvGrpSpPr>
        <p:grpSpPr>
          <a:xfrm>
            <a:off x="14733054" y="-2477251"/>
            <a:ext cx="3505932" cy="3505932"/>
            <a:chOff x="0" y="0"/>
            <a:chExt cx="812800" cy="812800"/>
          </a:xfrm>
        </p:grpSpPr>
        <p:sp>
          <p:nvSpPr>
            <p:cNvPr id="611" name="Google Shape;611;g39ab12478d3_0_6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39ab12478d3_0_6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3" name="Google Shape;613;g39ab12478d3_0_600"/>
          <p:cNvGrpSpPr/>
          <p:nvPr/>
        </p:nvGrpSpPr>
        <p:grpSpPr>
          <a:xfrm>
            <a:off x="3005483" y="-775744"/>
            <a:ext cx="1551473" cy="1551473"/>
            <a:chOff x="0" y="0"/>
            <a:chExt cx="812800" cy="812800"/>
          </a:xfrm>
        </p:grpSpPr>
        <p:sp>
          <p:nvSpPr>
            <p:cNvPr id="614" name="Google Shape;614;g39ab12478d3_0_6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g39ab12478d3_0_6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16" name="Google Shape;616;g39ab12478d3_0_600"/>
          <p:cNvGrpSpPr/>
          <p:nvPr/>
        </p:nvGrpSpPr>
        <p:grpSpPr>
          <a:xfrm>
            <a:off x="-3909957" y="8534677"/>
            <a:ext cx="6437620" cy="6437620"/>
            <a:chOff x="0" y="0"/>
            <a:chExt cx="812800" cy="812800"/>
          </a:xfrm>
        </p:grpSpPr>
        <p:sp>
          <p:nvSpPr>
            <p:cNvPr id="617" name="Google Shape;617;g39ab12478d3_0_60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g39ab12478d3_0_600"/>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9" name="Google Shape;619;g39ab12478d3_0_600"/>
          <p:cNvSpPr txBox="1"/>
          <p:nvPr/>
        </p:nvSpPr>
        <p:spPr>
          <a:xfrm>
            <a:off x="3258984" y="2987079"/>
            <a:ext cx="8371800" cy="6449100"/>
          </a:xfrm>
          <a:prstGeom prst="rect">
            <a:avLst/>
          </a:prstGeom>
          <a:noFill/>
          <a:ln>
            <a:noFill/>
          </a:ln>
        </p:spPr>
        <p:txBody>
          <a:bodyPr anchorCtr="0" anchor="t" bIns="0" lIns="0" spcFirstLastPara="1" rIns="0" wrap="square" tIns="0">
            <a:spAutoFit/>
          </a:bodyPr>
          <a:lstStyle/>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Duración fija</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434"/>
              <a:buFont typeface="Arial"/>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Objetivo definido</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434"/>
              <a:buFont typeface="Arial"/>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Equipo autónomo</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434"/>
              <a:buFont typeface="Arial"/>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Potencialmente entregable</a:t>
            </a:r>
            <a:endParaRPr b="0" i="0" sz="1400" u="none" cap="none" strike="noStrike">
              <a:solidFill>
                <a:srgbClr val="000000"/>
              </a:solidFill>
              <a:latin typeface="Arial"/>
              <a:ea typeface="Arial"/>
              <a:cs typeface="Arial"/>
              <a:sym typeface="Arial"/>
            </a:endParaRPr>
          </a:p>
          <a:p>
            <a:pPr indent="0" lvl="0" marL="0" marR="0" rtl="0" algn="just">
              <a:lnSpc>
                <a:spcPct val="140011"/>
              </a:lnSpc>
              <a:spcBef>
                <a:spcPts val="0"/>
              </a:spcBef>
              <a:spcAft>
                <a:spcPts val="0"/>
              </a:spcAft>
              <a:buClr>
                <a:srgbClr val="000000"/>
              </a:buClr>
              <a:buSzPts val="3434"/>
              <a:buFont typeface="Arial"/>
              <a:buNone/>
            </a:pPr>
            <a:r>
              <a:t/>
            </a:r>
            <a:endParaRPr b="0" i="0" sz="3434" u="none" cap="none" strike="noStrike">
              <a:solidFill>
                <a:srgbClr val="000000"/>
              </a:solidFill>
              <a:latin typeface="Poppins"/>
              <a:ea typeface="Poppins"/>
              <a:cs typeface="Poppins"/>
              <a:sym typeface="Poppins"/>
            </a:endParaRPr>
          </a:p>
          <a:p>
            <a:pPr indent="-370741" lvl="1" marL="741482" marR="0" rtl="0" algn="just">
              <a:lnSpc>
                <a:spcPct val="140011"/>
              </a:lnSpc>
              <a:spcBef>
                <a:spcPts val="0"/>
              </a:spcBef>
              <a:spcAft>
                <a:spcPts val="0"/>
              </a:spcAft>
              <a:buClr>
                <a:srgbClr val="000000"/>
              </a:buClr>
              <a:buSzPts val="3434"/>
              <a:buFont typeface="Arial"/>
              <a:buChar char="•"/>
            </a:pPr>
            <a:r>
              <a:rPr b="0" i="0" lang="en-US" sz="3434" u="none" cap="none" strike="noStrike">
                <a:solidFill>
                  <a:srgbClr val="000000"/>
                </a:solidFill>
                <a:latin typeface="Poppins"/>
                <a:ea typeface="Poppins"/>
                <a:cs typeface="Poppins"/>
                <a:sym typeface="Poppins"/>
              </a:rPr>
              <a:t>Iterativo e incremental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grpSp>
        <p:nvGrpSpPr>
          <p:cNvPr id="624" name="Google Shape;624;g39ab12478d3_0_618"/>
          <p:cNvGrpSpPr/>
          <p:nvPr/>
        </p:nvGrpSpPr>
        <p:grpSpPr>
          <a:xfrm>
            <a:off x="17526717" y="2411801"/>
            <a:ext cx="7594641" cy="7594641"/>
            <a:chOff x="0" y="0"/>
            <a:chExt cx="812800" cy="812800"/>
          </a:xfrm>
        </p:grpSpPr>
        <p:sp>
          <p:nvSpPr>
            <p:cNvPr id="625" name="Google Shape;625;g39ab12478d3_0_6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g39ab12478d3_0_61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7" name="Google Shape;627;g39ab12478d3_0_618"/>
          <p:cNvSpPr/>
          <p:nvPr/>
        </p:nvSpPr>
        <p:spPr>
          <a:xfrm rot="-5400000">
            <a:off x="15733302" y="7324548"/>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628" name="Google Shape;628;g39ab12478d3_0_618"/>
          <p:cNvSpPr txBox="1"/>
          <p:nvPr/>
        </p:nvSpPr>
        <p:spPr>
          <a:xfrm>
            <a:off x="0" y="258763"/>
            <a:ext cx="14342400" cy="1231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¿Qué engloba un Sprint?</a:t>
            </a:r>
            <a:endParaRPr b="0" i="0" sz="1400" u="none" cap="none" strike="noStrike">
              <a:solidFill>
                <a:srgbClr val="000000"/>
              </a:solidFill>
              <a:latin typeface="Arial"/>
              <a:ea typeface="Arial"/>
              <a:cs typeface="Arial"/>
              <a:sym typeface="Arial"/>
            </a:endParaRPr>
          </a:p>
        </p:txBody>
      </p:sp>
      <p:sp>
        <p:nvSpPr>
          <p:cNvPr id="629" name="Google Shape;629;g39ab12478d3_0_618"/>
          <p:cNvSpPr/>
          <p:nvPr/>
        </p:nvSpPr>
        <p:spPr>
          <a:xfrm flipH="1" rot="88887">
            <a:off x="-2702181" y="6763014"/>
            <a:ext cx="5798243" cy="579824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30" name="Google Shape;630;g39ab12478d3_0_618"/>
          <p:cNvGrpSpPr/>
          <p:nvPr/>
        </p:nvGrpSpPr>
        <p:grpSpPr>
          <a:xfrm>
            <a:off x="606746" y="9441892"/>
            <a:ext cx="4224447" cy="4224447"/>
            <a:chOff x="0" y="0"/>
            <a:chExt cx="812800" cy="812800"/>
          </a:xfrm>
        </p:grpSpPr>
        <p:sp>
          <p:nvSpPr>
            <p:cNvPr id="631" name="Google Shape;631;g39ab12478d3_0_6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39ab12478d3_0_61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3" name="Google Shape;633;g39ab12478d3_0_618"/>
          <p:cNvGrpSpPr/>
          <p:nvPr/>
        </p:nvGrpSpPr>
        <p:grpSpPr>
          <a:xfrm>
            <a:off x="12839828" y="-4770402"/>
            <a:ext cx="5954248" cy="5954248"/>
            <a:chOff x="0" y="0"/>
            <a:chExt cx="812800" cy="812800"/>
          </a:xfrm>
        </p:grpSpPr>
        <p:sp>
          <p:nvSpPr>
            <p:cNvPr id="634" name="Google Shape;634;g39ab12478d3_0_6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g39ab12478d3_0_61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36" name="Google Shape;636;g39ab12478d3_0_618"/>
          <p:cNvGrpSpPr/>
          <p:nvPr/>
        </p:nvGrpSpPr>
        <p:grpSpPr>
          <a:xfrm>
            <a:off x="16637128" y="8526062"/>
            <a:ext cx="2538618" cy="2538618"/>
            <a:chOff x="0" y="0"/>
            <a:chExt cx="812800" cy="812800"/>
          </a:xfrm>
        </p:grpSpPr>
        <p:sp>
          <p:nvSpPr>
            <p:cNvPr id="637" name="Google Shape;637;g39ab12478d3_0_6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g39ab12478d3_0_618"/>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9" name="Google Shape;639;g39ab12478d3_0_618"/>
          <p:cNvSpPr/>
          <p:nvPr/>
        </p:nvSpPr>
        <p:spPr>
          <a:xfrm>
            <a:off x="1832729" y="3065068"/>
            <a:ext cx="15005771" cy="4948468"/>
          </a:xfrm>
          <a:custGeom>
            <a:rect b="b" l="l" r="r" t="t"/>
            <a:pathLst>
              <a:path extrusionOk="0" h="4948468" w="15005771">
                <a:moveTo>
                  <a:pt x="0" y="0"/>
                </a:moveTo>
                <a:lnTo>
                  <a:pt x="15005770" y="0"/>
                </a:lnTo>
                <a:lnTo>
                  <a:pt x="15005770" y="4948468"/>
                </a:lnTo>
                <a:lnTo>
                  <a:pt x="0" y="494846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grpSp>
        <p:nvGrpSpPr>
          <p:cNvPr id="644" name="Google Shape;644;g39ab12478d3_0_637"/>
          <p:cNvGrpSpPr/>
          <p:nvPr/>
        </p:nvGrpSpPr>
        <p:grpSpPr>
          <a:xfrm>
            <a:off x="-4109965" y="-6717007"/>
            <a:ext cx="12177451" cy="12177451"/>
            <a:chOff x="0" y="0"/>
            <a:chExt cx="812800" cy="812800"/>
          </a:xfrm>
        </p:grpSpPr>
        <p:sp>
          <p:nvSpPr>
            <p:cNvPr id="645" name="Google Shape;645;g39ab12478d3_0_6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g39ab12478d3_0_63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47" name="Google Shape;647;g39ab12478d3_0_637"/>
          <p:cNvSpPr/>
          <p:nvPr/>
        </p:nvSpPr>
        <p:spPr>
          <a:xfrm rot="5279728">
            <a:off x="8399582" y="-895415"/>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648" name="Google Shape;648;g39ab12478d3_0_637"/>
          <p:cNvSpPr/>
          <p:nvPr/>
        </p:nvSpPr>
        <p:spPr>
          <a:xfrm flipH="1" rot="10681197">
            <a:off x="8340730" y="-4661463"/>
            <a:ext cx="9641282" cy="964128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g39ab12478d3_0_637"/>
          <p:cNvSpPr txBox="1"/>
          <p:nvPr/>
        </p:nvSpPr>
        <p:spPr>
          <a:xfrm>
            <a:off x="4274418" y="1102758"/>
            <a:ext cx="9739200" cy="123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Sprint Planning</a:t>
            </a:r>
            <a:endParaRPr b="0" i="0" sz="1400" u="none" cap="none" strike="noStrike">
              <a:solidFill>
                <a:srgbClr val="000000"/>
              </a:solidFill>
              <a:latin typeface="Arial"/>
              <a:ea typeface="Arial"/>
              <a:cs typeface="Arial"/>
              <a:sym typeface="Arial"/>
            </a:endParaRPr>
          </a:p>
        </p:txBody>
      </p:sp>
      <p:sp>
        <p:nvSpPr>
          <p:cNvPr id="650" name="Google Shape;650;g39ab12478d3_0_637"/>
          <p:cNvSpPr/>
          <p:nvPr/>
        </p:nvSpPr>
        <p:spPr>
          <a:xfrm flipH="1" rot="10731729">
            <a:off x="12228412" y="-3793995"/>
            <a:ext cx="9645755" cy="9645755"/>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1" name="Google Shape;651;g39ab12478d3_0_637"/>
          <p:cNvGrpSpPr/>
          <p:nvPr/>
        </p:nvGrpSpPr>
        <p:grpSpPr>
          <a:xfrm>
            <a:off x="-1143158" y="8926033"/>
            <a:ext cx="2573650" cy="2573650"/>
            <a:chOff x="0" y="0"/>
            <a:chExt cx="812800" cy="812800"/>
          </a:xfrm>
        </p:grpSpPr>
        <p:sp>
          <p:nvSpPr>
            <p:cNvPr id="652" name="Google Shape;652;g39ab12478d3_0_6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g39ab12478d3_0_637"/>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54" name="Google Shape;654;g39ab12478d3_0_637"/>
          <p:cNvSpPr/>
          <p:nvPr/>
        </p:nvSpPr>
        <p:spPr>
          <a:xfrm>
            <a:off x="11123502" y="3389126"/>
            <a:ext cx="6578660" cy="5114908"/>
          </a:xfrm>
          <a:custGeom>
            <a:rect b="b" l="l" r="r" t="t"/>
            <a:pathLst>
              <a:path extrusionOk="0" h="5114908" w="6578660">
                <a:moveTo>
                  <a:pt x="0" y="0"/>
                </a:moveTo>
                <a:lnTo>
                  <a:pt x="6578660" y="0"/>
                </a:lnTo>
                <a:lnTo>
                  <a:pt x="6578660" y="5114908"/>
                </a:lnTo>
                <a:lnTo>
                  <a:pt x="0" y="5114908"/>
                </a:lnTo>
                <a:lnTo>
                  <a:pt x="0" y="0"/>
                </a:lnTo>
                <a:close/>
              </a:path>
            </a:pathLst>
          </a:custGeom>
          <a:blipFill rotWithShape="1">
            <a:blip r:embed="rId4">
              <a:alphaModFix/>
            </a:blip>
            <a:stretch>
              <a:fillRect b="0" l="0" r="0" t="0"/>
            </a:stretch>
          </a:blipFill>
          <a:ln>
            <a:noFill/>
          </a:ln>
        </p:spPr>
      </p:sp>
      <p:sp>
        <p:nvSpPr>
          <p:cNvPr id="655" name="Google Shape;655;g39ab12478d3_0_637"/>
          <p:cNvSpPr txBox="1"/>
          <p:nvPr/>
        </p:nvSpPr>
        <p:spPr>
          <a:xfrm>
            <a:off x="1028700" y="3749480"/>
            <a:ext cx="9767400" cy="3986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3500"/>
              <a:buFont typeface="Arial"/>
              <a:buNone/>
            </a:pPr>
            <a:r>
              <a:rPr b="0" i="0" lang="en-US" sz="3500" u="none" cap="none" strike="noStrike">
                <a:solidFill>
                  <a:srgbClr val="000000"/>
                </a:solidFill>
                <a:latin typeface="Poppins Light"/>
                <a:ea typeface="Poppins Light"/>
                <a:cs typeface="Poppins Light"/>
                <a:sym typeface="Poppins Light"/>
              </a:rPr>
              <a:t>El equipo planifica y prepara el trabajo que se llevará a cabo durante el próximo Sprint,  se establece su objetivo y se define qué elementos del Product Backlog se incluirán en el Sprint Backlog para alcanzar ese objetivo.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grpSp>
        <p:nvGrpSpPr>
          <p:cNvPr id="660" name="Google Shape;660;g39ab12478d3_0_652"/>
          <p:cNvGrpSpPr/>
          <p:nvPr/>
        </p:nvGrpSpPr>
        <p:grpSpPr>
          <a:xfrm>
            <a:off x="12839828" y="4487199"/>
            <a:ext cx="7594641" cy="7594641"/>
            <a:chOff x="0" y="0"/>
            <a:chExt cx="812800" cy="812800"/>
          </a:xfrm>
        </p:grpSpPr>
        <p:sp>
          <p:nvSpPr>
            <p:cNvPr id="661" name="Google Shape;661;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63" name="Google Shape;663;g39ab12478d3_0_652"/>
          <p:cNvSpPr/>
          <p:nvPr/>
        </p:nvSpPr>
        <p:spPr>
          <a:xfrm rot="-5400000">
            <a:off x="10834523" y="-2395660"/>
            <a:ext cx="11605211" cy="1103945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664" name="Google Shape;664;g39ab12478d3_0_652"/>
          <p:cNvGrpSpPr/>
          <p:nvPr/>
        </p:nvGrpSpPr>
        <p:grpSpPr>
          <a:xfrm>
            <a:off x="-2414229" y="-1231377"/>
            <a:ext cx="12177451" cy="12177451"/>
            <a:chOff x="0" y="0"/>
            <a:chExt cx="812800" cy="812800"/>
          </a:xfrm>
        </p:grpSpPr>
        <p:sp>
          <p:nvSpPr>
            <p:cNvPr id="665" name="Google Shape;665;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67" name="Google Shape;667;g39ab12478d3_0_652"/>
          <p:cNvGrpSpPr/>
          <p:nvPr/>
        </p:nvGrpSpPr>
        <p:grpSpPr>
          <a:xfrm>
            <a:off x="15896170" y="6715631"/>
            <a:ext cx="2726294" cy="2726294"/>
            <a:chOff x="0" y="0"/>
            <a:chExt cx="812800" cy="812800"/>
          </a:xfrm>
        </p:grpSpPr>
        <p:sp>
          <p:nvSpPr>
            <p:cNvPr id="668" name="Google Shape;668;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0" name="Google Shape;670;g39ab12478d3_0_652"/>
          <p:cNvGrpSpPr/>
          <p:nvPr/>
        </p:nvGrpSpPr>
        <p:grpSpPr>
          <a:xfrm>
            <a:off x="-1929853" y="-1231377"/>
            <a:ext cx="2726294" cy="2726294"/>
            <a:chOff x="0" y="0"/>
            <a:chExt cx="812800" cy="812800"/>
          </a:xfrm>
        </p:grpSpPr>
        <p:sp>
          <p:nvSpPr>
            <p:cNvPr id="671" name="Google Shape;671;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73" name="Google Shape;673;g39ab12478d3_0_652"/>
          <p:cNvSpPr/>
          <p:nvPr/>
        </p:nvSpPr>
        <p:spPr>
          <a:xfrm flipH="1" rot="88887">
            <a:off x="-2702182" y="6763014"/>
            <a:ext cx="5798243" cy="579824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4" name="Google Shape;674;g39ab12478d3_0_652"/>
          <p:cNvGrpSpPr/>
          <p:nvPr/>
        </p:nvGrpSpPr>
        <p:grpSpPr>
          <a:xfrm>
            <a:off x="606746" y="9441892"/>
            <a:ext cx="4224447" cy="4224447"/>
            <a:chOff x="0" y="0"/>
            <a:chExt cx="812800" cy="812800"/>
          </a:xfrm>
        </p:grpSpPr>
        <p:sp>
          <p:nvSpPr>
            <p:cNvPr id="675" name="Google Shape;675;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77" name="Google Shape;677;g39ab12478d3_0_652"/>
          <p:cNvGrpSpPr/>
          <p:nvPr/>
        </p:nvGrpSpPr>
        <p:grpSpPr>
          <a:xfrm>
            <a:off x="16637128" y="8526062"/>
            <a:ext cx="2538618" cy="2538618"/>
            <a:chOff x="0" y="0"/>
            <a:chExt cx="812800" cy="812800"/>
          </a:xfrm>
        </p:grpSpPr>
        <p:sp>
          <p:nvSpPr>
            <p:cNvPr id="678" name="Google Shape;678;g39ab12478d3_0_65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39ab12478d3_0_65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80" name="Google Shape;680;g39ab12478d3_0_652"/>
          <p:cNvSpPr/>
          <p:nvPr/>
        </p:nvSpPr>
        <p:spPr>
          <a:xfrm>
            <a:off x="12512015" y="3680963"/>
            <a:ext cx="4125113" cy="4114800"/>
          </a:xfrm>
          <a:custGeom>
            <a:rect b="b" l="l" r="r" t="t"/>
            <a:pathLst>
              <a:path extrusionOk="0" h="4114800" w="4125113">
                <a:moveTo>
                  <a:pt x="0" y="0"/>
                </a:moveTo>
                <a:lnTo>
                  <a:pt x="4125113" y="0"/>
                </a:lnTo>
                <a:lnTo>
                  <a:pt x="4125113" y="4114800"/>
                </a:lnTo>
                <a:lnTo>
                  <a:pt x="0" y="4114800"/>
                </a:lnTo>
                <a:lnTo>
                  <a:pt x="0" y="0"/>
                </a:lnTo>
                <a:close/>
              </a:path>
            </a:pathLst>
          </a:custGeom>
          <a:blipFill rotWithShape="1">
            <a:blip r:embed="rId4">
              <a:alphaModFix/>
            </a:blip>
            <a:stretch>
              <a:fillRect b="0" l="0" r="0" t="0"/>
            </a:stretch>
          </a:blipFill>
          <a:ln>
            <a:noFill/>
          </a:ln>
        </p:spPr>
      </p:sp>
      <p:sp>
        <p:nvSpPr>
          <p:cNvPr id="681" name="Google Shape;681;g39ab12478d3_0_652"/>
          <p:cNvSpPr txBox="1"/>
          <p:nvPr/>
        </p:nvSpPr>
        <p:spPr>
          <a:xfrm>
            <a:off x="1028700" y="676127"/>
            <a:ext cx="14394000" cy="1215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900"/>
              <a:buFont typeface="Arial"/>
              <a:buNone/>
            </a:pPr>
            <a:r>
              <a:rPr b="1" i="0" lang="en-US" sz="7900" u="none" cap="none" strike="noStrike">
                <a:solidFill>
                  <a:srgbClr val="000000"/>
                </a:solidFill>
                <a:latin typeface="Montserrat"/>
                <a:ea typeface="Montserrat"/>
                <a:cs typeface="Montserrat"/>
                <a:sym typeface="Montserrat"/>
              </a:rPr>
              <a:t>Partes del Sprint Planning </a:t>
            </a:r>
            <a:endParaRPr b="0" i="0" sz="1400" u="none" cap="none" strike="noStrike">
              <a:solidFill>
                <a:srgbClr val="000000"/>
              </a:solidFill>
              <a:latin typeface="Arial"/>
              <a:ea typeface="Arial"/>
              <a:cs typeface="Arial"/>
              <a:sym typeface="Arial"/>
            </a:endParaRPr>
          </a:p>
        </p:txBody>
      </p:sp>
      <p:sp>
        <p:nvSpPr>
          <p:cNvPr id="682" name="Google Shape;682;g39ab12478d3_0_652"/>
          <p:cNvSpPr txBox="1"/>
          <p:nvPr/>
        </p:nvSpPr>
        <p:spPr>
          <a:xfrm>
            <a:off x="3059542" y="4546133"/>
            <a:ext cx="7934700" cy="3453300"/>
          </a:xfrm>
          <a:prstGeom prst="rect">
            <a:avLst/>
          </a:prstGeom>
          <a:noFill/>
          <a:ln>
            <a:noFill/>
          </a:ln>
        </p:spPr>
        <p:txBody>
          <a:bodyPr anchorCtr="0" anchor="t" bIns="0" lIns="0" spcFirstLastPara="1" rIns="0" wrap="square" tIns="0">
            <a:spAutoFit/>
          </a:bodyPr>
          <a:lstStyle/>
          <a:p>
            <a:pPr indent="-367030" lvl="1" marL="734057"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Por qué es valioso este sprint?</a:t>
            </a:r>
            <a:endParaRPr b="0" i="0" sz="1400" u="none" cap="none" strike="noStrike">
              <a:solidFill>
                <a:srgbClr val="000000"/>
              </a:solidFill>
              <a:latin typeface="Arial"/>
              <a:ea typeface="Arial"/>
              <a:cs typeface="Arial"/>
              <a:sym typeface="Arial"/>
            </a:endParaRPr>
          </a:p>
          <a:p>
            <a:pPr indent="0" lvl="0" marL="0" marR="0" rtl="0" algn="l">
              <a:lnSpc>
                <a:spcPct val="140011"/>
              </a:lnSpc>
              <a:spcBef>
                <a:spcPts val="0"/>
              </a:spcBef>
              <a:spcAft>
                <a:spcPts val="0"/>
              </a:spcAft>
              <a:buClr>
                <a:srgbClr val="000000"/>
              </a:buClr>
              <a:buSzPts val="3399"/>
              <a:buFont typeface="Arial"/>
              <a:buNone/>
            </a:pPr>
            <a:r>
              <a:t/>
            </a:r>
            <a:endParaRPr b="0" i="0" sz="3399" u="none" cap="none" strike="noStrike">
              <a:solidFill>
                <a:srgbClr val="000000"/>
              </a:solidFill>
              <a:latin typeface="Open Sans"/>
              <a:ea typeface="Open Sans"/>
              <a:cs typeface="Open Sans"/>
              <a:sym typeface="Open Sans"/>
            </a:endParaRPr>
          </a:p>
          <a:p>
            <a:pPr indent="-367030" lvl="1" marL="734057"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Qué se puede hacer en este sprint</a:t>
            </a:r>
            <a:endParaRPr b="0" i="0" sz="1400" u="none" cap="none" strike="noStrike">
              <a:solidFill>
                <a:srgbClr val="000000"/>
              </a:solidFill>
              <a:latin typeface="Arial"/>
              <a:ea typeface="Arial"/>
              <a:cs typeface="Arial"/>
              <a:sym typeface="Arial"/>
            </a:endParaRPr>
          </a:p>
          <a:p>
            <a:pPr indent="0" lvl="0" marL="0" marR="0" rtl="0" algn="l">
              <a:lnSpc>
                <a:spcPct val="140011"/>
              </a:lnSpc>
              <a:spcBef>
                <a:spcPts val="0"/>
              </a:spcBef>
              <a:spcAft>
                <a:spcPts val="0"/>
              </a:spcAft>
              <a:buClr>
                <a:srgbClr val="000000"/>
              </a:buClr>
              <a:buSzPts val="3399"/>
              <a:buFont typeface="Arial"/>
              <a:buNone/>
            </a:pPr>
            <a:r>
              <a:t/>
            </a:r>
            <a:endParaRPr b="0" i="0" sz="3399" u="none" cap="none" strike="noStrike">
              <a:solidFill>
                <a:srgbClr val="000000"/>
              </a:solidFill>
              <a:latin typeface="Open Sans"/>
              <a:ea typeface="Open Sans"/>
              <a:cs typeface="Open Sans"/>
              <a:sym typeface="Open Sans"/>
            </a:endParaRPr>
          </a:p>
          <a:p>
            <a:pPr indent="-367030" lvl="1" marL="734057" marR="0" rtl="0" algn="l">
              <a:lnSpc>
                <a:spcPct val="140011"/>
              </a:lnSpc>
              <a:spcBef>
                <a:spcPts val="0"/>
              </a:spcBef>
              <a:spcAft>
                <a:spcPts val="0"/>
              </a:spcAft>
              <a:buClr>
                <a:srgbClr val="000000"/>
              </a:buClr>
              <a:buSzPts val="3399"/>
              <a:buFont typeface="Arial"/>
              <a:buChar char="•"/>
            </a:pPr>
            <a:r>
              <a:rPr b="0" i="0" lang="en-US" sz="3399" u="none" cap="none" strike="noStrike">
                <a:solidFill>
                  <a:srgbClr val="000000"/>
                </a:solidFill>
                <a:latin typeface="Open Sans"/>
                <a:ea typeface="Open Sans"/>
                <a:cs typeface="Open Sans"/>
                <a:sym typeface="Open Sans"/>
              </a:rPr>
              <a:t>Cómo se realizará el trabajo elegido</a:t>
            </a:r>
            <a:endParaRPr b="0" i="0" sz="1400" u="none" cap="none" strike="noStrike">
              <a:solidFill>
                <a:srgbClr val="000000"/>
              </a:solidFill>
              <a:latin typeface="Arial"/>
              <a:ea typeface="Arial"/>
              <a:cs typeface="Arial"/>
              <a:sym typeface="Arial"/>
            </a:endParaRPr>
          </a:p>
        </p:txBody>
      </p:sp>
      <p:sp>
        <p:nvSpPr>
          <p:cNvPr id="683" name="Google Shape;683;g39ab12478d3_0_652"/>
          <p:cNvSpPr txBox="1"/>
          <p:nvPr/>
        </p:nvSpPr>
        <p:spPr>
          <a:xfrm>
            <a:off x="1028700" y="2462398"/>
            <a:ext cx="11996400" cy="12558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Light"/>
                <a:ea typeface="Poppins Light"/>
                <a:cs typeface="Poppins Light"/>
                <a:sym typeface="Poppins Light"/>
              </a:rPr>
              <a:t>La estructura de la reunión está dividida de manera tal que se aborde los siguiente: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9ab12478d3_0_679"/>
          <p:cNvSpPr/>
          <p:nvPr/>
        </p:nvSpPr>
        <p:spPr>
          <a:xfrm rot="5279728">
            <a:off x="9275631" y="93050"/>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689" name="Google Shape;689;g39ab12478d3_0_679"/>
          <p:cNvGrpSpPr/>
          <p:nvPr/>
        </p:nvGrpSpPr>
        <p:grpSpPr>
          <a:xfrm>
            <a:off x="15191432" y="5094734"/>
            <a:ext cx="12177451" cy="12177451"/>
            <a:chOff x="0" y="0"/>
            <a:chExt cx="812800" cy="812800"/>
          </a:xfrm>
        </p:grpSpPr>
        <p:sp>
          <p:nvSpPr>
            <p:cNvPr id="690" name="Google Shape;690;g39ab12478d3_0_6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1" name="Google Shape;691;g39ab12478d3_0_67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92" name="Google Shape;692;g39ab12478d3_0_679"/>
          <p:cNvSpPr txBox="1"/>
          <p:nvPr/>
        </p:nvSpPr>
        <p:spPr>
          <a:xfrm>
            <a:off x="1431424" y="1124000"/>
            <a:ext cx="13301700" cy="90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900"/>
              <a:buFont typeface="Arial"/>
              <a:buNone/>
            </a:pPr>
            <a:r>
              <a:rPr b="1" lang="en-US" sz="5900">
                <a:latin typeface="Montserrat"/>
                <a:ea typeface="Montserrat"/>
                <a:cs typeface="Montserrat"/>
                <a:sym typeface="Montserrat"/>
              </a:rPr>
              <a:t>Sprint Planning - ¿Qué se hace?</a:t>
            </a:r>
            <a:endParaRPr b="0" i="0" sz="100" u="none" cap="none" strike="noStrike">
              <a:solidFill>
                <a:srgbClr val="000000"/>
              </a:solidFill>
              <a:latin typeface="Arial"/>
              <a:ea typeface="Arial"/>
              <a:cs typeface="Arial"/>
              <a:sym typeface="Arial"/>
            </a:endParaRPr>
          </a:p>
        </p:txBody>
      </p:sp>
      <p:grpSp>
        <p:nvGrpSpPr>
          <p:cNvPr id="693" name="Google Shape;693;g39ab12478d3_0_679"/>
          <p:cNvGrpSpPr/>
          <p:nvPr/>
        </p:nvGrpSpPr>
        <p:grpSpPr>
          <a:xfrm>
            <a:off x="14733054" y="-2477251"/>
            <a:ext cx="3505932" cy="3505932"/>
            <a:chOff x="0" y="0"/>
            <a:chExt cx="812800" cy="812800"/>
          </a:xfrm>
        </p:grpSpPr>
        <p:sp>
          <p:nvSpPr>
            <p:cNvPr id="694" name="Google Shape;694;g39ab12478d3_0_6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g39ab12478d3_0_67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6" name="Google Shape;696;g39ab12478d3_0_679"/>
          <p:cNvGrpSpPr/>
          <p:nvPr/>
        </p:nvGrpSpPr>
        <p:grpSpPr>
          <a:xfrm>
            <a:off x="3005483" y="-775744"/>
            <a:ext cx="1551473" cy="1551473"/>
            <a:chOff x="0" y="0"/>
            <a:chExt cx="812800" cy="812800"/>
          </a:xfrm>
        </p:grpSpPr>
        <p:sp>
          <p:nvSpPr>
            <p:cNvPr id="697" name="Google Shape;697;g39ab12478d3_0_6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g39ab12478d3_0_67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699" name="Google Shape;699;g39ab12478d3_0_679"/>
          <p:cNvGrpSpPr/>
          <p:nvPr/>
        </p:nvGrpSpPr>
        <p:grpSpPr>
          <a:xfrm>
            <a:off x="-5006207" y="10159527"/>
            <a:ext cx="6437620" cy="6437620"/>
            <a:chOff x="0" y="0"/>
            <a:chExt cx="812800" cy="812800"/>
          </a:xfrm>
        </p:grpSpPr>
        <p:sp>
          <p:nvSpPr>
            <p:cNvPr id="700" name="Google Shape;700;g39ab12478d3_0_6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g39ab12478d3_0_679"/>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02" name="Google Shape;702;g39ab12478d3_0_679"/>
          <p:cNvSpPr txBox="1"/>
          <p:nvPr/>
        </p:nvSpPr>
        <p:spPr>
          <a:xfrm>
            <a:off x="1585925" y="2987075"/>
            <a:ext cx="13605600" cy="7189200"/>
          </a:xfrm>
          <a:prstGeom prst="rect">
            <a:avLst/>
          </a:prstGeom>
          <a:noFill/>
          <a:ln>
            <a:noFill/>
          </a:ln>
        </p:spPr>
        <p:txBody>
          <a:bodyPr anchorCtr="0" anchor="t" bIns="0" lIns="0" spcFirstLastPara="1" rIns="0" wrap="square" tIns="0">
            <a:spAutoFit/>
          </a:bodyPr>
          <a:lstStyle/>
          <a:p>
            <a:pPr indent="0" lvl="0" marL="914400" marR="0" rtl="0" algn="just">
              <a:lnSpc>
                <a:spcPct val="140011"/>
              </a:lnSpc>
              <a:spcBef>
                <a:spcPts val="0"/>
              </a:spcBef>
              <a:spcAft>
                <a:spcPts val="0"/>
              </a:spcAft>
              <a:buNone/>
            </a:pPr>
            <a:r>
              <a:rPr b="1" lang="en-US" sz="3434">
                <a:latin typeface="Poppins"/>
                <a:ea typeface="Poppins"/>
                <a:cs typeface="Poppins"/>
                <a:sym typeface="Poppins"/>
              </a:rPr>
              <a:t>ANTES de la reunión:</a:t>
            </a:r>
            <a:r>
              <a:rPr lang="en-US" sz="3434">
                <a:latin typeface="Poppins"/>
                <a:ea typeface="Poppins"/>
                <a:cs typeface="Poppins"/>
                <a:sym typeface="Poppins"/>
              </a:rPr>
              <a:t>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rPr lang="en-US" sz="3434">
                <a:latin typeface="Poppins"/>
                <a:ea typeface="Poppins"/>
                <a:cs typeface="Poppins"/>
                <a:sym typeface="Poppins"/>
              </a:rPr>
              <a:t>- El Product Owner prioriza el Product Backlog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rPr lang="en-US" sz="3434">
                <a:latin typeface="Poppins"/>
                <a:ea typeface="Poppins"/>
                <a:cs typeface="Poppins"/>
                <a:sym typeface="Poppins"/>
              </a:rPr>
              <a:t>- El equipo revisa las historias de usuario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t/>
            </a:r>
            <a:endParaRPr b="1" sz="3434">
              <a:latin typeface="Poppins"/>
              <a:ea typeface="Poppins"/>
              <a:cs typeface="Poppins"/>
              <a:sym typeface="Poppins"/>
            </a:endParaRPr>
          </a:p>
          <a:p>
            <a:pPr indent="0" lvl="0" marL="914400" marR="0" rtl="0" algn="just">
              <a:lnSpc>
                <a:spcPct val="140011"/>
              </a:lnSpc>
              <a:spcBef>
                <a:spcPts val="0"/>
              </a:spcBef>
              <a:spcAft>
                <a:spcPts val="0"/>
              </a:spcAft>
              <a:buNone/>
            </a:pPr>
            <a:r>
              <a:rPr b="1" lang="en-US" sz="3434">
                <a:latin typeface="Poppins"/>
                <a:ea typeface="Poppins"/>
                <a:cs typeface="Poppins"/>
                <a:sym typeface="Poppins"/>
              </a:rPr>
              <a:t>DURANTE la reunión (máx. 8 horas para Sprint de 1 mes):</a:t>
            </a:r>
            <a:r>
              <a:rPr lang="en-US" sz="3434">
                <a:latin typeface="Poppins"/>
                <a:ea typeface="Poppins"/>
                <a:cs typeface="Poppins"/>
                <a:sym typeface="Poppins"/>
              </a:rPr>
              <a:t>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rPr lang="en-US" sz="3434">
                <a:latin typeface="Poppins"/>
                <a:ea typeface="Poppins"/>
                <a:cs typeface="Poppins"/>
                <a:sym typeface="Poppins"/>
              </a:rPr>
              <a:t>PARTE 1:  ¿Por qué es valioso este Sprint? (45 min - 1 hora) → El Product Owner presenta el objetivo del Sprint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rPr lang="en-US" sz="3434">
                <a:latin typeface="Poppins"/>
                <a:ea typeface="Poppins"/>
                <a:cs typeface="Poppins"/>
                <a:sym typeface="Poppins"/>
              </a:rPr>
              <a:t>→ Se define qué historias de usuario dan más valor </a:t>
            </a:r>
            <a:endParaRPr sz="3434">
              <a:latin typeface="Poppins"/>
              <a:ea typeface="Poppins"/>
              <a:cs typeface="Poppins"/>
              <a:sym typeface="Poppins"/>
            </a:endParaRPr>
          </a:p>
          <a:p>
            <a:pPr indent="0" lvl="0" marL="914400" marR="0" rtl="0" algn="just">
              <a:lnSpc>
                <a:spcPct val="140011"/>
              </a:lnSpc>
              <a:spcBef>
                <a:spcPts val="0"/>
              </a:spcBef>
              <a:spcAft>
                <a:spcPts val="0"/>
              </a:spcAft>
              <a:buNone/>
            </a:pPr>
            <a:r>
              <a:rPr lang="en-US" sz="3434">
                <a:latin typeface="Poppins"/>
                <a:ea typeface="Poppins"/>
                <a:cs typeface="Poppins"/>
                <a:sym typeface="Poppins"/>
              </a:rPr>
              <a:t>→ El equipo hace preguntas para entender mejor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g39ab12478d3_0_697"/>
          <p:cNvSpPr/>
          <p:nvPr/>
        </p:nvSpPr>
        <p:spPr>
          <a:xfrm rot="5279728">
            <a:off x="9275631" y="93050"/>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708" name="Google Shape;708;g39ab12478d3_0_697"/>
          <p:cNvGrpSpPr/>
          <p:nvPr/>
        </p:nvGrpSpPr>
        <p:grpSpPr>
          <a:xfrm>
            <a:off x="15191432" y="5094734"/>
            <a:ext cx="12177451" cy="12177451"/>
            <a:chOff x="0" y="0"/>
            <a:chExt cx="812800" cy="812800"/>
          </a:xfrm>
        </p:grpSpPr>
        <p:sp>
          <p:nvSpPr>
            <p:cNvPr id="709" name="Google Shape;709;g39ab12478d3_0_69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g39ab12478d3_0_69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11" name="Google Shape;711;g39ab12478d3_0_697"/>
          <p:cNvSpPr txBox="1"/>
          <p:nvPr/>
        </p:nvSpPr>
        <p:spPr>
          <a:xfrm>
            <a:off x="1431424" y="1124000"/>
            <a:ext cx="13301700" cy="90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7900"/>
              <a:buFont typeface="Arial"/>
              <a:buNone/>
            </a:pPr>
            <a:r>
              <a:rPr b="1" lang="en-US" sz="5900">
                <a:latin typeface="Montserrat"/>
                <a:ea typeface="Montserrat"/>
                <a:cs typeface="Montserrat"/>
                <a:sym typeface="Montserrat"/>
              </a:rPr>
              <a:t>Sprint Planning - ¿Qué se hace?</a:t>
            </a:r>
            <a:endParaRPr b="0" i="0" sz="100" u="none" cap="none" strike="noStrike">
              <a:solidFill>
                <a:srgbClr val="000000"/>
              </a:solidFill>
              <a:latin typeface="Arial"/>
              <a:ea typeface="Arial"/>
              <a:cs typeface="Arial"/>
              <a:sym typeface="Arial"/>
            </a:endParaRPr>
          </a:p>
        </p:txBody>
      </p:sp>
      <p:grpSp>
        <p:nvGrpSpPr>
          <p:cNvPr id="712" name="Google Shape;712;g39ab12478d3_0_697"/>
          <p:cNvGrpSpPr/>
          <p:nvPr/>
        </p:nvGrpSpPr>
        <p:grpSpPr>
          <a:xfrm>
            <a:off x="14733054" y="-2477251"/>
            <a:ext cx="3505932" cy="3505932"/>
            <a:chOff x="0" y="0"/>
            <a:chExt cx="812800" cy="812800"/>
          </a:xfrm>
        </p:grpSpPr>
        <p:sp>
          <p:nvSpPr>
            <p:cNvPr id="713" name="Google Shape;713;g39ab12478d3_0_69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g39ab12478d3_0_69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15" name="Google Shape;715;g39ab12478d3_0_697"/>
          <p:cNvGrpSpPr/>
          <p:nvPr/>
        </p:nvGrpSpPr>
        <p:grpSpPr>
          <a:xfrm>
            <a:off x="3005483" y="-775744"/>
            <a:ext cx="1551473" cy="1551473"/>
            <a:chOff x="0" y="0"/>
            <a:chExt cx="812800" cy="812800"/>
          </a:xfrm>
        </p:grpSpPr>
        <p:sp>
          <p:nvSpPr>
            <p:cNvPr id="716" name="Google Shape;716;g39ab12478d3_0_69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g39ab12478d3_0_69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18" name="Google Shape;718;g39ab12478d3_0_697"/>
          <p:cNvGrpSpPr/>
          <p:nvPr/>
        </p:nvGrpSpPr>
        <p:grpSpPr>
          <a:xfrm>
            <a:off x="-5006207" y="10159527"/>
            <a:ext cx="6437620" cy="6437620"/>
            <a:chOff x="0" y="0"/>
            <a:chExt cx="812800" cy="812800"/>
          </a:xfrm>
        </p:grpSpPr>
        <p:sp>
          <p:nvSpPr>
            <p:cNvPr id="719" name="Google Shape;719;g39ab12478d3_0_69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g39ab12478d3_0_697"/>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1" name="Google Shape;721;g39ab12478d3_0_697"/>
          <p:cNvSpPr txBox="1"/>
          <p:nvPr/>
        </p:nvSpPr>
        <p:spPr>
          <a:xfrm>
            <a:off x="1585825" y="2622875"/>
            <a:ext cx="13605600" cy="71892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1" lang="en-US" sz="3434">
                <a:latin typeface="Poppins"/>
                <a:ea typeface="Poppins"/>
                <a:cs typeface="Poppins"/>
                <a:sym typeface="Poppins"/>
              </a:rPr>
              <a:t>PARTE 2: ¿Qué se puede hacer en este Sprint? (2-3 horas) </a:t>
            </a:r>
            <a:endParaRPr b="1"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El equipo selecciona historias del Product Backlog </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Se estima la capacidad del equipo </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Se crea el Sprint Backlog inicial </a:t>
            </a:r>
            <a:endParaRPr sz="3434">
              <a:latin typeface="Poppins"/>
              <a:ea typeface="Poppins"/>
              <a:cs typeface="Poppins"/>
              <a:sym typeface="Poppins"/>
            </a:endParaRPr>
          </a:p>
          <a:p>
            <a:pPr indent="0" lvl="0" marL="0" marR="0" rtl="0" algn="just">
              <a:lnSpc>
                <a:spcPct val="140011"/>
              </a:lnSpc>
              <a:spcBef>
                <a:spcPts val="0"/>
              </a:spcBef>
              <a:spcAft>
                <a:spcPts val="0"/>
              </a:spcAft>
              <a:buNone/>
            </a:pPr>
            <a:r>
              <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b="1" lang="en-US" sz="3434">
                <a:latin typeface="Poppins"/>
                <a:ea typeface="Poppins"/>
                <a:cs typeface="Poppins"/>
                <a:sym typeface="Poppins"/>
              </a:rPr>
              <a:t>PARTE 3: ¿Cómo se realizará el trabajo? (3-4 horas) </a:t>
            </a:r>
            <a:endParaRPr b="1"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Se descomponen las historias en tareas técnicas </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Se identifican dependencias </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Se asignan responsabilidades generales</a:t>
            </a:r>
            <a:endParaRPr sz="3434">
              <a:latin typeface="Poppins"/>
              <a:ea typeface="Poppins"/>
              <a:cs typeface="Poppins"/>
              <a:sym typeface="Poppins"/>
            </a:endParaRPr>
          </a:p>
          <a:p>
            <a:pPr indent="0" lvl="0" marL="0" marR="0" rtl="0" algn="just">
              <a:lnSpc>
                <a:spcPct val="140011"/>
              </a:lnSpc>
              <a:spcBef>
                <a:spcPts val="0"/>
              </a:spcBef>
              <a:spcAft>
                <a:spcPts val="0"/>
              </a:spcAft>
              <a:buNone/>
            </a:pPr>
            <a:r>
              <a:rPr lang="en-US" sz="3434">
                <a:latin typeface="Poppins"/>
                <a:ea typeface="Poppins"/>
                <a:cs typeface="Poppins"/>
                <a:sym typeface="Poppins"/>
              </a:rPr>
              <a:t> → Se crea el plan de trabajo para los primeros días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725" name="Shape 725"/>
        <p:cNvGrpSpPr/>
        <p:nvPr/>
      </p:nvGrpSpPr>
      <p:grpSpPr>
        <a:xfrm>
          <a:off x="0" y="0"/>
          <a:ext cx="0" cy="0"/>
          <a:chOff x="0" y="0"/>
          <a:chExt cx="0" cy="0"/>
        </a:xfrm>
      </p:grpSpPr>
      <p:grpSp>
        <p:nvGrpSpPr>
          <p:cNvPr id="726" name="Google Shape;726;g39ab12478d3_0_715"/>
          <p:cNvGrpSpPr/>
          <p:nvPr/>
        </p:nvGrpSpPr>
        <p:grpSpPr>
          <a:xfrm>
            <a:off x="15019289" y="-1821307"/>
            <a:ext cx="2850002" cy="2850002"/>
            <a:chOff x="0" y="0"/>
            <a:chExt cx="812800" cy="812800"/>
          </a:xfrm>
        </p:grpSpPr>
        <p:sp>
          <p:nvSpPr>
            <p:cNvPr id="727" name="Google Shape;727;g39ab12478d3_0_7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g39ab12478d3_0_71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29" name="Google Shape;729;g39ab12478d3_0_715"/>
          <p:cNvSpPr/>
          <p:nvPr/>
        </p:nvSpPr>
        <p:spPr>
          <a:xfrm>
            <a:off x="11119929" y="3149482"/>
            <a:ext cx="6571648" cy="3988037"/>
          </a:xfrm>
          <a:custGeom>
            <a:rect b="b" l="l" r="r" t="t"/>
            <a:pathLst>
              <a:path extrusionOk="0" h="3988037" w="6571648">
                <a:moveTo>
                  <a:pt x="0" y="0"/>
                </a:moveTo>
                <a:lnTo>
                  <a:pt x="6571648" y="0"/>
                </a:lnTo>
                <a:lnTo>
                  <a:pt x="6571648" y="3988036"/>
                </a:lnTo>
                <a:lnTo>
                  <a:pt x="0" y="3988036"/>
                </a:lnTo>
                <a:lnTo>
                  <a:pt x="0" y="0"/>
                </a:lnTo>
                <a:close/>
              </a:path>
            </a:pathLst>
          </a:custGeom>
          <a:blipFill rotWithShape="1">
            <a:blip r:embed="rId3">
              <a:alphaModFix/>
            </a:blip>
            <a:stretch>
              <a:fillRect b="0" l="0" r="0" t="0"/>
            </a:stretch>
          </a:blipFill>
          <a:ln>
            <a:noFill/>
          </a:ln>
        </p:spPr>
      </p:sp>
      <p:sp>
        <p:nvSpPr>
          <p:cNvPr id="730" name="Google Shape;730;g39ab12478d3_0_715"/>
          <p:cNvSpPr txBox="1"/>
          <p:nvPr/>
        </p:nvSpPr>
        <p:spPr>
          <a:xfrm>
            <a:off x="1028700" y="2244725"/>
            <a:ext cx="9817800" cy="7111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3000"/>
              <a:buFont typeface="Arial"/>
              <a:buNone/>
            </a:pPr>
            <a:r>
              <a:rPr b="0" i="0" lang="en-US" sz="3000" u="none" cap="none" strike="noStrike">
                <a:solidFill>
                  <a:srgbClr val="FFFFFF"/>
                </a:solidFill>
                <a:latin typeface="Poppins Light"/>
                <a:ea typeface="Poppins Light"/>
                <a:cs typeface="Poppins Light"/>
                <a:sym typeface="Poppins Light"/>
              </a:rPr>
              <a:t>Es una reunión diaria dentro del sprint que tiene una duración máxima de 15 minutos.</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FFFFFF"/>
              </a:solidFill>
              <a:latin typeface="Poppins Light"/>
              <a:ea typeface="Poppins Light"/>
              <a:cs typeface="Poppins Light"/>
              <a:sym typeface="Poppins Light"/>
            </a:endParaRPr>
          </a:p>
          <a:p>
            <a:pPr indent="0" lvl="0" marL="0" marR="0" rtl="0" algn="l">
              <a:lnSpc>
                <a:spcPct val="160000"/>
              </a:lnSpc>
              <a:spcBef>
                <a:spcPts val="0"/>
              </a:spcBef>
              <a:spcAft>
                <a:spcPts val="0"/>
              </a:spcAft>
              <a:buClr>
                <a:srgbClr val="000000"/>
              </a:buClr>
              <a:buSzPts val="3000"/>
              <a:buFont typeface="Arial"/>
              <a:buNone/>
            </a:pPr>
            <a:r>
              <a:rPr b="0" i="0" lang="en-US" sz="3000" u="none" cap="none" strike="noStrike">
                <a:solidFill>
                  <a:srgbClr val="FFFFFF"/>
                </a:solidFill>
                <a:latin typeface="Poppins"/>
                <a:ea typeface="Poppins"/>
                <a:cs typeface="Poppins"/>
                <a:sym typeface="Poppins"/>
              </a:rPr>
              <a:t>Cada miembro del equipo responde a tres preguntas clave:</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FFFFFF"/>
              </a:solidFill>
              <a:latin typeface="Poppins"/>
              <a:ea typeface="Poppins"/>
              <a:cs typeface="Poppins"/>
              <a:sym typeface="Poppins"/>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¿Qué hice ayer?</a:t>
            </a:r>
            <a:endParaRPr b="0" i="0" sz="1400" u="none" cap="none" strike="noStrike">
              <a:solidFill>
                <a:srgbClr val="000000"/>
              </a:solidFill>
              <a:latin typeface="Arial"/>
              <a:ea typeface="Arial"/>
              <a:cs typeface="Arial"/>
              <a:sym typeface="Arial"/>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¿Qué voy a hacer hoy?</a:t>
            </a:r>
            <a:endParaRPr b="0" i="0" sz="1400" u="none" cap="none" strike="noStrike">
              <a:solidFill>
                <a:srgbClr val="000000"/>
              </a:solidFill>
              <a:latin typeface="Arial"/>
              <a:ea typeface="Arial"/>
              <a:cs typeface="Arial"/>
              <a:sym typeface="Arial"/>
            </a:endParaRPr>
          </a:p>
          <a:p>
            <a:pPr indent="-323850" lvl="1" marL="647700" marR="0" rtl="0" algn="l">
              <a:lnSpc>
                <a:spcPct val="160000"/>
              </a:lnSpc>
              <a:spcBef>
                <a:spcPts val="0"/>
              </a:spcBef>
              <a:spcAft>
                <a:spcPts val="0"/>
              </a:spcAft>
              <a:buClr>
                <a:srgbClr val="FFFFFF"/>
              </a:buClr>
              <a:buSzPts val="3000"/>
              <a:buFont typeface="Poppins"/>
              <a:buAutoNum type="arabicPeriod"/>
            </a:pPr>
            <a:r>
              <a:rPr b="0" i="0" lang="en-US" sz="3000" u="none" cap="none" strike="noStrike">
                <a:solidFill>
                  <a:srgbClr val="FFFFFF"/>
                </a:solidFill>
                <a:latin typeface="Poppins"/>
                <a:ea typeface="Poppins"/>
                <a:cs typeface="Poppins"/>
                <a:sym typeface="Poppins"/>
              </a:rPr>
              <a:t> ¿Existen obstáculos que me impidan avanzar en mi trabajo?</a:t>
            </a:r>
            <a:endParaRPr b="0" i="0" sz="1400" u="none" cap="none" strike="noStrike">
              <a:solidFill>
                <a:srgbClr val="000000"/>
              </a:solidFill>
              <a:latin typeface="Arial"/>
              <a:ea typeface="Arial"/>
              <a:cs typeface="Arial"/>
              <a:sym typeface="Arial"/>
            </a:endParaRPr>
          </a:p>
        </p:txBody>
      </p:sp>
      <p:sp>
        <p:nvSpPr>
          <p:cNvPr id="731" name="Google Shape;731;g39ab12478d3_0_715"/>
          <p:cNvSpPr txBox="1"/>
          <p:nvPr/>
        </p:nvSpPr>
        <p:spPr>
          <a:xfrm>
            <a:off x="2533147" y="258763"/>
            <a:ext cx="8910000" cy="123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FFFFFF"/>
                </a:solidFill>
                <a:latin typeface="Montserrat"/>
                <a:ea typeface="Montserrat"/>
                <a:cs typeface="Montserrat"/>
                <a:sym typeface="Montserrat"/>
              </a:rPr>
              <a:t>Daily Scrum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grpSp>
        <p:nvGrpSpPr>
          <p:cNvPr id="736" name="Google Shape;736;g39ab12478d3_0_724"/>
          <p:cNvGrpSpPr/>
          <p:nvPr/>
        </p:nvGrpSpPr>
        <p:grpSpPr>
          <a:xfrm>
            <a:off x="12830342" y="-2557109"/>
            <a:ext cx="5114219" cy="5114219"/>
            <a:chOff x="0" y="0"/>
            <a:chExt cx="812800" cy="812800"/>
          </a:xfrm>
        </p:grpSpPr>
        <p:sp>
          <p:nvSpPr>
            <p:cNvPr id="737" name="Google Shape;737;g39ab12478d3_0_7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39ab12478d3_0_72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39" name="Google Shape;739;g39ab12478d3_0_724"/>
          <p:cNvGrpSpPr/>
          <p:nvPr/>
        </p:nvGrpSpPr>
        <p:grpSpPr>
          <a:xfrm>
            <a:off x="-3033482" y="-5060041"/>
            <a:ext cx="12177451" cy="12177451"/>
            <a:chOff x="0" y="0"/>
            <a:chExt cx="812800" cy="812800"/>
          </a:xfrm>
        </p:grpSpPr>
        <p:sp>
          <p:nvSpPr>
            <p:cNvPr id="740" name="Google Shape;740;g39ab12478d3_0_7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1" name="Google Shape;741;g39ab12478d3_0_72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2" name="Google Shape;742;g39ab12478d3_0_724"/>
          <p:cNvGrpSpPr/>
          <p:nvPr/>
        </p:nvGrpSpPr>
        <p:grpSpPr>
          <a:xfrm>
            <a:off x="-7739137" y="1587776"/>
            <a:ext cx="13824021" cy="13824021"/>
            <a:chOff x="0" y="0"/>
            <a:chExt cx="812800" cy="812800"/>
          </a:xfrm>
        </p:grpSpPr>
        <p:sp>
          <p:nvSpPr>
            <p:cNvPr id="743" name="Google Shape;743;g39ab12478d3_0_7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g39ab12478d3_0_72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5" name="Google Shape;745;g39ab12478d3_0_724"/>
          <p:cNvGrpSpPr/>
          <p:nvPr/>
        </p:nvGrpSpPr>
        <p:grpSpPr>
          <a:xfrm>
            <a:off x="16112506" y="8890227"/>
            <a:ext cx="3148543" cy="3148543"/>
            <a:chOff x="0" y="0"/>
            <a:chExt cx="812800" cy="812800"/>
          </a:xfrm>
        </p:grpSpPr>
        <p:sp>
          <p:nvSpPr>
            <p:cNvPr id="746" name="Google Shape;746;g39ab12478d3_0_7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g39ab12478d3_0_72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48" name="Google Shape;748;g39ab12478d3_0_724"/>
          <p:cNvGrpSpPr/>
          <p:nvPr/>
        </p:nvGrpSpPr>
        <p:grpSpPr>
          <a:xfrm>
            <a:off x="14154910" y="8287133"/>
            <a:ext cx="1206195" cy="1206195"/>
            <a:chOff x="0" y="0"/>
            <a:chExt cx="812800" cy="812800"/>
          </a:xfrm>
        </p:grpSpPr>
        <p:sp>
          <p:nvSpPr>
            <p:cNvPr id="749" name="Google Shape;749;g39ab12478d3_0_72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0" name="Google Shape;750;g39ab12478d3_0_72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51" name="Google Shape;751;g39ab12478d3_0_724"/>
          <p:cNvSpPr txBox="1"/>
          <p:nvPr/>
        </p:nvSpPr>
        <p:spPr>
          <a:xfrm>
            <a:off x="5847922" y="423376"/>
            <a:ext cx="8910000" cy="1231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i="0" lang="en-US" sz="8000" u="none" cap="none" strike="noStrike">
                <a:solidFill>
                  <a:srgbClr val="322E28"/>
                </a:solidFill>
                <a:latin typeface="Montserrat"/>
                <a:ea typeface="Montserrat"/>
                <a:cs typeface="Montserrat"/>
                <a:sym typeface="Montserrat"/>
              </a:rPr>
              <a:t>Sprint Review</a:t>
            </a:r>
            <a:endParaRPr b="0" i="0" sz="1400" u="none" cap="none" strike="noStrike">
              <a:solidFill>
                <a:srgbClr val="000000"/>
              </a:solidFill>
              <a:latin typeface="Arial"/>
              <a:ea typeface="Arial"/>
              <a:cs typeface="Arial"/>
              <a:sym typeface="Arial"/>
            </a:endParaRPr>
          </a:p>
        </p:txBody>
      </p:sp>
      <p:sp>
        <p:nvSpPr>
          <p:cNvPr id="752" name="Google Shape;752;g39ab12478d3_0_724"/>
          <p:cNvSpPr txBox="1"/>
          <p:nvPr/>
        </p:nvSpPr>
        <p:spPr>
          <a:xfrm>
            <a:off x="1897579" y="4160376"/>
            <a:ext cx="14492700" cy="1988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Tiene lugar al final de un sprint, el product owner presenta y evalúa si los equipos han alcanzado el objetivo del sprint, y se asegura de que cada historia de usuario o entregable cumple los criterios predefinidos.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grpSp>
        <p:nvGrpSpPr>
          <p:cNvPr id="757" name="Google Shape;757;g39ab12478d3_0_744"/>
          <p:cNvGrpSpPr/>
          <p:nvPr/>
        </p:nvGrpSpPr>
        <p:grpSpPr>
          <a:xfrm>
            <a:off x="11041213" y="-2557109"/>
            <a:ext cx="5114219" cy="5114219"/>
            <a:chOff x="0" y="0"/>
            <a:chExt cx="812800" cy="812800"/>
          </a:xfrm>
        </p:grpSpPr>
        <p:sp>
          <p:nvSpPr>
            <p:cNvPr id="758" name="Google Shape;758;g39ab12478d3_0_7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g39ab12478d3_0_74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60" name="Google Shape;760;g39ab12478d3_0_744"/>
          <p:cNvGrpSpPr/>
          <p:nvPr/>
        </p:nvGrpSpPr>
        <p:grpSpPr>
          <a:xfrm>
            <a:off x="9538099" y="-343008"/>
            <a:ext cx="12177451" cy="12177451"/>
            <a:chOff x="0" y="0"/>
            <a:chExt cx="812800" cy="812800"/>
          </a:xfrm>
        </p:grpSpPr>
        <p:sp>
          <p:nvSpPr>
            <p:cNvPr id="761" name="Google Shape;761;g39ab12478d3_0_7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g39ab12478d3_0_74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63" name="Google Shape;763;g39ab12478d3_0_744"/>
          <p:cNvGrpSpPr/>
          <p:nvPr/>
        </p:nvGrpSpPr>
        <p:grpSpPr>
          <a:xfrm>
            <a:off x="11041213" y="7176623"/>
            <a:ext cx="8172135" cy="8555204"/>
            <a:chOff x="0" y="-38100"/>
            <a:chExt cx="812800" cy="850900"/>
          </a:xfrm>
        </p:grpSpPr>
        <p:sp>
          <p:nvSpPr>
            <p:cNvPr id="764" name="Google Shape;764;g39ab12478d3_0_744"/>
            <p:cNvSpPr/>
            <p:nvPr/>
          </p:nvSpPr>
          <p:spPr>
            <a:xfrm>
              <a:off x="0" y="0"/>
              <a:ext cx="812800" cy="812800"/>
            </a:xfrm>
            <a:custGeom>
              <a:rect b="b" l="l" r="r" t="t"/>
              <a:pathLst>
                <a:path extrusionOk="0" h="812800" w="812800">
                  <a:moveTo>
                    <a:pt x="127000" y="0"/>
                  </a:moveTo>
                  <a:lnTo>
                    <a:pt x="685800" y="0"/>
                  </a:lnTo>
                  <a:cubicBezTo>
                    <a:pt x="755940" y="0"/>
                    <a:pt x="812800" y="56860"/>
                    <a:pt x="812800" y="127000"/>
                  </a:cubicBezTo>
                  <a:lnTo>
                    <a:pt x="812800" y="685800"/>
                  </a:lnTo>
                  <a:cubicBezTo>
                    <a:pt x="812800" y="755940"/>
                    <a:pt x="755940" y="812800"/>
                    <a:pt x="685800" y="812800"/>
                  </a:cubicBezTo>
                  <a:lnTo>
                    <a:pt x="127000" y="812800"/>
                  </a:lnTo>
                  <a:cubicBezTo>
                    <a:pt x="56860" y="812800"/>
                    <a:pt x="0" y="755940"/>
                    <a:pt x="0" y="685800"/>
                  </a:cubicBezTo>
                  <a:lnTo>
                    <a:pt x="0" y="127000"/>
                  </a:lnTo>
                  <a:cubicBezTo>
                    <a:pt x="0" y="56860"/>
                    <a:pt x="56860" y="0"/>
                    <a:pt x="1270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g39ab12478d3_0_744"/>
            <p:cNvSpPr txBox="1"/>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66" name="Google Shape;766;g39ab12478d3_0_744"/>
          <p:cNvGrpSpPr/>
          <p:nvPr/>
        </p:nvGrpSpPr>
        <p:grpSpPr>
          <a:xfrm>
            <a:off x="-437093" y="9258300"/>
            <a:ext cx="1206195" cy="1206195"/>
            <a:chOff x="0" y="0"/>
            <a:chExt cx="812800" cy="812800"/>
          </a:xfrm>
        </p:grpSpPr>
        <p:sp>
          <p:nvSpPr>
            <p:cNvPr id="767" name="Google Shape;767;g39ab12478d3_0_74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39ab12478d3_0_74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69" name="Google Shape;769;g39ab12478d3_0_744"/>
          <p:cNvSpPr txBox="1"/>
          <p:nvPr/>
        </p:nvSpPr>
        <p:spPr>
          <a:xfrm>
            <a:off x="11529215" y="7997716"/>
            <a:ext cx="6505800" cy="1754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3000"/>
              <a:buFont typeface="Arial"/>
              <a:buNone/>
            </a:pPr>
            <a:r>
              <a:rPr b="0" i="0" lang="en-US" sz="3000" u="none" cap="none" strike="noStrike">
                <a:solidFill>
                  <a:srgbClr val="F9F9F9"/>
                </a:solidFill>
                <a:latin typeface="Poppins"/>
                <a:ea typeface="Poppins"/>
                <a:cs typeface="Poppins"/>
                <a:sym typeface="Poppins"/>
              </a:rPr>
              <a:t>En general, un sprint review dura como máximo 4 horas para un sprint de 4 semanas.</a:t>
            </a:r>
            <a:endParaRPr b="0" i="0" sz="1400" u="none" cap="none" strike="noStrike">
              <a:solidFill>
                <a:srgbClr val="000000"/>
              </a:solidFill>
              <a:latin typeface="Arial"/>
              <a:ea typeface="Arial"/>
              <a:cs typeface="Arial"/>
              <a:sym typeface="Arial"/>
            </a:endParaRPr>
          </a:p>
        </p:txBody>
      </p:sp>
      <p:sp>
        <p:nvSpPr>
          <p:cNvPr id="770" name="Google Shape;770;g39ab12478d3_0_744"/>
          <p:cNvSpPr txBox="1"/>
          <p:nvPr/>
        </p:nvSpPr>
        <p:spPr>
          <a:xfrm>
            <a:off x="2554207" y="1483001"/>
            <a:ext cx="12350100" cy="19881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Los miembros del equipo y las partes interesadas externas asisten y pueden hacer comentarios y preguntas sobre los resultados del sprint.</a:t>
            </a:r>
            <a:endParaRPr b="0" i="0" sz="1400" u="none" cap="none" strike="noStrike">
              <a:solidFill>
                <a:srgbClr val="000000"/>
              </a:solidFill>
              <a:latin typeface="Arial"/>
              <a:ea typeface="Arial"/>
              <a:cs typeface="Arial"/>
              <a:sym typeface="Arial"/>
            </a:endParaRPr>
          </a:p>
        </p:txBody>
      </p:sp>
      <p:sp>
        <p:nvSpPr>
          <p:cNvPr id="771" name="Google Shape;771;g39ab12478d3_0_744"/>
          <p:cNvSpPr/>
          <p:nvPr/>
        </p:nvSpPr>
        <p:spPr>
          <a:xfrm>
            <a:off x="2397998" y="3906972"/>
            <a:ext cx="8096147" cy="5102636"/>
          </a:xfrm>
          <a:custGeom>
            <a:rect b="b" l="l" r="r" t="t"/>
            <a:pathLst>
              <a:path extrusionOk="0" h="5102636" w="8096147">
                <a:moveTo>
                  <a:pt x="0" y="0"/>
                </a:moveTo>
                <a:lnTo>
                  <a:pt x="8096148" y="0"/>
                </a:lnTo>
                <a:lnTo>
                  <a:pt x="8096148" y="5102636"/>
                </a:lnTo>
                <a:lnTo>
                  <a:pt x="0" y="5102636"/>
                </a:lnTo>
                <a:lnTo>
                  <a:pt x="0" y="0"/>
                </a:lnTo>
                <a:close/>
              </a:path>
            </a:pathLst>
          </a:custGeom>
          <a:blipFill rotWithShape="1">
            <a:blip r:embed="rId3">
              <a:alphaModFix/>
            </a:blip>
            <a:stretch>
              <a:fillRect b="0" l="0" r="0" t="-11699"/>
            </a:stretch>
          </a:blipFill>
          <a:ln>
            <a:noFill/>
          </a:ln>
        </p:spPr>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9ab12478d3_0_762"/>
          <p:cNvSpPr/>
          <p:nvPr/>
        </p:nvSpPr>
        <p:spPr>
          <a:xfrm rot="-5400000">
            <a:off x="-2350533" y="1191429"/>
            <a:ext cx="11605211" cy="11039457"/>
          </a:xfrm>
          <a:custGeom>
            <a:rect b="b" l="l" r="r" t="t"/>
            <a:pathLst>
              <a:path extrusionOk="0" h="11039457" w="11605211">
                <a:moveTo>
                  <a:pt x="0" y="0"/>
                </a:moveTo>
                <a:lnTo>
                  <a:pt x="11605211" y="0"/>
                </a:lnTo>
                <a:lnTo>
                  <a:pt x="11605211" y="11039458"/>
                </a:lnTo>
                <a:lnTo>
                  <a:pt x="0" y="11039458"/>
                </a:lnTo>
                <a:lnTo>
                  <a:pt x="0" y="0"/>
                </a:lnTo>
                <a:close/>
              </a:path>
            </a:pathLst>
          </a:custGeom>
          <a:blipFill rotWithShape="1">
            <a:blip r:embed="rId3">
              <a:alphaModFix amt="7000"/>
            </a:blip>
            <a:stretch>
              <a:fillRect b="0" l="0" r="0" t="0"/>
            </a:stretch>
          </a:blipFill>
          <a:ln>
            <a:noFill/>
          </a:ln>
        </p:spPr>
      </p:sp>
      <p:grpSp>
        <p:nvGrpSpPr>
          <p:cNvPr id="777" name="Google Shape;777;g39ab12478d3_0_762"/>
          <p:cNvGrpSpPr/>
          <p:nvPr/>
        </p:nvGrpSpPr>
        <p:grpSpPr>
          <a:xfrm>
            <a:off x="9172451" y="908552"/>
            <a:ext cx="12177451" cy="12177451"/>
            <a:chOff x="0" y="0"/>
            <a:chExt cx="812800" cy="812800"/>
          </a:xfrm>
        </p:grpSpPr>
        <p:sp>
          <p:nvSpPr>
            <p:cNvPr id="778" name="Google Shape;778;g39ab12478d3_0_76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39ab12478d3_0_76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80" name="Google Shape;780;g39ab12478d3_0_762"/>
          <p:cNvSpPr txBox="1"/>
          <p:nvPr/>
        </p:nvSpPr>
        <p:spPr>
          <a:xfrm>
            <a:off x="3234960" y="712462"/>
            <a:ext cx="12026100" cy="1231500"/>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Sprint Retrospective</a:t>
            </a:r>
            <a:endParaRPr b="0" i="0" sz="1400" u="none" cap="none" strike="noStrike">
              <a:solidFill>
                <a:srgbClr val="000000"/>
              </a:solidFill>
              <a:latin typeface="Arial"/>
              <a:ea typeface="Arial"/>
              <a:cs typeface="Arial"/>
              <a:sym typeface="Arial"/>
            </a:endParaRPr>
          </a:p>
        </p:txBody>
      </p:sp>
      <p:sp>
        <p:nvSpPr>
          <p:cNvPr id="781" name="Google Shape;781;g39ab12478d3_0_762"/>
          <p:cNvSpPr/>
          <p:nvPr/>
        </p:nvSpPr>
        <p:spPr>
          <a:xfrm flipH="1" rot="4914294">
            <a:off x="-6128175" y="-1084198"/>
            <a:ext cx="9639972" cy="9639972"/>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g39ab12478d3_0_762"/>
          <p:cNvSpPr/>
          <p:nvPr/>
        </p:nvSpPr>
        <p:spPr>
          <a:xfrm flipH="1" rot="5400000">
            <a:off x="-5192889" y="-3013837"/>
            <a:ext cx="9643853" cy="9643853"/>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03989E"/>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83" name="Google Shape;783;g39ab12478d3_0_762"/>
          <p:cNvGrpSpPr/>
          <p:nvPr/>
        </p:nvGrpSpPr>
        <p:grpSpPr>
          <a:xfrm>
            <a:off x="15226066" y="-3136897"/>
            <a:ext cx="6123879" cy="6123879"/>
            <a:chOff x="0" y="0"/>
            <a:chExt cx="812800" cy="812800"/>
          </a:xfrm>
        </p:grpSpPr>
        <p:sp>
          <p:nvSpPr>
            <p:cNvPr id="784" name="Google Shape;784;g39ab12478d3_0_76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39ab12478d3_0_76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86" name="Google Shape;786;g39ab12478d3_0_762"/>
          <p:cNvGrpSpPr/>
          <p:nvPr/>
        </p:nvGrpSpPr>
        <p:grpSpPr>
          <a:xfrm>
            <a:off x="16324255" y="9258300"/>
            <a:ext cx="1742074" cy="1742074"/>
            <a:chOff x="0" y="0"/>
            <a:chExt cx="812800" cy="812800"/>
          </a:xfrm>
        </p:grpSpPr>
        <p:sp>
          <p:nvSpPr>
            <p:cNvPr id="787" name="Google Shape;787;g39ab12478d3_0_76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39ab12478d3_0_762"/>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789" name="Google Shape;789;g39ab12478d3_0_762"/>
          <p:cNvSpPr txBox="1"/>
          <p:nvPr/>
        </p:nvSpPr>
        <p:spPr>
          <a:xfrm>
            <a:off x="2683962" y="3293507"/>
            <a:ext cx="12920100" cy="5633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3000"/>
              <a:buFont typeface="Arial"/>
              <a:buNone/>
            </a:pPr>
            <a:r>
              <a:rPr b="0" i="0" lang="en-US" sz="3000" u="none" cap="none" strike="noStrike">
                <a:solidFill>
                  <a:srgbClr val="000000"/>
                </a:solidFill>
                <a:latin typeface="Poppins Light"/>
                <a:ea typeface="Poppins Light"/>
                <a:cs typeface="Poppins Light"/>
                <a:sym typeface="Poppins Light"/>
              </a:rPr>
              <a:t>Después de sprint review, se reailza una reunión donde los miembros del equipo reflexionan sobre qué salió bien y qué podría mejorarse en el próximo sprint.</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000000"/>
              </a:solidFill>
              <a:latin typeface="Poppins Light"/>
              <a:ea typeface="Poppins Light"/>
              <a:cs typeface="Poppins Light"/>
              <a:sym typeface="Poppins Light"/>
            </a:endParaRPr>
          </a:p>
          <a:p>
            <a:pPr indent="0" lvl="0" marL="0" marR="0" rtl="0" algn="l">
              <a:lnSpc>
                <a:spcPct val="160000"/>
              </a:lnSpc>
              <a:spcBef>
                <a:spcPts val="0"/>
              </a:spcBef>
              <a:spcAft>
                <a:spcPts val="0"/>
              </a:spcAft>
              <a:buClr>
                <a:srgbClr val="000000"/>
              </a:buClr>
              <a:buSzPts val="3000"/>
              <a:buFont typeface="Arial"/>
              <a:buNone/>
            </a:pPr>
            <a:r>
              <a:rPr b="0" i="0" lang="en-US" sz="3000" u="none" cap="none" strike="noStrike">
                <a:solidFill>
                  <a:srgbClr val="000000"/>
                </a:solidFill>
                <a:latin typeface="Poppins Light"/>
                <a:ea typeface="Poppins Light"/>
                <a:cs typeface="Poppins Light"/>
                <a:sym typeface="Poppins Light"/>
              </a:rPr>
              <a:t>Para ello, los integrantes del equipo responder a tres preguntas sobre el últimos sprint:  ¿qué ha ido bien durante el sprint? ¿qué se puede mejorar? y ¿qué ha fallado?</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000000"/>
              </a:solidFill>
              <a:latin typeface="Poppins Light"/>
              <a:ea typeface="Poppins Light"/>
              <a:cs typeface="Poppins Light"/>
              <a:sym typeface="Poppins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989E"/>
        </a:solidFill>
      </p:bgPr>
    </p:bg>
    <p:spTree>
      <p:nvGrpSpPr>
        <p:cNvPr id="793" name="Shape 793"/>
        <p:cNvGrpSpPr/>
        <p:nvPr/>
      </p:nvGrpSpPr>
      <p:grpSpPr>
        <a:xfrm>
          <a:off x="0" y="0"/>
          <a:ext cx="0" cy="0"/>
          <a:chOff x="0" y="0"/>
          <a:chExt cx="0" cy="0"/>
        </a:xfrm>
      </p:grpSpPr>
      <p:grpSp>
        <p:nvGrpSpPr>
          <p:cNvPr id="794" name="Google Shape;794;g39ab12478d3_0_779"/>
          <p:cNvGrpSpPr/>
          <p:nvPr/>
        </p:nvGrpSpPr>
        <p:grpSpPr>
          <a:xfrm>
            <a:off x="11301677" y="841157"/>
            <a:ext cx="9807407" cy="9807407"/>
            <a:chOff x="0" y="0"/>
            <a:chExt cx="812800" cy="812800"/>
          </a:xfrm>
        </p:grpSpPr>
        <p:sp>
          <p:nvSpPr>
            <p:cNvPr id="795" name="Google Shape;795;g39ab12478d3_0_7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39ab12478d3_0_77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797" name="Google Shape;797;g39ab12478d3_0_779"/>
          <p:cNvGrpSpPr/>
          <p:nvPr/>
        </p:nvGrpSpPr>
        <p:grpSpPr>
          <a:xfrm>
            <a:off x="15664096" y="-1498702"/>
            <a:ext cx="3978412" cy="3978412"/>
            <a:chOff x="0" y="0"/>
            <a:chExt cx="812800" cy="812800"/>
          </a:xfrm>
        </p:grpSpPr>
        <p:sp>
          <p:nvSpPr>
            <p:cNvPr id="798" name="Google Shape;798;g39ab12478d3_0_7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g39ab12478d3_0_77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00" name="Google Shape;800;g39ab12478d3_0_779"/>
          <p:cNvGrpSpPr/>
          <p:nvPr/>
        </p:nvGrpSpPr>
        <p:grpSpPr>
          <a:xfrm>
            <a:off x="13983437" y="841157"/>
            <a:ext cx="1147836" cy="1147836"/>
            <a:chOff x="0" y="0"/>
            <a:chExt cx="812800" cy="812800"/>
          </a:xfrm>
        </p:grpSpPr>
        <p:sp>
          <p:nvSpPr>
            <p:cNvPr id="801" name="Google Shape;801;g39ab12478d3_0_77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g39ab12478d3_0_779"/>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03" name="Google Shape;803;g39ab12478d3_0_779"/>
          <p:cNvSpPr/>
          <p:nvPr/>
        </p:nvSpPr>
        <p:spPr>
          <a:xfrm>
            <a:off x="10977163" y="3671509"/>
            <a:ext cx="6282137" cy="4114800"/>
          </a:xfrm>
          <a:custGeom>
            <a:rect b="b" l="l" r="r" t="t"/>
            <a:pathLst>
              <a:path extrusionOk="0" h="4114800" w="6282137">
                <a:moveTo>
                  <a:pt x="0" y="0"/>
                </a:moveTo>
                <a:lnTo>
                  <a:pt x="6282137" y="0"/>
                </a:lnTo>
                <a:lnTo>
                  <a:pt x="6282137" y="4114800"/>
                </a:lnTo>
                <a:lnTo>
                  <a:pt x="0" y="4114800"/>
                </a:lnTo>
                <a:lnTo>
                  <a:pt x="0" y="0"/>
                </a:lnTo>
                <a:close/>
              </a:path>
            </a:pathLst>
          </a:custGeom>
          <a:blipFill rotWithShape="1">
            <a:blip r:embed="rId3">
              <a:alphaModFix/>
            </a:blip>
            <a:stretch>
              <a:fillRect b="0" l="0" r="0" t="0"/>
            </a:stretch>
          </a:blipFill>
          <a:ln>
            <a:noFill/>
          </a:ln>
        </p:spPr>
      </p:sp>
      <p:sp>
        <p:nvSpPr>
          <p:cNvPr id="804" name="Google Shape;804;g39ab12478d3_0_779"/>
          <p:cNvSpPr txBox="1"/>
          <p:nvPr/>
        </p:nvSpPr>
        <p:spPr>
          <a:xfrm>
            <a:off x="1028700" y="1133023"/>
            <a:ext cx="10656900" cy="15207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3800"/>
              <a:buFont typeface="Arial"/>
              <a:buNone/>
            </a:pPr>
            <a:r>
              <a:rPr b="0" i="0" lang="en-US" sz="3800" u="none" cap="none" strike="noStrike">
                <a:solidFill>
                  <a:srgbClr val="FEFEFE"/>
                </a:solidFill>
                <a:latin typeface="Poppins Light"/>
                <a:ea typeface="Poppins Light"/>
                <a:cs typeface="Poppins Light"/>
                <a:sym typeface="Poppins Light"/>
              </a:rPr>
              <a:t>Con una retrospectiva del sprint, el equipo puede lograr:</a:t>
            </a:r>
            <a:endParaRPr b="0" i="0" sz="1400" u="none" cap="none" strike="noStrike">
              <a:solidFill>
                <a:srgbClr val="000000"/>
              </a:solidFill>
              <a:latin typeface="Arial"/>
              <a:ea typeface="Arial"/>
              <a:cs typeface="Arial"/>
              <a:sym typeface="Arial"/>
            </a:endParaRPr>
          </a:p>
        </p:txBody>
      </p:sp>
      <p:sp>
        <p:nvSpPr>
          <p:cNvPr id="805" name="Google Shape;805;g39ab12478d3_0_779"/>
          <p:cNvSpPr txBox="1"/>
          <p:nvPr/>
        </p:nvSpPr>
        <p:spPr>
          <a:xfrm>
            <a:off x="1650431" y="3528634"/>
            <a:ext cx="8965800" cy="4894800"/>
          </a:xfrm>
          <a:prstGeom prst="rect">
            <a:avLst/>
          </a:prstGeom>
          <a:noFill/>
          <a:ln>
            <a:noFill/>
          </a:ln>
        </p:spPr>
        <p:txBody>
          <a:bodyPr anchorCtr="0" anchor="t" bIns="0" lIns="0" spcFirstLastPara="1" rIns="0" wrap="square" tIns="0">
            <a:spAutoFit/>
          </a:bodyPr>
          <a:lstStyle/>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Reconocer y continuar realizando las tareas que generan resultados. </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FEFEFE"/>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Identificar áreas de mejora.</a:t>
            </a:r>
            <a:endParaRPr b="0" i="0" sz="1400" u="none" cap="none" strike="noStrike">
              <a:solidFill>
                <a:srgbClr val="000000"/>
              </a:solidFill>
              <a:latin typeface="Arial"/>
              <a:ea typeface="Arial"/>
              <a:cs typeface="Arial"/>
              <a:sym typeface="Arial"/>
            </a:endParaRPr>
          </a:p>
          <a:p>
            <a:pPr indent="0" lvl="0" marL="0" marR="0" rtl="0" algn="l">
              <a:lnSpc>
                <a:spcPct val="160000"/>
              </a:lnSpc>
              <a:spcBef>
                <a:spcPts val="0"/>
              </a:spcBef>
              <a:spcAft>
                <a:spcPts val="0"/>
              </a:spcAft>
              <a:buClr>
                <a:srgbClr val="000000"/>
              </a:buClr>
              <a:buSzPts val="3000"/>
              <a:buFont typeface="Arial"/>
              <a:buNone/>
            </a:pPr>
            <a:r>
              <a:t/>
            </a:r>
            <a:endParaRPr b="0" i="0" sz="3000" u="none" cap="none" strike="noStrike">
              <a:solidFill>
                <a:srgbClr val="FEFEFE"/>
              </a:solidFill>
              <a:latin typeface="Poppins Light"/>
              <a:ea typeface="Poppins Light"/>
              <a:cs typeface="Poppins Light"/>
              <a:sym typeface="Poppins Light"/>
            </a:endParaRPr>
          </a:p>
          <a:p>
            <a:pPr indent="-323850" lvl="1" marL="647700" marR="0" rtl="0" algn="l">
              <a:lnSpc>
                <a:spcPct val="160000"/>
              </a:lnSpc>
              <a:spcBef>
                <a:spcPts val="0"/>
              </a:spcBef>
              <a:spcAft>
                <a:spcPts val="0"/>
              </a:spcAft>
              <a:buClr>
                <a:srgbClr val="FEFEFE"/>
              </a:buClr>
              <a:buSzPts val="3000"/>
              <a:buFont typeface="Arial"/>
              <a:buChar char="•"/>
            </a:pPr>
            <a:r>
              <a:rPr b="0" i="0" lang="en-US" sz="3000" u="none" cap="none" strike="noStrike">
                <a:solidFill>
                  <a:srgbClr val="FEFEFE"/>
                </a:solidFill>
                <a:latin typeface="Poppins Light"/>
                <a:ea typeface="Poppins Light"/>
                <a:cs typeface="Poppins Light"/>
                <a:sym typeface="Poppins Light"/>
              </a:rPr>
              <a:t>Crear un plan para implementar mejoras en el proceso de planificación de sprints.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3F4"/>
        </a:solidFill>
      </p:bgPr>
    </p:bg>
    <p:spTree>
      <p:nvGrpSpPr>
        <p:cNvPr id="809" name="Shape 809"/>
        <p:cNvGrpSpPr/>
        <p:nvPr/>
      </p:nvGrpSpPr>
      <p:grpSpPr>
        <a:xfrm>
          <a:off x="0" y="0"/>
          <a:ext cx="0" cy="0"/>
          <a:chOff x="0" y="0"/>
          <a:chExt cx="0" cy="0"/>
        </a:xfrm>
      </p:grpSpPr>
      <p:grpSp>
        <p:nvGrpSpPr>
          <p:cNvPr id="810" name="Google Shape;810;g39ab12478d3_0_794"/>
          <p:cNvGrpSpPr/>
          <p:nvPr/>
        </p:nvGrpSpPr>
        <p:grpSpPr>
          <a:xfrm>
            <a:off x="15664096" y="-1498702"/>
            <a:ext cx="3978412" cy="3978412"/>
            <a:chOff x="0" y="0"/>
            <a:chExt cx="812800" cy="812800"/>
          </a:xfrm>
        </p:grpSpPr>
        <p:sp>
          <p:nvSpPr>
            <p:cNvPr id="811" name="Google Shape;811;g39ab12478d3_0_79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g39ab12478d3_0_79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13" name="Google Shape;813;g39ab12478d3_0_794"/>
          <p:cNvGrpSpPr/>
          <p:nvPr/>
        </p:nvGrpSpPr>
        <p:grpSpPr>
          <a:xfrm>
            <a:off x="13983437" y="841157"/>
            <a:ext cx="1147836" cy="1147836"/>
            <a:chOff x="0" y="0"/>
            <a:chExt cx="812800" cy="812800"/>
          </a:xfrm>
        </p:grpSpPr>
        <p:sp>
          <p:nvSpPr>
            <p:cNvPr id="814" name="Google Shape;814;g39ab12478d3_0_79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F9F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5" name="Google Shape;815;g39ab12478d3_0_79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16" name="Google Shape;816;g39ab12478d3_0_794"/>
          <p:cNvSpPr/>
          <p:nvPr/>
        </p:nvSpPr>
        <p:spPr>
          <a:xfrm>
            <a:off x="949764" y="1902298"/>
            <a:ext cx="16309536" cy="6482404"/>
          </a:xfrm>
          <a:custGeom>
            <a:rect b="b" l="l" r="r" t="t"/>
            <a:pathLst>
              <a:path extrusionOk="0" h="6482404" w="16309536">
                <a:moveTo>
                  <a:pt x="0" y="0"/>
                </a:moveTo>
                <a:lnTo>
                  <a:pt x="16309536" y="0"/>
                </a:lnTo>
                <a:lnTo>
                  <a:pt x="16309536" y="6482404"/>
                </a:lnTo>
                <a:lnTo>
                  <a:pt x="0" y="648240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grpSp>
        <p:nvGrpSpPr>
          <p:cNvPr id="821" name="Google Shape;821;g39ab12478d3_0_804"/>
          <p:cNvGrpSpPr/>
          <p:nvPr/>
        </p:nvGrpSpPr>
        <p:grpSpPr>
          <a:xfrm>
            <a:off x="-1028061" y="-2700651"/>
            <a:ext cx="12177451" cy="12177451"/>
            <a:chOff x="0" y="0"/>
            <a:chExt cx="812800" cy="812800"/>
          </a:xfrm>
        </p:grpSpPr>
        <p:sp>
          <p:nvSpPr>
            <p:cNvPr id="822" name="Google Shape;822;g39ab12478d3_0_8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F3F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g39ab12478d3_0_80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24" name="Google Shape;824;g39ab12478d3_0_804"/>
          <p:cNvSpPr/>
          <p:nvPr/>
        </p:nvSpPr>
        <p:spPr>
          <a:xfrm rot="5279728">
            <a:off x="9275631" y="93050"/>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grpSp>
        <p:nvGrpSpPr>
          <p:cNvPr id="825" name="Google Shape;825;g39ab12478d3_0_804"/>
          <p:cNvGrpSpPr/>
          <p:nvPr/>
        </p:nvGrpSpPr>
        <p:grpSpPr>
          <a:xfrm>
            <a:off x="13478670" y="5514656"/>
            <a:ext cx="12177451" cy="12177451"/>
            <a:chOff x="0" y="0"/>
            <a:chExt cx="812800" cy="812800"/>
          </a:xfrm>
        </p:grpSpPr>
        <p:sp>
          <p:nvSpPr>
            <p:cNvPr id="826" name="Google Shape;826;g39ab12478d3_0_8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g39ab12478d3_0_80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28" name="Google Shape;828;g39ab12478d3_0_804"/>
          <p:cNvSpPr txBox="1"/>
          <p:nvPr/>
        </p:nvSpPr>
        <p:spPr>
          <a:xfrm>
            <a:off x="2711654" y="234182"/>
            <a:ext cx="12864600" cy="2955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Técnicas de Estimación en Scrum</a:t>
            </a:r>
            <a:endParaRPr b="0" i="0" sz="1400" u="none" cap="none" strike="noStrike">
              <a:solidFill>
                <a:srgbClr val="000000"/>
              </a:solidFill>
              <a:latin typeface="Arial"/>
              <a:ea typeface="Arial"/>
              <a:cs typeface="Arial"/>
              <a:sym typeface="Arial"/>
            </a:endParaRPr>
          </a:p>
        </p:txBody>
      </p:sp>
      <p:grpSp>
        <p:nvGrpSpPr>
          <p:cNvPr id="829" name="Google Shape;829;g39ab12478d3_0_804"/>
          <p:cNvGrpSpPr/>
          <p:nvPr/>
        </p:nvGrpSpPr>
        <p:grpSpPr>
          <a:xfrm>
            <a:off x="14733054" y="-2477251"/>
            <a:ext cx="3505932" cy="3505932"/>
            <a:chOff x="0" y="0"/>
            <a:chExt cx="812800" cy="812800"/>
          </a:xfrm>
        </p:grpSpPr>
        <p:sp>
          <p:nvSpPr>
            <p:cNvPr id="830" name="Google Shape;830;g39ab12478d3_0_8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39ab12478d3_0_80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32" name="Google Shape;832;g39ab12478d3_0_804"/>
          <p:cNvGrpSpPr/>
          <p:nvPr/>
        </p:nvGrpSpPr>
        <p:grpSpPr>
          <a:xfrm>
            <a:off x="-120068" y="-379636"/>
            <a:ext cx="1551473" cy="1551473"/>
            <a:chOff x="0" y="0"/>
            <a:chExt cx="812800" cy="812800"/>
          </a:xfrm>
        </p:grpSpPr>
        <p:sp>
          <p:nvSpPr>
            <p:cNvPr id="833" name="Google Shape;833;g39ab12478d3_0_8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g39ab12478d3_0_80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35" name="Google Shape;835;g39ab12478d3_0_804"/>
          <p:cNvGrpSpPr/>
          <p:nvPr/>
        </p:nvGrpSpPr>
        <p:grpSpPr>
          <a:xfrm>
            <a:off x="-3909957" y="8534677"/>
            <a:ext cx="6437620" cy="6437620"/>
            <a:chOff x="0" y="0"/>
            <a:chExt cx="812800" cy="812800"/>
          </a:xfrm>
        </p:grpSpPr>
        <p:sp>
          <p:nvSpPr>
            <p:cNvPr id="836" name="Google Shape;836;g39ab12478d3_0_8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g39ab12478d3_0_80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38" name="Google Shape;838;g39ab12478d3_0_804"/>
          <p:cNvSpPr txBox="1"/>
          <p:nvPr/>
        </p:nvSpPr>
        <p:spPr>
          <a:xfrm>
            <a:off x="1539754" y="3921197"/>
            <a:ext cx="14036700" cy="345330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Uno de los atributos que deben tener los elementos del Product Backlog es la estimación, gracias a la cual el equipo SCRUM podrá seleccionar durante la planificación del Sprint, en función de la capacidad que tenga el equipo de desarrollo, los elementos del Backlog que piensa que se podrán acometer dentro del siguiente Sprint.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grpSp>
        <p:nvGrpSpPr>
          <p:cNvPr id="843" name="Google Shape;843;g39ab12478d3_0_825"/>
          <p:cNvGrpSpPr/>
          <p:nvPr/>
        </p:nvGrpSpPr>
        <p:grpSpPr>
          <a:xfrm>
            <a:off x="16395487" y="-293046"/>
            <a:ext cx="6123879" cy="6123879"/>
            <a:chOff x="0" y="0"/>
            <a:chExt cx="812800" cy="812800"/>
          </a:xfrm>
        </p:grpSpPr>
        <p:sp>
          <p:nvSpPr>
            <p:cNvPr id="844" name="Google Shape;844;g39ab12478d3_0_8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g39ab12478d3_0_82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46" name="Google Shape;846;g39ab12478d3_0_825"/>
          <p:cNvGrpSpPr/>
          <p:nvPr/>
        </p:nvGrpSpPr>
        <p:grpSpPr>
          <a:xfrm>
            <a:off x="7279939" y="2503540"/>
            <a:ext cx="12177451" cy="12177451"/>
            <a:chOff x="0" y="0"/>
            <a:chExt cx="812800" cy="812800"/>
          </a:xfrm>
        </p:grpSpPr>
        <p:sp>
          <p:nvSpPr>
            <p:cNvPr id="847" name="Google Shape;847;g39ab12478d3_0_8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8" name="Google Shape;848;g39ab12478d3_0_82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49" name="Google Shape;849;g39ab12478d3_0_825"/>
          <p:cNvSpPr txBox="1"/>
          <p:nvPr/>
        </p:nvSpPr>
        <p:spPr>
          <a:xfrm>
            <a:off x="1525412" y="901845"/>
            <a:ext cx="9807000" cy="12315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i="0" lang="en-US" sz="8000" u="none" cap="none" strike="noStrike">
                <a:solidFill>
                  <a:srgbClr val="000000"/>
                </a:solidFill>
                <a:latin typeface="Montserrat"/>
                <a:ea typeface="Montserrat"/>
                <a:cs typeface="Montserrat"/>
                <a:sym typeface="Montserrat"/>
              </a:rPr>
              <a:t>Planning Póker</a:t>
            </a:r>
            <a:endParaRPr b="0" i="0" sz="1400" u="none" cap="none" strike="noStrike">
              <a:solidFill>
                <a:srgbClr val="000000"/>
              </a:solidFill>
              <a:latin typeface="Arial"/>
              <a:ea typeface="Arial"/>
              <a:cs typeface="Arial"/>
              <a:sym typeface="Arial"/>
            </a:endParaRPr>
          </a:p>
        </p:txBody>
      </p:sp>
      <p:grpSp>
        <p:nvGrpSpPr>
          <p:cNvPr id="850" name="Google Shape;850;g39ab12478d3_0_825"/>
          <p:cNvGrpSpPr/>
          <p:nvPr/>
        </p:nvGrpSpPr>
        <p:grpSpPr>
          <a:xfrm>
            <a:off x="15347286" y="-1541874"/>
            <a:ext cx="6123879" cy="6123879"/>
            <a:chOff x="0" y="0"/>
            <a:chExt cx="812800" cy="812800"/>
          </a:xfrm>
        </p:grpSpPr>
        <p:sp>
          <p:nvSpPr>
            <p:cNvPr id="851" name="Google Shape;851;g39ab12478d3_0_8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2" name="Google Shape;852;g39ab12478d3_0_82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53" name="Google Shape;853;g39ab12478d3_0_825"/>
          <p:cNvGrpSpPr/>
          <p:nvPr/>
        </p:nvGrpSpPr>
        <p:grpSpPr>
          <a:xfrm>
            <a:off x="-880628" y="9258300"/>
            <a:ext cx="1909348" cy="1909348"/>
            <a:chOff x="0" y="0"/>
            <a:chExt cx="812800" cy="812800"/>
          </a:xfrm>
        </p:grpSpPr>
        <p:sp>
          <p:nvSpPr>
            <p:cNvPr id="854" name="Google Shape;854;g39ab12478d3_0_8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5" name="Google Shape;855;g39ab12478d3_0_82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56" name="Google Shape;856;g39ab12478d3_0_825"/>
          <p:cNvGrpSpPr/>
          <p:nvPr/>
        </p:nvGrpSpPr>
        <p:grpSpPr>
          <a:xfrm>
            <a:off x="16168502" y="8712901"/>
            <a:ext cx="1090778" cy="1090778"/>
            <a:chOff x="0" y="0"/>
            <a:chExt cx="812800" cy="812800"/>
          </a:xfrm>
        </p:grpSpPr>
        <p:sp>
          <p:nvSpPr>
            <p:cNvPr id="857" name="Google Shape;857;g39ab12478d3_0_82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44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g39ab12478d3_0_825"/>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59" name="Google Shape;859;g39ab12478d3_0_825"/>
          <p:cNvSpPr txBox="1"/>
          <p:nvPr/>
        </p:nvSpPr>
        <p:spPr>
          <a:xfrm>
            <a:off x="1753280" y="3528801"/>
            <a:ext cx="14781300" cy="41859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Poppins"/>
                <a:ea typeface="Poppins"/>
                <a:cs typeface="Poppins"/>
                <a:sym typeface="Poppins"/>
              </a:rPr>
              <a:t>Los participantes emplean cartas con una numeración especial que asignan a cada uno de los elementos del Product Backlog. Después de estimar un elemento del Product Backlog, las personas que han otorgado la mayor y la menor puntuación explican los motivos por los que han escogido dicha puntuación y se vuelve a realizar la estimación, así hasta que se llegue a un consenso.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grpSp>
        <p:nvGrpSpPr>
          <p:cNvPr id="864" name="Google Shape;864;g39ab12478d3_0_845"/>
          <p:cNvGrpSpPr/>
          <p:nvPr/>
        </p:nvGrpSpPr>
        <p:grpSpPr>
          <a:xfrm>
            <a:off x="-5977612" y="-140854"/>
            <a:ext cx="12177451" cy="12177451"/>
            <a:chOff x="0" y="0"/>
            <a:chExt cx="812800" cy="812800"/>
          </a:xfrm>
        </p:grpSpPr>
        <p:sp>
          <p:nvSpPr>
            <p:cNvPr id="865" name="Google Shape;865;g39ab12478d3_0_84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g39ab12478d3_0_84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67" name="Google Shape;867;g39ab12478d3_0_845"/>
          <p:cNvSpPr/>
          <p:nvPr/>
        </p:nvSpPr>
        <p:spPr>
          <a:xfrm rot="5279728">
            <a:off x="8528374" y="132879"/>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868" name="Google Shape;868;g39ab12478d3_0_845"/>
          <p:cNvSpPr/>
          <p:nvPr/>
        </p:nvSpPr>
        <p:spPr>
          <a:xfrm flipH="1" rot="8560425">
            <a:off x="11443404" y="-3384421"/>
            <a:ext cx="6482740" cy="6482740"/>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69" name="Google Shape;869;g39ab12478d3_0_845"/>
          <p:cNvGrpSpPr/>
          <p:nvPr/>
        </p:nvGrpSpPr>
        <p:grpSpPr>
          <a:xfrm>
            <a:off x="-774951" y="8735978"/>
            <a:ext cx="2592344" cy="2592344"/>
            <a:chOff x="0" y="0"/>
            <a:chExt cx="812800" cy="812800"/>
          </a:xfrm>
        </p:grpSpPr>
        <p:sp>
          <p:nvSpPr>
            <p:cNvPr id="870" name="Google Shape;870;g39ab12478d3_0_84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g39ab12478d3_0_84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72" name="Google Shape;872;g39ab12478d3_0_845"/>
          <p:cNvGrpSpPr/>
          <p:nvPr/>
        </p:nvGrpSpPr>
        <p:grpSpPr>
          <a:xfrm>
            <a:off x="15989384" y="8506591"/>
            <a:ext cx="1503436" cy="1503436"/>
            <a:chOff x="0" y="0"/>
            <a:chExt cx="812800" cy="812800"/>
          </a:xfrm>
        </p:grpSpPr>
        <p:sp>
          <p:nvSpPr>
            <p:cNvPr id="873" name="Google Shape;873;g39ab12478d3_0_84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4" name="Google Shape;874;g39ab12478d3_0_845"/>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75" name="Google Shape;875;g39ab12478d3_0_845"/>
          <p:cNvSpPr/>
          <p:nvPr/>
        </p:nvSpPr>
        <p:spPr>
          <a:xfrm>
            <a:off x="8370802" y="808311"/>
            <a:ext cx="8888498" cy="8222733"/>
          </a:xfrm>
          <a:custGeom>
            <a:rect b="b" l="l" r="r" t="t"/>
            <a:pathLst>
              <a:path extrusionOk="0" h="8222733" w="8888498">
                <a:moveTo>
                  <a:pt x="0" y="0"/>
                </a:moveTo>
                <a:lnTo>
                  <a:pt x="8888498" y="0"/>
                </a:lnTo>
                <a:lnTo>
                  <a:pt x="8888498" y="8222732"/>
                </a:lnTo>
                <a:lnTo>
                  <a:pt x="0" y="8222732"/>
                </a:lnTo>
                <a:lnTo>
                  <a:pt x="0" y="0"/>
                </a:lnTo>
                <a:close/>
              </a:path>
            </a:pathLst>
          </a:custGeom>
          <a:blipFill rotWithShape="1">
            <a:blip r:embed="rId4">
              <a:alphaModFix/>
            </a:blip>
            <a:stretch>
              <a:fillRect b="0" l="-2370" r="0" t="0"/>
            </a:stretch>
          </a:blipFill>
          <a:ln>
            <a:noFill/>
          </a:ln>
        </p:spPr>
      </p:sp>
      <p:sp>
        <p:nvSpPr>
          <p:cNvPr id="876" name="Google Shape;876;g39ab12478d3_0_845"/>
          <p:cNvSpPr txBox="1"/>
          <p:nvPr/>
        </p:nvSpPr>
        <p:spPr>
          <a:xfrm>
            <a:off x="1028700" y="3696032"/>
            <a:ext cx="6946800" cy="27207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En el planning póker, la numeración de las cartas está basada en una serie de Fibonnacci (0, 1, 2, 3, 5, 8, 13, 21 34,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grpSp>
        <p:nvGrpSpPr>
          <p:cNvPr id="881" name="Google Shape;881;g39ab12478d3_0_861"/>
          <p:cNvGrpSpPr/>
          <p:nvPr/>
        </p:nvGrpSpPr>
        <p:grpSpPr>
          <a:xfrm>
            <a:off x="11041213" y="-1363795"/>
            <a:ext cx="5114219" cy="5114219"/>
            <a:chOff x="0" y="0"/>
            <a:chExt cx="812800" cy="812800"/>
          </a:xfrm>
        </p:grpSpPr>
        <p:sp>
          <p:nvSpPr>
            <p:cNvPr id="882" name="Google Shape;882;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84" name="Google Shape;884;g39ab12478d3_0_861"/>
          <p:cNvGrpSpPr/>
          <p:nvPr/>
        </p:nvGrpSpPr>
        <p:grpSpPr>
          <a:xfrm>
            <a:off x="5767078" y="1595298"/>
            <a:ext cx="12177451" cy="12177451"/>
            <a:chOff x="0" y="0"/>
            <a:chExt cx="812800" cy="812800"/>
          </a:xfrm>
        </p:grpSpPr>
        <p:sp>
          <p:nvSpPr>
            <p:cNvPr id="885" name="Google Shape;885;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87" name="Google Shape;887;g39ab12478d3_0_861"/>
          <p:cNvGrpSpPr/>
          <p:nvPr/>
        </p:nvGrpSpPr>
        <p:grpSpPr>
          <a:xfrm>
            <a:off x="-3188068" y="-155486"/>
            <a:ext cx="13824021" cy="13824021"/>
            <a:chOff x="0" y="0"/>
            <a:chExt cx="812800" cy="812800"/>
          </a:xfrm>
        </p:grpSpPr>
        <p:sp>
          <p:nvSpPr>
            <p:cNvPr id="888" name="Google Shape;888;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DCAB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90" name="Google Shape;890;g39ab12478d3_0_861"/>
          <p:cNvGrpSpPr/>
          <p:nvPr/>
        </p:nvGrpSpPr>
        <p:grpSpPr>
          <a:xfrm>
            <a:off x="-3411167" y="-9622428"/>
            <a:ext cx="13824021" cy="13824021"/>
            <a:chOff x="0" y="0"/>
            <a:chExt cx="812800" cy="812800"/>
          </a:xfrm>
        </p:grpSpPr>
        <p:sp>
          <p:nvSpPr>
            <p:cNvPr id="891" name="Google Shape;891;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2" name="Google Shape;892;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93" name="Google Shape;893;g39ab12478d3_0_861"/>
          <p:cNvGrpSpPr/>
          <p:nvPr/>
        </p:nvGrpSpPr>
        <p:grpSpPr>
          <a:xfrm>
            <a:off x="16370299" y="7684039"/>
            <a:ext cx="3148543" cy="3148543"/>
            <a:chOff x="0" y="0"/>
            <a:chExt cx="812800" cy="812800"/>
          </a:xfrm>
        </p:grpSpPr>
        <p:sp>
          <p:nvSpPr>
            <p:cNvPr id="894" name="Google Shape;894;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896" name="Google Shape;896;g39ab12478d3_0_861"/>
          <p:cNvGrpSpPr/>
          <p:nvPr/>
        </p:nvGrpSpPr>
        <p:grpSpPr>
          <a:xfrm>
            <a:off x="14758003" y="7684039"/>
            <a:ext cx="1206195" cy="1206195"/>
            <a:chOff x="0" y="0"/>
            <a:chExt cx="812800" cy="812800"/>
          </a:xfrm>
        </p:grpSpPr>
        <p:sp>
          <p:nvSpPr>
            <p:cNvPr id="897" name="Google Shape;897;g39ab12478d3_0_8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39ab12478d3_0_861"/>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899" name="Google Shape;899;g39ab12478d3_0_861"/>
          <p:cNvSpPr txBox="1"/>
          <p:nvPr/>
        </p:nvSpPr>
        <p:spPr>
          <a:xfrm>
            <a:off x="605713" y="828204"/>
            <a:ext cx="9807000" cy="12315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i="0" lang="en-US" sz="8000" u="none" cap="none" strike="noStrike">
                <a:solidFill>
                  <a:srgbClr val="FEFEFE"/>
                </a:solidFill>
                <a:latin typeface="Montserrat"/>
                <a:ea typeface="Montserrat"/>
                <a:cs typeface="Montserrat"/>
                <a:sym typeface="Montserrat"/>
              </a:rPr>
              <a:t>T-Shirt Sizes</a:t>
            </a:r>
            <a:endParaRPr b="0" i="0" sz="1400" u="none" cap="none" strike="noStrike">
              <a:solidFill>
                <a:srgbClr val="000000"/>
              </a:solidFill>
              <a:latin typeface="Arial"/>
              <a:ea typeface="Arial"/>
              <a:cs typeface="Arial"/>
              <a:sym typeface="Arial"/>
            </a:endParaRPr>
          </a:p>
        </p:txBody>
      </p:sp>
      <p:sp>
        <p:nvSpPr>
          <p:cNvPr id="900" name="Google Shape;900;g39ab12478d3_0_861"/>
          <p:cNvSpPr txBox="1"/>
          <p:nvPr/>
        </p:nvSpPr>
        <p:spPr>
          <a:xfrm>
            <a:off x="605713" y="4703349"/>
            <a:ext cx="16621800" cy="345330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Clr>
                <a:srgbClr val="000000"/>
              </a:buClr>
              <a:buSzPts val="3399"/>
              <a:buFont typeface="Arial"/>
              <a:buNone/>
            </a:pPr>
            <a:r>
              <a:rPr b="0" i="0" lang="en-US" sz="3399" u="none" cap="none" strike="noStrike">
                <a:solidFill>
                  <a:srgbClr val="000000"/>
                </a:solidFill>
                <a:latin typeface="Open Sans"/>
                <a:ea typeface="Open Sans"/>
                <a:cs typeface="Open Sans"/>
                <a:sym typeface="Open Sans"/>
              </a:rPr>
              <a:t>Esta técnica se basa en asignar tallas de camiseta (XS, S, M L, XL) a la hora de estimar en vez de utilizar números, lo cual puede ayudar a que los miembros del equipo a adoptar la idea de una estimación relativa desasociando el valor de la estimación de un elemento del Product Backlog con el esfuerzo equivalente necesario para su implementación.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grpSp>
        <p:nvGrpSpPr>
          <p:cNvPr id="905" name="Google Shape;905;g39ab12478d3_0_884"/>
          <p:cNvGrpSpPr/>
          <p:nvPr/>
        </p:nvGrpSpPr>
        <p:grpSpPr>
          <a:xfrm>
            <a:off x="-5567519" y="-576376"/>
            <a:ext cx="12177451" cy="12177451"/>
            <a:chOff x="0" y="0"/>
            <a:chExt cx="812800" cy="812800"/>
          </a:xfrm>
        </p:grpSpPr>
        <p:sp>
          <p:nvSpPr>
            <p:cNvPr id="906" name="Google Shape;906;g39ab12478d3_0_88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929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39ab12478d3_0_88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08" name="Google Shape;908;g39ab12478d3_0_884"/>
          <p:cNvSpPr/>
          <p:nvPr/>
        </p:nvSpPr>
        <p:spPr>
          <a:xfrm rot="5279728">
            <a:off x="9541469" y="331833"/>
            <a:ext cx="11612317" cy="11046217"/>
          </a:xfrm>
          <a:custGeom>
            <a:rect b="b" l="l" r="r" t="t"/>
            <a:pathLst>
              <a:path extrusionOk="0" h="11039457" w="11605211">
                <a:moveTo>
                  <a:pt x="0" y="0"/>
                </a:moveTo>
                <a:lnTo>
                  <a:pt x="11605211" y="0"/>
                </a:lnTo>
                <a:lnTo>
                  <a:pt x="11605211" y="11039457"/>
                </a:lnTo>
                <a:lnTo>
                  <a:pt x="0" y="11039457"/>
                </a:lnTo>
                <a:lnTo>
                  <a:pt x="0" y="0"/>
                </a:lnTo>
                <a:close/>
              </a:path>
            </a:pathLst>
          </a:custGeom>
          <a:blipFill rotWithShape="1">
            <a:blip r:embed="rId3">
              <a:alphaModFix amt="7000"/>
            </a:blip>
            <a:stretch>
              <a:fillRect b="0" l="0" r="0" t="0"/>
            </a:stretch>
          </a:blipFill>
          <a:ln>
            <a:noFill/>
          </a:ln>
        </p:spPr>
      </p:sp>
      <p:sp>
        <p:nvSpPr>
          <p:cNvPr id="909" name="Google Shape;909;g39ab12478d3_0_884"/>
          <p:cNvSpPr/>
          <p:nvPr/>
        </p:nvSpPr>
        <p:spPr>
          <a:xfrm flipH="1" rot="8560425">
            <a:off x="11443404" y="-3384421"/>
            <a:ext cx="6482740" cy="6482740"/>
          </a:xfrm>
          <a:custGeom>
            <a:rect b="b" l="l" r="r" t="t"/>
            <a:pathLst>
              <a:path extrusionOk="0" h="3331210" w="3331210">
                <a:moveTo>
                  <a:pt x="3331210" y="3331210"/>
                </a:moveTo>
                <a:lnTo>
                  <a:pt x="3331210" y="0"/>
                </a:lnTo>
                <a:cubicBezTo>
                  <a:pt x="1490980" y="0"/>
                  <a:pt x="0" y="1490980"/>
                  <a:pt x="0" y="3331210"/>
                </a:cubicBezTo>
                <a:lnTo>
                  <a:pt x="3331210" y="3331210"/>
                </a:lnTo>
                <a:close/>
              </a:path>
            </a:pathLst>
          </a:custGeom>
          <a:solidFill>
            <a:srgbClr val="CDCABB"/>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10" name="Google Shape;910;g39ab12478d3_0_884"/>
          <p:cNvGrpSpPr/>
          <p:nvPr/>
        </p:nvGrpSpPr>
        <p:grpSpPr>
          <a:xfrm>
            <a:off x="-774951" y="8735978"/>
            <a:ext cx="2592344" cy="2592344"/>
            <a:chOff x="0" y="0"/>
            <a:chExt cx="812800" cy="812800"/>
          </a:xfrm>
        </p:grpSpPr>
        <p:sp>
          <p:nvSpPr>
            <p:cNvPr id="911" name="Google Shape;911;g39ab12478d3_0_88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39ab12478d3_0_88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913" name="Google Shape;913;g39ab12478d3_0_884"/>
          <p:cNvGrpSpPr/>
          <p:nvPr/>
        </p:nvGrpSpPr>
        <p:grpSpPr>
          <a:xfrm>
            <a:off x="15989384" y="8506591"/>
            <a:ext cx="1503436" cy="1503436"/>
            <a:chOff x="0" y="0"/>
            <a:chExt cx="812800" cy="812800"/>
          </a:xfrm>
        </p:grpSpPr>
        <p:sp>
          <p:nvSpPr>
            <p:cNvPr id="914" name="Google Shape;914;g39ab12478d3_0_88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989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g39ab12478d3_0_884"/>
            <p:cNvSpPr txBox="1"/>
            <p:nvPr/>
          </p:nvSpPr>
          <p:spPr>
            <a:xfrm>
              <a:off x="76200" y="38100"/>
              <a:ext cx="660300" cy="6984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16" name="Google Shape;916;g39ab12478d3_0_884"/>
          <p:cNvSpPr/>
          <p:nvPr/>
        </p:nvSpPr>
        <p:spPr>
          <a:xfrm>
            <a:off x="514350" y="1563031"/>
            <a:ext cx="17259300" cy="6404075"/>
          </a:xfrm>
          <a:custGeom>
            <a:rect b="b" l="l" r="r" t="t"/>
            <a:pathLst>
              <a:path extrusionOk="0" h="6404075" w="17259300">
                <a:moveTo>
                  <a:pt x="0" y="0"/>
                </a:moveTo>
                <a:lnTo>
                  <a:pt x="17259300" y="0"/>
                </a:lnTo>
                <a:lnTo>
                  <a:pt x="17259300" y="6404075"/>
                </a:lnTo>
                <a:lnTo>
                  <a:pt x="0" y="6404075"/>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id="921" name="Google Shape;921;g39ab12478d3_0_899" title="Gemini_Generated_Image_u2i06ou2i06ou2i0.png"/>
          <p:cNvPicPr preferRelativeResize="0"/>
          <p:nvPr/>
        </p:nvPicPr>
        <p:blipFill rotWithShape="1">
          <a:blip r:embed="rId3">
            <a:alphaModFix/>
          </a:blip>
          <a:srcRect b="0" l="0" r="0" t="0"/>
          <a:stretch/>
        </p:blipFill>
        <p:spPr>
          <a:xfrm>
            <a:off x="0" y="3"/>
            <a:ext cx="4695574" cy="6434676"/>
          </a:xfrm>
          <a:prstGeom prst="rect">
            <a:avLst/>
          </a:prstGeom>
          <a:noFill/>
          <a:ln>
            <a:noFill/>
          </a:ln>
        </p:spPr>
      </p:pic>
      <p:sp>
        <p:nvSpPr>
          <p:cNvPr id="922" name="Google Shape;922;g39ab12478d3_0_899"/>
          <p:cNvSpPr txBox="1"/>
          <p:nvPr/>
        </p:nvSpPr>
        <p:spPr>
          <a:xfrm>
            <a:off x="2148439" y="4077814"/>
            <a:ext cx="13991100" cy="3059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 teór</a:t>
            </a:r>
            <a:r>
              <a:rPr lang="en-US" sz="6098">
                <a:solidFill>
                  <a:srgbClr val="131416"/>
                </a:solidFill>
                <a:latin typeface="Impact"/>
                <a:ea typeface="Impact"/>
                <a:cs typeface="Impact"/>
                <a:sym typeface="Impact"/>
              </a:rPr>
              <a:t>ico </a:t>
            </a:r>
            <a:r>
              <a:rPr b="0" i="0" lang="en-US" sz="6098" u="none" cap="none" strike="noStrike">
                <a:solidFill>
                  <a:srgbClr val="131416"/>
                </a:solidFill>
                <a:latin typeface="Impact"/>
                <a:ea typeface="Impact"/>
                <a:cs typeface="Impact"/>
                <a:sym typeface="Impact"/>
              </a:rPr>
              <a:t>práctico</a:t>
            </a:r>
            <a:endParaRPr b="0" i="0" sz="6098" u="none" cap="none" strike="noStrike">
              <a:solidFill>
                <a:srgbClr val="131416"/>
              </a:solidFill>
              <a:latin typeface="Impact"/>
              <a:ea typeface="Impact"/>
              <a:cs typeface="Impact"/>
              <a:sym typeface="Impact"/>
            </a:endParaRPr>
          </a:p>
          <a:p>
            <a:pPr indent="0" lvl="0" marL="0" marR="0" rtl="0" algn="ctr">
              <a:lnSpc>
                <a:spcPct val="112987"/>
              </a:lnSpc>
              <a:spcBef>
                <a:spcPts val="0"/>
              </a:spcBef>
              <a:spcAft>
                <a:spcPts val="0"/>
              </a:spcAft>
              <a:buClr>
                <a:srgbClr val="000000"/>
              </a:buClr>
              <a:buSzPts val="6098"/>
              <a:buFont typeface="Arial"/>
              <a:buNone/>
            </a:pPr>
            <a:r>
              <a:rPr lang="en-US" sz="6098">
                <a:solidFill>
                  <a:srgbClr val="131416"/>
                </a:solidFill>
                <a:latin typeface="Impact"/>
                <a:ea typeface="Impact"/>
                <a:cs typeface="Impact"/>
                <a:sym typeface="Impact"/>
              </a:rPr>
              <a:t>Relación de las historias de usuario con el Backlog</a:t>
            </a:r>
            <a:endParaRPr sz="6098">
              <a:solidFill>
                <a:srgbClr val="131416"/>
              </a:solidFill>
              <a:latin typeface="Impact"/>
              <a:ea typeface="Impact"/>
              <a:cs typeface="Impact"/>
              <a:sym typeface="Impac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grpSp>
        <p:nvGrpSpPr>
          <p:cNvPr id="927" name="Google Shape;927;g39ab12478d3_0_904"/>
          <p:cNvGrpSpPr/>
          <p:nvPr/>
        </p:nvGrpSpPr>
        <p:grpSpPr>
          <a:xfrm>
            <a:off x="7279939" y="2503540"/>
            <a:ext cx="12177451" cy="12177451"/>
            <a:chOff x="0" y="0"/>
            <a:chExt cx="812800" cy="812800"/>
          </a:xfrm>
        </p:grpSpPr>
        <p:sp>
          <p:nvSpPr>
            <p:cNvPr id="928" name="Google Shape;928;g39ab12478d3_0_90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51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9" name="Google Shape;929;g39ab12478d3_0_904"/>
            <p:cNvSpPr txBox="1"/>
            <p:nvPr/>
          </p:nvSpPr>
          <p:spPr>
            <a:xfrm>
              <a:off x="76200" y="19050"/>
              <a:ext cx="660300" cy="7176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930" name="Google Shape;930;g39ab12478d3_0_904"/>
          <p:cNvSpPr txBox="1"/>
          <p:nvPr/>
        </p:nvSpPr>
        <p:spPr>
          <a:xfrm>
            <a:off x="1505119" y="962225"/>
            <a:ext cx="11560500" cy="9852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6400">
                <a:latin typeface="Montserrat"/>
                <a:ea typeface="Montserrat"/>
                <a:cs typeface="Montserrat"/>
                <a:sym typeface="Montserrat"/>
              </a:rPr>
              <a:t>Problema a resolver</a:t>
            </a:r>
            <a:endParaRPr b="0" i="0" sz="900" u="none" cap="none" strike="noStrike">
              <a:solidFill>
                <a:srgbClr val="000000"/>
              </a:solidFill>
              <a:latin typeface="Arial"/>
              <a:ea typeface="Arial"/>
              <a:cs typeface="Arial"/>
              <a:sym typeface="Arial"/>
            </a:endParaRPr>
          </a:p>
        </p:txBody>
      </p:sp>
      <p:sp>
        <p:nvSpPr>
          <p:cNvPr id="931" name="Google Shape;931;g39ab12478d3_0_904"/>
          <p:cNvSpPr txBox="1"/>
          <p:nvPr/>
        </p:nvSpPr>
        <p:spPr>
          <a:xfrm>
            <a:off x="1505125" y="2361703"/>
            <a:ext cx="15021900" cy="74160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Hola equipo, soy Roberto, dueño del gimnasio FitLife.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Tenemos un problema: muchos clientes llegan a las clases y ya no hay cupo porque no tenemos forma de controlar las reservas. Todo lo manejamos por WhatsApp y llamadas, y es un desastre.</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Necesito urgente un sistema donde mis clientes puedan ver qué clases hay disponibles y reservar su lugar. No necesito nada muy elaborado por ahora, solo que funcione lo básico: que se registren, que reserven clases y que  nosotros podamos controlar los cupos.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Tenemos clases de yoga, spinning y crossfit. Cada clase tiene máximo 15  personas y queremos que nadie pueda reservar más de 3 clases por semana para que todos tengan oportunidad.</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¿Pueden tener algo funcionando en 2 semanas? Aunque sea lo mínimo para  probarlo con unos 50 clientes. Después vemos de ir agregando más cosas."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 Roberto, FitLife Gym</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g39ab12478d3_0_912"/>
          <p:cNvSpPr/>
          <p:nvPr/>
        </p:nvSpPr>
        <p:spPr>
          <a:xfrm>
            <a:off x="934475" y="2355350"/>
            <a:ext cx="16597800" cy="676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37" name="Google Shape;937;g39ab12478d3_0_912"/>
          <p:cNvSpPr txBox="1"/>
          <p:nvPr/>
        </p:nvSpPr>
        <p:spPr>
          <a:xfrm>
            <a:off x="1253698" y="1222525"/>
            <a:ext cx="11560500" cy="8619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5600">
                <a:latin typeface="Montserrat"/>
                <a:ea typeface="Montserrat"/>
                <a:cs typeface="Montserrat"/>
                <a:sym typeface="Montserrat"/>
              </a:rPr>
              <a:t> </a:t>
            </a:r>
            <a:r>
              <a:rPr b="1" lang="en-US" sz="4000">
                <a:latin typeface="Montserrat"/>
                <a:ea typeface="Montserrat"/>
                <a:cs typeface="Montserrat"/>
                <a:sym typeface="Montserrat"/>
              </a:rPr>
              <a:t>Creación de Historias de Usuario (Plantilla)</a:t>
            </a:r>
            <a:endParaRPr b="0" i="0" sz="4000" u="none" cap="none" strike="noStrike">
              <a:solidFill>
                <a:srgbClr val="000000"/>
              </a:solidFill>
              <a:latin typeface="Arial"/>
              <a:ea typeface="Arial"/>
              <a:cs typeface="Arial"/>
              <a:sym typeface="Arial"/>
            </a:endParaRPr>
          </a:p>
        </p:txBody>
      </p:sp>
      <p:sp>
        <p:nvSpPr>
          <p:cNvPr id="938" name="Google Shape;938;g39ab12478d3_0_912"/>
          <p:cNvSpPr txBox="1"/>
          <p:nvPr/>
        </p:nvSpPr>
        <p:spPr>
          <a:xfrm>
            <a:off x="1788850" y="3172325"/>
            <a:ext cx="6056400" cy="4831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ID:</a:t>
            </a:r>
            <a:r>
              <a:rPr lang="en-US" sz="1999">
                <a:latin typeface="Poppins"/>
                <a:ea typeface="Poppins"/>
                <a:cs typeface="Poppins"/>
                <a:sym typeface="Poppins"/>
              </a:rPr>
              <a:t> [HU-XXX]</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TÍTULO: </a:t>
            </a:r>
            <a:r>
              <a:rPr lang="en-US" sz="1999">
                <a:latin typeface="Poppins"/>
                <a:ea typeface="Poppins"/>
                <a:cs typeface="Poppins"/>
                <a:sym typeface="Poppins"/>
              </a:rPr>
              <a:t>[Nombre corto y descriptivo de la funcionalidad]</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DESCRIPCIÓN: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Como [tipo de usuario],</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quiero [acción o funcionalidad que necesita],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para [beneficio u objetivo que busca lograr].</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
        <p:nvSpPr>
          <p:cNvPr id="939" name="Google Shape;939;g39ab12478d3_0_912"/>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0" name="Google Shape;940;g39ab12478d3_0_912"/>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Antes del Sprint Planning</a:t>
            </a:r>
            <a:endParaRPr b="0" i="0" sz="1400" u="none" cap="none" strike="noStrike">
              <a:solidFill>
                <a:srgbClr val="000000"/>
              </a:solidFill>
              <a:latin typeface="Arial"/>
              <a:ea typeface="Arial"/>
              <a:cs typeface="Arial"/>
              <a:sym typeface="Arial"/>
            </a:endParaRPr>
          </a:p>
        </p:txBody>
      </p:sp>
      <p:sp>
        <p:nvSpPr>
          <p:cNvPr id="941" name="Google Shape;941;g39ab12478d3_0_912"/>
          <p:cNvSpPr txBox="1"/>
          <p:nvPr/>
        </p:nvSpPr>
        <p:spPr>
          <a:xfrm>
            <a:off x="8588495" y="3172327"/>
            <a:ext cx="8153400" cy="44004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CRITERIOS DE ACEPTACIÓN: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1. [Condición específica que debe cumplirse]</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2. [Condición específica que debe cumplirse]</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3. [Condición específica que debe cumplirse]</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PRIORIDAD:</a:t>
            </a:r>
            <a:r>
              <a:rPr lang="en-US" sz="1999">
                <a:latin typeface="Poppins"/>
                <a:ea typeface="Poppins"/>
                <a:cs typeface="Poppins"/>
                <a:sym typeface="Poppins"/>
              </a:rPr>
              <a:t> [ALTA / MEDIA / BAJA]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ESTIMACIÓN: </a:t>
            </a:r>
            <a:r>
              <a:rPr lang="en-US" sz="1999">
                <a:latin typeface="Poppins"/>
                <a:ea typeface="Poppins"/>
                <a:cs typeface="Poppins"/>
                <a:sym typeface="Poppins"/>
              </a:rPr>
              <a:t>[X Story Points]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DEPENDENCIAS:</a:t>
            </a:r>
            <a:r>
              <a:rPr lang="en-US" sz="1999">
                <a:latin typeface="Poppins"/>
                <a:ea typeface="Poppins"/>
                <a:cs typeface="Poppins"/>
                <a:sym typeface="Poppins"/>
              </a:rPr>
              <a:t> [Ninguna]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5" name="Shape 945"/>
        <p:cNvGrpSpPr/>
        <p:nvPr/>
      </p:nvGrpSpPr>
      <p:grpSpPr>
        <a:xfrm>
          <a:off x="0" y="0"/>
          <a:ext cx="0" cy="0"/>
          <a:chOff x="0" y="0"/>
          <a:chExt cx="0" cy="0"/>
        </a:xfrm>
      </p:grpSpPr>
      <p:sp>
        <p:nvSpPr>
          <p:cNvPr id="946" name="Google Shape;946;g39ab12478d3_0_921"/>
          <p:cNvSpPr/>
          <p:nvPr/>
        </p:nvSpPr>
        <p:spPr>
          <a:xfrm>
            <a:off x="934475" y="2355350"/>
            <a:ext cx="16597800" cy="676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7" name="Google Shape;947;g39ab12478d3_0_921"/>
          <p:cNvSpPr txBox="1"/>
          <p:nvPr/>
        </p:nvSpPr>
        <p:spPr>
          <a:xfrm>
            <a:off x="1253698" y="1222525"/>
            <a:ext cx="11560500" cy="8619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5600">
                <a:latin typeface="Montserrat"/>
                <a:ea typeface="Montserrat"/>
                <a:cs typeface="Montserrat"/>
                <a:sym typeface="Montserrat"/>
              </a:rPr>
              <a:t> </a:t>
            </a:r>
            <a:r>
              <a:rPr b="1" lang="en-US" sz="4000">
                <a:latin typeface="Montserrat"/>
                <a:ea typeface="Montserrat"/>
                <a:cs typeface="Montserrat"/>
                <a:sym typeface="Montserrat"/>
              </a:rPr>
              <a:t>Creación de Historias de Usuario (HU-001)</a:t>
            </a:r>
            <a:endParaRPr b="0" i="0" sz="4000" u="none" cap="none" strike="noStrike">
              <a:solidFill>
                <a:srgbClr val="000000"/>
              </a:solidFill>
              <a:latin typeface="Arial"/>
              <a:ea typeface="Arial"/>
              <a:cs typeface="Arial"/>
              <a:sym typeface="Arial"/>
            </a:endParaRPr>
          </a:p>
        </p:txBody>
      </p:sp>
      <p:sp>
        <p:nvSpPr>
          <p:cNvPr id="948" name="Google Shape;948;g39ab12478d3_0_921"/>
          <p:cNvSpPr txBox="1"/>
          <p:nvPr/>
        </p:nvSpPr>
        <p:spPr>
          <a:xfrm>
            <a:off x="1788850" y="3172325"/>
            <a:ext cx="6056400" cy="4831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ID:</a:t>
            </a:r>
            <a:r>
              <a:rPr lang="en-US" sz="1999">
                <a:latin typeface="Poppins"/>
                <a:ea typeface="Poppins"/>
                <a:cs typeface="Poppins"/>
                <a:sym typeface="Poppins"/>
              </a:rPr>
              <a:t> HU-001</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TÍTULO: </a:t>
            </a:r>
            <a:r>
              <a:rPr lang="en-US" sz="1999">
                <a:latin typeface="Poppins"/>
                <a:ea typeface="Poppins"/>
                <a:cs typeface="Poppins"/>
                <a:sym typeface="Poppins"/>
              </a:rPr>
              <a:t>Registro de nuevo miembro</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DESCRIPCIÓN: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Como nuevo cliente del gimnasio,</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quiero registrarme en el sistema con mis datos personales,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para poder reservar clases grupales.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
        <p:nvSpPr>
          <p:cNvPr id="949" name="Google Shape;949;g39ab12478d3_0_921"/>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50" name="Google Shape;950;g39ab12478d3_0_921"/>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Antes del Sprint Planning</a:t>
            </a:r>
            <a:endParaRPr b="0" i="0" sz="1400" u="none" cap="none" strike="noStrike">
              <a:solidFill>
                <a:srgbClr val="000000"/>
              </a:solidFill>
              <a:latin typeface="Arial"/>
              <a:ea typeface="Arial"/>
              <a:cs typeface="Arial"/>
              <a:sym typeface="Arial"/>
            </a:endParaRPr>
          </a:p>
        </p:txBody>
      </p:sp>
      <p:sp>
        <p:nvSpPr>
          <p:cNvPr id="951" name="Google Shape;951;g39ab12478d3_0_921"/>
          <p:cNvSpPr txBox="1"/>
          <p:nvPr/>
        </p:nvSpPr>
        <p:spPr>
          <a:xfrm>
            <a:off x="8588495" y="3172327"/>
            <a:ext cx="8153400" cy="61236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CRITERIOS DE ACEPTACIÓN: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1. El sistema debe solicitar: nombre, apellido, email, teléfono, fecha de nacimiento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2. El email no puede estar duplicado en el sistema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3. Al completar el registro, se envía un email de confirmación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4. El sistema debe validar que el usuario sea mayor de 16 años 5. El formulario muestra mensajes de error claros si hay campos inválidos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PRIORIDAD:</a:t>
            </a:r>
            <a:r>
              <a:rPr lang="en-US" sz="1999">
                <a:latin typeface="Poppins"/>
                <a:ea typeface="Poppins"/>
                <a:cs typeface="Poppins"/>
                <a:sym typeface="Poppins"/>
              </a:rPr>
              <a:t> ALTA (crítica para usar el sistema)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ESTIMACIÓN: </a:t>
            </a:r>
            <a:r>
              <a:rPr lang="en-US" sz="1999">
                <a:latin typeface="Poppins"/>
                <a:ea typeface="Poppins"/>
                <a:cs typeface="Poppins"/>
                <a:sym typeface="Poppins"/>
              </a:rPr>
              <a:t>(se hará en el Sprint Planning)</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DEPENDENCIAS:</a:t>
            </a:r>
            <a:r>
              <a:rPr lang="en-US" sz="1999">
                <a:latin typeface="Poppins"/>
                <a:ea typeface="Poppins"/>
                <a:cs typeface="Poppins"/>
                <a:sym typeface="Poppins"/>
              </a:rPr>
              <a:t> Ninguna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9ab12478d3_0_930"/>
          <p:cNvSpPr/>
          <p:nvPr/>
        </p:nvSpPr>
        <p:spPr>
          <a:xfrm>
            <a:off x="934475" y="2355350"/>
            <a:ext cx="16597800" cy="676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57" name="Google Shape;957;g39ab12478d3_0_930"/>
          <p:cNvSpPr txBox="1"/>
          <p:nvPr/>
        </p:nvSpPr>
        <p:spPr>
          <a:xfrm>
            <a:off x="1253698" y="1222525"/>
            <a:ext cx="11560500" cy="8619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5600">
                <a:latin typeface="Montserrat"/>
                <a:ea typeface="Montserrat"/>
                <a:cs typeface="Montserrat"/>
                <a:sym typeface="Montserrat"/>
              </a:rPr>
              <a:t> </a:t>
            </a:r>
            <a:r>
              <a:rPr b="1" lang="en-US" sz="4000">
                <a:latin typeface="Montserrat"/>
                <a:ea typeface="Montserrat"/>
                <a:cs typeface="Montserrat"/>
                <a:sym typeface="Montserrat"/>
              </a:rPr>
              <a:t>Creación de Historias de Usuario (HU-002)</a:t>
            </a:r>
            <a:endParaRPr b="0" i="0" sz="4000" u="none" cap="none" strike="noStrike">
              <a:solidFill>
                <a:srgbClr val="000000"/>
              </a:solidFill>
              <a:latin typeface="Arial"/>
              <a:ea typeface="Arial"/>
              <a:cs typeface="Arial"/>
              <a:sym typeface="Arial"/>
            </a:endParaRPr>
          </a:p>
        </p:txBody>
      </p:sp>
      <p:sp>
        <p:nvSpPr>
          <p:cNvPr id="958" name="Google Shape;958;g39ab12478d3_0_930"/>
          <p:cNvSpPr txBox="1"/>
          <p:nvPr/>
        </p:nvSpPr>
        <p:spPr>
          <a:xfrm>
            <a:off x="1788850" y="3172325"/>
            <a:ext cx="5331300" cy="4831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ID:</a:t>
            </a:r>
            <a:r>
              <a:rPr lang="en-US" sz="1999">
                <a:latin typeface="Poppins"/>
                <a:ea typeface="Poppins"/>
                <a:cs typeface="Poppins"/>
                <a:sym typeface="Poppins"/>
              </a:rPr>
              <a:t> HU-002</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TÍTULO: </a:t>
            </a:r>
            <a:r>
              <a:rPr lang="en-US" sz="1999">
                <a:latin typeface="Poppins"/>
                <a:ea typeface="Poppins"/>
                <a:cs typeface="Poppins"/>
                <a:sym typeface="Poppins"/>
              </a:rPr>
              <a:t>Reserva de clase grupal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DESCRIPCIÓN: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Como miembro registrado del gimnasio, quiero reservar una clase grupal seleccionando fecha y horario, para asegurar mi lugar en la clase.</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
        <p:nvSpPr>
          <p:cNvPr id="959" name="Google Shape;959;g39ab12478d3_0_930"/>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60" name="Google Shape;960;g39ab12478d3_0_930"/>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Antes del Sprint Planning</a:t>
            </a:r>
            <a:endParaRPr b="0" i="0" sz="1400" u="none" cap="none" strike="noStrike">
              <a:solidFill>
                <a:srgbClr val="000000"/>
              </a:solidFill>
              <a:latin typeface="Arial"/>
              <a:ea typeface="Arial"/>
              <a:cs typeface="Arial"/>
              <a:sym typeface="Arial"/>
            </a:endParaRPr>
          </a:p>
        </p:txBody>
      </p:sp>
      <p:sp>
        <p:nvSpPr>
          <p:cNvPr id="961" name="Google Shape;961;g39ab12478d3_0_930"/>
          <p:cNvSpPr txBox="1"/>
          <p:nvPr/>
        </p:nvSpPr>
        <p:spPr>
          <a:xfrm>
            <a:off x="7760076" y="2800250"/>
            <a:ext cx="8981700" cy="69852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CRITERIOS DE ACEPTACIÓN: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1. El sistema muestra lista de clases disponibles con cupos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2. El usuario puede filtrar por tipo de clase (yoga, spinning, crossfit)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3. El usuario puede filtrar por fecha y horario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4. Al reservar, el sistema confirma la reserva inmediatamente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5. Si la clase está llena, el sistema muestra mensaje de "cupo completo"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6. Se envía email de confirmación con detalles de la reserva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7. El usuario no puede reservar más de 3 clases por semana (regla del gym)</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PRIORIDAD:</a:t>
            </a:r>
            <a:r>
              <a:rPr lang="en-US" sz="1999">
                <a:latin typeface="Poppins"/>
                <a:ea typeface="Poppins"/>
                <a:cs typeface="Poppins"/>
                <a:sym typeface="Poppins"/>
              </a:rPr>
              <a:t> ALTA (funcionalidad principal)</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ESTIMACIÓN: </a:t>
            </a:r>
            <a:r>
              <a:rPr lang="en-US" sz="1999">
                <a:latin typeface="Poppins"/>
                <a:ea typeface="Poppins"/>
                <a:cs typeface="Poppins"/>
                <a:sym typeface="Poppins"/>
              </a:rPr>
              <a:t>(se hará en el Sprint Planning)</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DEPENDENCIAS:</a:t>
            </a:r>
            <a:r>
              <a:rPr lang="en-US" sz="1999">
                <a:latin typeface="Poppins"/>
                <a:ea typeface="Poppins"/>
                <a:cs typeface="Poppins"/>
                <a:sym typeface="Poppins"/>
              </a:rPr>
              <a:t> HU-001 (debe existir usuario registrado)</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g39ab12478d3_0_939"/>
          <p:cNvSpPr/>
          <p:nvPr/>
        </p:nvSpPr>
        <p:spPr>
          <a:xfrm>
            <a:off x="934475" y="2355350"/>
            <a:ext cx="16597800" cy="6768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67" name="Google Shape;967;g39ab12478d3_0_939"/>
          <p:cNvSpPr txBox="1"/>
          <p:nvPr/>
        </p:nvSpPr>
        <p:spPr>
          <a:xfrm>
            <a:off x="1253698" y="1222525"/>
            <a:ext cx="11560500" cy="8619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5600">
                <a:latin typeface="Montserrat"/>
                <a:ea typeface="Montserrat"/>
                <a:cs typeface="Montserrat"/>
                <a:sym typeface="Montserrat"/>
              </a:rPr>
              <a:t> </a:t>
            </a:r>
            <a:r>
              <a:rPr b="1" lang="en-US" sz="4000">
                <a:latin typeface="Montserrat"/>
                <a:ea typeface="Montserrat"/>
                <a:cs typeface="Montserrat"/>
                <a:sym typeface="Montserrat"/>
              </a:rPr>
              <a:t>Creación de Historias de Usuario (HU-003)</a:t>
            </a:r>
            <a:endParaRPr b="0" i="0" sz="4000" u="none" cap="none" strike="noStrike">
              <a:solidFill>
                <a:srgbClr val="000000"/>
              </a:solidFill>
              <a:latin typeface="Arial"/>
              <a:ea typeface="Arial"/>
              <a:cs typeface="Arial"/>
              <a:sym typeface="Arial"/>
            </a:endParaRPr>
          </a:p>
        </p:txBody>
      </p:sp>
      <p:sp>
        <p:nvSpPr>
          <p:cNvPr id="968" name="Google Shape;968;g39ab12478d3_0_939"/>
          <p:cNvSpPr txBox="1"/>
          <p:nvPr/>
        </p:nvSpPr>
        <p:spPr>
          <a:xfrm>
            <a:off x="1788850" y="3172325"/>
            <a:ext cx="5331300" cy="52620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ID:</a:t>
            </a:r>
            <a:r>
              <a:rPr lang="en-US" sz="1999">
                <a:latin typeface="Poppins"/>
                <a:ea typeface="Poppins"/>
                <a:cs typeface="Poppins"/>
                <a:sym typeface="Poppins"/>
              </a:rPr>
              <a:t> HU-003</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TÍTULO: </a:t>
            </a:r>
            <a:r>
              <a:rPr lang="en-US" sz="1999">
                <a:latin typeface="Poppins"/>
                <a:ea typeface="Poppins"/>
                <a:cs typeface="Poppins"/>
                <a:sym typeface="Poppins"/>
              </a:rPr>
              <a:t>Visualización de historial de reservas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DESCRIPCIÓN: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Como miembro del gimnasio, quiero ver un listado de todas mis reservas (pasadas y futuras), para llevar control de mis clases.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
        <p:nvSpPr>
          <p:cNvPr id="969" name="Google Shape;969;g39ab12478d3_0_939"/>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0" name="Google Shape;970;g39ab12478d3_0_939"/>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Antes del Sprint Planning</a:t>
            </a:r>
            <a:endParaRPr b="0" i="0" sz="1400" u="none" cap="none" strike="noStrike">
              <a:solidFill>
                <a:srgbClr val="000000"/>
              </a:solidFill>
              <a:latin typeface="Arial"/>
              <a:ea typeface="Arial"/>
              <a:cs typeface="Arial"/>
              <a:sym typeface="Arial"/>
            </a:endParaRPr>
          </a:p>
        </p:txBody>
      </p:sp>
      <p:sp>
        <p:nvSpPr>
          <p:cNvPr id="971" name="Google Shape;971;g39ab12478d3_0_939"/>
          <p:cNvSpPr txBox="1"/>
          <p:nvPr/>
        </p:nvSpPr>
        <p:spPr>
          <a:xfrm>
            <a:off x="7760076" y="2800250"/>
            <a:ext cx="8981700" cy="5692800"/>
          </a:xfrm>
          <a:prstGeom prst="rect">
            <a:avLst/>
          </a:prstGeom>
          <a:noFill/>
          <a:ln>
            <a:noFill/>
          </a:ln>
        </p:spPr>
        <p:txBody>
          <a:bodyPr anchorCtr="0" anchor="t" bIns="0" lIns="0" spcFirstLastPara="1" rIns="0" wrap="square" tIns="0">
            <a:spAutoFit/>
          </a:bodyPr>
          <a:lstStyle/>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CRITERIOS DE ACEPTACIÓN:</a:t>
            </a:r>
            <a:endParaRPr b="1"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1.  El sistema muestra lista ordenada por fecha (más reciente primero)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2. Se muestra: fecha, hora, tipo de clase, instructor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3. Las reservas futuras se pueden cancelar (con botón "Cancelar")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4. Las reservas pasadas solo se muestran (sin opción de cancelar)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lang="en-US" sz="1999">
                <a:latin typeface="Poppins"/>
                <a:ea typeface="Poppins"/>
                <a:cs typeface="Poppins"/>
                <a:sym typeface="Poppins"/>
              </a:rPr>
              <a:t>5. Si no hay reservas, se muestra mensaje "No tienes reservas aún" no puede reservar más de 3 clases por semana (regla del gym)</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PRIORIDAD:</a:t>
            </a:r>
            <a:r>
              <a:rPr lang="en-US" sz="1999">
                <a:latin typeface="Poppins"/>
                <a:ea typeface="Poppins"/>
                <a:cs typeface="Poppins"/>
                <a:sym typeface="Poppins"/>
              </a:rPr>
              <a:t> MEDIA (útil pero no crítica)</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ESTIMACIÓN: </a:t>
            </a:r>
            <a:r>
              <a:rPr lang="en-US" sz="1999">
                <a:latin typeface="Poppins"/>
                <a:ea typeface="Poppins"/>
                <a:cs typeface="Poppins"/>
                <a:sym typeface="Poppins"/>
              </a:rPr>
              <a:t>(se hará en el Sprint Planning)</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rPr b="1" lang="en-US" sz="1999">
                <a:latin typeface="Poppins"/>
                <a:ea typeface="Poppins"/>
                <a:cs typeface="Poppins"/>
                <a:sym typeface="Poppins"/>
              </a:rPr>
              <a:t>DEPENDENCIAS:</a:t>
            </a:r>
            <a:r>
              <a:rPr lang="en-US" sz="1999">
                <a:latin typeface="Poppins"/>
                <a:ea typeface="Poppins"/>
                <a:cs typeface="Poppins"/>
                <a:sym typeface="Poppins"/>
              </a:rPr>
              <a:t> HU-002 (debe existir sistema de reservas)</a:t>
            </a:r>
            <a:endParaRPr sz="1999">
              <a:latin typeface="Poppins"/>
              <a:ea typeface="Poppins"/>
              <a:cs typeface="Poppins"/>
              <a:sym typeface="Poppins"/>
            </a:endParaRPr>
          </a:p>
          <a:p>
            <a:pPr indent="0" lvl="0" marL="0" rtl="0" algn="just">
              <a:lnSpc>
                <a:spcPct val="140011"/>
              </a:lnSpc>
              <a:spcBef>
                <a:spcPts val="0"/>
              </a:spcBef>
              <a:spcAft>
                <a:spcPts val="0"/>
              </a:spcAft>
              <a:buClr>
                <a:schemeClr val="dk1"/>
              </a:buClr>
              <a:buSzPts val="1100"/>
              <a:buFont typeface="Arial"/>
              <a:buNone/>
            </a:pPr>
            <a:r>
              <a:t/>
            </a:r>
            <a:endParaRPr sz="1999">
              <a:latin typeface="Poppins"/>
              <a:ea typeface="Poppins"/>
              <a:cs typeface="Poppins"/>
              <a:sym typeface="Poppins"/>
            </a:endParaRPr>
          </a:p>
          <a:p>
            <a:pPr indent="0" lvl="0" marL="0" marR="0" rtl="0" algn="just">
              <a:lnSpc>
                <a:spcPct val="140011"/>
              </a:lnSpc>
              <a:spcBef>
                <a:spcPts val="0"/>
              </a:spcBef>
              <a:spcAft>
                <a:spcPts val="0"/>
              </a:spcAft>
              <a:buClr>
                <a:srgbClr val="000000"/>
              </a:buClr>
              <a:buSzPts val="3399"/>
              <a:buFont typeface="Arial"/>
              <a:buNone/>
            </a:pPr>
            <a:r>
              <a:t/>
            </a:r>
            <a:endParaRPr sz="3399">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g39ab12478d3_0_948"/>
          <p:cNvSpPr txBox="1"/>
          <p:nvPr/>
        </p:nvSpPr>
        <p:spPr>
          <a:xfrm>
            <a:off x="1253700" y="1430880"/>
            <a:ext cx="15055200" cy="75732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¿Por qué es valioso este Sprint?</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Product Owner dice: </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"Este primer Sprint es crítico porque queremos lanzar el sistema básico de reservas en 2 semanas para piloto con 50 clientes. Lo mínimo viable es que puedan registrarse y reservar clases. El historial es deseable pero no bloqueante para el lanzamiento."</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977" name="Google Shape;977;g39ab12478d3_0_948"/>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78" name="Google Shape;978;g39ab12478d3_0_948"/>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g39ab12478d3_0_954"/>
          <p:cNvSpPr txBox="1"/>
          <p:nvPr/>
        </p:nvSpPr>
        <p:spPr>
          <a:xfrm>
            <a:off x="1253701" y="1430884"/>
            <a:ext cx="15055200" cy="20073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¿Qué se puede hacer en este Sprint?</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Equipo estima las historias con la técnica de las camisetas</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984" name="Google Shape;984;g39ab12478d3_0_954"/>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85" name="Google Shape;985;g39ab12478d3_0_954"/>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graphicFrame>
        <p:nvGraphicFramePr>
          <p:cNvPr id="986" name="Google Shape;986;g39ab12478d3_0_954"/>
          <p:cNvGraphicFramePr/>
          <p:nvPr/>
        </p:nvGraphicFramePr>
        <p:xfrm>
          <a:off x="1417425" y="3634983"/>
          <a:ext cx="3000000" cy="3000000"/>
        </p:xfrm>
        <a:graphic>
          <a:graphicData uri="http://schemas.openxmlformats.org/drawingml/2006/table">
            <a:tbl>
              <a:tblPr>
                <a:noFill/>
                <a:tableStyleId>{9FDF996C-8CD4-4CF7-B734-7595715003B2}</a:tableStyleId>
              </a:tblPr>
              <a:tblGrid>
                <a:gridCol w="2519425"/>
                <a:gridCol w="4787125"/>
                <a:gridCol w="2420100"/>
                <a:gridCol w="5421650"/>
              </a:tblGrid>
              <a:tr h="854800">
                <a:tc>
                  <a:txBody>
                    <a:bodyPr/>
                    <a:lstStyle/>
                    <a:p>
                      <a:pPr indent="0" lvl="0" marL="0" rtl="0" algn="ctr">
                        <a:lnSpc>
                          <a:spcPct val="115000"/>
                        </a:lnSpc>
                        <a:spcBef>
                          <a:spcPts val="0"/>
                        </a:spcBef>
                        <a:spcAft>
                          <a:spcPts val="0"/>
                        </a:spcAft>
                        <a:buNone/>
                      </a:pPr>
                      <a:r>
                        <a:rPr b="1" lang="en-US" sz="3000"/>
                        <a:t>Historia</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Descripción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Estimación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Justificación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r>
              <a:tr h="1384350">
                <a:tc>
                  <a:txBody>
                    <a:bodyPr/>
                    <a:lstStyle/>
                    <a:p>
                      <a:pPr indent="0" lvl="0" marL="0" rtl="0" algn="l">
                        <a:lnSpc>
                          <a:spcPct val="115000"/>
                        </a:lnSpc>
                        <a:spcBef>
                          <a:spcPts val="0"/>
                        </a:spcBef>
                        <a:spcAft>
                          <a:spcPts val="0"/>
                        </a:spcAft>
                        <a:buNone/>
                      </a:pPr>
                      <a:r>
                        <a:rPr lang="en-US" sz="3000"/>
                        <a:t>HU-001</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Registro miembro</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Incluye validaciones, email, BD</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1190875">
                <a:tc>
                  <a:txBody>
                    <a:bodyPr/>
                    <a:lstStyle/>
                    <a:p>
                      <a:pPr indent="0" lvl="0" marL="0" rtl="0" algn="l">
                        <a:lnSpc>
                          <a:spcPct val="115000"/>
                        </a:lnSpc>
                        <a:spcBef>
                          <a:spcPts val="0"/>
                        </a:spcBef>
                        <a:spcAft>
                          <a:spcPts val="0"/>
                        </a:spcAft>
                        <a:buNone/>
                      </a:pPr>
                      <a:r>
                        <a:rPr lang="en-US" sz="3000"/>
                        <a:t>HU-002</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Reservar clase</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Lógica compleja (cupos, filtros, reglas)</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783575">
                <a:tc>
                  <a:txBody>
                    <a:bodyPr/>
                    <a:lstStyle/>
                    <a:p>
                      <a:pPr indent="0" lvl="0" marL="0" rtl="0" algn="l">
                        <a:lnSpc>
                          <a:spcPct val="115000"/>
                        </a:lnSpc>
                        <a:spcBef>
                          <a:spcPts val="0"/>
                        </a:spcBef>
                        <a:spcAft>
                          <a:spcPts val="0"/>
                        </a:spcAft>
                        <a:buNone/>
                      </a:pPr>
                      <a:r>
                        <a:rPr lang="en-US" sz="3000"/>
                        <a:t>HU-003</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Ver historial</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Consulta simple con UI básica</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9ab12478d3_0_961"/>
          <p:cNvSpPr txBox="1"/>
          <p:nvPr/>
        </p:nvSpPr>
        <p:spPr>
          <a:xfrm>
            <a:off x="1253701" y="1430884"/>
            <a:ext cx="15055200" cy="27030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¿Qué se puede hacer en este Sprint?</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Equipo estima las historias con la técnica del planning Poker</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992" name="Google Shape;992;g39ab12478d3_0_961"/>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93" name="Google Shape;993;g39ab12478d3_0_961"/>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graphicFrame>
        <p:nvGraphicFramePr>
          <p:cNvPr id="994" name="Google Shape;994;g39ab12478d3_0_961"/>
          <p:cNvGraphicFramePr/>
          <p:nvPr/>
        </p:nvGraphicFramePr>
        <p:xfrm>
          <a:off x="1417425" y="3634983"/>
          <a:ext cx="3000000" cy="3000000"/>
        </p:xfrm>
        <a:graphic>
          <a:graphicData uri="http://schemas.openxmlformats.org/drawingml/2006/table">
            <a:tbl>
              <a:tblPr>
                <a:noFill/>
                <a:tableStyleId>{9FDF996C-8CD4-4CF7-B734-7595715003B2}</a:tableStyleId>
              </a:tblPr>
              <a:tblGrid>
                <a:gridCol w="2519425"/>
                <a:gridCol w="4787125"/>
                <a:gridCol w="2420100"/>
                <a:gridCol w="5421650"/>
              </a:tblGrid>
              <a:tr h="854800">
                <a:tc>
                  <a:txBody>
                    <a:bodyPr/>
                    <a:lstStyle/>
                    <a:p>
                      <a:pPr indent="0" lvl="0" marL="0" rtl="0" algn="ctr">
                        <a:lnSpc>
                          <a:spcPct val="115000"/>
                        </a:lnSpc>
                        <a:spcBef>
                          <a:spcPts val="0"/>
                        </a:spcBef>
                        <a:spcAft>
                          <a:spcPts val="0"/>
                        </a:spcAft>
                        <a:buNone/>
                      </a:pPr>
                      <a:r>
                        <a:rPr b="1" lang="en-US" sz="3000"/>
                        <a:t>Historia</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Descripción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Estimación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US" sz="3000"/>
                        <a:t>Justificación</a:t>
                      </a:r>
                      <a:endParaRPr b="1"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EFEFEF"/>
                    </a:solidFill>
                  </a:tcPr>
                </a:tc>
              </a:tr>
              <a:tr h="1384350">
                <a:tc>
                  <a:txBody>
                    <a:bodyPr/>
                    <a:lstStyle/>
                    <a:p>
                      <a:pPr indent="0" lvl="0" marL="0" rtl="0" algn="l">
                        <a:lnSpc>
                          <a:spcPct val="115000"/>
                        </a:lnSpc>
                        <a:spcBef>
                          <a:spcPts val="0"/>
                        </a:spcBef>
                        <a:spcAft>
                          <a:spcPts val="0"/>
                        </a:spcAft>
                        <a:buNone/>
                      </a:pPr>
                      <a:r>
                        <a:rPr lang="en-US" sz="3000"/>
                        <a:t>HU-001</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Registro miembro</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5 puntos</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Incluye validaciones, email, BD</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1190875">
                <a:tc>
                  <a:txBody>
                    <a:bodyPr/>
                    <a:lstStyle/>
                    <a:p>
                      <a:pPr indent="0" lvl="0" marL="0" rtl="0" algn="l">
                        <a:lnSpc>
                          <a:spcPct val="115000"/>
                        </a:lnSpc>
                        <a:spcBef>
                          <a:spcPts val="0"/>
                        </a:spcBef>
                        <a:spcAft>
                          <a:spcPts val="0"/>
                        </a:spcAft>
                        <a:buNone/>
                      </a:pPr>
                      <a:r>
                        <a:rPr lang="en-US" sz="3000"/>
                        <a:t>HU-002</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Reservar clase</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8 puntos</a:t>
                      </a:r>
                      <a:endParaRPr sz="3000"/>
                    </a:p>
                  </a:txBody>
                  <a:tcPr marT="19050" marB="19050" marR="28575" marL="28575"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Lógica compleja (cupos, filtros, reglas)</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783575">
                <a:tc>
                  <a:txBody>
                    <a:bodyPr/>
                    <a:lstStyle/>
                    <a:p>
                      <a:pPr indent="0" lvl="0" marL="0" rtl="0" algn="l">
                        <a:lnSpc>
                          <a:spcPct val="115000"/>
                        </a:lnSpc>
                        <a:spcBef>
                          <a:spcPts val="0"/>
                        </a:spcBef>
                        <a:spcAft>
                          <a:spcPts val="0"/>
                        </a:spcAft>
                        <a:buNone/>
                      </a:pPr>
                      <a:r>
                        <a:rPr lang="en-US" sz="3000"/>
                        <a:t>HU-003</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Ver historial</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3 puntos</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3000"/>
                        <a:t>Consulta simple con UI básica</a:t>
                      </a:r>
                      <a:endParaRPr sz="3000"/>
                    </a:p>
                  </a:txBody>
                  <a:tcPr marT="19050" marB="19050" marR="28575" marL="28575" anchor="b">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g39ab12478d3_0_968"/>
          <p:cNvSpPr txBox="1"/>
          <p:nvPr/>
        </p:nvSpPr>
        <p:spPr>
          <a:xfrm>
            <a:off x="1253701" y="1430884"/>
            <a:ext cx="15055200" cy="20073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¿Cómo se realizará el trabajo?</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Se decide que historias entraran en el Sprint Backlog</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1000" name="Google Shape;1000;g39ab12478d3_0_968"/>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01" name="Google Shape;1001;g39ab12478d3_0_968"/>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sp>
        <p:nvSpPr>
          <p:cNvPr id="1002" name="Google Shape;1002;g39ab12478d3_0_968"/>
          <p:cNvSpPr txBox="1"/>
          <p:nvPr/>
        </p:nvSpPr>
        <p:spPr>
          <a:xfrm>
            <a:off x="11308250" y="3145975"/>
            <a:ext cx="5197800" cy="6965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marR="0" rtl="0" algn="l">
              <a:lnSpc>
                <a:spcPct val="113000"/>
              </a:lnSpc>
              <a:spcBef>
                <a:spcPts val="1200"/>
              </a:spcBef>
              <a:spcAft>
                <a:spcPts val="0"/>
              </a:spcAft>
              <a:buClr>
                <a:srgbClr val="000000"/>
              </a:buClr>
              <a:buSzPts val="8000"/>
              <a:buFont typeface="Arial"/>
              <a:buNone/>
            </a:pPr>
            <a:r>
              <a:rPr b="1" lang="en-US" sz="2300">
                <a:latin typeface="Montserrat"/>
                <a:ea typeface="Montserrat"/>
                <a:cs typeface="Montserrat"/>
                <a:sym typeface="Montserrat"/>
              </a:rPr>
              <a:t>Capacidad del equipo:</a:t>
            </a:r>
            <a:endParaRPr b="1" sz="2300">
              <a:latin typeface="Montserrat"/>
              <a:ea typeface="Montserrat"/>
              <a:cs typeface="Montserrat"/>
              <a:sym typeface="Montserrat"/>
            </a:endParaRPr>
          </a:p>
          <a:p>
            <a:pPr indent="-374650" lvl="0" marL="457200" marR="0" rtl="0" algn="l">
              <a:lnSpc>
                <a:spcPct val="113000"/>
              </a:lnSpc>
              <a:spcBef>
                <a:spcPts val="0"/>
              </a:spcBef>
              <a:spcAft>
                <a:spcPts val="0"/>
              </a:spcAft>
              <a:buSzPts val="2300"/>
              <a:buFont typeface="Montserrat"/>
              <a:buChar char="●"/>
            </a:pPr>
            <a:r>
              <a:rPr lang="en-US" sz="2300">
                <a:latin typeface="Montserrat"/>
                <a:ea typeface="Montserrat"/>
                <a:cs typeface="Montserrat"/>
                <a:sym typeface="Montserrat"/>
              </a:rPr>
              <a:t>Sprint de 2 semanas</a:t>
            </a:r>
            <a:endParaRPr sz="2300">
              <a:latin typeface="Montserrat"/>
              <a:ea typeface="Montserrat"/>
              <a:cs typeface="Montserrat"/>
              <a:sym typeface="Montserrat"/>
            </a:endParaRPr>
          </a:p>
          <a:p>
            <a:pPr indent="-374650" lvl="0" marL="457200" marR="0" rtl="0" algn="l">
              <a:lnSpc>
                <a:spcPct val="113000"/>
              </a:lnSpc>
              <a:spcBef>
                <a:spcPts val="0"/>
              </a:spcBef>
              <a:spcAft>
                <a:spcPts val="0"/>
              </a:spcAft>
              <a:buSzPts val="2300"/>
              <a:buFont typeface="Montserrat"/>
              <a:buChar char="●"/>
            </a:pPr>
            <a:r>
              <a:rPr lang="en-US" sz="2300">
                <a:latin typeface="Montserrat"/>
                <a:ea typeface="Montserrat"/>
                <a:cs typeface="Montserrat"/>
                <a:sym typeface="Montserrat"/>
              </a:rPr>
              <a:t>Equipo de 3 developers</a:t>
            </a:r>
            <a:endParaRPr sz="2300">
              <a:latin typeface="Montserrat"/>
              <a:ea typeface="Montserrat"/>
              <a:cs typeface="Montserrat"/>
              <a:sym typeface="Montserrat"/>
            </a:endParaRPr>
          </a:p>
          <a:p>
            <a:pPr indent="-374650" lvl="0" marL="457200" marR="0" rtl="0" algn="l">
              <a:lnSpc>
                <a:spcPct val="113000"/>
              </a:lnSpc>
              <a:spcBef>
                <a:spcPts val="0"/>
              </a:spcBef>
              <a:spcAft>
                <a:spcPts val="0"/>
              </a:spcAft>
              <a:buSzPts val="2300"/>
              <a:buFont typeface="Montserrat"/>
              <a:buChar char="●"/>
            </a:pPr>
            <a:r>
              <a:rPr lang="en-US" sz="2300">
                <a:latin typeface="Montserrat"/>
                <a:ea typeface="Montserrat"/>
                <a:cs typeface="Montserrat"/>
                <a:sym typeface="Montserrat"/>
              </a:rPr>
              <a:t>Velocidad promedio: 13 puntos por sprint</a:t>
            </a:r>
            <a:endParaRPr sz="2300">
              <a:latin typeface="Montserrat"/>
              <a:ea typeface="Montserrat"/>
              <a:cs typeface="Montserrat"/>
              <a:sym typeface="Montserrat"/>
            </a:endParaRPr>
          </a:p>
          <a:p>
            <a:pPr indent="0" lvl="0" marL="457200" marR="0" rtl="0" algn="l">
              <a:lnSpc>
                <a:spcPct val="113000"/>
              </a:lnSpc>
              <a:spcBef>
                <a:spcPts val="0"/>
              </a:spcBef>
              <a:spcAft>
                <a:spcPts val="0"/>
              </a:spcAft>
              <a:buNone/>
            </a:pPr>
            <a:r>
              <a:t/>
            </a:r>
            <a:endParaRPr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b="1" lang="en-US" sz="2300">
                <a:latin typeface="Montserrat"/>
                <a:ea typeface="Montserrat"/>
                <a:cs typeface="Montserrat"/>
                <a:sym typeface="Montserrat"/>
              </a:rPr>
              <a:t>Decisión del equipo: </a:t>
            </a:r>
            <a:endParaRPr b="1"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b="1"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2300">
                <a:latin typeface="Montserrat"/>
                <a:ea typeface="Montserrat"/>
                <a:cs typeface="Montserrat"/>
                <a:sym typeface="Montserrat"/>
              </a:rPr>
              <a:t>HU-001 (5 pts) + HU-002 (8 pts) = 13 puntos → Se incluyen en Sprint Backlog</a:t>
            </a:r>
            <a:endParaRPr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2300">
                <a:latin typeface="Montserrat"/>
                <a:ea typeface="Montserrat"/>
                <a:cs typeface="Montserrat"/>
                <a:sym typeface="Montserrat"/>
              </a:rPr>
              <a:t> HU-003 (3 pts) → Se deja para siguiente Sprint (excedería capacidad)</a:t>
            </a:r>
            <a:endParaRPr sz="23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pic>
        <p:nvPicPr>
          <p:cNvPr id="1003" name="Google Shape;1003;g39ab12478d3_0_968"/>
          <p:cNvPicPr preferRelativeResize="0"/>
          <p:nvPr/>
        </p:nvPicPr>
        <p:blipFill>
          <a:blip r:embed="rId3">
            <a:alphaModFix/>
          </a:blip>
          <a:stretch>
            <a:fillRect/>
          </a:stretch>
        </p:blipFill>
        <p:spPr>
          <a:xfrm>
            <a:off x="926300" y="3545934"/>
            <a:ext cx="9753600" cy="5324475"/>
          </a:xfrm>
          <a:prstGeom prst="rect">
            <a:avLst/>
          </a:prstGeom>
          <a:noFill/>
          <a:ln>
            <a:noFill/>
          </a:ln>
        </p:spPr>
      </p:pic>
      <p:sp>
        <p:nvSpPr>
          <p:cNvPr id="1004" name="Google Shape;1004;g39ab12478d3_0_968"/>
          <p:cNvSpPr/>
          <p:nvPr/>
        </p:nvSpPr>
        <p:spPr>
          <a:xfrm>
            <a:off x="1188825" y="5701725"/>
            <a:ext cx="4553100" cy="2678700"/>
          </a:xfrm>
          <a:prstGeom prst="rect">
            <a:avLst/>
          </a:prstGeom>
          <a:solidFill>
            <a:srgbClr val="DEDE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g39ab12478d3_0_977"/>
          <p:cNvSpPr txBox="1"/>
          <p:nvPr/>
        </p:nvSpPr>
        <p:spPr>
          <a:xfrm>
            <a:off x="1253701" y="1430884"/>
            <a:ext cx="15055200" cy="27030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¿Cómo se realizará el trabajo?</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El equipo descompone las historias en tareas técnicas y se asigna un@ encargad@:</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1010" name="Google Shape;1010;g39ab12478d3_0_977"/>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11" name="Google Shape;1011;g39ab12478d3_0_977"/>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pic>
        <p:nvPicPr>
          <p:cNvPr id="1012" name="Google Shape;1012;g39ab12478d3_0_977"/>
          <p:cNvPicPr preferRelativeResize="0"/>
          <p:nvPr/>
        </p:nvPicPr>
        <p:blipFill>
          <a:blip r:embed="rId3">
            <a:alphaModFix/>
          </a:blip>
          <a:stretch>
            <a:fillRect/>
          </a:stretch>
        </p:blipFill>
        <p:spPr>
          <a:xfrm>
            <a:off x="2701275" y="4047121"/>
            <a:ext cx="12885451" cy="62398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9ab12478d3_0_984"/>
          <p:cNvSpPr txBox="1"/>
          <p:nvPr/>
        </p:nvSpPr>
        <p:spPr>
          <a:xfrm>
            <a:off x="1253701" y="1430884"/>
            <a:ext cx="15055200" cy="27030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¿Cómo se realizará el trabajo?</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El equipo descompone las historias en tareas técnicas y se asigna un@ encargad@:</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1018" name="Google Shape;1018;g39ab12478d3_0_984"/>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19" name="Google Shape;1019;g39ab12478d3_0_984"/>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pic>
        <p:nvPicPr>
          <p:cNvPr id="1020" name="Google Shape;1020;g39ab12478d3_0_984"/>
          <p:cNvPicPr preferRelativeResize="0"/>
          <p:nvPr/>
        </p:nvPicPr>
        <p:blipFill>
          <a:blip r:embed="rId3">
            <a:alphaModFix/>
          </a:blip>
          <a:stretch>
            <a:fillRect/>
          </a:stretch>
        </p:blipFill>
        <p:spPr>
          <a:xfrm>
            <a:off x="1401625" y="4133869"/>
            <a:ext cx="14759349" cy="52129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9ab12478d3_0_991"/>
          <p:cNvSpPr txBox="1"/>
          <p:nvPr/>
        </p:nvSpPr>
        <p:spPr>
          <a:xfrm>
            <a:off x="1253701" y="1430884"/>
            <a:ext cx="15055200" cy="2703000"/>
          </a:xfrm>
          <a:prstGeom prst="rect">
            <a:avLst/>
          </a:prstGeom>
          <a:noFill/>
          <a:ln>
            <a:noFill/>
          </a:ln>
        </p:spPr>
        <p:txBody>
          <a:bodyPr anchorCtr="0" anchor="t" bIns="0" lIns="0" spcFirstLastPara="1" rIns="0" wrap="square" tIns="0">
            <a:spAutoFit/>
          </a:bodyPr>
          <a:lstStyle/>
          <a:p>
            <a:pPr indent="0" lvl="0" marL="0" marR="0" rtl="0" algn="l">
              <a:lnSpc>
                <a:spcPct val="113000"/>
              </a:lnSpc>
              <a:spcBef>
                <a:spcPts val="0"/>
              </a:spcBef>
              <a:spcAft>
                <a:spcPts val="0"/>
              </a:spcAft>
              <a:buClr>
                <a:srgbClr val="000000"/>
              </a:buClr>
              <a:buSzPts val="8000"/>
              <a:buFont typeface="Arial"/>
              <a:buNone/>
            </a:pPr>
            <a:r>
              <a:rPr b="1" lang="en-US" sz="4000">
                <a:latin typeface="Montserrat"/>
                <a:ea typeface="Montserrat"/>
                <a:cs typeface="Montserrat"/>
                <a:sym typeface="Montserrat"/>
              </a:rPr>
              <a:t>¿Cómo se realizará el trabajo?</a:t>
            </a:r>
            <a:endParaRPr b="1"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rPr lang="en-US" sz="4000">
                <a:latin typeface="Montserrat"/>
                <a:ea typeface="Montserrat"/>
                <a:cs typeface="Montserrat"/>
                <a:sym typeface="Montserrat"/>
              </a:rPr>
              <a:t>El equipo descompone las historias en tareas técnicas y se asigna un@ encargad@:</a:t>
            </a:r>
            <a:endParaRPr sz="4000">
              <a:latin typeface="Montserrat"/>
              <a:ea typeface="Montserrat"/>
              <a:cs typeface="Montserrat"/>
              <a:sym typeface="Montserrat"/>
            </a:endParaRPr>
          </a:p>
          <a:p>
            <a:pPr indent="0" lvl="0" marL="0" marR="0" rtl="0" algn="l">
              <a:lnSpc>
                <a:spcPct val="113000"/>
              </a:lnSpc>
              <a:spcBef>
                <a:spcPts val="0"/>
              </a:spcBef>
              <a:spcAft>
                <a:spcPts val="0"/>
              </a:spcAft>
              <a:buClr>
                <a:srgbClr val="000000"/>
              </a:buClr>
              <a:buSzPts val="8000"/>
              <a:buFont typeface="Arial"/>
              <a:buNone/>
            </a:pPr>
            <a:r>
              <a:t/>
            </a:r>
            <a:endParaRPr sz="4000">
              <a:latin typeface="Montserrat"/>
              <a:ea typeface="Montserrat"/>
              <a:cs typeface="Montserrat"/>
              <a:sym typeface="Montserrat"/>
            </a:endParaRPr>
          </a:p>
        </p:txBody>
      </p:sp>
      <p:sp>
        <p:nvSpPr>
          <p:cNvPr id="1026" name="Google Shape;1026;g39ab12478d3_0_991"/>
          <p:cNvSpPr/>
          <p:nvPr/>
        </p:nvSpPr>
        <p:spPr>
          <a:xfrm>
            <a:off x="-305050" y="-49800"/>
            <a:ext cx="10337400" cy="1090800"/>
          </a:xfrm>
          <a:prstGeom prst="rect">
            <a:avLst/>
          </a:prstGeom>
          <a:solidFill>
            <a:srgbClr val="03989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27" name="Google Shape;1027;g39ab12478d3_0_991"/>
          <p:cNvSpPr txBox="1"/>
          <p:nvPr/>
        </p:nvSpPr>
        <p:spPr>
          <a:xfrm>
            <a:off x="1" y="187800"/>
            <a:ext cx="128142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8000"/>
              <a:buFont typeface="Arial"/>
              <a:buNone/>
            </a:pPr>
            <a:r>
              <a:rPr b="1" lang="en-US" sz="4000">
                <a:solidFill>
                  <a:srgbClr val="FFFFFF"/>
                </a:solidFill>
                <a:latin typeface="Montserrat"/>
                <a:ea typeface="Montserrat"/>
                <a:cs typeface="Montserrat"/>
                <a:sym typeface="Montserrat"/>
              </a:rPr>
              <a:t>Durante el Sprint Planning</a:t>
            </a:r>
            <a:endParaRPr b="0" i="0" sz="1400" u="none" cap="none" strike="noStrike">
              <a:solidFill>
                <a:srgbClr val="000000"/>
              </a:solidFill>
              <a:latin typeface="Arial"/>
              <a:ea typeface="Arial"/>
              <a:cs typeface="Arial"/>
              <a:sym typeface="Arial"/>
            </a:endParaRPr>
          </a:p>
        </p:txBody>
      </p:sp>
      <p:pic>
        <p:nvPicPr>
          <p:cNvPr id="1028" name="Google Shape;1028;g39ab12478d3_0_991"/>
          <p:cNvPicPr preferRelativeResize="0"/>
          <p:nvPr/>
        </p:nvPicPr>
        <p:blipFill>
          <a:blip r:embed="rId3">
            <a:alphaModFix/>
          </a:blip>
          <a:stretch>
            <a:fillRect/>
          </a:stretch>
        </p:blipFill>
        <p:spPr>
          <a:xfrm>
            <a:off x="1401625" y="4133869"/>
            <a:ext cx="14759349" cy="52129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1034" name="Google Shape;1034;p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1035" name="Google Shape;1035;p7"/>
          <p:cNvSpPr txBox="1"/>
          <p:nvPr/>
        </p:nvSpPr>
        <p:spPr>
          <a:xfrm>
            <a:off x="2554316" y="3194590"/>
            <a:ext cx="13765800" cy="5957100"/>
          </a:xfrm>
          <a:prstGeom prst="rect">
            <a:avLst/>
          </a:prstGeom>
          <a:noFill/>
          <a:ln>
            <a:noFill/>
          </a:ln>
        </p:spPr>
        <p:txBody>
          <a:bodyPr anchorCtr="0" anchor="t" bIns="0" lIns="0" spcFirstLastPara="1" rIns="0" wrap="square" tIns="0">
            <a:spAutoFit/>
          </a:bodyPr>
          <a:lstStyle/>
          <a:p>
            <a:pPr indent="-431800" lvl="1" marL="914400" rtl="0" algn="l">
              <a:lnSpc>
                <a:spcPct val="140019"/>
              </a:lnSpc>
              <a:spcBef>
                <a:spcPts val="0"/>
              </a:spcBef>
              <a:spcAft>
                <a:spcPts val="0"/>
              </a:spcAft>
              <a:buSzPts val="3200"/>
              <a:buChar char="•"/>
            </a:pPr>
            <a:r>
              <a:rPr b="1" lang="en-US" sz="3151">
                <a:solidFill>
                  <a:srgbClr val="131416"/>
                </a:solidFill>
              </a:rPr>
              <a:t>Estimacion: </a:t>
            </a:r>
            <a:r>
              <a:rPr lang="en-US" sz="3151">
                <a:solidFill>
                  <a:srgbClr val="131416"/>
                </a:solidFill>
              </a:rPr>
              <a:t>usar las tecnicas explicadas ayuda a dimensionar el tamaño de la tarea, usar horas en muchos casos no es la mejor alternativa ya que siempre existen atrasos.</a:t>
            </a:r>
            <a:endParaRPr sz="3151">
              <a:solidFill>
                <a:srgbClr val="131416"/>
              </a:solidFill>
            </a:endParaRPr>
          </a:p>
          <a:p>
            <a:pPr indent="-431800" lvl="1" marL="914400" rtl="0" algn="l">
              <a:lnSpc>
                <a:spcPct val="140019"/>
              </a:lnSpc>
              <a:spcBef>
                <a:spcPts val="0"/>
              </a:spcBef>
              <a:spcAft>
                <a:spcPts val="0"/>
              </a:spcAft>
              <a:buSzPts val="3200"/>
              <a:buChar char="•"/>
            </a:pPr>
            <a:r>
              <a:rPr b="1" lang="en-US" sz="3151">
                <a:solidFill>
                  <a:srgbClr val="131416"/>
                </a:solidFill>
              </a:rPr>
              <a:t>Sprint:</a:t>
            </a:r>
            <a:r>
              <a:rPr lang="en-US" sz="3151">
                <a:solidFill>
                  <a:srgbClr val="131416"/>
                </a:solidFill>
              </a:rPr>
              <a:t> formado siempre por el sprint planning, el daily scrum y la reunion final llamada sprint retrospective.</a:t>
            </a:r>
            <a:endParaRPr sz="3151">
              <a:solidFill>
                <a:srgbClr val="131416"/>
              </a:solidFill>
            </a:endParaRPr>
          </a:p>
          <a:p>
            <a:pPr indent="-431800" lvl="1" marL="914400" rtl="0" algn="l">
              <a:lnSpc>
                <a:spcPct val="140019"/>
              </a:lnSpc>
              <a:spcBef>
                <a:spcPts val="0"/>
              </a:spcBef>
              <a:spcAft>
                <a:spcPts val="0"/>
              </a:spcAft>
              <a:buSzPts val="3200"/>
              <a:buChar char="•"/>
            </a:pPr>
            <a:r>
              <a:rPr b="1" lang="en-US" sz="3151">
                <a:solidFill>
                  <a:srgbClr val="131416"/>
                </a:solidFill>
              </a:rPr>
              <a:t>Roles: </a:t>
            </a:r>
            <a:r>
              <a:rPr lang="en-US" sz="3151">
                <a:solidFill>
                  <a:srgbClr val="131416"/>
                </a:solidFill>
              </a:rPr>
              <a:t>cada miembro del equipo cumple un rol distinto con sus obligacions y responsabilidades, en scrum existen 3 los cuales son el product owner, scrum master y el develop team.</a:t>
            </a:r>
            <a:endParaRPr>
              <a:solidFill>
                <a:schemeClr val="dk1"/>
              </a:solidFill>
            </a:endParaRPr>
          </a:p>
          <a:p>
            <a:pPr indent="0" lvl="0" marL="0" marR="0" rtl="0" algn="l">
              <a:lnSpc>
                <a:spcPct val="140000"/>
              </a:lnSpc>
              <a:spcBef>
                <a:spcPts val="0"/>
              </a:spcBef>
              <a:spcAft>
                <a:spcPts val="0"/>
              </a:spcAft>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9" name="Shape 1039"/>
        <p:cNvGrpSpPr/>
        <p:nvPr/>
      </p:nvGrpSpPr>
      <p:grpSpPr>
        <a:xfrm>
          <a:off x="0" y="0"/>
          <a:ext cx="0" cy="0"/>
          <a:chOff x="0" y="0"/>
          <a:chExt cx="0" cy="0"/>
        </a:xfrm>
      </p:grpSpPr>
      <p:sp>
        <p:nvSpPr>
          <p:cNvPr id="1040" name="Google Shape;1040;p9"/>
          <p:cNvSpPr/>
          <p:nvPr/>
        </p:nvSpPr>
        <p:spPr>
          <a:xfrm>
            <a:off x="2317017" y="520965"/>
            <a:ext cx="13653966" cy="1873953"/>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1041" name="Google Shape;1041;p9"/>
          <p:cNvSpPr/>
          <p:nvPr/>
        </p:nvSpPr>
        <p:spPr>
          <a:xfrm>
            <a:off x="1989089" y="2422796"/>
            <a:ext cx="14309822" cy="6206885"/>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1042" name="Google Shape;1042;p9"/>
          <p:cNvSpPr txBox="1"/>
          <p:nvPr/>
        </p:nvSpPr>
        <p:spPr>
          <a:xfrm>
            <a:off x="2781895" y="3440266"/>
            <a:ext cx="12236400" cy="112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https://innevo.com/blog/metodologia-scrum</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https://www.scrummanager.com/blog/2023/07/tecnicas-de-estimacion-agil-tres-metodos/</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rPr b="1" lang="en-US">
                <a:latin typeface="Open Sans"/>
                <a:ea typeface="Open Sans"/>
                <a:cs typeface="Open Sans"/>
                <a:sym typeface="Open Sans"/>
              </a:rPr>
              <a:t>https://www.obsbusiness.school/blog/las-5-etapas-en-los-sprints-de-un-desarrollo-scrum</a:t>
            </a:r>
            <a:endParaRPr b="1">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1400"/>
              <a:buFont typeface="Arial"/>
              <a:buNone/>
            </a:pPr>
            <a:r>
              <a:t/>
            </a:r>
            <a:endParaRPr b="1">
              <a:latin typeface="Open Sans"/>
              <a:ea typeface="Open Sans"/>
              <a:cs typeface="Open Sans"/>
              <a:sym typeface="Open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0"/>
          <p:cNvSpPr/>
          <p:nvPr/>
        </p:nvSpPr>
        <p:spPr>
          <a:xfrm>
            <a:off x="0" y="0"/>
            <a:ext cx="18288000" cy="729234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12"/>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1058" name="Google Shape;1058;p12"/>
          <p:cNvSpPr txBox="1"/>
          <p:nvPr/>
        </p:nvSpPr>
        <p:spPr>
          <a:xfrm>
            <a:off x="5655069" y="166707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59" name="Google Shape;1059;p12"/>
          <p:cNvSpPr txBox="1"/>
          <p:nvPr/>
        </p:nvSpPr>
        <p:spPr>
          <a:xfrm>
            <a:off x="5655069" y="246044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0" name="Google Shape;1060;p12"/>
          <p:cNvSpPr txBox="1"/>
          <p:nvPr/>
        </p:nvSpPr>
        <p:spPr>
          <a:xfrm>
            <a:off x="5655069" y="3475309"/>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1" name="Google Shape;1061;p12"/>
          <p:cNvSpPr txBox="1"/>
          <p:nvPr/>
        </p:nvSpPr>
        <p:spPr>
          <a:xfrm>
            <a:off x="13953088" y="209125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2" name="Google Shape;1062;p12"/>
          <p:cNvSpPr txBox="1"/>
          <p:nvPr/>
        </p:nvSpPr>
        <p:spPr>
          <a:xfrm>
            <a:off x="13953088" y="288462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3" name="Google Shape;1063;p12"/>
          <p:cNvSpPr txBox="1"/>
          <p:nvPr/>
        </p:nvSpPr>
        <p:spPr>
          <a:xfrm>
            <a:off x="13953088" y="368028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4" name="Google Shape;1064;p12"/>
          <p:cNvSpPr txBox="1"/>
          <p:nvPr/>
        </p:nvSpPr>
        <p:spPr>
          <a:xfrm>
            <a:off x="277231" y="50863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5" name="Google Shape;1065;p12"/>
          <p:cNvSpPr txBox="1"/>
          <p:nvPr/>
        </p:nvSpPr>
        <p:spPr>
          <a:xfrm>
            <a:off x="277231"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6" name="Google Shape;1066;p12"/>
          <p:cNvSpPr txBox="1"/>
          <p:nvPr/>
        </p:nvSpPr>
        <p:spPr>
          <a:xfrm>
            <a:off x="277231" y="662009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7" name="Google Shape;1067;p12"/>
          <p:cNvSpPr txBox="1"/>
          <p:nvPr/>
        </p:nvSpPr>
        <p:spPr>
          <a:xfrm>
            <a:off x="277231" y="760040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8" name="Google Shape;1068;p12"/>
          <p:cNvSpPr txBox="1"/>
          <p:nvPr/>
        </p:nvSpPr>
        <p:spPr>
          <a:xfrm>
            <a:off x="277231"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69" name="Google Shape;1069;p12"/>
          <p:cNvSpPr txBox="1"/>
          <p:nvPr/>
        </p:nvSpPr>
        <p:spPr>
          <a:xfrm>
            <a:off x="277231"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0" name="Google Shape;1070;p12"/>
          <p:cNvSpPr txBox="1"/>
          <p:nvPr/>
        </p:nvSpPr>
        <p:spPr>
          <a:xfrm>
            <a:off x="6406538"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1" name="Google Shape;1071;p12"/>
          <p:cNvSpPr txBox="1"/>
          <p:nvPr/>
        </p:nvSpPr>
        <p:spPr>
          <a:xfrm>
            <a:off x="6406538"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2" name="Google Shape;1072;p12"/>
          <p:cNvSpPr txBox="1"/>
          <p:nvPr/>
        </p:nvSpPr>
        <p:spPr>
          <a:xfrm>
            <a:off x="6406538"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3" name="Google Shape;1073;p12"/>
          <p:cNvSpPr txBox="1"/>
          <p:nvPr/>
        </p:nvSpPr>
        <p:spPr>
          <a:xfrm>
            <a:off x="6406538"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4" name="Google Shape;1074;p12"/>
          <p:cNvSpPr txBox="1"/>
          <p:nvPr/>
        </p:nvSpPr>
        <p:spPr>
          <a:xfrm>
            <a:off x="6406538"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5" name="Google Shape;1075;p12"/>
          <p:cNvSpPr txBox="1"/>
          <p:nvPr/>
        </p:nvSpPr>
        <p:spPr>
          <a:xfrm>
            <a:off x="6406538"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6" name="Google Shape;1076;p12"/>
          <p:cNvSpPr txBox="1"/>
          <p:nvPr/>
        </p:nvSpPr>
        <p:spPr>
          <a:xfrm>
            <a:off x="12538626"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7" name="Google Shape;1077;p12"/>
          <p:cNvSpPr txBox="1"/>
          <p:nvPr/>
        </p:nvSpPr>
        <p:spPr>
          <a:xfrm>
            <a:off x="12538626"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8" name="Google Shape;1078;p12"/>
          <p:cNvSpPr txBox="1"/>
          <p:nvPr/>
        </p:nvSpPr>
        <p:spPr>
          <a:xfrm>
            <a:off x="12538626"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79" name="Google Shape;1079;p12"/>
          <p:cNvSpPr txBox="1"/>
          <p:nvPr/>
        </p:nvSpPr>
        <p:spPr>
          <a:xfrm>
            <a:off x="12538626"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80" name="Google Shape;1080;p12"/>
          <p:cNvSpPr txBox="1"/>
          <p:nvPr/>
        </p:nvSpPr>
        <p:spPr>
          <a:xfrm>
            <a:off x="12538626"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1081" name="Google Shape;1081;p12"/>
          <p:cNvSpPr txBox="1"/>
          <p:nvPr/>
        </p:nvSpPr>
        <p:spPr>
          <a:xfrm>
            <a:off x="12538626" y="916314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9ab12478d3_0_1078"/>
          <p:cNvSpPr/>
          <p:nvPr/>
        </p:nvSpPr>
        <p:spPr>
          <a:xfrm>
            <a:off x="3493371" y="-591537"/>
            <a:ext cx="11301259" cy="511382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1087" name="Google Shape;1087;g39ab12478d3_0_1078"/>
          <p:cNvSpPr/>
          <p:nvPr/>
        </p:nvSpPr>
        <p:spPr>
          <a:xfrm>
            <a:off x="2197698" y="3492869"/>
            <a:ext cx="13892604" cy="5765431"/>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1088" name="Google Shape;1088;g39ab12478d3_0_1078"/>
          <p:cNvSpPr txBox="1"/>
          <p:nvPr/>
        </p:nvSpPr>
        <p:spPr>
          <a:xfrm>
            <a:off x="2580394" y="4461626"/>
            <a:ext cx="13127100" cy="1335900"/>
          </a:xfrm>
          <a:prstGeom prst="rect">
            <a:avLst/>
          </a:prstGeom>
          <a:noFill/>
          <a:ln>
            <a:noFill/>
          </a:ln>
        </p:spPr>
        <p:txBody>
          <a:bodyPr anchorCtr="0" anchor="t" bIns="0" lIns="0" spcFirstLastPara="1" rIns="0" wrap="square" tIns="0">
            <a:spAutoFit/>
          </a:bodyPr>
          <a:lstStyle/>
          <a:p>
            <a:pPr indent="-302260" lvl="1" marL="604519" marR="0" rtl="0" algn="l">
              <a:lnSpc>
                <a:spcPct val="140014"/>
              </a:lnSpc>
              <a:spcBef>
                <a:spcPts val="0"/>
              </a:spcBef>
              <a:spcAft>
                <a:spcPts val="0"/>
              </a:spcAft>
              <a:buClr>
                <a:srgbClr val="000000"/>
              </a:buClr>
              <a:buSzPts val="2799"/>
              <a:buFont typeface="Arial"/>
              <a:buChar char="•"/>
            </a:pPr>
            <a:r>
              <a:rPr lang="en-US" sz="2799">
                <a:latin typeface="Open Sans"/>
                <a:ea typeface="Open Sans"/>
                <a:cs typeface="Open Sans"/>
                <a:sym typeface="Open Sans"/>
              </a:rPr>
              <a:t>Se colocará el recordatorio de las actividades según corresponda</a:t>
            </a:r>
            <a:endParaRPr b="0" i="0" sz="1400" u="none" cap="none" strike="noStrike">
              <a:solidFill>
                <a:srgbClr val="000000"/>
              </a:solidFill>
              <a:latin typeface="Arial"/>
              <a:ea typeface="Arial"/>
              <a:cs typeface="Arial"/>
              <a:sym typeface="Arial"/>
            </a:endParaRPr>
          </a:p>
          <a:p>
            <a:pPr indent="0" lvl="0" marL="0" marR="0" rtl="0" algn="l">
              <a:lnSpc>
                <a:spcPct val="140014"/>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ctr">
              <a:lnSpc>
                <a:spcPct val="140014"/>
              </a:lnSpc>
              <a:spcBef>
                <a:spcPts val="0"/>
              </a:spcBef>
              <a:spcAft>
                <a:spcPts val="0"/>
              </a:spcAft>
              <a:buClr>
                <a:srgbClr val="000000"/>
              </a:buClr>
              <a:buSzPts val="2799"/>
              <a:buFont typeface="Arial"/>
              <a:buNone/>
            </a:pPr>
            <a:r>
              <a:t/>
            </a:r>
            <a:endParaRPr b="0" i="0" sz="2799" u="none" cap="none" strike="noStrike">
              <a:solidFill>
                <a:srgbClr val="000000"/>
              </a:solidFill>
              <a:latin typeface="Open Sans"/>
              <a:ea typeface="Open Sans"/>
              <a:cs typeface="Open Sans"/>
              <a:sym typeface="Open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