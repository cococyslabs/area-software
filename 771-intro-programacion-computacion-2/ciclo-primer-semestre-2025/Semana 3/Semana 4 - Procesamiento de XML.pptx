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5143500" cx="9144000"/>
  <p:notesSz cx="6858000" cy="9144000"/>
  <p:embeddedFontLst>
    <p:embeddedFont>
      <p:font typeface="Roboto Slab"/>
      <p:regular r:id="rId53"/>
      <p:bold r:id="rId54"/>
    </p:embeddedFont>
    <p:embeddedFont>
      <p:font typeface="Roboto"/>
      <p:regular r:id="rId55"/>
      <p:bold r:id="rId56"/>
      <p:italic r:id="rId57"/>
      <p:boldItalic r:id="rId58"/>
    </p:embeddedFont>
    <p:embeddedFont>
      <p:font typeface="Tahoma"/>
      <p:regular r:id="rId59"/>
      <p:bold r:id="rId60"/>
    </p:embeddedFont>
    <p:embeddedFont>
      <p:font typeface="Pacifico"/>
      <p:regular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62" roundtripDataSignature="AMtx7miopYnlR4wSloDGHMqtdGr9L9H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customschemas.google.com/relationships/presentationmetadata" Target="metadata"/><Relationship Id="rId61" Type="http://schemas.openxmlformats.org/officeDocument/2006/relationships/font" Target="fonts/Pacific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Tahoma-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RobotoSlab-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oboto-regular.fntdata"/><Relationship Id="rId10" Type="http://schemas.openxmlformats.org/officeDocument/2006/relationships/slide" Target="slides/slide5.xml"/><Relationship Id="rId54" Type="http://schemas.openxmlformats.org/officeDocument/2006/relationships/font" Target="fonts/RobotoSlab-bold.fntdata"/><Relationship Id="rId13" Type="http://schemas.openxmlformats.org/officeDocument/2006/relationships/slide" Target="slides/slide8.xml"/><Relationship Id="rId57" Type="http://schemas.openxmlformats.org/officeDocument/2006/relationships/font" Target="fonts/Roboto-italic.fntdata"/><Relationship Id="rId12" Type="http://schemas.openxmlformats.org/officeDocument/2006/relationships/slide" Target="slides/slide7.xml"/><Relationship Id="rId56" Type="http://schemas.openxmlformats.org/officeDocument/2006/relationships/font" Target="fonts/Roboto-bold.fntdata"/><Relationship Id="rId15" Type="http://schemas.openxmlformats.org/officeDocument/2006/relationships/slide" Target="slides/slide10.xml"/><Relationship Id="rId59" Type="http://schemas.openxmlformats.org/officeDocument/2006/relationships/font" Target="fonts/Tahoma-regular.fntdata"/><Relationship Id="rId14" Type="http://schemas.openxmlformats.org/officeDocument/2006/relationships/slide" Target="slides/slide9.xml"/><Relationship Id="rId58"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6421d756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6421d756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ceb26a92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5ceb26a92a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39055ffa9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339055ffa9c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39055ffa9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39055ffa9c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39055ffa9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339055ffa9c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9055ffa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39055ffa9c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9055ffa9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39055ffa9c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9055ffa9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39055ffa9c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39055ffa9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339055ffa9c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39055ffa9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39055ffa9c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39055ffa9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339055ffa9c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39055ffa9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339055ffa9c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39055ffa9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339055ffa9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39055ffa9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339055ffa9c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39055ffa9c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39055ffa9c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39055ffa9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g339055ffa9c_0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39055ffa9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339055ffa9c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39055ffa9c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339055ffa9c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39055ffa9c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g339055ffa9c_0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39055ffa9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339055ffa9c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39092eea2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339092eea2d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39055ffa9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g339055ffa9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4" name="Google Shape;34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5ceb26a92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g35ceb26a92a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5ceb26a92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g35ceb26a92a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5ceb26a92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g35ceb26a92a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5ceb26a92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35ceb26a92a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5ceb26a92a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35ceb26a92a_0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7"/>
          <p:cNvGrpSpPr/>
          <p:nvPr/>
        </p:nvGrpSpPr>
        <p:grpSpPr>
          <a:xfrm>
            <a:off x="6098378" y="5"/>
            <a:ext cx="3045625" cy="2030570"/>
            <a:chOff x="6098378" y="5"/>
            <a:chExt cx="3045625" cy="2030570"/>
          </a:xfrm>
        </p:grpSpPr>
        <p:sp>
          <p:nvSpPr>
            <p:cNvPr id="11" name="Google Shape;11;p27"/>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7"/>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7"/>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7"/>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7"/>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 name="Google Shape;16;p27"/>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7" name="Google Shape;17;p27"/>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 name="Shape 19"/>
        <p:cNvGrpSpPr/>
        <p:nvPr/>
      </p:nvGrpSpPr>
      <p:grpSpPr>
        <a:xfrm>
          <a:off x="0" y="0"/>
          <a:ext cx="0" cy="0"/>
          <a:chOff x="0" y="0"/>
          <a:chExt cx="0" cy="0"/>
        </a:xfrm>
      </p:grpSpPr>
      <p:sp>
        <p:nvSpPr>
          <p:cNvPr id="20" name="Google Shape;20;p2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 name="Google Shape;21;p2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22" name="Google Shape;22;p29"/>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3" name="Google Shape;23;p29"/>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4" name="Google Shape;24;p29"/>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25" name="Google Shape;25;p2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6" name="Shape 26"/>
        <p:cNvGrpSpPr/>
        <p:nvPr/>
      </p:nvGrpSpPr>
      <p:grpSpPr>
        <a:xfrm>
          <a:off x="0" y="0"/>
          <a:ext cx="0" cy="0"/>
          <a:chOff x="0" y="0"/>
          <a:chExt cx="0" cy="0"/>
        </a:xfrm>
      </p:grpSpPr>
      <p:grpSp>
        <p:nvGrpSpPr>
          <p:cNvPr id="27" name="Google Shape;27;p30"/>
          <p:cNvGrpSpPr/>
          <p:nvPr/>
        </p:nvGrpSpPr>
        <p:grpSpPr>
          <a:xfrm>
            <a:off x="6098378" y="5"/>
            <a:ext cx="3045625" cy="2030570"/>
            <a:chOff x="6098378" y="5"/>
            <a:chExt cx="3045625" cy="2030570"/>
          </a:xfrm>
        </p:grpSpPr>
        <p:sp>
          <p:nvSpPr>
            <p:cNvPr id="28" name="Google Shape;28;p30"/>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0"/>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0"/>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30"/>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0"/>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30"/>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34" name="Google Shape;34;p30"/>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35" name="Google Shape;35;p3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6" name="Shape 36"/>
        <p:cNvGrpSpPr/>
        <p:nvPr/>
      </p:nvGrpSpPr>
      <p:grpSpPr>
        <a:xfrm>
          <a:off x="0" y="0"/>
          <a:ext cx="0" cy="0"/>
          <a:chOff x="0" y="0"/>
          <a:chExt cx="0" cy="0"/>
        </a:xfrm>
      </p:grpSpPr>
      <p:grpSp>
        <p:nvGrpSpPr>
          <p:cNvPr id="37" name="Google Shape;37;p28"/>
          <p:cNvGrpSpPr/>
          <p:nvPr/>
        </p:nvGrpSpPr>
        <p:grpSpPr>
          <a:xfrm>
            <a:off x="0" y="3903669"/>
            <a:ext cx="9144000" cy="1239925"/>
            <a:chOff x="0" y="3903669"/>
            <a:chExt cx="9144000" cy="1239925"/>
          </a:xfrm>
        </p:grpSpPr>
        <p:sp>
          <p:nvSpPr>
            <p:cNvPr id="38" name="Google Shape;38;p28"/>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8"/>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8"/>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8"/>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8"/>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 name="Google Shape;43;p2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4" name="Google Shape;44;p28"/>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5" name="Google Shape;45;p2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3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48" name="Shape 48"/>
        <p:cNvGrpSpPr/>
        <p:nvPr/>
      </p:nvGrpSpPr>
      <p:grpSpPr>
        <a:xfrm>
          <a:off x="0" y="0"/>
          <a:ext cx="0" cy="0"/>
          <a:chOff x="0" y="0"/>
          <a:chExt cx="0" cy="0"/>
        </a:xfrm>
      </p:grpSpPr>
      <p:grpSp>
        <p:nvGrpSpPr>
          <p:cNvPr id="49" name="Google Shape;49;p31"/>
          <p:cNvGrpSpPr/>
          <p:nvPr/>
        </p:nvGrpSpPr>
        <p:grpSpPr>
          <a:xfrm>
            <a:off x="6098378" y="5"/>
            <a:ext cx="3045625" cy="2030570"/>
            <a:chOff x="6098378" y="5"/>
            <a:chExt cx="3045625" cy="2030570"/>
          </a:xfrm>
        </p:grpSpPr>
        <p:sp>
          <p:nvSpPr>
            <p:cNvPr id="50" name="Google Shape;50;p31"/>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1"/>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1"/>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1"/>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1"/>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 name="Google Shape;55;p31"/>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56" name="Google Shape;56;p3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57" name="Shape 57"/>
        <p:cNvGrpSpPr/>
        <p:nvPr/>
      </p:nvGrpSpPr>
      <p:grpSpPr>
        <a:xfrm>
          <a:off x="0" y="0"/>
          <a:ext cx="0" cy="0"/>
          <a:chOff x="0" y="0"/>
          <a:chExt cx="0" cy="0"/>
        </a:xfrm>
      </p:grpSpPr>
      <p:grpSp>
        <p:nvGrpSpPr>
          <p:cNvPr id="58" name="Google Shape;58;p33"/>
          <p:cNvGrpSpPr/>
          <p:nvPr/>
        </p:nvGrpSpPr>
        <p:grpSpPr>
          <a:xfrm>
            <a:off x="6098378" y="5"/>
            <a:ext cx="3045625" cy="2030570"/>
            <a:chOff x="6098378" y="5"/>
            <a:chExt cx="3045625" cy="2030570"/>
          </a:xfrm>
        </p:grpSpPr>
        <p:sp>
          <p:nvSpPr>
            <p:cNvPr id="59" name="Google Shape;59;p3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3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p33"/>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5" name="Google Shape;65;p3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3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8" name="Google Shape;68;p34"/>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34"/>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3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3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3" name="Google Shape;73;p3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3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6" name="Google Shape;76;p36"/>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3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p37"/>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0" name="Google Shape;80;p3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7" name="Google Shape;7;p26"/>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17500" lvl="1" marL="914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2pPr>
            <a:lvl3pPr indent="-317500" lvl="2" marL="1371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3pPr>
            <a:lvl4pPr indent="-317500" lvl="3" marL="1828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4pPr>
            <a:lvl5pPr indent="-317500" lvl="4" marL="22860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5pPr>
            <a:lvl6pPr indent="-317500" lvl="5" marL="27432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6pPr>
            <a:lvl7pPr indent="-317500" lvl="6" marL="32004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7pPr>
            <a:lvl8pPr indent="-317500" lvl="7" marL="36576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8pPr>
            <a:lvl9pPr indent="-317500" lvl="8" marL="4114800" marR="0" rtl="0" algn="l">
              <a:lnSpc>
                <a:spcPct val="115000"/>
              </a:lnSpc>
              <a:spcBef>
                <a:spcPts val="0"/>
              </a:spcBef>
              <a:spcAft>
                <a:spcPts val="0"/>
              </a:spcAft>
              <a:buClr>
                <a:schemeClr val="dk2"/>
              </a:buClr>
              <a:buSzPts val="1400"/>
              <a:buFont typeface="Roboto"/>
              <a:buChar char="■"/>
              <a:defRPr b="0" i="0" sz="1400" u="none" cap="none" strike="noStrike">
                <a:solidFill>
                  <a:schemeClr val="dk2"/>
                </a:solidFill>
                <a:latin typeface="Roboto"/>
                <a:ea typeface="Roboto"/>
                <a:cs typeface="Roboto"/>
                <a:sym typeface="Roboto"/>
              </a:defRPr>
            </a:lvl9pPr>
          </a:lstStyle>
          <a:p/>
        </p:txBody>
      </p:sp>
      <p:sp>
        <p:nvSpPr>
          <p:cNvPr id="8" name="Google Shape;8;p2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9.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8.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4.jpg"/><Relationship Id="rId4" Type="http://schemas.openxmlformats.org/officeDocument/2006/relationships/image" Target="../media/image12.jpg"/><Relationship Id="rId5" Type="http://schemas.openxmlformats.org/officeDocument/2006/relationships/image" Target="../media/image3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3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1.jpg"/><Relationship Id="rId4" Type="http://schemas.openxmlformats.org/officeDocument/2006/relationships/image" Target="../media/image2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6.jpg"/><Relationship Id="rId4" Type="http://schemas.openxmlformats.org/officeDocument/2006/relationships/image" Target="../media/image3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hyperlink" Target="https://developer.mozilla.org/es/docs/Web/XML" TargetMode="External"/><Relationship Id="rId4" Type="http://schemas.openxmlformats.org/officeDocument/2006/relationships/hyperlink" Target="https://developer.mozilla.org/es/docs/Web/XML" TargetMode="External"/><Relationship Id="rId5" Type="http://schemas.openxmlformats.org/officeDocument/2006/relationships/hyperlink" Target="https://developer.mozilla.org/es/docs/Web/XM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g36421d756ff_0_0"/>
          <p:cNvPicPr preferRelativeResize="0"/>
          <p:nvPr/>
        </p:nvPicPr>
        <p:blipFill>
          <a:blip r:embed="rId3">
            <a:alphaModFix/>
          </a:blip>
          <a:stretch>
            <a:fillRect/>
          </a:stretch>
        </p:blipFill>
        <p:spPr>
          <a:xfrm>
            <a:off x="0" y="0"/>
            <a:ext cx="9143999" cy="512714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ph type="ctrTitle"/>
          </p:nvPr>
        </p:nvSpPr>
        <p:spPr>
          <a:xfrm>
            <a:off x="541225" y="1749997"/>
            <a:ext cx="8222100" cy="8388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00000"/>
              <a:buNone/>
            </a:pPr>
            <a:r>
              <a:t/>
            </a:r>
            <a:endParaRPr/>
          </a:p>
          <a:p>
            <a:pPr indent="0" lvl="0" marL="0" rtl="0" algn="ctr">
              <a:lnSpc>
                <a:spcPct val="100000"/>
              </a:lnSpc>
              <a:spcBef>
                <a:spcPts val="0"/>
              </a:spcBef>
              <a:spcAft>
                <a:spcPts val="0"/>
              </a:spcAft>
              <a:buSzPct val="84374"/>
              <a:buNone/>
            </a:pPr>
            <a:r>
              <a:rPr lang="es" sz="4977"/>
              <a:t>Unidad 3: Procesamiento de Datos XML</a:t>
            </a:r>
            <a:r>
              <a:rPr lang="es"/>
              <a:t> </a:t>
            </a:r>
            <a:endParaRPr/>
          </a:p>
        </p:txBody>
      </p:sp>
      <p:sp>
        <p:nvSpPr>
          <p:cNvPr id="91" name="Google Shape;91;p1"/>
          <p:cNvSpPr txBox="1"/>
          <p:nvPr>
            <p:ph idx="1" type="subTitle"/>
          </p:nvPr>
        </p:nvSpPr>
        <p:spPr>
          <a:xfrm>
            <a:off x="500588" y="2834488"/>
            <a:ext cx="8222100" cy="4329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100"/>
              <a:buNone/>
            </a:pPr>
            <a:r>
              <a:rPr lang="es" sz="2842"/>
              <a:t>Introducción a la Programación y Computación 2</a:t>
            </a:r>
            <a:endParaRPr sz="2842"/>
          </a:p>
        </p:txBody>
      </p:sp>
      <p:pic>
        <p:nvPicPr>
          <p:cNvPr id="92" name="Google Shape;92;p1"/>
          <p:cNvPicPr preferRelativeResize="0"/>
          <p:nvPr/>
        </p:nvPicPr>
        <p:blipFill rotWithShape="1">
          <a:blip r:embed="rId3">
            <a:alphaModFix/>
          </a:blip>
          <a:srcRect b="0" l="0" r="0" t="0"/>
          <a:stretch/>
        </p:blipFill>
        <p:spPr>
          <a:xfrm>
            <a:off x="5124450" y="-12"/>
            <a:ext cx="4019550" cy="1066800"/>
          </a:xfrm>
          <a:prstGeom prst="rect">
            <a:avLst/>
          </a:prstGeom>
          <a:noFill/>
          <a:ln>
            <a:noFill/>
          </a:ln>
        </p:spPr>
      </p:pic>
      <p:sp>
        <p:nvSpPr>
          <p:cNvPr id="93" name="Google Shape;93;p1"/>
          <p:cNvSpPr txBox="1"/>
          <p:nvPr>
            <p:ph idx="1" type="subTitle"/>
          </p:nvPr>
        </p:nvSpPr>
        <p:spPr>
          <a:xfrm>
            <a:off x="579870" y="3785175"/>
            <a:ext cx="4890300" cy="4329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2100"/>
              <a:buNone/>
            </a:pPr>
            <a:r>
              <a:rPr lang="es" sz="1842"/>
              <a:t>Escuela de Ingeniería en Ciencias y Sistemas</a:t>
            </a:r>
            <a:endParaRPr sz="1842"/>
          </a:p>
        </p:txBody>
      </p:sp>
      <p:sp>
        <p:nvSpPr>
          <p:cNvPr id="94" name="Google Shape;94;p1"/>
          <p:cNvSpPr txBox="1"/>
          <p:nvPr>
            <p:ph idx="1" type="subTitle"/>
          </p:nvPr>
        </p:nvSpPr>
        <p:spPr>
          <a:xfrm>
            <a:off x="579870" y="4130650"/>
            <a:ext cx="4890300" cy="4329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2100"/>
              <a:buNone/>
            </a:pPr>
            <a:r>
              <a:rPr lang="es" sz="1842"/>
              <a:t>Facultad de Ingeniería</a:t>
            </a:r>
            <a:endParaRPr sz="1842"/>
          </a:p>
        </p:txBody>
      </p:sp>
      <p:sp>
        <p:nvSpPr>
          <p:cNvPr id="95" name="Google Shape;95;p1"/>
          <p:cNvSpPr txBox="1"/>
          <p:nvPr>
            <p:ph idx="1" type="subTitle"/>
          </p:nvPr>
        </p:nvSpPr>
        <p:spPr>
          <a:xfrm>
            <a:off x="579870" y="4490425"/>
            <a:ext cx="4890300" cy="432900"/>
          </a:xfrm>
          <a:prstGeom prst="rect">
            <a:avLst/>
          </a:prstGeom>
          <a:noFill/>
          <a:ln>
            <a:noFill/>
          </a:ln>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2100"/>
              <a:buNone/>
            </a:pPr>
            <a:r>
              <a:rPr lang="es" sz="1842"/>
              <a:t>Universidad de San Carlos de Guatemala</a:t>
            </a:r>
            <a:endParaRPr sz="1842"/>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grpSp>
        <p:nvGrpSpPr>
          <p:cNvPr id="100" name="Google Shape;100;p3"/>
          <p:cNvGrpSpPr/>
          <p:nvPr/>
        </p:nvGrpSpPr>
        <p:grpSpPr>
          <a:xfrm>
            <a:off x="442100" y="1643854"/>
            <a:ext cx="3292837" cy="2641865"/>
            <a:chOff x="-320665" y="0"/>
            <a:chExt cx="7654200" cy="11165955"/>
          </a:xfrm>
        </p:grpSpPr>
        <p:sp>
          <p:nvSpPr>
            <p:cNvPr id="101" name="Google Shape;101;p3"/>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sp>
        <p:sp>
          <p:nvSpPr>
            <p:cNvPr id="102" name="Google Shape;102;p3"/>
            <p:cNvSpPr txBox="1"/>
            <p:nvPr/>
          </p:nvSpPr>
          <p:spPr>
            <a:xfrm>
              <a:off x="-320665" y="866955"/>
              <a:ext cx="7654200" cy="10299000"/>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Clr>
                  <a:srgbClr val="000000"/>
                </a:buClr>
                <a:buSzPts val="1604"/>
                <a:buFont typeface="Arial"/>
                <a:buNone/>
              </a:pPr>
              <a:r>
                <a:rPr b="0" i="0" lang="es" sz="1604" u="none" cap="none" strike="noStrike">
                  <a:solidFill>
                    <a:schemeClr val="lt1"/>
                  </a:solidFill>
                  <a:latin typeface="Arial"/>
                  <a:ea typeface="Arial"/>
                  <a:cs typeface="Arial"/>
                  <a:sym typeface="Arial"/>
                </a:rPr>
                <a:t>RECORDATORIOS</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¿Qué es XML?</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Partes y Características</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Ventajas y Desventajas</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Aplicaciones</a:t>
              </a:r>
              <a:endParaRPr b="0" i="0" sz="1604" u="none" cap="none" strike="noStrike">
                <a:solidFill>
                  <a:schemeClr val="lt1"/>
                </a:solidFill>
                <a:latin typeface="Arial"/>
                <a:ea typeface="Arial"/>
                <a:cs typeface="Arial"/>
                <a:sym typeface="Arial"/>
              </a:endParaRPr>
            </a:p>
            <a:p>
              <a:pPr indent="-330552" lvl="0" marL="457200" marR="0" rtl="0" algn="l">
                <a:lnSpc>
                  <a:spcPct val="177599"/>
                </a:lnSpc>
                <a:spcBef>
                  <a:spcPts val="0"/>
                </a:spcBef>
                <a:spcAft>
                  <a:spcPts val="0"/>
                </a:spcAft>
                <a:buClr>
                  <a:schemeClr val="lt1"/>
                </a:buClr>
                <a:buSzPts val="1606"/>
                <a:buFont typeface="Arial"/>
                <a:buChar char="●"/>
              </a:pPr>
              <a:r>
                <a:rPr b="0" i="0" lang="es" sz="1604" u="none" cap="none" strike="noStrike">
                  <a:solidFill>
                    <a:schemeClr val="lt1"/>
                  </a:solidFill>
                  <a:latin typeface="Arial"/>
                  <a:ea typeface="Arial"/>
                  <a:cs typeface="Arial"/>
                  <a:sym typeface="Arial"/>
                </a:rPr>
                <a:t>Procesamiento de Datos XML</a:t>
              </a:r>
              <a:endParaRPr b="0" i="0" sz="1604" u="none" cap="none" strike="noStrike">
                <a:solidFill>
                  <a:schemeClr val="lt1"/>
                </a:solidFill>
                <a:latin typeface="Arial"/>
                <a:ea typeface="Arial"/>
                <a:cs typeface="Arial"/>
                <a:sym typeface="Arial"/>
              </a:endParaRPr>
            </a:p>
            <a:p>
              <a:pPr indent="0" lvl="0" marL="0" marR="0" rtl="0" algn="ctr">
                <a:lnSpc>
                  <a:spcPct val="177599"/>
                </a:lnSpc>
                <a:spcBef>
                  <a:spcPts val="0"/>
                </a:spcBef>
                <a:spcAft>
                  <a:spcPts val="0"/>
                </a:spcAft>
                <a:buClr>
                  <a:srgbClr val="000000"/>
                </a:buClr>
                <a:buSzPts val="1605"/>
                <a:buFont typeface="Arial"/>
                <a:buNone/>
              </a:pPr>
              <a:r>
                <a:t/>
              </a:r>
              <a:endParaRPr b="0" i="0" sz="1604" u="none" cap="none" strike="noStrike">
                <a:solidFill>
                  <a:schemeClr val="lt1"/>
                </a:solidFill>
                <a:latin typeface="Arial"/>
                <a:ea typeface="Arial"/>
                <a:cs typeface="Arial"/>
                <a:sym typeface="Arial"/>
              </a:endParaRPr>
            </a:p>
          </p:txBody>
        </p:sp>
      </p:grpSp>
      <p:grpSp>
        <p:nvGrpSpPr>
          <p:cNvPr id="103" name="Google Shape;103;p3"/>
          <p:cNvGrpSpPr/>
          <p:nvPr/>
        </p:nvGrpSpPr>
        <p:grpSpPr>
          <a:xfrm>
            <a:off x="150075" y="220270"/>
            <a:ext cx="9364073" cy="1845407"/>
            <a:chOff x="-20148370" y="-9764172"/>
            <a:chExt cx="28393187" cy="15015520"/>
          </a:xfrm>
        </p:grpSpPr>
        <p:sp>
          <p:nvSpPr>
            <p:cNvPr id="104" name="Google Shape;104;p3"/>
            <p:cNvSpPr/>
            <p:nvPr/>
          </p:nvSpPr>
          <p:spPr>
            <a:xfrm>
              <a:off x="0" y="0"/>
              <a:ext cx="8244817" cy="5251348"/>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sp>
        <p:sp>
          <p:nvSpPr>
            <p:cNvPr id="105" name="Google Shape;105;p3"/>
            <p:cNvSpPr txBox="1"/>
            <p:nvPr/>
          </p:nvSpPr>
          <p:spPr>
            <a:xfrm>
              <a:off x="-20148370" y="-9764172"/>
              <a:ext cx="8244900" cy="55086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6686"/>
                <a:buFont typeface="Arial"/>
                <a:buNone/>
              </a:pPr>
              <a:r>
                <a:rPr b="0" i="0" lang="es" sz="6686" u="none" cap="none" strike="noStrike">
                  <a:solidFill>
                    <a:schemeClr val="lt1"/>
                  </a:solidFill>
                  <a:latin typeface="Pacifico"/>
                  <a:ea typeface="Pacifico"/>
                  <a:cs typeface="Pacifico"/>
                  <a:sym typeface="Pacifico"/>
                </a:rPr>
                <a:t>Agenda</a:t>
              </a:r>
              <a:endParaRPr b="0" i="0" sz="200" u="none" cap="none" strike="noStrike">
                <a:solidFill>
                  <a:schemeClr val="lt1"/>
                </a:solidFill>
                <a:latin typeface="Arial"/>
                <a:ea typeface="Arial"/>
                <a:cs typeface="Arial"/>
                <a:sym typeface="Arial"/>
              </a:endParaRPr>
            </a:p>
          </p:txBody>
        </p:sp>
      </p:grpSp>
      <p:sp>
        <p:nvSpPr>
          <p:cNvPr id="106" name="Google Shape;106;p3"/>
          <p:cNvSpPr/>
          <p:nvPr/>
        </p:nvSpPr>
        <p:spPr>
          <a:xfrm>
            <a:off x="3447474" y="3361580"/>
            <a:ext cx="3346855" cy="484913"/>
          </a:xfrm>
          <a:custGeom>
            <a:rect b="b" l="l" r="r" t="t"/>
            <a:pathLst>
              <a:path extrusionOk="0" h="1127180" w="7779765">
                <a:moveTo>
                  <a:pt x="0" y="0"/>
                </a:moveTo>
                <a:lnTo>
                  <a:pt x="7779765" y="0"/>
                </a:lnTo>
                <a:lnTo>
                  <a:pt x="7779765" y="1127180"/>
                </a:lnTo>
                <a:lnTo>
                  <a:pt x="0" y="1127180"/>
                </a:lnTo>
                <a:close/>
              </a:path>
            </a:pathLst>
          </a:custGeom>
          <a:solidFill>
            <a:srgbClr val="000000">
              <a:alpha val="0"/>
            </a:srgbClr>
          </a:solidFill>
          <a:ln>
            <a:noFill/>
          </a:ln>
        </p:spPr>
      </p:sp>
      <p:sp>
        <p:nvSpPr>
          <p:cNvPr id="107" name="Google Shape;107;p3"/>
          <p:cNvSpPr txBox="1"/>
          <p:nvPr/>
        </p:nvSpPr>
        <p:spPr>
          <a:xfrm>
            <a:off x="4946975" y="220575"/>
            <a:ext cx="3763200" cy="1628400"/>
          </a:xfrm>
          <a:prstGeom prst="rect">
            <a:avLst/>
          </a:prstGeom>
          <a:noFill/>
          <a:ln>
            <a:noFill/>
          </a:ln>
        </p:spPr>
        <p:txBody>
          <a:bodyPr anchorCtr="0" anchor="t" bIns="0" lIns="0" spcFirstLastPara="1" rIns="0" wrap="square" tIns="0">
            <a:noAutofit/>
          </a:bodyPr>
          <a:lstStyle/>
          <a:p>
            <a:pPr indent="0" lvl="0" marL="0" marR="0" rtl="0" algn="l">
              <a:lnSpc>
                <a:spcPct val="137993"/>
              </a:lnSpc>
              <a:spcBef>
                <a:spcPts val="0"/>
              </a:spcBef>
              <a:spcAft>
                <a:spcPts val="0"/>
              </a:spcAft>
              <a:buClr>
                <a:srgbClr val="000000"/>
              </a:buClr>
              <a:buSzPts val="6686"/>
              <a:buFont typeface="Arial"/>
              <a:buNone/>
            </a:pPr>
            <a:r>
              <a:rPr b="0" i="0" lang="es" sz="6686" u="none" cap="none" strike="noStrike">
                <a:solidFill>
                  <a:schemeClr val="lt1"/>
                </a:solidFill>
                <a:latin typeface="Pacifico"/>
                <a:ea typeface="Pacifico"/>
                <a:cs typeface="Pacifico"/>
                <a:sym typeface="Pacifico"/>
              </a:rPr>
              <a:t>Recursos</a:t>
            </a:r>
            <a:endParaRPr b="0" i="0" sz="1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5ceb26a92a_0_34"/>
          <p:cNvSpPr/>
          <p:nvPr/>
        </p:nvSpPr>
        <p:spPr>
          <a:xfrm>
            <a:off x="6795007" y="1420287"/>
            <a:ext cx="2719141" cy="645391"/>
          </a:xfrm>
          <a:custGeom>
            <a:rect b="b" l="l" r="r" t="t"/>
            <a:pathLst>
              <a:path extrusionOk="0" h="5251348" w="8244817">
                <a:moveTo>
                  <a:pt x="0" y="0"/>
                </a:moveTo>
                <a:lnTo>
                  <a:pt x="8244817" y="0"/>
                </a:lnTo>
                <a:lnTo>
                  <a:pt x="8244817" y="5251348"/>
                </a:lnTo>
                <a:lnTo>
                  <a:pt x="0" y="5251348"/>
                </a:lnTo>
                <a:close/>
              </a:path>
            </a:pathLst>
          </a:custGeom>
          <a:solidFill>
            <a:srgbClr val="000000">
              <a:alpha val="0"/>
            </a:srgbClr>
          </a:solidFill>
          <a:ln>
            <a:noFill/>
          </a:ln>
        </p:spPr>
      </p:sp>
      <p:sp>
        <p:nvSpPr>
          <p:cNvPr id="113" name="Google Shape;113;g35ceb26a92a_0_34"/>
          <p:cNvSpPr txBox="1"/>
          <p:nvPr>
            <p:ph idx="4294967295" type="title"/>
          </p:nvPr>
        </p:nvSpPr>
        <p:spPr>
          <a:xfrm>
            <a:off x="273175" y="862775"/>
            <a:ext cx="8520600" cy="801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0800"/>
              <a:buNone/>
            </a:pPr>
            <a:r>
              <a:rPr lang="es" sz="3990">
                <a:solidFill>
                  <a:schemeClr val="lt1"/>
                </a:solidFill>
              </a:rPr>
              <a:t>Competencias que Desarrollaremos</a:t>
            </a:r>
            <a:endParaRPr sz="3709">
              <a:solidFill>
                <a:schemeClr val="lt1"/>
              </a:solidFill>
            </a:endParaRPr>
          </a:p>
        </p:txBody>
      </p:sp>
      <p:sp>
        <p:nvSpPr>
          <p:cNvPr id="114" name="Google Shape;114;g35ceb26a92a_0_34"/>
          <p:cNvSpPr txBox="1"/>
          <p:nvPr>
            <p:ph idx="4294967295" type="title"/>
          </p:nvPr>
        </p:nvSpPr>
        <p:spPr>
          <a:xfrm>
            <a:off x="273175" y="1999900"/>
            <a:ext cx="8520600" cy="801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0800"/>
              <a:buNone/>
            </a:pPr>
            <a:r>
              <a:rPr lang="es" sz="2090">
                <a:solidFill>
                  <a:schemeClr val="lt1"/>
                </a:solidFill>
              </a:rPr>
              <a:t>Analiza actividades en archivos XML utilizando técnicas de lectura estructurada para identificar y extraer información relevante</a:t>
            </a:r>
            <a:r>
              <a:rPr lang="es" sz="3290">
                <a:solidFill>
                  <a:schemeClr val="lt1"/>
                </a:solidFill>
              </a:rPr>
              <a:t> </a:t>
            </a:r>
            <a:endParaRPr sz="3009">
              <a:solidFill>
                <a:schemeClr val="lt1"/>
              </a:solidFill>
            </a:endParaRPr>
          </a:p>
        </p:txBody>
      </p:sp>
      <p:pic>
        <p:nvPicPr>
          <p:cNvPr id="115" name="Google Shape;115;g35ceb26a92a_0_34"/>
          <p:cNvPicPr preferRelativeResize="0"/>
          <p:nvPr/>
        </p:nvPicPr>
        <p:blipFill rotWithShape="1">
          <a:blip r:embed="rId3">
            <a:alphaModFix/>
          </a:blip>
          <a:srcRect b="0" l="0" r="0" t="0"/>
          <a:stretch/>
        </p:blipFill>
        <p:spPr>
          <a:xfrm>
            <a:off x="3494675" y="2905350"/>
            <a:ext cx="2077601" cy="2077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290350" y="442925"/>
            <a:ext cx="4045200" cy="1564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s"/>
              <a:t>¿Qué es XML?</a:t>
            </a:r>
            <a:endParaRPr/>
          </a:p>
        </p:txBody>
      </p:sp>
      <p:sp>
        <p:nvSpPr>
          <p:cNvPr id="121" name="Google Shape;121;p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p>
            <a:pPr indent="0" lvl="0" marL="0" marR="0" rtl="0" algn="just">
              <a:lnSpc>
                <a:spcPct val="95000"/>
              </a:lnSpc>
              <a:spcBef>
                <a:spcPts val="0"/>
              </a:spcBef>
              <a:spcAft>
                <a:spcPts val="0"/>
              </a:spcAft>
              <a:buSzPts val="1665"/>
              <a:buNone/>
            </a:pPr>
            <a:r>
              <a:rPr lang="es" sz="1500"/>
              <a:t>Es un metalenguaje que fue diseñado para estructurar, almacenar e intercambiar datos entre aplicaciones. Es un estándar ya que es extensible y puede ser utilizado independientemente de la plataforma.</a:t>
            </a:r>
            <a:endParaRPr sz="1500"/>
          </a:p>
          <a:p>
            <a:pPr indent="0" lvl="0" marL="0" marR="0" rtl="0" algn="just">
              <a:lnSpc>
                <a:spcPct val="95000"/>
              </a:lnSpc>
              <a:spcBef>
                <a:spcPts val="1200"/>
              </a:spcBef>
              <a:spcAft>
                <a:spcPts val="0"/>
              </a:spcAft>
              <a:buSzPts val="1665"/>
              <a:buNone/>
            </a:pPr>
            <a:r>
              <a:rPr lang="es" sz="1500"/>
              <a:t>Es el acrónimo de Extensible Markup Language. Es un lenguaje de marcado que define un conjunto de reglas para la codificación de documentos.</a:t>
            </a:r>
            <a:endParaRPr sz="1500"/>
          </a:p>
          <a:p>
            <a:pPr indent="0" lvl="0" marL="0" marR="0" rtl="0" algn="just">
              <a:lnSpc>
                <a:spcPct val="95000"/>
              </a:lnSpc>
              <a:spcBef>
                <a:spcPts val="1200"/>
              </a:spcBef>
              <a:spcAft>
                <a:spcPts val="1200"/>
              </a:spcAft>
              <a:buSzPts val="1665"/>
              <a:buNone/>
            </a:pPr>
            <a:r>
              <a:rPr lang="es" sz="1500"/>
              <a:t>Es un metalenguaje que permite definir lenguajes de marcas desarrollado por el World Wide Web Consortium (W3C) utilizado para almacenar datos de forma legible.</a:t>
            </a:r>
            <a:endParaRPr sz="1500"/>
          </a:p>
        </p:txBody>
      </p:sp>
      <p:pic>
        <p:nvPicPr>
          <p:cNvPr id="122" name="Google Shape;122;p4"/>
          <p:cNvPicPr preferRelativeResize="0"/>
          <p:nvPr/>
        </p:nvPicPr>
        <p:blipFill rotWithShape="1">
          <a:blip r:embed="rId3">
            <a:alphaModFix/>
          </a:blip>
          <a:srcRect b="0" l="0" r="0" t="0"/>
          <a:stretch/>
        </p:blipFill>
        <p:spPr>
          <a:xfrm>
            <a:off x="1196000" y="2085300"/>
            <a:ext cx="2123100" cy="2123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435950" y="472100"/>
            <a:ext cx="8520600" cy="8019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235294"/>
              <a:buNone/>
            </a:pPr>
            <a:r>
              <a:rPr lang="es" sz="5100"/>
              <a:t>¿</a:t>
            </a:r>
            <a:r>
              <a:rPr lang="es" sz="5122"/>
              <a:t>Para qué nos sirve XML?</a:t>
            </a:r>
            <a:endParaRPr sz="4788"/>
          </a:p>
        </p:txBody>
      </p:sp>
      <p:sp>
        <p:nvSpPr>
          <p:cNvPr id="128" name="Google Shape;128;p5"/>
          <p:cNvSpPr txBox="1"/>
          <p:nvPr>
            <p:ph idx="1" type="body"/>
          </p:nvPr>
        </p:nvSpPr>
        <p:spPr>
          <a:xfrm>
            <a:off x="908000" y="1389250"/>
            <a:ext cx="7576500" cy="2723100"/>
          </a:xfrm>
          <a:prstGeom prst="rect">
            <a:avLst/>
          </a:prstGeom>
          <a:noFill/>
          <a:ln>
            <a:noFill/>
          </a:ln>
        </p:spPr>
        <p:txBody>
          <a:bodyPr anchorCtr="0" anchor="t" bIns="91425" lIns="91425" spcFirstLastPara="1" rIns="91425" wrap="square" tIns="91425">
            <a:noAutofit/>
          </a:bodyPr>
          <a:lstStyle/>
          <a:p>
            <a:pPr indent="0" lvl="0" marL="457200" rtl="0" algn="l">
              <a:lnSpc>
                <a:spcPct val="95000"/>
              </a:lnSpc>
              <a:spcBef>
                <a:spcPts val="0"/>
              </a:spcBef>
              <a:spcAft>
                <a:spcPts val="0"/>
              </a:spcAft>
              <a:buSzPts val="935"/>
              <a:buNone/>
            </a:pPr>
            <a:r>
              <a:rPr lang="es" sz="1729"/>
              <a:t>Brindar una estructura a la información que se encuentre en la web, para que la información pueda ser:</a:t>
            </a:r>
            <a:endParaRPr sz="1729"/>
          </a:p>
          <a:p>
            <a:pPr indent="0" lvl="0" marL="457200" rtl="0" algn="l">
              <a:lnSpc>
                <a:spcPct val="95000"/>
              </a:lnSpc>
              <a:spcBef>
                <a:spcPts val="0"/>
              </a:spcBef>
              <a:spcAft>
                <a:spcPts val="0"/>
              </a:spcAft>
              <a:buSzPts val="935"/>
              <a:buNone/>
            </a:pPr>
            <a:r>
              <a:rPr lang="es" sz="1729"/>
              <a:t>Almacenada</a:t>
            </a:r>
            <a:endParaRPr sz="1729"/>
          </a:p>
          <a:p>
            <a:pPr indent="0" lvl="0" marL="457200" rtl="0" algn="l">
              <a:lnSpc>
                <a:spcPct val="95000"/>
              </a:lnSpc>
              <a:spcBef>
                <a:spcPts val="0"/>
              </a:spcBef>
              <a:spcAft>
                <a:spcPts val="0"/>
              </a:spcAft>
              <a:buSzPts val="935"/>
              <a:buNone/>
            </a:pPr>
            <a:r>
              <a:rPr lang="es" sz="1729"/>
              <a:t>Procesada</a:t>
            </a:r>
            <a:endParaRPr sz="1729"/>
          </a:p>
          <a:p>
            <a:pPr indent="0" lvl="0" marL="457200" rtl="0" algn="l">
              <a:lnSpc>
                <a:spcPct val="95000"/>
              </a:lnSpc>
              <a:spcBef>
                <a:spcPts val="0"/>
              </a:spcBef>
              <a:spcAft>
                <a:spcPts val="0"/>
              </a:spcAft>
              <a:buSzPts val="935"/>
              <a:buNone/>
            </a:pPr>
            <a:r>
              <a:rPr lang="es" sz="1729"/>
              <a:t>Visualizada</a:t>
            </a:r>
            <a:endParaRPr sz="1729"/>
          </a:p>
          <a:p>
            <a:pPr indent="0" lvl="0" marL="457200" rtl="0" algn="l">
              <a:lnSpc>
                <a:spcPct val="95000"/>
              </a:lnSpc>
              <a:spcBef>
                <a:spcPts val="0"/>
              </a:spcBef>
              <a:spcAft>
                <a:spcPts val="0"/>
              </a:spcAft>
              <a:buSzPts val="935"/>
              <a:buNone/>
            </a:pPr>
            <a:r>
              <a:rPr lang="es" sz="1729"/>
              <a:t>Manipulada</a:t>
            </a:r>
            <a:endParaRPr sz="1729"/>
          </a:p>
          <a:p>
            <a:pPr indent="0" lvl="0" marL="457200" rtl="0" algn="l">
              <a:lnSpc>
                <a:spcPct val="95000"/>
              </a:lnSpc>
              <a:spcBef>
                <a:spcPts val="0"/>
              </a:spcBef>
              <a:spcAft>
                <a:spcPts val="0"/>
              </a:spcAft>
              <a:buSzPts val="935"/>
              <a:buNone/>
            </a:pPr>
            <a:r>
              <a:t/>
            </a:r>
            <a:endParaRPr sz="1729"/>
          </a:p>
          <a:p>
            <a:pPr indent="0" lvl="0" marL="457200" rtl="0" algn="l">
              <a:lnSpc>
                <a:spcPct val="95000"/>
              </a:lnSpc>
              <a:spcBef>
                <a:spcPts val="0"/>
              </a:spcBef>
              <a:spcAft>
                <a:spcPts val="0"/>
              </a:spcAft>
              <a:buSzPts val="935"/>
              <a:buNone/>
            </a:pPr>
            <a:r>
              <a:rPr lang="es" sz="1729"/>
              <a:t>Por aplicaciones, páginas o lo que lo requiere.</a:t>
            </a:r>
            <a:endParaRPr sz="1729"/>
          </a:p>
        </p:txBody>
      </p:sp>
      <p:pic>
        <p:nvPicPr>
          <p:cNvPr id="129" name="Google Shape;129;p5"/>
          <p:cNvPicPr preferRelativeResize="0"/>
          <p:nvPr/>
        </p:nvPicPr>
        <p:blipFill rotWithShape="1">
          <a:blip r:embed="rId3">
            <a:alphaModFix/>
          </a:blip>
          <a:srcRect b="0" l="0" r="0" t="0"/>
          <a:stretch/>
        </p:blipFill>
        <p:spPr>
          <a:xfrm>
            <a:off x="7184350" y="3342025"/>
            <a:ext cx="1537250" cy="1537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b="0" l="0" r="0" t="0"/>
          <a:stretch/>
        </p:blipFill>
        <p:spPr>
          <a:xfrm>
            <a:off x="311700" y="1124900"/>
            <a:ext cx="6073625" cy="3759850"/>
          </a:xfrm>
          <a:prstGeom prst="rect">
            <a:avLst/>
          </a:prstGeom>
          <a:noFill/>
          <a:ln>
            <a:noFill/>
          </a:ln>
        </p:spPr>
      </p:pic>
      <p:sp>
        <p:nvSpPr>
          <p:cNvPr id="135" name="Google Shape;135;p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Partes de Xml</a:t>
            </a:r>
            <a:endParaRPr/>
          </a:p>
        </p:txBody>
      </p:sp>
      <p:sp>
        <p:nvSpPr>
          <p:cNvPr id="136" name="Google Shape;136;p2"/>
          <p:cNvSpPr/>
          <p:nvPr/>
        </p:nvSpPr>
        <p:spPr>
          <a:xfrm>
            <a:off x="298175" y="1068450"/>
            <a:ext cx="3540900" cy="248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37" name="Google Shape;137;p2"/>
          <p:cNvSpPr/>
          <p:nvPr/>
        </p:nvSpPr>
        <p:spPr>
          <a:xfrm>
            <a:off x="298175" y="1367500"/>
            <a:ext cx="6013200" cy="3517200"/>
          </a:xfrm>
          <a:prstGeom prst="rect">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38" name="Google Shape;138;p2"/>
          <p:cNvSpPr txBox="1"/>
          <p:nvPr/>
        </p:nvSpPr>
        <p:spPr>
          <a:xfrm>
            <a:off x="6497700" y="310625"/>
            <a:ext cx="2646300" cy="1304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Roboto"/>
                <a:ea typeface="Roboto"/>
                <a:cs typeface="Roboto"/>
                <a:sym typeface="Roboto"/>
              </a:rPr>
              <a:t>Prólogo:</a:t>
            </a:r>
            <a:r>
              <a:rPr b="0" i="0" lang="es" sz="1400" u="none" cap="none" strike="noStrike">
                <a:solidFill>
                  <a:schemeClr val="dk2"/>
                </a:solidFill>
                <a:latin typeface="Roboto"/>
                <a:ea typeface="Roboto"/>
                <a:cs typeface="Roboto"/>
                <a:sym typeface="Roboto"/>
              </a:rPr>
              <a:t> En este se especifica que el documento en cuestión es XML, se define la versión y la codificación de caracteres que se utilizó en el archivo</a:t>
            </a:r>
            <a:endParaRPr b="0" i="0" sz="1400" u="none" cap="none" strike="noStrike">
              <a:solidFill>
                <a:schemeClr val="dk2"/>
              </a:solidFill>
              <a:latin typeface="Roboto"/>
              <a:ea typeface="Roboto"/>
              <a:cs typeface="Roboto"/>
              <a:sym typeface="Roboto"/>
            </a:endParaRPr>
          </a:p>
        </p:txBody>
      </p:sp>
      <p:sp>
        <p:nvSpPr>
          <p:cNvPr id="139" name="Google Shape;139;p2"/>
          <p:cNvSpPr txBox="1"/>
          <p:nvPr/>
        </p:nvSpPr>
        <p:spPr>
          <a:xfrm>
            <a:off x="6497700" y="1519050"/>
            <a:ext cx="2646300" cy="878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Roboto"/>
                <a:ea typeface="Roboto"/>
                <a:cs typeface="Roboto"/>
                <a:sym typeface="Roboto"/>
              </a:rPr>
              <a:t>Elementos: </a:t>
            </a:r>
            <a:r>
              <a:rPr b="0" i="0" lang="es" sz="1400" u="none" cap="none" strike="noStrike">
                <a:solidFill>
                  <a:schemeClr val="dk2"/>
                </a:solidFill>
                <a:latin typeface="Roboto"/>
                <a:ea typeface="Roboto"/>
                <a:cs typeface="Roboto"/>
                <a:sym typeface="Roboto"/>
              </a:rPr>
              <a:t>Se tiene una etiqueta o tag inicial &lt;&gt; y una final &lt;/&gt;.</a:t>
            </a:r>
            <a:endParaRPr b="0" i="0" sz="1400" u="none" cap="none" strike="noStrike">
              <a:solidFill>
                <a:schemeClr val="dk2"/>
              </a:solidFill>
              <a:latin typeface="Roboto"/>
              <a:ea typeface="Roboto"/>
              <a:cs typeface="Roboto"/>
              <a:sym typeface="Roboto"/>
            </a:endParaRPr>
          </a:p>
        </p:txBody>
      </p:sp>
      <p:sp>
        <p:nvSpPr>
          <p:cNvPr id="140" name="Google Shape;140;p2"/>
          <p:cNvSpPr txBox="1"/>
          <p:nvPr/>
        </p:nvSpPr>
        <p:spPr>
          <a:xfrm>
            <a:off x="6497700" y="2410075"/>
            <a:ext cx="2472300" cy="1366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2"/>
                </a:solidFill>
                <a:latin typeface="Roboto"/>
                <a:ea typeface="Roboto"/>
                <a:cs typeface="Roboto"/>
                <a:sym typeface="Roboto"/>
              </a:rPr>
              <a:t>Epílogo: </a:t>
            </a:r>
            <a:r>
              <a:rPr b="0" i="0" lang="es" sz="1400" u="none" cap="none" strike="noStrike">
                <a:solidFill>
                  <a:schemeClr val="dk2"/>
                </a:solidFill>
                <a:latin typeface="Roboto"/>
                <a:ea typeface="Roboto"/>
                <a:cs typeface="Roboto"/>
                <a:sym typeface="Roboto"/>
              </a:rPr>
              <a:t>Datos adicionales, como encriptación. Generalmente los tokens son agregados en este apartado. Este elemento es opcional.</a:t>
            </a:r>
            <a:endParaRPr b="0" i="0" sz="1400" u="none" cap="none" strike="noStrike">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Estructura de una Etiqueta</a:t>
            </a:r>
            <a:endParaRPr/>
          </a:p>
        </p:txBody>
      </p:sp>
      <p:pic>
        <p:nvPicPr>
          <p:cNvPr id="146" name="Google Shape;146;p6"/>
          <p:cNvPicPr preferRelativeResize="0"/>
          <p:nvPr/>
        </p:nvPicPr>
        <p:blipFill rotWithShape="1">
          <a:blip r:embed="rId3">
            <a:alphaModFix/>
          </a:blip>
          <a:srcRect b="0" l="0" r="0" t="0"/>
          <a:stretch/>
        </p:blipFill>
        <p:spPr>
          <a:xfrm>
            <a:off x="1247775" y="1090613"/>
            <a:ext cx="6648450" cy="2962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39055ffa9c_0_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Características de XML</a:t>
            </a:r>
            <a:endParaRPr/>
          </a:p>
        </p:txBody>
      </p:sp>
      <p:sp>
        <p:nvSpPr>
          <p:cNvPr id="152" name="Google Shape;152;g339055ffa9c_0_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b="1" lang="es"/>
              <a:t>Extensible:</a:t>
            </a:r>
            <a:r>
              <a:rPr lang="es"/>
              <a:t> Cada persona puede crear las etiquetas que desee según el tipo de documento que se quiere crear. En otras palabras cada usuario podrá crear su propio lenguaje.</a:t>
            </a:r>
            <a:endParaRPr/>
          </a:p>
          <a:p>
            <a:pPr indent="0" lvl="0" marL="0" marR="0" rtl="0" algn="l">
              <a:lnSpc>
                <a:spcPct val="115000"/>
              </a:lnSpc>
              <a:spcBef>
                <a:spcPts val="0"/>
              </a:spcBef>
              <a:spcAft>
                <a:spcPts val="0"/>
              </a:spcAft>
              <a:buSzPts val="1800"/>
              <a:buNone/>
            </a:pPr>
            <a:r>
              <a:t/>
            </a:r>
            <a:endParaRPr/>
          </a:p>
          <a:p>
            <a:pPr indent="-342900" lvl="0" marL="457200" marR="0" rtl="0" algn="l">
              <a:lnSpc>
                <a:spcPct val="115000"/>
              </a:lnSpc>
              <a:spcBef>
                <a:spcPts val="0"/>
              </a:spcBef>
              <a:spcAft>
                <a:spcPts val="0"/>
              </a:spcAft>
              <a:buSzPts val="1800"/>
              <a:buChar char="●"/>
            </a:pPr>
            <a:r>
              <a:rPr b="1" lang="es"/>
              <a:t>Estándar abierto:</a:t>
            </a:r>
            <a:r>
              <a:rPr lang="es"/>
              <a:t> XML es SGML, lo que significa que no es necesario saber programar, además de que existen muchas herramientas para su manipulación.</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39055ffa9c_0_2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Características de XML</a:t>
            </a:r>
            <a:endParaRPr/>
          </a:p>
        </p:txBody>
      </p:sp>
      <p:sp>
        <p:nvSpPr>
          <p:cNvPr id="158" name="Google Shape;158;g339055ffa9c_0_20"/>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b="1" lang="es"/>
              <a:t>Eficiente:</a:t>
            </a:r>
            <a:r>
              <a:rPr lang="es"/>
              <a:t> La información debe ser transmitida una única vez para su manipulación.</a:t>
            </a:r>
            <a:endParaRPr/>
          </a:p>
          <a:p>
            <a:pPr indent="0" lvl="0" marL="0" marR="0" rtl="0" algn="l">
              <a:lnSpc>
                <a:spcPct val="115000"/>
              </a:lnSpc>
              <a:spcBef>
                <a:spcPts val="0"/>
              </a:spcBef>
              <a:spcAft>
                <a:spcPts val="0"/>
              </a:spcAft>
              <a:buSzPts val="1800"/>
              <a:buNone/>
            </a:pPr>
            <a:r>
              <a:t/>
            </a:r>
            <a:endParaRPr/>
          </a:p>
          <a:p>
            <a:pPr indent="-342900" lvl="0" marL="457200" marR="0" rtl="0" algn="l">
              <a:lnSpc>
                <a:spcPct val="115000"/>
              </a:lnSpc>
              <a:spcBef>
                <a:spcPts val="0"/>
              </a:spcBef>
              <a:spcAft>
                <a:spcPts val="0"/>
              </a:spcAft>
              <a:buSzPts val="1800"/>
              <a:buChar char="●"/>
            </a:pPr>
            <a:r>
              <a:rPr b="1" lang="es"/>
              <a:t>Libre:</a:t>
            </a:r>
            <a:r>
              <a:rPr lang="es"/>
              <a:t> Nadie tiene una patente sobre él, ya que ha sido definido como un estándar internacional.</a:t>
            </a:r>
            <a:endParaRPr/>
          </a:p>
          <a:p>
            <a:pPr indent="0" lvl="0" marL="457200" marR="0" rtl="0" algn="l">
              <a:lnSpc>
                <a:spcPct val="115000"/>
              </a:lnSpc>
              <a:spcBef>
                <a:spcPts val="0"/>
              </a:spcBef>
              <a:spcAft>
                <a:spcPts val="0"/>
              </a:spcAft>
              <a:buSzPts val="1800"/>
              <a:buNone/>
            </a:pPr>
            <a:r>
              <a:t/>
            </a:r>
            <a:endParaRPr/>
          </a:p>
          <a:p>
            <a:pPr indent="-342900" lvl="0" marL="457200" marR="0" rtl="0" algn="l">
              <a:lnSpc>
                <a:spcPct val="115000"/>
              </a:lnSpc>
              <a:spcBef>
                <a:spcPts val="0"/>
              </a:spcBef>
              <a:spcAft>
                <a:spcPts val="0"/>
              </a:spcAft>
              <a:buSzPts val="1800"/>
              <a:buChar char="●"/>
            </a:pPr>
            <a:r>
              <a:rPr b="1" lang="es"/>
              <a:t>Manejable: </a:t>
            </a:r>
            <a:r>
              <a:rPr lang="es"/>
              <a:t>Tiene métodos para declarar y reforzar las estructuras que son utilizadas actualmente.</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39055ffa9c_0_3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Ventajas de XML</a:t>
            </a:r>
            <a:endParaRPr/>
          </a:p>
        </p:txBody>
      </p:sp>
      <p:sp>
        <p:nvSpPr>
          <p:cNvPr id="164" name="Google Shape;164;g339055ffa9c_0_30"/>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just">
              <a:lnSpc>
                <a:spcPct val="115000"/>
              </a:lnSpc>
              <a:spcBef>
                <a:spcPts val="0"/>
              </a:spcBef>
              <a:spcAft>
                <a:spcPts val="0"/>
              </a:spcAft>
              <a:buSzPts val="1800"/>
              <a:buChar char="●"/>
            </a:pPr>
            <a:r>
              <a:rPr b="1" lang="es"/>
              <a:t>Simplifica el intercambio de datos:</a:t>
            </a:r>
            <a:r>
              <a:rPr lang="es"/>
              <a:t> Dada la gran cantidad de aplicaciones que se tienen en la web, los desarrolladores pueden utilizar el mismo estándar para comunicar aplicaciones que a simple vista serían incompatibles.</a:t>
            </a:r>
            <a:endParaRPr/>
          </a:p>
          <a:p>
            <a:pPr indent="0" lvl="0" marL="457200" marR="0" rtl="0" algn="just">
              <a:lnSpc>
                <a:spcPct val="115000"/>
              </a:lnSpc>
              <a:spcBef>
                <a:spcPts val="0"/>
              </a:spcBef>
              <a:spcAft>
                <a:spcPts val="0"/>
              </a:spcAft>
              <a:buSzPts val="1800"/>
              <a:buNone/>
            </a:pPr>
            <a:r>
              <a:t/>
            </a:r>
            <a:endParaRPr/>
          </a:p>
          <a:p>
            <a:pPr indent="-342900" lvl="0" marL="457200" marR="0" rtl="0" algn="just">
              <a:lnSpc>
                <a:spcPct val="115000"/>
              </a:lnSpc>
              <a:spcBef>
                <a:spcPts val="0"/>
              </a:spcBef>
              <a:spcAft>
                <a:spcPts val="0"/>
              </a:spcAft>
              <a:buSzPts val="1800"/>
              <a:buChar char="●"/>
            </a:pPr>
            <a:r>
              <a:rPr lang="es"/>
              <a:t>Los archivos XML se almacenan en forma de texto, lo que facilita la expansión y actualización de los mismos.</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39055ffa9c_0_2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Ventajas de XML</a:t>
            </a:r>
            <a:endParaRPr/>
          </a:p>
        </p:txBody>
      </p:sp>
      <p:sp>
        <p:nvSpPr>
          <p:cNvPr id="170" name="Google Shape;170;g339055ffa9c_0_2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l">
              <a:lnSpc>
                <a:spcPct val="115000"/>
              </a:lnSpc>
              <a:spcBef>
                <a:spcPts val="0"/>
              </a:spcBef>
              <a:spcAft>
                <a:spcPts val="0"/>
              </a:spcAft>
              <a:buSzPts val="1800"/>
              <a:buChar char="●"/>
            </a:pPr>
            <a:r>
              <a:rPr b="1" lang="es"/>
              <a:t>Aumenta la disponibilidad de datos: </a:t>
            </a:r>
            <a:r>
              <a:rPr lang="es"/>
              <a:t>El acceso a los archivos XML pueden darse de diferentes lugares, no únicamente desde HTML.</a:t>
            </a:r>
            <a:endParaRPr/>
          </a:p>
          <a:p>
            <a:pPr indent="0" lvl="0" marL="457200" marR="0" rtl="0" algn="l">
              <a:lnSpc>
                <a:spcPct val="115000"/>
              </a:lnSpc>
              <a:spcBef>
                <a:spcPts val="0"/>
              </a:spcBef>
              <a:spcAft>
                <a:spcPts val="0"/>
              </a:spcAft>
              <a:buSzPts val="1800"/>
              <a:buNone/>
            </a:pPr>
            <a:r>
              <a:t/>
            </a:r>
            <a:endParaRPr/>
          </a:p>
          <a:p>
            <a:pPr indent="-342900" lvl="0" marL="457200" marR="0" rtl="0" algn="l">
              <a:lnSpc>
                <a:spcPct val="115000"/>
              </a:lnSpc>
              <a:spcBef>
                <a:spcPts val="0"/>
              </a:spcBef>
              <a:spcAft>
                <a:spcPts val="0"/>
              </a:spcAft>
              <a:buSzPts val="1800"/>
              <a:buChar char="●"/>
            </a:pPr>
            <a:r>
              <a:rPr lang="es"/>
              <a:t>Con XML se tiene la opción que los datos estén disponibles para todos los tipos de máquinas de lectura.</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39055ffa9c_0_1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Desventajas de XML</a:t>
            </a:r>
            <a:endParaRPr/>
          </a:p>
        </p:txBody>
      </p:sp>
      <p:sp>
        <p:nvSpPr>
          <p:cNvPr id="176" name="Google Shape;176;g339055ffa9c_0_1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just">
              <a:lnSpc>
                <a:spcPct val="115000"/>
              </a:lnSpc>
              <a:spcBef>
                <a:spcPts val="0"/>
              </a:spcBef>
              <a:spcAft>
                <a:spcPts val="0"/>
              </a:spcAft>
              <a:buSzPts val="1800"/>
              <a:buChar char="●"/>
            </a:pPr>
            <a:r>
              <a:rPr b="1" lang="es"/>
              <a:t>Verboso:</a:t>
            </a:r>
            <a:r>
              <a:rPr lang="es"/>
              <a:t> XML tiende a ser más verboso que JSON, lo que puede hacer que los documentos sean más grandes y difíciles de leer.</a:t>
            </a:r>
            <a:endParaRPr/>
          </a:p>
          <a:p>
            <a:pPr indent="0" lvl="0" marL="457200" marR="0" rtl="0" algn="just">
              <a:lnSpc>
                <a:spcPct val="115000"/>
              </a:lnSpc>
              <a:spcBef>
                <a:spcPts val="0"/>
              </a:spcBef>
              <a:spcAft>
                <a:spcPts val="0"/>
              </a:spcAft>
              <a:buSzPts val="1800"/>
              <a:buNone/>
            </a:pPr>
            <a:r>
              <a:t/>
            </a:r>
            <a:endParaRPr/>
          </a:p>
          <a:p>
            <a:pPr indent="-342900" lvl="0" marL="457200" marR="0" rtl="0" algn="just">
              <a:lnSpc>
                <a:spcPct val="115000"/>
              </a:lnSpc>
              <a:spcBef>
                <a:spcPts val="0"/>
              </a:spcBef>
              <a:spcAft>
                <a:spcPts val="0"/>
              </a:spcAft>
              <a:buSzPts val="1800"/>
              <a:buChar char="●"/>
            </a:pPr>
            <a:r>
              <a:rPr b="1" lang="es"/>
              <a:t>Procesamiento más lento: </a:t>
            </a:r>
            <a:r>
              <a:rPr lang="es"/>
              <a:t>Debido a su estructura más compleja, el procesamiento de datos XML puede ser más lento en comparación con JSON.</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39055ffa9c_0_3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Desventajas de XML</a:t>
            </a:r>
            <a:endParaRPr/>
          </a:p>
        </p:txBody>
      </p:sp>
      <p:sp>
        <p:nvSpPr>
          <p:cNvPr id="182" name="Google Shape;182;g339055ffa9c_0_3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just">
              <a:lnSpc>
                <a:spcPct val="115000"/>
              </a:lnSpc>
              <a:spcBef>
                <a:spcPts val="0"/>
              </a:spcBef>
              <a:spcAft>
                <a:spcPts val="0"/>
              </a:spcAft>
              <a:buSzPts val="1800"/>
              <a:buChar char="●"/>
            </a:pPr>
            <a:r>
              <a:rPr b="1" lang="es"/>
              <a:t>Tamaño de archivo mayor: </a:t>
            </a:r>
            <a:r>
              <a:rPr lang="es"/>
              <a:t>En comparación con JSON, los documentos XML tienden a ser más grandes debido a su sintaxis y a la necesidad de incluir etiquetas de apertura y cierre para cada elemento. Esto puede llevar a un aumento en el consumo de ancho de banda y tiempo de transferencia, lo que podría ser una consideración importante en aplicaciones donde la velocidad de transferencia es crucial, como en servicios web o aplicaciones móviles.</a:t>
            </a:r>
            <a:endParaRPr/>
          </a:p>
          <a:p>
            <a:pPr indent="0" lvl="0" marL="0" marR="0" rtl="0" algn="l">
              <a:lnSpc>
                <a:spcPct val="115000"/>
              </a:lnSpc>
              <a:spcBef>
                <a:spcPts val="1200"/>
              </a:spcBef>
              <a:spcAft>
                <a:spcPts val="1200"/>
              </a:spcAft>
              <a:buSzPts val="1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Aplicaciones XML</a:t>
            </a:r>
            <a:endParaRPr/>
          </a:p>
        </p:txBody>
      </p:sp>
      <p:sp>
        <p:nvSpPr>
          <p:cNvPr id="188" name="Google Shape;188;p7"/>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342900" lvl="0" marL="457200" marR="0" rtl="0" algn="just">
              <a:lnSpc>
                <a:spcPct val="115000"/>
              </a:lnSpc>
              <a:spcBef>
                <a:spcPts val="0"/>
              </a:spcBef>
              <a:spcAft>
                <a:spcPts val="0"/>
              </a:spcAft>
              <a:buSzPts val="1800"/>
              <a:buChar char="●"/>
            </a:pPr>
            <a:r>
              <a:rPr lang="es"/>
              <a:t>Estructura HTML</a:t>
            </a:r>
            <a:endParaRPr/>
          </a:p>
          <a:p>
            <a:pPr indent="-342900" lvl="0" marL="457200" marR="0" rtl="0" algn="just">
              <a:lnSpc>
                <a:spcPct val="115000"/>
              </a:lnSpc>
              <a:spcBef>
                <a:spcPts val="0"/>
              </a:spcBef>
              <a:spcAft>
                <a:spcPts val="0"/>
              </a:spcAft>
              <a:buSzPts val="1800"/>
              <a:buChar char="●"/>
            </a:pPr>
            <a:r>
              <a:rPr lang="es"/>
              <a:t>PDF está guardado en XML</a:t>
            </a:r>
            <a:endParaRPr/>
          </a:p>
          <a:p>
            <a:pPr indent="-342900" lvl="0" marL="457200" marR="0" rtl="0" algn="just">
              <a:lnSpc>
                <a:spcPct val="115000"/>
              </a:lnSpc>
              <a:spcBef>
                <a:spcPts val="0"/>
              </a:spcBef>
              <a:spcAft>
                <a:spcPts val="0"/>
              </a:spcAft>
              <a:buSzPts val="1800"/>
              <a:buChar char="●"/>
            </a:pPr>
            <a:r>
              <a:rPr lang="es"/>
              <a:t>Microsoft Office guarda los datos como XML</a:t>
            </a:r>
            <a:endParaRPr/>
          </a:p>
          <a:p>
            <a:pPr indent="-342900" lvl="0" marL="457200" marR="0" rtl="0" algn="just">
              <a:lnSpc>
                <a:spcPct val="115000"/>
              </a:lnSpc>
              <a:spcBef>
                <a:spcPts val="0"/>
              </a:spcBef>
              <a:spcAft>
                <a:spcPts val="0"/>
              </a:spcAft>
              <a:buSzPts val="1800"/>
              <a:buChar char="●"/>
            </a:pPr>
            <a:r>
              <a:rPr lang="es"/>
              <a:t>SOAP(Simple Object Access Protocol)</a:t>
            </a:r>
            <a:endParaRPr/>
          </a:p>
          <a:p>
            <a:pPr indent="-342900" lvl="0" marL="457200" marR="0" rtl="0" algn="just">
              <a:lnSpc>
                <a:spcPct val="115000"/>
              </a:lnSpc>
              <a:spcBef>
                <a:spcPts val="0"/>
              </a:spcBef>
              <a:spcAft>
                <a:spcPts val="0"/>
              </a:spcAft>
              <a:buSzPts val="1800"/>
              <a:buChar char="●"/>
            </a:pPr>
            <a:r>
              <a:rPr lang="es"/>
              <a:t>Web Services de instituciones financieras</a:t>
            </a:r>
            <a:endParaRPr/>
          </a:p>
          <a:p>
            <a:pPr indent="-342900" lvl="0" marL="457200" marR="0" rtl="0" algn="just">
              <a:lnSpc>
                <a:spcPct val="115000"/>
              </a:lnSpc>
              <a:spcBef>
                <a:spcPts val="0"/>
              </a:spcBef>
              <a:spcAft>
                <a:spcPts val="0"/>
              </a:spcAft>
              <a:buSzPts val="1800"/>
              <a:buChar char="●"/>
            </a:pPr>
            <a:r>
              <a:rPr lang="es"/>
              <a:t>Correos electrónicos</a:t>
            </a:r>
            <a:endParaRPr/>
          </a:p>
          <a:p>
            <a:pPr indent="0" lvl="0" marL="914400" marR="0" rtl="0" algn="just">
              <a:lnSpc>
                <a:spcPct val="115000"/>
              </a:lnSpc>
              <a:spcBef>
                <a:spcPts val="0"/>
              </a:spcBef>
              <a:spcAft>
                <a:spcPts val="0"/>
              </a:spcAft>
              <a:buSzPts val="1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Árbol</a:t>
            </a:r>
            <a:endParaRPr/>
          </a:p>
        </p:txBody>
      </p:sp>
      <p:sp>
        <p:nvSpPr>
          <p:cNvPr id="194" name="Google Shape;194;p9"/>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s" sz="1600">
                <a:solidFill>
                  <a:srgbClr val="000000"/>
                </a:solidFill>
              </a:rPr>
              <a:t>Un árbol es una estructura jerárquica o secuencial formada por nodos, los cuales pueden ser de dos tipos: los nodos hijos y los nodos padre. </a:t>
            </a:r>
            <a:endParaRPr sz="1600">
              <a:solidFill>
                <a:srgbClr val="000000"/>
              </a:solidFill>
            </a:endParaRPr>
          </a:p>
          <a:p>
            <a:pPr indent="0" lvl="0" marL="0" rtl="0" algn="l">
              <a:lnSpc>
                <a:spcPct val="100000"/>
              </a:lnSpc>
              <a:spcBef>
                <a:spcPts val="0"/>
              </a:spcBef>
              <a:spcAft>
                <a:spcPts val="0"/>
              </a:spcAft>
              <a:buSzPts val="1800"/>
              <a:buNone/>
            </a:pPr>
            <a:r>
              <a:t/>
            </a:r>
            <a:endParaRPr sz="1600">
              <a:solidFill>
                <a:srgbClr val="000000"/>
              </a:solidFill>
            </a:endParaRPr>
          </a:p>
          <a:p>
            <a:pPr indent="-330200" lvl="0" marL="457200" rtl="0" algn="l">
              <a:lnSpc>
                <a:spcPct val="100000"/>
              </a:lnSpc>
              <a:spcBef>
                <a:spcPts val="0"/>
              </a:spcBef>
              <a:spcAft>
                <a:spcPts val="0"/>
              </a:spcAft>
              <a:buClr>
                <a:srgbClr val="000000"/>
              </a:buClr>
              <a:buSzPts val="1600"/>
              <a:buFont typeface="Roboto"/>
              <a:buChar char="●"/>
            </a:pPr>
            <a:r>
              <a:rPr lang="es" sz="1600">
                <a:solidFill>
                  <a:srgbClr val="000000"/>
                </a:solidFill>
              </a:rPr>
              <a:t>Un padre puede tener muchos hijos</a:t>
            </a:r>
            <a:endParaRPr sz="1600">
              <a:solidFill>
                <a:srgbClr val="000000"/>
              </a:solidFill>
            </a:endParaRPr>
          </a:p>
          <a:p>
            <a:pPr indent="0" lvl="0" marL="457200" rtl="0" algn="l">
              <a:lnSpc>
                <a:spcPct val="100000"/>
              </a:lnSpc>
              <a:spcBef>
                <a:spcPts val="0"/>
              </a:spcBef>
              <a:spcAft>
                <a:spcPts val="0"/>
              </a:spcAft>
              <a:buSzPts val="1800"/>
              <a:buNone/>
            </a:pPr>
            <a:r>
              <a:t/>
            </a:r>
            <a:endParaRPr sz="1600">
              <a:solidFill>
                <a:srgbClr val="000000"/>
              </a:solidFill>
            </a:endParaRPr>
          </a:p>
          <a:p>
            <a:pPr indent="-330200" lvl="0" marL="457200" marR="0" rtl="0" algn="l">
              <a:lnSpc>
                <a:spcPct val="100000"/>
              </a:lnSpc>
              <a:spcBef>
                <a:spcPts val="0"/>
              </a:spcBef>
              <a:spcAft>
                <a:spcPts val="0"/>
              </a:spcAft>
              <a:buClr>
                <a:srgbClr val="000000"/>
              </a:buClr>
              <a:buSzPts val="1600"/>
              <a:buFont typeface="Roboto"/>
              <a:buChar char="●"/>
            </a:pPr>
            <a:r>
              <a:rPr lang="es" sz="1600">
                <a:solidFill>
                  <a:srgbClr val="000000"/>
                </a:solidFill>
              </a:rPr>
              <a:t>Un hijo puede tener sus propios hijos, además de tener hermanos</a:t>
            </a:r>
            <a:endParaRPr sz="1600">
              <a:solidFill>
                <a:srgbClr val="000000"/>
              </a:solidFill>
            </a:endParaRPr>
          </a:p>
          <a:p>
            <a:pPr indent="0" lvl="0" marL="0" marR="0" rtl="0" algn="l">
              <a:lnSpc>
                <a:spcPct val="100000"/>
              </a:lnSpc>
              <a:spcBef>
                <a:spcPts val="0"/>
              </a:spcBef>
              <a:spcAft>
                <a:spcPts val="0"/>
              </a:spcAft>
              <a:buSzPts val="1800"/>
              <a:buNone/>
            </a:pPr>
            <a:r>
              <a:t/>
            </a:r>
            <a:endParaRPr sz="1600">
              <a:solidFill>
                <a:srgbClr val="000000"/>
              </a:solidFill>
            </a:endParaRPr>
          </a:p>
        </p:txBody>
      </p:sp>
      <p:pic>
        <p:nvPicPr>
          <p:cNvPr id="195" name="Google Shape;195;p9"/>
          <p:cNvPicPr preferRelativeResize="0"/>
          <p:nvPr/>
        </p:nvPicPr>
        <p:blipFill rotWithShape="1">
          <a:blip r:embed="rId3">
            <a:alphaModFix/>
          </a:blip>
          <a:srcRect b="0" l="0" r="0" t="0"/>
          <a:stretch/>
        </p:blipFill>
        <p:spPr>
          <a:xfrm>
            <a:off x="2266400" y="2899225"/>
            <a:ext cx="3014153" cy="1897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0"/>
          <p:cNvPicPr preferRelativeResize="0"/>
          <p:nvPr/>
        </p:nvPicPr>
        <p:blipFill rotWithShape="1">
          <a:blip r:embed="rId3">
            <a:alphaModFix/>
          </a:blip>
          <a:srcRect b="0" l="0" r="0" t="0"/>
          <a:stretch/>
        </p:blipFill>
        <p:spPr>
          <a:xfrm>
            <a:off x="692000" y="445875"/>
            <a:ext cx="7153775" cy="4428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11"/>
          <p:cNvPicPr preferRelativeResize="0"/>
          <p:nvPr/>
        </p:nvPicPr>
        <p:blipFill rotWithShape="1">
          <a:blip r:embed="rId3">
            <a:alphaModFix/>
          </a:blip>
          <a:srcRect b="0" l="0" r="0" t="0"/>
          <a:stretch/>
        </p:blipFill>
        <p:spPr>
          <a:xfrm>
            <a:off x="987475" y="216755"/>
            <a:ext cx="6569069" cy="4926750"/>
          </a:xfrm>
          <a:prstGeom prst="rect">
            <a:avLst/>
          </a:prstGeom>
          <a:noFill/>
          <a:ln>
            <a:noFill/>
          </a:ln>
        </p:spPr>
      </p:pic>
      <p:pic>
        <p:nvPicPr>
          <p:cNvPr id="206" name="Google Shape;206;p11"/>
          <p:cNvPicPr preferRelativeResize="0"/>
          <p:nvPr/>
        </p:nvPicPr>
        <p:blipFill rotWithShape="1">
          <a:blip r:embed="rId4">
            <a:alphaModFix amt="39000"/>
          </a:blip>
          <a:srcRect b="0" l="0" r="0" t="0"/>
          <a:stretch/>
        </p:blipFill>
        <p:spPr>
          <a:xfrm rot="5400000">
            <a:off x="-76100" y="0"/>
            <a:ext cx="1465725" cy="1465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2"/>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a:t>Procesamiento de datos XML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17"/>
          <p:cNvPicPr preferRelativeResize="0"/>
          <p:nvPr/>
        </p:nvPicPr>
        <p:blipFill rotWithShape="1">
          <a:blip r:embed="rId3">
            <a:alphaModFix/>
          </a:blip>
          <a:srcRect b="0" l="0" r="0" t="0"/>
          <a:stretch/>
        </p:blipFill>
        <p:spPr>
          <a:xfrm>
            <a:off x="1492525" y="161525"/>
            <a:ext cx="6158950" cy="35981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8"/>
          <p:cNvSpPr txBox="1"/>
          <p:nvPr>
            <p:ph type="title"/>
          </p:nvPr>
        </p:nvSpPr>
        <p:spPr>
          <a:xfrm>
            <a:off x="990450" y="1491625"/>
            <a:ext cx="7163100" cy="246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es"/>
              <a:t>Modelo DOM para procesar XML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idx="1" type="body"/>
          </p:nvPr>
        </p:nvSpPr>
        <p:spPr>
          <a:xfrm>
            <a:off x="311700" y="568400"/>
            <a:ext cx="8520600" cy="4121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s"/>
              <a:t>El Modelo de Objetos del Documento, o DOM por sus siglas en inglés, es una librería del World Wide Web (W3C) para acceder y modificar documentos XML. Una implementación del DOM presenta los documento XML como un árbol, y permite al código cliente construir dichas estructuras desde cero para Crear nuestros propios árboles XML.</a:t>
            </a:r>
            <a:endParaRPr/>
          </a:p>
          <a:p>
            <a:pPr indent="0" lvl="0" marL="0" rtl="0" algn="l">
              <a:lnSpc>
                <a:spcPct val="115000"/>
              </a:lnSpc>
              <a:spcBef>
                <a:spcPts val="1200"/>
              </a:spcBef>
              <a:spcAft>
                <a:spcPts val="1200"/>
              </a:spcAft>
              <a:buSzPts val="1800"/>
              <a:buNone/>
            </a:pPr>
            <a:r>
              <a:t/>
            </a:r>
            <a:endParaRPr/>
          </a:p>
        </p:txBody>
      </p:sp>
      <p:pic>
        <p:nvPicPr>
          <p:cNvPr id="227" name="Google Shape;227;p19"/>
          <p:cNvPicPr preferRelativeResize="0"/>
          <p:nvPr/>
        </p:nvPicPr>
        <p:blipFill rotWithShape="1">
          <a:blip r:embed="rId3">
            <a:alphaModFix/>
          </a:blip>
          <a:srcRect b="0" l="0" r="0" t="0"/>
          <a:stretch/>
        </p:blipFill>
        <p:spPr>
          <a:xfrm>
            <a:off x="311700" y="2828850"/>
            <a:ext cx="6383301" cy="1567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39055ffa9c_0_45"/>
          <p:cNvSpPr txBox="1"/>
          <p:nvPr>
            <p:ph idx="1" type="body"/>
          </p:nvPr>
        </p:nvSpPr>
        <p:spPr>
          <a:xfrm>
            <a:off x="311700" y="568400"/>
            <a:ext cx="8520600" cy="41211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15000"/>
              </a:lnSpc>
              <a:spcBef>
                <a:spcPts val="0"/>
              </a:spcBef>
              <a:spcAft>
                <a:spcPts val="0"/>
              </a:spcAft>
              <a:buSzPts val="1800"/>
              <a:buNone/>
            </a:pPr>
            <a:r>
              <a:rPr lang="es"/>
              <a:t>En el DOM, los documentos tienen una estructura lógica que es muy parecida a un árbol, sin embargo, no especifica que debe ser implementado como un árbol obligatoriamente.</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El DOM es un modelo lógico que puede implementarse de cualquier manera que sea conveniente.</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Una propiedad importante de los modelos de estructura del DOM es algo llamado “isomorfismo estructural”, el cual significa que si dos implementaciones cualesquiera del Modelo de Objetos del Documento se usan para crear una representación del mismo documento, ambas crearán el mismo modelo de estructura, con exactamente los mismos objetos y relaciones.</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39055ffa9c_0_50"/>
          <p:cNvSpPr txBox="1"/>
          <p:nvPr>
            <p:ph idx="1" type="body"/>
          </p:nvPr>
        </p:nvSpPr>
        <p:spPr>
          <a:xfrm>
            <a:off x="311700" y="1017800"/>
            <a:ext cx="8520600" cy="4121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s"/>
              <a:t>El DOM se originó como una especificación para permitir que los programas Java y los scripts de JavaScript fueran portables entre navegadores web.</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La primera especificación del modelo surgió en 1997 llamada DOM level 1 del cual se realizó una actualización en 2000.</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Se han realizado nuevas especificaciones al modelo agregando más funcionalidades para el procesamiento de archivos con propiedades que necesitan de otras funciones.</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238" name="Google Shape;238;g339055ffa9c_0_5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Origen del modelo DOM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39055ffa9c_0_55"/>
          <p:cNvSpPr txBox="1"/>
          <p:nvPr>
            <p:ph idx="1" type="body"/>
          </p:nvPr>
        </p:nvSpPr>
        <p:spPr>
          <a:xfrm>
            <a:off x="311700" y="1017800"/>
            <a:ext cx="8520600" cy="4121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s"/>
              <a:t>Los elementos que componen al archivo XML son tratados por el modelo DOM como objetos. Los atributos que contienen estos objetos son tratados por el model DOM como cadenas de caracteres o strings, por lo que tenemos que tomarlo en cuenta al realizar operaciones con los datos recién obtenidos del archivo de entrada.</a:t>
            </a:r>
            <a:endParaRPr/>
          </a:p>
          <a:p>
            <a:pPr indent="0" lvl="0" marL="0" rtl="0" algn="just">
              <a:lnSpc>
                <a:spcPct val="115000"/>
              </a:lnSpc>
              <a:spcBef>
                <a:spcPts val="0"/>
              </a:spcBef>
              <a:spcAft>
                <a:spcPts val="0"/>
              </a:spcAft>
              <a:buSzPts val="1800"/>
              <a:buNone/>
            </a:pPr>
            <a:r>
              <a:t/>
            </a:r>
            <a:endParaRPr/>
          </a:p>
          <a:p>
            <a:pPr indent="0" lvl="0" marL="0" rtl="0" algn="just">
              <a:lnSpc>
                <a:spcPct val="115000"/>
              </a:lnSpc>
              <a:spcBef>
                <a:spcPts val="0"/>
              </a:spcBef>
              <a:spcAft>
                <a:spcPts val="0"/>
              </a:spcAft>
              <a:buSzPts val="1800"/>
              <a:buNone/>
            </a:pPr>
            <a:r>
              <a:rPr lang="es"/>
              <a:t>Los atributos en el modelo DOM también pueden ser tratados como nodos en vez de strings aunque es bastante inusual hacerlo.</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244" name="Google Shape;244;g339055ffa9c_0_5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Origen del modelo DOM</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39055ffa9c_0_6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Objetos en el modelo DOM</a:t>
            </a:r>
            <a:endParaRPr/>
          </a:p>
        </p:txBody>
      </p:sp>
      <p:pic>
        <p:nvPicPr>
          <p:cNvPr id="250" name="Google Shape;250;g339055ffa9c_0_60"/>
          <p:cNvPicPr preferRelativeResize="0"/>
          <p:nvPr/>
        </p:nvPicPr>
        <p:blipFill rotWithShape="1">
          <a:blip r:embed="rId3">
            <a:alphaModFix/>
          </a:blip>
          <a:srcRect b="0" l="0" r="0" t="0"/>
          <a:stretch/>
        </p:blipFill>
        <p:spPr>
          <a:xfrm>
            <a:off x="1565425" y="1207475"/>
            <a:ext cx="5845026" cy="27184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39055ffa9c_0_6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Objetos en el modelo DOM</a:t>
            </a:r>
            <a:endParaRPr/>
          </a:p>
        </p:txBody>
      </p:sp>
      <p:pic>
        <p:nvPicPr>
          <p:cNvPr id="256" name="Google Shape;256;g339055ffa9c_0_68"/>
          <p:cNvPicPr preferRelativeResize="0"/>
          <p:nvPr/>
        </p:nvPicPr>
        <p:blipFill rotWithShape="1">
          <a:blip r:embed="rId3">
            <a:alphaModFix/>
          </a:blip>
          <a:srcRect b="0" l="0" r="0" t="0"/>
          <a:stretch/>
        </p:blipFill>
        <p:spPr>
          <a:xfrm>
            <a:off x="1068450" y="1170200"/>
            <a:ext cx="6497725" cy="28924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39055ffa9c_0_74"/>
          <p:cNvSpPr txBox="1"/>
          <p:nvPr>
            <p:ph idx="1" type="body"/>
          </p:nvPr>
        </p:nvSpPr>
        <p:spPr>
          <a:xfrm>
            <a:off x="311700" y="1017800"/>
            <a:ext cx="8520600" cy="25728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just">
              <a:lnSpc>
                <a:spcPct val="115000"/>
              </a:lnSpc>
              <a:spcBef>
                <a:spcPts val="0"/>
              </a:spcBef>
              <a:spcAft>
                <a:spcPts val="0"/>
              </a:spcAft>
              <a:buSzPct val="100000"/>
              <a:buNone/>
            </a:pPr>
            <a:r>
              <a:rPr lang="es"/>
              <a:t>MiniDOM o Minimal DOM Inplementation es una implementación simplificada del modelo DOM que puede utilizarse en Python.</a:t>
            </a:r>
            <a:endParaRPr/>
          </a:p>
          <a:p>
            <a:pPr indent="0" lvl="0" marL="0" rtl="0" algn="just">
              <a:lnSpc>
                <a:spcPct val="115000"/>
              </a:lnSpc>
              <a:spcBef>
                <a:spcPts val="0"/>
              </a:spcBef>
              <a:spcAft>
                <a:spcPts val="0"/>
              </a:spcAft>
              <a:buSzPct val="100000"/>
              <a:buNone/>
            </a:pPr>
            <a:r>
              <a:t/>
            </a:r>
            <a:endParaRPr/>
          </a:p>
          <a:p>
            <a:pPr indent="0" lvl="0" marL="0" rtl="0" algn="just">
              <a:lnSpc>
                <a:spcPct val="115000"/>
              </a:lnSpc>
              <a:spcBef>
                <a:spcPts val="0"/>
              </a:spcBef>
              <a:spcAft>
                <a:spcPts val="0"/>
              </a:spcAft>
              <a:buSzPct val="100000"/>
              <a:buNone/>
            </a:pPr>
            <a:r>
              <a:rPr lang="es"/>
              <a:t>Para utilizarlo es necesario importarlo desde el módulo xml.dom.</a:t>
            </a:r>
            <a:endParaRPr/>
          </a:p>
          <a:p>
            <a:pPr indent="0" lvl="0" marL="0" rtl="0" algn="just">
              <a:lnSpc>
                <a:spcPct val="115000"/>
              </a:lnSpc>
              <a:spcBef>
                <a:spcPts val="0"/>
              </a:spcBef>
              <a:spcAft>
                <a:spcPts val="0"/>
              </a:spcAft>
              <a:buSzPct val="100000"/>
              <a:buNone/>
            </a:pPr>
            <a:r>
              <a:t/>
            </a:r>
            <a:endParaRPr/>
          </a:p>
          <a:p>
            <a:pPr indent="0" lvl="0" marL="0" rtl="0" algn="just">
              <a:lnSpc>
                <a:spcPct val="115000"/>
              </a:lnSpc>
              <a:spcBef>
                <a:spcPts val="0"/>
              </a:spcBef>
              <a:spcAft>
                <a:spcPts val="0"/>
              </a:spcAft>
              <a:buSzPct val="100000"/>
              <a:buNone/>
            </a:pPr>
            <a:r>
              <a:rPr lang="es"/>
              <a:t>Este modelo usa la función “parse” para crear un objeto DOM directamente desde nuestro archivo XML.</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1200"/>
              </a:spcBef>
              <a:spcAft>
                <a:spcPts val="1200"/>
              </a:spcAft>
              <a:buSzPct val="100000"/>
              <a:buNone/>
            </a:pPr>
            <a:r>
              <a:t/>
            </a:r>
            <a:endParaRPr/>
          </a:p>
        </p:txBody>
      </p:sp>
      <p:sp>
        <p:nvSpPr>
          <p:cNvPr id="262" name="Google Shape;262;g339055ffa9c_0_7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MiniDOM</a:t>
            </a:r>
            <a:endParaRPr/>
          </a:p>
        </p:txBody>
      </p:sp>
      <p:pic>
        <p:nvPicPr>
          <p:cNvPr id="263" name="Google Shape;263;g339055ffa9c_0_74"/>
          <p:cNvPicPr preferRelativeResize="0"/>
          <p:nvPr/>
        </p:nvPicPr>
        <p:blipFill rotWithShape="1">
          <a:blip r:embed="rId3">
            <a:alphaModFix/>
          </a:blip>
          <a:srcRect b="0" l="0" r="0" t="0"/>
          <a:stretch/>
        </p:blipFill>
        <p:spPr>
          <a:xfrm>
            <a:off x="2588422" y="2950122"/>
            <a:ext cx="3967150" cy="1674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39055ffa9c_0_80"/>
          <p:cNvSpPr txBox="1"/>
          <p:nvPr>
            <p:ph idx="1" type="body"/>
          </p:nvPr>
        </p:nvSpPr>
        <p:spPr>
          <a:xfrm>
            <a:off x="311700" y="1017800"/>
            <a:ext cx="8520600" cy="25728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SzPts val="1800"/>
              <a:buNone/>
            </a:pPr>
            <a:r>
              <a:rPr lang="es"/>
              <a:t>La función tiene la siguiente sintaxis:</a:t>
            </a:r>
            <a:endParaRPr/>
          </a:p>
          <a:p>
            <a:pPr indent="0" lvl="0" marL="0" rtl="0" algn="just">
              <a:lnSpc>
                <a:spcPct val="115000"/>
              </a:lnSpc>
              <a:spcBef>
                <a:spcPts val="0"/>
              </a:spcBef>
              <a:spcAft>
                <a:spcPts val="0"/>
              </a:spcAft>
              <a:buSzPts val="1800"/>
              <a:buNone/>
            </a:pPr>
            <a:r>
              <a:t/>
            </a:r>
            <a:endParaRPr/>
          </a:p>
          <a:p>
            <a:pPr indent="0" lvl="0" marL="0" rtl="0" algn="ctr">
              <a:lnSpc>
                <a:spcPct val="115000"/>
              </a:lnSpc>
              <a:spcBef>
                <a:spcPts val="0"/>
              </a:spcBef>
              <a:spcAft>
                <a:spcPts val="0"/>
              </a:spcAft>
              <a:buSzPts val="1800"/>
              <a:buNone/>
            </a:pPr>
            <a:r>
              <a:rPr b="1" lang="es"/>
              <a:t>xml.dom.minidom.parse(filename_or_file(parser(bufsize)))</a:t>
            </a:r>
            <a:endParaRPr b="1"/>
          </a:p>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269" name="Google Shape;269;g339055ffa9c_0_8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MiniDOM</a:t>
            </a:r>
            <a:endParaRPr/>
          </a:p>
        </p:txBody>
      </p:sp>
      <p:pic>
        <p:nvPicPr>
          <p:cNvPr id="270" name="Google Shape;270;g339055ffa9c_0_80"/>
          <p:cNvPicPr preferRelativeResize="0"/>
          <p:nvPr/>
        </p:nvPicPr>
        <p:blipFill rotWithShape="1">
          <a:blip r:embed="rId3">
            <a:alphaModFix/>
          </a:blip>
          <a:srcRect b="0" l="0" r="0" t="0"/>
          <a:stretch/>
        </p:blipFill>
        <p:spPr>
          <a:xfrm>
            <a:off x="3033100" y="2347075"/>
            <a:ext cx="3077800" cy="17312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39055ffa9c_0_86"/>
          <p:cNvSpPr txBox="1"/>
          <p:nvPr>
            <p:ph idx="1" type="body"/>
          </p:nvPr>
        </p:nvSpPr>
        <p:spPr>
          <a:xfrm>
            <a:off x="311700" y="1017800"/>
            <a:ext cx="8520600" cy="3032400"/>
          </a:xfrm>
          <a:prstGeom prst="rect">
            <a:avLst/>
          </a:prstGeom>
          <a:noFill/>
          <a:ln>
            <a:noFill/>
          </a:ln>
        </p:spPr>
        <p:txBody>
          <a:bodyPr anchorCtr="0" anchor="t" bIns="91425" lIns="91425" spcFirstLastPara="1" rIns="91425" wrap="square" tIns="91425">
            <a:normAutofit fontScale="55000" lnSpcReduction="20000"/>
          </a:bodyPr>
          <a:lstStyle/>
          <a:p>
            <a:pPr indent="0" lvl="0" marL="0" rtl="0" algn="just">
              <a:lnSpc>
                <a:spcPct val="115000"/>
              </a:lnSpc>
              <a:spcBef>
                <a:spcPts val="0"/>
              </a:spcBef>
              <a:spcAft>
                <a:spcPts val="0"/>
              </a:spcAft>
              <a:buSzPct val="57632"/>
              <a:buNone/>
            </a:pPr>
            <a:r>
              <a:rPr lang="es" sz="3123"/>
              <a:t>La propiedad “file_or_filename” debe contener una ruta hacia el archivo XML o hacia un objeto de tipo archivo. Esta función retorna un documento el cual ya podremos procesar como un XML.</a:t>
            </a:r>
            <a:endParaRPr sz="3123"/>
          </a:p>
          <a:p>
            <a:pPr indent="0" lvl="0" marL="0" rtl="0" algn="just">
              <a:lnSpc>
                <a:spcPct val="115000"/>
              </a:lnSpc>
              <a:spcBef>
                <a:spcPts val="0"/>
              </a:spcBef>
              <a:spcAft>
                <a:spcPts val="0"/>
              </a:spcAft>
              <a:buSzPct val="57632"/>
              <a:buNone/>
            </a:pPr>
            <a:r>
              <a:t/>
            </a:r>
            <a:endParaRPr sz="3123"/>
          </a:p>
          <a:p>
            <a:pPr indent="0" lvl="0" marL="0" rtl="0" algn="just">
              <a:lnSpc>
                <a:spcPct val="115000"/>
              </a:lnSpc>
              <a:spcBef>
                <a:spcPts val="0"/>
              </a:spcBef>
              <a:spcAft>
                <a:spcPts val="0"/>
              </a:spcAft>
              <a:buSzPct val="57632"/>
              <a:buNone/>
            </a:pPr>
            <a:r>
              <a:rPr lang="es" sz="3123"/>
              <a:t>Para empezar a buscar elementos con el nombre específico de una tag utilizamos el siguiente comando: </a:t>
            </a:r>
            <a:endParaRPr sz="3123"/>
          </a:p>
          <a:p>
            <a:pPr indent="0" lvl="0" marL="0" rtl="0" algn="just">
              <a:lnSpc>
                <a:spcPct val="115000"/>
              </a:lnSpc>
              <a:spcBef>
                <a:spcPts val="0"/>
              </a:spcBef>
              <a:spcAft>
                <a:spcPts val="0"/>
              </a:spcAft>
              <a:buSzPct val="57632"/>
              <a:buNone/>
            </a:pPr>
            <a:r>
              <a:t/>
            </a:r>
            <a:endParaRPr sz="3123"/>
          </a:p>
          <a:p>
            <a:pPr indent="0" lvl="0" marL="0" rtl="0" algn="ctr">
              <a:lnSpc>
                <a:spcPct val="115000"/>
              </a:lnSpc>
              <a:spcBef>
                <a:spcPts val="0"/>
              </a:spcBef>
              <a:spcAft>
                <a:spcPts val="0"/>
              </a:spcAft>
              <a:buSzPct val="57632"/>
              <a:buNone/>
            </a:pPr>
            <a:r>
              <a:rPr b="1" lang="es" sz="3123"/>
              <a:t>getElementByTagName()</a:t>
            </a:r>
            <a:endParaRPr b="1" sz="3123"/>
          </a:p>
          <a:p>
            <a:pPr indent="0" lvl="0" marL="0" rtl="0" algn="just">
              <a:lnSpc>
                <a:spcPct val="115000"/>
              </a:lnSpc>
              <a:spcBef>
                <a:spcPts val="0"/>
              </a:spcBef>
              <a:spcAft>
                <a:spcPts val="0"/>
              </a:spcAft>
              <a:buSzPct val="100000"/>
              <a:buNone/>
            </a:pPr>
            <a:r>
              <a:t/>
            </a:r>
            <a:endParaRPr/>
          </a:p>
          <a:p>
            <a:pPr indent="0" lvl="0" marL="0" rtl="0" algn="just">
              <a:lnSpc>
                <a:spcPct val="115000"/>
              </a:lnSpc>
              <a:spcBef>
                <a:spcPts val="0"/>
              </a:spcBef>
              <a:spcAft>
                <a:spcPts val="0"/>
              </a:spcAft>
              <a:buSzPct val="100000"/>
              <a:buNone/>
            </a:pPr>
            <a:r>
              <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1200"/>
              </a:spcBef>
              <a:spcAft>
                <a:spcPts val="1200"/>
              </a:spcAft>
              <a:buSzPct val="100000"/>
              <a:buNone/>
            </a:pPr>
            <a:r>
              <a:t/>
            </a:r>
            <a:endParaRPr/>
          </a:p>
        </p:txBody>
      </p:sp>
      <p:sp>
        <p:nvSpPr>
          <p:cNvPr id="276" name="Google Shape;276;g339055ffa9c_0_86"/>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MiniDOM</a:t>
            </a:r>
            <a:endParaRPr/>
          </a:p>
        </p:txBody>
      </p:sp>
      <p:pic>
        <p:nvPicPr>
          <p:cNvPr id="277" name="Google Shape;277;g339055ffa9c_0_86"/>
          <p:cNvPicPr preferRelativeResize="0"/>
          <p:nvPr/>
        </p:nvPicPr>
        <p:blipFill rotWithShape="1">
          <a:blip r:embed="rId3">
            <a:alphaModFix/>
          </a:blip>
          <a:srcRect b="0" l="0" r="0" t="0"/>
          <a:stretch/>
        </p:blipFill>
        <p:spPr>
          <a:xfrm>
            <a:off x="3367713" y="3295025"/>
            <a:ext cx="2408576" cy="13548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39055ffa9c_0_94"/>
          <p:cNvSpPr txBox="1"/>
          <p:nvPr>
            <p:ph idx="1" type="body"/>
          </p:nvPr>
        </p:nvSpPr>
        <p:spPr>
          <a:xfrm>
            <a:off x="311700" y="1017800"/>
            <a:ext cx="8520600" cy="30324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just">
              <a:lnSpc>
                <a:spcPct val="115000"/>
              </a:lnSpc>
              <a:spcBef>
                <a:spcPts val="0"/>
              </a:spcBef>
              <a:spcAft>
                <a:spcPts val="0"/>
              </a:spcAft>
              <a:buSzPct val="56250"/>
              <a:buNone/>
            </a:pPr>
            <a:r>
              <a:rPr lang="es" sz="3199"/>
              <a:t>Debido a que cada nodo se trata como un objeto, podemos acceder a los valores de los tags usando las propiedades de los objetos.</a:t>
            </a:r>
            <a:endParaRPr sz="3199"/>
          </a:p>
          <a:p>
            <a:pPr indent="0" lvl="0" marL="0" rtl="0" algn="just">
              <a:lnSpc>
                <a:spcPct val="115000"/>
              </a:lnSpc>
              <a:spcBef>
                <a:spcPts val="0"/>
              </a:spcBef>
              <a:spcAft>
                <a:spcPts val="0"/>
              </a:spcAft>
              <a:buSzPct val="56250"/>
              <a:buNone/>
            </a:pPr>
            <a:r>
              <a:t/>
            </a:r>
            <a:endParaRPr sz="3199"/>
          </a:p>
          <a:p>
            <a:pPr indent="0" lvl="0" marL="0" rtl="0" algn="just">
              <a:lnSpc>
                <a:spcPct val="115000"/>
              </a:lnSpc>
              <a:spcBef>
                <a:spcPts val="0"/>
              </a:spcBef>
              <a:spcAft>
                <a:spcPts val="0"/>
              </a:spcAft>
              <a:buSzPct val="56250"/>
              <a:buNone/>
            </a:pPr>
            <a:r>
              <a:rPr lang="es" sz="3199"/>
              <a:t>Por ejemplo siguiente podremos observar el procesamiento de un archivo XML.</a:t>
            </a:r>
            <a:endParaRPr sz="3199"/>
          </a:p>
          <a:p>
            <a:pPr indent="0" lvl="0" marL="0" rtl="0" algn="just">
              <a:lnSpc>
                <a:spcPct val="115000"/>
              </a:lnSpc>
              <a:spcBef>
                <a:spcPts val="0"/>
              </a:spcBef>
              <a:spcAft>
                <a:spcPts val="0"/>
              </a:spcAft>
              <a:buSzPct val="57632"/>
              <a:buNone/>
            </a:pPr>
            <a:r>
              <a:t/>
            </a:r>
            <a:endParaRPr sz="3123"/>
          </a:p>
          <a:p>
            <a:pPr indent="0" lvl="0" marL="0" rtl="0" algn="ctr">
              <a:lnSpc>
                <a:spcPct val="115000"/>
              </a:lnSpc>
              <a:spcBef>
                <a:spcPts val="0"/>
              </a:spcBef>
              <a:spcAft>
                <a:spcPts val="0"/>
              </a:spcAft>
              <a:buSzPct val="57632"/>
              <a:buNone/>
            </a:pPr>
            <a:r>
              <a:t/>
            </a:r>
            <a:endParaRPr b="1" sz="3123"/>
          </a:p>
          <a:p>
            <a:pPr indent="0" lvl="0" marL="0" rtl="0" algn="just">
              <a:lnSpc>
                <a:spcPct val="115000"/>
              </a:lnSpc>
              <a:spcBef>
                <a:spcPts val="0"/>
              </a:spcBef>
              <a:spcAft>
                <a:spcPts val="0"/>
              </a:spcAft>
              <a:buSzPct val="100000"/>
              <a:buNone/>
            </a:pPr>
            <a:r>
              <a:t/>
            </a:r>
            <a:endParaRPr/>
          </a:p>
          <a:p>
            <a:pPr indent="0" lvl="0" marL="0" rtl="0" algn="just">
              <a:lnSpc>
                <a:spcPct val="115000"/>
              </a:lnSpc>
              <a:spcBef>
                <a:spcPts val="0"/>
              </a:spcBef>
              <a:spcAft>
                <a:spcPts val="0"/>
              </a:spcAft>
              <a:buSzPct val="100000"/>
              <a:buNone/>
            </a:pPr>
            <a:r>
              <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1200"/>
              </a:spcBef>
              <a:spcAft>
                <a:spcPts val="1200"/>
              </a:spcAft>
              <a:buSzPct val="100000"/>
              <a:buNone/>
            </a:pPr>
            <a:r>
              <a:t/>
            </a:r>
            <a:endParaRPr/>
          </a:p>
        </p:txBody>
      </p:sp>
      <p:sp>
        <p:nvSpPr>
          <p:cNvPr id="283" name="Google Shape;283;g339055ffa9c_0_9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MiniDOM</a:t>
            </a:r>
            <a:endParaRPr/>
          </a:p>
        </p:txBody>
      </p:sp>
      <p:pic>
        <p:nvPicPr>
          <p:cNvPr id="284" name="Google Shape;284;g339055ffa9c_0_94"/>
          <p:cNvPicPr preferRelativeResize="0"/>
          <p:nvPr/>
        </p:nvPicPr>
        <p:blipFill rotWithShape="1">
          <a:blip r:embed="rId3">
            <a:alphaModFix/>
          </a:blip>
          <a:srcRect b="0" l="0" r="0" t="0"/>
          <a:stretch/>
        </p:blipFill>
        <p:spPr>
          <a:xfrm>
            <a:off x="2894775" y="2624125"/>
            <a:ext cx="3118400" cy="1699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39055ffa9c_0_10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Ejemplo de archivo de XML de entrada</a:t>
            </a:r>
            <a:endParaRPr/>
          </a:p>
        </p:txBody>
      </p:sp>
      <p:pic>
        <p:nvPicPr>
          <p:cNvPr id="290" name="Google Shape;290;g339055ffa9c_0_101"/>
          <p:cNvPicPr preferRelativeResize="0"/>
          <p:nvPr/>
        </p:nvPicPr>
        <p:blipFill rotWithShape="1">
          <a:blip r:embed="rId3">
            <a:alphaModFix/>
          </a:blip>
          <a:srcRect b="0" l="0" r="0" t="0"/>
          <a:stretch/>
        </p:blipFill>
        <p:spPr>
          <a:xfrm>
            <a:off x="2605100" y="1182625"/>
            <a:ext cx="3933825" cy="25321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339055ffa9c_0_109"/>
          <p:cNvSpPr txBox="1"/>
          <p:nvPr>
            <p:ph type="title"/>
          </p:nvPr>
        </p:nvSpPr>
        <p:spPr>
          <a:xfrm>
            <a:off x="311700" y="2485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Pasos para leer con MiniDOM</a:t>
            </a:r>
            <a:endParaRPr/>
          </a:p>
        </p:txBody>
      </p:sp>
      <p:sp>
        <p:nvSpPr>
          <p:cNvPr id="296" name="Google Shape;296;g339055ffa9c_0_109"/>
          <p:cNvSpPr txBox="1"/>
          <p:nvPr/>
        </p:nvSpPr>
        <p:spPr>
          <a:xfrm>
            <a:off x="447263" y="856300"/>
            <a:ext cx="7156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01</a:t>
            </a:r>
            <a:endParaRPr b="0" i="0" sz="15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Primero debemos importar la librería:</a:t>
            </a:r>
            <a:endParaRPr b="0" i="0" sz="1500" u="none" cap="none" strike="noStrike">
              <a:solidFill>
                <a:schemeClr val="dk2"/>
              </a:solidFill>
              <a:latin typeface="Roboto"/>
              <a:ea typeface="Roboto"/>
              <a:cs typeface="Roboto"/>
              <a:sym typeface="Roboto"/>
            </a:endParaRPr>
          </a:p>
        </p:txBody>
      </p:sp>
      <p:sp>
        <p:nvSpPr>
          <p:cNvPr id="297" name="Google Shape;297;g339055ffa9c_0_109"/>
          <p:cNvSpPr txBox="1"/>
          <p:nvPr/>
        </p:nvSpPr>
        <p:spPr>
          <a:xfrm>
            <a:off x="500275" y="2648300"/>
            <a:ext cx="71562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02</a:t>
            </a:r>
            <a:endParaRPr b="0" i="0" sz="15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Mediante el comando “parse” creamos un objeto documento con la ruta del archivo XML.</a:t>
            </a:r>
            <a:endParaRPr b="0" i="0" sz="1500" u="none" cap="none" strike="noStrike">
              <a:solidFill>
                <a:schemeClr val="dk2"/>
              </a:solidFill>
              <a:latin typeface="Roboto"/>
              <a:ea typeface="Roboto"/>
              <a:cs typeface="Roboto"/>
              <a:sym typeface="Roboto"/>
            </a:endParaRPr>
          </a:p>
        </p:txBody>
      </p:sp>
      <p:pic>
        <p:nvPicPr>
          <p:cNvPr id="298" name="Google Shape;298;g339055ffa9c_0_109"/>
          <p:cNvPicPr preferRelativeResize="0"/>
          <p:nvPr/>
        </p:nvPicPr>
        <p:blipFill rotWithShape="1">
          <a:blip r:embed="rId3">
            <a:alphaModFix/>
          </a:blip>
          <a:srcRect b="0" l="0" r="0" t="0"/>
          <a:stretch/>
        </p:blipFill>
        <p:spPr>
          <a:xfrm>
            <a:off x="2696613" y="1721350"/>
            <a:ext cx="2657475" cy="876300"/>
          </a:xfrm>
          <a:prstGeom prst="rect">
            <a:avLst/>
          </a:prstGeom>
          <a:noFill/>
          <a:ln>
            <a:noFill/>
          </a:ln>
        </p:spPr>
      </p:pic>
      <p:pic>
        <p:nvPicPr>
          <p:cNvPr id="299" name="Google Shape;299;g339055ffa9c_0_109"/>
          <p:cNvPicPr preferRelativeResize="0"/>
          <p:nvPr/>
        </p:nvPicPr>
        <p:blipFill rotWithShape="1">
          <a:blip r:embed="rId4">
            <a:alphaModFix/>
          </a:blip>
          <a:srcRect b="0" l="0" r="0" t="0"/>
          <a:stretch/>
        </p:blipFill>
        <p:spPr>
          <a:xfrm>
            <a:off x="1347788" y="3576150"/>
            <a:ext cx="6448425" cy="5715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39055ffa9c_0_118"/>
          <p:cNvSpPr txBox="1"/>
          <p:nvPr>
            <p:ph type="title"/>
          </p:nvPr>
        </p:nvSpPr>
        <p:spPr>
          <a:xfrm>
            <a:off x="311700" y="2485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Pasos para leer con MiniDOM</a:t>
            </a:r>
            <a:endParaRPr/>
          </a:p>
        </p:txBody>
      </p:sp>
      <p:sp>
        <p:nvSpPr>
          <p:cNvPr id="305" name="Google Shape;305;g339055ffa9c_0_118"/>
          <p:cNvSpPr txBox="1"/>
          <p:nvPr/>
        </p:nvSpPr>
        <p:spPr>
          <a:xfrm>
            <a:off x="447275" y="856300"/>
            <a:ext cx="8212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03</a:t>
            </a:r>
            <a:endParaRPr b="0" i="0" sz="15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Para obtener los nodos con el tag “item” utilizamos el comando “getElementsByTagName”</a:t>
            </a:r>
            <a:endParaRPr b="0" i="0" sz="1500" u="none" cap="none" strike="noStrike">
              <a:solidFill>
                <a:schemeClr val="dk2"/>
              </a:solidFill>
              <a:latin typeface="Roboto"/>
              <a:ea typeface="Roboto"/>
              <a:cs typeface="Roboto"/>
              <a:sym typeface="Roboto"/>
            </a:endParaRPr>
          </a:p>
        </p:txBody>
      </p:sp>
      <p:sp>
        <p:nvSpPr>
          <p:cNvPr id="306" name="Google Shape;306;g339055ffa9c_0_118"/>
          <p:cNvSpPr txBox="1"/>
          <p:nvPr/>
        </p:nvSpPr>
        <p:spPr>
          <a:xfrm>
            <a:off x="500275" y="2417200"/>
            <a:ext cx="7156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04</a:t>
            </a:r>
            <a:endParaRPr b="0" i="0" sz="15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Podemos obtener los valores de los atributos del tag de la siguiente manera:</a:t>
            </a:r>
            <a:endParaRPr b="0" i="0" sz="1500" u="none" cap="none" strike="noStrike">
              <a:solidFill>
                <a:schemeClr val="dk2"/>
              </a:solidFill>
              <a:latin typeface="Roboto"/>
              <a:ea typeface="Roboto"/>
              <a:cs typeface="Roboto"/>
              <a:sym typeface="Roboto"/>
            </a:endParaRPr>
          </a:p>
        </p:txBody>
      </p:sp>
      <p:pic>
        <p:nvPicPr>
          <p:cNvPr id="307" name="Google Shape;307;g339055ffa9c_0_118"/>
          <p:cNvPicPr preferRelativeResize="0"/>
          <p:nvPr/>
        </p:nvPicPr>
        <p:blipFill rotWithShape="1">
          <a:blip r:embed="rId3">
            <a:alphaModFix/>
          </a:blip>
          <a:srcRect b="0" l="0" r="0" t="0"/>
          <a:stretch/>
        </p:blipFill>
        <p:spPr>
          <a:xfrm>
            <a:off x="2690813" y="1655200"/>
            <a:ext cx="3762375" cy="609600"/>
          </a:xfrm>
          <a:prstGeom prst="rect">
            <a:avLst/>
          </a:prstGeom>
          <a:noFill/>
          <a:ln>
            <a:noFill/>
          </a:ln>
        </p:spPr>
      </p:pic>
      <p:pic>
        <p:nvPicPr>
          <p:cNvPr id="308" name="Google Shape;308;g339055ffa9c_0_118"/>
          <p:cNvPicPr preferRelativeResize="0"/>
          <p:nvPr/>
        </p:nvPicPr>
        <p:blipFill rotWithShape="1">
          <a:blip r:embed="rId4">
            <a:alphaModFix/>
          </a:blip>
          <a:srcRect b="0" l="0" r="0" t="0"/>
          <a:stretch/>
        </p:blipFill>
        <p:spPr>
          <a:xfrm>
            <a:off x="1876850" y="3216100"/>
            <a:ext cx="5353050" cy="1085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39092eea2d_0_3"/>
          <p:cNvSpPr txBox="1"/>
          <p:nvPr>
            <p:ph type="title"/>
          </p:nvPr>
        </p:nvSpPr>
        <p:spPr>
          <a:xfrm>
            <a:off x="311700" y="2485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Pasos para leer con MiniDOM</a:t>
            </a:r>
            <a:endParaRPr/>
          </a:p>
        </p:txBody>
      </p:sp>
      <p:sp>
        <p:nvSpPr>
          <p:cNvPr id="314" name="Google Shape;314;g339092eea2d_0_3"/>
          <p:cNvSpPr txBox="1"/>
          <p:nvPr/>
        </p:nvSpPr>
        <p:spPr>
          <a:xfrm>
            <a:off x="447275" y="856300"/>
            <a:ext cx="8212200" cy="877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05</a:t>
            </a:r>
            <a:endParaRPr b="0" i="0" sz="1500" u="none" cap="none" strike="noStrike">
              <a:solidFill>
                <a:schemeClr val="dk2"/>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500"/>
              <a:buFont typeface="Arial"/>
              <a:buNone/>
            </a:pPr>
            <a:r>
              <a:rPr b="0" i="0" lang="es" sz="1500" u="none" cap="none" strike="noStrike">
                <a:solidFill>
                  <a:schemeClr val="dk2"/>
                </a:solidFill>
                <a:latin typeface="Roboto"/>
                <a:ea typeface="Roboto"/>
                <a:cs typeface="Roboto"/>
                <a:sym typeface="Roboto"/>
              </a:rPr>
              <a:t>Ahora bien, si lo que se desea es obtener todos los valores posibles dentro del tag específicamente, también podemos usar instrucciones cíclicas de la siguiente manera:</a:t>
            </a:r>
            <a:endParaRPr b="0" i="0" sz="1500" u="none" cap="none" strike="noStrike">
              <a:solidFill>
                <a:schemeClr val="dk2"/>
              </a:solidFill>
              <a:latin typeface="Roboto"/>
              <a:ea typeface="Roboto"/>
              <a:cs typeface="Roboto"/>
              <a:sym typeface="Roboto"/>
            </a:endParaRPr>
          </a:p>
        </p:txBody>
      </p:sp>
      <p:pic>
        <p:nvPicPr>
          <p:cNvPr id="315" name="Google Shape;315;g339092eea2d_0_3"/>
          <p:cNvPicPr preferRelativeResize="0"/>
          <p:nvPr/>
        </p:nvPicPr>
        <p:blipFill rotWithShape="1">
          <a:blip r:embed="rId3">
            <a:alphaModFix/>
          </a:blip>
          <a:srcRect b="0" l="0" r="0" t="0"/>
          <a:stretch/>
        </p:blipFill>
        <p:spPr>
          <a:xfrm>
            <a:off x="2782950" y="1860275"/>
            <a:ext cx="3327750" cy="11339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4800"/>
              <a:buNone/>
            </a:pPr>
            <a:r>
              <a:rPr lang="es"/>
              <a:t>Element Tree para procesar XML</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39055ffa9c_0_40"/>
          <p:cNvSpPr txBox="1"/>
          <p:nvPr>
            <p:ph idx="1" type="body"/>
          </p:nvPr>
        </p:nvSpPr>
        <p:spPr>
          <a:xfrm>
            <a:off x="311700" y="568400"/>
            <a:ext cx="8520600" cy="412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s"/>
              <a:t>ElementTree es una biblioteca estándar de Python para leer, escribir y manipular documentos XML. Es una API ligera y fácil de usar que te permite trabajar con archivos XML de forma eficiente.</a:t>
            </a:r>
            <a:endParaRPr/>
          </a:p>
          <a:p>
            <a:pPr indent="0" lvl="0" marL="0" rtl="0" algn="l">
              <a:lnSpc>
                <a:spcPct val="115000"/>
              </a:lnSpc>
              <a:spcBef>
                <a:spcPts val="1200"/>
              </a:spcBef>
              <a:spcAft>
                <a:spcPts val="0"/>
              </a:spcAft>
              <a:buSzPts val="1800"/>
              <a:buNone/>
            </a:pPr>
            <a:r>
              <a:rPr lang="es"/>
              <a:t>Características:</a:t>
            </a:r>
            <a:endParaRPr/>
          </a:p>
          <a:p>
            <a:pPr indent="-342900" lvl="0" marL="457200" rtl="0" algn="l">
              <a:lnSpc>
                <a:spcPct val="115000"/>
              </a:lnSpc>
              <a:spcBef>
                <a:spcPts val="1200"/>
              </a:spcBef>
              <a:spcAft>
                <a:spcPts val="0"/>
              </a:spcAft>
              <a:buSzPts val="1800"/>
              <a:buChar char="●"/>
            </a:pPr>
            <a:r>
              <a:rPr lang="es"/>
              <a:t>Fácil de usar: Ofrece una API intuitiva y fácil de aprender.</a:t>
            </a:r>
            <a:endParaRPr/>
          </a:p>
          <a:p>
            <a:pPr indent="-342900" lvl="0" marL="457200" rtl="0" algn="l">
              <a:lnSpc>
                <a:spcPct val="115000"/>
              </a:lnSpc>
              <a:spcBef>
                <a:spcPts val="0"/>
              </a:spcBef>
              <a:spcAft>
                <a:spcPts val="0"/>
              </a:spcAft>
              <a:buSzPts val="1800"/>
              <a:buChar char="●"/>
            </a:pPr>
            <a:r>
              <a:rPr lang="es"/>
              <a:t>Ligera: No requiere la instalación de bibliotecas adicionales.</a:t>
            </a:r>
            <a:endParaRPr/>
          </a:p>
          <a:p>
            <a:pPr indent="-342900" lvl="0" marL="457200" rtl="0" algn="l">
              <a:lnSpc>
                <a:spcPct val="115000"/>
              </a:lnSpc>
              <a:spcBef>
                <a:spcPts val="0"/>
              </a:spcBef>
              <a:spcAft>
                <a:spcPts val="0"/>
              </a:spcAft>
              <a:buSzPts val="1800"/>
              <a:buChar char="●"/>
            </a:pPr>
            <a:r>
              <a:rPr lang="es"/>
              <a:t>Eficiente: Permite leer y escribir archivos XML de forma rápida.</a:t>
            </a:r>
            <a:endParaRPr/>
          </a:p>
          <a:p>
            <a:pPr indent="-342900" lvl="0" marL="457200" rtl="0" algn="l">
              <a:lnSpc>
                <a:spcPct val="115000"/>
              </a:lnSpc>
              <a:spcBef>
                <a:spcPts val="0"/>
              </a:spcBef>
              <a:spcAft>
                <a:spcPts val="0"/>
              </a:spcAft>
              <a:buSzPts val="1800"/>
              <a:buChar char="●"/>
            </a:pPr>
            <a:r>
              <a:rPr lang="es"/>
              <a:t>Flexible: Soporta la manipulación de la estructura del árbol XML.</a:t>
            </a:r>
            <a:endParaRPr/>
          </a:p>
          <a:p>
            <a:pPr indent="-342900" lvl="0" marL="457200" rtl="0" algn="l">
              <a:lnSpc>
                <a:spcPct val="115000"/>
              </a:lnSpc>
              <a:spcBef>
                <a:spcPts val="0"/>
              </a:spcBef>
              <a:spcAft>
                <a:spcPts val="0"/>
              </a:spcAft>
              <a:buSzPts val="1800"/>
              <a:buChar char="●"/>
            </a:pPr>
            <a:r>
              <a:rPr lang="es"/>
              <a:t>Compatible con XPath: Permite realizar consultas XPath para seleccionar nodos específicos.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Escribir documentos XML con ElementTree</a:t>
            </a:r>
            <a:endParaRPr/>
          </a:p>
        </p:txBody>
      </p:sp>
      <p:sp>
        <p:nvSpPr>
          <p:cNvPr id="331" name="Google Shape;331;p2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12700" marR="5080" rtl="0" algn="l">
              <a:lnSpc>
                <a:spcPct val="114999"/>
              </a:lnSpc>
              <a:spcBef>
                <a:spcPts val="0"/>
              </a:spcBef>
              <a:spcAft>
                <a:spcPts val="0"/>
              </a:spcAft>
              <a:buClr>
                <a:srgbClr val="000000"/>
              </a:buClr>
              <a:buSzPts val="1800"/>
              <a:buFont typeface="Arial"/>
              <a:buNone/>
            </a:pPr>
            <a:r>
              <a:rPr lang="es" sz="1600">
                <a:solidFill>
                  <a:srgbClr val="000000"/>
                </a:solidFill>
              </a:rPr>
              <a:t>ElementTree también es ideal para escribir datos en archivos XML. El siguiente código muestra cómo  crear un archivo XML con la misma estructura que el archivo que usamos en los ejemplos anteriores.</a:t>
            </a:r>
            <a:endParaRPr sz="1600">
              <a:solidFill>
                <a:srgbClr val="000000"/>
              </a:solidFill>
            </a:endParaRPr>
          </a:p>
          <a:p>
            <a:pPr indent="0" lvl="0" marL="0" rtl="0" algn="l">
              <a:lnSpc>
                <a:spcPct val="100000"/>
              </a:lnSpc>
              <a:spcBef>
                <a:spcPts val="0"/>
              </a:spcBef>
              <a:spcAft>
                <a:spcPts val="0"/>
              </a:spcAft>
              <a:buClr>
                <a:srgbClr val="000000"/>
              </a:buClr>
              <a:buSzPts val="1800"/>
              <a:buFont typeface="Arial"/>
              <a:buNone/>
            </a:pPr>
            <a:r>
              <a:t/>
            </a:r>
            <a:endParaRPr sz="1600">
              <a:solidFill>
                <a:srgbClr val="000000"/>
              </a:solidFill>
            </a:endParaRPr>
          </a:p>
          <a:p>
            <a:pPr indent="0" lvl="0" marL="0" rtl="0" algn="l">
              <a:lnSpc>
                <a:spcPct val="100000"/>
              </a:lnSpc>
              <a:spcBef>
                <a:spcPts val="20"/>
              </a:spcBef>
              <a:spcAft>
                <a:spcPts val="0"/>
              </a:spcAft>
              <a:buClr>
                <a:srgbClr val="000000"/>
              </a:buClr>
              <a:buSzPts val="1800"/>
              <a:buFont typeface="Arial"/>
              <a:buNone/>
            </a:pPr>
            <a:r>
              <a:t/>
            </a:r>
            <a:endParaRPr sz="1600">
              <a:solidFill>
                <a:srgbClr val="000000"/>
              </a:solidFill>
            </a:endParaRPr>
          </a:p>
          <a:p>
            <a:pPr indent="-359410" lvl="0" marL="657225" marR="3313428" rtl="0" algn="l">
              <a:lnSpc>
                <a:spcPct val="114999"/>
              </a:lnSpc>
              <a:spcBef>
                <a:spcPts val="5"/>
              </a:spcBef>
              <a:spcAft>
                <a:spcPts val="0"/>
              </a:spcAft>
              <a:buClr>
                <a:srgbClr val="000000"/>
              </a:buClr>
              <a:buSzPts val="1800"/>
              <a:buFont typeface="Arial"/>
              <a:buNone/>
            </a:pPr>
            <a:r>
              <a:rPr lang="es" sz="1600">
                <a:solidFill>
                  <a:srgbClr val="000000"/>
                </a:solidFill>
              </a:rPr>
              <a:t>1.	Cree un elemento, que actuará como nuestro  elemento raíz. En este caso se llamará “data"</a:t>
            </a:r>
            <a:endParaRPr sz="1600">
              <a:solidFill>
                <a:srgbClr val="000000"/>
              </a:solidFill>
            </a:endParaRPr>
          </a:p>
          <a:p>
            <a:pPr indent="0" lvl="0" marL="0" rtl="0" algn="l">
              <a:lnSpc>
                <a:spcPct val="115000"/>
              </a:lnSpc>
              <a:spcBef>
                <a:spcPts val="0"/>
              </a:spcBef>
              <a:spcAft>
                <a:spcPts val="0"/>
              </a:spcAft>
              <a:buSzPts val="1800"/>
              <a:buNone/>
            </a:pPr>
            <a:r>
              <a:t/>
            </a:r>
            <a:endParaRPr sz="1600">
              <a:solidFill>
                <a:srgbClr val="000000"/>
              </a:solidFill>
            </a:endParaRPr>
          </a:p>
          <a:p>
            <a:pPr indent="-359410" lvl="0" marL="371475" marR="5080" rtl="0" algn="l">
              <a:lnSpc>
                <a:spcPct val="114999"/>
              </a:lnSpc>
              <a:spcBef>
                <a:spcPts val="1200"/>
              </a:spcBef>
              <a:spcAft>
                <a:spcPts val="0"/>
              </a:spcAft>
              <a:buClr>
                <a:srgbClr val="000000"/>
              </a:buClr>
              <a:buSzPts val="1800"/>
              <a:buFont typeface="Arial"/>
              <a:buNone/>
            </a:pPr>
            <a:r>
              <a:rPr lang="es" sz="1600">
                <a:solidFill>
                  <a:srgbClr val="000000"/>
                </a:solidFill>
              </a:rPr>
              <a:t>2.	Una vez que tenemos nuestro elemento raíz,  podemos crear subelementos usando la  SubElement función sintaxis:</a:t>
            </a:r>
            <a:endParaRPr>
              <a:solidFill>
                <a:srgbClr val="000000"/>
              </a:solidFill>
            </a:endParaRPr>
          </a:p>
        </p:txBody>
      </p:sp>
      <p:pic>
        <p:nvPicPr>
          <p:cNvPr id="332" name="Google Shape;332;p21"/>
          <p:cNvPicPr preferRelativeResize="0"/>
          <p:nvPr/>
        </p:nvPicPr>
        <p:blipFill rotWithShape="1">
          <a:blip r:embed="rId3">
            <a:alphaModFix/>
          </a:blip>
          <a:srcRect b="0" l="0" r="0" t="0"/>
          <a:stretch/>
        </p:blipFill>
        <p:spPr>
          <a:xfrm>
            <a:off x="935900" y="4329300"/>
            <a:ext cx="5018015" cy="339049"/>
          </a:xfrm>
          <a:prstGeom prst="rect">
            <a:avLst/>
          </a:prstGeom>
          <a:noFill/>
          <a:ln>
            <a:noFill/>
          </a:ln>
        </p:spPr>
      </p:pic>
      <p:pic>
        <p:nvPicPr>
          <p:cNvPr id="333" name="Google Shape;333;p21"/>
          <p:cNvPicPr preferRelativeResize="0"/>
          <p:nvPr/>
        </p:nvPicPr>
        <p:blipFill rotWithShape="1">
          <a:blip r:embed="rId4">
            <a:alphaModFix/>
          </a:blip>
          <a:srcRect b="0" l="0" r="0" t="0"/>
          <a:stretch/>
        </p:blipFill>
        <p:spPr>
          <a:xfrm>
            <a:off x="5570200" y="2130400"/>
            <a:ext cx="3453274" cy="1086324"/>
          </a:xfrm>
          <a:prstGeom prst="rect">
            <a:avLst/>
          </a:prstGeom>
          <a:noFill/>
          <a:ln>
            <a:noFill/>
          </a:ln>
        </p:spPr>
      </p:pic>
      <p:pic>
        <p:nvPicPr>
          <p:cNvPr id="334" name="Google Shape;334;p21"/>
          <p:cNvPicPr preferRelativeResize="0"/>
          <p:nvPr/>
        </p:nvPicPr>
        <p:blipFill rotWithShape="1">
          <a:blip r:embed="rId5">
            <a:alphaModFix/>
          </a:blip>
          <a:srcRect b="0" l="3449" r="-3447" t="0"/>
          <a:stretch/>
        </p:blipFill>
        <p:spPr>
          <a:xfrm>
            <a:off x="5511400" y="3269787"/>
            <a:ext cx="3747849" cy="33904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SzPct val="111111"/>
              <a:buNone/>
            </a:pPr>
            <a:r>
              <a:rPr lang="es"/>
              <a:t>Escribir documentos XML con ElementTree</a:t>
            </a:r>
            <a:endParaRPr/>
          </a:p>
          <a:p>
            <a:pPr indent="0" lvl="0" marL="0" marR="0" rtl="0" algn="l">
              <a:lnSpc>
                <a:spcPct val="100000"/>
              </a:lnSpc>
              <a:spcBef>
                <a:spcPts val="0"/>
              </a:spcBef>
              <a:spcAft>
                <a:spcPts val="0"/>
              </a:spcAft>
              <a:buSzPct val="111111"/>
              <a:buNone/>
            </a:pPr>
            <a:r>
              <a:t/>
            </a:r>
            <a:endParaRPr>
              <a:solidFill>
                <a:schemeClr val="lt1"/>
              </a:solidFill>
              <a:latin typeface="Roboto Slab"/>
              <a:ea typeface="Roboto Slab"/>
              <a:cs typeface="Roboto Slab"/>
              <a:sym typeface="Roboto Slab"/>
            </a:endParaRPr>
          </a:p>
        </p:txBody>
      </p:sp>
      <p:sp>
        <p:nvSpPr>
          <p:cNvPr id="340" name="Google Shape;340;p2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12700" marR="5080" rtl="0" algn="l">
              <a:lnSpc>
                <a:spcPct val="114999"/>
              </a:lnSpc>
              <a:spcBef>
                <a:spcPts val="0"/>
              </a:spcBef>
              <a:spcAft>
                <a:spcPts val="0"/>
              </a:spcAft>
              <a:buSzPts val="1800"/>
              <a:buNone/>
            </a:pPr>
            <a:r>
              <a:rPr lang="es" sz="1600">
                <a:solidFill>
                  <a:srgbClr val="000000"/>
                </a:solidFill>
              </a:rPr>
              <a:t>Aquí parent está el nodo principal al que conectarse, attrib hay un diccionario que contiene los  atributos del elemento y extra hay argumentos de palabras clave adicionales. Esta función nos  devuelve un elemento, que puede usarse para adjuntar otros subelementos, como lo hacemos en  las siguientes líneas al pasar elementos al SubElement constructor.</a:t>
            </a:r>
            <a:endParaRPr sz="1600">
              <a:solidFill>
                <a:srgbClr val="000000"/>
              </a:solidFill>
            </a:endParaRPr>
          </a:p>
          <a:p>
            <a:pPr indent="0" lvl="0" marL="12700" marR="189230" rtl="0" algn="just">
              <a:lnSpc>
                <a:spcPct val="114999"/>
              </a:lnSpc>
              <a:spcBef>
                <a:spcPts val="1200"/>
              </a:spcBef>
              <a:spcAft>
                <a:spcPts val="0"/>
              </a:spcAft>
              <a:buSzPts val="1800"/>
              <a:buNone/>
            </a:pPr>
            <a:r>
              <a:rPr lang="es" sz="1600">
                <a:solidFill>
                  <a:srgbClr val="000000"/>
                </a:solidFill>
              </a:rPr>
              <a:t>3. Aunque podemos agregar nuestros atributos con la SubElement función, también podemos  usar la set()función, como hacemos en el siguiente código. El texto del elemento se crea con la  propiedad text del Elemento objeto.</a:t>
            </a:r>
            <a:endParaRPr sz="1600">
              <a:solidFill>
                <a:srgbClr val="000000"/>
              </a:solidFill>
            </a:endParaRPr>
          </a:p>
        </p:txBody>
      </p:sp>
      <p:pic>
        <p:nvPicPr>
          <p:cNvPr id="341" name="Google Shape;341;p22"/>
          <p:cNvPicPr preferRelativeResize="0"/>
          <p:nvPr/>
        </p:nvPicPr>
        <p:blipFill rotWithShape="1">
          <a:blip r:embed="rId3">
            <a:alphaModFix/>
          </a:blip>
          <a:srcRect b="0" l="0" r="0" t="0"/>
          <a:stretch/>
        </p:blipFill>
        <p:spPr>
          <a:xfrm>
            <a:off x="2036800" y="3496425"/>
            <a:ext cx="3608100" cy="14857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Escribir documentos XML con ElementTree</a:t>
            </a:r>
            <a:endParaRPr/>
          </a:p>
          <a:p>
            <a:pPr indent="0" lvl="0" marL="0" rtl="0" algn="l">
              <a:lnSpc>
                <a:spcPct val="100000"/>
              </a:lnSpc>
              <a:spcBef>
                <a:spcPts val="0"/>
              </a:spcBef>
              <a:spcAft>
                <a:spcPts val="0"/>
              </a:spcAft>
              <a:buSzPct val="111111"/>
              <a:buNone/>
            </a:pPr>
            <a:r>
              <a:t/>
            </a:r>
            <a:endParaRPr/>
          </a:p>
        </p:txBody>
      </p:sp>
      <p:sp>
        <p:nvSpPr>
          <p:cNvPr id="347" name="Google Shape;347;p2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12700" marR="5080" rtl="0" algn="l">
              <a:lnSpc>
                <a:spcPct val="114999"/>
              </a:lnSpc>
              <a:spcBef>
                <a:spcPts val="0"/>
              </a:spcBef>
              <a:spcAft>
                <a:spcPts val="0"/>
              </a:spcAft>
              <a:buSzPts val="1800"/>
              <a:buNone/>
            </a:pPr>
            <a:r>
              <a:rPr lang="es" sz="1600">
                <a:solidFill>
                  <a:srgbClr val="000000"/>
                </a:solidFill>
              </a:rPr>
              <a:t>4. En las últimas 3 líneas del código siguiente, creamos una cadena a partir del árbol XML y escribimos  esos datos en un archivo que abrimos.</a:t>
            </a:r>
            <a:endParaRPr sz="1600">
              <a:solidFill>
                <a:srgbClr val="000000"/>
              </a:solidFill>
            </a:endParaRPr>
          </a:p>
          <a:p>
            <a:pPr indent="0" lvl="0" marL="12700" marR="5080" rtl="0" algn="l">
              <a:lnSpc>
                <a:spcPct val="114999"/>
              </a:lnSpc>
              <a:spcBef>
                <a:spcPts val="0"/>
              </a:spcBef>
              <a:spcAft>
                <a:spcPts val="0"/>
              </a:spcAft>
              <a:buSzPts val="1800"/>
              <a:buNone/>
            </a:pPr>
            <a:r>
              <a:t/>
            </a:r>
            <a:endParaRPr sz="1600">
              <a:solidFill>
                <a:srgbClr val="000000"/>
              </a:solidFill>
            </a:endParaRPr>
          </a:p>
          <a:p>
            <a:pPr indent="0" lvl="0" marL="12700" marR="5080" rtl="0" algn="l">
              <a:lnSpc>
                <a:spcPct val="114999"/>
              </a:lnSpc>
              <a:spcBef>
                <a:spcPts val="0"/>
              </a:spcBef>
              <a:spcAft>
                <a:spcPts val="0"/>
              </a:spcAft>
              <a:buSzPts val="1800"/>
              <a:buNone/>
            </a:pPr>
            <a:r>
              <a:t/>
            </a:r>
            <a:endParaRPr sz="1600">
              <a:solidFill>
                <a:srgbClr val="000000"/>
              </a:solidFill>
            </a:endParaRPr>
          </a:p>
          <a:p>
            <a:pPr indent="0" lvl="0" marL="12700" marR="5080" rtl="0" algn="just">
              <a:lnSpc>
                <a:spcPct val="114999"/>
              </a:lnSpc>
              <a:spcBef>
                <a:spcPts val="0"/>
              </a:spcBef>
              <a:spcAft>
                <a:spcPts val="0"/>
              </a:spcAft>
              <a:buClr>
                <a:srgbClr val="000000"/>
              </a:buClr>
              <a:buSzPts val="1800"/>
              <a:buFont typeface="Arial"/>
              <a:buNone/>
            </a:pPr>
            <a:r>
              <a:rPr lang="es" sz="1600">
                <a:solidFill>
                  <a:srgbClr val="000000"/>
                </a:solidFill>
              </a:rPr>
              <a:t>La ejecución de este código dará como resultado un nuevo archivo, "items2.xml", que debería ser  equivalente al archivo "items.xml" original, al menos en términos de la estructura de datos XML.  Probablemente notará que la cadena resultante es solo una línea y no contiene sangría,</a:t>
            </a:r>
            <a:endParaRPr sz="1600">
              <a:solidFill>
                <a:srgbClr val="000000"/>
              </a:solidFill>
            </a:endParaRPr>
          </a:p>
        </p:txBody>
      </p:sp>
      <p:pic>
        <p:nvPicPr>
          <p:cNvPr id="348" name="Google Shape;348;p23"/>
          <p:cNvPicPr preferRelativeResize="0"/>
          <p:nvPr/>
        </p:nvPicPr>
        <p:blipFill rotWithShape="1">
          <a:blip r:embed="rId3">
            <a:alphaModFix/>
          </a:blip>
          <a:srcRect b="0" l="0" r="0" t="0"/>
          <a:stretch/>
        </p:blipFill>
        <p:spPr>
          <a:xfrm>
            <a:off x="2427225" y="3643300"/>
            <a:ext cx="4514849" cy="11048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Encontrar elementos</a:t>
            </a:r>
            <a:endParaRPr/>
          </a:p>
        </p:txBody>
      </p:sp>
      <p:sp>
        <p:nvSpPr>
          <p:cNvPr id="354" name="Google Shape;354;p24"/>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lnSpcReduction="10000"/>
          </a:bodyPr>
          <a:lstStyle/>
          <a:p>
            <a:pPr indent="0" lvl="0" marL="12700" marR="5080" rtl="0" algn="l">
              <a:lnSpc>
                <a:spcPct val="113846"/>
              </a:lnSpc>
              <a:spcBef>
                <a:spcPts val="0"/>
              </a:spcBef>
              <a:spcAft>
                <a:spcPts val="0"/>
              </a:spcAft>
              <a:buClr>
                <a:srgbClr val="000000"/>
              </a:buClr>
              <a:buSzPts val="1800"/>
              <a:buFont typeface="Arial"/>
              <a:buNone/>
            </a:pPr>
            <a:r>
              <a:rPr lang="es" sz="1600">
                <a:solidFill>
                  <a:srgbClr val="000000"/>
                </a:solidFill>
              </a:rPr>
              <a:t>El ElementTree módulo ofrece la ﬁndall() función, que nos ayuda a encontrar elementos  especíﬁcos en el árbol. Devuelve todos los artículos con la condición especiﬁcada. Además, el  módulo tiene la función ﬁnd(), que devuelve solo el primer subelemento que coincide con los  criterios especiﬁcados.</a:t>
            </a:r>
            <a:endParaRPr sz="1600">
              <a:solidFill>
                <a:srgbClr val="000000"/>
              </a:solidFill>
            </a:endParaRPr>
          </a:p>
          <a:p>
            <a:pPr indent="0" lvl="0" marL="12700" rtl="0" algn="l">
              <a:lnSpc>
                <a:spcPct val="100000"/>
              </a:lnSpc>
              <a:spcBef>
                <a:spcPts val="1090"/>
              </a:spcBef>
              <a:spcAft>
                <a:spcPts val="0"/>
              </a:spcAft>
              <a:buClr>
                <a:srgbClr val="000000"/>
              </a:buClr>
              <a:buSzPts val="1800"/>
              <a:buFont typeface="Arial"/>
              <a:buNone/>
            </a:pPr>
            <a:r>
              <a:rPr lang="es" sz="1600">
                <a:solidFill>
                  <a:srgbClr val="000000"/>
                </a:solidFill>
              </a:rPr>
              <a:t>Sintaxis:</a:t>
            </a:r>
            <a:endParaRPr sz="1600">
              <a:solidFill>
                <a:srgbClr val="000000"/>
              </a:solidFill>
            </a:endParaRPr>
          </a:p>
          <a:p>
            <a:pPr indent="0" lvl="0" marL="0" rtl="0" algn="l">
              <a:lnSpc>
                <a:spcPct val="115000"/>
              </a:lnSpc>
              <a:spcBef>
                <a:spcPts val="0"/>
              </a:spcBef>
              <a:spcAft>
                <a:spcPts val="0"/>
              </a:spcAft>
              <a:buSzPts val="1800"/>
              <a:buNone/>
            </a:pPr>
            <a:r>
              <a:t/>
            </a:r>
            <a:endParaRPr sz="1600">
              <a:solidFill>
                <a:srgbClr val="000000"/>
              </a:solidFill>
            </a:endParaRPr>
          </a:p>
          <a:p>
            <a:pPr indent="0" lvl="0" marL="0" rtl="0" algn="l">
              <a:lnSpc>
                <a:spcPct val="115000"/>
              </a:lnSpc>
              <a:spcBef>
                <a:spcPts val="1200"/>
              </a:spcBef>
              <a:spcAft>
                <a:spcPts val="0"/>
              </a:spcAft>
              <a:buSzPts val="1800"/>
              <a:buNone/>
            </a:pPr>
            <a:r>
              <a:t/>
            </a:r>
            <a:endParaRPr sz="1600">
              <a:solidFill>
                <a:srgbClr val="000000"/>
              </a:solidFill>
            </a:endParaRPr>
          </a:p>
          <a:p>
            <a:pPr indent="0" lvl="0" marL="12700" marR="5080" rtl="0" algn="l">
              <a:lnSpc>
                <a:spcPct val="113846"/>
              </a:lnSpc>
              <a:spcBef>
                <a:spcPts val="1200"/>
              </a:spcBef>
              <a:spcAft>
                <a:spcPts val="0"/>
              </a:spcAft>
              <a:buClr>
                <a:srgbClr val="000000"/>
              </a:buClr>
              <a:buSzPts val="1800"/>
              <a:buFont typeface="Arial"/>
              <a:buNone/>
            </a:pPr>
            <a:r>
              <a:rPr lang="es" sz="1600">
                <a:solidFill>
                  <a:srgbClr val="000000"/>
                </a:solidFill>
              </a:rPr>
              <a:t>Para ambas funciones, el match parámetro puede ser un nombre de etiqueta XML o una ruta. La  función ﬁndall() devuelve una lista de elementos y ﬁnd devuelve un solo objeto de tipo Element.</a:t>
            </a:r>
            <a:endParaRPr sz="1600">
              <a:solidFill>
                <a:srgbClr val="000000"/>
              </a:solidFill>
            </a:endParaRPr>
          </a:p>
        </p:txBody>
      </p:sp>
      <p:pic>
        <p:nvPicPr>
          <p:cNvPr id="355" name="Google Shape;355;p24"/>
          <p:cNvPicPr preferRelativeResize="0"/>
          <p:nvPr/>
        </p:nvPicPr>
        <p:blipFill rotWithShape="1">
          <a:blip r:embed="rId3">
            <a:alphaModFix/>
          </a:blip>
          <a:srcRect b="0" l="0" r="0" t="0"/>
          <a:stretch/>
        </p:blipFill>
        <p:spPr>
          <a:xfrm>
            <a:off x="2738124" y="2391775"/>
            <a:ext cx="2602138" cy="359949"/>
          </a:xfrm>
          <a:prstGeom prst="rect">
            <a:avLst/>
          </a:prstGeom>
          <a:noFill/>
          <a:ln>
            <a:noFill/>
          </a:ln>
        </p:spPr>
      </p:pic>
      <p:pic>
        <p:nvPicPr>
          <p:cNvPr id="356" name="Google Shape;356;p24"/>
          <p:cNvPicPr preferRelativeResize="0"/>
          <p:nvPr/>
        </p:nvPicPr>
        <p:blipFill rotWithShape="1">
          <a:blip r:embed="rId4">
            <a:alphaModFix/>
          </a:blip>
          <a:srcRect b="0" l="0" r="0" t="0"/>
          <a:stretch/>
        </p:blipFill>
        <p:spPr>
          <a:xfrm>
            <a:off x="2724962" y="2993350"/>
            <a:ext cx="2628471" cy="35994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Encontrar elementos</a:t>
            </a:r>
            <a:endParaRPr/>
          </a:p>
        </p:txBody>
      </p:sp>
      <p:sp>
        <p:nvSpPr>
          <p:cNvPr id="362" name="Google Shape;362;p25"/>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p>
            <a:pPr indent="0" lvl="0" marL="12700" rtl="0" algn="l">
              <a:lnSpc>
                <a:spcPct val="100000"/>
              </a:lnSpc>
              <a:spcBef>
                <a:spcPts val="0"/>
              </a:spcBef>
              <a:spcAft>
                <a:spcPts val="0"/>
              </a:spcAft>
              <a:buClr>
                <a:srgbClr val="000000"/>
              </a:buClr>
              <a:buSzPts val="1800"/>
              <a:buFont typeface="Arial"/>
              <a:buNone/>
            </a:pPr>
            <a:r>
              <a:rPr lang="es" sz="1300">
                <a:solidFill>
                  <a:srgbClr val="000000"/>
                </a:solidFill>
                <a:latin typeface="Tahoma"/>
                <a:ea typeface="Tahoma"/>
                <a:cs typeface="Tahoma"/>
                <a:sym typeface="Tahoma"/>
              </a:rPr>
              <a:t>se recorren todos los elementos de l root y todos los subElementos ‘item’</a:t>
            </a:r>
            <a:endParaRPr sz="1300">
              <a:solidFill>
                <a:srgbClr val="000000"/>
              </a:solidFill>
              <a:latin typeface="Tahoma"/>
              <a:ea typeface="Tahoma"/>
              <a:cs typeface="Tahoma"/>
              <a:sym typeface="Tahoma"/>
            </a:endParaRPr>
          </a:p>
          <a:p>
            <a:pPr indent="-359410" lvl="0" marL="469900" marR="5080" rtl="0" algn="l">
              <a:lnSpc>
                <a:spcPct val="114999"/>
              </a:lnSpc>
              <a:spcBef>
                <a:spcPts val="1200"/>
              </a:spcBef>
              <a:spcAft>
                <a:spcPts val="0"/>
              </a:spcAft>
              <a:buClr>
                <a:srgbClr val="131314"/>
              </a:buClr>
              <a:buSzPts val="1300"/>
              <a:buFont typeface="Tahoma"/>
              <a:buAutoNum type="arabicPeriod"/>
            </a:pPr>
            <a:r>
              <a:rPr lang="es" sz="1300">
                <a:solidFill>
                  <a:srgbClr val="000000"/>
                </a:solidFill>
                <a:latin typeface="Tahoma"/>
                <a:ea typeface="Tahoma"/>
                <a:cs typeface="Tahoma"/>
                <a:sym typeface="Tahoma"/>
              </a:rPr>
              <a:t>Obtene</a:t>
            </a:r>
            <a:r>
              <a:rPr lang="es" sz="1300">
                <a:solidFill>
                  <a:srgbClr val="131314"/>
                </a:solidFill>
                <a:latin typeface="Tahoma"/>
                <a:ea typeface="Tahoma"/>
                <a:cs typeface="Tahoma"/>
                <a:sym typeface="Tahoma"/>
              </a:rPr>
              <a:t>mos el dict de cada elemento para obtener el nombre del atributo en este caso  ‘name’</a:t>
            </a:r>
            <a:endParaRPr sz="1300">
              <a:solidFill>
                <a:srgbClr val="131314"/>
              </a:solidFill>
              <a:latin typeface="Tahoma"/>
              <a:ea typeface="Tahoma"/>
              <a:cs typeface="Tahoma"/>
              <a:sym typeface="Tahoma"/>
            </a:endParaRPr>
          </a:p>
          <a:p>
            <a:pPr indent="-359410" lvl="0" marL="469900" marR="356870" rtl="0" algn="l">
              <a:lnSpc>
                <a:spcPct val="114999"/>
              </a:lnSpc>
              <a:spcBef>
                <a:spcPts val="0"/>
              </a:spcBef>
              <a:spcAft>
                <a:spcPts val="0"/>
              </a:spcAft>
              <a:buClr>
                <a:srgbClr val="131314"/>
              </a:buClr>
              <a:buSzPts val="1300"/>
              <a:buFont typeface="Tahoma"/>
              <a:buAutoNum type="arabicPeriod"/>
            </a:pPr>
            <a:r>
              <a:rPr lang="es" sz="1300">
                <a:solidFill>
                  <a:srgbClr val="131314"/>
                </a:solidFill>
                <a:latin typeface="Tahoma"/>
                <a:ea typeface="Tahoma"/>
                <a:cs typeface="Tahoma"/>
                <a:sym typeface="Tahoma"/>
              </a:rPr>
              <a:t>Obtenemos únicamente el nombre de cada elemento si ya conocemos el atributo  nombrado ‘name’</a:t>
            </a:r>
            <a:endParaRPr>
              <a:solidFill>
                <a:srgbClr val="131314"/>
              </a:solidFill>
            </a:endParaRPr>
          </a:p>
        </p:txBody>
      </p:sp>
      <p:pic>
        <p:nvPicPr>
          <p:cNvPr id="363" name="Google Shape;363;p25"/>
          <p:cNvPicPr preferRelativeResize="0"/>
          <p:nvPr/>
        </p:nvPicPr>
        <p:blipFill rotWithShape="1">
          <a:blip r:embed="rId3">
            <a:alphaModFix/>
          </a:blip>
          <a:srcRect b="0" l="0" r="0" t="0"/>
          <a:stretch/>
        </p:blipFill>
        <p:spPr>
          <a:xfrm>
            <a:off x="424750" y="2656387"/>
            <a:ext cx="4324349" cy="2200274"/>
          </a:xfrm>
          <a:prstGeom prst="rect">
            <a:avLst/>
          </a:prstGeom>
          <a:noFill/>
          <a:ln>
            <a:noFill/>
          </a:ln>
        </p:spPr>
      </p:pic>
      <p:pic>
        <p:nvPicPr>
          <p:cNvPr id="364" name="Google Shape;364;p25"/>
          <p:cNvPicPr preferRelativeResize="0"/>
          <p:nvPr/>
        </p:nvPicPr>
        <p:blipFill rotWithShape="1">
          <a:blip r:embed="rId4">
            <a:alphaModFix/>
          </a:blip>
          <a:srcRect b="0" l="0" r="0" t="0"/>
          <a:stretch/>
        </p:blipFill>
        <p:spPr>
          <a:xfrm>
            <a:off x="5906112" y="3049225"/>
            <a:ext cx="2695574" cy="1181099"/>
          </a:xfrm>
          <a:prstGeom prst="rect">
            <a:avLst/>
          </a:prstGeom>
          <a:noFill/>
          <a:ln>
            <a:noFill/>
          </a:ln>
        </p:spPr>
      </p:pic>
      <p:grpSp>
        <p:nvGrpSpPr>
          <p:cNvPr id="365" name="Google Shape;365;p25"/>
          <p:cNvGrpSpPr/>
          <p:nvPr/>
        </p:nvGrpSpPr>
        <p:grpSpPr>
          <a:xfrm>
            <a:off x="4985912" y="3445662"/>
            <a:ext cx="683895" cy="388620"/>
            <a:chOff x="5007012" y="3067762"/>
            <a:chExt cx="683895" cy="388620"/>
          </a:xfrm>
        </p:grpSpPr>
        <p:sp>
          <p:nvSpPr>
            <p:cNvPr id="366" name="Google Shape;366;p25"/>
            <p:cNvSpPr/>
            <p:nvPr/>
          </p:nvSpPr>
          <p:spPr>
            <a:xfrm>
              <a:off x="5007012" y="3067762"/>
              <a:ext cx="683895" cy="388620"/>
            </a:xfrm>
            <a:custGeom>
              <a:rect b="b" l="l" r="r" t="t"/>
              <a:pathLst>
                <a:path extrusionOk="0" h="388620" w="683895">
                  <a:moveTo>
                    <a:pt x="489299" y="388199"/>
                  </a:moveTo>
                  <a:lnTo>
                    <a:pt x="489299" y="291149"/>
                  </a:lnTo>
                  <a:lnTo>
                    <a:pt x="0" y="291149"/>
                  </a:lnTo>
                  <a:lnTo>
                    <a:pt x="0" y="97049"/>
                  </a:lnTo>
                  <a:lnTo>
                    <a:pt x="489299" y="97049"/>
                  </a:lnTo>
                  <a:lnTo>
                    <a:pt x="489299" y="0"/>
                  </a:lnTo>
                  <a:lnTo>
                    <a:pt x="683399" y="194099"/>
                  </a:lnTo>
                  <a:lnTo>
                    <a:pt x="489299" y="388199"/>
                  </a:lnTo>
                  <a:close/>
                </a:path>
              </a:pathLst>
            </a:custGeom>
            <a:solidFill>
              <a:srgbClr val="82C7A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25"/>
            <p:cNvSpPr/>
            <p:nvPr/>
          </p:nvSpPr>
          <p:spPr>
            <a:xfrm>
              <a:off x="5007012" y="3067762"/>
              <a:ext cx="683895" cy="388620"/>
            </a:xfrm>
            <a:custGeom>
              <a:rect b="b" l="l" r="r" t="t"/>
              <a:pathLst>
                <a:path extrusionOk="0" h="388620" w="683895">
                  <a:moveTo>
                    <a:pt x="0" y="97049"/>
                  </a:moveTo>
                  <a:lnTo>
                    <a:pt x="489299" y="97049"/>
                  </a:lnTo>
                  <a:lnTo>
                    <a:pt x="489299" y="0"/>
                  </a:lnTo>
                  <a:lnTo>
                    <a:pt x="683399" y="194099"/>
                  </a:lnTo>
                  <a:lnTo>
                    <a:pt x="489299" y="388199"/>
                  </a:lnTo>
                  <a:lnTo>
                    <a:pt x="489299" y="291149"/>
                  </a:lnTo>
                  <a:lnTo>
                    <a:pt x="0" y="291149"/>
                  </a:lnTo>
                  <a:lnTo>
                    <a:pt x="0" y="97049"/>
                  </a:lnTo>
                  <a:close/>
                </a:path>
              </a:pathLst>
            </a:custGeom>
            <a:noFill/>
            <a:ln cap="flat" cmpd="sng" w="9525">
              <a:solidFill>
                <a:srgbClr val="D9D9D9"/>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5ceb26a92a_0_4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Aplicar de lo aprendido</a:t>
            </a:r>
            <a:endParaRPr/>
          </a:p>
        </p:txBody>
      </p:sp>
      <p:pic>
        <p:nvPicPr>
          <p:cNvPr id="373" name="Google Shape;373;g35ceb26a92a_0_49"/>
          <p:cNvPicPr preferRelativeResize="0"/>
          <p:nvPr/>
        </p:nvPicPr>
        <p:blipFill rotWithShape="1">
          <a:blip r:embed="rId3">
            <a:alphaModFix/>
          </a:blip>
          <a:srcRect b="0" l="0" r="0" t="0"/>
          <a:stretch/>
        </p:blipFill>
        <p:spPr>
          <a:xfrm>
            <a:off x="2006463" y="1281125"/>
            <a:ext cx="5131075" cy="265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5ceb26a92a_0_60"/>
          <p:cNvSpPr txBox="1"/>
          <p:nvPr>
            <p:ph type="title"/>
          </p:nvPr>
        </p:nvSpPr>
        <p:spPr>
          <a:xfrm>
            <a:off x="1557150" y="171050"/>
            <a:ext cx="6029700" cy="60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 sz="3300"/>
              <a:t>Conceptos claves aprendidos</a:t>
            </a:r>
            <a:endParaRPr sz="3300"/>
          </a:p>
        </p:txBody>
      </p:sp>
      <p:sp>
        <p:nvSpPr>
          <p:cNvPr id="379" name="Google Shape;379;g35ceb26a92a_0_60"/>
          <p:cNvSpPr txBox="1"/>
          <p:nvPr>
            <p:ph idx="1" type="body"/>
          </p:nvPr>
        </p:nvSpPr>
        <p:spPr>
          <a:xfrm>
            <a:off x="478200" y="778850"/>
            <a:ext cx="8187600" cy="3815400"/>
          </a:xfrm>
          <a:prstGeom prst="rect">
            <a:avLst/>
          </a:prstGeom>
          <a:noFill/>
          <a:ln>
            <a:noFill/>
          </a:ln>
        </p:spPr>
        <p:txBody>
          <a:bodyPr anchorCtr="0" anchor="t" bIns="91425" lIns="91425" spcFirstLastPara="1" rIns="91425" wrap="square" tIns="91425">
            <a:normAutofit/>
          </a:bodyPr>
          <a:lstStyle/>
          <a:p>
            <a:pPr indent="-298450" lvl="0" marL="457200" rtl="0" algn="just">
              <a:spcBef>
                <a:spcPts val="1200"/>
              </a:spcBef>
              <a:spcAft>
                <a:spcPts val="0"/>
              </a:spcAft>
              <a:buClr>
                <a:srgbClr val="000000"/>
              </a:buClr>
              <a:buSzPts val="1100"/>
              <a:buFont typeface="Arial"/>
              <a:buChar char="★"/>
            </a:pPr>
            <a:r>
              <a:rPr b="1" lang="es" sz="1100">
                <a:solidFill>
                  <a:srgbClr val="000000"/>
                </a:solidFill>
                <a:latin typeface="Arial"/>
                <a:ea typeface="Arial"/>
                <a:cs typeface="Arial"/>
                <a:sym typeface="Arial"/>
              </a:rPr>
              <a:t>Conceptos y fundamentos de XML</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Comprensión de qué es XML y su función en el intercambio y almacenamiento de datos. Reconocimiento de su estructura jerárquica basada en etiquetas, atributos y nodos, así como la importancia de seguir estándares para garantizar la interoperabilidad.</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Procesamiento con el modelo DOM</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Aprendizaje del uso del modelo </a:t>
            </a:r>
            <a:r>
              <a:rPr b="1" lang="es" sz="1100">
                <a:solidFill>
                  <a:srgbClr val="000000"/>
                </a:solidFill>
                <a:latin typeface="Arial"/>
                <a:ea typeface="Arial"/>
                <a:cs typeface="Arial"/>
                <a:sym typeface="Arial"/>
              </a:rPr>
              <a:t>Document Object Model (DOM)</a:t>
            </a:r>
            <a:r>
              <a:rPr lang="es" sz="1100">
                <a:solidFill>
                  <a:srgbClr val="000000"/>
                </a:solidFill>
                <a:latin typeface="Arial"/>
                <a:ea typeface="Arial"/>
                <a:cs typeface="Arial"/>
                <a:sym typeface="Arial"/>
              </a:rPr>
              <a:t> para cargar, recorrer y modificar un documento XML completo en memoria, accediendo a sus elementos y atributos como objetos estructurados.</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Procesamiento con el módulo ElementTree</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Utilización de </a:t>
            </a:r>
            <a:r>
              <a:rPr b="1" lang="es" sz="1100">
                <a:solidFill>
                  <a:srgbClr val="000000"/>
                </a:solidFill>
                <a:latin typeface="Arial"/>
                <a:ea typeface="Arial"/>
                <a:cs typeface="Arial"/>
                <a:sym typeface="Arial"/>
              </a:rPr>
              <a:t>ElementTree</a:t>
            </a:r>
            <a:r>
              <a:rPr lang="es" sz="1100">
                <a:solidFill>
                  <a:srgbClr val="000000"/>
                </a:solidFill>
                <a:latin typeface="Arial"/>
                <a:ea typeface="Arial"/>
                <a:cs typeface="Arial"/>
                <a:sym typeface="Arial"/>
              </a:rPr>
              <a:t> en Python para leer, recorrer y modificar documentos XML de manera más eficiente, especialmente en archivos de tamaño mediano o pequeño.</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Procesamiento con el modelo XPath</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Aplicación de </a:t>
            </a:r>
            <a:r>
              <a:rPr b="1" lang="es" sz="1100">
                <a:solidFill>
                  <a:srgbClr val="000000"/>
                </a:solidFill>
                <a:latin typeface="Arial"/>
                <a:ea typeface="Arial"/>
                <a:cs typeface="Arial"/>
                <a:sym typeface="Arial"/>
              </a:rPr>
              <a:t>XPath</a:t>
            </a:r>
            <a:r>
              <a:rPr lang="es" sz="1100">
                <a:solidFill>
                  <a:srgbClr val="000000"/>
                </a:solidFill>
                <a:latin typeface="Arial"/>
                <a:ea typeface="Arial"/>
                <a:cs typeface="Arial"/>
                <a:sym typeface="Arial"/>
              </a:rPr>
              <a:t> para realizar búsquedas precisas en documentos XML mediante expresiones que localizan elementos, atributos o nodos específicos.</a:t>
            </a:r>
            <a:endParaRPr sz="1100">
              <a:solidFill>
                <a:srgbClr val="000000"/>
              </a:solidFill>
              <a:latin typeface="Arial"/>
              <a:ea typeface="Arial"/>
              <a:cs typeface="Arial"/>
              <a:sym typeface="Arial"/>
            </a:endParaRPr>
          </a:p>
          <a:p>
            <a:pPr indent="-298450" lvl="0" marL="457200" rtl="0" algn="just">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Lectura y escritura de XML</a:t>
            </a: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Implementación de técnicas para </a:t>
            </a:r>
            <a:r>
              <a:rPr b="1" lang="es" sz="1100">
                <a:solidFill>
                  <a:srgbClr val="000000"/>
                </a:solidFill>
                <a:latin typeface="Arial"/>
                <a:ea typeface="Arial"/>
                <a:cs typeface="Arial"/>
                <a:sym typeface="Arial"/>
              </a:rPr>
              <a:t>leer</a:t>
            </a:r>
            <a:r>
              <a:rPr lang="es" sz="1100">
                <a:solidFill>
                  <a:srgbClr val="000000"/>
                </a:solidFill>
                <a:latin typeface="Arial"/>
                <a:ea typeface="Arial"/>
                <a:cs typeface="Arial"/>
                <a:sym typeface="Arial"/>
              </a:rPr>
              <a:t> archivos XML desde diversas fuentes y </a:t>
            </a:r>
            <a:r>
              <a:rPr b="1" lang="es" sz="1100">
                <a:solidFill>
                  <a:srgbClr val="000000"/>
                </a:solidFill>
                <a:latin typeface="Arial"/>
                <a:ea typeface="Arial"/>
                <a:cs typeface="Arial"/>
                <a:sym typeface="Arial"/>
              </a:rPr>
              <a:t>escribir</a:t>
            </a:r>
            <a:r>
              <a:rPr lang="es" sz="1100">
                <a:solidFill>
                  <a:srgbClr val="000000"/>
                </a:solidFill>
                <a:latin typeface="Arial"/>
                <a:ea typeface="Arial"/>
                <a:cs typeface="Arial"/>
                <a:sym typeface="Arial"/>
              </a:rPr>
              <a:t> nuevos documentos manteniendo la estructura correcta y la coherencia de los datos.</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0"/>
              </a:spcAft>
              <a:buNone/>
            </a:pPr>
            <a:r>
              <a:t/>
            </a:r>
            <a:endParaRPr/>
          </a:p>
        </p:txBody>
      </p:sp>
      <p:pic>
        <p:nvPicPr>
          <p:cNvPr id="380" name="Google Shape;380;g35ceb26a92a_0_60"/>
          <p:cNvPicPr preferRelativeResize="0"/>
          <p:nvPr/>
        </p:nvPicPr>
        <p:blipFill rotWithShape="1">
          <a:blip r:embed="rId3">
            <a:alphaModFix/>
          </a:blip>
          <a:srcRect b="0" l="0" r="0" t="0"/>
          <a:stretch/>
        </p:blipFill>
        <p:spPr>
          <a:xfrm>
            <a:off x="8015475" y="3856100"/>
            <a:ext cx="1078950" cy="10789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5ceb26a92a_0_67"/>
          <p:cNvSpPr txBox="1"/>
          <p:nvPr>
            <p:ph type="title"/>
          </p:nvPr>
        </p:nvSpPr>
        <p:spPr>
          <a:xfrm>
            <a:off x="2587375" y="426275"/>
            <a:ext cx="3862500" cy="60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s" sz="3300"/>
              <a:t>Valores y Actitudes</a:t>
            </a:r>
            <a:endParaRPr sz="3300"/>
          </a:p>
        </p:txBody>
      </p:sp>
      <p:sp>
        <p:nvSpPr>
          <p:cNvPr id="386" name="Google Shape;386;g35ceb26a92a_0_67"/>
          <p:cNvSpPr txBox="1"/>
          <p:nvPr>
            <p:ph idx="1" type="body"/>
          </p:nvPr>
        </p:nvSpPr>
        <p:spPr>
          <a:xfrm>
            <a:off x="424825" y="979825"/>
            <a:ext cx="8187600" cy="3815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Rigor analítico:</a:t>
            </a:r>
            <a:r>
              <a:rPr lang="es" sz="1100">
                <a:solidFill>
                  <a:srgbClr val="000000"/>
                </a:solidFill>
                <a:latin typeface="Arial"/>
                <a:ea typeface="Arial"/>
                <a:cs typeface="Arial"/>
                <a:sym typeface="Arial"/>
              </a:rPr>
              <a:t> Verificar que la estructura y contenido del XML sean correctos y cumplan con los estándares establecidos.</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Precisión:</a:t>
            </a:r>
            <a:r>
              <a:rPr lang="es" sz="1100">
                <a:solidFill>
                  <a:srgbClr val="000000"/>
                </a:solidFill>
                <a:latin typeface="Arial"/>
                <a:ea typeface="Arial"/>
                <a:cs typeface="Arial"/>
                <a:sym typeface="Arial"/>
              </a:rPr>
              <a:t> Mantener la integridad de los datos al leer, manipular o escribir documentos XML.</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Responsabilidad:</a:t>
            </a:r>
            <a:r>
              <a:rPr lang="es" sz="1100">
                <a:solidFill>
                  <a:srgbClr val="000000"/>
                </a:solidFill>
                <a:latin typeface="Arial"/>
                <a:ea typeface="Arial"/>
                <a:cs typeface="Arial"/>
                <a:sym typeface="Arial"/>
              </a:rPr>
              <a:t> Garantizar que el procesamiento de la información sea seguro, evitando pérdidas o corrupción de datos.</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Orden y organización:</a:t>
            </a:r>
            <a:r>
              <a:rPr lang="es" sz="1100">
                <a:solidFill>
                  <a:srgbClr val="000000"/>
                </a:solidFill>
                <a:latin typeface="Arial"/>
                <a:ea typeface="Arial"/>
                <a:cs typeface="Arial"/>
                <a:sym typeface="Arial"/>
              </a:rPr>
              <a:t> Respetar las jerarquías y convenciones de nomenclatura para facilitar el mantenimiento del código y de los archivos XML.</a:t>
            </a:r>
            <a:br>
              <a:rPr lang="es"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s" sz="1100">
                <a:solidFill>
                  <a:srgbClr val="000000"/>
                </a:solidFill>
                <a:latin typeface="Arial"/>
                <a:ea typeface="Arial"/>
                <a:cs typeface="Arial"/>
                <a:sym typeface="Arial"/>
              </a:rPr>
              <a:t>Adaptabilidad:</a:t>
            </a:r>
            <a:r>
              <a:rPr lang="es" sz="1100">
                <a:solidFill>
                  <a:srgbClr val="000000"/>
                </a:solidFill>
                <a:latin typeface="Arial"/>
                <a:ea typeface="Arial"/>
                <a:cs typeface="Arial"/>
                <a:sym typeface="Arial"/>
              </a:rPr>
              <a:t> Elegir la técnica de procesamiento más adecuada (DOM, ElementTree, XPath) según el tamaño del archivo y los requisitos del proyecto.</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a:p>
        </p:txBody>
      </p:sp>
      <p:pic>
        <p:nvPicPr>
          <p:cNvPr id="387" name="Google Shape;387;g35ceb26a92a_0_67"/>
          <p:cNvPicPr preferRelativeResize="0"/>
          <p:nvPr/>
        </p:nvPicPr>
        <p:blipFill rotWithShape="1">
          <a:blip r:embed="rId3">
            <a:alphaModFix/>
          </a:blip>
          <a:srcRect b="0" l="0" r="0" t="0"/>
          <a:stretch/>
        </p:blipFill>
        <p:spPr>
          <a:xfrm>
            <a:off x="7349700" y="276925"/>
            <a:ext cx="1347650" cy="10278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5ceb26a92a_0_159"/>
          <p:cNvSpPr txBox="1"/>
          <p:nvPr>
            <p:ph type="title"/>
          </p:nvPr>
        </p:nvSpPr>
        <p:spPr>
          <a:xfrm>
            <a:off x="2724625" y="426275"/>
            <a:ext cx="3588000" cy="607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s" sz="3300"/>
              <a:t>Referencias</a:t>
            </a:r>
            <a:endParaRPr sz="3300"/>
          </a:p>
        </p:txBody>
      </p:sp>
      <p:sp>
        <p:nvSpPr>
          <p:cNvPr id="393" name="Google Shape;393;g35ceb26a92a_0_159"/>
          <p:cNvSpPr txBox="1"/>
          <p:nvPr>
            <p:ph idx="1" type="body"/>
          </p:nvPr>
        </p:nvSpPr>
        <p:spPr>
          <a:xfrm>
            <a:off x="424825" y="979825"/>
            <a:ext cx="8187600" cy="3815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311150" lvl="0" marL="457200" rtl="0" algn="l">
              <a:lnSpc>
                <a:spcPct val="115000"/>
              </a:lnSpc>
              <a:spcBef>
                <a:spcPts val="1200"/>
              </a:spcBef>
              <a:spcAft>
                <a:spcPts val="0"/>
              </a:spcAft>
              <a:buClr>
                <a:srgbClr val="000000"/>
              </a:buClr>
              <a:buSzPts val="1300"/>
              <a:buFont typeface="Roboto"/>
              <a:buChar char="●"/>
            </a:pPr>
            <a:r>
              <a:rPr lang="es" sz="1300">
                <a:solidFill>
                  <a:srgbClr val="000000"/>
                </a:solidFill>
              </a:rPr>
              <a:t>DesarrolloWeb.com. (s.f.). </a:t>
            </a:r>
            <a:r>
              <a:rPr i="1" lang="es" sz="1300">
                <a:solidFill>
                  <a:srgbClr val="000000"/>
                </a:solidFill>
              </a:rPr>
              <a:t>Manual de XML</a:t>
            </a:r>
            <a:r>
              <a:rPr lang="es" sz="1300">
                <a:solidFill>
                  <a:srgbClr val="000000"/>
                </a:solidFill>
              </a:rPr>
              <a:t>. Recuperado el 24 de mayo de 2025, de </a:t>
            </a:r>
            <a:r>
              <a:rPr lang="es" sz="1300" u="sng">
                <a:solidFill>
                  <a:srgbClr val="000000"/>
                </a:solidFill>
              </a:rPr>
              <a:t>https://desarrolloweb.com/manuales/manual-xml.html</a:t>
            </a:r>
            <a:br>
              <a:rPr lang="es" sz="1300">
                <a:solidFill>
                  <a:srgbClr val="000000"/>
                </a:solidFill>
              </a:rPr>
            </a:br>
            <a:endParaRPr sz="1300">
              <a:solidFill>
                <a:srgbClr val="000000"/>
              </a:solidFill>
            </a:endParaRPr>
          </a:p>
          <a:p>
            <a:pPr indent="-311150" lvl="0" marL="457200" rtl="0" algn="l">
              <a:lnSpc>
                <a:spcPct val="115000"/>
              </a:lnSpc>
              <a:spcBef>
                <a:spcPts val="0"/>
              </a:spcBef>
              <a:spcAft>
                <a:spcPts val="0"/>
              </a:spcAft>
              <a:buClr>
                <a:srgbClr val="000000"/>
              </a:buClr>
              <a:buSzPts val="1300"/>
              <a:buFont typeface="Roboto"/>
              <a:buChar char="●"/>
            </a:pPr>
            <a:r>
              <a:rPr lang="es" sz="1300">
                <a:solidFill>
                  <a:srgbClr val="000000"/>
                </a:solidFill>
              </a:rPr>
              <a:t>AprendeAProgramar.com. (s.f.). </a:t>
            </a:r>
            <a:r>
              <a:rPr i="1" lang="es" sz="1300">
                <a:solidFill>
                  <a:srgbClr val="000000"/>
                </a:solidFill>
              </a:rPr>
              <a:t>Introducción a XML</a:t>
            </a:r>
            <a:r>
              <a:rPr lang="es" sz="1300">
                <a:solidFill>
                  <a:srgbClr val="000000"/>
                </a:solidFill>
              </a:rPr>
              <a:t>. Recuperado el 24 de mayo de 2025, de </a:t>
            </a:r>
            <a:r>
              <a:rPr lang="es" sz="1300" u="sng">
                <a:solidFill>
                  <a:srgbClr val="000000"/>
                </a:solidFill>
              </a:rPr>
              <a:t>https://www.aprendeaprogramar.com/index.php?option=com_content&amp;view=article&amp;id=483</a:t>
            </a:r>
            <a:br>
              <a:rPr lang="es" sz="1300" u="sng">
                <a:solidFill>
                  <a:srgbClr val="000000"/>
                </a:solidFill>
              </a:rPr>
            </a:br>
            <a:endParaRPr sz="1300" u="sng">
              <a:solidFill>
                <a:srgbClr val="000000"/>
              </a:solidFill>
            </a:endParaRPr>
          </a:p>
          <a:p>
            <a:pPr indent="-311150" lvl="0" marL="457200" rtl="0" algn="l">
              <a:lnSpc>
                <a:spcPct val="115000"/>
              </a:lnSpc>
              <a:spcBef>
                <a:spcPts val="0"/>
              </a:spcBef>
              <a:spcAft>
                <a:spcPts val="0"/>
              </a:spcAft>
              <a:buClr>
                <a:srgbClr val="000000"/>
              </a:buClr>
              <a:buSzPts val="1300"/>
              <a:buFont typeface="Roboto"/>
              <a:buChar char="●"/>
            </a:pPr>
            <a:r>
              <a:rPr lang="es" sz="1300">
                <a:solidFill>
                  <a:srgbClr val="000000"/>
                </a:solidFill>
              </a:rPr>
              <a:t>MDN Web Docs. (s.f.). </a:t>
            </a:r>
            <a:r>
              <a:rPr i="1" lang="es" sz="1300">
                <a:solidFill>
                  <a:srgbClr val="000000"/>
                </a:solidFill>
              </a:rPr>
              <a:t>XML</a:t>
            </a:r>
            <a:r>
              <a:rPr lang="es" sz="1300">
                <a:solidFill>
                  <a:srgbClr val="000000"/>
                </a:solidFill>
              </a:rPr>
              <a:t>. Mozilla Foundation. Recuperado el 24 de mayo de 2025, de</a:t>
            </a:r>
            <a:r>
              <a:rPr lang="es" sz="1300">
                <a:solidFill>
                  <a:srgbClr val="000000"/>
                </a:solidFill>
                <a:uFill>
                  <a:noFill/>
                </a:uFill>
                <a:hlinkClick r:id="rId3">
                  <a:extLst>
                    <a:ext uri="{A12FA001-AC4F-418D-AE19-62706E023703}">
                      <ahyp:hlinkClr val="tx"/>
                    </a:ext>
                  </a:extLst>
                </a:hlinkClick>
              </a:rPr>
              <a:t> </a:t>
            </a:r>
            <a:r>
              <a:rPr lang="es" sz="1300" u="sng">
                <a:solidFill>
                  <a:schemeClr val="hlink"/>
                </a:solidFill>
                <a:hlinkClick r:id="rId4"/>
              </a:rPr>
              <a:t>https://developer.mozilla.org/es/docs/Web/XML</a:t>
            </a:r>
            <a:br>
              <a:rPr lang="es" sz="1300" u="sng">
                <a:solidFill>
                  <a:schemeClr val="hlink"/>
                </a:solidFill>
                <a:hlinkClick r:id="rId5"/>
              </a:rPr>
            </a:br>
            <a:endParaRPr sz="1300" u="sng">
              <a:solidFill>
                <a:schemeClr val="hlink"/>
              </a:solidFill>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0"/>
              </a:spcBef>
              <a:spcAft>
                <a:spcPts val="0"/>
              </a:spcAft>
              <a:buSzPts val="1800"/>
              <a:buNone/>
            </a:pPr>
            <a:br>
              <a:rPr b="1" lang="es" sz="1100">
                <a:solidFill>
                  <a:srgbClr val="000000"/>
                </a:solidFill>
                <a:latin typeface="Arial"/>
                <a:ea typeface="Arial"/>
                <a:cs typeface="Arial"/>
                <a:sym typeface="Arial"/>
              </a:rPr>
            </a:br>
            <a:r>
              <a:rPr lang="es"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SzPts val="1800"/>
              <a:buNone/>
            </a:pPr>
            <a:r>
              <a:t/>
            </a:r>
            <a:endParaRPr sz="1100">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5ceb26a92a_0_165"/>
          <p:cNvSpPr txBox="1"/>
          <p:nvPr/>
        </p:nvSpPr>
        <p:spPr>
          <a:xfrm>
            <a:off x="2267622" y="773777"/>
            <a:ext cx="4329600" cy="14223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000000"/>
              </a:buClr>
              <a:buSzPts val="3000"/>
              <a:buFont typeface="Arial"/>
              <a:buNone/>
            </a:pPr>
            <a:r>
              <a:rPr b="0" i="0" lang="es" sz="3000" u="none" cap="none" strike="noStrike">
                <a:solidFill>
                  <a:schemeClr val="dk1"/>
                </a:solidFill>
                <a:latin typeface="Roboto"/>
                <a:ea typeface="Roboto"/>
                <a:cs typeface="Roboto"/>
                <a:sym typeface="Roboto"/>
              </a:rPr>
              <a:t>¡GRACIAS POR SU  ATENCIÓN!</a:t>
            </a:r>
            <a:endParaRPr b="0" i="0" sz="700" u="none" cap="none" strike="noStrike">
              <a:solidFill>
                <a:schemeClr val="dk1"/>
              </a:solidFill>
              <a:latin typeface="Roboto"/>
              <a:ea typeface="Roboto"/>
              <a:cs typeface="Roboto"/>
              <a:sym typeface="Roboto"/>
            </a:endParaRPr>
          </a:p>
          <a:p>
            <a:pPr indent="0" lvl="0" marL="0" marR="0" rtl="0" algn="just">
              <a:lnSpc>
                <a:spcPct val="104000"/>
              </a:lnSpc>
              <a:spcBef>
                <a:spcPts val="0"/>
              </a:spcBef>
              <a:spcAft>
                <a:spcPts val="0"/>
              </a:spcAft>
              <a:buClr>
                <a:srgbClr val="000000"/>
              </a:buClr>
              <a:buSzPts val="3000"/>
              <a:buFont typeface="Arial"/>
              <a:buNone/>
            </a:pPr>
            <a:r>
              <a:t/>
            </a:r>
            <a:endParaRPr b="0" i="0" sz="3000" u="none" cap="none" strike="noStrike">
              <a:solidFill>
                <a:srgbClr val="131416"/>
              </a:solidFill>
              <a:latin typeface="Impact"/>
              <a:ea typeface="Impact"/>
              <a:cs typeface="Impact"/>
              <a:sym typeface="Impact"/>
            </a:endParaRPr>
          </a:p>
        </p:txBody>
      </p:sp>
      <p:sp>
        <p:nvSpPr>
          <p:cNvPr id="399" name="Google Shape;399;g35ceb26a92a_0_165"/>
          <p:cNvSpPr txBox="1"/>
          <p:nvPr/>
        </p:nvSpPr>
        <p:spPr>
          <a:xfrm>
            <a:off x="2756182" y="2371652"/>
            <a:ext cx="3352500" cy="4002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600"/>
              <a:buFont typeface="Arial"/>
              <a:buNone/>
            </a:pPr>
            <a:r>
              <a:rPr b="0" i="0" lang="es" sz="2600" u="none" cap="none" strike="noStrike">
                <a:solidFill>
                  <a:schemeClr val="dk1"/>
                </a:solidFill>
                <a:latin typeface="Roboto"/>
                <a:ea typeface="Roboto"/>
                <a:cs typeface="Roboto"/>
                <a:sym typeface="Roboto"/>
              </a:rPr>
              <a:t>DUDAS</a:t>
            </a:r>
            <a:endParaRPr b="0" i="0" sz="800" u="none" cap="none" strike="noStrike">
              <a:solidFill>
                <a:schemeClr val="dk1"/>
              </a:solidFill>
              <a:latin typeface="Roboto"/>
              <a:ea typeface="Roboto"/>
              <a:cs typeface="Roboto"/>
              <a:sym typeface="Roboto"/>
            </a:endParaRPr>
          </a:p>
        </p:txBody>
      </p:sp>
      <p:sp>
        <p:nvSpPr>
          <p:cNvPr id="400" name="Google Shape;400;g35ceb26a92a_0_165"/>
          <p:cNvSpPr txBox="1"/>
          <p:nvPr/>
        </p:nvSpPr>
        <p:spPr>
          <a:xfrm>
            <a:off x="1205549" y="3153268"/>
            <a:ext cx="6732900" cy="4200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1100"/>
              <a:buFont typeface="Arial"/>
              <a:buNone/>
            </a:pPr>
            <a:r>
              <a:rPr b="1" i="0" lang="es" sz="1100" u="none" cap="none" strike="noStrike">
                <a:solidFill>
                  <a:schemeClr val="dk1"/>
                </a:solidFill>
                <a:latin typeface="Roboto"/>
                <a:ea typeface="Roboto"/>
                <a:cs typeface="Roboto"/>
                <a:sym typeface="Roboto"/>
              </a:rPr>
              <a:t>RECUERDA QUE TENEMOS NUESTRO FORO SEMANAL DONDE PUEDES CONSULTAR CUALQUIER DUDA QUE TE SURJA EN LA SEMANA</a:t>
            </a:r>
            <a:endParaRPr b="1" i="0" sz="800" u="none" cap="none" strike="noStrike">
              <a:solidFill>
                <a:schemeClr val="dk1"/>
              </a:solidFill>
              <a:latin typeface="Roboto"/>
              <a:ea typeface="Roboto"/>
              <a:cs typeface="Roboto"/>
              <a:sym typeface="Roboto"/>
            </a:endParaRPr>
          </a:p>
        </p:txBody>
      </p:sp>
      <p:sp>
        <p:nvSpPr>
          <p:cNvPr id="401" name="Google Shape;401;g35ceb26a92a_0_165"/>
          <p:cNvSpPr/>
          <p:nvPr/>
        </p:nvSpPr>
        <p:spPr>
          <a:xfrm>
            <a:off x="7095826" y="264875"/>
            <a:ext cx="1378634" cy="1885485"/>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