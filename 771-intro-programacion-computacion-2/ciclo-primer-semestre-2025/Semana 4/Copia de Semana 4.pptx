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oubag Semi-Bold" charset="1" panose="02020A03060303060403"/>
      <p:regular r:id="rId18"/>
    </p:embeddedFont>
    <p:embeddedFont>
      <p:font typeface="Loubag" charset="1" panose="02020A03060303060403"/>
      <p:regular r:id="rId19"/>
    </p:embeddedFont>
    <p:embeddedFont>
      <p:font typeface="Montserrat Light" charset="1" panose="00000400000000000000"/>
      <p:regular r:id="rId20"/>
    </p:embeddedFont>
    <p:embeddedFont>
      <p:font typeface="Montserrat Bold" charset="1" panose="00000800000000000000"/>
      <p:regular r:id="rId21"/>
    </p:embeddedFont>
    <p:embeddedFont>
      <p:font typeface="Montserrat"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0">
            <a:off x="-3777543" y="4169858"/>
            <a:ext cx="12639279" cy="9102218"/>
          </a:xfrm>
          <a:custGeom>
            <a:avLst/>
            <a:gdLst/>
            <a:ahLst/>
            <a:cxnLst/>
            <a:rect r="r" b="b" t="t" l="l"/>
            <a:pathLst>
              <a:path h="9102218" w="12639279">
                <a:moveTo>
                  <a:pt x="0" y="0"/>
                </a:moveTo>
                <a:lnTo>
                  <a:pt x="12639280" y="0"/>
                </a:lnTo>
                <a:lnTo>
                  <a:pt x="12639280" y="9102218"/>
                </a:lnTo>
                <a:lnTo>
                  <a:pt x="0" y="9102218"/>
                </a:lnTo>
                <a:lnTo>
                  <a:pt x="0" y="0"/>
                </a:lnTo>
                <a:close/>
              </a:path>
            </a:pathLst>
          </a:custGeom>
          <a:blipFill>
            <a:blip r:embed="rId2">
              <a:extLst>
                <a:ext uri="{96DAC541-7B7A-43D3-8B79-37D633B846F1}">
                  <asvg:svgBlip xmlns:asvg="http://schemas.microsoft.com/office/drawing/2016/SVG/main" r:embed="rId3"/>
                </a:ext>
              </a:extLst>
            </a:blip>
            <a:stretch>
              <a:fillRect l="0" t="-23963" r="0" b="0"/>
            </a:stretch>
          </a:blipFill>
        </p:spPr>
      </p:sp>
      <p:sp>
        <p:nvSpPr>
          <p:cNvPr name="Freeform 3" id="3"/>
          <p:cNvSpPr/>
          <p:nvPr/>
        </p:nvSpPr>
        <p:spPr>
          <a:xfrm flipH="false" flipV="false" rot="-341241">
            <a:off x="-5393544" y="3137648"/>
            <a:ext cx="12593372" cy="9679254"/>
          </a:xfrm>
          <a:custGeom>
            <a:avLst/>
            <a:gdLst/>
            <a:ahLst/>
            <a:cxnLst/>
            <a:rect r="r" b="b" t="t" l="l"/>
            <a:pathLst>
              <a:path h="9679254" w="12593372">
                <a:moveTo>
                  <a:pt x="0" y="0"/>
                </a:moveTo>
                <a:lnTo>
                  <a:pt x="12593372" y="0"/>
                </a:lnTo>
                <a:lnTo>
                  <a:pt x="12593372" y="9679253"/>
                </a:lnTo>
                <a:lnTo>
                  <a:pt x="0" y="9679253"/>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4" id="4"/>
          <p:cNvSpPr/>
          <p:nvPr/>
        </p:nvSpPr>
        <p:spPr>
          <a:xfrm flipH="false" flipV="false" rot="588337">
            <a:off x="-6158083" y="4829611"/>
            <a:ext cx="12184710" cy="8634511"/>
          </a:xfrm>
          <a:custGeom>
            <a:avLst/>
            <a:gdLst/>
            <a:ahLst/>
            <a:cxnLst/>
            <a:rect r="r" b="b" t="t" l="l"/>
            <a:pathLst>
              <a:path h="8634511" w="12184710">
                <a:moveTo>
                  <a:pt x="0" y="0"/>
                </a:moveTo>
                <a:lnTo>
                  <a:pt x="12184710" y="0"/>
                </a:lnTo>
                <a:lnTo>
                  <a:pt x="12184710" y="8634511"/>
                </a:lnTo>
                <a:lnTo>
                  <a:pt x="0" y="8634511"/>
                </a:lnTo>
                <a:lnTo>
                  <a:pt x="0" y="0"/>
                </a:lnTo>
                <a:close/>
              </a:path>
            </a:pathLst>
          </a:custGeom>
          <a:blipFill>
            <a:blip r:embed="rId6">
              <a:extLst>
                <a:ext uri="{96DAC541-7B7A-43D3-8B79-37D633B846F1}">
                  <asvg:svgBlip xmlns:asvg="http://schemas.microsoft.com/office/drawing/2016/SVG/main" r:embed="rId7"/>
                </a:ext>
              </a:extLst>
            </a:blip>
            <a:stretch>
              <a:fillRect l="0" t="-30678" r="-3730" b="0"/>
            </a:stretch>
          </a:blipFill>
        </p:spPr>
      </p:sp>
      <p:sp>
        <p:nvSpPr>
          <p:cNvPr name="Freeform 5" id="5"/>
          <p:cNvSpPr/>
          <p:nvPr/>
        </p:nvSpPr>
        <p:spPr>
          <a:xfrm flipH="false" flipV="false" rot="10711948">
            <a:off x="9416629" y="-3351043"/>
            <a:ext cx="12639279" cy="11283429"/>
          </a:xfrm>
          <a:custGeom>
            <a:avLst/>
            <a:gdLst/>
            <a:ahLst/>
            <a:cxnLst/>
            <a:rect r="r" b="b" t="t" l="l"/>
            <a:pathLst>
              <a:path h="11283429" w="12639279">
                <a:moveTo>
                  <a:pt x="0" y="0"/>
                </a:moveTo>
                <a:lnTo>
                  <a:pt x="12639280" y="0"/>
                </a:lnTo>
                <a:lnTo>
                  <a:pt x="12639280" y="11283429"/>
                </a:lnTo>
                <a:lnTo>
                  <a:pt x="0" y="112834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711948">
            <a:off x="8885282" y="-4094736"/>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711948">
            <a:off x="9797904" y="-4118116"/>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583316" y="4179418"/>
            <a:ext cx="13381799" cy="4039006"/>
          </a:xfrm>
          <a:prstGeom prst="rect">
            <a:avLst/>
          </a:prstGeom>
        </p:spPr>
        <p:txBody>
          <a:bodyPr anchor="t" rtlCol="false" tIns="0" lIns="0" bIns="0" rIns="0">
            <a:spAutoFit/>
          </a:bodyPr>
          <a:lstStyle/>
          <a:p>
            <a:pPr algn="ctr">
              <a:lnSpc>
                <a:spcPts val="16252"/>
              </a:lnSpc>
              <a:spcBef>
                <a:spcPct val="0"/>
              </a:spcBef>
            </a:pPr>
            <a:r>
              <a:rPr lang="en-US" b="true" sz="11609">
                <a:solidFill>
                  <a:srgbClr val="000000"/>
                </a:solidFill>
                <a:latin typeface="Loubag Semi-Bold"/>
                <a:ea typeface="Loubag Semi-Bold"/>
                <a:cs typeface="Loubag Semi-Bold"/>
                <a:sym typeface="Loubag Semi-Bold"/>
              </a:rPr>
              <a:t>Estructuras de Datos</a:t>
            </a:r>
          </a:p>
        </p:txBody>
      </p:sp>
      <p:sp>
        <p:nvSpPr>
          <p:cNvPr name="TextBox 9" id="9"/>
          <p:cNvSpPr txBox="true"/>
          <p:nvPr/>
        </p:nvSpPr>
        <p:spPr>
          <a:xfrm rot="0">
            <a:off x="4196032" y="3102707"/>
            <a:ext cx="10156368" cy="1070197"/>
          </a:xfrm>
          <a:prstGeom prst="rect">
            <a:avLst/>
          </a:prstGeom>
        </p:spPr>
        <p:txBody>
          <a:bodyPr anchor="t" rtlCol="false" tIns="0" lIns="0" bIns="0" rIns="0">
            <a:spAutoFit/>
          </a:bodyPr>
          <a:lstStyle/>
          <a:p>
            <a:pPr algn="ctr">
              <a:lnSpc>
                <a:spcPts val="8737"/>
              </a:lnSpc>
              <a:spcBef>
                <a:spcPct val="0"/>
              </a:spcBef>
            </a:pPr>
            <a:r>
              <a:rPr lang="en-US" sz="6241">
                <a:solidFill>
                  <a:srgbClr val="000000"/>
                </a:solidFill>
                <a:latin typeface="Loubag"/>
                <a:ea typeface="Loubag"/>
                <a:cs typeface="Loubag"/>
                <a:sym typeface="Loubag"/>
              </a:rPr>
              <a:t>unidad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4899631">
            <a:off x="8352238" y="2767935"/>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986174">
            <a:off x="9207519" y="3332606"/>
            <a:ext cx="12639279" cy="11283429"/>
          </a:xfrm>
          <a:custGeom>
            <a:avLst/>
            <a:gdLst/>
            <a:ahLst/>
            <a:cxnLst/>
            <a:rect r="r" b="b" t="t" l="l"/>
            <a:pathLst>
              <a:path h="11283429" w="12639279">
                <a:moveTo>
                  <a:pt x="0" y="0"/>
                </a:moveTo>
                <a:lnTo>
                  <a:pt x="12639279" y="0"/>
                </a:lnTo>
                <a:lnTo>
                  <a:pt x="12639279" y="11283430"/>
                </a:lnTo>
                <a:lnTo>
                  <a:pt x="0" y="112834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739487">
            <a:off x="-5668850" y="-2912503"/>
            <a:ext cx="12593372" cy="9679254"/>
          </a:xfrm>
          <a:custGeom>
            <a:avLst/>
            <a:gdLst/>
            <a:ahLst/>
            <a:cxnLst/>
            <a:rect r="r" b="b" t="t" l="l"/>
            <a:pathLst>
              <a:path h="9679254" w="12593372">
                <a:moveTo>
                  <a:pt x="0" y="0"/>
                </a:moveTo>
                <a:lnTo>
                  <a:pt x="12593372" y="0"/>
                </a:lnTo>
                <a:lnTo>
                  <a:pt x="12593372" y="9679253"/>
                </a:lnTo>
                <a:lnTo>
                  <a:pt x="0" y="9679253"/>
                </a:lnTo>
                <a:lnTo>
                  <a:pt x="0" y="0"/>
                </a:lnTo>
                <a:close/>
              </a:path>
            </a:pathLst>
          </a:custGeom>
          <a:blipFill>
            <a:blip r:embed="rId6">
              <a:extLst>
                <a:ext uri="{96DAC541-7B7A-43D3-8B79-37D633B846F1}">
                  <asvg:svgBlip xmlns:asvg="http://schemas.microsoft.com/office/drawing/2016/SVG/main" r:embed="rId7"/>
                </a:ext>
              </a:extLst>
            </a:blip>
            <a:stretch>
              <a:fillRect l="0" t="-16573" r="-364" b="0"/>
            </a:stretch>
          </a:blipFill>
        </p:spPr>
      </p:sp>
      <p:sp>
        <p:nvSpPr>
          <p:cNvPr name="TextBox 5" id="5"/>
          <p:cNvSpPr txBox="true"/>
          <p:nvPr/>
        </p:nvSpPr>
        <p:spPr>
          <a:xfrm rot="0">
            <a:off x="3103117" y="876300"/>
            <a:ext cx="14156183" cy="2858529"/>
          </a:xfrm>
          <a:prstGeom prst="rect">
            <a:avLst/>
          </a:prstGeom>
        </p:spPr>
        <p:txBody>
          <a:bodyPr anchor="t" rtlCol="false" tIns="0" lIns="0" bIns="0" rIns="0">
            <a:spAutoFit/>
          </a:bodyPr>
          <a:lstStyle/>
          <a:p>
            <a:pPr algn="l">
              <a:lnSpc>
                <a:spcPts val="11493"/>
              </a:lnSpc>
              <a:spcBef>
                <a:spcPct val="0"/>
              </a:spcBef>
            </a:pPr>
            <a:r>
              <a:rPr lang="en-US" b="true" sz="8209">
                <a:solidFill>
                  <a:srgbClr val="000000"/>
                </a:solidFill>
                <a:latin typeface="Loubag Semi-Bold"/>
                <a:ea typeface="Loubag Semi-Bold"/>
                <a:cs typeface="Loubag Semi-Bold"/>
                <a:sym typeface="Loubag Semi-Bold"/>
              </a:rPr>
              <a:t>¿Qué es una estructura en programación?</a:t>
            </a:r>
          </a:p>
        </p:txBody>
      </p:sp>
      <p:sp>
        <p:nvSpPr>
          <p:cNvPr name="TextBox 6" id="6"/>
          <p:cNvSpPr txBox="true"/>
          <p:nvPr/>
        </p:nvSpPr>
        <p:spPr>
          <a:xfrm rot="0">
            <a:off x="2217706" y="4447249"/>
            <a:ext cx="11530653" cy="3962400"/>
          </a:xfrm>
          <a:prstGeom prst="rect">
            <a:avLst/>
          </a:prstGeom>
        </p:spPr>
        <p:txBody>
          <a:bodyPr anchor="t" rtlCol="false" tIns="0" lIns="0" bIns="0" rIns="0">
            <a:spAutoFit/>
          </a:bodyPr>
          <a:lstStyle/>
          <a:p>
            <a:pPr algn="just">
              <a:lnSpc>
                <a:spcPts val="6299"/>
              </a:lnSpc>
              <a:spcBef>
                <a:spcPct val="0"/>
              </a:spcBef>
            </a:pPr>
            <a:r>
              <a:rPr lang="en-US" sz="4500">
                <a:solidFill>
                  <a:srgbClr val="000000"/>
                </a:solidFill>
                <a:latin typeface="Montserrat Light"/>
                <a:ea typeface="Montserrat Light"/>
                <a:cs typeface="Montserrat Light"/>
                <a:sym typeface="Montserrat Light"/>
              </a:rPr>
              <a:t>Es un tipo de dato compuesto que permite almacenar un conjunto de datos de diferente tipo. Los datos que contiene una estructura pueden ser de tipo simple  o de tipo compuesto.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10711948">
            <a:off x="9286414" y="-4502468"/>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290039">
            <a:off x="-5290940" y="2711047"/>
            <a:ext cx="12639279" cy="11283429"/>
          </a:xfrm>
          <a:custGeom>
            <a:avLst/>
            <a:gdLst/>
            <a:ahLst/>
            <a:cxnLst/>
            <a:rect r="r" b="b" t="t" l="l"/>
            <a:pathLst>
              <a:path h="11283429" w="12639279">
                <a:moveTo>
                  <a:pt x="0" y="0"/>
                </a:moveTo>
                <a:lnTo>
                  <a:pt x="12639280" y="0"/>
                </a:lnTo>
                <a:lnTo>
                  <a:pt x="12639280" y="11283430"/>
                </a:lnTo>
                <a:lnTo>
                  <a:pt x="0" y="112834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169962" y="1291235"/>
            <a:ext cx="13948076" cy="1416520"/>
          </a:xfrm>
          <a:prstGeom prst="rect">
            <a:avLst/>
          </a:prstGeom>
        </p:spPr>
        <p:txBody>
          <a:bodyPr anchor="t" rtlCol="false" tIns="0" lIns="0" bIns="0" rIns="0">
            <a:spAutoFit/>
          </a:bodyPr>
          <a:lstStyle/>
          <a:p>
            <a:pPr algn="ctr">
              <a:lnSpc>
                <a:spcPts val="11699"/>
              </a:lnSpc>
              <a:spcBef>
                <a:spcPct val="0"/>
              </a:spcBef>
            </a:pPr>
            <a:r>
              <a:rPr lang="en-US" b="true" sz="8356">
                <a:solidFill>
                  <a:srgbClr val="000000"/>
                </a:solidFill>
                <a:latin typeface="Loubag Semi-Bold"/>
                <a:ea typeface="Loubag Semi-Bold"/>
                <a:cs typeface="Loubag Semi-Bold"/>
                <a:sym typeface="Loubag Semi-Bold"/>
              </a:rPr>
              <a:t>Apuntadores </a:t>
            </a:r>
          </a:p>
        </p:txBody>
      </p:sp>
      <p:sp>
        <p:nvSpPr>
          <p:cNvPr name="TextBox 5" id="5"/>
          <p:cNvSpPr txBox="true"/>
          <p:nvPr/>
        </p:nvSpPr>
        <p:spPr>
          <a:xfrm rot="0">
            <a:off x="3378673" y="4032944"/>
            <a:ext cx="11530653" cy="3962400"/>
          </a:xfrm>
          <a:prstGeom prst="rect">
            <a:avLst/>
          </a:prstGeom>
        </p:spPr>
        <p:txBody>
          <a:bodyPr anchor="t" rtlCol="false" tIns="0" lIns="0" bIns="0" rIns="0">
            <a:spAutoFit/>
          </a:bodyPr>
          <a:lstStyle/>
          <a:p>
            <a:pPr algn="just">
              <a:lnSpc>
                <a:spcPts val="6299"/>
              </a:lnSpc>
              <a:spcBef>
                <a:spcPct val="0"/>
              </a:spcBef>
            </a:pPr>
            <a:r>
              <a:rPr lang="en-US" sz="4500">
                <a:solidFill>
                  <a:srgbClr val="000000"/>
                </a:solidFill>
                <a:latin typeface="Montserrat Light"/>
                <a:ea typeface="Montserrat Light"/>
                <a:cs typeface="Montserrat Light"/>
                <a:sym typeface="Montserrat Light"/>
              </a:rPr>
              <a:t>Son variables que ayudan a llevar el control de una estructura. Se pueden describir como una dirección de memoria física en donde se almacena un dato.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TextBox 2" id="2"/>
          <p:cNvSpPr txBox="true"/>
          <p:nvPr/>
        </p:nvSpPr>
        <p:spPr>
          <a:xfrm rot="0">
            <a:off x="2175509" y="1699347"/>
            <a:ext cx="14387777" cy="1247753"/>
          </a:xfrm>
          <a:prstGeom prst="rect">
            <a:avLst/>
          </a:prstGeom>
        </p:spPr>
        <p:txBody>
          <a:bodyPr anchor="t" rtlCol="false" tIns="0" lIns="0" bIns="0" rIns="0">
            <a:spAutoFit/>
          </a:bodyPr>
          <a:lstStyle/>
          <a:p>
            <a:pPr algn="ctr">
              <a:lnSpc>
                <a:spcPts val="10262"/>
              </a:lnSpc>
              <a:spcBef>
                <a:spcPct val="0"/>
              </a:spcBef>
            </a:pPr>
            <a:r>
              <a:rPr lang="en-US" b="true" sz="7330">
                <a:solidFill>
                  <a:srgbClr val="000000"/>
                </a:solidFill>
                <a:latin typeface="Loubag Semi-Bold"/>
                <a:ea typeface="Loubag Semi-Bold"/>
                <a:cs typeface="Loubag Semi-Bold"/>
                <a:sym typeface="Loubag Semi-Bold"/>
              </a:rPr>
              <a:t>Listas</a:t>
            </a:r>
          </a:p>
        </p:txBody>
      </p:sp>
      <p:sp>
        <p:nvSpPr>
          <p:cNvPr name="TextBox 3" id="3"/>
          <p:cNvSpPr txBox="true"/>
          <p:nvPr/>
        </p:nvSpPr>
        <p:spPr>
          <a:xfrm rot="0">
            <a:off x="3394095" y="3828136"/>
            <a:ext cx="11499810" cy="2564053"/>
          </a:xfrm>
          <a:prstGeom prst="rect">
            <a:avLst/>
          </a:prstGeom>
        </p:spPr>
        <p:txBody>
          <a:bodyPr anchor="t" rtlCol="false" tIns="0" lIns="0" bIns="0" rIns="0">
            <a:spAutoFit/>
          </a:bodyPr>
          <a:lstStyle/>
          <a:p>
            <a:pPr algn="just">
              <a:lnSpc>
                <a:spcPts val="5149"/>
              </a:lnSpc>
              <a:spcBef>
                <a:spcPct val="0"/>
              </a:spcBef>
            </a:pPr>
            <a:r>
              <a:rPr lang="en-US" sz="3678">
                <a:solidFill>
                  <a:srgbClr val="000000"/>
                </a:solidFill>
                <a:latin typeface="Montserrat Light"/>
                <a:ea typeface="Montserrat Light"/>
                <a:cs typeface="Montserrat Light"/>
                <a:sym typeface="Montserrat Light"/>
              </a:rPr>
              <a:t>Una lista es una colección ordenada y mutable de elementos, que puede contener elementos de cualquier tipo de datos, incluidos otros objetos de listas. </a:t>
            </a:r>
          </a:p>
        </p:txBody>
      </p:sp>
      <p:sp>
        <p:nvSpPr>
          <p:cNvPr name="Freeform 4" id="4"/>
          <p:cNvSpPr/>
          <p:nvPr/>
        </p:nvSpPr>
        <p:spPr>
          <a:xfrm flipH="false" flipV="false" rot="-306770">
            <a:off x="-4494783" y="2987479"/>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12034" y="3683538"/>
            <a:ext cx="12593372" cy="9679254"/>
          </a:xfrm>
          <a:custGeom>
            <a:avLst/>
            <a:gdLst/>
            <a:ahLst/>
            <a:cxnLst/>
            <a:rect r="r" b="b" t="t" l="l"/>
            <a:pathLst>
              <a:path h="9679254" w="12593372">
                <a:moveTo>
                  <a:pt x="0" y="0"/>
                </a:moveTo>
                <a:lnTo>
                  <a:pt x="12593372" y="0"/>
                </a:lnTo>
                <a:lnTo>
                  <a:pt x="12593372" y="9679254"/>
                </a:lnTo>
                <a:lnTo>
                  <a:pt x="0" y="967925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6" id="6"/>
          <p:cNvSpPr/>
          <p:nvPr/>
        </p:nvSpPr>
        <p:spPr>
          <a:xfrm flipH="false" flipV="false" rot="1290039">
            <a:off x="-6407685" y="2158141"/>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TextBox 2" id="2"/>
          <p:cNvSpPr txBox="true"/>
          <p:nvPr/>
        </p:nvSpPr>
        <p:spPr>
          <a:xfrm rot="0">
            <a:off x="1844204" y="904875"/>
            <a:ext cx="15489780" cy="1038225"/>
          </a:xfrm>
          <a:prstGeom prst="rect">
            <a:avLst/>
          </a:prstGeom>
        </p:spPr>
        <p:txBody>
          <a:bodyPr anchor="t" rtlCol="false" tIns="0" lIns="0" bIns="0" rIns="0">
            <a:spAutoFit/>
          </a:bodyPr>
          <a:lstStyle/>
          <a:p>
            <a:pPr algn="ctr">
              <a:lnSpc>
                <a:spcPts val="8400"/>
              </a:lnSpc>
              <a:spcBef>
                <a:spcPct val="0"/>
              </a:spcBef>
            </a:pPr>
            <a:r>
              <a:rPr lang="en-US" b="true" sz="6000">
                <a:solidFill>
                  <a:srgbClr val="000000"/>
                </a:solidFill>
                <a:latin typeface="Loubag Semi-Bold"/>
                <a:ea typeface="Loubag Semi-Bold"/>
                <a:cs typeface="Loubag Semi-Bold"/>
                <a:sym typeface="Loubag Semi-Bold"/>
              </a:rPr>
              <a:t>Listas usando POO</a:t>
            </a:r>
          </a:p>
        </p:txBody>
      </p:sp>
      <p:sp>
        <p:nvSpPr>
          <p:cNvPr name="Freeform 3" id="3"/>
          <p:cNvSpPr/>
          <p:nvPr/>
        </p:nvSpPr>
        <p:spPr>
          <a:xfrm flipH="false" flipV="false" rot="-306770">
            <a:off x="-4494783" y="2987479"/>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12034" y="3683538"/>
            <a:ext cx="12593372" cy="9679254"/>
          </a:xfrm>
          <a:custGeom>
            <a:avLst/>
            <a:gdLst/>
            <a:ahLst/>
            <a:cxnLst/>
            <a:rect r="r" b="b" t="t" l="l"/>
            <a:pathLst>
              <a:path h="9679254" w="12593372">
                <a:moveTo>
                  <a:pt x="0" y="0"/>
                </a:moveTo>
                <a:lnTo>
                  <a:pt x="12593372" y="0"/>
                </a:lnTo>
                <a:lnTo>
                  <a:pt x="12593372" y="9679254"/>
                </a:lnTo>
                <a:lnTo>
                  <a:pt x="0" y="967925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5" id="5"/>
          <p:cNvSpPr/>
          <p:nvPr/>
        </p:nvSpPr>
        <p:spPr>
          <a:xfrm flipH="false" flipV="false" rot="1290039">
            <a:off x="-6407685" y="2158141"/>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508501" y="2785576"/>
            <a:ext cx="11135125" cy="5234863"/>
          </a:xfrm>
          <a:prstGeom prst="rect">
            <a:avLst/>
          </a:prstGeom>
        </p:spPr>
        <p:txBody>
          <a:bodyPr anchor="t" rtlCol="false" tIns="0" lIns="0" bIns="0" rIns="0">
            <a:spAutoFit/>
          </a:bodyPr>
          <a:lstStyle/>
          <a:p>
            <a:pPr algn="just">
              <a:lnSpc>
                <a:spcPts val="5989"/>
              </a:lnSpc>
              <a:spcBef>
                <a:spcPct val="0"/>
              </a:spcBef>
            </a:pPr>
            <a:r>
              <a:rPr lang="en-US" sz="4278">
                <a:solidFill>
                  <a:srgbClr val="000000"/>
                </a:solidFill>
                <a:latin typeface="Montserrat Light"/>
                <a:ea typeface="Montserrat Light"/>
                <a:cs typeface="Montserrat Light"/>
                <a:sym typeface="Montserrat Light"/>
              </a:rPr>
              <a:t>En Python, además de usar las listas integradas, es posible crear listas personalizadas utilizando clases y punteros. Estas listas utilizan nodos, los nodos contienen atributos y punteros a otros nodos, permitiendo estructuras de datos más flexibles y personalizadas.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TextBox 2" id="2"/>
          <p:cNvSpPr txBox="true"/>
          <p:nvPr/>
        </p:nvSpPr>
        <p:spPr>
          <a:xfrm rot="0">
            <a:off x="1399110" y="904875"/>
            <a:ext cx="15489780" cy="1038225"/>
          </a:xfrm>
          <a:prstGeom prst="rect">
            <a:avLst/>
          </a:prstGeom>
        </p:spPr>
        <p:txBody>
          <a:bodyPr anchor="t" rtlCol="false" tIns="0" lIns="0" bIns="0" rIns="0">
            <a:spAutoFit/>
          </a:bodyPr>
          <a:lstStyle/>
          <a:p>
            <a:pPr algn="ctr">
              <a:lnSpc>
                <a:spcPts val="8400"/>
              </a:lnSpc>
              <a:spcBef>
                <a:spcPct val="0"/>
              </a:spcBef>
            </a:pPr>
            <a:r>
              <a:rPr lang="en-US" b="true" sz="6000">
                <a:solidFill>
                  <a:srgbClr val="000000"/>
                </a:solidFill>
                <a:latin typeface="Loubag Semi-Bold"/>
                <a:ea typeface="Loubag Semi-Bold"/>
                <a:cs typeface="Loubag Semi-Bold"/>
                <a:sym typeface="Loubag Semi-Bold"/>
              </a:rPr>
              <a:t>Nodo</a:t>
            </a:r>
          </a:p>
        </p:txBody>
      </p:sp>
      <p:sp>
        <p:nvSpPr>
          <p:cNvPr name="Freeform 3" id="3"/>
          <p:cNvSpPr/>
          <p:nvPr/>
        </p:nvSpPr>
        <p:spPr>
          <a:xfrm flipH="false" flipV="false" rot="-306770">
            <a:off x="-4494783" y="2987479"/>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12034" y="3683538"/>
            <a:ext cx="12593372" cy="9679254"/>
          </a:xfrm>
          <a:custGeom>
            <a:avLst/>
            <a:gdLst/>
            <a:ahLst/>
            <a:cxnLst/>
            <a:rect r="r" b="b" t="t" l="l"/>
            <a:pathLst>
              <a:path h="9679254" w="12593372">
                <a:moveTo>
                  <a:pt x="0" y="0"/>
                </a:moveTo>
                <a:lnTo>
                  <a:pt x="12593372" y="0"/>
                </a:lnTo>
                <a:lnTo>
                  <a:pt x="12593372" y="9679254"/>
                </a:lnTo>
                <a:lnTo>
                  <a:pt x="0" y="967925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5" id="5"/>
          <p:cNvSpPr/>
          <p:nvPr/>
        </p:nvSpPr>
        <p:spPr>
          <a:xfrm flipH="false" flipV="false" rot="1290039">
            <a:off x="-6407685" y="2158141"/>
            <a:ext cx="12639279" cy="11283429"/>
          </a:xfrm>
          <a:custGeom>
            <a:avLst/>
            <a:gdLst/>
            <a:ahLst/>
            <a:cxnLst/>
            <a:rect r="r" b="b" t="t" l="l"/>
            <a:pathLst>
              <a:path h="11283429" w="12639279">
                <a:moveTo>
                  <a:pt x="0" y="0"/>
                </a:moveTo>
                <a:lnTo>
                  <a:pt x="12639279" y="0"/>
                </a:lnTo>
                <a:lnTo>
                  <a:pt x="12639279" y="11283429"/>
                </a:lnTo>
                <a:lnTo>
                  <a:pt x="0" y="11283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576437" y="3992918"/>
            <a:ext cx="11135125" cy="2224963"/>
          </a:xfrm>
          <a:prstGeom prst="rect">
            <a:avLst/>
          </a:prstGeom>
        </p:spPr>
        <p:txBody>
          <a:bodyPr anchor="t" rtlCol="false" tIns="0" lIns="0" bIns="0" rIns="0">
            <a:spAutoFit/>
          </a:bodyPr>
          <a:lstStyle/>
          <a:p>
            <a:pPr algn="just">
              <a:lnSpc>
                <a:spcPts val="5989"/>
              </a:lnSpc>
              <a:spcBef>
                <a:spcPct val="0"/>
              </a:spcBef>
            </a:pPr>
            <a:r>
              <a:rPr lang="en-US" sz="4278">
                <a:solidFill>
                  <a:srgbClr val="000000"/>
                </a:solidFill>
                <a:latin typeface="Montserrat Light"/>
                <a:ea typeface="Montserrat Light"/>
                <a:cs typeface="Montserrat Light"/>
                <a:sym typeface="Montserrat Light"/>
              </a:rPr>
              <a:t>Almacena valores o datos y contienen referencias o punteros a otros nodos, lo que permite la conexión entre ellos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9770323">
            <a:off x="938294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077093">
            <a:off x="11052404" y="-3238145"/>
            <a:ext cx="12039468" cy="9253524"/>
          </a:xfrm>
          <a:custGeom>
            <a:avLst/>
            <a:gdLst/>
            <a:ahLst/>
            <a:cxnLst/>
            <a:rect r="r" b="b" t="t" l="l"/>
            <a:pathLst>
              <a:path h="9253524" w="12039468">
                <a:moveTo>
                  <a:pt x="0" y="0"/>
                </a:moveTo>
                <a:lnTo>
                  <a:pt x="12039468" y="0"/>
                </a:lnTo>
                <a:lnTo>
                  <a:pt x="12039468" y="9253524"/>
                </a:lnTo>
                <a:lnTo>
                  <a:pt x="0" y="925352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4" id="4"/>
          <p:cNvSpPr/>
          <p:nvPr/>
        </p:nvSpPr>
        <p:spPr>
          <a:xfrm flipH="false" flipV="false" rot="-10232867">
            <a:off x="1057161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177460" y="4232985"/>
            <a:ext cx="9081840" cy="2194173"/>
          </a:xfrm>
          <a:custGeom>
            <a:avLst/>
            <a:gdLst/>
            <a:ahLst/>
            <a:cxnLst/>
            <a:rect r="r" b="b" t="t" l="l"/>
            <a:pathLst>
              <a:path h="2194173" w="9081840">
                <a:moveTo>
                  <a:pt x="0" y="0"/>
                </a:moveTo>
                <a:lnTo>
                  <a:pt x="9081840" y="0"/>
                </a:lnTo>
                <a:lnTo>
                  <a:pt x="9081840" y="2194173"/>
                </a:lnTo>
                <a:lnTo>
                  <a:pt x="0" y="2194173"/>
                </a:lnTo>
                <a:lnTo>
                  <a:pt x="0" y="0"/>
                </a:lnTo>
                <a:close/>
              </a:path>
            </a:pathLst>
          </a:custGeom>
          <a:blipFill>
            <a:blip r:embed="rId8"/>
            <a:stretch>
              <a:fillRect l="0" t="0" r="0" b="0"/>
            </a:stretch>
          </a:blipFill>
        </p:spPr>
      </p:sp>
      <p:sp>
        <p:nvSpPr>
          <p:cNvPr name="TextBox 6" id="6"/>
          <p:cNvSpPr txBox="true"/>
          <p:nvPr/>
        </p:nvSpPr>
        <p:spPr>
          <a:xfrm rot="0">
            <a:off x="1028700" y="885825"/>
            <a:ext cx="7483896" cy="4037824"/>
          </a:xfrm>
          <a:prstGeom prst="rect">
            <a:avLst/>
          </a:prstGeom>
        </p:spPr>
        <p:txBody>
          <a:bodyPr anchor="t" rtlCol="false" tIns="0" lIns="0" bIns="0" rIns="0">
            <a:spAutoFit/>
          </a:bodyPr>
          <a:lstStyle/>
          <a:p>
            <a:pPr algn="l">
              <a:lnSpc>
                <a:spcPts val="10768"/>
              </a:lnSpc>
              <a:spcBef>
                <a:spcPct val="0"/>
              </a:spcBef>
            </a:pPr>
            <a:r>
              <a:rPr lang="en-US" b="true" sz="7692">
                <a:solidFill>
                  <a:srgbClr val="000000"/>
                </a:solidFill>
                <a:latin typeface="Loubag Semi-Bold"/>
                <a:ea typeface="Loubag Semi-Bold"/>
                <a:cs typeface="Loubag Semi-Bold"/>
                <a:sym typeface="Loubag Semi-Bold"/>
              </a:rPr>
              <a:t>Lista simplemente enlazada</a:t>
            </a:r>
          </a:p>
        </p:txBody>
      </p:sp>
      <p:sp>
        <p:nvSpPr>
          <p:cNvPr name="TextBox 7" id="7"/>
          <p:cNvSpPr txBox="true"/>
          <p:nvPr/>
        </p:nvSpPr>
        <p:spPr>
          <a:xfrm rot="0">
            <a:off x="1028700" y="5253872"/>
            <a:ext cx="6019933" cy="3498495"/>
          </a:xfrm>
          <a:prstGeom prst="rect">
            <a:avLst/>
          </a:prstGeom>
        </p:spPr>
        <p:txBody>
          <a:bodyPr anchor="t" rtlCol="false" tIns="0" lIns="0" bIns="0" rIns="0">
            <a:spAutoFit/>
          </a:bodyPr>
          <a:lstStyle/>
          <a:p>
            <a:pPr algn="just">
              <a:lnSpc>
                <a:spcPts val="5619"/>
              </a:lnSpc>
              <a:spcBef>
                <a:spcPct val="0"/>
              </a:spcBef>
            </a:pPr>
            <a:r>
              <a:rPr lang="en-US" sz="4013">
                <a:solidFill>
                  <a:srgbClr val="000000"/>
                </a:solidFill>
                <a:latin typeface="Montserrat Light"/>
                <a:ea typeface="Montserrat Light"/>
                <a:cs typeface="Montserrat Light"/>
                <a:sym typeface="Montserrat Light"/>
              </a:rPr>
              <a:t>Es una estructura en la que cada nodo contiene un valor y una referencia al siguiente nodo en la secuencia.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0">
            <a:off x="8060491" y="3925828"/>
            <a:ext cx="10323396" cy="3178044"/>
          </a:xfrm>
          <a:custGeom>
            <a:avLst/>
            <a:gdLst/>
            <a:ahLst/>
            <a:cxnLst/>
            <a:rect r="r" b="b" t="t" l="l"/>
            <a:pathLst>
              <a:path h="3178044" w="10323396">
                <a:moveTo>
                  <a:pt x="0" y="0"/>
                </a:moveTo>
                <a:lnTo>
                  <a:pt x="10323395" y="0"/>
                </a:lnTo>
                <a:lnTo>
                  <a:pt x="10323395" y="3178045"/>
                </a:lnTo>
                <a:lnTo>
                  <a:pt x="0" y="3178045"/>
                </a:lnTo>
                <a:lnTo>
                  <a:pt x="0" y="0"/>
                </a:lnTo>
                <a:close/>
              </a:path>
            </a:pathLst>
          </a:custGeom>
          <a:blipFill>
            <a:blip r:embed="rId2"/>
            <a:stretch>
              <a:fillRect l="0" t="-121" r="0" b="-121"/>
            </a:stretch>
          </a:blipFill>
        </p:spPr>
      </p:sp>
      <p:sp>
        <p:nvSpPr>
          <p:cNvPr name="Freeform 3" id="3"/>
          <p:cNvSpPr/>
          <p:nvPr/>
        </p:nvSpPr>
        <p:spPr>
          <a:xfrm flipH="false" flipV="false" rot="9770323">
            <a:off x="938294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077093">
            <a:off x="11052404" y="-3238145"/>
            <a:ext cx="12039468" cy="9253524"/>
          </a:xfrm>
          <a:custGeom>
            <a:avLst/>
            <a:gdLst/>
            <a:ahLst/>
            <a:cxnLst/>
            <a:rect r="r" b="b" t="t" l="l"/>
            <a:pathLst>
              <a:path h="9253524" w="12039468">
                <a:moveTo>
                  <a:pt x="0" y="0"/>
                </a:moveTo>
                <a:lnTo>
                  <a:pt x="12039468" y="0"/>
                </a:lnTo>
                <a:lnTo>
                  <a:pt x="12039468" y="9253524"/>
                </a:lnTo>
                <a:lnTo>
                  <a:pt x="0" y="9253524"/>
                </a:lnTo>
                <a:lnTo>
                  <a:pt x="0" y="0"/>
                </a:lnTo>
                <a:close/>
              </a:path>
            </a:pathLst>
          </a:custGeom>
          <a:blipFill>
            <a:blip r:embed="rId5">
              <a:extLst>
                <a:ext uri="{96DAC541-7B7A-43D3-8B79-37D633B846F1}">
                  <asvg:svgBlip xmlns:asvg="http://schemas.microsoft.com/office/drawing/2016/SVG/main" r:embed="rId6"/>
                </a:ext>
              </a:extLst>
            </a:blip>
            <a:stretch>
              <a:fillRect l="0" t="-16573" r="-364" b="0"/>
            </a:stretch>
          </a:blipFill>
        </p:spPr>
      </p:sp>
      <p:sp>
        <p:nvSpPr>
          <p:cNvPr name="Freeform 5" id="5"/>
          <p:cNvSpPr/>
          <p:nvPr/>
        </p:nvSpPr>
        <p:spPr>
          <a:xfrm flipH="false" flipV="false" rot="-10232867">
            <a:off x="1057161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028700" y="885825"/>
            <a:ext cx="7453460" cy="4037824"/>
          </a:xfrm>
          <a:prstGeom prst="rect">
            <a:avLst/>
          </a:prstGeom>
        </p:spPr>
        <p:txBody>
          <a:bodyPr anchor="t" rtlCol="false" tIns="0" lIns="0" bIns="0" rIns="0">
            <a:spAutoFit/>
          </a:bodyPr>
          <a:lstStyle/>
          <a:p>
            <a:pPr algn="l">
              <a:lnSpc>
                <a:spcPts val="10768"/>
              </a:lnSpc>
              <a:spcBef>
                <a:spcPct val="0"/>
              </a:spcBef>
            </a:pPr>
            <a:r>
              <a:rPr lang="en-US" b="true" sz="7692">
                <a:solidFill>
                  <a:srgbClr val="000000"/>
                </a:solidFill>
                <a:latin typeface="Loubag Semi-Bold"/>
                <a:ea typeface="Loubag Semi-Bold"/>
                <a:cs typeface="Loubag Semi-Bold"/>
                <a:sym typeface="Loubag Semi-Bold"/>
              </a:rPr>
              <a:t>Lista doblemente enlazada</a:t>
            </a:r>
          </a:p>
        </p:txBody>
      </p:sp>
      <p:sp>
        <p:nvSpPr>
          <p:cNvPr name="TextBox 7" id="7"/>
          <p:cNvSpPr txBox="true"/>
          <p:nvPr/>
        </p:nvSpPr>
        <p:spPr>
          <a:xfrm rot="0">
            <a:off x="1028700" y="5438651"/>
            <a:ext cx="6763841" cy="3498495"/>
          </a:xfrm>
          <a:prstGeom prst="rect">
            <a:avLst/>
          </a:prstGeom>
        </p:spPr>
        <p:txBody>
          <a:bodyPr anchor="t" rtlCol="false" tIns="0" lIns="0" bIns="0" rIns="0">
            <a:spAutoFit/>
          </a:bodyPr>
          <a:lstStyle/>
          <a:p>
            <a:pPr algn="just">
              <a:lnSpc>
                <a:spcPts val="5619"/>
              </a:lnSpc>
              <a:spcBef>
                <a:spcPct val="0"/>
              </a:spcBef>
            </a:pPr>
            <a:r>
              <a:rPr lang="en-US" sz="4013">
                <a:solidFill>
                  <a:srgbClr val="000000"/>
                </a:solidFill>
                <a:latin typeface="Montserrat Light"/>
                <a:ea typeface="Montserrat Light"/>
                <a:cs typeface="Montserrat Light"/>
                <a:sym typeface="Montserrat Light"/>
              </a:rPr>
              <a:t>Similar a una lista enlazada, pero cada nodo contiene dos referencias: una al nodo siguiente y otra al nodo anterior.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9770323">
            <a:off x="938294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077093">
            <a:off x="11052404" y="-3238145"/>
            <a:ext cx="12039468" cy="9253524"/>
          </a:xfrm>
          <a:custGeom>
            <a:avLst/>
            <a:gdLst/>
            <a:ahLst/>
            <a:cxnLst/>
            <a:rect r="r" b="b" t="t" l="l"/>
            <a:pathLst>
              <a:path h="9253524" w="12039468">
                <a:moveTo>
                  <a:pt x="0" y="0"/>
                </a:moveTo>
                <a:lnTo>
                  <a:pt x="12039468" y="0"/>
                </a:lnTo>
                <a:lnTo>
                  <a:pt x="12039468" y="9253524"/>
                </a:lnTo>
                <a:lnTo>
                  <a:pt x="0" y="925352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4" id="4"/>
          <p:cNvSpPr/>
          <p:nvPr/>
        </p:nvSpPr>
        <p:spPr>
          <a:xfrm flipH="false" flipV="false" rot="-10232867">
            <a:off x="1057161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060491" y="4663314"/>
            <a:ext cx="9722940" cy="2506696"/>
          </a:xfrm>
          <a:custGeom>
            <a:avLst/>
            <a:gdLst/>
            <a:ahLst/>
            <a:cxnLst/>
            <a:rect r="r" b="b" t="t" l="l"/>
            <a:pathLst>
              <a:path h="2506696" w="9722940">
                <a:moveTo>
                  <a:pt x="0" y="0"/>
                </a:moveTo>
                <a:lnTo>
                  <a:pt x="9722940" y="0"/>
                </a:lnTo>
                <a:lnTo>
                  <a:pt x="9722940" y="2506695"/>
                </a:lnTo>
                <a:lnTo>
                  <a:pt x="0" y="2506695"/>
                </a:lnTo>
                <a:lnTo>
                  <a:pt x="0" y="0"/>
                </a:lnTo>
                <a:close/>
              </a:path>
            </a:pathLst>
          </a:custGeom>
          <a:blipFill>
            <a:blip r:embed="rId8"/>
            <a:stretch>
              <a:fillRect l="0" t="0" r="0" b="0"/>
            </a:stretch>
          </a:blipFill>
        </p:spPr>
      </p:sp>
      <p:sp>
        <p:nvSpPr>
          <p:cNvPr name="TextBox 6" id="6"/>
          <p:cNvSpPr txBox="true"/>
          <p:nvPr/>
        </p:nvSpPr>
        <p:spPr>
          <a:xfrm rot="0">
            <a:off x="1028700" y="885825"/>
            <a:ext cx="7856550" cy="1310938"/>
          </a:xfrm>
          <a:prstGeom prst="rect">
            <a:avLst/>
          </a:prstGeom>
        </p:spPr>
        <p:txBody>
          <a:bodyPr anchor="t" rtlCol="false" tIns="0" lIns="0" bIns="0" rIns="0">
            <a:spAutoFit/>
          </a:bodyPr>
          <a:lstStyle/>
          <a:p>
            <a:pPr algn="l">
              <a:lnSpc>
                <a:spcPts val="10768"/>
              </a:lnSpc>
              <a:spcBef>
                <a:spcPct val="0"/>
              </a:spcBef>
            </a:pPr>
            <a:r>
              <a:rPr lang="en-US" b="true" sz="7692">
                <a:solidFill>
                  <a:srgbClr val="000000"/>
                </a:solidFill>
                <a:latin typeface="Loubag Semi-Bold"/>
                <a:ea typeface="Loubag Semi-Bold"/>
                <a:cs typeface="Loubag Semi-Bold"/>
                <a:sym typeface="Loubag Semi-Bold"/>
              </a:rPr>
              <a:t>Lista Circular</a:t>
            </a:r>
          </a:p>
        </p:txBody>
      </p:sp>
      <p:sp>
        <p:nvSpPr>
          <p:cNvPr name="TextBox 7" id="7"/>
          <p:cNvSpPr txBox="true"/>
          <p:nvPr/>
        </p:nvSpPr>
        <p:spPr>
          <a:xfrm rot="0">
            <a:off x="1028700" y="2940405"/>
            <a:ext cx="6368178" cy="6317895"/>
          </a:xfrm>
          <a:prstGeom prst="rect">
            <a:avLst/>
          </a:prstGeom>
        </p:spPr>
        <p:txBody>
          <a:bodyPr anchor="t" rtlCol="false" tIns="0" lIns="0" bIns="0" rIns="0">
            <a:spAutoFit/>
          </a:bodyPr>
          <a:lstStyle/>
          <a:p>
            <a:pPr algn="just">
              <a:lnSpc>
                <a:spcPts val="5619"/>
              </a:lnSpc>
              <a:spcBef>
                <a:spcPct val="0"/>
              </a:spcBef>
            </a:pPr>
            <a:r>
              <a:rPr lang="en-US" sz="4013">
                <a:solidFill>
                  <a:srgbClr val="000000"/>
                </a:solidFill>
                <a:latin typeface="Montserrat Light"/>
                <a:ea typeface="Montserrat Light"/>
                <a:cs typeface="Montserrat Light"/>
                <a:sym typeface="Montserrat Light"/>
              </a:rPr>
              <a:t>Una lista circular es una variación de la lista enlazada donde el último nodo apunta al primer nodo, creando un ciclo. Esto significa que se puede recorrer la lista indefinidamente desde cualquier punto.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9770323">
            <a:off x="938294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077093">
            <a:off x="11052404" y="-3238145"/>
            <a:ext cx="12039468" cy="9253524"/>
          </a:xfrm>
          <a:custGeom>
            <a:avLst/>
            <a:gdLst/>
            <a:ahLst/>
            <a:cxnLst/>
            <a:rect r="r" b="b" t="t" l="l"/>
            <a:pathLst>
              <a:path h="9253524" w="12039468">
                <a:moveTo>
                  <a:pt x="0" y="0"/>
                </a:moveTo>
                <a:lnTo>
                  <a:pt x="12039468" y="0"/>
                </a:lnTo>
                <a:lnTo>
                  <a:pt x="12039468" y="9253524"/>
                </a:lnTo>
                <a:lnTo>
                  <a:pt x="0" y="925352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4" id="4"/>
          <p:cNvSpPr/>
          <p:nvPr/>
        </p:nvSpPr>
        <p:spPr>
          <a:xfrm flipH="false" flipV="false" rot="-10232867">
            <a:off x="1057161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2371429"/>
            <a:ext cx="7856550" cy="5401267"/>
          </a:xfrm>
          <a:prstGeom prst="rect">
            <a:avLst/>
          </a:prstGeom>
        </p:spPr>
        <p:txBody>
          <a:bodyPr anchor="t" rtlCol="false" tIns="0" lIns="0" bIns="0" rIns="0">
            <a:spAutoFit/>
          </a:bodyPr>
          <a:lstStyle/>
          <a:p>
            <a:pPr algn="l">
              <a:lnSpc>
                <a:spcPts val="10768"/>
              </a:lnSpc>
              <a:spcBef>
                <a:spcPct val="0"/>
              </a:spcBef>
            </a:pPr>
            <a:r>
              <a:rPr lang="en-US" b="true" sz="7692">
                <a:solidFill>
                  <a:srgbClr val="000000"/>
                </a:solidFill>
                <a:latin typeface="Loubag Semi-Bold"/>
                <a:ea typeface="Loubag Semi-Bold"/>
                <a:cs typeface="Loubag Semi-Bold"/>
                <a:sym typeface="Loubag Semi-Bold"/>
              </a:rPr>
              <a:t>Diferencia entre lista circular y no circular</a:t>
            </a:r>
          </a:p>
        </p:txBody>
      </p:sp>
      <p:sp>
        <p:nvSpPr>
          <p:cNvPr name="TextBox 6" id="6"/>
          <p:cNvSpPr txBox="true"/>
          <p:nvPr/>
        </p:nvSpPr>
        <p:spPr>
          <a:xfrm rot="0">
            <a:off x="7479409" y="2438104"/>
            <a:ext cx="8847823" cy="4203345"/>
          </a:xfrm>
          <a:prstGeom prst="rect">
            <a:avLst/>
          </a:prstGeom>
        </p:spPr>
        <p:txBody>
          <a:bodyPr anchor="t" rtlCol="false" tIns="0" lIns="0" bIns="0" rIns="0">
            <a:spAutoFit/>
          </a:bodyPr>
          <a:lstStyle/>
          <a:p>
            <a:pPr algn="just" marL="866616" indent="-433308" lvl="1">
              <a:lnSpc>
                <a:spcPts val="5619"/>
              </a:lnSpc>
              <a:buFont typeface="Arial"/>
              <a:buChar char="•"/>
            </a:pPr>
            <a:r>
              <a:rPr lang="en-US" b="true" sz="4013">
                <a:solidFill>
                  <a:srgbClr val="000000"/>
                </a:solidFill>
                <a:latin typeface="Montserrat Bold"/>
                <a:ea typeface="Montserrat Bold"/>
                <a:cs typeface="Montserrat Bold"/>
                <a:sym typeface="Montserrat Bold"/>
              </a:rPr>
              <a:t>Lista no circular:</a:t>
            </a:r>
            <a:r>
              <a:rPr lang="en-US" sz="4013">
                <a:solidFill>
                  <a:srgbClr val="000000"/>
                </a:solidFill>
                <a:latin typeface="Montserrat Light"/>
                <a:ea typeface="Montserrat Light"/>
                <a:cs typeface="Montserrat Light"/>
                <a:sym typeface="Montserrat Light"/>
              </a:rPr>
              <a:t> tiene inicio y final; el último nodo apunta a null.</a:t>
            </a:r>
          </a:p>
          <a:p>
            <a:pPr algn="just" marL="866616" indent="-433308" lvl="1">
              <a:lnSpc>
                <a:spcPts val="5619"/>
              </a:lnSpc>
              <a:spcBef>
                <a:spcPct val="0"/>
              </a:spcBef>
              <a:buFont typeface="Arial"/>
              <a:buChar char="•"/>
            </a:pPr>
            <a:r>
              <a:rPr lang="en-US" b="true" sz="4013">
                <a:solidFill>
                  <a:srgbClr val="000000"/>
                </a:solidFill>
                <a:latin typeface="Montserrat Bold"/>
                <a:ea typeface="Montserrat Bold"/>
                <a:cs typeface="Montserrat Bold"/>
                <a:sym typeface="Montserrat Bold"/>
              </a:rPr>
              <a:t>Lista circular:</a:t>
            </a:r>
            <a:r>
              <a:rPr lang="en-US" sz="4013">
                <a:solidFill>
                  <a:srgbClr val="000000"/>
                </a:solidFill>
                <a:latin typeface="Montserrat Light"/>
                <a:ea typeface="Montserrat Light"/>
                <a:cs typeface="Montserrat Light"/>
                <a:sym typeface="Montserrat Light"/>
              </a:rPr>
              <a:t> no tiene final; el último nodo se enlaza al primero</a:t>
            </a:r>
          </a:p>
        </p:txBody>
      </p:sp>
      <p:sp>
        <p:nvSpPr>
          <p:cNvPr name="TextBox 7" id="7"/>
          <p:cNvSpPr txBox="true"/>
          <p:nvPr/>
        </p:nvSpPr>
        <p:spPr>
          <a:xfrm rot="0">
            <a:off x="5469153" y="7169505"/>
            <a:ext cx="11790147" cy="2088795"/>
          </a:xfrm>
          <a:prstGeom prst="rect">
            <a:avLst/>
          </a:prstGeom>
        </p:spPr>
        <p:txBody>
          <a:bodyPr anchor="t" rtlCol="false" tIns="0" lIns="0" bIns="0" rIns="0">
            <a:spAutoFit/>
          </a:bodyPr>
          <a:lstStyle/>
          <a:p>
            <a:pPr algn="just">
              <a:lnSpc>
                <a:spcPts val="5619"/>
              </a:lnSpc>
            </a:pPr>
            <a:r>
              <a:rPr lang="en-US" sz="4013">
                <a:solidFill>
                  <a:srgbClr val="000000"/>
                </a:solidFill>
                <a:latin typeface="Montserrat"/>
                <a:ea typeface="Montserrat"/>
                <a:cs typeface="Montserrat"/>
                <a:sym typeface="Montserrat"/>
              </a:rPr>
              <a:t>La diferencia esta en el último nodo: en la lista no circular, apunta a null; en la circular, apunta al inicio, formando un ciclo cerrado.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9770323">
            <a:off x="938294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077093">
            <a:off x="11052404" y="-3238145"/>
            <a:ext cx="12039468" cy="9253524"/>
          </a:xfrm>
          <a:custGeom>
            <a:avLst/>
            <a:gdLst/>
            <a:ahLst/>
            <a:cxnLst/>
            <a:rect r="r" b="b" t="t" l="l"/>
            <a:pathLst>
              <a:path h="9253524" w="12039468">
                <a:moveTo>
                  <a:pt x="0" y="0"/>
                </a:moveTo>
                <a:lnTo>
                  <a:pt x="12039468" y="0"/>
                </a:lnTo>
                <a:lnTo>
                  <a:pt x="12039468" y="9253524"/>
                </a:lnTo>
                <a:lnTo>
                  <a:pt x="0" y="925352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4" id="4"/>
          <p:cNvSpPr/>
          <p:nvPr/>
        </p:nvSpPr>
        <p:spPr>
          <a:xfrm flipH="false" flipV="false" rot="-10232867">
            <a:off x="1057161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287450" y="371480"/>
            <a:ext cx="7856550" cy="4037824"/>
          </a:xfrm>
          <a:prstGeom prst="rect">
            <a:avLst/>
          </a:prstGeom>
        </p:spPr>
        <p:txBody>
          <a:bodyPr anchor="t" rtlCol="false" tIns="0" lIns="0" bIns="0" rIns="0">
            <a:spAutoFit/>
          </a:bodyPr>
          <a:lstStyle/>
          <a:p>
            <a:pPr algn="l">
              <a:lnSpc>
                <a:spcPts val="10768"/>
              </a:lnSpc>
              <a:spcBef>
                <a:spcPct val="0"/>
              </a:spcBef>
            </a:pPr>
            <a:r>
              <a:rPr lang="en-US" b="true" sz="7692">
                <a:solidFill>
                  <a:srgbClr val="000000"/>
                </a:solidFill>
                <a:latin typeface="Loubag Semi-Bold"/>
                <a:ea typeface="Loubag Semi-Bold"/>
                <a:cs typeface="Loubag Semi-Bold"/>
                <a:sym typeface="Loubag Semi-Bold"/>
              </a:rPr>
              <a:t>Lista Doblemente Circular</a:t>
            </a:r>
          </a:p>
        </p:txBody>
      </p:sp>
      <p:sp>
        <p:nvSpPr>
          <p:cNvPr name="TextBox 6" id="6"/>
          <p:cNvSpPr txBox="true"/>
          <p:nvPr/>
        </p:nvSpPr>
        <p:spPr>
          <a:xfrm rot="0">
            <a:off x="1287450" y="4687337"/>
            <a:ext cx="5936287" cy="4570963"/>
          </a:xfrm>
          <a:prstGeom prst="rect">
            <a:avLst/>
          </a:prstGeom>
        </p:spPr>
        <p:txBody>
          <a:bodyPr anchor="t" rtlCol="false" tIns="0" lIns="0" bIns="0" rIns="0">
            <a:spAutoFit/>
          </a:bodyPr>
          <a:lstStyle/>
          <a:p>
            <a:pPr algn="just">
              <a:lnSpc>
                <a:spcPts val="5238"/>
              </a:lnSpc>
              <a:spcBef>
                <a:spcPct val="0"/>
              </a:spcBef>
            </a:pPr>
            <a:r>
              <a:rPr lang="en-US" sz="3741">
                <a:solidFill>
                  <a:srgbClr val="000000"/>
                </a:solidFill>
                <a:latin typeface="Montserrat Light"/>
                <a:ea typeface="Montserrat Light"/>
                <a:cs typeface="Montserrat Light"/>
                <a:sym typeface="Montserrat Light"/>
              </a:rPr>
              <a:t>Una lista doblemente circular es una lista doblemente enlazada en la que el último nodo está conectado al primero y el primero al último</a:t>
            </a:r>
          </a:p>
        </p:txBody>
      </p:sp>
      <p:sp>
        <p:nvSpPr>
          <p:cNvPr name="Freeform 7" id="7"/>
          <p:cNvSpPr/>
          <p:nvPr/>
        </p:nvSpPr>
        <p:spPr>
          <a:xfrm flipH="false" flipV="false" rot="0">
            <a:off x="7835269" y="5691460"/>
            <a:ext cx="10104624" cy="1856572"/>
          </a:xfrm>
          <a:custGeom>
            <a:avLst/>
            <a:gdLst/>
            <a:ahLst/>
            <a:cxnLst/>
            <a:rect r="r" b="b" t="t" l="l"/>
            <a:pathLst>
              <a:path h="1856572" w="10104624">
                <a:moveTo>
                  <a:pt x="0" y="0"/>
                </a:moveTo>
                <a:lnTo>
                  <a:pt x="10104624" y="0"/>
                </a:lnTo>
                <a:lnTo>
                  <a:pt x="10104624" y="1856572"/>
                </a:lnTo>
                <a:lnTo>
                  <a:pt x="0" y="1856572"/>
                </a:lnTo>
                <a:lnTo>
                  <a:pt x="0" y="0"/>
                </a:lnTo>
                <a:close/>
              </a:path>
            </a:pathLst>
          </a:custGeom>
          <a:blipFill>
            <a:blip r:embed="rId8"/>
            <a:stretch>
              <a:fillRect l="-2824" t="-81703" r="-2221" b="-7919"/>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5EE"/>
        </a:solidFill>
      </p:bgPr>
    </p:bg>
    <p:spTree>
      <p:nvGrpSpPr>
        <p:cNvPr id="1" name=""/>
        <p:cNvGrpSpPr/>
        <p:nvPr/>
      </p:nvGrpSpPr>
      <p:grpSpPr>
        <a:xfrm>
          <a:off x="0" y="0"/>
          <a:ext cx="0" cy="0"/>
          <a:chOff x="0" y="0"/>
          <a:chExt cx="0" cy="0"/>
        </a:xfrm>
      </p:grpSpPr>
      <p:sp>
        <p:nvSpPr>
          <p:cNvPr name="Freeform 2" id="2"/>
          <p:cNvSpPr/>
          <p:nvPr/>
        </p:nvSpPr>
        <p:spPr>
          <a:xfrm flipH="false" flipV="false" rot="9770323">
            <a:off x="938294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077093">
            <a:off x="11052404" y="-3238145"/>
            <a:ext cx="12039468" cy="9253524"/>
          </a:xfrm>
          <a:custGeom>
            <a:avLst/>
            <a:gdLst/>
            <a:ahLst/>
            <a:cxnLst/>
            <a:rect r="r" b="b" t="t" l="l"/>
            <a:pathLst>
              <a:path h="9253524" w="12039468">
                <a:moveTo>
                  <a:pt x="0" y="0"/>
                </a:moveTo>
                <a:lnTo>
                  <a:pt x="12039468" y="0"/>
                </a:lnTo>
                <a:lnTo>
                  <a:pt x="12039468" y="9253524"/>
                </a:lnTo>
                <a:lnTo>
                  <a:pt x="0" y="9253524"/>
                </a:lnTo>
                <a:lnTo>
                  <a:pt x="0" y="0"/>
                </a:lnTo>
                <a:close/>
              </a:path>
            </a:pathLst>
          </a:custGeom>
          <a:blipFill>
            <a:blip r:embed="rId4">
              <a:extLst>
                <a:ext uri="{96DAC541-7B7A-43D3-8B79-37D633B846F1}">
                  <asvg:svgBlip xmlns:asvg="http://schemas.microsoft.com/office/drawing/2016/SVG/main" r:embed="rId5"/>
                </a:ext>
              </a:extLst>
            </a:blip>
            <a:stretch>
              <a:fillRect l="0" t="-16573" r="-364" b="0"/>
            </a:stretch>
          </a:blipFill>
        </p:spPr>
      </p:sp>
      <p:sp>
        <p:nvSpPr>
          <p:cNvPr name="Freeform 4" id="4"/>
          <p:cNvSpPr/>
          <p:nvPr/>
        </p:nvSpPr>
        <p:spPr>
          <a:xfrm flipH="false" flipV="false" rot="-10232867">
            <a:off x="10571613" y="-3473810"/>
            <a:ext cx="12083356" cy="10787141"/>
          </a:xfrm>
          <a:custGeom>
            <a:avLst/>
            <a:gdLst/>
            <a:ahLst/>
            <a:cxnLst/>
            <a:rect r="r" b="b" t="t" l="l"/>
            <a:pathLst>
              <a:path h="10787141" w="12083356">
                <a:moveTo>
                  <a:pt x="0" y="0"/>
                </a:moveTo>
                <a:lnTo>
                  <a:pt x="12083356" y="0"/>
                </a:lnTo>
                <a:lnTo>
                  <a:pt x="12083356" y="10787141"/>
                </a:lnTo>
                <a:lnTo>
                  <a:pt x="0" y="10787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19226" y="3230764"/>
            <a:ext cx="6845408" cy="6145009"/>
          </a:xfrm>
          <a:custGeom>
            <a:avLst/>
            <a:gdLst/>
            <a:ahLst/>
            <a:cxnLst/>
            <a:rect r="r" b="b" t="t" l="l"/>
            <a:pathLst>
              <a:path h="6145009" w="6845408">
                <a:moveTo>
                  <a:pt x="0" y="0"/>
                </a:moveTo>
                <a:lnTo>
                  <a:pt x="6845408" y="0"/>
                </a:lnTo>
                <a:lnTo>
                  <a:pt x="6845408" y="6145009"/>
                </a:lnTo>
                <a:lnTo>
                  <a:pt x="0" y="6145009"/>
                </a:lnTo>
                <a:lnTo>
                  <a:pt x="0" y="0"/>
                </a:lnTo>
                <a:close/>
              </a:path>
            </a:pathLst>
          </a:custGeom>
          <a:blipFill>
            <a:blip r:embed="rId8"/>
            <a:stretch>
              <a:fillRect l="0" t="0" r="0" b="0"/>
            </a:stretch>
          </a:blipFill>
        </p:spPr>
      </p:sp>
      <p:sp>
        <p:nvSpPr>
          <p:cNvPr name="TextBox 6" id="6"/>
          <p:cNvSpPr txBox="true"/>
          <p:nvPr/>
        </p:nvSpPr>
        <p:spPr>
          <a:xfrm rot="0">
            <a:off x="1287450" y="371480"/>
            <a:ext cx="7856550" cy="2674381"/>
          </a:xfrm>
          <a:prstGeom prst="rect">
            <a:avLst/>
          </a:prstGeom>
        </p:spPr>
        <p:txBody>
          <a:bodyPr anchor="t" rtlCol="false" tIns="0" lIns="0" bIns="0" rIns="0">
            <a:spAutoFit/>
          </a:bodyPr>
          <a:lstStyle/>
          <a:p>
            <a:pPr algn="l">
              <a:lnSpc>
                <a:spcPts val="10768"/>
              </a:lnSpc>
            </a:pPr>
            <a:r>
              <a:rPr lang="en-US" sz="7692" b="true">
                <a:solidFill>
                  <a:srgbClr val="000000"/>
                </a:solidFill>
                <a:latin typeface="Loubag Semi-Bold"/>
                <a:ea typeface="Loubag Semi-Bold"/>
                <a:cs typeface="Loubag Semi-Bold"/>
                <a:sym typeface="Loubag Semi-Bold"/>
              </a:rPr>
              <a:t>MATRIZ </a:t>
            </a:r>
          </a:p>
          <a:p>
            <a:pPr algn="l">
              <a:lnSpc>
                <a:spcPts val="10768"/>
              </a:lnSpc>
              <a:spcBef>
                <a:spcPct val="0"/>
              </a:spcBef>
            </a:pPr>
            <a:r>
              <a:rPr lang="en-US" b="true" sz="7692">
                <a:solidFill>
                  <a:srgbClr val="000000"/>
                </a:solidFill>
                <a:latin typeface="Loubag Semi-Bold"/>
                <a:ea typeface="Loubag Semi-Bold"/>
                <a:cs typeface="Loubag Semi-Bold"/>
                <a:sym typeface="Loubag Semi-Bold"/>
              </a:rPr>
              <a:t>DISPERSA</a:t>
            </a:r>
          </a:p>
        </p:txBody>
      </p:sp>
      <p:sp>
        <p:nvSpPr>
          <p:cNvPr name="TextBox 7" id="7"/>
          <p:cNvSpPr txBox="true"/>
          <p:nvPr/>
        </p:nvSpPr>
        <p:spPr>
          <a:xfrm rot="0">
            <a:off x="827089" y="3852064"/>
            <a:ext cx="8316911" cy="5331034"/>
          </a:xfrm>
          <a:prstGeom prst="rect">
            <a:avLst/>
          </a:prstGeom>
        </p:spPr>
        <p:txBody>
          <a:bodyPr anchor="t" rtlCol="false" tIns="0" lIns="0" bIns="0" rIns="0">
            <a:spAutoFit/>
          </a:bodyPr>
          <a:lstStyle/>
          <a:p>
            <a:pPr algn="just">
              <a:lnSpc>
                <a:spcPts val="3838"/>
              </a:lnSpc>
            </a:pPr>
            <a:r>
              <a:rPr lang="en-US" sz="2741">
                <a:solidFill>
                  <a:srgbClr val="000000"/>
                </a:solidFill>
                <a:latin typeface="Montserrat Light"/>
                <a:ea typeface="Montserrat Light"/>
                <a:cs typeface="Montserrat Light"/>
                <a:sym typeface="Montserrat Light"/>
              </a:rPr>
              <a:t>Una matriz dispersa es una matriz en la que la mayoría de las posiciones no contienen información significativa, es decir, su valor es cero o equivalente a “vacío”.</a:t>
            </a:r>
          </a:p>
          <a:p>
            <a:pPr algn="just">
              <a:lnSpc>
                <a:spcPts val="3838"/>
              </a:lnSpc>
            </a:pPr>
          </a:p>
          <a:p>
            <a:pPr algn="just">
              <a:lnSpc>
                <a:spcPts val="3838"/>
              </a:lnSpc>
              <a:spcBef>
                <a:spcPct val="0"/>
              </a:spcBef>
            </a:pPr>
            <a:r>
              <a:rPr lang="en-US" sz="2741">
                <a:solidFill>
                  <a:srgbClr val="000000"/>
                </a:solidFill>
                <a:latin typeface="Montserrat Light"/>
                <a:ea typeface="Montserrat Light"/>
                <a:cs typeface="Montserrat Light"/>
                <a:sym typeface="Montserrat Light"/>
              </a:rPr>
              <a:t>En términos de estructuras de datos, los elementos de la matriz pueden ser representados por punteros, y las posiciones que normalmente tendrían un cero se pueden modelar como punteros nulos (null) para ahorrar memoria.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DAGsJhxNs8U</dc:identifier>
  <dcterms:modified xsi:type="dcterms:W3CDTF">2011-08-01T06:04:30Z</dcterms:modified>
  <cp:revision>1</cp:revision>
  <dc:title>Copia de Semana 4</dc:title>
</cp:coreProperties>
</file>