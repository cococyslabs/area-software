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10287000" cx="18288000"/>
  <p:notesSz cx="6858000" cy="9144000"/>
  <p:embeddedFontLst>
    <p:embeddedFont>
      <p:font typeface="Poppins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US/C+7nAzelzFpK3K/8cFaViM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20" Type="http://schemas.openxmlformats.org/officeDocument/2006/relationships/slide" Target="slides/slide15.xml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22" Type="http://schemas.openxmlformats.org/officeDocument/2006/relationships/slide" Target="slides/slide17.xml"/><Relationship Id="rId44" Type="http://schemas.openxmlformats.org/officeDocument/2006/relationships/font" Target="fonts/DMSans-bold.fntdata"/><Relationship Id="rId21" Type="http://schemas.openxmlformats.org/officeDocument/2006/relationships/slide" Target="slides/slide16.xml"/><Relationship Id="rId43" Type="http://schemas.openxmlformats.org/officeDocument/2006/relationships/font" Target="fonts/DMSans-regular.fntdata"/><Relationship Id="rId24" Type="http://schemas.openxmlformats.org/officeDocument/2006/relationships/slide" Target="slides/slide19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d4e8a5f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6d4e8a5f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7" name="Google Shape;62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2" name="Google Shape;64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roadmap.sh/fronten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gif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gif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hyperlink" Target="https://es.wikipedia.org/wiki/L%C3%B3gica_de_negoci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3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gif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072059"/>
            </a:solidFill>
            <a:ln>
              <a:noFill/>
            </a:ln>
          </p:spPr>
        </p:sp>
      </p:grpSp>
      <p:sp>
        <p:nvSpPr>
          <p:cNvPr id="88" name="Google Shape;88;p1"/>
          <p:cNvSpPr/>
          <p:nvPr/>
        </p:nvSpPr>
        <p:spPr>
          <a:xfrm rot="5400000">
            <a:off x="877995" y="8875039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4235365" y="7158417"/>
            <a:ext cx="2676348" cy="2661749"/>
          </a:xfrm>
          <a:custGeom>
            <a:rect b="b" l="l" r="r" t="t"/>
            <a:pathLst>
              <a:path extrusionOk="0" h="2661749" w="2676348">
                <a:moveTo>
                  <a:pt x="0" y="0"/>
                </a:moveTo>
                <a:lnTo>
                  <a:pt x="2676348" y="0"/>
                </a:lnTo>
                <a:lnTo>
                  <a:pt x="2676348" y="2661750"/>
                </a:lnTo>
                <a:lnTo>
                  <a:pt x="0" y="266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0" name="Google Shape;90;p1"/>
          <p:cNvGrpSpPr/>
          <p:nvPr/>
        </p:nvGrpSpPr>
        <p:grpSpPr>
          <a:xfrm>
            <a:off x="2272932" y="2987253"/>
            <a:ext cx="12137806" cy="3563598"/>
            <a:chOff x="0" y="-77893"/>
            <a:chExt cx="16183741" cy="4751465"/>
          </a:xfrm>
        </p:grpSpPr>
        <p:sp>
          <p:nvSpPr>
            <p:cNvPr id="91" name="Google Shape;91;p1"/>
            <p:cNvSpPr txBox="1"/>
            <p:nvPr/>
          </p:nvSpPr>
          <p:spPr>
            <a:xfrm>
              <a:off x="0" y="1391820"/>
              <a:ext cx="16183741" cy="1813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9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414"/>
                <a:buFont typeface="Arial"/>
                <a:buNone/>
              </a:pPr>
              <a:r>
                <a:rPr b="1" i="0" lang="en-US" sz="9414" u="none" cap="none" strike="noStrike">
                  <a:solidFill>
                    <a:srgbClr val="3681AD"/>
                  </a:solidFill>
                  <a:latin typeface="DM Sans"/>
                  <a:ea typeface="DM Sans"/>
                  <a:cs typeface="DM Sans"/>
                  <a:sym typeface="DM Sans"/>
                </a:rPr>
                <a:t>Desarrollo Frontend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3839817"/>
              <a:ext cx="16183741" cy="8337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72059"/>
                  </a:solidFill>
                  <a:latin typeface="Arial"/>
                  <a:ea typeface="Arial"/>
                  <a:cs typeface="Arial"/>
                  <a:sym typeface="Arial"/>
                </a:rPr>
                <a:t>Semana 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77893"/>
              <a:ext cx="16183741" cy="641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72059"/>
                  </a:solidFill>
                  <a:latin typeface="Arial"/>
                  <a:ea typeface="Arial"/>
                  <a:cs typeface="Arial"/>
                  <a:sym typeface="Arial"/>
                </a:rPr>
                <a:t>INTRODUCCIÓN A LA PROGRAMACIÓN Y COMPUTACIÓN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2431898" y="5347651"/>
            <a:ext cx="3141641" cy="3141641"/>
          </a:xfrm>
          <a:custGeom>
            <a:rect b="b" l="l" r="r" t="t"/>
            <a:pathLst>
              <a:path extrusionOk="0" h="3141641" w="3141641">
                <a:moveTo>
                  <a:pt x="0" y="0"/>
                </a:moveTo>
                <a:lnTo>
                  <a:pt x="3141641" y="0"/>
                </a:lnTo>
                <a:lnTo>
                  <a:pt x="3141641" y="3141641"/>
                </a:lnTo>
                <a:lnTo>
                  <a:pt x="0" y="31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2584298" y="5500051"/>
            <a:ext cx="3141641" cy="3141641"/>
          </a:xfrm>
          <a:custGeom>
            <a:rect b="b" l="l" r="r" t="t"/>
            <a:pathLst>
              <a:path extrusionOk="0" h="3141641" w="3141641">
                <a:moveTo>
                  <a:pt x="0" y="0"/>
                </a:moveTo>
                <a:lnTo>
                  <a:pt x="3141641" y="0"/>
                </a:lnTo>
                <a:lnTo>
                  <a:pt x="3141641" y="3141641"/>
                </a:lnTo>
                <a:lnTo>
                  <a:pt x="0" y="31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2048147" y="4941472"/>
            <a:ext cx="4516065" cy="1004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71"/>
              <a:buFont typeface="Arial"/>
              <a:buNone/>
            </a:pPr>
            <a:r>
              <a:rPr b="1" i="0" lang="en-US" sz="8571" u="none" cap="none" strike="noStrike">
                <a:solidFill>
                  <a:srgbClr val="072059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028700" y="1028700"/>
            <a:ext cx="358140" cy="358140"/>
            <a:chOff x="0" y="0"/>
            <a:chExt cx="477520" cy="47752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04" name="Google Shape;104;p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grpSp>
        <p:nvGrpSpPr>
          <p:cNvPr id="105" name="Google Shape;105;p2"/>
          <p:cNvGrpSpPr/>
          <p:nvPr/>
        </p:nvGrpSpPr>
        <p:grpSpPr>
          <a:xfrm>
            <a:off x="17249485" y="4147969"/>
            <a:ext cx="176115" cy="1619046"/>
            <a:chOff x="0" y="0"/>
            <a:chExt cx="234820" cy="2158728"/>
          </a:xfrm>
        </p:grpSpPr>
        <p:sp>
          <p:nvSpPr>
            <p:cNvPr id="106" name="Google Shape;106;p2"/>
            <p:cNvSpPr/>
            <p:nvPr/>
          </p:nvSpPr>
          <p:spPr>
            <a:xfrm>
              <a:off x="0" y="128256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0" y="64122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0" y="192390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 rot="5400000">
            <a:off x="16997952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0" y="0"/>
                </a:lnTo>
                <a:lnTo>
                  <a:pt x="679180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8253285" y="3267478"/>
            <a:ext cx="8208851" cy="3667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Dudas Proyecto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Dudas Tarea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48" lvl="1" marL="647695" marR="0" rtl="0" algn="l">
              <a:lnSpc>
                <a:spcPct val="25005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18" name="Google Shape;118;p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19" name="Google Shape;119;p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120" name="Google Shape;120;p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/>
          <p:nvPr/>
        </p:nvSpPr>
        <p:spPr>
          <a:xfrm>
            <a:off x="9897729" y="4353337"/>
            <a:ext cx="6607842" cy="2827355"/>
          </a:xfrm>
          <a:custGeom>
            <a:rect b="b" l="l" r="r" t="t"/>
            <a:pathLst>
              <a:path extrusionOk="0" h="2827355" w="6607842">
                <a:moveTo>
                  <a:pt x="0" y="0"/>
                </a:moveTo>
                <a:lnTo>
                  <a:pt x="6607842" y="0"/>
                </a:lnTo>
                <a:lnTo>
                  <a:pt x="6607842" y="2827355"/>
                </a:lnTo>
                <a:lnTo>
                  <a:pt x="0" y="2827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 txBox="1"/>
          <p:nvPr/>
        </p:nvSpPr>
        <p:spPr>
          <a:xfrm>
            <a:off x="3115948" y="1482100"/>
            <a:ext cx="63897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93"/>
              <a:buFont typeface="Arial"/>
              <a:buNone/>
            </a:pPr>
            <a:r>
              <a:rPr b="1" i="0" lang="en-US" sz="9593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3115962" y="3893881"/>
            <a:ext cx="6028038" cy="474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3"/>
              <a:buFont typeface="Arial"/>
              <a:buNone/>
            </a:pPr>
            <a:r>
              <a:rPr b="0" i="0" lang="en-US" sz="3373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El desarrollo web Front-end consiste en la conversión de datos en una interfaz gráfica para que el usuario pueda ver e interactuar con la información de forma digital.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1127144" y="7085442"/>
            <a:ext cx="4552508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4"/>
              <a:buFont typeface="Arial"/>
              <a:buNone/>
            </a:pPr>
            <a:r>
              <a:rPr b="0" i="0" lang="en-US" sz="2374" u="sng" cap="none" strike="noStrike">
                <a:solidFill>
                  <a:srgbClr val="790D0D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https://roadmap.sh/frontend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g36d4e8a5f60_0_0"/>
          <p:cNvGrpSpPr/>
          <p:nvPr/>
        </p:nvGrpSpPr>
        <p:grpSpPr>
          <a:xfrm>
            <a:off x="1038515" y="1028700"/>
            <a:ext cx="358854" cy="358256"/>
            <a:chOff x="0" y="0"/>
            <a:chExt cx="478473" cy="477675"/>
          </a:xfrm>
        </p:grpSpPr>
        <p:sp>
          <p:nvSpPr>
            <p:cNvPr id="135" name="Google Shape;135;g36d4e8a5f60_0_0"/>
            <p:cNvSpPr/>
            <p:nvPr/>
          </p:nvSpPr>
          <p:spPr>
            <a:xfrm>
              <a:off x="0" y="0"/>
              <a:ext cx="478473" cy="77748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36" name="Google Shape;136;g36d4e8a5f60_0_0"/>
            <p:cNvSpPr/>
            <p:nvPr/>
          </p:nvSpPr>
          <p:spPr>
            <a:xfrm>
              <a:off x="0" y="199964"/>
              <a:ext cx="478473" cy="77748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137" name="Google Shape;137;g36d4e8a5f60_0_0"/>
            <p:cNvSpPr/>
            <p:nvPr/>
          </p:nvSpPr>
          <p:spPr>
            <a:xfrm>
              <a:off x="0" y="399927"/>
              <a:ext cx="478473" cy="77747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138" name="Google Shape;138;g36d4e8a5f60_0_0"/>
          <p:cNvGrpSpPr/>
          <p:nvPr/>
        </p:nvGrpSpPr>
        <p:grpSpPr>
          <a:xfrm>
            <a:off x="17259300" y="4147875"/>
            <a:ext cx="178594" cy="1621618"/>
            <a:chOff x="0" y="0"/>
            <a:chExt cx="238125" cy="2162157"/>
          </a:xfrm>
        </p:grpSpPr>
        <p:sp>
          <p:nvSpPr>
            <p:cNvPr id="139" name="Google Shape;139;g36d4e8a5f60_0_0"/>
            <p:cNvSpPr/>
            <p:nvPr/>
          </p:nvSpPr>
          <p:spPr>
            <a:xfrm>
              <a:off x="0" y="0"/>
              <a:ext cx="238125" cy="238125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6d4e8a5f60_0_0"/>
            <p:cNvSpPr/>
            <p:nvPr/>
          </p:nvSpPr>
          <p:spPr>
            <a:xfrm>
              <a:off x="0" y="641344"/>
              <a:ext cx="238125" cy="238125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6d4e8a5f60_0_0"/>
            <p:cNvSpPr/>
            <p:nvPr/>
          </p:nvSpPr>
          <p:spPr>
            <a:xfrm>
              <a:off x="0" y="1282688"/>
              <a:ext cx="238125" cy="238125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6d4e8a5f60_0_0"/>
            <p:cNvSpPr/>
            <p:nvPr/>
          </p:nvSpPr>
          <p:spPr>
            <a:xfrm>
              <a:off x="0" y="1924032"/>
              <a:ext cx="238125" cy="238125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g36d4e8a5f60_0_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g36d4e8a5f60_0_0"/>
          <p:cNvSpPr txBox="1"/>
          <p:nvPr/>
        </p:nvSpPr>
        <p:spPr>
          <a:xfrm>
            <a:off x="5231100" y="719250"/>
            <a:ext cx="9048300" cy="3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93"/>
              <a:buFont typeface="Arial"/>
              <a:buNone/>
            </a:pPr>
            <a:r>
              <a:rPr b="1" lang="en-US" sz="9593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Importancia del 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6d4e8a5f60_0_0"/>
          <p:cNvSpPr txBox="1"/>
          <p:nvPr/>
        </p:nvSpPr>
        <p:spPr>
          <a:xfrm>
            <a:off x="1613357" y="4580975"/>
            <a:ext cx="14850600" cy="3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3"/>
              <a:buFont typeface="Arial"/>
              <a:buNone/>
            </a:pPr>
            <a:r>
              <a:rPr lang="en-US" sz="3373">
                <a:solidFill>
                  <a:srgbClr val="790D0D"/>
                </a:solidFill>
              </a:rPr>
              <a:t>La interfaz de usuario (frontend) es crucial en el contexto de una API, aunque no sea parte directa de ella, porque es la cara visible que permite a los usuarios interactuar con los servicios y datos que la API expone. Sin un frontend bien diseñado, una API, por muy potente y eficiente que sea, sería inaccesible e inútil para la mayoría de los usuarios finales.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/>
        </p:nvSpPr>
        <p:spPr>
          <a:xfrm>
            <a:off x="2107420" y="2127893"/>
            <a:ext cx="5777844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53" name="Google Shape;153;p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54" name="Google Shape;154;p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155" name="Google Shape;155;p4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4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6725" y="2013593"/>
            <a:ext cx="7158819" cy="73307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2107420" y="4407217"/>
            <a:ext cx="7599306" cy="450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Django es un framework de desarrollo web de código abierto, escrito en Python, que respeta el patrón de diseño conocido como modelo–vista–controlador (MVC).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Fue desarrollado originalmente para gestionar páginas web orientadas a noticias de la World Company de Lawrence, Kansas, y fue liberada al público bajo una licencia BSD en julio de 2005; el framework fue nombrado en alusión al guitarrista de jazz gitano Django Reinhardt.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2107420" y="2127893"/>
            <a:ext cx="5777844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172" name="Google Shape;172;p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173" name="Google Shape;173;p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74" name="Google Shape;174;p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6725" y="2013593"/>
            <a:ext cx="7158819" cy="73307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2107420" y="4407217"/>
            <a:ext cx="7599306" cy="450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En junio de 2008 fue anunciado que la recién formada Django Software Foundation se haría cargo de Django en el futuro.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rPr b="0" i="0" lang="en-US" sz="2324" u="none" cap="none" strike="noStrike">
                <a:solidFill>
                  <a:srgbClr val="266041"/>
                </a:solidFill>
                <a:latin typeface="Arial"/>
                <a:ea typeface="Arial"/>
                <a:cs typeface="Arial"/>
                <a:sym typeface="Arial"/>
              </a:rPr>
              <a:t>La meta fundamental de Django es facilitar la creación de sitios web complejos. Django pone énfasis en el re-uso, la conectividad y extensibilidad de componentes, el desarrollo rápido y el principio «DRY» (del inglés Don't Repeat Yourself,«No te repitas»).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4"/>
              <a:buFont typeface="Arial"/>
              <a:buNone/>
            </a:pPr>
            <a:r>
              <a:t/>
            </a:r>
            <a:endParaRPr b="0" i="0" sz="2324" u="none" cap="none" strike="noStrike">
              <a:solidFill>
                <a:srgbClr val="2660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2353321" y="1133475"/>
            <a:ext cx="13581358" cy="147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8"/>
              <a:buFont typeface="Arial"/>
              <a:buNone/>
            </a:pPr>
            <a:r>
              <a:rPr b="1" i="0" lang="en-US" sz="10398" u="none" cap="none" strike="noStrike">
                <a:solidFill>
                  <a:srgbClr val="072059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2353321" y="2467110"/>
            <a:ext cx="13581358" cy="7039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mapeador objeto-relacional.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Aplicaciones "enchufables" que pueden instalarse en cualquier página gestionada con Django.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Una API de base de datos robusta.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incorporado de "vistas genéricas" que ahorra tener que escribir la lógica de ciertas tareas comunes.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extensible de plantillas basado en etiquetas, con herencia de plantillas.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despachador de URLs basado en expresiones regulares.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1" lvl="1" marL="48038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Un sistema "middleware" para desarrollar características adicionales; por ejemplo, la distribución principal de Django incluye componentes middleware que proporcionan cacheo, compresión de la salida, normalización de URLs, protección CSRF y soporte de sesiones.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Soporte de internacionalización, incluyendo traducciones incorporadas de la interfaz de administración.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0190" lvl="1" marL="48038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059"/>
              </a:buClr>
              <a:buSzPts val="2225"/>
              <a:buFont typeface="Arial"/>
              <a:buChar char="•"/>
            </a:pPr>
            <a:r>
              <a:rPr b="0" i="0" lang="en-US" sz="2225" u="none" cap="none" strike="noStrike">
                <a:solidFill>
                  <a:srgbClr val="072059"/>
                </a:solidFill>
                <a:latin typeface="Arial"/>
                <a:ea typeface="Arial"/>
                <a:cs typeface="Arial"/>
                <a:sym typeface="Arial"/>
              </a:rPr>
              <a:t>Documentación incorporada accesible a través de la aplicación administrativa (incluyendo documentación generada automáticamente de los modelos y las bibliotecas de plantillas añadidas por las aplicaciones).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5"/>
              <a:buFont typeface="Arial"/>
              <a:buNone/>
            </a:pPr>
            <a:r>
              <a:t/>
            </a:r>
            <a:endParaRPr b="0" i="0" sz="2225" u="none" cap="none" strike="noStrike">
              <a:solidFill>
                <a:srgbClr val="0720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189" name="Google Shape;189;p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90" name="Google Shape;190;p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191" name="Google Shape;191;p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sp>
        <p:nvSpPr>
          <p:cNvPr id="192" name="Google Shape;192;p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/>
        </p:nvSpPr>
        <p:spPr>
          <a:xfrm>
            <a:off x="1728760" y="1783786"/>
            <a:ext cx="15236466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Arquitectura de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04" name="Google Shape;204;p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05" name="Google Shape;205;p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06" name="Google Shape;206;p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07" name="Google Shape;207;p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7"/>
          <p:cNvSpPr txBox="1"/>
          <p:nvPr/>
        </p:nvSpPr>
        <p:spPr>
          <a:xfrm>
            <a:off x="1728760" y="3566563"/>
            <a:ext cx="14320621" cy="526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Aunque Django está fuertemente inspirado en la filosofía de desarrollo Modelo Vista Controlador, sus desarrolladores declaran públicamente que no se sienten especialmente atados a observar estrictamente ningún paradigma particular, y en cambio prefieren hacer "lo que les parece correcto". Como resultado, por ejemplo, lo que se llamaría "controlador" en un "verdadero" framework MVC se llama en Django "vista", y lo que se llamaría "vista" se llama "plantilla".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Gracias al poder de las capas mediator y foundation, Django permite que los desarrolladores se dediquen a construir los objetos Entity y la lógica de presentación y control para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2499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19" name="Google Shape;219;p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20" name="Google Shape;220;p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21" name="Google Shape;221;p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22" name="Google Shape;222;p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23" name="Google Shape;223;p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1396655" y="3479179"/>
            <a:ext cx="6886632" cy="4065943"/>
          </a:xfrm>
          <a:custGeom>
            <a:rect b="b" l="l" r="r" t="t"/>
            <a:pathLst>
              <a:path extrusionOk="0" h="4065943" w="6886632">
                <a:moveTo>
                  <a:pt x="0" y="0"/>
                </a:moveTo>
                <a:lnTo>
                  <a:pt x="6886633" y="0"/>
                </a:lnTo>
                <a:lnTo>
                  <a:pt x="6886633" y="4065943"/>
                </a:lnTo>
                <a:lnTo>
                  <a:pt x="0" y="40659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8"/>
          <p:cNvSpPr txBox="1"/>
          <p:nvPr/>
        </p:nvSpPr>
        <p:spPr>
          <a:xfrm>
            <a:off x="9144000" y="1012261"/>
            <a:ext cx="7821227" cy="3122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Arquitectura 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9144000" y="4067978"/>
            <a:ext cx="7821227" cy="5509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Modelo-vista-controlador (MVC) es un patrón de arquitectura de software, que separa los datos y principalmente lo que es la </a:t>
            </a:r>
            <a:r>
              <a:rPr b="0" i="0" lang="en-US" sz="2384" u="sng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ógica de negocio de una aplicación de su representación y el módulo encargado de gestionar los eventos y las comunicaciones.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t/>
            </a:r>
            <a:endParaRPr b="0" i="0" sz="2384" u="none" cap="none" strike="noStrike">
              <a:solidFill>
                <a:srgbClr val="79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Para ello MVC propone la construcción de tres componentes distintos que son el modelo, la vista y el controlador; es decir: por un lado define componentes para la representación de la información y, por otro lado, para la interacción del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36" name="Google Shape;236;p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37" name="Google Shape;237;p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38" name="Google Shape;238;p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39" name="Google Shape;239;p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40" name="Google Shape;240;p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>
            <a:off x="1217585" y="3113490"/>
            <a:ext cx="7346634" cy="5714049"/>
          </a:xfrm>
          <a:custGeom>
            <a:rect b="b" l="l" r="r" t="t"/>
            <a:pathLst>
              <a:path extrusionOk="0" h="5714049" w="7346634">
                <a:moveTo>
                  <a:pt x="0" y="0"/>
                </a:moveTo>
                <a:lnTo>
                  <a:pt x="7346634" y="0"/>
                </a:lnTo>
                <a:lnTo>
                  <a:pt x="7346634" y="5714049"/>
                </a:lnTo>
                <a:lnTo>
                  <a:pt x="0" y="5714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9144000" y="4067978"/>
            <a:ext cx="7821227" cy="5454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Es la representación de la información con la cual el sistema opera, por lo tanto gestiona todos los accesos a dicha información, tanto consultas como actualizaciones, implementando también los privilegios de acceso que se hayan descrito en las especificaciones de la aplicación (lógica de negocio). Envía a la 'vista' aquella parte de la información que en cada momento se le solicita para que sea mostrada (típicamente a un usuario). Las peticiones de acceso o manipulación de información llegan al 'modelo' a través del 'controlador'.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53" name="Google Shape;253;p1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54" name="Google Shape;254;p1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55" name="Google Shape;255;p1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56" name="Google Shape;256;p10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57" name="Google Shape;257;p1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10"/>
          <p:cNvSpPr/>
          <p:nvPr/>
        </p:nvSpPr>
        <p:spPr>
          <a:xfrm>
            <a:off x="1597959" y="2521069"/>
            <a:ext cx="6505138" cy="6490353"/>
          </a:xfrm>
          <a:custGeom>
            <a:rect b="b" l="l" r="r" t="t"/>
            <a:pathLst>
              <a:path extrusionOk="0" h="6490353" w="6505138">
                <a:moveTo>
                  <a:pt x="0" y="0"/>
                </a:moveTo>
                <a:lnTo>
                  <a:pt x="6505137" y="0"/>
                </a:lnTo>
                <a:lnTo>
                  <a:pt x="6505137" y="6490354"/>
                </a:lnTo>
                <a:lnTo>
                  <a:pt x="0" y="6490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0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9144000" y="4067978"/>
            <a:ext cx="7821227" cy="2101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Presenta el 'modelo' (información y lógica de negocio) en un formato adecuado para interactuar (usualmente la interfaz de usuario), por tanto requiere de dicho 'modelo' la información que debe representar como salida.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70" name="Google Shape;270;p1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71" name="Google Shape;271;p1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72" name="Google Shape;272;p1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73" name="Google Shape;273;p1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74" name="Google Shape;274;p1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1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1"/>
          <p:cNvSpPr/>
          <p:nvPr/>
        </p:nvSpPr>
        <p:spPr>
          <a:xfrm>
            <a:off x="1028700" y="2761925"/>
            <a:ext cx="7605581" cy="5704186"/>
          </a:xfrm>
          <a:custGeom>
            <a:rect b="b" l="l" r="r" t="t"/>
            <a:pathLst>
              <a:path extrusionOk="0"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1"/>
          <p:cNvSpPr txBox="1"/>
          <p:nvPr/>
        </p:nvSpPr>
        <p:spPr>
          <a:xfrm>
            <a:off x="9144000" y="1783786"/>
            <a:ext cx="782122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Controlador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9144000" y="3557020"/>
            <a:ext cx="7821227" cy="5454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4"/>
              <a:buFont typeface="Arial"/>
              <a:buNone/>
            </a:pPr>
            <a:r>
              <a:rPr b="0" i="0" lang="en-US" sz="2384" u="none" cap="none" strike="noStrike">
                <a:solidFill>
                  <a:srgbClr val="790D0D"/>
                </a:solidFill>
                <a:latin typeface="Arial"/>
                <a:ea typeface="Arial"/>
                <a:cs typeface="Arial"/>
                <a:sym typeface="Arial"/>
              </a:rPr>
              <a:t>Responde a eventos (usualmente acciones del usuario) e invoca peticiones al 'modelo' cuando se hace alguna solicitud sobre la información (por ejemplo, editar un documento o un registro en una base de datos). También puede enviar comandos a su 'vista' asociada si se solicita un cambio en la forma en que se presenta el 'modelo' (por ejemplo, desplazamiento o scroll por un documento o por los diferentes registros de una base de datos), por tanto se podría decir que el 'controlador' hace de intermediario entre la 'vista' y el 'modelo' (véase Middleware).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287" name="Google Shape;287;p1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88" name="Google Shape;288;p1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289" name="Google Shape;289;p1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290" name="Google Shape;290;p1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291" name="Google Shape;291;p1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p1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2"/>
          <p:cNvSpPr/>
          <p:nvPr/>
        </p:nvSpPr>
        <p:spPr>
          <a:xfrm>
            <a:off x="8379090" y="1559790"/>
            <a:ext cx="7607339" cy="7607339"/>
          </a:xfrm>
          <a:custGeom>
            <a:rect b="b" l="l" r="r" t="t"/>
            <a:pathLst>
              <a:path extrusionOk="0" h="7607339" w="7607339">
                <a:moveTo>
                  <a:pt x="0" y="0"/>
                </a:moveTo>
                <a:lnTo>
                  <a:pt x="7607339" y="0"/>
                </a:lnTo>
                <a:lnTo>
                  <a:pt x="7607339" y="7607339"/>
                </a:lnTo>
                <a:lnTo>
                  <a:pt x="0" y="7607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2"/>
          <p:cNvSpPr txBox="1"/>
          <p:nvPr/>
        </p:nvSpPr>
        <p:spPr>
          <a:xfrm>
            <a:off x="2047027" y="4187672"/>
            <a:ext cx="3939457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03" name="Google Shape;303;p1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304" name="Google Shape;304;p1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305" name="Google Shape;305;p1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306" name="Google Shape;306;p1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07" name="Google Shape;307;p1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1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3"/>
          <p:cNvSpPr txBox="1"/>
          <p:nvPr/>
        </p:nvSpPr>
        <p:spPr>
          <a:xfrm>
            <a:off x="2204994" y="1312545"/>
            <a:ext cx="9977765" cy="1579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7"/>
              <a:buFont typeface="Arial"/>
              <a:buNone/>
            </a:pPr>
            <a:r>
              <a:rPr b="1" i="0" lang="en-US" sz="11107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MVC en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815" y="2891887"/>
            <a:ext cx="13137364" cy="6614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EF4F6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4"/>
          <p:cNvGrpSpPr/>
          <p:nvPr/>
        </p:nvGrpSpPr>
        <p:grpSpPr>
          <a:xfrm>
            <a:off x="1028700" y="1028700"/>
            <a:ext cx="358140" cy="358140"/>
            <a:chOff x="0" y="0"/>
            <a:chExt cx="477520" cy="477520"/>
          </a:xfrm>
        </p:grpSpPr>
        <p:sp>
          <p:nvSpPr>
            <p:cNvPr id="319" name="Google Shape;319;p1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320" name="Google Shape;320;p1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  <p:sp>
          <p:nvSpPr>
            <p:cNvPr id="321" name="Google Shape;321;p1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</p:sp>
      </p:grpSp>
      <p:grpSp>
        <p:nvGrpSpPr>
          <p:cNvPr id="322" name="Google Shape;322;p14"/>
          <p:cNvGrpSpPr/>
          <p:nvPr/>
        </p:nvGrpSpPr>
        <p:grpSpPr>
          <a:xfrm>
            <a:off x="17249485" y="4147875"/>
            <a:ext cx="176115" cy="1619139"/>
            <a:chOff x="0" y="0"/>
            <a:chExt cx="234820" cy="2158852"/>
          </a:xfrm>
        </p:grpSpPr>
        <p:sp>
          <p:nvSpPr>
            <p:cNvPr id="323" name="Google Shape;323;p1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681AD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14"/>
          <p:cNvSpPr/>
          <p:nvPr/>
        </p:nvSpPr>
        <p:spPr>
          <a:xfrm rot="5400000">
            <a:off x="16997952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0" y="0"/>
                </a:lnTo>
                <a:lnTo>
                  <a:pt x="679180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4"/>
          <p:cNvSpPr/>
          <p:nvPr/>
        </p:nvSpPr>
        <p:spPr>
          <a:xfrm>
            <a:off x="13418578" y="6104157"/>
            <a:ext cx="2672558" cy="3402562"/>
          </a:xfrm>
          <a:custGeom>
            <a:rect b="b" l="l" r="r" t="t"/>
            <a:pathLst>
              <a:path extrusionOk="0" h="3402562" w="2672558">
                <a:moveTo>
                  <a:pt x="0" y="0"/>
                </a:moveTo>
                <a:lnTo>
                  <a:pt x="2672558" y="0"/>
                </a:lnTo>
                <a:lnTo>
                  <a:pt x="2672558" y="3402562"/>
                </a:lnTo>
                <a:lnTo>
                  <a:pt x="0" y="3402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9" name="Google Shape;329;p14"/>
          <p:cNvGrpSpPr/>
          <p:nvPr/>
        </p:nvGrpSpPr>
        <p:grpSpPr>
          <a:xfrm>
            <a:off x="2196864" y="4192633"/>
            <a:ext cx="13894272" cy="2189066"/>
            <a:chOff x="0" y="378029"/>
            <a:chExt cx="18525696" cy="2918755"/>
          </a:xfrm>
        </p:grpSpPr>
        <p:sp>
          <p:nvSpPr>
            <p:cNvPr id="330" name="Google Shape;330;p14"/>
            <p:cNvSpPr txBox="1"/>
            <p:nvPr/>
          </p:nvSpPr>
          <p:spPr>
            <a:xfrm>
              <a:off x="0" y="378029"/>
              <a:ext cx="18525696" cy="1996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072059"/>
                  </a:solidFill>
                  <a:latin typeface="DM Sans"/>
                  <a:ea typeface="DM Sans"/>
                  <a:cs typeface="DM Sans"/>
                  <a:sym typeface="DM Sans"/>
                </a:rPr>
                <a:t>Iniciemos con Django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4"/>
            <p:cNvSpPr txBox="1"/>
            <p:nvPr/>
          </p:nvSpPr>
          <p:spPr>
            <a:xfrm>
              <a:off x="0" y="2613524"/>
              <a:ext cx="18525696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072059"/>
                  </a:solidFill>
                  <a:latin typeface="DM Sans"/>
                  <a:ea typeface="DM Sans"/>
                  <a:cs typeface="DM Sans"/>
                  <a:sym typeface="DM Sans"/>
                </a:rPr>
                <a:t>Pasos para crear tu primer Proyecto en Django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5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337" name="Google Shape;337;p15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5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Instala Django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1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40" name="Google Shape;340;p1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41" name="Google Shape;341;p1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42" name="Google Shape;342;p1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43" name="Google Shape;343;p1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4" name="Google Shape;344;p1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45" name="Google Shape;345;p1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1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15"/>
          <p:cNvSpPr/>
          <p:nvPr/>
        </p:nvSpPr>
        <p:spPr>
          <a:xfrm>
            <a:off x="2107420" y="5445837"/>
            <a:ext cx="8196311" cy="3073617"/>
          </a:xfrm>
          <a:custGeom>
            <a:rect b="b" l="l" r="r" t="t"/>
            <a:pathLst>
              <a:path extrusionOk="0" h="3073617" w="8196311">
                <a:moveTo>
                  <a:pt x="0" y="0"/>
                </a:moveTo>
                <a:lnTo>
                  <a:pt x="8196311" y="0"/>
                </a:lnTo>
                <a:lnTo>
                  <a:pt x="8196311" y="3073616"/>
                </a:lnTo>
                <a:lnTo>
                  <a:pt x="0" y="3073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16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356" name="Google Shape;356;p16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6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Ingresa el siguiente comando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59" name="Google Shape;359;p1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60" name="Google Shape;360;p1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61" name="Google Shape;361;p1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62" name="Google Shape;362;p1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3" name="Google Shape;363;p1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64" name="Google Shape;364;p1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16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16"/>
          <p:cNvSpPr/>
          <p:nvPr/>
        </p:nvSpPr>
        <p:spPr>
          <a:xfrm>
            <a:off x="2107420" y="5767015"/>
            <a:ext cx="9063663" cy="2799665"/>
          </a:xfrm>
          <a:custGeom>
            <a:rect b="b" l="l" r="r" t="t"/>
            <a:pathLst>
              <a:path extrusionOk="0" h="2799665" w="9063663">
                <a:moveTo>
                  <a:pt x="0" y="0"/>
                </a:moveTo>
                <a:lnTo>
                  <a:pt x="9063662" y="0"/>
                </a:lnTo>
                <a:lnTo>
                  <a:pt x="9063662" y="2799664"/>
                </a:lnTo>
                <a:lnTo>
                  <a:pt x="0" y="2799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17"/>
          <p:cNvGrpSpPr/>
          <p:nvPr/>
        </p:nvGrpSpPr>
        <p:grpSpPr>
          <a:xfrm>
            <a:off x="2107420" y="2733980"/>
            <a:ext cx="9063663" cy="2706858"/>
            <a:chOff x="0" y="316072"/>
            <a:chExt cx="12084883" cy="3609143"/>
          </a:xfrm>
        </p:grpSpPr>
        <p:sp>
          <p:nvSpPr>
            <p:cNvPr id="375" name="Google Shape;375;p17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7"/>
            <p:cNvSpPr txBox="1"/>
            <p:nvPr/>
          </p:nvSpPr>
          <p:spPr>
            <a:xfrm>
              <a:off x="0" y="2581555"/>
              <a:ext cx="12084883" cy="134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Nos ubicamos en la carpeta del proyecto y escribimos lo siguiente para crear nuestra App: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78" name="Google Shape;378;p1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79" name="Google Shape;379;p1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80" name="Google Shape;380;p1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381" name="Google Shape;381;p1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2" name="Google Shape;382;p1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383" name="Google Shape;383;p1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17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8" name="Google Shape;388;p17"/>
          <p:cNvSpPr/>
          <p:nvPr/>
        </p:nvSpPr>
        <p:spPr>
          <a:xfrm>
            <a:off x="2107420" y="5749159"/>
            <a:ext cx="9059786" cy="3543383"/>
          </a:xfrm>
          <a:custGeom>
            <a:rect b="b" l="l" r="r" t="t"/>
            <a:pathLst>
              <a:path extrusionOk="0" h="3543383" w="9059786">
                <a:moveTo>
                  <a:pt x="0" y="0"/>
                </a:moveTo>
                <a:lnTo>
                  <a:pt x="9059786" y="0"/>
                </a:lnTo>
                <a:lnTo>
                  <a:pt x="9059786" y="3543383"/>
                </a:lnTo>
                <a:lnTo>
                  <a:pt x="0" y="3543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18"/>
          <p:cNvGrpSpPr/>
          <p:nvPr/>
        </p:nvGrpSpPr>
        <p:grpSpPr>
          <a:xfrm>
            <a:off x="2107420" y="2733980"/>
            <a:ext cx="9063663" cy="2706858"/>
            <a:chOff x="0" y="316072"/>
            <a:chExt cx="12084883" cy="3609143"/>
          </a:xfrm>
        </p:grpSpPr>
        <p:sp>
          <p:nvSpPr>
            <p:cNvPr id="394" name="Google Shape;394;p18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8"/>
            <p:cNvSpPr txBox="1"/>
            <p:nvPr/>
          </p:nvSpPr>
          <p:spPr>
            <a:xfrm>
              <a:off x="0" y="2581555"/>
              <a:ext cx="12084883" cy="134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En la carpeta App agregamos las carpetas static y templates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397" name="Google Shape;397;p1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98" name="Google Shape;398;p1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399" name="Google Shape;399;p1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00" name="Google Shape;400;p1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1" name="Google Shape;401;p1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02" name="Google Shape;402;p1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18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18"/>
          <p:cNvSpPr/>
          <p:nvPr/>
        </p:nvSpPr>
        <p:spPr>
          <a:xfrm>
            <a:off x="3200428" y="5767015"/>
            <a:ext cx="6877645" cy="3241513"/>
          </a:xfrm>
          <a:custGeom>
            <a:rect b="b" l="l" r="r" t="t"/>
            <a:pathLst>
              <a:path extrusionOk="0" h="3241513" w="6877645">
                <a:moveTo>
                  <a:pt x="0" y="0"/>
                </a:moveTo>
                <a:lnTo>
                  <a:pt x="6877646" y="0"/>
                </a:lnTo>
                <a:lnTo>
                  <a:pt x="6877646" y="3241513"/>
                </a:lnTo>
                <a:lnTo>
                  <a:pt x="0" y="3241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2107420" y="4442618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Vamos a settings.py y encontraremos la siguiente linea: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1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15" name="Google Shape;415;p1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16" name="Google Shape;416;p1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17" name="Google Shape;417;p1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18" name="Google Shape;418;p1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9" name="Google Shape;419;p1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20" name="Google Shape;420;p1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19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9"/>
          <p:cNvSpPr/>
          <p:nvPr/>
        </p:nvSpPr>
        <p:spPr>
          <a:xfrm>
            <a:off x="3195501" y="5611594"/>
            <a:ext cx="6082295" cy="1655994"/>
          </a:xfrm>
          <a:custGeom>
            <a:rect b="b" l="l" r="r" t="t"/>
            <a:pathLst>
              <a:path extrusionOk="0" h="1655994" w="6082295">
                <a:moveTo>
                  <a:pt x="0" y="0"/>
                </a:moveTo>
                <a:lnTo>
                  <a:pt x="6082295" y="0"/>
                </a:lnTo>
                <a:lnTo>
                  <a:pt x="6082295" y="1655993"/>
                </a:lnTo>
                <a:lnTo>
                  <a:pt x="0" y="1655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19"/>
          <p:cNvSpPr txBox="1"/>
          <p:nvPr/>
        </p:nvSpPr>
        <p:spPr>
          <a:xfrm>
            <a:off x="2103544" y="7580156"/>
            <a:ext cx="9063663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Se dice entonces que en la carpeta que definamos acá, se guardarán los archivos estáticos que se necesiten (CSS, JS, imágenes, etc).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0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Ahora en el mismo archivo de settings.py, en la sección de Application definition, aparecerá algo como esto: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2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34" name="Google Shape;434;p2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35" name="Google Shape;435;p2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36" name="Google Shape;436;p2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37" name="Google Shape;437;p2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8" name="Google Shape;438;p20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39" name="Google Shape;439;p2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20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20"/>
          <p:cNvSpPr/>
          <p:nvPr/>
        </p:nvSpPr>
        <p:spPr>
          <a:xfrm>
            <a:off x="3691959" y="5688488"/>
            <a:ext cx="6396169" cy="2262258"/>
          </a:xfrm>
          <a:custGeom>
            <a:rect b="b" l="l" r="r" t="t"/>
            <a:pathLst>
              <a:path extrusionOk="0" h="2262258" w="6396169">
                <a:moveTo>
                  <a:pt x="0" y="0"/>
                </a:moveTo>
                <a:lnTo>
                  <a:pt x="6396170" y="0"/>
                </a:lnTo>
                <a:lnTo>
                  <a:pt x="6396170" y="2262258"/>
                </a:lnTo>
                <a:lnTo>
                  <a:pt x="0" y="2262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p20"/>
          <p:cNvSpPr txBox="1"/>
          <p:nvPr/>
        </p:nvSpPr>
        <p:spPr>
          <a:xfrm>
            <a:off x="2107420" y="834747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Es aquí donde debemos agregar la aplicación que creamos.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Para encontrar el nombre de la aplicación vamos a apps.py dentro de la carpeta APP y encontraremos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2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53" name="Google Shape;453;p2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54" name="Google Shape;454;p2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55" name="Google Shape;455;p2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56" name="Google Shape;456;p2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7" name="Google Shape;457;p2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58" name="Google Shape;458;p2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21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21"/>
          <p:cNvSpPr/>
          <p:nvPr/>
        </p:nvSpPr>
        <p:spPr>
          <a:xfrm>
            <a:off x="2107420" y="5767015"/>
            <a:ext cx="8898191" cy="3902420"/>
          </a:xfrm>
          <a:custGeom>
            <a:rect b="b" l="l" r="r" t="t"/>
            <a:pathLst>
              <a:path extrusionOk="0" h="3902420" w="8898191">
                <a:moveTo>
                  <a:pt x="0" y="0"/>
                </a:moveTo>
                <a:lnTo>
                  <a:pt x="8898190" y="0"/>
                </a:lnTo>
                <a:lnTo>
                  <a:pt x="8898190" y="3902420"/>
                </a:lnTo>
                <a:lnTo>
                  <a:pt x="0" y="3902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2107420" y="4194968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Debemos de copiar el nombre de la clase que está en el archivo apps.py y pegarla en la lista de INSTALLED_APPS en settings.py.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2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71" name="Google Shape;471;p2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72" name="Google Shape;472;p2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73" name="Google Shape;473;p2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74" name="Google Shape;474;p2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5" name="Google Shape;475;p2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76" name="Google Shape;476;p2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0" name="Google Shape;480;p22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22"/>
          <p:cNvSpPr/>
          <p:nvPr/>
        </p:nvSpPr>
        <p:spPr>
          <a:xfrm>
            <a:off x="2804603" y="5767015"/>
            <a:ext cx="7669296" cy="2015184"/>
          </a:xfrm>
          <a:custGeom>
            <a:rect b="b" l="l" r="r" t="t"/>
            <a:pathLst>
              <a:path extrusionOk="0" h="2015184" w="7669296">
                <a:moveTo>
                  <a:pt x="0" y="0"/>
                </a:moveTo>
                <a:lnTo>
                  <a:pt x="7669296" y="0"/>
                </a:lnTo>
                <a:lnTo>
                  <a:pt x="7669296" y="2015183"/>
                </a:lnTo>
                <a:lnTo>
                  <a:pt x="0" y="2015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22"/>
          <p:cNvSpPr/>
          <p:nvPr/>
        </p:nvSpPr>
        <p:spPr>
          <a:xfrm>
            <a:off x="2804603" y="7858398"/>
            <a:ext cx="7669296" cy="2096246"/>
          </a:xfrm>
          <a:custGeom>
            <a:rect b="b" l="l" r="r" t="t"/>
            <a:pathLst>
              <a:path extrusionOk="0" h="2096246" w="7669296">
                <a:moveTo>
                  <a:pt x="0" y="0"/>
                </a:moveTo>
                <a:lnTo>
                  <a:pt x="7669296" y="0"/>
                </a:lnTo>
                <a:lnTo>
                  <a:pt x="7669296" y="2096246"/>
                </a:lnTo>
                <a:lnTo>
                  <a:pt x="0" y="2096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596" l="0" r="0" t="-3597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6.3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3"/>
          <p:cNvSpPr txBox="1"/>
          <p:nvPr/>
        </p:nvSpPr>
        <p:spPr>
          <a:xfrm>
            <a:off x="2103544" y="5616736"/>
            <a:ext cx="9063663" cy="192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¡Listo, ya tenemos agregada nuestra aplicación a nuestro proyecto de Django!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23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490" name="Google Shape;490;p23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91" name="Google Shape;491;p23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492" name="Google Shape;492;p23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493" name="Google Shape;493;p23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4" name="Google Shape;494;p23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495" name="Google Shape;495;p23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23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4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4"/>
          <p:cNvSpPr txBox="1"/>
          <p:nvPr/>
        </p:nvSpPr>
        <p:spPr>
          <a:xfrm>
            <a:off x="2107420" y="4003239"/>
            <a:ext cx="9063663" cy="248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Ahora, configuraremos lo que son las URLs, entonces hay que ir a urls.py en la carpeta del Proyecto, lo que haremos será Incluir otro URLconf. Para ello, debemos de importar la función include de Django. Para que quede así: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6" name="Google Shape;506;p24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07" name="Google Shape;507;p24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08" name="Google Shape;508;p24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09" name="Google Shape;509;p24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10" name="Google Shape;510;p24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1" name="Google Shape;511;p24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12" name="Google Shape;512;p24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p24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7" name="Google Shape;517;p24"/>
          <p:cNvSpPr/>
          <p:nvPr/>
        </p:nvSpPr>
        <p:spPr>
          <a:xfrm>
            <a:off x="2107420" y="7056807"/>
            <a:ext cx="9600592" cy="1851154"/>
          </a:xfrm>
          <a:custGeom>
            <a:rect b="b" l="l" r="r" t="t"/>
            <a:pathLst>
              <a:path extrusionOk="0" h="1851154" w="9600592">
                <a:moveTo>
                  <a:pt x="0" y="0"/>
                </a:moveTo>
                <a:lnTo>
                  <a:pt x="9600592" y="0"/>
                </a:lnTo>
                <a:lnTo>
                  <a:pt x="9600592" y="1851154"/>
                </a:lnTo>
                <a:lnTo>
                  <a:pt x="0" y="1851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5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5"/>
          <p:cNvSpPr txBox="1"/>
          <p:nvPr/>
        </p:nvSpPr>
        <p:spPr>
          <a:xfrm>
            <a:off x="2107420" y="4498539"/>
            <a:ext cx="9063663" cy="149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En la carpeta de la aplicación, creamos un archivo llamado urls.py. Y en este archivo, escribimos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4" name="Google Shape;524;p25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25" name="Google Shape;525;p25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26" name="Google Shape;526;p25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27" name="Google Shape;527;p25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28" name="Google Shape;528;p25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9" name="Google Shape;529;p25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30" name="Google Shape;530;p25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5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25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25"/>
          <p:cNvSpPr/>
          <p:nvPr/>
        </p:nvSpPr>
        <p:spPr>
          <a:xfrm>
            <a:off x="2107420" y="6305738"/>
            <a:ext cx="9063663" cy="3015510"/>
          </a:xfrm>
          <a:custGeom>
            <a:rect b="b" l="l" r="r" t="t"/>
            <a:pathLst>
              <a:path extrusionOk="0" h="3015510" w="9063663">
                <a:moveTo>
                  <a:pt x="0" y="0"/>
                </a:moveTo>
                <a:lnTo>
                  <a:pt x="9063662" y="0"/>
                </a:lnTo>
                <a:lnTo>
                  <a:pt x="9063662" y="3015509"/>
                </a:lnTo>
                <a:lnTo>
                  <a:pt x="0" y="3015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6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7.2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6"/>
          <p:cNvSpPr txBox="1"/>
          <p:nvPr/>
        </p:nvSpPr>
        <p:spPr>
          <a:xfrm>
            <a:off x="2107420" y="474618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Regresamos al archivo urls.py del proyecto y lo dejamos de la siguiente manera: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26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43" name="Google Shape;543;p26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44" name="Google Shape;544;p26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45" name="Google Shape;545;p26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46" name="Google Shape;546;p26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7" name="Google Shape;547;p26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48" name="Google Shape;548;p26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26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3" name="Google Shape;553;p26"/>
          <p:cNvSpPr/>
          <p:nvPr/>
        </p:nvSpPr>
        <p:spPr>
          <a:xfrm>
            <a:off x="2198766" y="6173034"/>
            <a:ext cx="8880970" cy="3575891"/>
          </a:xfrm>
          <a:custGeom>
            <a:rect b="b" l="l" r="r" t="t"/>
            <a:pathLst>
              <a:path extrusionOk="0" h="3575891" w="8880970">
                <a:moveTo>
                  <a:pt x="0" y="0"/>
                </a:moveTo>
                <a:lnTo>
                  <a:pt x="8880970" y="0"/>
                </a:lnTo>
                <a:lnTo>
                  <a:pt x="8880970" y="3575892"/>
                </a:lnTo>
                <a:lnTo>
                  <a:pt x="0" y="3575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7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7"/>
          <p:cNvSpPr txBox="1"/>
          <p:nvPr/>
        </p:nvSpPr>
        <p:spPr>
          <a:xfrm>
            <a:off x="2107420" y="4746189"/>
            <a:ext cx="9063663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Escribimos el siguiente comando en consola para levantar el Frontend: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27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61" name="Google Shape;561;p27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62" name="Google Shape;562;p27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63" name="Google Shape;563;p27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64" name="Google Shape;564;p27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5" name="Google Shape;565;p27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66" name="Google Shape;566;p27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27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1" name="Google Shape;571;p27"/>
          <p:cNvSpPr/>
          <p:nvPr/>
        </p:nvSpPr>
        <p:spPr>
          <a:xfrm>
            <a:off x="2107420" y="6897175"/>
            <a:ext cx="9543575" cy="1930364"/>
          </a:xfrm>
          <a:custGeom>
            <a:rect b="b" l="l" r="r" t="t"/>
            <a:pathLst>
              <a:path extrusionOk="0" h="1930364" w="9543575">
                <a:moveTo>
                  <a:pt x="0" y="0"/>
                </a:moveTo>
                <a:lnTo>
                  <a:pt x="9543575" y="0"/>
                </a:lnTo>
                <a:lnTo>
                  <a:pt x="9543575" y="1930364"/>
                </a:lnTo>
                <a:lnTo>
                  <a:pt x="0" y="1930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8"/>
          <p:cNvSpPr txBox="1"/>
          <p:nvPr/>
        </p:nvSpPr>
        <p:spPr>
          <a:xfrm>
            <a:off x="2107420" y="2817324"/>
            <a:ext cx="9063663" cy="1457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7"/>
              <a:buFont typeface="Arial"/>
              <a:buNone/>
            </a:pPr>
            <a:r>
              <a:rPr b="1" i="0" lang="en-US" sz="11807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Paso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 txBox="1"/>
          <p:nvPr/>
        </p:nvSpPr>
        <p:spPr>
          <a:xfrm>
            <a:off x="2107420" y="4995545"/>
            <a:ext cx="9063663" cy="297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En el navegador, escribimos la dirección http://{{host}}:{{port}}/.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6604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Donde host y port son los valores que nos da la terminal al correr el servidor o pueden ser las que nosotros definimos si es que lo hicimos.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p28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79" name="Google Shape;579;p28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80" name="Google Shape;580;p28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81" name="Google Shape;581;p28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582" name="Google Shape;582;p28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3" name="Google Shape;583;p28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584" name="Google Shape;584;p28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8" name="Google Shape;588;p28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9"/>
          <p:cNvGrpSpPr/>
          <p:nvPr/>
        </p:nvGrpSpPr>
        <p:grpSpPr>
          <a:xfrm>
            <a:off x="2107420" y="2981630"/>
            <a:ext cx="9063663" cy="2211558"/>
            <a:chOff x="0" y="316072"/>
            <a:chExt cx="12084883" cy="2948743"/>
          </a:xfrm>
        </p:grpSpPr>
        <p:sp>
          <p:nvSpPr>
            <p:cNvPr id="594" name="Google Shape;594;p29"/>
            <p:cNvSpPr txBox="1"/>
            <p:nvPr/>
          </p:nvSpPr>
          <p:spPr>
            <a:xfrm>
              <a:off x="0" y="316072"/>
              <a:ext cx="12084883" cy="20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99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07"/>
                <a:buFont typeface="Arial"/>
                <a:buNone/>
              </a:pPr>
              <a:r>
                <a:rPr b="1" i="0" lang="en-US" sz="11807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Paso 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9"/>
            <p:cNvSpPr txBox="1"/>
            <p:nvPr/>
          </p:nvSpPr>
          <p:spPr>
            <a:xfrm>
              <a:off x="0" y="2581555"/>
              <a:ext cx="12084883" cy="683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66041"/>
                  </a:solidFill>
                  <a:latin typeface="DM Sans"/>
                  <a:ea typeface="DM Sans"/>
                  <a:cs typeface="DM Sans"/>
                  <a:sym typeface="DM Sans"/>
                </a:rPr>
                <a:t>Ya tenemos nuestra página levantada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29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597" name="Google Shape;597;p29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98" name="Google Shape;598;p29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599" name="Google Shape;599;p29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sp>
        <p:nvSpPr>
          <p:cNvPr id="600" name="Google Shape;600;p29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1" name="Google Shape;601;p29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602" name="Google Shape;602;p29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29"/>
          <p:cNvSpPr/>
          <p:nvPr/>
        </p:nvSpPr>
        <p:spPr>
          <a:xfrm>
            <a:off x="11167206" y="2910443"/>
            <a:ext cx="4631613" cy="4631613"/>
          </a:xfrm>
          <a:custGeom>
            <a:rect b="b" l="l" r="r" t="t"/>
            <a:pathLst>
              <a:path extrusionOk="0" h="4631613" w="4631613">
                <a:moveTo>
                  <a:pt x="0" y="0"/>
                </a:moveTo>
                <a:lnTo>
                  <a:pt x="4631613" y="0"/>
                </a:lnTo>
                <a:lnTo>
                  <a:pt x="4631613" y="4631613"/>
                </a:lnTo>
                <a:lnTo>
                  <a:pt x="0" y="4631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7" name="Google Shape;607;p29"/>
          <p:cNvSpPr/>
          <p:nvPr/>
        </p:nvSpPr>
        <p:spPr>
          <a:xfrm>
            <a:off x="2695800" y="4957445"/>
            <a:ext cx="7886902" cy="5411253"/>
          </a:xfrm>
          <a:custGeom>
            <a:rect b="b" l="l" r="r" t="t"/>
            <a:pathLst>
              <a:path extrusionOk="0" h="5411253" w="7886902">
                <a:moveTo>
                  <a:pt x="0" y="0"/>
                </a:moveTo>
                <a:lnTo>
                  <a:pt x="7886902" y="0"/>
                </a:lnTo>
                <a:lnTo>
                  <a:pt x="7886902" y="5411253"/>
                </a:lnTo>
                <a:lnTo>
                  <a:pt x="0" y="5411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EDA3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0"/>
          <p:cNvSpPr txBox="1"/>
          <p:nvPr/>
        </p:nvSpPr>
        <p:spPr>
          <a:xfrm>
            <a:off x="1476324" y="3940476"/>
            <a:ext cx="15335352" cy="2482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6"/>
              <a:buFont typeface="Arial"/>
              <a:buNone/>
            </a:pPr>
            <a:r>
              <a:rPr b="1" i="0" lang="en-US" sz="8836" u="none" cap="none" strike="noStrike">
                <a:solidFill>
                  <a:srgbClr val="266041"/>
                </a:solidFill>
                <a:latin typeface="DM Sans"/>
                <a:ea typeface="DM Sans"/>
                <a:cs typeface="DM Sans"/>
                <a:sym typeface="DM Sans"/>
              </a:rPr>
              <a:t>Listo!, Ya podemos empezar a aprender más de Django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3" name="Google Shape;6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8002" y="4806541"/>
            <a:ext cx="3890527" cy="192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4" name="Google Shape;614;p30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615" name="Google Shape;615;p30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616" name="Google Shape;616;p30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  <p:sp>
          <p:nvSpPr>
            <p:cNvPr id="617" name="Google Shape;617;p30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</p:sp>
      </p:grpSp>
      <p:grpSp>
        <p:nvGrpSpPr>
          <p:cNvPr id="618" name="Google Shape;618;p30"/>
          <p:cNvGrpSpPr/>
          <p:nvPr/>
        </p:nvGrpSpPr>
        <p:grpSpPr>
          <a:xfrm>
            <a:off x="17259300" y="4147969"/>
            <a:ext cx="176115" cy="1619046"/>
            <a:chOff x="0" y="0"/>
            <a:chExt cx="234820" cy="2158728"/>
          </a:xfrm>
        </p:grpSpPr>
        <p:sp>
          <p:nvSpPr>
            <p:cNvPr id="619" name="Google Shape;619;p30"/>
            <p:cNvSpPr/>
            <p:nvPr/>
          </p:nvSpPr>
          <p:spPr>
            <a:xfrm>
              <a:off x="0" y="128256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0" y="64122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0" y="192390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66041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3" name="Google Shape;623;p30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4" name="Google Shape;624;p30"/>
          <p:cNvSpPr/>
          <p:nvPr/>
        </p:nvSpPr>
        <p:spPr>
          <a:xfrm>
            <a:off x="7657929" y="6100412"/>
            <a:ext cx="3406307" cy="3406307"/>
          </a:xfrm>
          <a:custGeom>
            <a:rect b="b" l="l" r="r" t="t"/>
            <a:pathLst>
              <a:path extrusionOk="0" h="3406307" w="3406307">
                <a:moveTo>
                  <a:pt x="0" y="0"/>
                </a:moveTo>
                <a:lnTo>
                  <a:pt x="3406308" y="0"/>
                </a:lnTo>
                <a:lnTo>
                  <a:pt x="3406308" y="3406307"/>
                </a:lnTo>
                <a:lnTo>
                  <a:pt x="0" y="3406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BD1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31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630" name="Google Shape;630;p31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631" name="Google Shape;631;p31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  <p:sp>
          <p:nvSpPr>
            <p:cNvPr id="632" name="Google Shape;632;p31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</p:sp>
      </p:grpSp>
      <p:grpSp>
        <p:nvGrpSpPr>
          <p:cNvPr id="633" name="Google Shape;633;p31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634" name="Google Shape;634;p31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>
                <a:alpha val="4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52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31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9" name="Google Shape;639;p31"/>
          <p:cNvSpPr txBox="1"/>
          <p:nvPr/>
        </p:nvSpPr>
        <p:spPr>
          <a:xfrm>
            <a:off x="7740997" y="4656394"/>
            <a:ext cx="8590406" cy="1534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2"/>
              <a:buFont typeface="Arial"/>
              <a:buNone/>
            </a:pPr>
            <a:r>
              <a:rPr b="1" i="0" lang="en-US" sz="11552" u="none" cap="none" strike="noStrike">
                <a:solidFill>
                  <a:srgbClr val="C25252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B0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2"/>
          <p:cNvSpPr txBox="1"/>
          <p:nvPr/>
        </p:nvSpPr>
        <p:spPr>
          <a:xfrm>
            <a:off x="9649453" y="4316048"/>
            <a:ext cx="4643673" cy="1450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9"/>
              <a:buFont typeface="Arial"/>
              <a:buNone/>
            </a:pPr>
            <a:r>
              <a:rPr b="1" i="0" lang="en-US" sz="10999" u="none" cap="none" strike="noStrike">
                <a:solidFill>
                  <a:srgbClr val="FF9100"/>
                </a:solidFill>
                <a:latin typeface="DM Sans"/>
                <a:ea typeface="DM Sans"/>
                <a:cs typeface="DM Sans"/>
                <a:sym typeface="DM Sans"/>
              </a:rPr>
              <a:t>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32"/>
          <p:cNvGrpSpPr/>
          <p:nvPr/>
        </p:nvGrpSpPr>
        <p:grpSpPr>
          <a:xfrm>
            <a:off x="1038515" y="1028700"/>
            <a:ext cx="358140" cy="358140"/>
            <a:chOff x="0" y="0"/>
            <a:chExt cx="477520" cy="477520"/>
          </a:xfrm>
        </p:grpSpPr>
        <p:sp>
          <p:nvSpPr>
            <p:cNvPr id="646" name="Google Shape;646;p32"/>
            <p:cNvSpPr/>
            <p:nvPr/>
          </p:nvSpPr>
          <p:spPr>
            <a:xfrm>
              <a:off x="0" y="0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  <p:sp>
          <p:nvSpPr>
            <p:cNvPr id="647" name="Google Shape;647;p32"/>
            <p:cNvSpPr/>
            <p:nvPr/>
          </p:nvSpPr>
          <p:spPr>
            <a:xfrm>
              <a:off x="0" y="199964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  <p:sp>
          <p:nvSpPr>
            <p:cNvPr id="648" name="Google Shape;648;p32"/>
            <p:cNvSpPr/>
            <p:nvPr/>
          </p:nvSpPr>
          <p:spPr>
            <a:xfrm>
              <a:off x="0" y="399927"/>
              <a:ext cx="477520" cy="77593"/>
            </a:xfrm>
            <a:custGeom>
              <a:rect b="b" l="l" r="r" t="t"/>
              <a:pathLst>
                <a:path extrusionOk="0" h="3109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310990"/>
                  </a:lnTo>
                  <a:lnTo>
                    <a:pt x="0" y="310990"/>
                  </a:ln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</p:sp>
      </p:grpSp>
      <p:sp>
        <p:nvSpPr>
          <p:cNvPr id="649" name="Google Shape;649;p32"/>
          <p:cNvSpPr/>
          <p:nvPr/>
        </p:nvSpPr>
        <p:spPr>
          <a:xfrm rot="5400000">
            <a:off x="17007767" y="9017092"/>
            <a:ext cx="679181" cy="300074"/>
          </a:xfrm>
          <a:custGeom>
            <a:rect b="b" l="l" r="r" t="t"/>
            <a:pathLst>
              <a:path extrusionOk="0" h="300074" w="679181">
                <a:moveTo>
                  <a:pt x="0" y="0"/>
                </a:moveTo>
                <a:lnTo>
                  <a:pt x="679181" y="0"/>
                </a:lnTo>
                <a:lnTo>
                  <a:pt x="679181" y="300074"/>
                </a:lnTo>
                <a:lnTo>
                  <a:pt x="0" y="300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0" name="Google Shape;650;p32"/>
          <p:cNvGrpSpPr/>
          <p:nvPr/>
        </p:nvGrpSpPr>
        <p:grpSpPr>
          <a:xfrm>
            <a:off x="17259300" y="4147875"/>
            <a:ext cx="176115" cy="1619139"/>
            <a:chOff x="0" y="0"/>
            <a:chExt cx="234820" cy="2158852"/>
          </a:xfrm>
        </p:grpSpPr>
        <p:sp>
          <p:nvSpPr>
            <p:cNvPr id="651" name="Google Shape;651;p32"/>
            <p:cNvSpPr/>
            <p:nvPr/>
          </p:nvSpPr>
          <p:spPr>
            <a:xfrm>
              <a:off x="0" y="0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0" y="641344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0" y="1282688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>
                <a:alpha val="2431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0" y="1924032"/>
              <a:ext cx="234820" cy="234820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B52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32"/>
          <p:cNvSpPr/>
          <p:nvPr/>
        </p:nvSpPr>
        <p:spPr>
          <a:xfrm>
            <a:off x="3086860" y="2525474"/>
            <a:ext cx="5559093" cy="4597370"/>
          </a:xfrm>
          <a:custGeom>
            <a:rect b="b" l="l" r="r" t="t"/>
            <a:pathLst>
              <a:path extrusionOk="0" h="4597370" w="5559093">
                <a:moveTo>
                  <a:pt x="0" y="0"/>
                </a:moveTo>
                <a:lnTo>
                  <a:pt x="5559093" y="0"/>
                </a:lnTo>
                <a:lnTo>
                  <a:pt x="5559093" y="4597370"/>
                </a:lnTo>
                <a:lnTo>
                  <a:pt x="0" y="4597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