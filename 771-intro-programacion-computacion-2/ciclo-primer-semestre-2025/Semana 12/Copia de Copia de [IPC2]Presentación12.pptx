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10287000" cx="18288000"/>
  <p:notesSz cx="6858000" cy="9144000"/>
  <p:embeddedFontLst>
    <p:embeddedFont>
      <p:font typeface="Poppins"/>
      <p:regular r:id="rId38"/>
      <p:bold r:id="rId39"/>
      <p:italic r:id="rId40"/>
      <p:boldItalic r:id="rId41"/>
    </p:embeddedFont>
    <p:embeddedFont>
      <p:font typeface="DM Sans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i5SQ8BPiHWkYHc9qmXsa+TMvDZ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20" Type="http://schemas.openxmlformats.org/officeDocument/2006/relationships/slide" Target="slides/slide15.xml"/><Relationship Id="rId42" Type="http://schemas.openxmlformats.org/officeDocument/2006/relationships/font" Target="fonts/DMSans-bold.fntdata"/><Relationship Id="rId41" Type="http://schemas.openxmlformats.org/officeDocument/2006/relationships/font" Target="fonts/Poppins-boldItalic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DMSans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oppins-bold.fntdata"/><Relationship Id="rId16" Type="http://schemas.openxmlformats.org/officeDocument/2006/relationships/slide" Target="slides/slide11.xml"/><Relationship Id="rId38" Type="http://schemas.openxmlformats.org/officeDocument/2006/relationships/font" Target="fonts/Poppi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hyperlink" Target="https://roadmap.sh/fronten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3.gif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3.gif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hyperlink" Target="https://es.wikipedia.org/wiki/L%C3%B3gica_de_negocio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gif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EF4F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072059"/>
            </a:solidFill>
            <a:ln>
              <a:noFill/>
            </a:ln>
          </p:spPr>
        </p:sp>
        <p:sp>
          <p:nvSpPr>
            <p:cNvPr id="86" name="Google Shape;86;p1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072059"/>
            </a:solidFill>
            <a:ln>
              <a:noFill/>
            </a:ln>
          </p:spPr>
        </p:sp>
        <p:sp>
          <p:nvSpPr>
            <p:cNvPr id="87" name="Google Shape;87;p1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072059"/>
            </a:solidFill>
            <a:ln>
              <a:noFill/>
            </a:ln>
          </p:spPr>
        </p:sp>
      </p:grpSp>
      <p:sp>
        <p:nvSpPr>
          <p:cNvPr id="88" name="Google Shape;88;p1"/>
          <p:cNvSpPr/>
          <p:nvPr/>
        </p:nvSpPr>
        <p:spPr>
          <a:xfrm rot="5400000">
            <a:off x="877995" y="8875039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4235365" y="7158417"/>
            <a:ext cx="2676348" cy="2661749"/>
          </a:xfrm>
          <a:custGeom>
            <a:rect b="b" l="l" r="r" t="t"/>
            <a:pathLst>
              <a:path extrusionOk="0" h="2661749" w="2676348">
                <a:moveTo>
                  <a:pt x="0" y="0"/>
                </a:moveTo>
                <a:lnTo>
                  <a:pt x="2676348" y="0"/>
                </a:lnTo>
                <a:lnTo>
                  <a:pt x="2676348" y="2661750"/>
                </a:lnTo>
                <a:lnTo>
                  <a:pt x="0" y="2661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0" name="Google Shape;90;p1"/>
          <p:cNvGrpSpPr/>
          <p:nvPr/>
        </p:nvGrpSpPr>
        <p:grpSpPr>
          <a:xfrm>
            <a:off x="2272932" y="2987253"/>
            <a:ext cx="12137806" cy="3563598"/>
            <a:chOff x="0" y="-77893"/>
            <a:chExt cx="16183741" cy="4751465"/>
          </a:xfrm>
        </p:grpSpPr>
        <p:sp>
          <p:nvSpPr>
            <p:cNvPr id="91" name="Google Shape;91;p1"/>
            <p:cNvSpPr txBox="1"/>
            <p:nvPr/>
          </p:nvSpPr>
          <p:spPr>
            <a:xfrm>
              <a:off x="0" y="1391820"/>
              <a:ext cx="16183741" cy="1813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414" u="none" cap="none" strike="noStrike">
                  <a:solidFill>
                    <a:srgbClr val="3681AD"/>
                  </a:solidFill>
                  <a:latin typeface="DM Sans"/>
                  <a:ea typeface="DM Sans"/>
                  <a:cs typeface="DM Sans"/>
                  <a:sym typeface="DM Sans"/>
                </a:rPr>
                <a:t>Desarrollo Frontend</a:t>
              </a:r>
              <a:endParaRPr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3839817"/>
              <a:ext cx="16183741" cy="833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072059"/>
                  </a:solidFill>
                  <a:latin typeface="Arial"/>
                  <a:ea typeface="Arial"/>
                  <a:cs typeface="Arial"/>
                  <a:sym typeface="Arial"/>
                </a:rPr>
                <a:t>Semana 12</a:t>
              </a:r>
              <a:endParaRPr/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77893"/>
              <a:ext cx="16183741" cy="6417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72059"/>
                  </a:solidFill>
                  <a:latin typeface="Arial"/>
                  <a:ea typeface="Arial"/>
                  <a:cs typeface="Arial"/>
                  <a:sym typeface="Arial"/>
                </a:rPr>
                <a:t>INTRODUCCIÓN A LA PROGRAMACIÓN Y COMPUTACIÓN 2</a:t>
              </a:r>
              <a:endParaRPr/>
            </a:p>
          </p:txBody>
        </p:sp>
      </p:grpSp>
      <p:sp>
        <p:nvSpPr>
          <p:cNvPr id="94" name="Google Shape;94;p1"/>
          <p:cNvSpPr/>
          <p:nvPr/>
        </p:nvSpPr>
        <p:spPr>
          <a:xfrm>
            <a:off x="12431898" y="5347651"/>
            <a:ext cx="3141641" cy="3141641"/>
          </a:xfrm>
          <a:custGeom>
            <a:rect b="b" l="l" r="r" t="t"/>
            <a:pathLst>
              <a:path extrusionOk="0" h="3141641" w="3141641">
                <a:moveTo>
                  <a:pt x="0" y="0"/>
                </a:moveTo>
                <a:lnTo>
                  <a:pt x="3141641" y="0"/>
                </a:lnTo>
                <a:lnTo>
                  <a:pt x="3141641" y="3141641"/>
                </a:lnTo>
                <a:lnTo>
                  <a:pt x="0" y="31416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12584298" y="5500051"/>
            <a:ext cx="3141641" cy="3141641"/>
          </a:xfrm>
          <a:custGeom>
            <a:rect b="b" l="l" r="r" t="t"/>
            <a:pathLst>
              <a:path extrusionOk="0" h="3141641" w="3141641">
                <a:moveTo>
                  <a:pt x="0" y="0"/>
                </a:moveTo>
                <a:lnTo>
                  <a:pt x="3141641" y="0"/>
                </a:lnTo>
                <a:lnTo>
                  <a:pt x="3141641" y="3141641"/>
                </a:lnTo>
                <a:lnTo>
                  <a:pt x="0" y="31416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EF4F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2048147" y="4941472"/>
            <a:ext cx="4516065" cy="1004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71" u="none" cap="none" strike="noStrike">
                <a:solidFill>
                  <a:srgbClr val="072059"/>
                </a:solidFill>
                <a:latin typeface="DM Sans"/>
                <a:ea typeface="DM Sans"/>
                <a:cs typeface="DM Sans"/>
                <a:sym typeface="DM Sans"/>
              </a:rPr>
              <a:t>Agenda</a:t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>
            <a:off x="1028700" y="1028700"/>
            <a:ext cx="358140" cy="358140"/>
            <a:chOff x="0" y="0"/>
            <a:chExt cx="477520" cy="47752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  <p:sp>
          <p:nvSpPr>
            <p:cNvPr id="103" name="Google Shape;103;p2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  <p:sp>
          <p:nvSpPr>
            <p:cNvPr id="104" name="Google Shape;104;p2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</p:grpSp>
      <p:grpSp>
        <p:nvGrpSpPr>
          <p:cNvPr id="105" name="Google Shape;105;p2"/>
          <p:cNvGrpSpPr/>
          <p:nvPr/>
        </p:nvGrpSpPr>
        <p:grpSpPr>
          <a:xfrm>
            <a:off x="17249485" y="4147969"/>
            <a:ext cx="176115" cy="1619046"/>
            <a:chOff x="0" y="0"/>
            <a:chExt cx="234820" cy="2158728"/>
          </a:xfrm>
        </p:grpSpPr>
        <p:sp>
          <p:nvSpPr>
            <p:cNvPr id="106" name="Google Shape;106;p2"/>
            <p:cNvSpPr/>
            <p:nvPr/>
          </p:nvSpPr>
          <p:spPr>
            <a:xfrm>
              <a:off x="0" y="128256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0" y="64122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0" y="192390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2"/>
          <p:cNvSpPr/>
          <p:nvPr/>
        </p:nvSpPr>
        <p:spPr>
          <a:xfrm rot="5400000">
            <a:off x="16997952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0" y="0"/>
                </a:lnTo>
                <a:lnTo>
                  <a:pt x="679180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 txBox="1"/>
          <p:nvPr/>
        </p:nvSpPr>
        <p:spPr>
          <a:xfrm>
            <a:off x="8253285" y="3267478"/>
            <a:ext cx="8208851" cy="3667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l">
              <a:lnSpc>
                <a:spcPct val="25005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Dudas Proyecto 2</a:t>
            </a:r>
            <a:endParaRPr/>
          </a:p>
          <a:p>
            <a:pPr indent="-323848" lvl="1" marL="647695" marR="0" rtl="0" algn="l">
              <a:lnSpc>
                <a:spcPct val="25005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Dudas Tarea 2</a:t>
            </a:r>
            <a:endParaRPr/>
          </a:p>
          <a:p>
            <a:pPr indent="-323848" lvl="1" marL="647695" marR="0" rtl="0" algn="l">
              <a:lnSpc>
                <a:spcPct val="25005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  <a:p>
            <a:pPr indent="-323848" lvl="1" marL="647695" marR="0" rtl="0" algn="l">
              <a:lnSpc>
                <a:spcPct val="25005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Django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3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118" name="Google Shape;118;p3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119" name="Google Shape;119;p3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120" name="Google Shape;120;p3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121" name="Google Shape;121;p3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3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3"/>
          <p:cNvSpPr/>
          <p:nvPr/>
        </p:nvSpPr>
        <p:spPr>
          <a:xfrm>
            <a:off x="9897729" y="4353337"/>
            <a:ext cx="6607842" cy="2827355"/>
          </a:xfrm>
          <a:custGeom>
            <a:rect b="b" l="l" r="r" t="t"/>
            <a:pathLst>
              <a:path extrusionOk="0" h="2827355" w="6607842">
                <a:moveTo>
                  <a:pt x="0" y="0"/>
                </a:moveTo>
                <a:lnTo>
                  <a:pt x="6607842" y="0"/>
                </a:lnTo>
                <a:lnTo>
                  <a:pt x="6607842" y="2827355"/>
                </a:lnTo>
                <a:lnTo>
                  <a:pt x="0" y="2827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3"/>
          <p:cNvSpPr txBox="1"/>
          <p:nvPr/>
        </p:nvSpPr>
        <p:spPr>
          <a:xfrm>
            <a:off x="3115962" y="1482090"/>
            <a:ext cx="5452890" cy="1356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93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3115962" y="3893881"/>
            <a:ext cx="6028038" cy="474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3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El desarrollo web Front-end consiste en la conversión de datos en una interfaz gráfica para que el usuario pueda ver e interactuar con la información de forma digital.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1127144" y="7085442"/>
            <a:ext cx="4552508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4" u="sng" cap="none" strike="noStrike">
                <a:solidFill>
                  <a:srgbClr val="790D0D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https://roadmap.sh/frontend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/>
        </p:nvSpPr>
        <p:spPr>
          <a:xfrm>
            <a:off x="2107420" y="2127893"/>
            <a:ext cx="5777844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Django</a:t>
            </a:r>
            <a:endParaRPr/>
          </a:p>
        </p:txBody>
      </p:sp>
      <p:grpSp>
        <p:nvGrpSpPr>
          <p:cNvPr id="135" name="Google Shape;135;p4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136" name="Google Shape;136;p4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137" name="Google Shape;137;p4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138" name="Google Shape;138;p4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grpSp>
        <p:nvGrpSpPr>
          <p:cNvPr id="139" name="Google Shape;139;p4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140" name="Google Shape;140;p4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4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5" name="Google Shape;1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06725" y="2013593"/>
            <a:ext cx="7158819" cy="733072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 txBox="1"/>
          <p:nvPr/>
        </p:nvSpPr>
        <p:spPr>
          <a:xfrm>
            <a:off x="2107420" y="4407217"/>
            <a:ext cx="7599306" cy="450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4" u="none" cap="none" strike="noStrike">
                <a:solidFill>
                  <a:srgbClr val="266041"/>
                </a:solidFill>
                <a:latin typeface="Arial"/>
                <a:ea typeface="Arial"/>
                <a:cs typeface="Arial"/>
                <a:sym typeface="Arial"/>
              </a:rPr>
              <a:t>Django es un framework de desarrollo web de código abierto, escrito en Python, que respeta el patrón de diseño conocido como modelo–vista–controlador (MVC).</a:t>
            </a:r>
            <a:endParaRPr/>
          </a:p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4" u="none" cap="none" strike="noStrike">
              <a:solidFill>
                <a:srgbClr val="26604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4" u="none" cap="none" strike="noStrike">
                <a:solidFill>
                  <a:srgbClr val="266041"/>
                </a:solidFill>
                <a:latin typeface="Arial"/>
                <a:ea typeface="Arial"/>
                <a:cs typeface="Arial"/>
                <a:sym typeface="Arial"/>
              </a:rPr>
              <a:t>Fue desarrollado originalmente para gestionar páginas web orientadas a noticias de la World Company de Lawrence, Kansas, y fue liberada al público bajo una licencia BSD en julio de 2005; el framework fue nombrado en alusión al guitarrista de jazz gitano Django Reinhardt.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/>
        </p:nvSpPr>
        <p:spPr>
          <a:xfrm>
            <a:off x="2107420" y="2127893"/>
            <a:ext cx="5777844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Django</a:t>
            </a:r>
            <a:endParaRPr/>
          </a:p>
        </p:txBody>
      </p:sp>
      <p:grpSp>
        <p:nvGrpSpPr>
          <p:cNvPr id="153" name="Google Shape;153;p5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155" name="Google Shape;155;p5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156" name="Google Shape;156;p5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grpSp>
        <p:nvGrpSpPr>
          <p:cNvPr id="157" name="Google Shape;157;p5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158" name="Google Shape;158;p5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5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3" name="Google Shape;1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06725" y="2013593"/>
            <a:ext cx="7158819" cy="733072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 txBox="1"/>
          <p:nvPr/>
        </p:nvSpPr>
        <p:spPr>
          <a:xfrm>
            <a:off x="2107420" y="4407217"/>
            <a:ext cx="7599306" cy="450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4" u="none" cap="none" strike="noStrike">
                <a:solidFill>
                  <a:srgbClr val="266041"/>
                </a:solidFill>
                <a:latin typeface="Arial"/>
                <a:ea typeface="Arial"/>
                <a:cs typeface="Arial"/>
                <a:sym typeface="Arial"/>
              </a:rPr>
              <a:t>En junio de 2008 fue anunciado que la recién formada Django Software Foundation se haría cargo de Django en el futuro.</a:t>
            </a:r>
            <a:endParaRPr/>
          </a:p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4" u="none" cap="none" strike="noStrike">
              <a:solidFill>
                <a:srgbClr val="26604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4" u="none" cap="none" strike="noStrike">
                <a:solidFill>
                  <a:srgbClr val="266041"/>
                </a:solidFill>
                <a:latin typeface="Arial"/>
                <a:ea typeface="Arial"/>
                <a:cs typeface="Arial"/>
                <a:sym typeface="Arial"/>
              </a:rPr>
              <a:t>La meta fundamental de Django es facilitar la creación de sitios web complejos. Django pone énfasis en el re-uso, la conectividad y extensibilidad de componentes, el desarrollo rápido y el principio «DRY» (del inglés Don't Repeat Yourself,«No te repitas»).</a:t>
            </a:r>
            <a:endParaRPr/>
          </a:p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4" u="none" cap="none" strike="noStrike">
              <a:solidFill>
                <a:srgbClr val="2660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EF4F6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/>
        </p:nvSpPr>
        <p:spPr>
          <a:xfrm>
            <a:off x="2353321" y="1133475"/>
            <a:ext cx="13581358" cy="147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98" u="none" cap="none" strike="noStrike">
                <a:solidFill>
                  <a:srgbClr val="072059"/>
                </a:solidFill>
                <a:latin typeface="DM Sans"/>
                <a:ea typeface="DM Sans"/>
                <a:cs typeface="DM Sans"/>
                <a:sym typeface="DM Sans"/>
              </a:rPr>
              <a:t>Características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2353321" y="2467110"/>
            <a:ext cx="13581358" cy="7039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Un mapeador objeto-relacional.</a:t>
            </a:r>
            <a:endParaRPr/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Aplicaciones "enchufables" que pueden instalarse en cualquier página gestionada con Django.</a:t>
            </a:r>
            <a:endParaRPr/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Una API de base de datos robusta.</a:t>
            </a:r>
            <a:endParaRPr/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Un sistema incorporado de "vistas genéricas" que ahorra tener que escribir la lógica de ciertas tareas comunes.</a:t>
            </a:r>
            <a:endParaRPr/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Un sistema extensible de plantillas basado en etiquetas, con herencia de plantillas.</a:t>
            </a:r>
            <a:endParaRPr/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Un despachador de URLs basado en expresiones regulares.</a:t>
            </a:r>
            <a:endParaRPr/>
          </a:p>
          <a:p>
            <a:pPr indent="-240191" lvl="1" marL="4803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Un sistema "middleware" para desarrollar características adicionales; por ejemplo, la distribución principal de Django incluye componentes middleware que proporcionan cacheo, compresión de la salida, normalización de URLs, protección CSRF y soporte de sesiones.</a:t>
            </a:r>
            <a:endParaRPr/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Soporte de internacionalización, incluyendo traducciones incorporadas de la interfaz de administración.</a:t>
            </a:r>
            <a:endParaRPr/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Documentación incorporada accesible a través de la aplicación administrativa (incluyendo documentación generada automáticamente de los modelos y las bibliotecas de plantillas añadidas por las aplicaciones).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25" u="none" cap="none" strike="noStrike">
              <a:solidFill>
                <a:srgbClr val="0720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6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173" name="Google Shape;173;p6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  <p:sp>
          <p:nvSpPr>
            <p:cNvPr id="174" name="Google Shape;174;p6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  <p:sp>
          <p:nvSpPr>
            <p:cNvPr id="175" name="Google Shape;175;p6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</p:grpSp>
      <p:sp>
        <p:nvSpPr>
          <p:cNvPr id="176" name="Google Shape;176;p6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7" name="Google Shape;177;p6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178" name="Google Shape;178;p6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/>
          <p:nvPr/>
        </p:nvSpPr>
        <p:spPr>
          <a:xfrm>
            <a:off x="1728760" y="1783786"/>
            <a:ext cx="15236466" cy="1579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Arquitectura de Django</a:t>
            </a:r>
            <a:endParaRPr/>
          </a:p>
        </p:txBody>
      </p:sp>
      <p:grpSp>
        <p:nvGrpSpPr>
          <p:cNvPr id="187" name="Google Shape;187;p7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188" name="Google Shape;188;p7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189" name="Google Shape;189;p7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190" name="Google Shape;190;p7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191" name="Google Shape;191;p7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192" name="Google Shape;192;p7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7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7"/>
          <p:cNvSpPr txBox="1"/>
          <p:nvPr/>
        </p:nvSpPr>
        <p:spPr>
          <a:xfrm>
            <a:off x="1728760" y="3566563"/>
            <a:ext cx="14320621" cy="526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Aunque Django está fuertemente inspirado en la filosofía de desarrollo Modelo Vista Controlador, sus desarrolladores declaran públicamente que no se sienten especialmente atados a observar estrictamente ningún paradigma particular, y en cambio prefieren hacer "lo que les parece correcto". Como resultado, por ejemplo, lo que se llamaría "controlador" en un "verdadero" framework MVC se llama en Django "vista", y lo que se llamaría "vista" se llama "plantilla".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79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79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Gracias al poder de las capas mediator y foundation, Django permite que los desarrolladores se dediquen a construir los objetos Entity y la lógica de presentación y control para ellos.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79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8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203" name="Google Shape;203;p8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04" name="Google Shape;204;p8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05" name="Google Shape;205;p8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206" name="Google Shape;206;p8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207" name="Google Shape;207;p8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" name="Google Shape;211;p8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8"/>
          <p:cNvSpPr/>
          <p:nvPr/>
        </p:nvSpPr>
        <p:spPr>
          <a:xfrm>
            <a:off x="1396655" y="3479179"/>
            <a:ext cx="6886632" cy="4065943"/>
          </a:xfrm>
          <a:custGeom>
            <a:rect b="b" l="l" r="r" t="t"/>
            <a:pathLst>
              <a:path extrusionOk="0" h="4065943" w="6886632">
                <a:moveTo>
                  <a:pt x="0" y="0"/>
                </a:moveTo>
                <a:lnTo>
                  <a:pt x="6886633" y="0"/>
                </a:lnTo>
                <a:lnTo>
                  <a:pt x="6886633" y="4065943"/>
                </a:lnTo>
                <a:lnTo>
                  <a:pt x="0" y="4065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8"/>
          <p:cNvSpPr txBox="1"/>
          <p:nvPr/>
        </p:nvSpPr>
        <p:spPr>
          <a:xfrm>
            <a:off x="9144000" y="1012261"/>
            <a:ext cx="7821227" cy="312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Arquitectura MVC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9144000" y="4067978"/>
            <a:ext cx="7821227" cy="5509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4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Modelo-vista-controlador (MVC) es un patrón de arquitectura de software, que separa los datos y principalmente lo que es la </a:t>
            </a:r>
            <a:r>
              <a:rPr b="0" i="0" lang="en-US" sz="2384" u="sng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0" i="0" lang="en-US" sz="2384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ógica de negocio de una aplicación de su representación y el módulo encargado de gestionar los eventos y las comunicaciones.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84" u="none" cap="none" strike="noStrike">
              <a:solidFill>
                <a:srgbClr val="79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4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Para ello MVC propone la construcción de tres componentes distintos que son el modelo, la vista y el controlador; es decir: por un lado define componentes para la representación de la información y, por otro lado, para la interacción del usuario.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9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220" name="Google Shape;220;p9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21" name="Google Shape;221;p9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22" name="Google Shape;222;p9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223" name="Google Shape;223;p9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224" name="Google Shape;224;p9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9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" name="Google Shape;228;p9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9"/>
          <p:cNvSpPr/>
          <p:nvPr/>
        </p:nvSpPr>
        <p:spPr>
          <a:xfrm>
            <a:off x="1217585" y="3113490"/>
            <a:ext cx="7346634" cy="5714049"/>
          </a:xfrm>
          <a:custGeom>
            <a:rect b="b" l="l" r="r" t="t"/>
            <a:pathLst>
              <a:path extrusionOk="0" h="5714049" w="7346634">
                <a:moveTo>
                  <a:pt x="0" y="0"/>
                </a:moveTo>
                <a:lnTo>
                  <a:pt x="7346634" y="0"/>
                </a:lnTo>
                <a:lnTo>
                  <a:pt x="7346634" y="5714049"/>
                </a:lnTo>
                <a:lnTo>
                  <a:pt x="0" y="5714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9"/>
          <p:cNvSpPr txBox="1"/>
          <p:nvPr/>
        </p:nvSpPr>
        <p:spPr>
          <a:xfrm>
            <a:off x="9144000" y="1783786"/>
            <a:ext cx="7821227" cy="1579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Modelo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9144000" y="4067978"/>
            <a:ext cx="7821227" cy="5454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4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Es la representación de la información con la cual el sistema opera, por lo tanto gestiona todos los accesos a dicha información, tanto consultas como actualizaciones, implementando también los privilegios de acceso que se hayan descrito en las especificaciones de la aplicación (lógica de negocio). Envía a la 'vista' aquella parte de la información que en cada momento se le solicita para que sea mostrada (típicamente a un usuario). Las peticiones de acceso o manipulación de información llegan al 'modelo' a través del 'controlador'.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10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237" name="Google Shape;237;p10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38" name="Google Shape;238;p10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39" name="Google Shape;239;p10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240" name="Google Shape;240;p10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241" name="Google Shape;241;p10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10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0"/>
          <p:cNvSpPr/>
          <p:nvPr/>
        </p:nvSpPr>
        <p:spPr>
          <a:xfrm>
            <a:off x="1597959" y="2521069"/>
            <a:ext cx="6505138" cy="6490353"/>
          </a:xfrm>
          <a:custGeom>
            <a:rect b="b" l="l" r="r" t="t"/>
            <a:pathLst>
              <a:path extrusionOk="0" h="6490353" w="6505138">
                <a:moveTo>
                  <a:pt x="0" y="0"/>
                </a:moveTo>
                <a:lnTo>
                  <a:pt x="6505137" y="0"/>
                </a:lnTo>
                <a:lnTo>
                  <a:pt x="6505137" y="6490354"/>
                </a:lnTo>
                <a:lnTo>
                  <a:pt x="0" y="6490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0"/>
          <p:cNvSpPr txBox="1"/>
          <p:nvPr/>
        </p:nvSpPr>
        <p:spPr>
          <a:xfrm>
            <a:off x="9144000" y="1783786"/>
            <a:ext cx="7821227" cy="1579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Vista</a:t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9144000" y="4067978"/>
            <a:ext cx="7821227" cy="2101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4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Presenta el 'modelo' (información y lógica de negocio) en un formato adecuado para interactuar (usualmente la interfaz de usuario), por tanto requiere de dicho 'modelo' la información que debe representar como salida.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1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254" name="Google Shape;254;p11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55" name="Google Shape;255;p11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56" name="Google Shape;256;p11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257" name="Google Shape;257;p11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258" name="Google Shape;258;p11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" name="Google Shape;262;p11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1"/>
          <p:cNvSpPr/>
          <p:nvPr/>
        </p:nvSpPr>
        <p:spPr>
          <a:xfrm>
            <a:off x="1028700" y="2761925"/>
            <a:ext cx="7605581" cy="5704186"/>
          </a:xfrm>
          <a:custGeom>
            <a:rect b="b" l="l" r="r" t="t"/>
            <a:pathLst>
              <a:path extrusionOk="0" h="5704186" w="7605581">
                <a:moveTo>
                  <a:pt x="0" y="0"/>
                </a:moveTo>
                <a:lnTo>
                  <a:pt x="7605581" y="0"/>
                </a:lnTo>
                <a:lnTo>
                  <a:pt x="7605581" y="5704185"/>
                </a:lnTo>
                <a:lnTo>
                  <a:pt x="0" y="5704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1"/>
          <p:cNvSpPr txBox="1"/>
          <p:nvPr/>
        </p:nvSpPr>
        <p:spPr>
          <a:xfrm>
            <a:off x="9144000" y="1783786"/>
            <a:ext cx="7821227" cy="1579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Controlador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9144000" y="3557020"/>
            <a:ext cx="7821227" cy="5454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4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Responde a eventos (usualmente acciones del usuario) e invoca peticiones al 'modelo' cuando se hace alguna solicitud sobre la información (por ejemplo, editar un documento o un registro en una base de datos). También puede enviar comandos a su 'vista' asociada si se solicita un cambio en la forma en que se presenta el 'modelo' (por ejemplo, desplazamiento o scroll por un documento o por los diferentes registros de una base de datos), por tanto se podría decir que el 'controlador' hace de intermediario entre la 'vista' y el 'modelo' (véase Middleware).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12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271" name="Google Shape;271;p12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72" name="Google Shape;272;p12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73" name="Google Shape;273;p12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274" name="Google Shape;274;p12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275" name="Google Shape;275;p12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2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2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2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2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12"/>
          <p:cNvSpPr/>
          <p:nvPr/>
        </p:nvSpPr>
        <p:spPr>
          <a:xfrm>
            <a:off x="8379090" y="1559790"/>
            <a:ext cx="7607339" cy="7607339"/>
          </a:xfrm>
          <a:custGeom>
            <a:rect b="b" l="l" r="r" t="t"/>
            <a:pathLst>
              <a:path extrusionOk="0" h="7607339" w="7607339">
                <a:moveTo>
                  <a:pt x="0" y="0"/>
                </a:moveTo>
                <a:lnTo>
                  <a:pt x="7607339" y="0"/>
                </a:lnTo>
                <a:lnTo>
                  <a:pt x="7607339" y="7607339"/>
                </a:lnTo>
                <a:lnTo>
                  <a:pt x="0" y="760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12"/>
          <p:cNvSpPr txBox="1"/>
          <p:nvPr/>
        </p:nvSpPr>
        <p:spPr>
          <a:xfrm>
            <a:off x="2047027" y="4187672"/>
            <a:ext cx="3939457" cy="1579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MVC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13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287" name="Google Shape;287;p13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88" name="Google Shape;288;p13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89" name="Google Shape;289;p13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290" name="Google Shape;290;p13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291" name="Google Shape;291;p13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5" name="Google Shape;295;p13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3"/>
          <p:cNvSpPr txBox="1"/>
          <p:nvPr/>
        </p:nvSpPr>
        <p:spPr>
          <a:xfrm>
            <a:off x="2204994" y="1312545"/>
            <a:ext cx="9977765" cy="1579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MVC en Django</a:t>
            </a:r>
            <a:endParaRPr/>
          </a:p>
        </p:txBody>
      </p:sp>
      <p:pic>
        <p:nvPicPr>
          <p:cNvPr id="297" name="Google Shape;2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815" y="2891887"/>
            <a:ext cx="13137364" cy="6614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EF4F6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4"/>
          <p:cNvGrpSpPr/>
          <p:nvPr/>
        </p:nvGrpSpPr>
        <p:grpSpPr>
          <a:xfrm>
            <a:off x="1028700" y="1028700"/>
            <a:ext cx="358140" cy="358140"/>
            <a:chOff x="0" y="0"/>
            <a:chExt cx="477520" cy="477520"/>
          </a:xfrm>
        </p:grpSpPr>
        <p:sp>
          <p:nvSpPr>
            <p:cNvPr id="303" name="Google Shape;303;p14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  <p:sp>
          <p:nvSpPr>
            <p:cNvPr id="304" name="Google Shape;304;p14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  <p:sp>
          <p:nvSpPr>
            <p:cNvPr id="305" name="Google Shape;305;p14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</p:grpSp>
      <p:grpSp>
        <p:nvGrpSpPr>
          <p:cNvPr id="306" name="Google Shape;306;p14"/>
          <p:cNvGrpSpPr/>
          <p:nvPr/>
        </p:nvGrpSpPr>
        <p:grpSpPr>
          <a:xfrm>
            <a:off x="17249485" y="4147875"/>
            <a:ext cx="176115" cy="1619139"/>
            <a:chOff x="0" y="0"/>
            <a:chExt cx="234820" cy="2158852"/>
          </a:xfrm>
        </p:grpSpPr>
        <p:sp>
          <p:nvSpPr>
            <p:cNvPr id="307" name="Google Shape;307;p14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" name="Google Shape;311;p14"/>
          <p:cNvSpPr/>
          <p:nvPr/>
        </p:nvSpPr>
        <p:spPr>
          <a:xfrm rot="5400000">
            <a:off x="16997952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0" y="0"/>
                </a:lnTo>
                <a:lnTo>
                  <a:pt x="679180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14"/>
          <p:cNvSpPr/>
          <p:nvPr/>
        </p:nvSpPr>
        <p:spPr>
          <a:xfrm>
            <a:off x="13418578" y="6104157"/>
            <a:ext cx="2672558" cy="3402562"/>
          </a:xfrm>
          <a:custGeom>
            <a:rect b="b" l="l" r="r" t="t"/>
            <a:pathLst>
              <a:path extrusionOk="0" h="3402562" w="2672558">
                <a:moveTo>
                  <a:pt x="0" y="0"/>
                </a:moveTo>
                <a:lnTo>
                  <a:pt x="2672558" y="0"/>
                </a:lnTo>
                <a:lnTo>
                  <a:pt x="2672558" y="3402562"/>
                </a:lnTo>
                <a:lnTo>
                  <a:pt x="0" y="3402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3" name="Google Shape;313;p14"/>
          <p:cNvGrpSpPr/>
          <p:nvPr/>
        </p:nvGrpSpPr>
        <p:grpSpPr>
          <a:xfrm>
            <a:off x="2196864" y="4192633"/>
            <a:ext cx="13894272" cy="2189066"/>
            <a:chOff x="0" y="378029"/>
            <a:chExt cx="18525696" cy="2918755"/>
          </a:xfrm>
        </p:grpSpPr>
        <p:sp>
          <p:nvSpPr>
            <p:cNvPr id="314" name="Google Shape;314;p14"/>
            <p:cNvSpPr txBox="1"/>
            <p:nvPr/>
          </p:nvSpPr>
          <p:spPr>
            <a:xfrm>
              <a:off x="0" y="378029"/>
              <a:ext cx="18525696" cy="1996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807" u="none" cap="none" strike="noStrike">
                  <a:solidFill>
                    <a:srgbClr val="072059"/>
                  </a:solidFill>
                  <a:latin typeface="DM Sans"/>
                  <a:ea typeface="DM Sans"/>
                  <a:cs typeface="DM Sans"/>
                  <a:sym typeface="DM Sans"/>
                </a:rPr>
                <a:t>Iniciemos con Django</a:t>
              </a:r>
              <a:endParaRPr/>
            </a:p>
          </p:txBody>
        </p:sp>
        <p:sp>
          <p:nvSpPr>
            <p:cNvPr id="315" name="Google Shape;315;p14"/>
            <p:cNvSpPr txBox="1"/>
            <p:nvPr/>
          </p:nvSpPr>
          <p:spPr>
            <a:xfrm>
              <a:off x="0" y="2613524"/>
              <a:ext cx="18525696" cy="683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072059"/>
                  </a:solidFill>
                  <a:latin typeface="DM Sans"/>
                  <a:ea typeface="DM Sans"/>
                  <a:cs typeface="DM Sans"/>
                  <a:sym typeface="DM Sans"/>
                </a:rPr>
                <a:t>Pasos para crear tu primer Proyecto en Django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15"/>
          <p:cNvGrpSpPr/>
          <p:nvPr/>
        </p:nvGrpSpPr>
        <p:grpSpPr>
          <a:xfrm>
            <a:off x="2107420" y="2981630"/>
            <a:ext cx="9063663" cy="2211558"/>
            <a:chOff x="0" y="316072"/>
            <a:chExt cx="12084883" cy="2948743"/>
          </a:xfrm>
        </p:grpSpPr>
        <p:sp>
          <p:nvSpPr>
            <p:cNvPr id="321" name="Google Shape;321;p15"/>
            <p:cNvSpPr txBox="1"/>
            <p:nvPr/>
          </p:nvSpPr>
          <p:spPr>
            <a:xfrm>
              <a:off x="0" y="316072"/>
              <a:ext cx="12084883" cy="2054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807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Paso 1</a:t>
              </a:r>
              <a:endParaRPr/>
            </a:p>
          </p:txBody>
        </p:sp>
        <p:sp>
          <p:nvSpPr>
            <p:cNvPr id="322" name="Google Shape;322;p15"/>
            <p:cNvSpPr txBox="1"/>
            <p:nvPr/>
          </p:nvSpPr>
          <p:spPr>
            <a:xfrm>
              <a:off x="0" y="2581555"/>
              <a:ext cx="12084883" cy="683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Instala Django</a:t>
              </a:r>
              <a:endParaRPr/>
            </a:p>
          </p:txBody>
        </p:sp>
      </p:grpSp>
      <p:grpSp>
        <p:nvGrpSpPr>
          <p:cNvPr id="323" name="Google Shape;323;p15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324" name="Google Shape;324;p15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25" name="Google Shape;325;p15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26" name="Google Shape;326;p15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327" name="Google Shape;327;p15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8" name="Google Shape;328;p15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329" name="Google Shape;329;p15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3" name="Google Shape;333;p15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15"/>
          <p:cNvSpPr/>
          <p:nvPr/>
        </p:nvSpPr>
        <p:spPr>
          <a:xfrm>
            <a:off x="2107420" y="5445837"/>
            <a:ext cx="8196311" cy="3073617"/>
          </a:xfrm>
          <a:custGeom>
            <a:rect b="b" l="l" r="r" t="t"/>
            <a:pathLst>
              <a:path extrusionOk="0" h="3073617" w="8196311">
                <a:moveTo>
                  <a:pt x="0" y="0"/>
                </a:moveTo>
                <a:lnTo>
                  <a:pt x="8196311" y="0"/>
                </a:lnTo>
                <a:lnTo>
                  <a:pt x="8196311" y="3073616"/>
                </a:lnTo>
                <a:lnTo>
                  <a:pt x="0" y="3073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6"/>
          <p:cNvGrpSpPr/>
          <p:nvPr/>
        </p:nvGrpSpPr>
        <p:grpSpPr>
          <a:xfrm>
            <a:off x="2107420" y="2981630"/>
            <a:ext cx="9063663" cy="2211558"/>
            <a:chOff x="0" y="316072"/>
            <a:chExt cx="12084883" cy="2948743"/>
          </a:xfrm>
        </p:grpSpPr>
        <p:sp>
          <p:nvSpPr>
            <p:cNvPr id="340" name="Google Shape;340;p16"/>
            <p:cNvSpPr txBox="1"/>
            <p:nvPr/>
          </p:nvSpPr>
          <p:spPr>
            <a:xfrm>
              <a:off x="0" y="316072"/>
              <a:ext cx="12084883" cy="2054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807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Paso 2</a:t>
              </a:r>
              <a:endParaRPr/>
            </a:p>
          </p:txBody>
        </p:sp>
        <p:sp>
          <p:nvSpPr>
            <p:cNvPr id="341" name="Google Shape;341;p16"/>
            <p:cNvSpPr txBox="1"/>
            <p:nvPr/>
          </p:nvSpPr>
          <p:spPr>
            <a:xfrm>
              <a:off x="0" y="2581555"/>
              <a:ext cx="12084883" cy="683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Ingresa el siguiente comando</a:t>
              </a:r>
              <a:endParaRPr/>
            </a:p>
          </p:txBody>
        </p:sp>
      </p:grpSp>
      <p:grpSp>
        <p:nvGrpSpPr>
          <p:cNvPr id="342" name="Google Shape;342;p16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343" name="Google Shape;343;p16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44" name="Google Shape;344;p16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45" name="Google Shape;345;p16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346" name="Google Shape;346;p16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7" name="Google Shape;347;p16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348" name="Google Shape;348;p16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2" name="Google Shape;352;p16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3" name="Google Shape;353;p16"/>
          <p:cNvSpPr/>
          <p:nvPr/>
        </p:nvSpPr>
        <p:spPr>
          <a:xfrm>
            <a:off x="2107420" y="5767015"/>
            <a:ext cx="9063663" cy="2799665"/>
          </a:xfrm>
          <a:custGeom>
            <a:rect b="b" l="l" r="r" t="t"/>
            <a:pathLst>
              <a:path extrusionOk="0" h="2799665" w="9063663">
                <a:moveTo>
                  <a:pt x="0" y="0"/>
                </a:moveTo>
                <a:lnTo>
                  <a:pt x="9063662" y="0"/>
                </a:lnTo>
                <a:lnTo>
                  <a:pt x="9063662" y="2799664"/>
                </a:lnTo>
                <a:lnTo>
                  <a:pt x="0" y="2799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17"/>
          <p:cNvGrpSpPr/>
          <p:nvPr/>
        </p:nvGrpSpPr>
        <p:grpSpPr>
          <a:xfrm>
            <a:off x="2107420" y="2733980"/>
            <a:ext cx="9063663" cy="2706858"/>
            <a:chOff x="0" y="316072"/>
            <a:chExt cx="12084883" cy="3609143"/>
          </a:xfrm>
        </p:grpSpPr>
        <p:sp>
          <p:nvSpPr>
            <p:cNvPr id="359" name="Google Shape;359;p17"/>
            <p:cNvSpPr txBox="1"/>
            <p:nvPr/>
          </p:nvSpPr>
          <p:spPr>
            <a:xfrm>
              <a:off x="0" y="316072"/>
              <a:ext cx="12084883" cy="2054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807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Paso 3</a:t>
              </a:r>
              <a:endParaRPr/>
            </a:p>
          </p:txBody>
        </p:sp>
        <p:sp>
          <p:nvSpPr>
            <p:cNvPr id="360" name="Google Shape;360;p17"/>
            <p:cNvSpPr txBox="1"/>
            <p:nvPr/>
          </p:nvSpPr>
          <p:spPr>
            <a:xfrm>
              <a:off x="0" y="2581555"/>
              <a:ext cx="12084883" cy="1343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Nos ubicamos en la carpeta del proyecto y escribimos lo siguiente para crear nuestra App:</a:t>
              </a:r>
              <a:endParaRPr/>
            </a:p>
          </p:txBody>
        </p:sp>
      </p:grpSp>
      <p:grpSp>
        <p:nvGrpSpPr>
          <p:cNvPr id="361" name="Google Shape;361;p17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362" name="Google Shape;362;p17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63" name="Google Shape;363;p17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64" name="Google Shape;364;p17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365" name="Google Shape;365;p17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6" name="Google Shape;366;p17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367" name="Google Shape;367;p17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1" name="Google Shape;371;p17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2" name="Google Shape;372;p17"/>
          <p:cNvSpPr/>
          <p:nvPr/>
        </p:nvSpPr>
        <p:spPr>
          <a:xfrm>
            <a:off x="2107420" y="5749159"/>
            <a:ext cx="9059786" cy="3543383"/>
          </a:xfrm>
          <a:custGeom>
            <a:rect b="b" l="l" r="r" t="t"/>
            <a:pathLst>
              <a:path extrusionOk="0" h="3543383" w="9059786">
                <a:moveTo>
                  <a:pt x="0" y="0"/>
                </a:moveTo>
                <a:lnTo>
                  <a:pt x="9059786" y="0"/>
                </a:lnTo>
                <a:lnTo>
                  <a:pt x="9059786" y="3543383"/>
                </a:lnTo>
                <a:lnTo>
                  <a:pt x="0" y="35433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18"/>
          <p:cNvGrpSpPr/>
          <p:nvPr/>
        </p:nvGrpSpPr>
        <p:grpSpPr>
          <a:xfrm>
            <a:off x="2107420" y="2733980"/>
            <a:ext cx="9063663" cy="2706858"/>
            <a:chOff x="0" y="316072"/>
            <a:chExt cx="12084883" cy="3609143"/>
          </a:xfrm>
        </p:grpSpPr>
        <p:sp>
          <p:nvSpPr>
            <p:cNvPr id="378" name="Google Shape;378;p18"/>
            <p:cNvSpPr txBox="1"/>
            <p:nvPr/>
          </p:nvSpPr>
          <p:spPr>
            <a:xfrm>
              <a:off x="0" y="316072"/>
              <a:ext cx="12084883" cy="2054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807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Paso 4</a:t>
              </a:r>
              <a:endParaRPr/>
            </a:p>
          </p:txBody>
        </p:sp>
        <p:sp>
          <p:nvSpPr>
            <p:cNvPr id="379" name="Google Shape;379;p18"/>
            <p:cNvSpPr txBox="1"/>
            <p:nvPr/>
          </p:nvSpPr>
          <p:spPr>
            <a:xfrm>
              <a:off x="0" y="2581555"/>
              <a:ext cx="12084883" cy="1343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En la carpeta App agregamos las carpetas static y templates</a:t>
              </a:r>
              <a:endParaRPr/>
            </a:p>
          </p:txBody>
        </p:sp>
      </p:grpSp>
      <p:grpSp>
        <p:nvGrpSpPr>
          <p:cNvPr id="380" name="Google Shape;380;p18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381" name="Google Shape;381;p18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82" name="Google Shape;382;p18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83" name="Google Shape;383;p18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384" name="Google Shape;384;p18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5" name="Google Shape;385;p18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386" name="Google Shape;386;p18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18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p18"/>
          <p:cNvSpPr/>
          <p:nvPr/>
        </p:nvSpPr>
        <p:spPr>
          <a:xfrm>
            <a:off x="3200428" y="5767015"/>
            <a:ext cx="6877645" cy="3241513"/>
          </a:xfrm>
          <a:custGeom>
            <a:rect b="b" l="l" r="r" t="t"/>
            <a:pathLst>
              <a:path extrusionOk="0" h="3241513" w="6877645">
                <a:moveTo>
                  <a:pt x="0" y="0"/>
                </a:moveTo>
                <a:lnTo>
                  <a:pt x="6877646" y="0"/>
                </a:lnTo>
                <a:lnTo>
                  <a:pt x="6877646" y="3241513"/>
                </a:lnTo>
                <a:lnTo>
                  <a:pt x="0" y="3241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9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5</a:t>
            </a:r>
            <a:endParaRPr/>
          </a:p>
        </p:txBody>
      </p:sp>
      <p:sp>
        <p:nvSpPr>
          <p:cNvPr id="397" name="Google Shape;397;p19"/>
          <p:cNvSpPr txBox="1"/>
          <p:nvPr/>
        </p:nvSpPr>
        <p:spPr>
          <a:xfrm>
            <a:off x="2107420" y="4442618"/>
            <a:ext cx="9063663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Vamos a settings.py y encontraremos la siguiente linea:</a:t>
            </a:r>
            <a:endParaRPr/>
          </a:p>
        </p:txBody>
      </p:sp>
      <p:grpSp>
        <p:nvGrpSpPr>
          <p:cNvPr id="398" name="Google Shape;398;p19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399" name="Google Shape;399;p19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00" name="Google Shape;400;p19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01" name="Google Shape;401;p19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402" name="Google Shape;402;p19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3" name="Google Shape;403;p19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404" name="Google Shape;404;p19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8" name="Google Shape;408;p19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9" name="Google Shape;409;p19"/>
          <p:cNvSpPr/>
          <p:nvPr/>
        </p:nvSpPr>
        <p:spPr>
          <a:xfrm>
            <a:off x="3195501" y="5611594"/>
            <a:ext cx="6082295" cy="1655994"/>
          </a:xfrm>
          <a:custGeom>
            <a:rect b="b" l="l" r="r" t="t"/>
            <a:pathLst>
              <a:path extrusionOk="0" h="1655994" w="6082295">
                <a:moveTo>
                  <a:pt x="0" y="0"/>
                </a:moveTo>
                <a:lnTo>
                  <a:pt x="6082295" y="0"/>
                </a:lnTo>
                <a:lnTo>
                  <a:pt x="6082295" y="1655993"/>
                </a:lnTo>
                <a:lnTo>
                  <a:pt x="0" y="1655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0" name="Google Shape;410;p19"/>
          <p:cNvSpPr txBox="1"/>
          <p:nvPr/>
        </p:nvSpPr>
        <p:spPr>
          <a:xfrm>
            <a:off x="2103544" y="7580156"/>
            <a:ext cx="9063663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Se dice entonces que en la carpeta que definamos acá, se guardarán los archivos estáticos que se necesiten (CSS, JS, imágenes, etc).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0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6</a:t>
            </a:r>
            <a:endParaRPr/>
          </a:p>
        </p:txBody>
      </p:sp>
      <p:sp>
        <p:nvSpPr>
          <p:cNvPr id="416" name="Google Shape;416;p20"/>
          <p:cNvSpPr txBox="1"/>
          <p:nvPr/>
        </p:nvSpPr>
        <p:spPr>
          <a:xfrm>
            <a:off x="2107420" y="4194968"/>
            <a:ext cx="9063663" cy="149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Ahora en el mismo archivo de settings.py, en la sección de Application definition, aparecerá algo como esto:</a:t>
            </a:r>
            <a:endParaRPr/>
          </a:p>
        </p:txBody>
      </p:sp>
      <p:grpSp>
        <p:nvGrpSpPr>
          <p:cNvPr id="417" name="Google Shape;417;p20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418" name="Google Shape;418;p20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19" name="Google Shape;419;p20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20" name="Google Shape;420;p20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421" name="Google Shape;421;p20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2" name="Google Shape;422;p20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423" name="Google Shape;423;p20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7" name="Google Shape;427;p20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8" name="Google Shape;428;p20"/>
          <p:cNvSpPr/>
          <p:nvPr/>
        </p:nvSpPr>
        <p:spPr>
          <a:xfrm>
            <a:off x="3691959" y="5688488"/>
            <a:ext cx="6396169" cy="2262258"/>
          </a:xfrm>
          <a:custGeom>
            <a:rect b="b" l="l" r="r" t="t"/>
            <a:pathLst>
              <a:path extrusionOk="0" h="2262258" w="6396169">
                <a:moveTo>
                  <a:pt x="0" y="0"/>
                </a:moveTo>
                <a:lnTo>
                  <a:pt x="6396170" y="0"/>
                </a:lnTo>
                <a:lnTo>
                  <a:pt x="6396170" y="2262258"/>
                </a:lnTo>
                <a:lnTo>
                  <a:pt x="0" y="2262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9" name="Google Shape;429;p20"/>
          <p:cNvSpPr txBox="1"/>
          <p:nvPr/>
        </p:nvSpPr>
        <p:spPr>
          <a:xfrm>
            <a:off x="2107420" y="8347479"/>
            <a:ext cx="9063663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Es aquí donde debemos agregar la aplicación que creamos.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1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6.1</a:t>
            </a:r>
            <a:endParaRPr/>
          </a:p>
        </p:txBody>
      </p:sp>
      <p:sp>
        <p:nvSpPr>
          <p:cNvPr id="435" name="Google Shape;435;p21"/>
          <p:cNvSpPr txBox="1"/>
          <p:nvPr/>
        </p:nvSpPr>
        <p:spPr>
          <a:xfrm>
            <a:off x="2107420" y="4194968"/>
            <a:ext cx="9063663" cy="149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Para encontrar el nombre de la aplicación vamos a apps.py dentro de la carpeta APP y encontraremos lo siguiente:</a:t>
            </a:r>
            <a:endParaRPr/>
          </a:p>
        </p:txBody>
      </p:sp>
      <p:grpSp>
        <p:nvGrpSpPr>
          <p:cNvPr id="436" name="Google Shape;436;p21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437" name="Google Shape;437;p21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38" name="Google Shape;438;p21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39" name="Google Shape;439;p21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440" name="Google Shape;440;p21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1" name="Google Shape;441;p21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442" name="Google Shape;442;p21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1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6" name="Google Shape;446;p21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7" name="Google Shape;447;p21"/>
          <p:cNvSpPr/>
          <p:nvPr/>
        </p:nvSpPr>
        <p:spPr>
          <a:xfrm>
            <a:off x="2107420" y="5767015"/>
            <a:ext cx="8898191" cy="3902420"/>
          </a:xfrm>
          <a:custGeom>
            <a:rect b="b" l="l" r="r" t="t"/>
            <a:pathLst>
              <a:path extrusionOk="0" h="3902420" w="8898191">
                <a:moveTo>
                  <a:pt x="0" y="0"/>
                </a:moveTo>
                <a:lnTo>
                  <a:pt x="8898190" y="0"/>
                </a:lnTo>
                <a:lnTo>
                  <a:pt x="8898190" y="3902420"/>
                </a:lnTo>
                <a:lnTo>
                  <a:pt x="0" y="3902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2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6.2</a:t>
            </a:r>
            <a:endParaRPr/>
          </a:p>
        </p:txBody>
      </p:sp>
      <p:sp>
        <p:nvSpPr>
          <p:cNvPr id="453" name="Google Shape;453;p22"/>
          <p:cNvSpPr txBox="1"/>
          <p:nvPr/>
        </p:nvSpPr>
        <p:spPr>
          <a:xfrm>
            <a:off x="2107420" y="4194968"/>
            <a:ext cx="9063663" cy="149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Debemos de copiar el nombre de la clase que está en el archivo apps.py y pegarla en la lista de INSTALLED_APPS en settings.py.</a:t>
            </a:r>
            <a:endParaRPr/>
          </a:p>
        </p:txBody>
      </p:sp>
      <p:grpSp>
        <p:nvGrpSpPr>
          <p:cNvPr id="454" name="Google Shape;454;p22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455" name="Google Shape;455;p22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56" name="Google Shape;456;p22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57" name="Google Shape;457;p22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458" name="Google Shape;458;p22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9" name="Google Shape;459;p22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460" name="Google Shape;460;p22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" name="Google Shape;464;p22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5" name="Google Shape;465;p22"/>
          <p:cNvSpPr/>
          <p:nvPr/>
        </p:nvSpPr>
        <p:spPr>
          <a:xfrm>
            <a:off x="2804603" y="5767015"/>
            <a:ext cx="7669296" cy="2015184"/>
          </a:xfrm>
          <a:custGeom>
            <a:rect b="b" l="l" r="r" t="t"/>
            <a:pathLst>
              <a:path extrusionOk="0" h="2015184" w="7669296">
                <a:moveTo>
                  <a:pt x="0" y="0"/>
                </a:moveTo>
                <a:lnTo>
                  <a:pt x="7669296" y="0"/>
                </a:lnTo>
                <a:lnTo>
                  <a:pt x="7669296" y="2015183"/>
                </a:lnTo>
                <a:lnTo>
                  <a:pt x="0" y="2015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6" name="Google Shape;466;p22"/>
          <p:cNvSpPr/>
          <p:nvPr/>
        </p:nvSpPr>
        <p:spPr>
          <a:xfrm>
            <a:off x="2804603" y="7858398"/>
            <a:ext cx="7669296" cy="2096246"/>
          </a:xfrm>
          <a:custGeom>
            <a:rect b="b" l="l" r="r" t="t"/>
            <a:pathLst>
              <a:path extrusionOk="0" h="2096246" w="7669296">
                <a:moveTo>
                  <a:pt x="0" y="0"/>
                </a:moveTo>
                <a:lnTo>
                  <a:pt x="7669296" y="0"/>
                </a:lnTo>
                <a:lnTo>
                  <a:pt x="7669296" y="2096246"/>
                </a:lnTo>
                <a:lnTo>
                  <a:pt x="0" y="2096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598" l="0" r="0" t="-3598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3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6.3</a:t>
            </a:r>
            <a:endParaRPr/>
          </a:p>
        </p:txBody>
      </p:sp>
      <p:sp>
        <p:nvSpPr>
          <p:cNvPr id="472" name="Google Shape;472;p23"/>
          <p:cNvSpPr txBox="1"/>
          <p:nvPr/>
        </p:nvSpPr>
        <p:spPr>
          <a:xfrm>
            <a:off x="2103544" y="5616736"/>
            <a:ext cx="9063663" cy="192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¡Listo, ya tenemos agregada nuestra aplicación a nuestro proyecto de Django!</a:t>
            </a:r>
            <a:endParaRPr/>
          </a:p>
        </p:txBody>
      </p:sp>
      <p:grpSp>
        <p:nvGrpSpPr>
          <p:cNvPr id="473" name="Google Shape;473;p23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474" name="Google Shape;474;p23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75" name="Google Shape;475;p23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76" name="Google Shape;476;p23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477" name="Google Shape;477;p23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8" name="Google Shape;478;p23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479" name="Google Shape;479;p23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3" name="Google Shape;483;p23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7</a:t>
            </a:r>
            <a:endParaRPr/>
          </a:p>
        </p:txBody>
      </p:sp>
      <p:sp>
        <p:nvSpPr>
          <p:cNvPr id="489" name="Google Shape;489;p24"/>
          <p:cNvSpPr txBox="1"/>
          <p:nvPr/>
        </p:nvSpPr>
        <p:spPr>
          <a:xfrm>
            <a:off x="2107420" y="4003239"/>
            <a:ext cx="9063663" cy="248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Ahora, configuraremos lo que son las URLs, entonces hay que ir a urls.py en la carpeta del Proyecto, lo que haremos será Incluir otro URLconf. Para ello, debemos de importar la función include de Django. Para que quede así:</a:t>
            </a:r>
            <a:endParaRPr/>
          </a:p>
        </p:txBody>
      </p:sp>
      <p:grpSp>
        <p:nvGrpSpPr>
          <p:cNvPr id="490" name="Google Shape;490;p24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491" name="Google Shape;491;p24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92" name="Google Shape;492;p24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93" name="Google Shape;493;p24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494" name="Google Shape;494;p24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95" name="Google Shape;495;p24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496" name="Google Shape;496;p24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4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4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0" name="Google Shape;500;p24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1" name="Google Shape;501;p24"/>
          <p:cNvSpPr/>
          <p:nvPr/>
        </p:nvSpPr>
        <p:spPr>
          <a:xfrm>
            <a:off x="2107420" y="7056807"/>
            <a:ext cx="9600592" cy="1851154"/>
          </a:xfrm>
          <a:custGeom>
            <a:rect b="b" l="l" r="r" t="t"/>
            <a:pathLst>
              <a:path extrusionOk="0" h="1851154" w="9600592">
                <a:moveTo>
                  <a:pt x="0" y="0"/>
                </a:moveTo>
                <a:lnTo>
                  <a:pt x="9600592" y="0"/>
                </a:lnTo>
                <a:lnTo>
                  <a:pt x="9600592" y="1851154"/>
                </a:lnTo>
                <a:lnTo>
                  <a:pt x="0" y="1851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5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7.1</a:t>
            </a:r>
            <a:endParaRPr/>
          </a:p>
        </p:txBody>
      </p:sp>
      <p:sp>
        <p:nvSpPr>
          <p:cNvPr id="507" name="Google Shape;507;p25"/>
          <p:cNvSpPr txBox="1"/>
          <p:nvPr/>
        </p:nvSpPr>
        <p:spPr>
          <a:xfrm>
            <a:off x="2107420" y="4498539"/>
            <a:ext cx="9063663" cy="149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En la carpeta de la aplicación, creamos un archivo llamado urls.py. Y en este archivo, escribimos lo siguiente:</a:t>
            </a:r>
            <a:endParaRPr/>
          </a:p>
        </p:txBody>
      </p:sp>
      <p:grpSp>
        <p:nvGrpSpPr>
          <p:cNvPr id="508" name="Google Shape;508;p25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509" name="Google Shape;509;p25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10" name="Google Shape;510;p25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11" name="Google Shape;511;p25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512" name="Google Shape;512;p25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3" name="Google Shape;513;p25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514" name="Google Shape;514;p25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5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5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5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8" name="Google Shape;518;p25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p25"/>
          <p:cNvSpPr/>
          <p:nvPr/>
        </p:nvSpPr>
        <p:spPr>
          <a:xfrm>
            <a:off x="2107420" y="6305738"/>
            <a:ext cx="9063663" cy="3015510"/>
          </a:xfrm>
          <a:custGeom>
            <a:rect b="b" l="l" r="r" t="t"/>
            <a:pathLst>
              <a:path extrusionOk="0" h="3015510" w="9063663">
                <a:moveTo>
                  <a:pt x="0" y="0"/>
                </a:moveTo>
                <a:lnTo>
                  <a:pt x="9063662" y="0"/>
                </a:lnTo>
                <a:lnTo>
                  <a:pt x="9063662" y="3015509"/>
                </a:lnTo>
                <a:lnTo>
                  <a:pt x="0" y="30155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6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7.2</a:t>
            </a:r>
            <a:endParaRPr/>
          </a:p>
        </p:txBody>
      </p:sp>
      <p:sp>
        <p:nvSpPr>
          <p:cNvPr id="525" name="Google Shape;525;p26"/>
          <p:cNvSpPr txBox="1"/>
          <p:nvPr/>
        </p:nvSpPr>
        <p:spPr>
          <a:xfrm>
            <a:off x="2107420" y="4746189"/>
            <a:ext cx="9063663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Regresamos al archivo urls.py del proyecto y lo dejamos de la siguiente manera:</a:t>
            </a:r>
            <a:endParaRPr/>
          </a:p>
        </p:txBody>
      </p:sp>
      <p:grpSp>
        <p:nvGrpSpPr>
          <p:cNvPr id="526" name="Google Shape;526;p26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527" name="Google Shape;527;p26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28" name="Google Shape;528;p26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29" name="Google Shape;529;p26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530" name="Google Shape;530;p26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31" name="Google Shape;531;p26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532" name="Google Shape;532;p26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6" name="Google Shape;536;p26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7" name="Google Shape;537;p26"/>
          <p:cNvSpPr/>
          <p:nvPr/>
        </p:nvSpPr>
        <p:spPr>
          <a:xfrm>
            <a:off x="2198766" y="6173034"/>
            <a:ext cx="8880970" cy="3575891"/>
          </a:xfrm>
          <a:custGeom>
            <a:rect b="b" l="l" r="r" t="t"/>
            <a:pathLst>
              <a:path extrusionOk="0" h="3575891" w="8880970">
                <a:moveTo>
                  <a:pt x="0" y="0"/>
                </a:moveTo>
                <a:lnTo>
                  <a:pt x="8880970" y="0"/>
                </a:lnTo>
                <a:lnTo>
                  <a:pt x="8880970" y="3575892"/>
                </a:lnTo>
                <a:lnTo>
                  <a:pt x="0" y="35758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7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8</a:t>
            </a:r>
            <a:endParaRPr/>
          </a:p>
        </p:txBody>
      </p:sp>
      <p:sp>
        <p:nvSpPr>
          <p:cNvPr id="543" name="Google Shape;543;p27"/>
          <p:cNvSpPr txBox="1"/>
          <p:nvPr/>
        </p:nvSpPr>
        <p:spPr>
          <a:xfrm>
            <a:off x="2107420" y="4746189"/>
            <a:ext cx="9063663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Escribimos el siguiente comando en consola para levantar el Frontend:</a:t>
            </a:r>
            <a:endParaRPr/>
          </a:p>
        </p:txBody>
      </p:sp>
      <p:grpSp>
        <p:nvGrpSpPr>
          <p:cNvPr id="544" name="Google Shape;544;p27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545" name="Google Shape;545;p27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46" name="Google Shape;546;p27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47" name="Google Shape;547;p27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548" name="Google Shape;548;p27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49" name="Google Shape;549;p27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550" name="Google Shape;550;p27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4" name="Google Shape;554;p27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5" name="Google Shape;555;p27"/>
          <p:cNvSpPr/>
          <p:nvPr/>
        </p:nvSpPr>
        <p:spPr>
          <a:xfrm>
            <a:off x="2107420" y="6897175"/>
            <a:ext cx="9543575" cy="1930364"/>
          </a:xfrm>
          <a:custGeom>
            <a:rect b="b" l="l" r="r" t="t"/>
            <a:pathLst>
              <a:path extrusionOk="0" h="1930364" w="9543575">
                <a:moveTo>
                  <a:pt x="0" y="0"/>
                </a:moveTo>
                <a:lnTo>
                  <a:pt x="9543575" y="0"/>
                </a:lnTo>
                <a:lnTo>
                  <a:pt x="9543575" y="1930364"/>
                </a:lnTo>
                <a:lnTo>
                  <a:pt x="0" y="19303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8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9</a:t>
            </a:r>
            <a:endParaRPr/>
          </a:p>
        </p:txBody>
      </p:sp>
      <p:sp>
        <p:nvSpPr>
          <p:cNvPr id="561" name="Google Shape;561;p28"/>
          <p:cNvSpPr txBox="1"/>
          <p:nvPr/>
        </p:nvSpPr>
        <p:spPr>
          <a:xfrm>
            <a:off x="2107420" y="4995545"/>
            <a:ext cx="9063663" cy="297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En el navegador, escribimos la dirección http://{{host}}:{{port}}/. 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26604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Donde host y port son los valores que nos da la terminal al correr el servidor o pueden ser las que nosotros definimos si es que lo hicimos.</a:t>
            </a:r>
            <a:endParaRPr/>
          </a:p>
        </p:txBody>
      </p:sp>
      <p:grpSp>
        <p:nvGrpSpPr>
          <p:cNvPr id="562" name="Google Shape;562;p28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563" name="Google Shape;563;p28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64" name="Google Shape;564;p28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65" name="Google Shape;565;p28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566" name="Google Shape;566;p28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67" name="Google Shape;567;p28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568" name="Google Shape;568;p28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8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8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8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2" name="Google Shape;572;p28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oogle Shape;577;p29"/>
          <p:cNvGrpSpPr/>
          <p:nvPr/>
        </p:nvGrpSpPr>
        <p:grpSpPr>
          <a:xfrm>
            <a:off x="2107420" y="2981630"/>
            <a:ext cx="9063663" cy="2211558"/>
            <a:chOff x="0" y="316072"/>
            <a:chExt cx="12084883" cy="2948743"/>
          </a:xfrm>
        </p:grpSpPr>
        <p:sp>
          <p:nvSpPr>
            <p:cNvPr id="578" name="Google Shape;578;p29"/>
            <p:cNvSpPr txBox="1"/>
            <p:nvPr/>
          </p:nvSpPr>
          <p:spPr>
            <a:xfrm>
              <a:off x="0" y="316072"/>
              <a:ext cx="12084883" cy="2054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807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Paso 10</a:t>
              </a:r>
              <a:endParaRPr/>
            </a:p>
          </p:txBody>
        </p:sp>
        <p:sp>
          <p:nvSpPr>
            <p:cNvPr id="579" name="Google Shape;579;p29"/>
            <p:cNvSpPr txBox="1"/>
            <p:nvPr/>
          </p:nvSpPr>
          <p:spPr>
            <a:xfrm>
              <a:off x="0" y="2581555"/>
              <a:ext cx="12084883" cy="683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Ya tenemos nuestra página levantada</a:t>
              </a:r>
              <a:endParaRPr/>
            </a:p>
          </p:txBody>
        </p:sp>
      </p:grpSp>
      <p:grpSp>
        <p:nvGrpSpPr>
          <p:cNvPr id="580" name="Google Shape;580;p29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581" name="Google Shape;581;p29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82" name="Google Shape;582;p29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83" name="Google Shape;583;p29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584" name="Google Shape;584;p29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85" name="Google Shape;585;p29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586" name="Google Shape;586;p29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0" name="Google Shape;590;p29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1" name="Google Shape;591;p29"/>
          <p:cNvSpPr/>
          <p:nvPr/>
        </p:nvSpPr>
        <p:spPr>
          <a:xfrm>
            <a:off x="2695800" y="4957445"/>
            <a:ext cx="7886902" cy="5411253"/>
          </a:xfrm>
          <a:custGeom>
            <a:rect b="b" l="l" r="r" t="t"/>
            <a:pathLst>
              <a:path extrusionOk="0" h="5411253" w="7886902">
                <a:moveTo>
                  <a:pt x="0" y="0"/>
                </a:moveTo>
                <a:lnTo>
                  <a:pt x="7886902" y="0"/>
                </a:lnTo>
                <a:lnTo>
                  <a:pt x="7886902" y="5411253"/>
                </a:lnTo>
                <a:lnTo>
                  <a:pt x="0" y="5411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0"/>
          <p:cNvSpPr txBox="1"/>
          <p:nvPr/>
        </p:nvSpPr>
        <p:spPr>
          <a:xfrm>
            <a:off x="1476324" y="3940476"/>
            <a:ext cx="15335352" cy="2482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36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Listo!, Ya podemos empezar a aprender más de Django</a:t>
            </a:r>
            <a:endParaRPr/>
          </a:p>
        </p:txBody>
      </p:sp>
      <p:pic>
        <p:nvPicPr>
          <p:cNvPr id="597" name="Google Shape;59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8002" y="4806541"/>
            <a:ext cx="3890527" cy="19209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8" name="Google Shape;598;p30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599" name="Google Shape;599;p30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600" name="Google Shape;600;p30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601" name="Google Shape;601;p30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grpSp>
        <p:nvGrpSpPr>
          <p:cNvPr id="602" name="Google Shape;602;p30"/>
          <p:cNvGrpSpPr/>
          <p:nvPr/>
        </p:nvGrpSpPr>
        <p:grpSpPr>
          <a:xfrm>
            <a:off x="17259300" y="4147969"/>
            <a:ext cx="176115" cy="1619046"/>
            <a:chOff x="0" y="0"/>
            <a:chExt cx="234820" cy="2158728"/>
          </a:xfrm>
        </p:grpSpPr>
        <p:sp>
          <p:nvSpPr>
            <p:cNvPr id="603" name="Google Shape;603;p30"/>
            <p:cNvSpPr/>
            <p:nvPr/>
          </p:nvSpPr>
          <p:spPr>
            <a:xfrm>
              <a:off x="0" y="128256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0"/>
            <p:cNvSpPr/>
            <p:nvPr/>
          </p:nvSpPr>
          <p:spPr>
            <a:xfrm>
              <a:off x="0" y="64122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0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0"/>
            <p:cNvSpPr/>
            <p:nvPr/>
          </p:nvSpPr>
          <p:spPr>
            <a:xfrm>
              <a:off x="0" y="192390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7" name="Google Shape;607;p30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8" name="Google Shape;608;p30"/>
          <p:cNvSpPr/>
          <p:nvPr/>
        </p:nvSpPr>
        <p:spPr>
          <a:xfrm>
            <a:off x="7657929" y="6100412"/>
            <a:ext cx="3406307" cy="3406307"/>
          </a:xfrm>
          <a:custGeom>
            <a:rect b="b" l="l" r="r" t="t"/>
            <a:pathLst>
              <a:path extrusionOk="0" h="3406307" w="3406307">
                <a:moveTo>
                  <a:pt x="0" y="0"/>
                </a:moveTo>
                <a:lnTo>
                  <a:pt x="3406308" y="0"/>
                </a:lnTo>
                <a:lnTo>
                  <a:pt x="3406308" y="3406307"/>
                </a:lnTo>
                <a:lnTo>
                  <a:pt x="0" y="3406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31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614" name="Google Shape;614;p31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615" name="Google Shape;615;p31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616" name="Google Shape;616;p31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617" name="Google Shape;617;p31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618" name="Google Shape;618;p31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p31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3" name="Google Shape;623;p31"/>
          <p:cNvSpPr txBox="1"/>
          <p:nvPr/>
        </p:nvSpPr>
        <p:spPr>
          <a:xfrm>
            <a:off x="7740997" y="4656394"/>
            <a:ext cx="8590406" cy="1534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52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B0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2"/>
          <p:cNvSpPr txBox="1"/>
          <p:nvPr/>
        </p:nvSpPr>
        <p:spPr>
          <a:xfrm>
            <a:off x="9649453" y="4316048"/>
            <a:ext cx="4643673" cy="1450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99" u="none" cap="none" strike="noStrike">
                <a:solidFill>
                  <a:srgbClr val="FF9100"/>
                </a:solidFill>
                <a:latin typeface="DM Sans"/>
                <a:ea typeface="DM Sans"/>
                <a:cs typeface="DM Sans"/>
                <a:sym typeface="DM Sans"/>
              </a:rPr>
              <a:t>Dudas?</a:t>
            </a:r>
            <a:endParaRPr/>
          </a:p>
        </p:txBody>
      </p:sp>
      <p:grpSp>
        <p:nvGrpSpPr>
          <p:cNvPr id="629" name="Google Shape;629;p32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630" name="Google Shape;630;p32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8B520F"/>
            </a:solidFill>
            <a:ln>
              <a:noFill/>
            </a:ln>
          </p:spPr>
        </p:sp>
        <p:sp>
          <p:nvSpPr>
            <p:cNvPr id="631" name="Google Shape;631;p32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8B520F"/>
            </a:solidFill>
            <a:ln>
              <a:noFill/>
            </a:ln>
          </p:spPr>
        </p:sp>
        <p:sp>
          <p:nvSpPr>
            <p:cNvPr id="632" name="Google Shape;632;p32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8B520F"/>
            </a:solidFill>
            <a:ln>
              <a:noFill/>
            </a:ln>
          </p:spPr>
        </p:sp>
      </p:grpSp>
      <p:sp>
        <p:nvSpPr>
          <p:cNvPr id="633" name="Google Shape;633;p32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34" name="Google Shape;634;p32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635" name="Google Shape;635;p32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B520F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B520F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B520F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B52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9" name="Google Shape;639;p32"/>
          <p:cNvSpPr/>
          <p:nvPr/>
        </p:nvSpPr>
        <p:spPr>
          <a:xfrm>
            <a:off x="3086860" y="2525474"/>
            <a:ext cx="5559093" cy="4597370"/>
          </a:xfrm>
          <a:custGeom>
            <a:rect b="b" l="l" r="r" t="t"/>
            <a:pathLst>
              <a:path extrusionOk="0" h="4597370" w="5559093">
                <a:moveTo>
                  <a:pt x="0" y="0"/>
                </a:moveTo>
                <a:lnTo>
                  <a:pt x="5559093" y="0"/>
                </a:lnTo>
                <a:lnTo>
                  <a:pt x="5559093" y="4597370"/>
                </a:lnTo>
                <a:lnTo>
                  <a:pt x="0" y="459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