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Lobster"/>
      <p:regular r:id="rId28"/>
    </p:embeddedFont>
    <p:embeddedFont>
      <p:font typeface="Pacifico"/>
      <p:regular r:id="rId29"/>
    </p:embeddedFont>
    <p:embeddedFont>
      <p:font typeface="Open Sans"/>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jzsyBc3LrhI7TRf934GqXyFp/b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Lobster-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acific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Italic.fntdata"/><Relationship Id="rId30" Type="http://schemas.openxmlformats.org/officeDocument/2006/relationships/font" Target="fonts/OpenSans-bold.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hyperlink" Target="https://quizizz.com/join/quiz/67295ca486ba2e50d7a9c672/start?studentShare=tru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hyperlink" Target="https://platzi.com/blog/que-es-frontend-y-backend/" TargetMode="External"/><Relationship Id="rId5" Type="http://schemas.openxmlformats.org/officeDocument/2006/relationships/hyperlink" Target="https://platzi.com/blog/que-es-frontend-y-backend/" TargetMode="External"/><Relationship Id="rId6" Type="http://schemas.openxmlformats.org/officeDocument/2006/relationships/hyperlink" Target="https://www.cesuma.mx/blog/que-es-el-framework.html" TargetMode="External"/><Relationship Id="rId7" Type="http://schemas.openxmlformats.org/officeDocument/2006/relationships/hyperlink" Target="https://www.cesuma.mx/blog/que-es-el-framework.html" TargetMode="External"/><Relationship Id="rId8" Type="http://schemas.openxmlformats.org/officeDocument/2006/relationships/hyperlink" Target="https://openwebinars.net/blog/que-es-flask/"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83" name="Shape 83"/>
        <p:cNvGrpSpPr/>
        <p:nvPr/>
      </p:nvGrpSpPr>
      <p:grpSpPr>
        <a:xfrm>
          <a:off x="0" y="0"/>
          <a:ext cx="0" cy="0"/>
          <a:chOff x="0" y="0"/>
          <a:chExt cx="0" cy="0"/>
        </a:xfrm>
      </p:grpSpPr>
      <p:sp>
        <p:nvSpPr>
          <p:cNvPr id="84" name="Google Shape;84;p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85" name="Google Shape;85;p1"/>
          <p:cNvGrpSpPr/>
          <p:nvPr/>
        </p:nvGrpSpPr>
        <p:grpSpPr>
          <a:xfrm>
            <a:off x="414625" y="196812"/>
            <a:ext cx="17458749" cy="9459392"/>
            <a:chOff x="0" y="-114300"/>
            <a:chExt cx="4598189" cy="2491363"/>
          </a:xfrm>
        </p:grpSpPr>
        <p:sp>
          <p:nvSpPr>
            <p:cNvPr id="86" name="Google Shape;86;p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87" name="Google Shape;87;p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p:nvPr/>
        </p:nvSpPr>
        <p:spPr>
          <a:xfrm>
            <a:off x="12541309" y="0"/>
            <a:ext cx="5746718" cy="1711738"/>
          </a:xfrm>
          <a:custGeom>
            <a:rect b="b" l="l" r="r" t="t"/>
            <a:pathLst>
              <a:path extrusionOk="0" h="2282317" w="7662291">
                <a:moveTo>
                  <a:pt x="0" y="0"/>
                </a:moveTo>
                <a:lnTo>
                  <a:pt x="7662291" y="0"/>
                </a:lnTo>
                <a:lnTo>
                  <a:pt x="7662291" y="2282317"/>
                </a:lnTo>
                <a:lnTo>
                  <a:pt x="0" y="2282317"/>
                </a:lnTo>
                <a:lnTo>
                  <a:pt x="0" y="0"/>
                </a:lnTo>
                <a:close/>
              </a:path>
            </a:pathLst>
          </a:custGeom>
          <a:blipFill rotWithShape="1">
            <a:blip r:embed="rId4">
              <a:alphaModFix/>
            </a:blip>
            <a:stretch>
              <a:fillRect b="-1" l="0" r="0" t="0"/>
            </a:stretch>
          </a:blipFill>
          <a:ln>
            <a:noFill/>
          </a:ln>
        </p:spPr>
      </p:sp>
      <p:grpSp>
        <p:nvGrpSpPr>
          <p:cNvPr id="89" name="Google Shape;89;p1"/>
          <p:cNvGrpSpPr/>
          <p:nvPr/>
        </p:nvGrpSpPr>
        <p:grpSpPr>
          <a:xfrm>
            <a:off x="1028700" y="6800452"/>
            <a:ext cx="16678248" cy="1204528"/>
            <a:chOff x="0" y="-228600"/>
            <a:chExt cx="22237664" cy="1606037"/>
          </a:xfrm>
        </p:grpSpPr>
        <p:sp>
          <p:nvSpPr>
            <p:cNvPr id="90" name="Google Shape;90;p1"/>
            <p:cNvSpPr/>
            <p:nvPr/>
          </p:nvSpPr>
          <p:spPr>
            <a:xfrm>
              <a:off x="0" y="0"/>
              <a:ext cx="22237664" cy="1377437"/>
            </a:xfrm>
            <a:custGeom>
              <a:rect b="b" l="l" r="r" t="t"/>
              <a:pathLst>
                <a:path extrusionOk="0" h="1377437" w="22237664">
                  <a:moveTo>
                    <a:pt x="0" y="0"/>
                  </a:moveTo>
                  <a:lnTo>
                    <a:pt x="22237664" y="0"/>
                  </a:lnTo>
                  <a:lnTo>
                    <a:pt x="22237664" y="1377437"/>
                  </a:lnTo>
                  <a:lnTo>
                    <a:pt x="0" y="1377437"/>
                  </a:lnTo>
                  <a:close/>
                </a:path>
              </a:pathLst>
            </a:custGeom>
            <a:solidFill>
              <a:srgbClr val="000000">
                <a:alpha val="0"/>
              </a:srgbClr>
            </a:solidFill>
            <a:ln>
              <a:noFill/>
            </a:ln>
          </p:spPr>
        </p:sp>
        <p:sp>
          <p:nvSpPr>
            <p:cNvPr id="91" name="Google Shape;91;p1"/>
            <p:cNvSpPr txBox="1"/>
            <p:nvPr/>
          </p:nvSpPr>
          <p:spPr>
            <a:xfrm>
              <a:off x="0" y="-228600"/>
              <a:ext cx="22237664" cy="1606037"/>
            </a:xfrm>
            <a:prstGeom prst="rect">
              <a:avLst/>
            </a:prstGeom>
            <a:noFill/>
            <a:ln>
              <a:noFill/>
            </a:ln>
          </p:spPr>
          <p:txBody>
            <a:bodyPr anchorCtr="0" anchor="t" bIns="0" lIns="0" spcFirstLastPara="1" rIns="0" wrap="square" tIns="0">
              <a:noAutofit/>
            </a:bodyPr>
            <a:lstStyle/>
            <a:p>
              <a:pPr indent="0" lvl="0" marL="0" marR="0" rtl="0" algn="l">
                <a:lnSpc>
                  <a:spcPct val="168013"/>
                </a:lnSpc>
                <a:spcBef>
                  <a:spcPts val="0"/>
                </a:spcBef>
                <a:spcAft>
                  <a:spcPts val="0"/>
                </a:spcAft>
                <a:buNone/>
              </a:pPr>
              <a:r>
                <a:rPr b="1" i="0" lang="en-US" sz="4999" u="none" cap="none" strike="noStrike">
                  <a:solidFill>
                    <a:srgbClr val="131416"/>
                  </a:solidFill>
                  <a:latin typeface="Open Sans"/>
                  <a:ea typeface="Open Sans"/>
                  <a:cs typeface="Open Sans"/>
                  <a:sym typeface="Open Sans"/>
                </a:rPr>
                <a:t>Introducción a la Programación y Computación 2</a:t>
              </a:r>
              <a:endParaRPr/>
            </a:p>
          </p:txBody>
        </p:sp>
      </p:grpSp>
      <p:grpSp>
        <p:nvGrpSpPr>
          <p:cNvPr id="92" name="Google Shape;92;p1"/>
          <p:cNvGrpSpPr/>
          <p:nvPr/>
        </p:nvGrpSpPr>
        <p:grpSpPr>
          <a:xfrm>
            <a:off x="1028700" y="2383288"/>
            <a:ext cx="16230600" cy="4194103"/>
            <a:chOff x="0" y="-419100"/>
            <a:chExt cx="21640800" cy="5592137"/>
          </a:xfrm>
        </p:grpSpPr>
        <p:sp>
          <p:nvSpPr>
            <p:cNvPr id="93" name="Google Shape;93;p1"/>
            <p:cNvSpPr/>
            <p:nvPr/>
          </p:nvSpPr>
          <p:spPr>
            <a:xfrm>
              <a:off x="0" y="0"/>
              <a:ext cx="21640800" cy="5173037"/>
            </a:xfrm>
            <a:custGeom>
              <a:rect b="b" l="l" r="r" t="t"/>
              <a:pathLst>
                <a:path extrusionOk="0" h="5173037" w="21640800">
                  <a:moveTo>
                    <a:pt x="0" y="0"/>
                  </a:moveTo>
                  <a:lnTo>
                    <a:pt x="21640800" y="0"/>
                  </a:lnTo>
                  <a:lnTo>
                    <a:pt x="21640800" y="5173037"/>
                  </a:lnTo>
                  <a:lnTo>
                    <a:pt x="0" y="5173037"/>
                  </a:lnTo>
                  <a:close/>
                </a:path>
              </a:pathLst>
            </a:custGeom>
            <a:solidFill>
              <a:srgbClr val="000000">
                <a:alpha val="0"/>
              </a:srgbClr>
            </a:solidFill>
            <a:ln>
              <a:noFill/>
            </a:ln>
          </p:spPr>
        </p:sp>
        <p:sp>
          <p:nvSpPr>
            <p:cNvPr id="94" name="Google Shape;94;p1"/>
            <p:cNvSpPr txBox="1"/>
            <p:nvPr/>
          </p:nvSpPr>
          <p:spPr>
            <a:xfrm>
              <a:off x="0" y="-419100"/>
              <a:ext cx="21640800" cy="5592137"/>
            </a:xfrm>
            <a:prstGeom prst="rect">
              <a:avLst/>
            </a:prstGeom>
            <a:noFill/>
            <a:ln>
              <a:noFill/>
            </a:ln>
          </p:spPr>
          <p:txBody>
            <a:bodyPr anchorCtr="0" anchor="t" bIns="0" lIns="0" spcFirstLastPara="1" rIns="0" wrap="square" tIns="0">
              <a:noAutofit/>
            </a:bodyPr>
            <a:lstStyle/>
            <a:p>
              <a:pPr indent="0" lvl="0" marL="0" marR="0" rtl="0" algn="ctr">
                <a:lnSpc>
                  <a:spcPct val="168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Unidad 6: Entorno para desarrollo web en Python</a:t>
              </a:r>
              <a:endParaRPr/>
            </a:p>
          </p:txBody>
        </p:sp>
      </p:grpSp>
      <p:grpSp>
        <p:nvGrpSpPr>
          <p:cNvPr id="95" name="Google Shape;95;p1"/>
          <p:cNvGrpSpPr/>
          <p:nvPr/>
        </p:nvGrpSpPr>
        <p:grpSpPr>
          <a:xfrm>
            <a:off x="1028700" y="8065966"/>
            <a:ext cx="6981379" cy="508000"/>
            <a:chOff x="0" y="-114300"/>
            <a:chExt cx="9308505" cy="677333"/>
          </a:xfrm>
        </p:grpSpPr>
        <p:sp>
          <p:nvSpPr>
            <p:cNvPr id="96" name="Google Shape;96;p1"/>
            <p:cNvSpPr/>
            <p:nvPr/>
          </p:nvSpPr>
          <p:spPr>
            <a:xfrm>
              <a:off x="0" y="0"/>
              <a:ext cx="9308505" cy="563033"/>
            </a:xfrm>
            <a:custGeom>
              <a:rect b="b" l="l" r="r" t="t"/>
              <a:pathLst>
                <a:path extrusionOk="0" h="563033" w="9308505">
                  <a:moveTo>
                    <a:pt x="0" y="0"/>
                  </a:moveTo>
                  <a:lnTo>
                    <a:pt x="9308505" y="0"/>
                  </a:lnTo>
                  <a:lnTo>
                    <a:pt x="9308505" y="563033"/>
                  </a:lnTo>
                  <a:lnTo>
                    <a:pt x="0" y="563033"/>
                  </a:lnTo>
                  <a:close/>
                </a:path>
              </a:pathLst>
            </a:custGeom>
            <a:solidFill>
              <a:srgbClr val="000000">
                <a:alpha val="0"/>
              </a:srgbClr>
            </a:solidFill>
            <a:ln>
              <a:noFill/>
            </a:ln>
          </p:spPr>
        </p:sp>
        <p:sp>
          <p:nvSpPr>
            <p:cNvPr id="97" name="Google Shape;97;p1"/>
            <p:cNvSpPr txBox="1"/>
            <p:nvPr/>
          </p:nvSpPr>
          <p:spPr>
            <a:xfrm>
              <a:off x="0" y="-114300"/>
              <a:ext cx="9308505" cy="677333"/>
            </a:xfrm>
            <a:prstGeom prst="rect">
              <a:avLst/>
            </a:prstGeom>
            <a:noFill/>
            <a:ln>
              <a:noFill/>
            </a:ln>
          </p:spPr>
          <p:txBody>
            <a:bodyPr anchorCtr="0" anchor="t" bIns="0" lIns="0" spcFirstLastPara="1" rIns="0" wrap="square" tIns="0">
              <a:noAutofit/>
            </a:bodyPr>
            <a:lstStyle/>
            <a:p>
              <a:pPr indent="0" lvl="0" marL="0" marR="0" rtl="0" algn="ctr">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grpSp>
      <p:grpSp>
        <p:nvGrpSpPr>
          <p:cNvPr id="98" name="Google Shape;98;p1"/>
          <p:cNvGrpSpPr/>
          <p:nvPr/>
        </p:nvGrpSpPr>
        <p:grpSpPr>
          <a:xfrm>
            <a:off x="1028700" y="8535866"/>
            <a:ext cx="6667500" cy="508000"/>
            <a:chOff x="0" y="-114300"/>
            <a:chExt cx="8890000" cy="677333"/>
          </a:xfrm>
        </p:grpSpPr>
        <p:sp>
          <p:nvSpPr>
            <p:cNvPr id="99" name="Google Shape;99;p1"/>
            <p:cNvSpPr/>
            <p:nvPr/>
          </p:nvSpPr>
          <p:spPr>
            <a:xfrm>
              <a:off x="0" y="0"/>
              <a:ext cx="8890000" cy="563033"/>
            </a:xfrm>
            <a:custGeom>
              <a:rect b="b" l="l" r="r" t="t"/>
              <a:pathLst>
                <a:path extrusionOk="0" h="563033" w="8890000">
                  <a:moveTo>
                    <a:pt x="0" y="0"/>
                  </a:moveTo>
                  <a:lnTo>
                    <a:pt x="8890000" y="0"/>
                  </a:lnTo>
                  <a:lnTo>
                    <a:pt x="8890000" y="563033"/>
                  </a:lnTo>
                  <a:lnTo>
                    <a:pt x="0" y="563033"/>
                  </a:lnTo>
                  <a:close/>
                </a:path>
              </a:pathLst>
            </a:custGeom>
            <a:solidFill>
              <a:srgbClr val="000000">
                <a:alpha val="0"/>
              </a:srgbClr>
            </a:solidFill>
            <a:ln>
              <a:noFill/>
            </a:ln>
          </p:spPr>
        </p:sp>
        <p:sp>
          <p:nvSpPr>
            <p:cNvPr id="100" name="Google Shape;100;p1"/>
            <p:cNvSpPr txBox="1"/>
            <p:nvPr/>
          </p:nvSpPr>
          <p:spPr>
            <a:xfrm>
              <a:off x="0" y="-114300"/>
              <a:ext cx="8890000" cy="677333"/>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grpSp>
      <p:grpSp>
        <p:nvGrpSpPr>
          <p:cNvPr id="101" name="Google Shape;101;p1"/>
          <p:cNvGrpSpPr/>
          <p:nvPr/>
        </p:nvGrpSpPr>
        <p:grpSpPr>
          <a:xfrm>
            <a:off x="1028700" y="9003528"/>
            <a:ext cx="8115300" cy="597445"/>
            <a:chOff x="0" y="-114300"/>
            <a:chExt cx="10820400" cy="796594"/>
          </a:xfrm>
        </p:grpSpPr>
        <p:sp>
          <p:nvSpPr>
            <p:cNvPr id="102" name="Google Shape;102;p1"/>
            <p:cNvSpPr/>
            <p:nvPr/>
          </p:nvSpPr>
          <p:spPr>
            <a:xfrm>
              <a:off x="0" y="0"/>
              <a:ext cx="10820400" cy="682294"/>
            </a:xfrm>
            <a:custGeom>
              <a:rect b="b" l="l" r="r" t="t"/>
              <a:pathLst>
                <a:path extrusionOk="0" h="682294" w="10820400">
                  <a:moveTo>
                    <a:pt x="0" y="0"/>
                  </a:moveTo>
                  <a:lnTo>
                    <a:pt x="10820400" y="0"/>
                  </a:lnTo>
                  <a:lnTo>
                    <a:pt x="10820400" y="682294"/>
                  </a:lnTo>
                  <a:lnTo>
                    <a:pt x="0" y="682294"/>
                  </a:lnTo>
                  <a:close/>
                </a:path>
              </a:pathLst>
            </a:custGeom>
            <a:solidFill>
              <a:srgbClr val="000000">
                <a:alpha val="0"/>
              </a:srgbClr>
            </a:solidFill>
            <a:ln>
              <a:noFill/>
            </a:ln>
          </p:spPr>
        </p:sp>
        <p:sp>
          <p:nvSpPr>
            <p:cNvPr id="103" name="Google Shape;103;p1"/>
            <p:cNvSpPr txBox="1"/>
            <p:nvPr/>
          </p:nvSpPr>
          <p:spPr>
            <a:xfrm>
              <a:off x="0" y="-114300"/>
              <a:ext cx="10820400" cy="796594"/>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07" name="Shape 107"/>
        <p:cNvGrpSpPr/>
        <p:nvPr/>
      </p:nvGrpSpPr>
      <p:grpSpPr>
        <a:xfrm>
          <a:off x="0" y="0"/>
          <a:ext cx="0" cy="0"/>
          <a:chOff x="0" y="0"/>
          <a:chExt cx="0" cy="0"/>
        </a:xfrm>
      </p:grpSpPr>
      <p:sp>
        <p:nvSpPr>
          <p:cNvPr id="108" name="Google Shape;108;p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09" name="Google Shape;109;p2"/>
          <p:cNvGrpSpPr/>
          <p:nvPr/>
        </p:nvGrpSpPr>
        <p:grpSpPr>
          <a:xfrm>
            <a:off x="414625" y="196812"/>
            <a:ext cx="17458749" cy="9459392"/>
            <a:chOff x="0" y="-114300"/>
            <a:chExt cx="4598189" cy="2491363"/>
          </a:xfrm>
        </p:grpSpPr>
        <p:sp>
          <p:nvSpPr>
            <p:cNvPr id="110" name="Google Shape;110;p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11" name="Google Shape;111;p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 name="Google Shape;112;p2"/>
          <p:cNvGrpSpPr/>
          <p:nvPr/>
        </p:nvGrpSpPr>
        <p:grpSpPr>
          <a:xfrm>
            <a:off x="1752042" y="4435634"/>
            <a:ext cx="5834824" cy="1002547"/>
            <a:chOff x="0" y="-209550"/>
            <a:chExt cx="7779766" cy="1336730"/>
          </a:xfrm>
        </p:grpSpPr>
        <p:sp>
          <p:nvSpPr>
            <p:cNvPr id="113" name="Google Shape;113;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14" name="Google Shape;114;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¿Que es Backend?</a:t>
              </a:r>
              <a:endParaRPr/>
            </a:p>
          </p:txBody>
        </p:sp>
      </p:grpSp>
      <p:sp>
        <p:nvSpPr>
          <p:cNvPr id="115" name="Google Shape;115;p2"/>
          <p:cNvSpPr/>
          <p:nvPr/>
        </p:nvSpPr>
        <p:spPr>
          <a:xfrm>
            <a:off x="87865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sp>
      <p:grpSp>
        <p:nvGrpSpPr>
          <p:cNvPr id="116" name="Google Shape;116;p2"/>
          <p:cNvGrpSpPr/>
          <p:nvPr/>
        </p:nvGrpSpPr>
        <p:grpSpPr>
          <a:xfrm>
            <a:off x="1866989" y="2856821"/>
            <a:ext cx="3681207" cy="1713646"/>
            <a:chOff x="0" y="-209550"/>
            <a:chExt cx="4908276" cy="2284862"/>
          </a:xfrm>
        </p:grpSpPr>
        <p:sp>
          <p:nvSpPr>
            <p:cNvPr id="117" name="Google Shape;117;p2"/>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sp>
        <p:sp>
          <p:nvSpPr>
            <p:cNvPr id="118" name="Google Shape;118;p2"/>
            <p:cNvSpPr txBox="1"/>
            <p:nvPr/>
          </p:nvSpPr>
          <p:spPr>
            <a:xfrm>
              <a:off x="0" y="-209550"/>
              <a:ext cx="4908276" cy="2284862"/>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19" name="Google Shape;119;p2"/>
          <p:cNvSpPr/>
          <p:nvPr/>
        </p:nvSpPr>
        <p:spPr>
          <a:xfrm>
            <a:off x="651754" y="3429735"/>
            <a:ext cx="753904" cy="872966"/>
          </a:xfrm>
          <a:custGeom>
            <a:rect b="b" l="l" r="r" t="t"/>
            <a:pathLst>
              <a:path extrusionOk="0" h="1163955" w="1005205">
                <a:moveTo>
                  <a:pt x="0" y="0"/>
                </a:moveTo>
                <a:lnTo>
                  <a:pt x="1005205" y="0"/>
                </a:lnTo>
                <a:lnTo>
                  <a:pt x="1005205" y="1163955"/>
                </a:lnTo>
                <a:lnTo>
                  <a:pt x="0" y="1163955"/>
                </a:lnTo>
                <a:lnTo>
                  <a:pt x="0" y="0"/>
                </a:lnTo>
                <a:close/>
              </a:path>
            </a:pathLst>
          </a:custGeom>
          <a:blipFill rotWithShape="1">
            <a:blip r:embed="rId5">
              <a:alphaModFix/>
            </a:blip>
            <a:stretch>
              <a:fillRect b="-29" l="0" r="0" t="-35"/>
            </a:stretch>
          </a:blipFill>
          <a:ln>
            <a:noFill/>
          </a:ln>
        </p:spPr>
      </p:sp>
      <p:grpSp>
        <p:nvGrpSpPr>
          <p:cNvPr id="120" name="Google Shape;120;p2"/>
          <p:cNvGrpSpPr/>
          <p:nvPr/>
        </p:nvGrpSpPr>
        <p:grpSpPr>
          <a:xfrm>
            <a:off x="10105990" y="196804"/>
            <a:ext cx="8182010" cy="3695912"/>
            <a:chOff x="0" y="-635283"/>
            <a:chExt cx="10909347" cy="4927883"/>
          </a:xfrm>
        </p:grpSpPr>
        <p:sp>
          <p:nvSpPr>
            <p:cNvPr id="121" name="Google Shape;121;p2"/>
            <p:cNvSpPr/>
            <p:nvPr/>
          </p:nvSpPr>
          <p:spPr>
            <a:xfrm>
              <a:off x="0" y="0"/>
              <a:ext cx="10909347" cy="4292600"/>
            </a:xfrm>
            <a:custGeom>
              <a:rect b="b" l="l" r="r" t="t"/>
              <a:pathLst>
                <a:path extrusionOk="0" h="4292600" w="10909347">
                  <a:moveTo>
                    <a:pt x="0" y="0"/>
                  </a:moveTo>
                  <a:lnTo>
                    <a:pt x="10909347" y="0"/>
                  </a:lnTo>
                  <a:lnTo>
                    <a:pt x="10909347" y="4292600"/>
                  </a:lnTo>
                  <a:lnTo>
                    <a:pt x="0" y="4292600"/>
                  </a:lnTo>
                  <a:close/>
                </a:path>
              </a:pathLst>
            </a:custGeom>
            <a:solidFill>
              <a:srgbClr val="000000">
                <a:alpha val="0"/>
              </a:srgbClr>
            </a:solidFill>
            <a:ln>
              <a:noFill/>
            </a:ln>
          </p:spPr>
        </p:sp>
        <p:sp>
          <p:nvSpPr>
            <p:cNvPr id="122" name="Google Shape;122;p2"/>
            <p:cNvSpPr txBox="1"/>
            <p:nvPr/>
          </p:nvSpPr>
          <p:spPr>
            <a:xfrm>
              <a:off x="0" y="-635283"/>
              <a:ext cx="10909200" cy="45402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None/>
              </a:pPr>
              <a:r>
                <a:rPr b="0" i="0" lang="en-US" sz="15000" u="none" cap="none" strike="noStrike">
                  <a:solidFill>
                    <a:srgbClr val="131416"/>
                  </a:solidFill>
                  <a:latin typeface="Lobster"/>
                  <a:ea typeface="Lobster"/>
                  <a:cs typeface="Lobster"/>
                  <a:sym typeface="Lobster"/>
                </a:rPr>
                <a:t>Recursos</a:t>
              </a:r>
              <a:endParaRPr/>
            </a:p>
          </p:txBody>
        </p:sp>
      </p:grpSp>
      <p:grpSp>
        <p:nvGrpSpPr>
          <p:cNvPr id="123" name="Google Shape;123;p2"/>
          <p:cNvGrpSpPr/>
          <p:nvPr/>
        </p:nvGrpSpPr>
        <p:grpSpPr>
          <a:xfrm>
            <a:off x="10806816" y="3101352"/>
            <a:ext cx="4919663" cy="1153145"/>
            <a:chOff x="0" y="-304800"/>
            <a:chExt cx="6559551" cy="1537527"/>
          </a:xfrm>
        </p:grpSpPr>
        <p:sp>
          <p:nvSpPr>
            <p:cNvPr id="124" name="Google Shape;124;p2"/>
            <p:cNvSpPr/>
            <p:nvPr/>
          </p:nvSpPr>
          <p:spPr>
            <a:xfrm>
              <a:off x="0" y="0"/>
              <a:ext cx="6559551" cy="1232727"/>
            </a:xfrm>
            <a:custGeom>
              <a:rect b="b" l="l" r="r" t="t"/>
              <a:pathLst>
                <a:path extrusionOk="0" h="1232727" w="6559551">
                  <a:moveTo>
                    <a:pt x="0" y="0"/>
                  </a:moveTo>
                  <a:lnTo>
                    <a:pt x="6559551" y="0"/>
                  </a:lnTo>
                  <a:lnTo>
                    <a:pt x="6559551" y="1232727"/>
                  </a:lnTo>
                  <a:lnTo>
                    <a:pt x="0" y="1232727"/>
                  </a:lnTo>
                  <a:close/>
                </a:path>
              </a:pathLst>
            </a:custGeom>
            <a:solidFill>
              <a:srgbClr val="000000">
                <a:alpha val="0"/>
              </a:srgbClr>
            </a:solidFill>
            <a:ln>
              <a:noFill/>
            </a:ln>
          </p:spPr>
        </p:sp>
        <p:sp>
          <p:nvSpPr>
            <p:cNvPr id="125" name="Google Shape;125;p2"/>
            <p:cNvSpPr txBox="1"/>
            <p:nvPr/>
          </p:nvSpPr>
          <p:spPr>
            <a:xfrm>
              <a:off x="0" y="-304800"/>
              <a:ext cx="6559551" cy="1537527"/>
            </a:xfrm>
            <a:prstGeom prst="rect">
              <a:avLst/>
            </a:prstGeom>
            <a:noFill/>
            <a:ln>
              <a:noFill/>
            </a:ln>
          </p:spPr>
          <p:txBody>
            <a:bodyPr anchorCtr="0" anchor="ctr" bIns="0" lIns="0" spcFirstLastPara="1" rIns="0" wrap="square" tIns="0">
              <a:noAutofit/>
            </a:bodyPr>
            <a:lstStyle/>
            <a:p>
              <a:pPr indent="0" lvl="0" marL="0" marR="0" rtl="0" algn="ctr">
                <a:lnSpc>
                  <a:spcPct val="177644"/>
                </a:lnSpc>
                <a:spcBef>
                  <a:spcPts val="0"/>
                </a:spcBef>
                <a:spcAft>
                  <a:spcPts val="0"/>
                </a:spcAft>
                <a:buNone/>
              </a:pPr>
              <a:r>
                <a:rPr b="0" i="0" lang="en-US" sz="3999" u="sng" cap="none" strike="noStrike">
                  <a:solidFill>
                    <a:srgbClr val="000000"/>
                  </a:solidFill>
                  <a:latin typeface="Arial"/>
                  <a:ea typeface="Arial"/>
                  <a:cs typeface="Arial"/>
                  <a:sym typeface="Arial"/>
                  <a:hlinkClick r:id="rId6">
                    <a:extLst>
                      <a:ext uri="{A12FA001-AC4F-418D-AE19-62706E023703}">
                        <ahyp:hlinkClr val="tx"/>
                      </a:ext>
                    </a:extLst>
                  </a:hlinkClick>
                </a:rPr>
                <a:t>Link del Quizz</a:t>
              </a:r>
              <a:endParaRPr/>
            </a:p>
          </p:txBody>
        </p:sp>
      </p:grpSp>
      <p:sp>
        <p:nvSpPr>
          <p:cNvPr id="126" name="Google Shape;126;p2"/>
          <p:cNvSpPr/>
          <p:nvPr/>
        </p:nvSpPr>
        <p:spPr>
          <a:xfrm>
            <a:off x="878654" y="562328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sp>
      <p:sp>
        <p:nvSpPr>
          <p:cNvPr id="127" name="Google Shape;127;p2"/>
          <p:cNvSpPr/>
          <p:nvPr/>
        </p:nvSpPr>
        <p:spPr>
          <a:xfrm>
            <a:off x="878654" y="6604853"/>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sp>
      <p:sp>
        <p:nvSpPr>
          <p:cNvPr id="128" name="Google Shape;128;p2"/>
          <p:cNvSpPr/>
          <p:nvPr/>
        </p:nvSpPr>
        <p:spPr>
          <a:xfrm>
            <a:off x="878654" y="7604635"/>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sp>
      <p:sp>
        <p:nvSpPr>
          <p:cNvPr id="129" name="Google Shape;129;p2"/>
          <p:cNvSpPr/>
          <p:nvPr/>
        </p:nvSpPr>
        <p:spPr>
          <a:xfrm>
            <a:off x="878654" y="860554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sp>
      <p:grpSp>
        <p:nvGrpSpPr>
          <p:cNvPr id="130" name="Google Shape;130;p2"/>
          <p:cNvGrpSpPr/>
          <p:nvPr/>
        </p:nvGrpSpPr>
        <p:grpSpPr>
          <a:xfrm>
            <a:off x="1752042" y="5318472"/>
            <a:ext cx="5834824" cy="1002548"/>
            <a:chOff x="0" y="-209550"/>
            <a:chExt cx="7779766" cy="1336730"/>
          </a:xfrm>
        </p:grpSpPr>
        <p:sp>
          <p:nvSpPr>
            <p:cNvPr id="131" name="Google Shape;131;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32" name="Google Shape;132;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¿Que es API REST?</a:t>
              </a:r>
              <a:endParaRPr/>
            </a:p>
          </p:txBody>
        </p:sp>
      </p:grpSp>
      <p:grpSp>
        <p:nvGrpSpPr>
          <p:cNvPr id="133" name="Google Shape;133;p2"/>
          <p:cNvGrpSpPr/>
          <p:nvPr/>
        </p:nvGrpSpPr>
        <p:grpSpPr>
          <a:xfrm>
            <a:off x="1752042" y="6300046"/>
            <a:ext cx="5834824" cy="1002548"/>
            <a:chOff x="0" y="-209550"/>
            <a:chExt cx="7779766" cy="1336730"/>
          </a:xfrm>
        </p:grpSpPr>
        <p:sp>
          <p:nvSpPr>
            <p:cNvPr id="134" name="Google Shape;134;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35" name="Google Shape;135;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¿Que es un Framework?</a:t>
              </a:r>
              <a:endParaRPr/>
            </a:p>
          </p:txBody>
        </p:sp>
      </p:grpSp>
      <p:grpSp>
        <p:nvGrpSpPr>
          <p:cNvPr id="136" name="Google Shape;136;p2"/>
          <p:cNvGrpSpPr/>
          <p:nvPr/>
        </p:nvGrpSpPr>
        <p:grpSpPr>
          <a:xfrm>
            <a:off x="1752042" y="7299827"/>
            <a:ext cx="5834824" cy="1002548"/>
            <a:chOff x="0" y="-209550"/>
            <a:chExt cx="7779766" cy="1336730"/>
          </a:xfrm>
        </p:grpSpPr>
        <p:sp>
          <p:nvSpPr>
            <p:cNvPr id="137" name="Google Shape;137;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38" name="Google Shape;138;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¿Que es Flask?</a:t>
              </a:r>
              <a:endParaRPr/>
            </a:p>
          </p:txBody>
        </p:sp>
      </p:grpSp>
      <p:grpSp>
        <p:nvGrpSpPr>
          <p:cNvPr id="139" name="Google Shape;139;p2"/>
          <p:cNvGrpSpPr/>
          <p:nvPr/>
        </p:nvGrpSpPr>
        <p:grpSpPr>
          <a:xfrm>
            <a:off x="1752042" y="8300732"/>
            <a:ext cx="5834824" cy="1002548"/>
            <a:chOff x="0" y="-209550"/>
            <a:chExt cx="7779766" cy="1336730"/>
          </a:xfrm>
        </p:grpSpPr>
        <p:sp>
          <p:nvSpPr>
            <p:cNvPr id="140" name="Google Shape;140;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41" name="Google Shape;141;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¿Por que usar Flask?</a:t>
              </a:r>
              <a:endParaRPr/>
            </a:p>
          </p:txBody>
        </p:sp>
      </p:grpSp>
      <p:grpSp>
        <p:nvGrpSpPr>
          <p:cNvPr id="142" name="Google Shape;142;p2"/>
          <p:cNvGrpSpPr/>
          <p:nvPr/>
        </p:nvGrpSpPr>
        <p:grpSpPr>
          <a:xfrm>
            <a:off x="651750" y="196807"/>
            <a:ext cx="6385675" cy="2904299"/>
            <a:chOff x="-5" y="-838607"/>
            <a:chExt cx="8244900" cy="6089955"/>
          </a:xfrm>
        </p:grpSpPr>
        <p:sp>
          <p:nvSpPr>
            <p:cNvPr id="143" name="Google Shape;143;p2"/>
            <p:cNvSpPr/>
            <p:nvPr/>
          </p:nvSpPr>
          <p:spPr>
            <a:xfrm>
              <a:off x="0" y="0"/>
              <a:ext cx="8244817" cy="5251348"/>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sp>
        <p:sp>
          <p:nvSpPr>
            <p:cNvPr id="144" name="Google Shape;144;p2"/>
            <p:cNvSpPr txBox="1"/>
            <p:nvPr/>
          </p:nvSpPr>
          <p:spPr>
            <a:xfrm>
              <a:off x="-5" y="-838607"/>
              <a:ext cx="8244900" cy="55086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None/>
              </a:pPr>
              <a:r>
                <a:rPr b="0" i="0" lang="en-US" sz="15000" u="none" cap="none" strike="noStrike">
                  <a:solidFill>
                    <a:srgbClr val="131416"/>
                  </a:solidFill>
                  <a:latin typeface="Pacifico"/>
                  <a:ea typeface="Pacifico"/>
                  <a:cs typeface="Pacifico"/>
                  <a:sym typeface="Pacifico"/>
                </a:rPr>
                <a:t>Agenda</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48" name="Shape 148"/>
        <p:cNvGrpSpPr/>
        <p:nvPr/>
      </p:nvGrpSpPr>
      <p:grpSpPr>
        <a:xfrm>
          <a:off x="0" y="0"/>
          <a:ext cx="0" cy="0"/>
          <a:chOff x="0" y="0"/>
          <a:chExt cx="0" cy="0"/>
        </a:xfrm>
      </p:grpSpPr>
      <p:sp>
        <p:nvSpPr>
          <p:cNvPr id="149" name="Google Shape;149;p3"/>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50" name="Google Shape;150;p3"/>
          <p:cNvGrpSpPr/>
          <p:nvPr/>
        </p:nvGrpSpPr>
        <p:grpSpPr>
          <a:xfrm>
            <a:off x="414625" y="196812"/>
            <a:ext cx="17458749" cy="9459392"/>
            <a:chOff x="0" y="-114300"/>
            <a:chExt cx="4598189" cy="2491363"/>
          </a:xfrm>
        </p:grpSpPr>
        <p:sp>
          <p:nvSpPr>
            <p:cNvPr id="151" name="Google Shape;151;p3"/>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52" name="Google Shape;152;p3"/>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3" name="Google Shape;153;p3"/>
          <p:cNvGrpSpPr/>
          <p:nvPr/>
        </p:nvGrpSpPr>
        <p:grpSpPr>
          <a:xfrm>
            <a:off x="1028700" y="2643344"/>
            <a:ext cx="16230602" cy="1256147"/>
            <a:chOff x="0" y="-209550"/>
            <a:chExt cx="21640802" cy="1674862"/>
          </a:xfrm>
        </p:grpSpPr>
        <p:sp>
          <p:nvSpPr>
            <p:cNvPr id="154" name="Google Shape;154;p3"/>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155" name="Google Shape;155;p3"/>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COMPETENCIA(S) QUE DESARROLLAREMOS</a:t>
              </a:r>
              <a:endParaRPr/>
            </a:p>
          </p:txBody>
        </p:sp>
      </p:grpSp>
      <p:grpSp>
        <p:nvGrpSpPr>
          <p:cNvPr id="156" name="Google Shape;156;p3"/>
          <p:cNvGrpSpPr/>
          <p:nvPr/>
        </p:nvGrpSpPr>
        <p:grpSpPr>
          <a:xfrm>
            <a:off x="1028700" y="4018415"/>
            <a:ext cx="16230600" cy="3468079"/>
            <a:chOff x="0" y="-238125"/>
            <a:chExt cx="21640800" cy="4624104"/>
          </a:xfrm>
        </p:grpSpPr>
        <p:sp>
          <p:nvSpPr>
            <p:cNvPr id="157" name="Google Shape;157;p3"/>
            <p:cNvSpPr/>
            <p:nvPr/>
          </p:nvSpPr>
          <p:spPr>
            <a:xfrm>
              <a:off x="0" y="0"/>
              <a:ext cx="21640800" cy="4385979"/>
            </a:xfrm>
            <a:custGeom>
              <a:rect b="b" l="l" r="r" t="t"/>
              <a:pathLst>
                <a:path extrusionOk="0" h="4385979" w="21640800">
                  <a:moveTo>
                    <a:pt x="0" y="0"/>
                  </a:moveTo>
                  <a:lnTo>
                    <a:pt x="21640800" y="0"/>
                  </a:lnTo>
                  <a:lnTo>
                    <a:pt x="21640800" y="4385979"/>
                  </a:lnTo>
                  <a:lnTo>
                    <a:pt x="0" y="4385979"/>
                  </a:lnTo>
                  <a:close/>
                </a:path>
              </a:pathLst>
            </a:custGeom>
            <a:solidFill>
              <a:srgbClr val="000000">
                <a:alpha val="0"/>
              </a:srgbClr>
            </a:solidFill>
            <a:ln>
              <a:noFill/>
            </a:ln>
          </p:spPr>
        </p:sp>
        <p:sp>
          <p:nvSpPr>
            <p:cNvPr id="158" name="Google Shape;158;p3"/>
            <p:cNvSpPr txBox="1"/>
            <p:nvPr/>
          </p:nvSpPr>
          <p:spPr>
            <a:xfrm>
              <a:off x="0" y="-238125"/>
              <a:ext cx="21640800" cy="46241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None/>
              </a:pPr>
              <a:r>
                <a:rPr b="0" i="0" lang="en-US" sz="5198" u="none" cap="none" strike="noStrike">
                  <a:solidFill>
                    <a:srgbClr val="131416"/>
                  </a:solidFill>
                  <a:latin typeface="Open Sans"/>
                  <a:ea typeface="Open Sans"/>
                  <a:cs typeface="Open Sans"/>
                  <a:sym typeface="Open Sans"/>
                </a:rPr>
                <a:t>Desarrolla aplicaciones web con Flask o Django en Python para soportar arquitecturas backend y frontend bien definidas.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62" name="Shape 162"/>
        <p:cNvGrpSpPr/>
        <p:nvPr/>
      </p:nvGrpSpPr>
      <p:grpSpPr>
        <a:xfrm>
          <a:off x="0" y="0"/>
          <a:ext cx="0" cy="0"/>
          <a:chOff x="0" y="0"/>
          <a:chExt cx="0" cy="0"/>
        </a:xfrm>
      </p:grpSpPr>
      <p:sp>
        <p:nvSpPr>
          <p:cNvPr id="163" name="Google Shape;163;p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64" name="Google Shape;164;p4"/>
          <p:cNvGrpSpPr/>
          <p:nvPr/>
        </p:nvGrpSpPr>
        <p:grpSpPr>
          <a:xfrm>
            <a:off x="414625" y="196812"/>
            <a:ext cx="17458749" cy="9459392"/>
            <a:chOff x="0" y="-114300"/>
            <a:chExt cx="4598189" cy="2491363"/>
          </a:xfrm>
        </p:grpSpPr>
        <p:sp>
          <p:nvSpPr>
            <p:cNvPr id="165" name="Google Shape;165;p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66" name="Google Shape;166;p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7" name="Google Shape;167;p4"/>
          <p:cNvGrpSpPr/>
          <p:nvPr/>
        </p:nvGrpSpPr>
        <p:grpSpPr>
          <a:xfrm>
            <a:off x="1028700" y="871538"/>
            <a:ext cx="16230602" cy="1256147"/>
            <a:chOff x="0" y="-209550"/>
            <a:chExt cx="21640802" cy="1674862"/>
          </a:xfrm>
        </p:grpSpPr>
        <p:sp>
          <p:nvSpPr>
            <p:cNvPr id="168" name="Google Shape;168;p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169" name="Google Shape;169;p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BACKEND</a:t>
              </a:r>
              <a:endParaRPr/>
            </a:p>
          </p:txBody>
        </p:sp>
      </p:grpSp>
      <p:grpSp>
        <p:nvGrpSpPr>
          <p:cNvPr id="170" name="Google Shape;170;p4"/>
          <p:cNvGrpSpPr/>
          <p:nvPr/>
        </p:nvGrpSpPr>
        <p:grpSpPr>
          <a:xfrm>
            <a:off x="1028700" y="2020528"/>
            <a:ext cx="16230600" cy="5501870"/>
            <a:chOff x="0" y="-142875"/>
            <a:chExt cx="21640800" cy="7335827"/>
          </a:xfrm>
        </p:grpSpPr>
        <p:sp>
          <p:nvSpPr>
            <p:cNvPr id="171" name="Google Shape;171;p4"/>
            <p:cNvSpPr/>
            <p:nvPr/>
          </p:nvSpPr>
          <p:spPr>
            <a:xfrm>
              <a:off x="0" y="0"/>
              <a:ext cx="21640800" cy="7192952"/>
            </a:xfrm>
            <a:custGeom>
              <a:rect b="b" l="l" r="r" t="t"/>
              <a:pathLst>
                <a:path extrusionOk="0" h="7192952" w="21640800">
                  <a:moveTo>
                    <a:pt x="0" y="0"/>
                  </a:moveTo>
                  <a:lnTo>
                    <a:pt x="21640800" y="0"/>
                  </a:lnTo>
                  <a:lnTo>
                    <a:pt x="21640800" y="7192952"/>
                  </a:lnTo>
                  <a:lnTo>
                    <a:pt x="0" y="7192952"/>
                  </a:lnTo>
                  <a:close/>
                </a:path>
              </a:pathLst>
            </a:custGeom>
            <a:solidFill>
              <a:srgbClr val="000000">
                <a:alpha val="0"/>
              </a:srgbClr>
            </a:solidFill>
            <a:ln>
              <a:noFill/>
            </a:ln>
          </p:spPr>
        </p:sp>
        <p:sp>
          <p:nvSpPr>
            <p:cNvPr id="172" name="Google Shape;172;p4"/>
            <p:cNvSpPr txBox="1"/>
            <p:nvPr/>
          </p:nvSpPr>
          <p:spPr>
            <a:xfrm>
              <a:off x="0" y="-142875"/>
              <a:ext cx="21640800" cy="73358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El backend es la parte invisible pero esencial de un sitio, encargada de manejar la lógica y el procesamiento de datos necesarios para que todo funcione de manera correcta y segura.</a:t>
              </a:r>
              <a:endParaRPr/>
            </a:p>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El backend se ocupa de tareas como almacenar y recuperar datos de una base de datos, procesar formularios, autenticar usuarios y gestionar la seguridad del sitio.</a:t>
              </a:r>
              <a:endParaRPr/>
            </a:p>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El backend se ejecuta en un servidor, una aplicación especializada que recibe solicitudes del navegador, las procesa y responde adecuadamente. Para facilitar esta comunicación estructurada y segura entre el cliente y el servidor, se utilizan las APIs.</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76" name="Shape 176"/>
        <p:cNvGrpSpPr/>
        <p:nvPr/>
      </p:nvGrpSpPr>
      <p:grpSpPr>
        <a:xfrm>
          <a:off x="0" y="0"/>
          <a:ext cx="0" cy="0"/>
          <a:chOff x="0" y="0"/>
          <a:chExt cx="0" cy="0"/>
        </a:xfrm>
      </p:grpSpPr>
      <p:sp>
        <p:nvSpPr>
          <p:cNvPr id="177" name="Google Shape;177;p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78" name="Google Shape;178;p5"/>
          <p:cNvGrpSpPr/>
          <p:nvPr/>
        </p:nvGrpSpPr>
        <p:grpSpPr>
          <a:xfrm>
            <a:off x="414625" y="196812"/>
            <a:ext cx="17458749" cy="9459392"/>
            <a:chOff x="0" y="-114300"/>
            <a:chExt cx="4598189" cy="2491363"/>
          </a:xfrm>
        </p:grpSpPr>
        <p:sp>
          <p:nvSpPr>
            <p:cNvPr id="179" name="Google Shape;179;p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80" name="Google Shape;180;p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1" name="Google Shape;181;p5"/>
          <p:cNvGrpSpPr/>
          <p:nvPr/>
        </p:nvGrpSpPr>
        <p:grpSpPr>
          <a:xfrm>
            <a:off x="1028700" y="871538"/>
            <a:ext cx="16230602" cy="1256147"/>
            <a:chOff x="0" y="-209550"/>
            <a:chExt cx="21640802" cy="1674862"/>
          </a:xfrm>
        </p:grpSpPr>
        <p:sp>
          <p:nvSpPr>
            <p:cNvPr id="182" name="Google Shape;182;p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183" name="Google Shape;183;p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¿QUE ES UNA API?</a:t>
              </a:r>
              <a:endParaRPr/>
            </a:p>
          </p:txBody>
        </p:sp>
      </p:grpSp>
      <p:grpSp>
        <p:nvGrpSpPr>
          <p:cNvPr id="184" name="Google Shape;184;p5"/>
          <p:cNvGrpSpPr/>
          <p:nvPr/>
        </p:nvGrpSpPr>
        <p:grpSpPr>
          <a:xfrm>
            <a:off x="1009598" y="2020528"/>
            <a:ext cx="16268850" cy="7635677"/>
            <a:chOff x="0" y="-142875"/>
            <a:chExt cx="21691800" cy="10180903"/>
          </a:xfrm>
        </p:grpSpPr>
        <p:sp>
          <p:nvSpPr>
            <p:cNvPr id="185" name="Google Shape;185;p5"/>
            <p:cNvSpPr/>
            <p:nvPr/>
          </p:nvSpPr>
          <p:spPr>
            <a:xfrm>
              <a:off x="0" y="0"/>
              <a:ext cx="21691740" cy="10038028"/>
            </a:xfrm>
            <a:custGeom>
              <a:rect b="b" l="l" r="r" t="t"/>
              <a:pathLst>
                <a:path extrusionOk="0" h="10038028" w="21691740">
                  <a:moveTo>
                    <a:pt x="0" y="0"/>
                  </a:moveTo>
                  <a:lnTo>
                    <a:pt x="21691740" y="0"/>
                  </a:lnTo>
                  <a:lnTo>
                    <a:pt x="21691740" y="10038028"/>
                  </a:lnTo>
                  <a:lnTo>
                    <a:pt x="0" y="10038028"/>
                  </a:lnTo>
                  <a:close/>
                </a:path>
              </a:pathLst>
            </a:custGeom>
            <a:solidFill>
              <a:srgbClr val="000000">
                <a:alpha val="0"/>
              </a:srgbClr>
            </a:solidFill>
            <a:ln>
              <a:noFill/>
            </a:ln>
          </p:spPr>
        </p:sp>
        <p:sp>
          <p:nvSpPr>
            <p:cNvPr id="186" name="Google Shape;186;p5"/>
            <p:cNvSpPr txBox="1"/>
            <p:nvPr/>
          </p:nvSpPr>
          <p:spPr>
            <a:xfrm>
              <a:off x="0" y="-142875"/>
              <a:ext cx="21691800" cy="101808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Una API (Application Programming Interface) es un conjunto de reglas que permite que dos aplicaciones se comuniquen entre sí. En el contexto del desarrollo web, una API actúa como un puente entre el frontend y el backend, permitiendo que se soliciten datos o servicios de forma controlada.</a:t>
              </a:r>
              <a:endParaRPr/>
            </a:p>
            <a:p>
              <a:pPr indent="0" lvl="0" marL="0" marR="0" rtl="0" algn="just">
                <a:lnSpc>
                  <a:spcPct val="168000"/>
                </a:lnSpc>
                <a:spcBef>
                  <a:spcPts val="0"/>
                </a:spcBef>
                <a:spcAft>
                  <a:spcPts val="0"/>
                </a:spcAft>
                <a:buNone/>
              </a:pPr>
              <a:r>
                <a:t/>
              </a:r>
              <a:endParaRPr b="0" i="0" sz="15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Características clave:</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Interfaz definida: Expone funciones específicas que otros programas pueden usar.</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Contrato de comunicación: Define cómo deben estructurarse las solicitudes y respuestas.</a:t>
              </a:r>
              <a:endParaRPr/>
            </a:p>
            <a:p>
              <a:pPr indent="-345439" lvl="1" marL="690881" marR="0" rtl="0" algn="just">
                <a:lnSpc>
                  <a:spcPct val="168000"/>
                </a:lnSpc>
                <a:spcBef>
                  <a:spcPts val="0"/>
                </a:spcBef>
                <a:spcAft>
                  <a:spcPts val="0"/>
                </a:spcAft>
                <a:buClr>
                  <a:srgbClr val="131416"/>
                </a:buClr>
                <a:buSzPts val="3200"/>
                <a:buFont typeface="Arial"/>
                <a:buChar char="•"/>
              </a:pPr>
              <a:r>
                <a:rPr lang="en-US" sz="3200">
                  <a:solidFill>
                    <a:srgbClr val="131416"/>
                  </a:solidFill>
                  <a:latin typeface="Open Sans"/>
                  <a:ea typeface="Open Sans"/>
                  <a:cs typeface="Open Sans"/>
                  <a:sym typeface="Open Sans"/>
                </a:rPr>
                <a:t>R</a:t>
              </a:r>
              <a:r>
                <a:rPr b="0" i="0" lang="en-US" sz="3200" u="none" cap="none" strike="noStrike">
                  <a:solidFill>
                    <a:srgbClr val="131416"/>
                  </a:solidFill>
                  <a:latin typeface="Open Sans"/>
                  <a:ea typeface="Open Sans"/>
                  <a:cs typeface="Open Sans"/>
                  <a:sym typeface="Open Sans"/>
                </a:rPr>
                <a:t>eutilización: Permite</a:t>
              </a:r>
              <a:r>
                <a:rPr b="0" i="0" lang="en-US" sz="3200" u="none" cap="none" strike="noStrike">
                  <a:solidFill>
                    <a:srgbClr val="131416"/>
                  </a:solidFill>
                  <a:latin typeface="Open Sans"/>
                  <a:ea typeface="Open Sans"/>
                  <a:cs typeface="Open Sans"/>
                  <a:sym typeface="Open Sans"/>
                </a:rPr>
                <a:t> que </a:t>
              </a:r>
              <a:r>
                <a:rPr b="0" i="0" lang="en-US" sz="3200" u="none" cap="none" strike="noStrike">
                  <a:solidFill>
                    <a:srgbClr val="131416"/>
                  </a:solidFill>
                  <a:latin typeface="Open Sans"/>
                  <a:ea typeface="Open Sans"/>
                  <a:cs typeface="Open Sans"/>
                  <a:sym typeface="Open Sans"/>
                </a:rPr>
                <a:t>múltiples clientes consuman los mismos servicios.</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90" name="Shape 190"/>
        <p:cNvGrpSpPr/>
        <p:nvPr/>
      </p:nvGrpSpPr>
      <p:grpSpPr>
        <a:xfrm>
          <a:off x="0" y="0"/>
          <a:ext cx="0" cy="0"/>
          <a:chOff x="0" y="0"/>
          <a:chExt cx="0" cy="0"/>
        </a:xfrm>
      </p:grpSpPr>
      <p:sp>
        <p:nvSpPr>
          <p:cNvPr id="191" name="Google Shape;191;p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192" name="Google Shape;192;p6"/>
          <p:cNvGrpSpPr/>
          <p:nvPr/>
        </p:nvGrpSpPr>
        <p:grpSpPr>
          <a:xfrm>
            <a:off x="414625" y="196812"/>
            <a:ext cx="17458749" cy="9459392"/>
            <a:chOff x="0" y="-114300"/>
            <a:chExt cx="4598189" cy="2491363"/>
          </a:xfrm>
        </p:grpSpPr>
        <p:sp>
          <p:nvSpPr>
            <p:cNvPr id="193" name="Google Shape;193;p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194" name="Google Shape;194;p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5" name="Google Shape;195;p6"/>
          <p:cNvGrpSpPr/>
          <p:nvPr/>
        </p:nvGrpSpPr>
        <p:grpSpPr>
          <a:xfrm>
            <a:off x="1028700" y="871538"/>
            <a:ext cx="16230602" cy="1256147"/>
            <a:chOff x="0" y="-209550"/>
            <a:chExt cx="21640802" cy="1674862"/>
          </a:xfrm>
        </p:grpSpPr>
        <p:sp>
          <p:nvSpPr>
            <p:cNvPr id="196" name="Google Shape;196;p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197" name="Google Shape;197;p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¿QUE ES REST?</a:t>
              </a:r>
              <a:endParaRPr/>
            </a:p>
          </p:txBody>
        </p:sp>
      </p:grpSp>
      <p:grpSp>
        <p:nvGrpSpPr>
          <p:cNvPr id="198" name="Google Shape;198;p6"/>
          <p:cNvGrpSpPr/>
          <p:nvPr/>
        </p:nvGrpSpPr>
        <p:grpSpPr>
          <a:xfrm>
            <a:off x="1028700" y="2020528"/>
            <a:ext cx="16230600" cy="6178145"/>
            <a:chOff x="0" y="-142875"/>
            <a:chExt cx="21640800" cy="8237527"/>
          </a:xfrm>
        </p:grpSpPr>
        <p:sp>
          <p:nvSpPr>
            <p:cNvPr id="199" name="Google Shape;199;p6"/>
            <p:cNvSpPr/>
            <p:nvPr/>
          </p:nvSpPr>
          <p:spPr>
            <a:xfrm>
              <a:off x="0" y="0"/>
              <a:ext cx="21640800" cy="8094652"/>
            </a:xfrm>
            <a:custGeom>
              <a:rect b="b" l="l" r="r" t="t"/>
              <a:pathLst>
                <a:path extrusionOk="0" h="8094652" w="21640800">
                  <a:moveTo>
                    <a:pt x="0" y="0"/>
                  </a:moveTo>
                  <a:lnTo>
                    <a:pt x="21640800" y="0"/>
                  </a:lnTo>
                  <a:lnTo>
                    <a:pt x="21640800" y="8094652"/>
                  </a:lnTo>
                  <a:lnTo>
                    <a:pt x="0" y="8094652"/>
                  </a:lnTo>
                  <a:close/>
                </a:path>
              </a:pathLst>
            </a:custGeom>
            <a:solidFill>
              <a:srgbClr val="000000">
                <a:alpha val="0"/>
              </a:srgbClr>
            </a:solidFill>
            <a:ln>
              <a:noFill/>
            </a:ln>
          </p:spPr>
        </p:sp>
        <p:sp>
          <p:nvSpPr>
            <p:cNvPr id="200" name="Google Shape;200;p6"/>
            <p:cNvSpPr txBox="1"/>
            <p:nvPr/>
          </p:nvSpPr>
          <p:spPr>
            <a:xfrm>
              <a:off x="0" y="-142875"/>
              <a:ext cx="21640800" cy="82375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REST (Representational State Transfer) es un conjunto de principios arquitectónicos para diseñar servicios web que permiten la comunicación entre sistemas a través del protocolo HTTP de manera simple y escalable.</a:t>
              </a:r>
              <a:endParaRPr/>
            </a:p>
            <a:p>
              <a:pPr indent="0" lvl="0" marL="0" marR="0" rtl="0" algn="just">
                <a:lnSpc>
                  <a:spcPct val="168000"/>
                </a:lnSpc>
                <a:spcBef>
                  <a:spcPts val="0"/>
                </a:spcBef>
                <a:spcAft>
                  <a:spcPts val="0"/>
                </a:spcAft>
                <a:buNone/>
              </a:pPr>
              <a:r>
                <a:t/>
              </a:r>
              <a:endParaRPr b="0" i="0" sz="15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Principios de REST:</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Cliente-servidor: Separación entre cliente (usuario o aplicación) y servidor (lógica y datos).</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Sin estado (Stateless): Cada solicitud del cliente al servidor debe contener toda la información necesaria. El servidor no guarda contexto de solicitudes anteriores</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204" name="Shape 204"/>
        <p:cNvGrpSpPr/>
        <p:nvPr/>
      </p:nvGrpSpPr>
      <p:grpSpPr>
        <a:xfrm>
          <a:off x="0" y="0"/>
          <a:ext cx="0" cy="0"/>
          <a:chOff x="0" y="0"/>
          <a:chExt cx="0" cy="0"/>
        </a:xfrm>
      </p:grpSpPr>
      <p:sp>
        <p:nvSpPr>
          <p:cNvPr id="205" name="Google Shape;205;p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06" name="Google Shape;206;p7"/>
          <p:cNvGrpSpPr/>
          <p:nvPr/>
        </p:nvGrpSpPr>
        <p:grpSpPr>
          <a:xfrm>
            <a:off x="414625" y="196812"/>
            <a:ext cx="17458749" cy="9459392"/>
            <a:chOff x="0" y="-114300"/>
            <a:chExt cx="4598189" cy="2491363"/>
          </a:xfrm>
        </p:grpSpPr>
        <p:sp>
          <p:nvSpPr>
            <p:cNvPr id="207" name="Google Shape;207;p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08" name="Google Shape;208;p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9" name="Google Shape;209;p7"/>
          <p:cNvGrpSpPr/>
          <p:nvPr/>
        </p:nvGrpSpPr>
        <p:grpSpPr>
          <a:xfrm>
            <a:off x="1028700" y="921544"/>
            <a:ext cx="16230600" cy="4149320"/>
            <a:chOff x="0" y="-142875"/>
            <a:chExt cx="21640800" cy="5532427"/>
          </a:xfrm>
        </p:grpSpPr>
        <p:sp>
          <p:nvSpPr>
            <p:cNvPr id="210" name="Google Shape;210;p7"/>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sp>
        <p:sp>
          <p:nvSpPr>
            <p:cNvPr id="211" name="Google Shape;211;p7"/>
            <p:cNvSpPr txBox="1"/>
            <p:nvPr/>
          </p:nvSpPr>
          <p:spPr>
            <a:xfrm>
              <a:off x="0" y="-142875"/>
              <a:ext cx="21640800" cy="55324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Caché: Las respuestas pueden ser almacenadas para mejorar el rendimiento.</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Interfaz uniforme: Uso coherente de métodos HTTP.</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Sistema en capas: La arquitectura puede incluir intermediarios como proxies o balanceadores.</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Código bajo demanda: El servidor puede enviar código ejecutable (como scripts JavaScript).</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215" name="Shape 215"/>
        <p:cNvGrpSpPr/>
        <p:nvPr/>
      </p:nvGrpSpPr>
      <p:grpSpPr>
        <a:xfrm>
          <a:off x="0" y="0"/>
          <a:ext cx="0" cy="0"/>
          <a:chOff x="0" y="0"/>
          <a:chExt cx="0" cy="0"/>
        </a:xfrm>
      </p:grpSpPr>
      <p:sp>
        <p:nvSpPr>
          <p:cNvPr id="216" name="Google Shape;216;p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17" name="Google Shape;217;p8"/>
          <p:cNvGrpSpPr/>
          <p:nvPr/>
        </p:nvGrpSpPr>
        <p:grpSpPr>
          <a:xfrm>
            <a:off x="414625" y="196812"/>
            <a:ext cx="17458749" cy="9459392"/>
            <a:chOff x="0" y="-114300"/>
            <a:chExt cx="4598189" cy="2491363"/>
          </a:xfrm>
        </p:grpSpPr>
        <p:sp>
          <p:nvSpPr>
            <p:cNvPr id="218" name="Google Shape;218;p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19" name="Google Shape;219;p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0" name="Google Shape;220;p8"/>
          <p:cNvGrpSpPr/>
          <p:nvPr/>
        </p:nvGrpSpPr>
        <p:grpSpPr>
          <a:xfrm>
            <a:off x="1028700" y="871538"/>
            <a:ext cx="16230602" cy="1256147"/>
            <a:chOff x="0" y="-209550"/>
            <a:chExt cx="21640802" cy="1674862"/>
          </a:xfrm>
        </p:grpSpPr>
        <p:sp>
          <p:nvSpPr>
            <p:cNvPr id="221" name="Google Shape;221;p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22" name="Google Shape;222;p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API REST</a:t>
              </a:r>
              <a:endParaRPr/>
            </a:p>
          </p:txBody>
        </p:sp>
      </p:grpSp>
      <p:grpSp>
        <p:nvGrpSpPr>
          <p:cNvPr id="223" name="Google Shape;223;p8"/>
          <p:cNvGrpSpPr/>
          <p:nvPr/>
        </p:nvGrpSpPr>
        <p:grpSpPr>
          <a:xfrm>
            <a:off x="1028700" y="2020528"/>
            <a:ext cx="16230600" cy="2120495"/>
            <a:chOff x="0" y="-142875"/>
            <a:chExt cx="21640800" cy="2827327"/>
          </a:xfrm>
        </p:grpSpPr>
        <p:sp>
          <p:nvSpPr>
            <p:cNvPr id="224" name="Google Shape;224;p8"/>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sp>
        <p:sp>
          <p:nvSpPr>
            <p:cNvPr id="225" name="Google Shape;225;p8"/>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Una API REST es una API que sigue los principios de REST, esta permite que aplicaciones cliente y servidor se comuniquen a través de HTTP, usando operaciones estándar para consultar, crear, modificar o eliminar datos.</a:t>
              </a:r>
              <a:endParaRPr/>
            </a:p>
          </p:txBody>
        </p:sp>
      </p:grpSp>
      <p:sp>
        <p:nvSpPr>
          <p:cNvPr id="226" name="Google Shape;226;p8"/>
          <p:cNvSpPr/>
          <p:nvPr/>
        </p:nvSpPr>
        <p:spPr>
          <a:xfrm>
            <a:off x="5299338" y="4606718"/>
            <a:ext cx="7689324" cy="3699674"/>
          </a:xfrm>
          <a:custGeom>
            <a:rect b="b" l="l" r="r" t="t"/>
            <a:pathLst>
              <a:path extrusionOk="0" h="3699674" w="7689324">
                <a:moveTo>
                  <a:pt x="0" y="0"/>
                </a:moveTo>
                <a:lnTo>
                  <a:pt x="7689324" y="0"/>
                </a:lnTo>
                <a:lnTo>
                  <a:pt x="7689324" y="3699675"/>
                </a:lnTo>
                <a:lnTo>
                  <a:pt x="0" y="3699675"/>
                </a:lnTo>
                <a:lnTo>
                  <a:pt x="0" y="0"/>
                </a:lnTo>
                <a:close/>
              </a:path>
            </a:pathLst>
          </a:custGeom>
          <a:blipFill rotWithShape="1">
            <a:blip r:embed="rId4">
              <a:alphaModFix/>
            </a:blip>
            <a:stretch>
              <a:fillRect b="-17691" l="0" r="0" t="-28049"/>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230" name="Shape 230"/>
        <p:cNvGrpSpPr/>
        <p:nvPr/>
      </p:nvGrpSpPr>
      <p:grpSpPr>
        <a:xfrm>
          <a:off x="0" y="0"/>
          <a:ext cx="0" cy="0"/>
          <a:chOff x="0" y="0"/>
          <a:chExt cx="0" cy="0"/>
        </a:xfrm>
      </p:grpSpPr>
      <p:sp>
        <p:nvSpPr>
          <p:cNvPr id="231" name="Google Shape;231;p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32" name="Google Shape;232;p9"/>
          <p:cNvGrpSpPr/>
          <p:nvPr/>
        </p:nvGrpSpPr>
        <p:grpSpPr>
          <a:xfrm>
            <a:off x="414625" y="196812"/>
            <a:ext cx="17458749" cy="9459392"/>
            <a:chOff x="0" y="-114300"/>
            <a:chExt cx="4598189" cy="2491363"/>
          </a:xfrm>
        </p:grpSpPr>
        <p:sp>
          <p:nvSpPr>
            <p:cNvPr id="233" name="Google Shape;233;p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34" name="Google Shape;234;p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5" name="Google Shape;235;p9"/>
          <p:cNvGrpSpPr/>
          <p:nvPr/>
        </p:nvGrpSpPr>
        <p:grpSpPr>
          <a:xfrm>
            <a:off x="1028700" y="871538"/>
            <a:ext cx="16230602" cy="1256147"/>
            <a:chOff x="0" y="-209550"/>
            <a:chExt cx="21640802" cy="1674862"/>
          </a:xfrm>
        </p:grpSpPr>
        <p:sp>
          <p:nvSpPr>
            <p:cNvPr id="236" name="Google Shape;236;p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37" name="Google Shape;237;p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METODOS HTTP</a:t>
              </a:r>
              <a:endParaRPr/>
            </a:p>
          </p:txBody>
        </p:sp>
      </p:grpSp>
      <p:grpSp>
        <p:nvGrpSpPr>
          <p:cNvPr id="238" name="Google Shape;238;p9"/>
          <p:cNvGrpSpPr/>
          <p:nvPr/>
        </p:nvGrpSpPr>
        <p:grpSpPr>
          <a:xfrm>
            <a:off x="5183162" y="2034815"/>
            <a:ext cx="12076138" cy="1185186"/>
            <a:chOff x="0" y="-123825"/>
            <a:chExt cx="16101518" cy="1580249"/>
          </a:xfrm>
        </p:grpSpPr>
        <p:sp>
          <p:nvSpPr>
            <p:cNvPr id="239" name="Google Shape;239;p9"/>
            <p:cNvSpPr/>
            <p:nvPr/>
          </p:nvSpPr>
          <p:spPr>
            <a:xfrm>
              <a:off x="0" y="0"/>
              <a:ext cx="16101518" cy="1456424"/>
            </a:xfrm>
            <a:custGeom>
              <a:rect b="b" l="l" r="r" t="t"/>
              <a:pathLst>
                <a:path extrusionOk="0" h="1456424" w="16101518">
                  <a:moveTo>
                    <a:pt x="0" y="0"/>
                  </a:moveTo>
                  <a:lnTo>
                    <a:pt x="16101518" y="0"/>
                  </a:lnTo>
                  <a:lnTo>
                    <a:pt x="16101518" y="1456424"/>
                  </a:lnTo>
                  <a:lnTo>
                    <a:pt x="0" y="1456424"/>
                  </a:lnTo>
                  <a:close/>
                </a:path>
              </a:pathLst>
            </a:custGeom>
            <a:solidFill>
              <a:srgbClr val="000000">
                <a:alpha val="0"/>
              </a:srgbClr>
            </a:solidFill>
            <a:ln>
              <a:noFill/>
            </a:ln>
          </p:spPr>
        </p:sp>
        <p:sp>
          <p:nvSpPr>
            <p:cNvPr id="240" name="Google Shape;240;p9"/>
            <p:cNvSpPr txBox="1"/>
            <p:nvPr/>
          </p:nvSpPr>
          <p:spPr>
            <a:xfrm>
              <a:off x="0" y="-123825"/>
              <a:ext cx="16101518" cy="15802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2600" u="none" cap="none" strike="noStrike">
                  <a:solidFill>
                    <a:srgbClr val="131416"/>
                  </a:solidFill>
                  <a:latin typeface="Open Sans"/>
                  <a:ea typeface="Open Sans"/>
                  <a:cs typeface="Open Sans"/>
                  <a:sym typeface="Open Sans"/>
                </a:rPr>
                <a:t>El método GET solicita una representación de un recurso específico. Las peticiones que usan el método GET sólo deben recuperar datos.</a:t>
              </a:r>
              <a:endParaRPr/>
            </a:p>
          </p:txBody>
        </p:sp>
      </p:grpSp>
      <p:grpSp>
        <p:nvGrpSpPr>
          <p:cNvPr id="241" name="Google Shape;241;p9"/>
          <p:cNvGrpSpPr/>
          <p:nvPr/>
        </p:nvGrpSpPr>
        <p:grpSpPr>
          <a:xfrm>
            <a:off x="5183162" y="3580630"/>
            <a:ext cx="12076138" cy="1737636"/>
            <a:chOff x="0" y="-123825"/>
            <a:chExt cx="16101518" cy="2316849"/>
          </a:xfrm>
        </p:grpSpPr>
        <p:sp>
          <p:nvSpPr>
            <p:cNvPr id="242" name="Google Shape;242;p9"/>
            <p:cNvSpPr/>
            <p:nvPr/>
          </p:nvSpPr>
          <p:spPr>
            <a:xfrm>
              <a:off x="0" y="0"/>
              <a:ext cx="16101518" cy="2193024"/>
            </a:xfrm>
            <a:custGeom>
              <a:rect b="b" l="l" r="r" t="t"/>
              <a:pathLst>
                <a:path extrusionOk="0" h="2193024" w="16101518">
                  <a:moveTo>
                    <a:pt x="0" y="0"/>
                  </a:moveTo>
                  <a:lnTo>
                    <a:pt x="16101518" y="0"/>
                  </a:lnTo>
                  <a:lnTo>
                    <a:pt x="16101518" y="2193024"/>
                  </a:lnTo>
                  <a:lnTo>
                    <a:pt x="0" y="2193024"/>
                  </a:lnTo>
                  <a:close/>
                </a:path>
              </a:pathLst>
            </a:custGeom>
            <a:solidFill>
              <a:srgbClr val="000000">
                <a:alpha val="0"/>
              </a:srgbClr>
            </a:solidFill>
            <a:ln>
              <a:noFill/>
            </a:ln>
          </p:spPr>
        </p:sp>
        <p:sp>
          <p:nvSpPr>
            <p:cNvPr id="243" name="Google Shape;243;p9"/>
            <p:cNvSpPr txBox="1"/>
            <p:nvPr/>
          </p:nvSpPr>
          <p:spPr>
            <a:xfrm>
              <a:off x="0" y="-123825"/>
              <a:ext cx="16101518" cy="23168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2600" u="none" cap="none" strike="noStrike">
                  <a:solidFill>
                    <a:srgbClr val="131416"/>
                  </a:solidFill>
                  <a:latin typeface="Open Sans"/>
                  <a:ea typeface="Open Sans"/>
                  <a:cs typeface="Open Sans"/>
                  <a:sym typeface="Open Sans"/>
                </a:rPr>
                <a:t>Este método se utiliza para enviar una entidad a un recurso en específico, causando a menudo un cambio en el estado o efectos secundarios en el servidor.</a:t>
              </a:r>
              <a:endParaRPr/>
            </a:p>
          </p:txBody>
        </p:sp>
      </p:grpSp>
      <p:grpSp>
        <p:nvGrpSpPr>
          <p:cNvPr id="244" name="Google Shape;244;p9"/>
          <p:cNvGrpSpPr/>
          <p:nvPr/>
        </p:nvGrpSpPr>
        <p:grpSpPr>
          <a:xfrm>
            <a:off x="5183162" y="5682598"/>
            <a:ext cx="12076138" cy="1185186"/>
            <a:chOff x="0" y="-123825"/>
            <a:chExt cx="16101518" cy="1580249"/>
          </a:xfrm>
        </p:grpSpPr>
        <p:sp>
          <p:nvSpPr>
            <p:cNvPr id="245" name="Google Shape;245;p9"/>
            <p:cNvSpPr/>
            <p:nvPr/>
          </p:nvSpPr>
          <p:spPr>
            <a:xfrm>
              <a:off x="0" y="0"/>
              <a:ext cx="16101518" cy="1456424"/>
            </a:xfrm>
            <a:custGeom>
              <a:rect b="b" l="l" r="r" t="t"/>
              <a:pathLst>
                <a:path extrusionOk="0" h="1456424" w="16101518">
                  <a:moveTo>
                    <a:pt x="0" y="0"/>
                  </a:moveTo>
                  <a:lnTo>
                    <a:pt x="16101518" y="0"/>
                  </a:lnTo>
                  <a:lnTo>
                    <a:pt x="16101518" y="1456424"/>
                  </a:lnTo>
                  <a:lnTo>
                    <a:pt x="0" y="1456424"/>
                  </a:lnTo>
                  <a:close/>
                </a:path>
              </a:pathLst>
            </a:custGeom>
            <a:solidFill>
              <a:srgbClr val="000000">
                <a:alpha val="0"/>
              </a:srgbClr>
            </a:solidFill>
            <a:ln>
              <a:noFill/>
            </a:ln>
          </p:spPr>
        </p:sp>
        <p:sp>
          <p:nvSpPr>
            <p:cNvPr id="246" name="Google Shape;246;p9"/>
            <p:cNvSpPr txBox="1"/>
            <p:nvPr/>
          </p:nvSpPr>
          <p:spPr>
            <a:xfrm>
              <a:off x="0" y="-123825"/>
              <a:ext cx="16101518" cy="15802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2600" u="none" cap="none" strike="noStrike">
                  <a:solidFill>
                    <a:srgbClr val="131416"/>
                  </a:solidFill>
                  <a:latin typeface="Open Sans"/>
                  <a:ea typeface="Open Sans"/>
                  <a:cs typeface="Open Sans"/>
                  <a:sym typeface="Open Sans"/>
                </a:rPr>
                <a:t>El modo PUT reemplaza todas las representaciones actuales del recurso de destino con la carga útil de la petición.</a:t>
              </a:r>
              <a:endParaRPr/>
            </a:p>
          </p:txBody>
        </p:sp>
      </p:grpSp>
      <p:grpSp>
        <p:nvGrpSpPr>
          <p:cNvPr id="247" name="Google Shape;247;p9"/>
          <p:cNvGrpSpPr/>
          <p:nvPr/>
        </p:nvGrpSpPr>
        <p:grpSpPr>
          <a:xfrm>
            <a:off x="5183162" y="7232115"/>
            <a:ext cx="12076138" cy="632736"/>
            <a:chOff x="0" y="-123825"/>
            <a:chExt cx="16101518" cy="843648"/>
          </a:xfrm>
        </p:grpSpPr>
        <p:sp>
          <p:nvSpPr>
            <p:cNvPr id="248" name="Google Shape;248;p9"/>
            <p:cNvSpPr/>
            <p:nvPr/>
          </p:nvSpPr>
          <p:spPr>
            <a:xfrm>
              <a:off x="0" y="0"/>
              <a:ext cx="16101518" cy="719823"/>
            </a:xfrm>
            <a:custGeom>
              <a:rect b="b" l="l" r="r" t="t"/>
              <a:pathLst>
                <a:path extrusionOk="0" h="719823" w="16101518">
                  <a:moveTo>
                    <a:pt x="0" y="0"/>
                  </a:moveTo>
                  <a:lnTo>
                    <a:pt x="16101518" y="0"/>
                  </a:lnTo>
                  <a:lnTo>
                    <a:pt x="16101518" y="719823"/>
                  </a:lnTo>
                  <a:lnTo>
                    <a:pt x="0" y="719823"/>
                  </a:lnTo>
                  <a:close/>
                </a:path>
              </a:pathLst>
            </a:custGeom>
            <a:solidFill>
              <a:srgbClr val="000000">
                <a:alpha val="0"/>
              </a:srgbClr>
            </a:solidFill>
            <a:ln>
              <a:noFill/>
            </a:ln>
          </p:spPr>
        </p:sp>
        <p:sp>
          <p:nvSpPr>
            <p:cNvPr id="249" name="Google Shape;249;p9"/>
            <p:cNvSpPr txBox="1"/>
            <p:nvPr/>
          </p:nvSpPr>
          <p:spPr>
            <a:xfrm>
              <a:off x="0" y="-123825"/>
              <a:ext cx="16101518" cy="8436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2600" u="none" cap="none" strike="noStrike">
                  <a:solidFill>
                    <a:srgbClr val="131416"/>
                  </a:solidFill>
                  <a:latin typeface="Open Sans"/>
                  <a:ea typeface="Open Sans"/>
                  <a:cs typeface="Open Sans"/>
                  <a:sym typeface="Open Sans"/>
                </a:rPr>
                <a:t>El método DELETE borra un recurso en específico.</a:t>
              </a:r>
              <a:endParaRPr/>
            </a:p>
          </p:txBody>
        </p:sp>
      </p:grpSp>
      <p:grpSp>
        <p:nvGrpSpPr>
          <p:cNvPr id="250" name="Google Shape;250;p9"/>
          <p:cNvGrpSpPr/>
          <p:nvPr/>
        </p:nvGrpSpPr>
        <p:grpSpPr>
          <a:xfrm>
            <a:off x="5183162" y="8229183"/>
            <a:ext cx="12076138" cy="632736"/>
            <a:chOff x="0" y="-123825"/>
            <a:chExt cx="16101518" cy="843648"/>
          </a:xfrm>
        </p:grpSpPr>
        <p:sp>
          <p:nvSpPr>
            <p:cNvPr id="251" name="Google Shape;251;p9"/>
            <p:cNvSpPr/>
            <p:nvPr/>
          </p:nvSpPr>
          <p:spPr>
            <a:xfrm>
              <a:off x="0" y="0"/>
              <a:ext cx="16101518" cy="719823"/>
            </a:xfrm>
            <a:custGeom>
              <a:rect b="b" l="l" r="r" t="t"/>
              <a:pathLst>
                <a:path extrusionOk="0" h="719823" w="16101518">
                  <a:moveTo>
                    <a:pt x="0" y="0"/>
                  </a:moveTo>
                  <a:lnTo>
                    <a:pt x="16101518" y="0"/>
                  </a:lnTo>
                  <a:lnTo>
                    <a:pt x="16101518" y="719823"/>
                  </a:lnTo>
                  <a:lnTo>
                    <a:pt x="0" y="719823"/>
                  </a:lnTo>
                  <a:close/>
                </a:path>
              </a:pathLst>
            </a:custGeom>
            <a:solidFill>
              <a:srgbClr val="000000">
                <a:alpha val="0"/>
              </a:srgbClr>
            </a:solidFill>
            <a:ln>
              <a:noFill/>
            </a:ln>
          </p:spPr>
        </p:sp>
        <p:sp>
          <p:nvSpPr>
            <p:cNvPr id="252" name="Google Shape;252;p9"/>
            <p:cNvSpPr txBox="1"/>
            <p:nvPr/>
          </p:nvSpPr>
          <p:spPr>
            <a:xfrm>
              <a:off x="0" y="-123825"/>
              <a:ext cx="16101518" cy="8436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2600" u="none" cap="none" strike="noStrike">
                  <a:solidFill>
                    <a:srgbClr val="131416"/>
                  </a:solidFill>
                  <a:latin typeface="Open Sans"/>
                  <a:ea typeface="Open Sans"/>
                  <a:cs typeface="Open Sans"/>
                  <a:sym typeface="Open Sans"/>
                </a:rPr>
                <a:t>Este método es utilizado para aplicar modificaciones parciales a un recurso.</a:t>
              </a:r>
              <a:endParaRPr/>
            </a:p>
          </p:txBody>
        </p:sp>
      </p:grpSp>
      <p:grpSp>
        <p:nvGrpSpPr>
          <p:cNvPr id="253" name="Google Shape;253;p9"/>
          <p:cNvGrpSpPr/>
          <p:nvPr/>
        </p:nvGrpSpPr>
        <p:grpSpPr>
          <a:xfrm>
            <a:off x="1898914" y="1817600"/>
            <a:ext cx="2910912" cy="1206172"/>
            <a:chOff x="0" y="-133350"/>
            <a:chExt cx="766660" cy="317674"/>
          </a:xfrm>
        </p:grpSpPr>
        <p:sp>
          <p:nvSpPr>
            <p:cNvPr id="254" name="Google Shape;254;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6" name="Google Shape;256;p9"/>
          <p:cNvGrpSpPr/>
          <p:nvPr/>
        </p:nvGrpSpPr>
        <p:grpSpPr>
          <a:xfrm>
            <a:off x="1898914" y="3639640"/>
            <a:ext cx="2910912" cy="1206172"/>
            <a:chOff x="0" y="-133350"/>
            <a:chExt cx="766660" cy="317674"/>
          </a:xfrm>
        </p:grpSpPr>
        <p:sp>
          <p:nvSpPr>
            <p:cNvPr id="257" name="Google Shape;257;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9"/>
          <p:cNvGrpSpPr/>
          <p:nvPr/>
        </p:nvGrpSpPr>
        <p:grpSpPr>
          <a:xfrm>
            <a:off x="1898914" y="5465382"/>
            <a:ext cx="2910912" cy="1206172"/>
            <a:chOff x="0" y="-133350"/>
            <a:chExt cx="766660" cy="317674"/>
          </a:xfrm>
        </p:grpSpPr>
        <p:sp>
          <p:nvSpPr>
            <p:cNvPr id="260" name="Google Shape;260;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2" name="Google Shape;262;p9"/>
          <p:cNvGrpSpPr/>
          <p:nvPr/>
        </p:nvGrpSpPr>
        <p:grpSpPr>
          <a:xfrm>
            <a:off x="1898914" y="6738675"/>
            <a:ext cx="2910912" cy="1206172"/>
            <a:chOff x="0" y="-133350"/>
            <a:chExt cx="766660" cy="317674"/>
          </a:xfrm>
        </p:grpSpPr>
        <p:sp>
          <p:nvSpPr>
            <p:cNvPr id="263" name="Google Shape;263;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5" name="Google Shape;265;p9"/>
          <p:cNvGrpSpPr/>
          <p:nvPr/>
        </p:nvGrpSpPr>
        <p:grpSpPr>
          <a:xfrm>
            <a:off x="1898914" y="7735742"/>
            <a:ext cx="2910912" cy="1206172"/>
            <a:chOff x="0" y="-133350"/>
            <a:chExt cx="766660" cy="317674"/>
          </a:xfrm>
        </p:grpSpPr>
        <p:sp>
          <p:nvSpPr>
            <p:cNvPr id="266" name="Google Shape;266;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8" name="Google Shape;268;p9"/>
          <p:cNvSpPr/>
          <p:nvPr/>
        </p:nvSpPr>
        <p:spPr>
          <a:xfrm>
            <a:off x="839851" y="2259179"/>
            <a:ext cx="687588" cy="829328"/>
          </a:xfrm>
          <a:custGeom>
            <a:rect b="b" l="l" r="r" t="t"/>
            <a:pathLst>
              <a:path extrusionOk="0" h="829328" w="687588">
                <a:moveTo>
                  <a:pt x="0" y="0"/>
                </a:moveTo>
                <a:lnTo>
                  <a:pt x="687588" y="0"/>
                </a:lnTo>
                <a:lnTo>
                  <a:pt x="687588" y="829328"/>
                </a:lnTo>
                <a:lnTo>
                  <a:pt x="0" y="829328"/>
                </a:lnTo>
                <a:lnTo>
                  <a:pt x="0" y="0"/>
                </a:lnTo>
                <a:close/>
              </a:path>
            </a:pathLst>
          </a:custGeom>
          <a:blipFill rotWithShape="1">
            <a:blip r:embed="rId4">
              <a:alphaModFix/>
            </a:blip>
            <a:stretch>
              <a:fillRect b="0" l="0" r="0" t="0"/>
            </a:stretch>
          </a:blipFill>
          <a:ln>
            <a:noFill/>
          </a:ln>
        </p:spPr>
      </p:sp>
      <p:sp>
        <p:nvSpPr>
          <p:cNvPr id="269" name="Google Shape;269;p9"/>
          <p:cNvSpPr/>
          <p:nvPr/>
        </p:nvSpPr>
        <p:spPr>
          <a:xfrm>
            <a:off x="827583" y="4145955"/>
            <a:ext cx="699857" cy="699857"/>
          </a:xfrm>
          <a:custGeom>
            <a:rect b="b" l="l" r="r" t="t"/>
            <a:pathLst>
              <a:path extrusionOk="0" h="699857" w="699857">
                <a:moveTo>
                  <a:pt x="0" y="0"/>
                </a:moveTo>
                <a:lnTo>
                  <a:pt x="699856" y="0"/>
                </a:lnTo>
                <a:lnTo>
                  <a:pt x="699856" y="699857"/>
                </a:lnTo>
                <a:lnTo>
                  <a:pt x="0" y="699857"/>
                </a:lnTo>
                <a:lnTo>
                  <a:pt x="0" y="0"/>
                </a:lnTo>
                <a:close/>
              </a:path>
            </a:pathLst>
          </a:custGeom>
          <a:blipFill rotWithShape="1">
            <a:blip r:embed="rId5">
              <a:alphaModFix/>
            </a:blip>
            <a:stretch>
              <a:fillRect b="0" l="0" r="0" t="0"/>
            </a:stretch>
          </a:blipFill>
          <a:ln>
            <a:noFill/>
          </a:ln>
        </p:spPr>
      </p:sp>
      <p:sp>
        <p:nvSpPr>
          <p:cNvPr id="270" name="Google Shape;270;p9"/>
          <p:cNvSpPr/>
          <p:nvPr/>
        </p:nvSpPr>
        <p:spPr>
          <a:xfrm>
            <a:off x="864417" y="5979541"/>
            <a:ext cx="663022" cy="684169"/>
          </a:xfrm>
          <a:custGeom>
            <a:rect b="b" l="l" r="r" t="t"/>
            <a:pathLst>
              <a:path extrusionOk="0" h="684169" w="663022">
                <a:moveTo>
                  <a:pt x="0" y="0"/>
                </a:moveTo>
                <a:lnTo>
                  <a:pt x="663022" y="0"/>
                </a:lnTo>
                <a:lnTo>
                  <a:pt x="663022" y="684169"/>
                </a:lnTo>
                <a:lnTo>
                  <a:pt x="0" y="684169"/>
                </a:lnTo>
                <a:lnTo>
                  <a:pt x="0" y="0"/>
                </a:lnTo>
                <a:close/>
              </a:path>
            </a:pathLst>
          </a:custGeom>
          <a:blipFill rotWithShape="1">
            <a:blip r:embed="rId6">
              <a:alphaModFix/>
            </a:blip>
            <a:stretch>
              <a:fillRect b="0" l="0" r="0" t="0"/>
            </a:stretch>
          </a:blipFill>
          <a:ln>
            <a:noFill/>
          </a:ln>
        </p:spPr>
      </p:sp>
      <p:sp>
        <p:nvSpPr>
          <p:cNvPr id="271" name="Google Shape;271;p9"/>
          <p:cNvSpPr/>
          <p:nvPr/>
        </p:nvSpPr>
        <p:spPr>
          <a:xfrm>
            <a:off x="852134" y="7251124"/>
            <a:ext cx="687588" cy="687588"/>
          </a:xfrm>
          <a:custGeom>
            <a:rect b="b" l="l" r="r" t="t"/>
            <a:pathLst>
              <a:path extrusionOk="0" h="687588" w="687588">
                <a:moveTo>
                  <a:pt x="0" y="0"/>
                </a:moveTo>
                <a:lnTo>
                  <a:pt x="687589" y="0"/>
                </a:lnTo>
                <a:lnTo>
                  <a:pt x="687589" y="687588"/>
                </a:lnTo>
                <a:lnTo>
                  <a:pt x="0" y="687588"/>
                </a:lnTo>
                <a:lnTo>
                  <a:pt x="0" y="0"/>
                </a:lnTo>
                <a:close/>
              </a:path>
            </a:pathLst>
          </a:custGeom>
          <a:blipFill rotWithShape="1">
            <a:blip r:embed="rId7">
              <a:alphaModFix/>
            </a:blip>
            <a:stretch>
              <a:fillRect b="0" l="0" r="0" t="0"/>
            </a:stretch>
          </a:blipFill>
          <a:ln>
            <a:noFill/>
          </a:ln>
        </p:spPr>
      </p:sp>
      <p:sp>
        <p:nvSpPr>
          <p:cNvPr id="272" name="Google Shape;272;p9"/>
          <p:cNvSpPr/>
          <p:nvPr/>
        </p:nvSpPr>
        <p:spPr>
          <a:xfrm>
            <a:off x="864417" y="8242057"/>
            <a:ext cx="663022" cy="684169"/>
          </a:xfrm>
          <a:custGeom>
            <a:rect b="b" l="l" r="r" t="t"/>
            <a:pathLst>
              <a:path extrusionOk="0" h="684169" w="663022">
                <a:moveTo>
                  <a:pt x="0" y="0"/>
                </a:moveTo>
                <a:lnTo>
                  <a:pt x="663022" y="0"/>
                </a:lnTo>
                <a:lnTo>
                  <a:pt x="663022" y="684169"/>
                </a:lnTo>
                <a:lnTo>
                  <a:pt x="0" y="684169"/>
                </a:lnTo>
                <a:lnTo>
                  <a:pt x="0" y="0"/>
                </a:lnTo>
                <a:close/>
              </a:path>
            </a:pathLst>
          </a:custGeom>
          <a:blipFill rotWithShape="1">
            <a:blip r:embed="rId6">
              <a:alphaModFix/>
            </a:blip>
            <a:stretch>
              <a:fillRect b="0" l="0" r="0" t="0"/>
            </a:stretch>
          </a:blipFill>
          <a:ln>
            <a:noFill/>
          </a:ln>
        </p:spPr>
      </p:sp>
      <p:grpSp>
        <p:nvGrpSpPr>
          <p:cNvPr id="273" name="Google Shape;273;p9"/>
          <p:cNvGrpSpPr/>
          <p:nvPr/>
        </p:nvGrpSpPr>
        <p:grpSpPr>
          <a:xfrm>
            <a:off x="2361040" y="2300102"/>
            <a:ext cx="1988521" cy="723670"/>
            <a:chOff x="0" y="-133350"/>
            <a:chExt cx="2651362" cy="964893"/>
          </a:xfrm>
        </p:grpSpPr>
        <p:sp>
          <p:nvSpPr>
            <p:cNvPr id="274" name="Google Shape;274;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sp>
        <p:sp>
          <p:nvSpPr>
            <p:cNvPr id="275" name="Google Shape;275;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1" i="0" lang="en-US" sz="3000" u="none" cap="none" strike="noStrike">
                  <a:solidFill>
                    <a:srgbClr val="131416"/>
                  </a:solidFill>
                  <a:latin typeface="Open Sans"/>
                  <a:ea typeface="Open Sans"/>
                  <a:cs typeface="Open Sans"/>
                  <a:sym typeface="Open Sans"/>
                </a:rPr>
                <a:t>GET</a:t>
              </a:r>
              <a:endParaRPr/>
            </a:p>
          </p:txBody>
        </p:sp>
      </p:grpSp>
      <p:grpSp>
        <p:nvGrpSpPr>
          <p:cNvPr id="276" name="Google Shape;276;p9"/>
          <p:cNvGrpSpPr/>
          <p:nvPr/>
        </p:nvGrpSpPr>
        <p:grpSpPr>
          <a:xfrm>
            <a:off x="2360110" y="4122142"/>
            <a:ext cx="1988521" cy="723670"/>
            <a:chOff x="0" y="-133350"/>
            <a:chExt cx="2651362" cy="964893"/>
          </a:xfrm>
        </p:grpSpPr>
        <p:sp>
          <p:nvSpPr>
            <p:cNvPr id="277" name="Google Shape;277;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sp>
        <p:sp>
          <p:nvSpPr>
            <p:cNvPr id="278" name="Google Shape;278;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1" i="0" lang="en-US" sz="3000" u="none" cap="none" strike="noStrike">
                  <a:solidFill>
                    <a:srgbClr val="131416"/>
                  </a:solidFill>
                  <a:latin typeface="Open Sans"/>
                  <a:ea typeface="Open Sans"/>
                  <a:cs typeface="Open Sans"/>
                  <a:sym typeface="Open Sans"/>
                </a:rPr>
                <a:t>POST</a:t>
              </a:r>
              <a:endParaRPr/>
            </a:p>
          </p:txBody>
        </p:sp>
      </p:grpSp>
      <p:grpSp>
        <p:nvGrpSpPr>
          <p:cNvPr id="279" name="Google Shape;279;p9"/>
          <p:cNvGrpSpPr/>
          <p:nvPr/>
        </p:nvGrpSpPr>
        <p:grpSpPr>
          <a:xfrm>
            <a:off x="2360110" y="5947884"/>
            <a:ext cx="1988521" cy="723670"/>
            <a:chOff x="0" y="-133350"/>
            <a:chExt cx="2651362" cy="964893"/>
          </a:xfrm>
        </p:grpSpPr>
        <p:sp>
          <p:nvSpPr>
            <p:cNvPr id="280" name="Google Shape;280;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sp>
        <p:sp>
          <p:nvSpPr>
            <p:cNvPr id="281" name="Google Shape;281;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1" i="0" lang="en-US" sz="3000" u="none" cap="none" strike="noStrike">
                  <a:solidFill>
                    <a:srgbClr val="131416"/>
                  </a:solidFill>
                  <a:latin typeface="Open Sans"/>
                  <a:ea typeface="Open Sans"/>
                  <a:cs typeface="Open Sans"/>
                  <a:sym typeface="Open Sans"/>
                </a:rPr>
                <a:t>PUT</a:t>
              </a:r>
              <a:endParaRPr/>
            </a:p>
          </p:txBody>
        </p:sp>
      </p:grpSp>
      <p:grpSp>
        <p:nvGrpSpPr>
          <p:cNvPr id="282" name="Google Shape;282;p9"/>
          <p:cNvGrpSpPr/>
          <p:nvPr/>
        </p:nvGrpSpPr>
        <p:grpSpPr>
          <a:xfrm>
            <a:off x="2360110" y="7215043"/>
            <a:ext cx="1988521" cy="723670"/>
            <a:chOff x="0" y="-133350"/>
            <a:chExt cx="2651362" cy="964893"/>
          </a:xfrm>
        </p:grpSpPr>
        <p:sp>
          <p:nvSpPr>
            <p:cNvPr id="283" name="Google Shape;283;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sp>
        <p:sp>
          <p:nvSpPr>
            <p:cNvPr id="284" name="Google Shape;284;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1" i="0" lang="en-US" sz="3000" u="none" cap="none" strike="noStrike">
                  <a:solidFill>
                    <a:srgbClr val="131416"/>
                  </a:solidFill>
                  <a:latin typeface="Open Sans"/>
                  <a:ea typeface="Open Sans"/>
                  <a:cs typeface="Open Sans"/>
                  <a:sym typeface="Open Sans"/>
                </a:rPr>
                <a:t>DELETE</a:t>
              </a:r>
              <a:endParaRPr/>
            </a:p>
          </p:txBody>
        </p:sp>
      </p:grpSp>
      <p:grpSp>
        <p:nvGrpSpPr>
          <p:cNvPr id="285" name="Google Shape;285;p9"/>
          <p:cNvGrpSpPr/>
          <p:nvPr/>
        </p:nvGrpSpPr>
        <p:grpSpPr>
          <a:xfrm>
            <a:off x="2360110" y="8218244"/>
            <a:ext cx="1988521" cy="723670"/>
            <a:chOff x="0" y="-133350"/>
            <a:chExt cx="2651362" cy="964893"/>
          </a:xfrm>
        </p:grpSpPr>
        <p:sp>
          <p:nvSpPr>
            <p:cNvPr id="286" name="Google Shape;286;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sp>
        <p:sp>
          <p:nvSpPr>
            <p:cNvPr id="287" name="Google Shape;287;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1" i="0" lang="en-US" sz="3000" u="none" cap="none" strike="noStrike">
                  <a:solidFill>
                    <a:srgbClr val="131416"/>
                  </a:solidFill>
                  <a:latin typeface="Open Sans"/>
                  <a:ea typeface="Open Sans"/>
                  <a:cs typeface="Open Sans"/>
                  <a:sym typeface="Open Sans"/>
                </a:rPr>
                <a:t>PATCH</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291" name="Shape 291"/>
        <p:cNvGrpSpPr/>
        <p:nvPr/>
      </p:nvGrpSpPr>
      <p:grpSpPr>
        <a:xfrm>
          <a:off x="0" y="0"/>
          <a:ext cx="0" cy="0"/>
          <a:chOff x="0" y="0"/>
          <a:chExt cx="0" cy="0"/>
        </a:xfrm>
      </p:grpSpPr>
      <p:sp>
        <p:nvSpPr>
          <p:cNvPr id="292" name="Google Shape;292;p1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293" name="Google Shape;293;p10"/>
          <p:cNvGrpSpPr/>
          <p:nvPr/>
        </p:nvGrpSpPr>
        <p:grpSpPr>
          <a:xfrm>
            <a:off x="414625" y="196812"/>
            <a:ext cx="17458749" cy="9459392"/>
            <a:chOff x="0" y="-114300"/>
            <a:chExt cx="4598189" cy="2491363"/>
          </a:xfrm>
        </p:grpSpPr>
        <p:sp>
          <p:nvSpPr>
            <p:cNvPr id="294" name="Google Shape;294;p1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295" name="Google Shape;295;p1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6" name="Google Shape;296;p10"/>
          <p:cNvGrpSpPr/>
          <p:nvPr/>
        </p:nvGrpSpPr>
        <p:grpSpPr>
          <a:xfrm>
            <a:off x="1028700" y="871538"/>
            <a:ext cx="16230602" cy="1256147"/>
            <a:chOff x="0" y="-209550"/>
            <a:chExt cx="21640802" cy="1674862"/>
          </a:xfrm>
        </p:grpSpPr>
        <p:sp>
          <p:nvSpPr>
            <p:cNvPr id="297" name="Google Shape;297;p1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298" name="Google Shape;298;p1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¿QUE ES UN FRAMEWORK?</a:t>
              </a:r>
              <a:endParaRPr/>
            </a:p>
          </p:txBody>
        </p:sp>
      </p:grpSp>
      <p:grpSp>
        <p:nvGrpSpPr>
          <p:cNvPr id="299" name="Google Shape;299;p10"/>
          <p:cNvGrpSpPr/>
          <p:nvPr/>
        </p:nvGrpSpPr>
        <p:grpSpPr>
          <a:xfrm>
            <a:off x="1028700" y="2020528"/>
            <a:ext cx="16230600" cy="4825595"/>
            <a:chOff x="0" y="-142875"/>
            <a:chExt cx="21640800" cy="6434127"/>
          </a:xfrm>
        </p:grpSpPr>
        <p:sp>
          <p:nvSpPr>
            <p:cNvPr id="300" name="Google Shape;300;p10"/>
            <p:cNvSpPr/>
            <p:nvPr/>
          </p:nvSpPr>
          <p:spPr>
            <a:xfrm>
              <a:off x="0" y="0"/>
              <a:ext cx="21640800" cy="6291252"/>
            </a:xfrm>
            <a:custGeom>
              <a:rect b="b" l="l" r="r" t="t"/>
              <a:pathLst>
                <a:path extrusionOk="0" h="6291252" w="21640800">
                  <a:moveTo>
                    <a:pt x="0" y="0"/>
                  </a:moveTo>
                  <a:lnTo>
                    <a:pt x="21640800" y="0"/>
                  </a:lnTo>
                  <a:lnTo>
                    <a:pt x="21640800" y="6291252"/>
                  </a:lnTo>
                  <a:lnTo>
                    <a:pt x="0" y="6291252"/>
                  </a:lnTo>
                  <a:close/>
                </a:path>
              </a:pathLst>
            </a:custGeom>
            <a:solidFill>
              <a:srgbClr val="000000">
                <a:alpha val="0"/>
              </a:srgbClr>
            </a:solidFill>
            <a:ln>
              <a:noFill/>
            </a:ln>
          </p:spPr>
        </p:sp>
        <p:sp>
          <p:nvSpPr>
            <p:cNvPr id="301" name="Google Shape;301;p10"/>
            <p:cNvSpPr txBox="1"/>
            <p:nvPr/>
          </p:nvSpPr>
          <p:spPr>
            <a:xfrm>
              <a:off x="0" y="-142875"/>
              <a:ext cx="21640800" cy="64341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Un framework es un conjunto de herramientas, bibliotecas y convenciones que facilitan el desarrollo de software. En el contexto del backend, los frameworks proporcionan una estructura base sobre la cual construir aplicaciones web, permitiendo a los desarrolladores enfocarse en la lógica de negocio sin reinventar soluciones comunes.</a:t>
              </a:r>
              <a:endParaRPr/>
            </a:p>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Un framework web agiliza tareas como el manejo de rutas, la conexión a bases de datos, la validación de formularios y la implementación de APIs REST.</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05" name="Shape 305"/>
        <p:cNvGrpSpPr/>
        <p:nvPr/>
      </p:nvGrpSpPr>
      <p:grpSpPr>
        <a:xfrm>
          <a:off x="0" y="0"/>
          <a:ext cx="0" cy="0"/>
          <a:chOff x="0" y="0"/>
          <a:chExt cx="0" cy="0"/>
        </a:xfrm>
      </p:grpSpPr>
      <p:sp>
        <p:nvSpPr>
          <p:cNvPr id="306" name="Google Shape;306;p1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07" name="Google Shape;307;p11"/>
          <p:cNvGrpSpPr/>
          <p:nvPr/>
        </p:nvGrpSpPr>
        <p:grpSpPr>
          <a:xfrm>
            <a:off x="414625" y="196812"/>
            <a:ext cx="17458749" cy="9459392"/>
            <a:chOff x="0" y="-114300"/>
            <a:chExt cx="4598189" cy="2491363"/>
          </a:xfrm>
        </p:grpSpPr>
        <p:sp>
          <p:nvSpPr>
            <p:cNvPr id="308" name="Google Shape;308;p1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09" name="Google Shape;309;p1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0" name="Google Shape;310;p11"/>
          <p:cNvGrpSpPr/>
          <p:nvPr/>
        </p:nvGrpSpPr>
        <p:grpSpPr>
          <a:xfrm>
            <a:off x="1028700" y="871538"/>
            <a:ext cx="16230602" cy="1256147"/>
            <a:chOff x="0" y="-209550"/>
            <a:chExt cx="21640802" cy="1674862"/>
          </a:xfrm>
        </p:grpSpPr>
        <p:sp>
          <p:nvSpPr>
            <p:cNvPr id="311" name="Google Shape;311;p1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12" name="Google Shape;312;p1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¿QUE ES FLASK?</a:t>
              </a:r>
              <a:endParaRPr/>
            </a:p>
          </p:txBody>
        </p:sp>
      </p:grpSp>
      <p:grpSp>
        <p:nvGrpSpPr>
          <p:cNvPr id="313" name="Google Shape;313;p11"/>
          <p:cNvGrpSpPr/>
          <p:nvPr/>
        </p:nvGrpSpPr>
        <p:grpSpPr>
          <a:xfrm>
            <a:off x="1028700" y="2020528"/>
            <a:ext cx="16230600" cy="4825595"/>
            <a:chOff x="0" y="-142875"/>
            <a:chExt cx="21640800" cy="6434127"/>
          </a:xfrm>
        </p:grpSpPr>
        <p:sp>
          <p:nvSpPr>
            <p:cNvPr id="314" name="Google Shape;314;p11"/>
            <p:cNvSpPr/>
            <p:nvPr/>
          </p:nvSpPr>
          <p:spPr>
            <a:xfrm>
              <a:off x="0" y="0"/>
              <a:ext cx="21640800" cy="6291252"/>
            </a:xfrm>
            <a:custGeom>
              <a:rect b="b" l="l" r="r" t="t"/>
              <a:pathLst>
                <a:path extrusionOk="0" h="6291252" w="21640800">
                  <a:moveTo>
                    <a:pt x="0" y="0"/>
                  </a:moveTo>
                  <a:lnTo>
                    <a:pt x="21640800" y="0"/>
                  </a:lnTo>
                  <a:lnTo>
                    <a:pt x="21640800" y="6291252"/>
                  </a:lnTo>
                  <a:lnTo>
                    <a:pt x="0" y="6291252"/>
                  </a:lnTo>
                  <a:close/>
                </a:path>
              </a:pathLst>
            </a:custGeom>
            <a:solidFill>
              <a:srgbClr val="000000">
                <a:alpha val="0"/>
              </a:srgbClr>
            </a:solidFill>
            <a:ln>
              <a:noFill/>
            </a:ln>
          </p:spPr>
        </p:sp>
        <p:sp>
          <p:nvSpPr>
            <p:cNvPr id="315" name="Google Shape;315;p11"/>
            <p:cNvSpPr txBox="1"/>
            <p:nvPr/>
          </p:nvSpPr>
          <p:spPr>
            <a:xfrm>
              <a:off x="0" y="-142875"/>
              <a:ext cx="21640800" cy="64341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Flask es un “micro” framework web minimalista y ligero para el lenguaje de programación Python, diseñado para facilitar la creación de aplicaciones web de forma rápida y con pocas líneas de código. A diferencia de otros frameworks más grandes, Flask es minimalista, lo que significa que incluye solo lo esencial para funcionar. Esto le otorga una gran flexibilidad y control sobre cómo se construye la aplicación, permitiendo a los desarrolladores elegir las bibliotecas y tecnologías que mejor se adapten a sus necesidades.</a:t>
              </a:r>
              <a:endParaRPr/>
            </a:p>
          </p:txBody>
        </p:sp>
      </p:grpSp>
      <p:sp>
        <p:nvSpPr>
          <p:cNvPr id="316" name="Google Shape;316;p11"/>
          <p:cNvSpPr/>
          <p:nvPr/>
        </p:nvSpPr>
        <p:spPr>
          <a:xfrm>
            <a:off x="6397238" y="7609975"/>
            <a:ext cx="5493644" cy="1904175"/>
          </a:xfrm>
          <a:custGeom>
            <a:rect b="b" l="l" r="r" t="t"/>
            <a:pathLst>
              <a:path extrusionOk="0" h="1943036" w="6003982">
                <a:moveTo>
                  <a:pt x="0" y="0"/>
                </a:moveTo>
                <a:lnTo>
                  <a:pt x="6003982" y="0"/>
                </a:lnTo>
                <a:lnTo>
                  <a:pt x="6003982" y="1943036"/>
                </a:lnTo>
                <a:lnTo>
                  <a:pt x="0" y="194303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20" name="Shape 320"/>
        <p:cNvGrpSpPr/>
        <p:nvPr/>
      </p:nvGrpSpPr>
      <p:grpSpPr>
        <a:xfrm>
          <a:off x="0" y="0"/>
          <a:ext cx="0" cy="0"/>
          <a:chOff x="0" y="0"/>
          <a:chExt cx="0" cy="0"/>
        </a:xfrm>
      </p:grpSpPr>
      <p:sp>
        <p:nvSpPr>
          <p:cNvPr id="321" name="Google Shape;321;p1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22" name="Google Shape;322;p12"/>
          <p:cNvGrpSpPr/>
          <p:nvPr/>
        </p:nvGrpSpPr>
        <p:grpSpPr>
          <a:xfrm>
            <a:off x="414625" y="196812"/>
            <a:ext cx="17458749" cy="9459392"/>
            <a:chOff x="0" y="-114300"/>
            <a:chExt cx="4598189" cy="2491363"/>
          </a:xfrm>
        </p:grpSpPr>
        <p:sp>
          <p:nvSpPr>
            <p:cNvPr id="323" name="Google Shape;323;p1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24" name="Google Shape;324;p1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5" name="Google Shape;325;p12"/>
          <p:cNvGrpSpPr/>
          <p:nvPr/>
        </p:nvGrpSpPr>
        <p:grpSpPr>
          <a:xfrm>
            <a:off x="1028700" y="871538"/>
            <a:ext cx="16230602" cy="1256147"/>
            <a:chOff x="0" y="-209550"/>
            <a:chExt cx="21640802" cy="1674862"/>
          </a:xfrm>
        </p:grpSpPr>
        <p:sp>
          <p:nvSpPr>
            <p:cNvPr id="326" name="Google Shape;326;p12"/>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27" name="Google Shape;327;p12"/>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¿POR QUE USAR FLASK?</a:t>
              </a:r>
              <a:endParaRPr/>
            </a:p>
          </p:txBody>
        </p:sp>
      </p:grpSp>
      <p:grpSp>
        <p:nvGrpSpPr>
          <p:cNvPr id="328" name="Google Shape;328;p12"/>
          <p:cNvGrpSpPr/>
          <p:nvPr/>
        </p:nvGrpSpPr>
        <p:grpSpPr>
          <a:xfrm>
            <a:off x="1906309" y="2027671"/>
            <a:ext cx="15352991" cy="1267563"/>
            <a:chOff x="0" y="-133350"/>
            <a:chExt cx="20470654" cy="1690083"/>
          </a:xfrm>
        </p:grpSpPr>
        <p:sp>
          <p:nvSpPr>
            <p:cNvPr id="329" name="Google Shape;329;p12"/>
            <p:cNvSpPr/>
            <p:nvPr/>
          </p:nvSpPr>
          <p:spPr>
            <a:xfrm>
              <a:off x="0" y="0"/>
              <a:ext cx="20470654" cy="1556733"/>
            </a:xfrm>
            <a:custGeom>
              <a:rect b="b" l="l" r="r" t="t"/>
              <a:pathLst>
                <a:path extrusionOk="0" h="1556733" w="20470654">
                  <a:moveTo>
                    <a:pt x="0" y="0"/>
                  </a:moveTo>
                  <a:lnTo>
                    <a:pt x="20470654" y="0"/>
                  </a:lnTo>
                  <a:lnTo>
                    <a:pt x="20470654" y="1556733"/>
                  </a:lnTo>
                  <a:lnTo>
                    <a:pt x="0" y="1556733"/>
                  </a:lnTo>
                  <a:close/>
                </a:path>
              </a:pathLst>
            </a:custGeom>
            <a:solidFill>
              <a:srgbClr val="000000">
                <a:alpha val="0"/>
              </a:srgbClr>
            </a:solidFill>
            <a:ln>
              <a:noFill/>
            </a:ln>
          </p:spPr>
        </p:sp>
        <p:sp>
          <p:nvSpPr>
            <p:cNvPr id="330" name="Google Shape;330;p12"/>
            <p:cNvSpPr txBox="1"/>
            <p:nvPr/>
          </p:nvSpPr>
          <p:spPr>
            <a:xfrm>
              <a:off x="0" y="-133350"/>
              <a:ext cx="20470654" cy="1690083"/>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24"/>
                </a:lnSpc>
                <a:spcBef>
                  <a:spcPts val="0"/>
                </a:spcBef>
                <a:spcAft>
                  <a:spcPts val="0"/>
                </a:spcAft>
                <a:buNone/>
              </a:pPr>
              <a:r>
                <a:rPr b="0" i="0" lang="en-US" sz="2799" u="none" cap="none" strike="noStrike">
                  <a:solidFill>
                    <a:schemeClr val="dk1"/>
                  </a:solidFill>
                  <a:latin typeface="Open Sans"/>
                  <a:ea typeface="Open Sans"/>
                  <a:cs typeface="Open Sans"/>
                  <a:sym typeface="Open Sans"/>
                </a:rPr>
                <a:t>Minimalista y ligero: Flask no impone una estructura rígida. Solo incluye lo esencial para empezar y uno decide qué herramientas agregar según su necesidad.</a:t>
              </a:r>
              <a:endParaRPr>
                <a:solidFill>
                  <a:schemeClr val="dk1"/>
                </a:solidFill>
              </a:endParaRPr>
            </a:p>
          </p:txBody>
        </p:sp>
      </p:grpSp>
      <p:grpSp>
        <p:nvGrpSpPr>
          <p:cNvPr id="331" name="Google Shape;331;p12"/>
          <p:cNvGrpSpPr/>
          <p:nvPr/>
        </p:nvGrpSpPr>
        <p:grpSpPr>
          <a:xfrm>
            <a:off x="1906309" y="3492211"/>
            <a:ext cx="15352991" cy="760801"/>
            <a:chOff x="0" y="-133350"/>
            <a:chExt cx="20470654" cy="1014402"/>
          </a:xfrm>
        </p:grpSpPr>
        <p:sp>
          <p:nvSpPr>
            <p:cNvPr id="332" name="Google Shape;332;p12"/>
            <p:cNvSpPr/>
            <p:nvPr/>
          </p:nvSpPr>
          <p:spPr>
            <a:xfrm>
              <a:off x="0" y="0"/>
              <a:ext cx="20470654" cy="881052"/>
            </a:xfrm>
            <a:custGeom>
              <a:rect b="b" l="l" r="r" t="t"/>
              <a:pathLst>
                <a:path extrusionOk="0" h="881052" w="20470654">
                  <a:moveTo>
                    <a:pt x="0" y="0"/>
                  </a:moveTo>
                  <a:lnTo>
                    <a:pt x="20470654" y="0"/>
                  </a:lnTo>
                  <a:lnTo>
                    <a:pt x="20470654" y="881052"/>
                  </a:lnTo>
                  <a:lnTo>
                    <a:pt x="0" y="881052"/>
                  </a:lnTo>
                  <a:close/>
                </a:path>
              </a:pathLst>
            </a:custGeom>
            <a:solidFill>
              <a:srgbClr val="EFEFEF"/>
            </a:solidFill>
            <a:ln cap="flat" cmpd="sng" w="9525">
              <a:solidFill>
                <a:srgbClr val="D9D9D9"/>
              </a:solidFill>
              <a:prstDash val="solid"/>
              <a:round/>
              <a:headEnd len="sm" w="sm" type="none"/>
              <a:tailEnd len="sm" w="sm" type="none"/>
            </a:ln>
          </p:spPr>
        </p:sp>
        <p:sp>
          <p:nvSpPr>
            <p:cNvPr id="333" name="Google Shape;333;p12"/>
            <p:cNvSpPr txBox="1"/>
            <p:nvPr/>
          </p:nvSpPr>
          <p:spPr>
            <a:xfrm>
              <a:off x="0" y="-133350"/>
              <a:ext cx="20470654" cy="1014402"/>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24"/>
                </a:lnSpc>
                <a:spcBef>
                  <a:spcPts val="0"/>
                </a:spcBef>
                <a:spcAft>
                  <a:spcPts val="0"/>
                </a:spcAft>
                <a:buNone/>
              </a:pPr>
              <a:r>
                <a:rPr b="0" i="0" lang="en-US" sz="2799" u="none" cap="none" strike="noStrike">
                  <a:solidFill>
                    <a:schemeClr val="dk1"/>
                  </a:solidFill>
                  <a:latin typeface="Open Sans"/>
                  <a:ea typeface="Open Sans"/>
                  <a:cs typeface="Open Sans"/>
                  <a:sym typeface="Open Sans"/>
                </a:rPr>
                <a:t>Fácil de aprender y usar: Su sintaxis es clara y directa. </a:t>
              </a:r>
              <a:endParaRPr>
                <a:solidFill>
                  <a:schemeClr val="dk1"/>
                </a:solidFill>
              </a:endParaRPr>
            </a:p>
          </p:txBody>
        </p:sp>
      </p:grpSp>
      <p:grpSp>
        <p:nvGrpSpPr>
          <p:cNvPr id="334" name="Google Shape;334;p12"/>
          <p:cNvGrpSpPr/>
          <p:nvPr/>
        </p:nvGrpSpPr>
        <p:grpSpPr>
          <a:xfrm>
            <a:off x="1906309" y="4449988"/>
            <a:ext cx="15352991" cy="1267563"/>
            <a:chOff x="0" y="-133350"/>
            <a:chExt cx="20470654" cy="1690083"/>
          </a:xfrm>
        </p:grpSpPr>
        <p:sp>
          <p:nvSpPr>
            <p:cNvPr id="335" name="Google Shape;335;p12"/>
            <p:cNvSpPr/>
            <p:nvPr/>
          </p:nvSpPr>
          <p:spPr>
            <a:xfrm>
              <a:off x="0" y="0"/>
              <a:ext cx="20470654" cy="1556733"/>
            </a:xfrm>
            <a:custGeom>
              <a:rect b="b" l="l" r="r" t="t"/>
              <a:pathLst>
                <a:path extrusionOk="0" h="1556733" w="20470654">
                  <a:moveTo>
                    <a:pt x="0" y="0"/>
                  </a:moveTo>
                  <a:lnTo>
                    <a:pt x="20470654" y="0"/>
                  </a:lnTo>
                  <a:lnTo>
                    <a:pt x="20470654" y="1556733"/>
                  </a:lnTo>
                  <a:lnTo>
                    <a:pt x="0" y="1556733"/>
                  </a:lnTo>
                  <a:close/>
                </a:path>
              </a:pathLst>
            </a:custGeom>
            <a:solidFill>
              <a:srgbClr val="000000">
                <a:alpha val="0"/>
              </a:srgbClr>
            </a:solidFill>
            <a:ln>
              <a:noFill/>
            </a:ln>
          </p:spPr>
        </p:sp>
        <p:sp>
          <p:nvSpPr>
            <p:cNvPr id="336" name="Google Shape;336;p12"/>
            <p:cNvSpPr txBox="1"/>
            <p:nvPr/>
          </p:nvSpPr>
          <p:spPr>
            <a:xfrm>
              <a:off x="0" y="-133350"/>
              <a:ext cx="20470654" cy="1690083"/>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24"/>
                </a:lnSpc>
                <a:spcBef>
                  <a:spcPts val="0"/>
                </a:spcBef>
                <a:spcAft>
                  <a:spcPts val="0"/>
                </a:spcAft>
                <a:buNone/>
              </a:pPr>
              <a:r>
                <a:rPr b="0" i="0" lang="en-US" sz="2799" u="none" cap="none" strike="noStrike">
                  <a:solidFill>
                    <a:srgbClr val="131416"/>
                  </a:solidFill>
                  <a:latin typeface="Open Sans"/>
                  <a:ea typeface="Open Sans"/>
                  <a:cs typeface="Open Sans"/>
                  <a:sym typeface="Open Sans"/>
                </a:rPr>
                <a:t>Altamente personalizable: Se puede elegir las bibliotecas, bases de datos, sistemas de plantillas o herramientas que se deseen usar.</a:t>
              </a:r>
              <a:endParaRPr/>
            </a:p>
          </p:txBody>
        </p:sp>
      </p:grpSp>
      <p:grpSp>
        <p:nvGrpSpPr>
          <p:cNvPr id="337" name="Google Shape;337;p12"/>
          <p:cNvGrpSpPr/>
          <p:nvPr/>
        </p:nvGrpSpPr>
        <p:grpSpPr>
          <a:xfrm>
            <a:off x="1906309" y="5912813"/>
            <a:ext cx="15352991" cy="1267563"/>
            <a:chOff x="0" y="-133350"/>
            <a:chExt cx="20470654" cy="1690083"/>
          </a:xfrm>
        </p:grpSpPr>
        <p:sp>
          <p:nvSpPr>
            <p:cNvPr id="338" name="Google Shape;338;p12"/>
            <p:cNvSpPr/>
            <p:nvPr/>
          </p:nvSpPr>
          <p:spPr>
            <a:xfrm>
              <a:off x="0" y="0"/>
              <a:ext cx="20470654" cy="1556733"/>
            </a:xfrm>
            <a:custGeom>
              <a:rect b="b" l="l" r="r" t="t"/>
              <a:pathLst>
                <a:path extrusionOk="0" h="1556733" w="20470654">
                  <a:moveTo>
                    <a:pt x="0" y="0"/>
                  </a:moveTo>
                  <a:lnTo>
                    <a:pt x="20470654" y="0"/>
                  </a:lnTo>
                  <a:lnTo>
                    <a:pt x="20470654" y="1556733"/>
                  </a:lnTo>
                  <a:lnTo>
                    <a:pt x="0" y="1556733"/>
                  </a:lnTo>
                  <a:close/>
                </a:path>
              </a:pathLst>
            </a:custGeom>
            <a:solidFill>
              <a:srgbClr val="000000">
                <a:alpha val="0"/>
              </a:srgbClr>
            </a:solidFill>
            <a:ln>
              <a:noFill/>
            </a:ln>
          </p:spPr>
        </p:sp>
        <p:sp>
          <p:nvSpPr>
            <p:cNvPr id="339" name="Google Shape;339;p12"/>
            <p:cNvSpPr txBox="1"/>
            <p:nvPr/>
          </p:nvSpPr>
          <p:spPr>
            <a:xfrm>
              <a:off x="0" y="-133350"/>
              <a:ext cx="20470654" cy="1690083"/>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24"/>
                </a:lnSpc>
                <a:spcBef>
                  <a:spcPts val="0"/>
                </a:spcBef>
                <a:spcAft>
                  <a:spcPts val="0"/>
                </a:spcAft>
                <a:buNone/>
              </a:pPr>
              <a:r>
                <a:rPr b="0" i="0" lang="en-US" sz="2799" u="none" cap="none" strike="noStrike">
                  <a:solidFill>
                    <a:srgbClr val="131416"/>
                  </a:solidFill>
                  <a:latin typeface="Open Sans"/>
                  <a:ea typeface="Open Sans"/>
                  <a:cs typeface="Open Sans"/>
                  <a:sym typeface="Open Sans"/>
                </a:rPr>
                <a:t>Ideal para APIs y microservicios: Flask es perfecto para construir APIs RESTful rápidas, gracias a su soporte nativo para JSON y manejo de rutas.</a:t>
              </a:r>
              <a:endParaRPr/>
            </a:p>
          </p:txBody>
        </p:sp>
      </p:grpSp>
      <p:grpSp>
        <p:nvGrpSpPr>
          <p:cNvPr id="340" name="Google Shape;340;p12"/>
          <p:cNvGrpSpPr/>
          <p:nvPr/>
        </p:nvGrpSpPr>
        <p:grpSpPr>
          <a:xfrm>
            <a:off x="1906309" y="7375638"/>
            <a:ext cx="15352991" cy="677013"/>
            <a:chOff x="0" y="-133350"/>
            <a:chExt cx="20470654" cy="902683"/>
          </a:xfrm>
        </p:grpSpPr>
        <p:sp>
          <p:nvSpPr>
            <p:cNvPr id="341" name="Google Shape;341;p12"/>
            <p:cNvSpPr/>
            <p:nvPr/>
          </p:nvSpPr>
          <p:spPr>
            <a:xfrm>
              <a:off x="0" y="0"/>
              <a:ext cx="20470654" cy="769333"/>
            </a:xfrm>
            <a:custGeom>
              <a:rect b="b" l="l" r="r" t="t"/>
              <a:pathLst>
                <a:path extrusionOk="0" h="769333" w="20470654">
                  <a:moveTo>
                    <a:pt x="0" y="0"/>
                  </a:moveTo>
                  <a:lnTo>
                    <a:pt x="20470654" y="0"/>
                  </a:lnTo>
                  <a:lnTo>
                    <a:pt x="20470654" y="769333"/>
                  </a:lnTo>
                  <a:lnTo>
                    <a:pt x="0" y="769333"/>
                  </a:lnTo>
                  <a:close/>
                </a:path>
              </a:pathLst>
            </a:custGeom>
            <a:solidFill>
              <a:srgbClr val="EFEFEF"/>
            </a:solidFill>
            <a:ln cap="flat" cmpd="sng" w="9525">
              <a:solidFill>
                <a:srgbClr val="D9D9D9"/>
              </a:solidFill>
              <a:prstDash val="solid"/>
              <a:round/>
              <a:headEnd len="sm" w="sm" type="none"/>
              <a:tailEnd len="sm" w="sm" type="none"/>
            </a:ln>
          </p:spPr>
        </p:sp>
        <p:sp>
          <p:nvSpPr>
            <p:cNvPr id="342" name="Google Shape;342;p12"/>
            <p:cNvSpPr txBox="1"/>
            <p:nvPr/>
          </p:nvSpPr>
          <p:spPr>
            <a:xfrm>
              <a:off x="0" y="-133350"/>
              <a:ext cx="20470654" cy="902683"/>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24"/>
                </a:lnSpc>
                <a:spcBef>
                  <a:spcPts val="0"/>
                </a:spcBef>
                <a:spcAft>
                  <a:spcPts val="0"/>
                </a:spcAft>
                <a:buNone/>
              </a:pPr>
              <a:r>
                <a:rPr b="0" i="0" lang="en-US" sz="2799" u="none" cap="none" strike="noStrike">
                  <a:solidFill>
                    <a:srgbClr val="131416"/>
                  </a:solidFill>
                  <a:latin typeface="Open Sans"/>
                  <a:ea typeface="Open Sans"/>
                  <a:cs typeface="Open Sans"/>
                  <a:sym typeface="Open Sans"/>
                </a:rPr>
                <a:t>Compatible con Jinja2: Jinja2 permite generar HTML dinámico (plantillas).</a:t>
              </a:r>
              <a:endParaRPr/>
            </a:p>
          </p:txBody>
        </p:sp>
      </p:grpSp>
      <p:grpSp>
        <p:nvGrpSpPr>
          <p:cNvPr id="343" name="Google Shape;343;p12"/>
          <p:cNvGrpSpPr/>
          <p:nvPr/>
        </p:nvGrpSpPr>
        <p:grpSpPr>
          <a:xfrm>
            <a:off x="1906309" y="8247912"/>
            <a:ext cx="15352991" cy="1267563"/>
            <a:chOff x="0" y="-133350"/>
            <a:chExt cx="20470654" cy="1690083"/>
          </a:xfrm>
        </p:grpSpPr>
        <p:sp>
          <p:nvSpPr>
            <p:cNvPr id="344" name="Google Shape;344;p12"/>
            <p:cNvSpPr/>
            <p:nvPr/>
          </p:nvSpPr>
          <p:spPr>
            <a:xfrm>
              <a:off x="0" y="0"/>
              <a:ext cx="20470654" cy="1556733"/>
            </a:xfrm>
            <a:custGeom>
              <a:rect b="b" l="l" r="r" t="t"/>
              <a:pathLst>
                <a:path extrusionOk="0" h="1556733" w="20470654">
                  <a:moveTo>
                    <a:pt x="0" y="0"/>
                  </a:moveTo>
                  <a:lnTo>
                    <a:pt x="20470654" y="0"/>
                  </a:lnTo>
                  <a:lnTo>
                    <a:pt x="20470654" y="1556733"/>
                  </a:lnTo>
                  <a:lnTo>
                    <a:pt x="0" y="1556733"/>
                  </a:lnTo>
                  <a:close/>
                </a:path>
              </a:pathLst>
            </a:custGeom>
            <a:solidFill>
              <a:srgbClr val="000000">
                <a:alpha val="0"/>
              </a:srgbClr>
            </a:solidFill>
            <a:ln>
              <a:noFill/>
            </a:ln>
          </p:spPr>
        </p:sp>
        <p:sp>
          <p:nvSpPr>
            <p:cNvPr id="345" name="Google Shape;345;p12"/>
            <p:cNvSpPr txBox="1"/>
            <p:nvPr/>
          </p:nvSpPr>
          <p:spPr>
            <a:xfrm>
              <a:off x="0" y="-133350"/>
              <a:ext cx="20470654" cy="1690083"/>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00"/>
                </a:lnSpc>
                <a:spcBef>
                  <a:spcPts val="0"/>
                </a:spcBef>
                <a:spcAft>
                  <a:spcPts val="0"/>
                </a:spcAft>
                <a:buNone/>
              </a:pPr>
              <a:r>
                <a:rPr b="0" i="0" lang="en-US" sz="2800" u="none" cap="none" strike="noStrike">
                  <a:solidFill>
                    <a:srgbClr val="131416"/>
                  </a:solidFill>
                  <a:latin typeface="Open Sans"/>
                  <a:ea typeface="Open Sans"/>
                  <a:cs typeface="Open Sans"/>
                  <a:sym typeface="Open Sans"/>
                </a:rPr>
                <a:t>Escalable: Existen muchas extensiones para añadir autenticación, formularios, bases de datos, etc.</a:t>
              </a:r>
              <a:endParaRPr/>
            </a:p>
          </p:txBody>
        </p:sp>
      </p:grpSp>
      <p:sp>
        <p:nvSpPr>
          <p:cNvPr id="346" name="Google Shape;346;p12"/>
          <p:cNvSpPr/>
          <p:nvPr/>
        </p:nvSpPr>
        <p:spPr>
          <a:xfrm>
            <a:off x="1028700" y="2437011"/>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sp>
      <p:sp>
        <p:nvSpPr>
          <p:cNvPr id="347" name="Google Shape;347;p12"/>
          <p:cNvSpPr/>
          <p:nvPr/>
        </p:nvSpPr>
        <p:spPr>
          <a:xfrm>
            <a:off x="1028700" y="3598144"/>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sp>
      <p:sp>
        <p:nvSpPr>
          <p:cNvPr id="348" name="Google Shape;348;p12"/>
          <p:cNvSpPr/>
          <p:nvPr/>
        </p:nvSpPr>
        <p:spPr>
          <a:xfrm>
            <a:off x="1028700" y="4859328"/>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sp>
      <p:sp>
        <p:nvSpPr>
          <p:cNvPr id="349" name="Google Shape;349;p12"/>
          <p:cNvSpPr/>
          <p:nvPr/>
        </p:nvSpPr>
        <p:spPr>
          <a:xfrm>
            <a:off x="1028700" y="6272152"/>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sp>
      <p:sp>
        <p:nvSpPr>
          <p:cNvPr id="350" name="Google Shape;350;p12"/>
          <p:cNvSpPr/>
          <p:nvPr/>
        </p:nvSpPr>
        <p:spPr>
          <a:xfrm>
            <a:off x="1028700" y="7439702"/>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sp>
      <p:sp>
        <p:nvSpPr>
          <p:cNvPr id="351" name="Google Shape;351;p12"/>
          <p:cNvSpPr/>
          <p:nvPr/>
        </p:nvSpPr>
        <p:spPr>
          <a:xfrm>
            <a:off x="1028700" y="8607252"/>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55" name="Shape 355"/>
        <p:cNvGrpSpPr/>
        <p:nvPr/>
      </p:nvGrpSpPr>
      <p:grpSpPr>
        <a:xfrm>
          <a:off x="0" y="0"/>
          <a:ext cx="0" cy="0"/>
          <a:chOff x="0" y="0"/>
          <a:chExt cx="0" cy="0"/>
        </a:xfrm>
      </p:grpSpPr>
      <p:sp>
        <p:nvSpPr>
          <p:cNvPr id="356" name="Google Shape;356;p13"/>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57" name="Google Shape;357;p13"/>
          <p:cNvGrpSpPr/>
          <p:nvPr/>
        </p:nvGrpSpPr>
        <p:grpSpPr>
          <a:xfrm>
            <a:off x="414625" y="196812"/>
            <a:ext cx="17458749" cy="9459392"/>
            <a:chOff x="0" y="-114300"/>
            <a:chExt cx="4598189" cy="2491363"/>
          </a:xfrm>
        </p:grpSpPr>
        <p:sp>
          <p:nvSpPr>
            <p:cNvPr id="358" name="Google Shape;358;p13"/>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59" name="Google Shape;359;p13"/>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0" name="Google Shape;360;p13"/>
          <p:cNvGrpSpPr/>
          <p:nvPr/>
        </p:nvGrpSpPr>
        <p:grpSpPr>
          <a:xfrm>
            <a:off x="1028700" y="871538"/>
            <a:ext cx="16230602" cy="1256147"/>
            <a:chOff x="0" y="-209550"/>
            <a:chExt cx="21640802" cy="1674862"/>
          </a:xfrm>
        </p:grpSpPr>
        <p:sp>
          <p:nvSpPr>
            <p:cNvPr id="361" name="Google Shape;361;p13"/>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62" name="Google Shape;362;p13"/>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INSTALACION</a:t>
              </a:r>
              <a:endParaRPr/>
            </a:p>
          </p:txBody>
        </p:sp>
      </p:grpSp>
      <p:grpSp>
        <p:nvGrpSpPr>
          <p:cNvPr id="363" name="Google Shape;363;p13"/>
          <p:cNvGrpSpPr/>
          <p:nvPr/>
        </p:nvGrpSpPr>
        <p:grpSpPr>
          <a:xfrm>
            <a:off x="1028700" y="2020528"/>
            <a:ext cx="16230600" cy="1444220"/>
            <a:chOff x="0" y="-142875"/>
            <a:chExt cx="21640800" cy="1925627"/>
          </a:xfrm>
        </p:grpSpPr>
        <p:sp>
          <p:nvSpPr>
            <p:cNvPr id="364" name="Google Shape;364;p13"/>
            <p:cNvSpPr/>
            <p:nvPr/>
          </p:nvSpPr>
          <p:spPr>
            <a:xfrm>
              <a:off x="0" y="0"/>
              <a:ext cx="21640800" cy="1782752"/>
            </a:xfrm>
            <a:custGeom>
              <a:rect b="b" l="l" r="r" t="t"/>
              <a:pathLst>
                <a:path extrusionOk="0" h="1782752" w="21640800">
                  <a:moveTo>
                    <a:pt x="0" y="0"/>
                  </a:moveTo>
                  <a:lnTo>
                    <a:pt x="21640800" y="0"/>
                  </a:lnTo>
                  <a:lnTo>
                    <a:pt x="21640800" y="1782752"/>
                  </a:lnTo>
                  <a:lnTo>
                    <a:pt x="0" y="1782752"/>
                  </a:lnTo>
                  <a:close/>
                </a:path>
              </a:pathLst>
            </a:custGeom>
            <a:solidFill>
              <a:srgbClr val="000000">
                <a:alpha val="0"/>
              </a:srgbClr>
            </a:solidFill>
            <a:ln>
              <a:noFill/>
            </a:ln>
          </p:spPr>
        </p:sp>
        <p:sp>
          <p:nvSpPr>
            <p:cNvPr id="365" name="Google Shape;365;p13"/>
            <p:cNvSpPr txBox="1"/>
            <p:nvPr/>
          </p:nvSpPr>
          <p:spPr>
            <a:xfrm>
              <a:off x="0" y="-142875"/>
              <a:ext cx="21640800" cy="19256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Para instalar flask en windows debemos ejecutar el siguiente comando desde una terminal o CMD.</a:t>
              </a:r>
              <a:endParaRPr/>
            </a:p>
          </p:txBody>
        </p:sp>
      </p:grpSp>
      <p:sp>
        <p:nvSpPr>
          <p:cNvPr id="366" name="Google Shape;366;p13"/>
          <p:cNvSpPr/>
          <p:nvPr/>
        </p:nvSpPr>
        <p:spPr>
          <a:xfrm>
            <a:off x="4577922" y="3464741"/>
            <a:ext cx="9132279" cy="1643810"/>
          </a:xfrm>
          <a:custGeom>
            <a:rect b="b" l="l" r="r" t="t"/>
            <a:pathLst>
              <a:path extrusionOk="0" h="1643810" w="9132279">
                <a:moveTo>
                  <a:pt x="0" y="0"/>
                </a:moveTo>
                <a:lnTo>
                  <a:pt x="9132280" y="0"/>
                </a:lnTo>
                <a:lnTo>
                  <a:pt x="9132280" y="1643810"/>
                </a:lnTo>
                <a:lnTo>
                  <a:pt x="0" y="1643810"/>
                </a:lnTo>
                <a:lnTo>
                  <a:pt x="0" y="0"/>
                </a:lnTo>
                <a:close/>
              </a:path>
            </a:pathLst>
          </a:custGeom>
          <a:blipFill rotWithShape="1">
            <a:blip r:embed="rId4">
              <a:alphaModFix/>
            </a:blip>
            <a:stretch>
              <a:fillRect b="0" l="0" r="0" t="0"/>
            </a:stretch>
          </a:blipFill>
          <a:ln>
            <a:noFill/>
          </a:ln>
        </p:spPr>
      </p:sp>
      <p:sp>
        <p:nvSpPr>
          <p:cNvPr id="367" name="Google Shape;367;p13"/>
          <p:cNvSpPr/>
          <p:nvPr/>
        </p:nvSpPr>
        <p:spPr>
          <a:xfrm>
            <a:off x="4577922" y="6859382"/>
            <a:ext cx="9132279" cy="1632395"/>
          </a:xfrm>
          <a:custGeom>
            <a:rect b="b" l="l" r="r" t="t"/>
            <a:pathLst>
              <a:path extrusionOk="0" h="1632395" w="9132279">
                <a:moveTo>
                  <a:pt x="0" y="0"/>
                </a:moveTo>
                <a:lnTo>
                  <a:pt x="9132280" y="0"/>
                </a:lnTo>
                <a:lnTo>
                  <a:pt x="9132280" y="1632395"/>
                </a:lnTo>
                <a:lnTo>
                  <a:pt x="0" y="1632395"/>
                </a:lnTo>
                <a:lnTo>
                  <a:pt x="0" y="0"/>
                </a:lnTo>
                <a:close/>
              </a:path>
            </a:pathLst>
          </a:custGeom>
          <a:blipFill rotWithShape="1">
            <a:blip r:embed="rId5">
              <a:alphaModFix/>
            </a:blip>
            <a:stretch>
              <a:fillRect b="0" l="0" r="0" t="0"/>
            </a:stretch>
          </a:blipFill>
          <a:ln>
            <a:noFill/>
          </a:ln>
        </p:spPr>
      </p:sp>
      <p:grpSp>
        <p:nvGrpSpPr>
          <p:cNvPr id="368" name="Google Shape;368;p13"/>
          <p:cNvGrpSpPr/>
          <p:nvPr/>
        </p:nvGrpSpPr>
        <p:grpSpPr>
          <a:xfrm>
            <a:off x="1028700" y="5415162"/>
            <a:ext cx="16230600" cy="1444220"/>
            <a:chOff x="0" y="-142875"/>
            <a:chExt cx="21640800" cy="1925627"/>
          </a:xfrm>
        </p:grpSpPr>
        <p:sp>
          <p:nvSpPr>
            <p:cNvPr id="369" name="Google Shape;369;p13"/>
            <p:cNvSpPr/>
            <p:nvPr/>
          </p:nvSpPr>
          <p:spPr>
            <a:xfrm>
              <a:off x="0" y="0"/>
              <a:ext cx="21640800" cy="1782752"/>
            </a:xfrm>
            <a:custGeom>
              <a:rect b="b" l="l" r="r" t="t"/>
              <a:pathLst>
                <a:path extrusionOk="0" h="1782752" w="21640800">
                  <a:moveTo>
                    <a:pt x="0" y="0"/>
                  </a:moveTo>
                  <a:lnTo>
                    <a:pt x="21640800" y="0"/>
                  </a:lnTo>
                  <a:lnTo>
                    <a:pt x="21640800" y="1782752"/>
                  </a:lnTo>
                  <a:lnTo>
                    <a:pt x="0" y="1782752"/>
                  </a:lnTo>
                  <a:close/>
                </a:path>
              </a:pathLst>
            </a:custGeom>
            <a:solidFill>
              <a:srgbClr val="000000">
                <a:alpha val="0"/>
              </a:srgbClr>
            </a:solidFill>
            <a:ln>
              <a:noFill/>
            </a:ln>
          </p:spPr>
        </p:sp>
        <p:sp>
          <p:nvSpPr>
            <p:cNvPr id="370" name="Google Shape;370;p13"/>
            <p:cNvSpPr txBox="1"/>
            <p:nvPr/>
          </p:nvSpPr>
          <p:spPr>
            <a:xfrm>
              <a:off x="0" y="-142875"/>
              <a:ext cx="21640800" cy="19256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Para comprobar que se haya instalado correctamente podemos ejecutar el siguiente comando:</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74" name="Shape 374"/>
        <p:cNvGrpSpPr/>
        <p:nvPr/>
      </p:nvGrpSpPr>
      <p:grpSpPr>
        <a:xfrm>
          <a:off x="0" y="0"/>
          <a:ext cx="0" cy="0"/>
          <a:chOff x="0" y="0"/>
          <a:chExt cx="0" cy="0"/>
        </a:xfrm>
      </p:grpSpPr>
      <p:sp>
        <p:nvSpPr>
          <p:cNvPr id="375" name="Google Shape;375;p1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76" name="Google Shape;376;p14"/>
          <p:cNvGrpSpPr/>
          <p:nvPr/>
        </p:nvGrpSpPr>
        <p:grpSpPr>
          <a:xfrm>
            <a:off x="414625" y="196812"/>
            <a:ext cx="17458749" cy="9459392"/>
            <a:chOff x="0" y="-114300"/>
            <a:chExt cx="4598189" cy="2491363"/>
          </a:xfrm>
        </p:grpSpPr>
        <p:sp>
          <p:nvSpPr>
            <p:cNvPr id="377" name="Google Shape;377;p1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78" name="Google Shape;378;p1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9" name="Google Shape;379;p14"/>
          <p:cNvGrpSpPr/>
          <p:nvPr/>
        </p:nvGrpSpPr>
        <p:grpSpPr>
          <a:xfrm>
            <a:off x="1028700" y="871538"/>
            <a:ext cx="16230602" cy="1256147"/>
            <a:chOff x="0" y="-209550"/>
            <a:chExt cx="21640802" cy="1674862"/>
          </a:xfrm>
        </p:grpSpPr>
        <p:sp>
          <p:nvSpPr>
            <p:cNvPr id="380" name="Google Shape;380;p1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81" name="Google Shape;381;p1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RUTAS Y METODOS</a:t>
              </a:r>
              <a:endParaRPr/>
            </a:p>
          </p:txBody>
        </p:sp>
      </p:grpSp>
      <p:grpSp>
        <p:nvGrpSpPr>
          <p:cNvPr id="382" name="Google Shape;382;p14"/>
          <p:cNvGrpSpPr/>
          <p:nvPr/>
        </p:nvGrpSpPr>
        <p:grpSpPr>
          <a:xfrm>
            <a:off x="1028700" y="2020528"/>
            <a:ext cx="16230600" cy="4149320"/>
            <a:chOff x="0" y="-142875"/>
            <a:chExt cx="21640800" cy="5532427"/>
          </a:xfrm>
        </p:grpSpPr>
        <p:sp>
          <p:nvSpPr>
            <p:cNvPr id="383" name="Google Shape;383;p14"/>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sp>
        <p:sp>
          <p:nvSpPr>
            <p:cNvPr id="384" name="Google Shape;384;p14"/>
            <p:cNvSpPr txBox="1"/>
            <p:nvPr/>
          </p:nvSpPr>
          <p:spPr>
            <a:xfrm>
              <a:off x="0" y="-142875"/>
              <a:ext cx="21640800" cy="55324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En Flask, una ruta (o route) es un decorador que asocia una URL específica con una función de Python. Cuando un usuario accede a esa URL en su navegador, Flask ejecuta la función de Python correspondiente para generar una respuesta.</a:t>
              </a:r>
              <a:endParaRPr/>
            </a:p>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El decorador principal para definir rutas es @app.route(). Este decorador no solo especifica la URL, sino que también puede indicar qué métodos HTTP son permitidos para esa ruta. Si no se especifica un método, la ruta responderá a peticiones GET.</a:t>
              </a:r>
              <a:endParaRPr/>
            </a:p>
          </p:txBody>
        </p:sp>
      </p:grpSp>
      <p:sp>
        <p:nvSpPr>
          <p:cNvPr id="385" name="Google Shape;385;p14"/>
          <p:cNvSpPr/>
          <p:nvPr/>
        </p:nvSpPr>
        <p:spPr>
          <a:xfrm>
            <a:off x="4665938" y="6978325"/>
            <a:ext cx="8956248" cy="2469678"/>
          </a:xfrm>
          <a:custGeom>
            <a:rect b="b" l="l" r="r" t="t"/>
            <a:pathLst>
              <a:path extrusionOk="0" h="2966580" w="11301259">
                <a:moveTo>
                  <a:pt x="0" y="0"/>
                </a:moveTo>
                <a:lnTo>
                  <a:pt x="11301258" y="0"/>
                </a:lnTo>
                <a:lnTo>
                  <a:pt x="11301258" y="2966581"/>
                </a:lnTo>
                <a:lnTo>
                  <a:pt x="0" y="2966581"/>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89" name="Shape 389"/>
        <p:cNvGrpSpPr/>
        <p:nvPr/>
      </p:nvGrpSpPr>
      <p:grpSpPr>
        <a:xfrm>
          <a:off x="0" y="0"/>
          <a:ext cx="0" cy="0"/>
          <a:chOff x="0" y="0"/>
          <a:chExt cx="0" cy="0"/>
        </a:xfrm>
      </p:grpSpPr>
      <p:sp>
        <p:nvSpPr>
          <p:cNvPr id="390" name="Google Shape;390;p1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391" name="Google Shape;391;p15"/>
          <p:cNvGrpSpPr/>
          <p:nvPr/>
        </p:nvGrpSpPr>
        <p:grpSpPr>
          <a:xfrm>
            <a:off x="414625" y="196812"/>
            <a:ext cx="17458749" cy="9459392"/>
            <a:chOff x="0" y="-114300"/>
            <a:chExt cx="4598189" cy="2491363"/>
          </a:xfrm>
        </p:grpSpPr>
        <p:sp>
          <p:nvSpPr>
            <p:cNvPr id="392" name="Google Shape;392;p1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393" name="Google Shape;393;p1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4" name="Google Shape;394;p15"/>
          <p:cNvGrpSpPr/>
          <p:nvPr/>
        </p:nvGrpSpPr>
        <p:grpSpPr>
          <a:xfrm>
            <a:off x="1028700" y="871538"/>
            <a:ext cx="16230602" cy="1256147"/>
            <a:chOff x="0" y="-209550"/>
            <a:chExt cx="21640802" cy="1674862"/>
          </a:xfrm>
        </p:grpSpPr>
        <p:sp>
          <p:nvSpPr>
            <p:cNvPr id="395" name="Google Shape;395;p1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396" name="Google Shape;396;p1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VISTAS</a:t>
              </a:r>
              <a:endParaRPr/>
            </a:p>
          </p:txBody>
        </p:sp>
      </p:grpSp>
      <p:grpSp>
        <p:nvGrpSpPr>
          <p:cNvPr id="397" name="Google Shape;397;p15"/>
          <p:cNvGrpSpPr/>
          <p:nvPr/>
        </p:nvGrpSpPr>
        <p:grpSpPr>
          <a:xfrm>
            <a:off x="1028700" y="2020528"/>
            <a:ext cx="16230600" cy="2796770"/>
            <a:chOff x="0" y="-142875"/>
            <a:chExt cx="21640800" cy="3729027"/>
          </a:xfrm>
        </p:grpSpPr>
        <p:sp>
          <p:nvSpPr>
            <p:cNvPr id="398" name="Google Shape;398;p15"/>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sp>
        <p:sp>
          <p:nvSpPr>
            <p:cNvPr id="399" name="Google Shape;399;p15"/>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Una vista es la función en Python que responde a una solicitud del cliente. Esta función puede devolver datos, texto plano, HTML o una respuesta JSON. </a:t>
              </a:r>
              <a:endParaRPr/>
            </a:p>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En aplicaciones tipo API, la vista devuelve datos (como JSON).</a:t>
              </a:r>
              <a:endParaRPr/>
            </a:p>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En aplicaciones web tradicionales, devuelve una plantilla renderizada.</a:t>
              </a:r>
              <a:endParaRPr/>
            </a:p>
          </p:txBody>
        </p:sp>
      </p:grpSp>
      <p:sp>
        <p:nvSpPr>
          <p:cNvPr id="400" name="Google Shape;400;p15"/>
          <p:cNvSpPr/>
          <p:nvPr/>
        </p:nvSpPr>
        <p:spPr>
          <a:xfrm>
            <a:off x="4016125" y="5368825"/>
            <a:ext cx="10255893" cy="2953161"/>
          </a:xfrm>
          <a:custGeom>
            <a:rect b="b" l="l" r="r" t="t"/>
            <a:pathLst>
              <a:path extrusionOk="0" h="3192606" w="11301259">
                <a:moveTo>
                  <a:pt x="0" y="0"/>
                </a:moveTo>
                <a:lnTo>
                  <a:pt x="11301258" y="0"/>
                </a:lnTo>
                <a:lnTo>
                  <a:pt x="11301258" y="3192606"/>
                </a:lnTo>
                <a:lnTo>
                  <a:pt x="0" y="319260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04" name="Shape 404"/>
        <p:cNvGrpSpPr/>
        <p:nvPr/>
      </p:nvGrpSpPr>
      <p:grpSpPr>
        <a:xfrm>
          <a:off x="0" y="0"/>
          <a:ext cx="0" cy="0"/>
          <a:chOff x="0" y="0"/>
          <a:chExt cx="0" cy="0"/>
        </a:xfrm>
      </p:grpSpPr>
      <p:sp>
        <p:nvSpPr>
          <p:cNvPr id="405" name="Google Shape;405;p1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06" name="Google Shape;406;p16"/>
          <p:cNvGrpSpPr/>
          <p:nvPr/>
        </p:nvGrpSpPr>
        <p:grpSpPr>
          <a:xfrm>
            <a:off x="414625" y="196812"/>
            <a:ext cx="17458749" cy="9459392"/>
            <a:chOff x="0" y="-114300"/>
            <a:chExt cx="4598189" cy="2491363"/>
          </a:xfrm>
        </p:grpSpPr>
        <p:sp>
          <p:nvSpPr>
            <p:cNvPr id="407" name="Google Shape;407;p1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08" name="Google Shape;408;p1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p16"/>
          <p:cNvGrpSpPr/>
          <p:nvPr/>
        </p:nvGrpSpPr>
        <p:grpSpPr>
          <a:xfrm>
            <a:off x="1028700" y="871538"/>
            <a:ext cx="16230602" cy="1256147"/>
            <a:chOff x="0" y="-209550"/>
            <a:chExt cx="21640802" cy="1674862"/>
          </a:xfrm>
        </p:grpSpPr>
        <p:sp>
          <p:nvSpPr>
            <p:cNvPr id="410" name="Google Shape;410;p1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411" name="Google Shape;411;p1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PLANTILLAS</a:t>
              </a:r>
              <a:endParaRPr/>
            </a:p>
          </p:txBody>
        </p:sp>
      </p:grpSp>
      <p:grpSp>
        <p:nvGrpSpPr>
          <p:cNvPr id="412" name="Google Shape;412;p16"/>
          <p:cNvGrpSpPr/>
          <p:nvPr/>
        </p:nvGrpSpPr>
        <p:grpSpPr>
          <a:xfrm>
            <a:off x="1028700" y="2020528"/>
            <a:ext cx="16230600" cy="2796770"/>
            <a:chOff x="0" y="-142875"/>
            <a:chExt cx="21640800" cy="3729027"/>
          </a:xfrm>
        </p:grpSpPr>
        <p:sp>
          <p:nvSpPr>
            <p:cNvPr id="413" name="Google Shape;413;p16"/>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sp>
        <p:sp>
          <p:nvSpPr>
            <p:cNvPr id="414" name="Google Shape;414;p16"/>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Las plantillas son archivos HTML dinámicos que se combinan con datos en tiempo real. Flask usa el motor de plantillas Jinja2, que permite insertar variables, condicionales, ciclos, etc.</a:t>
              </a:r>
              <a:endParaRPr/>
            </a:p>
            <a:p>
              <a:pPr indent="0" lvl="0" marL="0" marR="0" rtl="0" algn="just">
                <a:lnSpc>
                  <a:spcPct val="168000"/>
                </a:lnSpc>
                <a:spcBef>
                  <a:spcPts val="0"/>
                </a:spcBef>
                <a:spcAft>
                  <a:spcPts val="0"/>
                </a:spcAft>
                <a:buNone/>
              </a:pPr>
              <a:r>
                <a:rPr b="1" i="0" lang="en-US" sz="3200" u="none" cap="none" strike="noStrike">
                  <a:solidFill>
                    <a:srgbClr val="131416"/>
                  </a:solidFill>
                  <a:latin typeface="Open Sans"/>
                  <a:ea typeface="Open Sans"/>
                  <a:cs typeface="Open Sans"/>
                  <a:sym typeface="Open Sans"/>
                </a:rPr>
                <a:t>Jinja2:</a:t>
              </a:r>
              <a:r>
                <a:rPr b="0" i="0" lang="en-US" sz="3200" u="none" cap="none" strike="noStrike">
                  <a:solidFill>
                    <a:srgbClr val="131416"/>
                  </a:solidFill>
                  <a:latin typeface="Open Sans"/>
                  <a:ea typeface="Open Sans"/>
                  <a:cs typeface="Open Sans"/>
                  <a:sym typeface="Open Sans"/>
                </a:rPr>
                <a:t> Es un motor de plantillas que permite crear páginas dinámicas.</a:t>
              </a:r>
              <a:endParaRPr/>
            </a:p>
          </p:txBody>
        </p:sp>
      </p:grpSp>
      <p:sp>
        <p:nvSpPr>
          <p:cNvPr id="415" name="Google Shape;415;p16"/>
          <p:cNvSpPr/>
          <p:nvPr/>
        </p:nvSpPr>
        <p:spPr>
          <a:xfrm>
            <a:off x="1028700" y="6554759"/>
            <a:ext cx="7818074" cy="2316104"/>
          </a:xfrm>
          <a:custGeom>
            <a:rect b="b" l="l" r="r" t="t"/>
            <a:pathLst>
              <a:path extrusionOk="0" h="2316104" w="7818074">
                <a:moveTo>
                  <a:pt x="0" y="0"/>
                </a:moveTo>
                <a:lnTo>
                  <a:pt x="7818074" y="0"/>
                </a:lnTo>
                <a:lnTo>
                  <a:pt x="7818074" y="2316104"/>
                </a:lnTo>
                <a:lnTo>
                  <a:pt x="0" y="2316104"/>
                </a:lnTo>
                <a:lnTo>
                  <a:pt x="0" y="0"/>
                </a:lnTo>
                <a:close/>
              </a:path>
            </a:pathLst>
          </a:custGeom>
          <a:blipFill rotWithShape="1">
            <a:blip r:embed="rId4">
              <a:alphaModFix/>
            </a:blip>
            <a:stretch>
              <a:fillRect b="0" l="0" r="0" t="0"/>
            </a:stretch>
          </a:blipFill>
          <a:ln>
            <a:noFill/>
          </a:ln>
        </p:spPr>
      </p:sp>
      <p:sp>
        <p:nvSpPr>
          <p:cNvPr id="416" name="Google Shape;416;p16"/>
          <p:cNvSpPr/>
          <p:nvPr/>
        </p:nvSpPr>
        <p:spPr>
          <a:xfrm>
            <a:off x="9685931" y="6554759"/>
            <a:ext cx="7573369" cy="1722941"/>
          </a:xfrm>
          <a:custGeom>
            <a:rect b="b" l="l" r="r" t="t"/>
            <a:pathLst>
              <a:path extrusionOk="0" h="1722941" w="7573369">
                <a:moveTo>
                  <a:pt x="0" y="0"/>
                </a:moveTo>
                <a:lnTo>
                  <a:pt x="7573369" y="0"/>
                </a:lnTo>
                <a:lnTo>
                  <a:pt x="7573369" y="1722941"/>
                </a:lnTo>
                <a:lnTo>
                  <a:pt x="0" y="1722941"/>
                </a:lnTo>
                <a:lnTo>
                  <a:pt x="0" y="0"/>
                </a:lnTo>
                <a:close/>
              </a:path>
            </a:pathLst>
          </a:custGeom>
          <a:blipFill rotWithShape="1">
            <a:blip r:embed="rId5">
              <a:alphaModFix/>
            </a:blip>
            <a:stretch>
              <a:fillRect b="0" l="0" r="0" t="0"/>
            </a:stretch>
          </a:blipFill>
          <a:ln>
            <a:noFill/>
          </a:ln>
        </p:spPr>
      </p:sp>
      <p:sp>
        <p:nvSpPr>
          <p:cNvPr id="417" name="Google Shape;417;p16"/>
          <p:cNvSpPr/>
          <p:nvPr/>
        </p:nvSpPr>
        <p:spPr>
          <a:xfrm>
            <a:off x="3392543" y="5338280"/>
            <a:ext cx="3090387" cy="1017018"/>
          </a:xfrm>
          <a:custGeom>
            <a:rect b="b" l="l" r="r" t="t"/>
            <a:pathLst>
              <a:path extrusionOk="0" h="1017018" w="3090387">
                <a:moveTo>
                  <a:pt x="0" y="0"/>
                </a:moveTo>
                <a:lnTo>
                  <a:pt x="3090387" y="0"/>
                </a:lnTo>
                <a:lnTo>
                  <a:pt x="3090387" y="1017019"/>
                </a:lnTo>
                <a:lnTo>
                  <a:pt x="0" y="1017019"/>
                </a:lnTo>
                <a:lnTo>
                  <a:pt x="0" y="0"/>
                </a:lnTo>
                <a:close/>
              </a:path>
            </a:pathLst>
          </a:custGeom>
          <a:blipFill rotWithShape="1">
            <a:blip r:embed="rId6">
              <a:alphaModFix/>
            </a:blip>
            <a:stretch>
              <a:fillRect b="0" l="0" r="0" t="0"/>
            </a:stretch>
          </a:blipFill>
          <a:ln>
            <a:noFill/>
          </a:ln>
        </p:spPr>
      </p:sp>
      <p:grpSp>
        <p:nvGrpSpPr>
          <p:cNvPr id="418" name="Google Shape;418;p16"/>
          <p:cNvGrpSpPr/>
          <p:nvPr/>
        </p:nvGrpSpPr>
        <p:grpSpPr>
          <a:xfrm>
            <a:off x="3714892" y="5405367"/>
            <a:ext cx="2445690" cy="775688"/>
            <a:chOff x="0" y="-142875"/>
            <a:chExt cx="3260920" cy="1034251"/>
          </a:xfrm>
        </p:grpSpPr>
        <p:sp>
          <p:nvSpPr>
            <p:cNvPr id="419" name="Google Shape;419;p16"/>
            <p:cNvSpPr/>
            <p:nvPr/>
          </p:nvSpPr>
          <p:spPr>
            <a:xfrm>
              <a:off x="0" y="0"/>
              <a:ext cx="3260920" cy="891376"/>
            </a:xfrm>
            <a:custGeom>
              <a:rect b="b" l="l" r="r" t="t"/>
              <a:pathLst>
                <a:path extrusionOk="0" h="891376" w="3260920">
                  <a:moveTo>
                    <a:pt x="0" y="0"/>
                  </a:moveTo>
                  <a:lnTo>
                    <a:pt x="3260920" y="0"/>
                  </a:lnTo>
                  <a:lnTo>
                    <a:pt x="3260920" y="891376"/>
                  </a:lnTo>
                  <a:lnTo>
                    <a:pt x="0" y="891376"/>
                  </a:lnTo>
                  <a:close/>
                </a:path>
              </a:pathLst>
            </a:custGeom>
            <a:solidFill>
              <a:srgbClr val="000000">
                <a:alpha val="0"/>
              </a:srgbClr>
            </a:solidFill>
            <a:ln>
              <a:noFill/>
            </a:ln>
          </p:spPr>
        </p:sp>
        <p:sp>
          <p:nvSpPr>
            <p:cNvPr id="420" name="Google Shape;420;p16"/>
            <p:cNvSpPr txBox="1"/>
            <p:nvPr/>
          </p:nvSpPr>
          <p:spPr>
            <a:xfrm>
              <a:off x="0" y="-142875"/>
              <a:ext cx="3260919" cy="1034251"/>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App.py</a:t>
              </a:r>
              <a:endParaRPr/>
            </a:p>
          </p:txBody>
        </p:sp>
      </p:grpSp>
      <p:sp>
        <p:nvSpPr>
          <p:cNvPr id="421" name="Google Shape;421;p16"/>
          <p:cNvSpPr/>
          <p:nvPr/>
        </p:nvSpPr>
        <p:spPr>
          <a:xfrm>
            <a:off x="11927422" y="5338280"/>
            <a:ext cx="3090387" cy="1017018"/>
          </a:xfrm>
          <a:custGeom>
            <a:rect b="b" l="l" r="r" t="t"/>
            <a:pathLst>
              <a:path extrusionOk="0" h="1017018" w="3090387">
                <a:moveTo>
                  <a:pt x="0" y="0"/>
                </a:moveTo>
                <a:lnTo>
                  <a:pt x="3090387" y="0"/>
                </a:lnTo>
                <a:lnTo>
                  <a:pt x="3090387" y="1017019"/>
                </a:lnTo>
                <a:lnTo>
                  <a:pt x="0" y="1017019"/>
                </a:lnTo>
                <a:lnTo>
                  <a:pt x="0" y="0"/>
                </a:lnTo>
                <a:close/>
              </a:path>
            </a:pathLst>
          </a:custGeom>
          <a:blipFill rotWithShape="1">
            <a:blip r:embed="rId6">
              <a:alphaModFix/>
            </a:blip>
            <a:stretch>
              <a:fillRect b="0" l="0" r="0" t="0"/>
            </a:stretch>
          </a:blipFill>
          <a:ln>
            <a:noFill/>
          </a:ln>
        </p:spPr>
      </p:sp>
      <p:grpSp>
        <p:nvGrpSpPr>
          <p:cNvPr id="422" name="Google Shape;422;p16"/>
          <p:cNvGrpSpPr/>
          <p:nvPr/>
        </p:nvGrpSpPr>
        <p:grpSpPr>
          <a:xfrm>
            <a:off x="12249771" y="5405367"/>
            <a:ext cx="2445690" cy="775688"/>
            <a:chOff x="0" y="-142875"/>
            <a:chExt cx="3260920" cy="1034251"/>
          </a:xfrm>
        </p:grpSpPr>
        <p:sp>
          <p:nvSpPr>
            <p:cNvPr id="423" name="Google Shape;423;p16"/>
            <p:cNvSpPr/>
            <p:nvPr/>
          </p:nvSpPr>
          <p:spPr>
            <a:xfrm>
              <a:off x="0" y="0"/>
              <a:ext cx="3260920" cy="891376"/>
            </a:xfrm>
            <a:custGeom>
              <a:rect b="b" l="l" r="r" t="t"/>
              <a:pathLst>
                <a:path extrusionOk="0" h="891376" w="3260920">
                  <a:moveTo>
                    <a:pt x="0" y="0"/>
                  </a:moveTo>
                  <a:lnTo>
                    <a:pt x="3260920" y="0"/>
                  </a:lnTo>
                  <a:lnTo>
                    <a:pt x="3260920" y="891376"/>
                  </a:lnTo>
                  <a:lnTo>
                    <a:pt x="0" y="891376"/>
                  </a:lnTo>
                  <a:close/>
                </a:path>
              </a:pathLst>
            </a:custGeom>
            <a:solidFill>
              <a:srgbClr val="000000">
                <a:alpha val="0"/>
              </a:srgbClr>
            </a:solidFill>
            <a:ln>
              <a:noFill/>
            </a:ln>
          </p:spPr>
        </p:sp>
        <p:sp>
          <p:nvSpPr>
            <p:cNvPr id="424" name="Google Shape;424;p16"/>
            <p:cNvSpPr txBox="1"/>
            <p:nvPr/>
          </p:nvSpPr>
          <p:spPr>
            <a:xfrm>
              <a:off x="0" y="-142875"/>
              <a:ext cx="3260919" cy="1034251"/>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inicio.html</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28" name="Shape 428"/>
        <p:cNvGrpSpPr/>
        <p:nvPr/>
      </p:nvGrpSpPr>
      <p:grpSpPr>
        <a:xfrm>
          <a:off x="0" y="0"/>
          <a:ext cx="0" cy="0"/>
          <a:chOff x="0" y="0"/>
          <a:chExt cx="0" cy="0"/>
        </a:xfrm>
      </p:grpSpPr>
      <p:sp>
        <p:nvSpPr>
          <p:cNvPr id="429" name="Google Shape;429;p1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30" name="Google Shape;430;p17"/>
          <p:cNvGrpSpPr/>
          <p:nvPr/>
        </p:nvGrpSpPr>
        <p:grpSpPr>
          <a:xfrm>
            <a:off x="414625" y="196812"/>
            <a:ext cx="17458749" cy="9459392"/>
            <a:chOff x="0" y="-114300"/>
            <a:chExt cx="4598189" cy="2491363"/>
          </a:xfrm>
        </p:grpSpPr>
        <p:sp>
          <p:nvSpPr>
            <p:cNvPr id="431" name="Google Shape;431;p1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32" name="Google Shape;432;p1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3" name="Google Shape;433;p17"/>
          <p:cNvGrpSpPr/>
          <p:nvPr/>
        </p:nvGrpSpPr>
        <p:grpSpPr>
          <a:xfrm>
            <a:off x="1028700" y="871538"/>
            <a:ext cx="16230602" cy="1256147"/>
            <a:chOff x="0" y="-209550"/>
            <a:chExt cx="21640802" cy="1674862"/>
          </a:xfrm>
        </p:grpSpPr>
        <p:sp>
          <p:nvSpPr>
            <p:cNvPr id="434" name="Google Shape;434;p17"/>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435" name="Google Shape;435;p17"/>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FORMULARIOS</a:t>
              </a:r>
              <a:endParaRPr/>
            </a:p>
          </p:txBody>
        </p:sp>
      </p:grpSp>
      <p:grpSp>
        <p:nvGrpSpPr>
          <p:cNvPr id="436" name="Google Shape;436;p17"/>
          <p:cNvGrpSpPr/>
          <p:nvPr/>
        </p:nvGrpSpPr>
        <p:grpSpPr>
          <a:xfrm>
            <a:off x="1028700" y="2020528"/>
            <a:ext cx="16230600" cy="2120495"/>
            <a:chOff x="0" y="-142875"/>
            <a:chExt cx="21640800" cy="2827327"/>
          </a:xfrm>
        </p:grpSpPr>
        <p:sp>
          <p:nvSpPr>
            <p:cNvPr id="437" name="Google Shape;437;p17"/>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sp>
        <p:sp>
          <p:nvSpPr>
            <p:cNvPr id="438" name="Google Shape;438;p17"/>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131416"/>
                  </a:solidFill>
                  <a:latin typeface="Open Sans"/>
                  <a:ea typeface="Open Sans"/>
                  <a:cs typeface="Open Sans"/>
                  <a:sym typeface="Open Sans"/>
                </a:rPr>
                <a:t>Los formularios permiten a los usuarios enviar datos al servidor, como textos, correos, contraseñas, etc. Flask puede recibir y procesar estos datos fácilmente usando el método POST.</a:t>
              </a:r>
              <a:endParaRPr/>
            </a:p>
          </p:txBody>
        </p:sp>
      </p:grpSp>
      <p:sp>
        <p:nvSpPr>
          <p:cNvPr id="439" name="Google Shape;439;p17"/>
          <p:cNvSpPr/>
          <p:nvPr/>
        </p:nvSpPr>
        <p:spPr>
          <a:xfrm>
            <a:off x="10766829" y="5143500"/>
            <a:ext cx="6492471" cy="3789980"/>
          </a:xfrm>
          <a:custGeom>
            <a:rect b="b" l="l" r="r" t="t"/>
            <a:pathLst>
              <a:path extrusionOk="0" h="3789980" w="6492471">
                <a:moveTo>
                  <a:pt x="0" y="0"/>
                </a:moveTo>
                <a:lnTo>
                  <a:pt x="6492471" y="0"/>
                </a:lnTo>
                <a:lnTo>
                  <a:pt x="6492471" y="3789980"/>
                </a:lnTo>
                <a:lnTo>
                  <a:pt x="0" y="3789980"/>
                </a:lnTo>
                <a:lnTo>
                  <a:pt x="0" y="0"/>
                </a:lnTo>
                <a:close/>
              </a:path>
            </a:pathLst>
          </a:custGeom>
          <a:blipFill rotWithShape="1">
            <a:blip r:embed="rId4">
              <a:alphaModFix/>
            </a:blip>
            <a:stretch>
              <a:fillRect b="0" l="0" r="0" t="0"/>
            </a:stretch>
          </a:blipFill>
          <a:ln>
            <a:noFill/>
          </a:ln>
        </p:spPr>
      </p:sp>
      <p:sp>
        <p:nvSpPr>
          <p:cNvPr id="440" name="Google Shape;440;p17"/>
          <p:cNvSpPr/>
          <p:nvPr/>
        </p:nvSpPr>
        <p:spPr>
          <a:xfrm>
            <a:off x="1028700" y="5143500"/>
            <a:ext cx="7587824" cy="2513467"/>
          </a:xfrm>
          <a:custGeom>
            <a:rect b="b" l="l" r="r" t="t"/>
            <a:pathLst>
              <a:path extrusionOk="0" h="2513467" w="7587824">
                <a:moveTo>
                  <a:pt x="0" y="0"/>
                </a:moveTo>
                <a:lnTo>
                  <a:pt x="7587824" y="0"/>
                </a:lnTo>
                <a:lnTo>
                  <a:pt x="7587824" y="2513467"/>
                </a:lnTo>
                <a:lnTo>
                  <a:pt x="0" y="2513467"/>
                </a:lnTo>
                <a:lnTo>
                  <a:pt x="0" y="0"/>
                </a:lnTo>
                <a:close/>
              </a:path>
            </a:pathLst>
          </a:custGeom>
          <a:blipFill rotWithShape="1">
            <a:blip r:embed="rId5">
              <a:alphaModFix/>
            </a:blip>
            <a:stretch>
              <a:fillRect b="0" l="0" r="0" t="0"/>
            </a:stretch>
          </a:blipFill>
          <a:ln>
            <a:noFill/>
          </a:ln>
        </p:spPr>
      </p:sp>
      <p:sp>
        <p:nvSpPr>
          <p:cNvPr id="441" name="Google Shape;441;p17"/>
          <p:cNvSpPr/>
          <p:nvPr/>
        </p:nvSpPr>
        <p:spPr>
          <a:xfrm flipH="1" rot="-7758773">
            <a:off x="8472754" y="7547831"/>
            <a:ext cx="2062666" cy="1575127"/>
          </a:xfrm>
          <a:custGeom>
            <a:rect b="b" l="l" r="r" t="t"/>
            <a:pathLst>
              <a:path extrusionOk="0" h="1575127" w="2062666">
                <a:moveTo>
                  <a:pt x="0" y="1575127"/>
                </a:moveTo>
                <a:lnTo>
                  <a:pt x="2062666" y="1575127"/>
                </a:lnTo>
                <a:lnTo>
                  <a:pt x="2062666" y="0"/>
                </a:lnTo>
                <a:lnTo>
                  <a:pt x="0" y="0"/>
                </a:lnTo>
                <a:lnTo>
                  <a:pt x="0" y="1575127"/>
                </a:lnTo>
                <a:close/>
              </a:path>
            </a:pathLst>
          </a:custGeom>
          <a:blipFill rotWithShape="1">
            <a:blip r:embed="rId6">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45" name="Shape 445"/>
        <p:cNvGrpSpPr/>
        <p:nvPr/>
      </p:nvGrpSpPr>
      <p:grpSpPr>
        <a:xfrm>
          <a:off x="0" y="0"/>
          <a:ext cx="0" cy="0"/>
          <a:chOff x="0" y="0"/>
          <a:chExt cx="0" cy="0"/>
        </a:xfrm>
      </p:grpSpPr>
      <p:sp>
        <p:nvSpPr>
          <p:cNvPr id="446" name="Google Shape;446;p1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47" name="Google Shape;447;p18"/>
          <p:cNvGrpSpPr/>
          <p:nvPr/>
        </p:nvGrpSpPr>
        <p:grpSpPr>
          <a:xfrm>
            <a:off x="414625" y="196812"/>
            <a:ext cx="17458749" cy="9459392"/>
            <a:chOff x="0" y="-114300"/>
            <a:chExt cx="4598189" cy="2491363"/>
          </a:xfrm>
        </p:grpSpPr>
        <p:sp>
          <p:nvSpPr>
            <p:cNvPr id="448" name="Google Shape;448;p1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49" name="Google Shape;449;p1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0" name="Google Shape;450;p18"/>
          <p:cNvGrpSpPr/>
          <p:nvPr/>
        </p:nvGrpSpPr>
        <p:grpSpPr>
          <a:xfrm>
            <a:off x="1028700" y="4436846"/>
            <a:ext cx="16230602" cy="1256147"/>
            <a:chOff x="0" y="-209550"/>
            <a:chExt cx="21640802" cy="1674862"/>
          </a:xfrm>
        </p:grpSpPr>
        <p:sp>
          <p:nvSpPr>
            <p:cNvPr id="451" name="Google Shape;451;p1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452" name="Google Shape;452;p1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EJEMPLO</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56" name="Shape 456"/>
        <p:cNvGrpSpPr/>
        <p:nvPr/>
      </p:nvGrpSpPr>
      <p:grpSpPr>
        <a:xfrm>
          <a:off x="0" y="0"/>
          <a:ext cx="0" cy="0"/>
          <a:chOff x="0" y="0"/>
          <a:chExt cx="0" cy="0"/>
        </a:xfrm>
      </p:grpSpPr>
      <p:sp>
        <p:nvSpPr>
          <p:cNvPr id="457" name="Google Shape;457;p1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58" name="Google Shape;458;p19"/>
          <p:cNvGrpSpPr/>
          <p:nvPr/>
        </p:nvGrpSpPr>
        <p:grpSpPr>
          <a:xfrm>
            <a:off x="414625" y="196812"/>
            <a:ext cx="17458749" cy="9459392"/>
            <a:chOff x="0" y="-114300"/>
            <a:chExt cx="4598189" cy="2491363"/>
          </a:xfrm>
        </p:grpSpPr>
        <p:sp>
          <p:nvSpPr>
            <p:cNvPr id="459" name="Google Shape;459;p1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60" name="Google Shape;460;p1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1" name="Google Shape;461;p19"/>
          <p:cNvGrpSpPr/>
          <p:nvPr/>
        </p:nvGrpSpPr>
        <p:grpSpPr>
          <a:xfrm>
            <a:off x="1028700" y="871538"/>
            <a:ext cx="16230602" cy="1256147"/>
            <a:chOff x="0" y="-209550"/>
            <a:chExt cx="21640802" cy="1674862"/>
          </a:xfrm>
        </p:grpSpPr>
        <p:sp>
          <p:nvSpPr>
            <p:cNvPr id="462" name="Google Shape;462;p1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463" name="Google Shape;463;p1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CONCEPTOS CLAVE APRENDIDOS </a:t>
              </a:r>
              <a:endParaRPr/>
            </a:p>
          </p:txBody>
        </p:sp>
      </p:grpSp>
      <p:grpSp>
        <p:nvGrpSpPr>
          <p:cNvPr id="464" name="Google Shape;464;p19"/>
          <p:cNvGrpSpPr/>
          <p:nvPr/>
        </p:nvGrpSpPr>
        <p:grpSpPr>
          <a:xfrm>
            <a:off x="1028700" y="2020528"/>
            <a:ext cx="16230600" cy="6854420"/>
            <a:chOff x="0" y="-142875"/>
            <a:chExt cx="21640800" cy="9139227"/>
          </a:xfrm>
        </p:grpSpPr>
        <p:sp>
          <p:nvSpPr>
            <p:cNvPr id="465" name="Google Shape;465;p19"/>
            <p:cNvSpPr/>
            <p:nvPr/>
          </p:nvSpPr>
          <p:spPr>
            <a:xfrm>
              <a:off x="0" y="0"/>
              <a:ext cx="21640800" cy="8996352"/>
            </a:xfrm>
            <a:custGeom>
              <a:rect b="b" l="l" r="r" t="t"/>
              <a:pathLst>
                <a:path extrusionOk="0" h="8996352" w="21640800">
                  <a:moveTo>
                    <a:pt x="0" y="0"/>
                  </a:moveTo>
                  <a:lnTo>
                    <a:pt x="21640800" y="0"/>
                  </a:lnTo>
                  <a:lnTo>
                    <a:pt x="21640800" y="8996352"/>
                  </a:lnTo>
                  <a:lnTo>
                    <a:pt x="0" y="8996352"/>
                  </a:lnTo>
                  <a:close/>
                </a:path>
              </a:pathLst>
            </a:custGeom>
            <a:solidFill>
              <a:srgbClr val="000000">
                <a:alpha val="0"/>
              </a:srgbClr>
            </a:solidFill>
            <a:ln>
              <a:noFill/>
            </a:ln>
          </p:spPr>
        </p:sp>
        <p:sp>
          <p:nvSpPr>
            <p:cNvPr id="466" name="Google Shape;466;p19"/>
            <p:cNvSpPr txBox="1"/>
            <p:nvPr/>
          </p:nvSpPr>
          <p:spPr>
            <a:xfrm>
              <a:off x="0" y="-142875"/>
              <a:ext cx="21640800" cy="91392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Backend: Parte del sistema que procesa la lógica, datos y responde a las solicitudes del cliente.</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API: Puente de comunicación entre frontend y backend que expone funciones y datos.</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REST: Estilo arquitectónico para APIs que usa métodos HTTP como GET, POST, PUT y DELETE.</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Métodos HTTP: Comandos estándar para manipular recursos en la web.</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Framework: Herramienta que facilita y organiza el desarrollo de aplicaciones web.</a:t>
              </a:r>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Flask:</a:t>
              </a:r>
              <a:r>
                <a:rPr b="0" i="0" lang="en-US" sz="3200" u="none" cap="none" strike="noStrike">
                  <a:solidFill>
                    <a:srgbClr val="131416"/>
                  </a:solidFill>
                  <a:latin typeface="Open Sans"/>
                  <a:ea typeface="Open Sans"/>
                  <a:cs typeface="Open Sans"/>
                  <a:sym typeface="Open Sans"/>
                </a:rPr>
                <a:t> </a:t>
              </a:r>
              <a:r>
                <a:rPr b="0" i="0" lang="en-US" sz="3200" u="none" cap="none" strike="noStrike">
                  <a:solidFill>
                    <a:srgbClr val="131416"/>
                  </a:solidFill>
                  <a:latin typeface="Open Sans"/>
                  <a:ea typeface="Open Sans"/>
                  <a:cs typeface="Open Sans"/>
                  <a:sym typeface="Open Sans"/>
                </a:rPr>
                <a:t>framework</a:t>
              </a:r>
              <a:r>
                <a:rPr lang="en-US" sz="3200">
                  <a:solidFill>
                    <a:srgbClr val="131416"/>
                  </a:solidFill>
                  <a:latin typeface="Open Sans"/>
                  <a:ea typeface="Open Sans"/>
                  <a:cs typeface="Open Sans"/>
                  <a:sym typeface="Open Sans"/>
                </a:rPr>
                <a:t> </a:t>
              </a:r>
              <a:r>
                <a:rPr b="0" i="0" lang="en-US" sz="3200" u="none" cap="none" strike="noStrike">
                  <a:solidFill>
                    <a:srgbClr val="131416"/>
                  </a:solidFill>
                  <a:latin typeface="Open Sans"/>
                  <a:ea typeface="Open Sans"/>
                  <a:cs typeface="Open Sans"/>
                  <a:sym typeface="Open Sans"/>
                </a:rPr>
                <a:t>para construir aplicaciones web y APIs REST de forma simple.</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70" name="Shape 470"/>
        <p:cNvGrpSpPr/>
        <p:nvPr/>
      </p:nvGrpSpPr>
      <p:grpSpPr>
        <a:xfrm>
          <a:off x="0" y="0"/>
          <a:ext cx="0" cy="0"/>
          <a:chOff x="0" y="0"/>
          <a:chExt cx="0" cy="0"/>
        </a:xfrm>
      </p:grpSpPr>
      <p:sp>
        <p:nvSpPr>
          <p:cNvPr id="471" name="Google Shape;471;p2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72" name="Google Shape;472;p20"/>
          <p:cNvGrpSpPr/>
          <p:nvPr/>
        </p:nvGrpSpPr>
        <p:grpSpPr>
          <a:xfrm>
            <a:off x="414625" y="196812"/>
            <a:ext cx="17458749" cy="9459392"/>
            <a:chOff x="0" y="-114300"/>
            <a:chExt cx="4598189" cy="2491363"/>
          </a:xfrm>
        </p:grpSpPr>
        <p:sp>
          <p:nvSpPr>
            <p:cNvPr id="473" name="Google Shape;473;p2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74" name="Google Shape;474;p2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5" name="Google Shape;475;p20"/>
          <p:cNvGrpSpPr/>
          <p:nvPr/>
        </p:nvGrpSpPr>
        <p:grpSpPr>
          <a:xfrm>
            <a:off x="1028700" y="3195793"/>
            <a:ext cx="16230602" cy="1256147"/>
            <a:chOff x="0" y="-209550"/>
            <a:chExt cx="21640802" cy="1674862"/>
          </a:xfrm>
        </p:grpSpPr>
        <p:sp>
          <p:nvSpPr>
            <p:cNvPr id="476" name="Google Shape;476;p2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477" name="Google Shape;477;p2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PERSEVERANCIA</a:t>
              </a:r>
              <a:endParaRPr/>
            </a:p>
          </p:txBody>
        </p:sp>
      </p:grpSp>
      <p:grpSp>
        <p:nvGrpSpPr>
          <p:cNvPr id="478" name="Google Shape;478;p20"/>
          <p:cNvGrpSpPr/>
          <p:nvPr/>
        </p:nvGrpSpPr>
        <p:grpSpPr>
          <a:xfrm>
            <a:off x="1028700" y="4570865"/>
            <a:ext cx="16230600" cy="2363179"/>
            <a:chOff x="0" y="-238125"/>
            <a:chExt cx="21640800" cy="3150904"/>
          </a:xfrm>
        </p:grpSpPr>
        <p:sp>
          <p:nvSpPr>
            <p:cNvPr id="479" name="Google Shape;479;p20"/>
            <p:cNvSpPr/>
            <p:nvPr/>
          </p:nvSpPr>
          <p:spPr>
            <a:xfrm>
              <a:off x="0" y="0"/>
              <a:ext cx="21640800" cy="2912779"/>
            </a:xfrm>
            <a:custGeom>
              <a:rect b="b" l="l" r="r" t="t"/>
              <a:pathLst>
                <a:path extrusionOk="0" h="2912779" w="21640800">
                  <a:moveTo>
                    <a:pt x="0" y="0"/>
                  </a:moveTo>
                  <a:lnTo>
                    <a:pt x="21640800" y="0"/>
                  </a:lnTo>
                  <a:lnTo>
                    <a:pt x="21640800" y="2912779"/>
                  </a:lnTo>
                  <a:lnTo>
                    <a:pt x="0" y="2912779"/>
                  </a:lnTo>
                  <a:close/>
                </a:path>
              </a:pathLst>
            </a:custGeom>
            <a:solidFill>
              <a:srgbClr val="000000">
                <a:alpha val="0"/>
              </a:srgbClr>
            </a:solidFill>
            <a:ln>
              <a:noFill/>
            </a:ln>
          </p:spPr>
        </p:sp>
        <p:sp>
          <p:nvSpPr>
            <p:cNvPr id="480" name="Google Shape;480;p20"/>
            <p:cNvSpPr txBox="1"/>
            <p:nvPr/>
          </p:nvSpPr>
          <p:spPr>
            <a:xfrm>
              <a:off x="0" y="-238125"/>
              <a:ext cx="21640800" cy="31509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None/>
              </a:pPr>
              <a:r>
                <a:rPr b="0" i="0" lang="en-US" sz="5198" u="none" cap="none" strike="noStrike">
                  <a:solidFill>
                    <a:srgbClr val="131416"/>
                  </a:solidFill>
                  <a:latin typeface="Open Sans"/>
                  <a:ea typeface="Open Sans"/>
                  <a:cs typeface="Open Sans"/>
                  <a:sym typeface="Open Sans"/>
                </a:rPr>
                <a:t>"La energía y la persistencia conquistan todas las cosas." — Benjamin Franklin</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84" name="Shape 484"/>
        <p:cNvGrpSpPr/>
        <p:nvPr/>
      </p:nvGrpSpPr>
      <p:grpSpPr>
        <a:xfrm>
          <a:off x="0" y="0"/>
          <a:ext cx="0" cy="0"/>
          <a:chOff x="0" y="0"/>
          <a:chExt cx="0" cy="0"/>
        </a:xfrm>
      </p:grpSpPr>
      <p:sp>
        <p:nvSpPr>
          <p:cNvPr id="485" name="Google Shape;485;p2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486" name="Google Shape;486;p21"/>
          <p:cNvGrpSpPr/>
          <p:nvPr/>
        </p:nvGrpSpPr>
        <p:grpSpPr>
          <a:xfrm>
            <a:off x="414625" y="196812"/>
            <a:ext cx="17458749" cy="9459392"/>
            <a:chOff x="0" y="-114300"/>
            <a:chExt cx="4598189" cy="2491363"/>
          </a:xfrm>
        </p:grpSpPr>
        <p:sp>
          <p:nvSpPr>
            <p:cNvPr id="487" name="Google Shape;487;p2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488" name="Google Shape;488;p2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9" name="Google Shape;489;p21"/>
          <p:cNvGrpSpPr/>
          <p:nvPr/>
        </p:nvGrpSpPr>
        <p:grpSpPr>
          <a:xfrm>
            <a:off x="1028700" y="871538"/>
            <a:ext cx="16230602" cy="1256147"/>
            <a:chOff x="0" y="-209550"/>
            <a:chExt cx="21640802" cy="1674862"/>
          </a:xfrm>
        </p:grpSpPr>
        <p:sp>
          <p:nvSpPr>
            <p:cNvPr id="490" name="Google Shape;490;p2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sp>
        <p:sp>
          <p:nvSpPr>
            <p:cNvPr id="491" name="Google Shape;491;p2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REFERENCIAS </a:t>
              </a:r>
              <a:endParaRPr/>
            </a:p>
          </p:txBody>
        </p:sp>
      </p:grpSp>
      <p:grpSp>
        <p:nvGrpSpPr>
          <p:cNvPr id="492" name="Google Shape;492;p21"/>
          <p:cNvGrpSpPr/>
          <p:nvPr/>
        </p:nvGrpSpPr>
        <p:grpSpPr>
          <a:xfrm>
            <a:off x="1028700" y="2020528"/>
            <a:ext cx="16230600" cy="5501870"/>
            <a:chOff x="0" y="-142875"/>
            <a:chExt cx="21640800" cy="7335827"/>
          </a:xfrm>
        </p:grpSpPr>
        <p:sp>
          <p:nvSpPr>
            <p:cNvPr id="493" name="Google Shape;493;p21"/>
            <p:cNvSpPr/>
            <p:nvPr/>
          </p:nvSpPr>
          <p:spPr>
            <a:xfrm>
              <a:off x="0" y="0"/>
              <a:ext cx="21640800" cy="7192952"/>
            </a:xfrm>
            <a:custGeom>
              <a:rect b="b" l="l" r="r" t="t"/>
              <a:pathLst>
                <a:path extrusionOk="0" h="7192952" w="21640800">
                  <a:moveTo>
                    <a:pt x="0" y="0"/>
                  </a:moveTo>
                  <a:lnTo>
                    <a:pt x="21640800" y="0"/>
                  </a:lnTo>
                  <a:lnTo>
                    <a:pt x="21640800" y="7192952"/>
                  </a:lnTo>
                  <a:lnTo>
                    <a:pt x="0" y="7192952"/>
                  </a:lnTo>
                  <a:close/>
                </a:path>
              </a:pathLst>
            </a:custGeom>
            <a:solidFill>
              <a:srgbClr val="000000">
                <a:alpha val="0"/>
              </a:srgbClr>
            </a:solidFill>
            <a:ln>
              <a:noFill/>
            </a:ln>
          </p:spPr>
        </p:sp>
        <p:sp>
          <p:nvSpPr>
            <p:cNvPr id="494" name="Google Shape;494;p21"/>
            <p:cNvSpPr txBox="1"/>
            <p:nvPr/>
          </p:nvSpPr>
          <p:spPr>
            <a:xfrm>
              <a:off x="0" y="-142875"/>
              <a:ext cx="21640800" cy="73358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Qué es Frontend y Backend: principal diferencia y ejemplos. (2018, febrero 21). https://platzi.com; Platzi. </a:t>
              </a:r>
              <a:r>
                <a:rPr b="0" i="0" lang="en-US" sz="3200" u="sng" cap="none" strike="noStrike">
                  <a:solidFill>
                    <a:srgbClr val="131416"/>
                  </a:solidFill>
                  <a:latin typeface="Open Sans"/>
                  <a:ea typeface="Open Sans"/>
                  <a:cs typeface="Open Sans"/>
                  <a:sym typeface="Open Sans"/>
                  <a:hlinkClick r:id="rId4">
                    <a:extLst>
                      <a:ext uri="{A12FA001-AC4F-418D-AE19-62706E023703}">
                        <ahyp:hlinkClr val="tx"/>
                      </a:ext>
                    </a:extLst>
                  </a:hlinkClick>
                </a:rPr>
                <a:t>https://platzi.com/blog/que-es-frontend-y-backend/</a:t>
              </a:r>
              <a:endParaRPr/>
            </a:p>
            <a:p>
              <a:pPr indent="0" lvl="0" marL="0" marR="0" rtl="0" algn="just">
                <a:lnSpc>
                  <a:spcPct val="168000"/>
                </a:lnSpc>
                <a:spcBef>
                  <a:spcPts val="0"/>
                </a:spcBef>
                <a:spcAft>
                  <a:spcPts val="0"/>
                </a:spcAft>
                <a:buNone/>
              </a:pPr>
              <a:r>
                <a:t/>
              </a:r>
              <a:endParaRPr b="0" i="0" sz="3200" u="sng" cap="none" strike="noStrike">
                <a:solidFill>
                  <a:srgbClr val="131416"/>
                </a:solidFill>
                <a:latin typeface="Open Sans"/>
                <a:ea typeface="Open Sans"/>
                <a:cs typeface="Open Sans"/>
                <a:sym typeface="Open Sans"/>
                <a:hlinkClick r:id="rId5">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Lucena, P. (2023, mayo 6). ¿Qué es el framework? Maestrías y MBA. </a:t>
              </a:r>
              <a:r>
                <a:rPr b="0" i="0" lang="en-US" sz="3200" u="sng" cap="none" strike="noStrike">
                  <a:solidFill>
                    <a:srgbClr val="131416"/>
                  </a:solidFill>
                  <a:latin typeface="Open Sans"/>
                  <a:ea typeface="Open Sans"/>
                  <a:cs typeface="Open Sans"/>
                  <a:sym typeface="Open Sans"/>
                  <a:hlinkClick r:id="rId6">
                    <a:extLst>
                      <a:ext uri="{A12FA001-AC4F-418D-AE19-62706E023703}">
                        <ahyp:hlinkClr val="tx"/>
                      </a:ext>
                    </a:extLst>
                  </a:hlinkClick>
                </a:rPr>
                <a:t>https://www.cesuma.mx/blog/que-es-el-framework.html</a:t>
              </a:r>
              <a:endParaRPr/>
            </a:p>
            <a:p>
              <a:pPr indent="0" lvl="0" marL="0" marR="0" rtl="0" algn="just">
                <a:lnSpc>
                  <a:spcPct val="168000"/>
                </a:lnSpc>
                <a:spcBef>
                  <a:spcPts val="0"/>
                </a:spcBef>
                <a:spcAft>
                  <a:spcPts val="0"/>
                </a:spcAft>
                <a:buNone/>
              </a:pPr>
              <a:r>
                <a:t/>
              </a:r>
              <a:endParaRPr b="0" i="0" sz="3200" u="sng" cap="none" strike="noStrike">
                <a:solidFill>
                  <a:srgbClr val="131416"/>
                </a:solidFill>
                <a:latin typeface="Open Sans"/>
                <a:ea typeface="Open Sans"/>
                <a:cs typeface="Open Sans"/>
                <a:sym typeface="Open Sans"/>
                <a:hlinkClick r:id="rId7">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Muñoz, J. D. (2017, noviembre 17). Qué es Flask y ventajas que ofrece. Openwebinars.net. </a:t>
              </a:r>
              <a:r>
                <a:rPr b="0" i="0" lang="en-US" sz="3200" u="sng" cap="none" strike="noStrike">
                  <a:solidFill>
                    <a:srgbClr val="131416"/>
                  </a:solidFill>
                  <a:latin typeface="Open Sans"/>
                  <a:ea typeface="Open Sans"/>
                  <a:cs typeface="Open Sans"/>
                  <a:sym typeface="Open Sans"/>
                  <a:hlinkClick r:id="rId8">
                    <a:extLst>
                      <a:ext uri="{A12FA001-AC4F-418D-AE19-62706E023703}">
                        <ahyp:hlinkClr val="tx"/>
                      </a:ext>
                    </a:extLst>
                  </a:hlinkClick>
                </a:rPr>
                <a:t>https://openwebinars.net/blog/que-es-flask/</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98" name="Shape 498"/>
        <p:cNvGrpSpPr/>
        <p:nvPr/>
      </p:nvGrpSpPr>
      <p:grpSpPr>
        <a:xfrm>
          <a:off x="0" y="0"/>
          <a:ext cx="0" cy="0"/>
          <a:chOff x="0" y="0"/>
          <a:chExt cx="0" cy="0"/>
        </a:xfrm>
      </p:grpSpPr>
      <p:sp>
        <p:nvSpPr>
          <p:cNvPr id="499" name="Google Shape;499;p2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sp>
      <p:grpSp>
        <p:nvGrpSpPr>
          <p:cNvPr id="500" name="Google Shape;500;p22"/>
          <p:cNvGrpSpPr/>
          <p:nvPr/>
        </p:nvGrpSpPr>
        <p:grpSpPr>
          <a:xfrm>
            <a:off x="414625" y="196812"/>
            <a:ext cx="17458749" cy="9459392"/>
            <a:chOff x="0" y="-114300"/>
            <a:chExt cx="4598189" cy="2491363"/>
          </a:xfrm>
        </p:grpSpPr>
        <p:sp>
          <p:nvSpPr>
            <p:cNvPr id="501" name="Google Shape;501;p2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sp>
        <p:sp>
          <p:nvSpPr>
            <p:cNvPr id="502" name="Google Shape;502;p2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p22"/>
          <p:cNvGrpSpPr/>
          <p:nvPr/>
        </p:nvGrpSpPr>
        <p:grpSpPr>
          <a:xfrm>
            <a:off x="4814550" y="3274804"/>
            <a:ext cx="8658900" cy="2029500"/>
            <a:chOff x="0" y="-152400"/>
            <a:chExt cx="11545200" cy="2706000"/>
          </a:xfrm>
        </p:grpSpPr>
        <p:sp>
          <p:nvSpPr>
            <p:cNvPr id="504" name="Google Shape;504;p22"/>
            <p:cNvSpPr/>
            <p:nvPr/>
          </p:nvSpPr>
          <p:spPr>
            <a:xfrm>
              <a:off x="0" y="0"/>
              <a:ext cx="11545200" cy="2553600"/>
            </a:xfrm>
            <a:custGeom>
              <a:rect b="b" l="l" r="r" t="t"/>
              <a:pathLst>
                <a:path extrusionOk="0" h="2553600" w="11545200">
                  <a:moveTo>
                    <a:pt x="0" y="0"/>
                  </a:moveTo>
                  <a:lnTo>
                    <a:pt x="11545200" y="0"/>
                  </a:lnTo>
                  <a:lnTo>
                    <a:pt x="11545200" y="2553600"/>
                  </a:lnTo>
                  <a:lnTo>
                    <a:pt x="0" y="2553600"/>
                  </a:lnTo>
                  <a:close/>
                </a:path>
              </a:pathLst>
            </a:custGeom>
            <a:solidFill>
              <a:srgbClr val="000000">
                <a:alpha val="0"/>
              </a:srgbClr>
            </a:solidFill>
            <a:ln>
              <a:noFill/>
            </a:ln>
          </p:spPr>
        </p:sp>
        <p:sp>
          <p:nvSpPr>
            <p:cNvPr id="505" name="Google Shape;505;p22"/>
            <p:cNvSpPr txBox="1"/>
            <p:nvPr/>
          </p:nvSpPr>
          <p:spPr>
            <a:xfrm>
              <a:off x="0" y="-152400"/>
              <a:ext cx="11545200" cy="2706000"/>
            </a:xfrm>
            <a:prstGeom prst="rect">
              <a:avLst/>
            </a:prstGeom>
            <a:noFill/>
            <a:ln>
              <a:noFill/>
            </a:ln>
          </p:spPr>
          <p:txBody>
            <a:bodyPr anchorCtr="0" anchor="t" bIns="0" lIns="0" spcFirstLastPara="1" rIns="0" wrap="square" tIns="0">
              <a:noAutofit/>
            </a:bodyPr>
            <a:lstStyle/>
            <a:p>
              <a:pPr indent="0" lvl="0" marL="0" marR="0" rtl="0" algn="just">
                <a:lnSpc>
                  <a:spcPct val="124811"/>
                </a:lnSpc>
                <a:spcBef>
                  <a:spcPts val="0"/>
                </a:spcBef>
                <a:spcAft>
                  <a:spcPts val="0"/>
                </a:spcAft>
                <a:buNone/>
              </a:pPr>
              <a:r>
                <a:rPr b="0" i="0" lang="en-US" sz="6098" u="none" cap="none" strike="noStrike">
                  <a:solidFill>
                    <a:srgbClr val="131416"/>
                  </a:solidFill>
                  <a:latin typeface="Impact"/>
                  <a:ea typeface="Impact"/>
                  <a:cs typeface="Impact"/>
                  <a:sym typeface="Impact"/>
                </a:rPr>
                <a:t>¡GRACIAS POR SU ATENCIÓN!</a:t>
              </a:r>
              <a:endParaRPr/>
            </a:p>
            <a:p>
              <a:pPr indent="0" lvl="0" marL="0" marR="0" rtl="0" algn="just">
                <a:lnSpc>
                  <a:spcPct val="28648"/>
                </a:lnSpc>
                <a:spcBef>
                  <a:spcPts val="0"/>
                </a:spcBef>
                <a:spcAft>
                  <a:spcPts val="0"/>
                </a:spcAft>
                <a:buNone/>
              </a:pPr>
              <a:r>
                <a:t/>
              </a:r>
              <a:endParaRPr b="0" i="0" sz="6098" u="none" cap="none" strike="noStrike">
                <a:solidFill>
                  <a:srgbClr val="131416"/>
                </a:solidFill>
                <a:latin typeface="Impact"/>
                <a:ea typeface="Impact"/>
                <a:cs typeface="Impact"/>
                <a:sym typeface="Impact"/>
              </a:endParaRPr>
            </a:p>
          </p:txBody>
        </p:sp>
      </p:grpSp>
      <p:grpSp>
        <p:nvGrpSpPr>
          <p:cNvPr id="506" name="Google Shape;506;p22"/>
          <p:cNvGrpSpPr/>
          <p:nvPr/>
        </p:nvGrpSpPr>
        <p:grpSpPr>
          <a:xfrm>
            <a:off x="5414714" y="5679497"/>
            <a:ext cx="6704991" cy="1177131"/>
            <a:chOff x="0" y="-371475"/>
            <a:chExt cx="8939988" cy="1569508"/>
          </a:xfrm>
        </p:grpSpPr>
        <p:sp>
          <p:nvSpPr>
            <p:cNvPr id="507" name="Google Shape;507;p22"/>
            <p:cNvSpPr/>
            <p:nvPr/>
          </p:nvSpPr>
          <p:spPr>
            <a:xfrm>
              <a:off x="0" y="0"/>
              <a:ext cx="8939988" cy="1198033"/>
            </a:xfrm>
            <a:custGeom>
              <a:rect b="b" l="l" r="r" t="t"/>
              <a:pathLst>
                <a:path extrusionOk="0" h="1198033" w="8939988">
                  <a:moveTo>
                    <a:pt x="0" y="0"/>
                  </a:moveTo>
                  <a:lnTo>
                    <a:pt x="8939988" y="0"/>
                  </a:lnTo>
                  <a:lnTo>
                    <a:pt x="8939988" y="1198033"/>
                  </a:lnTo>
                  <a:lnTo>
                    <a:pt x="0" y="1198033"/>
                  </a:lnTo>
                  <a:close/>
                </a:path>
              </a:pathLst>
            </a:custGeom>
            <a:solidFill>
              <a:srgbClr val="000000">
                <a:alpha val="0"/>
              </a:srgbClr>
            </a:solidFill>
            <a:ln>
              <a:noFill/>
            </a:ln>
          </p:spPr>
        </p:sp>
        <p:sp>
          <p:nvSpPr>
            <p:cNvPr id="508" name="Google Shape;508;p22"/>
            <p:cNvSpPr txBox="1"/>
            <p:nvPr/>
          </p:nvSpPr>
          <p:spPr>
            <a:xfrm>
              <a:off x="0" y="-371475"/>
              <a:ext cx="8939988" cy="1569508"/>
            </a:xfrm>
            <a:prstGeom prst="rect">
              <a:avLst/>
            </a:prstGeom>
            <a:noFill/>
            <a:ln>
              <a:noFill/>
            </a:ln>
          </p:spPr>
          <p:txBody>
            <a:bodyPr anchorCtr="0" anchor="t" bIns="0" lIns="0" spcFirstLastPara="1" rIns="0" wrap="square" tIns="0">
              <a:noAutofit/>
            </a:bodyPr>
            <a:lstStyle/>
            <a:p>
              <a:pPr indent="0" lvl="0" marL="0" marR="0" rtl="0" algn="ctr">
                <a:lnSpc>
                  <a:spcPct val="177615"/>
                </a:lnSpc>
                <a:spcBef>
                  <a:spcPts val="0"/>
                </a:spcBef>
                <a:spcAft>
                  <a:spcPts val="0"/>
                </a:spcAft>
                <a:buNone/>
              </a:pPr>
              <a:r>
                <a:rPr b="0" i="0" lang="en-US" sz="4999" u="none" cap="none" strike="noStrike">
                  <a:solidFill>
                    <a:srgbClr val="131416"/>
                  </a:solidFill>
                  <a:latin typeface="Arial"/>
                  <a:ea typeface="Arial"/>
                  <a:cs typeface="Arial"/>
                  <a:sym typeface="Arial"/>
                </a:rPr>
                <a:t>DUDAS</a:t>
              </a:r>
              <a:endParaRPr/>
            </a:p>
          </p:txBody>
        </p:sp>
      </p:grpSp>
      <p:sp>
        <p:nvSpPr>
          <p:cNvPr id="509" name="Google Shape;509;p22"/>
          <p:cNvSpPr/>
          <p:nvPr/>
        </p:nvSpPr>
        <p:spPr>
          <a:xfrm>
            <a:off x="13963751" y="1028700"/>
            <a:ext cx="2757297" cy="3770948"/>
          </a:xfrm>
          <a:custGeom>
            <a:rect b="b" l="l" r="r" t="t"/>
            <a:pathLst>
              <a:path extrusionOk="0" h="5027930" w="3676396">
                <a:moveTo>
                  <a:pt x="0" y="0"/>
                </a:moveTo>
                <a:lnTo>
                  <a:pt x="3676396" y="0"/>
                </a:lnTo>
                <a:lnTo>
                  <a:pt x="3676396" y="5027930"/>
                </a:lnTo>
                <a:lnTo>
                  <a:pt x="0" y="5027930"/>
                </a:lnTo>
                <a:lnTo>
                  <a:pt x="0" y="0"/>
                </a:lnTo>
                <a:close/>
              </a:path>
            </a:pathLst>
          </a:custGeom>
          <a:blipFill rotWithShape="1">
            <a:blip r:embed="rId4">
              <a:alphaModFix/>
            </a:blip>
            <a:stretch>
              <a:fillRect b="0" l="-6" r="-5" t="0"/>
            </a:stretch>
          </a:blipFill>
          <a:ln>
            <a:noFill/>
          </a:ln>
        </p:spPr>
      </p:sp>
      <p:grpSp>
        <p:nvGrpSpPr>
          <p:cNvPr id="510" name="Google Shape;510;p22"/>
          <p:cNvGrpSpPr/>
          <p:nvPr/>
        </p:nvGrpSpPr>
        <p:grpSpPr>
          <a:xfrm>
            <a:off x="2411098" y="7785435"/>
            <a:ext cx="13465804" cy="833755"/>
            <a:chOff x="0" y="-152400"/>
            <a:chExt cx="17954405" cy="1111673"/>
          </a:xfrm>
        </p:grpSpPr>
        <p:sp>
          <p:nvSpPr>
            <p:cNvPr id="511" name="Google Shape;511;p22"/>
            <p:cNvSpPr/>
            <p:nvPr/>
          </p:nvSpPr>
          <p:spPr>
            <a:xfrm>
              <a:off x="0" y="0"/>
              <a:ext cx="17954405" cy="959273"/>
            </a:xfrm>
            <a:custGeom>
              <a:rect b="b" l="l" r="r" t="t"/>
              <a:pathLst>
                <a:path extrusionOk="0" h="959273" w="17954405">
                  <a:moveTo>
                    <a:pt x="0" y="0"/>
                  </a:moveTo>
                  <a:lnTo>
                    <a:pt x="17954405" y="0"/>
                  </a:lnTo>
                  <a:lnTo>
                    <a:pt x="17954405" y="959273"/>
                  </a:lnTo>
                  <a:lnTo>
                    <a:pt x="0" y="959273"/>
                  </a:lnTo>
                  <a:close/>
                </a:path>
              </a:pathLst>
            </a:custGeom>
            <a:solidFill>
              <a:srgbClr val="000000">
                <a:alpha val="0"/>
              </a:srgbClr>
            </a:solidFill>
            <a:ln>
              <a:noFill/>
            </a:ln>
          </p:spPr>
        </p:sp>
        <p:sp>
          <p:nvSpPr>
            <p:cNvPr id="512" name="Google Shape;512;p22"/>
            <p:cNvSpPr txBox="1"/>
            <p:nvPr/>
          </p:nvSpPr>
          <p:spPr>
            <a:xfrm>
              <a:off x="0" y="-152400"/>
              <a:ext cx="17954405" cy="1111673"/>
            </a:xfrm>
            <a:prstGeom prst="rect">
              <a:avLst/>
            </a:prstGeom>
            <a:noFill/>
            <a:ln>
              <a:noFill/>
            </a:ln>
          </p:spPr>
          <p:txBody>
            <a:bodyPr anchorCtr="0" anchor="t" bIns="0" lIns="0" spcFirstLastPara="1" rIns="0" wrap="square" tIns="0">
              <a:noAutofit/>
            </a:bodyPr>
            <a:lstStyle/>
            <a:p>
              <a:pPr indent="0" lvl="0" marL="0" marR="0" rtl="0" algn="ctr">
                <a:lnSpc>
                  <a:spcPct val="1776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