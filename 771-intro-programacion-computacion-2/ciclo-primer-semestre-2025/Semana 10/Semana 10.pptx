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10287000" cx="18288000"/>
  <p:notesSz cx="6858000" cy="9144000"/>
  <p:embeddedFontLst>
    <p:embeddedFont>
      <p:font typeface="Roboto"/>
      <p:regular r:id="rId50"/>
      <p:bold r:id="rId51"/>
      <p:italic r:id="rId52"/>
      <p:boldItalic r:id="rId53"/>
    </p:embeddedFont>
    <p:embeddedFont>
      <p:font typeface="Lobster"/>
      <p:regular r:id="rId54"/>
    </p:embeddedFont>
    <p:embeddedFont>
      <p:font typeface="Pacifico"/>
      <p:regular r:id="rId55"/>
    </p:embeddedFont>
    <p:embeddedFont>
      <p:font typeface="Open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1152">
          <p15:clr>
            <a:srgbClr val="A4A3A4"/>
          </p15:clr>
        </p15:guide>
      </p15:sldGuideLst>
    </p:ext>
    <p:ext uri="GoogleSlidesCustomDataVersion2">
      <go:slidesCustomData xmlns:go="http://customooxmlschemas.google.com/" r:id="rId60" roundtripDataSignature="AMtx7mi3eK8D6AnRYGO15829N5ifSFhj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115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55" Type="http://schemas.openxmlformats.org/officeDocument/2006/relationships/font" Target="fonts/Pacifico-regular.fntdata"/><Relationship Id="rId10" Type="http://schemas.openxmlformats.org/officeDocument/2006/relationships/slide" Target="slides/slide5.xml"/><Relationship Id="rId54" Type="http://schemas.openxmlformats.org/officeDocument/2006/relationships/font" Target="fonts/Lobster-regular.fntdata"/><Relationship Id="rId13" Type="http://schemas.openxmlformats.org/officeDocument/2006/relationships/slide" Target="slides/slide8.xml"/><Relationship Id="rId57" Type="http://schemas.openxmlformats.org/officeDocument/2006/relationships/font" Target="fonts/OpenSans-bold.fntdata"/><Relationship Id="rId12" Type="http://schemas.openxmlformats.org/officeDocument/2006/relationships/slide" Target="slides/slide7.xml"/><Relationship Id="rId56" Type="http://schemas.openxmlformats.org/officeDocument/2006/relationships/font" Target="fonts/OpenSans-regular.fntdata"/><Relationship Id="rId15" Type="http://schemas.openxmlformats.org/officeDocument/2006/relationships/slide" Target="slides/slide10.xml"/><Relationship Id="rId59" Type="http://schemas.openxmlformats.org/officeDocument/2006/relationships/font" Target="fonts/OpenSans-boldItalic.fntdata"/><Relationship Id="rId14" Type="http://schemas.openxmlformats.org/officeDocument/2006/relationships/slide" Target="slides/slide9.xml"/><Relationship Id="rId58" Type="http://schemas.openxmlformats.org/officeDocument/2006/relationships/font" Target="fonts/OpenSans-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 name="Google Shape;6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d06ac7a4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5d06ac7a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5d06ac7a4a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5d06ac7a4a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5d06ac7a4a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g35d06ac7a4a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9" name="Google Shape;45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5" name="Google Shape;465;p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0" name="Google Shape;470;p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43"/>
          <p:cNvSpPr txBox="1"/>
          <p:nvPr>
            <p:ph type="title"/>
          </p:nvPr>
        </p:nvSpPr>
        <p:spPr>
          <a:xfrm>
            <a:off x="921900" y="4130700"/>
            <a:ext cx="16444200" cy="20256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8400"/>
              <a:buNone/>
              <a:defRPr sz="8400"/>
            </a:lvl1pPr>
            <a:lvl2pPr lvl="1" algn="l">
              <a:lnSpc>
                <a:spcPct val="100000"/>
              </a:lnSpc>
              <a:spcBef>
                <a:spcPts val="0"/>
              </a:spcBef>
              <a:spcAft>
                <a:spcPts val="0"/>
              </a:spcAft>
              <a:buSzPts val="8400"/>
              <a:buNone/>
              <a:defRPr sz="8400"/>
            </a:lvl2pPr>
            <a:lvl3pPr lvl="2" algn="l">
              <a:lnSpc>
                <a:spcPct val="100000"/>
              </a:lnSpc>
              <a:spcBef>
                <a:spcPts val="0"/>
              </a:spcBef>
              <a:spcAft>
                <a:spcPts val="0"/>
              </a:spcAft>
              <a:buSzPts val="8400"/>
              <a:buNone/>
              <a:defRPr sz="8400"/>
            </a:lvl3pPr>
            <a:lvl4pPr lvl="3" algn="l">
              <a:lnSpc>
                <a:spcPct val="100000"/>
              </a:lnSpc>
              <a:spcBef>
                <a:spcPts val="0"/>
              </a:spcBef>
              <a:spcAft>
                <a:spcPts val="0"/>
              </a:spcAft>
              <a:buSzPts val="8400"/>
              <a:buNone/>
              <a:defRPr sz="8400"/>
            </a:lvl4pPr>
            <a:lvl5pPr lvl="4" algn="l">
              <a:lnSpc>
                <a:spcPct val="100000"/>
              </a:lnSpc>
              <a:spcBef>
                <a:spcPts val="0"/>
              </a:spcBef>
              <a:spcAft>
                <a:spcPts val="0"/>
              </a:spcAft>
              <a:buSzPts val="8400"/>
              <a:buNone/>
              <a:defRPr sz="8400"/>
            </a:lvl5pPr>
            <a:lvl6pPr lvl="5" algn="l">
              <a:lnSpc>
                <a:spcPct val="100000"/>
              </a:lnSpc>
              <a:spcBef>
                <a:spcPts val="0"/>
              </a:spcBef>
              <a:spcAft>
                <a:spcPts val="0"/>
              </a:spcAft>
              <a:buSzPts val="8400"/>
              <a:buNone/>
              <a:defRPr sz="8400"/>
            </a:lvl6pPr>
            <a:lvl7pPr lvl="6" algn="l">
              <a:lnSpc>
                <a:spcPct val="100000"/>
              </a:lnSpc>
              <a:spcBef>
                <a:spcPts val="0"/>
              </a:spcBef>
              <a:spcAft>
                <a:spcPts val="0"/>
              </a:spcAft>
              <a:buSzPts val="8400"/>
              <a:buNone/>
              <a:defRPr sz="8400"/>
            </a:lvl7pPr>
            <a:lvl8pPr lvl="7" algn="l">
              <a:lnSpc>
                <a:spcPct val="100000"/>
              </a:lnSpc>
              <a:spcBef>
                <a:spcPts val="0"/>
              </a:spcBef>
              <a:spcAft>
                <a:spcPts val="0"/>
              </a:spcAft>
              <a:buSzPts val="8400"/>
              <a:buNone/>
              <a:defRPr sz="8400"/>
            </a:lvl8pPr>
            <a:lvl9pPr lvl="8" algn="l">
              <a:lnSpc>
                <a:spcPct val="100000"/>
              </a:lnSpc>
              <a:spcBef>
                <a:spcPts val="0"/>
              </a:spcBef>
              <a:spcAft>
                <a:spcPts val="0"/>
              </a:spcAft>
              <a:buSzPts val="8400"/>
              <a:buNone/>
              <a:defRPr sz="8400"/>
            </a:lvl9pPr>
          </a:lstStyle>
          <a:p/>
        </p:txBody>
      </p:sp>
      <p:sp>
        <p:nvSpPr>
          <p:cNvPr id="11" name="Google Shape;11;p43"/>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 name="Shape 12"/>
        <p:cNvGrpSpPr/>
        <p:nvPr/>
      </p:nvGrpSpPr>
      <p:grpSpPr>
        <a:xfrm>
          <a:off x="0" y="0"/>
          <a:ext cx="0" cy="0"/>
          <a:chOff x="0" y="0"/>
          <a:chExt cx="0" cy="0"/>
        </a:xfrm>
      </p:grpSpPr>
      <p:sp>
        <p:nvSpPr>
          <p:cNvPr id="13" name="Google Shape;13;p44"/>
          <p:cNvSpPr/>
          <p:nvPr/>
        </p:nvSpPr>
        <p:spPr>
          <a:xfrm flipH="1" rot="10800000">
            <a:off x="0" y="3372000"/>
            <a:ext cx="18288000" cy="6915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4"/>
          <p:cNvSpPr/>
          <p:nvPr/>
        </p:nvSpPr>
        <p:spPr>
          <a:xfrm>
            <a:off x="0" y="3372000"/>
            <a:ext cx="18288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4"/>
          <p:cNvSpPr txBox="1"/>
          <p:nvPr>
            <p:ph type="title"/>
          </p:nvPr>
        </p:nvSpPr>
        <p:spPr>
          <a:xfrm>
            <a:off x="943800" y="1477450"/>
            <a:ext cx="16444200" cy="15354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6400"/>
              <a:buNone/>
              <a:defRPr/>
            </a:lvl1pPr>
            <a:lvl2pPr lvl="1" algn="l">
              <a:lnSpc>
                <a:spcPct val="100000"/>
              </a:lnSpc>
              <a:spcBef>
                <a:spcPts val="0"/>
              </a:spcBef>
              <a:spcAft>
                <a:spcPts val="0"/>
              </a:spcAft>
              <a:buSzPts val="6400"/>
              <a:buNone/>
              <a:defRPr/>
            </a:lvl2pPr>
            <a:lvl3pPr lvl="2" algn="l">
              <a:lnSpc>
                <a:spcPct val="100000"/>
              </a:lnSpc>
              <a:spcBef>
                <a:spcPts val="0"/>
              </a:spcBef>
              <a:spcAft>
                <a:spcPts val="0"/>
              </a:spcAft>
              <a:buSzPts val="6400"/>
              <a:buNone/>
              <a:defRPr/>
            </a:lvl3pPr>
            <a:lvl4pPr lvl="3" algn="l">
              <a:lnSpc>
                <a:spcPct val="100000"/>
              </a:lnSpc>
              <a:spcBef>
                <a:spcPts val="0"/>
              </a:spcBef>
              <a:spcAft>
                <a:spcPts val="0"/>
              </a:spcAft>
              <a:buSzPts val="6400"/>
              <a:buNone/>
              <a:defRPr/>
            </a:lvl4pPr>
            <a:lvl5pPr lvl="4" algn="l">
              <a:lnSpc>
                <a:spcPct val="100000"/>
              </a:lnSpc>
              <a:spcBef>
                <a:spcPts val="0"/>
              </a:spcBef>
              <a:spcAft>
                <a:spcPts val="0"/>
              </a:spcAft>
              <a:buSzPts val="6400"/>
              <a:buNone/>
              <a:defRPr/>
            </a:lvl5pPr>
            <a:lvl6pPr lvl="5" algn="l">
              <a:lnSpc>
                <a:spcPct val="100000"/>
              </a:lnSpc>
              <a:spcBef>
                <a:spcPts val="0"/>
              </a:spcBef>
              <a:spcAft>
                <a:spcPts val="0"/>
              </a:spcAft>
              <a:buSzPts val="6400"/>
              <a:buNone/>
              <a:defRPr/>
            </a:lvl6pPr>
            <a:lvl7pPr lvl="6" algn="l">
              <a:lnSpc>
                <a:spcPct val="100000"/>
              </a:lnSpc>
              <a:spcBef>
                <a:spcPts val="0"/>
              </a:spcBef>
              <a:spcAft>
                <a:spcPts val="0"/>
              </a:spcAft>
              <a:buSzPts val="6400"/>
              <a:buNone/>
              <a:defRPr/>
            </a:lvl7pPr>
            <a:lvl8pPr lvl="7" algn="l">
              <a:lnSpc>
                <a:spcPct val="100000"/>
              </a:lnSpc>
              <a:spcBef>
                <a:spcPts val="0"/>
              </a:spcBef>
              <a:spcAft>
                <a:spcPts val="0"/>
              </a:spcAft>
              <a:buSzPts val="6400"/>
              <a:buNone/>
              <a:defRPr/>
            </a:lvl8pPr>
            <a:lvl9pPr lvl="8" algn="l">
              <a:lnSpc>
                <a:spcPct val="100000"/>
              </a:lnSpc>
              <a:spcBef>
                <a:spcPts val="0"/>
              </a:spcBef>
              <a:spcAft>
                <a:spcPts val="0"/>
              </a:spcAft>
              <a:buSzPts val="6400"/>
              <a:buNone/>
              <a:defRPr/>
            </a:lvl9pPr>
          </a:lstStyle>
          <a:p/>
        </p:txBody>
      </p:sp>
      <p:sp>
        <p:nvSpPr>
          <p:cNvPr id="16" name="Google Shape;16;p44"/>
          <p:cNvSpPr txBox="1"/>
          <p:nvPr>
            <p:ph idx="1" type="body"/>
          </p:nvPr>
        </p:nvSpPr>
        <p:spPr>
          <a:xfrm>
            <a:off x="943800" y="3838151"/>
            <a:ext cx="7999800" cy="5420400"/>
          </a:xfrm>
          <a:prstGeom prst="rect">
            <a:avLst/>
          </a:prstGeom>
          <a:noFill/>
          <a:ln>
            <a:noFill/>
          </a:ln>
        </p:spPr>
        <p:txBody>
          <a:bodyPr anchorCtr="0" anchor="t" bIns="182850" lIns="182850" spcFirstLastPara="1" rIns="182850" wrap="square" tIns="182850">
            <a:norm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0"/>
              </a:spcBef>
              <a:spcAft>
                <a:spcPts val="0"/>
              </a:spcAft>
              <a:buSzPts val="2400"/>
              <a:buChar char="○"/>
              <a:defRPr sz="2400"/>
            </a:lvl2pPr>
            <a:lvl3pPr indent="-381000" lvl="2" marL="1371600" algn="l">
              <a:lnSpc>
                <a:spcPct val="115000"/>
              </a:lnSpc>
              <a:spcBef>
                <a:spcPts val="0"/>
              </a:spcBef>
              <a:spcAft>
                <a:spcPts val="0"/>
              </a:spcAft>
              <a:buSzPts val="2400"/>
              <a:buChar char="■"/>
              <a:defRPr sz="2400"/>
            </a:lvl3pPr>
            <a:lvl4pPr indent="-381000" lvl="3" marL="1828800" algn="l">
              <a:lnSpc>
                <a:spcPct val="115000"/>
              </a:lnSpc>
              <a:spcBef>
                <a:spcPts val="0"/>
              </a:spcBef>
              <a:spcAft>
                <a:spcPts val="0"/>
              </a:spcAft>
              <a:buSzPts val="2400"/>
              <a:buChar char="●"/>
              <a:defRPr sz="2400"/>
            </a:lvl4pPr>
            <a:lvl5pPr indent="-381000" lvl="4" marL="2286000" algn="l">
              <a:lnSpc>
                <a:spcPct val="115000"/>
              </a:lnSpc>
              <a:spcBef>
                <a:spcPts val="0"/>
              </a:spcBef>
              <a:spcAft>
                <a:spcPts val="0"/>
              </a:spcAft>
              <a:buSzPts val="2400"/>
              <a:buChar char="○"/>
              <a:defRPr sz="2400"/>
            </a:lvl5pPr>
            <a:lvl6pPr indent="-381000" lvl="5" marL="2743200" algn="l">
              <a:lnSpc>
                <a:spcPct val="115000"/>
              </a:lnSpc>
              <a:spcBef>
                <a:spcPts val="0"/>
              </a:spcBef>
              <a:spcAft>
                <a:spcPts val="0"/>
              </a:spcAft>
              <a:buSzPts val="2400"/>
              <a:buChar char="■"/>
              <a:defRPr sz="2400"/>
            </a:lvl6pPr>
            <a:lvl7pPr indent="-381000" lvl="6" marL="3200400" algn="l">
              <a:lnSpc>
                <a:spcPct val="115000"/>
              </a:lnSpc>
              <a:spcBef>
                <a:spcPts val="0"/>
              </a:spcBef>
              <a:spcAft>
                <a:spcPts val="0"/>
              </a:spcAft>
              <a:buSzPts val="2400"/>
              <a:buChar char="●"/>
              <a:defRPr sz="2400"/>
            </a:lvl7pPr>
            <a:lvl8pPr indent="-381000" lvl="7" marL="3657600" algn="l">
              <a:lnSpc>
                <a:spcPct val="115000"/>
              </a:lnSpc>
              <a:spcBef>
                <a:spcPts val="0"/>
              </a:spcBef>
              <a:spcAft>
                <a:spcPts val="0"/>
              </a:spcAft>
              <a:buSzPts val="2400"/>
              <a:buChar char="○"/>
              <a:defRPr sz="2400"/>
            </a:lvl8pPr>
            <a:lvl9pPr indent="-381000" lvl="8" marL="4114800" algn="l">
              <a:lnSpc>
                <a:spcPct val="115000"/>
              </a:lnSpc>
              <a:spcBef>
                <a:spcPts val="0"/>
              </a:spcBef>
              <a:spcAft>
                <a:spcPts val="0"/>
              </a:spcAft>
              <a:buSzPts val="2400"/>
              <a:buChar char="■"/>
              <a:defRPr sz="2400"/>
            </a:lvl9pPr>
          </a:lstStyle>
          <a:p/>
        </p:txBody>
      </p:sp>
      <p:sp>
        <p:nvSpPr>
          <p:cNvPr id="17" name="Google Shape;17;p44"/>
          <p:cNvSpPr txBox="1"/>
          <p:nvPr>
            <p:ph idx="2" type="body"/>
          </p:nvPr>
        </p:nvSpPr>
        <p:spPr>
          <a:xfrm>
            <a:off x="9388500" y="3838151"/>
            <a:ext cx="7999800" cy="5420400"/>
          </a:xfrm>
          <a:prstGeom prst="rect">
            <a:avLst/>
          </a:prstGeom>
          <a:noFill/>
          <a:ln>
            <a:noFill/>
          </a:ln>
        </p:spPr>
        <p:txBody>
          <a:bodyPr anchorCtr="0" anchor="t" bIns="182850" lIns="182850" spcFirstLastPara="1" rIns="182850" wrap="square" tIns="182850">
            <a:norm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0"/>
              </a:spcBef>
              <a:spcAft>
                <a:spcPts val="0"/>
              </a:spcAft>
              <a:buSzPts val="2400"/>
              <a:buChar char="○"/>
              <a:defRPr sz="2400"/>
            </a:lvl2pPr>
            <a:lvl3pPr indent="-381000" lvl="2" marL="1371600" algn="l">
              <a:lnSpc>
                <a:spcPct val="115000"/>
              </a:lnSpc>
              <a:spcBef>
                <a:spcPts val="0"/>
              </a:spcBef>
              <a:spcAft>
                <a:spcPts val="0"/>
              </a:spcAft>
              <a:buSzPts val="2400"/>
              <a:buChar char="■"/>
              <a:defRPr sz="2400"/>
            </a:lvl3pPr>
            <a:lvl4pPr indent="-381000" lvl="3" marL="1828800" algn="l">
              <a:lnSpc>
                <a:spcPct val="115000"/>
              </a:lnSpc>
              <a:spcBef>
                <a:spcPts val="0"/>
              </a:spcBef>
              <a:spcAft>
                <a:spcPts val="0"/>
              </a:spcAft>
              <a:buSzPts val="2400"/>
              <a:buChar char="●"/>
              <a:defRPr sz="2400"/>
            </a:lvl4pPr>
            <a:lvl5pPr indent="-381000" lvl="4" marL="2286000" algn="l">
              <a:lnSpc>
                <a:spcPct val="115000"/>
              </a:lnSpc>
              <a:spcBef>
                <a:spcPts val="0"/>
              </a:spcBef>
              <a:spcAft>
                <a:spcPts val="0"/>
              </a:spcAft>
              <a:buSzPts val="2400"/>
              <a:buChar char="○"/>
              <a:defRPr sz="2400"/>
            </a:lvl5pPr>
            <a:lvl6pPr indent="-381000" lvl="5" marL="2743200" algn="l">
              <a:lnSpc>
                <a:spcPct val="115000"/>
              </a:lnSpc>
              <a:spcBef>
                <a:spcPts val="0"/>
              </a:spcBef>
              <a:spcAft>
                <a:spcPts val="0"/>
              </a:spcAft>
              <a:buSzPts val="2400"/>
              <a:buChar char="■"/>
              <a:defRPr sz="2400"/>
            </a:lvl6pPr>
            <a:lvl7pPr indent="-381000" lvl="6" marL="3200400" algn="l">
              <a:lnSpc>
                <a:spcPct val="115000"/>
              </a:lnSpc>
              <a:spcBef>
                <a:spcPts val="0"/>
              </a:spcBef>
              <a:spcAft>
                <a:spcPts val="0"/>
              </a:spcAft>
              <a:buSzPts val="2400"/>
              <a:buChar char="●"/>
              <a:defRPr sz="2400"/>
            </a:lvl7pPr>
            <a:lvl8pPr indent="-381000" lvl="7" marL="3657600" algn="l">
              <a:lnSpc>
                <a:spcPct val="115000"/>
              </a:lnSpc>
              <a:spcBef>
                <a:spcPts val="0"/>
              </a:spcBef>
              <a:spcAft>
                <a:spcPts val="0"/>
              </a:spcAft>
              <a:buSzPts val="2400"/>
              <a:buChar char="○"/>
              <a:defRPr sz="2400"/>
            </a:lvl8pPr>
            <a:lvl9pPr indent="-381000" lvl="8" marL="4114800" algn="l">
              <a:lnSpc>
                <a:spcPct val="115000"/>
              </a:lnSpc>
              <a:spcBef>
                <a:spcPts val="0"/>
              </a:spcBef>
              <a:spcAft>
                <a:spcPts val="0"/>
              </a:spcAft>
              <a:buSzPts val="2400"/>
              <a:buChar char="■"/>
              <a:defRPr sz="2400"/>
            </a:lvl9pPr>
          </a:lstStyle>
          <a:p/>
        </p:txBody>
      </p:sp>
      <p:sp>
        <p:nvSpPr>
          <p:cNvPr id="18" name="Google Shape;18;p44"/>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 name="Shape 19"/>
        <p:cNvGrpSpPr/>
        <p:nvPr/>
      </p:nvGrpSpPr>
      <p:grpSpPr>
        <a:xfrm>
          <a:off x="0" y="0"/>
          <a:ext cx="0" cy="0"/>
          <a:chOff x="0" y="0"/>
          <a:chExt cx="0" cy="0"/>
        </a:xfrm>
      </p:grpSpPr>
      <p:sp>
        <p:nvSpPr>
          <p:cNvPr id="20" name="Google Shape;20;p45"/>
          <p:cNvSpPr txBox="1"/>
          <p:nvPr/>
        </p:nvSpPr>
        <p:spPr>
          <a:xfrm flipH="1" rot="10800000">
            <a:off x="0" y="0"/>
            <a:ext cx="18288000" cy="93918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5"/>
          <p:cNvSpPr/>
          <p:nvPr/>
        </p:nvSpPr>
        <p:spPr>
          <a:xfrm flipH="1" rot="10800000">
            <a:off x="0" y="9245450"/>
            <a:ext cx="18288000" cy="148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5"/>
          <p:cNvSpPr txBox="1"/>
          <p:nvPr>
            <p:ph idx="1" type="body"/>
          </p:nvPr>
        </p:nvSpPr>
        <p:spPr>
          <a:xfrm>
            <a:off x="114300" y="9393650"/>
            <a:ext cx="16764000" cy="893400"/>
          </a:xfrm>
          <a:prstGeom prst="rect">
            <a:avLst/>
          </a:prstGeom>
          <a:noFill/>
          <a:ln>
            <a:noFill/>
          </a:ln>
        </p:spPr>
        <p:txBody>
          <a:bodyPr anchorCtr="0" anchor="ctr" bIns="182850" lIns="182850" spcFirstLastPara="1" rIns="182850" wrap="square" tIns="182850">
            <a:normAutofit/>
          </a:bodyPr>
          <a:lstStyle>
            <a:lvl1pPr indent="-228600" lvl="0" marL="457200" algn="l">
              <a:lnSpc>
                <a:spcPct val="100000"/>
              </a:lnSpc>
              <a:spcBef>
                <a:spcPts val="0"/>
              </a:spcBef>
              <a:spcAft>
                <a:spcPts val="0"/>
              </a:spcAft>
              <a:buClr>
                <a:schemeClr val="lt1"/>
              </a:buClr>
              <a:buSzPts val="2400"/>
              <a:buNone/>
              <a:defRPr sz="2400">
                <a:solidFill>
                  <a:schemeClr val="lt1"/>
                </a:solidFill>
              </a:defRPr>
            </a:lvl1pPr>
          </a:lstStyle>
          <a:p/>
        </p:txBody>
      </p:sp>
      <p:sp>
        <p:nvSpPr>
          <p:cNvPr id="23" name="Google Shape;23;p45"/>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46"/>
          <p:cNvSpPr/>
          <p:nvPr/>
        </p:nvSpPr>
        <p:spPr>
          <a:xfrm flipH="1" rot="10800000">
            <a:off x="0" y="1312800"/>
            <a:ext cx="18288000" cy="89742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46"/>
          <p:cNvSpPr/>
          <p:nvPr/>
        </p:nvSpPr>
        <p:spPr>
          <a:xfrm>
            <a:off x="0" y="1312700"/>
            <a:ext cx="18288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46"/>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28" name="Google Shape;28;p46"/>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47"/>
          <p:cNvSpPr/>
          <p:nvPr/>
        </p:nvSpPr>
        <p:spPr>
          <a:xfrm flipH="1">
            <a:off x="0" y="0"/>
            <a:ext cx="9144000" cy="10287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7"/>
          <p:cNvSpPr/>
          <p:nvPr/>
        </p:nvSpPr>
        <p:spPr>
          <a:xfrm rot="5400000">
            <a:off x="3892850" y="5035500"/>
            <a:ext cx="102858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7"/>
          <p:cNvSpPr txBox="1"/>
          <p:nvPr>
            <p:ph type="title"/>
          </p:nvPr>
        </p:nvSpPr>
        <p:spPr>
          <a:xfrm>
            <a:off x="531000" y="2466350"/>
            <a:ext cx="8090400" cy="29646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Clr>
                <a:schemeClr val="dk2"/>
              </a:buClr>
              <a:buSzPts val="8400"/>
              <a:buNone/>
              <a:defRPr sz="8400">
                <a:solidFill>
                  <a:schemeClr val="dk2"/>
                </a:solidFill>
              </a:defRPr>
            </a:lvl1pPr>
            <a:lvl2pPr lvl="1" algn="ctr">
              <a:lnSpc>
                <a:spcPct val="100000"/>
              </a:lnSpc>
              <a:spcBef>
                <a:spcPts val="0"/>
              </a:spcBef>
              <a:spcAft>
                <a:spcPts val="0"/>
              </a:spcAft>
              <a:buClr>
                <a:schemeClr val="dk2"/>
              </a:buClr>
              <a:buSzPts val="8400"/>
              <a:buNone/>
              <a:defRPr sz="8400">
                <a:solidFill>
                  <a:schemeClr val="dk2"/>
                </a:solidFill>
              </a:defRPr>
            </a:lvl2pPr>
            <a:lvl3pPr lvl="2" algn="ctr">
              <a:lnSpc>
                <a:spcPct val="100000"/>
              </a:lnSpc>
              <a:spcBef>
                <a:spcPts val="0"/>
              </a:spcBef>
              <a:spcAft>
                <a:spcPts val="0"/>
              </a:spcAft>
              <a:buClr>
                <a:schemeClr val="dk2"/>
              </a:buClr>
              <a:buSzPts val="8400"/>
              <a:buNone/>
              <a:defRPr sz="8400">
                <a:solidFill>
                  <a:schemeClr val="dk2"/>
                </a:solidFill>
              </a:defRPr>
            </a:lvl3pPr>
            <a:lvl4pPr lvl="3" algn="ctr">
              <a:lnSpc>
                <a:spcPct val="100000"/>
              </a:lnSpc>
              <a:spcBef>
                <a:spcPts val="0"/>
              </a:spcBef>
              <a:spcAft>
                <a:spcPts val="0"/>
              </a:spcAft>
              <a:buClr>
                <a:schemeClr val="dk2"/>
              </a:buClr>
              <a:buSzPts val="8400"/>
              <a:buNone/>
              <a:defRPr sz="8400">
                <a:solidFill>
                  <a:schemeClr val="dk2"/>
                </a:solidFill>
              </a:defRPr>
            </a:lvl4pPr>
            <a:lvl5pPr lvl="4" algn="ctr">
              <a:lnSpc>
                <a:spcPct val="100000"/>
              </a:lnSpc>
              <a:spcBef>
                <a:spcPts val="0"/>
              </a:spcBef>
              <a:spcAft>
                <a:spcPts val="0"/>
              </a:spcAft>
              <a:buClr>
                <a:schemeClr val="dk2"/>
              </a:buClr>
              <a:buSzPts val="8400"/>
              <a:buNone/>
              <a:defRPr sz="8400">
                <a:solidFill>
                  <a:schemeClr val="dk2"/>
                </a:solidFill>
              </a:defRPr>
            </a:lvl5pPr>
            <a:lvl6pPr lvl="5" algn="ctr">
              <a:lnSpc>
                <a:spcPct val="100000"/>
              </a:lnSpc>
              <a:spcBef>
                <a:spcPts val="0"/>
              </a:spcBef>
              <a:spcAft>
                <a:spcPts val="0"/>
              </a:spcAft>
              <a:buClr>
                <a:schemeClr val="dk2"/>
              </a:buClr>
              <a:buSzPts val="8400"/>
              <a:buNone/>
              <a:defRPr sz="8400">
                <a:solidFill>
                  <a:schemeClr val="dk2"/>
                </a:solidFill>
              </a:defRPr>
            </a:lvl6pPr>
            <a:lvl7pPr lvl="6" algn="ctr">
              <a:lnSpc>
                <a:spcPct val="100000"/>
              </a:lnSpc>
              <a:spcBef>
                <a:spcPts val="0"/>
              </a:spcBef>
              <a:spcAft>
                <a:spcPts val="0"/>
              </a:spcAft>
              <a:buClr>
                <a:schemeClr val="dk2"/>
              </a:buClr>
              <a:buSzPts val="8400"/>
              <a:buNone/>
              <a:defRPr sz="8400">
                <a:solidFill>
                  <a:schemeClr val="dk2"/>
                </a:solidFill>
              </a:defRPr>
            </a:lvl7pPr>
            <a:lvl8pPr lvl="7" algn="ctr">
              <a:lnSpc>
                <a:spcPct val="100000"/>
              </a:lnSpc>
              <a:spcBef>
                <a:spcPts val="0"/>
              </a:spcBef>
              <a:spcAft>
                <a:spcPts val="0"/>
              </a:spcAft>
              <a:buClr>
                <a:schemeClr val="dk2"/>
              </a:buClr>
              <a:buSzPts val="8400"/>
              <a:buNone/>
              <a:defRPr sz="8400">
                <a:solidFill>
                  <a:schemeClr val="dk2"/>
                </a:solidFill>
              </a:defRPr>
            </a:lvl8pPr>
            <a:lvl9pPr lvl="8" algn="ctr">
              <a:lnSpc>
                <a:spcPct val="100000"/>
              </a:lnSpc>
              <a:spcBef>
                <a:spcPts val="0"/>
              </a:spcBef>
              <a:spcAft>
                <a:spcPts val="0"/>
              </a:spcAft>
              <a:buClr>
                <a:schemeClr val="dk2"/>
              </a:buClr>
              <a:buSzPts val="8400"/>
              <a:buNone/>
              <a:defRPr sz="8400">
                <a:solidFill>
                  <a:schemeClr val="dk2"/>
                </a:solidFill>
              </a:defRPr>
            </a:lvl9pPr>
          </a:lstStyle>
          <a:p/>
        </p:txBody>
      </p:sp>
      <p:sp>
        <p:nvSpPr>
          <p:cNvPr id="33" name="Google Shape;33;p47"/>
          <p:cNvSpPr txBox="1"/>
          <p:nvPr>
            <p:ph idx="1" type="subTitle"/>
          </p:nvPr>
        </p:nvSpPr>
        <p:spPr>
          <a:xfrm>
            <a:off x="531000" y="5558934"/>
            <a:ext cx="8090400" cy="2470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4" name="Google Shape;34;p47"/>
          <p:cNvSpPr txBox="1"/>
          <p:nvPr>
            <p:ph idx="2" type="body"/>
          </p:nvPr>
        </p:nvSpPr>
        <p:spPr>
          <a:xfrm>
            <a:off x="9879000" y="1448400"/>
            <a:ext cx="7674000" cy="7390200"/>
          </a:xfrm>
          <a:prstGeom prst="rect">
            <a:avLst/>
          </a:prstGeom>
          <a:noFill/>
          <a:ln>
            <a:noFill/>
          </a:ln>
        </p:spPr>
        <p:txBody>
          <a:bodyPr anchorCtr="0" anchor="ctr" bIns="182850" lIns="182850" spcFirstLastPara="1" rIns="182850" wrap="square" tIns="182850">
            <a:normAutofit/>
          </a:bodyPr>
          <a:lstStyle>
            <a:lvl1pPr indent="-457200" lvl="0" marL="457200" algn="l">
              <a:lnSpc>
                <a:spcPct val="115000"/>
              </a:lnSpc>
              <a:spcBef>
                <a:spcPts val="0"/>
              </a:spcBef>
              <a:spcAft>
                <a:spcPts val="0"/>
              </a:spcAft>
              <a:buClr>
                <a:schemeClr val="lt1"/>
              </a:buClr>
              <a:buSzPts val="3600"/>
              <a:buChar char="●"/>
              <a:defRPr>
                <a:solidFill>
                  <a:schemeClr val="lt1"/>
                </a:solidFill>
              </a:defRPr>
            </a:lvl1pPr>
            <a:lvl2pPr indent="-406400" lvl="1" marL="914400" algn="l">
              <a:lnSpc>
                <a:spcPct val="115000"/>
              </a:lnSpc>
              <a:spcBef>
                <a:spcPts val="0"/>
              </a:spcBef>
              <a:spcAft>
                <a:spcPts val="0"/>
              </a:spcAft>
              <a:buClr>
                <a:schemeClr val="lt1"/>
              </a:buClr>
              <a:buSzPts val="2800"/>
              <a:buChar char="○"/>
              <a:defRPr>
                <a:solidFill>
                  <a:schemeClr val="lt1"/>
                </a:solidFill>
              </a:defRPr>
            </a:lvl2pPr>
            <a:lvl3pPr indent="-406400" lvl="2" marL="1371600" algn="l">
              <a:lnSpc>
                <a:spcPct val="115000"/>
              </a:lnSpc>
              <a:spcBef>
                <a:spcPts val="0"/>
              </a:spcBef>
              <a:spcAft>
                <a:spcPts val="0"/>
              </a:spcAft>
              <a:buClr>
                <a:schemeClr val="lt1"/>
              </a:buClr>
              <a:buSzPts val="2800"/>
              <a:buChar char="■"/>
              <a:defRPr>
                <a:solidFill>
                  <a:schemeClr val="lt1"/>
                </a:solidFill>
              </a:defRPr>
            </a:lvl3pPr>
            <a:lvl4pPr indent="-406400" lvl="3" marL="1828800" algn="l">
              <a:lnSpc>
                <a:spcPct val="115000"/>
              </a:lnSpc>
              <a:spcBef>
                <a:spcPts val="0"/>
              </a:spcBef>
              <a:spcAft>
                <a:spcPts val="0"/>
              </a:spcAft>
              <a:buClr>
                <a:schemeClr val="lt1"/>
              </a:buClr>
              <a:buSzPts val="2800"/>
              <a:buChar char="●"/>
              <a:defRPr>
                <a:solidFill>
                  <a:schemeClr val="lt1"/>
                </a:solidFill>
              </a:defRPr>
            </a:lvl4pPr>
            <a:lvl5pPr indent="-406400" lvl="4" marL="2286000" algn="l">
              <a:lnSpc>
                <a:spcPct val="115000"/>
              </a:lnSpc>
              <a:spcBef>
                <a:spcPts val="0"/>
              </a:spcBef>
              <a:spcAft>
                <a:spcPts val="0"/>
              </a:spcAft>
              <a:buClr>
                <a:schemeClr val="lt1"/>
              </a:buClr>
              <a:buSzPts val="2800"/>
              <a:buChar char="○"/>
              <a:defRPr>
                <a:solidFill>
                  <a:schemeClr val="lt1"/>
                </a:solidFill>
              </a:defRPr>
            </a:lvl5pPr>
            <a:lvl6pPr indent="-406400" lvl="5" marL="2743200" algn="l">
              <a:lnSpc>
                <a:spcPct val="115000"/>
              </a:lnSpc>
              <a:spcBef>
                <a:spcPts val="0"/>
              </a:spcBef>
              <a:spcAft>
                <a:spcPts val="0"/>
              </a:spcAft>
              <a:buClr>
                <a:schemeClr val="lt1"/>
              </a:buClr>
              <a:buSzPts val="2800"/>
              <a:buChar char="■"/>
              <a:defRPr>
                <a:solidFill>
                  <a:schemeClr val="lt1"/>
                </a:solidFill>
              </a:defRPr>
            </a:lvl6pPr>
            <a:lvl7pPr indent="-406400" lvl="6" marL="3200400" algn="l">
              <a:lnSpc>
                <a:spcPct val="115000"/>
              </a:lnSpc>
              <a:spcBef>
                <a:spcPts val="0"/>
              </a:spcBef>
              <a:spcAft>
                <a:spcPts val="0"/>
              </a:spcAft>
              <a:buClr>
                <a:schemeClr val="lt1"/>
              </a:buClr>
              <a:buSzPts val="2800"/>
              <a:buChar char="●"/>
              <a:defRPr>
                <a:solidFill>
                  <a:schemeClr val="lt1"/>
                </a:solidFill>
              </a:defRPr>
            </a:lvl7pPr>
            <a:lvl8pPr indent="-406400" lvl="7" marL="3657600" algn="l">
              <a:lnSpc>
                <a:spcPct val="115000"/>
              </a:lnSpc>
              <a:spcBef>
                <a:spcPts val="0"/>
              </a:spcBef>
              <a:spcAft>
                <a:spcPts val="0"/>
              </a:spcAft>
              <a:buClr>
                <a:schemeClr val="lt1"/>
              </a:buClr>
              <a:buSzPts val="2800"/>
              <a:buChar char="○"/>
              <a:defRPr>
                <a:solidFill>
                  <a:schemeClr val="lt1"/>
                </a:solidFill>
              </a:defRPr>
            </a:lvl8pPr>
            <a:lvl9pPr indent="-406400" lvl="8" marL="4114800" algn="l">
              <a:lnSpc>
                <a:spcPct val="115000"/>
              </a:lnSpc>
              <a:spcBef>
                <a:spcPts val="0"/>
              </a:spcBef>
              <a:spcAft>
                <a:spcPts val="0"/>
              </a:spcAft>
              <a:buClr>
                <a:schemeClr val="lt1"/>
              </a:buClr>
              <a:buSzPts val="2800"/>
              <a:buChar char="■"/>
              <a:defRPr>
                <a:solidFill>
                  <a:schemeClr val="lt1"/>
                </a:solidFill>
              </a:defRPr>
            </a:lvl9pPr>
          </a:lstStyle>
          <a:p/>
        </p:txBody>
      </p:sp>
      <p:sp>
        <p:nvSpPr>
          <p:cNvPr id="35" name="Google Shape;35;p47"/>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48"/>
          <p:cNvSpPr txBox="1"/>
          <p:nvPr/>
        </p:nvSpPr>
        <p:spPr>
          <a:xfrm flipH="1" rot="10800000">
            <a:off x="6553200" y="50"/>
            <a:ext cx="11734800" cy="10287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8"/>
          <p:cNvSpPr/>
          <p:nvPr/>
        </p:nvSpPr>
        <p:spPr>
          <a:xfrm rot="-5400000">
            <a:off x="1518300" y="5034900"/>
            <a:ext cx="10287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8"/>
          <p:cNvSpPr txBox="1"/>
          <p:nvPr>
            <p:ph type="title"/>
          </p:nvPr>
        </p:nvSpPr>
        <p:spPr>
          <a:xfrm>
            <a:off x="452155" y="715600"/>
            <a:ext cx="5616000" cy="19068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48"/>
          <p:cNvSpPr txBox="1"/>
          <p:nvPr>
            <p:ph idx="1" type="body"/>
          </p:nvPr>
        </p:nvSpPr>
        <p:spPr>
          <a:xfrm>
            <a:off x="452150" y="2931600"/>
            <a:ext cx="5616000" cy="6327000"/>
          </a:xfrm>
          <a:prstGeom prst="rect">
            <a:avLst/>
          </a:prstGeom>
          <a:noFill/>
          <a:ln>
            <a:noFill/>
          </a:ln>
        </p:spPr>
        <p:txBody>
          <a:bodyPr anchorCtr="0" anchor="t" bIns="182850" lIns="182850" spcFirstLastPara="1" rIns="182850" wrap="square" tIns="182850">
            <a:normAutofit/>
          </a:bodyPr>
          <a:lstStyle>
            <a:lvl1pPr indent="-381000" lvl="0" marL="457200" algn="l">
              <a:lnSpc>
                <a:spcPct val="115000"/>
              </a:lnSpc>
              <a:spcBef>
                <a:spcPts val="0"/>
              </a:spcBef>
              <a:spcAft>
                <a:spcPts val="0"/>
              </a:spcAft>
              <a:buClr>
                <a:schemeClr val="lt1"/>
              </a:buClr>
              <a:buSzPts val="2400"/>
              <a:buChar char="●"/>
              <a:defRPr sz="2400">
                <a:solidFill>
                  <a:schemeClr val="lt1"/>
                </a:solidFill>
              </a:defRPr>
            </a:lvl1pPr>
            <a:lvl2pPr indent="-381000" lvl="1" marL="914400" algn="l">
              <a:lnSpc>
                <a:spcPct val="115000"/>
              </a:lnSpc>
              <a:spcBef>
                <a:spcPts val="0"/>
              </a:spcBef>
              <a:spcAft>
                <a:spcPts val="0"/>
              </a:spcAft>
              <a:buClr>
                <a:schemeClr val="lt1"/>
              </a:buClr>
              <a:buSzPts val="2400"/>
              <a:buChar char="○"/>
              <a:defRPr sz="2400">
                <a:solidFill>
                  <a:schemeClr val="lt1"/>
                </a:solidFill>
              </a:defRPr>
            </a:lvl2pPr>
            <a:lvl3pPr indent="-381000" lvl="2" marL="1371600" algn="l">
              <a:lnSpc>
                <a:spcPct val="115000"/>
              </a:lnSpc>
              <a:spcBef>
                <a:spcPts val="0"/>
              </a:spcBef>
              <a:spcAft>
                <a:spcPts val="0"/>
              </a:spcAft>
              <a:buClr>
                <a:schemeClr val="lt1"/>
              </a:buClr>
              <a:buSzPts val="2400"/>
              <a:buChar char="■"/>
              <a:defRPr sz="2400">
                <a:solidFill>
                  <a:schemeClr val="lt1"/>
                </a:solidFill>
              </a:defRPr>
            </a:lvl3pPr>
            <a:lvl4pPr indent="-381000" lvl="3" marL="1828800" algn="l">
              <a:lnSpc>
                <a:spcPct val="115000"/>
              </a:lnSpc>
              <a:spcBef>
                <a:spcPts val="0"/>
              </a:spcBef>
              <a:spcAft>
                <a:spcPts val="0"/>
              </a:spcAft>
              <a:buClr>
                <a:schemeClr val="lt1"/>
              </a:buClr>
              <a:buSzPts val="2400"/>
              <a:buChar char="●"/>
              <a:defRPr sz="2400">
                <a:solidFill>
                  <a:schemeClr val="lt1"/>
                </a:solidFill>
              </a:defRPr>
            </a:lvl4pPr>
            <a:lvl5pPr indent="-381000" lvl="4" marL="2286000" algn="l">
              <a:lnSpc>
                <a:spcPct val="115000"/>
              </a:lnSpc>
              <a:spcBef>
                <a:spcPts val="0"/>
              </a:spcBef>
              <a:spcAft>
                <a:spcPts val="0"/>
              </a:spcAft>
              <a:buClr>
                <a:schemeClr val="lt1"/>
              </a:buClr>
              <a:buSzPts val="2400"/>
              <a:buChar char="○"/>
              <a:defRPr sz="2400">
                <a:solidFill>
                  <a:schemeClr val="lt1"/>
                </a:solidFill>
              </a:defRPr>
            </a:lvl5pPr>
            <a:lvl6pPr indent="-381000" lvl="5" marL="2743200" algn="l">
              <a:lnSpc>
                <a:spcPct val="115000"/>
              </a:lnSpc>
              <a:spcBef>
                <a:spcPts val="0"/>
              </a:spcBef>
              <a:spcAft>
                <a:spcPts val="0"/>
              </a:spcAft>
              <a:buClr>
                <a:schemeClr val="lt1"/>
              </a:buClr>
              <a:buSzPts val="2400"/>
              <a:buChar char="■"/>
              <a:defRPr sz="2400">
                <a:solidFill>
                  <a:schemeClr val="lt1"/>
                </a:solidFill>
              </a:defRPr>
            </a:lvl6pPr>
            <a:lvl7pPr indent="-381000" lvl="6" marL="3200400" algn="l">
              <a:lnSpc>
                <a:spcPct val="115000"/>
              </a:lnSpc>
              <a:spcBef>
                <a:spcPts val="0"/>
              </a:spcBef>
              <a:spcAft>
                <a:spcPts val="0"/>
              </a:spcAft>
              <a:buClr>
                <a:schemeClr val="lt1"/>
              </a:buClr>
              <a:buSzPts val="2400"/>
              <a:buChar char="●"/>
              <a:defRPr sz="2400">
                <a:solidFill>
                  <a:schemeClr val="lt1"/>
                </a:solidFill>
              </a:defRPr>
            </a:lvl7pPr>
            <a:lvl8pPr indent="-381000" lvl="7" marL="3657600" algn="l">
              <a:lnSpc>
                <a:spcPct val="115000"/>
              </a:lnSpc>
              <a:spcBef>
                <a:spcPts val="0"/>
              </a:spcBef>
              <a:spcAft>
                <a:spcPts val="0"/>
              </a:spcAft>
              <a:buClr>
                <a:schemeClr val="lt1"/>
              </a:buClr>
              <a:buSzPts val="2400"/>
              <a:buChar char="○"/>
              <a:defRPr sz="2400">
                <a:solidFill>
                  <a:schemeClr val="lt1"/>
                </a:solidFill>
              </a:defRPr>
            </a:lvl8pPr>
            <a:lvl9pPr indent="-381000" lvl="8" marL="4114800" algn="l">
              <a:lnSpc>
                <a:spcPct val="115000"/>
              </a:lnSpc>
              <a:spcBef>
                <a:spcPts val="0"/>
              </a:spcBef>
              <a:spcAft>
                <a:spcPts val="0"/>
              </a:spcAft>
              <a:buClr>
                <a:schemeClr val="lt1"/>
              </a:buClr>
              <a:buSzPts val="2400"/>
              <a:buChar char="■"/>
              <a:defRPr sz="2400">
                <a:solidFill>
                  <a:schemeClr val="lt1"/>
                </a:solidFill>
              </a:defRPr>
            </a:lvl9pPr>
          </a:lstStyle>
          <a:p/>
        </p:txBody>
      </p:sp>
      <p:sp>
        <p:nvSpPr>
          <p:cNvPr id="41" name="Google Shape;41;p48"/>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49"/>
          <p:cNvSpPr/>
          <p:nvPr/>
        </p:nvSpPr>
        <p:spPr>
          <a:xfrm flipH="1">
            <a:off x="16492800" y="8491850"/>
            <a:ext cx="1795200" cy="1795200"/>
          </a:xfrm>
          <a:prstGeom prst="rtTriangle">
            <a:avLst/>
          </a:prstGeom>
          <a:solidFill>
            <a:schemeClr val="l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9"/>
          <p:cNvSpPr/>
          <p:nvPr/>
        </p:nvSpPr>
        <p:spPr>
          <a:xfrm flipH="1">
            <a:off x="16492800" y="8491750"/>
            <a:ext cx="1795200" cy="1795200"/>
          </a:xfrm>
          <a:prstGeom prst="round1Rect">
            <a:avLst>
              <a:gd fmla="val 16667" name="adj"/>
            </a:avLst>
          </a:prstGeom>
          <a:solidFill>
            <a:schemeClr val="lt1">
              <a:alpha val="67843"/>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9"/>
          <p:cNvSpPr txBox="1"/>
          <p:nvPr>
            <p:ph type="ctrTitle"/>
          </p:nvPr>
        </p:nvSpPr>
        <p:spPr>
          <a:xfrm>
            <a:off x="781050" y="3638550"/>
            <a:ext cx="16444200" cy="18672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p:txBody>
      </p:sp>
      <p:sp>
        <p:nvSpPr>
          <p:cNvPr id="46" name="Google Shape;46;p49"/>
          <p:cNvSpPr txBox="1"/>
          <p:nvPr>
            <p:ph idx="1" type="subTitle"/>
          </p:nvPr>
        </p:nvSpPr>
        <p:spPr>
          <a:xfrm>
            <a:off x="781050" y="5578261"/>
            <a:ext cx="16444200" cy="8658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600"/>
              <a:buNone/>
              <a:defRPr>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7" name="Google Shape;47;p49"/>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sp>
        <p:nvSpPr>
          <p:cNvPr id="49" name="Google Shape;49;p50"/>
          <p:cNvSpPr/>
          <p:nvPr/>
        </p:nvSpPr>
        <p:spPr>
          <a:xfrm flipH="1" rot="10800000">
            <a:off x="0" y="3372000"/>
            <a:ext cx="18288000" cy="6915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0"/>
          <p:cNvSpPr/>
          <p:nvPr/>
        </p:nvSpPr>
        <p:spPr>
          <a:xfrm>
            <a:off x="0" y="3372000"/>
            <a:ext cx="18288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0"/>
          <p:cNvSpPr txBox="1"/>
          <p:nvPr>
            <p:ph type="title"/>
          </p:nvPr>
        </p:nvSpPr>
        <p:spPr>
          <a:xfrm>
            <a:off x="943800" y="1477450"/>
            <a:ext cx="16444200" cy="15354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6400"/>
              <a:buNone/>
              <a:defRPr/>
            </a:lvl1pPr>
            <a:lvl2pPr lvl="1" algn="l">
              <a:lnSpc>
                <a:spcPct val="100000"/>
              </a:lnSpc>
              <a:spcBef>
                <a:spcPts val="0"/>
              </a:spcBef>
              <a:spcAft>
                <a:spcPts val="0"/>
              </a:spcAft>
              <a:buSzPts val="6400"/>
              <a:buNone/>
              <a:defRPr/>
            </a:lvl2pPr>
            <a:lvl3pPr lvl="2" algn="l">
              <a:lnSpc>
                <a:spcPct val="100000"/>
              </a:lnSpc>
              <a:spcBef>
                <a:spcPts val="0"/>
              </a:spcBef>
              <a:spcAft>
                <a:spcPts val="0"/>
              </a:spcAft>
              <a:buSzPts val="6400"/>
              <a:buNone/>
              <a:defRPr/>
            </a:lvl3pPr>
            <a:lvl4pPr lvl="3" algn="l">
              <a:lnSpc>
                <a:spcPct val="100000"/>
              </a:lnSpc>
              <a:spcBef>
                <a:spcPts val="0"/>
              </a:spcBef>
              <a:spcAft>
                <a:spcPts val="0"/>
              </a:spcAft>
              <a:buSzPts val="6400"/>
              <a:buNone/>
              <a:defRPr/>
            </a:lvl4pPr>
            <a:lvl5pPr lvl="4" algn="l">
              <a:lnSpc>
                <a:spcPct val="100000"/>
              </a:lnSpc>
              <a:spcBef>
                <a:spcPts val="0"/>
              </a:spcBef>
              <a:spcAft>
                <a:spcPts val="0"/>
              </a:spcAft>
              <a:buSzPts val="6400"/>
              <a:buNone/>
              <a:defRPr/>
            </a:lvl5pPr>
            <a:lvl6pPr lvl="5" algn="l">
              <a:lnSpc>
                <a:spcPct val="100000"/>
              </a:lnSpc>
              <a:spcBef>
                <a:spcPts val="0"/>
              </a:spcBef>
              <a:spcAft>
                <a:spcPts val="0"/>
              </a:spcAft>
              <a:buSzPts val="6400"/>
              <a:buNone/>
              <a:defRPr/>
            </a:lvl6pPr>
            <a:lvl7pPr lvl="6" algn="l">
              <a:lnSpc>
                <a:spcPct val="100000"/>
              </a:lnSpc>
              <a:spcBef>
                <a:spcPts val="0"/>
              </a:spcBef>
              <a:spcAft>
                <a:spcPts val="0"/>
              </a:spcAft>
              <a:buSzPts val="6400"/>
              <a:buNone/>
              <a:defRPr/>
            </a:lvl7pPr>
            <a:lvl8pPr lvl="7" algn="l">
              <a:lnSpc>
                <a:spcPct val="100000"/>
              </a:lnSpc>
              <a:spcBef>
                <a:spcPts val="0"/>
              </a:spcBef>
              <a:spcAft>
                <a:spcPts val="0"/>
              </a:spcAft>
              <a:buSzPts val="6400"/>
              <a:buNone/>
              <a:defRPr/>
            </a:lvl8pPr>
            <a:lvl9pPr lvl="8" algn="l">
              <a:lnSpc>
                <a:spcPct val="100000"/>
              </a:lnSpc>
              <a:spcBef>
                <a:spcPts val="0"/>
              </a:spcBef>
              <a:spcAft>
                <a:spcPts val="0"/>
              </a:spcAft>
              <a:buSzPts val="6400"/>
              <a:buNone/>
              <a:defRPr/>
            </a:lvl9pPr>
          </a:lstStyle>
          <a:p/>
        </p:txBody>
      </p:sp>
      <p:sp>
        <p:nvSpPr>
          <p:cNvPr id="52" name="Google Shape;52;p50"/>
          <p:cNvSpPr txBox="1"/>
          <p:nvPr>
            <p:ph idx="1" type="body"/>
          </p:nvPr>
        </p:nvSpPr>
        <p:spPr>
          <a:xfrm>
            <a:off x="943800" y="3838150"/>
            <a:ext cx="16444200" cy="54204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53" name="Google Shape;53;p50"/>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51"/>
          <p:cNvSpPr txBox="1"/>
          <p:nvPr>
            <p:ph type="title"/>
          </p:nvPr>
        </p:nvSpPr>
        <p:spPr>
          <a:xfrm>
            <a:off x="980500" y="976500"/>
            <a:ext cx="12454200" cy="81816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56" name="Google Shape;56;p51"/>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52"/>
          <p:cNvSpPr txBox="1"/>
          <p:nvPr>
            <p:ph hasCustomPrompt="1" type="title"/>
          </p:nvPr>
        </p:nvSpPr>
        <p:spPr>
          <a:xfrm>
            <a:off x="951000" y="2517050"/>
            <a:ext cx="16444200" cy="39270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Clr>
                <a:schemeClr val="dk2"/>
              </a:buClr>
              <a:buSzPts val="24000"/>
              <a:buNone/>
              <a:defRPr sz="24000">
                <a:solidFill>
                  <a:schemeClr val="dk2"/>
                </a:solidFill>
              </a:defRPr>
            </a:lvl1pPr>
            <a:lvl2pPr lvl="1" algn="ctr">
              <a:lnSpc>
                <a:spcPct val="100000"/>
              </a:lnSpc>
              <a:spcBef>
                <a:spcPts val="0"/>
              </a:spcBef>
              <a:spcAft>
                <a:spcPts val="0"/>
              </a:spcAft>
              <a:buClr>
                <a:schemeClr val="dk2"/>
              </a:buClr>
              <a:buSzPts val="24000"/>
              <a:buNone/>
              <a:defRPr sz="24000">
                <a:solidFill>
                  <a:schemeClr val="dk2"/>
                </a:solidFill>
              </a:defRPr>
            </a:lvl2pPr>
            <a:lvl3pPr lvl="2" algn="ctr">
              <a:lnSpc>
                <a:spcPct val="100000"/>
              </a:lnSpc>
              <a:spcBef>
                <a:spcPts val="0"/>
              </a:spcBef>
              <a:spcAft>
                <a:spcPts val="0"/>
              </a:spcAft>
              <a:buClr>
                <a:schemeClr val="dk2"/>
              </a:buClr>
              <a:buSzPts val="24000"/>
              <a:buNone/>
              <a:defRPr sz="24000">
                <a:solidFill>
                  <a:schemeClr val="dk2"/>
                </a:solidFill>
              </a:defRPr>
            </a:lvl3pPr>
            <a:lvl4pPr lvl="3" algn="ctr">
              <a:lnSpc>
                <a:spcPct val="100000"/>
              </a:lnSpc>
              <a:spcBef>
                <a:spcPts val="0"/>
              </a:spcBef>
              <a:spcAft>
                <a:spcPts val="0"/>
              </a:spcAft>
              <a:buClr>
                <a:schemeClr val="dk2"/>
              </a:buClr>
              <a:buSzPts val="24000"/>
              <a:buNone/>
              <a:defRPr sz="24000">
                <a:solidFill>
                  <a:schemeClr val="dk2"/>
                </a:solidFill>
              </a:defRPr>
            </a:lvl4pPr>
            <a:lvl5pPr lvl="4" algn="ctr">
              <a:lnSpc>
                <a:spcPct val="100000"/>
              </a:lnSpc>
              <a:spcBef>
                <a:spcPts val="0"/>
              </a:spcBef>
              <a:spcAft>
                <a:spcPts val="0"/>
              </a:spcAft>
              <a:buClr>
                <a:schemeClr val="dk2"/>
              </a:buClr>
              <a:buSzPts val="24000"/>
              <a:buNone/>
              <a:defRPr sz="24000">
                <a:solidFill>
                  <a:schemeClr val="dk2"/>
                </a:solidFill>
              </a:defRPr>
            </a:lvl5pPr>
            <a:lvl6pPr lvl="5" algn="ctr">
              <a:lnSpc>
                <a:spcPct val="100000"/>
              </a:lnSpc>
              <a:spcBef>
                <a:spcPts val="0"/>
              </a:spcBef>
              <a:spcAft>
                <a:spcPts val="0"/>
              </a:spcAft>
              <a:buClr>
                <a:schemeClr val="dk2"/>
              </a:buClr>
              <a:buSzPts val="24000"/>
              <a:buNone/>
              <a:defRPr sz="24000">
                <a:solidFill>
                  <a:schemeClr val="dk2"/>
                </a:solidFill>
              </a:defRPr>
            </a:lvl6pPr>
            <a:lvl7pPr lvl="6" algn="ctr">
              <a:lnSpc>
                <a:spcPct val="100000"/>
              </a:lnSpc>
              <a:spcBef>
                <a:spcPts val="0"/>
              </a:spcBef>
              <a:spcAft>
                <a:spcPts val="0"/>
              </a:spcAft>
              <a:buClr>
                <a:schemeClr val="dk2"/>
              </a:buClr>
              <a:buSzPts val="24000"/>
              <a:buNone/>
              <a:defRPr sz="24000">
                <a:solidFill>
                  <a:schemeClr val="dk2"/>
                </a:solidFill>
              </a:defRPr>
            </a:lvl7pPr>
            <a:lvl8pPr lvl="7" algn="ctr">
              <a:lnSpc>
                <a:spcPct val="100000"/>
              </a:lnSpc>
              <a:spcBef>
                <a:spcPts val="0"/>
              </a:spcBef>
              <a:spcAft>
                <a:spcPts val="0"/>
              </a:spcAft>
              <a:buClr>
                <a:schemeClr val="dk2"/>
              </a:buClr>
              <a:buSzPts val="24000"/>
              <a:buNone/>
              <a:defRPr sz="24000">
                <a:solidFill>
                  <a:schemeClr val="dk2"/>
                </a:solidFill>
              </a:defRPr>
            </a:lvl8pPr>
            <a:lvl9pPr lvl="8" algn="ctr">
              <a:lnSpc>
                <a:spcPct val="100000"/>
              </a:lnSpc>
              <a:spcBef>
                <a:spcPts val="0"/>
              </a:spcBef>
              <a:spcAft>
                <a:spcPts val="0"/>
              </a:spcAft>
              <a:buClr>
                <a:schemeClr val="dk2"/>
              </a:buClr>
              <a:buSzPts val="24000"/>
              <a:buNone/>
              <a:defRPr sz="24000">
                <a:solidFill>
                  <a:schemeClr val="dk2"/>
                </a:solidFill>
              </a:defRPr>
            </a:lvl9pPr>
          </a:lstStyle>
          <a:p>
            <a:r>
              <a:t>xx%</a:t>
            </a:r>
          </a:p>
        </p:txBody>
      </p:sp>
      <p:sp>
        <p:nvSpPr>
          <p:cNvPr id="59" name="Google Shape;59;p52"/>
          <p:cNvSpPr txBox="1"/>
          <p:nvPr>
            <p:ph idx="1" type="body"/>
          </p:nvPr>
        </p:nvSpPr>
        <p:spPr>
          <a:xfrm>
            <a:off x="951000" y="6609250"/>
            <a:ext cx="16444200" cy="2601600"/>
          </a:xfrm>
          <a:prstGeom prst="rect">
            <a:avLst/>
          </a:prstGeom>
          <a:noFill/>
          <a:ln>
            <a:noFill/>
          </a:ln>
        </p:spPr>
        <p:txBody>
          <a:bodyPr anchorCtr="0" anchor="t" bIns="182850" lIns="182850" spcFirstLastPara="1" rIns="182850" wrap="square" tIns="182850">
            <a:normAutofit/>
          </a:bodyPr>
          <a:lstStyle>
            <a:lvl1pPr indent="-457200" lvl="0" marL="457200" algn="ctr">
              <a:lnSpc>
                <a:spcPct val="115000"/>
              </a:lnSpc>
              <a:spcBef>
                <a:spcPts val="0"/>
              </a:spcBef>
              <a:spcAft>
                <a:spcPts val="0"/>
              </a:spcAft>
              <a:buSzPts val="3600"/>
              <a:buChar char="●"/>
              <a:defRPr/>
            </a:lvl1pPr>
            <a:lvl2pPr indent="-406400" lvl="1" marL="914400" algn="ctr">
              <a:lnSpc>
                <a:spcPct val="115000"/>
              </a:lnSpc>
              <a:spcBef>
                <a:spcPts val="0"/>
              </a:spcBef>
              <a:spcAft>
                <a:spcPts val="0"/>
              </a:spcAft>
              <a:buSzPts val="2800"/>
              <a:buChar char="○"/>
              <a:defRPr/>
            </a:lvl2pPr>
            <a:lvl3pPr indent="-406400" lvl="2" marL="1371600" algn="ctr">
              <a:lnSpc>
                <a:spcPct val="115000"/>
              </a:lnSpc>
              <a:spcBef>
                <a:spcPts val="0"/>
              </a:spcBef>
              <a:spcAft>
                <a:spcPts val="0"/>
              </a:spcAft>
              <a:buSzPts val="2800"/>
              <a:buChar char="■"/>
              <a:defRPr/>
            </a:lvl3pPr>
            <a:lvl4pPr indent="-406400" lvl="3" marL="1828800" algn="ctr">
              <a:lnSpc>
                <a:spcPct val="115000"/>
              </a:lnSpc>
              <a:spcBef>
                <a:spcPts val="0"/>
              </a:spcBef>
              <a:spcAft>
                <a:spcPts val="0"/>
              </a:spcAft>
              <a:buSzPts val="2800"/>
              <a:buChar char="●"/>
              <a:defRPr/>
            </a:lvl4pPr>
            <a:lvl5pPr indent="-406400" lvl="4" marL="2286000" algn="ctr">
              <a:lnSpc>
                <a:spcPct val="115000"/>
              </a:lnSpc>
              <a:spcBef>
                <a:spcPts val="0"/>
              </a:spcBef>
              <a:spcAft>
                <a:spcPts val="0"/>
              </a:spcAft>
              <a:buSzPts val="2800"/>
              <a:buChar char="○"/>
              <a:defRPr/>
            </a:lvl5pPr>
            <a:lvl6pPr indent="-406400" lvl="5" marL="2743200" algn="ctr">
              <a:lnSpc>
                <a:spcPct val="115000"/>
              </a:lnSpc>
              <a:spcBef>
                <a:spcPts val="0"/>
              </a:spcBef>
              <a:spcAft>
                <a:spcPts val="0"/>
              </a:spcAft>
              <a:buSzPts val="2800"/>
              <a:buChar char="■"/>
              <a:defRPr/>
            </a:lvl6pPr>
            <a:lvl7pPr indent="-406400" lvl="6" marL="3200400" algn="ctr">
              <a:lnSpc>
                <a:spcPct val="115000"/>
              </a:lnSpc>
              <a:spcBef>
                <a:spcPts val="0"/>
              </a:spcBef>
              <a:spcAft>
                <a:spcPts val="0"/>
              </a:spcAft>
              <a:buSzPts val="2800"/>
              <a:buChar char="●"/>
              <a:defRPr/>
            </a:lvl7pPr>
            <a:lvl8pPr indent="-406400" lvl="7" marL="3657600" algn="ctr">
              <a:lnSpc>
                <a:spcPct val="115000"/>
              </a:lnSpc>
              <a:spcBef>
                <a:spcPts val="0"/>
              </a:spcBef>
              <a:spcAft>
                <a:spcPts val="0"/>
              </a:spcAft>
              <a:buSzPts val="2800"/>
              <a:buChar char="○"/>
              <a:defRPr/>
            </a:lvl8pPr>
            <a:lvl9pPr indent="-406400" lvl="8" marL="4114800" algn="ctr">
              <a:lnSpc>
                <a:spcPct val="115000"/>
              </a:lnSpc>
              <a:spcBef>
                <a:spcPts val="0"/>
              </a:spcBef>
              <a:spcAft>
                <a:spcPts val="0"/>
              </a:spcAft>
              <a:buSzPts val="2800"/>
              <a:buChar char="■"/>
              <a:defRPr/>
            </a:lvl9pPr>
          </a:lstStyle>
          <a:p/>
        </p:txBody>
      </p:sp>
      <p:sp>
        <p:nvSpPr>
          <p:cNvPr id="60" name="Google Shape;60;p52"/>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53"/>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943800" y="1477450"/>
            <a:ext cx="16444200" cy="1535400"/>
          </a:xfrm>
          <a:prstGeom prst="rect">
            <a:avLst/>
          </a:prstGeom>
          <a:noFill/>
          <a:ln>
            <a:noFill/>
          </a:ln>
        </p:spPr>
        <p:txBody>
          <a:bodyPr anchorCtr="0" anchor="b" bIns="182850" lIns="182850" spcFirstLastPara="1" rIns="182850" wrap="square" tIns="182850">
            <a:normAutofit/>
          </a:bodyPr>
          <a:lstStyle>
            <a:lvl1pPr lvl="0"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9pPr>
          </a:lstStyle>
          <a:p/>
        </p:txBody>
      </p:sp>
      <p:sp>
        <p:nvSpPr>
          <p:cNvPr id="7" name="Google Shape;7;p42"/>
          <p:cNvSpPr txBox="1"/>
          <p:nvPr>
            <p:ph idx="1" type="body"/>
          </p:nvPr>
        </p:nvSpPr>
        <p:spPr>
          <a:xfrm>
            <a:off x="943800" y="3838150"/>
            <a:ext cx="16444200" cy="5420400"/>
          </a:xfrm>
          <a:prstGeom prst="rect">
            <a:avLst/>
          </a:prstGeom>
          <a:noFill/>
          <a:ln>
            <a:noFill/>
          </a:ln>
        </p:spPr>
        <p:txBody>
          <a:bodyPr anchorCtr="0" anchor="t" bIns="182850" lIns="182850" spcFirstLastPara="1" rIns="182850" wrap="square" tIns="182850">
            <a:normAutofit/>
          </a:bodyPr>
          <a:lstStyle>
            <a:lvl1pPr indent="-457200" lvl="0" marL="457200" marR="0" rtl="0" algn="l">
              <a:lnSpc>
                <a:spcPct val="115000"/>
              </a:lnSpc>
              <a:spcBef>
                <a:spcPts val="0"/>
              </a:spcBef>
              <a:spcAft>
                <a:spcPts val="0"/>
              </a:spcAft>
              <a:buClr>
                <a:schemeClr val="lt2"/>
              </a:buClr>
              <a:buSzPts val="3600"/>
              <a:buFont typeface="Roboto"/>
              <a:buChar char="●"/>
              <a:defRPr b="0" i="0" sz="3600" u="none" cap="none" strike="noStrike">
                <a:solidFill>
                  <a:schemeClr val="lt2"/>
                </a:solidFill>
                <a:latin typeface="Roboto"/>
                <a:ea typeface="Roboto"/>
                <a:cs typeface="Roboto"/>
                <a:sym typeface="Roboto"/>
              </a:defRPr>
            </a:lvl1pPr>
            <a:lvl2pPr indent="-406400" lvl="1" marL="9144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2pPr>
            <a:lvl3pPr indent="-406400" lvl="2" marL="13716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3pPr>
            <a:lvl4pPr indent="-406400" lvl="3" marL="18288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4pPr>
            <a:lvl5pPr indent="-406400" lvl="4" marL="22860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5pPr>
            <a:lvl6pPr indent="-406400" lvl="5" marL="27432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6pPr>
            <a:lvl7pPr indent="-406400" lvl="6" marL="32004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7pPr>
            <a:lvl8pPr indent="-406400" lvl="7" marL="36576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8pPr>
            <a:lvl9pPr indent="-406400" lvl="8" marL="41148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9pPr>
          </a:lstStyle>
          <a:p/>
        </p:txBody>
      </p:sp>
      <p:sp>
        <p:nvSpPr>
          <p:cNvPr id="8" name="Google Shape;8;p42"/>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4.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hyperlink" Target="https://developer.mozilla.org/es/docs/Web/HTTP/Reference/Status" TargetMode="External"/><Relationship Id="rId4" Type="http://schemas.openxmlformats.org/officeDocument/2006/relationships/hyperlink" Target="https://developer.mozilla.org/es/docs/Web/HTTP" TargetMode="External"/><Relationship Id="rId5" Type="http://schemas.openxmlformats.org/officeDocument/2006/relationships/hyperlink" Target="https://www.geeksforgeeks.org/http-full-for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6" name="Shape 66"/>
        <p:cNvGrpSpPr/>
        <p:nvPr/>
      </p:nvGrpSpPr>
      <p:grpSpPr>
        <a:xfrm>
          <a:off x="0" y="0"/>
          <a:ext cx="0" cy="0"/>
          <a:chOff x="0" y="0"/>
          <a:chExt cx="0" cy="0"/>
        </a:xfrm>
      </p:grpSpPr>
      <p:sp>
        <p:nvSpPr>
          <p:cNvPr id="67" name="Google Shape;67;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68" name="Google Shape;68;p1"/>
          <p:cNvSpPr txBox="1"/>
          <p:nvPr/>
        </p:nvSpPr>
        <p:spPr>
          <a:xfrm>
            <a:off x="1063300" y="7467050"/>
            <a:ext cx="158628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Open Sans"/>
                <a:ea typeface="Open Sans"/>
                <a:cs typeface="Open Sans"/>
                <a:sym typeface="Open Sans"/>
              </a:rPr>
              <a:t>Introducción a la Programación y Computación 2</a:t>
            </a:r>
            <a:endParaRPr b="1" i="0" sz="5000" u="none" cap="none" strike="noStrike">
              <a:solidFill>
                <a:schemeClr val="lt1"/>
              </a:solidFill>
              <a:latin typeface="Open Sans"/>
              <a:ea typeface="Open Sans"/>
              <a:cs typeface="Open Sans"/>
              <a:sym typeface="Open Sans"/>
            </a:endParaRPr>
          </a:p>
        </p:txBody>
      </p:sp>
      <p:sp>
        <p:nvSpPr>
          <p:cNvPr id="69" name="Google Shape;69;p1"/>
          <p:cNvSpPr txBox="1"/>
          <p:nvPr/>
        </p:nvSpPr>
        <p:spPr>
          <a:xfrm>
            <a:off x="2407650" y="3665850"/>
            <a:ext cx="13472700" cy="246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200"/>
              <a:buFont typeface="Arial"/>
              <a:buNone/>
            </a:pPr>
            <a:r>
              <a:rPr b="1" i="0" lang="en-US" sz="8000" u="none" cap="none" strike="noStrike">
                <a:solidFill>
                  <a:schemeClr val="lt1"/>
                </a:solidFill>
                <a:latin typeface="Open Sans"/>
                <a:ea typeface="Open Sans"/>
                <a:cs typeface="Open Sans"/>
                <a:sym typeface="Open Sans"/>
              </a:rPr>
              <a:t>Unidad 7: JavaScript Object Notation (JSON)</a:t>
            </a:r>
            <a:endParaRPr b="1" i="0" sz="8000" u="none" cap="none" strike="noStrike">
              <a:solidFill>
                <a:schemeClr val="lt1"/>
              </a:solidFill>
              <a:latin typeface="Open Sans"/>
              <a:ea typeface="Open Sans"/>
              <a:cs typeface="Open Sans"/>
              <a:sym typeface="Open Sans"/>
            </a:endParaRPr>
          </a:p>
        </p:txBody>
      </p:sp>
      <p:sp>
        <p:nvSpPr>
          <p:cNvPr id="70" name="Google Shape;70;p1"/>
          <p:cNvSpPr txBox="1"/>
          <p:nvPr/>
        </p:nvSpPr>
        <p:spPr>
          <a:xfrm>
            <a:off x="1081353" y="8383251"/>
            <a:ext cx="6981300" cy="121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99"/>
              <a:buFont typeface="Arial"/>
              <a:buNone/>
            </a:pPr>
            <a:r>
              <a:rPr b="1" i="0" lang="en-US" sz="2400" u="none" cap="none" strike="noStrike">
                <a:solidFill>
                  <a:schemeClr val="lt1"/>
                </a:solidFill>
                <a:latin typeface="Open Sans"/>
                <a:ea typeface="Open Sans"/>
                <a:cs typeface="Open Sans"/>
                <a:sym typeface="Open Sans"/>
              </a:rPr>
              <a:t>Escuela de Ingeniería de Ciencias Y Sistemas</a:t>
            </a:r>
            <a:endParaRPr b="1" i="0" sz="2400" u="none" cap="none" strike="noStrike">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2499"/>
              <a:buFont typeface="Arial"/>
              <a:buNone/>
            </a:pPr>
            <a:r>
              <a:rPr b="1" i="0" lang="en-US" sz="2400" u="none" cap="none" strike="noStrike">
                <a:solidFill>
                  <a:schemeClr val="lt1"/>
                </a:solidFill>
                <a:latin typeface="Open Sans"/>
                <a:ea typeface="Open Sans"/>
                <a:cs typeface="Open Sans"/>
                <a:sym typeface="Open Sans"/>
              </a:rPr>
              <a:t>Facultad de Ingeniería</a:t>
            </a:r>
            <a:endParaRPr b="1" i="0" sz="2400" u="none" cap="none" strike="noStrike">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2499"/>
              <a:buFont typeface="Arial"/>
              <a:buNone/>
            </a:pPr>
            <a:r>
              <a:rPr b="1" i="0" lang="en-US" sz="2400" u="none" cap="none" strike="noStrike">
                <a:solidFill>
                  <a:schemeClr val="lt1"/>
                </a:solidFill>
                <a:latin typeface="Open Sans"/>
                <a:ea typeface="Open Sans"/>
                <a:cs typeface="Open Sans"/>
                <a:sym typeface="Open Sans"/>
              </a:rPr>
              <a:t>Universidad de San Carlos de Guatemala</a:t>
            </a:r>
            <a:endParaRPr b="1" i="0" sz="2400" u="none" cap="none" strike="noStrike">
              <a:solidFill>
                <a:schemeClr val="lt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4" name="Shape 74"/>
        <p:cNvGrpSpPr/>
        <p:nvPr/>
      </p:nvGrpSpPr>
      <p:grpSpPr>
        <a:xfrm>
          <a:off x="0" y="0"/>
          <a:ext cx="0" cy="0"/>
          <a:chOff x="0" y="0"/>
          <a:chExt cx="0" cy="0"/>
        </a:xfrm>
      </p:grpSpPr>
      <p:sp>
        <p:nvSpPr>
          <p:cNvPr id="75" name="Google Shape;75;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76" name="Google Shape;76;p2"/>
          <p:cNvSpPr/>
          <p:nvPr/>
        </p:nvSpPr>
        <p:spPr>
          <a:xfrm>
            <a:off x="728379" y="3534760"/>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77" name="Google Shape;77;p2"/>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chemeClr val="lt1"/>
                </a:solidFill>
                <a:latin typeface="Pacifico"/>
                <a:ea typeface="Pacifico"/>
                <a:cs typeface="Pacifico"/>
                <a:sym typeface="Pacifico"/>
              </a:rPr>
              <a:t>Agenda</a:t>
            </a:r>
            <a:endParaRPr b="0" i="0" sz="1400" u="none" cap="none" strike="noStrike">
              <a:solidFill>
                <a:schemeClr val="lt1"/>
              </a:solidFill>
              <a:latin typeface="Pacifico"/>
              <a:ea typeface="Pacifico"/>
              <a:cs typeface="Pacifico"/>
              <a:sym typeface="Pacifico"/>
            </a:endParaRPr>
          </a:p>
        </p:txBody>
      </p:sp>
      <p:grpSp>
        <p:nvGrpSpPr>
          <p:cNvPr id="78" name="Google Shape;78;p2"/>
          <p:cNvGrpSpPr/>
          <p:nvPr/>
        </p:nvGrpSpPr>
        <p:grpSpPr>
          <a:xfrm>
            <a:off x="1867000" y="3303127"/>
            <a:ext cx="4115217" cy="1267339"/>
            <a:chOff x="0" y="-54826"/>
            <a:chExt cx="1083836" cy="388564"/>
          </a:xfrm>
        </p:grpSpPr>
        <p:sp>
          <p:nvSpPr>
            <p:cNvPr id="79" name="Google Shape;7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noFill/>
            <a:ln>
              <a:noFill/>
            </a:ln>
          </p:spPr>
        </p:sp>
        <p:sp>
          <p:nvSpPr>
            <p:cNvPr id="80" name="Google Shape;80;p2"/>
            <p:cNvSpPr txBox="1"/>
            <p:nvPr/>
          </p:nvSpPr>
          <p:spPr>
            <a:xfrm>
              <a:off x="3" y="-54826"/>
              <a:ext cx="969600" cy="3885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81" name="Google Shape;81;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chemeClr val="lt1"/>
                </a:solidFill>
                <a:latin typeface="Lobster"/>
                <a:ea typeface="Lobster"/>
                <a:cs typeface="Lobster"/>
                <a:sym typeface="Lobster"/>
              </a:rPr>
              <a:t>Recursos</a:t>
            </a:r>
            <a:endParaRPr b="0" i="0" sz="1400" u="none" cap="none" strike="noStrike">
              <a:solidFill>
                <a:schemeClr val="lt1"/>
              </a:solidFill>
              <a:latin typeface="Lobster"/>
              <a:ea typeface="Lobster"/>
              <a:cs typeface="Lobster"/>
              <a:sym typeface="Lobster"/>
            </a:endParaRPr>
          </a:p>
        </p:txBody>
      </p:sp>
      <p:sp>
        <p:nvSpPr>
          <p:cNvPr id="82" name="Google Shape;8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83" name="Google Shape;83;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84" name="Google Shape;84;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85" name="Google Shape;85;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
        <p:nvSpPr>
          <p:cNvPr id="86" name="Google Shape;86;p2"/>
          <p:cNvSpPr txBox="1"/>
          <p:nvPr/>
        </p:nvSpPr>
        <p:spPr>
          <a:xfrm>
            <a:off x="1589200" y="4792050"/>
            <a:ext cx="2635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Qué es JSON</a:t>
            </a:r>
            <a:endParaRPr b="0" i="0" sz="2700" u="none" cap="none" strike="noStrike">
              <a:solidFill>
                <a:srgbClr val="131416"/>
              </a:solidFill>
              <a:latin typeface="Arial"/>
              <a:ea typeface="Arial"/>
              <a:cs typeface="Arial"/>
              <a:sym typeface="Arial"/>
            </a:endParaRPr>
          </a:p>
        </p:txBody>
      </p:sp>
      <p:sp>
        <p:nvSpPr>
          <p:cNvPr id="87" name="Google Shape;87;p2"/>
          <p:cNvSpPr txBox="1"/>
          <p:nvPr/>
        </p:nvSpPr>
        <p:spPr>
          <a:xfrm>
            <a:off x="1589200" y="5613925"/>
            <a:ext cx="2635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JSON vs XML</a:t>
            </a:r>
            <a:endParaRPr b="0" i="0" sz="2700" u="none" cap="none" strike="noStrike">
              <a:solidFill>
                <a:srgbClr val="131416"/>
              </a:solidFill>
              <a:latin typeface="Arial"/>
              <a:ea typeface="Arial"/>
              <a:cs typeface="Arial"/>
              <a:sym typeface="Arial"/>
            </a:endParaRPr>
          </a:p>
        </p:txBody>
      </p:sp>
      <p:sp>
        <p:nvSpPr>
          <p:cNvPr id="88" name="Google Shape;88;p2"/>
          <p:cNvSpPr txBox="1"/>
          <p:nvPr/>
        </p:nvSpPr>
        <p:spPr>
          <a:xfrm>
            <a:off x="1589200" y="6579750"/>
            <a:ext cx="35439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Tipos de datos JSON</a:t>
            </a:r>
            <a:endParaRPr b="0" i="0" sz="2700" u="none" cap="none" strike="noStrike">
              <a:solidFill>
                <a:srgbClr val="131416"/>
              </a:solidFill>
              <a:latin typeface="Arial"/>
              <a:ea typeface="Arial"/>
              <a:cs typeface="Arial"/>
              <a:sym typeface="Arial"/>
            </a:endParaRPr>
          </a:p>
        </p:txBody>
      </p:sp>
      <p:sp>
        <p:nvSpPr>
          <p:cNvPr id="89" name="Google Shape;89;p2"/>
          <p:cNvSpPr txBox="1"/>
          <p:nvPr/>
        </p:nvSpPr>
        <p:spPr>
          <a:xfrm>
            <a:off x="1589200" y="7580100"/>
            <a:ext cx="4938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Internet como origen de datos</a:t>
            </a:r>
            <a:endParaRPr b="0" i="0" sz="2700" u="none" cap="none" strike="noStrike">
              <a:solidFill>
                <a:srgbClr val="131416"/>
              </a:solidFill>
              <a:latin typeface="Arial"/>
              <a:ea typeface="Arial"/>
              <a:cs typeface="Arial"/>
              <a:sym typeface="Arial"/>
            </a:endParaRPr>
          </a:p>
        </p:txBody>
      </p:sp>
      <p:sp>
        <p:nvSpPr>
          <p:cNvPr id="90" name="Google Shape;90;p2"/>
          <p:cNvSpPr txBox="1"/>
          <p:nvPr/>
        </p:nvSpPr>
        <p:spPr>
          <a:xfrm>
            <a:off x="1589200" y="8580450"/>
            <a:ext cx="47478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HTTP y códigos de respuesta</a:t>
            </a:r>
            <a:endParaRPr b="0" i="0" sz="2700" u="none" cap="none" strike="noStrike">
              <a:solidFill>
                <a:srgbClr val="131416"/>
              </a:solidFill>
              <a:latin typeface="Arial"/>
              <a:ea typeface="Arial"/>
              <a:cs typeface="Arial"/>
              <a:sym typeface="Arial"/>
            </a:endParaRPr>
          </a:p>
        </p:txBody>
      </p:sp>
      <p:sp>
        <p:nvSpPr>
          <p:cNvPr id="91" name="Google Shape;91;p2"/>
          <p:cNvSpPr txBox="1"/>
          <p:nvPr/>
        </p:nvSpPr>
        <p:spPr>
          <a:xfrm>
            <a:off x="9388200" y="4219888"/>
            <a:ext cx="8080800" cy="1591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700"/>
              <a:buFont typeface="Arial"/>
              <a:buNone/>
            </a:pPr>
            <a:r>
              <a:rPr b="1" lang="en-US" sz="2700">
                <a:solidFill>
                  <a:srgbClr val="131416"/>
                </a:solidFill>
              </a:rPr>
              <a:t>Cuestionario</a:t>
            </a:r>
            <a:endParaRPr b="1" sz="2700">
              <a:solidFill>
                <a:srgbClr val="131416"/>
              </a:solidFill>
            </a:endParaRPr>
          </a:p>
          <a:p>
            <a:pPr indent="0" lvl="0" marL="0" marR="0" rtl="0" algn="l">
              <a:lnSpc>
                <a:spcPct val="115000"/>
              </a:lnSpc>
              <a:spcBef>
                <a:spcPts val="0"/>
              </a:spcBef>
              <a:spcAft>
                <a:spcPts val="0"/>
              </a:spcAft>
              <a:buClr>
                <a:srgbClr val="000000"/>
              </a:buClr>
              <a:buSzPts val="2700"/>
              <a:buFont typeface="Arial"/>
              <a:buNone/>
            </a:pPr>
            <a:r>
              <a:rPr lang="en-US" sz="2700">
                <a:solidFill>
                  <a:srgbClr val="131416"/>
                </a:solidFill>
              </a:rPr>
              <a:t>https://quizizz.com/join?gc=454173&amp;source=liveDashboard</a:t>
            </a:r>
            <a:endParaRPr i="0" sz="2700" u="none" cap="none" strike="noStrike">
              <a:solidFill>
                <a:srgbClr val="13141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 name="Shape 95"/>
        <p:cNvGrpSpPr/>
        <p:nvPr/>
      </p:nvGrpSpPr>
      <p:grpSpPr>
        <a:xfrm>
          <a:off x="0" y="0"/>
          <a:ext cx="0" cy="0"/>
          <a:chOff x="0" y="0"/>
          <a:chExt cx="0" cy="0"/>
        </a:xfrm>
      </p:grpSpPr>
      <p:sp>
        <p:nvSpPr>
          <p:cNvPr id="96" name="Google Shape;96;p3"/>
          <p:cNvSpPr txBox="1"/>
          <p:nvPr/>
        </p:nvSpPr>
        <p:spPr>
          <a:xfrm>
            <a:off x="2681275" y="2375950"/>
            <a:ext cx="126297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7" name="Google Shape;97;p3"/>
          <p:cNvSpPr txBox="1"/>
          <p:nvPr/>
        </p:nvSpPr>
        <p:spPr>
          <a:xfrm>
            <a:off x="1033050" y="3677925"/>
            <a:ext cx="16221900" cy="4063800"/>
          </a:xfrm>
          <a:prstGeom prst="rect">
            <a:avLst/>
          </a:prstGeom>
          <a:noFill/>
          <a:ln>
            <a:noFill/>
          </a:ln>
        </p:spPr>
        <p:txBody>
          <a:bodyPr anchorCtr="0" anchor="t" bIns="0" lIns="0" spcFirstLastPara="1" rIns="0" wrap="square" tIns="0">
            <a:spAutoFit/>
          </a:bodyPr>
          <a:lstStyle/>
          <a:p>
            <a:pPr indent="-457200" lvl="0" marL="457200" marR="0" rtl="0" algn="just">
              <a:lnSpc>
                <a:spcPct val="140007"/>
              </a:lnSpc>
              <a:spcBef>
                <a:spcPts val="0"/>
              </a:spcBef>
              <a:spcAft>
                <a:spcPts val="0"/>
              </a:spcAft>
              <a:buClr>
                <a:srgbClr val="000000"/>
              </a:buClr>
              <a:buSzPts val="4000"/>
              <a:buFont typeface="Open Sans"/>
              <a:buChar char="●"/>
            </a:pPr>
            <a:r>
              <a:rPr b="0" i="0" lang="en-US" sz="4000" u="none" cap="none" strike="noStrike">
                <a:solidFill>
                  <a:srgbClr val="000000"/>
                </a:solidFill>
                <a:latin typeface="Open Sans"/>
                <a:ea typeface="Open Sans"/>
                <a:cs typeface="Open Sans"/>
                <a:sym typeface="Open Sans"/>
              </a:rPr>
              <a:t>Analiza respuestas de peticiones web mediante el uso de librerías HTTP y análisis JSON/XML para obtener datos seguros desde APIs externas. </a:t>
            </a:r>
            <a:endParaRPr b="0" i="0" sz="4000" u="none" cap="none" strike="noStrike">
              <a:solidFill>
                <a:srgbClr val="000000"/>
              </a:solidFill>
              <a:latin typeface="Open Sans"/>
              <a:ea typeface="Open Sans"/>
              <a:cs typeface="Open Sans"/>
              <a:sym typeface="Open Sans"/>
            </a:endParaRPr>
          </a:p>
          <a:p>
            <a:pPr indent="-457200" lvl="0" marL="457200" marR="0" rtl="0" algn="just">
              <a:lnSpc>
                <a:spcPct val="140007"/>
              </a:lnSpc>
              <a:spcBef>
                <a:spcPts val="0"/>
              </a:spcBef>
              <a:spcAft>
                <a:spcPts val="0"/>
              </a:spcAft>
              <a:buClr>
                <a:srgbClr val="000000"/>
              </a:buClr>
              <a:buSzPts val="4000"/>
              <a:buFont typeface="Open Sans"/>
              <a:buChar char="●"/>
            </a:pPr>
            <a:r>
              <a:rPr b="0" i="0" lang="en-US" sz="4000" u="none" cap="none" strike="noStrike">
                <a:solidFill>
                  <a:srgbClr val="000000"/>
                </a:solidFill>
                <a:latin typeface="Open Sans"/>
                <a:ea typeface="Open Sans"/>
                <a:cs typeface="Open Sans"/>
                <a:sym typeface="Open Sans"/>
              </a:rPr>
              <a:t>Implementa comunicación cliente-servidor mediante protocolos HTTP/HTTPS para desarrollar APIs seguras y eficientes.</a:t>
            </a:r>
            <a:endParaRPr b="0" i="0" sz="40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4"/>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JSON</a:t>
            </a:r>
            <a:endParaRPr b="1" sz="6000">
              <a:latin typeface="Open Sans"/>
              <a:ea typeface="Open Sans"/>
              <a:cs typeface="Open Sans"/>
              <a:sym typeface="Open Sans"/>
            </a:endParaRPr>
          </a:p>
        </p:txBody>
      </p:sp>
      <p:sp>
        <p:nvSpPr>
          <p:cNvPr id="103" name="Google Shape;103;p4"/>
          <p:cNvSpPr txBox="1"/>
          <p:nvPr>
            <p:ph idx="1" type="body"/>
          </p:nvPr>
        </p:nvSpPr>
        <p:spPr>
          <a:xfrm>
            <a:off x="1883725" y="4502175"/>
            <a:ext cx="7999800" cy="4091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2400"/>
              </a:spcAft>
              <a:buSzPts val="2800"/>
              <a:buNone/>
            </a:pPr>
            <a:r>
              <a:rPr lang="en-US" sz="2600">
                <a:solidFill>
                  <a:srgbClr val="000000"/>
                </a:solidFill>
                <a:latin typeface="Open Sans"/>
                <a:ea typeface="Open Sans"/>
                <a:cs typeface="Open Sans"/>
                <a:sym typeface="Open Sans"/>
              </a:rPr>
              <a:t>JSON o también conocido como JavaScript Object Notation es un formato de texto que forma parte del sistema de JavaScript y que se deriva de su sintaxis, pero no tiene como objetivo la creación de programas, sino el acceso, almacenamiento e intercambio de datos. Usualmente es conocido como una alternativa al lenguaje XML.</a:t>
            </a:r>
            <a:endParaRPr sz="2600">
              <a:solidFill>
                <a:srgbClr val="000000"/>
              </a:solidFill>
              <a:latin typeface="Open Sans"/>
              <a:ea typeface="Open Sans"/>
              <a:cs typeface="Open Sans"/>
              <a:sym typeface="Open Sans"/>
            </a:endParaRPr>
          </a:p>
        </p:txBody>
      </p:sp>
      <p:pic>
        <p:nvPicPr>
          <p:cNvPr id="104" name="Google Shape;104;p4"/>
          <p:cNvPicPr preferRelativeResize="0"/>
          <p:nvPr/>
        </p:nvPicPr>
        <p:blipFill rotWithShape="1">
          <a:blip r:embed="rId3">
            <a:alphaModFix/>
          </a:blip>
          <a:srcRect b="0" l="0" r="0" t="0"/>
          <a:stretch/>
        </p:blipFill>
        <p:spPr>
          <a:xfrm>
            <a:off x="11456838" y="3930000"/>
            <a:ext cx="4947450" cy="4947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8" name="Shape 108"/>
        <p:cNvGrpSpPr/>
        <p:nvPr/>
      </p:nvGrpSpPr>
      <p:grpSpPr>
        <a:xfrm>
          <a:off x="0" y="0"/>
          <a:ext cx="0" cy="0"/>
          <a:chOff x="0" y="0"/>
          <a:chExt cx="0" cy="0"/>
        </a:xfrm>
      </p:grpSpPr>
      <p:sp>
        <p:nvSpPr>
          <p:cNvPr id="109" name="Google Shape;109;p5"/>
          <p:cNvSpPr txBox="1"/>
          <p:nvPr>
            <p:ph type="title"/>
          </p:nvPr>
        </p:nvSpPr>
        <p:spPr>
          <a:xfrm>
            <a:off x="1423425" y="740650"/>
            <a:ext cx="15011400" cy="12873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11111"/>
              <a:buNone/>
            </a:pPr>
            <a:r>
              <a:rPr b="1" lang="en-US">
                <a:latin typeface="Open Sans"/>
                <a:ea typeface="Open Sans"/>
                <a:cs typeface="Open Sans"/>
                <a:sym typeface="Open Sans"/>
              </a:rPr>
              <a:t>Sintaxis JSON</a:t>
            </a:r>
            <a:endParaRPr b="1">
              <a:latin typeface="Open Sans"/>
              <a:ea typeface="Open Sans"/>
              <a:cs typeface="Open Sans"/>
              <a:sym typeface="Open Sans"/>
            </a:endParaRPr>
          </a:p>
        </p:txBody>
      </p:sp>
      <p:sp>
        <p:nvSpPr>
          <p:cNvPr id="110" name="Google Shape;110;p5"/>
          <p:cNvSpPr txBox="1"/>
          <p:nvPr>
            <p:ph idx="1" type="body"/>
          </p:nvPr>
        </p:nvSpPr>
        <p:spPr>
          <a:xfrm>
            <a:off x="590238" y="4032338"/>
            <a:ext cx="10278900" cy="5651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800"/>
              <a:buNone/>
            </a:pPr>
            <a:r>
              <a:rPr lang="en-US" sz="2600">
                <a:solidFill>
                  <a:srgbClr val="000000"/>
                </a:solidFill>
                <a:latin typeface="Open Sans"/>
                <a:ea typeface="Open Sans"/>
                <a:cs typeface="Open Sans"/>
                <a:sym typeface="Open Sans"/>
              </a:rPr>
              <a:t>La sintaxis de JSON funciona de modo similar a JavaScript. Por ejemplo:</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El arreglo de información se hace mediante claves (keys).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La información se separa por comas.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Las llaves agrupan objetos.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Los corchetes agrupan arreglos de datos.</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2400"/>
              </a:spcAft>
              <a:buSzPts val="2800"/>
              <a:buNone/>
            </a:pPr>
            <a:r>
              <a:rPr lang="en-US" sz="2600">
                <a:solidFill>
                  <a:srgbClr val="000000"/>
                </a:solidFill>
                <a:latin typeface="Open Sans"/>
                <a:ea typeface="Open Sans"/>
                <a:cs typeface="Open Sans"/>
                <a:sym typeface="Open Sans"/>
              </a:rPr>
              <a:t>Sin embargo, JSON se distingue de JavaScript porque sus claves tienen que ser strings (o secuencias de caracteres), mientras que sus valores deben ser strings, números, objetos, arreglos, booleanos o null.</a:t>
            </a:r>
            <a:endParaRPr sz="7800">
              <a:solidFill>
                <a:srgbClr val="000000"/>
              </a:solidFill>
              <a:latin typeface="Open Sans"/>
              <a:ea typeface="Open Sans"/>
              <a:cs typeface="Open Sans"/>
              <a:sym typeface="Open Sans"/>
            </a:endParaRPr>
          </a:p>
        </p:txBody>
      </p:sp>
      <p:pic>
        <p:nvPicPr>
          <p:cNvPr id="111" name="Google Shape;111;p5"/>
          <p:cNvPicPr preferRelativeResize="0"/>
          <p:nvPr/>
        </p:nvPicPr>
        <p:blipFill rotWithShape="1">
          <a:blip r:embed="rId3">
            <a:alphaModFix/>
          </a:blip>
          <a:srcRect b="0" l="0" r="0" t="0"/>
          <a:stretch/>
        </p:blipFill>
        <p:spPr>
          <a:xfrm>
            <a:off x="11390038" y="3704175"/>
            <a:ext cx="6307725" cy="6307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5" name="Shape 115"/>
        <p:cNvGrpSpPr/>
        <p:nvPr/>
      </p:nvGrpSpPr>
      <p:grpSpPr>
        <a:xfrm>
          <a:off x="0" y="0"/>
          <a:ext cx="0" cy="0"/>
          <a:chOff x="0" y="0"/>
          <a:chExt cx="0" cy="0"/>
        </a:xfrm>
      </p:grpSpPr>
      <p:sp>
        <p:nvSpPr>
          <p:cNvPr id="116" name="Google Shape;116;p6"/>
          <p:cNvSpPr txBox="1"/>
          <p:nvPr>
            <p:ph type="title"/>
          </p:nvPr>
        </p:nvSpPr>
        <p:spPr>
          <a:xfrm>
            <a:off x="1638300" y="1036375"/>
            <a:ext cx="15011400" cy="9915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11111"/>
              <a:buNone/>
            </a:pPr>
            <a:r>
              <a:rPr b="1" lang="en-US">
                <a:latin typeface="Open Sans"/>
                <a:ea typeface="Open Sans"/>
                <a:cs typeface="Open Sans"/>
                <a:sym typeface="Open Sans"/>
              </a:rPr>
              <a:t>JSON vs XML</a:t>
            </a:r>
            <a:endParaRPr b="1">
              <a:latin typeface="Open Sans"/>
              <a:ea typeface="Open Sans"/>
              <a:cs typeface="Open Sans"/>
              <a:sym typeface="Open Sans"/>
            </a:endParaRPr>
          </a:p>
        </p:txBody>
      </p:sp>
      <p:sp>
        <p:nvSpPr>
          <p:cNvPr id="117" name="Google Shape;117;p6"/>
          <p:cNvSpPr txBox="1"/>
          <p:nvPr>
            <p:ph idx="1" type="body"/>
          </p:nvPr>
        </p:nvSpPr>
        <p:spPr>
          <a:xfrm>
            <a:off x="921750" y="4917650"/>
            <a:ext cx="7999800" cy="48825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406400" lvl="0" marL="457200" rtl="0" algn="just">
              <a:lnSpc>
                <a:spcPct val="115000"/>
              </a:lnSpc>
              <a:spcBef>
                <a:spcPts val="0"/>
              </a:spcBef>
              <a:spcAft>
                <a:spcPts val="0"/>
              </a:spcAft>
              <a:buClr>
                <a:srgbClr val="000000"/>
              </a:buClr>
              <a:buSzPts val="2800"/>
              <a:buFont typeface="Open Sans"/>
              <a:buChar char="●"/>
            </a:pPr>
            <a:r>
              <a:rPr lang="en-US">
                <a:solidFill>
                  <a:srgbClr val="000000"/>
                </a:solidFill>
                <a:latin typeface="Open Sans"/>
                <a:ea typeface="Open Sans"/>
                <a:cs typeface="Open Sans"/>
                <a:sym typeface="Open Sans"/>
              </a:rPr>
              <a:t>JSON: JavaScript Object Notation</a:t>
            </a:r>
            <a:endParaRPr>
              <a:solidFill>
                <a:srgbClr val="000000"/>
              </a:solidFill>
              <a:latin typeface="Open Sans"/>
              <a:ea typeface="Open Sans"/>
              <a:cs typeface="Open Sans"/>
              <a:sym typeface="Open Sans"/>
            </a:endParaRPr>
          </a:p>
          <a:p>
            <a:pPr indent="-406400" lvl="0" marL="457200" rtl="0" algn="just">
              <a:lnSpc>
                <a:spcPct val="115000"/>
              </a:lnSpc>
              <a:spcBef>
                <a:spcPts val="1000"/>
              </a:spcBef>
              <a:spcAft>
                <a:spcPts val="0"/>
              </a:spcAft>
              <a:buClr>
                <a:srgbClr val="000000"/>
              </a:buClr>
              <a:buSzPts val="2800"/>
              <a:buFont typeface="Open Sans"/>
              <a:buChar char="●"/>
            </a:pPr>
            <a:r>
              <a:rPr lang="en-US">
                <a:solidFill>
                  <a:srgbClr val="000000"/>
                </a:solidFill>
                <a:latin typeface="Open Sans"/>
                <a:ea typeface="Open Sans"/>
                <a:cs typeface="Open Sans"/>
                <a:sym typeface="Open Sans"/>
              </a:rPr>
              <a:t>Creado por Douglas Crockford y Chip Morningstar en 2001.</a:t>
            </a:r>
            <a:endParaRPr>
              <a:solidFill>
                <a:srgbClr val="000000"/>
              </a:solidFill>
              <a:latin typeface="Open Sans"/>
              <a:ea typeface="Open Sans"/>
              <a:cs typeface="Open Sans"/>
              <a:sym typeface="Open Sans"/>
            </a:endParaRPr>
          </a:p>
          <a:p>
            <a:pPr indent="-406400" lvl="0" marL="457200" rtl="0" algn="just">
              <a:lnSpc>
                <a:spcPct val="115000"/>
              </a:lnSpc>
              <a:spcBef>
                <a:spcPts val="1000"/>
              </a:spcBef>
              <a:spcAft>
                <a:spcPts val="0"/>
              </a:spcAft>
              <a:buClr>
                <a:srgbClr val="000000"/>
              </a:buClr>
              <a:buSzPts val="2800"/>
              <a:buFont typeface="Open Sans"/>
              <a:buChar char="●"/>
            </a:pPr>
            <a:r>
              <a:rPr lang="en-US">
                <a:solidFill>
                  <a:srgbClr val="000000"/>
                </a:solidFill>
                <a:latin typeface="Open Sans"/>
                <a:ea typeface="Open Sans"/>
                <a:cs typeface="Open Sans"/>
                <a:sym typeface="Open Sans"/>
              </a:rPr>
              <a:t>Estructura similar a un mapa con pares Clave-Valor.</a:t>
            </a:r>
            <a:endParaRPr>
              <a:solidFill>
                <a:srgbClr val="000000"/>
              </a:solidFill>
              <a:latin typeface="Open Sans"/>
              <a:ea typeface="Open Sans"/>
              <a:cs typeface="Open Sans"/>
              <a:sym typeface="Open Sans"/>
            </a:endParaRPr>
          </a:p>
          <a:p>
            <a:pPr indent="-406400" lvl="0" marL="457200" rtl="0" algn="just">
              <a:lnSpc>
                <a:spcPct val="115000"/>
              </a:lnSpc>
              <a:spcBef>
                <a:spcPts val="1000"/>
              </a:spcBef>
              <a:spcAft>
                <a:spcPts val="1000"/>
              </a:spcAft>
              <a:buClr>
                <a:srgbClr val="000000"/>
              </a:buClr>
              <a:buSzPts val="2800"/>
              <a:buFont typeface="Open Sans"/>
              <a:buChar char="●"/>
            </a:pPr>
            <a:r>
              <a:rPr lang="en-US">
                <a:solidFill>
                  <a:srgbClr val="000000"/>
                </a:solidFill>
                <a:latin typeface="Open Sans"/>
                <a:ea typeface="Open Sans"/>
                <a:cs typeface="Open Sans"/>
                <a:sym typeface="Open Sans"/>
              </a:rPr>
              <a:t>La sintaxis de JSON es más compacta, por lo tanto es más fácil de leer y escribir.</a:t>
            </a:r>
            <a:endParaRPr>
              <a:solidFill>
                <a:srgbClr val="000000"/>
              </a:solidFill>
              <a:latin typeface="Open Sans"/>
              <a:ea typeface="Open Sans"/>
              <a:cs typeface="Open Sans"/>
              <a:sym typeface="Open Sans"/>
            </a:endParaRPr>
          </a:p>
        </p:txBody>
      </p:sp>
      <p:sp>
        <p:nvSpPr>
          <p:cNvPr id="118" name="Google Shape;118;p6"/>
          <p:cNvSpPr txBox="1"/>
          <p:nvPr>
            <p:ph idx="2" type="body"/>
          </p:nvPr>
        </p:nvSpPr>
        <p:spPr>
          <a:xfrm>
            <a:off x="9366450" y="4917650"/>
            <a:ext cx="7999800" cy="48825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393700" lvl="0" marL="457200" rtl="0" algn="just">
              <a:lnSpc>
                <a:spcPct val="115000"/>
              </a:lnSpc>
              <a:spcBef>
                <a:spcPts val="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Lenguaje de Marcado Extensible</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Publicado en 1998.</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almacena los datos en una estructura de árbol con espacios de nombres para diferentes categorías de datos.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1000"/>
              </a:spcAft>
              <a:buClr>
                <a:srgbClr val="000000"/>
              </a:buClr>
              <a:buSzPts val="2600"/>
              <a:buFont typeface="Open Sans"/>
              <a:buChar char="●"/>
            </a:pPr>
            <a:r>
              <a:rPr lang="en-US" sz="2600">
                <a:solidFill>
                  <a:srgbClr val="000000"/>
                </a:solidFill>
                <a:latin typeface="Open Sans"/>
                <a:ea typeface="Open Sans"/>
                <a:cs typeface="Open Sans"/>
                <a:sym typeface="Open Sans"/>
              </a:rPr>
              <a:t>La sintaxis de XML sustituye algunos caracteres por referencias a entidades, lo que lo hace más detallado.</a:t>
            </a:r>
            <a:endParaRPr sz="2600">
              <a:solidFill>
                <a:srgbClr val="000000"/>
              </a:solidFill>
              <a:latin typeface="Open Sans"/>
              <a:ea typeface="Open Sans"/>
              <a:cs typeface="Open Sans"/>
              <a:sym typeface="Open Sans"/>
            </a:endParaRPr>
          </a:p>
        </p:txBody>
      </p:sp>
      <p:sp>
        <p:nvSpPr>
          <p:cNvPr id="119" name="Google Shape;119;p6"/>
          <p:cNvSpPr txBox="1"/>
          <p:nvPr/>
        </p:nvSpPr>
        <p:spPr>
          <a:xfrm>
            <a:off x="921750" y="3804400"/>
            <a:ext cx="7999800" cy="800400"/>
          </a:xfrm>
          <a:prstGeom prst="rect">
            <a:avLst/>
          </a:prstGeom>
          <a:solidFill>
            <a:schemeClr val="lt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Open Sans"/>
                <a:ea typeface="Open Sans"/>
                <a:cs typeface="Open Sans"/>
                <a:sym typeface="Open Sans"/>
              </a:rPr>
              <a:t>JSON</a:t>
            </a:r>
            <a:endParaRPr b="1" i="0" sz="4000" u="none" cap="none" strike="noStrike">
              <a:solidFill>
                <a:schemeClr val="dk1"/>
              </a:solidFill>
              <a:latin typeface="Open Sans"/>
              <a:ea typeface="Open Sans"/>
              <a:cs typeface="Open Sans"/>
              <a:sym typeface="Open Sans"/>
            </a:endParaRPr>
          </a:p>
        </p:txBody>
      </p:sp>
      <p:sp>
        <p:nvSpPr>
          <p:cNvPr id="120" name="Google Shape;120;p6"/>
          <p:cNvSpPr txBox="1"/>
          <p:nvPr/>
        </p:nvSpPr>
        <p:spPr>
          <a:xfrm>
            <a:off x="9366450" y="3804400"/>
            <a:ext cx="79998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XML</a:t>
            </a:r>
            <a:endParaRPr b="1" i="0" sz="4000" u="none" cap="none" strike="noStrike">
              <a:solidFill>
                <a:schemeClr val="lt1"/>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4" name="Shape 124"/>
        <p:cNvGrpSpPr/>
        <p:nvPr/>
      </p:nvGrpSpPr>
      <p:grpSpPr>
        <a:xfrm>
          <a:off x="0" y="0"/>
          <a:ext cx="0" cy="0"/>
          <a:chOff x="0" y="0"/>
          <a:chExt cx="0" cy="0"/>
        </a:xfrm>
      </p:grpSpPr>
      <p:sp>
        <p:nvSpPr>
          <p:cNvPr id="125" name="Google Shape;125;p7"/>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JSON vs XML</a:t>
            </a:r>
            <a:endParaRPr b="1" sz="6000">
              <a:latin typeface="Open Sans"/>
              <a:ea typeface="Open Sans"/>
              <a:cs typeface="Open Sans"/>
              <a:sym typeface="Open Sans"/>
            </a:endParaRPr>
          </a:p>
        </p:txBody>
      </p:sp>
      <p:sp>
        <p:nvSpPr>
          <p:cNvPr id="126" name="Google Shape;126;p7"/>
          <p:cNvSpPr txBox="1"/>
          <p:nvPr>
            <p:ph idx="4294967295" type="body"/>
          </p:nvPr>
        </p:nvSpPr>
        <p:spPr>
          <a:xfrm>
            <a:off x="1400225" y="3612900"/>
            <a:ext cx="7372200" cy="54819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393700" lvl="0" marL="457200" rtl="0" algn="just">
              <a:lnSpc>
                <a:spcPct val="115000"/>
              </a:lnSpc>
              <a:spcBef>
                <a:spcPts val="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Se puede analizar JSON con una función de javascript estándar.</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JSON es más sencillo y flexible.</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JSON admite diferentes tipos de datos, como números, cadenas, objetos  y booleanos.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1000"/>
              </a:spcAft>
              <a:buClr>
                <a:srgbClr val="000000"/>
              </a:buClr>
              <a:buSzPts val="2600"/>
              <a:buFont typeface="Open Sans"/>
              <a:buChar char="●"/>
            </a:pPr>
            <a:r>
              <a:rPr lang="en-US" sz="2600">
                <a:solidFill>
                  <a:srgbClr val="000000"/>
                </a:solidFill>
                <a:latin typeface="Open Sans"/>
                <a:ea typeface="Open Sans"/>
                <a:cs typeface="Open Sans"/>
                <a:sym typeface="Open Sans"/>
              </a:rPr>
              <a:t>JSON tiene tamaños de archivos más pequeños y una transmisión de datos más rápida.</a:t>
            </a:r>
            <a:endParaRPr sz="2600">
              <a:solidFill>
                <a:srgbClr val="000000"/>
              </a:solidFill>
              <a:latin typeface="Open Sans"/>
              <a:ea typeface="Open Sans"/>
              <a:cs typeface="Open Sans"/>
              <a:sym typeface="Open Sans"/>
            </a:endParaRPr>
          </a:p>
        </p:txBody>
      </p:sp>
      <p:sp>
        <p:nvSpPr>
          <p:cNvPr id="127" name="Google Shape;127;p7"/>
          <p:cNvSpPr txBox="1"/>
          <p:nvPr>
            <p:ph idx="4294967295" type="body"/>
          </p:nvPr>
        </p:nvSpPr>
        <p:spPr>
          <a:xfrm>
            <a:off x="9515575" y="3612900"/>
            <a:ext cx="7372200" cy="54819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393700" lvl="0" marL="457200" rtl="0" algn="just">
              <a:lnSpc>
                <a:spcPct val="115000"/>
              </a:lnSpc>
              <a:spcBef>
                <a:spcPts val="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Se necesita de una herramienta extra, un analizador XML, para gestionar XML.</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es complejo y menos flexible.</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admite todos los tipos de datos de JSON, y otros tipo de datos, como fechas, imágenes y espacios de nombres.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1000"/>
              </a:spcAft>
              <a:buClr>
                <a:srgbClr val="000000"/>
              </a:buClr>
              <a:buSzPts val="2600"/>
              <a:buFont typeface="Open Sans"/>
              <a:buChar char="●"/>
            </a:pPr>
            <a:r>
              <a:rPr lang="en-US" sz="2600">
                <a:solidFill>
                  <a:srgbClr val="000000"/>
                </a:solidFill>
                <a:latin typeface="Open Sans"/>
                <a:ea typeface="Open Sans"/>
                <a:cs typeface="Open Sans"/>
                <a:sym typeface="Open Sans"/>
              </a:rPr>
              <a:t>La estructura XML es más compleja de leer y escribir, y a menudo genera archivos voluminosos.</a:t>
            </a:r>
            <a:endParaRPr sz="2600">
              <a:solidFill>
                <a:srgbClr val="000000"/>
              </a:solidFill>
              <a:latin typeface="Open Sans"/>
              <a:ea typeface="Open Sans"/>
              <a:cs typeface="Open Sans"/>
              <a:sym typeface="Open Sans"/>
            </a:endParaRPr>
          </a:p>
        </p:txBody>
      </p:sp>
      <p:sp>
        <p:nvSpPr>
          <p:cNvPr id="128" name="Google Shape;128;p7"/>
          <p:cNvSpPr txBox="1"/>
          <p:nvPr/>
        </p:nvSpPr>
        <p:spPr>
          <a:xfrm>
            <a:off x="1400225" y="2356350"/>
            <a:ext cx="7372200" cy="800400"/>
          </a:xfrm>
          <a:prstGeom prst="rect">
            <a:avLst/>
          </a:prstGeom>
          <a:solidFill>
            <a:schemeClr val="lt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Open Sans"/>
                <a:ea typeface="Open Sans"/>
                <a:cs typeface="Open Sans"/>
                <a:sym typeface="Open Sans"/>
              </a:rPr>
              <a:t>JSON</a:t>
            </a:r>
            <a:endParaRPr b="1" i="0" sz="4000" u="none" cap="none" strike="noStrike">
              <a:solidFill>
                <a:schemeClr val="dk1"/>
              </a:solidFill>
              <a:latin typeface="Open Sans"/>
              <a:ea typeface="Open Sans"/>
              <a:cs typeface="Open Sans"/>
              <a:sym typeface="Open Sans"/>
            </a:endParaRPr>
          </a:p>
        </p:txBody>
      </p:sp>
      <p:sp>
        <p:nvSpPr>
          <p:cNvPr id="129" name="Google Shape;129;p7"/>
          <p:cNvSpPr txBox="1"/>
          <p:nvPr/>
        </p:nvSpPr>
        <p:spPr>
          <a:xfrm>
            <a:off x="9515575" y="2356350"/>
            <a:ext cx="73722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XML</a:t>
            </a:r>
            <a:endParaRPr b="1" i="0" sz="4000" u="none" cap="none" strike="noStrike">
              <a:solidFill>
                <a:schemeClr val="lt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3" name="Shape 133"/>
        <p:cNvGrpSpPr/>
        <p:nvPr/>
      </p:nvGrpSpPr>
      <p:grpSpPr>
        <a:xfrm>
          <a:off x="0" y="0"/>
          <a:ext cx="0" cy="0"/>
          <a:chOff x="0" y="0"/>
          <a:chExt cx="0" cy="0"/>
        </a:xfrm>
      </p:grpSpPr>
      <p:sp>
        <p:nvSpPr>
          <p:cNvPr id="134" name="Google Shape;134;p8"/>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JSON vs XML</a:t>
            </a:r>
            <a:endParaRPr b="1" sz="6000">
              <a:latin typeface="Open Sans"/>
              <a:ea typeface="Open Sans"/>
              <a:cs typeface="Open Sans"/>
              <a:sym typeface="Open Sans"/>
            </a:endParaRPr>
          </a:p>
        </p:txBody>
      </p:sp>
      <p:sp>
        <p:nvSpPr>
          <p:cNvPr id="135" name="Google Shape;135;p8"/>
          <p:cNvSpPr txBox="1"/>
          <p:nvPr>
            <p:ph idx="4294967295" type="body"/>
          </p:nvPr>
        </p:nvSpPr>
        <p:spPr>
          <a:xfrm>
            <a:off x="7923963" y="1791450"/>
            <a:ext cx="9526500" cy="7921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3600"/>
              <a:buNone/>
            </a:pPr>
            <a:r>
              <a:rPr lang="en-US" sz="2600">
                <a:solidFill>
                  <a:srgbClr val="000000"/>
                </a:solidFill>
                <a:latin typeface="Open Sans"/>
                <a:ea typeface="Open Sans"/>
                <a:cs typeface="Open Sans"/>
                <a:sym typeface="Open Sans"/>
              </a:rPr>
              <a:t>Si desea almacenar varios tipos de datos diferentes con muchas variables, XML es la mejor opción. XML comprueba si hay errores en datos complejos de forma más eficiente que JSON, ya que XML se centra en almacenar datos de forma legible por máquina. También cuenta con un conjunto más avanzado de herramientas y bibliotecas y es posible que funcione mejor con sistemas heredados.</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3600"/>
              <a:buNone/>
            </a:pPr>
            <a:r>
              <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3600"/>
              <a:buNone/>
            </a:pPr>
            <a:r>
              <a:rPr lang="en-US" sz="2600">
                <a:solidFill>
                  <a:srgbClr val="000000"/>
                </a:solidFill>
                <a:latin typeface="Open Sans"/>
                <a:ea typeface="Open Sans"/>
                <a:cs typeface="Open Sans"/>
                <a:sym typeface="Open Sans"/>
              </a:rPr>
              <a:t>Por otro lado, JSON se diseñó para el intercambio de datos y proporciona un formato más simple y conciso. También mejora el rendimiento y la velocidad de comunicación. Por lo general, JSON es una mejor opción para las API, las aplicaciones móviles y el almacenamiento de datos, mientras que XML es más adecuado para estructuras de documentos complejas que requieren el intercambio de datos.</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1000"/>
              </a:spcAft>
              <a:buSzPts val="3600"/>
              <a:buNone/>
            </a:pPr>
            <a:r>
              <a:t/>
            </a:r>
            <a:endParaRPr b="1">
              <a:solidFill>
                <a:srgbClr val="131416"/>
              </a:solidFill>
              <a:latin typeface="Open Sans"/>
              <a:ea typeface="Open Sans"/>
              <a:cs typeface="Open Sans"/>
              <a:sym typeface="Open Sans"/>
            </a:endParaRPr>
          </a:p>
        </p:txBody>
      </p:sp>
      <p:sp>
        <p:nvSpPr>
          <p:cNvPr id="136" name="Google Shape;136;p8"/>
          <p:cNvSpPr/>
          <p:nvPr/>
        </p:nvSpPr>
        <p:spPr>
          <a:xfrm>
            <a:off x="837538" y="3574850"/>
            <a:ext cx="6381959" cy="3762995"/>
          </a:xfrm>
          <a:custGeom>
            <a:rect b="b" l="l" r="r" t="t"/>
            <a:pathLst>
              <a:path extrusionOk="0" h="4617172" w="8208307">
                <a:moveTo>
                  <a:pt x="0" y="0"/>
                </a:moveTo>
                <a:lnTo>
                  <a:pt x="8208307" y="0"/>
                </a:lnTo>
                <a:lnTo>
                  <a:pt x="8208307" y="4617172"/>
                </a:lnTo>
                <a:lnTo>
                  <a:pt x="0" y="461717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0" name="Shape 140"/>
        <p:cNvGrpSpPr/>
        <p:nvPr/>
      </p:nvGrpSpPr>
      <p:grpSpPr>
        <a:xfrm>
          <a:off x="0" y="0"/>
          <a:ext cx="0" cy="0"/>
          <a:chOff x="0" y="0"/>
          <a:chExt cx="0" cy="0"/>
        </a:xfrm>
      </p:grpSpPr>
      <p:sp>
        <p:nvSpPr>
          <p:cNvPr id="141" name="Google Shape;141;p9"/>
          <p:cNvSpPr txBox="1"/>
          <p:nvPr>
            <p:ph type="title"/>
          </p:nvPr>
        </p:nvSpPr>
        <p:spPr>
          <a:xfrm>
            <a:off x="3766500" y="281500"/>
            <a:ext cx="10755000" cy="1091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8400"/>
              <a:buNone/>
            </a:pPr>
            <a:r>
              <a:rPr b="1" lang="en-US" sz="6000">
                <a:latin typeface="Open Sans"/>
                <a:ea typeface="Open Sans"/>
                <a:cs typeface="Open Sans"/>
                <a:sym typeface="Open Sans"/>
              </a:rPr>
              <a:t>JSON vs XML</a:t>
            </a:r>
            <a:endParaRPr b="1" sz="6000">
              <a:latin typeface="Open Sans"/>
              <a:ea typeface="Open Sans"/>
              <a:cs typeface="Open Sans"/>
              <a:sym typeface="Open Sans"/>
            </a:endParaRPr>
          </a:p>
        </p:txBody>
      </p:sp>
      <p:sp>
        <p:nvSpPr>
          <p:cNvPr id="142" name="Google Shape;142;p9"/>
          <p:cNvSpPr/>
          <p:nvPr/>
        </p:nvSpPr>
        <p:spPr>
          <a:xfrm>
            <a:off x="3709203" y="1584550"/>
            <a:ext cx="10869594" cy="7699203"/>
          </a:xfrm>
          <a:custGeom>
            <a:rect b="b" l="l" r="r" t="t"/>
            <a:pathLst>
              <a:path extrusionOk="0" h="6724195" w="9410904">
                <a:moveTo>
                  <a:pt x="0" y="0"/>
                </a:moveTo>
                <a:lnTo>
                  <a:pt x="9410904" y="0"/>
                </a:lnTo>
                <a:lnTo>
                  <a:pt x="9410904" y="6724195"/>
                </a:lnTo>
                <a:lnTo>
                  <a:pt x="0" y="67241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6" name="Shape 146"/>
        <p:cNvGrpSpPr/>
        <p:nvPr/>
      </p:nvGrpSpPr>
      <p:grpSpPr>
        <a:xfrm>
          <a:off x="0" y="0"/>
          <a:ext cx="0" cy="0"/>
          <a:chOff x="0" y="0"/>
          <a:chExt cx="0" cy="0"/>
        </a:xfrm>
      </p:grpSpPr>
      <p:sp>
        <p:nvSpPr>
          <p:cNvPr id="147" name="Google Shape;147;p10"/>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Tipos de datos JSON</a:t>
            </a:r>
            <a:endParaRPr b="1" sz="6000">
              <a:latin typeface="Open Sans"/>
              <a:ea typeface="Open Sans"/>
              <a:cs typeface="Open Sans"/>
              <a:sym typeface="Open Sans"/>
            </a:endParaRPr>
          </a:p>
        </p:txBody>
      </p:sp>
      <p:sp>
        <p:nvSpPr>
          <p:cNvPr id="148" name="Google Shape;148;p10"/>
          <p:cNvSpPr txBox="1"/>
          <p:nvPr>
            <p:ph idx="4294967295" type="body"/>
          </p:nvPr>
        </p:nvSpPr>
        <p:spPr>
          <a:xfrm>
            <a:off x="1245750" y="1741550"/>
            <a:ext cx="15796500" cy="41517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3600"/>
              <a:buNone/>
            </a:pPr>
            <a:r>
              <a:rPr lang="en-US" sz="2600">
                <a:solidFill>
                  <a:srgbClr val="000000"/>
                </a:solidFill>
                <a:latin typeface="Open Sans"/>
                <a:ea typeface="Open Sans"/>
                <a:cs typeface="Open Sans"/>
                <a:sym typeface="Open Sans"/>
              </a:rPr>
              <a:t>JSON se puede utilizar en programas de JavaScript sin necesidad de analizar o serializar. Es una forma basada en texto de representar datos literales de objetos de JavaScript, matrices y datos escalares. </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3600"/>
              <a:buNone/>
            </a:pPr>
            <a:r>
              <a:rPr lang="en-US" sz="2600">
                <a:solidFill>
                  <a:srgbClr val="000000"/>
                </a:solidFill>
                <a:latin typeface="Open Sans"/>
                <a:ea typeface="Open Sans"/>
                <a:cs typeface="Open Sans"/>
                <a:sym typeface="Open Sans"/>
              </a:rPr>
              <a:t>JSON es relativamente fácil de leer y escribir, así como de analizar y generar por software. A menudo se utiliza para serializar datos estructurados e intercambiarlos a través de una red, normalmente entre un servidor y aplicaciones web.</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3600"/>
              <a:buNone/>
            </a:pPr>
            <a:r>
              <a:rPr lang="en-US" sz="2600">
                <a:solidFill>
                  <a:srgbClr val="000000"/>
                </a:solidFill>
                <a:latin typeface="Open Sans"/>
                <a:ea typeface="Open Sans"/>
                <a:cs typeface="Open Sans"/>
                <a:sym typeface="Open Sans"/>
              </a:rPr>
              <a:t>A nivel granular, JSON está formado por los siguientes tipos de dato:</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3600"/>
              <a:buNone/>
            </a:pPr>
            <a:r>
              <a:t/>
            </a:r>
            <a:endParaRPr>
              <a:solidFill>
                <a:srgbClr val="000000"/>
              </a:solidFill>
              <a:latin typeface="Open Sans"/>
              <a:ea typeface="Open Sans"/>
              <a:cs typeface="Open Sans"/>
              <a:sym typeface="Open Sans"/>
            </a:endParaRPr>
          </a:p>
          <a:p>
            <a:pPr indent="0" lvl="0" marL="0" rtl="0" algn="just">
              <a:lnSpc>
                <a:spcPct val="115000"/>
              </a:lnSpc>
              <a:spcBef>
                <a:spcPts val="2400"/>
              </a:spcBef>
              <a:spcAft>
                <a:spcPts val="2400"/>
              </a:spcAft>
              <a:buSzPts val="3600"/>
              <a:buNone/>
            </a:pPr>
            <a:r>
              <a:t/>
            </a:r>
            <a:endParaRPr>
              <a:solidFill>
                <a:srgbClr val="000000"/>
              </a:solidFill>
              <a:latin typeface="Open Sans"/>
              <a:ea typeface="Open Sans"/>
              <a:cs typeface="Open Sans"/>
              <a:sym typeface="Open Sans"/>
            </a:endParaRPr>
          </a:p>
        </p:txBody>
      </p:sp>
      <p:sp>
        <p:nvSpPr>
          <p:cNvPr id="149" name="Google Shape;149;p10"/>
          <p:cNvSpPr txBox="1"/>
          <p:nvPr/>
        </p:nvSpPr>
        <p:spPr>
          <a:xfrm>
            <a:off x="1382400" y="6020125"/>
            <a:ext cx="15523200" cy="30207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Matriz</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Booleano</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Nulo</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Número</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Cadena</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Almacenamiento</a:t>
            </a:r>
            <a:endParaRPr b="0" i="0" sz="2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ph type="title"/>
          </p:nvPr>
        </p:nvSpPr>
        <p:spPr>
          <a:xfrm>
            <a:off x="531000" y="2639921"/>
            <a:ext cx="8090400" cy="15024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Matriz</a:t>
            </a:r>
            <a:endParaRPr b="1" sz="6000">
              <a:solidFill>
                <a:srgbClr val="131416"/>
              </a:solidFill>
              <a:latin typeface="Open Sans"/>
              <a:ea typeface="Open Sans"/>
              <a:cs typeface="Open Sans"/>
              <a:sym typeface="Open Sans"/>
            </a:endParaRPr>
          </a:p>
          <a:p>
            <a:pPr indent="0" lvl="0" marL="0" rtl="0" algn="ctr">
              <a:lnSpc>
                <a:spcPct val="115000"/>
              </a:lnSpc>
              <a:spcBef>
                <a:spcPts val="100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55" name="Google Shape;155;p11"/>
          <p:cNvSpPr/>
          <p:nvPr/>
        </p:nvSpPr>
        <p:spPr>
          <a:xfrm>
            <a:off x="10703489" y="2692124"/>
            <a:ext cx="6701955" cy="4902763"/>
          </a:xfrm>
          <a:custGeom>
            <a:rect b="b" l="l" r="r" t="t"/>
            <a:pathLst>
              <a:path extrusionOk="0" h="5635360" w="6322599">
                <a:moveTo>
                  <a:pt x="0" y="0"/>
                </a:moveTo>
                <a:lnTo>
                  <a:pt x="6322599" y="0"/>
                </a:lnTo>
                <a:lnTo>
                  <a:pt x="6322599" y="5635360"/>
                </a:lnTo>
                <a:lnTo>
                  <a:pt x="0" y="5635360"/>
                </a:lnTo>
                <a:lnTo>
                  <a:pt x="0" y="0"/>
                </a:lnTo>
                <a:close/>
              </a:path>
            </a:pathLst>
          </a:custGeom>
          <a:blipFill rotWithShape="1">
            <a:blip r:embed="rId3">
              <a:alphaModFix/>
            </a:blip>
            <a:stretch>
              <a:fillRect b="0" l="0" r="0" t="0"/>
            </a:stretch>
          </a:blipFill>
          <a:ln>
            <a:noFill/>
          </a:ln>
        </p:spPr>
      </p:sp>
      <p:sp>
        <p:nvSpPr>
          <p:cNvPr id="156" name="Google Shape;156;p11"/>
          <p:cNvSpPr txBox="1"/>
          <p:nvPr>
            <p:ph idx="1" type="subTitle"/>
          </p:nvPr>
        </p:nvSpPr>
        <p:spPr>
          <a:xfrm>
            <a:off x="531000" y="51768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0"/>
              </a:spcAft>
              <a:buSzPts val="4200"/>
              <a:buNone/>
            </a:pPr>
            <a:r>
              <a:rPr lang="en-US" sz="2600">
                <a:solidFill>
                  <a:srgbClr val="000000"/>
                </a:solidFill>
                <a:latin typeface="Open Sans"/>
                <a:ea typeface="Open Sans"/>
                <a:cs typeface="Open Sans"/>
                <a:sym typeface="Open Sans"/>
              </a:rPr>
              <a:t>Un tipo de datos de matriz es una recopilación ordenada de valores. En JSON, los valores de matriz deben ser cadena, número, objeto, matriz, booleano o nulo.</a:t>
            </a:r>
            <a:endParaRPr sz="2600">
              <a:solidFill>
                <a:srgbClr val="000000"/>
              </a:solidFill>
              <a:latin typeface="Open Sans"/>
              <a:ea typeface="Open Sans"/>
              <a:cs typeface="Open Sans"/>
              <a:sym typeface="Open Sans"/>
            </a:endParaRPr>
          </a:p>
          <a:p>
            <a:pPr indent="0" lvl="0" marL="0" rtl="0" algn="ctr">
              <a:lnSpc>
                <a:spcPct val="100000"/>
              </a:lnSpc>
              <a:spcBef>
                <a:spcPts val="0"/>
              </a:spcBef>
              <a:spcAft>
                <a:spcPts val="0"/>
              </a:spcAft>
              <a:buSzPts val="42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txBox="1"/>
          <p:nvPr>
            <p:ph type="title"/>
          </p:nvPr>
        </p:nvSpPr>
        <p:spPr>
          <a:xfrm>
            <a:off x="531000" y="2691046"/>
            <a:ext cx="8090400" cy="142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Booleano</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62" name="Google Shape;162;p12"/>
          <p:cNvSpPr/>
          <p:nvPr/>
        </p:nvSpPr>
        <p:spPr>
          <a:xfrm>
            <a:off x="10503875" y="4547125"/>
            <a:ext cx="6707645" cy="1192749"/>
          </a:xfrm>
          <a:custGeom>
            <a:rect b="b" l="l" r="r" t="t"/>
            <a:pathLst>
              <a:path extrusionOk="0" h="1099308" w="8943527">
                <a:moveTo>
                  <a:pt x="0" y="0"/>
                </a:moveTo>
                <a:lnTo>
                  <a:pt x="8943527" y="0"/>
                </a:lnTo>
                <a:lnTo>
                  <a:pt x="8943527" y="1099308"/>
                </a:lnTo>
                <a:lnTo>
                  <a:pt x="0" y="1099308"/>
                </a:lnTo>
                <a:lnTo>
                  <a:pt x="0" y="0"/>
                </a:lnTo>
                <a:close/>
              </a:path>
            </a:pathLst>
          </a:custGeom>
          <a:blipFill rotWithShape="1">
            <a:blip r:embed="rId3">
              <a:alphaModFix/>
            </a:blip>
            <a:stretch>
              <a:fillRect b="0" l="0" r="0" t="0"/>
            </a:stretch>
          </a:blipFill>
          <a:ln>
            <a:noFill/>
          </a:ln>
        </p:spPr>
      </p:sp>
      <p:sp>
        <p:nvSpPr>
          <p:cNvPr id="163" name="Google Shape;163;p12"/>
          <p:cNvSpPr txBox="1"/>
          <p:nvPr>
            <p:ph idx="1" type="subTitle"/>
          </p:nvPr>
        </p:nvSpPr>
        <p:spPr>
          <a:xfrm>
            <a:off x="531000" y="5125754"/>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0"/>
              </a:spcAft>
              <a:buSzPts val="4200"/>
              <a:buNone/>
            </a:pPr>
            <a:r>
              <a:rPr lang="en-US" sz="2600">
                <a:solidFill>
                  <a:srgbClr val="000000"/>
                </a:solidFill>
                <a:latin typeface="Open Sans"/>
                <a:ea typeface="Open Sans"/>
                <a:cs typeface="Open Sans"/>
                <a:sym typeface="Open Sans"/>
              </a:rPr>
              <a:t>Los valores booleanos se designan como true o false. Los valores booleanos no van entre comillas y se tratan como valores de cadena.</a:t>
            </a:r>
            <a:endParaRPr sz="2600">
              <a:solidFill>
                <a:srgbClr val="000000"/>
              </a:solidFill>
              <a:latin typeface="Open Sans"/>
              <a:ea typeface="Open Sans"/>
              <a:cs typeface="Open Sans"/>
              <a:sym typeface="Open Sans"/>
            </a:endParaRPr>
          </a:p>
          <a:p>
            <a:pPr indent="0" lvl="0" marL="0" rtl="0" algn="ctr">
              <a:lnSpc>
                <a:spcPct val="100000"/>
              </a:lnSpc>
              <a:spcBef>
                <a:spcPts val="1000"/>
              </a:spcBef>
              <a:spcAft>
                <a:spcPts val="0"/>
              </a:spcAft>
              <a:buSzPts val="4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3"/>
          <p:cNvSpPr txBox="1"/>
          <p:nvPr>
            <p:ph type="title"/>
          </p:nvPr>
        </p:nvSpPr>
        <p:spPr>
          <a:xfrm>
            <a:off x="531000" y="2755421"/>
            <a:ext cx="8090400" cy="11928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Nulo</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69" name="Google Shape;169;p13"/>
          <p:cNvSpPr/>
          <p:nvPr/>
        </p:nvSpPr>
        <p:spPr>
          <a:xfrm>
            <a:off x="10340050" y="4547134"/>
            <a:ext cx="6696603" cy="1192729"/>
          </a:xfrm>
          <a:custGeom>
            <a:rect b="b" l="l" r="r" t="t"/>
            <a:pathLst>
              <a:path extrusionOk="0" h="1299977" w="9080139">
                <a:moveTo>
                  <a:pt x="0" y="0"/>
                </a:moveTo>
                <a:lnTo>
                  <a:pt x="9080139" y="0"/>
                </a:lnTo>
                <a:lnTo>
                  <a:pt x="9080139" y="1299976"/>
                </a:lnTo>
                <a:lnTo>
                  <a:pt x="0" y="1299976"/>
                </a:lnTo>
                <a:lnTo>
                  <a:pt x="0" y="0"/>
                </a:lnTo>
                <a:close/>
              </a:path>
            </a:pathLst>
          </a:custGeom>
          <a:blipFill rotWithShape="1">
            <a:blip r:embed="rId3">
              <a:alphaModFix/>
            </a:blip>
            <a:stretch>
              <a:fillRect b="0" l="0" r="0" t="0"/>
            </a:stretch>
          </a:blipFill>
          <a:ln>
            <a:noFill/>
          </a:ln>
        </p:spPr>
      </p:sp>
      <p:sp>
        <p:nvSpPr>
          <p:cNvPr id="170" name="Google Shape;170;p13"/>
          <p:cNvSpPr txBox="1"/>
          <p:nvPr>
            <p:ph idx="1" type="subTitle"/>
          </p:nvPr>
        </p:nvSpPr>
        <p:spPr>
          <a:xfrm>
            <a:off x="531000" y="50613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1000"/>
              </a:spcAft>
              <a:buSzPts val="4200"/>
              <a:buNone/>
            </a:pPr>
            <a:r>
              <a:rPr lang="en-US" sz="2600">
                <a:solidFill>
                  <a:srgbClr val="000000"/>
                </a:solidFill>
                <a:latin typeface="Open Sans"/>
                <a:ea typeface="Open Sans"/>
                <a:cs typeface="Open Sans"/>
                <a:sym typeface="Open Sans"/>
              </a:rPr>
              <a:t>Nulo es un valor vacío. Cuando no se asigna ningún valor a una clave, se puede tratar como nula.</a:t>
            </a:r>
            <a:endParaRPr sz="2600">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txBox="1"/>
          <p:nvPr>
            <p:ph type="title"/>
          </p:nvPr>
        </p:nvSpPr>
        <p:spPr>
          <a:xfrm>
            <a:off x="531000" y="2755421"/>
            <a:ext cx="8090400" cy="11928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Número</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76" name="Google Shape;176;p14"/>
          <p:cNvSpPr txBox="1"/>
          <p:nvPr>
            <p:ph idx="1" type="subTitle"/>
          </p:nvPr>
        </p:nvSpPr>
        <p:spPr>
          <a:xfrm>
            <a:off x="531000" y="50613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1000"/>
              </a:spcAft>
              <a:buSzPts val="4200"/>
              <a:buNone/>
            </a:pPr>
            <a:r>
              <a:rPr lang="en-US" sz="2600">
                <a:solidFill>
                  <a:srgbClr val="000000"/>
                </a:solidFill>
                <a:latin typeface="Open Sans"/>
                <a:ea typeface="Open Sans"/>
                <a:cs typeface="Open Sans"/>
                <a:sym typeface="Open Sans"/>
              </a:rPr>
              <a:t>El número JSON sigue el formato de punto flotante de precisión doble de JavaScript.</a:t>
            </a:r>
            <a:endParaRPr sz="2600">
              <a:latin typeface="Open Sans"/>
              <a:ea typeface="Open Sans"/>
              <a:cs typeface="Open Sans"/>
              <a:sym typeface="Open Sans"/>
            </a:endParaRPr>
          </a:p>
        </p:txBody>
      </p:sp>
      <p:sp>
        <p:nvSpPr>
          <p:cNvPr id="177" name="Google Shape;177;p14"/>
          <p:cNvSpPr/>
          <p:nvPr/>
        </p:nvSpPr>
        <p:spPr>
          <a:xfrm>
            <a:off x="10407563" y="3322598"/>
            <a:ext cx="6688337" cy="3641804"/>
          </a:xfrm>
          <a:custGeom>
            <a:rect b="b" l="l" r="r" t="t"/>
            <a:pathLst>
              <a:path extrusionOk="0" h="4888327" w="8602363">
                <a:moveTo>
                  <a:pt x="0" y="0"/>
                </a:moveTo>
                <a:lnTo>
                  <a:pt x="8602364" y="0"/>
                </a:lnTo>
                <a:lnTo>
                  <a:pt x="8602364" y="4888327"/>
                </a:lnTo>
                <a:lnTo>
                  <a:pt x="0" y="488832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ph type="title"/>
          </p:nvPr>
        </p:nvSpPr>
        <p:spPr>
          <a:xfrm>
            <a:off x="531000" y="2755421"/>
            <a:ext cx="8090400" cy="11928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Cadena</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83" name="Google Shape;183;p15"/>
          <p:cNvSpPr txBox="1"/>
          <p:nvPr>
            <p:ph idx="1" type="subTitle"/>
          </p:nvPr>
        </p:nvSpPr>
        <p:spPr>
          <a:xfrm>
            <a:off x="531000" y="50613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1000"/>
              </a:spcAft>
              <a:buSzPts val="4200"/>
              <a:buNone/>
            </a:pPr>
            <a:r>
              <a:rPr lang="en-US" sz="2600">
                <a:solidFill>
                  <a:srgbClr val="000000"/>
                </a:solidFill>
                <a:latin typeface="Open Sans"/>
                <a:ea typeface="Open Sans"/>
                <a:cs typeface="Open Sans"/>
                <a:sym typeface="Open Sans"/>
              </a:rPr>
              <a:t>Una cadena en JSON se compone de caracteres Unicode, con escape de barra invertida (\).</a:t>
            </a:r>
            <a:endParaRPr sz="2600">
              <a:latin typeface="Open Sans"/>
              <a:ea typeface="Open Sans"/>
              <a:cs typeface="Open Sans"/>
              <a:sym typeface="Open Sans"/>
            </a:endParaRPr>
          </a:p>
        </p:txBody>
      </p:sp>
      <p:sp>
        <p:nvSpPr>
          <p:cNvPr id="184" name="Google Shape;184;p15"/>
          <p:cNvSpPr/>
          <p:nvPr/>
        </p:nvSpPr>
        <p:spPr>
          <a:xfrm>
            <a:off x="10407575" y="4546531"/>
            <a:ext cx="6692695" cy="1193938"/>
          </a:xfrm>
          <a:custGeom>
            <a:rect b="b" l="l" r="r" t="t"/>
            <a:pathLst>
              <a:path extrusionOk="0" h="1802171" w="9295410">
                <a:moveTo>
                  <a:pt x="0" y="0"/>
                </a:moveTo>
                <a:lnTo>
                  <a:pt x="9295410" y="0"/>
                </a:lnTo>
                <a:lnTo>
                  <a:pt x="9295410" y="1802171"/>
                </a:lnTo>
                <a:lnTo>
                  <a:pt x="0" y="180217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txBox="1"/>
          <p:nvPr>
            <p:ph type="title"/>
          </p:nvPr>
        </p:nvSpPr>
        <p:spPr>
          <a:xfrm>
            <a:off x="452155" y="29348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4800"/>
              <a:buNone/>
            </a:pPr>
            <a:r>
              <a:rPr b="1" lang="en-US" sz="6000">
                <a:latin typeface="Open Sans"/>
                <a:ea typeface="Open Sans"/>
                <a:cs typeface="Open Sans"/>
                <a:sym typeface="Open Sans"/>
              </a:rPr>
              <a:t>JSON en Python</a:t>
            </a:r>
            <a:endParaRPr b="1" sz="6000">
              <a:latin typeface="Open Sans"/>
              <a:ea typeface="Open Sans"/>
              <a:cs typeface="Open Sans"/>
              <a:sym typeface="Open Sans"/>
            </a:endParaRPr>
          </a:p>
        </p:txBody>
      </p:sp>
      <p:sp>
        <p:nvSpPr>
          <p:cNvPr id="190" name="Google Shape;190;p16"/>
          <p:cNvSpPr txBox="1"/>
          <p:nvPr>
            <p:ph idx="1" type="body"/>
          </p:nvPr>
        </p:nvSpPr>
        <p:spPr>
          <a:xfrm>
            <a:off x="452150" y="5150800"/>
            <a:ext cx="5616000" cy="2201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2400"/>
              </a:spcAft>
              <a:buSzPts val="2400"/>
              <a:buNone/>
            </a:pPr>
            <a:r>
              <a:rPr lang="en-US" sz="2600">
                <a:latin typeface="Open Sans"/>
                <a:ea typeface="Open Sans"/>
                <a:cs typeface="Open Sans"/>
                <a:sym typeface="Open Sans"/>
              </a:rPr>
              <a:t>Python tiene un paquete incorporado llamado json, que se puede utilizar para trabajar con datos JSON.</a:t>
            </a:r>
            <a:endParaRPr sz="2600">
              <a:latin typeface="Open Sans"/>
              <a:ea typeface="Open Sans"/>
              <a:cs typeface="Open Sans"/>
              <a:sym typeface="Open Sans"/>
            </a:endParaRPr>
          </a:p>
        </p:txBody>
      </p:sp>
      <p:sp>
        <p:nvSpPr>
          <p:cNvPr id="191" name="Google Shape;191;p16"/>
          <p:cNvSpPr/>
          <p:nvPr/>
        </p:nvSpPr>
        <p:spPr>
          <a:xfrm>
            <a:off x="8608902" y="4205025"/>
            <a:ext cx="7717683" cy="1876950"/>
          </a:xfrm>
          <a:custGeom>
            <a:rect b="b" l="l" r="r" t="t"/>
            <a:pathLst>
              <a:path extrusionOk="0" h="1770708" w="7603629">
                <a:moveTo>
                  <a:pt x="0" y="0"/>
                </a:moveTo>
                <a:lnTo>
                  <a:pt x="7603629" y="0"/>
                </a:lnTo>
                <a:lnTo>
                  <a:pt x="7603629" y="1770708"/>
                </a:lnTo>
                <a:lnTo>
                  <a:pt x="0" y="177070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7"/>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Convertir de JSON a Diccionario</a:t>
            </a:r>
            <a:endParaRPr b="1" sz="6000">
              <a:latin typeface="Open Sans"/>
              <a:ea typeface="Open Sans"/>
              <a:cs typeface="Open Sans"/>
              <a:sym typeface="Open Sans"/>
            </a:endParaRPr>
          </a:p>
        </p:txBody>
      </p:sp>
      <p:sp>
        <p:nvSpPr>
          <p:cNvPr id="197" name="Google Shape;197;p17"/>
          <p:cNvSpPr txBox="1"/>
          <p:nvPr/>
        </p:nvSpPr>
        <p:spPr>
          <a:xfrm>
            <a:off x="514350" y="1827460"/>
            <a:ext cx="17546100" cy="6852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00000"/>
              </a:buClr>
              <a:buSzPts val="1300"/>
              <a:buFont typeface="Arial"/>
              <a:buNone/>
            </a:pPr>
            <a:r>
              <a:rPr b="0" i="0" lang="en-US" sz="2600" u="none" cap="none" strike="noStrike">
                <a:solidFill>
                  <a:srgbClr val="000000"/>
                </a:solidFill>
                <a:latin typeface="Open Sans"/>
                <a:ea typeface="Open Sans"/>
                <a:cs typeface="Open Sans"/>
                <a:sym typeface="Open Sans"/>
              </a:rPr>
              <a:t>Usamos la función loads del paquete JSON</a:t>
            </a:r>
            <a:endParaRPr b="0" i="0" sz="2600" u="none" cap="none" strike="noStrike">
              <a:solidFill>
                <a:srgbClr val="000000"/>
              </a:solidFill>
              <a:latin typeface="Open Sans"/>
              <a:ea typeface="Open Sans"/>
              <a:cs typeface="Open Sans"/>
              <a:sym typeface="Open Sans"/>
            </a:endParaRPr>
          </a:p>
        </p:txBody>
      </p:sp>
      <p:sp>
        <p:nvSpPr>
          <p:cNvPr id="198" name="Google Shape;198;p17"/>
          <p:cNvSpPr/>
          <p:nvPr/>
        </p:nvSpPr>
        <p:spPr>
          <a:xfrm>
            <a:off x="3015474" y="2786138"/>
            <a:ext cx="12257064" cy="5969127"/>
          </a:xfrm>
          <a:custGeom>
            <a:rect b="b" l="l" r="r" t="t"/>
            <a:pathLst>
              <a:path extrusionOk="0" h="5924692" w="12135707">
                <a:moveTo>
                  <a:pt x="0" y="0"/>
                </a:moveTo>
                <a:lnTo>
                  <a:pt x="12135708" y="0"/>
                </a:lnTo>
                <a:lnTo>
                  <a:pt x="12135708" y="5924692"/>
                </a:lnTo>
                <a:lnTo>
                  <a:pt x="0" y="592469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8"/>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Convertir de diccionario a JSON</a:t>
            </a:r>
            <a:endParaRPr b="1" sz="6000">
              <a:latin typeface="Open Sans"/>
              <a:ea typeface="Open Sans"/>
              <a:cs typeface="Open Sans"/>
              <a:sym typeface="Open Sans"/>
            </a:endParaRPr>
          </a:p>
        </p:txBody>
      </p:sp>
      <p:sp>
        <p:nvSpPr>
          <p:cNvPr id="204" name="Google Shape;204;p18"/>
          <p:cNvSpPr txBox="1"/>
          <p:nvPr/>
        </p:nvSpPr>
        <p:spPr>
          <a:xfrm>
            <a:off x="514350" y="1827460"/>
            <a:ext cx="17546100" cy="6852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00000"/>
              </a:buClr>
              <a:buSzPts val="1300"/>
              <a:buFont typeface="Arial"/>
              <a:buNone/>
            </a:pPr>
            <a:r>
              <a:rPr b="0" i="0" lang="en-US" sz="2600" u="none" cap="none" strike="noStrike">
                <a:solidFill>
                  <a:srgbClr val="000000"/>
                </a:solidFill>
                <a:latin typeface="Open Sans"/>
                <a:ea typeface="Open Sans"/>
                <a:cs typeface="Open Sans"/>
                <a:sym typeface="Open Sans"/>
              </a:rPr>
              <a:t>Usamos la función dumps del paquete JSON</a:t>
            </a:r>
            <a:endParaRPr b="0" i="0" sz="2600" u="none" cap="none" strike="noStrike">
              <a:solidFill>
                <a:srgbClr val="000000"/>
              </a:solidFill>
              <a:latin typeface="Open Sans"/>
              <a:ea typeface="Open Sans"/>
              <a:cs typeface="Open Sans"/>
              <a:sym typeface="Open Sans"/>
            </a:endParaRPr>
          </a:p>
        </p:txBody>
      </p:sp>
      <p:sp>
        <p:nvSpPr>
          <p:cNvPr id="205" name="Google Shape;205;p18"/>
          <p:cNvSpPr/>
          <p:nvPr/>
        </p:nvSpPr>
        <p:spPr>
          <a:xfrm>
            <a:off x="3012986" y="2786150"/>
            <a:ext cx="12262027" cy="6225795"/>
          </a:xfrm>
          <a:custGeom>
            <a:rect b="b" l="l" r="r" t="t"/>
            <a:pathLst>
              <a:path extrusionOk="0" h="6148933" w="9849018">
                <a:moveTo>
                  <a:pt x="0" y="0"/>
                </a:moveTo>
                <a:lnTo>
                  <a:pt x="9849018" y="0"/>
                </a:lnTo>
                <a:lnTo>
                  <a:pt x="9849018" y="6148933"/>
                </a:lnTo>
                <a:lnTo>
                  <a:pt x="0" y="614893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ph type="title"/>
          </p:nvPr>
        </p:nvSpPr>
        <p:spPr>
          <a:xfrm>
            <a:off x="452155" y="7156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03000"/>
              </a:lnSpc>
              <a:spcBef>
                <a:spcPts val="0"/>
              </a:spcBef>
              <a:spcAft>
                <a:spcPts val="0"/>
              </a:spcAft>
              <a:buSzPts val="4800"/>
              <a:buNone/>
            </a:pPr>
            <a:r>
              <a:rPr b="1" lang="en-US" sz="5500">
                <a:latin typeface="Open Sans"/>
                <a:ea typeface="Open Sans"/>
                <a:cs typeface="Open Sans"/>
                <a:sym typeface="Open Sans"/>
              </a:rPr>
              <a:t>Convertir objetos a JSON</a:t>
            </a:r>
            <a:endParaRPr sz="5500"/>
          </a:p>
        </p:txBody>
      </p:sp>
      <p:sp>
        <p:nvSpPr>
          <p:cNvPr id="211" name="Google Shape;211;p19"/>
          <p:cNvSpPr txBox="1"/>
          <p:nvPr>
            <p:ph idx="1" type="body"/>
          </p:nvPr>
        </p:nvSpPr>
        <p:spPr>
          <a:xfrm>
            <a:off x="452150" y="2931600"/>
            <a:ext cx="5616000" cy="6327000"/>
          </a:xfrm>
          <a:prstGeom prst="rect">
            <a:avLst/>
          </a:prstGeom>
          <a:noFill/>
          <a:ln>
            <a:noFill/>
          </a:ln>
        </p:spPr>
        <p:txBody>
          <a:bodyPr anchorCtr="0" anchor="t" bIns="182850" lIns="182850" spcFirstLastPara="1" rIns="182850" wrap="square" tIns="182850">
            <a:normAutofit/>
          </a:bodyPr>
          <a:lstStyle/>
          <a:p>
            <a:pPr indent="0" lvl="0" marL="0" rtl="0" algn="just">
              <a:lnSpc>
                <a:spcPct val="115000"/>
              </a:lnSpc>
              <a:spcBef>
                <a:spcPts val="0"/>
              </a:spcBef>
              <a:spcAft>
                <a:spcPts val="0"/>
              </a:spcAft>
              <a:buSzPts val="2400"/>
              <a:buNone/>
            </a:pPr>
            <a:r>
              <a:rPr lang="en-US" sz="2600">
                <a:latin typeface="Open Sans"/>
                <a:ea typeface="Open Sans"/>
                <a:cs typeface="Open Sans"/>
                <a:sym typeface="Open Sans"/>
              </a:rPr>
              <a:t>Puede convertir objetos Python de los siguientes tipos, en cadenas JSON:</a:t>
            </a:r>
            <a:endParaRPr sz="2600">
              <a:latin typeface="Open Sans"/>
              <a:ea typeface="Open Sans"/>
              <a:cs typeface="Open Sans"/>
              <a:sym typeface="Open Sans"/>
            </a:endParaRPr>
          </a:p>
          <a:p>
            <a:pPr indent="-393700" lvl="0" marL="457200" rtl="0" algn="just">
              <a:lnSpc>
                <a:spcPct val="115000"/>
              </a:lnSpc>
              <a:spcBef>
                <a:spcPts val="2400"/>
              </a:spcBef>
              <a:spcAft>
                <a:spcPts val="0"/>
              </a:spcAft>
              <a:buSzPts val="2600"/>
              <a:buFont typeface="Open Sans"/>
              <a:buChar char="●"/>
            </a:pPr>
            <a:r>
              <a:rPr lang="en-US" sz="2600">
                <a:latin typeface="Open Sans"/>
                <a:ea typeface="Open Sans"/>
                <a:cs typeface="Open Sans"/>
                <a:sym typeface="Open Sans"/>
              </a:rPr>
              <a:t>Dict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List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Tuple</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String</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Int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Float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True</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False</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None</a:t>
            </a:r>
            <a:endParaRPr sz="2600">
              <a:latin typeface="Open Sans"/>
              <a:ea typeface="Open Sans"/>
              <a:cs typeface="Open Sans"/>
              <a:sym typeface="Open Sans"/>
            </a:endParaRPr>
          </a:p>
        </p:txBody>
      </p:sp>
      <p:sp>
        <p:nvSpPr>
          <p:cNvPr id="212" name="Google Shape;212;p19"/>
          <p:cNvSpPr/>
          <p:nvPr/>
        </p:nvSpPr>
        <p:spPr>
          <a:xfrm>
            <a:off x="7240750" y="2151075"/>
            <a:ext cx="10443266" cy="5729221"/>
          </a:xfrm>
          <a:custGeom>
            <a:rect b="b" l="l" r="r" t="t"/>
            <a:pathLst>
              <a:path extrusionOk="0" h="6014930" w="11507731">
                <a:moveTo>
                  <a:pt x="0" y="0"/>
                </a:moveTo>
                <a:lnTo>
                  <a:pt x="11507731" y="0"/>
                </a:lnTo>
                <a:lnTo>
                  <a:pt x="11507731" y="6014931"/>
                </a:lnTo>
                <a:lnTo>
                  <a:pt x="0" y="601493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ctrTitle"/>
          </p:nvPr>
        </p:nvSpPr>
        <p:spPr>
          <a:xfrm>
            <a:off x="781050" y="3638550"/>
            <a:ext cx="16444200" cy="33321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9600"/>
              <a:buNone/>
            </a:pPr>
            <a:r>
              <a:rPr b="1" lang="en-US" sz="8000">
                <a:latin typeface="Open Sans"/>
                <a:ea typeface="Open Sans"/>
                <a:cs typeface="Open Sans"/>
                <a:sym typeface="Open Sans"/>
              </a:rPr>
              <a:t>Unidad 8: Acceso a datos web</a:t>
            </a:r>
            <a:endParaRPr b="1" sz="6000">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type="title"/>
          </p:nvPr>
        </p:nvSpPr>
        <p:spPr>
          <a:xfrm>
            <a:off x="0" y="32700"/>
            <a:ext cx="182880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8000">
                <a:latin typeface="Open Sans"/>
                <a:ea typeface="Open Sans"/>
                <a:cs typeface="Open Sans"/>
                <a:sym typeface="Open Sans"/>
              </a:rPr>
              <a:t>Internet</a:t>
            </a:r>
            <a:endParaRPr b="1" sz="8000">
              <a:latin typeface="Open Sans"/>
              <a:ea typeface="Open Sans"/>
              <a:cs typeface="Open Sans"/>
              <a:sym typeface="Open Sans"/>
            </a:endParaRPr>
          </a:p>
        </p:txBody>
      </p:sp>
      <p:sp>
        <p:nvSpPr>
          <p:cNvPr id="223" name="Google Shape;223;p21"/>
          <p:cNvSpPr txBox="1"/>
          <p:nvPr/>
        </p:nvSpPr>
        <p:spPr>
          <a:xfrm>
            <a:off x="832050" y="2751300"/>
            <a:ext cx="16623900" cy="47844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2600"/>
              <a:buFont typeface="Arial"/>
              <a:buNone/>
            </a:pPr>
            <a:r>
              <a:rPr b="0" i="0" lang="en-US" sz="2600" u="none" cap="none" strike="noStrike">
                <a:solidFill>
                  <a:srgbClr val="000000"/>
                </a:solidFill>
                <a:latin typeface="Open Sans"/>
                <a:ea typeface="Open Sans"/>
                <a:cs typeface="Open Sans"/>
                <a:sym typeface="Open Sans"/>
              </a:rPr>
              <a:t>Internet​ es un conjunto descentralizado de redes de comunicaciones interconectadas, que utilizan la familia de protocolos TCP/IP, lo cual garantiza que las redes físicas heterogéneas que la componen constituyen una red lógica única de alcance mundial. Los orígenes del internet se remontan a 1969, cuando se estableció la primera conexión de computadoras, conocida como ARPANET, entre tres universidades en California (Estados Unidos).</a:t>
            </a:r>
            <a:endParaRPr b="0" i="0" sz="2600" u="none" cap="none" strike="noStrike">
              <a:solidFill>
                <a:srgbClr val="000000"/>
              </a:solidFill>
              <a:latin typeface="Open Sans"/>
              <a:ea typeface="Open Sans"/>
              <a:cs typeface="Open Sans"/>
              <a:sym typeface="Open Sans"/>
            </a:endParaRPr>
          </a:p>
          <a:p>
            <a:pPr indent="0" lvl="0" marL="0" marR="0" rtl="0" algn="just">
              <a:lnSpc>
                <a:spcPct val="115000"/>
              </a:lnSpc>
              <a:spcBef>
                <a:spcPts val="0"/>
              </a:spcBef>
              <a:spcAft>
                <a:spcPts val="0"/>
              </a:spcAft>
              <a:buClr>
                <a:srgbClr val="000000"/>
              </a:buClr>
              <a:buSzPts val="2600"/>
              <a:buFont typeface="Arial"/>
              <a:buNone/>
            </a:pPr>
            <a:r>
              <a:t/>
            </a:r>
            <a:endParaRPr b="0" i="0" sz="2600" u="none" cap="none" strike="noStrike">
              <a:solidFill>
                <a:srgbClr val="000000"/>
              </a:solidFill>
              <a:latin typeface="Open Sans"/>
              <a:ea typeface="Open Sans"/>
              <a:cs typeface="Open Sans"/>
              <a:sym typeface="Open Sans"/>
            </a:endParaRPr>
          </a:p>
          <a:p>
            <a:pPr indent="0" lvl="0" marL="0" marR="0" rtl="0" algn="just">
              <a:lnSpc>
                <a:spcPct val="115000"/>
              </a:lnSpc>
              <a:spcBef>
                <a:spcPts val="0"/>
              </a:spcBef>
              <a:spcAft>
                <a:spcPts val="0"/>
              </a:spcAft>
              <a:buClr>
                <a:srgbClr val="000000"/>
              </a:buClr>
              <a:buSzPts val="2600"/>
              <a:buFont typeface="Arial"/>
              <a:buNone/>
            </a:pPr>
            <a:r>
              <a:rPr b="0" i="0" lang="en-US" sz="2600" u="none" cap="none" strike="noStrike">
                <a:solidFill>
                  <a:srgbClr val="000000"/>
                </a:solidFill>
                <a:latin typeface="Open Sans"/>
                <a:ea typeface="Open Sans"/>
                <a:cs typeface="Open Sans"/>
                <a:sym typeface="Open Sans"/>
              </a:rPr>
              <a:t>Uno de los servicios que más éxito ha tenido en internet ha sido la World Wide Web (WWW o la Web), hasta tal punto que es habitual la confusión entre ambos términos. La WWW es un conjunto de protocolos que permite, de forma sencilla, la consulta remota de archivos de hipertexto. Esta fue un desarrollo posterior (1990) y utiliza internet como medio de transmisión.</a:t>
            </a:r>
            <a:endParaRPr b="0" i="0" sz="26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000000"/>
              </a:solidFill>
              <a:latin typeface="Open Sans"/>
              <a:ea typeface="Open Sans"/>
              <a:cs typeface="Open Sans"/>
              <a:sym typeface="Open Sans"/>
            </a:endParaRPr>
          </a:p>
          <a:p>
            <a:pPr indent="0" lvl="0" marL="0" marR="0" rtl="0" algn="just">
              <a:lnSpc>
                <a:spcPct val="140004"/>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Sus orígenes se remontan a 1969, cuando se estableció la primera conexión de computadoras, conocida como ARPANET, entre tres universidades en California (Estados Unido</a:t>
            </a:r>
            <a:endParaRPr b="0" i="0" sz="2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HTTP</a:t>
            </a:r>
            <a:endParaRPr b="1" sz="6000">
              <a:latin typeface="Open Sans"/>
              <a:ea typeface="Open Sans"/>
              <a:cs typeface="Open Sans"/>
              <a:sym typeface="Open Sans"/>
            </a:endParaRPr>
          </a:p>
        </p:txBody>
      </p:sp>
      <p:sp>
        <p:nvSpPr>
          <p:cNvPr id="229" name="Google Shape;229;p22"/>
          <p:cNvSpPr txBox="1"/>
          <p:nvPr>
            <p:ph idx="1" type="body"/>
          </p:nvPr>
        </p:nvSpPr>
        <p:spPr>
          <a:xfrm>
            <a:off x="401350" y="3838150"/>
            <a:ext cx="9442200" cy="6026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800"/>
              <a:buNone/>
            </a:pPr>
            <a:r>
              <a:rPr lang="en-US" sz="2600">
                <a:solidFill>
                  <a:srgbClr val="000000"/>
                </a:solidFill>
                <a:latin typeface="Open Sans"/>
                <a:ea typeface="Open Sans"/>
                <a:cs typeface="Open Sans"/>
                <a:sym typeface="Open Sans"/>
              </a:rPr>
              <a:t>Hypertext Transfer Protocol (HTTP) (o Protocolo de Transferencia de Hipertexto en español) es un protocolo de la capa de aplicación para la transmisión de documentos hipermedia, como HTML. Fue diseñado para la comunicación entre los navegadores y servidores web, aunque se puede utilizar para otros propósitos también.</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rPr lang="en-US" sz="2600">
                <a:solidFill>
                  <a:srgbClr val="000000"/>
                </a:solidFill>
                <a:latin typeface="Open Sans"/>
                <a:ea typeface="Open Sans"/>
                <a:cs typeface="Open Sans"/>
                <a:sym typeface="Open Sans"/>
              </a:rPr>
              <a:t>Sigue el clásico modelo cliente-servidor, en el que un cliente establece una conexión con el servidor, realiza una petición y espera hasta que recibe una respuesta del mismo. Se trata de un protocolo sin estado, lo cual significa que el servidor no guarda ningún dato (estado) entre dos peticiones.</a:t>
            </a:r>
            <a:endParaRPr/>
          </a:p>
          <a:p>
            <a:pPr indent="0" lvl="0" marL="0" rtl="0" algn="l">
              <a:lnSpc>
                <a:spcPct val="115000"/>
              </a:lnSpc>
              <a:spcBef>
                <a:spcPts val="2400"/>
              </a:spcBef>
              <a:spcAft>
                <a:spcPts val="2400"/>
              </a:spcAft>
              <a:buSzPts val="2800"/>
              <a:buNone/>
            </a:pPr>
            <a:r>
              <a:t/>
            </a:r>
            <a:endParaRPr/>
          </a:p>
        </p:txBody>
      </p:sp>
      <p:pic>
        <p:nvPicPr>
          <p:cNvPr id="230" name="Google Shape;230;p22"/>
          <p:cNvPicPr preferRelativeResize="0"/>
          <p:nvPr/>
        </p:nvPicPr>
        <p:blipFill rotWithShape="1">
          <a:blip r:embed="rId3">
            <a:alphaModFix/>
          </a:blip>
          <a:srcRect b="0" l="0" r="0" t="0"/>
          <a:stretch/>
        </p:blipFill>
        <p:spPr>
          <a:xfrm>
            <a:off x="10017075" y="4946350"/>
            <a:ext cx="7620000" cy="3810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ph type="title"/>
          </p:nvPr>
        </p:nvSpPr>
        <p:spPr>
          <a:xfrm>
            <a:off x="452150" y="1141856"/>
            <a:ext cx="5616000" cy="10164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Códigos HTTP</a:t>
            </a:r>
            <a:endParaRPr b="1" sz="6000">
              <a:latin typeface="Open Sans"/>
              <a:ea typeface="Open Sans"/>
              <a:cs typeface="Open Sans"/>
              <a:sym typeface="Open Sans"/>
            </a:endParaRPr>
          </a:p>
        </p:txBody>
      </p:sp>
      <p:sp>
        <p:nvSpPr>
          <p:cNvPr id="236" name="Google Shape;236;p23"/>
          <p:cNvSpPr txBox="1"/>
          <p:nvPr>
            <p:ph idx="1" type="body"/>
          </p:nvPr>
        </p:nvSpPr>
        <p:spPr>
          <a:xfrm>
            <a:off x="232350" y="2350744"/>
            <a:ext cx="6104700" cy="6794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400"/>
              <a:buNone/>
            </a:pPr>
            <a:r>
              <a:rPr lang="en-US" sz="2600">
                <a:latin typeface="Open Sans"/>
                <a:ea typeface="Open Sans"/>
                <a:cs typeface="Open Sans"/>
                <a:sym typeface="Open Sans"/>
              </a:rPr>
              <a:t>Un código HTTP es un número de tres dígitos que genera un servidor en respuesta a la petición de un navegador. </a:t>
            </a:r>
            <a:endParaRPr sz="2600">
              <a:latin typeface="Open Sans"/>
              <a:ea typeface="Open Sans"/>
              <a:cs typeface="Open Sans"/>
              <a:sym typeface="Open Sans"/>
            </a:endParaRPr>
          </a:p>
          <a:p>
            <a:pPr indent="0" lvl="0" marL="0" rtl="0" algn="just">
              <a:lnSpc>
                <a:spcPct val="115000"/>
              </a:lnSpc>
              <a:spcBef>
                <a:spcPts val="2400"/>
              </a:spcBef>
              <a:spcAft>
                <a:spcPts val="0"/>
              </a:spcAft>
              <a:buSzPts val="2400"/>
              <a:buNone/>
            </a:pPr>
            <a:r>
              <a:rPr lang="en-US" sz="2600">
                <a:latin typeface="Open Sans"/>
                <a:ea typeface="Open Sans"/>
                <a:cs typeface="Open Sans"/>
                <a:sym typeface="Open Sans"/>
              </a:rPr>
              <a:t>Cada vez que se visita una web, el navegador envía una petición al servidor de la web. A continuación, el servidor responde con un código HTTP.</a:t>
            </a:r>
            <a:endParaRPr sz="2600">
              <a:latin typeface="Open Sans"/>
              <a:ea typeface="Open Sans"/>
              <a:cs typeface="Open Sans"/>
              <a:sym typeface="Open Sans"/>
            </a:endParaRPr>
          </a:p>
          <a:p>
            <a:pPr indent="0" lvl="0" marL="0" rtl="0" algn="just">
              <a:lnSpc>
                <a:spcPct val="115000"/>
              </a:lnSpc>
              <a:spcBef>
                <a:spcPts val="2400"/>
              </a:spcBef>
              <a:spcAft>
                <a:spcPts val="0"/>
              </a:spcAft>
              <a:buSzPts val="2400"/>
              <a:buNone/>
            </a:pPr>
            <a:r>
              <a:rPr lang="en-US" sz="2600">
                <a:latin typeface="Open Sans"/>
                <a:ea typeface="Open Sans"/>
                <a:cs typeface="Open Sans"/>
                <a:sym typeface="Open Sans"/>
              </a:rPr>
              <a:t>Es como si mantuvieran una conversación. Y cada código indica si las cosas funcionan bien o si algo va mal.</a:t>
            </a:r>
            <a:endParaRPr/>
          </a:p>
          <a:p>
            <a:pPr indent="0" lvl="0" marL="0" rtl="0" algn="l">
              <a:lnSpc>
                <a:spcPct val="115000"/>
              </a:lnSpc>
              <a:spcBef>
                <a:spcPts val="2400"/>
              </a:spcBef>
              <a:spcAft>
                <a:spcPts val="2400"/>
              </a:spcAft>
              <a:buSzPts val="2400"/>
              <a:buNone/>
            </a:pPr>
            <a:r>
              <a:t/>
            </a:r>
            <a:endParaRPr/>
          </a:p>
        </p:txBody>
      </p:sp>
      <p:sp>
        <p:nvSpPr>
          <p:cNvPr id="237" name="Google Shape;237;p23"/>
          <p:cNvSpPr txBox="1"/>
          <p:nvPr/>
        </p:nvSpPr>
        <p:spPr>
          <a:xfrm>
            <a:off x="8943975" y="1965638"/>
            <a:ext cx="79998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Primer dígito</a:t>
            </a:r>
            <a:endParaRPr b="1" i="0" sz="4000" u="none" cap="none" strike="noStrike">
              <a:solidFill>
                <a:schemeClr val="lt1"/>
              </a:solidFill>
              <a:latin typeface="Open Sans"/>
              <a:ea typeface="Open Sans"/>
              <a:cs typeface="Open Sans"/>
              <a:sym typeface="Open Sans"/>
            </a:endParaRPr>
          </a:p>
        </p:txBody>
      </p:sp>
      <p:sp>
        <p:nvSpPr>
          <p:cNvPr id="238" name="Google Shape;238;p23"/>
          <p:cNvSpPr txBox="1"/>
          <p:nvPr/>
        </p:nvSpPr>
        <p:spPr>
          <a:xfrm>
            <a:off x="8943950" y="3066538"/>
            <a:ext cx="7999800" cy="15993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900"/>
              <a:buFont typeface="Arial"/>
              <a:buNone/>
            </a:pPr>
            <a:r>
              <a:rPr b="0" i="0" lang="en-US" sz="2600" u="none" cap="none" strike="noStrike">
                <a:solidFill>
                  <a:srgbClr val="12293E"/>
                </a:solidFill>
                <a:latin typeface="Open Sans"/>
                <a:ea typeface="Open Sans"/>
                <a:cs typeface="Open Sans"/>
                <a:sym typeface="Open Sans"/>
              </a:rPr>
              <a:t>El primer dígito de cada código status HTTP es un número entre uno y cinco, que indica la categoría del código.</a:t>
            </a:r>
            <a:endParaRPr b="0" i="0" sz="2600" u="none" cap="none" strike="noStrike">
              <a:solidFill>
                <a:srgbClr val="000000"/>
              </a:solidFill>
              <a:latin typeface="Open Sans"/>
              <a:ea typeface="Open Sans"/>
              <a:cs typeface="Open Sans"/>
              <a:sym typeface="Open Sans"/>
            </a:endParaRPr>
          </a:p>
        </p:txBody>
      </p:sp>
      <p:sp>
        <p:nvSpPr>
          <p:cNvPr id="239" name="Google Shape;239;p23"/>
          <p:cNvSpPr txBox="1"/>
          <p:nvPr/>
        </p:nvSpPr>
        <p:spPr>
          <a:xfrm>
            <a:off x="8943950" y="5683313"/>
            <a:ext cx="79998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Últimos dígitos</a:t>
            </a:r>
            <a:endParaRPr b="1" i="0" sz="4000" u="none" cap="none" strike="noStrike">
              <a:solidFill>
                <a:schemeClr val="lt1"/>
              </a:solidFill>
              <a:latin typeface="Open Sans"/>
              <a:ea typeface="Open Sans"/>
              <a:cs typeface="Open Sans"/>
              <a:sym typeface="Open Sans"/>
            </a:endParaRPr>
          </a:p>
        </p:txBody>
      </p:sp>
      <p:sp>
        <p:nvSpPr>
          <p:cNvPr id="240" name="Google Shape;240;p23"/>
          <p:cNvSpPr txBox="1"/>
          <p:nvPr/>
        </p:nvSpPr>
        <p:spPr>
          <a:xfrm>
            <a:off x="8943950" y="6722063"/>
            <a:ext cx="7999800" cy="15993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900"/>
              <a:buFont typeface="Arial"/>
              <a:buNone/>
            </a:pPr>
            <a:r>
              <a:rPr b="0" i="0" lang="en-US" sz="2600" u="none" cap="none" strike="noStrike">
                <a:solidFill>
                  <a:srgbClr val="12293E"/>
                </a:solidFill>
                <a:latin typeface="Open Sans"/>
                <a:ea typeface="Open Sans"/>
                <a:cs typeface="Open Sans"/>
                <a:sym typeface="Open Sans"/>
              </a:rPr>
              <a:t>Los otros dos dígitos del código HTTP son para información específica dentro de la categoría. Por lo tanto, indican el error exacto que sucede.</a:t>
            </a:r>
            <a:endParaRPr b="0" i="0" sz="2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Categorías</a:t>
            </a:r>
            <a:endParaRPr b="1" sz="6000">
              <a:latin typeface="Open Sans"/>
              <a:ea typeface="Open Sans"/>
              <a:cs typeface="Open Sans"/>
              <a:sym typeface="Open Sans"/>
            </a:endParaRPr>
          </a:p>
        </p:txBody>
      </p:sp>
      <p:sp>
        <p:nvSpPr>
          <p:cNvPr id="246" name="Google Shape;246;p24"/>
          <p:cNvSpPr txBox="1"/>
          <p:nvPr/>
        </p:nvSpPr>
        <p:spPr>
          <a:xfrm>
            <a:off x="7001825" y="1001963"/>
            <a:ext cx="10826100" cy="1134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informativos</a:t>
            </a:r>
            <a:r>
              <a:rPr b="0" i="0" lang="en-US" sz="2600" u="none" cap="none" strike="noStrike">
                <a:solidFill>
                  <a:srgbClr val="000000"/>
                </a:solidFill>
                <a:latin typeface="Open Sans"/>
                <a:ea typeface="Open Sans"/>
                <a:cs typeface="Open Sans"/>
                <a:sym typeface="Open Sans"/>
              </a:rPr>
              <a:t>: El servidor acusa recibo y está procesando la solicitud.</a:t>
            </a:r>
            <a:endParaRPr b="0" i="0" sz="2600" u="none" cap="none" strike="noStrike">
              <a:solidFill>
                <a:srgbClr val="000000"/>
              </a:solidFill>
              <a:latin typeface="Open Sans"/>
              <a:ea typeface="Open Sans"/>
              <a:cs typeface="Open Sans"/>
              <a:sym typeface="Open Sans"/>
            </a:endParaRPr>
          </a:p>
        </p:txBody>
      </p:sp>
      <p:sp>
        <p:nvSpPr>
          <p:cNvPr id="247" name="Google Shape;247;p24"/>
          <p:cNvSpPr txBox="1"/>
          <p:nvPr/>
        </p:nvSpPr>
        <p:spPr>
          <a:xfrm>
            <a:off x="7001825" y="2929324"/>
            <a:ext cx="10826100" cy="1014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éxito</a:t>
            </a:r>
            <a:r>
              <a:rPr b="0" i="0" lang="en-US" sz="2600" u="none" cap="none" strike="noStrike">
                <a:solidFill>
                  <a:srgbClr val="000000"/>
                </a:solidFill>
                <a:latin typeface="Open Sans"/>
                <a:ea typeface="Open Sans"/>
                <a:cs typeface="Open Sans"/>
                <a:sym typeface="Open Sans"/>
              </a:rPr>
              <a:t>: El servidor ha recibido, entendido y procesado correctamente la solicitud.</a:t>
            </a:r>
            <a:endParaRPr b="0" i="0" sz="2600" u="none" cap="none" strike="noStrike">
              <a:solidFill>
                <a:srgbClr val="000000"/>
              </a:solidFill>
              <a:latin typeface="Open Sans"/>
              <a:ea typeface="Open Sans"/>
              <a:cs typeface="Open Sans"/>
              <a:sym typeface="Open Sans"/>
            </a:endParaRPr>
          </a:p>
        </p:txBody>
      </p:sp>
      <p:sp>
        <p:nvSpPr>
          <p:cNvPr id="248" name="Google Shape;248;p24"/>
          <p:cNvSpPr txBox="1"/>
          <p:nvPr/>
        </p:nvSpPr>
        <p:spPr>
          <a:xfrm>
            <a:off x="7001825" y="4762952"/>
            <a:ext cx="10826100" cy="1520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redirección</a:t>
            </a:r>
            <a:r>
              <a:rPr b="0" i="0" lang="en-US" sz="2600" u="none" cap="none" strike="noStrike">
                <a:solidFill>
                  <a:srgbClr val="000000"/>
                </a:solidFill>
                <a:latin typeface="Open Sans"/>
                <a:ea typeface="Open Sans"/>
                <a:cs typeface="Open Sans"/>
                <a:sym typeface="Open Sans"/>
              </a:rPr>
              <a:t>: El servidor recibió la solicitud, pero hay una redirección a otro lugar (o, en casos raros, debe completarse alguna acción adicional distinta de una redirección). </a:t>
            </a:r>
            <a:endParaRPr b="0" i="0" sz="2600" u="none" cap="none" strike="noStrike">
              <a:solidFill>
                <a:srgbClr val="000000"/>
              </a:solidFill>
              <a:latin typeface="Open Sans"/>
              <a:ea typeface="Open Sans"/>
              <a:cs typeface="Open Sans"/>
              <a:sym typeface="Open Sans"/>
            </a:endParaRPr>
          </a:p>
        </p:txBody>
      </p:sp>
      <p:sp>
        <p:nvSpPr>
          <p:cNvPr id="249" name="Google Shape;249;p24"/>
          <p:cNvSpPr txBox="1"/>
          <p:nvPr/>
        </p:nvSpPr>
        <p:spPr>
          <a:xfrm>
            <a:off x="7001825" y="7116838"/>
            <a:ext cx="10826100" cy="960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error del cliente: </a:t>
            </a:r>
            <a:r>
              <a:rPr b="0" i="0" lang="en-US" sz="2600" u="none" cap="none" strike="noStrike">
                <a:solidFill>
                  <a:srgbClr val="000000"/>
                </a:solidFill>
                <a:latin typeface="Open Sans"/>
                <a:ea typeface="Open Sans"/>
                <a:cs typeface="Open Sans"/>
                <a:sym typeface="Open Sans"/>
              </a:rPr>
              <a:t>El servidor no pudo encontrar (o alcanzar) la página o el web. Se trata de un error de web. </a:t>
            </a:r>
            <a:endParaRPr b="0" i="0" sz="2600" u="none" cap="none" strike="noStrike">
              <a:solidFill>
                <a:srgbClr val="000000"/>
              </a:solidFill>
              <a:latin typeface="Open Sans"/>
              <a:ea typeface="Open Sans"/>
              <a:cs typeface="Open Sans"/>
              <a:sym typeface="Open Sans"/>
            </a:endParaRPr>
          </a:p>
        </p:txBody>
      </p:sp>
      <p:sp>
        <p:nvSpPr>
          <p:cNvPr id="250" name="Google Shape;250;p24"/>
          <p:cNvSpPr txBox="1"/>
          <p:nvPr/>
        </p:nvSpPr>
        <p:spPr>
          <a:xfrm>
            <a:off x="7001825" y="8910625"/>
            <a:ext cx="10826100" cy="11340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error del servidor: </a:t>
            </a:r>
            <a:r>
              <a:rPr b="0" i="0" lang="en-US" sz="2600" u="none" cap="none" strike="noStrike">
                <a:solidFill>
                  <a:srgbClr val="000000"/>
                </a:solidFill>
                <a:latin typeface="Open Sans"/>
                <a:ea typeface="Open Sans"/>
                <a:cs typeface="Open Sans"/>
                <a:sym typeface="Open Sans"/>
              </a:rPr>
              <a:t>El cliente hizo una petición válida, pero el servidor no pudo completarla. </a:t>
            </a:r>
            <a:endParaRPr b="0" i="0" sz="2600" u="none" cap="none" strike="noStrike">
              <a:solidFill>
                <a:srgbClr val="000000"/>
              </a:solidFill>
              <a:latin typeface="Open Sans"/>
              <a:ea typeface="Open Sans"/>
              <a:cs typeface="Open Sans"/>
              <a:sym typeface="Open Sans"/>
            </a:endParaRPr>
          </a:p>
        </p:txBody>
      </p:sp>
      <p:sp>
        <p:nvSpPr>
          <p:cNvPr id="251" name="Google Shape;251;p24"/>
          <p:cNvSpPr/>
          <p:nvPr/>
        </p:nvSpPr>
        <p:spPr>
          <a:xfrm>
            <a:off x="7001825" y="2135963"/>
            <a:ext cx="10826100" cy="7596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900"/>
              <a:buFont typeface="Arial"/>
              <a:buNone/>
            </a:pPr>
            <a:r>
              <a:rPr b="1" i="0" lang="en-US" sz="4000" u="none" cap="none" strike="noStrike">
                <a:solidFill>
                  <a:schemeClr val="lt1"/>
                </a:solidFill>
                <a:latin typeface="Open Sans"/>
                <a:ea typeface="Open Sans"/>
                <a:cs typeface="Open Sans"/>
                <a:sym typeface="Open Sans"/>
              </a:rPr>
              <a:t>2XX</a:t>
            </a:r>
            <a:endParaRPr b="0" i="0" sz="1400" u="none" cap="none" strike="noStrike">
              <a:solidFill>
                <a:srgbClr val="000000"/>
              </a:solidFill>
              <a:latin typeface="Roboto"/>
              <a:ea typeface="Roboto"/>
              <a:cs typeface="Roboto"/>
              <a:sym typeface="Roboto"/>
            </a:endParaRPr>
          </a:p>
        </p:txBody>
      </p:sp>
      <p:sp>
        <p:nvSpPr>
          <p:cNvPr id="252" name="Google Shape;252;p24"/>
          <p:cNvSpPr/>
          <p:nvPr/>
        </p:nvSpPr>
        <p:spPr>
          <a:xfrm>
            <a:off x="7013225" y="242375"/>
            <a:ext cx="10803300" cy="759600"/>
          </a:xfrm>
          <a:prstGeom prst="roundRect">
            <a:avLst>
              <a:gd fmla="val 16667" name="adj"/>
            </a:avLst>
          </a:prstGeom>
          <a:solidFill>
            <a:srgbClr val="4A5ED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1XX</a:t>
            </a:r>
            <a:endParaRPr b="0" i="0" sz="1400" u="none" cap="none" strike="noStrike">
              <a:solidFill>
                <a:srgbClr val="000000"/>
              </a:solidFill>
              <a:latin typeface="Roboto"/>
              <a:ea typeface="Roboto"/>
              <a:cs typeface="Roboto"/>
              <a:sym typeface="Roboto"/>
            </a:endParaRPr>
          </a:p>
        </p:txBody>
      </p:sp>
      <p:sp>
        <p:nvSpPr>
          <p:cNvPr id="253" name="Google Shape;253;p24"/>
          <p:cNvSpPr/>
          <p:nvPr/>
        </p:nvSpPr>
        <p:spPr>
          <a:xfrm>
            <a:off x="7013225" y="3939450"/>
            <a:ext cx="10803300" cy="759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3XX</a:t>
            </a:r>
            <a:endParaRPr b="0" i="0" sz="1400" u="none" cap="none" strike="noStrike">
              <a:solidFill>
                <a:srgbClr val="000000"/>
              </a:solidFill>
              <a:latin typeface="Roboto"/>
              <a:ea typeface="Roboto"/>
              <a:cs typeface="Roboto"/>
              <a:sym typeface="Roboto"/>
            </a:endParaRPr>
          </a:p>
        </p:txBody>
      </p:sp>
      <p:sp>
        <p:nvSpPr>
          <p:cNvPr id="254" name="Google Shape;254;p24"/>
          <p:cNvSpPr/>
          <p:nvPr/>
        </p:nvSpPr>
        <p:spPr>
          <a:xfrm>
            <a:off x="7013225" y="6283650"/>
            <a:ext cx="10803300" cy="759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4XX</a:t>
            </a:r>
            <a:endParaRPr b="0" i="0" sz="1400" u="none" cap="none" strike="noStrike">
              <a:solidFill>
                <a:srgbClr val="000000"/>
              </a:solidFill>
              <a:latin typeface="Roboto"/>
              <a:ea typeface="Roboto"/>
              <a:cs typeface="Roboto"/>
              <a:sym typeface="Roboto"/>
            </a:endParaRPr>
          </a:p>
        </p:txBody>
      </p:sp>
      <p:sp>
        <p:nvSpPr>
          <p:cNvPr id="255" name="Google Shape;255;p24"/>
          <p:cNvSpPr/>
          <p:nvPr/>
        </p:nvSpPr>
        <p:spPr>
          <a:xfrm>
            <a:off x="7013225" y="8151025"/>
            <a:ext cx="10803300" cy="759600"/>
          </a:xfrm>
          <a:prstGeom prst="roundRect">
            <a:avLst>
              <a:gd fmla="val 16667" name="adj"/>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5XX</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1XX</a:t>
            </a:r>
            <a:endParaRPr b="1" sz="6000">
              <a:latin typeface="Open Sans"/>
              <a:ea typeface="Open Sans"/>
              <a:cs typeface="Open Sans"/>
              <a:sym typeface="Open Sans"/>
            </a:endParaRPr>
          </a:p>
        </p:txBody>
      </p:sp>
      <p:sp>
        <p:nvSpPr>
          <p:cNvPr id="261" name="Google Shape;261;p25"/>
          <p:cNvSpPr txBox="1"/>
          <p:nvPr/>
        </p:nvSpPr>
        <p:spPr>
          <a:xfrm>
            <a:off x="9188600" y="834338"/>
            <a:ext cx="8428200" cy="1668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Continue</a:t>
            </a:r>
            <a:r>
              <a:rPr b="0" i="0" lang="en-US" sz="2600" u="none" cap="none" strike="noStrike">
                <a:solidFill>
                  <a:srgbClr val="000000"/>
                </a:solidFill>
                <a:latin typeface="Open Sans"/>
                <a:ea typeface="Open Sans"/>
                <a:cs typeface="Open Sans"/>
                <a:sym typeface="Open Sans"/>
              </a:rPr>
              <a:t>: Esta respuesta provisional indica que todo hasta ahora está bien y que el cliente debe continuar con la solicitud o ignorarla si ya está terminada.</a:t>
            </a:r>
            <a:endParaRPr b="0" i="0" sz="2600" u="none" cap="none" strike="noStrike">
              <a:solidFill>
                <a:srgbClr val="000000"/>
              </a:solidFill>
              <a:latin typeface="Open Sans"/>
              <a:ea typeface="Open Sans"/>
              <a:cs typeface="Open Sans"/>
              <a:sym typeface="Open Sans"/>
            </a:endParaRPr>
          </a:p>
        </p:txBody>
      </p:sp>
      <p:sp>
        <p:nvSpPr>
          <p:cNvPr id="262" name="Google Shape;262;p25"/>
          <p:cNvSpPr/>
          <p:nvPr/>
        </p:nvSpPr>
        <p:spPr>
          <a:xfrm>
            <a:off x="7330000" y="1288838"/>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100</a:t>
            </a:r>
            <a:endParaRPr b="0" i="0" sz="1400" u="none" cap="none" strike="noStrike">
              <a:solidFill>
                <a:srgbClr val="4A5ED4"/>
              </a:solidFill>
              <a:latin typeface="Roboto"/>
              <a:ea typeface="Roboto"/>
              <a:cs typeface="Roboto"/>
              <a:sym typeface="Roboto"/>
            </a:endParaRPr>
          </a:p>
        </p:txBody>
      </p:sp>
      <p:sp>
        <p:nvSpPr>
          <p:cNvPr id="263" name="Google Shape;263;p25"/>
          <p:cNvSpPr txBox="1"/>
          <p:nvPr/>
        </p:nvSpPr>
        <p:spPr>
          <a:xfrm>
            <a:off x="9188600" y="2668613"/>
            <a:ext cx="8428200" cy="2010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Switching Protocol</a:t>
            </a:r>
            <a:r>
              <a:rPr b="0" i="0" lang="en-US" sz="2600" u="none" cap="none" strike="noStrike">
                <a:solidFill>
                  <a:srgbClr val="000000"/>
                </a:solidFill>
                <a:latin typeface="Open Sans"/>
                <a:ea typeface="Open Sans"/>
                <a:cs typeface="Open Sans"/>
                <a:sym typeface="Open Sans"/>
              </a:rPr>
              <a:t>: Este código se envía en respuesta a un encabezado de solicitud Upgrade por el cliente e indica que el servidor acepta el cambio de protocolo propuesto por el agente de usuario.</a:t>
            </a:r>
            <a:endParaRPr b="0" i="0" sz="2600" u="none" cap="none" strike="noStrike">
              <a:solidFill>
                <a:srgbClr val="000000"/>
              </a:solidFill>
              <a:latin typeface="Open Sans"/>
              <a:ea typeface="Open Sans"/>
              <a:cs typeface="Open Sans"/>
              <a:sym typeface="Open Sans"/>
            </a:endParaRPr>
          </a:p>
        </p:txBody>
      </p:sp>
      <p:sp>
        <p:nvSpPr>
          <p:cNvPr id="264" name="Google Shape;264;p25"/>
          <p:cNvSpPr/>
          <p:nvPr/>
        </p:nvSpPr>
        <p:spPr>
          <a:xfrm>
            <a:off x="7330000" y="3293963"/>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101</a:t>
            </a:r>
            <a:endParaRPr b="0" i="0" sz="1400" u="none" cap="none" strike="noStrike">
              <a:solidFill>
                <a:srgbClr val="4A5ED4"/>
              </a:solidFill>
              <a:latin typeface="Roboto"/>
              <a:ea typeface="Roboto"/>
              <a:cs typeface="Roboto"/>
              <a:sym typeface="Roboto"/>
            </a:endParaRPr>
          </a:p>
        </p:txBody>
      </p:sp>
      <p:sp>
        <p:nvSpPr>
          <p:cNvPr id="265" name="Google Shape;265;p25"/>
          <p:cNvSpPr txBox="1"/>
          <p:nvPr/>
        </p:nvSpPr>
        <p:spPr>
          <a:xfrm>
            <a:off x="9188600" y="4844588"/>
            <a:ext cx="8428200" cy="2010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Processing</a:t>
            </a:r>
            <a:r>
              <a:rPr b="0" i="0" lang="en-US" sz="2600" u="none" cap="none" strike="noStrike">
                <a:solidFill>
                  <a:srgbClr val="000000"/>
                </a:solidFill>
                <a:latin typeface="Open Sans"/>
                <a:ea typeface="Open Sans"/>
                <a:cs typeface="Open Sans"/>
                <a:sym typeface="Open Sans"/>
              </a:rPr>
              <a:t>: Este código indica que el servidor ha recibido la solicitud y aún se encuentra procesandola, por lo que no hay respuesta disponible.</a:t>
            </a:r>
            <a:endParaRPr b="0" i="0" sz="2600" u="none" cap="none" strike="noStrike">
              <a:solidFill>
                <a:srgbClr val="000000"/>
              </a:solidFill>
              <a:latin typeface="Open Sans"/>
              <a:ea typeface="Open Sans"/>
              <a:cs typeface="Open Sans"/>
              <a:sym typeface="Open Sans"/>
            </a:endParaRPr>
          </a:p>
        </p:txBody>
      </p:sp>
      <p:sp>
        <p:nvSpPr>
          <p:cNvPr id="266" name="Google Shape;266;p25"/>
          <p:cNvSpPr/>
          <p:nvPr/>
        </p:nvSpPr>
        <p:spPr>
          <a:xfrm>
            <a:off x="7330000" y="5469938"/>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102</a:t>
            </a:r>
            <a:endParaRPr b="0" i="0" sz="1400" u="none" cap="none" strike="noStrike">
              <a:solidFill>
                <a:srgbClr val="4A5ED4"/>
              </a:solidFill>
              <a:latin typeface="Roboto"/>
              <a:ea typeface="Roboto"/>
              <a:cs typeface="Roboto"/>
              <a:sym typeface="Roboto"/>
            </a:endParaRPr>
          </a:p>
        </p:txBody>
      </p:sp>
      <p:sp>
        <p:nvSpPr>
          <p:cNvPr id="267" name="Google Shape;267;p25"/>
          <p:cNvSpPr txBox="1"/>
          <p:nvPr/>
        </p:nvSpPr>
        <p:spPr>
          <a:xfrm>
            <a:off x="9209725" y="7020563"/>
            <a:ext cx="8428200" cy="24321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Early Hints</a:t>
            </a:r>
            <a:r>
              <a:rPr b="0" i="0" lang="en-US" sz="2600" u="none" cap="none" strike="noStrike">
                <a:solidFill>
                  <a:srgbClr val="000000"/>
                </a:solidFill>
                <a:latin typeface="Open Sans"/>
                <a:ea typeface="Open Sans"/>
                <a:cs typeface="Open Sans"/>
                <a:sym typeface="Open Sans"/>
              </a:rPr>
              <a:t>: Este código de estado está pensado principalmente para ser usado con el encabezado Link, permitiendo que el agente de usuario empiece a pre-cargar recursos mientras el servidor prepara una respuesta.</a:t>
            </a:r>
            <a:endParaRPr b="0" i="0" sz="2600" u="none" cap="none" strike="noStrike">
              <a:solidFill>
                <a:srgbClr val="000000"/>
              </a:solidFill>
              <a:latin typeface="Open Sans"/>
              <a:ea typeface="Open Sans"/>
              <a:cs typeface="Open Sans"/>
              <a:sym typeface="Open Sans"/>
            </a:endParaRPr>
          </a:p>
        </p:txBody>
      </p:sp>
      <p:sp>
        <p:nvSpPr>
          <p:cNvPr id="268" name="Google Shape;268;p25"/>
          <p:cNvSpPr/>
          <p:nvPr/>
        </p:nvSpPr>
        <p:spPr>
          <a:xfrm>
            <a:off x="7330000" y="7856813"/>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103</a:t>
            </a:r>
            <a:endParaRPr b="0" i="0" sz="1400" u="none" cap="none" strike="noStrike">
              <a:solidFill>
                <a:srgbClr val="4A5ED4"/>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2XX</a:t>
            </a:r>
            <a:endParaRPr b="1" sz="6000">
              <a:latin typeface="Open Sans"/>
              <a:ea typeface="Open Sans"/>
              <a:cs typeface="Open Sans"/>
              <a:sym typeface="Open Sans"/>
            </a:endParaRPr>
          </a:p>
        </p:txBody>
      </p:sp>
      <p:sp>
        <p:nvSpPr>
          <p:cNvPr id="274" name="Google Shape;274;p26"/>
          <p:cNvSpPr txBox="1"/>
          <p:nvPr/>
        </p:nvSpPr>
        <p:spPr>
          <a:xfrm>
            <a:off x="9188600" y="417177"/>
            <a:ext cx="8428200" cy="1066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Ok</a:t>
            </a:r>
            <a:r>
              <a:rPr b="0" i="0" lang="en-US" sz="2600" u="none" cap="none" strike="noStrike">
                <a:solidFill>
                  <a:srgbClr val="000000"/>
                </a:solidFill>
                <a:latin typeface="Open Sans"/>
                <a:ea typeface="Open Sans"/>
                <a:cs typeface="Open Sans"/>
                <a:sym typeface="Open Sans"/>
              </a:rPr>
              <a:t>: Esta es la respuesta estándar para las peticiones HTTP que han tenido éxito.</a:t>
            </a:r>
            <a:endParaRPr b="0" i="0" sz="2600" u="none" cap="none" strike="noStrike">
              <a:solidFill>
                <a:srgbClr val="000000"/>
              </a:solidFill>
              <a:latin typeface="Open Sans"/>
              <a:ea typeface="Open Sans"/>
              <a:cs typeface="Open Sans"/>
              <a:sym typeface="Open Sans"/>
            </a:endParaRPr>
          </a:p>
        </p:txBody>
      </p:sp>
      <p:sp>
        <p:nvSpPr>
          <p:cNvPr id="275" name="Google Shape;275;p26"/>
          <p:cNvSpPr/>
          <p:nvPr/>
        </p:nvSpPr>
        <p:spPr>
          <a:xfrm>
            <a:off x="7330000" y="57076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200</a:t>
            </a:r>
            <a:endParaRPr b="0" i="0" sz="1400" u="none" cap="none" strike="noStrike">
              <a:solidFill>
                <a:schemeClr val="accent2"/>
              </a:solidFill>
              <a:latin typeface="Roboto"/>
              <a:ea typeface="Roboto"/>
              <a:cs typeface="Roboto"/>
              <a:sym typeface="Roboto"/>
            </a:endParaRPr>
          </a:p>
        </p:txBody>
      </p:sp>
      <p:sp>
        <p:nvSpPr>
          <p:cNvPr id="276" name="Google Shape;276;p26"/>
          <p:cNvSpPr txBox="1"/>
          <p:nvPr/>
        </p:nvSpPr>
        <p:spPr>
          <a:xfrm>
            <a:off x="9188600" y="1483978"/>
            <a:ext cx="8428200" cy="1682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Created:</a:t>
            </a:r>
            <a:r>
              <a:rPr b="0" i="0" lang="en-US" sz="2600" u="none" cap="none" strike="noStrike">
                <a:solidFill>
                  <a:srgbClr val="000000"/>
                </a:solidFill>
                <a:latin typeface="Open Sans"/>
                <a:ea typeface="Open Sans"/>
                <a:cs typeface="Open Sans"/>
                <a:sym typeface="Open Sans"/>
              </a:rPr>
              <a:t> La solicitud se ha realizado correctamente y se ha creado un nuevo recurso. Suele ser la respuesta tras solicitudes POST o PUT.</a:t>
            </a:r>
            <a:endParaRPr b="1" i="0" sz="2600" u="none" cap="none" strike="noStrike">
              <a:solidFill>
                <a:srgbClr val="000000"/>
              </a:solidFill>
              <a:latin typeface="Open Sans"/>
              <a:ea typeface="Open Sans"/>
              <a:cs typeface="Open Sans"/>
              <a:sym typeface="Open Sans"/>
            </a:endParaRPr>
          </a:p>
        </p:txBody>
      </p:sp>
      <p:sp>
        <p:nvSpPr>
          <p:cNvPr id="277" name="Google Shape;277;p26"/>
          <p:cNvSpPr/>
          <p:nvPr/>
        </p:nvSpPr>
        <p:spPr>
          <a:xfrm>
            <a:off x="7330000" y="19455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201</a:t>
            </a:r>
            <a:endParaRPr b="0" i="0" sz="1400" u="none" cap="none" strike="noStrike">
              <a:solidFill>
                <a:schemeClr val="accent2"/>
              </a:solidFill>
              <a:latin typeface="Roboto"/>
              <a:ea typeface="Roboto"/>
              <a:cs typeface="Roboto"/>
              <a:sym typeface="Roboto"/>
            </a:endParaRPr>
          </a:p>
        </p:txBody>
      </p:sp>
      <p:sp>
        <p:nvSpPr>
          <p:cNvPr id="278" name="Google Shape;278;p26"/>
          <p:cNvSpPr txBox="1"/>
          <p:nvPr/>
        </p:nvSpPr>
        <p:spPr>
          <a:xfrm>
            <a:off x="9188600" y="3166678"/>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Accepted: </a:t>
            </a:r>
            <a:r>
              <a:rPr b="0" i="0" lang="en-US" sz="2600" u="none" cap="none" strike="noStrike">
                <a:solidFill>
                  <a:srgbClr val="000000"/>
                </a:solidFill>
                <a:latin typeface="Open Sans"/>
                <a:ea typeface="Open Sans"/>
                <a:cs typeface="Open Sans"/>
                <a:sym typeface="Open Sans"/>
              </a:rPr>
              <a:t>La solicitud ha sido aceptada, pero sigue en curso. Se utiliza para casos en los que otro servidor gestiona la solicitud o para el procesamiento por lotes.</a:t>
            </a:r>
            <a:endParaRPr b="0" i="0" sz="2600" u="none" cap="none" strike="noStrike">
              <a:solidFill>
                <a:srgbClr val="000000"/>
              </a:solidFill>
              <a:latin typeface="Open Sans"/>
              <a:ea typeface="Open Sans"/>
              <a:cs typeface="Open Sans"/>
              <a:sym typeface="Open Sans"/>
            </a:endParaRPr>
          </a:p>
        </p:txBody>
      </p:sp>
      <p:sp>
        <p:nvSpPr>
          <p:cNvPr id="279" name="Google Shape;279;p26"/>
          <p:cNvSpPr/>
          <p:nvPr/>
        </p:nvSpPr>
        <p:spPr>
          <a:xfrm>
            <a:off x="7330000" y="36018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202</a:t>
            </a:r>
            <a:endParaRPr b="0" i="0" sz="1400" u="none" cap="none" strike="noStrike">
              <a:solidFill>
                <a:schemeClr val="accent2"/>
              </a:solidFill>
              <a:latin typeface="Roboto"/>
              <a:ea typeface="Roboto"/>
              <a:cs typeface="Roboto"/>
              <a:sym typeface="Roboto"/>
            </a:endParaRPr>
          </a:p>
        </p:txBody>
      </p:sp>
      <p:sp>
        <p:nvSpPr>
          <p:cNvPr id="280" name="Google Shape;280;p26"/>
          <p:cNvSpPr txBox="1"/>
          <p:nvPr/>
        </p:nvSpPr>
        <p:spPr>
          <a:xfrm>
            <a:off x="9188600" y="4796573"/>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Non-Authoritative Information: </a:t>
            </a:r>
            <a:r>
              <a:rPr b="0" i="0" lang="en-US" sz="2600" u="none" cap="none" strike="noStrike">
                <a:solidFill>
                  <a:srgbClr val="000000"/>
                </a:solidFill>
                <a:latin typeface="Open Sans"/>
                <a:ea typeface="Open Sans"/>
                <a:cs typeface="Open Sans"/>
                <a:sym typeface="Open Sans"/>
              </a:rPr>
              <a:t>Los datos devueltos no proceden del servidor de origen. En su lugar, es una versión modificada recogida de un tercero.</a:t>
            </a:r>
            <a:endParaRPr b="1" i="0" sz="2600" u="none" cap="none" strike="noStrike">
              <a:solidFill>
                <a:srgbClr val="000000"/>
              </a:solidFill>
              <a:latin typeface="Open Sans"/>
              <a:ea typeface="Open Sans"/>
              <a:cs typeface="Open Sans"/>
              <a:sym typeface="Open Sans"/>
            </a:endParaRPr>
          </a:p>
        </p:txBody>
      </p:sp>
      <p:sp>
        <p:nvSpPr>
          <p:cNvPr id="281" name="Google Shape;281;p26"/>
          <p:cNvSpPr/>
          <p:nvPr/>
        </p:nvSpPr>
        <p:spPr>
          <a:xfrm>
            <a:off x="7330000" y="52317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203</a:t>
            </a:r>
            <a:endParaRPr b="0" i="0" sz="1400" u="none" cap="none" strike="noStrike">
              <a:solidFill>
                <a:schemeClr val="accent2"/>
              </a:solidFill>
              <a:latin typeface="Roboto"/>
              <a:ea typeface="Roboto"/>
              <a:cs typeface="Roboto"/>
              <a:sym typeface="Roboto"/>
            </a:endParaRPr>
          </a:p>
        </p:txBody>
      </p:sp>
      <p:sp>
        <p:nvSpPr>
          <p:cNvPr id="282" name="Google Shape;282;p26"/>
          <p:cNvSpPr txBox="1"/>
          <p:nvPr/>
        </p:nvSpPr>
        <p:spPr>
          <a:xfrm>
            <a:off x="9188600" y="6426473"/>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 Content: </a:t>
            </a:r>
            <a:r>
              <a:rPr b="0" i="0" lang="en-US" sz="2600" u="none" cap="none" strike="noStrike">
                <a:solidFill>
                  <a:srgbClr val="000000"/>
                </a:solidFill>
                <a:latin typeface="Open Sans"/>
                <a:ea typeface="Open Sans"/>
                <a:cs typeface="Open Sans"/>
                <a:sym typeface="Open Sans"/>
              </a:rPr>
              <a:t>La solicitud se procesó correctamente, pero no hay contenido. Las cabeceras pueden ser útiles.</a:t>
            </a:r>
            <a:endParaRPr b="0" i="0" sz="2600" u="none" cap="none" strike="noStrike">
              <a:solidFill>
                <a:srgbClr val="000000"/>
              </a:solidFill>
              <a:latin typeface="Open Sans"/>
              <a:ea typeface="Open Sans"/>
              <a:cs typeface="Open Sans"/>
              <a:sym typeface="Open Sans"/>
            </a:endParaRPr>
          </a:p>
        </p:txBody>
      </p:sp>
      <p:sp>
        <p:nvSpPr>
          <p:cNvPr id="283" name="Google Shape;283;p26"/>
          <p:cNvSpPr/>
          <p:nvPr/>
        </p:nvSpPr>
        <p:spPr>
          <a:xfrm>
            <a:off x="7330000" y="68616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204</a:t>
            </a:r>
            <a:endParaRPr b="0" i="0" sz="1400" u="none" cap="none" strike="noStrike">
              <a:solidFill>
                <a:schemeClr val="accent2"/>
              </a:solidFill>
              <a:latin typeface="Roboto"/>
              <a:ea typeface="Roboto"/>
              <a:cs typeface="Roboto"/>
              <a:sym typeface="Roboto"/>
            </a:endParaRPr>
          </a:p>
        </p:txBody>
      </p:sp>
      <p:sp>
        <p:nvSpPr>
          <p:cNvPr id="284" name="Google Shape;284;p26"/>
          <p:cNvSpPr txBox="1"/>
          <p:nvPr/>
        </p:nvSpPr>
        <p:spPr>
          <a:xfrm>
            <a:off x="9188600" y="8239923"/>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Reset Content: </a:t>
            </a:r>
            <a:r>
              <a:rPr b="0" i="0" lang="en-US" sz="2600" u="none" cap="none" strike="noStrike">
                <a:solidFill>
                  <a:srgbClr val="000000"/>
                </a:solidFill>
                <a:latin typeface="Open Sans"/>
                <a:ea typeface="Open Sans"/>
                <a:cs typeface="Open Sans"/>
                <a:sym typeface="Open Sans"/>
              </a:rPr>
              <a:t>El servidor cumplió la petición, pero pidio al usuario que restableciera el documento.</a:t>
            </a:r>
            <a:endParaRPr b="0" i="0" sz="2600" u="none" cap="none" strike="noStrike">
              <a:solidFill>
                <a:srgbClr val="000000"/>
              </a:solidFill>
              <a:latin typeface="Open Sans"/>
              <a:ea typeface="Open Sans"/>
              <a:cs typeface="Open Sans"/>
              <a:sym typeface="Open Sans"/>
            </a:endParaRPr>
          </a:p>
        </p:txBody>
      </p:sp>
      <p:sp>
        <p:nvSpPr>
          <p:cNvPr id="285" name="Google Shape;285;p26"/>
          <p:cNvSpPr/>
          <p:nvPr/>
        </p:nvSpPr>
        <p:spPr>
          <a:xfrm>
            <a:off x="7330000" y="867506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205</a:t>
            </a:r>
            <a:endParaRPr b="0" i="0" sz="1400" u="none" cap="none" strike="noStrike">
              <a:solidFill>
                <a:schemeClr val="accent2"/>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7"/>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2XX</a:t>
            </a:r>
            <a:endParaRPr b="1" sz="6000">
              <a:latin typeface="Open Sans"/>
              <a:ea typeface="Open Sans"/>
              <a:cs typeface="Open Sans"/>
              <a:sym typeface="Open Sans"/>
            </a:endParaRPr>
          </a:p>
        </p:txBody>
      </p:sp>
      <p:sp>
        <p:nvSpPr>
          <p:cNvPr id="291" name="Google Shape;291;p27"/>
          <p:cNvSpPr txBox="1"/>
          <p:nvPr/>
        </p:nvSpPr>
        <p:spPr>
          <a:xfrm>
            <a:off x="9188600" y="1674151"/>
            <a:ext cx="8428200" cy="19962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Partial Content: </a:t>
            </a:r>
            <a:r>
              <a:rPr b="0" i="0" lang="en-US" sz="2600" u="none" cap="none" strike="noStrike">
                <a:solidFill>
                  <a:srgbClr val="000000"/>
                </a:solidFill>
                <a:latin typeface="Open Sans"/>
                <a:ea typeface="Open Sans"/>
                <a:cs typeface="Open Sans"/>
                <a:sym typeface="Open Sans"/>
              </a:rPr>
              <a:t>El servidor está entregando parte del recurso. Esta respuesta se utiliza cuando el cliente envía una cabecera Rango para solicitar solo una parte de un recurso.</a:t>
            </a:r>
            <a:endParaRPr b="1" i="0" sz="2600" u="none" cap="none" strike="noStrike">
              <a:solidFill>
                <a:srgbClr val="000000"/>
              </a:solidFill>
              <a:latin typeface="Open Sans"/>
              <a:ea typeface="Open Sans"/>
              <a:cs typeface="Open Sans"/>
              <a:sym typeface="Open Sans"/>
            </a:endParaRPr>
          </a:p>
        </p:txBody>
      </p:sp>
      <p:sp>
        <p:nvSpPr>
          <p:cNvPr id="292" name="Google Shape;292;p27"/>
          <p:cNvSpPr/>
          <p:nvPr/>
        </p:nvSpPr>
        <p:spPr>
          <a:xfrm>
            <a:off x="7330000" y="229244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206</a:t>
            </a:r>
            <a:endParaRPr b="0" i="0" sz="1400" u="none" cap="none" strike="noStrike">
              <a:solidFill>
                <a:schemeClr val="accent2"/>
              </a:solidFill>
              <a:latin typeface="Roboto"/>
              <a:ea typeface="Roboto"/>
              <a:cs typeface="Roboto"/>
              <a:sym typeface="Roboto"/>
            </a:endParaRPr>
          </a:p>
        </p:txBody>
      </p:sp>
      <p:sp>
        <p:nvSpPr>
          <p:cNvPr id="293" name="Google Shape;293;p27"/>
          <p:cNvSpPr txBox="1"/>
          <p:nvPr/>
        </p:nvSpPr>
        <p:spPr>
          <a:xfrm>
            <a:off x="9188600" y="3670354"/>
            <a:ext cx="8428200" cy="1682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Multi-Status: </a:t>
            </a:r>
            <a:r>
              <a:rPr b="0" i="0" lang="en-US" sz="2600" u="none" cap="none" strike="noStrike">
                <a:solidFill>
                  <a:srgbClr val="000000"/>
                </a:solidFill>
                <a:latin typeface="Open Sans"/>
                <a:ea typeface="Open Sans"/>
                <a:cs typeface="Open Sans"/>
                <a:sym typeface="Open Sans"/>
              </a:rPr>
              <a:t>Proporciona los estados de múltiples recursos, dependiendo de cuántas sub-solicitudes se hayan realizado.</a:t>
            </a:r>
            <a:endParaRPr b="0" i="0" sz="2600" u="none" cap="none" strike="noStrike">
              <a:solidFill>
                <a:srgbClr val="000000"/>
              </a:solidFill>
              <a:latin typeface="Open Sans"/>
              <a:ea typeface="Open Sans"/>
              <a:cs typeface="Open Sans"/>
              <a:sym typeface="Open Sans"/>
            </a:endParaRPr>
          </a:p>
        </p:txBody>
      </p:sp>
      <p:sp>
        <p:nvSpPr>
          <p:cNvPr id="294" name="Google Shape;294;p27"/>
          <p:cNvSpPr/>
          <p:nvPr/>
        </p:nvSpPr>
        <p:spPr>
          <a:xfrm>
            <a:off x="7330000" y="413189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207</a:t>
            </a:r>
            <a:endParaRPr b="0" i="0" sz="1400" u="none" cap="none" strike="noStrike">
              <a:solidFill>
                <a:schemeClr val="accent2"/>
              </a:solidFill>
              <a:latin typeface="Roboto"/>
              <a:ea typeface="Roboto"/>
              <a:cs typeface="Roboto"/>
              <a:sym typeface="Roboto"/>
            </a:endParaRPr>
          </a:p>
        </p:txBody>
      </p:sp>
      <p:sp>
        <p:nvSpPr>
          <p:cNvPr id="295" name="Google Shape;295;p27"/>
          <p:cNvSpPr txBox="1"/>
          <p:nvPr/>
        </p:nvSpPr>
        <p:spPr>
          <a:xfrm>
            <a:off x="9188600" y="5353054"/>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Multi-Status: </a:t>
            </a:r>
            <a:r>
              <a:rPr b="0" i="0" lang="en-US" sz="2600" u="none" cap="none" strike="noStrike">
                <a:solidFill>
                  <a:srgbClr val="000000"/>
                </a:solidFill>
                <a:latin typeface="Open Sans"/>
                <a:ea typeface="Open Sans"/>
                <a:cs typeface="Open Sans"/>
                <a:sym typeface="Open Sans"/>
              </a:rPr>
              <a:t>Los miembros de un elemento DAV ya han sido listados y no se volverán a incluir.</a:t>
            </a:r>
            <a:endParaRPr b="0" i="0" sz="2600" u="none" cap="none" strike="noStrike">
              <a:solidFill>
                <a:srgbClr val="000000"/>
              </a:solidFill>
              <a:latin typeface="Open Sans"/>
              <a:ea typeface="Open Sans"/>
              <a:cs typeface="Open Sans"/>
              <a:sym typeface="Open Sans"/>
            </a:endParaRPr>
          </a:p>
        </p:txBody>
      </p:sp>
      <p:sp>
        <p:nvSpPr>
          <p:cNvPr id="296" name="Google Shape;296;p27"/>
          <p:cNvSpPr/>
          <p:nvPr/>
        </p:nvSpPr>
        <p:spPr>
          <a:xfrm>
            <a:off x="7330000" y="578819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208</a:t>
            </a:r>
            <a:endParaRPr b="0" i="0" sz="1400" u="none" cap="none" strike="noStrike">
              <a:solidFill>
                <a:schemeClr val="accent2"/>
              </a:solidFill>
              <a:latin typeface="Roboto"/>
              <a:ea typeface="Roboto"/>
              <a:cs typeface="Roboto"/>
              <a:sym typeface="Roboto"/>
            </a:endParaRPr>
          </a:p>
        </p:txBody>
      </p:sp>
      <p:sp>
        <p:nvSpPr>
          <p:cNvPr id="297" name="Google Shape;297;p27"/>
          <p:cNvSpPr txBox="1"/>
          <p:nvPr/>
        </p:nvSpPr>
        <p:spPr>
          <a:xfrm>
            <a:off x="9188600" y="6982949"/>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IM Used:</a:t>
            </a:r>
            <a:r>
              <a:rPr b="0" i="0" lang="en-US" sz="2600" u="none" cap="none" strike="noStrike">
                <a:solidFill>
                  <a:srgbClr val="000000"/>
                </a:solidFill>
                <a:latin typeface="Open Sans"/>
                <a:ea typeface="Open Sans"/>
                <a:cs typeface="Open Sans"/>
                <a:sym typeface="Open Sans"/>
              </a:rPr>
              <a:t> El servidor completó una petición GET. Y la respuesta indica uno o más resultados de manipulación de instancias.</a:t>
            </a:r>
            <a:endParaRPr b="0" i="0" sz="2600" u="none" cap="none" strike="noStrike">
              <a:solidFill>
                <a:srgbClr val="000000"/>
              </a:solidFill>
              <a:latin typeface="Open Sans"/>
              <a:ea typeface="Open Sans"/>
              <a:cs typeface="Open Sans"/>
              <a:sym typeface="Open Sans"/>
            </a:endParaRPr>
          </a:p>
        </p:txBody>
      </p:sp>
      <p:sp>
        <p:nvSpPr>
          <p:cNvPr id="298" name="Google Shape;298;p27"/>
          <p:cNvSpPr/>
          <p:nvPr/>
        </p:nvSpPr>
        <p:spPr>
          <a:xfrm>
            <a:off x="7330000" y="741809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226</a:t>
            </a:r>
            <a:endParaRPr b="0" i="0" sz="1400" u="none" cap="none" strike="noStrike">
              <a:solidFill>
                <a:schemeClr val="accent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8"/>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3XX</a:t>
            </a:r>
            <a:endParaRPr b="1" sz="6000">
              <a:latin typeface="Open Sans"/>
              <a:ea typeface="Open Sans"/>
              <a:cs typeface="Open Sans"/>
              <a:sym typeface="Open Sans"/>
            </a:endParaRPr>
          </a:p>
        </p:txBody>
      </p:sp>
      <p:sp>
        <p:nvSpPr>
          <p:cNvPr id="304" name="Google Shape;304;p28"/>
          <p:cNvSpPr txBox="1"/>
          <p:nvPr/>
        </p:nvSpPr>
        <p:spPr>
          <a:xfrm>
            <a:off x="9104100" y="351287"/>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Multiple Choice: </a:t>
            </a:r>
            <a:r>
              <a:rPr b="0" i="0" lang="en-US" sz="2600" u="none" cap="none" strike="noStrike">
                <a:solidFill>
                  <a:srgbClr val="000000"/>
                </a:solidFill>
                <a:latin typeface="Open Sans"/>
                <a:ea typeface="Open Sans"/>
                <a:cs typeface="Open Sans"/>
                <a:sym typeface="Open Sans"/>
              </a:rPr>
              <a:t>La solicitud tiene más de una respuesta posible. Y el usuario debe elegir una de ellas.</a:t>
            </a:r>
            <a:endParaRPr b="0" i="0" sz="2600" u="none" cap="none" strike="noStrike">
              <a:solidFill>
                <a:srgbClr val="000000"/>
              </a:solidFill>
              <a:latin typeface="Open Sans"/>
              <a:ea typeface="Open Sans"/>
              <a:cs typeface="Open Sans"/>
              <a:sym typeface="Open Sans"/>
            </a:endParaRPr>
          </a:p>
        </p:txBody>
      </p:sp>
      <p:sp>
        <p:nvSpPr>
          <p:cNvPr id="305" name="Google Shape;305;p28"/>
          <p:cNvSpPr/>
          <p:nvPr/>
        </p:nvSpPr>
        <p:spPr>
          <a:xfrm>
            <a:off x="7245500" y="786429"/>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300</a:t>
            </a:r>
            <a:endParaRPr b="0" i="0" sz="1400" u="none" cap="none" strike="noStrike">
              <a:solidFill>
                <a:schemeClr val="accent6"/>
              </a:solidFill>
              <a:latin typeface="Roboto"/>
              <a:ea typeface="Roboto"/>
              <a:cs typeface="Roboto"/>
              <a:sym typeface="Roboto"/>
            </a:endParaRPr>
          </a:p>
        </p:txBody>
      </p:sp>
      <p:sp>
        <p:nvSpPr>
          <p:cNvPr id="306" name="Google Shape;306;p28"/>
          <p:cNvSpPr txBox="1"/>
          <p:nvPr/>
        </p:nvSpPr>
        <p:spPr>
          <a:xfrm>
            <a:off x="9104100" y="1981188"/>
            <a:ext cx="8428200" cy="2011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Moved Permanently: </a:t>
            </a:r>
            <a:r>
              <a:rPr b="0" i="0" lang="en-US" sz="2600" u="none" cap="none" strike="noStrike">
                <a:solidFill>
                  <a:srgbClr val="000000"/>
                </a:solidFill>
                <a:latin typeface="Open Sans"/>
                <a:ea typeface="Open Sans"/>
                <a:cs typeface="Open Sans"/>
                <a:sym typeface="Open Sans"/>
              </a:rPr>
              <a:t>Este código de estado de redirección indica que el recurso solicitado se ha movido permanentemente a una nueva URL. El navegador muestra la nueva URL.</a:t>
            </a:r>
            <a:endParaRPr b="0" i="0" sz="2600" u="none" cap="none" strike="noStrike">
              <a:solidFill>
                <a:srgbClr val="000000"/>
              </a:solidFill>
              <a:latin typeface="Open Sans"/>
              <a:ea typeface="Open Sans"/>
              <a:cs typeface="Open Sans"/>
              <a:sym typeface="Open Sans"/>
            </a:endParaRPr>
          </a:p>
        </p:txBody>
      </p:sp>
      <p:sp>
        <p:nvSpPr>
          <p:cNvPr id="307" name="Google Shape;307;p28"/>
          <p:cNvSpPr/>
          <p:nvPr/>
        </p:nvSpPr>
        <p:spPr>
          <a:xfrm>
            <a:off x="7330000" y="2607279"/>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301</a:t>
            </a:r>
            <a:endParaRPr b="0" i="0" sz="1400" u="none" cap="none" strike="noStrike">
              <a:solidFill>
                <a:schemeClr val="accent6"/>
              </a:solidFill>
              <a:latin typeface="Roboto"/>
              <a:ea typeface="Roboto"/>
              <a:cs typeface="Roboto"/>
              <a:sym typeface="Roboto"/>
            </a:endParaRPr>
          </a:p>
        </p:txBody>
      </p:sp>
      <p:sp>
        <p:nvSpPr>
          <p:cNvPr id="308" name="Google Shape;308;p28"/>
          <p:cNvSpPr txBox="1"/>
          <p:nvPr/>
        </p:nvSpPr>
        <p:spPr>
          <a:xfrm>
            <a:off x="9104100" y="4029013"/>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Foun: </a:t>
            </a:r>
            <a:r>
              <a:rPr b="0" i="0" lang="en-US" sz="2600" u="none" cap="none" strike="noStrike">
                <a:solidFill>
                  <a:srgbClr val="000000"/>
                </a:solidFill>
                <a:latin typeface="Open Sans"/>
                <a:ea typeface="Open Sans"/>
                <a:cs typeface="Open Sans"/>
                <a:sym typeface="Open Sans"/>
              </a:rPr>
              <a:t>Anteriormente conocido como "Movido temporalmente", este código indica que el recurso solicitado se ha movido temporalmente a una nueva URL.</a:t>
            </a:r>
            <a:endParaRPr b="0" i="0" sz="2600" u="none" cap="none" strike="noStrike">
              <a:solidFill>
                <a:srgbClr val="000000"/>
              </a:solidFill>
              <a:latin typeface="Open Sans"/>
              <a:ea typeface="Open Sans"/>
              <a:cs typeface="Open Sans"/>
              <a:sym typeface="Open Sans"/>
            </a:endParaRPr>
          </a:p>
        </p:txBody>
      </p:sp>
      <p:sp>
        <p:nvSpPr>
          <p:cNvPr id="309" name="Google Shape;309;p28"/>
          <p:cNvSpPr/>
          <p:nvPr/>
        </p:nvSpPr>
        <p:spPr>
          <a:xfrm>
            <a:off x="7330000" y="468165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302</a:t>
            </a:r>
            <a:endParaRPr b="0" i="0" sz="1400" u="none" cap="none" strike="noStrike">
              <a:solidFill>
                <a:schemeClr val="accent6"/>
              </a:solidFill>
              <a:latin typeface="Roboto"/>
              <a:ea typeface="Roboto"/>
              <a:cs typeface="Roboto"/>
              <a:sym typeface="Roboto"/>
            </a:endParaRPr>
          </a:p>
        </p:txBody>
      </p:sp>
      <p:sp>
        <p:nvSpPr>
          <p:cNvPr id="310" name="Google Shape;310;p28"/>
          <p:cNvSpPr txBox="1"/>
          <p:nvPr/>
        </p:nvSpPr>
        <p:spPr>
          <a:xfrm>
            <a:off x="9104100" y="6093913"/>
            <a:ext cx="8428200" cy="13071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See Other: </a:t>
            </a:r>
            <a:r>
              <a:rPr b="0" i="0" lang="en-US" sz="2600" u="none" cap="none" strike="noStrike">
                <a:solidFill>
                  <a:srgbClr val="000000"/>
                </a:solidFill>
                <a:latin typeface="Open Sans"/>
                <a:ea typeface="Open Sans"/>
                <a:cs typeface="Open Sans"/>
                <a:sym typeface="Open Sans"/>
              </a:rPr>
              <a:t>El servidor redirige al usuario al recurso solicitado con una petición GET en otra URL.</a:t>
            </a:r>
            <a:endParaRPr b="0" i="0" sz="2600" u="none" cap="none" strike="noStrike">
              <a:solidFill>
                <a:srgbClr val="000000"/>
              </a:solidFill>
              <a:latin typeface="Open Sans"/>
              <a:ea typeface="Open Sans"/>
              <a:cs typeface="Open Sans"/>
              <a:sym typeface="Open Sans"/>
            </a:endParaRPr>
          </a:p>
        </p:txBody>
      </p:sp>
      <p:sp>
        <p:nvSpPr>
          <p:cNvPr id="311" name="Google Shape;311;p28"/>
          <p:cNvSpPr/>
          <p:nvPr/>
        </p:nvSpPr>
        <p:spPr>
          <a:xfrm>
            <a:off x="7330000" y="636765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303</a:t>
            </a:r>
            <a:endParaRPr b="0" i="0" sz="1400" u="none" cap="none" strike="noStrike">
              <a:solidFill>
                <a:schemeClr val="accent6"/>
              </a:solidFill>
              <a:latin typeface="Roboto"/>
              <a:ea typeface="Roboto"/>
              <a:cs typeface="Roboto"/>
              <a:sym typeface="Roboto"/>
            </a:endParaRPr>
          </a:p>
        </p:txBody>
      </p:sp>
      <p:sp>
        <p:nvSpPr>
          <p:cNvPr id="312" name="Google Shape;312;p28"/>
          <p:cNvSpPr txBox="1"/>
          <p:nvPr/>
        </p:nvSpPr>
        <p:spPr>
          <a:xfrm>
            <a:off x="9104100" y="7401013"/>
            <a:ext cx="8428200" cy="2534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Modified: </a:t>
            </a:r>
            <a:r>
              <a:rPr b="0" i="0" lang="en-US" sz="2600" u="none" cap="none" strike="noStrike">
                <a:solidFill>
                  <a:srgbClr val="000000"/>
                </a:solidFill>
                <a:latin typeface="Open Sans"/>
                <a:ea typeface="Open Sans"/>
                <a:cs typeface="Open Sans"/>
                <a:sym typeface="Open Sans"/>
              </a:rPr>
              <a:t>Se utiliza con fines de almacenamiento en caché. La respuesta no ha sido modificada, por lo que el cliente puede seguir utilizando la misma versión en caché del recurso solicitado.</a:t>
            </a:r>
            <a:endParaRPr b="1" i="0" sz="2600" u="none" cap="none" strike="noStrike">
              <a:solidFill>
                <a:srgbClr val="000000"/>
              </a:solidFill>
              <a:latin typeface="Open Sans"/>
              <a:ea typeface="Open Sans"/>
              <a:cs typeface="Open Sans"/>
              <a:sym typeface="Open Sans"/>
            </a:endParaRPr>
          </a:p>
        </p:txBody>
      </p:sp>
      <p:sp>
        <p:nvSpPr>
          <p:cNvPr id="313" name="Google Shape;313;p28"/>
          <p:cNvSpPr/>
          <p:nvPr/>
        </p:nvSpPr>
        <p:spPr>
          <a:xfrm>
            <a:off x="7330000" y="828855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304</a:t>
            </a:r>
            <a:endParaRPr b="0" i="0" sz="1400" u="none" cap="none" strike="noStrike">
              <a:solidFill>
                <a:schemeClr val="accent6"/>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9"/>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3XX</a:t>
            </a:r>
            <a:endParaRPr b="1" sz="6000">
              <a:latin typeface="Open Sans"/>
              <a:ea typeface="Open Sans"/>
              <a:cs typeface="Open Sans"/>
              <a:sym typeface="Open Sans"/>
            </a:endParaRPr>
          </a:p>
        </p:txBody>
      </p:sp>
      <p:sp>
        <p:nvSpPr>
          <p:cNvPr id="319" name="Google Shape;319;p29"/>
          <p:cNvSpPr txBox="1"/>
          <p:nvPr/>
        </p:nvSpPr>
        <p:spPr>
          <a:xfrm>
            <a:off x="9104100" y="3087137"/>
            <a:ext cx="8428200" cy="2011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Temporary Redirect: </a:t>
            </a:r>
            <a:r>
              <a:rPr b="0" i="0" lang="en-US" sz="2600" u="none" cap="none" strike="noStrike">
                <a:solidFill>
                  <a:srgbClr val="000000"/>
                </a:solidFill>
                <a:latin typeface="Open Sans"/>
                <a:ea typeface="Open Sans"/>
                <a:cs typeface="Open Sans"/>
                <a:sym typeface="Open Sans"/>
              </a:rPr>
              <a:t>El recurso solicitado se ha movido temporalmente a una URL diferente. La única diferencia respecto al código 302 es que el usuario no debe cambiar el método HTTP utilizado.</a:t>
            </a:r>
            <a:endParaRPr b="0" i="0" sz="2600" u="none" cap="none" strike="noStrike">
              <a:solidFill>
                <a:srgbClr val="000000"/>
              </a:solidFill>
              <a:latin typeface="Open Sans"/>
              <a:ea typeface="Open Sans"/>
              <a:cs typeface="Open Sans"/>
              <a:sym typeface="Open Sans"/>
            </a:endParaRPr>
          </a:p>
        </p:txBody>
      </p:sp>
      <p:sp>
        <p:nvSpPr>
          <p:cNvPr id="320" name="Google Shape;320;p29"/>
          <p:cNvSpPr/>
          <p:nvPr/>
        </p:nvSpPr>
        <p:spPr>
          <a:xfrm>
            <a:off x="7330000" y="3713228"/>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307</a:t>
            </a:r>
            <a:endParaRPr b="0" i="0" sz="1400" u="none" cap="none" strike="noStrike">
              <a:solidFill>
                <a:schemeClr val="accent6"/>
              </a:solidFill>
              <a:latin typeface="Roboto"/>
              <a:ea typeface="Roboto"/>
              <a:cs typeface="Roboto"/>
              <a:sym typeface="Roboto"/>
            </a:endParaRPr>
          </a:p>
        </p:txBody>
      </p:sp>
      <p:sp>
        <p:nvSpPr>
          <p:cNvPr id="321" name="Google Shape;321;p29"/>
          <p:cNvSpPr txBox="1"/>
          <p:nvPr/>
        </p:nvSpPr>
        <p:spPr>
          <a:xfrm>
            <a:off x="9104100" y="5134963"/>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Permanent Redirect: </a:t>
            </a:r>
            <a:r>
              <a:rPr b="0" i="0" lang="en-US" sz="2600" u="none" cap="none" strike="noStrike">
                <a:solidFill>
                  <a:srgbClr val="000000"/>
                </a:solidFill>
                <a:latin typeface="Open Sans"/>
                <a:ea typeface="Open Sans"/>
                <a:cs typeface="Open Sans"/>
                <a:sym typeface="Open Sans"/>
              </a:rPr>
              <a:t>El recurso solicitado se ha movido permanentemente a una URL diferente. La diferencia entre este código y el 301 es que el usuario no debe cambiar el método de petición HTTP.</a:t>
            </a:r>
            <a:endParaRPr b="0" i="0" sz="2600" u="none" cap="none" strike="noStrike">
              <a:solidFill>
                <a:srgbClr val="000000"/>
              </a:solidFill>
              <a:latin typeface="Open Sans"/>
              <a:ea typeface="Open Sans"/>
              <a:cs typeface="Open Sans"/>
              <a:sym typeface="Open Sans"/>
            </a:endParaRPr>
          </a:p>
        </p:txBody>
      </p:sp>
      <p:sp>
        <p:nvSpPr>
          <p:cNvPr id="322" name="Google Shape;322;p29"/>
          <p:cNvSpPr/>
          <p:nvPr/>
        </p:nvSpPr>
        <p:spPr>
          <a:xfrm>
            <a:off x="7330000" y="5787603"/>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308</a:t>
            </a:r>
            <a:endParaRPr b="0" i="0" sz="1400" u="none" cap="none" strike="noStrike">
              <a:solidFill>
                <a:schemeClr val="accent6"/>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0"/>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28" name="Google Shape;328;p30"/>
          <p:cNvSpPr txBox="1"/>
          <p:nvPr/>
        </p:nvSpPr>
        <p:spPr>
          <a:xfrm>
            <a:off x="9104100" y="545244"/>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Bad Request: </a:t>
            </a:r>
            <a:r>
              <a:rPr b="0" i="0" lang="en-US" sz="2600" u="none" cap="none" strike="noStrike">
                <a:solidFill>
                  <a:srgbClr val="000000"/>
                </a:solidFill>
                <a:latin typeface="Open Sans"/>
                <a:ea typeface="Open Sans"/>
                <a:cs typeface="Open Sans"/>
                <a:sym typeface="Open Sans"/>
              </a:rPr>
              <a:t>Esta respuesta significa que el servidor no pudo interpretar la solicitud dada una sintaxis inválida.</a:t>
            </a:r>
            <a:endParaRPr b="0" i="0" sz="2600" u="none" cap="none" strike="noStrike">
              <a:solidFill>
                <a:srgbClr val="000000"/>
              </a:solidFill>
              <a:latin typeface="Open Sans"/>
              <a:ea typeface="Open Sans"/>
              <a:cs typeface="Open Sans"/>
              <a:sym typeface="Open Sans"/>
            </a:endParaRPr>
          </a:p>
        </p:txBody>
      </p:sp>
      <p:sp>
        <p:nvSpPr>
          <p:cNvPr id="329" name="Google Shape;329;p30"/>
          <p:cNvSpPr/>
          <p:nvPr/>
        </p:nvSpPr>
        <p:spPr>
          <a:xfrm>
            <a:off x="7330000" y="9804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400</a:t>
            </a:r>
            <a:endParaRPr b="0" i="0" sz="1400" u="none" cap="none" strike="noStrike">
              <a:solidFill>
                <a:schemeClr val="accent3"/>
              </a:solidFill>
              <a:latin typeface="Roboto"/>
              <a:ea typeface="Roboto"/>
              <a:cs typeface="Roboto"/>
              <a:sym typeface="Roboto"/>
            </a:endParaRPr>
          </a:p>
        </p:txBody>
      </p:sp>
      <p:sp>
        <p:nvSpPr>
          <p:cNvPr id="330" name="Google Shape;330;p30"/>
          <p:cNvSpPr txBox="1"/>
          <p:nvPr/>
        </p:nvSpPr>
        <p:spPr>
          <a:xfrm>
            <a:off x="9104100" y="2175156"/>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Unauthorized: </a:t>
            </a:r>
            <a:r>
              <a:rPr b="0" i="0" lang="en-US" sz="2600" u="none" cap="none" strike="noStrike">
                <a:solidFill>
                  <a:srgbClr val="000000"/>
                </a:solidFill>
                <a:latin typeface="Open Sans"/>
                <a:ea typeface="Open Sans"/>
                <a:cs typeface="Open Sans"/>
                <a:sym typeface="Open Sans"/>
              </a:rPr>
              <a:t>El usuario no tiene credenciales de autenticación válidas para obtener el recurso solicitado.</a:t>
            </a:r>
            <a:endParaRPr b="0" i="0" sz="2600" u="none" cap="none" strike="noStrike">
              <a:solidFill>
                <a:srgbClr val="000000"/>
              </a:solidFill>
              <a:latin typeface="Open Sans"/>
              <a:ea typeface="Open Sans"/>
              <a:cs typeface="Open Sans"/>
              <a:sym typeface="Open Sans"/>
            </a:endParaRPr>
          </a:p>
        </p:txBody>
      </p:sp>
      <p:sp>
        <p:nvSpPr>
          <p:cNvPr id="331" name="Google Shape;331;p30"/>
          <p:cNvSpPr/>
          <p:nvPr/>
        </p:nvSpPr>
        <p:spPr>
          <a:xfrm>
            <a:off x="7330000" y="26103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401</a:t>
            </a:r>
            <a:endParaRPr b="0" i="0" sz="1400" u="none" cap="none" strike="noStrike">
              <a:solidFill>
                <a:schemeClr val="accent3"/>
              </a:solidFill>
              <a:latin typeface="Roboto"/>
              <a:ea typeface="Roboto"/>
              <a:cs typeface="Roboto"/>
              <a:sym typeface="Roboto"/>
            </a:endParaRPr>
          </a:p>
        </p:txBody>
      </p:sp>
      <p:sp>
        <p:nvSpPr>
          <p:cNvPr id="332" name="Google Shape;332;p30"/>
          <p:cNvSpPr txBox="1"/>
          <p:nvPr/>
        </p:nvSpPr>
        <p:spPr>
          <a:xfrm>
            <a:off x="9104100" y="3805044"/>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Payment Required: </a:t>
            </a:r>
            <a:r>
              <a:rPr b="0" i="0" lang="en-US" sz="2600" u="none" cap="none" strike="noStrike">
                <a:solidFill>
                  <a:srgbClr val="000000"/>
                </a:solidFill>
                <a:latin typeface="Open Sans"/>
                <a:ea typeface="Open Sans"/>
                <a:cs typeface="Open Sans"/>
                <a:sym typeface="Open Sans"/>
              </a:rPr>
              <a:t>Está reservado para futuros usos. El objetivo inicial de crear este código fue para ser utilizado en sistemas digitales de pagos. Sin embargo, no está siendo usado actualmente.</a:t>
            </a:r>
            <a:endParaRPr b="0" i="0" sz="2600" u="none" cap="none" strike="noStrike">
              <a:solidFill>
                <a:srgbClr val="000000"/>
              </a:solidFill>
              <a:latin typeface="Open Sans"/>
              <a:ea typeface="Open Sans"/>
              <a:cs typeface="Open Sans"/>
              <a:sym typeface="Open Sans"/>
            </a:endParaRPr>
          </a:p>
        </p:txBody>
      </p:sp>
      <p:sp>
        <p:nvSpPr>
          <p:cNvPr id="333" name="Google Shape;333;p30"/>
          <p:cNvSpPr/>
          <p:nvPr/>
        </p:nvSpPr>
        <p:spPr>
          <a:xfrm>
            <a:off x="7330000" y="44577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402</a:t>
            </a:r>
            <a:endParaRPr b="0" i="0" sz="1400" u="none" cap="none" strike="noStrike">
              <a:solidFill>
                <a:schemeClr val="accent3"/>
              </a:solidFill>
              <a:latin typeface="Roboto"/>
              <a:ea typeface="Roboto"/>
              <a:cs typeface="Roboto"/>
              <a:sym typeface="Roboto"/>
            </a:endParaRPr>
          </a:p>
        </p:txBody>
      </p:sp>
      <p:sp>
        <p:nvSpPr>
          <p:cNvPr id="334" name="Google Shape;334;p30"/>
          <p:cNvSpPr txBox="1"/>
          <p:nvPr/>
        </p:nvSpPr>
        <p:spPr>
          <a:xfrm>
            <a:off x="9104100" y="5869956"/>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Forbidden: </a:t>
            </a:r>
            <a:r>
              <a:rPr b="0" i="0" lang="en-US" sz="2600" u="none" cap="none" strike="noStrike">
                <a:solidFill>
                  <a:srgbClr val="000000"/>
                </a:solidFill>
                <a:latin typeface="Open Sans"/>
                <a:ea typeface="Open Sans"/>
                <a:cs typeface="Open Sans"/>
                <a:sym typeface="Open Sans"/>
              </a:rPr>
              <a:t>El cliente no tiene derechos de acceso al contenido. Por ejemplo, puede requerir una contraseña. A diferencia del código de error HTTP 401, el servidor sí conoce la identidad del cliente.</a:t>
            </a:r>
            <a:endParaRPr b="0" i="0" sz="2600" u="none" cap="none" strike="noStrike">
              <a:solidFill>
                <a:srgbClr val="000000"/>
              </a:solidFill>
              <a:latin typeface="Open Sans"/>
              <a:ea typeface="Open Sans"/>
              <a:cs typeface="Open Sans"/>
              <a:sym typeface="Open Sans"/>
            </a:endParaRPr>
          </a:p>
        </p:txBody>
      </p:sp>
      <p:sp>
        <p:nvSpPr>
          <p:cNvPr id="335" name="Google Shape;335;p30"/>
          <p:cNvSpPr/>
          <p:nvPr/>
        </p:nvSpPr>
        <p:spPr>
          <a:xfrm>
            <a:off x="7330000" y="64701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403</a:t>
            </a:r>
            <a:endParaRPr b="0" i="0" sz="1400" u="none" cap="none" strike="noStrike">
              <a:solidFill>
                <a:schemeClr val="accent3"/>
              </a:solidFill>
              <a:latin typeface="Roboto"/>
              <a:ea typeface="Roboto"/>
              <a:cs typeface="Roboto"/>
              <a:sym typeface="Roboto"/>
            </a:endParaRPr>
          </a:p>
        </p:txBody>
      </p:sp>
      <p:sp>
        <p:nvSpPr>
          <p:cNvPr id="336" name="Google Shape;336;p30"/>
          <p:cNvSpPr txBox="1"/>
          <p:nvPr/>
        </p:nvSpPr>
        <p:spPr>
          <a:xfrm>
            <a:off x="9104100" y="7934856"/>
            <a:ext cx="8428200" cy="1806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Found: </a:t>
            </a:r>
            <a:r>
              <a:rPr b="0" i="0" lang="en-US" sz="2600" u="none" cap="none" strike="noStrike">
                <a:solidFill>
                  <a:srgbClr val="000000"/>
                </a:solidFill>
                <a:latin typeface="Open Sans"/>
                <a:ea typeface="Open Sans"/>
                <a:cs typeface="Open Sans"/>
                <a:sym typeface="Open Sans"/>
              </a:rPr>
              <a:t>El servidor no pudo encontrar el contenido solicitado. Este código de respuesta es uno de los más famosos dada su alta ocurrencia en la web.</a:t>
            </a:r>
            <a:endParaRPr b="1" i="0" sz="2600" u="none" cap="none" strike="noStrike">
              <a:solidFill>
                <a:srgbClr val="000000"/>
              </a:solidFill>
              <a:latin typeface="Open Sans"/>
              <a:ea typeface="Open Sans"/>
              <a:cs typeface="Open Sans"/>
              <a:sym typeface="Open Sans"/>
            </a:endParaRPr>
          </a:p>
        </p:txBody>
      </p:sp>
      <p:sp>
        <p:nvSpPr>
          <p:cNvPr id="337" name="Google Shape;337;p30"/>
          <p:cNvSpPr/>
          <p:nvPr/>
        </p:nvSpPr>
        <p:spPr>
          <a:xfrm>
            <a:off x="7330000" y="84585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404</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1"/>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43" name="Google Shape;343;p31"/>
          <p:cNvSpPr txBox="1"/>
          <p:nvPr/>
        </p:nvSpPr>
        <p:spPr>
          <a:xfrm>
            <a:off x="9104100" y="1054136"/>
            <a:ext cx="8428200" cy="1038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Method Not Allowed: </a:t>
            </a:r>
            <a:r>
              <a:rPr b="0" i="0" lang="en-US" sz="2600" u="none" cap="none" strike="noStrike">
                <a:solidFill>
                  <a:srgbClr val="000000"/>
                </a:solidFill>
                <a:latin typeface="Open Sans"/>
                <a:ea typeface="Open Sans"/>
                <a:cs typeface="Open Sans"/>
                <a:sym typeface="Open Sans"/>
              </a:rPr>
              <a:t>El servidor admite el método de solicitud, pero el recurso de destino no.</a:t>
            </a:r>
            <a:endParaRPr b="1" i="0" sz="2600" u="none" cap="none" strike="noStrike">
              <a:solidFill>
                <a:srgbClr val="000000"/>
              </a:solidFill>
              <a:latin typeface="Open Sans"/>
              <a:ea typeface="Open Sans"/>
              <a:cs typeface="Open Sans"/>
              <a:sym typeface="Open Sans"/>
            </a:endParaRPr>
          </a:p>
        </p:txBody>
      </p:sp>
      <p:sp>
        <p:nvSpPr>
          <p:cNvPr id="344" name="Google Shape;344;p31"/>
          <p:cNvSpPr/>
          <p:nvPr/>
        </p:nvSpPr>
        <p:spPr>
          <a:xfrm>
            <a:off x="7330000" y="148927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405</a:t>
            </a:r>
            <a:endParaRPr b="0" i="0" sz="1400" u="none" cap="none" strike="noStrike">
              <a:solidFill>
                <a:schemeClr val="accent3"/>
              </a:solidFill>
              <a:latin typeface="Roboto"/>
              <a:ea typeface="Roboto"/>
              <a:cs typeface="Roboto"/>
              <a:sym typeface="Roboto"/>
            </a:endParaRPr>
          </a:p>
        </p:txBody>
      </p:sp>
      <p:sp>
        <p:nvSpPr>
          <p:cNvPr id="345" name="Google Shape;345;p31"/>
          <p:cNvSpPr txBox="1"/>
          <p:nvPr/>
        </p:nvSpPr>
        <p:spPr>
          <a:xfrm>
            <a:off x="9104100" y="2248870"/>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Acceptable: </a:t>
            </a:r>
            <a:r>
              <a:rPr b="0" i="0" lang="en-US" sz="2600" u="none" cap="none" strike="noStrike">
                <a:solidFill>
                  <a:srgbClr val="000000"/>
                </a:solidFill>
                <a:latin typeface="Open Sans"/>
                <a:ea typeface="Open Sans"/>
                <a:cs typeface="Open Sans"/>
                <a:sym typeface="Open Sans"/>
              </a:rPr>
              <a:t>El servidor no encuentra ningún contenido que satisfaga los criterios dados por el usuario según las cabeceras Accept solicitadas.</a:t>
            </a:r>
            <a:endParaRPr b="0" i="0" sz="2600" u="none" cap="none" strike="noStrike">
              <a:solidFill>
                <a:srgbClr val="000000"/>
              </a:solidFill>
              <a:latin typeface="Open Sans"/>
              <a:ea typeface="Open Sans"/>
              <a:cs typeface="Open Sans"/>
              <a:sym typeface="Open Sans"/>
            </a:endParaRPr>
          </a:p>
        </p:txBody>
      </p:sp>
      <p:sp>
        <p:nvSpPr>
          <p:cNvPr id="346" name="Google Shape;346;p31"/>
          <p:cNvSpPr/>
          <p:nvPr/>
        </p:nvSpPr>
        <p:spPr>
          <a:xfrm>
            <a:off x="7330000" y="26840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406</a:t>
            </a:r>
            <a:endParaRPr b="0" i="0" sz="1400" u="none" cap="none" strike="noStrike">
              <a:solidFill>
                <a:schemeClr val="accent3"/>
              </a:solidFill>
              <a:latin typeface="Roboto"/>
              <a:ea typeface="Roboto"/>
              <a:cs typeface="Roboto"/>
              <a:sym typeface="Roboto"/>
            </a:endParaRPr>
          </a:p>
        </p:txBody>
      </p:sp>
      <p:sp>
        <p:nvSpPr>
          <p:cNvPr id="347" name="Google Shape;347;p31"/>
          <p:cNvSpPr txBox="1"/>
          <p:nvPr/>
        </p:nvSpPr>
        <p:spPr>
          <a:xfrm>
            <a:off x="9104100" y="3878762"/>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Proxy Authentication Required: </a:t>
            </a:r>
            <a:r>
              <a:rPr b="0" i="0" lang="en-US" sz="2600" u="none" cap="none" strike="noStrike">
                <a:solidFill>
                  <a:srgbClr val="000000"/>
                </a:solidFill>
                <a:latin typeface="Open Sans"/>
                <a:ea typeface="Open Sans"/>
                <a:cs typeface="Open Sans"/>
                <a:sym typeface="Open Sans"/>
              </a:rPr>
              <a:t>Es similar a un 401, pero el proxy debe autenticar al cliente para continuar.</a:t>
            </a:r>
            <a:endParaRPr b="1" i="0" sz="2600" u="none" cap="none" strike="noStrike">
              <a:solidFill>
                <a:srgbClr val="000000"/>
              </a:solidFill>
              <a:latin typeface="Open Sans"/>
              <a:ea typeface="Open Sans"/>
              <a:cs typeface="Open Sans"/>
              <a:sym typeface="Open Sans"/>
            </a:endParaRPr>
          </a:p>
        </p:txBody>
      </p:sp>
      <p:sp>
        <p:nvSpPr>
          <p:cNvPr id="348" name="Google Shape;348;p31"/>
          <p:cNvSpPr/>
          <p:nvPr/>
        </p:nvSpPr>
        <p:spPr>
          <a:xfrm>
            <a:off x="7330000" y="43139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407</a:t>
            </a:r>
            <a:endParaRPr b="0" i="0" sz="1400" u="none" cap="none" strike="noStrike">
              <a:solidFill>
                <a:schemeClr val="accent3"/>
              </a:solidFill>
              <a:latin typeface="Roboto"/>
              <a:ea typeface="Roboto"/>
              <a:cs typeface="Roboto"/>
              <a:sym typeface="Roboto"/>
            </a:endParaRPr>
          </a:p>
        </p:txBody>
      </p:sp>
      <p:sp>
        <p:nvSpPr>
          <p:cNvPr id="349" name="Google Shape;349;p31"/>
          <p:cNvSpPr txBox="1"/>
          <p:nvPr/>
        </p:nvSpPr>
        <p:spPr>
          <a:xfrm>
            <a:off x="9104100" y="5508665"/>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Request Time Out: </a:t>
            </a:r>
            <a:r>
              <a:rPr b="0" i="0" lang="en-US" sz="2600" u="none" cap="none" strike="noStrike">
                <a:solidFill>
                  <a:srgbClr val="000000"/>
                </a:solidFill>
                <a:latin typeface="Open Sans"/>
                <a:ea typeface="Open Sans"/>
                <a:cs typeface="Open Sans"/>
                <a:sym typeface="Open Sans"/>
              </a:rPr>
              <a:t>El servidor agotó el tiempo de espera porque el cliente no produjo una petición en el tiempo asignado.</a:t>
            </a:r>
            <a:endParaRPr b="0" i="0" sz="2600" u="none" cap="none" strike="noStrike">
              <a:solidFill>
                <a:srgbClr val="000000"/>
              </a:solidFill>
              <a:latin typeface="Open Sans"/>
              <a:ea typeface="Open Sans"/>
              <a:cs typeface="Open Sans"/>
              <a:sym typeface="Open Sans"/>
            </a:endParaRPr>
          </a:p>
        </p:txBody>
      </p:sp>
      <p:sp>
        <p:nvSpPr>
          <p:cNvPr id="350" name="Google Shape;350;p31"/>
          <p:cNvSpPr/>
          <p:nvPr/>
        </p:nvSpPr>
        <p:spPr>
          <a:xfrm>
            <a:off x="7330000" y="59438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408</a:t>
            </a:r>
            <a:endParaRPr b="0" i="0" sz="1400" u="none" cap="none" strike="noStrike">
              <a:solidFill>
                <a:schemeClr val="accent3"/>
              </a:solidFill>
              <a:latin typeface="Roboto"/>
              <a:ea typeface="Roboto"/>
              <a:cs typeface="Roboto"/>
              <a:sym typeface="Roboto"/>
            </a:endParaRPr>
          </a:p>
        </p:txBody>
      </p:sp>
      <p:sp>
        <p:nvSpPr>
          <p:cNvPr id="351" name="Google Shape;351;p31"/>
          <p:cNvSpPr txBox="1"/>
          <p:nvPr/>
        </p:nvSpPr>
        <p:spPr>
          <a:xfrm>
            <a:off x="9104100" y="7138564"/>
            <a:ext cx="8428200" cy="2094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Conflict: </a:t>
            </a:r>
            <a:r>
              <a:rPr b="0" i="0" lang="en-US" sz="2600" u="none" cap="none" strike="noStrike">
                <a:solidFill>
                  <a:srgbClr val="000000"/>
                </a:solidFill>
                <a:latin typeface="Open Sans"/>
                <a:ea typeface="Open Sans"/>
                <a:cs typeface="Open Sans"/>
                <a:sym typeface="Open Sans"/>
              </a:rPr>
              <a:t>El servidor no puede satisfacer la solicitud porque hay un conflicto con el recurso. Mostrará información sobre el problema para que el cliente pueda solucionarlo y volver a enviar la solicitud.</a:t>
            </a:r>
            <a:endParaRPr b="1" i="0" sz="2600" u="none" cap="none" strike="noStrike">
              <a:solidFill>
                <a:srgbClr val="000000"/>
              </a:solidFill>
              <a:latin typeface="Open Sans"/>
              <a:ea typeface="Open Sans"/>
              <a:cs typeface="Open Sans"/>
              <a:sym typeface="Open Sans"/>
            </a:endParaRPr>
          </a:p>
        </p:txBody>
      </p:sp>
      <p:sp>
        <p:nvSpPr>
          <p:cNvPr id="352" name="Google Shape;352;p31"/>
          <p:cNvSpPr/>
          <p:nvPr/>
        </p:nvSpPr>
        <p:spPr>
          <a:xfrm>
            <a:off x="7330000" y="78059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409</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2"/>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58" name="Google Shape;358;p32"/>
          <p:cNvSpPr txBox="1"/>
          <p:nvPr/>
        </p:nvSpPr>
        <p:spPr>
          <a:xfrm>
            <a:off x="9104100" y="450601"/>
            <a:ext cx="8428200" cy="14385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Gone: </a:t>
            </a:r>
            <a:r>
              <a:rPr b="0" i="0" lang="en-US" sz="2600" u="none" cap="none" strike="noStrike">
                <a:solidFill>
                  <a:srgbClr val="000000"/>
                </a:solidFill>
                <a:latin typeface="Open Sans"/>
                <a:ea typeface="Open Sans"/>
                <a:cs typeface="Open Sans"/>
                <a:sym typeface="Open Sans"/>
              </a:rPr>
              <a:t>Esta respuesta puede ser enviada cuando el contenido solicitado ha sido borrado del servidor.</a:t>
            </a:r>
            <a:endParaRPr b="0" i="0" sz="2600" u="none" cap="none" strike="noStrike">
              <a:solidFill>
                <a:srgbClr val="000000"/>
              </a:solidFill>
              <a:latin typeface="Open Sans"/>
              <a:ea typeface="Open Sans"/>
              <a:cs typeface="Open Sans"/>
              <a:sym typeface="Open Sans"/>
            </a:endParaRPr>
          </a:p>
        </p:txBody>
      </p:sp>
      <p:sp>
        <p:nvSpPr>
          <p:cNvPr id="359" name="Google Shape;359;p32"/>
          <p:cNvSpPr/>
          <p:nvPr/>
        </p:nvSpPr>
        <p:spPr>
          <a:xfrm>
            <a:off x="7330000" y="85207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410</a:t>
            </a:r>
            <a:endParaRPr b="0" i="0" sz="1400" u="none" cap="none" strike="noStrike">
              <a:solidFill>
                <a:schemeClr val="accent3"/>
              </a:solidFill>
              <a:latin typeface="Roboto"/>
              <a:ea typeface="Roboto"/>
              <a:cs typeface="Roboto"/>
              <a:sym typeface="Roboto"/>
            </a:endParaRPr>
          </a:p>
        </p:txBody>
      </p:sp>
      <p:sp>
        <p:nvSpPr>
          <p:cNvPr id="360" name="Google Shape;360;p32"/>
          <p:cNvSpPr txBox="1"/>
          <p:nvPr/>
        </p:nvSpPr>
        <p:spPr>
          <a:xfrm>
            <a:off x="9104100" y="1889096"/>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Length Required: </a:t>
            </a:r>
            <a:r>
              <a:rPr b="0" i="0" lang="en-US" sz="2600" u="none" cap="none" strike="noStrike">
                <a:solidFill>
                  <a:srgbClr val="000000"/>
                </a:solidFill>
                <a:latin typeface="Open Sans"/>
                <a:ea typeface="Open Sans"/>
                <a:cs typeface="Open Sans"/>
                <a:sym typeface="Open Sans"/>
              </a:rPr>
              <a:t>El servidor rechaza la petición porque el campo de encabezado Content-Length no está definido y el servidor lo requiere.</a:t>
            </a:r>
            <a:endParaRPr b="0" i="0" sz="2600" u="none" cap="none" strike="noStrike">
              <a:solidFill>
                <a:srgbClr val="000000"/>
              </a:solidFill>
              <a:latin typeface="Open Sans"/>
              <a:ea typeface="Open Sans"/>
              <a:cs typeface="Open Sans"/>
              <a:sym typeface="Open Sans"/>
            </a:endParaRPr>
          </a:p>
        </p:txBody>
      </p:sp>
      <p:sp>
        <p:nvSpPr>
          <p:cNvPr id="361" name="Google Shape;361;p32"/>
          <p:cNvSpPr/>
          <p:nvPr/>
        </p:nvSpPr>
        <p:spPr>
          <a:xfrm>
            <a:off x="7330000" y="259807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411</a:t>
            </a:r>
            <a:endParaRPr b="0" i="0" sz="1400" u="none" cap="none" strike="noStrike">
              <a:solidFill>
                <a:schemeClr val="accent3"/>
              </a:solidFill>
              <a:latin typeface="Roboto"/>
              <a:ea typeface="Roboto"/>
              <a:cs typeface="Roboto"/>
              <a:sym typeface="Roboto"/>
            </a:endParaRPr>
          </a:p>
        </p:txBody>
      </p:sp>
      <p:sp>
        <p:nvSpPr>
          <p:cNvPr id="362" name="Google Shape;362;p32"/>
          <p:cNvSpPr txBox="1"/>
          <p:nvPr/>
        </p:nvSpPr>
        <p:spPr>
          <a:xfrm>
            <a:off x="9104100" y="3519002"/>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Precondition Failed: </a:t>
            </a:r>
            <a:r>
              <a:rPr b="0" i="0" lang="en-US" sz="2600" u="none" cap="none" strike="noStrike">
                <a:solidFill>
                  <a:srgbClr val="000000"/>
                </a:solidFill>
                <a:latin typeface="Open Sans"/>
                <a:ea typeface="Open Sans"/>
                <a:cs typeface="Open Sans"/>
                <a:sym typeface="Open Sans"/>
              </a:rPr>
              <a:t>El cliente ha indicado pre-condiciones en sus encabezados la cual el servidor no cumple.</a:t>
            </a:r>
            <a:endParaRPr b="1" i="0" sz="2600" u="none" cap="none" strike="noStrike">
              <a:solidFill>
                <a:srgbClr val="000000"/>
              </a:solidFill>
              <a:latin typeface="Open Sans"/>
              <a:ea typeface="Open Sans"/>
              <a:cs typeface="Open Sans"/>
              <a:sym typeface="Open Sans"/>
            </a:endParaRPr>
          </a:p>
        </p:txBody>
      </p:sp>
      <p:sp>
        <p:nvSpPr>
          <p:cNvPr id="363" name="Google Shape;363;p32"/>
          <p:cNvSpPr/>
          <p:nvPr/>
        </p:nvSpPr>
        <p:spPr>
          <a:xfrm>
            <a:off x="7330000" y="39036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412</a:t>
            </a:r>
            <a:endParaRPr b="0" i="0" sz="1400" u="none" cap="none" strike="noStrike">
              <a:solidFill>
                <a:schemeClr val="accent3"/>
              </a:solidFill>
              <a:latin typeface="Roboto"/>
              <a:ea typeface="Roboto"/>
              <a:cs typeface="Roboto"/>
              <a:sym typeface="Roboto"/>
            </a:endParaRPr>
          </a:p>
        </p:txBody>
      </p:sp>
      <p:sp>
        <p:nvSpPr>
          <p:cNvPr id="364" name="Google Shape;364;p32"/>
          <p:cNvSpPr txBox="1"/>
          <p:nvPr/>
        </p:nvSpPr>
        <p:spPr>
          <a:xfrm>
            <a:off x="9104100" y="5047800"/>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Payload Too Large: </a:t>
            </a:r>
            <a:r>
              <a:rPr b="0" i="0" lang="en-US" sz="2600" u="none" cap="none" strike="noStrike">
                <a:solidFill>
                  <a:srgbClr val="000000"/>
                </a:solidFill>
                <a:latin typeface="Open Sans"/>
                <a:ea typeface="Open Sans"/>
                <a:cs typeface="Open Sans"/>
                <a:sym typeface="Open Sans"/>
              </a:rPr>
              <a:t>La petición del cliente es mayor que los límites definidos por el servidor y este se niega a procesarla.</a:t>
            </a:r>
            <a:endParaRPr b="0" i="0" sz="2600" u="none" cap="none" strike="noStrike">
              <a:solidFill>
                <a:srgbClr val="000000"/>
              </a:solidFill>
              <a:latin typeface="Open Sans"/>
              <a:ea typeface="Open Sans"/>
              <a:cs typeface="Open Sans"/>
              <a:sym typeface="Open Sans"/>
            </a:endParaRPr>
          </a:p>
        </p:txBody>
      </p:sp>
      <p:sp>
        <p:nvSpPr>
          <p:cNvPr id="365" name="Google Shape;365;p32"/>
          <p:cNvSpPr/>
          <p:nvPr/>
        </p:nvSpPr>
        <p:spPr>
          <a:xfrm>
            <a:off x="7330000" y="54324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413</a:t>
            </a:r>
            <a:endParaRPr b="0" i="0" sz="1400" u="none" cap="none" strike="noStrike">
              <a:solidFill>
                <a:schemeClr val="accent3"/>
              </a:solidFill>
              <a:latin typeface="Roboto"/>
              <a:ea typeface="Roboto"/>
              <a:cs typeface="Roboto"/>
              <a:sym typeface="Roboto"/>
            </a:endParaRPr>
          </a:p>
        </p:txBody>
      </p:sp>
      <p:sp>
        <p:nvSpPr>
          <p:cNvPr id="366" name="Google Shape;366;p32"/>
          <p:cNvSpPr txBox="1"/>
          <p:nvPr/>
        </p:nvSpPr>
        <p:spPr>
          <a:xfrm>
            <a:off x="9104100" y="6576599"/>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URI Too Long: </a:t>
            </a:r>
            <a:r>
              <a:rPr b="0" i="0" lang="en-US" sz="2600" u="none" cap="none" strike="noStrike">
                <a:solidFill>
                  <a:srgbClr val="000000"/>
                </a:solidFill>
                <a:latin typeface="Open Sans"/>
                <a:ea typeface="Open Sans"/>
                <a:cs typeface="Open Sans"/>
                <a:sym typeface="Open Sans"/>
              </a:rPr>
              <a:t>La URI solicitada por el cliente es más larga de lo que el servidor está dispuesto a interpretar.</a:t>
            </a:r>
            <a:endParaRPr b="0" i="0" sz="2600" u="none" cap="none" strike="noStrike">
              <a:solidFill>
                <a:srgbClr val="000000"/>
              </a:solidFill>
              <a:latin typeface="Open Sans"/>
              <a:ea typeface="Open Sans"/>
              <a:cs typeface="Open Sans"/>
              <a:sym typeface="Open Sans"/>
            </a:endParaRPr>
          </a:p>
        </p:txBody>
      </p:sp>
      <p:sp>
        <p:nvSpPr>
          <p:cNvPr id="367" name="Google Shape;367;p32"/>
          <p:cNvSpPr/>
          <p:nvPr/>
        </p:nvSpPr>
        <p:spPr>
          <a:xfrm>
            <a:off x="7330000" y="701175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414</a:t>
            </a:r>
            <a:endParaRPr b="0" i="0" sz="1400" u="none" cap="none" strike="noStrike">
              <a:solidFill>
                <a:schemeClr val="accent3"/>
              </a:solidFill>
              <a:latin typeface="Roboto"/>
              <a:ea typeface="Roboto"/>
              <a:cs typeface="Roboto"/>
              <a:sym typeface="Roboto"/>
            </a:endParaRPr>
          </a:p>
        </p:txBody>
      </p:sp>
      <p:sp>
        <p:nvSpPr>
          <p:cNvPr id="368" name="Google Shape;368;p32"/>
          <p:cNvSpPr txBox="1"/>
          <p:nvPr/>
        </p:nvSpPr>
        <p:spPr>
          <a:xfrm>
            <a:off x="9104100" y="8206499"/>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Unsupported Media Type: </a:t>
            </a:r>
            <a:r>
              <a:rPr b="0" i="0" lang="en-US" sz="2600" u="none" cap="none" strike="noStrike">
                <a:solidFill>
                  <a:srgbClr val="000000"/>
                </a:solidFill>
                <a:latin typeface="Open Sans"/>
                <a:ea typeface="Open Sans"/>
                <a:cs typeface="Open Sans"/>
                <a:sym typeface="Open Sans"/>
              </a:rPr>
              <a:t>El formato multimedia de los datos solicitados no está soportado por el servidor, por lo cual el servidor rechaza la solicitud. </a:t>
            </a:r>
            <a:endParaRPr b="0" i="0" sz="2600" u="none" cap="none" strike="noStrike">
              <a:solidFill>
                <a:srgbClr val="000000"/>
              </a:solidFill>
              <a:latin typeface="Open Sans"/>
              <a:ea typeface="Open Sans"/>
              <a:cs typeface="Open Sans"/>
              <a:sym typeface="Open Sans"/>
            </a:endParaRPr>
          </a:p>
        </p:txBody>
      </p:sp>
      <p:sp>
        <p:nvSpPr>
          <p:cNvPr id="369" name="Google Shape;369;p32"/>
          <p:cNvSpPr/>
          <p:nvPr/>
        </p:nvSpPr>
        <p:spPr>
          <a:xfrm>
            <a:off x="7330000" y="85911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415</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3"/>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75" name="Google Shape;375;p33"/>
          <p:cNvSpPr txBox="1"/>
          <p:nvPr/>
        </p:nvSpPr>
        <p:spPr>
          <a:xfrm>
            <a:off x="9082975" y="1041600"/>
            <a:ext cx="8428200" cy="1906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Requested Range Not Satisfiable: </a:t>
            </a:r>
            <a:r>
              <a:rPr b="0" i="0" lang="en-US" sz="2600" u="none" cap="none" strike="noStrike">
                <a:solidFill>
                  <a:srgbClr val="000000"/>
                </a:solidFill>
                <a:latin typeface="Open Sans"/>
                <a:ea typeface="Open Sans"/>
                <a:cs typeface="Open Sans"/>
                <a:sym typeface="Open Sans"/>
              </a:rPr>
              <a:t>Significa que la solicitud no puede ser satisfecha. Más concretamente, indica que la solicitud era para una parte de un recurso que el servidor no podía devolver.</a:t>
            </a:r>
            <a:endParaRPr b="0" i="0" sz="2600" u="none" cap="none" strike="noStrike">
              <a:solidFill>
                <a:srgbClr val="000000"/>
              </a:solidFill>
              <a:latin typeface="Open Sans"/>
              <a:ea typeface="Open Sans"/>
              <a:cs typeface="Open Sans"/>
              <a:sym typeface="Open Sans"/>
            </a:endParaRPr>
          </a:p>
        </p:txBody>
      </p:sp>
      <p:sp>
        <p:nvSpPr>
          <p:cNvPr id="376" name="Google Shape;376;p33"/>
          <p:cNvSpPr/>
          <p:nvPr/>
        </p:nvSpPr>
        <p:spPr>
          <a:xfrm>
            <a:off x="7308875" y="16152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416</a:t>
            </a:r>
            <a:endParaRPr b="0" i="0" sz="1400" u="none" cap="none" strike="noStrike">
              <a:solidFill>
                <a:schemeClr val="accent3"/>
              </a:solidFill>
              <a:latin typeface="Roboto"/>
              <a:ea typeface="Roboto"/>
              <a:cs typeface="Roboto"/>
              <a:sym typeface="Roboto"/>
            </a:endParaRPr>
          </a:p>
        </p:txBody>
      </p:sp>
      <p:sp>
        <p:nvSpPr>
          <p:cNvPr id="377" name="Google Shape;377;p33"/>
          <p:cNvSpPr txBox="1"/>
          <p:nvPr/>
        </p:nvSpPr>
        <p:spPr>
          <a:xfrm>
            <a:off x="9082975" y="2948400"/>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Expectation Failed: </a:t>
            </a:r>
            <a:r>
              <a:rPr b="0" i="0" lang="en-US" sz="2600" u="none" cap="none" strike="noStrike">
                <a:solidFill>
                  <a:srgbClr val="000000"/>
                </a:solidFill>
                <a:latin typeface="Open Sans"/>
                <a:ea typeface="Open Sans"/>
                <a:cs typeface="Open Sans"/>
                <a:sym typeface="Open Sans"/>
              </a:rPr>
              <a:t>Significa que la expectativa indicada por el campo de encabezado Expect solicitada no puede ser cumplida por el servidor.</a:t>
            </a:r>
            <a:endParaRPr b="0" i="0" sz="2600" u="none" cap="none" strike="noStrike">
              <a:solidFill>
                <a:srgbClr val="000000"/>
              </a:solidFill>
              <a:latin typeface="Open Sans"/>
              <a:ea typeface="Open Sans"/>
              <a:cs typeface="Open Sans"/>
              <a:sym typeface="Open Sans"/>
            </a:endParaRPr>
          </a:p>
        </p:txBody>
      </p:sp>
      <p:sp>
        <p:nvSpPr>
          <p:cNvPr id="378" name="Google Shape;378;p33"/>
          <p:cNvSpPr/>
          <p:nvPr/>
        </p:nvSpPr>
        <p:spPr>
          <a:xfrm>
            <a:off x="7308875" y="32385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417</a:t>
            </a:r>
            <a:endParaRPr b="0" i="0" sz="1400" u="none" cap="none" strike="noStrike">
              <a:solidFill>
                <a:schemeClr val="accent3"/>
              </a:solidFill>
              <a:latin typeface="Roboto"/>
              <a:ea typeface="Roboto"/>
              <a:cs typeface="Roboto"/>
              <a:sym typeface="Roboto"/>
            </a:endParaRPr>
          </a:p>
        </p:txBody>
      </p:sp>
      <p:sp>
        <p:nvSpPr>
          <p:cNvPr id="379" name="Google Shape;379;p33"/>
          <p:cNvSpPr txBox="1"/>
          <p:nvPr/>
        </p:nvSpPr>
        <p:spPr>
          <a:xfrm>
            <a:off x="9082975" y="4477200"/>
            <a:ext cx="8428200" cy="1022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Misdirected Request: </a:t>
            </a:r>
            <a:r>
              <a:rPr b="0" i="0" lang="en-US" sz="2600" u="none" cap="none" strike="noStrike">
                <a:solidFill>
                  <a:srgbClr val="000000"/>
                </a:solidFill>
                <a:latin typeface="Open Sans"/>
                <a:ea typeface="Open Sans"/>
                <a:cs typeface="Open Sans"/>
                <a:sym typeface="Open Sans"/>
              </a:rPr>
              <a:t>El cliente envía una petición a un servidor que no es capaz de responder.</a:t>
            </a:r>
            <a:endParaRPr b="0" i="0" sz="2600" u="none" cap="none" strike="noStrike">
              <a:solidFill>
                <a:srgbClr val="000000"/>
              </a:solidFill>
              <a:latin typeface="Open Sans"/>
              <a:ea typeface="Open Sans"/>
              <a:cs typeface="Open Sans"/>
              <a:sym typeface="Open Sans"/>
            </a:endParaRPr>
          </a:p>
        </p:txBody>
      </p:sp>
      <p:sp>
        <p:nvSpPr>
          <p:cNvPr id="380" name="Google Shape;380;p33"/>
          <p:cNvSpPr/>
          <p:nvPr/>
        </p:nvSpPr>
        <p:spPr>
          <a:xfrm>
            <a:off x="7308875" y="46086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421</a:t>
            </a:r>
            <a:endParaRPr b="0" i="0" sz="1400" u="none" cap="none" strike="noStrike">
              <a:solidFill>
                <a:schemeClr val="accent3"/>
              </a:solidFill>
              <a:latin typeface="Roboto"/>
              <a:ea typeface="Roboto"/>
              <a:cs typeface="Roboto"/>
              <a:sym typeface="Roboto"/>
            </a:endParaRPr>
          </a:p>
        </p:txBody>
      </p:sp>
      <p:sp>
        <p:nvSpPr>
          <p:cNvPr id="381" name="Google Shape;381;p33"/>
          <p:cNvSpPr txBox="1"/>
          <p:nvPr/>
        </p:nvSpPr>
        <p:spPr>
          <a:xfrm>
            <a:off x="9082975" y="5499600"/>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Unprocessable Entity: </a:t>
            </a:r>
            <a:r>
              <a:rPr b="0" i="0" lang="en-US" sz="2600" u="none" cap="none" strike="noStrike">
                <a:solidFill>
                  <a:srgbClr val="000000"/>
                </a:solidFill>
                <a:latin typeface="Open Sans"/>
                <a:ea typeface="Open Sans"/>
                <a:cs typeface="Open Sans"/>
                <a:sym typeface="Open Sans"/>
              </a:rPr>
              <a:t>La petición estaba bien formada pero no se pudo seguir debido a errores de semántica.</a:t>
            </a:r>
            <a:endParaRPr b="0" i="0" sz="2600" u="none" cap="none" strike="noStrike">
              <a:solidFill>
                <a:srgbClr val="000000"/>
              </a:solidFill>
              <a:latin typeface="Open Sans"/>
              <a:ea typeface="Open Sans"/>
              <a:cs typeface="Open Sans"/>
              <a:sym typeface="Open Sans"/>
            </a:endParaRPr>
          </a:p>
        </p:txBody>
      </p:sp>
      <p:sp>
        <p:nvSpPr>
          <p:cNvPr id="382" name="Google Shape;382;p33"/>
          <p:cNvSpPr/>
          <p:nvPr/>
        </p:nvSpPr>
        <p:spPr>
          <a:xfrm>
            <a:off x="7308875" y="58842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422</a:t>
            </a:r>
            <a:endParaRPr b="0" i="0" sz="1400" u="none" cap="none" strike="noStrike">
              <a:solidFill>
                <a:schemeClr val="accent3"/>
              </a:solidFill>
              <a:latin typeface="Roboto"/>
              <a:ea typeface="Roboto"/>
              <a:cs typeface="Roboto"/>
              <a:sym typeface="Roboto"/>
            </a:endParaRPr>
          </a:p>
        </p:txBody>
      </p:sp>
      <p:sp>
        <p:nvSpPr>
          <p:cNvPr id="383" name="Google Shape;383;p33"/>
          <p:cNvSpPr txBox="1"/>
          <p:nvPr/>
        </p:nvSpPr>
        <p:spPr>
          <a:xfrm>
            <a:off x="9082975" y="7028400"/>
            <a:ext cx="8428200" cy="1194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Locked: </a:t>
            </a:r>
            <a:r>
              <a:rPr b="0" i="0" lang="en-US" sz="2600" u="none" cap="none" strike="noStrike">
                <a:solidFill>
                  <a:srgbClr val="000000"/>
                </a:solidFill>
                <a:latin typeface="Open Sans"/>
                <a:ea typeface="Open Sans"/>
                <a:cs typeface="Open Sans"/>
                <a:sym typeface="Open Sans"/>
              </a:rPr>
              <a:t>El recurso del método solicitado está bloqueado y es inaccesible.</a:t>
            </a:r>
            <a:endParaRPr b="0" i="0" sz="2600" u="none" cap="none" strike="noStrike">
              <a:solidFill>
                <a:srgbClr val="000000"/>
              </a:solidFill>
              <a:latin typeface="Open Sans"/>
              <a:ea typeface="Open Sans"/>
              <a:cs typeface="Open Sans"/>
              <a:sym typeface="Open Sans"/>
            </a:endParaRPr>
          </a:p>
        </p:txBody>
      </p:sp>
      <p:sp>
        <p:nvSpPr>
          <p:cNvPr id="384" name="Google Shape;384;p33"/>
          <p:cNvSpPr/>
          <p:nvPr/>
        </p:nvSpPr>
        <p:spPr>
          <a:xfrm>
            <a:off x="7308875" y="72459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423</a:t>
            </a:r>
            <a:endParaRPr b="0" i="0" sz="1400" u="none" cap="none" strike="noStrike">
              <a:solidFill>
                <a:schemeClr val="accent3"/>
              </a:solidFill>
              <a:latin typeface="Roboto"/>
              <a:ea typeface="Roboto"/>
              <a:cs typeface="Roboto"/>
              <a:sym typeface="Roboto"/>
            </a:endParaRPr>
          </a:p>
        </p:txBody>
      </p:sp>
      <p:sp>
        <p:nvSpPr>
          <p:cNvPr id="385" name="Google Shape;385;p33"/>
          <p:cNvSpPr txBox="1"/>
          <p:nvPr/>
        </p:nvSpPr>
        <p:spPr>
          <a:xfrm>
            <a:off x="9082975" y="8223000"/>
            <a:ext cx="8428200" cy="1022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Failed Dependency: </a:t>
            </a:r>
            <a:r>
              <a:rPr b="0" i="0" lang="en-US" sz="2600" u="none" cap="none" strike="noStrike">
                <a:solidFill>
                  <a:srgbClr val="000000"/>
                </a:solidFill>
                <a:latin typeface="Open Sans"/>
                <a:ea typeface="Open Sans"/>
                <a:cs typeface="Open Sans"/>
                <a:sym typeface="Open Sans"/>
              </a:rPr>
              <a:t>La petición falló debido a una falla de una petición previa.</a:t>
            </a:r>
            <a:endParaRPr b="0" i="0" sz="2600" u="none" cap="none" strike="noStrike">
              <a:solidFill>
                <a:srgbClr val="000000"/>
              </a:solidFill>
              <a:latin typeface="Open Sans"/>
              <a:ea typeface="Open Sans"/>
              <a:cs typeface="Open Sans"/>
              <a:sym typeface="Open Sans"/>
            </a:endParaRPr>
          </a:p>
        </p:txBody>
      </p:sp>
      <p:sp>
        <p:nvSpPr>
          <p:cNvPr id="386" name="Google Shape;386;p33"/>
          <p:cNvSpPr/>
          <p:nvPr/>
        </p:nvSpPr>
        <p:spPr>
          <a:xfrm>
            <a:off x="7308875" y="83544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424</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4"/>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92" name="Google Shape;392;p34"/>
          <p:cNvSpPr txBox="1"/>
          <p:nvPr/>
        </p:nvSpPr>
        <p:spPr>
          <a:xfrm>
            <a:off x="9104100" y="3038465"/>
            <a:ext cx="8428200" cy="1038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Precondition Required: </a:t>
            </a:r>
            <a:r>
              <a:rPr b="0" i="0" lang="en-US" sz="2600" u="none" cap="none" strike="noStrike">
                <a:solidFill>
                  <a:srgbClr val="000000"/>
                </a:solidFill>
                <a:latin typeface="Open Sans"/>
                <a:ea typeface="Open Sans"/>
                <a:cs typeface="Open Sans"/>
                <a:sym typeface="Open Sans"/>
              </a:rPr>
              <a:t>El servidor necesita que la petición sea condicional.</a:t>
            </a:r>
            <a:endParaRPr b="0" i="0" sz="2600" u="none" cap="none" strike="noStrike">
              <a:solidFill>
                <a:srgbClr val="000000"/>
              </a:solidFill>
              <a:latin typeface="Open Sans"/>
              <a:ea typeface="Open Sans"/>
              <a:cs typeface="Open Sans"/>
              <a:sym typeface="Open Sans"/>
            </a:endParaRPr>
          </a:p>
        </p:txBody>
      </p:sp>
      <p:sp>
        <p:nvSpPr>
          <p:cNvPr id="393" name="Google Shape;393;p34"/>
          <p:cNvSpPr/>
          <p:nvPr/>
        </p:nvSpPr>
        <p:spPr>
          <a:xfrm>
            <a:off x="7330000" y="3178127"/>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428</a:t>
            </a:r>
            <a:endParaRPr b="0" i="0" sz="1400" u="none" cap="none" strike="noStrike">
              <a:solidFill>
                <a:schemeClr val="accent3"/>
              </a:solidFill>
              <a:latin typeface="Roboto"/>
              <a:ea typeface="Roboto"/>
              <a:cs typeface="Roboto"/>
              <a:sym typeface="Roboto"/>
            </a:endParaRPr>
          </a:p>
        </p:txBody>
      </p:sp>
      <p:sp>
        <p:nvSpPr>
          <p:cNvPr id="394" name="Google Shape;394;p34"/>
          <p:cNvSpPr txBox="1"/>
          <p:nvPr/>
        </p:nvSpPr>
        <p:spPr>
          <a:xfrm>
            <a:off x="9104100" y="4148903"/>
            <a:ext cx="8428200" cy="15030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Too Many Requests: </a:t>
            </a:r>
            <a:r>
              <a:rPr b="0" i="0" lang="en-US" sz="2600" u="none" cap="none" strike="noStrike">
                <a:solidFill>
                  <a:srgbClr val="000000"/>
                </a:solidFill>
                <a:latin typeface="Open Sans"/>
                <a:ea typeface="Open Sans"/>
                <a:cs typeface="Open Sans"/>
                <a:sym typeface="Open Sans"/>
              </a:rPr>
              <a:t>Demasiadas peticiones: el usuario envía demasiadas peticiones en un tiempo determinado.</a:t>
            </a:r>
            <a:endParaRPr b="0" i="0" sz="2600" u="none" cap="none" strike="noStrike">
              <a:solidFill>
                <a:srgbClr val="000000"/>
              </a:solidFill>
              <a:latin typeface="Open Sans"/>
              <a:ea typeface="Open Sans"/>
              <a:cs typeface="Open Sans"/>
              <a:sym typeface="Open Sans"/>
            </a:endParaRPr>
          </a:p>
        </p:txBody>
      </p:sp>
      <p:sp>
        <p:nvSpPr>
          <p:cNvPr id="395" name="Google Shape;395;p34"/>
          <p:cNvSpPr/>
          <p:nvPr/>
        </p:nvSpPr>
        <p:spPr>
          <a:xfrm>
            <a:off x="7330000" y="4520602"/>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429</a:t>
            </a:r>
            <a:endParaRPr b="0" i="0" sz="1400" u="none" cap="none" strike="noStrike">
              <a:solidFill>
                <a:schemeClr val="accent3"/>
              </a:solidFill>
              <a:latin typeface="Roboto"/>
              <a:ea typeface="Roboto"/>
              <a:cs typeface="Roboto"/>
              <a:sym typeface="Roboto"/>
            </a:endParaRPr>
          </a:p>
        </p:txBody>
      </p:sp>
      <p:sp>
        <p:nvSpPr>
          <p:cNvPr id="396" name="Google Shape;396;p34"/>
          <p:cNvSpPr txBox="1"/>
          <p:nvPr/>
        </p:nvSpPr>
        <p:spPr>
          <a:xfrm>
            <a:off x="9104100" y="5723429"/>
            <a:ext cx="8428200" cy="2094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Request Header Fields Too Large: </a:t>
            </a:r>
            <a:r>
              <a:rPr b="0" i="0" lang="en-US" sz="2600" u="none" cap="none" strike="noStrike">
                <a:solidFill>
                  <a:srgbClr val="000000"/>
                </a:solidFill>
                <a:latin typeface="Open Sans"/>
                <a:ea typeface="Open Sans"/>
                <a:cs typeface="Open Sans"/>
                <a:sym typeface="Open Sans"/>
              </a:rPr>
              <a:t>El servidor no puede procesar la solicitud porque los campos de cabecera son demasiado grandes.</a:t>
            </a:r>
            <a:endParaRPr b="0" i="0" sz="2600" u="none" cap="none" strike="noStrike">
              <a:solidFill>
                <a:srgbClr val="000000"/>
              </a:solidFill>
              <a:latin typeface="Open Sans"/>
              <a:ea typeface="Open Sans"/>
              <a:cs typeface="Open Sans"/>
              <a:sym typeface="Open Sans"/>
            </a:endParaRPr>
          </a:p>
        </p:txBody>
      </p:sp>
      <p:sp>
        <p:nvSpPr>
          <p:cNvPr id="397" name="Google Shape;397;p34"/>
          <p:cNvSpPr/>
          <p:nvPr/>
        </p:nvSpPr>
        <p:spPr>
          <a:xfrm>
            <a:off x="7330000" y="639076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431</a:t>
            </a:r>
            <a:endParaRPr b="0" i="0" sz="1400" u="none" cap="none" strike="noStrike">
              <a:solidFill>
                <a:schemeClr val="accent3"/>
              </a:solidFill>
              <a:latin typeface="Roboto"/>
              <a:ea typeface="Roboto"/>
              <a:cs typeface="Roboto"/>
              <a:sym typeface="Roboto"/>
            </a:endParaRPr>
          </a:p>
        </p:txBody>
      </p:sp>
      <p:sp>
        <p:nvSpPr>
          <p:cNvPr id="398" name="Google Shape;398;p34"/>
          <p:cNvSpPr txBox="1"/>
          <p:nvPr/>
        </p:nvSpPr>
        <p:spPr>
          <a:xfrm>
            <a:off x="9104100" y="7817728"/>
            <a:ext cx="8428200" cy="15030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Unavailable For Legal Reasons: </a:t>
            </a:r>
            <a:r>
              <a:rPr b="0" i="0" lang="en-US" sz="2600" u="none" cap="none" strike="noStrike">
                <a:solidFill>
                  <a:srgbClr val="000000"/>
                </a:solidFill>
                <a:latin typeface="Open Sans"/>
                <a:ea typeface="Open Sans"/>
                <a:cs typeface="Open Sans"/>
                <a:sym typeface="Open Sans"/>
              </a:rPr>
              <a:t>El usuario solicita un recurso ilegal, como alguna página web censurada por algún gobierno.</a:t>
            </a:r>
            <a:endParaRPr b="0" i="0" sz="2600" u="none" cap="none" strike="noStrike">
              <a:solidFill>
                <a:srgbClr val="000000"/>
              </a:solidFill>
              <a:latin typeface="Open Sans"/>
              <a:ea typeface="Open Sans"/>
              <a:cs typeface="Open Sans"/>
              <a:sym typeface="Open Sans"/>
            </a:endParaRPr>
          </a:p>
        </p:txBody>
      </p:sp>
      <p:sp>
        <p:nvSpPr>
          <p:cNvPr id="399" name="Google Shape;399;p34"/>
          <p:cNvSpPr/>
          <p:nvPr/>
        </p:nvSpPr>
        <p:spPr>
          <a:xfrm>
            <a:off x="7330000" y="8189427"/>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451</a:t>
            </a:r>
            <a:endParaRPr b="0" i="0" sz="1400" u="none" cap="none" strike="noStrike">
              <a:solidFill>
                <a:schemeClr val="accent3"/>
              </a:solidFill>
              <a:latin typeface="Roboto"/>
              <a:ea typeface="Roboto"/>
              <a:cs typeface="Roboto"/>
              <a:sym typeface="Roboto"/>
            </a:endParaRPr>
          </a:p>
        </p:txBody>
      </p:sp>
      <p:sp>
        <p:nvSpPr>
          <p:cNvPr id="400" name="Google Shape;400;p34"/>
          <p:cNvSpPr txBox="1"/>
          <p:nvPr/>
        </p:nvSpPr>
        <p:spPr>
          <a:xfrm>
            <a:off x="9104100" y="966272"/>
            <a:ext cx="8428200" cy="1906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Upgrade Required: </a:t>
            </a:r>
            <a:r>
              <a:rPr b="0" i="0" lang="en-US" sz="2600" u="none" cap="none" strike="noStrike">
                <a:solidFill>
                  <a:srgbClr val="000000"/>
                </a:solidFill>
                <a:latin typeface="Open Sans"/>
                <a:ea typeface="Open Sans"/>
                <a:cs typeface="Open Sans"/>
                <a:sym typeface="Open Sans"/>
              </a:rPr>
              <a:t>El servidor se niega a procesar la solicitud utilizando el protocolo actual a menos que el cliente se actualice a un protocolo diferente.</a:t>
            </a:r>
            <a:endParaRPr b="1" i="0" sz="2600" u="none" cap="none" strike="noStrike">
              <a:solidFill>
                <a:srgbClr val="000000"/>
              </a:solidFill>
              <a:latin typeface="Open Sans"/>
              <a:ea typeface="Open Sans"/>
              <a:cs typeface="Open Sans"/>
              <a:sym typeface="Open Sans"/>
            </a:endParaRPr>
          </a:p>
        </p:txBody>
      </p:sp>
      <p:sp>
        <p:nvSpPr>
          <p:cNvPr id="401" name="Google Shape;401;p34"/>
          <p:cNvSpPr/>
          <p:nvPr/>
        </p:nvSpPr>
        <p:spPr>
          <a:xfrm>
            <a:off x="7330000" y="153987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426</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5"/>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5XX</a:t>
            </a:r>
            <a:endParaRPr b="1" sz="6000">
              <a:latin typeface="Open Sans"/>
              <a:ea typeface="Open Sans"/>
              <a:cs typeface="Open Sans"/>
              <a:sym typeface="Open Sans"/>
            </a:endParaRPr>
          </a:p>
        </p:txBody>
      </p:sp>
      <p:sp>
        <p:nvSpPr>
          <p:cNvPr id="407" name="Google Shape;407;p35"/>
          <p:cNvSpPr txBox="1"/>
          <p:nvPr/>
        </p:nvSpPr>
        <p:spPr>
          <a:xfrm>
            <a:off x="9104100" y="1085849"/>
            <a:ext cx="8428200" cy="119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Internal Server Error: </a:t>
            </a:r>
            <a:r>
              <a:rPr b="0" i="0" lang="en-US" sz="2600" u="none" cap="none" strike="noStrike">
                <a:solidFill>
                  <a:srgbClr val="000000"/>
                </a:solidFill>
                <a:latin typeface="Open Sans"/>
                <a:ea typeface="Open Sans"/>
                <a:cs typeface="Open Sans"/>
                <a:sym typeface="Open Sans"/>
              </a:rPr>
              <a:t>El servidor ha encontrado una situación que no sabe cómo manejarla.</a:t>
            </a:r>
            <a:endParaRPr b="0" i="0" sz="2600" u="none" cap="none" strike="noStrike">
              <a:solidFill>
                <a:srgbClr val="000000"/>
              </a:solidFill>
              <a:latin typeface="Open Sans"/>
              <a:ea typeface="Open Sans"/>
              <a:cs typeface="Open Sans"/>
              <a:sym typeface="Open Sans"/>
            </a:endParaRPr>
          </a:p>
        </p:txBody>
      </p:sp>
      <p:sp>
        <p:nvSpPr>
          <p:cNvPr id="408" name="Google Shape;408;p35"/>
          <p:cNvSpPr/>
          <p:nvPr/>
        </p:nvSpPr>
        <p:spPr>
          <a:xfrm>
            <a:off x="7330000" y="13035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500</a:t>
            </a:r>
            <a:endParaRPr b="0" i="0" sz="1400" u="none" cap="none" strike="noStrike">
              <a:solidFill>
                <a:srgbClr val="E69138"/>
              </a:solidFill>
              <a:latin typeface="Roboto"/>
              <a:ea typeface="Roboto"/>
              <a:cs typeface="Roboto"/>
              <a:sym typeface="Roboto"/>
            </a:endParaRPr>
          </a:p>
        </p:txBody>
      </p:sp>
      <p:sp>
        <p:nvSpPr>
          <p:cNvPr id="409" name="Google Shape;409;p35"/>
          <p:cNvSpPr txBox="1"/>
          <p:nvPr/>
        </p:nvSpPr>
        <p:spPr>
          <a:xfrm>
            <a:off x="9104100" y="2280753"/>
            <a:ext cx="8428200" cy="1146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Implemented: </a:t>
            </a:r>
            <a:r>
              <a:rPr b="0" i="0" lang="en-US" sz="2600" u="none" cap="none" strike="noStrike">
                <a:solidFill>
                  <a:srgbClr val="000000"/>
                </a:solidFill>
                <a:latin typeface="Open Sans"/>
                <a:ea typeface="Open Sans"/>
                <a:cs typeface="Open Sans"/>
                <a:sym typeface="Open Sans"/>
              </a:rPr>
              <a:t>El servidor no puede satisfacer la petición o no reconoce el método de petición.</a:t>
            </a:r>
            <a:endParaRPr b="0" i="0" sz="2600" u="none" cap="none" strike="noStrike">
              <a:solidFill>
                <a:srgbClr val="000000"/>
              </a:solidFill>
              <a:latin typeface="Open Sans"/>
              <a:ea typeface="Open Sans"/>
              <a:cs typeface="Open Sans"/>
              <a:sym typeface="Open Sans"/>
            </a:endParaRPr>
          </a:p>
        </p:txBody>
      </p:sp>
      <p:sp>
        <p:nvSpPr>
          <p:cNvPr id="410" name="Google Shape;410;p35"/>
          <p:cNvSpPr/>
          <p:nvPr/>
        </p:nvSpPr>
        <p:spPr>
          <a:xfrm>
            <a:off x="7330000" y="24744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501</a:t>
            </a:r>
            <a:endParaRPr b="0" i="0" sz="1400" u="none" cap="none" strike="noStrike">
              <a:solidFill>
                <a:srgbClr val="E69138"/>
              </a:solidFill>
              <a:latin typeface="Roboto"/>
              <a:ea typeface="Roboto"/>
              <a:cs typeface="Roboto"/>
              <a:sym typeface="Roboto"/>
            </a:endParaRPr>
          </a:p>
        </p:txBody>
      </p:sp>
      <p:sp>
        <p:nvSpPr>
          <p:cNvPr id="411" name="Google Shape;411;p35"/>
          <p:cNvSpPr txBox="1"/>
          <p:nvPr/>
        </p:nvSpPr>
        <p:spPr>
          <a:xfrm>
            <a:off x="9104100" y="3427645"/>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Bad Gateway: </a:t>
            </a:r>
            <a:r>
              <a:rPr b="0" i="0" lang="en-US" sz="2600" u="none" cap="none" strike="noStrike">
                <a:solidFill>
                  <a:srgbClr val="000000"/>
                </a:solidFill>
                <a:latin typeface="Open Sans"/>
                <a:ea typeface="Open Sans"/>
                <a:cs typeface="Open Sans"/>
                <a:sym typeface="Open Sans"/>
              </a:rPr>
              <a:t>Esta respuesta de error significa que el servidor, mientras trabaja como una puerta de enlace para obtener una respuesta necesaria para manejar la petición, obtuvo una respuesta inválida.</a:t>
            </a:r>
            <a:endParaRPr b="0" i="0" sz="2600" u="none" cap="none" strike="noStrike">
              <a:solidFill>
                <a:srgbClr val="000000"/>
              </a:solidFill>
              <a:latin typeface="Open Sans"/>
              <a:ea typeface="Open Sans"/>
              <a:cs typeface="Open Sans"/>
              <a:sym typeface="Open Sans"/>
            </a:endParaRPr>
          </a:p>
        </p:txBody>
      </p:sp>
      <p:sp>
        <p:nvSpPr>
          <p:cNvPr id="412" name="Google Shape;412;p35"/>
          <p:cNvSpPr/>
          <p:nvPr/>
        </p:nvSpPr>
        <p:spPr>
          <a:xfrm>
            <a:off x="7330000" y="40803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502</a:t>
            </a:r>
            <a:endParaRPr b="0" i="0" sz="1400" u="none" cap="none" strike="noStrike">
              <a:solidFill>
                <a:srgbClr val="E69138"/>
              </a:solidFill>
              <a:latin typeface="Roboto"/>
              <a:ea typeface="Roboto"/>
              <a:cs typeface="Roboto"/>
              <a:sym typeface="Roboto"/>
            </a:endParaRPr>
          </a:p>
        </p:txBody>
      </p:sp>
      <p:sp>
        <p:nvSpPr>
          <p:cNvPr id="413" name="Google Shape;413;p35"/>
          <p:cNvSpPr txBox="1"/>
          <p:nvPr/>
        </p:nvSpPr>
        <p:spPr>
          <a:xfrm>
            <a:off x="9104100" y="5492557"/>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Service unavailable: </a:t>
            </a:r>
            <a:r>
              <a:rPr b="0" i="0" lang="en-US" sz="2600" u="none" cap="none" strike="noStrike">
                <a:solidFill>
                  <a:srgbClr val="000000"/>
                </a:solidFill>
                <a:latin typeface="Open Sans"/>
                <a:ea typeface="Open Sans"/>
                <a:cs typeface="Open Sans"/>
                <a:sym typeface="Open Sans"/>
              </a:rPr>
              <a:t>El servidor no está listo para manejar la petición. Causas comunes puede ser que el servidor está caído por mantenimiento o está sobrecargado</a:t>
            </a:r>
            <a:endParaRPr b="0" i="0" sz="2600" u="none" cap="none" strike="noStrike">
              <a:solidFill>
                <a:srgbClr val="000000"/>
              </a:solidFill>
              <a:latin typeface="Open Sans"/>
              <a:ea typeface="Open Sans"/>
              <a:cs typeface="Open Sans"/>
              <a:sym typeface="Open Sans"/>
            </a:endParaRPr>
          </a:p>
        </p:txBody>
      </p:sp>
      <p:sp>
        <p:nvSpPr>
          <p:cNvPr id="414" name="Google Shape;414;p35"/>
          <p:cNvSpPr/>
          <p:nvPr/>
        </p:nvSpPr>
        <p:spPr>
          <a:xfrm>
            <a:off x="7330000" y="61452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503</a:t>
            </a:r>
            <a:endParaRPr b="0" i="0" sz="1400" u="none" cap="none" strike="noStrike">
              <a:solidFill>
                <a:srgbClr val="E69138"/>
              </a:solidFill>
              <a:latin typeface="Roboto"/>
              <a:ea typeface="Roboto"/>
              <a:cs typeface="Roboto"/>
              <a:sym typeface="Roboto"/>
            </a:endParaRPr>
          </a:p>
        </p:txBody>
      </p:sp>
      <p:sp>
        <p:nvSpPr>
          <p:cNvPr id="415" name="Google Shape;415;p35"/>
          <p:cNvSpPr txBox="1"/>
          <p:nvPr/>
        </p:nvSpPr>
        <p:spPr>
          <a:xfrm>
            <a:off x="9104100" y="7557451"/>
            <a:ext cx="8428200" cy="1643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Gateway Timeout: </a:t>
            </a:r>
            <a:r>
              <a:rPr b="0" i="0" lang="en-US" sz="2600" u="none" cap="none" strike="noStrike">
                <a:solidFill>
                  <a:srgbClr val="000000"/>
                </a:solidFill>
                <a:latin typeface="Open Sans"/>
                <a:ea typeface="Open Sans"/>
                <a:cs typeface="Open Sans"/>
                <a:sym typeface="Open Sans"/>
              </a:rPr>
              <a:t>Esta respuesta de error es dada cuando el servidor está actuando como una puerta de enlace y no puede obtener una respuesta a tiempo.</a:t>
            </a:r>
            <a:endParaRPr b="1" i="0" sz="2600" u="none" cap="none" strike="noStrike">
              <a:solidFill>
                <a:srgbClr val="000000"/>
              </a:solidFill>
              <a:latin typeface="Open Sans"/>
              <a:ea typeface="Open Sans"/>
              <a:cs typeface="Open Sans"/>
              <a:sym typeface="Open Sans"/>
            </a:endParaRPr>
          </a:p>
        </p:txBody>
      </p:sp>
      <p:sp>
        <p:nvSpPr>
          <p:cNvPr id="416" name="Google Shape;416;p35"/>
          <p:cNvSpPr/>
          <p:nvPr/>
        </p:nvSpPr>
        <p:spPr>
          <a:xfrm>
            <a:off x="7330000" y="80811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504</a:t>
            </a:r>
            <a:endParaRPr b="0" i="0" sz="1400" u="none" cap="none" strike="noStrike">
              <a:solidFill>
                <a:srgbClr val="E69138"/>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6"/>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5XX</a:t>
            </a:r>
            <a:endParaRPr b="1" sz="6000">
              <a:latin typeface="Open Sans"/>
              <a:ea typeface="Open Sans"/>
              <a:cs typeface="Open Sans"/>
              <a:sym typeface="Open Sans"/>
            </a:endParaRPr>
          </a:p>
        </p:txBody>
      </p:sp>
      <p:sp>
        <p:nvSpPr>
          <p:cNvPr id="422" name="Google Shape;422;p36"/>
          <p:cNvSpPr txBox="1"/>
          <p:nvPr/>
        </p:nvSpPr>
        <p:spPr>
          <a:xfrm>
            <a:off x="9104100" y="1774649"/>
            <a:ext cx="8428200" cy="119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HTTP Version Not Supported: </a:t>
            </a:r>
            <a:r>
              <a:rPr b="0" i="0" lang="en-US" sz="2600" u="none" cap="none" strike="noStrike">
                <a:solidFill>
                  <a:srgbClr val="000000"/>
                </a:solidFill>
                <a:latin typeface="Open Sans"/>
                <a:ea typeface="Open Sans"/>
                <a:cs typeface="Open Sans"/>
                <a:sym typeface="Open Sans"/>
              </a:rPr>
              <a:t>El servidor no admite la versión HTTP de la solicitud.</a:t>
            </a:r>
            <a:endParaRPr b="0" i="0" sz="2600" u="none" cap="none" strike="noStrike">
              <a:solidFill>
                <a:srgbClr val="000000"/>
              </a:solidFill>
              <a:latin typeface="Open Sans"/>
              <a:ea typeface="Open Sans"/>
              <a:cs typeface="Open Sans"/>
              <a:sym typeface="Open Sans"/>
            </a:endParaRPr>
          </a:p>
        </p:txBody>
      </p:sp>
      <p:sp>
        <p:nvSpPr>
          <p:cNvPr id="423" name="Google Shape;423;p36"/>
          <p:cNvSpPr/>
          <p:nvPr/>
        </p:nvSpPr>
        <p:spPr>
          <a:xfrm>
            <a:off x="7330000" y="19923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505</a:t>
            </a:r>
            <a:endParaRPr b="0" i="0" sz="1400" u="none" cap="none" strike="noStrike">
              <a:solidFill>
                <a:srgbClr val="E69138"/>
              </a:solidFill>
              <a:latin typeface="Roboto"/>
              <a:ea typeface="Roboto"/>
              <a:cs typeface="Roboto"/>
              <a:sym typeface="Roboto"/>
            </a:endParaRPr>
          </a:p>
        </p:txBody>
      </p:sp>
      <p:sp>
        <p:nvSpPr>
          <p:cNvPr id="424" name="Google Shape;424;p36"/>
          <p:cNvSpPr txBox="1"/>
          <p:nvPr/>
        </p:nvSpPr>
        <p:spPr>
          <a:xfrm>
            <a:off x="9104100" y="2969553"/>
            <a:ext cx="8428200" cy="1146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Variant Also Negotiates: </a:t>
            </a:r>
            <a:r>
              <a:rPr b="0" i="0" lang="en-US" sz="2600" u="none" cap="none" strike="noStrike">
                <a:solidFill>
                  <a:srgbClr val="000000"/>
                </a:solidFill>
                <a:latin typeface="Open Sans"/>
                <a:ea typeface="Open Sans"/>
                <a:cs typeface="Open Sans"/>
                <a:sym typeface="Open Sans"/>
              </a:rPr>
              <a:t>El servidor tiene un error de configuración interna.</a:t>
            </a:r>
            <a:endParaRPr b="0" i="0" sz="2600" u="none" cap="none" strike="noStrike">
              <a:solidFill>
                <a:srgbClr val="000000"/>
              </a:solidFill>
              <a:latin typeface="Open Sans"/>
              <a:ea typeface="Open Sans"/>
              <a:cs typeface="Open Sans"/>
              <a:sym typeface="Open Sans"/>
            </a:endParaRPr>
          </a:p>
        </p:txBody>
      </p:sp>
      <p:sp>
        <p:nvSpPr>
          <p:cNvPr id="425" name="Google Shape;425;p36"/>
          <p:cNvSpPr/>
          <p:nvPr/>
        </p:nvSpPr>
        <p:spPr>
          <a:xfrm>
            <a:off x="7330000" y="31632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506</a:t>
            </a:r>
            <a:endParaRPr b="0" i="0" sz="1400" u="none" cap="none" strike="noStrike">
              <a:solidFill>
                <a:srgbClr val="E69138"/>
              </a:solidFill>
              <a:latin typeface="Roboto"/>
              <a:ea typeface="Roboto"/>
              <a:cs typeface="Roboto"/>
              <a:sym typeface="Roboto"/>
            </a:endParaRPr>
          </a:p>
        </p:txBody>
      </p:sp>
      <p:sp>
        <p:nvSpPr>
          <p:cNvPr id="426" name="Google Shape;426;p36"/>
          <p:cNvSpPr txBox="1"/>
          <p:nvPr/>
        </p:nvSpPr>
        <p:spPr>
          <a:xfrm>
            <a:off x="9104100" y="4116450"/>
            <a:ext cx="8428200" cy="1557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Insufficient Storage: </a:t>
            </a:r>
            <a:r>
              <a:rPr b="0" i="0" lang="en-US" sz="2600" u="none" cap="none" strike="noStrike">
                <a:solidFill>
                  <a:srgbClr val="000000"/>
                </a:solidFill>
                <a:latin typeface="Open Sans"/>
                <a:ea typeface="Open Sans"/>
                <a:cs typeface="Open Sans"/>
                <a:sym typeface="Open Sans"/>
              </a:rPr>
              <a:t>El servidor no dispone de almacenamiento suficiente para procesar correctamente la solicitud.</a:t>
            </a:r>
            <a:endParaRPr b="0" i="0" sz="2600" u="none" cap="none" strike="noStrike">
              <a:solidFill>
                <a:srgbClr val="000000"/>
              </a:solidFill>
              <a:latin typeface="Open Sans"/>
              <a:ea typeface="Open Sans"/>
              <a:cs typeface="Open Sans"/>
              <a:sym typeface="Open Sans"/>
            </a:endParaRPr>
          </a:p>
        </p:txBody>
      </p:sp>
      <p:sp>
        <p:nvSpPr>
          <p:cNvPr id="427" name="Google Shape;427;p36"/>
          <p:cNvSpPr/>
          <p:nvPr/>
        </p:nvSpPr>
        <p:spPr>
          <a:xfrm>
            <a:off x="7330000" y="45153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507</a:t>
            </a:r>
            <a:endParaRPr b="0" i="0" sz="1400" u="none" cap="none" strike="noStrike">
              <a:solidFill>
                <a:srgbClr val="E69138"/>
              </a:solidFill>
              <a:latin typeface="Roboto"/>
              <a:ea typeface="Roboto"/>
              <a:cs typeface="Roboto"/>
              <a:sym typeface="Roboto"/>
            </a:endParaRPr>
          </a:p>
        </p:txBody>
      </p:sp>
      <p:sp>
        <p:nvSpPr>
          <p:cNvPr id="428" name="Google Shape;428;p36"/>
          <p:cNvSpPr txBox="1"/>
          <p:nvPr/>
        </p:nvSpPr>
        <p:spPr>
          <a:xfrm>
            <a:off x="9104100" y="5673750"/>
            <a:ext cx="8428200" cy="119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Loop Detected: </a:t>
            </a:r>
            <a:r>
              <a:rPr b="0" i="0" lang="en-US" sz="2600" u="none" cap="none" strike="noStrike">
                <a:solidFill>
                  <a:srgbClr val="000000"/>
                </a:solidFill>
                <a:latin typeface="Open Sans"/>
                <a:ea typeface="Open Sans"/>
                <a:cs typeface="Open Sans"/>
                <a:sym typeface="Open Sans"/>
              </a:rPr>
              <a:t>El servidor detectó un ciclo infinito mientras procesaba la solicitud.</a:t>
            </a:r>
            <a:endParaRPr b="0" i="0" sz="2600" u="none" cap="none" strike="noStrike">
              <a:solidFill>
                <a:srgbClr val="000000"/>
              </a:solidFill>
              <a:latin typeface="Open Sans"/>
              <a:ea typeface="Open Sans"/>
              <a:cs typeface="Open Sans"/>
              <a:sym typeface="Open Sans"/>
            </a:endParaRPr>
          </a:p>
        </p:txBody>
      </p:sp>
      <p:sp>
        <p:nvSpPr>
          <p:cNvPr id="429" name="Google Shape;429;p36"/>
          <p:cNvSpPr/>
          <p:nvPr/>
        </p:nvSpPr>
        <p:spPr>
          <a:xfrm>
            <a:off x="7330000" y="59130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508</a:t>
            </a:r>
            <a:endParaRPr b="0" i="0" sz="1400" u="none" cap="none" strike="noStrike">
              <a:solidFill>
                <a:srgbClr val="E69138"/>
              </a:solidFill>
              <a:latin typeface="Roboto"/>
              <a:ea typeface="Roboto"/>
              <a:cs typeface="Roboto"/>
              <a:sym typeface="Roboto"/>
            </a:endParaRPr>
          </a:p>
        </p:txBody>
      </p:sp>
      <p:sp>
        <p:nvSpPr>
          <p:cNvPr id="430" name="Google Shape;430;p36"/>
          <p:cNvSpPr txBox="1"/>
          <p:nvPr/>
        </p:nvSpPr>
        <p:spPr>
          <a:xfrm>
            <a:off x="9104100" y="6868651"/>
            <a:ext cx="8428200" cy="1643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Network Authentication Required: </a:t>
            </a:r>
            <a:r>
              <a:rPr b="0" i="0" lang="en-US" sz="2600" u="none" cap="none" strike="noStrike">
                <a:solidFill>
                  <a:srgbClr val="000000"/>
                </a:solidFill>
                <a:latin typeface="Open Sans"/>
                <a:ea typeface="Open Sans"/>
                <a:cs typeface="Open Sans"/>
                <a:sym typeface="Open Sans"/>
              </a:rPr>
              <a:t>El código de estado 511 indica que el cliente necesita autenticar para obtener acceso a la red.</a:t>
            </a:r>
            <a:endParaRPr b="1" i="0" sz="2600" u="none" cap="none" strike="noStrike">
              <a:solidFill>
                <a:srgbClr val="000000"/>
              </a:solidFill>
              <a:latin typeface="Open Sans"/>
              <a:ea typeface="Open Sans"/>
              <a:cs typeface="Open Sans"/>
              <a:sym typeface="Open Sans"/>
            </a:endParaRPr>
          </a:p>
        </p:txBody>
      </p:sp>
      <p:sp>
        <p:nvSpPr>
          <p:cNvPr id="431" name="Google Shape;431;p36"/>
          <p:cNvSpPr/>
          <p:nvPr/>
        </p:nvSpPr>
        <p:spPr>
          <a:xfrm>
            <a:off x="7330000" y="73107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511</a:t>
            </a:r>
            <a:endParaRPr b="0" i="0" sz="1400" u="none" cap="none" strike="noStrike">
              <a:solidFill>
                <a:srgbClr val="E69138"/>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5d06ac7a4a_0_0"/>
          <p:cNvSpPr txBox="1"/>
          <p:nvPr>
            <p:ph type="title"/>
          </p:nvPr>
        </p:nvSpPr>
        <p:spPr>
          <a:xfrm>
            <a:off x="0" y="32700"/>
            <a:ext cx="18288000" cy="1205400"/>
          </a:xfrm>
          <a:prstGeom prst="rect">
            <a:avLst/>
          </a:prstGeom>
        </p:spPr>
        <p:txBody>
          <a:bodyPr anchorCtr="0" anchor="ctr" bIns="182850" lIns="182850" spcFirstLastPara="1" rIns="182850" wrap="square" tIns="182850">
            <a:noAutofit/>
          </a:bodyPr>
          <a:lstStyle/>
          <a:p>
            <a:pPr indent="0" lvl="0" marL="0" rtl="0" algn="ctr">
              <a:spcBef>
                <a:spcPts val="0"/>
              </a:spcBef>
              <a:spcAft>
                <a:spcPts val="0"/>
              </a:spcAft>
              <a:buNone/>
            </a:pPr>
            <a:r>
              <a:rPr b="1" lang="en-US" sz="6000">
                <a:latin typeface="Open Sans"/>
                <a:ea typeface="Open Sans"/>
                <a:cs typeface="Open Sans"/>
                <a:sym typeface="Open Sans"/>
              </a:rPr>
              <a:t>Versiones HTTP</a:t>
            </a:r>
            <a:endParaRPr b="1" sz="6000">
              <a:latin typeface="Open Sans"/>
              <a:ea typeface="Open Sans"/>
              <a:cs typeface="Open Sans"/>
              <a:sym typeface="Open Sans"/>
            </a:endParaRPr>
          </a:p>
        </p:txBody>
      </p:sp>
      <p:sp>
        <p:nvSpPr>
          <p:cNvPr id="437" name="Google Shape;437;g35d06ac7a4a_0_0"/>
          <p:cNvSpPr txBox="1"/>
          <p:nvPr/>
        </p:nvSpPr>
        <p:spPr>
          <a:xfrm>
            <a:off x="821400" y="2006700"/>
            <a:ext cx="16645200" cy="7689000"/>
          </a:xfrm>
          <a:prstGeom prst="rect">
            <a:avLst/>
          </a:prstGeom>
          <a:noFill/>
          <a:ln>
            <a:noFill/>
          </a:ln>
        </p:spPr>
        <p:txBody>
          <a:bodyPr anchorCtr="0" anchor="t" bIns="91425" lIns="91425" spcFirstLastPara="1" rIns="91425" wrap="square" tIns="91425">
            <a:noAutofit/>
          </a:bodyPr>
          <a:lstStyle/>
          <a:p>
            <a:pPr indent="-393700" lvl="0" marL="457200" rtl="0" algn="just">
              <a:lnSpc>
                <a:spcPct val="115000"/>
              </a:lnSpc>
              <a:spcBef>
                <a:spcPts val="1000"/>
              </a:spcBef>
              <a:spcAft>
                <a:spcPts val="0"/>
              </a:spcAft>
              <a:buSzPts val="2600"/>
              <a:buFont typeface="Open Sans"/>
              <a:buChar char="●"/>
            </a:pPr>
            <a:r>
              <a:rPr b="1" lang="en-US" sz="2600">
                <a:latin typeface="Open Sans"/>
                <a:ea typeface="Open Sans"/>
                <a:cs typeface="Open Sans"/>
                <a:sym typeface="Open Sans"/>
              </a:rPr>
              <a:t>HTTP/0.9 (1991): </a:t>
            </a:r>
            <a:r>
              <a:rPr lang="en-US" sz="2600">
                <a:latin typeface="Open Sans"/>
                <a:ea typeface="Open Sans"/>
                <a:cs typeface="Open Sans"/>
                <a:sym typeface="Open Sans"/>
              </a:rPr>
              <a:t>Primera versión, muy simple. Solo soportaba el método GET para solicitar recursos (sin encabezados, solo HTML). Sin estado, sin soporte para multimedia.</a:t>
            </a:r>
            <a:endParaRPr sz="2600">
              <a:latin typeface="Open Sans"/>
              <a:ea typeface="Open Sans"/>
              <a:cs typeface="Open Sans"/>
              <a:sym typeface="Open Sans"/>
            </a:endParaRPr>
          </a:p>
          <a:p>
            <a:pPr indent="-393700" lvl="0" marL="457200" rtl="0" algn="just">
              <a:lnSpc>
                <a:spcPct val="115000"/>
              </a:lnSpc>
              <a:spcBef>
                <a:spcPts val="1000"/>
              </a:spcBef>
              <a:spcAft>
                <a:spcPts val="0"/>
              </a:spcAft>
              <a:buSzPts val="2600"/>
              <a:buFont typeface="Open Sans"/>
              <a:buChar char="●"/>
            </a:pPr>
            <a:r>
              <a:rPr b="1" lang="en-US" sz="2600">
                <a:latin typeface="Open Sans"/>
                <a:ea typeface="Open Sans"/>
                <a:cs typeface="Open Sans"/>
                <a:sym typeface="Open Sans"/>
              </a:rPr>
              <a:t>HTTP/1.0 (1996): </a:t>
            </a:r>
            <a:r>
              <a:rPr lang="en-US" sz="2600">
                <a:latin typeface="Open Sans"/>
                <a:ea typeface="Open Sans"/>
                <a:cs typeface="Open Sans"/>
                <a:sym typeface="Open Sans"/>
              </a:rPr>
              <a:t>Introdujo métodos adicionales (POST, HEAD), encabezados HTTP, códigos de estado (200, 404, etc.) y soporte para diferentes tipos de contenido (imágenes, scripts). Cada solicitud abría y cerraba una conexión TCP, lo que era ineficiente.</a:t>
            </a:r>
            <a:endParaRPr sz="2600">
              <a:latin typeface="Open Sans"/>
              <a:ea typeface="Open Sans"/>
              <a:cs typeface="Open Sans"/>
              <a:sym typeface="Open Sans"/>
            </a:endParaRPr>
          </a:p>
          <a:p>
            <a:pPr indent="-393700" lvl="0" marL="457200" rtl="0" algn="just">
              <a:lnSpc>
                <a:spcPct val="115000"/>
              </a:lnSpc>
              <a:spcBef>
                <a:spcPts val="1000"/>
              </a:spcBef>
              <a:spcAft>
                <a:spcPts val="0"/>
              </a:spcAft>
              <a:buSzPts val="2600"/>
              <a:buFont typeface="Open Sans"/>
              <a:buChar char="●"/>
            </a:pPr>
            <a:r>
              <a:rPr b="1" lang="en-US" sz="2600">
                <a:latin typeface="Open Sans"/>
                <a:ea typeface="Open Sans"/>
                <a:cs typeface="Open Sans"/>
                <a:sym typeface="Open Sans"/>
              </a:rPr>
              <a:t>HTTP/1.1 (1997, actualizado en 1999):</a:t>
            </a:r>
            <a:r>
              <a:rPr lang="en-US" sz="2600">
                <a:latin typeface="Open Sans"/>
                <a:ea typeface="Open Sans"/>
                <a:cs typeface="Open Sans"/>
                <a:sym typeface="Open Sans"/>
              </a:rPr>
              <a:t> Estándar ampliamente usado durante años. Añadió conexiones persistentes (Keep-Alive), pipelining (múltiples solicitudes sin esperar respuesta), soporte para host virtual, compresión y caché mejorado. Sin embargo, el "head-of-line blocking" limitaba el rendimiento.</a:t>
            </a:r>
            <a:endParaRPr sz="2600">
              <a:latin typeface="Open Sans"/>
              <a:ea typeface="Open Sans"/>
              <a:cs typeface="Open Sans"/>
              <a:sym typeface="Open Sans"/>
            </a:endParaRPr>
          </a:p>
          <a:p>
            <a:pPr indent="-393700" lvl="0" marL="457200" rtl="0" algn="just">
              <a:lnSpc>
                <a:spcPct val="115000"/>
              </a:lnSpc>
              <a:spcBef>
                <a:spcPts val="1000"/>
              </a:spcBef>
              <a:spcAft>
                <a:spcPts val="0"/>
              </a:spcAft>
              <a:buSzPts val="2600"/>
              <a:buFont typeface="Open Sans"/>
              <a:buChar char="●"/>
            </a:pPr>
            <a:r>
              <a:rPr b="1" lang="en-US" sz="2600">
                <a:latin typeface="Open Sans"/>
                <a:ea typeface="Open Sans"/>
                <a:cs typeface="Open Sans"/>
                <a:sym typeface="Open Sans"/>
              </a:rPr>
              <a:t>HTTP/2 (2015): </a:t>
            </a:r>
            <a:r>
              <a:rPr lang="en-US" sz="2600">
                <a:latin typeface="Open Sans"/>
                <a:ea typeface="Open Sans"/>
                <a:cs typeface="Open Sans"/>
                <a:sym typeface="Open Sans"/>
              </a:rPr>
              <a:t>Optimizado para la web moderna. Introduce multiplexación (múltiples solicitudes/respuestas simultáneas en una sola conexión TCP), compresión de encabezados, priorización de recursos y "server push" (el servidor envía recursos antes de que el cliente los solicite). Mejora significativamente la velocidad y eficiencia.</a:t>
            </a:r>
            <a:endParaRPr sz="2600">
              <a:latin typeface="Open Sans"/>
              <a:ea typeface="Open Sans"/>
              <a:cs typeface="Open Sans"/>
              <a:sym typeface="Open Sans"/>
            </a:endParaRPr>
          </a:p>
          <a:p>
            <a:pPr indent="-393700" lvl="0" marL="457200" rtl="0" algn="just">
              <a:lnSpc>
                <a:spcPct val="115000"/>
              </a:lnSpc>
              <a:spcBef>
                <a:spcPts val="1000"/>
              </a:spcBef>
              <a:spcAft>
                <a:spcPts val="0"/>
              </a:spcAft>
              <a:buSzPts val="2600"/>
              <a:buFont typeface="Open Sans"/>
              <a:buChar char="●"/>
            </a:pPr>
            <a:r>
              <a:rPr b="1" lang="en-US" sz="2600">
                <a:latin typeface="Open Sans"/>
                <a:ea typeface="Open Sans"/>
                <a:cs typeface="Open Sans"/>
                <a:sym typeface="Open Sans"/>
              </a:rPr>
              <a:t>HTTP/3 (2022):</a:t>
            </a:r>
            <a:r>
              <a:rPr lang="en-US" sz="2600">
                <a:latin typeface="Open Sans"/>
                <a:ea typeface="Open Sans"/>
                <a:cs typeface="Open Sans"/>
                <a:sym typeface="Open Sans"/>
              </a:rPr>
              <a:t> Basado en QUIC (sobre UDP en lugar de TCP), reduce la latencia al eliminar el establecimiento de conexiones TCP y mejorar la recuperación de paquetes perdidos. Soporta las características de HTTP/2, pero es más rápido y eficiente, especialmente en redes inestables.</a:t>
            </a:r>
            <a:endParaRPr sz="2600">
              <a:latin typeface="Open Sans"/>
              <a:ea typeface="Open Sans"/>
              <a:cs typeface="Open Sans"/>
              <a:sym typeface="Open Sans"/>
            </a:endParaRPr>
          </a:p>
          <a:p>
            <a:pPr indent="0" lvl="0" marL="457200" rtl="0" algn="just">
              <a:lnSpc>
                <a:spcPct val="115000"/>
              </a:lnSpc>
              <a:spcBef>
                <a:spcPts val="1200"/>
              </a:spcBef>
              <a:spcAft>
                <a:spcPts val="1000"/>
              </a:spcAft>
              <a:buNone/>
            </a:pPr>
            <a:r>
              <a:t/>
            </a:r>
            <a:endParaRPr sz="2600">
              <a:latin typeface="Open Sans"/>
              <a:ea typeface="Open Sans"/>
              <a:cs typeface="Open Sans"/>
              <a:sym typeface="Ope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5d06ac7a4a_0_11"/>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HTTPS</a:t>
            </a:r>
            <a:endParaRPr b="1" sz="6000">
              <a:latin typeface="Open Sans"/>
              <a:ea typeface="Open Sans"/>
              <a:cs typeface="Open Sans"/>
              <a:sym typeface="Open Sans"/>
            </a:endParaRPr>
          </a:p>
        </p:txBody>
      </p:sp>
      <p:sp>
        <p:nvSpPr>
          <p:cNvPr id="443" name="Google Shape;443;g35d06ac7a4a_0_11"/>
          <p:cNvSpPr txBox="1"/>
          <p:nvPr>
            <p:ph idx="1" type="body"/>
          </p:nvPr>
        </p:nvSpPr>
        <p:spPr>
          <a:xfrm>
            <a:off x="570637" y="3758575"/>
            <a:ext cx="9515700" cy="60897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800"/>
              <a:buNone/>
            </a:pPr>
            <a:r>
              <a:rPr lang="en-US" sz="2600">
                <a:solidFill>
                  <a:srgbClr val="000000"/>
                </a:solidFill>
                <a:latin typeface="Open Sans"/>
                <a:ea typeface="Open Sans"/>
                <a:cs typeface="Open Sans"/>
                <a:sym typeface="Open Sans"/>
              </a:rPr>
              <a:t>El protocolo de transferencia de hipertexto seguro (HTTPS) es la versión segura de HTTP. El HTTPS está encriptado para aumentar la seguridad de las transferencias de datos. </a:t>
            </a:r>
            <a:r>
              <a:rPr lang="en-US" sz="2600">
                <a:solidFill>
                  <a:srgbClr val="000000"/>
                </a:solidFill>
                <a:latin typeface="Open Sans"/>
                <a:ea typeface="Open Sans"/>
                <a:cs typeface="Open Sans"/>
                <a:sym typeface="Open Sans"/>
              </a:rPr>
              <a:t>HTTPS utiliza un protocolo de encriptación para asegurar las comunicaciones. El protocolo se conoce como Transport Layer Security (TLS), aunque antes se conocía como Secure Sockets Layer (SSL).</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rPr lang="en-US" sz="2600">
                <a:solidFill>
                  <a:srgbClr val="000000"/>
                </a:solidFill>
                <a:latin typeface="Open Sans"/>
                <a:ea typeface="Open Sans"/>
                <a:cs typeface="Open Sans"/>
                <a:sym typeface="Open Sans"/>
              </a:rPr>
              <a:t>En términos técnicos, HTTPS no es un protocolo distinto de HTTP. Simplemente utiliza la encriptación TLS/SSL sobre el protocolo HTTP. HTTPS se basa en la transmisión de los certificados TLS/SSL, que verifican que un determinado proveedor es quien dice ser.</a:t>
            </a:r>
            <a:endParaRPr/>
          </a:p>
        </p:txBody>
      </p:sp>
      <p:pic>
        <p:nvPicPr>
          <p:cNvPr id="444" name="Google Shape;444;g35d06ac7a4a_0_11"/>
          <p:cNvPicPr preferRelativeResize="0"/>
          <p:nvPr/>
        </p:nvPicPr>
        <p:blipFill>
          <a:blip r:embed="rId3">
            <a:alphaModFix/>
          </a:blip>
          <a:stretch>
            <a:fillRect/>
          </a:stretch>
        </p:blipFill>
        <p:spPr>
          <a:xfrm>
            <a:off x="10276437" y="4650625"/>
            <a:ext cx="7440926" cy="4305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5d06ac7a4a_0_27"/>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HTTPS</a:t>
            </a:r>
            <a:endParaRPr b="1" sz="6000">
              <a:latin typeface="Open Sans"/>
              <a:ea typeface="Open Sans"/>
              <a:cs typeface="Open Sans"/>
              <a:sym typeface="Open Sans"/>
            </a:endParaRPr>
          </a:p>
        </p:txBody>
      </p:sp>
      <p:sp>
        <p:nvSpPr>
          <p:cNvPr id="450" name="Google Shape;450;g35d06ac7a4a_0_27"/>
          <p:cNvSpPr txBox="1"/>
          <p:nvPr>
            <p:ph idx="1" type="body"/>
          </p:nvPr>
        </p:nvSpPr>
        <p:spPr>
          <a:xfrm>
            <a:off x="570637" y="3758575"/>
            <a:ext cx="9515700" cy="6089700"/>
          </a:xfrm>
          <a:prstGeom prst="rect">
            <a:avLst/>
          </a:prstGeom>
          <a:noFill/>
          <a:ln>
            <a:noFill/>
          </a:ln>
        </p:spPr>
        <p:txBody>
          <a:bodyPr anchorCtr="0" anchor="t" bIns="182850" lIns="182850" spcFirstLastPara="1" rIns="182850" wrap="square" tIns="182850">
            <a:noAutofit/>
          </a:bodyPr>
          <a:lstStyle/>
          <a:p>
            <a:pPr indent="0" lvl="0" marL="0" rtl="0" algn="just">
              <a:spcBef>
                <a:spcPts val="2400"/>
              </a:spcBef>
              <a:spcAft>
                <a:spcPts val="0"/>
              </a:spcAft>
              <a:buNone/>
            </a:pPr>
            <a:r>
              <a:rPr lang="en-US" sz="2600">
                <a:solidFill>
                  <a:srgbClr val="000000"/>
                </a:solidFill>
                <a:latin typeface="Open Sans"/>
                <a:ea typeface="Open Sans"/>
                <a:cs typeface="Open Sans"/>
                <a:sym typeface="Open Sans"/>
              </a:rPr>
              <a:t>El protocolo TLS/SSL encripta las comunicaciones mediante el uso de una clave pública asimétrica.</a:t>
            </a:r>
            <a:r>
              <a:rPr lang="en-US" sz="2600">
                <a:solidFill>
                  <a:srgbClr val="000000"/>
                </a:solidFill>
                <a:latin typeface="Open Sans"/>
                <a:ea typeface="Open Sans"/>
                <a:cs typeface="Open Sans"/>
                <a:sym typeface="Open Sans"/>
              </a:rPr>
              <a:t> Este tipo de clave utiliza dos claves diferentes para encriptar las comunicaciones entre dos partes:</a:t>
            </a:r>
            <a:endParaRPr sz="2600">
              <a:solidFill>
                <a:srgbClr val="000000"/>
              </a:solidFill>
              <a:latin typeface="Open Sans"/>
              <a:ea typeface="Open Sans"/>
              <a:cs typeface="Open Sans"/>
              <a:sym typeface="Open Sans"/>
            </a:endParaRPr>
          </a:p>
          <a:p>
            <a:pPr indent="-393700" lvl="0" marL="457200" rtl="0" algn="just">
              <a:spcBef>
                <a:spcPts val="1000"/>
              </a:spcBef>
              <a:spcAft>
                <a:spcPts val="0"/>
              </a:spcAft>
              <a:buClr>
                <a:srgbClr val="000000"/>
              </a:buClr>
              <a:buSzPts val="2600"/>
              <a:buFont typeface="Open Sans"/>
              <a:buChar char="●"/>
            </a:pPr>
            <a:r>
              <a:rPr b="1" lang="en-US" sz="2600">
                <a:solidFill>
                  <a:srgbClr val="000000"/>
                </a:solidFill>
                <a:latin typeface="Open Sans"/>
                <a:ea typeface="Open Sans"/>
                <a:cs typeface="Open Sans"/>
                <a:sym typeface="Open Sans"/>
              </a:rPr>
              <a:t>La clave privada: </a:t>
            </a:r>
            <a:r>
              <a:rPr lang="en-US" sz="2600">
                <a:solidFill>
                  <a:srgbClr val="000000"/>
                </a:solidFill>
                <a:latin typeface="Open Sans"/>
                <a:ea typeface="Open Sans"/>
                <a:cs typeface="Open Sans"/>
                <a:sym typeface="Open Sans"/>
              </a:rPr>
              <a:t>Esta clave la controla el propietario de un sitio web y se mantiene privada. Está ubicada en un servidor web y se utiliza para desencriptar la información encriptada por la clave pública.</a:t>
            </a:r>
            <a:endParaRPr sz="2600">
              <a:solidFill>
                <a:srgbClr val="000000"/>
              </a:solidFill>
              <a:latin typeface="Open Sans"/>
              <a:ea typeface="Open Sans"/>
              <a:cs typeface="Open Sans"/>
              <a:sym typeface="Open Sans"/>
            </a:endParaRPr>
          </a:p>
          <a:p>
            <a:pPr indent="-393700" lvl="0" marL="457200" rtl="0" algn="just">
              <a:spcBef>
                <a:spcPts val="1000"/>
              </a:spcBef>
              <a:spcAft>
                <a:spcPts val="0"/>
              </a:spcAft>
              <a:buClr>
                <a:srgbClr val="000000"/>
              </a:buClr>
              <a:buSzPts val="2600"/>
              <a:buFont typeface="Open Sans"/>
              <a:buChar char="●"/>
            </a:pPr>
            <a:r>
              <a:rPr b="1" lang="en-US" sz="2600">
                <a:solidFill>
                  <a:srgbClr val="000000"/>
                </a:solidFill>
                <a:latin typeface="Open Sans"/>
                <a:ea typeface="Open Sans"/>
                <a:cs typeface="Open Sans"/>
                <a:sym typeface="Open Sans"/>
              </a:rPr>
              <a:t>La clave pública:</a:t>
            </a:r>
            <a:r>
              <a:rPr lang="en-US" sz="2600">
                <a:solidFill>
                  <a:srgbClr val="000000"/>
                </a:solidFill>
                <a:latin typeface="Open Sans"/>
                <a:ea typeface="Open Sans"/>
                <a:cs typeface="Open Sans"/>
                <a:sym typeface="Open Sans"/>
              </a:rPr>
              <a:t> Esta clave está disponible para todos los que quieran interactuar con el servidor de forma segura. La información encriptada por la clave pública </a:t>
            </a:r>
            <a:r>
              <a:rPr lang="en-US" sz="2600">
                <a:solidFill>
                  <a:srgbClr val="000000"/>
                </a:solidFill>
                <a:latin typeface="Open Sans"/>
                <a:ea typeface="Open Sans"/>
                <a:cs typeface="Open Sans"/>
                <a:sym typeface="Open Sans"/>
              </a:rPr>
              <a:t>sólo</a:t>
            </a:r>
            <a:r>
              <a:rPr lang="en-US" sz="2600">
                <a:solidFill>
                  <a:srgbClr val="000000"/>
                </a:solidFill>
                <a:latin typeface="Open Sans"/>
                <a:ea typeface="Open Sans"/>
                <a:cs typeface="Open Sans"/>
                <a:sym typeface="Open Sans"/>
              </a:rPr>
              <a:t> puede ser desencriptada por la clave privada.</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t/>
            </a:r>
            <a:endParaRPr sz="2600">
              <a:solidFill>
                <a:srgbClr val="000000"/>
              </a:solidFill>
              <a:latin typeface="Open Sans"/>
              <a:ea typeface="Open Sans"/>
              <a:cs typeface="Open Sans"/>
              <a:sym typeface="Open Sans"/>
            </a:endParaRPr>
          </a:p>
          <a:p>
            <a:pPr indent="0" lvl="0" marL="0" rtl="0" algn="just">
              <a:lnSpc>
                <a:spcPct val="140026"/>
              </a:lnSpc>
              <a:spcBef>
                <a:spcPts val="2400"/>
              </a:spcBef>
              <a:spcAft>
                <a:spcPts val="0"/>
              </a:spcAft>
              <a:buSzPts val="2800"/>
              <a:buNone/>
            </a:pPr>
            <a:r>
              <a:rPr lang="en-US" sz="2200">
                <a:solidFill>
                  <a:schemeClr val="lt1"/>
                </a:solidFill>
                <a:latin typeface="Arial"/>
                <a:ea typeface="Arial"/>
                <a:cs typeface="Arial"/>
                <a:sym typeface="Arial"/>
              </a:rPr>
              <a:t>Sigue el clásico modelo cliente-servidor, en el que un cliente establece una conexión con el servidor, realiza una petición y espera hasta que recibe una respuesta del mismo. Se trata de un protocolo sin estado, lo cual significa que el servidor no guarda ningún dato (estado) entre dos peticiones</a:t>
            </a:r>
            <a:endParaRPr sz="26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SzPts val="2800"/>
              <a:buNone/>
            </a:pPr>
            <a:r>
              <a:t/>
            </a:r>
            <a:endParaRPr/>
          </a:p>
          <a:p>
            <a:pPr indent="0" lvl="0" marL="0" rtl="0" algn="l">
              <a:lnSpc>
                <a:spcPct val="115000"/>
              </a:lnSpc>
              <a:spcBef>
                <a:spcPts val="2400"/>
              </a:spcBef>
              <a:spcAft>
                <a:spcPts val="2400"/>
              </a:spcAft>
              <a:buSzPts val="2800"/>
              <a:buNone/>
            </a:pPr>
            <a:r>
              <a:t/>
            </a:r>
            <a:endParaRPr/>
          </a:p>
        </p:txBody>
      </p:sp>
      <p:pic>
        <p:nvPicPr>
          <p:cNvPr id="451" name="Google Shape;451;g35d06ac7a4a_0_27"/>
          <p:cNvPicPr preferRelativeResize="0"/>
          <p:nvPr/>
        </p:nvPicPr>
        <p:blipFill>
          <a:blip r:embed="rId3">
            <a:alphaModFix/>
          </a:blip>
          <a:stretch>
            <a:fillRect/>
          </a:stretch>
        </p:blipFill>
        <p:spPr>
          <a:xfrm>
            <a:off x="10276437" y="4650625"/>
            <a:ext cx="7440926" cy="4305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5" name="Shape 455"/>
        <p:cNvGrpSpPr/>
        <p:nvPr/>
      </p:nvGrpSpPr>
      <p:grpSpPr>
        <a:xfrm>
          <a:off x="0" y="0"/>
          <a:ext cx="0" cy="0"/>
          <a:chOff x="0" y="0"/>
          <a:chExt cx="0" cy="0"/>
        </a:xfrm>
      </p:grpSpPr>
      <p:sp>
        <p:nvSpPr>
          <p:cNvPr id="456" name="Google Shape;456;p37"/>
          <p:cNvSpPr txBox="1"/>
          <p:nvPr/>
        </p:nvSpPr>
        <p:spPr>
          <a:xfrm>
            <a:off x="5818050" y="4527750"/>
            <a:ext cx="6651900" cy="1539300"/>
          </a:xfrm>
          <a:prstGeom prst="rect">
            <a:avLst/>
          </a:prstGeom>
          <a:noFill/>
          <a:ln>
            <a:noFill/>
          </a:ln>
        </p:spPr>
        <p:txBody>
          <a:bodyPr anchorCtr="0" anchor="t" bIns="0" lIns="0" spcFirstLastPara="1" rIns="0" wrap="square" tIns="0">
            <a:spAutoFit/>
          </a:bodyPr>
          <a:lstStyle/>
          <a:p>
            <a:pPr indent="0" lvl="0" marL="0" marR="0" rtl="0" algn="ctr">
              <a:lnSpc>
                <a:spcPct val="173034"/>
              </a:lnSpc>
              <a:spcBef>
                <a:spcPts val="0"/>
              </a:spcBef>
              <a:spcAft>
                <a:spcPts val="0"/>
              </a:spcAft>
              <a:buClr>
                <a:srgbClr val="000000"/>
              </a:buClr>
              <a:buSzPts val="3575"/>
              <a:buFont typeface="Arial"/>
              <a:buNone/>
            </a:pPr>
            <a:r>
              <a:rPr b="1" i="0" lang="en-US" sz="10000" u="none" cap="none" strike="noStrike">
                <a:solidFill>
                  <a:schemeClr val="lt1"/>
                </a:solidFill>
                <a:latin typeface="Open Sans"/>
                <a:ea typeface="Open Sans"/>
                <a:cs typeface="Open Sans"/>
                <a:sym typeface="Open Sans"/>
              </a:rPr>
              <a:t>Ejemplo</a:t>
            </a:r>
            <a:endParaRPr b="1" i="0" sz="10000" u="none" cap="none" strike="noStrike">
              <a:solidFill>
                <a:schemeClr val="lt1"/>
              </a:solidFill>
              <a:latin typeface="Open Sans"/>
              <a:ea typeface="Open Sans"/>
              <a:cs typeface="Open Sans"/>
              <a:sym typeface="Ope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8"/>
          <p:cNvSpPr txBox="1"/>
          <p:nvPr/>
        </p:nvSpPr>
        <p:spPr>
          <a:xfrm>
            <a:off x="1909500" y="2833950"/>
            <a:ext cx="14469000" cy="6055500"/>
          </a:xfrm>
          <a:prstGeom prst="rect">
            <a:avLst/>
          </a:prstGeom>
          <a:noFill/>
          <a:ln>
            <a:noFill/>
          </a:ln>
        </p:spPr>
        <p:txBody>
          <a:bodyPr anchorCtr="0" anchor="ctr" bIns="0" lIns="0" spcFirstLastPara="1" rIns="0" wrap="square" tIns="0">
            <a:noAutofit/>
          </a:bodyPr>
          <a:lstStyle/>
          <a:p>
            <a:pPr indent="-393700" lvl="0" marL="457200" marR="0" rtl="0" algn="just">
              <a:lnSpc>
                <a:spcPct val="150000"/>
              </a:lnSpc>
              <a:spcBef>
                <a:spcPts val="1200"/>
              </a:spcBef>
              <a:spcAft>
                <a:spcPts val="0"/>
              </a:spcAft>
              <a:buClr>
                <a:srgbClr val="000000"/>
              </a:buClr>
              <a:buSzPts val="2600"/>
              <a:buFont typeface="Open Sans"/>
              <a:buChar char="●"/>
            </a:pPr>
            <a:r>
              <a:rPr b="1" i="0" lang="en-US" sz="2600" u="none" cap="none" strike="noStrike">
                <a:solidFill>
                  <a:srgbClr val="131416"/>
                </a:solidFill>
                <a:latin typeface="Open Sans"/>
                <a:ea typeface="Open Sans"/>
                <a:cs typeface="Open Sans"/>
                <a:sym typeface="Open Sans"/>
              </a:rPr>
              <a:t>JSON (JavaScript Object Notation): </a:t>
            </a:r>
            <a:r>
              <a:rPr b="0" i="0" lang="en-US" sz="2600" u="none" cap="none" strike="noStrike">
                <a:solidFill>
                  <a:srgbClr val="131416"/>
                </a:solidFill>
                <a:latin typeface="Open Sans"/>
                <a:ea typeface="Open Sans"/>
                <a:cs typeface="Open Sans"/>
                <a:sym typeface="Open Sans"/>
              </a:rPr>
              <a:t>Formato de texto ligero para intercambio de datos, derivado de JavaScript, con sintaxis compacta de pares clave-valor. Soporta strings, números, objetos, arreglos, booleanos y null.</a:t>
            </a:r>
            <a:endParaRPr b="0" i="0" sz="2600" u="none" cap="none" strike="noStrike">
              <a:solidFill>
                <a:srgbClr val="131416"/>
              </a:solidFill>
              <a:latin typeface="Open Sans"/>
              <a:ea typeface="Open Sans"/>
              <a:cs typeface="Open Sans"/>
              <a:sym typeface="Open Sans"/>
            </a:endParaRPr>
          </a:p>
          <a:p>
            <a:pPr indent="-393700" lvl="0" marL="457200" marR="0" rtl="0" algn="just">
              <a:lnSpc>
                <a:spcPct val="150000"/>
              </a:lnSpc>
              <a:spcBef>
                <a:spcPts val="1000"/>
              </a:spcBef>
              <a:spcAft>
                <a:spcPts val="0"/>
              </a:spcAft>
              <a:buClr>
                <a:srgbClr val="131416"/>
              </a:buClr>
              <a:buSzPts val="2600"/>
              <a:buFont typeface="Open Sans"/>
              <a:buChar char="●"/>
            </a:pPr>
            <a:r>
              <a:rPr b="1" i="0" lang="en-US" sz="2600" u="none" cap="none" strike="noStrike">
                <a:solidFill>
                  <a:srgbClr val="131416"/>
                </a:solidFill>
                <a:latin typeface="Open Sans"/>
                <a:ea typeface="Open Sans"/>
                <a:cs typeface="Open Sans"/>
                <a:sym typeface="Open Sans"/>
              </a:rPr>
              <a:t>Internet y WWW: </a:t>
            </a:r>
            <a:r>
              <a:rPr b="0" i="0" lang="en-US" sz="2600" u="none" cap="none" strike="noStrike">
                <a:solidFill>
                  <a:srgbClr val="131416"/>
                </a:solidFill>
                <a:latin typeface="Open Sans"/>
                <a:ea typeface="Open Sans"/>
                <a:cs typeface="Open Sans"/>
                <a:sym typeface="Open Sans"/>
              </a:rPr>
              <a:t>Internet es una red descentralizada con protocolos TCP/IP; la World Wide Web (WWW) es un servicio de consulta de hipertextos que utiliza Internet como medio.</a:t>
            </a:r>
            <a:endParaRPr b="0" i="0" sz="2600" u="none" cap="none" strike="noStrike">
              <a:solidFill>
                <a:srgbClr val="131416"/>
              </a:solidFill>
              <a:latin typeface="Open Sans"/>
              <a:ea typeface="Open Sans"/>
              <a:cs typeface="Open Sans"/>
              <a:sym typeface="Open Sans"/>
            </a:endParaRPr>
          </a:p>
          <a:p>
            <a:pPr indent="-393700" lvl="0" marL="457200" marR="0" rtl="0" algn="just">
              <a:lnSpc>
                <a:spcPct val="150000"/>
              </a:lnSpc>
              <a:spcBef>
                <a:spcPts val="1200"/>
              </a:spcBef>
              <a:spcAft>
                <a:spcPts val="1000"/>
              </a:spcAft>
              <a:buClr>
                <a:srgbClr val="131416"/>
              </a:buClr>
              <a:buSzPts val="2600"/>
              <a:buFont typeface="Open Sans"/>
              <a:buChar char="●"/>
            </a:pPr>
            <a:r>
              <a:rPr b="1" i="0" lang="en-US" sz="2600" u="none" cap="none" strike="noStrike">
                <a:solidFill>
                  <a:srgbClr val="131416"/>
                </a:solidFill>
                <a:latin typeface="Open Sans"/>
                <a:ea typeface="Open Sans"/>
                <a:cs typeface="Open Sans"/>
                <a:sym typeface="Open Sans"/>
              </a:rPr>
              <a:t>HTTP(Hypertext Transfer Protocol): </a:t>
            </a:r>
            <a:r>
              <a:rPr b="0" i="0" lang="en-US" sz="2600" u="none" cap="none" strike="noStrike">
                <a:solidFill>
                  <a:srgbClr val="131416"/>
                </a:solidFill>
                <a:latin typeface="Open Sans"/>
                <a:ea typeface="Open Sans"/>
                <a:cs typeface="Open Sans"/>
                <a:sym typeface="Open Sans"/>
              </a:rPr>
              <a:t>Protocolo de comunicación cliente-servidor para transmitir documentos hipermedia (como HTML). HTTP es sin estado, no guarda datos entre peticiones.</a:t>
            </a:r>
            <a:endParaRPr b="0" i="0" sz="2600" u="none" cap="none" strike="noStrike">
              <a:solidFill>
                <a:srgbClr val="131416"/>
              </a:solidFill>
              <a:latin typeface="Open Sans"/>
              <a:ea typeface="Open Sans"/>
              <a:cs typeface="Open Sans"/>
              <a:sym typeface="Open Sans"/>
            </a:endParaRPr>
          </a:p>
        </p:txBody>
      </p:sp>
      <p:sp>
        <p:nvSpPr>
          <p:cNvPr id="462" name="Google Shape;462;p38"/>
          <p:cNvSpPr txBox="1"/>
          <p:nvPr>
            <p:ph type="title"/>
          </p:nvPr>
        </p:nvSpPr>
        <p:spPr>
          <a:xfrm>
            <a:off x="0" y="32700"/>
            <a:ext cx="182880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CONCEPTOS CLAVE APRENDIDOS</a:t>
            </a:r>
            <a:endParaRPr b="1" sz="6000">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6" name="Shape 466"/>
        <p:cNvGrpSpPr/>
        <p:nvPr/>
      </p:nvGrpSpPr>
      <p:grpSpPr>
        <a:xfrm>
          <a:off x="0" y="0"/>
          <a:ext cx="0" cy="0"/>
          <a:chOff x="0" y="0"/>
          <a:chExt cx="0" cy="0"/>
        </a:xfrm>
      </p:grpSpPr>
      <p:sp>
        <p:nvSpPr>
          <p:cNvPr id="467" name="Google Shape;467;p39"/>
          <p:cNvSpPr txBox="1"/>
          <p:nvPr/>
        </p:nvSpPr>
        <p:spPr>
          <a:xfrm>
            <a:off x="1722300" y="2957250"/>
            <a:ext cx="14843400" cy="4372500"/>
          </a:xfrm>
          <a:prstGeom prst="rect">
            <a:avLst/>
          </a:prstGeom>
          <a:noFill/>
          <a:ln>
            <a:noFill/>
          </a:ln>
        </p:spPr>
        <p:txBody>
          <a:bodyPr anchorCtr="0" anchor="ctr" bIns="0" lIns="0" spcFirstLastPara="1" rIns="0" wrap="square" tIns="0">
            <a:noAutofit/>
          </a:bodyPr>
          <a:lstStyle/>
          <a:p>
            <a:pPr indent="0" lvl="0" marL="0" marR="0" rtl="0" algn="ctr">
              <a:lnSpc>
                <a:spcPct val="140019"/>
              </a:lnSpc>
              <a:spcBef>
                <a:spcPts val="0"/>
              </a:spcBef>
              <a:spcAft>
                <a:spcPts val="0"/>
              </a:spcAft>
              <a:buClr>
                <a:srgbClr val="000000"/>
              </a:buClr>
              <a:buSzPts val="3151"/>
              <a:buFont typeface="Arial"/>
              <a:buNone/>
            </a:pPr>
            <a:r>
              <a:rPr b="1" i="0" lang="en-US" sz="6000" u="none" cap="none" strike="noStrike">
                <a:solidFill>
                  <a:schemeClr val="lt1"/>
                </a:solidFill>
                <a:latin typeface="Open Sans"/>
                <a:ea typeface="Open Sans"/>
                <a:cs typeface="Open Sans"/>
                <a:sym typeface="Open Sans"/>
              </a:rPr>
              <a:t>Ser empático es ver el mundo a través de los ojos del otro y no ver nuestro mundo reflejado en sus ojos</a:t>
            </a:r>
            <a:endParaRPr b="1" i="0" sz="6000" u="none" cap="none" strike="noStrike">
              <a:solidFill>
                <a:schemeClr val="lt1"/>
              </a:solidFill>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0"/>
          <p:cNvSpPr txBox="1"/>
          <p:nvPr/>
        </p:nvSpPr>
        <p:spPr>
          <a:xfrm>
            <a:off x="1379400" y="3765175"/>
            <a:ext cx="15529200" cy="4362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000"/>
              </a:spcBef>
              <a:spcAft>
                <a:spcPts val="0"/>
              </a:spcAft>
              <a:buClr>
                <a:srgbClr val="000000"/>
              </a:buClr>
              <a:buSzPts val="2600"/>
              <a:buFont typeface="Arial"/>
              <a:buNone/>
            </a:pPr>
            <a:r>
              <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50000"/>
              </a:lnSpc>
              <a:spcBef>
                <a:spcPts val="1000"/>
              </a:spcBef>
              <a:spcAft>
                <a:spcPts val="0"/>
              </a:spcAft>
              <a:buClr>
                <a:srgbClr val="000000"/>
              </a:buClr>
              <a:buSzPts val="2600"/>
              <a:buFont typeface="Open Sans"/>
              <a:buChar char="●"/>
            </a:pPr>
            <a:r>
              <a:rPr b="0" i="0" lang="en-US" sz="2600" u="none" cap="none" strike="noStrike">
                <a:solidFill>
                  <a:srgbClr val="000000"/>
                </a:solidFill>
                <a:latin typeface="Open Sans"/>
                <a:ea typeface="Open Sans"/>
                <a:cs typeface="Open Sans"/>
                <a:sym typeface="Open Sans"/>
              </a:rPr>
              <a:t>Códigos de estado de respuesta HTTP - HTTP | MDN. (2025, 21 marzo). MDN Web Docs. </a:t>
            </a:r>
            <a:r>
              <a:rPr b="0" i="0" lang="en-US" sz="2600" u="sng" cap="none" strike="noStrike">
                <a:solidFill>
                  <a:schemeClr val="hlink"/>
                </a:solidFill>
                <a:latin typeface="Open Sans"/>
                <a:ea typeface="Open Sans"/>
                <a:cs typeface="Open Sans"/>
                <a:sym typeface="Open Sans"/>
                <a:hlinkClick r:id="rId3"/>
              </a:rPr>
              <a:t>https://developer.mozilla.org/es/docs/Web/HTTP/Reference/Status</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50000"/>
              </a:lnSpc>
              <a:spcBef>
                <a:spcPts val="1000"/>
              </a:spcBef>
              <a:spcAft>
                <a:spcPts val="0"/>
              </a:spcAft>
              <a:buClr>
                <a:srgbClr val="000000"/>
              </a:buClr>
              <a:buSzPts val="2600"/>
              <a:buFont typeface="Open Sans"/>
              <a:buChar char="●"/>
            </a:pPr>
            <a:r>
              <a:rPr b="0" i="0" lang="en-US" sz="2600" u="none" cap="none" strike="noStrike">
                <a:solidFill>
                  <a:srgbClr val="000000"/>
                </a:solidFill>
                <a:latin typeface="Open Sans"/>
                <a:ea typeface="Open Sans"/>
                <a:cs typeface="Open Sans"/>
                <a:sym typeface="Open Sans"/>
              </a:rPr>
              <a:t>HTTP | MDN. (2025, 27 marzo). MDN Web Docs. </a:t>
            </a:r>
            <a:r>
              <a:rPr b="0" i="0" lang="en-US" sz="2600" u="sng" cap="none" strike="noStrike">
                <a:solidFill>
                  <a:schemeClr val="hlink"/>
                </a:solidFill>
                <a:latin typeface="Open Sans"/>
                <a:ea typeface="Open Sans"/>
                <a:cs typeface="Open Sans"/>
                <a:sym typeface="Open Sans"/>
                <a:hlinkClick r:id="rId4"/>
              </a:rPr>
              <a:t>https://developer.mozilla.org/es/docs/Web/HTTP</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50000"/>
              </a:lnSpc>
              <a:spcBef>
                <a:spcPts val="1000"/>
              </a:spcBef>
              <a:spcAft>
                <a:spcPts val="1000"/>
              </a:spcAft>
              <a:buClr>
                <a:srgbClr val="000000"/>
              </a:buClr>
              <a:buSzPts val="2600"/>
              <a:buFont typeface="Open Sans"/>
              <a:buChar char="●"/>
            </a:pPr>
            <a:r>
              <a:rPr b="0" i="0" lang="en-US" sz="2600" u="none" cap="none" strike="noStrike">
                <a:solidFill>
                  <a:srgbClr val="000000"/>
                </a:solidFill>
                <a:latin typeface="Open Sans"/>
                <a:ea typeface="Open Sans"/>
                <a:cs typeface="Open Sans"/>
                <a:sym typeface="Open Sans"/>
              </a:rPr>
              <a:t>GeeksforGeeks. (2025, 8 abril). HTTP full form Hypertext Transfer Protocol. GeeksforGeeks. </a:t>
            </a:r>
            <a:r>
              <a:rPr b="0" i="0" lang="en-US" sz="2600" u="sng" cap="none" strike="noStrike">
                <a:solidFill>
                  <a:schemeClr val="hlink"/>
                </a:solidFill>
                <a:latin typeface="Open Sans"/>
                <a:ea typeface="Open Sans"/>
                <a:cs typeface="Open Sans"/>
                <a:sym typeface="Open Sans"/>
                <a:hlinkClick r:id="rId5"/>
              </a:rPr>
              <a:t>https://www.geeksforgeeks.org/http-full-form/</a:t>
            </a:r>
            <a:endParaRPr b="0" i="0" sz="2600" u="none" cap="none" strike="noStrike">
              <a:solidFill>
                <a:srgbClr val="131416"/>
              </a:solidFill>
              <a:latin typeface="Open Sans"/>
              <a:ea typeface="Open Sans"/>
              <a:cs typeface="Open Sans"/>
              <a:sym typeface="Open Sans"/>
            </a:endParaRPr>
          </a:p>
        </p:txBody>
      </p:sp>
      <p:sp>
        <p:nvSpPr>
          <p:cNvPr id="473" name="Google Shape;473;p40"/>
          <p:cNvSpPr txBox="1"/>
          <p:nvPr>
            <p:ph type="title"/>
          </p:nvPr>
        </p:nvSpPr>
        <p:spPr>
          <a:xfrm>
            <a:off x="0" y="32700"/>
            <a:ext cx="182880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REFERENCIAS</a:t>
            </a:r>
            <a:endParaRPr b="1" sz="6000">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1"/>
          <p:cNvSpPr txBox="1"/>
          <p:nvPr/>
        </p:nvSpPr>
        <p:spPr>
          <a:xfrm>
            <a:off x="3591300" y="4120599"/>
            <a:ext cx="11105400" cy="9234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000000"/>
              </a:buClr>
              <a:buSzPts val="6099"/>
              <a:buFont typeface="Arial"/>
              <a:buNone/>
            </a:pPr>
            <a:r>
              <a:rPr b="1" i="0" lang="en-US" sz="6000" u="none" cap="none" strike="noStrike">
                <a:solidFill>
                  <a:srgbClr val="131416"/>
                </a:solidFill>
                <a:latin typeface="Open Sans"/>
                <a:ea typeface="Open Sans"/>
                <a:cs typeface="Open Sans"/>
                <a:sym typeface="Open Sans"/>
              </a:rPr>
              <a:t>¡GRACIAS POR SU ATENCIÓN!</a:t>
            </a:r>
            <a:endParaRPr b="1" i="0" sz="6000" u="none" cap="none" strike="noStrike">
              <a:solidFill>
                <a:srgbClr val="131416"/>
              </a:solidFill>
              <a:latin typeface="Open Sans"/>
              <a:ea typeface="Open Sans"/>
              <a:cs typeface="Open Sans"/>
              <a:sym typeface="Open Sans"/>
            </a:endParaRPr>
          </a:p>
        </p:txBody>
      </p:sp>
      <p:sp>
        <p:nvSpPr>
          <p:cNvPr id="479" name="Google Shape;479;p41"/>
          <p:cNvSpPr txBox="1"/>
          <p:nvPr/>
        </p:nvSpPr>
        <p:spPr>
          <a:xfrm>
            <a:off x="5791505" y="5396902"/>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Open Sans"/>
                <a:ea typeface="Open Sans"/>
                <a:cs typeface="Open Sans"/>
                <a:sym typeface="Open Sans"/>
              </a:rPr>
              <a:t>DUDAS</a:t>
            </a:r>
            <a:endParaRPr b="0" i="0" sz="1400" u="none" cap="none" strike="noStrike">
              <a:solidFill>
                <a:srgbClr val="000000"/>
              </a:solidFill>
              <a:latin typeface="Open Sans"/>
              <a:ea typeface="Open Sans"/>
              <a:cs typeface="Open Sans"/>
              <a:sym typeface="Open Sans"/>
            </a:endParaRPr>
          </a:p>
        </p:txBody>
      </p:sp>
      <p:sp>
        <p:nvSpPr>
          <p:cNvPr id="480" name="Google Shape;480;p41"/>
          <p:cNvSpPr/>
          <p:nvPr/>
        </p:nvSpPr>
        <p:spPr>
          <a:xfrm>
            <a:off x="14470701" y="107095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481" name="Google Shape;481;p41"/>
          <p:cNvSpPr txBox="1"/>
          <p:nvPr/>
        </p:nvSpPr>
        <p:spPr>
          <a:xfrm>
            <a:off x="2411098" y="7899735"/>
            <a:ext cx="13465800" cy="763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Open Sans"/>
                <a:ea typeface="Open Sans"/>
                <a:cs typeface="Open Sans"/>
                <a:sym typeface="Open Sans"/>
              </a:rPr>
              <a:t>RECUERDA QUE TENEMOS NUESTRO FORO SEMANAL DONDE PUEDES CONSULTAR CUALQUIER DUDA QUE TE SURJA EN LA SEMANA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