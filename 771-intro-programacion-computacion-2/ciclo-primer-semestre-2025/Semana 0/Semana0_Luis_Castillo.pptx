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Play"/>
      <p:regular r:id="rId16"/>
      <p:bold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rKySCVFlgQz4tY1OxLbWca2aPH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30T12:05:38.411">
    <p:pos x="5910" y="564"/>
    <p:text>Hola, gracias por el avance, Favor indicar el link o las preguntas a realizar. Para que todos realicen la misma evaluacion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f9AkoM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27154a9f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627154a9f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27154a9f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627154a9fe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708863" y="2971033"/>
            <a:ext cx="16870275" cy="3235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29"/>
              <a:buFont typeface="Arial"/>
              <a:buNone/>
            </a:pPr>
            <a:r>
              <a:rPr b="1" i="0" lang="en-US" sz="9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la Programación y Computación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2"/>
              <a:buFont typeface="Arial"/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1832446" y="616001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493262" y="7308562"/>
            <a:ext cx="9061887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Escuela de Ingeniería en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96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t/>
            </a:r>
            <a:endParaRPr b="0" i="0" sz="28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96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t/>
            </a:r>
            <a:endParaRPr b="0" i="0" sz="28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803986" y="4285689"/>
            <a:ext cx="8083225" cy="5548018"/>
            <a:chOff x="0" y="-66675"/>
            <a:chExt cx="2128915" cy="1461206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2128915" cy="1394531"/>
            </a:xfrm>
            <a:custGeom>
              <a:rect b="b" l="l" r="r" t="t"/>
              <a:pathLst>
                <a:path extrusionOk="0" h="1394531" w="2128915">
                  <a:moveTo>
                    <a:pt x="53635" y="0"/>
                  </a:moveTo>
                  <a:lnTo>
                    <a:pt x="2075280" y="0"/>
                  </a:lnTo>
                  <a:cubicBezTo>
                    <a:pt x="2104902" y="0"/>
                    <a:pt x="2128915" y="24013"/>
                    <a:pt x="2128915" y="53635"/>
                  </a:cubicBezTo>
                  <a:lnTo>
                    <a:pt x="2128915" y="1340896"/>
                  </a:lnTo>
                  <a:cubicBezTo>
                    <a:pt x="2128915" y="1355121"/>
                    <a:pt x="2123264" y="1368763"/>
                    <a:pt x="2113206" y="1378822"/>
                  </a:cubicBezTo>
                  <a:cubicBezTo>
                    <a:pt x="2103147" y="1388881"/>
                    <a:pt x="2089505" y="1394531"/>
                    <a:pt x="2075280" y="1394531"/>
                  </a:cubicBezTo>
                  <a:lnTo>
                    <a:pt x="53635" y="1394531"/>
                  </a:lnTo>
                  <a:cubicBezTo>
                    <a:pt x="39410" y="1394531"/>
                    <a:pt x="25768" y="1388881"/>
                    <a:pt x="15709" y="1378822"/>
                  </a:cubicBezTo>
                  <a:cubicBezTo>
                    <a:pt x="5651" y="1368763"/>
                    <a:pt x="0" y="1355121"/>
                    <a:pt x="0" y="1340896"/>
                  </a:cubicBezTo>
                  <a:lnTo>
                    <a:pt x="0" y="53635"/>
                  </a:lnTo>
                  <a:cubicBezTo>
                    <a:pt x="0" y="39410"/>
                    <a:pt x="5651" y="25768"/>
                    <a:pt x="15709" y="15709"/>
                  </a:cubicBezTo>
                  <a:cubicBezTo>
                    <a:pt x="25768" y="5651"/>
                    <a:pt x="39410" y="0"/>
                    <a:pt x="53635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-66675"/>
              <a:ext cx="2128915" cy="1461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362522" y="775543"/>
            <a:ext cx="7524688" cy="2984640"/>
            <a:chOff x="0" y="-66675"/>
            <a:chExt cx="1981811" cy="78607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981811" cy="719403"/>
            </a:xfrm>
            <a:custGeom>
              <a:rect b="b" l="l" r="r" t="t"/>
              <a:pathLst>
                <a:path extrusionOk="0" h="719403" w="1981811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1828069" y="514350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1828069" y="612750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828069" y="711574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828069" y="810398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1828069" y="89832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10019062" y="3760183"/>
            <a:ext cx="7240238" cy="4073841"/>
          </a:xfrm>
          <a:custGeom>
            <a:rect b="b" l="l" r="r" t="t"/>
            <a:pathLst>
              <a:path extrusionOk="0" h="4073841" w="7240238">
                <a:moveTo>
                  <a:pt x="0" y="0"/>
                </a:moveTo>
                <a:lnTo>
                  <a:pt x="7240238" y="0"/>
                </a:lnTo>
                <a:lnTo>
                  <a:pt x="7240238" y="4073841"/>
                </a:lnTo>
                <a:lnTo>
                  <a:pt x="0" y="4073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2670630" y="5155022"/>
            <a:ext cx="245423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 presento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2054748" y="707903"/>
            <a:ext cx="6832578" cy="3120472"/>
            <a:chOff x="0" y="-95250"/>
            <a:chExt cx="9110103" cy="4160630"/>
          </a:xfrm>
        </p:grpSpPr>
        <p:sp>
          <p:nvSpPr>
            <p:cNvPr id="109" name="Google Shape;109;p2"/>
            <p:cNvSpPr txBox="1"/>
            <p:nvPr/>
          </p:nvSpPr>
          <p:spPr>
            <a:xfrm>
              <a:off x="3" y="986780"/>
              <a:ext cx="91101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FEFDFD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2670630" y="6153720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670630" y="7110077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 de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670630" y="8130208"/>
            <a:ext cx="583235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Evaluación de Conocimientos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670630" y="9009472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Despedida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3"/>
          <p:cNvGrpSpPr/>
          <p:nvPr/>
        </p:nvGrpSpPr>
        <p:grpSpPr>
          <a:xfrm>
            <a:off x="6700921" y="1733123"/>
            <a:ext cx="10876417" cy="7721111"/>
            <a:chOff x="0" y="-66675"/>
            <a:chExt cx="2864571" cy="2033544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803986" y="1733123"/>
            <a:ext cx="5264882" cy="7721111"/>
            <a:chOff x="0" y="-66675"/>
            <a:chExt cx="1386636" cy="2033544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-66675"/>
              <a:ext cx="1386636" cy="20335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3"/>
          <p:cNvSpPr/>
          <p:nvPr/>
        </p:nvSpPr>
        <p:spPr>
          <a:xfrm>
            <a:off x="1363845" y="5143500"/>
            <a:ext cx="3995023" cy="3995023"/>
          </a:xfrm>
          <a:custGeom>
            <a:rect b="b" l="l" r="r" t="t"/>
            <a:pathLst>
              <a:path extrusionOk="0" h="3995023" w="3995023">
                <a:moveTo>
                  <a:pt x="0" y="0"/>
                </a:moveTo>
                <a:lnTo>
                  <a:pt x="3995023" y="0"/>
                </a:lnTo>
                <a:lnTo>
                  <a:pt x="3995023" y="3995023"/>
                </a:lnTo>
                <a:lnTo>
                  <a:pt x="0" y="3995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3"/>
          <p:cNvSpPr txBox="1"/>
          <p:nvPr/>
        </p:nvSpPr>
        <p:spPr>
          <a:xfrm>
            <a:off x="1363845" y="2439110"/>
            <a:ext cx="3472079" cy="1694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4"/>
              <a:buFont typeface="Arial"/>
              <a:buNone/>
            </a:pPr>
            <a:r>
              <a:rPr b="0" i="0" lang="en-US" sz="49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3"/>
          <p:cNvGrpSpPr/>
          <p:nvPr/>
        </p:nvGrpSpPr>
        <p:grpSpPr>
          <a:xfrm>
            <a:off x="6700921" y="1733121"/>
            <a:ext cx="10876979" cy="7721163"/>
            <a:chOff x="0" y="-66675"/>
            <a:chExt cx="2864700" cy="2033544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0" y="-66675"/>
              <a:ext cx="28647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3"/>
          <p:cNvSpPr txBox="1"/>
          <p:nvPr/>
        </p:nvSpPr>
        <p:spPr>
          <a:xfrm>
            <a:off x="7481463" y="1733128"/>
            <a:ext cx="93159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77"/>
              <a:buFont typeface="Arial"/>
              <a:buNone/>
            </a:pPr>
            <a:r>
              <a:rPr b="1" lang="en-US" sz="5377">
                <a:solidFill>
                  <a:srgbClr val="FFFFFF"/>
                </a:solidFill>
              </a:rPr>
              <a:t>Luis Antonio Castillo Javier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7249050" y="2672925"/>
            <a:ext cx="9455700" cy="7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FFFFF"/>
                </a:solidFill>
              </a:rPr>
              <a:t>¿Quién soy?</a:t>
            </a:r>
            <a:endParaRPr b="1" sz="41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</a:rPr>
              <a:t>Formación académica.</a:t>
            </a:r>
            <a:endParaRPr b="1" sz="2700">
              <a:solidFill>
                <a:srgbClr val="FFFFFF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Actualmente soy estudiante del noveno semestre de la carrera de Ingeniería en Ciencias y Sistemas.</a:t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</a:rPr>
              <a:t>Experiencia docente y profesional.</a:t>
            </a:r>
            <a:endParaRPr b="1" sz="2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lang="en-US" sz="2700">
                <a:solidFill>
                  <a:srgbClr val="FFFFFF"/>
                </a:solidFill>
              </a:rPr>
              <a:t>He tenido la oportunidad de impartir conferencias y charlas en distintos cursos de ingeniería, compartiendo conocimientos y experiencias con estudiantes de diferentes niveles.</a:t>
            </a:r>
            <a:endParaRPr sz="27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3627154a9fe_0_31"/>
          <p:cNvGrpSpPr/>
          <p:nvPr/>
        </p:nvGrpSpPr>
        <p:grpSpPr>
          <a:xfrm>
            <a:off x="6700921" y="1733121"/>
            <a:ext cx="10876979" cy="7721163"/>
            <a:chOff x="0" y="-66675"/>
            <a:chExt cx="2864700" cy="2033544"/>
          </a:xfrm>
        </p:grpSpPr>
        <p:sp>
          <p:nvSpPr>
            <p:cNvPr id="137" name="Google Shape;137;g3627154a9fe_0_31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627154a9fe_0_31"/>
            <p:cNvSpPr txBox="1"/>
            <p:nvPr/>
          </p:nvSpPr>
          <p:spPr>
            <a:xfrm>
              <a:off x="0" y="-66675"/>
              <a:ext cx="28647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g3627154a9fe_0_31"/>
          <p:cNvGrpSpPr/>
          <p:nvPr/>
        </p:nvGrpSpPr>
        <p:grpSpPr>
          <a:xfrm>
            <a:off x="803986" y="1733121"/>
            <a:ext cx="5264918" cy="7721163"/>
            <a:chOff x="0" y="-66675"/>
            <a:chExt cx="1386636" cy="2033544"/>
          </a:xfrm>
        </p:grpSpPr>
        <p:sp>
          <p:nvSpPr>
            <p:cNvPr id="140" name="Google Shape;140;g3627154a9fe_0_31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627154a9fe_0_31"/>
            <p:cNvSpPr txBox="1"/>
            <p:nvPr/>
          </p:nvSpPr>
          <p:spPr>
            <a:xfrm>
              <a:off x="0" y="-66675"/>
              <a:ext cx="13866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g3627154a9fe_0_31"/>
          <p:cNvSpPr/>
          <p:nvPr/>
        </p:nvSpPr>
        <p:spPr>
          <a:xfrm>
            <a:off x="1363845" y="5143500"/>
            <a:ext cx="3995023" cy="3995023"/>
          </a:xfrm>
          <a:custGeom>
            <a:rect b="b" l="l" r="r" t="t"/>
            <a:pathLst>
              <a:path extrusionOk="0" h="3995023" w="3995023">
                <a:moveTo>
                  <a:pt x="0" y="0"/>
                </a:moveTo>
                <a:lnTo>
                  <a:pt x="3995023" y="0"/>
                </a:lnTo>
                <a:lnTo>
                  <a:pt x="3995023" y="3995023"/>
                </a:lnTo>
                <a:lnTo>
                  <a:pt x="0" y="3995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g3627154a9fe_0_31"/>
          <p:cNvSpPr txBox="1"/>
          <p:nvPr/>
        </p:nvSpPr>
        <p:spPr>
          <a:xfrm>
            <a:off x="1363845" y="2439110"/>
            <a:ext cx="34722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4"/>
              <a:buFont typeface="Arial"/>
              <a:buNone/>
            </a:pPr>
            <a:r>
              <a:rPr b="0" i="0" lang="en-US" sz="49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g3627154a9fe_0_31"/>
          <p:cNvGrpSpPr/>
          <p:nvPr/>
        </p:nvGrpSpPr>
        <p:grpSpPr>
          <a:xfrm>
            <a:off x="6700921" y="1733121"/>
            <a:ext cx="10876979" cy="7721163"/>
            <a:chOff x="0" y="-66675"/>
            <a:chExt cx="2864700" cy="2033544"/>
          </a:xfrm>
        </p:grpSpPr>
        <p:sp>
          <p:nvSpPr>
            <p:cNvPr id="145" name="Google Shape;145;g3627154a9fe_0_31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627154a9fe_0_31"/>
            <p:cNvSpPr txBox="1"/>
            <p:nvPr/>
          </p:nvSpPr>
          <p:spPr>
            <a:xfrm>
              <a:off x="0" y="-66675"/>
              <a:ext cx="28647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g3627154a9fe_0_31"/>
          <p:cNvSpPr txBox="1"/>
          <p:nvPr/>
        </p:nvSpPr>
        <p:spPr>
          <a:xfrm>
            <a:off x="7481450" y="1320078"/>
            <a:ext cx="93159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77"/>
              <a:buFont typeface="Arial"/>
              <a:buNone/>
            </a:pPr>
            <a:r>
              <a:rPr b="1" lang="en-US" sz="5377">
                <a:solidFill>
                  <a:srgbClr val="FFFFFF"/>
                </a:solidFill>
              </a:rPr>
              <a:t>Luis Antonio Castillo Javier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627154a9fe_0_31"/>
          <p:cNvSpPr txBox="1"/>
          <p:nvPr/>
        </p:nvSpPr>
        <p:spPr>
          <a:xfrm>
            <a:off x="7249050" y="2147775"/>
            <a:ext cx="9455700" cy="88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FFFFF"/>
                </a:solidFill>
              </a:rPr>
              <a:t>¿Quién soy?</a:t>
            </a:r>
            <a:endParaRPr b="1" sz="41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	Rol como auxiliar del curso</a:t>
            </a:r>
            <a:endParaRPr b="1" sz="3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Resolver dudas y reforzar los temas abordados en clase.</a:t>
            </a:r>
            <a:br>
              <a:rPr b="1" lang="en-US" sz="2700">
                <a:solidFill>
                  <a:srgbClr val="FFFFFF"/>
                </a:solidFill>
              </a:rPr>
            </a:br>
            <a:endParaRPr b="1" sz="27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Guiar en la resolución de prácticas y proyectos.</a:t>
            </a:r>
            <a:br>
              <a:rPr b="1" lang="en-US" sz="2700">
                <a:solidFill>
                  <a:srgbClr val="FFFFFF"/>
                </a:solidFill>
              </a:rPr>
            </a:br>
            <a:endParaRPr b="1" sz="27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Acompañar el proceso de aprendizaje práctico mediante laboratorios y asesorías.</a:t>
            </a:r>
            <a:br>
              <a:rPr b="1" lang="en-US" sz="2700">
                <a:solidFill>
                  <a:srgbClr val="FFFFFF"/>
                </a:solidFill>
              </a:rPr>
            </a:br>
            <a:endParaRPr b="1" sz="27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Fomentar el pensamiento lógico y la comprensión de los conceptos fundamentales de la programación.</a:t>
            </a:r>
            <a:endParaRPr b="1" sz="2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g3627154a9fe_0_47"/>
          <p:cNvGrpSpPr/>
          <p:nvPr/>
        </p:nvGrpSpPr>
        <p:grpSpPr>
          <a:xfrm>
            <a:off x="6700921" y="1733121"/>
            <a:ext cx="10876979" cy="7721163"/>
            <a:chOff x="0" y="-66675"/>
            <a:chExt cx="2864700" cy="2033544"/>
          </a:xfrm>
        </p:grpSpPr>
        <p:sp>
          <p:nvSpPr>
            <p:cNvPr id="154" name="Google Shape;154;g3627154a9fe_0_47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3627154a9fe_0_47"/>
            <p:cNvSpPr txBox="1"/>
            <p:nvPr/>
          </p:nvSpPr>
          <p:spPr>
            <a:xfrm>
              <a:off x="0" y="-66675"/>
              <a:ext cx="28647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g3627154a9fe_0_47"/>
          <p:cNvGrpSpPr/>
          <p:nvPr/>
        </p:nvGrpSpPr>
        <p:grpSpPr>
          <a:xfrm>
            <a:off x="803986" y="1733121"/>
            <a:ext cx="5264918" cy="7721163"/>
            <a:chOff x="0" y="-66675"/>
            <a:chExt cx="1386636" cy="2033544"/>
          </a:xfrm>
        </p:grpSpPr>
        <p:sp>
          <p:nvSpPr>
            <p:cNvPr id="157" name="Google Shape;157;g3627154a9fe_0_47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627154a9fe_0_47"/>
            <p:cNvSpPr txBox="1"/>
            <p:nvPr/>
          </p:nvSpPr>
          <p:spPr>
            <a:xfrm>
              <a:off x="0" y="-66675"/>
              <a:ext cx="13866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g3627154a9fe_0_47"/>
          <p:cNvSpPr/>
          <p:nvPr/>
        </p:nvSpPr>
        <p:spPr>
          <a:xfrm>
            <a:off x="1363845" y="5143500"/>
            <a:ext cx="3995023" cy="3995023"/>
          </a:xfrm>
          <a:custGeom>
            <a:rect b="b" l="l" r="r" t="t"/>
            <a:pathLst>
              <a:path extrusionOk="0" h="3995023" w="3995023">
                <a:moveTo>
                  <a:pt x="0" y="0"/>
                </a:moveTo>
                <a:lnTo>
                  <a:pt x="3995023" y="0"/>
                </a:lnTo>
                <a:lnTo>
                  <a:pt x="3995023" y="3995023"/>
                </a:lnTo>
                <a:lnTo>
                  <a:pt x="0" y="3995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g3627154a9fe_0_47"/>
          <p:cNvSpPr txBox="1"/>
          <p:nvPr/>
        </p:nvSpPr>
        <p:spPr>
          <a:xfrm>
            <a:off x="1363845" y="2439110"/>
            <a:ext cx="34722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4"/>
              <a:buFont typeface="Arial"/>
              <a:buNone/>
            </a:pPr>
            <a:r>
              <a:rPr b="0" i="0" lang="en-US" sz="49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g3627154a9fe_0_47"/>
          <p:cNvGrpSpPr/>
          <p:nvPr/>
        </p:nvGrpSpPr>
        <p:grpSpPr>
          <a:xfrm>
            <a:off x="6700921" y="1733121"/>
            <a:ext cx="10876979" cy="7721163"/>
            <a:chOff x="0" y="-66675"/>
            <a:chExt cx="2864700" cy="2033544"/>
          </a:xfrm>
        </p:grpSpPr>
        <p:sp>
          <p:nvSpPr>
            <p:cNvPr id="162" name="Google Shape;162;g3627154a9fe_0_47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627154a9fe_0_47"/>
            <p:cNvSpPr txBox="1"/>
            <p:nvPr/>
          </p:nvSpPr>
          <p:spPr>
            <a:xfrm>
              <a:off x="0" y="-66675"/>
              <a:ext cx="28647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g3627154a9fe_0_47"/>
          <p:cNvSpPr txBox="1"/>
          <p:nvPr/>
        </p:nvSpPr>
        <p:spPr>
          <a:xfrm>
            <a:off x="7481463" y="905428"/>
            <a:ext cx="93159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77"/>
              <a:buFont typeface="Arial"/>
              <a:buNone/>
            </a:pPr>
            <a:r>
              <a:rPr b="1" lang="en-US" sz="5377">
                <a:solidFill>
                  <a:srgbClr val="FFFFFF"/>
                </a:solidFill>
              </a:rPr>
              <a:t>Luis Antonio Castillo Javier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627154a9fe_0_47"/>
          <p:cNvSpPr txBox="1"/>
          <p:nvPr/>
        </p:nvSpPr>
        <p:spPr>
          <a:xfrm>
            <a:off x="7229375" y="1733125"/>
            <a:ext cx="9455700" cy="9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FFFFF"/>
                </a:solidFill>
              </a:rPr>
              <a:t>¿Quién soy?</a:t>
            </a:r>
            <a:endParaRPr b="1" sz="41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	Expectativas sobre la dinámica del curso</a:t>
            </a:r>
            <a:endParaRPr b="1" sz="3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Que todos podamos aprender juntos, incluyendo yo como auxiliar, ya que siempre hay algo nuevo por descubrir.</a:t>
            </a:r>
            <a:br>
              <a:rPr b="1" lang="en-US" sz="2700">
                <a:solidFill>
                  <a:srgbClr val="FFFFFF"/>
                </a:solidFill>
              </a:rPr>
            </a:br>
            <a:endParaRPr b="1" sz="27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Que no haya miedo a expresar dudas, todas las preguntas son importantes y bien recibidas.</a:t>
            </a:r>
            <a:br>
              <a:rPr b="1" lang="en-US" sz="2700">
                <a:solidFill>
                  <a:srgbClr val="FFFFFF"/>
                </a:solidFill>
              </a:rPr>
            </a:br>
            <a:endParaRPr b="1" sz="27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Que al finalizar el curso, cada estudiante se sienta con bases sólidas para afrontar los próximos desafíos de la carrera.</a:t>
            </a:r>
            <a:br>
              <a:rPr b="1" lang="en-US" sz="2700">
                <a:solidFill>
                  <a:srgbClr val="FFFFFF"/>
                </a:solidFill>
              </a:rPr>
            </a:br>
            <a:endParaRPr b="1" sz="2700">
              <a:solidFill>
                <a:srgbClr val="FFFFFF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Char char="●"/>
            </a:pPr>
            <a:r>
              <a:rPr b="1" lang="en-US" sz="2700">
                <a:solidFill>
                  <a:srgbClr val="FFFFFF"/>
                </a:solidFill>
              </a:rPr>
              <a:t>Que la programación se vuelva una herramienta útil y no algo intimidante.</a:t>
            </a:r>
            <a:endParaRPr b="1" sz="2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5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171" name="Google Shape;171;p5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5"/>
          <p:cNvGrpSpPr/>
          <p:nvPr/>
        </p:nvGrpSpPr>
        <p:grpSpPr>
          <a:xfrm>
            <a:off x="819952" y="543116"/>
            <a:ext cx="16648096" cy="2700564"/>
            <a:chOff x="0" y="-38100"/>
            <a:chExt cx="4384684" cy="711260"/>
          </a:xfrm>
        </p:grpSpPr>
        <p:sp>
          <p:nvSpPr>
            <p:cNvPr id="174" name="Google Shape;174;p5"/>
            <p:cNvSpPr/>
            <p:nvPr/>
          </p:nvSpPr>
          <p:spPr>
            <a:xfrm>
              <a:off x="0" y="0"/>
              <a:ext cx="4384684" cy="673160"/>
            </a:xfrm>
            <a:custGeom>
              <a:rect b="b" l="l" r="r" t="t"/>
              <a:pathLst>
                <a:path extrusionOk="0" h="673160" w="4384684">
                  <a:moveTo>
                    <a:pt x="26042" y="0"/>
                  </a:moveTo>
                  <a:lnTo>
                    <a:pt x="4358642" y="0"/>
                  </a:lnTo>
                  <a:cubicBezTo>
                    <a:pt x="4365548" y="0"/>
                    <a:pt x="4372172" y="2744"/>
                    <a:pt x="4377056" y="7627"/>
                  </a:cubicBezTo>
                  <a:cubicBezTo>
                    <a:pt x="4381940" y="12511"/>
                    <a:pt x="4384684" y="19135"/>
                    <a:pt x="4384684" y="26042"/>
                  </a:cubicBezTo>
                  <a:lnTo>
                    <a:pt x="4384684" y="647118"/>
                  </a:lnTo>
                  <a:cubicBezTo>
                    <a:pt x="4384684" y="654024"/>
                    <a:pt x="4381940" y="660648"/>
                    <a:pt x="4377056" y="665532"/>
                  </a:cubicBezTo>
                  <a:cubicBezTo>
                    <a:pt x="4372172" y="670416"/>
                    <a:pt x="4365548" y="673160"/>
                    <a:pt x="4358642" y="673160"/>
                  </a:cubicBezTo>
                  <a:lnTo>
                    <a:pt x="26042" y="673160"/>
                  </a:lnTo>
                  <a:cubicBezTo>
                    <a:pt x="19135" y="673160"/>
                    <a:pt x="12511" y="670416"/>
                    <a:pt x="7627" y="665532"/>
                  </a:cubicBezTo>
                  <a:cubicBezTo>
                    <a:pt x="2744" y="660648"/>
                    <a:pt x="0" y="654024"/>
                    <a:pt x="0" y="647118"/>
                  </a:cubicBezTo>
                  <a:lnTo>
                    <a:pt x="0" y="26042"/>
                  </a:lnTo>
                  <a:cubicBezTo>
                    <a:pt x="0" y="19135"/>
                    <a:pt x="2744" y="12511"/>
                    <a:pt x="7627" y="7627"/>
                  </a:cubicBezTo>
                  <a:cubicBezTo>
                    <a:pt x="12511" y="2744"/>
                    <a:pt x="19135" y="0"/>
                    <a:pt x="26042" y="0"/>
                  </a:cubicBezTo>
                  <a:close/>
                </a:path>
              </a:pathLst>
            </a:custGeom>
            <a:solidFill>
              <a:srgbClr val="FFFFFF">
                <a:alpha val="2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0" y="-38100"/>
              <a:ext cx="4384684" cy="71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5"/>
          <p:cNvSpPr/>
          <p:nvPr/>
        </p:nvSpPr>
        <p:spPr>
          <a:xfrm>
            <a:off x="12807428" y="6535300"/>
            <a:ext cx="4644653" cy="3110185"/>
          </a:xfrm>
          <a:custGeom>
            <a:rect b="b" l="l" r="r" t="t"/>
            <a:pathLst>
              <a:path extrusionOk="0" h="3110185" w="4644653">
                <a:moveTo>
                  <a:pt x="0" y="0"/>
                </a:moveTo>
                <a:lnTo>
                  <a:pt x="4644653" y="0"/>
                </a:lnTo>
                <a:lnTo>
                  <a:pt x="4644653" y="3110185"/>
                </a:lnTo>
                <a:lnTo>
                  <a:pt x="0" y="3110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685" r="-9684" t="0"/>
            </a:stretch>
          </a:blipFill>
          <a:ln>
            <a:noFill/>
          </a:ln>
        </p:spPr>
      </p:sp>
      <p:sp>
        <p:nvSpPr>
          <p:cNvPr id="177" name="Google Shape;177;p5"/>
          <p:cNvSpPr txBox="1"/>
          <p:nvPr/>
        </p:nvSpPr>
        <p:spPr>
          <a:xfrm>
            <a:off x="692575" y="880901"/>
            <a:ext cx="166482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99"/>
              <a:buFont typeface="Arial"/>
              <a:buNone/>
            </a:pPr>
            <a:r>
              <a:rPr b="1" i="0" lang="en-US" sz="7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405200" y="3789800"/>
            <a:ext cx="15854100" cy="4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767">
                <a:solidFill>
                  <a:srgbClr val="FFFFFF"/>
                </a:solidFill>
              </a:rPr>
              <a:t>https://create.kahoot.it/share/conocimientos-previos/5d80261a-a8c7-4d77-8448-354bb27ff00d</a:t>
            </a:r>
            <a:endParaRPr sz="6767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4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67"/>
              <a:buFont typeface="Arial"/>
              <a:buNone/>
            </a:pPr>
            <a:r>
              <a:t/>
            </a:r>
            <a:endParaRPr sz="6767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6"/>
          <p:cNvGrpSpPr/>
          <p:nvPr/>
        </p:nvGrpSpPr>
        <p:grpSpPr>
          <a:xfrm>
            <a:off x="2843541" y="1569742"/>
            <a:ext cx="12600932" cy="7147533"/>
            <a:chOff x="0" y="-66675"/>
            <a:chExt cx="1881944" cy="1067481"/>
          </a:xfrm>
        </p:grpSpPr>
        <p:sp>
          <p:nvSpPr>
            <p:cNvPr id="184" name="Google Shape;184;p6"/>
            <p:cNvSpPr/>
            <p:nvPr/>
          </p:nvSpPr>
          <p:spPr>
            <a:xfrm>
              <a:off x="0" y="0"/>
              <a:ext cx="1881944" cy="1000806"/>
            </a:xfrm>
            <a:custGeom>
              <a:rect b="b" l="l" r="r" t="t"/>
              <a:pathLst>
                <a:path extrusionOk="0" h="1000806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940132"/>
                  </a:lnTo>
                  <a:cubicBezTo>
                    <a:pt x="1881944" y="956223"/>
                    <a:pt x="1875552" y="971656"/>
                    <a:pt x="1864173" y="983035"/>
                  </a:cubicBezTo>
                  <a:cubicBezTo>
                    <a:pt x="1852795" y="994413"/>
                    <a:pt x="1837362" y="1000806"/>
                    <a:pt x="1821270" y="1000806"/>
                  </a:cubicBezTo>
                  <a:lnTo>
                    <a:pt x="60674" y="1000806"/>
                  </a:lnTo>
                  <a:cubicBezTo>
                    <a:pt x="27165" y="1000806"/>
                    <a:pt x="0" y="973641"/>
                    <a:pt x="0" y="940132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161225" lIns="161225" spcFirstLastPara="1" rIns="161225" wrap="square" tIns="16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69"/>
                <a:buFont typeface="Arial"/>
                <a:buNone/>
              </a:pPr>
              <a:r>
                <a:t/>
              </a:r>
              <a:endParaRPr b="0" i="0" sz="24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0" y="-66675"/>
              <a:ext cx="1881944" cy="1067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75" lIns="89575" spcFirstLastPara="1" rIns="89575" wrap="square" tIns="89575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74"/>
                <a:buFont typeface="Arial"/>
                <a:buNone/>
              </a:pPr>
              <a:r>
                <a:t/>
              </a:r>
              <a:endParaRPr b="0" i="0" sz="31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6"/>
          <p:cNvSpPr txBox="1"/>
          <p:nvPr/>
        </p:nvSpPr>
        <p:spPr>
          <a:xfrm>
            <a:off x="5011251" y="2910025"/>
            <a:ext cx="9765000" cy="3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12"/>
              <a:buFont typeface="Arial"/>
              <a:buNone/>
            </a:pPr>
            <a:r>
              <a:rPr b="1" i="0" lang="en-US" sz="1021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 b="0" i="0" sz="5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7"/>
          <p:cNvGrpSpPr/>
          <p:nvPr/>
        </p:nvGrpSpPr>
        <p:grpSpPr>
          <a:xfrm>
            <a:off x="803986" y="1641567"/>
            <a:ext cx="7145508" cy="7980397"/>
            <a:chOff x="0" y="-66675"/>
            <a:chExt cx="1881944" cy="2101833"/>
          </a:xfrm>
        </p:grpSpPr>
        <p:sp>
          <p:nvSpPr>
            <p:cNvPr id="193" name="Google Shape;193;p7"/>
            <p:cNvSpPr/>
            <p:nvPr/>
          </p:nvSpPr>
          <p:spPr>
            <a:xfrm>
              <a:off x="0" y="0"/>
              <a:ext cx="1881944" cy="2035158"/>
            </a:xfrm>
            <a:custGeom>
              <a:rect b="b" l="l" r="r" t="t"/>
              <a:pathLst>
                <a:path extrusionOk="0" h="2035158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974484"/>
                  </a:lnTo>
                  <a:cubicBezTo>
                    <a:pt x="1881944" y="1990575"/>
                    <a:pt x="1875552" y="2006008"/>
                    <a:pt x="1864173" y="2017387"/>
                  </a:cubicBezTo>
                  <a:cubicBezTo>
                    <a:pt x="1852795" y="2028765"/>
                    <a:pt x="1837362" y="2035158"/>
                    <a:pt x="1821270" y="2035158"/>
                  </a:cubicBezTo>
                  <a:lnTo>
                    <a:pt x="60674" y="2035158"/>
                  </a:lnTo>
                  <a:cubicBezTo>
                    <a:pt x="27165" y="2035158"/>
                    <a:pt x="0" y="2007993"/>
                    <a:pt x="0" y="1974484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 txBox="1"/>
            <p:nvPr/>
          </p:nvSpPr>
          <p:spPr>
            <a:xfrm>
              <a:off x="0" y="-66675"/>
              <a:ext cx="1881944" cy="2101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7"/>
          <p:cNvGrpSpPr/>
          <p:nvPr/>
        </p:nvGrpSpPr>
        <p:grpSpPr>
          <a:xfrm>
            <a:off x="8690739" y="297566"/>
            <a:ext cx="8825903" cy="4076286"/>
            <a:chOff x="0" y="-66675"/>
            <a:chExt cx="2324518" cy="1073590"/>
          </a:xfrm>
        </p:grpSpPr>
        <p:sp>
          <p:nvSpPr>
            <p:cNvPr id="196" name="Google Shape;196;p7"/>
            <p:cNvSpPr/>
            <p:nvPr/>
          </p:nvSpPr>
          <p:spPr>
            <a:xfrm>
              <a:off x="0" y="0"/>
              <a:ext cx="2324518" cy="1006915"/>
            </a:xfrm>
            <a:custGeom>
              <a:rect b="b" l="l" r="r" t="t"/>
              <a:pathLst>
                <a:path extrusionOk="0" h="1006915" w="2324518">
                  <a:moveTo>
                    <a:pt x="49122" y="0"/>
                  </a:moveTo>
                  <a:lnTo>
                    <a:pt x="2275395" y="0"/>
                  </a:lnTo>
                  <a:cubicBezTo>
                    <a:pt x="2288423" y="0"/>
                    <a:pt x="2300918" y="5175"/>
                    <a:pt x="2310130" y="14388"/>
                  </a:cubicBezTo>
                  <a:cubicBezTo>
                    <a:pt x="2319342" y="23600"/>
                    <a:pt x="2324518" y="36094"/>
                    <a:pt x="2324518" y="49122"/>
                  </a:cubicBezTo>
                  <a:lnTo>
                    <a:pt x="2324518" y="957793"/>
                  </a:lnTo>
                  <a:cubicBezTo>
                    <a:pt x="2324518" y="970821"/>
                    <a:pt x="2319342" y="983315"/>
                    <a:pt x="2310130" y="992527"/>
                  </a:cubicBezTo>
                  <a:cubicBezTo>
                    <a:pt x="2300918" y="1001739"/>
                    <a:pt x="2288423" y="1006915"/>
                    <a:pt x="2275395" y="1006915"/>
                  </a:cubicBezTo>
                  <a:lnTo>
                    <a:pt x="49122" y="1006915"/>
                  </a:lnTo>
                  <a:cubicBezTo>
                    <a:pt x="36094" y="1006915"/>
                    <a:pt x="23600" y="1001739"/>
                    <a:pt x="14388" y="992527"/>
                  </a:cubicBezTo>
                  <a:cubicBezTo>
                    <a:pt x="5175" y="983315"/>
                    <a:pt x="0" y="970821"/>
                    <a:pt x="0" y="957793"/>
                  </a:cubicBezTo>
                  <a:lnTo>
                    <a:pt x="0" y="49122"/>
                  </a:lnTo>
                  <a:cubicBezTo>
                    <a:pt x="0" y="36094"/>
                    <a:pt x="5175" y="23600"/>
                    <a:pt x="14388" y="14388"/>
                  </a:cubicBezTo>
                  <a:cubicBezTo>
                    <a:pt x="23600" y="5175"/>
                    <a:pt x="36094" y="0"/>
                    <a:pt x="491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 txBox="1"/>
            <p:nvPr/>
          </p:nvSpPr>
          <p:spPr>
            <a:xfrm>
              <a:off x="0" y="-66675"/>
              <a:ext cx="2324518" cy="10735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7"/>
          <p:cNvSpPr/>
          <p:nvPr/>
        </p:nvSpPr>
        <p:spPr>
          <a:xfrm>
            <a:off x="1198260" y="2579865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7"/>
          <p:cNvSpPr txBox="1"/>
          <p:nvPr/>
        </p:nvSpPr>
        <p:spPr>
          <a:xfrm>
            <a:off x="9382479" y="896561"/>
            <a:ext cx="73845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Conocimientos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del nuevo curso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8539925" y="4904100"/>
            <a:ext cx="9341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chemeClr val="lt1"/>
                </a:solidFill>
              </a:rPr>
              <a:t>https://create.kahoot.it/share/evaluacion-de-conocimientos-del-curso/3e94b07e-8dd0-4466-a096-1833a46f7334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8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206" name="Google Shape;206;p8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8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8"/>
          <p:cNvSpPr txBox="1"/>
          <p:nvPr/>
        </p:nvSpPr>
        <p:spPr>
          <a:xfrm>
            <a:off x="3043801" y="3332378"/>
            <a:ext cx="12179177" cy="383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8"/>
              <a:buFont typeface="Arial"/>
              <a:buNone/>
            </a:pPr>
            <a:r>
              <a:rPr b="1" i="0" lang="en-US" sz="106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2"/>
              <a:buFont typeface="Arial"/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5222978" y="349538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69"/>
                </a:lnTo>
                <a:lnTo>
                  <a:pt x="0" y="3770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8"/>
          <p:cNvSpPr txBox="1"/>
          <p:nvPr/>
        </p:nvSpPr>
        <p:spPr>
          <a:xfrm>
            <a:off x="5780894" y="7204079"/>
            <a:ext cx="6704991" cy="961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