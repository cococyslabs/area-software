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Doto"/>
      <p:regular r:id="rId28"/>
      <p:bold r:id="rId29"/>
    </p:embeddedFont>
    <p:embeddedFont>
      <p:font typeface="Doto Black"/>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jKQCg3c20A/6IWdNcXRizUwVvX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D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oto-bold.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DotoBlack-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5076016ab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335076016ab_0_2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35076016ab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g335076016ab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35076016ab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g335076016ab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62dd2e87f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g362dd2e87f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35076016ab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g335076016ab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5c6d4126cd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g35c6d4126cd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5c6d4126cd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35c6d4126cd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8" name="Google Shape;23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5c6d4126cd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g35c6d4126cd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5c6d4126cd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g35c6d4126cd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2" name="Google Shape;30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5c6d4126cd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g35c6d4126cd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5c6d4126cd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g35c6d4126cd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5c6d4126cd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g35c6d4126cd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5c6d4126cd_0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8" name="Google Shape;338;g35c6d4126cd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7" name="Google Shape;34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jp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jp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jp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jp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jp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jp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jp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jp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83" name="Shape 83"/>
        <p:cNvGrpSpPr/>
        <p:nvPr/>
      </p:nvGrpSpPr>
      <p:grpSpPr>
        <a:xfrm>
          <a:off x="0" y="0"/>
          <a:ext cx="0" cy="0"/>
          <a:chOff x="0" y="0"/>
          <a:chExt cx="0" cy="0"/>
        </a:xfrm>
      </p:grpSpPr>
      <p:grpSp>
        <p:nvGrpSpPr>
          <p:cNvPr id="84" name="Google Shape;84;g335076016ab_0_216"/>
          <p:cNvGrpSpPr/>
          <p:nvPr/>
        </p:nvGrpSpPr>
        <p:grpSpPr>
          <a:xfrm>
            <a:off x="2194750" y="4762575"/>
            <a:ext cx="15919410" cy="2554599"/>
            <a:chOff x="0" y="-38100"/>
            <a:chExt cx="4577700" cy="699124"/>
          </a:xfrm>
        </p:grpSpPr>
        <p:sp>
          <p:nvSpPr>
            <p:cNvPr id="85" name="Google Shape;85;g335076016ab_0_216"/>
            <p:cNvSpPr/>
            <p:nvPr/>
          </p:nvSpPr>
          <p:spPr>
            <a:xfrm>
              <a:off x="0" y="0"/>
              <a:ext cx="4577583" cy="661024"/>
            </a:xfrm>
            <a:custGeom>
              <a:rect b="b" l="l" r="r" t="t"/>
              <a:pathLst>
                <a:path extrusionOk="0" h="661024" w="4577583">
                  <a:moveTo>
                    <a:pt x="0" y="0"/>
                  </a:moveTo>
                  <a:lnTo>
                    <a:pt x="4577583" y="0"/>
                  </a:lnTo>
                  <a:lnTo>
                    <a:pt x="4577583" y="661024"/>
                  </a:lnTo>
                  <a:lnTo>
                    <a:pt x="0" y="661024"/>
                  </a:lnTo>
                  <a:close/>
                </a:path>
              </a:pathLst>
            </a:custGeom>
            <a:solidFill>
              <a:srgbClr val="EFA038"/>
            </a:solidFill>
            <a:ln>
              <a:noFill/>
            </a:ln>
          </p:spPr>
        </p:sp>
        <p:sp>
          <p:nvSpPr>
            <p:cNvPr id="86" name="Google Shape;86;g335076016ab_0_216"/>
            <p:cNvSpPr txBox="1"/>
            <p:nvPr/>
          </p:nvSpPr>
          <p:spPr>
            <a:xfrm>
              <a:off x="0" y="-38100"/>
              <a:ext cx="4577700" cy="699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7" name="Google Shape;87;g335076016ab_0_216"/>
          <p:cNvSpPr/>
          <p:nvPr/>
        </p:nvSpPr>
        <p:spPr>
          <a:xfrm flipH="1">
            <a:off x="-683164" y="-855734"/>
            <a:ext cx="7792398" cy="14974785"/>
          </a:xfrm>
          <a:custGeom>
            <a:rect b="b" l="l" r="r" t="t"/>
            <a:pathLst>
              <a:path extrusionOk="0" h="14974785" w="7792398">
                <a:moveTo>
                  <a:pt x="7792398" y="0"/>
                </a:moveTo>
                <a:lnTo>
                  <a:pt x="0" y="0"/>
                </a:lnTo>
                <a:lnTo>
                  <a:pt x="0" y="14974785"/>
                </a:lnTo>
                <a:lnTo>
                  <a:pt x="7792398" y="14974785"/>
                </a:lnTo>
                <a:lnTo>
                  <a:pt x="7792398" y="0"/>
                </a:lnTo>
                <a:close/>
              </a:path>
            </a:pathLst>
          </a:custGeom>
          <a:blipFill rotWithShape="1">
            <a:blip r:embed="rId3">
              <a:alphaModFix/>
            </a:blip>
            <a:stretch>
              <a:fillRect b="0" l="0" r="0" t="0"/>
            </a:stretch>
          </a:blipFill>
          <a:ln>
            <a:noFill/>
          </a:ln>
        </p:spPr>
      </p:sp>
      <p:grpSp>
        <p:nvGrpSpPr>
          <p:cNvPr id="88" name="Google Shape;88;g335076016ab_0_216"/>
          <p:cNvGrpSpPr/>
          <p:nvPr/>
        </p:nvGrpSpPr>
        <p:grpSpPr>
          <a:xfrm rot="5400000">
            <a:off x="651408" y="1112357"/>
            <a:ext cx="3086120" cy="1543630"/>
            <a:chOff x="0" y="0"/>
            <a:chExt cx="812800" cy="406550"/>
          </a:xfrm>
        </p:grpSpPr>
        <p:sp>
          <p:nvSpPr>
            <p:cNvPr id="89" name="Google Shape;89;g335076016ab_0_216"/>
            <p:cNvSpPr/>
            <p:nvPr/>
          </p:nvSpPr>
          <p:spPr>
            <a:xfrm>
              <a:off x="0" y="0"/>
              <a:ext cx="812800" cy="406400"/>
            </a:xfrm>
            <a:custGeom>
              <a:rect b="b" l="l" r="r" t="t"/>
              <a:pathLst>
                <a:path extrusionOk="0" h="406400" w="812800">
                  <a:moveTo>
                    <a:pt x="406400" y="0"/>
                  </a:moveTo>
                  <a:lnTo>
                    <a:pt x="0" y="406400"/>
                  </a:lnTo>
                  <a:lnTo>
                    <a:pt x="203200" y="406400"/>
                  </a:lnTo>
                  <a:lnTo>
                    <a:pt x="203200" y="406400"/>
                  </a:lnTo>
                  <a:lnTo>
                    <a:pt x="609600" y="406400"/>
                  </a:lnTo>
                  <a:lnTo>
                    <a:pt x="609600" y="406400"/>
                  </a:lnTo>
                  <a:lnTo>
                    <a:pt x="812800" y="406400"/>
                  </a:lnTo>
                  <a:lnTo>
                    <a:pt x="406400" y="0"/>
                  </a:lnTo>
                  <a:close/>
                </a:path>
              </a:pathLst>
            </a:custGeom>
            <a:solidFill>
              <a:srgbClr val="EFA038"/>
            </a:solidFill>
            <a:ln>
              <a:noFill/>
            </a:ln>
          </p:spPr>
        </p:sp>
        <p:sp>
          <p:nvSpPr>
            <p:cNvPr id="90" name="Google Shape;90;g335076016ab_0_216"/>
            <p:cNvSpPr txBox="1"/>
            <p:nvPr/>
          </p:nvSpPr>
          <p:spPr>
            <a:xfrm>
              <a:off x="203200" y="120650"/>
              <a:ext cx="406500" cy="2859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1" name="Google Shape;91;g335076016ab_0_216"/>
          <p:cNvGrpSpPr/>
          <p:nvPr/>
        </p:nvGrpSpPr>
        <p:grpSpPr>
          <a:xfrm rot="5400000">
            <a:off x="-2976261" y="3524182"/>
            <a:ext cx="6893844" cy="3448194"/>
            <a:chOff x="0" y="0"/>
            <a:chExt cx="812800" cy="406550"/>
          </a:xfrm>
        </p:grpSpPr>
        <p:sp>
          <p:nvSpPr>
            <p:cNvPr id="92" name="Google Shape;92;g335076016ab_0_216"/>
            <p:cNvSpPr/>
            <p:nvPr/>
          </p:nvSpPr>
          <p:spPr>
            <a:xfrm>
              <a:off x="0" y="0"/>
              <a:ext cx="812800" cy="406400"/>
            </a:xfrm>
            <a:custGeom>
              <a:rect b="b" l="l" r="r" t="t"/>
              <a:pathLst>
                <a:path extrusionOk="0" h="406400" w="812800">
                  <a:moveTo>
                    <a:pt x="406400" y="0"/>
                  </a:moveTo>
                  <a:lnTo>
                    <a:pt x="0" y="406400"/>
                  </a:lnTo>
                  <a:lnTo>
                    <a:pt x="203200" y="406400"/>
                  </a:lnTo>
                  <a:lnTo>
                    <a:pt x="203200" y="406400"/>
                  </a:lnTo>
                  <a:lnTo>
                    <a:pt x="609600" y="406400"/>
                  </a:lnTo>
                  <a:lnTo>
                    <a:pt x="609600" y="406400"/>
                  </a:lnTo>
                  <a:lnTo>
                    <a:pt x="812800" y="406400"/>
                  </a:lnTo>
                  <a:lnTo>
                    <a:pt x="406400" y="0"/>
                  </a:lnTo>
                  <a:close/>
                </a:path>
              </a:pathLst>
            </a:custGeom>
            <a:solidFill>
              <a:srgbClr val="EFA038"/>
            </a:solidFill>
            <a:ln>
              <a:noFill/>
            </a:ln>
          </p:spPr>
        </p:sp>
        <p:sp>
          <p:nvSpPr>
            <p:cNvPr id="93" name="Google Shape;93;g335076016ab_0_216"/>
            <p:cNvSpPr txBox="1"/>
            <p:nvPr/>
          </p:nvSpPr>
          <p:spPr>
            <a:xfrm>
              <a:off x="203200" y="120650"/>
              <a:ext cx="406500" cy="2859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4" name="Google Shape;94;g335076016ab_0_216"/>
          <p:cNvSpPr txBox="1"/>
          <p:nvPr/>
        </p:nvSpPr>
        <p:spPr>
          <a:xfrm>
            <a:off x="2194750" y="3429000"/>
            <a:ext cx="14826000" cy="1201200"/>
          </a:xfrm>
          <a:prstGeom prst="rect">
            <a:avLst/>
          </a:prstGeom>
          <a:noFill/>
          <a:ln>
            <a:noFill/>
          </a:ln>
        </p:spPr>
        <p:txBody>
          <a:bodyPr anchorCtr="0" anchor="t" bIns="0" lIns="0" spcFirstLastPara="1" rIns="0" wrap="square" tIns="0">
            <a:spAutoFit/>
          </a:bodyPr>
          <a:lstStyle/>
          <a:p>
            <a:pPr indent="0" lvl="0" marL="0" marR="0" rtl="0" algn="l">
              <a:lnSpc>
                <a:spcPct val="110005"/>
              </a:lnSpc>
              <a:spcBef>
                <a:spcPts val="0"/>
              </a:spcBef>
              <a:spcAft>
                <a:spcPts val="0"/>
              </a:spcAft>
              <a:buClr>
                <a:srgbClr val="000000"/>
              </a:buClr>
              <a:buSzPts val="10204"/>
              <a:buFont typeface="Arial"/>
              <a:buNone/>
            </a:pPr>
            <a:r>
              <a:rPr b="1" i="0" lang="en-US" sz="7804" u="none" cap="none" strike="noStrike">
                <a:solidFill>
                  <a:srgbClr val="FFFFFF"/>
                </a:solidFill>
                <a:latin typeface="Arial"/>
                <a:ea typeface="Arial"/>
                <a:cs typeface="Arial"/>
                <a:sym typeface="Arial"/>
              </a:rPr>
              <a:t>Unidad 4: Estructura de Datos</a:t>
            </a:r>
            <a:endParaRPr b="0" i="0" sz="100" u="none" cap="none" strike="noStrike">
              <a:solidFill>
                <a:srgbClr val="000000"/>
              </a:solidFill>
              <a:latin typeface="Arial"/>
              <a:ea typeface="Arial"/>
              <a:cs typeface="Arial"/>
              <a:sym typeface="Arial"/>
            </a:endParaRPr>
          </a:p>
        </p:txBody>
      </p:sp>
      <p:sp>
        <p:nvSpPr>
          <p:cNvPr id="95" name="Google Shape;95;g335076016ab_0_216"/>
          <p:cNvSpPr txBox="1"/>
          <p:nvPr/>
        </p:nvSpPr>
        <p:spPr>
          <a:xfrm>
            <a:off x="2194752" y="4908248"/>
            <a:ext cx="15365100" cy="7848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10999"/>
              <a:buFont typeface="Arial"/>
              <a:buNone/>
            </a:pPr>
            <a:r>
              <a:rPr b="1" i="0" lang="en-US" sz="5099" u="none" cap="none" strike="noStrike">
                <a:solidFill>
                  <a:srgbClr val="FFFFFF"/>
                </a:solidFill>
                <a:latin typeface="Arial"/>
                <a:ea typeface="Arial"/>
                <a:cs typeface="Arial"/>
                <a:sym typeface="Arial"/>
              </a:rPr>
              <a:t>Introducción a la Programación y Computación 2</a:t>
            </a:r>
            <a:endParaRPr b="0" i="0" sz="100" u="none" cap="none" strike="noStrike">
              <a:solidFill>
                <a:srgbClr val="000000"/>
              </a:solidFill>
              <a:latin typeface="Arial"/>
              <a:ea typeface="Arial"/>
              <a:cs typeface="Arial"/>
              <a:sym typeface="Arial"/>
            </a:endParaRPr>
          </a:p>
        </p:txBody>
      </p:sp>
      <p:pic>
        <p:nvPicPr>
          <p:cNvPr id="96" name="Google Shape;96;g335076016ab_0_216"/>
          <p:cNvPicPr preferRelativeResize="0"/>
          <p:nvPr/>
        </p:nvPicPr>
        <p:blipFill rotWithShape="1">
          <a:blip r:embed="rId4">
            <a:alphaModFix/>
          </a:blip>
          <a:srcRect b="0" l="0" r="0" t="0"/>
          <a:stretch/>
        </p:blipFill>
        <p:spPr>
          <a:xfrm>
            <a:off x="12100900" y="341100"/>
            <a:ext cx="6013250" cy="1870350"/>
          </a:xfrm>
          <a:prstGeom prst="rect">
            <a:avLst/>
          </a:prstGeom>
          <a:noFill/>
          <a:ln>
            <a:noFill/>
          </a:ln>
        </p:spPr>
      </p:pic>
      <p:sp>
        <p:nvSpPr>
          <p:cNvPr id="97" name="Google Shape;97;g335076016ab_0_216"/>
          <p:cNvSpPr txBox="1"/>
          <p:nvPr/>
        </p:nvSpPr>
        <p:spPr>
          <a:xfrm>
            <a:off x="2194750" y="7874525"/>
            <a:ext cx="8812800" cy="1812900"/>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2299"/>
              <a:buFont typeface="Arial"/>
              <a:buNone/>
            </a:pPr>
            <a:r>
              <a:rPr b="1" i="0" lang="en-US" sz="3099" u="none" cap="none" strike="noStrike">
                <a:solidFill>
                  <a:schemeClr val="lt1"/>
                </a:solidFill>
                <a:latin typeface="Arial"/>
                <a:ea typeface="Arial"/>
                <a:cs typeface="Arial"/>
                <a:sym typeface="Arial"/>
              </a:rPr>
              <a:t>Escuela de Ingeniería en Ciencias y Sistemas</a:t>
            </a:r>
            <a:endParaRPr b="1" i="0" sz="3099" u="none" cap="none" strike="noStrike">
              <a:solidFill>
                <a:schemeClr val="lt1"/>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rPr b="1" i="0" lang="en-US" sz="3099" u="none" cap="none" strike="noStrike">
                <a:solidFill>
                  <a:schemeClr val="lt1"/>
                </a:solidFill>
                <a:latin typeface="Arial"/>
                <a:ea typeface="Arial"/>
                <a:cs typeface="Arial"/>
                <a:sym typeface="Arial"/>
              </a:rPr>
              <a:t>Facultad de Ingeniería</a:t>
            </a:r>
            <a:endParaRPr b="1" i="0" sz="3099" u="none" cap="none" strike="noStrike">
              <a:solidFill>
                <a:schemeClr val="lt1"/>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rPr b="1" i="0" lang="en-US" sz="3099" u="none" cap="none" strike="noStrike">
                <a:solidFill>
                  <a:schemeClr val="lt1"/>
                </a:solidFill>
                <a:latin typeface="Arial"/>
                <a:ea typeface="Arial"/>
                <a:cs typeface="Arial"/>
                <a:sym typeface="Arial"/>
              </a:rPr>
              <a:t>Universidad de San Carlos de Guatemala</a:t>
            </a:r>
            <a:endParaRPr b="1" i="0" sz="3099"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101" name="Shape 101"/>
        <p:cNvGrpSpPr/>
        <p:nvPr/>
      </p:nvGrpSpPr>
      <p:grpSpPr>
        <a:xfrm>
          <a:off x="0" y="0"/>
          <a:ext cx="0" cy="0"/>
          <a:chOff x="0" y="0"/>
          <a:chExt cx="0" cy="0"/>
        </a:xfrm>
      </p:grpSpPr>
      <p:sp>
        <p:nvSpPr>
          <p:cNvPr id="102" name="Google Shape;102;p5"/>
          <p:cNvSpPr/>
          <p:nvPr/>
        </p:nvSpPr>
        <p:spPr>
          <a:xfrm flipH="1">
            <a:off x="-1532774" y="5477712"/>
            <a:ext cx="3419644" cy="6571588"/>
          </a:xfrm>
          <a:custGeom>
            <a:rect b="b" l="l" r="r" t="t"/>
            <a:pathLst>
              <a:path extrusionOk="0" h="6571588" w="3419644">
                <a:moveTo>
                  <a:pt x="3419643" y="0"/>
                </a:moveTo>
                <a:lnTo>
                  <a:pt x="0" y="0"/>
                </a:lnTo>
                <a:lnTo>
                  <a:pt x="0" y="6571588"/>
                </a:lnTo>
                <a:lnTo>
                  <a:pt x="3419643" y="6571588"/>
                </a:lnTo>
                <a:lnTo>
                  <a:pt x="3419643" y="0"/>
                </a:lnTo>
                <a:close/>
              </a:path>
            </a:pathLst>
          </a:custGeom>
          <a:blipFill rotWithShape="1">
            <a:blip r:embed="rId3">
              <a:alphaModFix/>
            </a:blip>
            <a:stretch>
              <a:fillRect b="0" l="0" r="0" t="0"/>
            </a:stretch>
          </a:blipFill>
          <a:ln>
            <a:noFill/>
          </a:ln>
        </p:spPr>
      </p:sp>
      <p:cxnSp>
        <p:nvCxnSpPr>
          <p:cNvPr id="103" name="Google Shape;103;p5"/>
          <p:cNvCxnSpPr/>
          <p:nvPr/>
        </p:nvCxnSpPr>
        <p:spPr>
          <a:xfrm>
            <a:off x="1283036" y="2806379"/>
            <a:ext cx="6577800" cy="0"/>
          </a:xfrm>
          <a:prstGeom prst="straightConnector1">
            <a:avLst/>
          </a:prstGeom>
          <a:noFill/>
          <a:ln cap="flat" cmpd="sng" w="123825">
            <a:solidFill>
              <a:srgbClr val="EFA038"/>
            </a:solidFill>
            <a:prstDash val="solid"/>
            <a:round/>
            <a:headEnd len="sm" w="sm" type="none"/>
            <a:tailEnd len="sm" w="sm" type="none"/>
          </a:ln>
        </p:spPr>
      </p:cxnSp>
      <p:sp>
        <p:nvSpPr>
          <p:cNvPr id="104" name="Google Shape;104;p5"/>
          <p:cNvSpPr/>
          <p:nvPr/>
        </p:nvSpPr>
        <p:spPr>
          <a:xfrm flipH="1" rot="5400000">
            <a:off x="13292384" y="-2509369"/>
            <a:ext cx="3419644" cy="6571588"/>
          </a:xfrm>
          <a:custGeom>
            <a:rect b="b" l="l" r="r" t="t"/>
            <a:pathLst>
              <a:path extrusionOk="0" h="6571588" w="3419644">
                <a:moveTo>
                  <a:pt x="3419644" y="0"/>
                </a:moveTo>
                <a:lnTo>
                  <a:pt x="0" y="0"/>
                </a:lnTo>
                <a:lnTo>
                  <a:pt x="0" y="6571589"/>
                </a:lnTo>
                <a:lnTo>
                  <a:pt x="3419644" y="6571589"/>
                </a:lnTo>
                <a:lnTo>
                  <a:pt x="3419644" y="0"/>
                </a:lnTo>
                <a:close/>
              </a:path>
            </a:pathLst>
          </a:custGeom>
          <a:blipFill rotWithShape="1">
            <a:blip r:embed="rId3">
              <a:alphaModFix/>
            </a:blip>
            <a:stretch>
              <a:fillRect b="0" l="0" r="0" t="0"/>
            </a:stretch>
          </a:blipFill>
          <a:ln>
            <a:noFill/>
          </a:ln>
        </p:spPr>
      </p:sp>
      <p:sp>
        <p:nvSpPr>
          <p:cNvPr id="105" name="Google Shape;105;p5"/>
          <p:cNvSpPr txBox="1"/>
          <p:nvPr/>
        </p:nvSpPr>
        <p:spPr>
          <a:xfrm>
            <a:off x="1448685" y="1705675"/>
            <a:ext cx="6609900" cy="1100700"/>
          </a:xfrm>
          <a:prstGeom prst="rect">
            <a:avLst/>
          </a:prstGeom>
          <a:noFill/>
          <a:ln>
            <a:noFill/>
          </a:ln>
        </p:spPr>
        <p:txBody>
          <a:bodyPr anchorCtr="0" anchor="t" bIns="0" lIns="0" spcFirstLastPara="1" rIns="0" wrap="square" tIns="0">
            <a:spAutoFit/>
          </a:bodyPr>
          <a:lstStyle/>
          <a:p>
            <a:pPr indent="0" lvl="0" marL="0" marR="0" rtl="0" algn="l">
              <a:lnSpc>
                <a:spcPct val="116993"/>
              </a:lnSpc>
              <a:spcBef>
                <a:spcPts val="0"/>
              </a:spcBef>
              <a:spcAft>
                <a:spcPts val="0"/>
              </a:spcAft>
              <a:buClr>
                <a:srgbClr val="000000"/>
              </a:buClr>
              <a:buSzPts val="7150"/>
              <a:buFont typeface="Arial"/>
              <a:buNone/>
            </a:pPr>
            <a:r>
              <a:rPr b="1" i="0" lang="en-US" sz="7150" u="none" cap="none" strike="noStrike">
                <a:solidFill>
                  <a:srgbClr val="FFFFFF"/>
                </a:solidFill>
                <a:latin typeface="Doto Black"/>
                <a:ea typeface="Doto Black"/>
                <a:cs typeface="Doto Black"/>
                <a:sym typeface="Doto Black"/>
              </a:rPr>
              <a:t>Agenda</a:t>
            </a:r>
            <a:endParaRPr b="0" i="0" sz="1400" u="none" cap="none" strike="noStrike">
              <a:solidFill>
                <a:srgbClr val="000000"/>
              </a:solidFill>
              <a:latin typeface="Arial"/>
              <a:ea typeface="Arial"/>
              <a:cs typeface="Arial"/>
              <a:sym typeface="Arial"/>
            </a:endParaRPr>
          </a:p>
        </p:txBody>
      </p:sp>
      <p:sp>
        <p:nvSpPr>
          <p:cNvPr id="106" name="Google Shape;106;p5"/>
          <p:cNvSpPr txBox="1"/>
          <p:nvPr/>
        </p:nvSpPr>
        <p:spPr>
          <a:xfrm>
            <a:off x="1353725" y="3429009"/>
            <a:ext cx="6134400" cy="5324700"/>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3399"/>
              <a:buFont typeface="Arial"/>
              <a:buNone/>
            </a:pPr>
            <a:r>
              <a:rPr b="1" i="0" lang="en-US" sz="3399" u="none" cap="none" strike="noStrike">
                <a:solidFill>
                  <a:schemeClr val="lt1"/>
                </a:solidFill>
                <a:latin typeface="Arial"/>
                <a:ea typeface="Arial"/>
                <a:cs typeface="Arial"/>
                <a:sym typeface="Arial"/>
              </a:rPr>
              <a:t>Recordatorios</a:t>
            </a:r>
            <a:endParaRPr b="1" i="0" sz="3399" u="none" cap="none" strike="noStrike">
              <a:solidFill>
                <a:schemeClr val="lt1"/>
              </a:solidFill>
              <a:latin typeface="Arial"/>
              <a:ea typeface="Arial"/>
              <a:cs typeface="Arial"/>
              <a:sym typeface="Arial"/>
            </a:endParaRPr>
          </a:p>
          <a:p>
            <a:pPr indent="-431736" lvl="0" marL="457200" marR="0" rtl="0" algn="just">
              <a:lnSpc>
                <a:spcPct val="140017"/>
              </a:lnSpc>
              <a:spcBef>
                <a:spcPts val="0"/>
              </a:spcBef>
              <a:spcAft>
                <a:spcPts val="0"/>
              </a:spcAft>
              <a:buClr>
                <a:schemeClr val="lt1"/>
              </a:buClr>
              <a:buSzPts val="3199"/>
              <a:buFont typeface="Arial"/>
              <a:buChar char="●"/>
            </a:pPr>
            <a:r>
              <a:rPr b="0" i="0" lang="en-US" sz="3199" u="none" cap="none" strike="noStrike">
                <a:solidFill>
                  <a:schemeClr val="lt1"/>
                </a:solidFill>
                <a:latin typeface="Arial"/>
                <a:ea typeface="Arial"/>
                <a:cs typeface="Arial"/>
                <a:sym typeface="Arial"/>
              </a:rPr>
              <a:t>Ficheros</a:t>
            </a:r>
            <a:endParaRPr b="0" i="0" sz="3199" u="none" cap="none" strike="noStrike">
              <a:solidFill>
                <a:schemeClr val="lt1"/>
              </a:solidFill>
              <a:latin typeface="Arial"/>
              <a:ea typeface="Arial"/>
              <a:cs typeface="Arial"/>
              <a:sym typeface="Arial"/>
            </a:endParaRPr>
          </a:p>
          <a:p>
            <a:pPr indent="-431736" lvl="0" marL="457200" marR="0" rtl="0" algn="just">
              <a:lnSpc>
                <a:spcPct val="140017"/>
              </a:lnSpc>
              <a:spcBef>
                <a:spcPts val="0"/>
              </a:spcBef>
              <a:spcAft>
                <a:spcPts val="0"/>
              </a:spcAft>
              <a:buClr>
                <a:schemeClr val="lt1"/>
              </a:buClr>
              <a:buSzPts val="3199"/>
              <a:buFont typeface="Arial"/>
              <a:buChar char="●"/>
            </a:pPr>
            <a:r>
              <a:rPr b="0" i="0" lang="en-US" sz="3199" u="none" cap="none" strike="noStrike">
                <a:solidFill>
                  <a:schemeClr val="lt1"/>
                </a:solidFill>
                <a:latin typeface="Arial"/>
                <a:ea typeface="Arial"/>
                <a:cs typeface="Arial"/>
                <a:sym typeface="Arial"/>
              </a:rPr>
              <a:t>Diccionarios</a:t>
            </a:r>
            <a:endParaRPr b="0" i="0" sz="3199" u="none" cap="none" strike="noStrike">
              <a:solidFill>
                <a:schemeClr val="lt1"/>
              </a:solidFill>
              <a:latin typeface="Arial"/>
              <a:ea typeface="Arial"/>
              <a:cs typeface="Arial"/>
              <a:sym typeface="Arial"/>
            </a:endParaRPr>
          </a:p>
          <a:p>
            <a:pPr indent="-431736" lvl="0" marL="457200" marR="0" rtl="0" algn="just">
              <a:lnSpc>
                <a:spcPct val="140017"/>
              </a:lnSpc>
              <a:spcBef>
                <a:spcPts val="0"/>
              </a:spcBef>
              <a:spcAft>
                <a:spcPts val="0"/>
              </a:spcAft>
              <a:buClr>
                <a:schemeClr val="lt1"/>
              </a:buClr>
              <a:buSzPts val="3199"/>
              <a:buFont typeface="Arial"/>
              <a:buChar char="●"/>
            </a:pPr>
            <a:r>
              <a:rPr b="0" i="0" lang="en-US" sz="3199" u="none" cap="none" strike="noStrike">
                <a:solidFill>
                  <a:schemeClr val="lt1"/>
                </a:solidFill>
                <a:latin typeface="Arial"/>
                <a:ea typeface="Arial"/>
                <a:cs typeface="Arial"/>
                <a:sym typeface="Arial"/>
              </a:rPr>
              <a:t>Tuplas</a:t>
            </a:r>
            <a:endParaRPr b="0" i="0" sz="3199" u="none" cap="none" strike="noStrike">
              <a:solidFill>
                <a:schemeClr val="lt1"/>
              </a:solidFill>
              <a:latin typeface="Arial"/>
              <a:ea typeface="Arial"/>
              <a:cs typeface="Arial"/>
              <a:sym typeface="Arial"/>
            </a:endParaRPr>
          </a:p>
          <a:p>
            <a:pPr indent="-431736" lvl="0" marL="457200" marR="0" rtl="0" algn="just">
              <a:lnSpc>
                <a:spcPct val="140017"/>
              </a:lnSpc>
              <a:spcBef>
                <a:spcPts val="0"/>
              </a:spcBef>
              <a:spcAft>
                <a:spcPts val="0"/>
              </a:spcAft>
              <a:buClr>
                <a:schemeClr val="lt1"/>
              </a:buClr>
              <a:buSzPts val="3199"/>
              <a:buFont typeface="Arial"/>
              <a:buChar char="●"/>
            </a:pPr>
            <a:r>
              <a:rPr b="0" i="0" lang="en-US" sz="3199" u="none" cap="none" strike="noStrike">
                <a:solidFill>
                  <a:schemeClr val="lt1"/>
                </a:solidFill>
                <a:latin typeface="Arial"/>
                <a:ea typeface="Arial"/>
                <a:cs typeface="Arial"/>
                <a:sym typeface="Arial"/>
              </a:rPr>
              <a:t>Expresiones Regulares</a:t>
            </a:r>
            <a:endParaRPr b="0" i="0" sz="3199" u="none" cap="none" strike="noStrike">
              <a:solidFill>
                <a:schemeClr val="lt1"/>
              </a:solidFill>
              <a:latin typeface="Arial"/>
              <a:ea typeface="Arial"/>
              <a:cs typeface="Arial"/>
              <a:sym typeface="Arial"/>
            </a:endParaRPr>
          </a:p>
          <a:p>
            <a:pPr indent="-431736" lvl="0" marL="457200" marR="0" rtl="0" algn="just">
              <a:lnSpc>
                <a:spcPct val="140017"/>
              </a:lnSpc>
              <a:spcBef>
                <a:spcPts val="0"/>
              </a:spcBef>
              <a:spcAft>
                <a:spcPts val="0"/>
              </a:spcAft>
              <a:buClr>
                <a:schemeClr val="lt1"/>
              </a:buClr>
              <a:buSzPts val="3199"/>
              <a:buFont typeface="Arial"/>
              <a:buChar char="●"/>
            </a:pPr>
            <a:r>
              <a:rPr b="0" i="0" lang="en-US" sz="3199" u="none" cap="none" strike="noStrike">
                <a:solidFill>
                  <a:schemeClr val="lt1"/>
                </a:solidFill>
                <a:latin typeface="Arial"/>
                <a:ea typeface="Arial"/>
                <a:cs typeface="Arial"/>
                <a:sym typeface="Arial"/>
              </a:rPr>
              <a:t>Buenas Prácticas</a:t>
            </a:r>
            <a:endParaRPr b="0" i="0" sz="3199" u="none" cap="none" strike="noStrike">
              <a:solidFill>
                <a:schemeClr val="lt1"/>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3099"/>
              <a:buFont typeface="Arial"/>
              <a:buNone/>
            </a:pPr>
            <a:r>
              <a:t/>
            </a:r>
            <a:endParaRPr b="0" i="0" sz="3099" u="none" cap="none" strike="noStrike">
              <a:solidFill>
                <a:schemeClr val="lt1"/>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3099"/>
              <a:buFont typeface="Arial"/>
              <a:buNone/>
            </a:pPr>
            <a:r>
              <a:t/>
            </a:r>
            <a:endParaRPr b="0" i="0" sz="3099" u="none" cap="none" strike="noStrike">
              <a:solidFill>
                <a:schemeClr val="lt1"/>
              </a:solidFill>
              <a:latin typeface="Arial"/>
              <a:ea typeface="Arial"/>
              <a:cs typeface="Arial"/>
              <a:sym typeface="Arial"/>
            </a:endParaRPr>
          </a:p>
        </p:txBody>
      </p:sp>
      <p:pic>
        <p:nvPicPr>
          <p:cNvPr id="107" name="Google Shape;107;p5"/>
          <p:cNvPicPr preferRelativeResize="0"/>
          <p:nvPr/>
        </p:nvPicPr>
        <p:blipFill rotWithShape="1">
          <a:blip r:embed="rId4">
            <a:alphaModFix/>
          </a:blip>
          <a:srcRect b="0" l="0" r="0" t="0"/>
          <a:stretch/>
        </p:blipFill>
        <p:spPr>
          <a:xfrm>
            <a:off x="11897038" y="5924475"/>
            <a:ext cx="3709624" cy="3882850"/>
          </a:xfrm>
          <a:prstGeom prst="rect">
            <a:avLst/>
          </a:prstGeom>
          <a:noFill/>
          <a:ln>
            <a:noFill/>
          </a:ln>
        </p:spPr>
      </p:pic>
      <p:sp>
        <p:nvSpPr>
          <p:cNvPr id="108" name="Google Shape;108;p5"/>
          <p:cNvSpPr txBox="1"/>
          <p:nvPr/>
        </p:nvSpPr>
        <p:spPr>
          <a:xfrm>
            <a:off x="10446910" y="1705675"/>
            <a:ext cx="6609900" cy="1100700"/>
          </a:xfrm>
          <a:prstGeom prst="rect">
            <a:avLst/>
          </a:prstGeom>
          <a:noFill/>
          <a:ln>
            <a:noFill/>
          </a:ln>
        </p:spPr>
        <p:txBody>
          <a:bodyPr anchorCtr="0" anchor="t" bIns="0" lIns="0" spcFirstLastPara="1" rIns="0" wrap="square" tIns="0">
            <a:spAutoFit/>
          </a:bodyPr>
          <a:lstStyle/>
          <a:p>
            <a:pPr indent="0" lvl="0" marL="0" marR="0" rtl="0" algn="l">
              <a:lnSpc>
                <a:spcPct val="116993"/>
              </a:lnSpc>
              <a:spcBef>
                <a:spcPts val="0"/>
              </a:spcBef>
              <a:spcAft>
                <a:spcPts val="0"/>
              </a:spcAft>
              <a:buClr>
                <a:srgbClr val="000000"/>
              </a:buClr>
              <a:buSzPts val="7150"/>
              <a:buFont typeface="Arial"/>
              <a:buNone/>
            </a:pPr>
            <a:r>
              <a:rPr b="1" i="0" lang="en-US" sz="7150" u="none" cap="none" strike="noStrike">
                <a:solidFill>
                  <a:srgbClr val="FFFFFF"/>
                </a:solidFill>
                <a:latin typeface="Doto Black"/>
                <a:ea typeface="Doto Black"/>
                <a:cs typeface="Doto Black"/>
                <a:sym typeface="Doto Black"/>
              </a:rPr>
              <a:t>Recursos</a:t>
            </a:r>
            <a:endParaRPr b="0" i="0" sz="1400" u="none" cap="none" strike="noStrike">
              <a:solidFill>
                <a:srgbClr val="000000"/>
              </a:solidFill>
              <a:latin typeface="Arial"/>
              <a:ea typeface="Arial"/>
              <a:cs typeface="Arial"/>
              <a:sym typeface="Arial"/>
            </a:endParaRPr>
          </a:p>
        </p:txBody>
      </p:sp>
      <p:cxnSp>
        <p:nvCxnSpPr>
          <p:cNvPr id="109" name="Google Shape;109;p5"/>
          <p:cNvCxnSpPr/>
          <p:nvPr/>
        </p:nvCxnSpPr>
        <p:spPr>
          <a:xfrm>
            <a:off x="10446911" y="2806379"/>
            <a:ext cx="6577800" cy="0"/>
          </a:xfrm>
          <a:prstGeom prst="straightConnector1">
            <a:avLst/>
          </a:prstGeom>
          <a:noFill/>
          <a:ln cap="flat" cmpd="sng" w="123825">
            <a:solidFill>
              <a:srgbClr val="EFA038"/>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113" name="Shape 113"/>
        <p:cNvGrpSpPr/>
        <p:nvPr/>
      </p:nvGrpSpPr>
      <p:grpSpPr>
        <a:xfrm>
          <a:off x="0" y="0"/>
          <a:ext cx="0" cy="0"/>
          <a:chOff x="0" y="0"/>
          <a:chExt cx="0" cy="0"/>
        </a:xfrm>
      </p:grpSpPr>
      <p:sp>
        <p:nvSpPr>
          <p:cNvPr id="114" name="Google Shape;114;g335076016ab_0_69"/>
          <p:cNvSpPr/>
          <p:nvPr/>
        </p:nvSpPr>
        <p:spPr>
          <a:xfrm flipH="1">
            <a:off x="-1532774" y="5477712"/>
            <a:ext cx="3419644" cy="6571588"/>
          </a:xfrm>
          <a:custGeom>
            <a:rect b="b" l="l" r="r" t="t"/>
            <a:pathLst>
              <a:path extrusionOk="0" h="6571588" w="3419644">
                <a:moveTo>
                  <a:pt x="3419643" y="0"/>
                </a:moveTo>
                <a:lnTo>
                  <a:pt x="0" y="0"/>
                </a:lnTo>
                <a:lnTo>
                  <a:pt x="0" y="6571588"/>
                </a:lnTo>
                <a:lnTo>
                  <a:pt x="3419643" y="6571588"/>
                </a:lnTo>
                <a:lnTo>
                  <a:pt x="3419643" y="0"/>
                </a:lnTo>
                <a:close/>
              </a:path>
            </a:pathLst>
          </a:custGeom>
          <a:blipFill rotWithShape="1">
            <a:blip r:embed="rId3">
              <a:alphaModFix/>
            </a:blip>
            <a:stretch>
              <a:fillRect b="0" l="0" r="0" t="0"/>
            </a:stretch>
          </a:blipFill>
          <a:ln>
            <a:noFill/>
          </a:ln>
        </p:spPr>
      </p:sp>
      <p:sp>
        <p:nvSpPr>
          <p:cNvPr id="115" name="Google Shape;115;g335076016ab_0_69"/>
          <p:cNvSpPr/>
          <p:nvPr/>
        </p:nvSpPr>
        <p:spPr>
          <a:xfrm flipH="1" rot="5400000">
            <a:off x="13292384" y="-2509369"/>
            <a:ext cx="3419644" cy="6571588"/>
          </a:xfrm>
          <a:custGeom>
            <a:rect b="b" l="l" r="r" t="t"/>
            <a:pathLst>
              <a:path extrusionOk="0" h="6571588" w="3419644">
                <a:moveTo>
                  <a:pt x="3419644" y="0"/>
                </a:moveTo>
                <a:lnTo>
                  <a:pt x="0" y="0"/>
                </a:lnTo>
                <a:lnTo>
                  <a:pt x="0" y="6571589"/>
                </a:lnTo>
                <a:lnTo>
                  <a:pt x="3419644" y="6571589"/>
                </a:lnTo>
                <a:lnTo>
                  <a:pt x="3419644" y="0"/>
                </a:lnTo>
                <a:close/>
              </a:path>
            </a:pathLst>
          </a:custGeom>
          <a:blipFill rotWithShape="1">
            <a:blip r:embed="rId3">
              <a:alphaModFix/>
            </a:blip>
            <a:stretch>
              <a:fillRect b="0" l="0" r="0" t="0"/>
            </a:stretch>
          </a:blipFill>
          <a:ln>
            <a:noFill/>
          </a:ln>
        </p:spPr>
      </p:sp>
      <p:sp>
        <p:nvSpPr>
          <p:cNvPr id="116" name="Google Shape;116;g335076016ab_0_69"/>
          <p:cNvSpPr txBox="1"/>
          <p:nvPr/>
        </p:nvSpPr>
        <p:spPr>
          <a:xfrm>
            <a:off x="1731000" y="2062375"/>
            <a:ext cx="14826000" cy="2522700"/>
          </a:xfrm>
          <a:prstGeom prst="rect">
            <a:avLst/>
          </a:prstGeom>
          <a:noFill/>
          <a:ln>
            <a:noFill/>
          </a:ln>
        </p:spPr>
        <p:txBody>
          <a:bodyPr anchorCtr="0" anchor="t" bIns="0" lIns="0" spcFirstLastPara="1" rIns="0" wrap="square" tIns="0">
            <a:spAutoFit/>
          </a:bodyPr>
          <a:lstStyle/>
          <a:p>
            <a:pPr indent="0" lvl="0" marL="0" marR="0" rtl="0" algn="ctr">
              <a:lnSpc>
                <a:spcPct val="110005"/>
              </a:lnSpc>
              <a:spcBef>
                <a:spcPts val="0"/>
              </a:spcBef>
              <a:spcAft>
                <a:spcPts val="0"/>
              </a:spcAft>
              <a:buClr>
                <a:srgbClr val="000000"/>
              </a:buClr>
              <a:buSzPts val="10204"/>
              <a:buFont typeface="Arial"/>
              <a:buNone/>
            </a:pPr>
            <a:r>
              <a:rPr b="1" i="0" lang="en-US" sz="7804" u="none" cap="none" strike="noStrike">
                <a:solidFill>
                  <a:srgbClr val="FFFFFF"/>
                </a:solidFill>
                <a:latin typeface="Arial"/>
                <a:ea typeface="Arial"/>
                <a:cs typeface="Arial"/>
                <a:sym typeface="Arial"/>
              </a:rPr>
              <a:t>Compentencias que Desarrollaremos</a:t>
            </a:r>
            <a:endParaRPr b="0" i="0" sz="100" u="none" cap="none" strike="noStrike">
              <a:solidFill>
                <a:srgbClr val="000000"/>
              </a:solidFill>
              <a:latin typeface="Arial"/>
              <a:ea typeface="Arial"/>
              <a:cs typeface="Arial"/>
              <a:sym typeface="Arial"/>
            </a:endParaRPr>
          </a:p>
        </p:txBody>
      </p:sp>
      <p:sp>
        <p:nvSpPr>
          <p:cNvPr id="117" name="Google Shape;117;g335076016ab_0_69"/>
          <p:cNvSpPr txBox="1"/>
          <p:nvPr/>
        </p:nvSpPr>
        <p:spPr>
          <a:xfrm>
            <a:off x="1292075" y="5215825"/>
            <a:ext cx="15927600" cy="1329600"/>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Clr>
                <a:srgbClr val="000000"/>
              </a:buClr>
              <a:buSzPts val="2299"/>
              <a:buFont typeface="Arial"/>
              <a:buNone/>
            </a:pPr>
            <a:r>
              <a:rPr b="0" i="0" lang="en-US" sz="3599" u="none" cap="none" strike="noStrike">
                <a:solidFill>
                  <a:schemeClr val="lt1"/>
                </a:solidFill>
                <a:latin typeface="Arial"/>
                <a:ea typeface="Arial"/>
                <a:cs typeface="Arial"/>
                <a:sym typeface="Arial"/>
              </a:rPr>
              <a:t>Aplica tuplas, listas, diccionarios nativos de Python en programas funcionales para almacenar y manipular conjunto de datos. </a:t>
            </a:r>
            <a:endParaRPr b="0" i="0" sz="3599" u="none" cap="none" strike="noStrike">
              <a:solidFill>
                <a:schemeClr val="lt1"/>
              </a:solidFill>
              <a:latin typeface="Arial"/>
              <a:ea typeface="Arial"/>
              <a:cs typeface="Arial"/>
              <a:sym typeface="Arial"/>
            </a:endParaRPr>
          </a:p>
        </p:txBody>
      </p:sp>
      <p:pic>
        <p:nvPicPr>
          <p:cNvPr id="118" name="Google Shape;118;g335076016ab_0_69"/>
          <p:cNvPicPr preferRelativeResize="0"/>
          <p:nvPr/>
        </p:nvPicPr>
        <p:blipFill rotWithShape="1">
          <a:blip r:embed="rId4">
            <a:alphaModFix/>
          </a:blip>
          <a:srcRect b="0" l="0" r="0" t="0"/>
          <a:stretch/>
        </p:blipFill>
        <p:spPr>
          <a:xfrm>
            <a:off x="7181000" y="6881000"/>
            <a:ext cx="3419651" cy="27350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35076016ab_0_4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193" r="-40930" t="-14584"/>
            </a:stretch>
          </a:blipFill>
          <a:ln>
            <a:noFill/>
          </a:ln>
        </p:spPr>
      </p:sp>
      <p:grpSp>
        <p:nvGrpSpPr>
          <p:cNvPr id="124" name="Google Shape;124;g335076016ab_0_44"/>
          <p:cNvGrpSpPr/>
          <p:nvPr/>
        </p:nvGrpSpPr>
        <p:grpSpPr>
          <a:xfrm>
            <a:off x="8740379" y="7883050"/>
            <a:ext cx="1506990" cy="1660403"/>
            <a:chOff x="0" y="0"/>
            <a:chExt cx="396900" cy="437305"/>
          </a:xfrm>
        </p:grpSpPr>
        <p:sp>
          <p:nvSpPr>
            <p:cNvPr id="125" name="Google Shape;125;g335076016ab_0_44"/>
            <p:cNvSpPr/>
            <p:nvPr/>
          </p:nvSpPr>
          <p:spPr>
            <a:xfrm>
              <a:off x="0" y="0"/>
              <a:ext cx="396867" cy="437305"/>
            </a:xfrm>
            <a:custGeom>
              <a:rect b="b" l="l" r="r" t="t"/>
              <a:pathLst>
                <a:path extrusionOk="0" h="437305" w="396867">
                  <a:moveTo>
                    <a:pt x="0" y="0"/>
                  </a:moveTo>
                  <a:lnTo>
                    <a:pt x="396867" y="0"/>
                  </a:lnTo>
                  <a:lnTo>
                    <a:pt x="396867" y="437305"/>
                  </a:lnTo>
                  <a:lnTo>
                    <a:pt x="0" y="437305"/>
                  </a:lnTo>
                  <a:close/>
                </a:path>
              </a:pathLst>
            </a:custGeom>
            <a:solidFill>
              <a:srgbClr val="EFA038"/>
            </a:solidFill>
            <a:ln>
              <a:noFill/>
            </a:ln>
          </p:spPr>
        </p:sp>
        <p:sp>
          <p:nvSpPr>
            <p:cNvPr id="126" name="Google Shape;126;g335076016ab_0_44"/>
            <p:cNvSpPr txBox="1"/>
            <p:nvPr/>
          </p:nvSpPr>
          <p:spPr>
            <a:xfrm>
              <a:off x="0" y="19050"/>
              <a:ext cx="396900" cy="4182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27" name="Google Shape;127;g335076016ab_0_44"/>
          <p:cNvGrpSpPr/>
          <p:nvPr/>
        </p:nvGrpSpPr>
        <p:grpSpPr>
          <a:xfrm>
            <a:off x="9355668" y="1795748"/>
            <a:ext cx="7647089" cy="7122035"/>
            <a:chOff x="0" y="0"/>
            <a:chExt cx="2014035" cy="1875750"/>
          </a:xfrm>
        </p:grpSpPr>
        <p:sp>
          <p:nvSpPr>
            <p:cNvPr id="128" name="Google Shape;128;g335076016ab_0_44"/>
            <p:cNvSpPr/>
            <p:nvPr/>
          </p:nvSpPr>
          <p:spPr>
            <a:xfrm>
              <a:off x="0" y="0"/>
              <a:ext cx="2014035" cy="1875740"/>
            </a:xfrm>
            <a:custGeom>
              <a:rect b="b" l="l" r="r" t="t"/>
              <a:pathLst>
                <a:path extrusionOk="0" h="1875740" w="2014035">
                  <a:moveTo>
                    <a:pt x="0" y="0"/>
                  </a:moveTo>
                  <a:lnTo>
                    <a:pt x="2014035" y="0"/>
                  </a:lnTo>
                  <a:lnTo>
                    <a:pt x="2014035" y="1875740"/>
                  </a:lnTo>
                  <a:lnTo>
                    <a:pt x="0" y="1875740"/>
                  </a:lnTo>
                  <a:close/>
                </a:path>
              </a:pathLst>
            </a:custGeom>
            <a:solidFill>
              <a:srgbClr val="2E6E80"/>
            </a:solidFill>
            <a:ln>
              <a:noFill/>
            </a:ln>
          </p:spPr>
        </p:sp>
        <p:sp>
          <p:nvSpPr>
            <p:cNvPr id="129" name="Google Shape;129;g335076016ab_0_44"/>
            <p:cNvSpPr txBox="1"/>
            <p:nvPr/>
          </p:nvSpPr>
          <p:spPr>
            <a:xfrm>
              <a:off x="0" y="19050"/>
              <a:ext cx="2013900" cy="18567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0" name="Google Shape;130;g335076016ab_0_44"/>
          <p:cNvGrpSpPr/>
          <p:nvPr/>
        </p:nvGrpSpPr>
        <p:grpSpPr>
          <a:xfrm rot="-5400000">
            <a:off x="3703096" y="350832"/>
            <a:ext cx="166319" cy="6190716"/>
            <a:chOff x="0" y="0"/>
            <a:chExt cx="43804" cy="1630466"/>
          </a:xfrm>
        </p:grpSpPr>
        <p:sp>
          <p:nvSpPr>
            <p:cNvPr id="131" name="Google Shape;131;g335076016ab_0_44"/>
            <p:cNvSpPr/>
            <p:nvPr/>
          </p:nvSpPr>
          <p:spPr>
            <a:xfrm>
              <a:off x="0" y="0"/>
              <a:ext cx="43804" cy="1630466"/>
            </a:xfrm>
            <a:custGeom>
              <a:rect b="b" l="l" r="r" t="t"/>
              <a:pathLst>
                <a:path extrusionOk="0" h="1630466" w="43804">
                  <a:moveTo>
                    <a:pt x="0" y="0"/>
                  </a:moveTo>
                  <a:lnTo>
                    <a:pt x="43804" y="0"/>
                  </a:lnTo>
                  <a:lnTo>
                    <a:pt x="43804" y="1630466"/>
                  </a:lnTo>
                  <a:lnTo>
                    <a:pt x="0" y="1630466"/>
                  </a:lnTo>
                  <a:close/>
                </a:path>
              </a:pathLst>
            </a:custGeom>
            <a:solidFill>
              <a:srgbClr val="EFA038"/>
            </a:solidFill>
            <a:ln>
              <a:noFill/>
            </a:ln>
          </p:spPr>
        </p:sp>
        <p:sp>
          <p:nvSpPr>
            <p:cNvPr id="132" name="Google Shape;132;g335076016ab_0_44"/>
            <p:cNvSpPr txBox="1"/>
            <p:nvPr/>
          </p:nvSpPr>
          <p:spPr>
            <a:xfrm>
              <a:off x="0" y="19050"/>
              <a:ext cx="43800" cy="16113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3" name="Google Shape;133;g335076016ab_0_44"/>
          <p:cNvGrpSpPr/>
          <p:nvPr/>
        </p:nvGrpSpPr>
        <p:grpSpPr>
          <a:xfrm>
            <a:off x="16053202" y="1156909"/>
            <a:ext cx="1375260" cy="1353785"/>
            <a:chOff x="0" y="0"/>
            <a:chExt cx="362206" cy="356550"/>
          </a:xfrm>
        </p:grpSpPr>
        <p:sp>
          <p:nvSpPr>
            <p:cNvPr id="134" name="Google Shape;134;g335076016ab_0_44"/>
            <p:cNvSpPr/>
            <p:nvPr/>
          </p:nvSpPr>
          <p:spPr>
            <a:xfrm>
              <a:off x="0" y="0"/>
              <a:ext cx="362206" cy="356429"/>
            </a:xfrm>
            <a:custGeom>
              <a:rect b="b" l="l" r="r" t="t"/>
              <a:pathLst>
                <a:path extrusionOk="0" h="356429" w="362206">
                  <a:moveTo>
                    <a:pt x="0" y="0"/>
                  </a:moveTo>
                  <a:lnTo>
                    <a:pt x="362206" y="0"/>
                  </a:lnTo>
                  <a:lnTo>
                    <a:pt x="362206" y="356429"/>
                  </a:lnTo>
                  <a:lnTo>
                    <a:pt x="0" y="356429"/>
                  </a:lnTo>
                  <a:close/>
                </a:path>
              </a:pathLst>
            </a:custGeom>
            <a:solidFill>
              <a:srgbClr val="EFA038"/>
            </a:solidFill>
            <a:ln>
              <a:noFill/>
            </a:ln>
          </p:spPr>
        </p:sp>
        <p:sp>
          <p:nvSpPr>
            <p:cNvPr id="135" name="Google Shape;135;g335076016ab_0_44"/>
            <p:cNvSpPr txBox="1"/>
            <p:nvPr/>
          </p:nvSpPr>
          <p:spPr>
            <a:xfrm>
              <a:off x="0" y="19050"/>
              <a:ext cx="362100" cy="3375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6" name="Google Shape;136;g335076016ab_0_44"/>
          <p:cNvSpPr txBox="1"/>
          <p:nvPr/>
        </p:nvSpPr>
        <p:spPr>
          <a:xfrm>
            <a:off x="793045" y="1795750"/>
            <a:ext cx="6605700" cy="1015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600"/>
              <a:buFont typeface="Arial"/>
              <a:buNone/>
            </a:pPr>
            <a:r>
              <a:rPr b="1" i="0" lang="en-US" sz="6600" u="none" cap="none" strike="noStrike">
                <a:solidFill>
                  <a:srgbClr val="000000"/>
                </a:solidFill>
                <a:latin typeface="Doto"/>
                <a:ea typeface="Doto"/>
                <a:cs typeface="Doto"/>
                <a:sym typeface="Doto"/>
              </a:rPr>
              <a:t>Ficheros</a:t>
            </a:r>
            <a:endParaRPr b="0" i="0" sz="1400" u="none" cap="none" strike="noStrike">
              <a:solidFill>
                <a:srgbClr val="000000"/>
              </a:solidFill>
              <a:latin typeface="Arial"/>
              <a:ea typeface="Arial"/>
              <a:cs typeface="Arial"/>
              <a:sym typeface="Arial"/>
            </a:endParaRPr>
          </a:p>
        </p:txBody>
      </p:sp>
      <p:sp>
        <p:nvSpPr>
          <p:cNvPr id="137" name="Google Shape;137;g335076016ab_0_44"/>
          <p:cNvSpPr txBox="1"/>
          <p:nvPr/>
        </p:nvSpPr>
        <p:spPr>
          <a:xfrm>
            <a:off x="719063" y="4080834"/>
            <a:ext cx="6134400" cy="4194900"/>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2299"/>
              <a:buFont typeface="Arial"/>
              <a:buNone/>
            </a:pPr>
            <a:r>
              <a:rPr b="0" i="0" lang="en-US" sz="2899" u="none" cap="none" strike="noStrike">
                <a:solidFill>
                  <a:srgbClr val="000000"/>
                </a:solidFill>
                <a:latin typeface="Arial"/>
                <a:ea typeface="Arial"/>
                <a:cs typeface="Arial"/>
                <a:sym typeface="Arial"/>
              </a:rPr>
              <a:t>Un fichero es un conjunto de datos relacionados entre sí, que son almacenados de forma permanente en dispositivos tales como discos duros, memorias flash, etc. y pueden ser tratados, hasta cierto punto, como una unidad.</a:t>
            </a:r>
            <a:endParaRPr b="0" i="0" sz="2000" u="none" cap="none" strike="noStrike">
              <a:solidFill>
                <a:srgbClr val="000000"/>
              </a:solidFill>
              <a:latin typeface="Arial"/>
              <a:ea typeface="Arial"/>
              <a:cs typeface="Arial"/>
              <a:sym typeface="Arial"/>
            </a:endParaRPr>
          </a:p>
        </p:txBody>
      </p:sp>
      <p:pic>
        <p:nvPicPr>
          <p:cNvPr id="138" name="Google Shape;138;g335076016ab_0_44"/>
          <p:cNvPicPr preferRelativeResize="0"/>
          <p:nvPr/>
        </p:nvPicPr>
        <p:blipFill rotWithShape="1">
          <a:blip r:embed="rId4">
            <a:alphaModFix/>
          </a:blip>
          <a:srcRect b="0" l="0" r="0" t="0"/>
          <a:stretch/>
        </p:blipFill>
        <p:spPr>
          <a:xfrm>
            <a:off x="10197888" y="2975500"/>
            <a:ext cx="5962650" cy="4762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194" r="-40926" t="-14582"/>
            </a:stretch>
          </a:blipFill>
          <a:ln>
            <a:noFill/>
          </a:ln>
        </p:spPr>
      </p:sp>
      <p:grpSp>
        <p:nvGrpSpPr>
          <p:cNvPr id="144" name="Google Shape;144;p3"/>
          <p:cNvGrpSpPr/>
          <p:nvPr/>
        </p:nvGrpSpPr>
        <p:grpSpPr>
          <a:xfrm>
            <a:off x="8740379" y="7883050"/>
            <a:ext cx="1506854" cy="1660392"/>
            <a:chOff x="0" y="0"/>
            <a:chExt cx="396867" cy="437305"/>
          </a:xfrm>
        </p:grpSpPr>
        <p:sp>
          <p:nvSpPr>
            <p:cNvPr id="145" name="Google Shape;145;p3"/>
            <p:cNvSpPr/>
            <p:nvPr/>
          </p:nvSpPr>
          <p:spPr>
            <a:xfrm>
              <a:off x="0" y="0"/>
              <a:ext cx="396867" cy="437305"/>
            </a:xfrm>
            <a:custGeom>
              <a:rect b="b" l="l" r="r" t="t"/>
              <a:pathLst>
                <a:path extrusionOk="0" h="437305" w="396867">
                  <a:moveTo>
                    <a:pt x="0" y="0"/>
                  </a:moveTo>
                  <a:lnTo>
                    <a:pt x="396867" y="0"/>
                  </a:lnTo>
                  <a:lnTo>
                    <a:pt x="396867" y="437305"/>
                  </a:lnTo>
                  <a:lnTo>
                    <a:pt x="0" y="437305"/>
                  </a:lnTo>
                  <a:close/>
                </a:path>
              </a:pathLst>
            </a:custGeom>
            <a:solidFill>
              <a:srgbClr val="EFA038"/>
            </a:solidFill>
            <a:ln>
              <a:noFill/>
            </a:ln>
          </p:spPr>
        </p:sp>
        <p:sp>
          <p:nvSpPr>
            <p:cNvPr id="146" name="Google Shape;146;p3"/>
            <p:cNvSpPr txBox="1"/>
            <p:nvPr/>
          </p:nvSpPr>
          <p:spPr>
            <a:xfrm>
              <a:off x="0" y="19050"/>
              <a:ext cx="396867" cy="418255"/>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7" name="Google Shape;147;p3"/>
          <p:cNvGrpSpPr/>
          <p:nvPr/>
        </p:nvGrpSpPr>
        <p:grpSpPr>
          <a:xfrm>
            <a:off x="9355668" y="1795748"/>
            <a:ext cx="7647041" cy="7121951"/>
            <a:chOff x="0" y="0"/>
            <a:chExt cx="2014035" cy="1875740"/>
          </a:xfrm>
        </p:grpSpPr>
        <p:sp>
          <p:nvSpPr>
            <p:cNvPr id="148" name="Google Shape;148;p3"/>
            <p:cNvSpPr/>
            <p:nvPr/>
          </p:nvSpPr>
          <p:spPr>
            <a:xfrm>
              <a:off x="0" y="0"/>
              <a:ext cx="2014035" cy="1875740"/>
            </a:xfrm>
            <a:custGeom>
              <a:rect b="b" l="l" r="r" t="t"/>
              <a:pathLst>
                <a:path extrusionOk="0" h="1875740" w="2014035">
                  <a:moveTo>
                    <a:pt x="0" y="0"/>
                  </a:moveTo>
                  <a:lnTo>
                    <a:pt x="2014035" y="0"/>
                  </a:lnTo>
                  <a:lnTo>
                    <a:pt x="2014035" y="1875740"/>
                  </a:lnTo>
                  <a:lnTo>
                    <a:pt x="0" y="1875740"/>
                  </a:lnTo>
                  <a:close/>
                </a:path>
              </a:pathLst>
            </a:custGeom>
            <a:solidFill>
              <a:srgbClr val="2E6E80"/>
            </a:solidFill>
            <a:ln>
              <a:noFill/>
            </a:ln>
          </p:spPr>
        </p:sp>
        <p:sp>
          <p:nvSpPr>
            <p:cNvPr id="149" name="Google Shape;149;p3"/>
            <p:cNvSpPr txBox="1"/>
            <p:nvPr/>
          </p:nvSpPr>
          <p:spPr>
            <a:xfrm>
              <a:off x="0" y="19050"/>
              <a:ext cx="2014035" cy="185669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50" name="Google Shape;150;p3"/>
          <p:cNvGrpSpPr/>
          <p:nvPr/>
        </p:nvGrpSpPr>
        <p:grpSpPr>
          <a:xfrm rot="-5400000">
            <a:off x="3703077" y="350853"/>
            <a:ext cx="166318" cy="6190676"/>
            <a:chOff x="0" y="0"/>
            <a:chExt cx="43804" cy="1630466"/>
          </a:xfrm>
        </p:grpSpPr>
        <p:sp>
          <p:nvSpPr>
            <p:cNvPr id="151" name="Google Shape;151;p3"/>
            <p:cNvSpPr/>
            <p:nvPr/>
          </p:nvSpPr>
          <p:spPr>
            <a:xfrm>
              <a:off x="0" y="0"/>
              <a:ext cx="43804" cy="1630466"/>
            </a:xfrm>
            <a:custGeom>
              <a:rect b="b" l="l" r="r" t="t"/>
              <a:pathLst>
                <a:path extrusionOk="0" h="1630466" w="43804">
                  <a:moveTo>
                    <a:pt x="0" y="0"/>
                  </a:moveTo>
                  <a:lnTo>
                    <a:pt x="43804" y="0"/>
                  </a:lnTo>
                  <a:lnTo>
                    <a:pt x="43804" y="1630466"/>
                  </a:lnTo>
                  <a:lnTo>
                    <a:pt x="0" y="1630466"/>
                  </a:lnTo>
                  <a:close/>
                </a:path>
              </a:pathLst>
            </a:custGeom>
            <a:solidFill>
              <a:srgbClr val="EFA038"/>
            </a:solidFill>
            <a:ln>
              <a:noFill/>
            </a:ln>
          </p:spPr>
        </p:sp>
        <p:sp>
          <p:nvSpPr>
            <p:cNvPr id="152" name="Google Shape;152;p3"/>
            <p:cNvSpPr txBox="1"/>
            <p:nvPr/>
          </p:nvSpPr>
          <p:spPr>
            <a:xfrm>
              <a:off x="0" y="19050"/>
              <a:ext cx="43804" cy="1611416"/>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53" name="Google Shape;153;p3"/>
          <p:cNvGrpSpPr/>
          <p:nvPr/>
        </p:nvGrpSpPr>
        <p:grpSpPr>
          <a:xfrm>
            <a:off x="16053202" y="1156909"/>
            <a:ext cx="1375250" cy="1353316"/>
            <a:chOff x="0" y="0"/>
            <a:chExt cx="362206" cy="356429"/>
          </a:xfrm>
        </p:grpSpPr>
        <p:sp>
          <p:nvSpPr>
            <p:cNvPr id="154" name="Google Shape;154;p3"/>
            <p:cNvSpPr/>
            <p:nvPr/>
          </p:nvSpPr>
          <p:spPr>
            <a:xfrm>
              <a:off x="0" y="0"/>
              <a:ext cx="362206" cy="356429"/>
            </a:xfrm>
            <a:custGeom>
              <a:rect b="b" l="l" r="r" t="t"/>
              <a:pathLst>
                <a:path extrusionOk="0" h="356429" w="362206">
                  <a:moveTo>
                    <a:pt x="0" y="0"/>
                  </a:moveTo>
                  <a:lnTo>
                    <a:pt x="362206" y="0"/>
                  </a:lnTo>
                  <a:lnTo>
                    <a:pt x="362206" y="356429"/>
                  </a:lnTo>
                  <a:lnTo>
                    <a:pt x="0" y="356429"/>
                  </a:lnTo>
                  <a:close/>
                </a:path>
              </a:pathLst>
            </a:custGeom>
            <a:solidFill>
              <a:srgbClr val="EFA038"/>
            </a:solidFill>
            <a:ln>
              <a:noFill/>
            </a:ln>
          </p:spPr>
        </p:sp>
        <p:sp>
          <p:nvSpPr>
            <p:cNvPr id="155" name="Google Shape;155;p3"/>
            <p:cNvSpPr txBox="1"/>
            <p:nvPr/>
          </p:nvSpPr>
          <p:spPr>
            <a:xfrm>
              <a:off x="0" y="19050"/>
              <a:ext cx="362206" cy="337379"/>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6" name="Google Shape;156;p3"/>
          <p:cNvSpPr txBox="1"/>
          <p:nvPr/>
        </p:nvSpPr>
        <p:spPr>
          <a:xfrm>
            <a:off x="796120" y="895350"/>
            <a:ext cx="6605700" cy="2438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600"/>
              <a:buFont typeface="Arial"/>
              <a:buNone/>
            </a:pPr>
            <a:r>
              <a:rPr b="1" i="0" lang="en-US" sz="6600" u="none" cap="none" strike="noStrike">
                <a:solidFill>
                  <a:srgbClr val="000000"/>
                </a:solidFill>
                <a:latin typeface="Doto"/>
                <a:ea typeface="Doto"/>
                <a:cs typeface="Doto"/>
                <a:sym typeface="Doto"/>
              </a:rPr>
              <a:t>Fichero de texto</a:t>
            </a:r>
            <a:endParaRPr b="0" i="0" sz="1400" u="none" cap="none" strike="noStrike">
              <a:solidFill>
                <a:srgbClr val="000000"/>
              </a:solidFill>
              <a:latin typeface="Arial"/>
              <a:ea typeface="Arial"/>
              <a:cs typeface="Arial"/>
              <a:sym typeface="Arial"/>
            </a:endParaRPr>
          </a:p>
        </p:txBody>
      </p:sp>
      <p:sp>
        <p:nvSpPr>
          <p:cNvPr id="157" name="Google Shape;157;p3"/>
          <p:cNvSpPr txBox="1"/>
          <p:nvPr/>
        </p:nvSpPr>
        <p:spPr>
          <a:xfrm>
            <a:off x="719000" y="4216947"/>
            <a:ext cx="6134400" cy="2000400"/>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2299"/>
              <a:buFont typeface="Arial"/>
              <a:buNone/>
            </a:pPr>
            <a:r>
              <a:rPr b="0" i="0" lang="en-US" sz="2499" u="none" cap="none" strike="noStrike">
                <a:solidFill>
                  <a:srgbClr val="000000"/>
                </a:solidFill>
                <a:latin typeface="Arial"/>
                <a:ea typeface="Arial"/>
                <a:cs typeface="Arial"/>
                <a:sym typeface="Arial"/>
              </a:rPr>
              <a:t>Un fichero de texto puede ser considerado una secuencia de líneas, de igual modo que una cadena en Python puede ser considerada una secuencia de caracteres.</a:t>
            </a:r>
            <a:endParaRPr b="0" i="0" sz="1600" u="none" cap="none" strike="noStrike">
              <a:solidFill>
                <a:srgbClr val="000000"/>
              </a:solidFill>
              <a:latin typeface="Arial"/>
              <a:ea typeface="Arial"/>
              <a:cs typeface="Arial"/>
              <a:sym typeface="Arial"/>
            </a:endParaRPr>
          </a:p>
        </p:txBody>
      </p:sp>
      <p:pic>
        <p:nvPicPr>
          <p:cNvPr id="158" name="Google Shape;158;p3"/>
          <p:cNvPicPr preferRelativeResize="0"/>
          <p:nvPr/>
        </p:nvPicPr>
        <p:blipFill rotWithShape="1">
          <a:blip r:embed="rId4">
            <a:alphaModFix/>
          </a:blip>
          <a:srcRect b="0" l="0" r="0" t="0"/>
          <a:stretch/>
        </p:blipFill>
        <p:spPr>
          <a:xfrm>
            <a:off x="10131213" y="2308750"/>
            <a:ext cx="6096000" cy="6096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194" r="-40926" t="-14582"/>
            </a:stretch>
          </a:blipFill>
          <a:ln>
            <a:noFill/>
          </a:ln>
        </p:spPr>
      </p:sp>
      <p:grpSp>
        <p:nvGrpSpPr>
          <p:cNvPr id="164" name="Google Shape;164;p4"/>
          <p:cNvGrpSpPr/>
          <p:nvPr/>
        </p:nvGrpSpPr>
        <p:grpSpPr>
          <a:xfrm>
            <a:off x="8740379" y="7883050"/>
            <a:ext cx="1506854" cy="1660392"/>
            <a:chOff x="0" y="0"/>
            <a:chExt cx="396867" cy="437305"/>
          </a:xfrm>
        </p:grpSpPr>
        <p:sp>
          <p:nvSpPr>
            <p:cNvPr id="165" name="Google Shape;165;p4"/>
            <p:cNvSpPr/>
            <p:nvPr/>
          </p:nvSpPr>
          <p:spPr>
            <a:xfrm>
              <a:off x="0" y="0"/>
              <a:ext cx="396867" cy="437305"/>
            </a:xfrm>
            <a:custGeom>
              <a:rect b="b" l="l" r="r" t="t"/>
              <a:pathLst>
                <a:path extrusionOk="0" h="437305" w="396867">
                  <a:moveTo>
                    <a:pt x="0" y="0"/>
                  </a:moveTo>
                  <a:lnTo>
                    <a:pt x="396867" y="0"/>
                  </a:lnTo>
                  <a:lnTo>
                    <a:pt x="396867" y="437305"/>
                  </a:lnTo>
                  <a:lnTo>
                    <a:pt x="0" y="437305"/>
                  </a:lnTo>
                  <a:close/>
                </a:path>
              </a:pathLst>
            </a:custGeom>
            <a:solidFill>
              <a:srgbClr val="EFA038"/>
            </a:solidFill>
            <a:ln>
              <a:noFill/>
            </a:ln>
          </p:spPr>
        </p:sp>
        <p:sp>
          <p:nvSpPr>
            <p:cNvPr id="166" name="Google Shape;166;p4"/>
            <p:cNvSpPr txBox="1"/>
            <p:nvPr/>
          </p:nvSpPr>
          <p:spPr>
            <a:xfrm>
              <a:off x="0" y="19050"/>
              <a:ext cx="396867" cy="418255"/>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7" name="Google Shape;167;p4"/>
          <p:cNvGrpSpPr/>
          <p:nvPr/>
        </p:nvGrpSpPr>
        <p:grpSpPr>
          <a:xfrm>
            <a:off x="9355668" y="1795748"/>
            <a:ext cx="7647041" cy="7121951"/>
            <a:chOff x="0" y="0"/>
            <a:chExt cx="2014035" cy="1875740"/>
          </a:xfrm>
        </p:grpSpPr>
        <p:sp>
          <p:nvSpPr>
            <p:cNvPr id="168" name="Google Shape;168;p4"/>
            <p:cNvSpPr/>
            <p:nvPr/>
          </p:nvSpPr>
          <p:spPr>
            <a:xfrm>
              <a:off x="0" y="0"/>
              <a:ext cx="2014035" cy="1875740"/>
            </a:xfrm>
            <a:custGeom>
              <a:rect b="b" l="l" r="r" t="t"/>
              <a:pathLst>
                <a:path extrusionOk="0" h="1875740" w="2014035">
                  <a:moveTo>
                    <a:pt x="0" y="0"/>
                  </a:moveTo>
                  <a:lnTo>
                    <a:pt x="2014035" y="0"/>
                  </a:lnTo>
                  <a:lnTo>
                    <a:pt x="2014035" y="1875740"/>
                  </a:lnTo>
                  <a:lnTo>
                    <a:pt x="0" y="1875740"/>
                  </a:lnTo>
                  <a:close/>
                </a:path>
              </a:pathLst>
            </a:custGeom>
            <a:solidFill>
              <a:srgbClr val="2E6E80"/>
            </a:solidFill>
            <a:ln>
              <a:noFill/>
            </a:ln>
          </p:spPr>
        </p:sp>
        <p:sp>
          <p:nvSpPr>
            <p:cNvPr id="169" name="Google Shape;169;p4"/>
            <p:cNvSpPr txBox="1"/>
            <p:nvPr/>
          </p:nvSpPr>
          <p:spPr>
            <a:xfrm>
              <a:off x="0" y="19050"/>
              <a:ext cx="2014035" cy="185669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0" name="Google Shape;170;p4"/>
          <p:cNvGrpSpPr/>
          <p:nvPr/>
        </p:nvGrpSpPr>
        <p:grpSpPr>
          <a:xfrm rot="-5400000">
            <a:off x="3703077" y="350853"/>
            <a:ext cx="166318" cy="6190676"/>
            <a:chOff x="0" y="0"/>
            <a:chExt cx="43804" cy="1630466"/>
          </a:xfrm>
        </p:grpSpPr>
        <p:sp>
          <p:nvSpPr>
            <p:cNvPr id="171" name="Google Shape;171;p4"/>
            <p:cNvSpPr/>
            <p:nvPr/>
          </p:nvSpPr>
          <p:spPr>
            <a:xfrm>
              <a:off x="0" y="0"/>
              <a:ext cx="43804" cy="1630466"/>
            </a:xfrm>
            <a:custGeom>
              <a:rect b="b" l="l" r="r" t="t"/>
              <a:pathLst>
                <a:path extrusionOk="0" h="1630466" w="43804">
                  <a:moveTo>
                    <a:pt x="0" y="0"/>
                  </a:moveTo>
                  <a:lnTo>
                    <a:pt x="43804" y="0"/>
                  </a:lnTo>
                  <a:lnTo>
                    <a:pt x="43804" y="1630466"/>
                  </a:lnTo>
                  <a:lnTo>
                    <a:pt x="0" y="1630466"/>
                  </a:lnTo>
                  <a:close/>
                </a:path>
              </a:pathLst>
            </a:custGeom>
            <a:solidFill>
              <a:srgbClr val="EFA038"/>
            </a:solidFill>
            <a:ln>
              <a:noFill/>
            </a:ln>
          </p:spPr>
        </p:sp>
        <p:sp>
          <p:nvSpPr>
            <p:cNvPr id="172" name="Google Shape;172;p4"/>
            <p:cNvSpPr txBox="1"/>
            <p:nvPr/>
          </p:nvSpPr>
          <p:spPr>
            <a:xfrm>
              <a:off x="0" y="19050"/>
              <a:ext cx="43804" cy="1611416"/>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3" name="Google Shape;173;p4"/>
          <p:cNvGrpSpPr/>
          <p:nvPr/>
        </p:nvGrpSpPr>
        <p:grpSpPr>
          <a:xfrm>
            <a:off x="16053202" y="1156909"/>
            <a:ext cx="1375250" cy="1353316"/>
            <a:chOff x="0" y="0"/>
            <a:chExt cx="362206" cy="356429"/>
          </a:xfrm>
        </p:grpSpPr>
        <p:sp>
          <p:nvSpPr>
            <p:cNvPr id="174" name="Google Shape;174;p4"/>
            <p:cNvSpPr/>
            <p:nvPr/>
          </p:nvSpPr>
          <p:spPr>
            <a:xfrm>
              <a:off x="0" y="0"/>
              <a:ext cx="362206" cy="356429"/>
            </a:xfrm>
            <a:custGeom>
              <a:rect b="b" l="l" r="r" t="t"/>
              <a:pathLst>
                <a:path extrusionOk="0" h="356429" w="362206">
                  <a:moveTo>
                    <a:pt x="0" y="0"/>
                  </a:moveTo>
                  <a:lnTo>
                    <a:pt x="362206" y="0"/>
                  </a:lnTo>
                  <a:lnTo>
                    <a:pt x="362206" y="356429"/>
                  </a:lnTo>
                  <a:lnTo>
                    <a:pt x="0" y="356429"/>
                  </a:lnTo>
                  <a:close/>
                </a:path>
              </a:pathLst>
            </a:custGeom>
            <a:solidFill>
              <a:srgbClr val="EFA038"/>
            </a:solidFill>
            <a:ln>
              <a:noFill/>
            </a:ln>
          </p:spPr>
        </p:sp>
        <p:sp>
          <p:nvSpPr>
            <p:cNvPr id="175" name="Google Shape;175;p4"/>
            <p:cNvSpPr txBox="1"/>
            <p:nvPr/>
          </p:nvSpPr>
          <p:spPr>
            <a:xfrm>
              <a:off x="0" y="19050"/>
              <a:ext cx="362206" cy="337379"/>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6" name="Google Shape;176;p4"/>
          <p:cNvSpPr txBox="1"/>
          <p:nvPr/>
        </p:nvSpPr>
        <p:spPr>
          <a:xfrm>
            <a:off x="796120" y="895350"/>
            <a:ext cx="6605700" cy="2438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600"/>
              <a:buFont typeface="Arial"/>
              <a:buNone/>
            </a:pPr>
            <a:r>
              <a:rPr b="1" i="0" lang="en-US" sz="6600" u="none" cap="none" strike="noStrike">
                <a:solidFill>
                  <a:srgbClr val="000000"/>
                </a:solidFill>
                <a:latin typeface="Doto"/>
                <a:ea typeface="Doto"/>
                <a:cs typeface="Doto"/>
                <a:sym typeface="Doto"/>
              </a:rPr>
              <a:t>Apertura de ficheros</a:t>
            </a:r>
            <a:endParaRPr b="0" i="0" sz="1400" u="none" cap="none" strike="noStrike">
              <a:solidFill>
                <a:srgbClr val="000000"/>
              </a:solidFill>
              <a:latin typeface="Arial"/>
              <a:ea typeface="Arial"/>
              <a:cs typeface="Arial"/>
              <a:sym typeface="Arial"/>
            </a:endParaRPr>
          </a:p>
        </p:txBody>
      </p:sp>
      <p:sp>
        <p:nvSpPr>
          <p:cNvPr id="177" name="Google Shape;177;p4"/>
          <p:cNvSpPr txBox="1"/>
          <p:nvPr/>
        </p:nvSpPr>
        <p:spPr>
          <a:xfrm>
            <a:off x="628729" y="3925336"/>
            <a:ext cx="6940500" cy="4813200"/>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2299"/>
              <a:buFont typeface="Arial"/>
              <a:buNone/>
            </a:pPr>
            <a:r>
              <a:rPr b="0" i="0" lang="en-US" sz="2299" u="none" cap="none" strike="noStrike">
                <a:solidFill>
                  <a:srgbClr val="000000"/>
                </a:solidFill>
                <a:latin typeface="Arial"/>
                <a:ea typeface="Arial"/>
                <a:cs typeface="Arial"/>
                <a:sym typeface="Arial"/>
              </a:rPr>
              <a:t>Cuando se desea leer o escribir en un archivo (nos referimos en el disco duro) primero debemos abrir el fichero. Al abrir el fichero nos comunicamos con el sistema operativo, que sabe dónde se encuentran almacenados los datos de cada archivo. Cuando se abre un fichero, se está pidiendo al sistema operativo que lo busque por su nombre y se asegure de que existe. En este ejemplo, abrimos el fichero</a:t>
            </a:r>
            <a:r>
              <a:rPr b="1" i="0" lang="en-US" sz="2299" u="none" cap="none" strike="noStrike">
                <a:solidFill>
                  <a:srgbClr val="000000"/>
                </a:solidFill>
                <a:latin typeface="Arial"/>
                <a:ea typeface="Arial"/>
                <a:cs typeface="Arial"/>
                <a:sym typeface="Arial"/>
              </a:rPr>
              <a:t> mbox.txt</a:t>
            </a:r>
            <a:r>
              <a:rPr b="0" i="0" lang="en-US" sz="2299" u="none" cap="none" strike="noStrike">
                <a:solidFill>
                  <a:srgbClr val="000000"/>
                </a:solidFill>
                <a:latin typeface="Arial"/>
                <a:ea typeface="Arial"/>
                <a:cs typeface="Arial"/>
                <a:sym typeface="Arial"/>
              </a:rPr>
              <a:t>, que debería estar guardado en la misma carpeta en la que te econtrabas cuando iniciaste Python.</a:t>
            </a:r>
            <a:endParaRPr b="0" i="0" sz="1400" u="none" cap="none" strike="noStrike">
              <a:solidFill>
                <a:srgbClr val="000000"/>
              </a:solidFill>
              <a:latin typeface="Arial"/>
              <a:ea typeface="Arial"/>
              <a:cs typeface="Arial"/>
              <a:sym typeface="Arial"/>
            </a:endParaRPr>
          </a:p>
        </p:txBody>
      </p:sp>
      <p:pic>
        <p:nvPicPr>
          <p:cNvPr id="178" name="Google Shape;178;p4"/>
          <p:cNvPicPr preferRelativeResize="0"/>
          <p:nvPr/>
        </p:nvPicPr>
        <p:blipFill rotWithShape="1">
          <a:blip r:embed="rId4">
            <a:alphaModFix/>
          </a:blip>
          <a:srcRect b="0" l="0" r="0" t="0"/>
          <a:stretch/>
        </p:blipFill>
        <p:spPr>
          <a:xfrm>
            <a:off x="9708963" y="3780313"/>
            <a:ext cx="6940500" cy="2832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62dd2e87f6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199" r="-40919" t="-14579"/>
            </a:stretch>
          </a:blipFill>
          <a:ln>
            <a:noFill/>
          </a:ln>
        </p:spPr>
      </p:sp>
      <p:sp>
        <p:nvSpPr>
          <p:cNvPr id="184" name="Google Shape;184;g362dd2e87f6_0_0"/>
          <p:cNvSpPr txBox="1"/>
          <p:nvPr/>
        </p:nvSpPr>
        <p:spPr>
          <a:xfrm>
            <a:off x="819250" y="1329950"/>
            <a:ext cx="9406200" cy="5439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600"/>
              <a:buFont typeface="Arial"/>
              <a:buNone/>
            </a:pPr>
            <a:r>
              <a:rPr b="1" lang="en-US" sz="9300">
                <a:latin typeface="Doto"/>
                <a:ea typeface="Doto"/>
                <a:cs typeface="Doto"/>
                <a:sym typeface="Doto"/>
              </a:rPr>
              <a:t>Modos de apertura de ficheros</a:t>
            </a:r>
            <a:endParaRPr b="0" i="0" sz="4100" u="none" cap="none" strike="noStrike">
              <a:solidFill>
                <a:srgbClr val="000000"/>
              </a:solidFill>
              <a:latin typeface="Arial"/>
              <a:ea typeface="Arial"/>
              <a:cs typeface="Arial"/>
              <a:sym typeface="Arial"/>
            </a:endParaRPr>
          </a:p>
        </p:txBody>
      </p:sp>
      <p:pic>
        <p:nvPicPr>
          <p:cNvPr id="185" name="Google Shape;185;g362dd2e87f6_0_0"/>
          <p:cNvPicPr preferRelativeResize="0"/>
          <p:nvPr/>
        </p:nvPicPr>
        <p:blipFill>
          <a:blip r:embed="rId4">
            <a:alphaModFix/>
          </a:blip>
          <a:stretch>
            <a:fillRect/>
          </a:stretch>
        </p:blipFill>
        <p:spPr>
          <a:xfrm>
            <a:off x="9800125" y="284225"/>
            <a:ext cx="6979725" cy="971854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189" name="Shape 189"/>
        <p:cNvGrpSpPr/>
        <p:nvPr/>
      </p:nvGrpSpPr>
      <p:grpSpPr>
        <a:xfrm>
          <a:off x="0" y="0"/>
          <a:ext cx="0" cy="0"/>
          <a:chOff x="0" y="0"/>
          <a:chExt cx="0" cy="0"/>
        </a:xfrm>
      </p:grpSpPr>
      <p:sp>
        <p:nvSpPr>
          <p:cNvPr id="190" name="Google Shape;190;g335076016ab_0_16"/>
          <p:cNvSpPr/>
          <p:nvPr/>
        </p:nvSpPr>
        <p:spPr>
          <a:xfrm flipH="1">
            <a:off x="-1532774" y="5477712"/>
            <a:ext cx="3419644" cy="6571588"/>
          </a:xfrm>
          <a:custGeom>
            <a:rect b="b" l="l" r="r" t="t"/>
            <a:pathLst>
              <a:path extrusionOk="0" h="6571588" w="3419644">
                <a:moveTo>
                  <a:pt x="3419643" y="0"/>
                </a:moveTo>
                <a:lnTo>
                  <a:pt x="0" y="0"/>
                </a:lnTo>
                <a:lnTo>
                  <a:pt x="0" y="6571588"/>
                </a:lnTo>
                <a:lnTo>
                  <a:pt x="3419643" y="6571588"/>
                </a:lnTo>
                <a:lnTo>
                  <a:pt x="3419643" y="0"/>
                </a:lnTo>
                <a:close/>
              </a:path>
            </a:pathLst>
          </a:custGeom>
          <a:blipFill rotWithShape="1">
            <a:blip r:embed="rId3">
              <a:alphaModFix/>
            </a:blip>
            <a:stretch>
              <a:fillRect b="0" l="0" r="0" t="0"/>
            </a:stretch>
          </a:blipFill>
          <a:ln>
            <a:noFill/>
          </a:ln>
        </p:spPr>
      </p:sp>
      <p:cxnSp>
        <p:nvCxnSpPr>
          <p:cNvPr id="191" name="Google Shape;191;g335076016ab_0_16"/>
          <p:cNvCxnSpPr/>
          <p:nvPr/>
        </p:nvCxnSpPr>
        <p:spPr>
          <a:xfrm>
            <a:off x="1480536" y="3890329"/>
            <a:ext cx="6577800" cy="0"/>
          </a:xfrm>
          <a:prstGeom prst="straightConnector1">
            <a:avLst/>
          </a:prstGeom>
          <a:noFill/>
          <a:ln cap="flat" cmpd="sng" w="123825">
            <a:solidFill>
              <a:srgbClr val="EFA038"/>
            </a:solidFill>
            <a:prstDash val="solid"/>
            <a:round/>
            <a:headEnd len="sm" w="sm" type="none"/>
            <a:tailEnd len="sm" w="sm" type="none"/>
          </a:ln>
        </p:spPr>
      </p:cxnSp>
      <p:sp>
        <p:nvSpPr>
          <p:cNvPr id="192" name="Google Shape;192;g335076016ab_0_16"/>
          <p:cNvSpPr/>
          <p:nvPr/>
        </p:nvSpPr>
        <p:spPr>
          <a:xfrm flipH="1" rot="5400000">
            <a:off x="13292384" y="-2509369"/>
            <a:ext cx="3419644" cy="6571588"/>
          </a:xfrm>
          <a:custGeom>
            <a:rect b="b" l="l" r="r" t="t"/>
            <a:pathLst>
              <a:path extrusionOk="0" h="6571588" w="3419644">
                <a:moveTo>
                  <a:pt x="3419644" y="0"/>
                </a:moveTo>
                <a:lnTo>
                  <a:pt x="0" y="0"/>
                </a:lnTo>
                <a:lnTo>
                  <a:pt x="0" y="6571589"/>
                </a:lnTo>
                <a:lnTo>
                  <a:pt x="3419644" y="6571589"/>
                </a:lnTo>
                <a:lnTo>
                  <a:pt x="3419644" y="0"/>
                </a:lnTo>
                <a:close/>
              </a:path>
            </a:pathLst>
          </a:custGeom>
          <a:blipFill rotWithShape="1">
            <a:blip r:embed="rId3">
              <a:alphaModFix/>
            </a:blip>
            <a:stretch>
              <a:fillRect b="0" l="0" r="0" t="0"/>
            </a:stretch>
          </a:blipFill>
          <a:ln>
            <a:noFill/>
          </a:ln>
        </p:spPr>
      </p:sp>
      <p:sp>
        <p:nvSpPr>
          <p:cNvPr id="193" name="Google Shape;193;g335076016ab_0_16"/>
          <p:cNvSpPr txBox="1"/>
          <p:nvPr/>
        </p:nvSpPr>
        <p:spPr>
          <a:xfrm>
            <a:off x="1464485" y="214725"/>
            <a:ext cx="6609900" cy="3675600"/>
          </a:xfrm>
          <a:prstGeom prst="rect">
            <a:avLst/>
          </a:prstGeom>
          <a:noFill/>
          <a:ln>
            <a:noFill/>
          </a:ln>
        </p:spPr>
        <p:txBody>
          <a:bodyPr anchorCtr="0" anchor="t" bIns="0" lIns="0" spcFirstLastPara="1" rIns="0" wrap="square" tIns="0">
            <a:spAutoFit/>
          </a:bodyPr>
          <a:lstStyle/>
          <a:p>
            <a:pPr indent="0" lvl="0" marL="0" marR="0" rtl="0" algn="l">
              <a:lnSpc>
                <a:spcPct val="116993"/>
              </a:lnSpc>
              <a:spcBef>
                <a:spcPts val="0"/>
              </a:spcBef>
              <a:spcAft>
                <a:spcPts val="0"/>
              </a:spcAft>
              <a:buClr>
                <a:srgbClr val="000000"/>
              </a:buClr>
              <a:buSzPts val="7150"/>
              <a:buFont typeface="Arial"/>
              <a:buNone/>
            </a:pPr>
            <a:r>
              <a:rPr b="1" i="0" lang="en-US" sz="7150" u="none" cap="none" strike="noStrike">
                <a:solidFill>
                  <a:srgbClr val="FFFFFF"/>
                </a:solidFill>
                <a:latin typeface="Doto Black"/>
                <a:ea typeface="Doto Black"/>
                <a:cs typeface="Doto Black"/>
                <a:sym typeface="Doto Black"/>
              </a:rPr>
              <a:t>Modos para abrir un fichero</a:t>
            </a:r>
            <a:endParaRPr b="0" i="0" sz="1400" u="none" cap="none" strike="noStrike">
              <a:solidFill>
                <a:srgbClr val="000000"/>
              </a:solidFill>
              <a:latin typeface="Arial"/>
              <a:ea typeface="Arial"/>
              <a:cs typeface="Arial"/>
              <a:sym typeface="Arial"/>
            </a:endParaRPr>
          </a:p>
        </p:txBody>
      </p:sp>
      <p:pic>
        <p:nvPicPr>
          <p:cNvPr id="194" name="Google Shape;194;g335076016ab_0_16"/>
          <p:cNvPicPr preferRelativeResize="0"/>
          <p:nvPr/>
        </p:nvPicPr>
        <p:blipFill rotWithShape="1">
          <a:blip r:embed="rId4">
            <a:alphaModFix/>
          </a:blip>
          <a:srcRect b="0" l="0" r="0" t="0"/>
          <a:stretch/>
        </p:blipFill>
        <p:spPr>
          <a:xfrm>
            <a:off x="871420" y="4639075"/>
            <a:ext cx="9144000" cy="5143500"/>
          </a:xfrm>
          <a:prstGeom prst="rect">
            <a:avLst/>
          </a:prstGeom>
          <a:noFill/>
          <a:ln>
            <a:noFill/>
          </a:ln>
        </p:spPr>
      </p:pic>
      <p:sp>
        <p:nvSpPr>
          <p:cNvPr id="195" name="Google Shape;195;g335076016ab_0_16"/>
          <p:cNvSpPr txBox="1"/>
          <p:nvPr/>
        </p:nvSpPr>
        <p:spPr>
          <a:xfrm>
            <a:off x="10716954" y="259511"/>
            <a:ext cx="6940500" cy="10026600"/>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2299"/>
              <a:buFont typeface="Arial"/>
              <a:buNone/>
            </a:pPr>
            <a:r>
              <a:rPr b="1" i="0" lang="en-US" sz="2499" u="none" cap="none" strike="noStrike">
                <a:solidFill>
                  <a:srgbClr val="000000"/>
                </a:solidFill>
                <a:latin typeface="Arial"/>
                <a:ea typeface="Arial"/>
                <a:cs typeface="Arial"/>
                <a:sym typeface="Arial"/>
              </a:rPr>
              <a:t>r</a:t>
            </a:r>
            <a:endParaRPr b="1" i="0" sz="24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rPr b="0" i="0" lang="en-US" sz="2299" u="none" cap="none" strike="noStrike">
                <a:solidFill>
                  <a:srgbClr val="000000"/>
                </a:solidFill>
                <a:latin typeface="Arial"/>
                <a:ea typeface="Arial"/>
                <a:cs typeface="Arial"/>
                <a:sym typeface="Arial"/>
              </a:rPr>
              <a:t>Solo lectura. El fichero solo se puede leer. Es el modo por defecto si nos se indica.</a:t>
            </a:r>
            <a:endParaRPr b="0" i="0" sz="22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t/>
            </a:r>
            <a:endParaRPr b="0" i="0" sz="22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rPr b="1" i="0" lang="en-US" sz="2499" u="none" cap="none" strike="noStrike">
                <a:solidFill>
                  <a:srgbClr val="000000"/>
                </a:solidFill>
                <a:latin typeface="Arial"/>
                <a:ea typeface="Arial"/>
                <a:cs typeface="Arial"/>
                <a:sym typeface="Arial"/>
              </a:rPr>
              <a:t>w</a:t>
            </a:r>
            <a:endParaRPr b="1" i="0" sz="24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rPr b="0" i="0" lang="en-US" sz="2299" u="none" cap="none" strike="noStrike">
                <a:solidFill>
                  <a:srgbClr val="000000"/>
                </a:solidFill>
                <a:latin typeface="Arial"/>
                <a:ea typeface="Arial"/>
                <a:cs typeface="Arial"/>
                <a:sym typeface="Arial"/>
              </a:rPr>
              <a:t>Sólo escritura. En el fichero solo se puede escribir. Si ya existe el fichero, machaca su contenido.</a:t>
            </a:r>
            <a:endParaRPr b="0" i="0" sz="22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t/>
            </a:r>
            <a:endParaRPr b="0" i="0" sz="22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rPr b="1" i="0" lang="en-US" sz="2499" u="none" cap="none" strike="noStrike">
                <a:solidFill>
                  <a:srgbClr val="000000"/>
                </a:solidFill>
                <a:latin typeface="Arial"/>
                <a:ea typeface="Arial"/>
                <a:cs typeface="Arial"/>
                <a:sym typeface="Arial"/>
              </a:rPr>
              <a:t>a</a:t>
            </a:r>
            <a:endParaRPr b="1" i="0" sz="24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rPr b="0" i="0" lang="en-US" sz="2299" u="none" cap="none" strike="noStrike">
                <a:solidFill>
                  <a:srgbClr val="000000"/>
                </a:solidFill>
                <a:latin typeface="Arial"/>
                <a:ea typeface="Arial"/>
                <a:cs typeface="Arial"/>
                <a:sym typeface="Arial"/>
              </a:rPr>
              <a:t>Adición. En e fichero solo se puede escribir. Si ya existe el fichero, todo lo que se escriba se añadirá al final del mismo.</a:t>
            </a:r>
            <a:endParaRPr b="0" i="0" sz="22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t/>
            </a:r>
            <a:endParaRPr b="0" i="0" sz="22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rPr b="1" i="0" lang="en-US" sz="2599" u="none" cap="none" strike="noStrike">
                <a:solidFill>
                  <a:srgbClr val="000000"/>
                </a:solidFill>
                <a:latin typeface="Arial"/>
                <a:ea typeface="Arial"/>
                <a:cs typeface="Arial"/>
                <a:sym typeface="Arial"/>
              </a:rPr>
              <a:t>x</a:t>
            </a:r>
            <a:endParaRPr b="1" i="0" sz="25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rPr b="0" i="0" lang="en-US" sz="2299" u="none" cap="none" strike="noStrike">
                <a:solidFill>
                  <a:srgbClr val="000000"/>
                </a:solidFill>
                <a:latin typeface="Arial"/>
                <a:ea typeface="Arial"/>
                <a:cs typeface="Arial"/>
                <a:sym typeface="Arial"/>
              </a:rPr>
              <a:t>como ‘w’, pero si existe el fichero lanza una excepción.</a:t>
            </a:r>
            <a:endParaRPr b="0" i="0" sz="22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t/>
            </a:r>
            <a:endParaRPr b="0" i="0" sz="22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rPr b="1" i="0" lang="en-US" sz="2599" u="none" cap="none" strike="noStrike">
                <a:solidFill>
                  <a:srgbClr val="000000"/>
                </a:solidFill>
                <a:latin typeface="Arial"/>
                <a:ea typeface="Arial"/>
                <a:cs typeface="Arial"/>
                <a:sym typeface="Arial"/>
              </a:rPr>
              <a:t>r+</a:t>
            </a:r>
            <a:endParaRPr b="1" i="0" sz="2599" u="none" cap="none" strike="noStrike">
              <a:solidFill>
                <a:srgbClr val="000000"/>
              </a:solidFill>
              <a:latin typeface="Arial"/>
              <a:ea typeface="Arial"/>
              <a:cs typeface="Arial"/>
              <a:sym typeface="Arial"/>
            </a:endParaRPr>
          </a:p>
          <a:p>
            <a:pPr indent="0" lvl="0" marL="0" marR="0" rtl="0" algn="just">
              <a:lnSpc>
                <a:spcPct val="140017"/>
              </a:lnSpc>
              <a:spcBef>
                <a:spcPts val="0"/>
              </a:spcBef>
              <a:spcAft>
                <a:spcPts val="0"/>
              </a:spcAft>
              <a:buClr>
                <a:srgbClr val="000000"/>
              </a:buClr>
              <a:buSzPts val="2299"/>
              <a:buFont typeface="Arial"/>
              <a:buNone/>
            </a:pPr>
            <a:r>
              <a:rPr b="0" i="0" lang="en-US" sz="2299" u="none" cap="none" strike="noStrike">
                <a:solidFill>
                  <a:srgbClr val="000000"/>
                </a:solidFill>
                <a:latin typeface="Arial"/>
                <a:ea typeface="Arial"/>
                <a:cs typeface="Arial"/>
                <a:sym typeface="Arial"/>
              </a:rPr>
              <a:t>Lectura y escritura. El fichero se puede leer y escribir.</a:t>
            </a:r>
            <a:endParaRPr b="0" i="0" sz="2299"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5c6d4126cd_0_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196" r="-40922" t="-14586"/>
            </a:stretch>
          </a:blipFill>
          <a:ln>
            <a:noFill/>
          </a:ln>
        </p:spPr>
      </p:sp>
      <p:grpSp>
        <p:nvGrpSpPr>
          <p:cNvPr id="201" name="Google Shape;201;g35c6d4126cd_0_19"/>
          <p:cNvGrpSpPr/>
          <p:nvPr/>
        </p:nvGrpSpPr>
        <p:grpSpPr>
          <a:xfrm>
            <a:off x="8740379" y="7883050"/>
            <a:ext cx="1506990" cy="1660403"/>
            <a:chOff x="0" y="0"/>
            <a:chExt cx="396900" cy="437305"/>
          </a:xfrm>
        </p:grpSpPr>
        <p:sp>
          <p:nvSpPr>
            <p:cNvPr id="202" name="Google Shape;202;g35c6d4126cd_0_19"/>
            <p:cNvSpPr/>
            <p:nvPr/>
          </p:nvSpPr>
          <p:spPr>
            <a:xfrm>
              <a:off x="0" y="0"/>
              <a:ext cx="396867" cy="437305"/>
            </a:xfrm>
            <a:custGeom>
              <a:rect b="b" l="l" r="r" t="t"/>
              <a:pathLst>
                <a:path extrusionOk="0" h="437305" w="396867">
                  <a:moveTo>
                    <a:pt x="0" y="0"/>
                  </a:moveTo>
                  <a:lnTo>
                    <a:pt x="396867" y="0"/>
                  </a:lnTo>
                  <a:lnTo>
                    <a:pt x="396867" y="437305"/>
                  </a:lnTo>
                  <a:lnTo>
                    <a:pt x="0" y="437305"/>
                  </a:lnTo>
                  <a:close/>
                </a:path>
              </a:pathLst>
            </a:custGeom>
            <a:solidFill>
              <a:srgbClr val="EFA038"/>
            </a:solidFill>
            <a:ln>
              <a:noFill/>
            </a:ln>
          </p:spPr>
        </p:sp>
        <p:sp>
          <p:nvSpPr>
            <p:cNvPr id="203" name="Google Shape;203;g35c6d4126cd_0_19"/>
            <p:cNvSpPr txBox="1"/>
            <p:nvPr/>
          </p:nvSpPr>
          <p:spPr>
            <a:xfrm>
              <a:off x="0" y="19050"/>
              <a:ext cx="396900" cy="4182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4" name="Google Shape;204;g35c6d4126cd_0_19"/>
          <p:cNvGrpSpPr/>
          <p:nvPr/>
        </p:nvGrpSpPr>
        <p:grpSpPr>
          <a:xfrm>
            <a:off x="9355668" y="1795748"/>
            <a:ext cx="7647089" cy="7122035"/>
            <a:chOff x="0" y="0"/>
            <a:chExt cx="2014035" cy="1875750"/>
          </a:xfrm>
        </p:grpSpPr>
        <p:sp>
          <p:nvSpPr>
            <p:cNvPr id="205" name="Google Shape;205;g35c6d4126cd_0_19"/>
            <p:cNvSpPr/>
            <p:nvPr/>
          </p:nvSpPr>
          <p:spPr>
            <a:xfrm>
              <a:off x="0" y="0"/>
              <a:ext cx="2014035" cy="1875740"/>
            </a:xfrm>
            <a:custGeom>
              <a:rect b="b" l="l" r="r" t="t"/>
              <a:pathLst>
                <a:path extrusionOk="0" h="1875740" w="2014035">
                  <a:moveTo>
                    <a:pt x="0" y="0"/>
                  </a:moveTo>
                  <a:lnTo>
                    <a:pt x="2014035" y="0"/>
                  </a:lnTo>
                  <a:lnTo>
                    <a:pt x="2014035" y="1875740"/>
                  </a:lnTo>
                  <a:lnTo>
                    <a:pt x="0" y="1875740"/>
                  </a:lnTo>
                  <a:close/>
                </a:path>
              </a:pathLst>
            </a:custGeom>
            <a:solidFill>
              <a:srgbClr val="2E6E80"/>
            </a:solidFill>
            <a:ln>
              <a:noFill/>
            </a:ln>
          </p:spPr>
        </p:sp>
        <p:sp>
          <p:nvSpPr>
            <p:cNvPr id="206" name="Google Shape;206;g35c6d4126cd_0_19"/>
            <p:cNvSpPr txBox="1"/>
            <p:nvPr/>
          </p:nvSpPr>
          <p:spPr>
            <a:xfrm>
              <a:off x="0" y="19050"/>
              <a:ext cx="2013900" cy="18567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7" name="Google Shape;207;g35c6d4126cd_0_19"/>
          <p:cNvGrpSpPr/>
          <p:nvPr/>
        </p:nvGrpSpPr>
        <p:grpSpPr>
          <a:xfrm rot="-5400000">
            <a:off x="3703096" y="350832"/>
            <a:ext cx="166319" cy="6190716"/>
            <a:chOff x="0" y="0"/>
            <a:chExt cx="43804" cy="1630466"/>
          </a:xfrm>
        </p:grpSpPr>
        <p:sp>
          <p:nvSpPr>
            <p:cNvPr id="208" name="Google Shape;208;g35c6d4126cd_0_19"/>
            <p:cNvSpPr/>
            <p:nvPr/>
          </p:nvSpPr>
          <p:spPr>
            <a:xfrm>
              <a:off x="0" y="0"/>
              <a:ext cx="43804" cy="1630466"/>
            </a:xfrm>
            <a:custGeom>
              <a:rect b="b" l="l" r="r" t="t"/>
              <a:pathLst>
                <a:path extrusionOk="0" h="1630466" w="43804">
                  <a:moveTo>
                    <a:pt x="0" y="0"/>
                  </a:moveTo>
                  <a:lnTo>
                    <a:pt x="43804" y="0"/>
                  </a:lnTo>
                  <a:lnTo>
                    <a:pt x="43804" y="1630466"/>
                  </a:lnTo>
                  <a:lnTo>
                    <a:pt x="0" y="1630466"/>
                  </a:lnTo>
                  <a:close/>
                </a:path>
              </a:pathLst>
            </a:custGeom>
            <a:solidFill>
              <a:srgbClr val="EFA038"/>
            </a:solidFill>
            <a:ln>
              <a:noFill/>
            </a:ln>
          </p:spPr>
        </p:sp>
        <p:sp>
          <p:nvSpPr>
            <p:cNvPr id="209" name="Google Shape;209;g35c6d4126cd_0_19"/>
            <p:cNvSpPr txBox="1"/>
            <p:nvPr/>
          </p:nvSpPr>
          <p:spPr>
            <a:xfrm>
              <a:off x="0" y="19050"/>
              <a:ext cx="43800" cy="16113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0" name="Google Shape;210;g35c6d4126cd_0_19"/>
          <p:cNvGrpSpPr/>
          <p:nvPr/>
        </p:nvGrpSpPr>
        <p:grpSpPr>
          <a:xfrm>
            <a:off x="16053202" y="1156909"/>
            <a:ext cx="1375260" cy="1353785"/>
            <a:chOff x="0" y="0"/>
            <a:chExt cx="362206" cy="356550"/>
          </a:xfrm>
        </p:grpSpPr>
        <p:sp>
          <p:nvSpPr>
            <p:cNvPr id="211" name="Google Shape;211;g35c6d4126cd_0_19"/>
            <p:cNvSpPr/>
            <p:nvPr/>
          </p:nvSpPr>
          <p:spPr>
            <a:xfrm>
              <a:off x="0" y="0"/>
              <a:ext cx="362206" cy="356429"/>
            </a:xfrm>
            <a:custGeom>
              <a:rect b="b" l="l" r="r" t="t"/>
              <a:pathLst>
                <a:path extrusionOk="0" h="356429" w="362206">
                  <a:moveTo>
                    <a:pt x="0" y="0"/>
                  </a:moveTo>
                  <a:lnTo>
                    <a:pt x="362206" y="0"/>
                  </a:lnTo>
                  <a:lnTo>
                    <a:pt x="362206" y="356429"/>
                  </a:lnTo>
                  <a:lnTo>
                    <a:pt x="0" y="356429"/>
                  </a:lnTo>
                  <a:close/>
                </a:path>
              </a:pathLst>
            </a:custGeom>
            <a:solidFill>
              <a:srgbClr val="EFA038"/>
            </a:solidFill>
            <a:ln>
              <a:noFill/>
            </a:ln>
          </p:spPr>
        </p:sp>
        <p:sp>
          <p:nvSpPr>
            <p:cNvPr id="212" name="Google Shape;212;g35c6d4126cd_0_19"/>
            <p:cNvSpPr txBox="1"/>
            <p:nvPr/>
          </p:nvSpPr>
          <p:spPr>
            <a:xfrm>
              <a:off x="0" y="19050"/>
              <a:ext cx="362100" cy="3375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3" name="Google Shape;213;g35c6d4126cd_0_19"/>
          <p:cNvSpPr txBox="1"/>
          <p:nvPr/>
        </p:nvSpPr>
        <p:spPr>
          <a:xfrm>
            <a:off x="796120" y="895350"/>
            <a:ext cx="6605700" cy="2438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600"/>
              <a:buFont typeface="Arial"/>
              <a:buNone/>
            </a:pPr>
            <a:r>
              <a:rPr b="1" i="0" lang="en-US" sz="6600" u="none" cap="none" strike="noStrike">
                <a:solidFill>
                  <a:srgbClr val="000000"/>
                </a:solidFill>
                <a:latin typeface="Doto"/>
                <a:ea typeface="Doto"/>
                <a:cs typeface="Doto"/>
                <a:sym typeface="Doto"/>
              </a:rPr>
              <a:t>Apertura de ficheros</a:t>
            </a:r>
            <a:endParaRPr b="0" i="0" sz="1400" u="none" cap="none" strike="noStrike">
              <a:solidFill>
                <a:srgbClr val="000000"/>
              </a:solidFill>
              <a:latin typeface="Arial"/>
              <a:ea typeface="Arial"/>
              <a:cs typeface="Arial"/>
              <a:sym typeface="Arial"/>
            </a:endParaRPr>
          </a:p>
        </p:txBody>
      </p:sp>
      <p:sp>
        <p:nvSpPr>
          <p:cNvPr id="214" name="Google Shape;214;g35c6d4126cd_0_19"/>
          <p:cNvSpPr txBox="1"/>
          <p:nvPr/>
        </p:nvSpPr>
        <p:spPr>
          <a:xfrm>
            <a:off x="628729" y="3925336"/>
            <a:ext cx="6940500" cy="3200700"/>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2299"/>
              <a:buFont typeface="Arial"/>
              <a:buNone/>
            </a:pPr>
            <a:r>
              <a:rPr b="0" i="0" lang="en-US" sz="2599" u="none" cap="none" strike="noStrike">
                <a:solidFill>
                  <a:srgbClr val="000000"/>
                </a:solidFill>
                <a:latin typeface="Arial"/>
                <a:ea typeface="Arial"/>
                <a:cs typeface="Arial"/>
                <a:sym typeface="Arial"/>
              </a:rPr>
              <a:t>Si la apertura tiene éxito, el sistema operativo nos devuelve un manejador de fichero (file handle). El manejador de fichero no son los datos que contiene en realidad el archivo, sino que se trata de un “manejador” (handle) que se puede utilizar para leer esos datos.</a:t>
            </a:r>
            <a:endParaRPr b="0" i="0" sz="1700" u="none" cap="none" strike="noStrike">
              <a:solidFill>
                <a:srgbClr val="000000"/>
              </a:solidFill>
              <a:latin typeface="Arial"/>
              <a:ea typeface="Arial"/>
              <a:cs typeface="Arial"/>
              <a:sym typeface="Arial"/>
            </a:endParaRPr>
          </a:p>
        </p:txBody>
      </p:sp>
      <p:pic>
        <p:nvPicPr>
          <p:cNvPr id="215" name="Google Shape;215;g35c6d4126cd_0_19"/>
          <p:cNvPicPr preferRelativeResize="0"/>
          <p:nvPr/>
        </p:nvPicPr>
        <p:blipFill rotWithShape="1">
          <a:blip r:embed="rId4">
            <a:alphaModFix/>
          </a:blip>
          <a:srcRect b="0" l="0" r="0" t="0"/>
          <a:stretch/>
        </p:blipFill>
        <p:spPr>
          <a:xfrm>
            <a:off x="9914275" y="3105975"/>
            <a:ext cx="6583250" cy="4596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5c6d4126cd_0_4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0196" r="-40922" t="-14586"/>
            </a:stretch>
          </a:blipFill>
          <a:ln>
            <a:noFill/>
          </a:ln>
        </p:spPr>
      </p:sp>
      <p:grpSp>
        <p:nvGrpSpPr>
          <p:cNvPr id="221" name="Google Shape;221;g35c6d4126cd_0_41"/>
          <p:cNvGrpSpPr/>
          <p:nvPr/>
        </p:nvGrpSpPr>
        <p:grpSpPr>
          <a:xfrm>
            <a:off x="8740379" y="7883050"/>
            <a:ext cx="1506990" cy="1660403"/>
            <a:chOff x="0" y="0"/>
            <a:chExt cx="396900" cy="437305"/>
          </a:xfrm>
        </p:grpSpPr>
        <p:sp>
          <p:nvSpPr>
            <p:cNvPr id="222" name="Google Shape;222;g35c6d4126cd_0_41"/>
            <p:cNvSpPr/>
            <p:nvPr/>
          </p:nvSpPr>
          <p:spPr>
            <a:xfrm>
              <a:off x="0" y="0"/>
              <a:ext cx="396867" cy="437305"/>
            </a:xfrm>
            <a:custGeom>
              <a:rect b="b" l="l" r="r" t="t"/>
              <a:pathLst>
                <a:path extrusionOk="0" h="437305" w="396867">
                  <a:moveTo>
                    <a:pt x="0" y="0"/>
                  </a:moveTo>
                  <a:lnTo>
                    <a:pt x="396867" y="0"/>
                  </a:lnTo>
                  <a:lnTo>
                    <a:pt x="396867" y="437305"/>
                  </a:lnTo>
                  <a:lnTo>
                    <a:pt x="0" y="437305"/>
                  </a:lnTo>
                  <a:close/>
                </a:path>
              </a:pathLst>
            </a:custGeom>
            <a:solidFill>
              <a:srgbClr val="EFA038"/>
            </a:solidFill>
            <a:ln>
              <a:noFill/>
            </a:ln>
          </p:spPr>
        </p:sp>
        <p:sp>
          <p:nvSpPr>
            <p:cNvPr id="223" name="Google Shape;223;g35c6d4126cd_0_41"/>
            <p:cNvSpPr txBox="1"/>
            <p:nvPr/>
          </p:nvSpPr>
          <p:spPr>
            <a:xfrm>
              <a:off x="0" y="19050"/>
              <a:ext cx="396900" cy="4182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g35c6d4126cd_0_41"/>
          <p:cNvGrpSpPr/>
          <p:nvPr/>
        </p:nvGrpSpPr>
        <p:grpSpPr>
          <a:xfrm>
            <a:off x="9355668" y="1795748"/>
            <a:ext cx="7647089" cy="7122035"/>
            <a:chOff x="0" y="0"/>
            <a:chExt cx="2014035" cy="1875750"/>
          </a:xfrm>
        </p:grpSpPr>
        <p:sp>
          <p:nvSpPr>
            <p:cNvPr id="225" name="Google Shape;225;g35c6d4126cd_0_41"/>
            <p:cNvSpPr/>
            <p:nvPr/>
          </p:nvSpPr>
          <p:spPr>
            <a:xfrm>
              <a:off x="0" y="0"/>
              <a:ext cx="2014035" cy="1875740"/>
            </a:xfrm>
            <a:custGeom>
              <a:rect b="b" l="l" r="r" t="t"/>
              <a:pathLst>
                <a:path extrusionOk="0" h="1875740" w="2014035">
                  <a:moveTo>
                    <a:pt x="0" y="0"/>
                  </a:moveTo>
                  <a:lnTo>
                    <a:pt x="2014035" y="0"/>
                  </a:lnTo>
                  <a:lnTo>
                    <a:pt x="2014035" y="1875740"/>
                  </a:lnTo>
                  <a:lnTo>
                    <a:pt x="0" y="1875740"/>
                  </a:lnTo>
                  <a:close/>
                </a:path>
              </a:pathLst>
            </a:custGeom>
            <a:solidFill>
              <a:srgbClr val="2E6E80"/>
            </a:solidFill>
            <a:ln>
              <a:noFill/>
            </a:ln>
          </p:spPr>
        </p:sp>
        <p:sp>
          <p:nvSpPr>
            <p:cNvPr id="226" name="Google Shape;226;g35c6d4126cd_0_41"/>
            <p:cNvSpPr txBox="1"/>
            <p:nvPr/>
          </p:nvSpPr>
          <p:spPr>
            <a:xfrm>
              <a:off x="0" y="19050"/>
              <a:ext cx="2013900" cy="18567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7" name="Google Shape;227;g35c6d4126cd_0_41"/>
          <p:cNvGrpSpPr/>
          <p:nvPr/>
        </p:nvGrpSpPr>
        <p:grpSpPr>
          <a:xfrm rot="-5400000">
            <a:off x="3703096" y="350832"/>
            <a:ext cx="166319" cy="6190716"/>
            <a:chOff x="0" y="0"/>
            <a:chExt cx="43804" cy="1630466"/>
          </a:xfrm>
        </p:grpSpPr>
        <p:sp>
          <p:nvSpPr>
            <p:cNvPr id="228" name="Google Shape;228;g35c6d4126cd_0_41"/>
            <p:cNvSpPr/>
            <p:nvPr/>
          </p:nvSpPr>
          <p:spPr>
            <a:xfrm>
              <a:off x="0" y="0"/>
              <a:ext cx="43804" cy="1630466"/>
            </a:xfrm>
            <a:custGeom>
              <a:rect b="b" l="l" r="r" t="t"/>
              <a:pathLst>
                <a:path extrusionOk="0" h="1630466" w="43804">
                  <a:moveTo>
                    <a:pt x="0" y="0"/>
                  </a:moveTo>
                  <a:lnTo>
                    <a:pt x="43804" y="0"/>
                  </a:lnTo>
                  <a:lnTo>
                    <a:pt x="43804" y="1630466"/>
                  </a:lnTo>
                  <a:lnTo>
                    <a:pt x="0" y="1630466"/>
                  </a:lnTo>
                  <a:close/>
                </a:path>
              </a:pathLst>
            </a:custGeom>
            <a:solidFill>
              <a:srgbClr val="EFA038"/>
            </a:solidFill>
            <a:ln>
              <a:noFill/>
            </a:ln>
          </p:spPr>
        </p:sp>
        <p:sp>
          <p:nvSpPr>
            <p:cNvPr id="229" name="Google Shape;229;g35c6d4126cd_0_41"/>
            <p:cNvSpPr txBox="1"/>
            <p:nvPr/>
          </p:nvSpPr>
          <p:spPr>
            <a:xfrm>
              <a:off x="0" y="19050"/>
              <a:ext cx="43800" cy="16113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0" name="Google Shape;230;g35c6d4126cd_0_41"/>
          <p:cNvGrpSpPr/>
          <p:nvPr/>
        </p:nvGrpSpPr>
        <p:grpSpPr>
          <a:xfrm>
            <a:off x="16053202" y="1156909"/>
            <a:ext cx="1375260" cy="1353785"/>
            <a:chOff x="0" y="0"/>
            <a:chExt cx="362206" cy="356550"/>
          </a:xfrm>
        </p:grpSpPr>
        <p:sp>
          <p:nvSpPr>
            <p:cNvPr id="231" name="Google Shape;231;g35c6d4126cd_0_41"/>
            <p:cNvSpPr/>
            <p:nvPr/>
          </p:nvSpPr>
          <p:spPr>
            <a:xfrm>
              <a:off x="0" y="0"/>
              <a:ext cx="362206" cy="356429"/>
            </a:xfrm>
            <a:custGeom>
              <a:rect b="b" l="l" r="r" t="t"/>
              <a:pathLst>
                <a:path extrusionOk="0" h="356429" w="362206">
                  <a:moveTo>
                    <a:pt x="0" y="0"/>
                  </a:moveTo>
                  <a:lnTo>
                    <a:pt x="362206" y="0"/>
                  </a:lnTo>
                  <a:lnTo>
                    <a:pt x="362206" y="356429"/>
                  </a:lnTo>
                  <a:lnTo>
                    <a:pt x="0" y="356429"/>
                  </a:lnTo>
                  <a:close/>
                </a:path>
              </a:pathLst>
            </a:custGeom>
            <a:solidFill>
              <a:srgbClr val="EFA038"/>
            </a:solidFill>
            <a:ln>
              <a:noFill/>
            </a:ln>
          </p:spPr>
        </p:sp>
        <p:sp>
          <p:nvSpPr>
            <p:cNvPr id="232" name="Google Shape;232;g35c6d4126cd_0_41"/>
            <p:cNvSpPr txBox="1"/>
            <p:nvPr/>
          </p:nvSpPr>
          <p:spPr>
            <a:xfrm>
              <a:off x="0" y="19050"/>
              <a:ext cx="362100" cy="3375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3" name="Google Shape;233;g35c6d4126cd_0_41"/>
          <p:cNvSpPr txBox="1"/>
          <p:nvPr/>
        </p:nvSpPr>
        <p:spPr>
          <a:xfrm>
            <a:off x="796120" y="895350"/>
            <a:ext cx="6605700" cy="2438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6600"/>
              <a:buFont typeface="Arial"/>
              <a:buNone/>
            </a:pPr>
            <a:r>
              <a:rPr b="1" i="0" lang="en-US" sz="6600" u="none" cap="none" strike="noStrike">
                <a:solidFill>
                  <a:srgbClr val="000000"/>
                </a:solidFill>
                <a:latin typeface="Doto"/>
                <a:ea typeface="Doto"/>
                <a:cs typeface="Doto"/>
                <a:sym typeface="Doto"/>
              </a:rPr>
              <a:t>Apertura de ficheros</a:t>
            </a:r>
            <a:endParaRPr b="0" i="0" sz="1400" u="none" cap="none" strike="noStrike">
              <a:solidFill>
                <a:srgbClr val="000000"/>
              </a:solidFill>
              <a:latin typeface="Arial"/>
              <a:ea typeface="Arial"/>
              <a:cs typeface="Arial"/>
              <a:sym typeface="Arial"/>
            </a:endParaRPr>
          </a:p>
        </p:txBody>
      </p:sp>
      <p:sp>
        <p:nvSpPr>
          <p:cNvPr id="234" name="Google Shape;234;g35c6d4126cd_0_41"/>
          <p:cNvSpPr txBox="1"/>
          <p:nvPr/>
        </p:nvSpPr>
        <p:spPr>
          <a:xfrm>
            <a:off x="628729" y="3925336"/>
            <a:ext cx="6940500" cy="1520400"/>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2299"/>
              <a:buFont typeface="Arial"/>
              <a:buNone/>
            </a:pPr>
            <a:r>
              <a:rPr b="0" i="0" lang="en-US" sz="2599" u="none" cap="none" strike="noStrike">
                <a:solidFill>
                  <a:srgbClr val="000000"/>
                </a:solidFill>
                <a:latin typeface="Arial"/>
                <a:ea typeface="Arial"/>
                <a:cs typeface="Arial"/>
                <a:sym typeface="Arial"/>
              </a:rPr>
              <a:t>Si el fichero no existe, open fallará con un traceback y no obtendrás ningún manejador para poder acceder a su contenido:</a:t>
            </a:r>
            <a:endParaRPr b="0" i="0" sz="1700" u="none" cap="none" strike="noStrike">
              <a:solidFill>
                <a:srgbClr val="000000"/>
              </a:solidFill>
              <a:latin typeface="Arial"/>
              <a:ea typeface="Arial"/>
              <a:cs typeface="Arial"/>
              <a:sym typeface="Arial"/>
            </a:endParaRPr>
          </a:p>
        </p:txBody>
      </p:sp>
      <p:pic>
        <p:nvPicPr>
          <p:cNvPr id="235" name="Google Shape;235;g35c6d4126cd_0_41"/>
          <p:cNvPicPr preferRelativeResize="0"/>
          <p:nvPr/>
        </p:nvPicPr>
        <p:blipFill rotWithShape="1">
          <a:blip r:embed="rId4">
            <a:alphaModFix/>
          </a:blip>
          <a:srcRect b="0" l="0" r="0" t="0"/>
          <a:stretch/>
        </p:blipFill>
        <p:spPr>
          <a:xfrm>
            <a:off x="9690650" y="4345350"/>
            <a:ext cx="7181025" cy="2438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239" name="Shape 239"/>
        <p:cNvGrpSpPr/>
        <p:nvPr/>
      </p:nvGrpSpPr>
      <p:grpSpPr>
        <a:xfrm>
          <a:off x="0" y="0"/>
          <a:ext cx="0" cy="0"/>
          <a:chOff x="0" y="0"/>
          <a:chExt cx="0" cy="0"/>
        </a:xfrm>
      </p:grpSpPr>
      <p:grpSp>
        <p:nvGrpSpPr>
          <p:cNvPr id="240" name="Google Shape;240;p6"/>
          <p:cNvGrpSpPr/>
          <p:nvPr/>
        </p:nvGrpSpPr>
        <p:grpSpPr>
          <a:xfrm>
            <a:off x="1268538" y="3122288"/>
            <a:ext cx="14540987" cy="2750242"/>
            <a:chOff x="0" y="0"/>
            <a:chExt cx="3171910" cy="938233"/>
          </a:xfrm>
        </p:grpSpPr>
        <p:sp>
          <p:nvSpPr>
            <p:cNvPr id="241" name="Google Shape;241;p6"/>
            <p:cNvSpPr/>
            <p:nvPr/>
          </p:nvSpPr>
          <p:spPr>
            <a:xfrm>
              <a:off x="0" y="0"/>
              <a:ext cx="3171910" cy="938233"/>
            </a:xfrm>
            <a:custGeom>
              <a:rect b="b" l="l" r="r" t="t"/>
              <a:pathLst>
                <a:path extrusionOk="0" h="938233" w="3171910">
                  <a:moveTo>
                    <a:pt x="0" y="0"/>
                  </a:moveTo>
                  <a:lnTo>
                    <a:pt x="3171910" y="0"/>
                  </a:lnTo>
                  <a:lnTo>
                    <a:pt x="3171910" y="938233"/>
                  </a:lnTo>
                  <a:lnTo>
                    <a:pt x="0" y="938233"/>
                  </a:lnTo>
                  <a:close/>
                </a:path>
              </a:pathLst>
            </a:custGeom>
            <a:solidFill>
              <a:srgbClr val="FFFFFF">
                <a:alpha val="34117"/>
              </a:srgbClr>
            </a:solidFill>
            <a:ln>
              <a:noFill/>
            </a:ln>
          </p:spPr>
        </p:sp>
        <p:sp>
          <p:nvSpPr>
            <p:cNvPr id="242" name="Google Shape;242;p6"/>
            <p:cNvSpPr txBox="1"/>
            <p:nvPr/>
          </p:nvSpPr>
          <p:spPr>
            <a:xfrm>
              <a:off x="0" y="19050"/>
              <a:ext cx="3171910" cy="919183"/>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3" name="Google Shape;243;p6"/>
          <p:cNvSpPr/>
          <p:nvPr/>
        </p:nvSpPr>
        <p:spPr>
          <a:xfrm flipH="1">
            <a:off x="-1532774" y="5477712"/>
            <a:ext cx="3419644" cy="6571588"/>
          </a:xfrm>
          <a:custGeom>
            <a:rect b="b" l="l" r="r" t="t"/>
            <a:pathLst>
              <a:path extrusionOk="0" h="6571588" w="3419644">
                <a:moveTo>
                  <a:pt x="3419643" y="0"/>
                </a:moveTo>
                <a:lnTo>
                  <a:pt x="0" y="0"/>
                </a:lnTo>
                <a:lnTo>
                  <a:pt x="0" y="6571588"/>
                </a:lnTo>
                <a:lnTo>
                  <a:pt x="3419643" y="6571588"/>
                </a:lnTo>
                <a:lnTo>
                  <a:pt x="3419643" y="0"/>
                </a:lnTo>
                <a:close/>
              </a:path>
            </a:pathLst>
          </a:custGeom>
          <a:blipFill rotWithShape="1">
            <a:blip r:embed="rId3">
              <a:alphaModFix/>
            </a:blip>
            <a:stretch>
              <a:fillRect b="0" l="0" r="0" t="0"/>
            </a:stretch>
          </a:blipFill>
          <a:ln>
            <a:noFill/>
          </a:ln>
        </p:spPr>
      </p:sp>
      <p:cxnSp>
        <p:nvCxnSpPr>
          <p:cNvPr id="244" name="Google Shape;244;p6"/>
          <p:cNvCxnSpPr/>
          <p:nvPr/>
        </p:nvCxnSpPr>
        <p:spPr>
          <a:xfrm>
            <a:off x="1448685" y="2833054"/>
            <a:ext cx="13186800" cy="49200"/>
          </a:xfrm>
          <a:prstGeom prst="straightConnector1">
            <a:avLst/>
          </a:prstGeom>
          <a:noFill/>
          <a:ln cap="flat" cmpd="sng" w="123825">
            <a:solidFill>
              <a:srgbClr val="EFA038"/>
            </a:solidFill>
            <a:prstDash val="solid"/>
            <a:round/>
            <a:headEnd len="sm" w="sm" type="none"/>
            <a:tailEnd len="sm" w="sm" type="none"/>
          </a:ln>
        </p:spPr>
      </p:cxnSp>
      <p:sp>
        <p:nvSpPr>
          <p:cNvPr id="245" name="Google Shape;245;p6"/>
          <p:cNvSpPr/>
          <p:nvPr/>
        </p:nvSpPr>
        <p:spPr>
          <a:xfrm flipH="1" rot="5400000">
            <a:off x="13292384" y="-2509369"/>
            <a:ext cx="3419644" cy="6571588"/>
          </a:xfrm>
          <a:custGeom>
            <a:rect b="b" l="l" r="r" t="t"/>
            <a:pathLst>
              <a:path extrusionOk="0" h="6571588" w="3419644">
                <a:moveTo>
                  <a:pt x="3419644" y="0"/>
                </a:moveTo>
                <a:lnTo>
                  <a:pt x="0" y="0"/>
                </a:lnTo>
                <a:lnTo>
                  <a:pt x="0" y="6571589"/>
                </a:lnTo>
                <a:lnTo>
                  <a:pt x="3419644" y="6571589"/>
                </a:lnTo>
                <a:lnTo>
                  <a:pt x="3419644" y="0"/>
                </a:lnTo>
                <a:close/>
              </a:path>
            </a:pathLst>
          </a:custGeom>
          <a:blipFill rotWithShape="1">
            <a:blip r:embed="rId3">
              <a:alphaModFix/>
            </a:blip>
            <a:stretch>
              <a:fillRect b="0" l="0" r="0" t="0"/>
            </a:stretch>
          </a:blipFill>
          <a:ln>
            <a:noFill/>
          </a:ln>
        </p:spPr>
      </p:sp>
      <p:sp>
        <p:nvSpPr>
          <p:cNvPr id="246" name="Google Shape;246;p6"/>
          <p:cNvSpPr txBox="1"/>
          <p:nvPr/>
        </p:nvSpPr>
        <p:spPr>
          <a:xfrm>
            <a:off x="1448675" y="3487525"/>
            <a:ext cx="14180700" cy="220170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Clr>
                <a:srgbClr val="000000"/>
              </a:buClr>
              <a:buSzPts val="3764"/>
              <a:buFont typeface="Arial"/>
              <a:buNone/>
            </a:pPr>
            <a:r>
              <a:rPr b="0" i="0" lang="en-US" sz="3764" u="none" cap="none" strike="noStrike">
                <a:solidFill>
                  <a:srgbClr val="000000"/>
                </a:solidFill>
                <a:latin typeface="Arial"/>
                <a:ea typeface="Arial"/>
                <a:cs typeface="Arial"/>
                <a:sym typeface="Arial"/>
              </a:rPr>
              <a:t>Con el método read() es posible leer un número de bytes determinados. Si no se indica número se leerá todo lo que reste o si se alcanzó el final del fichero devolverá una cadena vacía.</a:t>
            </a:r>
            <a:endParaRPr b="0" i="0" sz="1400" u="none" cap="none" strike="noStrike">
              <a:solidFill>
                <a:srgbClr val="000000"/>
              </a:solidFill>
              <a:latin typeface="Arial"/>
              <a:ea typeface="Arial"/>
              <a:cs typeface="Arial"/>
              <a:sym typeface="Arial"/>
            </a:endParaRPr>
          </a:p>
        </p:txBody>
      </p:sp>
      <p:sp>
        <p:nvSpPr>
          <p:cNvPr id="247" name="Google Shape;247;p6"/>
          <p:cNvSpPr txBox="1"/>
          <p:nvPr/>
        </p:nvSpPr>
        <p:spPr>
          <a:xfrm>
            <a:off x="1548076" y="1501250"/>
            <a:ext cx="10475400" cy="1100700"/>
          </a:xfrm>
          <a:prstGeom prst="rect">
            <a:avLst/>
          </a:prstGeom>
          <a:noFill/>
          <a:ln>
            <a:noFill/>
          </a:ln>
        </p:spPr>
        <p:txBody>
          <a:bodyPr anchorCtr="0" anchor="t" bIns="0" lIns="0" spcFirstLastPara="1" rIns="0" wrap="square" tIns="0">
            <a:spAutoFit/>
          </a:bodyPr>
          <a:lstStyle/>
          <a:p>
            <a:pPr indent="0" lvl="0" marL="0" marR="0" rtl="0" algn="l">
              <a:lnSpc>
                <a:spcPct val="116993"/>
              </a:lnSpc>
              <a:spcBef>
                <a:spcPts val="0"/>
              </a:spcBef>
              <a:spcAft>
                <a:spcPts val="0"/>
              </a:spcAft>
              <a:buClr>
                <a:srgbClr val="000000"/>
              </a:buClr>
              <a:buSzPts val="7150"/>
              <a:buFont typeface="Arial"/>
              <a:buNone/>
            </a:pPr>
            <a:r>
              <a:rPr b="1" i="0" lang="en-US" sz="7150" u="none" cap="none" strike="noStrike">
                <a:solidFill>
                  <a:srgbClr val="FFFFFF"/>
                </a:solidFill>
                <a:latin typeface="Doto Black"/>
                <a:ea typeface="Doto Black"/>
                <a:cs typeface="Doto Black"/>
                <a:sym typeface="Doto Black"/>
              </a:rPr>
              <a:t>Lectura de Ficheros</a:t>
            </a:r>
            <a:endParaRPr b="0" i="0" sz="1400" u="none" cap="none" strike="noStrike">
              <a:solidFill>
                <a:srgbClr val="000000"/>
              </a:solidFill>
              <a:latin typeface="Arial"/>
              <a:ea typeface="Arial"/>
              <a:cs typeface="Arial"/>
              <a:sym typeface="Arial"/>
            </a:endParaRPr>
          </a:p>
        </p:txBody>
      </p:sp>
      <p:pic>
        <p:nvPicPr>
          <p:cNvPr id="248" name="Google Shape;248;p6"/>
          <p:cNvPicPr preferRelativeResize="0"/>
          <p:nvPr/>
        </p:nvPicPr>
        <p:blipFill rotWithShape="1">
          <a:blip r:embed="rId4">
            <a:alphaModFix/>
          </a:blip>
          <a:srcRect b="0" l="0" r="0" t="0"/>
          <a:stretch/>
        </p:blipFill>
        <p:spPr>
          <a:xfrm>
            <a:off x="4365475" y="6574800"/>
            <a:ext cx="8347125" cy="2448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252" name="Shape 252"/>
        <p:cNvGrpSpPr/>
        <p:nvPr/>
      </p:nvGrpSpPr>
      <p:grpSpPr>
        <a:xfrm>
          <a:off x="0" y="0"/>
          <a:ext cx="0" cy="0"/>
          <a:chOff x="0" y="0"/>
          <a:chExt cx="0" cy="0"/>
        </a:xfrm>
      </p:grpSpPr>
      <p:grpSp>
        <p:nvGrpSpPr>
          <p:cNvPr id="253" name="Google Shape;253;g35c6d4126cd_0_65"/>
          <p:cNvGrpSpPr/>
          <p:nvPr/>
        </p:nvGrpSpPr>
        <p:grpSpPr>
          <a:xfrm>
            <a:off x="1268525" y="2382413"/>
            <a:ext cx="14540987" cy="2750292"/>
            <a:chOff x="0" y="0"/>
            <a:chExt cx="3171910" cy="938250"/>
          </a:xfrm>
        </p:grpSpPr>
        <p:sp>
          <p:nvSpPr>
            <p:cNvPr id="254" name="Google Shape;254;g35c6d4126cd_0_65"/>
            <p:cNvSpPr/>
            <p:nvPr/>
          </p:nvSpPr>
          <p:spPr>
            <a:xfrm>
              <a:off x="0" y="0"/>
              <a:ext cx="3171910" cy="938233"/>
            </a:xfrm>
            <a:custGeom>
              <a:rect b="b" l="l" r="r" t="t"/>
              <a:pathLst>
                <a:path extrusionOk="0" h="938233" w="3171910">
                  <a:moveTo>
                    <a:pt x="0" y="0"/>
                  </a:moveTo>
                  <a:lnTo>
                    <a:pt x="3171910" y="0"/>
                  </a:lnTo>
                  <a:lnTo>
                    <a:pt x="3171910" y="938233"/>
                  </a:lnTo>
                  <a:lnTo>
                    <a:pt x="0" y="938233"/>
                  </a:lnTo>
                  <a:close/>
                </a:path>
              </a:pathLst>
            </a:custGeom>
            <a:solidFill>
              <a:srgbClr val="FFFFFF">
                <a:alpha val="34509"/>
              </a:srgbClr>
            </a:solidFill>
            <a:ln>
              <a:noFill/>
            </a:ln>
          </p:spPr>
        </p:sp>
        <p:sp>
          <p:nvSpPr>
            <p:cNvPr id="255" name="Google Shape;255;g35c6d4126cd_0_65"/>
            <p:cNvSpPr txBox="1"/>
            <p:nvPr/>
          </p:nvSpPr>
          <p:spPr>
            <a:xfrm>
              <a:off x="0" y="19050"/>
              <a:ext cx="3171900" cy="9192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6" name="Google Shape;256;g35c6d4126cd_0_65"/>
          <p:cNvSpPr/>
          <p:nvPr/>
        </p:nvSpPr>
        <p:spPr>
          <a:xfrm flipH="1">
            <a:off x="-1532774" y="5477712"/>
            <a:ext cx="3419644" cy="6571588"/>
          </a:xfrm>
          <a:custGeom>
            <a:rect b="b" l="l" r="r" t="t"/>
            <a:pathLst>
              <a:path extrusionOk="0" h="6571588" w="3419644">
                <a:moveTo>
                  <a:pt x="3419643" y="0"/>
                </a:moveTo>
                <a:lnTo>
                  <a:pt x="0" y="0"/>
                </a:lnTo>
                <a:lnTo>
                  <a:pt x="0" y="6571588"/>
                </a:lnTo>
                <a:lnTo>
                  <a:pt x="3419643" y="6571588"/>
                </a:lnTo>
                <a:lnTo>
                  <a:pt x="3419643" y="0"/>
                </a:lnTo>
                <a:close/>
              </a:path>
            </a:pathLst>
          </a:custGeom>
          <a:blipFill rotWithShape="1">
            <a:blip r:embed="rId3">
              <a:alphaModFix/>
            </a:blip>
            <a:stretch>
              <a:fillRect b="0" l="0" r="0" t="0"/>
            </a:stretch>
          </a:blipFill>
          <a:ln>
            <a:noFill/>
          </a:ln>
        </p:spPr>
      </p:sp>
      <p:cxnSp>
        <p:nvCxnSpPr>
          <p:cNvPr id="257" name="Google Shape;257;g35c6d4126cd_0_65"/>
          <p:cNvCxnSpPr/>
          <p:nvPr/>
        </p:nvCxnSpPr>
        <p:spPr>
          <a:xfrm>
            <a:off x="1647460" y="1988229"/>
            <a:ext cx="13186800" cy="49200"/>
          </a:xfrm>
          <a:prstGeom prst="straightConnector1">
            <a:avLst/>
          </a:prstGeom>
          <a:noFill/>
          <a:ln cap="flat" cmpd="sng" w="123825">
            <a:solidFill>
              <a:srgbClr val="EFA038"/>
            </a:solidFill>
            <a:prstDash val="solid"/>
            <a:round/>
            <a:headEnd len="sm" w="sm" type="none"/>
            <a:tailEnd len="sm" w="sm" type="none"/>
          </a:ln>
        </p:spPr>
      </p:cxnSp>
      <p:sp>
        <p:nvSpPr>
          <p:cNvPr id="258" name="Google Shape;258;g35c6d4126cd_0_65"/>
          <p:cNvSpPr/>
          <p:nvPr/>
        </p:nvSpPr>
        <p:spPr>
          <a:xfrm flipH="1" rot="5400000">
            <a:off x="13292384" y="-2509369"/>
            <a:ext cx="3419644" cy="6571588"/>
          </a:xfrm>
          <a:custGeom>
            <a:rect b="b" l="l" r="r" t="t"/>
            <a:pathLst>
              <a:path extrusionOk="0" h="6571588" w="3419644">
                <a:moveTo>
                  <a:pt x="3419644" y="0"/>
                </a:moveTo>
                <a:lnTo>
                  <a:pt x="0" y="0"/>
                </a:lnTo>
                <a:lnTo>
                  <a:pt x="0" y="6571589"/>
                </a:lnTo>
                <a:lnTo>
                  <a:pt x="3419644" y="6571589"/>
                </a:lnTo>
                <a:lnTo>
                  <a:pt x="3419644" y="0"/>
                </a:lnTo>
                <a:close/>
              </a:path>
            </a:pathLst>
          </a:custGeom>
          <a:blipFill rotWithShape="1">
            <a:blip r:embed="rId3">
              <a:alphaModFix/>
            </a:blip>
            <a:stretch>
              <a:fillRect b="0" l="0" r="0" t="0"/>
            </a:stretch>
          </a:blipFill>
          <a:ln>
            <a:noFill/>
          </a:ln>
        </p:spPr>
      </p:sp>
      <p:sp>
        <p:nvSpPr>
          <p:cNvPr id="259" name="Google Shape;259;g35c6d4126cd_0_65"/>
          <p:cNvSpPr txBox="1"/>
          <p:nvPr/>
        </p:nvSpPr>
        <p:spPr>
          <a:xfrm>
            <a:off x="1647450" y="2656713"/>
            <a:ext cx="14180700" cy="220170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Clr>
                <a:srgbClr val="000000"/>
              </a:buClr>
              <a:buSzPts val="3764"/>
              <a:buFont typeface="Arial"/>
              <a:buNone/>
            </a:pPr>
            <a:r>
              <a:rPr b="0" i="0" lang="en-US" sz="3764" u="none" cap="none" strike="noStrike">
                <a:solidFill>
                  <a:srgbClr val="000000"/>
                </a:solidFill>
                <a:latin typeface="Arial"/>
                <a:ea typeface="Arial"/>
                <a:cs typeface="Arial"/>
                <a:sym typeface="Arial"/>
              </a:rPr>
              <a:t>El método write() escribe una cadena y el método writelines() escribe una lista a un archivo. Si en el momento de escribir el archivo no existe, se creará uno nuevo.</a:t>
            </a:r>
            <a:endParaRPr b="0" i="0" sz="1400" u="none" cap="none" strike="noStrike">
              <a:solidFill>
                <a:srgbClr val="000000"/>
              </a:solidFill>
              <a:latin typeface="Arial"/>
              <a:ea typeface="Arial"/>
              <a:cs typeface="Arial"/>
              <a:sym typeface="Arial"/>
            </a:endParaRPr>
          </a:p>
        </p:txBody>
      </p:sp>
      <p:sp>
        <p:nvSpPr>
          <p:cNvPr id="260" name="Google Shape;260;g35c6d4126cd_0_65"/>
          <p:cNvSpPr txBox="1"/>
          <p:nvPr/>
        </p:nvSpPr>
        <p:spPr>
          <a:xfrm>
            <a:off x="1647450" y="606725"/>
            <a:ext cx="12441300" cy="1100700"/>
          </a:xfrm>
          <a:prstGeom prst="rect">
            <a:avLst/>
          </a:prstGeom>
          <a:noFill/>
          <a:ln>
            <a:noFill/>
          </a:ln>
        </p:spPr>
        <p:txBody>
          <a:bodyPr anchorCtr="0" anchor="t" bIns="0" lIns="0" spcFirstLastPara="1" rIns="0" wrap="square" tIns="0">
            <a:spAutoFit/>
          </a:bodyPr>
          <a:lstStyle/>
          <a:p>
            <a:pPr indent="0" lvl="0" marL="0" marR="0" rtl="0" algn="l">
              <a:lnSpc>
                <a:spcPct val="116993"/>
              </a:lnSpc>
              <a:spcBef>
                <a:spcPts val="0"/>
              </a:spcBef>
              <a:spcAft>
                <a:spcPts val="0"/>
              </a:spcAft>
              <a:buClr>
                <a:srgbClr val="000000"/>
              </a:buClr>
              <a:buSzPts val="7150"/>
              <a:buFont typeface="Arial"/>
              <a:buNone/>
            </a:pPr>
            <a:r>
              <a:rPr b="1" i="0" lang="en-US" sz="7150" u="none" cap="none" strike="noStrike">
                <a:solidFill>
                  <a:srgbClr val="FFFFFF"/>
                </a:solidFill>
                <a:latin typeface="Doto Black"/>
                <a:ea typeface="Doto Black"/>
                <a:cs typeface="Doto Black"/>
                <a:sym typeface="Doto Black"/>
              </a:rPr>
              <a:t>Escritura de Ficheros</a:t>
            </a:r>
            <a:endParaRPr b="0" i="0" sz="1400" u="none" cap="none" strike="noStrike">
              <a:solidFill>
                <a:srgbClr val="000000"/>
              </a:solidFill>
              <a:latin typeface="Arial"/>
              <a:ea typeface="Arial"/>
              <a:cs typeface="Arial"/>
              <a:sym typeface="Arial"/>
            </a:endParaRPr>
          </a:p>
        </p:txBody>
      </p:sp>
      <p:pic>
        <p:nvPicPr>
          <p:cNvPr id="261" name="Google Shape;261;g35c6d4126cd_0_65"/>
          <p:cNvPicPr preferRelativeResize="0"/>
          <p:nvPr/>
        </p:nvPicPr>
        <p:blipFill rotWithShape="1">
          <a:blip r:embed="rId4">
            <a:alphaModFix/>
          </a:blip>
          <a:srcRect b="0" l="0" r="0" t="0"/>
          <a:stretch/>
        </p:blipFill>
        <p:spPr>
          <a:xfrm>
            <a:off x="5072737" y="5342350"/>
            <a:ext cx="6932550" cy="4116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265" name="Shape 265"/>
        <p:cNvGrpSpPr/>
        <p:nvPr/>
      </p:nvGrpSpPr>
      <p:grpSpPr>
        <a:xfrm>
          <a:off x="0" y="0"/>
          <a:ext cx="0" cy="0"/>
          <a:chOff x="0" y="0"/>
          <a:chExt cx="0" cy="0"/>
        </a:xfrm>
      </p:grpSpPr>
      <p:grpSp>
        <p:nvGrpSpPr>
          <p:cNvPr id="266" name="Google Shape;266;g35c6d4126cd_0_82"/>
          <p:cNvGrpSpPr/>
          <p:nvPr/>
        </p:nvGrpSpPr>
        <p:grpSpPr>
          <a:xfrm>
            <a:off x="1268525" y="2382413"/>
            <a:ext cx="14540987" cy="2750292"/>
            <a:chOff x="0" y="0"/>
            <a:chExt cx="3171910" cy="938250"/>
          </a:xfrm>
        </p:grpSpPr>
        <p:sp>
          <p:nvSpPr>
            <p:cNvPr id="267" name="Google Shape;267;g35c6d4126cd_0_82"/>
            <p:cNvSpPr/>
            <p:nvPr/>
          </p:nvSpPr>
          <p:spPr>
            <a:xfrm>
              <a:off x="0" y="0"/>
              <a:ext cx="3171910" cy="938233"/>
            </a:xfrm>
            <a:custGeom>
              <a:rect b="b" l="l" r="r" t="t"/>
              <a:pathLst>
                <a:path extrusionOk="0" h="938233" w="3171910">
                  <a:moveTo>
                    <a:pt x="0" y="0"/>
                  </a:moveTo>
                  <a:lnTo>
                    <a:pt x="3171910" y="0"/>
                  </a:lnTo>
                  <a:lnTo>
                    <a:pt x="3171910" y="938233"/>
                  </a:lnTo>
                  <a:lnTo>
                    <a:pt x="0" y="938233"/>
                  </a:lnTo>
                  <a:close/>
                </a:path>
              </a:pathLst>
            </a:custGeom>
            <a:solidFill>
              <a:srgbClr val="FFFFFF">
                <a:alpha val="34509"/>
              </a:srgbClr>
            </a:solidFill>
            <a:ln>
              <a:noFill/>
            </a:ln>
          </p:spPr>
        </p:sp>
        <p:sp>
          <p:nvSpPr>
            <p:cNvPr id="268" name="Google Shape;268;g35c6d4126cd_0_82"/>
            <p:cNvSpPr txBox="1"/>
            <p:nvPr/>
          </p:nvSpPr>
          <p:spPr>
            <a:xfrm>
              <a:off x="0" y="19050"/>
              <a:ext cx="3171900" cy="91920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9" name="Google Shape;269;g35c6d4126cd_0_82"/>
          <p:cNvSpPr/>
          <p:nvPr/>
        </p:nvSpPr>
        <p:spPr>
          <a:xfrm flipH="1">
            <a:off x="-1532774" y="5477712"/>
            <a:ext cx="3419644" cy="6571588"/>
          </a:xfrm>
          <a:custGeom>
            <a:rect b="b" l="l" r="r" t="t"/>
            <a:pathLst>
              <a:path extrusionOk="0" h="6571588" w="3419644">
                <a:moveTo>
                  <a:pt x="3419643" y="0"/>
                </a:moveTo>
                <a:lnTo>
                  <a:pt x="0" y="0"/>
                </a:lnTo>
                <a:lnTo>
                  <a:pt x="0" y="6571588"/>
                </a:lnTo>
                <a:lnTo>
                  <a:pt x="3419643" y="6571588"/>
                </a:lnTo>
                <a:lnTo>
                  <a:pt x="3419643" y="0"/>
                </a:lnTo>
                <a:close/>
              </a:path>
            </a:pathLst>
          </a:custGeom>
          <a:blipFill rotWithShape="1">
            <a:blip r:embed="rId3">
              <a:alphaModFix/>
            </a:blip>
            <a:stretch>
              <a:fillRect b="0" l="0" r="0" t="0"/>
            </a:stretch>
          </a:blipFill>
          <a:ln>
            <a:noFill/>
          </a:ln>
        </p:spPr>
      </p:sp>
      <p:cxnSp>
        <p:nvCxnSpPr>
          <p:cNvPr id="270" name="Google Shape;270;g35c6d4126cd_0_82"/>
          <p:cNvCxnSpPr/>
          <p:nvPr/>
        </p:nvCxnSpPr>
        <p:spPr>
          <a:xfrm>
            <a:off x="1647460" y="1988229"/>
            <a:ext cx="13186800" cy="49200"/>
          </a:xfrm>
          <a:prstGeom prst="straightConnector1">
            <a:avLst/>
          </a:prstGeom>
          <a:noFill/>
          <a:ln cap="flat" cmpd="sng" w="123825">
            <a:solidFill>
              <a:srgbClr val="EFA038"/>
            </a:solidFill>
            <a:prstDash val="solid"/>
            <a:round/>
            <a:headEnd len="sm" w="sm" type="none"/>
            <a:tailEnd len="sm" w="sm" type="none"/>
          </a:ln>
        </p:spPr>
      </p:cxnSp>
      <p:sp>
        <p:nvSpPr>
          <p:cNvPr id="271" name="Google Shape;271;g35c6d4126cd_0_82"/>
          <p:cNvSpPr/>
          <p:nvPr/>
        </p:nvSpPr>
        <p:spPr>
          <a:xfrm flipH="1" rot="5400000">
            <a:off x="13292384" y="-2509369"/>
            <a:ext cx="3419644" cy="6571588"/>
          </a:xfrm>
          <a:custGeom>
            <a:rect b="b" l="l" r="r" t="t"/>
            <a:pathLst>
              <a:path extrusionOk="0" h="6571588" w="3419644">
                <a:moveTo>
                  <a:pt x="3419644" y="0"/>
                </a:moveTo>
                <a:lnTo>
                  <a:pt x="0" y="0"/>
                </a:lnTo>
                <a:lnTo>
                  <a:pt x="0" y="6571589"/>
                </a:lnTo>
                <a:lnTo>
                  <a:pt x="3419644" y="6571589"/>
                </a:lnTo>
                <a:lnTo>
                  <a:pt x="3419644" y="0"/>
                </a:lnTo>
                <a:close/>
              </a:path>
            </a:pathLst>
          </a:custGeom>
          <a:blipFill rotWithShape="1">
            <a:blip r:embed="rId3">
              <a:alphaModFix/>
            </a:blip>
            <a:stretch>
              <a:fillRect b="0" l="0" r="0" t="0"/>
            </a:stretch>
          </a:blipFill>
          <a:ln>
            <a:noFill/>
          </a:ln>
        </p:spPr>
      </p:sp>
      <p:sp>
        <p:nvSpPr>
          <p:cNvPr id="272" name="Google Shape;272;g35c6d4126cd_0_82"/>
          <p:cNvSpPr txBox="1"/>
          <p:nvPr/>
        </p:nvSpPr>
        <p:spPr>
          <a:xfrm>
            <a:off x="1647450" y="2656713"/>
            <a:ext cx="14180700" cy="1390500"/>
          </a:xfrm>
          <a:prstGeom prst="rect">
            <a:avLst/>
          </a:prstGeom>
          <a:noFill/>
          <a:ln>
            <a:noFill/>
          </a:ln>
        </p:spPr>
        <p:txBody>
          <a:bodyPr anchorCtr="0" anchor="t" bIns="0" lIns="0" spcFirstLastPara="1" rIns="0" wrap="square" tIns="0">
            <a:spAutoFit/>
          </a:bodyPr>
          <a:lstStyle/>
          <a:p>
            <a:pPr indent="0" lvl="0" marL="0" marR="0" rtl="0" algn="just">
              <a:lnSpc>
                <a:spcPct val="140010"/>
              </a:lnSpc>
              <a:spcBef>
                <a:spcPts val="0"/>
              </a:spcBef>
              <a:spcAft>
                <a:spcPts val="0"/>
              </a:spcAft>
              <a:buClr>
                <a:srgbClr val="000000"/>
              </a:buClr>
              <a:buSzPts val="3764"/>
              <a:buFont typeface="Arial"/>
              <a:buNone/>
            </a:pPr>
            <a:r>
              <a:rPr b="0" i="0" lang="en-US" sz="3764" u="none" cap="none" strike="noStrike">
                <a:solidFill>
                  <a:srgbClr val="000000"/>
                </a:solidFill>
                <a:latin typeface="Arial"/>
                <a:ea typeface="Arial"/>
                <a:cs typeface="Arial"/>
                <a:sym typeface="Arial"/>
              </a:rPr>
              <a:t>Se refiere a abrir el archivo en un modo que permite agregar datos al final del archivo existente, sin sobreescribir su contenido.</a:t>
            </a:r>
            <a:endParaRPr b="0" i="0" sz="1400" u="none" cap="none" strike="noStrike">
              <a:solidFill>
                <a:srgbClr val="000000"/>
              </a:solidFill>
              <a:latin typeface="Arial"/>
              <a:ea typeface="Arial"/>
              <a:cs typeface="Arial"/>
              <a:sym typeface="Arial"/>
            </a:endParaRPr>
          </a:p>
        </p:txBody>
      </p:sp>
      <p:sp>
        <p:nvSpPr>
          <p:cNvPr id="273" name="Google Shape;273;g35c6d4126cd_0_82"/>
          <p:cNvSpPr txBox="1"/>
          <p:nvPr/>
        </p:nvSpPr>
        <p:spPr>
          <a:xfrm>
            <a:off x="1647450" y="606725"/>
            <a:ext cx="12441300" cy="1100700"/>
          </a:xfrm>
          <a:prstGeom prst="rect">
            <a:avLst/>
          </a:prstGeom>
          <a:noFill/>
          <a:ln>
            <a:noFill/>
          </a:ln>
        </p:spPr>
        <p:txBody>
          <a:bodyPr anchorCtr="0" anchor="t" bIns="0" lIns="0" spcFirstLastPara="1" rIns="0" wrap="square" tIns="0">
            <a:spAutoFit/>
          </a:bodyPr>
          <a:lstStyle/>
          <a:p>
            <a:pPr indent="0" lvl="0" marL="0" marR="0" rtl="0" algn="l">
              <a:lnSpc>
                <a:spcPct val="116993"/>
              </a:lnSpc>
              <a:spcBef>
                <a:spcPts val="0"/>
              </a:spcBef>
              <a:spcAft>
                <a:spcPts val="0"/>
              </a:spcAft>
              <a:buClr>
                <a:srgbClr val="000000"/>
              </a:buClr>
              <a:buSzPts val="7150"/>
              <a:buFont typeface="Arial"/>
              <a:buNone/>
            </a:pPr>
            <a:r>
              <a:rPr b="1" i="0" lang="en-US" sz="7150" u="none" cap="none" strike="noStrike">
                <a:solidFill>
                  <a:srgbClr val="FFFFFF"/>
                </a:solidFill>
                <a:latin typeface="Doto Black"/>
                <a:ea typeface="Doto Black"/>
                <a:cs typeface="Doto Black"/>
                <a:sym typeface="Doto Black"/>
              </a:rPr>
              <a:t>Apendice de Ficheros</a:t>
            </a:r>
            <a:endParaRPr b="0" i="0" sz="1400" u="none" cap="none" strike="noStrike">
              <a:solidFill>
                <a:srgbClr val="000000"/>
              </a:solidFill>
              <a:latin typeface="Arial"/>
              <a:ea typeface="Arial"/>
              <a:cs typeface="Arial"/>
              <a:sym typeface="Arial"/>
            </a:endParaRPr>
          </a:p>
        </p:txBody>
      </p:sp>
      <p:pic>
        <p:nvPicPr>
          <p:cNvPr id="274" name="Google Shape;274;g35c6d4126cd_0_82"/>
          <p:cNvPicPr preferRelativeResize="0"/>
          <p:nvPr/>
        </p:nvPicPr>
        <p:blipFill rotWithShape="1">
          <a:blip r:embed="rId4">
            <a:alphaModFix/>
          </a:blip>
          <a:srcRect b="0" l="0" r="0" t="0"/>
          <a:stretch/>
        </p:blipFill>
        <p:spPr>
          <a:xfrm>
            <a:off x="4265187" y="5807700"/>
            <a:ext cx="8547650" cy="3419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4584" l="0" r="-61131" t="0"/>
            </a:stretch>
          </a:blipFill>
          <a:ln>
            <a:noFill/>
          </a:ln>
        </p:spPr>
      </p:sp>
      <p:sp>
        <p:nvSpPr>
          <p:cNvPr id="280" name="Google Shape;280;p9"/>
          <p:cNvSpPr txBox="1"/>
          <p:nvPr/>
        </p:nvSpPr>
        <p:spPr>
          <a:xfrm>
            <a:off x="2391687" y="1523545"/>
            <a:ext cx="12740700" cy="1015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600"/>
              <a:buFont typeface="Arial"/>
              <a:buNone/>
            </a:pPr>
            <a:r>
              <a:rPr b="1" i="0" lang="en-US" sz="6600" u="none" cap="none" strike="noStrike">
                <a:solidFill>
                  <a:srgbClr val="000000"/>
                </a:solidFill>
                <a:latin typeface="Doto Black"/>
                <a:ea typeface="Doto Black"/>
                <a:cs typeface="Doto Black"/>
                <a:sym typeface="Doto Black"/>
              </a:rPr>
              <a:t>Diccionario</a:t>
            </a:r>
            <a:endParaRPr b="0" i="0" sz="1400" u="none" cap="none" strike="noStrike">
              <a:solidFill>
                <a:srgbClr val="000000"/>
              </a:solidFill>
              <a:latin typeface="Arial"/>
              <a:ea typeface="Arial"/>
              <a:cs typeface="Arial"/>
              <a:sym typeface="Arial"/>
            </a:endParaRPr>
          </a:p>
        </p:txBody>
      </p:sp>
      <p:cxnSp>
        <p:nvCxnSpPr>
          <p:cNvPr id="281" name="Google Shape;281;p9"/>
          <p:cNvCxnSpPr/>
          <p:nvPr/>
        </p:nvCxnSpPr>
        <p:spPr>
          <a:xfrm flipH="1" rot="10800000">
            <a:off x="1684760" y="3057028"/>
            <a:ext cx="14770540" cy="8429"/>
          </a:xfrm>
          <a:prstGeom prst="straightConnector1">
            <a:avLst/>
          </a:prstGeom>
          <a:noFill/>
          <a:ln cap="flat" cmpd="sng" w="238125">
            <a:solidFill>
              <a:srgbClr val="EFA038"/>
            </a:solidFill>
            <a:prstDash val="solid"/>
            <a:round/>
            <a:headEnd len="sm" w="sm" type="none"/>
            <a:tailEnd len="sm" w="sm" type="none"/>
          </a:ln>
        </p:spPr>
      </p:cxnSp>
      <p:sp>
        <p:nvSpPr>
          <p:cNvPr id="282" name="Google Shape;282;p9"/>
          <p:cNvSpPr txBox="1"/>
          <p:nvPr/>
        </p:nvSpPr>
        <p:spPr>
          <a:xfrm>
            <a:off x="1399029" y="3999886"/>
            <a:ext cx="6940500" cy="4881000"/>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Clr>
                <a:srgbClr val="000000"/>
              </a:buClr>
              <a:buSzPts val="2299"/>
              <a:buFont typeface="Arial"/>
              <a:buNone/>
            </a:pPr>
            <a:r>
              <a:rPr b="0" i="0" lang="en-US" sz="2599" u="none" cap="none" strike="noStrike">
                <a:solidFill>
                  <a:srgbClr val="000000"/>
                </a:solidFill>
                <a:latin typeface="Arial"/>
                <a:ea typeface="Arial"/>
                <a:cs typeface="Arial"/>
                <a:sym typeface="Arial"/>
              </a:rPr>
              <a:t>En Python un diccionario es un conjunto desordenado de pares clave-valor, en el que la clave debe ser única y puede ser cualquier tipo de datos inmutable como enteros, cadenas, booleanos, etc. Para los valores que se pueden tener dentro de un diccionario no hay restricciones ya que pueden ser de cualquier tipo como listas, cadenas, enteros, tuplas, incluso otro diccinario.</a:t>
            </a:r>
            <a:endParaRPr b="0" i="0" sz="1700" u="none" cap="none" strike="noStrike">
              <a:solidFill>
                <a:srgbClr val="000000"/>
              </a:solidFill>
              <a:latin typeface="Arial"/>
              <a:ea typeface="Arial"/>
              <a:cs typeface="Arial"/>
              <a:sym typeface="Arial"/>
            </a:endParaRPr>
          </a:p>
        </p:txBody>
      </p:sp>
      <p:pic>
        <p:nvPicPr>
          <p:cNvPr id="283" name="Google Shape;283;p9"/>
          <p:cNvPicPr preferRelativeResize="0"/>
          <p:nvPr/>
        </p:nvPicPr>
        <p:blipFill rotWithShape="1">
          <a:blip r:embed="rId4">
            <a:alphaModFix/>
          </a:blip>
          <a:srcRect b="0" l="0" r="0" t="0"/>
          <a:stretch/>
        </p:blipFill>
        <p:spPr>
          <a:xfrm>
            <a:off x="10557638" y="3925775"/>
            <a:ext cx="6124575" cy="5029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4586" l="0" r="-61124" t="0"/>
            </a:stretch>
          </a:blipFill>
          <a:ln>
            <a:noFill/>
          </a:ln>
        </p:spPr>
      </p:sp>
      <p:cxnSp>
        <p:nvCxnSpPr>
          <p:cNvPr id="289" name="Google Shape;289;p10"/>
          <p:cNvCxnSpPr/>
          <p:nvPr/>
        </p:nvCxnSpPr>
        <p:spPr>
          <a:xfrm flipH="1" rot="10800000">
            <a:off x="1684760" y="3057028"/>
            <a:ext cx="14770540" cy="8429"/>
          </a:xfrm>
          <a:prstGeom prst="straightConnector1">
            <a:avLst/>
          </a:prstGeom>
          <a:noFill/>
          <a:ln cap="flat" cmpd="sng" w="238125">
            <a:solidFill>
              <a:srgbClr val="EFA038"/>
            </a:solidFill>
            <a:prstDash val="solid"/>
            <a:round/>
            <a:headEnd len="sm" w="sm" type="none"/>
            <a:tailEnd len="sm" w="sm" type="none"/>
          </a:ln>
        </p:spPr>
      </p:cxnSp>
      <p:sp>
        <p:nvSpPr>
          <p:cNvPr id="290" name="Google Shape;290;p10"/>
          <p:cNvSpPr txBox="1"/>
          <p:nvPr/>
        </p:nvSpPr>
        <p:spPr>
          <a:xfrm>
            <a:off x="2773650" y="1841950"/>
            <a:ext cx="13476900" cy="939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100"/>
              <a:buFont typeface="Arial"/>
              <a:buNone/>
            </a:pPr>
            <a:r>
              <a:rPr b="1" i="1" lang="en-US" sz="6100" u="none" cap="none" strike="noStrike">
                <a:solidFill>
                  <a:srgbClr val="000000"/>
                </a:solidFill>
                <a:latin typeface="Doto Black"/>
                <a:ea typeface="Doto Black"/>
                <a:cs typeface="Doto Black"/>
                <a:sym typeface="Doto Black"/>
              </a:rPr>
              <a:t>Sintaxis de los Diccionarios</a:t>
            </a:r>
            <a:endParaRPr b="0" i="0" sz="1400" u="none" cap="none" strike="noStrike">
              <a:solidFill>
                <a:srgbClr val="000000"/>
              </a:solidFill>
              <a:latin typeface="Arial"/>
              <a:ea typeface="Arial"/>
              <a:cs typeface="Arial"/>
              <a:sym typeface="Arial"/>
            </a:endParaRPr>
          </a:p>
        </p:txBody>
      </p:sp>
      <p:pic>
        <p:nvPicPr>
          <p:cNvPr id="291" name="Google Shape;291;p10"/>
          <p:cNvPicPr preferRelativeResize="0"/>
          <p:nvPr/>
        </p:nvPicPr>
        <p:blipFill rotWithShape="1">
          <a:blip r:embed="rId4">
            <a:alphaModFix/>
          </a:blip>
          <a:srcRect b="0" l="0" r="0" t="0"/>
          <a:stretch/>
        </p:blipFill>
        <p:spPr>
          <a:xfrm>
            <a:off x="3359775" y="4326825"/>
            <a:ext cx="11420475" cy="4267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E6E80"/>
        </a:solidFill>
      </p:bgPr>
    </p:bg>
    <p:spTree>
      <p:nvGrpSpPr>
        <p:cNvPr id="295" name="Shape 295"/>
        <p:cNvGrpSpPr/>
        <p:nvPr/>
      </p:nvGrpSpPr>
      <p:grpSpPr>
        <a:xfrm>
          <a:off x="0" y="0"/>
          <a:ext cx="0" cy="0"/>
          <a:chOff x="0" y="0"/>
          <a:chExt cx="0" cy="0"/>
        </a:xfrm>
      </p:grpSpPr>
      <p:sp>
        <p:nvSpPr>
          <p:cNvPr id="296" name="Google Shape;296;p12"/>
          <p:cNvSpPr/>
          <p:nvPr/>
        </p:nvSpPr>
        <p:spPr>
          <a:xfrm rot="10800000">
            <a:off x="15099123" y="5203330"/>
            <a:ext cx="4252774" cy="8109941"/>
          </a:xfrm>
          <a:custGeom>
            <a:rect b="b" l="l" r="r" t="t"/>
            <a:pathLst>
              <a:path extrusionOk="0" h="8109941" w="4252774">
                <a:moveTo>
                  <a:pt x="0" y="0"/>
                </a:moveTo>
                <a:lnTo>
                  <a:pt x="4252774" y="0"/>
                </a:lnTo>
                <a:lnTo>
                  <a:pt x="4252774" y="8109940"/>
                </a:lnTo>
                <a:lnTo>
                  <a:pt x="0" y="8109940"/>
                </a:lnTo>
                <a:lnTo>
                  <a:pt x="0" y="0"/>
                </a:lnTo>
                <a:close/>
              </a:path>
            </a:pathLst>
          </a:custGeom>
          <a:blipFill rotWithShape="1">
            <a:blip r:embed="rId3">
              <a:alphaModFix/>
            </a:blip>
            <a:stretch>
              <a:fillRect b="-72229" l="-764106" r="-242700" t="-10643"/>
            </a:stretch>
          </a:blipFill>
          <a:ln>
            <a:noFill/>
          </a:ln>
        </p:spPr>
      </p:sp>
      <p:sp>
        <p:nvSpPr>
          <p:cNvPr id="297" name="Google Shape;297;p12"/>
          <p:cNvSpPr/>
          <p:nvPr/>
        </p:nvSpPr>
        <p:spPr>
          <a:xfrm>
            <a:off x="-399559" y="-411658"/>
            <a:ext cx="4252774" cy="8109941"/>
          </a:xfrm>
          <a:custGeom>
            <a:rect b="b" l="l" r="r" t="t"/>
            <a:pathLst>
              <a:path extrusionOk="0" h="8109941" w="4252774">
                <a:moveTo>
                  <a:pt x="0" y="0"/>
                </a:moveTo>
                <a:lnTo>
                  <a:pt x="4252773" y="0"/>
                </a:lnTo>
                <a:lnTo>
                  <a:pt x="4252773" y="8109941"/>
                </a:lnTo>
                <a:lnTo>
                  <a:pt x="0" y="8109941"/>
                </a:lnTo>
                <a:lnTo>
                  <a:pt x="0" y="0"/>
                </a:lnTo>
                <a:close/>
              </a:path>
            </a:pathLst>
          </a:custGeom>
          <a:blipFill rotWithShape="1">
            <a:blip r:embed="rId3">
              <a:alphaModFix/>
            </a:blip>
            <a:stretch>
              <a:fillRect b="-72229" l="-764106" r="-242700" t="-10643"/>
            </a:stretch>
          </a:blipFill>
          <a:ln>
            <a:noFill/>
          </a:ln>
        </p:spPr>
      </p:sp>
      <p:sp>
        <p:nvSpPr>
          <p:cNvPr id="298" name="Google Shape;298;p12"/>
          <p:cNvSpPr txBox="1"/>
          <p:nvPr/>
        </p:nvSpPr>
        <p:spPr>
          <a:xfrm>
            <a:off x="653216" y="1034250"/>
            <a:ext cx="17279700" cy="2865000"/>
          </a:xfrm>
          <a:prstGeom prst="rect">
            <a:avLst/>
          </a:prstGeom>
          <a:noFill/>
          <a:ln>
            <a:noFill/>
          </a:ln>
        </p:spPr>
        <p:txBody>
          <a:bodyPr anchorCtr="0" anchor="t" bIns="0" lIns="0" spcFirstLastPara="1" rIns="0" wrap="square" tIns="0">
            <a:spAutoFit/>
          </a:bodyPr>
          <a:lstStyle/>
          <a:p>
            <a:pPr indent="0" lvl="0" marL="0" marR="0" rtl="0" algn="ctr">
              <a:lnSpc>
                <a:spcPct val="119997"/>
              </a:lnSpc>
              <a:spcBef>
                <a:spcPts val="0"/>
              </a:spcBef>
              <a:spcAft>
                <a:spcPts val="0"/>
              </a:spcAft>
              <a:buClr>
                <a:srgbClr val="000000"/>
              </a:buClr>
              <a:buSzPts val="8461"/>
              <a:buFont typeface="Arial"/>
              <a:buNone/>
            </a:pPr>
            <a:r>
              <a:rPr b="1" i="0" lang="en-US" sz="8461" u="none" cap="none" strike="noStrike">
                <a:solidFill>
                  <a:srgbClr val="EFA038"/>
                </a:solidFill>
                <a:latin typeface="Doto Black"/>
                <a:ea typeface="Doto Black"/>
                <a:cs typeface="Doto Black"/>
                <a:sym typeface="Doto Black"/>
              </a:rPr>
              <a:t>Aplicar lo aprendido (Ejemplo)</a:t>
            </a:r>
            <a:endParaRPr b="0" i="0" sz="1400" u="none" cap="none" strike="noStrike">
              <a:solidFill>
                <a:srgbClr val="000000"/>
              </a:solidFill>
              <a:latin typeface="Arial"/>
              <a:ea typeface="Arial"/>
              <a:cs typeface="Arial"/>
              <a:sym typeface="Arial"/>
            </a:endParaRPr>
          </a:p>
        </p:txBody>
      </p:sp>
      <p:pic>
        <p:nvPicPr>
          <p:cNvPr id="299" name="Google Shape;299;p12"/>
          <p:cNvPicPr preferRelativeResize="0"/>
          <p:nvPr/>
        </p:nvPicPr>
        <p:blipFill rotWithShape="1">
          <a:blip r:embed="rId4">
            <a:alphaModFix/>
          </a:blip>
          <a:srcRect b="0" l="0" r="0" t="0"/>
          <a:stretch/>
        </p:blipFill>
        <p:spPr>
          <a:xfrm>
            <a:off x="5690150" y="4834375"/>
            <a:ext cx="6833150" cy="3613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4584" l="0" r="-61131" t="0"/>
            </a:stretch>
          </a:blipFill>
          <a:ln>
            <a:noFill/>
          </a:ln>
        </p:spPr>
      </p:sp>
      <p:cxnSp>
        <p:nvCxnSpPr>
          <p:cNvPr id="305" name="Google Shape;305;p11"/>
          <p:cNvCxnSpPr/>
          <p:nvPr/>
        </p:nvCxnSpPr>
        <p:spPr>
          <a:xfrm flipH="1" rot="10800000">
            <a:off x="1684760" y="3057028"/>
            <a:ext cx="14770540" cy="8429"/>
          </a:xfrm>
          <a:prstGeom prst="straightConnector1">
            <a:avLst/>
          </a:prstGeom>
          <a:noFill/>
          <a:ln cap="flat" cmpd="sng" w="238125">
            <a:solidFill>
              <a:srgbClr val="EFA038"/>
            </a:solidFill>
            <a:prstDash val="solid"/>
            <a:round/>
            <a:headEnd len="sm" w="sm" type="none"/>
            <a:tailEnd len="sm" w="sm" type="none"/>
          </a:ln>
        </p:spPr>
      </p:cxnSp>
      <p:sp>
        <p:nvSpPr>
          <p:cNvPr id="306" name="Google Shape;306;p11"/>
          <p:cNvSpPr txBox="1"/>
          <p:nvPr/>
        </p:nvSpPr>
        <p:spPr>
          <a:xfrm>
            <a:off x="2773658" y="1841956"/>
            <a:ext cx="12740700" cy="939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100"/>
              <a:buFont typeface="Arial"/>
              <a:buNone/>
            </a:pPr>
            <a:r>
              <a:rPr b="1" i="1" lang="en-US" sz="6100" u="none" cap="none" strike="noStrike">
                <a:solidFill>
                  <a:srgbClr val="000000"/>
                </a:solidFill>
                <a:latin typeface="Doto Black"/>
                <a:ea typeface="Doto Black"/>
                <a:cs typeface="Doto Black"/>
                <a:sym typeface="Doto Black"/>
              </a:rPr>
              <a:t>Conceptos claves aprendidos</a:t>
            </a:r>
            <a:endParaRPr b="0" i="0" sz="1400" u="none" cap="none" strike="noStrike">
              <a:solidFill>
                <a:srgbClr val="000000"/>
              </a:solidFill>
              <a:latin typeface="Arial"/>
              <a:ea typeface="Arial"/>
              <a:cs typeface="Arial"/>
              <a:sym typeface="Arial"/>
            </a:endParaRPr>
          </a:p>
        </p:txBody>
      </p:sp>
      <p:sp>
        <p:nvSpPr>
          <p:cNvPr id="307" name="Google Shape;307;p11"/>
          <p:cNvSpPr txBox="1"/>
          <p:nvPr/>
        </p:nvSpPr>
        <p:spPr>
          <a:xfrm>
            <a:off x="1684750" y="4020600"/>
            <a:ext cx="9447000" cy="5067300"/>
          </a:xfrm>
          <a:prstGeom prst="rect">
            <a:avLst/>
          </a:prstGeom>
          <a:noFill/>
          <a:ln>
            <a:noFill/>
          </a:ln>
        </p:spPr>
        <p:txBody>
          <a:bodyPr anchorCtr="0" anchor="t" bIns="0" lIns="0" spcFirstLastPara="1" rIns="0" wrap="square" tIns="0">
            <a:spAutoFit/>
          </a:bodyPr>
          <a:lstStyle/>
          <a:p>
            <a:pPr indent="-450977" lvl="0" marL="457200" marR="0" rtl="0" algn="just">
              <a:lnSpc>
                <a:spcPct val="140005"/>
              </a:lnSpc>
              <a:spcBef>
                <a:spcPts val="0"/>
              </a:spcBef>
              <a:spcAft>
                <a:spcPts val="0"/>
              </a:spcAft>
              <a:buClr>
                <a:srgbClr val="000000"/>
              </a:buClr>
              <a:buSzPts val="3502"/>
              <a:buFont typeface="Arial"/>
              <a:buChar char="●"/>
            </a:pPr>
            <a:r>
              <a:rPr b="0" i="0" lang="en-US" sz="3502" u="none" cap="none" strike="noStrike">
                <a:solidFill>
                  <a:srgbClr val="000000"/>
                </a:solidFill>
                <a:latin typeface="Arial"/>
                <a:ea typeface="Arial"/>
                <a:cs typeface="Arial"/>
                <a:sym typeface="Arial"/>
              </a:rPr>
              <a:t>Ficheros</a:t>
            </a:r>
            <a:endParaRPr b="0" i="0" sz="3502" u="none" cap="none" strike="noStrike">
              <a:solidFill>
                <a:srgbClr val="000000"/>
              </a:solidFill>
              <a:latin typeface="Arial"/>
              <a:ea typeface="Arial"/>
              <a:cs typeface="Arial"/>
              <a:sym typeface="Arial"/>
            </a:endParaRPr>
          </a:p>
          <a:p>
            <a:pPr indent="-450977" lvl="0" marL="457200" marR="0" rtl="0" algn="just">
              <a:lnSpc>
                <a:spcPct val="140005"/>
              </a:lnSpc>
              <a:spcBef>
                <a:spcPts val="0"/>
              </a:spcBef>
              <a:spcAft>
                <a:spcPts val="0"/>
              </a:spcAft>
              <a:buClr>
                <a:srgbClr val="000000"/>
              </a:buClr>
              <a:buSzPts val="3502"/>
              <a:buFont typeface="Arial"/>
              <a:buChar char="●"/>
            </a:pPr>
            <a:r>
              <a:rPr b="0" i="0" lang="en-US" sz="3502" u="none" cap="none" strike="noStrike">
                <a:solidFill>
                  <a:srgbClr val="000000"/>
                </a:solidFill>
                <a:latin typeface="Arial"/>
                <a:ea typeface="Arial"/>
                <a:cs typeface="Arial"/>
                <a:sym typeface="Arial"/>
              </a:rPr>
              <a:t>Modos de un fichero</a:t>
            </a:r>
            <a:endParaRPr b="0" i="0" sz="3502" u="none" cap="none" strike="noStrike">
              <a:solidFill>
                <a:srgbClr val="000000"/>
              </a:solidFill>
              <a:latin typeface="Arial"/>
              <a:ea typeface="Arial"/>
              <a:cs typeface="Arial"/>
              <a:sym typeface="Arial"/>
            </a:endParaRPr>
          </a:p>
          <a:p>
            <a:pPr indent="-450977" lvl="0" marL="457200" marR="0" rtl="0" algn="just">
              <a:lnSpc>
                <a:spcPct val="140005"/>
              </a:lnSpc>
              <a:spcBef>
                <a:spcPts val="0"/>
              </a:spcBef>
              <a:spcAft>
                <a:spcPts val="0"/>
              </a:spcAft>
              <a:buClr>
                <a:srgbClr val="000000"/>
              </a:buClr>
              <a:buSzPts val="3502"/>
              <a:buFont typeface="Arial"/>
              <a:buChar char="●"/>
            </a:pPr>
            <a:r>
              <a:rPr b="0" i="0" lang="en-US" sz="3502" u="none" cap="none" strike="noStrike">
                <a:solidFill>
                  <a:srgbClr val="000000"/>
                </a:solidFill>
                <a:latin typeface="Arial"/>
                <a:ea typeface="Arial"/>
                <a:cs typeface="Arial"/>
                <a:sym typeface="Arial"/>
              </a:rPr>
              <a:t>Manipulación de un fichero en Python.</a:t>
            </a:r>
            <a:endParaRPr b="0" i="0" sz="3502" u="none" cap="none" strike="noStrike">
              <a:solidFill>
                <a:srgbClr val="000000"/>
              </a:solidFill>
              <a:latin typeface="Arial"/>
              <a:ea typeface="Arial"/>
              <a:cs typeface="Arial"/>
              <a:sym typeface="Arial"/>
            </a:endParaRPr>
          </a:p>
          <a:p>
            <a:pPr indent="-450977" lvl="0" marL="457200" marR="0" rtl="0" algn="just">
              <a:lnSpc>
                <a:spcPct val="140005"/>
              </a:lnSpc>
              <a:spcBef>
                <a:spcPts val="0"/>
              </a:spcBef>
              <a:spcAft>
                <a:spcPts val="0"/>
              </a:spcAft>
              <a:buClr>
                <a:srgbClr val="000000"/>
              </a:buClr>
              <a:buSzPts val="3502"/>
              <a:buFont typeface="Arial"/>
              <a:buChar char="●"/>
            </a:pPr>
            <a:r>
              <a:rPr b="0" i="0" lang="en-US" sz="3502" u="none" cap="none" strike="noStrike">
                <a:solidFill>
                  <a:srgbClr val="000000"/>
                </a:solidFill>
                <a:latin typeface="Arial"/>
                <a:ea typeface="Arial"/>
                <a:cs typeface="Arial"/>
                <a:sym typeface="Arial"/>
              </a:rPr>
              <a:t>Diccionarios</a:t>
            </a:r>
            <a:endParaRPr b="0" i="0" sz="3502" u="none" cap="none" strike="noStrike">
              <a:solidFill>
                <a:srgbClr val="000000"/>
              </a:solidFill>
              <a:latin typeface="Arial"/>
              <a:ea typeface="Arial"/>
              <a:cs typeface="Arial"/>
              <a:sym typeface="Arial"/>
            </a:endParaRPr>
          </a:p>
          <a:p>
            <a:pPr indent="-450977" lvl="0" marL="457200" marR="0" rtl="0" algn="just">
              <a:lnSpc>
                <a:spcPct val="140005"/>
              </a:lnSpc>
              <a:spcBef>
                <a:spcPts val="0"/>
              </a:spcBef>
              <a:spcAft>
                <a:spcPts val="0"/>
              </a:spcAft>
              <a:buClr>
                <a:srgbClr val="000000"/>
              </a:buClr>
              <a:buSzPts val="3502"/>
              <a:buFont typeface="Arial"/>
              <a:buChar char="●"/>
            </a:pPr>
            <a:r>
              <a:rPr b="0" i="0" lang="en-US" sz="3502" u="none" cap="none" strike="noStrike">
                <a:solidFill>
                  <a:srgbClr val="000000"/>
                </a:solidFill>
                <a:latin typeface="Arial"/>
                <a:ea typeface="Arial"/>
                <a:cs typeface="Arial"/>
                <a:sym typeface="Arial"/>
              </a:rPr>
              <a:t>Tuplas</a:t>
            </a:r>
            <a:endParaRPr b="0" i="0" sz="3502" u="none" cap="none" strike="noStrike">
              <a:solidFill>
                <a:srgbClr val="000000"/>
              </a:solidFill>
              <a:latin typeface="Arial"/>
              <a:ea typeface="Arial"/>
              <a:cs typeface="Arial"/>
              <a:sym typeface="Arial"/>
            </a:endParaRPr>
          </a:p>
          <a:p>
            <a:pPr indent="-450977" lvl="0" marL="457200" marR="0" rtl="0" algn="just">
              <a:lnSpc>
                <a:spcPct val="140005"/>
              </a:lnSpc>
              <a:spcBef>
                <a:spcPts val="0"/>
              </a:spcBef>
              <a:spcAft>
                <a:spcPts val="0"/>
              </a:spcAft>
              <a:buClr>
                <a:srgbClr val="000000"/>
              </a:buClr>
              <a:buSzPts val="3502"/>
              <a:buFont typeface="Arial"/>
              <a:buChar char="●"/>
            </a:pPr>
            <a:r>
              <a:rPr b="0" i="0" lang="en-US" sz="3502" u="none" cap="none" strike="noStrike">
                <a:solidFill>
                  <a:srgbClr val="000000"/>
                </a:solidFill>
                <a:latin typeface="Arial"/>
                <a:ea typeface="Arial"/>
                <a:cs typeface="Arial"/>
                <a:sym typeface="Arial"/>
              </a:rPr>
              <a:t>Expresiones regulares</a:t>
            </a:r>
            <a:endParaRPr b="0" i="0" sz="3502" u="none" cap="none" strike="noStrike">
              <a:solidFill>
                <a:srgbClr val="000000"/>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3502"/>
              <a:buFont typeface="Arial"/>
              <a:buNone/>
            </a:pPr>
            <a:r>
              <a:t/>
            </a:r>
            <a:endParaRPr b="0" i="0" sz="3502" u="none" cap="none" strike="noStrike">
              <a:solidFill>
                <a:srgbClr val="000000"/>
              </a:solidFill>
              <a:latin typeface="Arial"/>
              <a:ea typeface="Arial"/>
              <a:cs typeface="Arial"/>
              <a:sym typeface="Arial"/>
            </a:endParaRPr>
          </a:p>
        </p:txBody>
      </p:sp>
      <p:pic>
        <p:nvPicPr>
          <p:cNvPr id="308" name="Google Shape;308;p11"/>
          <p:cNvPicPr preferRelativeResize="0"/>
          <p:nvPr/>
        </p:nvPicPr>
        <p:blipFill rotWithShape="1">
          <a:blip r:embed="rId4">
            <a:alphaModFix/>
          </a:blip>
          <a:srcRect b="0" l="0" r="0" t="0"/>
          <a:stretch/>
        </p:blipFill>
        <p:spPr>
          <a:xfrm>
            <a:off x="11496275" y="3565350"/>
            <a:ext cx="5977800" cy="5977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5c6d4126cd_0_10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4586" l="0" r="-61124" t="0"/>
            </a:stretch>
          </a:blipFill>
          <a:ln>
            <a:noFill/>
          </a:ln>
        </p:spPr>
      </p:sp>
      <p:cxnSp>
        <p:nvCxnSpPr>
          <p:cNvPr id="314" name="Google Shape;314;g35c6d4126cd_0_102"/>
          <p:cNvCxnSpPr/>
          <p:nvPr/>
        </p:nvCxnSpPr>
        <p:spPr>
          <a:xfrm flipH="1" rot="10800000">
            <a:off x="1684760" y="3057057"/>
            <a:ext cx="14770500" cy="8400"/>
          </a:xfrm>
          <a:prstGeom prst="straightConnector1">
            <a:avLst/>
          </a:prstGeom>
          <a:noFill/>
          <a:ln cap="flat" cmpd="sng" w="238125">
            <a:solidFill>
              <a:srgbClr val="EFA038"/>
            </a:solidFill>
            <a:prstDash val="solid"/>
            <a:round/>
            <a:headEnd len="sm" w="sm" type="none"/>
            <a:tailEnd len="sm" w="sm" type="none"/>
          </a:ln>
        </p:spPr>
      </p:cxnSp>
      <p:sp>
        <p:nvSpPr>
          <p:cNvPr id="315" name="Google Shape;315;g35c6d4126cd_0_102"/>
          <p:cNvSpPr txBox="1"/>
          <p:nvPr/>
        </p:nvSpPr>
        <p:spPr>
          <a:xfrm>
            <a:off x="2773658" y="1841956"/>
            <a:ext cx="12740700" cy="939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100"/>
              <a:buFont typeface="Arial"/>
              <a:buNone/>
            </a:pPr>
            <a:r>
              <a:rPr b="1" i="1" lang="en-US" sz="6100" u="none" cap="none" strike="noStrike">
                <a:solidFill>
                  <a:srgbClr val="000000"/>
                </a:solidFill>
                <a:latin typeface="Doto Black"/>
                <a:ea typeface="Doto Black"/>
                <a:cs typeface="Doto Black"/>
                <a:sym typeface="Doto Black"/>
              </a:rPr>
              <a:t>Valores</a:t>
            </a:r>
            <a:endParaRPr b="0" i="0" sz="1400" u="none" cap="none" strike="noStrike">
              <a:solidFill>
                <a:srgbClr val="000000"/>
              </a:solidFill>
              <a:latin typeface="Arial"/>
              <a:ea typeface="Arial"/>
              <a:cs typeface="Arial"/>
              <a:sym typeface="Arial"/>
            </a:endParaRPr>
          </a:p>
        </p:txBody>
      </p:sp>
      <p:sp>
        <p:nvSpPr>
          <p:cNvPr id="316" name="Google Shape;316;g35c6d4126cd_0_102"/>
          <p:cNvSpPr txBox="1"/>
          <p:nvPr/>
        </p:nvSpPr>
        <p:spPr>
          <a:xfrm>
            <a:off x="1684750" y="4020600"/>
            <a:ext cx="9447000" cy="5841300"/>
          </a:xfrm>
          <a:prstGeom prst="rect">
            <a:avLst/>
          </a:prstGeom>
          <a:noFill/>
          <a:ln>
            <a:noFill/>
          </a:ln>
        </p:spPr>
        <p:txBody>
          <a:bodyPr anchorCtr="0" anchor="t" bIns="0" lIns="0" spcFirstLastPara="1" rIns="0" wrap="square" tIns="0">
            <a:spAutoFit/>
          </a:bodyPr>
          <a:lstStyle/>
          <a:p>
            <a:pPr indent="0" lvl="0" marL="0" marR="0" rtl="0" algn="just">
              <a:lnSpc>
                <a:spcPct val="140005"/>
              </a:lnSpc>
              <a:spcBef>
                <a:spcPts val="0"/>
              </a:spcBef>
              <a:spcAft>
                <a:spcPts val="0"/>
              </a:spcAft>
              <a:buClr>
                <a:srgbClr val="000000"/>
              </a:buClr>
              <a:buSzPts val="3502"/>
              <a:buFont typeface="Arial"/>
              <a:buNone/>
            </a:pPr>
            <a:r>
              <a:rPr b="0" i="0" lang="en-US" sz="3502" u="none" cap="none" strike="noStrike">
                <a:solidFill>
                  <a:srgbClr val="000000"/>
                </a:solidFill>
                <a:latin typeface="Arial"/>
                <a:ea typeface="Arial"/>
                <a:cs typeface="Arial"/>
                <a:sym typeface="Arial"/>
              </a:rPr>
              <a:t>Responsabilidad:</a:t>
            </a:r>
            <a:endParaRPr b="0" i="0" sz="3502" u="none" cap="none" strike="noStrike">
              <a:solidFill>
                <a:srgbClr val="000000"/>
              </a:solidFill>
              <a:latin typeface="Arial"/>
              <a:ea typeface="Arial"/>
              <a:cs typeface="Arial"/>
              <a:sym typeface="Arial"/>
            </a:endParaRPr>
          </a:p>
          <a:p>
            <a:pPr indent="-368300" lvl="0" marL="457200" marR="0" rtl="0" algn="just">
              <a:lnSpc>
                <a:spcPct val="140005"/>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Leer y escribir ficheros implica el manejo de datos potencialmente sensibles.</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368300" lvl="0" marL="457200" marR="0" rtl="0" algn="just">
              <a:lnSpc>
                <a:spcPct val="140005"/>
              </a:lnSpc>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El programador debe ser responsable al abrir, modificar y guardar información.</a:t>
            </a:r>
            <a:br>
              <a:rPr b="0" i="0" lang="en-US" sz="2200" u="none" cap="none" strike="noStrike">
                <a:solidFill>
                  <a:schemeClr val="dk1"/>
                </a:solidFill>
                <a:latin typeface="Arial"/>
                <a:ea typeface="Arial"/>
                <a:cs typeface="Arial"/>
                <a:sym typeface="Arial"/>
              </a:rPr>
            </a:br>
            <a:endParaRPr b="0" i="0" sz="2200" u="none" cap="none" strike="noStrike">
              <a:solidFill>
                <a:schemeClr val="dk1"/>
              </a:solidFill>
              <a:latin typeface="Arial"/>
              <a:ea typeface="Arial"/>
              <a:cs typeface="Arial"/>
              <a:sym typeface="Arial"/>
            </a:endParaRPr>
          </a:p>
          <a:p>
            <a:pPr indent="-368300" lvl="0" marL="457200" marR="0" rtl="0" algn="just">
              <a:lnSpc>
                <a:spcPct val="140005"/>
              </a:lnSpc>
              <a:spcBef>
                <a:spcPts val="0"/>
              </a:spcBef>
              <a:spcAft>
                <a:spcPts val="0"/>
              </a:spcAft>
              <a:buClr>
                <a:schemeClr val="dk1"/>
              </a:buClr>
              <a:buSzPts val="2200"/>
              <a:buFont typeface="Arial"/>
              <a:buChar char="●"/>
            </a:pPr>
            <a:r>
              <a:rPr b="1" i="1" lang="en-US" sz="2200" u="none" cap="none" strike="noStrike">
                <a:solidFill>
                  <a:schemeClr val="dk1"/>
                </a:solidFill>
                <a:latin typeface="Arial"/>
                <a:ea typeface="Arial"/>
                <a:cs typeface="Arial"/>
                <a:sym typeface="Arial"/>
              </a:rPr>
              <a:t>Ejemplo:</a:t>
            </a:r>
            <a:r>
              <a:rPr b="0" i="0" lang="en-US" sz="2200" u="none" cap="none" strike="noStrike">
                <a:solidFill>
                  <a:schemeClr val="dk1"/>
                </a:solidFill>
                <a:latin typeface="Arial"/>
                <a:ea typeface="Arial"/>
                <a:cs typeface="Arial"/>
                <a:sym typeface="Arial"/>
              </a:rPr>
              <a:t> Al guardar registros de usuarios, se debe evitar sobrescribir o perder información accidentalmente.</a:t>
            </a:r>
            <a:endParaRPr b="0" i="0" sz="2200" u="none" cap="none" strike="noStrike">
              <a:solidFill>
                <a:schemeClr val="dk1"/>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3502"/>
              <a:buFont typeface="Arial"/>
              <a:buNone/>
            </a:pPr>
            <a:r>
              <a:t/>
            </a:r>
            <a:endParaRPr b="0" i="0" sz="3502" u="none" cap="none" strike="noStrike">
              <a:solidFill>
                <a:srgbClr val="000000"/>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3502"/>
              <a:buFont typeface="Arial"/>
              <a:buNone/>
            </a:pPr>
            <a:r>
              <a:t/>
            </a:r>
            <a:endParaRPr b="0" i="0" sz="3502" u="none" cap="none" strike="noStrike">
              <a:solidFill>
                <a:srgbClr val="000000"/>
              </a:solidFill>
              <a:latin typeface="Arial"/>
              <a:ea typeface="Arial"/>
              <a:cs typeface="Arial"/>
              <a:sym typeface="Arial"/>
            </a:endParaRPr>
          </a:p>
        </p:txBody>
      </p:sp>
      <p:pic>
        <p:nvPicPr>
          <p:cNvPr id="317" name="Google Shape;317;g35c6d4126cd_0_102"/>
          <p:cNvPicPr preferRelativeResize="0"/>
          <p:nvPr/>
        </p:nvPicPr>
        <p:blipFill rotWithShape="1">
          <a:blip r:embed="rId4">
            <a:alphaModFix/>
          </a:blip>
          <a:srcRect b="0" l="0" r="0" t="0"/>
          <a:stretch/>
        </p:blipFill>
        <p:spPr>
          <a:xfrm>
            <a:off x="11496275" y="3565350"/>
            <a:ext cx="5977800" cy="5977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5c6d4126cd_0_1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4586" l="0" r="-61124" t="0"/>
            </a:stretch>
          </a:blipFill>
          <a:ln>
            <a:noFill/>
          </a:ln>
        </p:spPr>
      </p:sp>
      <p:cxnSp>
        <p:nvCxnSpPr>
          <p:cNvPr id="323" name="Google Shape;323;g35c6d4126cd_0_111"/>
          <p:cNvCxnSpPr/>
          <p:nvPr/>
        </p:nvCxnSpPr>
        <p:spPr>
          <a:xfrm flipH="1" rot="10800000">
            <a:off x="1684760" y="3057057"/>
            <a:ext cx="14770500" cy="8400"/>
          </a:xfrm>
          <a:prstGeom prst="straightConnector1">
            <a:avLst/>
          </a:prstGeom>
          <a:noFill/>
          <a:ln cap="flat" cmpd="sng" w="238125">
            <a:solidFill>
              <a:srgbClr val="EFA038"/>
            </a:solidFill>
            <a:prstDash val="solid"/>
            <a:round/>
            <a:headEnd len="sm" w="sm" type="none"/>
            <a:tailEnd len="sm" w="sm" type="none"/>
          </a:ln>
        </p:spPr>
      </p:cxnSp>
      <p:sp>
        <p:nvSpPr>
          <p:cNvPr id="324" name="Google Shape;324;g35c6d4126cd_0_111"/>
          <p:cNvSpPr txBox="1"/>
          <p:nvPr/>
        </p:nvSpPr>
        <p:spPr>
          <a:xfrm>
            <a:off x="2773658" y="1841956"/>
            <a:ext cx="12740700" cy="939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100"/>
              <a:buFont typeface="Arial"/>
              <a:buNone/>
            </a:pPr>
            <a:r>
              <a:rPr b="1" i="1" lang="en-US" sz="6100" u="none" cap="none" strike="noStrike">
                <a:solidFill>
                  <a:srgbClr val="000000"/>
                </a:solidFill>
                <a:latin typeface="Doto Black"/>
                <a:ea typeface="Doto Black"/>
                <a:cs typeface="Doto Black"/>
                <a:sym typeface="Doto Black"/>
              </a:rPr>
              <a:t>Valores</a:t>
            </a:r>
            <a:endParaRPr b="0" i="0" sz="1400" u="none" cap="none" strike="noStrike">
              <a:solidFill>
                <a:srgbClr val="000000"/>
              </a:solidFill>
              <a:latin typeface="Arial"/>
              <a:ea typeface="Arial"/>
              <a:cs typeface="Arial"/>
              <a:sym typeface="Arial"/>
            </a:endParaRPr>
          </a:p>
        </p:txBody>
      </p:sp>
      <p:sp>
        <p:nvSpPr>
          <p:cNvPr id="325" name="Google Shape;325;g35c6d4126cd_0_111"/>
          <p:cNvSpPr txBox="1"/>
          <p:nvPr/>
        </p:nvSpPr>
        <p:spPr>
          <a:xfrm>
            <a:off x="1684750" y="4020600"/>
            <a:ext cx="9447000" cy="6293700"/>
          </a:xfrm>
          <a:prstGeom prst="rect">
            <a:avLst/>
          </a:prstGeom>
          <a:noFill/>
          <a:ln>
            <a:noFill/>
          </a:ln>
        </p:spPr>
        <p:txBody>
          <a:bodyPr anchorCtr="0" anchor="t" bIns="0" lIns="0" spcFirstLastPara="1" rIns="0" wrap="square" tIns="0">
            <a:spAutoFit/>
          </a:bodyPr>
          <a:lstStyle/>
          <a:p>
            <a:pPr indent="0" lvl="0" marL="0" marR="0" rtl="0" algn="just">
              <a:lnSpc>
                <a:spcPct val="140005"/>
              </a:lnSpc>
              <a:spcBef>
                <a:spcPts val="0"/>
              </a:spcBef>
              <a:spcAft>
                <a:spcPts val="0"/>
              </a:spcAft>
              <a:buClr>
                <a:srgbClr val="000000"/>
              </a:buClr>
              <a:buSzPts val="3502"/>
              <a:buFont typeface="Arial"/>
              <a:buNone/>
            </a:pPr>
            <a:r>
              <a:rPr b="0" i="0" lang="en-US" sz="3502" u="none" cap="none" strike="noStrike">
                <a:solidFill>
                  <a:srgbClr val="000000"/>
                </a:solidFill>
                <a:latin typeface="Arial"/>
                <a:ea typeface="Arial"/>
                <a:cs typeface="Arial"/>
                <a:sym typeface="Arial"/>
              </a:rPr>
              <a:t>Orden y Organización:</a:t>
            </a:r>
            <a:endParaRPr b="0" i="0" sz="3502" u="none" cap="none" strike="noStrike">
              <a:solidFill>
                <a:srgbClr val="000000"/>
              </a:solidFill>
              <a:latin typeface="Arial"/>
              <a:ea typeface="Arial"/>
              <a:cs typeface="Arial"/>
              <a:sym typeface="Arial"/>
            </a:endParaRPr>
          </a:p>
          <a:p>
            <a:pPr indent="-387350" lvl="0" marL="457200" marR="0" rtl="0" algn="just">
              <a:lnSpc>
                <a:spcPct val="140005"/>
              </a:lnSpc>
              <a:spcBef>
                <a:spcPts val="0"/>
              </a:spcBef>
              <a:spcAft>
                <a:spcPts val="0"/>
              </a:spcAft>
              <a:buClr>
                <a:schemeClr val="dk1"/>
              </a:buClr>
              <a:buSzPts val="2500"/>
              <a:buFont typeface="Arial"/>
              <a:buChar char="●"/>
            </a:pPr>
            <a:r>
              <a:rPr b="0" i="0" lang="en-US" sz="2500" u="none" cap="none" strike="noStrike">
                <a:solidFill>
                  <a:schemeClr val="dk1"/>
                </a:solidFill>
                <a:latin typeface="Arial"/>
                <a:ea typeface="Arial"/>
                <a:cs typeface="Arial"/>
                <a:sym typeface="Arial"/>
              </a:rPr>
              <a:t>Los diccionarios permiten mapear claves y valores de forma clara.</a:t>
            </a:r>
            <a:br>
              <a:rPr b="0" i="0" lang="en-US" sz="2500" u="none" cap="none" strike="noStrike">
                <a:solidFill>
                  <a:schemeClr val="dk1"/>
                </a:solidFill>
                <a:latin typeface="Arial"/>
                <a:ea typeface="Arial"/>
                <a:cs typeface="Arial"/>
                <a:sym typeface="Arial"/>
              </a:rPr>
            </a:br>
            <a:endParaRPr b="0" i="0" sz="2500" u="none" cap="none" strike="noStrike">
              <a:solidFill>
                <a:schemeClr val="dk1"/>
              </a:solidFill>
              <a:latin typeface="Arial"/>
              <a:ea typeface="Arial"/>
              <a:cs typeface="Arial"/>
              <a:sym typeface="Arial"/>
            </a:endParaRPr>
          </a:p>
          <a:p>
            <a:pPr indent="-387350" lvl="0" marL="457200" marR="0" rtl="0" algn="just">
              <a:lnSpc>
                <a:spcPct val="140005"/>
              </a:lnSpc>
              <a:spcBef>
                <a:spcPts val="0"/>
              </a:spcBef>
              <a:spcAft>
                <a:spcPts val="0"/>
              </a:spcAft>
              <a:buClr>
                <a:schemeClr val="dk1"/>
              </a:buClr>
              <a:buSzPts val="2500"/>
              <a:buFont typeface="Arial"/>
              <a:buChar char="●"/>
            </a:pPr>
            <a:r>
              <a:rPr b="0" i="0" lang="en-US" sz="2500" u="none" cap="none" strike="noStrike">
                <a:solidFill>
                  <a:schemeClr val="dk1"/>
                </a:solidFill>
                <a:latin typeface="Arial"/>
                <a:ea typeface="Arial"/>
                <a:cs typeface="Arial"/>
                <a:sym typeface="Arial"/>
              </a:rPr>
              <a:t>Fomentan el pensamiento lógico y estructurado.</a:t>
            </a:r>
            <a:br>
              <a:rPr b="0" i="0" lang="en-US" sz="2500" u="none" cap="none" strike="noStrike">
                <a:solidFill>
                  <a:schemeClr val="dk1"/>
                </a:solidFill>
                <a:latin typeface="Arial"/>
                <a:ea typeface="Arial"/>
                <a:cs typeface="Arial"/>
                <a:sym typeface="Arial"/>
              </a:rPr>
            </a:br>
            <a:endParaRPr b="0" i="0" sz="2500" u="none" cap="none" strike="noStrike">
              <a:solidFill>
                <a:schemeClr val="dk1"/>
              </a:solidFill>
              <a:latin typeface="Arial"/>
              <a:ea typeface="Arial"/>
              <a:cs typeface="Arial"/>
              <a:sym typeface="Arial"/>
            </a:endParaRPr>
          </a:p>
          <a:p>
            <a:pPr indent="-387350" lvl="0" marL="457200" marR="0" rtl="0" algn="just">
              <a:lnSpc>
                <a:spcPct val="140005"/>
              </a:lnSpc>
              <a:spcBef>
                <a:spcPts val="0"/>
              </a:spcBef>
              <a:spcAft>
                <a:spcPts val="0"/>
              </a:spcAft>
              <a:buClr>
                <a:schemeClr val="dk1"/>
              </a:buClr>
              <a:buSzPts val="2500"/>
              <a:buFont typeface="Arial"/>
              <a:buChar char="●"/>
            </a:pPr>
            <a:r>
              <a:rPr b="1" i="1" lang="en-US" sz="2500" u="none" cap="none" strike="noStrike">
                <a:solidFill>
                  <a:schemeClr val="dk1"/>
                </a:solidFill>
                <a:latin typeface="Arial"/>
                <a:ea typeface="Arial"/>
                <a:cs typeface="Arial"/>
                <a:sym typeface="Arial"/>
              </a:rPr>
              <a:t>Ejemplo:</a:t>
            </a:r>
            <a:r>
              <a:rPr b="0" i="0" lang="en-US" sz="2500" u="none" cap="none" strike="noStrike">
                <a:solidFill>
                  <a:schemeClr val="dk1"/>
                </a:solidFill>
                <a:latin typeface="Arial"/>
                <a:ea typeface="Arial"/>
                <a:cs typeface="Arial"/>
                <a:sym typeface="Arial"/>
              </a:rPr>
              <a:t> En una agenda digital, cada nombre se relaciona ordenadamente con su número de teléfono.</a:t>
            </a:r>
            <a:endParaRPr b="0" i="0" sz="2500" u="none" cap="none" strike="noStrike">
              <a:solidFill>
                <a:schemeClr val="dk1"/>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3502"/>
              <a:buFont typeface="Arial"/>
              <a:buNone/>
            </a:pPr>
            <a:r>
              <a:t/>
            </a:r>
            <a:endParaRPr b="0" i="0" sz="3502" u="none" cap="none" strike="noStrike">
              <a:solidFill>
                <a:srgbClr val="000000"/>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3502"/>
              <a:buFont typeface="Arial"/>
              <a:buNone/>
            </a:pPr>
            <a:r>
              <a:t/>
            </a:r>
            <a:endParaRPr b="0" i="0" sz="3502" u="none" cap="none" strike="noStrike">
              <a:solidFill>
                <a:srgbClr val="000000"/>
              </a:solidFill>
              <a:latin typeface="Arial"/>
              <a:ea typeface="Arial"/>
              <a:cs typeface="Arial"/>
              <a:sym typeface="Arial"/>
            </a:endParaRPr>
          </a:p>
        </p:txBody>
      </p:sp>
      <p:pic>
        <p:nvPicPr>
          <p:cNvPr id="326" name="Google Shape;326;g35c6d4126cd_0_111"/>
          <p:cNvPicPr preferRelativeResize="0"/>
          <p:nvPr/>
        </p:nvPicPr>
        <p:blipFill rotWithShape="1">
          <a:blip r:embed="rId4">
            <a:alphaModFix/>
          </a:blip>
          <a:srcRect b="0" l="0" r="0" t="0"/>
          <a:stretch/>
        </p:blipFill>
        <p:spPr>
          <a:xfrm>
            <a:off x="11496275" y="3565350"/>
            <a:ext cx="5977800" cy="5977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g35c6d4126cd_0_1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4586" l="0" r="-61124" t="0"/>
            </a:stretch>
          </a:blipFill>
          <a:ln>
            <a:noFill/>
          </a:ln>
        </p:spPr>
      </p:sp>
      <p:cxnSp>
        <p:nvCxnSpPr>
          <p:cNvPr id="332" name="Google Shape;332;g35c6d4126cd_0_120"/>
          <p:cNvCxnSpPr/>
          <p:nvPr/>
        </p:nvCxnSpPr>
        <p:spPr>
          <a:xfrm flipH="1" rot="10800000">
            <a:off x="1684760" y="3057057"/>
            <a:ext cx="14770500" cy="8400"/>
          </a:xfrm>
          <a:prstGeom prst="straightConnector1">
            <a:avLst/>
          </a:prstGeom>
          <a:noFill/>
          <a:ln cap="flat" cmpd="sng" w="238125">
            <a:solidFill>
              <a:srgbClr val="EFA038"/>
            </a:solidFill>
            <a:prstDash val="solid"/>
            <a:round/>
            <a:headEnd len="sm" w="sm" type="none"/>
            <a:tailEnd len="sm" w="sm" type="none"/>
          </a:ln>
        </p:spPr>
      </p:cxnSp>
      <p:sp>
        <p:nvSpPr>
          <p:cNvPr id="333" name="Google Shape;333;g35c6d4126cd_0_120"/>
          <p:cNvSpPr txBox="1"/>
          <p:nvPr/>
        </p:nvSpPr>
        <p:spPr>
          <a:xfrm>
            <a:off x="2773658" y="1841956"/>
            <a:ext cx="12740700" cy="939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100"/>
              <a:buFont typeface="Arial"/>
              <a:buNone/>
            </a:pPr>
            <a:r>
              <a:rPr b="1" i="1" lang="en-US" sz="6100" u="none" cap="none" strike="noStrike">
                <a:solidFill>
                  <a:srgbClr val="000000"/>
                </a:solidFill>
                <a:latin typeface="Doto Black"/>
                <a:ea typeface="Doto Black"/>
                <a:cs typeface="Doto Black"/>
                <a:sym typeface="Doto Black"/>
              </a:rPr>
              <a:t>Valores</a:t>
            </a:r>
            <a:endParaRPr b="0" i="0" sz="1400" u="none" cap="none" strike="noStrike">
              <a:solidFill>
                <a:srgbClr val="000000"/>
              </a:solidFill>
              <a:latin typeface="Arial"/>
              <a:ea typeface="Arial"/>
              <a:cs typeface="Arial"/>
              <a:sym typeface="Arial"/>
            </a:endParaRPr>
          </a:p>
        </p:txBody>
      </p:sp>
      <p:sp>
        <p:nvSpPr>
          <p:cNvPr id="334" name="Google Shape;334;g35c6d4126cd_0_120"/>
          <p:cNvSpPr txBox="1"/>
          <p:nvPr/>
        </p:nvSpPr>
        <p:spPr>
          <a:xfrm>
            <a:off x="1684750" y="4020600"/>
            <a:ext cx="9447000" cy="5754900"/>
          </a:xfrm>
          <a:prstGeom prst="rect">
            <a:avLst/>
          </a:prstGeom>
          <a:noFill/>
          <a:ln>
            <a:noFill/>
          </a:ln>
        </p:spPr>
        <p:txBody>
          <a:bodyPr anchorCtr="0" anchor="t" bIns="0" lIns="0" spcFirstLastPara="1" rIns="0" wrap="square" tIns="0">
            <a:spAutoFit/>
          </a:bodyPr>
          <a:lstStyle/>
          <a:p>
            <a:pPr indent="0" lvl="0" marL="0" marR="0" rtl="0" algn="just">
              <a:lnSpc>
                <a:spcPct val="140005"/>
              </a:lnSpc>
              <a:spcBef>
                <a:spcPts val="0"/>
              </a:spcBef>
              <a:spcAft>
                <a:spcPts val="0"/>
              </a:spcAft>
              <a:buClr>
                <a:srgbClr val="000000"/>
              </a:buClr>
              <a:buSzPts val="3502"/>
              <a:buFont typeface="Arial"/>
              <a:buNone/>
            </a:pPr>
            <a:r>
              <a:rPr b="0" i="0" lang="en-US" sz="3502" u="none" cap="none" strike="noStrike">
                <a:solidFill>
                  <a:srgbClr val="000000"/>
                </a:solidFill>
                <a:latin typeface="Arial"/>
                <a:ea typeface="Arial"/>
                <a:cs typeface="Arial"/>
                <a:sym typeface="Arial"/>
              </a:rPr>
              <a:t>Integridad:</a:t>
            </a:r>
            <a:endParaRPr b="0" i="0" sz="3502" u="none" cap="none" strike="noStrike">
              <a:solidFill>
                <a:srgbClr val="000000"/>
              </a:solidFill>
              <a:latin typeface="Arial"/>
              <a:ea typeface="Arial"/>
              <a:cs typeface="Arial"/>
              <a:sym typeface="Arial"/>
            </a:endParaRPr>
          </a:p>
          <a:p>
            <a:pPr indent="-387350" lvl="0" marL="457200" marR="0" rtl="0" algn="just">
              <a:lnSpc>
                <a:spcPct val="140005"/>
              </a:lnSpc>
              <a:spcBef>
                <a:spcPts val="0"/>
              </a:spcBef>
              <a:spcAft>
                <a:spcPts val="0"/>
              </a:spcAft>
              <a:buClr>
                <a:schemeClr val="dk1"/>
              </a:buClr>
              <a:buSzPts val="2500"/>
              <a:buFont typeface="Arial"/>
              <a:buChar char="●"/>
            </a:pPr>
            <a:r>
              <a:rPr b="0" i="0" lang="en-US" sz="2500" u="none" cap="none" strike="noStrike">
                <a:solidFill>
                  <a:schemeClr val="dk1"/>
                </a:solidFill>
                <a:latin typeface="Arial"/>
                <a:ea typeface="Arial"/>
                <a:cs typeface="Arial"/>
                <a:sym typeface="Arial"/>
              </a:rPr>
              <a:t>Las tuplas son inmutables: su contenido no cambia, igual que los principios éticos.</a:t>
            </a:r>
            <a:br>
              <a:rPr b="0" i="0" lang="en-US" sz="2500" u="none" cap="none" strike="noStrike">
                <a:solidFill>
                  <a:schemeClr val="dk1"/>
                </a:solidFill>
                <a:latin typeface="Arial"/>
                <a:ea typeface="Arial"/>
                <a:cs typeface="Arial"/>
                <a:sym typeface="Arial"/>
              </a:rPr>
            </a:br>
            <a:endParaRPr b="0" i="0" sz="2500" u="none" cap="none" strike="noStrike">
              <a:solidFill>
                <a:schemeClr val="dk1"/>
              </a:solidFill>
              <a:latin typeface="Arial"/>
              <a:ea typeface="Arial"/>
              <a:cs typeface="Arial"/>
              <a:sym typeface="Arial"/>
            </a:endParaRPr>
          </a:p>
          <a:p>
            <a:pPr indent="-387350" lvl="0" marL="457200" marR="0" rtl="0" algn="just">
              <a:lnSpc>
                <a:spcPct val="140005"/>
              </a:lnSpc>
              <a:spcBef>
                <a:spcPts val="0"/>
              </a:spcBef>
              <a:spcAft>
                <a:spcPts val="0"/>
              </a:spcAft>
              <a:buClr>
                <a:schemeClr val="dk1"/>
              </a:buClr>
              <a:buSzPts val="2500"/>
              <a:buFont typeface="Arial"/>
              <a:buChar char="●"/>
            </a:pPr>
            <a:r>
              <a:rPr b="1" i="1" lang="en-US" sz="2500" u="none" cap="none" strike="noStrike">
                <a:solidFill>
                  <a:schemeClr val="dk1"/>
                </a:solidFill>
                <a:latin typeface="Arial"/>
                <a:ea typeface="Arial"/>
                <a:cs typeface="Arial"/>
                <a:sym typeface="Arial"/>
              </a:rPr>
              <a:t>Ejemplo:</a:t>
            </a:r>
            <a:r>
              <a:rPr b="1" i="0" lang="en-US" sz="2500" u="none" cap="none" strike="noStrike">
                <a:solidFill>
                  <a:schemeClr val="dk1"/>
                </a:solidFill>
                <a:latin typeface="Arial"/>
                <a:ea typeface="Arial"/>
                <a:cs typeface="Arial"/>
                <a:sym typeface="Arial"/>
              </a:rPr>
              <a:t> </a:t>
            </a:r>
            <a:r>
              <a:rPr b="0" i="0" lang="en-US" sz="2500" u="none" cap="none" strike="noStrike">
                <a:solidFill>
                  <a:schemeClr val="dk1"/>
                </a:solidFill>
                <a:latin typeface="Arial"/>
                <a:ea typeface="Arial"/>
                <a:cs typeface="Arial"/>
                <a:sym typeface="Arial"/>
              </a:rPr>
              <a:t>Cuando defines coordenadas geográficas, estas no deben alterarse sin justificación.</a:t>
            </a:r>
            <a:endParaRPr b="0" i="0" sz="2500" u="none" cap="none" strike="noStrike">
              <a:solidFill>
                <a:schemeClr val="dk1"/>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3502"/>
              <a:buFont typeface="Arial"/>
              <a:buNone/>
            </a:pPr>
            <a:r>
              <a:t/>
            </a:r>
            <a:endParaRPr b="0" i="0" sz="3502" u="none" cap="none" strike="noStrike">
              <a:solidFill>
                <a:srgbClr val="000000"/>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3502"/>
              <a:buFont typeface="Arial"/>
              <a:buNone/>
            </a:pPr>
            <a:r>
              <a:t/>
            </a:r>
            <a:endParaRPr b="0" i="0" sz="3502" u="none" cap="none" strike="noStrike">
              <a:solidFill>
                <a:srgbClr val="000000"/>
              </a:solidFill>
              <a:latin typeface="Arial"/>
              <a:ea typeface="Arial"/>
              <a:cs typeface="Arial"/>
              <a:sym typeface="Arial"/>
            </a:endParaRPr>
          </a:p>
        </p:txBody>
      </p:sp>
      <p:pic>
        <p:nvPicPr>
          <p:cNvPr id="335" name="Google Shape;335;g35c6d4126cd_0_120"/>
          <p:cNvPicPr preferRelativeResize="0"/>
          <p:nvPr/>
        </p:nvPicPr>
        <p:blipFill rotWithShape="1">
          <a:blip r:embed="rId4">
            <a:alphaModFix/>
          </a:blip>
          <a:srcRect b="0" l="0" r="0" t="0"/>
          <a:stretch/>
        </p:blipFill>
        <p:spPr>
          <a:xfrm>
            <a:off x="11496275" y="3565350"/>
            <a:ext cx="5977800" cy="5977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5c6d4126cd_0_12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4586" l="0" r="-61124" t="0"/>
            </a:stretch>
          </a:blipFill>
          <a:ln>
            <a:noFill/>
          </a:ln>
        </p:spPr>
      </p:sp>
      <p:cxnSp>
        <p:nvCxnSpPr>
          <p:cNvPr id="341" name="Google Shape;341;g35c6d4126cd_0_129"/>
          <p:cNvCxnSpPr/>
          <p:nvPr/>
        </p:nvCxnSpPr>
        <p:spPr>
          <a:xfrm flipH="1" rot="10800000">
            <a:off x="1684760" y="3057057"/>
            <a:ext cx="14770500" cy="8400"/>
          </a:xfrm>
          <a:prstGeom prst="straightConnector1">
            <a:avLst/>
          </a:prstGeom>
          <a:noFill/>
          <a:ln cap="flat" cmpd="sng" w="238125">
            <a:solidFill>
              <a:srgbClr val="EFA038"/>
            </a:solidFill>
            <a:prstDash val="solid"/>
            <a:round/>
            <a:headEnd len="sm" w="sm" type="none"/>
            <a:tailEnd len="sm" w="sm" type="none"/>
          </a:ln>
        </p:spPr>
      </p:cxnSp>
      <p:sp>
        <p:nvSpPr>
          <p:cNvPr id="342" name="Google Shape;342;g35c6d4126cd_0_129"/>
          <p:cNvSpPr txBox="1"/>
          <p:nvPr/>
        </p:nvSpPr>
        <p:spPr>
          <a:xfrm>
            <a:off x="2773658" y="1841956"/>
            <a:ext cx="12740700" cy="939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100"/>
              <a:buFont typeface="Arial"/>
              <a:buNone/>
            </a:pPr>
            <a:r>
              <a:rPr b="1" i="1" lang="en-US" sz="6100" u="none" cap="none" strike="noStrike">
                <a:solidFill>
                  <a:srgbClr val="000000"/>
                </a:solidFill>
                <a:latin typeface="Doto Black"/>
                <a:ea typeface="Doto Black"/>
                <a:cs typeface="Doto Black"/>
                <a:sym typeface="Doto Black"/>
              </a:rPr>
              <a:t>Valores</a:t>
            </a:r>
            <a:endParaRPr b="0" i="0" sz="1400" u="none" cap="none" strike="noStrike">
              <a:solidFill>
                <a:srgbClr val="000000"/>
              </a:solidFill>
              <a:latin typeface="Arial"/>
              <a:ea typeface="Arial"/>
              <a:cs typeface="Arial"/>
              <a:sym typeface="Arial"/>
            </a:endParaRPr>
          </a:p>
        </p:txBody>
      </p:sp>
      <p:sp>
        <p:nvSpPr>
          <p:cNvPr id="343" name="Google Shape;343;g35c6d4126cd_0_129"/>
          <p:cNvSpPr txBox="1"/>
          <p:nvPr/>
        </p:nvSpPr>
        <p:spPr>
          <a:xfrm>
            <a:off x="1684750" y="4020600"/>
            <a:ext cx="9447000" cy="5754900"/>
          </a:xfrm>
          <a:prstGeom prst="rect">
            <a:avLst/>
          </a:prstGeom>
          <a:noFill/>
          <a:ln>
            <a:noFill/>
          </a:ln>
        </p:spPr>
        <p:txBody>
          <a:bodyPr anchorCtr="0" anchor="t" bIns="0" lIns="0" spcFirstLastPara="1" rIns="0" wrap="square" tIns="0">
            <a:spAutoFit/>
          </a:bodyPr>
          <a:lstStyle/>
          <a:p>
            <a:pPr indent="0" lvl="0" marL="0" marR="0" rtl="0" algn="just">
              <a:lnSpc>
                <a:spcPct val="140005"/>
              </a:lnSpc>
              <a:spcBef>
                <a:spcPts val="0"/>
              </a:spcBef>
              <a:spcAft>
                <a:spcPts val="0"/>
              </a:spcAft>
              <a:buClr>
                <a:srgbClr val="000000"/>
              </a:buClr>
              <a:buSzPts val="3502"/>
              <a:buFont typeface="Arial"/>
              <a:buNone/>
            </a:pPr>
            <a:r>
              <a:rPr b="0" i="0" lang="en-US" sz="3502" u="none" cap="none" strike="noStrike">
                <a:solidFill>
                  <a:srgbClr val="000000"/>
                </a:solidFill>
                <a:latin typeface="Arial"/>
                <a:ea typeface="Arial"/>
                <a:cs typeface="Arial"/>
                <a:sym typeface="Arial"/>
              </a:rPr>
              <a:t>Presición:</a:t>
            </a:r>
            <a:endParaRPr b="0" i="0" sz="3502" u="none" cap="none" strike="noStrike">
              <a:solidFill>
                <a:srgbClr val="000000"/>
              </a:solidFill>
              <a:latin typeface="Arial"/>
              <a:ea typeface="Arial"/>
              <a:cs typeface="Arial"/>
              <a:sym typeface="Arial"/>
            </a:endParaRPr>
          </a:p>
          <a:p>
            <a:pPr indent="-387350" lvl="0" marL="457200" marR="0" rtl="0" algn="just">
              <a:lnSpc>
                <a:spcPct val="140005"/>
              </a:lnSpc>
              <a:spcBef>
                <a:spcPts val="0"/>
              </a:spcBef>
              <a:spcAft>
                <a:spcPts val="0"/>
              </a:spcAft>
              <a:buClr>
                <a:schemeClr val="dk1"/>
              </a:buClr>
              <a:buSzPts val="2500"/>
              <a:buFont typeface="Arial"/>
              <a:buChar char="●"/>
            </a:pPr>
            <a:r>
              <a:rPr b="0" i="0" lang="en-US" sz="2500" u="none" cap="none" strike="noStrike">
                <a:solidFill>
                  <a:schemeClr val="dk1"/>
                </a:solidFill>
                <a:latin typeface="Arial"/>
                <a:ea typeface="Arial"/>
                <a:cs typeface="Arial"/>
                <a:sym typeface="Arial"/>
              </a:rPr>
              <a:t>Las “regex” requieren exactitud para funcionar correctamente.</a:t>
            </a:r>
            <a:br>
              <a:rPr b="0" i="0" lang="en-US" sz="2500" u="none" cap="none" strike="noStrike">
                <a:solidFill>
                  <a:schemeClr val="dk1"/>
                </a:solidFill>
                <a:latin typeface="Arial"/>
                <a:ea typeface="Arial"/>
                <a:cs typeface="Arial"/>
                <a:sym typeface="Arial"/>
              </a:rPr>
            </a:br>
            <a:endParaRPr b="0" i="0" sz="2500" u="none" cap="none" strike="noStrike">
              <a:solidFill>
                <a:schemeClr val="dk1"/>
              </a:solidFill>
              <a:latin typeface="Arial"/>
              <a:ea typeface="Arial"/>
              <a:cs typeface="Arial"/>
              <a:sym typeface="Arial"/>
            </a:endParaRPr>
          </a:p>
          <a:p>
            <a:pPr indent="-387350" lvl="0" marL="457200" marR="0" rtl="0" algn="just">
              <a:lnSpc>
                <a:spcPct val="140005"/>
              </a:lnSpc>
              <a:spcBef>
                <a:spcPts val="0"/>
              </a:spcBef>
              <a:spcAft>
                <a:spcPts val="0"/>
              </a:spcAft>
              <a:buClr>
                <a:schemeClr val="dk1"/>
              </a:buClr>
              <a:buSzPts val="2500"/>
              <a:buFont typeface="Arial"/>
              <a:buChar char="●"/>
            </a:pPr>
            <a:r>
              <a:rPr b="1" i="1" lang="en-US" sz="2500" u="none" cap="none" strike="noStrike">
                <a:solidFill>
                  <a:schemeClr val="dk1"/>
                </a:solidFill>
                <a:latin typeface="Arial"/>
                <a:ea typeface="Arial"/>
                <a:cs typeface="Arial"/>
                <a:sym typeface="Arial"/>
              </a:rPr>
              <a:t>Ejemplo:</a:t>
            </a:r>
            <a:r>
              <a:rPr b="0" i="0" lang="en-US" sz="2500" u="none" cap="none" strike="noStrike">
                <a:solidFill>
                  <a:schemeClr val="dk1"/>
                </a:solidFill>
                <a:latin typeface="Arial"/>
                <a:ea typeface="Arial"/>
                <a:cs typeface="Arial"/>
                <a:sym typeface="Arial"/>
              </a:rPr>
              <a:t> Una expresión regular mal escrita puede validar mal contraseñas o permitir errores de seguridad.</a:t>
            </a:r>
            <a:endParaRPr b="0" i="0" sz="2500" u="none" cap="none" strike="noStrike">
              <a:solidFill>
                <a:schemeClr val="dk1"/>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2500"/>
              <a:buFont typeface="Arial"/>
              <a:buNone/>
            </a:pPr>
            <a:r>
              <a:t/>
            </a:r>
            <a:endParaRPr b="0" i="0" sz="2500" u="none" cap="none" strike="noStrike">
              <a:solidFill>
                <a:schemeClr val="dk1"/>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3502"/>
              <a:buFont typeface="Arial"/>
              <a:buNone/>
            </a:pPr>
            <a:r>
              <a:t/>
            </a:r>
            <a:endParaRPr b="0" i="0" sz="3502" u="none" cap="none" strike="noStrike">
              <a:solidFill>
                <a:srgbClr val="000000"/>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3502"/>
              <a:buFont typeface="Arial"/>
              <a:buNone/>
            </a:pPr>
            <a:r>
              <a:t/>
            </a:r>
            <a:endParaRPr b="0" i="0" sz="3502" u="none" cap="none" strike="noStrike">
              <a:solidFill>
                <a:srgbClr val="000000"/>
              </a:solidFill>
              <a:latin typeface="Arial"/>
              <a:ea typeface="Arial"/>
              <a:cs typeface="Arial"/>
              <a:sym typeface="Arial"/>
            </a:endParaRPr>
          </a:p>
        </p:txBody>
      </p:sp>
      <p:pic>
        <p:nvPicPr>
          <p:cNvPr id="344" name="Google Shape;344;g35c6d4126cd_0_129"/>
          <p:cNvPicPr preferRelativeResize="0"/>
          <p:nvPr/>
        </p:nvPicPr>
        <p:blipFill rotWithShape="1">
          <a:blip r:embed="rId4">
            <a:alphaModFix/>
          </a:blip>
          <a:srcRect b="0" l="0" r="0" t="0"/>
          <a:stretch/>
        </p:blipFill>
        <p:spPr>
          <a:xfrm>
            <a:off x="11496275" y="3565350"/>
            <a:ext cx="5977800" cy="5977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4584" l="0" r="-61131" t="0"/>
            </a:stretch>
          </a:blipFill>
          <a:ln>
            <a:noFill/>
          </a:ln>
        </p:spPr>
      </p:sp>
      <p:sp>
        <p:nvSpPr>
          <p:cNvPr id="350" name="Google Shape;350;p13"/>
          <p:cNvSpPr txBox="1"/>
          <p:nvPr/>
        </p:nvSpPr>
        <p:spPr>
          <a:xfrm>
            <a:off x="1876950" y="3141045"/>
            <a:ext cx="14833200" cy="3318300"/>
          </a:xfrm>
          <a:prstGeom prst="rect">
            <a:avLst/>
          </a:prstGeom>
          <a:noFill/>
          <a:ln>
            <a:noFill/>
          </a:ln>
        </p:spPr>
        <p:txBody>
          <a:bodyPr anchorCtr="0" anchor="t" bIns="0" lIns="0" spcFirstLastPara="1" rIns="0" wrap="square" tIns="0">
            <a:spAutoFit/>
          </a:bodyPr>
          <a:lstStyle/>
          <a:p>
            <a:pPr indent="0" lvl="0" marL="0" marR="0" rtl="0" algn="ctr">
              <a:lnSpc>
                <a:spcPct val="97999"/>
              </a:lnSpc>
              <a:spcBef>
                <a:spcPts val="0"/>
              </a:spcBef>
              <a:spcAft>
                <a:spcPts val="0"/>
              </a:spcAft>
              <a:buClr>
                <a:srgbClr val="000000"/>
              </a:buClr>
              <a:buSzPts val="15099"/>
              <a:buFont typeface="Arial"/>
              <a:buNone/>
            </a:pPr>
            <a:r>
              <a:rPr b="1" i="0" lang="en-US" sz="10999" u="none" cap="none" strike="noStrike">
                <a:solidFill>
                  <a:srgbClr val="000000"/>
                </a:solidFill>
                <a:latin typeface="Doto Black"/>
                <a:ea typeface="Doto Black"/>
                <a:cs typeface="Doto Black"/>
                <a:sym typeface="Doto Black"/>
              </a:rPr>
              <a:t>GRACIAS POR SU ATENCION!</a:t>
            </a:r>
            <a:endParaRPr b="0" i="0" sz="100" u="none" cap="none" strike="noStrike">
              <a:solidFill>
                <a:srgbClr val="000000"/>
              </a:solidFill>
              <a:latin typeface="Arial"/>
              <a:ea typeface="Arial"/>
              <a:cs typeface="Arial"/>
              <a:sym typeface="Arial"/>
            </a:endParaRPr>
          </a:p>
        </p:txBody>
      </p:sp>
      <p:grpSp>
        <p:nvGrpSpPr>
          <p:cNvPr id="351" name="Google Shape;351;p13"/>
          <p:cNvGrpSpPr/>
          <p:nvPr/>
        </p:nvGrpSpPr>
        <p:grpSpPr>
          <a:xfrm rot="5400000">
            <a:off x="-635933" y="1183211"/>
            <a:ext cx="3858176" cy="1929088"/>
            <a:chOff x="0" y="0"/>
            <a:chExt cx="812800" cy="406400"/>
          </a:xfrm>
        </p:grpSpPr>
        <p:sp>
          <p:nvSpPr>
            <p:cNvPr id="352" name="Google Shape;352;p13"/>
            <p:cNvSpPr/>
            <p:nvPr/>
          </p:nvSpPr>
          <p:spPr>
            <a:xfrm>
              <a:off x="0" y="0"/>
              <a:ext cx="812800" cy="406400"/>
            </a:xfrm>
            <a:custGeom>
              <a:rect b="b" l="l" r="r" t="t"/>
              <a:pathLst>
                <a:path extrusionOk="0" h="406400" w="812800">
                  <a:moveTo>
                    <a:pt x="406400" y="0"/>
                  </a:moveTo>
                  <a:lnTo>
                    <a:pt x="0" y="406400"/>
                  </a:lnTo>
                  <a:lnTo>
                    <a:pt x="203200" y="406400"/>
                  </a:lnTo>
                  <a:lnTo>
                    <a:pt x="203200" y="406400"/>
                  </a:lnTo>
                  <a:lnTo>
                    <a:pt x="609600" y="406400"/>
                  </a:lnTo>
                  <a:lnTo>
                    <a:pt x="609600" y="406400"/>
                  </a:lnTo>
                  <a:lnTo>
                    <a:pt x="812800" y="406400"/>
                  </a:lnTo>
                  <a:lnTo>
                    <a:pt x="406400" y="0"/>
                  </a:lnTo>
                  <a:close/>
                </a:path>
              </a:pathLst>
            </a:custGeom>
            <a:solidFill>
              <a:srgbClr val="EFA038"/>
            </a:solidFill>
            <a:ln>
              <a:noFill/>
            </a:ln>
          </p:spPr>
        </p:sp>
        <p:sp>
          <p:nvSpPr>
            <p:cNvPr id="353" name="Google Shape;353;p13"/>
            <p:cNvSpPr txBox="1"/>
            <p:nvPr/>
          </p:nvSpPr>
          <p:spPr>
            <a:xfrm>
              <a:off x="203200" y="120650"/>
              <a:ext cx="406400" cy="28575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4" name="Google Shape;354;p13"/>
          <p:cNvGrpSpPr/>
          <p:nvPr/>
        </p:nvGrpSpPr>
        <p:grpSpPr>
          <a:xfrm rot="-5400000">
            <a:off x="15083182" y="7133888"/>
            <a:ext cx="3823082" cy="1911541"/>
            <a:chOff x="0" y="0"/>
            <a:chExt cx="812800" cy="406400"/>
          </a:xfrm>
        </p:grpSpPr>
        <p:sp>
          <p:nvSpPr>
            <p:cNvPr id="355" name="Google Shape;355;p13"/>
            <p:cNvSpPr/>
            <p:nvPr/>
          </p:nvSpPr>
          <p:spPr>
            <a:xfrm>
              <a:off x="0" y="0"/>
              <a:ext cx="812800" cy="406400"/>
            </a:xfrm>
            <a:custGeom>
              <a:rect b="b" l="l" r="r" t="t"/>
              <a:pathLst>
                <a:path extrusionOk="0" h="406400" w="812800">
                  <a:moveTo>
                    <a:pt x="406400" y="0"/>
                  </a:moveTo>
                  <a:lnTo>
                    <a:pt x="0" y="406400"/>
                  </a:lnTo>
                  <a:lnTo>
                    <a:pt x="203200" y="406400"/>
                  </a:lnTo>
                  <a:lnTo>
                    <a:pt x="203200" y="406400"/>
                  </a:lnTo>
                  <a:lnTo>
                    <a:pt x="609600" y="406400"/>
                  </a:lnTo>
                  <a:lnTo>
                    <a:pt x="609600" y="406400"/>
                  </a:lnTo>
                  <a:lnTo>
                    <a:pt x="812800" y="406400"/>
                  </a:lnTo>
                  <a:lnTo>
                    <a:pt x="406400" y="0"/>
                  </a:lnTo>
                  <a:close/>
                </a:path>
              </a:pathLst>
            </a:custGeom>
            <a:solidFill>
              <a:srgbClr val="2E6E80"/>
            </a:solidFill>
            <a:ln>
              <a:noFill/>
            </a:ln>
          </p:spPr>
        </p:sp>
        <p:sp>
          <p:nvSpPr>
            <p:cNvPr id="356" name="Google Shape;356;p13"/>
            <p:cNvSpPr txBox="1"/>
            <p:nvPr/>
          </p:nvSpPr>
          <p:spPr>
            <a:xfrm>
              <a:off x="203200" y="120650"/>
              <a:ext cx="406400" cy="285750"/>
            </a:xfrm>
            <a:prstGeom prst="rect">
              <a:avLst/>
            </a:prstGeom>
            <a:noFill/>
            <a:ln>
              <a:noFill/>
            </a:ln>
          </p:spPr>
          <p:txBody>
            <a:bodyPr anchorCtr="0" anchor="ctr" bIns="50800" lIns="50800" spcFirstLastPara="1" rIns="50800" wrap="square" tIns="50800">
              <a:noAutofit/>
            </a:bodyPr>
            <a:lstStyle/>
            <a:p>
              <a:pPr indent="0" lvl="0" marL="0" marR="0" rtl="0" algn="ctr">
                <a:lnSpc>
                  <a:spcPct val="103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7" name="Google Shape;357;p13"/>
          <p:cNvSpPr txBox="1"/>
          <p:nvPr/>
        </p:nvSpPr>
        <p:spPr>
          <a:xfrm>
            <a:off x="1577851" y="8090525"/>
            <a:ext cx="15132300" cy="942600"/>
          </a:xfrm>
          <a:prstGeom prst="rect">
            <a:avLst/>
          </a:prstGeom>
          <a:noFill/>
          <a:ln>
            <a:noFill/>
          </a:ln>
        </p:spPr>
        <p:txBody>
          <a:bodyPr anchorCtr="0" anchor="t" bIns="0" lIns="0" spcFirstLastPara="1" rIns="0" wrap="square" tIns="0">
            <a:spAutoFit/>
          </a:bodyPr>
          <a:lstStyle/>
          <a:p>
            <a:pPr indent="0" lvl="0" marL="0" marR="0" rtl="0" algn="ctr">
              <a:lnSpc>
                <a:spcPct val="110013"/>
              </a:lnSpc>
              <a:spcBef>
                <a:spcPts val="0"/>
              </a:spcBef>
              <a:spcAft>
                <a:spcPts val="0"/>
              </a:spcAft>
              <a:buClr>
                <a:srgbClr val="000000"/>
              </a:buClr>
              <a:buSzPts val="2916"/>
              <a:buFont typeface="Arial"/>
              <a:buNone/>
            </a:pPr>
            <a:r>
              <a:rPr b="1" i="0" lang="en-US" sz="2916" u="none" cap="none" strike="noStrike">
                <a:solidFill>
                  <a:srgbClr val="000000"/>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
        <p:nvSpPr>
          <p:cNvPr id="358" name="Google Shape;358;p13"/>
          <p:cNvSpPr/>
          <p:nvPr/>
        </p:nvSpPr>
        <p:spPr>
          <a:xfrm>
            <a:off x="15455346" y="587900"/>
            <a:ext cx="2061058" cy="2715098"/>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4">
              <a:alphaModFix/>
            </a:blip>
            <a:stretch>
              <a:fillRect b="0" l="0" r="0" t="0"/>
            </a:stretch>
          </a:blipFill>
          <a:ln>
            <a:noFill/>
          </a:ln>
        </p:spPr>
      </p:sp>
      <p:sp>
        <p:nvSpPr>
          <p:cNvPr id="359" name="Google Shape;359;p13"/>
          <p:cNvSpPr txBox="1"/>
          <p:nvPr/>
        </p:nvSpPr>
        <p:spPr>
          <a:xfrm>
            <a:off x="5591250" y="6608975"/>
            <a:ext cx="7404600" cy="1206600"/>
          </a:xfrm>
          <a:prstGeom prst="rect">
            <a:avLst/>
          </a:prstGeom>
          <a:noFill/>
          <a:ln>
            <a:noFill/>
          </a:ln>
        </p:spPr>
        <p:txBody>
          <a:bodyPr anchorCtr="0" anchor="t" bIns="0" lIns="0" spcFirstLastPara="1" rIns="0" wrap="square" tIns="0">
            <a:spAutoFit/>
          </a:bodyPr>
          <a:lstStyle/>
          <a:p>
            <a:pPr indent="0" lvl="0" marL="0" marR="0" rtl="0" algn="ctr">
              <a:lnSpc>
                <a:spcPct val="97999"/>
              </a:lnSpc>
              <a:spcBef>
                <a:spcPts val="0"/>
              </a:spcBef>
              <a:spcAft>
                <a:spcPts val="0"/>
              </a:spcAft>
              <a:buClr>
                <a:srgbClr val="000000"/>
              </a:buClr>
              <a:buSzPts val="15099"/>
              <a:buFont typeface="Arial"/>
              <a:buNone/>
            </a:pPr>
            <a:r>
              <a:rPr b="1" i="0" lang="en-US" sz="7999" u="none" cap="none" strike="noStrike">
                <a:solidFill>
                  <a:srgbClr val="000000"/>
                </a:solidFill>
                <a:latin typeface="Doto Black"/>
                <a:ea typeface="Doto Black"/>
                <a:cs typeface="Doto Black"/>
                <a:sym typeface="Doto Black"/>
              </a:rPr>
              <a:t>DUDAS</a:t>
            </a:r>
            <a:endParaRPr b="0" i="0" sz="1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