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Lobster"/>
      <p:regular r:id="rId44"/>
    </p:embeddedFont>
    <p:embeddedFont>
      <p:font typeface="Pacifico"/>
      <p:regular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IyWpHUPvr87+2vec2Tj7JKxMO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Lobster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OpenSans-regular.fntdata"/><Relationship Id="rId45" Type="http://schemas.openxmlformats.org/officeDocument/2006/relationships/font" Target="fonts/Pacific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6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7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7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19" name="Google Shape;19;p37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7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7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37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24" name="Google Shape;24;p3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37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28" name="Google Shape;28;p3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37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8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9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9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9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0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41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58" name="Google Shape;58;p4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41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62" name="Google Shape;62;p4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41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4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2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2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2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42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73" name="Google Shape;73;p4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42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77" name="Google Shape;77;p4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42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81" name="Google Shape;81;p4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42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85" name="Google Shape;85;p4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42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89" name="Google Shape;89;p4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42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93" name="Google Shape;93;p42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42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3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p43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43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08" name="Google Shape;108;p4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5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45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112" name="Google Shape;112;p4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45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16" name="Google Shape;116;p4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45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45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p4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settings.py" TargetMode="External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settings.py" TargetMode="External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djangoproject.com/en/5.2/" TargetMode="External"/><Relationship Id="rId4" Type="http://schemas.openxmlformats.org/officeDocument/2006/relationships/hyperlink" Target="https://codigofacilito.com/articulos/mvc-model-view-controller-explicado" TargetMode="External"/><Relationship Id="rId5" Type="http://schemas.openxmlformats.org/officeDocument/2006/relationships/hyperlink" Target="http://freecodecamp.org" TargetMode="External"/><Relationship Id="rId6" Type="http://schemas.openxmlformats.org/officeDocument/2006/relationships/hyperlink" Target="https://www.freecodecamp.org/news/how-django-mvt-architecture-works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0" y="7467050"/>
            <a:ext cx="1586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407650" y="3665850"/>
            <a:ext cx="134727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8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 6: Entorno para desarrollo Web en Python</a:t>
            </a:r>
            <a:endParaRPr b="1" i="0" sz="8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81353" y="8383251"/>
            <a:ext cx="6981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9"/>
              <a:buFont typeface="Arial"/>
              <a:buNone/>
            </a:pPr>
            <a:r>
              <a:rPr b="1" i="0" lang="en-US" sz="2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9"/>
              <a:buFont typeface="Arial"/>
              <a:buNone/>
            </a:pPr>
            <a:r>
              <a:rPr b="1" i="0" lang="en-US" sz="2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i="0" sz="24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7" name="Google Shape;137;p2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2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1739805" y="5032666"/>
            <a:ext cx="5353682" cy="1267170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"/>
          <p:cNvSpPr txBox="1"/>
          <p:nvPr/>
        </p:nvSpPr>
        <p:spPr>
          <a:xfrm>
            <a:off x="1589200" y="4792050"/>
            <a:ext cx="2635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Qué es Django</a:t>
            </a:r>
            <a:endParaRPr b="0" i="0" sz="27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589200" y="5613925"/>
            <a:ext cx="2086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Patrón MVC</a:t>
            </a:r>
            <a:endParaRPr b="0" i="0" sz="27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589200" y="6579750"/>
            <a:ext cx="3248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Arquitectura Django</a:t>
            </a:r>
            <a:endParaRPr b="0" i="0" sz="27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589200" y="7372350"/>
            <a:ext cx="369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Django instalación y configuración básica</a:t>
            </a:r>
            <a:endParaRPr b="0" i="0" sz="27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589200" y="8580450"/>
            <a:ext cx="284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0" i="0" sz="27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2681275" y="3056625"/>
            <a:ext cx="12629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033050" y="4189275"/>
            <a:ext cx="162219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0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aplicaciones web con Flask o Django en Python para soportar arquitecturas backend y frontend bien definidas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Frontend se refiere a la interfaz gráfica de usuario (GUI) con la que los usuarios pueden interactuar de forma directa, como los menús de navegación, los elementos de diseño, los botones, las imágenes y los gráficos.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desarrollo web Frontend consiste en la conversión de datos en una interfaz gráfica para que el usuario pueda ver e interactuar con la información de forma digital.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200" y="4375900"/>
            <a:ext cx="7047500" cy="45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8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 es un framework de código abierto de desarrollo web para Python, respetando o utilizando el patrón de diseño conocido como Modelo-Vista-Controlador (MVC).</a:t>
            </a:r>
            <a:endParaRPr sz="8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ct val="100000"/>
              <a:buNone/>
            </a:pPr>
            <a:r>
              <a:rPr lang="en-US" sz="8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 es una herramienta que se puede usar para el desarrollo full-stack de aplicaciones y páginas web, así como para el desarrollo de servidores. Este framework está considerado como el mejor para el desarrollo web en Python.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8700" y="4135288"/>
            <a:ext cx="4334825" cy="43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junio de 2008 fue anunciado que la recién formada Django Software Foundation se haría cargo de Django en el futuro.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meta fundamental de Django es facilitar la creación de sitios web complejos. Django pone énfasis en el re-uso, la conectividad y extensibilidad de componentes, el desarrollo rápido y el principio «DRY» (del inglés Don't Repeat Yourself,«No te repitas»).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8700" y="4135288"/>
            <a:ext cx="4334825" cy="43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Características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937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Rapidez: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Django fue diseñado para ayudar a los desarrolladores a llevar las aplicaciones desde el concepto hasta su finalización lo más rápido posible.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Seguridad: 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 facilita la detección y solución de posibles fallos en la seguridad en las páginas web del lado del servidor.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Escalabilidad: 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Funciona por componentes sustituibles e intercambiables. Eso significa que se puede escalar con bastante facilidad.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Framework completo: 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 incluye docenas de funcionalidades que puede utilizar para manejar las tareas comunes de desarrollo web.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1638300" y="14837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Otras características de Django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1638300" y="3221500"/>
            <a:ext cx="153024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937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Aplicaciones "enchufables" que pueden instalarse en cualquier página gestionada con Django.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API de base de datos robusta.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sistema extensible de plantillas basado en etiquetas, con herencia de plantillas.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despachador de URLs basado en expresiones regulares.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sistema "middleware" para desarrollar características adicionales; por ejemplo, la distribución principal de Django incluye componentes middleware que proporcionan cacheo, compresión de la salida, normalización de URLs, protección CSRF y soporte de sesiones.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Documentación incorporada accesible a través de la aplicación administrativa (incluyendo documentación generada automáticamente de los modelos y las bibliotecas de plantillas añadidas por las aplicaciones).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1638300" y="973025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Modelo - Vista - Controlador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9"/>
          <p:cNvSpPr txBox="1"/>
          <p:nvPr>
            <p:ph idx="1" type="body"/>
          </p:nvPr>
        </p:nvSpPr>
        <p:spPr>
          <a:xfrm>
            <a:off x="1355437" y="2797725"/>
            <a:ext cx="7372200" cy="6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Modelo-vista-controlador (MVC) es un patrón de arquitectura de software, que separa los datos y principalmente lo que es la lógica de negocio de una aplicación de su representación y el módulo encargado de gestionar los eventos y las comunicaciones.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ello MVC propone la construcción de tres componentes distintos que son el modelo, la vista y el controlador; es decir: por un lado define componentes para la representación de la información y, por otro lado, para la interacción del usuario.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9025" y="3737024"/>
            <a:ext cx="7883550" cy="39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>
            <p:ph type="title"/>
          </p:nvPr>
        </p:nvSpPr>
        <p:spPr>
          <a:xfrm>
            <a:off x="1638300" y="973025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8676809" y="2797725"/>
            <a:ext cx="7372200" cy="6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la representación de la información con la cual el sistema opera, por lo tanto gestiona todos los accesos a dicha información, tanto consultas como actualizaciones, implementando también los privilegios de acceso que se hayan descrito en las especificaciones de la aplicación (lógica de negocio). Envía a la 'vista' aquella parte de la información que en cada momento se le solicita para que sea mostrada (típicamente a un usuario). Las peticiones de acceso o manipulación de información llegan al 'modelo' a través del 'controlador'.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991" y="34703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>
            <p:ph type="title"/>
          </p:nvPr>
        </p:nvSpPr>
        <p:spPr>
          <a:xfrm>
            <a:off x="1638300" y="1699863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Vista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1638304" y="4422425"/>
            <a:ext cx="73722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 el 'modelo' (información y lógica de negocio) en un formato adecuado para interactuar (usualmente la interfaz de usuario), por tanto requiere de dicho 'modelo' la información que debe representar como salida.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6771" y="4008063"/>
            <a:ext cx="7142926" cy="39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1638300" y="973025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Controlador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9236642" y="2797725"/>
            <a:ext cx="7372200" cy="6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Responde a eventos (usualmente acciones del usuario) e invoca peticiones al 'modelo' cuando se hace alguna solicitud sobre la información (por ejemplo, editar un documento o un registro en una base de datos). También puede enviar comandos a su 'vista' asociada si se solicita un cambio en la forma en que se presenta el 'modelo' (por ejemplo, desplazamiento o scroll por un documento o por los diferentes registros de una base de datos), por tanto se podría decir que el 'controlador' hace de intermediario entre la 'vista' y el 'modelo'.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158" y="4102550"/>
            <a:ext cx="7372200" cy="32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 de Django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13"/>
          <p:cNvSpPr txBox="1"/>
          <p:nvPr>
            <p:ph idx="1" type="body"/>
          </p:nvPr>
        </p:nvSpPr>
        <p:spPr>
          <a:xfrm>
            <a:off x="2538300" y="3981450"/>
            <a:ext cx="132114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Aunque Django está fuertemente inspirado en la filosofía de desarrollo Modelo Vista Controlador, sus desarrolladores declaran públicamente que no se sienten especialmente atados a observar estrictamente ningún paradigma particular, y en cambio prefieren hacer "lo que les parece correcto". Como resultado, por ejemplo, lo que se llamaría "controlador" en un "verdadero" framework MVC se llama en Django "vista" , y lo que se llamaría "vista" se llama "plantilla".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1638300" y="2539679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Modelo - Vista - Template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14"/>
          <p:cNvSpPr txBox="1"/>
          <p:nvPr>
            <p:ph idx="1" type="body"/>
          </p:nvPr>
        </p:nvSpPr>
        <p:spPr>
          <a:xfrm>
            <a:off x="1287937" y="4364379"/>
            <a:ext cx="7372200" cy="2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Modelo-vista-template (MVT) es una arquitectura propia que utiliza el framework Django, se basa en la arquitectura MVC pero con algunas modificaciones propias de Django.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2" name="Google Shape;2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0287" y="4148329"/>
            <a:ext cx="8229776" cy="359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>
            <p:ph type="title"/>
          </p:nvPr>
        </p:nvSpPr>
        <p:spPr>
          <a:xfrm>
            <a:off x="1638300" y="1367431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Vista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15"/>
          <p:cNvSpPr txBox="1"/>
          <p:nvPr>
            <p:ph idx="1" type="body"/>
          </p:nvPr>
        </p:nvSpPr>
        <p:spPr>
          <a:xfrm>
            <a:off x="2123150" y="2991569"/>
            <a:ext cx="7372200" cy="59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vistas de Django se encargan de procesar las solicitudes de los usuarios y devolver las respuestas. Actúan como puente entre el Modelo y la Plantilla, recopilando datos de los objetos del Modelo, realizando operaciones lógicas con ellos (como consultas basadas en ciertos criterios) y, posteriormente, pasando los datos a la plantilla para su visualización.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vistas se pueden escribir como funciones o basadas en clases, según la complejidad y los requisitos de su aplicación.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400"/>
              </a:spcAft>
              <a:buSzPts val="2600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9" name="Google Shape;2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1875" y="3295225"/>
            <a:ext cx="4952975" cy="55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1638300" y="1177319"/>
            <a:ext cx="150114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Plantilla</a:t>
            </a:r>
            <a:endParaRPr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1638300" y="3075181"/>
            <a:ext cx="7372200" cy="60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plantillas de Django son responsables de renderizar la salida HTML final en el navegador. Definen cómo deben presentarse los datos mediante una combinación de HTML y el lenguaje de plantillas de Django.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lenguaje de plantillas de Django implica el uso </a:t>
            </a: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etiquetas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{% %} y </a:t>
            </a:r>
            <a:r>
              <a:rPr b="1"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variables de plantilla</a:t>
            </a:r>
            <a:r>
              <a:rPr lang="en-US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{{ }} que permiten acceder al modo Django en la plantilla HTML. En este modo, se puede acceder a las variables definidas en las vistas y usar las estructuras de control dentro de la plantilla.</a:t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400"/>
              </a:spcAft>
              <a:buSzPts val="2600"/>
              <a:buNone/>
            </a:pPr>
            <a:r>
              <a:t/>
            </a:r>
            <a:endParaRPr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6771" y="3485519"/>
            <a:ext cx="7142926" cy="39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>
            <p:ph type="title"/>
          </p:nvPr>
        </p:nvSpPr>
        <p:spPr>
          <a:xfrm>
            <a:off x="1370550" y="2602300"/>
            <a:ext cx="155469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</a:pPr>
            <a:r>
              <a:rPr b="1"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Pasos para crear un proyecto Django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1974050" y="356235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1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Instalar Django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9900" y="3562350"/>
            <a:ext cx="573405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type="title"/>
          </p:nvPr>
        </p:nvSpPr>
        <p:spPr>
          <a:xfrm>
            <a:off x="1249625" y="3760500"/>
            <a:ext cx="60612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2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un nuevo proyecto</a:t>
            </a:r>
            <a:endParaRPr sz="4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550" y="3371850"/>
            <a:ext cx="94107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type="title"/>
          </p:nvPr>
        </p:nvSpPr>
        <p:spPr>
          <a:xfrm>
            <a:off x="866163" y="3760500"/>
            <a:ext cx="60612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3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Crear una nueva aplicación</a:t>
            </a:r>
            <a:endParaRPr sz="4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9" name="Google Shape;2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8638" y="2927100"/>
            <a:ext cx="103632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1772500" y="2556150"/>
            <a:ext cx="7902000" cy="51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4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la carpeta de la aplicación se debe agregar la carpeta static y templates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5" name="Google Shape;2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5488" y="3637725"/>
            <a:ext cx="6580025" cy="26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1772500" y="2556150"/>
            <a:ext cx="7014900" cy="51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5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</a:t>
            </a:r>
            <a:r>
              <a:rPr lang="en-US" sz="4000">
                <a:solidFill>
                  <a:srgbClr val="13141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settings.py</a:t>
            </a: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verificar la siguiente línea: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 que es la carpeta donde se guardaran los archivos estáticos que se necesiten (CSS, JS, Imágenes, etc).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5950" y="4820625"/>
            <a:ext cx="5871250" cy="16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>
            <p:ph type="title"/>
          </p:nvPr>
        </p:nvSpPr>
        <p:spPr>
          <a:xfrm>
            <a:off x="2086450" y="2556150"/>
            <a:ext cx="7014900" cy="51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6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</a:t>
            </a:r>
            <a:r>
              <a:rPr lang="en-US" sz="4000">
                <a:solidFill>
                  <a:srgbClr val="13141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settings.py</a:t>
            </a: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 la sección de Application definition, agregar el nombre de la aplicación recien creada.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8800" y="4250300"/>
            <a:ext cx="5912750" cy="30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>
            <p:ph type="title"/>
          </p:nvPr>
        </p:nvSpPr>
        <p:spPr>
          <a:xfrm>
            <a:off x="1121856" y="2556150"/>
            <a:ext cx="7014900" cy="54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7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Ahora, se debe configurar lo que son las URLs, entonces hay que ir a urls.py en la carpeta del Proyecto, e incluir otro URLconf. Para ello, se debe importar la función include de Django. Para que quede así:</a:t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8453607" y="4775500"/>
            <a:ext cx="8712537" cy="1851154"/>
          </a:xfrm>
          <a:custGeom>
            <a:rect b="b" l="l" r="r" t="t"/>
            <a:pathLst>
              <a:path extrusionOk="0" h="1851154" w="9600592">
                <a:moveTo>
                  <a:pt x="0" y="0"/>
                </a:moveTo>
                <a:lnTo>
                  <a:pt x="9600592" y="0"/>
                </a:lnTo>
                <a:lnTo>
                  <a:pt x="9600592" y="1851154"/>
                </a:lnTo>
                <a:lnTo>
                  <a:pt x="0" y="1851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988549" y="2556150"/>
            <a:ext cx="7014900" cy="54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8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la carpeta de la aplicación, crear un archivo llamado urls.py. Y en este archivo, escribir lo siguiente:</a:t>
            </a:r>
            <a:endParaRPr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8235788" y="4024438"/>
            <a:ext cx="9063663" cy="3015510"/>
          </a:xfrm>
          <a:custGeom>
            <a:rect b="b" l="l" r="r" t="t"/>
            <a:pathLst>
              <a:path extrusionOk="0" h="3015510" w="9063663">
                <a:moveTo>
                  <a:pt x="0" y="0"/>
                </a:moveTo>
                <a:lnTo>
                  <a:pt x="9063662" y="0"/>
                </a:lnTo>
                <a:lnTo>
                  <a:pt x="9063662" y="3015509"/>
                </a:lnTo>
                <a:lnTo>
                  <a:pt x="0" y="3015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 txBox="1"/>
          <p:nvPr>
            <p:ph type="title"/>
          </p:nvPr>
        </p:nvSpPr>
        <p:spPr>
          <a:xfrm>
            <a:off x="972169" y="2556150"/>
            <a:ext cx="7014900" cy="54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9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Modificar el archivo urls.py del proyecto para que quede de la siguiente manera</a:t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8434861" y="3514109"/>
            <a:ext cx="8880970" cy="3575891"/>
          </a:xfrm>
          <a:custGeom>
            <a:rect b="b" l="l" r="r" t="t"/>
            <a:pathLst>
              <a:path extrusionOk="0" h="3575891" w="8880970">
                <a:moveTo>
                  <a:pt x="0" y="0"/>
                </a:moveTo>
                <a:lnTo>
                  <a:pt x="8880970" y="0"/>
                </a:lnTo>
                <a:lnTo>
                  <a:pt x="8880970" y="3575892"/>
                </a:lnTo>
                <a:lnTo>
                  <a:pt x="0" y="3575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773400" y="2556150"/>
            <a:ext cx="7014900" cy="54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10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4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Ejecutar el siguiente comando para iniciar el servidor frontend</a:t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7971025" y="4003300"/>
            <a:ext cx="9543575" cy="1930364"/>
          </a:xfrm>
          <a:custGeom>
            <a:rect b="b" l="l" r="r" t="t"/>
            <a:pathLst>
              <a:path extrusionOk="0" h="1930364" w="9543575">
                <a:moveTo>
                  <a:pt x="0" y="0"/>
                </a:moveTo>
                <a:lnTo>
                  <a:pt x="9543575" y="0"/>
                </a:lnTo>
                <a:lnTo>
                  <a:pt x="9543575" y="1930364"/>
                </a:lnTo>
                <a:lnTo>
                  <a:pt x="0" y="1930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>
            <p:ph type="title"/>
          </p:nvPr>
        </p:nvSpPr>
        <p:spPr>
          <a:xfrm>
            <a:off x="3834600" y="1119450"/>
            <a:ext cx="10618800" cy="80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11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el navegador, ingresar la siguiente dirección http://{{host}}:{{port}}/ </a:t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1818"/>
              <a:buFont typeface="Arial"/>
              <a:buNone/>
            </a:pPr>
            <a:r>
              <a:t/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Donde host y port son los valores que nos da la terminal al correr el servidor o pueden ser las que nosotros definimos si es que lo hicimos.</a:t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t/>
            </a:r>
            <a:endParaRPr b="1"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type="title"/>
          </p:nvPr>
        </p:nvSpPr>
        <p:spPr>
          <a:xfrm>
            <a:off x="1522374" y="1552500"/>
            <a:ext cx="6139200" cy="7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3333"/>
              <a:buNone/>
            </a:pPr>
            <a:r>
              <a:rPr b="1"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12</a:t>
            </a:r>
            <a:endParaRPr b="1" sz="8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US" sz="44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Listo! Ya se está ejecutando la aplicación web.</a:t>
            </a:r>
            <a:endParaRPr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t/>
            </a:r>
            <a:endParaRPr b="1" sz="44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t/>
            </a:r>
            <a:endParaRPr sz="4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8878724" y="2870920"/>
            <a:ext cx="7886902" cy="5411253"/>
          </a:xfrm>
          <a:custGeom>
            <a:rect b="b" l="l" r="r" t="t"/>
            <a:pathLst>
              <a:path extrusionOk="0" h="5411253" w="7886902">
                <a:moveTo>
                  <a:pt x="0" y="0"/>
                </a:moveTo>
                <a:lnTo>
                  <a:pt x="7886902" y="0"/>
                </a:lnTo>
                <a:lnTo>
                  <a:pt x="7886902" y="5411253"/>
                </a:lnTo>
                <a:lnTo>
                  <a:pt x="0" y="5411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/>
        </p:nvSpPr>
        <p:spPr>
          <a:xfrm>
            <a:off x="5818050" y="4527750"/>
            <a:ext cx="6651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1" i="0" lang="en-US" sz="10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1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/>
        </p:nvSpPr>
        <p:spPr>
          <a:xfrm>
            <a:off x="2392340" y="2541888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1909500" y="3797250"/>
            <a:ext cx="144690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Django: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Django es un framework de código abierto para desarrollo web en Python, basado en el patrón Modelo-Vista-Controlador (MVC), adaptado como Modelo-Vista-Template (MVT).</a:t>
            </a:r>
            <a:endParaRPr b="0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0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Facilita la creación de sitios web complejos, promoviendo rapidez, seguridad, escalabilidad y el principio DRY (No te repitas).</a:t>
            </a:r>
            <a:endParaRPr b="0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MVT: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Gestiona los datos y la lógica de negocio, interactuando con la base de datos.</a:t>
            </a:r>
            <a:endParaRPr b="0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Vista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Procesa solicitudes de usuarios, recopila datos del modelo y los pasa a la plantilla.</a:t>
            </a:r>
            <a:endParaRPr b="0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Plantilla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Renderizar la interfaz HTML usando el lenguaje de plantillas de Django (etiquetas {% %} y variables {{ }}).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/>
        </p:nvSpPr>
        <p:spPr>
          <a:xfrm>
            <a:off x="2731050" y="4404600"/>
            <a:ext cx="12825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Recuerda que la humildad es saber que siempre hay algo nuevo que aprender</a:t>
            </a:r>
            <a:endParaRPr b="1" i="0" sz="5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2392340" y="2541888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HUMILDAD</a:t>
            </a: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"/>
          <p:cNvSpPr txBox="1"/>
          <p:nvPr/>
        </p:nvSpPr>
        <p:spPr>
          <a:xfrm>
            <a:off x="2507390" y="1757463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5" name="Google Shape;345;p33"/>
          <p:cNvSpPr txBox="1"/>
          <p:nvPr/>
        </p:nvSpPr>
        <p:spPr>
          <a:xfrm>
            <a:off x="1379400" y="3326950"/>
            <a:ext cx="155292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0" i="1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Django documentation | Django documentation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(s. f.-b). Django Project. </a:t>
            </a:r>
            <a:r>
              <a:rPr b="0" i="0" lang="en-US" sz="26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https://docs.djangoproject.com/en/5.2/</a:t>
            </a:r>
            <a:endParaRPr b="0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600"/>
              <a:buFont typeface="Open Sans"/>
              <a:buChar char="●"/>
            </a:pP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Código Facilito. (2015, Febrero 22). MVC (Model, View, Controller) explicado. Código Facilito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6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https://codigofacilito.com/articulos/mvc-model-view-controller-explicado</a:t>
            </a:r>
            <a:endParaRPr b="0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Olanrewaju, T. (2024, Diciembre 10). How django’s MVT architecture works: A deep dive into Models, views, and templates. </a:t>
            </a:r>
            <a:r>
              <a:rPr b="0" i="0" lang="en-US" sz="2600" u="none" cap="none" strike="noStrike">
                <a:solidFill>
                  <a:srgbClr val="000000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Freecodecamp.org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b="0" i="0" lang="en-US" sz="26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https://www.freecodecamp.org/news/how-django-mvt-architecture-works/</a:t>
            </a:r>
            <a:endParaRPr b="0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/>
        </p:nvSpPr>
        <p:spPr>
          <a:xfrm>
            <a:off x="3591300" y="4120599"/>
            <a:ext cx="111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¡GRACIAS POR SU ATENCIÓN!</a:t>
            </a:r>
            <a:endParaRPr b="1" i="0" sz="6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5791505" y="5396902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14470701" y="107095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34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