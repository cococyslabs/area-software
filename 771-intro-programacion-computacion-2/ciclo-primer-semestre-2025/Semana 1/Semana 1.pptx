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Lobster"/>
      <p:regular r:id="rId51"/>
    </p:embeddedFont>
    <p:embeddedFont>
      <p:font typeface="Pacifico"/>
      <p:regular r:id="rId52"/>
    </p:embeddedFont>
    <p:embeddedFont>
      <p:font typeface="DM Sans Light"/>
      <p:regular r:id="rId53"/>
      <p:bold r:id="rId54"/>
      <p:italic r:id="rId55"/>
      <p:boldItalic r:id="rId56"/>
    </p:embeddedFont>
    <p:embeddedFont>
      <p:font typeface="Sansita"/>
      <p:regular r:id="rId57"/>
      <p:bold r:id="rId58"/>
      <p:italic r:id="rId59"/>
      <p:boldItalic r:id="rId60"/>
    </p:embeddedFont>
    <p:embeddedFont>
      <p:font typeface="DM Sans"/>
      <p:regular r:id="rId61"/>
      <p:bold r:id="rId62"/>
      <p:italic r:id="rId63"/>
      <p:boldItalic r:id="rId64"/>
    </p:embeddedFont>
    <p:embeddedFont>
      <p:font typeface="Open Sans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9" roundtripDataSignature="AMtx7mg8VY8qpS/BR5/cNAOmpjPHhfgh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bold.fntdata"/><Relationship Id="rId61" Type="http://schemas.openxmlformats.org/officeDocument/2006/relationships/font" Target="fonts/DMSans-regular.fntdata"/><Relationship Id="rId20" Type="http://schemas.openxmlformats.org/officeDocument/2006/relationships/slide" Target="slides/slide14.xml"/><Relationship Id="rId64" Type="http://schemas.openxmlformats.org/officeDocument/2006/relationships/font" Target="fonts/DMSans-boldItalic.fntdata"/><Relationship Id="rId63" Type="http://schemas.openxmlformats.org/officeDocument/2006/relationships/font" Target="fonts/DMSans-italic.fntdata"/><Relationship Id="rId22" Type="http://schemas.openxmlformats.org/officeDocument/2006/relationships/slide" Target="slides/slide16.xml"/><Relationship Id="rId66" Type="http://schemas.openxmlformats.org/officeDocument/2006/relationships/font" Target="fonts/OpenSans-bold.fntdata"/><Relationship Id="rId21" Type="http://schemas.openxmlformats.org/officeDocument/2006/relationships/slide" Target="slides/slide15.xml"/><Relationship Id="rId65" Type="http://schemas.openxmlformats.org/officeDocument/2006/relationships/font" Target="fonts/OpenSans-regular.fntdata"/><Relationship Id="rId24" Type="http://schemas.openxmlformats.org/officeDocument/2006/relationships/slide" Target="slides/slide18.xml"/><Relationship Id="rId68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67" Type="http://schemas.openxmlformats.org/officeDocument/2006/relationships/font" Target="fonts/OpenSans-italic.fntdata"/><Relationship Id="rId60" Type="http://schemas.openxmlformats.org/officeDocument/2006/relationships/font" Target="fonts/Sansita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obster-regular.fntdata"/><Relationship Id="rId50" Type="http://schemas.openxmlformats.org/officeDocument/2006/relationships/slide" Target="slides/slide44.xml"/><Relationship Id="rId53" Type="http://schemas.openxmlformats.org/officeDocument/2006/relationships/font" Target="fonts/DMSansLight-regular.fntdata"/><Relationship Id="rId52" Type="http://schemas.openxmlformats.org/officeDocument/2006/relationships/font" Target="fonts/Pacifico-regular.fntdata"/><Relationship Id="rId11" Type="http://schemas.openxmlformats.org/officeDocument/2006/relationships/slide" Target="slides/slide5.xml"/><Relationship Id="rId55" Type="http://schemas.openxmlformats.org/officeDocument/2006/relationships/font" Target="fonts/DMSansLight-italic.fntdata"/><Relationship Id="rId10" Type="http://schemas.openxmlformats.org/officeDocument/2006/relationships/slide" Target="slides/slide4.xml"/><Relationship Id="rId54" Type="http://schemas.openxmlformats.org/officeDocument/2006/relationships/font" Target="fonts/DMSansLight-bold.fntdata"/><Relationship Id="rId13" Type="http://schemas.openxmlformats.org/officeDocument/2006/relationships/slide" Target="slides/slide7.xml"/><Relationship Id="rId57" Type="http://schemas.openxmlformats.org/officeDocument/2006/relationships/font" Target="fonts/Sansita-regular.fntdata"/><Relationship Id="rId12" Type="http://schemas.openxmlformats.org/officeDocument/2006/relationships/slide" Target="slides/slide6.xml"/><Relationship Id="rId56" Type="http://schemas.openxmlformats.org/officeDocument/2006/relationships/font" Target="fonts/DMSansLight-boldItalic.fntdata"/><Relationship Id="rId15" Type="http://schemas.openxmlformats.org/officeDocument/2006/relationships/slide" Target="slides/slide9.xml"/><Relationship Id="rId59" Type="http://schemas.openxmlformats.org/officeDocument/2006/relationships/font" Target="fonts/Sansita-italic.fntdata"/><Relationship Id="rId14" Type="http://schemas.openxmlformats.org/officeDocument/2006/relationships/slide" Target="slides/slide8.xml"/><Relationship Id="rId58" Type="http://schemas.openxmlformats.org/officeDocument/2006/relationships/font" Target="fonts/Sansit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9" name="Google Shape;45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5" name="Google Shape;57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9" name="Google Shape;6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3" name="Google Shape;70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3" name="Google Shape;76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3" name="Google Shape;79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7" name="Google Shape;83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6" name="Google Shape;85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9" name="Google Shape;879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9" name="Google Shape;899;p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9" name="Google Shape;919;p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8" name="Google Shape;938;p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8" name="Google Shape;95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9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59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5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5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5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60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6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6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61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6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6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62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62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6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6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63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63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63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63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6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6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6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6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6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6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5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65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65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6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6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6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6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66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66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6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6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6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67"/>
          <p:cNvSpPr txBox="1"/>
          <p:nvPr>
            <p:ph idx="1" type="body"/>
          </p:nvPr>
        </p:nvSpPr>
        <p:spPr>
          <a:xfrm rot="5400000">
            <a:off x="1154510" y="-125809"/>
            <a:ext cx="226298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6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6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6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8"/>
          <p:cNvSpPr txBox="1"/>
          <p:nvPr>
            <p:ph type="title"/>
          </p:nvPr>
        </p:nvSpPr>
        <p:spPr>
          <a:xfrm rot="5400000">
            <a:off x="2366169" y="1085851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68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6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6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6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7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4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4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5.png"/><Relationship Id="rId13" Type="http://schemas.openxmlformats.org/officeDocument/2006/relationships/image" Target="../media/image19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12.png"/><Relationship Id="rId1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hyperlink" Target="https://www.youtube.com/watch?v=yvEULTmq4W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Relationship Id="rId5" Type="http://schemas.openxmlformats.org/officeDocument/2006/relationships/hyperlink" Target="https://docs.python.org/3/faq/general.html#what-is-python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hyperlink" Target="https://www.python.org" TargetMode="External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26.gif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24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37.gif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15" Type="http://schemas.openxmlformats.org/officeDocument/2006/relationships/image" Target="../media/image30.gif"/><Relationship Id="rId1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26.gif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14" Type="http://schemas.openxmlformats.org/officeDocument/2006/relationships/image" Target="../media/image50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41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14" Type="http://schemas.openxmlformats.org/officeDocument/2006/relationships/image" Target="../media/image26.gif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hyperlink" Target="https://docs.python.org/es/3.12/tutorial/index.html" TargetMode="External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14" Type="http://schemas.openxmlformats.org/officeDocument/2006/relationships/hyperlink" Target="https://docs.python.org/es/3.12/index.html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54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15" Type="http://schemas.openxmlformats.org/officeDocument/2006/relationships/image" Target="../media/image52.png"/><Relationship Id="rId14" Type="http://schemas.openxmlformats.org/officeDocument/2006/relationships/image" Target="../media/image26.gif"/><Relationship Id="rId16" Type="http://schemas.openxmlformats.org/officeDocument/2006/relationships/image" Target="../media/image44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9.png"/><Relationship Id="rId13" Type="http://schemas.openxmlformats.org/officeDocument/2006/relationships/image" Target="../media/image45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47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32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6.png"/><Relationship Id="rId6" Type="http://schemas.openxmlformats.org/officeDocument/2006/relationships/hyperlink" Target="https://code.visualstudio.com" TargetMode="External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hyperlink" Target="https://code.visualstudio.com/docs/setup/windows" TargetMode="External"/><Relationship Id="rId10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9" Type="http://schemas.openxmlformats.org/officeDocument/2006/relationships/image" Target="../media/image64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32.png"/><Relationship Id="rId8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gif"/><Relationship Id="rId10" Type="http://schemas.openxmlformats.org/officeDocument/2006/relationships/image" Target="../media/image62.png"/><Relationship Id="rId13" Type="http://schemas.openxmlformats.org/officeDocument/2006/relationships/image" Target="../media/image76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63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9.png"/><Relationship Id="rId6" Type="http://schemas.openxmlformats.org/officeDocument/2006/relationships/hyperlink" Target="https://code.visualstudio.com" TargetMode="External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jetbrains.com/community/education/#students" TargetMode="External"/><Relationship Id="rId10" Type="http://schemas.openxmlformats.org/officeDocument/2006/relationships/image" Target="../media/image67.png"/><Relationship Id="rId13" Type="http://schemas.openxmlformats.org/officeDocument/2006/relationships/hyperlink" Target="https://account.jetbrains.com/login" TargetMode="External"/><Relationship Id="rId12" Type="http://schemas.openxmlformats.org/officeDocument/2006/relationships/hyperlink" Target="https://www.jetbrains.com/shop/eform/students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87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0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75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72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png"/><Relationship Id="rId10" Type="http://schemas.openxmlformats.org/officeDocument/2006/relationships/image" Target="../media/image66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81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71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82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0" Type="http://schemas.openxmlformats.org/officeDocument/2006/relationships/image" Target="../media/image9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99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85.png"/><Relationship Id="rId6" Type="http://schemas.openxmlformats.org/officeDocument/2006/relationships/image" Target="../media/image50.png"/><Relationship Id="rId7" Type="http://schemas.openxmlformats.org/officeDocument/2006/relationships/hyperlink" Target="https://code.visualstudio.com" TargetMode="External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91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20" Type="http://schemas.openxmlformats.org/officeDocument/2006/relationships/image" Target="../media/image63.png"/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88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19" Type="http://schemas.openxmlformats.org/officeDocument/2006/relationships/image" Target="../media/image85.png"/><Relationship Id="rId6" Type="http://schemas.openxmlformats.org/officeDocument/2006/relationships/image" Target="../media/image23.png"/><Relationship Id="rId18" Type="http://schemas.openxmlformats.org/officeDocument/2006/relationships/hyperlink" Target="https://www.youtube.com/watch?v=yvEULTmq4WY" TargetMode="External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86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102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90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95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18" Type="http://schemas.openxmlformats.org/officeDocument/2006/relationships/image" Target="../media/image89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98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19" Type="http://schemas.openxmlformats.org/officeDocument/2006/relationships/image" Target="../media/image97.png"/><Relationship Id="rId6" Type="http://schemas.openxmlformats.org/officeDocument/2006/relationships/image" Target="../media/image23.png"/><Relationship Id="rId18" Type="http://schemas.openxmlformats.org/officeDocument/2006/relationships/image" Target="../media/image9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6.png"/><Relationship Id="rId13" Type="http://schemas.openxmlformats.org/officeDocument/2006/relationships/image" Target="../media/image3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15" Type="http://schemas.openxmlformats.org/officeDocument/2006/relationships/image" Target="../media/image94.png"/><Relationship Id="rId14" Type="http://schemas.openxmlformats.org/officeDocument/2006/relationships/image" Target="../media/image101.png"/><Relationship Id="rId5" Type="http://schemas.openxmlformats.org/officeDocument/2006/relationships/image" Target="../media/image4.png"/><Relationship Id="rId6" Type="http://schemas.openxmlformats.org/officeDocument/2006/relationships/image" Target="../media/image53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100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19" Type="http://schemas.openxmlformats.org/officeDocument/2006/relationships/hyperlink" Target="https://www.sololearn.com/en/learn/courses/le-python-for-beginners" TargetMode="External"/><Relationship Id="rId6" Type="http://schemas.openxmlformats.org/officeDocument/2006/relationships/image" Target="../media/image23.png"/><Relationship Id="rId18" Type="http://schemas.openxmlformats.org/officeDocument/2006/relationships/image" Target="../media/image92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hyperlink" Target="https://docs.python.org/3/faq/general.html#what-is-python" TargetMode="External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19" Type="http://schemas.openxmlformats.org/officeDocument/2006/relationships/hyperlink" Target="https://www.luisllamas.es/curso-python-introduccion/" TargetMode="External"/><Relationship Id="rId6" Type="http://schemas.openxmlformats.org/officeDocument/2006/relationships/image" Target="../media/image23.png"/><Relationship Id="rId18" Type="http://schemas.openxmlformats.org/officeDocument/2006/relationships/hyperlink" Target="https://techkrowd.com/programacion/python/python-tipos-de-datos/#google_vignette" TargetMode="External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15" Type="http://schemas.openxmlformats.org/officeDocument/2006/relationships/image" Target="../media/image10.png"/><Relationship Id="rId14" Type="http://schemas.openxmlformats.org/officeDocument/2006/relationships/image" Target="../media/image19.png"/><Relationship Id="rId17" Type="http://schemas.openxmlformats.org/officeDocument/2006/relationships/image" Target="../media/image103.png"/><Relationship Id="rId16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4.png"/><Relationship Id="rId8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/>
          <p:nvPr/>
        </p:nvSpPr>
        <p:spPr>
          <a:xfrm rot="-5400000">
            <a:off x="203740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130" name="Google Shape;130;p1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"/>
          <p:cNvSpPr txBox="1"/>
          <p:nvPr/>
        </p:nvSpPr>
        <p:spPr>
          <a:xfrm>
            <a:off x="531651" y="3497125"/>
            <a:ext cx="789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 b="1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343700" y="1957825"/>
            <a:ext cx="7078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s" sz="4600" u="none" cap="none" strike="noStrike">
                <a:solidFill>
                  <a:srgbClr val="131416"/>
                </a:solidFill>
                <a:latin typeface="DM Sans"/>
                <a:ea typeface="DM Sans"/>
                <a:cs typeface="DM Sans"/>
                <a:sym typeface="DM Sans"/>
              </a:rPr>
              <a:t>Introducción a Python</a:t>
            </a:r>
            <a:endParaRPr b="0" i="0" sz="7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578051" y="3945551"/>
            <a:ext cx="34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1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656500" y="4193863"/>
            <a:ext cx="333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1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656500" y="4490102"/>
            <a:ext cx="405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-1313224" y="450899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"/>
          <p:cNvSpPr/>
          <p:nvPr/>
        </p:nvSpPr>
        <p:spPr>
          <a:xfrm rot="4741666">
            <a:off x="-1480973" y="1832278"/>
            <a:ext cx="2443761" cy="1365451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"/>
          <p:cNvSpPr/>
          <p:nvPr/>
        </p:nvSpPr>
        <p:spPr>
          <a:xfrm>
            <a:off x="1387400" y="469051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"/>
          <p:cNvSpPr/>
          <p:nvPr/>
        </p:nvSpPr>
        <p:spPr>
          <a:xfrm rot="-5279728">
            <a:off x="8220571" y="3485016"/>
            <a:ext cx="1692529" cy="577575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 rot="-5400000">
            <a:off x="203740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151" name="Google Shape;151;p2"/>
          <p:cNvSpPr/>
          <p:nvPr/>
        </p:nvSpPr>
        <p:spPr>
          <a:xfrm>
            <a:off x="439327" y="2370221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"/>
          <p:cNvSpPr/>
          <p:nvPr/>
        </p:nvSpPr>
        <p:spPr>
          <a:xfrm>
            <a:off x="325877" y="1714868"/>
            <a:ext cx="376946" cy="436464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2"/>
          <p:cNvSpPr txBox="1"/>
          <p:nvPr/>
        </p:nvSpPr>
        <p:spPr>
          <a:xfrm>
            <a:off x="325875" y="245525"/>
            <a:ext cx="3855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s" sz="75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7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933495" y="1506994"/>
            <a:ext cx="1840689" cy="777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052995" y="195384"/>
            <a:ext cx="4208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s" sz="75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7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762347" y="3265900"/>
            <a:ext cx="2872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Básica con Python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439327" y="2811640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"/>
          <p:cNvSpPr/>
          <p:nvPr/>
        </p:nvSpPr>
        <p:spPr>
          <a:xfrm>
            <a:off x="439327" y="3302427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2"/>
          <p:cNvSpPr/>
          <p:nvPr/>
        </p:nvSpPr>
        <p:spPr>
          <a:xfrm>
            <a:off x="439327" y="3802318"/>
            <a:ext cx="226679" cy="275047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2"/>
          <p:cNvSpPr txBox="1"/>
          <p:nvPr/>
        </p:nvSpPr>
        <p:spPr>
          <a:xfrm>
            <a:off x="762353" y="2330138"/>
            <a:ext cx="1498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es Python?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762349" y="2798025"/>
            <a:ext cx="2070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Instalación de Python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2"/>
          <p:cNvGrpSpPr/>
          <p:nvPr/>
        </p:nvGrpSpPr>
        <p:grpSpPr>
          <a:xfrm>
            <a:off x="5557375" y="1532637"/>
            <a:ext cx="2676771" cy="533914"/>
            <a:chOff x="5557375" y="1532637"/>
            <a:chExt cx="2676771" cy="533914"/>
          </a:xfrm>
        </p:grpSpPr>
        <p:sp>
          <p:nvSpPr>
            <p:cNvPr id="163" name="Google Shape;163;p2"/>
            <p:cNvSpPr/>
            <p:nvPr/>
          </p:nvSpPr>
          <p:spPr>
            <a:xfrm>
              <a:off x="5557375" y="1532637"/>
              <a:ext cx="2676771" cy="533914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4" name="Google Shape;164;p2"/>
            <p:cNvSpPr txBox="1"/>
            <p:nvPr/>
          </p:nvSpPr>
          <p:spPr>
            <a:xfrm>
              <a:off x="5663450" y="1599488"/>
              <a:ext cx="171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6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2"/>
          <p:cNvSpPr txBox="1"/>
          <p:nvPr/>
        </p:nvSpPr>
        <p:spPr>
          <a:xfrm>
            <a:off x="762346" y="3770300"/>
            <a:ext cx="3333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/>
          <p:nvPr/>
        </p:nvSpPr>
        <p:spPr>
          <a:xfrm rot="-5400000">
            <a:off x="203740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171" name="Google Shape;171;p3"/>
          <p:cNvSpPr txBox="1"/>
          <p:nvPr/>
        </p:nvSpPr>
        <p:spPr>
          <a:xfrm>
            <a:off x="687445" y="327182"/>
            <a:ext cx="69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b="0" i="0" sz="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1198701" y="1425625"/>
            <a:ext cx="68982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131416"/>
                </a:solidFill>
                <a:latin typeface="DM Sans Light"/>
                <a:ea typeface="DM Sans Light"/>
                <a:cs typeface="DM Sans Light"/>
                <a:sym typeface="DM Sans Light"/>
              </a:rPr>
              <a:t>Aplica estructuras de control y funciones mediante programación básica en Python. para desarrollar algoritmos que resuelvan problemas.</a:t>
            </a:r>
            <a:endParaRPr b="0" i="0" sz="7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-711820" y="383389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3"/>
          <p:cNvSpPr/>
          <p:nvPr/>
        </p:nvSpPr>
        <p:spPr>
          <a:xfrm>
            <a:off x="7706278" y="381954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3"/>
          <p:cNvSpPr/>
          <p:nvPr/>
        </p:nvSpPr>
        <p:spPr>
          <a:xfrm>
            <a:off x="5625587" y="416758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3"/>
          <p:cNvSpPr/>
          <p:nvPr/>
        </p:nvSpPr>
        <p:spPr>
          <a:xfrm>
            <a:off x="1540941" y="402315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/>
          <p:nvPr/>
        </p:nvSpPr>
        <p:spPr>
          <a:xfrm rot="-5400000">
            <a:off x="203740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182" name="Google Shape;182;p4"/>
          <p:cNvSpPr/>
          <p:nvPr/>
        </p:nvSpPr>
        <p:spPr>
          <a:xfrm>
            <a:off x="6124066" y="1344948"/>
            <a:ext cx="2703257" cy="2744423"/>
          </a:xfrm>
          <a:custGeom>
            <a:rect b="b" l="l" r="r" t="t"/>
            <a:pathLst>
              <a:path extrusionOk="0" h="5488846" w="5406514">
                <a:moveTo>
                  <a:pt x="0" y="0"/>
                </a:moveTo>
                <a:lnTo>
                  <a:pt x="5406514" y="0"/>
                </a:lnTo>
                <a:lnTo>
                  <a:pt x="5406514" y="5488846"/>
                </a:lnTo>
                <a:lnTo>
                  <a:pt x="0" y="5488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4"/>
          <p:cNvSpPr txBox="1"/>
          <p:nvPr/>
        </p:nvSpPr>
        <p:spPr>
          <a:xfrm>
            <a:off x="340326" y="822025"/>
            <a:ext cx="49341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¿Qué es Python?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340331" y="2084700"/>
            <a:ext cx="517264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es un lenguaje de programación </a:t>
            </a:r>
            <a:r>
              <a:rPr b="1" i="1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interpretado, interactivo y orientado a objetos</a:t>
            </a: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Incorpora módulos, excepciones, tipado dinámico, tipos de datos dinámicos de muy alto nivel y clases. Admite múltiples paradigmas de programación más allá de la programación orientada a objetos, como la</a:t>
            </a:r>
            <a:r>
              <a:rPr b="0" i="1" lang="es" sz="1000" u="none" cap="none" strike="noStrike">
                <a:solidFill>
                  <a:srgbClr val="000000"/>
                </a:solidFill>
                <a:latin typeface="Sansita"/>
                <a:ea typeface="Sansita"/>
                <a:cs typeface="Sansita"/>
                <a:sym typeface="Sansita"/>
              </a:rPr>
              <a:t> programación funcional</a:t>
            </a: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de </a:t>
            </a:r>
            <a:r>
              <a:rPr b="0" i="1" lang="es" sz="1000" u="none" cap="none" strike="noStrike">
                <a:solidFill>
                  <a:srgbClr val="000000"/>
                </a:solidFill>
                <a:latin typeface="Sansita"/>
                <a:ea typeface="Sansita"/>
                <a:cs typeface="Sansita"/>
                <a:sym typeface="Sansita"/>
              </a:rPr>
              <a:t>procedimientos</a:t>
            </a: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Python combina un poder notable con una sintaxis muy clara. Tiene interfaces para muchas bibliotecas y llamadas al sistema, así como para varios sistemas de ventanas, y es extensible en C o C++.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También se puede utilizar como lenguaje de extensión para aplicaciones que necesitan una interfaz programable. Finalmente, Python es portátil: se ejecuta en muchas variantes de Unix, incluidos Linux y macOS, y en Windows.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418423" y="4255781"/>
            <a:ext cx="537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s" sz="900" u="none" cap="none" strike="noStrike">
                <a:solidFill>
                  <a:srgbClr val="8AB7E2"/>
                </a:solidFill>
                <a:latin typeface="Sansita"/>
                <a:ea typeface="Sansita"/>
                <a:cs typeface="Sansita"/>
                <a:sym typeface="Sansita"/>
              </a:rPr>
              <a:t>Fuente: </a:t>
            </a:r>
            <a:r>
              <a:rPr b="0" i="1" lang="es" sz="900" u="sng" cap="none" strike="noStrik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5"/>
              </a:rPr>
              <a:t>What is Python?</a:t>
            </a:r>
            <a:r>
              <a:rPr b="0" i="1" lang="es" sz="900" u="none" cap="none" strike="noStrike">
                <a:solidFill>
                  <a:srgbClr val="8AB7E2"/>
                </a:solidFill>
                <a:latin typeface="Sansita"/>
                <a:ea typeface="Sansita"/>
                <a:cs typeface="Sansita"/>
                <a:sym typeface="Sansita"/>
              </a:rPr>
              <a:t> Python Software Python (3.12.1 Documentation) General Python FAQ </a:t>
            </a:r>
            <a:endParaRPr b="0" i="0" sz="700" u="none" cap="none" strike="noStrike">
              <a:solidFill>
                <a:srgbClr val="8AB7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-253503" y="-570406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4"/>
          <p:cNvSpPr/>
          <p:nvPr/>
        </p:nvSpPr>
        <p:spPr>
          <a:xfrm rot="-5400000">
            <a:off x="2456461" y="-847678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>
            <a:off x="6927716" y="4121110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194" name="Google Shape;194;p5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5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5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5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5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5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5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5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5"/>
          <p:cNvSpPr/>
          <p:nvPr/>
        </p:nvSpPr>
        <p:spPr>
          <a:xfrm>
            <a:off x="3825901" y="2276763"/>
            <a:ext cx="4956155" cy="2620373"/>
          </a:xfrm>
          <a:custGeom>
            <a:rect b="b" l="l" r="r" t="t"/>
            <a:pathLst>
              <a:path extrusionOk="0" h="5240745" w="9912310">
                <a:moveTo>
                  <a:pt x="0" y="0"/>
                </a:moveTo>
                <a:lnTo>
                  <a:pt x="9912310" y="0"/>
                </a:lnTo>
                <a:lnTo>
                  <a:pt x="9912310" y="5240745"/>
                </a:lnTo>
                <a:lnTo>
                  <a:pt x="0" y="5240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5"/>
          <p:cNvSpPr txBox="1"/>
          <p:nvPr/>
        </p:nvSpPr>
        <p:spPr>
          <a:xfrm>
            <a:off x="160501" y="480381"/>
            <a:ext cx="75810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 DE PYTHON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3.12.1 (Windows)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60501" y="1835826"/>
            <a:ext cx="4943005" cy="66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Ingresaremos a la página oficial de Python: </a:t>
            </a:r>
            <a:r>
              <a:rPr b="0" i="0" lang="es" sz="17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3"/>
              </a:rPr>
              <a:t>https://www.python.org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210" name="Google Shape;210;p6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6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6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6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6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6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6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6"/>
          <p:cNvSpPr/>
          <p:nvPr/>
        </p:nvSpPr>
        <p:spPr>
          <a:xfrm>
            <a:off x="269054" y="2152186"/>
            <a:ext cx="8605893" cy="1067311"/>
          </a:xfrm>
          <a:custGeom>
            <a:rect b="b" l="l" r="r" t="t"/>
            <a:pathLst>
              <a:path extrusionOk="0" h="2134621" w="17211786">
                <a:moveTo>
                  <a:pt x="0" y="0"/>
                </a:moveTo>
                <a:lnTo>
                  <a:pt x="17211786" y="0"/>
                </a:lnTo>
                <a:lnTo>
                  <a:pt x="17211786" y="2134621"/>
                </a:lnTo>
                <a:lnTo>
                  <a:pt x="0" y="21346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9" name="Google Shape;219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59868" y="2571750"/>
            <a:ext cx="1368823" cy="8281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514350" y="1422840"/>
            <a:ext cx="4943005" cy="32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la navbar daremos click en </a:t>
            </a:r>
            <a:r>
              <a:rPr b="0" i="1" lang="es" sz="1700" u="none" cap="none" strike="noStrike">
                <a:solidFill>
                  <a:srgbClr val="000000"/>
                </a:solidFill>
                <a:latin typeface="Sansita"/>
                <a:ea typeface="Sansita"/>
                <a:cs typeface="Sansita"/>
                <a:sym typeface="Sansita"/>
              </a:rPr>
              <a:t>“Downloads”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226" name="Google Shape;226;p7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7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7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7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7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7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7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7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7"/>
          <p:cNvSpPr/>
          <p:nvPr/>
        </p:nvSpPr>
        <p:spPr>
          <a:xfrm>
            <a:off x="0" y="2312010"/>
            <a:ext cx="4772135" cy="2317140"/>
          </a:xfrm>
          <a:custGeom>
            <a:rect b="b" l="l" r="r" t="t"/>
            <a:pathLst>
              <a:path extrusionOk="0" h="4634280" w="9544270">
                <a:moveTo>
                  <a:pt x="0" y="0"/>
                </a:moveTo>
                <a:lnTo>
                  <a:pt x="9544270" y="0"/>
                </a:lnTo>
                <a:lnTo>
                  <a:pt x="9544270" y="4634280"/>
                </a:lnTo>
                <a:lnTo>
                  <a:pt x="0" y="4634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7"/>
          <p:cNvSpPr/>
          <p:nvPr/>
        </p:nvSpPr>
        <p:spPr>
          <a:xfrm>
            <a:off x="4761182" y="2083075"/>
            <a:ext cx="4490299" cy="2697255"/>
          </a:xfrm>
          <a:custGeom>
            <a:rect b="b" l="l" r="r" t="t"/>
            <a:pathLst>
              <a:path extrusionOk="0" h="5394510" w="8980598">
                <a:moveTo>
                  <a:pt x="0" y="0"/>
                </a:moveTo>
                <a:lnTo>
                  <a:pt x="8980598" y="0"/>
                </a:lnTo>
                <a:lnTo>
                  <a:pt x="8980598" y="5394510"/>
                </a:lnTo>
                <a:lnTo>
                  <a:pt x="0" y="5394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7"/>
          <p:cNvSpPr txBox="1"/>
          <p:nvPr/>
        </p:nvSpPr>
        <p:spPr>
          <a:xfrm>
            <a:off x="514350" y="750056"/>
            <a:ext cx="7262985" cy="1011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la sección de Downloads (Descargas) se nos mostrará principalmente la última versión pero es posible descargar e instalar cualquiera de las que se encuentran listadas.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242" name="Google Shape;242;p8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8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8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8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8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8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8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8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8"/>
          <p:cNvSpPr/>
          <p:nvPr/>
        </p:nvSpPr>
        <p:spPr>
          <a:xfrm>
            <a:off x="226214" y="1542611"/>
            <a:ext cx="6495069" cy="3093293"/>
          </a:xfrm>
          <a:custGeom>
            <a:rect b="b" l="l" r="r" t="t"/>
            <a:pathLst>
              <a:path extrusionOk="0" h="6186585" w="12990138">
                <a:moveTo>
                  <a:pt x="0" y="0"/>
                </a:moveTo>
                <a:lnTo>
                  <a:pt x="12990139" y="0"/>
                </a:lnTo>
                <a:lnTo>
                  <a:pt x="12990139" y="6186585"/>
                </a:lnTo>
                <a:lnTo>
                  <a:pt x="0" y="6186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1" name="Google Shape;251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66141" y="2571750"/>
            <a:ext cx="1305992" cy="1554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7418978" y="2079253"/>
            <a:ext cx="1423171" cy="1657246"/>
          </a:xfrm>
          <a:custGeom>
            <a:rect b="b" l="l" r="r" t="t"/>
            <a:pathLst>
              <a:path extrusionOk="0" h="3314492" w="2846343">
                <a:moveTo>
                  <a:pt x="0" y="0"/>
                </a:moveTo>
                <a:lnTo>
                  <a:pt x="2846343" y="0"/>
                </a:lnTo>
                <a:lnTo>
                  <a:pt x="2846343" y="3314491"/>
                </a:lnTo>
                <a:lnTo>
                  <a:pt x="0" y="3314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03039" y="2756647"/>
            <a:ext cx="1436488" cy="51713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642798" y="715006"/>
            <a:ext cx="7589733" cy="668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nuestro caso, utilizaremos la última versión (3.12.1) - y hacemos </a:t>
            </a:r>
            <a:r>
              <a:rPr b="1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click </a:t>
            </a: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b="1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Download Python 3.12.1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260" name="Google Shape;260;p9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9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9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9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9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9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9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9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9"/>
          <p:cNvSpPr/>
          <p:nvPr/>
        </p:nvSpPr>
        <p:spPr>
          <a:xfrm>
            <a:off x="576248" y="1407978"/>
            <a:ext cx="3759686" cy="2278036"/>
          </a:xfrm>
          <a:custGeom>
            <a:rect b="b" l="l" r="r" t="t"/>
            <a:pathLst>
              <a:path extrusionOk="0" h="4556072" w="7519372">
                <a:moveTo>
                  <a:pt x="0" y="0"/>
                </a:moveTo>
                <a:lnTo>
                  <a:pt x="7519372" y="0"/>
                </a:lnTo>
                <a:lnTo>
                  <a:pt x="7519372" y="4556072"/>
                </a:lnTo>
                <a:lnTo>
                  <a:pt x="0" y="4556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9" name="Google Shape;269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39039" y="3750494"/>
            <a:ext cx="1901737" cy="115055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4746509" y="2133959"/>
            <a:ext cx="477182" cy="477181"/>
          </a:xfrm>
          <a:custGeom>
            <a:rect b="b" l="l" r="r" t="t"/>
            <a:pathLst>
              <a:path extrusionOk="0" h="954363" w="954363">
                <a:moveTo>
                  <a:pt x="0" y="0"/>
                </a:moveTo>
                <a:lnTo>
                  <a:pt x="954363" y="0"/>
                </a:lnTo>
                <a:lnTo>
                  <a:pt x="954363" y="954363"/>
                </a:lnTo>
                <a:lnTo>
                  <a:pt x="0" y="954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9"/>
          <p:cNvSpPr txBox="1"/>
          <p:nvPr/>
        </p:nvSpPr>
        <p:spPr>
          <a:xfrm>
            <a:off x="514350" y="840954"/>
            <a:ext cx="4232159" cy="32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Seleccionamos el instalador descargado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5502036" y="1911268"/>
            <a:ext cx="2993230" cy="1086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FF5051"/>
                </a:solidFill>
                <a:latin typeface="DM Sans"/>
                <a:ea typeface="DM Sans"/>
                <a:cs typeface="DM Sans"/>
                <a:sym typeface="DM Sans"/>
              </a:rPr>
              <a:t>Seleccionar la opción</a:t>
            </a:r>
            <a:r>
              <a:rPr b="1" i="0" lang="es" sz="1900" u="none" cap="none" strike="noStrike">
                <a:solidFill>
                  <a:srgbClr val="F83837"/>
                </a:solidFill>
                <a:latin typeface="DM Sans"/>
                <a:ea typeface="DM Sans"/>
                <a:cs typeface="DM Sans"/>
                <a:sym typeface="DM Sans"/>
              </a:rPr>
              <a:t> “Add python.exe to PATH”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4523254" y="3547805"/>
            <a:ext cx="4463922" cy="784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5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Sistema Operativo utiliza la variable de entorno PATH para ubicar los ejecutables en el filesystem. Funciona para ejecutar el archivo.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279" name="Google Shape;279;p10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0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0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0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0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0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0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10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0"/>
          <p:cNvSpPr/>
          <p:nvPr/>
        </p:nvSpPr>
        <p:spPr>
          <a:xfrm>
            <a:off x="5176471" y="1750284"/>
            <a:ext cx="3553199" cy="2170426"/>
          </a:xfrm>
          <a:custGeom>
            <a:rect b="b" l="l" r="r" t="t"/>
            <a:pathLst>
              <a:path extrusionOk="0" h="4340853" w="7106397">
                <a:moveTo>
                  <a:pt x="0" y="0"/>
                </a:moveTo>
                <a:lnTo>
                  <a:pt x="7106397" y="0"/>
                </a:lnTo>
                <a:lnTo>
                  <a:pt x="7106397" y="4340853"/>
                </a:lnTo>
                <a:lnTo>
                  <a:pt x="0" y="43408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0"/>
          <p:cNvSpPr/>
          <p:nvPr/>
        </p:nvSpPr>
        <p:spPr>
          <a:xfrm>
            <a:off x="664783" y="1696479"/>
            <a:ext cx="3759686" cy="2278036"/>
          </a:xfrm>
          <a:custGeom>
            <a:rect b="b" l="l" r="r" t="t"/>
            <a:pathLst>
              <a:path extrusionOk="0" h="4556072" w="7519372">
                <a:moveTo>
                  <a:pt x="0" y="0"/>
                </a:moveTo>
                <a:lnTo>
                  <a:pt x="7519371" y="0"/>
                </a:lnTo>
                <a:lnTo>
                  <a:pt x="7519371" y="4556072"/>
                </a:lnTo>
                <a:lnTo>
                  <a:pt x="0" y="4556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9" name="Google Shape;289;p10"/>
          <p:cNvPicPr preferRelativeResize="0"/>
          <p:nvPr/>
        </p:nvPicPr>
        <p:blipFill rotWithShape="1">
          <a:blip r:embed="rId14">
            <a:alphaModFix/>
          </a:blip>
          <a:srcRect b="30" l="0" r="0" t="34"/>
          <a:stretch/>
        </p:blipFill>
        <p:spPr>
          <a:xfrm>
            <a:off x="1836033" y="2198939"/>
            <a:ext cx="1571212" cy="95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 txBox="1"/>
          <p:nvPr/>
        </p:nvSpPr>
        <p:spPr>
          <a:xfrm>
            <a:off x="594655" y="1162913"/>
            <a:ext cx="2936971" cy="32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Seleccionamos </a:t>
            </a:r>
            <a:r>
              <a:rPr b="1" i="1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Install Now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296" name="Google Shape;296;p11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1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1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11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1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1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11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1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1"/>
          <p:cNvSpPr/>
          <p:nvPr/>
        </p:nvSpPr>
        <p:spPr>
          <a:xfrm>
            <a:off x="561570" y="1391608"/>
            <a:ext cx="4785970" cy="2899700"/>
          </a:xfrm>
          <a:custGeom>
            <a:rect b="b" l="l" r="r" t="t"/>
            <a:pathLst>
              <a:path extrusionOk="0" h="5799400" w="9571940">
                <a:moveTo>
                  <a:pt x="0" y="0"/>
                </a:moveTo>
                <a:lnTo>
                  <a:pt x="9571940" y="0"/>
                </a:lnTo>
                <a:lnTo>
                  <a:pt x="9571940" y="5799401"/>
                </a:lnTo>
                <a:lnTo>
                  <a:pt x="0" y="5799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1"/>
          <p:cNvSpPr txBox="1"/>
          <p:nvPr/>
        </p:nvSpPr>
        <p:spPr>
          <a:xfrm>
            <a:off x="514350" y="723157"/>
            <a:ext cx="4238905" cy="325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termine el Setup tendremos: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6030069" y="2291631"/>
            <a:ext cx="1898121" cy="32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3"/>
              </a:rPr>
              <a:t>Tutorial Online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6030069" y="2910871"/>
            <a:ext cx="1675511" cy="32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4"/>
              </a:rPr>
              <a:t>Documentación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313" name="Google Shape;313;p12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2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12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2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2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2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12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12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12"/>
          <p:cNvSpPr/>
          <p:nvPr/>
        </p:nvSpPr>
        <p:spPr>
          <a:xfrm>
            <a:off x="461767" y="1485631"/>
            <a:ext cx="2940003" cy="970821"/>
          </a:xfrm>
          <a:custGeom>
            <a:rect b="b" l="l" r="r" t="t"/>
            <a:pathLst>
              <a:path extrusionOk="0" h="1941642" w="5880007">
                <a:moveTo>
                  <a:pt x="0" y="0"/>
                </a:moveTo>
                <a:lnTo>
                  <a:pt x="5880008" y="0"/>
                </a:lnTo>
                <a:lnTo>
                  <a:pt x="5880008" y="1941641"/>
                </a:lnTo>
                <a:lnTo>
                  <a:pt x="0" y="1941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12"/>
          <p:cNvSpPr/>
          <p:nvPr/>
        </p:nvSpPr>
        <p:spPr>
          <a:xfrm>
            <a:off x="5324161" y="1805565"/>
            <a:ext cx="2712583" cy="2974766"/>
          </a:xfrm>
          <a:custGeom>
            <a:rect b="b" l="l" r="r" t="t"/>
            <a:pathLst>
              <a:path extrusionOk="0" h="5949531" w="5425166">
                <a:moveTo>
                  <a:pt x="0" y="0"/>
                </a:moveTo>
                <a:lnTo>
                  <a:pt x="5425165" y="0"/>
                </a:lnTo>
                <a:lnTo>
                  <a:pt x="5425165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3" name="Google Shape;323;p12"/>
          <p:cNvPicPr preferRelativeResize="0"/>
          <p:nvPr/>
        </p:nvPicPr>
        <p:blipFill rotWithShape="1">
          <a:blip r:embed="rId14">
            <a:alphaModFix/>
          </a:blip>
          <a:srcRect b="30" l="0" r="0" t="34"/>
          <a:stretch/>
        </p:blipFill>
        <p:spPr>
          <a:xfrm>
            <a:off x="6993981" y="4043197"/>
            <a:ext cx="830685" cy="5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647960" y="4538855"/>
            <a:ext cx="3924041" cy="437726"/>
          </a:xfrm>
          <a:custGeom>
            <a:rect b="b" l="l" r="r" t="t"/>
            <a:pathLst>
              <a:path extrusionOk="0" h="875452" w="7848081">
                <a:moveTo>
                  <a:pt x="0" y="0"/>
                </a:moveTo>
                <a:lnTo>
                  <a:pt x="7848081" y="0"/>
                </a:lnTo>
                <a:lnTo>
                  <a:pt x="7848081" y="875453"/>
                </a:lnTo>
                <a:lnTo>
                  <a:pt x="0" y="875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2"/>
          <p:cNvSpPr/>
          <p:nvPr/>
        </p:nvSpPr>
        <p:spPr>
          <a:xfrm>
            <a:off x="683140" y="3435038"/>
            <a:ext cx="2392900" cy="1055692"/>
          </a:xfrm>
          <a:custGeom>
            <a:rect b="b" l="l" r="r" t="t"/>
            <a:pathLst>
              <a:path extrusionOk="0" h="2111383" w="4785801">
                <a:moveTo>
                  <a:pt x="0" y="0"/>
                </a:moveTo>
                <a:lnTo>
                  <a:pt x="4785801" y="0"/>
                </a:lnTo>
                <a:lnTo>
                  <a:pt x="4785801" y="2111383"/>
                </a:lnTo>
                <a:lnTo>
                  <a:pt x="0" y="2111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12"/>
          <p:cNvSpPr txBox="1"/>
          <p:nvPr/>
        </p:nvSpPr>
        <p:spPr>
          <a:xfrm>
            <a:off x="461767" y="589956"/>
            <a:ext cx="4862394" cy="37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VERIFICACIÓN DE LA VARIABLE </a:t>
            </a: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PATH: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461767" y="1139678"/>
            <a:ext cx="3555057" cy="25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la barra de búsqueda ingresamos: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4572000" y="1307427"/>
            <a:ext cx="3577412" cy="435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Luego, clickeamos en “Variables de entorno...” en la sección de Opciones avanzadas: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683140" y="2974850"/>
            <a:ext cx="3577412" cy="435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Verificamos que se encuentre python en las variables: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 txBox="1"/>
          <p:nvPr/>
        </p:nvSpPr>
        <p:spPr>
          <a:xfrm>
            <a:off x="131223" y="1068360"/>
            <a:ext cx="189981" cy="37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4233280" y="1260657"/>
            <a:ext cx="265100" cy="37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414883" y="2904127"/>
            <a:ext cx="300100" cy="37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338" name="Google Shape;338;p13"/>
          <p:cNvSpPr/>
          <p:nvPr/>
        </p:nvSpPr>
        <p:spPr>
          <a:xfrm>
            <a:off x="-786620" y="4446649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3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3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3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13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3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3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3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3"/>
          <p:cNvSpPr/>
          <p:nvPr/>
        </p:nvSpPr>
        <p:spPr>
          <a:xfrm>
            <a:off x="568133" y="2334551"/>
            <a:ext cx="8029485" cy="1055803"/>
          </a:xfrm>
          <a:custGeom>
            <a:rect b="b" l="l" r="r" t="t"/>
            <a:pathLst>
              <a:path extrusionOk="0" h="2111606" w="16058970">
                <a:moveTo>
                  <a:pt x="0" y="0"/>
                </a:moveTo>
                <a:lnTo>
                  <a:pt x="16058970" y="0"/>
                </a:lnTo>
                <a:lnTo>
                  <a:pt x="16058970" y="2111606"/>
                </a:lnTo>
                <a:lnTo>
                  <a:pt x="0" y="2111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1860" l="0" r="0" t="-1858"/>
            </a:stretch>
          </a:blipFill>
          <a:ln>
            <a:noFill/>
          </a:ln>
        </p:spPr>
      </p:sp>
      <p:sp>
        <p:nvSpPr>
          <p:cNvPr id="347" name="Google Shape;347;p13"/>
          <p:cNvSpPr txBox="1"/>
          <p:nvPr/>
        </p:nvSpPr>
        <p:spPr>
          <a:xfrm>
            <a:off x="461767" y="589956"/>
            <a:ext cx="7362899" cy="37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REVISIÓN DE QUE SE HAYA INSTALADO CORRECTAMENTE: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568133" y="1644540"/>
            <a:ext cx="3004628" cy="566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5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--version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354" name="Google Shape;354;p14"/>
          <p:cNvSpPr/>
          <p:nvPr/>
        </p:nvSpPr>
        <p:spPr>
          <a:xfrm>
            <a:off x="-770291" y="4699742"/>
            <a:ext cx="2025667" cy="1382518"/>
          </a:xfrm>
          <a:custGeom>
            <a:rect b="b" l="l" r="r" t="t"/>
            <a:pathLst>
              <a:path extrusionOk="0" h="2765036" w="4051334">
                <a:moveTo>
                  <a:pt x="0" y="0"/>
                </a:moveTo>
                <a:lnTo>
                  <a:pt x="4051335" y="0"/>
                </a:lnTo>
                <a:lnTo>
                  <a:pt x="4051335" y="2765035"/>
                </a:lnTo>
                <a:lnTo>
                  <a:pt x="0" y="2765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4"/>
          <p:cNvSpPr/>
          <p:nvPr/>
        </p:nvSpPr>
        <p:spPr>
          <a:xfrm>
            <a:off x="7631478" y="4432293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4"/>
          <p:cNvSpPr/>
          <p:nvPr/>
        </p:nvSpPr>
        <p:spPr>
          <a:xfrm>
            <a:off x="-337078" y="-661393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14"/>
          <p:cNvSpPr/>
          <p:nvPr/>
        </p:nvSpPr>
        <p:spPr>
          <a:xfrm>
            <a:off x="5550787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14"/>
          <p:cNvSpPr/>
          <p:nvPr/>
        </p:nvSpPr>
        <p:spPr>
          <a:xfrm>
            <a:off x="4826813" y="-1518966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4"/>
          <p:cNvSpPr/>
          <p:nvPr/>
        </p:nvSpPr>
        <p:spPr>
          <a:xfrm rot="-5400000">
            <a:off x="2372886" y="-938665"/>
            <a:ext cx="1446381" cy="1459650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4"/>
          <p:cNvSpPr/>
          <p:nvPr/>
        </p:nvSpPr>
        <p:spPr>
          <a:xfrm>
            <a:off x="1466141" y="4635904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4"/>
          <p:cNvSpPr/>
          <p:nvPr/>
        </p:nvSpPr>
        <p:spPr>
          <a:xfrm>
            <a:off x="7631478" y="-536315"/>
            <a:ext cx="998173" cy="1074749"/>
          </a:xfrm>
          <a:custGeom>
            <a:rect b="b" l="l" r="r" t="t"/>
            <a:pathLst>
              <a:path extrusionOk="0"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14"/>
          <p:cNvSpPr/>
          <p:nvPr/>
        </p:nvSpPr>
        <p:spPr>
          <a:xfrm>
            <a:off x="4331558" y="3143499"/>
            <a:ext cx="1432052" cy="1432052"/>
          </a:xfrm>
          <a:custGeom>
            <a:rect b="b" l="l" r="r" t="t"/>
            <a:pathLst>
              <a:path extrusionOk="0" h="2864103" w="2864103">
                <a:moveTo>
                  <a:pt x="0" y="0"/>
                </a:moveTo>
                <a:lnTo>
                  <a:pt x="2864103" y="0"/>
                </a:lnTo>
                <a:lnTo>
                  <a:pt x="2864103" y="2864104"/>
                </a:lnTo>
                <a:lnTo>
                  <a:pt x="0" y="2864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14"/>
          <p:cNvSpPr/>
          <p:nvPr/>
        </p:nvSpPr>
        <p:spPr>
          <a:xfrm>
            <a:off x="3355497" y="1961090"/>
            <a:ext cx="5567007" cy="409338"/>
          </a:xfrm>
          <a:custGeom>
            <a:rect b="b" l="l" r="r" t="t"/>
            <a:pathLst>
              <a:path extrusionOk="0" h="818677" w="11134013">
                <a:moveTo>
                  <a:pt x="0" y="0"/>
                </a:moveTo>
                <a:lnTo>
                  <a:pt x="11134013" y="0"/>
                </a:lnTo>
                <a:lnTo>
                  <a:pt x="11134013" y="818677"/>
                </a:lnTo>
                <a:lnTo>
                  <a:pt x="0" y="81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14"/>
          <p:cNvSpPr txBox="1"/>
          <p:nvPr/>
        </p:nvSpPr>
        <p:spPr>
          <a:xfrm>
            <a:off x="160501" y="756644"/>
            <a:ext cx="7580941" cy="114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 DE PYTHON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3.12.1 (Linux - Ubuntu)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478722" y="2494688"/>
            <a:ext cx="5660278" cy="429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 install software-properties-common -y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478722" y="2912805"/>
            <a:ext cx="4737714" cy="429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add-apt-repository ppa:deadsnakes/ppa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 txBox="1"/>
          <p:nvPr/>
        </p:nvSpPr>
        <p:spPr>
          <a:xfrm>
            <a:off x="478722" y="3339035"/>
            <a:ext cx="4737714" cy="23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 update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478722" y="3835895"/>
            <a:ext cx="4737714" cy="23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 install python3.12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478722" y="4321486"/>
            <a:ext cx="4737714" cy="23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python3.12 --version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 txBox="1"/>
          <p:nvPr/>
        </p:nvSpPr>
        <p:spPr>
          <a:xfrm>
            <a:off x="478722" y="2160620"/>
            <a:ext cx="5660278" cy="429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su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376" name="Google Shape;376;p15"/>
          <p:cNvSpPr txBox="1"/>
          <p:nvPr/>
        </p:nvSpPr>
        <p:spPr>
          <a:xfrm>
            <a:off x="248005" y="996285"/>
            <a:ext cx="6246285" cy="454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ENTORNOS DE DESARROLLO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843288" y="1941482"/>
            <a:ext cx="7456346" cy="1747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entorno de desarrollo es un conjunto de herramientas, procedimientos y recursos que los desarrolladores utilizan para crear, probar y depurar software. Incluye componentes como editores de texto, compiladores, depuradores, sistemas de control de versiones, y otros recursos necesarios para el desarrollo de código fuente o programas. Además, puede referirse específicamente a un entorno de desarrollo integrado (IDE), que es una aplicación de software que combina muchas de estas herramientas en una interfaz unificada para facilitar el proceso de desarrollo de software.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-1164699" y="4508991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15"/>
          <p:cNvSpPr/>
          <p:nvPr/>
        </p:nvSpPr>
        <p:spPr>
          <a:xfrm>
            <a:off x="2923522" y="4941187"/>
            <a:ext cx="1648478" cy="404626"/>
          </a:xfrm>
          <a:custGeom>
            <a:rect b="b" l="l" r="r" t="t"/>
            <a:pathLst>
              <a:path extrusionOk="0"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15"/>
          <p:cNvSpPr/>
          <p:nvPr/>
        </p:nvSpPr>
        <p:spPr>
          <a:xfrm>
            <a:off x="7247386" y="4508992"/>
            <a:ext cx="2213921" cy="1740696"/>
          </a:xfrm>
          <a:custGeom>
            <a:rect b="b" l="l" r="r" t="t"/>
            <a:pathLst>
              <a:path extrusionOk="0" h="3481392" w="4427843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15"/>
          <p:cNvSpPr/>
          <p:nvPr/>
        </p:nvSpPr>
        <p:spPr>
          <a:xfrm>
            <a:off x="-381699" y="-767148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15"/>
          <p:cNvSpPr/>
          <p:nvPr/>
        </p:nvSpPr>
        <p:spPr>
          <a:xfrm>
            <a:off x="6400767" y="-1526990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15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15"/>
          <p:cNvSpPr/>
          <p:nvPr/>
        </p:nvSpPr>
        <p:spPr>
          <a:xfrm>
            <a:off x="3747761" y="-1648897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15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15"/>
          <p:cNvSpPr/>
          <p:nvPr/>
        </p:nvSpPr>
        <p:spPr>
          <a:xfrm>
            <a:off x="2430577" y="-1051147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p15"/>
          <p:cNvSpPr/>
          <p:nvPr/>
        </p:nvSpPr>
        <p:spPr>
          <a:xfrm>
            <a:off x="8747405" y="1185515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8" name="Google Shape;388;p15"/>
          <p:cNvSpPr/>
          <p:nvPr/>
        </p:nvSpPr>
        <p:spPr>
          <a:xfrm>
            <a:off x="1285275" y="4748413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5"/>
          <p:cNvSpPr/>
          <p:nvPr/>
        </p:nvSpPr>
        <p:spPr>
          <a:xfrm rot="-5282649">
            <a:off x="8298253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5"/>
          <p:cNvSpPr/>
          <p:nvPr/>
        </p:nvSpPr>
        <p:spPr>
          <a:xfrm>
            <a:off x="8629650" y="-485829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grpSp>
        <p:nvGrpSpPr>
          <p:cNvPr id="396" name="Google Shape;396;p16"/>
          <p:cNvGrpSpPr/>
          <p:nvPr/>
        </p:nvGrpSpPr>
        <p:grpSpPr>
          <a:xfrm>
            <a:off x="514350" y="662324"/>
            <a:ext cx="2519036" cy="1871148"/>
            <a:chOff x="0" y="-38100"/>
            <a:chExt cx="1048738" cy="779006"/>
          </a:xfrm>
        </p:grpSpPr>
        <p:sp>
          <p:nvSpPr>
            <p:cNvPr id="397" name="Google Shape;397;p16"/>
            <p:cNvSpPr/>
            <p:nvPr/>
          </p:nvSpPr>
          <p:spPr>
            <a:xfrm>
              <a:off x="0" y="0"/>
              <a:ext cx="1048738" cy="740906"/>
            </a:xfrm>
            <a:custGeom>
              <a:rect b="b" l="l" r="r" t="t"/>
              <a:pathLst>
                <a:path extrusionOk="0"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6"/>
            <p:cNvSpPr txBox="1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6"/>
          <p:cNvGrpSpPr/>
          <p:nvPr/>
        </p:nvGrpSpPr>
        <p:grpSpPr>
          <a:xfrm>
            <a:off x="6060572" y="2669694"/>
            <a:ext cx="2519035" cy="1871148"/>
            <a:chOff x="0" y="-38100"/>
            <a:chExt cx="1048738" cy="779006"/>
          </a:xfrm>
        </p:grpSpPr>
        <p:sp>
          <p:nvSpPr>
            <p:cNvPr id="400" name="Google Shape;400;p16"/>
            <p:cNvSpPr/>
            <p:nvPr/>
          </p:nvSpPr>
          <p:spPr>
            <a:xfrm>
              <a:off x="0" y="0"/>
              <a:ext cx="1048738" cy="740906"/>
            </a:xfrm>
            <a:custGeom>
              <a:rect b="b" l="l" r="r" t="t"/>
              <a:pathLst>
                <a:path extrusionOk="0"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6"/>
            <p:cNvSpPr txBox="1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6"/>
          <p:cNvGrpSpPr/>
          <p:nvPr/>
        </p:nvGrpSpPr>
        <p:grpSpPr>
          <a:xfrm>
            <a:off x="3312482" y="1509599"/>
            <a:ext cx="2519036" cy="1871148"/>
            <a:chOff x="0" y="-38100"/>
            <a:chExt cx="1048738" cy="779006"/>
          </a:xfrm>
        </p:grpSpPr>
        <p:sp>
          <p:nvSpPr>
            <p:cNvPr id="403" name="Google Shape;403;p16"/>
            <p:cNvSpPr/>
            <p:nvPr/>
          </p:nvSpPr>
          <p:spPr>
            <a:xfrm>
              <a:off x="0" y="0"/>
              <a:ext cx="1048738" cy="740906"/>
            </a:xfrm>
            <a:custGeom>
              <a:rect b="b" l="l" r="r" t="t"/>
              <a:pathLst>
                <a:path extrusionOk="0" h="740906" w="1048738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6"/>
            <p:cNvSpPr txBox="1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6"/>
          <p:cNvGrpSpPr/>
          <p:nvPr/>
        </p:nvGrpSpPr>
        <p:grpSpPr>
          <a:xfrm>
            <a:off x="514350" y="539398"/>
            <a:ext cx="2519036" cy="425883"/>
            <a:chOff x="0" y="-38100"/>
            <a:chExt cx="1048738" cy="177306"/>
          </a:xfrm>
        </p:grpSpPr>
        <p:sp>
          <p:nvSpPr>
            <p:cNvPr id="406" name="Google Shape;406;p16"/>
            <p:cNvSpPr/>
            <p:nvPr/>
          </p:nvSpPr>
          <p:spPr>
            <a:xfrm>
              <a:off x="0" y="0"/>
              <a:ext cx="1048738" cy="139206"/>
            </a:xfrm>
            <a:custGeom>
              <a:rect b="b" l="l" r="r" t="t"/>
              <a:pathLst>
                <a:path extrusionOk="0"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6"/>
            <p:cNvSpPr txBox="1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16"/>
          <p:cNvGrpSpPr/>
          <p:nvPr/>
        </p:nvGrpSpPr>
        <p:grpSpPr>
          <a:xfrm>
            <a:off x="6060572" y="2669694"/>
            <a:ext cx="2519035" cy="425883"/>
            <a:chOff x="0" y="-38100"/>
            <a:chExt cx="1048738" cy="177306"/>
          </a:xfrm>
        </p:grpSpPr>
        <p:sp>
          <p:nvSpPr>
            <p:cNvPr id="409" name="Google Shape;409;p16"/>
            <p:cNvSpPr/>
            <p:nvPr/>
          </p:nvSpPr>
          <p:spPr>
            <a:xfrm>
              <a:off x="0" y="0"/>
              <a:ext cx="1048738" cy="139206"/>
            </a:xfrm>
            <a:custGeom>
              <a:rect b="b" l="l" r="r" t="t"/>
              <a:pathLst>
                <a:path extrusionOk="0"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6"/>
            <p:cNvSpPr txBox="1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16"/>
          <p:cNvGrpSpPr/>
          <p:nvPr/>
        </p:nvGrpSpPr>
        <p:grpSpPr>
          <a:xfrm>
            <a:off x="3312482" y="1509599"/>
            <a:ext cx="2519036" cy="425883"/>
            <a:chOff x="0" y="-38100"/>
            <a:chExt cx="1048738" cy="177306"/>
          </a:xfrm>
        </p:grpSpPr>
        <p:sp>
          <p:nvSpPr>
            <p:cNvPr id="412" name="Google Shape;412;p16"/>
            <p:cNvSpPr/>
            <p:nvPr/>
          </p:nvSpPr>
          <p:spPr>
            <a:xfrm>
              <a:off x="0" y="0"/>
              <a:ext cx="1048738" cy="139206"/>
            </a:xfrm>
            <a:custGeom>
              <a:rect b="b" l="l" r="r" t="t"/>
              <a:pathLst>
                <a:path extrusionOk="0" h="139206" w="1048738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6"/>
            <p:cNvSpPr txBox="1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16"/>
          <p:cNvSpPr/>
          <p:nvPr/>
        </p:nvSpPr>
        <p:spPr>
          <a:xfrm rot="10800000">
            <a:off x="7413997" y="-696223"/>
            <a:ext cx="2008573" cy="1579241"/>
          </a:xfrm>
          <a:custGeom>
            <a:rect b="b" l="l" r="r" t="t"/>
            <a:pathLst>
              <a:path extrusionOk="0"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16"/>
          <p:cNvSpPr/>
          <p:nvPr/>
        </p:nvSpPr>
        <p:spPr>
          <a:xfrm>
            <a:off x="2290148" y="-808436"/>
            <a:ext cx="2112234" cy="1322787"/>
          </a:xfrm>
          <a:custGeom>
            <a:rect b="b" l="l" r="r" t="t"/>
            <a:pathLst>
              <a:path extrusionOk="0"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16"/>
          <p:cNvSpPr/>
          <p:nvPr/>
        </p:nvSpPr>
        <p:spPr>
          <a:xfrm>
            <a:off x="4142890" y="4780331"/>
            <a:ext cx="1584640" cy="1113210"/>
          </a:xfrm>
          <a:custGeom>
            <a:rect b="b" l="l" r="r" t="t"/>
            <a:pathLst>
              <a:path extrusionOk="0"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7" name="Google Shape;417;p16"/>
          <p:cNvSpPr/>
          <p:nvPr/>
        </p:nvSpPr>
        <p:spPr>
          <a:xfrm rot="-5400000">
            <a:off x="6067206" y="4622515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16"/>
          <p:cNvSpPr/>
          <p:nvPr/>
        </p:nvSpPr>
        <p:spPr>
          <a:xfrm>
            <a:off x="-779160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16"/>
          <p:cNvSpPr/>
          <p:nvPr/>
        </p:nvSpPr>
        <p:spPr>
          <a:xfrm>
            <a:off x="8629650" y="3716927"/>
            <a:ext cx="897483" cy="966335"/>
          </a:xfrm>
          <a:custGeom>
            <a:rect b="b" l="l" r="r" t="t"/>
            <a:pathLst>
              <a:path extrusionOk="0"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16"/>
          <p:cNvSpPr/>
          <p:nvPr/>
        </p:nvSpPr>
        <p:spPr>
          <a:xfrm>
            <a:off x="-372116" y="230251"/>
            <a:ext cx="744232" cy="801326"/>
          </a:xfrm>
          <a:custGeom>
            <a:rect b="b" l="l" r="r" t="t"/>
            <a:pathLst>
              <a:path extrusionOk="0"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16"/>
          <p:cNvSpPr/>
          <p:nvPr/>
        </p:nvSpPr>
        <p:spPr>
          <a:xfrm>
            <a:off x="1171898" y="1170490"/>
            <a:ext cx="1203941" cy="1203941"/>
          </a:xfrm>
          <a:custGeom>
            <a:rect b="b" l="l" r="r" t="t"/>
            <a:pathLst>
              <a:path extrusionOk="0" h="2407881" w="2407881">
                <a:moveTo>
                  <a:pt x="0" y="0"/>
                </a:moveTo>
                <a:lnTo>
                  <a:pt x="2407881" y="0"/>
                </a:lnTo>
                <a:lnTo>
                  <a:pt x="2407881" y="2407881"/>
                </a:lnTo>
                <a:lnTo>
                  <a:pt x="0" y="2407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16"/>
          <p:cNvSpPr/>
          <p:nvPr/>
        </p:nvSpPr>
        <p:spPr>
          <a:xfrm>
            <a:off x="3958859" y="2012540"/>
            <a:ext cx="1226283" cy="1226283"/>
          </a:xfrm>
          <a:custGeom>
            <a:rect b="b" l="l" r="r" t="t"/>
            <a:pathLst>
              <a:path extrusionOk="0" h="2452566" w="2452566">
                <a:moveTo>
                  <a:pt x="0" y="0"/>
                </a:moveTo>
                <a:lnTo>
                  <a:pt x="2452566" y="0"/>
                </a:lnTo>
                <a:lnTo>
                  <a:pt x="2452566" y="2452567"/>
                </a:lnTo>
                <a:lnTo>
                  <a:pt x="0" y="2452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16"/>
          <p:cNvSpPr/>
          <p:nvPr/>
        </p:nvSpPr>
        <p:spPr>
          <a:xfrm>
            <a:off x="6657905" y="3235609"/>
            <a:ext cx="1324368" cy="1208486"/>
          </a:xfrm>
          <a:custGeom>
            <a:rect b="b" l="l" r="r" t="t"/>
            <a:pathLst>
              <a:path extrusionOk="0" h="2416972" w="2648736">
                <a:moveTo>
                  <a:pt x="0" y="0"/>
                </a:moveTo>
                <a:lnTo>
                  <a:pt x="2648736" y="0"/>
                </a:lnTo>
                <a:lnTo>
                  <a:pt x="2648736" y="2416972"/>
                </a:lnTo>
                <a:lnTo>
                  <a:pt x="0" y="24169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4" name="Google Shape;424;p16"/>
          <p:cNvSpPr txBox="1"/>
          <p:nvPr/>
        </p:nvSpPr>
        <p:spPr>
          <a:xfrm>
            <a:off x="672856" y="726266"/>
            <a:ext cx="1869711" cy="156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VSCode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 txBox="1"/>
          <p:nvPr/>
        </p:nvSpPr>
        <p:spPr>
          <a:xfrm>
            <a:off x="3497630" y="1696467"/>
            <a:ext cx="1869711" cy="156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PyCharm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 txBox="1"/>
          <p:nvPr/>
        </p:nvSpPr>
        <p:spPr>
          <a:xfrm>
            <a:off x="6219077" y="2852905"/>
            <a:ext cx="2068975" cy="156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Atom Text Editor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432" name="Google Shape;432;p17"/>
          <p:cNvSpPr/>
          <p:nvPr/>
        </p:nvSpPr>
        <p:spPr>
          <a:xfrm>
            <a:off x="6811041" y="908411"/>
            <a:ext cx="2104287" cy="2123592"/>
          </a:xfrm>
          <a:custGeom>
            <a:rect b="b" l="l" r="r" t="t"/>
            <a:pathLst>
              <a:path extrusionOk="0" h="4247184" w="4208573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17"/>
          <p:cNvSpPr/>
          <p:nvPr/>
        </p:nvSpPr>
        <p:spPr>
          <a:xfrm>
            <a:off x="5836345" y="1302959"/>
            <a:ext cx="2425781" cy="2425781"/>
          </a:xfrm>
          <a:custGeom>
            <a:rect b="b" l="l" r="r" t="t"/>
            <a:pathLst>
              <a:path extrusionOk="0" h="4851561" w="4851561">
                <a:moveTo>
                  <a:pt x="0" y="0"/>
                </a:moveTo>
                <a:lnTo>
                  <a:pt x="4851561" y="0"/>
                </a:lnTo>
                <a:lnTo>
                  <a:pt x="4851561" y="4851561"/>
                </a:lnTo>
                <a:lnTo>
                  <a:pt x="0" y="4851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17"/>
          <p:cNvSpPr txBox="1"/>
          <p:nvPr/>
        </p:nvSpPr>
        <p:spPr>
          <a:xfrm>
            <a:off x="431006" y="609600"/>
            <a:ext cx="3924377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VSCode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431006" y="4416074"/>
            <a:ext cx="1304284" cy="213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s" sz="1300" u="sng" cap="none" strike="noStrik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6"/>
              </a:rPr>
              <a:t>Página Oficial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675344" y="1632683"/>
            <a:ext cx="4351419" cy="1747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editor de código fuente compatible con Windows, macOS y Linux. Resalta por tener soporte para la depuración, integra Git, posee el resaltado de sintaxis, autocompletado de código y demás. Igualmente, posee lo que son </a:t>
            </a:r>
            <a:r>
              <a:rPr b="1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Extensiones </a:t>
            </a: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que permite una experiencia más personalizada al usuario y que este IDE pueda admitir casi cualquier lenguaje de programación.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grpSp>
        <p:nvGrpSpPr>
          <p:cNvPr id="442" name="Google Shape;442;p18"/>
          <p:cNvGrpSpPr/>
          <p:nvPr/>
        </p:nvGrpSpPr>
        <p:grpSpPr>
          <a:xfrm>
            <a:off x="4987745" y="585131"/>
            <a:ext cx="3499031" cy="1280764"/>
            <a:chOff x="0" y="0"/>
            <a:chExt cx="2342659" cy="857492"/>
          </a:xfrm>
        </p:grpSpPr>
        <p:sp>
          <p:nvSpPr>
            <p:cNvPr id="443" name="Google Shape;443;p18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18"/>
          <p:cNvGrpSpPr/>
          <p:nvPr/>
        </p:nvGrpSpPr>
        <p:grpSpPr>
          <a:xfrm>
            <a:off x="4987745" y="3278613"/>
            <a:ext cx="3499031" cy="1280764"/>
            <a:chOff x="0" y="0"/>
            <a:chExt cx="2342659" cy="857492"/>
          </a:xfrm>
        </p:grpSpPr>
        <p:sp>
          <p:nvSpPr>
            <p:cNvPr id="446" name="Google Shape;446;p18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18"/>
          <p:cNvSpPr/>
          <p:nvPr/>
        </p:nvSpPr>
        <p:spPr>
          <a:xfrm>
            <a:off x="-424285" y="4459831"/>
            <a:ext cx="1935473" cy="475071"/>
          </a:xfrm>
          <a:custGeom>
            <a:rect b="b" l="l" r="r" t="t"/>
            <a:pathLst>
              <a:path extrusionOk="0"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18"/>
          <p:cNvSpPr/>
          <p:nvPr/>
        </p:nvSpPr>
        <p:spPr>
          <a:xfrm>
            <a:off x="2236453" y="-1182407"/>
            <a:ext cx="2490476" cy="1865593"/>
          </a:xfrm>
          <a:custGeom>
            <a:rect b="b" l="l" r="r" t="t"/>
            <a:pathLst>
              <a:path extrusionOk="0"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18"/>
          <p:cNvSpPr/>
          <p:nvPr/>
        </p:nvSpPr>
        <p:spPr>
          <a:xfrm>
            <a:off x="1715537" y="4459830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1" name="Google Shape;451;p18"/>
          <p:cNvSpPr/>
          <p:nvPr/>
        </p:nvSpPr>
        <p:spPr>
          <a:xfrm>
            <a:off x="-424285" y="-372206"/>
            <a:ext cx="1298663" cy="1398292"/>
          </a:xfrm>
          <a:custGeom>
            <a:rect b="b" l="l" r="r" t="t"/>
            <a:pathLst>
              <a:path extrusionOk="0"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2" name="Google Shape;452;p18"/>
          <p:cNvSpPr/>
          <p:nvPr/>
        </p:nvSpPr>
        <p:spPr>
          <a:xfrm>
            <a:off x="266208" y="1443114"/>
            <a:ext cx="4192168" cy="2389632"/>
          </a:xfrm>
          <a:custGeom>
            <a:rect b="b" l="l" r="r" t="t"/>
            <a:pathLst>
              <a:path extrusionOk="0" h="4779265" w="8384336">
                <a:moveTo>
                  <a:pt x="0" y="0"/>
                </a:moveTo>
                <a:lnTo>
                  <a:pt x="8384335" y="0"/>
                </a:lnTo>
                <a:lnTo>
                  <a:pt x="8384335" y="4779265"/>
                </a:lnTo>
                <a:lnTo>
                  <a:pt x="0" y="47792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18"/>
          <p:cNvSpPr/>
          <p:nvPr/>
        </p:nvSpPr>
        <p:spPr>
          <a:xfrm>
            <a:off x="4865016" y="749058"/>
            <a:ext cx="3744489" cy="952910"/>
          </a:xfrm>
          <a:custGeom>
            <a:rect b="b" l="l" r="r" t="t"/>
            <a:pathLst>
              <a:path extrusionOk="0" h="1905820" w="7488977">
                <a:moveTo>
                  <a:pt x="0" y="0"/>
                </a:moveTo>
                <a:lnTo>
                  <a:pt x="7488977" y="0"/>
                </a:lnTo>
                <a:lnTo>
                  <a:pt x="7488977" y="1905820"/>
                </a:lnTo>
                <a:lnTo>
                  <a:pt x="0" y="1905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18"/>
          <p:cNvSpPr/>
          <p:nvPr/>
        </p:nvSpPr>
        <p:spPr>
          <a:xfrm>
            <a:off x="5155375" y="3266296"/>
            <a:ext cx="3163770" cy="1362854"/>
          </a:xfrm>
          <a:custGeom>
            <a:rect b="b" l="l" r="r" t="t"/>
            <a:pathLst>
              <a:path extrusionOk="0" h="2725709" w="6327539">
                <a:moveTo>
                  <a:pt x="0" y="0"/>
                </a:moveTo>
                <a:lnTo>
                  <a:pt x="6327539" y="0"/>
                </a:lnTo>
                <a:lnTo>
                  <a:pt x="6327539" y="2725709"/>
                </a:lnTo>
                <a:lnTo>
                  <a:pt x="0" y="2725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p18"/>
          <p:cNvSpPr txBox="1"/>
          <p:nvPr/>
        </p:nvSpPr>
        <p:spPr>
          <a:xfrm>
            <a:off x="4938958" y="2129246"/>
            <a:ext cx="3764635" cy="44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vez se descarga el instalador, este se corre (VSCodeUserSetup-{version}.exe).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8"/>
          <p:cNvSpPr txBox="1"/>
          <p:nvPr/>
        </p:nvSpPr>
        <p:spPr>
          <a:xfrm>
            <a:off x="5425083" y="2833688"/>
            <a:ext cx="2792385" cy="217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s" sz="1300" u="sng" cap="none" strike="noStrik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11"/>
              </a:rPr>
              <a:t>Documentación del setup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462" name="Google Shape;462;p19"/>
          <p:cNvSpPr txBox="1"/>
          <p:nvPr/>
        </p:nvSpPr>
        <p:spPr>
          <a:xfrm>
            <a:off x="244308" y="213612"/>
            <a:ext cx="5346760" cy="114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Configuración para python: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4" name="Google Shape;464;p19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19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19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19"/>
          <p:cNvSpPr/>
          <p:nvPr/>
        </p:nvSpPr>
        <p:spPr>
          <a:xfrm>
            <a:off x="6051475" y="248397"/>
            <a:ext cx="888529" cy="888530"/>
          </a:xfrm>
          <a:custGeom>
            <a:rect b="b" l="l" r="r" t="t"/>
            <a:pathLst>
              <a:path extrusionOk="0" h="1777059" w="1777059">
                <a:moveTo>
                  <a:pt x="0" y="0"/>
                </a:moveTo>
                <a:lnTo>
                  <a:pt x="1777059" y="0"/>
                </a:lnTo>
                <a:lnTo>
                  <a:pt x="1777059" y="1777059"/>
                </a:lnTo>
                <a:lnTo>
                  <a:pt x="0" y="1777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19"/>
          <p:cNvSpPr/>
          <p:nvPr/>
        </p:nvSpPr>
        <p:spPr>
          <a:xfrm>
            <a:off x="7451172" y="248397"/>
            <a:ext cx="976274" cy="976275"/>
          </a:xfrm>
          <a:custGeom>
            <a:rect b="b" l="l" r="r" t="t"/>
            <a:pathLst>
              <a:path extrusionOk="0" h="1952549" w="1952549">
                <a:moveTo>
                  <a:pt x="0" y="0"/>
                </a:moveTo>
                <a:lnTo>
                  <a:pt x="1952549" y="0"/>
                </a:lnTo>
                <a:lnTo>
                  <a:pt x="1952549" y="1952549"/>
                </a:lnTo>
                <a:lnTo>
                  <a:pt x="0" y="1952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19"/>
          <p:cNvSpPr/>
          <p:nvPr/>
        </p:nvSpPr>
        <p:spPr>
          <a:xfrm>
            <a:off x="573080" y="2108494"/>
            <a:ext cx="435809" cy="2933739"/>
          </a:xfrm>
          <a:custGeom>
            <a:rect b="b" l="l" r="r" t="t"/>
            <a:pathLst>
              <a:path extrusionOk="0" h="5867478" w="871618">
                <a:moveTo>
                  <a:pt x="0" y="0"/>
                </a:moveTo>
                <a:lnTo>
                  <a:pt x="871619" y="0"/>
                </a:lnTo>
                <a:lnTo>
                  <a:pt x="871619" y="5867477"/>
                </a:lnTo>
                <a:lnTo>
                  <a:pt x="0" y="5867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70" name="Google Shape;470;p19"/>
          <p:cNvPicPr preferRelativeResize="0"/>
          <p:nvPr/>
        </p:nvPicPr>
        <p:blipFill rotWithShape="1">
          <a:blip r:embed="rId11">
            <a:alphaModFix/>
          </a:blip>
          <a:srcRect b="30" l="0" r="0" t="34"/>
          <a:stretch/>
        </p:blipFill>
        <p:spPr>
          <a:xfrm>
            <a:off x="244308" y="3155946"/>
            <a:ext cx="1036113" cy="62684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9"/>
          <p:cNvSpPr/>
          <p:nvPr/>
        </p:nvSpPr>
        <p:spPr>
          <a:xfrm>
            <a:off x="1607102" y="2525617"/>
            <a:ext cx="3383164" cy="1342979"/>
          </a:xfrm>
          <a:custGeom>
            <a:rect b="b" l="l" r="r" t="t"/>
            <a:pathLst>
              <a:path extrusionOk="0" h="2685958" w="6766329">
                <a:moveTo>
                  <a:pt x="0" y="0"/>
                </a:moveTo>
                <a:lnTo>
                  <a:pt x="6766329" y="0"/>
                </a:lnTo>
                <a:lnTo>
                  <a:pt x="6766329" y="2685958"/>
                </a:lnTo>
                <a:lnTo>
                  <a:pt x="0" y="2685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p19"/>
          <p:cNvSpPr/>
          <p:nvPr/>
        </p:nvSpPr>
        <p:spPr>
          <a:xfrm>
            <a:off x="3750967" y="3934174"/>
            <a:ext cx="4480165" cy="1108058"/>
          </a:xfrm>
          <a:custGeom>
            <a:rect b="b" l="l" r="r" t="t"/>
            <a:pathLst>
              <a:path extrusionOk="0" h="2216116" w="8960330">
                <a:moveTo>
                  <a:pt x="0" y="0"/>
                </a:moveTo>
                <a:lnTo>
                  <a:pt x="8960330" y="0"/>
                </a:lnTo>
                <a:lnTo>
                  <a:pt x="8960330" y="2216116"/>
                </a:lnTo>
                <a:lnTo>
                  <a:pt x="0" y="22161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690" l="0" r="0" t="-692"/>
            </a:stretch>
          </a:blipFill>
          <a:ln>
            <a:noFill/>
          </a:ln>
        </p:spPr>
      </p:sp>
      <p:sp>
        <p:nvSpPr>
          <p:cNvPr id="473" name="Google Shape;473;p19"/>
          <p:cNvSpPr txBox="1"/>
          <p:nvPr/>
        </p:nvSpPr>
        <p:spPr>
          <a:xfrm>
            <a:off x="7053640" y="516307"/>
            <a:ext cx="283643" cy="424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" sz="3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+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244308" y="1467006"/>
            <a:ext cx="7013319" cy="59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Nos dirigimos ya a VSCode y nos vamos a la sección de </a:t>
            </a:r>
            <a:r>
              <a:rPr b="1" i="0" lang="e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Extensiones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1607102" y="2212135"/>
            <a:ext cx="4259106" cy="247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Buscamos la extensión de Python: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0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481" name="Google Shape;481;p20"/>
          <p:cNvSpPr/>
          <p:nvPr/>
        </p:nvSpPr>
        <p:spPr>
          <a:xfrm>
            <a:off x="6811041" y="908411"/>
            <a:ext cx="2104287" cy="2123592"/>
          </a:xfrm>
          <a:custGeom>
            <a:rect b="b" l="l" r="r" t="t"/>
            <a:pathLst>
              <a:path extrusionOk="0" h="4247184" w="4208573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2" name="Google Shape;482;p20"/>
          <p:cNvSpPr/>
          <p:nvPr/>
        </p:nvSpPr>
        <p:spPr>
          <a:xfrm>
            <a:off x="6156201" y="1362836"/>
            <a:ext cx="2090400" cy="2090400"/>
          </a:xfrm>
          <a:custGeom>
            <a:rect b="b" l="l" r="r" t="t"/>
            <a:pathLst>
              <a:path extrusionOk="0" h="4180800" w="4180800">
                <a:moveTo>
                  <a:pt x="0" y="0"/>
                </a:moveTo>
                <a:lnTo>
                  <a:pt x="4180800" y="0"/>
                </a:lnTo>
                <a:lnTo>
                  <a:pt x="4180800" y="4180800"/>
                </a:lnTo>
                <a:lnTo>
                  <a:pt x="0" y="418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3" name="Google Shape;483;p20"/>
          <p:cNvSpPr txBox="1"/>
          <p:nvPr/>
        </p:nvSpPr>
        <p:spPr>
          <a:xfrm>
            <a:off x="431006" y="609600"/>
            <a:ext cx="3924377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PyCharm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431006" y="4416074"/>
            <a:ext cx="1304284" cy="213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s" sz="1300" u="sng" cap="none" strike="noStrik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6"/>
              </a:rPr>
              <a:t>Página Oficial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514350" y="1632683"/>
            <a:ext cx="4351419" cy="2404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Desarrollado por la empresa </a:t>
            </a:r>
            <a:r>
              <a:rPr b="1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JetBrains, </a:t>
            </a: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enfoca directamente en lo que es Python. Puede descargarse ya sea en su versión de paga (Professional) o gratis (Community). Se destaca por: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Compatibilidad con trabajo de desarrollo Web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Compatibilidad con herramientas científicas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Desarrollo multi-tecnología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Desarrollo remoto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Herramientas de desarrollo integradas.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1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491" name="Google Shape;491;p21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2" name="Google Shape;492;p21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3" name="Google Shape;493;p21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4" name="Google Shape;494;p21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5" name="Google Shape;495;p21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6" name="Google Shape;496;p21"/>
          <p:cNvSpPr/>
          <p:nvPr/>
        </p:nvSpPr>
        <p:spPr>
          <a:xfrm>
            <a:off x="514350" y="2701948"/>
            <a:ext cx="4401667" cy="1927202"/>
          </a:xfrm>
          <a:custGeom>
            <a:rect b="b" l="l" r="r" t="t"/>
            <a:pathLst>
              <a:path extrusionOk="0" h="3854404" w="8803333">
                <a:moveTo>
                  <a:pt x="0" y="0"/>
                </a:moveTo>
                <a:lnTo>
                  <a:pt x="8803333" y="0"/>
                </a:lnTo>
                <a:lnTo>
                  <a:pt x="8803333" y="3854404"/>
                </a:lnTo>
                <a:lnTo>
                  <a:pt x="0" y="3854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p21"/>
          <p:cNvSpPr/>
          <p:nvPr/>
        </p:nvSpPr>
        <p:spPr>
          <a:xfrm>
            <a:off x="5350679" y="2424463"/>
            <a:ext cx="3278971" cy="1985432"/>
          </a:xfrm>
          <a:custGeom>
            <a:rect b="b" l="l" r="r" t="t"/>
            <a:pathLst>
              <a:path extrusionOk="0" h="3970863" w="6557941">
                <a:moveTo>
                  <a:pt x="0" y="0"/>
                </a:moveTo>
                <a:lnTo>
                  <a:pt x="6557941" y="0"/>
                </a:lnTo>
                <a:lnTo>
                  <a:pt x="6557941" y="3970863"/>
                </a:lnTo>
                <a:lnTo>
                  <a:pt x="0" y="3970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p21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514350" y="1557872"/>
            <a:ext cx="7319391" cy="417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este caso ya que el paquete estudiantil nos ofrece los servicios de JetBrains gratis - utilizaremos la versión PyCharm para la educación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514350" y="2038836"/>
            <a:ext cx="6936822" cy="20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" sz="12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1"/>
              </a:rPr>
              <a:t>https://www.jetbrains.com/community/education/#students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514350" y="2324700"/>
            <a:ext cx="6936822" cy="20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" sz="12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2"/>
              </a:rPr>
              <a:t>https://www.jetbrains.com/shop/eform/students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703578" y="4781550"/>
            <a:ext cx="3173394" cy="20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" sz="12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3"/>
              </a:rPr>
              <a:t>https://account.jetbrains.com/login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2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08" name="Google Shape;508;p22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p22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0" name="Google Shape;510;p22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1" name="Google Shape;511;p22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2" name="Google Shape;512;p22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p22"/>
          <p:cNvSpPr/>
          <p:nvPr/>
        </p:nvSpPr>
        <p:spPr>
          <a:xfrm>
            <a:off x="192256" y="1594917"/>
            <a:ext cx="5102918" cy="2517799"/>
          </a:xfrm>
          <a:custGeom>
            <a:rect b="b" l="l" r="r" t="t"/>
            <a:pathLst>
              <a:path extrusionOk="0" h="5035597" w="10205836">
                <a:moveTo>
                  <a:pt x="0" y="0"/>
                </a:moveTo>
                <a:lnTo>
                  <a:pt x="10205836" y="0"/>
                </a:lnTo>
                <a:lnTo>
                  <a:pt x="10205836" y="5035597"/>
                </a:lnTo>
                <a:lnTo>
                  <a:pt x="0" y="5035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22"/>
          <p:cNvSpPr/>
          <p:nvPr/>
        </p:nvSpPr>
        <p:spPr>
          <a:xfrm>
            <a:off x="5827726" y="1327940"/>
            <a:ext cx="2459567" cy="3208967"/>
          </a:xfrm>
          <a:custGeom>
            <a:rect b="b" l="l" r="r" t="t"/>
            <a:pathLst>
              <a:path extrusionOk="0" h="6417933" w="4919135">
                <a:moveTo>
                  <a:pt x="0" y="0"/>
                </a:moveTo>
                <a:lnTo>
                  <a:pt x="4919135" y="0"/>
                </a:lnTo>
                <a:lnTo>
                  <a:pt x="4919135" y="6417933"/>
                </a:lnTo>
                <a:lnTo>
                  <a:pt x="0" y="6417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5" name="Google Shape;515;p22"/>
          <p:cNvGrpSpPr/>
          <p:nvPr/>
        </p:nvGrpSpPr>
        <p:grpSpPr>
          <a:xfrm>
            <a:off x="4313256" y="2201273"/>
            <a:ext cx="829546" cy="219939"/>
            <a:chOff x="0" y="-38100"/>
            <a:chExt cx="436962" cy="115853"/>
          </a:xfrm>
        </p:grpSpPr>
        <p:sp>
          <p:nvSpPr>
            <p:cNvPr id="516" name="Google Shape;516;p22"/>
            <p:cNvSpPr/>
            <p:nvPr/>
          </p:nvSpPr>
          <p:spPr>
            <a:xfrm>
              <a:off x="0" y="0"/>
              <a:ext cx="436962" cy="77753"/>
            </a:xfrm>
            <a:custGeom>
              <a:rect b="b" l="l" r="r" t="t"/>
              <a:pathLst>
                <a:path extrusionOk="0" h="77753" w="436962">
                  <a:moveTo>
                    <a:pt x="0" y="0"/>
                  </a:moveTo>
                  <a:lnTo>
                    <a:pt x="436962" y="0"/>
                  </a:lnTo>
                  <a:lnTo>
                    <a:pt x="436962" y="77753"/>
                  </a:lnTo>
                  <a:lnTo>
                    <a:pt x="0" y="77753"/>
                  </a:lnTo>
                  <a:close/>
                </a:path>
              </a:pathLst>
            </a:custGeom>
            <a:solidFill>
              <a:srgbClr val="062D52"/>
            </a:solidFill>
            <a:ln>
              <a:noFill/>
            </a:ln>
          </p:spPr>
        </p:sp>
        <p:sp>
          <p:nvSpPr>
            <p:cNvPr id="517" name="Google Shape;517;p22"/>
            <p:cNvSpPr txBox="1"/>
            <p:nvPr/>
          </p:nvSpPr>
          <p:spPr>
            <a:xfrm>
              <a:off x="0" y="-38100"/>
              <a:ext cx="436961" cy="115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22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24" name="Google Shape;524;p23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5" name="Google Shape;525;p23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6" name="Google Shape;526;p23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7" name="Google Shape;527;p23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8" name="Google Shape;528;p23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9" name="Google Shape;529;p23"/>
          <p:cNvSpPr/>
          <p:nvPr/>
        </p:nvSpPr>
        <p:spPr>
          <a:xfrm>
            <a:off x="475163" y="1295303"/>
            <a:ext cx="3630223" cy="2974766"/>
          </a:xfrm>
          <a:custGeom>
            <a:rect b="b" l="l" r="r" t="t"/>
            <a:pathLst>
              <a:path extrusionOk="0" h="5949531" w="7260445">
                <a:moveTo>
                  <a:pt x="0" y="0"/>
                </a:moveTo>
                <a:lnTo>
                  <a:pt x="7260445" y="0"/>
                </a:lnTo>
                <a:lnTo>
                  <a:pt x="7260445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p23"/>
          <p:cNvSpPr/>
          <p:nvPr/>
        </p:nvSpPr>
        <p:spPr>
          <a:xfrm>
            <a:off x="5475587" y="1559819"/>
            <a:ext cx="2269097" cy="2445733"/>
          </a:xfrm>
          <a:custGeom>
            <a:rect b="b" l="l" r="r" t="t"/>
            <a:pathLst>
              <a:path extrusionOk="0" h="4891466" w="4538193">
                <a:moveTo>
                  <a:pt x="0" y="0"/>
                </a:moveTo>
                <a:lnTo>
                  <a:pt x="4538193" y="0"/>
                </a:lnTo>
                <a:lnTo>
                  <a:pt x="4538193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1" name="Google Shape;531;p23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37" name="Google Shape;537;p24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8" name="Google Shape;538;p24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p24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24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1" name="Google Shape;541;p24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2" name="Google Shape;542;p24"/>
          <p:cNvSpPr/>
          <p:nvPr/>
        </p:nvSpPr>
        <p:spPr>
          <a:xfrm>
            <a:off x="145105" y="1078482"/>
            <a:ext cx="2721903" cy="2230912"/>
          </a:xfrm>
          <a:custGeom>
            <a:rect b="b" l="l" r="r" t="t"/>
            <a:pathLst>
              <a:path extrusionOk="0" h="4461823" w="5443806">
                <a:moveTo>
                  <a:pt x="0" y="0"/>
                </a:moveTo>
                <a:lnTo>
                  <a:pt x="5443806" y="0"/>
                </a:lnTo>
                <a:lnTo>
                  <a:pt x="5443806" y="4461824"/>
                </a:lnTo>
                <a:lnTo>
                  <a:pt x="0" y="4461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3" name="Google Shape;543;p24"/>
          <p:cNvSpPr/>
          <p:nvPr/>
        </p:nvSpPr>
        <p:spPr>
          <a:xfrm>
            <a:off x="2867007" y="2488906"/>
            <a:ext cx="3071901" cy="2513373"/>
          </a:xfrm>
          <a:custGeom>
            <a:rect b="b" l="l" r="r" t="t"/>
            <a:pathLst>
              <a:path extrusionOk="0" h="5026747" w="6143801">
                <a:moveTo>
                  <a:pt x="0" y="0"/>
                </a:moveTo>
                <a:lnTo>
                  <a:pt x="6143802" y="0"/>
                </a:lnTo>
                <a:lnTo>
                  <a:pt x="6143802" y="5026746"/>
                </a:lnTo>
                <a:lnTo>
                  <a:pt x="0" y="5026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4" name="Google Shape;544;p24"/>
          <p:cNvSpPr/>
          <p:nvPr/>
        </p:nvSpPr>
        <p:spPr>
          <a:xfrm>
            <a:off x="6099720" y="1299792"/>
            <a:ext cx="2906724" cy="2378229"/>
          </a:xfrm>
          <a:custGeom>
            <a:rect b="b" l="l" r="r" t="t"/>
            <a:pathLst>
              <a:path extrusionOk="0" h="4756458" w="5813449">
                <a:moveTo>
                  <a:pt x="0" y="0"/>
                </a:moveTo>
                <a:lnTo>
                  <a:pt x="5813449" y="0"/>
                </a:lnTo>
                <a:lnTo>
                  <a:pt x="5813449" y="4756458"/>
                </a:lnTo>
                <a:lnTo>
                  <a:pt x="0" y="4756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5" name="Google Shape;545;p24"/>
          <p:cNvSpPr/>
          <p:nvPr/>
        </p:nvSpPr>
        <p:spPr>
          <a:xfrm>
            <a:off x="6207361" y="3960304"/>
            <a:ext cx="2691444" cy="386563"/>
          </a:xfrm>
          <a:custGeom>
            <a:rect b="b" l="l" r="r" t="t"/>
            <a:pathLst>
              <a:path extrusionOk="0" h="773126" w="5382887">
                <a:moveTo>
                  <a:pt x="0" y="0"/>
                </a:moveTo>
                <a:lnTo>
                  <a:pt x="5382887" y="0"/>
                </a:lnTo>
                <a:lnTo>
                  <a:pt x="5382887" y="773125"/>
                </a:lnTo>
                <a:lnTo>
                  <a:pt x="0" y="77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6" name="Google Shape;546;p24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5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52" name="Google Shape;552;p25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3" name="Google Shape;553;p25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4" name="Google Shape;554;p25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5" name="Google Shape;555;p25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6" name="Google Shape;556;p25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7" name="Google Shape;557;p25"/>
          <p:cNvSpPr/>
          <p:nvPr/>
        </p:nvSpPr>
        <p:spPr>
          <a:xfrm>
            <a:off x="244308" y="1178495"/>
            <a:ext cx="2526312" cy="2091051"/>
          </a:xfrm>
          <a:custGeom>
            <a:rect b="b" l="l" r="r" t="t"/>
            <a:pathLst>
              <a:path extrusionOk="0" h="4182101" w="5052624">
                <a:moveTo>
                  <a:pt x="0" y="0"/>
                </a:moveTo>
                <a:lnTo>
                  <a:pt x="5052624" y="0"/>
                </a:lnTo>
                <a:lnTo>
                  <a:pt x="5052624" y="4182102"/>
                </a:lnTo>
                <a:lnTo>
                  <a:pt x="0" y="4182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8" name="Google Shape;558;p25"/>
          <p:cNvSpPr/>
          <p:nvPr/>
        </p:nvSpPr>
        <p:spPr>
          <a:xfrm>
            <a:off x="2882771" y="2315163"/>
            <a:ext cx="2708297" cy="2211537"/>
          </a:xfrm>
          <a:custGeom>
            <a:rect b="b" l="l" r="r" t="t"/>
            <a:pathLst>
              <a:path extrusionOk="0" h="4423074" w="5416594">
                <a:moveTo>
                  <a:pt x="0" y="0"/>
                </a:moveTo>
                <a:lnTo>
                  <a:pt x="5416594" y="0"/>
                </a:lnTo>
                <a:lnTo>
                  <a:pt x="5416594" y="4423074"/>
                </a:lnTo>
                <a:lnTo>
                  <a:pt x="0" y="4423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9" name="Google Shape;559;p25"/>
          <p:cNvSpPr/>
          <p:nvPr/>
        </p:nvSpPr>
        <p:spPr>
          <a:xfrm>
            <a:off x="5788680" y="1572727"/>
            <a:ext cx="2840970" cy="2348402"/>
          </a:xfrm>
          <a:custGeom>
            <a:rect b="b" l="l" r="r" t="t"/>
            <a:pathLst>
              <a:path extrusionOk="0" h="4696805" w="5681940">
                <a:moveTo>
                  <a:pt x="0" y="0"/>
                </a:moveTo>
                <a:lnTo>
                  <a:pt x="5681940" y="0"/>
                </a:lnTo>
                <a:lnTo>
                  <a:pt x="5681940" y="4696806"/>
                </a:lnTo>
                <a:lnTo>
                  <a:pt x="0" y="46968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0" name="Google Shape;560;p25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66" name="Google Shape;566;p26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7" name="Google Shape;567;p26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8" name="Google Shape;568;p26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9" name="Google Shape;569;p26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0" name="Google Shape;570;p26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1" name="Google Shape;571;p26"/>
          <p:cNvSpPr/>
          <p:nvPr/>
        </p:nvSpPr>
        <p:spPr>
          <a:xfrm>
            <a:off x="244308" y="1265636"/>
            <a:ext cx="6519129" cy="3459130"/>
          </a:xfrm>
          <a:custGeom>
            <a:rect b="b" l="l" r="r" t="t"/>
            <a:pathLst>
              <a:path extrusionOk="0" h="6918259" w="13038258">
                <a:moveTo>
                  <a:pt x="0" y="0"/>
                </a:moveTo>
                <a:lnTo>
                  <a:pt x="13038257" y="0"/>
                </a:lnTo>
                <a:lnTo>
                  <a:pt x="13038257" y="6918259"/>
                </a:lnTo>
                <a:lnTo>
                  <a:pt x="0" y="6918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2" name="Google Shape;572;p26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78" name="Google Shape;578;p27"/>
          <p:cNvSpPr/>
          <p:nvPr/>
        </p:nvSpPr>
        <p:spPr>
          <a:xfrm>
            <a:off x="7676745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9" name="Google Shape;579;p27"/>
          <p:cNvSpPr/>
          <p:nvPr/>
        </p:nvSpPr>
        <p:spPr>
          <a:xfrm>
            <a:off x="4572000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0" name="Google Shape;580;p27"/>
          <p:cNvSpPr/>
          <p:nvPr/>
        </p:nvSpPr>
        <p:spPr>
          <a:xfrm>
            <a:off x="2290274" y="-1164840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1" name="Google Shape;581;p27"/>
          <p:cNvSpPr/>
          <p:nvPr/>
        </p:nvSpPr>
        <p:spPr>
          <a:xfrm rot="-5282649">
            <a:off x="8002143" y="132687"/>
            <a:ext cx="2008604" cy="685436"/>
          </a:xfrm>
          <a:custGeom>
            <a:rect b="b" l="l" r="r" t="t"/>
            <a:pathLst>
              <a:path extrusionOk="0"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2" name="Google Shape;582;p27"/>
          <p:cNvSpPr/>
          <p:nvPr/>
        </p:nvSpPr>
        <p:spPr>
          <a:xfrm>
            <a:off x="7334450" y="196313"/>
            <a:ext cx="1227920" cy="1227920"/>
          </a:xfrm>
          <a:custGeom>
            <a:rect b="b" l="l" r="r" t="t"/>
            <a:pathLst>
              <a:path extrusionOk="0" h="2455840" w="2455840">
                <a:moveTo>
                  <a:pt x="0" y="0"/>
                </a:moveTo>
                <a:lnTo>
                  <a:pt x="2455840" y="0"/>
                </a:lnTo>
                <a:lnTo>
                  <a:pt x="2455840" y="2455840"/>
                </a:lnTo>
                <a:lnTo>
                  <a:pt x="0" y="2455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3" name="Google Shape;583;p27"/>
          <p:cNvSpPr/>
          <p:nvPr/>
        </p:nvSpPr>
        <p:spPr>
          <a:xfrm>
            <a:off x="399912" y="1178495"/>
            <a:ext cx="5839829" cy="2243707"/>
          </a:xfrm>
          <a:custGeom>
            <a:rect b="b" l="l" r="r" t="t"/>
            <a:pathLst>
              <a:path extrusionOk="0" h="4487414" w="11679657">
                <a:moveTo>
                  <a:pt x="0" y="0"/>
                </a:moveTo>
                <a:lnTo>
                  <a:pt x="11679656" y="0"/>
                </a:lnTo>
                <a:lnTo>
                  <a:pt x="11679656" y="4487415"/>
                </a:lnTo>
                <a:lnTo>
                  <a:pt x="0" y="4487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4" name="Google Shape;584;p27"/>
          <p:cNvSpPr/>
          <p:nvPr/>
        </p:nvSpPr>
        <p:spPr>
          <a:xfrm>
            <a:off x="3549446" y="2381921"/>
            <a:ext cx="5080205" cy="2696539"/>
          </a:xfrm>
          <a:custGeom>
            <a:rect b="b" l="l" r="r" t="t"/>
            <a:pathLst>
              <a:path extrusionOk="0" h="5393077" w="10160409">
                <a:moveTo>
                  <a:pt x="0" y="0"/>
                </a:moveTo>
                <a:lnTo>
                  <a:pt x="10160409" y="0"/>
                </a:lnTo>
                <a:lnTo>
                  <a:pt x="10160409" y="5393077"/>
                </a:lnTo>
                <a:lnTo>
                  <a:pt x="0" y="5393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5" name="Google Shape;585;p27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591" name="Google Shape;591;p28"/>
          <p:cNvSpPr/>
          <p:nvPr/>
        </p:nvSpPr>
        <p:spPr>
          <a:xfrm>
            <a:off x="6811041" y="908411"/>
            <a:ext cx="2104287" cy="2123592"/>
          </a:xfrm>
          <a:custGeom>
            <a:rect b="b" l="l" r="r" t="t"/>
            <a:pathLst>
              <a:path extrusionOk="0" h="4247184" w="4208573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2" name="Google Shape;592;p28"/>
          <p:cNvSpPr/>
          <p:nvPr/>
        </p:nvSpPr>
        <p:spPr>
          <a:xfrm>
            <a:off x="6211049" y="1198245"/>
            <a:ext cx="2181721" cy="2181722"/>
          </a:xfrm>
          <a:custGeom>
            <a:rect b="b" l="l" r="r" t="t"/>
            <a:pathLst>
              <a:path extrusionOk="0" h="4363443" w="4363443">
                <a:moveTo>
                  <a:pt x="0" y="0"/>
                </a:moveTo>
                <a:lnTo>
                  <a:pt x="4363443" y="0"/>
                </a:lnTo>
                <a:lnTo>
                  <a:pt x="4363443" y="4363443"/>
                </a:lnTo>
                <a:lnTo>
                  <a:pt x="0" y="436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3" name="Google Shape;593;p28"/>
          <p:cNvSpPr txBox="1"/>
          <p:nvPr/>
        </p:nvSpPr>
        <p:spPr>
          <a:xfrm>
            <a:off x="514350" y="1552479"/>
            <a:ext cx="4351419" cy="1747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Atom Text Editor </a:t>
            </a:r>
            <a:r>
              <a:rPr b="1" i="1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era </a:t>
            </a: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editor de texto (como su nombre sugiere) de tipo Open-Source compatible con Linux, macOS y Windows. Entre sus características se encontraba que: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Poseía control de versiones Git integrado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Basado en tecnologías web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27940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Gran compatibilidad con diferentes lenguajes de programación.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1195098" y="3569980"/>
            <a:ext cx="476951" cy="477182"/>
          </a:xfrm>
          <a:custGeom>
            <a:rect b="b" l="l" r="r" t="t"/>
            <a:pathLst>
              <a:path extrusionOk="0" h="954363" w="953903">
                <a:moveTo>
                  <a:pt x="0" y="0"/>
                </a:moveTo>
                <a:lnTo>
                  <a:pt x="953903" y="0"/>
                </a:lnTo>
                <a:lnTo>
                  <a:pt x="953903" y="954363"/>
                </a:lnTo>
                <a:lnTo>
                  <a:pt x="0" y="954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5" name="Google Shape;595;p28"/>
          <p:cNvSpPr txBox="1"/>
          <p:nvPr/>
        </p:nvSpPr>
        <p:spPr>
          <a:xfrm>
            <a:off x="431006" y="609600"/>
            <a:ext cx="4812775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Atom Text Editor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8"/>
          <p:cNvSpPr txBox="1"/>
          <p:nvPr/>
        </p:nvSpPr>
        <p:spPr>
          <a:xfrm>
            <a:off x="431006" y="4416074"/>
            <a:ext cx="1304284" cy="213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s" sz="1300" u="sng" cap="none" strike="noStrik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7"/>
              </a:rPr>
              <a:t>Página Oficial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8"/>
          <p:cNvSpPr txBox="1"/>
          <p:nvPr/>
        </p:nvSpPr>
        <p:spPr>
          <a:xfrm>
            <a:off x="1859630" y="3473092"/>
            <a:ext cx="4351419" cy="65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Actualmente se encuentra DESCONTINUADO - el 15 de diciembre del 2022 GithHub anunció su fin de vida util.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9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603" name="Google Shape;603;p29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4" name="Google Shape;604;p29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5" name="Google Shape;605;p29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6" name="Google Shape;606;p29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7" name="Google Shape;607;p29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8" name="Google Shape;608;p29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9" name="Google Shape;609;p29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0" name="Google Shape;610;p29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1" name="Google Shape;611;p29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2" name="Google Shape;612;p29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3" name="Google Shape;613;p29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4" name="Google Shape;614;p29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5" name="Google Shape;615;p29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6" name="Google Shape;616;p29"/>
          <p:cNvSpPr/>
          <p:nvPr/>
        </p:nvSpPr>
        <p:spPr>
          <a:xfrm>
            <a:off x="1700181" y="382704"/>
            <a:ext cx="5743638" cy="4378091"/>
          </a:xfrm>
          <a:custGeom>
            <a:rect b="b" l="l" r="r" t="t"/>
            <a:pathLst>
              <a:path extrusionOk="0" h="8756182" w="11487276">
                <a:moveTo>
                  <a:pt x="0" y="0"/>
                </a:moveTo>
                <a:lnTo>
                  <a:pt x="11487276" y="0"/>
                </a:lnTo>
                <a:lnTo>
                  <a:pt x="11487276" y="8756182"/>
                </a:lnTo>
                <a:lnTo>
                  <a:pt x="0" y="8756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0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622" name="Google Shape;622;p30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3" name="Google Shape;623;p30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4" name="Google Shape;624;p30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5" name="Google Shape;625;p30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6" name="Google Shape;626;p30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7" name="Google Shape;627;p30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8" name="Google Shape;628;p30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9" name="Google Shape;629;p30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0" name="Google Shape;630;p30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1" name="Google Shape;631;p30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2" name="Google Shape;632;p30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3" name="Google Shape;633;p30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4" name="Google Shape;634;p30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5" name="Google Shape;635;p30"/>
          <p:cNvSpPr/>
          <p:nvPr/>
        </p:nvSpPr>
        <p:spPr>
          <a:xfrm>
            <a:off x="514350" y="2324670"/>
            <a:ext cx="1370647" cy="1370648"/>
          </a:xfrm>
          <a:custGeom>
            <a:rect b="b" l="l" r="r" t="t"/>
            <a:pathLst>
              <a:path extrusionOk="0" h="2741295" w="2741295">
                <a:moveTo>
                  <a:pt x="0" y="0"/>
                </a:moveTo>
                <a:lnTo>
                  <a:pt x="2741295" y="0"/>
                </a:lnTo>
                <a:lnTo>
                  <a:pt x="2741295" y="2741295"/>
                </a:lnTo>
                <a:lnTo>
                  <a:pt x="0" y="2741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6" name="Google Shape;636;p30"/>
          <p:cNvSpPr txBox="1"/>
          <p:nvPr/>
        </p:nvSpPr>
        <p:spPr>
          <a:xfrm>
            <a:off x="438846" y="884474"/>
            <a:ext cx="768248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Atom Text Editor + Python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0"/>
          <p:cNvSpPr txBox="1"/>
          <p:nvPr/>
        </p:nvSpPr>
        <p:spPr>
          <a:xfrm>
            <a:off x="1932030" y="2947517"/>
            <a:ext cx="3145896" cy="478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1" lang="es" sz="3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Video Tutorial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5931677" y="2267162"/>
            <a:ext cx="1303561" cy="1303561"/>
          </a:xfrm>
          <a:custGeom>
            <a:rect b="b" l="l" r="r" t="t"/>
            <a:pathLst>
              <a:path extrusionOk="0" h="2607121" w="2607121">
                <a:moveTo>
                  <a:pt x="0" y="0"/>
                </a:moveTo>
                <a:lnTo>
                  <a:pt x="2607121" y="0"/>
                </a:lnTo>
                <a:lnTo>
                  <a:pt x="2607121" y="2607121"/>
                </a:lnTo>
                <a:lnTo>
                  <a:pt x="0" y="26071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9" name="Google Shape;639;p30"/>
          <p:cNvSpPr txBox="1"/>
          <p:nvPr/>
        </p:nvSpPr>
        <p:spPr>
          <a:xfrm>
            <a:off x="7314680" y="2672244"/>
            <a:ext cx="414128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+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7809770" y="2430805"/>
            <a:ext cx="976274" cy="976275"/>
          </a:xfrm>
          <a:custGeom>
            <a:rect b="b" l="l" r="r" t="t"/>
            <a:pathLst>
              <a:path extrusionOk="0" h="1952549" w="1952549">
                <a:moveTo>
                  <a:pt x="0" y="0"/>
                </a:moveTo>
                <a:lnTo>
                  <a:pt x="1952549" y="0"/>
                </a:lnTo>
                <a:lnTo>
                  <a:pt x="1952549" y="1952549"/>
                </a:lnTo>
                <a:lnTo>
                  <a:pt x="0" y="1952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1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646" name="Google Shape;646;p31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7" name="Google Shape;647;p31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8" name="Google Shape;648;p31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9" name="Google Shape;649;p31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0" name="Google Shape;650;p31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1" name="Google Shape;651;p31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2" name="Google Shape;652;p31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3" name="Google Shape;653;p31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4" name="Google Shape;654;p31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5" name="Google Shape;655;p31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6" name="Google Shape;656;p31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7" name="Google Shape;657;p31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8" name="Google Shape;658;p31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9" name="Google Shape;659;p31"/>
          <p:cNvSpPr txBox="1"/>
          <p:nvPr/>
        </p:nvSpPr>
        <p:spPr>
          <a:xfrm>
            <a:off x="327625" y="1137766"/>
            <a:ext cx="6754073" cy="1955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s" sz="5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PROGRAMACIÓN BÁSICA CON PYTHON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2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665" name="Google Shape;665;p32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6" name="Google Shape;666;p32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7" name="Google Shape;667;p32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8" name="Google Shape;668;p32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9" name="Google Shape;669;p32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0" name="Google Shape;670;p32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1" name="Google Shape;671;p32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2" name="Google Shape;672;p32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3" name="Google Shape;673;p32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4" name="Google Shape;674;p32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5" name="Google Shape;675;p32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6" name="Google Shape;676;p32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7" name="Google Shape;677;p32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8" name="Google Shape;678;p32"/>
          <p:cNvSpPr/>
          <p:nvPr/>
        </p:nvSpPr>
        <p:spPr>
          <a:xfrm>
            <a:off x="2112896" y="1406756"/>
            <a:ext cx="5582423" cy="3140113"/>
          </a:xfrm>
          <a:custGeom>
            <a:rect b="b" l="l" r="r" t="t"/>
            <a:pathLst>
              <a:path extrusionOk="0" h="6280226" w="11164845">
                <a:moveTo>
                  <a:pt x="0" y="0"/>
                </a:moveTo>
                <a:lnTo>
                  <a:pt x="11164845" y="0"/>
                </a:lnTo>
                <a:lnTo>
                  <a:pt x="11164845" y="6280225"/>
                </a:lnTo>
                <a:lnTo>
                  <a:pt x="0" y="6280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9" name="Google Shape;679;p32"/>
          <p:cNvSpPr txBox="1"/>
          <p:nvPr/>
        </p:nvSpPr>
        <p:spPr>
          <a:xfrm>
            <a:off x="246715" y="849440"/>
            <a:ext cx="5784432" cy="406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" sz="3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PALABRAS RESERVADAS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3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685" name="Google Shape;685;p33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6" name="Google Shape;686;p33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7" name="Google Shape;687;p33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8" name="Google Shape;688;p33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9" name="Google Shape;689;p33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0" name="Google Shape;690;p33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1" name="Google Shape;691;p33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2" name="Google Shape;692;p33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3" name="Google Shape;693;p33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4" name="Google Shape;694;p33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5" name="Google Shape;695;p33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6" name="Google Shape;696;p33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7" name="Google Shape;697;p33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8" name="Google Shape;698;p33"/>
          <p:cNvSpPr txBox="1"/>
          <p:nvPr/>
        </p:nvSpPr>
        <p:spPr>
          <a:xfrm>
            <a:off x="349600" y="1208335"/>
            <a:ext cx="5331510" cy="3061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Python, la </a:t>
            </a:r>
            <a:r>
              <a:rPr b="1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identación </a:t>
            </a: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refiere al </a:t>
            </a:r>
            <a:r>
              <a:rPr b="1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espaciado o sangrado que se utiliza para estructurar y delimitar bloques de código.</a:t>
            </a: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 identación es fundamental en Python porque determina la estructura y jerarquía del código, en lugar de utilizar llaves u otros delimitadores como en otros lenguajes de programación.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identación se realiza con espacios o tabulaciones </a:t>
            </a:r>
            <a:r>
              <a:rPr b="0" i="1" lang="es" sz="1300" u="none" cap="none" strike="noStrike">
                <a:solidFill>
                  <a:srgbClr val="000000"/>
                </a:solidFill>
                <a:latin typeface="Sansita"/>
                <a:ea typeface="Sansita"/>
                <a:cs typeface="Sansita"/>
                <a:sym typeface="Sansita"/>
              </a:rPr>
              <a:t>(aunque el estándar de la comunidad y la recomendación oficial de Python es usar espacios).</a:t>
            </a:r>
            <a:r>
              <a:rPr b="0" i="0" lang="e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 cantidad de espacios o tabulaciones utilizadas para la identación es importante, ya que Python utiliza la consistencia en la identación para determinar qué líneas de código pertenecen a un mismo bloque.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3"/>
          <p:cNvSpPr/>
          <p:nvPr/>
        </p:nvSpPr>
        <p:spPr>
          <a:xfrm>
            <a:off x="6227157" y="1787861"/>
            <a:ext cx="2262162" cy="2262162"/>
          </a:xfrm>
          <a:custGeom>
            <a:rect b="b" l="l" r="r" t="t"/>
            <a:pathLst>
              <a:path extrusionOk="0" h="4524324" w="4524324">
                <a:moveTo>
                  <a:pt x="0" y="0"/>
                </a:moveTo>
                <a:lnTo>
                  <a:pt x="4524324" y="0"/>
                </a:lnTo>
                <a:lnTo>
                  <a:pt x="4524324" y="4524324"/>
                </a:lnTo>
                <a:lnTo>
                  <a:pt x="0" y="45243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0" name="Google Shape;700;p33"/>
          <p:cNvSpPr txBox="1"/>
          <p:nvPr/>
        </p:nvSpPr>
        <p:spPr>
          <a:xfrm>
            <a:off x="246715" y="724551"/>
            <a:ext cx="5784432" cy="40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" sz="3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Y LA IDENTACIÓN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4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706" name="Google Shape;706;p34"/>
          <p:cNvSpPr txBox="1"/>
          <p:nvPr/>
        </p:nvSpPr>
        <p:spPr>
          <a:xfrm>
            <a:off x="108093" y="349590"/>
            <a:ext cx="3974454" cy="1693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Variables, Expresiones y Sentencias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7" name="Google Shape;707;p34"/>
          <p:cNvGrpSpPr/>
          <p:nvPr/>
        </p:nvGrpSpPr>
        <p:grpSpPr>
          <a:xfrm>
            <a:off x="4987745" y="585131"/>
            <a:ext cx="3499031" cy="1280764"/>
            <a:chOff x="0" y="0"/>
            <a:chExt cx="2342659" cy="857492"/>
          </a:xfrm>
        </p:grpSpPr>
        <p:sp>
          <p:nvSpPr>
            <p:cNvPr id="708" name="Google Shape;708;p34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4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0" name="Google Shape;710;p34"/>
          <p:cNvGrpSpPr/>
          <p:nvPr/>
        </p:nvGrpSpPr>
        <p:grpSpPr>
          <a:xfrm>
            <a:off x="4987745" y="1931174"/>
            <a:ext cx="3499031" cy="1280764"/>
            <a:chOff x="0" y="0"/>
            <a:chExt cx="2342659" cy="857492"/>
          </a:xfrm>
        </p:grpSpPr>
        <p:sp>
          <p:nvSpPr>
            <p:cNvPr id="711" name="Google Shape;711;p34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4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34"/>
          <p:cNvGrpSpPr/>
          <p:nvPr/>
        </p:nvGrpSpPr>
        <p:grpSpPr>
          <a:xfrm>
            <a:off x="4987745" y="3278613"/>
            <a:ext cx="3499031" cy="1280764"/>
            <a:chOff x="0" y="0"/>
            <a:chExt cx="2342659" cy="857492"/>
          </a:xfrm>
        </p:grpSpPr>
        <p:sp>
          <p:nvSpPr>
            <p:cNvPr id="714" name="Google Shape;714;p34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4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Google Shape;716;p34"/>
          <p:cNvSpPr/>
          <p:nvPr/>
        </p:nvSpPr>
        <p:spPr>
          <a:xfrm>
            <a:off x="-424285" y="4459831"/>
            <a:ext cx="1935473" cy="475071"/>
          </a:xfrm>
          <a:custGeom>
            <a:rect b="b" l="l" r="r" t="t"/>
            <a:pathLst>
              <a:path extrusionOk="0"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7" name="Google Shape;717;p34"/>
          <p:cNvSpPr/>
          <p:nvPr/>
        </p:nvSpPr>
        <p:spPr>
          <a:xfrm>
            <a:off x="2236453" y="-1182407"/>
            <a:ext cx="2490476" cy="1865593"/>
          </a:xfrm>
          <a:custGeom>
            <a:rect b="b" l="l" r="r" t="t"/>
            <a:pathLst>
              <a:path extrusionOk="0"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8" name="Google Shape;718;p34"/>
          <p:cNvSpPr/>
          <p:nvPr/>
        </p:nvSpPr>
        <p:spPr>
          <a:xfrm>
            <a:off x="1715537" y="4459830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9" name="Google Shape;719;p34"/>
          <p:cNvSpPr/>
          <p:nvPr/>
        </p:nvSpPr>
        <p:spPr>
          <a:xfrm>
            <a:off x="7658973" y="-157383"/>
            <a:ext cx="1485027" cy="1485027"/>
          </a:xfrm>
          <a:custGeom>
            <a:rect b="b" l="l" r="r" t="t"/>
            <a:pathLst>
              <a:path extrusionOk="0" h="2970054" w="2970054">
                <a:moveTo>
                  <a:pt x="0" y="0"/>
                </a:moveTo>
                <a:lnTo>
                  <a:pt x="2970054" y="0"/>
                </a:lnTo>
                <a:lnTo>
                  <a:pt x="2970054" y="2970054"/>
                </a:lnTo>
                <a:lnTo>
                  <a:pt x="0" y="2970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0" name="Google Shape;720;p34"/>
          <p:cNvSpPr txBox="1"/>
          <p:nvPr/>
        </p:nvSpPr>
        <p:spPr>
          <a:xfrm>
            <a:off x="5241625" y="907375"/>
            <a:ext cx="2740366" cy="62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b="1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 </a:t>
            </a: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 son como etiquetas que permiten hacer referencia a los datos. En este lenguaje de programación, no existe un comando para declarar variables.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4"/>
          <p:cNvSpPr txBox="1"/>
          <p:nvPr/>
        </p:nvSpPr>
        <p:spPr>
          <a:xfrm>
            <a:off x="5241625" y="2173206"/>
            <a:ext cx="2810932" cy="78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Python, una </a:t>
            </a:r>
            <a:r>
              <a:rPr b="1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expresión </a:t>
            </a: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una combinación de valores, variables, operadores y llamadas a funciones que se evalúa para producir un resultado. Básicamente, es cualquier fragmento de código que produce un valor.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4"/>
          <p:cNvSpPr txBox="1"/>
          <p:nvPr/>
        </p:nvSpPr>
        <p:spPr>
          <a:xfrm>
            <a:off x="5241625" y="3442064"/>
            <a:ext cx="3116721" cy="93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Python, una </a:t>
            </a:r>
            <a:r>
              <a:rPr b="1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sentencia </a:t>
            </a: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una unidad de código que realiza una acción específica. Las sentencias son instrucciones que le dicen al intérprete de Python qué hacer. A diferencia de las expresiones, las sentencias no tienen un valor que pueda ser asignado a una variable o utilizado en otro contexto.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3" name="Google Shape;723;p34"/>
          <p:cNvGrpSpPr/>
          <p:nvPr/>
        </p:nvGrpSpPr>
        <p:grpSpPr>
          <a:xfrm>
            <a:off x="486938" y="2177286"/>
            <a:ext cx="3499031" cy="763276"/>
            <a:chOff x="0" y="0"/>
            <a:chExt cx="2342659" cy="511026"/>
          </a:xfrm>
        </p:grpSpPr>
        <p:sp>
          <p:nvSpPr>
            <p:cNvPr id="724" name="Google Shape;724;p34"/>
            <p:cNvSpPr/>
            <p:nvPr/>
          </p:nvSpPr>
          <p:spPr>
            <a:xfrm>
              <a:off x="0" y="0"/>
              <a:ext cx="2342659" cy="511026"/>
            </a:xfrm>
            <a:custGeom>
              <a:rect b="b" l="l" r="r" t="t"/>
              <a:pathLst>
                <a:path extrusionOk="0" h="511026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94431"/>
                  </a:lnTo>
                  <a:cubicBezTo>
                    <a:pt x="2342659" y="498833"/>
                    <a:pt x="2340910" y="503053"/>
                    <a:pt x="2337798" y="506165"/>
                  </a:cubicBezTo>
                  <a:cubicBezTo>
                    <a:pt x="2334686" y="509277"/>
                    <a:pt x="2330465" y="511026"/>
                    <a:pt x="2326064" y="511026"/>
                  </a:cubicBezTo>
                  <a:lnTo>
                    <a:pt x="16594" y="511026"/>
                  </a:lnTo>
                  <a:cubicBezTo>
                    <a:pt x="7430" y="511026"/>
                    <a:pt x="0" y="503596"/>
                    <a:pt x="0" y="494431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4"/>
            <p:cNvSpPr txBox="1"/>
            <p:nvPr/>
          </p:nvSpPr>
          <p:spPr>
            <a:xfrm>
              <a:off x="0" y="85725"/>
              <a:ext cx="2342659" cy="425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34"/>
          <p:cNvGrpSpPr/>
          <p:nvPr/>
        </p:nvGrpSpPr>
        <p:grpSpPr>
          <a:xfrm>
            <a:off x="486938" y="3040975"/>
            <a:ext cx="3499031" cy="763276"/>
            <a:chOff x="0" y="0"/>
            <a:chExt cx="2342659" cy="511026"/>
          </a:xfrm>
        </p:grpSpPr>
        <p:sp>
          <p:nvSpPr>
            <p:cNvPr id="727" name="Google Shape;727;p34"/>
            <p:cNvSpPr/>
            <p:nvPr/>
          </p:nvSpPr>
          <p:spPr>
            <a:xfrm>
              <a:off x="0" y="0"/>
              <a:ext cx="2342659" cy="511026"/>
            </a:xfrm>
            <a:custGeom>
              <a:rect b="b" l="l" r="r" t="t"/>
              <a:pathLst>
                <a:path extrusionOk="0" h="511026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94431"/>
                  </a:lnTo>
                  <a:cubicBezTo>
                    <a:pt x="2342659" y="498833"/>
                    <a:pt x="2340910" y="503053"/>
                    <a:pt x="2337798" y="506165"/>
                  </a:cubicBezTo>
                  <a:cubicBezTo>
                    <a:pt x="2334686" y="509277"/>
                    <a:pt x="2330465" y="511026"/>
                    <a:pt x="2326064" y="511026"/>
                  </a:cubicBezTo>
                  <a:lnTo>
                    <a:pt x="16594" y="511026"/>
                  </a:lnTo>
                  <a:cubicBezTo>
                    <a:pt x="7430" y="511026"/>
                    <a:pt x="0" y="503596"/>
                    <a:pt x="0" y="494431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4"/>
            <p:cNvSpPr txBox="1"/>
            <p:nvPr/>
          </p:nvSpPr>
          <p:spPr>
            <a:xfrm>
              <a:off x="0" y="85725"/>
              <a:ext cx="2342659" cy="425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34"/>
          <p:cNvGrpSpPr/>
          <p:nvPr/>
        </p:nvGrpSpPr>
        <p:grpSpPr>
          <a:xfrm>
            <a:off x="486938" y="3865874"/>
            <a:ext cx="3499031" cy="1014179"/>
            <a:chOff x="0" y="0"/>
            <a:chExt cx="2342659" cy="679010"/>
          </a:xfrm>
        </p:grpSpPr>
        <p:sp>
          <p:nvSpPr>
            <p:cNvPr id="730" name="Google Shape;730;p34"/>
            <p:cNvSpPr/>
            <p:nvPr/>
          </p:nvSpPr>
          <p:spPr>
            <a:xfrm>
              <a:off x="0" y="0"/>
              <a:ext cx="2342659" cy="679010"/>
            </a:xfrm>
            <a:custGeom>
              <a:rect b="b" l="l" r="r" t="t"/>
              <a:pathLst>
                <a:path extrusionOk="0" h="679010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662415"/>
                  </a:lnTo>
                  <a:cubicBezTo>
                    <a:pt x="2342659" y="671580"/>
                    <a:pt x="2335229" y="679010"/>
                    <a:pt x="2326064" y="679010"/>
                  </a:cubicBezTo>
                  <a:lnTo>
                    <a:pt x="16594" y="679010"/>
                  </a:lnTo>
                  <a:cubicBezTo>
                    <a:pt x="7430" y="679010"/>
                    <a:pt x="0" y="671580"/>
                    <a:pt x="0" y="662415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4"/>
            <p:cNvSpPr txBox="1"/>
            <p:nvPr/>
          </p:nvSpPr>
          <p:spPr>
            <a:xfrm>
              <a:off x="0" y="85725"/>
              <a:ext cx="2342659" cy="593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" name="Google Shape;732;p34"/>
          <p:cNvSpPr txBox="1"/>
          <p:nvPr/>
        </p:nvSpPr>
        <p:spPr>
          <a:xfrm>
            <a:off x="689854" y="2330563"/>
            <a:ext cx="2810933" cy="468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x = ‘hola’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edad = 22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print(x)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4"/>
          <p:cNvSpPr txBox="1"/>
          <p:nvPr/>
        </p:nvSpPr>
        <p:spPr>
          <a:xfrm>
            <a:off x="670758" y="3240612"/>
            <a:ext cx="2810933" cy="310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sum = 1 + 6 + 3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mayor = 10 &gt; 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4"/>
          <p:cNvSpPr txBox="1"/>
          <p:nvPr/>
        </p:nvSpPr>
        <p:spPr>
          <a:xfrm>
            <a:off x="670758" y="3923314"/>
            <a:ext cx="2810933" cy="153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z = 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4"/>
          <p:cNvSpPr txBox="1"/>
          <p:nvPr/>
        </p:nvSpPr>
        <p:spPr>
          <a:xfrm>
            <a:off x="670758" y="4116887"/>
            <a:ext cx="2810933" cy="93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if (condición):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      # codigo condicion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else: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FF4F"/>
                </a:solidFill>
                <a:latin typeface="DM Sans"/>
                <a:ea typeface="DM Sans"/>
                <a:cs typeface="DM Sans"/>
                <a:sym typeface="DM Sans"/>
              </a:rPr>
              <a:t>      # codigo else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FF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FF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5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741" name="Google Shape;741;p35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2" name="Google Shape;742;p35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3" name="Google Shape;743;p35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4" name="Google Shape;744;p35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5" name="Google Shape;745;p35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6" name="Google Shape;746;p35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7" name="Google Shape;747;p35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8" name="Google Shape;748;p35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9" name="Google Shape;749;p35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0" name="Google Shape;750;p35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1" name="Google Shape;751;p35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2" name="Google Shape;752;p35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3" name="Google Shape;753;p35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4" name="Google Shape;754;p35"/>
          <p:cNvGrpSpPr/>
          <p:nvPr/>
        </p:nvGrpSpPr>
        <p:grpSpPr>
          <a:xfrm>
            <a:off x="745913" y="1290290"/>
            <a:ext cx="7512270" cy="789238"/>
            <a:chOff x="0" y="0"/>
            <a:chExt cx="5029588" cy="528408"/>
          </a:xfrm>
        </p:grpSpPr>
        <p:sp>
          <p:nvSpPr>
            <p:cNvPr id="755" name="Google Shape;755;p35"/>
            <p:cNvSpPr/>
            <p:nvPr/>
          </p:nvSpPr>
          <p:spPr>
            <a:xfrm>
              <a:off x="0" y="0"/>
              <a:ext cx="5029588" cy="528408"/>
            </a:xfrm>
            <a:custGeom>
              <a:rect b="b" l="l" r="r" t="t"/>
              <a:pathLst>
                <a:path extrusionOk="0" h="528408" w="5029588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5"/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7" name="Google Shape;757;p35"/>
          <p:cNvSpPr/>
          <p:nvPr/>
        </p:nvSpPr>
        <p:spPr>
          <a:xfrm>
            <a:off x="839341" y="2184303"/>
            <a:ext cx="3296587" cy="2711351"/>
          </a:xfrm>
          <a:custGeom>
            <a:rect b="b" l="l" r="r" t="t"/>
            <a:pathLst>
              <a:path extrusionOk="0" h="5422701" w="6593174">
                <a:moveTo>
                  <a:pt x="0" y="0"/>
                </a:moveTo>
                <a:lnTo>
                  <a:pt x="6593174" y="0"/>
                </a:lnTo>
                <a:lnTo>
                  <a:pt x="6593174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8" name="Google Shape;758;p35"/>
          <p:cNvSpPr/>
          <p:nvPr/>
        </p:nvSpPr>
        <p:spPr>
          <a:xfrm>
            <a:off x="4424409" y="2670461"/>
            <a:ext cx="3916760" cy="1367758"/>
          </a:xfrm>
          <a:custGeom>
            <a:rect b="b" l="l" r="r" t="t"/>
            <a:pathLst>
              <a:path extrusionOk="0" h="2735515" w="7833519">
                <a:moveTo>
                  <a:pt x="0" y="0"/>
                </a:moveTo>
                <a:lnTo>
                  <a:pt x="7833519" y="0"/>
                </a:lnTo>
                <a:lnTo>
                  <a:pt x="7833519" y="2735514"/>
                </a:lnTo>
                <a:lnTo>
                  <a:pt x="0" y="2735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9" name="Google Shape;759;p35"/>
          <p:cNvSpPr txBox="1"/>
          <p:nvPr/>
        </p:nvSpPr>
        <p:spPr>
          <a:xfrm>
            <a:off x="429735" y="887016"/>
            <a:ext cx="2501641" cy="29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Condicionales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5"/>
          <p:cNvSpPr txBox="1"/>
          <p:nvPr/>
        </p:nvSpPr>
        <p:spPr>
          <a:xfrm>
            <a:off x="967824" y="1522303"/>
            <a:ext cx="7068446" cy="310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Python, las estructuras </a:t>
            </a:r>
            <a:r>
              <a:rPr b="1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condicionales </a:t>
            </a: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utilizan para tomar decisiones basadas en condiciones. Las sentencias condicionales más comunes son if, elif (abreviatura de "else if")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6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766" name="Google Shape;766;p36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7" name="Google Shape;767;p36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8" name="Google Shape;768;p36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9" name="Google Shape;769;p36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0" name="Google Shape;770;p36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1" name="Google Shape;771;p36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2" name="Google Shape;772;p36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3" name="Google Shape;773;p36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4" name="Google Shape;774;p36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5" name="Google Shape;775;p36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6" name="Google Shape;776;p36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7" name="Google Shape;777;p36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8" name="Google Shape;778;p36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79" name="Google Shape;779;p36"/>
          <p:cNvGrpSpPr/>
          <p:nvPr/>
        </p:nvGrpSpPr>
        <p:grpSpPr>
          <a:xfrm>
            <a:off x="640406" y="997981"/>
            <a:ext cx="7512270" cy="789238"/>
            <a:chOff x="0" y="0"/>
            <a:chExt cx="5029588" cy="528408"/>
          </a:xfrm>
        </p:grpSpPr>
        <p:sp>
          <p:nvSpPr>
            <p:cNvPr id="780" name="Google Shape;780;p36"/>
            <p:cNvSpPr/>
            <p:nvPr/>
          </p:nvSpPr>
          <p:spPr>
            <a:xfrm>
              <a:off x="0" y="0"/>
              <a:ext cx="5029588" cy="528408"/>
            </a:xfrm>
            <a:custGeom>
              <a:rect b="b" l="l" r="r" t="t"/>
              <a:pathLst>
                <a:path extrusionOk="0" h="528408" w="5029588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6"/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36"/>
          <p:cNvSpPr/>
          <p:nvPr/>
        </p:nvSpPr>
        <p:spPr>
          <a:xfrm>
            <a:off x="353784" y="2034870"/>
            <a:ext cx="5570293" cy="2361804"/>
          </a:xfrm>
          <a:custGeom>
            <a:rect b="b" l="l" r="r" t="t"/>
            <a:pathLst>
              <a:path extrusionOk="0" h="4723608" w="11140586">
                <a:moveTo>
                  <a:pt x="0" y="0"/>
                </a:moveTo>
                <a:lnTo>
                  <a:pt x="11140586" y="0"/>
                </a:lnTo>
                <a:lnTo>
                  <a:pt x="11140586" y="4723608"/>
                </a:lnTo>
                <a:lnTo>
                  <a:pt x="0" y="4723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83" name="Google Shape;783;p36"/>
          <p:cNvGrpSpPr/>
          <p:nvPr/>
        </p:nvGrpSpPr>
        <p:grpSpPr>
          <a:xfrm>
            <a:off x="6555289" y="2053245"/>
            <a:ext cx="1862179" cy="865697"/>
            <a:chOff x="0" y="0"/>
            <a:chExt cx="1246759" cy="579598"/>
          </a:xfrm>
        </p:grpSpPr>
        <p:sp>
          <p:nvSpPr>
            <p:cNvPr id="784" name="Google Shape;784;p36"/>
            <p:cNvSpPr/>
            <p:nvPr/>
          </p:nvSpPr>
          <p:spPr>
            <a:xfrm>
              <a:off x="0" y="0"/>
              <a:ext cx="1246759" cy="579598"/>
            </a:xfrm>
            <a:custGeom>
              <a:rect b="b" l="l" r="r" t="t"/>
              <a:pathLst>
                <a:path extrusionOk="0" h="579598" w="1246759">
                  <a:moveTo>
                    <a:pt x="31181" y="0"/>
                  </a:moveTo>
                  <a:lnTo>
                    <a:pt x="1215578" y="0"/>
                  </a:lnTo>
                  <a:cubicBezTo>
                    <a:pt x="1223848" y="0"/>
                    <a:pt x="1231779" y="3285"/>
                    <a:pt x="1237626" y="9133"/>
                  </a:cubicBezTo>
                  <a:cubicBezTo>
                    <a:pt x="1243474" y="14980"/>
                    <a:pt x="1246759" y="22911"/>
                    <a:pt x="1246759" y="31181"/>
                  </a:cubicBezTo>
                  <a:lnTo>
                    <a:pt x="1246759" y="548418"/>
                  </a:lnTo>
                  <a:cubicBezTo>
                    <a:pt x="1246759" y="565638"/>
                    <a:pt x="1232799" y="579598"/>
                    <a:pt x="1215578" y="579598"/>
                  </a:cubicBezTo>
                  <a:lnTo>
                    <a:pt x="31181" y="579598"/>
                  </a:lnTo>
                  <a:cubicBezTo>
                    <a:pt x="13960" y="579598"/>
                    <a:pt x="0" y="565638"/>
                    <a:pt x="0" y="548418"/>
                  </a:cubicBezTo>
                  <a:lnTo>
                    <a:pt x="0" y="31181"/>
                  </a:lnTo>
                  <a:cubicBezTo>
                    <a:pt x="0" y="13960"/>
                    <a:pt x="13960" y="0"/>
                    <a:pt x="31181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6"/>
            <p:cNvSpPr txBox="1"/>
            <p:nvPr/>
          </p:nvSpPr>
          <p:spPr>
            <a:xfrm>
              <a:off x="0" y="85725"/>
              <a:ext cx="1246759" cy="493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6" name="Google Shape;786;p36"/>
          <p:cNvSpPr/>
          <p:nvPr/>
        </p:nvSpPr>
        <p:spPr>
          <a:xfrm>
            <a:off x="8225635" y="2650699"/>
            <a:ext cx="480689" cy="480689"/>
          </a:xfrm>
          <a:custGeom>
            <a:rect b="b" l="l" r="r" t="t"/>
            <a:pathLst>
              <a:path extrusionOk="0" h="961378" w="961378">
                <a:moveTo>
                  <a:pt x="0" y="0"/>
                </a:moveTo>
                <a:lnTo>
                  <a:pt x="961378" y="0"/>
                </a:lnTo>
                <a:lnTo>
                  <a:pt x="961378" y="961378"/>
                </a:lnTo>
                <a:lnTo>
                  <a:pt x="0" y="961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7" name="Google Shape;787;p36"/>
          <p:cNvSpPr/>
          <p:nvPr/>
        </p:nvSpPr>
        <p:spPr>
          <a:xfrm>
            <a:off x="6513006" y="3131388"/>
            <a:ext cx="1976313" cy="840844"/>
          </a:xfrm>
          <a:custGeom>
            <a:rect b="b" l="l" r="r" t="t"/>
            <a:pathLst>
              <a:path extrusionOk="0" h="1681687" w="3952626">
                <a:moveTo>
                  <a:pt x="0" y="0"/>
                </a:moveTo>
                <a:lnTo>
                  <a:pt x="3952626" y="0"/>
                </a:lnTo>
                <a:lnTo>
                  <a:pt x="3952626" y="1681687"/>
                </a:lnTo>
                <a:lnTo>
                  <a:pt x="0" y="1681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8" name="Google Shape;788;p36"/>
          <p:cNvSpPr txBox="1"/>
          <p:nvPr/>
        </p:nvSpPr>
        <p:spPr>
          <a:xfrm>
            <a:off x="514350" y="590550"/>
            <a:ext cx="1912108" cy="29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Funciones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6"/>
          <p:cNvSpPr txBox="1"/>
          <p:nvPr/>
        </p:nvSpPr>
        <p:spPr>
          <a:xfrm>
            <a:off x="862317" y="1229994"/>
            <a:ext cx="7068446" cy="310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Python, una </a:t>
            </a:r>
            <a:r>
              <a:rPr b="1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función </a:t>
            </a: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bloque de código reutilizable que realiza una tarea específica. Las funciones pueden tomar cero o más argumentos como entrada, realizar cálculos basados en esos argumentos y devolver un resultado opcionalmente.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6"/>
          <p:cNvSpPr txBox="1"/>
          <p:nvPr/>
        </p:nvSpPr>
        <p:spPr>
          <a:xfrm>
            <a:off x="6719650" y="2154043"/>
            <a:ext cx="1505985" cy="679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También existen funciones que están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4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disponibles después de ser importadas.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7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796" name="Google Shape;796;p37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7" name="Google Shape;797;p37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8" name="Google Shape;798;p37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9" name="Google Shape;799;p37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0" name="Google Shape;800;p37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1" name="Google Shape;801;p37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2" name="Google Shape;802;p37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3" name="Google Shape;803;p37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4" name="Google Shape;804;p37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5" name="Google Shape;805;p37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06" name="Google Shape;806;p37"/>
          <p:cNvGrpSpPr/>
          <p:nvPr/>
        </p:nvGrpSpPr>
        <p:grpSpPr>
          <a:xfrm>
            <a:off x="640406" y="1290290"/>
            <a:ext cx="7512270" cy="789238"/>
            <a:chOff x="0" y="0"/>
            <a:chExt cx="5029588" cy="528408"/>
          </a:xfrm>
        </p:grpSpPr>
        <p:sp>
          <p:nvSpPr>
            <p:cNvPr id="807" name="Google Shape;807;p37"/>
            <p:cNvSpPr/>
            <p:nvPr/>
          </p:nvSpPr>
          <p:spPr>
            <a:xfrm>
              <a:off x="0" y="0"/>
              <a:ext cx="5029588" cy="528408"/>
            </a:xfrm>
            <a:custGeom>
              <a:rect b="b" l="l" r="r" t="t"/>
              <a:pathLst>
                <a:path extrusionOk="0" h="528408" w="5029588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7"/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9" name="Google Shape;809;p37"/>
          <p:cNvSpPr/>
          <p:nvPr/>
        </p:nvSpPr>
        <p:spPr>
          <a:xfrm>
            <a:off x="805885" y="2516582"/>
            <a:ext cx="2898777" cy="1008605"/>
          </a:xfrm>
          <a:custGeom>
            <a:rect b="b" l="l" r="r" t="t"/>
            <a:pathLst>
              <a:path extrusionOk="0" h="2017210" w="5797553">
                <a:moveTo>
                  <a:pt x="0" y="0"/>
                </a:moveTo>
                <a:lnTo>
                  <a:pt x="5797553" y="0"/>
                </a:lnTo>
                <a:lnTo>
                  <a:pt x="5797553" y="2017210"/>
                </a:lnTo>
                <a:lnTo>
                  <a:pt x="0" y="2017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0" name="Google Shape;810;p37"/>
          <p:cNvSpPr/>
          <p:nvPr/>
        </p:nvSpPr>
        <p:spPr>
          <a:xfrm>
            <a:off x="5519261" y="2609935"/>
            <a:ext cx="2633413" cy="956565"/>
          </a:xfrm>
          <a:custGeom>
            <a:rect b="b" l="l" r="r" t="t"/>
            <a:pathLst>
              <a:path extrusionOk="0" h="1913131" w="5266827">
                <a:moveTo>
                  <a:pt x="0" y="0"/>
                </a:moveTo>
                <a:lnTo>
                  <a:pt x="5266827" y="0"/>
                </a:lnTo>
                <a:lnTo>
                  <a:pt x="5266827" y="1913131"/>
                </a:lnTo>
                <a:lnTo>
                  <a:pt x="0" y="1913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1" name="Google Shape;811;p37"/>
          <p:cNvSpPr txBox="1"/>
          <p:nvPr/>
        </p:nvSpPr>
        <p:spPr>
          <a:xfrm>
            <a:off x="514350" y="887016"/>
            <a:ext cx="1986005" cy="29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Iteraciones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7"/>
          <p:cNvSpPr txBox="1"/>
          <p:nvPr/>
        </p:nvSpPr>
        <p:spPr>
          <a:xfrm>
            <a:off x="887909" y="1522303"/>
            <a:ext cx="7068446" cy="310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Python, las </a:t>
            </a:r>
            <a:r>
              <a:rPr b="1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iteraciones </a:t>
            </a: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refieren a la capacidad de repetir un bloque de código varias veces. Esto se puede lograr utilizando bucles como for y while.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7"/>
          <p:cNvSpPr txBox="1"/>
          <p:nvPr/>
        </p:nvSpPr>
        <p:spPr>
          <a:xfrm>
            <a:off x="640406" y="2270327"/>
            <a:ext cx="694363" cy="24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7"/>
          <p:cNvSpPr txBox="1"/>
          <p:nvPr/>
        </p:nvSpPr>
        <p:spPr>
          <a:xfrm>
            <a:off x="7452066" y="2363680"/>
            <a:ext cx="700609" cy="24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While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7"/>
          <p:cNvSpPr txBox="1"/>
          <p:nvPr/>
        </p:nvSpPr>
        <p:spPr>
          <a:xfrm>
            <a:off x="762732" y="4038142"/>
            <a:ext cx="1131745" cy="200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" sz="16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Range: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6" name="Google Shape;816;p37"/>
          <p:cNvGrpSpPr/>
          <p:nvPr/>
        </p:nvGrpSpPr>
        <p:grpSpPr>
          <a:xfrm>
            <a:off x="1753032" y="4051191"/>
            <a:ext cx="2072930" cy="349452"/>
            <a:chOff x="0" y="0"/>
            <a:chExt cx="1387861" cy="233964"/>
          </a:xfrm>
        </p:grpSpPr>
        <p:sp>
          <p:nvSpPr>
            <p:cNvPr id="817" name="Google Shape;817;p37"/>
            <p:cNvSpPr/>
            <p:nvPr/>
          </p:nvSpPr>
          <p:spPr>
            <a:xfrm>
              <a:off x="0" y="0"/>
              <a:ext cx="1387861" cy="233964"/>
            </a:xfrm>
            <a:custGeom>
              <a:rect b="b" l="l" r="r" t="t"/>
              <a:pathLst>
                <a:path extrusionOk="0" h="233964" w="1387861">
                  <a:moveTo>
                    <a:pt x="28011" y="0"/>
                  </a:moveTo>
                  <a:lnTo>
                    <a:pt x="1359850" y="0"/>
                  </a:lnTo>
                  <a:cubicBezTo>
                    <a:pt x="1367279" y="0"/>
                    <a:pt x="1374404" y="2951"/>
                    <a:pt x="1379657" y="8204"/>
                  </a:cubicBezTo>
                  <a:cubicBezTo>
                    <a:pt x="1384910" y="13457"/>
                    <a:pt x="1387861" y="20582"/>
                    <a:pt x="1387861" y="28011"/>
                  </a:cubicBezTo>
                  <a:lnTo>
                    <a:pt x="1387861" y="205953"/>
                  </a:lnTo>
                  <a:cubicBezTo>
                    <a:pt x="1387861" y="221423"/>
                    <a:pt x="1375320" y="233964"/>
                    <a:pt x="1359850" y="233964"/>
                  </a:cubicBezTo>
                  <a:lnTo>
                    <a:pt x="28011" y="233964"/>
                  </a:lnTo>
                  <a:cubicBezTo>
                    <a:pt x="20582" y="233964"/>
                    <a:pt x="13457" y="231013"/>
                    <a:pt x="8204" y="225760"/>
                  </a:cubicBezTo>
                  <a:cubicBezTo>
                    <a:pt x="2951" y="220507"/>
                    <a:pt x="0" y="213382"/>
                    <a:pt x="0" y="205953"/>
                  </a:cubicBezTo>
                  <a:lnTo>
                    <a:pt x="0" y="28011"/>
                  </a:lnTo>
                  <a:cubicBezTo>
                    <a:pt x="0" y="20582"/>
                    <a:pt x="2951" y="13457"/>
                    <a:pt x="8204" y="8204"/>
                  </a:cubicBezTo>
                  <a:cubicBezTo>
                    <a:pt x="13457" y="2951"/>
                    <a:pt x="20582" y="0"/>
                    <a:pt x="28011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7"/>
            <p:cNvSpPr txBox="1"/>
            <p:nvPr/>
          </p:nvSpPr>
          <p:spPr>
            <a:xfrm>
              <a:off x="0" y="85725"/>
              <a:ext cx="1387861" cy="148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9" name="Google Shape;819;p37"/>
          <p:cNvSpPr txBox="1"/>
          <p:nvPr/>
        </p:nvSpPr>
        <p:spPr>
          <a:xfrm>
            <a:off x="1814539" y="4117866"/>
            <a:ext cx="2254210" cy="429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range(start, stop, step)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0" name="Google Shape;820;p37"/>
          <p:cNvGrpSpPr/>
          <p:nvPr/>
        </p:nvGrpSpPr>
        <p:grpSpPr>
          <a:xfrm>
            <a:off x="4244937" y="3957994"/>
            <a:ext cx="1451029" cy="1135371"/>
            <a:chOff x="0" y="0"/>
            <a:chExt cx="971488" cy="760150"/>
          </a:xfrm>
        </p:grpSpPr>
        <p:sp>
          <p:nvSpPr>
            <p:cNvPr id="821" name="Google Shape;821;p37"/>
            <p:cNvSpPr/>
            <p:nvPr/>
          </p:nvSpPr>
          <p:spPr>
            <a:xfrm>
              <a:off x="0" y="0"/>
              <a:ext cx="971488" cy="760150"/>
            </a:xfrm>
            <a:custGeom>
              <a:rect b="b" l="l" r="r" t="t"/>
              <a:pathLst>
                <a:path extrusionOk="0" h="760150" w="971488">
                  <a:moveTo>
                    <a:pt x="40016" y="0"/>
                  </a:moveTo>
                  <a:lnTo>
                    <a:pt x="931472" y="0"/>
                  </a:lnTo>
                  <a:cubicBezTo>
                    <a:pt x="942084" y="0"/>
                    <a:pt x="952263" y="4216"/>
                    <a:pt x="959767" y="11720"/>
                  </a:cubicBezTo>
                  <a:cubicBezTo>
                    <a:pt x="967272" y="19225"/>
                    <a:pt x="971488" y="29403"/>
                    <a:pt x="971488" y="40016"/>
                  </a:cubicBezTo>
                  <a:lnTo>
                    <a:pt x="971488" y="720134"/>
                  </a:lnTo>
                  <a:cubicBezTo>
                    <a:pt x="971488" y="742234"/>
                    <a:pt x="953572" y="760150"/>
                    <a:pt x="931472" y="760150"/>
                  </a:cubicBezTo>
                  <a:lnTo>
                    <a:pt x="40016" y="760150"/>
                  </a:lnTo>
                  <a:cubicBezTo>
                    <a:pt x="29403" y="760150"/>
                    <a:pt x="19225" y="755934"/>
                    <a:pt x="11720" y="748430"/>
                  </a:cubicBezTo>
                  <a:cubicBezTo>
                    <a:pt x="4216" y="740925"/>
                    <a:pt x="0" y="730747"/>
                    <a:pt x="0" y="720134"/>
                  </a:cubicBezTo>
                  <a:lnTo>
                    <a:pt x="0" y="40016"/>
                  </a:lnTo>
                  <a:cubicBezTo>
                    <a:pt x="0" y="29403"/>
                    <a:pt x="4216" y="19225"/>
                    <a:pt x="11720" y="11720"/>
                  </a:cubicBezTo>
                  <a:cubicBezTo>
                    <a:pt x="19225" y="4216"/>
                    <a:pt x="29403" y="0"/>
                    <a:pt x="40016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7"/>
            <p:cNvSpPr txBox="1"/>
            <p:nvPr/>
          </p:nvSpPr>
          <p:spPr>
            <a:xfrm>
              <a:off x="0" y="85725"/>
              <a:ext cx="971488" cy="67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" name="Google Shape;823;p37"/>
          <p:cNvSpPr txBox="1"/>
          <p:nvPr/>
        </p:nvSpPr>
        <p:spPr>
          <a:xfrm>
            <a:off x="4362407" y="4010264"/>
            <a:ext cx="549528" cy="20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start: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4" name="Google Shape;824;p37"/>
          <p:cNvGrpSpPr/>
          <p:nvPr/>
        </p:nvGrpSpPr>
        <p:grpSpPr>
          <a:xfrm>
            <a:off x="5851971" y="3957994"/>
            <a:ext cx="1451029" cy="1135371"/>
            <a:chOff x="0" y="0"/>
            <a:chExt cx="971488" cy="760150"/>
          </a:xfrm>
        </p:grpSpPr>
        <p:sp>
          <p:nvSpPr>
            <p:cNvPr id="825" name="Google Shape;825;p37"/>
            <p:cNvSpPr/>
            <p:nvPr/>
          </p:nvSpPr>
          <p:spPr>
            <a:xfrm>
              <a:off x="0" y="0"/>
              <a:ext cx="971488" cy="760150"/>
            </a:xfrm>
            <a:custGeom>
              <a:rect b="b" l="l" r="r" t="t"/>
              <a:pathLst>
                <a:path extrusionOk="0" h="760150" w="971488">
                  <a:moveTo>
                    <a:pt x="40016" y="0"/>
                  </a:moveTo>
                  <a:lnTo>
                    <a:pt x="931472" y="0"/>
                  </a:lnTo>
                  <a:cubicBezTo>
                    <a:pt x="942084" y="0"/>
                    <a:pt x="952263" y="4216"/>
                    <a:pt x="959767" y="11720"/>
                  </a:cubicBezTo>
                  <a:cubicBezTo>
                    <a:pt x="967272" y="19225"/>
                    <a:pt x="971488" y="29403"/>
                    <a:pt x="971488" y="40016"/>
                  </a:cubicBezTo>
                  <a:lnTo>
                    <a:pt x="971488" y="720134"/>
                  </a:lnTo>
                  <a:cubicBezTo>
                    <a:pt x="971488" y="742234"/>
                    <a:pt x="953572" y="760150"/>
                    <a:pt x="931472" y="760150"/>
                  </a:cubicBezTo>
                  <a:lnTo>
                    <a:pt x="40016" y="760150"/>
                  </a:lnTo>
                  <a:cubicBezTo>
                    <a:pt x="29403" y="760150"/>
                    <a:pt x="19225" y="755934"/>
                    <a:pt x="11720" y="748430"/>
                  </a:cubicBezTo>
                  <a:cubicBezTo>
                    <a:pt x="4216" y="740925"/>
                    <a:pt x="0" y="730747"/>
                    <a:pt x="0" y="720134"/>
                  </a:cubicBezTo>
                  <a:lnTo>
                    <a:pt x="0" y="40016"/>
                  </a:lnTo>
                  <a:cubicBezTo>
                    <a:pt x="0" y="29403"/>
                    <a:pt x="4216" y="19225"/>
                    <a:pt x="11720" y="11720"/>
                  </a:cubicBezTo>
                  <a:cubicBezTo>
                    <a:pt x="19225" y="4216"/>
                    <a:pt x="29403" y="0"/>
                    <a:pt x="40016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7"/>
            <p:cNvSpPr txBox="1"/>
            <p:nvPr/>
          </p:nvSpPr>
          <p:spPr>
            <a:xfrm>
              <a:off x="0" y="85725"/>
              <a:ext cx="971488" cy="67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7" name="Google Shape;827;p37"/>
          <p:cNvSpPr txBox="1"/>
          <p:nvPr/>
        </p:nvSpPr>
        <p:spPr>
          <a:xfrm>
            <a:off x="6027957" y="4010264"/>
            <a:ext cx="549529" cy="20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stop: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8" name="Google Shape;828;p37"/>
          <p:cNvGrpSpPr/>
          <p:nvPr/>
        </p:nvGrpSpPr>
        <p:grpSpPr>
          <a:xfrm>
            <a:off x="7460162" y="3957994"/>
            <a:ext cx="1451029" cy="1135371"/>
            <a:chOff x="0" y="0"/>
            <a:chExt cx="971488" cy="760150"/>
          </a:xfrm>
        </p:grpSpPr>
        <p:sp>
          <p:nvSpPr>
            <p:cNvPr id="829" name="Google Shape;829;p37"/>
            <p:cNvSpPr/>
            <p:nvPr/>
          </p:nvSpPr>
          <p:spPr>
            <a:xfrm>
              <a:off x="0" y="0"/>
              <a:ext cx="971488" cy="760150"/>
            </a:xfrm>
            <a:custGeom>
              <a:rect b="b" l="l" r="r" t="t"/>
              <a:pathLst>
                <a:path extrusionOk="0" h="760150" w="971488">
                  <a:moveTo>
                    <a:pt x="40016" y="0"/>
                  </a:moveTo>
                  <a:lnTo>
                    <a:pt x="931472" y="0"/>
                  </a:lnTo>
                  <a:cubicBezTo>
                    <a:pt x="942084" y="0"/>
                    <a:pt x="952263" y="4216"/>
                    <a:pt x="959767" y="11720"/>
                  </a:cubicBezTo>
                  <a:cubicBezTo>
                    <a:pt x="967272" y="19225"/>
                    <a:pt x="971488" y="29403"/>
                    <a:pt x="971488" y="40016"/>
                  </a:cubicBezTo>
                  <a:lnTo>
                    <a:pt x="971488" y="720134"/>
                  </a:lnTo>
                  <a:cubicBezTo>
                    <a:pt x="971488" y="742234"/>
                    <a:pt x="953572" y="760150"/>
                    <a:pt x="931472" y="760150"/>
                  </a:cubicBezTo>
                  <a:lnTo>
                    <a:pt x="40016" y="760150"/>
                  </a:lnTo>
                  <a:cubicBezTo>
                    <a:pt x="29403" y="760150"/>
                    <a:pt x="19225" y="755934"/>
                    <a:pt x="11720" y="748430"/>
                  </a:cubicBezTo>
                  <a:cubicBezTo>
                    <a:pt x="4216" y="740925"/>
                    <a:pt x="0" y="730747"/>
                    <a:pt x="0" y="720134"/>
                  </a:cubicBezTo>
                  <a:lnTo>
                    <a:pt x="0" y="40016"/>
                  </a:lnTo>
                  <a:cubicBezTo>
                    <a:pt x="0" y="29403"/>
                    <a:pt x="4216" y="19225"/>
                    <a:pt x="11720" y="11720"/>
                  </a:cubicBezTo>
                  <a:cubicBezTo>
                    <a:pt x="19225" y="4216"/>
                    <a:pt x="29403" y="0"/>
                    <a:pt x="40016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7"/>
            <p:cNvSpPr txBox="1"/>
            <p:nvPr/>
          </p:nvSpPr>
          <p:spPr>
            <a:xfrm>
              <a:off x="0" y="85725"/>
              <a:ext cx="971488" cy="67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1" name="Google Shape;831;p37"/>
          <p:cNvSpPr txBox="1"/>
          <p:nvPr/>
        </p:nvSpPr>
        <p:spPr>
          <a:xfrm>
            <a:off x="7636148" y="4010264"/>
            <a:ext cx="549529" cy="20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step: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7"/>
          <p:cNvSpPr txBox="1"/>
          <p:nvPr/>
        </p:nvSpPr>
        <p:spPr>
          <a:xfrm>
            <a:off x="4365172" y="4321683"/>
            <a:ext cx="1210560" cy="60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OPCIONAL. Numero entero que define en qué posición empezar. Default es 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7"/>
          <p:cNvSpPr txBox="1"/>
          <p:nvPr/>
        </p:nvSpPr>
        <p:spPr>
          <a:xfrm>
            <a:off x="5941452" y="4293159"/>
            <a:ext cx="1272067" cy="75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OBLIGATORIO. Número entero que especifica en qué posición terminar (NO SE INCLUYE).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7"/>
          <p:cNvSpPr txBox="1"/>
          <p:nvPr/>
        </p:nvSpPr>
        <p:spPr>
          <a:xfrm>
            <a:off x="7580397" y="4321683"/>
            <a:ext cx="1210560" cy="60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OPCIONAL. Numero entero que define la incrementación. Default es 1.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8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840" name="Google Shape;840;p38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1" name="Google Shape;841;p38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2" name="Google Shape;842;p38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3" name="Google Shape;843;p38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4" name="Google Shape;844;p38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5" name="Google Shape;845;p38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6" name="Google Shape;846;p38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7" name="Google Shape;847;p38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8" name="Google Shape;848;p38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9" name="Google Shape;849;p38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0" name="Google Shape;850;p38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1" name="Google Shape;851;p38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2" name="Google Shape;852;p38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3" name="Google Shape;853;p38"/>
          <p:cNvSpPr txBox="1"/>
          <p:nvPr/>
        </p:nvSpPr>
        <p:spPr>
          <a:xfrm>
            <a:off x="1194964" y="1597377"/>
            <a:ext cx="6754073" cy="188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s" sz="57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EJEMPLO PRÁCTICO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9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859" name="Google Shape;859;p39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0" name="Google Shape;860;p39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1" name="Google Shape;861;p39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2" name="Google Shape;862;p39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3" name="Google Shape;863;p39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4" name="Google Shape;864;p39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5" name="Google Shape;865;p39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6" name="Google Shape;866;p39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7" name="Google Shape;867;p39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8" name="Google Shape;868;p39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9" name="Google Shape;869;p39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0" name="Google Shape;870;p39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1" name="Google Shape;871;p39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2" name="Google Shape;872;p39"/>
          <p:cNvSpPr/>
          <p:nvPr/>
        </p:nvSpPr>
        <p:spPr>
          <a:xfrm>
            <a:off x="571066" y="2918941"/>
            <a:ext cx="4304612" cy="1927362"/>
          </a:xfrm>
          <a:custGeom>
            <a:rect b="b" l="l" r="r" t="t"/>
            <a:pathLst>
              <a:path extrusionOk="0" h="3854724" w="8609224">
                <a:moveTo>
                  <a:pt x="0" y="0"/>
                </a:moveTo>
                <a:lnTo>
                  <a:pt x="8609225" y="0"/>
                </a:lnTo>
                <a:lnTo>
                  <a:pt x="8609225" y="3854724"/>
                </a:lnTo>
                <a:lnTo>
                  <a:pt x="0" y="38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3" name="Google Shape;873;p39"/>
          <p:cNvSpPr/>
          <p:nvPr/>
        </p:nvSpPr>
        <p:spPr>
          <a:xfrm>
            <a:off x="4091612" y="2228650"/>
            <a:ext cx="652635" cy="652636"/>
          </a:xfrm>
          <a:custGeom>
            <a:rect b="b" l="l" r="r" t="t"/>
            <a:pathLst>
              <a:path extrusionOk="0" h="1305271" w="1305271">
                <a:moveTo>
                  <a:pt x="0" y="0"/>
                </a:moveTo>
                <a:lnTo>
                  <a:pt x="1305271" y="0"/>
                </a:lnTo>
                <a:lnTo>
                  <a:pt x="1305271" y="1305271"/>
                </a:lnTo>
                <a:lnTo>
                  <a:pt x="0" y="1305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4" name="Google Shape;874;p39"/>
          <p:cNvSpPr txBox="1"/>
          <p:nvPr/>
        </p:nvSpPr>
        <p:spPr>
          <a:xfrm>
            <a:off x="318332" y="1135485"/>
            <a:ext cx="6291408" cy="5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1" i="0" lang="es" sz="4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RECOMENDACIÓN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9"/>
          <p:cNvSpPr txBox="1"/>
          <p:nvPr/>
        </p:nvSpPr>
        <p:spPr>
          <a:xfrm>
            <a:off x="514350" y="1901981"/>
            <a:ext cx="4229898" cy="289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CURSO GRATIS DE SOLOLEARN: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9"/>
          <p:cNvSpPr txBox="1"/>
          <p:nvPr/>
        </p:nvSpPr>
        <p:spPr>
          <a:xfrm>
            <a:off x="4336242" y="2448675"/>
            <a:ext cx="4229897" cy="289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" sz="22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9"/>
              </a:rPr>
              <a:t>PYTHON FOR BEGGINERS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0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882" name="Google Shape;882;p40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3" name="Google Shape;883;p40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4" name="Google Shape;884;p40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5" name="Google Shape;885;p40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6" name="Google Shape;886;p40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7" name="Google Shape;887;p40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8" name="Google Shape;888;p40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9" name="Google Shape;889;p40"/>
          <p:cNvSpPr/>
          <p:nvPr/>
        </p:nvSpPr>
        <p:spPr>
          <a:xfrm rot="4741666">
            <a:off x="-1480973" y="1832278"/>
            <a:ext cx="2443761" cy="1365451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0" name="Google Shape;890;p40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1" name="Google Shape;891;p40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2" name="Google Shape;892;p40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3" name="Google Shape;893;p40"/>
          <p:cNvSpPr/>
          <p:nvPr/>
        </p:nvSpPr>
        <p:spPr>
          <a:xfrm rot="-5279728">
            <a:off x="8220571" y="3485016"/>
            <a:ext cx="1692529" cy="577575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4" name="Google Shape;894;p40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5" name="Google Shape;895;p40"/>
          <p:cNvSpPr txBox="1"/>
          <p:nvPr/>
        </p:nvSpPr>
        <p:spPr>
          <a:xfrm>
            <a:off x="1320270" y="1084963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6" name="Google Shape;896;p40"/>
          <p:cNvSpPr txBox="1"/>
          <p:nvPr/>
        </p:nvSpPr>
        <p:spPr>
          <a:xfrm>
            <a:off x="3172793" y="2515317"/>
            <a:ext cx="34557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Aca se colocaran conceptos cortos  pero fundamentales para el tema visto.  (analisis y sintesis)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1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902" name="Google Shape;902;p41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3" name="Google Shape;903;p41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4" name="Google Shape;904;p41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5" name="Google Shape;905;p41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6" name="Google Shape;906;p41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7" name="Google Shape;907;p41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8" name="Google Shape;908;p41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9" name="Google Shape;909;p41"/>
          <p:cNvSpPr/>
          <p:nvPr/>
        </p:nvSpPr>
        <p:spPr>
          <a:xfrm rot="4741666">
            <a:off x="-1480973" y="1832278"/>
            <a:ext cx="2443761" cy="1365451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0" name="Google Shape;910;p41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1" name="Google Shape;911;p41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2" name="Google Shape;912;p41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3" name="Google Shape;913;p41"/>
          <p:cNvSpPr/>
          <p:nvPr/>
        </p:nvSpPr>
        <p:spPr>
          <a:xfrm rot="-5279728">
            <a:off x="8220571" y="3485016"/>
            <a:ext cx="1692529" cy="577575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4" name="Google Shape;914;p41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5" name="Google Shape;915;p41"/>
          <p:cNvSpPr txBox="1"/>
          <p:nvPr/>
        </p:nvSpPr>
        <p:spPr>
          <a:xfrm>
            <a:off x="1320270" y="1084963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16" name="Google Shape;916;p41"/>
          <p:cNvSpPr txBox="1"/>
          <p:nvPr/>
        </p:nvSpPr>
        <p:spPr>
          <a:xfrm>
            <a:off x="938724" y="1736825"/>
            <a:ext cx="696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1416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Python es un lenguaje de programación fácil de aprender y usar. Es muy popular porque permite escribir código de manera clara y sencilla</a:t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variable puede almacenar el resultado de una expresión.</a:t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sentencia puede usar variables y expresiones para ejecutar una acción.</a:t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2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922" name="Google Shape;922;p42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3" name="Google Shape;923;p42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4" name="Google Shape;924;p42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5" name="Google Shape;925;p42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6" name="Google Shape;926;p42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7" name="Google Shape;927;p42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8" name="Google Shape;928;p42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9" name="Google Shape;929;p42"/>
          <p:cNvSpPr/>
          <p:nvPr/>
        </p:nvSpPr>
        <p:spPr>
          <a:xfrm rot="4741666">
            <a:off x="-1480973" y="1832278"/>
            <a:ext cx="2443761" cy="1365451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0" name="Google Shape;930;p42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1" name="Google Shape;931;p42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2" name="Google Shape;932;p42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3" name="Google Shape;933;p42"/>
          <p:cNvSpPr/>
          <p:nvPr/>
        </p:nvSpPr>
        <p:spPr>
          <a:xfrm rot="-5279728">
            <a:off x="8220571" y="3485016"/>
            <a:ext cx="1692529" cy="577575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4" name="Google Shape;934;p42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5" name="Google Shape;935;p42"/>
          <p:cNvSpPr txBox="1"/>
          <p:nvPr/>
        </p:nvSpPr>
        <p:spPr>
          <a:xfrm>
            <a:off x="1312837" y="1155738"/>
            <a:ext cx="66477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36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 "Todos deberían ser respetados como individuos, pero ninguno idealizado". </a:t>
            </a:r>
            <a:endParaRPr b="0" i="0" sz="3600" u="none" cap="none" strike="noStrike">
              <a:solidFill>
                <a:srgbClr val="131416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2400" u="none" cap="none" strike="noStrike">
                <a:solidFill>
                  <a:srgbClr val="131416"/>
                </a:solidFill>
                <a:latin typeface="DM Sans"/>
                <a:ea typeface="DM Sans"/>
                <a:cs typeface="DM Sans"/>
                <a:sym typeface="DM Sans"/>
              </a:rPr>
              <a:t>Albert Einstein.</a:t>
            </a:r>
            <a:endParaRPr b="0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3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35" l="-71846" r="-74126" t="-3624"/>
            </a:stretch>
          </a:blipFill>
          <a:ln>
            <a:noFill/>
          </a:ln>
        </p:spPr>
      </p:sp>
      <p:sp>
        <p:nvSpPr>
          <p:cNvPr id="941" name="Google Shape;941;p43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2" name="Google Shape;942;p43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3" name="Google Shape;943;p43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4" name="Google Shape;944;p43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5" name="Google Shape;945;p43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6" name="Google Shape;946;p43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7" name="Google Shape;947;p43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8" name="Google Shape;948;p43"/>
          <p:cNvSpPr/>
          <p:nvPr/>
        </p:nvSpPr>
        <p:spPr>
          <a:xfrm rot="4741666">
            <a:off x="-1480973" y="1832278"/>
            <a:ext cx="2443761" cy="1365451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9" name="Google Shape;949;p43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0" name="Google Shape;950;p43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1" name="Google Shape;951;p43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2" name="Google Shape;952;p43"/>
          <p:cNvSpPr/>
          <p:nvPr/>
        </p:nvSpPr>
        <p:spPr>
          <a:xfrm rot="-5279728">
            <a:off x="8220571" y="3485016"/>
            <a:ext cx="1692529" cy="577575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3" name="Google Shape;953;p43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4" name="Google Shape;954;p43"/>
          <p:cNvSpPr txBox="1"/>
          <p:nvPr/>
        </p:nvSpPr>
        <p:spPr>
          <a:xfrm>
            <a:off x="1320270" y="1084963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 b="0" i="0" sz="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5" name="Google Shape;955;p43"/>
          <p:cNvSpPr txBox="1"/>
          <p:nvPr/>
        </p:nvSpPr>
        <p:spPr>
          <a:xfrm>
            <a:off x="938724" y="1736825"/>
            <a:ext cx="69633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1416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What is Python? Python Software Python (3.12.1 Documentation) General Python FAQ  </a:t>
            </a:r>
            <a:r>
              <a:rPr b="0" i="0" lang="e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https://docs.python.org/3/faq/general.html#what-is-python</a:t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Tipos de Datos </a:t>
            </a:r>
            <a:r>
              <a:rPr b="0" i="0" lang="e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https://techkrowd.com/programacion/python/python-tipos-de-datos/#google_vignette</a:t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00"/>
              <a:buFont typeface="Arial"/>
              <a:buChar char="●"/>
            </a:pPr>
            <a:r>
              <a:rPr b="0" i="0" lang="es" sz="16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Sintaxis de Python </a:t>
            </a:r>
            <a:r>
              <a:rPr b="0" i="0" lang="e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https://www.luisllamas.es/curso-python-introduccion/</a:t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4"/>
          <p:cNvSpPr/>
          <p:nvPr/>
        </p:nvSpPr>
        <p:spPr>
          <a:xfrm rot="-5400000">
            <a:off x="2000250" y="-2000250"/>
            <a:ext cx="5143500" cy="9144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42" l="-71843" r="-74128" t="-3623"/>
            </a:stretch>
          </a:blipFill>
          <a:ln>
            <a:noFill/>
          </a:ln>
        </p:spPr>
      </p:sp>
      <p:sp>
        <p:nvSpPr>
          <p:cNvPr id="961" name="Google Shape;961;p44"/>
          <p:cNvSpPr/>
          <p:nvPr/>
        </p:nvSpPr>
        <p:spPr>
          <a:xfrm>
            <a:off x="-1164699" y="4307447"/>
            <a:ext cx="2449974" cy="1672107"/>
          </a:xfrm>
          <a:custGeom>
            <a:rect b="b" l="l" r="r" t="t"/>
            <a:pathLst>
              <a:path extrusionOk="0"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2" name="Google Shape;962;p44"/>
          <p:cNvSpPr/>
          <p:nvPr/>
        </p:nvSpPr>
        <p:spPr>
          <a:xfrm>
            <a:off x="3015355" y="4629150"/>
            <a:ext cx="1529915" cy="375525"/>
          </a:xfrm>
          <a:custGeom>
            <a:rect b="b" l="l" r="r" t="t"/>
            <a:pathLst>
              <a:path extrusionOk="0"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3" name="Google Shape;963;p44"/>
          <p:cNvSpPr/>
          <p:nvPr/>
        </p:nvSpPr>
        <p:spPr>
          <a:xfrm>
            <a:off x="7107602" y="4270068"/>
            <a:ext cx="2301157" cy="1809285"/>
          </a:xfrm>
          <a:custGeom>
            <a:rect b="b" l="l" r="r" t="t"/>
            <a:pathLst>
              <a:path extrusionOk="0"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4" name="Google Shape;964;p44"/>
          <p:cNvSpPr/>
          <p:nvPr/>
        </p:nvSpPr>
        <p:spPr>
          <a:xfrm>
            <a:off x="-337078" y="-536315"/>
            <a:ext cx="2449974" cy="1534296"/>
          </a:xfrm>
          <a:custGeom>
            <a:rect b="b" l="l" r="r" t="t"/>
            <a:pathLst>
              <a:path extrusionOk="0"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5" name="Google Shape;965;p44"/>
          <p:cNvSpPr/>
          <p:nvPr/>
        </p:nvSpPr>
        <p:spPr>
          <a:xfrm>
            <a:off x="6343107" y="-1289096"/>
            <a:ext cx="2146212" cy="1935493"/>
          </a:xfrm>
          <a:custGeom>
            <a:rect b="b" l="l" r="r" t="t"/>
            <a:pathLst>
              <a:path extrusionOk="0"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6" name="Google Shape;966;p44"/>
          <p:cNvSpPr/>
          <p:nvPr/>
        </p:nvSpPr>
        <p:spPr>
          <a:xfrm>
            <a:off x="5069468" y="4629150"/>
            <a:ext cx="2038135" cy="1431790"/>
          </a:xfrm>
          <a:custGeom>
            <a:rect b="b" l="l" r="r" t="t"/>
            <a:pathLst>
              <a:path extrusionOk="0"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7" name="Google Shape;967;p44"/>
          <p:cNvSpPr/>
          <p:nvPr/>
        </p:nvSpPr>
        <p:spPr>
          <a:xfrm>
            <a:off x="3704661" y="-1350050"/>
            <a:ext cx="2746529" cy="2057400"/>
          </a:xfrm>
          <a:custGeom>
            <a:rect b="b" l="l" r="r" t="t"/>
            <a:pathLst>
              <a:path extrusionOk="0"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8" name="Google Shape;968;p44"/>
          <p:cNvSpPr/>
          <p:nvPr/>
        </p:nvSpPr>
        <p:spPr>
          <a:xfrm rot="4747568">
            <a:off x="-1486171" y="1832659"/>
            <a:ext cx="2448048" cy="1367847"/>
          </a:xfrm>
          <a:custGeom>
            <a:rect b="b" l="l" r="r" t="t"/>
            <a:pathLst>
              <a:path extrusionOk="0"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9" name="Google Shape;969;p44"/>
          <p:cNvSpPr/>
          <p:nvPr/>
        </p:nvSpPr>
        <p:spPr>
          <a:xfrm>
            <a:off x="2415741" y="-813253"/>
            <a:ext cx="1446381" cy="1459651"/>
          </a:xfrm>
          <a:custGeom>
            <a:rect b="b" l="l" r="r" t="t"/>
            <a:pathLst>
              <a:path extrusionOk="0"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0" name="Google Shape;970;p44"/>
          <p:cNvSpPr/>
          <p:nvPr/>
        </p:nvSpPr>
        <p:spPr>
          <a:xfrm>
            <a:off x="8629650" y="1131171"/>
            <a:ext cx="1787771" cy="1787771"/>
          </a:xfrm>
          <a:custGeom>
            <a:rect b="b" l="l" r="r" t="t"/>
            <a:pathLst>
              <a:path extrusionOk="0"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1" name="Google Shape;971;p44"/>
          <p:cNvSpPr/>
          <p:nvPr/>
        </p:nvSpPr>
        <p:spPr>
          <a:xfrm>
            <a:off x="1285275" y="4546869"/>
            <a:ext cx="1293510" cy="1193263"/>
          </a:xfrm>
          <a:custGeom>
            <a:rect b="b" l="l" r="r" t="t"/>
            <a:pathLst>
              <a:path extrusionOk="0"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2" name="Google Shape;972;p44"/>
          <p:cNvSpPr/>
          <p:nvPr/>
        </p:nvSpPr>
        <p:spPr>
          <a:xfrm rot="-5282649">
            <a:off x="8220185" y="3485435"/>
            <a:ext cx="1691494" cy="577222"/>
          </a:xfrm>
          <a:custGeom>
            <a:rect b="b" l="l" r="r" t="t"/>
            <a:pathLst>
              <a:path extrusionOk="0"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3" name="Google Shape;973;p44"/>
          <p:cNvSpPr/>
          <p:nvPr/>
        </p:nvSpPr>
        <p:spPr>
          <a:xfrm>
            <a:off x="8489319" y="-321322"/>
            <a:ext cx="1552261" cy="1671344"/>
          </a:xfrm>
          <a:custGeom>
            <a:rect b="b" l="l" r="r" t="t"/>
            <a:pathLst>
              <a:path extrusionOk="0"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4" name="Google Shape;974;p44"/>
          <p:cNvSpPr txBox="1"/>
          <p:nvPr/>
        </p:nvSpPr>
        <p:spPr>
          <a:xfrm>
            <a:off x="2218898" y="1694552"/>
            <a:ext cx="43296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75" name="Google Shape;975;p44"/>
          <p:cNvSpPr txBox="1"/>
          <p:nvPr/>
        </p:nvSpPr>
        <p:spPr>
          <a:xfrm>
            <a:off x="2707357" y="2979052"/>
            <a:ext cx="335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4"/>
          <p:cNvSpPr/>
          <p:nvPr/>
        </p:nvSpPr>
        <p:spPr>
          <a:xfrm>
            <a:off x="6981876" y="514350"/>
            <a:ext cx="1378634" cy="1885485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7" name="Google Shape;977;p44"/>
          <p:cNvSpPr txBox="1"/>
          <p:nvPr/>
        </p:nvSpPr>
        <p:spPr>
          <a:xfrm>
            <a:off x="1205549" y="3949868"/>
            <a:ext cx="6732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