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673850" cx="11430000"/>
  <p:notesSz cx="11430000" cy="6673850"/>
  <p:embeddedFontLs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LKhGIl9KRYkfoaMk8SeHQb1IA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5C85DD-C1DD-427A-9165-CCEF0B0617F7}">
  <a:tblStyle styleId="{ED5C85DD-C1DD-427A-9165-CCEF0B0617F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OpenSan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953000" cy="33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473825" y="0"/>
            <a:ext cx="4953000" cy="33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338888"/>
            <a:ext cx="4953000" cy="334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473825" y="6338888"/>
            <a:ext cx="4953000" cy="334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6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7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7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8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9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9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0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0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1:notes"/>
          <p:cNvSpPr/>
          <p:nvPr>
            <p:ph idx="2" type="sldImg"/>
          </p:nvPr>
        </p:nvSpPr>
        <p:spPr>
          <a:xfrm>
            <a:off x="3787775" y="835025"/>
            <a:ext cx="3854450" cy="2251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21:notes"/>
          <p:cNvSpPr txBox="1"/>
          <p:nvPr>
            <p:ph idx="1" type="body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1:notes"/>
          <p:cNvSpPr txBox="1"/>
          <p:nvPr>
            <p:ph idx="12" type="sldNum"/>
          </p:nvPr>
        </p:nvSpPr>
        <p:spPr>
          <a:xfrm>
            <a:off x="6473825" y="6338888"/>
            <a:ext cx="4953000" cy="334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/>
          <p:nvPr>
            <p:ph type="title"/>
          </p:nvPr>
        </p:nvSpPr>
        <p:spPr>
          <a:xfrm>
            <a:off x="2866137" y="211690"/>
            <a:ext cx="569785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" type="body"/>
          </p:nvPr>
        </p:nvSpPr>
        <p:spPr>
          <a:xfrm>
            <a:off x="609498" y="1528780"/>
            <a:ext cx="10210800" cy="3579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886200" y="6206680"/>
            <a:ext cx="36576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571500" y="6206680"/>
            <a:ext cx="26289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2866137" y="211690"/>
            <a:ext cx="569785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" type="body"/>
          </p:nvPr>
        </p:nvSpPr>
        <p:spPr>
          <a:xfrm>
            <a:off x="571500" y="1534985"/>
            <a:ext cx="4972050" cy="4404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2" type="body"/>
          </p:nvPr>
        </p:nvSpPr>
        <p:spPr>
          <a:xfrm>
            <a:off x="6596982" y="1057667"/>
            <a:ext cx="4385945" cy="391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1" type="ftr"/>
          </p:nvPr>
        </p:nvSpPr>
        <p:spPr>
          <a:xfrm>
            <a:off x="3886200" y="6206680"/>
            <a:ext cx="36576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0" type="dt"/>
          </p:nvPr>
        </p:nvSpPr>
        <p:spPr>
          <a:xfrm>
            <a:off x="571500" y="6206680"/>
            <a:ext cx="26289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idx="11" type="ftr"/>
          </p:nvPr>
        </p:nvSpPr>
        <p:spPr>
          <a:xfrm>
            <a:off x="3886200" y="6206680"/>
            <a:ext cx="36576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0" type="dt"/>
          </p:nvPr>
        </p:nvSpPr>
        <p:spPr>
          <a:xfrm>
            <a:off x="571500" y="6206680"/>
            <a:ext cx="26289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ctrTitle"/>
          </p:nvPr>
        </p:nvSpPr>
        <p:spPr>
          <a:xfrm>
            <a:off x="857250" y="2068893"/>
            <a:ext cx="9715500" cy="1401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subTitle"/>
          </p:nvPr>
        </p:nvSpPr>
        <p:spPr>
          <a:xfrm>
            <a:off x="1714500" y="3737356"/>
            <a:ext cx="8001000" cy="166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1" type="ftr"/>
          </p:nvPr>
        </p:nvSpPr>
        <p:spPr>
          <a:xfrm>
            <a:off x="3886200" y="6206680"/>
            <a:ext cx="36576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571500" y="6206680"/>
            <a:ext cx="26289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2866137" y="211690"/>
            <a:ext cx="569785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1" type="ftr"/>
          </p:nvPr>
        </p:nvSpPr>
        <p:spPr>
          <a:xfrm>
            <a:off x="3886200" y="6206680"/>
            <a:ext cx="36576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571500" y="6206680"/>
            <a:ext cx="26289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/>
          <p:nvPr/>
        </p:nvSpPr>
        <p:spPr>
          <a:xfrm>
            <a:off x="0" y="0"/>
            <a:ext cx="11430000" cy="6667500"/>
          </a:xfrm>
          <a:custGeom>
            <a:rect b="b" l="l" r="r" t="t"/>
            <a:pathLst>
              <a:path extrusionOk="0" h="6667500" w="11430000">
                <a:moveTo>
                  <a:pt x="11429999" y="6667499"/>
                </a:moveTo>
                <a:lnTo>
                  <a:pt x="0" y="66674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667499"/>
                </a:lnTo>
                <a:close/>
              </a:path>
            </a:pathLst>
          </a:custGeom>
          <a:solidFill>
            <a:srgbClr val="F0F1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" name="Google Shape;11;p22"/>
          <p:cNvSpPr txBox="1"/>
          <p:nvPr>
            <p:ph type="title"/>
          </p:nvPr>
        </p:nvSpPr>
        <p:spPr>
          <a:xfrm>
            <a:off x="2866137" y="211690"/>
            <a:ext cx="569785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50" u="none" cap="none" strike="noStrike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2"/>
          <p:cNvSpPr txBox="1"/>
          <p:nvPr>
            <p:ph idx="1" type="body"/>
          </p:nvPr>
        </p:nvSpPr>
        <p:spPr>
          <a:xfrm>
            <a:off x="609498" y="1528780"/>
            <a:ext cx="10210800" cy="3579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50" u="none" cap="none" strike="noStrike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886200" y="6206680"/>
            <a:ext cx="36576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571500" y="6206680"/>
            <a:ext cx="2628900" cy="333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2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90526"/>
              </a:lnSpc>
              <a:spcBef>
                <a:spcPts val="0"/>
              </a:spcBef>
              <a:buNone/>
              <a:defRPr b="0" i="0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mozilla.org/es/" TargetMode="External"/><Relationship Id="rId4" Type="http://schemas.openxmlformats.org/officeDocument/2006/relationships/hyperlink" Target="https://www.openapis.org/" TargetMode="External"/><Relationship Id="rId5" Type="http://schemas.openxmlformats.org/officeDocument/2006/relationships/hyperlink" Target="https://jwt.io/" TargetMode="External"/><Relationship Id="rId6" Type="http://schemas.openxmlformats.org/officeDocument/2006/relationships/hyperlink" Target="https://developer.mozilla.org/es/docs/Web/API/Fetch_API/Using_Fetch" TargetMode="External"/><Relationship Id="rId7" Type="http://schemas.openxmlformats.org/officeDocument/2006/relationships/hyperlink" Target="https://owasp.org/www-project-api-security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>
            <p:ph type="title"/>
          </p:nvPr>
        </p:nvSpPr>
        <p:spPr>
          <a:xfrm>
            <a:off x="656696" y="1112203"/>
            <a:ext cx="10116820" cy="1574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325">
            <a:spAutoFit/>
          </a:bodyPr>
          <a:lstStyle/>
          <a:p>
            <a:pPr indent="-4485640" lvl="0" marL="4497705" marR="5080" rtl="0" algn="l">
              <a:lnSpc>
                <a:spcPct val="1149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/>
              <a:t>Unidad8: Interacción y Seguridad en APIs y Datos Web</a:t>
            </a:r>
            <a:endParaRPr sz="5100"/>
          </a:p>
        </p:txBody>
      </p:sp>
      <p:sp>
        <p:nvSpPr>
          <p:cNvPr id="49" name="Google Shape;49;p1"/>
          <p:cNvSpPr txBox="1"/>
          <p:nvPr/>
        </p:nvSpPr>
        <p:spPr>
          <a:xfrm>
            <a:off x="1981200" y="3184525"/>
            <a:ext cx="7578090" cy="2831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rgbClr val="3398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Fundamentos, implementación y mejores prácticas</a:t>
            </a:r>
            <a:endParaRPr sz="3050">
              <a:solidFill>
                <a:srgbClr val="3398D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1" i="0" sz="1800" u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1" i="0" lang="en-US" sz="180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1" i="0" lang="en-US" sz="180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sz="3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1" i="0" lang="en-US" sz="180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0" sz="3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1" i="0" lang="en-US" sz="180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br>
              <a:rPr lang="en-US" sz="3200"/>
            </a:br>
            <a:endParaRPr sz="3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114299" y="6305549"/>
            <a:ext cx="438150" cy="247650"/>
          </a:xfrm>
          <a:custGeom>
            <a:rect b="b" l="l" r="r" t="t"/>
            <a:pathLst>
              <a:path extrusionOk="0" h="247650" w="438150">
                <a:moveTo>
                  <a:pt x="43814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38149" y="0"/>
                </a:lnTo>
                <a:lnTo>
                  <a:pt x="438149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" name="Google Shape;51;p1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96" y="22225"/>
            <a:ext cx="3400804" cy="930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3811616" y="628028"/>
            <a:ext cx="380682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 de Aprendizaje</a:t>
            </a:r>
            <a:endParaRPr/>
          </a:p>
        </p:txBody>
      </p:sp>
      <p:grpSp>
        <p:nvGrpSpPr>
          <p:cNvPr id="58" name="Google Shape;58;p2"/>
          <p:cNvGrpSpPr/>
          <p:nvPr/>
        </p:nvGrpSpPr>
        <p:grpSpPr>
          <a:xfrm>
            <a:off x="400049" y="1756981"/>
            <a:ext cx="10629900" cy="3605529"/>
            <a:chOff x="400049" y="1756981"/>
            <a:chExt cx="10629900" cy="3605529"/>
          </a:xfrm>
        </p:grpSpPr>
        <p:sp>
          <p:nvSpPr>
            <p:cNvPr id="59" name="Google Shape;59;p2"/>
            <p:cNvSpPr/>
            <p:nvPr/>
          </p:nvSpPr>
          <p:spPr>
            <a:xfrm>
              <a:off x="400049" y="1756981"/>
              <a:ext cx="10629900" cy="3605529"/>
            </a:xfrm>
            <a:custGeom>
              <a:rect b="b" l="l" r="r" t="t"/>
              <a:pathLst>
                <a:path extrusionOk="0" h="3605529" w="1062990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3605529" w="10629900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extrusionOk="0" h="3605529" w="10629900">
                  <a:moveTo>
                    <a:pt x="10629899" y="3605307"/>
                  </a:moveTo>
                  <a:lnTo>
                    <a:pt x="10583794" y="3605307"/>
                  </a:lnTo>
                  <a:lnTo>
                    <a:pt x="10590576" y="3603958"/>
                  </a:lnTo>
                  <a:lnTo>
                    <a:pt x="10603599" y="3598563"/>
                  </a:lnTo>
                  <a:lnTo>
                    <a:pt x="10628550" y="3565985"/>
                  </a:lnTo>
                  <a:lnTo>
                    <a:pt x="10629899" y="3559205"/>
                  </a:lnTo>
                  <a:lnTo>
                    <a:pt x="10629899" y="3605307"/>
                  </a:lnTo>
                  <a:close/>
                </a:path>
                <a:path extrusionOk="0" h="3605529" w="10629900">
                  <a:moveTo>
                    <a:pt x="46104" y="3605307"/>
                  </a:moveTo>
                  <a:lnTo>
                    <a:pt x="0" y="3605307"/>
                  </a:lnTo>
                  <a:lnTo>
                    <a:pt x="0" y="3559206"/>
                  </a:lnTo>
                  <a:lnTo>
                    <a:pt x="1348" y="3565985"/>
                  </a:lnTo>
                  <a:lnTo>
                    <a:pt x="6742" y="3579008"/>
                  </a:lnTo>
                  <a:lnTo>
                    <a:pt x="10583" y="3584756"/>
                  </a:lnTo>
                  <a:lnTo>
                    <a:pt x="20550" y="3594723"/>
                  </a:lnTo>
                  <a:lnTo>
                    <a:pt x="26298" y="3598563"/>
                  </a:lnTo>
                  <a:lnTo>
                    <a:pt x="39321" y="3603958"/>
                  </a:lnTo>
                  <a:lnTo>
                    <a:pt x="46104" y="3605307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00049" y="1756981"/>
              <a:ext cx="10629900" cy="3605529"/>
            </a:xfrm>
            <a:custGeom>
              <a:rect b="b" l="l" r="r" t="t"/>
              <a:pathLst>
                <a:path extrusionOk="0" h="3605529" w="10629900">
                  <a:moveTo>
                    <a:pt x="10580239" y="3605307"/>
                  </a:moveTo>
                  <a:lnTo>
                    <a:pt x="49659" y="3605307"/>
                  </a:lnTo>
                  <a:lnTo>
                    <a:pt x="46203" y="3604966"/>
                  </a:lnTo>
                  <a:lnTo>
                    <a:pt x="10896" y="3584587"/>
                  </a:lnTo>
                  <a:lnTo>
                    <a:pt x="0" y="3555647"/>
                  </a:lnTo>
                  <a:lnTo>
                    <a:pt x="0" y="3552158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3555647"/>
                  </a:lnTo>
                  <a:lnTo>
                    <a:pt x="10611863" y="3592208"/>
                  </a:lnTo>
                  <a:lnTo>
                    <a:pt x="10583695" y="3604966"/>
                  </a:lnTo>
                  <a:lnTo>
                    <a:pt x="10580239" y="3605307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1" name="Google Shape;6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2067019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2509932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2952844"/>
              <a:ext cx="70866" cy="708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5836" y="3404615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5836" y="3847528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" name="Google Shape;66;p2"/>
          <p:cNvSpPr txBox="1"/>
          <p:nvPr/>
        </p:nvSpPr>
        <p:spPr>
          <a:xfrm>
            <a:off x="1166875" y="1769690"/>
            <a:ext cx="5817870" cy="224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508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Comprender los conceptos fundamentales de las APIs Explorar técnicas de análisis JSON en peticiones web Aprender sobre seguridad y autenticación en APIs Dominar el manejo de respuestas asíncronas y promesas Implementar navegación eficiente a través de nodos DOM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14299" y="6305549"/>
            <a:ext cx="438150" cy="247650"/>
          </a:xfrm>
          <a:custGeom>
            <a:rect b="b" l="l" r="r" t="t"/>
            <a:pathLst>
              <a:path extrusionOk="0" h="247650" w="438150">
                <a:moveTo>
                  <a:pt x="43814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38149" y="0"/>
                </a:lnTo>
                <a:lnTo>
                  <a:pt x="438149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" name="Google Shape;68;p2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4374669" y="353422"/>
            <a:ext cx="2680970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es una API?</a:t>
            </a:r>
            <a:endParaRPr/>
          </a:p>
        </p:txBody>
      </p:sp>
      <p:grpSp>
        <p:nvGrpSpPr>
          <p:cNvPr id="74" name="Google Shape;74;p3"/>
          <p:cNvGrpSpPr/>
          <p:nvPr/>
        </p:nvGrpSpPr>
        <p:grpSpPr>
          <a:xfrm>
            <a:off x="400049" y="1207769"/>
            <a:ext cx="10629900" cy="4695190"/>
            <a:chOff x="400049" y="1207769"/>
            <a:chExt cx="10629900" cy="4695190"/>
          </a:xfrm>
        </p:grpSpPr>
        <p:sp>
          <p:nvSpPr>
            <p:cNvPr id="75" name="Google Shape;75;p3"/>
            <p:cNvSpPr/>
            <p:nvPr/>
          </p:nvSpPr>
          <p:spPr>
            <a:xfrm>
              <a:off x="400049" y="1207769"/>
              <a:ext cx="10629900" cy="4695190"/>
            </a:xfrm>
            <a:custGeom>
              <a:rect b="b" l="l" r="r" t="t"/>
              <a:pathLst>
                <a:path extrusionOk="0" h="4695190" w="1062990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4695190" w="10629900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extrusionOk="0" h="4695190" w="10629900">
                  <a:moveTo>
                    <a:pt x="10629899" y="4694872"/>
                  </a:moveTo>
                  <a:lnTo>
                    <a:pt x="10583795" y="4694872"/>
                  </a:lnTo>
                  <a:lnTo>
                    <a:pt x="10590576" y="4693523"/>
                  </a:lnTo>
                  <a:lnTo>
                    <a:pt x="10603599" y="4688128"/>
                  </a:lnTo>
                  <a:lnTo>
                    <a:pt x="10628550" y="4655550"/>
                  </a:lnTo>
                  <a:lnTo>
                    <a:pt x="10629899" y="4648770"/>
                  </a:lnTo>
                  <a:lnTo>
                    <a:pt x="10629899" y="4694872"/>
                  </a:lnTo>
                  <a:close/>
                </a:path>
                <a:path extrusionOk="0" h="4695190" w="10629900">
                  <a:moveTo>
                    <a:pt x="46102" y="4694872"/>
                  </a:moveTo>
                  <a:lnTo>
                    <a:pt x="0" y="4694872"/>
                  </a:lnTo>
                  <a:lnTo>
                    <a:pt x="0" y="4648770"/>
                  </a:lnTo>
                  <a:lnTo>
                    <a:pt x="1348" y="4655550"/>
                  </a:lnTo>
                  <a:lnTo>
                    <a:pt x="6742" y="4668573"/>
                  </a:lnTo>
                  <a:lnTo>
                    <a:pt x="10583" y="4674320"/>
                  </a:lnTo>
                  <a:lnTo>
                    <a:pt x="20550" y="4684288"/>
                  </a:lnTo>
                  <a:lnTo>
                    <a:pt x="26298" y="4688128"/>
                  </a:lnTo>
                  <a:lnTo>
                    <a:pt x="39321" y="4693523"/>
                  </a:lnTo>
                  <a:lnTo>
                    <a:pt x="46102" y="4694872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00049" y="1207769"/>
              <a:ext cx="10629900" cy="4695190"/>
            </a:xfrm>
            <a:custGeom>
              <a:rect b="b" l="l" r="r" t="t"/>
              <a:pathLst>
                <a:path extrusionOk="0" h="4695190" w="10629900">
                  <a:moveTo>
                    <a:pt x="10580239" y="4694871"/>
                  </a:moveTo>
                  <a:lnTo>
                    <a:pt x="49659" y="4694871"/>
                  </a:lnTo>
                  <a:lnTo>
                    <a:pt x="46203" y="4694531"/>
                  </a:lnTo>
                  <a:lnTo>
                    <a:pt x="10896" y="4674152"/>
                  </a:lnTo>
                  <a:lnTo>
                    <a:pt x="0" y="4645212"/>
                  </a:lnTo>
                  <a:lnTo>
                    <a:pt x="0" y="4641722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4645212"/>
                  </a:lnTo>
                  <a:lnTo>
                    <a:pt x="10611863" y="4681772"/>
                  </a:lnTo>
                  <a:lnTo>
                    <a:pt x="10583695" y="4694531"/>
                  </a:lnTo>
                  <a:lnTo>
                    <a:pt x="10580239" y="4694871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7" name="Google Shape;77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4042409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4494180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4937093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90786" y="4042409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90786" y="4494180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90786" y="4937093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609498" y="1528780"/>
            <a:ext cx="10210800" cy="3579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11835" marR="704215" rtl="0" algn="ctr">
              <a:lnSpc>
                <a:spcPct val="12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Definición: </a:t>
            </a:r>
            <a:r>
              <a:rPr lang="en-US"/>
              <a:t>"Conjunto de reglas y protocolos que permiten que diferentes aplicaciones se comuniquen entre sí"</a:t>
            </a:r>
            <a:endParaRPr/>
          </a:p>
          <a:p>
            <a:pPr indent="0" lvl="0" marL="12700" marR="5080" rtl="0" algn="ctr">
              <a:lnSpc>
                <a:spcPct val="104900"/>
              </a:lnSpc>
              <a:spcBef>
                <a:spcPts val="119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Analogía: </a:t>
            </a:r>
            <a:r>
              <a:rPr lang="en-US" sz="2050">
                <a:solidFill>
                  <a:srgbClr val="333A40"/>
                </a:solidFill>
              </a:rPr>
              <a:t>"Las APIs funcionan como camareros en un restaurante - llevan pedidos (solicitudes) de los clientes a la cocina y traen la comida (respuestas) de vuelta"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13205" rtl="0" algn="l">
              <a:lnSpc>
                <a:spcPct val="100000"/>
              </a:lnSpc>
              <a:spcBef>
                <a:spcPts val="1885"/>
              </a:spcBef>
              <a:spcAft>
                <a:spcPts val="0"/>
              </a:spcAft>
              <a:buNone/>
            </a:pPr>
            <a:r>
              <a:rPr lang="en-US"/>
              <a:t>Tipos principales	Beneficios</a:t>
            </a:r>
            <a:endParaRPr/>
          </a:p>
          <a:p>
            <a:pPr indent="0" lvl="0" marL="569595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</a:rPr>
              <a:t>APIs web	Reutilización de código</a:t>
            </a:r>
            <a:endParaRPr sz="2050"/>
          </a:p>
          <a:p>
            <a:pPr indent="0" lvl="0" marL="569595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</a:rPr>
              <a:t>APIs de biblioteca	Abstracción</a:t>
            </a:r>
            <a:endParaRPr sz="2050"/>
          </a:p>
          <a:p>
            <a:pPr indent="0" lvl="0" marL="569595" rtl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</a:rPr>
              <a:t>APIs de sistema operativo	Interoperabilidad</a:t>
            </a:r>
            <a:endParaRPr sz="2050"/>
          </a:p>
        </p:txBody>
      </p:sp>
      <p:sp>
        <p:nvSpPr>
          <p:cNvPr id="84" name="Google Shape;84;p3"/>
          <p:cNvSpPr/>
          <p:nvPr/>
        </p:nvSpPr>
        <p:spPr>
          <a:xfrm>
            <a:off x="114299" y="6305549"/>
            <a:ext cx="438150" cy="247650"/>
          </a:xfrm>
          <a:custGeom>
            <a:rect b="b" l="l" r="r" t="t"/>
            <a:pathLst>
              <a:path extrusionOk="0" h="247650" w="438150">
                <a:moveTo>
                  <a:pt x="43814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38149" y="0"/>
                </a:lnTo>
                <a:lnTo>
                  <a:pt x="438149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" name="Google Shape;85;p3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4"/>
          <p:cNvGrpSpPr/>
          <p:nvPr/>
        </p:nvGrpSpPr>
        <p:grpSpPr>
          <a:xfrm>
            <a:off x="400049" y="871156"/>
            <a:ext cx="5436870" cy="5368290"/>
            <a:chOff x="400049" y="871156"/>
            <a:chExt cx="5436870" cy="5368290"/>
          </a:xfrm>
        </p:grpSpPr>
        <p:sp>
          <p:nvSpPr>
            <p:cNvPr id="91" name="Google Shape;91;p4"/>
            <p:cNvSpPr/>
            <p:nvPr/>
          </p:nvSpPr>
          <p:spPr>
            <a:xfrm>
              <a:off x="400049" y="871156"/>
              <a:ext cx="5436870" cy="5368290"/>
            </a:xfrm>
            <a:custGeom>
              <a:rect b="b" l="l" r="r" t="t"/>
              <a:pathLst>
                <a:path extrusionOk="0" h="5368290" w="543687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368290" w="5436870">
                  <a:moveTo>
                    <a:pt x="5436869" y="5368099"/>
                  </a:moveTo>
                  <a:lnTo>
                    <a:pt x="5268846" y="5368099"/>
                  </a:lnTo>
                  <a:lnTo>
                    <a:pt x="5275627" y="5366750"/>
                  </a:lnTo>
                  <a:lnTo>
                    <a:pt x="5288650" y="5361355"/>
                  </a:lnTo>
                  <a:lnTo>
                    <a:pt x="5313600" y="5328776"/>
                  </a:lnTo>
                  <a:lnTo>
                    <a:pt x="5314949" y="5321997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436869" y="0"/>
                  </a:lnTo>
                  <a:lnTo>
                    <a:pt x="5436869" y="5368099"/>
                  </a:lnTo>
                  <a:close/>
                </a:path>
                <a:path extrusionOk="0" h="5368290" w="5436870">
                  <a:moveTo>
                    <a:pt x="46102" y="5368099"/>
                  </a:moveTo>
                  <a:lnTo>
                    <a:pt x="0" y="5368099"/>
                  </a:lnTo>
                  <a:lnTo>
                    <a:pt x="0" y="5321997"/>
                  </a:lnTo>
                  <a:lnTo>
                    <a:pt x="1348" y="5328776"/>
                  </a:lnTo>
                  <a:lnTo>
                    <a:pt x="6742" y="5341799"/>
                  </a:lnTo>
                  <a:lnTo>
                    <a:pt x="10583" y="5347547"/>
                  </a:lnTo>
                  <a:lnTo>
                    <a:pt x="20550" y="5357515"/>
                  </a:lnTo>
                  <a:lnTo>
                    <a:pt x="26298" y="5361355"/>
                  </a:lnTo>
                  <a:lnTo>
                    <a:pt x="39321" y="5366750"/>
                  </a:lnTo>
                  <a:lnTo>
                    <a:pt x="46102" y="5368099"/>
                  </a:lnTo>
                  <a:close/>
                </a:path>
              </a:pathLst>
            </a:custGeom>
            <a:solidFill>
              <a:srgbClr val="000000">
                <a:alpha val="51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400049" y="871156"/>
              <a:ext cx="5314950" cy="5368290"/>
            </a:xfrm>
            <a:custGeom>
              <a:rect b="b" l="l" r="r" t="t"/>
              <a:pathLst>
                <a:path extrusionOk="0" h="5368290" w="5314950">
                  <a:moveTo>
                    <a:pt x="5265290" y="5368099"/>
                  </a:moveTo>
                  <a:lnTo>
                    <a:pt x="49659" y="5368099"/>
                  </a:lnTo>
                  <a:lnTo>
                    <a:pt x="46203" y="5367758"/>
                  </a:lnTo>
                  <a:lnTo>
                    <a:pt x="10896" y="5347379"/>
                  </a:lnTo>
                  <a:lnTo>
                    <a:pt x="0" y="5318439"/>
                  </a:lnTo>
                  <a:lnTo>
                    <a:pt x="0" y="5314949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5318439"/>
                  </a:lnTo>
                  <a:lnTo>
                    <a:pt x="5296914" y="5354999"/>
                  </a:lnTo>
                  <a:lnTo>
                    <a:pt x="5268746" y="5367758"/>
                  </a:lnTo>
                  <a:lnTo>
                    <a:pt x="5265290" y="5368099"/>
                  </a:lnTo>
                  <a:close/>
                </a:path>
              </a:pathLst>
            </a:custGeom>
            <a:solidFill>
              <a:srgbClr val="FFFFFF">
                <a:alpha val="902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3" name="Google Shape;9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1686115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" name="Google Shape;94;p4"/>
          <p:cNvGrpSpPr/>
          <p:nvPr/>
        </p:nvGrpSpPr>
        <p:grpSpPr>
          <a:xfrm>
            <a:off x="975836" y="871156"/>
            <a:ext cx="10054113" cy="5368290"/>
            <a:chOff x="975836" y="871156"/>
            <a:chExt cx="10054113" cy="5368290"/>
          </a:xfrm>
        </p:grpSpPr>
        <p:pic>
          <p:nvPicPr>
            <p:cNvPr id="95" name="Google Shape;9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3661504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4104417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5836" y="4547330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4"/>
            <p:cNvSpPr/>
            <p:nvPr/>
          </p:nvSpPr>
          <p:spPr>
            <a:xfrm>
              <a:off x="5769863" y="871156"/>
              <a:ext cx="168910" cy="5368290"/>
            </a:xfrm>
            <a:custGeom>
              <a:rect b="b" l="l" r="r" t="t"/>
              <a:pathLst>
                <a:path extrusionOk="0" h="5368290" w="168910">
                  <a:moveTo>
                    <a:pt x="168403" y="5368099"/>
                  </a:moveTo>
                  <a:lnTo>
                    <a:pt x="0" y="5368099"/>
                  </a:lnTo>
                  <a:lnTo>
                    <a:pt x="0" y="0"/>
                  </a:lnTo>
                  <a:lnTo>
                    <a:pt x="168401" y="0"/>
                  </a:lnTo>
                  <a:lnTo>
                    <a:pt x="161622" y="1348"/>
                  </a:lnTo>
                  <a:lnTo>
                    <a:pt x="148598" y="6742"/>
                  </a:lnTo>
                  <a:lnTo>
                    <a:pt x="123649" y="39321"/>
                  </a:lnTo>
                  <a:lnTo>
                    <a:pt x="122300" y="46101"/>
                  </a:lnTo>
                  <a:lnTo>
                    <a:pt x="122300" y="5321997"/>
                  </a:lnTo>
                  <a:lnTo>
                    <a:pt x="142851" y="5357515"/>
                  </a:lnTo>
                  <a:lnTo>
                    <a:pt x="161622" y="5366750"/>
                  </a:lnTo>
                  <a:lnTo>
                    <a:pt x="168403" y="5368099"/>
                  </a:lnTo>
                  <a:close/>
                </a:path>
              </a:pathLst>
            </a:custGeom>
            <a:solidFill>
              <a:srgbClr val="000000">
                <a:alpha val="51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5892165" y="871156"/>
              <a:ext cx="5137784" cy="5368290"/>
            </a:xfrm>
            <a:custGeom>
              <a:rect b="b" l="l" r="r" t="t"/>
              <a:pathLst>
                <a:path extrusionOk="0" h="5368290" w="5137784">
                  <a:moveTo>
                    <a:pt x="5137785" y="5368099"/>
                  </a:moveTo>
                  <a:lnTo>
                    <a:pt x="49659" y="5368099"/>
                  </a:lnTo>
                  <a:lnTo>
                    <a:pt x="13099" y="5350064"/>
                  </a:lnTo>
                  <a:lnTo>
                    <a:pt x="0" y="5318440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5368099"/>
                  </a:lnTo>
                  <a:close/>
                </a:path>
              </a:pathLst>
            </a:custGeom>
            <a:solidFill>
              <a:srgbClr val="FFFFFF">
                <a:alpha val="902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0" name="Google Shape;100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5836" y="2580798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5836" y="2137885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2715478" y="30040"/>
            <a:ext cx="6574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Interfaces de Programación de Aplicaciones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1166875" y="537221"/>
            <a:ext cx="30720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9850">
            <a:spAutoFit/>
          </a:bodyPr>
          <a:lstStyle/>
          <a:p>
            <a:pPr indent="0" lvl="0" marL="721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Componentes clave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Endpoints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1669581" y="2964950"/>
            <a:ext cx="277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Arquitecturas comunes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166875" y="1971567"/>
            <a:ext cx="1141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Parámetros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166875" y="2414479"/>
            <a:ext cx="1576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Métodos HTTP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1166875" y="3495186"/>
            <a:ext cx="631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1166875" y="3938098"/>
            <a:ext cx="6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SOAP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1166875" y="4381011"/>
            <a:ext cx="9759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GraphQL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2103220" y="4940339"/>
            <a:ext cx="19088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Documentación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1329784" y="5488292"/>
            <a:ext cx="3455670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Importancia de OpenAPI/Swagger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7441459" y="789131"/>
            <a:ext cx="22167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Ejemplos prácticos</a:t>
            </a:r>
            <a:endParaRPr sz="2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202203" y="1934146"/>
            <a:ext cx="4695190" cy="310515"/>
          </a:xfrm>
          <a:custGeom>
            <a:rect b="b" l="l" r="r" t="t"/>
            <a:pathLst>
              <a:path extrusionOk="0" h="310514" w="4695190">
                <a:moveTo>
                  <a:pt x="4671821" y="310038"/>
                </a:moveTo>
                <a:lnTo>
                  <a:pt x="23050" y="310038"/>
                </a:lnTo>
                <a:lnTo>
                  <a:pt x="19660" y="309364"/>
                </a:lnTo>
                <a:lnTo>
                  <a:pt x="0" y="286987"/>
                </a:lnTo>
                <a:lnTo>
                  <a:pt x="0" y="283464"/>
                </a:lnTo>
                <a:lnTo>
                  <a:pt x="0" y="23050"/>
                </a:lnTo>
                <a:lnTo>
                  <a:pt x="23050" y="0"/>
                </a:lnTo>
                <a:lnTo>
                  <a:pt x="4671821" y="0"/>
                </a:lnTo>
                <a:lnTo>
                  <a:pt x="4694872" y="23050"/>
                </a:lnTo>
                <a:lnTo>
                  <a:pt x="4694872" y="286987"/>
                </a:lnTo>
                <a:lnTo>
                  <a:pt x="4675210" y="309364"/>
                </a:lnTo>
                <a:lnTo>
                  <a:pt x="4671821" y="310038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" name="Google Shape;114;p4"/>
          <p:cNvSpPr txBox="1"/>
          <p:nvPr/>
        </p:nvSpPr>
        <p:spPr>
          <a:xfrm>
            <a:off x="6276978" y="1476565"/>
            <a:ext cx="4545330" cy="68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Ejemplo de endpoint: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https://api.ejemplo.com/v1/usuarios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282904" y="2465641"/>
            <a:ext cx="2649220" cy="655955"/>
          </a:xfrm>
          <a:custGeom>
            <a:rect b="b" l="l" r="r" t="t"/>
            <a:pathLst>
              <a:path extrusionOk="0" h="655955" w="2649220">
                <a:moveTo>
                  <a:pt x="2533459" y="368528"/>
                </a:moveTo>
                <a:lnTo>
                  <a:pt x="2510409" y="345478"/>
                </a:lnTo>
                <a:lnTo>
                  <a:pt x="0" y="345478"/>
                </a:lnTo>
                <a:lnTo>
                  <a:pt x="0" y="655510"/>
                </a:lnTo>
                <a:lnTo>
                  <a:pt x="2510409" y="655510"/>
                </a:lnTo>
                <a:lnTo>
                  <a:pt x="2533459" y="632460"/>
                </a:lnTo>
                <a:lnTo>
                  <a:pt x="2533459" y="368528"/>
                </a:lnTo>
                <a:close/>
              </a:path>
              <a:path extrusionOk="0" h="655955" w="2649220">
                <a:moveTo>
                  <a:pt x="2648623" y="0"/>
                </a:moveTo>
                <a:lnTo>
                  <a:pt x="2450211" y="0"/>
                </a:lnTo>
                <a:lnTo>
                  <a:pt x="2446820" y="685"/>
                </a:lnTo>
                <a:lnTo>
                  <a:pt x="2427160" y="23050"/>
                </a:lnTo>
                <a:lnTo>
                  <a:pt x="2427160" y="286994"/>
                </a:lnTo>
                <a:lnTo>
                  <a:pt x="2450211" y="310045"/>
                </a:lnTo>
                <a:lnTo>
                  <a:pt x="2648623" y="310045"/>
                </a:lnTo>
                <a:lnTo>
                  <a:pt x="2648623" y="0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" name="Google Shape;116;p4"/>
          <p:cNvSpPr txBox="1"/>
          <p:nvPr/>
        </p:nvSpPr>
        <p:spPr>
          <a:xfrm>
            <a:off x="7159343" y="2275359"/>
            <a:ext cx="2780665" cy="766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-107950" lvl="0" marL="120014" marR="5080" rtl="0" algn="l">
              <a:lnSpc>
                <a:spcPct val="13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Ejemplo de parámetros:	</a:t>
            </a:r>
            <a:r>
              <a:rPr lang="en-US" sz="16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? id=123&amp;formato=json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17" name="Google Shape;117;p4"/>
          <p:cNvGrpSpPr/>
          <p:nvPr/>
        </p:nvGrpSpPr>
        <p:grpSpPr>
          <a:xfrm>
            <a:off x="6459092" y="3900677"/>
            <a:ext cx="70866" cy="1789366"/>
            <a:chOff x="6459092" y="3900677"/>
            <a:chExt cx="70866" cy="1789366"/>
          </a:xfrm>
        </p:grpSpPr>
        <p:pic>
          <p:nvPicPr>
            <p:cNvPr id="118" name="Google Shape;118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59092" y="3900677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59092" y="4334732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59092" y="4759928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59092" y="5193982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59092" y="5619178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" name="Google Shape;123;p4"/>
          <p:cNvSpPr txBox="1"/>
          <p:nvPr/>
        </p:nvSpPr>
        <p:spPr>
          <a:xfrm>
            <a:off x="6650132" y="2783389"/>
            <a:ext cx="3468900" cy="13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150">
            <a:spAutoFit/>
          </a:bodyPr>
          <a:lstStyle/>
          <a:p>
            <a:pPr indent="0" lvl="0" marL="342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Métodos HTTP principales</a:t>
            </a:r>
            <a:endParaRPr sz="2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Obtener datos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6650132" y="4177696"/>
            <a:ext cx="21648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Crear recursos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6650132" y="4602891"/>
            <a:ext cx="36849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PUT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Actualizar recursos (reemplazo)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650132" y="5036946"/>
            <a:ext cx="2978785" cy="326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PATCH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Actualización parcial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6650132" y="5639992"/>
            <a:ext cx="281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Eliminar recursos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14299" y="6305549"/>
            <a:ext cx="438150" cy="247650"/>
          </a:xfrm>
          <a:custGeom>
            <a:rect b="b" l="l" r="r" t="t"/>
            <a:pathLst>
              <a:path extrusionOk="0" h="247650" w="438150">
                <a:moveTo>
                  <a:pt x="43814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38149" y="0"/>
                </a:lnTo>
                <a:lnTo>
                  <a:pt x="438149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4131759" y="193974"/>
            <a:ext cx="316674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Arquitecturas de API</a:t>
            </a:r>
            <a:endParaRPr/>
          </a:p>
        </p:txBody>
      </p:sp>
      <p:grpSp>
        <p:nvGrpSpPr>
          <p:cNvPr id="135" name="Google Shape;135;p5"/>
          <p:cNvGrpSpPr/>
          <p:nvPr/>
        </p:nvGrpSpPr>
        <p:grpSpPr>
          <a:xfrm>
            <a:off x="400049" y="888872"/>
            <a:ext cx="3629660" cy="5332730"/>
            <a:chOff x="400049" y="888872"/>
            <a:chExt cx="3629660" cy="5332730"/>
          </a:xfrm>
        </p:grpSpPr>
        <p:sp>
          <p:nvSpPr>
            <p:cNvPr id="136" name="Google Shape;136;p5"/>
            <p:cNvSpPr/>
            <p:nvPr/>
          </p:nvSpPr>
          <p:spPr>
            <a:xfrm>
              <a:off x="400049" y="888872"/>
              <a:ext cx="3629660" cy="5332730"/>
            </a:xfrm>
            <a:custGeom>
              <a:rect b="b" l="l" r="r" t="t"/>
              <a:pathLst>
                <a:path extrusionOk="0" h="5332730" w="362966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332730" w="3629660">
                  <a:moveTo>
                    <a:pt x="3629405" y="5332666"/>
                  </a:moveTo>
                  <a:lnTo>
                    <a:pt x="3461762" y="5332666"/>
                  </a:lnTo>
                  <a:lnTo>
                    <a:pt x="3468544" y="5331316"/>
                  </a:lnTo>
                  <a:lnTo>
                    <a:pt x="3481567" y="5325922"/>
                  </a:lnTo>
                  <a:lnTo>
                    <a:pt x="3506517" y="5293343"/>
                  </a:lnTo>
                  <a:lnTo>
                    <a:pt x="3507866" y="5286564"/>
                  </a:lnTo>
                  <a:lnTo>
                    <a:pt x="3507866" y="46101"/>
                  </a:lnTo>
                  <a:lnTo>
                    <a:pt x="3487315" y="10583"/>
                  </a:lnTo>
                  <a:lnTo>
                    <a:pt x="3461765" y="0"/>
                  </a:lnTo>
                  <a:lnTo>
                    <a:pt x="3629405" y="0"/>
                  </a:lnTo>
                  <a:lnTo>
                    <a:pt x="3629405" y="5332666"/>
                  </a:lnTo>
                  <a:close/>
                </a:path>
                <a:path extrusionOk="0" h="5332730" w="3629660">
                  <a:moveTo>
                    <a:pt x="46104" y="5332666"/>
                  </a:moveTo>
                  <a:lnTo>
                    <a:pt x="0" y="5332666"/>
                  </a:lnTo>
                  <a:lnTo>
                    <a:pt x="0" y="5286564"/>
                  </a:lnTo>
                  <a:lnTo>
                    <a:pt x="1348" y="5293343"/>
                  </a:lnTo>
                  <a:lnTo>
                    <a:pt x="6742" y="5306366"/>
                  </a:lnTo>
                  <a:lnTo>
                    <a:pt x="10583" y="5312114"/>
                  </a:lnTo>
                  <a:lnTo>
                    <a:pt x="20550" y="5322081"/>
                  </a:lnTo>
                  <a:lnTo>
                    <a:pt x="26298" y="5325922"/>
                  </a:lnTo>
                  <a:lnTo>
                    <a:pt x="39321" y="5331316"/>
                  </a:lnTo>
                  <a:lnTo>
                    <a:pt x="46104" y="5332666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400049" y="888872"/>
              <a:ext cx="3508375" cy="5332730"/>
            </a:xfrm>
            <a:custGeom>
              <a:rect b="b" l="l" r="r" t="t"/>
              <a:pathLst>
                <a:path extrusionOk="0" h="5332730" w="3508375">
                  <a:moveTo>
                    <a:pt x="3458207" y="5332665"/>
                  </a:moveTo>
                  <a:lnTo>
                    <a:pt x="49659" y="5332665"/>
                  </a:lnTo>
                  <a:lnTo>
                    <a:pt x="46203" y="5332325"/>
                  </a:lnTo>
                  <a:lnTo>
                    <a:pt x="10896" y="5311945"/>
                  </a:lnTo>
                  <a:lnTo>
                    <a:pt x="0" y="5283006"/>
                  </a:lnTo>
                  <a:lnTo>
                    <a:pt x="0" y="5279516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458207" y="0"/>
                  </a:lnTo>
                  <a:lnTo>
                    <a:pt x="3494767" y="18034"/>
                  </a:lnTo>
                  <a:lnTo>
                    <a:pt x="3507866" y="49659"/>
                  </a:lnTo>
                  <a:lnTo>
                    <a:pt x="3507866" y="5283006"/>
                  </a:lnTo>
                  <a:lnTo>
                    <a:pt x="3489831" y="5319566"/>
                  </a:lnTo>
                  <a:lnTo>
                    <a:pt x="3461663" y="5332325"/>
                  </a:lnTo>
                  <a:lnTo>
                    <a:pt x="3458207" y="5332665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8" name="Google Shape;138;p5"/>
          <p:cNvSpPr txBox="1"/>
          <p:nvPr/>
        </p:nvSpPr>
        <p:spPr>
          <a:xfrm>
            <a:off x="1777679" y="1016135"/>
            <a:ext cx="7531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830262" y="1580638"/>
            <a:ext cx="2647315" cy="27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(Representational State Transfer)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0" name="Google Shape;140;p5"/>
          <p:cNvGrpSpPr/>
          <p:nvPr/>
        </p:nvGrpSpPr>
        <p:grpSpPr>
          <a:xfrm>
            <a:off x="975836" y="888872"/>
            <a:ext cx="6738778" cy="5332730"/>
            <a:chOff x="975836" y="888872"/>
            <a:chExt cx="6738778" cy="5332730"/>
          </a:xfrm>
        </p:grpSpPr>
        <p:pic>
          <p:nvPicPr>
            <p:cNvPr id="141" name="Google Shape;14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2173318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294398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370579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415756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4600479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5"/>
            <p:cNvSpPr/>
            <p:nvPr/>
          </p:nvSpPr>
          <p:spPr>
            <a:xfrm>
              <a:off x="3962399" y="888872"/>
              <a:ext cx="3752215" cy="5332730"/>
            </a:xfrm>
            <a:custGeom>
              <a:rect b="b" l="l" r="r" t="t"/>
              <a:pathLst>
                <a:path extrusionOk="0" h="5332730" w="3752215">
                  <a:moveTo>
                    <a:pt x="168786" y="5332666"/>
                  </a:moveTo>
                  <a:lnTo>
                    <a:pt x="0" y="5332666"/>
                  </a:lnTo>
                  <a:lnTo>
                    <a:pt x="0" y="0"/>
                  </a:lnTo>
                  <a:lnTo>
                    <a:pt x="168782" y="0"/>
                  </a:lnTo>
                  <a:lnTo>
                    <a:pt x="162003" y="1348"/>
                  </a:lnTo>
                  <a:lnTo>
                    <a:pt x="148979" y="6742"/>
                  </a:lnTo>
                  <a:lnTo>
                    <a:pt x="124030" y="39321"/>
                  </a:lnTo>
                  <a:lnTo>
                    <a:pt x="122681" y="46101"/>
                  </a:lnTo>
                  <a:lnTo>
                    <a:pt x="122681" y="5286564"/>
                  </a:lnTo>
                  <a:lnTo>
                    <a:pt x="143232" y="5322081"/>
                  </a:lnTo>
                  <a:lnTo>
                    <a:pt x="162003" y="5331316"/>
                  </a:lnTo>
                  <a:lnTo>
                    <a:pt x="168786" y="5332666"/>
                  </a:lnTo>
                  <a:close/>
                </a:path>
                <a:path extrusionOk="0" h="5332730" w="3752215">
                  <a:moveTo>
                    <a:pt x="3752087" y="5332666"/>
                  </a:moveTo>
                  <a:lnTo>
                    <a:pt x="3584444" y="5332666"/>
                  </a:lnTo>
                  <a:lnTo>
                    <a:pt x="3591226" y="5331316"/>
                  </a:lnTo>
                  <a:lnTo>
                    <a:pt x="3604249" y="5325922"/>
                  </a:lnTo>
                  <a:lnTo>
                    <a:pt x="3629198" y="5293343"/>
                  </a:lnTo>
                  <a:lnTo>
                    <a:pt x="3630548" y="5286564"/>
                  </a:lnTo>
                  <a:lnTo>
                    <a:pt x="3630548" y="46101"/>
                  </a:lnTo>
                  <a:lnTo>
                    <a:pt x="3609997" y="10583"/>
                  </a:lnTo>
                  <a:lnTo>
                    <a:pt x="3584447" y="0"/>
                  </a:lnTo>
                  <a:lnTo>
                    <a:pt x="3752087" y="0"/>
                  </a:lnTo>
                  <a:lnTo>
                    <a:pt x="3752087" y="5332666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4085081" y="888872"/>
              <a:ext cx="3508375" cy="5332730"/>
            </a:xfrm>
            <a:custGeom>
              <a:rect b="b" l="l" r="r" t="t"/>
              <a:pathLst>
                <a:path extrusionOk="0" h="5332730" w="3508375">
                  <a:moveTo>
                    <a:pt x="3458207" y="5332665"/>
                  </a:moveTo>
                  <a:lnTo>
                    <a:pt x="49659" y="5332665"/>
                  </a:lnTo>
                  <a:lnTo>
                    <a:pt x="46203" y="5332325"/>
                  </a:lnTo>
                  <a:lnTo>
                    <a:pt x="10895" y="5311945"/>
                  </a:lnTo>
                  <a:lnTo>
                    <a:pt x="0" y="5283006"/>
                  </a:lnTo>
                  <a:lnTo>
                    <a:pt x="0" y="5279516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458207" y="0"/>
                  </a:lnTo>
                  <a:lnTo>
                    <a:pt x="3494766" y="18034"/>
                  </a:lnTo>
                  <a:lnTo>
                    <a:pt x="3507866" y="49659"/>
                  </a:lnTo>
                  <a:lnTo>
                    <a:pt x="3507866" y="5283006"/>
                  </a:lnTo>
                  <a:lnTo>
                    <a:pt x="3489831" y="5319566"/>
                  </a:lnTo>
                  <a:lnTo>
                    <a:pt x="3461663" y="5332325"/>
                  </a:lnTo>
                  <a:lnTo>
                    <a:pt x="3458207" y="5332665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8" name="Google Shape;148;p5"/>
          <p:cNvSpPr txBox="1"/>
          <p:nvPr/>
        </p:nvSpPr>
        <p:spPr>
          <a:xfrm>
            <a:off x="1166875" y="2007000"/>
            <a:ext cx="2126615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Basado en recursos y estados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166875" y="2777668"/>
            <a:ext cx="2285365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 métodos HTTP estándar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166875" y="3539477"/>
            <a:ext cx="2106295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Stateless (sin estado)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166875" y="3991248"/>
            <a:ext cx="1058545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Cacheable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1166875" y="4434160"/>
            <a:ext cx="1767839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Interfaz uniforme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5445964" y="1016135"/>
            <a:ext cx="78613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SOAP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4528996" y="1580638"/>
            <a:ext cx="2620010" cy="27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(Simple Object Access Protocol)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5" name="Google Shape;155;p5"/>
          <p:cNvGrpSpPr/>
          <p:nvPr/>
        </p:nvGrpSpPr>
        <p:grpSpPr>
          <a:xfrm>
            <a:off x="4660868" y="888872"/>
            <a:ext cx="6369335" cy="5332730"/>
            <a:chOff x="4660868" y="888872"/>
            <a:chExt cx="6369335" cy="5332730"/>
          </a:xfrm>
        </p:grpSpPr>
        <p:pic>
          <p:nvPicPr>
            <p:cNvPr id="156" name="Google Shape;156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868" y="2173318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868" y="294398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868" y="370579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0868" y="4476463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868" y="5247131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5"/>
            <p:cNvSpPr/>
            <p:nvPr/>
          </p:nvSpPr>
          <p:spPr>
            <a:xfrm>
              <a:off x="7647431" y="888872"/>
              <a:ext cx="168910" cy="5332730"/>
            </a:xfrm>
            <a:custGeom>
              <a:rect b="b" l="l" r="r" t="t"/>
              <a:pathLst>
                <a:path extrusionOk="0" h="5332730" w="168909">
                  <a:moveTo>
                    <a:pt x="168785" y="5332666"/>
                  </a:moveTo>
                  <a:lnTo>
                    <a:pt x="0" y="5332666"/>
                  </a:lnTo>
                  <a:lnTo>
                    <a:pt x="0" y="0"/>
                  </a:lnTo>
                  <a:lnTo>
                    <a:pt x="168782" y="0"/>
                  </a:lnTo>
                  <a:lnTo>
                    <a:pt x="162002" y="1348"/>
                  </a:lnTo>
                  <a:lnTo>
                    <a:pt x="148979" y="6742"/>
                  </a:lnTo>
                  <a:lnTo>
                    <a:pt x="124029" y="39321"/>
                  </a:lnTo>
                  <a:lnTo>
                    <a:pt x="122681" y="46101"/>
                  </a:lnTo>
                  <a:lnTo>
                    <a:pt x="122681" y="5286564"/>
                  </a:lnTo>
                  <a:lnTo>
                    <a:pt x="143232" y="5322081"/>
                  </a:lnTo>
                  <a:lnTo>
                    <a:pt x="162002" y="5331316"/>
                  </a:lnTo>
                  <a:lnTo>
                    <a:pt x="168785" y="5332666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7770113" y="888872"/>
              <a:ext cx="3260090" cy="5332730"/>
            </a:xfrm>
            <a:custGeom>
              <a:rect b="b" l="l" r="r" t="t"/>
              <a:pathLst>
                <a:path extrusionOk="0" h="5332730" w="3260090">
                  <a:moveTo>
                    <a:pt x="3259836" y="5332666"/>
                  </a:moveTo>
                  <a:lnTo>
                    <a:pt x="49660" y="5332666"/>
                  </a:lnTo>
                  <a:lnTo>
                    <a:pt x="46203" y="5332325"/>
                  </a:lnTo>
                  <a:lnTo>
                    <a:pt x="10895" y="5311945"/>
                  </a:lnTo>
                  <a:lnTo>
                    <a:pt x="0" y="5283006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60" y="0"/>
                  </a:lnTo>
                  <a:lnTo>
                    <a:pt x="3259836" y="0"/>
                  </a:lnTo>
                  <a:lnTo>
                    <a:pt x="3259836" y="5332666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" name="Google Shape;163;p5"/>
          <p:cNvSpPr txBox="1"/>
          <p:nvPr/>
        </p:nvSpPr>
        <p:spPr>
          <a:xfrm>
            <a:off x="4851907" y="2007000"/>
            <a:ext cx="2292350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Protocolo más rígido y estructurado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4851907" y="2777668"/>
            <a:ext cx="1568450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 XML exclusivamente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4851907" y="3523623"/>
            <a:ext cx="2456180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Incluye especificaciones de seguridad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4851907" y="4294290"/>
            <a:ext cx="1795780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Independiente del transporte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4851907" y="5080812"/>
            <a:ext cx="1734185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Más complejo de implementar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994523" y="1016135"/>
            <a:ext cx="11658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GraphQL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9" name="Google Shape;169;p5"/>
          <p:cNvGrpSpPr/>
          <p:nvPr/>
        </p:nvGrpSpPr>
        <p:grpSpPr>
          <a:xfrm>
            <a:off x="8345899" y="1712689"/>
            <a:ext cx="70866" cy="2816923"/>
            <a:chOff x="8345899" y="1712689"/>
            <a:chExt cx="70866" cy="2816923"/>
          </a:xfrm>
        </p:grpSpPr>
        <p:pic>
          <p:nvPicPr>
            <p:cNvPr id="170" name="Google Shape;170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45899" y="1712689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45899" y="2474499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45899" y="3245167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45899" y="4015834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45899" y="4458747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" name="Google Shape;175;p5"/>
          <p:cNvSpPr txBox="1"/>
          <p:nvPr/>
        </p:nvSpPr>
        <p:spPr>
          <a:xfrm>
            <a:off x="8536939" y="1546371"/>
            <a:ext cx="2106295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Consultas flexibles y precisas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8536939" y="2292327"/>
            <a:ext cx="2223135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solo endpoint para todas las operaciones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8536939" y="3062994"/>
            <a:ext cx="2541270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Evita el problema de ove fetching y under-fetching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8536939" y="3849516"/>
            <a:ext cx="1359535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Tipado fuerte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8536939" y="4292428"/>
            <a:ext cx="2360295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Introspección integrada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14299" y="6305549"/>
            <a:ext cx="438150" cy="247650"/>
          </a:xfrm>
          <a:custGeom>
            <a:rect b="b" l="l" r="r" t="t"/>
            <a:pathLst>
              <a:path extrusionOk="0" h="247650" w="438150">
                <a:moveTo>
                  <a:pt x="43814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38149" y="0"/>
                </a:lnTo>
                <a:lnTo>
                  <a:pt x="438149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5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>
            <p:ph type="title"/>
          </p:nvPr>
        </p:nvSpPr>
        <p:spPr>
          <a:xfrm>
            <a:off x="3779441" y="52422"/>
            <a:ext cx="4293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Análisis JSON en Peticiones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400049" y="1101470"/>
            <a:ext cx="3629660" cy="4907915"/>
            <a:chOff x="400049" y="1101470"/>
            <a:chExt cx="3629660" cy="4907915"/>
          </a:xfrm>
        </p:grpSpPr>
        <p:sp>
          <p:nvSpPr>
            <p:cNvPr id="188" name="Google Shape;188;p6"/>
            <p:cNvSpPr/>
            <p:nvPr/>
          </p:nvSpPr>
          <p:spPr>
            <a:xfrm>
              <a:off x="400049" y="1101470"/>
              <a:ext cx="3629660" cy="4907915"/>
            </a:xfrm>
            <a:custGeom>
              <a:rect b="b" l="l" r="r" t="t"/>
              <a:pathLst>
                <a:path extrusionOk="0" h="4907915" w="362966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4907915" w="3629660">
                  <a:moveTo>
                    <a:pt x="3629405" y="4907470"/>
                  </a:moveTo>
                  <a:lnTo>
                    <a:pt x="3461763" y="4907470"/>
                  </a:lnTo>
                  <a:lnTo>
                    <a:pt x="3468544" y="4906121"/>
                  </a:lnTo>
                  <a:lnTo>
                    <a:pt x="3481567" y="4900726"/>
                  </a:lnTo>
                  <a:lnTo>
                    <a:pt x="3506517" y="4868148"/>
                  </a:lnTo>
                  <a:lnTo>
                    <a:pt x="3507866" y="4861368"/>
                  </a:lnTo>
                  <a:lnTo>
                    <a:pt x="3507866" y="46101"/>
                  </a:lnTo>
                  <a:lnTo>
                    <a:pt x="3487315" y="10583"/>
                  </a:lnTo>
                  <a:lnTo>
                    <a:pt x="3461765" y="0"/>
                  </a:lnTo>
                  <a:lnTo>
                    <a:pt x="3629405" y="0"/>
                  </a:lnTo>
                  <a:lnTo>
                    <a:pt x="3629405" y="4907470"/>
                  </a:lnTo>
                  <a:close/>
                </a:path>
                <a:path extrusionOk="0" h="4907915" w="3629660">
                  <a:moveTo>
                    <a:pt x="46102" y="4907470"/>
                  </a:moveTo>
                  <a:lnTo>
                    <a:pt x="0" y="4907470"/>
                  </a:lnTo>
                  <a:lnTo>
                    <a:pt x="0" y="4861368"/>
                  </a:lnTo>
                  <a:lnTo>
                    <a:pt x="1348" y="4868148"/>
                  </a:lnTo>
                  <a:lnTo>
                    <a:pt x="6742" y="4881171"/>
                  </a:lnTo>
                  <a:lnTo>
                    <a:pt x="10583" y="4886918"/>
                  </a:lnTo>
                  <a:lnTo>
                    <a:pt x="20550" y="4896886"/>
                  </a:lnTo>
                  <a:lnTo>
                    <a:pt x="26298" y="4900726"/>
                  </a:lnTo>
                  <a:lnTo>
                    <a:pt x="39321" y="4906121"/>
                  </a:lnTo>
                  <a:lnTo>
                    <a:pt x="46102" y="4907470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400049" y="1101470"/>
              <a:ext cx="3508375" cy="4907915"/>
            </a:xfrm>
            <a:custGeom>
              <a:rect b="b" l="l" r="r" t="t"/>
              <a:pathLst>
                <a:path extrusionOk="0" h="4907915" w="3508375">
                  <a:moveTo>
                    <a:pt x="3458207" y="4907469"/>
                  </a:moveTo>
                  <a:lnTo>
                    <a:pt x="49659" y="4907469"/>
                  </a:lnTo>
                  <a:lnTo>
                    <a:pt x="46203" y="4907129"/>
                  </a:lnTo>
                  <a:lnTo>
                    <a:pt x="10896" y="4886750"/>
                  </a:lnTo>
                  <a:lnTo>
                    <a:pt x="0" y="4857810"/>
                  </a:lnTo>
                  <a:lnTo>
                    <a:pt x="0" y="4854320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458207" y="0"/>
                  </a:lnTo>
                  <a:lnTo>
                    <a:pt x="3494767" y="18034"/>
                  </a:lnTo>
                  <a:lnTo>
                    <a:pt x="3507866" y="49659"/>
                  </a:lnTo>
                  <a:lnTo>
                    <a:pt x="3507866" y="4857810"/>
                  </a:lnTo>
                  <a:lnTo>
                    <a:pt x="3489831" y="4894370"/>
                  </a:lnTo>
                  <a:lnTo>
                    <a:pt x="3461663" y="4907129"/>
                  </a:lnTo>
                  <a:lnTo>
                    <a:pt x="3458207" y="4907469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0" name="Google Shape;190;p6"/>
          <p:cNvSpPr txBox="1"/>
          <p:nvPr/>
        </p:nvSpPr>
        <p:spPr>
          <a:xfrm>
            <a:off x="1207745" y="1101483"/>
            <a:ext cx="18930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¿Qué es JSON?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578771" y="1760832"/>
            <a:ext cx="315087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065" marR="5080" rtl="0" algn="ctr">
              <a:lnSpc>
                <a:spcPct val="103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"Formato ligero de intercambio de datos basado en la sintaxis de JavaScript"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2" name="Google Shape;192;p6"/>
          <p:cNvGrpSpPr/>
          <p:nvPr/>
        </p:nvGrpSpPr>
        <p:grpSpPr>
          <a:xfrm>
            <a:off x="3962400" y="1101470"/>
            <a:ext cx="7067676" cy="4907915"/>
            <a:chOff x="3962400" y="1101470"/>
            <a:chExt cx="7067676" cy="4907915"/>
          </a:xfrm>
        </p:grpSpPr>
        <p:sp>
          <p:nvSpPr>
            <p:cNvPr id="193" name="Google Shape;193;p6"/>
            <p:cNvSpPr/>
            <p:nvPr/>
          </p:nvSpPr>
          <p:spPr>
            <a:xfrm>
              <a:off x="3962400" y="1101470"/>
              <a:ext cx="168910" cy="4907915"/>
            </a:xfrm>
            <a:custGeom>
              <a:rect b="b" l="l" r="r" t="t"/>
              <a:pathLst>
                <a:path extrusionOk="0" h="4907915" w="168910">
                  <a:moveTo>
                    <a:pt x="168784" y="4907470"/>
                  </a:moveTo>
                  <a:lnTo>
                    <a:pt x="0" y="4907470"/>
                  </a:lnTo>
                  <a:lnTo>
                    <a:pt x="0" y="0"/>
                  </a:lnTo>
                  <a:lnTo>
                    <a:pt x="168782" y="0"/>
                  </a:lnTo>
                  <a:lnTo>
                    <a:pt x="162003" y="1348"/>
                  </a:lnTo>
                  <a:lnTo>
                    <a:pt x="148979" y="6742"/>
                  </a:lnTo>
                  <a:lnTo>
                    <a:pt x="124030" y="39321"/>
                  </a:lnTo>
                  <a:lnTo>
                    <a:pt x="122681" y="46101"/>
                  </a:lnTo>
                  <a:lnTo>
                    <a:pt x="122681" y="4861368"/>
                  </a:lnTo>
                  <a:lnTo>
                    <a:pt x="143232" y="4896886"/>
                  </a:lnTo>
                  <a:lnTo>
                    <a:pt x="162003" y="4906121"/>
                  </a:lnTo>
                  <a:lnTo>
                    <a:pt x="168784" y="4907470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4085081" y="1101470"/>
              <a:ext cx="6944995" cy="4907915"/>
            </a:xfrm>
            <a:custGeom>
              <a:rect b="b" l="l" r="r" t="t"/>
              <a:pathLst>
                <a:path extrusionOk="0" h="4907915" w="6944995">
                  <a:moveTo>
                    <a:pt x="6944868" y="4907470"/>
                  </a:moveTo>
                  <a:lnTo>
                    <a:pt x="49659" y="4907470"/>
                  </a:lnTo>
                  <a:lnTo>
                    <a:pt x="46203" y="4907129"/>
                  </a:lnTo>
                  <a:lnTo>
                    <a:pt x="10895" y="4886750"/>
                  </a:lnTo>
                  <a:lnTo>
                    <a:pt x="0" y="485781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6944868" y="0"/>
                  </a:lnTo>
                  <a:lnTo>
                    <a:pt x="6944868" y="490747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95" name="Google Shape;19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868" y="1916429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6"/>
          <p:cNvSpPr txBox="1"/>
          <p:nvPr/>
        </p:nvSpPr>
        <p:spPr>
          <a:xfrm>
            <a:off x="4851907" y="812267"/>
            <a:ext cx="55329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7950">
            <a:spAutoFit/>
          </a:bodyPr>
          <a:lstStyle/>
          <a:p>
            <a:pPr indent="0" lvl="0" marL="5524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Características principales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Estructura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Pares clave-valor, arrays, objetos anidados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7" name="Google Shape;197;p6"/>
          <p:cNvGrpSpPr/>
          <p:nvPr/>
        </p:nvGrpSpPr>
        <p:grpSpPr>
          <a:xfrm>
            <a:off x="577215" y="2359342"/>
            <a:ext cx="4154519" cy="2365152"/>
            <a:chOff x="577215" y="2359342"/>
            <a:chExt cx="4154519" cy="2365152"/>
          </a:xfrm>
        </p:grpSpPr>
        <p:pic>
          <p:nvPicPr>
            <p:cNvPr id="198" name="Google Shape;198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868" y="2359342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868" y="2811112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868" y="421071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868" y="4653628"/>
              <a:ext cx="70866" cy="708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6"/>
            <p:cNvSpPr/>
            <p:nvPr/>
          </p:nvSpPr>
          <p:spPr>
            <a:xfrm>
              <a:off x="577215" y="2952844"/>
              <a:ext cx="3154045" cy="1630045"/>
            </a:xfrm>
            <a:custGeom>
              <a:rect b="b" l="l" r="r" t="t"/>
              <a:pathLst>
                <a:path extrusionOk="0" h="1630045" w="3154045">
                  <a:moveTo>
                    <a:pt x="3103877" y="1629917"/>
                  </a:moveTo>
                  <a:lnTo>
                    <a:pt x="49659" y="1629917"/>
                  </a:lnTo>
                  <a:lnTo>
                    <a:pt x="46203" y="1629577"/>
                  </a:lnTo>
                  <a:lnTo>
                    <a:pt x="10896" y="1609198"/>
                  </a:lnTo>
                  <a:lnTo>
                    <a:pt x="0" y="1580258"/>
                  </a:lnTo>
                  <a:lnTo>
                    <a:pt x="0" y="1576768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103877" y="0"/>
                  </a:lnTo>
                  <a:lnTo>
                    <a:pt x="3140437" y="18034"/>
                  </a:lnTo>
                  <a:lnTo>
                    <a:pt x="3153536" y="49659"/>
                  </a:lnTo>
                  <a:lnTo>
                    <a:pt x="3153536" y="1580258"/>
                  </a:lnTo>
                  <a:lnTo>
                    <a:pt x="3135501" y="1616818"/>
                  </a:lnTo>
                  <a:lnTo>
                    <a:pt x="3107333" y="1629577"/>
                  </a:lnTo>
                  <a:lnTo>
                    <a:pt x="3103877" y="1629917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3" name="Google Shape;203;p6"/>
          <p:cNvSpPr txBox="1"/>
          <p:nvPr/>
        </p:nvSpPr>
        <p:spPr>
          <a:xfrm>
            <a:off x="5000757" y="2091666"/>
            <a:ext cx="60294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Ventajas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Legible por humanos, compacto, fácil de procesar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4851907" y="2643849"/>
            <a:ext cx="612521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Tipos de datos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Strings, números, booleanos, arrays, objetos, null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4593345" y="3376829"/>
            <a:ext cx="58059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7950">
            <a:spAutoFit/>
          </a:bodyPr>
          <a:lstStyle/>
          <a:p>
            <a:pPr indent="0" lvl="0" marL="0" marR="2089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Métodos principales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JSON.parse()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Convierte string JSON a objeto JavaScript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4851907" y="4486365"/>
            <a:ext cx="6122670" cy="912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JSON.stringify()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Convierte objeto JavaScript a string JSON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7980" rtl="0" algn="l">
              <a:lnSpc>
                <a:spcPct val="100000"/>
              </a:lnSpc>
              <a:spcBef>
                <a:spcPts val="2170"/>
              </a:spcBef>
              <a:spcAft>
                <a:spcPts val="0"/>
              </a:spcAft>
              <a:buNone/>
            </a:pPr>
            <a:r>
              <a:rPr i="1" lang="en-US" sz="1950">
                <a:solidFill>
                  <a:srgbClr val="E74B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Nota: JSON no soporta comentarios ni funciones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640778" y="2985155"/>
            <a:ext cx="2543175" cy="1496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0" marR="24523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594485" rtl="0" algn="ctr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"usuario": {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594485" rtl="0" algn="ctr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"id": 1,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634365" rtl="0" algn="l">
              <a:lnSpc>
                <a:spcPct val="124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"nombre": "Ana García", "roles": ["admin", "editor"],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1435100" rtl="0" algn="l">
              <a:lnSpc>
                <a:spcPct val="1246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"activo": true, "metadatos": {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"ultimoAcceso":  "2025-05-20T14:30:00Z"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14299" y="6305549"/>
            <a:ext cx="438150" cy="247650"/>
          </a:xfrm>
          <a:custGeom>
            <a:rect b="b" l="l" r="r" t="t"/>
            <a:pathLst>
              <a:path extrusionOk="0" h="247650" w="438150">
                <a:moveTo>
                  <a:pt x="43814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38149" y="0"/>
                </a:lnTo>
                <a:lnTo>
                  <a:pt x="438149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9" name="Google Shape;209;p6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>
            <p:ph type="title"/>
          </p:nvPr>
        </p:nvSpPr>
        <p:spPr>
          <a:xfrm>
            <a:off x="3425175" y="185115"/>
            <a:ext cx="4579620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Trabajando con JSON en APIs</a:t>
            </a:r>
            <a:endParaRPr/>
          </a:p>
        </p:txBody>
      </p:sp>
      <p:grpSp>
        <p:nvGrpSpPr>
          <p:cNvPr id="215" name="Google Shape;215;p7"/>
          <p:cNvGrpSpPr/>
          <p:nvPr/>
        </p:nvGrpSpPr>
        <p:grpSpPr>
          <a:xfrm>
            <a:off x="400049" y="871156"/>
            <a:ext cx="10629900" cy="2823210"/>
            <a:chOff x="400049" y="871156"/>
            <a:chExt cx="10629900" cy="2823210"/>
          </a:xfrm>
        </p:grpSpPr>
        <p:sp>
          <p:nvSpPr>
            <p:cNvPr id="216" name="Google Shape;216;p7"/>
            <p:cNvSpPr/>
            <p:nvPr/>
          </p:nvSpPr>
          <p:spPr>
            <a:xfrm>
              <a:off x="400049" y="871156"/>
              <a:ext cx="10629900" cy="2823210"/>
            </a:xfrm>
            <a:custGeom>
              <a:rect b="b" l="l" r="r" t="t"/>
              <a:pathLst>
                <a:path extrusionOk="0" h="2823210" w="1062990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2823210" w="10629900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extrusionOk="0" h="2823210" w="10629900">
                  <a:moveTo>
                    <a:pt x="10629899" y="2823019"/>
                  </a:moveTo>
                  <a:lnTo>
                    <a:pt x="0" y="2823019"/>
                  </a:lnTo>
                  <a:lnTo>
                    <a:pt x="0" y="2637948"/>
                  </a:lnTo>
                  <a:lnTo>
                    <a:pt x="1348" y="2644727"/>
                  </a:lnTo>
                  <a:lnTo>
                    <a:pt x="6742" y="2657750"/>
                  </a:lnTo>
                  <a:lnTo>
                    <a:pt x="39321" y="2682700"/>
                  </a:lnTo>
                  <a:lnTo>
                    <a:pt x="46101" y="2684049"/>
                  </a:lnTo>
                  <a:lnTo>
                    <a:pt x="10629899" y="2684049"/>
                  </a:lnTo>
                  <a:lnTo>
                    <a:pt x="10629899" y="2823019"/>
                  </a:lnTo>
                  <a:close/>
                </a:path>
                <a:path extrusionOk="0" h="2823210" w="10629900">
                  <a:moveTo>
                    <a:pt x="10629899" y="2684049"/>
                  </a:moveTo>
                  <a:lnTo>
                    <a:pt x="10583797" y="2684049"/>
                  </a:lnTo>
                  <a:lnTo>
                    <a:pt x="10590576" y="2682700"/>
                  </a:lnTo>
                  <a:lnTo>
                    <a:pt x="10603599" y="2677305"/>
                  </a:lnTo>
                  <a:lnTo>
                    <a:pt x="10628550" y="2644727"/>
                  </a:lnTo>
                  <a:lnTo>
                    <a:pt x="10629899" y="2637948"/>
                  </a:lnTo>
                  <a:lnTo>
                    <a:pt x="10629899" y="2684049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400049" y="871156"/>
              <a:ext cx="10629900" cy="2684145"/>
            </a:xfrm>
            <a:custGeom>
              <a:rect b="b" l="l" r="r" t="t"/>
              <a:pathLst>
                <a:path extrusionOk="0" h="2684145" w="10629900">
                  <a:moveTo>
                    <a:pt x="10580239" y="2684049"/>
                  </a:moveTo>
                  <a:lnTo>
                    <a:pt x="49659" y="2684049"/>
                  </a:lnTo>
                  <a:lnTo>
                    <a:pt x="46203" y="2683709"/>
                  </a:lnTo>
                  <a:lnTo>
                    <a:pt x="10896" y="2663330"/>
                  </a:lnTo>
                  <a:lnTo>
                    <a:pt x="0" y="2634389"/>
                  </a:lnTo>
                  <a:lnTo>
                    <a:pt x="0" y="2630900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2634389"/>
                  </a:lnTo>
                  <a:lnTo>
                    <a:pt x="10611863" y="2670949"/>
                  </a:lnTo>
                  <a:lnTo>
                    <a:pt x="10583695" y="2683709"/>
                  </a:lnTo>
                  <a:lnTo>
                    <a:pt x="10580239" y="2684049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8" name="Google Shape;218;p7"/>
          <p:cNvSpPr txBox="1"/>
          <p:nvPr/>
        </p:nvSpPr>
        <p:spPr>
          <a:xfrm>
            <a:off x="4388510" y="998418"/>
            <a:ext cx="265303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Enviando datos JSON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9" name="Google Shape;219;p7"/>
          <p:cNvGrpSpPr/>
          <p:nvPr/>
        </p:nvGrpSpPr>
        <p:grpSpPr>
          <a:xfrm>
            <a:off x="400050" y="3627119"/>
            <a:ext cx="10629900" cy="2612231"/>
            <a:chOff x="400050" y="3627119"/>
            <a:chExt cx="10629900" cy="2612231"/>
          </a:xfrm>
        </p:grpSpPr>
        <p:sp>
          <p:nvSpPr>
            <p:cNvPr id="220" name="Google Shape;220;p7"/>
            <p:cNvSpPr/>
            <p:nvPr/>
          </p:nvSpPr>
          <p:spPr>
            <a:xfrm>
              <a:off x="400050" y="3627119"/>
              <a:ext cx="10629900" cy="151765"/>
            </a:xfrm>
            <a:custGeom>
              <a:rect b="b" l="l" r="r" t="t"/>
              <a:pathLst>
                <a:path extrusionOk="0" h="151764" w="10629900">
                  <a:moveTo>
                    <a:pt x="0" y="151355"/>
                  </a:moveTo>
                  <a:lnTo>
                    <a:pt x="0" y="0"/>
                  </a:lnTo>
                  <a:lnTo>
                    <a:pt x="10629899" y="0"/>
                  </a:lnTo>
                  <a:lnTo>
                    <a:pt x="10629899" y="105251"/>
                  </a:lnTo>
                  <a:lnTo>
                    <a:pt x="46101" y="105251"/>
                  </a:lnTo>
                  <a:lnTo>
                    <a:pt x="39321" y="106599"/>
                  </a:lnTo>
                  <a:lnTo>
                    <a:pt x="6742" y="131549"/>
                  </a:lnTo>
                  <a:lnTo>
                    <a:pt x="1348" y="144572"/>
                  </a:lnTo>
                  <a:lnTo>
                    <a:pt x="0" y="151355"/>
                  </a:lnTo>
                  <a:close/>
                </a:path>
                <a:path extrusionOk="0" h="151764" w="10629900">
                  <a:moveTo>
                    <a:pt x="10629899" y="151355"/>
                  </a:moveTo>
                  <a:lnTo>
                    <a:pt x="10609347" y="115834"/>
                  </a:lnTo>
                  <a:lnTo>
                    <a:pt x="10583797" y="105251"/>
                  </a:lnTo>
                  <a:lnTo>
                    <a:pt x="10629899" y="105251"/>
                  </a:lnTo>
                  <a:lnTo>
                    <a:pt x="10629899" y="151355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400050" y="3732370"/>
              <a:ext cx="10629900" cy="2506980"/>
            </a:xfrm>
            <a:custGeom>
              <a:rect b="b" l="l" r="r" t="t"/>
              <a:pathLst>
                <a:path extrusionOk="0" h="2506979" w="10629900">
                  <a:moveTo>
                    <a:pt x="10629900" y="2506884"/>
                  </a:moveTo>
                  <a:lnTo>
                    <a:pt x="0" y="2506884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59" y="0"/>
                  </a:lnTo>
                  <a:lnTo>
                    <a:pt x="10580240" y="0"/>
                  </a:lnTo>
                  <a:lnTo>
                    <a:pt x="10616800" y="18034"/>
                  </a:lnTo>
                  <a:lnTo>
                    <a:pt x="10629900" y="2506884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22" name="Google Shape;222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6977" y="4520755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6977" y="4954809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6977" y="5380005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6977" y="5814059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7"/>
          <p:cNvSpPr txBox="1"/>
          <p:nvPr/>
        </p:nvSpPr>
        <p:spPr>
          <a:xfrm>
            <a:off x="1158017" y="3692641"/>
            <a:ext cx="7003415" cy="229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150">
            <a:spAutoFit/>
          </a:bodyPr>
          <a:lstStyle/>
          <a:p>
            <a:pPr indent="0" lvl="0" marL="2353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Buenas prácticas al trabajar con JSON</a:t>
            </a:r>
            <a:endParaRPr sz="2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Validación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Verificar la estructura y tipos de datos recibidos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431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Manejo de errores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Capturar excepciones al analizar JSON malformado </a:t>
            </a: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Sanitización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Limpiar datos antes de procesarlos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Profundidad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Tener cuidado con objetos muy anidados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77215" y="1562099"/>
            <a:ext cx="10275570" cy="1621155"/>
          </a:xfrm>
          <a:custGeom>
            <a:rect b="b" l="l" r="r" t="t"/>
            <a:pathLst>
              <a:path extrusionOk="0" h="1621155" w="10275570">
                <a:moveTo>
                  <a:pt x="10225910" y="1621059"/>
                </a:moveTo>
                <a:lnTo>
                  <a:pt x="49659" y="1621059"/>
                </a:lnTo>
                <a:lnTo>
                  <a:pt x="46203" y="1620719"/>
                </a:lnTo>
                <a:lnTo>
                  <a:pt x="10896" y="1600339"/>
                </a:lnTo>
                <a:lnTo>
                  <a:pt x="0" y="1571400"/>
                </a:lnTo>
                <a:lnTo>
                  <a:pt x="0" y="1567910"/>
                </a:lnTo>
                <a:lnTo>
                  <a:pt x="0" y="49659"/>
                </a:lnTo>
                <a:lnTo>
                  <a:pt x="18034" y="13099"/>
                </a:lnTo>
                <a:lnTo>
                  <a:pt x="49659" y="0"/>
                </a:lnTo>
                <a:lnTo>
                  <a:pt x="10225910" y="0"/>
                </a:lnTo>
                <a:lnTo>
                  <a:pt x="10262471" y="18034"/>
                </a:lnTo>
                <a:lnTo>
                  <a:pt x="10275570" y="49659"/>
                </a:lnTo>
                <a:lnTo>
                  <a:pt x="10275570" y="1571400"/>
                </a:lnTo>
                <a:lnTo>
                  <a:pt x="10257536" y="1607959"/>
                </a:lnTo>
                <a:lnTo>
                  <a:pt x="10229366" y="1620719"/>
                </a:lnTo>
                <a:lnTo>
                  <a:pt x="10225910" y="1621059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8" name="Google Shape;228;p7"/>
          <p:cNvSpPr txBox="1"/>
          <p:nvPr/>
        </p:nvSpPr>
        <p:spPr>
          <a:xfrm>
            <a:off x="640778" y="1585552"/>
            <a:ext cx="3515995" cy="1496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14935" lvl="0" marL="127000" marR="1206500" rtl="0" algn="l">
              <a:lnSpc>
                <a:spcPct val="124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fetch('https://api.ejemplo.com/datos', { method: 'POST',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marR="405130" rtl="0" algn="l">
              <a:lnSpc>
                <a:spcPct val="124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headers: { 'Content-Type': 'application/json' }, body: JSON.stringify({ nombre: 'Usuario', id: 123 })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.then(response =&gt; {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marR="5080" rtl="0" algn="l">
              <a:lnSpc>
                <a:spcPct val="124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if (!response.ok) throw new Error('Error en la solicitud'); return response.json();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.then(data =&gt; console.log('Respuesta:', data))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9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.catch(error =&gt; console.error('Error:', error));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14299" y="6305549"/>
            <a:ext cx="438150" cy="247650"/>
          </a:xfrm>
          <a:custGeom>
            <a:rect b="b" l="l" r="r" t="t"/>
            <a:pathLst>
              <a:path extrusionOk="0" h="247650" w="438150">
                <a:moveTo>
                  <a:pt x="43814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38149" y="0"/>
                </a:lnTo>
                <a:lnTo>
                  <a:pt x="438149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0" name="Google Shape;230;p7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 txBox="1"/>
          <p:nvPr>
            <p:ph type="title"/>
          </p:nvPr>
        </p:nvSpPr>
        <p:spPr>
          <a:xfrm>
            <a:off x="2866137" y="211690"/>
            <a:ext cx="569785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Desplazamiento a través de los Nodos</a:t>
            </a:r>
            <a:endParaRPr/>
          </a:p>
        </p:txBody>
      </p:sp>
      <p:grpSp>
        <p:nvGrpSpPr>
          <p:cNvPr id="236" name="Google Shape;236;p8"/>
          <p:cNvGrpSpPr/>
          <p:nvPr/>
        </p:nvGrpSpPr>
        <p:grpSpPr>
          <a:xfrm>
            <a:off x="400049" y="915447"/>
            <a:ext cx="3629660" cy="5280025"/>
            <a:chOff x="400049" y="915447"/>
            <a:chExt cx="3629660" cy="5280025"/>
          </a:xfrm>
        </p:grpSpPr>
        <p:sp>
          <p:nvSpPr>
            <p:cNvPr id="237" name="Google Shape;237;p8"/>
            <p:cNvSpPr/>
            <p:nvPr/>
          </p:nvSpPr>
          <p:spPr>
            <a:xfrm>
              <a:off x="400049" y="915447"/>
              <a:ext cx="3629660" cy="5280025"/>
            </a:xfrm>
            <a:custGeom>
              <a:rect b="b" l="l" r="r" t="t"/>
              <a:pathLst>
                <a:path extrusionOk="0" h="5280025" w="362966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280025" w="3629660">
                  <a:moveTo>
                    <a:pt x="3629405" y="5279516"/>
                  </a:moveTo>
                  <a:lnTo>
                    <a:pt x="3461762" y="5279516"/>
                  </a:lnTo>
                  <a:lnTo>
                    <a:pt x="3468544" y="5278167"/>
                  </a:lnTo>
                  <a:lnTo>
                    <a:pt x="3481567" y="5272772"/>
                  </a:lnTo>
                  <a:lnTo>
                    <a:pt x="3506517" y="5240194"/>
                  </a:lnTo>
                  <a:lnTo>
                    <a:pt x="3507866" y="5233414"/>
                  </a:lnTo>
                  <a:lnTo>
                    <a:pt x="3507866" y="46101"/>
                  </a:lnTo>
                  <a:lnTo>
                    <a:pt x="3487315" y="10583"/>
                  </a:lnTo>
                  <a:lnTo>
                    <a:pt x="3461765" y="0"/>
                  </a:lnTo>
                  <a:lnTo>
                    <a:pt x="3629405" y="0"/>
                  </a:lnTo>
                  <a:lnTo>
                    <a:pt x="3629405" y="5279516"/>
                  </a:lnTo>
                  <a:close/>
                </a:path>
                <a:path extrusionOk="0" h="5280025" w="3629660">
                  <a:moveTo>
                    <a:pt x="46104" y="5279516"/>
                  </a:moveTo>
                  <a:lnTo>
                    <a:pt x="0" y="5279516"/>
                  </a:lnTo>
                  <a:lnTo>
                    <a:pt x="0" y="5233415"/>
                  </a:lnTo>
                  <a:lnTo>
                    <a:pt x="1348" y="5240194"/>
                  </a:lnTo>
                  <a:lnTo>
                    <a:pt x="6742" y="5253217"/>
                  </a:lnTo>
                  <a:lnTo>
                    <a:pt x="10583" y="5258965"/>
                  </a:lnTo>
                  <a:lnTo>
                    <a:pt x="20550" y="5268932"/>
                  </a:lnTo>
                  <a:lnTo>
                    <a:pt x="26298" y="5272772"/>
                  </a:lnTo>
                  <a:lnTo>
                    <a:pt x="39321" y="5278167"/>
                  </a:lnTo>
                  <a:lnTo>
                    <a:pt x="46104" y="5279516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400049" y="915447"/>
              <a:ext cx="3508375" cy="5280025"/>
            </a:xfrm>
            <a:custGeom>
              <a:rect b="b" l="l" r="r" t="t"/>
              <a:pathLst>
                <a:path extrusionOk="0" h="5280025" w="3508375">
                  <a:moveTo>
                    <a:pt x="3458207" y="5279516"/>
                  </a:moveTo>
                  <a:lnTo>
                    <a:pt x="49659" y="5279516"/>
                  </a:lnTo>
                  <a:lnTo>
                    <a:pt x="46203" y="5279176"/>
                  </a:lnTo>
                  <a:lnTo>
                    <a:pt x="10896" y="5258796"/>
                  </a:lnTo>
                  <a:lnTo>
                    <a:pt x="0" y="5229856"/>
                  </a:lnTo>
                  <a:lnTo>
                    <a:pt x="0" y="5226367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458207" y="0"/>
                  </a:lnTo>
                  <a:lnTo>
                    <a:pt x="3494767" y="18034"/>
                  </a:lnTo>
                  <a:lnTo>
                    <a:pt x="3507866" y="49659"/>
                  </a:lnTo>
                  <a:lnTo>
                    <a:pt x="3507866" y="5229856"/>
                  </a:lnTo>
                  <a:lnTo>
                    <a:pt x="3489831" y="5266416"/>
                  </a:lnTo>
                  <a:lnTo>
                    <a:pt x="3461663" y="5279176"/>
                  </a:lnTo>
                  <a:lnTo>
                    <a:pt x="3458207" y="5279516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9" name="Google Shape;239;p8"/>
          <p:cNvSpPr txBox="1"/>
          <p:nvPr/>
        </p:nvSpPr>
        <p:spPr>
          <a:xfrm>
            <a:off x="989987" y="1049460"/>
            <a:ext cx="232791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Métodos de selección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966977" y="1668398"/>
            <a:ext cx="62230" cy="62230"/>
          </a:xfrm>
          <a:custGeom>
            <a:rect b="b" l="l" r="r" t="t"/>
            <a:pathLst>
              <a:path extrusionOk="0" h="62230" w="62230">
                <a:moveTo>
                  <a:pt x="35115" y="62007"/>
                </a:moveTo>
                <a:lnTo>
                  <a:pt x="26892" y="62007"/>
                </a:lnTo>
                <a:lnTo>
                  <a:pt x="22937" y="61220"/>
                </a:lnTo>
                <a:lnTo>
                  <a:pt x="0" y="35115"/>
                </a:lnTo>
                <a:lnTo>
                  <a:pt x="0" y="26892"/>
                </a:lnTo>
                <a:lnTo>
                  <a:pt x="26892" y="0"/>
                </a:lnTo>
                <a:lnTo>
                  <a:pt x="35115" y="0"/>
                </a:lnTo>
                <a:lnTo>
                  <a:pt x="62007" y="31003"/>
                </a:lnTo>
                <a:lnTo>
                  <a:pt x="62007" y="35115"/>
                </a:lnTo>
                <a:lnTo>
                  <a:pt x="35115" y="62007"/>
                </a:lnTo>
                <a:close/>
              </a:path>
            </a:pathLst>
          </a:custGeom>
          <a:solidFill>
            <a:srgbClr val="333A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" name="Google Shape;241;p8"/>
          <p:cNvSpPr txBox="1"/>
          <p:nvPr/>
        </p:nvSpPr>
        <p:spPr>
          <a:xfrm>
            <a:off x="1140301" y="1530509"/>
            <a:ext cx="281622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document.getElementBy</a:t>
            </a:r>
            <a:endParaRPr sz="1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966977" y="2120169"/>
            <a:ext cx="62230" cy="62230"/>
          </a:xfrm>
          <a:custGeom>
            <a:rect b="b" l="l" r="r" t="t"/>
            <a:pathLst>
              <a:path extrusionOk="0" h="62230" w="62230">
                <a:moveTo>
                  <a:pt x="35115" y="62007"/>
                </a:moveTo>
                <a:lnTo>
                  <a:pt x="26892" y="62007"/>
                </a:lnTo>
                <a:lnTo>
                  <a:pt x="22937" y="61220"/>
                </a:lnTo>
                <a:lnTo>
                  <a:pt x="0" y="35115"/>
                </a:lnTo>
                <a:lnTo>
                  <a:pt x="0" y="26892"/>
                </a:lnTo>
                <a:lnTo>
                  <a:pt x="26892" y="0"/>
                </a:lnTo>
                <a:lnTo>
                  <a:pt x="35115" y="0"/>
                </a:lnTo>
                <a:lnTo>
                  <a:pt x="62007" y="31003"/>
                </a:lnTo>
                <a:lnTo>
                  <a:pt x="62007" y="35115"/>
                </a:lnTo>
                <a:lnTo>
                  <a:pt x="35115" y="62007"/>
                </a:lnTo>
                <a:close/>
              </a:path>
            </a:pathLst>
          </a:custGeom>
          <a:solidFill>
            <a:srgbClr val="333A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3" name="Google Shape;243;p8"/>
          <p:cNvSpPr txBox="1"/>
          <p:nvPr/>
        </p:nvSpPr>
        <p:spPr>
          <a:xfrm>
            <a:off x="1140301" y="1982280"/>
            <a:ext cx="281622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document.querySelecto</a:t>
            </a:r>
            <a:endParaRPr sz="1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966977" y="2571940"/>
            <a:ext cx="62230" cy="62230"/>
          </a:xfrm>
          <a:custGeom>
            <a:rect b="b" l="l" r="r" t="t"/>
            <a:pathLst>
              <a:path extrusionOk="0" h="62230" w="62230">
                <a:moveTo>
                  <a:pt x="35115" y="62007"/>
                </a:moveTo>
                <a:lnTo>
                  <a:pt x="26892" y="62007"/>
                </a:lnTo>
                <a:lnTo>
                  <a:pt x="22937" y="61220"/>
                </a:lnTo>
                <a:lnTo>
                  <a:pt x="0" y="35115"/>
                </a:lnTo>
                <a:lnTo>
                  <a:pt x="0" y="26892"/>
                </a:lnTo>
                <a:lnTo>
                  <a:pt x="26892" y="0"/>
                </a:lnTo>
                <a:lnTo>
                  <a:pt x="35115" y="0"/>
                </a:lnTo>
                <a:lnTo>
                  <a:pt x="62007" y="31003"/>
                </a:lnTo>
                <a:lnTo>
                  <a:pt x="62007" y="35115"/>
                </a:lnTo>
                <a:lnTo>
                  <a:pt x="35115" y="62007"/>
                </a:lnTo>
                <a:close/>
              </a:path>
            </a:pathLst>
          </a:custGeom>
          <a:solidFill>
            <a:srgbClr val="333A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5" name="Google Shape;245;p8"/>
          <p:cNvSpPr txBox="1"/>
          <p:nvPr/>
        </p:nvSpPr>
        <p:spPr>
          <a:xfrm>
            <a:off x="1140301" y="2345105"/>
            <a:ext cx="2816225" cy="716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37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document.querySelecto p')</a:t>
            </a:r>
            <a:endParaRPr sz="1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966977" y="3927252"/>
            <a:ext cx="62230" cy="62230"/>
          </a:xfrm>
          <a:custGeom>
            <a:rect b="b" l="l" r="r" t="t"/>
            <a:pathLst>
              <a:path extrusionOk="0" h="62229" w="62230">
                <a:moveTo>
                  <a:pt x="35115" y="62007"/>
                </a:moveTo>
                <a:lnTo>
                  <a:pt x="26892" y="62007"/>
                </a:lnTo>
                <a:lnTo>
                  <a:pt x="22937" y="61220"/>
                </a:lnTo>
                <a:lnTo>
                  <a:pt x="0" y="35114"/>
                </a:lnTo>
                <a:lnTo>
                  <a:pt x="0" y="26892"/>
                </a:lnTo>
                <a:lnTo>
                  <a:pt x="26892" y="0"/>
                </a:lnTo>
                <a:lnTo>
                  <a:pt x="35115" y="0"/>
                </a:lnTo>
                <a:lnTo>
                  <a:pt x="62007" y="31003"/>
                </a:lnTo>
                <a:lnTo>
                  <a:pt x="62007" y="35114"/>
                </a:lnTo>
                <a:lnTo>
                  <a:pt x="35115" y="62007"/>
                </a:lnTo>
                <a:close/>
              </a:path>
            </a:pathLst>
          </a:custGeom>
          <a:solidFill>
            <a:srgbClr val="333A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7" name="Google Shape;247;p8"/>
          <p:cNvSpPr txBox="1"/>
          <p:nvPr/>
        </p:nvSpPr>
        <p:spPr>
          <a:xfrm>
            <a:off x="879259" y="3154028"/>
            <a:ext cx="2549525" cy="1263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-261619" lvl="0" marL="273685" marR="5080" rtl="0" algn="l">
              <a:lnSpc>
                <a:spcPct val="13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Métodos de navegación </a:t>
            </a:r>
            <a:r>
              <a:rPr lang="en-US" sz="1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parentNode</a:t>
            </a:r>
            <a:r>
              <a:rPr lang="en-US" sz="18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childNodes</a:t>
            </a:r>
            <a:endParaRPr sz="165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48" name="Google Shape;248;p8"/>
          <p:cNvGrpSpPr/>
          <p:nvPr/>
        </p:nvGrpSpPr>
        <p:grpSpPr>
          <a:xfrm>
            <a:off x="966965" y="915447"/>
            <a:ext cx="10063111" cy="5280025"/>
            <a:chOff x="966965" y="915447"/>
            <a:chExt cx="10063111" cy="5280025"/>
          </a:xfrm>
        </p:grpSpPr>
        <p:sp>
          <p:nvSpPr>
            <p:cNvPr id="249" name="Google Shape;249;p8"/>
            <p:cNvSpPr/>
            <p:nvPr/>
          </p:nvSpPr>
          <p:spPr>
            <a:xfrm>
              <a:off x="966965" y="4724501"/>
              <a:ext cx="62230" cy="850900"/>
            </a:xfrm>
            <a:custGeom>
              <a:rect b="b" l="l" r="r" t="t"/>
              <a:pathLst>
                <a:path extrusionOk="0" h="850900" w="62230">
                  <a:moveTo>
                    <a:pt x="62014" y="815276"/>
                  </a:moveTo>
                  <a:lnTo>
                    <a:pt x="35115" y="788377"/>
                  </a:lnTo>
                  <a:lnTo>
                    <a:pt x="26898" y="788377"/>
                  </a:lnTo>
                  <a:lnTo>
                    <a:pt x="0" y="815276"/>
                  </a:lnTo>
                  <a:lnTo>
                    <a:pt x="0" y="823493"/>
                  </a:lnTo>
                  <a:lnTo>
                    <a:pt x="26898" y="850392"/>
                  </a:lnTo>
                  <a:lnTo>
                    <a:pt x="35115" y="850392"/>
                  </a:lnTo>
                  <a:lnTo>
                    <a:pt x="62014" y="823493"/>
                  </a:lnTo>
                  <a:lnTo>
                    <a:pt x="62014" y="819391"/>
                  </a:lnTo>
                  <a:lnTo>
                    <a:pt x="62014" y="815276"/>
                  </a:lnTo>
                  <a:close/>
                </a:path>
                <a:path extrusionOk="0" h="850900" w="62230">
                  <a:moveTo>
                    <a:pt x="62014" y="26885"/>
                  </a:moveTo>
                  <a:lnTo>
                    <a:pt x="35115" y="0"/>
                  </a:lnTo>
                  <a:lnTo>
                    <a:pt x="26898" y="0"/>
                  </a:lnTo>
                  <a:lnTo>
                    <a:pt x="0" y="26885"/>
                  </a:lnTo>
                  <a:lnTo>
                    <a:pt x="0" y="35115"/>
                  </a:lnTo>
                  <a:lnTo>
                    <a:pt x="26898" y="62001"/>
                  </a:lnTo>
                  <a:lnTo>
                    <a:pt x="35115" y="62001"/>
                  </a:lnTo>
                  <a:lnTo>
                    <a:pt x="62014" y="35115"/>
                  </a:lnTo>
                  <a:lnTo>
                    <a:pt x="62014" y="31000"/>
                  </a:lnTo>
                  <a:lnTo>
                    <a:pt x="62014" y="26885"/>
                  </a:lnTo>
                  <a:close/>
                </a:path>
              </a:pathLst>
            </a:custGeom>
            <a:solidFill>
              <a:srgbClr val="333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3962399" y="915447"/>
              <a:ext cx="168910" cy="5280025"/>
            </a:xfrm>
            <a:custGeom>
              <a:rect b="b" l="l" r="r" t="t"/>
              <a:pathLst>
                <a:path extrusionOk="0" h="5280025" w="168910">
                  <a:moveTo>
                    <a:pt x="168786" y="5279516"/>
                  </a:moveTo>
                  <a:lnTo>
                    <a:pt x="0" y="5279516"/>
                  </a:lnTo>
                  <a:lnTo>
                    <a:pt x="0" y="0"/>
                  </a:lnTo>
                  <a:lnTo>
                    <a:pt x="168782" y="0"/>
                  </a:lnTo>
                  <a:lnTo>
                    <a:pt x="162003" y="1348"/>
                  </a:lnTo>
                  <a:lnTo>
                    <a:pt x="148979" y="6742"/>
                  </a:lnTo>
                  <a:lnTo>
                    <a:pt x="124030" y="39321"/>
                  </a:lnTo>
                  <a:lnTo>
                    <a:pt x="122681" y="46101"/>
                  </a:lnTo>
                  <a:lnTo>
                    <a:pt x="122681" y="5233414"/>
                  </a:lnTo>
                  <a:lnTo>
                    <a:pt x="143232" y="5268932"/>
                  </a:lnTo>
                  <a:lnTo>
                    <a:pt x="162003" y="5278167"/>
                  </a:lnTo>
                  <a:lnTo>
                    <a:pt x="168786" y="5279516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4085081" y="915447"/>
              <a:ext cx="6944995" cy="5280025"/>
            </a:xfrm>
            <a:custGeom>
              <a:rect b="b" l="l" r="r" t="t"/>
              <a:pathLst>
                <a:path extrusionOk="0" h="5280025" w="6944995">
                  <a:moveTo>
                    <a:pt x="6944868" y="5279517"/>
                  </a:moveTo>
                  <a:lnTo>
                    <a:pt x="49659" y="5279517"/>
                  </a:lnTo>
                  <a:lnTo>
                    <a:pt x="13098" y="5261481"/>
                  </a:lnTo>
                  <a:lnTo>
                    <a:pt x="0" y="5229857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6944868" y="0"/>
                  </a:lnTo>
                  <a:lnTo>
                    <a:pt x="6944868" y="5279517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2" name="Google Shape;252;p8"/>
          <p:cNvSpPr txBox="1"/>
          <p:nvPr/>
        </p:nvSpPr>
        <p:spPr>
          <a:xfrm>
            <a:off x="1140301" y="4485338"/>
            <a:ext cx="201866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marR="5080" rtl="0" algn="l">
              <a:lnSpc>
                <a:spcPct val="12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nextSibling</a:t>
            </a:r>
            <a:r>
              <a:rPr lang="en-US" sz="18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previousSibling</a:t>
            </a:r>
            <a:endParaRPr sz="1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1140301" y="5356692"/>
            <a:ext cx="2528570" cy="304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ﬁrstChild</a:t>
            </a:r>
            <a:r>
              <a:rPr lang="en-US" sz="18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lastChild</a:t>
            </a:r>
            <a:endParaRPr sz="1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6997403" y="1042709"/>
            <a:ext cx="12979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Definición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4373424" y="1599520"/>
            <a:ext cx="6545580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-1894205" lvl="0" marL="190627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"Navegación y manipulación de la estructura jerárquica del DOM (Document Object Model)"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6613315" y="2406880"/>
            <a:ext cx="20656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Ejemplo práctico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262247" y="2961703"/>
            <a:ext cx="6767830" cy="2418715"/>
          </a:xfrm>
          <a:custGeom>
            <a:rect b="b" l="l" r="r" t="t"/>
            <a:pathLst>
              <a:path extrusionOk="0" h="2418715" w="6767830">
                <a:moveTo>
                  <a:pt x="6718043" y="2418301"/>
                </a:moveTo>
                <a:lnTo>
                  <a:pt x="49659" y="2418301"/>
                </a:lnTo>
                <a:lnTo>
                  <a:pt x="46203" y="2417960"/>
                </a:lnTo>
                <a:lnTo>
                  <a:pt x="10896" y="2397582"/>
                </a:lnTo>
                <a:lnTo>
                  <a:pt x="0" y="2365152"/>
                </a:lnTo>
                <a:lnTo>
                  <a:pt x="0" y="49659"/>
                </a:lnTo>
                <a:lnTo>
                  <a:pt x="18034" y="13098"/>
                </a:lnTo>
                <a:lnTo>
                  <a:pt x="49659" y="0"/>
                </a:lnTo>
                <a:lnTo>
                  <a:pt x="6718043" y="0"/>
                </a:lnTo>
                <a:lnTo>
                  <a:pt x="6754604" y="18034"/>
                </a:lnTo>
                <a:lnTo>
                  <a:pt x="6767703" y="49659"/>
                </a:lnTo>
                <a:lnTo>
                  <a:pt x="6767703" y="2368642"/>
                </a:lnTo>
                <a:lnTo>
                  <a:pt x="6749666" y="2405201"/>
                </a:lnTo>
                <a:lnTo>
                  <a:pt x="6718043" y="2418301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8" name="Google Shape;258;p8"/>
          <p:cNvSpPr txBox="1"/>
          <p:nvPr/>
        </p:nvSpPr>
        <p:spPr>
          <a:xfrm>
            <a:off x="4325810" y="2985155"/>
            <a:ext cx="3287395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Seleccionar un elemento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const contenedor = document.querySelector('.resultados');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4325810" y="3392634"/>
            <a:ext cx="2715260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Navegar a hijos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const primerHijo = contenedor.ﬁrstElementChild;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4325810" y="3791256"/>
            <a:ext cx="3230245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Navegar a hermanos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const siguienteElemento = primerHijo.nextElementSibling;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4325810" y="4189877"/>
            <a:ext cx="2658110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Navegar a padres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const padre = siguienteElemento.parentElement;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4325810" y="4588498"/>
            <a:ext cx="2829560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4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Modiﬁcar atributos siguienteElemento.setAttribute('data-id',  '123');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4325810" y="4995978"/>
            <a:ext cx="2658110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4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Modiﬁcar contenido siguienteElemento.textContent = 'Nuevo texto';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14299" y="6305549"/>
            <a:ext cx="438150" cy="247650"/>
          </a:xfrm>
          <a:custGeom>
            <a:rect b="b" l="l" r="r" t="t"/>
            <a:pathLst>
              <a:path extrusionOk="0" h="247650" w="438150">
                <a:moveTo>
                  <a:pt x="43814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38149" y="0"/>
                </a:lnTo>
                <a:lnTo>
                  <a:pt x="438149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5" name="Google Shape;265;p8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 txBox="1"/>
          <p:nvPr>
            <p:ph type="title"/>
          </p:nvPr>
        </p:nvSpPr>
        <p:spPr>
          <a:xfrm>
            <a:off x="2560942" y="326847"/>
            <a:ext cx="6308090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Manipulación del DOM con Datos de API</a:t>
            </a:r>
            <a:endParaRPr/>
          </a:p>
        </p:txBody>
      </p:sp>
      <p:grpSp>
        <p:nvGrpSpPr>
          <p:cNvPr id="271" name="Google Shape;271;p9"/>
          <p:cNvGrpSpPr/>
          <p:nvPr/>
        </p:nvGrpSpPr>
        <p:grpSpPr>
          <a:xfrm>
            <a:off x="400049" y="1163478"/>
            <a:ext cx="10629900" cy="4792345"/>
            <a:chOff x="400049" y="1163478"/>
            <a:chExt cx="10629900" cy="4792345"/>
          </a:xfrm>
        </p:grpSpPr>
        <p:sp>
          <p:nvSpPr>
            <p:cNvPr id="272" name="Google Shape;272;p9"/>
            <p:cNvSpPr/>
            <p:nvPr/>
          </p:nvSpPr>
          <p:spPr>
            <a:xfrm>
              <a:off x="400049" y="1163478"/>
              <a:ext cx="10629900" cy="4792345"/>
            </a:xfrm>
            <a:custGeom>
              <a:rect b="b" l="l" r="r" t="t"/>
              <a:pathLst>
                <a:path extrusionOk="0" h="4792345" w="1062990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4792345" w="10629900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extrusionOk="0" h="4792345" w="10629900">
                  <a:moveTo>
                    <a:pt x="10629899" y="4792313"/>
                  </a:moveTo>
                  <a:lnTo>
                    <a:pt x="10583795" y="4792313"/>
                  </a:lnTo>
                  <a:lnTo>
                    <a:pt x="10590576" y="4790963"/>
                  </a:lnTo>
                  <a:lnTo>
                    <a:pt x="10603599" y="4785569"/>
                  </a:lnTo>
                  <a:lnTo>
                    <a:pt x="10628550" y="4752990"/>
                  </a:lnTo>
                  <a:lnTo>
                    <a:pt x="10629899" y="4746210"/>
                  </a:lnTo>
                  <a:lnTo>
                    <a:pt x="10629899" y="4792313"/>
                  </a:lnTo>
                  <a:close/>
                </a:path>
                <a:path extrusionOk="0" h="4792345" w="10629900">
                  <a:moveTo>
                    <a:pt x="46102" y="4792313"/>
                  </a:moveTo>
                  <a:lnTo>
                    <a:pt x="0" y="4792313"/>
                  </a:lnTo>
                  <a:lnTo>
                    <a:pt x="0" y="4746211"/>
                  </a:lnTo>
                  <a:lnTo>
                    <a:pt x="1348" y="4752990"/>
                  </a:lnTo>
                  <a:lnTo>
                    <a:pt x="6742" y="4766013"/>
                  </a:lnTo>
                  <a:lnTo>
                    <a:pt x="10583" y="4771761"/>
                  </a:lnTo>
                  <a:lnTo>
                    <a:pt x="20550" y="4781728"/>
                  </a:lnTo>
                  <a:lnTo>
                    <a:pt x="26298" y="4785569"/>
                  </a:lnTo>
                  <a:lnTo>
                    <a:pt x="39321" y="4790963"/>
                  </a:lnTo>
                  <a:lnTo>
                    <a:pt x="46102" y="4792313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400049" y="1163478"/>
              <a:ext cx="10629900" cy="4792345"/>
            </a:xfrm>
            <a:custGeom>
              <a:rect b="b" l="l" r="r" t="t"/>
              <a:pathLst>
                <a:path extrusionOk="0" h="4792345" w="10629900">
                  <a:moveTo>
                    <a:pt x="10580239" y="4792313"/>
                  </a:moveTo>
                  <a:lnTo>
                    <a:pt x="49659" y="4792313"/>
                  </a:lnTo>
                  <a:lnTo>
                    <a:pt x="46203" y="4791972"/>
                  </a:lnTo>
                  <a:lnTo>
                    <a:pt x="10896" y="4771592"/>
                  </a:lnTo>
                  <a:lnTo>
                    <a:pt x="0" y="4742653"/>
                  </a:lnTo>
                  <a:lnTo>
                    <a:pt x="0" y="4739163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4742653"/>
                  </a:lnTo>
                  <a:lnTo>
                    <a:pt x="10611863" y="4779213"/>
                  </a:lnTo>
                  <a:lnTo>
                    <a:pt x="10583695" y="4791972"/>
                  </a:lnTo>
                  <a:lnTo>
                    <a:pt x="10580239" y="4792313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74" name="Google Shape;274;p9"/>
          <p:cNvSpPr txBox="1"/>
          <p:nvPr/>
        </p:nvSpPr>
        <p:spPr>
          <a:xfrm>
            <a:off x="3765526" y="1290740"/>
            <a:ext cx="3898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Creación dinámica de elementos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77215" y="1845563"/>
            <a:ext cx="10275570" cy="3623310"/>
          </a:xfrm>
          <a:custGeom>
            <a:rect b="b" l="l" r="r" t="t"/>
            <a:pathLst>
              <a:path extrusionOk="0" h="3623310" w="10275570">
                <a:moveTo>
                  <a:pt x="10225910" y="3623023"/>
                </a:moveTo>
                <a:lnTo>
                  <a:pt x="49659" y="3623023"/>
                </a:lnTo>
                <a:lnTo>
                  <a:pt x="46203" y="3622683"/>
                </a:lnTo>
                <a:lnTo>
                  <a:pt x="10896" y="3602305"/>
                </a:lnTo>
                <a:lnTo>
                  <a:pt x="0" y="3573364"/>
                </a:lnTo>
                <a:lnTo>
                  <a:pt x="0" y="3569874"/>
                </a:lnTo>
                <a:lnTo>
                  <a:pt x="0" y="49659"/>
                </a:lnTo>
                <a:lnTo>
                  <a:pt x="18034" y="13099"/>
                </a:lnTo>
                <a:lnTo>
                  <a:pt x="49659" y="0"/>
                </a:lnTo>
                <a:lnTo>
                  <a:pt x="10225910" y="0"/>
                </a:lnTo>
                <a:lnTo>
                  <a:pt x="10262471" y="18034"/>
                </a:lnTo>
                <a:lnTo>
                  <a:pt x="10275570" y="49659"/>
                </a:lnTo>
                <a:lnTo>
                  <a:pt x="10275570" y="3573364"/>
                </a:lnTo>
                <a:lnTo>
                  <a:pt x="10257536" y="3609924"/>
                </a:lnTo>
                <a:lnTo>
                  <a:pt x="10229366" y="3622683"/>
                </a:lnTo>
                <a:lnTo>
                  <a:pt x="10225910" y="3623023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6" name="Google Shape;276;p9"/>
          <p:cNvSpPr txBox="1"/>
          <p:nvPr/>
        </p:nvSpPr>
        <p:spPr>
          <a:xfrm>
            <a:off x="640778" y="1869675"/>
            <a:ext cx="4317365" cy="3507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function mostrarDatos(datos) {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const contenedor = document.getElementById('resultados');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marR="257937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Limpiar contenedor previo contenedor.innerHTML = '';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marR="229362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Crear elementos para cada item datos.forEach(item =&gt; {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137795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const elemento = document.createElement('div'); elemento.className = 'item-resultado'; elemento.textContent = item.nombre;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Agregar datos adicionales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1320800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const detalles = document.createElement('span'); detalles.className = 'detalles';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5080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detalles.textContent = `ID: ${item.id} - Categoría: ${item.categoria}`; elemento.appendChild(detalles);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1664335" rtl="0" algn="l">
              <a:lnSpc>
                <a:spcPct val="1163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Agregar evento elemento.addEventListener('click', () =&gt; {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mostrarDetalles(item.id);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contenedor.appendChild(elemento);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14299" y="6305549"/>
            <a:ext cx="438150" cy="247650"/>
          </a:xfrm>
          <a:custGeom>
            <a:rect b="b" l="l" r="r" t="t"/>
            <a:pathLst>
              <a:path extrusionOk="0" h="247650" w="438150">
                <a:moveTo>
                  <a:pt x="43814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38149" y="0"/>
                </a:lnTo>
                <a:lnTo>
                  <a:pt x="438149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8" name="Google Shape;278;p9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"/>
          <p:cNvSpPr txBox="1"/>
          <p:nvPr>
            <p:ph type="title"/>
          </p:nvPr>
        </p:nvSpPr>
        <p:spPr>
          <a:xfrm>
            <a:off x="4317506" y="176257"/>
            <a:ext cx="2795270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Seguridad en APIs</a:t>
            </a:r>
            <a:endParaRPr/>
          </a:p>
        </p:txBody>
      </p:sp>
      <p:grpSp>
        <p:nvGrpSpPr>
          <p:cNvPr id="284" name="Google Shape;284;p10"/>
          <p:cNvGrpSpPr/>
          <p:nvPr/>
        </p:nvGrpSpPr>
        <p:grpSpPr>
          <a:xfrm>
            <a:off x="400049" y="853439"/>
            <a:ext cx="5436870" cy="5403850"/>
            <a:chOff x="400049" y="853439"/>
            <a:chExt cx="5436870" cy="5403850"/>
          </a:xfrm>
        </p:grpSpPr>
        <p:sp>
          <p:nvSpPr>
            <p:cNvPr id="285" name="Google Shape;285;p10"/>
            <p:cNvSpPr/>
            <p:nvPr/>
          </p:nvSpPr>
          <p:spPr>
            <a:xfrm>
              <a:off x="400049" y="853439"/>
              <a:ext cx="5436870" cy="5403850"/>
            </a:xfrm>
            <a:custGeom>
              <a:rect b="b" l="l" r="r" t="t"/>
              <a:pathLst>
                <a:path extrusionOk="0" h="5403850" w="543687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403850" w="5436870">
                  <a:moveTo>
                    <a:pt x="5436869" y="5403532"/>
                  </a:moveTo>
                  <a:lnTo>
                    <a:pt x="5268844" y="5403532"/>
                  </a:lnTo>
                  <a:lnTo>
                    <a:pt x="5275627" y="5402183"/>
                  </a:lnTo>
                  <a:lnTo>
                    <a:pt x="5288650" y="5396788"/>
                  </a:lnTo>
                  <a:lnTo>
                    <a:pt x="5313600" y="5364210"/>
                  </a:lnTo>
                  <a:lnTo>
                    <a:pt x="5314949" y="5357430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436869" y="0"/>
                  </a:lnTo>
                  <a:lnTo>
                    <a:pt x="5436869" y="5403532"/>
                  </a:lnTo>
                  <a:close/>
                </a:path>
                <a:path extrusionOk="0" h="5403850" w="5436870">
                  <a:moveTo>
                    <a:pt x="46104" y="5403532"/>
                  </a:moveTo>
                  <a:lnTo>
                    <a:pt x="0" y="5403532"/>
                  </a:lnTo>
                  <a:lnTo>
                    <a:pt x="0" y="5357430"/>
                  </a:lnTo>
                  <a:lnTo>
                    <a:pt x="1348" y="5364210"/>
                  </a:lnTo>
                  <a:lnTo>
                    <a:pt x="6742" y="5377233"/>
                  </a:lnTo>
                  <a:lnTo>
                    <a:pt x="10583" y="5382980"/>
                  </a:lnTo>
                  <a:lnTo>
                    <a:pt x="20550" y="5392948"/>
                  </a:lnTo>
                  <a:lnTo>
                    <a:pt x="26298" y="5396788"/>
                  </a:lnTo>
                  <a:lnTo>
                    <a:pt x="39321" y="5402183"/>
                  </a:lnTo>
                  <a:lnTo>
                    <a:pt x="46104" y="5403532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400049" y="853439"/>
              <a:ext cx="5314950" cy="5403850"/>
            </a:xfrm>
            <a:custGeom>
              <a:rect b="b" l="l" r="r" t="t"/>
              <a:pathLst>
                <a:path extrusionOk="0" h="5403850" w="5314950">
                  <a:moveTo>
                    <a:pt x="5265290" y="5403532"/>
                  </a:moveTo>
                  <a:lnTo>
                    <a:pt x="49659" y="5403532"/>
                  </a:lnTo>
                  <a:lnTo>
                    <a:pt x="46203" y="5403191"/>
                  </a:lnTo>
                  <a:lnTo>
                    <a:pt x="10896" y="5382812"/>
                  </a:lnTo>
                  <a:lnTo>
                    <a:pt x="0" y="5353872"/>
                  </a:lnTo>
                  <a:lnTo>
                    <a:pt x="0" y="5350382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5353872"/>
                  </a:lnTo>
                  <a:lnTo>
                    <a:pt x="5296914" y="5390432"/>
                  </a:lnTo>
                  <a:lnTo>
                    <a:pt x="5268746" y="5403191"/>
                  </a:lnTo>
                  <a:lnTo>
                    <a:pt x="5265290" y="5403532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87" name="Google Shape;28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6977" y="1641823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6977" y="238591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6977" y="3130009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6977" y="3874102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6977" y="4609337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6977" y="5353430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" name="Google Shape;293;p10"/>
          <p:cNvSpPr txBox="1"/>
          <p:nvPr/>
        </p:nvSpPr>
        <p:spPr>
          <a:xfrm>
            <a:off x="1158017" y="815411"/>
            <a:ext cx="4140200" cy="5017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225">
            <a:spAutoFit/>
          </a:bodyPr>
          <a:lstStyle/>
          <a:p>
            <a:pPr indent="0" lvl="0" marL="755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Amenazas comunes</a:t>
            </a:r>
            <a:endParaRPr sz="2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611505" rtl="0" algn="l">
              <a:lnSpc>
                <a:spcPct val="107300"/>
              </a:lnSpc>
              <a:spcBef>
                <a:spcPts val="965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Inyección de código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SQL, NoSQL, comandos OS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7785" rtl="0" algn="l">
              <a:lnSpc>
                <a:spcPct val="104299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Cross-Site Scripting (XSS)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Inyección de scripts maliciosos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396875" rtl="0" algn="l">
              <a:lnSpc>
                <a:spcPct val="104299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Cross-Site Request Forgery (CSRF)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Ejecutar acciones no autorizadas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082675" rtl="0" algn="l">
              <a:lnSpc>
                <a:spcPct val="104299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Exposición de datos sensibles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Credenciales, PII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276860" rtl="0" algn="l">
              <a:lnSpc>
                <a:spcPct val="104299"/>
              </a:lnSpc>
              <a:spcBef>
                <a:spcPts val="905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Broken authentication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Debilidades en gestión de sesiones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4299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Broken authorization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Fallas en controles de acceso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94" name="Google Shape;294;p10"/>
          <p:cNvGrpSpPr/>
          <p:nvPr/>
        </p:nvGrpSpPr>
        <p:grpSpPr>
          <a:xfrm>
            <a:off x="5769863" y="853439"/>
            <a:ext cx="5260086" cy="5403850"/>
            <a:chOff x="5769863" y="853439"/>
            <a:chExt cx="5260086" cy="5403850"/>
          </a:xfrm>
        </p:grpSpPr>
        <p:sp>
          <p:nvSpPr>
            <p:cNvPr id="295" name="Google Shape;295;p10"/>
            <p:cNvSpPr/>
            <p:nvPr/>
          </p:nvSpPr>
          <p:spPr>
            <a:xfrm>
              <a:off x="5769863" y="853439"/>
              <a:ext cx="168910" cy="5403850"/>
            </a:xfrm>
            <a:custGeom>
              <a:rect b="b" l="l" r="r" t="t"/>
              <a:pathLst>
                <a:path extrusionOk="0" h="5403850" w="168910">
                  <a:moveTo>
                    <a:pt x="168405" y="5403532"/>
                  </a:moveTo>
                  <a:lnTo>
                    <a:pt x="0" y="5403532"/>
                  </a:lnTo>
                  <a:lnTo>
                    <a:pt x="0" y="0"/>
                  </a:lnTo>
                  <a:lnTo>
                    <a:pt x="168401" y="0"/>
                  </a:lnTo>
                  <a:lnTo>
                    <a:pt x="161622" y="1348"/>
                  </a:lnTo>
                  <a:lnTo>
                    <a:pt x="148598" y="6742"/>
                  </a:lnTo>
                  <a:lnTo>
                    <a:pt x="123649" y="39321"/>
                  </a:lnTo>
                  <a:lnTo>
                    <a:pt x="122300" y="46101"/>
                  </a:lnTo>
                  <a:lnTo>
                    <a:pt x="122300" y="5357430"/>
                  </a:lnTo>
                  <a:lnTo>
                    <a:pt x="142851" y="5392948"/>
                  </a:lnTo>
                  <a:lnTo>
                    <a:pt x="161622" y="5402183"/>
                  </a:lnTo>
                  <a:lnTo>
                    <a:pt x="168405" y="5403532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5892164" y="853439"/>
              <a:ext cx="5137785" cy="5403850"/>
            </a:xfrm>
            <a:custGeom>
              <a:rect b="b" l="l" r="r" t="t"/>
              <a:pathLst>
                <a:path extrusionOk="0" h="5403850" w="5137784">
                  <a:moveTo>
                    <a:pt x="5137785" y="5403532"/>
                  </a:moveTo>
                  <a:lnTo>
                    <a:pt x="49659" y="5403532"/>
                  </a:lnTo>
                  <a:lnTo>
                    <a:pt x="46203" y="5403192"/>
                  </a:lnTo>
                  <a:lnTo>
                    <a:pt x="10896" y="5382812"/>
                  </a:lnTo>
                  <a:lnTo>
                    <a:pt x="0" y="5353872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5403532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97" name="Google Shape;297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67950" y="167725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67950" y="243906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67950" y="3209734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67950" y="3980401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67950" y="4423314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67950" y="5193982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3" name="Google Shape;303;p10"/>
          <p:cNvSpPr txBox="1"/>
          <p:nvPr/>
        </p:nvSpPr>
        <p:spPr>
          <a:xfrm>
            <a:off x="6658990" y="795285"/>
            <a:ext cx="4378960" cy="4888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0">
            <a:spAutoFit/>
          </a:bodyPr>
          <a:lstStyle/>
          <a:p>
            <a:pPr indent="0" lvl="0" marL="8375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Mejores prácticas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38735" rtl="0" algn="l">
              <a:lnSpc>
                <a:spcPct val="102099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Validación de entradas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Verificar formato, tipo y rango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4900"/>
              </a:lnSpc>
              <a:spcBef>
                <a:spcPts val="90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Sanitización de salidas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Escapar caracteres especiales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708025" rtl="0" algn="l">
              <a:lnSpc>
                <a:spcPct val="102099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 limiting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Limitar frecuencia de solicitudes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 obligatorio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Cifrado en tránsito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84835" rtl="0" algn="l">
              <a:lnSpc>
                <a:spcPct val="104900"/>
              </a:lnSpc>
              <a:spcBef>
                <a:spcPts val="90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Tokens anti-CSRF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Para operaciones sensibles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14300" rtl="0" algn="l">
              <a:lnSpc>
                <a:spcPct val="102099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Cabeceras HTTP de seguridad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Content- Security-Policy, X-XSS-Protection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14299" y="6305549"/>
            <a:ext cx="504825" cy="247650"/>
          </a:xfrm>
          <a:custGeom>
            <a:rect b="b" l="l" r="r" t="t"/>
            <a:pathLst>
              <a:path extrusionOk="0" h="247650" w="504825">
                <a:moveTo>
                  <a:pt x="504824" y="247649"/>
                </a:moveTo>
                <a:lnTo>
                  <a:pt x="0" y="247649"/>
                </a:lnTo>
                <a:lnTo>
                  <a:pt x="0" y="0"/>
                </a:lnTo>
                <a:lnTo>
                  <a:pt x="504824" y="0"/>
                </a:lnTo>
                <a:lnTo>
                  <a:pt x="504824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5" name="Google Shape;305;p10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"/>
          <p:cNvSpPr txBox="1"/>
          <p:nvPr>
            <p:ph type="title"/>
          </p:nvPr>
        </p:nvSpPr>
        <p:spPr>
          <a:xfrm>
            <a:off x="4216086" y="89781"/>
            <a:ext cx="3033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Uso Seguro de APIs</a:t>
            </a:r>
            <a:endParaRPr/>
          </a:p>
        </p:txBody>
      </p:sp>
      <p:grpSp>
        <p:nvGrpSpPr>
          <p:cNvPr id="311" name="Google Shape;311;p11"/>
          <p:cNvGrpSpPr/>
          <p:nvPr/>
        </p:nvGrpSpPr>
        <p:grpSpPr>
          <a:xfrm>
            <a:off x="400049" y="1066037"/>
            <a:ext cx="10629900" cy="4987290"/>
            <a:chOff x="400049" y="1066037"/>
            <a:chExt cx="10629900" cy="4987290"/>
          </a:xfrm>
        </p:grpSpPr>
        <p:sp>
          <p:nvSpPr>
            <p:cNvPr id="312" name="Google Shape;312;p11"/>
            <p:cNvSpPr/>
            <p:nvPr/>
          </p:nvSpPr>
          <p:spPr>
            <a:xfrm>
              <a:off x="400049" y="1066037"/>
              <a:ext cx="10629900" cy="4987290"/>
            </a:xfrm>
            <a:custGeom>
              <a:rect b="b" l="l" r="r" t="t"/>
              <a:pathLst>
                <a:path extrusionOk="0" h="4987290" w="1062990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4987290" w="10629900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extrusionOk="0" h="4987290" w="10629900">
                  <a:moveTo>
                    <a:pt x="10629899" y="4987194"/>
                  </a:moveTo>
                  <a:lnTo>
                    <a:pt x="10583794" y="4987194"/>
                  </a:lnTo>
                  <a:lnTo>
                    <a:pt x="10590576" y="4985845"/>
                  </a:lnTo>
                  <a:lnTo>
                    <a:pt x="10603599" y="4980451"/>
                  </a:lnTo>
                  <a:lnTo>
                    <a:pt x="10628550" y="4947872"/>
                  </a:lnTo>
                  <a:lnTo>
                    <a:pt x="10629899" y="4941092"/>
                  </a:lnTo>
                  <a:lnTo>
                    <a:pt x="10629899" y="4987194"/>
                  </a:lnTo>
                  <a:close/>
                </a:path>
                <a:path extrusionOk="0" h="4987290" w="10629900">
                  <a:moveTo>
                    <a:pt x="46104" y="4987194"/>
                  </a:moveTo>
                  <a:lnTo>
                    <a:pt x="0" y="4987194"/>
                  </a:lnTo>
                  <a:lnTo>
                    <a:pt x="0" y="4941093"/>
                  </a:lnTo>
                  <a:lnTo>
                    <a:pt x="1348" y="4947872"/>
                  </a:lnTo>
                  <a:lnTo>
                    <a:pt x="6742" y="4960895"/>
                  </a:lnTo>
                  <a:lnTo>
                    <a:pt x="10583" y="4966643"/>
                  </a:lnTo>
                  <a:lnTo>
                    <a:pt x="20550" y="4976610"/>
                  </a:lnTo>
                  <a:lnTo>
                    <a:pt x="26298" y="4980451"/>
                  </a:lnTo>
                  <a:lnTo>
                    <a:pt x="39321" y="4985845"/>
                  </a:lnTo>
                  <a:lnTo>
                    <a:pt x="46104" y="4987194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11"/>
            <p:cNvSpPr/>
            <p:nvPr/>
          </p:nvSpPr>
          <p:spPr>
            <a:xfrm>
              <a:off x="400049" y="1066037"/>
              <a:ext cx="10629900" cy="4987290"/>
            </a:xfrm>
            <a:custGeom>
              <a:rect b="b" l="l" r="r" t="t"/>
              <a:pathLst>
                <a:path extrusionOk="0" h="4987290" w="10629900">
                  <a:moveTo>
                    <a:pt x="10580239" y="4987194"/>
                  </a:moveTo>
                  <a:lnTo>
                    <a:pt x="49659" y="4987194"/>
                  </a:lnTo>
                  <a:lnTo>
                    <a:pt x="46203" y="4986853"/>
                  </a:lnTo>
                  <a:lnTo>
                    <a:pt x="10896" y="4966474"/>
                  </a:lnTo>
                  <a:lnTo>
                    <a:pt x="0" y="4937535"/>
                  </a:lnTo>
                  <a:lnTo>
                    <a:pt x="0" y="4934045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4937535"/>
                  </a:lnTo>
                  <a:lnTo>
                    <a:pt x="10611863" y="4974094"/>
                  </a:lnTo>
                  <a:lnTo>
                    <a:pt x="10583695" y="4986853"/>
                  </a:lnTo>
                  <a:lnTo>
                    <a:pt x="10580239" y="4987194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594931" y="4423314"/>
              <a:ext cx="10258425" cy="1249045"/>
            </a:xfrm>
            <a:custGeom>
              <a:rect b="b" l="l" r="r" t="t"/>
              <a:pathLst>
                <a:path extrusionOk="0" h="1249045" w="10258425">
                  <a:moveTo>
                    <a:pt x="10234802" y="1249012"/>
                  </a:moveTo>
                  <a:lnTo>
                    <a:pt x="7683" y="1249012"/>
                  </a:lnTo>
                  <a:lnTo>
                    <a:pt x="6553" y="1248338"/>
                  </a:lnTo>
                  <a:lnTo>
                    <a:pt x="0" y="1225962"/>
                  </a:lnTo>
                  <a:lnTo>
                    <a:pt x="0" y="1222438"/>
                  </a:lnTo>
                  <a:lnTo>
                    <a:pt x="0" y="23050"/>
                  </a:lnTo>
                  <a:lnTo>
                    <a:pt x="7683" y="0"/>
                  </a:lnTo>
                  <a:lnTo>
                    <a:pt x="10234802" y="0"/>
                  </a:lnTo>
                  <a:lnTo>
                    <a:pt x="10257852" y="23050"/>
                  </a:lnTo>
                  <a:lnTo>
                    <a:pt x="10257852" y="1225962"/>
                  </a:lnTo>
                  <a:lnTo>
                    <a:pt x="10238191" y="1248338"/>
                  </a:lnTo>
                  <a:lnTo>
                    <a:pt x="10234802" y="1249012"/>
                  </a:lnTo>
                  <a:close/>
                </a:path>
              </a:pathLst>
            </a:custGeom>
            <a:solidFill>
              <a:srgbClr val="E74B3C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577215" y="4423314"/>
              <a:ext cx="35560" cy="1249045"/>
            </a:xfrm>
            <a:custGeom>
              <a:rect b="b" l="l" r="r" t="t"/>
              <a:pathLst>
                <a:path extrusionOk="0" h="1249045" w="35559">
                  <a:moveTo>
                    <a:pt x="35433" y="1249013"/>
                  </a:moveTo>
                  <a:lnTo>
                    <a:pt x="19236" y="1249013"/>
                  </a:lnTo>
                  <a:lnTo>
                    <a:pt x="12972" y="1246418"/>
                  </a:lnTo>
                  <a:lnTo>
                    <a:pt x="2594" y="1236040"/>
                  </a:lnTo>
                  <a:lnTo>
                    <a:pt x="0" y="1229776"/>
                  </a:lnTo>
                  <a:lnTo>
                    <a:pt x="0" y="19236"/>
                  </a:lnTo>
                  <a:lnTo>
                    <a:pt x="2594" y="12972"/>
                  </a:lnTo>
                  <a:lnTo>
                    <a:pt x="12972" y="2594"/>
                  </a:lnTo>
                  <a:lnTo>
                    <a:pt x="19236" y="0"/>
                  </a:lnTo>
                  <a:lnTo>
                    <a:pt x="35433" y="0"/>
                  </a:lnTo>
                  <a:lnTo>
                    <a:pt x="35433" y="1249013"/>
                  </a:lnTo>
                  <a:close/>
                </a:path>
              </a:pathLst>
            </a:custGeom>
            <a:solidFill>
              <a:srgbClr val="E74B3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6" name="Google Shape;316;p11"/>
          <p:cNvSpPr txBox="1"/>
          <p:nvPr/>
        </p:nvSpPr>
        <p:spPr>
          <a:xfrm>
            <a:off x="856006" y="1066024"/>
            <a:ext cx="2833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Manejo de credenciales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7" name="Google Shape;317;p11"/>
          <p:cNvGrpSpPr/>
          <p:nvPr/>
        </p:nvGrpSpPr>
        <p:grpSpPr>
          <a:xfrm>
            <a:off x="975836" y="1880996"/>
            <a:ext cx="7210615" cy="1603342"/>
            <a:chOff x="975836" y="1880996"/>
            <a:chExt cx="7210615" cy="1603342"/>
          </a:xfrm>
        </p:grpSpPr>
        <p:pic>
          <p:nvPicPr>
            <p:cNvPr id="318" name="Google Shape;318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188099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5836" y="264280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3413473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45710" y="188099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45710" y="264280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45710" y="3413473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15585" y="188099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15585" y="264280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15585" y="3413473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7" name="Google Shape;327;p11"/>
          <p:cNvSpPr txBox="1"/>
          <p:nvPr/>
        </p:nvSpPr>
        <p:spPr>
          <a:xfrm>
            <a:off x="1166875" y="1714677"/>
            <a:ext cx="2773045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exponer credenciales en código cliente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1166875" y="2460633"/>
            <a:ext cx="2567305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Usar variables de entorno en servidores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1166875" y="3231301"/>
            <a:ext cx="2381250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Separar entornos de desarrollo y producción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4552481" y="1066024"/>
            <a:ext cx="26358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Manejo de solicitudes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4734951" y="1714677"/>
            <a:ext cx="2408555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Implementar timeout en solicitudes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4734951" y="2460633"/>
            <a:ext cx="2746375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Validar todas las respuestas antes de procesarlas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4734951" y="3231301"/>
            <a:ext cx="2552700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Manejar errores de forma adecuada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8051258" y="1000524"/>
            <a:ext cx="281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Principios de seguridad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8303026" y="1714677"/>
            <a:ext cx="2587625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Mantener actualizadas las dependencias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8303026" y="2460633"/>
            <a:ext cx="2167890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Seguir el principio de privilegio mínimo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8303026" y="3231301"/>
            <a:ext cx="2298700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Implementar logging y monitoreo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784863" y="4691050"/>
            <a:ext cx="9895840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-2766060" lvl="0" marL="2778125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Advertencia: 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seguridad no es un estado final, sino un proceso continuo. Actualice regularmente sus conocimientos y prácticas de seguridad.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114299" y="6305549"/>
            <a:ext cx="495300" cy="247650"/>
          </a:xfrm>
          <a:custGeom>
            <a:rect b="b" l="l" r="r" t="t"/>
            <a:pathLst>
              <a:path extrusionOk="0" h="247650" w="495300">
                <a:moveTo>
                  <a:pt x="495299" y="247649"/>
                </a:moveTo>
                <a:lnTo>
                  <a:pt x="0" y="247649"/>
                </a:lnTo>
                <a:lnTo>
                  <a:pt x="0" y="0"/>
                </a:lnTo>
                <a:lnTo>
                  <a:pt x="495299" y="0"/>
                </a:lnTo>
                <a:lnTo>
                  <a:pt x="495299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0" name="Google Shape;340;p11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 txBox="1"/>
          <p:nvPr>
            <p:ph type="title"/>
          </p:nvPr>
        </p:nvSpPr>
        <p:spPr>
          <a:xfrm>
            <a:off x="4028367" y="176257"/>
            <a:ext cx="3373120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Autenticación en APIs</a:t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400049" y="853439"/>
            <a:ext cx="10629900" cy="5403850"/>
          </a:xfrm>
          <a:custGeom>
            <a:rect b="b" l="l" r="r" t="t"/>
            <a:pathLst>
              <a:path extrusionOk="0" h="5403850" w="10629900">
                <a:moveTo>
                  <a:pt x="10580239" y="5403532"/>
                </a:moveTo>
                <a:lnTo>
                  <a:pt x="49659" y="5403532"/>
                </a:lnTo>
                <a:lnTo>
                  <a:pt x="46203" y="5403191"/>
                </a:lnTo>
                <a:lnTo>
                  <a:pt x="10896" y="5382812"/>
                </a:lnTo>
                <a:lnTo>
                  <a:pt x="0" y="5353872"/>
                </a:lnTo>
                <a:lnTo>
                  <a:pt x="0" y="5350382"/>
                </a:lnTo>
                <a:lnTo>
                  <a:pt x="0" y="49659"/>
                </a:lnTo>
                <a:lnTo>
                  <a:pt x="18034" y="13099"/>
                </a:lnTo>
                <a:lnTo>
                  <a:pt x="49659" y="0"/>
                </a:lnTo>
                <a:lnTo>
                  <a:pt x="10580239" y="0"/>
                </a:lnTo>
                <a:lnTo>
                  <a:pt x="10616800" y="18034"/>
                </a:lnTo>
                <a:lnTo>
                  <a:pt x="10629898" y="49659"/>
                </a:lnTo>
                <a:lnTo>
                  <a:pt x="10629898" y="5353872"/>
                </a:lnTo>
                <a:lnTo>
                  <a:pt x="10611863" y="5390432"/>
                </a:lnTo>
                <a:lnTo>
                  <a:pt x="10583695" y="5403191"/>
                </a:lnTo>
                <a:lnTo>
                  <a:pt x="10580239" y="5403532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347" name="Google Shape;347;p12"/>
          <p:cNvGraphicFramePr/>
          <p:nvPr/>
        </p:nvGraphicFramePr>
        <p:xfrm>
          <a:off x="577215" y="10306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{ED5C85DD-C1DD-427A-9165-CCEF0B0617F7}</a:tableStyleId>
              </a:tblPr>
              <a:tblGrid>
                <a:gridCol w="2569200"/>
                <a:gridCol w="2569200"/>
                <a:gridCol w="2560325"/>
                <a:gridCol w="2569200"/>
              </a:tblGrid>
              <a:tr h="478150"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Método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3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Ventajas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79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Desventajas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D4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API Keys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3504" marR="200025" rtl="0" algn="l">
                        <a:lnSpc>
                          <a:spcPct val="105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Clave única para identificar aplicación o usuario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14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475615" rtl="0" algn="l">
                        <a:lnSpc>
                          <a:spcPct val="105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de implementar Adecuado para APIs públicas con bajo riesgo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12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7950" marR="393065" rtl="0" algn="l">
                        <a:lnSpc>
                          <a:spcPct val="105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Limitaciones en granularidad de permisos Difícil revocación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12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OAuth 2.0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3504" marR="193675" rtl="0" algn="l">
                        <a:lnSpc>
                          <a:spcPct val="105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Estándar de la industria con múltiples flujos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47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238125" rtl="0" algn="l">
                        <a:lnSpc>
                          <a:spcPct val="10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Flujos para diferentes tipos de aplicaciones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0" marR="165100" rtl="0" algn="l">
                        <a:lnSpc>
                          <a:spcPct val="105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Separación de autenticación y autorización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01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7950" marR="240665" rtl="0" algn="l">
                        <a:lnSpc>
                          <a:spcPct val="104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Complejidad de implementación Dependencia de terceros (a veces)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4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137"/>
                      </a:srgbClr>
                    </a:solidFill>
                  </a:tcPr>
                </a:tc>
              </a:tr>
              <a:tr h="126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JWT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1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(JSON Web Tokens)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87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3504" marR="241934" rtl="0" algn="l">
                        <a:lnSpc>
                          <a:spcPct val="105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Tokens autocontenidos con firma digital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47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668020" rtl="0" algn="l">
                        <a:lnSpc>
                          <a:spcPct val="105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requiere estado en servidor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0" marR="391160" rtl="0" algn="l">
                        <a:lnSpc>
                          <a:spcPct val="105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Información codificada y firmada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7950" marR="503555" rtl="0" algn="l">
                        <a:lnSpc>
                          <a:spcPct val="105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Difícil revocación Tamaño potencialmente grande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57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Basic Auth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3504" marR="686435" rtl="0" algn="l">
                        <a:lnSpc>
                          <a:spcPct val="103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Credenciales usuario:contraseña en Base64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475615" rtl="0" algn="l">
                        <a:lnSpc>
                          <a:spcPct val="10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Extremadamente simple Soporte universal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235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7950" marR="252095" rtl="0" algn="l">
                        <a:lnSpc>
                          <a:spcPct val="105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Envía credenciales en cada petición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7950" marR="0" rtl="0" algn="l">
                        <a:lnSpc>
                          <a:spcPct val="100000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cap="none" strike="noStrike">
                          <a:solidFill>
                            <a:srgbClr val="333A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Muy inseguro sin HTTPS</a:t>
                      </a:r>
                      <a:endParaRPr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12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137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48" name="Google Shape;348;p12"/>
          <p:cNvSpPr/>
          <p:nvPr/>
        </p:nvSpPr>
        <p:spPr>
          <a:xfrm>
            <a:off x="114299" y="6305549"/>
            <a:ext cx="504825" cy="247650"/>
          </a:xfrm>
          <a:custGeom>
            <a:rect b="b" l="l" r="r" t="t"/>
            <a:pathLst>
              <a:path extrusionOk="0" h="247650" w="504825">
                <a:moveTo>
                  <a:pt x="504824" y="247649"/>
                </a:moveTo>
                <a:lnTo>
                  <a:pt x="0" y="247649"/>
                </a:lnTo>
                <a:lnTo>
                  <a:pt x="0" y="0"/>
                </a:lnTo>
                <a:lnTo>
                  <a:pt x="504824" y="0"/>
                </a:lnTo>
                <a:lnTo>
                  <a:pt x="504824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9" name="Google Shape;349;p12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>
            <p:ph type="title"/>
          </p:nvPr>
        </p:nvSpPr>
        <p:spPr>
          <a:xfrm>
            <a:off x="3439570" y="264839"/>
            <a:ext cx="455104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Implementación de OAuth 2.0</a:t>
            </a:r>
            <a:endParaRPr/>
          </a:p>
        </p:txBody>
      </p:sp>
      <p:grpSp>
        <p:nvGrpSpPr>
          <p:cNvPr id="355" name="Google Shape;355;p13"/>
          <p:cNvGrpSpPr/>
          <p:nvPr/>
        </p:nvGrpSpPr>
        <p:grpSpPr>
          <a:xfrm>
            <a:off x="400049" y="1039463"/>
            <a:ext cx="10629900" cy="5031740"/>
            <a:chOff x="400049" y="1039463"/>
            <a:chExt cx="10629900" cy="5031740"/>
          </a:xfrm>
        </p:grpSpPr>
        <p:sp>
          <p:nvSpPr>
            <p:cNvPr id="356" name="Google Shape;356;p13"/>
            <p:cNvSpPr/>
            <p:nvPr/>
          </p:nvSpPr>
          <p:spPr>
            <a:xfrm>
              <a:off x="400049" y="1039463"/>
              <a:ext cx="10629900" cy="5031740"/>
            </a:xfrm>
            <a:custGeom>
              <a:rect b="b" l="l" r="r" t="t"/>
              <a:pathLst>
                <a:path extrusionOk="0" h="5031740" w="1062990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031740" w="10629900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extrusionOk="0" h="5031740" w="10629900">
                  <a:moveTo>
                    <a:pt x="10629899" y="5031486"/>
                  </a:moveTo>
                  <a:lnTo>
                    <a:pt x="10583794" y="5031486"/>
                  </a:lnTo>
                  <a:lnTo>
                    <a:pt x="10590576" y="5030136"/>
                  </a:lnTo>
                  <a:lnTo>
                    <a:pt x="10603599" y="5024741"/>
                  </a:lnTo>
                  <a:lnTo>
                    <a:pt x="10628550" y="4992163"/>
                  </a:lnTo>
                  <a:lnTo>
                    <a:pt x="10629899" y="4985384"/>
                  </a:lnTo>
                  <a:lnTo>
                    <a:pt x="10629899" y="5031486"/>
                  </a:lnTo>
                  <a:close/>
                </a:path>
                <a:path extrusionOk="0" h="5031740" w="10629900">
                  <a:moveTo>
                    <a:pt x="46104" y="5031486"/>
                  </a:moveTo>
                  <a:lnTo>
                    <a:pt x="0" y="5031486"/>
                  </a:lnTo>
                  <a:lnTo>
                    <a:pt x="0" y="4985384"/>
                  </a:lnTo>
                  <a:lnTo>
                    <a:pt x="1348" y="4992163"/>
                  </a:lnTo>
                  <a:lnTo>
                    <a:pt x="6742" y="5005186"/>
                  </a:lnTo>
                  <a:lnTo>
                    <a:pt x="10583" y="5010934"/>
                  </a:lnTo>
                  <a:lnTo>
                    <a:pt x="20550" y="5020901"/>
                  </a:lnTo>
                  <a:lnTo>
                    <a:pt x="26298" y="5024741"/>
                  </a:lnTo>
                  <a:lnTo>
                    <a:pt x="39321" y="5030136"/>
                  </a:lnTo>
                  <a:lnTo>
                    <a:pt x="46104" y="5031486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400049" y="1039463"/>
              <a:ext cx="10629900" cy="5031740"/>
            </a:xfrm>
            <a:custGeom>
              <a:rect b="b" l="l" r="r" t="t"/>
              <a:pathLst>
                <a:path extrusionOk="0" h="5031740" w="10629900">
                  <a:moveTo>
                    <a:pt x="10580239" y="5031485"/>
                  </a:moveTo>
                  <a:lnTo>
                    <a:pt x="49659" y="5031485"/>
                  </a:lnTo>
                  <a:lnTo>
                    <a:pt x="46203" y="5031145"/>
                  </a:lnTo>
                  <a:lnTo>
                    <a:pt x="10896" y="5010766"/>
                  </a:lnTo>
                  <a:lnTo>
                    <a:pt x="0" y="4981826"/>
                  </a:lnTo>
                  <a:lnTo>
                    <a:pt x="0" y="4978336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4981826"/>
                  </a:lnTo>
                  <a:lnTo>
                    <a:pt x="10611863" y="5018386"/>
                  </a:lnTo>
                  <a:lnTo>
                    <a:pt x="10583695" y="5031145"/>
                  </a:lnTo>
                  <a:lnTo>
                    <a:pt x="10580239" y="5031485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58" name="Google Shape;358;p13"/>
          <p:cNvSpPr txBox="1"/>
          <p:nvPr/>
        </p:nvSpPr>
        <p:spPr>
          <a:xfrm>
            <a:off x="2782122" y="1166725"/>
            <a:ext cx="586613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Flujo de autorización (Authorization Code Flow)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918844" y="1688103"/>
            <a:ext cx="4054475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Usuario solicita acceso a la aplicación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918844" y="2139874"/>
            <a:ext cx="3606800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-248284" lvl="0" marL="260350" marR="5080" rtl="0" algn="l">
              <a:lnSpc>
                <a:spcPct val="102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Aplicación redirige al servidor de autorización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918844" y="2910541"/>
            <a:ext cx="3331210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Usuario se autentica y autoriza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918844" y="3353454"/>
            <a:ext cx="4406265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Servidor devuelve código de autorización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918844" y="3796366"/>
            <a:ext cx="4337050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Aplicación intercambia código por token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918844" y="4248137"/>
            <a:ext cx="4735830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Aplicación usa token para acceder a recursos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65" name="Google Shape;365;p13"/>
          <p:cNvGrpSpPr/>
          <p:nvPr/>
        </p:nvGrpSpPr>
        <p:grpSpPr>
          <a:xfrm>
            <a:off x="5892165" y="2359342"/>
            <a:ext cx="5137785" cy="3348958"/>
            <a:chOff x="5892165" y="2359342"/>
            <a:chExt cx="5137785" cy="3348958"/>
          </a:xfrm>
        </p:grpSpPr>
        <p:sp>
          <p:nvSpPr>
            <p:cNvPr id="366" name="Google Shape;366;p13"/>
            <p:cNvSpPr/>
            <p:nvPr/>
          </p:nvSpPr>
          <p:spPr>
            <a:xfrm>
              <a:off x="5892165" y="4139850"/>
              <a:ext cx="5137785" cy="1568450"/>
            </a:xfrm>
            <a:custGeom>
              <a:rect b="b" l="l" r="r" t="t"/>
              <a:pathLst>
                <a:path extrusionOk="0" h="1568450" w="5137784">
                  <a:moveTo>
                    <a:pt x="5114733" y="1567909"/>
                  </a:moveTo>
                  <a:lnTo>
                    <a:pt x="23050" y="1567909"/>
                  </a:lnTo>
                  <a:lnTo>
                    <a:pt x="19660" y="1567235"/>
                  </a:lnTo>
                  <a:lnTo>
                    <a:pt x="0" y="1544859"/>
                  </a:lnTo>
                  <a:lnTo>
                    <a:pt x="0" y="1541335"/>
                  </a:lnTo>
                  <a:lnTo>
                    <a:pt x="0" y="23050"/>
                  </a:lnTo>
                  <a:lnTo>
                    <a:pt x="23050" y="0"/>
                  </a:lnTo>
                  <a:lnTo>
                    <a:pt x="5114733" y="0"/>
                  </a:lnTo>
                  <a:lnTo>
                    <a:pt x="5137784" y="23050"/>
                  </a:lnTo>
                  <a:lnTo>
                    <a:pt x="5137784" y="1544859"/>
                  </a:lnTo>
                  <a:lnTo>
                    <a:pt x="5118123" y="1567235"/>
                  </a:lnTo>
                  <a:lnTo>
                    <a:pt x="5114733" y="1567909"/>
                  </a:lnTo>
                  <a:close/>
                </a:path>
              </a:pathLst>
            </a:custGeom>
            <a:solidFill>
              <a:srgbClr val="3398DA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67" name="Google Shape;367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0785" y="2359342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0785" y="2811112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0785" y="3254025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0785" y="370579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1" name="Google Shape;371;p13"/>
          <p:cNvSpPr txBox="1"/>
          <p:nvPr/>
        </p:nvSpPr>
        <p:spPr>
          <a:xfrm>
            <a:off x="6481825" y="1495048"/>
            <a:ext cx="3173730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9850">
            <a:spAutoFit/>
          </a:bodyPr>
          <a:lstStyle/>
          <a:p>
            <a:pPr indent="0" lvl="0" marL="7975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Roles en OAuth 2.0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Cliente: 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Aplicación solicitante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6481825" y="2644794"/>
            <a:ext cx="4549140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Servidor de recursos: 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que protege datos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6481825" y="3087706"/>
            <a:ext cx="4085590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Servidor de autorización: 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Emite tokens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6481825" y="3539477"/>
            <a:ext cx="3915410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Propietario del recurso: 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Usuario final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6231303" y="4407586"/>
            <a:ext cx="4459605" cy="9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2700" marR="5080" rtl="0" algn="ctr">
              <a:lnSpc>
                <a:spcPct val="103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Nota: 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También existen otros flujos como Implicit Flow, Client Credentials y Resource Owner Password Credentials.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114299" y="6305549"/>
            <a:ext cx="504825" cy="247650"/>
          </a:xfrm>
          <a:custGeom>
            <a:rect b="b" l="l" r="r" t="t"/>
            <a:pathLst>
              <a:path extrusionOk="0" h="247650" w="504825">
                <a:moveTo>
                  <a:pt x="504824" y="247649"/>
                </a:moveTo>
                <a:lnTo>
                  <a:pt x="0" y="247649"/>
                </a:lnTo>
                <a:lnTo>
                  <a:pt x="0" y="0"/>
                </a:lnTo>
                <a:lnTo>
                  <a:pt x="504824" y="0"/>
                </a:lnTo>
                <a:lnTo>
                  <a:pt x="504824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7" name="Google Shape;377;p13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4"/>
          <p:cNvSpPr txBox="1"/>
          <p:nvPr>
            <p:ph type="title"/>
          </p:nvPr>
        </p:nvSpPr>
        <p:spPr>
          <a:xfrm>
            <a:off x="4100755" y="193974"/>
            <a:ext cx="322897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Autorización en APIs</a:t>
            </a:r>
            <a:endParaRPr/>
          </a:p>
        </p:txBody>
      </p:sp>
      <p:grpSp>
        <p:nvGrpSpPr>
          <p:cNvPr id="383" name="Google Shape;383;p14"/>
          <p:cNvGrpSpPr/>
          <p:nvPr/>
        </p:nvGrpSpPr>
        <p:grpSpPr>
          <a:xfrm>
            <a:off x="400049" y="897731"/>
            <a:ext cx="5436870" cy="5323840"/>
            <a:chOff x="400049" y="897731"/>
            <a:chExt cx="5436870" cy="5323840"/>
          </a:xfrm>
        </p:grpSpPr>
        <p:sp>
          <p:nvSpPr>
            <p:cNvPr id="384" name="Google Shape;384;p14"/>
            <p:cNvSpPr/>
            <p:nvPr/>
          </p:nvSpPr>
          <p:spPr>
            <a:xfrm>
              <a:off x="400049" y="897731"/>
              <a:ext cx="5436870" cy="5323840"/>
            </a:xfrm>
            <a:custGeom>
              <a:rect b="b" l="l" r="r" t="t"/>
              <a:pathLst>
                <a:path extrusionOk="0" h="5323840" w="543687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323840" w="5436870">
                  <a:moveTo>
                    <a:pt x="5436869" y="5323808"/>
                  </a:moveTo>
                  <a:lnTo>
                    <a:pt x="5268844" y="5323808"/>
                  </a:lnTo>
                  <a:lnTo>
                    <a:pt x="5275627" y="5322458"/>
                  </a:lnTo>
                  <a:lnTo>
                    <a:pt x="5288650" y="5317064"/>
                  </a:lnTo>
                  <a:lnTo>
                    <a:pt x="5313600" y="5284485"/>
                  </a:lnTo>
                  <a:lnTo>
                    <a:pt x="5314949" y="5277705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436869" y="0"/>
                  </a:lnTo>
                  <a:lnTo>
                    <a:pt x="5436869" y="5323808"/>
                  </a:lnTo>
                  <a:close/>
                </a:path>
                <a:path extrusionOk="0" h="5323840" w="5436870">
                  <a:moveTo>
                    <a:pt x="46104" y="5323808"/>
                  </a:moveTo>
                  <a:lnTo>
                    <a:pt x="0" y="5323808"/>
                  </a:lnTo>
                  <a:lnTo>
                    <a:pt x="0" y="5277706"/>
                  </a:lnTo>
                  <a:lnTo>
                    <a:pt x="1348" y="5284485"/>
                  </a:lnTo>
                  <a:lnTo>
                    <a:pt x="6742" y="5297508"/>
                  </a:lnTo>
                  <a:lnTo>
                    <a:pt x="10583" y="5303256"/>
                  </a:lnTo>
                  <a:lnTo>
                    <a:pt x="20550" y="5313223"/>
                  </a:lnTo>
                  <a:lnTo>
                    <a:pt x="26298" y="5317064"/>
                  </a:lnTo>
                  <a:lnTo>
                    <a:pt x="39321" y="5322458"/>
                  </a:lnTo>
                  <a:lnTo>
                    <a:pt x="46104" y="5323808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400049" y="897731"/>
              <a:ext cx="5314950" cy="5323840"/>
            </a:xfrm>
            <a:custGeom>
              <a:rect b="b" l="l" r="r" t="t"/>
              <a:pathLst>
                <a:path extrusionOk="0" h="5323840" w="5314950">
                  <a:moveTo>
                    <a:pt x="5265290" y="5323807"/>
                  </a:moveTo>
                  <a:lnTo>
                    <a:pt x="49659" y="5323807"/>
                  </a:lnTo>
                  <a:lnTo>
                    <a:pt x="46203" y="5323467"/>
                  </a:lnTo>
                  <a:lnTo>
                    <a:pt x="10896" y="5303087"/>
                  </a:lnTo>
                  <a:lnTo>
                    <a:pt x="0" y="5274148"/>
                  </a:lnTo>
                  <a:lnTo>
                    <a:pt x="0" y="5270658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5274148"/>
                  </a:lnTo>
                  <a:lnTo>
                    <a:pt x="5296914" y="5310707"/>
                  </a:lnTo>
                  <a:lnTo>
                    <a:pt x="5268746" y="5323467"/>
                  </a:lnTo>
                  <a:lnTo>
                    <a:pt x="5265290" y="5323807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940396" y="1978443"/>
              <a:ext cx="53340" cy="3756025"/>
            </a:xfrm>
            <a:custGeom>
              <a:rect b="b" l="l" r="r" t="t"/>
              <a:pathLst>
                <a:path extrusionOk="0" h="3756025" w="53340">
                  <a:moveTo>
                    <a:pt x="53149" y="3725799"/>
                  </a:moveTo>
                  <a:lnTo>
                    <a:pt x="30099" y="3702748"/>
                  </a:lnTo>
                  <a:lnTo>
                    <a:pt x="23050" y="3702748"/>
                  </a:lnTo>
                  <a:lnTo>
                    <a:pt x="0" y="3725799"/>
                  </a:lnTo>
                  <a:lnTo>
                    <a:pt x="0" y="3732847"/>
                  </a:lnTo>
                  <a:lnTo>
                    <a:pt x="23050" y="3755898"/>
                  </a:lnTo>
                  <a:lnTo>
                    <a:pt x="30099" y="3755898"/>
                  </a:lnTo>
                  <a:lnTo>
                    <a:pt x="53149" y="3732847"/>
                  </a:lnTo>
                  <a:lnTo>
                    <a:pt x="53149" y="3729317"/>
                  </a:lnTo>
                  <a:lnTo>
                    <a:pt x="53149" y="3725799"/>
                  </a:lnTo>
                  <a:close/>
                </a:path>
                <a:path extrusionOk="0" h="3756025" w="53340">
                  <a:moveTo>
                    <a:pt x="53149" y="3424618"/>
                  </a:moveTo>
                  <a:lnTo>
                    <a:pt x="30099" y="3401568"/>
                  </a:lnTo>
                  <a:lnTo>
                    <a:pt x="23050" y="3401568"/>
                  </a:lnTo>
                  <a:lnTo>
                    <a:pt x="0" y="3424618"/>
                  </a:lnTo>
                  <a:lnTo>
                    <a:pt x="0" y="3431667"/>
                  </a:lnTo>
                  <a:lnTo>
                    <a:pt x="23050" y="3454717"/>
                  </a:lnTo>
                  <a:lnTo>
                    <a:pt x="30099" y="3454717"/>
                  </a:lnTo>
                  <a:lnTo>
                    <a:pt x="53149" y="3431667"/>
                  </a:lnTo>
                  <a:lnTo>
                    <a:pt x="53149" y="3428136"/>
                  </a:lnTo>
                  <a:lnTo>
                    <a:pt x="53149" y="3424618"/>
                  </a:lnTo>
                  <a:close/>
                </a:path>
                <a:path extrusionOk="0" h="3756025" w="53340">
                  <a:moveTo>
                    <a:pt x="53149" y="3114573"/>
                  </a:moveTo>
                  <a:lnTo>
                    <a:pt x="30099" y="3091523"/>
                  </a:lnTo>
                  <a:lnTo>
                    <a:pt x="23050" y="3091523"/>
                  </a:lnTo>
                  <a:lnTo>
                    <a:pt x="0" y="3114573"/>
                  </a:lnTo>
                  <a:lnTo>
                    <a:pt x="0" y="3121622"/>
                  </a:lnTo>
                  <a:lnTo>
                    <a:pt x="23050" y="3144672"/>
                  </a:lnTo>
                  <a:lnTo>
                    <a:pt x="30099" y="3144672"/>
                  </a:lnTo>
                  <a:lnTo>
                    <a:pt x="53149" y="3121622"/>
                  </a:lnTo>
                  <a:lnTo>
                    <a:pt x="53149" y="3118104"/>
                  </a:lnTo>
                  <a:lnTo>
                    <a:pt x="53149" y="3114573"/>
                  </a:lnTo>
                  <a:close/>
                </a:path>
                <a:path extrusionOk="0" h="3756025" w="53340">
                  <a:moveTo>
                    <a:pt x="53149" y="2326195"/>
                  </a:moveTo>
                  <a:lnTo>
                    <a:pt x="30099" y="2303145"/>
                  </a:lnTo>
                  <a:lnTo>
                    <a:pt x="23050" y="2303145"/>
                  </a:lnTo>
                  <a:lnTo>
                    <a:pt x="0" y="2326195"/>
                  </a:lnTo>
                  <a:lnTo>
                    <a:pt x="0" y="2333244"/>
                  </a:lnTo>
                  <a:lnTo>
                    <a:pt x="23050" y="2356294"/>
                  </a:lnTo>
                  <a:lnTo>
                    <a:pt x="30099" y="2356294"/>
                  </a:lnTo>
                  <a:lnTo>
                    <a:pt x="53149" y="2333244"/>
                  </a:lnTo>
                  <a:lnTo>
                    <a:pt x="53149" y="2329713"/>
                  </a:lnTo>
                  <a:lnTo>
                    <a:pt x="53149" y="2326195"/>
                  </a:lnTo>
                  <a:close/>
                </a:path>
                <a:path extrusionOk="0" h="3756025" w="53340">
                  <a:moveTo>
                    <a:pt x="53149" y="2025015"/>
                  </a:moveTo>
                  <a:lnTo>
                    <a:pt x="30099" y="2001964"/>
                  </a:lnTo>
                  <a:lnTo>
                    <a:pt x="23050" y="2001964"/>
                  </a:lnTo>
                  <a:lnTo>
                    <a:pt x="0" y="2025015"/>
                  </a:lnTo>
                  <a:lnTo>
                    <a:pt x="0" y="2032063"/>
                  </a:lnTo>
                  <a:lnTo>
                    <a:pt x="23050" y="2055114"/>
                  </a:lnTo>
                  <a:lnTo>
                    <a:pt x="30099" y="2055114"/>
                  </a:lnTo>
                  <a:lnTo>
                    <a:pt x="53149" y="2032063"/>
                  </a:lnTo>
                  <a:lnTo>
                    <a:pt x="53149" y="2028532"/>
                  </a:lnTo>
                  <a:lnTo>
                    <a:pt x="53149" y="2025015"/>
                  </a:lnTo>
                  <a:close/>
                </a:path>
                <a:path extrusionOk="0" h="3756025" w="53340">
                  <a:moveTo>
                    <a:pt x="53149" y="1723834"/>
                  </a:moveTo>
                  <a:lnTo>
                    <a:pt x="30099" y="1700784"/>
                  </a:lnTo>
                  <a:lnTo>
                    <a:pt x="23050" y="1700784"/>
                  </a:lnTo>
                  <a:lnTo>
                    <a:pt x="0" y="1723834"/>
                  </a:lnTo>
                  <a:lnTo>
                    <a:pt x="0" y="1730883"/>
                  </a:lnTo>
                  <a:lnTo>
                    <a:pt x="23050" y="1753933"/>
                  </a:lnTo>
                  <a:lnTo>
                    <a:pt x="30099" y="1753933"/>
                  </a:lnTo>
                  <a:lnTo>
                    <a:pt x="53149" y="1730883"/>
                  </a:lnTo>
                  <a:lnTo>
                    <a:pt x="53149" y="1727352"/>
                  </a:lnTo>
                  <a:lnTo>
                    <a:pt x="53149" y="1723834"/>
                  </a:lnTo>
                  <a:close/>
                </a:path>
                <a:path extrusionOk="0" h="3756025" w="53340">
                  <a:moveTo>
                    <a:pt x="53149" y="926592"/>
                  </a:moveTo>
                  <a:lnTo>
                    <a:pt x="30099" y="903541"/>
                  </a:lnTo>
                  <a:lnTo>
                    <a:pt x="23050" y="903541"/>
                  </a:lnTo>
                  <a:lnTo>
                    <a:pt x="0" y="926592"/>
                  </a:lnTo>
                  <a:lnTo>
                    <a:pt x="0" y="933640"/>
                  </a:lnTo>
                  <a:lnTo>
                    <a:pt x="23050" y="956691"/>
                  </a:lnTo>
                  <a:lnTo>
                    <a:pt x="30099" y="956691"/>
                  </a:lnTo>
                  <a:lnTo>
                    <a:pt x="53149" y="933640"/>
                  </a:lnTo>
                  <a:lnTo>
                    <a:pt x="53149" y="930109"/>
                  </a:lnTo>
                  <a:lnTo>
                    <a:pt x="53149" y="926592"/>
                  </a:lnTo>
                  <a:close/>
                </a:path>
                <a:path extrusionOk="0" h="3756025" w="53340">
                  <a:moveTo>
                    <a:pt x="53149" y="625411"/>
                  </a:moveTo>
                  <a:lnTo>
                    <a:pt x="30099" y="602361"/>
                  </a:lnTo>
                  <a:lnTo>
                    <a:pt x="23050" y="602361"/>
                  </a:lnTo>
                  <a:lnTo>
                    <a:pt x="0" y="625411"/>
                  </a:lnTo>
                  <a:lnTo>
                    <a:pt x="0" y="632460"/>
                  </a:lnTo>
                  <a:lnTo>
                    <a:pt x="23050" y="655510"/>
                  </a:lnTo>
                  <a:lnTo>
                    <a:pt x="30099" y="655510"/>
                  </a:lnTo>
                  <a:lnTo>
                    <a:pt x="53149" y="632460"/>
                  </a:lnTo>
                  <a:lnTo>
                    <a:pt x="53149" y="628929"/>
                  </a:lnTo>
                  <a:lnTo>
                    <a:pt x="53149" y="625411"/>
                  </a:lnTo>
                  <a:close/>
                </a:path>
                <a:path extrusionOk="0" h="3756025" w="53340">
                  <a:moveTo>
                    <a:pt x="53149" y="324231"/>
                  </a:moveTo>
                  <a:lnTo>
                    <a:pt x="30099" y="301180"/>
                  </a:lnTo>
                  <a:lnTo>
                    <a:pt x="23050" y="301180"/>
                  </a:lnTo>
                  <a:lnTo>
                    <a:pt x="0" y="324231"/>
                  </a:lnTo>
                  <a:lnTo>
                    <a:pt x="0" y="331279"/>
                  </a:lnTo>
                  <a:lnTo>
                    <a:pt x="23050" y="354330"/>
                  </a:lnTo>
                  <a:lnTo>
                    <a:pt x="30099" y="354330"/>
                  </a:lnTo>
                  <a:lnTo>
                    <a:pt x="53149" y="331279"/>
                  </a:lnTo>
                  <a:lnTo>
                    <a:pt x="53149" y="327748"/>
                  </a:lnTo>
                  <a:lnTo>
                    <a:pt x="53149" y="324231"/>
                  </a:lnTo>
                  <a:close/>
                </a:path>
                <a:path extrusionOk="0" h="3756025" w="53340">
                  <a:moveTo>
                    <a:pt x="53149" y="23050"/>
                  </a:moveTo>
                  <a:lnTo>
                    <a:pt x="30099" y="0"/>
                  </a:lnTo>
                  <a:lnTo>
                    <a:pt x="23050" y="0"/>
                  </a:lnTo>
                  <a:lnTo>
                    <a:pt x="0" y="23050"/>
                  </a:lnTo>
                  <a:lnTo>
                    <a:pt x="0" y="30099"/>
                  </a:lnTo>
                  <a:lnTo>
                    <a:pt x="23050" y="53149"/>
                  </a:lnTo>
                  <a:lnTo>
                    <a:pt x="30099" y="53149"/>
                  </a:lnTo>
                  <a:lnTo>
                    <a:pt x="53149" y="30099"/>
                  </a:lnTo>
                  <a:lnTo>
                    <a:pt x="53149" y="26568"/>
                  </a:lnTo>
                  <a:lnTo>
                    <a:pt x="53149" y="23050"/>
                  </a:lnTo>
                  <a:close/>
                </a:path>
              </a:pathLst>
            </a:custGeom>
            <a:solidFill>
              <a:srgbClr val="333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7" name="Google Shape;387;p14"/>
          <p:cNvSpPr txBox="1"/>
          <p:nvPr/>
        </p:nvSpPr>
        <p:spPr>
          <a:xfrm>
            <a:off x="1087151" y="1036572"/>
            <a:ext cx="3433445" cy="4763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Modelos de autorización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680085" lvl="0" marL="12700" marR="177800" rtl="0" algn="l">
              <a:lnSpc>
                <a:spcPct val="232592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RBAC (Role-Based Access Control) </a:t>
            </a:r>
            <a:r>
              <a:rPr lang="en-US" sz="13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Basado en roles predefinidos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Permisos agrupados en roles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888364" rtl="0" algn="l">
              <a:lnSpc>
                <a:spcPct val="146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Usuarios asignados a uno o más roles Ejemplo: Admin, Editor, Lector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507365" lvl="0" marL="12700" marR="5080" rtl="0" algn="l">
              <a:lnSpc>
                <a:spcPct val="1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ABAC (Attribute-Based Access Control) </a:t>
            </a:r>
            <a:r>
              <a:rPr lang="en-US" sz="13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Decisiones basadas en atributos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949325" rtl="0" algn="l">
              <a:lnSpc>
                <a:spcPct val="146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 contexto, usuario, recurso Mayor flexibilidad y granularidad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633730" lvl="0" marL="12700" marR="130810" rtl="0" algn="l">
              <a:lnSpc>
                <a:spcPct val="1894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PBAC (Policy-Based Access Control) </a:t>
            </a:r>
            <a:r>
              <a:rPr lang="en-US" sz="13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 políticas centralizadas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267460" rtl="0" algn="l">
              <a:lnSpc>
                <a:spcPct val="1464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 múltiples factores Ideal para escenarios complejos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88" name="Google Shape;388;p14"/>
          <p:cNvGrpSpPr/>
          <p:nvPr/>
        </p:nvGrpSpPr>
        <p:grpSpPr>
          <a:xfrm>
            <a:off x="5769863" y="897730"/>
            <a:ext cx="5260086" cy="5323841"/>
            <a:chOff x="5769863" y="897730"/>
            <a:chExt cx="5260086" cy="5323841"/>
          </a:xfrm>
        </p:grpSpPr>
        <p:sp>
          <p:nvSpPr>
            <p:cNvPr id="389" name="Google Shape;389;p14"/>
            <p:cNvSpPr/>
            <p:nvPr/>
          </p:nvSpPr>
          <p:spPr>
            <a:xfrm>
              <a:off x="5769863" y="897731"/>
              <a:ext cx="168910" cy="5323840"/>
            </a:xfrm>
            <a:custGeom>
              <a:rect b="b" l="l" r="r" t="t"/>
              <a:pathLst>
                <a:path extrusionOk="0" h="5323840" w="168910">
                  <a:moveTo>
                    <a:pt x="168405" y="5323808"/>
                  </a:moveTo>
                  <a:lnTo>
                    <a:pt x="0" y="5323808"/>
                  </a:lnTo>
                  <a:lnTo>
                    <a:pt x="0" y="0"/>
                  </a:lnTo>
                  <a:lnTo>
                    <a:pt x="168401" y="0"/>
                  </a:lnTo>
                  <a:lnTo>
                    <a:pt x="161622" y="1348"/>
                  </a:lnTo>
                  <a:lnTo>
                    <a:pt x="148598" y="6742"/>
                  </a:lnTo>
                  <a:lnTo>
                    <a:pt x="123649" y="39321"/>
                  </a:lnTo>
                  <a:lnTo>
                    <a:pt x="122300" y="46101"/>
                  </a:lnTo>
                  <a:lnTo>
                    <a:pt x="122300" y="5277705"/>
                  </a:lnTo>
                  <a:lnTo>
                    <a:pt x="142851" y="5313223"/>
                  </a:lnTo>
                  <a:lnTo>
                    <a:pt x="161622" y="5322458"/>
                  </a:lnTo>
                  <a:lnTo>
                    <a:pt x="168405" y="5323808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5892164" y="897730"/>
              <a:ext cx="5137785" cy="5323840"/>
            </a:xfrm>
            <a:custGeom>
              <a:rect b="b" l="l" r="r" t="t"/>
              <a:pathLst>
                <a:path extrusionOk="0" h="5323840" w="5137784">
                  <a:moveTo>
                    <a:pt x="5137785" y="5323808"/>
                  </a:moveTo>
                  <a:lnTo>
                    <a:pt x="49658" y="5323808"/>
                  </a:lnTo>
                  <a:lnTo>
                    <a:pt x="46203" y="5323467"/>
                  </a:lnTo>
                  <a:lnTo>
                    <a:pt x="10896" y="5303087"/>
                  </a:lnTo>
                  <a:lnTo>
                    <a:pt x="0" y="5274148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532380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91" name="Google Shape;391;p14"/>
          <p:cNvSpPr txBox="1"/>
          <p:nvPr/>
        </p:nvSpPr>
        <p:spPr>
          <a:xfrm>
            <a:off x="7102595" y="1029994"/>
            <a:ext cx="2894330" cy="649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Implementación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6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Verificación de permisos en cada endpoint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14"/>
          <p:cNvSpPr txBox="1"/>
          <p:nvPr/>
        </p:nvSpPr>
        <p:spPr>
          <a:xfrm>
            <a:off x="7581771" y="2454158"/>
            <a:ext cx="1936114" cy="226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 de autorización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7832570" y="3632305"/>
            <a:ext cx="1434465" cy="226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Scopes en OAuth 2.0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14"/>
          <p:cNvSpPr txBox="1"/>
          <p:nvPr/>
        </p:nvSpPr>
        <p:spPr>
          <a:xfrm>
            <a:off x="8005305" y="4890176"/>
            <a:ext cx="1089025" cy="226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Claims en JWT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6069329" y="1863280"/>
            <a:ext cx="4960620" cy="443230"/>
          </a:xfrm>
          <a:custGeom>
            <a:rect b="b" l="l" r="r" t="t"/>
            <a:pathLst>
              <a:path extrusionOk="0" h="443230" w="4960620">
                <a:moveTo>
                  <a:pt x="4910960" y="442912"/>
                </a:moveTo>
                <a:lnTo>
                  <a:pt x="49660" y="442912"/>
                </a:lnTo>
                <a:lnTo>
                  <a:pt x="46203" y="442571"/>
                </a:lnTo>
                <a:lnTo>
                  <a:pt x="10896" y="422192"/>
                </a:lnTo>
                <a:lnTo>
                  <a:pt x="0" y="393252"/>
                </a:lnTo>
                <a:lnTo>
                  <a:pt x="0" y="389763"/>
                </a:lnTo>
                <a:lnTo>
                  <a:pt x="0" y="49659"/>
                </a:lnTo>
                <a:lnTo>
                  <a:pt x="18034" y="13099"/>
                </a:lnTo>
                <a:lnTo>
                  <a:pt x="49660" y="0"/>
                </a:lnTo>
                <a:lnTo>
                  <a:pt x="4910960" y="0"/>
                </a:lnTo>
                <a:lnTo>
                  <a:pt x="4947521" y="18034"/>
                </a:lnTo>
                <a:lnTo>
                  <a:pt x="4960620" y="49659"/>
                </a:lnTo>
                <a:lnTo>
                  <a:pt x="4960620" y="393252"/>
                </a:lnTo>
                <a:lnTo>
                  <a:pt x="4942584" y="429812"/>
                </a:lnTo>
                <a:lnTo>
                  <a:pt x="4914416" y="442571"/>
                </a:lnTo>
                <a:lnTo>
                  <a:pt x="4910960" y="442912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6" name="Google Shape;396;p14"/>
          <p:cNvSpPr txBox="1"/>
          <p:nvPr/>
        </p:nvSpPr>
        <p:spPr>
          <a:xfrm>
            <a:off x="6105626" y="1880148"/>
            <a:ext cx="1938655" cy="362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function veriﬁcarPermiso(usuario, recurso, accion) {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725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Lógica de autorización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725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return tienePermiso;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6069329" y="2864262"/>
            <a:ext cx="4960620" cy="620395"/>
          </a:xfrm>
          <a:custGeom>
            <a:rect b="b" l="l" r="r" t="t"/>
            <a:pathLst>
              <a:path extrusionOk="0" h="620395" w="4960620">
                <a:moveTo>
                  <a:pt x="4910960" y="620077"/>
                </a:moveTo>
                <a:lnTo>
                  <a:pt x="49660" y="620077"/>
                </a:lnTo>
                <a:lnTo>
                  <a:pt x="46203" y="619736"/>
                </a:lnTo>
                <a:lnTo>
                  <a:pt x="10896" y="599357"/>
                </a:lnTo>
                <a:lnTo>
                  <a:pt x="0" y="570417"/>
                </a:lnTo>
                <a:lnTo>
                  <a:pt x="0" y="566928"/>
                </a:lnTo>
                <a:lnTo>
                  <a:pt x="0" y="49659"/>
                </a:lnTo>
                <a:lnTo>
                  <a:pt x="18034" y="13099"/>
                </a:lnTo>
                <a:lnTo>
                  <a:pt x="49660" y="0"/>
                </a:lnTo>
                <a:lnTo>
                  <a:pt x="4910960" y="0"/>
                </a:lnTo>
                <a:lnTo>
                  <a:pt x="4947521" y="18034"/>
                </a:lnTo>
                <a:lnTo>
                  <a:pt x="4960620" y="49659"/>
                </a:lnTo>
                <a:lnTo>
                  <a:pt x="4960620" y="570417"/>
                </a:lnTo>
                <a:lnTo>
                  <a:pt x="4942584" y="606978"/>
                </a:lnTo>
                <a:lnTo>
                  <a:pt x="4914416" y="619736"/>
                </a:lnTo>
                <a:lnTo>
                  <a:pt x="4910960" y="620077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8" name="Google Shape;398;p14"/>
          <p:cNvSpPr txBox="1"/>
          <p:nvPr/>
        </p:nvSpPr>
        <p:spPr>
          <a:xfrm>
            <a:off x="6105626" y="2872272"/>
            <a:ext cx="1350010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73660" lvl="0" marL="85725" marR="5080" rtl="0" algn="l">
              <a:lnSpc>
                <a:spcPct val="12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app.get('/api/usuarios/:id', autorizacion(['admin', 'gestor']), (req, res) =&gt; {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9385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Lógica del endpoint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218565" rtl="0" algn="r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255395" rtl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6069329" y="4042409"/>
            <a:ext cx="4960620" cy="700405"/>
          </a:xfrm>
          <a:custGeom>
            <a:rect b="b" l="l" r="r" t="t"/>
            <a:pathLst>
              <a:path extrusionOk="0" h="700404" w="4960620">
                <a:moveTo>
                  <a:pt x="4910960" y="699801"/>
                </a:moveTo>
                <a:lnTo>
                  <a:pt x="49660" y="699801"/>
                </a:lnTo>
                <a:lnTo>
                  <a:pt x="46203" y="699461"/>
                </a:lnTo>
                <a:lnTo>
                  <a:pt x="10896" y="679081"/>
                </a:lnTo>
                <a:lnTo>
                  <a:pt x="0" y="650141"/>
                </a:lnTo>
                <a:lnTo>
                  <a:pt x="0" y="646652"/>
                </a:lnTo>
                <a:lnTo>
                  <a:pt x="0" y="49659"/>
                </a:lnTo>
                <a:lnTo>
                  <a:pt x="18034" y="13098"/>
                </a:lnTo>
                <a:lnTo>
                  <a:pt x="49660" y="0"/>
                </a:lnTo>
                <a:lnTo>
                  <a:pt x="4910960" y="0"/>
                </a:lnTo>
                <a:lnTo>
                  <a:pt x="4947521" y="18034"/>
                </a:lnTo>
                <a:lnTo>
                  <a:pt x="4960620" y="49659"/>
                </a:lnTo>
                <a:lnTo>
                  <a:pt x="4960620" y="650141"/>
                </a:lnTo>
                <a:lnTo>
                  <a:pt x="4942584" y="686702"/>
                </a:lnTo>
                <a:lnTo>
                  <a:pt x="4914416" y="699461"/>
                </a:lnTo>
                <a:lnTo>
                  <a:pt x="4910960" y="699801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0" name="Google Shape;400;p14"/>
          <p:cNvSpPr txBox="1"/>
          <p:nvPr/>
        </p:nvSpPr>
        <p:spPr>
          <a:xfrm>
            <a:off x="6105626" y="4041561"/>
            <a:ext cx="1092835" cy="202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23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Solicitar token con scopes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'read:users write:users'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6105626" y="4316167"/>
            <a:ext cx="1755139" cy="362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Veriﬁcar en API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if (!token.hasScope('write:users')) {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725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return res.status(403).send('No autorizado');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6069329" y="5300281"/>
            <a:ext cx="4960620" cy="700405"/>
          </a:xfrm>
          <a:custGeom>
            <a:rect b="b" l="l" r="r" t="t"/>
            <a:pathLst>
              <a:path extrusionOk="0" h="700404" w="4960620">
                <a:moveTo>
                  <a:pt x="4910960" y="699801"/>
                </a:moveTo>
                <a:lnTo>
                  <a:pt x="49660" y="699801"/>
                </a:lnTo>
                <a:lnTo>
                  <a:pt x="46203" y="699460"/>
                </a:lnTo>
                <a:lnTo>
                  <a:pt x="10896" y="679080"/>
                </a:lnTo>
                <a:lnTo>
                  <a:pt x="0" y="650141"/>
                </a:lnTo>
                <a:lnTo>
                  <a:pt x="0" y="646651"/>
                </a:lnTo>
                <a:lnTo>
                  <a:pt x="0" y="49658"/>
                </a:lnTo>
                <a:lnTo>
                  <a:pt x="18034" y="13098"/>
                </a:lnTo>
                <a:lnTo>
                  <a:pt x="49660" y="0"/>
                </a:lnTo>
                <a:lnTo>
                  <a:pt x="4910960" y="0"/>
                </a:lnTo>
                <a:lnTo>
                  <a:pt x="4947521" y="18033"/>
                </a:lnTo>
                <a:lnTo>
                  <a:pt x="4960620" y="49658"/>
                </a:lnTo>
                <a:lnTo>
                  <a:pt x="4960620" y="650141"/>
                </a:lnTo>
                <a:lnTo>
                  <a:pt x="4942584" y="686701"/>
                </a:lnTo>
                <a:lnTo>
                  <a:pt x="4914416" y="699460"/>
                </a:lnTo>
                <a:lnTo>
                  <a:pt x="4910960" y="699801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3" name="Google Shape;403;p14"/>
          <p:cNvSpPr txBox="1"/>
          <p:nvPr/>
        </p:nvSpPr>
        <p:spPr>
          <a:xfrm>
            <a:off x="6105626" y="5308291"/>
            <a:ext cx="1681480" cy="6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23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JWT payload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725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"sub": "1234567890",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725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"name": "Juan Pérez",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725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"roles": ["editor"],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725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"permissions": ["post:create", "post:edit"]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4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114299" y="6305549"/>
            <a:ext cx="504825" cy="247650"/>
          </a:xfrm>
          <a:custGeom>
            <a:rect b="b" l="l" r="r" t="t"/>
            <a:pathLst>
              <a:path extrusionOk="0" h="247650" w="504825">
                <a:moveTo>
                  <a:pt x="504824" y="247649"/>
                </a:moveTo>
                <a:lnTo>
                  <a:pt x="0" y="247649"/>
                </a:lnTo>
                <a:lnTo>
                  <a:pt x="0" y="0"/>
                </a:lnTo>
                <a:lnTo>
                  <a:pt x="504824" y="0"/>
                </a:lnTo>
                <a:lnTo>
                  <a:pt x="504824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5" name="Google Shape;405;p14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 txBox="1"/>
          <p:nvPr>
            <p:ph type="title"/>
          </p:nvPr>
        </p:nvSpPr>
        <p:spPr>
          <a:xfrm>
            <a:off x="2866137" y="211690"/>
            <a:ext cx="569785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311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Manejo de Respuestas Asíncronas</a:t>
            </a:r>
            <a:endParaRPr/>
          </a:p>
        </p:txBody>
      </p:sp>
      <p:grpSp>
        <p:nvGrpSpPr>
          <p:cNvPr id="411" name="Google Shape;411;p15"/>
          <p:cNvGrpSpPr/>
          <p:nvPr/>
        </p:nvGrpSpPr>
        <p:grpSpPr>
          <a:xfrm>
            <a:off x="400049" y="897731"/>
            <a:ext cx="10629900" cy="5314950"/>
            <a:chOff x="400049" y="897731"/>
            <a:chExt cx="10629900" cy="5314950"/>
          </a:xfrm>
        </p:grpSpPr>
        <p:sp>
          <p:nvSpPr>
            <p:cNvPr id="412" name="Google Shape;412;p15"/>
            <p:cNvSpPr/>
            <p:nvPr/>
          </p:nvSpPr>
          <p:spPr>
            <a:xfrm>
              <a:off x="400049" y="897731"/>
              <a:ext cx="10629900" cy="5314950"/>
            </a:xfrm>
            <a:custGeom>
              <a:rect b="b" l="l" r="r" t="t"/>
              <a:pathLst>
                <a:path extrusionOk="0" h="5314950" w="1062990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314950" w="10629900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extrusionOk="0" h="5314950" w="10629900">
                  <a:moveTo>
                    <a:pt x="10629899" y="5314949"/>
                  </a:moveTo>
                  <a:lnTo>
                    <a:pt x="10583794" y="5314949"/>
                  </a:lnTo>
                  <a:lnTo>
                    <a:pt x="10590576" y="5313600"/>
                  </a:lnTo>
                  <a:lnTo>
                    <a:pt x="10603599" y="5308205"/>
                  </a:lnTo>
                  <a:lnTo>
                    <a:pt x="10628550" y="5275627"/>
                  </a:lnTo>
                  <a:lnTo>
                    <a:pt x="10629899" y="5268847"/>
                  </a:lnTo>
                  <a:lnTo>
                    <a:pt x="10629899" y="5314949"/>
                  </a:lnTo>
                  <a:close/>
                </a:path>
                <a:path extrusionOk="0" h="5314950" w="10629900">
                  <a:moveTo>
                    <a:pt x="46104" y="5314949"/>
                  </a:moveTo>
                  <a:lnTo>
                    <a:pt x="0" y="5314949"/>
                  </a:lnTo>
                  <a:lnTo>
                    <a:pt x="0" y="5268848"/>
                  </a:lnTo>
                  <a:lnTo>
                    <a:pt x="1348" y="5275627"/>
                  </a:lnTo>
                  <a:lnTo>
                    <a:pt x="6742" y="5288650"/>
                  </a:lnTo>
                  <a:lnTo>
                    <a:pt x="10583" y="5294398"/>
                  </a:lnTo>
                  <a:lnTo>
                    <a:pt x="20550" y="5304365"/>
                  </a:lnTo>
                  <a:lnTo>
                    <a:pt x="26298" y="5308205"/>
                  </a:lnTo>
                  <a:lnTo>
                    <a:pt x="39321" y="5313600"/>
                  </a:lnTo>
                  <a:lnTo>
                    <a:pt x="46104" y="5314949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400049" y="897731"/>
              <a:ext cx="10629900" cy="5314950"/>
            </a:xfrm>
            <a:custGeom>
              <a:rect b="b" l="l" r="r" t="t"/>
              <a:pathLst>
                <a:path extrusionOk="0" h="5314950" w="10629900">
                  <a:moveTo>
                    <a:pt x="10580239" y="5314949"/>
                  </a:moveTo>
                  <a:lnTo>
                    <a:pt x="49659" y="5314949"/>
                  </a:lnTo>
                  <a:lnTo>
                    <a:pt x="46203" y="5314608"/>
                  </a:lnTo>
                  <a:lnTo>
                    <a:pt x="10896" y="5294230"/>
                  </a:lnTo>
                  <a:lnTo>
                    <a:pt x="0" y="5265290"/>
                  </a:lnTo>
                  <a:lnTo>
                    <a:pt x="0" y="5261800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5265290"/>
                  </a:lnTo>
                  <a:lnTo>
                    <a:pt x="10611863" y="5301850"/>
                  </a:lnTo>
                  <a:lnTo>
                    <a:pt x="10583695" y="5314608"/>
                  </a:lnTo>
                  <a:lnTo>
                    <a:pt x="10580239" y="5314949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4" name="Google Shape;414;p15"/>
          <p:cNvSpPr txBox="1"/>
          <p:nvPr/>
        </p:nvSpPr>
        <p:spPr>
          <a:xfrm>
            <a:off x="3912656" y="1031743"/>
            <a:ext cx="3604895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Evolución de patrones asíncronos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15"/>
          <p:cNvSpPr txBox="1"/>
          <p:nvPr/>
        </p:nvSpPr>
        <p:spPr>
          <a:xfrm>
            <a:off x="1735880" y="1483514"/>
            <a:ext cx="1073785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Callbacks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5318626" y="1483514"/>
            <a:ext cx="1044575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Promesas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8106727" y="2102452"/>
            <a:ext cx="62230" cy="62230"/>
          </a:xfrm>
          <a:custGeom>
            <a:rect b="b" l="l" r="r" t="t"/>
            <a:pathLst>
              <a:path extrusionOk="0" h="62230" w="62229">
                <a:moveTo>
                  <a:pt x="35115" y="62007"/>
                </a:moveTo>
                <a:lnTo>
                  <a:pt x="26892" y="62007"/>
                </a:lnTo>
                <a:lnTo>
                  <a:pt x="22937" y="61221"/>
                </a:lnTo>
                <a:lnTo>
                  <a:pt x="0" y="35115"/>
                </a:lnTo>
                <a:lnTo>
                  <a:pt x="0" y="26892"/>
                </a:lnTo>
                <a:lnTo>
                  <a:pt x="26892" y="0"/>
                </a:lnTo>
                <a:lnTo>
                  <a:pt x="35115" y="0"/>
                </a:lnTo>
                <a:lnTo>
                  <a:pt x="62008" y="31003"/>
                </a:lnTo>
                <a:lnTo>
                  <a:pt x="62007" y="35115"/>
                </a:lnTo>
                <a:lnTo>
                  <a:pt x="35115" y="62007"/>
                </a:lnTo>
                <a:close/>
              </a:path>
            </a:pathLst>
          </a:custGeom>
          <a:solidFill>
            <a:srgbClr val="333A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8" name="Google Shape;418;p15"/>
          <p:cNvSpPr txBox="1"/>
          <p:nvPr/>
        </p:nvSpPr>
        <p:spPr>
          <a:xfrm>
            <a:off x="7776077" y="1154803"/>
            <a:ext cx="3324300" cy="18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725">
            <a:spAutoFit/>
          </a:bodyPr>
          <a:lstStyle/>
          <a:p>
            <a:pPr indent="-530860" lvl="0" marL="542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Problemas del código asíncron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42925" marR="5080" rtl="0" algn="l">
              <a:lnSpc>
                <a:spcPct val="104900"/>
              </a:lnSpc>
              <a:spcBef>
                <a:spcPts val="93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Callback hell</a:t>
            </a:r>
            <a:r>
              <a:rPr lang="en-US" sz="18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Código difícil de leer y mantener con múltiples niveles anidados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19" name="Google Shape;419;p15"/>
          <p:cNvGrpSpPr/>
          <p:nvPr/>
        </p:nvGrpSpPr>
        <p:grpSpPr>
          <a:xfrm>
            <a:off x="577215" y="1978437"/>
            <a:ext cx="7591730" cy="3109474"/>
            <a:chOff x="577215" y="1978437"/>
            <a:chExt cx="7591730" cy="3109474"/>
          </a:xfrm>
        </p:grpSpPr>
        <p:sp>
          <p:nvSpPr>
            <p:cNvPr id="420" name="Google Shape;420;p15"/>
            <p:cNvSpPr/>
            <p:nvPr/>
          </p:nvSpPr>
          <p:spPr>
            <a:xfrm>
              <a:off x="8106715" y="3076866"/>
              <a:ext cx="62230" cy="2011045"/>
            </a:xfrm>
            <a:custGeom>
              <a:rect b="b" l="l" r="r" t="t"/>
              <a:pathLst>
                <a:path extrusionOk="0" h="2011045" w="62229">
                  <a:moveTo>
                    <a:pt x="62014" y="1975700"/>
                  </a:moveTo>
                  <a:lnTo>
                    <a:pt x="35115" y="1948815"/>
                  </a:lnTo>
                  <a:lnTo>
                    <a:pt x="26898" y="1948815"/>
                  </a:lnTo>
                  <a:lnTo>
                    <a:pt x="0" y="1975700"/>
                  </a:lnTo>
                  <a:lnTo>
                    <a:pt x="0" y="1983930"/>
                  </a:lnTo>
                  <a:lnTo>
                    <a:pt x="26898" y="2010816"/>
                  </a:lnTo>
                  <a:lnTo>
                    <a:pt x="35115" y="2010816"/>
                  </a:lnTo>
                  <a:lnTo>
                    <a:pt x="62014" y="1983930"/>
                  </a:lnTo>
                  <a:lnTo>
                    <a:pt x="62014" y="1979815"/>
                  </a:lnTo>
                  <a:lnTo>
                    <a:pt x="62014" y="1975700"/>
                  </a:lnTo>
                  <a:close/>
                </a:path>
                <a:path extrusionOk="0" h="2011045" w="62229">
                  <a:moveTo>
                    <a:pt x="62014" y="1001293"/>
                  </a:moveTo>
                  <a:lnTo>
                    <a:pt x="35115" y="974407"/>
                  </a:lnTo>
                  <a:lnTo>
                    <a:pt x="26898" y="974407"/>
                  </a:lnTo>
                  <a:lnTo>
                    <a:pt x="0" y="1001293"/>
                  </a:lnTo>
                  <a:lnTo>
                    <a:pt x="0" y="1009523"/>
                  </a:lnTo>
                  <a:lnTo>
                    <a:pt x="26898" y="1036408"/>
                  </a:lnTo>
                  <a:lnTo>
                    <a:pt x="35115" y="1036408"/>
                  </a:lnTo>
                  <a:lnTo>
                    <a:pt x="62014" y="1009523"/>
                  </a:lnTo>
                  <a:lnTo>
                    <a:pt x="62014" y="1005408"/>
                  </a:lnTo>
                  <a:lnTo>
                    <a:pt x="62014" y="1001293"/>
                  </a:lnTo>
                  <a:close/>
                </a:path>
                <a:path extrusionOk="0" h="2011045" w="62229">
                  <a:moveTo>
                    <a:pt x="62014" y="26885"/>
                  </a:moveTo>
                  <a:lnTo>
                    <a:pt x="35115" y="0"/>
                  </a:lnTo>
                  <a:lnTo>
                    <a:pt x="26898" y="0"/>
                  </a:lnTo>
                  <a:lnTo>
                    <a:pt x="0" y="26885"/>
                  </a:lnTo>
                  <a:lnTo>
                    <a:pt x="0" y="35115"/>
                  </a:lnTo>
                  <a:lnTo>
                    <a:pt x="26898" y="62001"/>
                  </a:lnTo>
                  <a:lnTo>
                    <a:pt x="35115" y="62001"/>
                  </a:lnTo>
                  <a:lnTo>
                    <a:pt x="62014" y="35115"/>
                  </a:lnTo>
                  <a:lnTo>
                    <a:pt x="62014" y="31000"/>
                  </a:lnTo>
                  <a:lnTo>
                    <a:pt x="62014" y="26885"/>
                  </a:lnTo>
                  <a:close/>
                </a:path>
              </a:pathLst>
            </a:custGeom>
            <a:solidFill>
              <a:srgbClr val="333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577215" y="1978437"/>
              <a:ext cx="3392804" cy="2046605"/>
            </a:xfrm>
            <a:custGeom>
              <a:rect b="b" l="l" r="r" t="t"/>
              <a:pathLst>
                <a:path extrusionOk="0" h="2046604" w="3392804">
                  <a:moveTo>
                    <a:pt x="3343050" y="2046255"/>
                  </a:moveTo>
                  <a:lnTo>
                    <a:pt x="49659" y="2046255"/>
                  </a:lnTo>
                  <a:lnTo>
                    <a:pt x="46203" y="2045915"/>
                  </a:lnTo>
                  <a:lnTo>
                    <a:pt x="10896" y="2025535"/>
                  </a:lnTo>
                  <a:lnTo>
                    <a:pt x="0" y="1996596"/>
                  </a:lnTo>
                  <a:lnTo>
                    <a:pt x="0" y="1993106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343050" y="0"/>
                  </a:lnTo>
                  <a:lnTo>
                    <a:pt x="3379609" y="18034"/>
                  </a:lnTo>
                  <a:lnTo>
                    <a:pt x="3392709" y="49659"/>
                  </a:lnTo>
                  <a:lnTo>
                    <a:pt x="3392709" y="1996596"/>
                  </a:lnTo>
                  <a:lnTo>
                    <a:pt x="3374674" y="2033156"/>
                  </a:lnTo>
                  <a:lnTo>
                    <a:pt x="3346506" y="2045915"/>
                  </a:lnTo>
                  <a:lnTo>
                    <a:pt x="3343050" y="2046255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2" name="Google Shape;422;p15"/>
          <p:cNvSpPr txBox="1"/>
          <p:nvPr/>
        </p:nvSpPr>
        <p:spPr>
          <a:xfrm>
            <a:off x="8276451" y="2920673"/>
            <a:ext cx="261493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Manejo de errores</a:t>
            </a:r>
            <a:r>
              <a:rPr lang="en-US" sz="18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Complejidad para propagar y capturar errores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8276451" y="3895081"/>
            <a:ext cx="282384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Flujo de control</a:t>
            </a:r>
            <a:r>
              <a:rPr lang="en-US" sz="18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Dificultad para implementar patrones com loops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8276451" y="4869488"/>
            <a:ext cx="276860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12700" marR="508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Composición</a:t>
            </a:r>
            <a:r>
              <a:rPr lang="en-US" sz="18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Desafíos al combinar múltiples operacione asíncronas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632612" y="1991048"/>
            <a:ext cx="1711325" cy="982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2235" lvl="0" marL="114300" marR="5080" rtl="0" algn="l">
              <a:lnSpc>
                <a:spcPct val="12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function obtenerDatos(callback) { setTimeout(() =&gt; {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758190" rtl="0" algn="ctr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callback({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758190" rtl="0" algn="ctr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id: 1,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45415" rtl="0" algn="ctr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nombre: 'Producto'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15695" rtl="0" algn="ctr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013460" rtl="0" algn="ctr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}, 1000);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626235" rtl="0" algn="ctr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6" name="Google Shape;426;p15"/>
          <p:cNvSpPr txBox="1"/>
          <p:nvPr/>
        </p:nvSpPr>
        <p:spPr>
          <a:xfrm>
            <a:off x="632612" y="3062896"/>
            <a:ext cx="2477135" cy="867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2235" lvl="0" marL="114300" marR="923925" rtl="0" algn="l">
              <a:lnSpc>
                <a:spcPct val="12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obtenerDatos(function(datos) { console.log(datos);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obtenerMasDatos(datos.id, function(masDatos) {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6534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console.log(masDatos);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6534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Callback hell...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4147089" y="1978437"/>
            <a:ext cx="3392804" cy="2764155"/>
          </a:xfrm>
          <a:custGeom>
            <a:rect b="b" l="l" r="r" t="t"/>
            <a:pathLst>
              <a:path extrusionOk="0" h="2764154" w="3392804">
                <a:moveTo>
                  <a:pt x="3343049" y="2763773"/>
                </a:moveTo>
                <a:lnTo>
                  <a:pt x="49659" y="2763773"/>
                </a:lnTo>
                <a:lnTo>
                  <a:pt x="46203" y="2763433"/>
                </a:lnTo>
                <a:lnTo>
                  <a:pt x="10896" y="2743054"/>
                </a:lnTo>
                <a:lnTo>
                  <a:pt x="0" y="2714114"/>
                </a:lnTo>
                <a:lnTo>
                  <a:pt x="0" y="2710624"/>
                </a:lnTo>
                <a:lnTo>
                  <a:pt x="0" y="49659"/>
                </a:lnTo>
                <a:lnTo>
                  <a:pt x="18034" y="13099"/>
                </a:lnTo>
                <a:lnTo>
                  <a:pt x="49659" y="0"/>
                </a:lnTo>
                <a:lnTo>
                  <a:pt x="3343049" y="0"/>
                </a:lnTo>
                <a:lnTo>
                  <a:pt x="3379609" y="18034"/>
                </a:lnTo>
                <a:lnTo>
                  <a:pt x="3392709" y="49659"/>
                </a:lnTo>
                <a:lnTo>
                  <a:pt x="3392709" y="2714114"/>
                </a:lnTo>
                <a:lnTo>
                  <a:pt x="3374673" y="2750674"/>
                </a:lnTo>
                <a:lnTo>
                  <a:pt x="3346506" y="2763433"/>
                </a:lnTo>
                <a:lnTo>
                  <a:pt x="3343049" y="2763773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8" name="Google Shape;428;p15"/>
          <p:cNvSpPr txBox="1"/>
          <p:nvPr/>
        </p:nvSpPr>
        <p:spPr>
          <a:xfrm>
            <a:off x="4200688" y="1991048"/>
            <a:ext cx="1813560" cy="1221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function obtenerDatos() {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-102234" lvl="0" marL="216534" marR="5080" rtl="0" algn="l">
              <a:lnSpc>
                <a:spcPct val="1163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return new Promise((resolve) =&gt; { setTimeout(() =&gt; {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-102235" lvl="0" marL="421005" marR="1026160" rtl="0" algn="l">
              <a:lnSpc>
                <a:spcPct val="116199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resolve({ id: 1,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21005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nombre: 'Producto'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1877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6534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}, 1000);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9" name="Google Shape;429;p15"/>
          <p:cNvSpPr txBox="1"/>
          <p:nvPr/>
        </p:nvSpPr>
        <p:spPr>
          <a:xfrm>
            <a:off x="4200688" y="3302068"/>
            <a:ext cx="1915795" cy="1345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obtenerDatos()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-102234" lvl="0" marL="216534" marR="720090" rtl="0" algn="l">
              <a:lnSpc>
                <a:spcPct val="116199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.then(datos =&gt; { console.log(datos);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6534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return obtenerMasDatos(datos.id);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-102234" lvl="0" marL="216534" marR="566420" rtl="0" algn="l">
              <a:lnSpc>
                <a:spcPct val="1163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.then(masDatos =&gt; { console.log(masDatos);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-102234" lvl="0" marL="216534" marR="617855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.catch(error =&gt; { console.error(error);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6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114299" y="6305549"/>
            <a:ext cx="504825" cy="247650"/>
          </a:xfrm>
          <a:custGeom>
            <a:rect b="b" l="l" r="r" t="t"/>
            <a:pathLst>
              <a:path extrusionOk="0" h="247650" w="504825">
                <a:moveTo>
                  <a:pt x="504824" y="247649"/>
                </a:moveTo>
                <a:lnTo>
                  <a:pt x="0" y="247649"/>
                </a:lnTo>
                <a:lnTo>
                  <a:pt x="0" y="0"/>
                </a:lnTo>
                <a:lnTo>
                  <a:pt x="504824" y="0"/>
                </a:lnTo>
                <a:lnTo>
                  <a:pt x="504824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1" name="Google Shape;431;p15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6"/>
          <p:cNvSpPr txBox="1"/>
          <p:nvPr>
            <p:ph type="title"/>
          </p:nvPr>
        </p:nvSpPr>
        <p:spPr>
          <a:xfrm>
            <a:off x="2866137" y="211690"/>
            <a:ext cx="569785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092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Promesas en JavaScript</a:t>
            </a:r>
            <a:endParaRPr/>
          </a:p>
        </p:txBody>
      </p:sp>
      <p:grpSp>
        <p:nvGrpSpPr>
          <p:cNvPr id="437" name="Google Shape;437;p16"/>
          <p:cNvGrpSpPr/>
          <p:nvPr/>
        </p:nvGrpSpPr>
        <p:grpSpPr>
          <a:xfrm>
            <a:off x="400049" y="959738"/>
            <a:ext cx="5436870" cy="5200015"/>
            <a:chOff x="400049" y="959738"/>
            <a:chExt cx="5436870" cy="5200015"/>
          </a:xfrm>
        </p:grpSpPr>
        <p:sp>
          <p:nvSpPr>
            <p:cNvPr id="438" name="Google Shape;438;p16"/>
            <p:cNvSpPr/>
            <p:nvPr/>
          </p:nvSpPr>
          <p:spPr>
            <a:xfrm>
              <a:off x="400049" y="959738"/>
              <a:ext cx="5436870" cy="5200015"/>
            </a:xfrm>
            <a:custGeom>
              <a:rect b="b" l="l" r="r" t="t"/>
              <a:pathLst>
                <a:path extrusionOk="0" h="5200015" w="543687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200015" w="5436870">
                  <a:moveTo>
                    <a:pt x="5436869" y="5199792"/>
                  </a:moveTo>
                  <a:lnTo>
                    <a:pt x="5268844" y="5199792"/>
                  </a:lnTo>
                  <a:lnTo>
                    <a:pt x="5275627" y="5198443"/>
                  </a:lnTo>
                  <a:lnTo>
                    <a:pt x="5288650" y="5193048"/>
                  </a:lnTo>
                  <a:lnTo>
                    <a:pt x="5313600" y="5160470"/>
                  </a:lnTo>
                  <a:lnTo>
                    <a:pt x="5314949" y="5153690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436869" y="0"/>
                  </a:lnTo>
                  <a:lnTo>
                    <a:pt x="5436869" y="5199792"/>
                  </a:lnTo>
                  <a:close/>
                </a:path>
                <a:path extrusionOk="0" h="5200015" w="5436870">
                  <a:moveTo>
                    <a:pt x="46104" y="5199792"/>
                  </a:moveTo>
                  <a:lnTo>
                    <a:pt x="0" y="5199792"/>
                  </a:lnTo>
                  <a:lnTo>
                    <a:pt x="0" y="5153691"/>
                  </a:lnTo>
                  <a:lnTo>
                    <a:pt x="1348" y="5160470"/>
                  </a:lnTo>
                  <a:lnTo>
                    <a:pt x="6742" y="5173493"/>
                  </a:lnTo>
                  <a:lnTo>
                    <a:pt x="10583" y="5179241"/>
                  </a:lnTo>
                  <a:lnTo>
                    <a:pt x="20550" y="5189208"/>
                  </a:lnTo>
                  <a:lnTo>
                    <a:pt x="26298" y="5193048"/>
                  </a:lnTo>
                  <a:lnTo>
                    <a:pt x="39321" y="5198443"/>
                  </a:lnTo>
                  <a:lnTo>
                    <a:pt x="46104" y="5199792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400049" y="959738"/>
              <a:ext cx="5314950" cy="5200015"/>
            </a:xfrm>
            <a:custGeom>
              <a:rect b="b" l="l" r="r" t="t"/>
              <a:pathLst>
                <a:path extrusionOk="0" h="5200015" w="5314950">
                  <a:moveTo>
                    <a:pt x="5265290" y="5199792"/>
                  </a:moveTo>
                  <a:lnTo>
                    <a:pt x="49659" y="5199792"/>
                  </a:lnTo>
                  <a:lnTo>
                    <a:pt x="46203" y="5199451"/>
                  </a:lnTo>
                  <a:lnTo>
                    <a:pt x="10896" y="5179072"/>
                  </a:lnTo>
                  <a:lnTo>
                    <a:pt x="0" y="5150133"/>
                  </a:lnTo>
                  <a:lnTo>
                    <a:pt x="0" y="5146643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5150133"/>
                  </a:lnTo>
                  <a:lnTo>
                    <a:pt x="5296914" y="5186692"/>
                  </a:lnTo>
                  <a:lnTo>
                    <a:pt x="5268746" y="5199451"/>
                  </a:lnTo>
                  <a:lnTo>
                    <a:pt x="5265290" y="5199792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40" name="Google Shape;44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1774697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2545365"/>
              <a:ext cx="70866" cy="708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2" name="Google Shape;44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2988277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3" name="Google Shape;44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4068984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456504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5836" y="5061108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p16"/>
          <p:cNvSpPr txBox="1"/>
          <p:nvPr/>
        </p:nvSpPr>
        <p:spPr>
          <a:xfrm>
            <a:off x="1166875" y="912173"/>
            <a:ext cx="4268470" cy="4700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7950">
            <a:spAutoFit/>
          </a:bodyPr>
          <a:lstStyle/>
          <a:p>
            <a:pPr indent="44450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Estados de una promesa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479425" rtl="0" algn="l">
              <a:lnSpc>
                <a:spcPct val="102099"/>
              </a:lnSpc>
              <a:spcBef>
                <a:spcPts val="110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Pending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Estado inicial, operación no completada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418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Fulfilled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Operación completada con éxito </a:t>
            </a: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Rejected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Operación fallida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0085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Métodos principales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3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.then()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Maneja resultado exitoso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.catch()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Maneja errores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914400" rtl="0" algn="l">
              <a:lnSpc>
                <a:spcPct val="121900"/>
              </a:lnSpc>
              <a:spcBef>
                <a:spcPts val="905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.ﬁnally()</a:t>
            </a:r>
            <a:r>
              <a:rPr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Ejecuta código independientemente del resultado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47" name="Google Shape;447;p16"/>
          <p:cNvGrpSpPr/>
          <p:nvPr/>
        </p:nvGrpSpPr>
        <p:grpSpPr>
          <a:xfrm>
            <a:off x="5769863" y="959738"/>
            <a:ext cx="5260086" cy="5200015"/>
            <a:chOff x="5769863" y="959738"/>
            <a:chExt cx="5260086" cy="5200015"/>
          </a:xfrm>
        </p:grpSpPr>
        <p:sp>
          <p:nvSpPr>
            <p:cNvPr id="448" name="Google Shape;448;p16"/>
            <p:cNvSpPr/>
            <p:nvPr/>
          </p:nvSpPr>
          <p:spPr>
            <a:xfrm>
              <a:off x="5769863" y="959738"/>
              <a:ext cx="168910" cy="5200015"/>
            </a:xfrm>
            <a:custGeom>
              <a:rect b="b" l="l" r="r" t="t"/>
              <a:pathLst>
                <a:path extrusionOk="0" h="5200015" w="168910">
                  <a:moveTo>
                    <a:pt x="168405" y="5199792"/>
                  </a:moveTo>
                  <a:lnTo>
                    <a:pt x="0" y="5199792"/>
                  </a:lnTo>
                  <a:lnTo>
                    <a:pt x="0" y="0"/>
                  </a:lnTo>
                  <a:lnTo>
                    <a:pt x="168401" y="0"/>
                  </a:lnTo>
                  <a:lnTo>
                    <a:pt x="161622" y="1348"/>
                  </a:lnTo>
                  <a:lnTo>
                    <a:pt x="148598" y="6742"/>
                  </a:lnTo>
                  <a:lnTo>
                    <a:pt x="123649" y="39321"/>
                  </a:lnTo>
                  <a:lnTo>
                    <a:pt x="122300" y="46101"/>
                  </a:lnTo>
                  <a:lnTo>
                    <a:pt x="122300" y="5153690"/>
                  </a:lnTo>
                  <a:lnTo>
                    <a:pt x="142851" y="5189208"/>
                  </a:lnTo>
                  <a:lnTo>
                    <a:pt x="161622" y="5198443"/>
                  </a:lnTo>
                  <a:lnTo>
                    <a:pt x="168405" y="5199792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5892164" y="959738"/>
              <a:ext cx="5137785" cy="5200015"/>
            </a:xfrm>
            <a:custGeom>
              <a:rect b="b" l="l" r="r" t="t"/>
              <a:pathLst>
                <a:path extrusionOk="0" h="5200015" w="5137784">
                  <a:moveTo>
                    <a:pt x="5137785" y="5199792"/>
                  </a:moveTo>
                  <a:lnTo>
                    <a:pt x="49658" y="5199792"/>
                  </a:lnTo>
                  <a:lnTo>
                    <a:pt x="46203" y="5199451"/>
                  </a:lnTo>
                  <a:lnTo>
                    <a:pt x="10896" y="5179072"/>
                  </a:lnTo>
                  <a:lnTo>
                    <a:pt x="0" y="5150133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5199792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50" name="Google Shape;450;p16"/>
          <p:cNvSpPr txBox="1"/>
          <p:nvPr/>
        </p:nvSpPr>
        <p:spPr>
          <a:xfrm>
            <a:off x="6369021" y="1094017"/>
            <a:ext cx="4361815" cy="715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Métodos estáticos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Promise.all()</a:t>
            </a:r>
            <a:r>
              <a:rPr lang="en-US" sz="15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Espera que todas las promesas se resuelvan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16"/>
          <p:cNvSpPr txBox="1"/>
          <p:nvPr/>
        </p:nvSpPr>
        <p:spPr>
          <a:xfrm>
            <a:off x="6356425" y="3160835"/>
            <a:ext cx="438658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Promise.race()</a:t>
            </a:r>
            <a:r>
              <a:rPr lang="en-US" sz="15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Espera que cualquier promesa se resuelva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16"/>
          <p:cNvSpPr txBox="1"/>
          <p:nvPr/>
        </p:nvSpPr>
        <p:spPr>
          <a:xfrm>
            <a:off x="6064103" y="4471856"/>
            <a:ext cx="4971415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Promise.allSettled()</a:t>
            </a:r>
            <a:r>
              <a:rPr lang="en-US" sz="150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Espera que todas las promesas se completen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6069329" y="1996153"/>
            <a:ext cx="4960620" cy="1019175"/>
          </a:xfrm>
          <a:custGeom>
            <a:rect b="b" l="l" r="r" t="t"/>
            <a:pathLst>
              <a:path extrusionOk="0" h="1019175" w="4960620">
                <a:moveTo>
                  <a:pt x="4910960" y="1018698"/>
                </a:moveTo>
                <a:lnTo>
                  <a:pt x="49660" y="1018698"/>
                </a:lnTo>
                <a:lnTo>
                  <a:pt x="46203" y="1018358"/>
                </a:lnTo>
                <a:lnTo>
                  <a:pt x="10896" y="997978"/>
                </a:lnTo>
                <a:lnTo>
                  <a:pt x="0" y="969039"/>
                </a:lnTo>
                <a:lnTo>
                  <a:pt x="0" y="965549"/>
                </a:lnTo>
                <a:lnTo>
                  <a:pt x="0" y="49659"/>
                </a:lnTo>
                <a:lnTo>
                  <a:pt x="18034" y="13099"/>
                </a:lnTo>
                <a:lnTo>
                  <a:pt x="49660" y="0"/>
                </a:lnTo>
                <a:lnTo>
                  <a:pt x="4910960" y="0"/>
                </a:lnTo>
                <a:lnTo>
                  <a:pt x="4947521" y="18034"/>
                </a:lnTo>
                <a:lnTo>
                  <a:pt x="4960620" y="49659"/>
                </a:lnTo>
                <a:lnTo>
                  <a:pt x="4960620" y="969039"/>
                </a:lnTo>
                <a:lnTo>
                  <a:pt x="4942584" y="1005599"/>
                </a:lnTo>
                <a:lnTo>
                  <a:pt x="4914416" y="1018358"/>
                </a:lnTo>
                <a:lnTo>
                  <a:pt x="4910960" y="1018698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4" name="Google Shape;454;p16"/>
          <p:cNvSpPr txBox="1"/>
          <p:nvPr/>
        </p:nvSpPr>
        <p:spPr>
          <a:xfrm>
            <a:off x="6113793" y="2014989"/>
            <a:ext cx="2086610" cy="9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6225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Ejecutar múltiples promesas en paralelo Promise.all([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8425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obtenerUsuarios(),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8425" marR="1078230" rtl="0" algn="l">
              <a:lnSpc>
                <a:spcPct val="116199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obtenerProductos(), obtenerEstadisticas()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.then(([usuarios, productos, estadisticas]) =&gt; {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8425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Todas las promesas se resolvieron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6069329" y="3608355"/>
            <a:ext cx="4960620" cy="717550"/>
          </a:xfrm>
          <a:custGeom>
            <a:rect b="b" l="l" r="r" t="t"/>
            <a:pathLst>
              <a:path extrusionOk="0" h="717550" w="4960620">
                <a:moveTo>
                  <a:pt x="4910960" y="717518"/>
                </a:moveTo>
                <a:lnTo>
                  <a:pt x="49660" y="717518"/>
                </a:lnTo>
                <a:lnTo>
                  <a:pt x="46203" y="717177"/>
                </a:lnTo>
                <a:lnTo>
                  <a:pt x="10896" y="696798"/>
                </a:lnTo>
                <a:lnTo>
                  <a:pt x="0" y="667858"/>
                </a:lnTo>
                <a:lnTo>
                  <a:pt x="0" y="664368"/>
                </a:lnTo>
                <a:lnTo>
                  <a:pt x="0" y="49659"/>
                </a:lnTo>
                <a:lnTo>
                  <a:pt x="18034" y="13099"/>
                </a:lnTo>
                <a:lnTo>
                  <a:pt x="49660" y="0"/>
                </a:lnTo>
                <a:lnTo>
                  <a:pt x="4910960" y="0"/>
                </a:lnTo>
                <a:lnTo>
                  <a:pt x="4947521" y="18034"/>
                </a:lnTo>
                <a:lnTo>
                  <a:pt x="4960620" y="49659"/>
                </a:lnTo>
                <a:lnTo>
                  <a:pt x="4960620" y="667858"/>
                </a:lnTo>
                <a:lnTo>
                  <a:pt x="4942584" y="704418"/>
                </a:lnTo>
                <a:lnTo>
                  <a:pt x="4914416" y="717177"/>
                </a:lnTo>
                <a:lnTo>
                  <a:pt x="4910960" y="717518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6" name="Google Shape;456;p16"/>
          <p:cNvSpPr txBox="1"/>
          <p:nvPr/>
        </p:nvSpPr>
        <p:spPr>
          <a:xfrm>
            <a:off x="6113793" y="3627190"/>
            <a:ext cx="225806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La primera promesa que se resuelve o rechaza gana Promise.race([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8425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fetch('https://api1.ejemplo.com/datos'),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8425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fetch('https://api2.ejemplo.com/datos')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.then(resultado =&gt; console.log(resultado));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6069329" y="4919376"/>
            <a:ext cx="4960620" cy="912494"/>
          </a:xfrm>
          <a:custGeom>
            <a:rect b="b" l="l" r="r" t="t"/>
            <a:pathLst>
              <a:path extrusionOk="0" h="912495" w="4960620">
                <a:moveTo>
                  <a:pt x="4910960" y="912399"/>
                </a:moveTo>
                <a:lnTo>
                  <a:pt x="49660" y="912399"/>
                </a:lnTo>
                <a:lnTo>
                  <a:pt x="46203" y="912059"/>
                </a:lnTo>
                <a:lnTo>
                  <a:pt x="10896" y="891679"/>
                </a:lnTo>
                <a:lnTo>
                  <a:pt x="0" y="862740"/>
                </a:lnTo>
                <a:lnTo>
                  <a:pt x="0" y="859250"/>
                </a:lnTo>
                <a:lnTo>
                  <a:pt x="0" y="49659"/>
                </a:lnTo>
                <a:lnTo>
                  <a:pt x="18034" y="13098"/>
                </a:lnTo>
                <a:lnTo>
                  <a:pt x="49660" y="0"/>
                </a:lnTo>
                <a:lnTo>
                  <a:pt x="4910960" y="0"/>
                </a:lnTo>
                <a:lnTo>
                  <a:pt x="4947521" y="18034"/>
                </a:lnTo>
                <a:lnTo>
                  <a:pt x="4960620" y="49659"/>
                </a:lnTo>
                <a:lnTo>
                  <a:pt x="4960620" y="862740"/>
                </a:lnTo>
                <a:lnTo>
                  <a:pt x="4942584" y="899299"/>
                </a:lnTo>
                <a:lnTo>
                  <a:pt x="4914416" y="912059"/>
                </a:lnTo>
                <a:lnTo>
                  <a:pt x="4910960" y="912399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8" name="Google Shape;458;p16"/>
          <p:cNvSpPr txBox="1"/>
          <p:nvPr/>
        </p:nvSpPr>
        <p:spPr>
          <a:xfrm>
            <a:off x="6113793" y="4938211"/>
            <a:ext cx="2301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76884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Obtiene el estado de todas las promesas Promise.allSettled([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8425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promesaExitosa(),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8425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promesaConError()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.then(resultados =&gt; {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8425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resultados es un array con status y value/reason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114299" y="6305549"/>
            <a:ext cx="504825" cy="247650"/>
          </a:xfrm>
          <a:custGeom>
            <a:rect b="b" l="l" r="r" t="t"/>
            <a:pathLst>
              <a:path extrusionOk="0" h="247650" w="504825">
                <a:moveTo>
                  <a:pt x="504824" y="247649"/>
                </a:moveTo>
                <a:lnTo>
                  <a:pt x="0" y="247649"/>
                </a:lnTo>
                <a:lnTo>
                  <a:pt x="0" y="0"/>
                </a:lnTo>
                <a:lnTo>
                  <a:pt x="504824" y="0"/>
                </a:lnTo>
                <a:lnTo>
                  <a:pt x="504824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0" name="Google Shape;460;p16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7"/>
          <p:cNvSpPr txBox="1"/>
          <p:nvPr>
            <p:ph type="title"/>
          </p:nvPr>
        </p:nvSpPr>
        <p:spPr>
          <a:xfrm>
            <a:off x="4737719" y="273698"/>
            <a:ext cx="1954530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Async/Await</a:t>
            </a:r>
            <a:endParaRPr/>
          </a:p>
        </p:txBody>
      </p:sp>
      <p:grpSp>
        <p:nvGrpSpPr>
          <p:cNvPr id="466" name="Google Shape;466;p17"/>
          <p:cNvGrpSpPr/>
          <p:nvPr/>
        </p:nvGrpSpPr>
        <p:grpSpPr>
          <a:xfrm>
            <a:off x="400049" y="1057179"/>
            <a:ext cx="5436870" cy="5005070"/>
            <a:chOff x="400049" y="1057179"/>
            <a:chExt cx="5436870" cy="5005070"/>
          </a:xfrm>
        </p:grpSpPr>
        <p:sp>
          <p:nvSpPr>
            <p:cNvPr id="467" name="Google Shape;467;p17"/>
            <p:cNvSpPr/>
            <p:nvPr/>
          </p:nvSpPr>
          <p:spPr>
            <a:xfrm>
              <a:off x="400049" y="1057179"/>
              <a:ext cx="5436870" cy="5005070"/>
            </a:xfrm>
            <a:custGeom>
              <a:rect b="b" l="l" r="r" t="t"/>
              <a:pathLst>
                <a:path extrusionOk="0" h="5005070" w="543687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005070" w="5436870">
                  <a:moveTo>
                    <a:pt x="5436869" y="5004911"/>
                  </a:moveTo>
                  <a:lnTo>
                    <a:pt x="5268846" y="5004911"/>
                  </a:lnTo>
                  <a:lnTo>
                    <a:pt x="5275627" y="5003562"/>
                  </a:lnTo>
                  <a:lnTo>
                    <a:pt x="5288650" y="4998167"/>
                  </a:lnTo>
                  <a:lnTo>
                    <a:pt x="5313600" y="4965588"/>
                  </a:lnTo>
                  <a:lnTo>
                    <a:pt x="5314949" y="4958808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436869" y="0"/>
                  </a:lnTo>
                  <a:lnTo>
                    <a:pt x="5436869" y="5004911"/>
                  </a:lnTo>
                  <a:close/>
                </a:path>
                <a:path extrusionOk="0" h="5005070" w="5436870">
                  <a:moveTo>
                    <a:pt x="46102" y="5004911"/>
                  </a:moveTo>
                  <a:lnTo>
                    <a:pt x="0" y="5004911"/>
                  </a:lnTo>
                  <a:lnTo>
                    <a:pt x="0" y="4958809"/>
                  </a:lnTo>
                  <a:lnTo>
                    <a:pt x="1348" y="4965588"/>
                  </a:lnTo>
                  <a:lnTo>
                    <a:pt x="6742" y="4978611"/>
                  </a:lnTo>
                  <a:lnTo>
                    <a:pt x="10583" y="4984359"/>
                  </a:lnTo>
                  <a:lnTo>
                    <a:pt x="20550" y="4994326"/>
                  </a:lnTo>
                  <a:lnTo>
                    <a:pt x="26298" y="4998167"/>
                  </a:lnTo>
                  <a:lnTo>
                    <a:pt x="39321" y="5003562"/>
                  </a:lnTo>
                  <a:lnTo>
                    <a:pt x="46102" y="5004911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400049" y="1057179"/>
              <a:ext cx="5314950" cy="5005070"/>
            </a:xfrm>
            <a:custGeom>
              <a:rect b="b" l="l" r="r" t="t"/>
              <a:pathLst>
                <a:path extrusionOk="0" h="5005070" w="5314950">
                  <a:moveTo>
                    <a:pt x="5265290" y="5004911"/>
                  </a:moveTo>
                  <a:lnTo>
                    <a:pt x="49659" y="5004911"/>
                  </a:lnTo>
                  <a:lnTo>
                    <a:pt x="46203" y="5004570"/>
                  </a:lnTo>
                  <a:lnTo>
                    <a:pt x="10896" y="4984191"/>
                  </a:lnTo>
                  <a:lnTo>
                    <a:pt x="0" y="4955251"/>
                  </a:lnTo>
                  <a:lnTo>
                    <a:pt x="0" y="495176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4955251"/>
                  </a:lnTo>
                  <a:lnTo>
                    <a:pt x="5296914" y="4991811"/>
                  </a:lnTo>
                  <a:lnTo>
                    <a:pt x="5268746" y="5004570"/>
                  </a:lnTo>
                  <a:lnTo>
                    <a:pt x="5265290" y="5004911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69" name="Google Shape;469;p17"/>
          <p:cNvSpPr txBox="1"/>
          <p:nvPr/>
        </p:nvSpPr>
        <p:spPr>
          <a:xfrm>
            <a:off x="599947" y="1184441"/>
            <a:ext cx="491553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Sintaxis moderna para manejar promesas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70" name="Google Shape;470;p17"/>
          <p:cNvGrpSpPr/>
          <p:nvPr/>
        </p:nvGrpSpPr>
        <p:grpSpPr>
          <a:xfrm>
            <a:off x="5769863" y="1057179"/>
            <a:ext cx="5260086" cy="5005070"/>
            <a:chOff x="5769863" y="1057179"/>
            <a:chExt cx="5260086" cy="5005070"/>
          </a:xfrm>
        </p:grpSpPr>
        <p:sp>
          <p:nvSpPr>
            <p:cNvPr id="471" name="Google Shape;471;p17"/>
            <p:cNvSpPr/>
            <p:nvPr/>
          </p:nvSpPr>
          <p:spPr>
            <a:xfrm>
              <a:off x="5769863" y="1057179"/>
              <a:ext cx="168910" cy="5005070"/>
            </a:xfrm>
            <a:custGeom>
              <a:rect b="b" l="l" r="r" t="t"/>
              <a:pathLst>
                <a:path extrusionOk="0" h="5005070" w="168910">
                  <a:moveTo>
                    <a:pt x="168403" y="5004911"/>
                  </a:moveTo>
                  <a:lnTo>
                    <a:pt x="0" y="5004911"/>
                  </a:lnTo>
                  <a:lnTo>
                    <a:pt x="0" y="0"/>
                  </a:lnTo>
                  <a:lnTo>
                    <a:pt x="168401" y="0"/>
                  </a:lnTo>
                  <a:lnTo>
                    <a:pt x="161622" y="1348"/>
                  </a:lnTo>
                  <a:lnTo>
                    <a:pt x="148598" y="6742"/>
                  </a:lnTo>
                  <a:lnTo>
                    <a:pt x="123649" y="39321"/>
                  </a:lnTo>
                  <a:lnTo>
                    <a:pt x="122300" y="46101"/>
                  </a:lnTo>
                  <a:lnTo>
                    <a:pt x="122300" y="4958808"/>
                  </a:lnTo>
                  <a:lnTo>
                    <a:pt x="142851" y="4994326"/>
                  </a:lnTo>
                  <a:lnTo>
                    <a:pt x="161622" y="5003562"/>
                  </a:lnTo>
                  <a:lnTo>
                    <a:pt x="168403" y="5004911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5892164" y="1057179"/>
              <a:ext cx="5137785" cy="5005070"/>
            </a:xfrm>
            <a:custGeom>
              <a:rect b="b" l="l" r="r" t="t"/>
              <a:pathLst>
                <a:path extrusionOk="0" h="5005070" w="5137784">
                  <a:moveTo>
                    <a:pt x="5137785" y="5004911"/>
                  </a:moveTo>
                  <a:lnTo>
                    <a:pt x="49659" y="5004911"/>
                  </a:lnTo>
                  <a:lnTo>
                    <a:pt x="46203" y="5004570"/>
                  </a:lnTo>
                  <a:lnTo>
                    <a:pt x="10896" y="4984191"/>
                  </a:lnTo>
                  <a:lnTo>
                    <a:pt x="0" y="495525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5004911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17"/>
            <p:cNvSpPr/>
            <p:nvPr/>
          </p:nvSpPr>
          <p:spPr>
            <a:xfrm>
              <a:off x="6441363" y="1712696"/>
              <a:ext cx="53340" cy="3180715"/>
            </a:xfrm>
            <a:custGeom>
              <a:rect b="b" l="l" r="r" t="t"/>
              <a:pathLst>
                <a:path extrusionOk="0" h="3180715" w="53339">
                  <a:moveTo>
                    <a:pt x="53162" y="3153537"/>
                  </a:moveTo>
                  <a:lnTo>
                    <a:pt x="30111" y="3126956"/>
                  </a:lnTo>
                  <a:lnTo>
                    <a:pt x="23050" y="3126956"/>
                  </a:lnTo>
                  <a:lnTo>
                    <a:pt x="0" y="3150006"/>
                  </a:lnTo>
                  <a:lnTo>
                    <a:pt x="0" y="3157055"/>
                  </a:lnTo>
                  <a:lnTo>
                    <a:pt x="23050" y="3180105"/>
                  </a:lnTo>
                  <a:lnTo>
                    <a:pt x="30111" y="3180105"/>
                  </a:lnTo>
                  <a:lnTo>
                    <a:pt x="53162" y="3153537"/>
                  </a:lnTo>
                  <a:close/>
                </a:path>
                <a:path extrusionOk="0" h="3180715" w="53339">
                  <a:moveTo>
                    <a:pt x="53162" y="2816923"/>
                  </a:moveTo>
                  <a:lnTo>
                    <a:pt x="30111" y="2790342"/>
                  </a:lnTo>
                  <a:lnTo>
                    <a:pt x="23050" y="2790342"/>
                  </a:lnTo>
                  <a:lnTo>
                    <a:pt x="0" y="2813393"/>
                  </a:lnTo>
                  <a:lnTo>
                    <a:pt x="0" y="2820441"/>
                  </a:lnTo>
                  <a:lnTo>
                    <a:pt x="23050" y="2843492"/>
                  </a:lnTo>
                  <a:lnTo>
                    <a:pt x="30111" y="2843492"/>
                  </a:lnTo>
                  <a:lnTo>
                    <a:pt x="53162" y="2816923"/>
                  </a:lnTo>
                  <a:close/>
                </a:path>
                <a:path extrusionOk="0" h="3180715" w="53339">
                  <a:moveTo>
                    <a:pt x="53162" y="2444877"/>
                  </a:moveTo>
                  <a:lnTo>
                    <a:pt x="30111" y="2418296"/>
                  </a:lnTo>
                  <a:lnTo>
                    <a:pt x="23050" y="2418296"/>
                  </a:lnTo>
                  <a:lnTo>
                    <a:pt x="0" y="2441346"/>
                  </a:lnTo>
                  <a:lnTo>
                    <a:pt x="0" y="2448395"/>
                  </a:lnTo>
                  <a:lnTo>
                    <a:pt x="23050" y="2471445"/>
                  </a:lnTo>
                  <a:lnTo>
                    <a:pt x="30111" y="2471445"/>
                  </a:lnTo>
                  <a:lnTo>
                    <a:pt x="53162" y="2444877"/>
                  </a:lnTo>
                  <a:close/>
                </a:path>
                <a:path extrusionOk="0" h="3180715" w="53339">
                  <a:moveTo>
                    <a:pt x="53162" y="2072830"/>
                  </a:moveTo>
                  <a:lnTo>
                    <a:pt x="30111" y="2046249"/>
                  </a:lnTo>
                  <a:lnTo>
                    <a:pt x="23050" y="2046249"/>
                  </a:lnTo>
                  <a:lnTo>
                    <a:pt x="0" y="2069299"/>
                  </a:lnTo>
                  <a:lnTo>
                    <a:pt x="0" y="2076348"/>
                  </a:lnTo>
                  <a:lnTo>
                    <a:pt x="23050" y="2099398"/>
                  </a:lnTo>
                  <a:lnTo>
                    <a:pt x="30111" y="2099398"/>
                  </a:lnTo>
                  <a:lnTo>
                    <a:pt x="53162" y="2072830"/>
                  </a:lnTo>
                  <a:close/>
                </a:path>
                <a:path extrusionOk="0" h="3180715" w="53339">
                  <a:moveTo>
                    <a:pt x="53162" y="1266723"/>
                  </a:moveTo>
                  <a:lnTo>
                    <a:pt x="30111" y="1240155"/>
                  </a:lnTo>
                  <a:lnTo>
                    <a:pt x="23050" y="1240155"/>
                  </a:lnTo>
                  <a:lnTo>
                    <a:pt x="0" y="1263205"/>
                  </a:lnTo>
                  <a:lnTo>
                    <a:pt x="0" y="1270254"/>
                  </a:lnTo>
                  <a:lnTo>
                    <a:pt x="23050" y="1293304"/>
                  </a:lnTo>
                  <a:lnTo>
                    <a:pt x="30111" y="1293304"/>
                  </a:lnTo>
                  <a:lnTo>
                    <a:pt x="53162" y="1266723"/>
                  </a:lnTo>
                  <a:close/>
                </a:path>
                <a:path extrusionOk="0" h="3180715" w="53339">
                  <a:moveTo>
                    <a:pt x="53162" y="690943"/>
                  </a:moveTo>
                  <a:lnTo>
                    <a:pt x="30111" y="664362"/>
                  </a:lnTo>
                  <a:lnTo>
                    <a:pt x="23050" y="664362"/>
                  </a:lnTo>
                  <a:lnTo>
                    <a:pt x="0" y="687412"/>
                  </a:lnTo>
                  <a:lnTo>
                    <a:pt x="0" y="694461"/>
                  </a:lnTo>
                  <a:lnTo>
                    <a:pt x="23050" y="717511"/>
                  </a:lnTo>
                  <a:lnTo>
                    <a:pt x="30111" y="717511"/>
                  </a:lnTo>
                  <a:lnTo>
                    <a:pt x="53162" y="690943"/>
                  </a:lnTo>
                  <a:close/>
                </a:path>
                <a:path extrusionOk="0" h="3180715" w="53339">
                  <a:moveTo>
                    <a:pt x="53162" y="354330"/>
                  </a:moveTo>
                  <a:lnTo>
                    <a:pt x="30111" y="327748"/>
                  </a:lnTo>
                  <a:lnTo>
                    <a:pt x="23050" y="327748"/>
                  </a:lnTo>
                  <a:lnTo>
                    <a:pt x="0" y="350799"/>
                  </a:lnTo>
                  <a:lnTo>
                    <a:pt x="0" y="357847"/>
                  </a:lnTo>
                  <a:lnTo>
                    <a:pt x="23050" y="380898"/>
                  </a:lnTo>
                  <a:lnTo>
                    <a:pt x="30111" y="380898"/>
                  </a:lnTo>
                  <a:lnTo>
                    <a:pt x="53162" y="354330"/>
                  </a:lnTo>
                  <a:close/>
                </a:path>
                <a:path extrusionOk="0" h="3180715" w="53339">
                  <a:moveTo>
                    <a:pt x="53162" y="26568"/>
                  </a:moveTo>
                  <a:lnTo>
                    <a:pt x="30111" y="0"/>
                  </a:lnTo>
                  <a:lnTo>
                    <a:pt x="23050" y="0"/>
                  </a:lnTo>
                  <a:lnTo>
                    <a:pt x="0" y="23050"/>
                  </a:lnTo>
                  <a:lnTo>
                    <a:pt x="0" y="30099"/>
                  </a:lnTo>
                  <a:lnTo>
                    <a:pt x="23050" y="53149"/>
                  </a:lnTo>
                  <a:lnTo>
                    <a:pt x="30111" y="53149"/>
                  </a:lnTo>
                  <a:lnTo>
                    <a:pt x="53162" y="26568"/>
                  </a:lnTo>
                  <a:close/>
                </a:path>
              </a:pathLst>
            </a:custGeom>
            <a:solidFill>
              <a:srgbClr val="333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74" name="Google Shape;474;p17"/>
          <p:cNvSpPr txBox="1"/>
          <p:nvPr>
            <p:ph idx="2" type="body"/>
          </p:nvPr>
        </p:nvSpPr>
        <p:spPr>
          <a:xfrm>
            <a:off x="6596982" y="1057667"/>
            <a:ext cx="4385945" cy="391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0" lvl="0" marL="15741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Ventajas</a:t>
            </a:r>
            <a:endParaRPr/>
          </a:p>
          <a:p>
            <a:pPr indent="0" lvl="0" marL="12700" marR="71755" rtl="0" algn="l">
              <a:lnSpc>
                <a:spcPct val="1387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Código más legible</a:t>
            </a:r>
            <a:r>
              <a:rPr lang="en-US" sz="1500">
                <a:solidFill>
                  <a:srgbClr val="333A40"/>
                </a:solidFill>
              </a:rPr>
              <a:t>: Estructura similar a código síncrono </a:t>
            </a:r>
            <a:r>
              <a:rPr b="1" lang="en-US" sz="15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Manejo de errores</a:t>
            </a:r>
            <a:r>
              <a:rPr lang="en-US" sz="1500">
                <a:solidFill>
                  <a:srgbClr val="333A40"/>
                </a:solidFill>
              </a:rPr>
              <a:t>: Uso de bloques try/catch estándar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23825" rtl="0" algn="l">
              <a:lnSpc>
                <a:spcPct val="1077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Flujo secuencial</a:t>
            </a:r>
            <a:r>
              <a:rPr lang="en-US" sz="1500">
                <a:solidFill>
                  <a:srgbClr val="333A40"/>
                </a:solidFill>
              </a:rPr>
              <a:t>: Facilita razonamiento sobre el flujo de ejecución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Depuración</a:t>
            </a:r>
            <a:r>
              <a:rPr lang="en-US" sz="1500">
                <a:solidFill>
                  <a:srgbClr val="333A40"/>
                </a:solidFill>
              </a:rPr>
              <a:t>: Mejora el seguimiento de la pila de llamadas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14755" rtl="0" algn="l">
              <a:lnSpc>
                <a:spcPct val="100000"/>
              </a:lnSpc>
              <a:spcBef>
                <a:spcPts val="1470"/>
              </a:spcBef>
              <a:spcAft>
                <a:spcPts val="0"/>
              </a:spcAft>
              <a:buNone/>
            </a:pPr>
            <a:r>
              <a:rPr lang="en-US"/>
              <a:t>Consideraciones</a:t>
            </a:r>
            <a:endParaRPr/>
          </a:p>
          <a:p>
            <a:pPr indent="0" lvl="0" marL="12700" marR="453390" rtl="0" algn="l">
              <a:lnSpc>
                <a:spcPct val="195333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A40"/>
                </a:solidFill>
              </a:rPr>
              <a:t>Solo puede usar </a:t>
            </a:r>
            <a:r>
              <a:rPr lang="en-US" sz="1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await </a:t>
            </a:r>
            <a:r>
              <a:rPr lang="en-US" sz="1500">
                <a:solidFill>
                  <a:srgbClr val="333A40"/>
                </a:solidFill>
              </a:rPr>
              <a:t>dentro de funciones </a:t>
            </a:r>
            <a:r>
              <a:rPr lang="en-US" sz="1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async </a:t>
            </a:r>
            <a:r>
              <a:rPr lang="en-US" sz="1500">
                <a:solidFill>
                  <a:srgbClr val="333A40"/>
                </a:solidFill>
              </a:rPr>
              <a:t>Las funciones </a:t>
            </a:r>
            <a:r>
              <a:rPr lang="en-US" sz="14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async </a:t>
            </a:r>
            <a:r>
              <a:rPr lang="en-US" sz="1500">
                <a:solidFill>
                  <a:srgbClr val="333A40"/>
                </a:solidFill>
              </a:rPr>
              <a:t>siempre devuelven promesas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124460" rtl="0" algn="l">
              <a:lnSpc>
                <a:spcPct val="176666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A40"/>
                </a:solidFill>
              </a:rPr>
              <a:t>Los errores no capturados rechazan la promesa retornada No bloquea el hilo principal (sigue siendo asíncrono)</a:t>
            </a:r>
            <a:endParaRPr sz="1500"/>
          </a:p>
        </p:txBody>
      </p:sp>
      <p:sp>
        <p:nvSpPr>
          <p:cNvPr id="475" name="Google Shape;475;p17"/>
          <p:cNvSpPr/>
          <p:nvPr/>
        </p:nvSpPr>
        <p:spPr>
          <a:xfrm>
            <a:off x="577215" y="1739264"/>
            <a:ext cx="4960620" cy="2427605"/>
          </a:xfrm>
          <a:custGeom>
            <a:rect b="b" l="l" r="r" t="t"/>
            <a:pathLst>
              <a:path extrusionOk="0" h="2427604" w="4960620">
                <a:moveTo>
                  <a:pt x="4910960" y="2427160"/>
                </a:moveTo>
                <a:lnTo>
                  <a:pt x="49659" y="2427160"/>
                </a:lnTo>
                <a:lnTo>
                  <a:pt x="46203" y="2426819"/>
                </a:lnTo>
                <a:lnTo>
                  <a:pt x="10896" y="2406440"/>
                </a:lnTo>
                <a:lnTo>
                  <a:pt x="0" y="2377500"/>
                </a:lnTo>
                <a:lnTo>
                  <a:pt x="0" y="2374010"/>
                </a:lnTo>
                <a:lnTo>
                  <a:pt x="0" y="49659"/>
                </a:lnTo>
                <a:lnTo>
                  <a:pt x="18034" y="13099"/>
                </a:lnTo>
                <a:lnTo>
                  <a:pt x="49659" y="0"/>
                </a:lnTo>
                <a:lnTo>
                  <a:pt x="4910960" y="0"/>
                </a:lnTo>
                <a:lnTo>
                  <a:pt x="4947520" y="18034"/>
                </a:lnTo>
                <a:lnTo>
                  <a:pt x="4960620" y="49659"/>
                </a:lnTo>
                <a:lnTo>
                  <a:pt x="4960620" y="2377500"/>
                </a:lnTo>
                <a:lnTo>
                  <a:pt x="4942584" y="2414060"/>
                </a:lnTo>
                <a:lnTo>
                  <a:pt x="4914416" y="2426819"/>
                </a:lnTo>
                <a:lnTo>
                  <a:pt x="4910960" y="2427160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6" name="Google Shape;476;p17"/>
          <p:cNvSpPr txBox="1"/>
          <p:nvPr/>
        </p:nvSpPr>
        <p:spPr>
          <a:xfrm>
            <a:off x="640778" y="1772233"/>
            <a:ext cx="2886710" cy="2293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14935" lvl="0" marL="127000" marR="862964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async function obtenerUsuario(id) { try {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const respuesta = await fetch(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`https://api.ejemplo.com/usuarios/${id}`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if (!respuesta.ok) {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throw new Error('Error al obtener usuario');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51943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const datos = await respuesta.json(); return datos;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-114935" lvl="0" marL="241300" marR="862964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 catch (error) { console.error('Error:', error); throw error;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6069329" y="5167407"/>
            <a:ext cx="4960620" cy="514350"/>
          </a:xfrm>
          <a:custGeom>
            <a:rect b="b" l="l" r="r" t="t"/>
            <a:pathLst>
              <a:path extrusionOk="0" h="514350" w="4960620">
                <a:moveTo>
                  <a:pt x="4910960" y="513777"/>
                </a:moveTo>
                <a:lnTo>
                  <a:pt x="49660" y="513777"/>
                </a:lnTo>
                <a:lnTo>
                  <a:pt x="46203" y="513437"/>
                </a:lnTo>
                <a:lnTo>
                  <a:pt x="10896" y="493058"/>
                </a:lnTo>
                <a:lnTo>
                  <a:pt x="0" y="464118"/>
                </a:lnTo>
                <a:lnTo>
                  <a:pt x="0" y="460629"/>
                </a:lnTo>
                <a:lnTo>
                  <a:pt x="0" y="49659"/>
                </a:lnTo>
                <a:lnTo>
                  <a:pt x="18034" y="13098"/>
                </a:lnTo>
                <a:lnTo>
                  <a:pt x="49660" y="0"/>
                </a:lnTo>
                <a:lnTo>
                  <a:pt x="4910960" y="0"/>
                </a:lnTo>
                <a:lnTo>
                  <a:pt x="4947521" y="18034"/>
                </a:lnTo>
                <a:lnTo>
                  <a:pt x="4960620" y="49659"/>
                </a:lnTo>
                <a:lnTo>
                  <a:pt x="4960620" y="464118"/>
                </a:lnTo>
                <a:lnTo>
                  <a:pt x="4942584" y="500678"/>
                </a:lnTo>
                <a:lnTo>
                  <a:pt x="4914416" y="513437"/>
                </a:lnTo>
                <a:lnTo>
                  <a:pt x="4910960" y="513777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8" name="Google Shape;478;p17"/>
          <p:cNvSpPr txBox="1"/>
          <p:nvPr/>
        </p:nvSpPr>
        <p:spPr>
          <a:xfrm>
            <a:off x="6113793" y="5186736"/>
            <a:ext cx="1743075" cy="415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734695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// Uso de función async obtenerUsuario(123)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8425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.then(usuario =&gt; console.log(usuario))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8425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550">
                <a:solidFill>
                  <a:srgbClr val="333A40"/>
                </a:solidFill>
                <a:latin typeface="Courier New"/>
                <a:ea typeface="Courier New"/>
                <a:cs typeface="Courier New"/>
                <a:sym typeface="Courier New"/>
              </a:rPr>
              <a:t>.catch(error =&gt; mostrarError(error));</a:t>
            </a:r>
            <a:endParaRPr sz="5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114299" y="6305549"/>
            <a:ext cx="504825" cy="247650"/>
          </a:xfrm>
          <a:custGeom>
            <a:rect b="b" l="l" r="r" t="t"/>
            <a:pathLst>
              <a:path extrusionOk="0" h="247650" w="504825">
                <a:moveTo>
                  <a:pt x="504824" y="247649"/>
                </a:moveTo>
                <a:lnTo>
                  <a:pt x="0" y="247649"/>
                </a:lnTo>
                <a:lnTo>
                  <a:pt x="0" y="0"/>
                </a:lnTo>
                <a:lnTo>
                  <a:pt x="504824" y="0"/>
                </a:lnTo>
                <a:lnTo>
                  <a:pt x="504824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0" name="Google Shape;480;p17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8"/>
          <p:cNvSpPr txBox="1"/>
          <p:nvPr>
            <p:ph type="title"/>
          </p:nvPr>
        </p:nvSpPr>
        <p:spPr>
          <a:xfrm>
            <a:off x="2866137" y="211690"/>
            <a:ext cx="569785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284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Patrones Avanzados con Promesas</a:t>
            </a:r>
            <a:endParaRPr/>
          </a:p>
        </p:txBody>
      </p:sp>
      <p:grpSp>
        <p:nvGrpSpPr>
          <p:cNvPr id="486" name="Google Shape;486;p18"/>
          <p:cNvGrpSpPr/>
          <p:nvPr/>
        </p:nvGrpSpPr>
        <p:grpSpPr>
          <a:xfrm>
            <a:off x="400049" y="897731"/>
            <a:ext cx="5436870" cy="5314950"/>
            <a:chOff x="400049" y="897731"/>
            <a:chExt cx="5436870" cy="5314950"/>
          </a:xfrm>
        </p:grpSpPr>
        <p:sp>
          <p:nvSpPr>
            <p:cNvPr id="487" name="Google Shape;487;p18"/>
            <p:cNvSpPr/>
            <p:nvPr/>
          </p:nvSpPr>
          <p:spPr>
            <a:xfrm>
              <a:off x="400049" y="897731"/>
              <a:ext cx="5436870" cy="5314950"/>
            </a:xfrm>
            <a:custGeom>
              <a:rect b="b" l="l" r="r" t="t"/>
              <a:pathLst>
                <a:path extrusionOk="0" h="5314950" w="543687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314950" w="5436870">
                  <a:moveTo>
                    <a:pt x="5436869" y="5314949"/>
                  </a:moveTo>
                  <a:lnTo>
                    <a:pt x="5268844" y="5314949"/>
                  </a:lnTo>
                  <a:lnTo>
                    <a:pt x="5275627" y="5313600"/>
                  </a:lnTo>
                  <a:lnTo>
                    <a:pt x="5288650" y="5308205"/>
                  </a:lnTo>
                  <a:lnTo>
                    <a:pt x="5313600" y="5275627"/>
                  </a:lnTo>
                  <a:lnTo>
                    <a:pt x="5314949" y="5268847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436869" y="0"/>
                  </a:lnTo>
                  <a:lnTo>
                    <a:pt x="5436869" y="5314949"/>
                  </a:lnTo>
                  <a:close/>
                </a:path>
                <a:path extrusionOk="0" h="5314950" w="5436870">
                  <a:moveTo>
                    <a:pt x="46104" y="5314949"/>
                  </a:moveTo>
                  <a:lnTo>
                    <a:pt x="0" y="5314949"/>
                  </a:lnTo>
                  <a:lnTo>
                    <a:pt x="0" y="5268848"/>
                  </a:lnTo>
                  <a:lnTo>
                    <a:pt x="1348" y="5275627"/>
                  </a:lnTo>
                  <a:lnTo>
                    <a:pt x="6742" y="5288650"/>
                  </a:lnTo>
                  <a:lnTo>
                    <a:pt x="10583" y="5294398"/>
                  </a:lnTo>
                  <a:lnTo>
                    <a:pt x="20550" y="5304365"/>
                  </a:lnTo>
                  <a:lnTo>
                    <a:pt x="26298" y="5308205"/>
                  </a:lnTo>
                  <a:lnTo>
                    <a:pt x="39321" y="5313600"/>
                  </a:lnTo>
                  <a:lnTo>
                    <a:pt x="46104" y="5314949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400049" y="897731"/>
              <a:ext cx="5314950" cy="5314950"/>
            </a:xfrm>
            <a:custGeom>
              <a:rect b="b" l="l" r="r" t="t"/>
              <a:pathLst>
                <a:path extrusionOk="0" h="5314950" w="5314950">
                  <a:moveTo>
                    <a:pt x="5265290" y="5314949"/>
                  </a:moveTo>
                  <a:lnTo>
                    <a:pt x="49659" y="5314949"/>
                  </a:lnTo>
                  <a:lnTo>
                    <a:pt x="46203" y="5314608"/>
                  </a:lnTo>
                  <a:lnTo>
                    <a:pt x="10896" y="5294230"/>
                  </a:lnTo>
                  <a:lnTo>
                    <a:pt x="0" y="5265290"/>
                  </a:lnTo>
                  <a:lnTo>
                    <a:pt x="0" y="5261800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5265290"/>
                  </a:lnTo>
                  <a:lnTo>
                    <a:pt x="5296914" y="5301850"/>
                  </a:lnTo>
                  <a:lnTo>
                    <a:pt x="5268746" y="5314608"/>
                  </a:lnTo>
                  <a:lnTo>
                    <a:pt x="5265290" y="5314949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89" name="Google Shape;489;p18"/>
          <p:cNvSpPr txBox="1"/>
          <p:nvPr/>
        </p:nvSpPr>
        <p:spPr>
          <a:xfrm>
            <a:off x="1079400" y="1024993"/>
            <a:ext cx="39566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Ejecución secuencial vs. paralela</a:t>
            </a:r>
            <a:endParaRPr sz="2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18"/>
          <p:cNvSpPr txBox="1"/>
          <p:nvPr/>
        </p:nvSpPr>
        <p:spPr>
          <a:xfrm>
            <a:off x="1952907" y="1581804"/>
            <a:ext cx="2209165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Ejecución secuencial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18"/>
          <p:cNvSpPr txBox="1"/>
          <p:nvPr/>
        </p:nvSpPr>
        <p:spPr>
          <a:xfrm>
            <a:off x="2056161" y="3610343"/>
            <a:ext cx="2002789" cy="33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Ejecución paralela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92" name="Google Shape;492;p18"/>
          <p:cNvGrpSpPr/>
          <p:nvPr/>
        </p:nvGrpSpPr>
        <p:grpSpPr>
          <a:xfrm>
            <a:off x="5769863" y="897730"/>
            <a:ext cx="5260086" cy="5314951"/>
            <a:chOff x="5769863" y="897730"/>
            <a:chExt cx="5260086" cy="5314951"/>
          </a:xfrm>
        </p:grpSpPr>
        <p:sp>
          <p:nvSpPr>
            <p:cNvPr id="493" name="Google Shape;493;p18"/>
            <p:cNvSpPr/>
            <p:nvPr/>
          </p:nvSpPr>
          <p:spPr>
            <a:xfrm>
              <a:off x="5769863" y="897731"/>
              <a:ext cx="168910" cy="5314950"/>
            </a:xfrm>
            <a:custGeom>
              <a:rect b="b" l="l" r="r" t="t"/>
              <a:pathLst>
                <a:path extrusionOk="0" h="5314950" w="168910">
                  <a:moveTo>
                    <a:pt x="168405" y="5314949"/>
                  </a:moveTo>
                  <a:lnTo>
                    <a:pt x="0" y="5314949"/>
                  </a:lnTo>
                  <a:lnTo>
                    <a:pt x="0" y="0"/>
                  </a:lnTo>
                  <a:lnTo>
                    <a:pt x="168401" y="0"/>
                  </a:lnTo>
                  <a:lnTo>
                    <a:pt x="161622" y="1348"/>
                  </a:lnTo>
                  <a:lnTo>
                    <a:pt x="148598" y="6742"/>
                  </a:lnTo>
                  <a:lnTo>
                    <a:pt x="123649" y="39321"/>
                  </a:lnTo>
                  <a:lnTo>
                    <a:pt x="122300" y="46101"/>
                  </a:lnTo>
                  <a:lnTo>
                    <a:pt x="122300" y="5268847"/>
                  </a:lnTo>
                  <a:lnTo>
                    <a:pt x="142851" y="5304365"/>
                  </a:lnTo>
                  <a:lnTo>
                    <a:pt x="161622" y="5313600"/>
                  </a:lnTo>
                  <a:lnTo>
                    <a:pt x="168405" y="5314949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18"/>
            <p:cNvSpPr/>
            <p:nvPr/>
          </p:nvSpPr>
          <p:spPr>
            <a:xfrm>
              <a:off x="5892164" y="897730"/>
              <a:ext cx="5137785" cy="5314950"/>
            </a:xfrm>
            <a:custGeom>
              <a:rect b="b" l="l" r="r" t="t"/>
              <a:pathLst>
                <a:path extrusionOk="0" h="5314950" w="5137784">
                  <a:moveTo>
                    <a:pt x="5137785" y="5314950"/>
                  </a:moveTo>
                  <a:lnTo>
                    <a:pt x="49659" y="5314950"/>
                  </a:lnTo>
                  <a:lnTo>
                    <a:pt x="46203" y="5314608"/>
                  </a:lnTo>
                  <a:lnTo>
                    <a:pt x="10896" y="5294230"/>
                  </a:lnTo>
                  <a:lnTo>
                    <a:pt x="0" y="5265290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531495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95" name="Google Shape;495;p18"/>
          <p:cNvSpPr txBox="1"/>
          <p:nvPr/>
        </p:nvSpPr>
        <p:spPr>
          <a:xfrm>
            <a:off x="7915478" y="1041400"/>
            <a:ext cx="1268730" cy="199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Patrones de resiliencia</a:t>
            </a:r>
            <a:endParaRPr sz="11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18"/>
          <p:cNvSpPr txBox="1"/>
          <p:nvPr/>
        </p:nvSpPr>
        <p:spPr>
          <a:xfrm>
            <a:off x="8212367" y="1393290"/>
            <a:ext cx="675005" cy="170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Patrón Retry</a:t>
            </a:r>
            <a:endParaRPr sz="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18"/>
          <p:cNvSpPr txBox="1"/>
          <p:nvPr/>
        </p:nvSpPr>
        <p:spPr>
          <a:xfrm>
            <a:off x="7948419" y="3085216"/>
            <a:ext cx="1202690" cy="170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Breaker Pattern</a:t>
            </a:r>
            <a:endParaRPr sz="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577427" y="2177661"/>
            <a:ext cx="4960620" cy="1355725"/>
          </a:xfrm>
          <a:custGeom>
            <a:rect b="b" l="l" r="r" t="t"/>
            <a:pathLst>
              <a:path extrusionOk="0" h="1355725" w="4960620">
                <a:moveTo>
                  <a:pt x="4910960" y="1355312"/>
                </a:moveTo>
                <a:lnTo>
                  <a:pt x="49659" y="1355312"/>
                </a:lnTo>
                <a:lnTo>
                  <a:pt x="46203" y="1354971"/>
                </a:lnTo>
                <a:lnTo>
                  <a:pt x="10896" y="1334592"/>
                </a:lnTo>
                <a:lnTo>
                  <a:pt x="0" y="1305652"/>
                </a:lnTo>
                <a:lnTo>
                  <a:pt x="0" y="1302162"/>
                </a:lnTo>
                <a:lnTo>
                  <a:pt x="0" y="49659"/>
                </a:lnTo>
                <a:lnTo>
                  <a:pt x="18034" y="13099"/>
                </a:lnTo>
                <a:lnTo>
                  <a:pt x="49659" y="0"/>
                </a:lnTo>
                <a:lnTo>
                  <a:pt x="4910960" y="0"/>
                </a:lnTo>
                <a:lnTo>
                  <a:pt x="4947520" y="18034"/>
                </a:lnTo>
                <a:lnTo>
                  <a:pt x="4960620" y="49659"/>
                </a:lnTo>
                <a:lnTo>
                  <a:pt x="4960620" y="1305652"/>
                </a:lnTo>
                <a:lnTo>
                  <a:pt x="4942584" y="1342212"/>
                </a:lnTo>
                <a:lnTo>
                  <a:pt x="4914416" y="1354971"/>
                </a:lnTo>
                <a:lnTo>
                  <a:pt x="4910960" y="1355312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9" name="Google Shape;499;p18"/>
          <p:cNvSpPr txBox="1"/>
          <p:nvPr/>
        </p:nvSpPr>
        <p:spPr>
          <a:xfrm>
            <a:off x="640778" y="2144280"/>
            <a:ext cx="2715260" cy="1221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14935" lvl="0" marL="127000" marR="29083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async function procesarSecuencial(items) { const resultados = [];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for (const item of items) {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241300" marR="50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// Espera cada promesa antes de continuar const resultado = await procesarItem(item); resultados.push(resultado);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return resultados;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577215" y="4148708"/>
            <a:ext cx="4960620" cy="1223010"/>
          </a:xfrm>
          <a:custGeom>
            <a:rect b="b" l="l" r="r" t="t"/>
            <a:pathLst>
              <a:path extrusionOk="0" h="1223010" w="4960620">
                <a:moveTo>
                  <a:pt x="4910960" y="1222438"/>
                </a:moveTo>
                <a:lnTo>
                  <a:pt x="49659" y="1222438"/>
                </a:lnTo>
                <a:lnTo>
                  <a:pt x="46203" y="1222097"/>
                </a:lnTo>
                <a:lnTo>
                  <a:pt x="10896" y="1201718"/>
                </a:lnTo>
                <a:lnTo>
                  <a:pt x="0" y="1172778"/>
                </a:lnTo>
                <a:lnTo>
                  <a:pt x="0" y="1169289"/>
                </a:lnTo>
                <a:lnTo>
                  <a:pt x="0" y="49659"/>
                </a:lnTo>
                <a:lnTo>
                  <a:pt x="18034" y="13098"/>
                </a:lnTo>
                <a:lnTo>
                  <a:pt x="49659" y="0"/>
                </a:lnTo>
                <a:lnTo>
                  <a:pt x="4910960" y="0"/>
                </a:lnTo>
                <a:lnTo>
                  <a:pt x="4947520" y="18034"/>
                </a:lnTo>
                <a:lnTo>
                  <a:pt x="4960620" y="49659"/>
                </a:lnTo>
                <a:lnTo>
                  <a:pt x="4960620" y="1172778"/>
                </a:lnTo>
                <a:lnTo>
                  <a:pt x="4942584" y="1209338"/>
                </a:lnTo>
                <a:lnTo>
                  <a:pt x="4914416" y="1222097"/>
                </a:lnTo>
                <a:lnTo>
                  <a:pt x="4910960" y="1222438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1" name="Google Shape;501;p18"/>
          <p:cNvSpPr txBox="1"/>
          <p:nvPr/>
        </p:nvSpPr>
        <p:spPr>
          <a:xfrm>
            <a:off x="640778" y="4172819"/>
            <a:ext cx="231457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async function procesarParalelo(items) {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0" marR="62230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// Inicia todas las promesas a la vez const promesas = items.map(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2413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item =&gt; procesarItem(item)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0" marR="347980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// Espera que todas se completen return Promise.all(promesas);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7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6069329" y="1748122"/>
            <a:ext cx="4960620" cy="1187450"/>
          </a:xfrm>
          <a:custGeom>
            <a:rect b="b" l="l" r="r" t="t"/>
            <a:pathLst>
              <a:path extrusionOk="0" h="1187450" w="4960620">
                <a:moveTo>
                  <a:pt x="4910960" y="1187005"/>
                </a:moveTo>
                <a:lnTo>
                  <a:pt x="49660" y="1187005"/>
                </a:lnTo>
                <a:lnTo>
                  <a:pt x="46203" y="1186665"/>
                </a:lnTo>
                <a:lnTo>
                  <a:pt x="10896" y="1166285"/>
                </a:lnTo>
                <a:lnTo>
                  <a:pt x="0" y="1137345"/>
                </a:lnTo>
                <a:lnTo>
                  <a:pt x="0" y="1133856"/>
                </a:lnTo>
                <a:lnTo>
                  <a:pt x="0" y="49659"/>
                </a:lnTo>
                <a:lnTo>
                  <a:pt x="18034" y="13099"/>
                </a:lnTo>
                <a:lnTo>
                  <a:pt x="49660" y="0"/>
                </a:lnTo>
                <a:lnTo>
                  <a:pt x="4910960" y="0"/>
                </a:lnTo>
                <a:lnTo>
                  <a:pt x="4947521" y="18034"/>
                </a:lnTo>
                <a:lnTo>
                  <a:pt x="4960620" y="49659"/>
                </a:lnTo>
                <a:lnTo>
                  <a:pt x="4960620" y="1137345"/>
                </a:lnTo>
                <a:lnTo>
                  <a:pt x="4942584" y="1173905"/>
                </a:lnTo>
                <a:lnTo>
                  <a:pt x="4914416" y="1186665"/>
                </a:lnTo>
                <a:lnTo>
                  <a:pt x="4910960" y="1187005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3" name="Google Shape;503;p18"/>
          <p:cNvSpPr txBox="1"/>
          <p:nvPr/>
        </p:nvSpPr>
        <p:spPr>
          <a:xfrm>
            <a:off x="6092062" y="1753137"/>
            <a:ext cx="1381125" cy="14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3340" lvl="0" marL="65405" marR="5080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async function conReintentos(fn, maxIntentos = 3) { let ultimoError;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04" name="Google Shape;504;p18"/>
          <p:cNvSpPr txBox="1"/>
          <p:nvPr/>
        </p:nvSpPr>
        <p:spPr>
          <a:xfrm>
            <a:off x="6145213" y="1939161"/>
            <a:ext cx="1567180" cy="8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3340" lvl="0" marL="65405" marR="50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for (let intento = 1; intento &lt;= maxIntentos; intento++) { try {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18745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return await fn();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6540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 catch (error) {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18745" marR="2971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console.warn(`Intento ${intento} fallido`); ultimoError = error;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18745" marR="429894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// Espera exponencial entre reintentos await new Promise(r =&gt;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7208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setTimeout(r, 1000 * Math.pow(2, intento))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18745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6540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t/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throw ultimoError;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05" name="Google Shape;505;p18"/>
          <p:cNvSpPr txBox="1"/>
          <p:nvPr/>
        </p:nvSpPr>
        <p:spPr>
          <a:xfrm>
            <a:off x="6092062" y="2816138"/>
            <a:ext cx="52069" cy="78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6069329" y="3440048"/>
            <a:ext cx="4960620" cy="2551430"/>
          </a:xfrm>
          <a:custGeom>
            <a:rect b="b" l="l" r="r" t="t"/>
            <a:pathLst>
              <a:path extrusionOk="0" h="2551429" w="4960620">
                <a:moveTo>
                  <a:pt x="4910960" y="2551175"/>
                </a:moveTo>
                <a:lnTo>
                  <a:pt x="49660" y="2551175"/>
                </a:lnTo>
                <a:lnTo>
                  <a:pt x="46203" y="2550834"/>
                </a:lnTo>
                <a:lnTo>
                  <a:pt x="10896" y="2530455"/>
                </a:lnTo>
                <a:lnTo>
                  <a:pt x="0" y="2501516"/>
                </a:lnTo>
                <a:lnTo>
                  <a:pt x="0" y="2498026"/>
                </a:lnTo>
                <a:lnTo>
                  <a:pt x="0" y="49659"/>
                </a:lnTo>
                <a:lnTo>
                  <a:pt x="18034" y="13098"/>
                </a:lnTo>
                <a:lnTo>
                  <a:pt x="49660" y="0"/>
                </a:lnTo>
                <a:lnTo>
                  <a:pt x="4910960" y="0"/>
                </a:lnTo>
                <a:lnTo>
                  <a:pt x="4947521" y="18034"/>
                </a:lnTo>
                <a:lnTo>
                  <a:pt x="4960620" y="49659"/>
                </a:lnTo>
                <a:lnTo>
                  <a:pt x="4960620" y="2501516"/>
                </a:lnTo>
                <a:lnTo>
                  <a:pt x="4942584" y="2538076"/>
                </a:lnTo>
                <a:lnTo>
                  <a:pt x="4914416" y="2550834"/>
                </a:lnTo>
                <a:lnTo>
                  <a:pt x="4910960" y="2551175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7" name="Google Shape;507;p18"/>
          <p:cNvSpPr txBox="1"/>
          <p:nvPr/>
        </p:nvSpPr>
        <p:spPr>
          <a:xfrm>
            <a:off x="6092062" y="3445063"/>
            <a:ext cx="1460500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3340" lvl="0" marL="65405" marR="562610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class CircuitBreaker { constructor(fn, options = {}) {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18745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this.fn = fn;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1874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this.state = 'CLOSED'; // CLOSED, OPEN, HALF-OPEN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1874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this.failureCount = 0;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18745" marR="50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this.threshold = options.threshold || 5; this.resetTimeout = options.resetTimeout || 30000;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65405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08" name="Google Shape;508;p18"/>
          <p:cNvSpPr txBox="1"/>
          <p:nvPr/>
        </p:nvSpPr>
        <p:spPr>
          <a:xfrm>
            <a:off x="6145213" y="4003133"/>
            <a:ext cx="1274445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async exec(...args) {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6540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if (this.state === 'OPEN') {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1874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throw new Error('Circuit breaker is OPEN');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65405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09" name="Google Shape;509;p18"/>
          <p:cNvSpPr txBox="1"/>
          <p:nvPr/>
        </p:nvSpPr>
        <p:spPr>
          <a:xfrm>
            <a:off x="6198364" y="4313172"/>
            <a:ext cx="1089025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try {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65405" marR="50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const result = await this.fn(...args); this.success();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6540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return result;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53340" lvl="0" marL="65405" marR="61595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 catch (error) { this.failure(); throw error;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10" name="Google Shape;510;p18"/>
          <p:cNvSpPr txBox="1"/>
          <p:nvPr/>
        </p:nvSpPr>
        <p:spPr>
          <a:xfrm>
            <a:off x="6145213" y="4818102"/>
            <a:ext cx="52069" cy="78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11" name="Google Shape;511;p18"/>
          <p:cNvSpPr txBox="1"/>
          <p:nvPr/>
        </p:nvSpPr>
        <p:spPr>
          <a:xfrm>
            <a:off x="6145213" y="4933249"/>
            <a:ext cx="663575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3340" lvl="0" marL="65405" marR="5080" rtl="0" algn="l">
              <a:lnSpc>
                <a:spcPct val="11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success() { this.failureCount = 0; this.state = 'CLOSED';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12" name="Google Shape;512;p18"/>
          <p:cNvSpPr txBox="1"/>
          <p:nvPr/>
        </p:nvSpPr>
        <p:spPr>
          <a:xfrm>
            <a:off x="6092062" y="5243288"/>
            <a:ext cx="124841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3340" lvl="0" marL="118745" marR="5892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failure() { this.failureCount++;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53339" lvl="0" marL="172085" marR="50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if (this.failureCount &gt;= this.threshold) { this.state = 'OPEN';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53340" lvl="0" marL="224790" marR="35052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setTimeout(() =&gt; { this.state = 'HALF-OPEN'; this.failureCount = 0;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7208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}, this.resetTimeout);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18745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6540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350">
                <a:solidFill>
                  <a:srgbClr val="333A4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3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114299" y="6305549"/>
            <a:ext cx="504825" cy="247650"/>
          </a:xfrm>
          <a:custGeom>
            <a:rect b="b" l="l" r="r" t="t"/>
            <a:pathLst>
              <a:path extrusionOk="0" h="247650" w="504825">
                <a:moveTo>
                  <a:pt x="504824" y="247649"/>
                </a:moveTo>
                <a:lnTo>
                  <a:pt x="0" y="247649"/>
                </a:lnTo>
                <a:lnTo>
                  <a:pt x="0" y="0"/>
                </a:lnTo>
                <a:lnTo>
                  <a:pt x="504824" y="0"/>
                </a:lnTo>
                <a:lnTo>
                  <a:pt x="504824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4" name="Google Shape;514;p18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9"/>
          <p:cNvSpPr txBox="1"/>
          <p:nvPr>
            <p:ph type="title"/>
          </p:nvPr>
        </p:nvSpPr>
        <p:spPr>
          <a:xfrm>
            <a:off x="2690494" y="176257"/>
            <a:ext cx="6049010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Mejores Prácticas en Desarrollo de APIs</a:t>
            </a:r>
            <a:endParaRPr/>
          </a:p>
        </p:txBody>
      </p:sp>
      <p:grpSp>
        <p:nvGrpSpPr>
          <p:cNvPr id="520" name="Google Shape;520;p19"/>
          <p:cNvGrpSpPr/>
          <p:nvPr/>
        </p:nvGrpSpPr>
        <p:grpSpPr>
          <a:xfrm>
            <a:off x="400049" y="853439"/>
            <a:ext cx="3629660" cy="5403850"/>
            <a:chOff x="400049" y="853439"/>
            <a:chExt cx="3629660" cy="5403850"/>
          </a:xfrm>
        </p:grpSpPr>
        <p:sp>
          <p:nvSpPr>
            <p:cNvPr id="521" name="Google Shape;521;p19"/>
            <p:cNvSpPr/>
            <p:nvPr/>
          </p:nvSpPr>
          <p:spPr>
            <a:xfrm>
              <a:off x="400049" y="853439"/>
              <a:ext cx="3629660" cy="5403850"/>
            </a:xfrm>
            <a:custGeom>
              <a:rect b="b" l="l" r="r" t="t"/>
              <a:pathLst>
                <a:path extrusionOk="0" h="5403850" w="362966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403850" w="3629660">
                  <a:moveTo>
                    <a:pt x="3629405" y="5403532"/>
                  </a:moveTo>
                  <a:lnTo>
                    <a:pt x="3461762" y="5403532"/>
                  </a:lnTo>
                  <a:lnTo>
                    <a:pt x="3468544" y="5402183"/>
                  </a:lnTo>
                  <a:lnTo>
                    <a:pt x="3481567" y="5396788"/>
                  </a:lnTo>
                  <a:lnTo>
                    <a:pt x="3506517" y="5364210"/>
                  </a:lnTo>
                  <a:lnTo>
                    <a:pt x="3507866" y="5357430"/>
                  </a:lnTo>
                  <a:lnTo>
                    <a:pt x="3507866" y="46101"/>
                  </a:lnTo>
                  <a:lnTo>
                    <a:pt x="3487315" y="10583"/>
                  </a:lnTo>
                  <a:lnTo>
                    <a:pt x="3461765" y="0"/>
                  </a:lnTo>
                  <a:lnTo>
                    <a:pt x="3629405" y="0"/>
                  </a:lnTo>
                  <a:lnTo>
                    <a:pt x="3629405" y="5403532"/>
                  </a:lnTo>
                  <a:close/>
                </a:path>
                <a:path extrusionOk="0" h="5403850" w="3629660">
                  <a:moveTo>
                    <a:pt x="46104" y="5403532"/>
                  </a:moveTo>
                  <a:lnTo>
                    <a:pt x="0" y="5403532"/>
                  </a:lnTo>
                  <a:lnTo>
                    <a:pt x="0" y="5357430"/>
                  </a:lnTo>
                  <a:lnTo>
                    <a:pt x="1348" y="5364210"/>
                  </a:lnTo>
                  <a:lnTo>
                    <a:pt x="6742" y="5377233"/>
                  </a:lnTo>
                  <a:lnTo>
                    <a:pt x="10583" y="5382980"/>
                  </a:lnTo>
                  <a:lnTo>
                    <a:pt x="20550" y="5392948"/>
                  </a:lnTo>
                  <a:lnTo>
                    <a:pt x="26298" y="5396788"/>
                  </a:lnTo>
                  <a:lnTo>
                    <a:pt x="39321" y="5402183"/>
                  </a:lnTo>
                  <a:lnTo>
                    <a:pt x="46104" y="5403532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19"/>
            <p:cNvSpPr/>
            <p:nvPr/>
          </p:nvSpPr>
          <p:spPr>
            <a:xfrm>
              <a:off x="400049" y="853439"/>
              <a:ext cx="3508375" cy="5403850"/>
            </a:xfrm>
            <a:custGeom>
              <a:rect b="b" l="l" r="r" t="t"/>
              <a:pathLst>
                <a:path extrusionOk="0" h="5403850" w="3508375">
                  <a:moveTo>
                    <a:pt x="3458207" y="5403532"/>
                  </a:moveTo>
                  <a:lnTo>
                    <a:pt x="49659" y="5403532"/>
                  </a:lnTo>
                  <a:lnTo>
                    <a:pt x="46203" y="5403191"/>
                  </a:lnTo>
                  <a:lnTo>
                    <a:pt x="10896" y="5382812"/>
                  </a:lnTo>
                  <a:lnTo>
                    <a:pt x="0" y="5353872"/>
                  </a:lnTo>
                  <a:lnTo>
                    <a:pt x="0" y="5350382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458207" y="0"/>
                  </a:lnTo>
                  <a:lnTo>
                    <a:pt x="3494767" y="18034"/>
                  </a:lnTo>
                  <a:lnTo>
                    <a:pt x="3507866" y="49659"/>
                  </a:lnTo>
                  <a:lnTo>
                    <a:pt x="3507866" y="5353872"/>
                  </a:lnTo>
                  <a:lnTo>
                    <a:pt x="3489831" y="5390432"/>
                  </a:lnTo>
                  <a:lnTo>
                    <a:pt x="3461663" y="5403191"/>
                  </a:lnTo>
                  <a:lnTo>
                    <a:pt x="3458207" y="5403532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19"/>
            <p:cNvSpPr/>
            <p:nvPr/>
          </p:nvSpPr>
          <p:spPr>
            <a:xfrm>
              <a:off x="958119" y="1570957"/>
              <a:ext cx="62230" cy="62230"/>
            </a:xfrm>
            <a:custGeom>
              <a:rect b="b" l="l" r="r" t="t"/>
              <a:pathLst>
                <a:path extrusionOk="0" h="62230" w="62230">
                  <a:moveTo>
                    <a:pt x="35115" y="62007"/>
                  </a:moveTo>
                  <a:lnTo>
                    <a:pt x="26892" y="62007"/>
                  </a:lnTo>
                  <a:lnTo>
                    <a:pt x="22937" y="61220"/>
                  </a:lnTo>
                  <a:lnTo>
                    <a:pt x="0" y="35115"/>
                  </a:lnTo>
                  <a:lnTo>
                    <a:pt x="0" y="26892"/>
                  </a:lnTo>
                  <a:lnTo>
                    <a:pt x="26892" y="0"/>
                  </a:lnTo>
                  <a:lnTo>
                    <a:pt x="35115" y="0"/>
                  </a:lnTo>
                  <a:lnTo>
                    <a:pt x="62007" y="31003"/>
                  </a:lnTo>
                  <a:lnTo>
                    <a:pt x="62007" y="35115"/>
                  </a:lnTo>
                  <a:lnTo>
                    <a:pt x="35115" y="62007"/>
                  </a:lnTo>
                  <a:close/>
                </a:path>
              </a:pathLst>
            </a:custGeom>
            <a:solidFill>
              <a:srgbClr val="333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24" name="Google Shape;524;p19"/>
          <p:cNvSpPr txBox="1"/>
          <p:nvPr/>
        </p:nvSpPr>
        <p:spPr>
          <a:xfrm>
            <a:off x="1131442" y="844394"/>
            <a:ext cx="2526665" cy="143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0">
            <a:spAutoFit/>
          </a:bodyPr>
          <a:lstStyle/>
          <a:p>
            <a:pPr indent="0" lvl="0" marL="6610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4600"/>
              </a:lnSpc>
              <a:spcBef>
                <a:spcPts val="869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Verbos HTTP correctos</a:t>
            </a:r>
            <a:r>
              <a:rPr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GET para lectura, POST para creación, etc.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25" name="Google Shape;525;p19"/>
          <p:cNvGrpSpPr/>
          <p:nvPr/>
        </p:nvGrpSpPr>
        <p:grpSpPr>
          <a:xfrm>
            <a:off x="958113" y="853439"/>
            <a:ext cx="6756501" cy="5403850"/>
            <a:chOff x="958113" y="853439"/>
            <a:chExt cx="6756501" cy="5403850"/>
          </a:xfrm>
        </p:grpSpPr>
        <p:sp>
          <p:nvSpPr>
            <p:cNvPr id="526" name="Google Shape;526;p19"/>
            <p:cNvSpPr/>
            <p:nvPr/>
          </p:nvSpPr>
          <p:spPr>
            <a:xfrm>
              <a:off x="958113" y="2509938"/>
              <a:ext cx="62230" cy="2976880"/>
            </a:xfrm>
            <a:custGeom>
              <a:rect b="b" l="l" r="r" t="t"/>
              <a:pathLst>
                <a:path extrusionOk="0" h="2976879" w="62230">
                  <a:moveTo>
                    <a:pt x="62014" y="2945371"/>
                  </a:moveTo>
                  <a:lnTo>
                    <a:pt x="35115" y="2914358"/>
                  </a:lnTo>
                  <a:lnTo>
                    <a:pt x="26898" y="2914358"/>
                  </a:lnTo>
                  <a:lnTo>
                    <a:pt x="0" y="2941256"/>
                  </a:lnTo>
                  <a:lnTo>
                    <a:pt x="0" y="2949473"/>
                  </a:lnTo>
                  <a:lnTo>
                    <a:pt x="26898" y="2976372"/>
                  </a:lnTo>
                  <a:lnTo>
                    <a:pt x="35115" y="2976372"/>
                  </a:lnTo>
                  <a:lnTo>
                    <a:pt x="62014" y="2945371"/>
                  </a:lnTo>
                  <a:close/>
                </a:path>
                <a:path extrusionOk="0" h="2976879" w="62230">
                  <a:moveTo>
                    <a:pt x="62014" y="2006396"/>
                  </a:moveTo>
                  <a:lnTo>
                    <a:pt x="35115" y="1975383"/>
                  </a:lnTo>
                  <a:lnTo>
                    <a:pt x="26898" y="1975383"/>
                  </a:lnTo>
                  <a:lnTo>
                    <a:pt x="0" y="2002282"/>
                  </a:lnTo>
                  <a:lnTo>
                    <a:pt x="0" y="2010498"/>
                  </a:lnTo>
                  <a:lnTo>
                    <a:pt x="26898" y="2037397"/>
                  </a:lnTo>
                  <a:lnTo>
                    <a:pt x="35115" y="2037397"/>
                  </a:lnTo>
                  <a:lnTo>
                    <a:pt x="62014" y="2006396"/>
                  </a:lnTo>
                  <a:close/>
                </a:path>
                <a:path extrusionOk="0" h="2976879" w="62230">
                  <a:moveTo>
                    <a:pt x="62014" y="1350886"/>
                  </a:moveTo>
                  <a:lnTo>
                    <a:pt x="35115" y="1319872"/>
                  </a:lnTo>
                  <a:lnTo>
                    <a:pt x="26898" y="1319872"/>
                  </a:lnTo>
                  <a:lnTo>
                    <a:pt x="0" y="1346771"/>
                  </a:lnTo>
                  <a:lnTo>
                    <a:pt x="0" y="1354988"/>
                  </a:lnTo>
                  <a:lnTo>
                    <a:pt x="26898" y="1381887"/>
                  </a:lnTo>
                  <a:lnTo>
                    <a:pt x="35115" y="1381887"/>
                  </a:lnTo>
                  <a:lnTo>
                    <a:pt x="62014" y="1350886"/>
                  </a:lnTo>
                  <a:close/>
                </a:path>
                <a:path extrusionOk="0" h="2976879" w="62230">
                  <a:moveTo>
                    <a:pt x="62014" y="686511"/>
                  </a:moveTo>
                  <a:lnTo>
                    <a:pt x="35115" y="655510"/>
                  </a:lnTo>
                  <a:lnTo>
                    <a:pt x="26898" y="655510"/>
                  </a:lnTo>
                  <a:lnTo>
                    <a:pt x="0" y="682396"/>
                  </a:lnTo>
                  <a:lnTo>
                    <a:pt x="0" y="690626"/>
                  </a:lnTo>
                  <a:lnTo>
                    <a:pt x="26898" y="717511"/>
                  </a:lnTo>
                  <a:lnTo>
                    <a:pt x="35115" y="717511"/>
                  </a:lnTo>
                  <a:lnTo>
                    <a:pt x="62014" y="686511"/>
                  </a:lnTo>
                  <a:close/>
                </a:path>
                <a:path extrusionOk="0" h="2976879" w="62230">
                  <a:moveTo>
                    <a:pt x="62014" y="31000"/>
                  </a:moveTo>
                  <a:lnTo>
                    <a:pt x="35115" y="0"/>
                  </a:lnTo>
                  <a:lnTo>
                    <a:pt x="26898" y="0"/>
                  </a:lnTo>
                  <a:lnTo>
                    <a:pt x="0" y="26885"/>
                  </a:lnTo>
                  <a:lnTo>
                    <a:pt x="0" y="35115"/>
                  </a:lnTo>
                  <a:lnTo>
                    <a:pt x="26898" y="62001"/>
                  </a:lnTo>
                  <a:lnTo>
                    <a:pt x="35115" y="62001"/>
                  </a:lnTo>
                  <a:lnTo>
                    <a:pt x="62014" y="31000"/>
                  </a:lnTo>
                  <a:close/>
                </a:path>
              </a:pathLst>
            </a:custGeom>
            <a:solidFill>
              <a:srgbClr val="333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19"/>
            <p:cNvSpPr/>
            <p:nvPr/>
          </p:nvSpPr>
          <p:spPr>
            <a:xfrm>
              <a:off x="3962399" y="853439"/>
              <a:ext cx="3752215" cy="5403850"/>
            </a:xfrm>
            <a:custGeom>
              <a:rect b="b" l="l" r="r" t="t"/>
              <a:pathLst>
                <a:path extrusionOk="0" h="5403850" w="3752215">
                  <a:moveTo>
                    <a:pt x="168786" y="5403532"/>
                  </a:moveTo>
                  <a:lnTo>
                    <a:pt x="0" y="5403532"/>
                  </a:lnTo>
                  <a:lnTo>
                    <a:pt x="0" y="0"/>
                  </a:lnTo>
                  <a:lnTo>
                    <a:pt x="168782" y="0"/>
                  </a:lnTo>
                  <a:lnTo>
                    <a:pt x="162003" y="1348"/>
                  </a:lnTo>
                  <a:lnTo>
                    <a:pt x="148979" y="6742"/>
                  </a:lnTo>
                  <a:lnTo>
                    <a:pt x="124030" y="39321"/>
                  </a:lnTo>
                  <a:lnTo>
                    <a:pt x="122681" y="46101"/>
                  </a:lnTo>
                  <a:lnTo>
                    <a:pt x="122681" y="5357430"/>
                  </a:lnTo>
                  <a:lnTo>
                    <a:pt x="143232" y="5392948"/>
                  </a:lnTo>
                  <a:lnTo>
                    <a:pt x="162003" y="5402183"/>
                  </a:lnTo>
                  <a:lnTo>
                    <a:pt x="168786" y="5403532"/>
                  </a:lnTo>
                  <a:close/>
                </a:path>
                <a:path extrusionOk="0" h="5403850" w="3752215">
                  <a:moveTo>
                    <a:pt x="3752087" y="5403532"/>
                  </a:moveTo>
                  <a:lnTo>
                    <a:pt x="3584444" y="5403532"/>
                  </a:lnTo>
                  <a:lnTo>
                    <a:pt x="3591226" y="5402183"/>
                  </a:lnTo>
                  <a:lnTo>
                    <a:pt x="3604249" y="5396788"/>
                  </a:lnTo>
                  <a:lnTo>
                    <a:pt x="3629198" y="5364210"/>
                  </a:lnTo>
                  <a:lnTo>
                    <a:pt x="3630548" y="5357430"/>
                  </a:lnTo>
                  <a:lnTo>
                    <a:pt x="3630548" y="46101"/>
                  </a:lnTo>
                  <a:lnTo>
                    <a:pt x="3609997" y="10583"/>
                  </a:lnTo>
                  <a:lnTo>
                    <a:pt x="3584447" y="0"/>
                  </a:lnTo>
                  <a:lnTo>
                    <a:pt x="3752087" y="0"/>
                  </a:lnTo>
                  <a:lnTo>
                    <a:pt x="3752087" y="5403532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19"/>
            <p:cNvSpPr/>
            <p:nvPr/>
          </p:nvSpPr>
          <p:spPr>
            <a:xfrm>
              <a:off x="4085081" y="853439"/>
              <a:ext cx="3508375" cy="5403850"/>
            </a:xfrm>
            <a:custGeom>
              <a:rect b="b" l="l" r="r" t="t"/>
              <a:pathLst>
                <a:path extrusionOk="0" h="5403850" w="3508375">
                  <a:moveTo>
                    <a:pt x="3458207" y="5403532"/>
                  </a:moveTo>
                  <a:lnTo>
                    <a:pt x="49659" y="5403532"/>
                  </a:lnTo>
                  <a:lnTo>
                    <a:pt x="46203" y="5403191"/>
                  </a:lnTo>
                  <a:lnTo>
                    <a:pt x="10895" y="5382812"/>
                  </a:lnTo>
                  <a:lnTo>
                    <a:pt x="0" y="5353872"/>
                  </a:lnTo>
                  <a:lnTo>
                    <a:pt x="0" y="5350382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458207" y="0"/>
                  </a:lnTo>
                  <a:lnTo>
                    <a:pt x="3494766" y="18034"/>
                  </a:lnTo>
                  <a:lnTo>
                    <a:pt x="3507866" y="49659"/>
                  </a:lnTo>
                  <a:lnTo>
                    <a:pt x="3507866" y="5353872"/>
                  </a:lnTo>
                  <a:lnTo>
                    <a:pt x="3489831" y="5390432"/>
                  </a:lnTo>
                  <a:lnTo>
                    <a:pt x="3461663" y="5403191"/>
                  </a:lnTo>
                  <a:lnTo>
                    <a:pt x="3458207" y="5403532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19"/>
            <p:cNvSpPr/>
            <p:nvPr/>
          </p:nvSpPr>
          <p:spPr>
            <a:xfrm>
              <a:off x="4643151" y="1553241"/>
              <a:ext cx="62230" cy="62230"/>
            </a:xfrm>
            <a:custGeom>
              <a:rect b="b" l="l" r="r" t="t"/>
              <a:pathLst>
                <a:path extrusionOk="0" h="62230" w="62229">
                  <a:moveTo>
                    <a:pt x="35115" y="62007"/>
                  </a:moveTo>
                  <a:lnTo>
                    <a:pt x="26892" y="62007"/>
                  </a:lnTo>
                  <a:lnTo>
                    <a:pt x="22937" y="61220"/>
                  </a:lnTo>
                  <a:lnTo>
                    <a:pt x="0" y="35115"/>
                  </a:lnTo>
                  <a:lnTo>
                    <a:pt x="0" y="26892"/>
                  </a:lnTo>
                  <a:lnTo>
                    <a:pt x="26892" y="0"/>
                  </a:lnTo>
                  <a:lnTo>
                    <a:pt x="35115" y="0"/>
                  </a:lnTo>
                  <a:lnTo>
                    <a:pt x="62008" y="31003"/>
                  </a:lnTo>
                  <a:lnTo>
                    <a:pt x="62007" y="35115"/>
                  </a:lnTo>
                  <a:lnTo>
                    <a:pt x="35115" y="62007"/>
                  </a:lnTo>
                  <a:close/>
                </a:path>
              </a:pathLst>
            </a:custGeom>
            <a:solidFill>
              <a:srgbClr val="333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30" name="Google Shape;530;p19"/>
          <p:cNvSpPr txBox="1"/>
          <p:nvPr/>
        </p:nvSpPr>
        <p:spPr>
          <a:xfrm>
            <a:off x="1131442" y="2371076"/>
            <a:ext cx="2085339" cy="56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Versionado</a:t>
            </a:r>
            <a:r>
              <a:rPr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/v1/, /v2/ o encabezados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19"/>
          <p:cNvSpPr txBox="1"/>
          <p:nvPr/>
        </p:nvSpPr>
        <p:spPr>
          <a:xfrm>
            <a:off x="1131442" y="3026587"/>
            <a:ext cx="2602865" cy="56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Nombres en plural</a:t>
            </a:r>
            <a:r>
              <a:rPr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/usuarios en lugar de /usuario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19"/>
          <p:cNvSpPr txBox="1"/>
          <p:nvPr/>
        </p:nvSpPr>
        <p:spPr>
          <a:xfrm>
            <a:off x="1131442" y="3690956"/>
            <a:ext cx="2098040" cy="56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Consistencia</a:t>
            </a:r>
            <a:r>
              <a:rPr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Mantener convenciones uniformes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3" name="Google Shape;533;p19"/>
          <p:cNvSpPr txBox="1"/>
          <p:nvPr/>
        </p:nvSpPr>
        <p:spPr>
          <a:xfrm>
            <a:off x="1131442" y="4346466"/>
            <a:ext cx="2116455" cy="84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Filtrado, ordenación, paginación</a:t>
            </a:r>
            <a:r>
              <a:rPr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Soportar en colecciones grandes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19"/>
          <p:cNvSpPr txBox="1"/>
          <p:nvPr/>
        </p:nvSpPr>
        <p:spPr>
          <a:xfrm>
            <a:off x="1131442" y="5285440"/>
            <a:ext cx="2407285" cy="56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508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HATEOAS</a:t>
            </a:r>
            <a:r>
              <a:rPr lang="en-US" sz="17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Incluir enlaces para navegabilidad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19"/>
          <p:cNvSpPr txBox="1"/>
          <p:nvPr/>
        </p:nvSpPr>
        <p:spPr>
          <a:xfrm>
            <a:off x="4807616" y="854055"/>
            <a:ext cx="2478405" cy="1109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400">
            <a:spAutoFit/>
          </a:bodyPr>
          <a:lstStyle/>
          <a:p>
            <a:pPr indent="0" lvl="0" marL="2368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Implementación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57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Validación robusta</a:t>
            </a: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Verificar todas las entradas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36" name="Google Shape;536;p19"/>
          <p:cNvGrpSpPr/>
          <p:nvPr/>
        </p:nvGrpSpPr>
        <p:grpSpPr>
          <a:xfrm>
            <a:off x="4643145" y="853439"/>
            <a:ext cx="6387058" cy="5403850"/>
            <a:chOff x="4643145" y="853439"/>
            <a:chExt cx="6387058" cy="5403850"/>
          </a:xfrm>
        </p:grpSpPr>
        <p:sp>
          <p:nvSpPr>
            <p:cNvPr id="537" name="Google Shape;537;p19"/>
            <p:cNvSpPr/>
            <p:nvPr/>
          </p:nvSpPr>
          <p:spPr>
            <a:xfrm>
              <a:off x="4643145" y="2191041"/>
              <a:ext cx="62230" cy="2852420"/>
            </a:xfrm>
            <a:custGeom>
              <a:rect b="b" l="l" r="r" t="t"/>
              <a:pathLst>
                <a:path extrusionOk="0" h="2852420" w="62229">
                  <a:moveTo>
                    <a:pt x="62014" y="2821355"/>
                  </a:moveTo>
                  <a:lnTo>
                    <a:pt x="35115" y="2790342"/>
                  </a:lnTo>
                  <a:lnTo>
                    <a:pt x="26898" y="2790342"/>
                  </a:lnTo>
                  <a:lnTo>
                    <a:pt x="0" y="2817241"/>
                  </a:lnTo>
                  <a:lnTo>
                    <a:pt x="0" y="2825458"/>
                  </a:lnTo>
                  <a:lnTo>
                    <a:pt x="26898" y="2852356"/>
                  </a:lnTo>
                  <a:lnTo>
                    <a:pt x="35115" y="2852356"/>
                  </a:lnTo>
                  <a:lnTo>
                    <a:pt x="62014" y="2821355"/>
                  </a:lnTo>
                  <a:close/>
                </a:path>
                <a:path extrusionOk="0" h="2852420" w="62229">
                  <a:moveTo>
                    <a:pt x="62014" y="2183561"/>
                  </a:moveTo>
                  <a:lnTo>
                    <a:pt x="35115" y="2152548"/>
                  </a:lnTo>
                  <a:lnTo>
                    <a:pt x="26898" y="2152548"/>
                  </a:lnTo>
                  <a:lnTo>
                    <a:pt x="0" y="2179447"/>
                  </a:lnTo>
                  <a:lnTo>
                    <a:pt x="0" y="2187664"/>
                  </a:lnTo>
                  <a:lnTo>
                    <a:pt x="26898" y="2214562"/>
                  </a:lnTo>
                  <a:lnTo>
                    <a:pt x="35115" y="2214562"/>
                  </a:lnTo>
                  <a:lnTo>
                    <a:pt x="62014" y="2183561"/>
                  </a:lnTo>
                  <a:close/>
                </a:path>
                <a:path extrusionOk="0" h="2852420" w="62229">
                  <a:moveTo>
                    <a:pt x="62014" y="1554619"/>
                  </a:moveTo>
                  <a:lnTo>
                    <a:pt x="35115" y="1523619"/>
                  </a:lnTo>
                  <a:lnTo>
                    <a:pt x="26898" y="1523619"/>
                  </a:lnTo>
                  <a:lnTo>
                    <a:pt x="0" y="1550504"/>
                  </a:lnTo>
                  <a:lnTo>
                    <a:pt x="0" y="1558734"/>
                  </a:lnTo>
                  <a:lnTo>
                    <a:pt x="26898" y="1585620"/>
                  </a:lnTo>
                  <a:lnTo>
                    <a:pt x="35115" y="1585620"/>
                  </a:lnTo>
                  <a:lnTo>
                    <a:pt x="62014" y="1554619"/>
                  </a:lnTo>
                  <a:close/>
                </a:path>
                <a:path extrusionOk="0" h="2852420" w="62229">
                  <a:moveTo>
                    <a:pt x="62014" y="659942"/>
                  </a:moveTo>
                  <a:lnTo>
                    <a:pt x="35115" y="628929"/>
                  </a:lnTo>
                  <a:lnTo>
                    <a:pt x="26898" y="628929"/>
                  </a:lnTo>
                  <a:lnTo>
                    <a:pt x="0" y="655828"/>
                  </a:lnTo>
                  <a:lnTo>
                    <a:pt x="0" y="664044"/>
                  </a:lnTo>
                  <a:lnTo>
                    <a:pt x="26898" y="690943"/>
                  </a:lnTo>
                  <a:lnTo>
                    <a:pt x="35115" y="690943"/>
                  </a:lnTo>
                  <a:lnTo>
                    <a:pt x="62014" y="659942"/>
                  </a:lnTo>
                  <a:close/>
                </a:path>
                <a:path extrusionOk="0" h="2852420" w="62229">
                  <a:moveTo>
                    <a:pt x="62014" y="31000"/>
                  </a:moveTo>
                  <a:lnTo>
                    <a:pt x="35115" y="0"/>
                  </a:lnTo>
                  <a:lnTo>
                    <a:pt x="26898" y="0"/>
                  </a:lnTo>
                  <a:lnTo>
                    <a:pt x="0" y="26885"/>
                  </a:lnTo>
                  <a:lnTo>
                    <a:pt x="0" y="35115"/>
                  </a:lnTo>
                  <a:lnTo>
                    <a:pt x="26898" y="62001"/>
                  </a:lnTo>
                  <a:lnTo>
                    <a:pt x="35115" y="62001"/>
                  </a:lnTo>
                  <a:lnTo>
                    <a:pt x="62014" y="31000"/>
                  </a:lnTo>
                  <a:close/>
                </a:path>
              </a:pathLst>
            </a:custGeom>
            <a:solidFill>
              <a:srgbClr val="333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19"/>
            <p:cNvSpPr/>
            <p:nvPr/>
          </p:nvSpPr>
          <p:spPr>
            <a:xfrm>
              <a:off x="7647432" y="853439"/>
              <a:ext cx="168910" cy="5403850"/>
            </a:xfrm>
            <a:custGeom>
              <a:rect b="b" l="l" r="r" t="t"/>
              <a:pathLst>
                <a:path extrusionOk="0" h="5403850" w="168909">
                  <a:moveTo>
                    <a:pt x="168785" y="5403532"/>
                  </a:moveTo>
                  <a:lnTo>
                    <a:pt x="0" y="5403532"/>
                  </a:lnTo>
                  <a:lnTo>
                    <a:pt x="0" y="0"/>
                  </a:lnTo>
                  <a:lnTo>
                    <a:pt x="168782" y="0"/>
                  </a:lnTo>
                  <a:lnTo>
                    <a:pt x="162002" y="1348"/>
                  </a:lnTo>
                  <a:lnTo>
                    <a:pt x="148979" y="6742"/>
                  </a:lnTo>
                  <a:lnTo>
                    <a:pt x="124029" y="39321"/>
                  </a:lnTo>
                  <a:lnTo>
                    <a:pt x="122681" y="46101"/>
                  </a:lnTo>
                  <a:lnTo>
                    <a:pt x="122681" y="5357430"/>
                  </a:lnTo>
                  <a:lnTo>
                    <a:pt x="143232" y="5392948"/>
                  </a:lnTo>
                  <a:lnTo>
                    <a:pt x="162002" y="5402183"/>
                  </a:lnTo>
                  <a:lnTo>
                    <a:pt x="168785" y="5403532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19"/>
            <p:cNvSpPr/>
            <p:nvPr/>
          </p:nvSpPr>
          <p:spPr>
            <a:xfrm>
              <a:off x="7770113" y="853439"/>
              <a:ext cx="3260090" cy="5403850"/>
            </a:xfrm>
            <a:custGeom>
              <a:rect b="b" l="l" r="r" t="t"/>
              <a:pathLst>
                <a:path extrusionOk="0" h="5403850" w="3260090">
                  <a:moveTo>
                    <a:pt x="3259836" y="5403532"/>
                  </a:moveTo>
                  <a:lnTo>
                    <a:pt x="49660" y="5403532"/>
                  </a:lnTo>
                  <a:lnTo>
                    <a:pt x="46203" y="5403192"/>
                  </a:lnTo>
                  <a:lnTo>
                    <a:pt x="10895" y="5382812"/>
                  </a:lnTo>
                  <a:lnTo>
                    <a:pt x="0" y="5353872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60" y="0"/>
                  </a:lnTo>
                  <a:lnTo>
                    <a:pt x="3259836" y="0"/>
                  </a:lnTo>
                  <a:lnTo>
                    <a:pt x="3259836" y="5403532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40" name="Google Shape;54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37041" y="1641823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1" name="Google Shape;541;p19"/>
          <p:cNvSpPr txBox="1"/>
          <p:nvPr/>
        </p:nvSpPr>
        <p:spPr>
          <a:xfrm>
            <a:off x="4807616" y="2052638"/>
            <a:ext cx="2551430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Respuestas de error</a:t>
            </a: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Formato consistente y descriptivo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19"/>
          <p:cNvSpPr txBox="1"/>
          <p:nvPr/>
        </p:nvSpPr>
        <p:spPr>
          <a:xfrm>
            <a:off x="4807616" y="2681573"/>
            <a:ext cx="24696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marR="508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Códigos HTTP</a:t>
            </a: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Usar correctamente (200, 201, 400,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401, 403, 404, 500)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p19"/>
          <p:cNvSpPr txBox="1"/>
          <p:nvPr/>
        </p:nvSpPr>
        <p:spPr>
          <a:xfrm>
            <a:off x="4807616" y="3576257"/>
            <a:ext cx="253174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marR="508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Documentación</a:t>
            </a: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OpenAPI/Swagger actualizada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4" name="Google Shape;544;p19"/>
          <p:cNvSpPr txBox="1"/>
          <p:nvPr/>
        </p:nvSpPr>
        <p:spPr>
          <a:xfrm>
            <a:off x="4807616" y="4205192"/>
            <a:ext cx="2141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marR="508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Rendimiento</a:t>
            </a: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Caché, compresión, optimización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19"/>
          <p:cNvSpPr txBox="1"/>
          <p:nvPr/>
        </p:nvSpPr>
        <p:spPr>
          <a:xfrm>
            <a:off x="4807616" y="4842986"/>
            <a:ext cx="233997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Idempotencia</a:t>
            </a: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Operaciones seguras para repetir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19"/>
          <p:cNvSpPr txBox="1"/>
          <p:nvPr/>
        </p:nvSpPr>
        <p:spPr>
          <a:xfrm>
            <a:off x="8528081" y="815411"/>
            <a:ext cx="252349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225">
            <a:spAutoFit/>
          </a:bodyPr>
          <a:lstStyle/>
          <a:p>
            <a:pPr indent="0" lvl="0" marL="4673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Seguridad</a:t>
            </a:r>
            <a:endParaRPr sz="2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7300"/>
              </a:lnSpc>
              <a:spcBef>
                <a:spcPts val="965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Autenticación/Autorizac 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Implementar correctamen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47" name="Google Shape;547;p19"/>
          <p:cNvGrpSpPr/>
          <p:nvPr/>
        </p:nvGrpSpPr>
        <p:grpSpPr>
          <a:xfrm>
            <a:off x="8337041" y="2385916"/>
            <a:ext cx="70866" cy="3038379"/>
            <a:chOff x="8337041" y="2385916"/>
            <a:chExt cx="70866" cy="3038379"/>
          </a:xfrm>
        </p:grpSpPr>
        <p:pic>
          <p:nvPicPr>
            <p:cNvPr id="548" name="Google Shape;54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37041" y="2385916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9" name="Google Shape;54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37041" y="3130009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0" name="Google Shape;55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37041" y="3874102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1" name="Google Shape;55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37041" y="4609337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37041" y="5353430"/>
              <a:ext cx="70866" cy="70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3" name="Google Shape;553;p19"/>
          <p:cNvSpPr txBox="1"/>
          <p:nvPr/>
        </p:nvSpPr>
        <p:spPr>
          <a:xfrm>
            <a:off x="8528081" y="2227970"/>
            <a:ext cx="2510155" cy="63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marR="5080" rtl="0" algn="l">
              <a:lnSpc>
                <a:spcPct val="104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 limiting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Protección contra abusos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4" name="Google Shape;554;p19"/>
          <p:cNvSpPr txBox="1"/>
          <p:nvPr/>
        </p:nvSpPr>
        <p:spPr>
          <a:xfrm>
            <a:off x="8528081" y="2972063"/>
            <a:ext cx="2131695" cy="63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marR="5080" rtl="0" algn="l">
              <a:lnSpc>
                <a:spcPct val="104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Siempre, sin excepciones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5" name="Google Shape;555;p19"/>
          <p:cNvSpPr txBox="1"/>
          <p:nvPr/>
        </p:nvSpPr>
        <p:spPr>
          <a:xfrm>
            <a:off x="8528081" y="3716156"/>
            <a:ext cx="2171700" cy="63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marR="5080" rtl="0" algn="l">
              <a:lnSpc>
                <a:spcPct val="104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Sanitización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Limpiar entradas y salidas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p19"/>
          <p:cNvSpPr txBox="1"/>
          <p:nvPr/>
        </p:nvSpPr>
        <p:spPr>
          <a:xfrm>
            <a:off x="8528081" y="4451390"/>
            <a:ext cx="2197735" cy="63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marR="5080" rtl="0" algn="l">
              <a:lnSpc>
                <a:spcPct val="104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CORS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Configuración adecuada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7" name="Google Shape;557;p19"/>
          <p:cNvSpPr txBox="1"/>
          <p:nvPr/>
        </p:nvSpPr>
        <p:spPr>
          <a:xfrm>
            <a:off x="8528081" y="5195483"/>
            <a:ext cx="2244725" cy="63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marR="5080" rtl="0" algn="l">
              <a:lnSpc>
                <a:spcPct val="104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Auditoría</a:t>
            </a:r>
            <a:r>
              <a:rPr lang="en-US" sz="19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Logging de accesos y cambios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114299" y="6305549"/>
            <a:ext cx="504825" cy="247650"/>
          </a:xfrm>
          <a:custGeom>
            <a:rect b="b" l="l" r="r" t="t"/>
            <a:pathLst>
              <a:path extrusionOk="0" h="247650" w="504825">
                <a:moveTo>
                  <a:pt x="504824" y="247649"/>
                </a:moveTo>
                <a:lnTo>
                  <a:pt x="0" y="247649"/>
                </a:lnTo>
                <a:lnTo>
                  <a:pt x="0" y="0"/>
                </a:lnTo>
                <a:lnTo>
                  <a:pt x="504824" y="0"/>
                </a:lnTo>
                <a:lnTo>
                  <a:pt x="504824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9" name="Google Shape;559;p19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0"/>
          <p:cNvSpPr txBox="1"/>
          <p:nvPr>
            <p:ph type="title"/>
          </p:nvPr>
        </p:nvSpPr>
        <p:spPr>
          <a:xfrm>
            <a:off x="2866137" y="211690"/>
            <a:ext cx="5697855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977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Conclusiones y Recursos</a:t>
            </a:r>
            <a:endParaRPr/>
          </a:p>
        </p:txBody>
      </p:sp>
      <p:grpSp>
        <p:nvGrpSpPr>
          <p:cNvPr id="565" name="Google Shape;565;p20"/>
          <p:cNvGrpSpPr/>
          <p:nvPr/>
        </p:nvGrpSpPr>
        <p:grpSpPr>
          <a:xfrm>
            <a:off x="400049" y="871156"/>
            <a:ext cx="3629660" cy="5368290"/>
            <a:chOff x="400049" y="871156"/>
            <a:chExt cx="3629660" cy="5368290"/>
          </a:xfrm>
        </p:grpSpPr>
        <p:sp>
          <p:nvSpPr>
            <p:cNvPr id="566" name="Google Shape;566;p20"/>
            <p:cNvSpPr/>
            <p:nvPr/>
          </p:nvSpPr>
          <p:spPr>
            <a:xfrm>
              <a:off x="400049" y="871156"/>
              <a:ext cx="3629660" cy="5368290"/>
            </a:xfrm>
            <a:custGeom>
              <a:rect b="b" l="l" r="r" t="t"/>
              <a:pathLst>
                <a:path extrusionOk="0" h="5368290" w="362966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extrusionOk="0" h="5368290" w="3629660">
                  <a:moveTo>
                    <a:pt x="3629405" y="5368099"/>
                  </a:moveTo>
                  <a:lnTo>
                    <a:pt x="3461763" y="5368099"/>
                  </a:lnTo>
                  <a:lnTo>
                    <a:pt x="3468544" y="5366750"/>
                  </a:lnTo>
                  <a:lnTo>
                    <a:pt x="3481567" y="5361355"/>
                  </a:lnTo>
                  <a:lnTo>
                    <a:pt x="3506517" y="5328776"/>
                  </a:lnTo>
                  <a:lnTo>
                    <a:pt x="3507866" y="5321997"/>
                  </a:lnTo>
                  <a:lnTo>
                    <a:pt x="3507866" y="46101"/>
                  </a:lnTo>
                  <a:lnTo>
                    <a:pt x="3487315" y="10583"/>
                  </a:lnTo>
                  <a:lnTo>
                    <a:pt x="3461765" y="0"/>
                  </a:lnTo>
                  <a:lnTo>
                    <a:pt x="3629405" y="0"/>
                  </a:lnTo>
                  <a:lnTo>
                    <a:pt x="3629405" y="5368099"/>
                  </a:lnTo>
                  <a:close/>
                </a:path>
                <a:path extrusionOk="0" h="5368290" w="3629660">
                  <a:moveTo>
                    <a:pt x="46102" y="5368099"/>
                  </a:moveTo>
                  <a:lnTo>
                    <a:pt x="0" y="5368099"/>
                  </a:lnTo>
                  <a:lnTo>
                    <a:pt x="0" y="5321997"/>
                  </a:lnTo>
                  <a:lnTo>
                    <a:pt x="1348" y="5328776"/>
                  </a:lnTo>
                  <a:lnTo>
                    <a:pt x="6742" y="5341799"/>
                  </a:lnTo>
                  <a:lnTo>
                    <a:pt x="10583" y="5347547"/>
                  </a:lnTo>
                  <a:lnTo>
                    <a:pt x="20550" y="5357515"/>
                  </a:lnTo>
                  <a:lnTo>
                    <a:pt x="26298" y="5361355"/>
                  </a:lnTo>
                  <a:lnTo>
                    <a:pt x="39321" y="5366750"/>
                  </a:lnTo>
                  <a:lnTo>
                    <a:pt x="46102" y="5368099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400049" y="871156"/>
              <a:ext cx="3508375" cy="5368290"/>
            </a:xfrm>
            <a:custGeom>
              <a:rect b="b" l="l" r="r" t="t"/>
              <a:pathLst>
                <a:path extrusionOk="0" h="5368290" w="3508375">
                  <a:moveTo>
                    <a:pt x="3458207" y="5368099"/>
                  </a:moveTo>
                  <a:lnTo>
                    <a:pt x="49659" y="5368099"/>
                  </a:lnTo>
                  <a:lnTo>
                    <a:pt x="46203" y="5367758"/>
                  </a:lnTo>
                  <a:lnTo>
                    <a:pt x="10896" y="5347379"/>
                  </a:lnTo>
                  <a:lnTo>
                    <a:pt x="0" y="5318439"/>
                  </a:lnTo>
                  <a:lnTo>
                    <a:pt x="0" y="5314949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3458207" y="0"/>
                  </a:lnTo>
                  <a:lnTo>
                    <a:pt x="3494767" y="18034"/>
                  </a:lnTo>
                  <a:lnTo>
                    <a:pt x="3507866" y="49659"/>
                  </a:lnTo>
                  <a:lnTo>
                    <a:pt x="3507866" y="5318439"/>
                  </a:lnTo>
                  <a:lnTo>
                    <a:pt x="3489831" y="5354999"/>
                  </a:lnTo>
                  <a:lnTo>
                    <a:pt x="3461663" y="5367758"/>
                  </a:lnTo>
                  <a:lnTo>
                    <a:pt x="3458207" y="5368099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958119" y="1570957"/>
              <a:ext cx="62230" cy="62230"/>
            </a:xfrm>
            <a:custGeom>
              <a:rect b="b" l="l" r="r" t="t"/>
              <a:pathLst>
                <a:path extrusionOk="0" h="62230" w="62230">
                  <a:moveTo>
                    <a:pt x="35115" y="62007"/>
                  </a:moveTo>
                  <a:lnTo>
                    <a:pt x="26892" y="62007"/>
                  </a:lnTo>
                  <a:lnTo>
                    <a:pt x="22937" y="61220"/>
                  </a:lnTo>
                  <a:lnTo>
                    <a:pt x="0" y="35115"/>
                  </a:lnTo>
                  <a:lnTo>
                    <a:pt x="0" y="26892"/>
                  </a:lnTo>
                  <a:lnTo>
                    <a:pt x="26892" y="0"/>
                  </a:lnTo>
                  <a:lnTo>
                    <a:pt x="35115" y="0"/>
                  </a:lnTo>
                  <a:lnTo>
                    <a:pt x="62007" y="31003"/>
                  </a:lnTo>
                  <a:lnTo>
                    <a:pt x="62007" y="35115"/>
                  </a:lnTo>
                  <a:lnTo>
                    <a:pt x="35115" y="62007"/>
                  </a:lnTo>
                  <a:close/>
                </a:path>
              </a:pathLst>
            </a:custGeom>
            <a:solidFill>
              <a:srgbClr val="333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69" name="Google Shape;569;p20"/>
          <p:cNvSpPr txBox="1"/>
          <p:nvPr/>
        </p:nvSpPr>
        <p:spPr>
          <a:xfrm>
            <a:off x="1122584" y="870339"/>
            <a:ext cx="2526030" cy="137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4300">
            <a:spAutoFit/>
          </a:bodyPr>
          <a:lstStyle/>
          <a:p>
            <a:pPr indent="0" lvl="0" marL="575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5700"/>
              </a:lnSpc>
              <a:spcBef>
                <a:spcPts val="835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APIs son fundamentales para la integración de sistemas modernos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70" name="Google Shape;570;p20"/>
          <p:cNvGrpSpPr/>
          <p:nvPr/>
        </p:nvGrpSpPr>
        <p:grpSpPr>
          <a:xfrm>
            <a:off x="958113" y="871156"/>
            <a:ext cx="10071963" cy="5368290"/>
            <a:chOff x="958113" y="871156"/>
            <a:chExt cx="10071963" cy="5368290"/>
          </a:xfrm>
        </p:grpSpPr>
        <p:sp>
          <p:nvSpPr>
            <p:cNvPr id="571" name="Google Shape;571;p20"/>
            <p:cNvSpPr/>
            <p:nvPr/>
          </p:nvSpPr>
          <p:spPr>
            <a:xfrm>
              <a:off x="958113" y="2465641"/>
              <a:ext cx="62230" cy="2755265"/>
            </a:xfrm>
            <a:custGeom>
              <a:rect b="b" l="l" r="r" t="t"/>
              <a:pathLst>
                <a:path extrusionOk="0" h="2755265" w="62230">
                  <a:moveTo>
                    <a:pt x="62014" y="2723921"/>
                  </a:moveTo>
                  <a:lnTo>
                    <a:pt x="35115" y="2692908"/>
                  </a:lnTo>
                  <a:lnTo>
                    <a:pt x="26898" y="2692908"/>
                  </a:lnTo>
                  <a:lnTo>
                    <a:pt x="0" y="2719806"/>
                  </a:lnTo>
                  <a:lnTo>
                    <a:pt x="0" y="2728023"/>
                  </a:lnTo>
                  <a:lnTo>
                    <a:pt x="26898" y="2754922"/>
                  </a:lnTo>
                  <a:lnTo>
                    <a:pt x="35115" y="2754922"/>
                  </a:lnTo>
                  <a:lnTo>
                    <a:pt x="62014" y="2723921"/>
                  </a:lnTo>
                  <a:close/>
                </a:path>
                <a:path extrusionOk="0" h="2755265" w="62230">
                  <a:moveTo>
                    <a:pt x="62014" y="1829231"/>
                  </a:moveTo>
                  <a:lnTo>
                    <a:pt x="35115" y="1798231"/>
                  </a:lnTo>
                  <a:lnTo>
                    <a:pt x="26898" y="1798231"/>
                  </a:lnTo>
                  <a:lnTo>
                    <a:pt x="0" y="1825117"/>
                  </a:lnTo>
                  <a:lnTo>
                    <a:pt x="0" y="1833346"/>
                  </a:lnTo>
                  <a:lnTo>
                    <a:pt x="26898" y="1860232"/>
                  </a:lnTo>
                  <a:lnTo>
                    <a:pt x="35115" y="1860232"/>
                  </a:lnTo>
                  <a:lnTo>
                    <a:pt x="62014" y="1829231"/>
                  </a:lnTo>
                  <a:close/>
                </a:path>
                <a:path extrusionOk="0" h="2755265" w="62230">
                  <a:moveTo>
                    <a:pt x="62014" y="668807"/>
                  </a:moveTo>
                  <a:lnTo>
                    <a:pt x="35115" y="637794"/>
                  </a:lnTo>
                  <a:lnTo>
                    <a:pt x="26898" y="637794"/>
                  </a:lnTo>
                  <a:lnTo>
                    <a:pt x="0" y="664692"/>
                  </a:lnTo>
                  <a:lnTo>
                    <a:pt x="0" y="672909"/>
                  </a:lnTo>
                  <a:lnTo>
                    <a:pt x="26898" y="699808"/>
                  </a:lnTo>
                  <a:lnTo>
                    <a:pt x="35115" y="699808"/>
                  </a:lnTo>
                  <a:lnTo>
                    <a:pt x="62014" y="668807"/>
                  </a:lnTo>
                  <a:close/>
                </a:path>
                <a:path extrusionOk="0" h="2755265" w="62230">
                  <a:moveTo>
                    <a:pt x="62014" y="31013"/>
                  </a:moveTo>
                  <a:lnTo>
                    <a:pt x="35115" y="0"/>
                  </a:lnTo>
                  <a:lnTo>
                    <a:pt x="26898" y="0"/>
                  </a:lnTo>
                  <a:lnTo>
                    <a:pt x="0" y="26898"/>
                  </a:lnTo>
                  <a:lnTo>
                    <a:pt x="0" y="35115"/>
                  </a:lnTo>
                  <a:lnTo>
                    <a:pt x="26898" y="62014"/>
                  </a:lnTo>
                  <a:lnTo>
                    <a:pt x="35115" y="62014"/>
                  </a:lnTo>
                  <a:lnTo>
                    <a:pt x="62014" y="31013"/>
                  </a:lnTo>
                  <a:close/>
                </a:path>
              </a:pathLst>
            </a:custGeom>
            <a:solidFill>
              <a:srgbClr val="333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3962399" y="871156"/>
              <a:ext cx="168910" cy="5368290"/>
            </a:xfrm>
            <a:custGeom>
              <a:rect b="b" l="l" r="r" t="t"/>
              <a:pathLst>
                <a:path extrusionOk="0" h="5368290" w="168910">
                  <a:moveTo>
                    <a:pt x="168784" y="5368099"/>
                  </a:moveTo>
                  <a:lnTo>
                    <a:pt x="0" y="5368099"/>
                  </a:lnTo>
                  <a:lnTo>
                    <a:pt x="0" y="0"/>
                  </a:lnTo>
                  <a:lnTo>
                    <a:pt x="168782" y="0"/>
                  </a:lnTo>
                  <a:lnTo>
                    <a:pt x="162003" y="1348"/>
                  </a:lnTo>
                  <a:lnTo>
                    <a:pt x="148979" y="6742"/>
                  </a:lnTo>
                  <a:lnTo>
                    <a:pt x="124030" y="39321"/>
                  </a:lnTo>
                  <a:lnTo>
                    <a:pt x="122681" y="46101"/>
                  </a:lnTo>
                  <a:lnTo>
                    <a:pt x="122681" y="5321997"/>
                  </a:lnTo>
                  <a:lnTo>
                    <a:pt x="143232" y="5357515"/>
                  </a:lnTo>
                  <a:lnTo>
                    <a:pt x="162003" y="5366750"/>
                  </a:lnTo>
                  <a:lnTo>
                    <a:pt x="168784" y="5368099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4085081" y="871156"/>
              <a:ext cx="6944995" cy="5368290"/>
            </a:xfrm>
            <a:custGeom>
              <a:rect b="b" l="l" r="r" t="t"/>
              <a:pathLst>
                <a:path extrusionOk="0" h="5368290" w="6944995">
                  <a:moveTo>
                    <a:pt x="6944868" y="5368099"/>
                  </a:moveTo>
                  <a:lnTo>
                    <a:pt x="49659" y="5368099"/>
                  </a:lnTo>
                  <a:lnTo>
                    <a:pt x="46203" y="5367759"/>
                  </a:lnTo>
                  <a:lnTo>
                    <a:pt x="10895" y="5347379"/>
                  </a:lnTo>
                  <a:lnTo>
                    <a:pt x="0" y="5318440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6944868" y="0"/>
                  </a:lnTo>
                  <a:lnTo>
                    <a:pt x="6944868" y="5368099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74" name="Google Shape;574;p20"/>
          <p:cNvSpPr txBox="1"/>
          <p:nvPr/>
        </p:nvSpPr>
        <p:spPr>
          <a:xfrm>
            <a:off x="1122584" y="2328019"/>
            <a:ext cx="2152650" cy="547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12700" marR="508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seguridad debe ser una prioridad desde el diseño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20"/>
          <p:cNvSpPr txBox="1"/>
          <p:nvPr/>
        </p:nvSpPr>
        <p:spPr>
          <a:xfrm>
            <a:off x="1122584" y="2965813"/>
            <a:ext cx="2464435" cy="1070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2700" marR="5080" rtl="0"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manejo adecuado de datos JSON y respuestas asíncronas mejora la experiencia del usuario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6" name="Google Shape;576;p20"/>
          <p:cNvSpPr txBox="1"/>
          <p:nvPr/>
        </p:nvSpPr>
        <p:spPr>
          <a:xfrm>
            <a:off x="1122584" y="4126244"/>
            <a:ext cx="2588895" cy="80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5080" rtl="0" algn="l">
              <a:lnSpc>
                <a:spcPct val="103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patrones modernos (async/await, promesas) simplifican el código asíncrono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20"/>
          <p:cNvSpPr txBox="1"/>
          <p:nvPr/>
        </p:nvSpPr>
        <p:spPr>
          <a:xfrm>
            <a:off x="1122584" y="5020927"/>
            <a:ext cx="2571115" cy="813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12700" marR="5080" rtl="0" algn="l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manipulación eficiente del DOM es crucial para interfaces dinámicas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8" name="Google Shape;578;p20"/>
          <p:cNvSpPr txBox="1"/>
          <p:nvPr/>
        </p:nvSpPr>
        <p:spPr>
          <a:xfrm>
            <a:off x="6605010" y="880969"/>
            <a:ext cx="2082164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35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B3D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Recursos adicionales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7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Documentación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4643145" y="1996160"/>
            <a:ext cx="62230" cy="3676650"/>
          </a:xfrm>
          <a:custGeom>
            <a:rect b="b" l="l" r="r" t="t"/>
            <a:pathLst>
              <a:path extrusionOk="0" h="3676650" w="62229">
                <a:moveTo>
                  <a:pt x="62014" y="3645166"/>
                </a:moveTo>
                <a:lnTo>
                  <a:pt x="35115" y="3614166"/>
                </a:lnTo>
                <a:lnTo>
                  <a:pt x="26898" y="3614166"/>
                </a:lnTo>
                <a:lnTo>
                  <a:pt x="0" y="3641052"/>
                </a:lnTo>
                <a:lnTo>
                  <a:pt x="0" y="3649281"/>
                </a:lnTo>
                <a:lnTo>
                  <a:pt x="26898" y="3676167"/>
                </a:lnTo>
                <a:lnTo>
                  <a:pt x="35115" y="3676167"/>
                </a:lnTo>
                <a:lnTo>
                  <a:pt x="62014" y="3645166"/>
                </a:lnTo>
                <a:close/>
              </a:path>
              <a:path extrusionOk="0" h="3676650" w="62229">
                <a:moveTo>
                  <a:pt x="62014" y="3273120"/>
                </a:moveTo>
                <a:lnTo>
                  <a:pt x="35115" y="3242119"/>
                </a:lnTo>
                <a:lnTo>
                  <a:pt x="26898" y="3242119"/>
                </a:lnTo>
                <a:lnTo>
                  <a:pt x="0" y="3269005"/>
                </a:lnTo>
                <a:lnTo>
                  <a:pt x="0" y="3277235"/>
                </a:lnTo>
                <a:lnTo>
                  <a:pt x="26898" y="3304121"/>
                </a:lnTo>
                <a:lnTo>
                  <a:pt x="35115" y="3304121"/>
                </a:lnTo>
                <a:lnTo>
                  <a:pt x="62014" y="3273120"/>
                </a:lnTo>
                <a:close/>
              </a:path>
              <a:path extrusionOk="0" h="3676650" w="62229">
                <a:moveTo>
                  <a:pt x="62014" y="2387295"/>
                </a:moveTo>
                <a:lnTo>
                  <a:pt x="35115" y="2356294"/>
                </a:lnTo>
                <a:lnTo>
                  <a:pt x="26898" y="2356294"/>
                </a:lnTo>
                <a:lnTo>
                  <a:pt x="0" y="2383180"/>
                </a:lnTo>
                <a:lnTo>
                  <a:pt x="0" y="2391410"/>
                </a:lnTo>
                <a:lnTo>
                  <a:pt x="26898" y="2418296"/>
                </a:lnTo>
                <a:lnTo>
                  <a:pt x="35115" y="2418296"/>
                </a:lnTo>
                <a:lnTo>
                  <a:pt x="62014" y="2387295"/>
                </a:lnTo>
                <a:close/>
              </a:path>
              <a:path extrusionOk="0" h="3676650" w="62229">
                <a:moveTo>
                  <a:pt x="62014" y="2015248"/>
                </a:moveTo>
                <a:lnTo>
                  <a:pt x="35115" y="1984248"/>
                </a:lnTo>
                <a:lnTo>
                  <a:pt x="26898" y="1984248"/>
                </a:lnTo>
                <a:lnTo>
                  <a:pt x="0" y="2011133"/>
                </a:lnTo>
                <a:lnTo>
                  <a:pt x="0" y="2019363"/>
                </a:lnTo>
                <a:lnTo>
                  <a:pt x="26898" y="2046249"/>
                </a:lnTo>
                <a:lnTo>
                  <a:pt x="35115" y="2046249"/>
                </a:lnTo>
                <a:lnTo>
                  <a:pt x="62014" y="2015248"/>
                </a:lnTo>
                <a:close/>
              </a:path>
              <a:path extrusionOk="0" h="3676650" w="62229">
                <a:moveTo>
                  <a:pt x="62014" y="1652066"/>
                </a:moveTo>
                <a:lnTo>
                  <a:pt x="35115" y="1621053"/>
                </a:lnTo>
                <a:lnTo>
                  <a:pt x="26898" y="1621053"/>
                </a:lnTo>
                <a:lnTo>
                  <a:pt x="0" y="1647952"/>
                </a:lnTo>
                <a:lnTo>
                  <a:pt x="0" y="1656168"/>
                </a:lnTo>
                <a:lnTo>
                  <a:pt x="26898" y="1683067"/>
                </a:lnTo>
                <a:lnTo>
                  <a:pt x="35115" y="1683067"/>
                </a:lnTo>
                <a:lnTo>
                  <a:pt x="62014" y="1652066"/>
                </a:lnTo>
                <a:close/>
              </a:path>
              <a:path extrusionOk="0" h="3676650" w="62229">
                <a:moveTo>
                  <a:pt x="62014" y="757377"/>
                </a:moveTo>
                <a:lnTo>
                  <a:pt x="35115" y="726376"/>
                </a:lnTo>
                <a:lnTo>
                  <a:pt x="26898" y="726376"/>
                </a:lnTo>
                <a:lnTo>
                  <a:pt x="0" y="753262"/>
                </a:lnTo>
                <a:lnTo>
                  <a:pt x="0" y="761492"/>
                </a:lnTo>
                <a:lnTo>
                  <a:pt x="26898" y="788377"/>
                </a:lnTo>
                <a:lnTo>
                  <a:pt x="35115" y="788377"/>
                </a:lnTo>
                <a:lnTo>
                  <a:pt x="62014" y="757377"/>
                </a:lnTo>
                <a:close/>
              </a:path>
              <a:path extrusionOk="0" h="3676650" w="62229">
                <a:moveTo>
                  <a:pt x="62014" y="394195"/>
                </a:moveTo>
                <a:lnTo>
                  <a:pt x="35115" y="363181"/>
                </a:lnTo>
                <a:lnTo>
                  <a:pt x="26898" y="363181"/>
                </a:lnTo>
                <a:lnTo>
                  <a:pt x="0" y="390080"/>
                </a:lnTo>
                <a:lnTo>
                  <a:pt x="0" y="398297"/>
                </a:lnTo>
                <a:lnTo>
                  <a:pt x="26898" y="425196"/>
                </a:lnTo>
                <a:lnTo>
                  <a:pt x="35115" y="425196"/>
                </a:lnTo>
                <a:lnTo>
                  <a:pt x="62014" y="394195"/>
                </a:lnTo>
                <a:close/>
              </a:path>
              <a:path extrusionOk="0" h="3676650" w="62229">
                <a:moveTo>
                  <a:pt x="62014" y="31000"/>
                </a:moveTo>
                <a:lnTo>
                  <a:pt x="35115" y="0"/>
                </a:lnTo>
                <a:lnTo>
                  <a:pt x="26898" y="0"/>
                </a:lnTo>
                <a:lnTo>
                  <a:pt x="0" y="26885"/>
                </a:lnTo>
                <a:lnTo>
                  <a:pt x="0" y="35115"/>
                </a:lnTo>
                <a:lnTo>
                  <a:pt x="26898" y="62001"/>
                </a:lnTo>
                <a:lnTo>
                  <a:pt x="35115" y="62001"/>
                </a:lnTo>
                <a:lnTo>
                  <a:pt x="62014" y="31000"/>
                </a:lnTo>
                <a:close/>
              </a:path>
            </a:pathLst>
          </a:custGeom>
          <a:solidFill>
            <a:srgbClr val="333A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0" name="Google Shape;580;p20"/>
          <p:cNvSpPr txBox="1"/>
          <p:nvPr/>
        </p:nvSpPr>
        <p:spPr>
          <a:xfrm>
            <a:off x="7084601" y="3045538"/>
            <a:ext cx="112331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7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Herramientas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1" name="Google Shape;581;p20"/>
          <p:cNvSpPr txBox="1"/>
          <p:nvPr/>
        </p:nvSpPr>
        <p:spPr>
          <a:xfrm>
            <a:off x="4807616" y="3479592"/>
            <a:ext cx="354584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Postman, Swagger, Insomnia (Testing API)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2" name="Google Shape;582;p20"/>
          <p:cNvSpPr txBox="1"/>
          <p:nvPr/>
        </p:nvSpPr>
        <p:spPr>
          <a:xfrm>
            <a:off x="4807616" y="3842780"/>
            <a:ext cx="297370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ESLint, Prettier (Calidad de código)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3" name="Google Shape;583;p20"/>
          <p:cNvSpPr txBox="1"/>
          <p:nvPr/>
        </p:nvSpPr>
        <p:spPr>
          <a:xfrm>
            <a:off x="4807616" y="4214827"/>
            <a:ext cx="311404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OWASP ZAP, Burp Suite (Seguridad)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p20"/>
          <p:cNvSpPr txBox="1"/>
          <p:nvPr/>
        </p:nvSpPr>
        <p:spPr>
          <a:xfrm>
            <a:off x="6869374" y="4675456"/>
            <a:ext cx="155384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7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Cursos y tutoriales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20"/>
          <p:cNvSpPr txBox="1"/>
          <p:nvPr/>
        </p:nvSpPr>
        <p:spPr>
          <a:xfrm>
            <a:off x="4807616" y="1858532"/>
            <a:ext cx="138620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u="sng">
                <a:solidFill>
                  <a:srgbClr val="50483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MDN Web Docs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20"/>
          <p:cNvSpPr txBox="1"/>
          <p:nvPr/>
        </p:nvSpPr>
        <p:spPr>
          <a:xfrm>
            <a:off x="4807616" y="2221720"/>
            <a:ext cx="158178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u="sng">
                <a:solidFill>
                  <a:srgbClr val="50483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OpenAPI Initiative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20"/>
          <p:cNvSpPr txBox="1"/>
          <p:nvPr/>
        </p:nvSpPr>
        <p:spPr>
          <a:xfrm>
            <a:off x="4807616" y="2584908"/>
            <a:ext cx="6159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u="sng">
                <a:solidFill>
                  <a:srgbClr val="50483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JWT.io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" name="Google Shape;588;p20"/>
          <p:cNvSpPr txBox="1"/>
          <p:nvPr/>
        </p:nvSpPr>
        <p:spPr>
          <a:xfrm>
            <a:off x="4807616" y="5100651"/>
            <a:ext cx="173482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MDN: </a:t>
            </a:r>
            <a:r>
              <a:rPr lang="en-US" sz="1650" u="sng">
                <a:solidFill>
                  <a:srgbClr val="50483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Usando Fetch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20"/>
          <p:cNvSpPr txBox="1"/>
          <p:nvPr/>
        </p:nvSpPr>
        <p:spPr>
          <a:xfrm>
            <a:off x="4807616" y="5472698"/>
            <a:ext cx="249872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OWASP: </a:t>
            </a:r>
            <a:r>
              <a:rPr lang="en-US" sz="1650" u="sng">
                <a:solidFill>
                  <a:srgbClr val="50483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API Security Project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114299" y="6305549"/>
            <a:ext cx="504825" cy="247650"/>
          </a:xfrm>
          <a:custGeom>
            <a:rect b="b" l="l" r="r" t="t"/>
            <a:pathLst>
              <a:path extrusionOk="0" h="247650" w="504825">
                <a:moveTo>
                  <a:pt x="504824" y="247649"/>
                </a:moveTo>
                <a:lnTo>
                  <a:pt x="0" y="247649"/>
                </a:lnTo>
                <a:lnTo>
                  <a:pt x="0" y="0"/>
                </a:lnTo>
                <a:lnTo>
                  <a:pt x="504824" y="0"/>
                </a:lnTo>
                <a:lnTo>
                  <a:pt x="504824" y="247649"/>
                </a:lnTo>
                <a:close/>
              </a:path>
            </a:pathLst>
          </a:custGeom>
          <a:solidFill>
            <a:srgbClr val="000000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1" name="Google Shape;591;p20"/>
          <p:cNvSpPr txBox="1"/>
          <p:nvPr>
            <p:ph idx="12" type="sldNum"/>
          </p:nvPr>
        </p:nvSpPr>
        <p:spPr>
          <a:xfrm>
            <a:off x="123824" y="6362426"/>
            <a:ext cx="458470" cy="109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1"/>
          <p:cNvSpPr txBox="1"/>
          <p:nvPr/>
        </p:nvSpPr>
        <p:spPr>
          <a:xfrm>
            <a:off x="419100" y="2117725"/>
            <a:ext cx="10591800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br>
              <a:rPr b="0" lang="en-US" sz="1800"/>
            </a:br>
            <a:r>
              <a:rPr b="1" i="0" lang="en-US" sz="5400" u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¡GRACIAS POR SU ATENCIÓN!</a:t>
            </a:r>
            <a:endParaRPr b="0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br>
              <a:rPr b="0" lang="en-US" sz="1800"/>
            </a:br>
            <a:r>
              <a:rPr b="0" i="0" lang="en-US" sz="4800" u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DUDAS</a:t>
            </a:r>
            <a:endParaRPr b="0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br>
              <a:rPr b="0" lang="en-US" sz="1800"/>
            </a:br>
            <a:r>
              <a:rPr b="0" i="0" lang="en-US" sz="1800" u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RECUERDA QUE TENEMOS NUESTRO FORO SEMANAL DONDE PUEDES CONSULTAR CUALQUIER DUDA QUE TE SURJA EN LA SEMANA</a:t>
            </a:r>
            <a:endParaRPr b="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br>
              <a:rPr lang="en-US" sz="1800"/>
            </a:br>
            <a:endParaRPr sz="1800"/>
          </a:p>
        </p:txBody>
      </p:sp>
      <p:sp>
        <p:nvSpPr>
          <p:cNvPr id="598" name="Google Shape;598;p21"/>
          <p:cNvSpPr txBox="1"/>
          <p:nvPr/>
        </p:nvSpPr>
        <p:spPr>
          <a:xfrm>
            <a:off x="2857500" y="3153846"/>
            <a:ext cx="5715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/>
              <a:t> </a:t>
            </a:r>
            <a:endParaRPr sz="1800"/>
          </a:p>
        </p:txBody>
      </p:sp>
      <p:pic>
        <p:nvPicPr>
          <p:cNvPr id="599" name="Google Shape;5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0200" y="31750"/>
            <a:ext cx="1933919" cy="2359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0483C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2025-05-25T19:24:24Z</dcterms:created>
  <dc:creator>Piter Angel Valiente de León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2025-05-25T00:00:00Z</vt:filetime>
  </property>
  <property fmtid="{D5CDD505-2E9C-101B-9397-08002B2CF9AE}" pid="3" name="Creator">
    <vt:lpwstr>Decktape</vt:lpwstr>
  </property>
  <property fmtid="{D5CDD505-2E9C-101B-9397-08002B2CF9AE}" pid="4" name="LastSaved">
    <vt:filetime>2025-05-25T00:00:00Z</vt:filetime>
  </property>
  <property fmtid="{D5CDD505-2E9C-101B-9397-08002B2CF9AE}" pid="5" name="Producer">
    <vt:lpwstr>pdf-lib (https://github.com/Hopding/pdf-lib)</vt:lpwstr>
  </property>
</Properties>
</file>