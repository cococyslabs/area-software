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5143500" cy="9144000"/>
  <p:embeddedFontLst>
    <p:embeddedFont>
      <p:font typeface="Open Sans"/>
      <p:bold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jmVLEtItdaB/4PWmQ+yQDN9fZa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3549C7-B08B-4592-B5D9-C0235132A907}">
  <a:tblStyle styleId="{F43549C7-B08B-4592-B5D9-C0235132A90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OpenSans-bold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9aa8999975_0_166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9aa8999975_0_166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aa8999975_0_258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9aa8999975_0_258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3" name="Google Shape;423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7" name="Google Shape;467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2" name="Google Shape;502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9" name="Google Shape;549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0" name="Google Shape;590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3" name="Google Shape;643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5" name="Google Shape;685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6" name="Google Shape;726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6" name="Google Shape;756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3" name="Google Shape;773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8" name="Google Shape;808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39aa8999975_0_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g39aa8999975_0_0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9aa8999975_0_87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g39aa8999975_0_87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1" name="Google Shape;831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9pPr>
          </a:lstStyle>
          <a:p/>
        </p:txBody>
      </p:sp>
      <p:sp>
        <p:nvSpPr>
          <p:cNvPr id="8" name="Google Shape;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9aa8999975_0_8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3" name="Google Shape;13;g39aa8999975_0_8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4" name="Google Shape;14;g39aa8999975_0_8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/>
            </a:lvl1pPr>
            <a:lvl2pPr indent="0" lvl="1" marL="0" algn="r">
              <a:spcBef>
                <a:spcPts val="0"/>
              </a:spcBef>
              <a:buNone/>
              <a:defRPr sz="700"/>
            </a:lvl2pPr>
            <a:lvl3pPr indent="0" lvl="2" marL="0" algn="r">
              <a:spcBef>
                <a:spcPts val="0"/>
              </a:spcBef>
              <a:buNone/>
              <a:defRPr sz="700"/>
            </a:lvl3pPr>
            <a:lvl4pPr indent="0" lvl="3" marL="0" algn="r">
              <a:spcBef>
                <a:spcPts val="0"/>
              </a:spcBef>
              <a:buNone/>
              <a:defRPr sz="700"/>
            </a:lvl4pPr>
            <a:lvl5pPr indent="0" lvl="4" marL="0" algn="r">
              <a:spcBef>
                <a:spcPts val="0"/>
              </a:spcBef>
              <a:buNone/>
              <a:defRPr sz="700"/>
            </a:lvl5pPr>
            <a:lvl6pPr indent="0" lvl="5" marL="0" algn="r">
              <a:spcBef>
                <a:spcPts val="0"/>
              </a:spcBef>
              <a:buNone/>
              <a:defRPr sz="700"/>
            </a:lvl6pPr>
            <a:lvl7pPr indent="0" lvl="6" marL="0" algn="r">
              <a:spcBef>
                <a:spcPts val="0"/>
              </a:spcBef>
              <a:buNone/>
              <a:defRPr sz="700"/>
            </a:lvl7pPr>
            <a:lvl8pPr indent="0" lvl="7" marL="0" algn="r">
              <a:spcBef>
                <a:spcPts val="0"/>
              </a:spcBef>
              <a:buNone/>
              <a:defRPr sz="700"/>
            </a:lvl8pPr>
            <a:lvl9pPr indent="0" lvl="8" marL="0" algn="r">
              <a:spcBef>
                <a:spcPts val="0"/>
              </a:spcBef>
              <a:buNone/>
              <a:defRPr sz="7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" name="Google Shape;20;p1"/>
          <p:cNvGraphicFramePr/>
          <p:nvPr/>
        </p:nvGraphicFramePr>
        <p:xfrm>
          <a:off x="5328201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{F43549C7-B08B-4592-B5D9-C0235132A907}</a:tableStyleId>
              </a:tblPr>
              <a:tblGrid>
                <a:gridCol w="1518200"/>
                <a:gridCol w="2172375"/>
              </a:tblGrid>
              <a:tr h="4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2"/>
                          </a:solidFill>
                        </a:rPr>
                        <a:t>Día, Fecha: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700" u="none" cap="none" strike="noStrike"/>
                        <a:t>Martes, 14/04/2026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2"/>
                          </a:solidFill>
                        </a:rPr>
                        <a:t>Hora de inicio: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17:20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" name="Google Shape;21;p1"/>
          <p:cNvSpPr/>
          <p:nvPr/>
        </p:nvSpPr>
        <p:spPr>
          <a:xfrm>
            <a:off x="2185886" y="2994338"/>
            <a:ext cx="3682500" cy="36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LUIS ANTONIO CASTILLO JAVIER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545463" y="2390625"/>
            <a:ext cx="5071200" cy="36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INTRODUCCIÓN A LA PROGRAMACIÓN Y COMPUTACIÓN 2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Unidad 7: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JSON en C# y ASP.NET Core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2148840"/>
            <a:ext cx="80467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JavaScript Object Notation con System.Text.Json &amp; Newtonsoft.Json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315468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Escuela de Ingeniería de Ciencias y Sistemas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Facultad de Ingeniería – Universidad de San Carlos de Guatemala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9aa8999975_0_166"/>
          <p:cNvSpPr/>
          <p:nvPr/>
        </p:nvSpPr>
        <p:spPr>
          <a:xfrm>
            <a:off x="2343568" y="1246386"/>
            <a:ext cx="4716047" cy="3382765"/>
          </a:xfrm>
          <a:custGeom>
            <a:rect b="b" l="l" r="r" t="t"/>
            <a:pathLst>
              <a:path extrusionOk="0" h="6765529" w="9432094">
                <a:moveTo>
                  <a:pt x="0" y="0"/>
                </a:moveTo>
                <a:lnTo>
                  <a:pt x="9432093" y="0"/>
                </a:lnTo>
                <a:lnTo>
                  <a:pt x="9432093" y="6765529"/>
                </a:lnTo>
                <a:lnTo>
                  <a:pt x="0" y="67655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" name="Google Shape;38;g39aa8999975_0_166"/>
          <p:cNvSpPr/>
          <p:nvPr/>
        </p:nvSpPr>
        <p:spPr>
          <a:xfrm>
            <a:off x="1985714" y="306419"/>
            <a:ext cx="5650630" cy="1144253"/>
          </a:xfrm>
          <a:custGeom>
            <a:rect b="b" l="l" r="r" t="t"/>
            <a:pathLst>
              <a:path extrusionOk="0" h="2288505" w="11301259">
                <a:moveTo>
                  <a:pt x="0" y="0"/>
                </a:moveTo>
                <a:lnTo>
                  <a:pt x="11301259" y="0"/>
                </a:lnTo>
                <a:lnTo>
                  <a:pt x="11301259" y="2288505"/>
                </a:lnTo>
                <a:lnTo>
                  <a:pt x="0" y="2288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" name="Google Shape;39;g39aa8999975_0_166"/>
          <p:cNvSpPr/>
          <p:nvPr/>
        </p:nvSpPr>
        <p:spPr>
          <a:xfrm>
            <a:off x="157446" y="1450671"/>
            <a:ext cx="2480817" cy="2480817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" name="Google Shape;40;g39aa8999975_0_166"/>
          <p:cNvSpPr/>
          <p:nvPr/>
        </p:nvSpPr>
        <p:spPr>
          <a:xfrm>
            <a:off x="2638262" y="1587241"/>
            <a:ext cx="339092" cy="412410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" name="Google Shape;41;g39aa8999975_0_166"/>
          <p:cNvSpPr txBox="1"/>
          <p:nvPr/>
        </p:nvSpPr>
        <p:spPr>
          <a:xfrm>
            <a:off x="2977355" y="2164080"/>
            <a:ext cx="107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Anuncio 2</a:t>
            </a:r>
            <a:endParaRPr sz="700"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" name="Google Shape;42;g39aa8999975_0_166"/>
          <p:cNvSpPr txBox="1"/>
          <p:nvPr/>
        </p:nvSpPr>
        <p:spPr>
          <a:xfrm>
            <a:off x="2977355" y="1671356"/>
            <a:ext cx="107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Anuncio 1</a:t>
            </a:r>
            <a:endParaRPr sz="700"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" name="Google Shape;43;g39aa8999975_0_166"/>
          <p:cNvSpPr/>
          <p:nvPr/>
        </p:nvSpPr>
        <p:spPr>
          <a:xfrm>
            <a:off x="2638262" y="2079026"/>
            <a:ext cx="339092" cy="412410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" name="Google Shape;44;g39aa8999975_0_166"/>
          <p:cNvSpPr/>
          <p:nvPr/>
        </p:nvSpPr>
        <p:spPr>
          <a:xfrm>
            <a:off x="2638262" y="2629548"/>
            <a:ext cx="339092" cy="412410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" name="Google Shape;45;g39aa8999975_0_166"/>
          <p:cNvSpPr/>
          <p:nvPr/>
        </p:nvSpPr>
        <p:spPr>
          <a:xfrm>
            <a:off x="2638262" y="3180070"/>
            <a:ext cx="339092" cy="41240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" name="Google Shape;46;g39aa8999975_0_166"/>
          <p:cNvSpPr/>
          <p:nvPr/>
        </p:nvSpPr>
        <p:spPr>
          <a:xfrm>
            <a:off x="2638262" y="3730592"/>
            <a:ext cx="339092" cy="412410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" name="Google Shape;47;g39aa8999975_0_166"/>
          <p:cNvSpPr txBox="1"/>
          <p:nvPr/>
        </p:nvSpPr>
        <p:spPr>
          <a:xfrm>
            <a:off x="2977355" y="2724408"/>
            <a:ext cx="107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Anuncio 3</a:t>
            </a:r>
            <a:endParaRPr sz="700"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" name="Google Shape;48;g39aa8999975_0_166"/>
          <p:cNvSpPr txBox="1"/>
          <p:nvPr/>
        </p:nvSpPr>
        <p:spPr>
          <a:xfrm>
            <a:off x="2977355" y="3217803"/>
            <a:ext cx="107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Anuncio 4</a:t>
            </a:r>
            <a:endParaRPr sz="700"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" name="Google Shape;49;g39aa8999975_0_166"/>
          <p:cNvSpPr txBox="1"/>
          <p:nvPr/>
        </p:nvSpPr>
        <p:spPr>
          <a:xfrm>
            <a:off x="2977355" y="3777873"/>
            <a:ext cx="107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Anuncio 5</a:t>
            </a:r>
            <a:endParaRPr sz="700"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9aa8999975_0_258"/>
          <p:cNvSpPr/>
          <p:nvPr/>
        </p:nvSpPr>
        <p:spPr>
          <a:xfrm>
            <a:off x="0" y="0"/>
            <a:ext cx="9144000" cy="5223510"/>
          </a:xfrm>
          <a:custGeom>
            <a:rect b="b" l="l" r="r" t="t"/>
            <a:pathLst>
              <a:path extrusionOk="0" h="10447020" w="18288000">
                <a:moveTo>
                  <a:pt x="0" y="0"/>
                </a:moveTo>
                <a:lnTo>
                  <a:pt x="18288000" y="0"/>
                </a:lnTo>
                <a:lnTo>
                  <a:pt x="18288000" y="10447020"/>
                </a:lnTo>
                <a:lnTo>
                  <a:pt x="0" y="10447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" name="Google Shape;55;g39aa8999975_0_258"/>
          <p:cNvSpPr/>
          <p:nvPr/>
        </p:nvSpPr>
        <p:spPr>
          <a:xfrm>
            <a:off x="1444200" y="1290905"/>
            <a:ext cx="6318147" cy="2448829"/>
          </a:xfrm>
          <a:custGeom>
            <a:rect b="b" l="l" r="r" t="t"/>
            <a:pathLst>
              <a:path extrusionOk="0" h="3424936" w="12511183">
                <a:moveTo>
                  <a:pt x="0" y="0"/>
                </a:moveTo>
                <a:lnTo>
                  <a:pt x="12511184" y="0"/>
                </a:lnTo>
                <a:lnTo>
                  <a:pt x="12511184" y="3424937"/>
                </a:lnTo>
                <a:lnTo>
                  <a:pt x="0" y="3424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" name="Google Shape;56;g39aa8999975_0_258"/>
          <p:cNvSpPr txBox="1"/>
          <p:nvPr/>
        </p:nvSpPr>
        <p:spPr>
          <a:xfrm>
            <a:off x="2754246" y="1590358"/>
            <a:ext cx="4436700" cy="25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Open Sans"/>
                <a:ea typeface="Open Sans"/>
                <a:cs typeface="Open Sans"/>
                <a:sym typeface="Open Sans"/>
              </a:rPr>
              <a:t>DESARROLLAR APLICACIONES WEB USANDO JSON</a:t>
            </a:r>
            <a:endParaRPr b="1" sz="32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" name="Google Shape;57;g39aa8999975_0_258"/>
          <p:cNvSpPr txBox="1"/>
          <p:nvPr/>
        </p:nvSpPr>
        <p:spPr>
          <a:xfrm>
            <a:off x="3044766" y="2243773"/>
            <a:ext cx="3855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Temas de la sesión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Introducción a la Programación y Computación 2 | C# · Razor Pages · ASP.NET Core Web API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20040" y="1325880"/>
            <a:ext cx="420624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20040" y="1325880"/>
            <a:ext cx="594360" cy="100584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20040" y="1325880"/>
            <a:ext cx="594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978408" y="1399032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¿Qué es JSON?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978408" y="1837944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Concepto y uso en C#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20040" y="2459736"/>
            <a:ext cx="420624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20040" y="2459736"/>
            <a:ext cx="594360" cy="100584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20040" y="2459736"/>
            <a:ext cx="594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978408" y="2532888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JSON vs XML en .NET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978408" y="297180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Comparativa práctica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20040" y="3593592"/>
            <a:ext cx="420624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20040" y="3593592"/>
            <a:ext cx="594360" cy="100584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20040" y="3593592"/>
            <a:ext cx="594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978408" y="3666744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Tipos de datos JSON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4105656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Serialización / Deserialización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754880" y="1325880"/>
            <a:ext cx="420624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754880" y="1325880"/>
            <a:ext cx="594360" cy="100584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754880" y="1325880"/>
            <a:ext cx="594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413248" y="1399032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Internet &amp; HTTP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413248" y="1837944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HttpClient en C#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754880" y="2459736"/>
            <a:ext cx="420624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754880" y="2459736"/>
            <a:ext cx="594360" cy="100584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754880" y="2459736"/>
            <a:ext cx="594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413248" y="2532888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Códigos de respuesta HTTP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5413248" y="297180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HttpStatusCode enum en .NET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754880" y="3593592"/>
            <a:ext cx="420624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754880" y="3593592"/>
            <a:ext cx="594360" cy="100584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754880" y="3593592"/>
            <a:ext cx="594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5413248" y="3666744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Razor Pages + Web API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5413248" y="4105656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Integración cliente-servidor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Competencias que Desarrollaremos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Aprendizajes esperados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Introducción a la Programación y Computación 2 | C# · Razor Pages · ASP.NET Core Web API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320040" y="1325880"/>
            <a:ext cx="8503920" cy="1508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20040" y="1325880"/>
            <a:ext cx="73152" cy="15087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57200" y="1435608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1325880" y="141732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Análisis de Respuestas Web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325880" y="182880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Analiza respuestas de peticiones web en C# mediante HttpClient y las librerías System.Text.Json / Newtonsoft.Json para obtener datos seguros desde APIs externas.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320040" y="3017520"/>
            <a:ext cx="8503920" cy="1508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20040" y="3017520"/>
            <a:ext cx="73152" cy="15087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57200" y="3127248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1325880" y="310896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Comunicación Cliente-Servidor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1325880" y="352044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Implementa comunicación cliente-servidor con Razor Pages como frontend y ASP.NET Core Web API como backend, usando HTTP/HTTPS para APIs seguras y eficientes.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es JSON?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JavaScript Object Notation en el ecosistema .NET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Introducción a la Programación y Computación 2 | C# · Razor Pages · ASP.NET Core Web API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365760" y="13258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Definición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65760" y="1719072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JSON (JavaScript Object Notation) es un formato de texto ligero para el acceso, almacenamiento e intercambio de datos. Es la alternativa más popular a XML y el estándar de facto para APIs REST.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365760" y="2788920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En C# / .NET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365760" y="3182112"/>
            <a:ext cx="4389120" cy="658368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02920" y="32004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System.Text.Json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02920" y="3456432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Librería nativa de .NET 6/7/8. Alta performance, ideal para ASP.NET Core Web API.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365760" y="3931920"/>
            <a:ext cx="4389120" cy="658368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02920" y="395020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Newtonsoft.Json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02920" y="420624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El paquete NuGet más popular. Muy flexible y compatible con proyectos legacy.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5166360" y="1280160"/>
            <a:ext cx="3749040" cy="338328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257800" y="135331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// C# – Objeto y serialización JSON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257800" y="1627632"/>
            <a:ext cx="35661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public class </a:t>
            </a:r>
            <a:r>
              <a:rPr lang="en-US" sz="950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Producto</a:t>
            </a:r>
            <a:br>
              <a:rPr lang="en-US" sz="950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public int </a:t>
            </a:r>
            <a:r>
              <a:rPr lang="en-US" sz="95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Id 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 get; set; }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public string </a:t>
            </a:r>
            <a:r>
              <a:rPr lang="en-US" sz="95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Nombre 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 get; set; }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public decimal </a:t>
            </a:r>
            <a:r>
              <a:rPr lang="en-US" sz="95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Precio 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 get; set; }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// Serializar</a:t>
            </a:r>
            <a:br>
              <a:rPr lang="en-US" sz="9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var 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json = JsonSerializer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.Serialize(producto);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// Deserializar</a:t>
            </a:r>
            <a:br>
              <a:rPr lang="en-US" sz="9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var 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obj = JsonSerializer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.Deserialize&lt;Producto&gt;(json);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JSON en ASP.NET Core Web API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¿Por qué es fundamental?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Introducción a la Programación y Computación 2 | C# · Razor Pages · ASP.NET Core Web API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320040" y="1353312"/>
            <a:ext cx="4206240" cy="1508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57200" y="1490472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1143000" y="1444752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Ligero y rápido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1143000" y="1828800"/>
            <a:ext cx="3246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JSON tiene payloads más pequeños que XML, reduciendo la latencia en las respuestas de tu Web API.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4754880" y="1353312"/>
            <a:ext cx="4206240" cy="1508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4892040" y="1490472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577840" y="1444752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Serialización automática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577840" y="1828800"/>
            <a:ext cx="3246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ASP.NET Core serializa/deserializa objetos C# a JSON automáticamente con System.Text.Json sin configuración extra.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20040" y="3044952"/>
            <a:ext cx="4206240" cy="1508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57200" y="3182112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1143000" y="3136392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Universal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143000" y="3520440"/>
            <a:ext cx="3246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Compatible con Razor Pages, JavaScript, móviles y cualquier cliente HTTP que consuma tu API.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754880" y="3044952"/>
            <a:ext cx="4206240" cy="1508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892040" y="3182112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577840" y="3136392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Estructuras complejas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577840" y="3520440"/>
            <a:ext cx="3246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Representa listas, objetos anidados y jerarquías complejas con pares clave-valor fáciles de leer.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Sintaxis JSON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Reglas clave y ejemplo en C#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Introducción a la Programación y Computación 2 | C# · Razor Pages · ASP.NET Core Web API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365760" y="129844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Reglas de la Sintaxis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365760" y="166420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Los datos se organizan en pares clave-valor ("clave": valor).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Los elementos se separan por comas.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Las llaves { } agrupan objetos.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Los corchetes [ ] agrupan arreglos.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Las claves deben ser strings entre comillas dobles.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Los valores: string, number, object, array, boolean o null.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846320" y="1261872"/>
            <a:ext cx="3977640" cy="3401568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937760" y="135331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// JSON producido por Web API (.NET)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4937760" y="1627632"/>
            <a:ext cx="37490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  "id"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0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  "nombre"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0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"Laptop"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  "precio"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0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1299.99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  "disponible"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0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  "categoria"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{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    "id"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0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    "nombre"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0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"Electrónica"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},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  "etiquetas"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["tech","oferta"]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JSON vs XML en .NET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Comparativa para elegir el formato correcto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Introducción a la Programación y Computación 2 | C# · Razor Pages · ASP.NET Core Web API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320040" y="1298448"/>
            <a:ext cx="4160520" cy="4572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320040" y="1298448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JSON  (System.Text.Json)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663440" y="1298448"/>
            <a:ext cx="4160520" cy="4572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663440" y="1298448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XML  (System.Xml)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320040" y="1801368"/>
            <a:ext cx="416052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11480" y="1819656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Creado en 2001 por Douglas Crockford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663440" y="1801368"/>
            <a:ext cx="416052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754880" y="1819656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Publicado en 1998 por W3C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320040" y="2221992"/>
            <a:ext cx="4160520" cy="402336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411480" y="2240280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Estructura de pares Clave-Valor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4663440" y="2221992"/>
            <a:ext cx="4160520" cy="402336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4754880" y="2240280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Estructura de árbol jerárquico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320040" y="2642616"/>
            <a:ext cx="416052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11480" y="2660904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Sintaxis compacta y fácil de leer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663440" y="2642616"/>
            <a:ext cx="416052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4754880" y="2660904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Sintaxis más detallada con tags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320040" y="3063240"/>
            <a:ext cx="4160520" cy="402336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11480" y="3081528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Parseo nativo: JsonSerializer.Deserialize&lt;T&gt;()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4663440" y="3063240"/>
            <a:ext cx="4160520" cy="402336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754880" y="3081528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Requiere XmlDocument o XmlSerializer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320040" y="3483864"/>
            <a:ext cx="416052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411480" y="3502152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Soporta: string, number, object, array, bool, null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663440" y="3483864"/>
            <a:ext cx="416052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754880" y="3502152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Soporta todos los tipos JSON + fechas, espacios de nombres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320040" y="3904488"/>
            <a:ext cx="4160520" cy="402336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411480" y="3922776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Archivos más pequeños → menor latencia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663440" y="3904488"/>
            <a:ext cx="4160520" cy="402336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754880" y="3922776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Archivos más voluminosos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320040" y="4325112"/>
            <a:ext cx="416052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11480" y="4343400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Ideal para REST APIs y Razor Pages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4663440" y="4325112"/>
            <a:ext cx="416052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754880" y="4343400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Mejor para documentos complejos y sistemas legacy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JSON vs XML – ¿Cuándo usar cada uno?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Guía de decisión para proyectos .NET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Introducción a la Programación y Computación 2 | C# · Razor Pages · ASP.NET Core Web API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320040" y="1298448"/>
            <a:ext cx="4206240" cy="4572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320040" y="129844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Usa JSON cuando…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320040" y="1755648"/>
            <a:ext cx="4206240" cy="2907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457200" y="1828800"/>
            <a:ext cx="39319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Construyes una ASP.NET Core Web API consumida por Razor Pages, móviles o SPAs.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Necesitas rendimiento: payloads pequeños y serialización rápida con System.Text.Json.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Tu equipo trabaja con datos simples: listas de productos, usuarios, pedidos.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Quieres compatibilidad universal con cualquier cliente HTTP.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4754880" y="1298448"/>
            <a:ext cx="4206240" cy="4572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4754880" y="129844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Usa XML cuando…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4754880" y="1755648"/>
            <a:ext cx="4206240" cy="2907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4892040" y="1828800"/>
            <a:ext cx="39319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Integras con sistemas legacy o servicios SOAP que exigen XML.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Manejas documentos complejos con namespaces, schemas (XSD) o firmas digitales.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Necesitas validación estricta de tipos de datos extendidos (fechas, binarios).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El destino final es un transformador XSLT o un flujo de datos empresarial.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Tipos de Datos JSON en C#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Mapeo entre JSON y tipos .NET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Introducción a la Programación y Computación 2 | C# · Razor Pages · ASP.NET Core Web API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320040" y="1298448"/>
            <a:ext cx="164592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Tipo JSON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320040" y="1298448"/>
            <a:ext cx="1645920" cy="36576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320040" y="1298448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Tipo JSON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2011680" y="1298448"/>
            <a:ext cx="2011680" cy="36576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2011680" y="129844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Tipo C#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4069080" y="1298448"/>
            <a:ext cx="2926080" cy="36576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4069080" y="129844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Ejemplo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7040880" y="1298448"/>
            <a:ext cx="1828800" cy="36576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7040880" y="129844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Anotación JsonPropertyName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320040" y="1700784"/>
            <a:ext cx="16459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320040" y="1700784"/>
            <a:ext cx="54864" cy="4572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438912" y="1700784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6A34A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2011680" y="1700784"/>
            <a:ext cx="201168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2084832" y="1700784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4069080" y="1700784"/>
            <a:ext cx="292608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4142232" y="1700784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"Laptop Pro"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7040880" y="1700784"/>
            <a:ext cx="18288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7114032" y="1700784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[JsonPropertyName]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320040" y="2203704"/>
            <a:ext cx="1645920" cy="45720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320040" y="2203704"/>
            <a:ext cx="54864" cy="4572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438912" y="2203704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2011680" y="2203704"/>
            <a:ext cx="2011680" cy="45720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2084832" y="2203704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int / decimal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4069080" y="2203704"/>
            <a:ext cx="2926080" cy="45720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4142232" y="2203704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1299.99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7040880" y="2203704"/>
            <a:ext cx="1828800" cy="45720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7114032" y="2203704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[JsonPropertyName]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320040" y="2706624"/>
            <a:ext cx="16459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320040" y="2706624"/>
            <a:ext cx="54864" cy="4572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438912" y="2706624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2011680" y="2706624"/>
            <a:ext cx="201168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2084832" y="2706624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4069080" y="2706624"/>
            <a:ext cx="292608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4142232" y="2706624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true / false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7040880" y="2706624"/>
            <a:ext cx="18288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7114032" y="2706624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[JsonPropertyName]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320040" y="3209544"/>
            <a:ext cx="1645920" cy="45720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320040" y="3209544"/>
            <a:ext cx="54864" cy="4572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438912" y="3209544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2011680" y="3209544"/>
            <a:ext cx="2011680" cy="45720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2084832" y="3209544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null / nullable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4069080" y="3209544"/>
            <a:ext cx="2926080" cy="45720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4142232" y="3209544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7040880" y="3209544"/>
            <a:ext cx="1828800" cy="45720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7114032" y="3209544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[JsonPropertyName]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320040" y="3712464"/>
            <a:ext cx="16459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320040" y="3712464"/>
            <a:ext cx="54864" cy="4572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438912" y="3712464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D97706"/>
                </a:solidFill>
                <a:latin typeface="Consolas"/>
                <a:ea typeface="Consolas"/>
                <a:cs typeface="Consolas"/>
                <a:sym typeface="Consolas"/>
              </a:rPr>
              <a:t>object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2011680" y="3712464"/>
            <a:ext cx="201168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2084832" y="3712464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class / record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4069080" y="3712464"/>
            <a:ext cx="292608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4142232" y="3712464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{ "id": 1 }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7040880" y="3712464"/>
            <a:ext cx="18288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7114032" y="3712464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[JsonPropertyName]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320040" y="4215384"/>
            <a:ext cx="1645920" cy="45720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320040" y="4215384"/>
            <a:ext cx="54864" cy="457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438912" y="4215384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array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2011680" y="4215384"/>
            <a:ext cx="2011680" cy="45720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2084832" y="4215384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List&lt;T&gt; / T[]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4069080" y="4215384"/>
            <a:ext cx="2926080" cy="45720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4142232" y="4215384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["a","b","c"]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7040880" y="4215384"/>
            <a:ext cx="1828800" cy="45720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7114032" y="4215384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[JsonPropertyName]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Serialización y Deserialización en C#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System.Text.Json vs Newtonsoft.Json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Introducción a la Programación y Computación 2 | C# · Razor Pages · ASP.NET Core Web API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320040" y="1298448"/>
            <a:ext cx="4160520" cy="38404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320040" y="1298448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System.Text.Json (.NET nativo)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320040" y="1682496"/>
            <a:ext cx="4160520" cy="2980944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411480" y="1755648"/>
            <a:ext cx="39776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using 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System.Text.Json;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// Serializar objeto C# → JSON</a:t>
            </a:r>
            <a:br>
              <a:rPr lang="en-US" sz="9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var 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producto = new Producto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Id = 1,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Nombre = 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"Laptop"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Precio = 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1299.99m</a:t>
            </a:r>
            <a:br>
              <a:rPr lang="en-US" sz="95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br>
              <a:rPr lang="en-US" sz="95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string 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json = JsonSerializer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.Serialize(producto);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// Deserializar JSON → objeto C#</a:t>
            </a:r>
            <a:br>
              <a:rPr lang="en-US" sz="9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var 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obj = JsonSerializer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.Deserialize&lt;Producto&gt;(json);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4663440" y="1298448"/>
            <a:ext cx="4160520" cy="38404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4663440" y="1298448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Newtonsoft.Json (NuGet)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4663440" y="1682496"/>
            <a:ext cx="4160520" cy="2980944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4754880" y="1755648"/>
            <a:ext cx="39776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using 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Newtonsoft.Json;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// Serializar objeto C# → JSON</a:t>
            </a:r>
            <a:br>
              <a:rPr lang="en-US" sz="9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string 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json = JsonConvert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.SerializeObject(producto);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// Deserializar JSON → objeto C#</a:t>
            </a:r>
            <a:br>
              <a:rPr lang="en-US" sz="9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var 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obj = JsonConvert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.DeserializeObject&lt;Producto&gt;(json);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// Con opciones de formato</a:t>
            </a:r>
            <a:br>
              <a:rPr lang="en-US" sz="9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string 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pretty = JsonConvert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.SerializeObject(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producto,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Formatting.Indented);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Tipos C# serializables a JSON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Equivalencias entre C# y JSON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Introducción a la Programación y Computación 2 | C# · Razor Pages · ASP.NET Core Web API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320040" y="1298448"/>
            <a:ext cx="2286000" cy="36576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320040" y="1298448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Tipo C#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2651760" y="1298448"/>
            <a:ext cx="1828800" cy="36576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2651760" y="129844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Tipo JSON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4526280" y="1298448"/>
            <a:ext cx="4297680" cy="36576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4526280" y="1298448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Ejemplo JSON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320040" y="1691640"/>
            <a:ext cx="228600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393192" y="169164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2651760" y="1691640"/>
            <a:ext cx="182880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2724912" y="169164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4526280" y="1691640"/>
            <a:ext cx="429768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4599432" y="1691640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"Hola mundo"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320040" y="2039112"/>
            <a:ext cx="2286000" cy="329184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393192" y="2039112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int / long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2651760" y="2039112"/>
            <a:ext cx="1828800" cy="329184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2724912" y="2039112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4526280" y="2039112"/>
            <a:ext cx="4297680" cy="329184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4599432" y="2039112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42 / 9876543210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320040" y="2386584"/>
            <a:ext cx="228600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393192" y="2386584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float / double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2651760" y="2386584"/>
            <a:ext cx="182880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2724912" y="2386584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4526280" y="2386584"/>
            <a:ext cx="429768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4599432" y="2386584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3.14 / 2.71828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320040" y="2734056"/>
            <a:ext cx="2286000" cy="329184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393192" y="2734056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decimal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2651760" y="2734056"/>
            <a:ext cx="1828800" cy="329184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2724912" y="2734056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4526280" y="2734056"/>
            <a:ext cx="4297680" cy="329184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4599432" y="2734056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1299.99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320040" y="3081528"/>
            <a:ext cx="228600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393192" y="3081528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2651760" y="3081528"/>
            <a:ext cx="182880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2724912" y="3081528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4526280" y="3081528"/>
            <a:ext cx="429768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4599432" y="3081528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true / false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320040" y="3429000"/>
            <a:ext cx="2286000" cy="329184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393192" y="342900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null / null?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2651760" y="3429000"/>
            <a:ext cx="1828800" cy="329184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2724912" y="342900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4526280" y="3429000"/>
            <a:ext cx="4297680" cy="329184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4599432" y="3429000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320040" y="3776472"/>
            <a:ext cx="228600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393192" y="3776472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List&lt;T&gt; / T[]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2651760" y="3776472"/>
            <a:ext cx="182880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2724912" y="3776472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array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4526280" y="3776472"/>
            <a:ext cx="429768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4599432" y="3776472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[1, 2, 3]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320040" y="4123944"/>
            <a:ext cx="2286000" cy="329184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393192" y="4123944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Dictionary&lt;K,V&gt;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2651760" y="4123944"/>
            <a:ext cx="1828800" cy="329184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2724912" y="4123944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object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4526280" y="4123944"/>
            <a:ext cx="4297680" cy="329184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4599432" y="4123944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{"key": "val"}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320040" y="4471416"/>
            <a:ext cx="228600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393192" y="4471416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class / record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2651760" y="4471416"/>
            <a:ext cx="182880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2724912" y="4471416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object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4526280" y="4471416"/>
            <a:ext cx="429768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4599432" y="4471416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{"Id": 1}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3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Unidad 8: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Acceso a Datos Web con C#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548640" y="2148840"/>
            <a:ext cx="80467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HttpClient, HttpResponseMessage y consumo de APIs REST desde Razor Pages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4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Internet y la Web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El contexto de las aplicaciones web con ASP.NET Core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Introducción a la Programación y Computación 2 | C# · Razor Pages · ASP.NET Core Web API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365760" y="1298448"/>
            <a:ext cx="4937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Internet es un conjunto descentralizado de redes interconectadas que utilizan la familia de protocolos TCP/IP. Sus orígenes se remontan a 1969 con ARPANET. La World Wide Web (WWW) es un servicio de consulta de hipertextos surgido en 1990 que utiliza Internet como medio.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365760" y="2724912"/>
            <a:ext cx="2468880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365760" y="2724912"/>
            <a:ext cx="64008" cy="84124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502920" y="277977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TCP/IP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502920" y="3054096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Protocolo base de Internet. .NET usa System.Net.Sockets para comunicaciones de bajo nivel.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3017520" y="2724912"/>
            <a:ext cx="2468880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3017520" y="2724912"/>
            <a:ext cx="64008" cy="84124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3154680" y="277977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WWW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3154680" y="3054096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Servicio de hipertextos. Las Razor Pages sirven HTML vía Kestrel/IIS.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365760" y="3685032"/>
            <a:ext cx="2468880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365760" y="3685032"/>
            <a:ext cx="64008" cy="84124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502920" y="373989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502920" y="4014216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Traducción de nombres a IPs. HttpClient lo resuelve automáticamente en .NET.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3017520" y="3685032"/>
            <a:ext cx="2468880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3017520" y="3685032"/>
            <a:ext cx="64008" cy="84124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3154680" y="373989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TLS/SSL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3154680" y="4014216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Seguridad en capa de transporte. ASP.NET Core lo configura con certificados X.509.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5486400" y="1298448"/>
            <a:ext cx="3337560" cy="3383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5532120" y="1371600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Arquitectura ASP.NET Core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5650992" y="1764792"/>
            <a:ext cx="3017520" cy="301752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5650992" y="1764792"/>
            <a:ext cx="30175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🌐 Cliente (Browser)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5650992" y="2093976"/>
            <a:ext cx="3017520" cy="301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4"/>
          <p:cNvSpPr/>
          <p:nvPr/>
        </p:nvSpPr>
        <p:spPr>
          <a:xfrm>
            <a:off x="5650992" y="2093976"/>
            <a:ext cx="30175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↕  HTTP / HTTPS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5650992" y="2423160"/>
            <a:ext cx="3017520" cy="301752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4"/>
          <p:cNvSpPr/>
          <p:nvPr/>
        </p:nvSpPr>
        <p:spPr>
          <a:xfrm>
            <a:off x="5650992" y="2423160"/>
            <a:ext cx="30175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📄 Razor Pages (.cshtml)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5650992" y="2752344"/>
            <a:ext cx="3017520" cy="301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5650992" y="2752344"/>
            <a:ext cx="30175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↕  HttpClient / JSON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4"/>
          <p:cNvSpPr/>
          <p:nvPr/>
        </p:nvSpPr>
        <p:spPr>
          <a:xfrm>
            <a:off x="5650992" y="3081528"/>
            <a:ext cx="3017520" cy="301752"/>
          </a:xfrm>
          <a:prstGeom prst="rect">
            <a:avLst/>
          </a:prstGeom>
          <a:solidFill>
            <a:srgbClr val="DCFCE7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4"/>
          <p:cNvSpPr/>
          <p:nvPr/>
        </p:nvSpPr>
        <p:spPr>
          <a:xfrm>
            <a:off x="5650992" y="3081528"/>
            <a:ext cx="30175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⚙️  ASP.NET Core Web API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4"/>
          <p:cNvSpPr/>
          <p:nvPr/>
        </p:nvSpPr>
        <p:spPr>
          <a:xfrm>
            <a:off x="5650992" y="3410712"/>
            <a:ext cx="3017520" cy="301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5650992" y="3410712"/>
            <a:ext cx="30175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↕  Entity Framework / DB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5650992" y="3739896"/>
            <a:ext cx="3017520" cy="301752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4"/>
          <p:cNvSpPr/>
          <p:nvPr/>
        </p:nvSpPr>
        <p:spPr>
          <a:xfrm>
            <a:off x="5650992" y="3739896"/>
            <a:ext cx="30175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🗄️  Base de Datos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5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 en C# – HttpClient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Protocolo de transferencia para Razor Pages y Web API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Introducción a la Programación y Computación 2 | C# · Razor Pages · ASP.NET Core Web API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365760" y="1298448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HTTP (Hypertext Transfer Protocol) sigue el modelo cliente-servidor. En .NET, HttpClient es la clase principal para enviar peticiones HTTP. ASP.NET Core Web API es el servidor que procesa esas peticiones y devuelve respuestas JSON.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320040" y="1930791"/>
            <a:ext cx="4937760" cy="3129006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411480" y="2047201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// Razor Pages → consume Web API con HttpClient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411480" y="2300068"/>
            <a:ext cx="47548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// Program.cs – registrar HttpClient</a:t>
            </a:r>
            <a:br>
              <a:rPr lang="en-US" sz="9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builder.Services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.AddHttpClient();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// IndexModel.cshtml.cs</a:t>
            </a:r>
            <a:br>
              <a:rPr lang="en-US" sz="9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public class </a:t>
            </a:r>
            <a:r>
              <a:rPr lang="en-US" sz="95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IndexModel 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PageModel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private readonly 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HttpClient _http;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public async Task 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OnGetAsync()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    var 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resp = await _http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.GetAsync(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"api/productos"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resp.EnsureSuccessStatusCode();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Productos = await resp.Content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.ReadFromJsonAsync&lt;List&lt;Producto&gt;&gt;();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5394960" y="214884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Métodos HTTP → Verbos C#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5394960" y="2514600"/>
            <a:ext cx="685800" cy="36576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5"/>
          <p:cNvSpPr/>
          <p:nvPr/>
        </p:nvSpPr>
        <p:spPr>
          <a:xfrm>
            <a:off x="5394960" y="2514600"/>
            <a:ext cx="685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6108192" y="2514600"/>
            <a:ext cx="2715768" cy="3657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6172200" y="25146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GetAsync(url)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5394960" y="2953512"/>
            <a:ext cx="685800" cy="3657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5394960" y="2953512"/>
            <a:ext cx="685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6108192" y="2953512"/>
            <a:ext cx="2715768" cy="3657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6172200" y="2953512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PostAsJsonAsync(url, obj)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5"/>
          <p:cNvSpPr/>
          <p:nvPr/>
        </p:nvSpPr>
        <p:spPr>
          <a:xfrm>
            <a:off x="5394960" y="3392424"/>
            <a:ext cx="685800" cy="36576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5"/>
          <p:cNvSpPr/>
          <p:nvPr/>
        </p:nvSpPr>
        <p:spPr>
          <a:xfrm>
            <a:off x="5394960" y="3392424"/>
            <a:ext cx="685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5"/>
          <p:cNvSpPr/>
          <p:nvPr/>
        </p:nvSpPr>
        <p:spPr>
          <a:xfrm>
            <a:off x="6108192" y="3392424"/>
            <a:ext cx="2715768" cy="3657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5"/>
          <p:cNvSpPr/>
          <p:nvPr/>
        </p:nvSpPr>
        <p:spPr>
          <a:xfrm>
            <a:off x="6172200" y="3392424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PutAsJsonAsync(url, obj)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5"/>
          <p:cNvSpPr/>
          <p:nvPr/>
        </p:nvSpPr>
        <p:spPr>
          <a:xfrm>
            <a:off x="5394960" y="3831336"/>
            <a:ext cx="685800" cy="36576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5"/>
          <p:cNvSpPr/>
          <p:nvPr/>
        </p:nvSpPr>
        <p:spPr>
          <a:xfrm>
            <a:off x="5394960" y="3831336"/>
            <a:ext cx="685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DELETE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5"/>
          <p:cNvSpPr/>
          <p:nvPr/>
        </p:nvSpPr>
        <p:spPr>
          <a:xfrm>
            <a:off x="6108192" y="3831336"/>
            <a:ext cx="2715768" cy="3657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5"/>
          <p:cNvSpPr/>
          <p:nvPr/>
        </p:nvSpPr>
        <p:spPr>
          <a:xfrm>
            <a:off x="6172200" y="3831336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DeleteAsync(url)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5394960" y="4270248"/>
            <a:ext cx="685800" cy="36576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5"/>
          <p:cNvSpPr/>
          <p:nvPr/>
        </p:nvSpPr>
        <p:spPr>
          <a:xfrm>
            <a:off x="5394960" y="4270248"/>
            <a:ext cx="685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PATCH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5"/>
          <p:cNvSpPr/>
          <p:nvPr/>
        </p:nvSpPr>
        <p:spPr>
          <a:xfrm>
            <a:off x="6108192" y="4270248"/>
            <a:ext cx="2715768" cy="3657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5"/>
          <p:cNvSpPr/>
          <p:nvPr/>
        </p:nvSpPr>
        <p:spPr>
          <a:xfrm>
            <a:off x="6172200" y="427024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PatchAsJsonAsync(url, obj)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6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6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Códigos de Respuesta HTTP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HttpStatusCode en ASP.NET Core Web API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6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Introducción a la Programación y Computación 2 | C# · Razor Pages · ASP.NET Core Web API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365760" y="1298448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 código HTTP es un número de tres dígitos que el servidor devuelve en respuesta a cada petición. En ASP.NET Core, los controladores devuelven códigos usando los métodos de IActionResult.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6"/>
          <p:cNvSpPr/>
          <p:nvPr/>
        </p:nvSpPr>
        <p:spPr>
          <a:xfrm>
            <a:off x="320040" y="2011680"/>
            <a:ext cx="822960" cy="512064"/>
          </a:xfrm>
          <a:prstGeom prst="rect">
            <a:avLst/>
          </a:prstGeom>
          <a:solidFill>
            <a:srgbClr val="6B7280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6"/>
          <p:cNvSpPr/>
          <p:nvPr/>
        </p:nvSpPr>
        <p:spPr>
          <a:xfrm>
            <a:off x="320040" y="2011680"/>
            <a:ext cx="822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1XX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6"/>
          <p:cNvSpPr/>
          <p:nvPr/>
        </p:nvSpPr>
        <p:spPr>
          <a:xfrm>
            <a:off x="1188720" y="2011680"/>
            <a:ext cx="763524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6"/>
          <p:cNvSpPr/>
          <p:nvPr/>
        </p:nvSpPr>
        <p:spPr>
          <a:xfrm>
            <a:off x="1298448" y="204825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Informativos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6"/>
          <p:cNvSpPr/>
          <p:nvPr/>
        </p:nvSpPr>
        <p:spPr>
          <a:xfrm>
            <a:off x="1298448" y="2286000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El servidor recibió y está procesando.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6"/>
          <p:cNvSpPr/>
          <p:nvPr/>
        </p:nvSpPr>
        <p:spPr>
          <a:xfrm>
            <a:off x="4663440" y="2048256"/>
            <a:ext cx="3154680" cy="438912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6"/>
          <p:cNvSpPr/>
          <p:nvPr/>
        </p:nvSpPr>
        <p:spPr>
          <a:xfrm>
            <a:off x="4736592" y="2048256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Continue, SwitchingProtocols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320040" y="2578608"/>
            <a:ext cx="822960" cy="51206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6"/>
          <p:cNvSpPr/>
          <p:nvPr/>
        </p:nvSpPr>
        <p:spPr>
          <a:xfrm>
            <a:off x="320040" y="2578608"/>
            <a:ext cx="822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2XX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6"/>
          <p:cNvSpPr/>
          <p:nvPr/>
        </p:nvSpPr>
        <p:spPr>
          <a:xfrm>
            <a:off x="1188720" y="2578608"/>
            <a:ext cx="763524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6"/>
          <p:cNvSpPr/>
          <p:nvPr/>
        </p:nvSpPr>
        <p:spPr>
          <a:xfrm>
            <a:off x="1298448" y="2615184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Éxito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1298448" y="285292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Solicitud procesada correctamente.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6"/>
          <p:cNvSpPr/>
          <p:nvPr/>
        </p:nvSpPr>
        <p:spPr>
          <a:xfrm>
            <a:off x="4663440" y="2615184"/>
            <a:ext cx="3154680" cy="438912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6"/>
          <p:cNvSpPr/>
          <p:nvPr/>
        </p:nvSpPr>
        <p:spPr>
          <a:xfrm>
            <a:off x="4736592" y="2615184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Ok(), Created(), NoContent()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6"/>
          <p:cNvSpPr/>
          <p:nvPr/>
        </p:nvSpPr>
        <p:spPr>
          <a:xfrm>
            <a:off x="320040" y="3145536"/>
            <a:ext cx="822960" cy="5120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6"/>
          <p:cNvSpPr/>
          <p:nvPr/>
        </p:nvSpPr>
        <p:spPr>
          <a:xfrm>
            <a:off x="320040" y="3145536"/>
            <a:ext cx="822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3XX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6"/>
          <p:cNvSpPr/>
          <p:nvPr/>
        </p:nvSpPr>
        <p:spPr>
          <a:xfrm>
            <a:off x="1188720" y="3145536"/>
            <a:ext cx="763524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6"/>
          <p:cNvSpPr/>
          <p:nvPr/>
        </p:nvSpPr>
        <p:spPr>
          <a:xfrm>
            <a:off x="1298448" y="318211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Redirección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6"/>
          <p:cNvSpPr/>
          <p:nvPr/>
        </p:nvSpPr>
        <p:spPr>
          <a:xfrm>
            <a:off x="1298448" y="3419856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El recurso se movió a otra URL.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6"/>
          <p:cNvSpPr/>
          <p:nvPr/>
        </p:nvSpPr>
        <p:spPr>
          <a:xfrm>
            <a:off x="4663440" y="3182112"/>
            <a:ext cx="3154680" cy="438912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6"/>
          <p:cNvSpPr/>
          <p:nvPr/>
        </p:nvSpPr>
        <p:spPr>
          <a:xfrm>
            <a:off x="4736592" y="3182112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RedirectToAction(), Redirect()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6"/>
          <p:cNvSpPr/>
          <p:nvPr/>
        </p:nvSpPr>
        <p:spPr>
          <a:xfrm>
            <a:off x="320040" y="3712464"/>
            <a:ext cx="822960" cy="512064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6"/>
          <p:cNvSpPr/>
          <p:nvPr/>
        </p:nvSpPr>
        <p:spPr>
          <a:xfrm>
            <a:off x="320040" y="3712464"/>
            <a:ext cx="822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4XX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6"/>
          <p:cNvSpPr/>
          <p:nvPr/>
        </p:nvSpPr>
        <p:spPr>
          <a:xfrm>
            <a:off x="1188720" y="3712464"/>
            <a:ext cx="763524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6"/>
          <p:cNvSpPr/>
          <p:nvPr/>
        </p:nvSpPr>
        <p:spPr>
          <a:xfrm>
            <a:off x="1298448" y="374904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Error del Cliente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6"/>
          <p:cNvSpPr/>
          <p:nvPr/>
        </p:nvSpPr>
        <p:spPr>
          <a:xfrm>
            <a:off x="1298448" y="3986784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solicitud contiene errores.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6"/>
          <p:cNvSpPr/>
          <p:nvPr/>
        </p:nvSpPr>
        <p:spPr>
          <a:xfrm>
            <a:off x="4663440" y="3749040"/>
            <a:ext cx="3154680" cy="438912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6"/>
          <p:cNvSpPr/>
          <p:nvPr/>
        </p:nvSpPr>
        <p:spPr>
          <a:xfrm>
            <a:off x="4736592" y="3749040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BadRequest(), NotFound(), Unauthorized()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6"/>
          <p:cNvSpPr/>
          <p:nvPr/>
        </p:nvSpPr>
        <p:spPr>
          <a:xfrm>
            <a:off x="320040" y="4279392"/>
            <a:ext cx="822960" cy="5120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6"/>
          <p:cNvSpPr/>
          <p:nvPr/>
        </p:nvSpPr>
        <p:spPr>
          <a:xfrm>
            <a:off x="320040" y="4279392"/>
            <a:ext cx="822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5XX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6"/>
          <p:cNvSpPr/>
          <p:nvPr/>
        </p:nvSpPr>
        <p:spPr>
          <a:xfrm>
            <a:off x="1188720" y="4279392"/>
            <a:ext cx="763524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6"/>
          <p:cNvSpPr/>
          <p:nvPr/>
        </p:nvSpPr>
        <p:spPr>
          <a:xfrm>
            <a:off x="1298448" y="431596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Error del Servidor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6"/>
          <p:cNvSpPr/>
          <p:nvPr/>
        </p:nvSpPr>
        <p:spPr>
          <a:xfrm>
            <a:off x="1298448" y="455371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El servidor no pudo completar la tarea.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6"/>
          <p:cNvSpPr/>
          <p:nvPr/>
        </p:nvSpPr>
        <p:spPr>
          <a:xfrm>
            <a:off x="4663440" y="4315968"/>
            <a:ext cx="3154680" cy="438912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6"/>
          <p:cNvSpPr/>
          <p:nvPr/>
        </p:nvSpPr>
        <p:spPr>
          <a:xfrm>
            <a:off x="4736592" y="4315968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StatusCode(500), Problem()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7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7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Códigos HTTP 2XX – Éxito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7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Respuestas de éxito en ASP.NET Core Web API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7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Introducción a la Programación y Computación 2 | C# · Razor Pages · ASP.NET Core Web API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7"/>
          <p:cNvSpPr/>
          <p:nvPr/>
        </p:nvSpPr>
        <p:spPr>
          <a:xfrm>
            <a:off x="320040" y="1325880"/>
            <a:ext cx="1371600" cy="60350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7"/>
          <p:cNvSpPr/>
          <p:nvPr/>
        </p:nvSpPr>
        <p:spPr>
          <a:xfrm>
            <a:off x="320040" y="1325880"/>
            <a:ext cx="1371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200 OK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7"/>
          <p:cNvSpPr/>
          <p:nvPr/>
        </p:nvSpPr>
        <p:spPr>
          <a:xfrm>
            <a:off x="1737360" y="1325880"/>
            <a:ext cx="438912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7"/>
          <p:cNvSpPr/>
          <p:nvPr/>
        </p:nvSpPr>
        <p:spPr>
          <a:xfrm>
            <a:off x="1828800" y="139903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Solicitud exitosa.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7"/>
          <p:cNvSpPr/>
          <p:nvPr/>
        </p:nvSpPr>
        <p:spPr>
          <a:xfrm>
            <a:off x="6172200" y="1325880"/>
            <a:ext cx="2651760" cy="603504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7"/>
          <p:cNvSpPr/>
          <p:nvPr/>
        </p:nvSpPr>
        <p:spPr>
          <a:xfrm>
            <a:off x="6236208" y="1325880"/>
            <a:ext cx="254203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return Ok(productos);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7"/>
          <p:cNvSpPr/>
          <p:nvPr/>
        </p:nvSpPr>
        <p:spPr>
          <a:xfrm>
            <a:off x="320040" y="2029968"/>
            <a:ext cx="1371600" cy="60350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7"/>
          <p:cNvSpPr/>
          <p:nvPr/>
        </p:nvSpPr>
        <p:spPr>
          <a:xfrm>
            <a:off x="320040" y="2029968"/>
            <a:ext cx="1371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201 Created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7"/>
          <p:cNvSpPr/>
          <p:nvPr/>
        </p:nvSpPr>
        <p:spPr>
          <a:xfrm>
            <a:off x="1737360" y="2029968"/>
            <a:ext cx="438912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7"/>
          <p:cNvSpPr/>
          <p:nvPr/>
        </p:nvSpPr>
        <p:spPr>
          <a:xfrm>
            <a:off x="1828800" y="210312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Recurso creado exitosamente (POST).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7"/>
          <p:cNvSpPr/>
          <p:nvPr/>
        </p:nvSpPr>
        <p:spPr>
          <a:xfrm>
            <a:off x="6172200" y="2029968"/>
            <a:ext cx="2651760" cy="603504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7"/>
          <p:cNvSpPr/>
          <p:nvPr/>
        </p:nvSpPr>
        <p:spPr>
          <a:xfrm>
            <a:off x="6236208" y="2029968"/>
            <a:ext cx="254203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return CreatedAtAction(...);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7"/>
          <p:cNvSpPr/>
          <p:nvPr/>
        </p:nvSpPr>
        <p:spPr>
          <a:xfrm>
            <a:off x="320040" y="2734056"/>
            <a:ext cx="1371600" cy="60350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7"/>
          <p:cNvSpPr/>
          <p:nvPr/>
        </p:nvSpPr>
        <p:spPr>
          <a:xfrm>
            <a:off x="320040" y="2734056"/>
            <a:ext cx="1371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 Accepted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7"/>
          <p:cNvSpPr/>
          <p:nvPr/>
        </p:nvSpPr>
        <p:spPr>
          <a:xfrm>
            <a:off x="1737360" y="2734056"/>
            <a:ext cx="438912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7"/>
          <p:cNvSpPr/>
          <p:nvPr/>
        </p:nvSpPr>
        <p:spPr>
          <a:xfrm>
            <a:off x="1828800" y="280720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Aceptada, procesamiento en segundo plano.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7"/>
          <p:cNvSpPr/>
          <p:nvPr/>
        </p:nvSpPr>
        <p:spPr>
          <a:xfrm>
            <a:off x="6172200" y="2734056"/>
            <a:ext cx="2651760" cy="603504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7"/>
          <p:cNvSpPr/>
          <p:nvPr/>
        </p:nvSpPr>
        <p:spPr>
          <a:xfrm>
            <a:off x="6236208" y="2734056"/>
            <a:ext cx="254203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return Accepted();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7"/>
          <p:cNvSpPr/>
          <p:nvPr/>
        </p:nvSpPr>
        <p:spPr>
          <a:xfrm>
            <a:off x="320040" y="3438144"/>
            <a:ext cx="1371600" cy="60350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7"/>
          <p:cNvSpPr/>
          <p:nvPr/>
        </p:nvSpPr>
        <p:spPr>
          <a:xfrm>
            <a:off x="320040" y="3438144"/>
            <a:ext cx="1371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204 No Content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7"/>
          <p:cNvSpPr/>
          <p:nvPr/>
        </p:nvSpPr>
        <p:spPr>
          <a:xfrm>
            <a:off x="1737360" y="3438144"/>
            <a:ext cx="438912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7"/>
          <p:cNvSpPr/>
          <p:nvPr/>
        </p:nvSpPr>
        <p:spPr>
          <a:xfrm>
            <a:off x="1828800" y="3511296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Exitosa pero sin datos en el cuerpo (DELETE/PUT).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7"/>
          <p:cNvSpPr/>
          <p:nvPr/>
        </p:nvSpPr>
        <p:spPr>
          <a:xfrm>
            <a:off x="6172200" y="3438144"/>
            <a:ext cx="2651760" cy="603504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7"/>
          <p:cNvSpPr/>
          <p:nvPr/>
        </p:nvSpPr>
        <p:spPr>
          <a:xfrm>
            <a:off x="6236208" y="3438144"/>
            <a:ext cx="254203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return NoContent();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7"/>
          <p:cNvSpPr/>
          <p:nvPr/>
        </p:nvSpPr>
        <p:spPr>
          <a:xfrm>
            <a:off x="320040" y="4142232"/>
            <a:ext cx="1371600" cy="60350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7"/>
          <p:cNvSpPr/>
          <p:nvPr/>
        </p:nvSpPr>
        <p:spPr>
          <a:xfrm>
            <a:off x="320040" y="4142232"/>
            <a:ext cx="1371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206 Partial Content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7"/>
          <p:cNvSpPr/>
          <p:nvPr/>
        </p:nvSpPr>
        <p:spPr>
          <a:xfrm>
            <a:off x="1737360" y="4142232"/>
            <a:ext cx="438912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7"/>
          <p:cNvSpPr/>
          <p:nvPr/>
        </p:nvSpPr>
        <p:spPr>
          <a:xfrm>
            <a:off x="1828800" y="4215384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Respuesta parcial con cabecera Range.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7"/>
          <p:cNvSpPr/>
          <p:nvPr/>
        </p:nvSpPr>
        <p:spPr>
          <a:xfrm>
            <a:off x="6172200" y="4142232"/>
            <a:ext cx="2651760" cy="603504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7"/>
          <p:cNvSpPr/>
          <p:nvPr/>
        </p:nvSpPr>
        <p:spPr>
          <a:xfrm>
            <a:off x="6236208" y="4142232"/>
            <a:ext cx="254203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return StatusCode(206, data);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8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8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8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Códigos HTTP 4XX – Error del Cliente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8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Manejo de errores en ASP.NET Core Web API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8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Introducción a la Programación y Computación 2 | C# · Razor Pages · ASP.NET Core Web API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8"/>
          <p:cNvSpPr/>
          <p:nvPr/>
        </p:nvSpPr>
        <p:spPr>
          <a:xfrm>
            <a:off x="320040" y="1316736"/>
            <a:ext cx="1554480" cy="4572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8"/>
          <p:cNvSpPr/>
          <p:nvPr/>
        </p:nvSpPr>
        <p:spPr>
          <a:xfrm>
            <a:off x="320040" y="1316736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400 Bad Request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8"/>
          <p:cNvSpPr/>
          <p:nvPr/>
        </p:nvSpPr>
        <p:spPr>
          <a:xfrm>
            <a:off x="1920240" y="1316736"/>
            <a:ext cx="41148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8"/>
          <p:cNvSpPr/>
          <p:nvPr/>
        </p:nvSpPr>
        <p:spPr>
          <a:xfrm>
            <a:off x="1993392" y="1316736"/>
            <a:ext cx="3977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Sintaxis inválida o datos incorrectos.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8"/>
          <p:cNvSpPr/>
          <p:nvPr/>
        </p:nvSpPr>
        <p:spPr>
          <a:xfrm>
            <a:off x="6080760" y="1316736"/>
            <a:ext cx="2743200" cy="4572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8"/>
          <p:cNvSpPr/>
          <p:nvPr/>
        </p:nvSpPr>
        <p:spPr>
          <a:xfrm>
            <a:off x="6144768" y="1316736"/>
            <a:ext cx="2633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return BadRequest(ModelState);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8"/>
          <p:cNvSpPr/>
          <p:nvPr/>
        </p:nvSpPr>
        <p:spPr>
          <a:xfrm>
            <a:off x="320040" y="1833372"/>
            <a:ext cx="1554480" cy="4572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8"/>
          <p:cNvSpPr/>
          <p:nvPr/>
        </p:nvSpPr>
        <p:spPr>
          <a:xfrm>
            <a:off x="320040" y="1833372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401 Unauthorized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8"/>
          <p:cNvSpPr/>
          <p:nvPr/>
        </p:nvSpPr>
        <p:spPr>
          <a:xfrm>
            <a:off x="1920240" y="1833372"/>
            <a:ext cx="41148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8"/>
          <p:cNvSpPr/>
          <p:nvPr/>
        </p:nvSpPr>
        <p:spPr>
          <a:xfrm>
            <a:off x="1993392" y="1833372"/>
            <a:ext cx="3977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Sin credenciales válidas (JWT no enviado).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8"/>
          <p:cNvSpPr/>
          <p:nvPr/>
        </p:nvSpPr>
        <p:spPr>
          <a:xfrm>
            <a:off x="6080760" y="1833372"/>
            <a:ext cx="2743200" cy="4572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8"/>
          <p:cNvSpPr/>
          <p:nvPr/>
        </p:nvSpPr>
        <p:spPr>
          <a:xfrm>
            <a:off x="6144768" y="1833372"/>
            <a:ext cx="2633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return Unauthorized();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8"/>
          <p:cNvSpPr/>
          <p:nvPr/>
        </p:nvSpPr>
        <p:spPr>
          <a:xfrm>
            <a:off x="320040" y="2350008"/>
            <a:ext cx="1554480" cy="4572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8"/>
          <p:cNvSpPr/>
          <p:nvPr/>
        </p:nvSpPr>
        <p:spPr>
          <a:xfrm>
            <a:off x="320040" y="23500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403 Forbidden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8"/>
          <p:cNvSpPr/>
          <p:nvPr/>
        </p:nvSpPr>
        <p:spPr>
          <a:xfrm>
            <a:off x="1920240" y="2350008"/>
            <a:ext cx="41148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8"/>
          <p:cNvSpPr/>
          <p:nvPr/>
        </p:nvSpPr>
        <p:spPr>
          <a:xfrm>
            <a:off x="1993392" y="2350008"/>
            <a:ext cx="3977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Autenticado pero sin permisos.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8"/>
          <p:cNvSpPr/>
          <p:nvPr/>
        </p:nvSpPr>
        <p:spPr>
          <a:xfrm>
            <a:off x="6080760" y="2350008"/>
            <a:ext cx="2743200" cy="4572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8"/>
          <p:cNvSpPr/>
          <p:nvPr/>
        </p:nvSpPr>
        <p:spPr>
          <a:xfrm>
            <a:off x="6144768" y="2350008"/>
            <a:ext cx="2633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return Forbid();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8"/>
          <p:cNvSpPr/>
          <p:nvPr/>
        </p:nvSpPr>
        <p:spPr>
          <a:xfrm>
            <a:off x="320040" y="2866644"/>
            <a:ext cx="1554480" cy="4572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8"/>
          <p:cNvSpPr/>
          <p:nvPr/>
        </p:nvSpPr>
        <p:spPr>
          <a:xfrm>
            <a:off x="320040" y="2866644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404 Not Found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8"/>
          <p:cNvSpPr/>
          <p:nvPr/>
        </p:nvSpPr>
        <p:spPr>
          <a:xfrm>
            <a:off x="1920240" y="2866644"/>
            <a:ext cx="41148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8"/>
          <p:cNvSpPr/>
          <p:nvPr/>
        </p:nvSpPr>
        <p:spPr>
          <a:xfrm>
            <a:off x="1993392" y="2866644"/>
            <a:ext cx="3977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El recurso no existe en el servidor.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8"/>
          <p:cNvSpPr/>
          <p:nvPr/>
        </p:nvSpPr>
        <p:spPr>
          <a:xfrm>
            <a:off x="6080760" y="2866644"/>
            <a:ext cx="2743200" cy="4572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8"/>
          <p:cNvSpPr/>
          <p:nvPr/>
        </p:nvSpPr>
        <p:spPr>
          <a:xfrm>
            <a:off x="6144768" y="2866644"/>
            <a:ext cx="2633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return NotFound();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8"/>
          <p:cNvSpPr/>
          <p:nvPr/>
        </p:nvSpPr>
        <p:spPr>
          <a:xfrm>
            <a:off x="320040" y="3383280"/>
            <a:ext cx="1554480" cy="4572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8"/>
          <p:cNvSpPr/>
          <p:nvPr/>
        </p:nvSpPr>
        <p:spPr>
          <a:xfrm>
            <a:off x="320040" y="33832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409 Conflict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8"/>
          <p:cNvSpPr/>
          <p:nvPr/>
        </p:nvSpPr>
        <p:spPr>
          <a:xfrm>
            <a:off x="1920240" y="3383280"/>
            <a:ext cx="41148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8"/>
          <p:cNvSpPr/>
          <p:nvPr/>
        </p:nvSpPr>
        <p:spPr>
          <a:xfrm>
            <a:off x="1993392" y="3383280"/>
            <a:ext cx="3977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Conflicto con el estado actual del recurso.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8"/>
          <p:cNvSpPr/>
          <p:nvPr/>
        </p:nvSpPr>
        <p:spPr>
          <a:xfrm>
            <a:off x="6080760" y="3383280"/>
            <a:ext cx="2743200" cy="4572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8"/>
          <p:cNvSpPr/>
          <p:nvPr/>
        </p:nvSpPr>
        <p:spPr>
          <a:xfrm>
            <a:off x="6144768" y="3383280"/>
            <a:ext cx="2633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return Conflict();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8"/>
          <p:cNvSpPr/>
          <p:nvPr/>
        </p:nvSpPr>
        <p:spPr>
          <a:xfrm>
            <a:off x="320040" y="3899916"/>
            <a:ext cx="1554480" cy="4572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8"/>
          <p:cNvSpPr/>
          <p:nvPr/>
        </p:nvSpPr>
        <p:spPr>
          <a:xfrm>
            <a:off x="320040" y="3899916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422 Unprocessable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8"/>
          <p:cNvSpPr/>
          <p:nvPr/>
        </p:nvSpPr>
        <p:spPr>
          <a:xfrm>
            <a:off x="1920240" y="3899916"/>
            <a:ext cx="41148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8"/>
          <p:cNvSpPr/>
          <p:nvPr/>
        </p:nvSpPr>
        <p:spPr>
          <a:xfrm>
            <a:off x="1993392" y="3899916"/>
            <a:ext cx="3977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Bien formado pero errores de semántica.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8"/>
          <p:cNvSpPr/>
          <p:nvPr/>
        </p:nvSpPr>
        <p:spPr>
          <a:xfrm>
            <a:off x="6080760" y="3899916"/>
            <a:ext cx="2743200" cy="4572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8"/>
          <p:cNvSpPr/>
          <p:nvPr/>
        </p:nvSpPr>
        <p:spPr>
          <a:xfrm>
            <a:off x="6144768" y="3899916"/>
            <a:ext cx="2633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return UnprocessableEntity();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8"/>
          <p:cNvSpPr/>
          <p:nvPr/>
        </p:nvSpPr>
        <p:spPr>
          <a:xfrm>
            <a:off x="320040" y="4416552"/>
            <a:ext cx="1554480" cy="4572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8"/>
          <p:cNvSpPr/>
          <p:nvPr/>
        </p:nvSpPr>
        <p:spPr>
          <a:xfrm>
            <a:off x="320040" y="4416552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429 Too Many Req.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8"/>
          <p:cNvSpPr/>
          <p:nvPr/>
        </p:nvSpPr>
        <p:spPr>
          <a:xfrm>
            <a:off x="1920240" y="4416552"/>
            <a:ext cx="41148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8"/>
          <p:cNvSpPr/>
          <p:nvPr/>
        </p:nvSpPr>
        <p:spPr>
          <a:xfrm>
            <a:off x="1993392" y="4416552"/>
            <a:ext cx="3977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Rate limiting: demasiadas peticiones.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8"/>
          <p:cNvSpPr/>
          <p:nvPr/>
        </p:nvSpPr>
        <p:spPr>
          <a:xfrm>
            <a:off x="6080760" y="4416552"/>
            <a:ext cx="2743200" cy="4572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8"/>
          <p:cNvSpPr/>
          <p:nvPr/>
        </p:nvSpPr>
        <p:spPr>
          <a:xfrm>
            <a:off x="6144768" y="4416552"/>
            <a:ext cx="2633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return StatusCode(429);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9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9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9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Códigos HTTP 5XX – Error del Servidor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9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Manejo de excepciones en ASP.NET Core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9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Introducción a la Programación y Computación 2 | C# · Razor Pages · ASP.NET Core Web API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9"/>
          <p:cNvSpPr/>
          <p:nvPr/>
        </p:nvSpPr>
        <p:spPr>
          <a:xfrm>
            <a:off x="320040" y="1316736"/>
            <a:ext cx="2103120" cy="56692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9"/>
          <p:cNvSpPr/>
          <p:nvPr/>
        </p:nvSpPr>
        <p:spPr>
          <a:xfrm>
            <a:off x="320040" y="1316736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500 Internal Server Error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9"/>
          <p:cNvSpPr/>
          <p:nvPr/>
        </p:nvSpPr>
        <p:spPr>
          <a:xfrm>
            <a:off x="2468880" y="1316736"/>
            <a:ext cx="36576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9"/>
          <p:cNvSpPr/>
          <p:nvPr/>
        </p:nvSpPr>
        <p:spPr>
          <a:xfrm>
            <a:off x="2542032" y="1316736"/>
            <a:ext cx="35478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Excepción no manejada en el servidor.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9"/>
          <p:cNvSpPr/>
          <p:nvPr/>
        </p:nvSpPr>
        <p:spPr>
          <a:xfrm>
            <a:off x="6172200" y="1316736"/>
            <a:ext cx="2651760" cy="566928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9"/>
          <p:cNvSpPr/>
          <p:nvPr/>
        </p:nvSpPr>
        <p:spPr>
          <a:xfrm>
            <a:off x="6236208" y="1316736"/>
            <a:ext cx="25420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throw new Exception() / StatusCode(500)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9"/>
          <p:cNvSpPr/>
          <p:nvPr/>
        </p:nvSpPr>
        <p:spPr>
          <a:xfrm>
            <a:off x="320040" y="1993392"/>
            <a:ext cx="2103120" cy="56692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9"/>
          <p:cNvSpPr/>
          <p:nvPr/>
        </p:nvSpPr>
        <p:spPr>
          <a:xfrm>
            <a:off x="320040" y="1993392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501 Not Implemented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9"/>
          <p:cNvSpPr/>
          <p:nvPr/>
        </p:nvSpPr>
        <p:spPr>
          <a:xfrm>
            <a:off x="2468880" y="1993392"/>
            <a:ext cx="36576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9"/>
          <p:cNvSpPr/>
          <p:nvPr/>
        </p:nvSpPr>
        <p:spPr>
          <a:xfrm>
            <a:off x="2542032" y="1993392"/>
            <a:ext cx="35478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El endpoint no está implementado.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9"/>
          <p:cNvSpPr/>
          <p:nvPr/>
        </p:nvSpPr>
        <p:spPr>
          <a:xfrm>
            <a:off x="6172200" y="1993392"/>
            <a:ext cx="2651760" cy="566928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9"/>
          <p:cNvSpPr/>
          <p:nvPr/>
        </p:nvSpPr>
        <p:spPr>
          <a:xfrm>
            <a:off x="6236208" y="1993392"/>
            <a:ext cx="25420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return StatusCode(501);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9"/>
          <p:cNvSpPr/>
          <p:nvPr/>
        </p:nvSpPr>
        <p:spPr>
          <a:xfrm>
            <a:off x="320040" y="2670048"/>
            <a:ext cx="2103120" cy="56692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9"/>
          <p:cNvSpPr/>
          <p:nvPr/>
        </p:nvSpPr>
        <p:spPr>
          <a:xfrm>
            <a:off x="320040" y="2670048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502 Bad Gateway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9"/>
          <p:cNvSpPr/>
          <p:nvPr/>
        </p:nvSpPr>
        <p:spPr>
          <a:xfrm>
            <a:off x="2468880" y="2670048"/>
            <a:ext cx="36576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9"/>
          <p:cNvSpPr/>
          <p:nvPr/>
        </p:nvSpPr>
        <p:spPr>
          <a:xfrm>
            <a:off x="2542032" y="2670048"/>
            <a:ext cx="35478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Respuesta inválida del servidor upstream.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9"/>
          <p:cNvSpPr/>
          <p:nvPr/>
        </p:nvSpPr>
        <p:spPr>
          <a:xfrm>
            <a:off x="6172200" y="2670048"/>
            <a:ext cx="2651760" cy="566928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9"/>
          <p:cNvSpPr/>
          <p:nvPr/>
        </p:nvSpPr>
        <p:spPr>
          <a:xfrm>
            <a:off x="6236208" y="2670048"/>
            <a:ext cx="25420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Proxy/Gateway config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9"/>
          <p:cNvSpPr/>
          <p:nvPr/>
        </p:nvSpPr>
        <p:spPr>
          <a:xfrm>
            <a:off x="320040" y="3346704"/>
            <a:ext cx="2103120" cy="56692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9"/>
          <p:cNvSpPr/>
          <p:nvPr/>
        </p:nvSpPr>
        <p:spPr>
          <a:xfrm>
            <a:off x="320040" y="3346704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503 Service Unavailable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9"/>
          <p:cNvSpPr/>
          <p:nvPr/>
        </p:nvSpPr>
        <p:spPr>
          <a:xfrm>
            <a:off x="2468880" y="3346704"/>
            <a:ext cx="36576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9"/>
          <p:cNvSpPr/>
          <p:nvPr/>
        </p:nvSpPr>
        <p:spPr>
          <a:xfrm>
            <a:off x="2542032" y="3346704"/>
            <a:ext cx="35478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Servidor caído por mantenimiento o carga.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9"/>
          <p:cNvSpPr/>
          <p:nvPr/>
        </p:nvSpPr>
        <p:spPr>
          <a:xfrm>
            <a:off x="6172200" y="3346704"/>
            <a:ext cx="2651760" cy="566928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9"/>
          <p:cNvSpPr/>
          <p:nvPr/>
        </p:nvSpPr>
        <p:spPr>
          <a:xfrm>
            <a:off x="6236208" y="3346704"/>
            <a:ext cx="25420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Health checks + middleware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9"/>
          <p:cNvSpPr/>
          <p:nvPr/>
        </p:nvSpPr>
        <p:spPr>
          <a:xfrm>
            <a:off x="320040" y="4023360"/>
            <a:ext cx="2103120" cy="56692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9"/>
          <p:cNvSpPr/>
          <p:nvPr/>
        </p:nvSpPr>
        <p:spPr>
          <a:xfrm>
            <a:off x="320040" y="4023360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504 Gateway Timeout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9"/>
          <p:cNvSpPr/>
          <p:nvPr/>
        </p:nvSpPr>
        <p:spPr>
          <a:xfrm>
            <a:off x="2468880" y="4023360"/>
            <a:ext cx="36576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9"/>
          <p:cNvSpPr/>
          <p:nvPr/>
        </p:nvSpPr>
        <p:spPr>
          <a:xfrm>
            <a:off x="2542032" y="4023360"/>
            <a:ext cx="35478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El upstream no responde a tiempo.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9"/>
          <p:cNvSpPr/>
          <p:nvPr/>
        </p:nvSpPr>
        <p:spPr>
          <a:xfrm>
            <a:off x="6172200" y="4023360"/>
            <a:ext cx="2651760" cy="566928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9"/>
          <p:cNvSpPr/>
          <p:nvPr/>
        </p:nvSpPr>
        <p:spPr>
          <a:xfrm>
            <a:off x="6236208" y="4023360"/>
            <a:ext cx="25420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HttpClient.Timeout config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9"/>
          <p:cNvSpPr/>
          <p:nvPr/>
        </p:nvSpPr>
        <p:spPr>
          <a:xfrm>
            <a:off x="320040" y="4645152"/>
            <a:ext cx="8503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💡 Tip: Usa app.UseExceptionHandler() y middleware de logging (Serilog) para manejar errores 5XX en producción.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0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0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Versiones HTTP en .NET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0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Evolución y soporte en ASP.NET Core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0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Introducción a la Programación y Computación 2 | C# · Razor Pages · ASP.NET Core Web API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0"/>
          <p:cNvSpPr/>
          <p:nvPr/>
        </p:nvSpPr>
        <p:spPr>
          <a:xfrm>
            <a:off x="320040" y="1316736"/>
            <a:ext cx="1097280" cy="59436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0"/>
          <p:cNvSpPr/>
          <p:nvPr/>
        </p:nvSpPr>
        <p:spPr>
          <a:xfrm>
            <a:off x="320040" y="1316736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HTTP/0.9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0"/>
          <p:cNvSpPr/>
          <p:nvPr/>
        </p:nvSpPr>
        <p:spPr>
          <a:xfrm>
            <a:off x="320040" y="1664208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1991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0"/>
          <p:cNvSpPr/>
          <p:nvPr/>
        </p:nvSpPr>
        <p:spPr>
          <a:xfrm>
            <a:off x="1463040" y="1380744"/>
            <a:ext cx="73609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0"/>
          <p:cNvSpPr/>
          <p:nvPr/>
        </p:nvSpPr>
        <p:spPr>
          <a:xfrm>
            <a:off x="1463040" y="1380744"/>
            <a:ext cx="64008" cy="45720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0"/>
          <p:cNvSpPr/>
          <p:nvPr/>
        </p:nvSpPr>
        <p:spPr>
          <a:xfrm>
            <a:off x="1600200" y="1380744"/>
            <a:ext cx="7178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Solo GET, sin headers. No usado en .NET moderno.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0"/>
          <p:cNvSpPr/>
          <p:nvPr/>
        </p:nvSpPr>
        <p:spPr>
          <a:xfrm>
            <a:off x="320040" y="2011680"/>
            <a:ext cx="1097280" cy="59436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0"/>
          <p:cNvSpPr/>
          <p:nvPr/>
        </p:nvSpPr>
        <p:spPr>
          <a:xfrm>
            <a:off x="320040" y="201168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HTTP/1.0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0"/>
          <p:cNvSpPr/>
          <p:nvPr/>
        </p:nvSpPr>
        <p:spPr>
          <a:xfrm>
            <a:off x="320040" y="23591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1996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0"/>
          <p:cNvSpPr/>
          <p:nvPr/>
        </p:nvSpPr>
        <p:spPr>
          <a:xfrm>
            <a:off x="1463040" y="2075688"/>
            <a:ext cx="73609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0"/>
          <p:cNvSpPr/>
          <p:nvPr/>
        </p:nvSpPr>
        <p:spPr>
          <a:xfrm>
            <a:off x="1463040" y="2075688"/>
            <a:ext cx="64008" cy="45720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0"/>
          <p:cNvSpPr/>
          <p:nvPr/>
        </p:nvSpPr>
        <p:spPr>
          <a:xfrm>
            <a:off x="1600200" y="2075688"/>
            <a:ext cx="7178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POST/HEAD, headers, status codes. Conexiones no persistentes.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0"/>
          <p:cNvSpPr/>
          <p:nvPr/>
        </p:nvSpPr>
        <p:spPr>
          <a:xfrm>
            <a:off x="320040" y="2706624"/>
            <a:ext cx="1097280" cy="5943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0"/>
          <p:cNvSpPr/>
          <p:nvPr/>
        </p:nvSpPr>
        <p:spPr>
          <a:xfrm>
            <a:off x="320040" y="2706624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HTTP/1.1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0"/>
          <p:cNvSpPr/>
          <p:nvPr/>
        </p:nvSpPr>
        <p:spPr>
          <a:xfrm>
            <a:off x="320040" y="3054096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1997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0"/>
          <p:cNvSpPr/>
          <p:nvPr/>
        </p:nvSpPr>
        <p:spPr>
          <a:xfrm>
            <a:off x="1463040" y="2770632"/>
            <a:ext cx="73609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0"/>
          <p:cNvSpPr/>
          <p:nvPr/>
        </p:nvSpPr>
        <p:spPr>
          <a:xfrm>
            <a:off x="1463040" y="2770632"/>
            <a:ext cx="64008" cy="457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0"/>
          <p:cNvSpPr/>
          <p:nvPr/>
        </p:nvSpPr>
        <p:spPr>
          <a:xfrm>
            <a:off x="1600200" y="2770632"/>
            <a:ext cx="7178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Keep-Alive, pipelining. HttpClient lo soporta por defecto.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0"/>
          <p:cNvSpPr/>
          <p:nvPr/>
        </p:nvSpPr>
        <p:spPr>
          <a:xfrm>
            <a:off x="320040" y="3401568"/>
            <a:ext cx="1097280" cy="5943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0"/>
          <p:cNvSpPr/>
          <p:nvPr/>
        </p:nvSpPr>
        <p:spPr>
          <a:xfrm>
            <a:off x="320040" y="3401568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HTTP/2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0"/>
          <p:cNvSpPr/>
          <p:nvPr/>
        </p:nvSpPr>
        <p:spPr>
          <a:xfrm>
            <a:off x="320040" y="3749040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2015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0"/>
          <p:cNvSpPr/>
          <p:nvPr/>
        </p:nvSpPr>
        <p:spPr>
          <a:xfrm>
            <a:off x="1463040" y="3465576"/>
            <a:ext cx="73609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0"/>
          <p:cNvSpPr/>
          <p:nvPr/>
        </p:nvSpPr>
        <p:spPr>
          <a:xfrm>
            <a:off x="1463040" y="3465576"/>
            <a:ext cx="64008" cy="4572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0"/>
          <p:cNvSpPr/>
          <p:nvPr/>
        </p:nvSpPr>
        <p:spPr>
          <a:xfrm>
            <a:off x="1600200" y="3465576"/>
            <a:ext cx="7178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Multiplexación, compresión de headers. Kestrel lo activa con TLS.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0"/>
          <p:cNvSpPr/>
          <p:nvPr/>
        </p:nvSpPr>
        <p:spPr>
          <a:xfrm>
            <a:off x="320040" y="4096512"/>
            <a:ext cx="1097280" cy="59436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0"/>
          <p:cNvSpPr/>
          <p:nvPr/>
        </p:nvSpPr>
        <p:spPr>
          <a:xfrm>
            <a:off x="320040" y="409651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HTTP/3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0"/>
          <p:cNvSpPr/>
          <p:nvPr/>
        </p:nvSpPr>
        <p:spPr>
          <a:xfrm>
            <a:off x="320040" y="4443984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2022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0"/>
          <p:cNvSpPr/>
          <p:nvPr/>
        </p:nvSpPr>
        <p:spPr>
          <a:xfrm>
            <a:off x="1463040" y="4160520"/>
            <a:ext cx="73609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0"/>
          <p:cNvSpPr/>
          <p:nvPr/>
        </p:nvSpPr>
        <p:spPr>
          <a:xfrm>
            <a:off x="1463040" y="4160520"/>
            <a:ext cx="64008" cy="4572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0"/>
          <p:cNvSpPr/>
          <p:nvPr/>
        </p:nvSpPr>
        <p:spPr>
          <a:xfrm>
            <a:off x="1600200" y="4160520"/>
            <a:ext cx="7178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QUIC sobre UDP, menor latencia. ASP.NET Core 7+ con UseHttps().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HTTPS en ASP.NET Core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1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TLS/SSL, certificados y seguridad en Web API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1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Introducción a la Programación y Computación 2 | C# · Razor Pages · ASP.NET Core Web API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1"/>
          <p:cNvSpPr/>
          <p:nvPr/>
        </p:nvSpPr>
        <p:spPr>
          <a:xfrm>
            <a:off x="365760" y="129844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HTTPS es la versión segura de HTTP, encriptada con TLS/SSL. En ASP.NET Core, se configura automáticamente con Kestrel. Utiliza criptografía asimétrica: clave pública para cifrar y clave privada para descifrar.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1"/>
          <p:cNvSpPr/>
          <p:nvPr/>
        </p:nvSpPr>
        <p:spPr>
          <a:xfrm>
            <a:off x="320040" y="2377440"/>
            <a:ext cx="420624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1"/>
          <p:cNvSpPr/>
          <p:nvPr/>
        </p:nvSpPr>
        <p:spPr>
          <a:xfrm>
            <a:off x="320040" y="2377440"/>
            <a:ext cx="64008" cy="100584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1"/>
          <p:cNvSpPr/>
          <p:nvPr/>
        </p:nvSpPr>
        <p:spPr>
          <a:xfrm>
            <a:off x="484632" y="244144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Clave Privada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1"/>
          <p:cNvSpPr/>
          <p:nvPr/>
        </p:nvSpPr>
        <p:spPr>
          <a:xfrm>
            <a:off x="484632" y="2770632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Reside en el servidor. Descifra lo que la clave pública cifró. Se configura con pfx/pem en appsettings.json.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1"/>
          <p:cNvSpPr/>
          <p:nvPr/>
        </p:nvSpPr>
        <p:spPr>
          <a:xfrm>
            <a:off x="4754880" y="2377440"/>
            <a:ext cx="420624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1"/>
          <p:cNvSpPr/>
          <p:nvPr/>
        </p:nvSpPr>
        <p:spPr>
          <a:xfrm>
            <a:off x="4754880" y="2377440"/>
            <a:ext cx="64008" cy="100584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1"/>
          <p:cNvSpPr/>
          <p:nvPr/>
        </p:nvSpPr>
        <p:spPr>
          <a:xfrm>
            <a:off x="4919472" y="244144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Clave Pública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1"/>
          <p:cNvSpPr/>
          <p:nvPr/>
        </p:nvSpPr>
        <p:spPr>
          <a:xfrm>
            <a:off x="4919472" y="2770632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Disponible en el certificado. El cliente la usa para cifrar la sesión inicial (handshake TLS).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1"/>
          <p:cNvSpPr/>
          <p:nvPr/>
        </p:nvSpPr>
        <p:spPr>
          <a:xfrm>
            <a:off x="320040" y="3520440"/>
            <a:ext cx="420624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1"/>
          <p:cNvSpPr/>
          <p:nvPr/>
        </p:nvSpPr>
        <p:spPr>
          <a:xfrm>
            <a:off x="320040" y="3520440"/>
            <a:ext cx="64008" cy="100584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1"/>
          <p:cNvSpPr/>
          <p:nvPr/>
        </p:nvSpPr>
        <p:spPr>
          <a:xfrm>
            <a:off x="484632" y="358444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HSTS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1"/>
          <p:cNvSpPr/>
          <p:nvPr/>
        </p:nvSpPr>
        <p:spPr>
          <a:xfrm>
            <a:off x="484632" y="3913632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HTTP Strict Transport Security. ASP.NET Core lo activa con app.UseHsts() para forzar HTTPS.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1"/>
          <p:cNvSpPr/>
          <p:nvPr/>
        </p:nvSpPr>
        <p:spPr>
          <a:xfrm>
            <a:off x="4754880" y="3520440"/>
            <a:ext cx="420624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1"/>
          <p:cNvSpPr/>
          <p:nvPr/>
        </p:nvSpPr>
        <p:spPr>
          <a:xfrm>
            <a:off x="4754880" y="3520440"/>
            <a:ext cx="64008" cy="100584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1"/>
          <p:cNvSpPr/>
          <p:nvPr/>
        </p:nvSpPr>
        <p:spPr>
          <a:xfrm>
            <a:off x="4919472" y="358444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Redirección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1"/>
          <p:cNvSpPr/>
          <p:nvPr/>
        </p:nvSpPr>
        <p:spPr>
          <a:xfrm>
            <a:off x="4919472" y="3913632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app.UseHttpsRedirection() redirige todo el tráfico HTTP al puerto HTTPS automáticamente.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1"/>
          <p:cNvSpPr/>
          <p:nvPr/>
        </p:nvSpPr>
        <p:spPr>
          <a:xfrm>
            <a:off x="4937760" y="1188720"/>
            <a:ext cx="3931920" cy="1179576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1"/>
          <p:cNvSpPr/>
          <p:nvPr/>
        </p:nvSpPr>
        <p:spPr>
          <a:xfrm>
            <a:off x="5029200" y="1177466"/>
            <a:ext cx="3703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// Program.cs</a:t>
            </a:r>
            <a:br>
              <a:rPr lang="en-US" sz="9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app.</a:t>
            </a:r>
            <a:r>
              <a:rPr lang="en-US" sz="95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UseHttpsRedirection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app.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UseHsts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app.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UseAuthentication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app.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UseAuthorization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2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2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2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Ejemplo Integrador: Razor Pages + Web API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2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Consumo de JSON desde el frontend al backend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2"/>
          <p:cNvSpPr/>
          <p:nvPr/>
        </p:nvSpPr>
        <p:spPr>
          <a:xfrm>
            <a:off x="320040" y="1298448"/>
            <a:ext cx="4160520" cy="3657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2"/>
          <p:cNvSpPr/>
          <p:nvPr/>
        </p:nvSpPr>
        <p:spPr>
          <a:xfrm>
            <a:off x="320040" y="1298448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⚙️  ASP.NET Core Web API (Backend)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2"/>
          <p:cNvSpPr/>
          <p:nvPr/>
        </p:nvSpPr>
        <p:spPr>
          <a:xfrm>
            <a:off x="320040" y="1664207"/>
            <a:ext cx="4160520" cy="3611177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2"/>
          <p:cNvSpPr/>
          <p:nvPr/>
        </p:nvSpPr>
        <p:spPr>
          <a:xfrm>
            <a:off x="411480" y="1737360"/>
            <a:ext cx="39776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[ApiController]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[Route(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"api/[controller]"</a:t>
            </a:r>
            <a:r>
              <a:rPr lang="en-US" sz="80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)]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public class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ProductosController</a:t>
            </a:r>
            <a:br>
              <a:rPr lang="en-US" sz="8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    : ControllerBase</a:t>
            </a:r>
            <a:br>
              <a:rPr lang="en-US" sz="8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-US" sz="8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[HttpGet]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public IActionResult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GetAll()</a:t>
            </a:r>
            <a:b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b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    var 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lista = _service.GetAll();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Ok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(lista); // 200 + JSON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[HttpGet(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"{id}"</a:t>
            </a:r>
            <a:r>
              <a:rPr lang="en-US" sz="80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)]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public IActionResult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GetById(int id)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var p = _service.Get(id);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(p == null)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return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NotFound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Ok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(p);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2"/>
          <p:cNvSpPr/>
          <p:nvPr/>
        </p:nvSpPr>
        <p:spPr>
          <a:xfrm>
            <a:off x="4663440" y="1298448"/>
            <a:ext cx="4160520" cy="3657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2"/>
          <p:cNvSpPr/>
          <p:nvPr/>
        </p:nvSpPr>
        <p:spPr>
          <a:xfrm>
            <a:off x="4663440" y="1298448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📄  Razor Pages (Frontend)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2"/>
          <p:cNvSpPr/>
          <p:nvPr/>
        </p:nvSpPr>
        <p:spPr>
          <a:xfrm>
            <a:off x="4663440" y="1664208"/>
            <a:ext cx="4160520" cy="29718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2"/>
          <p:cNvSpPr/>
          <p:nvPr/>
        </p:nvSpPr>
        <p:spPr>
          <a:xfrm>
            <a:off x="4754880" y="1737360"/>
            <a:ext cx="39776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// Productos.cshtml.cs</a:t>
            </a:r>
            <a:br>
              <a:rPr lang="en-US" sz="90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0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public class </a:t>
            </a:r>
            <a:r>
              <a:rPr lang="en-US" sz="9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ProductosModel</a:t>
            </a:r>
            <a:br>
              <a:rPr lang="en-US" sz="9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    : PageModel</a:t>
            </a:r>
            <a:br>
              <a:rPr lang="en-US" sz="9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-US" sz="9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0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public List&lt;Producto&gt; </a:t>
            </a: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Items { get;set; }</a:t>
            </a:r>
            <a:b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0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    public async Task </a:t>
            </a: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OnGetAsync()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Items = await _http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.GetFromJsonAsync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&lt;List&lt;Producto&gt;&gt;(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"https://api/productos"</a:t>
            </a: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0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// Productos.cshtml</a:t>
            </a:r>
            <a:br>
              <a:rPr lang="en-US" sz="90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@foreach (var p in Model.Items)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&lt;p&gt;@p.Nombre – @p.Precio&lt;/p&gt;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2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3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3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Conceptos Clave Aprendidos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3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Resumen de la sesión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Introducción a la Programación y Computación 2 | C# · Razor Pages · ASP.NET Core Web API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3"/>
          <p:cNvSpPr/>
          <p:nvPr/>
        </p:nvSpPr>
        <p:spPr>
          <a:xfrm>
            <a:off x="320040" y="1316736"/>
            <a:ext cx="420624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3"/>
          <p:cNvSpPr/>
          <p:nvPr/>
        </p:nvSpPr>
        <p:spPr>
          <a:xfrm>
            <a:off x="411480" y="13898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3"/>
          <p:cNvSpPr/>
          <p:nvPr/>
        </p:nvSpPr>
        <p:spPr>
          <a:xfrm>
            <a:off x="1051560" y="1380744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JSON en C#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3"/>
          <p:cNvSpPr/>
          <p:nvPr/>
        </p:nvSpPr>
        <p:spPr>
          <a:xfrm>
            <a:off x="1051560" y="1719072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Formato ligero de intercambio de datos. Se serializa/deserializa con System.Text.Json o Newtonsoft.Json. Soporta string, number, bool, null, object y array.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3"/>
          <p:cNvSpPr/>
          <p:nvPr/>
        </p:nvSpPr>
        <p:spPr>
          <a:xfrm>
            <a:off x="4754880" y="1316736"/>
            <a:ext cx="420624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3"/>
          <p:cNvSpPr/>
          <p:nvPr/>
        </p:nvSpPr>
        <p:spPr>
          <a:xfrm>
            <a:off x="4846320" y="13898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🔀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3"/>
          <p:cNvSpPr/>
          <p:nvPr/>
        </p:nvSpPr>
        <p:spPr>
          <a:xfrm>
            <a:off x="5486400" y="1380744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JSON vs XML en .NET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3"/>
          <p:cNvSpPr/>
          <p:nvPr/>
        </p:nvSpPr>
        <p:spPr>
          <a:xfrm>
            <a:off x="5486400" y="1719072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JSON: compacto, ideal para REST APIs con ASP.NET Core. XML: mejor para documentos complejos y sistemas legacy con SOAP/WSDL.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3"/>
          <p:cNvSpPr/>
          <p:nvPr/>
        </p:nvSpPr>
        <p:spPr>
          <a:xfrm>
            <a:off x="320040" y="2505456"/>
            <a:ext cx="420624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3"/>
          <p:cNvSpPr/>
          <p:nvPr/>
        </p:nvSpPr>
        <p:spPr>
          <a:xfrm>
            <a:off x="411480" y="257860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3"/>
          <p:cNvSpPr/>
          <p:nvPr/>
        </p:nvSpPr>
        <p:spPr>
          <a:xfrm>
            <a:off x="1051560" y="2569464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Internet y HTTP en C#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3"/>
          <p:cNvSpPr/>
          <p:nvPr/>
        </p:nvSpPr>
        <p:spPr>
          <a:xfrm>
            <a:off x="1051560" y="2907792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HTTP sigue el modelo cliente-servidor sin estado. HttpClient en .NET implementa GET, POST, PUT, DELETE para consumir APIs REST desde Razor Pages.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3"/>
          <p:cNvSpPr/>
          <p:nvPr/>
        </p:nvSpPr>
        <p:spPr>
          <a:xfrm>
            <a:off x="4754880" y="2505456"/>
            <a:ext cx="420624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3"/>
          <p:cNvSpPr/>
          <p:nvPr/>
        </p:nvSpPr>
        <p:spPr>
          <a:xfrm>
            <a:off x="4846320" y="257860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3"/>
          <p:cNvSpPr/>
          <p:nvPr/>
        </p:nvSpPr>
        <p:spPr>
          <a:xfrm>
            <a:off x="5486400" y="2569464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Códigos de Estado HTTP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3"/>
          <p:cNvSpPr/>
          <p:nvPr/>
        </p:nvSpPr>
        <p:spPr>
          <a:xfrm>
            <a:off x="5486400" y="2907792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HttpStatusCode enum en .NET. Los controladores devuelven Ok(), Created(), BadRequest(), NotFound(), etc. según el resultado de la operación.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3"/>
          <p:cNvSpPr/>
          <p:nvPr/>
        </p:nvSpPr>
        <p:spPr>
          <a:xfrm>
            <a:off x="320040" y="3694176"/>
            <a:ext cx="420624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3"/>
          <p:cNvSpPr/>
          <p:nvPr/>
        </p:nvSpPr>
        <p:spPr>
          <a:xfrm>
            <a:off x="411480" y="37673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3"/>
          <p:cNvSpPr/>
          <p:nvPr/>
        </p:nvSpPr>
        <p:spPr>
          <a:xfrm>
            <a:off x="1051560" y="3758184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HTTPS y Seguridad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3"/>
          <p:cNvSpPr/>
          <p:nvPr/>
        </p:nvSpPr>
        <p:spPr>
          <a:xfrm>
            <a:off x="1051560" y="4096512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ASP.NET Core activa HTTPS con Kestrel. UseHttpsRedirection() y UseHsts() garantizan comunicaciones seguras con TLS/SSL en producción.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3"/>
          <p:cNvSpPr/>
          <p:nvPr/>
        </p:nvSpPr>
        <p:spPr>
          <a:xfrm>
            <a:off x="4754880" y="3694176"/>
            <a:ext cx="420624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3"/>
          <p:cNvSpPr/>
          <p:nvPr/>
        </p:nvSpPr>
        <p:spPr>
          <a:xfrm>
            <a:off x="4846320" y="37673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3"/>
          <p:cNvSpPr/>
          <p:nvPr/>
        </p:nvSpPr>
        <p:spPr>
          <a:xfrm>
            <a:off x="5486400" y="3758184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Razor Pages + Web API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3"/>
          <p:cNvSpPr/>
          <p:nvPr/>
        </p:nvSpPr>
        <p:spPr>
          <a:xfrm>
            <a:off x="5486400" y="4096512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Arquitectura separada: Razor Pages (frontend en C#) consume endpoints JSON del ASP.NET Core Web API (backend) vía HttpClient.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4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4"/>
          <p:cNvSpPr/>
          <p:nvPr/>
        </p:nvSpPr>
        <p:spPr>
          <a:xfrm>
            <a:off x="3200400" y="64008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Calibri"/>
              <a:buNone/>
            </a:pPr>
            <a:r>
              <a:rPr lang="en-US" sz="7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🙏</a:t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4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¡GRACIAS POR SU ATENCIÓN!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4"/>
          <p:cNvSpPr/>
          <p:nvPr/>
        </p:nvSpPr>
        <p:spPr>
          <a:xfrm>
            <a:off x="1371600" y="251460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DUDAS &amp; PREGUNTAS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4"/>
          <p:cNvSpPr/>
          <p:nvPr/>
        </p:nvSpPr>
        <p:spPr>
          <a:xfrm>
            <a:off x="1828800" y="3154680"/>
            <a:ext cx="5486400" cy="640080"/>
          </a:xfrm>
          <a:prstGeom prst="rect">
            <a:avLst/>
          </a:prstGeom>
          <a:solidFill>
            <a:srgbClr val="172554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4"/>
          <p:cNvSpPr/>
          <p:nvPr/>
        </p:nvSpPr>
        <p:spPr>
          <a:xfrm>
            <a:off x="1920240" y="3172968"/>
            <a:ext cx="53035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💬 Recuerda que tenemos nuestro Foro Semanal donde puedes consultar cualquier duda que te surja en la semana.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Introducción a la Programación y Computación 2 [D]  |  C# · Razor Pages · ASP.NET Core Web API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9aa8999975_0_0"/>
          <p:cNvSpPr/>
          <p:nvPr/>
        </p:nvSpPr>
        <p:spPr>
          <a:xfrm>
            <a:off x="0" y="0"/>
            <a:ext cx="9144000" cy="3646170"/>
          </a:xfrm>
          <a:custGeom>
            <a:rect b="b" l="l" r="r" t="t"/>
            <a:pathLst>
              <a:path extrusionOk="0" h="7292340" w="18288000">
                <a:moveTo>
                  <a:pt x="0" y="0"/>
                </a:moveTo>
                <a:lnTo>
                  <a:pt x="18288000" y="0"/>
                </a:lnTo>
                <a:lnTo>
                  <a:pt x="18288000" y="7292340"/>
                </a:lnTo>
                <a:lnTo>
                  <a:pt x="0" y="7292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9aa8999975_0_87"/>
          <p:cNvSpPr/>
          <p:nvPr/>
        </p:nvSpPr>
        <p:spPr>
          <a:xfrm>
            <a:off x="407222" y="0"/>
            <a:ext cx="8329555" cy="51435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25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5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5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Referencias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Documentación oficial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5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Introducción a la Programación y Computación 2 | C# · Razor Pages · ASP.NET Core Web API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5"/>
          <p:cNvSpPr/>
          <p:nvPr/>
        </p:nvSpPr>
        <p:spPr>
          <a:xfrm>
            <a:off x="320040" y="1316736"/>
            <a:ext cx="850392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5"/>
          <p:cNvSpPr/>
          <p:nvPr/>
        </p:nvSpPr>
        <p:spPr>
          <a:xfrm>
            <a:off x="320040" y="1316736"/>
            <a:ext cx="54864" cy="43891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5"/>
          <p:cNvSpPr/>
          <p:nvPr/>
        </p:nvSpPr>
        <p:spPr>
          <a:xfrm>
            <a:off x="457200" y="1316736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Microsoft. (2024). System.Text.Json overview. Microsoft Learn. https://learn.microsoft.com/en-us/dotnet/standard/serialization/system-text-json/overview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5"/>
          <p:cNvSpPr/>
          <p:nvPr/>
        </p:nvSpPr>
        <p:spPr>
          <a:xfrm>
            <a:off x="320040" y="1810512"/>
            <a:ext cx="8503920" cy="438912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5"/>
          <p:cNvSpPr/>
          <p:nvPr/>
        </p:nvSpPr>
        <p:spPr>
          <a:xfrm>
            <a:off x="320040" y="1810512"/>
            <a:ext cx="54864" cy="43891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5"/>
          <p:cNvSpPr/>
          <p:nvPr/>
        </p:nvSpPr>
        <p:spPr>
          <a:xfrm>
            <a:off x="457200" y="1810512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Microsoft. (2024). ASP.NET Core Web API. Microsoft Learn. https://learn.microsoft.com/en-us/aspnet/core/web-api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5"/>
          <p:cNvSpPr/>
          <p:nvPr/>
        </p:nvSpPr>
        <p:spPr>
          <a:xfrm>
            <a:off x="320040" y="2304288"/>
            <a:ext cx="850392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5"/>
          <p:cNvSpPr/>
          <p:nvPr/>
        </p:nvSpPr>
        <p:spPr>
          <a:xfrm>
            <a:off x="320040" y="2304288"/>
            <a:ext cx="54864" cy="43891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5"/>
          <p:cNvSpPr/>
          <p:nvPr/>
        </p:nvSpPr>
        <p:spPr>
          <a:xfrm>
            <a:off x="457200" y="2304288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Microsoft. (2024). Razor Pages in ASP.NET Core. Microsoft Learn. https://learn.microsoft.com/en-us/aspnet/core/razor-pages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5"/>
          <p:cNvSpPr/>
          <p:nvPr/>
        </p:nvSpPr>
        <p:spPr>
          <a:xfrm>
            <a:off x="320040" y="2798064"/>
            <a:ext cx="8503920" cy="438912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5"/>
          <p:cNvSpPr/>
          <p:nvPr/>
        </p:nvSpPr>
        <p:spPr>
          <a:xfrm>
            <a:off x="320040" y="2798064"/>
            <a:ext cx="54864" cy="43891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5"/>
          <p:cNvSpPr/>
          <p:nvPr/>
        </p:nvSpPr>
        <p:spPr>
          <a:xfrm>
            <a:off x="457200" y="2798064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Códigos de estado HTTP - HTTP | MDN. (2025). MDN Web Docs. https://developer.mozilla.org/es/docs/Web/HTTP/Reference/Status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5"/>
          <p:cNvSpPr/>
          <p:nvPr/>
        </p:nvSpPr>
        <p:spPr>
          <a:xfrm>
            <a:off x="320040" y="3291840"/>
            <a:ext cx="850392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5"/>
          <p:cNvSpPr/>
          <p:nvPr/>
        </p:nvSpPr>
        <p:spPr>
          <a:xfrm>
            <a:off x="320040" y="3291840"/>
            <a:ext cx="54864" cy="43891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5"/>
          <p:cNvSpPr/>
          <p:nvPr/>
        </p:nvSpPr>
        <p:spPr>
          <a:xfrm>
            <a:off x="457200" y="3291840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HTTP | MDN. (2025). MDN Web Docs. https://developer.mozilla.org/es/docs/Web/HTTP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5"/>
          <p:cNvSpPr/>
          <p:nvPr/>
        </p:nvSpPr>
        <p:spPr>
          <a:xfrm>
            <a:off x="320040" y="3785616"/>
            <a:ext cx="8503920" cy="438912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5"/>
          <p:cNvSpPr/>
          <p:nvPr/>
        </p:nvSpPr>
        <p:spPr>
          <a:xfrm>
            <a:off x="320040" y="3785616"/>
            <a:ext cx="54864" cy="43891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5"/>
          <p:cNvSpPr/>
          <p:nvPr/>
        </p:nvSpPr>
        <p:spPr>
          <a:xfrm>
            <a:off x="457200" y="3785616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Newtonsoft. (2024). Json.NET Documentation. https://www.newtonsoft.com/json/help/html/Introduction.htm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25"/>
          <p:cNvSpPr/>
          <p:nvPr/>
        </p:nvSpPr>
        <p:spPr>
          <a:xfrm>
            <a:off x="320040" y="4279392"/>
            <a:ext cx="850392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5"/>
          <p:cNvSpPr/>
          <p:nvPr/>
        </p:nvSpPr>
        <p:spPr>
          <a:xfrm>
            <a:off x="320040" y="4279392"/>
            <a:ext cx="54864" cy="43891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5"/>
          <p:cNvSpPr/>
          <p:nvPr/>
        </p:nvSpPr>
        <p:spPr>
          <a:xfrm>
            <a:off x="457200" y="4279392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GeeksforGeeks. (2025). HTTP Full Form. https://www.geeksforgeeks.org/http-full-form/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2026-04-14T21:59:26Z</dcterms:created>
  <dc:creator>PptxGenJS</dc:creator>
</cp:coreProperties>
</file>