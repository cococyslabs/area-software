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8288000" cy="10287000"/>
  <p:notesSz cx="6858000" cy="9144000"/>
  <p:embeddedFontLst>
    <p:embeddedFont>
      <p:font typeface="Arimo" panose="020B0604020202020204" charset="0"/>
      <p:regular r:id="rId41"/>
    </p:embeddedFont>
    <p:embeddedFont>
      <p:font typeface="Nunito" pitchFamily="2" charset="0"/>
      <p:regular r:id="rId42"/>
    </p:embeddedFont>
    <p:embeddedFont>
      <p:font typeface="Nunito Bold" charset="0"/>
      <p:regular r:id="rId43"/>
    </p:embeddedFont>
    <p:embeddedFont>
      <p:font typeface="Open Sans" panose="020B0606030504020204" pitchFamily="34" charset="0"/>
      <p:regular r:id="rId44"/>
    </p:embeddedFont>
    <p:embeddedFont>
      <p:font typeface="Open Sans Bold" panose="020B0806030504020204" charset="0"/>
      <p:regular r:id="rId45"/>
    </p:embeddedFont>
    <p:embeddedFont>
      <p:font typeface="Open Sans Bold Italics" panose="020B0604020202020204" charset="0"/>
      <p:regular r:id="rId46"/>
    </p:embeddedFont>
    <p:embeddedFont>
      <p:font typeface="Trebuchet MS Italics"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youtube.com/watch?v=axHut2e84fc&amp;t=312s" TargetMode="Externa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hyperlink" Target="https://dotnet.microsoft.com/en-us/download" TargetMode="External"/><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4.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10.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0.png"/><Relationship Id="rId1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6.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5.png"/><Relationship Id="rId2" Type="http://schemas.openxmlformats.org/officeDocument/2006/relationships/image" Target="../media/image23.jpeg"/><Relationship Id="rId16"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50.svg"/><Relationship Id="rId11" Type="http://schemas.openxmlformats.org/officeDocument/2006/relationships/image" Target="../media/image54.png"/><Relationship Id="rId5" Type="http://schemas.openxmlformats.org/officeDocument/2006/relationships/image" Target="../media/image49.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8.svg"/><Relationship Id="rId9" Type="http://schemas.openxmlformats.org/officeDocument/2006/relationships/image" Target="../media/image27.png"/><Relationship Id="rId14"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33.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hyperlink" Target="https://code.visualstudio.com"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code.visualstudio.com/docs/getstarted/getting-started" TargetMode="External"/><Relationship Id="rId3" Type="http://schemas.openxmlformats.org/officeDocument/2006/relationships/image" Target="../media/image66.png"/><Relationship Id="rId7" Type="http://schemas.openxmlformats.org/officeDocument/2006/relationships/image" Target="../media/image33.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68.png"/><Relationship Id="rId4" Type="http://schemas.openxmlformats.org/officeDocument/2006/relationships/image" Target="../media/image67.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1.png"/><Relationship Id="rId7" Type="http://schemas.openxmlformats.org/officeDocument/2006/relationships/image" Target="../media/image33.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hyperlink" Target="https://visualstudio.microsoft.com/es/thank-you-downloading-visual-studio/?sku=Community&amp;channel=Stable&amp;version=VS18&amp;source=VSLandingPage&amp;passive=false&amp;cid=2500"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0.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3.jpeg"/><Relationship Id="rId1" Type="http://schemas.openxmlformats.org/officeDocument/2006/relationships/slideLayout" Target="../slideLayouts/slideLayout7.xml"/><Relationship Id="rId5" Type="http://schemas.openxmlformats.org/officeDocument/2006/relationships/hyperlink" Target="https://cursor.com" TargetMode="External"/><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2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6" Type="http://schemas.openxmlformats.org/officeDocument/2006/relationships/image" Target="../media/image78.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2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9.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7.pn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9.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7.png"/></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8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63.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17" Type="http://schemas.openxmlformats.org/officeDocument/2006/relationships/image" Target="../media/image83.png"/><Relationship Id="rId2" Type="http://schemas.openxmlformats.org/officeDocument/2006/relationships/image" Target="../media/image23.jpeg"/><Relationship Id="rId16" Type="http://schemas.openxmlformats.org/officeDocument/2006/relationships/image" Target="../media/image82.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17" Type="http://schemas.openxmlformats.org/officeDocument/2006/relationships/image" Target="../media/image85.png"/><Relationship Id="rId2" Type="http://schemas.openxmlformats.org/officeDocument/2006/relationships/image" Target="../media/image23.jpeg"/><Relationship Id="rId16"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2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6"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3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6"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3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88.png"/><Relationship Id="rId3" Type="http://schemas.openxmlformats.org/officeDocument/2006/relationships/image" Target="../media/image72.png"/><Relationship Id="rId7" Type="http://schemas.openxmlformats.org/officeDocument/2006/relationships/image" Target="../media/image37.png"/><Relationship Id="rId12" Type="http://schemas.openxmlformats.org/officeDocument/2006/relationships/image" Target="../media/image77.png"/><Relationship Id="rId2" Type="http://schemas.openxmlformats.org/officeDocument/2006/relationships/image" Target="../media/image23.jpeg"/><Relationship Id="rId16"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6.png"/><Relationship Id="rId5" Type="http://schemas.openxmlformats.org/officeDocument/2006/relationships/image" Target="../media/image74.png"/><Relationship Id="rId15" Type="http://schemas.openxmlformats.org/officeDocument/2006/relationships/image" Target="../media/image90.png"/><Relationship Id="rId10" Type="http://schemas.openxmlformats.org/officeDocument/2006/relationships/image" Target="../media/image75.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89.png"/></Relationships>
</file>

<file path=ppt/slides/_rels/slide3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6"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3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3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18" Type="http://schemas.openxmlformats.org/officeDocument/2006/relationships/hyperlink" Target="https://www.sololearn.com/es/learn/courses/c-sharp-introduction" TargetMode="External"/><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17" Type="http://schemas.openxmlformats.org/officeDocument/2006/relationships/image" Target="../media/image94.png"/><Relationship Id="rId2" Type="http://schemas.openxmlformats.org/officeDocument/2006/relationships/image" Target="../media/image23.jpeg"/><Relationship Id="rId16"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3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12.png"/></Relationships>
</file>

<file path=ppt/slides/_rels/slide3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12.png"/></Relationships>
</file>

<file path=ppt/slides/_rels/slide3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18" Type="http://schemas.openxmlformats.org/officeDocument/2006/relationships/hyperlink" Target="https://www.luisllamas.es/csharp-sintaxis-basica/" TargetMode="External"/><Relationship Id="rId3" Type="http://schemas.openxmlformats.org/officeDocument/2006/relationships/image" Target="../media/image72.png"/><Relationship Id="rId21" Type="http://schemas.openxmlformats.org/officeDocument/2006/relationships/hyperlink" Target="https://blog.walthercuro.com/tipos-de-datos-en-c/" TargetMode="External"/><Relationship Id="rId7" Type="http://schemas.openxmlformats.org/officeDocument/2006/relationships/image" Target="../media/image74.png"/><Relationship Id="rId12" Type="http://schemas.openxmlformats.org/officeDocument/2006/relationships/image" Target="../media/image11.png"/><Relationship Id="rId17" Type="http://schemas.openxmlformats.org/officeDocument/2006/relationships/hyperlink" Target="https://kodigo.org/lenguaje-c-c-sharp-que-es-y-para-que-sirve/" TargetMode="External"/><Relationship Id="rId2" Type="http://schemas.openxmlformats.org/officeDocument/2006/relationships/image" Target="../media/image23.jpeg"/><Relationship Id="rId16" Type="http://schemas.openxmlformats.org/officeDocument/2006/relationships/hyperlink" Target="https://azulschool.net/que-es-net-y-para-que-sirve/" TargetMode="External"/><Relationship Id="rId20" Type="http://schemas.openxmlformats.org/officeDocument/2006/relationships/hyperlink" Target="https://learn.microsoft.com/es-es/dotnet/csharp/language-reference/keywords/" TargetMode="Externa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7.png"/><Relationship Id="rId19" Type="http://schemas.openxmlformats.org/officeDocument/2006/relationships/hyperlink" Target="https://dotnet.microsoft.com/es-es/languages/csharp" TargetMode="External"/><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12.png"/></Relationships>
</file>

<file path=ppt/slides/_rels/slide3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6"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_rels/slide3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11.png"/><Relationship Id="rId2" Type="http://schemas.openxmlformats.org/officeDocument/2006/relationships/image" Target="../media/image23.jpeg"/><Relationship Id="rId16" Type="http://schemas.openxmlformats.org/officeDocument/2006/relationships/image" Target="../media/image96.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png"/><Relationship Id="rId5" Type="http://schemas.openxmlformats.org/officeDocument/2006/relationships/image" Target="../media/image9.png"/><Relationship Id="rId15" Type="http://schemas.openxmlformats.org/officeDocument/2006/relationships/image" Target="../media/image77.png"/><Relationship Id="rId10" Type="http://schemas.openxmlformats.org/officeDocument/2006/relationships/image" Target="../media/image37.png"/><Relationship Id="rId4" Type="http://schemas.openxmlformats.org/officeDocument/2006/relationships/image" Target="../media/image73.png"/><Relationship Id="rId9" Type="http://schemas.openxmlformats.org/officeDocument/2006/relationships/image" Target="../media/image3.png"/><Relationship Id="rId1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54196" cy="10287000"/>
          </a:xfrm>
          <a:custGeom>
            <a:avLst/>
            <a:gdLst/>
            <a:ahLst/>
            <a:cxnLst/>
            <a:rect l="l" t="t" r="r" b="b"/>
            <a:pathLst>
              <a:path w="18254196" h="10287000">
                <a:moveTo>
                  <a:pt x="0" y="0"/>
                </a:moveTo>
                <a:lnTo>
                  <a:pt x="18254196" y="0"/>
                </a:lnTo>
                <a:lnTo>
                  <a:pt x="18254196" y="10287000"/>
                </a:lnTo>
                <a:lnTo>
                  <a:pt x="0" y="10287000"/>
                </a:lnTo>
                <a:lnTo>
                  <a:pt x="0" y="0"/>
                </a:lnTo>
                <a:close/>
              </a:path>
            </a:pathLst>
          </a:custGeom>
          <a:blipFill>
            <a:blip r:embed="rId2"/>
            <a:stretch>
              <a:fillRect/>
            </a:stretch>
          </a:blipFill>
        </p:spPr>
        <p:txBody>
          <a:bodyPr/>
          <a:lstStyle/>
          <a:p>
            <a:endParaRPr lang="es-GT"/>
          </a:p>
        </p:txBody>
      </p:sp>
      <p:graphicFrame>
        <p:nvGraphicFramePr>
          <p:cNvPr id="3" name="Table 3"/>
          <p:cNvGraphicFramePr>
            <a:graphicFrameLocks noGrp="1"/>
          </p:cNvGraphicFramePr>
          <p:nvPr/>
        </p:nvGraphicFramePr>
        <p:xfrm>
          <a:off x="10656400" y="1940050"/>
          <a:ext cx="7378700" cy="1943100"/>
        </p:xfrm>
        <a:graphic>
          <a:graphicData uri="http://schemas.openxmlformats.org/drawingml/2006/table">
            <a:tbl>
              <a:tblPr/>
              <a:tblGrid>
                <a:gridCol w="3042074">
                  <a:extLst>
                    <a:ext uri="{9D8B030D-6E8A-4147-A177-3AD203B41FA5}">
                      <a16:colId xmlns:a16="http://schemas.microsoft.com/office/drawing/2014/main" val="20000"/>
                    </a:ext>
                  </a:extLst>
                </a:gridCol>
                <a:gridCol w="4336626">
                  <a:extLst>
                    <a:ext uri="{9D8B030D-6E8A-4147-A177-3AD203B41FA5}">
                      <a16:colId xmlns:a16="http://schemas.microsoft.com/office/drawing/2014/main" val="20001"/>
                    </a:ext>
                  </a:extLst>
                </a:gridCol>
              </a:tblGrid>
              <a:tr h="971550">
                <a:tc>
                  <a:txBody>
                    <a:bodyPr/>
                    <a:lstStyle/>
                    <a:p>
                      <a:pPr algn="l">
                        <a:lnSpc>
                          <a:spcPts val="3359"/>
                        </a:lnSpc>
                        <a:defRPr/>
                      </a:pPr>
                      <a:r>
                        <a:rPr lang="en-US" sz="2799" b="1">
                          <a:solidFill>
                            <a:srgbClr val="000000"/>
                          </a:solidFill>
                          <a:latin typeface="Open Sans Bold"/>
                          <a:ea typeface="Open Sans Bold"/>
                          <a:cs typeface="Open Sans Bold"/>
                          <a:sym typeface="Open Sans Bold"/>
                        </a:rPr>
                        <a:t>Día, Fecha</a:t>
                      </a:r>
                      <a:endParaRPr lang="en-US" sz="1100"/>
                    </a:p>
                  </a:txBody>
                  <a:tcPr marL="182850" marR="182850" marT="182850" marB="1828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lvl="0" indent="0" algn="l">
                        <a:lnSpc>
                          <a:spcPts val="3359"/>
                        </a:lnSpc>
                        <a:spcBef>
                          <a:spcPct val="0"/>
                        </a:spcBef>
                        <a:defRPr/>
                      </a:pPr>
                      <a:r>
                        <a:rPr lang="en-US" sz="2799" b="1">
                          <a:solidFill>
                            <a:srgbClr val="000000"/>
                          </a:solidFill>
                          <a:latin typeface="Open Sans Bold"/>
                          <a:ea typeface="Open Sans Bold"/>
                          <a:cs typeface="Open Sans Bold"/>
                          <a:sym typeface="Open Sans Bold"/>
                        </a:rPr>
                        <a:t>27 </a:t>
                      </a:r>
                      <a:r>
                        <a:rPr lang="en-US" sz="2799" b="1" u="none" strike="noStrike">
                          <a:solidFill>
                            <a:srgbClr val="000000"/>
                          </a:solidFill>
                          <a:latin typeface="Open Sans Bold"/>
                          <a:ea typeface="Open Sans Bold"/>
                          <a:cs typeface="Open Sans Bold"/>
                          <a:sym typeface="Open Sans Bold"/>
                        </a:rPr>
                        <a:t>de Enero, 2026</a:t>
                      </a:r>
                      <a:endParaRPr lang="en-US" sz="1100"/>
                    </a:p>
                  </a:txBody>
                  <a:tcPr marL="182850" marR="182850" marT="182850" marB="1828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1550">
                <a:tc>
                  <a:txBody>
                    <a:bodyPr/>
                    <a:lstStyle/>
                    <a:p>
                      <a:pPr algn="l">
                        <a:lnSpc>
                          <a:spcPts val="3359"/>
                        </a:lnSpc>
                        <a:defRPr/>
                      </a:pPr>
                      <a:r>
                        <a:rPr lang="en-US" sz="2799" b="1">
                          <a:solidFill>
                            <a:srgbClr val="000000"/>
                          </a:solidFill>
                          <a:latin typeface="Open Sans Bold"/>
                          <a:ea typeface="Open Sans Bold"/>
                          <a:cs typeface="Open Sans Bold"/>
                          <a:sym typeface="Open Sans Bold"/>
                        </a:rPr>
                        <a:t>Hora De Inicio</a:t>
                      </a:r>
                      <a:endParaRPr lang="en-US" sz="1100"/>
                    </a:p>
                  </a:txBody>
                  <a:tcPr marL="182850" marR="182850" marT="182850" marB="1828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lvl="0" indent="0" algn="l">
                        <a:lnSpc>
                          <a:spcPts val="3359"/>
                        </a:lnSpc>
                        <a:spcBef>
                          <a:spcPct val="0"/>
                        </a:spcBef>
                        <a:defRPr/>
                      </a:pPr>
                      <a:r>
                        <a:rPr lang="en-US" sz="2799" b="1" u="none" strike="noStrike">
                          <a:solidFill>
                            <a:srgbClr val="000000"/>
                          </a:solidFill>
                          <a:latin typeface="Open Sans Bold"/>
                          <a:ea typeface="Open Sans Bold"/>
                          <a:cs typeface="Open Sans Bold"/>
                          <a:sym typeface="Open Sans Bold"/>
                        </a:rPr>
                        <a:t>17:20 PM</a:t>
                      </a:r>
                      <a:endParaRPr lang="en-US" sz="1100"/>
                    </a:p>
                  </a:txBody>
                  <a:tcPr marL="182850" marR="182850" marT="182850" marB="1828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TextBox 4"/>
          <p:cNvSpPr txBox="1"/>
          <p:nvPr/>
        </p:nvSpPr>
        <p:spPr>
          <a:xfrm>
            <a:off x="1028700" y="4199834"/>
            <a:ext cx="16230600" cy="3124200"/>
          </a:xfrm>
          <a:prstGeom prst="rect">
            <a:avLst/>
          </a:prstGeom>
        </p:spPr>
        <p:txBody>
          <a:bodyPr lIns="0" tIns="0" rIns="0" bIns="0" rtlCol="0" anchor="t">
            <a:spAutoFit/>
          </a:bodyPr>
          <a:lstStyle/>
          <a:p>
            <a:pPr algn="ctr">
              <a:lnSpc>
                <a:spcPts val="8400"/>
              </a:lnSpc>
            </a:pPr>
            <a:r>
              <a:rPr lang="en-US" sz="5000" b="1" dirty="0" err="1">
                <a:solidFill>
                  <a:srgbClr val="131416"/>
                </a:solidFill>
                <a:latin typeface="Open Sans Bold"/>
                <a:ea typeface="Open Sans Bold"/>
                <a:cs typeface="Open Sans Bold"/>
                <a:sym typeface="Open Sans Bold"/>
              </a:rPr>
              <a:t>Introducción</a:t>
            </a:r>
            <a:r>
              <a:rPr lang="en-US" sz="5000" b="1" dirty="0">
                <a:solidFill>
                  <a:srgbClr val="131416"/>
                </a:solidFill>
                <a:latin typeface="Open Sans Bold"/>
                <a:ea typeface="Open Sans Bold"/>
                <a:cs typeface="Open Sans Bold"/>
                <a:sym typeface="Open Sans Bold"/>
              </a:rPr>
              <a:t> A La </a:t>
            </a:r>
            <a:r>
              <a:rPr lang="en-US" sz="5000" b="1" dirty="0" err="1">
                <a:solidFill>
                  <a:srgbClr val="131416"/>
                </a:solidFill>
                <a:latin typeface="Open Sans Bold"/>
                <a:ea typeface="Open Sans Bold"/>
                <a:cs typeface="Open Sans Bold"/>
                <a:sym typeface="Open Sans Bold"/>
              </a:rPr>
              <a:t>Programación</a:t>
            </a:r>
            <a:r>
              <a:rPr lang="en-US" sz="5000" b="1" dirty="0">
                <a:solidFill>
                  <a:srgbClr val="131416"/>
                </a:solidFill>
                <a:latin typeface="Open Sans Bold"/>
                <a:ea typeface="Open Sans Bold"/>
                <a:cs typeface="Open Sans Bold"/>
                <a:sym typeface="Open Sans Bold"/>
              </a:rPr>
              <a:t> Y </a:t>
            </a:r>
            <a:r>
              <a:rPr lang="en-US" sz="5000" b="1" dirty="0" err="1">
                <a:solidFill>
                  <a:srgbClr val="131416"/>
                </a:solidFill>
                <a:latin typeface="Open Sans Bold"/>
                <a:ea typeface="Open Sans Bold"/>
                <a:cs typeface="Open Sans Bold"/>
                <a:sym typeface="Open Sans Bold"/>
              </a:rPr>
              <a:t>Computación</a:t>
            </a:r>
            <a:r>
              <a:rPr lang="en-US" sz="5000" b="1" dirty="0">
                <a:solidFill>
                  <a:srgbClr val="131416"/>
                </a:solidFill>
                <a:latin typeface="Open Sans Bold"/>
                <a:ea typeface="Open Sans Bold"/>
                <a:cs typeface="Open Sans Bold"/>
                <a:sym typeface="Open Sans Bold"/>
              </a:rPr>
              <a:t> 2</a:t>
            </a:r>
          </a:p>
          <a:p>
            <a:pPr algn="ctr">
              <a:lnSpc>
                <a:spcPts val="8400"/>
              </a:lnSpc>
            </a:pPr>
            <a:r>
              <a:rPr lang="en-US" sz="5000" b="1" dirty="0">
                <a:solidFill>
                  <a:srgbClr val="131416"/>
                </a:solidFill>
                <a:latin typeface="Open Sans Bold"/>
                <a:ea typeface="Open Sans Bold"/>
                <a:cs typeface="Open Sans Bold"/>
                <a:sym typeface="Open Sans Bold"/>
              </a:rPr>
              <a:t>[</a:t>
            </a:r>
            <a:r>
              <a:rPr lang="en-US" sz="5000" b="1" dirty="0" err="1">
                <a:solidFill>
                  <a:srgbClr val="131416"/>
                </a:solidFill>
                <a:latin typeface="Open Sans Bold"/>
                <a:ea typeface="Open Sans Bold"/>
                <a:cs typeface="Open Sans Bold"/>
                <a:sym typeface="Open Sans Bold"/>
              </a:rPr>
              <a:t>Sección</a:t>
            </a:r>
            <a:r>
              <a:rPr lang="en-US" sz="5000" b="1" dirty="0">
                <a:solidFill>
                  <a:srgbClr val="131416"/>
                </a:solidFill>
                <a:latin typeface="Open Sans Bold"/>
                <a:ea typeface="Open Sans Bold"/>
                <a:cs typeface="Open Sans Bold"/>
                <a:sym typeface="Open Sans Bold"/>
              </a:rPr>
              <a:t> D]</a:t>
            </a:r>
          </a:p>
          <a:p>
            <a:pPr algn="ctr">
              <a:lnSpc>
                <a:spcPts val="8399"/>
              </a:lnSpc>
            </a:pPr>
            <a:r>
              <a:rPr lang="en-US" sz="4999" b="1" dirty="0">
                <a:solidFill>
                  <a:srgbClr val="131416"/>
                </a:solidFill>
                <a:latin typeface="Open Sans Bold"/>
                <a:ea typeface="Open Sans Bold"/>
                <a:cs typeface="Open Sans Bold"/>
                <a:sym typeface="Open Sans Bold"/>
              </a:rPr>
              <a:t>Luis Antonio Castillo Javier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305" y="0"/>
            <a:ext cx="18213695" cy="10287000"/>
          </a:xfrm>
          <a:custGeom>
            <a:avLst/>
            <a:gdLst/>
            <a:ahLst/>
            <a:cxnLst/>
            <a:rect l="l" t="t" r="r" b="b"/>
            <a:pathLst>
              <a:path w="18213695" h="10287000">
                <a:moveTo>
                  <a:pt x="0" y="0"/>
                </a:moveTo>
                <a:lnTo>
                  <a:pt x="18213695" y="0"/>
                </a:lnTo>
                <a:lnTo>
                  <a:pt x="18213695" y="10287000"/>
                </a:lnTo>
                <a:lnTo>
                  <a:pt x="0" y="10287000"/>
                </a:lnTo>
                <a:lnTo>
                  <a:pt x="0" y="0"/>
                </a:lnTo>
                <a:close/>
              </a:path>
            </a:pathLst>
          </a:custGeom>
          <a:blipFill>
            <a:blip r:embed="rId2"/>
            <a:stretch>
              <a:fillRect t="-369" b="-369"/>
            </a:stretch>
          </a:blipFill>
        </p:spPr>
        <p:txBody>
          <a:bodyPr/>
          <a:lstStyle/>
          <a:p>
            <a:endParaRPr lang="es-GT"/>
          </a:p>
        </p:txBody>
      </p:sp>
      <p:sp>
        <p:nvSpPr>
          <p:cNvPr id="3" name="Freeform 3"/>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3"/>
            <a:stretch>
              <a:fillRect t="-426" b="-426"/>
            </a:stretch>
          </a:blipFill>
        </p:spPr>
        <p:txBody>
          <a:bodyPr/>
          <a:lstStyle/>
          <a:p>
            <a:endParaRPr lang="es-GT"/>
          </a:p>
        </p:txBody>
      </p:sp>
      <p:sp>
        <p:nvSpPr>
          <p:cNvPr id="4" name="Freeform 4"/>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4"/>
            <a:stretch>
              <a:fillRect t="-199" b="-200"/>
            </a:stretch>
          </a:blipFill>
        </p:spPr>
        <p:txBody>
          <a:bodyPr/>
          <a:lstStyle/>
          <a:p>
            <a:endParaRPr lang="es-GT"/>
          </a:p>
        </p:txBody>
      </p:sp>
      <p:sp>
        <p:nvSpPr>
          <p:cNvPr id="5" name="TextBox 5"/>
          <p:cNvSpPr txBox="1"/>
          <p:nvPr/>
        </p:nvSpPr>
        <p:spPr>
          <a:xfrm>
            <a:off x="2884660" y="4050111"/>
            <a:ext cx="13574539" cy="1400175"/>
          </a:xfrm>
          <a:prstGeom prst="rect">
            <a:avLst/>
          </a:prstGeom>
        </p:spPr>
        <p:txBody>
          <a:bodyPr wrap="square" lIns="0" tIns="0" rIns="0" bIns="0" rtlCol="0" anchor="t">
            <a:spAutoFit/>
          </a:bodyPr>
          <a:lstStyle/>
          <a:p>
            <a:pPr algn="l">
              <a:lnSpc>
                <a:spcPts val="11040"/>
              </a:lnSpc>
            </a:pPr>
            <a:r>
              <a:rPr lang="en-US" sz="9200" b="1" spc="180" dirty="0">
                <a:solidFill>
                  <a:srgbClr val="131416"/>
                </a:solidFill>
                <a:latin typeface="Open Sans Bold"/>
                <a:ea typeface="Open Sans Bold"/>
                <a:cs typeface="Open Sans Bold"/>
                <a:sym typeface="Open Sans Bold"/>
              </a:rPr>
              <a:t>INTRODUCCIÓN A C#</a:t>
            </a:r>
          </a:p>
        </p:txBody>
      </p:sp>
      <p:sp>
        <p:nvSpPr>
          <p:cNvPr id="6" name="TextBox 6"/>
          <p:cNvSpPr txBox="1"/>
          <p:nvPr/>
        </p:nvSpPr>
        <p:spPr>
          <a:xfrm>
            <a:off x="1221810" y="6811518"/>
            <a:ext cx="15458437" cy="1762125"/>
          </a:xfrm>
          <a:prstGeom prst="rect">
            <a:avLst/>
          </a:prstGeom>
        </p:spPr>
        <p:txBody>
          <a:bodyPr lIns="0" tIns="0" rIns="0" bIns="0" rtlCol="0" anchor="t">
            <a:spAutoFit/>
          </a:bodyPr>
          <a:lstStyle/>
          <a:p>
            <a:pPr algn="l">
              <a:lnSpc>
                <a:spcPts val="4199"/>
              </a:lnSpc>
            </a:pPr>
            <a:r>
              <a:rPr lang="en-US" sz="3499" spc="-174">
                <a:solidFill>
                  <a:srgbClr val="131416"/>
                </a:solidFill>
                <a:latin typeface="Open Sans"/>
                <a:ea typeface="Open Sans"/>
                <a:cs typeface="Open Sans"/>
                <a:sym typeface="Open Sans"/>
              </a:rPr>
              <a:t>Introducción a la Programación y Computación 2</a:t>
            </a:r>
          </a:p>
          <a:p>
            <a:pPr algn="l">
              <a:lnSpc>
                <a:spcPts val="5703"/>
              </a:lnSpc>
            </a:pPr>
            <a:r>
              <a:rPr lang="en-US" sz="3499" spc="-320">
                <a:solidFill>
                  <a:srgbClr val="131416"/>
                </a:solidFill>
                <a:latin typeface="Open Sans"/>
                <a:ea typeface="Open Sans"/>
                <a:cs typeface="Open Sans"/>
                <a:sym typeface="Open Sans"/>
              </a:rPr>
              <a:t>Escuela de Ingeniería de Ciencias Y Sistemas Facultad de Ingeniería</a:t>
            </a:r>
          </a:p>
          <a:p>
            <a:pPr algn="l">
              <a:lnSpc>
                <a:spcPts val="4199"/>
              </a:lnSpc>
            </a:pPr>
            <a:r>
              <a:rPr lang="en-US" sz="3499" spc="-204">
                <a:solidFill>
                  <a:srgbClr val="131416"/>
                </a:solidFill>
                <a:latin typeface="Open Sans"/>
                <a:ea typeface="Open Sans"/>
                <a:cs typeface="Open Sans"/>
                <a:sym typeface="Open Sans"/>
              </a:rPr>
              <a:t>Universidad de San Carlos de Guatemala</a:t>
            </a:r>
          </a:p>
        </p:txBody>
      </p:sp>
      <p:sp>
        <p:nvSpPr>
          <p:cNvPr id="7" name="Freeform 7"/>
          <p:cNvSpPr/>
          <p:nvPr/>
        </p:nvSpPr>
        <p:spPr>
          <a:xfrm>
            <a:off x="0" y="9017994"/>
            <a:ext cx="2273494" cy="1269006"/>
          </a:xfrm>
          <a:custGeom>
            <a:avLst/>
            <a:gdLst/>
            <a:ahLst/>
            <a:cxnLst/>
            <a:rect l="l" t="t" r="r" b="b"/>
            <a:pathLst>
              <a:path w="2273494" h="1269006">
                <a:moveTo>
                  <a:pt x="0" y="0"/>
                </a:moveTo>
                <a:lnTo>
                  <a:pt x="2273494" y="0"/>
                </a:lnTo>
                <a:lnTo>
                  <a:pt x="2273494" y="1269006"/>
                </a:lnTo>
                <a:lnTo>
                  <a:pt x="0" y="1269006"/>
                </a:lnTo>
                <a:lnTo>
                  <a:pt x="0" y="0"/>
                </a:lnTo>
                <a:close/>
              </a:path>
            </a:pathLst>
          </a:custGeom>
          <a:blipFill>
            <a:blip r:embed="rId5"/>
            <a:stretch>
              <a:fillRect l="-14" r="-14"/>
            </a:stretch>
          </a:blipFill>
        </p:spPr>
        <p:txBody>
          <a:bodyPr/>
          <a:lstStyle/>
          <a:p>
            <a:endParaRPr lang="es-GT"/>
          </a:p>
        </p:txBody>
      </p:sp>
      <p:sp>
        <p:nvSpPr>
          <p:cNvPr id="8" name="Freeform 8"/>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9" name="Freeform 9"/>
          <p:cNvSpPr/>
          <p:nvPr/>
        </p:nvSpPr>
        <p:spPr>
          <a:xfrm>
            <a:off x="0" y="2371030"/>
            <a:ext cx="1287428" cy="5047783"/>
          </a:xfrm>
          <a:custGeom>
            <a:avLst/>
            <a:gdLst/>
            <a:ahLst/>
            <a:cxnLst/>
            <a:rect l="l" t="t" r="r" b="b"/>
            <a:pathLst>
              <a:path w="1287428" h="5047783">
                <a:moveTo>
                  <a:pt x="0" y="0"/>
                </a:moveTo>
                <a:lnTo>
                  <a:pt x="1287428" y="0"/>
                </a:lnTo>
                <a:lnTo>
                  <a:pt x="1287428" y="5047783"/>
                </a:lnTo>
                <a:lnTo>
                  <a:pt x="0" y="5047783"/>
                </a:lnTo>
                <a:lnTo>
                  <a:pt x="0" y="0"/>
                </a:lnTo>
                <a:close/>
              </a:path>
            </a:pathLst>
          </a:custGeom>
          <a:blipFill>
            <a:blip r:embed="rId7"/>
            <a:stretch>
              <a:fillRect l="-53" r="-53"/>
            </a:stretch>
          </a:blipFill>
        </p:spPr>
        <p:txBody>
          <a:bodyPr/>
          <a:lstStyle/>
          <a:p>
            <a:endParaRPr lang="es-GT"/>
          </a:p>
        </p:txBody>
      </p:sp>
      <p:sp>
        <p:nvSpPr>
          <p:cNvPr id="10" name="Freeform 10"/>
          <p:cNvSpPr/>
          <p:nvPr/>
        </p:nvSpPr>
        <p:spPr>
          <a:xfrm>
            <a:off x="2774804" y="9381039"/>
            <a:ext cx="2587019" cy="905961"/>
          </a:xfrm>
          <a:custGeom>
            <a:avLst/>
            <a:gdLst/>
            <a:ahLst/>
            <a:cxnLst/>
            <a:rect l="l" t="t" r="r" b="b"/>
            <a:pathLst>
              <a:path w="2587019" h="905961">
                <a:moveTo>
                  <a:pt x="0" y="0"/>
                </a:moveTo>
                <a:lnTo>
                  <a:pt x="2587019" y="0"/>
                </a:lnTo>
                <a:lnTo>
                  <a:pt x="2587019" y="905961"/>
                </a:lnTo>
                <a:lnTo>
                  <a:pt x="0" y="905961"/>
                </a:lnTo>
                <a:lnTo>
                  <a:pt x="0" y="0"/>
                </a:lnTo>
                <a:close/>
              </a:path>
            </a:pathLst>
          </a:custGeom>
          <a:blipFill>
            <a:blip r:embed="rId8"/>
            <a:stretch>
              <a:fillRect t="-521" b="-521"/>
            </a:stretch>
          </a:blipFill>
        </p:spPr>
        <p:txBody>
          <a:bodyPr/>
          <a:lstStyle/>
          <a:p>
            <a:endParaRPr lang="es-GT"/>
          </a:p>
        </p:txBody>
      </p:sp>
      <p:sp>
        <p:nvSpPr>
          <p:cNvPr id="11" name="Freeform 11"/>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9"/>
            <a:stretch>
              <a:fillRect t="-83" b="-83"/>
            </a:stretch>
          </a:blipFill>
        </p:spPr>
        <p:txBody>
          <a:bodyPr/>
          <a:lstStyle/>
          <a:p>
            <a:endParaRPr lang="es-GT"/>
          </a:p>
        </p:txBody>
      </p:sp>
      <p:sp>
        <p:nvSpPr>
          <p:cNvPr id="12" name="Freeform 12"/>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10"/>
            <a:stretch>
              <a:fillRect t="-159" b="-158"/>
            </a:stretch>
          </a:blipFill>
        </p:spPr>
        <p:txBody>
          <a:bodyPr/>
          <a:lstStyle/>
          <a:p>
            <a:endParaRPr lang="es-GT"/>
          </a:p>
        </p:txBody>
      </p:sp>
      <p:sp>
        <p:nvSpPr>
          <p:cNvPr id="13" name="Freeform 13"/>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1"/>
            <a:stretch>
              <a:fillRect l="-51" r="-50"/>
            </a:stretch>
          </a:blipFill>
        </p:spPr>
        <p:txBody>
          <a:bodyPr/>
          <a:lstStyle/>
          <a:p>
            <a:endParaRPr lang="es-GT"/>
          </a:p>
        </p:txBody>
      </p:sp>
      <p:sp>
        <p:nvSpPr>
          <p:cNvPr id="14" name="Freeform 14"/>
          <p:cNvSpPr/>
          <p:nvPr/>
        </p:nvSpPr>
        <p:spPr>
          <a:xfrm>
            <a:off x="17497244" y="5835910"/>
            <a:ext cx="790756" cy="3410664"/>
          </a:xfrm>
          <a:custGeom>
            <a:avLst/>
            <a:gdLst/>
            <a:ahLst/>
            <a:cxnLst/>
            <a:rect l="l" t="t" r="r" b="b"/>
            <a:pathLst>
              <a:path w="790756" h="3410664">
                <a:moveTo>
                  <a:pt x="0" y="0"/>
                </a:moveTo>
                <a:lnTo>
                  <a:pt x="790756" y="0"/>
                </a:lnTo>
                <a:lnTo>
                  <a:pt x="790756" y="3410665"/>
                </a:lnTo>
                <a:lnTo>
                  <a:pt x="0" y="3410665"/>
                </a:lnTo>
                <a:lnTo>
                  <a:pt x="0" y="0"/>
                </a:lnTo>
                <a:close/>
              </a:path>
            </a:pathLst>
          </a:custGeom>
          <a:blipFill>
            <a:blip r:embed="rId12"/>
            <a:stretch>
              <a:fillRect t="-129" b="-129"/>
            </a:stretch>
          </a:blipFill>
        </p:spPr>
        <p:txBody>
          <a:bodyPr/>
          <a:lstStyle/>
          <a:p>
            <a:endParaRPr lang="es-GT"/>
          </a:p>
        </p:txBody>
      </p:sp>
      <p:grpSp>
        <p:nvGrpSpPr>
          <p:cNvPr id="15" name="Group 15"/>
          <p:cNvGrpSpPr>
            <a:grpSpLocks noChangeAspect="1"/>
          </p:cNvGrpSpPr>
          <p:nvPr/>
        </p:nvGrpSpPr>
        <p:grpSpPr>
          <a:xfrm>
            <a:off x="666863" y="495194"/>
            <a:ext cx="10243325" cy="1067013"/>
            <a:chOff x="0" y="0"/>
            <a:chExt cx="13657767" cy="1422684"/>
          </a:xfrm>
        </p:grpSpPr>
        <p:sp>
          <p:nvSpPr>
            <p:cNvPr id="16" name="Freeform 16"/>
            <p:cNvSpPr/>
            <p:nvPr/>
          </p:nvSpPr>
          <p:spPr>
            <a:xfrm>
              <a:off x="0" y="0"/>
              <a:ext cx="13657707" cy="1422654"/>
            </a:xfrm>
            <a:custGeom>
              <a:avLst/>
              <a:gdLst/>
              <a:ahLst/>
              <a:cxnLst/>
              <a:rect l="l" t="t" r="r" b="b"/>
              <a:pathLst>
                <a:path w="13657707" h="1422654">
                  <a:moveTo>
                    <a:pt x="0" y="0"/>
                  </a:moveTo>
                  <a:lnTo>
                    <a:pt x="13657707" y="0"/>
                  </a:lnTo>
                  <a:lnTo>
                    <a:pt x="13657707" y="1422654"/>
                  </a:lnTo>
                  <a:lnTo>
                    <a:pt x="0" y="1422654"/>
                  </a:lnTo>
                  <a:lnTo>
                    <a:pt x="0" y="0"/>
                  </a:lnTo>
                  <a:close/>
                </a:path>
              </a:pathLst>
            </a:custGeom>
            <a:blipFill>
              <a:blip r:embed="rId13"/>
              <a:stretch>
                <a:fillRect t="-274" b="-276"/>
              </a:stretch>
            </a:blipFill>
          </p:spPr>
          <p:txBody>
            <a:bodyPr/>
            <a:lstStyle/>
            <a:p>
              <a:endParaRPr lang="es-GT"/>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42357" y="-265802"/>
            <a:ext cx="18213695" cy="10287000"/>
          </a:xfrm>
          <a:custGeom>
            <a:avLst/>
            <a:gdLst/>
            <a:ahLst/>
            <a:cxnLst/>
            <a:rect l="l" t="t" r="r" b="b"/>
            <a:pathLst>
              <a:path w="18213695" h="10287000">
                <a:moveTo>
                  <a:pt x="0" y="0"/>
                </a:moveTo>
                <a:lnTo>
                  <a:pt x="18213696" y="0"/>
                </a:lnTo>
                <a:lnTo>
                  <a:pt x="18213696" y="10287000"/>
                </a:lnTo>
                <a:lnTo>
                  <a:pt x="0" y="10287000"/>
                </a:lnTo>
                <a:lnTo>
                  <a:pt x="0" y="0"/>
                </a:lnTo>
                <a:close/>
              </a:path>
            </a:pathLst>
          </a:custGeom>
          <a:blipFill>
            <a:blip r:embed="rId2"/>
            <a:stretch>
              <a:fillRect t="-369" b="-369"/>
            </a:stretch>
          </a:blipFill>
        </p:spPr>
        <p:txBody>
          <a:bodyPr/>
          <a:lstStyle/>
          <a:p>
            <a:endParaRPr lang="es-GT"/>
          </a:p>
        </p:txBody>
      </p:sp>
      <p:grpSp>
        <p:nvGrpSpPr>
          <p:cNvPr id="3" name="Group 3"/>
          <p:cNvGrpSpPr/>
          <p:nvPr/>
        </p:nvGrpSpPr>
        <p:grpSpPr>
          <a:xfrm>
            <a:off x="11082124" y="3676032"/>
            <a:ext cx="3430662" cy="1068067"/>
            <a:chOff x="0" y="0"/>
            <a:chExt cx="4574216" cy="1424089"/>
          </a:xfrm>
        </p:grpSpPr>
        <p:sp>
          <p:nvSpPr>
            <p:cNvPr id="4" name="Freeform 4"/>
            <p:cNvSpPr/>
            <p:nvPr/>
          </p:nvSpPr>
          <p:spPr>
            <a:xfrm>
              <a:off x="0" y="0"/>
              <a:ext cx="4573541" cy="1423797"/>
            </a:xfrm>
            <a:custGeom>
              <a:avLst/>
              <a:gdLst/>
              <a:ahLst/>
              <a:cxnLst/>
              <a:rect l="l" t="t" r="r" b="b"/>
              <a:pathLst>
                <a:path w="4573541" h="1423797">
                  <a:moveTo>
                    <a:pt x="3914423" y="1423797"/>
                  </a:moveTo>
                  <a:lnTo>
                    <a:pt x="0" y="1423797"/>
                  </a:lnTo>
                  <a:lnTo>
                    <a:pt x="0" y="0"/>
                  </a:lnTo>
                  <a:lnTo>
                    <a:pt x="3914423" y="0"/>
                  </a:lnTo>
                  <a:lnTo>
                    <a:pt x="4573541" y="711835"/>
                  </a:lnTo>
                  <a:lnTo>
                    <a:pt x="3914423" y="1423670"/>
                  </a:lnTo>
                  <a:close/>
                </a:path>
              </a:pathLst>
            </a:custGeom>
            <a:solidFill>
              <a:srgbClr val="FFFFFF"/>
            </a:solidFill>
            <a:ln w="12700">
              <a:solidFill>
                <a:srgbClr val="000000"/>
              </a:solidFill>
            </a:ln>
          </p:spPr>
          <p:txBody>
            <a:bodyPr/>
            <a:lstStyle/>
            <a:p>
              <a:endParaRPr lang="es-GT"/>
            </a:p>
          </p:txBody>
        </p:sp>
      </p:grpSp>
      <p:grpSp>
        <p:nvGrpSpPr>
          <p:cNvPr id="5" name="Group 5"/>
          <p:cNvGrpSpPr>
            <a:grpSpLocks noChangeAspect="1"/>
          </p:cNvGrpSpPr>
          <p:nvPr/>
        </p:nvGrpSpPr>
        <p:grpSpPr>
          <a:xfrm>
            <a:off x="1028700" y="495194"/>
            <a:ext cx="10243325" cy="1067013"/>
            <a:chOff x="0" y="0"/>
            <a:chExt cx="13657767" cy="1422684"/>
          </a:xfrm>
        </p:grpSpPr>
        <p:sp>
          <p:nvSpPr>
            <p:cNvPr id="6" name="Freeform 6"/>
            <p:cNvSpPr/>
            <p:nvPr/>
          </p:nvSpPr>
          <p:spPr>
            <a:xfrm>
              <a:off x="0" y="0"/>
              <a:ext cx="13657707" cy="1422654"/>
            </a:xfrm>
            <a:custGeom>
              <a:avLst/>
              <a:gdLst/>
              <a:ahLst/>
              <a:cxnLst/>
              <a:rect l="l" t="t" r="r" b="b"/>
              <a:pathLst>
                <a:path w="13657707" h="1422654">
                  <a:moveTo>
                    <a:pt x="0" y="0"/>
                  </a:moveTo>
                  <a:lnTo>
                    <a:pt x="13657707" y="0"/>
                  </a:lnTo>
                  <a:lnTo>
                    <a:pt x="13657707" y="1422654"/>
                  </a:lnTo>
                  <a:lnTo>
                    <a:pt x="0" y="1422654"/>
                  </a:lnTo>
                  <a:lnTo>
                    <a:pt x="0" y="0"/>
                  </a:lnTo>
                  <a:close/>
                </a:path>
              </a:pathLst>
            </a:custGeom>
            <a:blipFill>
              <a:blip r:embed="rId3"/>
              <a:stretch>
                <a:fillRect t="-274" b="-276"/>
              </a:stretch>
            </a:blipFill>
          </p:spPr>
          <p:txBody>
            <a:bodyPr/>
            <a:lstStyle/>
            <a:p>
              <a:endParaRPr lang="es-GT"/>
            </a:p>
          </p:txBody>
        </p:sp>
      </p:grpSp>
      <p:sp>
        <p:nvSpPr>
          <p:cNvPr id="7" name="Freeform 7"/>
          <p:cNvSpPr/>
          <p:nvPr/>
        </p:nvSpPr>
        <p:spPr>
          <a:xfrm>
            <a:off x="11378189" y="6086090"/>
            <a:ext cx="2726880" cy="2726880"/>
          </a:xfrm>
          <a:custGeom>
            <a:avLst/>
            <a:gdLst/>
            <a:ahLst/>
            <a:cxnLst/>
            <a:rect l="l" t="t" r="r" b="b"/>
            <a:pathLst>
              <a:path w="2726880" h="2726880">
                <a:moveTo>
                  <a:pt x="0" y="0"/>
                </a:moveTo>
                <a:lnTo>
                  <a:pt x="2726880" y="0"/>
                </a:lnTo>
                <a:lnTo>
                  <a:pt x="2726880" y="2726881"/>
                </a:lnTo>
                <a:lnTo>
                  <a:pt x="0" y="2726881"/>
                </a:lnTo>
                <a:lnTo>
                  <a:pt x="0" y="0"/>
                </a:lnTo>
                <a:close/>
              </a:path>
            </a:pathLst>
          </a:custGeom>
          <a:blipFill>
            <a:blip r:embed="rId4"/>
            <a:stretch>
              <a:fillRect/>
            </a:stretch>
          </a:blipFill>
        </p:spPr>
        <p:txBody>
          <a:bodyPr/>
          <a:lstStyle/>
          <a:p>
            <a:endParaRPr lang="es-GT"/>
          </a:p>
        </p:txBody>
      </p:sp>
      <p:sp>
        <p:nvSpPr>
          <p:cNvPr id="8" name="TextBox 8"/>
          <p:cNvSpPr txBox="1"/>
          <p:nvPr/>
        </p:nvSpPr>
        <p:spPr>
          <a:xfrm>
            <a:off x="3040421" y="2492876"/>
            <a:ext cx="6153455" cy="914400"/>
          </a:xfrm>
          <a:prstGeom prst="rect">
            <a:avLst/>
          </a:prstGeom>
        </p:spPr>
        <p:txBody>
          <a:bodyPr lIns="0" tIns="0" rIns="0" bIns="0" rtlCol="0" anchor="t">
            <a:spAutoFit/>
          </a:bodyPr>
          <a:lstStyle/>
          <a:p>
            <a:pPr algn="l">
              <a:lnSpc>
                <a:spcPts val="7200"/>
              </a:lnSpc>
            </a:pPr>
            <a:r>
              <a:rPr lang="en-US" sz="6000" b="1" spc="-156">
                <a:solidFill>
                  <a:srgbClr val="131416"/>
                </a:solidFill>
                <a:latin typeface="Open Sans Bold"/>
                <a:ea typeface="Open Sans Bold"/>
                <a:cs typeface="Open Sans Bold"/>
                <a:sym typeface="Open Sans Bold"/>
              </a:rPr>
              <a:t>AGENDA</a:t>
            </a:r>
          </a:p>
        </p:txBody>
      </p:sp>
      <p:sp>
        <p:nvSpPr>
          <p:cNvPr id="9" name="TextBox 9"/>
          <p:cNvSpPr txBox="1"/>
          <p:nvPr/>
        </p:nvSpPr>
        <p:spPr>
          <a:xfrm>
            <a:off x="11064258" y="2492876"/>
            <a:ext cx="4861541" cy="914400"/>
          </a:xfrm>
          <a:prstGeom prst="rect">
            <a:avLst/>
          </a:prstGeom>
        </p:spPr>
        <p:txBody>
          <a:bodyPr wrap="square" lIns="0" tIns="0" rIns="0" bIns="0" rtlCol="0" anchor="t">
            <a:spAutoFit/>
          </a:bodyPr>
          <a:lstStyle/>
          <a:p>
            <a:pPr algn="l">
              <a:lnSpc>
                <a:spcPts val="7200"/>
              </a:lnSpc>
            </a:pPr>
            <a:r>
              <a:rPr lang="en-US" sz="6000" b="1" spc="-484" dirty="0">
                <a:solidFill>
                  <a:srgbClr val="131416"/>
                </a:solidFill>
                <a:latin typeface="Open Sans Bold"/>
                <a:ea typeface="Open Sans Bold"/>
                <a:cs typeface="Open Sans Bold"/>
                <a:sym typeface="Open Sans Bold"/>
              </a:rPr>
              <a:t>RECURSOS</a:t>
            </a:r>
          </a:p>
        </p:txBody>
      </p:sp>
      <p:sp>
        <p:nvSpPr>
          <p:cNvPr id="10" name="TextBox 10"/>
          <p:cNvSpPr txBox="1"/>
          <p:nvPr/>
        </p:nvSpPr>
        <p:spPr>
          <a:xfrm>
            <a:off x="11284403" y="4000516"/>
            <a:ext cx="2820667" cy="419100"/>
          </a:xfrm>
          <a:prstGeom prst="rect">
            <a:avLst/>
          </a:prstGeom>
        </p:spPr>
        <p:txBody>
          <a:bodyPr lIns="0" tIns="0" rIns="0" bIns="0" rtlCol="0" anchor="t">
            <a:spAutoFit/>
          </a:bodyPr>
          <a:lstStyle/>
          <a:p>
            <a:pPr algn="l">
              <a:lnSpc>
                <a:spcPts val="3359"/>
              </a:lnSpc>
            </a:pPr>
            <a:r>
              <a:rPr lang="en-US" sz="2799" u="sng">
                <a:solidFill>
                  <a:srgbClr val="0000FF"/>
                </a:solidFill>
                <a:latin typeface="Open Sans"/>
                <a:ea typeface="Open Sans"/>
                <a:cs typeface="Open Sans"/>
                <a:sym typeface="Open Sans"/>
                <a:hlinkClick r:id="rId5" tooltip="https://www.youtube.com/watch?v=axHut2e84fc&amp;t=312s"/>
              </a:rPr>
              <a:t>LINK DEL VIDEO</a:t>
            </a:r>
          </a:p>
        </p:txBody>
      </p:sp>
      <p:sp>
        <p:nvSpPr>
          <p:cNvPr id="11" name="TextBox 11"/>
          <p:cNvSpPr txBox="1"/>
          <p:nvPr/>
        </p:nvSpPr>
        <p:spPr>
          <a:xfrm>
            <a:off x="3040421" y="3612620"/>
            <a:ext cx="6153455" cy="1676400"/>
          </a:xfrm>
          <a:prstGeom prst="rect">
            <a:avLst/>
          </a:prstGeom>
        </p:spPr>
        <p:txBody>
          <a:bodyPr lIns="0" tIns="0" rIns="0" bIns="0" rtlCol="0" anchor="t">
            <a:spAutoFit/>
          </a:bodyPr>
          <a:lstStyle/>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Introducción a C#</a:t>
            </a:r>
          </a:p>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Instalación de C#</a:t>
            </a:r>
          </a:p>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Entornos de Desarrollo</a:t>
            </a:r>
          </a:p>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Programación Básica con C#</a:t>
            </a:r>
          </a:p>
        </p:txBody>
      </p:sp>
      <p:sp>
        <p:nvSpPr>
          <p:cNvPr id="12" name="TextBox 12"/>
          <p:cNvSpPr txBox="1"/>
          <p:nvPr/>
        </p:nvSpPr>
        <p:spPr>
          <a:xfrm>
            <a:off x="3040421" y="7136571"/>
            <a:ext cx="6932782" cy="1676400"/>
          </a:xfrm>
          <a:prstGeom prst="rect">
            <a:avLst/>
          </a:prstGeom>
        </p:spPr>
        <p:txBody>
          <a:bodyPr lIns="0" tIns="0" rIns="0" bIns="0" rtlCol="0" anchor="t">
            <a:spAutoFit/>
          </a:bodyPr>
          <a:lstStyle/>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Grabación De Clase</a:t>
            </a:r>
          </a:p>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Programa Del Laboratorio</a:t>
            </a:r>
          </a:p>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Fechas De Prácticas y Proyectos</a:t>
            </a:r>
          </a:p>
          <a:p>
            <a:pPr marL="604519" lvl="1" indent="-302260" algn="l">
              <a:lnSpc>
                <a:spcPts val="3359"/>
              </a:lnSpc>
              <a:buFont typeface="Arial"/>
              <a:buChar char="•"/>
            </a:pPr>
            <a:r>
              <a:rPr lang="en-US" sz="2799" spc="-19">
                <a:solidFill>
                  <a:srgbClr val="000000"/>
                </a:solidFill>
                <a:latin typeface="Open Sans"/>
                <a:ea typeface="Open Sans"/>
                <a:cs typeface="Open Sans"/>
                <a:sym typeface="Open Sans"/>
              </a:rPr>
              <a:t>Formulario De Asignación en DTT</a:t>
            </a:r>
          </a:p>
        </p:txBody>
      </p:sp>
      <p:sp>
        <p:nvSpPr>
          <p:cNvPr id="13" name="TextBox 13"/>
          <p:cNvSpPr txBox="1"/>
          <p:nvPr/>
        </p:nvSpPr>
        <p:spPr>
          <a:xfrm>
            <a:off x="3058286" y="6086090"/>
            <a:ext cx="6914917" cy="914400"/>
          </a:xfrm>
          <a:prstGeom prst="rect">
            <a:avLst/>
          </a:prstGeom>
        </p:spPr>
        <p:txBody>
          <a:bodyPr lIns="0" tIns="0" rIns="0" bIns="0" rtlCol="0" anchor="t">
            <a:spAutoFit/>
          </a:bodyPr>
          <a:lstStyle/>
          <a:p>
            <a:pPr algn="l">
              <a:lnSpc>
                <a:spcPts val="7200"/>
              </a:lnSpc>
            </a:pPr>
            <a:r>
              <a:rPr lang="en-US" sz="6000" b="1" spc="-156">
                <a:solidFill>
                  <a:srgbClr val="131416"/>
                </a:solidFill>
                <a:latin typeface="Open Sans Bold"/>
                <a:ea typeface="Open Sans Bold"/>
                <a:cs typeface="Open Sans Bold"/>
                <a:sym typeface="Open Sans Bold"/>
              </a:rPr>
              <a:t>RECORDATORIOS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305" y="0"/>
            <a:ext cx="18213695" cy="10287000"/>
          </a:xfrm>
          <a:custGeom>
            <a:avLst/>
            <a:gdLst/>
            <a:ahLst/>
            <a:cxnLst/>
            <a:rect l="l" t="t" r="r" b="b"/>
            <a:pathLst>
              <a:path w="18213695" h="10287000">
                <a:moveTo>
                  <a:pt x="0" y="0"/>
                </a:moveTo>
                <a:lnTo>
                  <a:pt x="18213695" y="0"/>
                </a:lnTo>
                <a:lnTo>
                  <a:pt x="18213695" y="10287000"/>
                </a:lnTo>
                <a:lnTo>
                  <a:pt x="0" y="10287000"/>
                </a:lnTo>
                <a:lnTo>
                  <a:pt x="0" y="0"/>
                </a:lnTo>
                <a:close/>
              </a:path>
            </a:pathLst>
          </a:custGeom>
          <a:blipFill>
            <a:blip r:embed="rId2"/>
            <a:stretch>
              <a:fillRect t="-369" b="-369"/>
            </a:stretch>
          </a:blipFill>
        </p:spPr>
        <p:txBody>
          <a:bodyPr/>
          <a:lstStyle/>
          <a:p>
            <a:endParaRPr lang="es-GT"/>
          </a:p>
        </p:txBody>
      </p:sp>
      <p:sp>
        <p:nvSpPr>
          <p:cNvPr id="3" name="TextBox 3"/>
          <p:cNvSpPr txBox="1"/>
          <p:nvPr/>
        </p:nvSpPr>
        <p:spPr>
          <a:xfrm>
            <a:off x="1313845" y="2295754"/>
            <a:ext cx="16516955" cy="914400"/>
          </a:xfrm>
          <a:prstGeom prst="rect">
            <a:avLst/>
          </a:prstGeom>
        </p:spPr>
        <p:txBody>
          <a:bodyPr wrap="square" lIns="0" tIns="0" rIns="0" bIns="0" rtlCol="0" anchor="t">
            <a:spAutoFit/>
          </a:bodyPr>
          <a:lstStyle/>
          <a:p>
            <a:pPr algn="l">
              <a:lnSpc>
                <a:spcPts val="7200"/>
              </a:lnSpc>
            </a:pPr>
            <a:r>
              <a:rPr lang="en-US" sz="6000" b="1" spc="-20" dirty="0">
                <a:solidFill>
                  <a:srgbClr val="131416"/>
                </a:solidFill>
                <a:latin typeface="Open Sans Bold"/>
                <a:ea typeface="Open Sans Bold"/>
                <a:cs typeface="Open Sans Bold"/>
                <a:sym typeface="Open Sans Bold"/>
              </a:rPr>
              <a:t>COMPETENCIA QUE DESARROLLAREMOS</a:t>
            </a:r>
          </a:p>
        </p:txBody>
      </p:sp>
      <p:sp>
        <p:nvSpPr>
          <p:cNvPr id="4" name="TextBox 4"/>
          <p:cNvSpPr txBox="1"/>
          <p:nvPr/>
        </p:nvSpPr>
        <p:spPr>
          <a:xfrm>
            <a:off x="2762883" y="3705577"/>
            <a:ext cx="12762233" cy="4340733"/>
          </a:xfrm>
          <a:prstGeom prst="rect">
            <a:avLst/>
          </a:prstGeom>
        </p:spPr>
        <p:txBody>
          <a:bodyPr lIns="0" tIns="0" rIns="0" bIns="0" rtlCol="0" anchor="t">
            <a:spAutoFit/>
          </a:bodyPr>
          <a:lstStyle/>
          <a:p>
            <a:pPr algn="ctr">
              <a:lnSpc>
                <a:spcPts val="8736"/>
              </a:lnSpc>
            </a:pPr>
            <a:r>
              <a:rPr lang="en-US" sz="5200">
                <a:solidFill>
                  <a:srgbClr val="131416"/>
                </a:solidFill>
                <a:latin typeface="Open Sans"/>
                <a:ea typeface="Open Sans"/>
                <a:cs typeface="Open Sans"/>
                <a:sym typeface="Open Sans"/>
              </a:rPr>
              <a:t>Aplica estructuras de control y funciones mediante programación básica en C# para desarrollar algoritmos que resuelvan problemas.</a:t>
            </a:r>
          </a:p>
        </p:txBody>
      </p:sp>
      <p:sp>
        <p:nvSpPr>
          <p:cNvPr id="5" name="Freeform 5"/>
          <p:cNvSpPr/>
          <p:nvPr/>
        </p:nvSpPr>
        <p:spPr>
          <a:xfrm>
            <a:off x="0" y="7667796"/>
            <a:ext cx="2627690" cy="2619204"/>
          </a:xfrm>
          <a:custGeom>
            <a:avLst/>
            <a:gdLst/>
            <a:ahLst/>
            <a:cxnLst/>
            <a:rect l="l" t="t" r="r" b="b"/>
            <a:pathLst>
              <a:path w="2627690" h="2619204">
                <a:moveTo>
                  <a:pt x="0" y="0"/>
                </a:moveTo>
                <a:lnTo>
                  <a:pt x="2627690" y="0"/>
                </a:lnTo>
                <a:lnTo>
                  <a:pt x="2627690" y="2619204"/>
                </a:lnTo>
                <a:lnTo>
                  <a:pt x="0" y="2619204"/>
                </a:lnTo>
                <a:lnTo>
                  <a:pt x="0" y="0"/>
                </a:lnTo>
                <a:close/>
              </a:path>
            </a:pathLst>
          </a:custGeom>
          <a:blipFill>
            <a:blip r:embed="rId3"/>
            <a:stretch>
              <a:fillRect l="-235" r="-235"/>
            </a:stretch>
          </a:blipFill>
        </p:spPr>
        <p:txBody>
          <a:bodyPr/>
          <a:lstStyle/>
          <a:p>
            <a:endParaRPr lang="es-GT"/>
          </a:p>
        </p:txBody>
      </p:sp>
      <p:sp>
        <p:nvSpPr>
          <p:cNvPr id="6" name="Freeform 6"/>
          <p:cNvSpPr/>
          <p:nvPr/>
        </p:nvSpPr>
        <p:spPr>
          <a:xfrm>
            <a:off x="15412555" y="7639088"/>
            <a:ext cx="2875445" cy="2647912"/>
          </a:xfrm>
          <a:custGeom>
            <a:avLst/>
            <a:gdLst/>
            <a:ahLst/>
            <a:cxnLst/>
            <a:rect l="l" t="t" r="r" b="b"/>
            <a:pathLst>
              <a:path w="2875445" h="2647912">
                <a:moveTo>
                  <a:pt x="0" y="0"/>
                </a:moveTo>
                <a:lnTo>
                  <a:pt x="2875445" y="0"/>
                </a:lnTo>
                <a:lnTo>
                  <a:pt x="2875445" y="2647912"/>
                </a:lnTo>
                <a:lnTo>
                  <a:pt x="0" y="2647912"/>
                </a:lnTo>
                <a:lnTo>
                  <a:pt x="0" y="0"/>
                </a:lnTo>
                <a:close/>
              </a:path>
            </a:pathLst>
          </a:custGeom>
          <a:blipFill>
            <a:blip r:embed="rId4"/>
            <a:stretch>
              <a:fillRect l="-70" r="-69"/>
            </a:stretch>
          </a:blipFill>
        </p:spPr>
        <p:txBody>
          <a:bodyPr/>
          <a:lstStyle/>
          <a:p>
            <a:endParaRPr lang="es-GT"/>
          </a:p>
        </p:txBody>
      </p:sp>
      <p:sp>
        <p:nvSpPr>
          <p:cNvPr id="7" name="Freeform 7"/>
          <p:cNvSpPr/>
          <p:nvPr/>
        </p:nvSpPr>
        <p:spPr>
          <a:xfrm>
            <a:off x="11251178" y="8335166"/>
            <a:ext cx="3169282" cy="1951834"/>
          </a:xfrm>
          <a:custGeom>
            <a:avLst/>
            <a:gdLst/>
            <a:ahLst/>
            <a:cxnLst/>
            <a:rect l="l" t="t" r="r" b="b"/>
            <a:pathLst>
              <a:path w="3169282" h="1951834">
                <a:moveTo>
                  <a:pt x="0" y="0"/>
                </a:moveTo>
                <a:lnTo>
                  <a:pt x="3169281" y="0"/>
                </a:lnTo>
                <a:lnTo>
                  <a:pt x="3169281" y="1951834"/>
                </a:lnTo>
                <a:lnTo>
                  <a:pt x="0" y="1951834"/>
                </a:lnTo>
                <a:lnTo>
                  <a:pt x="0" y="0"/>
                </a:lnTo>
                <a:close/>
              </a:path>
            </a:pathLst>
          </a:custGeom>
          <a:blipFill>
            <a:blip r:embed="rId5"/>
            <a:stretch>
              <a:fillRect l="-157" r="-157"/>
            </a:stretch>
          </a:blipFill>
        </p:spPr>
        <p:txBody>
          <a:bodyPr/>
          <a:lstStyle/>
          <a:p>
            <a:endParaRPr lang="es-GT"/>
          </a:p>
        </p:txBody>
      </p:sp>
      <p:sp>
        <p:nvSpPr>
          <p:cNvPr id="8" name="Freeform 8"/>
          <p:cNvSpPr/>
          <p:nvPr/>
        </p:nvSpPr>
        <p:spPr>
          <a:xfrm>
            <a:off x="3081880" y="8046310"/>
            <a:ext cx="2587019" cy="2240690"/>
          </a:xfrm>
          <a:custGeom>
            <a:avLst/>
            <a:gdLst/>
            <a:ahLst/>
            <a:cxnLst/>
            <a:rect l="l" t="t" r="r" b="b"/>
            <a:pathLst>
              <a:path w="2587019" h="2240690">
                <a:moveTo>
                  <a:pt x="0" y="0"/>
                </a:moveTo>
                <a:lnTo>
                  <a:pt x="2587019" y="0"/>
                </a:lnTo>
                <a:lnTo>
                  <a:pt x="2587019" y="2240690"/>
                </a:lnTo>
                <a:lnTo>
                  <a:pt x="0" y="2240690"/>
                </a:lnTo>
                <a:lnTo>
                  <a:pt x="0" y="0"/>
                </a:lnTo>
                <a:close/>
              </a:path>
            </a:pathLst>
          </a:custGeom>
          <a:blipFill>
            <a:blip r:embed="rId6"/>
            <a:stretch>
              <a:fillRect l="-266" r="-266"/>
            </a:stretch>
          </a:blipFill>
        </p:spPr>
        <p:txBody>
          <a:bodyPr/>
          <a:lstStyle/>
          <a:p>
            <a:endParaRPr lang="es-GT"/>
          </a:p>
        </p:txBody>
      </p:sp>
      <p:grpSp>
        <p:nvGrpSpPr>
          <p:cNvPr id="9" name="Group 9"/>
          <p:cNvGrpSpPr>
            <a:grpSpLocks noChangeAspect="1"/>
          </p:cNvGrpSpPr>
          <p:nvPr/>
        </p:nvGrpSpPr>
        <p:grpSpPr>
          <a:xfrm>
            <a:off x="666863" y="495194"/>
            <a:ext cx="10243325" cy="1067013"/>
            <a:chOff x="0" y="0"/>
            <a:chExt cx="13657767" cy="1422684"/>
          </a:xfrm>
        </p:grpSpPr>
        <p:sp>
          <p:nvSpPr>
            <p:cNvPr id="10" name="Freeform 10"/>
            <p:cNvSpPr/>
            <p:nvPr/>
          </p:nvSpPr>
          <p:spPr>
            <a:xfrm>
              <a:off x="0" y="0"/>
              <a:ext cx="13657707" cy="1422654"/>
            </a:xfrm>
            <a:custGeom>
              <a:avLst/>
              <a:gdLst/>
              <a:ahLst/>
              <a:cxnLst/>
              <a:rect l="l" t="t" r="r" b="b"/>
              <a:pathLst>
                <a:path w="13657707" h="1422654">
                  <a:moveTo>
                    <a:pt x="0" y="0"/>
                  </a:moveTo>
                  <a:lnTo>
                    <a:pt x="13657707" y="0"/>
                  </a:lnTo>
                  <a:lnTo>
                    <a:pt x="13657707" y="1422654"/>
                  </a:lnTo>
                  <a:lnTo>
                    <a:pt x="0" y="1422654"/>
                  </a:lnTo>
                  <a:lnTo>
                    <a:pt x="0" y="0"/>
                  </a:lnTo>
                  <a:close/>
                </a:path>
              </a:pathLst>
            </a:custGeom>
            <a:blipFill>
              <a:blip r:embed="rId7"/>
              <a:stretch>
                <a:fillRect t="-274" b="-276"/>
              </a:stretch>
            </a:blipFill>
          </p:spPr>
          <p:txBody>
            <a:bodyPr/>
            <a:lstStyle/>
            <a:p>
              <a:endParaRPr lang="es-GT"/>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305" y="0"/>
            <a:ext cx="18213695" cy="10287000"/>
          </a:xfrm>
          <a:custGeom>
            <a:avLst/>
            <a:gdLst/>
            <a:ahLst/>
            <a:cxnLst/>
            <a:rect l="l" t="t" r="r" b="b"/>
            <a:pathLst>
              <a:path w="18213695" h="10287000">
                <a:moveTo>
                  <a:pt x="0" y="0"/>
                </a:moveTo>
                <a:lnTo>
                  <a:pt x="18213695" y="0"/>
                </a:lnTo>
                <a:lnTo>
                  <a:pt x="18213695" y="10287000"/>
                </a:lnTo>
                <a:lnTo>
                  <a:pt x="0" y="10287000"/>
                </a:lnTo>
                <a:lnTo>
                  <a:pt x="0" y="0"/>
                </a:lnTo>
                <a:close/>
              </a:path>
            </a:pathLst>
          </a:custGeom>
          <a:blipFill>
            <a:blip r:embed="rId2"/>
            <a:stretch>
              <a:fillRect t="-369" b="-369"/>
            </a:stretch>
          </a:blipFill>
        </p:spPr>
        <p:txBody>
          <a:bodyPr/>
          <a:lstStyle/>
          <a:p>
            <a:endParaRPr lang="es-GT"/>
          </a:p>
        </p:txBody>
      </p:sp>
      <p:sp>
        <p:nvSpPr>
          <p:cNvPr id="3" name="Freeform 3"/>
          <p:cNvSpPr/>
          <p:nvPr/>
        </p:nvSpPr>
        <p:spPr>
          <a:xfrm>
            <a:off x="0" y="0"/>
            <a:ext cx="3717465" cy="1504759"/>
          </a:xfrm>
          <a:custGeom>
            <a:avLst/>
            <a:gdLst/>
            <a:ahLst/>
            <a:cxnLst/>
            <a:rect l="l" t="t" r="r" b="b"/>
            <a:pathLst>
              <a:path w="3717465" h="1504759">
                <a:moveTo>
                  <a:pt x="0" y="0"/>
                </a:moveTo>
                <a:lnTo>
                  <a:pt x="3717465" y="0"/>
                </a:lnTo>
                <a:lnTo>
                  <a:pt x="3717465" y="1504759"/>
                </a:lnTo>
                <a:lnTo>
                  <a:pt x="0" y="1504759"/>
                </a:lnTo>
                <a:lnTo>
                  <a:pt x="0" y="0"/>
                </a:lnTo>
                <a:close/>
              </a:path>
            </a:pathLst>
          </a:custGeom>
          <a:blipFill>
            <a:blip r:embed="rId3"/>
            <a:stretch>
              <a:fillRect t="-432" b="-432"/>
            </a:stretch>
          </a:blipFill>
        </p:spPr>
        <p:txBody>
          <a:bodyPr/>
          <a:lstStyle/>
          <a:p>
            <a:endParaRPr lang="es-GT"/>
          </a:p>
        </p:txBody>
      </p:sp>
      <p:sp>
        <p:nvSpPr>
          <p:cNvPr id="4" name="Freeform 4"/>
          <p:cNvSpPr/>
          <p:nvPr/>
        </p:nvSpPr>
        <p:spPr>
          <a:xfrm>
            <a:off x="4899650" y="0"/>
            <a:ext cx="2919298" cy="1210675"/>
          </a:xfrm>
          <a:custGeom>
            <a:avLst/>
            <a:gdLst/>
            <a:ahLst/>
            <a:cxnLst/>
            <a:rect l="l" t="t" r="r" b="b"/>
            <a:pathLst>
              <a:path w="2919298" h="1210675">
                <a:moveTo>
                  <a:pt x="0" y="0"/>
                </a:moveTo>
                <a:lnTo>
                  <a:pt x="2919299" y="0"/>
                </a:lnTo>
                <a:lnTo>
                  <a:pt x="2919299" y="1210675"/>
                </a:lnTo>
                <a:lnTo>
                  <a:pt x="0" y="1210675"/>
                </a:lnTo>
                <a:lnTo>
                  <a:pt x="0" y="0"/>
                </a:lnTo>
                <a:close/>
              </a:path>
            </a:pathLst>
          </a:custGeom>
          <a:blipFill>
            <a:blip r:embed="rId4"/>
            <a:stretch>
              <a:fillRect t="-195" b="-195"/>
            </a:stretch>
          </a:blipFill>
        </p:spPr>
        <p:txBody>
          <a:bodyPr/>
          <a:lstStyle/>
          <a:p>
            <a:endParaRPr lang="es-GT"/>
          </a:p>
        </p:txBody>
      </p:sp>
      <p:sp>
        <p:nvSpPr>
          <p:cNvPr id="5" name="Freeform 5"/>
          <p:cNvSpPr/>
          <p:nvPr/>
        </p:nvSpPr>
        <p:spPr>
          <a:xfrm>
            <a:off x="13855427" y="8242221"/>
            <a:ext cx="4051335" cy="2044779"/>
          </a:xfrm>
          <a:custGeom>
            <a:avLst/>
            <a:gdLst/>
            <a:ahLst/>
            <a:cxnLst/>
            <a:rect l="l" t="t" r="r" b="b"/>
            <a:pathLst>
              <a:path w="4051335" h="2044779">
                <a:moveTo>
                  <a:pt x="0" y="0"/>
                </a:moveTo>
                <a:lnTo>
                  <a:pt x="4051335" y="0"/>
                </a:lnTo>
                <a:lnTo>
                  <a:pt x="4051335" y="2044779"/>
                </a:lnTo>
                <a:lnTo>
                  <a:pt x="0" y="2044779"/>
                </a:lnTo>
                <a:lnTo>
                  <a:pt x="0" y="0"/>
                </a:lnTo>
                <a:close/>
              </a:path>
            </a:pathLst>
          </a:custGeom>
          <a:blipFill>
            <a:blip r:embed="rId5"/>
            <a:stretch>
              <a:fillRect t="-43" b="-43"/>
            </a:stretch>
          </a:blipFill>
        </p:spPr>
        <p:txBody>
          <a:bodyPr/>
          <a:lstStyle/>
          <a:p>
            <a:endParaRPr lang="es-GT"/>
          </a:p>
        </p:txBody>
      </p:sp>
      <p:sp>
        <p:nvSpPr>
          <p:cNvPr id="6" name="Freeform 6"/>
          <p:cNvSpPr/>
          <p:nvPr/>
        </p:nvSpPr>
        <p:spPr>
          <a:xfrm>
            <a:off x="12011162" y="3469331"/>
            <a:ext cx="5248138" cy="5248138"/>
          </a:xfrm>
          <a:custGeom>
            <a:avLst/>
            <a:gdLst/>
            <a:ahLst/>
            <a:cxnLst/>
            <a:rect l="l" t="t" r="r" b="b"/>
            <a:pathLst>
              <a:path w="5248138" h="5248138">
                <a:moveTo>
                  <a:pt x="0" y="0"/>
                </a:moveTo>
                <a:lnTo>
                  <a:pt x="5248138" y="0"/>
                </a:lnTo>
                <a:lnTo>
                  <a:pt x="5248138" y="5248138"/>
                </a:lnTo>
                <a:lnTo>
                  <a:pt x="0" y="5248138"/>
                </a:lnTo>
                <a:lnTo>
                  <a:pt x="0" y="0"/>
                </a:lnTo>
                <a:close/>
              </a:path>
            </a:pathLst>
          </a:custGeom>
          <a:blipFill>
            <a:blip r:embed="rId6"/>
            <a:stretch>
              <a:fillRect/>
            </a:stretch>
          </a:blipFill>
        </p:spPr>
        <p:txBody>
          <a:bodyPr/>
          <a:lstStyle/>
          <a:p>
            <a:endParaRPr lang="es-GT"/>
          </a:p>
        </p:txBody>
      </p:sp>
      <p:sp>
        <p:nvSpPr>
          <p:cNvPr id="7" name="TextBox 7"/>
          <p:cNvSpPr txBox="1"/>
          <p:nvPr/>
        </p:nvSpPr>
        <p:spPr>
          <a:xfrm>
            <a:off x="655263" y="2004098"/>
            <a:ext cx="8164938" cy="1371600"/>
          </a:xfrm>
          <a:prstGeom prst="rect">
            <a:avLst/>
          </a:prstGeom>
        </p:spPr>
        <p:txBody>
          <a:bodyPr lIns="0" tIns="0" rIns="0" bIns="0" rtlCol="0" anchor="t">
            <a:spAutoFit/>
          </a:bodyPr>
          <a:lstStyle/>
          <a:p>
            <a:pPr algn="l">
              <a:lnSpc>
                <a:spcPts val="10800"/>
              </a:lnSpc>
            </a:pPr>
            <a:r>
              <a:rPr lang="en-US" sz="9000" b="1" spc="-20">
                <a:solidFill>
                  <a:srgbClr val="000000"/>
                </a:solidFill>
                <a:latin typeface="Open Sans Bold"/>
                <a:ea typeface="Open Sans Bold"/>
                <a:cs typeface="Open Sans Bold"/>
                <a:sym typeface="Open Sans Bold"/>
              </a:rPr>
              <a:t>¿QUÉ ES C#?</a:t>
            </a:r>
          </a:p>
        </p:txBody>
      </p:sp>
      <p:sp>
        <p:nvSpPr>
          <p:cNvPr id="8" name="TextBox 8"/>
          <p:cNvSpPr txBox="1"/>
          <p:nvPr/>
        </p:nvSpPr>
        <p:spPr>
          <a:xfrm>
            <a:off x="655263" y="3925510"/>
            <a:ext cx="10948673" cy="4221480"/>
          </a:xfrm>
          <a:prstGeom prst="rect">
            <a:avLst/>
          </a:prstGeom>
        </p:spPr>
        <p:txBody>
          <a:bodyPr lIns="0" tIns="0" rIns="0" bIns="0" rtlCol="0" anchor="t">
            <a:spAutoFit/>
          </a:bodyPr>
          <a:lstStyle/>
          <a:p>
            <a:pPr algn="just">
              <a:lnSpc>
                <a:spcPts val="4860"/>
              </a:lnSpc>
            </a:pPr>
            <a:r>
              <a:rPr lang="en-US" sz="3000">
                <a:solidFill>
                  <a:srgbClr val="000000"/>
                </a:solidFill>
                <a:latin typeface="Open Sans"/>
                <a:ea typeface="Open Sans"/>
                <a:cs typeface="Open Sans"/>
                <a:sym typeface="Open Sans"/>
              </a:rPr>
              <a:t>C# es un lenguaje de programación moderno, innovador, de código abierto, multiplataforma orientado a objetos y uno de los 5 principales lenguajes de programación de GitHub.</a:t>
            </a:r>
          </a:p>
          <a:p>
            <a:pPr algn="just">
              <a:lnSpc>
                <a:spcPts val="4860"/>
              </a:lnSpc>
            </a:pPr>
            <a:endParaRPr lang="en-US" sz="3000">
              <a:solidFill>
                <a:srgbClr val="000000"/>
              </a:solidFill>
              <a:latin typeface="Open Sans"/>
              <a:ea typeface="Open Sans"/>
              <a:cs typeface="Open Sans"/>
              <a:sym typeface="Open Sans"/>
            </a:endParaRPr>
          </a:p>
          <a:p>
            <a:pPr algn="just">
              <a:lnSpc>
                <a:spcPts val="4860"/>
              </a:lnSpc>
            </a:pPr>
            <a:r>
              <a:rPr lang="en-US" sz="3000">
                <a:solidFill>
                  <a:srgbClr val="000000"/>
                </a:solidFill>
                <a:latin typeface="Open Sans"/>
                <a:ea typeface="Open Sans"/>
                <a:cs typeface="Open Sans"/>
                <a:sym typeface="Open Sans"/>
              </a:rPr>
              <a:t>Es un lenguaje de alto nivel que se enfoca en la legibilidad del código y la facilidad de uso, lo que lo hace ideal tanto para principiantes como para programadores experimentados.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305" y="0"/>
            <a:ext cx="18213695" cy="10287000"/>
          </a:xfrm>
          <a:custGeom>
            <a:avLst/>
            <a:gdLst/>
            <a:ahLst/>
            <a:cxnLst/>
            <a:rect l="l" t="t" r="r" b="b"/>
            <a:pathLst>
              <a:path w="18213695" h="10287000">
                <a:moveTo>
                  <a:pt x="0" y="0"/>
                </a:moveTo>
                <a:lnTo>
                  <a:pt x="18213695" y="0"/>
                </a:lnTo>
                <a:lnTo>
                  <a:pt x="18213695" y="10287000"/>
                </a:lnTo>
                <a:lnTo>
                  <a:pt x="0" y="10287000"/>
                </a:lnTo>
                <a:lnTo>
                  <a:pt x="0" y="0"/>
                </a:lnTo>
                <a:close/>
              </a:path>
            </a:pathLst>
          </a:custGeom>
          <a:blipFill>
            <a:blip r:embed="rId2"/>
            <a:stretch>
              <a:fillRect t="-369" b="-369"/>
            </a:stretch>
          </a:blipFill>
        </p:spPr>
        <p:txBody>
          <a:bodyPr/>
          <a:lstStyle/>
          <a:p>
            <a:endParaRPr lang="es-GT"/>
          </a:p>
        </p:txBody>
      </p:sp>
      <p:sp>
        <p:nvSpPr>
          <p:cNvPr id="3" name="TextBox 3"/>
          <p:cNvSpPr txBox="1"/>
          <p:nvPr/>
        </p:nvSpPr>
        <p:spPr>
          <a:xfrm>
            <a:off x="407841" y="1504759"/>
            <a:ext cx="17472318" cy="1371600"/>
          </a:xfrm>
          <a:prstGeom prst="rect">
            <a:avLst/>
          </a:prstGeom>
        </p:spPr>
        <p:txBody>
          <a:bodyPr lIns="0" tIns="0" rIns="0" bIns="0" rtlCol="0" anchor="t">
            <a:spAutoFit/>
          </a:bodyPr>
          <a:lstStyle/>
          <a:p>
            <a:pPr algn="l">
              <a:lnSpc>
                <a:spcPts val="10800"/>
              </a:lnSpc>
            </a:pPr>
            <a:r>
              <a:rPr lang="en-US" sz="9000" b="1" spc="-20">
                <a:solidFill>
                  <a:srgbClr val="000000"/>
                </a:solidFill>
                <a:latin typeface="Open Sans Bold"/>
                <a:ea typeface="Open Sans Bold"/>
                <a:cs typeface="Open Sans Bold"/>
                <a:sym typeface="Open Sans Bold"/>
              </a:rPr>
              <a:t>CARACTERÍSTICAS CLAVE DE C#</a:t>
            </a:r>
          </a:p>
        </p:txBody>
      </p:sp>
      <p:sp>
        <p:nvSpPr>
          <p:cNvPr id="4" name="TextBox 4"/>
          <p:cNvSpPr txBox="1"/>
          <p:nvPr/>
        </p:nvSpPr>
        <p:spPr>
          <a:xfrm>
            <a:off x="652558" y="3057334"/>
            <a:ext cx="16982884" cy="6659880"/>
          </a:xfrm>
          <a:prstGeom prst="rect">
            <a:avLst/>
          </a:prstGeom>
        </p:spPr>
        <p:txBody>
          <a:bodyPr lIns="0" tIns="0" rIns="0" bIns="0" rtlCol="0" anchor="t">
            <a:spAutoFit/>
          </a:bodyPr>
          <a:lstStyle/>
          <a:p>
            <a:pPr algn="just">
              <a:lnSpc>
                <a:spcPts val="4860"/>
              </a:lnSpc>
            </a:pPr>
            <a:r>
              <a:rPr lang="en-US" sz="3000" b="1">
                <a:solidFill>
                  <a:srgbClr val="000000"/>
                </a:solidFill>
                <a:latin typeface="Open Sans Bold"/>
                <a:ea typeface="Open Sans Bold"/>
                <a:cs typeface="Open Sans Bold"/>
                <a:sym typeface="Open Sans Bold"/>
              </a:rPr>
              <a:t>Seguridad y Control de Tipos: </a:t>
            </a:r>
            <a:r>
              <a:rPr lang="en-US" sz="3000">
                <a:solidFill>
                  <a:srgbClr val="000000"/>
                </a:solidFill>
                <a:latin typeface="Open Sans"/>
                <a:ea typeface="Open Sans"/>
                <a:cs typeface="Open Sans"/>
                <a:sym typeface="Open Sans"/>
              </a:rPr>
              <a:t>C# es un lenguaje con fuerte seguridad y control de tipos. Esto significa que el lenguaje es estricto en cuanto a qué tipos de datos pueden interactuar entre sí, lo que ayuda a prevenir errores y problemas de seguridad.</a:t>
            </a:r>
          </a:p>
          <a:p>
            <a:pPr algn="just">
              <a:lnSpc>
                <a:spcPts val="4860"/>
              </a:lnSpc>
            </a:pPr>
            <a:endParaRPr lang="en-US" sz="3000">
              <a:solidFill>
                <a:srgbClr val="000000"/>
              </a:solidFill>
              <a:latin typeface="Open Sans"/>
              <a:ea typeface="Open Sans"/>
              <a:cs typeface="Open Sans"/>
              <a:sym typeface="Open Sans"/>
            </a:endParaRPr>
          </a:p>
          <a:p>
            <a:pPr algn="just">
              <a:lnSpc>
                <a:spcPts val="4860"/>
              </a:lnSpc>
            </a:pPr>
            <a:r>
              <a:rPr lang="en-US" sz="3000" b="1">
                <a:solidFill>
                  <a:srgbClr val="000000"/>
                </a:solidFill>
                <a:latin typeface="Open Sans Bold"/>
                <a:ea typeface="Open Sans Bold"/>
                <a:cs typeface="Open Sans Bold"/>
                <a:sym typeface="Open Sans Bold"/>
              </a:rPr>
              <a:t>Integración con el Ecosistema .NET: </a:t>
            </a:r>
            <a:r>
              <a:rPr lang="en-US" sz="3000">
                <a:solidFill>
                  <a:srgbClr val="000000"/>
                </a:solidFill>
                <a:latin typeface="Open Sans"/>
                <a:ea typeface="Open Sans"/>
                <a:cs typeface="Open Sans"/>
                <a:sym typeface="Open Sans"/>
              </a:rPr>
              <a:t>C# está estrechamente integrado con el ecosistema .NET de Microsoft, que proporciona un entorno de desarrollo completo y poderoso. Los desarrolladores pueden aprovechar las bibliotecas y herramientas de .NET para crear aplicaciones más rápidas y eficientes.</a:t>
            </a:r>
          </a:p>
          <a:p>
            <a:pPr algn="just">
              <a:lnSpc>
                <a:spcPts val="4860"/>
              </a:lnSpc>
            </a:pPr>
            <a:endParaRPr lang="en-US" sz="3000">
              <a:solidFill>
                <a:srgbClr val="000000"/>
              </a:solidFill>
              <a:latin typeface="Open Sans"/>
              <a:ea typeface="Open Sans"/>
              <a:cs typeface="Open Sans"/>
              <a:sym typeface="Open Sans"/>
            </a:endParaRPr>
          </a:p>
          <a:p>
            <a:pPr algn="just">
              <a:lnSpc>
                <a:spcPts val="4860"/>
              </a:lnSpc>
            </a:pPr>
            <a:r>
              <a:rPr lang="en-US" sz="3000" b="1">
                <a:solidFill>
                  <a:srgbClr val="000000"/>
                </a:solidFill>
                <a:latin typeface="Open Sans Bold"/>
                <a:ea typeface="Open Sans Bold"/>
                <a:cs typeface="Open Sans Bold"/>
                <a:sym typeface="Open Sans Bold"/>
              </a:rPr>
              <a:t>Facilidad de Uso y Productividad: </a:t>
            </a:r>
            <a:r>
              <a:rPr lang="en-US" sz="3000">
                <a:solidFill>
                  <a:srgbClr val="000000"/>
                </a:solidFill>
                <a:latin typeface="Open Sans"/>
                <a:ea typeface="Open Sans"/>
                <a:cs typeface="Open Sans"/>
                <a:sym typeface="Open Sans"/>
              </a:rPr>
              <a:t>La sintaxis de C# es intuitiva y legible, lo que facilita la escritura y el mantenimiento del código. </a:t>
            </a:r>
          </a:p>
        </p:txBody>
      </p:sp>
      <p:sp>
        <p:nvSpPr>
          <p:cNvPr id="5" name="Freeform 5"/>
          <p:cNvSpPr/>
          <p:nvPr/>
        </p:nvSpPr>
        <p:spPr>
          <a:xfrm>
            <a:off x="0" y="0"/>
            <a:ext cx="3717465" cy="1504759"/>
          </a:xfrm>
          <a:custGeom>
            <a:avLst/>
            <a:gdLst/>
            <a:ahLst/>
            <a:cxnLst/>
            <a:rect l="l" t="t" r="r" b="b"/>
            <a:pathLst>
              <a:path w="3717465" h="1504759">
                <a:moveTo>
                  <a:pt x="0" y="0"/>
                </a:moveTo>
                <a:lnTo>
                  <a:pt x="3717465" y="0"/>
                </a:lnTo>
                <a:lnTo>
                  <a:pt x="3717465" y="1504759"/>
                </a:lnTo>
                <a:lnTo>
                  <a:pt x="0" y="1504759"/>
                </a:lnTo>
                <a:lnTo>
                  <a:pt x="0" y="0"/>
                </a:lnTo>
                <a:close/>
              </a:path>
            </a:pathLst>
          </a:custGeom>
          <a:blipFill>
            <a:blip r:embed="rId3"/>
            <a:stretch>
              <a:fillRect t="-432" b="-432"/>
            </a:stretch>
          </a:blipFill>
        </p:spPr>
        <p:txBody>
          <a:bodyPr/>
          <a:lstStyle/>
          <a:p>
            <a:endParaRPr lang="es-GT"/>
          </a:p>
        </p:txBody>
      </p:sp>
      <p:sp>
        <p:nvSpPr>
          <p:cNvPr id="6" name="Freeform 6"/>
          <p:cNvSpPr/>
          <p:nvPr/>
        </p:nvSpPr>
        <p:spPr>
          <a:xfrm>
            <a:off x="4899650" y="0"/>
            <a:ext cx="2919298" cy="1210675"/>
          </a:xfrm>
          <a:custGeom>
            <a:avLst/>
            <a:gdLst/>
            <a:ahLst/>
            <a:cxnLst/>
            <a:rect l="l" t="t" r="r" b="b"/>
            <a:pathLst>
              <a:path w="2919298" h="1210675">
                <a:moveTo>
                  <a:pt x="0" y="0"/>
                </a:moveTo>
                <a:lnTo>
                  <a:pt x="2919299" y="0"/>
                </a:lnTo>
                <a:lnTo>
                  <a:pt x="2919299" y="1210675"/>
                </a:lnTo>
                <a:lnTo>
                  <a:pt x="0" y="1210675"/>
                </a:lnTo>
                <a:lnTo>
                  <a:pt x="0" y="0"/>
                </a:lnTo>
                <a:close/>
              </a:path>
            </a:pathLst>
          </a:custGeom>
          <a:blipFill>
            <a:blip r:embed="rId4"/>
            <a:stretch>
              <a:fillRect t="-195" b="-195"/>
            </a:stretch>
          </a:blipFill>
        </p:spPr>
        <p:txBody>
          <a:bodyPr/>
          <a:lstStyle/>
          <a:p>
            <a:endParaRPr lang="es-GT"/>
          </a:p>
        </p:txBody>
      </p:sp>
      <p:sp>
        <p:nvSpPr>
          <p:cNvPr id="7" name="Freeform 7"/>
          <p:cNvSpPr/>
          <p:nvPr/>
        </p:nvSpPr>
        <p:spPr>
          <a:xfrm>
            <a:off x="13855427" y="8242221"/>
            <a:ext cx="4051335" cy="2044779"/>
          </a:xfrm>
          <a:custGeom>
            <a:avLst/>
            <a:gdLst/>
            <a:ahLst/>
            <a:cxnLst/>
            <a:rect l="l" t="t" r="r" b="b"/>
            <a:pathLst>
              <a:path w="4051335" h="2044779">
                <a:moveTo>
                  <a:pt x="0" y="0"/>
                </a:moveTo>
                <a:lnTo>
                  <a:pt x="4051335" y="0"/>
                </a:lnTo>
                <a:lnTo>
                  <a:pt x="4051335" y="2044779"/>
                </a:lnTo>
                <a:lnTo>
                  <a:pt x="0" y="2044779"/>
                </a:lnTo>
                <a:lnTo>
                  <a:pt x="0" y="0"/>
                </a:lnTo>
                <a:close/>
              </a:path>
            </a:pathLst>
          </a:custGeom>
          <a:blipFill>
            <a:blip r:embed="rId5"/>
            <a:stretch>
              <a:fillRect t="-43" b="-43"/>
            </a:stretch>
          </a:blipFill>
        </p:spPr>
        <p:txBody>
          <a:bodyPr/>
          <a:lstStyle/>
          <a:p>
            <a:endParaRPr lang="es-G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305" y="0"/>
            <a:ext cx="18213695" cy="10287000"/>
          </a:xfrm>
          <a:custGeom>
            <a:avLst/>
            <a:gdLst/>
            <a:ahLst/>
            <a:cxnLst/>
            <a:rect l="l" t="t" r="r" b="b"/>
            <a:pathLst>
              <a:path w="18213695" h="10287000">
                <a:moveTo>
                  <a:pt x="0" y="0"/>
                </a:moveTo>
                <a:lnTo>
                  <a:pt x="18213695" y="0"/>
                </a:lnTo>
                <a:lnTo>
                  <a:pt x="18213695" y="10287000"/>
                </a:lnTo>
                <a:lnTo>
                  <a:pt x="0" y="10287000"/>
                </a:lnTo>
                <a:lnTo>
                  <a:pt x="0" y="0"/>
                </a:lnTo>
                <a:close/>
              </a:path>
            </a:pathLst>
          </a:custGeom>
          <a:blipFill>
            <a:blip r:embed="rId2"/>
            <a:stretch>
              <a:fillRect t="-369" b="-369"/>
            </a:stretch>
          </a:blipFill>
        </p:spPr>
        <p:txBody>
          <a:bodyPr/>
          <a:lstStyle/>
          <a:p>
            <a:endParaRPr lang="es-GT"/>
          </a:p>
        </p:txBody>
      </p:sp>
      <p:sp>
        <p:nvSpPr>
          <p:cNvPr id="3" name="TextBox 3"/>
          <p:cNvSpPr txBox="1"/>
          <p:nvPr/>
        </p:nvSpPr>
        <p:spPr>
          <a:xfrm>
            <a:off x="652558" y="1210675"/>
            <a:ext cx="16982884" cy="1371600"/>
          </a:xfrm>
          <a:prstGeom prst="rect">
            <a:avLst/>
          </a:prstGeom>
        </p:spPr>
        <p:txBody>
          <a:bodyPr lIns="0" tIns="0" rIns="0" bIns="0" rtlCol="0" anchor="t">
            <a:spAutoFit/>
          </a:bodyPr>
          <a:lstStyle/>
          <a:p>
            <a:pPr algn="l">
              <a:lnSpc>
                <a:spcPts val="10800"/>
              </a:lnSpc>
            </a:pPr>
            <a:r>
              <a:rPr lang="en-US" sz="9000" b="1" spc="-20">
                <a:solidFill>
                  <a:srgbClr val="000000"/>
                </a:solidFill>
                <a:latin typeface="Open Sans Bold"/>
                <a:ea typeface="Open Sans Bold"/>
                <a:cs typeface="Open Sans Bold"/>
                <a:sym typeface="Open Sans Bold"/>
              </a:rPr>
              <a:t>¿QUÉ ES .NET?</a:t>
            </a:r>
          </a:p>
        </p:txBody>
      </p:sp>
      <p:sp>
        <p:nvSpPr>
          <p:cNvPr id="4" name="TextBox 4"/>
          <p:cNvSpPr txBox="1"/>
          <p:nvPr/>
        </p:nvSpPr>
        <p:spPr>
          <a:xfrm>
            <a:off x="652558" y="2762060"/>
            <a:ext cx="16982884" cy="6659880"/>
          </a:xfrm>
          <a:prstGeom prst="rect">
            <a:avLst/>
          </a:prstGeom>
        </p:spPr>
        <p:txBody>
          <a:bodyPr lIns="0" tIns="0" rIns="0" bIns="0" rtlCol="0" anchor="t">
            <a:spAutoFit/>
          </a:bodyPr>
          <a:lstStyle/>
          <a:p>
            <a:pPr algn="just">
              <a:lnSpc>
                <a:spcPts val="4860"/>
              </a:lnSpc>
            </a:pPr>
            <a:r>
              <a:rPr lang="en-US" sz="3000">
                <a:solidFill>
                  <a:srgbClr val="000000"/>
                </a:solidFill>
                <a:latin typeface="Open Sans"/>
                <a:ea typeface="Open Sans"/>
                <a:cs typeface="Open Sans"/>
                <a:sym typeface="Open Sans"/>
              </a:rPr>
              <a:t>Es un conjunto de herramientas, tecnologías y servicios que dan pie a la creación de distintas aplicaciones, es entonces, una plataforma de desarrollo de software. ¿Plataforma? Esto se refiere al conjunto de elementos que sirven para “construir algo”. Para este caso ayudan a hacer funcionar aplicaciones web, de escritorio, de consola, entre otros.</a:t>
            </a:r>
          </a:p>
          <a:p>
            <a:pPr algn="just">
              <a:lnSpc>
                <a:spcPts val="4860"/>
              </a:lnSpc>
            </a:pPr>
            <a:endParaRPr lang="en-US" sz="3000">
              <a:solidFill>
                <a:srgbClr val="000000"/>
              </a:solidFill>
              <a:latin typeface="Open Sans"/>
              <a:ea typeface="Open Sans"/>
              <a:cs typeface="Open Sans"/>
              <a:sym typeface="Open Sans"/>
            </a:endParaRPr>
          </a:p>
          <a:p>
            <a:pPr algn="just">
              <a:lnSpc>
                <a:spcPts val="4860"/>
              </a:lnSpc>
            </a:pPr>
            <a:r>
              <a:rPr lang="en-US" sz="3000" b="1">
                <a:solidFill>
                  <a:srgbClr val="000000"/>
                </a:solidFill>
                <a:latin typeface="Open Sans Bold"/>
                <a:ea typeface="Open Sans Bold"/>
                <a:cs typeface="Open Sans Bold"/>
                <a:sym typeface="Open Sans Bold"/>
              </a:rPr>
              <a:t>¿Es un lenguaje de programación?</a:t>
            </a:r>
          </a:p>
          <a:p>
            <a:pPr algn="just">
              <a:lnSpc>
                <a:spcPts val="4860"/>
              </a:lnSpc>
            </a:pPr>
            <a:r>
              <a:rPr lang="en-US" sz="3000">
                <a:solidFill>
                  <a:srgbClr val="000000"/>
                </a:solidFill>
                <a:latin typeface="Open Sans"/>
                <a:ea typeface="Open Sans"/>
                <a:cs typeface="Open Sans"/>
                <a:sym typeface="Open Sans"/>
              </a:rPr>
              <a:t>No, lo correcto es decir que admite múltiples lenguajes de programación como Visual Basic, C# y F#. También es común confundirlo con Visual Studio, y no, no es lo mismo, tampoco es lo mismo que Visual Basic. Visual Studio es un editor de código fuente desarrollado por Microsoft para Windows, Linux, macOS y Web, mientras que Visual Basic, como antes se mencionó, es un lenguaje de programación.</a:t>
            </a:r>
          </a:p>
        </p:txBody>
      </p:sp>
      <p:sp>
        <p:nvSpPr>
          <p:cNvPr id="5" name="Freeform 5"/>
          <p:cNvSpPr/>
          <p:nvPr/>
        </p:nvSpPr>
        <p:spPr>
          <a:xfrm>
            <a:off x="0" y="0"/>
            <a:ext cx="3717465" cy="1504759"/>
          </a:xfrm>
          <a:custGeom>
            <a:avLst/>
            <a:gdLst/>
            <a:ahLst/>
            <a:cxnLst/>
            <a:rect l="l" t="t" r="r" b="b"/>
            <a:pathLst>
              <a:path w="3717465" h="1504759">
                <a:moveTo>
                  <a:pt x="0" y="0"/>
                </a:moveTo>
                <a:lnTo>
                  <a:pt x="3717465" y="0"/>
                </a:lnTo>
                <a:lnTo>
                  <a:pt x="3717465" y="1504759"/>
                </a:lnTo>
                <a:lnTo>
                  <a:pt x="0" y="1504759"/>
                </a:lnTo>
                <a:lnTo>
                  <a:pt x="0" y="0"/>
                </a:lnTo>
                <a:close/>
              </a:path>
            </a:pathLst>
          </a:custGeom>
          <a:blipFill>
            <a:blip r:embed="rId3"/>
            <a:stretch>
              <a:fillRect t="-432" b="-432"/>
            </a:stretch>
          </a:blipFill>
        </p:spPr>
        <p:txBody>
          <a:bodyPr/>
          <a:lstStyle/>
          <a:p>
            <a:endParaRPr lang="es-GT"/>
          </a:p>
        </p:txBody>
      </p:sp>
      <p:sp>
        <p:nvSpPr>
          <p:cNvPr id="6" name="Freeform 6"/>
          <p:cNvSpPr/>
          <p:nvPr/>
        </p:nvSpPr>
        <p:spPr>
          <a:xfrm>
            <a:off x="4899650" y="0"/>
            <a:ext cx="2919298" cy="1210675"/>
          </a:xfrm>
          <a:custGeom>
            <a:avLst/>
            <a:gdLst/>
            <a:ahLst/>
            <a:cxnLst/>
            <a:rect l="l" t="t" r="r" b="b"/>
            <a:pathLst>
              <a:path w="2919298" h="1210675">
                <a:moveTo>
                  <a:pt x="0" y="0"/>
                </a:moveTo>
                <a:lnTo>
                  <a:pt x="2919299" y="0"/>
                </a:lnTo>
                <a:lnTo>
                  <a:pt x="2919299" y="1210675"/>
                </a:lnTo>
                <a:lnTo>
                  <a:pt x="0" y="1210675"/>
                </a:lnTo>
                <a:lnTo>
                  <a:pt x="0" y="0"/>
                </a:lnTo>
                <a:close/>
              </a:path>
            </a:pathLst>
          </a:custGeom>
          <a:blipFill>
            <a:blip r:embed="rId4"/>
            <a:stretch>
              <a:fillRect t="-195" b="-195"/>
            </a:stretch>
          </a:blipFill>
        </p:spPr>
        <p:txBody>
          <a:bodyPr/>
          <a:lstStyle/>
          <a:p>
            <a:endParaRPr lang="es-GT"/>
          </a:p>
        </p:txBody>
      </p:sp>
      <p:sp>
        <p:nvSpPr>
          <p:cNvPr id="7" name="Freeform 7"/>
          <p:cNvSpPr/>
          <p:nvPr/>
        </p:nvSpPr>
        <p:spPr>
          <a:xfrm>
            <a:off x="13855427" y="8932481"/>
            <a:ext cx="4051335" cy="2044779"/>
          </a:xfrm>
          <a:custGeom>
            <a:avLst/>
            <a:gdLst/>
            <a:ahLst/>
            <a:cxnLst/>
            <a:rect l="l" t="t" r="r" b="b"/>
            <a:pathLst>
              <a:path w="4051335" h="2044779">
                <a:moveTo>
                  <a:pt x="0" y="0"/>
                </a:moveTo>
                <a:lnTo>
                  <a:pt x="4051335" y="0"/>
                </a:lnTo>
                <a:lnTo>
                  <a:pt x="4051335" y="2044779"/>
                </a:lnTo>
                <a:lnTo>
                  <a:pt x="0" y="2044779"/>
                </a:lnTo>
                <a:lnTo>
                  <a:pt x="0" y="0"/>
                </a:lnTo>
                <a:close/>
              </a:path>
            </a:pathLst>
          </a:custGeom>
          <a:blipFill>
            <a:blip r:embed="rId5"/>
            <a:stretch>
              <a:fillRect t="-43" b="-43"/>
            </a:stretch>
          </a:blipFill>
        </p:spPr>
        <p:txBody>
          <a:bodyPr/>
          <a:lstStyle/>
          <a:p>
            <a:endParaRPr lang="es-G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893302"/>
            <a:ext cx="2478091" cy="1393698"/>
          </a:xfrm>
          <a:custGeom>
            <a:avLst/>
            <a:gdLst/>
            <a:ahLst/>
            <a:cxnLst/>
            <a:rect l="l" t="t" r="r" b="b"/>
            <a:pathLst>
              <a:path w="2478091" h="1393698">
                <a:moveTo>
                  <a:pt x="0" y="0"/>
                </a:moveTo>
                <a:lnTo>
                  <a:pt x="2478091" y="0"/>
                </a:lnTo>
                <a:lnTo>
                  <a:pt x="2478091" y="1393698"/>
                </a:lnTo>
                <a:lnTo>
                  <a:pt x="0" y="1393698"/>
                </a:lnTo>
                <a:lnTo>
                  <a:pt x="0" y="0"/>
                </a:lnTo>
                <a:close/>
              </a:path>
            </a:pathLst>
          </a:custGeom>
          <a:blipFill>
            <a:blip r:embed="rId3"/>
            <a:stretch>
              <a:fillRect t="-54" b="-55"/>
            </a:stretch>
          </a:blipFill>
        </p:spPr>
        <p:txBody>
          <a:bodyPr/>
          <a:lstStyle/>
          <a:p>
            <a:endParaRPr lang="es-GT"/>
          </a:p>
        </p:txBody>
      </p:sp>
      <p:sp>
        <p:nvSpPr>
          <p:cNvPr id="4" name="Freeform 4"/>
          <p:cNvSpPr/>
          <p:nvPr/>
        </p:nvSpPr>
        <p:spPr>
          <a:xfrm>
            <a:off x="15262955" y="8864584"/>
            <a:ext cx="3025045" cy="1422416"/>
          </a:xfrm>
          <a:custGeom>
            <a:avLst/>
            <a:gdLst/>
            <a:ahLst/>
            <a:cxnLst/>
            <a:rect l="l" t="t" r="r" b="b"/>
            <a:pathLst>
              <a:path w="3025045" h="1422416">
                <a:moveTo>
                  <a:pt x="0" y="0"/>
                </a:moveTo>
                <a:lnTo>
                  <a:pt x="3025045" y="0"/>
                </a:lnTo>
                <a:lnTo>
                  <a:pt x="3025045" y="1422416"/>
                </a:lnTo>
                <a:lnTo>
                  <a:pt x="0" y="1422416"/>
                </a:lnTo>
                <a:lnTo>
                  <a:pt x="0" y="0"/>
                </a:lnTo>
                <a:close/>
              </a:path>
            </a:pathLst>
          </a:custGeom>
          <a:blipFill>
            <a:blip r:embed="rId4"/>
            <a:stretch>
              <a:fillRect t="-164" b="-164"/>
            </a:stretch>
          </a:blipFill>
        </p:spPr>
        <p:txBody>
          <a:bodyPr/>
          <a:lstStyle/>
          <a:p>
            <a:endParaRPr lang="es-GT"/>
          </a:p>
        </p:txBody>
      </p:sp>
      <p:sp>
        <p:nvSpPr>
          <p:cNvPr id="5" name="Freeform 5"/>
          <p:cNvSpPr/>
          <p:nvPr/>
        </p:nvSpPr>
        <p:spPr>
          <a:xfrm>
            <a:off x="0" y="0"/>
            <a:ext cx="3550310" cy="1322784"/>
          </a:xfrm>
          <a:custGeom>
            <a:avLst/>
            <a:gdLst/>
            <a:ahLst/>
            <a:cxnLst/>
            <a:rect l="l" t="t" r="r" b="b"/>
            <a:pathLst>
              <a:path w="3550310" h="1322784">
                <a:moveTo>
                  <a:pt x="0" y="0"/>
                </a:moveTo>
                <a:lnTo>
                  <a:pt x="3550310" y="0"/>
                </a:lnTo>
                <a:lnTo>
                  <a:pt x="3550310" y="1322784"/>
                </a:lnTo>
                <a:lnTo>
                  <a:pt x="0" y="1322784"/>
                </a:lnTo>
                <a:lnTo>
                  <a:pt x="0" y="0"/>
                </a:lnTo>
                <a:close/>
              </a:path>
            </a:pathLst>
          </a:custGeom>
          <a:blipFill>
            <a:blip r:embed="rId5"/>
            <a:stretch>
              <a:fillRect t="-272" b="-272"/>
            </a:stretch>
          </a:blipFill>
        </p:spPr>
        <p:txBody>
          <a:bodyPr/>
          <a:lstStyle/>
          <a:p>
            <a:endParaRPr lang="es-GT"/>
          </a:p>
        </p:txBody>
      </p:sp>
      <p:sp>
        <p:nvSpPr>
          <p:cNvPr id="6" name="Freeform 6"/>
          <p:cNvSpPr/>
          <p:nvPr/>
        </p:nvSpPr>
        <p:spPr>
          <a:xfrm>
            <a:off x="11101578" y="9560662"/>
            <a:ext cx="3169282" cy="726338"/>
          </a:xfrm>
          <a:custGeom>
            <a:avLst/>
            <a:gdLst/>
            <a:ahLst/>
            <a:cxnLst/>
            <a:rect l="l" t="t" r="r" b="b"/>
            <a:pathLst>
              <a:path w="3169282" h="726338">
                <a:moveTo>
                  <a:pt x="0" y="0"/>
                </a:moveTo>
                <a:lnTo>
                  <a:pt x="3169282" y="0"/>
                </a:lnTo>
                <a:lnTo>
                  <a:pt x="3169282" y="726338"/>
                </a:lnTo>
                <a:lnTo>
                  <a:pt x="0" y="726338"/>
                </a:lnTo>
                <a:lnTo>
                  <a:pt x="0" y="0"/>
                </a:lnTo>
                <a:close/>
              </a:path>
            </a:pathLst>
          </a:custGeom>
          <a:blipFill>
            <a:blip r:embed="rId6"/>
            <a:stretch>
              <a:fillRect l="-292" r="-292"/>
            </a:stretch>
          </a:blipFill>
        </p:spPr>
        <p:txBody>
          <a:bodyPr/>
          <a:lstStyle/>
          <a:p>
            <a:endParaRPr lang="es-GT"/>
          </a:p>
        </p:txBody>
      </p:sp>
      <p:sp>
        <p:nvSpPr>
          <p:cNvPr id="7" name="Freeform 7"/>
          <p:cNvSpPr/>
          <p:nvPr/>
        </p:nvSpPr>
        <p:spPr>
          <a:xfrm>
            <a:off x="9653626" y="0"/>
            <a:ext cx="5493058" cy="1076868"/>
          </a:xfrm>
          <a:custGeom>
            <a:avLst/>
            <a:gdLst/>
            <a:ahLst/>
            <a:cxnLst/>
            <a:rect l="l" t="t" r="r" b="b"/>
            <a:pathLst>
              <a:path w="5493058" h="1076868">
                <a:moveTo>
                  <a:pt x="0" y="0"/>
                </a:moveTo>
                <a:lnTo>
                  <a:pt x="5493058" y="0"/>
                </a:lnTo>
                <a:lnTo>
                  <a:pt x="5493058" y="1076868"/>
                </a:lnTo>
                <a:lnTo>
                  <a:pt x="0" y="1076868"/>
                </a:lnTo>
                <a:lnTo>
                  <a:pt x="0" y="0"/>
                </a:lnTo>
                <a:close/>
              </a:path>
            </a:pathLst>
          </a:custGeom>
          <a:blipFill>
            <a:blip r:embed="rId7"/>
            <a:stretch>
              <a:fillRect t="-788" b="-788"/>
            </a:stretch>
          </a:blipFill>
        </p:spPr>
        <p:txBody>
          <a:bodyPr/>
          <a:lstStyle/>
          <a:p>
            <a:endParaRPr lang="es-GT"/>
          </a:p>
        </p:txBody>
      </p:sp>
      <p:sp>
        <p:nvSpPr>
          <p:cNvPr id="8" name="Freeform 8"/>
          <p:cNvSpPr/>
          <p:nvPr/>
        </p:nvSpPr>
        <p:spPr>
          <a:xfrm>
            <a:off x="4732506" y="0"/>
            <a:ext cx="2919298" cy="1028700"/>
          </a:xfrm>
          <a:custGeom>
            <a:avLst/>
            <a:gdLst/>
            <a:ahLst/>
            <a:cxnLst/>
            <a:rect l="l" t="t" r="r" b="b"/>
            <a:pathLst>
              <a:path w="2919298" h="1028700">
                <a:moveTo>
                  <a:pt x="0" y="0"/>
                </a:moveTo>
                <a:lnTo>
                  <a:pt x="2919298" y="0"/>
                </a:lnTo>
                <a:lnTo>
                  <a:pt x="2919298" y="1028700"/>
                </a:lnTo>
                <a:lnTo>
                  <a:pt x="0" y="1028700"/>
                </a:lnTo>
                <a:lnTo>
                  <a:pt x="0" y="0"/>
                </a:lnTo>
                <a:close/>
              </a:path>
            </a:pathLst>
          </a:custGeom>
          <a:blipFill>
            <a:blip r:embed="rId8"/>
            <a:stretch>
              <a:fillRect t="-312" b="-312"/>
            </a:stretch>
          </a:blipFill>
        </p:spPr>
        <p:txBody>
          <a:bodyPr/>
          <a:lstStyle/>
          <a:p>
            <a:endParaRPr lang="es-GT"/>
          </a:p>
        </p:txBody>
      </p:sp>
      <p:sp>
        <p:nvSpPr>
          <p:cNvPr id="9" name="Freeform 9"/>
          <p:cNvSpPr/>
          <p:nvPr/>
        </p:nvSpPr>
        <p:spPr>
          <a:xfrm>
            <a:off x="2932281" y="9271806"/>
            <a:ext cx="2587019" cy="1015194"/>
          </a:xfrm>
          <a:custGeom>
            <a:avLst/>
            <a:gdLst/>
            <a:ahLst/>
            <a:cxnLst/>
            <a:rect l="l" t="t" r="r" b="b"/>
            <a:pathLst>
              <a:path w="2587019" h="1015194">
                <a:moveTo>
                  <a:pt x="0" y="0"/>
                </a:moveTo>
                <a:lnTo>
                  <a:pt x="2587018" y="0"/>
                </a:lnTo>
                <a:lnTo>
                  <a:pt x="2587018" y="1015194"/>
                </a:lnTo>
                <a:lnTo>
                  <a:pt x="0" y="1015194"/>
                </a:lnTo>
                <a:lnTo>
                  <a:pt x="0" y="0"/>
                </a:lnTo>
                <a:close/>
              </a:path>
            </a:pathLst>
          </a:custGeom>
          <a:blipFill>
            <a:blip r:embed="rId9"/>
            <a:stretch>
              <a:fillRect t="-966" b="-965"/>
            </a:stretch>
          </a:blipFill>
        </p:spPr>
        <p:txBody>
          <a:bodyPr/>
          <a:lstStyle/>
          <a:p>
            <a:endParaRPr lang="es-GT"/>
          </a:p>
        </p:txBody>
      </p:sp>
      <p:sp>
        <p:nvSpPr>
          <p:cNvPr id="10" name="Freeform 10"/>
          <p:cNvSpPr/>
          <p:nvPr/>
        </p:nvSpPr>
        <p:spPr>
          <a:xfrm>
            <a:off x="15262955" y="0"/>
            <a:ext cx="1996345" cy="1076868"/>
          </a:xfrm>
          <a:custGeom>
            <a:avLst/>
            <a:gdLst/>
            <a:ahLst/>
            <a:cxnLst/>
            <a:rect l="l" t="t" r="r" b="b"/>
            <a:pathLst>
              <a:path w="1996345" h="1076868">
                <a:moveTo>
                  <a:pt x="0" y="0"/>
                </a:moveTo>
                <a:lnTo>
                  <a:pt x="1996345" y="0"/>
                </a:lnTo>
                <a:lnTo>
                  <a:pt x="1996345" y="1076868"/>
                </a:lnTo>
                <a:lnTo>
                  <a:pt x="0" y="1076868"/>
                </a:lnTo>
                <a:lnTo>
                  <a:pt x="0" y="0"/>
                </a:lnTo>
                <a:close/>
              </a:path>
            </a:pathLst>
          </a:custGeom>
          <a:blipFill>
            <a:blip r:embed="rId10"/>
            <a:stretch>
              <a:fillRect t="-2288" b="-2287"/>
            </a:stretch>
          </a:blipFill>
        </p:spPr>
        <p:txBody>
          <a:bodyPr/>
          <a:lstStyle/>
          <a:p>
            <a:endParaRPr lang="es-GT"/>
          </a:p>
        </p:txBody>
      </p:sp>
      <p:sp>
        <p:nvSpPr>
          <p:cNvPr id="11" name="TextBox 11"/>
          <p:cNvSpPr txBox="1"/>
          <p:nvPr/>
        </p:nvSpPr>
        <p:spPr>
          <a:xfrm>
            <a:off x="748994" y="1322784"/>
            <a:ext cx="16790012" cy="1371600"/>
          </a:xfrm>
          <a:prstGeom prst="rect">
            <a:avLst/>
          </a:prstGeom>
        </p:spPr>
        <p:txBody>
          <a:bodyPr lIns="0" tIns="0" rIns="0" bIns="0" rtlCol="0" anchor="t">
            <a:spAutoFit/>
          </a:bodyPr>
          <a:lstStyle/>
          <a:p>
            <a:pPr algn="ctr">
              <a:lnSpc>
                <a:spcPts val="10800"/>
              </a:lnSpc>
            </a:pPr>
            <a:r>
              <a:rPr lang="en-US" sz="9000" b="1" spc="-240">
                <a:solidFill>
                  <a:srgbClr val="000000"/>
                </a:solidFill>
                <a:latin typeface="Open Sans Bold"/>
                <a:ea typeface="Open Sans Bold"/>
                <a:cs typeface="Open Sans Bold"/>
                <a:sym typeface="Open Sans Bold"/>
              </a:rPr>
              <a:t>INSTALACIÓN DE C#</a:t>
            </a:r>
          </a:p>
        </p:txBody>
      </p:sp>
      <p:sp>
        <p:nvSpPr>
          <p:cNvPr id="12" name="TextBox 12"/>
          <p:cNvSpPr txBox="1"/>
          <p:nvPr/>
        </p:nvSpPr>
        <p:spPr>
          <a:xfrm>
            <a:off x="1028700" y="3011295"/>
            <a:ext cx="16230600" cy="4572000"/>
          </a:xfrm>
          <a:prstGeom prst="rect">
            <a:avLst/>
          </a:prstGeom>
        </p:spPr>
        <p:txBody>
          <a:bodyPr lIns="0" tIns="0" rIns="0" bIns="0" rtlCol="0" anchor="t">
            <a:spAutoFit/>
          </a:bodyPr>
          <a:lstStyle/>
          <a:p>
            <a:pPr algn="just">
              <a:lnSpc>
                <a:spcPts val="4559"/>
              </a:lnSpc>
            </a:pPr>
            <a:r>
              <a:rPr lang="en-US" sz="3799" spc="83">
                <a:solidFill>
                  <a:srgbClr val="000000"/>
                </a:solidFill>
                <a:latin typeface="Open Sans"/>
                <a:ea typeface="Open Sans"/>
                <a:cs typeface="Open Sans"/>
                <a:sym typeface="Open Sans"/>
              </a:rPr>
              <a:t>Para comenzar a desarrollar en C#, es necesario instalar el .NET SDK, ya que este incluye el compilador, las bibliotecas base y las herramientas necesarias para crear y ejecutar aplicaciones en C#.</a:t>
            </a:r>
          </a:p>
          <a:p>
            <a:pPr algn="just">
              <a:lnSpc>
                <a:spcPts val="4559"/>
              </a:lnSpc>
            </a:pPr>
            <a:r>
              <a:rPr lang="en-US" sz="3799" spc="83">
                <a:solidFill>
                  <a:srgbClr val="000000"/>
                </a:solidFill>
                <a:latin typeface="Open Sans"/>
                <a:ea typeface="Open Sans"/>
                <a:cs typeface="Open Sans"/>
                <a:sym typeface="Open Sans"/>
              </a:rPr>
              <a:t>Además del SDK, se requiere un entorno de desarrollo o editor de código. Puedes utilizar Visual Studio Community (gratuito y con todas las herramientas integradas) o Visual Studio Code, un editor ligero que, junto con las extensiones adecuadas, permite programar en 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893302"/>
            <a:ext cx="2478091" cy="1393698"/>
          </a:xfrm>
          <a:custGeom>
            <a:avLst/>
            <a:gdLst/>
            <a:ahLst/>
            <a:cxnLst/>
            <a:rect l="l" t="t" r="r" b="b"/>
            <a:pathLst>
              <a:path w="2478091" h="1393698">
                <a:moveTo>
                  <a:pt x="0" y="0"/>
                </a:moveTo>
                <a:lnTo>
                  <a:pt x="2478091" y="0"/>
                </a:lnTo>
                <a:lnTo>
                  <a:pt x="2478091" y="1393698"/>
                </a:lnTo>
                <a:lnTo>
                  <a:pt x="0" y="1393698"/>
                </a:lnTo>
                <a:lnTo>
                  <a:pt x="0" y="0"/>
                </a:lnTo>
                <a:close/>
              </a:path>
            </a:pathLst>
          </a:custGeom>
          <a:blipFill>
            <a:blip r:embed="rId3"/>
            <a:stretch>
              <a:fillRect t="-54" b="-55"/>
            </a:stretch>
          </a:blipFill>
        </p:spPr>
        <p:txBody>
          <a:bodyPr/>
          <a:lstStyle/>
          <a:p>
            <a:endParaRPr lang="es-GT"/>
          </a:p>
        </p:txBody>
      </p:sp>
      <p:sp>
        <p:nvSpPr>
          <p:cNvPr id="4" name="Freeform 4"/>
          <p:cNvSpPr/>
          <p:nvPr/>
        </p:nvSpPr>
        <p:spPr>
          <a:xfrm>
            <a:off x="15262955" y="8864584"/>
            <a:ext cx="3025045" cy="1422416"/>
          </a:xfrm>
          <a:custGeom>
            <a:avLst/>
            <a:gdLst/>
            <a:ahLst/>
            <a:cxnLst/>
            <a:rect l="l" t="t" r="r" b="b"/>
            <a:pathLst>
              <a:path w="3025045" h="1422416">
                <a:moveTo>
                  <a:pt x="0" y="0"/>
                </a:moveTo>
                <a:lnTo>
                  <a:pt x="3025045" y="0"/>
                </a:lnTo>
                <a:lnTo>
                  <a:pt x="3025045" y="1422416"/>
                </a:lnTo>
                <a:lnTo>
                  <a:pt x="0" y="1422416"/>
                </a:lnTo>
                <a:lnTo>
                  <a:pt x="0" y="0"/>
                </a:lnTo>
                <a:close/>
              </a:path>
            </a:pathLst>
          </a:custGeom>
          <a:blipFill>
            <a:blip r:embed="rId4"/>
            <a:stretch>
              <a:fillRect t="-164" b="-164"/>
            </a:stretch>
          </a:blipFill>
        </p:spPr>
        <p:txBody>
          <a:bodyPr/>
          <a:lstStyle/>
          <a:p>
            <a:endParaRPr lang="es-GT"/>
          </a:p>
        </p:txBody>
      </p:sp>
      <p:sp>
        <p:nvSpPr>
          <p:cNvPr id="5" name="Freeform 5"/>
          <p:cNvSpPr/>
          <p:nvPr/>
        </p:nvSpPr>
        <p:spPr>
          <a:xfrm>
            <a:off x="0" y="0"/>
            <a:ext cx="3550310" cy="1322784"/>
          </a:xfrm>
          <a:custGeom>
            <a:avLst/>
            <a:gdLst/>
            <a:ahLst/>
            <a:cxnLst/>
            <a:rect l="l" t="t" r="r" b="b"/>
            <a:pathLst>
              <a:path w="3550310" h="1322784">
                <a:moveTo>
                  <a:pt x="0" y="0"/>
                </a:moveTo>
                <a:lnTo>
                  <a:pt x="3550310" y="0"/>
                </a:lnTo>
                <a:lnTo>
                  <a:pt x="3550310" y="1322784"/>
                </a:lnTo>
                <a:lnTo>
                  <a:pt x="0" y="1322784"/>
                </a:lnTo>
                <a:lnTo>
                  <a:pt x="0" y="0"/>
                </a:lnTo>
                <a:close/>
              </a:path>
            </a:pathLst>
          </a:custGeom>
          <a:blipFill>
            <a:blip r:embed="rId5"/>
            <a:stretch>
              <a:fillRect t="-272" b="-272"/>
            </a:stretch>
          </a:blipFill>
        </p:spPr>
        <p:txBody>
          <a:bodyPr/>
          <a:lstStyle/>
          <a:p>
            <a:endParaRPr lang="es-GT"/>
          </a:p>
        </p:txBody>
      </p:sp>
      <p:sp>
        <p:nvSpPr>
          <p:cNvPr id="6" name="Freeform 6"/>
          <p:cNvSpPr/>
          <p:nvPr/>
        </p:nvSpPr>
        <p:spPr>
          <a:xfrm>
            <a:off x="11101578" y="9560662"/>
            <a:ext cx="3169282" cy="726338"/>
          </a:xfrm>
          <a:custGeom>
            <a:avLst/>
            <a:gdLst/>
            <a:ahLst/>
            <a:cxnLst/>
            <a:rect l="l" t="t" r="r" b="b"/>
            <a:pathLst>
              <a:path w="3169282" h="726338">
                <a:moveTo>
                  <a:pt x="0" y="0"/>
                </a:moveTo>
                <a:lnTo>
                  <a:pt x="3169282" y="0"/>
                </a:lnTo>
                <a:lnTo>
                  <a:pt x="3169282" y="726338"/>
                </a:lnTo>
                <a:lnTo>
                  <a:pt x="0" y="726338"/>
                </a:lnTo>
                <a:lnTo>
                  <a:pt x="0" y="0"/>
                </a:lnTo>
                <a:close/>
              </a:path>
            </a:pathLst>
          </a:custGeom>
          <a:blipFill>
            <a:blip r:embed="rId6"/>
            <a:stretch>
              <a:fillRect l="-292" r="-292"/>
            </a:stretch>
          </a:blipFill>
        </p:spPr>
        <p:txBody>
          <a:bodyPr/>
          <a:lstStyle/>
          <a:p>
            <a:endParaRPr lang="es-GT"/>
          </a:p>
        </p:txBody>
      </p:sp>
      <p:sp>
        <p:nvSpPr>
          <p:cNvPr id="7" name="Freeform 7"/>
          <p:cNvSpPr/>
          <p:nvPr/>
        </p:nvSpPr>
        <p:spPr>
          <a:xfrm>
            <a:off x="9653626" y="0"/>
            <a:ext cx="5493058" cy="1076868"/>
          </a:xfrm>
          <a:custGeom>
            <a:avLst/>
            <a:gdLst/>
            <a:ahLst/>
            <a:cxnLst/>
            <a:rect l="l" t="t" r="r" b="b"/>
            <a:pathLst>
              <a:path w="5493058" h="1076868">
                <a:moveTo>
                  <a:pt x="0" y="0"/>
                </a:moveTo>
                <a:lnTo>
                  <a:pt x="5493058" y="0"/>
                </a:lnTo>
                <a:lnTo>
                  <a:pt x="5493058" y="1076868"/>
                </a:lnTo>
                <a:lnTo>
                  <a:pt x="0" y="1076868"/>
                </a:lnTo>
                <a:lnTo>
                  <a:pt x="0" y="0"/>
                </a:lnTo>
                <a:close/>
              </a:path>
            </a:pathLst>
          </a:custGeom>
          <a:blipFill>
            <a:blip r:embed="rId7"/>
            <a:stretch>
              <a:fillRect t="-788" b="-788"/>
            </a:stretch>
          </a:blipFill>
        </p:spPr>
        <p:txBody>
          <a:bodyPr/>
          <a:lstStyle/>
          <a:p>
            <a:endParaRPr lang="es-GT"/>
          </a:p>
        </p:txBody>
      </p:sp>
      <p:sp>
        <p:nvSpPr>
          <p:cNvPr id="8" name="Freeform 8"/>
          <p:cNvSpPr/>
          <p:nvPr/>
        </p:nvSpPr>
        <p:spPr>
          <a:xfrm>
            <a:off x="4732506" y="0"/>
            <a:ext cx="2919298" cy="1028700"/>
          </a:xfrm>
          <a:custGeom>
            <a:avLst/>
            <a:gdLst/>
            <a:ahLst/>
            <a:cxnLst/>
            <a:rect l="l" t="t" r="r" b="b"/>
            <a:pathLst>
              <a:path w="2919298" h="1028700">
                <a:moveTo>
                  <a:pt x="0" y="0"/>
                </a:moveTo>
                <a:lnTo>
                  <a:pt x="2919298" y="0"/>
                </a:lnTo>
                <a:lnTo>
                  <a:pt x="2919298" y="1028700"/>
                </a:lnTo>
                <a:lnTo>
                  <a:pt x="0" y="1028700"/>
                </a:lnTo>
                <a:lnTo>
                  <a:pt x="0" y="0"/>
                </a:lnTo>
                <a:close/>
              </a:path>
            </a:pathLst>
          </a:custGeom>
          <a:blipFill>
            <a:blip r:embed="rId8"/>
            <a:stretch>
              <a:fillRect t="-312" b="-312"/>
            </a:stretch>
          </a:blipFill>
        </p:spPr>
        <p:txBody>
          <a:bodyPr/>
          <a:lstStyle/>
          <a:p>
            <a:endParaRPr lang="es-GT"/>
          </a:p>
        </p:txBody>
      </p:sp>
      <p:sp>
        <p:nvSpPr>
          <p:cNvPr id="9" name="Freeform 9"/>
          <p:cNvSpPr/>
          <p:nvPr/>
        </p:nvSpPr>
        <p:spPr>
          <a:xfrm>
            <a:off x="2932281" y="9271806"/>
            <a:ext cx="2587019" cy="1015194"/>
          </a:xfrm>
          <a:custGeom>
            <a:avLst/>
            <a:gdLst/>
            <a:ahLst/>
            <a:cxnLst/>
            <a:rect l="l" t="t" r="r" b="b"/>
            <a:pathLst>
              <a:path w="2587019" h="1015194">
                <a:moveTo>
                  <a:pt x="0" y="0"/>
                </a:moveTo>
                <a:lnTo>
                  <a:pt x="2587018" y="0"/>
                </a:lnTo>
                <a:lnTo>
                  <a:pt x="2587018" y="1015194"/>
                </a:lnTo>
                <a:lnTo>
                  <a:pt x="0" y="1015194"/>
                </a:lnTo>
                <a:lnTo>
                  <a:pt x="0" y="0"/>
                </a:lnTo>
                <a:close/>
              </a:path>
            </a:pathLst>
          </a:custGeom>
          <a:blipFill>
            <a:blip r:embed="rId9"/>
            <a:stretch>
              <a:fillRect t="-966" b="-965"/>
            </a:stretch>
          </a:blipFill>
        </p:spPr>
        <p:txBody>
          <a:bodyPr/>
          <a:lstStyle/>
          <a:p>
            <a:endParaRPr lang="es-GT"/>
          </a:p>
        </p:txBody>
      </p:sp>
      <p:sp>
        <p:nvSpPr>
          <p:cNvPr id="10" name="Freeform 10"/>
          <p:cNvSpPr/>
          <p:nvPr/>
        </p:nvSpPr>
        <p:spPr>
          <a:xfrm>
            <a:off x="15262955" y="0"/>
            <a:ext cx="1996345" cy="1076868"/>
          </a:xfrm>
          <a:custGeom>
            <a:avLst/>
            <a:gdLst/>
            <a:ahLst/>
            <a:cxnLst/>
            <a:rect l="l" t="t" r="r" b="b"/>
            <a:pathLst>
              <a:path w="1996345" h="1076868">
                <a:moveTo>
                  <a:pt x="0" y="0"/>
                </a:moveTo>
                <a:lnTo>
                  <a:pt x="1996345" y="0"/>
                </a:lnTo>
                <a:lnTo>
                  <a:pt x="1996345" y="1076868"/>
                </a:lnTo>
                <a:lnTo>
                  <a:pt x="0" y="1076868"/>
                </a:lnTo>
                <a:lnTo>
                  <a:pt x="0" y="0"/>
                </a:lnTo>
                <a:close/>
              </a:path>
            </a:pathLst>
          </a:custGeom>
          <a:blipFill>
            <a:blip r:embed="rId10"/>
            <a:stretch>
              <a:fillRect t="-2288" b="-2287"/>
            </a:stretch>
          </a:blipFill>
        </p:spPr>
        <p:txBody>
          <a:bodyPr/>
          <a:lstStyle/>
          <a:p>
            <a:endParaRPr lang="es-GT"/>
          </a:p>
        </p:txBody>
      </p:sp>
      <p:sp>
        <p:nvSpPr>
          <p:cNvPr id="11" name="Freeform 11"/>
          <p:cNvSpPr/>
          <p:nvPr/>
        </p:nvSpPr>
        <p:spPr>
          <a:xfrm>
            <a:off x="7651804" y="5784594"/>
            <a:ext cx="9022612" cy="3473706"/>
          </a:xfrm>
          <a:custGeom>
            <a:avLst/>
            <a:gdLst/>
            <a:ahLst/>
            <a:cxnLst/>
            <a:rect l="l" t="t" r="r" b="b"/>
            <a:pathLst>
              <a:path w="9022612" h="3473706">
                <a:moveTo>
                  <a:pt x="0" y="0"/>
                </a:moveTo>
                <a:lnTo>
                  <a:pt x="9022612" y="0"/>
                </a:lnTo>
                <a:lnTo>
                  <a:pt x="9022612" y="3473706"/>
                </a:lnTo>
                <a:lnTo>
                  <a:pt x="0" y="3473706"/>
                </a:lnTo>
                <a:lnTo>
                  <a:pt x="0" y="0"/>
                </a:lnTo>
                <a:close/>
              </a:path>
            </a:pathLst>
          </a:custGeom>
          <a:blipFill>
            <a:blip r:embed="rId11"/>
            <a:stretch>
              <a:fillRect/>
            </a:stretch>
          </a:blipFill>
        </p:spPr>
        <p:txBody>
          <a:bodyPr/>
          <a:lstStyle/>
          <a:p>
            <a:endParaRPr lang="es-GT"/>
          </a:p>
        </p:txBody>
      </p:sp>
      <p:sp>
        <p:nvSpPr>
          <p:cNvPr id="12" name="Freeform 12"/>
          <p:cNvSpPr/>
          <p:nvPr/>
        </p:nvSpPr>
        <p:spPr>
          <a:xfrm>
            <a:off x="2689995" y="6981040"/>
            <a:ext cx="1720631" cy="1720631"/>
          </a:xfrm>
          <a:custGeom>
            <a:avLst/>
            <a:gdLst/>
            <a:ahLst/>
            <a:cxnLst/>
            <a:rect l="l" t="t" r="r" b="b"/>
            <a:pathLst>
              <a:path w="1720631" h="1720631">
                <a:moveTo>
                  <a:pt x="0" y="0"/>
                </a:moveTo>
                <a:lnTo>
                  <a:pt x="1720631" y="0"/>
                </a:lnTo>
                <a:lnTo>
                  <a:pt x="1720631" y="1720631"/>
                </a:lnTo>
                <a:lnTo>
                  <a:pt x="0" y="1720631"/>
                </a:lnTo>
                <a:lnTo>
                  <a:pt x="0" y="0"/>
                </a:lnTo>
                <a:close/>
              </a:path>
            </a:pathLst>
          </a:custGeom>
          <a:blipFill>
            <a:blip r:embed="rId12"/>
            <a:stretch>
              <a:fillRect/>
            </a:stretch>
          </a:blipFill>
        </p:spPr>
        <p:txBody>
          <a:bodyPr/>
          <a:lstStyle/>
          <a:p>
            <a:endParaRPr lang="es-GT"/>
          </a:p>
        </p:txBody>
      </p:sp>
      <p:sp>
        <p:nvSpPr>
          <p:cNvPr id="13" name="TextBox 13"/>
          <p:cNvSpPr txBox="1"/>
          <p:nvPr/>
        </p:nvSpPr>
        <p:spPr>
          <a:xfrm>
            <a:off x="748994" y="1322784"/>
            <a:ext cx="16790012" cy="1371600"/>
          </a:xfrm>
          <a:prstGeom prst="rect">
            <a:avLst/>
          </a:prstGeom>
        </p:spPr>
        <p:txBody>
          <a:bodyPr lIns="0" tIns="0" rIns="0" bIns="0" rtlCol="0" anchor="t">
            <a:spAutoFit/>
          </a:bodyPr>
          <a:lstStyle/>
          <a:p>
            <a:pPr algn="ctr">
              <a:lnSpc>
                <a:spcPts val="10800"/>
              </a:lnSpc>
            </a:pPr>
            <a:r>
              <a:rPr lang="en-US" sz="9000" b="1" spc="-240">
                <a:solidFill>
                  <a:srgbClr val="000000"/>
                </a:solidFill>
                <a:latin typeface="Open Sans Bold"/>
                <a:ea typeface="Open Sans Bold"/>
                <a:cs typeface="Open Sans Bold"/>
                <a:sym typeface="Open Sans Bold"/>
              </a:rPr>
              <a:t>PASOS PAR INSTALAR .NET SDK</a:t>
            </a:r>
          </a:p>
        </p:txBody>
      </p:sp>
      <p:sp>
        <p:nvSpPr>
          <p:cNvPr id="14" name="TextBox 14"/>
          <p:cNvSpPr txBox="1"/>
          <p:nvPr/>
        </p:nvSpPr>
        <p:spPr>
          <a:xfrm>
            <a:off x="1028700" y="3011295"/>
            <a:ext cx="15746778" cy="2857500"/>
          </a:xfrm>
          <a:prstGeom prst="rect">
            <a:avLst/>
          </a:prstGeom>
        </p:spPr>
        <p:txBody>
          <a:bodyPr lIns="0" tIns="0" rIns="0" bIns="0" rtlCol="0" anchor="t">
            <a:spAutoFit/>
          </a:bodyPr>
          <a:lstStyle/>
          <a:p>
            <a:pPr algn="just">
              <a:lnSpc>
                <a:spcPts val="4559"/>
              </a:lnSpc>
            </a:pPr>
            <a:endParaRP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Descargar el SDK de .NET.</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Ejecutar el instalador descargado y presionar Instalar.</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Esperar a que finalice la instalación.</a:t>
            </a:r>
          </a:p>
          <a:p>
            <a:pPr algn="just">
              <a:lnSpc>
                <a:spcPts val="4559"/>
              </a:lnSpc>
            </a:pPr>
            <a:endParaRPr lang="en-US" sz="3799" spc="83">
              <a:solidFill>
                <a:srgbClr val="000000"/>
              </a:solidFill>
              <a:latin typeface="Open Sans"/>
              <a:ea typeface="Open Sans"/>
              <a:cs typeface="Open Sans"/>
              <a:sym typeface="Open Sans"/>
            </a:endParaRPr>
          </a:p>
        </p:txBody>
      </p:sp>
      <p:sp>
        <p:nvSpPr>
          <p:cNvPr id="15" name="TextBox 15"/>
          <p:cNvSpPr txBox="1"/>
          <p:nvPr/>
        </p:nvSpPr>
        <p:spPr>
          <a:xfrm>
            <a:off x="1910760" y="6068820"/>
            <a:ext cx="3279100" cy="807085"/>
          </a:xfrm>
          <a:prstGeom prst="rect">
            <a:avLst/>
          </a:prstGeom>
        </p:spPr>
        <p:txBody>
          <a:bodyPr lIns="0" tIns="0" rIns="0" bIns="0" rtlCol="0" anchor="t">
            <a:spAutoFit/>
          </a:bodyPr>
          <a:lstStyle/>
          <a:p>
            <a:pPr algn="l">
              <a:lnSpc>
                <a:spcPts val="6439"/>
              </a:lnSpc>
            </a:pPr>
            <a:r>
              <a:rPr lang="en-US" sz="4599" u="sng">
                <a:solidFill>
                  <a:srgbClr val="000000"/>
                </a:solidFill>
                <a:latin typeface="Arimo"/>
                <a:ea typeface="Arimo"/>
                <a:cs typeface="Arimo"/>
                <a:sym typeface="Arimo"/>
                <a:hlinkClick r:id="rId13" tooltip="https://dotnet.microsoft.com/en-us/download"/>
              </a:rPr>
              <a:t>Enlace .NET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893302"/>
            <a:ext cx="2478091" cy="1393698"/>
          </a:xfrm>
          <a:custGeom>
            <a:avLst/>
            <a:gdLst/>
            <a:ahLst/>
            <a:cxnLst/>
            <a:rect l="l" t="t" r="r" b="b"/>
            <a:pathLst>
              <a:path w="2478091" h="1393698">
                <a:moveTo>
                  <a:pt x="0" y="0"/>
                </a:moveTo>
                <a:lnTo>
                  <a:pt x="2478091" y="0"/>
                </a:lnTo>
                <a:lnTo>
                  <a:pt x="2478091" y="1393698"/>
                </a:lnTo>
                <a:lnTo>
                  <a:pt x="0" y="1393698"/>
                </a:lnTo>
                <a:lnTo>
                  <a:pt x="0" y="0"/>
                </a:lnTo>
                <a:close/>
              </a:path>
            </a:pathLst>
          </a:custGeom>
          <a:blipFill>
            <a:blip r:embed="rId3"/>
            <a:stretch>
              <a:fillRect t="-54" b="-55"/>
            </a:stretch>
          </a:blipFill>
        </p:spPr>
        <p:txBody>
          <a:bodyPr/>
          <a:lstStyle/>
          <a:p>
            <a:endParaRPr lang="es-GT"/>
          </a:p>
        </p:txBody>
      </p:sp>
      <p:sp>
        <p:nvSpPr>
          <p:cNvPr id="4" name="Freeform 4"/>
          <p:cNvSpPr/>
          <p:nvPr/>
        </p:nvSpPr>
        <p:spPr>
          <a:xfrm>
            <a:off x="15262955" y="8864584"/>
            <a:ext cx="3025045" cy="1422416"/>
          </a:xfrm>
          <a:custGeom>
            <a:avLst/>
            <a:gdLst/>
            <a:ahLst/>
            <a:cxnLst/>
            <a:rect l="l" t="t" r="r" b="b"/>
            <a:pathLst>
              <a:path w="3025045" h="1422416">
                <a:moveTo>
                  <a:pt x="0" y="0"/>
                </a:moveTo>
                <a:lnTo>
                  <a:pt x="3025045" y="0"/>
                </a:lnTo>
                <a:lnTo>
                  <a:pt x="3025045" y="1422416"/>
                </a:lnTo>
                <a:lnTo>
                  <a:pt x="0" y="1422416"/>
                </a:lnTo>
                <a:lnTo>
                  <a:pt x="0" y="0"/>
                </a:lnTo>
                <a:close/>
              </a:path>
            </a:pathLst>
          </a:custGeom>
          <a:blipFill>
            <a:blip r:embed="rId4"/>
            <a:stretch>
              <a:fillRect t="-164" b="-164"/>
            </a:stretch>
          </a:blipFill>
        </p:spPr>
        <p:txBody>
          <a:bodyPr/>
          <a:lstStyle/>
          <a:p>
            <a:endParaRPr lang="es-GT"/>
          </a:p>
        </p:txBody>
      </p:sp>
      <p:sp>
        <p:nvSpPr>
          <p:cNvPr id="5" name="Freeform 5"/>
          <p:cNvSpPr/>
          <p:nvPr/>
        </p:nvSpPr>
        <p:spPr>
          <a:xfrm>
            <a:off x="0" y="0"/>
            <a:ext cx="3550310" cy="1322784"/>
          </a:xfrm>
          <a:custGeom>
            <a:avLst/>
            <a:gdLst/>
            <a:ahLst/>
            <a:cxnLst/>
            <a:rect l="l" t="t" r="r" b="b"/>
            <a:pathLst>
              <a:path w="3550310" h="1322784">
                <a:moveTo>
                  <a:pt x="0" y="0"/>
                </a:moveTo>
                <a:lnTo>
                  <a:pt x="3550310" y="0"/>
                </a:lnTo>
                <a:lnTo>
                  <a:pt x="3550310" y="1322784"/>
                </a:lnTo>
                <a:lnTo>
                  <a:pt x="0" y="1322784"/>
                </a:lnTo>
                <a:lnTo>
                  <a:pt x="0" y="0"/>
                </a:lnTo>
                <a:close/>
              </a:path>
            </a:pathLst>
          </a:custGeom>
          <a:blipFill>
            <a:blip r:embed="rId5"/>
            <a:stretch>
              <a:fillRect t="-272" b="-272"/>
            </a:stretch>
          </a:blipFill>
        </p:spPr>
        <p:txBody>
          <a:bodyPr/>
          <a:lstStyle/>
          <a:p>
            <a:endParaRPr lang="es-GT"/>
          </a:p>
        </p:txBody>
      </p:sp>
      <p:sp>
        <p:nvSpPr>
          <p:cNvPr id="6" name="Freeform 6"/>
          <p:cNvSpPr/>
          <p:nvPr/>
        </p:nvSpPr>
        <p:spPr>
          <a:xfrm>
            <a:off x="11101578" y="9560662"/>
            <a:ext cx="3169282" cy="726338"/>
          </a:xfrm>
          <a:custGeom>
            <a:avLst/>
            <a:gdLst/>
            <a:ahLst/>
            <a:cxnLst/>
            <a:rect l="l" t="t" r="r" b="b"/>
            <a:pathLst>
              <a:path w="3169282" h="726338">
                <a:moveTo>
                  <a:pt x="0" y="0"/>
                </a:moveTo>
                <a:lnTo>
                  <a:pt x="3169282" y="0"/>
                </a:lnTo>
                <a:lnTo>
                  <a:pt x="3169282" y="726338"/>
                </a:lnTo>
                <a:lnTo>
                  <a:pt x="0" y="726338"/>
                </a:lnTo>
                <a:lnTo>
                  <a:pt x="0" y="0"/>
                </a:lnTo>
                <a:close/>
              </a:path>
            </a:pathLst>
          </a:custGeom>
          <a:blipFill>
            <a:blip r:embed="rId6"/>
            <a:stretch>
              <a:fillRect l="-292" r="-292"/>
            </a:stretch>
          </a:blipFill>
        </p:spPr>
        <p:txBody>
          <a:bodyPr/>
          <a:lstStyle/>
          <a:p>
            <a:endParaRPr lang="es-GT"/>
          </a:p>
        </p:txBody>
      </p:sp>
      <p:sp>
        <p:nvSpPr>
          <p:cNvPr id="7" name="Freeform 7"/>
          <p:cNvSpPr/>
          <p:nvPr/>
        </p:nvSpPr>
        <p:spPr>
          <a:xfrm>
            <a:off x="9653626" y="0"/>
            <a:ext cx="5493058" cy="1076868"/>
          </a:xfrm>
          <a:custGeom>
            <a:avLst/>
            <a:gdLst/>
            <a:ahLst/>
            <a:cxnLst/>
            <a:rect l="l" t="t" r="r" b="b"/>
            <a:pathLst>
              <a:path w="5493058" h="1076868">
                <a:moveTo>
                  <a:pt x="0" y="0"/>
                </a:moveTo>
                <a:lnTo>
                  <a:pt x="5493058" y="0"/>
                </a:lnTo>
                <a:lnTo>
                  <a:pt x="5493058" y="1076868"/>
                </a:lnTo>
                <a:lnTo>
                  <a:pt x="0" y="1076868"/>
                </a:lnTo>
                <a:lnTo>
                  <a:pt x="0" y="0"/>
                </a:lnTo>
                <a:close/>
              </a:path>
            </a:pathLst>
          </a:custGeom>
          <a:blipFill>
            <a:blip r:embed="rId7"/>
            <a:stretch>
              <a:fillRect t="-788" b="-788"/>
            </a:stretch>
          </a:blipFill>
        </p:spPr>
        <p:txBody>
          <a:bodyPr/>
          <a:lstStyle/>
          <a:p>
            <a:endParaRPr lang="es-GT"/>
          </a:p>
        </p:txBody>
      </p:sp>
      <p:sp>
        <p:nvSpPr>
          <p:cNvPr id="8" name="Freeform 8"/>
          <p:cNvSpPr/>
          <p:nvPr/>
        </p:nvSpPr>
        <p:spPr>
          <a:xfrm>
            <a:off x="4732506" y="0"/>
            <a:ext cx="2919298" cy="1028700"/>
          </a:xfrm>
          <a:custGeom>
            <a:avLst/>
            <a:gdLst/>
            <a:ahLst/>
            <a:cxnLst/>
            <a:rect l="l" t="t" r="r" b="b"/>
            <a:pathLst>
              <a:path w="2919298" h="1028700">
                <a:moveTo>
                  <a:pt x="0" y="0"/>
                </a:moveTo>
                <a:lnTo>
                  <a:pt x="2919298" y="0"/>
                </a:lnTo>
                <a:lnTo>
                  <a:pt x="2919298" y="1028700"/>
                </a:lnTo>
                <a:lnTo>
                  <a:pt x="0" y="1028700"/>
                </a:lnTo>
                <a:lnTo>
                  <a:pt x="0" y="0"/>
                </a:lnTo>
                <a:close/>
              </a:path>
            </a:pathLst>
          </a:custGeom>
          <a:blipFill>
            <a:blip r:embed="rId8"/>
            <a:stretch>
              <a:fillRect t="-312" b="-312"/>
            </a:stretch>
          </a:blipFill>
        </p:spPr>
        <p:txBody>
          <a:bodyPr/>
          <a:lstStyle/>
          <a:p>
            <a:endParaRPr lang="es-GT"/>
          </a:p>
        </p:txBody>
      </p:sp>
      <p:sp>
        <p:nvSpPr>
          <p:cNvPr id="9" name="Freeform 9"/>
          <p:cNvSpPr/>
          <p:nvPr/>
        </p:nvSpPr>
        <p:spPr>
          <a:xfrm>
            <a:off x="2932281" y="9271806"/>
            <a:ext cx="2587019" cy="1015194"/>
          </a:xfrm>
          <a:custGeom>
            <a:avLst/>
            <a:gdLst/>
            <a:ahLst/>
            <a:cxnLst/>
            <a:rect l="l" t="t" r="r" b="b"/>
            <a:pathLst>
              <a:path w="2587019" h="1015194">
                <a:moveTo>
                  <a:pt x="0" y="0"/>
                </a:moveTo>
                <a:lnTo>
                  <a:pt x="2587018" y="0"/>
                </a:lnTo>
                <a:lnTo>
                  <a:pt x="2587018" y="1015194"/>
                </a:lnTo>
                <a:lnTo>
                  <a:pt x="0" y="1015194"/>
                </a:lnTo>
                <a:lnTo>
                  <a:pt x="0" y="0"/>
                </a:lnTo>
                <a:close/>
              </a:path>
            </a:pathLst>
          </a:custGeom>
          <a:blipFill>
            <a:blip r:embed="rId9"/>
            <a:stretch>
              <a:fillRect t="-966" b="-965"/>
            </a:stretch>
          </a:blipFill>
        </p:spPr>
        <p:txBody>
          <a:bodyPr/>
          <a:lstStyle/>
          <a:p>
            <a:endParaRPr lang="es-GT"/>
          </a:p>
        </p:txBody>
      </p:sp>
      <p:sp>
        <p:nvSpPr>
          <p:cNvPr id="10" name="Freeform 10"/>
          <p:cNvSpPr/>
          <p:nvPr/>
        </p:nvSpPr>
        <p:spPr>
          <a:xfrm>
            <a:off x="15262955" y="0"/>
            <a:ext cx="1996345" cy="1076868"/>
          </a:xfrm>
          <a:custGeom>
            <a:avLst/>
            <a:gdLst/>
            <a:ahLst/>
            <a:cxnLst/>
            <a:rect l="l" t="t" r="r" b="b"/>
            <a:pathLst>
              <a:path w="1996345" h="1076868">
                <a:moveTo>
                  <a:pt x="0" y="0"/>
                </a:moveTo>
                <a:lnTo>
                  <a:pt x="1996345" y="0"/>
                </a:lnTo>
                <a:lnTo>
                  <a:pt x="1996345" y="1076868"/>
                </a:lnTo>
                <a:lnTo>
                  <a:pt x="0" y="1076868"/>
                </a:lnTo>
                <a:lnTo>
                  <a:pt x="0" y="0"/>
                </a:lnTo>
                <a:close/>
              </a:path>
            </a:pathLst>
          </a:custGeom>
          <a:blipFill>
            <a:blip r:embed="rId10"/>
            <a:stretch>
              <a:fillRect t="-2288" b="-2287"/>
            </a:stretch>
          </a:blipFill>
        </p:spPr>
        <p:txBody>
          <a:bodyPr/>
          <a:lstStyle/>
          <a:p>
            <a:endParaRPr lang="es-GT"/>
          </a:p>
        </p:txBody>
      </p:sp>
      <p:sp>
        <p:nvSpPr>
          <p:cNvPr id="11" name="TextBox 11"/>
          <p:cNvSpPr txBox="1"/>
          <p:nvPr/>
        </p:nvSpPr>
        <p:spPr>
          <a:xfrm>
            <a:off x="748994" y="1122731"/>
            <a:ext cx="16790012" cy="914400"/>
          </a:xfrm>
          <a:prstGeom prst="rect">
            <a:avLst/>
          </a:prstGeom>
        </p:spPr>
        <p:txBody>
          <a:bodyPr lIns="0" tIns="0" rIns="0" bIns="0" rtlCol="0" anchor="t">
            <a:spAutoFit/>
          </a:bodyPr>
          <a:lstStyle/>
          <a:p>
            <a:pPr algn="ctr">
              <a:lnSpc>
                <a:spcPts val="7200"/>
              </a:lnSpc>
            </a:pPr>
            <a:r>
              <a:rPr lang="en-US" sz="6000" b="1" spc="-160">
                <a:solidFill>
                  <a:srgbClr val="000000"/>
                </a:solidFill>
                <a:latin typeface="Open Sans Bold"/>
                <a:ea typeface="Open Sans Bold"/>
                <a:cs typeface="Open Sans Bold"/>
                <a:sym typeface="Open Sans Bold"/>
              </a:rPr>
              <a:t>VERIFICAR INSTALACIÓN .NET SDK</a:t>
            </a:r>
          </a:p>
        </p:txBody>
      </p:sp>
      <p:sp>
        <p:nvSpPr>
          <p:cNvPr id="12" name="TextBox 12"/>
          <p:cNvSpPr txBox="1"/>
          <p:nvPr/>
        </p:nvSpPr>
        <p:spPr>
          <a:xfrm>
            <a:off x="748994" y="2160651"/>
            <a:ext cx="16125472" cy="7429500"/>
          </a:xfrm>
          <a:prstGeom prst="rect">
            <a:avLst/>
          </a:prstGeom>
        </p:spPr>
        <p:txBody>
          <a:bodyPr lIns="0" tIns="0" rIns="0" bIns="0" rtlCol="0" anchor="t">
            <a:spAutoFit/>
          </a:bodyPr>
          <a:lstStyle/>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Abrir una terminal (CMD o PowerShell).</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Verificar la instalación ejecutando:</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dotnet --version</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Si el comando dotnet no es reconocido:</a:t>
            </a:r>
          </a:p>
          <a:p>
            <a:pPr marL="1640825" lvl="2" indent="-546942" algn="just">
              <a:lnSpc>
                <a:spcPts val="4559"/>
              </a:lnSpc>
              <a:buFont typeface="Arial"/>
              <a:buChar char="⚬"/>
            </a:pPr>
            <a:r>
              <a:rPr lang="en-US" sz="3799" spc="83">
                <a:solidFill>
                  <a:srgbClr val="000000"/>
                </a:solidFill>
                <a:latin typeface="Open Sans"/>
                <a:ea typeface="Open Sans"/>
                <a:cs typeface="Open Sans"/>
                <a:sym typeface="Open Sans"/>
              </a:rPr>
              <a:t>Abrir Variables de entorno (Win + R → sysdm.cpl).</a:t>
            </a:r>
          </a:p>
          <a:p>
            <a:pPr marL="1640825" lvl="2" indent="-546942" algn="just">
              <a:lnSpc>
                <a:spcPts val="4559"/>
              </a:lnSpc>
              <a:buFont typeface="Arial"/>
              <a:buChar char="⚬"/>
            </a:pPr>
            <a:r>
              <a:rPr lang="en-US" sz="3799" spc="83">
                <a:solidFill>
                  <a:srgbClr val="000000"/>
                </a:solidFill>
                <a:latin typeface="Open Sans"/>
                <a:ea typeface="Open Sans"/>
                <a:cs typeface="Open Sans"/>
                <a:sym typeface="Open Sans"/>
              </a:rPr>
              <a:t>Ir a Opciones avanzadas → Variables de entorno.</a:t>
            </a:r>
          </a:p>
          <a:p>
            <a:pPr marL="1640825" lvl="2" indent="-546942" algn="just">
              <a:lnSpc>
                <a:spcPts val="4559"/>
              </a:lnSpc>
              <a:buFont typeface="Arial"/>
              <a:buChar char="⚬"/>
            </a:pPr>
            <a:r>
              <a:rPr lang="en-US" sz="3799" spc="83">
                <a:solidFill>
                  <a:srgbClr val="000000"/>
                </a:solidFill>
                <a:latin typeface="Open Sans"/>
                <a:ea typeface="Open Sans"/>
                <a:cs typeface="Open Sans"/>
                <a:sym typeface="Open Sans"/>
              </a:rPr>
              <a:t>En Variables del sistema, editar Path.</a:t>
            </a:r>
          </a:p>
          <a:p>
            <a:pPr marL="1640825" lvl="2" indent="-546942" algn="just">
              <a:lnSpc>
                <a:spcPts val="4559"/>
              </a:lnSpc>
              <a:buFont typeface="Arial"/>
              <a:buChar char="⚬"/>
            </a:pPr>
            <a:r>
              <a:rPr lang="en-US" sz="3799" spc="83">
                <a:solidFill>
                  <a:srgbClr val="000000"/>
                </a:solidFill>
                <a:latin typeface="Open Sans"/>
                <a:ea typeface="Open Sans"/>
                <a:cs typeface="Open Sans"/>
                <a:sym typeface="Open Sans"/>
              </a:rPr>
              <a:t>Verificar que exista la ruta:</a:t>
            </a:r>
          </a:p>
          <a:p>
            <a:pPr marL="1640825" lvl="2" indent="-546942" algn="just">
              <a:lnSpc>
                <a:spcPts val="4559"/>
              </a:lnSpc>
              <a:buFont typeface="Arial"/>
              <a:buChar char="⚬"/>
            </a:pPr>
            <a:r>
              <a:rPr lang="en-US" sz="3799" spc="83">
                <a:solidFill>
                  <a:srgbClr val="000000"/>
                </a:solidFill>
                <a:latin typeface="Open Sans"/>
                <a:ea typeface="Open Sans"/>
                <a:cs typeface="Open Sans"/>
                <a:sym typeface="Open Sans"/>
              </a:rPr>
              <a:t>C:\Program Files\dotnet\</a:t>
            </a:r>
          </a:p>
          <a:p>
            <a:pPr marL="1640825" lvl="2" indent="-546942" algn="just">
              <a:lnSpc>
                <a:spcPts val="4559"/>
              </a:lnSpc>
              <a:buFont typeface="Arial"/>
              <a:buChar char="⚬"/>
            </a:pPr>
            <a:r>
              <a:rPr lang="en-US" sz="3799" spc="83">
                <a:solidFill>
                  <a:srgbClr val="000000"/>
                </a:solidFill>
                <a:latin typeface="Open Sans"/>
                <a:ea typeface="Open Sans"/>
                <a:cs typeface="Open Sans"/>
                <a:sym typeface="Open Sans"/>
              </a:rPr>
              <a:t>Si no existe, agregarla.</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Guardar los cambios y cerrar todas las ventanas.</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Cerrar y volver a abrir la terminal o reiniciar el equipo.</a:t>
            </a:r>
          </a:p>
          <a:p>
            <a:pPr algn="just">
              <a:lnSpc>
                <a:spcPts val="4559"/>
              </a:lnSpc>
            </a:pPr>
            <a:endParaRPr lang="en-US" sz="3799" spc="83">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893302"/>
            <a:ext cx="2478091" cy="1393698"/>
          </a:xfrm>
          <a:custGeom>
            <a:avLst/>
            <a:gdLst/>
            <a:ahLst/>
            <a:cxnLst/>
            <a:rect l="l" t="t" r="r" b="b"/>
            <a:pathLst>
              <a:path w="2478091" h="1393698">
                <a:moveTo>
                  <a:pt x="0" y="0"/>
                </a:moveTo>
                <a:lnTo>
                  <a:pt x="2478091" y="0"/>
                </a:lnTo>
                <a:lnTo>
                  <a:pt x="2478091" y="1393698"/>
                </a:lnTo>
                <a:lnTo>
                  <a:pt x="0" y="1393698"/>
                </a:lnTo>
                <a:lnTo>
                  <a:pt x="0" y="0"/>
                </a:lnTo>
                <a:close/>
              </a:path>
            </a:pathLst>
          </a:custGeom>
          <a:blipFill>
            <a:blip r:embed="rId3"/>
            <a:stretch>
              <a:fillRect t="-54" b="-55"/>
            </a:stretch>
          </a:blipFill>
        </p:spPr>
        <p:txBody>
          <a:bodyPr/>
          <a:lstStyle/>
          <a:p>
            <a:endParaRPr lang="es-GT"/>
          </a:p>
        </p:txBody>
      </p:sp>
      <p:sp>
        <p:nvSpPr>
          <p:cNvPr id="4" name="Freeform 4"/>
          <p:cNvSpPr/>
          <p:nvPr/>
        </p:nvSpPr>
        <p:spPr>
          <a:xfrm>
            <a:off x="15262955" y="8864584"/>
            <a:ext cx="3025045" cy="1422416"/>
          </a:xfrm>
          <a:custGeom>
            <a:avLst/>
            <a:gdLst/>
            <a:ahLst/>
            <a:cxnLst/>
            <a:rect l="l" t="t" r="r" b="b"/>
            <a:pathLst>
              <a:path w="3025045" h="1422416">
                <a:moveTo>
                  <a:pt x="0" y="0"/>
                </a:moveTo>
                <a:lnTo>
                  <a:pt x="3025045" y="0"/>
                </a:lnTo>
                <a:lnTo>
                  <a:pt x="3025045" y="1422416"/>
                </a:lnTo>
                <a:lnTo>
                  <a:pt x="0" y="1422416"/>
                </a:lnTo>
                <a:lnTo>
                  <a:pt x="0" y="0"/>
                </a:lnTo>
                <a:close/>
              </a:path>
            </a:pathLst>
          </a:custGeom>
          <a:blipFill>
            <a:blip r:embed="rId4"/>
            <a:stretch>
              <a:fillRect t="-164" b="-164"/>
            </a:stretch>
          </a:blipFill>
        </p:spPr>
        <p:txBody>
          <a:bodyPr/>
          <a:lstStyle/>
          <a:p>
            <a:endParaRPr lang="es-GT"/>
          </a:p>
        </p:txBody>
      </p:sp>
      <p:sp>
        <p:nvSpPr>
          <p:cNvPr id="5" name="Freeform 5"/>
          <p:cNvSpPr/>
          <p:nvPr/>
        </p:nvSpPr>
        <p:spPr>
          <a:xfrm>
            <a:off x="0" y="0"/>
            <a:ext cx="3550310" cy="1322784"/>
          </a:xfrm>
          <a:custGeom>
            <a:avLst/>
            <a:gdLst/>
            <a:ahLst/>
            <a:cxnLst/>
            <a:rect l="l" t="t" r="r" b="b"/>
            <a:pathLst>
              <a:path w="3550310" h="1322784">
                <a:moveTo>
                  <a:pt x="0" y="0"/>
                </a:moveTo>
                <a:lnTo>
                  <a:pt x="3550310" y="0"/>
                </a:lnTo>
                <a:lnTo>
                  <a:pt x="3550310" y="1322784"/>
                </a:lnTo>
                <a:lnTo>
                  <a:pt x="0" y="1322784"/>
                </a:lnTo>
                <a:lnTo>
                  <a:pt x="0" y="0"/>
                </a:lnTo>
                <a:close/>
              </a:path>
            </a:pathLst>
          </a:custGeom>
          <a:blipFill>
            <a:blip r:embed="rId5"/>
            <a:stretch>
              <a:fillRect t="-272" b="-272"/>
            </a:stretch>
          </a:blipFill>
        </p:spPr>
        <p:txBody>
          <a:bodyPr/>
          <a:lstStyle/>
          <a:p>
            <a:endParaRPr lang="es-GT"/>
          </a:p>
        </p:txBody>
      </p:sp>
      <p:sp>
        <p:nvSpPr>
          <p:cNvPr id="6" name="Freeform 6"/>
          <p:cNvSpPr/>
          <p:nvPr/>
        </p:nvSpPr>
        <p:spPr>
          <a:xfrm>
            <a:off x="11101578" y="9560662"/>
            <a:ext cx="3169282" cy="726338"/>
          </a:xfrm>
          <a:custGeom>
            <a:avLst/>
            <a:gdLst/>
            <a:ahLst/>
            <a:cxnLst/>
            <a:rect l="l" t="t" r="r" b="b"/>
            <a:pathLst>
              <a:path w="3169282" h="726338">
                <a:moveTo>
                  <a:pt x="0" y="0"/>
                </a:moveTo>
                <a:lnTo>
                  <a:pt x="3169282" y="0"/>
                </a:lnTo>
                <a:lnTo>
                  <a:pt x="3169282" y="726338"/>
                </a:lnTo>
                <a:lnTo>
                  <a:pt x="0" y="726338"/>
                </a:lnTo>
                <a:lnTo>
                  <a:pt x="0" y="0"/>
                </a:lnTo>
                <a:close/>
              </a:path>
            </a:pathLst>
          </a:custGeom>
          <a:blipFill>
            <a:blip r:embed="rId6"/>
            <a:stretch>
              <a:fillRect l="-292" r="-292"/>
            </a:stretch>
          </a:blipFill>
        </p:spPr>
        <p:txBody>
          <a:bodyPr/>
          <a:lstStyle/>
          <a:p>
            <a:endParaRPr lang="es-GT"/>
          </a:p>
        </p:txBody>
      </p:sp>
      <p:sp>
        <p:nvSpPr>
          <p:cNvPr id="7" name="Freeform 7"/>
          <p:cNvSpPr/>
          <p:nvPr/>
        </p:nvSpPr>
        <p:spPr>
          <a:xfrm>
            <a:off x="9653626" y="0"/>
            <a:ext cx="5493058" cy="1076868"/>
          </a:xfrm>
          <a:custGeom>
            <a:avLst/>
            <a:gdLst/>
            <a:ahLst/>
            <a:cxnLst/>
            <a:rect l="l" t="t" r="r" b="b"/>
            <a:pathLst>
              <a:path w="5493058" h="1076868">
                <a:moveTo>
                  <a:pt x="0" y="0"/>
                </a:moveTo>
                <a:lnTo>
                  <a:pt x="5493058" y="0"/>
                </a:lnTo>
                <a:lnTo>
                  <a:pt x="5493058" y="1076868"/>
                </a:lnTo>
                <a:lnTo>
                  <a:pt x="0" y="1076868"/>
                </a:lnTo>
                <a:lnTo>
                  <a:pt x="0" y="0"/>
                </a:lnTo>
                <a:close/>
              </a:path>
            </a:pathLst>
          </a:custGeom>
          <a:blipFill>
            <a:blip r:embed="rId7"/>
            <a:stretch>
              <a:fillRect t="-788" b="-788"/>
            </a:stretch>
          </a:blipFill>
        </p:spPr>
        <p:txBody>
          <a:bodyPr/>
          <a:lstStyle/>
          <a:p>
            <a:endParaRPr lang="es-GT"/>
          </a:p>
        </p:txBody>
      </p:sp>
      <p:sp>
        <p:nvSpPr>
          <p:cNvPr id="8" name="Freeform 8"/>
          <p:cNvSpPr/>
          <p:nvPr/>
        </p:nvSpPr>
        <p:spPr>
          <a:xfrm>
            <a:off x="4732506" y="0"/>
            <a:ext cx="2919298" cy="1028700"/>
          </a:xfrm>
          <a:custGeom>
            <a:avLst/>
            <a:gdLst/>
            <a:ahLst/>
            <a:cxnLst/>
            <a:rect l="l" t="t" r="r" b="b"/>
            <a:pathLst>
              <a:path w="2919298" h="1028700">
                <a:moveTo>
                  <a:pt x="0" y="0"/>
                </a:moveTo>
                <a:lnTo>
                  <a:pt x="2919298" y="0"/>
                </a:lnTo>
                <a:lnTo>
                  <a:pt x="2919298" y="1028700"/>
                </a:lnTo>
                <a:lnTo>
                  <a:pt x="0" y="1028700"/>
                </a:lnTo>
                <a:lnTo>
                  <a:pt x="0" y="0"/>
                </a:lnTo>
                <a:close/>
              </a:path>
            </a:pathLst>
          </a:custGeom>
          <a:blipFill>
            <a:blip r:embed="rId8"/>
            <a:stretch>
              <a:fillRect t="-312" b="-312"/>
            </a:stretch>
          </a:blipFill>
        </p:spPr>
        <p:txBody>
          <a:bodyPr/>
          <a:lstStyle/>
          <a:p>
            <a:endParaRPr lang="es-GT"/>
          </a:p>
        </p:txBody>
      </p:sp>
      <p:sp>
        <p:nvSpPr>
          <p:cNvPr id="9" name="Freeform 9"/>
          <p:cNvSpPr/>
          <p:nvPr/>
        </p:nvSpPr>
        <p:spPr>
          <a:xfrm>
            <a:off x="2932281" y="9271806"/>
            <a:ext cx="2587019" cy="1015194"/>
          </a:xfrm>
          <a:custGeom>
            <a:avLst/>
            <a:gdLst/>
            <a:ahLst/>
            <a:cxnLst/>
            <a:rect l="l" t="t" r="r" b="b"/>
            <a:pathLst>
              <a:path w="2587019" h="1015194">
                <a:moveTo>
                  <a:pt x="0" y="0"/>
                </a:moveTo>
                <a:lnTo>
                  <a:pt x="2587018" y="0"/>
                </a:lnTo>
                <a:lnTo>
                  <a:pt x="2587018" y="1015194"/>
                </a:lnTo>
                <a:lnTo>
                  <a:pt x="0" y="1015194"/>
                </a:lnTo>
                <a:lnTo>
                  <a:pt x="0" y="0"/>
                </a:lnTo>
                <a:close/>
              </a:path>
            </a:pathLst>
          </a:custGeom>
          <a:blipFill>
            <a:blip r:embed="rId9"/>
            <a:stretch>
              <a:fillRect t="-966" b="-965"/>
            </a:stretch>
          </a:blipFill>
        </p:spPr>
        <p:txBody>
          <a:bodyPr/>
          <a:lstStyle/>
          <a:p>
            <a:endParaRPr lang="es-GT"/>
          </a:p>
        </p:txBody>
      </p:sp>
      <p:sp>
        <p:nvSpPr>
          <p:cNvPr id="10" name="Freeform 10"/>
          <p:cNvSpPr/>
          <p:nvPr/>
        </p:nvSpPr>
        <p:spPr>
          <a:xfrm>
            <a:off x="15262955" y="0"/>
            <a:ext cx="1996345" cy="1076868"/>
          </a:xfrm>
          <a:custGeom>
            <a:avLst/>
            <a:gdLst/>
            <a:ahLst/>
            <a:cxnLst/>
            <a:rect l="l" t="t" r="r" b="b"/>
            <a:pathLst>
              <a:path w="1996345" h="1076868">
                <a:moveTo>
                  <a:pt x="0" y="0"/>
                </a:moveTo>
                <a:lnTo>
                  <a:pt x="1996345" y="0"/>
                </a:lnTo>
                <a:lnTo>
                  <a:pt x="1996345" y="1076868"/>
                </a:lnTo>
                <a:lnTo>
                  <a:pt x="0" y="1076868"/>
                </a:lnTo>
                <a:lnTo>
                  <a:pt x="0" y="0"/>
                </a:lnTo>
                <a:close/>
              </a:path>
            </a:pathLst>
          </a:custGeom>
          <a:blipFill>
            <a:blip r:embed="rId10"/>
            <a:stretch>
              <a:fillRect t="-2288" b="-2287"/>
            </a:stretch>
          </a:blipFill>
        </p:spPr>
        <p:txBody>
          <a:bodyPr/>
          <a:lstStyle/>
          <a:p>
            <a:endParaRPr lang="es-GT"/>
          </a:p>
        </p:txBody>
      </p:sp>
      <p:sp>
        <p:nvSpPr>
          <p:cNvPr id="11" name="Freeform 11"/>
          <p:cNvSpPr/>
          <p:nvPr/>
        </p:nvSpPr>
        <p:spPr>
          <a:xfrm>
            <a:off x="4845833" y="4576374"/>
            <a:ext cx="8596333" cy="4836870"/>
          </a:xfrm>
          <a:custGeom>
            <a:avLst/>
            <a:gdLst/>
            <a:ahLst/>
            <a:cxnLst/>
            <a:rect l="l" t="t" r="r" b="b"/>
            <a:pathLst>
              <a:path w="8596333" h="4836870">
                <a:moveTo>
                  <a:pt x="0" y="0"/>
                </a:moveTo>
                <a:lnTo>
                  <a:pt x="8596334" y="0"/>
                </a:lnTo>
                <a:lnTo>
                  <a:pt x="8596334" y="4836870"/>
                </a:lnTo>
                <a:lnTo>
                  <a:pt x="0" y="4836870"/>
                </a:lnTo>
                <a:lnTo>
                  <a:pt x="0" y="0"/>
                </a:lnTo>
                <a:close/>
              </a:path>
            </a:pathLst>
          </a:custGeom>
          <a:blipFill>
            <a:blip r:embed="rId11"/>
            <a:stretch>
              <a:fillRect/>
            </a:stretch>
          </a:blipFill>
        </p:spPr>
        <p:txBody>
          <a:bodyPr/>
          <a:lstStyle/>
          <a:p>
            <a:endParaRPr lang="es-GT"/>
          </a:p>
        </p:txBody>
      </p:sp>
      <p:sp>
        <p:nvSpPr>
          <p:cNvPr id="12" name="TextBox 12"/>
          <p:cNvSpPr txBox="1"/>
          <p:nvPr/>
        </p:nvSpPr>
        <p:spPr>
          <a:xfrm>
            <a:off x="1466140" y="2081484"/>
            <a:ext cx="15355719" cy="2057400"/>
          </a:xfrm>
          <a:prstGeom prst="rect">
            <a:avLst/>
          </a:prstGeom>
        </p:spPr>
        <p:txBody>
          <a:bodyPr lIns="0" tIns="0" rIns="0" bIns="0" rtlCol="0" anchor="t">
            <a:spAutoFit/>
          </a:bodyPr>
          <a:lstStyle/>
          <a:p>
            <a:pPr algn="ctr">
              <a:lnSpc>
                <a:spcPts val="8159"/>
              </a:lnSpc>
            </a:pPr>
            <a:r>
              <a:rPr lang="en-US" sz="6799" b="1" spc="-203">
                <a:solidFill>
                  <a:srgbClr val="000000"/>
                </a:solidFill>
                <a:latin typeface="Open Sans Bold"/>
                <a:ea typeface="Open Sans Bold"/>
                <a:cs typeface="Open Sans Bold"/>
                <a:sym typeface="Open Sans Bold"/>
              </a:rPr>
              <a:t>¿Y ahora ya podemos empezar a programar en 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TextBox 3"/>
          <p:cNvSpPr txBox="1"/>
          <p:nvPr/>
        </p:nvSpPr>
        <p:spPr>
          <a:xfrm>
            <a:off x="1661170" y="2361505"/>
            <a:ext cx="11469291" cy="1066800"/>
          </a:xfrm>
          <a:prstGeom prst="rect">
            <a:avLst/>
          </a:prstGeom>
        </p:spPr>
        <p:txBody>
          <a:bodyPr lIns="0" tIns="0" rIns="0" bIns="0" rtlCol="0" anchor="t">
            <a:spAutoFit/>
          </a:bodyPr>
          <a:lstStyle/>
          <a:p>
            <a:pPr algn="l">
              <a:lnSpc>
                <a:spcPts val="8400"/>
              </a:lnSpc>
            </a:pPr>
            <a:r>
              <a:rPr lang="en-US" sz="7000" b="1" spc="-340">
                <a:solidFill>
                  <a:srgbClr val="000000"/>
                </a:solidFill>
                <a:latin typeface="Open Sans Bold"/>
                <a:ea typeface="Open Sans Bold"/>
                <a:cs typeface="Open Sans Bold"/>
                <a:sym typeface="Open Sans Bold"/>
              </a:rPr>
              <a:t>ENTORNOS DE DESARROLLO</a:t>
            </a:r>
          </a:p>
        </p:txBody>
      </p:sp>
      <p:sp>
        <p:nvSpPr>
          <p:cNvPr id="4" name="TextBox 4"/>
          <p:cNvSpPr txBox="1"/>
          <p:nvPr/>
        </p:nvSpPr>
        <p:spPr>
          <a:xfrm>
            <a:off x="1661170" y="3604117"/>
            <a:ext cx="14936467" cy="4831080"/>
          </a:xfrm>
          <a:prstGeom prst="rect">
            <a:avLst/>
          </a:prstGeom>
        </p:spPr>
        <p:txBody>
          <a:bodyPr lIns="0" tIns="0" rIns="0" bIns="0" rtlCol="0" anchor="t">
            <a:spAutoFit/>
          </a:bodyPr>
          <a:lstStyle/>
          <a:p>
            <a:pPr algn="just">
              <a:lnSpc>
                <a:spcPts val="4859"/>
              </a:lnSpc>
            </a:pPr>
            <a:r>
              <a:rPr lang="en-US" sz="2999">
                <a:solidFill>
                  <a:srgbClr val="000000"/>
                </a:solidFill>
                <a:latin typeface="Open Sans"/>
                <a:ea typeface="Open Sans"/>
                <a:cs typeface="Open Sans"/>
                <a:sym typeface="Open Sans"/>
              </a:rPr>
              <a:t>Un entorno de desarrollo es un conjunto de herramientas, procedimientos y recursos que los desarrolladores  utilizan  para  crear,  probar  y  depurar  software.  Incluye  componentes  como editores de texto, compiladores, depuradores, sistemas de control de versiones, y otros recursos necesarios  para  el  desarrollo  de  código  fuente  o  programas.  Además,  puede  referirse específicamente a un entorno de desarrollo integrado (IDE), que es una aplicación de software que combina muchas de estas herramientas en una interfaz unificada para facilitar el proceso de desarrollo de software.</a:t>
            </a:r>
          </a:p>
        </p:txBody>
      </p:sp>
      <p:sp>
        <p:nvSpPr>
          <p:cNvPr id="5" name="Freeform 5"/>
          <p:cNvSpPr/>
          <p:nvPr/>
        </p:nvSpPr>
        <p:spPr>
          <a:xfrm>
            <a:off x="5847045" y="9882378"/>
            <a:ext cx="3296955" cy="404622"/>
          </a:xfrm>
          <a:custGeom>
            <a:avLst/>
            <a:gdLst/>
            <a:ahLst/>
            <a:cxnLst/>
            <a:rect l="l" t="t" r="r" b="b"/>
            <a:pathLst>
              <a:path w="3296955" h="404622">
                <a:moveTo>
                  <a:pt x="0" y="0"/>
                </a:moveTo>
                <a:lnTo>
                  <a:pt x="3296955" y="0"/>
                </a:lnTo>
                <a:lnTo>
                  <a:pt x="3296955" y="404622"/>
                </a:lnTo>
                <a:lnTo>
                  <a:pt x="0" y="404622"/>
                </a:lnTo>
                <a:lnTo>
                  <a:pt x="0" y="0"/>
                </a:lnTo>
                <a:close/>
              </a:path>
            </a:pathLst>
          </a:custGeom>
          <a:blipFill>
            <a:blip r:embed="rId3"/>
            <a:stretch>
              <a:fillRect t="-275" b="-277"/>
            </a:stretch>
          </a:blipFill>
        </p:spPr>
        <p:txBody>
          <a:bodyPr/>
          <a:lstStyle/>
          <a:p>
            <a:endParaRPr lang="es-GT"/>
          </a:p>
        </p:txBody>
      </p:sp>
      <p:sp>
        <p:nvSpPr>
          <p:cNvPr id="6" name="Freeform 6"/>
          <p:cNvSpPr/>
          <p:nvPr/>
        </p:nvSpPr>
        <p:spPr>
          <a:xfrm>
            <a:off x="0" y="0"/>
            <a:ext cx="4136546" cy="1534297"/>
          </a:xfrm>
          <a:custGeom>
            <a:avLst/>
            <a:gdLst/>
            <a:ahLst/>
            <a:cxnLst/>
            <a:rect l="l" t="t" r="r" b="b"/>
            <a:pathLst>
              <a:path w="4136546" h="1534297">
                <a:moveTo>
                  <a:pt x="0" y="0"/>
                </a:moveTo>
                <a:lnTo>
                  <a:pt x="4136546" y="0"/>
                </a:lnTo>
                <a:lnTo>
                  <a:pt x="4136546" y="1534297"/>
                </a:lnTo>
                <a:lnTo>
                  <a:pt x="0" y="1534297"/>
                </a:lnTo>
                <a:lnTo>
                  <a:pt x="0" y="0"/>
                </a:lnTo>
                <a:close/>
              </a:path>
            </a:pathLst>
          </a:custGeom>
          <a:blipFill>
            <a:blip r:embed="rId4"/>
            <a:stretch>
              <a:fillRect t="-343" b="-342"/>
            </a:stretch>
          </a:blipFill>
        </p:spPr>
        <p:txBody>
          <a:bodyPr/>
          <a:lstStyle/>
          <a:p>
            <a:endParaRPr lang="es-GT"/>
          </a:p>
        </p:txBody>
      </p:sp>
      <p:sp>
        <p:nvSpPr>
          <p:cNvPr id="7" name="Freeform 7"/>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5"/>
            <a:stretch>
              <a:fillRect t="-159" b="-158"/>
            </a:stretch>
          </a:blipFill>
        </p:spPr>
        <p:txBody>
          <a:bodyPr/>
          <a:lstStyle/>
          <a:p>
            <a:endParaRPr lang="es-GT"/>
          </a:p>
        </p:txBody>
      </p:sp>
      <p:sp>
        <p:nvSpPr>
          <p:cNvPr id="8" name="Freeform 8"/>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6"/>
            <a:stretch>
              <a:fillRect l="-26" r="-26"/>
            </a:stretch>
          </a:blipFill>
        </p:spPr>
        <p:txBody>
          <a:bodyPr/>
          <a:lstStyle/>
          <a:p>
            <a:endParaRPr lang="es-GT"/>
          </a:p>
        </p:txBody>
      </p:sp>
      <p:sp>
        <p:nvSpPr>
          <p:cNvPr id="9" name="Freeform 9"/>
          <p:cNvSpPr/>
          <p:nvPr/>
        </p:nvSpPr>
        <p:spPr>
          <a:xfrm>
            <a:off x="12801533" y="0"/>
            <a:ext cx="4292422" cy="817007"/>
          </a:xfrm>
          <a:custGeom>
            <a:avLst/>
            <a:gdLst/>
            <a:ahLst/>
            <a:cxnLst/>
            <a:rect l="l" t="t" r="r" b="b"/>
            <a:pathLst>
              <a:path w="4292422" h="817007">
                <a:moveTo>
                  <a:pt x="0" y="0"/>
                </a:moveTo>
                <a:lnTo>
                  <a:pt x="4292423" y="0"/>
                </a:lnTo>
                <a:lnTo>
                  <a:pt x="4292423" y="817007"/>
                </a:lnTo>
                <a:lnTo>
                  <a:pt x="0" y="817007"/>
                </a:lnTo>
                <a:lnTo>
                  <a:pt x="0" y="0"/>
                </a:lnTo>
                <a:close/>
              </a:path>
            </a:pathLst>
          </a:custGeom>
          <a:blipFill>
            <a:blip r:embed="rId7"/>
            <a:stretch>
              <a:fillRect t="-1466" b="-1465"/>
            </a:stretch>
          </a:blipFill>
        </p:spPr>
        <p:txBody>
          <a:bodyPr/>
          <a:lstStyle/>
          <a:p>
            <a:endParaRPr lang="es-GT"/>
          </a:p>
        </p:txBody>
      </p:sp>
      <p:sp>
        <p:nvSpPr>
          <p:cNvPr id="10" name="Freeform 10"/>
          <p:cNvSpPr/>
          <p:nvPr/>
        </p:nvSpPr>
        <p:spPr>
          <a:xfrm>
            <a:off x="7495518" y="0"/>
            <a:ext cx="5493058" cy="817007"/>
          </a:xfrm>
          <a:custGeom>
            <a:avLst/>
            <a:gdLst/>
            <a:ahLst/>
            <a:cxnLst/>
            <a:rect l="l" t="t" r="r" b="b"/>
            <a:pathLst>
              <a:path w="5493058" h="817007">
                <a:moveTo>
                  <a:pt x="0" y="0"/>
                </a:moveTo>
                <a:lnTo>
                  <a:pt x="5493058" y="0"/>
                </a:lnTo>
                <a:lnTo>
                  <a:pt x="5493058" y="817007"/>
                </a:lnTo>
                <a:lnTo>
                  <a:pt x="0" y="817007"/>
                </a:lnTo>
                <a:lnTo>
                  <a:pt x="0" y="0"/>
                </a:lnTo>
                <a:close/>
              </a:path>
            </a:pathLst>
          </a:custGeom>
          <a:blipFill>
            <a:blip r:embed="rId8"/>
            <a:stretch>
              <a:fillRect t="-935" b="-935"/>
            </a:stretch>
          </a:blipFill>
        </p:spPr>
        <p:txBody>
          <a:bodyPr/>
          <a:lstStyle/>
          <a:p>
            <a:endParaRPr lang="es-GT"/>
          </a:p>
        </p:txBody>
      </p:sp>
      <p:sp>
        <p:nvSpPr>
          <p:cNvPr id="11" name="Freeform 11"/>
          <p:cNvSpPr/>
          <p:nvPr/>
        </p:nvSpPr>
        <p:spPr>
          <a:xfrm>
            <a:off x="4861150" y="0"/>
            <a:ext cx="2892762" cy="817007"/>
          </a:xfrm>
          <a:custGeom>
            <a:avLst/>
            <a:gdLst/>
            <a:ahLst/>
            <a:cxnLst/>
            <a:rect l="l" t="t" r="r" b="b"/>
            <a:pathLst>
              <a:path w="2892762" h="817007">
                <a:moveTo>
                  <a:pt x="0" y="0"/>
                </a:moveTo>
                <a:lnTo>
                  <a:pt x="2892762" y="0"/>
                </a:lnTo>
                <a:lnTo>
                  <a:pt x="2892762" y="817007"/>
                </a:lnTo>
                <a:lnTo>
                  <a:pt x="0" y="817007"/>
                </a:lnTo>
                <a:lnTo>
                  <a:pt x="0" y="0"/>
                </a:lnTo>
                <a:close/>
              </a:path>
            </a:pathLst>
          </a:custGeom>
          <a:blipFill>
            <a:blip r:embed="rId9"/>
            <a:stretch>
              <a:fillRect t="-225" b="-225"/>
            </a:stretch>
          </a:blipFill>
        </p:spPr>
        <p:txBody>
          <a:bodyPr/>
          <a:lstStyle/>
          <a:p>
            <a:endParaRPr lang="es-GT"/>
          </a:p>
        </p:txBody>
      </p:sp>
      <p:sp>
        <p:nvSpPr>
          <p:cNvPr id="12" name="Freeform 12"/>
          <p:cNvSpPr/>
          <p:nvPr/>
        </p:nvSpPr>
        <p:spPr>
          <a:xfrm>
            <a:off x="0" y="9017984"/>
            <a:ext cx="2570550" cy="1269016"/>
          </a:xfrm>
          <a:custGeom>
            <a:avLst/>
            <a:gdLst/>
            <a:ahLst/>
            <a:cxnLst/>
            <a:rect l="l" t="t" r="r" b="b"/>
            <a:pathLst>
              <a:path w="2570550" h="1269016">
                <a:moveTo>
                  <a:pt x="0" y="0"/>
                </a:moveTo>
                <a:lnTo>
                  <a:pt x="2570550" y="0"/>
                </a:lnTo>
                <a:lnTo>
                  <a:pt x="2570550" y="1269016"/>
                </a:lnTo>
                <a:lnTo>
                  <a:pt x="0" y="1269016"/>
                </a:lnTo>
                <a:lnTo>
                  <a:pt x="0" y="0"/>
                </a:lnTo>
                <a:close/>
              </a:path>
            </a:pathLst>
          </a:custGeom>
          <a:blipFill>
            <a:blip r:embed="rId10"/>
            <a:stretch>
              <a:fillRect l="-100" r="-100"/>
            </a:stretch>
          </a:blipFill>
        </p:spPr>
        <p:txBody>
          <a:bodyPr/>
          <a:lstStyle/>
          <a:p>
            <a:endParaRPr lang="es-GT"/>
          </a:p>
        </p:txBody>
      </p:sp>
      <p:sp>
        <p:nvSpPr>
          <p:cNvPr id="13" name="Freeform 13"/>
          <p:cNvSpPr/>
          <p:nvPr/>
        </p:nvSpPr>
        <p:spPr>
          <a:xfrm>
            <a:off x="2570550" y="9496825"/>
            <a:ext cx="2587019" cy="790175"/>
          </a:xfrm>
          <a:custGeom>
            <a:avLst/>
            <a:gdLst/>
            <a:ahLst/>
            <a:cxnLst/>
            <a:rect l="l" t="t" r="r" b="b"/>
            <a:pathLst>
              <a:path w="2587019" h="790175">
                <a:moveTo>
                  <a:pt x="0" y="0"/>
                </a:moveTo>
                <a:lnTo>
                  <a:pt x="2587018" y="0"/>
                </a:lnTo>
                <a:lnTo>
                  <a:pt x="2587018" y="790175"/>
                </a:lnTo>
                <a:lnTo>
                  <a:pt x="0" y="790175"/>
                </a:lnTo>
                <a:lnTo>
                  <a:pt x="0" y="0"/>
                </a:lnTo>
                <a:close/>
              </a:path>
            </a:pathLst>
          </a:custGeom>
          <a:blipFill>
            <a:blip r:embed="rId11"/>
            <a:stretch>
              <a:fillRect t="-368" b="-368"/>
            </a:stretch>
          </a:blipFill>
        </p:spPr>
        <p:txBody>
          <a:bodyPr/>
          <a:lstStyle/>
          <a:p>
            <a:endParaRPr lang="es-GT"/>
          </a:p>
        </p:txBody>
      </p:sp>
      <p:sp>
        <p:nvSpPr>
          <p:cNvPr id="14" name="Freeform 14"/>
          <p:cNvSpPr/>
          <p:nvPr/>
        </p:nvSpPr>
        <p:spPr>
          <a:xfrm>
            <a:off x="14494774" y="9017984"/>
            <a:ext cx="3793226" cy="1269016"/>
          </a:xfrm>
          <a:custGeom>
            <a:avLst/>
            <a:gdLst/>
            <a:ahLst/>
            <a:cxnLst/>
            <a:rect l="l" t="t" r="r" b="b"/>
            <a:pathLst>
              <a:path w="3793226" h="1269016">
                <a:moveTo>
                  <a:pt x="0" y="0"/>
                </a:moveTo>
                <a:lnTo>
                  <a:pt x="3793226" y="0"/>
                </a:lnTo>
                <a:lnTo>
                  <a:pt x="3793226" y="1269016"/>
                </a:lnTo>
                <a:lnTo>
                  <a:pt x="0" y="1269016"/>
                </a:lnTo>
                <a:lnTo>
                  <a:pt x="0" y="0"/>
                </a:lnTo>
                <a:close/>
              </a:path>
            </a:pathLst>
          </a:custGeom>
          <a:blipFill>
            <a:blip r:embed="rId12"/>
            <a:stretch>
              <a:fillRect l="-54" r="-54"/>
            </a:stretch>
          </a:blipFill>
        </p:spPr>
        <p:txBody>
          <a:bodyPr/>
          <a:lstStyle/>
          <a:p>
            <a:endParaRPr lang="es-GT"/>
          </a:p>
        </p:txBody>
      </p:sp>
      <p:sp>
        <p:nvSpPr>
          <p:cNvPr id="15" name="Freeform 15"/>
          <p:cNvSpPr/>
          <p:nvPr/>
        </p:nvSpPr>
        <p:spPr>
          <a:xfrm>
            <a:off x="17494806" y="2371030"/>
            <a:ext cx="793185" cy="3575542"/>
          </a:xfrm>
          <a:custGeom>
            <a:avLst/>
            <a:gdLst/>
            <a:ahLst/>
            <a:cxnLst/>
            <a:rect l="l" t="t" r="r" b="b"/>
            <a:pathLst>
              <a:path w="793185" h="3575542">
                <a:moveTo>
                  <a:pt x="0" y="0"/>
                </a:moveTo>
                <a:lnTo>
                  <a:pt x="793184" y="0"/>
                </a:lnTo>
                <a:lnTo>
                  <a:pt x="793184" y="3575542"/>
                </a:lnTo>
                <a:lnTo>
                  <a:pt x="0" y="3575542"/>
                </a:lnTo>
                <a:lnTo>
                  <a:pt x="0" y="0"/>
                </a:lnTo>
                <a:close/>
              </a:path>
            </a:pathLst>
          </a:custGeom>
          <a:blipFill>
            <a:blip r:embed="rId13"/>
            <a:stretch>
              <a:fillRect l="-127" r="-127"/>
            </a:stretch>
          </a:blipFill>
        </p:spPr>
        <p:txBody>
          <a:bodyPr/>
          <a:lstStyle/>
          <a:p>
            <a:endParaRPr lang="es-GT"/>
          </a:p>
        </p:txBody>
      </p:sp>
      <p:sp>
        <p:nvSpPr>
          <p:cNvPr id="16" name="Freeform 16"/>
          <p:cNvSpPr/>
          <p:nvPr/>
        </p:nvSpPr>
        <p:spPr>
          <a:xfrm>
            <a:off x="17653387" y="5837882"/>
            <a:ext cx="634613" cy="3402692"/>
          </a:xfrm>
          <a:custGeom>
            <a:avLst/>
            <a:gdLst/>
            <a:ahLst/>
            <a:cxnLst/>
            <a:rect l="l" t="t" r="r" b="b"/>
            <a:pathLst>
              <a:path w="634613" h="3402692">
                <a:moveTo>
                  <a:pt x="0" y="0"/>
                </a:moveTo>
                <a:lnTo>
                  <a:pt x="634613" y="0"/>
                </a:lnTo>
                <a:lnTo>
                  <a:pt x="634613" y="3402692"/>
                </a:lnTo>
                <a:lnTo>
                  <a:pt x="0" y="3402692"/>
                </a:lnTo>
                <a:lnTo>
                  <a:pt x="0" y="0"/>
                </a:lnTo>
                <a:close/>
              </a:path>
            </a:pathLst>
          </a:custGeom>
          <a:blipFill>
            <a:blip r:embed="rId14"/>
            <a:stretch>
              <a:fillRect t="-122" b="-122"/>
            </a:stretch>
          </a:blipFill>
        </p:spPr>
        <p:txBody>
          <a:bodyPr/>
          <a:lstStyle/>
          <a:p>
            <a:endParaRPr lang="es-GT"/>
          </a:p>
        </p:txBody>
      </p:sp>
      <p:sp>
        <p:nvSpPr>
          <p:cNvPr id="17" name="Freeform 17"/>
          <p:cNvSpPr/>
          <p:nvPr/>
        </p:nvSpPr>
        <p:spPr>
          <a:xfrm>
            <a:off x="17259300" y="0"/>
            <a:ext cx="1028700" cy="2371030"/>
          </a:xfrm>
          <a:custGeom>
            <a:avLst/>
            <a:gdLst/>
            <a:ahLst/>
            <a:cxnLst/>
            <a:rect l="l" t="t" r="r" b="b"/>
            <a:pathLst>
              <a:path w="1028700" h="2371030">
                <a:moveTo>
                  <a:pt x="0" y="0"/>
                </a:moveTo>
                <a:lnTo>
                  <a:pt x="1028700" y="0"/>
                </a:lnTo>
                <a:lnTo>
                  <a:pt x="1028700" y="2371030"/>
                </a:lnTo>
                <a:lnTo>
                  <a:pt x="0" y="2371030"/>
                </a:lnTo>
                <a:lnTo>
                  <a:pt x="0" y="0"/>
                </a:lnTo>
                <a:close/>
              </a:path>
            </a:pathLst>
          </a:custGeom>
          <a:blipFill>
            <a:blip r:embed="rId15"/>
            <a:stretch>
              <a:fillRect t="-1729" b="-1729"/>
            </a:stretch>
          </a:blipFill>
        </p:spPr>
        <p:txBody>
          <a:bodyPr/>
          <a:lstStyle/>
          <a:p>
            <a:endParaRPr lang="es-G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1009651" y="1488629"/>
            <a:ext cx="5076188" cy="3597908"/>
          </a:xfrm>
          <a:custGeom>
            <a:avLst/>
            <a:gdLst/>
            <a:ahLst/>
            <a:cxnLst/>
            <a:rect l="l" t="t" r="r" b="b"/>
            <a:pathLst>
              <a:path w="5076188" h="3597908">
                <a:moveTo>
                  <a:pt x="0" y="0"/>
                </a:moveTo>
                <a:lnTo>
                  <a:pt x="5076188" y="0"/>
                </a:lnTo>
                <a:lnTo>
                  <a:pt x="5076188" y="3597908"/>
                </a:lnTo>
                <a:lnTo>
                  <a:pt x="0" y="3597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GT"/>
          </a:p>
        </p:txBody>
      </p:sp>
      <p:sp>
        <p:nvSpPr>
          <p:cNvPr id="4" name="Freeform 4"/>
          <p:cNvSpPr/>
          <p:nvPr/>
        </p:nvSpPr>
        <p:spPr>
          <a:xfrm>
            <a:off x="12102093" y="5503367"/>
            <a:ext cx="5076188" cy="3597908"/>
          </a:xfrm>
          <a:custGeom>
            <a:avLst/>
            <a:gdLst/>
            <a:ahLst/>
            <a:cxnLst/>
            <a:rect l="l" t="t" r="r" b="b"/>
            <a:pathLst>
              <a:path w="5076188" h="3597908">
                <a:moveTo>
                  <a:pt x="0" y="0"/>
                </a:moveTo>
                <a:lnTo>
                  <a:pt x="5076188" y="0"/>
                </a:lnTo>
                <a:lnTo>
                  <a:pt x="5076188" y="3597908"/>
                </a:lnTo>
                <a:lnTo>
                  <a:pt x="0" y="3597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GT"/>
          </a:p>
        </p:txBody>
      </p:sp>
      <p:sp>
        <p:nvSpPr>
          <p:cNvPr id="5" name="Freeform 5"/>
          <p:cNvSpPr/>
          <p:nvPr/>
        </p:nvSpPr>
        <p:spPr>
          <a:xfrm>
            <a:off x="6605913" y="3183177"/>
            <a:ext cx="5076188" cy="3597908"/>
          </a:xfrm>
          <a:custGeom>
            <a:avLst/>
            <a:gdLst/>
            <a:ahLst/>
            <a:cxnLst/>
            <a:rect l="l" t="t" r="r" b="b"/>
            <a:pathLst>
              <a:path w="5076188" h="3597908">
                <a:moveTo>
                  <a:pt x="0" y="0"/>
                </a:moveTo>
                <a:lnTo>
                  <a:pt x="5076188" y="0"/>
                </a:lnTo>
                <a:lnTo>
                  <a:pt x="5076188" y="3597908"/>
                </a:lnTo>
                <a:lnTo>
                  <a:pt x="0" y="3597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GT"/>
          </a:p>
        </p:txBody>
      </p:sp>
      <p:sp>
        <p:nvSpPr>
          <p:cNvPr id="6" name="Freeform 6"/>
          <p:cNvSpPr/>
          <p:nvPr/>
        </p:nvSpPr>
        <p:spPr>
          <a:xfrm>
            <a:off x="1009651" y="1242775"/>
            <a:ext cx="5076188" cy="707388"/>
          </a:xfrm>
          <a:custGeom>
            <a:avLst/>
            <a:gdLst/>
            <a:ahLst/>
            <a:cxnLst/>
            <a:rect l="l" t="t" r="r" b="b"/>
            <a:pathLst>
              <a:path w="5076188" h="707388">
                <a:moveTo>
                  <a:pt x="0" y="0"/>
                </a:moveTo>
                <a:lnTo>
                  <a:pt x="5076188" y="0"/>
                </a:lnTo>
                <a:lnTo>
                  <a:pt x="5076188" y="707388"/>
                </a:lnTo>
                <a:lnTo>
                  <a:pt x="0" y="7073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GT"/>
          </a:p>
        </p:txBody>
      </p:sp>
      <p:sp>
        <p:nvSpPr>
          <p:cNvPr id="7" name="Freeform 7"/>
          <p:cNvSpPr/>
          <p:nvPr/>
        </p:nvSpPr>
        <p:spPr>
          <a:xfrm>
            <a:off x="12102093" y="5503367"/>
            <a:ext cx="5076188" cy="707388"/>
          </a:xfrm>
          <a:custGeom>
            <a:avLst/>
            <a:gdLst/>
            <a:ahLst/>
            <a:cxnLst/>
            <a:rect l="l" t="t" r="r" b="b"/>
            <a:pathLst>
              <a:path w="5076188" h="707388">
                <a:moveTo>
                  <a:pt x="0" y="0"/>
                </a:moveTo>
                <a:lnTo>
                  <a:pt x="5076188" y="0"/>
                </a:lnTo>
                <a:lnTo>
                  <a:pt x="5076188" y="707388"/>
                </a:lnTo>
                <a:lnTo>
                  <a:pt x="0" y="7073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GT"/>
          </a:p>
        </p:txBody>
      </p:sp>
      <p:sp>
        <p:nvSpPr>
          <p:cNvPr id="8" name="Freeform 8"/>
          <p:cNvSpPr/>
          <p:nvPr/>
        </p:nvSpPr>
        <p:spPr>
          <a:xfrm>
            <a:off x="6605913" y="3183177"/>
            <a:ext cx="5076188" cy="707388"/>
          </a:xfrm>
          <a:custGeom>
            <a:avLst/>
            <a:gdLst/>
            <a:ahLst/>
            <a:cxnLst/>
            <a:rect l="l" t="t" r="r" b="b"/>
            <a:pathLst>
              <a:path w="5076188" h="707388">
                <a:moveTo>
                  <a:pt x="0" y="0"/>
                </a:moveTo>
                <a:lnTo>
                  <a:pt x="5076188" y="0"/>
                </a:lnTo>
                <a:lnTo>
                  <a:pt x="5076188" y="707388"/>
                </a:lnTo>
                <a:lnTo>
                  <a:pt x="0" y="7073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GT"/>
          </a:p>
        </p:txBody>
      </p:sp>
      <p:sp>
        <p:nvSpPr>
          <p:cNvPr id="9" name="Freeform 9"/>
          <p:cNvSpPr/>
          <p:nvPr/>
        </p:nvSpPr>
        <p:spPr>
          <a:xfrm>
            <a:off x="14827996" y="0"/>
            <a:ext cx="3460004" cy="1766030"/>
          </a:xfrm>
          <a:custGeom>
            <a:avLst/>
            <a:gdLst/>
            <a:ahLst/>
            <a:cxnLst/>
            <a:rect l="l" t="t" r="r" b="b"/>
            <a:pathLst>
              <a:path w="3460004" h="1766030">
                <a:moveTo>
                  <a:pt x="0" y="0"/>
                </a:moveTo>
                <a:lnTo>
                  <a:pt x="3460004" y="0"/>
                </a:lnTo>
                <a:lnTo>
                  <a:pt x="3460004" y="1766030"/>
                </a:lnTo>
                <a:lnTo>
                  <a:pt x="0" y="1766030"/>
                </a:lnTo>
                <a:lnTo>
                  <a:pt x="0" y="0"/>
                </a:lnTo>
                <a:close/>
              </a:path>
            </a:pathLst>
          </a:custGeom>
          <a:blipFill>
            <a:blip r:embed="rId7"/>
            <a:stretch>
              <a:fillRect t="-223" b="-222"/>
            </a:stretch>
          </a:blipFill>
        </p:spPr>
        <p:txBody>
          <a:bodyPr/>
          <a:lstStyle/>
          <a:p>
            <a:endParaRPr lang="es-GT"/>
          </a:p>
        </p:txBody>
      </p:sp>
      <p:sp>
        <p:nvSpPr>
          <p:cNvPr id="10" name="Freeform 10"/>
          <p:cNvSpPr/>
          <p:nvPr/>
        </p:nvSpPr>
        <p:spPr>
          <a:xfrm>
            <a:off x="4580296" y="0"/>
            <a:ext cx="4224471" cy="1028700"/>
          </a:xfrm>
          <a:custGeom>
            <a:avLst/>
            <a:gdLst/>
            <a:ahLst/>
            <a:cxnLst/>
            <a:rect l="l" t="t" r="r" b="b"/>
            <a:pathLst>
              <a:path w="4224471" h="1028700">
                <a:moveTo>
                  <a:pt x="0" y="0"/>
                </a:moveTo>
                <a:lnTo>
                  <a:pt x="4224471" y="0"/>
                </a:lnTo>
                <a:lnTo>
                  <a:pt x="4224471" y="1028700"/>
                </a:lnTo>
                <a:lnTo>
                  <a:pt x="0" y="1028700"/>
                </a:lnTo>
                <a:lnTo>
                  <a:pt x="0" y="0"/>
                </a:lnTo>
                <a:close/>
              </a:path>
            </a:pathLst>
          </a:custGeom>
          <a:blipFill>
            <a:blip r:embed="rId8"/>
            <a:stretch>
              <a:fillRect t="-394" b="-394"/>
            </a:stretch>
          </a:blipFill>
        </p:spPr>
        <p:txBody>
          <a:bodyPr/>
          <a:lstStyle/>
          <a:p>
            <a:endParaRPr lang="es-GT"/>
          </a:p>
        </p:txBody>
      </p:sp>
      <p:sp>
        <p:nvSpPr>
          <p:cNvPr id="11" name="Freeform 11"/>
          <p:cNvSpPr/>
          <p:nvPr/>
        </p:nvSpPr>
        <p:spPr>
          <a:xfrm>
            <a:off x="8285778" y="9560662"/>
            <a:ext cx="3169282" cy="726338"/>
          </a:xfrm>
          <a:custGeom>
            <a:avLst/>
            <a:gdLst/>
            <a:ahLst/>
            <a:cxnLst/>
            <a:rect l="l" t="t" r="r" b="b"/>
            <a:pathLst>
              <a:path w="3169282" h="726338">
                <a:moveTo>
                  <a:pt x="0" y="0"/>
                </a:moveTo>
                <a:lnTo>
                  <a:pt x="3169282" y="0"/>
                </a:lnTo>
                <a:lnTo>
                  <a:pt x="3169282" y="726338"/>
                </a:lnTo>
                <a:lnTo>
                  <a:pt x="0" y="726338"/>
                </a:lnTo>
                <a:lnTo>
                  <a:pt x="0" y="0"/>
                </a:lnTo>
                <a:close/>
              </a:path>
            </a:pathLst>
          </a:custGeom>
          <a:blipFill>
            <a:blip r:embed="rId9"/>
            <a:stretch>
              <a:fillRect l="-292" r="-292"/>
            </a:stretch>
          </a:blipFill>
        </p:spPr>
        <p:txBody>
          <a:bodyPr/>
          <a:lstStyle/>
          <a:p>
            <a:endParaRPr lang="es-GT"/>
          </a:p>
        </p:txBody>
      </p:sp>
      <p:sp>
        <p:nvSpPr>
          <p:cNvPr id="12" name="Freeform 12"/>
          <p:cNvSpPr/>
          <p:nvPr/>
        </p:nvSpPr>
        <p:spPr>
          <a:xfrm>
            <a:off x="12121144" y="9258300"/>
            <a:ext cx="2919298" cy="1028700"/>
          </a:xfrm>
          <a:custGeom>
            <a:avLst/>
            <a:gdLst/>
            <a:ahLst/>
            <a:cxnLst/>
            <a:rect l="l" t="t" r="r" b="b"/>
            <a:pathLst>
              <a:path w="2919298" h="1028700">
                <a:moveTo>
                  <a:pt x="0" y="0"/>
                </a:moveTo>
                <a:lnTo>
                  <a:pt x="2919298" y="0"/>
                </a:lnTo>
                <a:lnTo>
                  <a:pt x="2919298" y="1028700"/>
                </a:lnTo>
                <a:lnTo>
                  <a:pt x="0" y="1028700"/>
                </a:lnTo>
                <a:lnTo>
                  <a:pt x="0" y="0"/>
                </a:lnTo>
                <a:close/>
              </a:path>
            </a:pathLst>
          </a:custGeom>
          <a:blipFill>
            <a:blip r:embed="rId10"/>
            <a:stretch>
              <a:fillRect t="-29" b="-30"/>
            </a:stretch>
          </a:blipFill>
        </p:spPr>
        <p:txBody>
          <a:bodyPr/>
          <a:lstStyle/>
          <a:p>
            <a:endParaRPr lang="es-GT"/>
          </a:p>
        </p:txBody>
      </p:sp>
      <p:sp>
        <p:nvSpPr>
          <p:cNvPr id="13" name="Freeform 13"/>
          <p:cNvSpPr/>
          <p:nvPr/>
        </p:nvSpPr>
        <p:spPr>
          <a:xfrm>
            <a:off x="0" y="9093737"/>
            <a:ext cx="1028700" cy="1193263"/>
          </a:xfrm>
          <a:custGeom>
            <a:avLst/>
            <a:gdLst/>
            <a:ahLst/>
            <a:cxnLst/>
            <a:rect l="l" t="t" r="r" b="b"/>
            <a:pathLst>
              <a:path w="1028700" h="1193263">
                <a:moveTo>
                  <a:pt x="0" y="0"/>
                </a:moveTo>
                <a:lnTo>
                  <a:pt x="1028700" y="0"/>
                </a:lnTo>
                <a:lnTo>
                  <a:pt x="1028700" y="1193263"/>
                </a:lnTo>
                <a:lnTo>
                  <a:pt x="0" y="1193263"/>
                </a:lnTo>
                <a:lnTo>
                  <a:pt x="0" y="0"/>
                </a:lnTo>
                <a:close/>
              </a:path>
            </a:pathLst>
          </a:custGeom>
          <a:blipFill>
            <a:blip r:embed="rId11"/>
            <a:stretch>
              <a:fillRect l="-2199" r="-2198"/>
            </a:stretch>
          </a:blipFill>
        </p:spPr>
        <p:txBody>
          <a:bodyPr/>
          <a:lstStyle/>
          <a:p>
            <a:endParaRPr lang="es-GT"/>
          </a:p>
        </p:txBody>
      </p:sp>
      <p:sp>
        <p:nvSpPr>
          <p:cNvPr id="14" name="Freeform 14"/>
          <p:cNvSpPr/>
          <p:nvPr/>
        </p:nvSpPr>
        <p:spPr>
          <a:xfrm>
            <a:off x="17259300" y="7433853"/>
            <a:ext cx="1028700" cy="1932670"/>
          </a:xfrm>
          <a:custGeom>
            <a:avLst/>
            <a:gdLst/>
            <a:ahLst/>
            <a:cxnLst/>
            <a:rect l="l" t="t" r="r" b="b"/>
            <a:pathLst>
              <a:path w="1028700" h="1932670">
                <a:moveTo>
                  <a:pt x="0" y="0"/>
                </a:moveTo>
                <a:lnTo>
                  <a:pt x="1028700" y="0"/>
                </a:lnTo>
                <a:lnTo>
                  <a:pt x="1028700" y="1932670"/>
                </a:lnTo>
                <a:lnTo>
                  <a:pt x="0" y="1932670"/>
                </a:lnTo>
                <a:lnTo>
                  <a:pt x="0" y="0"/>
                </a:lnTo>
                <a:close/>
              </a:path>
            </a:pathLst>
          </a:custGeom>
          <a:blipFill>
            <a:blip r:embed="rId12"/>
            <a:stretch>
              <a:fillRect t="-807" b="-807"/>
            </a:stretch>
          </a:blipFill>
        </p:spPr>
        <p:txBody>
          <a:bodyPr/>
          <a:lstStyle/>
          <a:p>
            <a:endParaRPr lang="es-GT"/>
          </a:p>
        </p:txBody>
      </p:sp>
      <p:sp>
        <p:nvSpPr>
          <p:cNvPr id="15" name="Freeform 15"/>
          <p:cNvSpPr/>
          <p:nvPr/>
        </p:nvSpPr>
        <p:spPr>
          <a:xfrm>
            <a:off x="0" y="460505"/>
            <a:ext cx="744236" cy="1602648"/>
          </a:xfrm>
          <a:custGeom>
            <a:avLst/>
            <a:gdLst/>
            <a:ahLst/>
            <a:cxnLst/>
            <a:rect l="l" t="t" r="r" b="b"/>
            <a:pathLst>
              <a:path w="744236" h="1602648">
                <a:moveTo>
                  <a:pt x="0" y="0"/>
                </a:moveTo>
                <a:lnTo>
                  <a:pt x="744236" y="0"/>
                </a:lnTo>
                <a:lnTo>
                  <a:pt x="744236" y="1602648"/>
                </a:lnTo>
                <a:lnTo>
                  <a:pt x="0" y="1602648"/>
                </a:lnTo>
                <a:lnTo>
                  <a:pt x="0" y="0"/>
                </a:lnTo>
                <a:close/>
              </a:path>
            </a:pathLst>
          </a:custGeom>
          <a:blipFill>
            <a:blip r:embed="rId13"/>
            <a:stretch>
              <a:fillRect l="-3835" r="-3835"/>
            </a:stretch>
          </a:blipFill>
        </p:spPr>
        <p:txBody>
          <a:bodyPr/>
          <a:lstStyle/>
          <a:p>
            <a:endParaRPr lang="es-GT"/>
          </a:p>
        </p:txBody>
      </p:sp>
      <p:sp>
        <p:nvSpPr>
          <p:cNvPr id="16" name="Freeform 16"/>
          <p:cNvSpPr/>
          <p:nvPr/>
        </p:nvSpPr>
        <p:spPr>
          <a:xfrm>
            <a:off x="2172414" y="2332930"/>
            <a:ext cx="2407882" cy="2407882"/>
          </a:xfrm>
          <a:custGeom>
            <a:avLst/>
            <a:gdLst/>
            <a:ahLst/>
            <a:cxnLst/>
            <a:rect l="l" t="t" r="r" b="b"/>
            <a:pathLst>
              <a:path w="2407882" h="2407882">
                <a:moveTo>
                  <a:pt x="0" y="0"/>
                </a:moveTo>
                <a:lnTo>
                  <a:pt x="2407882" y="0"/>
                </a:lnTo>
                <a:lnTo>
                  <a:pt x="2407882" y="2407882"/>
                </a:lnTo>
                <a:lnTo>
                  <a:pt x="0" y="2407882"/>
                </a:lnTo>
                <a:lnTo>
                  <a:pt x="0" y="0"/>
                </a:lnTo>
                <a:close/>
              </a:path>
            </a:pathLst>
          </a:custGeom>
          <a:blipFill>
            <a:blip r:embed="rId14"/>
            <a:stretch>
              <a:fillRect/>
            </a:stretch>
          </a:blipFill>
        </p:spPr>
        <p:txBody>
          <a:bodyPr/>
          <a:lstStyle/>
          <a:p>
            <a:endParaRPr lang="es-GT"/>
          </a:p>
        </p:txBody>
      </p:sp>
      <p:sp>
        <p:nvSpPr>
          <p:cNvPr id="17" name="Freeform 17"/>
          <p:cNvSpPr/>
          <p:nvPr/>
        </p:nvSpPr>
        <p:spPr>
          <a:xfrm>
            <a:off x="7920033" y="4070707"/>
            <a:ext cx="2447948" cy="2447948"/>
          </a:xfrm>
          <a:custGeom>
            <a:avLst/>
            <a:gdLst/>
            <a:ahLst/>
            <a:cxnLst/>
            <a:rect l="l" t="t" r="r" b="b"/>
            <a:pathLst>
              <a:path w="2447948" h="2447948">
                <a:moveTo>
                  <a:pt x="0" y="0"/>
                </a:moveTo>
                <a:lnTo>
                  <a:pt x="2447948" y="0"/>
                </a:lnTo>
                <a:lnTo>
                  <a:pt x="2447948" y="2447948"/>
                </a:lnTo>
                <a:lnTo>
                  <a:pt x="0" y="2447948"/>
                </a:lnTo>
                <a:lnTo>
                  <a:pt x="0" y="0"/>
                </a:lnTo>
                <a:close/>
              </a:path>
            </a:pathLst>
          </a:custGeom>
          <a:blipFill>
            <a:blip r:embed="rId15"/>
            <a:stretch>
              <a:fillRect/>
            </a:stretch>
          </a:blipFill>
        </p:spPr>
        <p:txBody>
          <a:bodyPr/>
          <a:lstStyle/>
          <a:p>
            <a:endParaRPr lang="es-GT"/>
          </a:p>
        </p:txBody>
      </p:sp>
      <p:sp>
        <p:nvSpPr>
          <p:cNvPr id="18" name="Freeform 18"/>
          <p:cNvSpPr/>
          <p:nvPr/>
        </p:nvSpPr>
        <p:spPr>
          <a:xfrm>
            <a:off x="13550322" y="6518655"/>
            <a:ext cx="2172587" cy="2172587"/>
          </a:xfrm>
          <a:custGeom>
            <a:avLst/>
            <a:gdLst/>
            <a:ahLst/>
            <a:cxnLst/>
            <a:rect l="l" t="t" r="r" b="b"/>
            <a:pathLst>
              <a:path w="2172587" h="2172587">
                <a:moveTo>
                  <a:pt x="0" y="0"/>
                </a:moveTo>
                <a:lnTo>
                  <a:pt x="2172588" y="0"/>
                </a:lnTo>
                <a:lnTo>
                  <a:pt x="2172588" y="2172587"/>
                </a:lnTo>
                <a:lnTo>
                  <a:pt x="0" y="2172587"/>
                </a:lnTo>
                <a:lnTo>
                  <a:pt x="0" y="0"/>
                </a:lnTo>
                <a:close/>
              </a:path>
            </a:pathLst>
          </a:custGeom>
          <a:blipFill>
            <a:blip r:embed="rId16"/>
            <a:stretch>
              <a:fillRect/>
            </a:stretch>
          </a:blipFill>
        </p:spPr>
        <p:txBody>
          <a:bodyPr/>
          <a:lstStyle/>
          <a:p>
            <a:endParaRPr lang="es-GT"/>
          </a:p>
        </p:txBody>
      </p:sp>
      <p:sp>
        <p:nvSpPr>
          <p:cNvPr id="19" name="TextBox 19"/>
          <p:cNvSpPr txBox="1"/>
          <p:nvPr/>
        </p:nvSpPr>
        <p:spPr>
          <a:xfrm>
            <a:off x="1320308" y="1428655"/>
            <a:ext cx="1092203" cy="333375"/>
          </a:xfrm>
          <a:prstGeom prst="rect">
            <a:avLst/>
          </a:prstGeom>
        </p:spPr>
        <p:txBody>
          <a:bodyPr lIns="0" tIns="0" rIns="0" bIns="0" rtlCol="0" anchor="t">
            <a:spAutoFit/>
          </a:bodyPr>
          <a:lstStyle/>
          <a:p>
            <a:pPr algn="l">
              <a:lnSpc>
                <a:spcPts val="2640"/>
              </a:lnSpc>
            </a:pPr>
            <a:r>
              <a:rPr lang="en-US" sz="2200" spc="-20">
                <a:solidFill>
                  <a:srgbClr val="000000"/>
                </a:solidFill>
                <a:latin typeface="Open Sans"/>
                <a:ea typeface="Open Sans"/>
                <a:cs typeface="Open Sans"/>
                <a:sym typeface="Open Sans"/>
              </a:rPr>
              <a:t>VSCode</a:t>
            </a:r>
          </a:p>
        </p:txBody>
      </p:sp>
      <p:sp>
        <p:nvSpPr>
          <p:cNvPr id="20" name="TextBox 20"/>
          <p:cNvSpPr txBox="1"/>
          <p:nvPr/>
        </p:nvSpPr>
        <p:spPr>
          <a:xfrm>
            <a:off x="6969862" y="3369059"/>
            <a:ext cx="1674446" cy="333375"/>
          </a:xfrm>
          <a:prstGeom prst="rect">
            <a:avLst/>
          </a:prstGeom>
        </p:spPr>
        <p:txBody>
          <a:bodyPr lIns="0" tIns="0" rIns="0" bIns="0" rtlCol="0" anchor="t">
            <a:spAutoFit/>
          </a:bodyPr>
          <a:lstStyle/>
          <a:p>
            <a:pPr algn="l">
              <a:lnSpc>
                <a:spcPts val="2640"/>
              </a:lnSpc>
            </a:pPr>
            <a:r>
              <a:rPr lang="en-US" sz="2200" spc="-20">
                <a:solidFill>
                  <a:srgbClr val="000000"/>
                </a:solidFill>
                <a:latin typeface="Open Sans"/>
                <a:ea typeface="Open Sans"/>
                <a:cs typeface="Open Sans"/>
                <a:sym typeface="Open Sans"/>
              </a:rPr>
              <a:t>Visual Studio</a:t>
            </a:r>
          </a:p>
        </p:txBody>
      </p:sp>
      <p:sp>
        <p:nvSpPr>
          <p:cNvPr id="21" name="TextBox 21"/>
          <p:cNvSpPr txBox="1"/>
          <p:nvPr/>
        </p:nvSpPr>
        <p:spPr>
          <a:xfrm>
            <a:off x="12412751" y="5681939"/>
            <a:ext cx="4447730" cy="333375"/>
          </a:xfrm>
          <a:prstGeom prst="rect">
            <a:avLst/>
          </a:prstGeom>
        </p:spPr>
        <p:txBody>
          <a:bodyPr lIns="0" tIns="0" rIns="0" bIns="0" rtlCol="0" anchor="t">
            <a:spAutoFit/>
          </a:bodyPr>
          <a:lstStyle/>
          <a:p>
            <a:pPr algn="l">
              <a:lnSpc>
                <a:spcPts val="2640"/>
              </a:lnSpc>
            </a:pPr>
            <a:r>
              <a:rPr lang="en-US" sz="2200">
                <a:solidFill>
                  <a:srgbClr val="000000"/>
                </a:solidFill>
                <a:latin typeface="Open Sans"/>
                <a:ea typeface="Open Sans"/>
                <a:cs typeface="Open Sans"/>
                <a:sym typeface="Open Sans"/>
              </a:rPr>
              <a:t>Cursor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11583622" y="2717721"/>
            <a:ext cx="4851559" cy="4851559"/>
          </a:xfrm>
          <a:custGeom>
            <a:avLst/>
            <a:gdLst/>
            <a:ahLst/>
            <a:cxnLst/>
            <a:rect l="l" t="t" r="r" b="b"/>
            <a:pathLst>
              <a:path w="4851559" h="4851559">
                <a:moveTo>
                  <a:pt x="0" y="0"/>
                </a:moveTo>
                <a:lnTo>
                  <a:pt x="4851558" y="0"/>
                </a:lnTo>
                <a:lnTo>
                  <a:pt x="4851558" y="4851558"/>
                </a:lnTo>
                <a:lnTo>
                  <a:pt x="0" y="4851558"/>
                </a:lnTo>
                <a:lnTo>
                  <a:pt x="0" y="0"/>
                </a:lnTo>
                <a:close/>
              </a:path>
            </a:pathLst>
          </a:custGeom>
          <a:blipFill>
            <a:blip r:embed="rId3"/>
            <a:stretch>
              <a:fillRect/>
            </a:stretch>
          </a:blipFill>
        </p:spPr>
        <p:txBody>
          <a:bodyPr/>
          <a:lstStyle/>
          <a:p>
            <a:endParaRPr lang="es-GT"/>
          </a:p>
        </p:txBody>
      </p:sp>
      <p:sp>
        <p:nvSpPr>
          <p:cNvPr id="4" name="TextBox 4"/>
          <p:cNvSpPr txBox="1"/>
          <p:nvPr/>
        </p:nvSpPr>
        <p:spPr>
          <a:xfrm>
            <a:off x="836609" y="1127855"/>
            <a:ext cx="5411791" cy="1371600"/>
          </a:xfrm>
          <a:prstGeom prst="rect">
            <a:avLst/>
          </a:prstGeom>
        </p:spPr>
        <p:txBody>
          <a:bodyPr wrap="square" lIns="0" tIns="0" rIns="0" bIns="0" rtlCol="0" anchor="t">
            <a:spAutoFit/>
          </a:bodyPr>
          <a:lstStyle/>
          <a:p>
            <a:pPr algn="l">
              <a:lnSpc>
                <a:spcPts val="10800"/>
              </a:lnSpc>
            </a:pPr>
            <a:r>
              <a:rPr lang="en-US" sz="9000" b="1" spc="-20" dirty="0" err="1">
                <a:solidFill>
                  <a:srgbClr val="000000"/>
                </a:solidFill>
                <a:latin typeface="Open Sans Bold"/>
                <a:ea typeface="Open Sans Bold"/>
                <a:cs typeface="Open Sans Bold"/>
                <a:sym typeface="Open Sans Bold"/>
              </a:rPr>
              <a:t>VSCode</a:t>
            </a:r>
            <a:endParaRPr lang="en-US" sz="9000" b="1" spc="-20" dirty="0">
              <a:solidFill>
                <a:srgbClr val="000000"/>
              </a:solidFill>
              <a:latin typeface="Open Sans Bold"/>
              <a:ea typeface="Open Sans Bold"/>
              <a:cs typeface="Open Sans Bold"/>
              <a:sym typeface="Open Sans Bold"/>
            </a:endParaRPr>
          </a:p>
        </p:txBody>
      </p:sp>
      <p:sp>
        <p:nvSpPr>
          <p:cNvPr id="5" name="TextBox 5"/>
          <p:cNvSpPr txBox="1"/>
          <p:nvPr/>
        </p:nvSpPr>
        <p:spPr>
          <a:xfrm>
            <a:off x="836609" y="2753556"/>
            <a:ext cx="9514307" cy="6043803"/>
          </a:xfrm>
          <a:prstGeom prst="rect">
            <a:avLst/>
          </a:prstGeom>
        </p:spPr>
        <p:txBody>
          <a:bodyPr lIns="0" tIns="0" rIns="0" bIns="0" rtlCol="0" anchor="t">
            <a:spAutoFit/>
          </a:bodyPr>
          <a:lstStyle/>
          <a:p>
            <a:pPr algn="just">
              <a:lnSpc>
                <a:spcPts val="5346"/>
              </a:lnSpc>
            </a:pPr>
            <a:r>
              <a:rPr lang="en-US" sz="3300">
                <a:solidFill>
                  <a:srgbClr val="000000"/>
                </a:solidFill>
                <a:latin typeface="Open Sans"/>
                <a:ea typeface="Open Sans"/>
                <a:cs typeface="Open Sans"/>
                <a:sym typeface="Open Sans"/>
              </a:rPr>
              <a:t>Es un editor de código fuente compatible con Windows, macOS  y  Linux.  Resalta  por  tener  soporte  para  la depuración, integra Git, posee el resaltado de sintaxis, autocompletado de código y demás. Igualmente, posee lo que son </a:t>
            </a:r>
            <a:r>
              <a:rPr lang="en-US" sz="3300" b="1">
                <a:solidFill>
                  <a:srgbClr val="000000"/>
                </a:solidFill>
                <a:latin typeface="Open Sans Bold"/>
                <a:ea typeface="Open Sans Bold"/>
                <a:cs typeface="Open Sans Bold"/>
                <a:sym typeface="Open Sans Bold"/>
              </a:rPr>
              <a:t>Extensiones </a:t>
            </a:r>
            <a:r>
              <a:rPr lang="en-US" sz="3300">
                <a:solidFill>
                  <a:srgbClr val="000000"/>
                </a:solidFill>
                <a:latin typeface="Open Sans"/>
                <a:ea typeface="Open Sans"/>
                <a:cs typeface="Open Sans"/>
                <a:sym typeface="Open Sans"/>
              </a:rPr>
              <a:t>que permite una experiencia más personalizada  al  usuario  y que  este IDE  pueda admitir casi cualquier lenguaje de programación.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919658"/>
            <a:ext cx="3022378" cy="950138"/>
          </a:xfrm>
          <a:custGeom>
            <a:avLst/>
            <a:gdLst/>
            <a:ahLst/>
            <a:cxnLst/>
            <a:rect l="l" t="t" r="r" b="b"/>
            <a:pathLst>
              <a:path w="3022378" h="950138">
                <a:moveTo>
                  <a:pt x="0" y="0"/>
                </a:moveTo>
                <a:lnTo>
                  <a:pt x="3022378" y="0"/>
                </a:lnTo>
                <a:lnTo>
                  <a:pt x="3022378" y="950137"/>
                </a:lnTo>
                <a:lnTo>
                  <a:pt x="0" y="950137"/>
                </a:lnTo>
                <a:lnTo>
                  <a:pt x="0" y="0"/>
                </a:lnTo>
                <a:close/>
              </a:path>
            </a:pathLst>
          </a:custGeom>
          <a:blipFill>
            <a:blip r:embed="rId3"/>
            <a:stretch>
              <a:fillRect t="-135" b="-135"/>
            </a:stretch>
          </a:blipFill>
        </p:spPr>
        <p:txBody>
          <a:bodyPr/>
          <a:lstStyle/>
          <a:p>
            <a:endParaRPr lang="es-GT"/>
          </a:p>
        </p:txBody>
      </p:sp>
      <p:sp>
        <p:nvSpPr>
          <p:cNvPr id="4" name="Freeform 4"/>
          <p:cNvSpPr/>
          <p:nvPr/>
        </p:nvSpPr>
        <p:spPr>
          <a:xfrm>
            <a:off x="4472902" y="0"/>
            <a:ext cx="4980946" cy="1366371"/>
          </a:xfrm>
          <a:custGeom>
            <a:avLst/>
            <a:gdLst/>
            <a:ahLst/>
            <a:cxnLst/>
            <a:rect l="l" t="t" r="r" b="b"/>
            <a:pathLst>
              <a:path w="4980946" h="1366371">
                <a:moveTo>
                  <a:pt x="0" y="0"/>
                </a:moveTo>
                <a:lnTo>
                  <a:pt x="4980946" y="0"/>
                </a:lnTo>
                <a:lnTo>
                  <a:pt x="4980946" y="1366371"/>
                </a:lnTo>
                <a:lnTo>
                  <a:pt x="0" y="1366371"/>
                </a:lnTo>
                <a:lnTo>
                  <a:pt x="0" y="0"/>
                </a:lnTo>
                <a:close/>
              </a:path>
            </a:pathLst>
          </a:custGeom>
          <a:blipFill>
            <a:blip r:embed="rId4"/>
            <a:stretch>
              <a:fillRect t="-499" b="-498"/>
            </a:stretch>
          </a:blipFill>
        </p:spPr>
        <p:txBody>
          <a:bodyPr/>
          <a:lstStyle/>
          <a:p>
            <a:endParaRPr lang="es-GT"/>
          </a:p>
        </p:txBody>
      </p:sp>
      <p:sp>
        <p:nvSpPr>
          <p:cNvPr id="5" name="Freeform 5"/>
          <p:cNvSpPr/>
          <p:nvPr/>
        </p:nvSpPr>
        <p:spPr>
          <a:xfrm>
            <a:off x="3431076" y="8919658"/>
            <a:ext cx="2587019" cy="1367342"/>
          </a:xfrm>
          <a:custGeom>
            <a:avLst/>
            <a:gdLst/>
            <a:ahLst/>
            <a:cxnLst/>
            <a:rect l="l" t="t" r="r" b="b"/>
            <a:pathLst>
              <a:path w="2587019" h="1367342">
                <a:moveTo>
                  <a:pt x="0" y="0"/>
                </a:moveTo>
                <a:lnTo>
                  <a:pt x="2587019" y="0"/>
                </a:lnTo>
                <a:lnTo>
                  <a:pt x="2587019" y="1367342"/>
                </a:lnTo>
                <a:lnTo>
                  <a:pt x="0" y="1367342"/>
                </a:lnTo>
                <a:lnTo>
                  <a:pt x="0" y="0"/>
                </a:lnTo>
                <a:close/>
              </a:path>
            </a:pathLst>
          </a:custGeom>
          <a:blipFill>
            <a:blip r:embed="rId5"/>
            <a:stretch>
              <a:fillRect l="-522" r="-522"/>
            </a:stretch>
          </a:blipFill>
        </p:spPr>
        <p:txBody>
          <a:bodyPr/>
          <a:lstStyle/>
          <a:p>
            <a:endParaRPr lang="es-GT"/>
          </a:p>
        </p:txBody>
      </p:sp>
      <p:sp>
        <p:nvSpPr>
          <p:cNvPr id="6" name="Freeform 6"/>
          <p:cNvSpPr/>
          <p:nvPr/>
        </p:nvSpPr>
        <p:spPr>
          <a:xfrm>
            <a:off x="0" y="0"/>
            <a:ext cx="1748752" cy="2052171"/>
          </a:xfrm>
          <a:custGeom>
            <a:avLst/>
            <a:gdLst/>
            <a:ahLst/>
            <a:cxnLst/>
            <a:rect l="l" t="t" r="r" b="b"/>
            <a:pathLst>
              <a:path w="1748752" h="2052171">
                <a:moveTo>
                  <a:pt x="0" y="0"/>
                </a:moveTo>
                <a:lnTo>
                  <a:pt x="1748752" y="0"/>
                </a:lnTo>
                <a:lnTo>
                  <a:pt x="1748752" y="2052171"/>
                </a:lnTo>
                <a:lnTo>
                  <a:pt x="0" y="2052171"/>
                </a:lnTo>
                <a:lnTo>
                  <a:pt x="0" y="0"/>
                </a:lnTo>
                <a:close/>
              </a:path>
            </a:pathLst>
          </a:custGeom>
          <a:blipFill>
            <a:blip r:embed="rId6"/>
            <a:stretch>
              <a:fillRect t="-497" b="-498"/>
            </a:stretch>
          </a:blipFill>
        </p:spPr>
        <p:txBody>
          <a:bodyPr/>
          <a:lstStyle/>
          <a:p>
            <a:endParaRPr lang="es-GT"/>
          </a:p>
        </p:txBody>
      </p:sp>
      <p:sp>
        <p:nvSpPr>
          <p:cNvPr id="7" name="Freeform 7"/>
          <p:cNvSpPr/>
          <p:nvPr/>
        </p:nvSpPr>
        <p:spPr>
          <a:xfrm>
            <a:off x="2689995" y="6981040"/>
            <a:ext cx="1720631" cy="1720631"/>
          </a:xfrm>
          <a:custGeom>
            <a:avLst/>
            <a:gdLst/>
            <a:ahLst/>
            <a:cxnLst/>
            <a:rect l="l" t="t" r="r" b="b"/>
            <a:pathLst>
              <a:path w="1720631" h="1720631">
                <a:moveTo>
                  <a:pt x="0" y="0"/>
                </a:moveTo>
                <a:lnTo>
                  <a:pt x="1720631" y="0"/>
                </a:lnTo>
                <a:lnTo>
                  <a:pt x="1720631" y="1720631"/>
                </a:lnTo>
                <a:lnTo>
                  <a:pt x="0" y="1720631"/>
                </a:lnTo>
                <a:lnTo>
                  <a:pt x="0" y="0"/>
                </a:lnTo>
                <a:close/>
              </a:path>
            </a:pathLst>
          </a:custGeom>
          <a:blipFill>
            <a:blip r:embed="rId7"/>
            <a:stretch>
              <a:fillRect/>
            </a:stretch>
          </a:blipFill>
        </p:spPr>
        <p:txBody>
          <a:bodyPr/>
          <a:lstStyle/>
          <a:p>
            <a:endParaRPr lang="es-GT"/>
          </a:p>
        </p:txBody>
      </p:sp>
      <p:sp>
        <p:nvSpPr>
          <p:cNvPr id="8" name="Freeform 8"/>
          <p:cNvSpPr/>
          <p:nvPr/>
        </p:nvSpPr>
        <p:spPr>
          <a:xfrm>
            <a:off x="7702640" y="5868795"/>
            <a:ext cx="9212905" cy="3374227"/>
          </a:xfrm>
          <a:custGeom>
            <a:avLst/>
            <a:gdLst/>
            <a:ahLst/>
            <a:cxnLst/>
            <a:rect l="l" t="t" r="r" b="b"/>
            <a:pathLst>
              <a:path w="9212905" h="3374227">
                <a:moveTo>
                  <a:pt x="0" y="0"/>
                </a:moveTo>
                <a:lnTo>
                  <a:pt x="9212905" y="0"/>
                </a:lnTo>
                <a:lnTo>
                  <a:pt x="9212905" y="3374227"/>
                </a:lnTo>
                <a:lnTo>
                  <a:pt x="0" y="3374227"/>
                </a:lnTo>
                <a:lnTo>
                  <a:pt x="0" y="0"/>
                </a:lnTo>
                <a:close/>
              </a:path>
            </a:pathLst>
          </a:custGeom>
          <a:blipFill>
            <a:blip r:embed="rId8"/>
            <a:stretch>
              <a:fillRect/>
            </a:stretch>
          </a:blipFill>
        </p:spPr>
        <p:txBody>
          <a:bodyPr/>
          <a:lstStyle/>
          <a:p>
            <a:endParaRPr lang="es-GT"/>
          </a:p>
        </p:txBody>
      </p:sp>
      <p:sp>
        <p:nvSpPr>
          <p:cNvPr id="9" name="TextBox 9"/>
          <p:cNvSpPr txBox="1"/>
          <p:nvPr/>
        </p:nvSpPr>
        <p:spPr>
          <a:xfrm>
            <a:off x="1910760" y="6068820"/>
            <a:ext cx="4415433" cy="807085"/>
          </a:xfrm>
          <a:prstGeom prst="rect">
            <a:avLst/>
          </a:prstGeom>
        </p:spPr>
        <p:txBody>
          <a:bodyPr lIns="0" tIns="0" rIns="0" bIns="0" rtlCol="0" anchor="t">
            <a:spAutoFit/>
          </a:bodyPr>
          <a:lstStyle/>
          <a:p>
            <a:pPr algn="l">
              <a:lnSpc>
                <a:spcPts val="6439"/>
              </a:lnSpc>
            </a:pPr>
            <a:r>
              <a:rPr lang="en-US" sz="4599" u="sng">
                <a:solidFill>
                  <a:srgbClr val="000000"/>
                </a:solidFill>
                <a:latin typeface="Arimo"/>
                <a:ea typeface="Arimo"/>
                <a:cs typeface="Arimo"/>
                <a:sym typeface="Arimo"/>
                <a:hlinkClick r:id="rId9" tooltip="https://code.visualstudio.com"/>
              </a:rPr>
              <a:t>Enlace VSCODE</a:t>
            </a:r>
          </a:p>
        </p:txBody>
      </p:sp>
      <p:sp>
        <p:nvSpPr>
          <p:cNvPr id="10" name="TextBox 10"/>
          <p:cNvSpPr txBox="1"/>
          <p:nvPr/>
        </p:nvSpPr>
        <p:spPr>
          <a:xfrm>
            <a:off x="748994" y="1322784"/>
            <a:ext cx="16790012" cy="1219200"/>
          </a:xfrm>
          <a:prstGeom prst="rect">
            <a:avLst/>
          </a:prstGeom>
        </p:spPr>
        <p:txBody>
          <a:bodyPr lIns="0" tIns="0" rIns="0" bIns="0" rtlCol="0" anchor="t">
            <a:spAutoFit/>
          </a:bodyPr>
          <a:lstStyle/>
          <a:p>
            <a:pPr algn="ctr">
              <a:lnSpc>
                <a:spcPts val="9600"/>
              </a:lnSpc>
            </a:pPr>
            <a:r>
              <a:rPr lang="en-US" sz="8000" b="1" spc="-213">
                <a:solidFill>
                  <a:srgbClr val="000000"/>
                </a:solidFill>
                <a:latin typeface="Open Sans Bold"/>
                <a:ea typeface="Open Sans Bold"/>
                <a:cs typeface="Open Sans Bold"/>
                <a:sym typeface="Open Sans Bold"/>
              </a:rPr>
              <a:t>PASOS PARA INSTALAR VSCODE</a:t>
            </a:r>
          </a:p>
        </p:txBody>
      </p:sp>
      <p:sp>
        <p:nvSpPr>
          <p:cNvPr id="11" name="TextBox 11"/>
          <p:cNvSpPr txBox="1"/>
          <p:nvPr/>
        </p:nvSpPr>
        <p:spPr>
          <a:xfrm>
            <a:off x="1028700" y="3011295"/>
            <a:ext cx="15746778" cy="2857500"/>
          </a:xfrm>
          <a:prstGeom prst="rect">
            <a:avLst/>
          </a:prstGeom>
        </p:spPr>
        <p:txBody>
          <a:bodyPr lIns="0" tIns="0" rIns="0" bIns="0" rtlCol="0" anchor="t">
            <a:spAutoFit/>
          </a:bodyPr>
          <a:lstStyle/>
          <a:p>
            <a:pPr algn="just">
              <a:lnSpc>
                <a:spcPts val="4559"/>
              </a:lnSpc>
            </a:pPr>
            <a:endParaRP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Descargar el instalador de VSCode.</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Ejecutar el instalador descargado y presionar Instalar.</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Esperar a que finalice la instalación.</a:t>
            </a:r>
          </a:p>
          <a:p>
            <a:pPr algn="just">
              <a:lnSpc>
                <a:spcPts val="4559"/>
              </a:lnSpc>
            </a:pPr>
            <a:endParaRPr lang="en-US" sz="3799" spc="83">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TextBox 3"/>
          <p:cNvSpPr txBox="1"/>
          <p:nvPr/>
        </p:nvSpPr>
        <p:spPr>
          <a:xfrm>
            <a:off x="1028700" y="1038225"/>
            <a:ext cx="16230600" cy="1114425"/>
          </a:xfrm>
          <a:prstGeom prst="rect">
            <a:avLst/>
          </a:prstGeom>
        </p:spPr>
        <p:txBody>
          <a:bodyPr lIns="0" tIns="0" rIns="0" bIns="0" rtlCol="0" anchor="t">
            <a:spAutoFit/>
          </a:bodyPr>
          <a:lstStyle/>
          <a:p>
            <a:pPr algn="ctr">
              <a:lnSpc>
                <a:spcPts val="8880"/>
              </a:lnSpc>
            </a:pPr>
            <a:r>
              <a:rPr lang="en-US" sz="7400" b="1" spc="-16">
                <a:solidFill>
                  <a:srgbClr val="000000"/>
                </a:solidFill>
                <a:latin typeface="Open Sans Bold"/>
                <a:ea typeface="Open Sans Bold"/>
                <a:cs typeface="Open Sans Bold"/>
                <a:sym typeface="Open Sans Bold"/>
              </a:rPr>
              <a:t>CONFIGURACIÓN INICIAL</a:t>
            </a:r>
          </a:p>
        </p:txBody>
      </p:sp>
      <p:sp>
        <p:nvSpPr>
          <p:cNvPr id="4" name="Freeform 4"/>
          <p:cNvSpPr/>
          <p:nvPr/>
        </p:nvSpPr>
        <p:spPr>
          <a:xfrm>
            <a:off x="4580544" y="0"/>
            <a:ext cx="2892762" cy="589617"/>
          </a:xfrm>
          <a:custGeom>
            <a:avLst/>
            <a:gdLst/>
            <a:ahLst/>
            <a:cxnLst/>
            <a:rect l="l" t="t" r="r" b="b"/>
            <a:pathLst>
              <a:path w="2892762" h="589617">
                <a:moveTo>
                  <a:pt x="0" y="0"/>
                </a:moveTo>
                <a:lnTo>
                  <a:pt x="2892761" y="0"/>
                </a:lnTo>
                <a:lnTo>
                  <a:pt x="2892761" y="589617"/>
                </a:lnTo>
                <a:lnTo>
                  <a:pt x="0" y="589617"/>
                </a:lnTo>
                <a:lnTo>
                  <a:pt x="0" y="0"/>
                </a:lnTo>
                <a:close/>
              </a:path>
            </a:pathLst>
          </a:custGeom>
          <a:blipFill>
            <a:blip r:embed="rId3"/>
            <a:stretch>
              <a:fillRect t="-344" b="-345"/>
            </a:stretch>
          </a:blipFill>
        </p:spPr>
        <p:txBody>
          <a:bodyPr/>
          <a:lstStyle/>
          <a:p>
            <a:endParaRPr lang="es-GT"/>
          </a:p>
        </p:txBody>
      </p:sp>
      <p:sp>
        <p:nvSpPr>
          <p:cNvPr id="5" name="Freeform 5"/>
          <p:cNvSpPr/>
          <p:nvPr/>
        </p:nvSpPr>
        <p:spPr>
          <a:xfrm>
            <a:off x="17259300" y="0"/>
            <a:ext cx="1028700" cy="2969981"/>
          </a:xfrm>
          <a:custGeom>
            <a:avLst/>
            <a:gdLst/>
            <a:ahLst/>
            <a:cxnLst/>
            <a:rect l="l" t="t" r="r" b="b"/>
            <a:pathLst>
              <a:path w="1028700" h="2969981">
                <a:moveTo>
                  <a:pt x="0" y="0"/>
                </a:moveTo>
                <a:lnTo>
                  <a:pt x="1028700" y="0"/>
                </a:lnTo>
                <a:lnTo>
                  <a:pt x="1028700" y="2969981"/>
                </a:lnTo>
                <a:lnTo>
                  <a:pt x="0" y="2969981"/>
                </a:lnTo>
                <a:lnTo>
                  <a:pt x="0" y="0"/>
                </a:lnTo>
                <a:close/>
              </a:path>
            </a:pathLst>
          </a:custGeom>
          <a:blipFill>
            <a:blip r:embed="rId4"/>
            <a:stretch>
              <a:fillRect t="-118" b="-118"/>
            </a:stretch>
          </a:blipFill>
        </p:spPr>
        <p:txBody>
          <a:bodyPr/>
          <a:lstStyle/>
          <a:p>
            <a:endParaRPr lang="es-GT"/>
          </a:p>
        </p:txBody>
      </p:sp>
      <p:sp>
        <p:nvSpPr>
          <p:cNvPr id="6" name="Freeform 6"/>
          <p:cNvSpPr/>
          <p:nvPr/>
        </p:nvSpPr>
        <p:spPr>
          <a:xfrm>
            <a:off x="15353490" y="8540134"/>
            <a:ext cx="2934510" cy="1746866"/>
          </a:xfrm>
          <a:custGeom>
            <a:avLst/>
            <a:gdLst/>
            <a:ahLst/>
            <a:cxnLst/>
            <a:rect l="l" t="t" r="r" b="b"/>
            <a:pathLst>
              <a:path w="2934510" h="1746866">
                <a:moveTo>
                  <a:pt x="0" y="0"/>
                </a:moveTo>
                <a:lnTo>
                  <a:pt x="2934510" y="0"/>
                </a:lnTo>
                <a:lnTo>
                  <a:pt x="2934510" y="1746866"/>
                </a:lnTo>
                <a:lnTo>
                  <a:pt x="0" y="1746866"/>
                </a:lnTo>
                <a:lnTo>
                  <a:pt x="0" y="0"/>
                </a:lnTo>
                <a:close/>
              </a:path>
            </a:pathLst>
          </a:custGeom>
          <a:blipFill>
            <a:blip r:embed="rId5"/>
            <a:stretch>
              <a:fillRect t="-51" b="-50"/>
            </a:stretch>
          </a:blipFill>
        </p:spPr>
        <p:txBody>
          <a:bodyPr/>
          <a:lstStyle/>
          <a:p>
            <a:endParaRPr lang="es-GT"/>
          </a:p>
        </p:txBody>
      </p:sp>
      <p:sp>
        <p:nvSpPr>
          <p:cNvPr id="7" name="Freeform 7"/>
          <p:cNvSpPr/>
          <p:nvPr/>
        </p:nvSpPr>
        <p:spPr>
          <a:xfrm>
            <a:off x="9144000"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6"/>
            <a:stretch>
              <a:fillRect t="-159" b="-158"/>
            </a:stretch>
          </a:blipFill>
        </p:spPr>
        <p:txBody>
          <a:bodyPr/>
          <a:lstStyle/>
          <a:p>
            <a:endParaRPr lang="es-GT"/>
          </a:p>
        </p:txBody>
      </p:sp>
      <p:sp>
        <p:nvSpPr>
          <p:cNvPr id="8" name="Freeform 8"/>
          <p:cNvSpPr/>
          <p:nvPr/>
        </p:nvSpPr>
        <p:spPr>
          <a:xfrm>
            <a:off x="3145197" y="8654946"/>
            <a:ext cx="1206708" cy="1206708"/>
          </a:xfrm>
          <a:custGeom>
            <a:avLst/>
            <a:gdLst/>
            <a:ahLst/>
            <a:cxnLst/>
            <a:rect l="l" t="t" r="r" b="b"/>
            <a:pathLst>
              <a:path w="1206708" h="1206708">
                <a:moveTo>
                  <a:pt x="0" y="0"/>
                </a:moveTo>
                <a:lnTo>
                  <a:pt x="1206708" y="0"/>
                </a:lnTo>
                <a:lnTo>
                  <a:pt x="1206708" y="1206708"/>
                </a:lnTo>
                <a:lnTo>
                  <a:pt x="0" y="1206708"/>
                </a:lnTo>
                <a:lnTo>
                  <a:pt x="0" y="0"/>
                </a:lnTo>
                <a:close/>
              </a:path>
            </a:pathLst>
          </a:custGeom>
          <a:blipFill>
            <a:blip r:embed="rId7"/>
            <a:stretch>
              <a:fillRect/>
            </a:stretch>
          </a:blipFill>
        </p:spPr>
        <p:txBody>
          <a:bodyPr/>
          <a:lstStyle/>
          <a:p>
            <a:endParaRPr lang="es-GT"/>
          </a:p>
        </p:txBody>
      </p:sp>
      <p:sp>
        <p:nvSpPr>
          <p:cNvPr id="9" name="TextBox 9"/>
          <p:cNvSpPr txBox="1"/>
          <p:nvPr/>
        </p:nvSpPr>
        <p:spPr>
          <a:xfrm>
            <a:off x="4580544" y="8797607"/>
            <a:ext cx="5935056" cy="749821"/>
          </a:xfrm>
          <a:prstGeom prst="rect">
            <a:avLst/>
          </a:prstGeom>
        </p:spPr>
        <p:txBody>
          <a:bodyPr wrap="square" lIns="0" tIns="0" rIns="0" bIns="0" rtlCol="0" anchor="t">
            <a:spAutoFit/>
          </a:bodyPr>
          <a:lstStyle/>
          <a:p>
            <a:pPr algn="l">
              <a:lnSpc>
                <a:spcPts val="6439"/>
              </a:lnSpc>
            </a:pPr>
            <a:r>
              <a:rPr lang="en-US" sz="4599" u="sng" dirty="0">
                <a:solidFill>
                  <a:srgbClr val="000000"/>
                </a:solidFill>
                <a:latin typeface="Arimo"/>
                <a:ea typeface="Arimo"/>
                <a:cs typeface="Arimo"/>
                <a:sym typeface="Arimo"/>
                <a:hlinkClick r:id="rId8" tooltip="https://code.visualstudio.com/docs/getstarted/getting-started"/>
              </a:rPr>
              <a:t>Config </a:t>
            </a:r>
            <a:r>
              <a:rPr lang="en-US" sz="4599" u="sng" dirty="0" err="1">
                <a:solidFill>
                  <a:srgbClr val="000000"/>
                </a:solidFill>
                <a:latin typeface="Arimo"/>
                <a:ea typeface="Arimo"/>
                <a:cs typeface="Arimo"/>
                <a:sym typeface="Arimo"/>
                <a:hlinkClick r:id="rId8" tooltip="https://code.visualstudio.com/docs/getstarted/getting-started"/>
              </a:rPr>
              <a:t>VSCode</a:t>
            </a:r>
            <a:endParaRPr lang="en-US" sz="4599" u="sng" dirty="0">
              <a:solidFill>
                <a:srgbClr val="000000"/>
              </a:solidFill>
              <a:latin typeface="Arimo"/>
              <a:ea typeface="Arimo"/>
              <a:cs typeface="Arimo"/>
              <a:sym typeface="Arimo"/>
              <a:hlinkClick r:id="rId8" tooltip="https://code.visualstudio.com/docs/getstarted/getting-started"/>
            </a:endParaRPr>
          </a:p>
        </p:txBody>
      </p:sp>
      <p:sp>
        <p:nvSpPr>
          <p:cNvPr id="10" name="TextBox 10"/>
          <p:cNvSpPr txBox="1"/>
          <p:nvPr/>
        </p:nvSpPr>
        <p:spPr>
          <a:xfrm>
            <a:off x="1005030" y="2315221"/>
            <a:ext cx="16254270" cy="6043803"/>
          </a:xfrm>
          <a:prstGeom prst="rect">
            <a:avLst/>
          </a:prstGeom>
        </p:spPr>
        <p:txBody>
          <a:bodyPr lIns="0" tIns="0" rIns="0" bIns="0" rtlCol="0" anchor="t">
            <a:spAutoFit/>
          </a:bodyPr>
          <a:lstStyle/>
          <a:p>
            <a:pPr marL="712470" lvl="1" indent="-356235" algn="just">
              <a:lnSpc>
                <a:spcPts val="5346"/>
              </a:lnSpc>
              <a:buFont typeface="Arial"/>
              <a:buChar char="•"/>
            </a:pPr>
            <a:r>
              <a:rPr lang="en-US" sz="3300" b="1">
                <a:solidFill>
                  <a:srgbClr val="000000"/>
                </a:solidFill>
                <a:latin typeface="Open Sans Bold"/>
                <a:ea typeface="Open Sans Bold"/>
                <a:cs typeface="Open Sans Bold"/>
                <a:sym typeface="Open Sans Bold"/>
              </a:rPr>
              <a:t>Gestión de extensiones</a:t>
            </a:r>
            <a:r>
              <a:rPr lang="en-US" sz="3300">
                <a:solidFill>
                  <a:srgbClr val="000000"/>
                </a:solidFill>
                <a:latin typeface="Open Sans"/>
                <a:ea typeface="Open Sans"/>
                <a:cs typeface="Open Sans"/>
                <a:sym typeface="Open Sans"/>
              </a:rPr>
              <a:t>: Permite instalar extensiones desde el Marketplace para agregar soporte a lenguajes, depuradores y herramientas adicionales, personalizando el entorno de desarrollo.</a:t>
            </a:r>
          </a:p>
          <a:p>
            <a:pPr marL="712470" lvl="1" indent="-356235" algn="just">
              <a:lnSpc>
                <a:spcPts val="5346"/>
              </a:lnSpc>
              <a:buFont typeface="Arial"/>
              <a:buChar char="•"/>
            </a:pPr>
            <a:r>
              <a:rPr lang="en-US" sz="3300" b="1">
                <a:solidFill>
                  <a:srgbClr val="000000"/>
                </a:solidFill>
                <a:latin typeface="Open Sans Bold"/>
                <a:ea typeface="Open Sans Bold"/>
                <a:cs typeface="Open Sans Bold"/>
                <a:sym typeface="Open Sans Bold"/>
              </a:rPr>
              <a:t>Control de fuente integrado (Git):</a:t>
            </a:r>
            <a:r>
              <a:rPr lang="en-US" sz="3300">
                <a:solidFill>
                  <a:srgbClr val="000000"/>
                </a:solidFill>
                <a:latin typeface="Open Sans"/>
                <a:ea typeface="Open Sans"/>
                <a:cs typeface="Open Sans"/>
                <a:sym typeface="Open Sans"/>
              </a:rPr>
              <a:t> Integra Git directamente en VS Code para gestionar repositorios, ver cambios, hacer commits y sincronizar con repositorios remotos sin salir del editor.</a:t>
            </a:r>
          </a:p>
          <a:p>
            <a:pPr marL="712470" lvl="1" indent="-356235" algn="just">
              <a:lnSpc>
                <a:spcPts val="5346"/>
              </a:lnSpc>
              <a:buFont typeface="Arial"/>
              <a:buChar char="•"/>
            </a:pPr>
            <a:r>
              <a:rPr lang="en-US" sz="3300" b="1">
                <a:solidFill>
                  <a:srgbClr val="000000"/>
                </a:solidFill>
                <a:latin typeface="Open Sans Bold"/>
                <a:ea typeface="Open Sans Bold"/>
                <a:cs typeface="Open Sans Bold"/>
                <a:sym typeface="Open Sans Bold"/>
              </a:rPr>
              <a:t>Mejora tu codificación con IA y GitHub Copilot:</a:t>
            </a:r>
            <a:r>
              <a:rPr lang="en-US" sz="3300">
                <a:solidFill>
                  <a:srgbClr val="000000"/>
                </a:solidFill>
                <a:latin typeface="Open Sans"/>
                <a:ea typeface="Open Sans"/>
                <a:cs typeface="Open Sans"/>
                <a:sym typeface="Open Sans"/>
              </a:rPr>
              <a:t> Extensión de IA que sugiere código en tiempo real, ayuda a completar funciones y acelera el desarrollo. Requiere una cuenta de GitHub.</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TextBox 3"/>
          <p:cNvSpPr txBox="1"/>
          <p:nvPr/>
        </p:nvSpPr>
        <p:spPr>
          <a:xfrm>
            <a:off x="836609" y="824403"/>
            <a:ext cx="8784282" cy="1371600"/>
          </a:xfrm>
          <a:prstGeom prst="rect">
            <a:avLst/>
          </a:prstGeom>
        </p:spPr>
        <p:txBody>
          <a:bodyPr lIns="0" tIns="0" rIns="0" bIns="0" rtlCol="0" anchor="t">
            <a:spAutoFit/>
          </a:bodyPr>
          <a:lstStyle/>
          <a:p>
            <a:pPr algn="l">
              <a:lnSpc>
                <a:spcPts val="10800"/>
              </a:lnSpc>
            </a:pPr>
            <a:r>
              <a:rPr lang="en-US" sz="9000" b="1" spc="89">
                <a:solidFill>
                  <a:srgbClr val="000000"/>
                </a:solidFill>
                <a:latin typeface="Open Sans Bold"/>
                <a:ea typeface="Open Sans Bold"/>
                <a:cs typeface="Open Sans Bold"/>
                <a:sym typeface="Open Sans Bold"/>
              </a:rPr>
              <a:t>VISUAL STUDIO</a:t>
            </a:r>
          </a:p>
        </p:txBody>
      </p:sp>
      <p:sp>
        <p:nvSpPr>
          <p:cNvPr id="4" name="TextBox 4"/>
          <p:cNvSpPr txBox="1"/>
          <p:nvPr/>
        </p:nvSpPr>
        <p:spPr>
          <a:xfrm>
            <a:off x="1028700" y="2219325"/>
            <a:ext cx="12636437" cy="7038975"/>
          </a:xfrm>
          <a:prstGeom prst="rect">
            <a:avLst/>
          </a:prstGeom>
        </p:spPr>
        <p:txBody>
          <a:bodyPr lIns="0" tIns="0" rIns="0" bIns="0" rtlCol="0" anchor="t">
            <a:spAutoFit/>
          </a:bodyPr>
          <a:lstStyle/>
          <a:p>
            <a:pPr algn="just">
              <a:lnSpc>
                <a:spcPts val="3120"/>
              </a:lnSpc>
            </a:pPr>
            <a:r>
              <a:rPr lang="en-US" sz="2600" spc="39">
                <a:solidFill>
                  <a:srgbClr val="000000"/>
                </a:solidFill>
                <a:latin typeface="Open Sans"/>
                <a:ea typeface="Open Sans"/>
                <a:cs typeface="Open Sans"/>
                <a:sym typeface="Open Sans"/>
              </a:rPr>
              <a:t>Visual Studio es una herramienta eficaz para desarrolladores que puede usar para completar todo el ciclo de desarrollo en un solo lugar. Es un entorno de desarrollo integrado (IDE) completo que puede usar para escribir, editar, depurar y compilar código y, a continuación, implementar la aplicación. </a:t>
            </a:r>
          </a:p>
          <a:p>
            <a:pPr algn="just">
              <a:lnSpc>
                <a:spcPts val="3120"/>
              </a:lnSpc>
            </a:pPr>
            <a:endParaRPr lang="en-US" sz="2600" spc="39">
              <a:solidFill>
                <a:srgbClr val="000000"/>
              </a:solidFill>
              <a:latin typeface="Open Sans"/>
              <a:ea typeface="Open Sans"/>
              <a:cs typeface="Open Sans"/>
              <a:sym typeface="Open Sans"/>
            </a:endParaRPr>
          </a:p>
          <a:p>
            <a:pPr algn="just">
              <a:lnSpc>
                <a:spcPts val="3120"/>
              </a:lnSpc>
            </a:pPr>
            <a:r>
              <a:rPr lang="en-US" sz="2600" b="1" spc="39">
                <a:solidFill>
                  <a:srgbClr val="000000"/>
                </a:solidFill>
                <a:latin typeface="Open Sans Bold"/>
                <a:ea typeface="Open Sans Bold"/>
                <a:cs typeface="Open Sans Bold"/>
                <a:sym typeface="Open Sans Bold"/>
              </a:rPr>
              <a:t>¿Por qué usar Visual Studio?</a:t>
            </a:r>
          </a:p>
          <a:p>
            <a:pPr algn="just">
              <a:lnSpc>
                <a:spcPts val="3120"/>
              </a:lnSpc>
            </a:pPr>
            <a:r>
              <a:rPr lang="en-US" sz="2600" spc="39">
                <a:solidFill>
                  <a:srgbClr val="000000"/>
                </a:solidFill>
                <a:latin typeface="Open Sans"/>
                <a:ea typeface="Open Sans"/>
                <a:cs typeface="Open Sans"/>
                <a:sym typeface="Open Sans"/>
              </a:rPr>
              <a:t>Visual Studio proporciona a los desarrolladores un entorno de desarrollo enriquecido con características para desarrollar código de forma eficaz y colaborativa.</a:t>
            </a:r>
          </a:p>
          <a:p>
            <a:pPr marL="561341" lvl="1" indent="-280670" algn="just">
              <a:lnSpc>
                <a:spcPts val="3120"/>
              </a:lnSpc>
              <a:buFont typeface="Arial"/>
              <a:buChar char="•"/>
            </a:pPr>
            <a:r>
              <a:rPr lang="en-US" sz="2600" spc="39">
                <a:solidFill>
                  <a:srgbClr val="000000"/>
                </a:solidFill>
                <a:latin typeface="Open Sans"/>
                <a:ea typeface="Open Sans"/>
                <a:cs typeface="Open Sans"/>
                <a:sym typeface="Open Sans"/>
              </a:rPr>
              <a:t>Instalador basado en cargas de trabajo. Instale solo lo que necesita.</a:t>
            </a:r>
          </a:p>
          <a:p>
            <a:pPr marL="561341" lvl="1" indent="-280670" algn="just">
              <a:lnSpc>
                <a:spcPts val="3120"/>
              </a:lnSpc>
              <a:buFont typeface="Arial"/>
              <a:buChar char="•"/>
            </a:pPr>
            <a:r>
              <a:rPr lang="en-US" sz="2600" spc="39">
                <a:solidFill>
                  <a:srgbClr val="000000"/>
                </a:solidFill>
                <a:latin typeface="Open Sans"/>
                <a:ea typeface="Open Sans"/>
                <a:cs typeface="Open Sans"/>
                <a:sym typeface="Open Sans"/>
              </a:rPr>
              <a:t>Potentes herramientas y características de codificación.</a:t>
            </a:r>
          </a:p>
          <a:p>
            <a:pPr marL="561341" lvl="1" indent="-280670" algn="just">
              <a:lnSpc>
                <a:spcPts val="3120"/>
              </a:lnSpc>
              <a:buFont typeface="Arial"/>
              <a:buChar char="•"/>
            </a:pPr>
            <a:r>
              <a:rPr lang="en-US" sz="2600" spc="39">
                <a:solidFill>
                  <a:srgbClr val="000000"/>
                </a:solidFill>
                <a:latin typeface="Open Sans"/>
                <a:ea typeface="Open Sans"/>
                <a:cs typeface="Open Sans"/>
                <a:sym typeface="Open Sans"/>
              </a:rPr>
              <a:t>Compatibilidad con varios idiomas. Código en C++, C#, JavaScript, TypeScript, Python, etc.</a:t>
            </a:r>
          </a:p>
          <a:p>
            <a:pPr marL="561341" lvl="1" indent="-280670" algn="just">
              <a:lnSpc>
                <a:spcPts val="3120"/>
              </a:lnSpc>
              <a:buFont typeface="Arial"/>
              <a:buChar char="•"/>
            </a:pPr>
            <a:r>
              <a:rPr lang="en-US" sz="2600" spc="39">
                <a:solidFill>
                  <a:srgbClr val="000000"/>
                </a:solidFill>
                <a:latin typeface="Open Sans"/>
                <a:ea typeface="Open Sans"/>
                <a:cs typeface="Open Sans"/>
                <a:sym typeface="Open Sans"/>
              </a:rPr>
              <a:t>Desarrollo multiplataforma. Cree aplicaciones para cualquier plataforma.</a:t>
            </a:r>
          </a:p>
          <a:p>
            <a:pPr marL="561341" lvl="1" indent="-280670" algn="just">
              <a:lnSpc>
                <a:spcPts val="3120"/>
              </a:lnSpc>
              <a:buFont typeface="Arial"/>
              <a:buChar char="•"/>
            </a:pPr>
            <a:r>
              <a:rPr lang="en-US" sz="2600" spc="39">
                <a:solidFill>
                  <a:srgbClr val="000000"/>
                </a:solidFill>
                <a:latin typeface="Open Sans"/>
                <a:ea typeface="Open Sans"/>
                <a:cs typeface="Open Sans"/>
                <a:sym typeface="Open Sans"/>
              </a:rPr>
              <a:t>Integración del control de versiones. Colabore en el código con compañeros de equipo.</a:t>
            </a:r>
          </a:p>
          <a:p>
            <a:pPr marL="561341" lvl="1" indent="-280670" algn="just">
              <a:lnSpc>
                <a:spcPts val="3120"/>
              </a:lnSpc>
              <a:buFont typeface="Arial"/>
              <a:buChar char="•"/>
            </a:pPr>
            <a:r>
              <a:rPr lang="en-US" sz="2600" spc="40">
                <a:solidFill>
                  <a:srgbClr val="000000"/>
                </a:solidFill>
                <a:latin typeface="Open Sans"/>
                <a:ea typeface="Open Sans"/>
                <a:cs typeface="Open Sans"/>
                <a:sym typeface="Open Sans"/>
              </a:rPr>
              <a:t>Desarrollo asistido por IA. Escribir código de forma eficaz con ayuda de IA.</a:t>
            </a:r>
          </a:p>
          <a:p>
            <a:pPr algn="just">
              <a:lnSpc>
                <a:spcPts val="3120"/>
              </a:lnSpc>
            </a:pPr>
            <a:endParaRPr lang="en-US" sz="2600" spc="40">
              <a:solidFill>
                <a:srgbClr val="000000"/>
              </a:solidFill>
              <a:latin typeface="Open Sans"/>
              <a:ea typeface="Open Sans"/>
              <a:cs typeface="Open Sans"/>
              <a:sym typeface="Open Sans"/>
            </a:endParaRPr>
          </a:p>
        </p:txBody>
      </p:sp>
      <p:sp>
        <p:nvSpPr>
          <p:cNvPr id="5" name="Freeform 5"/>
          <p:cNvSpPr/>
          <p:nvPr/>
        </p:nvSpPr>
        <p:spPr>
          <a:xfrm>
            <a:off x="14059796" y="4073209"/>
            <a:ext cx="2743814" cy="2743814"/>
          </a:xfrm>
          <a:custGeom>
            <a:avLst/>
            <a:gdLst/>
            <a:ahLst/>
            <a:cxnLst/>
            <a:rect l="l" t="t" r="r" b="b"/>
            <a:pathLst>
              <a:path w="2743814" h="2743814">
                <a:moveTo>
                  <a:pt x="0" y="0"/>
                </a:moveTo>
                <a:lnTo>
                  <a:pt x="2743814" y="0"/>
                </a:lnTo>
                <a:lnTo>
                  <a:pt x="2743814" y="2743814"/>
                </a:lnTo>
                <a:lnTo>
                  <a:pt x="0" y="2743814"/>
                </a:lnTo>
                <a:lnTo>
                  <a:pt x="0" y="0"/>
                </a:lnTo>
                <a:close/>
              </a:path>
            </a:pathLst>
          </a:custGeom>
          <a:blipFill>
            <a:blip r:embed="rId3"/>
            <a:stretch>
              <a:fillRect/>
            </a:stretch>
          </a:blipFill>
        </p:spPr>
        <p:txBody>
          <a:bodyPr/>
          <a:lstStyle/>
          <a:p>
            <a:endParaRPr lang="es-G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919658"/>
            <a:ext cx="3022378" cy="950138"/>
          </a:xfrm>
          <a:custGeom>
            <a:avLst/>
            <a:gdLst/>
            <a:ahLst/>
            <a:cxnLst/>
            <a:rect l="l" t="t" r="r" b="b"/>
            <a:pathLst>
              <a:path w="3022378" h="950138">
                <a:moveTo>
                  <a:pt x="0" y="0"/>
                </a:moveTo>
                <a:lnTo>
                  <a:pt x="3022378" y="0"/>
                </a:lnTo>
                <a:lnTo>
                  <a:pt x="3022378" y="950137"/>
                </a:lnTo>
                <a:lnTo>
                  <a:pt x="0" y="950137"/>
                </a:lnTo>
                <a:lnTo>
                  <a:pt x="0" y="0"/>
                </a:lnTo>
                <a:close/>
              </a:path>
            </a:pathLst>
          </a:custGeom>
          <a:blipFill>
            <a:blip r:embed="rId3"/>
            <a:stretch>
              <a:fillRect t="-135" b="-135"/>
            </a:stretch>
          </a:blipFill>
        </p:spPr>
        <p:txBody>
          <a:bodyPr/>
          <a:lstStyle/>
          <a:p>
            <a:endParaRPr lang="es-GT"/>
          </a:p>
        </p:txBody>
      </p:sp>
      <p:sp>
        <p:nvSpPr>
          <p:cNvPr id="4" name="Freeform 4"/>
          <p:cNvSpPr/>
          <p:nvPr/>
        </p:nvSpPr>
        <p:spPr>
          <a:xfrm>
            <a:off x="4472902" y="0"/>
            <a:ext cx="4980946" cy="1366371"/>
          </a:xfrm>
          <a:custGeom>
            <a:avLst/>
            <a:gdLst/>
            <a:ahLst/>
            <a:cxnLst/>
            <a:rect l="l" t="t" r="r" b="b"/>
            <a:pathLst>
              <a:path w="4980946" h="1366371">
                <a:moveTo>
                  <a:pt x="0" y="0"/>
                </a:moveTo>
                <a:lnTo>
                  <a:pt x="4980946" y="0"/>
                </a:lnTo>
                <a:lnTo>
                  <a:pt x="4980946" y="1366371"/>
                </a:lnTo>
                <a:lnTo>
                  <a:pt x="0" y="1366371"/>
                </a:lnTo>
                <a:lnTo>
                  <a:pt x="0" y="0"/>
                </a:lnTo>
                <a:close/>
              </a:path>
            </a:pathLst>
          </a:custGeom>
          <a:blipFill>
            <a:blip r:embed="rId4"/>
            <a:stretch>
              <a:fillRect t="-499" b="-498"/>
            </a:stretch>
          </a:blipFill>
        </p:spPr>
        <p:txBody>
          <a:bodyPr/>
          <a:lstStyle/>
          <a:p>
            <a:endParaRPr lang="es-GT"/>
          </a:p>
        </p:txBody>
      </p:sp>
      <p:sp>
        <p:nvSpPr>
          <p:cNvPr id="5" name="Freeform 5"/>
          <p:cNvSpPr/>
          <p:nvPr/>
        </p:nvSpPr>
        <p:spPr>
          <a:xfrm>
            <a:off x="3431076" y="8919658"/>
            <a:ext cx="2587019" cy="1367342"/>
          </a:xfrm>
          <a:custGeom>
            <a:avLst/>
            <a:gdLst/>
            <a:ahLst/>
            <a:cxnLst/>
            <a:rect l="l" t="t" r="r" b="b"/>
            <a:pathLst>
              <a:path w="2587019" h="1367342">
                <a:moveTo>
                  <a:pt x="0" y="0"/>
                </a:moveTo>
                <a:lnTo>
                  <a:pt x="2587019" y="0"/>
                </a:lnTo>
                <a:lnTo>
                  <a:pt x="2587019" y="1367342"/>
                </a:lnTo>
                <a:lnTo>
                  <a:pt x="0" y="1367342"/>
                </a:lnTo>
                <a:lnTo>
                  <a:pt x="0" y="0"/>
                </a:lnTo>
                <a:close/>
              </a:path>
            </a:pathLst>
          </a:custGeom>
          <a:blipFill>
            <a:blip r:embed="rId5"/>
            <a:stretch>
              <a:fillRect l="-522" r="-522"/>
            </a:stretch>
          </a:blipFill>
        </p:spPr>
        <p:txBody>
          <a:bodyPr/>
          <a:lstStyle/>
          <a:p>
            <a:endParaRPr lang="es-GT"/>
          </a:p>
        </p:txBody>
      </p:sp>
      <p:sp>
        <p:nvSpPr>
          <p:cNvPr id="6" name="Freeform 6"/>
          <p:cNvSpPr/>
          <p:nvPr/>
        </p:nvSpPr>
        <p:spPr>
          <a:xfrm>
            <a:off x="0" y="0"/>
            <a:ext cx="1748752" cy="2052171"/>
          </a:xfrm>
          <a:custGeom>
            <a:avLst/>
            <a:gdLst/>
            <a:ahLst/>
            <a:cxnLst/>
            <a:rect l="l" t="t" r="r" b="b"/>
            <a:pathLst>
              <a:path w="1748752" h="2052171">
                <a:moveTo>
                  <a:pt x="0" y="0"/>
                </a:moveTo>
                <a:lnTo>
                  <a:pt x="1748752" y="0"/>
                </a:lnTo>
                <a:lnTo>
                  <a:pt x="1748752" y="2052171"/>
                </a:lnTo>
                <a:lnTo>
                  <a:pt x="0" y="2052171"/>
                </a:lnTo>
                <a:lnTo>
                  <a:pt x="0" y="0"/>
                </a:lnTo>
                <a:close/>
              </a:path>
            </a:pathLst>
          </a:custGeom>
          <a:blipFill>
            <a:blip r:embed="rId6"/>
            <a:stretch>
              <a:fillRect t="-497" b="-498"/>
            </a:stretch>
          </a:blipFill>
        </p:spPr>
        <p:txBody>
          <a:bodyPr/>
          <a:lstStyle/>
          <a:p>
            <a:endParaRPr lang="es-GT"/>
          </a:p>
        </p:txBody>
      </p:sp>
      <p:sp>
        <p:nvSpPr>
          <p:cNvPr id="7" name="Freeform 7"/>
          <p:cNvSpPr/>
          <p:nvPr/>
        </p:nvSpPr>
        <p:spPr>
          <a:xfrm>
            <a:off x="6427670" y="7199027"/>
            <a:ext cx="1720631" cy="1720631"/>
          </a:xfrm>
          <a:custGeom>
            <a:avLst/>
            <a:gdLst/>
            <a:ahLst/>
            <a:cxnLst/>
            <a:rect l="l" t="t" r="r" b="b"/>
            <a:pathLst>
              <a:path w="1720631" h="1720631">
                <a:moveTo>
                  <a:pt x="0" y="0"/>
                </a:moveTo>
                <a:lnTo>
                  <a:pt x="1720631" y="0"/>
                </a:lnTo>
                <a:lnTo>
                  <a:pt x="1720631" y="1720631"/>
                </a:lnTo>
                <a:lnTo>
                  <a:pt x="0" y="1720631"/>
                </a:lnTo>
                <a:lnTo>
                  <a:pt x="0" y="0"/>
                </a:lnTo>
                <a:close/>
              </a:path>
            </a:pathLst>
          </a:custGeom>
          <a:blipFill>
            <a:blip r:embed="rId7"/>
            <a:stretch>
              <a:fillRect/>
            </a:stretch>
          </a:blipFill>
        </p:spPr>
        <p:txBody>
          <a:bodyPr/>
          <a:lstStyle/>
          <a:p>
            <a:endParaRPr lang="es-GT"/>
          </a:p>
        </p:txBody>
      </p:sp>
      <p:sp>
        <p:nvSpPr>
          <p:cNvPr id="8" name="Freeform 8"/>
          <p:cNvSpPr/>
          <p:nvPr/>
        </p:nvSpPr>
        <p:spPr>
          <a:xfrm>
            <a:off x="8405476" y="4800378"/>
            <a:ext cx="8493359" cy="4119279"/>
          </a:xfrm>
          <a:custGeom>
            <a:avLst/>
            <a:gdLst/>
            <a:ahLst/>
            <a:cxnLst/>
            <a:rect l="l" t="t" r="r" b="b"/>
            <a:pathLst>
              <a:path w="8493359" h="4119279">
                <a:moveTo>
                  <a:pt x="0" y="0"/>
                </a:moveTo>
                <a:lnTo>
                  <a:pt x="8493359" y="0"/>
                </a:lnTo>
                <a:lnTo>
                  <a:pt x="8493359" y="4119280"/>
                </a:lnTo>
                <a:lnTo>
                  <a:pt x="0" y="4119280"/>
                </a:lnTo>
                <a:lnTo>
                  <a:pt x="0" y="0"/>
                </a:lnTo>
                <a:close/>
              </a:path>
            </a:pathLst>
          </a:custGeom>
          <a:blipFill>
            <a:blip r:embed="rId8"/>
            <a:stretch>
              <a:fillRect/>
            </a:stretch>
          </a:blipFill>
        </p:spPr>
        <p:txBody>
          <a:bodyPr/>
          <a:lstStyle/>
          <a:p>
            <a:endParaRPr lang="es-GT"/>
          </a:p>
        </p:txBody>
      </p:sp>
      <p:sp>
        <p:nvSpPr>
          <p:cNvPr id="9" name="TextBox 9"/>
          <p:cNvSpPr txBox="1"/>
          <p:nvPr/>
        </p:nvSpPr>
        <p:spPr>
          <a:xfrm>
            <a:off x="822803" y="7495048"/>
            <a:ext cx="5347692" cy="807085"/>
          </a:xfrm>
          <a:prstGeom prst="rect">
            <a:avLst/>
          </a:prstGeom>
        </p:spPr>
        <p:txBody>
          <a:bodyPr lIns="0" tIns="0" rIns="0" bIns="0" rtlCol="0" anchor="t">
            <a:spAutoFit/>
          </a:bodyPr>
          <a:lstStyle/>
          <a:p>
            <a:pPr algn="l">
              <a:lnSpc>
                <a:spcPts val="6439"/>
              </a:lnSpc>
            </a:pPr>
            <a:r>
              <a:rPr lang="en-US" sz="4599" u="sng">
                <a:solidFill>
                  <a:srgbClr val="000000"/>
                </a:solidFill>
                <a:latin typeface="Arimo"/>
                <a:ea typeface="Arimo"/>
                <a:cs typeface="Arimo"/>
                <a:sym typeface="Arimo"/>
                <a:hlinkClick r:id="rId9" tooltip="https://visualstudio.microsoft.com/es/thank-you-downloading-visual-studio/?sku=Community&amp;channel=Stable&amp;version=VS18&amp;source=VSLandingPage&amp;passive=false&amp;cid=2500"/>
              </a:rPr>
              <a:t>Enlace Visual Studio</a:t>
            </a:r>
          </a:p>
        </p:txBody>
      </p:sp>
      <p:sp>
        <p:nvSpPr>
          <p:cNvPr id="10" name="TextBox 10"/>
          <p:cNvSpPr txBox="1"/>
          <p:nvPr/>
        </p:nvSpPr>
        <p:spPr>
          <a:xfrm>
            <a:off x="748994" y="1332309"/>
            <a:ext cx="16790012" cy="1114425"/>
          </a:xfrm>
          <a:prstGeom prst="rect">
            <a:avLst/>
          </a:prstGeom>
        </p:spPr>
        <p:txBody>
          <a:bodyPr lIns="0" tIns="0" rIns="0" bIns="0" rtlCol="0" anchor="t">
            <a:spAutoFit/>
          </a:bodyPr>
          <a:lstStyle/>
          <a:p>
            <a:pPr algn="ctr">
              <a:lnSpc>
                <a:spcPts val="8880"/>
              </a:lnSpc>
            </a:pPr>
            <a:r>
              <a:rPr lang="en-US" sz="7400" b="1" spc="-197">
                <a:solidFill>
                  <a:srgbClr val="000000"/>
                </a:solidFill>
                <a:latin typeface="Open Sans Bold"/>
                <a:ea typeface="Open Sans Bold"/>
                <a:cs typeface="Open Sans Bold"/>
                <a:sym typeface="Open Sans Bold"/>
              </a:rPr>
              <a:t>PASOS PAR INSTALAR VISUAL STUDIO</a:t>
            </a:r>
          </a:p>
        </p:txBody>
      </p:sp>
      <p:sp>
        <p:nvSpPr>
          <p:cNvPr id="11" name="TextBox 11"/>
          <p:cNvSpPr txBox="1"/>
          <p:nvPr/>
        </p:nvSpPr>
        <p:spPr>
          <a:xfrm>
            <a:off x="1028700" y="2530831"/>
            <a:ext cx="15746778" cy="2286000"/>
          </a:xfrm>
          <a:prstGeom prst="rect">
            <a:avLst/>
          </a:prstGeom>
        </p:spPr>
        <p:txBody>
          <a:bodyPr lIns="0" tIns="0" rIns="0" bIns="0" rtlCol="0" anchor="t">
            <a:spAutoFit/>
          </a:bodyPr>
          <a:lstStyle/>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Descargar el instalador de Visual Studio Community.</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Ejecutar el instalador descargado</a:t>
            </a:r>
          </a:p>
          <a:p>
            <a:pPr marL="820412" lvl="1" indent="-410206" algn="just">
              <a:lnSpc>
                <a:spcPts val="4559"/>
              </a:lnSpc>
              <a:buAutoNum type="arabicPeriod"/>
            </a:pPr>
            <a:r>
              <a:rPr lang="en-US" sz="3799" spc="83">
                <a:solidFill>
                  <a:srgbClr val="000000"/>
                </a:solidFill>
                <a:latin typeface="Open Sans"/>
                <a:ea typeface="Open Sans"/>
                <a:cs typeface="Open Sans"/>
                <a:sym typeface="Open Sans"/>
              </a:rPr>
              <a:t>Se abrirá una ventana para seleccionar los paquetes que deseamos instalar.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15353490" y="8540134"/>
            <a:ext cx="2934510" cy="1746866"/>
          </a:xfrm>
          <a:custGeom>
            <a:avLst/>
            <a:gdLst/>
            <a:ahLst/>
            <a:cxnLst/>
            <a:rect l="l" t="t" r="r" b="b"/>
            <a:pathLst>
              <a:path w="2934510" h="1746866">
                <a:moveTo>
                  <a:pt x="0" y="0"/>
                </a:moveTo>
                <a:lnTo>
                  <a:pt x="2934510" y="0"/>
                </a:lnTo>
                <a:lnTo>
                  <a:pt x="2934510" y="1746866"/>
                </a:lnTo>
                <a:lnTo>
                  <a:pt x="0" y="1746866"/>
                </a:lnTo>
                <a:lnTo>
                  <a:pt x="0" y="0"/>
                </a:lnTo>
                <a:close/>
              </a:path>
            </a:pathLst>
          </a:custGeom>
          <a:blipFill>
            <a:blip r:embed="rId3"/>
            <a:stretch>
              <a:fillRect t="-51" b="-50"/>
            </a:stretch>
          </a:blipFill>
        </p:spPr>
        <p:txBody>
          <a:bodyPr/>
          <a:lstStyle/>
          <a:p>
            <a:endParaRPr lang="es-GT"/>
          </a:p>
        </p:txBody>
      </p:sp>
      <p:sp>
        <p:nvSpPr>
          <p:cNvPr id="4" name="Freeform 4"/>
          <p:cNvSpPr/>
          <p:nvPr/>
        </p:nvSpPr>
        <p:spPr>
          <a:xfrm>
            <a:off x="9144000"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4"/>
            <a:stretch>
              <a:fillRect t="-159" b="-158"/>
            </a:stretch>
          </a:blipFill>
        </p:spPr>
        <p:txBody>
          <a:bodyPr/>
          <a:lstStyle/>
          <a:p>
            <a:endParaRPr lang="es-GT"/>
          </a:p>
        </p:txBody>
      </p:sp>
      <p:sp>
        <p:nvSpPr>
          <p:cNvPr id="5" name="Freeform 5"/>
          <p:cNvSpPr/>
          <p:nvPr/>
        </p:nvSpPr>
        <p:spPr>
          <a:xfrm>
            <a:off x="4580544" y="0"/>
            <a:ext cx="2892762" cy="589617"/>
          </a:xfrm>
          <a:custGeom>
            <a:avLst/>
            <a:gdLst/>
            <a:ahLst/>
            <a:cxnLst/>
            <a:rect l="l" t="t" r="r" b="b"/>
            <a:pathLst>
              <a:path w="2892762" h="589617">
                <a:moveTo>
                  <a:pt x="0" y="0"/>
                </a:moveTo>
                <a:lnTo>
                  <a:pt x="2892761" y="0"/>
                </a:lnTo>
                <a:lnTo>
                  <a:pt x="2892761" y="589617"/>
                </a:lnTo>
                <a:lnTo>
                  <a:pt x="0" y="589617"/>
                </a:lnTo>
                <a:lnTo>
                  <a:pt x="0" y="0"/>
                </a:lnTo>
                <a:close/>
              </a:path>
            </a:pathLst>
          </a:custGeom>
          <a:blipFill>
            <a:blip r:embed="rId5"/>
            <a:stretch>
              <a:fillRect t="-344" b="-345"/>
            </a:stretch>
          </a:blipFill>
        </p:spPr>
        <p:txBody>
          <a:bodyPr/>
          <a:lstStyle/>
          <a:p>
            <a:endParaRPr lang="es-GT"/>
          </a:p>
        </p:txBody>
      </p:sp>
      <p:sp>
        <p:nvSpPr>
          <p:cNvPr id="6" name="Freeform 6"/>
          <p:cNvSpPr/>
          <p:nvPr/>
        </p:nvSpPr>
        <p:spPr>
          <a:xfrm>
            <a:off x="17259300" y="0"/>
            <a:ext cx="1028700" cy="2969981"/>
          </a:xfrm>
          <a:custGeom>
            <a:avLst/>
            <a:gdLst/>
            <a:ahLst/>
            <a:cxnLst/>
            <a:rect l="l" t="t" r="r" b="b"/>
            <a:pathLst>
              <a:path w="1028700" h="2969981">
                <a:moveTo>
                  <a:pt x="0" y="0"/>
                </a:moveTo>
                <a:lnTo>
                  <a:pt x="1028700" y="0"/>
                </a:lnTo>
                <a:lnTo>
                  <a:pt x="1028700" y="2969981"/>
                </a:lnTo>
                <a:lnTo>
                  <a:pt x="0" y="2969981"/>
                </a:lnTo>
                <a:lnTo>
                  <a:pt x="0" y="0"/>
                </a:lnTo>
                <a:close/>
              </a:path>
            </a:pathLst>
          </a:custGeom>
          <a:blipFill>
            <a:blip r:embed="rId6"/>
            <a:stretch>
              <a:fillRect t="-118" b="-118"/>
            </a:stretch>
          </a:blipFill>
        </p:spPr>
        <p:txBody>
          <a:bodyPr/>
          <a:lstStyle/>
          <a:p>
            <a:endParaRPr lang="es-GT"/>
          </a:p>
        </p:txBody>
      </p:sp>
      <p:sp>
        <p:nvSpPr>
          <p:cNvPr id="7" name="Freeform 7"/>
          <p:cNvSpPr/>
          <p:nvPr/>
        </p:nvSpPr>
        <p:spPr>
          <a:xfrm>
            <a:off x="7194370" y="1935312"/>
            <a:ext cx="10579280" cy="5977293"/>
          </a:xfrm>
          <a:custGeom>
            <a:avLst/>
            <a:gdLst/>
            <a:ahLst/>
            <a:cxnLst/>
            <a:rect l="l" t="t" r="r" b="b"/>
            <a:pathLst>
              <a:path w="10579280" h="5977293">
                <a:moveTo>
                  <a:pt x="0" y="0"/>
                </a:moveTo>
                <a:lnTo>
                  <a:pt x="10579280" y="0"/>
                </a:lnTo>
                <a:lnTo>
                  <a:pt x="10579280" y="5977293"/>
                </a:lnTo>
                <a:lnTo>
                  <a:pt x="0" y="5977293"/>
                </a:lnTo>
                <a:lnTo>
                  <a:pt x="0" y="0"/>
                </a:lnTo>
                <a:close/>
              </a:path>
            </a:pathLst>
          </a:custGeom>
          <a:blipFill>
            <a:blip r:embed="rId7"/>
            <a:stretch>
              <a:fillRect/>
            </a:stretch>
          </a:blipFill>
        </p:spPr>
        <p:txBody>
          <a:bodyPr/>
          <a:lstStyle/>
          <a:p>
            <a:endParaRPr lang="es-GT"/>
          </a:p>
        </p:txBody>
      </p:sp>
      <p:sp>
        <p:nvSpPr>
          <p:cNvPr id="8" name="TextBox 8"/>
          <p:cNvSpPr txBox="1"/>
          <p:nvPr/>
        </p:nvSpPr>
        <p:spPr>
          <a:xfrm>
            <a:off x="694902" y="589617"/>
            <a:ext cx="6081811" cy="8229600"/>
          </a:xfrm>
          <a:prstGeom prst="rect">
            <a:avLst/>
          </a:prstGeom>
        </p:spPr>
        <p:txBody>
          <a:bodyPr lIns="0" tIns="0" rIns="0" bIns="0" rtlCol="0" anchor="t">
            <a:spAutoFit/>
          </a:bodyPr>
          <a:lstStyle/>
          <a:p>
            <a:pPr algn="just">
              <a:lnSpc>
                <a:spcPts val="3600"/>
              </a:lnSpc>
            </a:pPr>
            <a:endParaRPr/>
          </a:p>
          <a:p>
            <a:pPr marL="647700" lvl="1" indent="-323850" algn="just">
              <a:lnSpc>
                <a:spcPts val="3600"/>
              </a:lnSpc>
              <a:buAutoNum type="arabicPeriod"/>
            </a:pPr>
            <a:r>
              <a:rPr lang="en-US" sz="3000" b="1" i="1" spc="65">
                <a:solidFill>
                  <a:srgbClr val="000000"/>
                </a:solidFill>
                <a:latin typeface="Open Sans Bold Italics"/>
                <a:ea typeface="Open Sans Bold Italics"/>
                <a:cs typeface="Open Sans Bold Italics"/>
                <a:sym typeface="Open Sans Bold Italics"/>
              </a:rPr>
              <a:t>Selección de carga de trabajo (.NET):</a:t>
            </a:r>
            <a:r>
              <a:rPr lang="en-US" sz="3000" spc="65">
                <a:solidFill>
                  <a:srgbClr val="000000"/>
                </a:solidFill>
                <a:latin typeface="Open Sans"/>
                <a:ea typeface="Open Sans"/>
                <a:cs typeface="Open Sans"/>
                <a:sym typeface="Open Sans"/>
              </a:rPr>
              <a:t> Se selecciona Desarrollo de escritorio de .NET porque está enfocado en usar C# para crear aplicaciones de escritorio y de consola.</a:t>
            </a:r>
          </a:p>
          <a:p>
            <a:pPr marL="647700" lvl="1" indent="-323850" algn="just">
              <a:lnSpc>
                <a:spcPts val="3600"/>
              </a:lnSpc>
              <a:buAutoNum type="arabicPeriod"/>
            </a:pPr>
            <a:r>
              <a:rPr lang="en-US" sz="3000" b="1" spc="65">
                <a:solidFill>
                  <a:srgbClr val="000000"/>
                </a:solidFill>
                <a:latin typeface="Open Sans Bold"/>
                <a:ea typeface="Open Sans Bold"/>
                <a:cs typeface="Open Sans Bold"/>
                <a:sym typeface="Open Sans Bold"/>
              </a:rPr>
              <a:t>Detalles de la instalación:</a:t>
            </a:r>
            <a:r>
              <a:rPr lang="en-US" sz="3000" spc="65">
                <a:solidFill>
                  <a:srgbClr val="000000"/>
                </a:solidFill>
                <a:latin typeface="Open Sans"/>
                <a:ea typeface="Open Sans"/>
                <a:cs typeface="Open Sans"/>
                <a:sym typeface="Open Sans"/>
              </a:rPr>
              <a:t> Muestra los componentes que se instalarán junto con .NET, como herramientas de desarrollo, depuración e IntelliCode.</a:t>
            </a:r>
          </a:p>
          <a:p>
            <a:pPr marL="647700" lvl="1" indent="-323850" algn="just">
              <a:lnSpc>
                <a:spcPts val="3600"/>
              </a:lnSpc>
              <a:buAutoNum type="arabicPeriod"/>
            </a:pPr>
            <a:r>
              <a:rPr lang="en-US" sz="3000" b="1" spc="65">
                <a:solidFill>
                  <a:srgbClr val="000000"/>
                </a:solidFill>
                <a:latin typeface="Open Sans Bold"/>
                <a:ea typeface="Open Sans Bold"/>
                <a:cs typeface="Open Sans Bold"/>
                <a:sym typeface="Open Sans Bold"/>
              </a:rPr>
              <a:t>Ubicación y tamaño:</a:t>
            </a:r>
            <a:r>
              <a:rPr lang="en-US" sz="3000" spc="65">
                <a:solidFill>
                  <a:srgbClr val="000000"/>
                </a:solidFill>
                <a:latin typeface="Open Sans"/>
                <a:ea typeface="Open Sans"/>
                <a:cs typeface="Open Sans"/>
                <a:sym typeface="Open Sans"/>
              </a:rPr>
              <a:t> Indica la carpeta de instalación y el espacio en disco requerido, y permite iniciar la instalación.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1582393" y="7269320"/>
            <a:ext cx="1720631" cy="1720631"/>
          </a:xfrm>
          <a:custGeom>
            <a:avLst/>
            <a:gdLst/>
            <a:ahLst/>
            <a:cxnLst/>
            <a:rect l="l" t="t" r="r" b="b"/>
            <a:pathLst>
              <a:path w="1720631" h="1720631">
                <a:moveTo>
                  <a:pt x="0" y="0"/>
                </a:moveTo>
                <a:lnTo>
                  <a:pt x="1720631" y="0"/>
                </a:lnTo>
                <a:lnTo>
                  <a:pt x="1720631" y="1720631"/>
                </a:lnTo>
                <a:lnTo>
                  <a:pt x="0" y="1720631"/>
                </a:lnTo>
                <a:lnTo>
                  <a:pt x="0" y="0"/>
                </a:lnTo>
                <a:close/>
              </a:path>
            </a:pathLst>
          </a:custGeom>
          <a:blipFill>
            <a:blip r:embed="rId3"/>
            <a:stretch>
              <a:fillRect/>
            </a:stretch>
          </a:blipFill>
        </p:spPr>
        <p:txBody>
          <a:bodyPr/>
          <a:lstStyle/>
          <a:p>
            <a:endParaRPr lang="es-GT"/>
          </a:p>
        </p:txBody>
      </p:sp>
      <p:sp>
        <p:nvSpPr>
          <p:cNvPr id="4" name="Freeform 4"/>
          <p:cNvSpPr/>
          <p:nvPr/>
        </p:nvSpPr>
        <p:spPr>
          <a:xfrm>
            <a:off x="10181439" y="6724512"/>
            <a:ext cx="4684710" cy="3121188"/>
          </a:xfrm>
          <a:custGeom>
            <a:avLst/>
            <a:gdLst/>
            <a:ahLst/>
            <a:cxnLst/>
            <a:rect l="l" t="t" r="r" b="b"/>
            <a:pathLst>
              <a:path w="4684710" h="3121188">
                <a:moveTo>
                  <a:pt x="0" y="0"/>
                </a:moveTo>
                <a:lnTo>
                  <a:pt x="4684710" y="0"/>
                </a:lnTo>
                <a:lnTo>
                  <a:pt x="4684710" y="3121188"/>
                </a:lnTo>
                <a:lnTo>
                  <a:pt x="0" y="3121188"/>
                </a:lnTo>
                <a:lnTo>
                  <a:pt x="0" y="0"/>
                </a:lnTo>
                <a:close/>
              </a:path>
            </a:pathLst>
          </a:custGeom>
          <a:blipFill>
            <a:blip r:embed="rId4"/>
            <a:stretch>
              <a:fillRect/>
            </a:stretch>
          </a:blipFill>
        </p:spPr>
        <p:txBody>
          <a:bodyPr/>
          <a:lstStyle/>
          <a:p>
            <a:endParaRPr lang="es-GT"/>
          </a:p>
        </p:txBody>
      </p:sp>
      <p:sp>
        <p:nvSpPr>
          <p:cNvPr id="5" name="TextBox 5"/>
          <p:cNvSpPr txBox="1"/>
          <p:nvPr/>
        </p:nvSpPr>
        <p:spPr>
          <a:xfrm>
            <a:off x="1028700" y="877281"/>
            <a:ext cx="12717698" cy="1371600"/>
          </a:xfrm>
          <a:prstGeom prst="rect">
            <a:avLst/>
          </a:prstGeom>
        </p:spPr>
        <p:txBody>
          <a:bodyPr lIns="0" tIns="0" rIns="0" bIns="0" rtlCol="0" anchor="t">
            <a:spAutoFit/>
          </a:bodyPr>
          <a:lstStyle/>
          <a:p>
            <a:pPr algn="l">
              <a:lnSpc>
                <a:spcPts val="10800"/>
              </a:lnSpc>
            </a:pPr>
            <a:r>
              <a:rPr lang="en-US" sz="9000" b="1" spc="-20">
                <a:solidFill>
                  <a:srgbClr val="000000"/>
                </a:solidFill>
                <a:latin typeface="Open Sans Bold"/>
                <a:ea typeface="Open Sans Bold"/>
                <a:cs typeface="Open Sans Bold"/>
                <a:sym typeface="Open Sans Bold"/>
              </a:rPr>
              <a:t>CURSOR</a:t>
            </a:r>
          </a:p>
        </p:txBody>
      </p:sp>
      <p:sp>
        <p:nvSpPr>
          <p:cNvPr id="6" name="TextBox 6"/>
          <p:cNvSpPr txBox="1"/>
          <p:nvPr/>
        </p:nvSpPr>
        <p:spPr>
          <a:xfrm>
            <a:off x="1161337" y="2310246"/>
            <a:ext cx="16097963" cy="4242816"/>
          </a:xfrm>
          <a:prstGeom prst="rect">
            <a:avLst/>
          </a:prstGeom>
        </p:spPr>
        <p:txBody>
          <a:bodyPr lIns="0" tIns="0" rIns="0" bIns="0" rtlCol="0" anchor="t">
            <a:spAutoFit/>
          </a:bodyPr>
          <a:lstStyle/>
          <a:p>
            <a:pPr algn="just">
              <a:lnSpc>
                <a:spcPts val="4212"/>
              </a:lnSpc>
            </a:pPr>
            <a:r>
              <a:rPr lang="en-US" sz="2600">
                <a:solidFill>
                  <a:srgbClr val="000000"/>
                </a:solidFill>
                <a:latin typeface="Open Sans"/>
                <a:ea typeface="Open Sans"/>
                <a:cs typeface="Open Sans"/>
                <a:sym typeface="Open Sans"/>
              </a:rPr>
              <a:t>Es un IDE moderno basado en Visual Studio Code, que integra inteligencia artificial para ayudar a los desarrolladores a escribir, entender, depurar y refactorizar código de forma más rápida. Soporta múltiples lenguajes de programación, ofrece autocompletado inteligente, generación de código, explicación de fragmentos y edición asistida por IA, lo que lo hace útil tanto para principiantes como para programadores experimentados.</a:t>
            </a:r>
          </a:p>
          <a:p>
            <a:pPr algn="just">
              <a:lnSpc>
                <a:spcPts val="4212"/>
              </a:lnSpc>
            </a:pPr>
            <a:endParaRPr lang="en-US" sz="2600">
              <a:solidFill>
                <a:srgbClr val="000000"/>
              </a:solidFill>
              <a:latin typeface="Open Sans"/>
              <a:ea typeface="Open Sans"/>
              <a:cs typeface="Open Sans"/>
              <a:sym typeface="Open Sans"/>
            </a:endParaRPr>
          </a:p>
          <a:p>
            <a:pPr algn="just">
              <a:lnSpc>
                <a:spcPts val="4212"/>
              </a:lnSpc>
            </a:pPr>
            <a:r>
              <a:rPr lang="en-US" sz="2600">
                <a:solidFill>
                  <a:srgbClr val="000000"/>
                </a:solidFill>
                <a:latin typeface="Open Sans"/>
                <a:ea typeface="Open Sans"/>
                <a:cs typeface="Open Sans"/>
                <a:sym typeface="Open Sans"/>
              </a:rPr>
              <a:t>Cursor IDE se destaca en este espacio competitivo debido a su énfasis en la eficiencia, la personalización y la colaboración, por lo que es una opción popular para los desarrolladores individuales y equipos.</a:t>
            </a:r>
          </a:p>
        </p:txBody>
      </p:sp>
      <p:sp>
        <p:nvSpPr>
          <p:cNvPr id="7" name="TextBox 7"/>
          <p:cNvSpPr txBox="1"/>
          <p:nvPr/>
        </p:nvSpPr>
        <p:spPr>
          <a:xfrm>
            <a:off x="3746649" y="7668943"/>
            <a:ext cx="4480024" cy="807085"/>
          </a:xfrm>
          <a:prstGeom prst="rect">
            <a:avLst/>
          </a:prstGeom>
        </p:spPr>
        <p:txBody>
          <a:bodyPr lIns="0" tIns="0" rIns="0" bIns="0" rtlCol="0" anchor="t">
            <a:spAutoFit/>
          </a:bodyPr>
          <a:lstStyle/>
          <a:p>
            <a:pPr algn="l">
              <a:lnSpc>
                <a:spcPts val="6439"/>
              </a:lnSpc>
            </a:pPr>
            <a:r>
              <a:rPr lang="en-US" sz="4599" u="sng">
                <a:solidFill>
                  <a:srgbClr val="000000"/>
                </a:solidFill>
                <a:latin typeface="Arimo"/>
                <a:ea typeface="Arimo"/>
                <a:cs typeface="Arimo"/>
                <a:sym typeface="Arimo"/>
                <a:hlinkClick r:id="rId5" tooltip="https://cursor.com"/>
              </a:rPr>
              <a:t>Enlace CURSOR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TextBox 16"/>
          <p:cNvSpPr txBox="1"/>
          <p:nvPr/>
        </p:nvSpPr>
        <p:spPr>
          <a:xfrm>
            <a:off x="3110108" y="3451611"/>
            <a:ext cx="11960857" cy="3064510"/>
          </a:xfrm>
          <a:prstGeom prst="rect">
            <a:avLst/>
          </a:prstGeom>
        </p:spPr>
        <p:txBody>
          <a:bodyPr lIns="0" tIns="0" rIns="0" bIns="0" rtlCol="0" anchor="t">
            <a:spAutoFit/>
          </a:bodyPr>
          <a:lstStyle/>
          <a:p>
            <a:pPr algn="ctr">
              <a:lnSpc>
                <a:spcPts val="11899"/>
              </a:lnSpc>
            </a:pPr>
            <a:r>
              <a:rPr lang="en-US" sz="11400" b="1" spc="-228">
                <a:solidFill>
                  <a:srgbClr val="000000"/>
                </a:solidFill>
                <a:latin typeface="Open Sans Bold"/>
                <a:ea typeface="Open Sans Bold"/>
                <a:cs typeface="Open Sans Bold"/>
                <a:sym typeface="Open Sans Bold"/>
              </a:rPr>
              <a:t>PROGRAMACIÓN BÁSICA CON 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9564796" y="2609387"/>
            <a:ext cx="7537960" cy="6049331"/>
          </a:xfrm>
          <a:custGeom>
            <a:avLst/>
            <a:gdLst/>
            <a:ahLst/>
            <a:cxnLst/>
            <a:rect l="l" t="t" r="r" b="b"/>
            <a:pathLst>
              <a:path w="7537960" h="6049331">
                <a:moveTo>
                  <a:pt x="0" y="0"/>
                </a:moveTo>
                <a:lnTo>
                  <a:pt x="7537960" y="0"/>
                </a:lnTo>
                <a:lnTo>
                  <a:pt x="7537960" y="6049331"/>
                </a:lnTo>
                <a:lnTo>
                  <a:pt x="0" y="6049331"/>
                </a:lnTo>
                <a:lnTo>
                  <a:pt x="0" y="0"/>
                </a:lnTo>
                <a:close/>
              </a:path>
            </a:pathLst>
          </a:custGeom>
          <a:blipFill>
            <a:blip r:embed="rId16"/>
            <a:stretch>
              <a:fillRect/>
            </a:stretch>
          </a:blipFill>
        </p:spPr>
        <p:txBody>
          <a:bodyPr/>
          <a:lstStyle/>
          <a:p>
            <a:endParaRPr lang="es-GT"/>
          </a:p>
        </p:txBody>
      </p:sp>
      <p:sp>
        <p:nvSpPr>
          <p:cNvPr id="17" name="TextBox 17"/>
          <p:cNvSpPr txBox="1"/>
          <p:nvPr/>
        </p:nvSpPr>
        <p:spPr>
          <a:xfrm>
            <a:off x="4567178" y="1367922"/>
            <a:ext cx="11206222" cy="1038225"/>
          </a:xfrm>
          <a:prstGeom prst="rect">
            <a:avLst/>
          </a:prstGeom>
        </p:spPr>
        <p:txBody>
          <a:bodyPr wrap="square" lIns="0" tIns="0" rIns="0" bIns="0" rtlCol="0" anchor="t">
            <a:spAutoFit/>
          </a:bodyPr>
          <a:lstStyle/>
          <a:p>
            <a:pPr algn="l">
              <a:lnSpc>
                <a:spcPts val="8159"/>
              </a:lnSpc>
            </a:pPr>
            <a:r>
              <a:rPr lang="en-US" sz="6800" b="1" spc="-400" dirty="0">
                <a:solidFill>
                  <a:srgbClr val="000000"/>
                </a:solidFill>
                <a:latin typeface="Open Sans Bold"/>
                <a:ea typeface="Open Sans Bold"/>
                <a:cs typeface="Open Sans Bold"/>
                <a:sym typeface="Open Sans Bold"/>
              </a:rPr>
              <a:t>PALABRAS RESERVADAS</a:t>
            </a:r>
          </a:p>
        </p:txBody>
      </p:sp>
      <p:sp>
        <p:nvSpPr>
          <p:cNvPr id="18" name="TextBox 18"/>
          <p:cNvSpPr txBox="1"/>
          <p:nvPr/>
        </p:nvSpPr>
        <p:spPr>
          <a:xfrm>
            <a:off x="1835969" y="2500328"/>
            <a:ext cx="6643198" cy="6276975"/>
          </a:xfrm>
          <a:prstGeom prst="rect">
            <a:avLst/>
          </a:prstGeom>
        </p:spPr>
        <p:txBody>
          <a:bodyPr lIns="0" tIns="0" rIns="0" bIns="0" rtlCol="0" anchor="t">
            <a:spAutoFit/>
          </a:bodyPr>
          <a:lstStyle/>
          <a:p>
            <a:pPr algn="just">
              <a:lnSpc>
                <a:spcPts val="4199"/>
              </a:lnSpc>
            </a:pPr>
            <a:r>
              <a:rPr lang="en-US" sz="3499" spc="76">
                <a:solidFill>
                  <a:srgbClr val="000000"/>
                </a:solidFill>
                <a:latin typeface="Open Sans"/>
                <a:ea typeface="Open Sans"/>
                <a:cs typeface="Open Sans"/>
                <a:sym typeface="Open Sans"/>
              </a:rPr>
              <a:t>Las palabras clave son identificadores reservados predefinidos que tienen significados especiales para el compilador. No se pueden usar como identificadores en el programa a menos que incluyan @ como prefijo. Por ejemplo, @if es un identificador válido, pero if no es porque if es una palabra clave.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3"/>
            <a:stretch>
              <a:fillRect t="-83" b="-83"/>
            </a:stretch>
          </a:blipFill>
        </p:spPr>
        <p:txBody>
          <a:bodyPr/>
          <a:lstStyle/>
          <a:p>
            <a:endParaRPr lang="es-GT"/>
          </a:p>
        </p:txBody>
      </p:sp>
      <p:sp>
        <p:nvSpPr>
          <p:cNvPr id="14" name="Freeform 14"/>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4"/>
            <a:stretch>
              <a:fillRect t="-3040" b="-3040"/>
            </a:stretch>
          </a:blipFill>
        </p:spPr>
        <p:txBody>
          <a:bodyPr/>
          <a:lstStyle/>
          <a:p>
            <a:endParaRPr lang="es-GT"/>
          </a:p>
        </p:txBody>
      </p:sp>
      <p:sp>
        <p:nvSpPr>
          <p:cNvPr id="15" name="TextBox 15"/>
          <p:cNvSpPr txBox="1"/>
          <p:nvPr/>
        </p:nvSpPr>
        <p:spPr>
          <a:xfrm>
            <a:off x="1489079" y="2459960"/>
            <a:ext cx="9577565" cy="5843016"/>
          </a:xfrm>
          <a:prstGeom prst="rect">
            <a:avLst/>
          </a:prstGeom>
        </p:spPr>
        <p:txBody>
          <a:bodyPr lIns="0" tIns="0" rIns="0" bIns="0" rtlCol="0" anchor="t">
            <a:spAutoFit/>
          </a:bodyPr>
          <a:lstStyle/>
          <a:p>
            <a:pPr algn="just">
              <a:lnSpc>
                <a:spcPts val="4212"/>
              </a:lnSpc>
            </a:pPr>
            <a:r>
              <a:rPr lang="en-US" sz="2600" b="1">
                <a:solidFill>
                  <a:srgbClr val="000000"/>
                </a:solidFill>
                <a:latin typeface="Open Sans Bold"/>
                <a:ea typeface="Open Sans Bold"/>
                <a:cs typeface="Open Sans Bold"/>
                <a:sym typeface="Open Sans Bold"/>
              </a:rPr>
              <a:t>Tipos por valor</a:t>
            </a:r>
          </a:p>
          <a:p>
            <a:pPr algn="just">
              <a:lnSpc>
                <a:spcPts val="4212"/>
              </a:lnSpc>
            </a:pPr>
            <a:r>
              <a:rPr lang="en-US" sz="2600">
                <a:solidFill>
                  <a:srgbClr val="000000"/>
                </a:solidFill>
                <a:latin typeface="Open Sans"/>
                <a:ea typeface="Open Sans"/>
                <a:cs typeface="Open Sans"/>
                <a:sym typeface="Open Sans"/>
              </a:rPr>
              <a:t>Se almacenan directamente en memoria y cada variable tiene su propio valor:</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Números enteros: int, short, long, byte, etc., para almacenar números sin decimales.</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Números de punto flotante: float, double, decimal para números con decimales.</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char: representa un solo carácter Unicode.</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bool: valores lógicos (true o false).</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void: indica ausencia de valor, por ejemplo en métodos que no devuelven nada.</a:t>
            </a:r>
          </a:p>
        </p:txBody>
      </p:sp>
      <p:sp>
        <p:nvSpPr>
          <p:cNvPr id="16" name="Freeform 16"/>
          <p:cNvSpPr/>
          <p:nvPr/>
        </p:nvSpPr>
        <p:spPr>
          <a:xfrm>
            <a:off x="11326174" y="2254469"/>
            <a:ext cx="5778062" cy="5778062"/>
          </a:xfrm>
          <a:custGeom>
            <a:avLst/>
            <a:gdLst/>
            <a:ahLst/>
            <a:cxnLst/>
            <a:rect l="l" t="t" r="r" b="b"/>
            <a:pathLst>
              <a:path w="5778062" h="5778062">
                <a:moveTo>
                  <a:pt x="0" y="0"/>
                </a:moveTo>
                <a:lnTo>
                  <a:pt x="5778062" y="0"/>
                </a:lnTo>
                <a:lnTo>
                  <a:pt x="5778062" y="5778062"/>
                </a:lnTo>
                <a:lnTo>
                  <a:pt x="0" y="5778062"/>
                </a:lnTo>
                <a:lnTo>
                  <a:pt x="0" y="0"/>
                </a:lnTo>
                <a:close/>
              </a:path>
            </a:pathLst>
          </a:custGeom>
          <a:blipFill>
            <a:blip r:embed="rId15"/>
            <a:stretch>
              <a:fillRect/>
            </a:stretch>
          </a:blipFill>
        </p:spPr>
        <p:txBody>
          <a:bodyPr/>
          <a:lstStyle/>
          <a:p>
            <a:endParaRPr lang="es-GT"/>
          </a:p>
        </p:txBody>
      </p:sp>
      <p:sp>
        <p:nvSpPr>
          <p:cNvPr id="17" name="TextBox 17"/>
          <p:cNvSpPr txBox="1"/>
          <p:nvPr/>
        </p:nvSpPr>
        <p:spPr>
          <a:xfrm>
            <a:off x="3448571" y="1224115"/>
            <a:ext cx="10935679" cy="1038225"/>
          </a:xfrm>
          <a:prstGeom prst="rect">
            <a:avLst/>
          </a:prstGeom>
        </p:spPr>
        <p:txBody>
          <a:bodyPr lIns="0" tIns="0" rIns="0" bIns="0" rtlCol="0" anchor="t">
            <a:spAutoFit/>
          </a:bodyPr>
          <a:lstStyle/>
          <a:p>
            <a:pPr algn="ctr">
              <a:lnSpc>
                <a:spcPts val="8159"/>
              </a:lnSpc>
            </a:pPr>
            <a:r>
              <a:rPr lang="en-US" sz="6800" b="1" spc="-120">
                <a:solidFill>
                  <a:srgbClr val="000000"/>
                </a:solidFill>
                <a:latin typeface="Open Sans Bold"/>
                <a:ea typeface="Open Sans Bold"/>
                <a:cs typeface="Open Sans Bold"/>
                <a:sym typeface="Open Sans Bold"/>
              </a:rPr>
              <a:t>TIPO DE DATOS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3"/>
            <a:stretch>
              <a:fillRect t="-83" b="-83"/>
            </a:stretch>
          </a:blipFill>
        </p:spPr>
        <p:txBody>
          <a:bodyPr/>
          <a:lstStyle/>
          <a:p>
            <a:endParaRPr lang="es-GT"/>
          </a:p>
        </p:txBody>
      </p:sp>
      <p:sp>
        <p:nvSpPr>
          <p:cNvPr id="14" name="Freeform 14"/>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4"/>
            <a:stretch>
              <a:fillRect t="-3040" b="-3040"/>
            </a:stretch>
          </a:blipFill>
        </p:spPr>
        <p:txBody>
          <a:bodyPr/>
          <a:lstStyle/>
          <a:p>
            <a:endParaRPr lang="es-GT"/>
          </a:p>
        </p:txBody>
      </p:sp>
      <p:sp>
        <p:nvSpPr>
          <p:cNvPr id="15" name="TextBox 15"/>
          <p:cNvSpPr txBox="1"/>
          <p:nvPr/>
        </p:nvSpPr>
        <p:spPr>
          <a:xfrm>
            <a:off x="1489079" y="2381774"/>
            <a:ext cx="11947465" cy="6376416"/>
          </a:xfrm>
          <a:prstGeom prst="rect">
            <a:avLst/>
          </a:prstGeom>
        </p:spPr>
        <p:txBody>
          <a:bodyPr lIns="0" tIns="0" rIns="0" bIns="0" rtlCol="0" anchor="t">
            <a:spAutoFit/>
          </a:bodyPr>
          <a:lstStyle/>
          <a:p>
            <a:pPr algn="just">
              <a:lnSpc>
                <a:spcPts val="4212"/>
              </a:lnSpc>
            </a:pPr>
            <a:r>
              <a:rPr lang="en-US" sz="2600" b="1">
                <a:solidFill>
                  <a:srgbClr val="000000"/>
                </a:solidFill>
                <a:latin typeface="Open Sans Bold"/>
                <a:ea typeface="Open Sans Bold"/>
                <a:cs typeface="Open Sans Bold"/>
                <a:sym typeface="Open Sans Bold"/>
              </a:rPr>
              <a:t>Tipos por referencia</a:t>
            </a:r>
          </a:p>
          <a:p>
            <a:pPr algn="just">
              <a:lnSpc>
                <a:spcPts val="4212"/>
              </a:lnSpc>
            </a:pPr>
            <a:r>
              <a:rPr lang="en-US" sz="2600">
                <a:solidFill>
                  <a:srgbClr val="000000"/>
                </a:solidFill>
                <a:latin typeface="Open Sans"/>
                <a:ea typeface="Open Sans"/>
                <a:cs typeface="Open Sans"/>
                <a:sym typeface="Open Sans"/>
              </a:rPr>
              <a:t>Almacenan una referencia al valor, no el valor directamente:</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string: secuencia de caracteres para texto.</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Nullable: tipos que pueden tomar null para representar ausencia de dato.</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Arreglos: colecciones de elementos del mismo tipo.</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Clases (class): objetos con datos y comportamiento.</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Interfaces (interface): contratos que las clases implementan.</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Delegados (delegate): referencias a métodos.</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object: tipo base de todos los objetos en C#.</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Listas (List&lt;T&gt;): colecciones dinámicas de elementos.</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Tuplas: grupos de valores (Tuple y ValueTuple).</a:t>
            </a:r>
          </a:p>
          <a:p>
            <a:pPr marL="561341" lvl="1" indent="-280670" algn="just">
              <a:lnSpc>
                <a:spcPts val="4212"/>
              </a:lnSpc>
              <a:buFont typeface="Arial"/>
              <a:buChar char="•"/>
            </a:pPr>
            <a:r>
              <a:rPr lang="en-US" sz="2600">
                <a:solidFill>
                  <a:srgbClr val="000000"/>
                </a:solidFill>
                <a:latin typeface="Open Sans"/>
                <a:ea typeface="Open Sans"/>
                <a:cs typeface="Open Sans"/>
                <a:sym typeface="Open Sans"/>
              </a:rPr>
              <a:t>Diccionarios (Dictionary&lt;TKey, TValue&gt;): colecciones de pares clave-valor.</a:t>
            </a:r>
          </a:p>
        </p:txBody>
      </p:sp>
      <p:sp>
        <p:nvSpPr>
          <p:cNvPr id="16" name="Freeform 16"/>
          <p:cNvSpPr/>
          <p:nvPr/>
        </p:nvSpPr>
        <p:spPr>
          <a:xfrm>
            <a:off x="12998579" y="3926473"/>
            <a:ext cx="3667693" cy="3667693"/>
          </a:xfrm>
          <a:custGeom>
            <a:avLst/>
            <a:gdLst/>
            <a:ahLst/>
            <a:cxnLst/>
            <a:rect l="l" t="t" r="r" b="b"/>
            <a:pathLst>
              <a:path w="3667693" h="3667693">
                <a:moveTo>
                  <a:pt x="0" y="0"/>
                </a:moveTo>
                <a:lnTo>
                  <a:pt x="3667693" y="0"/>
                </a:lnTo>
                <a:lnTo>
                  <a:pt x="3667693" y="3667694"/>
                </a:lnTo>
                <a:lnTo>
                  <a:pt x="0" y="3667694"/>
                </a:lnTo>
                <a:lnTo>
                  <a:pt x="0" y="0"/>
                </a:lnTo>
                <a:close/>
              </a:path>
            </a:pathLst>
          </a:custGeom>
          <a:blipFill>
            <a:blip r:embed="rId15"/>
            <a:stretch>
              <a:fillRect/>
            </a:stretch>
          </a:blipFill>
        </p:spPr>
        <p:txBody>
          <a:bodyPr/>
          <a:lstStyle/>
          <a:p>
            <a:endParaRPr lang="es-GT"/>
          </a:p>
        </p:txBody>
      </p:sp>
      <p:sp>
        <p:nvSpPr>
          <p:cNvPr id="17" name="TextBox 17"/>
          <p:cNvSpPr txBox="1"/>
          <p:nvPr/>
        </p:nvSpPr>
        <p:spPr>
          <a:xfrm>
            <a:off x="3448571" y="1224115"/>
            <a:ext cx="10935679" cy="1038225"/>
          </a:xfrm>
          <a:prstGeom prst="rect">
            <a:avLst/>
          </a:prstGeom>
        </p:spPr>
        <p:txBody>
          <a:bodyPr lIns="0" tIns="0" rIns="0" bIns="0" rtlCol="0" anchor="t">
            <a:spAutoFit/>
          </a:bodyPr>
          <a:lstStyle/>
          <a:p>
            <a:pPr algn="ctr">
              <a:lnSpc>
                <a:spcPts val="8159"/>
              </a:lnSpc>
            </a:pPr>
            <a:r>
              <a:rPr lang="en-US" sz="6800" b="1" spc="-120">
                <a:solidFill>
                  <a:srgbClr val="000000"/>
                </a:solidFill>
                <a:latin typeface="Open Sans Bold"/>
                <a:ea typeface="Open Sans Bold"/>
                <a:cs typeface="Open Sans Bold"/>
                <a:sym typeface="Open Sans Bold"/>
              </a:rPr>
              <a:t>TIPO DE DATOS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3"/>
            <a:stretch>
              <a:fillRect t="-83" b="-83"/>
            </a:stretch>
          </a:blipFill>
        </p:spPr>
        <p:txBody>
          <a:bodyPr/>
          <a:lstStyle/>
          <a:p>
            <a:endParaRPr lang="es-GT"/>
          </a:p>
        </p:txBody>
      </p:sp>
      <p:sp>
        <p:nvSpPr>
          <p:cNvPr id="14" name="Freeform 14"/>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4"/>
            <a:stretch>
              <a:fillRect t="-3040" b="-3040"/>
            </a:stretch>
          </a:blipFill>
        </p:spPr>
        <p:txBody>
          <a:bodyPr/>
          <a:lstStyle/>
          <a:p>
            <a:endParaRPr lang="es-GT"/>
          </a:p>
        </p:txBody>
      </p:sp>
      <p:sp>
        <p:nvSpPr>
          <p:cNvPr id="15" name="TextBox 15"/>
          <p:cNvSpPr txBox="1"/>
          <p:nvPr/>
        </p:nvSpPr>
        <p:spPr>
          <a:xfrm>
            <a:off x="1493325" y="2822791"/>
            <a:ext cx="15301351" cy="4776216"/>
          </a:xfrm>
          <a:prstGeom prst="rect">
            <a:avLst/>
          </a:prstGeom>
        </p:spPr>
        <p:txBody>
          <a:bodyPr lIns="0" tIns="0" rIns="0" bIns="0" rtlCol="0" anchor="t">
            <a:spAutoFit/>
          </a:bodyPr>
          <a:lstStyle/>
          <a:p>
            <a:pPr algn="just">
              <a:lnSpc>
                <a:spcPts val="4212"/>
              </a:lnSpc>
            </a:pPr>
            <a:r>
              <a:rPr lang="en-US" sz="2600" b="1">
                <a:solidFill>
                  <a:srgbClr val="000000"/>
                </a:solidFill>
                <a:latin typeface="Open Sans Bold"/>
                <a:ea typeface="Open Sans Bold"/>
                <a:cs typeface="Open Sans Bold"/>
                <a:sym typeface="Open Sans Bold"/>
              </a:rPr>
              <a:t>Uso de llaves “{}”: </a:t>
            </a:r>
            <a:r>
              <a:rPr lang="en-US" sz="2600">
                <a:solidFill>
                  <a:srgbClr val="000000"/>
                </a:solidFill>
                <a:latin typeface="Open Sans"/>
                <a:ea typeface="Open Sans"/>
                <a:cs typeface="Open Sans"/>
                <a:sym typeface="Open Sans"/>
              </a:rPr>
              <a:t>Las llaves {} se utilizan para delimitar bloques de código en C#. Esto incluye definiciones de clases, métodos y bloques de control de flujo como if, for, y while.</a:t>
            </a:r>
          </a:p>
          <a:p>
            <a:pPr algn="just">
              <a:lnSpc>
                <a:spcPts val="4212"/>
              </a:lnSpc>
            </a:pPr>
            <a:endParaRPr lang="en-US" sz="2600">
              <a:solidFill>
                <a:srgbClr val="000000"/>
              </a:solidFill>
              <a:latin typeface="Open Sans"/>
              <a:ea typeface="Open Sans"/>
              <a:cs typeface="Open Sans"/>
              <a:sym typeface="Open Sans"/>
            </a:endParaRPr>
          </a:p>
          <a:p>
            <a:pPr algn="just">
              <a:lnSpc>
                <a:spcPts val="4212"/>
              </a:lnSpc>
            </a:pPr>
            <a:r>
              <a:rPr lang="en-US" sz="2600" b="1">
                <a:solidFill>
                  <a:srgbClr val="000000"/>
                </a:solidFill>
                <a:latin typeface="Open Sans Bold"/>
                <a:ea typeface="Open Sans Bold"/>
                <a:cs typeface="Open Sans Bold"/>
                <a:sym typeface="Open Sans Bold"/>
              </a:rPr>
              <a:t>Uso del punto y coma “;”: </a:t>
            </a:r>
            <a:r>
              <a:rPr lang="en-US" sz="2600">
                <a:solidFill>
                  <a:srgbClr val="000000"/>
                </a:solidFill>
                <a:latin typeface="Open Sans"/>
                <a:ea typeface="Open Sans"/>
                <a:cs typeface="Open Sans"/>
                <a:sym typeface="Open Sans"/>
              </a:rPr>
              <a:t>En C#, cada instrucción debe terminar con un punto y coma (;). Esto incluye declaraciones de variables, llamadas a métodos, y otras operaciones.</a:t>
            </a:r>
          </a:p>
          <a:p>
            <a:pPr algn="just">
              <a:lnSpc>
                <a:spcPts val="4212"/>
              </a:lnSpc>
            </a:pPr>
            <a:endParaRPr lang="en-US" sz="2600">
              <a:solidFill>
                <a:srgbClr val="000000"/>
              </a:solidFill>
              <a:latin typeface="Open Sans"/>
              <a:ea typeface="Open Sans"/>
              <a:cs typeface="Open Sans"/>
              <a:sym typeface="Open Sans"/>
            </a:endParaRPr>
          </a:p>
          <a:p>
            <a:pPr algn="just">
              <a:lnSpc>
                <a:spcPts val="4212"/>
              </a:lnSpc>
            </a:pPr>
            <a:r>
              <a:rPr lang="en-US" sz="2600" b="1">
                <a:solidFill>
                  <a:srgbClr val="000000"/>
                </a:solidFill>
                <a:latin typeface="Open Sans Bold"/>
                <a:ea typeface="Open Sans Bold"/>
                <a:cs typeface="Open Sans Bold"/>
                <a:sym typeface="Open Sans Bold"/>
              </a:rPr>
              <a:t>Normas de nombrado de variables: </a:t>
            </a:r>
            <a:r>
              <a:rPr lang="en-US" sz="2600">
                <a:solidFill>
                  <a:srgbClr val="000000"/>
                </a:solidFill>
                <a:latin typeface="Open Sans"/>
                <a:ea typeface="Open Sans"/>
                <a:cs typeface="Open Sans"/>
                <a:sym typeface="Open Sans"/>
              </a:rPr>
              <a:t>Los caracteres válidos incluyen letras (tanto mayúsculas como minúsculas), números y el guion bajo _. Aunque los nombres no pueden comenzar con un número. Por ejemplo, nombres como miVariable y _contador son aceptable</a:t>
            </a:r>
          </a:p>
        </p:txBody>
      </p:sp>
      <p:sp>
        <p:nvSpPr>
          <p:cNvPr id="16" name="TextBox 16"/>
          <p:cNvSpPr txBox="1"/>
          <p:nvPr/>
        </p:nvSpPr>
        <p:spPr>
          <a:xfrm>
            <a:off x="3676161" y="1661817"/>
            <a:ext cx="10935679" cy="1038225"/>
          </a:xfrm>
          <a:prstGeom prst="rect">
            <a:avLst/>
          </a:prstGeom>
        </p:spPr>
        <p:txBody>
          <a:bodyPr lIns="0" tIns="0" rIns="0" bIns="0" rtlCol="0" anchor="t">
            <a:spAutoFit/>
          </a:bodyPr>
          <a:lstStyle/>
          <a:p>
            <a:pPr algn="ctr">
              <a:lnSpc>
                <a:spcPts val="8159"/>
              </a:lnSpc>
            </a:pPr>
            <a:r>
              <a:rPr lang="en-US" sz="6800" b="1" spc="-120">
                <a:solidFill>
                  <a:srgbClr val="000000"/>
                </a:solidFill>
                <a:latin typeface="Open Sans Bold"/>
                <a:ea typeface="Open Sans Bold"/>
                <a:cs typeface="Open Sans Bold"/>
                <a:sym typeface="Open Sans Bold"/>
              </a:rPr>
              <a:t>SINTAXIS BÁSICA DE 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TextBox 3"/>
          <p:cNvSpPr txBox="1"/>
          <p:nvPr/>
        </p:nvSpPr>
        <p:spPr>
          <a:xfrm>
            <a:off x="948509" y="729863"/>
            <a:ext cx="7411269" cy="3350260"/>
          </a:xfrm>
          <a:prstGeom prst="rect">
            <a:avLst/>
          </a:prstGeom>
        </p:spPr>
        <p:txBody>
          <a:bodyPr lIns="0" tIns="0" rIns="0" bIns="0" rtlCol="0" anchor="t">
            <a:spAutoFit/>
          </a:bodyPr>
          <a:lstStyle/>
          <a:p>
            <a:pPr algn="l">
              <a:lnSpc>
                <a:spcPts val="8840"/>
              </a:lnSpc>
            </a:pPr>
            <a:r>
              <a:rPr lang="en-US" sz="7600" b="1">
                <a:solidFill>
                  <a:srgbClr val="000000"/>
                </a:solidFill>
                <a:latin typeface="Open Sans Bold"/>
                <a:ea typeface="Open Sans Bold"/>
                <a:cs typeface="Open Sans Bold"/>
                <a:sym typeface="Open Sans Bold"/>
              </a:rPr>
              <a:t>VARIABLES, EXPRESIONES Y SENTENCIAS</a:t>
            </a:r>
          </a:p>
        </p:txBody>
      </p:sp>
      <p:grpSp>
        <p:nvGrpSpPr>
          <p:cNvPr id="4" name="Group 4"/>
          <p:cNvGrpSpPr/>
          <p:nvPr/>
        </p:nvGrpSpPr>
        <p:grpSpPr>
          <a:xfrm>
            <a:off x="9975494" y="3939973"/>
            <a:ext cx="6998970" cy="2561587"/>
            <a:chOff x="0" y="0"/>
            <a:chExt cx="9331960" cy="3415449"/>
          </a:xfrm>
        </p:grpSpPr>
        <p:sp>
          <p:nvSpPr>
            <p:cNvPr id="5" name="Freeform 5"/>
            <p:cNvSpPr/>
            <p:nvPr/>
          </p:nvSpPr>
          <p:spPr>
            <a:xfrm>
              <a:off x="0" y="0"/>
              <a:ext cx="9330817" cy="3415411"/>
            </a:xfrm>
            <a:custGeom>
              <a:avLst/>
              <a:gdLst/>
              <a:ahLst/>
              <a:cxnLst/>
              <a:rect l="l" t="t" r="r" b="b"/>
              <a:pathLst>
                <a:path w="9330817" h="3415411">
                  <a:moveTo>
                    <a:pt x="9282176" y="3415411"/>
                  </a:moveTo>
                  <a:lnTo>
                    <a:pt x="66040" y="3415411"/>
                  </a:lnTo>
                  <a:lnTo>
                    <a:pt x="40259" y="3410204"/>
                  </a:lnTo>
                  <a:lnTo>
                    <a:pt x="19304" y="3395980"/>
                  </a:lnTo>
                  <a:lnTo>
                    <a:pt x="5080" y="3375025"/>
                  </a:lnTo>
                  <a:lnTo>
                    <a:pt x="0" y="3349244"/>
                  </a:lnTo>
                  <a:lnTo>
                    <a:pt x="0" y="66040"/>
                  </a:lnTo>
                  <a:lnTo>
                    <a:pt x="5207" y="40386"/>
                  </a:lnTo>
                  <a:lnTo>
                    <a:pt x="19304" y="19304"/>
                  </a:lnTo>
                  <a:lnTo>
                    <a:pt x="40386" y="5207"/>
                  </a:lnTo>
                  <a:lnTo>
                    <a:pt x="66040" y="0"/>
                  </a:lnTo>
                  <a:lnTo>
                    <a:pt x="9264650" y="0"/>
                  </a:lnTo>
                  <a:lnTo>
                    <a:pt x="9290431" y="5207"/>
                  </a:lnTo>
                  <a:lnTo>
                    <a:pt x="9311386" y="19431"/>
                  </a:lnTo>
                  <a:lnTo>
                    <a:pt x="9325610" y="40386"/>
                  </a:lnTo>
                  <a:lnTo>
                    <a:pt x="9330817" y="66167"/>
                  </a:lnTo>
                  <a:lnTo>
                    <a:pt x="9330817" y="3366770"/>
                  </a:lnTo>
                  <a:lnTo>
                    <a:pt x="9323832" y="3383534"/>
                  </a:lnTo>
                  <a:lnTo>
                    <a:pt x="9299067" y="3408299"/>
                  </a:lnTo>
                  <a:lnTo>
                    <a:pt x="9282303" y="3415284"/>
                  </a:lnTo>
                  <a:close/>
                </a:path>
              </a:pathLst>
            </a:custGeom>
            <a:solidFill>
              <a:srgbClr val="8AB7E1"/>
            </a:solidFill>
            <a:ln w="12700">
              <a:solidFill>
                <a:srgbClr val="000000"/>
              </a:solidFill>
            </a:ln>
          </p:spPr>
          <p:txBody>
            <a:bodyPr/>
            <a:lstStyle/>
            <a:p>
              <a:endParaRPr lang="es-GT"/>
            </a:p>
          </p:txBody>
        </p:sp>
      </p:grpSp>
      <p:grpSp>
        <p:nvGrpSpPr>
          <p:cNvPr id="6" name="Group 6"/>
          <p:cNvGrpSpPr/>
          <p:nvPr/>
        </p:nvGrpSpPr>
        <p:grpSpPr>
          <a:xfrm>
            <a:off x="9975494" y="6709686"/>
            <a:ext cx="6998970" cy="2657861"/>
            <a:chOff x="0" y="0"/>
            <a:chExt cx="9331960" cy="3543814"/>
          </a:xfrm>
        </p:grpSpPr>
        <p:sp>
          <p:nvSpPr>
            <p:cNvPr id="7" name="Freeform 7"/>
            <p:cNvSpPr/>
            <p:nvPr/>
          </p:nvSpPr>
          <p:spPr>
            <a:xfrm>
              <a:off x="0" y="0"/>
              <a:ext cx="9330817" cy="3543775"/>
            </a:xfrm>
            <a:custGeom>
              <a:avLst/>
              <a:gdLst/>
              <a:ahLst/>
              <a:cxnLst/>
              <a:rect l="l" t="t" r="r" b="b"/>
              <a:pathLst>
                <a:path w="9330817" h="3543775">
                  <a:moveTo>
                    <a:pt x="9282176" y="3543775"/>
                  </a:moveTo>
                  <a:lnTo>
                    <a:pt x="66040" y="3543775"/>
                  </a:lnTo>
                  <a:lnTo>
                    <a:pt x="40259" y="3538372"/>
                  </a:lnTo>
                  <a:lnTo>
                    <a:pt x="19304" y="3523614"/>
                  </a:lnTo>
                  <a:lnTo>
                    <a:pt x="5080" y="3501871"/>
                  </a:lnTo>
                  <a:lnTo>
                    <a:pt x="0" y="3475121"/>
                  </a:lnTo>
                  <a:lnTo>
                    <a:pt x="0" y="68522"/>
                  </a:lnTo>
                  <a:lnTo>
                    <a:pt x="5207" y="41904"/>
                  </a:lnTo>
                  <a:lnTo>
                    <a:pt x="19304" y="20030"/>
                  </a:lnTo>
                  <a:lnTo>
                    <a:pt x="40386" y="5403"/>
                  </a:lnTo>
                  <a:lnTo>
                    <a:pt x="66040" y="0"/>
                  </a:lnTo>
                  <a:lnTo>
                    <a:pt x="9264650" y="0"/>
                  </a:lnTo>
                  <a:lnTo>
                    <a:pt x="9290431" y="5403"/>
                  </a:lnTo>
                  <a:lnTo>
                    <a:pt x="9311386" y="20161"/>
                  </a:lnTo>
                  <a:lnTo>
                    <a:pt x="9325610" y="41904"/>
                  </a:lnTo>
                  <a:lnTo>
                    <a:pt x="9330817" y="68654"/>
                  </a:lnTo>
                  <a:lnTo>
                    <a:pt x="9330817" y="3493306"/>
                  </a:lnTo>
                  <a:lnTo>
                    <a:pt x="9323832" y="3510700"/>
                  </a:lnTo>
                  <a:lnTo>
                    <a:pt x="9299067" y="3536395"/>
                  </a:lnTo>
                  <a:lnTo>
                    <a:pt x="9282303" y="3543643"/>
                  </a:lnTo>
                  <a:close/>
                </a:path>
              </a:pathLst>
            </a:custGeom>
            <a:solidFill>
              <a:srgbClr val="8AB7E1"/>
            </a:solidFill>
            <a:ln w="12700">
              <a:solidFill>
                <a:srgbClr val="000000"/>
              </a:solidFill>
            </a:ln>
          </p:spPr>
          <p:txBody>
            <a:bodyPr/>
            <a:lstStyle/>
            <a:p>
              <a:endParaRPr lang="es-GT"/>
            </a:p>
          </p:txBody>
        </p:sp>
      </p:grpSp>
      <p:sp>
        <p:nvSpPr>
          <p:cNvPr id="8" name="Freeform 8"/>
          <p:cNvSpPr/>
          <p:nvPr/>
        </p:nvSpPr>
        <p:spPr>
          <a:xfrm>
            <a:off x="4472902" y="0"/>
            <a:ext cx="4980946" cy="1366371"/>
          </a:xfrm>
          <a:custGeom>
            <a:avLst/>
            <a:gdLst/>
            <a:ahLst/>
            <a:cxnLst/>
            <a:rect l="l" t="t" r="r" b="b"/>
            <a:pathLst>
              <a:path w="4980946" h="1366371">
                <a:moveTo>
                  <a:pt x="0" y="0"/>
                </a:moveTo>
                <a:lnTo>
                  <a:pt x="4980946" y="0"/>
                </a:lnTo>
                <a:lnTo>
                  <a:pt x="4980946" y="1366371"/>
                </a:lnTo>
                <a:lnTo>
                  <a:pt x="0" y="1366371"/>
                </a:lnTo>
                <a:lnTo>
                  <a:pt x="0" y="0"/>
                </a:lnTo>
                <a:close/>
              </a:path>
            </a:pathLst>
          </a:custGeom>
          <a:blipFill>
            <a:blip r:embed="rId3"/>
            <a:stretch>
              <a:fillRect t="-499" b="-498"/>
            </a:stretch>
          </a:blipFill>
        </p:spPr>
        <p:txBody>
          <a:bodyPr/>
          <a:lstStyle/>
          <a:p>
            <a:endParaRPr lang="es-GT"/>
          </a:p>
        </p:txBody>
      </p:sp>
      <p:grpSp>
        <p:nvGrpSpPr>
          <p:cNvPr id="9" name="Group 9"/>
          <p:cNvGrpSpPr/>
          <p:nvPr/>
        </p:nvGrpSpPr>
        <p:grpSpPr>
          <a:xfrm>
            <a:off x="9975494" y="1170261"/>
            <a:ext cx="6998970" cy="2561587"/>
            <a:chOff x="0" y="0"/>
            <a:chExt cx="9331960" cy="3415449"/>
          </a:xfrm>
        </p:grpSpPr>
        <p:sp>
          <p:nvSpPr>
            <p:cNvPr id="10" name="Freeform 10"/>
            <p:cNvSpPr/>
            <p:nvPr/>
          </p:nvSpPr>
          <p:spPr>
            <a:xfrm>
              <a:off x="0" y="0"/>
              <a:ext cx="9330817" cy="3415411"/>
            </a:xfrm>
            <a:custGeom>
              <a:avLst/>
              <a:gdLst/>
              <a:ahLst/>
              <a:cxnLst/>
              <a:rect l="l" t="t" r="r" b="b"/>
              <a:pathLst>
                <a:path w="9330817" h="3415411">
                  <a:moveTo>
                    <a:pt x="9282176" y="3415411"/>
                  </a:moveTo>
                  <a:lnTo>
                    <a:pt x="66040" y="3415411"/>
                  </a:lnTo>
                  <a:lnTo>
                    <a:pt x="40259" y="3410204"/>
                  </a:lnTo>
                  <a:lnTo>
                    <a:pt x="19304" y="3395980"/>
                  </a:lnTo>
                  <a:lnTo>
                    <a:pt x="5080" y="3375025"/>
                  </a:lnTo>
                  <a:lnTo>
                    <a:pt x="0" y="3349244"/>
                  </a:lnTo>
                  <a:lnTo>
                    <a:pt x="0" y="66040"/>
                  </a:lnTo>
                  <a:lnTo>
                    <a:pt x="5207" y="40386"/>
                  </a:lnTo>
                  <a:lnTo>
                    <a:pt x="19304" y="19304"/>
                  </a:lnTo>
                  <a:lnTo>
                    <a:pt x="40386" y="5207"/>
                  </a:lnTo>
                  <a:lnTo>
                    <a:pt x="66040" y="0"/>
                  </a:lnTo>
                  <a:lnTo>
                    <a:pt x="9264650" y="0"/>
                  </a:lnTo>
                  <a:lnTo>
                    <a:pt x="9290431" y="5207"/>
                  </a:lnTo>
                  <a:lnTo>
                    <a:pt x="9311386" y="19431"/>
                  </a:lnTo>
                  <a:lnTo>
                    <a:pt x="9325610" y="40386"/>
                  </a:lnTo>
                  <a:lnTo>
                    <a:pt x="9330817" y="66167"/>
                  </a:lnTo>
                  <a:lnTo>
                    <a:pt x="9330817" y="3366770"/>
                  </a:lnTo>
                  <a:lnTo>
                    <a:pt x="9323832" y="3383534"/>
                  </a:lnTo>
                  <a:lnTo>
                    <a:pt x="9299067" y="3408299"/>
                  </a:lnTo>
                  <a:lnTo>
                    <a:pt x="9282303" y="3415284"/>
                  </a:lnTo>
                  <a:close/>
                </a:path>
              </a:pathLst>
            </a:custGeom>
            <a:solidFill>
              <a:srgbClr val="8AB7E1"/>
            </a:solidFill>
            <a:ln w="12700">
              <a:solidFill>
                <a:srgbClr val="000000"/>
              </a:solidFill>
            </a:ln>
          </p:spPr>
          <p:txBody>
            <a:bodyPr/>
            <a:lstStyle/>
            <a:p>
              <a:endParaRPr lang="es-GT"/>
            </a:p>
          </p:txBody>
        </p:sp>
      </p:grpSp>
      <p:sp>
        <p:nvSpPr>
          <p:cNvPr id="11" name="Freeform 11"/>
          <p:cNvSpPr/>
          <p:nvPr/>
        </p:nvSpPr>
        <p:spPr>
          <a:xfrm>
            <a:off x="0" y="8919658"/>
            <a:ext cx="3022378" cy="950138"/>
          </a:xfrm>
          <a:custGeom>
            <a:avLst/>
            <a:gdLst/>
            <a:ahLst/>
            <a:cxnLst/>
            <a:rect l="l" t="t" r="r" b="b"/>
            <a:pathLst>
              <a:path w="3022378" h="950138">
                <a:moveTo>
                  <a:pt x="0" y="0"/>
                </a:moveTo>
                <a:lnTo>
                  <a:pt x="3022378" y="0"/>
                </a:lnTo>
                <a:lnTo>
                  <a:pt x="3022378" y="950137"/>
                </a:lnTo>
                <a:lnTo>
                  <a:pt x="0" y="950137"/>
                </a:lnTo>
                <a:lnTo>
                  <a:pt x="0" y="0"/>
                </a:lnTo>
                <a:close/>
              </a:path>
            </a:pathLst>
          </a:custGeom>
          <a:blipFill>
            <a:blip r:embed="rId4"/>
            <a:stretch>
              <a:fillRect t="-135" b="-135"/>
            </a:stretch>
          </a:blipFill>
        </p:spPr>
        <p:txBody>
          <a:bodyPr/>
          <a:lstStyle/>
          <a:p>
            <a:endParaRPr lang="es-GT"/>
          </a:p>
        </p:txBody>
      </p:sp>
      <p:sp>
        <p:nvSpPr>
          <p:cNvPr id="12" name="Freeform 12"/>
          <p:cNvSpPr/>
          <p:nvPr/>
        </p:nvSpPr>
        <p:spPr>
          <a:xfrm>
            <a:off x="3431076" y="8919658"/>
            <a:ext cx="2587019" cy="1367342"/>
          </a:xfrm>
          <a:custGeom>
            <a:avLst/>
            <a:gdLst/>
            <a:ahLst/>
            <a:cxnLst/>
            <a:rect l="l" t="t" r="r" b="b"/>
            <a:pathLst>
              <a:path w="2587019" h="1367342">
                <a:moveTo>
                  <a:pt x="0" y="0"/>
                </a:moveTo>
                <a:lnTo>
                  <a:pt x="2587019" y="0"/>
                </a:lnTo>
                <a:lnTo>
                  <a:pt x="2587019" y="1367342"/>
                </a:lnTo>
                <a:lnTo>
                  <a:pt x="0" y="1367342"/>
                </a:lnTo>
                <a:lnTo>
                  <a:pt x="0" y="0"/>
                </a:lnTo>
                <a:close/>
              </a:path>
            </a:pathLst>
          </a:custGeom>
          <a:blipFill>
            <a:blip r:embed="rId5"/>
            <a:stretch>
              <a:fillRect l="-522" r="-522"/>
            </a:stretch>
          </a:blipFill>
        </p:spPr>
        <p:txBody>
          <a:bodyPr/>
          <a:lstStyle/>
          <a:p>
            <a:endParaRPr lang="es-GT"/>
          </a:p>
        </p:txBody>
      </p:sp>
      <p:sp>
        <p:nvSpPr>
          <p:cNvPr id="13" name="Freeform 13"/>
          <p:cNvSpPr/>
          <p:nvPr/>
        </p:nvSpPr>
        <p:spPr>
          <a:xfrm>
            <a:off x="1712709" y="8658520"/>
            <a:ext cx="171450" cy="165097"/>
          </a:xfrm>
          <a:custGeom>
            <a:avLst/>
            <a:gdLst/>
            <a:ahLst/>
            <a:cxnLst/>
            <a:rect l="l" t="t" r="r" b="b"/>
            <a:pathLst>
              <a:path w="171450" h="165097">
                <a:moveTo>
                  <a:pt x="0" y="0"/>
                </a:moveTo>
                <a:lnTo>
                  <a:pt x="171450" y="0"/>
                </a:lnTo>
                <a:lnTo>
                  <a:pt x="171450" y="165097"/>
                </a:lnTo>
                <a:lnTo>
                  <a:pt x="0" y="165097"/>
                </a:lnTo>
                <a:lnTo>
                  <a:pt x="0" y="0"/>
                </a:lnTo>
                <a:close/>
              </a:path>
            </a:pathLst>
          </a:custGeom>
          <a:blipFill>
            <a:blip r:embed="rId6"/>
            <a:stretch>
              <a:fillRect/>
            </a:stretch>
          </a:blipFill>
        </p:spPr>
        <p:txBody>
          <a:bodyPr/>
          <a:lstStyle/>
          <a:p>
            <a:endParaRPr lang="es-GT"/>
          </a:p>
        </p:txBody>
      </p:sp>
      <p:sp>
        <p:nvSpPr>
          <p:cNvPr id="14" name="Freeform 14"/>
          <p:cNvSpPr/>
          <p:nvPr/>
        </p:nvSpPr>
        <p:spPr>
          <a:xfrm>
            <a:off x="1712709" y="9399299"/>
            <a:ext cx="171450" cy="165097"/>
          </a:xfrm>
          <a:custGeom>
            <a:avLst/>
            <a:gdLst/>
            <a:ahLst/>
            <a:cxnLst/>
            <a:rect l="l" t="t" r="r" b="b"/>
            <a:pathLst>
              <a:path w="171450" h="165097">
                <a:moveTo>
                  <a:pt x="0" y="0"/>
                </a:moveTo>
                <a:lnTo>
                  <a:pt x="171450" y="0"/>
                </a:lnTo>
                <a:lnTo>
                  <a:pt x="171450" y="165096"/>
                </a:lnTo>
                <a:lnTo>
                  <a:pt x="0" y="165096"/>
                </a:lnTo>
                <a:lnTo>
                  <a:pt x="0" y="0"/>
                </a:lnTo>
                <a:close/>
              </a:path>
            </a:pathLst>
          </a:custGeom>
          <a:blipFill>
            <a:blip r:embed="rId6"/>
            <a:stretch>
              <a:fillRect/>
            </a:stretch>
          </a:blipFill>
        </p:spPr>
        <p:txBody>
          <a:bodyPr/>
          <a:lstStyle/>
          <a:p>
            <a:endParaRPr lang="es-GT"/>
          </a:p>
        </p:txBody>
      </p:sp>
      <p:sp>
        <p:nvSpPr>
          <p:cNvPr id="15" name="Freeform 15"/>
          <p:cNvSpPr/>
          <p:nvPr/>
        </p:nvSpPr>
        <p:spPr>
          <a:xfrm>
            <a:off x="1511189" y="4145746"/>
            <a:ext cx="7573159" cy="4773911"/>
          </a:xfrm>
          <a:custGeom>
            <a:avLst/>
            <a:gdLst/>
            <a:ahLst/>
            <a:cxnLst/>
            <a:rect l="l" t="t" r="r" b="b"/>
            <a:pathLst>
              <a:path w="7573159" h="4773911">
                <a:moveTo>
                  <a:pt x="0" y="0"/>
                </a:moveTo>
                <a:lnTo>
                  <a:pt x="7573159" y="0"/>
                </a:lnTo>
                <a:lnTo>
                  <a:pt x="7573159" y="4773912"/>
                </a:lnTo>
                <a:lnTo>
                  <a:pt x="0" y="4773912"/>
                </a:lnTo>
                <a:lnTo>
                  <a:pt x="0" y="0"/>
                </a:lnTo>
                <a:close/>
              </a:path>
            </a:pathLst>
          </a:custGeom>
          <a:blipFill>
            <a:blip r:embed="rId7"/>
            <a:stretch>
              <a:fillRect/>
            </a:stretch>
          </a:blipFill>
        </p:spPr>
        <p:txBody>
          <a:bodyPr/>
          <a:lstStyle/>
          <a:p>
            <a:endParaRPr lang="es-GT"/>
          </a:p>
        </p:txBody>
      </p:sp>
      <p:sp>
        <p:nvSpPr>
          <p:cNvPr id="16" name="TextBox 16"/>
          <p:cNvSpPr txBox="1"/>
          <p:nvPr/>
        </p:nvSpPr>
        <p:spPr>
          <a:xfrm>
            <a:off x="10325228" y="1189983"/>
            <a:ext cx="6299504" cy="2306194"/>
          </a:xfrm>
          <a:prstGeom prst="rect">
            <a:avLst/>
          </a:prstGeom>
        </p:spPr>
        <p:txBody>
          <a:bodyPr lIns="0" tIns="0" rIns="0" bIns="0" rtlCol="0" anchor="t">
            <a:spAutoFit/>
          </a:bodyPr>
          <a:lstStyle/>
          <a:p>
            <a:pPr algn="just">
              <a:lnSpc>
                <a:spcPts val="3725"/>
              </a:lnSpc>
            </a:pPr>
            <a:r>
              <a:rPr lang="en-US" sz="2299">
                <a:solidFill>
                  <a:srgbClr val="000000"/>
                </a:solidFill>
                <a:latin typeface="Open Sans"/>
                <a:ea typeface="Open Sans"/>
                <a:cs typeface="Open Sans"/>
                <a:sym typeface="Open Sans"/>
              </a:rPr>
              <a:t>En C#, una variable es un nombre que hace referencia a un espacio en memoria donde se almacena un dato.</a:t>
            </a:r>
          </a:p>
          <a:p>
            <a:pPr algn="just">
              <a:lnSpc>
                <a:spcPts val="3725"/>
              </a:lnSpc>
            </a:pPr>
            <a:r>
              <a:rPr lang="en-US" sz="2299">
                <a:solidFill>
                  <a:srgbClr val="000000"/>
                </a:solidFill>
                <a:latin typeface="Open Sans"/>
                <a:ea typeface="Open Sans"/>
                <a:cs typeface="Open Sans"/>
                <a:sym typeface="Open Sans"/>
              </a:rPr>
              <a:t> Antes de usar una variable, se debe declarar su tipo (por ejemplo: int, double, string, bool).</a:t>
            </a:r>
          </a:p>
        </p:txBody>
      </p:sp>
      <p:sp>
        <p:nvSpPr>
          <p:cNvPr id="17" name="TextBox 17"/>
          <p:cNvSpPr txBox="1"/>
          <p:nvPr/>
        </p:nvSpPr>
        <p:spPr>
          <a:xfrm>
            <a:off x="10454251" y="4119486"/>
            <a:ext cx="6041457" cy="2116836"/>
          </a:xfrm>
          <a:prstGeom prst="rect">
            <a:avLst/>
          </a:prstGeom>
        </p:spPr>
        <p:txBody>
          <a:bodyPr lIns="0" tIns="0" rIns="0" bIns="0" rtlCol="0" anchor="t">
            <a:spAutoFit/>
          </a:bodyPr>
          <a:lstStyle/>
          <a:p>
            <a:pPr algn="just">
              <a:lnSpc>
                <a:spcPts val="3401"/>
              </a:lnSpc>
            </a:pPr>
            <a:r>
              <a:rPr lang="en-US" sz="2099">
                <a:solidFill>
                  <a:srgbClr val="000000"/>
                </a:solidFill>
                <a:latin typeface="Open Sans"/>
                <a:ea typeface="Open Sans"/>
                <a:cs typeface="Open Sans"/>
                <a:sym typeface="Open Sans"/>
              </a:rPr>
              <a:t>En C#, una expresión es una combinación de valores, variables, operadores y/o llamadas a métodos que se evalúa para producir un resultado. Es cualquier fragmento de código que devuelve un valor.</a:t>
            </a:r>
          </a:p>
        </p:txBody>
      </p:sp>
      <p:sp>
        <p:nvSpPr>
          <p:cNvPr id="18" name="TextBox 18"/>
          <p:cNvSpPr txBox="1"/>
          <p:nvPr/>
        </p:nvSpPr>
        <p:spPr>
          <a:xfrm>
            <a:off x="10454251" y="6777506"/>
            <a:ext cx="6277613" cy="2436495"/>
          </a:xfrm>
          <a:prstGeom prst="rect">
            <a:avLst/>
          </a:prstGeom>
        </p:spPr>
        <p:txBody>
          <a:bodyPr lIns="0" tIns="0" rIns="0" bIns="0" rtlCol="0" anchor="t">
            <a:spAutoFit/>
          </a:bodyPr>
          <a:lstStyle/>
          <a:p>
            <a:pPr algn="just">
              <a:lnSpc>
                <a:spcPts val="3239"/>
              </a:lnSpc>
            </a:pPr>
            <a:r>
              <a:rPr lang="en-US" sz="1999">
                <a:solidFill>
                  <a:srgbClr val="000000"/>
                </a:solidFill>
                <a:latin typeface="Open Sans"/>
                <a:ea typeface="Open Sans"/>
                <a:cs typeface="Open Sans"/>
                <a:sym typeface="Open Sans"/>
              </a:rPr>
              <a:t>En C#, una sentencia es una instrucción completa que realiza una acción. Las sentencias indican al programa qué hacer: declarar variables, asignar valores, mostrar datos, tomar decisiones, entre otras. A diferencia de las expresiones, las sentencias no producen directamente un valor reutilizable.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3367423" y="4689870"/>
            <a:ext cx="5554517" cy="4568430"/>
          </a:xfrm>
          <a:custGeom>
            <a:avLst/>
            <a:gdLst/>
            <a:ahLst/>
            <a:cxnLst/>
            <a:rect l="l" t="t" r="r" b="b"/>
            <a:pathLst>
              <a:path w="5554517" h="4568430">
                <a:moveTo>
                  <a:pt x="0" y="0"/>
                </a:moveTo>
                <a:lnTo>
                  <a:pt x="5554517" y="0"/>
                </a:lnTo>
                <a:lnTo>
                  <a:pt x="5554517" y="4568430"/>
                </a:lnTo>
                <a:lnTo>
                  <a:pt x="0" y="4568430"/>
                </a:lnTo>
                <a:lnTo>
                  <a:pt x="0" y="0"/>
                </a:lnTo>
                <a:close/>
              </a:path>
            </a:pathLst>
          </a:custGeom>
          <a:blipFill>
            <a:blip r:embed="rId16"/>
            <a:stretch>
              <a:fillRect/>
            </a:stretch>
          </a:blipFill>
        </p:spPr>
        <p:txBody>
          <a:bodyPr/>
          <a:lstStyle/>
          <a:p>
            <a:endParaRPr lang="es-GT"/>
          </a:p>
        </p:txBody>
      </p:sp>
      <p:sp>
        <p:nvSpPr>
          <p:cNvPr id="17" name="Freeform 17"/>
          <p:cNvSpPr/>
          <p:nvPr/>
        </p:nvSpPr>
        <p:spPr>
          <a:xfrm>
            <a:off x="10138934" y="3689033"/>
            <a:ext cx="5770832" cy="5574546"/>
          </a:xfrm>
          <a:custGeom>
            <a:avLst/>
            <a:gdLst/>
            <a:ahLst/>
            <a:cxnLst/>
            <a:rect l="l" t="t" r="r" b="b"/>
            <a:pathLst>
              <a:path w="5770832" h="5574546">
                <a:moveTo>
                  <a:pt x="0" y="0"/>
                </a:moveTo>
                <a:lnTo>
                  <a:pt x="5770832" y="0"/>
                </a:lnTo>
                <a:lnTo>
                  <a:pt x="5770832" y="5574545"/>
                </a:lnTo>
                <a:lnTo>
                  <a:pt x="0" y="5574545"/>
                </a:lnTo>
                <a:lnTo>
                  <a:pt x="0" y="0"/>
                </a:lnTo>
                <a:close/>
              </a:path>
            </a:pathLst>
          </a:custGeom>
          <a:blipFill>
            <a:blip r:embed="rId17"/>
            <a:stretch>
              <a:fillRect/>
            </a:stretch>
          </a:blipFill>
        </p:spPr>
        <p:txBody>
          <a:bodyPr/>
          <a:lstStyle/>
          <a:p>
            <a:endParaRPr lang="es-GT"/>
          </a:p>
        </p:txBody>
      </p:sp>
      <p:sp>
        <p:nvSpPr>
          <p:cNvPr id="18" name="TextBox 18"/>
          <p:cNvSpPr txBox="1"/>
          <p:nvPr/>
        </p:nvSpPr>
        <p:spPr>
          <a:xfrm>
            <a:off x="1678686" y="1618555"/>
            <a:ext cx="9493895" cy="752475"/>
          </a:xfrm>
          <a:prstGeom prst="rect">
            <a:avLst/>
          </a:prstGeom>
        </p:spPr>
        <p:txBody>
          <a:bodyPr lIns="0" tIns="0" rIns="0" bIns="0" rtlCol="0" anchor="t">
            <a:spAutoFit/>
          </a:bodyPr>
          <a:lstStyle/>
          <a:p>
            <a:pPr algn="l">
              <a:lnSpc>
                <a:spcPts val="5999"/>
              </a:lnSpc>
            </a:pPr>
            <a:r>
              <a:rPr lang="en-US" sz="4999" b="1" spc="-20">
                <a:solidFill>
                  <a:srgbClr val="000000"/>
                </a:solidFill>
                <a:latin typeface="Open Sans Bold"/>
                <a:ea typeface="Open Sans Bold"/>
                <a:cs typeface="Open Sans Bold"/>
                <a:sym typeface="Open Sans Bold"/>
              </a:rPr>
              <a:t>EJECUCIONES CONDICIONALES</a:t>
            </a:r>
          </a:p>
        </p:txBody>
      </p:sp>
      <p:sp>
        <p:nvSpPr>
          <p:cNvPr id="19" name="TextBox 19"/>
          <p:cNvSpPr txBox="1"/>
          <p:nvPr/>
        </p:nvSpPr>
        <p:spPr>
          <a:xfrm>
            <a:off x="1678686" y="2466280"/>
            <a:ext cx="15003656" cy="4010026"/>
          </a:xfrm>
          <a:prstGeom prst="rect">
            <a:avLst/>
          </a:prstGeom>
        </p:spPr>
        <p:txBody>
          <a:bodyPr lIns="0" tIns="0" rIns="0" bIns="0" rtlCol="0" anchor="t">
            <a:spAutoFit/>
          </a:bodyPr>
          <a:lstStyle/>
          <a:p>
            <a:pPr algn="just">
              <a:lnSpc>
                <a:spcPts val="4049"/>
              </a:lnSpc>
            </a:pPr>
            <a:r>
              <a:rPr lang="en-US" sz="2499">
                <a:solidFill>
                  <a:srgbClr val="000000"/>
                </a:solidFill>
                <a:latin typeface="Open Sans"/>
                <a:ea typeface="Open Sans"/>
                <a:cs typeface="Open Sans"/>
                <a:sym typeface="Open Sans"/>
              </a:rPr>
              <a:t>En C#, las estructuras condicionales se utilizan para tomar decisiones basadas en una condición. Permiten que el programa ejecute diferentes bloques de código según si una condición es verdadera o falsa.</a:t>
            </a:r>
          </a:p>
          <a:p>
            <a:pPr algn="just">
              <a:lnSpc>
                <a:spcPts val="4049"/>
              </a:lnSpc>
            </a:pPr>
            <a:r>
              <a:rPr lang="en-US" sz="2499">
                <a:solidFill>
                  <a:srgbClr val="000000"/>
                </a:solidFill>
                <a:latin typeface="Open Sans"/>
                <a:ea typeface="Open Sans"/>
                <a:cs typeface="Open Sans"/>
                <a:sym typeface="Open Sans"/>
              </a:rPr>
              <a:t>Las sentencias condicionales más comunes en C# son:</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if</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else if</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else</a:t>
            </a:r>
          </a:p>
          <a:p>
            <a:pPr algn="just">
              <a:lnSpc>
                <a:spcPts val="4049"/>
              </a:lnSpc>
            </a:pPr>
            <a:endParaRPr lang="en-US" sz="2499">
              <a:solidFill>
                <a:srgbClr val="000000"/>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1685427" y="4632534"/>
            <a:ext cx="6944284" cy="4467720"/>
          </a:xfrm>
          <a:custGeom>
            <a:avLst/>
            <a:gdLst/>
            <a:ahLst/>
            <a:cxnLst/>
            <a:rect l="l" t="t" r="r" b="b"/>
            <a:pathLst>
              <a:path w="6944284" h="4467720">
                <a:moveTo>
                  <a:pt x="0" y="0"/>
                </a:moveTo>
                <a:lnTo>
                  <a:pt x="6944283" y="0"/>
                </a:lnTo>
                <a:lnTo>
                  <a:pt x="6944283" y="4467720"/>
                </a:lnTo>
                <a:lnTo>
                  <a:pt x="0" y="4467720"/>
                </a:lnTo>
                <a:lnTo>
                  <a:pt x="0" y="0"/>
                </a:lnTo>
                <a:close/>
              </a:path>
            </a:pathLst>
          </a:custGeom>
          <a:blipFill>
            <a:blip r:embed="rId16"/>
            <a:stretch>
              <a:fillRect/>
            </a:stretch>
          </a:blipFill>
        </p:spPr>
        <p:txBody>
          <a:bodyPr/>
          <a:lstStyle/>
          <a:p>
            <a:endParaRPr lang="es-GT"/>
          </a:p>
        </p:txBody>
      </p:sp>
      <p:sp>
        <p:nvSpPr>
          <p:cNvPr id="17" name="Freeform 17"/>
          <p:cNvSpPr/>
          <p:nvPr/>
        </p:nvSpPr>
        <p:spPr>
          <a:xfrm>
            <a:off x="9824370" y="4632534"/>
            <a:ext cx="4909366" cy="5057834"/>
          </a:xfrm>
          <a:custGeom>
            <a:avLst/>
            <a:gdLst/>
            <a:ahLst/>
            <a:cxnLst/>
            <a:rect l="l" t="t" r="r" b="b"/>
            <a:pathLst>
              <a:path w="4909366" h="5057834">
                <a:moveTo>
                  <a:pt x="0" y="0"/>
                </a:moveTo>
                <a:lnTo>
                  <a:pt x="4909365" y="0"/>
                </a:lnTo>
                <a:lnTo>
                  <a:pt x="4909365" y="5057834"/>
                </a:lnTo>
                <a:lnTo>
                  <a:pt x="0" y="5057834"/>
                </a:lnTo>
                <a:lnTo>
                  <a:pt x="0" y="0"/>
                </a:lnTo>
                <a:close/>
              </a:path>
            </a:pathLst>
          </a:custGeom>
          <a:blipFill>
            <a:blip r:embed="rId17"/>
            <a:stretch>
              <a:fillRect/>
            </a:stretch>
          </a:blipFill>
        </p:spPr>
        <p:txBody>
          <a:bodyPr/>
          <a:lstStyle/>
          <a:p>
            <a:endParaRPr lang="es-GT"/>
          </a:p>
        </p:txBody>
      </p:sp>
      <p:sp>
        <p:nvSpPr>
          <p:cNvPr id="18" name="TextBox 18"/>
          <p:cNvSpPr txBox="1"/>
          <p:nvPr/>
        </p:nvSpPr>
        <p:spPr>
          <a:xfrm>
            <a:off x="7935664" y="1292790"/>
            <a:ext cx="3722936" cy="752475"/>
          </a:xfrm>
          <a:prstGeom prst="rect">
            <a:avLst/>
          </a:prstGeom>
        </p:spPr>
        <p:txBody>
          <a:bodyPr wrap="square" lIns="0" tIns="0" rIns="0" bIns="0" rtlCol="0" anchor="t">
            <a:spAutoFit/>
          </a:bodyPr>
          <a:lstStyle/>
          <a:p>
            <a:pPr algn="l">
              <a:lnSpc>
                <a:spcPts val="5999"/>
              </a:lnSpc>
            </a:pPr>
            <a:r>
              <a:rPr lang="en-US" sz="4999" b="1" spc="-20" dirty="0">
                <a:solidFill>
                  <a:srgbClr val="000000"/>
                </a:solidFill>
                <a:latin typeface="Open Sans Bold"/>
                <a:ea typeface="Open Sans Bold"/>
                <a:cs typeface="Open Sans Bold"/>
                <a:sym typeface="Open Sans Bold"/>
              </a:rPr>
              <a:t>SWITCH</a:t>
            </a:r>
          </a:p>
        </p:txBody>
      </p:sp>
      <p:sp>
        <p:nvSpPr>
          <p:cNvPr id="19" name="TextBox 19"/>
          <p:cNvSpPr txBox="1"/>
          <p:nvPr/>
        </p:nvSpPr>
        <p:spPr>
          <a:xfrm>
            <a:off x="1280808" y="1978937"/>
            <a:ext cx="15587921" cy="2495551"/>
          </a:xfrm>
          <a:prstGeom prst="rect">
            <a:avLst/>
          </a:prstGeom>
        </p:spPr>
        <p:txBody>
          <a:bodyPr lIns="0" tIns="0" rIns="0" bIns="0" rtlCol="0" anchor="t">
            <a:spAutoFit/>
          </a:bodyPr>
          <a:lstStyle/>
          <a:p>
            <a:pPr algn="just">
              <a:lnSpc>
                <a:spcPts val="4049"/>
              </a:lnSpc>
            </a:pPr>
            <a:r>
              <a:rPr lang="en-US" sz="2499">
                <a:solidFill>
                  <a:srgbClr val="000000"/>
                </a:solidFill>
                <a:latin typeface="Open Sans"/>
                <a:ea typeface="Open Sans"/>
                <a:cs typeface="Open Sans"/>
                <a:sym typeface="Open Sans"/>
              </a:rPr>
              <a:t>En C#, la estructura switch permite ejecutar diferentes bloques de código según el valor de una variable o una expresión. Funciona como una forma clara y ordenada de manejar múltiples casos posibles.</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Cada caso (case) define un valor específico. Si el valor evaluado coincide con un caso, se ejecuta el bloque de código correspondiente.</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También puede existir un caso por defecto (default) que se ejecuta cuando ningún caso coincide.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10872812" y="3622590"/>
            <a:ext cx="4765943" cy="5623309"/>
          </a:xfrm>
          <a:custGeom>
            <a:avLst/>
            <a:gdLst/>
            <a:ahLst/>
            <a:cxnLst/>
            <a:rect l="l" t="t" r="r" b="b"/>
            <a:pathLst>
              <a:path w="4765943" h="5623309">
                <a:moveTo>
                  <a:pt x="0" y="0"/>
                </a:moveTo>
                <a:lnTo>
                  <a:pt x="4765943" y="0"/>
                </a:lnTo>
                <a:lnTo>
                  <a:pt x="4765943" y="5623308"/>
                </a:lnTo>
                <a:lnTo>
                  <a:pt x="0" y="5623308"/>
                </a:lnTo>
                <a:lnTo>
                  <a:pt x="0" y="0"/>
                </a:lnTo>
                <a:close/>
              </a:path>
            </a:pathLst>
          </a:custGeom>
          <a:blipFill>
            <a:blip r:embed="rId16"/>
            <a:stretch>
              <a:fillRect/>
            </a:stretch>
          </a:blipFill>
        </p:spPr>
        <p:txBody>
          <a:bodyPr/>
          <a:lstStyle/>
          <a:p>
            <a:endParaRPr lang="es-GT"/>
          </a:p>
        </p:txBody>
      </p:sp>
      <p:sp>
        <p:nvSpPr>
          <p:cNvPr id="17" name="TextBox 17"/>
          <p:cNvSpPr txBox="1"/>
          <p:nvPr/>
        </p:nvSpPr>
        <p:spPr>
          <a:xfrm>
            <a:off x="1280808" y="1038463"/>
            <a:ext cx="15025364" cy="752475"/>
          </a:xfrm>
          <a:prstGeom prst="rect">
            <a:avLst/>
          </a:prstGeom>
        </p:spPr>
        <p:txBody>
          <a:bodyPr lIns="0" tIns="0" rIns="0" bIns="0" rtlCol="0" anchor="t">
            <a:spAutoFit/>
          </a:bodyPr>
          <a:lstStyle/>
          <a:p>
            <a:pPr algn="l">
              <a:lnSpc>
                <a:spcPts val="5999"/>
              </a:lnSpc>
            </a:pPr>
            <a:r>
              <a:rPr lang="en-US" sz="4999" b="1" spc="-20">
                <a:solidFill>
                  <a:srgbClr val="000000"/>
                </a:solidFill>
                <a:latin typeface="Open Sans Bold"/>
                <a:ea typeface="Open Sans Bold"/>
                <a:cs typeface="Open Sans Bold"/>
                <a:sym typeface="Open Sans Bold"/>
              </a:rPr>
              <a:t>FUNCIONES</a:t>
            </a:r>
          </a:p>
        </p:txBody>
      </p:sp>
      <p:sp>
        <p:nvSpPr>
          <p:cNvPr id="18" name="TextBox 18"/>
          <p:cNvSpPr txBox="1"/>
          <p:nvPr/>
        </p:nvSpPr>
        <p:spPr>
          <a:xfrm>
            <a:off x="1465476" y="2157565"/>
            <a:ext cx="15357049" cy="1485901"/>
          </a:xfrm>
          <a:prstGeom prst="rect">
            <a:avLst/>
          </a:prstGeom>
        </p:spPr>
        <p:txBody>
          <a:bodyPr lIns="0" tIns="0" rIns="0" bIns="0" rtlCol="0" anchor="t">
            <a:spAutoFit/>
          </a:bodyPr>
          <a:lstStyle/>
          <a:p>
            <a:pPr algn="just">
              <a:lnSpc>
                <a:spcPts val="4049"/>
              </a:lnSpc>
            </a:pPr>
            <a:r>
              <a:rPr lang="en-US" sz="2499">
                <a:solidFill>
                  <a:srgbClr val="000000"/>
                </a:solidFill>
                <a:latin typeface="Open Sans"/>
                <a:ea typeface="Open Sans"/>
                <a:cs typeface="Open Sans"/>
                <a:sym typeface="Open Sans"/>
              </a:rPr>
              <a:t>En C#, una función (o método) es un bloque de código reutilizable que realiza una tarea específica.</a:t>
            </a:r>
          </a:p>
          <a:p>
            <a:pPr algn="just">
              <a:lnSpc>
                <a:spcPts val="4049"/>
              </a:lnSpc>
            </a:pPr>
            <a:r>
              <a:rPr lang="en-US" sz="2499">
                <a:solidFill>
                  <a:srgbClr val="000000"/>
                </a:solidFill>
                <a:latin typeface="Open Sans"/>
                <a:ea typeface="Open Sans"/>
                <a:cs typeface="Open Sans"/>
                <a:sym typeface="Open Sans"/>
              </a:rPr>
              <a:t>Puede recibir cero o más parámetros como entrada, ejecutar operaciones con ellos y devolver un resultado o no, según su tipo de retorno.</a:t>
            </a:r>
          </a:p>
        </p:txBody>
      </p:sp>
      <p:sp>
        <p:nvSpPr>
          <p:cNvPr id="19" name="TextBox 19"/>
          <p:cNvSpPr txBox="1"/>
          <p:nvPr/>
        </p:nvSpPr>
        <p:spPr>
          <a:xfrm>
            <a:off x="1465476" y="4194543"/>
            <a:ext cx="8849260" cy="4010026"/>
          </a:xfrm>
          <a:prstGeom prst="rect">
            <a:avLst/>
          </a:prstGeom>
        </p:spPr>
        <p:txBody>
          <a:bodyPr lIns="0" tIns="0" rIns="0" bIns="0" rtlCol="0" anchor="t">
            <a:spAutoFit/>
          </a:bodyPr>
          <a:lstStyle/>
          <a:p>
            <a:pPr marL="0" lvl="0" indent="0" algn="just">
              <a:lnSpc>
                <a:spcPts val="4049"/>
              </a:lnSpc>
              <a:spcBef>
                <a:spcPct val="0"/>
              </a:spcBef>
            </a:pPr>
            <a:r>
              <a:rPr lang="en-US" sz="2499" u="none" strike="noStrike">
                <a:solidFill>
                  <a:srgbClr val="000000"/>
                </a:solidFill>
                <a:latin typeface="Open Sans"/>
                <a:ea typeface="Open Sans"/>
                <a:cs typeface="Open Sans"/>
                <a:sym typeface="Open Sans"/>
              </a:rPr>
              <a:t>En C#, la palabra clave static indica que un método o variable pertenece a la clase y no a un objeto específico de esa clase. Esto significa que puede usarse directamente sin crear una instancia de la clase. Se utiliza, por ejemplo, en el método Main porque el programa comienza a ejecutarse sin que exista ningún objeto creado. También se usa en métodos auxiliares que se quieren llamar de forma directa desde otros métodos estáticos.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9413488" y="1790938"/>
            <a:ext cx="8219831" cy="7338248"/>
          </a:xfrm>
          <a:custGeom>
            <a:avLst/>
            <a:gdLst/>
            <a:ahLst/>
            <a:cxnLst/>
            <a:rect l="l" t="t" r="r" b="b"/>
            <a:pathLst>
              <a:path w="8219831" h="7338248">
                <a:moveTo>
                  <a:pt x="0" y="0"/>
                </a:moveTo>
                <a:lnTo>
                  <a:pt x="8219830" y="0"/>
                </a:lnTo>
                <a:lnTo>
                  <a:pt x="8219830" y="7338248"/>
                </a:lnTo>
                <a:lnTo>
                  <a:pt x="0" y="7338248"/>
                </a:lnTo>
                <a:lnTo>
                  <a:pt x="0" y="0"/>
                </a:lnTo>
                <a:close/>
              </a:path>
            </a:pathLst>
          </a:custGeom>
          <a:blipFill>
            <a:blip r:embed="rId16"/>
            <a:stretch>
              <a:fillRect/>
            </a:stretch>
          </a:blipFill>
        </p:spPr>
        <p:txBody>
          <a:bodyPr/>
          <a:lstStyle/>
          <a:p>
            <a:endParaRPr lang="es-GT"/>
          </a:p>
        </p:txBody>
      </p:sp>
      <p:sp>
        <p:nvSpPr>
          <p:cNvPr id="17" name="TextBox 17"/>
          <p:cNvSpPr txBox="1"/>
          <p:nvPr/>
        </p:nvSpPr>
        <p:spPr>
          <a:xfrm>
            <a:off x="1280808" y="1038463"/>
            <a:ext cx="15025364" cy="752475"/>
          </a:xfrm>
          <a:prstGeom prst="rect">
            <a:avLst/>
          </a:prstGeom>
        </p:spPr>
        <p:txBody>
          <a:bodyPr lIns="0" tIns="0" rIns="0" bIns="0" rtlCol="0" anchor="t">
            <a:spAutoFit/>
          </a:bodyPr>
          <a:lstStyle/>
          <a:p>
            <a:pPr algn="l">
              <a:lnSpc>
                <a:spcPts val="5999"/>
              </a:lnSpc>
            </a:pPr>
            <a:r>
              <a:rPr lang="en-US" sz="4999" b="1" spc="-20">
                <a:solidFill>
                  <a:srgbClr val="000000"/>
                </a:solidFill>
                <a:latin typeface="Open Sans Bold"/>
                <a:ea typeface="Open Sans Bold"/>
                <a:cs typeface="Open Sans Bold"/>
                <a:sym typeface="Open Sans Bold"/>
              </a:rPr>
              <a:t>TIPO DE FUNCIONES</a:t>
            </a:r>
          </a:p>
        </p:txBody>
      </p:sp>
      <p:sp>
        <p:nvSpPr>
          <p:cNvPr id="18" name="TextBox 18"/>
          <p:cNvSpPr txBox="1"/>
          <p:nvPr/>
        </p:nvSpPr>
        <p:spPr>
          <a:xfrm>
            <a:off x="1137732" y="2122874"/>
            <a:ext cx="7952804" cy="6534151"/>
          </a:xfrm>
          <a:prstGeom prst="rect">
            <a:avLst/>
          </a:prstGeom>
        </p:spPr>
        <p:txBody>
          <a:bodyPr lIns="0" tIns="0" rIns="0" bIns="0" rtlCol="0" anchor="t">
            <a:spAutoFit/>
          </a:bodyPr>
          <a:lstStyle/>
          <a:p>
            <a:pPr marL="539746" lvl="1" indent="-269873" algn="l">
              <a:lnSpc>
                <a:spcPts val="4049"/>
              </a:lnSpc>
              <a:buFont typeface="Arial"/>
              <a:buChar char="•"/>
            </a:pPr>
            <a:r>
              <a:rPr lang="en-US" sz="2499" b="1">
                <a:solidFill>
                  <a:srgbClr val="000000"/>
                </a:solidFill>
                <a:latin typeface="Open Sans Bold"/>
                <a:ea typeface="Open Sans Bold"/>
                <a:cs typeface="Open Sans Bold"/>
                <a:sym typeface="Open Sans Bold"/>
              </a:rPr>
              <a:t>Funciones predefinidas: </a:t>
            </a:r>
            <a:r>
              <a:rPr lang="en-US" sz="2499">
                <a:solidFill>
                  <a:srgbClr val="000000"/>
                </a:solidFill>
                <a:latin typeface="Open Sans"/>
                <a:ea typeface="Open Sans"/>
                <a:cs typeface="Open Sans"/>
                <a:sym typeface="Open Sans"/>
              </a:rPr>
              <a:t>Son las funciones que vienen incluidas en las bibliotecas de .NET y se usan para realizar tareas comunes como mostrar texto, cálculos matemáticos o manejar fechas.</a:t>
            </a:r>
          </a:p>
          <a:p>
            <a:pPr algn="l">
              <a:lnSpc>
                <a:spcPts val="4049"/>
              </a:lnSpc>
            </a:pPr>
            <a:endParaRPr lang="en-US" sz="2499">
              <a:solidFill>
                <a:srgbClr val="000000"/>
              </a:solidFill>
              <a:latin typeface="Open Sans"/>
              <a:ea typeface="Open Sans"/>
              <a:cs typeface="Open Sans"/>
              <a:sym typeface="Open Sans"/>
            </a:endParaRPr>
          </a:p>
          <a:p>
            <a:pPr marL="539746" lvl="1" indent="-269873" algn="l">
              <a:lnSpc>
                <a:spcPts val="4049"/>
              </a:lnSpc>
              <a:buFont typeface="Arial"/>
              <a:buChar char="•"/>
            </a:pPr>
            <a:r>
              <a:rPr lang="en-US" sz="2499" b="1">
                <a:solidFill>
                  <a:srgbClr val="000000"/>
                </a:solidFill>
                <a:latin typeface="Open Sans Bold"/>
                <a:ea typeface="Open Sans Bold"/>
                <a:cs typeface="Open Sans Bold"/>
                <a:sym typeface="Open Sans Bold"/>
              </a:rPr>
              <a:t>Funciones definidas por el usuario:</a:t>
            </a:r>
            <a:r>
              <a:rPr lang="en-US" sz="2499">
                <a:solidFill>
                  <a:srgbClr val="000000"/>
                </a:solidFill>
                <a:latin typeface="Open Sans"/>
                <a:ea typeface="Open Sans"/>
                <a:cs typeface="Open Sans"/>
                <a:sym typeface="Open Sans"/>
              </a:rPr>
              <a:t> Son las funciones que el programador crea según sus necesidades, indicando su tipo de retorno, nombre y parámetros.</a:t>
            </a:r>
          </a:p>
          <a:p>
            <a:pPr algn="l">
              <a:lnSpc>
                <a:spcPts val="4049"/>
              </a:lnSpc>
            </a:pPr>
            <a:endParaRPr lang="en-US" sz="2499">
              <a:solidFill>
                <a:srgbClr val="000000"/>
              </a:solidFill>
              <a:latin typeface="Open Sans"/>
              <a:ea typeface="Open Sans"/>
              <a:cs typeface="Open Sans"/>
              <a:sym typeface="Open Sans"/>
            </a:endParaRPr>
          </a:p>
          <a:p>
            <a:pPr marL="539746" lvl="1" indent="-269873" algn="l">
              <a:lnSpc>
                <a:spcPts val="4049"/>
              </a:lnSpc>
              <a:buFont typeface="Arial"/>
              <a:buChar char="•"/>
            </a:pPr>
            <a:r>
              <a:rPr lang="en-US" sz="2499" b="1">
                <a:solidFill>
                  <a:srgbClr val="000000"/>
                </a:solidFill>
                <a:latin typeface="Open Sans Bold"/>
                <a:ea typeface="Open Sans Bold"/>
                <a:cs typeface="Open Sans Bold"/>
                <a:sym typeface="Open Sans Bold"/>
              </a:rPr>
              <a:t>Funciones lambda:</a:t>
            </a:r>
            <a:r>
              <a:rPr lang="en-US" sz="2499">
                <a:solidFill>
                  <a:srgbClr val="000000"/>
                </a:solidFill>
                <a:latin typeface="Open Sans"/>
                <a:ea typeface="Open Sans"/>
                <a:cs typeface="Open Sans"/>
                <a:sym typeface="Open Sans"/>
              </a:rPr>
              <a:t> Son funciones pequeñas y anónimas que se definen en una sola línea usando =&gt; y se usan para operaciones rápidas.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4"/>
            <a:stretch>
              <a:fillRect t="-210" b="-210"/>
            </a:stretch>
          </a:blipFill>
        </p:spPr>
        <p:txBody>
          <a:bodyPr/>
          <a:lstStyle/>
          <a:p>
            <a:endParaRPr lang="es-GT"/>
          </a:p>
        </p:txBody>
      </p:sp>
      <p:sp>
        <p:nvSpPr>
          <p:cNvPr id="5" name="Freeform 5"/>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5"/>
            <a:stretch>
              <a:fillRect t="-820" b="-820"/>
            </a:stretch>
          </a:blipFill>
        </p:spPr>
        <p:txBody>
          <a:bodyPr/>
          <a:lstStyle/>
          <a:p>
            <a:endParaRPr lang="es-GT"/>
          </a:p>
        </p:txBody>
      </p:sp>
      <p:sp>
        <p:nvSpPr>
          <p:cNvPr id="6" name="Freeform 6"/>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6"/>
            <a:stretch>
              <a:fillRect t="-426" b="-426"/>
            </a:stretch>
          </a:blipFill>
        </p:spPr>
        <p:txBody>
          <a:bodyPr/>
          <a:lstStyle/>
          <a:p>
            <a:endParaRPr lang="es-GT"/>
          </a:p>
        </p:txBody>
      </p:sp>
      <p:sp>
        <p:nvSpPr>
          <p:cNvPr id="7" name="Freeform 7"/>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7"/>
            <a:stretch>
              <a:fillRect l="-26" r="-26"/>
            </a:stretch>
          </a:blipFill>
        </p:spPr>
        <p:txBody>
          <a:bodyPr/>
          <a:lstStyle/>
          <a:p>
            <a:endParaRPr lang="es-GT"/>
          </a:p>
        </p:txBody>
      </p:sp>
      <p:sp>
        <p:nvSpPr>
          <p:cNvPr id="8" name="Freeform 8"/>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8"/>
            <a:stretch>
              <a:fillRect t="-199" b="-200"/>
            </a:stretch>
          </a:blipFill>
        </p:spPr>
        <p:txBody>
          <a:bodyPr/>
          <a:lstStyle/>
          <a:p>
            <a:endParaRPr lang="es-GT"/>
          </a:p>
        </p:txBody>
      </p:sp>
      <p:sp>
        <p:nvSpPr>
          <p:cNvPr id="9" name="Freeform 9"/>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9"/>
            <a:stretch>
              <a:fillRect l="-51" r="-50"/>
            </a:stretch>
          </a:blipFill>
        </p:spPr>
        <p:txBody>
          <a:bodyPr/>
          <a:lstStyle/>
          <a:p>
            <a:endParaRPr lang="es-GT"/>
          </a:p>
        </p:txBody>
      </p:sp>
      <p:sp>
        <p:nvSpPr>
          <p:cNvPr id="10" name="Freeform 10"/>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0"/>
            <a:stretch>
              <a:fillRect t="-31" b="-31"/>
            </a:stretch>
          </a:blipFill>
        </p:spPr>
        <p:txBody>
          <a:bodyPr/>
          <a:lstStyle/>
          <a:p>
            <a:endParaRPr lang="es-GT"/>
          </a:p>
        </p:txBody>
      </p:sp>
      <p:sp>
        <p:nvSpPr>
          <p:cNvPr id="11" name="Freeform 11"/>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1"/>
            <a:stretch>
              <a:fillRect t="-83" b="-83"/>
            </a:stretch>
          </a:blipFill>
        </p:spPr>
        <p:txBody>
          <a:bodyPr/>
          <a:lstStyle/>
          <a:p>
            <a:endParaRPr lang="es-GT"/>
          </a:p>
        </p:txBody>
      </p:sp>
      <p:sp>
        <p:nvSpPr>
          <p:cNvPr id="12" name="Freeform 12"/>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2"/>
            <a:stretch>
              <a:fillRect t="-3040" b="-3040"/>
            </a:stretch>
          </a:blipFill>
        </p:spPr>
        <p:txBody>
          <a:bodyPr/>
          <a:lstStyle/>
          <a:p>
            <a:endParaRPr lang="es-GT"/>
          </a:p>
        </p:txBody>
      </p:sp>
      <p:sp>
        <p:nvSpPr>
          <p:cNvPr id="13" name="TextBox 13"/>
          <p:cNvSpPr txBox="1"/>
          <p:nvPr/>
        </p:nvSpPr>
        <p:spPr>
          <a:xfrm>
            <a:off x="1345584" y="2561568"/>
            <a:ext cx="7798416" cy="6758560"/>
          </a:xfrm>
          <a:prstGeom prst="rect">
            <a:avLst/>
          </a:prstGeom>
        </p:spPr>
        <p:txBody>
          <a:bodyPr lIns="0" tIns="0" rIns="0" bIns="0" rtlCol="0" anchor="t">
            <a:spAutoFit/>
          </a:bodyPr>
          <a:lstStyle/>
          <a:p>
            <a:pPr marL="518157" lvl="1" indent="-259078" algn="just">
              <a:lnSpc>
                <a:spcPts val="3887"/>
              </a:lnSpc>
              <a:buFont typeface="Arial"/>
              <a:buChar char="•"/>
            </a:pPr>
            <a:r>
              <a:rPr lang="en-US" sz="2399" b="1" spc="-26">
                <a:solidFill>
                  <a:srgbClr val="000000"/>
                </a:solidFill>
                <a:latin typeface="Open Sans Bold"/>
                <a:ea typeface="Open Sans Bold"/>
                <a:cs typeface="Open Sans Bold"/>
                <a:sym typeface="Open Sans Bold"/>
              </a:rPr>
              <a:t>for:</a:t>
            </a:r>
            <a:r>
              <a:rPr lang="en-US" sz="2399" spc="-26">
                <a:solidFill>
                  <a:srgbClr val="000000"/>
                </a:solidFill>
                <a:latin typeface="Open Sans"/>
                <a:ea typeface="Open Sans"/>
                <a:cs typeface="Open Sans"/>
                <a:sym typeface="Open Sans"/>
              </a:rPr>
              <a:t> Permite ejecutar un bloque de instrucciones un número determinado de veces.</a:t>
            </a:r>
          </a:p>
          <a:p>
            <a:pPr algn="just">
              <a:lnSpc>
                <a:spcPts val="3887"/>
              </a:lnSpc>
            </a:pPr>
            <a:endParaRPr lang="en-US" sz="2399" spc="-26">
              <a:solidFill>
                <a:srgbClr val="000000"/>
              </a:solidFill>
              <a:latin typeface="Open Sans"/>
              <a:ea typeface="Open Sans"/>
              <a:cs typeface="Open Sans"/>
              <a:sym typeface="Open Sans"/>
            </a:endParaRPr>
          </a:p>
          <a:p>
            <a:pPr marL="518157" lvl="1" indent="-259078" algn="just">
              <a:lnSpc>
                <a:spcPts val="3887"/>
              </a:lnSpc>
              <a:buFont typeface="Arial"/>
              <a:buChar char="•"/>
            </a:pPr>
            <a:r>
              <a:rPr lang="en-US" sz="2399" b="1" spc="-26">
                <a:solidFill>
                  <a:srgbClr val="000000"/>
                </a:solidFill>
                <a:latin typeface="Open Sans Bold"/>
                <a:ea typeface="Open Sans Bold"/>
                <a:cs typeface="Open Sans Bold"/>
                <a:sym typeface="Open Sans Bold"/>
              </a:rPr>
              <a:t>while:</a:t>
            </a:r>
            <a:r>
              <a:rPr lang="en-US" sz="2399" spc="-26">
                <a:solidFill>
                  <a:srgbClr val="000000"/>
                </a:solidFill>
                <a:latin typeface="Open Sans"/>
                <a:ea typeface="Open Sans"/>
                <a:cs typeface="Open Sans"/>
                <a:sym typeface="Open Sans"/>
              </a:rPr>
              <a:t> Permite repetir una instrucción o bloque de instrucciones mientras se cumpla una condición.</a:t>
            </a:r>
          </a:p>
          <a:p>
            <a:pPr algn="just">
              <a:lnSpc>
                <a:spcPts val="3887"/>
              </a:lnSpc>
            </a:pPr>
            <a:endParaRPr lang="en-US" sz="2399" spc="-26">
              <a:solidFill>
                <a:srgbClr val="000000"/>
              </a:solidFill>
              <a:latin typeface="Open Sans"/>
              <a:ea typeface="Open Sans"/>
              <a:cs typeface="Open Sans"/>
              <a:sym typeface="Open Sans"/>
            </a:endParaRPr>
          </a:p>
          <a:p>
            <a:pPr marL="518157" lvl="1" indent="-259078" algn="just">
              <a:lnSpc>
                <a:spcPts val="3887"/>
              </a:lnSpc>
              <a:buFont typeface="Arial"/>
              <a:buChar char="•"/>
            </a:pPr>
            <a:r>
              <a:rPr lang="en-US" sz="2399" b="1" spc="-26">
                <a:solidFill>
                  <a:srgbClr val="000000"/>
                </a:solidFill>
                <a:latin typeface="Open Sans Bold"/>
                <a:ea typeface="Open Sans Bold"/>
                <a:cs typeface="Open Sans Bold"/>
                <a:sym typeface="Open Sans Bold"/>
              </a:rPr>
              <a:t>do-while: </a:t>
            </a:r>
            <a:r>
              <a:rPr lang="en-US" sz="2399" spc="-26">
                <a:solidFill>
                  <a:srgbClr val="000000"/>
                </a:solidFill>
                <a:latin typeface="Open Sans"/>
                <a:ea typeface="Open Sans"/>
                <a:cs typeface="Open Sans"/>
                <a:sym typeface="Open Sans"/>
              </a:rPr>
              <a:t>Permite ejecutar un bloque de instrucciones al menos una vez y luego repetirlo mientras se cumpla una condición.</a:t>
            </a:r>
          </a:p>
          <a:p>
            <a:pPr algn="just">
              <a:lnSpc>
                <a:spcPts val="3887"/>
              </a:lnSpc>
            </a:pPr>
            <a:endParaRPr lang="en-US" sz="2399" spc="-26">
              <a:solidFill>
                <a:srgbClr val="000000"/>
              </a:solidFill>
              <a:latin typeface="Open Sans"/>
              <a:ea typeface="Open Sans"/>
              <a:cs typeface="Open Sans"/>
              <a:sym typeface="Open Sans"/>
            </a:endParaRPr>
          </a:p>
          <a:p>
            <a:pPr marL="518157" lvl="1" indent="-259078" algn="just">
              <a:lnSpc>
                <a:spcPts val="3887"/>
              </a:lnSpc>
              <a:buFont typeface="Arial"/>
              <a:buChar char="•"/>
            </a:pPr>
            <a:r>
              <a:rPr lang="en-US" sz="2399" b="1" spc="-26">
                <a:solidFill>
                  <a:srgbClr val="000000"/>
                </a:solidFill>
                <a:latin typeface="Open Sans Bold"/>
                <a:ea typeface="Open Sans Bold"/>
                <a:cs typeface="Open Sans Bold"/>
                <a:sym typeface="Open Sans Bold"/>
              </a:rPr>
              <a:t>foreach:</a:t>
            </a:r>
            <a:r>
              <a:rPr lang="en-US" sz="2399" spc="-26">
                <a:solidFill>
                  <a:srgbClr val="000000"/>
                </a:solidFill>
                <a:latin typeface="Open Sans"/>
                <a:ea typeface="Open Sans"/>
                <a:cs typeface="Open Sans"/>
                <a:sym typeface="Open Sans"/>
              </a:rPr>
              <a:t> Permite recorrer automáticamente los elementos de una colección (arreglo, lista, etc.) uno por uno.</a:t>
            </a:r>
          </a:p>
          <a:p>
            <a:pPr algn="just">
              <a:lnSpc>
                <a:spcPts val="3887"/>
              </a:lnSpc>
            </a:pPr>
            <a:endParaRPr lang="en-US" sz="2399" spc="-26">
              <a:solidFill>
                <a:srgbClr val="000000"/>
              </a:solidFill>
              <a:latin typeface="Open Sans"/>
              <a:ea typeface="Open Sans"/>
              <a:cs typeface="Open Sans"/>
              <a:sym typeface="Open Sans"/>
            </a:endParaRPr>
          </a:p>
        </p:txBody>
      </p:sp>
      <p:sp>
        <p:nvSpPr>
          <p:cNvPr id="14" name="Freeform 14"/>
          <p:cNvSpPr/>
          <p:nvPr/>
        </p:nvSpPr>
        <p:spPr>
          <a:xfrm>
            <a:off x="10155855" y="1656693"/>
            <a:ext cx="4857514" cy="1809104"/>
          </a:xfrm>
          <a:custGeom>
            <a:avLst/>
            <a:gdLst/>
            <a:ahLst/>
            <a:cxnLst/>
            <a:rect l="l" t="t" r="r" b="b"/>
            <a:pathLst>
              <a:path w="4857514" h="1809104">
                <a:moveTo>
                  <a:pt x="0" y="0"/>
                </a:moveTo>
                <a:lnTo>
                  <a:pt x="4857514" y="0"/>
                </a:lnTo>
                <a:lnTo>
                  <a:pt x="4857514" y="1809103"/>
                </a:lnTo>
                <a:lnTo>
                  <a:pt x="0" y="1809103"/>
                </a:lnTo>
                <a:lnTo>
                  <a:pt x="0" y="0"/>
                </a:lnTo>
                <a:close/>
              </a:path>
            </a:pathLst>
          </a:custGeom>
          <a:blipFill>
            <a:blip r:embed="rId13"/>
            <a:stretch>
              <a:fillRect/>
            </a:stretch>
          </a:blipFill>
        </p:spPr>
        <p:txBody>
          <a:bodyPr/>
          <a:lstStyle/>
          <a:p>
            <a:endParaRPr lang="es-GT"/>
          </a:p>
        </p:txBody>
      </p:sp>
      <p:sp>
        <p:nvSpPr>
          <p:cNvPr id="15" name="Freeform 15"/>
          <p:cNvSpPr/>
          <p:nvPr/>
        </p:nvSpPr>
        <p:spPr>
          <a:xfrm>
            <a:off x="10154423" y="4063484"/>
            <a:ext cx="2946478" cy="2077927"/>
          </a:xfrm>
          <a:custGeom>
            <a:avLst/>
            <a:gdLst/>
            <a:ahLst/>
            <a:cxnLst/>
            <a:rect l="l" t="t" r="r" b="b"/>
            <a:pathLst>
              <a:path w="2946478" h="2077927">
                <a:moveTo>
                  <a:pt x="0" y="0"/>
                </a:moveTo>
                <a:lnTo>
                  <a:pt x="2946478" y="0"/>
                </a:lnTo>
                <a:lnTo>
                  <a:pt x="2946478" y="2077926"/>
                </a:lnTo>
                <a:lnTo>
                  <a:pt x="0" y="2077926"/>
                </a:lnTo>
                <a:lnTo>
                  <a:pt x="0" y="0"/>
                </a:lnTo>
                <a:close/>
              </a:path>
            </a:pathLst>
          </a:custGeom>
          <a:blipFill>
            <a:blip r:embed="rId14"/>
            <a:stretch>
              <a:fillRect/>
            </a:stretch>
          </a:blipFill>
        </p:spPr>
        <p:txBody>
          <a:bodyPr/>
          <a:lstStyle/>
          <a:p>
            <a:endParaRPr lang="es-GT"/>
          </a:p>
        </p:txBody>
      </p:sp>
      <p:sp>
        <p:nvSpPr>
          <p:cNvPr id="16" name="Freeform 16"/>
          <p:cNvSpPr/>
          <p:nvPr/>
        </p:nvSpPr>
        <p:spPr>
          <a:xfrm>
            <a:off x="13622595" y="4021280"/>
            <a:ext cx="2781548" cy="2162334"/>
          </a:xfrm>
          <a:custGeom>
            <a:avLst/>
            <a:gdLst/>
            <a:ahLst/>
            <a:cxnLst/>
            <a:rect l="l" t="t" r="r" b="b"/>
            <a:pathLst>
              <a:path w="2781548" h="2162334">
                <a:moveTo>
                  <a:pt x="0" y="0"/>
                </a:moveTo>
                <a:lnTo>
                  <a:pt x="2781549" y="0"/>
                </a:lnTo>
                <a:lnTo>
                  <a:pt x="2781549" y="2162334"/>
                </a:lnTo>
                <a:lnTo>
                  <a:pt x="0" y="2162334"/>
                </a:lnTo>
                <a:lnTo>
                  <a:pt x="0" y="0"/>
                </a:lnTo>
                <a:close/>
              </a:path>
            </a:pathLst>
          </a:custGeom>
          <a:blipFill>
            <a:blip r:embed="rId15"/>
            <a:stretch>
              <a:fillRect/>
            </a:stretch>
          </a:blipFill>
        </p:spPr>
        <p:txBody>
          <a:bodyPr/>
          <a:lstStyle/>
          <a:p>
            <a:endParaRPr lang="es-GT"/>
          </a:p>
        </p:txBody>
      </p:sp>
      <p:sp>
        <p:nvSpPr>
          <p:cNvPr id="17" name="Freeform 17"/>
          <p:cNvSpPr/>
          <p:nvPr/>
        </p:nvSpPr>
        <p:spPr>
          <a:xfrm>
            <a:off x="10155855" y="6739097"/>
            <a:ext cx="3793585" cy="2354639"/>
          </a:xfrm>
          <a:custGeom>
            <a:avLst/>
            <a:gdLst/>
            <a:ahLst/>
            <a:cxnLst/>
            <a:rect l="l" t="t" r="r" b="b"/>
            <a:pathLst>
              <a:path w="3793585" h="2354639">
                <a:moveTo>
                  <a:pt x="0" y="0"/>
                </a:moveTo>
                <a:lnTo>
                  <a:pt x="3793585" y="0"/>
                </a:lnTo>
                <a:lnTo>
                  <a:pt x="3793585" y="2354640"/>
                </a:lnTo>
                <a:lnTo>
                  <a:pt x="0" y="2354640"/>
                </a:lnTo>
                <a:lnTo>
                  <a:pt x="0" y="0"/>
                </a:lnTo>
                <a:close/>
              </a:path>
            </a:pathLst>
          </a:custGeom>
          <a:blipFill>
            <a:blip r:embed="rId16"/>
            <a:stretch>
              <a:fillRect/>
            </a:stretch>
          </a:blipFill>
        </p:spPr>
        <p:txBody>
          <a:bodyPr/>
          <a:lstStyle/>
          <a:p>
            <a:endParaRPr lang="es-GT"/>
          </a:p>
        </p:txBody>
      </p:sp>
      <p:sp>
        <p:nvSpPr>
          <p:cNvPr id="18" name="TextBox 18"/>
          <p:cNvSpPr txBox="1"/>
          <p:nvPr/>
        </p:nvSpPr>
        <p:spPr>
          <a:xfrm>
            <a:off x="1233488" y="1656693"/>
            <a:ext cx="4104680" cy="752475"/>
          </a:xfrm>
          <a:prstGeom prst="rect">
            <a:avLst/>
          </a:prstGeom>
        </p:spPr>
        <p:txBody>
          <a:bodyPr lIns="0" tIns="0" rIns="0" bIns="0" rtlCol="0" anchor="t">
            <a:spAutoFit/>
          </a:bodyPr>
          <a:lstStyle/>
          <a:p>
            <a:pPr algn="l">
              <a:lnSpc>
                <a:spcPts val="5999"/>
              </a:lnSpc>
            </a:pPr>
            <a:r>
              <a:rPr lang="en-US" sz="4999" b="1" spc="-20">
                <a:solidFill>
                  <a:srgbClr val="000000"/>
                </a:solidFill>
                <a:latin typeface="Open Sans Bold"/>
                <a:ea typeface="Open Sans Bold"/>
                <a:cs typeface="Open Sans Bold"/>
                <a:sym typeface="Open Sans Bold"/>
              </a:rPr>
              <a:t>ITERACIONES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2570550" y="6169345"/>
            <a:ext cx="6416233" cy="2745090"/>
          </a:xfrm>
          <a:custGeom>
            <a:avLst/>
            <a:gdLst/>
            <a:ahLst/>
            <a:cxnLst/>
            <a:rect l="l" t="t" r="r" b="b"/>
            <a:pathLst>
              <a:path w="6416233" h="2745090">
                <a:moveTo>
                  <a:pt x="0" y="0"/>
                </a:moveTo>
                <a:lnTo>
                  <a:pt x="6416233" y="0"/>
                </a:lnTo>
                <a:lnTo>
                  <a:pt x="6416233" y="2745090"/>
                </a:lnTo>
                <a:lnTo>
                  <a:pt x="0" y="2745090"/>
                </a:lnTo>
                <a:lnTo>
                  <a:pt x="0" y="0"/>
                </a:lnTo>
                <a:close/>
              </a:path>
            </a:pathLst>
          </a:custGeom>
          <a:blipFill>
            <a:blip r:embed="rId16"/>
            <a:stretch>
              <a:fillRect/>
            </a:stretch>
          </a:blipFill>
        </p:spPr>
        <p:txBody>
          <a:bodyPr/>
          <a:lstStyle/>
          <a:p>
            <a:endParaRPr lang="es-GT"/>
          </a:p>
        </p:txBody>
      </p:sp>
      <p:sp>
        <p:nvSpPr>
          <p:cNvPr id="17" name="TextBox 17"/>
          <p:cNvSpPr txBox="1"/>
          <p:nvPr/>
        </p:nvSpPr>
        <p:spPr>
          <a:xfrm>
            <a:off x="4831479" y="1510317"/>
            <a:ext cx="3470557" cy="752475"/>
          </a:xfrm>
          <a:prstGeom prst="rect">
            <a:avLst/>
          </a:prstGeom>
        </p:spPr>
        <p:txBody>
          <a:bodyPr wrap="square" lIns="0" tIns="0" rIns="0" bIns="0" rtlCol="0" anchor="t">
            <a:spAutoFit/>
          </a:bodyPr>
          <a:lstStyle/>
          <a:p>
            <a:pPr algn="l">
              <a:lnSpc>
                <a:spcPts val="5999"/>
              </a:lnSpc>
            </a:pPr>
            <a:r>
              <a:rPr lang="en-US" sz="4999" b="1" spc="-20" dirty="0">
                <a:solidFill>
                  <a:srgbClr val="000000"/>
                </a:solidFill>
                <a:latin typeface="Open Sans Bold"/>
                <a:ea typeface="Open Sans Bold"/>
                <a:cs typeface="Open Sans Bold"/>
                <a:sym typeface="Open Sans Bold"/>
              </a:rPr>
              <a:t>STRING</a:t>
            </a:r>
          </a:p>
        </p:txBody>
      </p:sp>
      <p:sp>
        <p:nvSpPr>
          <p:cNvPr id="18" name="TextBox 18"/>
          <p:cNvSpPr txBox="1"/>
          <p:nvPr/>
        </p:nvSpPr>
        <p:spPr>
          <a:xfrm>
            <a:off x="1619745" y="2266255"/>
            <a:ext cx="8625023" cy="3505201"/>
          </a:xfrm>
          <a:prstGeom prst="rect">
            <a:avLst/>
          </a:prstGeom>
        </p:spPr>
        <p:txBody>
          <a:bodyPr lIns="0" tIns="0" rIns="0" bIns="0" rtlCol="0" anchor="t">
            <a:spAutoFit/>
          </a:bodyPr>
          <a:lstStyle/>
          <a:p>
            <a:pPr algn="just">
              <a:lnSpc>
                <a:spcPts val="4049"/>
              </a:lnSpc>
            </a:pPr>
            <a:r>
              <a:rPr lang="en-US" sz="2499">
                <a:solidFill>
                  <a:srgbClr val="000000"/>
                </a:solidFill>
                <a:latin typeface="Open Sans"/>
                <a:ea typeface="Open Sans"/>
                <a:cs typeface="Open Sans"/>
                <a:sym typeface="Open Sans"/>
              </a:rPr>
              <a:t>Un string es una secuencia de caracteres utilizada para representar texto.</a:t>
            </a:r>
          </a:p>
          <a:p>
            <a:pPr algn="just">
              <a:lnSpc>
                <a:spcPts val="4049"/>
              </a:lnSpc>
            </a:pPr>
            <a:r>
              <a:rPr lang="en-US" sz="2499">
                <a:solidFill>
                  <a:srgbClr val="000000"/>
                </a:solidFill>
                <a:latin typeface="Open Sans"/>
                <a:ea typeface="Open Sans"/>
                <a:cs typeface="Open Sans"/>
                <a:sym typeface="Open Sans"/>
              </a:rPr>
              <a:t>En C#, los strings se definen usando comillas dobles (").</a:t>
            </a:r>
          </a:p>
          <a:p>
            <a:pPr algn="just">
              <a:lnSpc>
                <a:spcPts val="4049"/>
              </a:lnSpc>
            </a:pPr>
            <a:endParaRPr lang="en-US" sz="2499">
              <a:solidFill>
                <a:srgbClr val="000000"/>
              </a:solidFill>
              <a:latin typeface="Open Sans"/>
              <a:ea typeface="Open Sans"/>
              <a:cs typeface="Open Sans"/>
              <a:sym typeface="Open Sans"/>
            </a:endParaRPr>
          </a:p>
          <a:p>
            <a:pPr algn="just">
              <a:lnSpc>
                <a:spcPts val="4049"/>
              </a:lnSpc>
            </a:pPr>
            <a:r>
              <a:rPr lang="en-US" sz="2499">
                <a:solidFill>
                  <a:srgbClr val="000000"/>
                </a:solidFill>
                <a:latin typeface="Open Sans"/>
                <a:ea typeface="Open Sans"/>
                <a:cs typeface="Open Sans"/>
                <a:sym typeface="Open Sans"/>
              </a:rPr>
              <a:t> Se pueden manipular usando operadores y métodos, como concatenación, acceso a caracteres individuales y funciones para convertir, buscar o modificar texto.</a:t>
            </a:r>
          </a:p>
        </p:txBody>
      </p:sp>
      <p:sp>
        <p:nvSpPr>
          <p:cNvPr id="19" name="TextBox 19"/>
          <p:cNvSpPr txBox="1"/>
          <p:nvPr/>
        </p:nvSpPr>
        <p:spPr>
          <a:xfrm>
            <a:off x="10873418" y="1405542"/>
            <a:ext cx="5754865" cy="7038976"/>
          </a:xfrm>
          <a:prstGeom prst="rect">
            <a:avLst/>
          </a:prstGeom>
        </p:spPr>
        <p:txBody>
          <a:bodyPr lIns="0" tIns="0" rIns="0" bIns="0" rtlCol="0" anchor="t">
            <a:spAutoFit/>
          </a:bodyPr>
          <a:lstStyle/>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Length: Devuelve la cantidad de caracteres del string.</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ToUpper(): Convierte el texto a mayúsculas.</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ToLower(): Convierte el texto a minúsculas.</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Substring(inicio, longitud): Devuelve una parte del string.</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Contains(texto): Indica si el string contiene un texto.</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Replace(viejo, nuevo): Reemplaza un texto por otro.</a:t>
            </a:r>
          </a:p>
          <a:p>
            <a:pPr marL="539746" lvl="1" indent="-269873" algn="just">
              <a:lnSpc>
                <a:spcPts val="4049"/>
              </a:lnSpc>
              <a:buFont typeface="Arial"/>
              <a:buChar char="•"/>
            </a:pPr>
            <a:r>
              <a:rPr lang="en-US" sz="2499">
                <a:solidFill>
                  <a:srgbClr val="000000"/>
                </a:solidFill>
                <a:latin typeface="Open Sans"/>
                <a:ea typeface="Open Sans"/>
                <a:cs typeface="Open Sans"/>
                <a:sym typeface="Open Sans"/>
              </a:rPr>
              <a:t>Trim(): Quita espacios al inicio y al final.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TextBox 16"/>
          <p:cNvSpPr txBox="1"/>
          <p:nvPr/>
        </p:nvSpPr>
        <p:spPr>
          <a:xfrm>
            <a:off x="5473046" y="2175967"/>
            <a:ext cx="7345680" cy="4404893"/>
          </a:xfrm>
          <a:prstGeom prst="rect">
            <a:avLst/>
          </a:prstGeom>
        </p:spPr>
        <p:txBody>
          <a:bodyPr lIns="0" tIns="0" rIns="0" bIns="0" rtlCol="0" anchor="t">
            <a:spAutoFit/>
          </a:bodyPr>
          <a:lstStyle/>
          <a:p>
            <a:pPr algn="l">
              <a:lnSpc>
                <a:spcPts val="17920"/>
              </a:lnSpc>
            </a:pPr>
            <a:r>
              <a:rPr lang="en-US" sz="11400" b="1" spc="-290">
                <a:solidFill>
                  <a:srgbClr val="000000"/>
                </a:solidFill>
                <a:latin typeface="Open Sans Bold"/>
                <a:ea typeface="Open Sans Bold"/>
                <a:cs typeface="Open Sans Bold"/>
                <a:sym typeface="Open Sans Bold"/>
              </a:rPr>
              <a:t>EJEMPLO PRÁCTICO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Freeform 16"/>
          <p:cNvSpPr/>
          <p:nvPr/>
        </p:nvSpPr>
        <p:spPr>
          <a:xfrm>
            <a:off x="13358415" y="6202450"/>
            <a:ext cx="2170108" cy="2170108"/>
          </a:xfrm>
          <a:custGeom>
            <a:avLst/>
            <a:gdLst/>
            <a:ahLst/>
            <a:cxnLst/>
            <a:rect l="l" t="t" r="r" b="b"/>
            <a:pathLst>
              <a:path w="2170108" h="2170108">
                <a:moveTo>
                  <a:pt x="0" y="0"/>
                </a:moveTo>
                <a:lnTo>
                  <a:pt x="2170108" y="0"/>
                </a:lnTo>
                <a:lnTo>
                  <a:pt x="2170108" y="2170108"/>
                </a:lnTo>
                <a:lnTo>
                  <a:pt x="0" y="2170108"/>
                </a:lnTo>
                <a:lnTo>
                  <a:pt x="0" y="0"/>
                </a:lnTo>
                <a:close/>
              </a:path>
            </a:pathLst>
          </a:custGeom>
          <a:blipFill>
            <a:blip r:embed="rId16"/>
            <a:stretch>
              <a:fillRect/>
            </a:stretch>
          </a:blipFill>
        </p:spPr>
        <p:txBody>
          <a:bodyPr/>
          <a:lstStyle/>
          <a:p>
            <a:endParaRPr lang="es-GT"/>
          </a:p>
        </p:txBody>
      </p:sp>
      <p:sp>
        <p:nvSpPr>
          <p:cNvPr id="17" name="Freeform 17"/>
          <p:cNvSpPr/>
          <p:nvPr/>
        </p:nvSpPr>
        <p:spPr>
          <a:xfrm>
            <a:off x="1961166" y="5143500"/>
            <a:ext cx="9200158" cy="3613066"/>
          </a:xfrm>
          <a:custGeom>
            <a:avLst/>
            <a:gdLst/>
            <a:ahLst/>
            <a:cxnLst/>
            <a:rect l="l" t="t" r="r" b="b"/>
            <a:pathLst>
              <a:path w="9200158" h="3613066">
                <a:moveTo>
                  <a:pt x="0" y="0"/>
                </a:moveTo>
                <a:lnTo>
                  <a:pt x="9200158" y="0"/>
                </a:lnTo>
                <a:lnTo>
                  <a:pt x="9200158" y="3613066"/>
                </a:lnTo>
                <a:lnTo>
                  <a:pt x="0" y="3613066"/>
                </a:lnTo>
                <a:lnTo>
                  <a:pt x="0" y="0"/>
                </a:lnTo>
                <a:close/>
              </a:path>
            </a:pathLst>
          </a:custGeom>
          <a:blipFill>
            <a:blip r:embed="rId17"/>
            <a:stretch>
              <a:fillRect/>
            </a:stretch>
          </a:blipFill>
        </p:spPr>
        <p:txBody>
          <a:bodyPr/>
          <a:lstStyle/>
          <a:p>
            <a:endParaRPr lang="es-GT"/>
          </a:p>
        </p:txBody>
      </p:sp>
      <p:sp>
        <p:nvSpPr>
          <p:cNvPr id="18" name="TextBox 18"/>
          <p:cNvSpPr txBox="1"/>
          <p:nvPr/>
        </p:nvSpPr>
        <p:spPr>
          <a:xfrm>
            <a:off x="1433713" y="2053152"/>
            <a:ext cx="12129887" cy="1485900"/>
          </a:xfrm>
          <a:prstGeom prst="rect">
            <a:avLst/>
          </a:prstGeom>
        </p:spPr>
        <p:txBody>
          <a:bodyPr wrap="square" lIns="0" tIns="0" rIns="0" bIns="0" rtlCol="0" anchor="t">
            <a:spAutoFit/>
          </a:bodyPr>
          <a:lstStyle/>
          <a:p>
            <a:pPr algn="l">
              <a:lnSpc>
                <a:spcPts val="11760"/>
              </a:lnSpc>
            </a:pPr>
            <a:r>
              <a:rPr lang="en-US" sz="9800" b="1" spc="-200" dirty="0">
                <a:solidFill>
                  <a:srgbClr val="000000"/>
                </a:solidFill>
                <a:latin typeface="Open Sans Bold"/>
                <a:ea typeface="Open Sans Bold"/>
                <a:cs typeface="Open Sans Bold"/>
                <a:sym typeface="Open Sans Bold"/>
              </a:rPr>
              <a:t>RECOMENDACIÓN</a:t>
            </a:r>
          </a:p>
        </p:txBody>
      </p:sp>
      <p:sp>
        <p:nvSpPr>
          <p:cNvPr id="19" name="TextBox 19"/>
          <p:cNvSpPr txBox="1"/>
          <p:nvPr/>
        </p:nvSpPr>
        <p:spPr>
          <a:xfrm>
            <a:off x="1961166" y="4177227"/>
            <a:ext cx="9200158" cy="666750"/>
          </a:xfrm>
          <a:prstGeom prst="rect">
            <a:avLst/>
          </a:prstGeom>
        </p:spPr>
        <p:txBody>
          <a:bodyPr lIns="0" tIns="0" rIns="0" bIns="0" rtlCol="0" anchor="t">
            <a:spAutoFit/>
          </a:bodyPr>
          <a:lstStyle/>
          <a:p>
            <a:pPr algn="ctr">
              <a:lnSpc>
                <a:spcPts val="5280"/>
              </a:lnSpc>
            </a:pPr>
            <a:r>
              <a:rPr lang="en-US" sz="4400" b="1" spc="-227">
                <a:solidFill>
                  <a:srgbClr val="000000"/>
                </a:solidFill>
                <a:latin typeface="Open Sans Bold"/>
                <a:ea typeface="Open Sans Bold"/>
                <a:cs typeface="Open Sans Bold"/>
                <a:sym typeface="Open Sans Bold"/>
              </a:rPr>
              <a:t>CURSO GRATIS DE SOLOLEARN</a:t>
            </a:r>
          </a:p>
        </p:txBody>
      </p:sp>
      <p:sp>
        <p:nvSpPr>
          <p:cNvPr id="20" name="TextBox 20"/>
          <p:cNvSpPr txBox="1"/>
          <p:nvPr/>
        </p:nvSpPr>
        <p:spPr>
          <a:xfrm>
            <a:off x="11627638" y="5368124"/>
            <a:ext cx="5631662" cy="666750"/>
          </a:xfrm>
          <a:prstGeom prst="rect">
            <a:avLst/>
          </a:prstGeom>
        </p:spPr>
        <p:txBody>
          <a:bodyPr lIns="0" tIns="0" rIns="0" bIns="0" rtlCol="0" anchor="t">
            <a:spAutoFit/>
          </a:bodyPr>
          <a:lstStyle/>
          <a:p>
            <a:pPr algn="l">
              <a:lnSpc>
                <a:spcPts val="5280"/>
              </a:lnSpc>
            </a:pPr>
            <a:r>
              <a:rPr lang="en-US" sz="4400" b="1" u="sng" spc="-190">
                <a:solidFill>
                  <a:srgbClr val="0000FF"/>
                </a:solidFill>
                <a:latin typeface="Open Sans Bold"/>
                <a:ea typeface="Open Sans Bold"/>
                <a:cs typeface="Open Sans Bold"/>
                <a:sym typeface="Open Sans Bold"/>
                <a:hlinkClick r:id="rId18" tooltip="https://www.sololearn.com/es/learn/courses/c-sharp-introduction"/>
              </a:rPr>
              <a:t>INTRODUCCION A C#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7428" cy="5047783"/>
          </a:xfrm>
          <a:custGeom>
            <a:avLst/>
            <a:gdLst/>
            <a:ahLst/>
            <a:cxnLst/>
            <a:rect l="l" t="t" r="r" b="b"/>
            <a:pathLst>
              <a:path w="1287428" h="5047783">
                <a:moveTo>
                  <a:pt x="0" y="0"/>
                </a:moveTo>
                <a:lnTo>
                  <a:pt x="1287428" y="0"/>
                </a:lnTo>
                <a:lnTo>
                  <a:pt x="1287428" y="5047783"/>
                </a:lnTo>
                <a:lnTo>
                  <a:pt x="0" y="5047783"/>
                </a:lnTo>
                <a:lnTo>
                  <a:pt x="0" y="0"/>
                </a:lnTo>
                <a:close/>
              </a:path>
            </a:pathLst>
          </a:custGeom>
          <a:blipFill>
            <a:blip r:embed="rId10"/>
            <a:stretch>
              <a:fillRect l="-53" r="-53"/>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5910"/>
            <a:ext cx="790756" cy="3410664"/>
          </a:xfrm>
          <a:custGeom>
            <a:avLst/>
            <a:gdLst/>
            <a:ahLst/>
            <a:cxnLst/>
            <a:rect l="l" t="t" r="r" b="b"/>
            <a:pathLst>
              <a:path w="790756" h="3410664">
                <a:moveTo>
                  <a:pt x="0" y="0"/>
                </a:moveTo>
                <a:lnTo>
                  <a:pt x="790756" y="0"/>
                </a:lnTo>
                <a:lnTo>
                  <a:pt x="790756" y="3410665"/>
                </a:lnTo>
                <a:lnTo>
                  <a:pt x="0" y="3410665"/>
                </a:lnTo>
                <a:lnTo>
                  <a:pt x="0" y="0"/>
                </a:lnTo>
                <a:close/>
              </a:path>
            </a:pathLst>
          </a:custGeom>
          <a:blipFill>
            <a:blip r:embed="rId14"/>
            <a:stretch>
              <a:fillRect t="-129" b="-129"/>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TextBox 16"/>
          <p:cNvSpPr txBox="1"/>
          <p:nvPr/>
        </p:nvSpPr>
        <p:spPr>
          <a:xfrm>
            <a:off x="2289155" y="1962821"/>
            <a:ext cx="15208089" cy="1066800"/>
          </a:xfrm>
          <a:prstGeom prst="rect">
            <a:avLst/>
          </a:prstGeom>
        </p:spPr>
        <p:txBody>
          <a:bodyPr wrap="square" lIns="0" tIns="0" rIns="0" bIns="0" rtlCol="0" anchor="t">
            <a:spAutoFit/>
          </a:bodyPr>
          <a:lstStyle/>
          <a:p>
            <a:pPr algn="l">
              <a:lnSpc>
                <a:spcPts val="8400"/>
              </a:lnSpc>
            </a:pPr>
            <a:r>
              <a:rPr lang="en-US" sz="7000" b="1" spc="-20" dirty="0">
                <a:solidFill>
                  <a:srgbClr val="131416"/>
                </a:solidFill>
                <a:latin typeface="Open Sans Bold"/>
                <a:ea typeface="Open Sans Bold"/>
                <a:cs typeface="Open Sans Bold"/>
                <a:sym typeface="Open Sans Bold"/>
              </a:rPr>
              <a:t>CONCEPTOS CLAVE APRENDIDOS</a:t>
            </a:r>
          </a:p>
        </p:txBody>
      </p:sp>
      <p:sp>
        <p:nvSpPr>
          <p:cNvPr id="17" name="TextBox 17"/>
          <p:cNvSpPr txBox="1"/>
          <p:nvPr/>
        </p:nvSpPr>
        <p:spPr>
          <a:xfrm>
            <a:off x="2063839" y="3530116"/>
            <a:ext cx="14187764" cy="3749043"/>
          </a:xfrm>
          <a:prstGeom prst="rect">
            <a:avLst/>
          </a:prstGeom>
        </p:spPr>
        <p:txBody>
          <a:bodyPr lIns="0" tIns="0" rIns="0" bIns="0" rtlCol="0" anchor="t">
            <a:spAutoFit/>
          </a:bodyPr>
          <a:lstStyle/>
          <a:p>
            <a:pPr marL="870941" lvl="1" indent="-435470" algn="l">
              <a:lnSpc>
                <a:spcPts val="4829"/>
              </a:lnSpc>
              <a:buFont typeface="Arial"/>
              <a:buChar char="•"/>
            </a:pPr>
            <a:r>
              <a:rPr lang="en-US" sz="3499">
                <a:solidFill>
                  <a:srgbClr val="131416"/>
                </a:solidFill>
                <a:latin typeface="Open Sans"/>
                <a:ea typeface="Open Sans"/>
                <a:cs typeface="Open Sans"/>
                <a:sym typeface="Open Sans"/>
              </a:rPr>
              <a:t>C# es un lenguaje de programación fácil de aprender y usar. Es muy popular porque permite escribir código de manera clara y sencilla</a:t>
            </a:r>
          </a:p>
          <a:p>
            <a:pPr marL="872330" lvl="1" indent="-436165" algn="l">
              <a:lnSpc>
                <a:spcPts val="4199"/>
              </a:lnSpc>
              <a:buFont typeface="Arial"/>
              <a:buChar char="•"/>
            </a:pPr>
            <a:r>
              <a:rPr lang="en-US" sz="3499">
                <a:solidFill>
                  <a:srgbClr val="131416"/>
                </a:solidFill>
                <a:latin typeface="Open Sans"/>
                <a:ea typeface="Open Sans"/>
                <a:cs typeface="Open Sans"/>
                <a:sym typeface="Open Sans"/>
              </a:rPr>
              <a:t>Una variable puede almacenar el resultado de una expresión.</a:t>
            </a:r>
          </a:p>
          <a:p>
            <a:pPr marL="870941" lvl="1" indent="-435470" algn="l">
              <a:lnSpc>
                <a:spcPts val="5879"/>
              </a:lnSpc>
              <a:buFont typeface="Arial"/>
              <a:buChar char="•"/>
            </a:pPr>
            <a:r>
              <a:rPr lang="en-US" sz="3499">
                <a:solidFill>
                  <a:srgbClr val="131416"/>
                </a:solidFill>
                <a:latin typeface="Open Sans"/>
                <a:ea typeface="Open Sans"/>
                <a:cs typeface="Open Sans"/>
                <a:sym typeface="Open Sans"/>
              </a:rPr>
              <a:t>Una sentencia puede usar variables y expresiones para ejecutar una acción.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4" name="Freeform 4"/>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5" name="Freeform 5"/>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6" name="Freeform 6"/>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7" name="Freeform 7"/>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8" name="Freeform 8"/>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9" name="Freeform 9"/>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10" name="Freeform 10"/>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1" name="Freeform 11"/>
          <p:cNvSpPr/>
          <p:nvPr/>
        </p:nvSpPr>
        <p:spPr>
          <a:xfrm>
            <a:off x="0" y="2371030"/>
            <a:ext cx="1287428" cy="5047783"/>
          </a:xfrm>
          <a:custGeom>
            <a:avLst/>
            <a:gdLst/>
            <a:ahLst/>
            <a:cxnLst/>
            <a:rect l="l" t="t" r="r" b="b"/>
            <a:pathLst>
              <a:path w="1287428" h="5047783">
                <a:moveTo>
                  <a:pt x="0" y="0"/>
                </a:moveTo>
                <a:lnTo>
                  <a:pt x="1287428" y="0"/>
                </a:lnTo>
                <a:lnTo>
                  <a:pt x="1287428" y="5047783"/>
                </a:lnTo>
                <a:lnTo>
                  <a:pt x="0" y="5047783"/>
                </a:lnTo>
                <a:lnTo>
                  <a:pt x="0" y="0"/>
                </a:lnTo>
                <a:close/>
              </a:path>
            </a:pathLst>
          </a:custGeom>
          <a:blipFill>
            <a:blip r:embed="rId10"/>
            <a:stretch>
              <a:fillRect l="-53" r="-53"/>
            </a:stretch>
          </a:blipFill>
        </p:spPr>
        <p:txBody>
          <a:bodyPr/>
          <a:lstStyle/>
          <a:p>
            <a:endParaRPr lang="es-GT"/>
          </a:p>
        </p:txBody>
      </p:sp>
      <p:sp>
        <p:nvSpPr>
          <p:cNvPr id="12" name="Freeform 12"/>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3" name="Freeform 13"/>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4" name="Freeform 14"/>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5" name="Freeform 15"/>
          <p:cNvSpPr/>
          <p:nvPr/>
        </p:nvSpPr>
        <p:spPr>
          <a:xfrm>
            <a:off x="17497244" y="5835910"/>
            <a:ext cx="790756" cy="3410664"/>
          </a:xfrm>
          <a:custGeom>
            <a:avLst/>
            <a:gdLst/>
            <a:ahLst/>
            <a:cxnLst/>
            <a:rect l="l" t="t" r="r" b="b"/>
            <a:pathLst>
              <a:path w="790756" h="3410664">
                <a:moveTo>
                  <a:pt x="0" y="0"/>
                </a:moveTo>
                <a:lnTo>
                  <a:pt x="790756" y="0"/>
                </a:lnTo>
                <a:lnTo>
                  <a:pt x="790756" y="3410665"/>
                </a:lnTo>
                <a:lnTo>
                  <a:pt x="0" y="3410665"/>
                </a:lnTo>
                <a:lnTo>
                  <a:pt x="0" y="0"/>
                </a:lnTo>
                <a:close/>
              </a:path>
            </a:pathLst>
          </a:custGeom>
          <a:blipFill>
            <a:blip r:embed="rId14"/>
            <a:stretch>
              <a:fillRect t="-129" b="-129"/>
            </a:stretch>
          </a:blipFill>
        </p:spPr>
        <p:txBody>
          <a:bodyPr/>
          <a:lstStyle/>
          <a:p>
            <a:endParaRPr lang="es-GT"/>
          </a:p>
        </p:txBody>
      </p:sp>
      <p:sp>
        <p:nvSpPr>
          <p:cNvPr id="16" name="Freeform 16"/>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7" name="TextBox 17"/>
          <p:cNvSpPr txBox="1"/>
          <p:nvPr/>
        </p:nvSpPr>
        <p:spPr>
          <a:xfrm>
            <a:off x="3251202" y="1892494"/>
            <a:ext cx="11785597" cy="4991100"/>
          </a:xfrm>
          <a:prstGeom prst="rect">
            <a:avLst/>
          </a:prstGeom>
        </p:spPr>
        <p:txBody>
          <a:bodyPr lIns="0" tIns="0" rIns="0" bIns="0" rtlCol="0" anchor="t">
            <a:spAutoFit/>
          </a:bodyPr>
          <a:lstStyle/>
          <a:p>
            <a:pPr algn="ctr">
              <a:lnSpc>
                <a:spcPts val="12096"/>
              </a:lnSpc>
            </a:pPr>
            <a:r>
              <a:rPr lang="en-US" sz="7200" i="1" spc="-190">
                <a:solidFill>
                  <a:srgbClr val="131416"/>
                </a:solidFill>
                <a:latin typeface="Trebuchet MS Italics"/>
                <a:ea typeface="Trebuchet MS Italics"/>
                <a:cs typeface="Trebuchet MS Italics"/>
                <a:sym typeface="Trebuchet MS Italics"/>
              </a:rPr>
              <a:t>"Todos deberían ser respetados como individuos, pero ninguno idealizado".</a:t>
            </a:r>
          </a:p>
        </p:txBody>
      </p:sp>
      <p:sp>
        <p:nvSpPr>
          <p:cNvPr id="18" name="TextBox 18"/>
          <p:cNvSpPr txBox="1"/>
          <p:nvPr/>
        </p:nvSpPr>
        <p:spPr>
          <a:xfrm>
            <a:off x="10780750" y="7188818"/>
            <a:ext cx="4243269" cy="714375"/>
          </a:xfrm>
          <a:prstGeom prst="rect">
            <a:avLst/>
          </a:prstGeom>
        </p:spPr>
        <p:txBody>
          <a:bodyPr lIns="0" tIns="0" rIns="0" bIns="0" rtlCol="0" anchor="t">
            <a:spAutoFit/>
          </a:bodyPr>
          <a:lstStyle/>
          <a:p>
            <a:pPr algn="l">
              <a:lnSpc>
                <a:spcPts val="5759"/>
              </a:lnSpc>
            </a:pPr>
            <a:r>
              <a:rPr lang="en-US" sz="4800" spc="-20">
                <a:solidFill>
                  <a:srgbClr val="131416"/>
                </a:solidFill>
                <a:latin typeface="Open Sans"/>
                <a:ea typeface="Open Sans"/>
                <a:cs typeface="Open Sans"/>
                <a:sym typeface="Open Sans"/>
              </a:rPr>
              <a:t>Albert Einstein.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4" name="Freeform 4"/>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5" name="Freeform 5"/>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6" name="Freeform 6"/>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7" name="Freeform 7"/>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8" name="Freeform 8"/>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9" name="Freeform 9"/>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0" name="Freeform 10"/>
          <p:cNvSpPr/>
          <p:nvPr/>
        </p:nvSpPr>
        <p:spPr>
          <a:xfrm>
            <a:off x="0" y="2371030"/>
            <a:ext cx="1287428" cy="5047783"/>
          </a:xfrm>
          <a:custGeom>
            <a:avLst/>
            <a:gdLst/>
            <a:ahLst/>
            <a:cxnLst/>
            <a:rect l="l" t="t" r="r" b="b"/>
            <a:pathLst>
              <a:path w="1287428" h="5047783">
                <a:moveTo>
                  <a:pt x="0" y="0"/>
                </a:moveTo>
                <a:lnTo>
                  <a:pt x="1287428" y="0"/>
                </a:lnTo>
                <a:lnTo>
                  <a:pt x="1287428" y="5047783"/>
                </a:lnTo>
                <a:lnTo>
                  <a:pt x="0" y="5047783"/>
                </a:lnTo>
                <a:lnTo>
                  <a:pt x="0" y="0"/>
                </a:lnTo>
                <a:close/>
              </a:path>
            </a:pathLst>
          </a:custGeom>
          <a:blipFill>
            <a:blip r:embed="rId10"/>
            <a:stretch>
              <a:fillRect l="-53" r="-53"/>
            </a:stretch>
          </a:blipFill>
        </p:spPr>
        <p:txBody>
          <a:bodyPr/>
          <a:lstStyle/>
          <a:p>
            <a:endParaRPr lang="es-GT"/>
          </a:p>
        </p:txBody>
      </p:sp>
      <p:sp>
        <p:nvSpPr>
          <p:cNvPr id="11" name="Freeform 11"/>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2" name="Freeform 12"/>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3" name="Freeform 13"/>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4" name="Freeform 14"/>
          <p:cNvSpPr/>
          <p:nvPr/>
        </p:nvSpPr>
        <p:spPr>
          <a:xfrm>
            <a:off x="17497244" y="5835910"/>
            <a:ext cx="790756" cy="3410664"/>
          </a:xfrm>
          <a:custGeom>
            <a:avLst/>
            <a:gdLst/>
            <a:ahLst/>
            <a:cxnLst/>
            <a:rect l="l" t="t" r="r" b="b"/>
            <a:pathLst>
              <a:path w="790756" h="3410664">
                <a:moveTo>
                  <a:pt x="0" y="0"/>
                </a:moveTo>
                <a:lnTo>
                  <a:pt x="790756" y="0"/>
                </a:lnTo>
                <a:lnTo>
                  <a:pt x="790756" y="3410665"/>
                </a:lnTo>
                <a:lnTo>
                  <a:pt x="0" y="3410665"/>
                </a:lnTo>
                <a:lnTo>
                  <a:pt x="0" y="0"/>
                </a:lnTo>
                <a:close/>
              </a:path>
            </a:pathLst>
          </a:custGeom>
          <a:blipFill>
            <a:blip r:embed="rId14"/>
            <a:stretch>
              <a:fillRect t="-129" b="-129"/>
            </a:stretch>
          </a:blipFill>
        </p:spPr>
        <p:txBody>
          <a:bodyPr/>
          <a:lstStyle/>
          <a:p>
            <a:endParaRPr lang="es-GT"/>
          </a:p>
        </p:txBody>
      </p:sp>
      <p:sp>
        <p:nvSpPr>
          <p:cNvPr id="15" name="Freeform 15"/>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6" name="TextBox 16"/>
          <p:cNvSpPr txBox="1"/>
          <p:nvPr/>
        </p:nvSpPr>
        <p:spPr>
          <a:xfrm>
            <a:off x="6237149" y="1195540"/>
            <a:ext cx="6945899" cy="1066800"/>
          </a:xfrm>
          <a:prstGeom prst="rect">
            <a:avLst/>
          </a:prstGeom>
        </p:spPr>
        <p:txBody>
          <a:bodyPr wrap="square" lIns="0" tIns="0" rIns="0" bIns="0" rtlCol="0" anchor="t">
            <a:spAutoFit/>
          </a:bodyPr>
          <a:lstStyle/>
          <a:p>
            <a:pPr algn="l">
              <a:lnSpc>
                <a:spcPts val="8400"/>
              </a:lnSpc>
            </a:pPr>
            <a:r>
              <a:rPr lang="en-US" sz="7000" b="1" spc="-20" dirty="0">
                <a:solidFill>
                  <a:srgbClr val="131416"/>
                </a:solidFill>
                <a:latin typeface="Open Sans Bold"/>
                <a:ea typeface="Open Sans Bold"/>
                <a:cs typeface="Open Sans Bold"/>
                <a:sym typeface="Open Sans Bold"/>
              </a:rPr>
              <a:t>REFERENCIAS</a:t>
            </a:r>
          </a:p>
        </p:txBody>
      </p:sp>
      <p:sp>
        <p:nvSpPr>
          <p:cNvPr id="17" name="TextBox 17"/>
          <p:cNvSpPr txBox="1"/>
          <p:nvPr/>
        </p:nvSpPr>
        <p:spPr>
          <a:xfrm>
            <a:off x="809519" y="1915119"/>
            <a:ext cx="16964131" cy="7718704"/>
          </a:xfrm>
          <a:prstGeom prst="rect">
            <a:avLst/>
          </a:prstGeom>
        </p:spPr>
        <p:txBody>
          <a:bodyPr lIns="0" tIns="0" rIns="0" bIns="0" rtlCol="0" anchor="t">
            <a:spAutoFit/>
          </a:bodyPr>
          <a:lstStyle/>
          <a:p>
            <a:pPr algn="l">
              <a:lnSpc>
                <a:spcPts val="4412"/>
              </a:lnSpc>
            </a:pPr>
            <a:endParaRPr dirty="0"/>
          </a:p>
          <a:p>
            <a:pPr marL="690881" lvl="1" indent="-345440" algn="l">
              <a:lnSpc>
                <a:spcPts val="4412"/>
              </a:lnSpc>
              <a:buAutoNum type="arabicPeriod"/>
            </a:pPr>
            <a:r>
              <a:rPr lang="en-US" sz="3200" b="1" dirty="0">
                <a:solidFill>
                  <a:srgbClr val="000000"/>
                </a:solidFill>
                <a:latin typeface="Open Sans Bold"/>
                <a:ea typeface="Open Sans Bold"/>
                <a:cs typeface="Open Sans Bold"/>
                <a:sym typeface="Open Sans Bold"/>
              </a:rPr>
              <a:t>Azul School. (s. f.). ¿</a:t>
            </a:r>
            <a:r>
              <a:rPr lang="en-US" sz="3200" b="1" dirty="0" err="1">
                <a:solidFill>
                  <a:srgbClr val="000000"/>
                </a:solidFill>
                <a:latin typeface="Open Sans Bold"/>
                <a:ea typeface="Open Sans Bold"/>
                <a:cs typeface="Open Sans Bold"/>
                <a:sym typeface="Open Sans Bold"/>
              </a:rPr>
              <a:t>Qué</a:t>
            </a:r>
            <a:r>
              <a:rPr lang="en-US" sz="3200" b="1" dirty="0">
                <a:solidFill>
                  <a:srgbClr val="000000"/>
                </a:solidFill>
                <a:latin typeface="Open Sans Bold"/>
                <a:ea typeface="Open Sans Bold"/>
                <a:cs typeface="Open Sans Bold"/>
                <a:sym typeface="Open Sans Bold"/>
              </a:rPr>
              <a:t> es .NET y para </a:t>
            </a:r>
            <a:r>
              <a:rPr lang="en-US" sz="3200" b="1" dirty="0" err="1">
                <a:solidFill>
                  <a:srgbClr val="000000"/>
                </a:solidFill>
                <a:latin typeface="Open Sans Bold"/>
                <a:ea typeface="Open Sans Bold"/>
                <a:cs typeface="Open Sans Bold"/>
                <a:sym typeface="Open Sans Bold"/>
              </a:rPr>
              <a:t>qué</a:t>
            </a:r>
            <a:r>
              <a:rPr lang="en-US" sz="3200" b="1" dirty="0">
                <a:solidFill>
                  <a:srgbClr val="000000"/>
                </a:solidFill>
                <a:latin typeface="Open Sans Bold"/>
                <a:ea typeface="Open Sans Bold"/>
                <a:cs typeface="Open Sans Bold"/>
                <a:sym typeface="Open Sans Bold"/>
              </a:rPr>
              <a:t> </a:t>
            </a:r>
            <a:r>
              <a:rPr lang="en-US" sz="3200" b="1" dirty="0" err="1">
                <a:solidFill>
                  <a:srgbClr val="000000"/>
                </a:solidFill>
                <a:latin typeface="Open Sans Bold"/>
                <a:ea typeface="Open Sans Bold"/>
                <a:cs typeface="Open Sans Bold"/>
                <a:sym typeface="Open Sans Bold"/>
              </a:rPr>
              <a:t>sirve</a:t>
            </a:r>
            <a:r>
              <a:rPr lang="en-US" sz="3200" b="1" dirty="0">
                <a:solidFill>
                  <a:srgbClr val="000000"/>
                </a:solidFill>
                <a:latin typeface="Open Sans Bold"/>
                <a:ea typeface="Open Sans Bold"/>
                <a:cs typeface="Open Sans Bold"/>
                <a:sym typeface="Open Sans Bold"/>
              </a:rPr>
              <a:t>?</a:t>
            </a:r>
            <a:r>
              <a:rPr lang="en-US" sz="3200" dirty="0">
                <a:solidFill>
                  <a:srgbClr val="0000FF"/>
                </a:solidFill>
                <a:latin typeface="Open Sans"/>
                <a:ea typeface="Open Sans"/>
                <a:cs typeface="Open Sans"/>
                <a:sym typeface="Open Sans"/>
              </a:rPr>
              <a:t>. </a:t>
            </a:r>
            <a:r>
              <a:rPr lang="en-US" sz="3200" u="sng" dirty="0">
                <a:solidFill>
                  <a:srgbClr val="0000FF"/>
                </a:solidFill>
                <a:latin typeface="Open Sans"/>
                <a:ea typeface="Open Sans"/>
                <a:cs typeface="Open Sans"/>
                <a:sym typeface="Open Sans"/>
                <a:hlinkClick r:id="rId16" tooltip="https://azulschool.net/que-es-net-y-para-que-sirve/"/>
              </a:rPr>
              <a:t>https://azulschool.net/que-es-net-y-para-que-sirve/</a:t>
            </a:r>
          </a:p>
          <a:p>
            <a:pPr marL="690881" lvl="1" indent="-345440" algn="l">
              <a:lnSpc>
                <a:spcPts val="4412"/>
              </a:lnSpc>
              <a:buAutoNum type="arabicPeriod"/>
            </a:pPr>
            <a:r>
              <a:rPr lang="en-US" sz="3200" b="1" dirty="0">
                <a:solidFill>
                  <a:srgbClr val="000000"/>
                </a:solidFill>
                <a:latin typeface="Open Sans Bold"/>
                <a:ea typeface="Open Sans Bold"/>
                <a:cs typeface="Open Sans Bold"/>
                <a:sym typeface="Open Sans Bold"/>
              </a:rPr>
              <a:t>Kodigo.org. (s. f.). </a:t>
            </a:r>
            <a:r>
              <a:rPr lang="en-US" sz="3200" b="1" dirty="0" err="1">
                <a:solidFill>
                  <a:srgbClr val="000000"/>
                </a:solidFill>
                <a:latin typeface="Open Sans Bold"/>
                <a:ea typeface="Open Sans Bold"/>
                <a:cs typeface="Open Sans Bold"/>
                <a:sym typeface="Open Sans Bold"/>
              </a:rPr>
              <a:t>Lenguaje</a:t>
            </a:r>
            <a:r>
              <a:rPr lang="en-US" sz="3200" b="1" dirty="0">
                <a:solidFill>
                  <a:srgbClr val="000000"/>
                </a:solidFill>
                <a:latin typeface="Open Sans Bold"/>
                <a:ea typeface="Open Sans Bold"/>
                <a:cs typeface="Open Sans Bold"/>
                <a:sym typeface="Open Sans Bold"/>
              </a:rPr>
              <a:t> C# — </a:t>
            </a:r>
            <a:r>
              <a:rPr lang="en-US" sz="3200" b="1" dirty="0" err="1">
                <a:solidFill>
                  <a:srgbClr val="000000"/>
                </a:solidFill>
                <a:latin typeface="Open Sans Bold"/>
                <a:ea typeface="Open Sans Bold"/>
                <a:cs typeface="Open Sans Bold"/>
                <a:sym typeface="Open Sans Bold"/>
              </a:rPr>
              <a:t>Qué</a:t>
            </a:r>
            <a:r>
              <a:rPr lang="en-US" sz="3200" b="1" dirty="0">
                <a:solidFill>
                  <a:srgbClr val="000000"/>
                </a:solidFill>
                <a:latin typeface="Open Sans Bold"/>
                <a:ea typeface="Open Sans Bold"/>
                <a:cs typeface="Open Sans Bold"/>
                <a:sym typeface="Open Sans Bold"/>
              </a:rPr>
              <a:t> es y para </a:t>
            </a:r>
            <a:r>
              <a:rPr lang="en-US" sz="3200" b="1" dirty="0" err="1">
                <a:solidFill>
                  <a:srgbClr val="000000"/>
                </a:solidFill>
                <a:latin typeface="Open Sans Bold"/>
                <a:ea typeface="Open Sans Bold"/>
                <a:cs typeface="Open Sans Bold"/>
                <a:sym typeface="Open Sans Bold"/>
              </a:rPr>
              <a:t>qué</a:t>
            </a:r>
            <a:r>
              <a:rPr lang="en-US" sz="3200" b="1" dirty="0">
                <a:solidFill>
                  <a:srgbClr val="000000"/>
                </a:solidFill>
                <a:latin typeface="Open Sans Bold"/>
                <a:ea typeface="Open Sans Bold"/>
                <a:cs typeface="Open Sans Bold"/>
                <a:sym typeface="Open Sans Bold"/>
              </a:rPr>
              <a:t> </a:t>
            </a:r>
            <a:r>
              <a:rPr lang="en-US" sz="3200" b="1" dirty="0" err="1">
                <a:solidFill>
                  <a:srgbClr val="000000"/>
                </a:solidFill>
                <a:latin typeface="Open Sans Bold"/>
                <a:ea typeface="Open Sans Bold"/>
                <a:cs typeface="Open Sans Bold"/>
                <a:sym typeface="Open Sans Bold"/>
              </a:rPr>
              <a:t>sirve</a:t>
            </a:r>
            <a:r>
              <a:rPr lang="en-US" sz="3200" b="1" dirty="0">
                <a:solidFill>
                  <a:srgbClr val="000000"/>
                </a:solidFill>
                <a:latin typeface="Open Sans Bold"/>
                <a:ea typeface="Open Sans Bold"/>
                <a:cs typeface="Open Sans Bold"/>
                <a:sym typeface="Open Sans Bold"/>
              </a:rPr>
              <a:t>.</a:t>
            </a:r>
            <a:r>
              <a:rPr lang="en-US" sz="3200" dirty="0">
                <a:solidFill>
                  <a:srgbClr val="0000FF"/>
                </a:solidFill>
                <a:latin typeface="Open Sans"/>
                <a:ea typeface="Open Sans"/>
                <a:cs typeface="Open Sans"/>
                <a:sym typeface="Open Sans"/>
              </a:rPr>
              <a:t> </a:t>
            </a:r>
            <a:r>
              <a:rPr lang="en-US" sz="3200" u="sng" dirty="0">
                <a:solidFill>
                  <a:srgbClr val="0000FF"/>
                </a:solidFill>
                <a:latin typeface="Open Sans"/>
                <a:ea typeface="Open Sans"/>
                <a:cs typeface="Open Sans"/>
                <a:sym typeface="Open Sans"/>
                <a:hlinkClick r:id="rId17" tooltip="https://kodigo.org/lenguaje-c-c-sharp-que-es-y-para-que-sirve/"/>
              </a:rPr>
              <a:t>https://kodigo.org/lenguaje-c-c-sharp-que-es-y-para-que-sirve/</a:t>
            </a:r>
          </a:p>
          <a:p>
            <a:pPr marL="690881" lvl="1" indent="-345440" algn="l">
              <a:lnSpc>
                <a:spcPts val="4412"/>
              </a:lnSpc>
              <a:buAutoNum type="arabicPeriod"/>
            </a:pPr>
            <a:r>
              <a:rPr lang="en-US" sz="3200" b="1" dirty="0">
                <a:solidFill>
                  <a:srgbClr val="000000"/>
                </a:solidFill>
                <a:latin typeface="Open Sans Bold"/>
                <a:ea typeface="Open Sans Bold"/>
                <a:cs typeface="Open Sans Bold"/>
                <a:sym typeface="Open Sans Bold"/>
              </a:rPr>
              <a:t>Llamas, L. (s. f.). C# — </a:t>
            </a:r>
            <a:r>
              <a:rPr lang="en-US" sz="3200" b="1" dirty="0" err="1">
                <a:solidFill>
                  <a:srgbClr val="000000"/>
                </a:solidFill>
                <a:latin typeface="Open Sans Bold"/>
                <a:ea typeface="Open Sans Bold"/>
                <a:cs typeface="Open Sans Bold"/>
                <a:sym typeface="Open Sans Bold"/>
              </a:rPr>
              <a:t>Sintaxis</a:t>
            </a:r>
            <a:r>
              <a:rPr lang="en-US" sz="3200" b="1" dirty="0">
                <a:solidFill>
                  <a:srgbClr val="000000"/>
                </a:solidFill>
                <a:latin typeface="Open Sans Bold"/>
                <a:ea typeface="Open Sans Bold"/>
                <a:cs typeface="Open Sans Bold"/>
                <a:sym typeface="Open Sans Bold"/>
              </a:rPr>
              <a:t> </a:t>
            </a:r>
            <a:r>
              <a:rPr lang="en-US" sz="3200" b="1" dirty="0" err="1">
                <a:solidFill>
                  <a:srgbClr val="000000"/>
                </a:solidFill>
                <a:latin typeface="Open Sans Bold"/>
                <a:ea typeface="Open Sans Bold"/>
                <a:cs typeface="Open Sans Bold"/>
                <a:sym typeface="Open Sans Bold"/>
              </a:rPr>
              <a:t>básica</a:t>
            </a:r>
            <a:r>
              <a:rPr lang="en-US" sz="3200" b="1" dirty="0">
                <a:solidFill>
                  <a:srgbClr val="000000"/>
                </a:solidFill>
                <a:latin typeface="Open Sans Bold"/>
                <a:ea typeface="Open Sans Bold"/>
                <a:cs typeface="Open Sans Bold"/>
                <a:sym typeface="Open Sans Bold"/>
              </a:rPr>
              <a:t>.</a:t>
            </a:r>
            <a:r>
              <a:rPr lang="en-US" sz="3200" dirty="0">
                <a:solidFill>
                  <a:srgbClr val="0000FF"/>
                </a:solidFill>
                <a:latin typeface="Open Sans"/>
                <a:ea typeface="Open Sans"/>
                <a:cs typeface="Open Sans"/>
                <a:sym typeface="Open Sans"/>
              </a:rPr>
              <a:t> </a:t>
            </a:r>
            <a:r>
              <a:rPr lang="en-US" sz="3200" u="sng" dirty="0">
                <a:solidFill>
                  <a:srgbClr val="0000FF"/>
                </a:solidFill>
                <a:latin typeface="Open Sans"/>
                <a:ea typeface="Open Sans"/>
                <a:cs typeface="Open Sans"/>
                <a:sym typeface="Open Sans"/>
                <a:hlinkClick r:id="rId18" tooltip="https://www.luisllamas.es/csharp-sintaxis-basica/"/>
              </a:rPr>
              <a:t>https://www.luisllamas.es/csharp-sintaxis-basica/</a:t>
            </a:r>
          </a:p>
          <a:p>
            <a:pPr marL="690881" lvl="1" indent="-345440" algn="l">
              <a:lnSpc>
                <a:spcPts val="4412"/>
              </a:lnSpc>
              <a:buAutoNum type="arabicPeriod"/>
            </a:pPr>
            <a:r>
              <a:rPr lang="en-US" sz="3200" b="1" dirty="0">
                <a:solidFill>
                  <a:srgbClr val="000000"/>
                </a:solidFill>
                <a:latin typeface="Open Sans Bold"/>
                <a:ea typeface="Open Sans Bold"/>
                <a:cs typeface="Open Sans Bold"/>
                <a:sym typeface="Open Sans Bold"/>
              </a:rPr>
              <a:t>Microsoft. (s. f.). C# | </a:t>
            </a:r>
            <a:r>
              <a:rPr lang="en-US" sz="3200" b="1" dirty="0" err="1">
                <a:solidFill>
                  <a:srgbClr val="000000"/>
                </a:solidFill>
                <a:latin typeface="Open Sans Bold"/>
                <a:ea typeface="Open Sans Bold"/>
                <a:cs typeface="Open Sans Bold"/>
                <a:sym typeface="Open Sans Bold"/>
              </a:rPr>
              <a:t>Lenguajes</a:t>
            </a:r>
            <a:r>
              <a:rPr lang="en-US" sz="3200" b="1" dirty="0">
                <a:solidFill>
                  <a:srgbClr val="000000"/>
                </a:solidFill>
                <a:latin typeface="Open Sans Bold"/>
                <a:ea typeface="Open Sans Bold"/>
                <a:cs typeface="Open Sans Bold"/>
                <a:sym typeface="Open Sans Bold"/>
              </a:rPr>
              <a:t> de .NET. </a:t>
            </a:r>
            <a:r>
              <a:rPr lang="en-US" sz="3200" u="sng" dirty="0">
                <a:solidFill>
                  <a:srgbClr val="0000FF"/>
                </a:solidFill>
                <a:latin typeface="Open Sans"/>
                <a:ea typeface="Open Sans"/>
                <a:cs typeface="Open Sans"/>
                <a:sym typeface="Open Sans"/>
                <a:hlinkClick r:id="rId19" tooltip="https://dotnet.microsoft.com/es-es/languages/csharp"/>
              </a:rPr>
              <a:t>https://dotnet.microsoft.com/es-es/languages/csharp</a:t>
            </a:r>
          </a:p>
          <a:p>
            <a:pPr marL="690881" lvl="1" indent="-345440" algn="l">
              <a:lnSpc>
                <a:spcPts val="4412"/>
              </a:lnSpc>
              <a:buAutoNum type="arabicPeriod"/>
            </a:pPr>
            <a:r>
              <a:rPr lang="en-US" sz="3200" b="1" dirty="0">
                <a:solidFill>
                  <a:srgbClr val="000000"/>
                </a:solidFill>
                <a:latin typeface="Open Sans Bold"/>
                <a:ea typeface="Open Sans Bold"/>
                <a:cs typeface="Open Sans Bold"/>
                <a:sym typeface="Open Sans Bold"/>
              </a:rPr>
              <a:t>Microsoft. (s. f.). C# Language Reference — Keywords.</a:t>
            </a:r>
            <a:r>
              <a:rPr lang="en-US" sz="3200" dirty="0">
                <a:solidFill>
                  <a:srgbClr val="0000FF"/>
                </a:solidFill>
                <a:latin typeface="Open Sans"/>
                <a:ea typeface="Open Sans"/>
                <a:cs typeface="Open Sans"/>
                <a:sym typeface="Open Sans"/>
              </a:rPr>
              <a:t> </a:t>
            </a:r>
            <a:r>
              <a:rPr lang="en-US" sz="3200" u="sng" dirty="0">
                <a:solidFill>
                  <a:srgbClr val="0000FF"/>
                </a:solidFill>
                <a:latin typeface="Open Sans"/>
                <a:ea typeface="Open Sans"/>
                <a:cs typeface="Open Sans"/>
                <a:sym typeface="Open Sans"/>
                <a:hlinkClick r:id="rId20" tooltip="https://learn.microsoft.com/es-es/dotnet/csharp/language-reference/keywords/"/>
              </a:rPr>
              <a:t>https://learn.microsoft.com/es-es/dotnet/csharp/language-reference/keywords/</a:t>
            </a:r>
          </a:p>
          <a:p>
            <a:pPr marL="690881" lvl="1" indent="-345440" algn="l">
              <a:lnSpc>
                <a:spcPts val="4412"/>
              </a:lnSpc>
              <a:buAutoNum type="arabicPeriod"/>
            </a:pPr>
            <a:r>
              <a:rPr lang="en-US" sz="3200" b="1" dirty="0">
                <a:solidFill>
                  <a:srgbClr val="000000"/>
                </a:solidFill>
                <a:latin typeface="Open Sans Bold"/>
                <a:ea typeface="Open Sans Bold"/>
                <a:cs typeface="Open Sans Bold"/>
                <a:sym typeface="Open Sans Bold"/>
              </a:rPr>
              <a:t>Walther </a:t>
            </a:r>
            <a:r>
              <a:rPr lang="en-US" sz="3200" b="1" dirty="0" err="1">
                <a:solidFill>
                  <a:srgbClr val="000000"/>
                </a:solidFill>
                <a:latin typeface="Open Sans Bold"/>
                <a:ea typeface="Open Sans Bold"/>
                <a:cs typeface="Open Sans Bold"/>
                <a:sym typeface="Open Sans Bold"/>
              </a:rPr>
              <a:t>Curo</a:t>
            </a:r>
            <a:r>
              <a:rPr lang="en-US" sz="3200" b="1" dirty="0">
                <a:solidFill>
                  <a:srgbClr val="000000"/>
                </a:solidFill>
                <a:latin typeface="Open Sans Bold"/>
                <a:ea typeface="Open Sans Bold"/>
                <a:cs typeface="Open Sans Bold"/>
                <a:sym typeface="Open Sans Bold"/>
              </a:rPr>
              <a:t>. (s. f.). </a:t>
            </a:r>
            <a:r>
              <a:rPr lang="en-US" sz="3200" b="1" dirty="0" err="1">
                <a:solidFill>
                  <a:srgbClr val="000000"/>
                </a:solidFill>
                <a:latin typeface="Open Sans Bold"/>
                <a:ea typeface="Open Sans Bold"/>
                <a:cs typeface="Open Sans Bold"/>
                <a:sym typeface="Open Sans Bold"/>
              </a:rPr>
              <a:t>Tipos</a:t>
            </a:r>
            <a:r>
              <a:rPr lang="en-US" sz="3200" b="1" dirty="0">
                <a:solidFill>
                  <a:srgbClr val="000000"/>
                </a:solidFill>
                <a:latin typeface="Open Sans Bold"/>
                <a:ea typeface="Open Sans Bold"/>
                <a:cs typeface="Open Sans Bold"/>
                <a:sym typeface="Open Sans Bold"/>
              </a:rPr>
              <a:t> de </a:t>
            </a:r>
            <a:r>
              <a:rPr lang="en-US" sz="3200" b="1" dirty="0" err="1">
                <a:solidFill>
                  <a:srgbClr val="000000"/>
                </a:solidFill>
                <a:latin typeface="Open Sans Bold"/>
                <a:ea typeface="Open Sans Bold"/>
                <a:cs typeface="Open Sans Bold"/>
                <a:sym typeface="Open Sans Bold"/>
              </a:rPr>
              <a:t>datos</a:t>
            </a:r>
            <a:r>
              <a:rPr lang="en-US" sz="3200" b="1" dirty="0">
                <a:solidFill>
                  <a:srgbClr val="000000"/>
                </a:solidFill>
                <a:latin typeface="Open Sans Bold"/>
                <a:ea typeface="Open Sans Bold"/>
                <a:cs typeface="Open Sans Bold"/>
                <a:sym typeface="Open Sans Bold"/>
              </a:rPr>
              <a:t> </a:t>
            </a:r>
            <a:r>
              <a:rPr lang="en-US" sz="3200" b="1" dirty="0" err="1">
                <a:solidFill>
                  <a:srgbClr val="000000"/>
                </a:solidFill>
                <a:latin typeface="Open Sans Bold"/>
                <a:ea typeface="Open Sans Bold"/>
                <a:cs typeface="Open Sans Bold"/>
                <a:sym typeface="Open Sans Bold"/>
              </a:rPr>
              <a:t>en</a:t>
            </a:r>
            <a:r>
              <a:rPr lang="en-US" sz="3200" b="1" dirty="0">
                <a:solidFill>
                  <a:srgbClr val="000000"/>
                </a:solidFill>
                <a:latin typeface="Open Sans Bold"/>
                <a:ea typeface="Open Sans Bold"/>
                <a:cs typeface="Open Sans Bold"/>
                <a:sym typeface="Open Sans Bold"/>
              </a:rPr>
              <a:t> C#.</a:t>
            </a:r>
            <a:r>
              <a:rPr lang="en-US" sz="3200" dirty="0">
                <a:solidFill>
                  <a:srgbClr val="0000FF"/>
                </a:solidFill>
                <a:latin typeface="Open Sans"/>
                <a:ea typeface="Open Sans"/>
                <a:cs typeface="Open Sans"/>
                <a:sym typeface="Open Sans"/>
              </a:rPr>
              <a:t> </a:t>
            </a:r>
            <a:r>
              <a:rPr lang="en-US" sz="3200" u="sng" dirty="0">
                <a:solidFill>
                  <a:srgbClr val="0000FF"/>
                </a:solidFill>
                <a:latin typeface="Open Sans"/>
                <a:ea typeface="Open Sans"/>
                <a:cs typeface="Open Sans"/>
                <a:sym typeface="Open Sans"/>
                <a:hlinkClick r:id="rId21" tooltip="https://blog.walthercuro.com/tipos-de-datos-en-c/"/>
              </a:rPr>
              <a:t>https://blog.walthercuro.com/tipos-de-datos-en-c/</a:t>
            </a:r>
          </a:p>
          <a:p>
            <a:pPr algn="l">
              <a:lnSpc>
                <a:spcPts val="4412"/>
              </a:lnSpc>
            </a:pPr>
            <a:endParaRPr lang="en-US" sz="3200" u="sng" dirty="0">
              <a:solidFill>
                <a:srgbClr val="0000FF"/>
              </a:solidFill>
              <a:latin typeface="Open Sans"/>
              <a:ea typeface="Open Sans"/>
              <a:cs typeface="Open Sans"/>
              <a:sym typeface="Open Sans"/>
              <a:hlinkClick r:id="rId21" tooltip="https://blog.walthercuro.com/tipos-de-datos-en-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4" name="Freeform 4"/>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5" name="Freeform 5"/>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6" name="Freeform 6"/>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7" name="Freeform 7"/>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8" name="Freeform 8"/>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9" name="Freeform 9"/>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10" name="Freeform 10"/>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1" name="Freeform 11"/>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2" name="Freeform 12"/>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3" name="Freeform 13"/>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4" name="Freeform 14"/>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5" name="Freeform 15"/>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6" name="Freeform 16"/>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7" name="TextBox 17"/>
          <p:cNvSpPr txBox="1"/>
          <p:nvPr/>
        </p:nvSpPr>
        <p:spPr>
          <a:xfrm>
            <a:off x="1285275" y="1995964"/>
            <a:ext cx="3376612" cy="914400"/>
          </a:xfrm>
          <a:prstGeom prst="rect">
            <a:avLst/>
          </a:prstGeom>
        </p:spPr>
        <p:txBody>
          <a:bodyPr lIns="0" tIns="0" rIns="0" bIns="0" rtlCol="0" anchor="t">
            <a:spAutoFit/>
          </a:bodyPr>
          <a:lstStyle/>
          <a:p>
            <a:pPr algn="l">
              <a:lnSpc>
                <a:spcPts val="7200"/>
              </a:lnSpc>
            </a:pPr>
            <a:r>
              <a:rPr lang="en-US" sz="6000" b="1">
                <a:solidFill>
                  <a:srgbClr val="131416"/>
                </a:solidFill>
                <a:latin typeface="Open Sans Bold"/>
                <a:ea typeface="Open Sans Bold"/>
                <a:cs typeface="Open Sans Bold"/>
                <a:sym typeface="Open Sans Bold"/>
              </a:rPr>
              <a:t>¿DUDAS?</a:t>
            </a:r>
          </a:p>
        </p:txBody>
      </p:sp>
      <p:grpSp>
        <p:nvGrpSpPr>
          <p:cNvPr id="18" name="Group 18"/>
          <p:cNvGrpSpPr/>
          <p:nvPr/>
        </p:nvGrpSpPr>
        <p:grpSpPr>
          <a:xfrm>
            <a:off x="1227846" y="3653800"/>
            <a:ext cx="11674538" cy="4523678"/>
            <a:chOff x="0" y="0"/>
            <a:chExt cx="15566051" cy="6031571"/>
          </a:xfrm>
        </p:grpSpPr>
        <p:sp>
          <p:nvSpPr>
            <p:cNvPr id="19" name="Freeform 19"/>
            <p:cNvSpPr/>
            <p:nvPr/>
          </p:nvSpPr>
          <p:spPr>
            <a:xfrm>
              <a:off x="0" y="0"/>
              <a:ext cx="15566051" cy="6031571"/>
            </a:xfrm>
            <a:custGeom>
              <a:avLst/>
              <a:gdLst/>
              <a:ahLst/>
              <a:cxnLst/>
              <a:rect l="l" t="t" r="r" b="b"/>
              <a:pathLst>
                <a:path w="15566051" h="6031571">
                  <a:moveTo>
                    <a:pt x="0" y="0"/>
                  </a:moveTo>
                  <a:lnTo>
                    <a:pt x="15566051" y="0"/>
                  </a:lnTo>
                  <a:lnTo>
                    <a:pt x="15566051" y="6031571"/>
                  </a:lnTo>
                  <a:lnTo>
                    <a:pt x="0" y="6031571"/>
                  </a:lnTo>
                  <a:close/>
                </a:path>
              </a:pathLst>
            </a:custGeom>
            <a:solidFill>
              <a:srgbClr val="000000">
                <a:alpha val="0"/>
              </a:srgbClr>
            </a:solidFill>
          </p:spPr>
          <p:txBody>
            <a:bodyPr/>
            <a:lstStyle/>
            <a:p>
              <a:endParaRPr lang="es-GT"/>
            </a:p>
          </p:txBody>
        </p:sp>
        <p:sp>
          <p:nvSpPr>
            <p:cNvPr id="20" name="TextBox 20"/>
            <p:cNvSpPr txBox="1"/>
            <p:nvPr/>
          </p:nvSpPr>
          <p:spPr>
            <a:xfrm>
              <a:off x="0" y="-219075"/>
              <a:ext cx="15566051" cy="6250646"/>
            </a:xfrm>
            <a:prstGeom prst="rect">
              <a:avLst/>
            </a:prstGeom>
          </p:spPr>
          <p:txBody>
            <a:bodyPr lIns="0" tIns="0" rIns="0" bIns="0" rtlCol="0" anchor="ctr"/>
            <a:lstStyle/>
            <a:p>
              <a:pPr algn="l">
                <a:lnSpc>
                  <a:spcPts val="7103"/>
                </a:lnSpc>
              </a:pPr>
              <a:r>
                <a:rPr lang="en-US" sz="3999" b="1" dirty="0">
                  <a:solidFill>
                    <a:srgbClr val="000000"/>
                  </a:solidFill>
                  <a:latin typeface="Nunito Bold"/>
                  <a:ea typeface="Nunito Bold"/>
                  <a:cs typeface="Nunito Bold"/>
                  <a:sym typeface="Nunito Bold"/>
                </a:rPr>
                <a:t>MEDIO OFICIAL PARA LA RESOLUCIÓN DE DUDAS SERÁ UEDI POR FOROS.</a:t>
              </a:r>
            </a:p>
            <a:p>
              <a:pPr algn="l">
                <a:lnSpc>
                  <a:spcPts val="7103"/>
                </a:lnSpc>
              </a:pPr>
              <a:endParaRPr lang="en-US" sz="3999" b="1" dirty="0">
                <a:solidFill>
                  <a:srgbClr val="000000"/>
                </a:solidFill>
                <a:latin typeface="Nunito Bold"/>
                <a:ea typeface="Nunito Bold"/>
                <a:cs typeface="Nunito Bold"/>
                <a:sym typeface="Nunito Bold"/>
              </a:endParaRPr>
            </a:p>
            <a:p>
              <a:pPr algn="l">
                <a:lnSpc>
                  <a:spcPts val="7103"/>
                </a:lnSpc>
              </a:pPr>
              <a:r>
                <a:rPr lang="en-US" sz="3999" dirty="0">
                  <a:solidFill>
                    <a:srgbClr val="000000"/>
                  </a:solidFill>
                  <a:latin typeface="Nunito"/>
                  <a:ea typeface="Nunito"/>
                  <a:cs typeface="Nunito"/>
                  <a:sym typeface="Nunito"/>
                </a:rPr>
                <a:t>CORREO: 3020186890101@ingenieria.usac.edu.gt</a:t>
              </a:r>
            </a:p>
            <a:p>
              <a:pPr algn="l">
                <a:lnSpc>
                  <a:spcPts val="7104"/>
                </a:lnSpc>
              </a:pPr>
              <a:r>
                <a:rPr lang="en-US" sz="3999" dirty="0" err="1">
                  <a:solidFill>
                    <a:srgbClr val="000000"/>
                  </a:solidFill>
                  <a:latin typeface="Nunito"/>
                  <a:ea typeface="Nunito"/>
                  <a:cs typeface="Nunito"/>
                  <a:sym typeface="Nunito"/>
                </a:rPr>
                <a:t>Asunto</a:t>
              </a:r>
              <a:r>
                <a:rPr lang="en-US" sz="3999" dirty="0">
                  <a:solidFill>
                    <a:srgbClr val="000000"/>
                  </a:solidFill>
                  <a:latin typeface="Nunito"/>
                  <a:ea typeface="Nunito"/>
                  <a:cs typeface="Nunito"/>
                  <a:sym typeface="Nunito"/>
                </a:rPr>
                <a:t>: [IPC2-P]DUDA</a:t>
              </a:r>
            </a:p>
          </p:txBody>
        </p:sp>
      </p:grpSp>
      <p:sp>
        <p:nvSpPr>
          <p:cNvPr id="21" name="Freeform 21"/>
          <p:cNvSpPr/>
          <p:nvPr/>
        </p:nvSpPr>
        <p:spPr>
          <a:xfrm>
            <a:off x="12637763" y="4074021"/>
            <a:ext cx="4687011" cy="4687011"/>
          </a:xfrm>
          <a:custGeom>
            <a:avLst/>
            <a:gdLst/>
            <a:ahLst/>
            <a:cxnLst/>
            <a:rect l="l" t="t" r="r" b="b"/>
            <a:pathLst>
              <a:path w="4687011" h="4687011">
                <a:moveTo>
                  <a:pt x="0" y="0"/>
                </a:moveTo>
                <a:lnTo>
                  <a:pt x="4687012" y="0"/>
                </a:lnTo>
                <a:lnTo>
                  <a:pt x="4687012" y="4687011"/>
                </a:lnTo>
                <a:lnTo>
                  <a:pt x="0" y="4687011"/>
                </a:lnTo>
                <a:lnTo>
                  <a:pt x="0" y="0"/>
                </a:lnTo>
                <a:close/>
              </a:path>
            </a:pathLst>
          </a:custGeom>
          <a:blipFill>
            <a:blip r:embed="rId16"/>
            <a:stretch>
              <a:fillRect/>
            </a:stretch>
          </a:blipFill>
        </p:spPr>
        <p:txBody>
          <a:bodyPr/>
          <a:lstStyle/>
          <a:p>
            <a:endParaRPr lang="es-G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57" b="-357"/>
            </a:stretch>
          </a:blipFill>
        </p:spPr>
        <p:txBody>
          <a:bodyPr/>
          <a:lstStyle/>
          <a:p>
            <a:endParaRPr lang="es-GT"/>
          </a:p>
        </p:txBody>
      </p:sp>
      <p:sp>
        <p:nvSpPr>
          <p:cNvPr id="4" name="Freeform 4"/>
          <p:cNvSpPr/>
          <p:nvPr/>
        </p:nvSpPr>
        <p:spPr>
          <a:xfrm>
            <a:off x="0" y="8614896"/>
            <a:ext cx="2570550" cy="1672104"/>
          </a:xfrm>
          <a:custGeom>
            <a:avLst/>
            <a:gdLst/>
            <a:ahLst/>
            <a:cxnLst/>
            <a:rect l="l" t="t" r="r" b="b"/>
            <a:pathLst>
              <a:path w="2570550" h="1672104">
                <a:moveTo>
                  <a:pt x="0" y="0"/>
                </a:moveTo>
                <a:lnTo>
                  <a:pt x="2570550" y="0"/>
                </a:lnTo>
                <a:lnTo>
                  <a:pt x="2570550" y="1672104"/>
                </a:lnTo>
                <a:lnTo>
                  <a:pt x="0" y="1672104"/>
                </a:lnTo>
                <a:lnTo>
                  <a:pt x="0" y="0"/>
                </a:lnTo>
                <a:close/>
              </a:path>
            </a:pathLst>
          </a:custGeom>
          <a:blipFill>
            <a:blip r:embed="rId3"/>
            <a:stretch>
              <a:fillRect l="-511" r="-510"/>
            </a:stretch>
          </a:blipFill>
        </p:spPr>
        <p:txBody>
          <a:bodyPr/>
          <a:lstStyle/>
          <a:p>
            <a:endParaRPr lang="es-GT"/>
          </a:p>
        </p:txBody>
      </p:sp>
      <p:sp>
        <p:nvSpPr>
          <p:cNvPr id="5" name="Freeform 5"/>
          <p:cNvSpPr/>
          <p:nvPr/>
        </p:nvSpPr>
        <p:spPr>
          <a:xfrm>
            <a:off x="6030706" y="9258300"/>
            <a:ext cx="3059830" cy="751046"/>
          </a:xfrm>
          <a:custGeom>
            <a:avLst/>
            <a:gdLst/>
            <a:ahLst/>
            <a:cxnLst/>
            <a:rect l="l" t="t" r="r" b="b"/>
            <a:pathLst>
              <a:path w="3059830" h="751046">
                <a:moveTo>
                  <a:pt x="0" y="0"/>
                </a:moveTo>
                <a:lnTo>
                  <a:pt x="3059830" y="0"/>
                </a:lnTo>
                <a:lnTo>
                  <a:pt x="3059830" y="751046"/>
                </a:lnTo>
                <a:lnTo>
                  <a:pt x="0" y="751046"/>
                </a:lnTo>
                <a:lnTo>
                  <a:pt x="0" y="0"/>
                </a:lnTo>
                <a:close/>
              </a:path>
            </a:pathLst>
          </a:custGeom>
          <a:blipFill>
            <a:blip r:embed="rId4"/>
            <a:stretch>
              <a:fillRect t="-276" b="-275"/>
            </a:stretch>
          </a:blipFill>
        </p:spPr>
        <p:txBody>
          <a:bodyPr/>
          <a:lstStyle/>
          <a:p>
            <a:endParaRPr lang="es-GT"/>
          </a:p>
        </p:txBody>
      </p:sp>
      <p:sp>
        <p:nvSpPr>
          <p:cNvPr id="6" name="Freeform 6"/>
          <p:cNvSpPr/>
          <p:nvPr/>
        </p:nvSpPr>
        <p:spPr>
          <a:xfrm>
            <a:off x="14215205" y="8540134"/>
            <a:ext cx="4072795" cy="1746866"/>
          </a:xfrm>
          <a:custGeom>
            <a:avLst/>
            <a:gdLst/>
            <a:ahLst/>
            <a:cxnLst/>
            <a:rect l="l" t="t" r="r" b="b"/>
            <a:pathLst>
              <a:path w="4072795" h="1746866">
                <a:moveTo>
                  <a:pt x="0" y="0"/>
                </a:moveTo>
                <a:lnTo>
                  <a:pt x="4072795" y="0"/>
                </a:lnTo>
                <a:lnTo>
                  <a:pt x="4072795" y="1746866"/>
                </a:lnTo>
                <a:lnTo>
                  <a:pt x="0" y="1746866"/>
                </a:lnTo>
                <a:lnTo>
                  <a:pt x="0" y="0"/>
                </a:lnTo>
                <a:close/>
              </a:path>
            </a:pathLst>
          </a:custGeom>
          <a:blipFill>
            <a:blip r:embed="rId5"/>
            <a:stretch>
              <a:fillRect t="-83" b="-83"/>
            </a:stretch>
          </a:blipFill>
        </p:spPr>
        <p:txBody>
          <a:bodyPr/>
          <a:lstStyle/>
          <a:p>
            <a:endParaRPr lang="es-GT"/>
          </a:p>
        </p:txBody>
      </p:sp>
      <p:sp>
        <p:nvSpPr>
          <p:cNvPr id="7" name="Freeform 7"/>
          <p:cNvSpPr/>
          <p:nvPr/>
        </p:nvSpPr>
        <p:spPr>
          <a:xfrm>
            <a:off x="0" y="0"/>
            <a:ext cx="4225785" cy="1995964"/>
          </a:xfrm>
          <a:custGeom>
            <a:avLst/>
            <a:gdLst/>
            <a:ahLst/>
            <a:cxnLst/>
            <a:rect l="l" t="t" r="r" b="b"/>
            <a:pathLst>
              <a:path w="4225785" h="1995964">
                <a:moveTo>
                  <a:pt x="0" y="0"/>
                </a:moveTo>
                <a:lnTo>
                  <a:pt x="4225785" y="0"/>
                </a:lnTo>
                <a:lnTo>
                  <a:pt x="4225785" y="1995964"/>
                </a:lnTo>
                <a:lnTo>
                  <a:pt x="0" y="1995964"/>
                </a:lnTo>
                <a:lnTo>
                  <a:pt x="0" y="0"/>
                </a:lnTo>
                <a:close/>
              </a:path>
            </a:pathLst>
          </a:custGeom>
          <a:blipFill>
            <a:blip r:embed="rId6"/>
            <a:stretch>
              <a:fillRect t="-210" b="-210"/>
            </a:stretch>
          </a:blipFill>
        </p:spPr>
        <p:txBody>
          <a:bodyPr/>
          <a:lstStyle/>
          <a:p>
            <a:endParaRPr lang="es-GT"/>
          </a:p>
        </p:txBody>
      </p:sp>
      <p:sp>
        <p:nvSpPr>
          <p:cNvPr id="8" name="Freeform 8"/>
          <p:cNvSpPr/>
          <p:nvPr/>
        </p:nvSpPr>
        <p:spPr>
          <a:xfrm>
            <a:off x="12686214" y="0"/>
            <a:ext cx="4292422" cy="1292790"/>
          </a:xfrm>
          <a:custGeom>
            <a:avLst/>
            <a:gdLst/>
            <a:ahLst/>
            <a:cxnLst/>
            <a:rect l="l" t="t" r="r" b="b"/>
            <a:pathLst>
              <a:path w="4292422" h="1292790">
                <a:moveTo>
                  <a:pt x="0" y="0"/>
                </a:moveTo>
                <a:lnTo>
                  <a:pt x="4292422" y="0"/>
                </a:lnTo>
                <a:lnTo>
                  <a:pt x="4292422" y="1292790"/>
                </a:lnTo>
                <a:lnTo>
                  <a:pt x="0" y="1292790"/>
                </a:lnTo>
                <a:lnTo>
                  <a:pt x="0" y="0"/>
                </a:lnTo>
                <a:close/>
              </a:path>
            </a:pathLst>
          </a:custGeom>
          <a:blipFill>
            <a:blip r:embed="rId7"/>
            <a:stretch>
              <a:fillRect t="-820" b="-820"/>
            </a:stretch>
          </a:blipFill>
        </p:spPr>
        <p:txBody>
          <a:bodyPr/>
          <a:lstStyle/>
          <a:p>
            <a:endParaRPr lang="es-GT"/>
          </a:p>
        </p:txBody>
      </p:sp>
      <p:sp>
        <p:nvSpPr>
          <p:cNvPr id="9" name="Freeform 9"/>
          <p:cNvSpPr/>
          <p:nvPr/>
        </p:nvSpPr>
        <p:spPr>
          <a:xfrm>
            <a:off x="10138934" y="9258300"/>
            <a:ext cx="4076271" cy="1028700"/>
          </a:xfrm>
          <a:custGeom>
            <a:avLst/>
            <a:gdLst/>
            <a:ahLst/>
            <a:cxnLst/>
            <a:rect l="l" t="t" r="r" b="b"/>
            <a:pathLst>
              <a:path w="4076271" h="1028700">
                <a:moveTo>
                  <a:pt x="0" y="0"/>
                </a:moveTo>
                <a:lnTo>
                  <a:pt x="4076271" y="0"/>
                </a:lnTo>
                <a:lnTo>
                  <a:pt x="4076271" y="1028700"/>
                </a:lnTo>
                <a:lnTo>
                  <a:pt x="0" y="1028700"/>
                </a:lnTo>
                <a:lnTo>
                  <a:pt x="0" y="0"/>
                </a:lnTo>
                <a:close/>
              </a:path>
            </a:pathLst>
          </a:custGeom>
          <a:blipFill>
            <a:blip r:embed="rId8"/>
            <a:stretch>
              <a:fillRect t="-159" b="-158"/>
            </a:stretch>
          </a:blipFill>
        </p:spPr>
        <p:txBody>
          <a:bodyPr/>
          <a:lstStyle/>
          <a:p>
            <a:endParaRPr lang="es-GT"/>
          </a:p>
        </p:txBody>
      </p:sp>
      <p:sp>
        <p:nvSpPr>
          <p:cNvPr id="10" name="Freeform 10"/>
          <p:cNvSpPr/>
          <p:nvPr/>
        </p:nvSpPr>
        <p:spPr>
          <a:xfrm>
            <a:off x="7409326" y="0"/>
            <a:ext cx="5493058" cy="1414701"/>
          </a:xfrm>
          <a:custGeom>
            <a:avLst/>
            <a:gdLst/>
            <a:ahLst/>
            <a:cxnLst/>
            <a:rect l="l" t="t" r="r" b="b"/>
            <a:pathLst>
              <a:path w="5493058" h="1414701">
                <a:moveTo>
                  <a:pt x="0" y="0"/>
                </a:moveTo>
                <a:lnTo>
                  <a:pt x="5493058" y="0"/>
                </a:lnTo>
                <a:lnTo>
                  <a:pt x="5493058" y="1414701"/>
                </a:lnTo>
                <a:lnTo>
                  <a:pt x="0" y="1414701"/>
                </a:lnTo>
                <a:lnTo>
                  <a:pt x="0" y="0"/>
                </a:lnTo>
                <a:close/>
              </a:path>
            </a:pathLst>
          </a:custGeom>
          <a:blipFill>
            <a:blip r:embed="rId9"/>
            <a:stretch>
              <a:fillRect t="-426" b="-426"/>
            </a:stretch>
          </a:blipFill>
        </p:spPr>
        <p:txBody>
          <a:bodyPr/>
          <a:lstStyle/>
          <a:p>
            <a:endParaRPr lang="es-GT"/>
          </a:p>
        </p:txBody>
      </p:sp>
      <p:sp>
        <p:nvSpPr>
          <p:cNvPr id="11" name="Freeform 11"/>
          <p:cNvSpPr/>
          <p:nvPr/>
        </p:nvSpPr>
        <p:spPr>
          <a:xfrm>
            <a:off x="0" y="2371030"/>
            <a:ext cx="1280808" cy="5054222"/>
          </a:xfrm>
          <a:custGeom>
            <a:avLst/>
            <a:gdLst/>
            <a:ahLst/>
            <a:cxnLst/>
            <a:rect l="l" t="t" r="r" b="b"/>
            <a:pathLst>
              <a:path w="1280808" h="5054222">
                <a:moveTo>
                  <a:pt x="0" y="0"/>
                </a:moveTo>
                <a:lnTo>
                  <a:pt x="1280808" y="0"/>
                </a:lnTo>
                <a:lnTo>
                  <a:pt x="1280808" y="5054222"/>
                </a:lnTo>
                <a:lnTo>
                  <a:pt x="0" y="5054222"/>
                </a:lnTo>
                <a:lnTo>
                  <a:pt x="0" y="0"/>
                </a:lnTo>
                <a:close/>
              </a:path>
            </a:pathLst>
          </a:custGeom>
          <a:blipFill>
            <a:blip r:embed="rId10"/>
            <a:stretch>
              <a:fillRect l="-26" r="-26"/>
            </a:stretch>
          </a:blipFill>
        </p:spPr>
        <p:txBody>
          <a:bodyPr/>
          <a:lstStyle/>
          <a:p>
            <a:endParaRPr lang="es-GT"/>
          </a:p>
        </p:txBody>
      </p:sp>
      <p:sp>
        <p:nvSpPr>
          <p:cNvPr id="12" name="Freeform 12"/>
          <p:cNvSpPr/>
          <p:nvPr/>
        </p:nvSpPr>
        <p:spPr>
          <a:xfrm>
            <a:off x="4831480" y="0"/>
            <a:ext cx="2892762" cy="1292790"/>
          </a:xfrm>
          <a:custGeom>
            <a:avLst/>
            <a:gdLst/>
            <a:ahLst/>
            <a:cxnLst/>
            <a:rect l="l" t="t" r="r" b="b"/>
            <a:pathLst>
              <a:path w="2892762" h="1292790">
                <a:moveTo>
                  <a:pt x="0" y="0"/>
                </a:moveTo>
                <a:lnTo>
                  <a:pt x="2892762" y="0"/>
                </a:lnTo>
                <a:lnTo>
                  <a:pt x="2892762" y="1292790"/>
                </a:lnTo>
                <a:lnTo>
                  <a:pt x="0" y="1292790"/>
                </a:lnTo>
                <a:lnTo>
                  <a:pt x="0" y="0"/>
                </a:lnTo>
                <a:close/>
              </a:path>
            </a:pathLst>
          </a:custGeom>
          <a:blipFill>
            <a:blip r:embed="rId11"/>
            <a:stretch>
              <a:fillRect t="-199" b="-200"/>
            </a:stretch>
          </a:blipFill>
        </p:spPr>
        <p:txBody>
          <a:bodyPr/>
          <a:lstStyle/>
          <a:p>
            <a:endParaRPr lang="es-GT"/>
          </a:p>
        </p:txBody>
      </p:sp>
      <p:sp>
        <p:nvSpPr>
          <p:cNvPr id="13" name="Freeform 13"/>
          <p:cNvSpPr/>
          <p:nvPr/>
        </p:nvSpPr>
        <p:spPr>
          <a:xfrm>
            <a:off x="17259300" y="2262340"/>
            <a:ext cx="1028700" cy="3575542"/>
          </a:xfrm>
          <a:custGeom>
            <a:avLst/>
            <a:gdLst/>
            <a:ahLst/>
            <a:cxnLst/>
            <a:rect l="l" t="t" r="r" b="b"/>
            <a:pathLst>
              <a:path w="1028700" h="3575542">
                <a:moveTo>
                  <a:pt x="0" y="0"/>
                </a:moveTo>
                <a:lnTo>
                  <a:pt x="1028700" y="0"/>
                </a:lnTo>
                <a:lnTo>
                  <a:pt x="1028700" y="3575542"/>
                </a:lnTo>
                <a:lnTo>
                  <a:pt x="0" y="3575542"/>
                </a:lnTo>
                <a:lnTo>
                  <a:pt x="0" y="0"/>
                </a:lnTo>
                <a:close/>
              </a:path>
            </a:pathLst>
          </a:custGeom>
          <a:blipFill>
            <a:blip r:embed="rId12"/>
            <a:stretch>
              <a:fillRect l="-51" r="-50"/>
            </a:stretch>
          </a:blipFill>
        </p:spPr>
        <p:txBody>
          <a:bodyPr/>
          <a:lstStyle/>
          <a:p>
            <a:endParaRPr lang="es-GT"/>
          </a:p>
        </p:txBody>
      </p:sp>
      <p:sp>
        <p:nvSpPr>
          <p:cNvPr id="14" name="Freeform 14"/>
          <p:cNvSpPr/>
          <p:nvPr/>
        </p:nvSpPr>
        <p:spPr>
          <a:xfrm>
            <a:off x="2570550" y="9093737"/>
            <a:ext cx="2587019" cy="1193263"/>
          </a:xfrm>
          <a:custGeom>
            <a:avLst/>
            <a:gdLst/>
            <a:ahLst/>
            <a:cxnLst/>
            <a:rect l="l" t="t" r="r" b="b"/>
            <a:pathLst>
              <a:path w="2587019" h="1193263">
                <a:moveTo>
                  <a:pt x="0" y="0"/>
                </a:moveTo>
                <a:lnTo>
                  <a:pt x="2587018" y="0"/>
                </a:lnTo>
                <a:lnTo>
                  <a:pt x="2587018" y="1193263"/>
                </a:lnTo>
                <a:lnTo>
                  <a:pt x="0" y="1193263"/>
                </a:lnTo>
                <a:lnTo>
                  <a:pt x="0" y="0"/>
                </a:lnTo>
                <a:close/>
              </a:path>
            </a:pathLst>
          </a:custGeom>
          <a:blipFill>
            <a:blip r:embed="rId13"/>
            <a:stretch>
              <a:fillRect t="-31" b="-31"/>
            </a:stretch>
          </a:blipFill>
        </p:spPr>
        <p:txBody>
          <a:bodyPr/>
          <a:lstStyle/>
          <a:p>
            <a:endParaRPr lang="es-GT"/>
          </a:p>
        </p:txBody>
      </p:sp>
      <p:sp>
        <p:nvSpPr>
          <p:cNvPr id="15" name="Freeform 15"/>
          <p:cNvSpPr/>
          <p:nvPr/>
        </p:nvSpPr>
        <p:spPr>
          <a:xfrm>
            <a:off x="17497244" y="5837882"/>
            <a:ext cx="790746" cy="3408016"/>
          </a:xfrm>
          <a:custGeom>
            <a:avLst/>
            <a:gdLst/>
            <a:ahLst/>
            <a:cxnLst/>
            <a:rect l="l" t="t" r="r" b="b"/>
            <a:pathLst>
              <a:path w="790746" h="3408016">
                <a:moveTo>
                  <a:pt x="0" y="0"/>
                </a:moveTo>
                <a:lnTo>
                  <a:pt x="790746" y="0"/>
                </a:lnTo>
                <a:lnTo>
                  <a:pt x="790746" y="3408016"/>
                </a:lnTo>
                <a:lnTo>
                  <a:pt x="0" y="3408016"/>
                </a:lnTo>
                <a:lnTo>
                  <a:pt x="0" y="0"/>
                </a:lnTo>
                <a:close/>
              </a:path>
            </a:pathLst>
          </a:custGeom>
          <a:blipFill>
            <a:blip r:embed="rId14"/>
            <a:stretch>
              <a:fillRect t="-83" b="-83"/>
            </a:stretch>
          </a:blipFill>
        </p:spPr>
        <p:txBody>
          <a:bodyPr/>
          <a:lstStyle/>
          <a:p>
            <a:endParaRPr lang="es-GT"/>
          </a:p>
        </p:txBody>
      </p:sp>
      <p:sp>
        <p:nvSpPr>
          <p:cNvPr id="16" name="Freeform 16"/>
          <p:cNvSpPr/>
          <p:nvPr/>
        </p:nvSpPr>
        <p:spPr>
          <a:xfrm>
            <a:off x="16978636" y="0"/>
            <a:ext cx="1309364" cy="2700042"/>
          </a:xfrm>
          <a:custGeom>
            <a:avLst/>
            <a:gdLst/>
            <a:ahLst/>
            <a:cxnLst/>
            <a:rect l="l" t="t" r="r" b="b"/>
            <a:pathLst>
              <a:path w="1309364" h="2700042">
                <a:moveTo>
                  <a:pt x="0" y="0"/>
                </a:moveTo>
                <a:lnTo>
                  <a:pt x="1309364" y="0"/>
                </a:lnTo>
                <a:lnTo>
                  <a:pt x="1309364" y="2700042"/>
                </a:lnTo>
                <a:lnTo>
                  <a:pt x="0" y="2700042"/>
                </a:lnTo>
                <a:lnTo>
                  <a:pt x="0" y="0"/>
                </a:lnTo>
                <a:close/>
              </a:path>
            </a:pathLst>
          </a:custGeom>
          <a:blipFill>
            <a:blip r:embed="rId15"/>
            <a:stretch>
              <a:fillRect t="-3040" b="-3040"/>
            </a:stretch>
          </a:blipFill>
        </p:spPr>
        <p:txBody>
          <a:bodyPr/>
          <a:lstStyle/>
          <a:p>
            <a:endParaRPr lang="es-GT"/>
          </a:p>
        </p:txBody>
      </p:sp>
      <p:sp>
        <p:nvSpPr>
          <p:cNvPr id="17" name="TextBox 17"/>
          <p:cNvSpPr txBox="1"/>
          <p:nvPr/>
        </p:nvSpPr>
        <p:spPr>
          <a:xfrm>
            <a:off x="3260999" y="2367925"/>
            <a:ext cx="10854453" cy="914400"/>
          </a:xfrm>
          <a:prstGeom prst="rect">
            <a:avLst/>
          </a:prstGeom>
        </p:spPr>
        <p:txBody>
          <a:bodyPr lIns="0" tIns="0" rIns="0" bIns="0" rtlCol="0" anchor="t">
            <a:spAutoFit/>
          </a:bodyPr>
          <a:lstStyle/>
          <a:p>
            <a:pPr algn="l">
              <a:lnSpc>
                <a:spcPts val="7200"/>
              </a:lnSpc>
            </a:pPr>
            <a:r>
              <a:rPr lang="en-US" sz="6000" b="1">
                <a:solidFill>
                  <a:srgbClr val="131416"/>
                </a:solidFill>
                <a:latin typeface="Open Sans Bold"/>
                <a:ea typeface="Open Sans Bold"/>
                <a:cs typeface="Open Sans Bold"/>
                <a:sym typeface="Open Sans Bold"/>
              </a:rPr>
              <a:t>¡GRACIAS POR SU ATENCIÓN!</a:t>
            </a:r>
          </a:p>
        </p:txBody>
      </p:sp>
      <p:sp>
        <p:nvSpPr>
          <p:cNvPr id="18" name="Freeform 18"/>
          <p:cNvSpPr/>
          <p:nvPr/>
        </p:nvSpPr>
        <p:spPr>
          <a:xfrm>
            <a:off x="7309591" y="3654285"/>
            <a:ext cx="2757268" cy="3770967"/>
          </a:xfrm>
          <a:custGeom>
            <a:avLst/>
            <a:gdLst/>
            <a:ahLst/>
            <a:cxnLst/>
            <a:rect l="l" t="t" r="r" b="b"/>
            <a:pathLst>
              <a:path w="2757268" h="3770967">
                <a:moveTo>
                  <a:pt x="0" y="0"/>
                </a:moveTo>
                <a:lnTo>
                  <a:pt x="2757268" y="0"/>
                </a:lnTo>
                <a:lnTo>
                  <a:pt x="2757268" y="3770967"/>
                </a:lnTo>
                <a:lnTo>
                  <a:pt x="0" y="3770967"/>
                </a:lnTo>
                <a:lnTo>
                  <a:pt x="0" y="0"/>
                </a:lnTo>
                <a:close/>
              </a:path>
            </a:pathLst>
          </a:custGeom>
          <a:blipFill>
            <a:blip r:embed="rId16"/>
            <a:stretch>
              <a:fillRect l="-6" r="-7"/>
            </a:stretch>
          </a:blipFill>
        </p:spPr>
        <p:txBody>
          <a:bodyPr/>
          <a:lstStyle/>
          <a:p>
            <a:endParaRPr lang="es-GT"/>
          </a:p>
        </p:txBody>
      </p:sp>
      <p:sp>
        <p:nvSpPr>
          <p:cNvPr id="19" name="TextBox 19"/>
          <p:cNvSpPr txBox="1"/>
          <p:nvPr/>
        </p:nvSpPr>
        <p:spPr>
          <a:xfrm>
            <a:off x="2421893" y="7676788"/>
            <a:ext cx="13444214" cy="863346"/>
          </a:xfrm>
          <a:prstGeom prst="rect">
            <a:avLst/>
          </a:prstGeom>
        </p:spPr>
        <p:txBody>
          <a:bodyPr lIns="0" tIns="0" rIns="0" bIns="0" rtlCol="0" anchor="t">
            <a:spAutoFit/>
          </a:bodyPr>
          <a:lstStyle/>
          <a:p>
            <a:pPr algn="just">
              <a:lnSpc>
                <a:spcPts val="3552"/>
              </a:lnSpc>
            </a:pPr>
            <a:r>
              <a:rPr lang="en-US" sz="2000">
                <a:solidFill>
                  <a:srgbClr val="131416"/>
                </a:solidFill>
                <a:latin typeface="Open Sans"/>
                <a:ea typeface="Open Sans"/>
                <a:cs typeface="Open Sans"/>
                <a:sym typeface="Open Sans"/>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2741</Words>
  <Application>Microsoft Office PowerPoint</Application>
  <PresentationFormat>Personalizado</PresentationFormat>
  <Paragraphs>206</Paragraphs>
  <Slides>39</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39</vt:i4>
      </vt:variant>
    </vt:vector>
  </HeadingPairs>
  <TitlesOfParts>
    <vt:vector size="49" baseType="lpstr">
      <vt:lpstr>Calibri</vt:lpstr>
      <vt:lpstr>Arial</vt:lpstr>
      <vt:lpstr>Nunito</vt:lpstr>
      <vt:lpstr>Trebuchet MS Italics</vt:lpstr>
      <vt:lpstr>Nunito Bold</vt:lpstr>
      <vt:lpstr>Open Sans</vt:lpstr>
      <vt:lpstr>Arimo</vt:lpstr>
      <vt:lpstr>Open Sans Bold</vt:lpstr>
      <vt:lpstr>Open Sans Bold Italics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1</dc:title>
  <dc:creator>Luis Castillo</dc:creator>
  <cp:lastModifiedBy>Luis Antonio Castillo Javier</cp:lastModifiedBy>
  <cp:revision>3</cp:revision>
  <dcterms:created xsi:type="dcterms:W3CDTF">2006-08-16T00:00:00Z</dcterms:created>
  <dcterms:modified xsi:type="dcterms:W3CDTF">2026-01-27T22:40:07Z</dcterms:modified>
  <dc:identifier>DAG-gy80kPA</dc:identifier>
</cp:coreProperties>
</file>