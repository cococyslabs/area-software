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10287000" cx="18288000"/>
  <p:notesSz cx="6858000" cy="9144000"/>
  <p:embeddedFontLst>
    <p:embeddedFont>
      <p:font typeface="Lobster"/>
      <p:regular r:id="rId28"/>
    </p:embeddedFont>
    <p:embeddedFont>
      <p:font typeface="Pacifico"/>
      <p:regular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iKrZFt0/w8LbbM8cb7yjIU5cSr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7461EB-052F-4CBC-8E2B-700261B532F2}">
  <a:tblStyle styleId="{B97461EB-052F-4CBC-8E2B-700261B532F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obster-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acific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5.xml"/><Relationship Id="rId33" Type="http://schemas.openxmlformats.org/officeDocument/2006/relationships/font" Target="fonts/OpenSans-boldItalic.fntdata"/><Relationship Id="rId10" Type="http://schemas.openxmlformats.org/officeDocument/2006/relationships/slide" Target="slides/slide4.xml"/><Relationship Id="rId32" Type="http://schemas.openxmlformats.org/officeDocument/2006/relationships/font" Target="fonts/OpenSans-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f726aa11f_0_3:notes"/>
          <p:cNvSpPr/>
          <p:nvPr>
            <p:ph idx="2" type="sldImg"/>
          </p:nvPr>
        </p:nvSpPr>
        <p:spPr>
          <a:xfrm>
            <a:off x="508000" y="685800"/>
            <a:ext cx="8127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df726aa11f_0_3:notes"/>
          <p:cNvSpPr txBox="1"/>
          <p:nvPr>
            <p:ph idx="1" type="body"/>
          </p:nvPr>
        </p:nvSpPr>
        <p:spPr>
          <a:xfrm>
            <a:off x="914400" y="4343400"/>
            <a:ext cx="73152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1" name="Google Shape;38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9" name="Google Shape;44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df726aa11f_0_1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algn="l">
              <a:lnSpc>
                <a:spcPct val="100000"/>
              </a:lnSpc>
              <a:spcBef>
                <a:spcPts val="0"/>
              </a:spcBef>
              <a:spcAft>
                <a:spcPts val="0"/>
              </a:spcAft>
              <a:buClr>
                <a:schemeClr val="dk1"/>
              </a:buClr>
              <a:buSzPts val="5600"/>
              <a:buFont typeface="Calibri"/>
              <a:buNone/>
              <a:defRPr b="0" i="0" sz="88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5600"/>
              <a:buFont typeface="Arial"/>
              <a:buNone/>
              <a:defRPr sz="3600"/>
            </a:lvl2pPr>
            <a:lvl3pPr lvl="2" algn="l">
              <a:lnSpc>
                <a:spcPct val="100000"/>
              </a:lnSpc>
              <a:spcBef>
                <a:spcPts val="0"/>
              </a:spcBef>
              <a:spcAft>
                <a:spcPts val="0"/>
              </a:spcAft>
              <a:buSzPts val="5600"/>
              <a:buFont typeface="Arial"/>
              <a:buNone/>
              <a:defRPr sz="3600"/>
            </a:lvl3pPr>
            <a:lvl4pPr lvl="3" algn="l">
              <a:lnSpc>
                <a:spcPct val="100000"/>
              </a:lnSpc>
              <a:spcBef>
                <a:spcPts val="0"/>
              </a:spcBef>
              <a:spcAft>
                <a:spcPts val="0"/>
              </a:spcAft>
              <a:buSzPts val="5600"/>
              <a:buFont typeface="Arial"/>
              <a:buNone/>
              <a:defRPr sz="3600"/>
            </a:lvl4pPr>
            <a:lvl5pPr lvl="4" algn="l">
              <a:lnSpc>
                <a:spcPct val="100000"/>
              </a:lnSpc>
              <a:spcBef>
                <a:spcPts val="0"/>
              </a:spcBef>
              <a:spcAft>
                <a:spcPts val="0"/>
              </a:spcAft>
              <a:buSzPts val="5600"/>
              <a:buFont typeface="Arial"/>
              <a:buNone/>
              <a:defRPr sz="3600"/>
            </a:lvl5pPr>
            <a:lvl6pPr lvl="5" algn="l">
              <a:lnSpc>
                <a:spcPct val="100000"/>
              </a:lnSpc>
              <a:spcBef>
                <a:spcPts val="0"/>
              </a:spcBef>
              <a:spcAft>
                <a:spcPts val="0"/>
              </a:spcAft>
              <a:buSzPts val="5600"/>
              <a:buFont typeface="Arial"/>
              <a:buNone/>
              <a:defRPr sz="3600"/>
            </a:lvl6pPr>
            <a:lvl7pPr lvl="6" algn="l">
              <a:lnSpc>
                <a:spcPct val="100000"/>
              </a:lnSpc>
              <a:spcBef>
                <a:spcPts val="0"/>
              </a:spcBef>
              <a:spcAft>
                <a:spcPts val="0"/>
              </a:spcAft>
              <a:buSzPts val="5600"/>
              <a:buFont typeface="Arial"/>
              <a:buNone/>
              <a:defRPr sz="3600"/>
            </a:lvl7pPr>
            <a:lvl8pPr lvl="7" algn="l">
              <a:lnSpc>
                <a:spcPct val="100000"/>
              </a:lnSpc>
              <a:spcBef>
                <a:spcPts val="0"/>
              </a:spcBef>
              <a:spcAft>
                <a:spcPts val="0"/>
              </a:spcAft>
              <a:buSzPts val="5600"/>
              <a:buFont typeface="Arial"/>
              <a:buNone/>
              <a:defRPr sz="3600"/>
            </a:lvl8pPr>
            <a:lvl9pPr lvl="8" algn="l">
              <a:lnSpc>
                <a:spcPct val="100000"/>
              </a:lnSpc>
              <a:spcBef>
                <a:spcPts val="0"/>
              </a:spcBef>
              <a:spcAft>
                <a:spcPts val="0"/>
              </a:spcAft>
              <a:buSzPts val="5600"/>
              <a:buFont typeface="Arial"/>
              <a:buNone/>
              <a:defRPr sz="3600"/>
            </a:lvl9pPr>
          </a:lstStyle>
          <a:p/>
        </p:txBody>
      </p:sp>
      <p:sp>
        <p:nvSpPr>
          <p:cNvPr id="82" name="Google Shape;82;g3df726aa11f_0_1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marR="0" algn="l">
              <a:lnSpc>
                <a:spcPct val="115000"/>
              </a:lnSpc>
              <a:spcBef>
                <a:spcPts val="0"/>
              </a:spcBef>
              <a:spcAft>
                <a:spcPts val="0"/>
              </a:spcAft>
              <a:buClr>
                <a:schemeClr val="dk1"/>
              </a:buClr>
              <a:buSzPts val="3600"/>
              <a:buFont typeface="Arial"/>
              <a:buChar char="●"/>
              <a:defRPr b="0" i="0" sz="6400" u="none" cap="none" strike="noStrike">
                <a:solidFill>
                  <a:schemeClr val="dk1"/>
                </a:solidFill>
                <a:latin typeface="Calibri"/>
                <a:ea typeface="Calibri"/>
                <a:cs typeface="Calibri"/>
                <a:sym typeface="Calibri"/>
              </a:defRPr>
            </a:lvl1pPr>
            <a:lvl2pPr indent="-406400" lvl="1" marL="914400" marR="0" algn="l">
              <a:lnSpc>
                <a:spcPct val="115000"/>
              </a:lnSpc>
              <a:spcBef>
                <a:spcPts val="0"/>
              </a:spcBef>
              <a:spcAft>
                <a:spcPts val="0"/>
              </a:spcAft>
              <a:buClr>
                <a:schemeClr val="dk1"/>
              </a:buClr>
              <a:buSzPts val="2800"/>
              <a:buFont typeface="Arial"/>
              <a:buChar char="○"/>
              <a:defRPr b="0" i="0" sz="5600" u="none" cap="none" strike="noStrike">
                <a:solidFill>
                  <a:schemeClr val="dk1"/>
                </a:solidFill>
                <a:latin typeface="Calibri"/>
                <a:ea typeface="Calibri"/>
                <a:cs typeface="Calibri"/>
                <a:sym typeface="Calibri"/>
              </a:defRPr>
            </a:lvl2pPr>
            <a:lvl3pPr indent="-406400" lvl="2" marL="1371600" marR="0" algn="l">
              <a:lnSpc>
                <a:spcPct val="115000"/>
              </a:lnSpc>
              <a:spcBef>
                <a:spcPts val="0"/>
              </a:spcBef>
              <a:spcAft>
                <a:spcPts val="0"/>
              </a:spcAft>
              <a:buClr>
                <a:schemeClr val="dk1"/>
              </a:buClr>
              <a:buSzPts val="2800"/>
              <a:buFont typeface="Arial"/>
              <a:buChar char="■"/>
              <a:defRPr b="0" i="0" sz="4800" u="none" cap="none" strike="noStrike">
                <a:solidFill>
                  <a:schemeClr val="dk1"/>
                </a:solidFill>
                <a:latin typeface="Calibri"/>
                <a:ea typeface="Calibri"/>
                <a:cs typeface="Calibri"/>
                <a:sym typeface="Calibri"/>
              </a:defRPr>
            </a:lvl3pPr>
            <a:lvl4pPr indent="-406400" lvl="3" marL="1828800" marR="0" algn="l">
              <a:lnSpc>
                <a:spcPct val="115000"/>
              </a:lnSpc>
              <a:spcBef>
                <a:spcPts val="0"/>
              </a:spcBef>
              <a:spcAft>
                <a:spcPts val="0"/>
              </a:spcAft>
              <a:buClr>
                <a:schemeClr val="dk1"/>
              </a:buClr>
              <a:buSzPts val="2800"/>
              <a:buFont typeface="Arial"/>
              <a:buChar char="●"/>
              <a:defRPr b="0" i="0" sz="4000" u="none" cap="none" strike="noStrike">
                <a:solidFill>
                  <a:schemeClr val="dk1"/>
                </a:solidFill>
                <a:latin typeface="Calibri"/>
                <a:ea typeface="Calibri"/>
                <a:cs typeface="Calibri"/>
                <a:sym typeface="Calibri"/>
              </a:defRPr>
            </a:lvl4pPr>
            <a:lvl5pPr indent="-406400" lvl="4" marL="2286000" marR="0" algn="l">
              <a:lnSpc>
                <a:spcPct val="115000"/>
              </a:lnSpc>
              <a:spcBef>
                <a:spcPts val="0"/>
              </a:spcBef>
              <a:spcAft>
                <a:spcPts val="0"/>
              </a:spcAft>
              <a:buClr>
                <a:schemeClr val="dk1"/>
              </a:buClr>
              <a:buSzPts val="2800"/>
              <a:buFont typeface="Arial"/>
              <a:buChar char="○"/>
              <a:defRPr b="0" i="0" sz="4000" u="none" cap="none" strike="noStrike">
                <a:solidFill>
                  <a:schemeClr val="dk1"/>
                </a:solidFill>
                <a:latin typeface="Calibri"/>
                <a:ea typeface="Calibri"/>
                <a:cs typeface="Calibri"/>
                <a:sym typeface="Calibri"/>
              </a:defRPr>
            </a:lvl5pPr>
            <a:lvl6pPr indent="-406400" lvl="5" marL="2743200" marR="0" algn="l">
              <a:lnSpc>
                <a:spcPct val="115000"/>
              </a:lnSpc>
              <a:spcBef>
                <a:spcPts val="0"/>
              </a:spcBef>
              <a:spcAft>
                <a:spcPts val="0"/>
              </a:spcAft>
              <a:buClr>
                <a:schemeClr val="dk1"/>
              </a:buClr>
              <a:buSzPts val="2800"/>
              <a:buFont typeface="Arial"/>
              <a:buChar char="■"/>
              <a:defRPr b="0" i="0" sz="4000" u="none" cap="none" strike="noStrike">
                <a:solidFill>
                  <a:schemeClr val="dk1"/>
                </a:solidFill>
                <a:latin typeface="Calibri"/>
                <a:ea typeface="Calibri"/>
                <a:cs typeface="Calibri"/>
                <a:sym typeface="Calibri"/>
              </a:defRPr>
            </a:lvl6pPr>
            <a:lvl7pPr indent="-406400" lvl="6" marL="3200400" marR="0" algn="l">
              <a:lnSpc>
                <a:spcPct val="115000"/>
              </a:lnSpc>
              <a:spcBef>
                <a:spcPts val="0"/>
              </a:spcBef>
              <a:spcAft>
                <a:spcPts val="0"/>
              </a:spcAft>
              <a:buClr>
                <a:schemeClr val="dk1"/>
              </a:buClr>
              <a:buSzPts val="2800"/>
              <a:buFont typeface="Arial"/>
              <a:buChar char="●"/>
              <a:defRPr b="0" i="0" sz="4000" u="none" cap="none" strike="noStrike">
                <a:solidFill>
                  <a:schemeClr val="dk1"/>
                </a:solidFill>
                <a:latin typeface="Calibri"/>
                <a:ea typeface="Calibri"/>
                <a:cs typeface="Calibri"/>
                <a:sym typeface="Calibri"/>
              </a:defRPr>
            </a:lvl7pPr>
            <a:lvl8pPr indent="-406400" lvl="7" marL="3657600" marR="0" algn="l">
              <a:lnSpc>
                <a:spcPct val="115000"/>
              </a:lnSpc>
              <a:spcBef>
                <a:spcPts val="0"/>
              </a:spcBef>
              <a:spcAft>
                <a:spcPts val="0"/>
              </a:spcAft>
              <a:buClr>
                <a:schemeClr val="dk1"/>
              </a:buClr>
              <a:buSzPts val="2800"/>
              <a:buFont typeface="Arial"/>
              <a:buChar char="○"/>
              <a:defRPr b="0" i="0" sz="4000" u="none" cap="none" strike="noStrike">
                <a:solidFill>
                  <a:schemeClr val="dk1"/>
                </a:solidFill>
                <a:latin typeface="Calibri"/>
                <a:ea typeface="Calibri"/>
                <a:cs typeface="Calibri"/>
                <a:sym typeface="Calibri"/>
              </a:defRPr>
            </a:lvl8pPr>
            <a:lvl9pPr indent="-406400" lvl="8" marL="4114800" marR="0" algn="l">
              <a:lnSpc>
                <a:spcPct val="115000"/>
              </a:lnSpc>
              <a:spcBef>
                <a:spcPts val="0"/>
              </a:spcBef>
              <a:spcAft>
                <a:spcPts val="0"/>
              </a:spcAft>
              <a:buClr>
                <a:schemeClr val="dk1"/>
              </a:buClr>
              <a:buSzPts val="2800"/>
              <a:buFont typeface="Arial"/>
              <a:buChar char="■"/>
              <a:defRPr b="0" i="0" sz="4000" u="none" cap="none" strike="noStrike">
                <a:solidFill>
                  <a:schemeClr val="dk1"/>
                </a:solidFill>
                <a:latin typeface="Calibri"/>
                <a:ea typeface="Calibri"/>
                <a:cs typeface="Calibri"/>
                <a:sym typeface="Calibri"/>
              </a:defRPr>
            </a:lvl9pPr>
          </a:lstStyle>
          <a:p/>
        </p:txBody>
      </p:sp>
      <p:sp>
        <p:nvSpPr>
          <p:cNvPr id="83" name="Google Shape;83;g3df726aa11f_0_1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hyperlink" Target="https://platzi.com/blog/que-es-frontend-y-backend/" TargetMode="External"/><Relationship Id="rId5" Type="http://schemas.openxmlformats.org/officeDocument/2006/relationships/hyperlink" Target="https://platzi.com/blog/que-es-frontend-y-backend/" TargetMode="External"/><Relationship Id="rId6" Type="http://schemas.openxmlformats.org/officeDocument/2006/relationships/hyperlink" Target="https://www.cesuma.mx/blog/que-es-el-framework.html" TargetMode="External"/><Relationship Id="rId7" Type="http://schemas.openxmlformats.org/officeDocument/2006/relationships/hyperlink" Target="https://www.cesuma.mx/blog/que-es-el-framework.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df726aa11f_0_3"/>
          <p:cNvPicPr preferRelativeResize="0"/>
          <p:nvPr/>
        </p:nvPicPr>
        <p:blipFill rotWithShape="1">
          <a:blip r:embed="rId3">
            <a:alphaModFix amt="62000"/>
          </a:blip>
          <a:srcRect b="0" l="0" r="0" t="0"/>
          <a:stretch/>
        </p:blipFill>
        <p:spPr>
          <a:xfrm>
            <a:off x="33802" y="0"/>
            <a:ext cx="18254198" cy="10287001"/>
          </a:xfrm>
          <a:prstGeom prst="rect">
            <a:avLst/>
          </a:prstGeom>
          <a:noFill/>
          <a:ln>
            <a:noFill/>
          </a:ln>
        </p:spPr>
      </p:pic>
      <p:graphicFrame>
        <p:nvGraphicFramePr>
          <p:cNvPr id="89" name="Google Shape;89;g3df726aa11f_0_3"/>
          <p:cNvGraphicFramePr/>
          <p:nvPr/>
        </p:nvGraphicFramePr>
        <p:xfrm>
          <a:off x="10656402" y="1940050"/>
          <a:ext cx="3000000" cy="3000000"/>
        </p:xfrm>
        <a:graphic>
          <a:graphicData uri="http://schemas.openxmlformats.org/drawingml/2006/table">
            <a:tbl>
              <a:tblPr>
                <a:noFill/>
                <a:tableStyleId>{B97461EB-052F-4CBC-8E2B-700261B532F2}</a:tableStyleId>
              </a:tblPr>
              <a:tblGrid>
                <a:gridCol w="3036400"/>
                <a:gridCol w="4344750"/>
              </a:tblGrid>
              <a:tr h="91435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2"/>
                          </a:solidFill>
                        </a:rPr>
                        <a:t>Día, Fecha:</a:t>
                      </a:r>
                      <a:endParaRPr b="1" sz="2800" u="none" cap="none" strike="noStrike">
                        <a:solidFill>
                          <a:schemeClr val="dk2"/>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600"/>
                        <a:buFont typeface="Arial"/>
                        <a:buNone/>
                      </a:pPr>
                      <a:r>
                        <a:t/>
                      </a:r>
                      <a:endParaRPr sz="34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1435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2"/>
                          </a:solidFill>
                        </a:rPr>
                        <a:t>Hora de inicio:</a:t>
                      </a:r>
                      <a:endParaRPr b="1" sz="2800" u="none" cap="none" strike="noStrike">
                        <a:solidFill>
                          <a:schemeClr val="dk2"/>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600"/>
                        <a:buFont typeface="Arial"/>
                        <a:buNone/>
                      </a:pPr>
                      <a:r>
                        <a:rPr lang="en-US" sz="3600" u="none" cap="none" strike="noStrike"/>
                        <a:t>17:20</a:t>
                      </a:r>
                      <a:endParaRPr sz="36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90" name="Google Shape;90;g3df726aa11f_0_3"/>
          <p:cNvSpPr/>
          <p:nvPr/>
        </p:nvSpPr>
        <p:spPr>
          <a:xfrm>
            <a:off x="4371772" y="5988676"/>
            <a:ext cx="7365000" cy="7248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50" lIns="91450" spcFirstLastPara="1" rIns="91450" wrap="square" tIns="91450">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Calibri"/>
                <a:ea typeface="Calibri"/>
                <a:cs typeface="Calibri"/>
                <a:sym typeface="Calibri"/>
              </a:rPr>
              <a:t>LUIS ANTONIO CASTILLO JAVIER</a:t>
            </a:r>
            <a:endParaRPr b="0" i="0" sz="2600" u="none" cap="none" strike="noStrike">
              <a:solidFill>
                <a:srgbClr val="000000"/>
              </a:solidFill>
              <a:latin typeface="Calibri"/>
              <a:ea typeface="Calibri"/>
              <a:cs typeface="Calibri"/>
              <a:sym typeface="Calibri"/>
            </a:endParaRPr>
          </a:p>
        </p:txBody>
      </p:sp>
      <p:sp>
        <p:nvSpPr>
          <p:cNvPr id="91" name="Google Shape;91;g3df726aa11f_0_3"/>
          <p:cNvSpPr/>
          <p:nvPr/>
        </p:nvSpPr>
        <p:spPr>
          <a:xfrm>
            <a:off x="3090926" y="4781250"/>
            <a:ext cx="10142400" cy="7248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50" lIns="91450" spcFirstLastPara="1" rIns="91450" wrap="square" tIns="9145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Calibri"/>
                <a:ea typeface="Calibri"/>
                <a:cs typeface="Calibri"/>
                <a:sym typeface="Calibri"/>
              </a:rPr>
              <a:t>INTRODUCCIÓN A LA PROGRAMACIÓN Y COMPUTACIÓN 2</a:t>
            </a:r>
            <a:endParaRPr b="0" i="0" sz="32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95" name="Shape 95"/>
        <p:cNvGrpSpPr/>
        <p:nvPr/>
      </p:nvGrpSpPr>
      <p:grpSpPr>
        <a:xfrm>
          <a:off x="0" y="0"/>
          <a:ext cx="0" cy="0"/>
          <a:chOff x="0" y="0"/>
          <a:chExt cx="0" cy="0"/>
        </a:xfrm>
      </p:grpSpPr>
      <p:sp>
        <p:nvSpPr>
          <p:cNvPr id="96" name="Google Shape;96;p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97" name="Google Shape;97;p1"/>
          <p:cNvGrpSpPr/>
          <p:nvPr/>
        </p:nvGrpSpPr>
        <p:grpSpPr>
          <a:xfrm>
            <a:off x="414625" y="196812"/>
            <a:ext cx="17458749" cy="9459392"/>
            <a:chOff x="0" y="-114300"/>
            <a:chExt cx="4598189" cy="2491363"/>
          </a:xfrm>
        </p:grpSpPr>
        <p:sp>
          <p:nvSpPr>
            <p:cNvPr id="98" name="Google Shape;98;p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0" name="Google Shape;100;p1"/>
          <p:cNvSpPr/>
          <p:nvPr/>
        </p:nvSpPr>
        <p:spPr>
          <a:xfrm>
            <a:off x="12541309" y="0"/>
            <a:ext cx="5746718" cy="1711738"/>
          </a:xfrm>
          <a:custGeom>
            <a:rect b="b" l="l" r="r" t="t"/>
            <a:pathLst>
              <a:path extrusionOk="0" h="2282317" w="7662291">
                <a:moveTo>
                  <a:pt x="0" y="0"/>
                </a:moveTo>
                <a:lnTo>
                  <a:pt x="7662291" y="0"/>
                </a:lnTo>
                <a:lnTo>
                  <a:pt x="7662291" y="2282317"/>
                </a:lnTo>
                <a:lnTo>
                  <a:pt x="0" y="2282317"/>
                </a:lnTo>
                <a:lnTo>
                  <a:pt x="0" y="0"/>
                </a:lnTo>
                <a:close/>
              </a:path>
            </a:pathLst>
          </a:custGeom>
          <a:blipFill rotWithShape="1">
            <a:blip r:embed="rId4">
              <a:alphaModFix/>
            </a:blip>
            <a:stretch>
              <a:fillRect b="-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1" name="Google Shape;101;p1"/>
          <p:cNvGrpSpPr/>
          <p:nvPr/>
        </p:nvGrpSpPr>
        <p:grpSpPr>
          <a:xfrm>
            <a:off x="1028700" y="6800452"/>
            <a:ext cx="16678248" cy="1204528"/>
            <a:chOff x="0" y="-228600"/>
            <a:chExt cx="22237664" cy="1606037"/>
          </a:xfrm>
        </p:grpSpPr>
        <p:sp>
          <p:nvSpPr>
            <p:cNvPr id="102" name="Google Shape;102;p1"/>
            <p:cNvSpPr/>
            <p:nvPr/>
          </p:nvSpPr>
          <p:spPr>
            <a:xfrm>
              <a:off x="0" y="0"/>
              <a:ext cx="22237664" cy="1377437"/>
            </a:xfrm>
            <a:custGeom>
              <a:rect b="b" l="l" r="r" t="t"/>
              <a:pathLst>
                <a:path extrusionOk="0" h="1377437" w="22237664">
                  <a:moveTo>
                    <a:pt x="0" y="0"/>
                  </a:moveTo>
                  <a:lnTo>
                    <a:pt x="22237664" y="0"/>
                  </a:lnTo>
                  <a:lnTo>
                    <a:pt x="22237664" y="1377437"/>
                  </a:lnTo>
                  <a:lnTo>
                    <a:pt x="0" y="1377437"/>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1"/>
            <p:cNvSpPr txBox="1"/>
            <p:nvPr/>
          </p:nvSpPr>
          <p:spPr>
            <a:xfrm>
              <a:off x="0" y="-228600"/>
              <a:ext cx="22237664" cy="1606037"/>
            </a:xfrm>
            <a:prstGeom prst="rect">
              <a:avLst/>
            </a:prstGeom>
            <a:noFill/>
            <a:ln>
              <a:noFill/>
            </a:ln>
          </p:spPr>
          <p:txBody>
            <a:bodyPr anchorCtr="0" anchor="t" bIns="0" lIns="0" spcFirstLastPara="1" rIns="0" wrap="square" tIns="0">
              <a:noAutofit/>
            </a:bodyPr>
            <a:lstStyle/>
            <a:p>
              <a:pPr indent="0" lvl="0" marL="0" marR="0" rtl="0" algn="l">
                <a:lnSpc>
                  <a:spcPct val="168013"/>
                </a:lnSpc>
                <a:spcBef>
                  <a:spcPts val="0"/>
                </a:spcBef>
                <a:spcAft>
                  <a:spcPts val="0"/>
                </a:spcAft>
                <a:buClr>
                  <a:srgbClr val="000000"/>
                </a:buClr>
                <a:buSzPts val="4999"/>
                <a:buFont typeface="Arial"/>
                <a:buNone/>
              </a:pPr>
              <a:r>
                <a:rPr b="1" i="0" lang="en-US" sz="4999" u="none" cap="none" strike="noStrike">
                  <a:solidFill>
                    <a:srgbClr val="131416"/>
                  </a:solidFill>
                  <a:latin typeface="Open Sans"/>
                  <a:ea typeface="Open Sans"/>
                  <a:cs typeface="Open Sans"/>
                  <a:sym typeface="Open Sans"/>
                </a:rPr>
                <a:t>Introducción a la Programación y Computación 2</a:t>
              </a:r>
              <a:endParaRPr b="0" i="0" sz="1400" u="none" cap="none" strike="noStrike">
                <a:solidFill>
                  <a:srgbClr val="000000"/>
                </a:solidFill>
                <a:latin typeface="Arial"/>
                <a:ea typeface="Arial"/>
                <a:cs typeface="Arial"/>
                <a:sym typeface="Arial"/>
              </a:endParaRPr>
            </a:p>
          </p:txBody>
        </p:sp>
      </p:grpSp>
      <p:grpSp>
        <p:nvGrpSpPr>
          <p:cNvPr id="104" name="Google Shape;104;p1"/>
          <p:cNvGrpSpPr/>
          <p:nvPr/>
        </p:nvGrpSpPr>
        <p:grpSpPr>
          <a:xfrm>
            <a:off x="1028700" y="2383288"/>
            <a:ext cx="16230600" cy="4194103"/>
            <a:chOff x="0" y="-419100"/>
            <a:chExt cx="21640800" cy="5592137"/>
          </a:xfrm>
        </p:grpSpPr>
        <p:sp>
          <p:nvSpPr>
            <p:cNvPr id="105" name="Google Shape;105;p1"/>
            <p:cNvSpPr/>
            <p:nvPr/>
          </p:nvSpPr>
          <p:spPr>
            <a:xfrm>
              <a:off x="0" y="0"/>
              <a:ext cx="21640800" cy="5173037"/>
            </a:xfrm>
            <a:custGeom>
              <a:rect b="b" l="l" r="r" t="t"/>
              <a:pathLst>
                <a:path extrusionOk="0" h="5173037" w="21640800">
                  <a:moveTo>
                    <a:pt x="0" y="0"/>
                  </a:moveTo>
                  <a:lnTo>
                    <a:pt x="21640800" y="0"/>
                  </a:lnTo>
                  <a:lnTo>
                    <a:pt x="21640800" y="5173037"/>
                  </a:lnTo>
                  <a:lnTo>
                    <a:pt x="0" y="5173037"/>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1"/>
            <p:cNvSpPr txBox="1"/>
            <p:nvPr/>
          </p:nvSpPr>
          <p:spPr>
            <a:xfrm>
              <a:off x="0" y="-419100"/>
              <a:ext cx="21640800" cy="5592137"/>
            </a:xfrm>
            <a:prstGeom prst="rect">
              <a:avLst/>
            </a:prstGeom>
            <a:noFill/>
            <a:ln>
              <a:noFill/>
            </a:ln>
          </p:spPr>
          <p:txBody>
            <a:bodyPr anchorCtr="0" anchor="t" bIns="0" lIns="0" spcFirstLastPara="1" rIns="0" wrap="square" tIns="0">
              <a:noAutofit/>
            </a:bodyPr>
            <a:lstStyle/>
            <a:p>
              <a:pPr indent="0" lvl="0" marL="0" marR="0" rtl="0" algn="ctr">
                <a:lnSpc>
                  <a:spcPct val="168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ASP.NET CORE WEB API PARA BACKEND</a:t>
              </a:r>
              <a:endParaRPr b="0" i="0" sz="1400" u="none" cap="none" strike="noStrike">
                <a:solidFill>
                  <a:srgbClr val="000000"/>
                </a:solidFill>
                <a:latin typeface="Arial"/>
                <a:ea typeface="Arial"/>
                <a:cs typeface="Arial"/>
                <a:sym typeface="Arial"/>
              </a:endParaRPr>
            </a:p>
          </p:txBody>
        </p:sp>
      </p:grpSp>
      <p:grpSp>
        <p:nvGrpSpPr>
          <p:cNvPr id="107" name="Google Shape;107;p1"/>
          <p:cNvGrpSpPr/>
          <p:nvPr/>
        </p:nvGrpSpPr>
        <p:grpSpPr>
          <a:xfrm>
            <a:off x="1028700" y="8065966"/>
            <a:ext cx="6981379" cy="508000"/>
            <a:chOff x="0" y="-114300"/>
            <a:chExt cx="9308505" cy="677333"/>
          </a:xfrm>
        </p:grpSpPr>
        <p:sp>
          <p:nvSpPr>
            <p:cNvPr id="108" name="Google Shape;108;p1"/>
            <p:cNvSpPr/>
            <p:nvPr/>
          </p:nvSpPr>
          <p:spPr>
            <a:xfrm>
              <a:off x="0" y="0"/>
              <a:ext cx="9308505" cy="563033"/>
            </a:xfrm>
            <a:custGeom>
              <a:rect b="b" l="l" r="r" t="t"/>
              <a:pathLst>
                <a:path extrusionOk="0" h="563033" w="9308505">
                  <a:moveTo>
                    <a:pt x="0" y="0"/>
                  </a:moveTo>
                  <a:lnTo>
                    <a:pt x="9308505" y="0"/>
                  </a:lnTo>
                  <a:lnTo>
                    <a:pt x="9308505" y="563033"/>
                  </a:lnTo>
                  <a:lnTo>
                    <a:pt x="0" y="563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1"/>
            <p:cNvSpPr txBox="1"/>
            <p:nvPr/>
          </p:nvSpPr>
          <p:spPr>
            <a:xfrm>
              <a:off x="0" y="-114300"/>
              <a:ext cx="9308505" cy="677333"/>
            </a:xfrm>
            <a:prstGeom prst="rect">
              <a:avLst/>
            </a:prstGeom>
            <a:noFill/>
            <a:ln>
              <a:noFill/>
            </a:ln>
          </p:spPr>
          <p:txBody>
            <a:bodyPr anchorCtr="0" anchor="t" bIns="0" lIns="0" spcFirstLastPara="1" rIns="0" wrap="square" tIns="0">
              <a:noAutofit/>
            </a:bodyPr>
            <a:lstStyle/>
            <a:p>
              <a:pPr indent="0" lvl="0" marL="0" marR="0" rtl="0" algn="ctr">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0" i="0" sz="1400" u="none" cap="none" strike="noStrike">
                <a:solidFill>
                  <a:srgbClr val="000000"/>
                </a:solidFill>
                <a:latin typeface="Arial"/>
                <a:ea typeface="Arial"/>
                <a:cs typeface="Arial"/>
                <a:sym typeface="Arial"/>
              </a:endParaRPr>
            </a:p>
          </p:txBody>
        </p:sp>
      </p:grpSp>
      <p:grpSp>
        <p:nvGrpSpPr>
          <p:cNvPr id="110" name="Google Shape;110;p1"/>
          <p:cNvGrpSpPr/>
          <p:nvPr/>
        </p:nvGrpSpPr>
        <p:grpSpPr>
          <a:xfrm>
            <a:off x="1028700" y="8535866"/>
            <a:ext cx="6667500" cy="508000"/>
            <a:chOff x="0" y="-114300"/>
            <a:chExt cx="8890000" cy="677333"/>
          </a:xfrm>
        </p:grpSpPr>
        <p:sp>
          <p:nvSpPr>
            <p:cNvPr id="111" name="Google Shape;111;p1"/>
            <p:cNvSpPr/>
            <p:nvPr/>
          </p:nvSpPr>
          <p:spPr>
            <a:xfrm>
              <a:off x="0" y="0"/>
              <a:ext cx="8890000" cy="563033"/>
            </a:xfrm>
            <a:custGeom>
              <a:rect b="b" l="l" r="r" t="t"/>
              <a:pathLst>
                <a:path extrusionOk="0" h="563033" w="8890000">
                  <a:moveTo>
                    <a:pt x="0" y="0"/>
                  </a:moveTo>
                  <a:lnTo>
                    <a:pt x="8890000" y="0"/>
                  </a:lnTo>
                  <a:lnTo>
                    <a:pt x="8890000" y="563033"/>
                  </a:lnTo>
                  <a:lnTo>
                    <a:pt x="0" y="563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1"/>
            <p:cNvSpPr txBox="1"/>
            <p:nvPr/>
          </p:nvSpPr>
          <p:spPr>
            <a:xfrm>
              <a:off x="0" y="-114300"/>
              <a:ext cx="8890000" cy="677333"/>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0" i="0" sz="1400" u="none" cap="none" strike="noStrike">
                <a:solidFill>
                  <a:srgbClr val="000000"/>
                </a:solidFill>
                <a:latin typeface="Arial"/>
                <a:ea typeface="Arial"/>
                <a:cs typeface="Arial"/>
                <a:sym typeface="Arial"/>
              </a:endParaRPr>
            </a:p>
          </p:txBody>
        </p:sp>
      </p:grpSp>
      <p:grpSp>
        <p:nvGrpSpPr>
          <p:cNvPr id="113" name="Google Shape;113;p1"/>
          <p:cNvGrpSpPr/>
          <p:nvPr/>
        </p:nvGrpSpPr>
        <p:grpSpPr>
          <a:xfrm>
            <a:off x="1028700" y="9003528"/>
            <a:ext cx="8115300" cy="597445"/>
            <a:chOff x="0" y="-114300"/>
            <a:chExt cx="10820400" cy="796594"/>
          </a:xfrm>
        </p:grpSpPr>
        <p:sp>
          <p:nvSpPr>
            <p:cNvPr id="114" name="Google Shape;114;p1"/>
            <p:cNvSpPr/>
            <p:nvPr/>
          </p:nvSpPr>
          <p:spPr>
            <a:xfrm>
              <a:off x="0" y="0"/>
              <a:ext cx="10820400" cy="682294"/>
            </a:xfrm>
            <a:custGeom>
              <a:rect b="b" l="l" r="r" t="t"/>
              <a:pathLst>
                <a:path extrusionOk="0" h="682294" w="10820400">
                  <a:moveTo>
                    <a:pt x="0" y="0"/>
                  </a:moveTo>
                  <a:lnTo>
                    <a:pt x="10820400" y="0"/>
                  </a:lnTo>
                  <a:lnTo>
                    <a:pt x="10820400" y="682294"/>
                  </a:lnTo>
                  <a:lnTo>
                    <a:pt x="0" y="682294"/>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1"/>
            <p:cNvSpPr txBox="1"/>
            <p:nvPr/>
          </p:nvSpPr>
          <p:spPr>
            <a:xfrm>
              <a:off x="0" y="-114300"/>
              <a:ext cx="10820400" cy="796594"/>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19" name="Shape 119"/>
        <p:cNvGrpSpPr/>
        <p:nvPr/>
      </p:nvGrpSpPr>
      <p:grpSpPr>
        <a:xfrm>
          <a:off x="0" y="0"/>
          <a:ext cx="0" cy="0"/>
          <a:chOff x="0" y="0"/>
          <a:chExt cx="0" cy="0"/>
        </a:xfrm>
      </p:grpSpPr>
      <p:sp>
        <p:nvSpPr>
          <p:cNvPr id="120" name="Google Shape;120;p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21" name="Google Shape;121;p2"/>
          <p:cNvGrpSpPr/>
          <p:nvPr/>
        </p:nvGrpSpPr>
        <p:grpSpPr>
          <a:xfrm>
            <a:off x="414625" y="196812"/>
            <a:ext cx="17458749" cy="9459392"/>
            <a:chOff x="0" y="-114300"/>
            <a:chExt cx="4598189" cy="2491363"/>
          </a:xfrm>
        </p:grpSpPr>
        <p:sp>
          <p:nvSpPr>
            <p:cNvPr id="122" name="Google Shape;122;p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4" name="Google Shape;124;p2"/>
          <p:cNvGrpSpPr/>
          <p:nvPr/>
        </p:nvGrpSpPr>
        <p:grpSpPr>
          <a:xfrm>
            <a:off x="1752042" y="4435634"/>
            <a:ext cx="5834824" cy="1002547"/>
            <a:chOff x="0" y="-209550"/>
            <a:chExt cx="7779766" cy="1336730"/>
          </a:xfrm>
        </p:grpSpPr>
        <p:sp>
          <p:nvSpPr>
            <p:cNvPr id="125" name="Google Shape;125;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 name="Google Shape;126;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¿Que es Backend?</a:t>
              </a:r>
              <a:endParaRPr b="0" i="0" sz="1400" u="none" cap="none" strike="noStrike">
                <a:solidFill>
                  <a:srgbClr val="000000"/>
                </a:solidFill>
                <a:latin typeface="Arial"/>
                <a:ea typeface="Arial"/>
                <a:cs typeface="Arial"/>
                <a:sym typeface="Arial"/>
              </a:endParaRPr>
            </a:p>
          </p:txBody>
        </p:sp>
      </p:grpSp>
      <p:sp>
        <p:nvSpPr>
          <p:cNvPr id="127" name="Google Shape;127;p2"/>
          <p:cNvSpPr/>
          <p:nvPr/>
        </p:nvSpPr>
        <p:spPr>
          <a:xfrm>
            <a:off x="87865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28" name="Google Shape;128;p2"/>
          <p:cNvGrpSpPr/>
          <p:nvPr/>
        </p:nvGrpSpPr>
        <p:grpSpPr>
          <a:xfrm>
            <a:off x="1866989" y="2856821"/>
            <a:ext cx="3681207" cy="1713646"/>
            <a:chOff x="0" y="-209550"/>
            <a:chExt cx="4908276" cy="2284862"/>
          </a:xfrm>
        </p:grpSpPr>
        <p:sp>
          <p:nvSpPr>
            <p:cNvPr id="129" name="Google Shape;129;p2"/>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p2"/>
            <p:cNvSpPr txBox="1"/>
            <p:nvPr/>
          </p:nvSpPr>
          <p:spPr>
            <a:xfrm>
              <a:off x="0" y="-209550"/>
              <a:ext cx="4908276" cy="2284862"/>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31" name="Google Shape;131;p2"/>
          <p:cNvSpPr/>
          <p:nvPr/>
        </p:nvSpPr>
        <p:spPr>
          <a:xfrm>
            <a:off x="651754" y="3429735"/>
            <a:ext cx="753904" cy="872966"/>
          </a:xfrm>
          <a:custGeom>
            <a:rect b="b" l="l" r="r" t="t"/>
            <a:pathLst>
              <a:path extrusionOk="0" h="1163955" w="1005205">
                <a:moveTo>
                  <a:pt x="0" y="0"/>
                </a:moveTo>
                <a:lnTo>
                  <a:pt x="1005205" y="0"/>
                </a:lnTo>
                <a:lnTo>
                  <a:pt x="1005205" y="1163955"/>
                </a:lnTo>
                <a:lnTo>
                  <a:pt x="0" y="1163955"/>
                </a:lnTo>
                <a:lnTo>
                  <a:pt x="0" y="0"/>
                </a:lnTo>
                <a:close/>
              </a:path>
            </a:pathLst>
          </a:custGeom>
          <a:blipFill rotWithShape="1">
            <a:blip r:embed="rId5">
              <a:alphaModFix/>
            </a:blip>
            <a:stretch>
              <a:fillRect b="-29" l="0" r="0" t="-3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32" name="Google Shape;132;p2"/>
          <p:cNvGrpSpPr/>
          <p:nvPr/>
        </p:nvGrpSpPr>
        <p:grpSpPr>
          <a:xfrm>
            <a:off x="10105990" y="196804"/>
            <a:ext cx="8182010" cy="3695912"/>
            <a:chOff x="0" y="-635283"/>
            <a:chExt cx="10909347" cy="4927883"/>
          </a:xfrm>
        </p:grpSpPr>
        <p:sp>
          <p:nvSpPr>
            <p:cNvPr id="133" name="Google Shape;133;p2"/>
            <p:cNvSpPr/>
            <p:nvPr/>
          </p:nvSpPr>
          <p:spPr>
            <a:xfrm>
              <a:off x="0" y="0"/>
              <a:ext cx="10909347" cy="4292600"/>
            </a:xfrm>
            <a:custGeom>
              <a:rect b="b" l="l" r="r" t="t"/>
              <a:pathLst>
                <a:path extrusionOk="0" h="4292600" w="10909347">
                  <a:moveTo>
                    <a:pt x="0" y="0"/>
                  </a:moveTo>
                  <a:lnTo>
                    <a:pt x="10909347" y="0"/>
                  </a:lnTo>
                  <a:lnTo>
                    <a:pt x="10909347" y="4292600"/>
                  </a:lnTo>
                  <a:lnTo>
                    <a:pt x="0" y="429260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 name="Google Shape;134;p2"/>
            <p:cNvSpPr txBox="1"/>
            <p:nvPr/>
          </p:nvSpPr>
          <p:spPr>
            <a:xfrm>
              <a:off x="0" y="-635283"/>
              <a:ext cx="10909200" cy="45402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Arial"/>
                <a:ea typeface="Arial"/>
                <a:cs typeface="Arial"/>
                <a:sym typeface="Arial"/>
              </a:endParaRPr>
            </a:p>
          </p:txBody>
        </p:sp>
      </p:grpSp>
      <p:sp>
        <p:nvSpPr>
          <p:cNvPr id="135" name="Google Shape;135;p2"/>
          <p:cNvSpPr/>
          <p:nvPr/>
        </p:nvSpPr>
        <p:spPr>
          <a:xfrm>
            <a:off x="878654" y="562328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878654" y="6604853"/>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2"/>
          <p:cNvSpPr/>
          <p:nvPr/>
        </p:nvSpPr>
        <p:spPr>
          <a:xfrm>
            <a:off x="878654" y="7604635"/>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 name="Google Shape;138;p2"/>
          <p:cNvSpPr/>
          <p:nvPr/>
        </p:nvSpPr>
        <p:spPr>
          <a:xfrm>
            <a:off x="878654" y="860554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39" name="Google Shape;139;p2"/>
          <p:cNvGrpSpPr/>
          <p:nvPr/>
        </p:nvGrpSpPr>
        <p:grpSpPr>
          <a:xfrm>
            <a:off x="1752042" y="5318472"/>
            <a:ext cx="5834824" cy="1002548"/>
            <a:chOff x="0" y="-209550"/>
            <a:chExt cx="7779766" cy="1336730"/>
          </a:xfrm>
        </p:grpSpPr>
        <p:sp>
          <p:nvSpPr>
            <p:cNvPr id="140" name="Google Shape;140;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 name="Google Shape;141;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¿Que es API REST?</a:t>
              </a:r>
              <a:endParaRPr b="0" i="0" sz="1400" u="none" cap="none" strike="noStrike">
                <a:solidFill>
                  <a:srgbClr val="000000"/>
                </a:solidFill>
                <a:latin typeface="Arial"/>
                <a:ea typeface="Arial"/>
                <a:cs typeface="Arial"/>
                <a:sym typeface="Arial"/>
              </a:endParaRPr>
            </a:p>
          </p:txBody>
        </p:sp>
      </p:grpSp>
      <p:grpSp>
        <p:nvGrpSpPr>
          <p:cNvPr id="142" name="Google Shape;142;p2"/>
          <p:cNvGrpSpPr/>
          <p:nvPr/>
        </p:nvGrpSpPr>
        <p:grpSpPr>
          <a:xfrm>
            <a:off x="1752042" y="6300046"/>
            <a:ext cx="5834824" cy="1002548"/>
            <a:chOff x="0" y="-209550"/>
            <a:chExt cx="7779766" cy="1336730"/>
          </a:xfrm>
        </p:grpSpPr>
        <p:sp>
          <p:nvSpPr>
            <p:cNvPr id="143" name="Google Shape;143;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¿Que es un Framework?</a:t>
              </a:r>
              <a:endParaRPr b="0" i="0" sz="1400" u="none" cap="none" strike="noStrike">
                <a:solidFill>
                  <a:srgbClr val="000000"/>
                </a:solidFill>
                <a:latin typeface="Arial"/>
                <a:ea typeface="Arial"/>
                <a:cs typeface="Arial"/>
                <a:sym typeface="Arial"/>
              </a:endParaRPr>
            </a:p>
          </p:txBody>
        </p:sp>
      </p:grpSp>
      <p:grpSp>
        <p:nvGrpSpPr>
          <p:cNvPr id="145" name="Google Shape;145;p2"/>
          <p:cNvGrpSpPr/>
          <p:nvPr/>
        </p:nvGrpSpPr>
        <p:grpSpPr>
          <a:xfrm>
            <a:off x="1752042" y="7299827"/>
            <a:ext cx="5834824" cy="1002548"/>
            <a:chOff x="0" y="-209550"/>
            <a:chExt cx="7779766" cy="1336730"/>
          </a:xfrm>
        </p:grpSpPr>
        <p:sp>
          <p:nvSpPr>
            <p:cNvPr id="146" name="Google Shape;146;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¿Que es Flask?</a:t>
              </a:r>
              <a:endParaRPr b="0" i="0" sz="1400" u="none" cap="none" strike="noStrike">
                <a:solidFill>
                  <a:srgbClr val="000000"/>
                </a:solidFill>
                <a:latin typeface="Arial"/>
                <a:ea typeface="Arial"/>
                <a:cs typeface="Arial"/>
                <a:sym typeface="Arial"/>
              </a:endParaRPr>
            </a:p>
          </p:txBody>
        </p:sp>
      </p:grpSp>
      <p:grpSp>
        <p:nvGrpSpPr>
          <p:cNvPr id="148" name="Google Shape;148;p2"/>
          <p:cNvGrpSpPr/>
          <p:nvPr/>
        </p:nvGrpSpPr>
        <p:grpSpPr>
          <a:xfrm>
            <a:off x="1752042" y="8300732"/>
            <a:ext cx="5834824" cy="1002548"/>
            <a:chOff x="0" y="-209550"/>
            <a:chExt cx="7779766" cy="1336730"/>
          </a:xfrm>
        </p:grpSpPr>
        <p:sp>
          <p:nvSpPr>
            <p:cNvPr id="149" name="Google Shape;149;p2"/>
            <p:cNvSpPr/>
            <p:nvPr/>
          </p:nvSpPr>
          <p:spPr>
            <a:xfrm>
              <a:off x="0" y="0"/>
              <a:ext cx="7779765" cy="1127180"/>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2"/>
            <p:cNvSpPr txBox="1"/>
            <p:nvPr/>
          </p:nvSpPr>
          <p:spPr>
            <a:xfrm>
              <a:off x="0" y="-209550"/>
              <a:ext cx="7779766" cy="1336730"/>
            </a:xfrm>
            <a:prstGeom prst="rect">
              <a:avLst/>
            </a:prstGeom>
            <a:noFill/>
            <a:ln>
              <a:noFill/>
            </a:ln>
          </p:spPr>
          <p:txBody>
            <a:bodyPr anchorCtr="0" anchor="ctr" bIns="0" lIns="0" spcFirstLastPara="1" rIns="0" wrap="square" tIns="0">
              <a:noAutofit/>
            </a:bodyPr>
            <a:lstStyle/>
            <a:p>
              <a:pPr indent="0" lvl="0" marL="0" marR="0" rtl="0" algn="l">
                <a:lnSpc>
                  <a:spcPct val="177599"/>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¿Por que usar Flask?</a:t>
              </a:r>
              <a:endParaRPr b="0" i="0" sz="1400" u="none" cap="none" strike="noStrike">
                <a:solidFill>
                  <a:srgbClr val="000000"/>
                </a:solidFill>
                <a:latin typeface="Arial"/>
                <a:ea typeface="Arial"/>
                <a:cs typeface="Arial"/>
                <a:sym typeface="Arial"/>
              </a:endParaRPr>
            </a:p>
          </p:txBody>
        </p:sp>
      </p:grpSp>
      <p:grpSp>
        <p:nvGrpSpPr>
          <p:cNvPr id="151" name="Google Shape;151;p2"/>
          <p:cNvGrpSpPr/>
          <p:nvPr/>
        </p:nvGrpSpPr>
        <p:grpSpPr>
          <a:xfrm>
            <a:off x="651750" y="196807"/>
            <a:ext cx="6385675" cy="2904299"/>
            <a:chOff x="-5" y="-838607"/>
            <a:chExt cx="8244900" cy="6089955"/>
          </a:xfrm>
        </p:grpSpPr>
        <p:sp>
          <p:nvSpPr>
            <p:cNvPr id="152" name="Google Shape;152;p2"/>
            <p:cNvSpPr/>
            <p:nvPr/>
          </p:nvSpPr>
          <p:spPr>
            <a:xfrm>
              <a:off x="0" y="0"/>
              <a:ext cx="8244817" cy="5251348"/>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 name="Google Shape;153;p2"/>
            <p:cNvSpPr txBox="1"/>
            <p:nvPr/>
          </p:nvSpPr>
          <p:spPr>
            <a:xfrm>
              <a:off x="-5" y="-838607"/>
              <a:ext cx="8244900" cy="55086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57" name="Shape 157"/>
        <p:cNvGrpSpPr/>
        <p:nvPr/>
      </p:nvGrpSpPr>
      <p:grpSpPr>
        <a:xfrm>
          <a:off x="0" y="0"/>
          <a:ext cx="0" cy="0"/>
          <a:chOff x="0" y="0"/>
          <a:chExt cx="0" cy="0"/>
        </a:xfrm>
      </p:grpSpPr>
      <p:sp>
        <p:nvSpPr>
          <p:cNvPr id="158" name="Google Shape;158;p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59" name="Google Shape;159;p4"/>
          <p:cNvGrpSpPr/>
          <p:nvPr/>
        </p:nvGrpSpPr>
        <p:grpSpPr>
          <a:xfrm>
            <a:off x="414625" y="196812"/>
            <a:ext cx="17458749" cy="9459392"/>
            <a:chOff x="0" y="-114300"/>
            <a:chExt cx="4598189" cy="2491363"/>
          </a:xfrm>
        </p:grpSpPr>
        <p:sp>
          <p:nvSpPr>
            <p:cNvPr id="160" name="Google Shape;160;p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2" name="Google Shape;162;p4"/>
          <p:cNvGrpSpPr/>
          <p:nvPr/>
        </p:nvGrpSpPr>
        <p:grpSpPr>
          <a:xfrm>
            <a:off x="1028700" y="871538"/>
            <a:ext cx="16230602" cy="1256147"/>
            <a:chOff x="0" y="-209550"/>
            <a:chExt cx="21640802" cy="1674862"/>
          </a:xfrm>
        </p:grpSpPr>
        <p:sp>
          <p:nvSpPr>
            <p:cNvPr id="163" name="Google Shape;163;p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BACKEND</a:t>
              </a:r>
              <a:endParaRPr b="0" i="0" sz="1400" u="none" cap="none" strike="noStrike">
                <a:solidFill>
                  <a:srgbClr val="000000"/>
                </a:solidFill>
                <a:latin typeface="Arial"/>
                <a:ea typeface="Arial"/>
                <a:cs typeface="Arial"/>
                <a:sym typeface="Arial"/>
              </a:endParaRPr>
            </a:p>
          </p:txBody>
        </p:sp>
      </p:grpSp>
      <p:grpSp>
        <p:nvGrpSpPr>
          <p:cNvPr id="165" name="Google Shape;165;p4"/>
          <p:cNvGrpSpPr/>
          <p:nvPr/>
        </p:nvGrpSpPr>
        <p:grpSpPr>
          <a:xfrm>
            <a:off x="1028700" y="2020528"/>
            <a:ext cx="16230600" cy="5501870"/>
            <a:chOff x="0" y="-142875"/>
            <a:chExt cx="21640800" cy="7335827"/>
          </a:xfrm>
        </p:grpSpPr>
        <p:sp>
          <p:nvSpPr>
            <p:cNvPr id="166" name="Google Shape;166;p4"/>
            <p:cNvSpPr/>
            <p:nvPr/>
          </p:nvSpPr>
          <p:spPr>
            <a:xfrm>
              <a:off x="0" y="0"/>
              <a:ext cx="21640800" cy="7192952"/>
            </a:xfrm>
            <a:custGeom>
              <a:rect b="b" l="l" r="r" t="t"/>
              <a:pathLst>
                <a:path extrusionOk="0" h="7192952" w="21640800">
                  <a:moveTo>
                    <a:pt x="0" y="0"/>
                  </a:moveTo>
                  <a:lnTo>
                    <a:pt x="21640800" y="0"/>
                  </a:lnTo>
                  <a:lnTo>
                    <a:pt x="21640800" y="7192952"/>
                  </a:lnTo>
                  <a:lnTo>
                    <a:pt x="0" y="71929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4"/>
            <p:cNvSpPr txBox="1"/>
            <p:nvPr/>
          </p:nvSpPr>
          <p:spPr>
            <a:xfrm>
              <a:off x="0" y="-142875"/>
              <a:ext cx="21640800" cy="73358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El backend es la parte invisible pero esencial de un sitio, encargada de manejar la lógica y el procesamiento de datos necesarios para que todo funcione de manera correcta y segura.</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El backend se ocupa de tareas como almacenar y recuperar datos de una base de datos, procesar formularios, autenticar usuarios y gestionar la seguridad del sitio.</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El backend se ejecuta en un servidor, una aplicación especializada que recibe solicitudes del navegador, las procesa y responde adecuadamente. Para facilitar esta comunicación estructurada y segura entre el cliente y el servidor, se utilizan las APIs.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71" name="Shape 171"/>
        <p:cNvGrpSpPr/>
        <p:nvPr/>
      </p:nvGrpSpPr>
      <p:grpSpPr>
        <a:xfrm>
          <a:off x="0" y="0"/>
          <a:ext cx="0" cy="0"/>
          <a:chOff x="0" y="0"/>
          <a:chExt cx="0" cy="0"/>
        </a:xfrm>
      </p:grpSpPr>
      <p:sp>
        <p:nvSpPr>
          <p:cNvPr id="172" name="Google Shape;172;p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73" name="Google Shape;173;p5"/>
          <p:cNvGrpSpPr/>
          <p:nvPr/>
        </p:nvGrpSpPr>
        <p:grpSpPr>
          <a:xfrm>
            <a:off x="414625" y="196812"/>
            <a:ext cx="17458749" cy="9459392"/>
            <a:chOff x="0" y="-114300"/>
            <a:chExt cx="4598189" cy="2491363"/>
          </a:xfrm>
        </p:grpSpPr>
        <p:sp>
          <p:nvSpPr>
            <p:cNvPr id="174" name="Google Shape;174;p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p5"/>
          <p:cNvGrpSpPr/>
          <p:nvPr/>
        </p:nvGrpSpPr>
        <p:grpSpPr>
          <a:xfrm>
            <a:off x="1028700" y="871538"/>
            <a:ext cx="16230602" cy="1256147"/>
            <a:chOff x="0" y="-209550"/>
            <a:chExt cx="21640802" cy="1674862"/>
          </a:xfrm>
        </p:grpSpPr>
        <p:sp>
          <p:nvSpPr>
            <p:cNvPr id="177" name="Google Shape;177;p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p5"/>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¿QUE ES UNA API?</a:t>
              </a:r>
              <a:endParaRPr b="0" i="0" sz="1400" u="none" cap="none" strike="noStrike">
                <a:solidFill>
                  <a:srgbClr val="000000"/>
                </a:solidFill>
                <a:latin typeface="Arial"/>
                <a:ea typeface="Arial"/>
                <a:cs typeface="Arial"/>
                <a:sym typeface="Arial"/>
              </a:endParaRPr>
            </a:p>
          </p:txBody>
        </p:sp>
      </p:grpSp>
      <p:grpSp>
        <p:nvGrpSpPr>
          <p:cNvPr id="179" name="Google Shape;179;p5"/>
          <p:cNvGrpSpPr/>
          <p:nvPr/>
        </p:nvGrpSpPr>
        <p:grpSpPr>
          <a:xfrm>
            <a:off x="1009598" y="2020528"/>
            <a:ext cx="16268850" cy="7635677"/>
            <a:chOff x="0" y="-142875"/>
            <a:chExt cx="21691800" cy="10180903"/>
          </a:xfrm>
        </p:grpSpPr>
        <p:sp>
          <p:nvSpPr>
            <p:cNvPr id="180" name="Google Shape;180;p5"/>
            <p:cNvSpPr/>
            <p:nvPr/>
          </p:nvSpPr>
          <p:spPr>
            <a:xfrm>
              <a:off x="0" y="0"/>
              <a:ext cx="21691740" cy="10038028"/>
            </a:xfrm>
            <a:custGeom>
              <a:rect b="b" l="l" r="r" t="t"/>
              <a:pathLst>
                <a:path extrusionOk="0" h="10038028" w="21691740">
                  <a:moveTo>
                    <a:pt x="0" y="0"/>
                  </a:moveTo>
                  <a:lnTo>
                    <a:pt x="21691740" y="0"/>
                  </a:lnTo>
                  <a:lnTo>
                    <a:pt x="21691740" y="10038028"/>
                  </a:lnTo>
                  <a:lnTo>
                    <a:pt x="0" y="10038028"/>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p5"/>
            <p:cNvSpPr txBox="1"/>
            <p:nvPr/>
          </p:nvSpPr>
          <p:spPr>
            <a:xfrm>
              <a:off x="0" y="-142875"/>
              <a:ext cx="21691800" cy="10180800"/>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Una API (Application Programming Interface) es un conjunto de reglas que permite que dos aplicaciones se comuniquen entre sí. En el contexto del desarrollo web, una API actúa como un puente entre el frontend y el backend, permitiendo que se soliciten datos o servicios de forma controlada.</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1500"/>
                <a:buFont typeface="Arial"/>
                <a:buNone/>
              </a:pPr>
              <a:r>
                <a:t/>
              </a:r>
              <a:endParaRPr b="0" i="0" sz="15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Características clave:</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Interfaz definida: Expone funciones específicas que otros programas pueden usar.</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Contrato de comunicación: Define cómo deben estructurarse las solicitudes y respuestas.</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Reutilización: Permite que múltiples clientes consuman los mismos servicios.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85" name="Shape 185"/>
        <p:cNvGrpSpPr/>
        <p:nvPr/>
      </p:nvGrpSpPr>
      <p:grpSpPr>
        <a:xfrm>
          <a:off x="0" y="0"/>
          <a:ext cx="0" cy="0"/>
          <a:chOff x="0" y="0"/>
          <a:chExt cx="0" cy="0"/>
        </a:xfrm>
      </p:grpSpPr>
      <p:sp>
        <p:nvSpPr>
          <p:cNvPr id="186" name="Google Shape;186;p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87" name="Google Shape;187;p6"/>
          <p:cNvGrpSpPr/>
          <p:nvPr/>
        </p:nvGrpSpPr>
        <p:grpSpPr>
          <a:xfrm>
            <a:off x="414625" y="196812"/>
            <a:ext cx="17458749" cy="9459392"/>
            <a:chOff x="0" y="-114300"/>
            <a:chExt cx="4598189" cy="2491363"/>
          </a:xfrm>
        </p:grpSpPr>
        <p:sp>
          <p:nvSpPr>
            <p:cNvPr id="188" name="Google Shape;188;p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0" name="Google Shape;190;p6"/>
          <p:cNvGrpSpPr/>
          <p:nvPr/>
        </p:nvGrpSpPr>
        <p:grpSpPr>
          <a:xfrm>
            <a:off x="1028700" y="871538"/>
            <a:ext cx="16230602" cy="1256147"/>
            <a:chOff x="0" y="-209550"/>
            <a:chExt cx="21640802" cy="1674862"/>
          </a:xfrm>
        </p:grpSpPr>
        <p:sp>
          <p:nvSpPr>
            <p:cNvPr id="191" name="Google Shape;191;p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2" name="Google Shape;192;p6"/>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¿QUE ES REST?</a:t>
              </a:r>
              <a:endParaRPr b="0" i="0" sz="1400" u="none" cap="none" strike="noStrike">
                <a:solidFill>
                  <a:srgbClr val="000000"/>
                </a:solidFill>
                <a:latin typeface="Arial"/>
                <a:ea typeface="Arial"/>
                <a:cs typeface="Arial"/>
                <a:sym typeface="Arial"/>
              </a:endParaRPr>
            </a:p>
          </p:txBody>
        </p:sp>
      </p:grpSp>
      <p:grpSp>
        <p:nvGrpSpPr>
          <p:cNvPr id="193" name="Google Shape;193;p6"/>
          <p:cNvGrpSpPr/>
          <p:nvPr/>
        </p:nvGrpSpPr>
        <p:grpSpPr>
          <a:xfrm>
            <a:off x="1028700" y="2020528"/>
            <a:ext cx="16230600" cy="6178145"/>
            <a:chOff x="0" y="-142875"/>
            <a:chExt cx="21640800" cy="8237527"/>
          </a:xfrm>
        </p:grpSpPr>
        <p:sp>
          <p:nvSpPr>
            <p:cNvPr id="194" name="Google Shape;194;p6"/>
            <p:cNvSpPr/>
            <p:nvPr/>
          </p:nvSpPr>
          <p:spPr>
            <a:xfrm>
              <a:off x="0" y="0"/>
              <a:ext cx="21640800" cy="8094652"/>
            </a:xfrm>
            <a:custGeom>
              <a:rect b="b" l="l" r="r" t="t"/>
              <a:pathLst>
                <a:path extrusionOk="0" h="8094652" w="21640800">
                  <a:moveTo>
                    <a:pt x="0" y="0"/>
                  </a:moveTo>
                  <a:lnTo>
                    <a:pt x="21640800" y="0"/>
                  </a:lnTo>
                  <a:lnTo>
                    <a:pt x="21640800" y="8094652"/>
                  </a:lnTo>
                  <a:lnTo>
                    <a:pt x="0" y="80946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p6"/>
            <p:cNvSpPr txBox="1"/>
            <p:nvPr/>
          </p:nvSpPr>
          <p:spPr>
            <a:xfrm>
              <a:off x="0" y="-142875"/>
              <a:ext cx="21640800" cy="82375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REST (Representational State Transfer) es un conjunto de principios arquitectónicos para diseñar servicios web que permiten la comunicación entre sistemas a través del protocolo HTTP de manera simple y escalable.</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1500"/>
                <a:buFont typeface="Arial"/>
                <a:buNone/>
              </a:pPr>
              <a:r>
                <a:t/>
              </a:r>
              <a:endParaRPr b="0" i="0" sz="1500" u="none" cap="none" strike="noStrike">
                <a:solidFill>
                  <a:srgbClr val="131416"/>
                </a:solidFill>
                <a:latin typeface="Open Sans"/>
                <a:ea typeface="Open Sans"/>
                <a:cs typeface="Open Sans"/>
                <a:sym typeface="Open Sans"/>
              </a:endParaRPr>
            </a:p>
            <a:p>
              <a:pPr indent="0" lvl="0" marL="0" marR="0" rtl="0" algn="just">
                <a:lnSpc>
                  <a:spcPct val="168000"/>
                </a:lnSpc>
                <a:spcBef>
                  <a:spcPts val="0"/>
                </a:spcBef>
                <a:spcAft>
                  <a:spcPts val="0"/>
                </a:spcAft>
                <a:buClr>
                  <a:srgbClr val="000000"/>
                </a:buClr>
                <a:buSzPts val="3200"/>
                <a:buFont typeface="Arial"/>
                <a:buNone/>
              </a:pPr>
              <a:r>
                <a:rPr b="1" i="0" lang="en-US" sz="3200" u="none" cap="none" strike="noStrike">
                  <a:solidFill>
                    <a:srgbClr val="131416"/>
                  </a:solidFill>
                  <a:latin typeface="Open Sans"/>
                  <a:ea typeface="Open Sans"/>
                  <a:cs typeface="Open Sans"/>
                  <a:sym typeface="Open Sans"/>
                </a:rPr>
                <a:t>Principios de REST:</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Cliente-servidor: Separación entre cliente (usuario o aplicación) y servidor (lógica y datos).</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Sin estado (Stateless): Cada solicitud del cliente al servidor debe contener toda la información necesaria. El servidor no guarda contexto de solicitudes anteriores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199" name="Shape 199"/>
        <p:cNvGrpSpPr/>
        <p:nvPr/>
      </p:nvGrpSpPr>
      <p:grpSpPr>
        <a:xfrm>
          <a:off x="0" y="0"/>
          <a:ext cx="0" cy="0"/>
          <a:chOff x="0" y="0"/>
          <a:chExt cx="0" cy="0"/>
        </a:xfrm>
      </p:grpSpPr>
      <p:sp>
        <p:nvSpPr>
          <p:cNvPr id="200" name="Google Shape;200;p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01" name="Google Shape;201;p7"/>
          <p:cNvGrpSpPr/>
          <p:nvPr/>
        </p:nvGrpSpPr>
        <p:grpSpPr>
          <a:xfrm>
            <a:off x="414625" y="196812"/>
            <a:ext cx="17458749" cy="9459392"/>
            <a:chOff x="0" y="-114300"/>
            <a:chExt cx="4598189" cy="2491363"/>
          </a:xfrm>
        </p:grpSpPr>
        <p:sp>
          <p:nvSpPr>
            <p:cNvPr id="202" name="Google Shape;202;p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p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4" name="Google Shape;204;p7"/>
          <p:cNvGrpSpPr/>
          <p:nvPr/>
        </p:nvGrpSpPr>
        <p:grpSpPr>
          <a:xfrm>
            <a:off x="1028700" y="921544"/>
            <a:ext cx="16230600" cy="4149320"/>
            <a:chOff x="0" y="-142875"/>
            <a:chExt cx="21640800" cy="5532427"/>
          </a:xfrm>
        </p:grpSpPr>
        <p:sp>
          <p:nvSpPr>
            <p:cNvPr id="205" name="Google Shape;205;p7"/>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7"/>
            <p:cNvSpPr txBox="1"/>
            <p:nvPr/>
          </p:nvSpPr>
          <p:spPr>
            <a:xfrm>
              <a:off x="0" y="-142875"/>
              <a:ext cx="21640800" cy="55324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Caché: Las respuestas pueden ser almacenadas para mejorar el rendimiento.</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Interfaz uniforme: Uso coherente de métodos HTTP.</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Sistema en capas: La arquitectura puede incluir intermediarios como proxies o balanceadores.</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Código bajo demanda: El servidor puede enviar código ejecutable (como scripts JavaScript).</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210" name="Shape 210"/>
        <p:cNvGrpSpPr/>
        <p:nvPr/>
      </p:nvGrpSpPr>
      <p:grpSpPr>
        <a:xfrm>
          <a:off x="0" y="0"/>
          <a:ext cx="0" cy="0"/>
          <a:chOff x="0" y="0"/>
          <a:chExt cx="0" cy="0"/>
        </a:xfrm>
      </p:grpSpPr>
      <p:sp>
        <p:nvSpPr>
          <p:cNvPr id="211" name="Google Shape;211;p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12" name="Google Shape;212;p8"/>
          <p:cNvGrpSpPr/>
          <p:nvPr/>
        </p:nvGrpSpPr>
        <p:grpSpPr>
          <a:xfrm>
            <a:off x="414625" y="196812"/>
            <a:ext cx="17458749" cy="9459392"/>
            <a:chOff x="0" y="-114300"/>
            <a:chExt cx="4598189" cy="2491363"/>
          </a:xfrm>
        </p:grpSpPr>
        <p:sp>
          <p:nvSpPr>
            <p:cNvPr id="213" name="Google Shape;213;p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8"/>
          <p:cNvGrpSpPr/>
          <p:nvPr/>
        </p:nvGrpSpPr>
        <p:grpSpPr>
          <a:xfrm>
            <a:off x="1028700" y="871538"/>
            <a:ext cx="16230602" cy="1256147"/>
            <a:chOff x="0" y="-209550"/>
            <a:chExt cx="21640802" cy="1674862"/>
          </a:xfrm>
        </p:grpSpPr>
        <p:sp>
          <p:nvSpPr>
            <p:cNvPr id="216" name="Google Shape;216;p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API REST</a:t>
              </a:r>
              <a:endParaRPr b="0" i="0" sz="1400" u="none" cap="none" strike="noStrike">
                <a:solidFill>
                  <a:srgbClr val="000000"/>
                </a:solidFill>
                <a:latin typeface="Arial"/>
                <a:ea typeface="Arial"/>
                <a:cs typeface="Arial"/>
                <a:sym typeface="Arial"/>
              </a:endParaRPr>
            </a:p>
          </p:txBody>
        </p:sp>
      </p:grpSp>
      <p:grpSp>
        <p:nvGrpSpPr>
          <p:cNvPr id="218" name="Google Shape;218;p8"/>
          <p:cNvGrpSpPr/>
          <p:nvPr/>
        </p:nvGrpSpPr>
        <p:grpSpPr>
          <a:xfrm>
            <a:off x="1028700" y="2020528"/>
            <a:ext cx="16230600" cy="2120495"/>
            <a:chOff x="0" y="-142875"/>
            <a:chExt cx="21640800" cy="2827327"/>
          </a:xfrm>
        </p:grpSpPr>
        <p:sp>
          <p:nvSpPr>
            <p:cNvPr id="219" name="Google Shape;219;p8"/>
            <p:cNvSpPr/>
            <p:nvPr/>
          </p:nvSpPr>
          <p:spPr>
            <a:xfrm>
              <a:off x="0" y="0"/>
              <a:ext cx="21640800" cy="2684452"/>
            </a:xfrm>
            <a:custGeom>
              <a:rect b="b" l="l" r="r" t="t"/>
              <a:pathLst>
                <a:path extrusionOk="0" h="2684452" w="21640800">
                  <a:moveTo>
                    <a:pt x="0" y="0"/>
                  </a:moveTo>
                  <a:lnTo>
                    <a:pt x="21640800" y="0"/>
                  </a:lnTo>
                  <a:lnTo>
                    <a:pt x="21640800" y="2684452"/>
                  </a:lnTo>
                  <a:lnTo>
                    <a:pt x="0" y="26844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 name="Google Shape;220;p8"/>
            <p:cNvSpPr txBox="1"/>
            <p:nvPr/>
          </p:nvSpPr>
          <p:spPr>
            <a:xfrm>
              <a:off x="0" y="-142875"/>
              <a:ext cx="21640800" cy="28273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Una API REST es una API que sigue los principios de REST, esta permite que aplicaciones cliente y servidor se comuniquen a través de HTTP, usando operaciones estándar para consultar, crear, modificar o eliminar datos.</a:t>
              </a:r>
              <a:endParaRPr b="0" i="0" sz="1400" u="none" cap="none" strike="noStrike">
                <a:solidFill>
                  <a:srgbClr val="000000"/>
                </a:solidFill>
                <a:latin typeface="Arial"/>
                <a:ea typeface="Arial"/>
                <a:cs typeface="Arial"/>
                <a:sym typeface="Arial"/>
              </a:endParaRPr>
            </a:p>
          </p:txBody>
        </p:sp>
      </p:grpSp>
      <p:sp>
        <p:nvSpPr>
          <p:cNvPr id="221" name="Google Shape;221;p8"/>
          <p:cNvSpPr/>
          <p:nvPr/>
        </p:nvSpPr>
        <p:spPr>
          <a:xfrm>
            <a:off x="5299338" y="4606718"/>
            <a:ext cx="7689324" cy="3699674"/>
          </a:xfrm>
          <a:custGeom>
            <a:rect b="b" l="l" r="r" t="t"/>
            <a:pathLst>
              <a:path extrusionOk="0" h="3699674" w="7689324">
                <a:moveTo>
                  <a:pt x="0" y="0"/>
                </a:moveTo>
                <a:lnTo>
                  <a:pt x="7689324" y="0"/>
                </a:lnTo>
                <a:lnTo>
                  <a:pt x="7689324" y="3699675"/>
                </a:lnTo>
                <a:lnTo>
                  <a:pt x="0" y="3699675"/>
                </a:lnTo>
                <a:lnTo>
                  <a:pt x="0" y="0"/>
                </a:lnTo>
                <a:close/>
              </a:path>
            </a:pathLst>
          </a:custGeom>
          <a:blipFill rotWithShape="1">
            <a:blip r:embed="rId4">
              <a:alphaModFix/>
            </a:blip>
            <a:stretch>
              <a:fillRect b="-17691" l="0" r="0" t="-280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225" name="Shape 225"/>
        <p:cNvGrpSpPr/>
        <p:nvPr/>
      </p:nvGrpSpPr>
      <p:grpSpPr>
        <a:xfrm>
          <a:off x="0" y="0"/>
          <a:ext cx="0" cy="0"/>
          <a:chOff x="0" y="0"/>
          <a:chExt cx="0" cy="0"/>
        </a:xfrm>
      </p:grpSpPr>
      <p:sp>
        <p:nvSpPr>
          <p:cNvPr id="226" name="Google Shape;226;p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27" name="Google Shape;227;p9"/>
          <p:cNvGrpSpPr/>
          <p:nvPr/>
        </p:nvGrpSpPr>
        <p:grpSpPr>
          <a:xfrm>
            <a:off x="414625" y="196812"/>
            <a:ext cx="17458749" cy="9459392"/>
            <a:chOff x="0" y="-114300"/>
            <a:chExt cx="4598189" cy="2491363"/>
          </a:xfrm>
        </p:grpSpPr>
        <p:sp>
          <p:nvSpPr>
            <p:cNvPr id="228" name="Google Shape;228;p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0" name="Google Shape;230;p9"/>
          <p:cNvGrpSpPr/>
          <p:nvPr/>
        </p:nvGrpSpPr>
        <p:grpSpPr>
          <a:xfrm>
            <a:off x="1028700" y="871538"/>
            <a:ext cx="16230602" cy="1256147"/>
            <a:chOff x="0" y="-209550"/>
            <a:chExt cx="21640802" cy="1674862"/>
          </a:xfrm>
        </p:grpSpPr>
        <p:sp>
          <p:nvSpPr>
            <p:cNvPr id="231" name="Google Shape;231;p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2" name="Google Shape;232;p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METODOS HTTP</a:t>
              </a:r>
              <a:endParaRPr b="0" i="0" sz="1400" u="none" cap="none" strike="noStrike">
                <a:solidFill>
                  <a:srgbClr val="000000"/>
                </a:solidFill>
                <a:latin typeface="Arial"/>
                <a:ea typeface="Arial"/>
                <a:cs typeface="Arial"/>
                <a:sym typeface="Arial"/>
              </a:endParaRPr>
            </a:p>
          </p:txBody>
        </p:sp>
      </p:grpSp>
      <p:grpSp>
        <p:nvGrpSpPr>
          <p:cNvPr id="233" name="Google Shape;233;p9"/>
          <p:cNvGrpSpPr/>
          <p:nvPr/>
        </p:nvGrpSpPr>
        <p:grpSpPr>
          <a:xfrm>
            <a:off x="5183162" y="2034815"/>
            <a:ext cx="12076138" cy="1185186"/>
            <a:chOff x="0" y="-123825"/>
            <a:chExt cx="16101518" cy="1580249"/>
          </a:xfrm>
        </p:grpSpPr>
        <p:sp>
          <p:nvSpPr>
            <p:cNvPr id="234" name="Google Shape;234;p9"/>
            <p:cNvSpPr/>
            <p:nvPr/>
          </p:nvSpPr>
          <p:spPr>
            <a:xfrm>
              <a:off x="0" y="0"/>
              <a:ext cx="16101518" cy="1456424"/>
            </a:xfrm>
            <a:custGeom>
              <a:rect b="b" l="l" r="r" t="t"/>
              <a:pathLst>
                <a:path extrusionOk="0" h="1456424" w="16101518">
                  <a:moveTo>
                    <a:pt x="0" y="0"/>
                  </a:moveTo>
                  <a:lnTo>
                    <a:pt x="16101518" y="0"/>
                  </a:lnTo>
                  <a:lnTo>
                    <a:pt x="16101518" y="1456424"/>
                  </a:lnTo>
                  <a:lnTo>
                    <a:pt x="0" y="1456424"/>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9"/>
            <p:cNvSpPr txBox="1"/>
            <p:nvPr/>
          </p:nvSpPr>
          <p:spPr>
            <a:xfrm>
              <a:off x="0" y="-123825"/>
              <a:ext cx="16101518" cy="15802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2600"/>
                <a:buFont typeface="Arial"/>
                <a:buNone/>
              </a:pPr>
              <a:r>
                <a:rPr b="0" i="0" lang="en-US" sz="2600" u="none" cap="none" strike="noStrike">
                  <a:solidFill>
                    <a:srgbClr val="131416"/>
                  </a:solidFill>
                  <a:latin typeface="Open Sans"/>
                  <a:ea typeface="Open Sans"/>
                  <a:cs typeface="Open Sans"/>
                  <a:sym typeface="Open Sans"/>
                </a:rPr>
                <a:t>El método GET solicita una representación de un recurso específico. Las peticiones que usan el método GET sólo deben recuperar datos.</a:t>
              </a:r>
              <a:endParaRPr b="0" i="0" sz="1400" u="none" cap="none" strike="noStrike">
                <a:solidFill>
                  <a:srgbClr val="000000"/>
                </a:solidFill>
                <a:latin typeface="Arial"/>
                <a:ea typeface="Arial"/>
                <a:cs typeface="Arial"/>
                <a:sym typeface="Arial"/>
              </a:endParaRPr>
            </a:p>
          </p:txBody>
        </p:sp>
      </p:grpSp>
      <p:grpSp>
        <p:nvGrpSpPr>
          <p:cNvPr id="236" name="Google Shape;236;p9"/>
          <p:cNvGrpSpPr/>
          <p:nvPr/>
        </p:nvGrpSpPr>
        <p:grpSpPr>
          <a:xfrm>
            <a:off x="5183162" y="3580630"/>
            <a:ext cx="12076138" cy="1737636"/>
            <a:chOff x="0" y="-123825"/>
            <a:chExt cx="16101518" cy="2316849"/>
          </a:xfrm>
        </p:grpSpPr>
        <p:sp>
          <p:nvSpPr>
            <p:cNvPr id="237" name="Google Shape;237;p9"/>
            <p:cNvSpPr/>
            <p:nvPr/>
          </p:nvSpPr>
          <p:spPr>
            <a:xfrm>
              <a:off x="0" y="0"/>
              <a:ext cx="16101518" cy="2193024"/>
            </a:xfrm>
            <a:custGeom>
              <a:rect b="b" l="l" r="r" t="t"/>
              <a:pathLst>
                <a:path extrusionOk="0" h="2193024" w="16101518">
                  <a:moveTo>
                    <a:pt x="0" y="0"/>
                  </a:moveTo>
                  <a:lnTo>
                    <a:pt x="16101518" y="0"/>
                  </a:lnTo>
                  <a:lnTo>
                    <a:pt x="16101518" y="2193024"/>
                  </a:lnTo>
                  <a:lnTo>
                    <a:pt x="0" y="2193024"/>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9"/>
            <p:cNvSpPr txBox="1"/>
            <p:nvPr/>
          </p:nvSpPr>
          <p:spPr>
            <a:xfrm>
              <a:off x="0" y="-123825"/>
              <a:ext cx="16101518" cy="23168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2600"/>
                <a:buFont typeface="Arial"/>
                <a:buNone/>
              </a:pPr>
              <a:r>
                <a:rPr b="0" i="0" lang="en-US" sz="2600" u="none" cap="none" strike="noStrike">
                  <a:solidFill>
                    <a:srgbClr val="131416"/>
                  </a:solidFill>
                  <a:latin typeface="Open Sans"/>
                  <a:ea typeface="Open Sans"/>
                  <a:cs typeface="Open Sans"/>
                  <a:sym typeface="Open Sans"/>
                </a:rPr>
                <a:t>Este método se utiliza para enviar una entidad a un recurso en específico, causando a menudo un cambio en el estado o efectos secundarios en el servidor.</a:t>
              </a:r>
              <a:endParaRPr b="0" i="0" sz="1400" u="none" cap="none" strike="noStrike">
                <a:solidFill>
                  <a:srgbClr val="000000"/>
                </a:solidFill>
                <a:latin typeface="Arial"/>
                <a:ea typeface="Arial"/>
                <a:cs typeface="Arial"/>
                <a:sym typeface="Arial"/>
              </a:endParaRPr>
            </a:p>
          </p:txBody>
        </p:sp>
      </p:grpSp>
      <p:grpSp>
        <p:nvGrpSpPr>
          <p:cNvPr id="239" name="Google Shape;239;p9"/>
          <p:cNvGrpSpPr/>
          <p:nvPr/>
        </p:nvGrpSpPr>
        <p:grpSpPr>
          <a:xfrm>
            <a:off x="5183162" y="5682598"/>
            <a:ext cx="12076138" cy="1185186"/>
            <a:chOff x="0" y="-123825"/>
            <a:chExt cx="16101518" cy="1580249"/>
          </a:xfrm>
        </p:grpSpPr>
        <p:sp>
          <p:nvSpPr>
            <p:cNvPr id="240" name="Google Shape;240;p9"/>
            <p:cNvSpPr/>
            <p:nvPr/>
          </p:nvSpPr>
          <p:spPr>
            <a:xfrm>
              <a:off x="0" y="0"/>
              <a:ext cx="16101518" cy="1456424"/>
            </a:xfrm>
            <a:custGeom>
              <a:rect b="b" l="l" r="r" t="t"/>
              <a:pathLst>
                <a:path extrusionOk="0" h="1456424" w="16101518">
                  <a:moveTo>
                    <a:pt x="0" y="0"/>
                  </a:moveTo>
                  <a:lnTo>
                    <a:pt x="16101518" y="0"/>
                  </a:lnTo>
                  <a:lnTo>
                    <a:pt x="16101518" y="1456424"/>
                  </a:lnTo>
                  <a:lnTo>
                    <a:pt x="0" y="1456424"/>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9"/>
            <p:cNvSpPr txBox="1"/>
            <p:nvPr/>
          </p:nvSpPr>
          <p:spPr>
            <a:xfrm>
              <a:off x="0" y="-123825"/>
              <a:ext cx="16101518" cy="15802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2600"/>
                <a:buFont typeface="Arial"/>
                <a:buNone/>
              </a:pPr>
              <a:r>
                <a:rPr b="0" i="0" lang="en-US" sz="2600" u="none" cap="none" strike="noStrike">
                  <a:solidFill>
                    <a:srgbClr val="131416"/>
                  </a:solidFill>
                  <a:latin typeface="Open Sans"/>
                  <a:ea typeface="Open Sans"/>
                  <a:cs typeface="Open Sans"/>
                  <a:sym typeface="Open Sans"/>
                </a:rPr>
                <a:t>El modo PUT reemplaza todas las representaciones actuales del recurso de destino con la carga útil de la petición.</a:t>
              </a:r>
              <a:endParaRPr b="0" i="0" sz="1400" u="none" cap="none" strike="noStrike">
                <a:solidFill>
                  <a:srgbClr val="000000"/>
                </a:solidFill>
                <a:latin typeface="Arial"/>
                <a:ea typeface="Arial"/>
                <a:cs typeface="Arial"/>
                <a:sym typeface="Arial"/>
              </a:endParaRPr>
            </a:p>
          </p:txBody>
        </p:sp>
      </p:grpSp>
      <p:grpSp>
        <p:nvGrpSpPr>
          <p:cNvPr id="242" name="Google Shape;242;p9"/>
          <p:cNvGrpSpPr/>
          <p:nvPr/>
        </p:nvGrpSpPr>
        <p:grpSpPr>
          <a:xfrm>
            <a:off x="5183162" y="7232115"/>
            <a:ext cx="12076138" cy="632736"/>
            <a:chOff x="0" y="-123825"/>
            <a:chExt cx="16101518" cy="843648"/>
          </a:xfrm>
        </p:grpSpPr>
        <p:sp>
          <p:nvSpPr>
            <p:cNvPr id="243" name="Google Shape;243;p9"/>
            <p:cNvSpPr/>
            <p:nvPr/>
          </p:nvSpPr>
          <p:spPr>
            <a:xfrm>
              <a:off x="0" y="0"/>
              <a:ext cx="16101518" cy="719823"/>
            </a:xfrm>
            <a:custGeom>
              <a:rect b="b" l="l" r="r" t="t"/>
              <a:pathLst>
                <a:path extrusionOk="0" h="719823" w="16101518">
                  <a:moveTo>
                    <a:pt x="0" y="0"/>
                  </a:moveTo>
                  <a:lnTo>
                    <a:pt x="16101518" y="0"/>
                  </a:lnTo>
                  <a:lnTo>
                    <a:pt x="16101518" y="719823"/>
                  </a:lnTo>
                  <a:lnTo>
                    <a:pt x="0" y="71982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9"/>
            <p:cNvSpPr txBox="1"/>
            <p:nvPr/>
          </p:nvSpPr>
          <p:spPr>
            <a:xfrm>
              <a:off x="0" y="-123825"/>
              <a:ext cx="16101518" cy="8436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2600"/>
                <a:buFont typeface="Arial"/>
                <a:buNone/>
              </a:pPr>
              <a:r>
                <a:rPr b="0" i="0" lang="en-US" sz="2600" u="none" cap="none" strike="noStrike">
                  <a:solidFill>
                    <a:srgbClr val="131416"/>
                  </a:solidFill>
                  <a:latin typeface="Open Sans"/>
                  <a:ea typeface="Open Sans"/>
                  <a:cs typeface="Open Sans"/>
                  <a:sym typeface="Open Sans"/>
                </a:rPr>
                <a:t>El método DELETE borra un recurso en específico.</a:t>
              </a:r>
              <a:endParaRPr b="0" i="0" sz="1400" u="none" cap="none" strike="noStrike">
                <a:solidFill>
                  <a:srgbClr val="000000"/>
                </a:solidFill>
                <a:latin typeface="Arial"/>
                <a:ea typeface="Arial"/>
                <a:cs typeface="Arial"/>
                <a:sym typeface="Arial"/>
              </a:endParaRPr>
            </a:p>
          </p:txBody>
        </p:sp>
      </p:grpSp>
      <p:grpSp>
        <p:nvGrpSpPr>
          <p:cNvPr id="245" name="Google Shape;245;p9"/>
          <p:cNvGrpSpPr/>
          <p:nvPr/>
        </p:nvGrpSpPr>
        <p:grpSpPr>
          <a:xfrm>
            <a:off x="5183162" y="8229183"/>
            <a:ext cx="12076138" cy="632736"/>
            <a:chOff x="0" y="-123825"/>
            <a:chExt cx="16101518" cy="843648"/>
          </a:xfrm>
        </p:grpSpPr>
        <p:sp>
          <p:nvSpPr>
            <p:cNvPr id="246" name="Google Shape;246;p9"/>
            <p:cNvSpPr/>
            <p:nvPr/>
          </p:nvSpPr>
          <p:spPr>
            <a:xfrm>
              <a:off x="0" y="0"/>
              <a:ext cx="16101518" cy="719823"/>
            </a:xfrm>
            <a:custGeom>
              <a:rect b="b" l="l" r="r" t="t"/>
              <a:pathLst>
                <a:path extrusionOk="0" h="719823" w="16101518">
                  <a:moveTo>
                    <a:pt x="0" y="0"/>
                  </a:moveTo>
                  <a:lnTo>
                    <a:pt x="16101518" y="0"/>
                  </a:lnTo>
                  <a:lnTo>
                    <a:pt x="16101518" y="719823"/>
                  </a:lnTo>
                  <a:lnTo>
                    <a:pt x="0" y="71982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7" name="Google Shape;247;p9"/>
            <p:cNvSpPr txBox="1"/>
            <p:nvPr/>
          </p:nvSpPr>
          <p:spPr>
            <a:xfrm>
              <a:off x="0" y="-123825"/>
              <a:ext cx="16101518" cy="843648"/>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2600"/>
                <a:buFont typeface="Arial"/>
                <a:buNone/>
              </a:pPr>
              <a:r>
                <a:rPr b="0" i="0" lang="en-US" sz="2600" u="none" cap="none" strike="noStrike">
                  <a:solidFill>
                    <a:srgbClr val="131416"/>
                  </a:solidFill>
                  <a:latin typeface="Open Sans"/>
                  <a:ea typeface="Open Sans"/>
                  <a:cs typeface="Open Sans"/>
                  <a:sym typeface="Open Sans"/>
                </a:rPr>
                <a:t>Este método es utilizado para aplicar modificaciones parciales a un recurso.</a:t>
              </a:r>
              <a:endParaRPr b="0" i="0" sz="1400" u="none" cap="none" strike="noStrike">
                <a:solidFill>
                  <a:srgbClr val="000000"/>
                </a:solidFill>
                <a:latin typeface="Arial"/>
                <a:ea typeface="Arial"/>
                <a:cs typeface="Arial"/>
                <a:sym typeface="Arial"/>
              </a:endParaRPr>
            </a:p>
          </p:txBody>
        </p:sp>
      </p:grpSp>
      <p:grpSp>
        <p:nvGrpSpPr>
          <p:cNvPr id="248" name="Google Shape;248;p9"/>
          <p:cNvGrpSpPr/>
          <p:nvPr/>
        </p:nvGrpSpPr>
        <p:grpSpPr>
          <a:xfrm>
            <a:off x="1898914" y="1817600"/>
            <a:ext cx="2910912" cy="1206172"/>
            <a:chOff x="0" y="-133350"/>
            <a:chExt cx="766660" cy="317674"/>
          </a:xfrm>
        </p:grpSpPr>
        <p:sp>
          <p:nvSpPr>
            <p:cNvPr id="249" name="Google Shape;249;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1" name="Google Shape;251;p9"/>
          <p:cNvGrpSpPr/>
          <p:nvPr/>
        </p:nvGrpSpPr>
        <p:grpSpPr>
          <a:xfrm>
            <a:off x="1898914" y="3639640"/>
            <a:ext cx="2910912" cy="1206172"/>
            <a:chOff x="0" y="-133350"/>
            <a:chExt cx="766660" cy="317674"/>
          </a:xfrm>
        </p:grpSpPr>
        <p:sp>
          <p:nvSpPr>
            <p:cNvPr id="252" name="Google Shape;252;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4" name="Google Shape;254;p9"/>
          <p:cNvGrpSpPr/>
          <p:nvPr/>
        </p:nvGrpSpPr>
        <p:grpSpPr>
          <a:xfrm>
            <a:off x="1898914" y="5465382"/>
            <a:ext cx="2910912" cy="1206172"/>
            <a:chOff x="0" y="-133350"/>
            <a:chExt cx="766660" cy="317674"/>
          </a:xfrm>
        </p:grpSpPr>
        <p:sp>
          <p:nvSpPr>
            <p:cNvPr id="255" name="Google Shape;255;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7" name="Google Shape;257;p9"/>
          <p:cNvGrpSpPr/>
          <p:nvPr/>
        </p:nvGrpSpPr>
        <p:grpSpPr>
          <a:xfrm>
            <a:off x="1898914" y="6738675"/>
            <a:ext cx="2910912" cy="1206172"/>
            <a:chOff x="0" y="-133350"/>
            <a:chExt cx="766660" cy="317674"/>
          </a:xfrm>
        </p:grpSpPr>
        <p:sp>
          <p:nvSpPr>
            <p:cNvPr id="258" name="Google Shape;258;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0" name="Google Shape;260;p9"/>
          <p:cNvGrpSpPr/>
          <p:nvPr/>
        </p:nvGrpSpPr>
        <p:grpSpPr>
          <a:xfrm>
            <a:off x="1898914" y="7735742"/>
            <a:ext cx="2910912" cy="1206172"/>
            <a:chOff x="0" y="-133350"/>
            <a:chExt cx="766660" cy="317674"/>
          </a:xfrm>
        </p:grpSpPr>
        <p:sp>
          <p:nvSpPr>
            <p:cNvPr id="261" name="Google Shape;261;p9"/>
            <p:cNvSpPr/>
            <p:nvPr/>
          </p:nvSpPr>
          <p:spPr>
            <a:xfrm>
              <a:off x="0" y="0"/>
              <a:ext cx="766660" cy="184324"/>
            </a:xfrm>
            <a:custGeom>
              <a:rect b="b" l="l" r="r" t="t"/>
              <a:pathLst>
                <a:path extrusionOk="0" h="184324" w="766660">
                  <a:moveTo>
                    <a:pt x="92162" y="0"/>
                  </a:moveTo>
                  <a:lnTo>
                    <a:pt x="674498" y="0"/>
                  </a:lnTo>
                  <a:cubicBezTo>
                    <a:pt x="698941" y="0"/>
                    <a:pt x="722382" y="9710"/>
                    <a:pt x="739666" y="26994"/>
                  </a:cubicBezTo>
                  <a:cubicBezTo>
                    <a:pt x="756950" y="44277"/>
                    <a:pt x="766660" y="67719"/>
                    <a:pt x="766660" y="92162"/>
                  </a:cubicBezTo>
                  <a:lnTo>
                    <a:pt x="766660" y="92162"/>
                  </a:lnTo>
                  <a:cubicBezTo>
                    <a:pt x="766660" y="143062"/>
                    <a:pt x="725397" y="184324"/>
                    <a:pt x="674498" y="184324"/>
                  </a:cubicBezTo>
                  <a:lnTo>
                    <a:pt x="92162" y="184324"/>
                  </a:lnTo>
                  <a:cubicBezTo>
                    <a:pt x="67719" y="184324"/>
                    <a:pt x="44277" y="174614"/>
                    <a:pt x="26994" y="157331"/>
                  </a:cubicBezTo>
                  <a:cubicBezTo>
                    <a:pt x="9710" y="140047"/>
                    <a:pt x="0" y="116605"/>
                    <a:pt x="0" y="92162"/>
                  </a:cubicBezTo>
                  <a:lnTo>
                    <a:pt x="0" y="92162"/>
                  </a:lnTo>
                  <a:cubicBezTo>
                    <a:pt x="0" y="67719"/>
                    <a:pt x="9710" y="44277"/>
                    <a:pt x="26994" y="26994"/>
                  </a:cubicBezTo>
                  <a:cubicBezTo>
                    <a:pt x="44277" y="9710"/>
                    <a:pt x="67719" y="0"/>
                    <a:pt x="92162" y="0"/>
                  </a:cubicBezTo>
                  <a:close/>
                </a:path>
              </a:pathLst>
            </a:custGeom>
            <a:gradFill>
              <a:gsLst>
                <a:gs pos="0">
                  <a:srgbClr val="07CCEF"/>
                </a:gs>
                <a:gs pos="100000">
                  <a:srgbClr val="64C1CB"/>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9"/>
            <p:cNvSpPr txBox="1"/>
            <p:nvPr/>
          </p:nvSpPr>
          <p:spPr>
            <a:xfrm>
              <a:off x="0" y="-133350"/>
              <a:ext cx="766660" cy="317674"/>
            </a:xfrm>
            <a:prstGeom prst="rect">
              <a:avLst/>
            </a:prstGeom>
            <a:noFill/>
            <a:ln>
              <a:noFill/>
            </a:ln>
          </p:spPr>
          <p:txBody>
            <a:bodyPr anchorCtr="0" anchor="ctr" bIns="50800" lIns="50800" spcFirstLastPara="1" rIns="50800" wrap="square" tIns="50800">
              <a:noAutofit/>
            </a:bodyPr>
            <a:lstStyle/>
            <a:p>
              <a:pPr indent="0" lvl="0" marL="0" marR="0" rtl="0" algn="ctr">
                <a:lnSpc>
                  <a:spcPct val="28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3" name="Google Shape;263;p9"/>
          <p:cNvSpPr/>
          <p:nvPr/>
        </p:nvSpPr>
        <p:spPr>
          <a:xfrm>
            <a:off x="839851" y="2259179"/>
            <a:ext cx="687588" cy="829328"/>
          </a:xfrm>
          <a:custGeom>
            <a:rect b="b" l="l" r="r" t="t"/>
            <a:pathLst>
              <a:path extrusionOk="0" h="829328" w="687588">
                <a:moveTo>
                  <a:pt x="0" y="0"/>
                </a:moveTo>
                <a:lnTo>
                  <a:pt x="687588" y="0"/>
                </a:lnTo>
                <a:lnTo>
                  <a:pt x="687588" y="829328"/>
                </a:lnTo>
                <a:lnTo>
                  <a:pt x="0" y="82932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4" name="Google Shape;264;p9"/>
          <p:cNvSpPr/>
          <p:nvPr/>
        </p:nvSpPr>
        <p:spPr>
          <a:xfrm>
            <a:off x="827583" y="4145955"/>
            <a:ext cx="699857" cy="699857"/>
          </a:xfrm>
          <a:custGeom>
            <a:rect b="b" l="l" r="r" t="t"/>
            <a:pathLst>
              <a:path extrusionOk="0" h="699857" w="699857">
                <a:moveTo>
                  <a:pt x="0" y="0"/>
                </a:moveTo>
                <a:lnTo>
                  <a:pt x="699856" y="0"/>
                </a:lnTo>
                <a:lnTo>
                  <a:pt x="699856" y="699857"/>
                </a:lnTo>
                <a:lnTo>
                  <a:pt x="0" y="69985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9"/>
          <p:cNvSpPr/>
          <p:nvPr/>
        </p:nvSpPr>
        <p:spPr>
          <a:xfrm>
            <a:off x="864417" y="5979541"/>
            <a:ext cx="663022" cy="684169"/>
          </a:xfrm>
          <a:custGeom>
            <a:rect b="b" l="l" r="r" t="t"/>
            <a:pathLst>
              <a:path extrusionOk="0" h="684169" w="663022">
                <a:moveTo>
                  <a:pt x="0" y="0"/>
                </a:moveTo>
                <a:lnTo>
                  <a:pt x="663022" y="0"/>
                </a:lnTo>
                <a:lnTo>
                  <a:pt x="663022" y="684169"/>
                </a:lnTo>
                <a:lnTo>
                  <a:pt x="0" y="68416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9"/>
          <p:cNvSpPr/>
          <p:nvPr/>
        </p:nvSpPr>
        <p:spPr>
          <a:xfrm>
            <a:off x="852134" y="7251124"/>
            <a:ext cx="687588" cy="687588"/>
          </a:xfrm>
          <a:custGeom>
            <a:rect b="b" l="l" r="r" t="t"/>
            <a:pathLst>
              <a:path extrusionOk="0" h="687588" w="687588">
                <a:moveTo>
                  <a:pt x="0" y="0"/>
                </a:moveTo>
                <a:lnTo>
                  <a:pt x="687589" y="0"/>
                </a:lnTo>
                <a:lnTo>
                  <a:pt x="687589" y="687588"/>
                </a:lnTo>
                <a:lnTo>
                  <a:pt x="0" y="687588"/>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9"/>
          <p:cNvSpPr/>
          <p:nvPr/>
        </p:nvSpPr>
        <p:spPr>
          <a:xfrm>
            <a:off x="864417" y="8242057"/>
            <a:ext cx="663022" cy="684169"/>
          </a:xfrm>
          <a:custGeom>
            <a:rect b="b" l="l" r="r" t="t"/>
            <a:pathLst>
              <a:path extrusionOk="0" h="684169" w="663022">
                <a:moveTo>
                  <a:pt x="0" y="0"/>
                </a:moveTo>
                <a:lnTo>
                  <a:pt x="663022" y="0"/>
                </a:lnTo>
                <a:lnTo>
                  <a:pt x="663022" y="684169"/>
                </a:lnTo>
                <a:lnTo>
                  <a:pt x="0" y="68416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68" name="Google Shape;268;p9"/>
          <p:cNvGrpSpPr/>
          <p:nvPr/>
        </p:nvGrpSpPr>
        <p:grpSpPr>
          <a:xfrm>
            <a:off x="2361040" y="2300102"/>
            <a:ext cx="1988521" cy="723670"/>
            <a:chOff x="0" y="-133350"/>
            <a:chExt cx="2651362" cy="964893"/>
          </a:xfrm>
        </p:grpSpPr>
        <p:sp>
          <p:nvSpPr>
            <p:cNvPr id="269" name="Google Shape;269;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Clr>
                  <a:srgbClr val="000000"/>
                </a:buClr>
                <a:buSzPts val="3000"/>
                <a:buFont typeface="Arial"/>
                <a:buNone/>
              </a:pPr>
              <a:r>
                <a:rPr b="1" i="0" lang="en-US" sz="3000" u="none" cap="none" strike="noStrike">
                  <a:solidFill>
                    <a:srgbClr val="131416"/>
                  </a:solidFill>
                  <a:latin typeface="Open Sans"/>
                  <a:ea typeface="Open Sans"/>
                  <a:cs typeface="Open Sans"/>
                  <a:sym typeface="Open Sans"/>
                </a:rPr>
                <a:t>GET</a:t>
              </a:r>
              <a:endParaRPr b="0" i="0" sz="1400" u="none" cap="none" strike="noStrike">
                <a:solidFill>
                  <a:srgbClr val="000000"/>
                </a:solidFill>
                <a:latin typeface="Arial"/>
                <a:ea typeface="Arial"/>
                <a:cs typeface="Arial"/>
                <a:sym typeface="Arial"/>
              </a:endParaRPr>
            </a:p>
          </p:txBody>
        </p:sp>
      </p:grpSp>
      <p:grpSp>
        <p:nvGrpSpPr>
          <p:cNvPr id="271" name="Google Shape;271;p9"/>
          <p:cNvGrpSpPr/>
          <p:nvPr/>
        </p:nvGrpSpPr>
        <p:grpSpPr>
          <a:xfrm>
            <a:off x="2360110" y="4122142"/>
            <a:ext cx="1988521" cy="723670"/>
            <a:chOff x="0" y="-133350"/>
            <a:chExt cx="2651362" cy="964893"/>
          </a:xfrm>
        </p:grpSpPr>
        <p:sp>
          <p:nvSpPr>
            <p:cNvPr id="272" name="Google Shape;272;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Clr>
                  <a:srgbClr val="000000"/>
                </a:buClr>
                <a:buSzPts val="3000"/>
                <a:buFont typeface="Arial"/>
                <a:buNone/>
              </a:pPr>
              <a:r>
                <a:rPr b="1" i="0" lang="en-US" sz="3000" u="none" cap="none" strike="noStrike">
                  <a:solidFill>
                    <a:srgbClr val="131416"/>
                  </a:solidFill>
                  <a:latin typeface="Open Sans"/>
                  <a:ea typeface="Open Sans"/>
                  <a:cs typeface="Open Sans"/>
                  <a:sym typeface="Open Sans"/>
                </a:rPr>
                <a:t>POST</a:t>
              </a:r>
              <a:endParaRPr b="0" i="0" sz="1400" u="none" cap="none" strike="noStrike">
                <a:solidFill>
                  <a:srgbClr val="000000"/>
                </a:solidFill>
                <a:latin typeface="Arial"/>
                <a:ea typeface="Arial"/>
                <a:cs typeface="Arial"/>
                <a:sym typeface="Arial"/>
              </a:endParaRPr>
            </a:p>
          </p:txBody>
        </p:sp>
      </p:grpSp>
      <p:grpSp>
        <p:nvGrpSpPr>
          <p:cNvPr id="274" name="Google Shape;274;p9"/>
          <p:cNvGrpSpPr/>
          <p:nvPr/>
        </p:nvGrpSpPr>
        <p:grpSpPr>
          <a:xfrm>
            <a:off x="2360110" y="5947884"/>
            <a:ext cx="1988521" cy="723670"/>
            <a:chOff x="0" y="-133350"/>
            <a:chExt cx="2651362" cy="964893"/>
          </a:xfrm>
        </p:grpSpPr>
        <p:sp>
          <p:nvSpPr>
            <p:cNvPr id="275" name="Google Shape;275;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Clr>
                  <a:srgbClr val="000000"/>
                </a:buClr>
                <a:buSzPts val="3000"/>
                <a:buFont typeface="Arial"/>
                <a:buNone/>
              </a:pPr>
              <a:r>
                <a:rPr b="1" i="0" lang="en-US" sz="3000" u="none" cap="none" strike="noStrike">
                  <a:solidFill>
                    <a:srgbClr val="131416"/>
                  </a:solidFill>
                  <a:latin typeface="Open Sans"/>
                  <a:ea typeface="Open Sans"/>
                  <a:cs typeface="Open Sans"/>
                  <a:sym typeface="Open Sans"/>
                </a:rPr>
                <a:t>PUT</a:t>
              </a:r>
              <a:endParaRPr b="0" i="0" sz="1400" u="none" cap="none" strike="noStrike">
                <a:solidFill>
                  <a:srgbClr val="000000"/>
                </a:solidFill>
                <a:latin typeface="Arial"/>
                <a:ea typeface="Arial"/>
                <a:cs typeface="Arial"/>
                <a:sym typeface="Arial"/>
              </a:endParaRPr>
            </a:p>
          </p:txBody>
        </p:sp>
      </p:grpSp>
      <p:grpSp>
        <p:nvGrpSpPr>
          <p:cNvPr id="277" name="Google Shape;277;p9"/>
          <p:cNvGrpSpPr/>
          <p:nvPr/>
        </p:nvGrpSpPr>
        <p:grpSpPr>
          <a:xfrm>
            <a:off x="2360110" y="7215043"/>
            <a:ext cx="1988521" cy="723670"/>
            <a:chOff x="0" y="-133350"/>
            <a:chExt cx="2651362" cy="964893"/>
          </a:xfrm>
        </p:grpSpPr>
        <p:sp>
          <p:nvSpPr>
            <p:cNvPr id="278" name="Google Shape;278;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9" name="Google Shape;279;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Clr>
                  <a:srgbClr val="000000"/>
                </a:buClr>
                <a:buSzPts val="3000"/>
                <a:buFont typeface="Arial"/>
                <a:buNone/>
              </a:pPr>
              <a:r>
                <a:rPr b="1" i="0" lang="en-US" sz="3000" u="none" cap="none" strike="noStrike">
                  <a:solidFill>
                    <a:srgbClr val="131416"/>
                  </a:solidFill>
                  <a:latin typeface="Open Sans"/>
                  <a:ea typeface="Open Sans"/>
                  <a:cs typeface="Open Sans"/>
                  <a:sym typeface="Open Sans"/>
                </a:rPr>
                <a:t>DELETE</a:t>
              </a:r>
              <a:endParaRPr b="0" i="0" sz="1400" u="none" cap="none" strike="noStrike">
                <a:solidFill>
                  <a:srgbClr val="000000"/>
                </a:solidFill>
                <a:latin typeface="Arial"/>
                <a:ea typeface="Arial"/>
                <a:cs typeface="Arial"/>
                <a:sym typeface="Arial"/>
              </a:endParaRPr>
            </a:p>
          </p:txBody>
        </p:sp>
      </p:grpSp>
      <p:grpSp>
        <p:nvGrpSpPr>
          <p:cNvPr id="280" name="Google Shape;280;p9"/>
          <p:cNvGrpSpPr/>
          <p:nvPr/>
        </p:nvGrpSpPr>
        <p:grpSpPr>
          <a:xfrm>
            <a:off x="2360110" y="8218244"/>
            <a:ext cx="1988521" cy="723670"/>
            <a:chOff x="0" y="-133350"/>
            <a:chExt cx="2651362" cy="964893"/>
          </a:xfrm>
        </p:grpSpPr>
        <p:sp>
          <p:nvSpPr>
            <p:cNvPr id="281" name="Google Shape;281;p9"/>
            <p:cNvSpPr/>
            <p:nvPr/>
          </p:nvSpPr>
          <p:spPr>
            <a:xfrm>
              <a:off x="0" y="0"/>
              <a:ext cx="2651362" cy="831543"/>
            </a:xfrm>
            <a:custGeom>
              <a:rect b="b" l="l" r="r" t="t"/>
              <a:pathLst>
                <a:path extrusionOk="0" h="831543" w="2651362">
                  <a:moveTo>
                    <a:pt x="0" y="0"/>
                  </a:moveTo>
                  <a:lnTo>
                    <a:pt x="2651362" y="0"/>
                  </a:lnTo>
                  <a:lnTo>
                    <a:pt x="2651362" y="831543"/>
                  </a:lnTo>
                  <a:lnTo>
                    <a:pt x="0" y="83154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9"/>
            <p:cNvSpPr txBox="1"/>
            <p:nvPr/>
          </p:nvSpPr>
          <p:spPr>
            <a:xfrm>
              <a:off x="0" y="-133350"/>
              <a:ext cx="2651362" cy="964892"/>
            </a:xfrm>
            <a:prstGeom prst="rect">
              <a:avLst/>
            </a:prstGeom>
            <a:noFill/>
            <a:ln>
              <a:noFill/>
            </a:ln>
          </p:spPr>
          <p:txBody>
            <a:bodyPr anchorCtr="0" anchor="ctr" bIns="0" lIns="0" spcFirstLastPara="1" rIns="0" wrap="square" tIns="0">
              <a:noAutofit/>
            </a:bodyPr>
            <a:lstStyle/>
            <a:p>
              <a:pPr indent="0" lvl="0" marL="0" marR="0" rtl="0" algn="ctr">
                <a:lnSpc>
                  <a:spcPct val="168000"/>
                </a:lnSpc>
                <a:spcBef>
                  <a:spcPts val="0"/>
                </a:spcBef>
                <a:spcAft>
                  <a:spcPts val="0"/>
                </a:spcAft>
                <a:buClr>
                  <a:srgbClr val="000000"/>
                </a:buClr>
                <a:buSzPts val="3000"/>
                <a:buFont typeface="Arial"/>
                <a:buNone/>
              </a:pPr>
              <a:r>
                <a:rPr b="1" i="0" lang="en-US" sz="3000" u="none" cap="none" strike="noStrike">
                  <a:solidFill>
                    <a:srgbClr val="131416"/>
                  </a:solidFill>
                  <a:latin typeface="Open Sans"/>
                  <a:ea typeface="Open Sans"/>
                  <a:cs typeface="Open Sans"/>
                  <a:sym typeface="Open Sans"/>
                </a:rPr>
                <a:t>PATCH</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286" name="Shape 286"/>
        <p:cNvGrpSpPr/>
        <p:nvPr/>
      </p:nvGrpSpPr>
      <p:grpSpPr>
        <a:xfrm>
          <a:off x="0" y="0"/>
          <a:ext cx="0" cy="0"/>
          <a:chOff x="0" y="0"/>
          <a:chExt cx="0" cy="0"/>
        </a:xfrm>
      </p:grpSpPr>
      <p:sp>
        <p:nvSpPr>
          <p:cNvPr id="287" name="Google Shape;287;p1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88" name="Google Shape;288;p10"/>
          <p:cNvGrpSpPr/>
          <p:nvPr/>
        </p:nvGrpSpPr>
        <p:grpSpPr>
          <a:xfrm>
            <a:off x="414625" y="196812"/>
            <a:ext cx="17458749" cy="9459392"/>
            <a:chOff x="0" y="-114300"/>
            <a:chExt cx="4598189" cy="2491363"/>
          </a:xfrm>
        </p:grpSpPr>
        <p:sp>
          <p:nvSpPr>
            <p:cNvPr id="289" name="Google Shape;289;p1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1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1" name="Google Shape;291;p10"/>
          <p:cNvGrpSpPr/>
          <p:nvPr/>
        </p:nvGrpSpPr>
        <p:grpSpPr>
          <a:xfrm>
            <a:off x="1028700" y="871538"/>
            <a:ext cx="16230602" cy="1256147"/>
            <a:chOff x="0" y="-209550"/>
            <a:chExt cx="21640802" cy="1674862"/>
          </a:xfrm>
        </p:grpSpPr>
        <p:sp>
          <p:nvSpPr>
            <p:cNvPr id="292" name="Google Shape;292;p1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1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¿QUE ES UN FRAMEWORK?</a:t>
              </a:r>
              <a:endParaRPr b="0" i="0" sz="1400" u="none" cap="none" strike="noStrike">
                <a:solidFill>
                  <a:srgbClr val="000000"/>
                </a:solidFill>
                <a:latin typeface="Arial"/>
                <a:ea typeface="Arial"/>
                <a:cs typeface="Arial"/>
                <a:sym typeface="Arial"/>
              </a:endParaRPr>
            </a:p>
          </p:txBody>
        </p:sp>
      </p:grpSp>
      <p:grpSp>
        <p:nvGrpSpPr>
          <p:cNvPr id="294" name="Google Shape;294;p10"/>
          <p:cNvGrpSpPr/>
          <p:nvPr/>
        </p:nvGrpSpPr>
        <p:grpSpPr>
          <a:xfrm>
            <a:off x="1028700" y="2020528"/>
            <a:ext cx="16230600" cy="4825595"/>
            <a:chOff x="0" y="-142875"/>
            <a:chExt cx="21640800" cy="6434127"/>
          </a:xfrm>
        </p:grpSpPr>
        <p:sp>
          <p:nvSpPr>
            <p:cNvPr id="295" name="Google Shape;295;p10"/>
            <p:cNvSpPr/>
            <p:nvPr/>
          </p:nvSpPr>
          <p:spPr>
            <a:xfrm>
              <a:off x="0" y="0"/>
              <a:ext cx="21640800" cy="6291252"/>
            </a:xfrm>
            <a:custGeom>
              <a:rect b="b" l="l" r="r" t="t"/>
              <a:pathLst>
                <a:path extrusionOk="0" h="6291252" w="21640800">
                  <a:moveTo>
                    <a:pt x="0" y="0"/>
                  </a:moveTo>
                  <a:lnTo>
                    <a:pt x="21640800" y="0"/>
                  </a:lnTo>
                  <a:lnTo>
                    <a:pt x="21640800" y="6291252"/>
                  </a:lnTo>
                  <a:lnTo>
                    <a:pt x="0" y="62912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10"/>
            <p:cNvSpPr txBox="1"/>
            <p:nvPr/>
          </p:nvSpPr>
          <p:spPr>
            <a:xfrm>
              <a:off x="0" y="-142875"/>
              <a:ext cx="21640800" cy="64341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Un framework es un conjunto de herramientas, bibliotecas y convenciones que facilitan el desarrollo de software. En el contexto del backend, los frameworks proporcionan una estructura base sobre la cual construir aplicaciones web, permitiendo a los desarrolladores enfocarse en la lógica de negocio sin reinventar soluciones comunes.</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rPr b="0" i="0" lang="en-US" sz="3200" u="none" cap="none" strike="noStrike">
                  <a:solidFill>
                    <a:srgbClr val="131416"/>
                  </a:solidFill>
                  <a:latin typeface="Open Sans"/>
                  <a:ea typeface="Open Sans"/>
                  <a:cs typeface="Open Sans"/>
                  <a:sym typeface="Open Sans"/>
                </a:rPr>
                <a:t>Un framework web agiliza tareas como el manejo de rutas, la conexión a bases de datos, la validación de formularios y la implementación de APIs REST.</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00" name="Shape 300"/>
        <p:cNvGrpSpPr/>
        <p:nvPr/>
      </p:nvGrpSpPr>
      <p:grpSpPr>
        <a:xfrm>
          <a:off x="0" y="0"/>
          <a:ext cx="0" cy="0"/>
          <a:chOff x="0" y="0"/>
          <a:chExt cx="0" cy="0"/>
        </a:xfrm>
      </p:grpSpPr>
      <p:sp>
        <p:nvSpPr>
          <p:cNvPr id="301" name="Google Shape;301;p1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02" name="Google Shape;302;p11"/>
          <p:cNvGrpSpPr/>
          <p:nvPr/>
        </p:nvGrpSpPr>
        <p:grpSpPr>
          <a:xfrm>
            <a:off x="414625" y="196812"/>
            <a:ext cx="17458749" cy="9459392"/>
            <a:chOff x="0" y="-114300"/>
            <a:chExt cx="4598189" cy="2491363"/>
          </a:xfrm>
        </p:grpSpPr>
        <p:sp>
          <p:nvSpPr>
            <p:cNvPr id="303" name="Google Shape;303;p1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1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5" name="Google Shape;305;p11"/>
          <p:cNvGrpSpPr/>
          <p:nvPr/>
        </p:nvGrpSpPr>
        <p:grpSpPr>
          <a:xfrm>
            <a:off x="1028700" y="871538"/>
            <a:ext cx="16230602" cy="1256148"/>
            <a:chOff x="0" y="-209551"/>
            <a:chExt cx="21640802" cy="1674863"/>
          </a:xfrm>
        </p:grpSpPr>
        <p:sp>
          <p:nvSpPr>
            <p:cNvPr id="306" name="Google Shape;306;p1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11"/>
            <p:cNvSpPr txBox="1"/>
            <p:nvPr/>
          </p:nvSpPr>
          <p:spPr>
            <a:xfrm>
              <a:off x="0" y="-209551"/>
              <a:ext cx="21640799"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¿QUE ES ASP.NET Core?</a:t>
              </a:r>
              <a:endParaRPr b="0" i="0" sz="6098" u="none" cap="none" strike="noStrike">
                <a:solidFill>
                  <a:srgbClr val="131416"/>
                </a:solidFill>
                <a:latin typeface="Impact"/>
                <a:ea typeface="Impact"/>
                <a:cs typeface="Impact"/>
                <a:sym typeface="Impact"/>
              </a:endParaRPr>
            </a:p>
          </p:txBody>
        </p:sp>
      </p:grpSp>
      <p:grpSp>
        <p:nvGrpSpPr>
          <p:cNvPr id="308" name="Google Shape;308;p11"/>
          <p:cNvGrpSpPr/>
          <p:nvPr/>
        </p:nvGrpSpPr>
        <p:grpSpPr>
          <a:xfrm>
            <a:off x="1028700" y="2020528"/>
            <a:ext cx="16230600" cy="4825595"/>
            <a:chOff x="0" y="-142875"/>
            <a:chExt cx="21640800" cy="6434127"/>
          </a:xfrm>
        </p:grpSpPr>
        <p:sp>
          <p:nvSpPr>
            <p:cNvPr id="309" name="Google Shape;309;p11"/>
            <p:cNvSpPr/>
            <p:nvPr/>
          </p:nvSpPr>
          <p:spPr>
            <a:xfrm>
              <a:off x="0" y="0"/>
              <a:ext cx="21640800" cy="6291252"/>
            </a:xfrm>
            <a:custGeom>
              <a:rect b="b" l="l" r="r" t="t"/>
              <a:pathLst>
                <a:path extrusionOk="0" h="6291252" w="21640800">
                  <a:moveTo>
                    <a:pt x="0" y="0"/>
                  </a:moveTo>
                  <a:lnTo>
                    <a:pt x="21640800" y="0"/>
                  </a:lnTo>
                  <a:lnTo>
                    <a:pt x="21640800" y="6291252"/>
                  </a:lnTo>
                  <a:lnTo>
                    <a:pt x="0" y="62912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11"/>
            <p:cNvSpPr txBox="1"/>
            <p:nvPr/>
          </p:nvSpPr>
          <p:spPr>
            <a:xfrm>
              <a:off x="0" y="-142875"/>
              <a:ext cx="21640800" cy="64341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000000"/>
                  </a:solidFill>
                  <a:latin typeface="Arial"/>
                  <a:ea typeface="Arial"/>
                  <a:cs typeface="Arial"/>
                  <a:sym typeface="Arial"/>
                </a:rPr>
                <a:t>ASP.NET Core Web API es un framework dentro de ASP.NET Core desarrollado por Microsoft que permite crear servicios backend basados en HTTP para exponer datos y funcionalidades a través de APIs REST. Está diseñado para facilitar la comunicación entre aplicaciones, como frontends web, aplicaciones móviles o sistemas externos, utilizando formatos estándar como JSON. A diferencia de aplicaciones web tradicionales, ASP.NET Core Web API se enfoca únicamente en la lógica del servidor y la gestión de solicitudes y respuestas, ofreciendo un alto rendimiento, flexibilidad y soporte para arquitecturas modernas como microservicios.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14" name="Shape 314"/>
        <p:cNvGrpSpPr/>
        <p:nvPr/>
      </p:nvGrpSpPr>
      <p:grpSpPr>
        <a:xfrm>
          <a:off x="0" y="0"/>
          <a:ext cx="0" cy="0"/>
          <a:chOff x="0" y="0"/>
          <a:chExt cx="0" cy="0"/>
        </a:xfrm>
      </p:grpSpPr>
      <p:sp>
        <p:nvSpPr>
          <p:cNvPr id="315" name="Google Shape;315;p1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16" name="Google Shape;316;p12"/>
          <p:cNvGrpSpPr/>
          <p:nvPr/>
        </p:nvGrpSpPr>
        <p:grpSpPr>
          <a:xfrm>
            <a:off x="414625" y="196812"/>
            <a:ext cx="17458749" cy="9459392"/>
            <a:chOff x="0" y="-114300"/>
            <a:chExt cx="4598189" cy="2491363"/>
          </a:xfrm>
        </p:grpSpPr>
        <p:sp>
          <p:nvSpPr>
            <p:cNvPr id="317" name="Google Shape;317;p1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1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2"/>
          <p:cNvGrpSpPr/>
          <p:nvPr/>
        </p:nvGrpSpPr>
        <p:grpSpPr>
          <a:xfrm>
            <a:off x="1028700" y="871538"/>
            <a:ext cx="16230602" cy="1256147"/>
            <a:chOff x="0" y="-209550"/>
            <a:chExt cx="21640802" cy="1674862"/>
          </a:xfrm>
        </p:grpSpPr>
        <p:sp>
          <p:nvSpPr>
            <p:cNvPr id="320" name="Google Shape;320;p12"/>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12"/>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¿POR QUE USAR ASP.NET CORE WEB API?</a:t>
              </a:r>
              <a:endParaRPr b="0" i="0" sz="1400" u="none" cap="none" strike="noStrike">
                <a:solidFill>
                  <a:srgbClr val="000000"/>
                </a:solidFill>
                <a:latin typeface="Arial"/>
                <a:ea typeface="Arial"/>
                <a:cs typeface="Arial"/>
                <a:sym typeface="Arial"/>
              </a:endParaRPr>
            </a:p>
          </p:txBody>
        </p:sp>
      </p:grpSp>
      <p:grpSp>
        <p:nvGrpSpPr>
          <p:cNvPr id="322" name="Google Shape;322;p12"/>
          <p:cNvGrpSpPr/>
          <p:nvPr/>
        </p:nvGrpSpPr>
        <p:grpSpPr>
          <a:xfrm>
            <a:off x="1906309" y="2027671"/>
            <a:ext cx="15352991" cy="1267563"/>
            <a:chOff x="0" y="-133350"/>
            <a:chExt cx="20470654" cy="1690083"/>
          </a:xfrm>
        </p:grpSpPr>
        <p:sp>
          <p:nvSpPr>
            <p:cNvPr id="323" name="Google Shape;323;p12"/>
            <p:cNvSpPr/>
            <p:nvPr/>
          </p:nvSpPr>
          <p:spPr>
            <a:xfrm>
              <a:off x="0" y="0"/>
              <a:ext cx="20470654" cy="1556733"/>
            </a:xfrm>
            <a:custGeom>
              <a:rect b="b" l="l" r="r" t="t"/>
              <a:pathLst>
                <a:path extrusionOk="0" h="1556733" w="20470654">
                  <a:moveTo>
                    <a:pt x="0" y="0"/>
                  </a:moveTo>
                  <a:lnTo>
                    <a:pt x="20470654" y="0"/>
                  </a:lnTo>
                  <a:lnTo>
                    <a:pt x="20470654" y="1556733"/>
                  </a:lnTo>
                  <a:lnTo>
                    <a:pt x="0" y="15567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12"/>
            <p:cNvSpPr txBox="1"/>
            <p:nvPr/>
          </p:nvSpPr>
          <p:spPr>
            <a:xfrm>
              <a:off x="0" y="-133350"/>
              <a:ext cx="20470654" cy="1690083"/>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24"/>
                </a:lnSpc>
                <a:spcBef>
                  <a:spcPts val="0"/>
                </a:spcBef>
                <a:spcAft>
                  <a:spcPts val="0"/>
                </a:spcAft>
                <a:buNone/>
              </a:pPr>
              <a:r>
                <a:rPr b="0" i="0" lang="en-US" sz="2800" u="none" cap="none" strike="noStrike">
                  <a:solidFill>
                    <a:srgbClr val="000000"/>
                  </a:solidFill>
                  <a:latin typeface="Arial"/>
                  <a:ea typeface="Arial"/>
                  <a:cs typeface="Arial"/>
                  <a:sym typeface="Arial"/>
                </a:rPr>
                <a:t>Permite crear APIs rápidas y escalables capaces de manejar muchas solicitudes concurrentes sin degradar el rendimiento.</a:t>
              </a:r>
              <a:endParaRPr b="0" i="0" sz="1400" u="none" cap="none" strike="noStrike">
                <a:solidFill>
                  <a:schemeClr val="dk1"/>
                </a:solidFill>
                <a:latin typeface="Arial"/>
                <a:ea typeface="Arial"/>
                <a:cs typeface="Arial"/>
                <a:sym typeface="Arial"/>
              </a:endParaRPr>
            </a:p>
          </p:txBody>
        </p:sp>
      </p:grpSp>
      <p:grpSp>
        <p:nvGrpSpPr>
          <p:cNvPr id="325" name="Google Shape;325;p12"/>
          <p:cNvGrpSpPr/>
          <p:nvPr/>
        </p:nvGrpSpPr>
        <p:grpSpPr>
          <a:xfrm>
            <a:off x="1906308" y="4145652"/>
            <a:ext cx="15496788" cy="1375527"/>
            <a:chOff x="-1" y="737906"/>
            <a:chExt cx="20662383" cy="1834037"/>
          </a:xfrm>
        </p:grpSpPr>
        <p:sp>
          <p:nvSpPr>
            <p:cNvPr id="326" name="Google Shape;326;p12"/>
            <p:cNvSpPr/>
            <p:nvPr/>
          </p:nvSpPr>
          <p:spPr>
            <a:xfrm>
              <a:off x="-1" y="737906"/>
              <a:ext cx="20470654" cy="881053"/>
            </a:xfrm>
            <a:custGeom>
              <a:rect b="b" l="l" r="r" t="t"/>
              <a:pathLst>
                <a:path extrusionOk="0" h="881052" w="20470654">
                  <a:moveTo>
                    <a:pt x="0" y="0"/>
                  </a:moveTo>
                  <a:lnTo>
                    <a:pt x="20470654" y="0"/>
                  </a:lnTo>
                  <a:lnTo>
                    <a:pt x="20470654" y="881052"/>
                  </a:lnTo>
                  <a:lnTo>
                    <a:pt x="0" y="881052"/>
                  </a:lnTo>
                  <a:close/>
                </a:path>
              </a:pathLst>
            </a:custGeom>
            <a:solidFill>
              <a:srgbClr val="EFEFEF"/>
            </a:solidFill>
            <a:ln cap="flat" cmpd="sng" w="9525">
              <a:solidFill>
                <a:srgbClr val="D9D9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12"/>
            <p:cNvSpPr txBox="1"/>
            <p:nvPr/>
          </p:nvSpPr>
          <p:spPr>
            <a:xfrm>
              <a:off x="-1" y="884145"/>
              <a:ext cx="20662383" cy="1687798"/>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24"/>
                </a:lnSpc>
                <a:spcBef>
                  <a:spcPts val="0"/>
                </a:spcBef>
                <a:spcAft>
                  <a:spcPts val="0"/>
                </a:spcAft>
                <a:buNone/>
              </a:pPr>
              <a:r>
                <a:rPr b="0" i="0" lang="en-US" sz="2800" u="none" cap="none" strike="noStrike">
                  <a:solidFill>
                    <a:srgbClr val="000000"/>
                  </a:solidFill>
                  <a:latin typeface="Arial"/>
                  <a:ea typeface="Arial"/>
                  <a:cs typeface="Arial"/>
                  <a:sym typeface="Arial"/>
                </a:rPr>
                <a:t>Desarrollado por Microsoft, funciona en Windows, Linux y macOS, facilitando el despliegue en distintos entornos.</a:t>
              </a:r>
              <a:r>
                <a:rPr b="0" i="0" lang="en-US" sz="2799" u="none" cap="none" strike="noStrike">
                  <a:solidFill>
                    <a:schemeClr val="dk1"/>
                  </a:solidFill>
                  <a:latin typeface="Open Sans"/>
                  <a:ea typeface="Open Sans"/>
                  <a:cs typeface="Open Sans"/>
                  <a:sym typeface="Open Sans"/>
                </a:rPr>
                <a:t>. </a:t>
              </a:r>
              <a:endParaRPr b="0" i="0" sz="1400" u="none" cap="none" strike="noStrike">
                <a:solidFill>
                  <a:schemeClr val="dk1"/>
                </a:solidFill>
                <a:latin typeface="Arial"/>
                <a:ea typeface="Arial"/>
                <a:cs typeface="Arial"/>
                <a:sym typeface="Arial"/>
              </a:endParaRPr>
            </a:p>
          </p:txBody>
        </p:sp>
      </p:grpSp>
      <p:grpSp>
        <p:nvGrpSpPr>
          <p:cNvPr id="328" name="Google Shape;328;p12"/>
          <p:cNvGrpSpPr/>
          <p:nvPr/>
        </p:nvGrpSpPr>
        <p:grpSpPr>
          <a:xfrm>
            <a:off x="1906308" y="4550001"/>
            <a:ext cx="15352992" cy="3070358"/>
            <a:chOff x="-1" y="0"/>
            <a:chExt cx="20470655" cy="4093808"/>
          </a:xfrm>
        </p:grpSpPr>
        <p:sp>
          <p:nvSpPr>
            <p:cNvPr id="329" name="Google Shape;329;p12"/>
            <p:cNvSpPr/>
            <p:nvPr/>
          </p:nvSpPr>
          <p:spPr>
            <a:xfrm>
              <a:off x="0" y="0"/>
              <a:ext cx="20470654" cy="1556733"/>
            </a:xfrm>
            <a:custGeom>
              <a:rect b="b" l="l" r="r" t="t"/>
              <a:pathLst>
                <a:path extrusionOk="0" h="1556733" w="20470654">
                  <a:moveTo>
                    <a:pt x="0" y="0"/>
                  </a:moveTo>
                  <a:lnTo>
                    <a:pt x="20470654" y="0"/>
                  </a:lnTo>
                  <a:lnTo>
                    <a:pt x="20470654" y="1556733"/>
                  </a:lnTo>
                  <a:lnTo>
                    <a:pt x="0" y="15567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12"/>
            <p:cNvSpPr txBox="1"/>
            <p:nvPr/>
          </p:nvSpPr>
          <p:spPr>
            <a:xfrm>
              <a:off x="-1" y="2403725"/>
              <a:ext cx="20470654" cy="1690083"/>
            </a:xfrm>
            <a:prstGeom prst="rect">
              <a:avLst/>
            </a:prstGeom>
            <a:solidFill>
              <a:srgbClr val="EFEFEF"/>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marR="0" rtl="0" algn="just">
                <a:lnSpc>
                  <a:spcPct val="168024"/>
                </a:lnSpc>
                <a:spcBef>
                  <a:spcPts val="0"/>
                </a:spcBef>
                <a:spcAft>
                  <a:spcPts val="0"/>
                </a:spcAft>
                <a:buNone/>
              </a:pPr>
              <a:r>
                <a:rPr b="0" i="0" lang="en-US" sz="2800" u="none" cap="none" strike="noStrike">
                  <a:solidFill>
                    <a:srgbClr val="000000"/>
                  </a:solidFill>
                  <a:latin typeface="Arial"/>
                  <a:ea typeface="Arial"/>
                  <a:cs typeface="Arial"/>
                  <a:sym typeface="Arial"/>
                </a:rPr>
                <a:t>Solo usas lo necesario, lo que hace el código más limpio, mantenible y fácil de escalar con buenas prácticas.</a:t>
              </a:r>
              <a:endParaRPr b="0" i="0" sz="1400" u="none" cap="none" strike="noStrike">
                <a:solidFill>
                  <a:srgbClr val="000000"/>
                </a:solidFill>
                <a:latin typeface="Arial"/>
                <a:ea typeface="Arial"/>
                <a:cs typeface="Arial"/>
                <a:sym typeface="Arial"/>
              </a:endParaRPr>
            </a:p>
          </p:txBody>
        </p:sp>
      </p:grpSp>
      <p:sp>
        <p:nvSpPr>
          <p:cNvPr id="331" name="Google Shape;331;p12"/>
          <p:cNvSpPr/>
          <p:nvPr/>
        </p:nvSpPr>
        <p:spPr>
          <a:xfrm>
            <a:off x="1906309" y="8347925"/>
            <a:ext cx="15352991" cy="1167550"/>
          </a:xfrm>
          <a:custGeom>
            <a:rect b="b" l="l" r="r" t="t"/>
            <a:pathLst>
              <a:path extrusionOk="0" h="1556733" w="20470654">
                <a:moveTo>
                  <a:pt x="0" y="0"/>
                </a:moveTo>
                <a:lnTo>
                  <a:pt x="20470654" y="0"/>
                </a:lnTo>
                <a:lnTo>
                  <a:pt x="20470654" y="1556733"/>
                </a:lnTo>
                <a:lnTo>
                  <a:pt x="0" y="15567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12"/>
          <p:cNvSpPr/>
          <p:nvPr/>
        </p:nvSpPr>
        <p:spPr>
          <a:xfrm>
            <a:off x="1028700" y="2437011"/>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12"/>
          <p:cNvSpPr/>
          <p:nvPr/>
        </p:nvSpPr>
        <p:spPr>
          <a:xfrm>
            <a:off x="1017342" y="4581377"/>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12"/>
          <p:cNvSpPr/>
          <p:nvPr/>
        </p:nvSpPr>
        <p:spPr>
          <a:xfrm>
            <a:off x="995911" y="6627172"/>
            <a:ext cx="592644" cy="548897"/>
          </a:xfrm>
          <a:custGeom>
            <a:rect b="b" l="l" r="r" t="t"/>
            <a:pathLst>
              <a:path extrusionOk="0" h="548897" w="592644">
                <a:moveTo>
                  <a:pt x="0" y="0"/>
                </a:moveTo>
                <a:lnTo>
                  <a:pt x="592644" y="0"/>
                </a:lnTo>
                <a:lnTo>
                  <a:pt x="592644" y="548897"/>
                </a:lnTo>
                <a:lnTo>
                  <a:pt x="0" y="54889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38" name="Shape 338"/>
        <p:cNvGrpSpPr/>
        <p:nvPr/>
      </p:nvGrpSpPr>
      <p:grpSpPr>
        <a:xfrm>
          <a:off x="0" y="0"/>
          <a:ext cx="0" cy="0"/>
          <a:chOff x="0" y="0"/>
          <a:chExt cx="0" cy="0"/>
        </a:xfrm>
      </p:grpSpPr>
      <p:sp>
        <p:nvSpPr>
          <p:cNvPr id="339" name="Google Shape;339;p14"/>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40" name="Google Shape;340;p14"/>
          <p:cNvGrpSpPr/>
          <p:nvPr/>
        </p:nvGrpSpPr>
        <p:grpSpPr>
          <a:xfrm>
            <a:off x="414625" y="196812"/>
            <a:ext cx="17458749" cy="9459392"/>
            <a:chOff x="0" y="-114300"/>
            <a:chExt cx="4598189" cy="2491363"/>
          </a:xfrm>
        </p:grpSpPr>
        <p:sp>
          <p:nvSpPr>
            <p:cNvPr id="341" name="Google Shape;341;p14"/>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14"/>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3" name="Google Shape;343;p14"/>
          <p:cNvGrpSpPr/>
          <p:nvPr/>
        </p:nvGrpSpPr>
        <p:grpSpPr>
          <a:xfrm>
            <a:off x="1028700" y="871538"/>
            <a:ext cx="16230602" cy="1256147"/>
            <a:chOff x="0" y="-209550"/>
            <a:chExt cx="21640802" cy="1674862"/>
          </a:xfrm>
        </p:grpSpPr>
        <p:sp>
          <p:nvSpPr>
            <p:cNvPr id="344" name="Google Shape;344;p14"/>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14"/>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RUTAS Y METODOS</a:t>
              </a:r>
              <a:endParaRPr b="0" i="0" sz="1400" u="none" cap="none" strike="noStrike">
                <a:solidFill>
                  <a:srgbClr val="000000"/>
                </a:solidFill>
                <a:latin typeface="Arial"/>
                <a:ea typeface="Arial"/>
                <a:cs typeface="Arial"/>
                <a:sym typeface="Arial"/>
              </a:endParaRPr>
            </a:p>
          </p:txBody>
        </p:sp>
      </p:grpSp>
      <p:grpSp>
        <p:nvGrpSpPr>
          <p:cNvPr id="346" name="Google Shape;346;p14"/>
          <p:cNvGrpSpPr/>
          <p:nvPr/>
        </p:nvGrpSpPr>
        <p:grpSpPr>
          <a:xfrm>
            <a:off x="1028700" y="2020528"/>
            <a:ext cx="16230600" cy="4149320"/>
            <a:chOff x="0" y="-142875"/>
            <a:chExt cx="21640800" cy="5532427"/>
          </a:xfrm>
        </p:grpSpPr>
        <p:sp>
          <p:nvSpPr>
            <p:cNvPr id="347" name="Google Shape;347;p14"/>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14"/>
            <p:cNvSpPr txBox="1"/>
            <p:nvPr/>
          </p:nvSpPr>
          <p:spPr>
            <a:xfrm>
              <a:off x="0" y="-142875"/>
              <a:ext cx="21640800" cy="55324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000000"/>
                  </a:solidFill>
                  <a:latin typeface="Arial"/>
                  <a:ea typeface="Arial"/>
                  <a:cs typeface="Arial"/>
                  <a:sym typeface="Arial"/>
                </a:rPr>
                <a:t>En ASP.NET Core Web API, una ruta (o route) es la forma en que se asocia una URL con un método dentro de un controlador, permitiendo que el servidor ejecute una acción específica cuando se recibe una solicitud HTTP. En lugar de usar decoradores como en Flask, se utilizan atributos como [Route], [HttpGet], [HttpPost], etc., para definir las rutas y los métodos permitidos. Cuando un cliente accede a una URL, el framework dirige la petición al método correspondiente dentro del controlador para generar la respuesta.</a:t>
              </a:r>
              <a:endParaRPr b="0" i="0" sz="32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52" name="Shape 352"/>
        <p:cNvGrpSpPr/>
        <p:nvPr/>
      </p:nvGrpSpPr>
      <p:grpSpPr>
        <a:xfrm>
          <a:off x="0" y="0"/>
          <a:ext cx="0" cy="0"/>
          <a:chOff x="0" y="0"/>
          <a:chExt cx="0" cy="0"/>
        </a:xfrm>
      </p:grpSpPr>
      <p:sp>
        <p:nvSpPr>
          <p:cNvPr id="353" name="Google Shape;353;p35"/>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54" name="Google Shape;354;p35"/>
          <p:cNvGrpSpPr/>
          <p:nvPr/>
        </p:nvGrpSpPr>
        <p:grpSpPr>
          <a:xfrm>
            <a:off x="414625" y="196812"/>
            <a:ext cx="17458749" cy="9459392"/>
            <a:chOff x="0" y="-114300"/>
            <a:chExt cx="4598189" cy="2491363"/>
          </a:xfrm>
        </p:grpSpPr>
        <p:sp>
          <p:nvSpPr>
            <p:cNvPr id="355" name="Google Shape;355;p35"/>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35"/>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7" name="Google Shape;357;p35"/>
          <p:cNvGrpSpPr/>
          <p:nvPr/>
        </p:nvGrpSpPr>
        <p:grpSpPr>
          <a:xfrm>
            <a:off x="1028698" y="871537"/>
            <a:ext cx="16230604" cy="1256148"/>
            <a:chOff x="-3" y="-209551"/>
            <a:chExt cx="21640805" cy="1674863"/>
          </a:xfrm>
        </p:grpSpPr>
        <p:sp>
          <p:nvSpPr>
            <p:cNvPr id="358" name="Google Shape;358;p35"/>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35"/>
            <p:cNvSpPr txBox="1"/>
            <p:nvPr/>
          </p:nvSpPr>
          <p:spPr>
            <a:xfrm>
              <a:off x="-3" y="-209551"/>
              <a:ext cx="21640799"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MODEL</a:t>
              </a:r>
              <a:endParaRPr b="0" i="0" sz="1400" u="none" cap="none" strike="noStrike">
                <a:solidFill>
                  <a:srgbClr val="000000"/>
                </a:solidFill>
                <a:latin typeface="Arial"/>
                <a:ea typeface="Arial"/>
                <a:cs typeface="Arial"/>
                <a:sym typeface="Arial"/>
              </a:endParaRPr>
            </a:p>
          </p:txBody>
        </p:sp>
      </p:grpSp>
      <p:grpSp>
        <p:nvGrpSpPr>
          <p:cNvPr id="360" name="Google Shape;360;p35"/>
          <p:cNvGrpSpPr/>
          <p:nvPr/>
        </p:nvGrpSpPr>
        <p:grpSpPr>
          <a:xfrm>
            <a:off x="1028700" y="2020528"/>
            <a:ext cx="16230600" cy="4149320"/>
            <a:chOff x="0" y="-142875"/>
            <a:chExt cx="21640800" cy="5532427"/>
          </a:xfrm>
        </p:grpSpPr>
        <p:sp>
          <p:nvSpPr>
            <p:cNvPr id="361" name="Google Shape;361;p35"/>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35"/>
            <p:cNvSpPr txBox="1"/>
            <p:nvPr/>
          </p:nvSpPr>
          <p:spPr>
            <a:xfrm>
              <a:off x="0" y="-142875"/>
              <a:ext cx="21640800" cy="55324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000000"/>
                  </a:solidFill>
                  <a:latin typeface="Arial"/>
                  <a:ea typeface="Arial"/>
                  <a:cs typeface="Arial"/>
                  <a:sym typeface="Arial"/>
                </a:rPr>
                <a:t>El Model representa la estructura de los datos de la aplicación. Define cómo se organizan y almacenan, incluyendo sus propiedades y, en algunos casos, validaciones. En ASP.NET Core, suele ser una clase en C# que describe entidades como usuarios, productos o tareas, y sirve como base para intercambiar información entre las distintas capas del sistema.</a:t>
              </a:r>
              <a:endParaRPr b="0" i="0" sz="3200" u="none" cap="none" strike="noStrike">
                <a:solidFill>
                  <a:srgbClr val="000000"/>
                </a:solidFill>
                <a:latin typeface="Arial"/>
                <a:ea typeface="Arial"/>
                <a:cs typeface="Arial"/>
                <a:sym typeface="Arial"/>
              </a:endParaRPr>
            </a:p>
          </p:txBody>
        </p:sp>
      </p:grpSp>
      <p:pic>
        <p:nvPicPr>
          <p:cNvPr descr="Spring Fundamentals: MVC/MCS Architecture | by Serena | Code Like A Girl" id="363" name="Google Shape;363;p35"/>
          <p:cNvPicPr preferRelativeResize="0"/>
          <p:nvPr/>
        </p:nvPicPr>
        <p:blipFill rotWithShape="1">
          <a:blip r:embed="rId4">
            <a:alphaModFix/>
          </a:blip>
          <a:srcRect b="0" l="0" r="0" t="0"/>
          <a:stretch/>
        </p:blipFill>
        <p:spPr>
          <a:xfrm>
            <a:off x="5786284" y="6435669"/>
            <a:ext cx="6096000" cy="2486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67" name="Shape 367"/>
        <p:cNvGrpSpPr/>
        <p:nvPr/>
      </p:nvGrpSpPr>
      <p:grpSpPr>
        <a:xfrm>
          <a:off x="0" y="0"/>
          <a:ext cx="0" cy="0"/>
          <a:chOff x="0" y="0"/>
          <a:chExt cx="0" cy="0"/>
        </a:xfrm>
      </p:grpSpPr>
      <p:sp>
        <p:nvSpPr>
          <p:cNvPr id="368" name="Google Shape;368;p36"/>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69" name="Google Shape;369;p36"/>
          <p:cNvGrpSpPr/>
          <p:nvPr/>
        </p:nvGrpSpPr>
        <p:grpSpPr>
          <a:xfrm>
            <a:off x="414625" y="196812"/>
            <a:ext cx="17458749" cy="9459392"/>
            <a:chOff x="0" y="-114300"/>
            <a:chExt cx="4598189" cy="2491363"/>
          </a:xfrm>
        </p:grpSpPr>
        <p:sp>
          <p:nvSpPr>
            <p:cNvPr id="370" name="Google Shape;370;p36"/>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36"/>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2" name="Google Shape;372;p36"/>
          <p:cNvGrpSpPr/>
          <p:nvPr/>
        </p:nvGrpSpPr>
        <p:grpSpPr>
          <a:xfrm>
            <a:off x="1028698" y="871537"/>
            <a:ext cx="16230604" cy="1256148"/>
            <a:chOff x="-3" y="-209551"/>
            <a:chExt cx="21640805" cy="1674863"/>
          </a:xfrm>
        </p:grpSpPr>
        <p:sp>
          <p:nvSpPr>
            <p:cNvPr id="373" name="Google Shape;373;p36"/>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36"/>
            <p:cNvSpPr txBox="1"/>
            <p:nvPr/>
          </p:nvSpPr>
          <p:spPr>
            <a:xfrm>
              <a:off x="-3" y="-209551"/>
              <a:ext cx="21640799"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SERVICE</a:t>
              </a:r>
              <a:endParaRPr b="0" i="0" sz="1400" u="none" cap="none" strike="noStrike">
                <a:solidFill>
                  <a:srgbClr val="000000"/>
                </a:solidFill>
                <a:latin typeface="Arial"/>
                <a:ea typeface="Arial"/>
                <a:cs typeface="Arial"/>
                <a:sym typeface="Arial"/>
              </a:endParaRPr>
            </a:p>
          </p:txBody>
        </p:sp>
      </p:grpSp>
      <p:grpSp>
        <p:nvGrpSpPr>
          <p:cNvPr id="375" name="Google Shape;375;p36"/>
          <p:cNvGrpSpPr/>
          <p:nvPr/>
        </p:nvGrpSpPr>
        <p:grpSpPr>
          <a:xfrm>
            <a:off x="1028700" y="2020528"/>
            <a:ext cx="16230600" cy="4149320"/>
            <a:chOff x="0" y="-142875"/>
            <a:chExt cx="21640800" cy="5532427"/>
          </a:xfrm>
        </p:grpSpPr>
        <p:sp>
          <p:nvSpPr>
            <p:cNvPr id="376" name="Google Shape;376;p36"/>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36"/>
            <p:cNvSpPr txBox="1"/>
            <p:nvPr/>
          </p:nvSpPr>
          <p:spPr>
            <a:xfrm>
              <a:off x="0" y="-142875"/>
              <a:ext cx="21640800" cy="55324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000000"/>
                  </a:solidFill>
                  <a:latin typeface="Arial"/>
                  <a:ea typeface="Arial"/>
                  <a:cs typeface="Arial"/>
                  <a:sym typeface="Arial"/>
                </a:rPr>
                <a:t>El </a:t>
              </a:r>
              <a:r>
                <a:rPr b="1" i="0" lang="en-US" sz="3200" u="none" cap="none" strike="noStrike">
                  <a:solidFill>
                    <a:srgbClr val="000000"/>
                  </a:solidFill>
                  <a:latin typeface="Arial"/>
                  <a:ea typeface="Arial"/>
                  <a:cs typeface="Arial"/>
                  <a:sym typeface="Arial"/>
                </a:rPr>
                <a:t>Service</a:t>
              </a:r>
              <a:r>
                <a:rPr b="0" i="0" lang="en-US" sz="3200" u="none" cap="none" strike="noStrike">
                  <a:solidFill>
                    <a:srgbClr val="000000"/>
                  </a:solidFill>
                  <a:latin typeface="Arial"/>
                  <a:ea typeface="Arial"/>
                  <a:cs typeface="Arial"/>
                  <a:sym typeface="Arial"/>
                </a:rPr>
                <a:t> es la capa donde se implementa la lógica de negocio de la aplicación. Aquí se procesan los datos, se aplican reglas y se coordinan operaciones antes de enviarlas al controlador o a otras capas. Su objetivo es mantener el código organizado y reutilizable, separando la lógica del manejo directo de las solicitudes HTTP.</a:t>
              </a:r>
              <a:endParaRPr b="0" i="0" sz="3200" u="none" cap="none" strike="noStrike">
                <a:solidFill>
                  <a:srgbClr val="000000"/>
                </a:solidFill>
                <a:latin typeface="Arial"/>
                <a:ea typeface="Arial"/>
                <a:cs typeface="Arial"/>
                <a:sym typeface="Arial"/>
              </a:endParaRPr>
            </a:p>
          </p:txBody>
        </p:sp>
      </p:grpSp>
      <p:pic>
        <p:nvPicPr>
          <p:cNvPr descr="Spring Fundamentals: MVC/MCS Architecture | by Serena | Code Like A Girl" id="378" name="Google Shape;378;p36"/>
          <p:cNvPicPr preferRelativeResize="0"/>
          <p:nvPr/>
        </p:nvPicPr>
        <p:blipFill rotWithShape="1">
          <a:blip r:embed="rId4">
            <a:alphaModFix/>
          </a:blip>
          <a:srcRect b="0" l="0" r="0" t="0"/>
          <a:stretch/>
        </p:blipFill>
        <p:spPr>
          <a:xfrm>
            <a:off x="5786284" y="6435669"/>
            <a:ext cx="6096000" cy="2486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82" name="Shape 382"/>
        <p:cNvGrpSpPr/>
        <p:nvPr/>
      </p:nvGrpSpPr>
      <p:grpSpPr>
        <a:xfrm>
          <a:off x="0" y="0"/>
          <a:ext cx="0" cy="0"/>
          <a:chOff x="0" y="0"/>
          <a:chExt cx="0" cy="0"/>
        </a:xfrm>
      </p:grpSpPr>
      <p:sp>
        <p:nvSpPr>
          <p:cNvPr id="383" name="Google Shape;383;p37"/>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84" name="Google Shape;384;p37"/>
          <p:cNvGrpSpPr/>
          <p:nvPr/>
        </p:nvGrpSpPr>
        <p:grpSpPr>
          <a:xfrm>
            <a:off x="414625" y="196812"/>
            <a:ext cx="17458749" cy="9459392"/>
            <a:chOff x="0" y="-114300"/>
            <a:chExt cx="4598189" cy="2491363"/>
          </a:xfrm>
        </p:grpSpPr>
        <p:sp>
          <p:nvSpPr>
            <p:cNvPr id="385" name="Google Shape;385;p37"/>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37"/>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7" name="Google Shape;387;p37"/>
          <p:cNvGrpSpPr/>
          <p:nvPr/>
        </p:nvGrpSpPr>
        <p:grpSpPr>
          <a:xfrm>
            <a:off x="1028698" y="871537"/>
            <a:ext cx="16230604" cy="1256148"/>
            <a:chOff x="-3" y="-209551"/>
            <a:chExt cx="21640805" cy="1674863"/>
          </a:xfrm>
        </p:grpSpPr>
        <p:sp>
          <p:nvSpPr>
            <p:cNvPr id="388" name="Google Shape;388;p37"/>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37"/>
            <p:cNvSpPr txBox="1"/>
            <p:nvPr/>
          </p:nvSpPr>
          <p:spPr>
            <a:xfrm>
              <a:off x="-3" y="-209551"/>
              <a:ext cx="21640798"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CONTROLLER</a:t>
              </a:r>
              <a:endParaRPr b="0" i="0" sz="1400" u="none" cap="none" strike="noStrike">
                <a:solidFill>
                  <a:srgbClr val="000000"/>
                </a:solidFill>
                <a:latin typeface="Arial"/>
                <a:ea typeface="Arial"/>
                <a:cs typeface="Arial"/>
                <a:sym typeface="Arial"/>
              </a:endParaRPr>
            </a:p>
          </p:txBody>
        </p:sp>
      </p:grpSp>
      <p:grpSp>
        <p:nvGrpSpPr>
          <p:cNvPr id="390" name="Google Shape;390;p37"/>
          <p:cNvGrpSpPr/>
          <p:nvPr/>
        </p:nvGrpSpPr>
        <p:grpSpPr>
          <a:xfrm>
            <a:off x="1028700" y="2020528"/>
            <a:ext cx="16230600" cy="4149320"/>
            <a:chOff x="0" y="-142875"/>
            <a:chExt cx="21640800" cy="5532427"/>
          </a:xfrm>
        </p:grpSpPr>
        <p:sp>
          <p:nvSpPr>
            <p:cNvPr id="391" name="Google Shape;391;p37"/>
            <p:cNvSpPr/>
            <p:nvPr/>
          </p:nvSpPr>
          <p:spPr>
            <a:xfrm>
              <a:off x="0" y="0"/>
              <a:ext cx="21640800" cy="5389552"/>
            </a:xfrm>
            <a:custGeom>
              <a:rect b="b" l="l" r="r" t="t"/>
              <a:pathLst>
                <a:path extrusionOk="0" h="5389552" w="21640800">
                  <a:moveTo>
                    <a:pt x="0" y="0"/>
                  </a:moveTo>
                  <a:lnTo>
                    <a:pt x="21640800" y="0"/>
                  </a:lnTo>
                  <a:lnTo>
                    <a:pt x="21640800" y="5389552"/>
                  </a:lnTo>
                  <a:lnTo>
                    <a:pt x="0" y="53895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37"/>
            <p:cNvSpPr txBox="1"/>
            <p:nvPr/>
          </p:nvSpPr>
          <p:spPr>
            <a:xfrm>
              <a:off x="0" y="-142875"/>
              <a:ext cx="21640800" cy="5532427"/>
            </a:xfrm>
            <a:prstGeom prst="rect">
              <a:avLst/>
            </a:prstGeom>
            <a:noFill/>
            <a:ln>
              <a:noFill/>
            </a:ln>
          </p:spPr>
          <p:txBody>
            <a:bodyPr anchorCtr="0" anchor="t" bIns="0" lIns="0" spcFirstLastPara="1" rIns="0" wrap="square" tIns="0">
              <a:noAutofit/>
            </a:bodyPr>
            <a:lstStyle/>
            <a:p>
              <a:pPr indent="0" lvl="0" marL="0" marR="0" rtl="0" algn="just">
                <a:lnSpc>
                  <a:spcPct val="168000"/>
                </a:lnSpc>
                <a:spcBef>
                  <a:spcPts val="0"/>
                </a:spcBef>
                <a:spcAft>
                  <a:spcPts val="0"/>
                </a:spcAft>
                <a:buNone/>
              </a:pPr>
              <a:r>
                <a:rPr b="0" i="0" lang="en-US" sz="3200" u="none" cap="none" strike="noStrike">
                  <a:solidFill>
                    <a:srgbClr val="000000"/>
                  </a:solidFill>
                  <a:latin typeface="Arial"/>
                  <a:ea typeface="Arial"/>
                  <a:cs typeface="Arial"/>
                  <a:sym typeface="Arial"/>
                </a:rPr>
                <a:t>El </a:t>
              </a:r>
              <a:r>
                <a:rPr b="1" i="0" lang="en-US" sz="3200" u="none" cap="none" strike="noStrike">
                  <a:solidFill>
                    <a:srgbClr val="000000"/>
                  </a:solidFill>
                  <a:latin typeface="Arial"/>
                  <a:ea typeface="Arial"/>
                  <a:cs typeface="Arial"/>
                  <a:sym typeface="Arial"/>
                </a:rPr>
                <a:t>Controller</a:t>
              </a:r>
              <a:r>
                <a:rPr b="0" i="0" lang="en-US" sz="3200" u="none" cap="none" strike="noStrike">
                  <a:solidFill>
                    <a:srgbClr val="000000"/>
                  </a:solidFill>
                  <a:latin typeface="Arial"/>
                  <a:ea typeface="Arial"/>
                  <a:cs typeface="Arial"/>
                  <a:sym typeface="Arial"/>
                </a:rPr>
                <a:t> es el encargado de recibir las solicitudes HTTP (GET, POST, PUT, DELETE) y devolver respuestas al cliente. Actúa como intermediario entre el usuario y la aplicación, utilizando los modelos y servicios para procesar la información. En ASP.NET Core Web API, los controladores definen las rutas y determinan qué acción ejecutar según la petición recibida.</a:t>
              </a:r>
              <a:endParaRPr b="0" i="0" sz="3200" u="none" cap="none" strike="noStrike">
                <a:solidFill>
                  <a:srgbClr val="000000"/>
                </a:solidFill>
                <a:latin typeface="Arial"/>
                <a:ea typeface="Arial"/>
                <a:cs typeface="Arial"/>
                <a:sym typeface="Arial"/>
              </a:endParaRPr>
            </a:p>
          </p:txBody>
        </p:sp>
      </p:grpSp>
      <p:pic>
        <p:nvPicPr>
          <p:cNvPr descr="Spring Fundamentals: MVC/MCS Architecture | by Serena | Code Like A Girl" id="393" name="Google Shape;393;p37"/>
          <p:cNvPicPr preferRelativeResize="0"/>
          <p:nvPr/>
        </p:nvPicPr>
        <p:blipFill rotWithShape="1">
          <a:blip r:embed="rId4">
            <a:alphaModFix/>
          </a:blip>
          <a:srcRect b="0" l="0" r="0" t="0"/>
          <a:stretch/>
        </p:blipFill>
        <p:spPr>
          <a:xfrm>
            <a:off x="5786284" y="6435669"/>
            <a:ext cx="6096000" cy="2486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397" name="Shape 397"/>
        <p:cNvGrpSpPr/>
        <p:nvPr/>
      </p:nvGrpSpPr>
      <p:grpSpPr>
        <a:xfrm>
          <a:off x="0" y="0"/>
          <a:ext cx="0" cy="0"/>
          <a:chOff x="0" y="0"/>
          <a:chExt cx="0" cy="0"/>
        </a:xfrm>
      </p:grpSpPr>
      <p:sp>
        <p:nvSpPr>
          <p:cNvPr id="398" name="Google Shape;398;p18"/>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99" name="Google Shape;399;p18"/>
          <p:cNvGrpSpPr/>
          <p:nvPr/>
        </p:nvGrpSpPr>
        <p:grpSpPr>
          <a:xfrm>
            <a:off x="414625" y="196812"/>
            <a:ext cx="17458749" cy="9459392"/>
            <a:chOff x="0" y="-114300"/>
            <a:chExt cx="4598189" cy="2491363"/>
          </a:xfrm>
        </p:grpSpPr>
        <p:sp>
          <p:nvSpPr>
            <p:cNvPr id="400" name="Google Shape;400;p18"/>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18"/>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2" name="Google Shape;402;p18"/>
          <p:cNvGrpSpPr/>
          <p:nvPr/>
        </p:nvGrpSpPr>
        <p:grpSpPr>
          <a:xfrm>
            <a:off x="1028700" y="4436846"/>
            <a:ext cx="16230602" cy="1256147"/>
            <a:chOff x="0" y="-209550"/>
            <a:chExt cx="21640802" cy="1674862"/>
          </a:xfrm>
        </p:grpSpPr>
        <p:sp>
          <p:nvSpPr>
            <p:cNvPr id="403" name="Google Shape;403;p18"/>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18"/>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08" name="Shape 408"/>
        <p:cNvGrpSpPr/>
        <p:nvPr/>
      </p:nvGrpSpPr>
      <p:grpSpPr>
        <a:xfrm>
          <a:off x="0" y="0"/>
          <a:ext cx="0" cy="0"/>
          <a:chOff x="0" y="0"/>
          <a:chExt cx="0" cy="0"/>
        </a:xfrm>
      </p:grpSpPr>
      <p:sp>
        <p:nvSpPr>
          <p:cNvPr id="409" name="Google Shape;409;p19"/>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10" name="Google Shape;410;p19"/>
          <p:cNvGrpSpPr/>
          <p:nvPr/>
        </p:nvGrpSpPr>
        <p:grpSpPr>
          <a:xfrm>
            <a:off x="414625" y="196812"/>
            <a:ext cx="17458749" cy="9459392"/>
            <a:chOff x="0" y="-114300"/>
            <a:chExt cx="4598189" cy="2491363"/>
          </a:xfrm>
        </p:grpSpPr>
        <p:sp>
          <p:nvSpPr>
            <p:cNvPr id="411" name="Google Shape;411;p19"/>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19"/>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3" name="Google Shape;413;p19"/>
          <p:cNvGrpSpPr/>
          <p:nvPr/>
        </p:nvGrpSpPr>
        <p:grpSpPr>
          <a:xfrm>
            <a:off x="1028700" y="871538"/>
            <a:ext cx="16230602" cy="1256147"/>
            <a:chOff x="0" y="-209550"/>
            <a:chExt cx="21640802" cy="1674862"/>
          </a:xfrm>
        </p:grpSpPr>
        <p:sp>
          <p:nvSpPr>
            <p:cNvPr id="414" name="Google Shape;414;p19"/>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19"/>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Arial"/>
                <a:ea typeface="Arial"/>
                <a:cs typeface="Arial"/>
                <a:sym typeface="Arial"/>
              </a:endParaRPr>
            </a:p>
          </p:txBody>
        </p:sp>
      </p:grpSp>
      <p:grpSp>
        <p:nvGrpSpPr>
          <p:cNvPr id="416" name="Google Shape;416;p19"/>
          <p:cNvGrpSpPr/>
          <p:nvPr/>
        </p:nvGrpSpPr>
        <p:grpSpPr>
          <a:xfrm>
            <a:off x="1028700" y="2020528"/>
            <a:ext cx="16230600" cy="6854420"/>
            <a:chOff x="0" y="-142875"/>
            <a:chExt cx="21640800" cy="9139227"/>
          </a:xfrm>
        </p:grpSpPr>
        <p:sp>
          <p:nvSpPr>
            <p:cNvPr id="417" name="Google Shape;417;p19"/>
            <p:cNvSpPr/>
            <p:nvPr/>
          </p:nvSpPr>
          <p:spPr>
            <a:xfrm>
              <a:off x="0" y="0"/>
              <a:ext cx="21640800" cy="8996352"/>
            </a:xfrm>
            <a:custGeom>
              <a:rect b="b" l="l" r="r" t="t"/>
              <a:pathLst>
                <a:path extrusionOk="0" h="8996352" w="21640800">
                  <a:moveTo>
                    <a:pt x="0" y="0"/>
                  </a:moveTo>
                  <a:lnTo>
                    <a:pt x="21640800" y="0"/>
                  </a:lnTo>
                  <a:lnTo>
                    <a:pt x="21640800" y="8996352"/>
                  </a:lnTo>
                  <a:lnTo>
                    <a:pt x="0" y="89963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19"/>
            <p:cNvSpPr txBox="1"/>
            <p:nvPr/>
          </p:nvSpPr>
          <p:spPr>
            <a:xfrm>
              <a:off x="0" y="-142875"/>
              <a:ext cx="21640800" cy="91392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Backend: Parte del sistema que procesa la lógica, datos y responde a las solicitudes del cliente.</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API: Puente de comunicación entre frontend y backend que expone funciones y datos.</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REST: Estilo arquitectónico para APIs que usa métodos HTTP como GET, POST, PUT y DELETE.</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Métodos HTTP: Comandos estándar para manipular recursos en la web.</a:t>
              </a:r>
              <a:endParaRPr b="0" i="0" sz="1400" u="none" cap="none" strike="noStrike">
                <a:solidFill>
                  <a:srgbClr val="000000"/>
                </a:solidFill>
                <a:latin typeface="Arial"/>
                <a:ea typeface="Arial"/>
                <a:cs typeface="Arial"/>
                <a:sym typeface="Arial"/>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Framework: Herramienta que facilita y organiza el desarrollo de aplicaciones web.</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22" name="Shape 422"/>
        <p:cNvGrpSpPr/>
        <p:nvPr/>
      </p:nvGrpSpPr>
      <p:grpSpPr>
        <a:xfrm>
          <a:off x="0" y="0"/>
          <a:ext cx="0" cy="0"/>
          <a:chOff x="0" y="0"/>
          <a:chExt cx="0" cy="0"/>
        </a:xfrm>
      </p:grpSpPr>
      <p:sp>
        <p:nvSpPr>
          <p:cNvPr id="423" name="Google Shape;423;p20"/>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24" name="Google Shape;424;p20"/>
          <p:cNvGrpSpPr/>
          <p:nvPr/>
        </p:nvGrpSpPr>
        <p:grpSpPr>
          <a:xfrm>
            <a:off x="414625" y="196812"/>
            <a:ext cx="17458749" cy="9459392"/>
            <a:chOff x="0" y="-114300"/>
            <a:chExt cx="4598189" cy="2491363"/>
          </a:xfrm>
        </p:grpSpPr>
        <p:sp>
          <p:nvSpPr>
            <p:cNvPr id="425" name="Google Shape;425;p20"/>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20"/>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7" name="Google Shape;427;p20"/>
          <p:cNvGrpSpPr/>
          <p:nvPr/>
        </p:nvGrpSpPr>
        <p:grpSpPr>
          <a:xfrm>
            <a:off x="1028700" y="3195793"/>
            <a:ext cx="16230602" cy="1256147"/>
            <a:chOff x="0" y="-209550"/>
            <a:chExt cx="21640802" cy="1674862"/>
          </a:xfrm>
        </p:grpSpPr>
        <p:sp>
          <p:nvSpPr>
            <p:cNvPr id="428" name="Google Shape;428;p20"/>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20"/>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PERSEVERANCIA</a:t>
              </a:r>
              <a:endParaRPr b="0" i="0" sz="1400" u="none" cap="none" strike="noStrike">
                <a:solidFill>
                  <a:srgbClr val="000000"/>
                </a:solidFill>
                <a:latin typeface="Arial"/>
                <a:ea typeface="Arial"/>
                <a:cs typeface="Arial"/>
                <a:sym typeface="Arial"/>
              </a:endParaRPr>
            </a:p>
          </p:txBody>
        </p:sp>
      </p:grpSp>
      <p:grpSp>
        <p:nvGrpSpPr>
          <p:cNvPr id="430" name="Google Shape;430;p20"/>
          <p:cNvGrpSpPr/>
          <p:nvPr/>
        </p:nvGrpSpPr>
        <p:grpSpPr>
          <a:xfrm>
            <a:off x="1028700" y="4570865"/>
            <a:ext cx="16230600" cy="2363179"/>
            <a:chOff x="0" y="-238125"/>
            <a:chExt cx="21640800" cy="3150904"/>
          </a:xfrm>
        </p:grpSpPr>
        <p:sp>
          <p:nvSpPr>
            <p:cNvPr id="431" name="Google Shape;431;p20"/>
            <p:cNvSpPr/>
            <p:nvPr/>
          </p:nvSpPr>
          <p:spPr>
            <a:xfrm>
              <a:off x="0" y="0"/>
              <a:ext cx="21640800" cy="2912779"/>
            </a:xfrm>
            <a:custGeom>
              <a:rect b="b" l="l" r="r" t="t"/>
              <a:pathLst>
                <a:path extrusionOk="0" h="2912779" w="21640800">
                  <a:moveTo>
                    <a:pt x="0" y="0"/>
                  </a:moveTo>
                  <a:lnTo>
                    <a:pt x="21640800" y="0"/>
                  </a:lnTo>
                  <a:lnTo>
                    <a:pt x="21640800" y="2912779"/>
                  </a:lnTo>
                  <a:lnTo>
                    <a:pt x="0" y="2912779"/>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20"/>
            <p:cNvSpPr txBox="1"/>
            <p:nvPr/>
          </p:nvSpPr>
          <p:spPr>
            <a:xfrm>
              <a:off x="0" y="-238125"/>
              <a:ext cx="21640800" cy="3150904"/>
            </a:xfrm>
            <a:prstGeom prst="rect">
              <a:avLst/>
            </a:prstGeom>
            <a:noFill/>
            <a:ln>
              <a:noFill/>
            </a:ln>
          </p:spPr>
          <p:txBody>
            <a:bodyPr anchorCtr="0" anchor="t" bIns="0" lIns="0" spcFirstLastPara="1" rIns="0" wrap="square" tIns="0">
              <a:noAutofit/>
            </a:bodyPr>
            <a:lstStyle/>
            <a:p>
              <a:pPr indent="0" lvl="0" marL="0" marR="0" rtl="0" algn="ctr">
                <a:lnSpc>
                  <a:spcPct val="168026"/>
                </a:lnSpc>
                <a:spcBef>
                  <a:spcPts val="0"/>
                </a:spcBef>
                <a:spcAft>
                  <a:spcPts val="0"/>
                </a:spcAft>
                <a:buClr>
                  <a:srgbClr val="000000"/>
                </a:buClr>
                <a:buSzPts val="5198"/>
                <a:buFont typeface="Arial"/>
                <a:buNone/>
              </a:pPr>
              <a:r>
                <a:rPr b="0" i="0" lang="en-US" sz="5198" u="none" cap="none" strike="noStrike">
                  <a:solidFill>
                    <a:srgbClr val="131416"/>
                  </a:solidFill>
                  <a:latin typeface="Open Sans"/>
                  <a:ea typeface="Open Sans"/>
                  <a:cs typeface="Open Sans"/>
                  <a:sym typeface="Open Sans"/>
                </a:rPr>
                <a:t>"La energía y la persistencia conquistan todas las cosas." — Benjamin Franklin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36" name="Shape 436"/>
        <p:cNvGrpSpPr/>
        <p:nvPr/>
      </p:nvGrpSpPr>
      <p:grpSpPr>
        <a:xfrm>
          <a:off x="0" y="0"/>
          <a:ext cx="0" cy="0"/>
          <a:chOff x="0" y="0"/>
          <a:chExt cx="0" cy="0"/>
        </a:xfrm>
      </p:grpSpPr>
      <p:sp>
        <p:nvSpPr>
          <p:cNvPr id="437" name="Google Shape;437;p21"/>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38" name="Google Shape;438;p21"/>
          <p:cNvGrpSpPr/>
          <p:nvPr/>
        </p:nvGrpSpPr>
        <p:grpSpPr>
          <a:xfrm>
            <a:off x="414625" y="196812"/>
            <a:ext cx="17458749" cy="9459392"/>
            <a:chOff x="0" y="-114300"/>
            <a:chExt cx="4598189" cy="2491363"/>
          </a:xfrm>
        </p:grpSpPr>
        <p:sp>
          <p:nvSpPr>
            <p:cNvPr id="439" name="Google Shape;439;p21"/>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21"/>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1" name="Google Shape;441;p21"/>
          <p:cNvGrpSpPr/>
          <p:nvPr/>
        </p:nvGrpSpPr>
        <p:grpSpPr>
          <a:xfrm>
            <a:off x="1028700" y="871538"/>
            <a:ext cx="16230602" cy="1256147"/>
            <a:chOff x="0" y="-209550"/>
            <a:chExt cx="21640802" cy="1674862"/>
          </a:xfrm>
        </p:grpSpPr>
        <p:sp>
          <p:nvSpPr>
            <p:cNvPr id="442" name="Google Shape;442;p21"/>
            <p:cNvSpPr/>
            <p:nvPr/>
          </p:nvSpPr>
          <p:spPr>
            <a:xfrm>
              <a:off x="0" y="0"/>
              <a:ext cx="21640802" cy="1465312"/>
            </a:xfrm>
            <a:custGeom>
              <a:rect b="b" l="l" r="r" t="t"/>
              <a:pathLst>
                <a:path extrusionOk="0" h="1465312" w="21640802">
                  <a:moveTo>
                    <a:pt x="0" y="0"/>
                  </a:moveTo>
                  <a:lnTo>
                    <a:pt x="21640802" y="0"/>
                  </a:lnTo>
                  <a:lnTo>
                    <a:pt x="21640802" y="1465312"/>
                  </a:lnTo>
                  <a:lnTo>
                    <a:pt x="0" y="146531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21"/>
            <p:cNvSpPr txBox="1"/>
            <p:nvPr/>
          </p:nvSpPr>
          <p:spPr>
            <a:xfrm>
              <a:off x="0" y="-209550"/>
              <a:ext cx="216408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Arial"/>
                <a:ea typeface="Arial"/>
                <a:cs typeface="Arial"/>
                <a:sym typeface="Arial"/>
              </a:endParaRPr>
            </a:p>
          </p:txBody>
        </p:sp>
      </p:grpSp>
      <p:grpSp>
        <p:nvGrpSpPr>
          <p:cNvPr id="444" name="Google Shape;444;p21"/>
          <p:cNvGrpSpPr/>
          <p:nvPr/>
        </p:nvGrpSpPr>
        <p:grpSpPr>
          <a:xfrm>
            <a:off x="1028700" y="2020528"/>
            <a:ext cx="16230600" cy="5501870"/>
            <a:chOff x="0" y="-142875"/>
            <a:chExt cx="21640800" cy="7335827"/>
          </a:xfrm>
        </p:grpSpPr>
        <p:sp>
          <p:nvSpPr>
            <p:cNvPr id="445" name="Google Shape;445;p21"/>
            <p:cNvSpPr/>
            <p:nvPr/>
          </p:nvSpPr>
          <p:spPr>
            <a:xfrm>
              <a:off x="0" y="0"/>
              <a:ext cx="21640800" cy="7192952"/>
            </a:xfrm>
            <a:custGeom>
              <a:rect b="b" l="l" r="r" t="t"/>
              <a:pathLst>
                <a:path extrusionOk="0" h="7192952" w="21640800">
                  <a:moveTo>
                    <a:pt x="0" y="0"/>
                  </a:moveTo>
                  <a:lnTo>
                    <a:pt x="21640800" y="0"/>
                  </a:lnTo>
                  <a:lnTo>
                    <a:pt x="21640800" y="7192952"/>
                  </a:lnTo>
                  <a:lnTo>
                    <a:pt x="0" y="7192952"/>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21"/>
            <p:cNvSpPr txBox="1"/>
            <p:nvPr/>
          </p:nvSpPr>
          <p:spPr>
            <a:xfrm>
              <a:off x="0" y="-142875"/>
              <a:ext cx="21640800" cy="7335827"/>
            </a:xfrm>
            <a:prstGeom prst="rect">
              <a:avLst/>
            </a:prstGeom>
            <a:noFill/>
            <a:ln>
              <a:noFill/>
            </a:ln>
          </p:spPr>
          <p:txBody>
            <a:bodyPr anchorCtr="0" anchor="t" bIns="0" lIns="0" spcFirstLastPara="1" rIns="0" wrap="square" tIns="0">
              <a:noAutofit/>
            </a:bodyPr>
            <a:lstStyle/>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Qué es Frontend y Backend: principal diferencia y ejemplos. (2018, febrero 21). https://platzi.com; Platzi. </a:t>
              </a:r>
              <a:r>
                <a:rPr b="0" i="0" lang="en-US" sz="3200" u="sng" cap="none" strike="noStrike">
                  <a:solidFill>
                    <a:srgbClr val="131416"/>
                  </a:solidFill>
                  <a:latin typeface="Open Sans"/>
                  <a:ea typeface="Open Sans"/>
                  <a:cs typeface="Open Sans"/>
                  <a:sym typeface="Open Sans"/>
                  <a:hlinkClick r:id="rId4">
                    <a:extLst>
                      <a:ext uri="{A12FA001-AC4F-418D-AE19-62706E023703}">
                        <ahyp:hlinkClr val="tx"/>
                      </a:ext>
                    </a:extLst>
                  </a:hlinkClick>
                </a:rPr>
                <a:t>https://platzi.com/blog/que-es-frontend-y-backend/</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t/>
              </a:r>
              <a:endParaRPr b="0" i="0" sz="3200" u="sng" cap="none" strike="noStrike">
                <a:solidFill>
                  <a:srgbClr val="131416"/>
                </a:solidFill>
                <a:latin typeface="Open Sans"/>
                <a:ea typeface="Open Sans"/>
                <a:cs typeface="Open Sans"/>
                <a:sym typeface="Open Sans"/>
                <a:hlinkClick r:id="rId5">
                  <a:extLst>
                    <a:ext uri="{A12FA001-AC4F-418D-AE19-62706E023703}">
                      <ahyp:hlinkClr val="tx"/>
                    </a:ext>
                  </a:extLst>
                </a:hlinkClick>
              </a:endParaRPr>
            </a:p>
            <a:p>
              <a:pPr indent="-345439" lvl="1" marL="690881" marR="0" rtl="0" algn="just">
                <a:lnSpc>
                  <a:spcPct val="168000"/>
                </a:lnSpc>
                <a:spcBef>
                  <a:spcPts val="0"/>
                </a:spcBef>
                <a:spcAft>
                  <a:spcPts val="0"/>
                </a:spcAft>
                <a:buClr>
                  <a:srgbClr val="131416"/>
                </a:buClr>
                <a:buSzPts val="3200"/>
                <a:buFont typeface="Arial"/>
                <a:buChar char="•"/>
              </a:pPr>
              <a:r>
                <a:rPr b="0" i="0" lang="en-US" sz="3200" u="none" cap="none" strike="noStrike">
                  <a:solidFill>
                    <a:srgbClr val="131416"/>
                  </a:solidFill>
                  <a:latin typeface="Open Sans"/>
                  <a:ea typeface="Open Sans"/>
                  <a:cs typeface="Open Sans"/>
                  <a:sym typeface="Open Sans"/>
                </a:rPr>
                <a:t>Lucena, P. (2023, mayo 6). ¿Qué es el framework? Maestrías y MBA. </a:t>
              </a:r>
              <a:r>
                <a:rPr b="0" i="0" lang="en-US" sz="3200" u="sng" cap="none" strike="noStrike">
                  <a:solidFill>
                    <a:srgbClr val="131416"/>
                  </a:solidFill>
                  <a:latin typeface="Open Sans"/>
                  <a:ea typeface="Open Sans"/>
                  <a:cs typeface="Open Sans"/>
                  <a:sym typeface="Open Sans"/>
                  <a:hlinkClick r:id="rId6">
                    <a:extLst>
                      <a:ext uri="{A12FA001-AC4F-418D-AE19-62706E023703}">
                        <ahyp:hlinkClr val="tx"/>
                      </a:ext>
                    </a:extLst>
                  </a:hlinkClick>
                </a:rPr>
                <a:t>https://www.cesuma.mx/blog/que-es-el-framework.html</a:t>
              </a:r>
              <a:endParaRPr b="0" i="0" sz="14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Clr>
                  <a:srgbClr val="000000"/>
                </a:buClr>
                <a:buSzPts val="3200"/>
                <a:buFont typeface="Arial"/>
                <a:buNone/>
              </a:pPr>
              <a:r>
                <a:t/>
              </a:r>
              <a:endParaRPr b="0" i="0" sz="3200" u="sng" cap="none" strike="noStrike">
                <a:solidFill>
                  <a:srgbClr val="131416"/>
                </a:solidFill>
                <a:latin typeface="Open Sans"/>
                <a:ea typeface="Open Sans"/>
                <a:cs typeface="Open Sans"/>
                <a:sym typeface="Open Sans"/>
                <a:hlinkClick r:id="rId7">
                  <a:extLst>
                    <a:ext uri="{A12FA001-AC4F-418D-AE19-62706E023703}">
                      <ahyp:hlinkClr val="tx"/>
                    </a:ext>
                  </a:extLst>
                </a:hlinkClick>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ED957"/>
            </a:gs>
            <a:gs pos="100000">
              <a:srgbClr val="0097B2"/>
            </a:gs>
          </a:gsLst>
          <a:path path="circle">
            <a:fillToRect b="50%" l="50%" r="50%" t="50%"/>
          </a:path>
          <a:tileRect/>
        </a:gradFill>
      </p:bgPr>
    </p:bg>
    <p:spTree>
      <p:nvGrpSpPr>
        <p:cNvPr id="450" name="Shape 450"/>
        <p:cNvGrpSpPr/>
        <p:nvPr/>
      </p:nvGrpSpPr>
      <p:grpSpPr>
        <a:xfrm>
          <a:off x="0" y="0"/>
          <a:ext cx="0" cy="0"/>
          <a:chOff x="0" y="0"/>
          <a:chExt cx="0" cy="0"/>
        </a:xfrm>
      </p:grpSpPr>
      <p:sp>
        <p:nvSpPr>
          <p:cNvPr id="451" name="Google Shape;451;p22"/>
          <p:cNvSpPr/>
          <p:nvPr/>
        </p:nvSpPr>
        <p:spPr>
          <a:xfrm>
            <a:off x="3493371" y="1965021"/>
            <a:ext cx="11301259" cy="6356958"/>
          </a:xfrm>
          <a:custGeom>
            <a:rect b="b" l="l" r="r" t="t"/>
            <a:pathLst>
              <a:path extrusionOk="0" h="6356958" w="11301259">
                <a:moveTo>
                  <a:pt x="0" y="0"/>
                </a:moveTo>
                <a:lnTo>
                  <a:pt x="11301258" y="0"/>
                </a:lnTo>
                <a:lnTo>
                  <a:pt x="11301258" y="6356958"/>
                </a:lnTo>
                <a:lnTo>
                  <a:pt x="0" y="63569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52" name="Google Shape;452;p22"/>
          <p:cNvGrpSpPr/>
          <p:nvPr/>
        </p:nvGrpSpPr>
        <p:grpSpPr>
          <a:xfrm>
            <a:off x="414625" y="196812"/>
            <a:ext cx="17458749" cy="9459392"/>
            <a:chOff x="0" y="-114300"/>
            <a:chExt cx="4598189" cy="2491363"/>
          </a:xfrm>
        </p:grpSpPr>
        <p:sp>
          <p:nvSpPr>
            <p:cNvPr id="453" name="Google Shape;453;p22"/>
            <p:cNvSpPr/>
            <p:nvPr/>
          </p:nvSpPr>
          <p:spPr>
            <a:xfrm>
              <a:off x="0" y="0"/>
              <a:ext cx="4598189" cy="2377062"/>
            </a:xfrm>
            <a:custGeom>
              <a:rect b="b" l="l" r="r" t="t"/>
              <a:pathLst>
                <a:path extrusionOk="0" h="2377062" w="4598189">
                  <a:moveTo>
                    <a:pt x="0" y="0"/>
                  </a:moveTo>
                  <a:lnTo>
                    <a:pt x="4598189" y="0"/>
                  </a:lnTo>
                  <a:lnTo>
                    <a:pt x="4598189" y="2377062"/>
                  </a:lnTo>
                  <a:lnTo>
                    <a:pt x="0" y="237706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22"/>
            <p:cNvSpPr txBox="1"/>
            <p:nvPr/>
          </p:nvSpPr>
          <p:spPr>
            <a:xfrm>
              <a:off x="0" y="-114300"/>
              <a:ext cx="4598189" cy="2491363"/>
            </a:xfrm>
            <a:prstGeom prst="rect">
              <a:avLst/>
            </a:prstGeom>
            <a:noFill/>
            <a:ln>
              <a:noFill/>
            </a:ln>
          </p:spPr>
          <p:txBody>
            <a:bodyPr anchorCtr="0" anchor="ctr" bIns="50800" lIns="50800" spcFirstLastPara="1" rIns="50800" wrap="square" tIns="50800">
              <a:noAutofit/>
            </a:bodyPr>
            <a:lstStyle/>
            <a:p>
              <a:pPr indent="0" lvl="0" marL="0" marR="0" rtl="0" algn="ctr">
                <a:lnSpc>
                  <a:spcPct val="233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5" name="Google Shape;455;p22"/>
          <p:cNvGrpSpPr/>
          <p:nvPr/>
        </p:nvGrpSpPr>
        <p:grpSpPr>
          <a:xfrm>
            <a:off x="4814550" y="3274804"/>
            <a:ext cx="8658900" cy="2029500"/>
            <a:chOff x="0" y="-152400"/>
            <a:chExt cx="11545200" cy="2706000"/>
          </a:xfrm>
        </p:grpSpPr>
        <p:sp>
          <p:nvSpPr>
            <p:cNvPr id="456" name="Google Shape;456;p22"/>
            <p:cNvSpPr/>
            <p:nvPr/>
          </p:nvSpPr>
          <p:spPr>
            <a:xfrm>
              <a:off x="0" y="0"/>
              <a:ext cx="11545200" cy="2553600"/>
            </a:xfrm>
            <a:custGeom>
              <a:rect b="b" l="l" r="r" t="t"/>
              <a:pathLst>
                <a:path extrusionOk="0" h="2553600" w="11545200">
                  <a:moveTo>
                    <a:pt x="0" y="0"/>
                  </a:moveTo>
                  <a:lnTo>
                    <a:pt x="11545200" y="0"/>
                  </a:lnTo>
                  <a:lnTo>
                    <a:pt x="11545200" y="2553600"/>
                  </a:lnTo>
                  <a:lnTo>
                    <a:pt x="0" y="2553600"/>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22"/>
            <p:cNvSpPr txBox="1"/>
            <p:nvPr/>
          </p:nvSpPr>
          <p:spPr>
            <a:xfrm>
              <a:off x="0" y="-152400"/>
              <a:ext cx="11545200" cy="2706000"/>
            </a:xfrm>
            <a:prstGeom prst="rect">
              <a:avLst/>
            </a:prstGeom>
            <a:noFill/>
            <a:ln>
              <a:noFill/>
            </a:ln>
          </p:spPr>
          <p:txBody>
            <a:bodyPr anchorCtr="0" anchor="t" bIns="0" lIns="0" spcFirstLastPara="1" rIns="0" wrap="square" tIns="0">
              <a:noAutofit/>
            </a:bodyPr>
            <a:lstStyle/>
            <a:p>
              <a:pPr indent="0" lvl="0" marL="0" marR="0" rtl="0" algn="just">
                <a:lnSpc>
                  <a:spcPct val="124811"/>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Arial"/>
                <a:ea typeface="Arial"/>
                <a:cs typeface="Arial"/>
                <a:sym typeface="Arial"/>
              </a:endParaRPr>
            </a:p>
            <a:p>
              <a:pPr indent="0" lvl="0" marL="0" marR="0" rtl="0" algn="just">
                <a:lnSpc>
                  <a:spcPct val="28648"/>
                </a:lnSpc>
                <a:spcBef>
                  <a:spcPts val="0"/>
                </a:spcBef>
                <a:spcAft>
                  <a:spcPts val="0"/>
                </a:spcAft>
                <a:buClr>
                  <a:srgbClr val="000000"/>
                </a:buClr>
                <a:buSzPts val="6098"/>
                <a:buFont typeface="Arial"/>
                <a:buNone/>
              </a:pPr>
              <a:r>
                <a:t/>
              </a:r>
              <a:endParaRPr b="0" i="0" sz="6098" u="none" cap="none" strike="noStrike">
                <a:solidFill>
                  <a:srgbClr val="131416"/>
                </a:solidFill>
                <a:latin typeface="Impact"/>
                <a:ea typeface="Impact"/>
                <a:cs typeface="Impact"/>
                <a:sym typeface="Impact"/>
              </a:endParaRPr>
            </a:p>
          </p:txBody>
        </p:sp>
      </p:grpSp>
      <p:grpSp>
        <p:nvGrpSpPr>
          <p:cNvPr id="458" name="Google Shape;458;p22"/>
          <p:cNvGrpSpPr/>
          <p:nvPr/>
        </p:nvGrpSpPr>
        <p:grpSpPr>
          <a:xfrm>
            <a:off x="5414714" y="5679497"/>
            <a:ext cx="6704991" cy="1177131"/>
            <a:chOff x="0" y="-371475"/>
            <a:chExt cx="8939988" cy="1569508"/>
          </a:xfrm>
        </p:grpSpPr>
        <p:sp>
          <p:nvSpPr>
            <p:cNvPr id="459" name="Google Shape;459;p22"/>
            <p:cNvSpPr/>
            <p:nvPr/>
          </p:nvSpPr>
          <p:spPr>
            <a:xfrm>
              <a:off x="0" y="0"/>
              <a:ext cx="8939988" cy="1198033"/>
            </a:xfrm>
            <a:custGeom>
              <a:rect b="b" l="l" r="r" t="t"/>
              <a:pathLst>
                <a:path extrusionOk="0" h="1198033" w="8939988">
                  <a:moveTo>
                    <a:pt x="0" y="0"/>
                  </a:moveTo>
                  <a:lnTo>
                    <a:pt x="8939988" y="0"/>
                  </a:lnTo>
                  <a:lnTo>
                    <a:pt x="8939988" y="1198033"/>
                  </a:lnTo>
                  <a:lnTo>
                    <a:pt x="0" y="119803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22"/>
            <p:cNvSpPr txBox="1"/>
            <p:nvPr/>
          </p:nvSpPr>
          <p:spPr>
            <a:xfrm>
              <a:off x="0" y="-371475"/>
              <a:ext cx="8939988" cy="1569508"/>
            </a:xfrm>
            <a:prstGeom prst="rect">
              <a:avLst/>
            </a:prstGeom>
            <a:noFill/>
            <a:ln>
              <a:noFill/>
            </a:ln>
          </p:spPr>
          <p:txBody>
            <a:bodyPr anchorCtr="0" anchor="t" bIns="0" lIns="0" spcFirstLastPara="1" rIns="0" wrap="square" tIns="0">
              <a:noAutofit/>
            </a:bodyPr>
            <a:lstStyle/>
            <a:p>
              <a:pPr indent="0" lvl="0" marL="0" marR="0" rtl="0" algn="ctr">
                <a:lnSpc>
                  <a:spcPct val="177615"/>
                </a:lnSpc>
                <a:spcBef>
                  <a:spcPts val="0"/>
                </a:spcBef>
                <a:spcAft>
                  <a:spcPts val="0"/>
                </a:spcAft>
                <a:buClr>
                  <a:srgbClr val="000000"/>
                </a:buClr>
                <a:buSzPts val="4999"/>
                <a:buFont typeface="Arial"/>
                <a:buNone/>
              </a:pPr>
              <a:r>
                <a:rPr b="0" i="0" lang="en-US" sz="4999"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grpSp>
      <p:sp>
        <p:nvSpPr>
          <p:cNvPr id="461" name="Google Shape;461;p22"/>
          <p:cNvSpPr/>
          <p:nvPr/>
        </p:nvSpPr>
        <p:spPr>
          <a:xfrm>
            <a:off x="13963751" y="1028700"/>
            <a:ext cx="2757297" cy="3770948"/>
          </a:xfrm>
          <a:custGeom>
            <a:rect b="b" l="l" r="r" t="t"/>
            <a:pathLst>
              <a:path extrusionOk="0" h="5027930" w="3676396">
                <a:moveTo>
                  <a:pt x="0" y="0"/>
                </a:moveTo>
                <a:lnTo>
                  <a:pt x="3676396" y="0"/>
                </a:lnTo>
                <a:lnTo>
                  <a:pt x="3676396" y="5027930"/>
                </a:lnTo>
                <a:lnTo>
                  <a:pt x="0" y="5027930"/>
                </a:lnTo>
                <a:lnTo>
                  <a:pt x="0" y="0"/>
                </a:lnTo>
                <a:close/>
              </a:path>
            </a:pathLst>
          </a:custGeom>
          <a:blipFill rotWithShape="1">
            <a:blip r:embed="rId4">
              <a:alphaModFix/>
            </a:blip>
            <a:stretch>
              <a:fillRect b="0" l="-6" r="-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62" name="Google Shape;462;p22"/>
          <p:cNvGrpSpPr/>
          <p:nvPr/>
        </p:nvGrpSpPr>
        <p:grpSpPr>
          <a:xfrm>
            <a:off x="2411098" y="7785435"/>
            <a:ext cx="13465804" cy="833755"/>
            <a:chOff x="0" y="-152400"/>
            <a:chExt cx="17954405" cy="1111673"/>
          </a:xfrm>
        </p:grpSpPr>
        <p:sp>
          <p:nvSpPr>
            <p:cNvPr id="463" name="Google Shape;463;p22"/>
            <p:cNvSpPr/>
            <p:nvPr/>
          </p:nvSpPr>
          <p:spPr>
            <a:xfrm>
              <a:off x="0" y="0"/>
              <a:ext cx="17954405" cy="959273"/>
            </a:xfrm>
            <a:custGeom>
              <a:rect b="b" l="l" r="r" t="t"/>
              <a:pathLst>
                <a:path extrusionOk="0" h="959273" w="17954405">
                  <a:moveTo>
                    <a:pt x="0" y="0"/>
                  </a:moveTo>
                  <a:lnTo>
                    <a:pt x="17954405" y="0"/>
                  </a:lnTo>
                  <a:lnTo>
                    <a:pt x="17954405" y="959273"/>
                  </a:lnTo>
                  <a:lnTo>
                    <a:pt x="0" y="959273"/>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22"/>
            <p:cNvSpPr txBox="1"/>
            <p:nvPr/>
          </p:nvSpPr>
          <p:spPr>
            <a:xfrm>
              <a:off x="0" y="-152400"/>
              <a:ext cx="17954405" cy="1111673"/>
            </a:xfrm>
            <a:prstGeom prst="rect">
              <a:avLst/>
            </a:prstGeom>
            <a:noFill/>
            <a:ln>
              <a:noFill/>
            </a:ln>
          </p:spPr>
          <p:txBody>
            <a:bodyPr anchorCtr="0" anchor="t" bIns="0" lIns="0" spcFirstLastPara="1" rIns="0" wrap="square" tIns="0">
              <a:noAutofit/>
            </a:bodyPr>
            <a:lstStyle/>
            <a:p>
              <a:pPr indent="0" lvl="0" marL="0" marR="0" rtl="0" algn="ctr">
                <a:lnSpc>
                  <a:spcPct val="1776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