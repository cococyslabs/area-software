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Open Sans Bold" charset="1" panose="00000000000000000000"/>
      <p:regular r:id="rId42"/>
    </p:embeddedFont>
    <p:embeddedFont>
      <p:font typeface="Arial Bold" charset="1" panose="020B0704020202020204"/>
      <p:regular r:id="rId46"/>
    </p:embeddedFont>
    <p:embeddedFont>
      <p:font typeface="Arial" charset="1" panose="020B0604020202020204"/>
      <p:regular r:id="rId49"/>
    </p:embeddedFont>
    <p:embeddedFont>
      <p:font typeface="Open Sans" charset="1" panose="0000000000000000000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notesMasters/notesMaster1.xml" Type="http://schemas.openxmlformats.org/officeDocument/2006/relationships/notesMaster"/><Relationship Id="rId4" Target="theme/theme1.xml" Type="http://schemas.openxmlformats.org/officeDocument/2006/relationships/theme"/><Relationship Id="rId40" Target="theme/theme2.xml" Type="http://schemas.openxmlformats.org/officeDocument/2006/relationships/theme"/><Relationship Id="rId41" Target="notesSlides/notesSlide1.xml" Type="http://schemas.openxmlformats.org/officeDocument/2006/relationships/notesSlide"/><Relationship Id="rId42" Target="fonts/font42.fntdata" Type="http://schemas.openxmlformats.org/officeDocument/2006/relationships/font"/><Relationship Id="rId43" Target="notesSlides/notesSlide2.xml" Type="http://schemas.openxmlformats.org/officeDocument/2006/relationships/notesSlide"/><Relationship Id="rId44" Target="notesSlides/notesSlide3.xml" Type="http://schemas.openxmlformats.org/officeDocument/2006/relationships/notesSlide"/><Relationship Id="rId45" Target="notesSlides/notesSlide4.xml" Type="http://schemas.openxmlformats.org/officeDocument/2006/relationships/notesSlide"/><Relationship Id="rId46" Target="fonts/font46.fntdata" Type="http://schemas.openxmlformats.org/officeDocument/2006/relationships/font"/><Relationship Id="rId47" Target="notesSlides/notesSlide5.xml" Type="http://schemas.openxmlformats.org/officeDocument/2006/relationships/notesSlide"/><Relationship Id="rId48" Target="notesSlides/notesSlide6.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notesSlides/notesSlide7.xml" Type="http://schemas.openxmlformats.org/officeDocument/2006/relationships/notesSlide"/><Relationship Id="rId51" Target="fonts/font51.fntdata" Type="http://schemas.openxmlformats.org/officeDocument/2006/relationships/font"/><Relationship Id="rId52" Target="notesSlides/notesSlide8.xml" Type="http://schemas.openxmlformats.org/officeDocument/2006/relationships/notesSlide"/><Relationship Id="rId53" Target="notesSlides/notesSlide9.xml" Type="http://schemas.openxmlformats.org/officeDocument/2006/relationships/notesSlide"/><Relationship Id="rId54" Target="notesSlides/notesSlide10.xml" Type="http://schemas.openxmlformats.org/officeDocument/2006/relationships/notesSlide"/><Relationship Id="rId55" Target="notesSlides/notesSlide11.xml" Type="http://schemas.openxmlformats.org/officeDocument/2006/relationships/notesSlide"/><Relationship Id="rId56" Target="notesSlides/notesSlide12.xml" Type="http://schemas.openxmlformats.org/officeDocument/2006/relationships/notesSlide"/><Relationship Id="rId57" Target="notesSlides/notesSlide13.xml" Type="http://schemas.openxmlformats.org/officeDocument/2006/relationships/notesSlide"/><Relationship Id="rId58" Target="notesSlides/notesSlide14.xml" Type="http://schemas.openxmlformats.org/officeDocument/2006/relationships/notesSlide"/><Relationship Id="rId59" Target="notesSlides/notesSlide15.xml" Type="http://schemas.openxmlformats.org/officeDocument/2006/relationships/notesSlide"/><Relationship Id="rId6" Target="slides/slide1.xml" Type="http://schemas.openxmlformats.org/officeDocument/2006/relationships/slide"/><Relationship Id="rId60" Target="notesSlides/notesSlide16.xml" Type="http://schemas.openxmlformats.org/officeDocument/2006/relationships/notesSlide"/><Relationship Id="rId61" Target="notesSlides/notesSlide17.xml" Type="http://schemas.openxmlformats.org/officeDocument/2006/relationships/notesSlide"/><Relationship Id="rId62" Target="notesSlides/notesSlide18.xml" Type="http://schemas.openxmlformats.org/officeDocument/2006/relationships/notesSlide"/><Relationship Id="rId63" Target="notesSlides/notesSlide19.xml" Type="http://schemas.openxmlformats.org/officeDocument/2006/relationships/notesSlide"/><Relationship Id="rId64" Target="notesSlides/notesSlide20.xml" Type="http://schemas.openxmlformats.org/officeDocument/2006/relationships/notesSlide"/><Relationship Id="rId65" Target="notesSlides/notesSlide21.xml" Type="http://schemas.openxmlformats.org/officeDocument/2006/relationships/notesSlide"/><Relationship Id="rId66" Target="notesSlides/notesSlide22.xml" Type="http://schemas.openxmlformats.org/officeDocument/2006/relationships/notesSlide"/><Relationship Id="rId67" Target="notesSlides/notesSlide23.xml" Type="http://schemas.openxmlformats.org/officeDocument/2006/relationships/notesSlide"/><Relationship Id="rId68" Target="notesSlides/notesSlide24.xml" Type="http://schemas.openxmlformats.org/officeDocument/2006/relationships/notesSlide"/><Relationship Id="rId69" Target="notesSlides/notesSlide25.xml" Type="http://schemas.openxmlformats.org/officeDocument/2006/relationships/notesSlide"/><Relationship Id="rId7" Target="slides/slide2.xml" Type="http://schemas.openxmlformats.org/officeDocument/2006/relationships/slide"/><Relationship Id="rId70" Target="notesSlides/notesSlide26.xml" Type="http://schemas.openxmlformats.org/officeDocument/2006/relationships/notesSlide"/><Relationship Id="rId71" Target="notesSlides/notesSlide27.xml" Type="http://schemas.openxmlformats.org/officeDocument/2006/relationships/notesSlide"/><Relationship Id="rId72" Target="notesSlides/notesSlide28.xml" Type="http://schemas.openxmlformats.org/officeDocument/2006/relationships/notesSlide"/><Relationship Id="rId73" Target="notesSlides/notesSlide29.xml" Type="http://schemas.openxmlformats.org/officeDocument/2006/relationships/notesSlide"/><Relationship Id="rId74" Target="notesSlides/notesSlide30.xml" Type="http://schemas.openxmlformats.org/officeDocument/2006/relationships/notesSlide"/><Relationship Id="rId75" Target="notesSlides/notesSlide31.xml" Type="http://schemas.openxmlformats.org/officeDocument/2006/relationships/notesSlide"/><Relationship Id="rId76" Target="notesSlides/notesSlide32.xml" Type="http://schemas.openxmlformats.org/officeDocument/2006/relationships/notesSlide"/><Relationship Id="rId77" Target="notesSlides/notesSlide33.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6.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7.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2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3.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3.png" Type="http://schemas.openxmlformats.org/officeDocument/2006/relationships/image"/><Relationship Id="rId4" Target="../media/image2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3.png" Type="http://schemas.openxmlformats.org/officeDocument/2006/relationships/image"/><Relationship Id="rId4" Target="../media/image2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3.png" Type="http://schemas.openxmlformats.org/officeDocument/2006/relationships/image"/><Relationship Id="rId4" Target="../media/image2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3.png" Type="http://schemas.openxmlformats.org/officeDocument/2006/relationships/image"/><Relationship Id="rId4" Target="../media/image2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3.png" Type="http://schemas.openxmlformats.org/officeDocument/2006/relationships/image"/><Relationship Id="rId4" Target="../media/image22.svg" Type="http://schemas.openxmlformats.org/officeDocument/2006/relationships/image"/><Relationship Id="rId5" Target="../media/image2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2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2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28.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2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30.png" Type="http://schemas.openxmlformats.org/officeDocument/2006/relationships/image"/><Relationship Id="rId4" Target="../media/image31.png" Type="http://schemas.openxmlformats.org/officeDocument/2006/relationships/image"/><Relationship Id="rId5" Target="https://www.youtube.com/watch?v=ismFlm3EbZY" TargetMode="External" Type="http://schemas.openxmlformats.org/officeDocument/2006/relationships/hyperlink"/></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3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3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37" r="0" b="-37"/>
              </a:stretch>
            </a:blipFill>
          </p:spPr>
        </p:sp>
      </p:grpSp>
      <p:grpSp>
        <p:nvGrpSpPr>
          <p:cNvPr name="Group 4" id="4"/>
          <p:cNvGrpSpPr/>
          <p:nvPr/>
        </p:nvGrpSpPr>
        <p:grpSpPr>
          <a:xfrm rot="0">
            <a:off x="1969846" y="3030150"/>
            <a:ext cx="15055872" cy="3260979"/>
            <a:chOff x="0" y="0"/>
            <a:chExt cx="20074496" cy="4347972"/>
          </a:xfrm>
        </p:grpSpPr>
        <p:sp>
          <p:nvSpPr>
            <p:cNvPr name="Freeform 5" id="5"/>
            <p:cNvSpPr/>
            <p:nvPr/>
          </p:nvSpPr>
          <p:spPr>
            <a:xfrm flipH="false" flipV="false" rot="0">
              <a:off x="0" y="0"/>
              <a:ext cx="20074510" cy="4347972"/>
            </a:xfrm>
            <a:custGeom>
              <a:avLst/>
              <a:gdLst/>
              <a:ahLst/>
              <a:cxnLst/>
              <a:rect r="r" b="b" t="t" l="l"/>
              <a:pathLst>
                <a:path h="4347972" w="20074510">
                  <a:moveTo>
                    <a:pt x="0" y="0"/>
                  </a:moveTo>
                  <a:lnTo>
                    <a:pt x="20074510" y="0"/>
                  </a:lnTo>
                  <a:lnTo>
                    <a:pt x="20074510" y="4347972"/>
                  </a:lnTo>
                  <a:lnTo>
                    <a:pt x="0" y="4347972"/>
                  </a:lnTo>
                  <a:lnTo>
                    <a:pt x="0" y="0"/>
                  </a:lnTo>
                  <a:close/>
                </a:path>
              </a:pathLst>
            </a:custGeom>
            <a:blipFill>
              <a:blip r:embed="rId4"/>
              <a:stretch>
                <a:fillRect l="-3694" t="0" r="-3694" b="0"/>
              </a:stretch>
            </a:blipFill>
          </p:spPr>
        </p:sp>
      </p:grpSp>
      <p:sp>
        <p:nvSpPr>
          <p:cNvPr name="TextBox 6" id="6"/>
          <p:cNvSpPr txBox="true"/>
          <p:nvPr/>
        </p:nvSpPr>
        <p:spPr>
          <a:xfrm rot="0">
            <a:off x="5792610" y="6186354"/>
            <a:ext cx="6702904" cy="991276"/>
          </a:xfrm>
          <a:prstGeom prst="rect">
            <a:avLst/>
          </a:prstGeom>
        </p:spPr>
        <p:txBody>
          <a:bodyPr anchor="t" rtlCol="false" tIns="0" lIns="0" bIns="0" rIns="0">
            <a:spAutoFit/>
          </a:bodyPr>
          <a:lstStyle/>
          <a:p>
            <a:pPr algn="ctr">
              <a:lnSpc>
                <a:spcPts val="4030"/>
              </a:lnSpc>
            </a:pPr>
            <a:r>
              <a:rPr lang="en-US" b="true" sz="2400">
                <a:solidFill>
                  <a:srgbClr val="000000"/>
                </a:solidFill>
                <a:latin typeface="Open Sans Bold"/>
                <a:ea typeface="Open Sans Bold"/>
                <a:cs typeface="Open Sans Bold"/>
                <a:sym typeface="Open Sans Bold"/>
              </a:rPr>
              <a:t>Escuela de Ingeniería de Ciencias Y Sistemas</a:t>
            </a:r>
          </a:p>
          <a:p>
            <a:pPr algn="ctr">
              <a:lnSpc>
                <a:spcPts val="2351"/>
              </a:lnSpc>
            </a:pPr>
          </a:p>
        </p:txBody>
      </p:sp>
      <p:sp>
        <p:nvSpPr>
          <p:cNvPr name="TextBox 7" id="7"/>
          <p:cNvSpPr txBox="true"/>
          <p:nvPr/>
        </p:nvSpPr>
        <p:spPr>
          <a:xfrm rot="0">
            <a:off x="348644" y="9058275"/>
            <a:ext cx="4067108" cy="1228725"/>
          </a:xfrm>
          <a:prstGeom prst="rect">
            <a:avLst/>
          </a:prstGeom>
        </p:spPr>
        <p:txBody>
          <a:bodyPr anchor="t" rtlCol="false" tIns="0" lIns="0" bIns="0" rIns="0">
            <a:spAutoFit/>
          </a:bodyPr>
          <a:lstStyle/>
          <a:p>
            <a:pPr algn="ctr">
              <a:lnSpc>
                <a:spcPts val="5275"/>
              </a:lnSpc>
            </a:pPr>
            <a:r>
              <a:rPr lang="en-US" b="true" sz="3140">
                <a:solidFill>
                  <a:srgbClr val="000000"/>
                </a:solidFill>
                <a:latin typeface="Open Sans Bold"/>
                <a:ea typeface="Open Sans Bold"/>
                <a:cs typeface="Open Sans Bold"/>
                <a:sym typeface="Open Sans Bold"/>
              </a:rPr>
              <a:t>NOMBRE DEL TUTOR</a:t>
            </a:r>
          </a:p>
          <a:p>
            <a:pPr algn="ctr">
              <a:lnSpc>
                <a:spcPts val="2351"/>
              </a:lnSpc>
            </a:pPr>
          </a:p>
        </p:txBody>
      </p:sp>
      <p:sp>
        <p:nvSpPr>
          <p:cNvPr name="TextBox 8" id="8"/>
          <p:cNvSpPr txBox="true"/>
          <p:nvPr/>
        </p:nvSpPr>
        <p:spPr>
          <a:xfrm rot="0">
            <a:off x="2904239" y="3611451"/>
            <a:ext cx="13187096" cy="1725168"/>
          </a:xfrm>
          <a:prstGeom prst="rect">
            <a:avLst/>
          </a:prstGeom>
        </p:spPr>
        <p:txBody>
          <a:bodyPr anchor="t" rtlCol="false" tIns="0" lIns="0" bIns="0" rIns="0">
            <a:spAutoFit/>
          </a:bodyPr>
          <a:lstStyle/>
          <a:p>
            <a:pPr algn="ctr">
              <a:lnSpc>
                <a:spcPts val="7056"/>
              </a:lnSpc>
            </a:pPr>
            <a:r>
              <a:rPr lang="en-US" b="true" sz="4200">
                <a:solidFill>
                  <a:srgbClr val="000000"/>
                </a:solidFill>
                <a:latin typeface="Open Sans Bold"/>
                <a:ea typeface="Open Sans Bold"/>
                <a:cs typeface="Open Sans Bold"/>
                <a:sym typeface="Open Sans Bold"/>
              </a:rPr>
              <a:t>Introducción</a:t>
            </a:r>
            <a:r>
              <a:rPr lang="en-US" b="true" sz="4200">
                <a:solidFill>
                  <a:srgbClr val="000000"/>
                </a:solidFill>
                <a:latin typeface="Open Sans Bold"/>
                <a:ea typeface="Open Sans Bold"/>
                <a:cs typeface="Open Sans Bold"/>
                <a:sym typeface="Open Sans Bold"/>
              </a:rPr>
              <a:t> A La Programación Y Computación 2</a:t>
            </a:r>
          </a:p>
          <a:p>
            <a:pPr algn="ctr">
              <a:lnSpc>
                <a:spcPts val="7056"/>
              </a:lnSpc>
            </a:pPr>
            <a:r>
              <a:rPr lang="en-US" b="true" sz="4200">
                <a:solidFill>
                  <a:srgbClr val="000000"/>
                </a:solidFill>
                <a:latin typeface="Open Sans Bold"/>
                <a:ea typeface="Open Sans Bold"/>
                <a:cs typeface="Open Sans Bold"/>
                <a:sym typeface="Open Sans Bold"/>
              </a:rPr>
              <a:t>[Sección X]</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401300"/>
            <a:chOff x="0" y="0"/>
            <a:chExt cx="24384000" cy="13868400"/>
          </a:xfrm>
        </p:grpSpPr>
        <p:sp>
          <p:nvSpPr>
            <p:cNvPr name="Freeform 3" id="3"/>
            <p:cNvSpPr/>
            <p:nvPr/>
          </p:nvSpPr>
          <p:spPr>
            <a:xfrm flipH="false" flipV="false" rot="0">
              <a:off x="0" y="0"/>
              <a:ext cx="24384000" cy="13868400"/>
            </a:xfrm>
            <a:custGeom>
              <a:avLst/>
              <a:gdLst/>
              <a:ahLst/>
              <a:cxnLst/>
              <a:rect r="r" b="b" t="t" l="l"/>
              <a:pathLst>
                <a:path h="13868400" w="24384000">
                  <a:moveTo>
                    <a:pt x="0" y="0"/>
                  </a:moveTo>
                  <a:lnTo>
                    <a:pt x="24384000" y="0"/>
                  </a:lnTo>
                  <a:lnTo>
                    <a:pt x="24384000" y="13868400"/>
                  </a:lnTo>
                  <a:lnTo>
                    <a:pt x="0" y="13868400"/>
                  </a:lnTo>
                  <a:lnTo>
                    <a:pt x="0" y="0"/>
                  </a:lnTo>
                  <a:close/>
                </a:path>
              </a:pathLst>
            </a:custGeom>
            <a:blipFill>
              <a:blip r:embed="rId3"/>
              <a:stretch>
                <a:fillRect l="-34" t="0" r="-34" b="0"/>
              </a:stretch>
            </a:blipFill>
          </p:spPr>
        </p:sp>
      </p:grpSp>
      <p:sp>
        <p:nvSpPr>
          <p:cNvPr name="TextBox 4" id="4"/>
          <p:cNvSpPr txBox="true"/>
          <p:nvPr/>
        </p:nvSpPr>
        <p:spPr>
          <a:xfrm rot="0">
            <a:off x="6204052" y="2790187"/>
            <a:ext cx="5879906" cy="2260853"/>
          </a:xfrm>
          <a:prstGeom prst="rect">
            <a:avLst/>
          </a:prstGeom>
        </p:spPr>
        <p:txBody>
          <a:bodyPr anchor="t" rtlCol="false" tIns="0" lIns="0" bIns="0" rIns="0">
            <a:spAutoFit/>
          </a:bodyPr>
          <a:lstStyle/>
          <a:p>
            <a:pPr algn="ctr">
              <a:lnSpc>
                <a:spcPts val="14782"/>
              </a:lnSpc>
            </a:pPr>
            <a:r>
              <a:rPr lang="en-US" b="true" sz="8799">
                <a:solidFill>
                  <a:srgbClr val="000000"/>
                </a:solidFill>
                <a:latin typeface="Open Sans Bold"/>
                <a:ea typeface="Open Sans Bold"/>
                <a:cs typeface="Open Sans Bold"/>
                <a:sym typeface="Open Sans Bold"/>
              </a:rPr>
              <a:t>UNIDAD 4:</a:t>
            </a:r>
          </a:p>
          <a:p>
            <a:pPr algn="ctr">
              <a:lnSpc>
                <a:spcPts val="2352"/>
              </a:lnSpc>
            </a:pPr>
          </a:p>
        </p:txBody>
      </p:sp>
      <p:sp>
        <p:nvSpPr>
          <p:cNvPr name="TextBox 5" id="5"/>
          <p:cNvSpPr txBox="true"/>
          <p:nvPr/>
        </p:nvSpPr>
        <p:spPr>
          <a:xfrm rot="0">
            <a:off x="2565385" y="4329494"/>
            <a:ext cx="13157229" cy="1418463"/>
          </a:xfrm>
          <a:prstGeom prst="rect">
            <a:avLst/>
          </a:prstGeom>
        </p:spPr>
        <p:txBody>
          <a:bodyPr anchor="t" rtlCol="false" tIns="0" lIns="0" bIns="0" rIns="0">
            <a:spAutoFit/>
          </a:bodyPr>
          <a:lstStyle/>
          <a:p>
            <a:pPr algn="ctr">
              <a:lnSpc>
                <a:spcPts val="12096"/>
              </a:lnSpc>
            </a:pPr>
            <a:r>
              <a:rPr lang="en-US" b="true" sz="7200">
                <a:solidFill>
                  <a:srgbClr val="000000"/>
                </a:solidFill>
                <a:latin typeface="Open Sans Bold"/>
                <a:ea typeface="Open Sans Bold"/>
                <a:cs typeface="Open Sans Bold"/>
                <a:sym typeface="Open Sans Bold"/>
              </a:rPr>
              <a:t>Estructura de Datos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87138" y="2492769"/>
            <a:ext cx="9432093" cy="6765531"/>
            <a:chOff x="0" y="0"/>
            <a:chExt cx="12576124" cy="9020708"/>
          </a:xfrm>
        </p:grpSpPr>
        <p:sp>
          <p:nvSpPr>
            <p:cNvPr name="Freeform 3" id="3"/>
            <p:cNvSpPr/>
            <p:nvPr/>
          </p:nvSpPr>
          <p:spPr>
            <a:xfrm flipH="false" flipV="false" rot="0">
              <a:off x="0" y="0"/>
              <a:ext cx="12576175" cy="9020683"/>
            </a:xfrm>
            <a:custGeom>
              <a:avLst/>
              <a:gdLst/>
              <a:ahLst/>
              <a:cxnLst/>
              <a:rect r="r" b="b" t="t" l="l"/>
              <a:pathLst>
                <a:path h="9020683" w="12576175">
                  <a:moveTo>
                    <a:pt x="0" y="0"/>
                  </a:moveTo>
                  <a:lnTo>
                    <a:pt x="12576175" y="0"/>
                  </a:lnTo>
                  <a:lnTo>
                    <a:pt x="12576175" y="9020683"/>
                  </a:lnTo>
                  <a:lnTo>
                    <a:pt x="0" y="9020683"/>
                  </a:lnTo>
                  <a:lnTo>
                    <a:pt x="0" y="0"/>
                  </a:lnTo>
                  <a:close/>
                </a:path>
              </a:pathLst>
            </a:custGeom>
            <a:blipFill>
              <a:blip r:embed="rId3"/>
              <a:stretch>
                <a:fillRect l="0" t="-35" r="0" b="-35"/>
              </a:stretch>
            </a:blipFill>
          </p:spPr>
        </p:sp>
      </p:grpSp>
      <p:grpSp>
        <p:nvGrpSpPr>
          <p:cNvPr name="Group 4" id="4"/>
          <p:cNvGrpSpPr/>
          <p:nvPr/>
        </p:nvGrpSpPr>
        <p:grpSpPr>
          <a:xfrm rot="0">
            <a:off x="3971430" y="612838"/>
            <a:ext cx="11301260" cy="2288505"/>
            <a:chOff x="0" y="0"/>
            <a:chExt cx="15068347" cy="3051340"/>
          </a:xfrm>
        </p:grpSpPr>
        <p:sp>
          <p:nvSpPr>
            <p:cNvPr name="Freeform 5" id="5"/>
            <p:cNvSpPr/>
            <p:nvPr/>
          </p:nvSpPr>
          <p:spPr>
            <a:xfrm flipH="false" flipV="false" rot="0">
              <a:off x="0" y="0"/>
              <a:ext cx="15068296" cy="3051302"/>
            </a:xfrm>
            <a:custGeom>
              <a:avLst/>
              <a:gdLst/>
              <a:ahLst/>
              <a:cxnLst/>
              <a:rect r="r" b="b" t="t" l="l"/>
              <a:pathLst>
                <a:path h="3051302" w="15068296">
                  <a:moveTo>
                    <a:pt x="0" y="0"/>
                  </a:moveTo>
                  <a:lnTo>
                    <a:pt x="15068296" y="0"/>
                  </a:lnTo>
                  <a:lnTo>
                    <a:pt x="15068296" y="3051302"/>
                  </a:lnTo>
                  <a:lnTo>
                    <a:pt x="0" y="3051302"/>
                  </a:lnTo>
                  <a:lnTo>
                    <a:pt x="0" y="0"/>
                  </a:lnTo>
                  <a:close/>
                </a:path>
              </a:pathLst>
            </a:custGeom>
            <a:blipFill>
              <a:blip r:embed="rId4"/>
              <a:stretch>
                <a:fillRect l="-7" t="0" r="-7" b="-1"/>
              </a:stretch>
            </a:blipFill>
          </p:spPr>
        </p:sp>
      </p:grpSp>
      <p:grpSp>
        <p:nvGrpSpPr>
          <p:cNvPr name="Group 6" id="6"/>
          <p:cNvGrpSpPr/>
          <p:nvPr/>
        </p:nvGrpSpPr>
        <p:grpSpPr>
          <a:xfrm rot="0">
            <a:off x="314887" y="2901344"/>
            <a:ext cx="4961630" cy="4961630"/>
            <a:chOff x="0" y="0"/>
            <a:chExt cx="6615506" cy="6615506"/>
          </a:xfrm>
        </p:grpSpPr>
        <p:sp>
          <p:nvSpPr>
            <p:cNvPr name="Freeform 7" id="7"/>
            <p:cNvSpPr/>
            <p:nvPr/>
          </p:nvSpPr>
          <p:spPr>
            <a:xfrm flipH="false" flipV="false" rot="0">
              <a:off x="0" y="0"/>
              <a:ext cx="6615557" cy="6615557"/>
            </a:xfrm>
            <a:custGeom>
              <a:avLst/>
              <a:gdLst/>
              <a:ahLst/>
              <a:cxnLst/>
              <a:rect r="r" b="b" t="t" l="l"/>
              <a:pathLst>
                <a:path h="6615557" w="6615557">
                  <a:moveTo>
                    <a:pt x="0" y="0"/>
                  </a:moveTo>
                  <a:lnTo>
                    <a:pt x="6615557" y="0"/>
                  </a:lnTo>
                  <a:lnTo>
                    <a:pt x="6615557" y="6615557"/>
                  </a:lnTo>
                  <a:lnTo>
                    <a:pt x="0" y="6615557"/>
                  </a:lnTo>
                  <a:lnTo>
                    <a:pt x="0" y="0"/>
                  </a:lnTo>
                  <a:close/>
                </a:path>
              </a:pathLst>
            </a:custGeom>
            <a:blipFill>
              <a:blip r:embed="rId5"/>
              <a:stretch>
                <a:fillRect l="0" t="0" r="0" b="0"/>
              </a:stretch>
            </a:blipFill>
          </p:spPr>
        </p:sp>
      </p:grpSp>
      <p:grpSp>
        <p:nvGrpSpPr>
          <p:cNvPr name="Group 8" id="8"/>
          <p:cNvGrpSpPr/>
          <p:nvPr/>
        </p:nvGrpSpPr>
        <p:grpSpPr>
          <a:xfrm rot="0">
            <a:off x="5276526" y="3174482"/>
            <a:ext cx="678190" cy="824817"/>
            <a:chOff x="0" y="0"/>
            <a:chExt cx="904253" cy="1099756"/>
          </a:xfrm>
        </p:grpSpPr>
        <p:sp>
          <p:nvSpPr>
            <p:cNvPr name="Freeform 9" id="9"/>
            <p:cNvSpPr/>
            <p:nvPr/>
          </p:nvSpPr>
          <p:spPr>
            <a:xfrm flipH="false" flipV="false" rot="0">
              <a:off x="0" y="0"/>
              <a:ext cx="904240" cy="1099820"/>
            </a:xfrm>
            <a:custGeom>
              <a:avLst/>
              <a:gdLst/>
              <a:ahLst/>
              <a:cxnLst/>
              <a:rect r="r" b="b" t="t" l="l"/>
              <a:pathLst>
                <a:path h="1099820" w="904240">
                  <a:moveTo>
                    <a:pt x="0" y="0"/>
                  </a:moveTo>
                  <a:lnTo>
                    <a:pt x="904240" y="0"/>
                  </a:lnTo>
                  <a:lnTo>
                    <a:pt x="904240" y="1099820"/>
                  </a:lnTo>
                  <a:lnTo>
                    <a:pt x="0" y="1099820"/>
                  </a:lnTo>
                  <a:lnTo>
                    <a:pt x="0" y="0"/>
                  </a:lnTo>
                  <a:close/>
                </a:path>
              </a:pathLst>
            </a:custGeom>
            <a:blipFill>
              <a:blip r:embed="rId6"/>
              <a:stretch>
                <a:fillRect l="0" t="0" r="-1" b="5"/>
              </a:stretch>
            </a:blipFill>
          </p:spPr>
        </p:sp>
      </p:grpSp>
      <p:sp>
        <p:nvSpPr>
          <p:cNvPr name="TextBox 10" id="10"/>
          <p:cNvSpPr txBox="true"/>
          <p:nvPr/>
        </p:nvSpPr>
        <p:spPr>
          <a:xfrm rot="0">
            <a:off x="5954706" y="4223385"/>
            <a:ext cx="2141096" cy="920115"/>
          </a:xfrm>
          <a:prstGeom prst="rect">
            <a:avLst/>
          </a:prstGeom>
        </p:spPr>
        <p:txBody>
          <a:bodyPr anchor="t" rtlCol="false" tIns="0" lIns="0" bIns="0" rIns="0">
            <a:spAutoFit/>
          </a:bodyPr>
          <a:lstStyle/>
          <a:p>
            <a:pPr algn="ctr">
              <a:lnSpc>
                <a:spcPts val="4030"/>
              </a:lnSpc>
            </a:pPr>
            <a:r>
              <a:rPr lang="en-US" b="true" sz="2400">
                <a:solidFill>
                  <a:srgbClr val="000000"/>
                </a:solidFill>
                <a:latin typeface="Open Sans Bold"/>
                <a:ea typeface="Open Sans Bold"/>
                <a:cs typeface="Open Sans Bold"/>
                <a:sym typeface="Open Sans Bold"/>
              </a:rPr>
              <a:t>Anuncio 2</a:t>
            </a:r>
          </a:p>
          <a:p>
            <a:pPr algn="ctr">
              <a:lnSpc>
                <a:spcPts val="2351"/>
              </a:lnSpc>
            </a:pPr>
          </a:p>
        </p:txBody>
      </p:sp>
      <p:sp>
        <p:nvSpPr>
          <p:cNvPr name="TextBox 11" id="11"/>
          <p:cNvSpPr txBox="true"/>
          <p:nvPr/>
        </p:nvSpPr>
        <p:spPr>
          <a:xfrm rot="0">
            <a:off x="5954706" y="3237938"/>
            <a:ext cx="2141096" cy="920115"/>
          </a:xfrm>
          <a:prstGeom prst="rect">
            <a:avLst/>
          </a:prstGeom>
        </p:spPr>
        <p:txBody>
          <a:bodyPr anchor="t" rtlCol="false" tIns="0" lIns="0" bIns="0" rIns="0">
            <a:spAutoFit/>
          </a:bodyPr>
          <a:lstStyle/>
          <a:p>
            <a:pPr algn="ctr">
              <a:lnSpc>
                <a:spcPts val="4030"/>
              </a:lnSpc>
            </a:pPr>
            <a:r>
              <a:rPr lang="en-US" b="true" sz="2400">
                <a:solidFill>
                  <a:srgbClr val="000000"/>
                </a:solidFill>
                <a:latin typeface="Open Sans Bold"/>
                <a:ea typeface="Open Sans Bold"/>
                <a:cs typeface="Open Sans Bold"/>
                <a:sym typeface="Open Sans Bold"/>
              </a:rPr>
              <a:t>Anuncio 1</a:t>
            </a:r>
          </a:p>
          <a:p>
            <a:pPr algn="ctr">
              <a:lnSpc>
                <a:spcPts val="2351"/>
              </a:lnSpc>
            </a:pPr>
          </a:p>
        </p:txBody>
      </p:sp>
      <p:grpSp>
        <p:nvGrpSpPr>
          <p:cNvPr name="Group 12" id="12"/>
          <p:cNvGrpSpPr/>
          <p:nvPr/>
        </p:nvGrpSpPr>
        <p:grpSpPr>
          <a:xfrm rot="0">
            <a:off x="5276526" y="4158053"/>
            <a:ext cx="678190" cy="824817"/>
            <a:chOff x="0" y="0"/>
            <a:chExt cx="904253" cy="1099756"/>
          </a:xfrm>
        </p:grpSpPr>
        <p:sp>
          <p:nvSpPr>
            <p:cNvPr name="Freeform 13" id="13"/>
            <p:cNvSpPr/>
            <p:nvPr/>
          </p:nvSpPr>
          <p:spPr>
            <a:xfrm flipH="false" flipV="false" rot="0">
              <a:off x="0" y="0"/>
              <a:ext cx="904240" cy="1099820"/>
            </a:xfrm>
            <a:custGeom>
              <a:avLst/>
              <a:gdLst/>
              <a:ahLst/>
              <a:cxnLst/>
              <a:rect r="r" b="b" t="t" l="l"/>
              <a:pathLst>
                <a:path h="1099820" w="904240">
                  <a:moveTo>
                    <a:pt x="0" y="0"/>
                  </a:moveTo>
                  <a:lnTo>
                    <a:pt x="904240" y="0"/>
                  </a:lnTo>
                  <a:lnTo>
                    <a:pt x="904240" y="1099820"/>
                  </a:lnTo>
                  <a:lnTo>
                    <a:pt x="0" y="1099820"/>
                  </a:lnTo>
                  <a:lnTo>
                    <a:pt x="0" y="0"/>
                  </a:lnTo>
                  <a:close/>
                </a:path>
              </a:pathLst>
            </a:custGeom>
            <a:blipFill>
              <a:blip r:embed="rId6"/>
              <a:stretch>
                <a:fillRect l="0" t="0" r="-1" b="5"/>
              </a:stretch>
            </a:blipFill>
          </p:spPr>
        </p:sp>
      </p:grpSp>
      <p:grpSp>
        <p:nvGrpSpPr>
          <p:cNvPr name="Group 14" id="14"/>
          <p:cNvGrpSpPr/>
          <p:nvPr/>
        </p:nvGrpSpPr>
        <p:grpSpPr>
          <a:xfrm rot="0">
            <a:off x="5276526" y="5259095"/>
            <a:ext cx="678190" cy="824817"/>
            <a:chOff x="0" y="0"/>
            <a:chExt cx="904253" cy="1099756"/>
          </a:xfrm>
        </p:grpSpPr>
        <p:sp>
          <p:nvSpPr>
            <p:cNvPr name="Freeform 15" id="15"/>
            <p:cNvSpPr/>
            <p:nvPr/>
          </p:nvSpPr>
          <p:spPr>
            <a:xfrm flipH="false" flipV="false" rot="0">
              <a:off x="0" y="0"/>
              <a:ext cx="904240" cy="1099820"/>
            </a:xfrm>
            <a:custGeom>
              <a:avLst/>
              <a:gdLst/>
              <a:ahLst/>
              <a:cxnLst/>
              <a:rect r="r" b="b" t="t" l="l"/>
              <a:pathLst>
                <a:path h="1099820" w="904240">
                  <a:moveTo>
                    <a:pt x="0" y="0"/>
                  </a:moveTo>
                  <a:lnTo>
                    <a:pt x="904240" y="0"/>
                  </a:lnTo>
                  <a:lnTo>
                    <a:pt x="904240" y="1099820"/>
                  </a:lnTo>
                  <a:lnTo>
                    <a:pt x="0" y="1099820"/>
                  </a:lnTo>
                  <a:lnTo>
                    <a:pt x="0" y="0"/>
                  </a:lnTo>
                  <a:close/>
                </a:path>
              </a:pathLst>
            </a:custGeom>
            <a:blipFill>
              <a:blip r:embed="rId6"/>
              <a:stretch>
                <a:fillRect l="0" t="0" r="-1" b="5"/>
              </a:stretch>
            </a:blipFill>
          </p:spPr>
        </p:sp>
      </p:grpSp>
      <p:grpSp>
        <p:nvGrpSpPr>
          <p:cNvPr name="Group 16" id="16"/>
          <p:cNvGrpSpPr/>
          <p:nvPr/>
        </p:nvGrpSpPr>
        <p:grpSpPr>
          <a:xfrm rot="0">
            <a:off x="5276526" y="6360138"/>
            <a:ext cx="678190" cy="824817"/>
            <a:chOff x="0" y="0"/>
            <a:chExt cx="904253" cy="1099756"/>
          </a:xfrm>
        </p:grpSpPr>
        <p:sp>
          <p:nvSpPr>
            <p:cNvPr name="Freeform 17" id="17"/>
            <p:cNvSpPr/>
            <p:nvPr/>
          </p:nvSpPr>
          <p:spPr>
            <a:xfrm flipH="false" flipV="false" rot="0">
              <a:off x="0" y="0"/>
              <a:ext cx="904240" cy="1099820"/>
            </a:xfrm>
            <a:custGeom>
              <a:avLst/>
              <a:gdLst/>
              <a:ahLst/>
              <a:cxnLst/>
              <a:rect r="r" b="b" t="t" l="l"/>
              <a:pathLst>
                <a:path h="1099820" w="904240">
                  <a:moveTo>
                    <a:pt x="0" y="0"/>
                  </a:moveTo>
                  <a:lnTo>
                    <a:pt x="904240" y="0"/>
                  </a:lnTo>
                  <a:lnTo>
                    <a:pt x="904240" y="1099820"/>
                  </a:lnTo>
                  <a:lnTo>
                    <a:pt x="0" y="1099820"/>
                  </a:lnTo>
                  <a:lnTo>
                    <a:pt x="0" y="0"/>
                  </a:lnTo>
                  <a:close/>
                </a:path>
              </a:pathLst>
            </a:custGeom>
            <a:blipFill>
              <a:blip r:embed="rId6"/>
              <a:stretch>
                <a:fillRect l="0" t="0" r="-1" b="5"/>
              </a:stretch>
            </a:blipFill>
          </p:spPr>
        </p:sp>
      </p:grpSp>
      <p:grpSp>
        <p:nvGrpSpPr>
          <p:cNvPr name="Group 18" id="18"/>
          <p:cNvGrpSpPr/>
          <p:nvPr/>
        </p:nvGrpSpPr>
        <p:grpSpPr>
          <a:xfrm rot="0">
            <a:off x="5276526" y="7461180"/>
            <a:ext cx="678190" cy="824817"/>
            <a:chOff x="0" y="0"/>
            <a:chExt cx="904253" cy="1099756"/>
          </a:xfrm>
        </p:grpSpPr>
        <p:sp>
          <p:nvSpPr>
            <p:cNvPr name="Freeform 19" id="19"/>
            <p:cNvSpPr/>
            <p:nvPr/>
          </p:nvSpPr>
          <p:spPr>
            <a:xfrm flipH="false" flipV="false" rot="0">
              <a:off x="0" y="0"/>
              <a:ext cx="904240" cy="1099820"/>
            </a:xfrm>
            <a:custGeom>
              <a:avLst/>
              <a:gdLst/>
              <a:ahLst/>
              <a:cxnLst/>
              <a:rect r="r" b="b" t="t" l="l"/>
              <a:pathLst>
                <a:path h="1099820" w="904240">
                  <a:moveTo>
                    <a:pt x="0" y="0"/>
                  </a:moveTo>
                  <a:lnTo>
                    <a:pt x="904240" y="0"/>
                  </a:lnTo>
                  <a:lnTo>
                    <a:pt x="904240" y="1099820"/>
                  </a:lnTo>
                  <a:lnTo>
                    <a:pt x="0" y="1099820"/>
                  </a:lnTo>
                  <a:lnTo>
                    <a:pt x="0" y="0"/>
                  </a:lnTo>
                  <a:close/>
                </a:path>
              </a:pathLst>
            </a:custGeom>
            <a:blipFill>
              <a:blip r:embed="rId6"/>
              <a:stretch>
                <a:fillRect l="0" t="0" r="-1" b="5"/>
              </a:stretch>
            </a:blipFill>
          </p:spPr>
        </p:sp>
      </p:grpSp>
      <p:sp>
        <p:nvSpPr>
          <p:cNvPr name="TextBox 20" id="20"/>
          <p:cNvSpPr txBox="true"/>
          <p:nvPr/>
        </p:nvSpPr>
        <p:spPr>
          <a:xfrm rot="0">
            <a:off x="5954706" y="5344039"/>
            <a:ext cx="2141096" cy="920115"/>
          </a:xfrm>
          <a:prstGeom prst="rect">
            <a:avLst/>
          </a:prstGeom>
        </p:spPr>
        <p:txBody>
          <a:bodyPr anchor="t" rtlCol="false" tIns="0" lIns="0" bIns="0" rIns="0">
            <a:spAutoFit/>
          </a:bodyPr>
          <a:lstStyle/>
          <a:p>
            <a:pPr algn="ctr">
              <a:lnSpc>
                <a:spcPts val="4030"/>
              </a:lnSpc>
            </a:pPr>
            <a:r>
              <a:rPr lang="en-US" b="true" sz="2400">
                <a:solidFill>
                  <a:srgbClr val="000000"/>
                </a:solidFill>
                <a:latin typeface="Open Sans Bold"/>
                <a:ea typeface="Open Sans Bold"/>
                <a:cs typeface="Open Sans Bold"/>
                <a:sym typeface="Open Sans Bold"/>
              </a:rPr>
              <a:t>Anuncio 3</a:t>
            </a:r>
          </a:p>
          <a:p>
            <a:pPr algn="ctr">
              <a:lnSpc>
                <a:spcPts val="2351"/>
              </a:lnSpc>
            </a:pPr>
          </a:p>
        </p:txBody>
      </p:sp>
      <p:sp>
        <p:nvSpPr>
          <p:cNvPr name="TextBox 21" id="21"/>
          <p:cNvSpPr txBox="true"/>
          <p:nvPr/>
        </p:nvSpPr>
        <p:spPr>
          <a:xfrm rot="0">
            <a:off x="5954706" y="6330829"/>
            <a:ext cx="2141096" cy="920115"/>
          </a:xfrm>
          <a:prstGeom prst="rect">
            <a:avLst/>
          </a:prstGeom>
        </p:spPr>
        <p:txBody>
          <a:bodyPr anchor="t" rtlCol="false" tIns="0" lIns="0" bIns="0" rIns="0">
            <a:spAutoFit/>
          </a:bodyPr>
          <a:lstStyle/>
          <a:p>
            <a:pPr algn="ctr">
              <a:lnSpc>
                <a:spcPts val="4030"/>
              </a:lnSpc>
            </a:pPr>
            <a:r>
              <a:rPr lang="en-US" b="true" sz="2400">
                <a:solidFill>
                  <a:srgbClr val="000000"/>
                </a:solidFill>
                <a:latin typeface="Open Sans Bold"/>
                <a:ea typeface="Open Sans Bold"/>
                <a:cs typeface="Open Sans Bold"/>
                <a:sym typeface="Open Sans Bold"/>
              </a:rPr>
              <a:t>Anuncio 4</a:t>
            </a:r>
          </a:p>
          <a:p>
            <a:pPr algn="ctr">
              <a:lnSpc>
                <a:spcPts val="2351"/>
              </a:lnSpc>
            </a:pPr>
          </a:p>
        </p:txBody>
      </p:sp>
      <p:sp>
        <p:nvSpPr>
          <p:cNvPr name="TextBox 22" id="22"/>
          <p:cNvSpPr txBox="true"/>
          <p:nvPr/>
        </p:nvSpPr>
        <p:spPr>
          <a:xfrm rot="0">
            <a:off x="5954706" y="7450969"/>
            <a:ext cx="2141096" cy="920115"/>
          </a:xfrm>
          <a:prstGeom prst="rect">
            <a:avLst/>
          </a:prstGeom>
        </p:spPr>
        <p:txBody>
          <a:bodyPr anchor="t" rtlCol="false" tIns="0" lIns="0" bIns="0" rIns="0">
            <a:spAutoFit/>
          </a:bodyPr>
          <a:lstStyle/>
          <a:p>
            <a:pPr algn="ctr">
              <a:lnSpc>
                <a:spcPts val="4030"/>
              </a:lnSpc>
            </a:pPr>
            <a:r>
              <a:rPr lang="en-US" b="true" sz="2400">
                <a:solidFill>
                  <a:srgbClr val="000000"/>
                </a:solidFill>
                <a:latin typeface="Open Sans Bold"/>
                <a:ea typeface="Open Sans Bold"/>
                <a:cs typeface="Open Sans Bold"/>
                <a:sym typeface="Open Sans Bold"/>
              </a:rPr>
              <a:t>Anuncio 5</a:t>
            </a:r>
          </a:p>
          <a:p>
            <a:pPr algn="ctr">
              <a:lnSpc>
                <a:spcPts val="235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16950" y="3558807"/>
            <a:ext cx="9896504" cy="5913168"/>
            <a:chOff x="0" y="0"/>
            <a:chExt cx="13195338" cy="7884223"/>
          </a:xfrm>
        </p:grpSpPr>
        <p:sp>
          <p:nvSpPr>
            <p:cNvPr name="Freeform 3" id="3"/>
            <p:cNvSpPr/>
            <p:nvPr/>
          </p:nvSpPr>
          <p:spPr>
            <a:xfrm flipH="false" flipV="false" rot="0">
              <a:off x="0" y="0"/>
              <a:ext cx="13195300" cy="7884160"/>
            </a:xfrm>
            <a:custGeom>
              <a:avLst/>
              <a:gdLst/>
              <a:ahLst/>
              <a:cxnLst/>
              <a:rect r="r" b="b" t="t" l="l"/>
              <a:pathLst>
                <a:path h="7884160" w="13195300">
                  <a:moveTo>
                    <a:pt x="0" y="0"/>
                  </a:moveTo>
                  <a:lnTo>
                    <a:pt x="13195300" y="0"/>
                  </a:lnTo>
                  <a:lnTo>
                    <a:pt x="13195300" y="7884160"/>
                  </a:lnTo>
                  <a:lnTo>
                    <a:pt x="0" y="7884160"/>
                  </a:lnTo>
                  <a:lnTo>
                    <a:pt x="0" y="0"/>
                  </a:lnTo>
                  <a:close/>
                </a:path>
              </a:pathLst>
            </a:custGeom>
            <a:blipFill>
              <a:blip r:embed="rId3"/>
              <a:stretch>
                <a:fillRect l="-23" t="0" r="-23" b="0"/>
              </a:stretch>
            </a:blipFill>
          </p:spPr>
        </p:sp>
      </p:grpSp>
      <p:grpSp>
        <p:nvGrpSpPr>
          <p:cNvPr name="Group 4" id="4"/>
          <p:cNvGrpSpPr/>
          <p:nvPr/>
        </p:nvGrpSpPr>
        <p:grpSpPr>
          <a:xfrm rot="0">
            <a:off x="3493370" y="-625307"/>
            <a:ext cx="11301260" cy="5127946"/>
            <a:chOff x="0" y="0"/>
            <a:chExt cx="15068347" cy="6837261"/>
          </a:xfrm>
        </p:grpSpPr>
        <p:sp>
          <p:nvSpPr>
            <p:cNvPr name="Freeform 5" id="5"/>
            <p:cNvSpPr/>
            <p:nvPr/>
          </p:nvSpPr>
          <p:spPr>
            <a:xfrm flipH="false" flipV="false" rot="0">
              <a:off x="0" y="0"/>
              <a:ext cx="15068296" cy="6837299"/>
            </a:xfrm>
            <a:custGeom>
              <a:avLst/>
              <a:gdLst/>
              <a:ahLst/>
              <a:cxnLst/>
              <a:rect r="r" b="b" t="t" l="l"/>
              <a:pathLst>
                <a:path h="6837299" w="15068296">
                  <a:moveTo>
                    <a:pt x="0" y="0"/>
                  </a:moveTo>
                  <a:lnTo>
                    <a:pt x="15068296" y="0"/>
                  </a:lnTo>
                  <a:lnTo>
                    <a:pt x="15068296" y="6837299"/>
                  </a:lnTo>
                  <a:lnTo>
                    <a:pt x="0" y="6837299"/>
                  </a:lnTo>
                  <a:lnTo>
                    <a:pt x="0" y="0"/>
                  </a:lnTo>
                  <a:close/>
                </a:path>
              </a:pathLst>
            </a:custGeom>
            <a:blipFill>
              <a:blip r:embed="rId4"/>
              <a:stretch>
                <a:fillRect l="-22" t="0" r="-23" b="0"/>
              </a:stretch>
            </a:blipFill>
          </p:spPr>
        </p:sp>
      </p:grpSp>
      <p:grpSp>
        <p:nvGrpSpPr>
          <p:cNvPr name="Group 6" id="6"/>
          <p:cNvGrpSpPr/>
          <p:nvPr/>
        </p:nvGrpSpPr>
        <p:grpSpPr>
          <a:xfrm rot="0">
            <a:off x="4875924" y="4090226"/>
            <a:ext cx="678190" cy="824817"/>
            <a:chOff x="0" y="0"/>
            <a:chExt cx="904253" cy="1099756"/>
          </a:xfrm>
        </p:grpSpPr>
        <p:sp>
          <p:nvSpPr>
            <p:cNvPr name="Freeform 7" id="7"/>
            <p:cNvSpPr/>
            <p:nvPr/>
          </p:nvSpPr>
          <p:spPr>
            <a:xfrm flipH="false" flipV="false" rot="0">
              <a:off x="0" y="0"/>
              <a:ext cx="904240" cy="1099820"/>
            </a:xfrm>
            <a:custGeom>
              <a:avLst/>
              <a:gdLst/>
              <a:ahLst/>
              <a:cxnLst/>
              <a:rect r="r" b="b" t="t" l="l"/>
              <a:pathLst>
                <a:path h="1099820" w="904240">
                  <a:moveTo>
                    <a:pt x="0" y="0"/>
                  </a:moveTo>
                  <a:lnTo>
                    <a:pt x="904240" y="0"/>
                  </a:lnTo>
                  <a:lnTo>
                    <a:pt x="904240" y="1099820"/>
                  </a:lnTo>
                  <a:lnTo>
                    <a:pt x="0" y="1099820"/>
                  </a:lnTo>
                  <a:lnTo>
                    <a:pt x="0" y="0"/>
                  </a:lnTo>
                  <a:close/>
                </a:path>
              </a:pathLst>
            </a:custGeom>
            <a:blipFill>
              <a:blip r:embed="rId5"/>
              <a:stretch>
                <a:fillRect l="0" t="0" r="-1" b="5"/>
              </a:stretch>
            </a:blipFill>
          </p:spPr>
        </p:sp>
      </p:grpSp>
      <p:sp>
        <p:nvSpPr>
          <p:cNvPr name="TextBox 8" id="8"/>
          <p:cNvSpPr txBox="true"/>
          <p:nvPr/>
        </p:nvSpPr>
        <p:spPr>
          <a:xfrm rot="0">
            <a:off x="5215014" y="4175760"/>
            <a:ext cx="7547279" cy="607887"/>
          </a:xfrm>
          <a:prstGeom prst="rect">
            <a:avLst/>
          </a:prstGeom>
        </p:spPr>
        <p:txBody>
          <a:bodyPr anchor="t" rtlCol="false" tIns="0" lIns="0" bIns="0" rIns="0">
            <a:spAutoFit/>
          </a:bodyPr>
          <a:lstStyle/>
          <a:p>
            <a:pPr algn="ctr">
              <a:lnSpc>
                <a:spcPts val="5038"/>
              </a:lnSpc>
            </a:pPr>
            <a:r>
              <a:rPr lang="en-US" b="true" sz="3000">
                <a:solidFill>
                  <a:srgbClr val="000000"/>
                </a:solidFill>
                <a:latin typeface="Arial Bold"/>
                <a:ea typeface="Arial Bold"/>
                <a:cs typeface="Arial Bold"/>
                <a:sym typeface="Arial Bold"/>
              </a:rPr>
              <a:t>Introducción a</a:t>
            </a:r>
            <a:r>
              <a:rPr lang="en-US" b="true" sz="3000">
                <a:solidFill>
                  <a:srgbClr val="000000"/>
                </a:solidFill>
                <a:latin typeface="Arial Bold"/>
                <a:ea typeface="Arial Bold"/>
                <a:cs typeface="Arial Bold"/>
                <a:sym typeface="Arial Bold"/>
              </a:rPr>
              <a:t> estructura de datos</a:t>
            </a:r>
          </a:p>
        </p:txBody>
      </p:sp>
      <p:grpSp>
        <p:nvGrpSpPr>
          <p:cNvPr name="Group 9" id="9"/>
          <p:cNvGrpSpPr/>
          <p:nvPr/>
        </p:nvGrpSpPr>
        <p:grpSpPr>
          <a:xfrm rot="0">
            <a:off x="4875924" y="5143500"/>
            <a:ext cx="678190" cy="824817"/>
            <a:chOff x="0" y="0"/>
            <a:chExt cx="904253" cy="1099756"/>
          </a:xfrm>
        </p:grpSpPr>
        <p:sp>
          <p:nvSpPr>
            <p:cNvPr name="Freeform 10" id="10"/>
            <p:cNvSpPr/>
            <p:nvPr/>
          </p:nvSpPr>
          <p:spPr>
            <a:xfrm flipH="false" flipV="false" rot="0">
              <a:off x="0" y="0"/>
              <a:ext cx="904240" cy="1099820"/>
            </a:xfrm>
            <a:custGeom>
              <a:avLst/>
              <a:gdLst/>
              <a:ahLst/>
              <a:cxnLst/>
              <a:rect r="r" b="b" t="t" l="l"/>
              <a:pathLst>
                <a:path h="1099820" w="904240">
                  <a:moveTo>
                    <a:pt x="0" y="0"/>
                  </a:moveTo>
                  <a:lnTo>
                    <a:pt x="904240" y="0"/>
                  </a:lnTo>
                  <a:lnTo>
                    <a:pt x="904240" y="1099820"/>
                  </a:lnTo>
                  <a:lnTo>
                    <a:pt x="0" y="1099820"/>
                  </a:lnTo>
                  <a:lnTo>
                    <a:pt x="0" y="0"/>
                  </a:lnTo>
                  <a:close/>
                </a:path>
              </a:pathLst>
            </a:custGeom>
            <a:blipFill>
              <a:blip r:embed="rId5"/>
              <a:stretch>
                <a:fillRect l="0" t="0" r="-1" b="5"/>
              </a:stretch>
            </a:blipFill>
          </p:spPr>
        </p:sp>
      </p:grpSp>
      <p:sp>
        <p:nvSpPr>
          <p:cNvPr name="TextBox 11" id="11"/>
          <p:cNvSpPr txBox="true"/>
          <p:nvPr/>
        </p:nvSpPr>
        <p:spPr>
          <a:xfrm rot="0">
            <a:off x="5215014" y="5227158"/>
            <a:ext cx="4942681" cy="607886"/>
          </a:xfrm>
          <a:prstGeom prst="rect">
            <a:avLst/>
          </a:prstGeom>
        </p:spPr>
        <p:txBody>
          <a:bodyPr anchor="t" rtlCol="false" tIns="0" lIns="0" bIns="0" rIns="0">
            <a:spAutoFit/>
          </a:bodyPr>
          <a:lstStyle/>
          <a:p>
            <a:pPr algn="ctr" marL="0" indent="0" lvl="0">
              <a:lnSpc>
                <a:spcPts val="5038"/>
              </a:lnSpc>
              <a:spcBef>
                <a:spcPct val="0"/>
              </a:spcBef>
            </a:pPr>
            <a:r>
              <a:rPr lang="en-US" b="true" sz="3000" strike="noStrike" u="none">
                <a:solidFill>
                  <a:srgbClr val="000000"/>
                </a:solidFill>
                <a:latin typeface="Arial Bold"/>
                <a:ea typeface="Arial Bold"/>
                <a:cs typeface="Arial Bold"/>
                <a:sym typeface="Arial Bold"/>
              </a:rPr>
              <a:t>Listas nativas en C#</a:t>
            </a:r>
          </a:p>
        </p:txBody>
      </p:sp>
      <p:grpSp>
        <p:nvGrpSpPr>
          <p:cNvPr name="Group 12" id="12"/>
          <p:cNvGrpSpPr/>
          <p:nvPr/>
        </p:nvGrpSpPr>
        <p:grpSpPr>
          <a:xfrm rot="0">
            <a:off x="4875924" y="6194898"/>
            <a:ext cx="678190" cy="824817"/>
            <a:chOff x="0" y="0"/>
            <a:chExt cx="904253" cy="1099756"/>
          </a:xfrm>
        </p:grpSpPr>
        <p:sp>
          <p:nvSpPr>
            <p:cNvPr name="Freeform 13" id="13"/>
            <p:cNvSpPr/>
            <p:nvPr/>
          </p:nvSpPr>
          <p:spPr>
            <a:xfrm flipH="false" flipV="false" rot="0">
              <a:off x="0" y="0"/>
              <a:ext cx="904240" cy="1099820"/>
            </a:xfrm>
            <a:custGeom>
              <a:avLst/>
              <a:gdLst/>
              <a:ahLst/>
              <a:cxnLst/>
              <a:rect r="r" b="b" t="t" l="l"/>
              <a:pathLst>
                <a:path h="1099820" w="904240">
                  <a:moveTo>
                    <a:pt x="0" y="0"/>
                  </a:moveTo>
                  <a:lnTo>
                    <a:pt x="904240" y="0"/>
                  </a:lnTo>
                  <a:lnTo>
                    <a:pt x="904240" y="1099820"/>
                  </a:lnTo>
                  <a:lnTo>
                    <a:pt x="0" y="1099820"/>
                  </a:lnTo>
                  <a:lnTo>
                    <a:pt x="0" y="0"/>
                  </a:lnTo>
                  <a:close/>
                </a:path>
              </a:pathLst>
            </a:custGeom>
            <a:blipFill>
              <a:blip r:embed="rId5"/>
              <a:stretch>
                <a:fillRect l="0" t="0" r="-1" b="5"/>
              </a:stretch>
            </a:blipFill>
          </p:spPr>
        </p:sp>
      </p:grpSp>
      <p:grpSp>
        <p:nvGrpSpPr>
          <p:cNvPr name="Group 14" id="14"/>
          <p:cNvGrpSpPr/>
          <p:nvPr/>
        </p:nvGrpSpPr>
        <p:grpSpPr>
          <a:xfrm rot="0">
            <a:off x="4875924" y="7248315"/>
            <a:ext cx="678190" cy="824817"/>
            <a:chOff x="0" y="0"/>
            <a:chExt cx="904253" cy="1099756"/>
          </a:xfrm>
        </p:grpSpPr>
        <p:sp>
          <p:nvSpPr>
            <p:cNvPr name="Freeform 15" id="15"/>
            <p:cNvSpPr/>
            <p:nvPr/>
          </p:nvSpPr>
          <p:spPr>
            <a:xfrm flipH="false" flipV="false" rot="0">
              <a:off x="0" y="0"/>
              <a:ext cx="904240" cy="1099820"/>
            </a:xfrm>
            <a:custGeom>
              <a:avLst/>
              <a:gdLst/>
              <a:ahLst/>
              <a:cxnLst/>
              <a:rect r="r" b="b" t="t" l="l"/>
              <a:pathLst>
                <a:path h="1099820" w="904240">
                  <a:moveTo>
                    <a:pt x="0" y="0"/>
                  </a:moveTo>
                  <a:lnTo>
                    <a:pt x="904240" y="0"/>
                  </a:lnTo>
                  <a:lnTo>
                    <a:pt x="904240" y="1099820"/>
                  </a:lnTo>
                  <a:lnTo>
                    <a:pt x="0" y="1099820"/>
                  </a:lnTo>
                  <a:lnTo>
                    <a:pt x="0" y="0"/>
                  </a:lnTo>
                  <a:close/>
                </a:path>
              </a:pathLst>
            </a:custGeom>
            <a:blipFill>
              <a:blip r:embed="rId5"/>
              <a:stretch>
                <a:fillRect l="0" t="0" r="-1" b="5"/>
              </a:stretch>
            </a:blipFill>
          </p:spPr>
        </p:sp>
      </p:grpSp>
      <p:grpSp>
        <p:nvGrpSpPr>
          <p:cNvPr name="Group 16" id="16"/>
          <p:cNvGrpSpPr/>
          <p:nvPr/>
        </p:nvGrpSpPr>
        <p:grpSpPr>
          <a:xfrm rot="0">
            <a:off x="4875924" y="8301733"/>
            <a:ext cx="678190" cy="824817"/>
            <a:chOff x="0" y="0"/>
            <a:chExt cx="904253" cy="1099756"/>
          </a:xfrm>
        </p:grpSpPr>
        <p:sp>
          <p:nvSpPr>
            <p:cNvPr name="Freeform 17" id="17"/>
            <p:cNvSpPr/>
            <p:nvPr/>
          </p:nvSpPr>
          <p:spPr>
            <a:xfrm flipH="false" flipV="false" rot="0">
              <a:off x="0" y="0"/>
              <a:ext cx="904240" cy="1099820"/>
            </a:xfrm>
            <a:custGeom>
              <a:avLst/>
              <a:gdLst/>
              <a:ahLst/>
              <a:cxnLst/>
              <a:rect r="r" b="b" t="t" l="l"/>
              <a:pathLst>
                <a:path h="1099820" w="904240">
                  <a:moveTo>
                    <a:pt x="0" y="0"/>
                  </a:moveTo>
                  <a:lnTo>
                    <a:pt x="904240" y="0"/>
                  </a:lnTo>
                  <a:lnTo>
                    <a:pt x="904240" y="1099820"/>
                  </a:lnTo>
                  <a:lnTo>
                    <a:pt x="0" y="1099820"/>
                  </a:lnTo>
                  <a:lnTo>
                    <a:pt x="0" y="0"/>
                  </a:lnTo>
                  <a:close/>
                </a:path>
              </a:pathLst>
            </a:custGeom>
            <a:blipFill>
              <a:blip r:embed="rId5"/>
              <a:stretch>
                <a:fillRect l="0" t="0" r="-1" b="5"/>
              </a:stretch>
            </a:blipFill>
          </p:spPr>
        </p:sp>
      </p:grpSp>
      <p:sp>
        <p:nvSpPr>
          <p:cNvPr name="TextBox 18" id="18"/>
          <p:cNvSpPr txBox="true"/>
          <p:nvPr/>
        </p:nvSpPr>
        <p:spPr>
          <a:xfrm rot="0">
            <a:off x="5215014" y="6232998"/>
            <a:ext cx="2732055" cy="607886"/>
          </a:xfrm>
          <a:prstGeom prst="rect">
            <a:avLst/>
          </a:prstGeom>
        </p:spPr>
        <p:txBody>
          <a:bodyPr anchor="t" rtlCol="false" tIns="0" lIns="0" bIns="0" rIns="0">
            <a:spAutoFit/>
          </a:bodyPr>
          <a:lstStyle/>
          <a:p>
            <a:pPr algn="ctr" marL="0" indent="0" lvl="0">
              <a:lnSpc>
                <a:spcPts val="5038"/>
              </a:lnSpc>
              <a:spcBef>
                <a:spcPct val="0"/>
              </a:spcBef>
            </a:pPr>
            <a:r>
              <a:rPr lang="en-US" b="true" sz="3000" strike="noStrike" u="none">
                <a:solidFill>
                  <a:srgbClr val="000000"/>
                </a:solidFill>
                <a:latin typeface="Arial Bold"/>
                <a:ea typeface="Arial Bold"/>
                <a:cs typeface="Arial Bold"/>
                <a:sym typeface="Arial Bold"/>
              </a:rPr>
              <a:t>Ficheros</a:t>
            </a:r>
          </a:p>
        </p:txBody>
      </p:sp>
      <p:sp>
        <p:nvSpPr>
          <p:cNvPr name="TextBox 19" id="19"/>
          <p:cNvSpPr txBox="true"/>
          <p:nvPr/>
        </p:nvSpPr>
        <p:spPr>
          <a:xfrm rot="0">
            <a:off x="5215014" y="7238838"/>
            <a:ext cx="4942681" cy="607886"/>
          </a:xfrm>
          <a:prstGeom prst="rect">
            <a:avLst/>
          </a:prstGeom>
        </p:spPr>
        <p:txBody>
          <a:bodyPr anchor="t" rtlCol="false" tIns="0" lIns="0" bIns="0" rIns="0">
            <a:spAutoFit/>
          </a:bodyPr>
          <a:lstStyle/>
          <a:p>
            <a:pPr algn="ctr" marL="0" indent="0" lvl="0">
              <a:lnSpc>
                <a:spcPts val="5038"/>
              </a:lnSpc>
              <a:spcBef>
                <a:spcPct val="0"/>
              </a:spcBef>
            </a:pPr>
            <a:r>
              <a:rPr lang="en-US" b="true" sz="3000" strike="noStrike" u="none">
                <a:solidFill>
                  <a:srgbClr val="000000"/>
                </a:solidFill>
                <a:latin typeface="Arial Bold"/>
                <a:ea typeface="Arial Bold"/>
                <a:cs typeface="Arial Bold"/>
                <a:sym typeface="Arial Bold"/>
              </a:rPr>
              <a:t>Diccionarios, Tuplas</a:t>
            </a:r>
          </a:p>
        </p:txBody>
      </p:sp>
      <p:sp>
        <p:nvSpPr>
          <p:cNvPr name="TextBox 20" id="20"/>
          <p:cNvSpPr txBox="true"/>
          <p:nvPr/>
        </p:nvSpPr>
        <p:spPr>
          <a:xfrm rot="0">
            <a:off x="5215014" y="8292303"/>
            <a:ext cx="5183442" cy="607886"/>
          </a:xfrm>
          <a:prstGeom prst="rect">
            <a:avLst/>
          </a:prstGeom>
        </p:spPr>
        <p:txBody>
          <a:bodyPr anchor="t" rtlCol="false" tIns="0" lIns="0" bIns="0" rIns="0">
            <a:spAutoFit/>
          </a:bodyPr>
          <a:lstStyle/>
          <a:p>
            <a:pPr algn="ctr" marL="0" indent="0" lvl="0">
              <a:lnSpc>
                <a:spcPts val="5038"/>
              </a:lnSpc>
              <a:spcBef>
                <a:spcPct val="0"/>
              </a:spcBef>
            </a:pPr>
            <a:r>
              <a:rPr lang="en-US" b="true" sz="3000" strike="noStrike" u="none">
                <a:solidFill>
                  <a:srgbClr val="000000"/>
                </a:solidFill>
                <a:latin typeface="Arial Bold"/>
                <a:ea typeface="Arial Bold"/>
                <a:cs typeface="Arial Bold"/>
                <a:sym typeface="Arial Bold"/>
              </a:rPr>
              <a:t>Expresiones regulares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447020"/>
            <a:chOff x="0" y="0"/>
            <a:chExt cx="24384000" cy="13929360"/>
          </a:xfrm>
        </p:grpSpPr>
        <p:sp>
          <p:nvSpPr>
            <p:cNvPr name="Freeform 3" id="3"/>
            <p:cNvSpPr/>
            <p:nvPr/>
          </p:nvSpPr>
          <p:spPr>
            <a:xfrm flipH="false" flipV="false" rot="0">
              <a:off x="0" y="0"/>
              <a:ext cx="24384000" cy="13929361"/>
            </a:xfrm>
            <a:custGeom>
              <a:avLst/>
              <a:gdLst/>
              <a:ahLst/>
              <a:cxnLst/>
              <a:rect r="r" b="b" t="t" l="l"/>
              <a:pathLst>
                <a:path h="13929361" w="24384000">
                  <a:moveTo>
                    <a:pt x="0" y="0"/>
                  </a:moveTo>
                  <a:lnTo>
                    <a:pt x="24384000" y="0"/>
                  </a:lnTo>
                  <a:lnTo>
                    <a:pt x="24384000" y="13929361"/>
                  </a:lnTo>
                  <a:lnTo>
                    <a:pt x="0" y="13929361"/>
                  </a:lnTo>
                  <a:lnTo>
                    <a:pt x="0" y="0"/>
                  </a:lnTo>
                  <a:close/>
                </a:path>
              </a:pathLst>
            </a:custGeom>
            <a:blipFill>
              <a:blip r:embed="rId3"/>
              <a:stretch>
                <a:fillRect l="0" t="-31" r="0" b="-31"/>
              </a:stretch>
            </a:blipFill>
          </p:spPr>
        </p:sp>
      </p:grpSp>
      <p:grpSp>
        <p:nvGrpSpPr>
          <p:cNvPr name="Group 4" id="4"/>
          <p:cNvGrpSpPr/>
          <p:nvPr/>
        </p:nvGrpSpPr>
        <p:grpSpPr>
          <a:xfrm rot="0">
            <a:off x="2888409" y="2581780"/>
            <a:ext cx="12511183" cy="3424933"/>
            <a:chOff x="0" y="0"/>
            <a:chExt cx="16681577" cy="4566577"/>
          </a:xfrm>
        </p:grpSpPr>
        <p:sp>
          <p:nvSpPr>
            <p:cNvPr name="Freeform 5" id="5"/>
            <p:cNvSpPr/>
            <p:nvPr/>
          </p:nvSpPr>
          <p:spPr>
            <a:xfrm flipH="false" flipV="false" rot="0">
              <a:off x="0" y="0"/>
              <a:ext cx="16681577" cy="4566539"/>
            </a:xfrm>
            <a:custGeom>
              <a:avLst/>
              <a:gdLst/>
              <a:ahLst/>
              <a:cxnLst/>
              <a:rect r="r" b="b" t="t" l="l"/>
              <a:pathLst>
                <a:path h="4566539" w="16681577">
                  <a:moveTo>
                    <a:pt x="0" y="0"/>
                  </a:moveTo>
                  <a:lnTo>
                    <a:pt x="16681577" y="0"/>
                  </a:lnTo>
                  <a:lnTo>
                    <a:pt x="16681577" y="4566539"/>
                  </a:lnTo>
                  <a:lnTo>
                    <a:pt x="0" y="4566539"/>
                  </a:lnTo>
                  <a:lnTo>
                    <a:pt x="0" y="0"/>
                  </a:lnTo>
                  <a:close/>
                </a:path>
              </a:pathLst>
            </a:custGeom>
            <a:blipFill>
              <a:blip r:embed="rId4"/>
              <a:stretch>
                <a:fillRect l="0" t="-60" r="0" b="-60"/>
              </a:stretch>
            </a:blipFill>
          </p:spPr>
        </p:sp>
      </p:grpSp>
      <p:sp>
        <p:nvSpPr>
          <p:cNvPr name="TextBox 6" id="6"/>
          <p:cNvSpPr txBox="true"/>
          <p:nvPr/>
        </p:nvSpPr>
        <p:spPr>
          <a:xfrm rot="0">
            <a:off x="5048853" y="2637861"/>
            <a:ext cx="9924027" cy="3160370"/>
          </a:xfrm>
          <a:prstGeom prst="rect">
            <a:avLst/>
          </a:prstGeom>
        </p:spPr>
        <p:txBody>
          <a:bodyPr anchor="t" rtlCol="false" tIns="0" lIns="0" bIns="0" rIns="0">
            <a:spAutoFit/>
          </a:bodyPr>
          <a:lstStyle/>
          <a:p>
            <a:pPr algn="just">
              <a:lnSpc>
                <a:spcPts val="5040"/>
              </a:lnSpc>
            </a:pPr>
            <a:r>
              <a:rPr lang="en-US" b="true" sz="2999">
                <a:solidFill>
                  <a:srgbClr val="000000"/>
                </a:solidFill>
                <a:latin typeface="Arial Bold"/>
                <a:ea typeface="Arial Bold"/>
                <a:cs typeface="Arial Bold"/>
                <a:sym typeface="Arial Bold"/>
              </a:rPr>
              <a:t>Crea estructuras de datos dinámicas (listas e</a:t>
            </a:r>
            <a:r>
              <a:rPr lang="en-US" b="true" sz="2999">
                <a:solidFill>
                  <a:srgbClr val="000000"/>
                </a:solidFill>
                <a:latin typeface="Arial Bold"/>
                <a:ea typeface="Arial Bold"/>
                <a:cs typeface="Arial Bold"/>
                <a:sym typeface="Arial Bold"/>
              </a:rPr>
              <a:t>nlazadas, doblemente enlazadas y circulares) mediante POO en C# e integrado datos desde archivos XML para implementar sistemas de gestión de datos eficientes que manejen relaciones complejas.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616569" y="654272"/>
            <a:ext cx="7054853" cy="1553928"/>
            <a:chOff x="0" y="0"/>
            <a:chExt cx="9406471" cy="2071903"/>
          </a:xfrm>
        </p:grpSpPr>
        <p:sp>
          <p:nvSpPr>
            <p:cNvPr name="Freeform 3" id="3"/>
            <p:cNvSpPr/>
            <p:nvPr/>
          </p:nvSpPr>
          <p:spPr>
            <a:xfrm flipH="false" flipV="false" rot="0">
              <a:off x="0" y="0"/>
              <a:ext cx="9406509" cy="2071878"/>
            </a:xfrm>
            <a:custGeom>
              <a:avLst/>
              <a:gdLst/>
              <a:ahLst/>
              <a:cxnLst/>
              <a:rect r="r" b="b" t="t" l="l"/>
              <a:pathLst>
                <a:path h="2071878" w="9406509">
                  <a:moveTo>
                    <a:pt x="0" y="0"/>
                  </a:moveTo>
                  <a:lnTo>
                    <a:pt x="9406509" y="0"/>
                  </a:lnTo>
                  <a:lnTo>
                    <a:pt x="9406509" y="2071878"/>
                  </a:lnTo>
                  <a:lnTo>
                    <a:pt x="0" y="2071878"/>
                  </a:lnTo>
                  <a:lnTo>
                    <a:pt x="0" y="0"/>
                  </a:lnTo>
                  <a:close/>
                </a:path>
              </a:pathLst>
            </a:custGeom>
            <a:blipFill>
              <a:blip r:embed="rId3"/>
              <a:stretch>
                <a:fillRect l="-30194" t="0" r="-30193" b="-1"/>
              </a:stretch>
            </a:blipFill>
          </p:spPr>
        </p:sp>
      </p:grpSp>
      <p:sp>
        <p:nvSpPr>
          <p:cNvPr name="TextBox 4" id="4"/>
          <p:cNvSpPr txBox="true"/>
          <p:nvPr/>
        </p:nvSpPr>
        <p:spPr>
          <a:xfrm rot="0">
            <a:off x="1560751" y="2848926"/>
            <a:ext cx="15166498" cy="4436747"/>
          </a:xfrm>
          <a:prstGeom prst="rect">
            <a:avLst/>
          </a:prstGeom>
        </p:spPr>
        <p:txBody>
          <a:bodyPr anchor="t" rtlCol="false" tIns="0" lIns="0" bIns="0" rIns="0">
            <a:spAutoFit/>
          </a:bodyPr>
          <a:lstStyle/>
          <a:p>
            <a:pPr algn="just">
              <a:lnSpc>
                <a:spcPts val="5039"/>
              </a:lnSpc>
            </a:pPr>
            <a:r>
              <a:rPr lang="en-US" b="true" sz="2999">
                <a:solidFill>
                  <a:srgbClr val="000000"/>
                </a:solidFill>
                <a:latin typeface="Arial Bold"/>
                <a:ea typeface="Arial Bold"/>
                <a:cs typeface="Arial Bold"/>
                <a:sym typeface="Arial Bold"/>
              </a:rPr>
              <a:t>INTEGRIDAD</a:t>
            </a:r>
            <a:r>
              <a:rPr lang="en-US" sz="2999">
                <a:solidFill>
                  <a:srgbClr val="000000"/>
                </a:solidFill>
                <a:latin typeface="Arial"/>
                <a:ea typeface="Arial"/>
                <a:cs typeface="Arial"/>
                <a:sym typeface="Arial"/>
              </a:rPr>
              <a:t> </a:t>
            </a:r>
          </a:p>
          <a:p>
            <a:pPr algn="just">
              <a:lnSpc>
                <a:spcPts val="5039"/>
              </a:lnSpc>
            </a:pPr>
          </a:p>
          <a:p>
            <a:pPr algn="just">
              <a:lnSpc>
                <a:spcPts val="5039"/>
              </a:lnSpc>
            </a:pPr>
            <a:r>
              <a:rPr lang="en-US" sz="2999">
                <a:solidFill>
                  <a:srgbClr val="000000"/>
                </a:solidFill>
                <a:latin typeface="Arial"/>
                <a:ea typeface="Arial"/>
                <a:cs typeface="Arial"/>
                <a:sym typeface="Arial"/>
              </a:rPr>
              <a:t>L</a:t>
            </a:r>
            <a:r>
              <a:rPr lang="en-US" sz="2999">
                <a:solidFill>
                  <a:srgbClr val="000000"/>
                </a:solidFill>
                <a:latin typeface="Arial"/>
                <a:ea typeface="Arial"/>
                <a:cs typeface="Arial"/>
                <a:sym typeface="Arial"/>
              </a:rPr>
              <a:t>a integridad se aplica cuando los ingenieros actúan con honestidad, asegurando que sus sistemas sean seguros y confiables. Evitan comprometer la calidad por presiones externas o atajos.</a:t>
            </a:r>
          </a:p>
          <a:p>
            <a:pPr algn="just">
              <a:lnSpc>
                <a:spcPts val="5039"/>
              </a:lnSpc>
            </a:pPr>
            <a:r>
              <a:rPr lang="en-US" sz="2999">
                <a:solidFill>
                  <a:srgbClr val="000000"/>
                </a:solidFill>
                <a:latin typeface="Arial"/>
                <a:ea typeface="Arial"/>
                <a:cs typeface="Arial"/>
                <a:sym typeface="Arial"/>
              </a:rPr>
              <a:t>                                                                                                                                                                                                       "La integridad es hacer lo correcto, incluso cuando nadie está mirando." – C.S. Lewis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91365" y="3454430"/>
            <a:ext cx="6959650" cy="186977"/>
          </a:xfrm>
          <a:custGeom>
            <a:avLst/>
            <a:gdLst/>
            <a:ahLst/>
            <a:cxnLst/>
            <a:rect r="r" b="b" t="t" l="l"/>
            <a:pathLst>
              <a:path h="186977" w="6959650">
                <a:moveTo>
                  <a:pt x="0" y="0"/>
                </a:moveTo>
                <a:lnTo>
                  <a:pt x="6959649" y="0"/>
                </a:lnTo>
                <a:lnTo>
                  <a:pt x="6959649" y="186977"/>
                </a:lnTo>
                <a:lnTo>
                  <a:pt x="0" y="1869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836986" y="3454430"/>
            <a:ext cx="6959650" cy="186977"/>
          </a:xfrm>
          <a:custGeom>
            <a:avLst/>
            <a:gdLst/>
            <a:ahLst/>
            <a:cxnLst/>
            <a:rect r="r" b="b" t="t" l="l"/>
            <a:pathLst>
              <a:path h="186977" w="6959650">
                <a:moveTo>
                  <a:pt x="0" y="0"/>
                </a:moveTo>
                <a:lnTo>
                  <a:pt x="6959649" y="0"/>
                </a:lnTo>
                <a:lnTo>
                  <a:pt x="6959649" y="186977"/>
                </a:lnTo>
                <a:lnTo>
                  <a:pt x="0" y="1869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871203" y="6375533"/>
            <a:ext cx="4518790" cy="3412014"/>
          </a:xfrm>
          <a:custGeom>
            <a:avLst/>
            <a:gdLst/>
            <a:ahLst/>
            <a:cxnLst/>
            <a:rect r="r" b="b" t="t" l="l"/>
            <a:pathLst>
              <a:path h="3412014" w="4518790">
                <a:moveTo>
                  <a:pt x="0" y="0"/>
                </a:moveTo>
                <a:lnTo>
                  <a:pt x="4518790" y="0"/>
                </a:lnTo>
                <a:lnTo>
                  <a:pt x="4518790" y="3412014"/>
                </a:lnTo>
                <a:lnTo>
                  <a:pt x="0" y="3412014"/>
                </a:lnTo>
                <a:lnTo>
                  <a:pt x="0" y="0"/>
                </a:lnTo>
                <a:close/>
              </a:path>
            </a:pathLst>
          </a:custGeom>
          <a:blipFill>
            <a:blip r:embed="rId5"/>
            <a:stretch>
              <a:fillRect l="0" t="-63004" r="0" b="-2542"/>
            </a:stretch>
          </a:blipFill>
        </p:spPr>
      </p:sp>
      <p:sp>
        <p:nvSpPr>
          <p:cNvPr name="TextBox 5" id="5"/>
          <p:cNvSpPr txBox="true"/>
          <p:nvPr/>
        </p:nvSpPr>
        <p:spPr>
          <a:xfrm rot="0">
            <a:off x="1028700" y="752475"/>
            <a:ext cx="16230600" cy="1151381"/>
          </a:xfrm>
          <a:prstGeom prst="rect">
            <a:avLst/>
          </a:prstGeom>
        </p:spPr>
        <p:txBody>
          <a:bodyPr anchor="t" rtlCol="false" tIns="0" lIns="0" bIns="0" rIns="0">
            <a:spAutoFit/>
          </a:bodyPr>
          <a:lstStyle/>
          <a:p>
            <a:pPr algn="ctr">
              <a:lnSpc>
                <a:spcPts val="9744"/>
              </a:lnSpc>
            </a:pPr>
            <a:r>
              <a:rPr lang="en-US" b="true" sz="5800">
                <a:solidFill>
                  <a:srgbClr val="000000"/>
                </a:solidFill>
                <a:latin typeface="Open Sans Bold"/>
                <a:ea typeface="Open Sans Bold"/>
                <a:cs typeface="Open Sans Bold"/>
                <a:sym typeface="Open Sans Bold"/>
              </a:rPr>
              <a:t>INTRODUCCIÓN DE ESTRUCTURAS DE DATOS</a:t>
            </a:r>
          </a:p>
        </p:txBody>
      </p:sp>
      <p:sp>
        <p:nvSpPr>
          <p:cNvPr name="TextBox 6" id="6"/>
          <p:cNvSpPr txBox="true"/>
          <p:nvPr/>
        </p:nvSpPr>
        <p:spPr>
          <a:xfrm rot="0">
            <a:off x="1491365" y="3627174"/>
            <a:ext cx="6959650" cy="3141328"/>
          </a:xfrm>
          <a:prstGeom prst="rect">
            <a:avLst/>
          </a:prstGeom>
        </p:spPr>
        <p:txBody>
          <a:bodyPr anchor="t" rtlCol="false" tIns="0" lIns="0" bIns="0" rIns="0">
            <a:spAutoFit/>
          </a:bodyPr>
          <a:lstStyle/>
          <a:p>
            <a:pPr algn="just">
              <a:lnSpc>
                <a:spcPts val="5038"/>
              </a:lnSpc>
            </a:pPr>
            <a:r>
              <a:rPr lang="en-US" sz="2999">
                <a:solidFill>
                  <a:srgbClr val="000000"/>
                </a:solidFill>
                <a:latin typeface="Open Sans"/>
                <a:ea typeface="Open Sans"/>
                <a:cs typeface="Open Sans"/>
                <a:sym typeface="Open Sans"/>
              </a:rPr>
              <a:t>So</a:t>
            </a:r>
            <a:r>
              <a:rPr lang="en-US" sz="2999">
                <a:solidFill>
                  <a:srgbClr val="000000"/>
                </a:solidFill>
                <a:latin typeface="Open Sans"/>
                <a:ea typeface="Open Sans"/>
                <a:cs typeface="Open Sans"/>
                <a:sym typeface="Open Sans"/>
              </a:rPr>
              <a:t>n aquellas en las que el tamaño ocupado en memoria se define antes de que el programa se ejecute y no puede modificarse dicho tamaño durante la ejecución del programa.</a:t>
            </a:r>
          </a:p>
        </p:txBody>
      </p:sp>
      <p:sp>
        <p:nvSpPr>
          <p:cNvPr name="TextBox 7" id="7"/>
          <p:cNvSpPr txBox="true"/>
          <p:nvPr/>
        </p:nvSpPr>
        <p:spPr>
          <a:xfrm rot="0">
            <a:off x="1491365" y="2037491"/>
            <a:ext cx="4331791" cy="1293114"/>
          </a:xfrm>
          <a:prstGeom prst="rect">
            <a:avLst/>
          </a:prstGeom>
        </p:spPr>
        <p:txBody>
          <a:bodyPr anchor="t" rtlCol="false" tIns="0" lIns="0" bIns="0" rIns="0">
            <a:spAutoFit/>
          </a:bodyPr>
          <a:lstStyle/>
          <a:p>
            <a:pPr algn="l">
              <a:lnSpc>
                <a:spcPts val="11088"/>
              </a:lnSpc>
            </a:pPr>
            <a:r>
              <a:rPr lang="en-US" b="true" sz="6600">
                <a:solidFill>
                  <a:srgbClr val="000000"/>
                </a:solidFill>
                <a:latin typeface="Open Sans Bold"/>
                <a:ea typeface="Open Sans Bold"/>
                <a:cs typeface="Open Sans Bold"/>
                <a:sym typeface="Open Sans Bold"/>
              </a:rPr>
              <a:t>ESTÁTICAS</a:t>
            </a:r>
          </a:p>
        </p:txBody>
      </p:sp>
      <p:sp>
        <p:nvSpPr>
          <p:cNvPr name="TextBox 8" id="8"/>
          <p:cNvSpPr txBox="true"/>
          <p:nvPr/>
        </p:nvSpPr>
        <p:spPr>
          <a:xfrm rot="0">
            <a:off x="9836986" y="3627174"/>
            <a:ext cx="6959650" cy="2503153"/>
          </a:xfrm>
          <a:prstGeom prst="rect">
            <a:avLst/>
          </a:prstGeom>
        </p:spPr>
        <p:txBody>
          <a:bodyPr anchor="t" rtlCol="false" tIns="0" lIns="0" bIns="0" rIns="0">
            <a:spAutoFit/>
          </a:bodyPr>
          <a:lstStyle/>
          <a:p>
            <a:pPr algn="just">
              <a:lnSpc>
                <a:spcPts val="5038"/>
              </a:lnSpc>
            </a:pPr>
            <a:r>
              <a:rPr lang="en-US" sz="2999">
                <a:solidFill>
                  <a:srgbClr val="000000"/>
                </a:solidFill>
                <a:latin typeface="Open Sans"/>
                <a:ea typeface="Open Sans"/>
                <a:cs typeface="Open Sans"/>
                <a:sym typeface="Open Sans"/>
              </a:rPr>
              <a:t>So</a:t>
            </a:r>
            <a:r>
              <a:rPr lang="en-US" sz="2999">
                <a:solidFill>
                  <a:srgbClr val="000000"/>
                </a:solidFill>
                <a:latin typeface="Open Sans"/>
                <a:ea typeface="Open Sans"/>
                <a:cs typeface="Open Sans"/>
                <a:sym typeface="Open Sans"/>
              </a:rPr>
              <a:t>n aquellas en la que el tamaño ocupado en memoria puede modificarse durante la ejecución del programa.</a:t>
            </a:r>
          </a:p>
        </p:txBody>
      </p:sp>
      <p:sp>
        <p:nvSpPr>
          <p:cNvPr name="TextBox 9" id="9"/>
          <p:cNvSpPr txBox="true"/>
          <p:nvPr/>
        </p:nvSpPr>
        <p:spPr>
          <a:xfrm rot="0">
            <a:off x="9836986" y="2037491"/>
            <a:ext cx="4799707" cy="1293114"/>
          </a:xfrm>
          <a:prstGeom prst="rect">
            <a:avLst/>
          </a:prstGeom>
        </p:spPr>
        <p:txBody>
          <a:bodyPr anchor="t" rtlCol="false" tIns="0" lIns="0" bIns="0" rIns="0">
            <a:spAutoFit/>
          </a:bodyPr>
          <a:lstStyle/>
          <a:p>
            <a:pPr algn="l">
              <a:lnSpc>
                <a:spcPts val="11088"/>
              </a:lnSpc>
            </a:pPr>
            <a:r>
              <a:rPr lang="en-US" b="true" sz="6600">
                <a:solidFill>
                  <a:srgbClr val="000000"/>
                </a:solidFill>
                <a:latin typeface="Open Sans Bold"/>
                <a:ea typeface="Open Sans Bold"/>
                <a:cs typeface="Open Sans Bold"/>
                <a:sym typeface="Open Sans Bold"/>
              </a:rPr>
              <a:t>DINÁMICAS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73830" y="4073565"/>
            <a:ext cx="8985470" cy="3099575"/>
          </a:xfrm>
          <a:custGeom>
            <a:avLst/>
            <a:gdLst/>
            <a:ahLst/>
            <a:cxnLst/>
            <a:rect r="r" b="b" t="t" l="l"/>
            <a:pathLst>
              <a:path h="3099575" w="8985470">
                <a:moveTo>
                  <a:pt x="0" y="0"/>
                </a:moveTo>
                <a:lnTo>
                  <a:pt x="8985470" y="0"/>
                </a:lnTo>
                <a:lnTo>
                  <a:pt x="8985470" y="3099575"/>
                </a:lnTo>
                <a:lnTo>
                  <a:pt x="0" y="3099575"/>
                </a:lnTo>
                <a:lnTo>
                  <a:pt x="0" y="0"/>
                </a:lnTo>
                <a:close/>
              </a:path>
            </a:pathLst>
          </a:custGeom>
          <a:blipFill>
            <a:blip r:embed="rId3"/>
            <a:stretch>
              <a:fillRect l="0" t="0" r="0" b="0"/>
            </a:stretch>
          </a:blipFill>
        </p:spPr>
      </p:sp>
      <p:sp>
        <p:nvSpPr>
          <p:cNvPr name="TextBox 3" id="3"/>
          <p:cNvSpPr txBox="true"/>
          <p:nvPr/>
        </p:nvSpPr>
        <p:spPr>
          <a:xfrm rot="0">
            <a:off x="1028700" y="1493386"/>
            <a:ext cx="2701826" cy="1008517"/>
          </a:xfrm>
          <a:prstGeom prst="rect">
            <a:avLst/>
          </a:prstGeom>
        </p:spPr>
        <p:txBody>
          <a:bodyPr anchor="t" rtlCol="false" tIns="0" lIns="0" bIns="0" rIns="0">
            <a:spAutoFit/>
          </a:bodyPr>
          <a:lstStyle/>
          <a:p>
            <a:pPr algn="l">
              <a:lnSpc>
                <a:spcPts val="8063"/>
              </a:lnSpc>
            </a:pPr>
            <a:r>
              <a:rPr lang="en-US" b="true" sz="6400">
                <a:solidFill>
                  <a:srgbClr val="131416"/>
                </a:solidFill>
                <a:latin typeface="Open Sans Bold"/>
                <a:ea typeface="Open Sans Bold"/>
                <a:cs typeface="Open Sans Bold"/>
                <a:sym typeface="Open Sans Bold"/>
              </a:rPr>
              <a:t>ARRAY</a:t>
            </a:r>
          </a:p>
        </p:txBody>
      </p:sp>
      <p:sp>
        <p:nvSpPr>
          <p:cNvPr name="TextBox 4" id="4"/>
          <p:cNvSpPr txBox="true"/>
          <p:nvPr/>
        </p:nvSpPr>
        <p:spPr>
          <a:xfrm rot="0">
            <a:off x="1028700" y="2758459"/>
            <a:ext cx="5758865" cy="5625011"/>
          </a:xfrm>
          <a:prstGeom prst="rect">
            <a:avLst/>
          </a:prstGeom>
        </p:spPr>
        <p:txBody>
          <a:bodyPr anchor="t" rtlCol="false" tIns="0" lIns="0" bIns="0" rIns="0">
            <a:spAutoFit/>
          </a:bodyPr>
          <a:lstStyle/>
          <a:p>
            <a:pPr algn="just">
              <a:lnSpc>
                <a:spcPts val="4952"/>
              </a:lnSpc>
            </a:pPr>
            <a:r>
              <a:rPr lang="en-US" sz="3223">
                <a:solidFill>
                  <a:srgbClr val="131416"/>
                </a:solidFill>
                <a:latin typeface="Open Sans"/>
                <a:ea typeface="Open Sans"/>
                <a:cs typeface="Open Sans"/>
                <a:sym typeface="Open Sans"/>
              </a:rPr>
              <a:t>Un array es una colección de elementos que se almacenan en posiciones contiguas de memoria. En C#, como en muchos otros lenguajes de programación, los arrays son de tamaño fijo y cada elemento del array se accede mediante un índice numérico.</a:t>
            </a:r>
          </a:p>
        </p:txBody>
      </p:sp>
      <p:sp>
        <p:nvSpPr>
          <p:cNvPr name="Freeform 5" id="5"/>
          <p:cNvSpPr/>
          <p:nvPr/>
        </p:nvSpPr>
        <p:spPr>
          <a:xfrm flipH="false" flipV="false" rot="0">
            <a:off x="1028700" y="2606677"/>
            <a:ext cx="5758865" cy="154717"/>
          </a:xfrm>
          <a:custGeom>
            <a:avLst/>
            <a:gdLst/>
            <a:ahLst/>
            <a:cxnLst/>
            <a:rect r="r" b="b" t="t" l="l"/>
            <a:pathLst>
              <a:path h="154717" w="5758865">
                <a:moveTo>
                  <a:pt x="0" y="0"/>
                </a:moveTo>
                <a:lnTo>
                  <a:pt x="5758865" y="0"/>
                </a:lnTo>
                <a:lnTo>
                  <a:pt x="5758865" y="154717"/>
                </a:lnTo>
                <a:lnTo>
                  <a:pt x="0" y="154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68762" y="4073604"/>
            <a:ext cx="7364842" cy="3525145"/>
          </a:xfrm>
          <a:custGeom>
            <a:avLst/>
            <a:gdLst/>
            <a:ahLst/>
            <a:cxnLst/>
            <a:rect r="r" b="b" t="t" l="l"/>
            <a:pathLst>
              <a:path h="3525145" w="7364842">
                <a:moveTo>
                  <a:pt x="0" y="0"/>
                </a:moveTo>
                <a:lnTo>
                  <a:pt x="7364842" y="0"/>
                </a:lnTo>
                <a:lnTo>
                  <a:pt x="7364842" y="3525145"/>
                </a:lnTo>
                <a:lnTo>
                  <a:pt x="0" y="3525145"/>
                </a:lnTo>
                <a:lnTo>
                  <a:pt x="0" y="0"/>
                </a:lnTo>
                <a:close/>
              </a:path>
            </a:pathLst>
          </a:custGeom>
          <a:blipFill>
            <a:blip r:embed="rId3"/>
            <a:stretch>
              <a:fillRect l="0" t="0" r="0" b="0"/>
            </a:stretch>
          </a:blipFill>
        </p:spPr>
      </p:sp>
      <p:sp>
        <p:nvSpPr>
          <p:cNvPr name="TextBox 3" id="3"/>
          <p:cNvSpPr txBox="true"/>
          <p:nvPr/>
        </p:nvSpPr>
        <p:spPr>
          <a:xfrm rot="0">
            <a:off x="654396" y="951802"/>
            <a:ext cx="12640419" cy="1009320"/>
          </a:xfrm>
          <a:prstGeom prst="rect">
            <a:avLst/>
          </a:prstGeom>
        </p:spPr>
        <p:txBody>
          <a:bodyPr anchor="t" rtlCol="false" tIns="0" lIns="0" bIns="0" rIns="0">
            <a:spAutoFit/>
          </a:bodyPr>
          <a:lstStyle/>
          <a:p>
            <a:pPr algn="l">
              <a:lnSpc>
                <a:spcPts val="8057"/>
              </a:lnSpc>
            </a:pPr>
            <a:r>
              <a:rPr lang="en-US" b="true" sz="6399">
                <a:solidFill>
                  <a:srgbClr val="131416"/>
                </a:solidFill>
                <a:latin typeface="Open Sans Bold"/>
                <a:ea typeface="Open Sans Bold"/>
                <a:cs typeface="Open Sans Bold"/>
                <a:sym typeface="Open Sans Bold"/>
              </a:rPr>
              <a:t>ARRAYS MULTIDIMENSIONALES</a:t>
            </a:r>
          </a:p>
        </p:txBody>
      </p:sp>
      <p:sp>
        <p:nvSpPr>
          <p:cNvPr name="TextBox 4" id="4"/>
          <p:cNvSpPr txBox="true"/>
          <p:nvPr/>
        </p:nvSpPr>
        <p:spPr>
          <a:xfrm rot="0">
            <a:off x="654396" y="2318803"/>
            <a:ext cx="8945118" cy="6939497"/>
          </a:xfrm>
          <a:prstGeom prst="rect">
            <a:avLst/>
          </a:prstGeom>
        </p:spPr>
        <p:txBody>
          <a:bodyPr anchor="t" rtlCol="false" tIns="0" lIns="0" bIns="0" rIns="0">
            <a:spAutoFit/>
          </a:bodyPr>
          <a:lstStyle/>
          <a:p>
            <a:pPr algn="just">
              <a:lnSpc>
                <a:spcPts val="4608"/>
              </a:lnSpc>
            </a:pPr>
            <a:r>
              <a:rPr lang="en-US" sz="3000">
                <a:solidFill>
                  <a:srgbClr val="131416"/>
                </a:solidFill>
                <a:latin typeface="Open Sans"/>
                <a:ea typeface="Open Sans"/>
                <a:cs typeface="Open Sans"/>
                <a:sym typeface="Open Sans"/>
              </a:rPr>
              <a:t>Los</a:t>
            </a:r>
            <a:r>
              <a:rPr lang="en-US" sz="3000">
                <a:solidFill>
                  <a:srgbClr val="131416"/>
                </a:solidFill>
                <a:latin typeface="Open Sans"/>
                <a:ea typeface="Open Sans"/>
                <a:cs typeface="Open Sans"/>
                <a:sym typeface="Open Sans"/>
              </a:rPr>
              <a:t> arrays multidimensionales son estructuras de datos que permiten organizar información en múltiples dimensiones, como filas y columnas. Se utilizan cuando se necesita representar datos de naturaleza tabular o matricial, como tableros de juego, tablas o cuadrículas. Existen dos tipos principales: los arrays rectangulares, donde todas las filas tienen el mismo número de columnas formando una estructura uniforme, y los arrays escalonados, que son arrays de arrays donde cada fila puede tener un número diferente de elementos, permitiendo estructuras más flexibles.</a:t>
            </a:r>
          </a:p>
        </p:txBody>
      </p:sp>
      <p:sp>
        <p:nvSpPr>
          <p:cNvPr name="Freeform 5" id="5"/>
          <p:cNvSpPr/>
          <p:nvPr/>
        </p:nvSpPr>
        <p:spPr>
          <a:xfrm flipH="false" flipV="false" rot="0">
            <a:off x="654396" y="2065897"/>
            <a:ext cx="8945118" cy="240318"/>
          </a:xfrm>
          <a:custGeom>
            <a:avLst/>
            <a:gdLst/>
            <a:ahLst/>
            <a:cxnLst/>
            <a:rect r="r" b="b" t="t" l="l"/>
            <a:pathLst>
              <a:path h="240318" w="8945118">
                <a:moveTo>
                  <a:pt x="0" y="0"/>
                </a:moveTo>
                <a:lnTo>
                  <a:pt x="8945118" y="0"/>
                </a:lnTo>
                <a:lnTo>
                  <a:pt x="8945118" y="240318"/>
                </a:lnTo>
                <a:lnTo>
                  <a:pt x="0" y="2403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10974" y="2960659"/>
            <a:ext cx="8915674" cy="239527"/>
          </a:xfrm>
          <a:custGeom>
            <a:avLst/>
            <a:gdLst/>
            <a:ahLst/>
            <a:cxnLst/>
            <a:rect r="r" b="b" t="t" l="l"/>
            <a:pathLst>
              <a:path h="239527" w="8915674">
                <a:moveTo>
                  <a:pt x="0" y="0"/>
                </a:moveTo>
                <a:lnTo>
                  <a:pt x="8915674" y="0"/>
                </a:lnTo>
                <a:lnTo>
                  <a:pt x="8915674" y="239528"/>
                </a:lnTo>
                <a:lnTo>
                  <a:pt x="0" y="2395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446090" y="3053899"/>
            <a:ext cx="6860380" cy="4179202"/>
          </a:xfrm>
          <a:custGeom>
            <a:avLst/>
            <a:gdLst/>
            <a:ahLst/>
            <a:cxnLst/>
            <a:rect r="r" b="b" t="t" l="l"/>
            <a:pathLst>
              <a:path h="4179202" w="6860380">
                <a:moveTo>
                  <a:pt x="0" y="0"/>
                </a:moveTo>
                <a:lnTo>
                  <a:pt x="6860380" y="0"/>
                </a:lnTo>
                <a:lnTo>
                  <a:pt x="6860380" y="4179202"/>
                </a:lnTo>
                <a:lnTo>
                  <a:pt x="0" y="4179202"/>
                </a:lnTo>
                <a:lnTo>
                  <a:pt x="0" y="0"/>
                </a:lnTo>
                <a:close/>
              </a:path>
            </a:pathLst>
          </a:custGeom>
          <a:blipFill>
            <a:blip r:embed="rId5"/>
            <a:stretch>
              <a:fillRect l="0" t="0" r="0" b="0"/>
            </a:stretch>
          </a:blipFill>
        </p:spPr>
      </p:sp>
      <p:sp>
        <p:nvSpPr>
          <p:cNvPr name="TextBox 4" id="4"/>
          <p:cNvSpPr txBox="true"/>
          <p:nvPr/>
        </p:nvSpPr>
        <p:spPr>
          <a:xfrm rot="0">
            <a:off x="981530" y="1818792"/>
            <a:ext cx="8886230" cy="1008517"/>
          </a:xfrm>
          <a:prstGeom prst="rect">
            <a:avLst/>
          </a:prstGeom>
        </p:spPr>
        <p:txBody>
          <a:bodyPr anchor="t" rtlCol="false" tIns="0" lIns="0" bIns="0" rIns="0">
            <a:spAutoFit/>
          </a:bodyPr>
          <a:lstStyle/>
          <a:p>
            <a:pPr algn="l">
              <a:lnSpc>
                <a:spcPts val="8063"/>
              </a:lnSpc>
            </a:pPr>
            <a:r>
              <a:rPr lang="en-US" b="true" sz="6400">
                <a:solidFill>
                  <a:srgbClr val="131416"/>
                </a:solidFill>
                <a:latin typeface="Open Sans Bold"/>
                <a:ea typeface="Open Sans Bold"/>
                <a:cs typeface="Open Sans Bold"/>
                <a:sym typeface="Open Sans Bold"/>
              </a:rPr>
              <a:t>LISTAS NATIV</a:t>
            </a:r>
            <a:r>
              <a:rPr lang="en-US" b="true" sz="6400">
                <a:solidFill>
                  <a:srgbClr val="131416"/>
                </a:solidFill>
                <a:latin typeface="Open Sans Bold"/>
                <a:ea typeface="Open Sans Bold"/>
                <a:cs typeface="Open Sans Bold"/>
                <a:sym typeface="Open Sans Bold"/>
              </a:rPr>
              <a:t>AS DE C#</a:t>
            </a:r>
          </a:p>
        </p:txBody>
      </p:sp>
      <p:sp>
        <p:nvSpPr>
          <p:cNvPr name="TextBox 5" id="5"/>
          <p:cNvSpPr txBox="true"/>
          <p:nvPr/>
        </p:nvSpPr>
        <p:spPr>
          <a:xfrm rot="0">
            <a:off x="981530" y="3233685"/>
            <a:ext cx="8945118" cy="5196422"/>
          </a:xfrm>
          <a:prstGeom prst="rect">
            <a:avLst/>
          </a:prstGeom>
        </p:spPr>
        <p:txBody>
          <a:bodyPr anchor="t" rtlCol="false" tIns="0" lIns="0" bIns="0" rIns="0">
            <a:spAutoFit/>
          </a:bodyPr>
          <a:lstStyle/>
          <a:p>
            <a:pPr algn="just">
              <a:lnSpc>
                <a:spcPts val="4608"/>
              </a:lnSpc>
            </a:pPr>
            <a:r>
              <a:rPr lang="en-US" sz="3000">
                <a:solidFill>
                  <a:srgbClr val="131416"/>
                </a:solidFill>
                <a:latin typeface="Open Sans"/>
                <a:ea typeface="Open Sans"/>
                <a:cs typeface="Open Sans"/>
                <a:sym typeface="Open Sans"/>
              </a:rPr>
              <a:t>U</a:t>
            </a:r>
            <a:r>
              <a:rPr lang="en-US" sz="3000">
                <a:solidFill>
                  <a:srgbClr val="131416"/>
                </a:solidFill>
                <a:latin typeface="Open Sans"/>
                <a:ea typeface="Open Sans"/>
                <a:cs typeface="Open Sans"/>
                <a:sym typeface="Open Sans"/>
              </a:rPr>
              <a:t>na lista es una estructura de datos en C# utilizada para contener listas de objetos del mismo tipo. Son genéricas, lo que significa que el tipo en la lista se declara en la inicialización. Las listas son específicamente una estructura de datos ordenada, lo que significa que el orden en que agregas elementos a la lista es el orden de los elementos en esa lista, incluyendo valores duplicados.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772698"/>
            <a:ext cx="9059823" cy="1008517"/>
          </a:xfrm>
          <a:prstGeom prst="rect">
            <a:avLst/>
          </a:prstGeom>
        </p:spPr>
        <p:txBody>
          <a:bodyPr anchor="t" rtlCol="false" tIns="0" lIns="0" bIns="0" rIns="0">
            <a:spAutoFit/>
          </a:bodyPr>
          <a:lstStyle/>
          <a:p>
            <a:pPr algn="l">
              <a:lnSpc>
                <a:spcPts val="8063"/>
              </a:lnSpc>
            </a:pPr>
            <a:r>
              <a:rPr lang="en-US" b="true" sz="6400">
                <a:solidFill>
                  <a:srgbClr val="131416"/>
                </a:solidFill>
                <a:latin typeface="Open Sans Bold"/>
                <a:ea typeface="Open Sans Bold"/>
                <a:cs typeface="Open Sans Bold"/>
                <a:sym typeface="Open Sans Bold"/>
              </a:rPr>
              <a:t>TIPOS DE LISTAS EN</a:t>
            </a:r>
            <a:r>
              <a:rPr lang="en-US" b="true" sz="6400">
                <a:solidFill>
                  <a:srgbClr val="131416"/>
                </a:solidFill>
                <a:latin typeface="Open Sans Bold"/>
                <a:ea typeface="Open Sans Bold"/>
                <a:cs typeface="Open Sans Bold"/>
                <a:sym typeface="Open Sans Bold"/>
              </a:rPr>
              <a:t> C#</a:t>
            </a:r>
          </a:p>
        </p:txBody>
      </p:sp>
      <p:sp>
        <p:nvSpPr>
          <p:cNvPr name="TextBox 3" id="3"/>
          <p:cNvSpPr txBox="true"/>
          <p:nvPr/>
        </p:nvSpPr>
        <p:spPr>
          <a:xfrm rot="0">
            <a:off x="1028700" y="3279743"/>
            <a:ext cx="16230600" cy="5196459"/>
          </a:xfrm>
          <a:prstGeom prst="rect">
            <a:avLst/>
          </a:prstGeom>
        </p:spPr>
        <p:txBody>
          <a:bodyPr anchor="t" rtlCol="false" tIns="0" lIns="0" bIns="0" rIns="0">
            <a:spAutoFit/>
          </a:bodyPr>
          <a:lstStyle/>
          <a:p>
            <a:pPr algn="just">
              <a:lnSpc>
                <a:spcPts val="4608"/>
              </a:lnSpc>
            </a:pPr>
            <a:r>
              <a:rPr lang="en-US" b="true" sz="3000">
                <a:solidFill>
                  <a:srgbClr val="131416"/>
                </a:solidFill>
                <a:latin typeface="Open Sans Bold"/>
                <a:ea typeface="Open Sans Bold"/>
                <a:cs typeface="Open Sans Bold"/>
                <a:sym typeface="Open Sans Bold"/>
              </a:rPr>
              <a:t>1.</a:t>
            </a:r>
            <a:r>
              <a:rPr lang="en-US" b="true" sz="3000">
                <a:solidFill>
                  <a:srgbClr val="131416"/>
                </a:solidFill>
                <a:latin typeface="Open Sans Bold"/>
                <a:ea typeface="Open Sans Bold"/>
                <a:cs typeface="Open Sans Bold"/>
                <a:sym typeface="Open Sans Bold"/>
              </a:rPr>
              <a:t> List&lt;T&gt; - </a:t>
            </a:r>
            <a:r>
              <a:rPr lang="en-US" sz="3000">
                <a:solidFill>
                  <a:srgbClr val="131416"/>
                </a:solidFill>
                <a:latin typeface="Open Sans"/>
                <a:ea typeface="Open Sans"/>
                <a:cs typeface="Open Sans"/>
                <a:sym typeface="Open Sans"/>
              </a:rPr>
              <a:t>Lista genérica estándar. Es dinámica y permite agregar, insertar, eliminar y buscar elementos de forma eficiente.</a:t>
            </a:r>
          </a:p>
          <a:p>
            <a:pPr algn="just">
              <a:lnSpc>
                <a:spcPts val="4608"/>
              </a:lnSpc>
            </a:pPr>
            <a:r>
              <a:rPr lang="en-US" b="true" sz="3000">
                <a:solidFill>
                  <a:srgbClr val="131416"/>
                </a:solidFill>
                <a:latin typeface="Open Sans Bold"/>
                <a:ea typeface="Open Sans Bold"/>
                <a:cs typeface="Open Sans Bold"/>
                <a:sym typeface="Open Sans Bold"/>
              </a:rPr>
              <a:t>2. IReadOnlyList&lt;T&gt; -</a:t>
            </a:r>
            <a:r>
              <a:rPr lang="en-US" sz="3000">
                <a:solidFill>
                  <a:srgbClr val="131416"/>
                </a:solidFill>
                <a:latin typeface="Open Sans"/>
                <a:ea typeface="Open Sans"/>
                <a:cs typeface="Open Sans"/>
                <a:sym typeface="Open Sans"/>
              </a:rPr>
              <a:t> Lista de solo lectura que no permite agregar o eliminar elementos después de la inicialización. Se usa cuando quieres pasar datos sin permitir modificaciones.</a:t>
            </a:r>
          </a:p>
          <a:p>
            <a:pPr algn="just">
              <a:lnSpc>
                <a:spcPts val="4608"/>
              </a:lnSpc>
            </a:pPr>
            <a:r>
              <a:rPr lang="en-US" b="true" sz="3000">
                <a:solidFill>
                  <a:srgbClr val="131416"/>
                </a:solidFill>
                <a:latin typeface="Open Sans Bold"/>
                <a:ea typeface="Open Sans Bold"/>
                <a:cs typeface="Open Sans Bold"/>
                <a:sym typeface="Open Sans Bold"/>
              </a:rPr>
              <a:t>3. LinkedList&lt;T&gt; -</a:t>
            </a:r>
            <a:r>
              <a:rPr lang="en-US" sz="3000">
                <a:solidFill>
                  <a:srgbClr val="131416"/>
                </a:solidFill>
                <a:latin typeface="Open Sans"/>
                <a:ea typeface="Open Sans"/>
                <a:cs typeface="Open Sans"/>
                <a:sym typeface="Open Sans"/>
              </a:rPr>
              <a:t> Lista enlazada que permite agregar elementos relativos a una posición específica (antes/después de un nodo). Mejor cuando necesitas inserciones/eliminaciones frecuentes en posiciones específicas.</a:t>
            </a:r>
          </a:p>
          <a:p>
            <a:pPr algn="just">
              <a:lnSpc>
                <a:spcPts val="4608"/>
              </a:lnSpc>
            </a:pPr>
            <a:r>
              <a:rPr lang="en-US" b="true" sz="3000">
                <a:solidFill>
                  <a:srgbClr val="131416"/>
                </a:solidFill>
                <a:latin typeface="Open Sans Bold"/>
                <a:ea typeface="Open Sans Bold"/>
                <a:cs typeface="Open Sans Bold"/>
                <a:sym typeface="Open Sans Bold"/>
              </a:rPr>
              <a:t>4. ImmutableList&lt;T&gt; - </a:t>
            </a:r>
            <a:r>
              <a:rPr lang="en-US" sz="3000">
                <a:solidFill>
                  <a:srgbClr val="131416"/>
                </a:solidFill>
                <a:latin typeface="Open Sans"/>
                <a:ea typeface="Open Sans"/>
                <a:cs typeface="Open Sans"/>
                <a:sym typeface="Open Sans"/>
              </a:rPr>
              <a:t>Lista inmutable que retorna una nueva versión cada vez que se agregan o eliminan elementos. Thread-safe, pero con impacto en rendimiento.</a:t>
            </a:r>
          </a:p>
        </p:txBody>
      </p:sp>
      <p:sp>
        <p:nvSpPr>
          <p:cNvPr name="Freeform 4" id="4"/>
          <p:cNvSpPr/>
          <p:nvPr/>
        </p:nvSpPr>
        <p:spPr>
          <a:xfrm flipH="false" flipV="false" rot="0">
            <a:off x="1100775" y="2883658"/>
            <a:ext cx="8915674" cy="239527"/>
          </a:xfrm>
          <a:custGeom>
            <a:avLst/>
            <a:gdLst/>
            <a:ahLst/>
            <a:cxnLst/>
            <a:rect r="r" b="b" t="t" l="l"/>
            <a:pathLst>
              <a:path h="239527" w="8915674">
                <a:moveTo>
                  <a:pt x="0" y="0"/>
                </a:moveTo>
                <a:lnTo>
                  <a:pt x="8915674" y="0"/>
                </a:lnTo>
                <a:lnTo>
                  <a:pt x="8915674" y="239527"/>
                </a:lnTo>
                <a:lnTo>
                  <a:pt x="0" y="239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114467"/>
            <a:ext cx="9059823" cy="1008517"/>
          </a:xfrm>
          <a:prstGeom prst="rect">
            <a:avLst/>
          </a:prstGeom>
        </p:spPr>
        <p:txBody>
          <a:bodyPr anchor="t" rtlCol="false" tIns="0" lIns="0" bIns="0" rIns="0">
            <a:spAutoFit/>
          </a:bodyPr>
          <a:lstStyle/>
          <a:p>
            <a:pPr algn="l">
              <a:lnSpc>
                <a:spcPts val="8063"/>
              </a:lnSpc>
            </a:pPr>
            <a:r>
              <a:rPr lang="en-US" b="true" sz="6400">
                <a:solidFill>
                  <a:srgbClr val="131416"/>
                </a:solidFill>
                <a:latin typeface="Open Sans Bold"/>
                <a:ea typeface="Open Sans Bold"/>
                <a:cs typeface="Open Sans Bold"/>
                <a:sym typeface="Open Sans Bold"/>
              </a:rPr>
              <a:t>TIPOS DE LISTAS EN</a:t>
            </a:r>
            <a:r>
              <a:rPr lang="en-US" b="true" sz="6400">
                <a:solidFill>
                  <a:srgbClr val="131416"/>
                </a:solidFill>
                <a:latin typeface="Open Sans Bold"/>
                <a:ea typeface="Open Sans Bold"/>
                <a:cs typeface="Open Sans Bold"/>
                <a:sym typeface="Open Sans Bold"/>
              </a:rPr>
              <a:t> C#</a:t>
            </a:r>
          </a:p>
        </p:txBody>
      </p:sp>
      <p:sp>
        <p:nvSpPr>
          <p:cNvPr name="TextBox 3" id="3"/>
          <p:cNvSpPr txBox="true"/>
          <p:nvPr/>
        </p:nvSpPr>
        <p:spPr>
          <a:xfrm rot="0">
            <a:off x="1028700" y="3518999"/>
            <a:ext cx="16230600" cy="4615434"/>
          </a:xfrm>
          <a:prstGeom prst="rect">
            <a:avLst/>
          </a:prstGeom>
        </p:spPr>
        <p:txBody>
          <a:bodyPr anchor="t" rtlCol="false" tIns="0" lIns="0" bIns="0" rIns="0">
            <a:spAutoFit/>
          </a:bodyPr>
          <a:lstStyle/>
          <a:p>
            <a:pPr algn="just">
              <a:lnSpc>
                <a:spcPts val="4608"/>
              </a:lnSpc>
            </a:pPr>
            <a:r>
              <a:rPr lang="en-US" b="true" sz="3000">
                <a:solidFill>
                  <a:srgbClr val="131416"/>
                </a:solidFill>
                <a:latin typeface="Open Sans Bold"/>
                <a:ea typeface="Open Sans Bold"/>
                <a:cs typeface="Open Sans Bold"/>
                <a:sym typeface="Open Sans Bold"/>
              </a:rPr>
              <a:t>5.</a:t>
            </a:r>
            <a:r>
              <a:rPr lang="en-US" b="true" sz="3000">
                <a:solidFill>
                  <a:srgbClr val="131416"/>
                </a:solidFill>
                <a:latin typeface="Open Sans Bold"/>
                <a:ea typeface="Open Sans Bold"/>
                <a:cs typeface="Open Sans Bold"/>
                <a:sym typeface="Open Sans Bold"/>
              </a:rPr>
              <a:t> SortedList&lt;K,V&gt; -</a:t>
            </a:r>
            <a:r>
              <a:rPr lang="en-US" sz="3000">
                <a:solidFill>
                  <a:srgbClr val="131416"/>
                </a:solidFill>
                <a:latin typeface="Open Sans"/>
                <a:ea typeface="Open Sans"/>
                <a:cs typeface="Open Sans"/>
                <a:sym typeface="Open Sans"/>
              </a:rPr>
              <a:t> Lista ordenada que maneja pares clave-valor y los ordena automáticamente por clave.</a:t>
            </a:r>
          </a:p>
          <a:p>
            <a:pPr algn="just">
              <a:lnSpc>
                <a:spcPts val="4608"/>
              </a:lnSpc>
            </a:pPr>
            <a:r>
              <a:rPr lang="en-US" b="true" sz="3000">
                <a:solidFill>
                  <a:srgbClr val="131416"/>
                </a:solidFill>
                <a:latin typeface="Open Sans Bold"/>
                <a:ea typeface="Open Sans Bold"/>
                <a:cs typeface="Open Sans Bold"/>
                <a:sym typeface="Open Sans Bold"/>
              </a:rPr>
              <a:t>6</a:t>
            </a:r>
            <a:r>
              <a:rPr lang="en-US" b="true" sz="3000">
                <a:solidFill>
                  <a:srgbClr val="131416"/>
                </a:solidFill>
                <a:latin typeface="Open Sans Bold"/>
                <a:ea typeface="Open Sans Bold"/>
                <a:cs typeface="Open Sans Bold"/>
                <a:sym typeface="Open Sans Bold"/>
              </a:rPr>
              <a:t>. Stack&lt;T&gt; - </a:t>
            </a:r>
            <a:r>
              <a:rPr lang="en-US" sz="3000">
                <a:solidFill>
                  <a:srgbClr val="131416"/>
                </a:solidFill>
                <a:latin typeface="Open Sans"/>
                <a:ea typeface="Open Sans"/>
                <a:cs typeface="Open Sans"/>
                <a:sym typeface="Open Sans"/>
              </a:rPr>
              <a:t>Pila (LIFO - Last In, First Out). Útil para operaciones donde el último elemento agregado debe procesarse primero.</a:t>
            </a:r>
          </a:p>
          <a:p>
            <a:pPr algn="just">
              <a:lnSpc>
                <a:spcPts val="4608"/>
              </a:lnSpc>
            </a:pPr>
            <a:r>
              <a:rPr lang="en-US" b="true" sz="3000">
                <a:solidFill>
                  <a:srgbClr val="131416"/>
                </a:solidFill>
                <a:latin typeface="Open Sans Bold"/>
                <a:ea typeface="Open Sans Bold"/>
                <a:cs typeface="Open Sans Bold"/>
                <a:sym typeface="Open Sans Bold"/>
              </a:rPr>
              <a:t>7</a:t>
            </a:r>
            <a:r>
              <a:rPr lang="en-US" b="true" sz="3000">
                <a:solidFill>
                  <a:srgbClr val="131416"/>
                </a:solidFill>
                <a:latin typeface="Open Sans Bold"/>
                <a:ea typeface="Open Sans Bold"/>
                <a:cs typeface="Open Sans Bold"/>
                <a:sym typeface="Open Sans Bold"/>
              </a:rPr>
              <a:t>. Queue&lt;T&gt; -</a:t>
            </a:r>
            <a:r>
              <a:rPr lang="en-US" sz="3000">
                <a:solidFill>
                  <a:srgbClr val="131416"/>
                </a:solidFill>
                <a:latin typeface="Open Sans"/>
                <a:ea typeface="Open Sans"/>
                <a:cs typeface="Open Sans"/>
                <a:sym typeface="Open Sans"/>
              </a:rPr>
              <a:t> Cola (FIFO - First In, First Out). Útil cuando necesitas procesar elementos en el orden que llegaron.</a:t>
            </a:r>
          </a:p>
          <a:p>
            <a:pPr algn="just">
              <a:lnSpc>
                <a:spcPts val="4608"/>
              </a:lnSpc>
            </a:pPr>
            <a:r>
              <a:rPr lang="en-US" b="true" sz="3000">
                <a:solidFill>
                  <a:srgbClr val="131416"/>
                </a:solidFill>
                <a:latin typeface="Open Sans Bold"/>
                <a:ea typeface="Open Sans Bold"/>
                <a:cs typeface="Open Sans Bold"/>
                <a:sym typeface="Open Sans Bold"/>
              </a:rPr>
              <a:t>8</a:t>
            </a:r>
            <a:r>
              <a:rPr lang="en-US" b="true" sz="3000">
                <a:solidFill>
                  <a:srgbClr val="131416"/>
                </a:solidFill>
                <a:latin typeface="Open Sans Bold"/>
                <a:ea typeface="Open Sans Bold"/>
                <a:cs typeface="Open Sans Bold"/>
                <a:sym typeface="Open Sans Bold"/>
              </a:rPr>
              <a:t>. Array </a:t>
            </a:r>
            <a:r>
              <a:rPr lang="en-US" sz="3000">
                <a:solidFill>
                  <a:srgbClr val="131416"/>
                </a:solidFill>
                <a:latin typeface="Open Sans"/>
                <a:ea typeface="Open Sans"/>
                <a:cs typeface="Open Sans"/>
                <a:sym typeface="Open Sans"/>
              </a:rPr>
              <a:t>- Arreglo de tamaño fijo. Más antiguo y menos flexible que List&lt;T&gt;, pero fundamental en C#.</a:t>
            </a:r>
          </a:p>
        </p:txBody>
      </p:sp>
      <p:sp>
        <p:nvSpPr>
          <p:cNvPr name="Freeform 4" id="4"/>
          <p:cNvSpPr/>
          <p:nvPr/>
        </p:nvSpPr>
        <p:spPr>
          <a:xfrm flipH="false" flipV="false" rot="0">
            <a:off x="1100775" y="3227759"/>
            <a:ext cx="8915674" cy="239527"/>
          </a:xfrm>
          <a:custGeom>
            <a:avLst/>
            <a:gdLst/>
            <a:ahLst/>
            <a:cxnLst/>
            <a:rect r="r" b="b" t="t" l="l"/>
            <a:pathLst>
              <a:path h="239527" w="8915674">
                <a:moveTo>
                  <a:pt x="0" y="0"/>
                </a:moveTo>
                <a:lnTo>
                  <a:pt x="8915674" y="0"/>
                </a:lnTo>
                <a:lnTo>
                  <a:pt x="8915674" y="239527"/>
                </a:lnTo>
                <a:lnTo>
                  <a:pt x="0" y="239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6176" y="2155224"/>
            <a:ext cx="5668566" cy="152291"/>
          </a:xfrm>
          <a:custGeom>
            <a:avLst/>
            <a:gdLst/>
            <a:ahLst/>
            <a:cxnLst/>
            <a:rect r="r" b="b" t="t" l="l"/>
            <a:pathLst>
              <a:path h="152291" w="5668566">
                <a:moveTo>
                  <a:pt x="0" y="0"/>
                </a:moveTo>
                <a:lnTo>
                  <a:pt x="5668566" y="0"/>
                </a:lnTo>
                <a:lnTo>
                  <a:pt x="5668566" y="152291"/>
                </a:lnTo>
                <a:lnTo>
                  <a:pt x="0" y="1522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332391" y="3281009"/>
            <a:ext cx="7109433" cy="5147450"/>
          </a:xfrm>
          <a:custGeom>
            <a:avLst/>
            <a:gdLst/>
            <a:ahLst/>
            <a:cxnLst/>
            <a:rect r="r" b="b" t="t" l="l"/>
            <a:pathLst>
              <a:path h="5147450" w="7109433">
                <a:moveTo>
                  <a:pt x="0" y="0"/>
                </a:moveTo>
                <a:lnTo>
                  <a:pt x="7109433" y="0"/>
                </a:lnTo>
                <a:lnTo>
                  <a:pt x="7109433" y="5147450"/>
                </a:lnTo>
                <a:lnTo>
                  <a:pt x="0" y="5147450"/>
                </a:lnTo>
                <a:lnTo>
                  <a:pt x="0" y="0"/>
                </a:lnTo>
                <a:close/>
              </a:path>
            </a:pathLst>
          </a:custGeom>
          <a:blipFill>
            <a:blip r:embed="rId5"/>
            <a:stretch>
              <a:fillRect l="0" t="0" r="0" b="0"/>
            </a:stretch>
          </a:blipFill>
        </p:spPr>
      </p:sp>
      <p:sp>
        <p:nvSpPr>
          <p:cNvPr name="TextBox 4" id="4"/>
          <p:cNvSpPr txBox="true"/>
          <p:nvPr/>
        </p:nvSpPr>
        <p:spPr>
          <a:xfrm rot="0">
            <a:off x="846176" y="733425"/>
            <a:ext cx="5668566" cy="1293114"/>
          </a:xfrm>
          <a:prstGeom prst="rect">
            <a:avLst/>
          </a:prstGeom>
        </p:spPr>
        <p:txBody>
          <a:bodyPr anchor="t" rtlCol="false" tIns="0" lIns="0" bIns="0" rIns="0">
            <a:spAutoFit/>
          </a:bodyPr>
          <a:lstStyle/>
          <a:p>
            <a:pPr algn="ctr">
              <a:lnSpc>
                <a:spcPts val="11088"/>
              </a:lnSpc>
            </a:pPr>
            <a:r>
              <a:rPr lang="en-US" b="true" sz="6600">
                <a:solidFill>
                  <a:srgbClr val="000000"/>
                </a:solidFill>
                <a:latin typeface="Open Sans Bold"/>
                <a:ea typeface="Open Sans Bold"/>
                <a:cs typeface="Open Sans Bold"/>
                <a:sym typeface="Open Sans Bold"/>
              </a:rPr>
              <a:t>DICCIONARIO</a:t>
            </a:r>
          </a:p>
        </p:txBody>
      </p:sp>
      <p:sp>
        <p:nvSpPr>
          <p:cNvPr name="TextBox 5" id="5"/>
          <p:cNvSpPr txBox="true"/>
          <p:nvPr/>
        </p:nvSpPr>
        <p:spPr>
          <a:xfrm rot="0">
            <a:off x="846176" y="2302850"/>
            <a:ext cx="9233941" cy="6970418"/>
          </a:xfrm>
          <a:prstGeom prst="rect">
            <a:avLst/>
          </a:prstGeom>
        </p:spPr>
        <p:txBody>
          <a:bodyPr anchor="t" rtlCol="false" tIns="0" lIns="0" bIns="0" rIns="0">
            <a:spAutoFit/>
          </a:bodyPr>
          <a:lstStyle/>
          <a:p>
            <a:pPr algn="just">
              <a:lnSpc>
                <a:spcPts val="5038"/>
              </a:lnSpc>
            </a:pPr>
            <a:r>
              <a:rPr lang="en-US" sz="2998">
                <a:solidFill>
                  <a:srgbClr val="000000"/>
                </a:solidFill>
                <a:latin typeface="Open Sans"/>
                <a:ea typeface="Open Sans"/>
                <a:cs typeface="Open Sans"/>
                <a:sym typeface="Open Sans"/>
              </a:rPr>
              <a:t>U</a:t>
            </a:r>
            <a:r>
              <a:rPr lang="en-US" sz="2998">
                <a:solidFill>
                  <a:srgbClr val="000000"/>
                </a:solidFill>
                <a:latin typeface="Open Sans"/>
                <a:ea typeface="Open Sans"/>
                <a:cs typeface="Open Sans"/>
                <a:sym typeface="Open Sans"/>
              </a:rPr>
              <a:t>n Diccionario en C# es una colección genérica que permite almacenar pares clave-valor. Proporcionan una forma muy eficiente de realizar búsquedas, inserciones y eliminaciones.</a:t>
            </a:r>
          </a:p>
          <a:p>
            <a:pPr algn="just">
              <a:lnSpc>
                <a:spcPts val="5038"/>
              </a:lnSpc>
            </a:pPr>
            <a:r>
              <a:rPr lang="en-US" sz="2998">
                <a:solidFill>
                  <a:srgbClr val="000000"/>
                </a:solidFill>
                <a:latin typeface="Open Sans"/>
                <a:ea typeface="Open Sans"/>
                <a:cs typeface="Open Sans"/>
                <a:sym typeface="Open Sans"/>
              </a:rPr>
              <a:t>Un diccionario en C# se representa mediante Dictionary&lt;TKey, TValue&gt; e internamente utiliza la estructura KeyValuePair&lt;TKey, TValue&gt; para almacenar cada elemento. La característica principal es que las claves deben ser únicas: no pueden existir dos entradas con la misma clave en el diccionario.</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290042" y="2164113"/>
            <a:ext cx="15707916" cy="0"/>
          </a:xfrm>
          <a:prstGeom prst="line">
            <a:avLst/>
          </a:prstGeom>
          <a:ln cap="rnd" w="180975">
            <a:solidFill>
              <a:srgbClr val="EFA038"/>
            </a:solidFill>
            <a:prstDash val="solid"/>
            <a:headEnd type="none" len="sm" w="sm"/>
            <a:tailEnd type="none" len="sm" w="sm"/>
          </a:ln>
        </p:spPr>
      </p:sp>
      <p:sp>
        <p:nvSpPr>
          <p:cNvPr name="TextBox 3" id="3"/>
          <p:cNvSpPr txBox="true"/>
          <p:nvPr/>
        </p:nvSpPr>
        <p:spPr>
          <a:xfrm rot="0">
            <a:off x="1290042" y="752475"/>
            <a:ext cx="15707916" cy="1199769"/>
          </a:xfrm>
          <a:prstGeom prst="rect">
            <a:avLst/>
          </a:prstGeom>
        </p:spPr>
        <p:txBody>
          <a:bodyPr anchor="t" rtlCol="false" tIns="0" lIns="0" bIns="0" rIns="0">
            <a:spAutoFit/>
          </a:bodyPr>
          <a:lstStyle/>
          <a:p>
            <a:pPr algn="ctr">
              <a:lnSpc>
                <a:spcPts val="10247"/>
              </a:lnSpc>
            </a:pPr>
            <a:r>
              <a:rPr lang="en-US" b="true" sz="6100">
                <a:solidFill>
                  <a:srgbClr val="000000"/>
                </a:solidFill>
                <a:latin typeface="Open Sans Bold"/>
                <a:ea typeface="Open Sans Bold"/>
                <a:cs typeface="Open Sans Bold"/>
                <a:sym typeface="Open Sans Bold"/>
              </a:rPr>
              <a:t>OPERACI</a:t>
            </a:r>
            <a:r>
              <a:rPr lang="en-US" b="true" sz="6100">
                <a:solidFill>
                  <a:srgbClr val="000000"/>
                </a:solidFill>
                <a:latin typeface="Open Sans Bold"/>
                <a:ea typeface="Open Sans Bold"/>
                <a:cs typeface="Open Sans Bold"/>
                <a:sym typeface="Open Sans Bold"/>
              </a:rPr>
              <a:t>ONES CON DICCIONARIOS EN C#</a:t>
            </a:r>
          </a:p>
        </p:txBody>
      </p:sp>
      <p:sp>
        <p:nvSpPr>
          <p:cNvPr name="TextBox 4" id="4"/>
          <p:cNvSpPr txBox="true"/>
          <p:nvPr/>
        </p:nvSpPr>
        <p:spPr>
          <a:xfrm rot="0">
            <a:off x="1290042" y="2332528"/>
            <a:ext cx="15304860" cy="6970261"/>
          </a:xfrm>
          <a:prstGeom prst="rect">
            <a:avLst/>
          </a:prstGeom>
        </p:spPr>
        <p:txBody>
          <a:bodyPr anchor="t" rtlCol="false" tIns="0" lIns="0" bIns="0" rIns="0">
            <a:spAutoFit/>
          </a:bodyPr>
          <a:lstStyle/>
          <a:p>
            <a:pPr algn="just">
              <a:lnSpc>
                <a:spcPts val="5043"/>
              </a:lnSpc>
            </a:pPr>
            <a:r>
              <a:rPr lang="en-US" sz="3002" b="true">
                <a:solidFill>
                  <a:srgbClr val="000000"/>
                </a:solidFill>
                <a:latin typeface="Open Sans Bold"/>
                <a:ea typeface="Open Sans Bold"/>
                <a:cs typeface="Open Sans Bold"/>
                <a:sym typeface="Open Sans Bold"/>
              </a:rPr>
              <a:t>1. Crear y Añadir Elementos -</a:t>
            </a:r>
            <a:r>
              <a:rPr lang="en-US" sz="3002">
                <a:solidFill>
                  <a:srgbClr val="000000"/>
                </a:solidFill>
                <a:latin typeface="Open Sans"/>
                <a:ea typeface="Open Sans"/>
                <a:cs typeface="Open Sans"/>
                <a:sym typeface="Open Sans"/>
              </a:rPr>
              <a:t> Los diccionarios se pueden inicializar con valores al momento de su creación o agregar elementos posteriormente mediante el método Add, especificando la clave y el valor correspondiente.</a:t>
            </a:r>
          </a:p>
          <a:p>
            <a:pPr algn="just">
              <a:lnSpc>
                <a:spcPts val="5043"/>
              </a:lnSpc>
            </a:pPr>
            <a:r>
              <a:rPr lang="en-US" sz="3002" b="true">
                <a:solidFill>
                  <a:srgbClr val="000000"/>
                </a:solidFill>
                <a:latin typeface="Open Sans Bold"/>
                <a:ea typeface="Open Sans Bold"/>
                <a:cs typeface="Open Sans Bold"/>
                <a:sym typeface="Open Sans Bold"/>
              </a:rPr>
              <a:t>2. Acceder a Elementos - </a:t>
            </a:r>
            <a:r>
              <a:rPr lang="en-US" sz="3002">
                <a:solidFill>
                  <a:srgbClr val="000000"/>
                </a:solidFill>
                <a:latin typeface="Open Sans"/>
                <a:ea typeface="Open Sans"/>
                <a:cs typeface="Open Sans"/>
                <a:sym typeface="Open Sans"/>
              </a:rPr>
              <a:t>Para acceder a los elementos existen tres formas: mediante el indexer usando la clave, por posición usando ElementAt (que devuelve un KeyValuePair), o mediante TryGetValue que es la forma más óptima ya que evita excepciones si la clave no existe, devolviendo un booleano que indica si se encontró el elemento.</a:t>
            </a:r>
          </a:p>
          <a:p>
            <a:pPr algn="just">
              <a:lnSpc>
                <a:spcPts val="5043"/>
              </a:lnSpc>
            </a:pPr>
            <a:r>
              <a:rPr lang="en-US" b="true" sz="3002">
                <a:solidFill>
                  <a:srgbClr val="000000"/>
                </a:solidFill>
                <a:latin typeface="Open Sans Bold"/>
                <a:ea typeface="Open Sans Bold"/>
                <a:cs typeface="Open Sans Bold"/>
                <a:sym typeface="Open Sans Bold"/>
              </a:rPr>
              <a:t>3. Actualizar Elementos - </a:t>
            </a:r>
            <a:r>
              <a:rPr lang="en-US" sz="3002">
                <a:solidFill>
                  <a:srgbClr val="000000"/>
                </a:solidFill>
                <a:latin typeface="Open Sans"/>
                <a:ea typeface="Open Sans"/>
                <a:cs typeface="Open Sans"/>
                <a:sym typeface="Open Sans"/>
              </a:rPr>
              <a:t>Para modificar un elemento, primero se debe verificar que la clave exista usando ContainsKey, y luego actualizar el valor mediante el indexer con la clave correspondiente.</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91570" y="3292311"/>
            <a:ext cx="15304860" cy="5055736"/>
          </a:xfrm>
          <a:prstGeom prst="rect">
            <a:avLst/>
          </a:prstGeom>
        </p:spPr>
        <p:txBody>
          <a:bodyPr anchor="t" rtlCol="false" tIns="0" lIns="0" bIns="0" rIns="0">
            <a:spAutoFit/>
          </a:bodyPr>
          <a:lstStyle/>
          <a:p>
            <a:pPr algn="just">
              <a:lnSpc>
                <a:spcPts val="5043"/>
              </a:lnSpc>
            </a:pPr>
            <a:r>
              <a:rPr lang="en-US" sz="3002" b="true">
                <a:solidFill>
                  <a:srgbClr val="000000"/>
                </a:solidFill>
                <a:latin typeface="Open Sans Bold"/>
                <a:ea typeface="Open Sans Bold"/>
                <a:cs typeface="Open Sans Bold"/>
                <a:sym typeface="Open Sans Bold"/>
              </a:rPr>
              <a:t>4. Eliminar Elementos -</a:t>
            </a:r>
            <a:r>
              <a:rPr lang="en-US" sz="3002">
                <a:solidFill>
                  <a:srgbClr val="000000"/>
                </a:solidFill>
                <a:latin typeface="Open Sans"/>
                <a:ea typeface="Open Sans"/>
                <a:cs typeface="Open Sans"/>
                <a:sym typeface="Open Sans"/>
              </a:rPr>
              <a:t> Los elementos se pueden eliminar individualmente mediante el método Remove especificando la clave, o eliminar todos los elementos del diccionario mediante el método Clear.</a:t>
            </a:r>
          </a:p>
          <a:p>
            <a:pPr algn="just">
              <a:lnSpc>
                <a:spcPts val="5043"/>
              </a:lnSpc>
            </a:pPr>
            <a:r>
              <a:rPr lang="en-US" sz="3002" b="true">
                <a:solidFill>
                  <a:srgbClr val="000000"/>
                </a:solidFill>
                <a:latin typeface="Open Sans Bold"/>
                <a:ea typeface="Open Sans Bold"/>
                <a:cs typeface="Open Sans Bold"/>
                <a:sym typeface="Open Sans Bold"/>
              </a:rPr>
              <a:t>5. Verificar Existencia -</a:t>
            </a:r>
            <a:r>
              <a:rPr lang="en-US" sz="3002">
                <a:solidFill>
                  <a:srgbClr val="000000"/>
                </a:solidFill>
                <a:latin typeface="Open Sans"/>
                <a:ea typeface="Open Sans"/>
                <a:cs typeface="Open Sans"/>
                <a:sym typeface="Open Sans"/>
              </a:rPr>
              <a:t> El método ContainsKey permite verificar si una clave específica existe en el diccionario, devolviendo verdadero o falso según corresponda.</a:t>
            </a:r>
          </a:p>
          <a:p>
            <a:pPr algn="just">
              <a:lnSpc>
                <a:spcPts val="5043"/>
              </a:lnSpc>
            </a:pPr>
          </a:p>
          <a:p>
            <a:pPr algn="just">
              <a:lnSpc>
                <a:spcPts val="5043"/>
              </a:lnSpc>
            </a:pPr>
            <a:r>
              <a:rPr lang="en-US" b="true" sz="3002">
                <a:solidFill>
                  <a:srgbClr val="000000"/>
                </a:solidFill>
                <a:latin typeface="Open Sans Bold"/>
                <a:ea typeface="Open Sans Bold"/>
                <a:cs typeface="Open Sans Bold"/>
                <a:sym typeface="Open Sans Bold"/>
              </a:rPr>
              <a:t>Nota importante:</a:t>
            </a:r>
            <a:r>
              <a:rPr lang="en-US" sz="3002">
                <a:solidFill>
                  <a:srgbClr val="000000"/>
                </a:solidFill>
                <a:latin typeface="Open Sans"/>
                <a:ea typeface="Open Sans"/>
                <a:cs typeface="Open Sans"/>
                <a:sym typeface="Open Sans"/>
              </a:rPr>
              <a:t> La clave (Key) debe ser única en el diccionario. Intentar agregar una clave duplicada generará una excepción.</a:t>
            </a:r>
          </a:p>
        </p:txBody>
      </p:sp>
      <p:sp>
        <p:nvSpPr>
          <p:cNvPr name="TextBox 3" id="3"/>
          <p:cNvSpPr txBox="true"/>
          <p:nvPr/>
        </p:nvSpPr>
        <p:spPr>
          <a:xfrm rot="0">
            <a:off x="1290042" y="1662728"/>
            <a:ext cx="15707916" cy="1199769"/>
          </a:xfrm>
          <a:prstGeom prst="rect">
            <a:avLst/>
          </a:prstGeom>
        </p:spPr>
        <p:txBody>
          <a:bodyPr anchor="t" rtlCol="false" tIns="0" lIns="0" bIns="0" rIns="0">
            <a:spAutoFit/>
          </a:bodyPr>
          <a:lstStyle/>
          <a:p>
            <a:pPr algn="ctr">
              <a:lnSpc>
                <a:spcPts val="10247"/>
              </a:lnSpc>
            </a:pPr>
            <a:r>
              <a:rPr lang="en-US" b="true" sz="6100">
                <a:solidFill>
                  <a:srgbClr val="000000"/>
                </a:solidFill>
                <a:latin typeface="Open Sans Bold"/>
                <a:ea typeface="Open Sans Bold"/>
                <a:cs typeface="Open Sans Bold"/>
                <a:sym typeface="Open Sans Bold"/>
              </a:rPr>
              <a:t>OPERACI</a:t>
            </a:r>
            <a:r>
              <a:rPr lang="en-US" b="true" sz="6100">
                <a:solidFill>
                  <a:srgbClr val="000000"/>
                </a:solidFill>
                <a:latin typeface="Open Sans Bold"/>
                <a:ea typeface="Open Sans Bold"/>
                <a:cs typeface="Open Sans Bold"/>
                <a:sym typeface="Open Sans Bold"/>
              </a:rPr>
              <a:t>ONES CON DICCIONARIOS EN C#</a:t>
            </a:r>
          </a:p>
        </p:txBody>
      </p:sp>
      <p:sp>
        <p:nvSpPr>
          <p:cNvPr name="AutoShape 4" id="4"/>
          <p:cNvSpPr/>
          <p:nvPr/>
        </p:nvSpPr>
        <p:spPr>
          <a:xfrm flipH="true">
            <a:off x="1290042" y="3074366"/>
            <a:ext cx="15707916" cy="0"/>
          </a:xfrm>
          <a:prstGeom prst="line">
            <a:avLst/>
          </a:prstGeom>
          <a:ln cap="rnd" w="180975">
            <a:solidFill>
              <a:srgbClr val="EFA038"/>
            </a:soli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968541" y="2373617"/>
            <a:ext cx="2919412" cy="0"/>
          </a:xfrm>
          <a:prstGeom prst="line">
            <a:avLst/>
          </a:prstGeom>
          <a:ln cap="rnd" w="180975">
            <a:solidFill>
              <a:srgbClr val="EFA038"/>
            </a:solidFill>
            <a:prstDash val="solid"/>
            <a:headEnd type="none" len="sm" w="sm"/>
            <a:tailEnd type="none" len="sm" w="sm"/>
          </a:ln>
        </p:spPr>
      </p:sp>
      <p:sp>
        <p:nvSpPr>
          <p:cNvPr name="Freeform 3" id="3"/>
          <p:cNvSpPr/>
          <p:nvPr/>
        </p:nvSpPr>
        <p:spPr>
          <a:xfrm flipH="false" flipV="false" rot="0">
            <a:off x="10013613" y="3742291"/>
            <a:ext cx="7305846" cy="4474831"/>
          </a:xfrm>
          <a:custGeom>
            <a:avLst/>
            <a:gdLst/>
            <a:ahLst/>
            <a:cxnLst/>
            <a:rect r="r" b="b" t="t" l="l"/>
            <a:pathLst>
              <a:path h="4474831" w="7305846">
                <a:moveTo>
                  <a:pt x="0" y="0"/>
                </a:moveTo>
                <a:lnTo>
                  <a:pt x="7305846" y="0"/>
                </a:lnTo>
                <a:lnTo>
                  <a:pt x="7305846" y="4474831"/>
                </a:lnTo>
                <a:lnTo>
                  <a:pt x="0" y="4474831"/>
                </a:lnTo>
                <a:lnTo>
                  <a:pt x="0" y="0"/>
                </a:lnTo>
                <a:close/>
              </a:path>
            </a:pathLst>
          </a:custGeom>
          <a:blipFill>
            <a:blip r:embed="rId3"/>
            <a:stretch>
              <a:fillRect l="0" t="0" r="0" b="0"/>
            </a:stretch>
          </a:blipFill>
        </p:spPr>
      </p:sp>
      <p:sp>
        <p:nvSpPr>
          <p:cNvPr name="TextBox 4" id="4"/>
          <p:cNvSpPr txBox="true"/>
          <p:nvPr/>
        </p:nvSpPr>
        <p:spPr>
          <a:xfrm rot="0">
            <a:off x="968541" y="931634"/>
            <a:ext cx="2919412" cy="1199769"/>
          </a:xfrm>
          <a:prstGeom prst="rect">
            <a:avLst/>
          </a:prstGeom>
        </p:spPr>
        <p:txBody>
          <a:bodyPr anchor="t" rtlCol="false" tIns="0" lIns="0" bIns="0" rIns="0">
            <a:spAutoFit/>
          </a:bodyPr>
          <a:lstStyle/>
          <a:p>
            <a:pPr algn="ctr">
              <a:lnSpc>
                <a:spcPts val="10247"/>
              </a:lnSpc>
            </a:pPr>
            <a:r>
              <a:rPr lang="en-US" b="true" sz="6100">
                <a:solidFill>
                  <a:srgbClr val="000000"/>
                </a:solidFill>
                <a:latin typeface="Open Sans Bold"/>
                <a:ea typeface="Open Sans Bold"/>
                <a:cs typeface="Open Sans Bold"/>
                <a:sym typeface="Open Sans Bold"/>
              </a:rPr>
              <a:t>TUPLAS</a:t>
            </a:r>
          </a:p>
        </p:txBody>
      </p:sp>
      <p:sp>
        <p:nvSpPr>
          <p:cNvPr name="TextBox 5" id="5"/>
          <p:cNvSpPr txBox="true"/>
          <p:nvPr/>
        </p:nvSpPr>
        <p:spPr>
          <a:xfrm rot="0">
            <a:off x="968541" y="2746921"/>
            <a:ext cx="8639831" cy="6332220"/>
          </a:xfrm>
          <a:prstGeom prst="rect">
            <a:avLst/>
          </a:prstGeom>
        </p:spPr>
        <p:txBody>
          <a:bodyPr anchor="t" rtlCol="false" tIns="0" lIns="0" bIns="0" rIns="0">
            <a:spAutoFit/>
          </a:bodyPr>
          <a:lstStyle/>
          <a:p>
            <a:pPr algn="just">
              <a:lnSpc>
                <a:spcPts val="5040"/>
              </a:lnSpc>
            </a:pPr>
            <a:r>
              <a:rPr lang="en-US" sz="3000">
                <a:solidFill>
                  <a:srgbClr val="000000"/>
                </a:solidFill>
                <a:latin typeface="Open Sans"/>
                <a:ea typeface="Open Sans"/>
                <a:cs typeface="Open Sans"/>
                <a:sym typeface="Open Sans"/>
              </a:rPr>
              <a:t>En C#, las tuplas son estructuras de datos ligeras que permiten agrupar múltiples valores de diferentes tipos en una sola unidad.</a:t>
            </a:r>
          </a:p>
          <a:p>
            <a:pPr algn="just">
              <a:lnSpc>
                <a:spcPts val="5040"/>
              </a:lnSpc>
            </a:pPr>
            <a:r>
              <a:rPr lang="en-US" sz="3000">
                <a:solidFill>
                  <a:srgbClr val="000000"/>
                </a:solidFill>
                <a:latin typeface="Open Sans"/>
                <a:ea typeface="Open Sans"/>
                <a:cs typeface="Open Sans"/>
                <a:sym typeface="Open Sans"/>
              </a:rPr>
              <a:t>A diferencia de las clases o structs, las tuplas son más sencillas y están diseñadas para simplificar el manejo de múltiples valores (nos evitan tener que definir tipos adicionales).</a:t>
            </a:r>
          </a:p>
          <a:p>
            <a:pPr algn="just">
              <a:lnSpc>
                <a:spcPts val="5040"/>
              </a:lnSpc>
            </a:pPr>
            <a:r>
              <a:rPr lang="en-US" sz="3000">
                <a:solidFill>
                  <a:srgbClr val="000000"/>
                </a:solidFill>
                <a:latin typeface="Open Sans"/>
                <a:ea typeface="Open Sans"/>
                <a:cs typeface="Open Sans"/>
                <a:sym typeface="Open Sans"/>
              </a:rPr>
              <a:t>En C# las tuplas son inmutables. Eso significa que una vez creadas, sus valores no pueden ser cambiados.</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2663061" y="1980052"/>
            <a:ext cx="12961883" cy="0"/>
          </a:xfrm>
          <a:prstGeom prst="line">
            <a:avLst/>
          </a:prstGeom>
          <a:ln cap="rnd" w="180975">
            <a:solidFill>
              <a:srgbClr val="EFA038"/>
            </a:solidFill>
            <a:prstDash val="solid"/>
            <a:headEnd type="none" len="sm" w="sm"/>
            <a:tailEnd type="none" len="sm" w="sm"/>
          </a:ln>
        </p:spPr>
      </p:sp>
      <p:sp>
        <p:nvSpPr>
          <p:cNvPr name="TextBox 3" id="3"/>
          <p:cNvSpPr txBox="true"/>
          <p:nvPr/>
        </p:nvSpPr>
        <p:spPr>
          <a:xfrm rot="0">
            <a:off x="2663056" y="500043"/>
            <a:ext cx="12961888" cy="1199769"/>
          </a:xfrm>
          <a:prstGeom prst="rect">
            <a:avLst/>
          </a:prstGeom>
        </p:spPr>
        <p:txBody>
          <a:bodyPr anchor="t" rtlCol="false" tIns="0" lIns="0" bIns="0" rIns="0">
            <a:spAutoFit/>
          </a:bodyPr>
          <a:lstStyle/>
          <a:p>
            <a:pPr algn="ctr">
              <a:lnSpc>
                <a:spcPts val="10247"/>
              </a:lnSpc>
            </a:pPr>
            <a:r>
              <a:rPr lang="en-US" b="true" sz="6100">
                <a:solidFill>
                  <a:srgbClr val="000000"/>
                </a:solidFill>
                <a:latin typeface="Open Sans Bold"/>
                <a:ea typeface="Open Sans Bold"/>
                <a:cs typeface="Open Sans Bold"/>
                <a:sym typeface="Open Sans Bold"/>
              </a:rPr>
              <a:t>OPE</a:t>
            </a:r>
            <a:r>
              <a:rPr lang="en-US" b="true" sz="6100">
                <a:solidFill>
                  <a:srgbClr val="000000"/>
                </a:solidFill>
                <a:latin typeface="Open Sans Bold"/>
                <a:ea typeface="Open Sans Bold"/>
                <a:cs typeface="Open Sans Bold"/>
                <a:sym typeface="Open Sans Bold"/>
              </a:rPr>
              <a:t>RACIONES CON TUPLAS EN C#</a:t>
            </a:r>
          </a:p>
        </p:txBody>
      </p:sp>
      <p:sp>
        <p:nvSpPr>
          <p:cNvPr name="TextBox 4" id="4"/>
          <p:cNvSpPr txBox="true"/>
          <p:nvPr/>
        </p:nvSpPr>
        <p:spPr>
          <a:xfrm rot="0">
            <a:off x="1850174" y="2127690"/>
            <a:ext cx="14587652" cy="7383042"/>
          </a:xfrm>
          <a:prstGeom prst="rect">
            <a:avLst/>
          </a:prstGeom>
        </p:spPr>
        <p:txBody>
          <a:bodyPr anchor="t" rtlCol="false" tIns="0" lIns="0" bIns="0" rIns="0">
            <a:spAutoFit/>
          </a:bodyPr>
          <a:lstStyle/>
          <a:p>
            <a:pPr algn="just">
              <a:lnSpc>
                <a:spcPts val="5038"/>
              </a:lnSpc>
            </a:pPr>
            <a:r>
              <a:rPr lang="en-US" b="true" sz="2998">
                <a:solidFill>
                  <a:srgbClr val="000000"/>
                </a:solidFill>
                <a:latin typeface="Open Sans Bold"/>
                <a:ea typeface="Open Sans Bold"/>
                <a:cs typeface="Open Sans Bold"/>
                <a:sym typeface="Open Sans Bold"/>
              </a:rPr>
              <a:t>1. Cre</a:t>
            </a:r>
            <a:r>
              <a:rPr lang="en-US" b="true" sz="2998">
                <a:solidFill>
                  <a:srgbClr val="000000"/>
                </a:solidFill>
                <a:latin typeface="Open Sans Bold"/>
                <a:ea typeface="Open Sans Bold"/>
                <a:cs typeface="Open Sans Bold"/>
                <a:sym typeface="Open Sans Bold"/>
              </a:rPr>
              <a:t>ar Tuplas -</a:t>
            </a:r>
            <a:r>
              <a:rPr lang="en-US" sz="2998">
                <a:solidFill>
                  <a:srgbClr val="000000"/>
                </a:solidFill>
                <a:latin typeface="Open Sans"/>
                <a:ea typeface="Open Sans"/>
                <a:cs typeface="Open Sans"/>
                <a:sym typeface="Open Sans"/>
              </a:rPr>
              <a:t> Se pueden crear de dos formas: especificando los tipos genéricos en el constructor o utilizando el método estático Create que infiere automáticamente los tipos. Las tuplas pueden contener hasta 8 elementos de diferentes tipos.</a:t>
            </a:r>
          </a:p>
          <a:p>
            <a:pPr algn="just">
              <a:lnSpc>
                <a:spcPts val="4870"/>
              </a:lnSpc>
            </a:pPr>
            <a:r>
              <a:rPr lang="en-US" b="true" sz="2898">
                <a:solidFill>
                  <a:srgbClr val="000000"/>
                </a:solidFill>
                <a:latin typeface="Open Sans Bold"/>
                <a:ea typeface="Open Sans Bold"/>
                <a:cs typeface="Open Sans Bold"/>
                <a:sym typeface="Open Sans Bold"/>
              </a:rPr>
              <a:t>2. Acceder a Elementos - </a:t>
            </a:r>
            <a:r>
              <a:rPr lang="en-US" sz="2898">
                <a:solidFill>
                  <a:srgbClr val="000000"/>
                </a:solidFill>
                <a:latin typeface="Open Sans"/>
                <a:ea typeface="Open Sans"/>
                <a:cs typeface="Open Sans"/>
                <a:sym typeface="Open Sans"/>
              </a:rPr>
              <a:t>Se accede a los elementos mediante las propiedades Item1, Item2, Item3, etc., según la posición del elemento en la tupla. En el caso de ValueTuple, también se pueden asignar nombres personalizados a cada elemento para mejorar la legibilidad del código.</a:t>
            </a:r>
          </a:p>
          <a:p>
            <a:pPr algn="just">
              <a:lnSpc>
                <a:spcPts val="4870"/>
              </a:lnSpc>
            </a:pPr>
            <a:r>
              <a:rPr lang="en-US" b="true" sz="2898">
                <a:solidFill>
                  <a:srgbClr val="000000"/>
                </a:solidFill>
                <a:latin typeface="Open Sans Bold"/>
                <a:ea typeface="Open Sans Bold"/>
                <a:cs typeface="Open Sans Bold"/>
                <a:sym typeface="Open Sans Bold"/>
              </a:rPr>
              <a:t>3. Pasar como Parámetros -</a:t>
            </a:r>
            <a:r>
              <a:rPr lang="en-US" sz="2898">
                <a:solidFill>
                  <a:srgbClr val="000000"/>
                </a:solidFill>
                <a:latin typeface="Open Sans"/>
                <a:ea typeface="Open Sans"/>
                <a:cs typeface="Open Sans"/>
                <a:sym typeface="Open Sans"/>
              </a:rPr>
              <a:t> Las tuplas pueden pasarse como parámetros a métodos, permitiendo enviar múltiples valores agrupados en un solo argumento. Esto simplifica las firmas de métodos que necesitan recibir varios datos relacionados.</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2663061" y="2186345"/>
            <a:ext cx="12961883" cy="0"/>
          </a:xfrm>
          <a:prstGeom prst="line">
            <a:avLst/>
          </a:prstGeom>
          <a:ln cap="rnd" w="180975">
            <a:solidFill>
              <a:srgbClr val="EFA038"/>
            </a:solidFill>
            <a:prstDash val="solid"/>
            <a:headEnd type="none" len="sm" w="sm"/>
            <a:tailEnd type="none" len="sm" w="sm"/>
          </a:ln>
        </p:spPr>
      </p:sp>
      <p:sp>
        <p:nvSpPr>
          <p:cNvPr name="TextBox 3" id="3"/>
          <p:cNvSpPr txBox="true"/>
          <p:nvPr/>
        </p:nvSpPr>
        <p:spPr>
          <a:xfrm rot="0">
            <a:off x="2663056" y="706336"/>
            <a:ext cx="12961888" cy="1199769"/>
          </a:xfrm>
          <a:prstGeom prst="rect">
            <a:avLst/>
          </a:prstGeom>
        </p:spPr>
        <p:txBody>
          <a:bodyPr anchor="t" rtlCol="false" tIns="0" lIns="0" bIns="0" rIns="0">
            <a:spAutoFit/>
          </a:bodyPr>
          <a:lstStyle/>
          <a:p>
            <a:pPr algn="ctr">
              <a:lnSpc>
                <a:spcPts val="10247"/>
              </a:lnSpc>
            </a:pPr>
            <a:r>
              <a:rPr lang="en-US" b="true" sz="6100">
                <a:solidFill>
                  <a:srgbClr val="000000"/>
                </a:solidFill>
                <a:latin typeface="Open Sans Bold"/>
                <a:ea typeface="Open Sans Bold"/>
                <a:cs typeface="Open Sans Bold"/>
                <a:sym typeface="Open Sans Bold"/>
              </a:rPr>
              <a:t>OPE</a:t>
            </a:r>
            <a:r>
              <a:rPr lang="en-US" b="true" sz="6100">
                <a:solidFill>
                  <a:srgbClr val="000000"/>
                </a:solidFill>
                <a:latin typeface="Open Sans Bold"/>
                <a:ea typeface="Open Sans Bold"/>
                <a:cs typeface="Open Sans Bold"/>
                <a:sym typeface="Open Sans Bold"/>
              </a:rPr>
              <a:t>RACIONES CON TUPLAS EN C#</a:t>
            </a:r>
          </a:p>
        </p:txBody>
      </p:sp>
      <p:sp>
        <p:nvSpPr>
          <p:cNvPr name="TextBox 4" id="4"/>
          <p:cNvSpPr txBox="true"/>
          <p:nvPr/>
        </p:nvSpPr>
        <p:spPr>
          <a:xfrm rot="0">
            <a:off x="1850174" y="2333982"/>
            <a:ext cx="14587652" cy="6970457"/>
          </a:xfrm>
          <a:prstGeom prst="rect">
            <a:avLst/>
          </a:prstGeom>
        </p:spPr>
        <p:txBody>
          <a:bodyPr anchor="t" rtlCol="false" tIns="0" lIns="0" bIns="0" rIns="0">
            <a:spAutoFit/>
          </a:bodyPr>
          <a:lstStyle/>
          <a:p>
            <a:pPr algn="just">
              <a:lnSpc>
                <a:spcPts val="5038"/>
              </a:lnSpc>
            </a:pPr>
            <a:r>
              <a:rPr lang="en-US" b="true" sz="2998">
                <a:solidFill>
                  <a:srgbClr val="000000"/>
                </a:solidFill>
                <a:latin typeface="Open Sans Bold"/>
                <a:ea typeface="Open Sans Bold"/>
                <a:cs typeface="Open Sans Bold"/>
                <a:sym typeface="Open Sans Bold"/>
              </a:rPr>
              <a:t>4. Devo</a:t>
            </a:r>
            <a:r>
              <a:rPr lang="en-US" b="true" sz="2998">
                <a:solidFill>
                  <a:srgbClr val="000000"/>
                </a:solidFill>
                <a:latin typeface="Open Sans Bold"/>
                <a:ea typeface="Open Sans Bold"/>
                <a:cs typeface="Open Sans Bold"/>
                <a:sym typeface="Open Sans Bold"/>
              </a:rPr>
              <a:t>lver desde Métodos -</a:t>
            </a:r>
            <a:r>
              <a:rPr lang="en-US" sz="2998">
                <a:solidFill>
                  <a:srgbClr val="000000"/>
                </a:solidFill>
                <a:latin typeface="Open Sans"/>
                <a:ea typeface="Open Sans"/>
                <a:cs typeface="Open Sans"/>
                <a:sym typeface="Open Sans"/>
              </a:rPr>
              <a:t> El uso más común de las tuplas es como tipo de retorno, permitiendo que un método devuelva múltiples valores sin necesidad de crear clases auxiliares o usar parámetros ref u out.</a:t>
            </a:r>
          </a:p>
          <a:p>
            <a:pPr algn="just">
              <a:lnSpc>
                <a:spcPts val="5038"/>
              </a:lnSpc>
            </a:pPr>
            <a:r>
              <a:rPr lang="en-US" b="true" sz="2998">
                <a:solidFill>
                  <a:srgbClr val="000000"/>
                </a:solidFill>
                <a:latin typeface="Open Sans Bold"/>
                <a:ea typeface="Open Sans Bold"/>
                <a:cs typeface="Open Sans Bold"/>
                <a:sym typeface="Open Sans Bold"/>
              </a:rPr>
              <a:t>5</a:t>
            </a:r>
            <a:r>
              <a:rPr lang="en-US" b="true" sz="2998">
                <a:solidFill>
                  <a:srgbClr val="000000"/>
                </a:solidFill>
                <a:latin typeface="Open Sans Bold"/>
                <a:ea typeface="Open Sans Bold"/>
                <a:cs typeface="Open Sans Bold"/>
                <a:sym typeface="Open Sans Bold"/>
              </a:rPr>
              <a:t>. Deconstruir ValueTuple -</a:t>
            </a:r>
            <a:r>
              <a:rPr lang="en-US" sz="2998">
                <a:solidFill>
                  <a:srgbClr val="000000"/>
                </a:solidFill>
                <a:latin typeface="Open Sans"/>
                <a:ea typeface="Open Sans"/>
                <a:cs typeface="Open Sans"/>
                <a:sym typeface="Open Sans"/>
              </a:rPr>
              <a:t> Los ValueTuple pueden deconstruirse directamente en variables individuales, asignando cada elemento de la tupla a una variable separada en una sola operación. Se puede usar el descarte (_) para ignorar elementos que no se necesiten.</a:t>
            </a:r>
          </a:p>
          <a:p>
            <a:pPr algn="just">
              <a:lnSpc>
                <a:spcPts val="5038"/>
              </a:lnSpc>
            </a:pPr>
          </a:p>
          <a:p>
            <a:pPr algn="just">
              <a:lnSpc>
                <a:spcPts val="5038"/>
              </a:lnSpc>
            </a:pPr>
            <a:r>
              <a:rPr lang="en-US" b="true" sz="2998">
                <a:solidFill>
                  <a:srgbClr val="000000"/>
                </a:solidFill>
                <a:latin typeface="Open Sans Bold"/>
                <a:ea typeface="Open Sans Bold"/>
                <a:cs typeface="Open Sans Bold"/>
                <a:sym typeface="Open Sans Bold"/>
              </a:rPr>
              <a:t>Diferenci</a:t>
            </a:r>
            <a:r>
              <a:rPr lang="en-US" b="true" sz="2998">
                <a:solidFill>
                  <a:srgbClr val="000000"/>
                </a:solidFill>
                <a:latin typeface="Open Sans Bold"/>
                <a:ea typeface="Open Sans Bold"/>
                <a:cs typeface="Open Sans Bold"/>
                <a:sym typeface="Open Sans Bold"/>
              </a:rPr>
              <a:t>a clave: </a:t>
            </a:r>
            <a:r>
              <a:rPr lang="en-US" sz="2998">
                <a:solidFill>
                  <a:srgbClr val="000000"/>
                </a:solidFill>
                <a:latin typeface="Open Sans"/>
                <a:ea typeface="Open Sans"/>
                <a:cs typeface="Open Sans"/>
                <a:sym typeface="Open Sans"/>
              </a:rPr>
              <a:t>Tuple es un tipo de referencia (reference type) ubicado en el heap, mientras que ValueTuple es un tipo de valor (value type) con mejor rendimiento y sintaxis más simple.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8494" y="2776796"/>
            <a:ext cx="6190716" cy="166319"/>
          </a:xfrm>
          <a:custGeom>
            <a:avLst/>
            <a:gdLst/>
            <a:ahLst/>
            <a:cxnLst/>
            <a:rect r="r" b="b" t="t" l="l"/>
            <a:pathLst>
              <a:path h="166319" w="6190716">
                <a:moveTo>
                  <a:pt x="0" y="0"/>
                </a:moveTo>
                <a:lnTo>
                  <a:pt x="6190716" y="0"/>
                </a:lnTo>
                <a:lnTo>
                  <a:pt x="6190716" y="166319"/>
                </a:lnTo>
                <a:lnTo>
                  <a:pt x="0" y="1663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568494" y="1278382"/>
            <a:ext cx="4064645" cy="1293114"/>
          </a:xfrm>
          <a:prstGeom prst="rect">
            <a:avLst/>
          </a:prstGeom>
        </p:spPr>
        <p:txBody>
          <a:bodyPr anchor="t" rtlCol="false" tIns="0" lIns="0" bIns="0" rIns="0">
            <a:spAutoFit/>
          </a:bodyPr>
          <a:lstStyle/>
          <a:p>
            <a:pPr algn="l">
              <a:lnSpc>
                <a:spcPts val="11088"/>
              </a:lnSpc>
            </a:pPr>
            <a:r>
              <a:rPr lang="en-US" b="true" sz="6600">
                <a:solidFill>
                  <a:srgbClr val="000000"/>
                </a:solidFill>
                <a:latin typeface="Open Sans Bold"/>
                <a:ea typeface="Open Sans Bold"/>
                <a:cs typeface="Open Sans Bold"/>
                <a:sym typeface="Open Sans Bold"/>
              </a:rPr>
              <a:t>FICHEROS</a:t>
            </a:r>
          </a:p>
        </p:txBody>
      </p:sp>
      <p:sp>
        <p:nvSpPr>
          <p:cNvPr name="TextBox 4" id="4"/>
          <p:cNvSpPr txBox="true"/>
          <p:nvPr/>
        </p:nvSpPr>
        <p:spPr>
          <a:xfrm rot="0">
            <a:off x="1568494" y="3019315"/>
            <a:ext cx="8774813" cy="5694028"/>
          </a:xfrm>
          <a:prstGeom prst="rect">
            <a:avLst/>
          </a:prstGeom>
        </p:spPr>
        <p:txBody>
          <a:bodyPr anchor="t" rtlCol="false" tIns="0" lIns="0" bIns="0" rIns="0">
            <a:spAutoFit/>
          </a:bodyPr>
          <a:lstStyle/>
          <a:p>
            <a:pPr algn="just">
              <a:lnSpc>
                <a:spcPts val="5038"/>
              </a:lnSpc>
            </a:pPr>
            <a:r>
              <a:rPr lang="en-US" sz="2999">
                <a:solidFill>
                  <a:srgbClr val="000000"/>
                </a:solidFill>
                <a:latin typeface="Open Sans"/>
                <a:ea typeface="Open Sans"/>
                <a:cs typeface="Open Sans"/>
                <a:sym typeface="Open Sans"/>
              </a:rPr>
              <a:t>Un fichero o archivo es una estructura de datos abstracta que representa una colección organizada de información almacenada de manera persistente en un dispositivo de almacenamiento secundario no volátil. Los datos contenidos en un fichero mantienen una relación lógica entre sí y permanecen almacenados independientemente del ciclo de vida de los procesos o aplicaciones que los manipulan.</a:t>
            </a:r>
          </a:p>
        </p:txBody>
      </p:sp>
      <p:sp>
        <p:nvSpPr>
          <p:cNvPr name="Freeform 5" id="5"/>
          <p:cNvSpPr/>
          <p:nvPr/>
        </p:nvSpPr>
        <p:spPr>
          <a:xfrm flipH="false" flipV="false" rot="0">
            <a:off x="10756856" y="3278119"/>
            <a:ext cx="5962650" cy="4762500"/>
          </a:xfrm>
          <a:custGeom>
            <a:avLst/>
            <a:gdLst/>
            <a:ahLst/>
            <a:cxnLst/>
            <a:rect r="r" b="b" t="t" l="l"/>
            <a:pathLst>
              <a:path h="4762500" w="5962650">
                <a:moveTo>
                  <a:pt x="0" y="0"/>
                </a:moveTo>
                <a:lnTo>
                  <a:pt x="5962650" y="0"/>
                </a:lnTo>
                <a:lnTo>
                  <a:pt x="5962650" y="4762500"/>
                </a:lnTo>
                <a:lnTo>
                  <a:pt x="0" y="4762500"/>
                </a:lnTo>
                <a:lnTo>
                  <a:pt x="0" y="0"/>
                </a:lnTo>
                <a:close/>
              </a:path>
            </a:pathLst>
          </a:custGeom>
          <a:blipFill>
            <a:blip r:embed="rId5"/>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61287" y="2790729"/>
            <a:ext cx="6190676" cy="166318"/>
          </a:xfrm>
          <a:custGeom>
            <a:avLst/>
            <a:gdLst/>
            <a:ahLst/>
            <a:cxnLst/>
            <a:rect r="r" b="b" t="t" l="l"/>
            <a:pathLst>
              <a:path h="166318" w="6190676">
                <a:moveTo>
                  <a:pt x="0" y="0"/>
                </a:moveTo>
                <a:lnTo>
                  <a:pt x="6190676" y="0"/>
                </a:lnTo>
                <a:lnTo>
                  <a:pt x="6190676" y="166318"/>
                </a:lnTo>
                <a:lnTo>
                  <a:pt x="0" y="1663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2189393" y="1362963"/>
            <a:ext cx="3829110" cy="1293114"/>
          </a:xfrm>
          <a:prstGeom prst="rect">
            <a:avLst/>
          </a:prstGeom>
        </p:spPr>
        <p:txBody>
          <a:bodyPr anchor="t" rtlCol="false" tIns="0" lIns="0" bIns="0" rIns="0">
            <a:spAutoFit/>
          </a:bodyPr>
          <a:lstStyle/>
          <a:p>
            <a:pPr algn="l">
              <a:lnSpc>
                <a:spcPts val="11088"/>
              </a:lnSpc>
            </a:pPr>
            <a:r>
              <a:rPr lang="en-US" b="true" sz="6600">
                <a:solidFill>
                  <a:srgbClr val="000000"/>
                </a:solidFill>
                <a:latin typeface="Open Sans Bold"/>
                <a:ea typeface="Open Sans Bold"/>
                <a:cs typeface="Open Sans Bold"/>
                <a:sym typeface="Open Sans Bold"/>
              </a:rPr>
              <a:t>FICHERO </a:t>
            </a:r>
          </a:p>
        </p:txBody>
      </p:sp>
      <p:sp>
        <p:nvSpPr>
          <p:cNvPr name="TextBox 4" id="4"/>
          <p:cNvSpPr txBox="true"/>
          <p:nvPr/>
        </p:nvSpPr>
        <p:spPr>
          <a:xfrm rot="0">
            <a:off x="2133181" y="2934733"/>
            <a:ext cx="8395117" cy="5694029"/>
          </a:xfrm>
          <a:prstGeom prst="rect">
            <a:avLst/>
          </a:prstGeom>
        </p:spPr>
        <p:txBody>
          <a:bodyPr anchor="t" rtlCol="false" tIns="0" lIns="0" bIns="0" rIns="0">
            <a:spAutoFit/>
          </a:bodyPr>
          <a:lstStyle/>
          <a:p>
            <a:pPr algn="just">
              <a:lnSpc>
                <a:spcPts val="5038"/>
              </a:lnSpc>
            </a:pPr>
            <a:r>
              <a:rPr lang="en-US" sz="2998">
                <a:solidFill>
                  <a:srgbClr val="000000"/>
                </a:solidFill>
                <a:latin typeface="Open Sans"/>
                <a:ea typeface="Open Sans"/>
                <a:cs typeface="Open Sans"/>
                <a:sym typeface="Open Sans"/>
              </a:rPr>
              <a:t>La</a:t>
            </a:r>
            <a:r>
              <a:rPr lang="en-US" sz="2998">
                <a:solidFill>
                  <a:srgbClr val="000000"/>
                </a:solidFill>
                <a:latin typeface="Open Sans"/>
                <a:ea typeface="Open Sans"/>
                <a:cs typeface="Open Sans"/>
                <a:sym typeface="Open Sans"/>
              </a:rPr>
              <a:t> característica fundamental de persistencia implica que la información se conserva en el medio de almacenamiento (discos magnéticos, unidades de estado sólido, medios ópticos, etc.) más allá de la finalización del programa que los creó e incluso tras el apagado del sistema. Esta persistencia solo se ve comprometida por fallos críticos del hardware, corrupción de datos o eliminación intencional.</a:t>
            </a:r>
          </a:p>
        </p:txBody>
      </p:sp>
      <p:sp>
        <p:nvSpPr>
          <p:cNvPr name="Freeform 5" id="5"/>
          <p:cNvSpPr/>
          <p:nvPr/>
        </p:nvSpPr>
        <p:spPr>
          <a:xfrm flipH="false" flipV="false" rot="0">
            <a:off x="11272630" y="3407328"/>
            <a:ext cx="4882189" cy="4882189"/>
          </a:xfrm>
          <a:custGeom>
            <a:avLst/>
            <a:gdLst/>
            <a:ahLst/>
            <a:cxnLst/>
            <a:rect r="r" b="b" t="t" l="l"/>
            <a:pathLst>
              <a:path h="4882189" w="4882189">
                <a:moveTo>
                  <a:pt x="0" y="0"/>
                </a:moveTo>
                <a:lnTo>
                  <a:pt x="4882189" y="0"/>
                </a:lnTo>
                <a:lnTo>
                  <a:pt x="4882189" y="4882189"/>
                </a:lnTo>
                <a:lnTo>
                  <a:pt x="0" y="4882189"/>
                </a:lnTo>
                <a:lnTo>
                  <a:pt x="0" y="0"/>
                </a:lnTo>
                <a:close/>
              </a:path>
            </a:pathLst>
          </a:custGeom>
          <a:blipFill>
            <a:blip r:embed="rId5"/>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24718" y="3097970"/>
            <a:ext cx="6190676" cy="166318"/>
          </a:xfrm>
          <a:custGeom>
            <a:avLst/>
            <a:gdLst/>
            <a:ahLst/>
            <a:cxnLst/>
            <a:rect r="r" b="b" t="t" l="l"/>
            <a:pathLst>
              <a:path h="166318" w="6190676">
                <a:moveTo>
                  <a:pt x="0" y="0"/>
                </a:moveTo>
                <a:lnTo>
                  <a:pt x="6190676" y="0"/>
                </a:lnTo>
                <a:lnTo>
                  <a:pt x="6190676" y="166318"/>
                </a:lnTo>
                <a:lnTo>
                  <a:pt x="0" y="1663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924718" y="1660917"/>
            <a:ext cx="10004371" cy="1293114"/>
          </a:xfrm>
          <a:prstGeom prst="rect">
            <a:avLst/>
          </a:prstGeom>
        </p:spPr>
        <p:txBody>
          <a:bodyPr anchor="t" rtlCol="false" tIns="0" lIns="0" bIns="0" rIns="0">
            <a:spAutoFit/>
          </a:bodyPr>
          <a:lstStyle/>
          <a:p>
            <a:pPr algn="l">
              <a:lnSpc>
                <a:spcPts val="11088"/>
              </a:lnSpc>
            </a:pPr>
            <a:r>
              <a:rPr lang="en-US" b="true" sz="6600">
                <a:solidFill>
                  <a:srgbClr val="000000"/>
                </a:solidFill>
                <a:latin typeface="Open Sans Bold"/>
                <a:ea typeface="Open Sans Bold"/>
                <a:cs typeface="Open Sans Bold"/>
                <a:sym typeface="Open Sans Bold"/>
              </a:rPr>
              <a:t>APERTURA DE FICHEROS</a:t>
            </a:r>
          </a:p>
        </p:txBody>
      </p:sp>
      <p:sp>
        <p:nvSpPr>
          <p:cNvPr name="TextBox 4" id="4"/>
          <p:cNvSpPr txBox="true"/>
          <p:nvPr/>
        </p:nvSpPr>
        <p:spPr>
          <a:xfrm rot="0">
            <a:off x="924718" y="3274876"/>
            <a:ext cx="16438564" cy="5055932"/>
          </a:xfrm>
          <a:prstGeom prst="rect">
            <a:avLst/>
          </a:prstGeom>
        </p:spPr>
        <p:txBody>
          <a:bodyPr anchor="t" rtlCol="false" tIns="0" lIns="0" bIns="0" rIns="0">
            <a:spAutoFit/>
          </a:bodyPr>
          <a:lstStyle/>
          <a:p>
            <a:pPr algn="just">
              <a:lnSpc>
                <a:spcPts val="5038"/>
              </a:lnSpc>
            </a:pPr>
            <a:r>
              <a:rPr lang="en-US" sz="2998">
                <a:solidFill>
                  <a:srgbClr val="000000"/>
                </a:solidFill>
                <a:latin typeface="Open Sans"/>
                <a:ea typeface="Open Sans"/>
                <a:cs typeface="Open Sans"/>
                <a:sym typeface="Open Sans"/>
              </a:rPr>
              <a:t>La lectura y escritura de ficheros son operaciones fundamentales de entrada/salida (I/O) que permiten a las aplicaciones interactuar con el sistema de almacenamiento persistente. La lectura se realiza típicamente mediante la clase StreamReader, que abre el archivo, lee su contenido línea por línea mediante el método ReadLine, y cierra el archivo una vez finalizada la operación. La escritura se implementa mediante la clase StreamWriter, que permite crear o abrir archivos, escribir datos usando métodos como WriteLine o Write, y especificar parámetros como el modo de apertura (sobrescritura o anexado) y la codificación del texto (ASCII, Unicode, UTF-8, etc.).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042719"/>
            <a:ext cx="6190676" cy="166318"/>
          </a:xfrm>
          <a:custGeom>
            <a:avLst/>
            <a:gdLst/>
            <a:ahLst/>
            <a:cxnLst/>
            <a:rect r="r" b="b" t="t" l="l"/>
            <a:pathLst>
              <a:path h="166318" w="6190676">
                <a:moveTo>
                  <a:pt x="0" y="0"/>
                </a:moveTo>
                <a:lnTo>
                  <a:pt x="6190676" y="0"/>
                </a:lnTo>
                <a:lnTo>
                  <a:pt x="6190676" y="166318"/>
                </a:lnTo>
                <a:lnTo>
                  <a:pt x="0" y="1663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862299" y="860859"/>
            <a:ext cx="16149287" cy="1048510"/>
          </a:xfrm>
          <a:prstGeom prst="rect">
            <a:avLst/>
          </a:prstGeom>
        </p:spPr>
        <p:txBody>
          <a:bodyPr anchor="t" rtlCol="false" tIns="0" lIns="0" bIns="0" rIns="0">
            <a:spAutoFit/>
          </a:bodyPr>
          <a:lstStyle/>
          <a:p>
            <a:pPr algn="ctr">
              <a:lnSpc>
                <a:spcPts val="8904"/>
              </a:lnSpc>
            </a:pPr>
            <a:r>
              <a:rPr lang="en-US" b="true" sz="5300">
                <a:solidFill>
                  <a:srgbClr val="000000"/>
                </a:solidFill>
                <a:latin typeface="Open Sans Bold"/>
                <a:ea typeface="Open Sans Bold"/>
                <a:cs typeface="Open Sans Bold"/>
                <a:sym typeface="Open Sans Bold"/>
              </a:rPr>
              <a:t>PASOS </a:t>
            </a:r>
            <a:r>
              <a:rPr lang="en-US" b="true" sz="5300">
                <a:solidFill>
                  <a:srgbClr val="000000"/>
                </a:solidFill>
                <a:latin typeface="Open Sans Bold"/>
                <a:ea typeface="Open Sans Bold"/>
                <a:cs typeface="Open Sans Bold"/>
                <a:sym typeface="Open Sans Bold"/>
              </a:rPr>
              <a:t>PARA LEER UN ARCHIVO DE TEXTO EN C#</a:t>
            </a:r>
          </a:p>
        </p:txBody>
      </p:sp>
      <p:sp>
        <p:nvSpPr>
          <p:cNvPr name="TextBox 4" id="4"/>
          <p:cNvSpPr txBox="true"/>
          <p:nvPr/>
        </p:nvSpPr>
        <p:spPr>
          <a:xfrm rot="0">
            <a:off x="1028700" y="2209037"/>
            <a:ext cx="15816486" cy="7049263"/>
          </a:xfrm>
          <a:prstGeom prst="rect">
            <a:avLst/>
          </a:prstGeom>
        </p:spPr>
        <p:txBody>
          <a:bodyPr anchor="t" rtlCol="false" tIns="0" lIns="0" bIns="0" rIns="0">
            <a:spAutoFit/>
          </a:bodyPr>
          <a:lstStyle/>
          <a:p>
            <a:pPr algn="just" marL="604518" indent="-302259" lvl="1">
              <a:lnSpc>
                <a:spcPts val="4703"/>
              </a:lnSpc>
              <a:buFont typeface="Arial"/>
              <a:buChar char="•"/>
            </a:pPr>
            <a:r>
              <a:rPr lang="en-US" b="true" sz="2799">
                <a:solidFill>
                  <a:srgbClr val="000000"/>
                </a:solidFill>
                <a:latin typeface="Open Sans Bold"/>
                <a:ea typeface="Open Sans Bold"/>
                <a:cs typeface="Open Sans Bold"/>
                <a:sym typeface="Open Sans Bold"/>
              </a:rPr>
              <a:t>Import</a:t>
            </a:r>
            <a:r>
              <a:rPr lang="en-US" b="true" sz="2799">
                <a:solidFill>
                  <a:srgbClr val="000000"/>
                </a:solidFill>
                <a:latin typeface="Open Sans Bold"/>
                <a:ea typeface="Open Sans Bold"/>
                <a:cs typeface="Open Sans Bold"/>
                <a:sym typeface="Open Sans Bold"/>
              </a:rPr>
              <a:t>ar el espacio de nombres necesario - </a:t>
            </a:r>
            <a:r>
              <a:rPr lang="en-US" sz="2799">
                <a:solidFill>
                  <a:srgbClr val="000000"/>
                </a:solidFill>
                <a:latin typeface="Open Sans"/>
                <a:ea typeface="Open Sans"/>
                <a:cs typeface="Open Sans"/>
                <a:sym typeface="Open Sans"/>
              </a:rPr>
              <a:t>Incluir System.IO para acceder a las clases de entrada/salida.</a:t>
            </a:r>
          </a:p>
          <a:p>
            <a:pPr algn="just" marL="604518" indent="-302259" lvl="1">
              <a:lnSpc>
                <a:spcPts val="4703"/>
              </a:lnSpc>
              <a:buFont typeface="Arial"/>
              <a:buChar char="•"/>
            </a:pPr>
            <a:r>
              <a:rPr lang="en-US" b="true" sz="2799">
                <a:solidFill>
                  <a:srgbClr val="000000"/>
                </a:solidFill>
                <a:latin typeface="Open Sans Bold"/>
                <a:ea typeface="Open Sans Bold"/>
                <a:cs typeface="Open Sans Bold"/>
                <a:sym typeface="Open Sans Bold"/>
              </a:rPr>
              <a:t>Crear una instancia de StreamReader - </a:t>
            </a:r>
            <a:r>
              <a:rPr lang="en-US" sz="2799">
                <a:solidFill>
                  <a:srgbClr val="000000"/>
                </a:solidFill>
                <a:latin typeface="Open Sans"/>
                <a:ea typeface="Open Sans"/>
                <a:cs typeface="Open Sans"/>
                <a:sym typeface="Open Sans"/>
              </a:rPr>
              <a:t>Pasar la ruta completa del archivo como parámetro al constructor.</a:t>
            </a:r>
          </a:p>
          <a:p>
            <a:pPr algn="just" marL="604518" indent="-302259" lvl="1">
              <a:lnSpc>
                <a:spcPts val="4703"/>
              </a:lnSpc>
              <a:buFont typeface="Arial"/>
              <a:buChar char="•"/>
            </a:pPr>
            <a:r>
              <a:rPr lang="en-US" b="true" sz="2799">
                <a:solidFill>
                  <a:srgbClr val="000000"/>
                </a:solidFill>
                <a:latin typeface="Open Sans Bold"/>
                <a:ea typeface="Open Sans Bold"/>
                <a:cs typeface="Open Sans Bold"/>
                <a:sym typeface="Open Sans Bold"/>
              </a:rPr>
              <a:t>Leer el contenido del archivo - </a:t>
            </a:r>
            <a:r>
              <a:rPr lang="en-US" sz="2799">
                <a:solidFill>
                  <a:srgbClr val="000000"/>
                </a:solidFill>
                <a:latin typeface="Open Sans"/>
                <a:ea typeface="Open Sans"/>
                <a:cs typeface="Open Sans"/>
                <a:sym typeface="Open Sans"/>
              </a:rPr>
              <a:t>Utilizar el método ReadLine para leer línea por línea hasta llegar al final del archivo (cuando devuelve null).</a:t>
            </a:r>
          </a:p>
          <a:p>
            <a:pPr algn="just" marL="604518" indent="-302259" lvl="1">
              <a:lnSpc>
                <a:spcPts val="4703"/>
              </a:lnSpc>
              <a:buFont typeface="Arial"/>
              <a:buChar char="•"/>
            </a:pPr>
            <a:r>
              <a:rPr lang="en-US" b="true" sz="2799">
                <a:solidFill>
                  <a:srgbClr val="000000"/>
                </a:solidFill>
                <a:latin typeface="Open Sans Bold"/>
                <a:ea typeface="Open Sans Bold"/>
                <a:cs typeface="Open Sans Bold"/>
                <a:sym typeface="Open Sans Bold"/>
              </a:rPr>
              <a:t>Procesar los datos leídos -</a:t>
            </a:r>
            <a:r>
              <a:rPr lang="en-US" sz="2799">
                <a:solidFill>
                  <a:srgbClr val="000000"/>
                </a:solidFill>
                <a:latin typeface="Open Sans"/>
                <a:ea typeface="Open Sans"/>
                <a:cs typeface="Open Sans"/>
                <a:sym typeface="Open Sans"/>
              </a:rPr>
              <a:t> Realizar las operaciones necesarias con cada línea leída (mostrar, almacenar, procesar).</a:t>
            </a:r>
          </a:p>
          <a:p>
            <a:pPr algn="just" marL="604518" indent="-302259" lvl="1">
              <a:lnSpc>
                <a:spcPts val="4703"/>
              </a:lnSpc>
              <a:buFont typeface="Arial"/>
              <a:buChar char="•"/>
            </a:pPr>
            <a:r>
              <a:rPr lang="en-US" b="true" sz="2799">
                <a:solidFill>
                  <a:srgbClr val="000000"/>
                </a:solidFill>
                <a:latin typeface="Open Sans Bold"/>
                <a:ea typeface="Open Sans Bold"/>
                <a:cs typeface="Open Sans Bold"/>
                <a:sym typeface="Open Sans Bold"/>
              </a:rPr>
              <a:t>Cerrar el archivo -</a:t>
            </a:r>
            <a:r>
              <a:rPr lang="en-US" sz="2799">
                <a:solidFill>
                  <a:srgbClr val="000000"/>
                </a:solidFill>
                <a:latin typeface="Open Sans"/>
                <a:ea typeface="Open Sans"/>
                <a:cs typeface="Open Sans"/>
                <a:sym typeface="Open Sans"/>
              </a:rPr>
              <a:t> Invocar el método Close para liberar los recursos y desbloquear el archivo.</a:t>
            </a:r>
          </a:p>
          <a:p>
            <a:pPr algn="just" marL="604518" indent="-302259" lvl="1">
              <a:lnSpc>
                <a:spcPts val="4703"/>
              </a:lnSpc>
              <a:buFont typeface="Arial"/>
              <a:buChar char="•"/>
            </a:pPr>
            <a:r>
              <a:rPr lang="en-US" b="true" sz="2799">
                <a:solidFill>
                  <a:srgbClr val="000000"/>
                </a:solidFill>
                <a:latin typeface="Open Sans Bold"/>
                <a:ea typeface="Open Sans Bold"/>
                <a:cs typeface="Open Sans Bold"/>
                <a:sym typeface="Open Sans Bold"/>
              </a:rPr>
              <a:t>Implementar manejo de excepciones -</a:t>
            </a:r>
            <a:r>
              <a:rPr lang="en-US" sz="2799">
                <a:solidFill>
                  <a:srgbClr val="000000"/>
                </a:solidFill>
                <a:latin typeface="Open Sans"/>
                <a:ea typeface="Open Sans"/>
                <a:cs typeface="Open Sans"/>
                <a:sym typeface="Open Sans"/>
              </a:rPr>
              <a:t> Envolver el código en bloques try-catch-finally para manejar posibles errores como archivos inexistentes o inaccesibles.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042719"/>
            <a:ext cx="6190676" cy="166318"/>
          </a:xfrm>
          <a:custGeom>
            <a:avLst/>
            <a:gdLst/>
            <a:ahLst/>
            <a:cxnLst/>
            <a:rect r="r" b="b" t="t" l="l"/>
            <a:pathLst>
              <a:path h="166318" w="6190676">
                <a:moveTo>
                  <a:pt x="0" y="0"/>
                </a:moveTo>
                <a:lnTo>
                  <a:pt x="6190676" y="0"/>
                </a:lnTo>
                <a:lnTo>
                  <a:pt x="6190676" y="166318"/>
                </a:lnTo>
                <a:lnTo>
                  <a:pt x="0" y="1663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862299" y="950776"/>
            <a:ext cx="16149287" cy="958593"/>
          </a:xfrm>
          <a:prstGeom prst="rect">
            <a:avLst/>
          </a:prstGeom>
        </p:spPr>
        <p:txBody>
          <a:bodyPr anchor="t" rtlCol="false" tIns="0" lIns="0" bIns="0" rIns="0">
            <a:spAutoFit/>
          </a:bodyPr>
          <a:lstStyle/>
          <a:p>
            <a:pPr algn="ctr">
              <a:lnSpc>
                <a:spcPts val="8232"/>
              </a:lnSpc>
            </a:pPr>
            <a:r>
              <a:rPr lang="en-US" b="true" sz="4900">
                <a:solidFill>
                  <a:srgbClr val="000000"/>
                </a:solidFill>
                <a:latin typeface="Open Sans Bold"/>
                <a:ea typeface="Open Sans Bold"/>
                <a:cs typeface="Open Sans Bold"/>
                <a:sym typeface="Open Sans Bold"/>
              </a:rPr>
              <a:t>PASOS </a:t>
            </a:r>
            <a:r>
              <a:rPr lang="en-US" b="true" sz="4900">
                <a:solidFill>
                  <a:srgbClr val="000000"/>
                </a:solidFill>
                <a:latin typeface="Open Sans Bold"/>
                <a:ea typeface="Open Sans Bold"/>
                <a:cs typeface="Open Sans Bold"/>
                <a:sym typeface="Open Sans Bold"/>
              </a:rPr>
              <a:t>PARA ESCRIBIR UN ARCHIVO DE TEXTO EN C#</a:t>
            </a:r>
          </a:p>
        </p:txBody>
      </p:sp>
      <p:sp>
        <p:nvSpPr>
          <p:cNvPr name="TextBox 4" id="4"/>
          <p:cNvSpPr txBox="true"/>
          <p:nvPr/>
        </p:nvSpPr>
        <p:spPr>
          <a:xfrm rot="0">
            <a:off x="1028700" y="2209037"/>
            <a:ext cx="15816486" cy="6970395"/>
          </a:xfrm>
          <a:prstGeom prst="rect">
            <a:avLst/>
          </a:prstGeom>
        </p:spPr>
        <p:txBody>
          <a:bodyPr anchor="t" rtlCol="false" tIns="0" lIns="0" bIns="0" rIns="0">
            <a:spAutoFit/>
          </a:bodyPr>
          <a:lstStyle/>
          <a:p>
            <a:pPr algn="just" marL="647700" indent="-323850" lvl="1">
              <a:lnSpc>
                <a:spcPts val="5040"/>
              </a:lnSpc>
              <a:buFont typeface="Arial"/>
              <a:buChar char="•"/>
            </a:pPr>
            <a:r>
              <a:rPr lang="en-US" b="true" sz="3000">
                <a:solidFill>
                  <a:srgbClr val="000000"/>
                </a:solidFill>
                <a:latin typeface="Open Sans Bold"/>
                <a:ea typeface="Open Sans Bold"/>
                <a:cs typeface="Open Sans Bold"/>
                <a:sym typeface="Open Sans Bold"/>
              </a:rPr>
              <a:t>Import</a:t>
            </a:r>
            <a:r>
              <a:rPr lang="en-US" b="true" sz="3000">
                <a:solidFill>
                  <a:srgbClr val="000000"/>
                </a:solidFill>
                <a:latin typeface="Open Sans Bold"/>
                <a:ea typeface="Open Sans Bold"/>
                <a:cs typeface="Open Sans Bold"/>
                <a:sym typeface="Open Sans Bold"/>
              </a:rPr>
              <a:t>ar el espacio de nombres necesario - </a:t>
            </a:r>
            <a:r>
              <a:rPr lang="en-US" sz="3000">
                <a:solidFill>
                  <a:srgbClr val="000000"/>
                </a:solidFill>
                <a:latin typeface="Open Sans"/>
                <a:ea typeface="Open Sans"/>
                <a:cs typeface="Open Sans"/>
                <a:sym typeface="Open Sans"/>
              </a:rPr>
              <a:t>Incluir System.IO y opcionalmente System.Text para especificar codificación.</a:t>
            </a:r>
          </a:p>
          <a:p>
            <a:pPr algn="just" marL="647700" indent="-323850" lvl="1">
              <a:lnSpc>
                <a:spcPts val="5040"/>
              </a:lnSpc>
              <a:buFont typeface="Arial"/>
              <a:buChar char="•"/>
            </a:pPr>
            <a:r>
              <a:rPr lang="en-US" b="true" sz="3000">
                <a:solidFill>
                  <a:srgbClr val="000000"/>
                </a:solidFill>
                <a:latin typeface="Open Sans Bold"/>
                <a:ea typeface="Open Sans Bold"/>
                <a:cs typeface="Open Sans Bold"/>
                <a:sym typeface="Open Sans Bold"/>
              </a:rPr>
              <a:t>Crear una instancia de StreamWriter - </a:t>
            </a:r>
            <a:r>
              <a:rPr lang="en-US" sz="3000">
                <a:solidFill>
                  <a:srgbClr val="000000"/>
                </a:solidFill>
                <a:latin typeface="Open Sans"/>
                <a:ea typeface="Open Sans"/>
                <a:cs typeface="Open Sans"/>
                <a:sym typeface="Open Sans"/>
              </a:rPr>
              <a:t>Pasar la ruta del archivo, el modo de apertura (sobrescribir o anexar) y opcionalmente la codificación deseada.</a:t>
            </a:r>
          </a:p>
          <a:p>
            <a:pPr algn="just" marL="647700" indent="-323850" lvl="1">
              <a:lnSpc>
                <a:spcPts val="5040"/>
              </a:lnSpc>
              <a:buFont typeface="Arial"/>
              <a:buChar char="•"/>
            </a:pPr>
            <a:r>
              <a:rPr lang="en-US" b="true" sz="3000">
                <a:solidFill>
                  <a:srgbClr val="000000"/>
                </a:solidFill>
                <a:latin typeface="Open Sans Bold"/>
                <a:ea typeface="Open Sans Bold"/>
                <a:cs typeface="Open Sans Bold"/>
                <a:sym typeface="Open Sans Bold"/>
              </a:rPr>
              <a:t>Escribir datos en el archivo - </a:t>
            </a:r>
            <a:r>
              <a:rPr lang="en-US" sz="3000">
                <a:solidFill>
                  <a:srgbClr val="000000"/>
                </a:solidFill>
                <a:latin typeface="Open Sans"/>
                <a:ea typeface="Open Sans"/>
                <a:cs typeface="Open Sans"/>
                <a:sym typeface="Open Sans"/>
              </a:rPr>
              <a:t>Utilizar WriteLine para escribir líneas completas con salto de línea, o Write para escribir sin salto automático.</a:t>
            </a:r>
          </a:p>
          <a:p>
            <a:pPr algn="just" marL="647700" indent="-323850" lvl="1">
              <a:lnSpc>
                <a:spcPts val="5040"/>
              </a:lnSpc>
              <a:buFont typeface="Arial"/>
              <a:buChar char="•"/>
            </a:pPr>
            <a:r>
              <a:rPr lang="en-US" b="true" sz="3000">
                <a:solidFill>
                  <a:srgbClr val="000000"/>
                </a:solidFill>
                <a:latin typeface="Open Sans Bold"/>
                <a:ea typeface="Open Sans Bold"/>
                <a:cs typeface="Open Sans Bold"/>
                <a:sym typeface="Open Sans Bold"/>
              </a:rPr>
              <a:t>Cerrar el archivo - </a:t>
            </a:r>
            <a:r>
              <a:rPr lang="en-US" sz="3000">
                <a:solidFill>
                  <a:srgbClr val="000000"/>
                </a:solidFill>
                <a:latin typeface="Open Sans"/>
                <a:ea typeface="Open Sans"/>
                <a:cs typeface="Open Sans"/>
                <a:sym typeface="Open Sans"/>
              </a:rPr>
              <a:t>Invocar el método Close para asegurar que todos los datos se escriban y liberar los recursos del sistema.</a:t>
            </a:r>
          </a:p>
          <a:p>
            <a:pPr algn="just" marL="647700" indent="-323850" lvl="1">
              <a:lnSpc>
                <a:spcPts val="5040"/>
              </a:lnSpc>
              <a:buFont typeface="Arial"/>
              <a:buChar char="•"/>
            </a:pPr>
            <a:r>
              <a:rPr lang="en-US" b="true" sz="3000">
                <a:solidFill>
                  <a:srgbClr val="000000"/>
                </a:solidFill>
                <a:latin typeface="Open Sans Bold"/>
                <a:ea typeface="Open Sans Bold"/>
                <a:cs typeface="Open Sans Bold"/>
                <a:sym typeface="Open Sans Bold"/>
              </a:rPr>
              <a:t>Implementar manejo de excepciones -</a:t>
            </a:r>
            <a:r>
              <a:rPr lang="en-US" sz="3000">
                <a:solidFill>
                  <a:srgbClr val="000000"/>
                </a:solidFill>
                <a:latin typeface="Open Sans"/>
                <a:ea typeface="Open Sans"/>
                <a:cs typeface="Open Sans"/>
                <a:sym typeface="Open Sans"/>
              </a:rPr>
              <a:t> Usar bloques try-catch-finally para garantizar que el archivo se cierre correctamente incluso si ocurren errores durante la escritura.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5757" y="2042719"/>
            <a:ext cx="6190676" cy="166318"/>
          </a:xfrm>
          <a:custGeom>
            <a:avLst/>
            <a:gdLst/>
            <a:ahLst/>
            <a:cxnLst/>
            <a:rect r="r" b="b" t="t" l="l"/>
            <a:pathLst>
              <a:path h="166318" w="6190676">
                <a:moveTo>
                  <a:pt x="0" y="0"/>
                </a:moveTo>
                <a:lnTo>
                  <a:pt x="6190676" y="0"/>
                </a:lnTo>
                <a:lnTo>
                  <a:pt x="6190676" y="166318"/>
                </a:lnTo>
                <a:lnTo>
                  <a:pt x="0" y="1663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235757" y="762000"/>
            <a:ext cx="11020938" cy="1177289"/>
          </a:xfrm>
          <a:prstGeom prst="rect">
            <a:avLst/>
          </a:prstGeom>
        </p:spPr>
        <p:txBody>
          <a:bodyPr anchor="t" rtlCol="false" tIns="0" lIns="0" bIns="0" rIns="0">
            <a:spAutoFit/>
          </a:bodyPr>
          <a:lstStyle/>
          <a:p>
            <a:pPr algn="l">
              <a:lnSpc>
                <a:spcPts val="10080"/>
              </a:lnSpc>
            </a:pPr>
            <a:r>
              <a:rPr lang="en-US" b="true" sz="6000">
                <a:solidFill>
                  <a:srgbClr val="000000"/>
                </a:solidFill>
                <a:latin typeface="Open Sans Bold"/>
                <a:ea typeface="Open Sans Bold"/>
                <a:cs typeface="Open Sans Bold"/>
                <a:sym typeface="Open Sans Bold"/>
              </a:rPr>
              <a:t>EX</a:t>
            </a:r>
            <a:r>
              <a:rPr lang="en-US" b="true" sz="6000">
                <a:solidFill>
                  <a:srgbClr val="000000"/>
                </a:solidFill>
                <a:latin typeface="Open Sans Bold"/>
                <a:ea typeface="Open Sans Bold"/>
                <a:cs typeface="Open Sans Bold"/>
                <a:sym typeface="Open Sans Bold"/>
              </a:rPr>
              <a:t>PRESIONES REGULARES</a:t>
            </a:r>
          </a:p>
        </p:txBody>
      </p:sp>
      <p:sp>
        <p:nvSpPr>
          <p:cNvPr name="TextBox 4" id="4"/>
          <p:cNvSpPr txBox="true"/>
          <p:nvPr/>
        </p:nvSpPr>
        <p:spPr>
          <a:xfrm rot="0">
            <a:off x="1235757" y="2287905"/>
            <a:ext cx="15816486" cy="6970395"/>
          </a:xfrm>
          <a:prstGeom prst="rect">
            <a:avLst/>
          </a:prstGeom>
        </p:spPr>
        <p:txBody>
          <a:bodyPr anchor="t" rtlCol="false" tIns="0" lIns="0" bIns="0" rIns="0">
            <a:spAutoFit/>
          </a:bodyPr>
          <a:lstStyle/>
          <a:p>
            <a:pPr algn="just">
              <a:lnSpc>
                <a:spcPts val="5040"/>
              </a:lnSpc>
            </a:pPr>
            <a:r>
              <a:rPr lang="en-US" sz="3000">
                <a:solidFill>
                  <a:srgbClr val="000000"/>
                </a:solidFill>
                <a:latin typeface="Open Sans"/>
                <a:ea typeface="Open Sans"/>
                <a:cs typeface="Open Sans"/>
                <a:sym typeface="Open Sans"/>
              </a:rPr>
              <a:t>Una expresión regular es un modelo con el que el motor de expresiones regulares intenta buscar una coincidencia en el texto de entrada</a:t>
            </a:r>
            <a:r>
              <a:rPr lang="en-US" sz="3000">
                <a:solidFill>
                  <a:srgbClr val="000000"/>
                </a:solidFill>
                <a:latin typeface="Open Sans"/>
                <a:ea typeface="Open Sans"/>
                <a:cs typeface="Open Sans"/>
                <a:sym typeface="Open Sans"/>
              </a:rPr>
              <a:t>. Un modelo consta de uno o más literales de carácter, operadores o estructuras. Las expresiones regulares son una </a:t>
            </a:r>
            <a:r>
              <a:rPr lang="en-US" sz="3000">
                <a:solidFill>
                  <a:srgbClr val="000000"/>
                </a:solidFill>
                <a:latin typeface="Open Sans"/>
                <a:ea typeface="Open Sans"/>
                <a:cs typeface="Open Sans"/>
                <a:sym typeface="Open Sans"/>
              </a:rPr>
              <a:t>herramienta fundamental para el procesamiento y validación de texto, permitiendo definir patrones de búsqueda complejos mediante una sintaxis especializada. Estos patrones pueden utilizarse para validar formatos (como correos electrónicos o números de teléfono), extraer información específica de textos, reemplazar contenido o dividir cadenas según criterios determinados. El motor de expresiones regulares interpreta estos patrones y los aplica sobre cadenas de texto, evaluando si existe coincidencia total o parcial según las reglas definidas, lo que convierte a las expresiones regulares en una poderosa herramienta para manipulación y análisis de datos textuales en programación.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5452" y="1630189"/>
            <a:ext cx="6190676" cy="166318"/>
          </a:xfrm>
          <a:custGeom>
            <a:avLst/>
            <a:gdLst/>
            <a:ahLst/>
            <a:cxnLst/>
            <a:rect r="r" b="b" t="t" l="l"/>
            <a:pathLst>
              <a:path h="166318" w="6190676">
                <a:moveTo>
                  <a:pt x="0" y="0"/>
                </a:moveTo>
                <a:lnTo>
                  <a:pt x="6190676" y="0"/>
                </a:lnTo>
                <a:lnTo>
                  <a:pt x="6190676" y="166318"/>
                </a:lnTo>
                <a:lnTo>
                  <a:pt x="0" y="1663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845452" y="1933865"/>
            <a:ext cx="7319812" cy="7736966"/>
          </a:xfrm>
          <a:prstGeom prst="rect">
            <a:avLst/>
          </a:prstGeom>
        </p:spPr>
        <p:txBody>
          <a:bodyPr anchor="t" rtlCol="false" tIns="0" lIns="0" bIns="0" rIns="0">
            <a:spAutoFit/>
          </a:bodyPr>
          <a:lstStyle/>
          <a:p>
            <a:pPr algn="just">
              <a:lnSpc>
                <a:spcPts val="3864"/>
              </a:lnSpc>
            </a:pPr>
            <a:r>
              <a:rPr lang="en-US" sz="2300">
                <a:solidFill>
                  <a:srgbClr val="000000"/>
                </a:solidFill>
                <a:latin typeface="Open Sans"/>
                <a:ea typeface="Open Sans"/>
                <a:cs typeface="Open Sans"/>
                <a:sym typeface="Open Sans"/>
              </a:rPr>
              <a:t>Este ejemplo utiliza expresiones regulares para validar direcciones de correo electrónico. Se define un patrón que especifica las reglas que debe cumplir</a:t>
            </a:r>
            <a:r>
              <a:rPr lang="en-US" sz="2300">
                <a:solidFill>
                  <a:srgbClr val="000000"/>
                </a:solidFill>
                <a:latin typeface="Open Sans"/>
                <a:ea typeface="Open Sans"/>
                <a:cs typeface="Open Sans"/>
                <a:sym typeface="Open Sans"/>
              </a:rPr>
              <a:t> un email válido: debe comenzar con caracteres alfanuméricos, guiones o puntos, s</a:t>
            </a:r>
            <a:r>
              <a:rPr lang="en-US" sz="2300">
                <a:solidFill>
                  <a:srgbClr val="000000"/>
                </a:solidFill>
                <a:latin typeface="Open Sans"/>
                <a:ea typeface="Open Sans"/>
                <a:cs typeface="Open Sans"/>
                <a:sym typeface="Open Sans"/>
              </a:rPr>
              <a:t>eguido del símbolo @, luego el dominio que también contiene caracteres alfanuméricos y puntos, y finalmente una extensión de al menos dos letras. El método Regex.IsMatch() compara cada cadena de texto contra el patrón definido y devuelve verdadero si la cadena cumple con todas las reglas especificadas en la expresión regular, o falso en caso contrario. En el ejemplo, el primer correo cumple con el patrón y se valida como correcto, mientras que el segundo no contiene el símbolo @ ni un dominio válido, por lo que se marca como inválido.</a:t>
            </a:r>
          </a:p>
        </p:txBody>
      </p:sp>
      <p:sp>
        <p:nvSpPr>
          <p:cNvPr name="Freeform 4" id="4"/>
          <p:cNvSpPr/>
          <p:nvPr/>
        </p:nvSpPr>
        <p:spPr>
          <a:xfrm flipH="false" flipV="false" rot="0">
            <a:off x="8361210" y="3439021"/>
            <a:ext cx="9081338" cy="4369452"/>
          </a:xfrm>
          <a:custGeom>
            <a:avLst/>
            <a:gdLst/>
            <a:ahLst/>
            <a:cxnLst/>
            <a:rect r="r" b="b" t="t" l="l"/>
            <a:pathLst>
              <a:path h="4369452" w="9081338">
                <a:moveTo>
                  <a:pt x="0" y="0"/>
                </a:moveTo>
                <a:lnTo>
                  <a:pt x="9081338" y="0"/>
                </a:lnTo>
                <a:lnTo>
                  <a:pt x="9081338" y="4369452"/>
                </a:lnTo>
                <a:lnTo>
                  <a:pt x="0" y="4369452"/>
                </a:lnTo>
                <a:lnTo>
                  <a:pt x="0" y="0"/>
                </a:lnTo>
                <a:close/>
              </a:path>
            </a:pathLst>
          </a:custGeom>
          <a:blipFill>
            <a:blip r:embed="rId5"/>
            <a:stretch>
              <a:fillRect l="0" t="0" r="0" b="0"/>
            </a:stretch>
          </a:blipFill>
        </p:spPr>
      </p:sp>
      <p:sp>
        <p:nvSpPr>
          <p:cNvPr name="TextBox 5" id="5"/>
          <p:cNvSpPr txBox="true"/>
          <p:nvPr/>
        </p:nvSpPr>
        <p:spPr>
          <a:xfrm rot="0">
            <a:off x="845452" y="349469"/>
            <a:ext cx="11020938" cy="1177289"/>
          </a:xfrm>
          <a:prstGeom prst="rect">
            <a:avLst/>
          </a:prstGeom>
        </p:spPr>
        <p:txBody>
          <a:bodyPr anchor="t" rtlCol="false" tIns="0" lIns="0" bIns="0" rIns="0">
            <a:spAutoFit/>
          </a:bodyPr>
          <a:lstStyle/>
          <a:p>
            <a:pPr algn="l">
              <a:lnSpc>
                <a:spcPts val="10080"/>
              </a:lnSpc>
            </a:pPr>
            <a:r>
              <a:rPr lang="en-US" b="true" sz="6000">
                <a:solidFill>
                  <a:srgbClr val="000000"/>
                </a:solidFill>
                <a:latin typeface="Open Sans Bold"/>
                <a:ea typeface="Open Sans Bold"/>
                <a:cs typeface="Open Sans Bold"/>
                <a:sym typeface="Open Sans Bold"/>
              </a:rPr>
              <a:t>EX</a:t>
            </a:r>
            <a:r>
              <a:rPr lang="en-US" b="true" sz="6000">
                <a:solidFill>
                  <a:srgbClr val="000000"/>
                </a:solidFill>
                <a:latin typeface="Open Sans Bold"/>
                <a:ea typeface="Open Sans Bold"/>
                <a:cs typeface="Open Sans Bold"/>
                <a:sym typeface="Open Sans Bold"/>
              </a:rPr>
              <a:t>PRESIONES REGULARES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93370" y="547449"/>
            <a:ext cx="11301260" cy="1553928"/>
            <a:chOff x="0" y="0"/>
            <a:chExt cx="15068347" cy="2071903"/>
          </a:xfrm>
        </p:grpSpPr>
        <p:sp>
          <p:nvSpPr>
            <p:cNvPr name="Freeform 3" id="3"/>
            <p:cNvSpPr/>
            <p:nvPr/>
          </p:nvSpPr>
          <p:spPr>
            <a:xfrm flipH="false" flipV="false" rot="0">
              <a:off x="0" y="0"/>
              <a:ext cx="15068296" cy="2071878"/>
            </a:xfrm>
            <a:custGeom>
              <a:avLst/>
              <a:gdLst/>
              <a:ahLst/>
              <a:cxnLst/>
              <a:rect r="r" b="b" t="t" l="l"/>
              <a:pathLst>
                <a:path h="2071878" w="15068296">
                  <a:moveTo>
                    <a:pt x="0" y="0"/>
                  </a:moveTo>
                  <a:lnTo>
                    <a:pt x="15068296" y="0"/>
                  </a:lnTo>
                  <a:lnTo>
                    <a:pt x="15068296" y="2071878"/>
                  </a:lnTo>
                  <a:lnTo>
                    <a:pt x="0" y="2071878"/>
                  </a:lnTo>
                  <a:lnTo>
                    <a:pt x="0" y="0"/>
                  </a:lnTo>
                  <a:close/>
                </a:path>
              </a:pathLst>
            </a:custGeom>
            <a:blipFill>
              <a:blip r:embed="rId3"/>
              <a:stretch>
                <a:fillRect l="-61" t="0" r="-61" b="-1"/>
              </a:stretch>
            </a:blipFill>
          </p:spPr>
        </p:sp>
      </p:grpSp>
      <p:sp>
        <p:nvSpPr>
          <p:cNvPr name="TextBox 4" id="4"/>
          <p:cNvSpPr txBox="true"/>
          <p:nvPr/>
        </p:nvSpPr>
        <p:spPr>
          <a:xfrm rot="0">
            <a:off x="1491656" y="2204684"/>
            <a:ext cx="15304688" cy="6662167"/>
          </a:xfrm>
          <a:prstGeom prst="rect">
            <a:avLst/>
          </a:prstGeom>
        </p:spPr>
        <p:txBody>
          <a:bodyPr anchor="t" rtlCol="false" tIns="0" lIns="0" bIns="0" rIns="0">
            <a:spAutoFit/>
          </a:bodyPr>
          <a:lstStyle/>
          <a:p>
            <a:pPr algn="just">
              <a:lnSpc>
                <a:spcPts val="4871"/>
              </a:lnSpc>
            </a:pPr>
            <a:r>
              <a:rPr lang="en-US" b="true" sz="2899">
                <a:solidFill>
                  <a:srgbClr val="000000"/>
                </a:solidFill>
                <a:latin typeface="Open Sans Bold"/>
                <a:ea typeface="Open Sans Bold"/>
                <a:cs typeface="Open Sans Bold"/>
                <a:sym typeface="Open Sans Bold"/>
              </a:rPr>
              <a:t>1. TDA (Tip</a:t>
            </a:r>
            <a:r>
              <a:rPr lang="en-US" b="true" sz="2899">
                <a:solidFill>
                  <a:srgbClr val="000000"/>
                </a:solidFill>
                <a:latin typeface="Open Sans Bold"/>
                <a:ea typeface="Open Sans Bold"/>
                <a:cs typeface="Open Sans Bold"/>
                <a:sym typeface="Open Sans Bold"/>
              </a:rPr>
              <a:t>o de Dato Abstracto)</a:t>
            </a:r>
            <a:r>
              <a:rPr lang="en-US" sz="2899">
                <a:solidFill>
                  <a:srgbClr val="000000"/>
                </a:solidFill>
                <a:latin typeface="Open Sans"/>
                <a:ea typeface="Open Sans"/>
                <a:cs typeface="Open Sans"/>
                <a:sym typeface="Open Sans"/>
              </a:rPr>
              <a:t> - Modelo que define operaciones sobre datos sin especificar su implementación. Se enfoca en el "qué" hacer, no en el "cómo" hacerlo.</a:t>
            </a:r>
          </a:p>
          <a:p>
            <a:pPr algn="just">
              <a:lnSpc>
                <a:spcPts val="4871"/>
              </a:lnSpc>
            </a:pPr>
            <a:r>
              <a:rPr lang="en-US" b="true" sz="2899">
                <a:solidFill>
                  <a:srgbClr val="000000"/>
                </a:solidFill>
                <a:latin typeface="Open Sans Bold"/>
                <a:ea typeface="Open Sans Bold"/>
                <a:cs typeface="Open Sans Bold"/>
                <a:sym typeface="Open Sans Bold"/>
              </a:rPr>
              <a:t>2. Estructuras de Datos Nativas en C#</a:t>
            </a:r>
            <a:r>
              <a:rPr lang="en-US" sz="2899">
                <a:solidFill>
                  <a:srgbClr val="000000"/>
                </a:solidFill>
                <a:latin typeface="Open Sans"/>
                <a:ea typeface="Open Sans"/>
                <a:cs typeface="Open Sans"/>
                <a:sym typeface="Open Sans"/>
              </a:rPr>
              <a:t> - C# proporciona Arrays (tamaño fijo), List&lt;T&gt; (dinámicas), Dictionary&lt;TKey, TValue&gt; (clave-valor), y Tuplas (agrupación de tipos diferentes).</a:t>
            </a:r>
          </a:p>
          <a:p>
            <a:pPr algn="just">
              <a:lnSpc>
                <a:spcPts val="4871"/>
              </a:lnSpc>
            </a:pPr>
            <a:r>
              <a:rPr lang="en-US" b="true" sz="2899">
                <a:solidFill>
                  <a:srgbClr val="000000"/>
                </a:solidFill>
                <a:latin typeface="Open Sans Bold"/>
                <a:ea typeface="Open Sans Bold"/>
                <a:cs typeface="Open Sans Bold"/>
                <a:sym typeface="Open Sans Bold"/>
              </a:rPr>
              <a:t>3. Persistencia de Ficheros</a:t>
            </a:r>
            <a:r>
              <a:rPr lang="en-US" sz="2899">
                <a:solidFill>
                  <a:srgbClr val="000000"/>
                </a:solidFill>
                <a:latin typeface="Open Sans"/>
                <a:ea typeface="Open Sans"/>
                <a:cs typeface="Open Sans"/>
                <a:sym typeface="Open Sans"/>
              </a:rPr>
              <a:t> - Los ficheros almacenan datos permanentemente en dispositivos no volátiles. Se utilizan StreamReader para leer y StreamWriter para escribir.</a:t>
            </a:r>
          </a:p>
          <a:p>
            <a:pPr algn="just">
              <a:lnSpc>
                <a:spcPts val="4871"/>
              </a:lnSpc>
            </a:pPr>
            <a:r>
              <a:rPr lang="en-US" b="true" sz="2899">
                <a:solidFill>
                  <a:srgbClr val="000000"/>
                </a:solidFill>
                <a:latin typeface="Open Sans Bold"/>
                <a:ea typeface="Open Sans Bold"/>
                <a:cs typeface="Open Sans Bold"/>
                <a:sym typeface="Open Sans Bold"/>
              </a:rPr>
              <a:t>4. Expresiones Regulares</a:t>
            </a:r>
            <a:r>
              <a:rPr lang="en-US" sz="2899">
                <a:solidFill>
                  <a:srgbClr val="000000"/>
                </a:solidFill>
                <a:latin typeface="Open Sans"/>
                <a:ea typeface="Open Sans"/>
                <a:cs typeface="Open Sans"/>
                <a:sym typeface="Open Sans"/>
              </a:rPr>
              <a:t> - Patrones de texto que permiten buscar, validar y manipular cadenas mediante sintaxis especializada, útiles para validaciones y búsquedas complejas.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17018" y="520960"/>
            <a:ext cx="13653964" cy="1873948"/>
            <a:chOff x="0" y="0"/>
            <a:chExt cx="18205285" cy="2498598"/>
          </a:xfrm>
        </p:grpSpPr>
        <p:sp>
          <p:nvSpPr>
            <p:cNvPr name="Freeform 3" id="3"/>
            <p:cNvSpPr/>
            <p:nvPr/>
          </p:nvSpPr>
          <p:spPr>
            <a:xfrm flipH="false" flipV="false" rot="0">
              <a:off x="0" y="0"/>
              <a:ext cx="18205323" cy="2498598"/>
            </a:xfrm>
            <a:custGeom>
              <a:avLst/>
              <a:gdLst/>
              <a:ahLst/>
              <a:cxnLst/>
              <a:rect r="r" b="b" t="t" l="l"/>
              <a:pathLst>
                <a:path h="2498598" w="18205323">
                  <a:moveTo>
                    <a:pt x="0" y="0"/>
                  </a:moveTo>
                  <a:lnTo>
                    <a:pt x="18205323" y="0"/>
                  </a:lnTo>
                  <a:lnTo>
                    <a:pt x="18205323" y="2498598"/>
                  </a:lnTo>
                  <a:lnTo>
                    <a:pt x="0" y="2498598"/>
                  </a:lnTo>
                  <a:lnTo>
                    <a:pt x="0" y="0"/>
                  </a:lnTo>
                  <a:close/>
                </a:path>
              </a:pathLst>
            </a:custGeom>
            <a:blipFill>
              <a:blip r:embed="rId3"/>
              <a:stretch>
                <a:fillRect l="0" t="-164" r="0" b="-164"/>
              </a:stretch>
            </a:blipFill>
          </p:spPr>
        </p:sp>
      </p:grpSp>
      <p:sp>
        <p:nvSpPr>
          <p:cNvPr name="TextBox 4" id="4"/>
          <p:cNvSpPr txBox="true"/>
          <p:nvPr/>
        </p:nvSpPr>
        <p:spPr>
          <a:xfrm rot="0">
            <a:off x="893075" y="2037010"/>
            <a:ext cx="16501850" cy="6495288"/>
          </a:xfrm>
          <a:prstGeom prst="rect">
            <a:avLst/>
          </a:prstGeom>
        </p:spPr>
        <p:txBody>
          <a:bodyPr anchor="t" rtlCol="false" tIns="0" lIns="0" bIns="0" rIns="0">
            <a:spAutoFit/>
          </a:bodyPr>
          <a:lstStyle/>
          <a:p>
            <a:pPr algn="l" marL="949959" indent="-316653" lvl="2">
              <a:lnSpc>
                <a:spcPts val="3695"/>
              </a:lnSpc>
              <a:buFont typeface="Arial"/>
              <a:buChar char="⚬"/>
            </a:pPr>
            <a:r>
              <a:rPr lang="en-US" sz="2199" strike="noStrike" u="none">
                <a:solidFill>
                  <a:srgbClr val="000000"/>
                </a:solidFill>
                <a:latin typeface="Open Sans"/>
                <a:ea typeface="Open Sans"/>
                <a:cs typeface="Open Sans"/>
                <a:sym typeface="Open Sans"/>
              </a:rPr>
              <a:t>Imaginaformación. (s.f.). Cómo usar los arrays en C#. https://imaginaformacion.com/tutoriales/como-usar-los-arrays-en-csharp</a:t>
            </a:r>
          </a:p>
          <a:p>
            <a:pPr algn="l" marL="949959" indent="-316653" lvl="2">
              <a:lnSpc>
                <a:spcPts val="3695"/>
              </a:lnSpc>
              <a:buFont typeface="Arial"/>
              <a:buChar char="⚬"/>
            </a:pPr>
            <a:r>
              <a:rPr lang="en-US" sz="2199" strike="noStrike" u="none">
                <a:solidFill>
                  <a:srgbClr val="000000"/>
                </a:solidFill>
                <a:latin typeface="Open Sans"/>
                <a:ea typeface="Open Sans"/>
                <a:cs typeface="Open Sans"/>
                <a:sym typeface="Open Sans"/>
              </a:rPr>
              <a:t>Lewis, J. (2023, 28 de abril). A quick tour of lists in C#. DEV Community. https://dev.to/jlewis92/a-quick-tour-of-lists-in-c-2id5</a:t>
            </a:r>
          </a:p>
          <a:p>
            <a:pPr algn="l" marL="949959" indent="-316653" lvl="2">
              <a:lnSpc>
                <a:spcPts val="3695"/>
              </a:lnSpc>
              <a:buFont typeface="Arial"/>
              <a:buChar char="⚬"/>
            </a:pPr>
            <a:r>
              <a:rPr lang="en-US" sz="2199" strike="noStrike" u="none">
                <a:solidFill>
                  <a:srgbClr val="000000"/>
                </a:solidFill>
                <a:latin typeface="Open Sans"/>
                <a:ea typeface="Open Sans"/>
                <a:cs typeface="Open Sans"/>
                <a:sym typeface="Open Sans"/>
              </a:rPr>
              <a:t>Llamas, L. (s.f.). C# - Qué son diccionarios. Luis Llamas. https://www.luisllamas.es/csharp-que-son-diccionarios/</a:t>
            </a:r>
          </a:p>
          <a:p>
            <a:pPr algn="l" marL="949959" indent="-316653" lvl="2">
              <a:lnSpc>
                <a:spcPts val="3695"/>
              </a:lnSpc>
              <a:buFont typeface="Arial"/>
              <a:buChar char="⚬"/>
            </a:pPr>
            <a:r>
              <a:rPr lang="en-US" sz="2199" strike="noStrike" u="none">
                <a:solidFill>
                  <a:srgbClr val="000000"/>
                </a:solidFill>
                <a:latin typeface="Open Sans"/>
                <a:ea typeface="Open Sans"/>
                <a:cs typeface="Open Sans"/>
                <a:sym typeface="Open Sans"/>
              </a:rPr>
              <a:t>Llamas, L. (s.f.). C# - Qué son tuplas. Luis Llamas. https://www.luisllamas.es/csharp-que-son-tuplas/</a:t>
            </a:r>
          </a:p>
          <a:p>
            <a:pPr algn="l" marL="949959" indent="-316653" lvl="2">
              <a:lnSpc>
                <a:spcPts val="3695"/>
              </a:lnSpc>
              <a:buFont typeface="Arial"/>
              <a:buChar char="⚬"/>
            </a:pPr>
            <a:r>
              <a:rPr lang="en-US" sz="2199" strike="noStrike" u="none">
                <a:solidFill>
                  <a:srgbClr val="000000"/>
                </a:solidFill>
                <a:latin typeface="Open Sans"/>
                <a:ea typeface="Open Sans"/>
                <a:cs typeface="Open Sans"/>
                <a:sym typeface="Open Sans"/>
              </a:rPr>
              <a:t>Microsoft. (2024, 4 de julio). Lenguaje de expresiones regulares - Referencia rápida. Microsoft Learn. https://learn.microsoft.com/es-es/dotnet/standard/base-types/regular-expression-language-quick-reference</a:t>
            </a:r>
          </a:p>
          <a:p>
            <a:pPr algn="l" marL="949959" indent="-316653" lvl="2">
              <a:lnSpc>
                <a:spcPts val="3695"/>
              </a:lnSpc>
              <a:buFont typeface="Arial"/>
              <a:buChar char="⚬"/>
            </a:pPr>
            <a:r>
              <a:rPr lang="en-US" sz="2199" strike="noStrike" u="none">
                <a:solidFill>
                  <a:srgbClr val="000000"/>
                </a:solidFill>
                <a:latin typeface="Open Sans"/>
                <a:ea typeface="Open Sans"/>
                <a:cs typeface="Open Sans"/>
                <a:sym typeface="Open Sans"/>
              </a:rPr>
              <a:t>NetMentor. (2021, 20 de octubre). Diccionarios en C#. https://www.netmentor.es/entrada/diccionarios-csharp</a:t>
            </a:r>
          </a:p>
          <a:p>
            <a:pPr algn="l" marL="949959" indent="-316653" lvl="2">
              <a:lnSpc>
                <a:spcPts val="3695"/>
              </a:lnSpc>
              <a:buFont typeface="Arial"/>
              <a:buChar char="⚬"/>
            </a:pPr>
            <a:r>
              <a:rPr lang="en-US" sz="2199" strike="noStrike" u="none">
                <a:solidFill>
                  <a:srgbClr val="000000"/>
                </a:solidFill>
                <a:latin typeface="Open Sans"/>
                <a:ea typeface="Open Sans"/>
                <a:cs typeface="Open Sans"/>
                <a:sym typeface="Open Sans"/>
              </a:rPr>
              <a:t>NetMentor. (2021, 28 de julio). Tuple y ValueTuple en C#. https://www.netmentor.es/entrada/tuple-valuetuple</a:t>
            </a:r>
          </a:p>
          <a:p>
            <a:pPr algn="l" marL="949959" indent="-316653" lvl="2">
              <a:lnSpc>
                <a:spcPts val="3695"/>
              </a:lnSpc>
              <a:buFont typeface="Arial"/>
              <a:buChar char="⚬"/>
            </a:pPr>
            <a:r>
              <a:rPr lang="en-US" sz="2199" strike="noStrike" u="none">
                <a:solidFill>
                  <a:srgbClr val="000000"/>
                </a:solidFill>
                <a:latin typeface="Open Sans"/>
                <a:ea typeface="Open Sans"/>
                <a:cs typeface="Open Sans"/>
                <a:sym typeface="Open Sans"/>
              </a:rPr>
              <a:t>Stackify. (2023, 19 de diciembre). C# Read File: A Beginner's Guide to Reading Text Files in C#. https://stackify.com/c-read-file-a-beginners-guide-to-reading-text-files-in-c/</a:t>
            </a:r>
          </a:p>
          <a:p>
            <a:pPr algn="l" marL="949959" indent="-316653" lvl="2">
              <a:lnSpc>
                <a:spcPts val="3695"/>
              </a:lnSpc>
              <a:buFont typeface="Arial"/>
              <a:buChar char="⚬"/>
            </a:pPr>
            <a:r>
              <a:rPr lang="en-US" sz="2199" strike="noStrike" u="none">
                <a:solidFill>
                  <a:srgbClr val="000000"/>
                </a:solidFill>
                <a:latin typeface="Open Sans"/>
                <a:ea typeface="Open Sans"/>
                <a:cs typeface="Open Sans"/>
                <a:sym typeface="Open Sans"/>
              </a:rPr>
              <a:t>Universidad de Valladolid. (s.f.). Concepto de fichero. Fundamentos de Informática. https://www2.eii.uva.es/fund_inf/cpp/temas/10_ficheros/concepto_fichero.html</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292340"/>
            <a:chOff x="0" y="0"/>
            <a:chExt cx="24384000" cy="9723120"/>
          </a:xfrm>
        </p:grpSpPr>
        <p:sp>
          <p:nvSpPr>
            <p:cNvPr name="Freeform 3" id="3"/>
            <p:cNvSpPr/>
            <p:nvPr/>
          </p:nvSpPr>
          <p:spPr>
            <a:xfrm flipH="false" flipV="false" rot="0">
              <a:off x="0" y="0"/>
              <a:ext cx="24384000" cy="9723120"/>
            </a:xfrm>
            <a:custGeom>
              <a:avLst/>
              <a:gdLst/>
              <a:ahLst/>
              <a:cxnLst/>
              <a:rect r="r" b="b" t="t" l="l"/>
              <a:pathLst>
                <a:path h="9723120" w="24384000">
                  <a:moveTo>
                    <a:pt x="0" y="0"/>
                  </a:moveTo>
                  <a:lnTo>
                    <a:pt x="24384000" y="0"/>
                  </a:lnTo>
                  <a:lnTo>
                    <a:pt x="24384000" y="9723120"/>
                  </a:lnTo>
                  <a:lnTo>
                    <a:pt x="0" y="9723120"/>
                  </a:lnTo>
                  <a:lnTo>
                    <a:pt x="0" y="0"/>
                  </a:lnTo>
                  <a:close/>
                </a:path>
              </a:pathLst>
            </a:custGeom>
            <a:blipFill>
              <a:blip r:embed="rId3"/>
              <a:stretch>
                <a:fillRect l="0" t="-19" r="0" b="-19"/>
              </a:stretch>
            </a:blipFill>
          </p:spPr>
        </p:sp>
      </p:grpSp>
      <p:grpSp>
        <p:nvGrpSpPr>
          <p:cNvPr name="Group 4" id="4"/>
          <p:cNvGrpSpPr/>
          <p:nvPr/>
        </p:nvGrpSpPr>
        <p:grpSpPr>
          <a:xfrm rot="0">
            <a:off x="15318705" y="7552525"/>
            <a:ext cx="2286000" cy="2209800"/>
            <a:chOff x="0" y="0"/>
            <a:chExt cx="3048000" cy="2946400"/>
          </a:xfrm>
        </p:grpSpPr>
        <p:sp>
          <p:nvSpPr>
            <p:cNvPr name="Freeform 5" id="5"/>
            <p:cNvSpPr/>
            <p:nvPr/>
          </p:nvSpPr>
          <p:spPr>
            <a:xfrm flipH="false" flipV="false" rot="0">
              <a:off x="0" y="0"/>
              <a:ext cx="3048000" cy="2946400"/>
            </a:xfrm>
            <a:custGeom>
              <a:avLst/>
              <a:gdLst/>
              <a:ahLst/>
              <a:cxnLst/>
              <a:rect r="r" b="b" t="t" l="l"/>
              <a:pathLst>
                <a:path h="2946400" w="3048000">
                  <a:moveTo>
                    <a:pt x="0" y="0"/>
                  </a:moveTo>
                  <a:lnTo>
                    <a:pt x="3048000" y="0"/>
                  </a:lnTo>
                  <a:lnTo>
                    <a:pt x="3048000" y="2946400"/>
                  </a:lnTo>
                  <a:lnTo>
                    <a:pt x="0" y="2946400"/>
                  </a:lnTo>
                  <a:close/>
                </a:path>
              </a:pathLst>
            </a:custGeom>
            <a:solidFill>
              <a:srgbClr val="FF5757"/>
            </a:solidFill>
          </p:spPr>
        </p:sp>
      </p:grpSp>
      <p:grpSp>
        <p:nvGrpSpPr>
          <p:cNvPr name="Group 6" id="6"/>
          <p:cNvGrpSpPr/>
          <p:nvPr/>
        </p:nvGrpSpPr>
        <p:grpSpPr>
          <a:xfrm rot="0">
            <a:off x="15318705" y="7552525"/>
            <a:ext cx="2286000" cy="2286000"/>
            <a:chOff x="0" y="0"/>
            <a:chExt cx="3048000" cy="3048000"/>
          </a:xfrm>
        </p:grpSpPr>
        <p:sp>
          <p:nvSpPr>
            <p:cNvPr name="Freeform 7" id="7"/>
            <p:cNvSpPr/>
            <p:nvPr/>
          </p:nvSpPr>
          <p:spPr>
            <a:xfrm flipH="false" flipV="false" rot="0">
              <a:off x="0" y="0"/>
              <a:ext cx="3048000" cy="3048000"/>
            </a:xfrm>
            <a:custGeom>
              <a:avLst/>
              <a:gdLst/>
              <a:ahLst/>
              <a:cxnLst/>
              <a:rect r="r" b="b" t="t" l="l"/>
              <a:pathLst>
                <a:path h="3048000" w="3048000">
                  <a:moveTo>
                    <a:pt x="0" y="2946400"/>
                  </a:moveTo>
                  <a:lnTo>
                    <a:pt x="3048000" y="2946400"/>
                  </a:lnTo>
                  <a:lnTo>
                    <a:pt x="2921000" y="3048000"/>
                  </a:lnTo>
                  <a:cubicBezTo>
                    <a:pt x="2921000" y="3048000"/>
                    <a:pt x="1930400" y="2971800"/>
                    <a:pt x="1828800" y="2971800"/>
                  </a:cubicBezTo>
                  <a:lnTo>
                    <a:pt x="1219200" y="2971800"/>
                  </a:lnTo>
                  <a:cubicBezTo>
                    <a:pt x="1117600" y="2971800"/>
                    <a:pt x="127000" y="3048000"/>
                    <a:pt x="127000" y="3048000"/>
                  </a:cubicBezTo>
                  <a:lnTo>
                    <a:pt x="0" y="2946400"/>
                  </a:lnTo>
                  <a:lnTo>
                    <a:pt x="0" y="0"/>
                  </a:lnTo>
                  <a:lnTo>
                    <a:pt x="3048000" y="0"/>
                  </a:lnTo>
                  <a:lnTo>
                    <a:pt x="3048000" y="2946400"/>
                  </a:lnTo>
                  <a:lnTo>
                    <a:pt x="12700" y="2946400"/>
                  </a:lnTo>
                  <a:lnTo>
                    <a:pt x="12700" y="2933700"/>
                  </a:lnTo>
                  <a:lnTo>
                    <a:pt x="3035300" y="2933700"/>
                  </a:lnTo>
                  <a:lnTo>
                    <a:pt x="3035300" y="12700"/>
                  </a:lnTo>
                  <a:lnTo>
                    <a:pt x="12700" y="12700"/>
                  </a:lnTo>
                  <a:lnTo>
                    <a:pt x="12700" y="2946400"/>
                  </a:lnTo>
                </a:path>
              </a:pathLst>
            </a:custGeom>
            <a:solidFill>
              <a:srgbClr val="394C60">
                <a:alpha val="0"/>
              </a:srgbClr>
            </a:solidFill>
          </p:spPr>
        </p:sp>
      </p:grpSp>
      <p:sp>
        <p:nvSpPr>
          <p:cNvPr name="TextBox 8" id="8"/>
          <p:cNvSpPr txBox="true"/>
          <p:nvPr/>
        </p:nvSpPr>
        <p:spPr>
          <a:xfrm rot="0">
            <a:off x="15521902" y="7667615"/>
            <a:ext cx="1879597" cy="1548603"/>
          </a:xfrm>
          <a:prstGeom prst="rect">
            <a:avLst/>
          </a:prstGeom>
        </p:spPr>
        <p:txBody>
          <a:bodyPr anchor="t" rtlCol="false" tIns="0" lIns="0" bIns="0" rIns="0">
            <a:spAutoFit/>
          </a:bodyPr>
          <a:lstStyle/>
          <a:p>
            <a:pPr algn="l">
              <a:lnSpc>
                <a:spcPts val="2351"/>
              </a:lnSpc>
            </a:pPr>
            <a:r>
              <a:rPr lang="en-US" sz="1399">
                <a:solidFill>
                  <a:srgbClr val="000000"/>
                </a:solidFill>
                <a:latin typeface="Open Sans"/>
                <a:ea typeface="Open Sans"/>
                <a:cs typeface="Open Sans"/>
                <a:sym typeface="Open Sans"/>
              </a:rPr>
              <a:t>Crearas el ejemplo práctico que tu impartirás en la clase como refuerzo de la teoria dada. </a:t>
            </a:r>
          </a:p>
          <a:p>
            <a:pPr algn="l">
              <a:lnSpc>
                <a:spcPts val="2351"/>
              </a:lnSpc>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6217920"/>
            <a:chOff x="0" y="0"/>
            <a:chExt cx="24384000" cy="8290560"/>
          </a:xfrm>
        </p:grpSpPr>
        <p:sp>
          <p:nvSpPr>
            <p:cNvPr name="Freeform 3" id="3"/>
            <p:cNvSpPr/>
            <p:nvPr/>
          </p:nvSpPr>
          <p:spPr>
            <a:xfrm flipH="false" flipV="false" rot="0">
              <a:off x="0" y="0"/>
              <a:ext cx="24384000" cy="8290560"/>
            </a:xfrm>
            <a:custGeom>
              <a:avLst/>
              <a:gdLst/>
              <a:ahLst/>
              <a:cxnLst/>
              <a:rect r="r" b="b" t="t" l="l"/>
              <a:pathLst>
                <a:path h="8290560" w="24384000">
                  <a:moveTo>
                    <a:pt x="0" y="0"/>
                  </a:moveTo>
                  <a:lnTo>
                    <a:pt x="24384000" y="0"/>
                  </a:lnTo>
                  <a:lnTo>
                    <a:pt x="24384000" y="8290560"/>
                  </a:lnTo>
                  <a:lnTo>
                    <a:pt x="0" y="8290560"/>
                  </a:lnTo>
                  <a:lnTo>
                    <a:pt x="0" y="0"/>
                  </a:lnTo>
                  <a:close/>
                </a:path>
              </a:pathLst>
            </a:custGeom>
            <a:blipFill>
              <a:blip r:embed="rId3"/>
              <a:stretch>
                <a:fillRect l="-34" t="0" r="-34" b="0"/>
              </a:stretch>
            </a:blipFill>
          </p:spPr>
        </p:sp>
      </p:grpSp>
      <p:grpSp>
        <p:nvGrpSpPr>
          <p:cNvPr name="Group 4" id="4"/>
          <p:cNvGrpSpPr/>
          <p:nvPr/>
        </p:nvGrpSpPr>
        <p:grpSpPr>
          <a:xfrm rot="0">
            <a:off x="14677739" y="6964975"/>
            <a:ext cx="2286000" cy="2424255"/>
            <a:chOff x="0" y="0"/>
            <a:chExt cx="3048000" cy="3232340"/>
          </a:xfrm>
        </p:grpSpPr>
        <p:sp>
          <p:nvSpPr>
            <p:cNvPr name="Freeform 5" id="5"/>
            <p:cNvSpPr/>
            <p:nvPr/>
          </p:nvSpPr>
          <p:spPr>
            <a:xfrm flipH="false" flipV="false" rot="0">
              <a:off x="0" y="0"/>
              <a:ext cx="3048000" cy="3232404"/>
            </a:xfrm>
            <a:custGeom>
              <a:avLst/>
              <a:gdLst/>
              <a:ahLst/>
              <a:cxnLst/>
              <a:rect r="r" b="b" t="t" l="l"/>
              <a:pathLst>
                <a:path h="3232404" w="3048000">
                  <a:moveTo>
                    <a:pt x="0" y="0"/>
                  </a:moveTo>
                  <a:lnTo>
                    <a:pt x="3048000" y="0"/>
                  </a:lnTo>
                  <a:lnTo>
                    <a:pt x="3048000" y="3232404"/>
                  </a:lnTo>
                  <a:lnTo>
                    <a:pt x="0" y="3232404"/>
                  </a:lnTo>
                  <a:close/>
                </a:path>
              </a:pathLst>
            </a:custGeom>
            <a:solidFill>
              <a:srgbClr val="FF5757"/>
            </a:solidFill>
          </p:spPr>
        </p:sp>
      </p:grpSp>
      <p:grpSp>
        <p:nvGrpSpPr>
          <p:cNvPr name="Group 6" id="6"/>
          <p:cNvGrpSpPr/>
          <p:nvPr/>
        </p:nvGrpSpPr>
        <p:grpSpPr>
          <a:xfrm rot="0">
            <a:off x="14677739" y="6964975"/>
            <a:ext cx="2286000" cy="2500455"/>
            <a:chOff x="0" y="0"/>
            <a:chExt cx="3048000" cy="3333940"/>
          </a:xfrm>
        </p:grpSpPr>
        <p:sp>
          <p:nvSpPr>
            <p:cNvPr name="Freeform 7" id="7"/>
            <p:cNvSpPr/>
            <p:nvPr/>
          </p:nvSpPr>
          <p:spPr>
            <a:xfrm flipH="false" flipV="false" rot="0">
              <a:off x="0" y="0"/>
              <a:ext cx="3048000" cy="3334004"/>
            </a:xfrm>
            <a:custGeom>
              <a:avLst/>
              <a:gdLst/>
              <a:ahLst/>
              <a:cxnLst/>
              <a:rect r="r" b="b" t="t" l="l"/>
              <a:pathLst>
                <a:path h="3334004" w="3048000">
                  <a:moveTo>
                    <a:pt x="0" y="3232404"/>
                  </a:moveTo>
                  <a:lnTo>
                    <a:pt x="3048000" y="3232404"/>
                  </a:lnTo>
                  <a:lnTo>
                    <a:pt x="2921000" y="3334004"/>
                  </a:lnTo>
                  <a:cubicBezTo>
                    <a:pt x="2921000" y="3334004"/>
                    <a:pt x="1930400" y="3257804"/>
                    <a:pt x="1828800" y="3257804"/>
                  </a:cubicBezTo>
                  <a:lnTo>
                    <a:pt x="1219200" y="3257804"/>
                  </a:lnTo>
                  <a:cubicBezTo>
                    <a:pt x="1117600" y="3257804"/>
                    <a:pt x="127000" y="3334004"/>
                    <a:pt x="127000" y="3334004"/>
                  </a:cubicBezTo>
                  <a:lnTo>
                    <a:pt x="0" y="3232404"/>
                  </a:lnTo>
                  <a:lnTo>
                    <a:pt x="0" y="0"/>
                  </a:lnTo>
                  <a:lnTo>
                    <a:pt x="3048000" y="0"/>
                  </a:lnTo>
                  <a:lnTo>
                    <a:pt x="3048000" y="3232404"/>
                  </a:lnTo>
                  <a:lnTo>
                    <a:pt x="12700" y="3232404"/>
                  </a:lnTo>
                  <a:lnTo>
                    <a:pt x="12700" y="3219704"/>
                  </a:lnTo>
                  <a:lnTo>
                    <a:pt x="3035300" y="3219704"/>
                  </a:lnTo>
                  <a:lnTo>
                    <a:pt x="3035300" y="12700"/>
                  </a:lnTo>
                  <a:lnTo>
                    <a:pt x="12700" y="12700"/>
                  </a:lnTo>
                  <a:lnTo>
                    <a:pt x="12700" y="3232404"/>
                  </a:lnTo>
                </a:path>
              </a:pathLst>
            </a:custGeom>
            <a:solidFill>
              <a:srgbClr val="394C60">
                <a:alpha val="0"/>
              </a:srgbClr>
            </a:solidFill>
          </p:spPr>
        </p:sp>
      </p:grpSp>
      <p:sp>
        <p:nvSpPr>
          <p:cNvPr name="TextBox 8" id="8"/>
          <p:cNvSpPr txBox="true"/>
          <p:nvPr/>
        </p:nvSpPr>
        <p:spPr>
          <a:xfrm rot="0">
            <a:off x="14880936" y="7080066"/>
            <a:ext cx="1879597" cy="1763068"/>
          </a:xfrm>
          <a:prstGeom prst="rect">
            <a:avLst/>
          </a:prstGeom>
        </p:spPr>
        <p:txBody>
          <a:bodyPr anchor="t" rtlCol="false" tIns="0" lIns="0" bIns="0" rIns="0">
            <a:spAutoFit/>
          </a:bodyPr>
          <a:lstStyle/>
          <a:p>
            <a:pPr algn="l">
              <a:lnSpc>
                <a:spcPts val="2351"/>
              </a:lnSpc>
            </a:pPr>
            <a:r>
              <a:rPr lang="en-US" sz="1399">
                <a:solidFill>
                  <a:srgbClr val="000000"/>
                </a:solidFill>
                <a:latin typeface="Open Sans"/>
                <a:ea typeface="Open Sans"/>
                <a:cs typeface="Open Sans"/>
                <a:sym typeface="Open Sans"/>
              </a:rPr>
              <a:t>Crearas la actividad donde los alumnos practicarán por sí solos los conocimientos abordados en esta sesión.</a:t>
            </a:r>
          </a:p>
          <a:p>
            <a:pPr algn="l">
              <a:lnSpc>
                <a:spcPts val="2351"/>
              </a:lnSpc>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64140"/>
            <a:chOff x="0" y="0"/>
            <a:chExt cx="24384000" cy="13685520"/>
          </a:xfrm>
        </p:grpSpPr>
        <p:sp>
          <p:nvSpPr>
            <p:cNvPr name="Freeform 3" id="3"/>
            <p:cNvSpPr/>
            <p:nvPr/>
          </p:nvSpPr>
          <p:spPr>
            <a:xfrm flipH="false" flipV="false" rot="0">
              <a:off x="0" y="0"/>
              <a:ext cx="24384000" cy="13685520"/>
            </a:xfrm>
            <a:custGeom>
              <a:avLst/>
              <a:gdLst/>
              <a:ahLst/>
              <a:cxnLst/>
              <a:rect r="r" b="b" t="t" l="l"/>
              <a:pathLst>
                <a:path h="13685520" w="24384000">
                  <a:moveTo>
                    <a:pt x="0" y="0"/>
                  </a:moveTo>
                  <a:lnTo>
                    <a:pt x="24384000" y="0"/>
                  </a:lnTo>
                  <a:lnTo>
                    <a:pt x="24384000" y="13685520"/>
                  </a:lnTo>
                  <a:lnTo>
                    <a:pt x="0" y="13685520"/>
                  </a:lnTo>
                  <a:lnTo>
                    <a:pt x="0" y="0"/>
                  </a:lnTo>
                  <a:close/>
                </a:path>
              </a:pathLst>
            </a:custGeom>
            <a:blipFill>
              <a:blip r:embed="rId3"/>
              <a:stretch>
                <a:fillRect l="0" t="-2" r="0" b="-2"/>
              </a:stretch>
            </a:blipFill>
          </p:spPr>
        </p:sp>
      </p:grpSp>
      <p:sp>
        <p:nvSpPr>
          <p:cNvPr name="TextBox 4" id="4"/>
          <p:cNvSpPr txBox="true"/>
          <p:nvPr/>
        </p:nvSpPr>
        <p:spPr>
          <a:xfrm rot="0">
            <a:off x="5655069" y="1533725"/>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5" id="5"/>
          <p:cNvSpPr txBox="true"/>
          <p:nvPr/>
        </p:nvSpPr>
        <p:spPr>
          <a:xfrm rot="0">
            <a:off x="5655069" y="2327091"/>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6" id="6"/>
          <p:cNvSpPr txBox="true"/>
          <p:nvPr/>
        </p:nvSpPr>
        <p:spPr>
          <a:xfrm rot="0">
            <a:off x="5655069" y="3341961"/>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7" id="7"/>
          <p:cNvSpPr txBox="true"/>
          <p:nvPr/>
        </p:nvSpPr>
        <p:spPr>
          <a:xfrm rot="0">
            <a:off x="13953087" y="1957911"/>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8" id="8"/>
          <p:cNvSpPr txBox="true"/>
          <p:nvPr/>
        </p:nvSpPr>
        <p:spPr>
          <a:xfrm rot="0">
            <a:off x="13953087" y="2751277"/>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9" id="9"/>
          <p:cNvSpPr txBox="true"/>
          <p:nvPr/>
        </p:nvSpPr>
        <p:spPr>
          <a:xfrm rot="0">
            <a:off x="13953087" y="3546929"/>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10" id="10"/>
          <p:cNvSpPr txBox="true"/>
          <p:nvPr/>
        </p:nvSpPr>
        <p:spPr>
          <a:xfrm rot="0">
            <a:off x="277235" y="4953000"/>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11" id="11"/>
          <p:cNvSpPr txBox="true"/>
          <p:nvPr/>
        </p:nvSpPr>
        <p:spPr>
          <a:xfrm rot="0">
            <a:off x="277235" y="5719658"/>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12" id="12"/>
          <p:cNvSpPr txBox="true"/>
          <p:nvPr/>
        </p:nvSpPr>
        <p:spPr>
          <a:xfrm rot="0">
            <a:off x="277235" y="6486744"/>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13" id="13"/>
          <p:cNvSpPr txBox="true"/>
          <p:nvPr/>
        </p:nvSpPr>
        <p:spPr>
          <a:xfrm rot="0">
            <a:off x="277235" y="7467057"/>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14" id="14"/>
          <p:cNvSpPr txBox="true"/>
          <p:nvPr/>
        </p:nvSpPr>
        <p:spPr>
          <a:xfrm rot="0">
            <a:off x="277235" y="8234134"/>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15" id="15"/>
          <p:cNvSpPr txBox="true"/>
          <p:nvPr/>
        </p:nvSpPr>
        <p:spPr>
          <a:xfrm rot="0">
            <a:off x="277235" y="9067800"/>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16" id="16"/>
          <p:cNvSpPr txBox="true"/>
          <p:nvPr/>
        </p:nvSpPr>
        <p:spPr>
          <a:xfrm rot="0">
            <a:off x="6406534" y="4941570"/>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17" id="17"/>
          <p:cNvSpPr txBox="true"/>
          <p:nvPr/>
        </p:nvSpPr>
        <p:spPr>
          <a:xfrm rot="0">
            <a:off x="6406534" y="5719658"/>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18" id="18"/>
          <p:cNvSpPr txBox="true"/>
          <p:nvPr/>
        </p:nvSpPr>
        <p:spPr>
          <a:xfrm rot="0">
            <a:off x="6406534" y="6515319"/>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19" id="19"/>
          <p:cNvSpPr txBox="true"/>
          <p:nvPr/>
        </p:nvSpPr>
        <p:spPr>
          <a:xfrm rot="0">
            <a:off x="6406534" y="7310971"/>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20" id="20"/>
          <p:cNvSpPr txBox="true"/>
          <p:nvPr/>
        </p:nvSpPr>
        <p:spPr>
          <a:xfrm rot="0">
            <a:off x="6406534" y="8234134"/>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21" id="21"/>
          <p:cNvSpPr txBox="true"/>
          <p:nvPr/>
        </p:nvSpPr>
        <p:spPr>
          <a:xfrm rot="0">
            <a:off x="6406534" y="9067800"/>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22" id="22"/>
          <p:cNvSpPr txBox="true"/>
          <p:nvPr/>
        </p:nvSpPr>
        <p:spPr>
          <a:xfrm rot="0">
            <a:off x="12538624" y="4941570"/>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23" id="23"/>
          <p:cNvSpPr txBox="true"/>
          <p:nvPr/>
        </p:nvSpPr>
        <p:spPr>
          <a:xfrm rot="0">
            <a:off x="12538624" y="5719658"/>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24" id="24"/>
          <p:cNvSpPr txBox="true"/>
          <p:nvPr/>
        </p:nvSpPr>
        <p:spPr>
          <a:xfrm rot="0">
            <a:off x="12538624" y="6515319"/>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25" id="25"/>
          <p:cNvSpPr txBox="true"/>
          <p:nvPr/>
        </p:nvSpPr>
        <p:spPr>
          <a:xfrm rot="0">
            <a:off x="12538624" y="7310971"/>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26" id="26"/>
          <p:cNvSpPr txBox="true"/>
          <p:nvPr/>
        </p:nvSpPr>
        <p:spPr>
          <a:xfrm rot="0">
            <a:off x="12538624" y="8234134"/>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
        <p:nvSpPr>
          <p:cNvPr name="TextBox 27" id="27"/>
          <p:cNvSpPr txBox="true"/>
          <p:nvPr/>
        </p:nvSpPr>
        <p:spPr>
          <a:xfrm rot="0">
            <a:off x="12538624" y="9029786"/>
            <a:ext cx="1502940" cy="614677"/>
          </a:xfrm>
          <a:prstGeom prst="rect">
            <a:avLst/>
          </a:prstGeom>
        </p:spPr>
        <p:txBody>
          <a:bodyPr anchor="t" rtlCol="false" tIns="0" lIns="0" bIns="0" rIns="0">
            <a:spAutoFit/>
          </a:bodyPr>
          <a:lstStyle/>
          <a:p>
            <a:pPr algn="ctr">
              <a:lnSpc>
                <a:spcPts val="4702"/>
              </a:lnSpc>
            </a:pPr>
            <a:r>
              <a:rPr lang="en-US" sz="2799">
                <a:solidFill>
                  <a:srgbClr val="000000"/>
                </a:solidFill>
                <a:latin typeface="Open Sans"/>
                <a:ea typeface="Open Sans"/>
                <a:cs typeface="Open Sans"/>
                <a:sym typeface="Open Sans"/>
              </a:rPr>
              <a:t>---</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93370" y="-591541"/>
            <a:ext cx="11301260" cy="5113820"/>
            <a:chOff x="0" y="0"/>
            <a:chExt cx="15068347" cy="6818427"/>
          </a:xfrm>
        </p:grpSpPr>
        <p:sp>
          <p:nvSpPr>
            <p:cNvPr name="Freeform 3" id="3"/>
            <p:cNvSpPr/>
            <p:nvPr/>
          </p:nvSpPr>
          <p:spPr>
            <a:xfrm flipH="false" flipV="false" rot="0">
              <a:off x="0" y="0"/>
              <a:ext cx="15068296" cy="6818376"/>
            </a:xfrm>
            <a:custGeom>
              <a:avLst/>
              <a:gdLst/>
              <a:ahLst/>
              <a:cxnLst/>
              <a:rect r="r" b="b" t="t" l="l"/>
              <a:pathLst>
                <a:path h="6818376" w="15068296">
                  <a:moveTo>
                    <a:pt x="0" y="0"/>
                  </a:moveTo>
                  <a:lnTo>
                    <a:pt x="15068296" y="0"/>
                  </a:lnTo>
                  <a:lnTo>
                    <a:pt x="15068296" y="6818376"/>
                  </a:lnTo>
                  <a:lnTo>
                    <a:pt x="0" y="6818376"/>
                  </a:lnTo>
                  <a:lnTo>
                    <a:pt x="0" y="0"/>
                  </a:lnTo>
                  <a:close/>
                </a:path>
              </a:pathLst>
            </a:custGeom>
            <a:blipFill>
              <a:blip r:embed="rId3"/>
              <a:stretch>
                <a:fillRect l="-56" t="0" r="-56" b="0"/>
              </a:stretch>
            </a:blipFill>
          </p:spPr>
        </p:sp>
      </p:grpSp>
      <p:grpSp>
        <p:nvGrpSpPr>
          <p:cNvPr name="Group 4" id="4"/>
          <p:cNvGrpSpPr/>
          <p:nvPr/>
        </p:nvGrpSpPr>
        <p:grpSpPr>
          <a:xfrm rot="0">
            <a:off x="2197694" y="3492865"/>
            <a:ext cx="13892603" cy="5765435"/>
            <a:chOff x="0" y="0"/>
            <a:chExt cx="18523471" cy="7687246"/>
          </a:xfrm>
        </p:grpSpPr>
        <p:sp>
          <p:nvSpPr>
            <p:cNvPr name="Freeform 5" id="5"/>
            <p:cNvSpPr/>
            <p:nvPr/>
          </p:nvSpPr>
          <p:spPr>
            <a:xfrm flipH="false" flipV="false" rot="0">
              <a:off x="0" y="0"/>
              <a:ext cx="18523458" cy="7687183"/>
            </a:xfrm>
            <a:custGeom>
              <a:avLst/>
              <a:gdLst/>
              <a:ahLst/>
              <a:cxnLst/>
              <a:rect r="r" b="b" t="t" l="l"/>
              <a:pathLst>
                <a:path h="7687183" w="18523458">
                  <a:moveTo>
                    <a:pt x="0" y="0"/>
                  </a:moveTo>
                  <a:lnTo>
                    <a:pt x="18523458" y="0"/>
                  </a:lnTo>
                  <a:lnTo>
                    <a:pt x="18523458" y="7687183"/>
                  </a:lnTo>
                  <a:lnTo>
                    <a:pt x="0" y="7687183"/>
                  </a:lnTo>
                  <a:lnTo>
                    <a:pt x="0" y="0"/>
                  </a:lnTo>
                  <a:close/>
                </a:path>
              </a:pathLst>
            </a:custGeom>
            <a:blipFill>
              <a:blip r:embed="rId4"/>
              <a:stretch>
                <a:fillRect l="0" t="-29" r="0" b="-29"/>
              </a:stretch>
            </a:blipFill>
          </p:spPr>
        </p:sp>
      </p:grpSp>
      <p:grpSp>
        <p:nvGrpSpPr>
          <p:cNvPr name="Group 6" id="6"/>
          <p:cNvGrpSpPr/>
          <p:nvPr/>
        </p:nvGrpSpPr>
        <p:grpSpPr>
          <a:xfrm rot="0">
            <a:off x="7428669" y="5841549"/>
            <a:ext cx="3430662" cy="1068067"/>
            <a:chOff x="0" y="0"/>
            <a:chExt cx="4574216" cy="1424089"/>
          </a:xfrm>
        </p:grpSpPr>
        <p:sp>
          <p:nvSpPr>
            <p:cNvPr name="Freeform 7" id="7"/>
            <p:cNvSpPr/>
            <p:nvPr/>
          </p:nvSpPr>
          <p:spPr>
            <a:xfrm flipH="false" flipV="false" rot="0">
              <a:off x="0" y="0"/>
              <a:ext cx="4573541" cy="1423797"/>
            </a:xfrm>
            <a:custGeom>
              <a:avLst/>
              <a:gdLst/>
              <a:ahLst/>
              <a:cxnLst/>
              <a:rect r="r" b="b" t="t" l="l"/>
              <a:pathLst>
                <a:path h="1423797" w="4573541">
                  <a:moveTo>
                    <a:pt x="3914423" y="1423797"/>
                  </a:moveTo>
                  <a:lnTo>
                    <a:pt x="0" y="1423797"/>
                  </a:lnTo>
                  <a:lnTo>
                    <a:pt x="0" y="0"/>
                  </a:lnTo>
                  <a:lnTo>
                    <a:pt x="3914423" y="0"/>
                  </a:lnTo>
                  <a:lnTo>
                    <a:pt x="4573541" y="711835"/>
                  </a:lnTo>
                  <a:lnTo>
                    <a:pt x="3914423" y="1423670"/>
                  </a:lnTo>
                  <a:close/>
                </a:path>
              </a:pathLst>
            </a:custGeom>
            <a:solidFill>
              <a:srgbClr val="FFFFFF"/>
            </a:solidFill>
          </p:spPr>
        </p:sp>
      </p:grpSp>
      <p:sp>
        <p:nvSpPr>
          <p:cNvPr name="TextBox 8" id="8"/>
          <p:cNvSpPr txBox="true"/>
          <p:nvPr/>
        </p:nvSpPr>
        <p:spPr>
          <a:xfrm rot="0">
            <a:off x="7630948" y="6166033"/>
            <a:ext cx="2820667" cy="419100"/>
          </a:xfrm>
          <a:prstGeom prst="rect">
            <a:avLst/>
          </a:prstGeom>
        </p:spPr>
        <p:txBody>
          <a:bodyPr anchor="t" rtlCol="false" tIns="0" lIns="0" bIns="0" rIns="0">
            <a:spAutoFit/>
          </a:bodyPr>
          <a:lstStyle/>
          <a:p>
            <a:pPr algn="l">
              <a:lnSpc>
                <a:spcPts val="3359"/>
              </a:lnSpc>
            </a:pPr>
            <a:r>
              <a:rPr lang="en-US" sz="2799" u="sng">
                <a:solidFill>
                  <a:srgbClr val="0000FF"/>
                </a:solidFill>
                <a:latin typeface="Open Sans"/>
                <a:ea typeface="Open Sans"/>
                <a:cs typeface="Open Sans"/>
                <a:sym typeface="Open Sans"/>
                <a:hlinkClick r:id="rId5" tooltip="https://www.youtube.com/watch?v=ismFlm3EbZY"/>
              </a:rPr>
              <a:t>LINK DEL VIDEO</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61683" y="595293"/>
            <a:ext cx="10564635" cy="8663007"/>
            <a:chOff x="0" y="0"/>
            <a:chExt cx="14086180" cy="11550675"/>
          </a:xfrm>
        </p:grpSpPr>
        <p:sp>
          <p:nvSpPr>
            <p:cNvPr name="Freeform 3" id="3"/>
            <p:cNvSpPr/>
            <p:nvPr/>
          </p:nvSpPr>
          <p:spPr>
            <a:xfrm flipH="false" flipV="false" rot="0">
              <a:off x="0" y="0"/>
              <a:ext cx="14086205" cy="11550650"/>
            </a:xfrm>
            <a:custGeom>
              <a:avLst/>
              <a:gdLst/>
              <a:ahLst/>
              <a:cxnLst/>
              <a:rect r="r" b="b" t="t" l="l"/>
              <a:pathLst>
                <a:path h="11550650" w="14086205">
                  <a:moveTo>
                    <a:pt x="0" y="0"/>
                  </a:moveTo>
                  <a:lnTo>
                    <a:pt x="14086205" y="0"/>
                  </a:lnTo>
                  <a:lnTo>
                    <a:pt x="14086205" y="11550650"/>
                  </a:lnTo>
                  <a:lnTo>
                    <a:pt x="0" y="11550650"/>
                  </a:lnTo>
                  <a:lnTo>
                    <a:pt x="0" y="0"/>
                  </a:lnTo>
                  <a:close/>
                </a:path>
              </a:pathLst>
            </a:custGeom>
            <a:blipFill>
              <a:blip r:embed="rId3"/>
              <a:stretch>
                <a:fillRect l="0" t="-37" r="0" b="-37"/>
              </a:stretch>
            </a:blipFill>
          </p:spPr>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4445" y="0"/>
            <a:ext cx="16659111" cy="10287000"/>
            <a:chOff x="0" y="0"/>
            <a:chExt cx="22212148" cy="13716000"/>
          </a:xfrm>
        </p:grpSpPr>
        <p:sp>
          <p:nvSpPr>
            <p:cNvPr name="Freeform 3" id="3"/>
            <p:cNvSpPr/>
            <p:nvPr/>
          </p:nvSpPr>
          <p:spPr>
            <a:xfrm flipH="false" flipV="false" rot="0">
              <a:off x="0" y="0"/>
              <a:ext cx="22212173" cy="13716000"/>
            </a:xfrm>
            <a:custGeom>
              <a:avLst/>
              <a:gdLst/>
              <a:ahLst/>
              <a:cxnLst/>
              <a:rect r="r" b="b" t="t" l="l"/>
              <a:pathLst>
                <a:path h="13716000" w="22212173">
                  <a:moveTo>
                    <a:pt x="0" y="0"/>
                  </a:moveTo>
                  <a:lnTo>
                    <a:pt x="22212173" y="0"/>
                  </a:lnTo>
                  <a:lnTo>
                    <a:pt x="22212173" y="13716000"/>
                  </a:lnTo>
                  <a:lnTo>
                    <a:pt x="0" y="13716000"/>
                  </a:lnTo>
                  <a:lnTo>
                    <a:pt x="0" y="0"/>
                  </a:lnTo>
                  <a:close/>
                </a:path>
              </a:pathLst>
            </a:custGeom>
            <a:blipFill>
              <a:blip r:embed="rId3"/>
              <a:stretch>
                <a:fillRect l="-24" t="0" r="-23"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DAHJApM5zFM</dc:identifier>
  <dcterms:modified xsi:type="dcterms:W3CDTF">2011-08-01T06:04:30Z</dcterms:modified>
  <cp:revision>1</cp:revision>
  <dc:title>1. Plantilla Presentación Curso.pptx</dc:title>
</cp:coreProperties>
</file>