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10287000" cx="18288000"/>
  <p:notesSz cx="6858000" cy="9144000"/>
  <p:embeddedFontLst>
    <p:embeddedFont>
      <p:font typeface="Playfair Display"/>
      <p:regular r:id="rId36"/>
      <p:bold r:id="rId37"/>
      <p:italic r:id="rId38"/>
      <p:boldItalic r:id="rId39"/>
    </p:embeddedFont>
    <p:embeddedFont>
      <p:font typeface="Oswald"/>
      <p:regular r:id="rId40"/>
      <p:bold r:id="rId41"/>
    </p:embeddedFont>
    <p:embeddedFont>
      <p:font typeface="Archivo Black"/>
      <p:regular r:id="rId42"/>
    </p:embeddedFont>
    <p:embeddedFont>
      <p:font typeface="Open Sans"/>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7" roundtripDataSignature="AMtx7mjq7qbmDZDpMMCdjTDrFgGDUGhWJ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swald-regular.fntdata"/><Relationship Id="rId20" Type="http://schemas.openxmlformats.org/officeDocument/2006/relationships/slide" Target="slides/slide15.xml"/><Relationship Id="rId42" Type="http://schemas.openxmlformats.org/officeDocument/2006/relationships/font" Target="fonts/ArchivoBlack-regular.fntdata"/><Relationship Id="rId41" Type="http://schemas.openxmlformats.org/officeDocument/2006/relationships/font" Target="fonts/Oswald-bold.fntdata"/><Relationship Id="rId22" Type="http://schemas.openxmlformats.org/officeDocument/2006/relationships/slide" Target="slides/slide17.xml"/><Relationship Id="rId44" Type="http://schemas.openxmlformats.org/officeDocument/2006/relationships/font" Target="fonts/OpenSans-bold.fntdata"/><Relationship Id="rId21" Type="http://schemas.openxmlformats.org/officeDocument/2006/relationships/slide" Target="slides/slide16.xml"/><Relationship Id="rId43" Type="http://schemas.openxmlformats.org/officeDocument/2006/relationships/font" Target="fonts/OpenSans-regular.fntdata"/><Relationship Id="rId24" Type="http://schemas.openxmlformats.org/officeDocument/2006/relationships/slide" Target="slides/slide19.xml"/><Relationship Id="rId46" Type="http://schemas.openxmlformats.org/officeDocument/2006/relationships/font" Target="fonts/OpenSans-boldItalic.fntdata"/><Relationship Id="rId23" Type="http://schemas.openxmlformats.org/officeDocument/2006/relationships/slide" Target="slides/slide18.xml"/><Relationship Id="rId45" Type="http://schemas.openxmlformats.org/officeDocument/2006/relationships/font" Target="fonts/OpenSans-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customschemas.google.com/relationships/presentationmetadata" Target="meta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PlayfairDisplay-bold.fntdata"/><Relationship Id="rId14" Type="http://schemas.openxmlformats.org/officeDocument/2006/relationships/slide" Target="slides/slide9.xml"/><Relationship Id="rId36" Type="http://schemas.openxmlformats.org/officeDocument/2006/relationships/font" Target="fonts/PlayfairDisplay-regular.fntdata"/><Relationship Id="rId17" Type="http://schemas.openxmlformats.org/officeDocument/2006/relationships/slide" Target="slides/slide12.xml"/><Relationship Id="rId39" Type="http://schemas.openxmlformats.org/officeDocument/2006/relationships/font" Target="fonts/PlayfairDisplay-boldItalic.fntdata"/><Relationship Id="rId16" Type="http://schemas.openxmlformats.org/officeDocument/2006/relationships/slide" Target="slides/slide11.xml"/><Relationship Id="rId38" Type="http://schemas.openxmlformats.org/officeDocument/2006/relationships/font" Target="fonts/PlayfairDisplay-italic.fntdata"/><Relationship Id="rId19" Type="http://schemas.openxmlformats.org/officeDocument/2006/relationships/slide" Target="slides/slide14.xml"/><Relationship Id="rId18"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 name="Google Shape;9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 name="Google Shape;13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 name="Google Shape;14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6" name="Google Shape;14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9ab6b3f0fb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3" name="Google Shape;153;g39ab6b3f0fb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9ab6b3f0fb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0" name="Google Shape;160;g39ab6b3f0fb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9ab6b3f0fb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7" name="Google Shape;167;g39ab6b3f0fb_0_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9ab6b3f0fb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g39ab6b3f0fb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9ab6b3f0fb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g39ab6b3f0fb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9ab6b3f0fb_0_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9ab6b3f0fb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9ab6b3f0fb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g39ab6b3f0fb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9ab6b3f0fb_0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9ab6b3f0fb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9ab6b3f0fb_0_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9ab6b3f0fb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9ab6b3f0fb_0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9ab6b3f0fb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9ab6b3f0fb_0_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9ab6b3f0fb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9ab6b3f0fb_0_1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9ab6b3f0fb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9ab6b3f0fb_0_1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9ab6b3f0fb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9ab6b3f0fb_0_1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9ab6b3f0fb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9ab6b3f0fb_0_1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9ab6b3f0fb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6" name="Google Shape;25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3" name="Google Shape;26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0" name="Google Shape;27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9" name="Google Shape;27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8" name="Google Shape;28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7" name="Google Shape;31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4" name="Google Shape;32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9" name="Google Shape;32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
          <p:cNvSpPr/>
          <p:nvPr>
            <p:ph idx="2" type="pic"/>
          </p:nvPr>
        </p:nvSpPr>
        <p:spPr>
          <a:xfrm>
            <a:off x="1792288" y="612775"/>
            <a:ext cx="5486400" cy="4114800"/>
          </a:xfrm>
          <a:prstGeom prst="rect">
            <a:avLst/>
          </a:prstGeom>
          <a:noFill/>
          <a:ln>
            <a:noFill/>
          </a:ln>
        </p:spPr>
      </p:sp>
      <p:sp>
        <p:nvSpPr>
          <p:cNvPr id="64" name="Google Shape;64;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vmlDrawing" Target="../drawings/vmlDrawing1.vml"/><Relationship Id="rId4" Type="http://schemas.openxmlformats.org/officeDocument/2006/relationships/image" Target="../media/image29.png"/><Relationship Id="rId5" Type="http://schemas.openxmlformats.org/officeDocument/2006/relationships/image" Target="../media/image3.png"/><Relationship Id="rId6" Type="http://schemas.openxmlformats.org/officeDocument/2006/relationships/oleObject" Target="../embeddings/oleObject1.bin"/><Relationship Id="rId7" Type="http://schemas.openxmlformats.org/officeDocument/2006/relationships/oleObject" Target="../embeddings/oleObject1.bin"/><Relationship Id="rId8"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4.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6.png"/><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3.png"/><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4">
              <a:alphaModFix/>
            </a:blip>
            <a:stretch>
              <a:fillRect b="0" l="0" r="0" t="0"/>
            </a:stretch>
          </a:blipFill>
          <a:ln>
            <a:noFill/>
          </a:ln>
        </p:spPr>
      </p:sp>
      <p:sp>
        <p:nvSpPr>
          <p:cNvPr id="85" name="Google Shape;85;p1"/>
          <p:cNvSpPr/>
          <p:nvPr/>
        </p:nvSpPr>
        <p:spPr>
          <a:xfrm>
            <a:off x="1969850" y="3030151"/>
            <a:ext cx="15055872" cy="3260981"/>
          </a:xfrm>
          <a:custGeom>
            <a:rect b="b" l="l" r="r" t="t"/>
            <a:pathLst>
              <a:path extrusionOk="0" h="1811656" w="9002016">
                <a:moveTo>
                  <a:pt x="0" y="0"/>
                </a:moveTo>
                <a:lnTo>
                  <a:pt x="9002016" y="0"/>
                </a:lnTo>
                <a:lnTo>
                  <a:pt x="9002016" y="1811656"/>
                </a:lnTo>
                <a:lnTo>
                  <a:pt x="0" y="1811656"/>
                </a:lnTo>
                <a:lnTo>
                  <a:pt x="0" y="0"/>
                </a:lnTo>
                <a:close/>
              </a:path>
            </a:pathLst>
          </a:custGeom>
          <a:blipFill rotWithShape="1">
            <a:blip r:embed="rId5">
              <a:alphaModFix/>
            </a:blip>
            <a:stretch>
              <a:fillRect b="0" l="0" r="0" t="0"/>
            </a:stretch>
          </a:blipFill>
          <a:ln>
            <a:noFill/>
          </a:ln>
        </p:spPr>
      </p:sp>
      <p:graphicFrame>
        <p:nvGraphicFramePr>
          <p:cNvPr id="86" name="Google Shape;86;p1"/>
          <p:cNvGraphicFramePr/>
          <p:nvPr/>
        </p:nvGraphicFramePr>
        <p:xfrm>
          <a:off x="10670025" y="1766775"/>
          <a:ext cx="9524676" cy="1881100"/>
        </p:xfrm>
        <a:graphic>
          <a:graphicData uri="http://schemas.openxmlformats.org/presentationml/2006/ole">
            <mc:AlternateContent>
              <mc:Choice Requires="v">
                <p:oleObj r:id="rId6" imgH="1881100" imgW="9524676" progId="Excel.Sheet.12" spid="_x0000_s1">
                  <p:embed/>
                </p:oleObj>
              </mc:Choice>
              <mc:Fallback>
                <p:oleObj r:id="rId7" imgH="1881100" imgW="9524676" progId="Excel.Sheet.12">
                  <p:embed/>
                  <p:pic>
                    <p:nvPicPr>
                      <p:cNvPr id="86" name="Google Shape;86;p1"/>
                      <p:cNvPicPr preferRelativeResize="0"/>
                      <p:nvPr/>
                    </p:nvPicPr>
                    <p:blipFill rotWithShape="1">
                      <a:blip r:embed="rId8">
                        <a:alphaModFix/>
                      </a:blip>
                      <a:srcRect b="0" l="0" r="0" t="0"/>
                      <a:stretch/>
                    </p:blipFill>
                    <p:spPr>
                      <a:xfrm>
                        <a:off x="10670025" y="1766775"/>
                        <a:ext cx="9524676" cy="1881100"/>
                      </a:xfrm>
                      <a:prstGeom prst="rect">
                        <a:avLst/>
                      </a:prstGeom>
                      <a:noFill/>
                      <a:ln>
                        <a:noFill/>
                      </a:ln>
                    </p:spPr>
                  </p:pic>
                </p:oleObj>
              </mc:Fallback>
            </mc:AlternateContent>
          </a:graphicData>
        </a:graphic>
      </p:graphicFrame>
      <p:sp>
        <p:nvSpPr>
          <p:cNvPr id="87" name="Google Shape;87;p1"/>
          <p:cNvSpPr txBox="1"/>
          <p:nvPr/>
        </p:nvSpPr>
        <p:spPr>
          <a:xfrm>
            <a:off x="5792614" y="6291132"/>
            <a:ext cx="67029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88" name="Google Shape;88;p1"/>
          <p:cNvSpPr txBox="1"/>
          <p:nvPr/>
        </p:nvSpPr>
        <p:spPr>
          <a:xfrm>
            <a:off x="348639" y="9201150"/>
            <a:ext cx="4067111" cy="10858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140"/>
              <a:buFont typeface="Arial"/>
              <a:buNone/>
            </a:pPr>
            <a:r>
              <a:rPr b="1" i="0" lang="en-US" sz="3140" u="none" cap="none" strike="noStrike">
                <a:solidFill>
                  <a:srgbClr val="000000"/>
                </a:solidFill>
                <a:latin typeface="Open Sans"/>
                <a:ea typeface="Open Sans"/>
                <a:cs typeface="Open Sans"/>
                <a:sym typeface="Open Sans"/>
              </a:rPr>
              <a:t>NOMBRE DEL TUTOR</a:t>
            </a:r>
            <a:endParaRPr b="0" i="0" sz="14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3140"/>
              <a:buFont typeface="Arial"/>
              <a:buNone/>
            </a:pPr>
            <a:r>
              <a:t/>
            </a:r>
            <a:endParaRPr b="1" i="0" sz="3140" u="none" cap="none" strike="noStrike">
              <a:solidFill>
                <a:srgbClr val="000000"/>
              </a:solidFill>
              <a:latin typeface="Open Sans"/>
              <a:ea typeface="Open Sans"/>
              <a:cs typeface="Open Sans"/>
              <a:sym typeface="Open Sans"/>
            </a:endParaRPr>
          </a:p>
        </p:txBody>
      </p:sp>
      <p:sp>
        <p:nvSpPr>
          <p:cNvPr id="89" name="Google Shape;89;p1"/>
          <p:cNvSpPr txBox="1"/>
          <p:nvPr/>
        </p:nvSpPr>
        <p:spPr>
          <a:xfrm>
            <a:off x="2904236" y="3801950"/>
            <a:ext cx="13187100" cy="232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4200"/>
              <a:buFont typeface="Arial"/>
              <a:buNone/>
            </a:pPr>
            <a:r>
              <a:rPr b="1" lang="en-US" sz="4200">
                <a:latin typeface="Open Sans"/>
                <a:ea typeface="Open Sans"/>
                <a:cs typeface="Open Sans"/>
                <a:sym typeface="Open Sans"/>
              </a:rPr>
              <a:t>INTRODUCCIÓN A LA PROGRAMACIÓN Y COMPUTACIÓN 2</a:t>
            </a:r>
            <a:endParaRPr b="0" i="0" sz="1400" u="none" cap="none" strike="noStrike">
              <a:solidFill>
                <a:srgbClr val="000000"/>
              </a:solidFill>
              <a:latin typeface="Arial"/>
              <a:ea typeface="Arial"/>
              <a:cs typeface="Arial"/>
              <a:sym typeface="Arial"/>
            </a:endParaRPr>
          </a:p>
          <a:p>
            <a:pPr indent="0" lvl="0" marL="0" marR="0" rtl="0" algn="ctr">
              <a:lnSpc>
                <a:spcPct val="79976"/>
              </a:lnSpc>
              <a:spcBef>
                <a:spcPts val="0"/>
              </a:spcBef>
              <a:spcAft>
                <a:spcPts val="0"/>
              </a:spcAft>
              <a:buClr>
                <a:srgbClr val="000000"/>
              </a:buClr>
              <a:buSzPts val="4200"/>
              <a:buFont typeface="Arial"/>
              <a:buNone/>
            </a:pPr>
            <a:r>
              <a:t/>
            </a:r>
            <a:endParaRPr b="1" i="0" sz="4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p:nvPr/>
        </p:nvSpPr>
        <p:spPr>
          <a:xfrm>
            <a:off x="0" y="0"/>
            <a:ext cx="18288000" cy="10401300"/>
          </a:xfrm>
          <a:custGeom>
            <a:rect b="b" l="l" r="r" t="t"/>
            <a:pathLst>
              <a:path extrusionOk="0" h="10401300" w="18288000">
                <a:moveTo>
                  <a:pt x="0" y="0"/>
                </a:moveTo>
                <a:lnTo>
                  <a:pt x="18288000" y="0"/>
                </a:lnTo>
                <a:lnTo>
                  <a:pt x="18288000" y="10401300"/>
                </a:lnTo>
                <a:lnTo>
                  <a:pt x="0" y="10401300"/>
                </a:lnTo>
                <a:lnTo>
                  <a:pt x="0" y="0"/>
                </a:lnTo>
                <a:close/>
              </a:path>
            </a:pathLst>
          </a:custGeom>
          <a:blipFill rotWithShape="1">
            <a:blip r:embed="rId3">
              <a:alphaModFix/>
            </a:blip>
            <a:stretch>
              <a:fillRect b="0" l="0" r="0" t="0"/>
            </a:stretch>
          </a:blipFill>
          <a:ln>
            <a:noFill/>
          </a:ln>
        </p:spPr>
      </p:sp>
      <p:sp>
        <p:nvSpPr>
          <p:cNvPr id="95" name="Google Shape;95;p2"/>
          <p:cNvSpPr txBox="1"/>
          <p:nvPr/>
        </p:nvSpPr>
        <p:spPr>
          <a:xfrm>
            <a:off x="5683500" y="3169075"/>
            <a:ext cx="6921000" cy="32505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8799"/>
              <a:buFont typeface="Arial"/>
              <a:buNone/>
            </a:pPr>
            <a:r>
              <a:rPr b="1" i="0" lang="en-US" sz="8799" u="none" cap="none" strike="noStrike">
                <a:solidFill>
                  <a:srgbClr val="000000"/>
                </a:solidFill>
                <a:latin typeface="Open Sans"/>
                <a:ea typeface="Open Sans"/>
                <a:cs typeface="Open Sans"/>
                <a:sym typeface="Open Sans"/>
              </a:rPr>
              <a:t>UNIDAD #: 1</a:t>
            </a:r>
            <a:endParaRPr b="0" i="0" sz="1400" u="none" cap="none" strike="noStrike">
              <a:solidFill>
                <a:srgbClr val="000000"/>
              </a:solidFill>
              <a:latin typeface="Arial"/>
              <a:ea typeface="Arial"/>
              <a:cs typeface="Arial"/>
              <a:sym typeface="Arial"/>
            </a:endParaRPr>
          </a:p>
          <a:p>
            <a:pPr indent="0" lvl="0" marL="0" marR="0" rtl="0" algn="ctr">
              <a:lnSpc>
                <a:spcPct val="140004"/>
              </a:lnSpc>
              <a:spcBef>
                <a:spcPts val="0"/>
              </a:spcBef>
              <a:spcAft>
                <a:spcPts val="0"/>
              </a:spcAft>
              <a:buClr>
                <a:srgbClr val="000000"/>
              </a:buClr>
              <a:buSzPts val="8799"/>
              <a:buFont typeface="Arial"/>
              <a:buNone/>
            </a:pPr>
            <a:r>
              <a:t/>
            </a:r>
            <a:endParaRPr b="1" i="0" sz="8799" u="none" cap="none" strike="noStrike">
              <a:solidFill>
                <a:srgbClr val="000000"/>
              </a:solidFill>
              <a:latin typeface="Open Sans"/>
              <a:ea typeface="Open Sans"/>
              <a:cs typeface="Open Sans"/>
              <a:sym typeface="Open Sans"/>
            </a:endParaRPr>
          </a:p>
        </p:txBody>
      </p:sp>
      <p:sp>
        <p:nvSpPr>
          <p:cNvPr id="96" name="Google Shape;96;p2"/>
          <p:cNvSpPr txBox="1"/>
          <p:nvPr/>
        </p:nvSpPr>
        <p:spPr>
          <a:xfrm>
            <a:off x="6424050" y="4598250"/>
            <a:ext cx="5439900" cy="2659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7200"/>
              <a:buFont typeface="Arial"/>
              <a:buNone/>
            </a:pPr>
            <a:r>
              <a:rPr b="1" lang="en-US" sz="7200">
                <a:latin typeface="Open Sans"/>
                <a:ea typeface="Open Sans"/>
                <a:cs typeface="Open Sans"/>
                <a:sym typeface="Open Sans"/>
              </a:rPr>
              <a:t>HTML Y CSS</a:t>
            </a:r>
            <a:endParaRPr b="0" i="0" sz="14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7200"/>
              <a:buFont typeface="Arial"/>
              <a:buNone/>
            </a:pPr>
            <a:r>
              <a:t/>
            </a:r>
            <a:endParaRPr b="1" i="0" sz="7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3"/>
          <p:cNvSpPr/>
          <p:nvPr/>
        </p:nvSpPr>
        <p:spPr>
          <a:xfrm>
            <a:off x="4687137" y="2492771"/>
            <a:ext cx="9432094" cy="6765529"/>
          </a:xfrm>
          <a:custGeom>
            <a:rect b="b" l="l" r="r" t="t"/>
            <a:pathLst>
              <a:path extrusionOk="0" h="6765529" w="9432094">
                <a:moveTo>
                  <a:pt x="0" y="0"/>
                </a:moveTo>
                <a:lnTo>
                  <a:pt x="9432093" y="0"/>
                </a:lnTo>
                <a:lnTo>
                  <a:pt x="9432093" y="6765529"/>
                </a:lnTo>
                <a:lnTo>
                  <a:pt x="0" y="6765529"/>
                </a:lnTo>
                <a:lnTo>
                  <a:pt x="0" y="0"/>
                </a:lnTo>
                <a:close/>
              </a:path>
            </a:pathLst>
          </a:custGeom>
          <a:blipFill rotWithShape="1">
            <a:blip r:embed="rId3">
              <a:alphaModFix/>
            </a:blip>
            <a:stretch>
              <a:fillRect b="0" l="0" r="0" t="0"/>
            </a:stretch>
          </a:blipFill>
          <a:ln>
            <a:noFill/>
          </a:ln>
        </p:spPr>
      </p:sp>
      <p:sp>
        <p:nvSpPr>
          <p:cNvPr id="102" name="Google Shape;102;p3"/>
          <p:cNvSpPr/>
          <p:nvPr/>
        </p:nvSpPr>
        <p:spPr>
          <a:xfrm>
            <a:off x="3971429" y="612837"/>
            <a:ext cx="11301259" cy="2288505"/>
          </a:xfrm>
          <a:custGeom>
            <a:rect b="b" l="l" r="r" t="t"/>
            <a:pathLst>
              <a:path extrusionOk="0" h="2288505" w="11301259">
                <a:moveTo>
                  <a:pt x="0" y="0"/>
                </a:moveTo>
                <a:lnTo>
                  <a:pt x="11301259" y="0"/>
                </a:lnTo>
                <a:lnTo>
                  <a:pt x="11301259" y="2288505"/>
                </a:lnTo>
                <a:lnTo>
                  <a:pt x="0" y="2288505"/>
                </a:lnTo>
                <a:lnTo>
                  <a:pt x="0" y="0"/>
                </a:lnTo>
                <a:close/>
              </a:path>
            </a:pathLst>
          </a:custGeom>
          <a:blipFill rotWithShape="1">
            <a:blip r:embed="rId4">
              <a:alphaModFix/>
            </a:blip>
            <a:stretch>
              <a:fillRect b="0" l="0" r="0" t="0"/>
            </a:stretch>
          </a:blipFill>
          <a:ln>
            <a:noFill/>
          </a:ln>
        </p:spPr>
      </p:sp>
      <p:sp>
        <p:nvSpPr>
          <p:cNvPr id="103" name="Google Shape;103;p3"/>
          <p:cNvSpPr/>
          <p:nvPr/>
        </p:nvSpPr>
        <p:spPr>
          <a:xfrm>
            <a:off x="314891" y="2901342"/>
            <a:ext cx="4961633" cy="4961633"/>
          </a:xfrm>
          <a:custGeom>
            <a:rect b="b" l="l" r="r" t="t"/>
            <a:pathLst>
              <a:path extrusionOk="0" h="4961633" w="4961633">
                <a:moveTo>
                  <a:pt x="0" y="0"/>
                </a:moveTo>
                <a:lnTo>
                  <a:pt x="4961633" y="0"/>
                </a:lnTo>
                <a:lnTo>
                  <a:pt x="4961633" y="4961632"/>
                </a:lnTo>
                <a:lnTo>
                  <a:pt x="0" y="4961632"/>
                </a:lnTo>
                <a:lnTo>
                  <a:pt x="0" y="0"/>
                </a:lnTo>
                <a:close/>
              </a:path>
            </a:pathLst>
          </a:custGeom>
          <a:blipFill rotWithShape="1">
            <a:blip r:embed="rId5">
              <a:alphaModFix/>
            </a:blip>
            <a:stretch>
              <a:fillRect b="0" l="0" r="0" t="0"/>
            </a:stretch>
          </a:blipFill>
          <a:ln>
            <a:noFill/>
          </a:ln>
        </p:spPr>
      </p:sp>
      <p:sp>
        <p:nvSpPr>
          <p:cNvPr id="104" name="Google Shape;104;p3"/>
          <p:cNvSpPr/>
          <p:nvPr/>
        </p:nvSpPr>
        <p:spPr>
          <a:xfrm>
            <a:off x="5276524" y="3174482"/>
            <a:ext cx="678185" cy="824819"/>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105" name="Google Shape;105;p3"/>
          <p:cNvSpPr txBox="1"/>
          <p:nvPr/>
        </p:nvSpPr>
        <p:spPr>
          <a:xfrm>
            <a:off x="7866005" y="3510986"/>
            <a:ext cx="14813365" cy="48831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rPr b="1" i="0" lang="en-US" sz="1400" u="none" cap="none" strike="noStrike">
                <a:solidFill>
                  <a:srgbClr val="000000"/>
                </a:solidFill>
                <a:latin typeface="Open Sans"/>
                <a:ea typeface="Open Sans"/>
                <a:cs typeface="Open Sans"/>
                <a:sym typeface="Open Sans"/>
              </a:rPr>
              <a:t>(Ingresa los anuncios importantes como lo sean, cortos, entregas, practicas, proyectos, horarios de calificación, etc.)</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400"/>
              <a:buFont typeface="Arial"/>
              <a:buNone/>
            </a:pPr>
            <a:r>
              <a:t/>
            </a:r>
            <a:endParaRPr b="1" i="0" sz="1400" u="none" cap="none" strike="noStrike">
              <a:solidFill>
                <a:srgbClr val="000000"/>
              </a:solidFill>
              <a:latin typeface="Open Sans"/>
              <a:ea typeface="Open Sans"/>
              <a:cs typeface="Open Sans"/>
              <a:sym typeface="Open Sans"/>
            </a:endParaRPr>
          </a:p>
        </p:txBody>
      </p:sp>
      <p:sp>
        <p:nvSpPr>
          <p:cNvPr id="106" name="Google Shape;106;p3"/>
          <p:cNvSpPr txBox="1"/>
          <p:nvPr/>
        </p:nvSpPr>
        <p:spPr>
          <a:xfrm>
            <a:off x="5954709" y="4328160"/>
            <a:ext cx="2141097" cy="81534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Anuncio 2</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107" name="Google Shape;107;p3"/>
          <p:cNvSpPr txBox="1"/>
          <p:nvPr/>
        </p:nvSpPr>
        <p:spPr>
          <a:xfrm>
            <a:off x="5954709" y="3342711"/>
            <a:ext cx="2141097" cy="81534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Anuncio 1</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108" name="Google Shape;108;p3"/>
          <p:cNvSpPr/>
          <p:nvPr/>
        </p:nvSpPr>
        <p:spPr>
          <a:xfrm>
            <a:off x="5276524" y="4158051"/>
            <a:ext cx="678185" cy="824819"/>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109" name="Google Shape;109;p3"/>
          <p:cNvSpPr/>
          <p:nvPr/>
        </p:nvSpPr>
        <p:spPr>
          <a:xfrm>
            <a:off x="5276524" y="5259095"/>
            <a:ext cx="678185" cy="824819"/>
          </a:xfrm>
          <a:custGeom>
            <a:rect b="b" l="l" r="r" t="t"/>
            <a:pathLst>
              <a:path extrusionOk="0" h="824819" w="678185">
                <a:moveTo>
                  <a:pt x="0" y="0"/>
                </a:moveTo>
                <a:lnTo>
                  <a:pt x="678185" y="0"/>
                </a:lnTo>
                <a:lnTo>
                  <a:pt x="678185" y="824820"/>
                </a:lnTo>
                <a:lnTo>
                  <a:pt x="0" y="824820"/>
                </a:lnTo>
                <a:lnTo>
                  <a:pt x="0" y="0"/>
                </a:lnTo>
                <a:close/>
              </a:path>
            </a:pathLst>
          </a:custGeom>
          <a:blipFill rotWithShape="1">
            <a:blip r:embed="rId6">
              <a:alphaModFix/>
            </a:blip>
            <a:stretch>
              <a:fillRect b="0" l="0" r="0" t="0"/>
            </a:stretch>
          </a:blipFill>
          <a:ln>
            <a:noFill/>
          </a:ln>
        </p:spPr>
      </p:sp>
      <p:sp>
        <p:nvSpPr>
          <p:cNvPr id="110" name="Google Shape;110;p3"/>
          <p:cNvSpPr/>
          <p:nvPr/>
        </p:nvSpPr>
        <p:spPr>
          <a:xfrm>
            <a:off x="5276524" y="6360140"/>
            <a:ext cx="678185" cy="824819"/>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111" name="Google Shape;111;p3"/>
          <p:cNvSpPr/>
          <p:nvPr/>
        </p:nvSpPr>
        <p:spPr>
          <a:xfrm>
            <a:off x="5276524" y="7461184"/>
            <a:ext cx="678185" cy="824819"/>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112" name="Google Shape;112;p3"/>
          <p:cNvSpPr txBox="1"/>
          <p:nvPr/>
        </p:nvSpPr>
        <p:spPr>
          <a:xfrm>
            <a:off x="5954709" y="5448816"/>
            <a:ext cx="2141097" cy="81534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Anuncio 3</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113" name="Google Shape;113;p3"/>
          <p:cNvSpPr txBox="1"/>
          <p:nvPr/>
        </p:nvSpPr>
        <p:spPr>
          <a:xfrm>
            <a:off x="5954709" y="6435606"/>
            <a:ext cx="2141097" cy="81534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Anuncio 4</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114" name="Google Shape;114;p3"/>
          <p:cNvSpPr txBox="1"/>
          <p:nvPr/>
        </p:nvSpPr>
        <p:spPr>
          <a:xfrm>
            <a:off x="5954709" y="7555746"/>
            <a:ext cx="2141097" cy="81534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Anuncio 5</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4"/>
          <p:cNvSpPr/>
          <p:nvPr/>
        </p:nvSpPr>
        <p:spPr>
          <a:xfrm>
            <a:off x="4016947" y="3558803"/>
            <a:ext cx="9896507" cy="5913163"/>
          </a:xfrm>
          <a:custGeom>
            <a:rect b="b" l="l" r="r" t="t"/>
            <a:pathLst>
              <a:path extrusionOk="0" h="5913163" w="9896507">
                <a:moveTo>
                  <a:pt x="0" y="0"/>
                </a:moveTo>
                <a:lnTo>
                  <a:pt x="9896507" y="0"/>
                </a:lnTo>
                <a:lnTo>
                  <a:pt x="9896507" y="5913163"/>
                </a:lnTo>
                <a:lnTo>
                  <a:pt x="0" y="5913163"/>
                </a:lnTo>
                <a:lnTo>
                  <a:pt x="0" y="0"/>
                </a:lnTo>
                <a:close/>
              </a:path>
            </a:pathLst>
          </a:custGeom>
          <a:blipFill rotWithShape="1">
            <a:blip r:embed="rId3">
              <a:alphaModFix/>
            </a:blip>
            <a:stretch>
              <a:fillRect b="0" l="0" r="0" t="0"/>
            </a:stretch>
          </a:blipFill>
          <a:ln>
            <a:noFill/>
          </a:ln>
        </p:spPr>
      </p:sp>
      <p:sp>
        <p:nvSpPr>
          <p:cNvPr id="120" name="Google Shape;120;p4"/>
          <p:cNvSpPr/>
          <p:nvPr/>
        </p:nvSpPr>
        <p:spPr>
          <a:xfrm>
            <a:off x="3493371" y="-625307"/>
            <a:ext cx="11301259" cy="5127946"/>
          </a:xfrm>
          <a:custGeom>
            <a:rect b="b" l="l" r="r" t="t"/>
            <a:pathLst>
              <a:path extrusionOk="0" h="5127946" w="11301259">
                <a:moveTo>
                  <a:pt x="0" y="0"/>
                </a:moveTo>
                <a:lnTo>
                  <a:pt x="11301258" y="0"/>
                </a:lnTo>
                <a:lnTo>
                  <a:pt x="11301258" y="5127946"/>
                </a:lnTo>
                <a:lnTo>
                  <a:pt x="0" y="5127946"/>
                </a:lnTo>
                <a:lnTo>
                  <a:pt x="0" y="0"/>
                </a:lnTo>
                <a:close/>
              </a:path>
            </a:pathLst>
          </a:custGeom>
          <a:blipFill rotWithShape="1">
            <a:blip r:embed="rId4">
              <a:alphaModFix/>
            </a:blip>
            <a:stretch>
              <a:fillRect b="0" l="0" r="0" t="0"/>
            </a:stretch>
          </a:blipFill>
          <a:ln>
            <a:noFill/>
          </a:ln>
        </p:spPr>
      </p:sp>
      <p:sp>
        <p:nvSpPr>
          <p:cNvPr id="121" name="Google Shape;121;p4"/>
          <p:cNvSpPr/>
          <p:nvPr/>
        </p:nvSpPr>
        <p:spPr>
          <a:xfrm>
            <a:off x="4875920" y="4090230"/>
            <a:ext cx="678185" cy="824819"/>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122" name="Google Shape;122;p4"/>
          <p:cNvSpPr txBox="1"/>
          <p:nvPr/>
        </p:nvSpPr>
        <p:spPr>
          <a:xfrm>
            <a:off x="5215012" y="4328160"/>
            <a:ext cx="2141097" cy="81534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TEMA 1</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123" name="Google Shape;123;p4"/>
          <p:cNvSpPr/>
          <p:nvPr/>
        </p:nvSpPr>
        <p:spPr>
          <a:xfrm>
            <a:off x="4875920" y="5143500"/>
            <a:ext cx="678185" cy="824819"/>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124" name="Google Shape;124;p4"/>
          <p:cNvSpPr txBox="1"/>
          <p:nvPr/>
        </p:nvSpPr>
        <p:spPr>
          <a:xfrm>
            <a:off x="5215012" y="5379556"/>
            <a:ext cx="2141097" cy="81534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TEMA 2</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125" name="Google Shape;125;p4"/>
          <p:cNvSpPr/>
          <p:nvPr/>
        </p:nvSpPr>
        <p:spPr>
          <a:xfrm>
            <a:off x="4875920" y="6194896"/>
            <a:ext cx="678185" cy="824819"/>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126" name="Google Shape;126;p4"/>
          <p:cNvSpPr/>
          <p:nvPr/>
        </p:nvSpPr>
        <p:spPr>
          <a:xfrm>
            <a:off x="4875920" y="7248315"/>
            <a:ext cx="678185" cy="824819"/>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127" name="Google Shape;127;p4"/>
          <p:cNvSpPr/>
          <p:nvPr/>
        </p:nvSpPr>
        <p:spPr>
          <a:xfrm>
            <a:off x="4875920" y="8301734"/>
            <a:ext cx="678185" cy="824819"/>
          </a:xfrm>
          <a:custGeom>
            <a:rect b="b" l="l" r="r" t="t"/>
            <a:pathLst>
              <a:path extrusionOk="0" h="824819" w="678185">
                <a:moveTo>
                  <a:pt x="0" y="0"/>
                </a:moveTo>
                <a:lnTo>
                  <a:pt x="678184" y="0"/>
                </a:lnTo>
                <a:lnTo>
                  <a:pt x="678184" y="824820"/>
                </a:lnTo>
                <a:lnTo>
                  <a:pt x="0" y="824820"/>
                </a:lnTo>
                <a:lnTo>
                  <a:pt x="0" y="0"/>
                </a:lnTo>
                <a:close/>
              </a:path>
            </a:pathLst>
          </a:custGeom>
          <a:blipFill rotWithShape="1">
            <a:blip r:embed="rId5">
              <a:alphaModFix/>
            </a:blip>
            <a:stretch>
              <a:fillRect b="0" l="0" r="0" t="0"/>
            </a:stretch>
          </a:blipFill>
          <a:ln>
            <a:noFill/>
          </a:ln>
        </p:spPr>
      </p:sp>
      <p:sp>
        <p:nvSpPr>
          <p:cNvPr id="128" name="Google Shape;128;p4"/>
          <p:cNvSpPr txBox="1"/>
          <p:nvPr/>
        </p:nvSpPr>
        <p:spPr>
          <a:xfrm>
            <a:off x="5215012" y="6385396"/>
            <a:ext cx="2141097" cy="81534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TEMA 3</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129" name="Google Shape;129;p4"/>
          <p:cNvSpPr txBox="1"/>
          <p:nvPr/>
        </p:nvSpPr>
        <p:spPr>
          <a:xfrm>
            <a:off x="5215012" y="7391236"/>
            <a:ext cx="2141097" cy="81534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TEMA 4</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130" name="Google Shape;130;p4"/>
          <p:cNvSpPr txBox="1"/>
          <p:nvPr/>
        </p:nvSpPr>
        <p:spPr>
          <a:xfrm>
            <a:off x="5215012" y="8444701"/>
            <a:ext cx="2141097" cy="81534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TEMA 5</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5"/>
          <p:cNvSpPr/>
          <p:nvPr/>
        </p:nvSpPr>
        <p:spPr>
          <a:xfrm>
            <a:off x="0" y="0"/>
            <a:ext cx="18288000" cy="10447020"/>
          </a:xfrm>
          <a:custGeom>
            <a:rect b="b" l="l" r="r" t="t"/>
            <a:pathLst>
              <a:path extrusionOk="0" h="10447020" w="18288000">
                <a:moveTo>
                  <a:pt x="0" y="0"/>
                </a:moveTo>
                <a:lnTo>
                  <a:pt x="18288000" y="0"/>
                </a:lnTo>
                <a:lnTo>
                  <a:pt x="18288000" y="10447020"/>
                </a:lnTo>
                <a:lnTo>
                  <a:pt x="0" y="10447020"/>
                </a:lnTo>
                <a:lnTo>
                  <a:pt x="0" y="0"/>
                </a:lnTo>
                <a:close/>
              </a:path>
            </a:pathLst>
          </a:custGeom>
          <a:blipFill rotWithShape="1">
            <a:blip r:embed="rId3">
              <a:alphaModFix/>
            </a:blip>
            <a:stretch>
              <a:fillRect b="0" l="0" r="0" t="0"/>
            </a:stretch>
          </a:blipFill>
          <a:ln>
            <a:noFill/>
          </a:ln>
        </p:spPr>
      </p:sp>
      <p:sp>
        <p:nvSpPr>
          <p:cNvPr id="136" name="Google Shape;136;p5"/>
          <p:cNvSpPr/>
          <p:nvPr/>
        </p:nvSpPr>
        <p:spPr>
          <a:xfrm>
            <a:off x="2888408" y="2581776"/>
            <a:ext cx="12511183" cy="3424936"/>
          </a:xfrm>
          <a:custGeom>
            <a:rect b="b" l="l" r="r" t="t"/>
            <a:pathLst>
              <a:path extrusionOk="0" h="3424936" w="12511183">
                <a:moveTo>
                  <a:pt x="0" y="0"/>
                </a:moveTo>
                <a:lnTo>
                  <a:pt x="12511184" y="0"/>
                </a:lnTo>
                <a:lnTo>
                  <a:pt x="12511184" y="3424937"/>
                </a:lnTo>
                <a:lnTo>
                  <a:pt x="0" y="3424937"/>
                </a:lnTo>
                <a:lnTo>
                  <a:pt x="0" y="0"/>
                </a:lnTo>
                <a:close/>
              </a:path>
            </a:pathLst>
          </a:custGeom>
          <a:blipFill rotWithShape="1">
            <a:blip r:embed="rId4">
              <a:alphaModFix/>
            </a:blip>
            <a:stretch>
              <a:fillRect b="0" l="0" r="0" t="0"/>
            </a:stretch>
          </a:blipFill>
          <a:ln>
            <a:noFill/>
          </a:ln>
        </p:spPr>
      </p:sp>
      <p:sp>
        <p:nvSpPr>
          <p:cNvPr id="137" name="Google Shape;137;p5"/>
          <p:cNvSpPr txBox="1"/>
          <p:nvPr/>
        </p:nvSpPr>
        <p:spPr>
          <a:xfrm>
            <a:off x="5460775" y="2581768"/>
            <a:ext cx="8873400" cy="43458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Clr>
                <a:srgbClr val="000000"/>
              </a:buClr>
              <a:buSzPts val="6399"/>
              <a:buFont typeface="Arial"/>
              <a:buNone/>
            </a:pPr>
            <a:r>
              <a:rPr b="1" lang="en-US" sz="3899">
                <a:latin typeface="Open Sans"/>
                <a:ea typeface="Open Sans"/>
                <a:cs typeface="Open Sans"/>
                <a:sym typeface="Open Sans"/>
              </a:rPr>
              <a:t>Crea páginas Web Básicas utilizando HTML5 y CSS para estructurar y dar estilo a componentes web. </a:t>
            </a:r>
            <a:endParaRPr b="0" i="0" sz="100" u="none" cap="none" strike="noStrike">
              <a:solidFill>
                <a:srgbClr val="000000"/>
              </a:solidFill>
              <a:latin typeface="Arial"/>
              <a:ea typeface="Arial"/>
              <a:cs typeface="Arial"/>
              <a:sym typeface="Arial"/>
            </a:endParaRPr>
          </a:p>
          <a:p>
            <a:pPr indent="0" lvl="0" marL="0" marR="0" rtl="0" algn="ctr">
              <a:lnSpc>
                <a:spcPct val="140006"/>
              </a:lnSpc>
              <a:spcBef>
                <a:spcPts val="0"/>
              </a:spcBef>
              <a:spcAft>
                <a:spcPts val="0"/>
              </a:spcAft>
              <a:buClr>
                <a:srgbClr val="000000"/>
              </a:buClr>
              <a:buSzPts val="6399"/>
              <a:buFont typeface="Arial"/>
              <a:buNone/>
            </a:pPr>
            <a:r>
              <a:t/>
            </a:r>
            <a:endParaRPr b="1" i="0" sz="6399" u="none" cap="none" strike="noStrike">
              <a:solidFill>
                <a:srgbClr val="000000"/>
              </a:solidFill>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8"/>
          <p:cNvSpPr/>
          <p:nvPr/>
        </p:nvSpPr>
        <p:spPr>
          <a:xfrm>
            <a:off x="5616573" y="654273"/>
            <a:ext cx="7054854" cy="1553923"/>
          </a:xfrm>
          <a:custGeom>
            <a:rect b="b" l="l" r="r" t="t"/>
            <a:pathLst>
              <a:path extrusionOk="0" h="1553923" w="7054854">
                <a:moveTo>
                  <a:pt x="0" y="0"/>
                </a:moveTo>
                <a:lnTo>
                  <a:pt x="7054854" y="0"/>
                </a:lnTo>
                <a:lnTo>
                  <a:pt x="7054854" y="1553923"/>
                </a:lnTo>
                <a:lnTo>
                  <a:pt x="0" y="1553923"/>
                </a:lnTo>
                <a:lnTo>
                  <a:pt x="0" y="0"/>
                </a:lnTo>
                <a:close/>
              </a:path>
            </a:pathLst>
          </a:custGeom>
          <a:blipFill rotWithShape="1">
            <a:blip r:embed="rId3">
              <a:alphaModFix/>
            </a:blip>
            <a:stretch>
              <a:fillRect b="0" l="-30664" r="-29526" t="0"/>
            </a:stretch>
          </a:blipFill>
          <a:ln>
            <a:noFill/>
          </a:ln>
        </p:spPr>
      </p:sp>
      <p:sp>
        <p:nvSpPr>
          <p:cNvPr id="143" name="Google Shape;143;p8"/>
          <p:cNvSpPr txBox="1"/>
          <p:nvPr/>
        </p:nvSpPr>
        <p:spPr>
          <a:xfrm>
            <a:off x="2414359" y="2901129"/>
            <a:ext cx="13459200" cy="6009300"/>
          </a:xfrm>
          <a:prstGeom prst="rect">
            <a:avLst/>
          </a:prstGeom>
          <a:noFill/>
          <a:ln>
            <a:noFill/>
          </a:ln>
        </p:spPr>
        <p:txBody>
          <a:bodyPr anchorCtr="0" anchor="t" bIns="0" lIns="0" spcFirstLastPara="1" rIns="0" wrap="square" tIns="0">
            <a:spAutoFit/>
          </a:bodyPr>
          <a:lstStyle/>
          <a:p>
            <a:pPr indent="-345440" lvl="1" marL="690881" marR="0" rtl="0" algn="l">
              <a:lnSpc>
                <a:spcPct val="140000"/>
              </a:lnSpc>
              <a:spcBef>
                <a:spcPts val="0"/>
              </a:spcBef>
              <a:spcAft>
                <a:spcPts val="0"/>
              </a:spcAft>
              <a:buClr>
                <a:srgbClr val="000000"/>
              </a:buClr>
              <a:buSzPts val="3200"/>
              <a:buFont typeface="Arial"/>
              <a:buChar char="•"/>
            </a:pPr>
            <a:r>
              <a:rPr lang="en-US" sz="3200">
                <a:latin typeface="Open Sans"/>
                <a:ea typeface="Open Sans"/>
                <a:cs typeface="Open Sans"/>
                <a:sym typeface="Open Sans"/>
              </a:rPr>
              <a:t>Perseverancia</a:t>
            </a:r>
            <a:endParaRPr b="0" i="0" sz="1400" u="none" cap="none" strike="noStrike">
              <a:solidFill>
                <a:srgbClr val="000000"/>
              </a:solidFill>
              <a:latin typeface="Arial"/>
              <a:ea typeface="Arial"/>
              <a:cs typeface="Arial"/>
              <a:sym typeface="Arial"/>
            </a:endParaRPr>
          </a:p>
          <a:p>
            <a:pPr indent="-345440" lvl="1" marL="690881" marR="0" rtl="0" algn="l">
              <a:lnSpc>
                <a:spcPct val="140000"/>
              </a:lnSpc>
              <a:spcBef>
                <a:spcPts val="0"/>
              </a:spcBef>
              <a:spcAft>
                <a:spcPts val="0"/>
              </a:spcAft>
              <a:buClr>
                <a:srgbClr val="000000"/>
              </a:buClr>
              <a:buSzPts val="3200"/>
              <a:buFont typeface="Arial"/>
              <a:buChar char="•"/>
            </a:pPr>
            <a:r>
              <a:rPr lang="en-US" sz="3200">
                <a:latin typeface="Open Sans"/>
                <a:ea typeface="Open Sans"/>
                <a:cs typeface="Open Sans"/>
                <a:sym typeface="Open Sans"/>
              </a:rPr>
              <a:t>Los estudiantes aplican la perseverancia al enfrentar errores en la estructura de HTML5 o en el diseño de estilos con CSS, iterando hasta lograr un diseño funcional y visualmente atractivo.</a:t>
            </a:r>
            <a:endParaRPr sz="3200">
              <a:latin typeface="Open Sans"/>
              <a:ea typeface="Open Sans"/>
              <a:cs typeface="Open Sans"/>
              <a:sym typeface="Open Sans"/>
            </a:endParaRPr>
          </a:p>
          <a:p>
            <a:pPr indent="-345440" lvl="1" marL="690881" marR="0" rtl="0" algn="l">
              <a:lnSpc>
                <a:spcPct val="140000"/>
              </a:lnSpc>
              <a:spcBef>
                <a:spcPts val="0"/>
              </a:spcBef>
              <a:spcAft>
                <a:spcPts val="0"/>
              </a:spcAft>
              <a:buSzPts val="3200"/>
              <a:buFont typeface="Open Sans"/>
              <a:buChar char="•"/>
            </a:pPr>
            <a:r>
              <a:rPr lang="en-US" sz="3200">
                <a:latin typeface="Open Sans"/>
                <a:ea typeface="Open Sans"/>
                <a:cs typeface="Open Sans"/>
                <a:sym typeface="Open Sans"/>
              </a:rPr>
              <a:t>"El éxito no es la ausencia de obstáculos, sino el coraje para empujar a través de ellos."  -  James Allen</a:t>
            </a:r>
            <a:endParaRPr sz="3200">
              <a:latin typeface="Open Sans"/>
              <a:ea typeface="Open Sans"/>
              <a:cs typeface="Open Sans"/>
              <a:sym typeface="Open Sans"/>
            </a:endParaRPr>
          </a:p>
          <a:p>
            <a:pPr indent="0" lvl="0" marL="0" marR="0" rtl="0" algn="l">
              <a:lnSpc>
                <a:spcPct val="140000"/>
              </a:lnSpc>
              <a:spcBef>
                <a:spcPts val="0"/>
              </a:spcBef>
              <a:spcAft>
                <a:spcPts val="0"/>
              </a:spcAft>
              <a:buNone/>
            </a:pPr>
            <a:r>
              <a:t/>
            </a:r>
            <a:endParaRPr sz="3200">
              <a:latin typeface="Open Sans"/>
              <a:ea typeface="Open Sans"/>
              <a:cs typeface="Open Sans"/>
              <a:sym typeface="Open Sans"/>
            </a:endParaRPr>
          </a:p>
          <a:p>
            <a:pPr indent="0" lvl="0" marL="0" marR="0" rtl="0" algn="l">
              <a:lnSpc>
                <a:spcPct val="140000"/>
              </a:lnSpc>
              <a:spcBef>
                <a:spcPts val="0"/>
              </a:spcBef>
              <a:spcAft>
                <a:spcPts val="0"/>
              </a:spcAft>
              <a:buClr>
                <a:srgbClr val="000000"/>
              </a:buClr>
              <a:buSzPts val="3200"/>
              <a:buFont typeface="Arial"/>
              <a:buNone/>
            </a:pPr>
            <a:r>
              <a:t/>
            </a:r>
            <a:endParaRPr b="0" i="0" sz="3200" u="none" cap="none" strike="noStrike">
              <a:solidFill>
                <a:srgbClr val="000000"/>
              </a:solidFill>
              <a:latin typeface="Open Sans"/>
              <a:ea typeface="Open Sans"/>
              <a:cs typeface="Open Sans"/>
              <a:sym typeface="Open Sans"/>
            </a:endParaRPr>
          </a:p>
          <a:p>
            <a:pPr indent="0" lvl="0" marL="0" marR="0" rtl="0" algn="l">
              <a:lnSpc>
                <a:spcPct val="140000"/>
              </a:lnSpc>
              <a:spcBef>
                <a:spcPts val="0"/>
              </a:spcBef>
              <a:spcAft>
                <a:spcPts val="0"/>
              </a:spcAft>
              <a:buClr>
                <a:srgbClr val="000000"/>
              </a:buClr>
              <a:buSzPts val="3200"/>
              <a:buFont typeface="Arial"/>
              <a:buNone/>
            </a:pPr>
            <a:r>
              <a:t/>
            </a:r>
            <a:endParaRPr b="0" i="0" sz="3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6"/>
          <p:cNvSpPr txBox="1"/>
          <p:nvPr/>
        </p:nvSpPr>
        <p:spPr>
          <a:xfrm>
            <a:off x="1228050" y="1031725"/>
            <a:ext cx="15831900" cy="1043700"/>
          </a:xfrm>
          <a:prstGeom prst="rect">
            <a:avLst/>
          </a:prstGeom>
          <a:noFill/>
          <a:ln>
            <a:noFill/>
          </a:ln>
        </p:spPr>
        <p:txBody>
          <a:bodyPr anchorCtr="0" anchor="t" bIns="219250" lIns="219250" spcFirstLastPara="1" rIns="219250" wrap="square" tIns="219250">
            <a:noAutofit/>
          </a:bodyPr>
          <a:lstStyle/>
          <a:p>
            <a:pPr indent="0" lvl="0" marL="0" rtl="0" algn="l">
              <a:lnSpc>
                <a:spcPct val="80000"/>
              </a:lnSpc>
              <a:spcBef>
                <a:spcPts val="0"/>
              </a:spcBef>
              <a:spcAft>
                <a:spcPts val="0"/>
              </a:spcAft>
              <a:buSzPts val="358"/>
              <a:buNone/>
            </a:pPr>
            <a:r>
              <a:rPr lang="en-US" sz="4238">
                <a:solidFill>
                  <a:srgbClr val="000000"/>
                </a:solidFill>
                <a:highlight>
                  <a:schemeClr val="lt1"/>
                </a:highlight>
                <a:latin typeface="Oswald"/>
                <a:ea typeface="Oswald"/>
                <a:cs typeface="Oswald"/>
                <a:sym typeface="Oswald"/>
              </a:rPr>
              <a:t>¿QUE ES HTML?</a:t>
            </a:r>
            <a:endParaRPr sz="4238">
              <a:solidFill>
                <a:srgbClr val="000000"/>
              </a:solidFill>
              <a:highlight>
                <a:schemeClr val="lt1"/>
              </a:highlight>
              <a:latin typeface="Oswald"/>
              <a:ea typeface="Oswald"/>
              <a:cs typeface="Oswald"/>
              <a:sym typeface="Oswald"/>
            </a:endParaRPr>
          </a:p>
          <a:p>
            <a:pPr indent="0" lvl="0" marL="0" rtl="0" algn="l">
              <a:lnSpc>
                <a:spcPct val="80000"/>
              </a:lnSpc>
              <a:spcBef>
                <a:spcPts val="0"/>
              </a:spcBef>
              <a:spcAft>
                <a:spcPts val="0"/>
              </a:spcAft>
              <a:buSzPts val="358"/>
              <a:buNone/>
            </a:pPr>
            <a:r>
              <a:t/>
            </a:r>
            <a:endParaRPr sz="2338">
              <a:solidFill>
                <a:srgbClr val="000000"/>
              </a:solidFill>
              <a:highlight>
                <a:srgbClr val="F8E71C"/>
              </a:highlight>
              <a:latin typeface="Oswald"/>
              <a:ea typeface="Oswald"/>
              <a:cs typeface="Oswald"/>
              <a:sym typeface="Oswald"/>
            </a:endParaRPr>
          </a:p>
        </p:txBody>
      </p:sp>
      <p:sp>
        <p:nvSpPr>
          <p:cNvPr id="149" name="Google Shape;149;p6"/>
          <p:cNvSpPr txBox="1"/>
          <p:nvPr/>
        </p:nvSpPr>
        <p:spPr>
          <a:xfrm>
            <a:off x="1228050" y="2469548"/>
            <a:ext cx="15831900" cy="6076800"/>
          </a:xfrm>
          <a:prstGeom prst="rect">
            <a:avLst/>
          </a:prstGeom>
          <a:noFill/>
          <a:ln>
            <a:noFill/>
          </a:ln>
        </p:spPr>
        <p:txBody>
          <a:bodyPr anchorCtr="0" anchor="t" bIns="219250" lIns="219250" spcFirstLastPara="1" rIns="219250" wrap="square" tIns="219250">
            <a:normAutofit/>
          </a:bodyPr>
          <a:lstStyle/>
          <a:p>
            <a:pPr indent="0" lvl="0" marL="0" rtl="0" algn="just">
              <a:lnSpc>
                <a:spcPct val="115000"/>
              </a:lnSpc>
              <a:spcBef>
                <a:spcPts val="0"/>
              </a:spcBef>
              <a:spcAft>
                <a:spcPts val="0"/>
              </a:spcAft>
              <a:buNone/>
            </a:pPr>
            <a:r>
              <a:rPr lang="en-US" sz="4316">
                <a:solidFill>
                  <a:srgbClr val="000000"/>
                </a:solidFill>
                <a:latin typeface="Playfair Display"/>
                <a:ea typeface="Playfair Display"/>
                <a:cs typeface="Playfair Display"/>
                <a:sym typeface="Playfair Display"/>
              </a:rPr>
              <a:t>HTML significa "HyperText Markup Language" (Lenguaje de Marcado de Hipertexto) y es el lenguaje fundamental para construir páginas web. Sirve para estructurar el contenido, como texto, imágenes, enlaces, y multimedia. Los navegadores web interpretan el código HTML para mostrar las páginas a los usuarios.</a:t>
            </a:r>
            <a:endParaRPr sz="4316">
              <a:solidFill>
                <a:srgbClr val="000000"/>
              </a:solidFill>
              <a:latin typeface="Playfair Display"/>
              <a:ea typeface="Playfair Display"/>
              <a:cs typeface="Playfair Display"/>
              <a:sym typeface="Playfair Display"/>
            </a:endParaRPr>
          </a:p>
          <a:p>
            <a:pPr indent="0" lvl="0" marL="0" rtl="0" algn="l">
              <a:lnSpc>
                <a:spcPct val="115000"/>
              </a:lnSpc>
              <a:spcBef>
                <a:spcPts val="2878"/>
              </a:spcBef>
              <a:spcAft>
                <a:spcPts val="2878"/>
              </a:spcAft>
              <a:buNone/>
            </a:pPr>
            <a:r>
              <a:t/>
            </a:r>
            <a:endParaRPr sz="4316">
              <a:solidFill>
                <a:srgbClr val="000000"/>
              </a:solidFill>
              <a:latin typeface="Playfair Display"/>
              <a:ea typeface="Playfair Display"/>
              <a:cs typeface="Playfair Display"/>
              <a:sym typeface="Playfair Display"/>
            </a:endParaRPr>
          </a:p>
        </p:txBody>
      </p:sp>
      <p:pic>
        <p:nvPicPr>
          <p:cNvPr id="150" name="Google Shape;150;p6" title="HTML5.png"/>
          <p:cNvPicPr preferRelativeResize="0"/>
          <p:nvPr/>
        </p:nvPicPr>
        <p:blipFill rotWithShape="1">
          <a:blip r:embed="rId3">
            <a:alphaModFix/>
          </a:blip>
          <a:srcRect b="0" l="0" r="0" t="0"/>
          <a:stretch/>
        </p:blipFill>
        <p:spPr>
          <a:xfrm>
            <a:off x="10551627" y="7020462"/>
            <a:ext cx="6374207" cy="191743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9ab6b3f0fb_0_22"/>
          <p:cNvSpPr txBox="1"/>
          <p:nvPr/>
        </p:nvSpPr>
        <p:spPr>
          <a:xfrm>
            <a:off x="1487359" y="780363"/>
            <a:ext cx="10686300" cy="1697400"/>
          </a:xfrm>
          <a:prstGeom prst="rect">
            <a:avLst/>
          </a:prstGeom>
          <a:noFill/>
          <a:ln>
            <a:noFill/>
          </a:ln>
        </p:spPr>
        <p:txBody>
          <a:bodyPr anchorCtr="0" anchor="t" bIns="205325" lIns="205325" spcFirstLastPara="1" rIns="205325" wrap="square" tIns="205325">
            <a:normAutofit fontScale="77500" lnSpcReduction="20000"/>
          </a:bodyPr>
          <a:lstStyle/>
          <a:p>
            <a:pPr indent="0" lvl="0" marL="0" rtl="0" algn="l">
              <a:spcBef>
                <a:spcPts val="0"/>
              </a:spcBef>
              <a:spcAft>
                <a:spcPts val="0"/>
              </a:spcAft>
              <a:buNone/>
            </a:pPr>
            <a:r>
              <a:rPr lang="en-US" sz="6738">
                <a:solidFill>
                  <a:srgbClr val="000000"/>
                </a:solidFill>
                <a:highlight>
                  <a:schemeClr val="lt1"/>
                </a:highlight>
                <a:latin typeface="Oswald"/>
                <a:ea typeface="Oswald"/>
                <a:cs typeface="Oswald"/>
                <a:sym typeface="Oswald"/>
              </a:rPr>
              <a:t>ESTRUCTURA Y SINTAXIS EN HTML</a:t>
            </a:r>
            <a:endParaRPr sz="6738">
              <a:solidFill>
                <a:srgbClr val="000000"/>
              </a:solidFill>
              <a:highlight>
                <a:schemeClr val="lt1"/>
              </a:highlight>
              <a:latin typeface="Oswald"/>
              <a:ea typeface="Oswald"/>
              <a:cs typeface="Oswald"/>
              <a:sym typeface="Oswald"/>
            </a:endParaRPr>
          </a:p>
          <a:p>
            <a:pPr indent="0" lvl="0" marL="0" rtl="0" algn="l">
              <a:spcBef>
                <a:spcPts val="0"/>
              </a:spcBef>
              <a:spcAft>
                <a:spcPts val="0"/>
              </a:spcAft>
              <a:buNone/>
            </a:pPr>
            <a:r>
              <a:t/>
            </a:r>
            <a:endParaRPr sz="6738">
              <a:solidFill>
                <a:srgbClr val="000000"/>
              </a:solidFill>
              <a:highlight>
                <a:srgbClr val="01AFD1"/>
              </a:highlight>
              <a:latin typeface="Oswald"/>
              <a:ea typeface="Oswald"/>
              <a:cs typeface="Oswald"/>
              <a:sym typeface="Oswald"/>
            </a:endParaRPr>
          </a:p>
        </p:txBody>
      </p:sp>
      <p:sp>
        <p:nvSpPr>
          <p:cNvPr id="156" name="Google Shape;156;g39ab6b3f0fb_0_22"/>
          <p:cNvSpPr txBox="1"/>
          <p:nvPr/>
        </p:nvSpPr>
        <p:spPr>
          <a:xfrm>
            <a:off x="1487325" y="2365728"/>
            <a:ext cx="8043600" cy="7140900"/>
          </a:xfrm>
          <a:prstGeom prst="rect">
            <a:avLst/>
          </a:prstGeom>
          <a:noFill/>
          <a:ln>
            <a:noFill/>
          </a:ln>
        </p:spPr>
        <p:txBody>
          <a:bodyPr anchorCtr="0" anchor="t" bIns="205325" lIns="205325" spcFirstLastPara="1" rIns="205325" wrap="square" tIns="205325">
            <a:normAutofit fontScale="92500" lnSpcReduction="20000"/>
          </a:bodyPr>
          <a:lstStyle/>
          <a:p>
            <a:pPr indent="0" lvl="0" marL="0" rtl="0" algn="l">
              <a:lnSpc>
                <a:spcPct val="115000"/>
              </a:lnSpc>
              <a:spcBef>
                <a:spcPts val="0"/>
              </a:spcBef>
              <a:spcAft>
                <a:spcPts val="0"/>
              </a:spcAft>
              <a:buNone/>
            </a:pPr>
            <a:r>
              <a:rPr lang="en-US" sz="4043">
                <a:solidFill>
                  <a:srgbClr val="000000"/>
                </a:solidFill>
                <a:latin typeface="Playfair Display"/>
                <a:ea typeface="Playfair Display"/>
                <a:cs typeface="Playfair Display"/>
                <a:sym typeface="Playfair Display"/>
              </a:rPr>
              <a:t>La estructura HTML de una página web se compone de las etiquetas:</a:t>
            </a:r>
            <a:endParaRPr sz="4043">
              <a:solidFill>
                <a:srgbClr val="000000"/>
              </a:solidFill>
              <a:latin typeface="Playfair Display"/>
              <a:ea typeface="Playfair Display"/>
              <a:cs typeface="Playfair Display"/>
              <a:sym typeface="Playfair Display"/>
            </a:endParaRPr>
          </a:p>
          <a:p>
            <a:pPr indent="-750886" lvl="0" marL="1026852" rtl="0" algn="l">
              <a:lnSpc>
                <a:spcPct val="115000"/>
              </a:lnSpc>
              <a:spcBef>
                <a:spcPts val="2695"/>
              </a:spcBef>
              <a:spcAft>
                <a:spcPts val="0"/>
              </a:spcAft>
              <a:buClr>
                <a:srgbClr val="000000"/>
              </a:buClr>
              <a:buSzPct val="100000"/>
              <a:buFont typeface="Playfair Display"/>
              <a:buChar char="●"/>
            </a:pPr>
            <a:r>
              <a:rPr lang="en-US" sz="4043">
                <a:solidFill>
                  <a:srgbClr val="000000"/>
                </a:solidFill>
                <a:latin typeface="Playfair Display"/>
                <a:ea typeface="Playfair Display"/>
                <a:cs typeface="Playfair Display"/>
                <a:sym typeface="Playfair Display"/>
              </a:rPr>
              <a:t>&lt;html&gt; indica el comienzo de la página </a:t>
            </a:r>
            <a:endParaRPr sz="4043">
              <a:solidFill>
                <a:srgbClr val="000000"/>
              </a:solidFill>
              <a:latin typeface="Playfair Display"/>
              <a:ea typeface="Playfair Display"/>
              <a:cs typeface="Playfair Display"/>
              <a:sym typeface="Playfair Display"/>
            </a:endParaRPr>
          </a:p>
          <a:p>
            <a:pPr indent="-750886" lvl="0" marL="1026852" rtl="0" algn="l">
              <a:lnSpc>
                <a:spcPct val="115000"/>
              </a:lnSpc>
              <a:spcBef>
                <a:spcPts val="0"/>
              </a:spcBef>
              <a:spcAft>
                <a:spcPts val="0"/>
              </a:spcAft>
              <a:buClr>
                <a:srgbClr val="000000"/>
              </a:buClr>
              <a:buSzPct val="100000"/>
              <a:buFont typeface="Playfair Display"/>
              <a:buChar char="●"/>
            </a:pPr>
            <a:r>
              <a:rPr lang="en-US" sz="4043">
                <a:solidFill>
                  <a:srgbClr val="000000"/>
                </a:solidFill>
                <a:latin typeface="Playfair Display"/>
                <a:ea typeface="Playfair Display"/>
                <a:cs typeface="Playfair Display"/>
                <a:sym typeface="Playfair Display"/>
              </a:rPr>
              <a:t>&lt;head&gt; indica que contiene información más descriptiva sobre el sitio</a:t>
            </a:r>
            <a:endParaRPr sz="4043">
              <a:solidFill>
                <a:srgbClr val="000000"/>
              </a:solidFill>
              <a:latin typeface="Playfair Display"/>
              <a:ea typeface="Playfair Display"/>
              <a:cs typeface="Playfair Display"/>
              <a:sym typeface="Playfair Display"/>
            </a:endParaRPr>
          </a:p>
          <a:p>
            <a:pPr indent="-750886" lvl="0" marL="1026852" rtl="0" algn="l">
              <a:lnSpc>
                <a:spcPct val="115000"/>
              </a:lnSpc>
              <a:spcBef>
                <a:spcPts val="0"/>
              </a:spcBef>
              <a:spcAft>
                <a:spcPts val="0"/>
              </a:spcAft>
              <a:buClr>
                <a:srgbClr val="000000"/>
              </a:buClr>
              <a:buSzPct val="100000"/>
              <a:buFont typeface="Playfair Display"/>
              <a:buChar char="●"/>
            </a:pPr>
            <a:r>
              <a:rPr lang="en-US" sz="4043">
                <a:solidFill>
                  <a:srgbClr val="000000"/>
                </a:solidFill>
                <a:latin typeface="Playfair Display"/>
                <a:ea typeface="Playfair Display"/>
                <a:cs typeface="Playfair Display"/>
                <a:sym typeface="Playfair Display"/>
              </a:rPr>
              <a:t>&lt;body&gt; que conforma todos los elementos visibles de la página.</a:t>
            </a:r>
            <a:endParaRPr sz="4043">
              <a:solidFill>
                <a:srgbClr val="000000"/>
              </a:solidFill>
              <a:latin typeface="Playfair Display"/>
              <a:ea typeface="Playfair Display"/>
              <a:cs typeface="Playfair Display"/>
              <a:sym typeface="Playfair Display"/>
            </a:endParaRPr>
          </a:p>
          <a:p>
            <a:pPr indent="0" lvl="0" marL="0" rtl="0" algn="l">
              <a:lnSpc>
                <a:spcPct val="115000"/>
              </a:lnSpc>
              <a:spcBef>
                <a:spcPts val="2695"/>
              </a:spcBef>
              <a:spcAft>
                <a:spcPts val="2695"/>
              </a:spcAft>
              <a:buNone/>
            </a:pPr>
            <a:r>
              <a:t/>
            </a:r>
            <a:endParaRPr sz="4043">
              <a:solidFill>
                <a:srgbClr val="000000"/>
              </a:solidFill>
              <a:latin typeface="Playfair Display"/>
              <a:ea typeface="Playfair Display"/>
              <a:cs typeface="Playfair Display"/>
              <a:sym typeface="Playfair Display"/>
            </a:endParaRPr>
          </a:p>
        </p:txBody>
      </p:sp>
      <p:sp>
        <p:nvSpPr>
          <p:cNvPr id="157" name="Google Shape;157;g39ab6b3f0fb_0_22"/>
          <p:cNvSpPr/>
          <p:nvPr/>
        </p:nvSpPr>
        <p:spPr>
          <a:xfrm>
            <a:off x="10079011" y="2365744"/>
            <a:ext cx="6721670" cy="3723001"/>
          </a:xfrm>
          <a:custGeom>
            <a:rect b="b" l="l" r="r" t="t"/>
            <a:pathLst>
              <a:path extrusionOk="0" h="3316705" w="5988125">
                <a:moveTo>
                  <a:pt x="0" y="0"/>
                </a:moveTo>
                <a:lnTo>
                  <a:pt x="5988125" y="0"/>
                </a:lnTo>
                <a:lnTo>
                  <a:pt x="5988125" y="3316705"/>
                </a:lnTo>
                <a:lnTo>
                  <a:pt x="0" y="3316705"/>
                </a:lnTo>
                <a:lnTo>
                  <a:pt x="0" y="0"/>
                </a:lnTo>
                <a:close/>
              </a:path>
            </a:pathLst>
          </a:custGeom>
          <a:blipFill rotWithShape="1">
            <a:blip r:embed="rId3">
              <a:alphaModFix/>
            </a:blip>
            <a:stretch>
              <a:fillRect b="0" l="-580" r="0" t="-18970"/>
            </a:stretch>
          </a:blipFill>
          <a:ln>
            <a:noFill/>
          </a:ln>
        </p:spPr>
        <p:txBody>
          <a:bodyPr anchorCtr="0" anchor="t" bIns="102650" lIns="205325" spcFirstLastPara="1" rIns="205325" wrap="square" tIns="102650">
            <a:noAutofit/>
          </a:bodyPr>
          <a:lstStyle/>
          <a:p>
            <a:pPr indent="0" lvl="0" marL="0" marR="0" rtl="0" algn="l">
              <a:lnSpc>
                <a:spcPct val="100000"/>
              </a:lnSpc>
              <a:spcBef>
                <a:spcPts val="0"/>
              </a:spcBef>
              <a:spcAft>
                <a:spcPts val="0"/>
              </a:spcAft>
              <a:buNone/>
            </a:pPr>
            <a:r>
              <a:t/>
            </a:r>
            <a:endParaRPr b="0" i="0" sz="3144"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39ab6b3f0fb_0_13"/>
          <p:cNvSpPr txBox="1"/>
          <p:nvPr/>
        </p:nvSpPr>
        <p:spPr>
          <a:xfrm>
            <a:off x="1162282" y="897500"/>
            <a:ext cx="11508300" cy="1827900"/>
          </a:xfrm>
          <a:prstGeom prst="rect">
            <a:avLst/>
          </a:prstGeom>
          <a:noFill/>
          <a:ln>
            <a:noFill/>
          </a:ln>
        </p:spPr>
        <p:txBody>
          <a:bodyPr anchorCtr="0" anchor="t" bIns="221125" lIns="221125" spcFirstLastPara="1" rIns="221125" wrap="square" tIns="221125">
            <a:normAutofit fontScale="77500" lnSpcReduction="20000"/>
          </a:bodyPr>
          <a:lstStyle/>
          <a:p>
            <a:pPr indent="0" lvl="0" marL="0" rtl="0" algn="l">
              <a:spcBef>
                <a:spcPts val="0"/>
              </a:spcBef>
              <a:spcAft>
                <a:spcPts val="0"/>
              </a:spcAft>
              <a:buNone/>
            </a:pPr>
            <a:r>
              <a:rPr lang="en-US" sz="7256">
                <a:solidFill>
                  <a:srgbClr val="000000"/>
                </a:solidFill>
                <a:highlight>
                  <a:schemeClr val="lt1"/>
                </a:highlight>
                <a:latin typeface="Oswald"/>
                <a:ea typeface="Oswald"/>
                <a:cs typeface="Oswald"/>
                <a:sym typeface="Oswald"/>
              </a:rPr>
              <a:t>ESTRUCTURA Y SINTAXIS EN HTML</a:t>
            </a:r>
            <a:endParaRPr sz="7256">
              <a:solidFill>
                <a:srgbClr val="000000"/>
              </a:solidFill>
              <a:highlight>
                <a:schemeClr val="lt1"/>
              </a:highlight>
              <a:latin typeface="Oswald"/>
              <a:ea typeface="Oswald"/>
              <a:cs typeface="Oswald"/>
              <a:sym typeface="Oswald"/>
            </a:endParaRPr>
          </a:p>
          <a:p>
            <a:pPr indent="0" lvl="0" marL="0" rtl="0" algn="l">
              <a:spcBef>
                <a:spcPts val="0"/>
              </a:spcBef>
              <a:spcAft>
                <a:spcPts val="0"/>
              </a:spcAft>
              <a:buNone/>
            </a:pPr>
            <a:r>
              <a:t/>
            </a:r>
            <a:endParaRPr sz="7256">
              <a:solidFill>
                <a:srgbClr val="000000"/>
              </a:solidFill>
              <a:highlight>
                <a:srgbClr val="01AFD1"/>
              </a:highlight>
              <a:latin typeface="Oswald"/>
              <a:ea typeface="Oswald"/>
              <a:cs typeface="Oswald"/>
              <a:sym typeface="Oswald"/>
            </a:endParaRPr>
          </a:p>
        </p:txBody>
      </p:sp>
      <p:sp>
        <p:nvSpPr>
          <p:cNvPr id="163" name="Google Shape;163;g39ab6b3f0fb_0_13"/>
          <p:cNvSpPr txBox="1"/>
          <p:nvPr/>
        </p:nvSpPr>
        <p:spPr>
          <a:xfrm>
            <a:off x="1162275" y="2604804"/>
            <a:ext cx="16075800" cy="3576600"/>
          </a:xfrm>
          <a:prstGeom prst="rect">
            <a:avLst/>
          </a:prstGeom>
          <a:noFill/>
          <a:ln>
            <a:noFill/>
          </a:ln>
        </p:spPr>
        <p:txBody>
          <a:bodyPr anchorCtr="0" anchor="t" bIns="221125" lIns="221125" spcFirstLastPara="1" rIns="221125" wrap="square" tIns="221125">
            <a:normAutofit/>
          </a:bodyPr>
          <a:lstStyle/>
          <a:p>
            <a:pPr indent="0" lvl="0" marL="0" rtl="0" algn="l">
              <a:lnSpc>
                <a:spcPct val="115000"/>
              </a:lnSpc>
              <a:spcBef>
                <a:spcPts val="0"/>
              </a:spcBef>
              <a:spcAft>
                <a:spcPts val="2902"/>
              </a:spcAft>
              <a:buNone/>
            </a:pPr>
            <a:r>
              <a:rPr lang="en-US" sz="4354">
                <a:solidFill>
                  <a:srgbClr val="000000"/>
                </a:solidFill>
                <a:latin typeface="Playfair Display"/>
                <a:ea typeface="Playfair Display"/>
                <a:cs typeface="Playfair Display"/>
                <a:sym typeface="Playfair Display"/>
              </a:rPr>
              <a:t>La sintaxis de HTML (Hypertext Markup Language) es bastante sencilla y se basa en el uso de etiquetas para definir la estructura y el contenido de una página web.</a:t>
            </a:r>
            <a:endParaRPr sz="4354">
              <a:solidFill>
                <a:srgbClr val="000000"/>
              </a:solidFill>
              <a:latin typeface="Playfair Display"/>
              <a:ea typeface="Playfair Display"/>
              <a:cs typeface="Playfair Display"/>
              <a:sym typeface="Playfair Display"/>
            </a:endParaRPr>
          </a:p>
        </p:txBody>
      </p:sp>
      <p:sp>
        <p:nvSpPr>
          <p:cNvPr id="164" name="Google Shape;164;g39ab6b3f0fb_0_13"/>
          <p:cNvSpPr/>
          <p:nvPr/>
        </p:nvSpPr>
        <p:spPr>
          <a:xfrm>
            <a:off x="4031767" y="5553207"/>
            <a:ext cx="10722081" cy="3574026"/>
          </a:xfrm>
          <a:custGeom>
            <a:rect b="b" l="l" r="r" t="t"/>
            <a:pathLst>
              <a:path extrusionOk="0" h="2016376" w="6049129">
                <a:moveTo>
                  <a:pt x="0" y="0"/>
                </a:moveTo>
                <a:lnTo>
                  <a:pt x="6049129" y="0"/>
                </a:lnTo>
                <a:lnTo>
                  <a:pt x="6049129" y="2016376"/>
                </a:lnTo>
                <a:lnTo>
                  <a:pt x="0" y="2016376"/>
                </a:lnTo>
                <a:lnTo>
                  <a:pt x="0" y="0"/>
                </a:lnTo>
                <a:close/>
              </a:path>
            </a:pathLst>
          </a:custGeom>
          <a:blipFill rotWithShape="1">
            <a:blip r:embed="rId3">
              <a:alphaModFix/>
            </a:blip>
            <a:stretch>
              <a:fillRect b="0" l="0" r="0" t="0"/>
            </a:stretch>
          </a:blipFill>
          <a:ln>
            <a:noFill/>
          </a:ln>
        </p:spPr>
        <p:txBody>
          <a:bodyPr anchorCtr="0" anchor="t" bIns="110525" lIns="221125" spcFirstLastPara="1" rIns="221125" wrap="square" tIns="110525">
            <a:noAutofit/>
          </a:bodyPr>
          <a:lstStyle/>
          <a:p>
            <a:pPr indent="0" lvl="0" marL="0" marR="0" rtl="0" algn="l">
              <a:lnSpc>
                <a:spcPct val="100000"/>
              </a:lnSpc>
              <a:spcBef>
                <a:spcPts val="0"/>
              </a:spcBef>
              <a:spcAft>
                <a:spcPts val="0"/>
              </a:spcAft>
              <a:buNone/>
            </a:pPr>
            <a:r>
              <a:t/>
            </a:r>
            <a:endParaRPr b="0" i="0" sz="3386"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39ab6b3f0fb_0_49"/>
          <p:cNvSpPr txBox="1"/>
          <p:nvPr/>
        </p:nvSpPr>
        <p:spPr>
          <a:xfrm>
            <a:off x="1202975" y="726525"/>
            <a:ext cx="15744600" cy="1821000"/>
          </a:xfrm>
          <a:prstGeom prst="rect">
            <a:avLst/>
          </a:prstGeom>
          <a:noFill/>
          <a:ln>
            <a:noFill/>
          </a:ln>
        </p:spPr>
        <p:txBody>
          <a:bodyPr anchorCtr="0" anchor="t" bIns="220300" lIns="220300" spcFirstLastPara="1" rIns="220300" wrap="square" tIns="220300">
            <a:normAutofit fontScale="32500" lnSpcReduction="20000"/>
          </a:bodyPr>
          <a:lstStyle/>
          <a:p>
            <a:pPr indent="0" lvl="0" marL="0" rtl="0" algn="ctr">
              <a:spcBef>
                <a:spcPts val="0"/>
              </a:spcBef>
              <a:spcAft>
                <a:spcPts val="0"/>
              </a:spcAft>
              <a:buNone/>
            </a:pPr>
            <a:r>
              <a:rPr b="1" lang="en-US" sz="18967">
                <a:solidFill>
                  <a:srgbClr val="000000"/>
                </a:solidFill>
                <a:highlight>
                  <a:schemeClr val="lt1"/>
                </a:highlight>
                <a:latin typeface="Oswald"/>
                <a:ea typeface="Oswald"/>
                <a:cs typeface="Oswald"/>
                <a:sym typeface="Oswald"/>
              </a:rPr>
              <a:t>ELEMENTOS</a:t>
            </a:r>
            <a:endParaRPr b="1" sz="18967">
              <a:solidFill>
                <a:srgbClr val="000000"/>
              </a:solidFill>
              <a:highlight>
                <a:schemeClr val="lt1"/>
              </a:highlight>
              <a:latin typeface="Oswald"/>
              <a:ea typeface="Oswald"/>
              <a:cs typeface="Oswald"/>
              <a:sym typeface="Oswald"/>
            </a:endParaRPr>
          </a:p>
          <a:p>
            <a:pPr indent="0" lvl="0" marL="0" rtl="0" algn="ctr">
              <a:spcBef>
                <a:spcPts val="0"/>
              </a:spcBef>
              <a:spcAft>
                <a:spcPts val="0"/>
              </a:spcAft>
              <a:buNone/>
            </a:pPr>
            <a:r>
              <a:t/>
            </a:r>
            <a:endParaRPr sz="7229">
              <a:solidFill>
                <a:srgbClr val="000000"/>
              </a:solidFill>
              <a:highlight>
                <a:srgbClr val="F8E71C"/>
              </a:highlight>
              <a:latin typeface="Oswald"/>
              <a:ea typeface="Oswald"/>
              <a:cs typeface="Oswald"/>
              <a:sym typeface="Oswald"/>
            </a:endParaRPr>
          </a:p>
          <a:p>
            <a:pPr indent="0" lvl="0" marL="0" rtl="0" algn="ctr">
              <a:spcBef>
                <a:spcPts val="0"/>
              </a:spcBef>
              <a:spcAft>
                <a:spcPts val="0"/>
              </a:spcAft>
              <a:buNone/>
            </a:pPr>
            <a:r>
              <a:t/>
            </a:r>
            <a:endParaRPr sz="7229">
              <a:solidFill>
                <a:srgbClr val="000000"/>
              </a:solidFill>
              <a:highlight>
                <a:srgbClr val="01AFD1"/>
              </a:highlight>
              <a:latin typeface="Oswald"/>
              <a:ea typeface="Oswald"/>
              <a:cs typeface="Oswald"/>
              <a:sym typeface="Oswald"/>
            </a:endParaRPr>
          </a:p>
        </p:txBody>
      </p:sp>
      <p:sp>
        <p:nvSpPr>
          <p:cNvPr id="170" name="Google Shape;170;g39ab6b3f0fb_0_49"/>
          <p:cNvSpPr txBox="1"/>
          <p:nvPr/>
        </p:nvSpPr>
        <p:spPr>
          <a:xfrm>
            <a:off x="1202975" y="2427339"/>
            <a:ext cx="16014900" cy="3562800"/>
          </a:xfrm>
          <a:prstGeom prst="rect">
            <a:avLst/>
          </a:prstGeom>
          <a:noFill/>
          <a:ln>
            <a:noFill/>
          </a:ln>
        </p:spPr>
        <p:txBody>
          <a:bodyPr anchorCtr="0" anchor="t" bIns="220300" lIns="220300" spcFirstLastPara="1" rIns="220300" wrap="square" tIns="220300">
            <a:normAutofit fontScale="92500" lnSpcReduction="20000"/>
          </a:bodyPr>
          <a:lstStyle/>
          <a:p>
            <a:pPr indent="0" lvl="0" marL="0" rtl="0" algn="just">
              <a:lnSpc>
                <a:spcPct val="115000"/>
              </a:lnSpc>
              <a:spcBef>
                <a:spcPts val="0"/>
              </a:spcBef>
              <a:spcAft>
                <a:spcPts val="2891"/>
              </a:spcAft>
              <a:buNone/>
            </a:pPr>
            <a:r>
              <a:rPr lang="en-US" sz="4337">
                <a:solidFill>
                  <a:srgbClr val="000000"/>
                </a:solidFill>
                <a:latin typeface="Playfair Display"/>
                <a:ea typeface="Playfair Display"/>
                <a:cs typeface="Playfair Display"/>
                <a:sym typeface="Playfair Display"/>
              </a:rPr>
              <a:t>Es una parte fundamental del lenguaje que define la estructura y el contenido de una página web. Un elemento está compuesto por una etiqueta de apertura, contenido opcional, y una etiqueta de cierre. Algunos elementos no requieren una etiqueta de cierre y se llaman elementos vacíos.</a:t>
            </a:r>
            <a:endParaRPr sz="4337">
              <a:solidFill>
                <a:srgbClr val="000000"/>
              </a:solidFill>
              <a:latin typeface="Playfair Display"/>
              <a:ea typeface="Playfair Display"/>
              <a:cs typeface="Playfair Display"/>
              <a:sym typeface="Playfair Display"/>
            </a:endParaRPr>
          </a:p>
        </p:txBody>
      </p:sp>
      <p:sp>
        <p:nvSpPr>
          <p:cNvPr id="171" name="Google Shape;171;g39ab6b3f0fb_0_49"/>
          <p:cNvSpPr/>
          <p:nvPr/>
        </p:nvSpPr>
        <p:spPr>
          <a:xfrm>
            <a:off x="5785208" y="5335198"/>
            <a:ext cx="9993714" cy="4102536"/>
          </a:xfrm>
          <a:custGeom>
            <a:rect b="b" l="l" r="r" t="t"/>
            <a:pathLst>
              <a:path extrusionOk="0" h="2962120" w="6976415">
                <a:moveTo>
                  <a:pt x="0" y="0"/>
                </a:moveTo>
                <a:lnTo>
                  <a:pt x="6976414" y="0"/>
                </a:lnTo>
                <a:lnTo>
                  <a:pt x="6976414" y="2962120"/>
                </a:lnTo>
                <a:lnTo>
                  <a:pt x="0" y="2962120"/>
                </a:lnTo>
                <a:lnTo>
                  <a:pt x="0" y="0"/>
                </a:lnTo>
                <a:close/>
              </a:path>
            </a:pathLst>
          </a:custGeom>
          <a:blipFill rotWithShape="1">
            <a:blip r:embed="rId3">
              <a:alphaModFix/>
            </a:blip>
            <a:stretch>
              <a:fillRect b="-33330" l="0" r="0" t="-23569"/>
            </a:stretch>
          </a:blipFill>
          <a:ln>
            <a:noFill/>
          </a:ln>
        </p:spPr>
        <p:txBody>
          <a:bodyPr anchorCtr="0" anchor="t" bIns="110125" lIns="220300" spcFirstLastPara="1" rIns="220300" wrap="square" tIns="110125">
            <a:noAutofit/>
          </a:bodyPr>
          <a:lstStyle/>
          <a:p>
            <a:pPr indent="0" lvl="0" marL="0" marR="0" rtl="0" algn="l">
              <a:lnSpc>
                <a:spcPct val="100000"/>
              </a:lnSpc>
              <a:spcBef>
                <a:spcPts val="0"/>
              </a:spcBef>
              <a:spcAft>
                <a:spcPts val="0"/>
              </a:spcAft>
              <a:buNone/>
            </a:pPr>
            <a:r>
              <a:t/>
            </a:r>
            <a:endParaRPr b="0" i="0" sz="3373"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9ab6b3f0fb_0_4"/>
          <p:cNvSpPr txBox="1"/>
          <p:nvPr/>
        </p:nvSpPr>
        <p:spPr>
          <a:xfrm>
            <a:off x="1419025" y="1272675"/>
            <a:ext cx="16034100" cy="81186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b="1" lang="en-US" sz="5700">
                <a:solidFill>
                  <a:srgbClr val="000000"/>
                </a:solidFill>
                <a:latin typeface="Oswald"/>
                <a:ea typeface="Oswald"/>
                <a:cs typeface="Oswald"/>
                <a:sym typeface="Oswald"/>
              </a:rPr>
              <a:t>ETIQUETAS</a:t>
            </a:r>
            <a:endParaRPr b="1" sz="5700">
              <a:solidFill>
                <a:srgbClr val="000000"/>
              </a:solidFill>
              <a:latin typeface="Oswald"/>
              <a:ea typeface="Oswald"/>
              <a:cs typeface="Oswald"/>
              <a:sym typeface="Oswald"/>
            </a:endParaRPr>
          </a:p>
          <a:p>
            <a:pPr indent="0" lvl="0" marL="0" rtl="0" algn="ctr">
              <a:spcBef>
                <a:spcPts val="0"/>
              </a:spcBef>
              <a:spcAft>
                <a:spcPts val="0"/>
              </a:spcAft>
              <a:buNone/>
            </a:pPr>
            <a:r>
              <a:t/>
            </a:r>
            <a:endParaRPr sz="4800">
              <a:solidFill>
                <a:srgbClr val="000000"/>
              </a:solidFill>
              <a:latin typeface="Oswald"/>
              <a:ea typeface="Oswald"/>
              <a:cs typeface="Oswald"/>
              <a:sym typeface="Oswald"/>
            </a:endParaRPr>
          </a:p>
          <a:p>
            <a:pPr indent="0" lvl="0" marL="0" rtl="0" algn="just">
              <a:lnSpc>
                <a:spcPct val="115000"/>
              </a:lnSpc>
              <a:spcBef>
                <a:spcPts val="0"/>
              </a:spcBef>
              <a:spcAft>
                <a:spcPts val="1200"/>
              </a:spcAft>
              <a:buNone/>
            </a:pPr>
            <a:r>
              <a:rPr lang="en-US" sz="4100">
                <a:solidFill>
                  <a:srgbClr val="000000"/>
                </a:solidFill>
                <a:latin typeface="Playfair Display"/>
                <a:ea typeface="Playfair Display"/>
                <a:cs typeface="Playfair Display"/>
                <a:sym typeface="Playfair Display"/>
              </a:rPr>
              <a:t>se utiliza para delimitar el inicio y el final de un elemento. Las etiquetas se escriben entre signos de menor y mayor que (&lt; &gt;) y normalmente vienen en pares: una etiqueta de apertura (&lt;nombre&gt;) y una etiqueta de cierre (&lt;/nombre&gt;). La etiqueta de apertura puede incluir atributos que modifican el comportamiento o la presentación del elemento. Algunos elementos usan etiquetas vacías, que no requieren una etiqueta de cierre, como &lt;img&gt; o &lt;br&gt;.</a:t>
            </a:r>
            <a:endParaRPr sz="4100">
              <a:solidFill>
                <a:srgbClr val="000000"/>
              </a:solidFill>
              <a:latin typeface="Playfair Display"/>
              <a:ea typeface="Playfair Display"/>
              <a:cs typeface="Playfair Display"/>
              <a:sym typeface="Playfair Display"/>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9ab6b3f0fb_0_40"/>
          <p:cNvSpPr txBox="1"/>
          <p:nvPr/>
        </p:nvSpPr>
        <p:spPr>
          <a:xfrm>
            <a:off x="1597275" y="1305225"/>
            <a:ext cx="15354600" cy="77043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b="1" lang="en-US" sz="6300">
                <a:solidFill>
                  <a:srgbClr val="000000"/>
                </a:solidFill>
                <a:latin typeface="Oswald"/>
                <a:ea typeface="Oswald"/>
                <a:cs typeface="Oswald"/>
                <a:sym typeface="Oswald"/>
              </a:rPr>
              <a:t>ATRIBUTOS</a:t>
            </a:r>
            <a:endParaRPr b="1" sz="6300">
              <a:solidFill>
                <a:srgbClr val="000000"/>
              </a:solidFill>
              <a:latin typeface="Oswald"/>
              <a:ea typeface="Oswald"/>
              <a:cs typeface="Oswald"/>
              <a:sym typeface="Oswald"/>
            </a:endParaRPr>
          </a:p>
          <a:p>
            <a:pPr indent="0" lvl="0" marL="0" rtl="0" algn="ctr">
              <a:spcBef>
                <a:spcPts val="0"/>
              </a:spcBef>
              <a:spcAft>
                <a:spcPts val="0"/>
              </a:spcAft>
              <a:buNone/>
            </a:pPr>
            <a:r>
              <a:t/>
            </a:r>
            <a:endParaRPr b="1" sz="5400">
              <a:solidFill>
                <a:srgbClr val="000000"/>
              </a:solidFill>
              <a:latin typeface="Oswald"/>
              <a:ea typeface="Oswald"/>
              <a:cs typeface="Oswald"/>
              <a:sym typeface="Oswald"/>
            </a:endParaRPr>
          </a:p>
          <a:p>
            <a:pPr indent="0" lvl="0" marL="0" rtl="0" algn="just">
              <a:lnSpc>
                <a:spcPct val="115000"/>
              </a:lnSpc>
              <a:spcBef>
                <a:spcPts val="0"/>
              </a:spcBef>
              <a:spcAft>
                <a:spcPts val="1200"/>
              </a:spcAft>
              <a:buNone/>
            </a:pPr>
            <a:r>
              <a:rPr lang="en-US" sz="4700">
                <a:solidFill>
                  <a:srgbClr val="000000"/>
                </a:solidFill>
                <a:latin typeface="Playfair Display"/>
                <a:ea typeface="Playfair Display"/>
                <a:cs typeface="Playfair Display"/>
                <a:sym typeface="Playfair Display"/>
              </a:rPr>
              <a:t>son propiedades que se añaden a los elementos para proporcionar información adicional sobre cómo deben comportarse o mostrarse. Los atributos se escriben dentro de la etiqueta de apertura de un elemento y siguen una estructura de nombre-valor.</a:t>
            </a:r>
            <a:endParaRPr sz="4700">
              <a:solidFill>
                <a:srgbClr val="000000"/>
              </a:solidFill>
              <a:latin typeface="Playfair Display"/>
              <a:ea typeface="Playfair Display"/>
              <a:cs typeface="Playfair Display"/>
              <a:sym typeface="Playfair Display"/>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9ab6b3f0fb_0_71"/>
          <p:cNvSpPr txBox="1"/>
          <p:nvPr/>
        </p:nvSpPr>
        <p:spPr>
          <a:xfrm>
            <a:off x="1162282" y="897500"/>
            <a:ext cx="10963800" cy="1741200"/>
          </a:xfrm>
          <a:prstGeom prst="rect">
            <a:avLst/>
          </a:prstGeom>
          <a:noFill/>
          <a:ln>
            <a:noFill/>
          </a:ln>
        </p:spPr>
        <p:txBody>
          <a:bodyPr anchorCtr="0" anchor="t" bIns="210675" lIns="210675" spcFirstLastPara="1" rIns="210675" wrap="square" tIns="210675">
            <a:normAutofit/>
          </a:bodyPr>
          <a:lstStyle/>
          <a:p>
            <a:pPr indent="0" lvl="0" marL="0" rtl="0" algn="l">
              <a:spcBef>
                <a:spcPts val="0"/>
              </a:spcBef>
              <a:spcAft>
                <a:spcPts val="0"/>
              </a:spcAft>
              <a:buNone/>
            </a:pPr>
            <a:r>
              <a:rPr lang="en-US" sz="6913">
                <a:solidFill>
                  <a:srgbClr val="000000"/>
                </a:solidFill>
                <a:highlight>
                  <a:schemeClr val="lt1"/>
                </a:highlight>
                <a:latin typeface="Oswald"/>
                <a:ea typeface="Oswald"/>
                <a:cs typeface="Oswald"/>
                <a:sym typeface="Oswald"/>
              </a:rPr>
              <a:t>PÁRRAFOS</a:t>
            </a:r>
            <a:endParaRPr sz="6913">
              <a:solidFill>
                <a:srgbClr val="000000"/>
              </a:solidFill>
              <a:highlight>
                <a:schemeClr val="lt1"/>
              </a:highlight>
              <a:latin typeface="Oswald"/>
              <a:ea typeface="Oswald"/>
              <a:cs typeface="Oswald"/>
              <a:sym typeface="Oswald"/>
            </a:endParaRPr>
          </a:p>
        </p:txBody>
      </p:sp>
      <p:sp>
        <p:nvSpPr>
          <p:cNvPr id="187" name="Google Shape;187;g39ab6b3f0fb_0_71"/>
          <p:cNvSpPr txBox="1"/>
          <p:nvPr/>
        </p:nvSpPr>
        <p:spPr>
          <a:xfrm>
            <a:off x="1162275" y="2524039"/>
            <a:ext cx="15315600" cy="3407400"/>
          </a:xfrm>
          <a:prstGeom prst="rect">
            <a:avLst/>
          </a:prstGeom>
          <a:noFill/>
          <a:ln>
            <a:noFill/>
          </a:ln>
        </p:spPr>
        <p:txBody>
          <a:bodyPr anchorCtr="0" anchor="t" bIns="210675" lIns="210675" spcFirstLastPara="1" rIns="210675" wrap="square" tIns="210675">
            <a:normAutofit/>
          </a:bodyPr>
          <a:lstStyle/>
          <a:p>
            <a:pPr indent="0" lvl="0" marL="0" rtl="0" algn="just">
              <a:lnSpc>
                <a:spcPct val="115000"/>
              </a:lnSpc>
              <a:spcBef>
                <a:spcPts val="0"/>
              </a:spcBef>
              <a:spcAft>
                <a:spcPts val="2765"/>
              </a:spcAft>
              <a:buNone/>
            </a:pPr>
            <a:r>
              <a:rPr lang="en-US" sz="4148">
                <a:solidFill>
                  <a:srgbClr val="000000"/>
                </a:solidFill>
                <a:latin typeface="Playfair Display"/>
                <a:ea typeface="Playfair Display"/>
                <a:cs typeface="Playfair Display"/>
                <a:sym typeface="Playfair Display"/>
              </a:rPr>
              <a:t>Los párrafos son elementos utilizados para organizar y agrupar bloques de texto en una página web. Se representan con el elemento &lt;p&gt;. Cada párrafo se encierra dentro de una etiqueta de apertura &lt;p&gt; y una etiqueta de cierre &lt;/p&gt;.</a:t>
            </a:r>
            <a:endParaRPr sz="4148">
              <a:solidFill>
                <a:srgbClr val="000000"/>
              </a:solidFill>
              <a:latin typeface="Playfair Display"/>
              <a:ea typeface="Playfair Display"/>
              <a:cs typeface="Playfair Display"/>
              <a:sym typeface="Playfair Display"/>
            </a:endParaRPr>
          </a:p>
        </p:txBody>
      </p:sp>
      <p:sp>
        <p:nvSpPr>
          <p:cNvPr id="188" name="Google Shape;188;g39ab6b3f0fb_0_71"/>
          <p:cNvSpPr/>
          <p:nvPr/>
        </p:nvSpPr>
        <p:spPr>
          <a:xfrm>
            <a:off x="3015409" y="6265491"/>
            <a:ext cx="13024701" cy="2100233"/>
          </a:xfrm>
          <a:custGeom>
            <a:rect b="b" l="l" r="r" t="t"/>
            <a:pathLst>
              <a:path extrusionOk="0" h="1822328" w="11301259">
                <a:moveTo>
                  <a:pt x="0" y="0"/>
                </a:moveTo>
                <a:lnTo>
                  <a:pt x="11301258" y="0"/>
                </a:lnTo>
                <a:lnTo>
                  <a:pt x="11301258" y="1822328"/>
                </a:lnTo>
                <a:lnTo>
                  <a:pt x="0" y="1822328"/>
                </a:lnTo>
                <a:lnTo>
                  <a:pt x="0" y="0"/>
                </a:lnTo>
                <a:close/>
              </a:path>
            </a:pathLst>
          </a:custGeom>
          <a:blipFill rotWithShape="1">
            <a:blip r:embed="rId3">
              <a:alphaModFix/>
            </a:blip>
            <a:stretch>
              <a:fillRect b="0" l="0" r="0" t="0"/>
            </a:stretch>
          </a:blipFill>
          <a:ln>
            <a:noFill/>
          </a:ln>
        </p:spPr>
        <p:txBody>
          <a:bodyPr anchorCtr="0" anchor="t" bIns="105300" lIns="210675" spcFirstLastPara="1" rIns="210675" wrap="square" tIns="105300">
            <a:noAutofit/>
          </a:bodyPr>
          <a:lstStyle/>
          <a:p>
            <a:pPr indent="0" lvl="0" marL="0" marR="0" rtl="0" algn="l">
              <a:lnSpc>
                <a:spcPct val="100000"/>
              </a:lnSpc>
              <a:spcBef>
                <a:spcPts val="0"/>
              </a:spcBef>
              <a:spcAft>
                <a:spcPts val="0"/>
              </a:spcAft>
              <a:buNone/>
            </a:pPr>
            <a:r>
              <a:t/>
            </a:r>
            <a:endParaRPr b="0" i="0" sz="3226"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9ab6b3f0fb_0_62"/>
          <p:cNvSpPr txBox="1"/>
          <p:nvPr/>
        </p:nvSpPr>
        <p:spPr>
          <a:xfrm>
            <a:off x="1162282" y="897500"/>
            <a:ext cx="11253300" cy="1787400"/>
          </a:xfrm>
          <a:prstGeom prst="rect">
            <a:avLst/>
          </a:prstGeom>
          <a:noFill/>
          <a:ln>
            <a:noFill/>
          </a:ln>
        </p:spPr>
        <p:txBody>
          <a:bodyPr anchorCtr="0" anchor="t" bIns="216225" lIns="216225" spcFirstLastPara="1" rIns="216225" wrap="square" tIns="216225">
            <a:normAutofit/>
          </a:bodyPr>
          <a:lstStyle/>
          <a:p>
            <a:pPr indent="0" lvl="0" marL="0" rtl="0" algn="l">
              <a:spcBef>
                <a:spcPts val="0"/>
              </a:spcBef>
              <a:spcAft>
                <a:spcPts val="0"/>
              </a:spcAft>
              <a:buNone/>
            </a:pPr>
            <a:r>
              <a:rPr lang="en-US" sz="7095">
                <a:solidFill>
                  <a:srgbClr val="000000"/>
                </a:solidFill>
                <a:highlight>
                  <a:schemeClr val="lt1"/>
                </a:highlight>
                <a:latin typeface="Oswald"/>
                <a:ea typeface="Oswald"/>
                <a:cs typeface="Oswald"/>
                <a:sym typeface="Oswald"/>
              </a:rPr>
              <a:t>ESTILOS</a:t>
            </a:r>
            <a:endParaRPr sz="7095">
              <a:solidFill>
                <a:srgbClr val="000000"/>
              </a:solidFill>
              <a:highlight>
                <a:schemeClr val="lt1"/>
              </a:highlight>
              <a:latin typeface="Oswald"/>
              <a:ea typeface="Oswald"/>
              <a:cs typeface="Oswald"/>
              <a:sym typeface="Oswald"/>
            </a:endParaRPr>
          </a:p>
        </p:txBody>
      </p:sp>
      <p:sp>
        <p:nvSpPr>
          <p:cNvPr id="194" name="Google Shape;194;g39ab6b3f0fb_0_62"/>
          <p:cNvSpPr txBox="1"/>
          <p:nvPr/>
        </p:nvSpPr>
        <p:spPr>
          <a:xfrm>
            <a:off x="1162275" y="2567008"/>
            <a:ext cx="15720000" cy="3497400"/>
          </a:xfrm>
          <a:prstGeom prst="rect">
            <a:avLst/>
          </a:prstGeom>
          <a:noFill/>
          <a:ln>
            <a:noFill/>
          </a:ln>
        </p:spPr>
        <p:txBody>
          <a:bodyPr anchorCtr="0" anchor="t" bIns="216225" lIns="216225" spcFirstLastPara="1" rIns="216225" wrap="square" tIns="216225">
            <a:normAutofit fontScale="92500" lnSpcReduction="20000"/>
          </a:bodyPr>
          <a:lstStyle/>
          <a:p>
            <a:pPr indent="0" lvl="0" marL="0" rtl="0" algn="just">
              <a:lnSpc>
                <a:spcPct val="115000"/>
              </a:lnSpc>
              <a:spcBef>
                <a:spcPts val="0"/>
              </a:spcBef>
              <a:spcAft>
                <a:spcPts val="2838"/>
              </a:spcAft>
              <a:buNone/>
            </a:pPr>
            <a:r>
              <a:rPr lang="en-US" sz="4257">
                <a:solidFill>
                  <a:srgbClr val="000000"/>
                </a:solidFill>
                <a:latin typeface="Playfair Display"/>
                <a:ea typeface="Playfair Display"/>
                <a:cs typeface="Playfair Display"/>
                <a:sym typeface="Playfair Display"/>
              </a:rPr>
              <a:t>Los estilos se utilizan para definir la apariencia visual de los elementos en una página web. Esto se logra principalmente a través de CSS (Cascading Style Sheets), que permite separar el contenido del diseño y proporcionar una experiencia más consistente y flexible.</a:t>
            </a:r>
            <a:endParaRPr sz="4257">
              <a:solidFill>
                <a:srgbClr val="000000"/>
              </a:solidFill>
              <a:latin typeface="Playfair Display"/>
              <a:ea typeface="Playfair Display"/>
              <a:cs typeface="Playfair Display"/>
              <a:sym typeface="Playfair Display"/>
            </a:endParaRPr>
          </a:p>
        </p:txBody>
      </p:sp>
      <p:sp>
        <p:nvSpPr>
          <p:cNvPr id="195" name="Google Shape;195;g39ab6b3f0fb_0_62"/>
          <p:cNvSpPr/>
          <p:nvPr/>
        </p:nvSpPr>
        <p:spPr>
          <a:xfrm>
            <a:off x="3699762" y="6599070"/>
            <a:ext cx="13363739" cy="2171608"/>
          </a:xfrm>
          <a:custGeom>
            <a:rect b="b" l="l" r="r" t="t"/>
            <a:pathLst>
              <a:path extrusionOk="0" h="1836455" w="11301259">
                <a:moveTo>
                  <a:pt x="0" y="0"/>
                </a:moveTo>
                <a:lnTo>
                  <a:pt x="11301258" y="0"/>
                </a:lnTo>
                <a:lnTo>
                  <a:pt x="11301258" y="1836455"/>
                </a:lnTo>
                <a:lnTo>
                  <a:pt x="0" y="1836455"/>
                </a:lnTo>
                <a:lnTo>
                  <a:pt x="0" y="0"/>
                </a:lnTo>
                <a:close/>
              </a:path>
            </a:pathLst>
          </a:custGeom>
          <a:blipFill rotWithShape="1">
            <a:blip r:embed="rId3">
              <a:alphaModFix/>
            </a:blip>
            <a:stretch>
              <a:fillRect b="0" l="0" r="0" t="0"/>
            </a:stretch>
          </a:blipFill>
          <a:ln>
            <a:noFill/>
          </a:ln>
        </p:spPr>
        <p:txBody>
          <a:bodyPr anchorCtr="0" anchor="t" bIns="108100" lIns="216225" spcFirstLastPara="1" rIns="216225" wrap="square" tIns="108100">
            <a:noAutofit/>
          </a:bodyPr>
          <a:lstStyle/>
          <a:p>
            <a:pPr indent="0" lvl="0" marL="0" marR="0" rtl="0" algn="l">
              <a:lnSpc>
                <a:spcPct val="100000"/>
              </a:lnSpc>
              <a:spcBef>
                <a:spcPts val="0"/>
              </a:spcBef>
              <a:spcAft>
                <a:spcPts val="0"/>
              </a:spcAft>
              <a:buNone/>
            </a:pPr>
            <a:r>
              <a:t/>
            </a:r>
            <a:endParaRPr b="0" i="0" sz="3311"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9ab6b3f0fb_0_78"/>
          <p:cNvSpPr txBox="1"/>
          <p:nvPr/>
        </p:nvSpPr>
        <p:spPr>
          <a:xfrm>
            <a:off x="1162282" y="897500"/>
            <a:ext cx="10978500" cy="1743600"/>
          </a:xfrm>
          <a:prstGeom prst="rect">
            <a:avLst/>
          </a:prstGeom>
          <a:noFill/>
          <a:ln>
            <a:noFill/>
          </a:ln>
        </p:spPr>
        <p:txBody>
          <a:bodyPr anchorCtr="0" anchor="t" bIns="210950" lIns="210950" spcFirstLastPara="1" rIns="210950" wrap="square" tIns="210950">
            <a:normAutofit/>
          </a:bodyPr>
          <a:lstStyle/>
          <a:p>
            <a:pPr indent="0" lvl="0" marL="0" rtl="0" algn="l">
              <a:spcBef>
                <a:spcPts val="0"/>
              </a:spcBef>
              <a:spcAft>
                <a:spcPts val="0"/>
              </a:spcAft>
              <a:buNone/>
            </a:pPr>
            <a:r>
              <a:rPr lang="en-US" sz="6922">
                <a:solidFill>
                  <a:srgbClr val="000000"/>
                </a:solidFill>
                <a:highlight>
                  <a:schemeClr val="lt1"/>
                </a:highlight>
                <a:latin typeface="Oswald"/>
                <a:ea typeface="Oswald"/>
                <a:cs typeface="Oswald"/>
                <a:sym typeface="Oswald"/>
              </a:rPr>
              <a:t>TABLAS</a:t>
            </a:r>
            <a:endParaRPr sz="6922">
              <a:solidFill>
                <a:srgbClr val="000000"/>
              </a:solidFill>
              <a:highlight>
                <a:schemeClr val="lt1"/>
              </a:highlight>
              <a:latin typeface="Oswald"/>
              <a:ea typeface="Oswald"/>
              <a:cs typeface="Oswald"/>
              <a:sym typeface="Oswald"/>
            </a:endParaRPr>
          </a:p>
        </p:txBody>
      </p:sp>
      <p:sp>
        <p:nvSpPr>
          <p:cNvPr id="201" name="Google Shape;201;g39ab6b3f0fb_0_78"/>
          <p:cNvSpPr txBox="1"/>
          <p:nvPr/>
        </p:nvSpPr>
        <p:spPr>
          <a:xfrm>
            <a:off x="1162275" y="2526227"/>
            <a:ext cx="15336000" cy="7127700"/>
          </a:xfrm>
          <a:prstGeom prst="rect">
            <a:avLst/>
          </a:prstGeom>
          <a:noFill/>
          <a:ln>
            <a:noFill/>
          </a:ln>
        </p:spPr>
        <p:txBody>
          <a:bodyPr anchorCtr="0" anchor="t" bIns="210950" lIns="210950" spcFirstLastPara="1" rIns="210950" wrap="square" tIns="210950">
            <a:normAutofit fontScale="92500" lnSpcReduction="20000"/>
          </a:bodyPr>
          <a:lstStyle/>
          <a:p>
            <a:pPr indent="0" lvl="0" marL="0" rtl="0" algn="just">
              <a:lnSpc>
                <a:spcPct val="115000"/>
              </a:lnSpc>
              <a:spcBef>
                <a:spcPts val="0"/>
              </a:spcBef>
              <a:spcAft>
                <a:spcPts val="0"/>
              </a:spcAft>
              <a:buNone/>
            </a:pPr>
            <a:r>
              <a:rPr lang="en-US" sz="4153">
                <a:solidFill>
                  <a:srgbClr val="000000"/>
                </a:solidFill>
                <a:latin typeface="Playfair Display"/>
                <a:ea typeface="Playfair Display"/>
                <a:cs typeface="Playfair Display"/>
                <a:sym typeface="Playfair Display"/>
              </a:rPr>
              <a:t>Las tablas se utilizan para organizar y mostrar datos en una estructura de filas y columnas. Son útiles para representar información tabular como horarios, precios, estadísticas, etc.</a:t>
            </a:r>
            <a:endParaRPr sz="4153">
              <a:solidFill>
                <a:srgbClr val="000000"/>
              </a:solidFill>
              <a:latin typeface="Playfair Display"/>
              <a:ea typeface="Playfair Display"/>
              <a:cs typeface="Playfair Display"/>
              <a:sym typeface="Playfair Display"/>
            </a:endParaRPr>
          </a:p>
          <a:p>
            <a:pPr indent="0" lvl="0" marL="0" rtl="0" algn="l">
              <a:lnSpc>
                <a:spcPct val="115000"/>
              </a:lnSpc>
              <a:spcBef>
                <a:spcPts val="2769"/>
              </a:spcBef>
              <a:spcAft>
                <a:spcPts val="0"/>
              </a:spcAft>
              <a:buNone/>
            </a:pPr>
            <a:r>
              <a:rPr lang="en-US" sz="4153">
                <a:solidFill>
                  <a:srgbClr val="000000"/>
                </a:solidFill>
                <a:latin typeface="Playfair Display"/>
                <a:ea typeface="Playfair Display"/>
                <a:cs typeface="Playfair Display"/>
                <a:sym typeface="Playfair Display"/>
              </a:rPr>
              <a:t>Estructura básica de una tabla:</a:t>
            </a:r>
            <a:endParaRPr sz="4153">
              <a:solidFill>
                <a:srgbClr val="000000"/>
              </a:solidFill>
              <a:latin typeface="Playfair Display"/>
              <a:ea typeface="Playfair Display"/>
              <a:cs typeface="Playfair Display"/>
              <a:sym typeface="Playfair Display"/>
            </a:endParaRPr>
          </a:p>
          <a:p>
            <a:pPr indent="-771422" lvl="0" marL="1054936" rtl="0" algn="l">
              <a:lnSpc>
                <a:spcPct val="115000"/>
              </a:lnSpc>
              <a:spcBef>
                <a:spcPts val="2769"/>
              </a:spcBef>
              <a:spcAft>
                <a:spcPts val="0"/>
              </a:spcAft>
              <a:buClr>
                <a:srgbClr val="000000"/>
              </a:buClr>
              <a:buSzPct val="100000"/>
              <a:buFont typeface="Playfair Display"/>
              <a:buChar char="●"/>
            </a:pPr>
            <a:r>
              <a:rPr lang="en-US" sz="4153">
                <a:solidFill>
                  <a:srgbClr val="000000"/>
                </a:solidFill>
                <a:latin typeface="Playfair Display"/>
                <a:ea typeface="Playfair Display"/>
                <a:cs typeface="Playfair Display"/>
                <a:sym typeface="Playfair Display"/>
              </a:rPr>
              <a:t>&lt;table&gt;: Contenedor principal de la tabla.</a:t>
            </a:r>
            <a:endParaRPr sz="4153">
              <a:solidFill>
                <a:srgbClr val="000000"/>
              </a:solidFill>
              <a:latin typeface="Playfair Display"/>
              <a:ea typeface="Playfair Display"/>
              <a:cs typeface="Playfair Display"/>
              <a:sym typeface="Playfair Display"/>
            </a:endParaRPr>
          </a:p>
          <a:p>
            <a:pPr indent="-771422" lvl="0" marL="1054936" rtl="0" algn="l">
              <a:lnSpc>
                <a:spcPct val="115000"/>
              </a:lnSpc>
              <a:spcBef>
                <a:spcPts val="0"/>
              </a:spcBef>
              <a:spcAft>
                <a:spcPts val="0"/>
              </a:spcAft>
              <a:buClr>
                <a:srgbClr val="000000"/>
              </a:buClr>
              <a:buSzPct val="100000"/>
              <a:buFont typeface="Playfair Display"/>
              <a:buChar char="●"/>
            </a:pPr>
            <a:r>
              <a:rPr lang="en-US" sz="4153">
                <a:solidFill>
                  <a:srgbClr val="000000"/>
                </a:solidFill>
                <a:latin typeface="Playfair Display"/>
                <a:ea typeface="Playfair Display"/>
                <a:cs typeface="Playfair Display"/>
                <a:sym typeface="Playfair Display"/>
              </a:rPr>
              <a:t>&lt;tr&gt;: Define una fila de la tabla.</a:t>
            </a:r>
            <a:endParaRPr sz="4153">
              <a:solidFill>
                <a:srgbClr val="000000"/>
              </a:solidFill>
              <a:latin typeface="Playfair Display"/>
              <a:ea typeface="Playfair Display"/>
              <a:cs typeface="Playfair Display"/>
              <a:sym typeface="Playfair Display"/>
            </a:endParaRPr>
          </a:p>
          <a:p>
            <a:pPr indent="-771422" lvl="0" marL="1054936" rtl="0" algn="l">
              <a:lnSpc>
                <a:spcPct val="115000"/>
              </a:lnSpc>
              <a:spcBef>
                <a:spcPts val="0"/>
              </a:spcBef>
              <a:spcAft>
                <a:spcPts val="0"/>
              </a:spcAft>
              <a:buClr>
                <a:srgbClr val="000000"/>
              </a:buClr>
              <a:buSzPct val="100000"/>
              <a:buFont typeface="Playfair Display"/>
              <a:buChar char="●"/>
            </a:pPr>
            <a:r>
              <a:rPr lang="en-US" sz="4153">
                <a:solidFill>
                  <a:srgbClr val="000000"/>
                </a:solidFill>
                <a:latin typeface="Playfair Display"/>
                <a:ea typeface="Playfair Display"/>
                <a:cs typeface="Playfair Display"/>
                <a:sym typeface="Playfair Display"/>
              </a:rPr>
              <a:t>&lt;td&gt;: Define una celda en una fila.</a:t>
            </a:r>
            <a:endParaRPr sz="4153">
              <a:solidFill>
                <a:srgbClr val="000000"/>
              </a:solidFill>
              <a:latin typeface="Playfair Display"/>
              <a:ea typeface="Playfair Display"/>
              <a:cs typeface="Playfair Display"/>
              <a:sym typeface="Playfair Display"/>
            </a:endParaRPr>
          </a:p>
          <a:p>
            <a:pPr indent="-771422" lvl="0" marL="1054936" rtl="0" algn="l">
              <a:lnSpc>
                <a:spcPct val="115000"/>
              </a:lnSpc>
              <a:spcBef>
                <a:spcPts val="0"/>
              </a:spcBef>
              <a:spcAft>
                <a:spcPts val="0"/>
              </a:spcAft>
              <a:buClr>
                <a:srgbClr val="000000"/>
              </a:buClr>
              <a:buSzPct val="100000"/>
              <a:buFont typeface="Playfair Display"/>
              <a:buChar char="●"/>
            </a:pPr>
            <a:r>
              <a:rPr lang="en-US" sz="4153">
                <a:solidFill>
                  <a:srgbClr val="000000"/>
                </a:solidFill>
                <a:latin typeface="Playfair Display"/>
                <a:ea typeface="Playfair Display"/>
                <a:cs typeface="Playfair Display"/>
                <a:sym typeface="Playfair Display"/>
              </a:rPr>
              <a:t>&lt;th&gt;: Define una celda de encabezado en una fila (generalmente en negrita y centrada).</a:t>
            </a:r>
            <a:endParaRPr sz="4153">
              <a:solidFill>
                <a:srgbClr val="000000"/>
              </a:solidFill>
              <a:latin typeface="Playfair Display"/>
              <a:ea typeface="Playfair Display"/>
              <a:cs typeface="Playfair Display"/>
              <a:sym typeface="Playfair Display"/>
            </a:endParaRPr>
          </a:p>
          <a:p>
            <a:pPr indent="0" lvl="0" marL="0" rtl="0" algn="l">
              <a:lnSpc>
                <a:spcPct val="115000"/>
              </a:lnSpc>
              <a:spcBef>
                <a:spcPts val="2769"/>
              </a:spcBef>
              <a:spcAft>
                <a:spcPts val="2769"/>
              </a:spcAft>
              <a:buNone/>
            </a:pPr>
            <a:r>
              <a:t/>
            </a:r>
            <a:endParaRPr sz="4153">
              <a:solidFill>
                <a:srgbClr val="000000"/>
              </a:solidFill>
              <a:latin typeface="Playfair Display"/>
              <a:ea typeface="Playfair Display"/>
              <a:cs typeface="Playfair Display"/>
              <a:sym typeface="Playfair Display"/>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39ab6b3f0fb_0_86"/>
          <p:cNvSpPr txBox="1"/>
          <p:nvPr/>
        </p:nvSpPr>
        <p:spPr>
          <a:xfrm>
            <a:off x="1162282" y="897500"/>
            <a:ext cx="10821600" cy="1718700"/>
          </a:xfrm>
          <a:prstGeom prst="rect">
            <a:avLst/>
          </a:prstGeom>
          <a:noFill/>
          <a:ln>
            <a:noFill/>
          </a:ln>
        </p:spPr>
        <p:txBody>
          <a:bodyPr anchorCtr="0" anchor="t" bIns="207950" lIns="207950" spcFirstLastPara="1" rIns="207950" wrap="square" tIns="207950">
            <a:normAutofit/>
          </a:bodyPr>
          <a:lstStyle/>
          <a:p>
            <a:pPr indent="0" lvl="0" marL="0" rtl="0" algn="l">
              <a:spcBef>
                <a:spcPts val="0"/>
              </a:spcBef>
              <a:spcAft>
                <a:spcPts val="0"/>
              </a:spcAft>
              <a:buNone/>
            </a:pPr>
            <a:r>
              <a:rPr lang="en-US" sz="6823">
                <a:solidFill>
                  <a:srgbClr val="000000"/>
                </a:solidFill>
                <a:highlight>
                  <a:schemeClr val="lt1"/>
                </a:highlight>
                <a:latin typeface="Oswald"/>
                <a:ea typeface="Oswald"/>
                <a:cs typeface="Oswald"/>
                <a:sym typeface="Oswald"/>
              </a:rPr>
              <a:t>IMÁGENES</a:t>
            </a:r>
            <a:endParaRPr sz="6823">
              <a:solidFill>
                <a:srgbClr val="000000"/>
              </a:solidFill>
              <a:highlight>
                <a:schemeClr val="lt1"/>
              </a:highlight>
              <a:latin typeface="Oswald"/>
              <a:ea typeface="Oswald"/>
              <a:cs typeface="Oswald"/>
              <a:sym typeface="Oswald"/>
            </a:endParaRPr>
          </a:p>
        </p:txBody>
      </p:sp>
      <p:sp>
        <p:nvSpPr>
          <p:cNvPr id="207" name="Google Shape;207;g39ab6b3f0fb_0_86"/>
          <p:cNvSpPr txBox="1"/>
          <p:nvPr/>
        </p:nvSpPr>
        <p:spPr>
          <a:xfrm>
            <a:off x="1162275" y="2502950"/>
            <a:ext cx="15117000" cy="3363300"/>
          </a:xfrm>
          <a:prstGeom prst="rect">
            <a:avLst/>
          </a:prstGeom>
          <a:noFill/>
          <a:ln>
            <a:noFill/>
          </a:ln>
        </p:spPr>
        <p:txBody>
          <a:bodyPr anchorCtr="0" anchor="t" bIns="207950" lIns="207950" spcFirstLastPara="1" rIns="207950" wrap="square" tIns="207950">
            <a:normAutofit fontScale="92500" lnSpcReduction="20000"/>
          </a:bodyPr>
          <a:lstStyle/>
          <a:p>
            <a:pPr indent="0" lvl="0" marL="0" rtl="0" algn="just">
              <a:lnSpc>
                <a:spcPct val="115000"/>
              </a:lnSpc>
              <a:spcBef>
                <a:spcPts val="0"/>
              </a:spcBef>
              <a:spcAft>
                <a:spcPts val="2729"/>
              </a:spcAft>
              <a:buNone/>
            </a:pPr>
            <a:r>
              <a:rPr lang="en-US" sz="4094">
                <a:solidFill>
                  <a:srgbClr val="000000"/>
                </a:solidFill>
                <a:latin typeface="Playfair Display"/>
                <a:ea typeface="Playfair Display"/>
                <a:cs typeface="Playfair Display"/>
                <a:sym typeface="Playfair Display"/>
              </a:rPr>
              <a:t>Las imágenes se utilizan para incorporar contenido visual en una página web, mejorando su atractivo y comunicación de información. Las imágenes se insertan utilizando el elemento &lt;img&gt;, que es un elemento vacío, lo que significa que no tiene una etiqueta de cierre.</a:t>
            </a:r>
            <a:endParaRPr sz="4094">
              <a:solidFill>
                <a:srgbClr val="000000"/>
              </a:solidFill>
              <a:latin typeface="Playfair Display"/>
              <a:ea typeface="Playfair Display"/>
              <a:cs typeface="Playfair Display"/>
              <a:sym typeface="Playfair Display"/>
            </a:endParaRPr>
          </a:p>
        </p:txBody>
      </p:sp>
      <p:sp>
        <p:nvSpPr>
          <p:cNvPr id="208" name="Google Shape;208;g39ab6b3f0fb_0_86"/>
          <p:cNvSpPr/>
          <p:nvPr/>
        </p:nvSpPr>
        <p:spPr>
          <a:xfrm>
            <a:off x="3769133" y="6181172"/>
            <a:ext cx="12855182" cy="2088968"/>
          </a:xfrm>
          <a:custGeom>
            <a:rect b="b" l="l" r="r" t="t"/>
            <a:pathLst>
              <a:path extrusionOk="0" h="1836455" w="11301259">
                <a:moveTo>
                  <a:pt x="0" y="0"/>
                </a:moveTo>
                <a:lnTo>
                  <a:pt x="11301258" y="0"/>
                </a:lnTo>
                <a:lnTo>
                  <a:pt x="11301258" y="1836455"/>
                </a:lnTo>
                <a:lnTo>
                  <a:pt x="0" y="1836455"/>
                </a:lnTo>
                <a:lnTo>
                  <a:pt x="0" y="0"/>
                </a:lnTo>
                <a:close/>
              </a:path>
            </a:pathLst>
          </a:custGeom>
          <a:blipFill rotWithShape="1">
            <a:blip r:embed="rId3">
              <a:alphaModFix/>
            </a:blip>
            <a:stretch>
              <a:fillRect b="0" l="0" r="0" t="0"/>
            </a:stretch>
          </a:blipFill>
          <a:ln>
            <a:noFill/>
          </a:ln>
        </p:spPr>
        <p:txBody>
          <a:bodyPr anchorCtr="0" anchor="t" bIns="103950" lIns="207950" spcFirstLastPara="1" rIns="207950" wrap="square" tIns="103950">
            <a:noAutofit/>
          </a:bodyPr>
          <a:lstStyle/>
          <a:p>
            <a:pPr indent="0" lvl="0" marL="0" marR="0" rtl="0" algn="l">
              <a:lnSpc>
                <a:spcPct val="100000"/>
              </a:lnSpc>
              <a:spcBef>
                <a:spcPts val="0"/>
              </a:spcBef>
              <a:spcAft>
                <a:spcPts val="0"/>
              </a:spcAft>
              <a:buNone/>
            </a:pPr>
            <a:r>
              <a:t/>
            </a:r>
            <a:endParaRPr b="0" i="0" sz="3184"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39ab6b3f0fb_0_92"/>
          <p:cNvSpPr txBox="1"/>
          <p:nvPr/>
        </p:nvSpPr>
        <p:spPr>
          <a:xfrm>
            <a:off x="1162282" y="897500"/>
            <a:ext cx="11217900" cy="1594500"/>
          </a:xfrm>
          <a:prstGeom prst="rect">
            <a:avLst/>
          </a:prstGeom>
          <a:noFill/>
          <a:ln>
            <a:noFill/>
          </a:ln>
        </p:spPr>
        <p:txBody>
          <a:bodyPr anchorCtr="0" anchor="t" bIns="192900" lIns="192900" spcFirstLastPara="1" rIns="192900" wrap="square" tIns="192900">
            <a:normAutofit/>
          </a:bodyPr>
          <a:lstStyle/>
          <a:p>
            <a:pPr indent="0" lvl="0" marL="0" rtl="0" algn="l">
              <a:spcBef>
                <a:spcPts val="0"/>
              </a:spcBef>
              <a:spcAft>
                <a:spcPts val="0"/>
              </a:spcAft>
              <a:buNone/>
            </a:pPr>
            <a:r>
              <a:rPr lang="en-US" sz="6330">
                <a:solidFill>
                  <a:srgbClr val="000000"/>
                </a:solidFill>
                <a:highlight>
                  <a:schemeClr val="lt1"/>
                </a:highlight>
                <a:latin typeface="Oswald"/>
                <a:ea typeface="Oswald"/>
                <a:cs typeface="Oswald"/>
                <a:sym typeface="Oswald"/>
              </a:rPr>
              <a:t>LISTAS</a:t>
            </a:r>
            <a:endParaRPr sz="6330">
              <a:solidFill>
                <a:srgbClr val="000000"/>
              </a:solidFill>
              <a:highlight>
                <a:schemeClr val="lt1"/>
              </a:highlight>
              <a:latin typeface="Oswald"/>
              <a:ea typeface="Oswald"/>
              <a:cs typeface="Oswald"/>
              <a:sym typeface="Oswald"/>
            </a:endParaRPr>
          </a:p>
        </p:txBody>
      </p:sp>
      <p:sp>
        <p:nvSpPr>
          <p:cNvPr id="214" name="Google Shape;214;g39ab6b3f0fb_0_92"/>
          <p:cNvSpPr txBox="1"/>
          <p:nvPr/>
        </p:nvSpPr>
        <p:spPr>
          <a:xfrm>
            <a:off x="1162275" y="2386807"/>
            <a:ext cx="15670200" cy="6517500"/>
          </a:xfrm>
          <a:prstGeom prst="rect">
            <a:avLst/>
          </a:prstGeom>
          <a:noFill/>
          <a:ln>
            <a:noFill/>
          </a:ln>
        </p:spPr>
        <p:txBody>
          <a:bodyPr anchorCtr="0" anchor="t" bIns="192900" lIns="192900" spcFirstLastPara="1" rIns="192900" wrap="square" tIns="192900">
            <a:normAutofit fontScale="85000" lnSpcReduction="10000"/>
          </a:bodyPr>
          <a:lstStyle/>
          <a:p>
            <a:pPr indent="0" lvl="0" marL="0" rtl="0" algn="l">
              <a:lnSpc>
                <a:spcPct val="115000"/>
              </a:lnSpc>
              <a:spcBef>
                <a:spcPts val="0"/>
              </a:spcBef>
              <a:spcAft>
                <a:spcPts val="0"/>
              </a:spcAft>
              <a:buNone/>
            </a:pPr>
            <a:r>
              <a:rPr lang="en-US" sz="3798">
                <a:solidFill>
                  <a:srgbClr val="000000"/>
                </a:solidFill>
                <a:latin typeface="Playfair Display"/>
                <a:ea typeface="Playfair Display"/>
                <a:cs typeface="Playfair Display"/>
                <a:sym typeface="Playfair Display"/>
              </a:rPr>
              <a:t>Las listas se utilizan para agrupar elementos relacionados y existen tres tipos principales de listas:</a:t>
            </a:r>
            <a:endParaRPr sz="3798">
              <a:solidFill>
                <a:srgbClr val="000000"/>
              </a:solidFill>
              <a:latin typeface="Playfair Display"/>
              <a:ea typeface="Playfair Display"/>
              <a:cs typeface="Playfair Display"/>
              <a:sym typeface="Playfair Display"/>
            </a:endParaRPr>
          </a:p>
          <a:p>
            <a:pPr indent="-669217" lvl="0" marL="964636" rtl="0" algn="just">
              <a:lnSpc>
                <a:spcPct val="115000"/>
              </a:lnSpc>
              <a:spcBef>
                <a:spcPts val="2532"/>
              </a:spcBef>
              <a:spcAft>
                <a:spcPts val="0"/>
              </a:spcAft>
              <a:buClr>
                <a:srgbClr val="000000"/>
              </a:buClr>
              <a:buSzPct val="100000"/>
              <a:buFont typeface="Playfair Display"/>
              <a:buAutoNum type="arabicPeriod"/>
            </a:pPr>
            <a:r>
              <a:rPr b="1" lang="en-US" sz="3798">
                <a:solidFill>
                  <a:srgbClr val="000000"/>
                </a:solidFill>
                <a:latin typeface="Playfair Display"/>
                <a:ea typeface="Playfair Display"/>
                <a:cs typeface="Playfair Display"/>
                <a:sym typeface="Playfair Display"/>
              </a:rPr>
              <a:t>Listas ordenadas</a:t>
            </a:r>
            <a:r>
              <a:rPr lang="en-US" sz="3798">
                <a:solidFill>
                  <a:srgbClr val="000000"/>
                </a:solidFill>
                <a:latin typeface="Playfair Display"/>
                <a:ea typeface="Playfair Display"/>
                <a:cs typeface="Playfair Display"/>
                <a:sym typeface="Playfair Display"/>
              </a:rPr>
              <a:t>: Son aquellas que nos muestran los elementos de la lista en orden. Para representar el orden tendremos los elementos numerados. Es decir, cada uno de los elementos irá precedido de un número o letra que establezca su orden.</a:t>
            </a:r>
            <a:endParaRPr sz="3798">
              <a:solidFill>
                <a:srgbClr val="000000"/>
              </a:solidFill>
              <a:latin typeface="Playfair Display"/>
              <a:ea typeface="Playfair Display"/>
              <a:cs typeface="Playfair Display"/>
              <a:sym typeface="Playfair Display"/>
            </a:endParaRPr>
          </a:p>
          <a:p>
            <a:pPr indent="-669217" lvl="0" marL="964636" rtl="0" algn="l">
              <a:lnSpc>
                <a:spcPct val="115000"/>
              </a:lnSpc>
              <a:spcBef>
                <a:spcPts val="0"/>
              </a:spcBef>
              <a:spcAft>
                <a:spcPts val="0"/>
              </a:spcAft>
              <a:buClr>
                <a:srgbClr val="000000"/>
              </a:buClr>
              <a:buSzPct val="100000"/>
              <a:buFont typeface="Playfair Display"/>
              <a:buChar char="●"/>
            </a:pPr>
            <a:r>
              <a:rPr b="1" lang="en-US" sz="3798">
                <a:solidFill>
                  <a:srgbClr val="000000"/>
                </a:solidFill>
                <a:latin typeface="Playfair Display"/>
                <a:ea typeface="Playfair Display"/>
                <a:cs typeface="Playfair Display"/>
                <a:sym typeface="Playfair Display"/>
              </a:rPr>
              <a:t>Listas desordenadas:</a:t>
            </a:r>
            <a:r>
              <a:rPr lang="en-US" sz="3798">
                <a:solidFill>
                  <a:srgbClr val="000000"/>
                </a:solidFill>
                <a:latin typeface="Playfair Display"/>
                <a:ea typeface="Playfair Display"/>
                <a:cs typeface="Playfair Display"/>
                <a:sym typeface="Playfair Display"/>
              </a:rPr>
              <a:t> Nos sirven para mostrar los elementos sin ningún tipo de orden, simplemente precedidos por una viñeta que puede ser un punto, un cuadrado, etc.</a:t>
            </a:r>
            <a:endParaRPr sz="3798">
              <a:solidFill>
                <a:srgbClr val="000000"/>
              </a:solidFill>
              <a:latin typeface="Playfair Display"/>
              <a:ea typeface="Playfair Display"/>
              <a:cs typeface="Playfair Display"/>
              <a:sym typeface="Playfair Display"/>
            </a:endParaRPr>
          </a:p>
          <a:p>
            <a:pPr indent="0" lvl="0" marL="0" rtl="0" algn="l">
              <a:lnSpc>
                <a:spcPct val="115000"/>
              </a:lnSpc>
              <a:spcBef>
                <a:spcPts val="2532"/>
              </a:spcBef>
              <a:spcAft>
                <a:spcPts val="2532"/>
              </a:spcAft>
              <a:buNone/>
            </a:pPr>
            <a:r>
              <a:t/>
            </a:r>
            <a:endParaRPr sz="3798">
              <a:solidFill>
                <a:srgbClr val="000000"/>
              </a:solidFill>
              <a:latin typeface="Playfair Display"/>
              <a:ea typeface="Playfair Display"/>
              <a:cs typeface="Playfair Display"/>
              <a:sym typeface="Playfair Display"/>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39ab6b3f0fb_0_97"/>
          <p:cNvSpPr txBox="1"/>
          <p:nvPr/>
        </p:nvSpPr>
        <p:spPr>
          <a:xfrm>
            <a:off x="8081959" y="983942"/>
            <a:ext cx="6203400" cy="1959000"/>
          </a:xfrm>
          <a:prstGeom prst="rect">
            <a:avLst/>
          </a:prstGeom>
          <a:noFill/>
          <a:ln>
            <a:noFill/>
          </a:ln>
        </p:spPr>
        <p:txBody>
          <a:bodyPr anchorCtr="0" anchor="t" bIns="205600" lIns="205600" spcFirstLastPara="1" rIns="205600" wrap="square" tIns="205600">
            <a:normAutofit/>
          </a:bodyPr>
          <a:lstStyle/>
          <a:p>
            <a:pPr indent="0" lvl="0" marL="0" rtl="0" algn="l">
              <a:spcBef>
                <a:spcPts val="0"/>
              </a:spcBef>
              <a:spcAft>
                <a:spcPts val="0"/>
              </a:spcAft>
              <a:buNone/>
            </a:pPr>
            <a:r>
              <a:rPr lang="en-US" sz="6746">
                <a:solidFill>
                  <a:srgbClr val="000000"/>
                </a:solidFill>
                <a:highlight>
                  <a:schemeClr val="lt1"/>
                </a:highlight>
                <a:latin typeface="Oswald"/>
                <a:ea typeface="Oswald"/>
                <a:cs typeface="Oswald"/>
                <a:sym typeface="Oswald"/>
              </a:rPr>
              <a:t>LISTAS</a:t>
            </a:r>
            <a:endParaRPr sz="6746">
              <a:solidFill>
                <a:srgbClr val="000000"/>
              </a:solidFill>
              <a:highlight>
                <a:schemeClr val="lt1"/>
              </a:highlight>
              <a:latin typeface="Oswald"/>
              <a:ea typeface="Oswald"/>
              <a:cs typeface="Oswald"/>
              <a:sym typeface="Oswald"/>
            </a:endParaRPr>
          </a:p>
        </p:txBody>
      </p:sp>
      <p:sp>
        <p:nvSpPr>
          <p:cNvPr id="220" name="Google Shape;220;g39ab6b3f0fb_0_97"/>
          <p:cNvSpPr txBox="1"/>
          <p:nvPr/>
        </p:nvSpPr>
        <p:spPr>
          <a:xfrm>
            <a:off x="8081959" y="3481414"/>
            <a:ext cx="8392500" cy="4743900"/>
          </a:xfrm>
          <a:prstGeom prst="rect">
            <a:avLst/>
          </a:prstGeom>
          <a:noFill/>
          <a:ln>
            <a:noFill/>
          </a:ln>
        </p:spPr>
        <p:txBody>
          <a:bodyPr anchorCtr="0" anchor="t" bIns="205600" lIns="205600" spcFirstLastPara="1" rIns="205600" wrap="square" tIns="205600">
            <a:normAutofit lnSpcReduction="20000"/>
          </a:bodyPr>
          <a:lstStyle/>
          <a:p>
            <a:pPr indent="0" lvl="0" marL="0" rtl="0" algn="just">
              <a:lnSpc>
                <a:spcPct val="115000"/>
              </a:lnSpc>
              <a:spcBef>
                <a:spcPts val="0"/>
              </a:spcBef>
              <a:spcAft>
                <a:spcPts val="2699"/>
              </a:spcAft>
              <a:buNone/>
            </a:pPr>
            <a:r>
              <a:rPr b="1" lang="en-US" sz="4048">
                <a:solidFill>
                  <a:srgbClr val="000000"/>
                </a:solidFill>
                <a:latin typeface="Playfair Display"/>
                <a:ea typeface="Playfair Display"/>
                <a:cs typeface="Playfair Display"/>
                <a:sym typeface="Playfair Display"/>
              </a:rPr>
              <a:t>Listas de definiciones: </a:t>
            </a:r>
            <a:r>
              <a:rPr lang="en-US" sz="4048">
                <a:solidFill>
                  <a:srgbClr val="000000"/>
                </a:solidFill>
                <a:latin typeface="Playfair Display"/>
                <a:ea typeface="Playfair Display"/>
                <a:cs typeface="Playfair Display"/>
                <a:sym typeface="Playfair Display"/>
              </a:rPr>
              <a:t>Nos sirven para montar listas en las que tenemos la estructura valor y definición. Suelen ser listas para definir términos, como si fuese un diccionario, si bien pueden ser cualquier par valor-definición.</a:t>
            </a:r>
            <a:endParaRPr sz="4048">
              <a:solidFill>
                <a:srgbClr val="000000"/>
              </a:solidFill>
              <a:latin typeface="Playfair Display"/>
              <a:ea typeface="Playfair Display"/>
              <a:cs typeface="Playfair Display"/>
              <a:sym typeface="Playfair Display"/>
            </a:endParaRPr>
          </a:p>
        </p:txBody>
      </p:sp>
      <p:pic>
        <p:nvPicPr>
          <p:cNvPr id="221" name="Google Shape;221;g39ab6b3f0fb_0_97"/>
          <p:cNvPicPr preferRelativeResize="0"/>
          <p:nvPr/>
        </p:nvPicPr>
        <p:blipFill rotWithShape="1">
          <a:blip r:embed="rId3">
            <a:alphaModFix/>
          </a:blip>
          <a:srcRect b="3596" l="0" r="3382" t="0"/>
          <a:stretch/>
        </p:blipFill>
        <p:spPr>
          <a:xfrm>
            <a:off x="1273650" y="691825"/>
            <a:ext cx="5477983" cy="823887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39ab6b3f0fb_0_103"/>
          <p:cNvSpPr txBox="1"/>
          <p:nvPr/>
        </p:nvSpPr>
        <p:spPr>
          <a:xfrm>
            <a:off x="1162282" y="897500"/>
            <a:ext cx="11046900" cy="1754400"/>
          </a:xfrm>
          <a:prstGeom prst="rect">
            <a:avLst/>
          </a:prstGeom>
          <a:noFill/>
          <a:ln>
            <a:noFill/>
          </a:ln>
        </p:spPr>
        <p:txBody>
          <a:bodyPr anchorCtr="0" anchor="t" bIns="212275" lIns="212275" spcFirstLastPara="1" rIns="212275" wrap="square" tIns="212275">
            <a:normAutofit/>
          </a:bodyPr>
          <a:lstStyle/>
          <a:p>
            <a:pPr indent="0" lvl="0" marL="0" rtl="0" algn="l">
              <a:spcBef>
                <a:spcPts val="0"/>
              </a:spcBef>
              <a:spcAft>
                <a:spcPts val="0"/>
              </a:spcAft>
              <a:buNone/>
            </a:pPr>
            <a:r>
              <a:rPr lang="en-US" sz="6965">
                <a:solidFill>
                  <a:srgbClr val="000000"/>
                </a:solidFill>
                <a:highlight>
                  <a:schemeClr val="lt1"/>
                </a:highlight>
                <a:latin typeface="Oswald"/>
                <a:ea typeface="Oswald"/>
                <a:cs typeface="Oswald"/>
                <a:sym typeface="Oswald"/>
              </a:rPr>
              <a:t>FORMULARIOS</a:t>
            </a:r>
            <a:endParaRPr sz="6965">
              <a:solidFill>
                <a:srgbClr val="000000"/>
              </a:solidFill>
              <a:highlight>
                <a:schemeClr val="lt1"/>
              </a:highlight>
              <a:latin typeface="Oswald"/>
              <a:ea typeface="Oswald"/>
              <a:cs typeface="Oswald"/>
              <a:sym typeface="Oswald"/>
            </a:endParaRPr>
          </a:p>
        </p:txBody>
      </p:sp>
      <p:sp>
        <p:nvSpPr>
          <p:cNvPr id="227" name="Google Shape;227;g39ab6b3f0fb_0_103"/>
          <p:cNvSpPr txBox="1"/>
          <p:nvPr/>
        </p:nvSpPr>
        <p:spPr>
          <a:xfrm>
            <a:off x="1162275" y="2536364"/>
            <a:ext cx="15431400" cy="3675600"/>
          </a:xfrm>
          <a:prstGeom prst="rect">
            <a:avLst/>
          </a:prstGeom>
          <a:noFill/>
          <a:ln>
            <a:noFill/>
          </a:ln>
        </p:spPr>
        <p:txBody>
          <a:bodyPr anchorCtr="0" anchor="t" bIns="212275" lIns="212275" spcFirstLastPara="1" rIns="212275" wrap="square" tIns="212275">
            <a:normAutofit fontScale="85000"/>
          </a:bodyPr>
          <a:lstStyle/>
          <a:p>
            <a:pPr indent="0" lvl="0" marL="0" rtl="0" algn="just">
              <a:lnSpc>
                <a:spcPct val="115000"/>
              </a:lnSpc>
              <a:spcBef>
                <a:spcPts val="0"/>
              </a:spcBef>
              <a:spcAft>
                <a:spcPts val="2786"/>
              </a:spcAft>
              <a:buNone/>
            </a:pPr>
            <a:r>
              <a:rPr lang="en-US" sz="4179">
                <a:solidFill>
                  <a:srgbClr val="000000"/>
                </a:solidFill>
                <a:latin typeface="Playfair Display"/>
                <a:ea typeface="Playfair Display"/>
                <a:cs typeface="Playfair Display"/>
                <a:sym typeface="Playfair Display"/>
              </a:rPr>
              <a:t>Los formularios son elementos esenciales para recopilar información del usuario y enviarla a un servidor para su procesamiento. Un formulario se define con el elemento &lt;form&gt; y puede contener varios elementos de entrada, como cuadros de texto, botones de opción, casillas de verificación, menús desplegables, botones de envío, y más.</a:t>
            </a:r>
            <a:endParaRPr sz="4179">
              <a:solidFill>
                <a:srgbClr val="000000"/>
              </a:solidFill>
              <a:latin typeface="Playfair Display"/>
              <a:ea typeface="Playfair Display"/>
              <a:cs typeface="Playfair Display"/>
              <a:sym typeface="Playfair Display"/>
            </a:endParaRPr>
          </a:p>
        </p:txBody>
      </p:sp>
      <p:sp>
        <p:nvSpPr>
          <p:cNvPr id="228" name="Google Shape;228;g39ab6b3f0fb_0_103"/>
          <p:cNvSpPr/>
          <p:nvPr/>
        </p:nvSpPr>
        <p:spPr>
          <a:xfrm>
            <a:off x="2519202" y="6057102"/>
            <a:ext cx="13109460" cy="3490394"/>
          </a:xfrm>
          <a:custGeom>
            <a:rect b="b" l="l" r="r" t="t"/>
            <a:pathLst>
              <a:path extrusionOk="0" h="3008960" w="11301259">
                <a:moveTo>
                  <a:pt x="0" y="0"/>
                </a:moveTo>
                <a:lnTo>
                  <a:pt x="11301258" y="0"/>
                </a:lnTo>
                <a:lnTo>
                  <a:pt x="11301258" y="3008960"/>
                </a:lnTo>
                <a:lnTo>
                  <a:pt x="0" y="3008960"/>
                </a:lnTo>
                <a:lnTo>
                  <a:pt x="0" y="0"/>
                </a:lnTo>
                <a:close/>
              </a:path>
            </a:pathLst>
          </a:custGeom>
          <a:blipFill rotWithShape="1">
            <a:blip r:embed="rId3">
              <a:alphaModFix/>
            </a:blip>
            <a:stretch>
              <a:fillRect b="0" l="0" r="0" t="0"/>
            </a:stretch>
          </a:blipFill>
          <a:ln>
            <a:noFill/>
          </a:ln>
        </p:spPr>
        <p:txBody>
          <a:bodyPr anchorCtr="0" anchor="t" bIns="106100" lIns="212275" spcFirstLastPara="1" rIns="212275" wrap="square" tIns="106100">
            <a:noAutofit/>
          </a:bodyPr>
          <a:lstStyle/>
          <a:p>
            <a:pPr indent="0" lvl="0" marL="0" marR="0" rtl="0" algn="l">
              <a:lnSpc>
                <a:spcPct val="100000"/>
              </a:lnSpc>
              <a:spcBef>
                <a:spcPts val="0"/>
              </a:spcBef>
              <a:spcAft>
                <a:spcPts val="0"/>
              </a:spcAft>
              <a:buNone/>
            </a:pPr>
            <a:r>
              <a:t/>
            </a:r>
            <a:endParaRPr b="0" i="0" sz="325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39ab6b3f0fb_0_109"/>
          <p:cNvSpPr txBox="1"/>
          <p:nvPr/>
        </p:nvSpPr>
        <p:spPr>
          <a:xfrm>
            <a:off x="1304175" y="1055600"/>
            <a:ext cx="14652000" cy="966000"/>
          </a:xfrm>
          <a:prstGeom prst="rect">
            <a:avLst/>
          </a:prstGeom>
          <a:noFill/>
          <a:ln>
            <a:noFill/>
          </a:ln>
        </p:spPr>
        <p:txBody>
          <a:bodyPr anchorCtr="0" anchor="t" bIns="202900" lIns="202900" spcFirstLastPara="1" rIns="202900" wrap="square" tIns="202900">
            <a:normAutofit fontScale="25000" lnSpcReduction="20000"/>
          </a:bodyPr>
          <a:lstStyle/>
          <a:p>
            <a:pPr indent="0" lvl="0" marL="0" rtl="0" algn="l">
              <a:spcBef>
                <a:spcPts val="0"/>
              </a:spcBef>
              <a:spcAft>
                <a:spcPts val="0"/>
              </a:spcAft>
              <a:buNone/>
            </a:pPr>
            <a:r>
              <a:rPr lang="en-US" sz="20781">
                <a:solidFill>
                  <a:srgbClr val="000000"/>
                </a:solidFill>
                <a:highlight>
                  <a:schemeClr val="lt1"/>
                </a:highlight>
                <a:latin typeface="Oswald"/>
                <a:ea typeface="Oswald"/>
                <a:cs typeface="Oswald"/>
                <a:sym typeface="Oswald"/>
              </a:rPr>
              <a:t>¿QUE ES CSS?</a:t>
            </a:r>
            <a:endParaRPr sz="20781">
              <a:solidFill>
                <a:srgbClr val="000000"/>
              </a:solidFill>
              <a:highlight>
                <a:schemeClr val="lt1"/>
              </a:highlight>
              <a:latin typeface="Oswald"/>
              <a:ea typeface="Oswald"/>
              <a:cs typeface="Oswald"/>
              <a:sym typeface="Oswald"/>
            </a:endParaRPr>
          </a:p>
          <a:p>
            <a:pPr indent="0" lvl="0" marL="0" rtl="0" algn="l">
              <a:spcBef>
                <a:spcPts val="0"/>
              </a:spcBef>
              <a:spcAft>
                <a:spcPts val="0"/>
              </a:spcAft>
              <a:buNone/>
            </a:pPr>
            <a:r>
              <a:t/>
            </a:r>
            <a:endParaRPr sz="6658">
              <a:solidFill>
                <a:srgbClr val="000000"/>
              </a:solidFill>
              <a:highlight>
                <a:srgbClr val="F8E71C"/>
              </a:highlight>
              <a:latin typeface="Oswald"/>
              <a:ea typeface="Oswald"/>
              <a:cs typeface="Oswald"/>
              <a:sym typeface="Oswald"/>
            </a:endParaRPr>
          </a:p>
        </p:txBody>
      </p:sp>
      <p:sp>
        <p:nvSpPr>
          <p:cNvPr id="234" name="Google Shape;234;g39ab6b3f0fb_0_109"/>
          <p:cNvSpPr txBox="1"/>
          <p:nvPr/>
        </p:nvSpPr>
        <p:spPr>
          <a:xfrm>
            <a:off x="1304175" y="2386255"/>
            <a:ext cx="14652000" cy="5623800"/>
          </a:xfrm>
          <a:prstGeom prst="rect">
            <a:avLst/>
          </a:prstGeom>
          <a:noFill/>
          <a:ln>
            <a:noFill/>
          </a:ln>
        </p:spPr>
        <p:txBody>
          <a:bodyPr anchorCtr="0" anchor="t" bIns="202900" lIns="202900" spcFirstLastPara="1" rIns="202900" wrap="square" tIns="202900">
            <a:normAutofit/>
          </a:bodyPr>
          <a:lstStyle/>
          <a:p>
            <a:pPr indent="0" lvl="0" marL="0" rtl="0" algn="just">
              <a:lnSpc>
                <a:spcPct val="115000"/>
              </a:lnSpc>
              <a:spcBef>
                <a:spcPts val="0"/>
              </a:spcBef>
              <a:spcAft>
                <a:spcPts val="2663"/>
              </a:spcAft>
              <a:buNone/>
            </a:pPr>
            <a:r>
              <a:rPr lang="en-US" sz="3995">
                <a:solidFill>
                  <a:srgbClr val="000000"/>
                </a:solidFill>
                <a:latin typeface="Playfair Display"/>
                <a:ea typeface="Playfair Display"/>
                <a:cs typeface="Playfair Display"/>
                <a:sym typeface="Playfair Display"/>
              </a:rPr>
              <a:t>CSS significa “Cascading Style Sheets” (hojas de estilo en cascada) es un lenguaje de hojas de estilo utilizado para describir la presentación y el diseño de un documento escrito en un lenguaje de marcado como HTML. CSS permite separar el contenido de la presentación visual, facilitando el control del estilo de múltiples páginas web de manera eficiente.</a:t>
            </a:r>
            <a:endParaRPr sz="3995">
              <a:solidFill>
                <a:srgbClr val="000000"/>
              </a:solidFill>
              <a:latin typeface="Playfair Display"/>
              <a:ea typeface="Playfair Display"/>
              <a:cs typeface="Playfair Display"/>
              <a:sym typeface="Playfair Display"/>
            </a:endParaRPr>
          </a:p>
        </p:txBody>
      </p:sp>
      <p:grpSp>
        <p:nvGrpSpPr>
          <p:cNvPr id="235" name="Google Shape;235;g39ab6b3f0fb_0_109"/>
          <p:cNvGrpSpPr/>
          <p:nvPr/>
        </p:nvGrpSpPr>
        <p:grpSpPr>
          <a:xfrm>
            <a:off x="10750097" y="5972291"/>
            <a:ext cx="6287069" cy="2798514"/>
            <a:chOff x="3182550" y="3108751"/>
            <a:chExt cx="2833034" cy="1261047"/>
          </a:xfrm>
        </p:grpSpPr>
        <p:sp>
          <p:nvSpPr>
            <p:cNvPr id="236" name="Google Shape;236;g39ab6b3f0fb_0_109"/>
            <p:cNvSpPr/>
            <p:nvPr/>
          </p:nvSpPr>
          <p:spPr>
            <a:xfrm>
              <a:off x="5049603" y="3317547"/>
              <a:ext cx="965981" cy="1052251"/>
            </a:xfrm>
            <a:custGeom>
              <a:rect b="b" l="l" r="r" t="t"/>
              <a:pathLst>
                <a:path extrusionOk="0" h="2104501" w="1931962">
                  <a:moveTo>
                    <a:pt x="0" y="0"/>
                  </a:moveTo>
                  <a:lnTo>
                    <a:pt x="1931962" y="0"/>
                  </a:lnTo>
                  <a:lnTo>
                    <a:pt x="1931962" y="2104501"/>
                  </a:lnTo>
                  <a:lnTo>
                    <a:pt x="0" y="2104501"/>
                  </a:lnTo>
                  <a:lnTo>
                    <a:pt x="0" y="0"/>
                  </a:lnTo>
                  <a:close/>
                </a:path>
              </a:pathLst>
            </a:custGeom>
            <a:blipFill rotWithShape="1">
              <a:blip r:embed="rId3">
                <a:alphaModFix/>
              </a:blip>
              <a:stretch>
                <a:fillRect b="0" l="-69532" r="-68722" t="-23860"/>
              </a:stretch>
            </a:blipFill>
            <a:ln>
              <a:noFill/>
            </a:ln>
          </p:spPr>
          <p:txBody>
            <a:bodyPr anchorCtr="0" anchor="t" bIns="101425" lIns="202900" spcFirstLastPara="1" rIns="202900" wrap="square" tIns="101425">
              <a:noAutofit/>
            </a:bodyPr>
            <a:lstStyle/>
            <a:p>
              <a:pPr indent="0" lvl="0" marL="0" marR="0" rtl="0" algn="l">
                <a:lnSpc>
                  <a:spcPct val="100000"/>
                </a:lnSpc>
                <a:spcBef>
                  <a:spcPts val="0"/>
                </a:spcBef>
                <a:spcAft>
                  <a:spcPts val="0"/>
                </a:spcAft>
                <a:buNone/>
              </a:pPr>
              <a:r>
                <a:t/>
              </a:r>
              <a:endParaRPr b="0" i="0" sz="3107" u="none" cap="none" strike="noStrike">
                <a:solidFill>
                  <a:srgbClr val="000000"/>
                </a:solidFill>
                <a:latin typeface="Arial"/>
                <a:ea typeface="Arial"/>
                <a:cs typeface="Arial"/>
                <a:sym typeface="Arial"/>
              </a:endParaRPr>
            </a:p>
          </p:txBody>
        </p:sp>
        <p:sp>
          <p:nvSpPr>
            <p:cNvPr id="237" name="Google Shape;237;g39ab6b3f0fb_0_109"/>
            <p:cNvSpPr txBox="1"/>
            <p:nvPr/>
          </p:nvSpPr>
          <p:spPr>
            <a:xfrm>
              <a:off x="3182550" y="3108751"/>
              <a:ext cx="1812900" cy="1260900"/>
            </a:xfrm>
            <a:prstGeom prst="rect">
              <a:avLst/>
            </a:prstGeom>
            <a:noFill/>
            <a:ln>
              <a:noFill/>
            </a:ln>
          </p:spPr>
          <p:txBody>
            <a:bodyPr anchorCtr="0" anchor="ctr" bIns="56375" lIns="56375" spcFirstLastPara="1" rIns="56375" wrap="square" tIns="56375">
              <a:noAutofit/>
            </a:bodyPr>
            <a:lstStyle/>
            <a:p>
              <a:pPr indent="0" lvl="0" marL="0" marR="0" rtl="0" algn="l">
                <a:lnSpc>
                  <a:spcPct val="140000"/>
                </a:lnSpc>
                <a:spcBef>
                  <a:spcPts val="0"/>
                </a:spcBef>
                <a:spcAft>
                  <a:spcPts val="0"/>
                </a:spcAft>
                <a:buClr>
                  <a:srgbClr val="000000"/>
                </a:buClr>
                <a:buSzPts val="13315"/>
                <a:buFont typeface="Arial"/>
                <a:buNone/>
              </a:pPr>
              <a:r>
                <a:rPr b="0" i="0" lang="en-US" sz="13315" u="none" cap="none" strike="noStrike">
                  <a:solidFill>
                    <a:srgbClr val="000000"/>
                  </a:solidFill>
                  <a:latin typeface="Archivo Black"/>
                  <a:ea typeface="Archivo Black"/>
                  <a:cs typeface="Archivo Black"/>
                  <a:sym typeface="Archivo Black"/>
                </a:rPr>
                <a:t>CSS</a:t>
              </a:r>
              <a:endParaRPr b="0" i="0" sz="1553" u="none" cap="none" strike="noStrike">
                <a:solidFill>
                  <a:srgbClr val="000000"/>
                </a:solidFill>
                <a:latin typeface="Arial"/>
                <a:ea typeface="Arial"/>
                <a:cs typeface="Arial"/>
                <a:sym typeface="Arial"/>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39ab6b3f0fb_0_117"/>
          <p:cNvSpPr txBox="1"/>
          <p:nvPr/>
        </p:nvSpPr>
        <p:spPr>
          <a:xfrm>
            <a:off x="1543758" y="897500"/>
            <a:ext cx="5532900" cy="1638300"/>
          </a:xfrm>
          <a:prstGeom prst="rect">
            <a:avLst/>
          </a:prstGeom>
          <a:noFill/>
          <a:ln>
            <a:noFill/>
          </a:ln>
        </p:spPr>
        <p:txBody>
          <a:bodyPr anchorCtr="0" anchor="t" bIns="198200" lIns="198200" spcFirstLastPara="1" rIns="198200" wrap="square" tIns="198200">
            <a:normAutofit fontScale="77500" lnSpcReduction="20000"/>
          </a:bodyPr>
          <a:lstStyle/>
          <a:p>
            <a:pPr indent="0" lvl="0" marL="0" rtl="0" algn="l">
              <a:spcBef>
                <a:spcPts val="0"/>
              </a:spcBef>
              <a:spcAft>
                <a:spcPts val="0"/>
              </a:spcAft>
              <a:buNone/>
            </a:pPr>
            <a:r>
              <a:rPr lang="en-US" sz="6503">
                <a:solidFill>
                  <a:srgbClr val="000000"/>
                </a:solidFill>
                <a:highlight>
                  <a:schemeClr val="lt1"/>
                </a:highlight>
                <a:latin typeface="Oswald"/>
                <a:ea typeface="Oswald"/>
                <a:cs typeface="Oswald"/>
                <a:sym typeface="Oswald"/>
              </a:rPr>
              <a:t>SINTAXIS EN CSS</a:t>
            </a:r>
            <a:endParaRPr sz="6503">
              <a:solidFill>
                <a:srgbClr val="000000"/>
              </a:solidFill>
              <a:highlight>
                <a:schemeClr val="lt1"/>
              </a:highlight>
              <a:latin typeface="Oswald"/>
              <a:ea typeface="Oswald"/>
              <a:cs typeface="Oswald"/>
              <a:sym typeface="Oswald"/>
            </a:endParaRPr>
          </a:p>
          <a:p>
            <a:pPr indent="0" lvl="0" marL="0" rtl="0" algn="l">
              <a:spcBef>
                <a:spcPts val="0"/>
              </a:spcBef>
              <a:spcAft>
                <a:spcPts val="0"/>
              </a:spcAft>
              <a:buNone/>
            </a:pPr>
            <a:r>
              <a:t/>
            </a:r>
            <a:endParaRPr sz="6503">
              <a:solidFill>
                <a:srgbClr val="000000"/>
              </a:solidFill>
              <a:highlight>
                <a:srgbClr val="01AFD1"/>
              </a:highlight>
              <a:latin typeface="Oswald"/>
              <a:ea typeface="Oswald"/>
              <a:cs typeface="Oswald"/>
              <a:sym typeface="Oswald"/>
            </a:endParaRPr>
          </a:p>
        </p:txBody>
      </p:sp>
      <p:sp>
        <p:nvSpPr>
          <p:cNvPr id="243" name="Google Shape;243;g39ab6b3f0fb_0_117"/>
          <p:cNvSpPr txBox="1"/>
          <p:nvPr/>
        </p:nvSpPr>
        <p:spPr>
          <a:xfrm>
            <a:off x="1543754" y="4526877"/>
            <a:ext cx="8771100" cy="4792800"/>
          </a:xfrm>
          <a:prstGeom prst="rect">
            <a:avLst/>
          </a:prstGeom>
          <a:noFill/>
          <a:ln>
            <a:noFill/>
          </a:ln>
        </p:spPr>
        <p:txBody>
          <a:bodyPr anchorCtr="0" anchor="t" bIns="198200" lIns="198200" spcFirstLastPara="1" rIns="198200" wrap="square" tIns="198200">
            <a:normAutofit fontScale="92500" lnSpcReduction="20000"/>
          </a:bodyPr>
          <a:lstStyle/>
          <a:p>
            <a:pPr indent="-724743" lvl="0" marL="991102" rtl="0" algn="l">
              <a:lnSpc>
                <a:spcPct val="115000"/>
              </a:lnSpc>
              <a:spcBef>
                <a:spcPts val="0"/>
              </a:spcBef>
              <a:spcAft>
                <a:spcPts val="0"/>
              </a:spcAft>
              <a:buClr>
                <a:srgbClr val="000000"/>
              </a:buClr>
              <a:buSzPct val="100000"/>
              <a:buFont typeface="Playfair Display"/>
              <a:buChar char="●"/>
            </a:pPr>
            <a:r>
              <a:rPr b="1" lang="en-US" sz="3902">
                <a:solidFill>
                  <a:srgbClr val="000000"/>
                </a:solidFill>
                <a:latin typeface="Playfair Display"/>
                <a:ea typeface="Playfair Display"/>
                <a:cs typeface="Playfair Display"/>
                <a:sym typeface="Playfair Display"/>
              </a:rPr>
              <a:t>Selector</a:t>
            </a:r>
            <a:r>
              <a:rPr lang="en-US" sz="3902">
                <a:solidFill>
                  <a:srgbClr val="000000"/>
                </a:solidFill>
                <a:latin typeface="Playfair Display"/>
                <a:ea typeface="Playfair Display"/>
                <a:cs typeface="Playfair Display"/>
                <a:sym typeface="Playfair Display"/>
              </a:rPr>
              <a:t>: Es el elemento HTML al cual se le aplicarán los estilos (p, .clase, #id).</a:t>
            </a:r>
            <a:endParaRPr sz="3902">
              <a:solidFill>
                <a:srgbClr val="000000"/>
              </a:solidFill>
              <a:latin typeface="Playfair Display"/>
              <a:ea typeface="Playfair Display"/>
              <a:cs typeface="Playfair Display"/>
              <a:sym typeface="Playfair Display"/>
            </a:endParaRPr>
          </a:p>
          <a:p>
            <a:pPr indent="-724743" lvl="0" marL="991102" rtl="0" algn="l">
              <a:lnSpc>
                <a:spcPct val="115000"/>
              </a:lnSpc>
              <a:spcBef>
                <a:spcPts val="0"/>
              </a:spcBef>
              <a:spcAft>
                <a:spcPts val="0"/>
              </a:spcAft>
              <a:buClr>
                <a:srgbClr val="000000"/>
              </a:buClr>
              <a:buSzPct val="100000"/>
              <a:buFont typeface="Playfair Display"/>
              <a:buChar char="●"/>
            </a:pPr>
            <a:r>
              <a:rPr b="1" lang="en-US" sz="3902">
                <a:solidFill>
                  <a:srgbClr val="000000"/>
                </a:solidFill>
                <a:latin typeface="Playfair Display"/>
                <a:ea typeface="Playfair Display"/>
                <a:cs typeface="Playfair Display"/>
                <a:sym typeface="Playfair Display"/>
              </a:rPr>
              <a:t>Propiedad</a:t>
            </a:r>
            <a:r>
              <a:rPr lang="en-US" sz="3902">
                <a:solidFill>
                  <a:srgbClr val="000000"/>
                </a:solidFill>
                <a:latin typeface="Playfair Display"/>
                <a:ea typeface="Playfair Display"/>
                <a:cs typeface="Playfair Display"/>
                <a:sym typeface="Playfair Display"/>
              </a:rPr>
              <a:t>: Es el atributo que se desea modificar (color, font-size, margin).</a:t>
            </a:r>
            <a:endParaRPr sz="3902">
              <a:solidFill>
                <a:srgbClr val="000000"/>
              </a:solidFill>
              <a:latin typeface="Playfair Display"/>
              <a:ea typeface="Playfair Display"/>
              <a:cs typeface="Playfair Display"/>
              <a:sym typeface="Playfair Display"/>
            </a:endParaRPr>
          </a:p>
          <a:p>
            <a:pPr indent="-724743" lvl="0" marL="991102" rtl="0" algn="l">
              <a:lnSpc>
                <a:spcPct val="115000"/>
              </a:lnSpc>
              <a:spcBef>
                <a:spcPts val="0"/>
              </a:spcBef>
              <a:spcAft>
                <a:spcPts val="0"/>
              </a:spcAft>
              <a:buClr>
                <a:srgbClr val="000000"/>
              </a:buClr>
              <a:buSzPct val="100000"/>
              <a:buFont typeface="Playfair Display"/>
              <a:buChar char="●"/>
            </a:pPr>
            <a:r>
              <a:rPr b="1" lang="en-US" sz="3902">
                <a:solidFill>
                  <a:srgbClr val="000000"/>
                </a:solidFill>
                <a:latin typeface="Playfair Display"/>
                <a:ea typeface="Playfair Display"/>
                <a:cs typeface="Playfair Display"/>
                <a:sym typeface="Playfair Display"/>
              </a:rPr>
              <a:t>Valor</a:t>
            </a:r>
            <a:r>
              <a:rPr lang="en-US" sz="3902">
                <a:solidFill>
                  <a:srgbClr val="000000"/>
                </a:solidFill>
                <a:latin typeface="Playfair Display"/>
                <a:ea typeface="Playfair Display"/>
                <a:cs typeface="Playfair Display"/>
                <a:sym typeface="Playfair Display"/>
              </a:rPr>
              <a:t>: Es el valor que se asigna a la propiedad (red, 16px, 10px).</a:t>
            </a:r>
            <a:endParaRPr sz="3902">
              <a:solidFill>
                <a:srgbClr val="000000"/>
              </a:solidFill>
              <a:latin typeface="Playfair Display"/>
              <a:ea typeface="Playfair Display"/>
              <a:cs typeface="Playfair Display"/>
              <a:sym typeface="Playfair Display"/>
            </a:endParaRPr>
          </a:p>
        </p:txBody>
      </p:sp>
      <p:sp>
        <p:nvSpPr>
          <p:cNvPr id="244" name="Google Shape;244;g39ab6b3f0fb_0_117"/>
          <p:cNvSpPr/>
          <p:nvPr/>
        </p:nvSpPr>
        <p:spPr>
          <a:xfrm>
            <a:off x="10572976" y="5773665"/>
            <a:ext cx="6916579" cy="2574005"/>
          </a:xfrm>
          <a:custGeom>
            <a:rect b="b" l="l" r="r" t="t"/>
            <a:pathLst>
              <a:path extrusionOk="0" h="1868606" w="5104486">
                <a:moveTo>
                  <a:pt x="0" y="0"/>
                </a:moveTo>
                <a:lnTo>
                  <a:pt x="5104486" y="0"/>
                </a:lnTo>
                <a:lnTo>
                  <a:pt x="5104486" y="1868607"/>
                </a:lnTo>
                <a:lnTo>
                  <a:pt x="0" y="1868607"/>
                </a:lnTo>
                <a:lnTo>
                  <a:pt x="0" y="0"/>
                </a:lnTo>
                <a:close/>
              </a:path>
            </a:pathLst>
          </a:custGeom>
          <a:blipFill rotWithShape="1">
            <a:blip r:embed="rId3">
              <a:alphaModFix/>
            </a:blip>
            <a:stretch>
              <a:fillRect b="-30889" l="-29950" r="-27110" t="-119549"/>
            </a:stretch>
          </a:blipFill>
          <a:ln>
            <a:noFill/>
          </a:ln>
        </p:spPr>
        <p:txBody>
          <a:bodyPr anchorCtr="0" anchor="t" bIns="99075" lIns="198200" spcFirstLastPara="1" rIns="198200" wrap="square" tIns="99075">
            <a:noAutofit/>
          </a:bodyPr>
          <a:lstStyle/>
          <a:p>
            <a:pPr indent="0" lvl="0" marL="0" marR="0" rtl="0" algn="l">
              <a:lnSpc>
                <a:spcPct val="100000"/>
              </a:lnSpc>
              <a:spcBef>
                <a:spcPts val="0"/>
              </a:spcBef>
              <a:spcAft>
                <a:spcPts val="0"/>
              </a:spcAft>
              <a:buNone/>
            </a:pPr>
            <a:r>
              <a:t/>
            </a:r>
            <a:endParaRPr b="0" i="0" sz="3035" u="none" cap="none" strike="noStrike">
              <a:solidFill>
                <a:srgbClr val="000000"/>
              </a:solidFill>
              <a:latin typeface="Arial"/>
              <a:ea typeface="Arial"/>
              <a:cs typeface="Arial"/>
              <a:sym typeface="Arial"/>
            </a:endParaRPr>
          </a:p>
        </p:txBody>
      </p:sp>
      <p:sp>
        <p:nvSpPr>
          <p:cNvPr id="245" name="Google Shape;245;g39ab6b3f0fb_0_117"/>
          <p:cNvSpPr/>
          <p:nvPr/>
        </p:nvSpPr>
        <p:spPr>
          <a:xfrm>
            <a:off x="6429947" y="897500"/>
            <a:ext cx="10156518" cy="1502377"/>
          </a:xfrm>
          <a:custGeom>
            <a:rect b="b" l="l" r="r" t="t"/>
            <a:pathLst>
              <a:path extrusionOk="0" h="1384679" w="9719156">
                <a:moveTo>
                  <a:pt x="0" y="0"/>
                </a:moveTo>
                <a:lnTo>
                  <a:pt x="9719156" y="0"/>
                </a:lnTo>
                <a:lnTo>
                  <a:pt x="9719156" y="1384679"/>
                </a:lnTo>
                <a:lnTo>
                  <a:pt x="0" y="1384679"/>
                </a:lnTo>
                <a:lnTo>
                  <a:pt x="0" y="0"/>
                </a:lnTo>
                <a:close/>
              </a:path>
            </a:pathLst>
          </a:custGeom>
          <a:blipFill rotWithShape="1">
            <a:blip r:embed="rId3">
              <a:alphaModFix/>
            </a:blip>
            <a:stretch>
              <a:fillRect b="-221508" l="0" r="0" t="-88161"/>
            </a:stretch>
          </a:blipFill>
          <a:ln>
            <a:noFill/>
          </a:ln>
        </p:spPr>
        <p:txBody>
          <a:bodyPr anchorCtr="0" anchor="t" bIns="99075" lIns="198200" spcFirstLastPara="1" rIns="198200" wrap="square" tIns="99075">
            <a:noAutofit/>
          </a:bodyPr>
          <a:lstStyle/>
          <a:p>
            <a:pPr indent="0" lvl="0" marL="0" marR="0" rtl="0" algn="l">
              <a:lnSpc>
                <a:spcPct val="100000"/>
              </a:lnSpc>
              <a:spcBef>
                <a:spcPts val="0"/>
              </a:spcBef>
              <a:spcAft>
                <a:spcPts val="0"/>
              </a:spcAft>
              <a:buNone/>
            </a:pPr>
            <a:r>
              <a:t/>
            </a:r>
            <a:endParaRPr b="0" i="0" sz="3035" u="none" cap="none" strike="noStrike">
              <a:solidFill>
                <a:srgbClr val="000000"/>
              </a:solidFill>
              <a:latin typeface="Arial"/>
              <a:ea typeface="Arial"/>
              <a:cs typeface="Arial"/>
              <a:sym typeface="Arial"/>
            </a:endParaRPr>
          </a:p>
        </p:txBody>
      </p:sp>
      <p:sp>
        <p:nvSpPr>
          <p:cNvPr id="246" name="Google Shape;246;g39ab6b3f0fb_0_117"/>
          <p:cNvSpPr txBox="1"/>
          <p:nvPr/>
        </p:nvSpPr>
        <p:spPr>
          <a:xfrm>
            <a:off x="835600" y="2398296"/>
            <a:ext cx="15760200" cy="2233200"/>
          </a:xfrm>
          <a:prstGeom prst="rect">
            <a:avLst/>
          </a:prstGeom>
          <a:noFill/>
          <a:ln>
            <a:noFill/>
          </a:ln>
        </p:spPr>
        <p:txBody>
          <a:bodyPr anchorCtr="0" anchor="t" bIns="198200" lIns="198200" spcFirstLastPara="1" rIns="198200" wrap="square" tIns="198200">
            <a:normAutofit lnSpcReduction="20000"/>
          </a:bodyPr>
          <a:lstStyle/>
          <a:p>
            <a:pPr indent="0" lvl="0" marL="0" rtl="0" algn="l">
              <a:lnSpc>
                <a:spcPct val="115000"/>
              </a:lnSpc>
              <a:spcBef>
                <a:spcPts val="0"/>
              </a:spcBef>
              <a:spcAft>
                <a:spcPts val="2601"/>
              </a:spcAft>
              <a:buNone/>
            </a:pPr>
            <a:r>
              <a:rPr lang="en-US" sz="3902">
                <a:solidFill>
                  <a:srgbClr val="000000"/>
                </a:solidFill>
                <a:latin typeface="Playfair Display"/>
                <a:ea typeface="Playfair Display"/>
                <a:cs typeface="Playfair Display"/>
                <a:sym typeface="Playfair Display"/>
              </a:rPr>
              <a:t>La sintaxis de CSS sigue una estructura simple y clara para aplicar estilos a los elementos HTML. Se basa en reglas que incluyen un selector y una declaración.</a:t>
            </a:r>
            <a:endParaRPr sz="3902">
              <a:solidFill>
                <a:srgbClr val="000000"/>
              </a:solidFill>
              <a:latin typeface="Playfair Display"/>
              <a:ea typeface="Playfair Display"/>
              <a:cs typeface="Playfair Display"/>
              <a:sym typeface="Playfair Display"/>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g39ab6b3f0fb_0_130"/>
          <p:cNvSpPr txBox="1"/>
          <p:nvPr/>
        </p:nvSpPr>
        <p:spPr>
          <a:xfrm>
            <a:off x="1162282" y="897500"/>
            <a:ext cx="11303100" cy="1795200"/>
          </a:xfrm>
          <a:prstGeom prst="rect">
            <a:avLst/>
          </a:prstGeom>
          <a:noFill/>
          <a:ln>
            <a:noFill/>
          </a:ln>
        </p:spPr>
        <p:txBody>
          <a:bodyPr anchorCtr="0" anchor="t" bIns="217200" lIns="217200" spcFirstLastPara="1" rIns="217200" wrap="square" tIns="217200">
            <a:normAutofit/>
          </a:bodyPr>
          <a:lstStyle/>
          <a:p>
            <a:pPr indent="0" lvl="0" marL="0" rtl="0" algn="l">
              <a:spcBef>
                <a:spcPts val="0"/>
              </a:spcBef>
              <a:spcAft>
                <a:spcPts val="0"/>
              </a:spcAft>
              <a:buNone/>
            </a:pPr>
            <a:r>
              <a:rPr lang="en-US" sz="7127">
                <a:solidFill>
                  <a:srgbClr val="000000"/>
                </a:solidFill>
                <a:highlight>
                  <a:schemeClr val="lt1"/>
                </a:highlight>
                <a:latin typeface="Oswald"/>
                <a:ea typeface="Oswald"/>
                <a:cs typeface="Oswald"/>
                <a:sym typeface="Oswald"/>
              </a:rPr>
              <a:t>BOX MODEL</a:t>
            </a:r>
            <a:endParaRPr sz="7127">
              <a:solidFill>
                <a:srgbClr val="000000"/>
              </a:solidFill>
              <a:highlight>
                <a:schemeClr val="lt1"/>
              </a:highlight>
              <a:latin typeface="Oswald"/>
              <a:ea typeface="Oswald"/>
              <a:cs typeface="Oswald"/>
              <a:sym typeface="Oswald"/>
            </a:endParaRPr>
          </a:p>
        </p:txBody>
      </p:sp>
      <p:sp>
        <p:nvSpPr>
          <p:cNvPr id="252" name="Google Shape;252;g39ab6b3f0fb_0_130"/>
          <p:cNvSpPr txBox="1"/>
          <p:nvPr/>
        </p:nvSpPr>
        <p:spPr>
          <a:xfrm>
            <a:off x="1162275" y="2574384"/>
            <a:ext cx="15789600" cy="3512700"/>
          </a:xfrm>
          <a:prstGeom prst="rect">
            <a:avLst/>
          </a:prstGeom>
          <a:noFill/>
          <a:ln>
            <a:noFill/>
          </a:ln>
        </p:spPr>
        <p:txBody>
          <a:bodyPr anchorCtr="0" anchor="t" bIns="217200" lIns="217200" spcFirstLastPara="1" rIns="217200" wrap="square" tIns="217200">
            <a:normAutofit fontScale="85000" lnSpcReduction="10000"/>
          </a:bodyPr>
          <a:lstStyle/>
          <a:p>
            <a:pPr indent="0" lvl="0" marL="0" rtl="0" algn="just">
              <a:lnSpc>
                <a:spcPct val="115000"/>
              </a:lnSpc>
              <a:spcBef>
                <a:spcPts val="0"/>
              </a:spcBef>
              <a:spcAft>
                <a:spcPts val="2851"/>
              </a:spcAft>
              <a:buNone/>
            </a:pPr>
            <a:r>
              <a:rPr lang="en-US" sz="4276">
                <a:solidFill>
                  <a:srgbClr val="000000"/>
                </a:solidFill>
                <a:latin typeface="Playfair Display"/>
                <a:ea typeface="Playfair Display"/>
                <a:cs typeface="Playfair Display"/>
                <a:sym typeface="Playfair Display"/>
              </a:rPr>
              <a:t>El Modelo de Caja (Box Model) es un concepto fundamental en CSS que describe cómo se distribuye el espacio de un elemento en una página web. Cada elemento HTML puede ser considerado como una caja rectangular, y el modelo define cómo se gestionan sus componentes: contenido, relleno (padding), borde (border) y margen (margin).</a:t>
            </a:r>
            <a:endParaRPr sz="4276">
              <a:solidFill>
                <a:srgbClr val="000000"/>
              </a:solidFill>
              <a:latin typeface="Playfair Display"/>
              <a:ea typeface="Playfair Display"/>
              <a:cs typeface="Playfair Display"/>
              <a:sym typeface="Playfair Display"/>
            </a:endParaRPr>
          </a:p>
        </p:txBody>
      </p:sp>
      <p:sp>
        <p:nvSpPr>
          <p:cNvPr id="253" name="Google Shape;253;g39ab6b3f0fb_0_130"/>
          <p:cNvSpPr/>
          <p:nvPr/>
        </p:nvSpPr>
        <p:spPr>
          <a:xfrm>
            <a:off x="5784879" y="5850176"/>
            <a:ext cx="6953365" cy="3911268"/>
          </a:xfrm>
          <a:custGeom>
            <a:rect b="b" l="l" r="r" t="t"/>
            <a:pathLst>
              <a:path extrusionOk="0" h="3293699" w="5855465">
                <a:moveTo>
                  <a:pt x="0" y="0"/>
                </a:moveTo>
                <a:lnTo>
                  <a:pt x="5855464" y="0"/>
                </a:lnTo>
                <a:lnTo>
                  <a:pt x="5855464" y="3293699"/>
                </a:lnTo>
                <a:lnTo>
                  <a:pt x="0" y="3293699"/>
                </a:lnTo>
                <a:lnTo>
                  <a:pt x="0" y="0"/>
                </a:lnTo>
                <a:close/>
              </a:path>
            </a:pathLst>
          </a:custGeom>
          <a:blipFill rotWithShape="1">
            <a:blip r:embed="rId3">
              <a:alphaModFix/>
            </a:blip>
            <a:stretch>
              <a:fillRect b="0" l="0" r="0" t="0"/>
            </a:stretch>
          </a:blipFill>
          <a:ln>
            <a:noFill/>
          </a:ln>
        </p:spPr>
        <p:txBody>
          <a:bodyPr anchorCtr="0" anchor="t" bIns="108575" lIns="217200" spcFirstLastPara="1" rIns="217200" wrap="square" tIns="108575">
            <a:noAutofit/>
          </a:bodyPr>
          <a:lstStyle/>
          <a:p>
            <a:pPr indent="0" lvl="0" marL="0" marR="0" rtl="0" algn="l">
              <a:lnSpc>
                <a:spcPct val="100000"/>
              </a:lnSpc>
              <a:spcBef>
                <a:spcPts val="0"/>
              </a:spcBef>
              <a:spcAft>
                <a:spcPts val="0"/>
              </a:spcAft>
              <a:buNone/>
            </a:pPr>
            <a:r>
              <a:t/>
            </a:r>
            <a:endParaRPr b="0" i="0" sz="3326"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7"/>
          <p:cNvSpPr/>
          <p:nvPr/>
        </p:nvSpPr>
        <p:spPr>
          <a:xfrm>
            <a:off x="3493371" y="547445"/>
            <a:ext cx="11301259" cy="1553923"/>
          </a:xfrm>
          <a:custGeom>
            <a:rect b="b" l="l" r="r" t="t"/>
            <a:pathLst>
              <a:path extrusionOk="0" h="1553923" w="11301259">
                <a:moveTo>
                  <a:pt x="0" y="0"/>
                </a:moveTo>
                <a:lnTo>
                  <a:pt x="11301258" y="0"/>
                </a:lnTo>
                <a:lnTo>
                  <a:pt x="11301258" y="1553923"/>
                </a:lnTo>
                <a:lnTo>
                  <a:pt x="0" y="1553923"/>
                </a:lnTo>
                <a:lnTo>
                  <a:pt x="0" y="0"/>
                </a:lnTo>
                <a:close/>
              </a:path>
            </a:pathLst>
          </a:custGeom>
          <a:blipFill rotWithShape="1">
            <a:blip r:embed="rId3">
              <a:alphaModFix/>
            </a:blip>
            <a:stretch>
              <a:fillRect b="0" l="0" r="0" t="0"/>
            </a:stretch>
          </a:blipFill>
          <a:ln>
            <a:noFill/>
          </a:ln>
        </p:spPr>
      </p:sp>
      <p:sp>
        <p:nvSpPr>
          <p:cNvPr id="259" name="Google Shape;259;p7"/>
          <p:cNvSpPr/>
          <p:nvPr/>
        </p:nvSpPr>
        <p:spPr>
          <a:xfrm>
            <a:off x="1967873" y="2798489"/>
            <a:ext cx="14352253" cy="5956185"/>
          </a:xfrm>
          <a:custGeom>
            <a:rect b="b" l="l" r="r" t="t"/>
            <a:pathLst>
              <a:path extrusionOk="0" h="5956185" w="14352253">
                <a:moveTo>
                  <a:pt x="0" y="0"/>
                </a:moveTo>
                <a:lnTo>
                  <a:pt x="14352254" y="0"/>
                </a:lnTo>
                <a:lnTo>
                  <a:pt x="14352254" y="5956185"/>
                </a:lnTo>
                <a:lnTo>
                  <a:pt x="0" y="5956185"/>
                </a:lnTo>
                <a:lnTo>
                  <a:pt x="0" y="0"/>
                </a:lnTo>
                <a:close/>
              </a:path>
            </a:pathLst>
          </a:custGeom>
          <a:blipFill rotWithShape="1">
            <a:blip r:embed="rId4">
              <a:alphaModFix/>
            </a:blip>
            <a:stretch>
              <a:fillRect b="0" l="0" r="0" t="0"/>
            </a:stretch>
          </a:blipFill>
          <a:ln>
            <a:noFill/>
          </a:ln>
        </p:spPr>
      </p:sp>
      <p:sp>
        <p:nvSpPr>
          <p:cNvPr id="260" name="Google Shape;260;p7"/>
          <p:cNvSpPr txBox="1"/>
          <p:nvPr/>
        </p:nvSpPr>
        <p:spPr>
          <a:xfrm>
            <a:off x="2474691" y="3684440"/>
            <a:ext cx="13765800" cy="5561100"/>
          </a:xfrm>
          <a:prstGeom prst="rect">
            <a:avLst/>
          </a:prstGeom>
          <a:noFill/>
          <a:ln>
            <a:noFill/>
          </a:ln>
        </p:spPr>
        <p:txBody>
          <a:bodyPr anchorCtr="0" anchor="t" bIns="0" lIns="0" spcFirstLastPara="1" rIns="0" wrap="square" tIns="0">
            <a:spAutoFit/>
          </a:bodyPr>
          <a:lstStyle/>
          <a:p>
            <a:pPr indent="-406400" lvl="1" marL="914400" rtl="0" algn="just">
              <a:lnSpc>
                <a:spcPct val="168000"/>
              </a:lnSpc>
              <a:spcBef>
                <a:spcPts val="0"/>
              </a:spcBef>
              <a:spcAft>
                <a:spcPts val="0"/>
              </a:spcAft>
              <a:buClr>
                <a:srgbClr val="131416"/>
              </a:buClr>
              <a:buSzPts val="2800"/>
              <a:buFont typeface="Open Sans"/>
              <a:buChar char="•"/>
            </a:pPr>
            <a:r>
              <a:rPr lang="en-US" sz="2800">
                <a:solidFill>
                  <a:srgbClr val="131416"/>
                </a:solidFill>
                <a:latin typeface="Open Sans"/>
                <a:ea typeface="Open Sans"/>
                <a:cs typeface="Open Sans"/>
                <a:sym typeface="Open Sans"/>
              </a:rPr>
              <a:t>HTML estructura el contenido, CSS lo diseña.</a:t>
            </a:r>
            <a:endParaRPr sz="1900">
              <a:solidFill>
                <a:schemeClr val="dk1"/>
              </a:solidFill>
            </a:endParaRPr>
          </a:p>
          <a:p>
            <a:pPr indent="-406400" lvl="1" marL="914400" rtl="0" algn="just">
              <a:lnSpc>
                <a:spcPct val="168000"/>
              </a:lnSpc>
              <a:spcBef>
                <a:spcPts val="0"/>
              </a:spcBef>
              <a:spcAft>
                <a:spcPts val="0"/>
              </a:spcAft>
              <a:buClr>
                <a:srgbClr val="131416"/>
              </a:buClr>
              <a:buSzPts val="2800"/>
              <a:buFont typeface="Open Sans"/>
              <a:buChar char="•"/>
            </a:pPr>
            <a:r>
              <a:rPr lang="en-US" sz="2800">
                <a:solidFill>
                  <a:srgbClr val="131416"/>
                </a:solidFill>
                <a:latin typeface="Open Sans"/>
                <a:ea typeface="Open Sans"/>
                <a:cs typeface="Open Sans"/>
                <a:sym typeface="Open Sans"/>
              </a:rPr>
              <a:t>Los elementos HTML están formados por etiquetas de apertura y cierre</a:t>
            </a:r>
            <a:endParaRPr sz="2800">
              <a:solidFill>
                <a:srgbClr val="131416"/>
              </a:solidFill>
              <a:latin typeface="Open Sans"/>
              <a:ea typeface="Open Sans"/>
              <a:cs typeface="Open Sans"/>
              <a:sym typeface="Open Sans"/>
            </a:endParaRPr>
          </a:p>
          <a:p>
            <a:pPr indent="-406400" lvl="1" marL="914400" rtl="0" algn="just">
              <a:lnSpc>
                <a:spcPct val="168000"/>
              </a:lnSpc>
              <a:spcBef>
                <a:spcPts val="0"/>
              </a:spcBef>
              <a:spcAft>
                <a:spcPts val="0"/>
              </a:spcAft>
              <a:buClr>
                <a:srgbClr val="131416"/>
              </a:buClr>
              <a:buSzPts val="2800"/>
              <a:buFont typeface="Open Sans"/>
              <a:buChar char="•"/>
            </a:pPr>
            <a:r>
              <a:rPr lang="en-US" sz="2800">
                <a:solidFill>
                  <a:srgbClr val="131416"/>
                </a:solidFill>
                <a:latin typeface="Open Sans"/>
                <a:ea typeface="Open Sans"/>
                <a:cs typeface="Open Sans"/>
                <a:sym typeface="Open Sans"/>
              </a:rPr>
              <a:t>Los Estilos CSS permiten cambiar colores, tamaños y posiciones</a:t>
            </a:r>
            <a:endParaRPr sz="2800">
              <a:solidFill>
                <a:srgbClr val="131416"/>
              </a:solidFill>
              <a:latin typeface="Open Sans"/>
              <a:ea typeface="Open Sans"/>
              <a:cs typeface="Open Sans"/>
              <a:sym typeface="Open Sans"/>
            </a:endParaRPr>
          </a:p>
          <a:p>
            <a:pPr indent="-406400" lvl="1" marL="914400" rtl="0" algn="just">
              <a:lnSpc>
                <a:spcPct val="168000"/>
              </a:lnSpc>
              <a:spcBef>
                <a:spcPts val="0"/>
              </a:spcBef>
              <a:spcAft>
                <a:spcPts val="0"/>
              </a:spcAft>
              <a:buClr>
                <a:srgbClr val="131416"/>
              </a:buClr>
              <a:buSzPts val="2800"/>
              <a:buFont typeface="Open Sans"/>
              <a:buChar char="•"/>
            </a:pPr>
            <a:r>
              <a:rPr lang="en-US" sz="2800">
                <a:solidFill>
                  <a:srgbClr val="131416"/>
                </a:solidFill>
                <a:latin typeface="Open Sans"/>
                <a:ea typeface="Open Sans"/>
                <a:cs typeface="Open Sans"/>
                <a:sym typeface="Open Sans"/>
              </a:rPr>
              <a:t>Tablas se construyen con &lt;table&gt;, &lt;tr&gt;, &lt;td&gt;, y &lt;th&gt;</a:t>
            </a:r>
            <a:endParaRPr sz="2800">
              <a:solidFill>
                <a:srgbClr val="131416"/>
              </a:solidFill>
              <a:latin typeface="Open Sans"/>
              <a:ea typeface="Open Sans"/>
              <a:cs typeface="Open Sans"/>
              <a:sym typeface="Open Sans"/>
            </a:endParaRPr>
          </a:p>
          <a:p>
            <a:pPr indent="-406400" lvl="1" marL="914400" rtl="0" algn="just">
              <a:lnSpc>
                <a:spcPct val="168000"/>
              </a:lnSpc>
              <a:spcBef>
                <a:spcPts val="0"/>
              </a:spcBef>
              <a:spcAft>
                <a:spcPts val="0"/>
              </a:spcAft>
              <a:buClr>
                <a:srgbClr val="131416"/>
              </a:buClr>
              <a:buSzPts val="2800"/>
              <a:buFont typeface="Open Sans"/>
              <a:buChar char="•"/>
            </a:pPr>
            <a:r>
              <a:rPr lang="en-US" sz="2800">
                <a:solidFill>
                  <a:srgbClr val="131416"/>
                </a:solidFill>
                <a:latin typeface="Open Sans"/>
                <a:ea typeface="Open Sans"/>
                <a:cs typeface="Open Sans"/>
                <a:sym typeface="Open Sans"/>
              </a:rPr>
              <a:t>Listas pueden ser ordenadas &lt;ol&gt; o no ordenadas &lt;ul&gt;</a:t>
            </a:r>
            <a:endParaRPr sz="2800">
              <a:solidFill>
                <a:srgbClr val="131416"/>
              </a:solidFill>
              <a:latin typeface="Open Sans"/>
              <a:ea typeface="Open Sans"/>
              <a:cs typeface="Open Sans"/>
              <a:sym typeface="Open Sans"/>
            </a:endParaRPr>
          </a:p>
          <a:p>
            <a:pPr indent="-406400" lvl="1" marL="914400" rtl="0" algn="just">
              <a:lnSpc>
                <a:spcPct val="168000"/>
              </a:lnSpc>
              <a:spcBef>
                <a:spcPts val="0"/>
              </a:spcBef>
              <a:spcAft>
                <a:spcPts val="0"/>
              </a:spcAft>
              <a:buClr>
                <a:srgbClr val="131416"/>
              </a:buClr>
              <a:buSzPts val="2800"/>
              <a:buFont typeface="Open Sans"/>
              <a:buChar char="•"/>
            </a:pPr>
            <a:r>
              <a:rPr lang="en-US" sz="2800">
                <a:solidFill>
                  <a:srgbClr val="131416"/>
                </a:solidFill>
                <a:latin typeface="Open Sans"/>
                <a:ea typeface="Open Sans"/>
                <a:cs typeface="Open Sans"/>
                <a:sym typeface="Open Sans"/>
              </a:rPr>
              <a:t>Selectores CSS permiten aplicar estilos a elementos específicos (.clase, #id, elemento).</a:t>
            </a:r>
            <a:endParaRPr sz="4400">
              <a:latin typeface="Open Sans"/>
              <a:ea typeface="Open Sans"/>
              <a:cs typeface="Open Sans"/>
              <a:sym typeface="Open Sans"/>
            </a:endParaRPr>
          </a:p>
          <a:p>
            <a:pPr indent="0" lvl="0" marL="0" marR="0" rtl="0" algn="l">
              <a:lnSpc>
                <a:spcPct val="104968"/>
              </a:lnSpc>
              <a:spcBef>
                <a:spcPts val="0"/>
              </a:spcBef>
              <a:spcAft>
                <a:spcPts val="0"/>
              </a:spcAft>
              <a:buClr>
                <a:srgbClr val="000000"/>
              </a:buClr>
              <a:buSzPts val="3200"/>
              <a:buFont typeface="Arial"/>
              <a:buNone/>
            </a:pPr>
            <a:r>
              <a:t/>
            </a:r>
            <a:endParaRPr b="0" i="0" sz="3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9"/>
          <p:cNvSpPr/>
          <p:nvPr/>
        </p:nvSpPr>
        <p:spPr>
          <a:xfrm>
            <a:off x="2317017" y="520965"/>
            <a:ext cx="13653966" cy="1873953"/>
          </a:xfrm>
          <a:custGeom>
            <a:rect b="b" l="l" r="r" t="t"/>
            <a:pathLst>
              <a:path extrusionOk="0" h="1873953" w="13653966">
                <a:moveTo>
                  <a:pt x="0" y="0"/>
                </a:moveTo>
                <a:lnTo>
                  <a:pt x="13653966" y="0"/>
                </a:lnTo>
                <a:lnTo>
                  <a:pt x="13653966" y="1873953"/>
                </a:lnTo>
                <a:lnTo>
                  <a:pt x="0" y="1873953"/>
                </a:lnTo>
                <a:lnTo>
                  <a:pt x="0" y="0"/>
                </a:lnTo>
                <a:close/>
              </a:path>
            </a:pathLst>
          </a:custGeom>
          <a:blipFill rotWithShape="1">
            <a:blip r:embed="rId3">
              <a:alphaModFix/>
            </a:blip>
            <a:stretch>
              <a:fillRect b="0" l="0" r="0" t="0"/>
            </a:stretch>
          </a:blipFill>
          <a:ln>
            <a:noFill/>
          </a:ln>
        </p:spPr>
      </p:sp>
      <p:sp>
        <p:nvSpPr>
          <p:cNvPr id="266" name="Google Shape;266;p9"/>
          <p:cNvSpPr/>
          <p:nvPr/>
        </p:nvSpPr>
        <p:spPr>
          <a:xfrm>
            <a:off x="1989089" y="2422796"/>
            <a:ext cx="14309822" cy="6206885"/>
          </a:xfrm>
          <a:custGeom>
            <a:rect b="b" l="l" r="r" t="t"/>
            <a:pathLst>
              <a:path extrusionOk="0" h="6206885" w="14309822">
                <a:moveTo>
                  <a:pt x="0" y="0"/>
                </a:moveTo>
                <a:lnTo>
                  <a:pt x="14309822" y="0"/>
                </a:lnTo>
                <a:lnTo>
                  <a:pt x="14309822" y="6206885"/>
                </a:lnTo>
                <a:lnTo>
                  <a:pt x="0" y="6206885"/>
                </a:lnTo>
                <a:lnTo>
                  <a:pt x="0" y="0"/>
                </a:lnTo>
                <a:close/>
              </a:path>
            </a:pathLst>
          </a:custGeom>
          <a:blipFill rotWithShape="1">
            <a:blip r:embed="rId4">
              <a:alphaModFix/>
            </a:blip>
            <a:stretch>
              <a:fillRect b="0" l="0" r="0" t="0"/>
            </a:stretch>
          </a:blipFill>
          <a:ln>
            <a:noFill/>
          </a:ln>
        </p:spPr>
      </p:sp>
      <p:sp>
        <p:nvSpPr>
          <p:cNvPr id="267" name="Google Shape;267;p9"/>
          <p:cNvSpPr txBox="1"/>
          <p:nvPr/>
        </p:nvSpPr>
        <p:spPr>
          <a:xfrm>
            <a:off x="2781900" y="3440291"/>
            <a:ext cx="12236400" cy="5289600"/>
          </a:xfrm>
          <a:prstGeom prst="rect">
            <a:avLst/>
          </a:prstGeom>
          <a:noFill/>
          <a:ln>
            <a:noFill/>
          </a:ln>
        </p:spPr>
        <p:txBody>
          <a:bodyPr anchorCtr="0" anchor="t" bIns="0" lIns="0" spcFirstLastPara="1" rIns="0" wrap="square" tIns="0">
            <a:spAutoFit/>
          </a:bodyPr>
          <a:lstStyle/>
          <a:p>
            <a:pPr indent="-431800" lvl="0" marL="457200" rtl="0" algn="just">
              <a:lnSpc>
                <a:spcPct val="140019"/>
              </a:lnSpc>
              <a:spcBef>
                <a:spcPts val="0"/>
              </a:spcBef>
              <a:spcAft>
                <a:spcPts val="0"/>
              </a:spcAft>
              <a:buClr>
                <a:srgbClr val="131416"/>
              </a:buClr>
              <a:buSzPts val="3200"/>
              <a:buChar char="●"/>
            </a:pPr>
            <a:r>
              <a:rPr lang="en-US" sz="3200">
                <a:solidFill>
                  <a:srgbClr val="131416"/>
                </a:solidFill>
              </a:rPr>
              <a:t>HTML: Lenguaje de etiquetas de hipertexto. (s/f). MDN Web Docs. Recuperado el 21 de mayo de 2025, de https://developer.mozilla.org/es/docs/Web/HTML</a:t>
            </a:r>
            <a:endParaRPr sz="3200">
              <a:solidFill>
                <a:srgbClr val="131416"/>
              </a:solidFill>
            </a:endParaRPr>
          </a:p>
          <a:p>
            <a:pPr indent="-431800" lvl="0" marL="457200" rtl="0" algn="just">
              <a:lnSpc>
                <a:spcPct val="140019"/>
              </a:lnSpc>
              <a:spcBef>
                <a:spcPts val="0"/>
              </a:spcBef>
              <a:spcAft>
                <a:spcPts val="0"/>
              </a:spcAft>
              <a:buClr>
                <a:srgbClr val="131416"/>
              </a:buClr>
              <a:buSzPts val="3200"/>
              <a:buChar char="●"/>
            </a:pPr>
            <a:r>
              <a:rPr lang="en-US" sz="3200">
                <a:solidFill>
                  <a:srgbClr val="131416"/>
                </a:solidFill>
              </a:rPr>
              <a:t>Lenguaje HTML - HTML en español. (s/f). Lenguajehtml.com. Recuperado el 22 de mayo de 2025, de https://lenguajehtml.com/</a:t>
            </a:r>
            <a:endParaRPr sz="3200">
              <a:solidFill>
                <a:srgbClr val="131416"/>
              </a:solidFill>
            </a:endParaRPr>
          </a:p>
          <a:p>
            <a:pPr indent="-431800" lvl="0" marL="457200" rtl="0" algn="just">
              <a:lnSpc>
                <a:spcPct val="140019"/>
              </a:lnSpc>
              <a:spcBef>
                <a:spcPts val="0"/>
              </a:spcBef>
              <a:spcAft>
                <a:spcPts val="0"/>
              </a:spcAft>
              <a:buClr>
                <a:srgbClr val="131416"/>
              </a:buClr>
              <a:buSzPts val="3200"/>
              <a:buChar char="●"/>
            </a:pPr>
            <a:r>
              <a:rPr lang="en-US" sz="3200">
                <a:solidFill>
                  <a:srgbClr val="131416"/>
                </a:solidFill>
              </a:rPr>
              <a:t>CSS. (s/f). MDN Web Docs. Recuperado el 22 de mayo de 2025, de https://developer.mozilla.org/es/docs/Web/CSS</a:t>
            </a:r>
            <a:endParaRPr b="1" sz="3000">
              <a:latin typeface="Open Sans"/>
              <a:ea typeface="Open Sans"/>
              <a:cs typeface="Open Sans"/>
              <a:sym typeface="Open Sans"/>
            </a:endParaRPr>
          </a:p>
          <a:p>
            <a:pPr indent="0" lvl="0" marL="0" marR="0" rtl="0" algn="l">
              <a:lnSpc>
                <a:spcPct val="140000"/>
              </a:lnSpc>
              <a:spcBef>
                <a:spcPts val="0"/>
              </a:spcBef>
              <a:spcAft>
                <a:spcPts val="0"/>
              </a:spcAft>
              <a:buClr>
                <a:srgbClr val="000000"/>
              </a:buClr>
              <a:buSzPts val="1400"/>
              <a:buFont typeface="Arial"/>
              <a:buNone/>
            </a:pPr>
            <a:r>
              <a:t/>
            </a:r>
            <a:endParaRPr b="1" i="0" sz="30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0"/>
          <p:cNvSpPr/>
          <p:nvPr/>
        </p:nvSpPr>
        <p:spPr>
          <a:xfrm>
            <a:off x="0" y="0"/>
            <a:ext cx="18288000" cy="7292340"/>
          </a:xfrm>
          <a:custGeom>
            <a:rect b="b" l="l" r="r" t="t"/>
            <a:pathLst>
              <a:path extrusionOk="0" h="7292340" w="18288000">
                <a:moveTo>
                  <a:pt x="0" y="0"/>
                </a:moveTo>
                <a:lnTo>
                  <a:pt x="18288000" y="0"/>
                </a:lnTo>
                <a:lnTo>
                  <a:pt x="18288000" y="7292340"/>
                </a:lnTo>
                <a:lnTo>
                  <a:pt x="0" y="7292340"/>
                </a:lnTo>
                <a:lnTo>
                  <a:pt x="0" y="0"/>
                </a:lnTo>
                <a:close/>
              </a:path>
            </a:pathLst>
          </a:custGeom>
          <a:blipFill rotWithShape="1">
            <a:blip r:embed="rId3">
              <a:alphaModFix/>
            </a:blip>
            <a:stretch>
              <a:fillRect b="0" l="0" r="0" t="0"/>
            </a:stretch>
          </a:blipFill>
          <a:ln>
            <a:noFill/>
          </a:ln>
        </p:spPr>
      </p:sp>
      <p:grpSp>
        <p:nvGrpSpPr>
          <p:cNvPr id="273" name="Google Shape;273;p10"/>
          <p:cNvGrpSpPr/>
          <p:nvPr/>
        </p:nvGrpSpPr>
        <p:grpSpPr>
          <a:xfrm>
            <a:off x="15318704" y="7531093"/>
            <a:ext cx="2286000" cy="2307431"/>
            <a:chOff x="0" y="-28575"/>
            <a:chExt cx="3048000" cy="3076575"/>
          </a:xfrm>
        </p:grpSpPr>
        <p:sp>
          <p:nvSpPr>
            <p:cNvPr id="274" name="Google Shape;274;p10"/>
            <p:cNvSpPr/>
            <p:nvPr/>
          </p:nvSpPr>
          <p:spPr>
            <a:xfrm>
              <a:off x="0" y="0"/>
              <a:ext cx="3048000" cy="2946400"/>
            </a:xfrm>
            <a:custGeom>
              <a:rect b="b" l="l" r="r" t="t"/>
              <a:pathLst>
                <a:path extrusionOk="0" h="2946400" w="3048000">
                  <a:moveTo>
                    <a:pt x="0" y="0"/>
                  </a:moveTo>
                  <a:lnTo>
                    <a:pt x="3048000" y="0"/>
                  </a:lnTo>
                  <a:lnTo>
                    <a:pt x="3048000" y="2946400"/>
                  </a:lnTo>
                  <a:lnTo>
                    <a:pt x="0" y="2946400"/>
                  </a:lnTo>
                  <a:close/>
                </a:path>
              </a:pathLst>
            </a:custGeom>
            <a:solidFill>
              <a:srgbClr val="FF5757"/>
            </a:solidFill>
            <a:ln>
              <a:noFill/>
            </a:ln>
          </p:spPr>
        </p:sp>
        <p:sp>
          <p:nvSpPr>
            <p:cNvPr id="275" name="Google Shape;275;p10"/>
            <p:cNvSpPr/>
            <p:nvPr/>
          </p:nvSpPr>
          <p:spPr>
            <a:xfrm>
              <a:off x="0" y="0"/>
              <a:ext cx="3048000" cy="3048000"/>
            </a:xfrm>
            <a:custGeom>
              <a:rect b="b" l="l" r="r" t="t"/>
              <a:pathLst>
                <a:path extrusionOk="0" h="3048000" w="3048000">
                  <a:moveTo>
                    <a:pt x="0" y="2946400"/>
                  </a:moveTo>
                  <a:lnTo>
                    <a:pt x="3048000" y="2946400"/>
                  </a:lnTo>
                  <a:lnTo>
                    <a:pt x="2921000" y="3048000"/>
                  </a:lnTo>
                  <a:cubicBezTo>
                    <a:pt x="2921000" y="3048000"/>
                    <a:pt x="1930400" y="2971800"/>
                    <a:pt x="1828800" y="2971800"/>
                  </a:cubicBezTo>
                  <a:lnTo>
                    <a:pt x="1219200" y="2971800"/>
                  </a:lnTo>
                  <a:cubicBezTo>
                    <a:pt x="1117600" y="2971800"/>
                    <a:pt x="127000" y="3048000"/>
                    <a:pt x="127000" y="3048000"/>
                  </a:cubicBezTo>
                  <a:lnTo>
                    <a:pt x="0" y="2946400"/>
                  </a:lnTo>
                  <a:lnTo>
                    <a:pt x="0" y="0"/>
                  </a:lnTo>
                  <a:lnTo>
                    <a:pt x="3048000" y="0"/>
                  </a:lnTo>
                  <a:lnTo>
                    <a:pt x="3048000" y="2946400"/>
                  </a:lnTo>
                  <a:lnTo>
                    <a:pt x="12700" y="2946400"/>
                  </a:lnTo>
                  <a:lnTo>
                    <a:pt x="12700" y="2933700"/>
                  </a:lnTo>
                  <a:lnTo>
                    <a:pt x="3035300" y="2933700"/>
                  </a:lnTo>
                  <a:lnTo>
                    <a:pt x="3035300" y="12700"/>
                  </a:lnTo>
                  <a:lnTo>
                    <a:pt x="12700" y="12700"/>
                  </a:lnTo>
                  <a:lnTo>
                    <a:pt x="12700" y="2946400"/>
                  </a:lnTo>
                </a:path>
              </a:pathLst>
            </a:custGeom>
            <a:solidFill>
              <a:srgbClr val="394C60">
                <a:alpha val="78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10"/>
            <p:cNvSpPr txBox="1"/>
            <p:nvPr/>
          </p:nvSpPr>
          <p:spPr>
            <a:xfrm>
              <a:off x="0" y="-28575"/>
              <a:ext cx="3048000" cy="2517775"/>
            </a:xfrm>
            <a:prstGeom prst="rect">
              <a:avLst/>
            </a:prstGeom>
            <a:noFill/>
            <a:ln>
              <a:noFill/>
            </a:ln>
          </p:spPr>
          <p:txBody>
            <a:bodyPr anchorCtr="0" anchor="t" bIns="203200" lIns="203200" spcFirstLastPara="1" rIns="203200" wrap="square" tIns="203200">
              <a:noAutofit/>
            </a:bodyPr>
            <a:lstStyle/>
            <a:p>
              <a:pPr indent="0" lvl="0" marL="0" marR="0" rtl="0" algn="l">
                <a:lnSpc>
                  <a:spcPct val="140000"/>
                </a:lnSpc>
                <a:spcBef>
                  <a:spcPts val="0"/>
                </a:spcBef>
                <a:spcAft>
                  <a:spcPts val="0"/>
                </a:spcAft>
                <a:buClr>
                  <a:srgbClr val="000000"/>
                </a:buClr>
                <a:buSzPts val="1400"/>
                <a:buFont typeface="Arial"/>
                <a:buNone/>
              </a:pPr>
              <a:r>
                <a:rPr b="0" i="0" lang="en-US" sz="1400" u="none" cap="none" strike="noStrike">
                  <a:solidFill>
                    <a:srgbClr val="000000"/>
                  </a:solidFill>
                  <a:latin typeface="Open Sans"/>
                  <a:ea typeface="Open Sans"/>
                  <a:cs typeface="Open Sans"/>
                  <a:sym typeface="Open Sans"/>
                </a:rPr>
                <a:t>Crearas el ejemplo práctico que tu impartirás en la clase como refuerzo de la teoria dada. </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1"/>
          <p:cNvSpPr/>
          <p:nvPr/>
        </p:nvSpPr>
        <p:spPr>
          <a:xfrm>
            <a:off x="0" y="0"/>
            <a:ext cx="18288000" cy="6217920"/>
          </a:xfrm>
          <a:custGeom>
            <a:rect b="b" l="l" r="r" t="t"/>
            <a:pathLst>
              <a:path extrusionOk="0" h="6217920" w="18288000">
                <a:moveTo>
                  <a:pt x="0" y="0"/>
                </a:moveTo>
                <a:lnTo>
                  <a:pt x="18288000" y="0"/>
                </a:lnTo>
                <a:lnTo>
                  <a:pt x="18288000" y="6217920"/>
                </a:lnTo>
                <a:lnTo>
                  <a:pt x="0" y="6217920"/>
                </a:lnTo>
                <a:lnTo>
                  <a:pt x="0" y="0"/>
                </a:lnTo>
                <a:close/>
              </a:path>
            </a:pathLst>
          </a:custGeom>
          <a:blipFill rotWithShape="1">
            <a:blip r:embed="rId3">
              <a:alphaModFix/>
            </a:blip>
            <a:stretch>
              <a:fillRect b="0" l="0" r="0" t="0"/>
            </a:stretch>
          </a:blipFill>
          <a:ln>
            <a:noFill/>
          </a:ln>
        </p:spPr>
      </p:sp>
      <p:grpSp>
        <p:nvGrpSpPr>
          <p:cNvPr id="282" name="Google Shape;282;p11"/>
          <p:cNvGrpSpPr/>
          <p:nvPr/>
        </p:nvGrpSpPr>
        <p:grpSpPr>
          <a:xfrm>
            <a:off x="14677737" y="6943540"/>
            <a:ext cx="2286000" cy="2521890"/>
            <a:chOff x="0" y="-28575"/>
            <a:chExt cx="3048000" cy="3362520"/>
          </a:xfrm>
        </p:grpSpPr>
        <p:sp>
          <p:nvSpPr>
            <p:cNvPr id="283" name="Google Shape;283;p11"/>
            <p:cNvSpPr/>
            <p:nvPr/>
          </p:nvSpPr>
          <p:spPr>
            <a:xfrm>
              <a:off x="0" y="0"/>
              <a:ext cx="3048000" cy="3232345"/>
            </a:xfrm>
            <a:custGeom>
              <a:rect b="b" l="l" r="r" t="t"/>
              <a:pathLst>
                <a:path extrusionOk="0" h="3232345" w="3048000">
                  <a:moveTo>
                    <a:pt x="0" y="0"/>
                  </a:moveTo>
                  <a:lnTo>
                    <a:pt x="3048000" y="0"/>
                  </a:lnTo>
                  <a:lnTo>
                    <a:pt x="3048000" y="3232345"/>
                  </a:lnTo>
                  <a:lnTo>
                    <a:pt x="0" y="3232345"/>
                  </a:lnTo>
                  <a:close/>
                </a:path>
              </a:pathLst>
            </a:custGeom>
            <a:solidFill>
              <a:srgbClr val="FF5757"/>
            </a:solidFill>
            <a:ln>
              <a:noFill/>
            </a:ln>
          </p:spPr>
        </p:sp>
        <p:sp>
          <p:nvSpPr>
            <p:cNvPr id="284" name="Google Shape;284;p11"/>
            <p:cNvSpPr/>
            <p:nvPr/>
          </p:nvSpPr>
          <p:spPr>
            <a:xfrm>
              <a:off x="0" y="0"/>
              <a:ext cx="3048000" cy="3333945"/>
            </a:xfrm>
            <a:custGeom>
              <a:rect b="b" l="l" r="r" t="t"/>
              <a:pathLst>
                <a:path extrusionOk="0" h="3333945" w="3048000">
                  <a:moveTo>
                    <a:pt x="0" y="3232345"/>
                  </a:moveTo>
                  <a:lnTo>
                    <a:pt x="3048000" y="3232345"/>
                  </a:lnTo>
                  <a:lnTo>
                    <a:pt x="2921000" y="3333945"/>
                  </a:lnTo>
                  <a:cubicBezTo>
                    <a:pt x="2921000" y="3333945"/>
                    <a:pt x="1930400" y="3257745"/>
                    <a:pt x="1828800" y="3257745"/>
                  </a:cubicBezTo>
                  <a:lnTo>
                    <a:pt x="1219200" y="3257745"/>
                  </a:lnTo>
                  <a:cubicBezTo>
                    <a:pt x="1117600" y="3257745"/>
                    <a:pt x="127000" y="3333945"/>
                    <a:pt x="127000" y="3333945"/>
                  </a:cubicBezTo>
                  <a:lnTo>
                    <a:pt x="0" y="3232345"/>
                  </a:lnTo>
                  <a:lnTo>
                    <a:pt x="0" y="0"/>
                  </a:lnTo>
                  <a:lnTo>
                    <a:pt x="3048000" y="0"/>
                  </a:lnTo>
                  <a:lnTo>
                    <a:pt x="3048000" y="3232345"/>
                  </a:lnTo>
                  <a:lnTo>
                    <a:pt x="12700" y="3232345"/>
                  </a:lnTo>
                  <a:lnTo>
                    <a:pt x="12700" y="3219645"/>
                  </a:lnTo>
                  <a:lnTo>
                    <a:pt x="3035300" y="3219645"/>
                  </a:lnTo>
                  <a:lnTo>
                    <a:pt x="3035300" y="12700"/>
                  </a:lnTo>
                  <a:lnTo>
                    <a:pt x="12700" y="12700"/>
                  </a:lnTo>
                  <a:lnTo>
                    <a:pt x="12700" y="3232345"/>
                  </a:lnTo>
                </a:path>
              </a:pathLst>
            </a:custGeom>
            <a:solidFill>
              <a:srgbClr val="394C60">
                <a:alpha val="78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11"/>
            <p:cNvSpPr txBox="1"/>
            <p:nvPr/>
          </p:nvSpPr>
          <p:spPr>
            <a:xfrm>
              <a:off x="0" y="-28575"/>
              <a:ext cx="3048000" cy="2803720"/>
            </a:xfrm>
            <a:prstGeom prst="rect">
              <a:avLst/>
            </a:prstGeom>
            <a:noFill/>
            <a:ln>
              <a:noFill/>
            </a:ln>
          </p:spPr>
          <p:txBody>
            <a:bodyPr anchorCtr="0" anchor="t" bIns="203200" lIns="203200" spcFirstLastPara="1" rIns="203200" wrap="square" tIns="203200">
              <a:noAutofit/>
            </a:bodyPr>
            <a:lstStyle/>
            <a:p>
              <a:pPr indent="0" lvl="0" marL="0" marR="0" rtl="0" algn="l">
                <a:lnSpc>
                  <a:spcPct val="140000"/>
                </a:lnSpc>
                <a:spcBef>
                  <a:spcPts val="0"/>
                </a:spcBef>
                <a:spcAft>
                  <a:spcPts val="0"/>
                </a:spcAft>
                <a:buClr>
                  <a:srgbClr val="000000"/>
                </a:buClr>
                <a:buSzPts val="1400"/>
                <a:buFont typeface="Arial"/>
                <a:buNone/>
              </a:pPr>
              <a:r>
                <a:rPr b="0" i="0" lang="en-US" sz="1400" u="none" cap="none" strike="noStrike">
                  <a:solidFill>
                    <a:srgbClr val="000000"/>
                  </a:solidFill>
                  <a:latin typeface="Open Sans"/>
                  <a:ea typeface="Open Sans"/>
                  <a:cs typeface="Open Sans"/>
                  <a:sym typeface="Open Sans"/>
                </a:rPr>
                <a:t>Crearas la actividad donde los alumnos practicarán por sí solos los conocimientos abordados en esta sesión.</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12"/>
          <p:cNvSpPr/>
          <p:nvPr/>
        </p:nvSpPr>
        <p:spPr>
          <a:xfrm>
            <a:off x="0" y="0"/>
            <a:ext cx="18288000" cy="10264140"/>
          </a:xfrm>
          <a:custGeom>
            <a:rect b="b" l="l" r="r" t="t"/>
            <a:pathLst>
              <a:path extrusionOk="0" h="10264140" w="18288000">
                <a:moveTo>
                  <a:pt x="0" y="0"/>
                </a:moveTo>
                <a:lnTo>
                  <a:pt x="18288000" y="0"/>
                </a:lnTo>
                <a:lnTo>
                  <a:pt x="18288000" y="10264140"/>
                </a:lnTo>
                <a:lnTo>
                  <a:pt x="0" y="10264140"/>
                </a:lnTo>
                <a:lnTo>
                  <a:pt x="0" y="0"/>
                </a:lnTo>
                <a:close/>
              </a:path>
            </a:pathLst>
          </a:custGeom>
          <a:blipFill rotWithShape="1">
            <a:blip r:embed="rId3">
              <a:alphaModFix/>
            </a:blip>
            <a:stretch>
              <a:fillRect b="0" l="0" r="0" t="0"/>
            </a:stretch>
          </a:blipFill>
          <a:ln>
            <a:noFill/>
          </a:ln>
        </p:spPr>
      </p:sp>
      <p:sp>
        <p:nvSpPr>
          <p:cNvPr id="291" name="Google Shape;291;p12"/>
          <p:cNvSpPr txBox="1"/>
          <p:nvPr/>
        </p:nvSpPr>
        <p:spPr>
          <a:xfrm>
            <a:off x="5655069" y="1667078"/>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292" name="Google Shape;292;p12"/>
          <p:cNvSpPr txBox="1"/>
          <p:nvPr/>
        </p:nvSpPr>
        <p:spPr>
          <a:xfrm>
            <a:off x="5655069" y="246044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293" name="Google Shape;293;p12"/>
          <p:cNvSpPr txBox="1"/>
          <p:nvPr/>
        </p:nvSpPr>
        <p:spPr>
          <a:xfrm>
            <a:off x="5655069" y="3475309"/>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294" name="Google Shape;294;p12"/>
          <p:cNvSpPr txBox="1"/>
          <p:nvPr/>
        </p:nvSpPr>
        <p:spPr>
          <a:xfrm>
            <a:off x="13953088" y="2091258"/>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295" name="Google Shape;295;p12"/>
          <p:cNvSpPr txBox="1"/>
          <p:nvPr/>
        </p:nvSpPr>
        <p:spPr>
          <a:xfrm>
            <a:off x="13953088" y="288462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296" name="Google Shape;296;p12"/>
          <p:cNvSpPr txBox="1"/>
          <p:nvPr/>
        </p:nvSpPr>
        <p:spPr>
          <a:xfrm>
            <a:off x="13953088" y="368028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297" name="Google Shape;297;p12"/>
          <p:cNvSpPr txBox="1"/>
          <p:nvPr/>
        </p:nvSpPr>
        <p:spPr>
          <a:xfrm>
            <a:off x="277231" y="508635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298" name="Google Shape;298;p12"/>
          <p:cNvSpPr txBox="1"/>
          <p:nvPr/>
        </p:nvSpPr>
        <p:spPr>
          <a:xfrm>
            <a:off x="277231" y="585301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299" name="Google Shape;299;p12"/>
          <p:cNvSpPr txBox="1"/>
          <p:nvPr/>
        </p:nvSpPr>
        <p:spPr>
          <a:xfrm>
            <a:off x="277231" y="662009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00" name="Google Shape;300;p12"/>
          <p:cNvSpPr txBox="1"/>
          <p:nvPr/>
        </p:nvSpPr>
        <p:spPr>
          <a:xfrm>
            <a:off x="277231" y="760040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01" name="Google Shape;301;p12"/>
          <p:cNvSpPr txBox="1"/>
          <p:nvPr/>
        </p:nvSpPr>
        <p:spPr>
          <a:xfrm>
            <a:off x="277231" y="836748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02" name="Google Shape;302;p12"/>
          <p:cNvSpPr txBox="1"/>
          <p:nvPr/>
        </p:nvSpPr>
        <p:spPr>
          <a:xfrm>
            <a:off x="277231" y="920115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03" name="Google Shape;303;p12"/>
          <p:cNvSpPr txBox="1"/>
          <p:nvPr/>
        </p:nvSpPr>
        <p:spPr>
          <a:xfrm>
            <a:off x="6406538" y="507492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04" name="Google Shape;304;p12"/>
          <p:cNvSpPr txBox="1"/>
          <p:nvPr/>
        </p:nvSpPr>
        <p:spPr>
          <a:xfrm>
            <a:off x="6406538" y="585301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05" name="Google Shape;305;p12"/>
          <p:cNvSpPr txBox="1"/>
          <p:nvPr/>
        </p:nvSpPr>
        <p:spPr>
          <a:xfrm>
            <a:off x="6406538" y="664866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06" name="Google Shape;306;p12"/>
          <p:cNvSpPr txBox="1"/>
          <p:nvPr/>
        </p:nvSpPr>
        <p:spPr>
          <a:xfrm>
            <a:off x="6406538" y="744432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07" name="Google Shape;307;p12"/>
          <p:cNvSpPr txBox="1"/>
          <p:nvPr/>
        </p:nvSpPr>
        <p:spPr>
          <a:xfrm>
            <a:off x="6406538" y="836748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08" name="Google Shape;308;p12"/>
          <p:cNvSpPr txBox="1"/>
          <p:nvPr/>
        </p:nvSpPr>
        <p:spPr>
          <a:xfrm>
            <a:off x="6406538" y="920115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09" name="Google Shape;309;p12"/>
          <p:cNvSpPr txBox="1"/>
          <p:nvPr/>
        </p:nvSpPr>
        <p:spPr>
          <a:xfrm>
            <a:off x="12538626" y="507492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10" name="Google Shape;310;p12"/>
          <p:cNvSpPr txBox="1"/>
          <p:nvPr/>
        </p:nvSpPr>
        <p:spPr>
          <a:xfrm>
            <a:off x="12538626" y="585301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11" name="Google Shape;311;p12"/>
          <p:cNvSpPr txBox="1"/>
          <p:nvPr/>
        </p:nvSpPr>
        <p:spPr>
          <a:xfrm>
            <a:off x="12538626" y="664866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12" name="Google Shape;312;p12"/>
          <p:cNvSpPr txBox="1"/>
          <p:nvPr/>
        </p:nvSpPr>
        <p:spPr>
          <a:xfrm>
            <a:off x="12538626" y="744432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13" name="Google Shape;313;p12"/>
          <p:cNvSpPr txBox="1"/>
          <p:nvPr/>
        </p:nvSpPr>
        <p:spPr>
          <a:xfrm>
            <a:off x="12538626" y="836748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14" name="Google Shape;314;p12"/>
          <p:cNvSpPr txBox="1"/>
          <p:nvPr/>
        </p:nvSpPr>
        <p:spPr>
          <a:xfrm>
            <a:off x="12538626" y="916314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13"/>
          <p:cNvSpPr/>
          <p:nvPr/>
        </p:nvSpPr>
        <p:spPr>
          <a:xfrm>
            <a:off x="3493371" y="-591537"/>
            <a:ext cx="11301259" cy="5113820"/>
          </a:xfrm>
          <a:custGeom>
            <a:rect b="b" l="l" r="r" t="t"/>
            <a:pathLst>
              <a:path extrusionOk="0" h="5113820" w="11301259">
                <a:moveTo>
                  <a:pt x="0" y="0"/>
                </a:moveTo>
                <a:lnTo>
                  <a:pt x="11301258" y="0"/>
                </a:lnTo>
                <a:lnTo>
                  <a:pt x="11301258" y="5113820"/>
                </a:lnTo>
                <a:lnTo>
                  <a:pt x="0" y="5113820"/>
                </a:lnTo>
                <a:lnTo>
                  <a:pt x="0" y="0"/>
                </a:lnTo>
                <a:close/>
              </a:path>
            </a:pathLst>
          </a:custGeom>
          <a:blipFill rotWithShape="1">
            <a:blip r:embed="rId3">
              <a:alphaModFix/>
            </a:blip>
            <a:stretch>
              <a:fillRect b="0" l="0" r="0" t="0"/>
            </a:stretch>
          </a:blipFill>
          <a:ln>
            <a:noFill/>
          </a:ln>
        </p:spPr>
      </p:sp>
      <p:sp>
        <p:nvSpPr>
          <p:cNvPr id="320" name="Google Shape;320;p13"/>
          <p:cNvSpPr/>
          <p:nvPr/>
        </p:nvSpPr>
        <p:spPr>
          <a:xfrm>
            <a:off x="2197698" y="3492869"/>
            <a:ext cx="13892604" cy="5765431"/>
          </a:xfrm>
          <a:custGeom>
            <a:rect b="b" l="l" r="r" t="t"/>
            <a:pathLst>
              <a:path extrusionOk="0" h="5765431" w="13892604">
                <a:moveTo>
                  <a:pt x="0" y="0"/>
                </a:moveTo>
                <a:lnTo>
                  <a:pt x="13892604" y="0"/>
                </a:lnTo>
                <a:lnTo>
                  <a:pt x="13892604" y="5765431"/>
                </a:lnTo>
                <a:lnTo>
                  <a:pt x="0" y="5765431"/>
                </a:lnTo>
                <a:lnTo>
                  <a:pt x="0" y="0"/>
                </a:lnTo>
                <a:close/>
              </a:path>
            </a:pathLst>
          </a:custGeom>
          <a:blipFill rotWithShape="1">
            <a:blip r:embed="rId4">
              <a:alphaModFix/>
            </a:blip>
            <a:stretch>
              <a:fillRect b="0" l="0" r="0" t="0"/>
            </a:stretch>
          </a:blipFill>
          <a:ln>
            <a:noFill/>
          </a:ln>
        </p:spPr>
      </p:sp>
      <p:sp>
        <p:nvSpPr>
          <p:cNvPr id="321" name="Google Shape;321;p13"/>
          <p:cNvSpPr txBox="1"/>
          <p:nvPr/>
        </p:nvSpPr>
        <p:spPr>
          <a:xfrm>
            <a:off x="2580394" y="4461626"/>
            <a:ext cx="13127212" cy="3453130"/>
          </a:xfrm>
          <a:prstGeom prst="rect">
            <a:avLst/>
          </a:prstGeom>
          <a:noFill/>
          <a:ln>
            <a:noFill/>
          </a:ln>
        </p:spPr>
        <p:txBody>
          <a:bodyPr anchorCtr="0" anchor="t" bIns="0" lIns="0" spcFirstLastPara="1" rIns="0" wrap="square" tIns="0">
            <a:spAutoFit/>
          </a:bodyPr>
          <a:lstStyle/>
          <a:p>
            <a:pPr indent="-302260" lvl="1" marL="604519" marR="0" rtl="0" algn="l">
              <a:lnSpc>
                <a:spcPct val="140014"/>
              </a:lnSpc>
              <a:spcBef>
                <a:spcPts val="0"/>
              </a:spcBef>
              <a:spcAft>
                <a:spcPts val="0"/>
              </a:spcAft>
              <a:buClr>
                <a:srgbClr val="000000"/>
              </a:buClr>
              <a:buSzPts val="2799"/>
              <a:buFont typeface="Arial"/>
              <a:buChar char="•"/>
            </a:pPr>
            <a:r>
              <a:rPr b="0" i="0" lang="en-US" sz="2799" u="none" cap="none" strike="noStrike">
                <a:solidFill>
                  <a:srgbClr val="000000"/>
                </a:solidFill>
                <a:latin typeface="Open Sans"/>
                <a:ea typeface="Open Sans"/>
                <a:cs typeface="Open Sans"/>
                <a:sym typeface="Open Sans"/>
              </a:rPr>
              <a:t>Colocaras todos los recordatorios como lo sean, cortos, entregas, horarios de calificación. Colocaras, link de video, etc.</a:t>
            </a:r>
            <a:endParaRPr b="0" i="0" sz="1400" u="none" cap="none" strike="noStrike">
              <a:solidFill>
                <a:srgbClr val="000000"/>
              </a:solidFill>
              <a:latin typeface="Arial"/>
              <a:ea typeface="Arial"/>
              <a:cs typeface="Arial"/>
              <a:sym typeface="Arial"/>
            </a:endParaRPr>
          </a:p>
          <a:p>
            <a:pPr indent="0" lvl="0" marL="0" marR="0" rtl="0" algn="l">
              <a:lnSpc>
                <a:spcPct val="140014"/>
              </a:lnSpc>
              <a:spcBef>
                <a:spcPts val="0"/>
              </a:spcBef>
              <a:spcAft>
                <a:spcPts val="0"/>
              </a:spcAft>
              <a:buClr>
                <a:srgbClr val="000000"/>
              </a:buClr>
              <a:buSzPts val="2799"/>
              <a:buFont typeface="Arial"/>
              <a:buNone/>
            </a:pPr>
            <a:r>
              <a:t/>
            </a:r>
            <a:endParaRPr b="0" i="0" sz="2799" u="none" cap="none" strike="noStrike">
              <a:solidFill>
                <a:srgbClr val="000000"/>
              </a:solidFill>
              <a:latin typeface="Open Sans"/>
              <a:ea typeface="Open Sans"/>
              <a:cs typeface="Open Sans"/>
              <a:sym typeface="Open Sans"/>
            </a:endParaRPr>
          </a:p>
          <a:p>
            <a:pPr indent="-302260" lvl="1" marL="604519" marR="0" rtl="0" algn="l">
              <a:lnSpc>
                <a:spcPct val="140014"/>
              </a:lnSpc>
              <a:spcBef>
                <a:spcPts val="0"/>
              </a:spcBef>
              <a:spcAft>
                <a:spcPts val="0"/>
              </a:spcAft>
              <a:buClr>
                <a:srgbClr val="000000"/>
              </a:buClr>
              <a:buSzPts val="2799"/>
              <a:buFont typeface="Arial"/>
              <a:buChar char="•"/>
            </a:pPr>
            <a:r>
              <a:rPr b="0" i="0" lang="en-US" sz="2799" u="none" cap="none" strike="noStrike">
                <a:solidFill>
                  <a:srgbClr val="000000"/>
                </a:solidFill>
                <a:latin typeface="Open Sans"/>
                <a:ea typeface="Open Sans"/>
                <a:cs typeface="Open Sans"/>
                <a:sym typeface="Open Sans"/>
              </a:rPr>
              <a:t>Link del Video</a:t>
            </a:r>
            <a:endParaRPr b="0" i="0" sz="1400" u="none" cap="none" strike="noStrike">
              <a:solidFill>
                <a:srgbClr val="000000"/>
              </a:solidFill>
              <a:latin typeface="Arial"/>
              <a:ea typeface="Arial"/>
              <a:cs typeface="Arial"/>
              <a:sym typeface="Arial"/>
            </a:endParaRPr>
          </a:p>
          <a:p>
            <a:pPr indent="0" lvl="0" marL="0" marR="0" rtl="0" algn="l">
              <a:lnSpc>
                <a:spcPct val="140014"/>
              </a:lnSpc>
              <a:spcBef>
                <a:spcPts val="0"/>
              </a:spcBef>
              <a:spcAft>
                <a:spcPts val="0"/>
              </a:spcAft>
              <a:buClr>
                <a:srgbClr val="000000"/>
              </a:buClr>
              <a:buSzPts val="2799"/>
              <a:buFont typeface="Arial"/>
              <a:buNone/>
            </a:pPr>
            <a:r>
              <a:t/>
            </a:r>
            <a:endParaRPr b="0" i="0" sz="2799" u="none" cap="none" strike="noStrike">
              <a:solidFill>
                <a:srgbClr val="000000"/>
              </a:solidFill>
              <a:latin typeface="Open Sans"/>
              <a:ea typeface="Open Sans"/>
              <a:cs typeface="Open Sans"/>
              <a:sym typeface="Open Sans"/>
            </a:endParaRPr>
          </a:p>
          <a:p>
            <a:pPr indent="-302260" lvl="1" marL="604519" marR="0" rtl="0" algn="l">
              <a:lnSpc>
                <a:spcPct val="140014"/>
              </a:lnSpc>
              <a:spcBef>
                <a:spcPts val="0"/>
              </a:spcBef>
              <a:spcAft>
                <a:spcPts val="0"/>
              </a:spcAft>
              <a:buClr>
                <a:srgbClr val="000000"/>
              </a:buClr>
              <a:buSzPts val="2799"/>
              <a:buFont typeface="Arial"/>
              <a:buChar char="•"/>
            </a:pPr>
            <a:r>
              <a:rPr b="0" i="0" lang="en-US" sz="2799" u="none" cap="none" strike="noStrike">
                <a:solidFill>
                  <a:srgbClr val="000000"/>
                </a:solidFill>
                <a:latin typeface="Open Sans"/>
                <a:ea typeface="Open Sans"/>
                <a:cs typeface="Open Sans"/>
                <a:sym typeface="Open Sans"/>
              </a:rPr>
              <a:t>Link de Quizziz</a:t>
            </a:r>
            <a:endParaRPr b="0" i="0" sz="1400" u="none" cap="none" strike="noStrike">
              <a:solidFill>
                <a:srgbClr val="000000"/>
              </a:solidFill>
              <a:latin typeface="Arial"/>
              <a:ea typeface="Arial"/>
              <a:cs typeface="Arial"/>
              <a:sym typeface="Arial"/>
            </a:endParaRPr>
          </a:p>
          <a:p>
            <a:pPr indent="0" lvl="0" marL="0" marR="0" rtl="0" algn="ctr">
              <a:lnSpc>
                <a:spcPct val="140014"/>
              </a:lnSpc>
              <a:spcBef>
                <a:spcPts val="0"/>
              </a:spcBef>
              <a:spcAft>
                <a:spcPts val="0"/>
              </a:spcAft>
              <a:buClr>
                <a:srgbClr val="000000"/>
              </a:buClr>
              <a:buSzPts val="2799"/>
              <a:buFont typeface="Arial"/>
              <a:buNone/>
            </a:pPr>
            <a:r>
              <a:t/>
            </a:r>
            <a:endParaRPr b="0" i="0" sz="2799" u="none" cap="none" strike="noStrike">
              <a:solidFill>
                <a:srgbClr val="000000"/>
              </a:solidFill>
              <a:latin typeface="Open Sans"/>
              <a:ea typeface="Open Sans"/>
              <a:cs typeface="Open Sans"/>
              <a:sym typeface="Open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14"/>
          <p:cNvSpPr/>
          <p:nvPr/>
        </p:nvSpPr>
        <p:spPr>
          <a:xfrm>
            <a:off x="3861682" y="595298"/>
            <a:ext cx="10564636" cy="8663002"/>
          </a:xfrm>
          <a:custGeom>
            <a:rect b="b" l="l" r="r" t="t"/>
            <a:pathLst>
              <a:path extrusionOk="0" h="8663002" w="10564636">
                <a:moveTo>
                  <a:pt x="0" y="0"/>
                </a:moveTo>
                <a:lnTo>
                  <a:pt x="10564636" y="0"/>
                </a:lnTo>
                <a:lnTo>
                  <a:pt x="10564636" y="8663002"/>
                </a:lnTo>
                <a:lnTo>
                  <a:pt x="0" y="866300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5"/>
          <p:cNvSpPr/>
          <p:nvPr/>
        </p:nvSpPr>
        <p:spPr>
          <a:xfrm>
            <a:off x="814445" y="0"/>
            <a:ext cx="16659109" cy="10287000"/>
          </a:xfrm>
          <a:custGeom>
            <a:rect b="b" l="l" r="r" t="t"/>
            <a:pathLst>
              <a:path extrusionOk="0" h="10287000" w="16659109">
                <a:moveTo>
                  <a:pt x="0" y="0"/>
                </a:moveTo>
                <a:lnTo>
                  <a:pt x="16659110" y="0"/>
                </a:lnTo>
                <a:lnTo>
                  <a:pt x="16659110" y="10287000"/>
                </a:lnTo>
                <a:lnTo>
                  <a:pt x="0" y="10287000"/>
                </a:lnTo>
                <a:lnTo>
                  <a:pt x="0" y="0"/>
                </a:lnTo>
                <a:close/>
              </a:path>
            </a:pathLst>
          </a:custGeom>
          <a:blipFill rotWithShape="1">
            <a:blip r:embed="rId3">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