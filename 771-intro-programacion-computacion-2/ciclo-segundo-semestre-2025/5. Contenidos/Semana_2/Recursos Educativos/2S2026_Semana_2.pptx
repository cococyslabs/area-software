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46"/>
  </p:notesMasterIdLst>
  <p:sldIdLst>
    <p:sldId id="306" r:id="rId3"/>
    <p:sldId id="256" r:id="rId4"/>
    <p:sldId id="257" r:id="rId5"/>
    <p:sldId id="258" r:id="rId6"/>
    <p:sldId id="259" r:id="rId7"/>
    <p:sldId id="260" r:id="rId8"/>
    <p:sldId id="261" r:id="rId9"/>
    <p:sldId id="304" r:id="rId10"/>
    <p:sldId id="305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4" r:id="rId27"/>
    <p:sldId id="307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301" r:id="rId37"/>
    <p:sldId id="300" r:id="rId38"/>
    <p:sldId id="302" r:id="rId39"/>
    <p:sldId id="303" r:id="rId40"/>
    <p:sldId id="293" r:id="rId41"/>
    <p:sldId id="294" r:id="rId42"/>
    <p:sldId id="297" r:id="rId43"/>
    <p:sldId id="298" r:id="rId44"/>
    <p:sldId id="299" r:id="rId45"/>
  </p:sldIdLst>
  <p:sldSz cx="9144000" cy="5143500" type="screen16x9"/>
  <p:notesSz cx="6858000" cy="9144000"/>
  <p:embeddedFontLst>
    <p:embeddedFont>
      <p:font typeface="DM Sans" pitchFamily="2" charset="0"/>
      <p:regular r:id="rId47"/>
      <p:bold r:id="rId48"/>
      <p:italic r:id="rId49"/>
      <p:boldItalic r:id="rId50"/>
    </p:embeddedFont>
    <p:embeddedFont>
      <p:font typeface="DM Sans Light" panose="020B0604020202020204" charset="0"/>
      <p:regular r:id="rId51"/>
      <p:bold r:id="rId52"/>
      <p:italic r:id="rId53"/>
      <p:boldItalic r:id="rId54"/>
    </p:embeddedFont>
    <p:embeddedFont>
      <p:font typeface="Impact" panose="020B0806030902050204" pitchFamily="34" charset="0"/>
      <p:regular r:id="rId55"/>
    </p:embeddedFont>
    <p:embeddedFont>
      <p:font typeface="Lobster" panose="00000500000000000000" pitchFamily="2" charset="0"/>
      <p:regular r:id="rId56"/>
    </p:embeddedFont>
    <p:embeddedFont>
      <p:font typeface="Open Sans" panose="020B0606030504020204" pitchFamily="34" charset="0"/>
      <p:regular r:id="rId57"/>
      <p:bold r:id="rId58"/>
      <p:italic r:id="rId59"/>
      <p:boldItalic r:id="rId60"/>
    </p:embeddedFont>
    <p:embeddedFont>
      <p:font typeface="Pacifico" panose="00000500000000000000" pitchFamily="2" charset="0"/>
      <p:regular r:id="rId61"/>
    </p:embeddedFont>
    <p:embeddedFont>
      <p:font typeface="Sansita" panose="020B060402020202020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-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font" Target="fonts/font1.fntdata"/><Relationship Id="rId63" Type="http://schemas.openxmlformats.org/officeDocument/2006/relationships/font" Target="fonts/font17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font" Target="fonts/font15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font" Target="fonts/font4.fntdata"/><Relationship Id="rId55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2EF4917C-586E-3DBB-D3D5-7D59B9E79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>
            <a:extLst>
              <a:ext uri="{FF2B5EF4-FFF2-40B4-BE49-F238E27FC236}">
                <a16:creationId xmlns:a16="http://schemas.microsoft.com/office/drawing/2014/main" id="{6D6BDEA2-ACA0-E525-5D5E-C530863FA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6:notes">
            <a:extLst>
              <a:ext uri="{FF2B5EF4-FFF2-40B4-BE49-F238E27FC236}">
                <a16:creationId xmlns:a16="http://schemas.microsoft.com/office/drawing/2014/main" id="{2B7E1268-2CED-DBDF-33A7-A883D1DC0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6629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>
          <a:extLst>
            <a:ext uri="{FF2B5EF4-FFF2-40B4-BE49-F238E27FC236}">
              <a16:creationId xmlns:a16="http://schemas.microsoft.com/office/drawing/2014/main" id="{C619F1FE-C841-75B0-9702-32AA8BFD4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>
            <a:extLst>
              <a:ext uri="{FF2B5EF4-FFF2-40B4-BE49-F238E27FC236}">
                <a16:creationId xmlns:a16="http://schemas.microsoft.com/office/drawing/2014/main" id="{82E1AC61-9B86-80A3-371F-85DBFF421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p6:notes">
            <a:extLst>
              <a:ext uri="{FF2B5EF4-FFF2-40B4-BE49-F238E27FC236}">
                <a16:creationId xmlns:a16="http://schemas.microsoft.com/office/drawing/2014/main" id="{0FC85AB0-094A-527E-0DB2-D0131CF3EB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907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51" name="Google Shape;3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3" name="Google Shape;3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3" name="Google Shape;3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9" name="Google Shape;4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9" name="Google Shape;4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9" name="Google Shape;4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8" name="Google Shape;47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8" name="Google Shape;48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5" name="Google Shape;5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1" name="Google Shape;52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4" name="Google Shape;53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3" name="Google Shape;56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5" name="Google Shape;5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8" name="Google Shape;5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0" name="Google Shape;6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>
          <a:extLst>
            <a:ext uri="{FF2B5EF4-FFF2-40B4-BE49-F238E27FC236}">
              <a16:creationId xmlns:a16="http://schemas.microsoft.com/office/drawing/2014/main" id="{D0686AAF-CB2C-97E7-16E3-349EB980C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>
            <a:extLst>
              <a:ext uri="{FF2B5EF4-FFF2-40B4-BE49-F238E27FC236}">
                <a16:creationId xmlns:a16="http://schemas.microsoft.com/office/drawing/2014/main" id="{6057F062-C70E-8FDA-674A-B136511ABA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0" name="Google Shape;600;p29:notes">
            <a:extLst>
              <a:ext uri="{FF2B5EF4-FFF2-40B4-BE49-F238E27FC236}">
                <a16:creationId xmlns:a16="http://schemas.microsoft.com/office/drawing/2014/main" id="{E30643BB-B76A-B6CE-41E7-6488B2A79A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85965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9" name="Google Shape;61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3" name="Google Shape;6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2" name="Google Shape;6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2" name="Google Shape;68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3" name="Google Shape;70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8" name="Google Shape;73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63" name="Google Shape;76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E037FCC7-9767-4449-9D51-8CF9A4BAC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7:notes">
            <a:extLst>
              <a:ext uri="{FF2B5EF4-FFF2-40B4-BE49-F238E27FC236}">
                <a16:creationId xmlns:a16="http://schemas.microsoft.com/office/drawing/2014/main" id="{175AF1C9-8F60-CD15-E3B8-8F4F65B534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37:notes">
            <a:extLst>
              <a:ext uri="{FF2B5EF4-FFF2-40B4-BE49-F238E27FC236}">
                <a16:creationId xmlns:a16="http://schemas.microsoft.com/office/drawing/2014/main" id="{34F712D9-DD9C-A677-2900-AAB80935E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52792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54E5D45E-BDA2-A1DD-175B-11B99978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7:notes">
            <a:extLst>
              <a:ext uri="{FF2B5EF4-FFF2-40B4-BE49-F238E27FC236}">
                <a16:creationId xmlns:a16="http://schemas.microsoft.com/office/drawing/2014/main" id="{16F7E28D-C469-54BD-C18E-D14AC6D8E1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37:notes">
            <a:extLst>
              <a:ext uri="{FF2B5EF4-FFF2-40B4-BE49-F238E27FC236}">
                <a16:creationId xmlns:a16="http://schemas.microsoft.com/office/drawing/2014/main" id="{6A8A6633-9E6A-8334-148E-175A53DA0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2349003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EDA625B8-4A8C-6315-D31B-739CECB11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7:notes">
            <a:extLst>
              <a:ext uri="{FF2B5EF4-FFF2-40B4-BE49-F238E27FC236}">
                <a16:creationId xmlns:a16="http://schemas.microsoft.com/office/drawing/2014/main" id="{0B6DC5FD-F4CE-394A-AB91-5FF283F90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37:notes">
            <a:extLst>
              <a:ext uri="{FF2B5EF4-FFF2-40B4-BE49-F238E27FC236}">
                <a16:creationId xmlns:a16="http://schemas.microsoft.com/office/drawing/2014/main" id="{10092BAD-95B8-8B60-4288-8E4D0A97F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504540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>
          <a:extLst>
            <a:ext uri="{FF2B5EF4-FFF2-40B4-BE49-F238E27FC236}">
              <a16:creationId xmlns:a16="http://schemas.microsoft.com/office/drawing/2014/main" id="{7E08A31F-7214-6D66-2B90-D8C12182F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7:notes">
            <a:extLst>
              <a:ext uri="{FF2B5EF4-FFF2-40B4-BE49-F238E27FC236}">
                <a16:creationId xmlns:a16="http://schemas.microsoft.com/office/drawing/2014/main" id="{B6806A7D-2C90-FECD-EA00-E70C6B0D5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3" name="Google Shape;793;p37:notes">
            <a:extLst>
              <a:ext uri="{FF2B5EF4-FFF2-40B4-BE49-F238E27FC236}">
                <a16:creationId xmlns:a16="http://schemas.microsoft.com/office/drawing/2014/main" id="{26B2E55D-45A8-F6AD-8A50-72D5896583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204842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37" name="Google Shape;83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6" name="Google Shape;85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9" name="Google Shape;91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8" name="Google Shape;93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8" name="Google Shape;95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10" y="-125809"/>
            <a:ext cx="2262981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1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yvEULTmq4WY" TargetMode="Externa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hyperlink" Target="https://dotnet.microsoft.com/en-us/download/dotnet/10.0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5" Type="http://schemas.openxmlformats.org/officeDocument/2006/relationships/image" Target="../media/image2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24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5.png"/><Relationship Id="rId10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3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31.jpeg"/><Relationship Id="rId5" Type="http://schemas.openxmlformats.org/officeDocument/2006/relationships/image" Target="../media/image6.png"/><Relationship Id="rId10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code.visualstudio.com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hyperlink" Target="https://code.visualstudio.com/docs/setup/windows" TargetMode="External"/><Relationship Id="rId5" Type="http://schemas.openxmlformats.org/officeDocument/2006/relationships/image" Target="../media/image8.png"/><Relationship Id="rId10" Type="http://schemas.openxmlformats.org/officeDocument/2006/relationships/image" Target="../media/image36.png"/><Relationship Id="rId4" Type="http://schemas.openxmlformats.org/officeDocument/2006/relationships/image" Target="../media/image28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38.png"/><Relationship Id="rId5" Type="http://schemas.openxmlformats.org/officeDocument/2006/relationships/image" Target="../media/image7.png"/><Relationship Id="rId10" Type="http://schemas.openxmlformats.org/officeDocument/2006/relationships/image" Target="../media/image24.gif"/><Relationship Id="rId4" Type="http://schemas.openxmlformats.org/officeDocument/2006/relationships/image" Target="../media/image5.png"/><Relationship Id="rId9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hyperlink" Target="https://www.jetbrains.com/rider/" TargetMode="Externa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hyperlink" Target="https://account.jetbrains.com/logi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hyperlink" Target="https://www.jetbrains.com/shop/eform/students" TargetMode="External"/><Relationship Id="rId5" Type="http://schemas.openxmlformats.org/officeDocument/2006/relationships/image" Target="../media/image7.png"/><Relationship Id="rId10" Type="http://schemas.openxmlformats.org/officeDocument/2006/relationships/hyperlink" Target="https://www.jetbrains.com/community/education/#students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image" Target="../media/image39.png"/><Relationship Id="rId4" Type="http://schemas.openxmlformats.org/officeDocument/2006/relationships/image" Target="../media/image5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image" Target="../media/image48.png"/><Relationship Id="rId5" Type="http://schemas.openxmlformats.org/officeDocument/2006/relationships/image" Target="../media/image7.png"/><Relationship Id="rId10" Type="http://schemas.openxmlformats.org/officeDocument/2006/relationships/image" Target="../media/image47.png"/><Relationship Id="rId4" Type="http://schemas.openxmlformats.org/officeDocument/2006/relationships/image" Target="../media/image5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jpeg"/><Relationship Id="rId5" Type="http://schemas.openxmlformats.org/officeDocument/2006/relationships/hyperlink" Target="https://visualstudio.microsoft.com/downloads/" TargetMode="Externa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55.jpe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18" Type="http://schemas.openxmlformats.org/officeDocument/2006/relationships/image" Target="../media/image5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61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6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9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18" Type="http://schemas.openxmlformats.org/officeDocument/2006/relationships/hyperlink" Target="https://www.youtube.com/watch?v=67oWw9TanOk&amp;list=PL82C6-O4XrHfoN_Y4MwGvJz5BntiL0z0D&amp;pp=0gcJCbYEOCosWNin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63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18" Type="http://schemas.openxmlformats.org/officeDocument/2006/relationships/hyperlink" Target="https://www.geeksforgeeks.org/c-sharp/csharp-programming-language/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hyperlink" Target="https://learn.microsoft.com/es-es/dotnet/csharp/" TargetMode="External"/><Relationship Id="rId2" Type="http://schemas.openxmlformats.org/officeDocument/2006/relationships/notesSlide" Target="../notesSlides/notesSlide4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hyperlink" Target="https://www.tutorialspoint.com/csharp/csharp_basic_syntax.htm" TargetMode="External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43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28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2" y="1"/>
            <a:ext cx="9127099" cy="5143501"/>
          </a:xfrm>
          <a:prstGeom prst="rect">
            <a:avLst/>
          </a:prstGeom>
          <a:solidFill>
            <a:srgbClr val="ECECEC"/>
          </a:solidFill>
          <a:ln w="88900" cap="sq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graphicFrame>
        <p:nvGraphicFramePr>
          <p:cNvPr id="56" name="Google Shape;56;p1"/>
          <p:cNvGraphicFramePr/>
          <p:nvPr>
            <p:extLst>
              <p:ext uri="{D42A27DB-BD31-4B8C-83A1-F6EECF244321}">
                <p14:modId xmlns:p14="http://schemas.microsoft.com/office/powerpoint/2010/main" val="3894946319"/>
              </p:ext>
            </p:extLst>
          </p:nvPr>
        </p:nvGraphicFramePr>
        <p:xfrm>
          <a:off x="5328201" y="970025"/>
          <a:ext cx="3690575" cy="9143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s-419" sz="1400" b="1" u="none" strike="noStrike" cap="none">
                          <a:solidFill>
                            <a:schemeClr val="bg2"/>
                          </a:solidFill>
                        </a:rPr>
                        <a:t>Día, Fecha:</a:t>
                      </a:r>
                      <a:endParaRPr sz="1400" b="1" u="none" strike="noStrike" cap="none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3600"/>
                        <a:buFont typeface="Calibri"/>
                        <a:buNone/>
                      </a:pPr>
                      <a:r>
                        <a:rPr lang="es-419" sz="1800" u="none" strike="noStrike" cap="none" dirty="0">
                          <a:solidFill>
                            <a:schemeClr val="bg2"/>
                          </a:solidFill>
                        </a:rPr>
                        <a:t>Martes, 27/01/2026</a:t>
                      </a:r>
                      <a:endParaRPr sz="1800" u="none" strike="noStrike" cap="none"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s-419" sz="1400" b="1" u="none" strike="noStrike" cap="none">
                          <a:solidFill>
                            <a:schemeClr val="bg2"/>
                          </a:solidFill>
                        </a:rPr>
                        <a:t>Hora de inicio:</a:t>
                      </a:r>
                      <a:endParaRPr sz="1400" b="1" u="none" strike="noStrike" cap="none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3600"/>
                        <a:buFont typeface="Calibri"/>
                        <a:buNone/>
                      </a:pPr>
                      <a:r>
                        <a:rPr lang="es-419" sz="1800" u="none" strike="noStrike" cap="none" dirty="0">
                          <a:solidFill>
                            <a:schemeClr val="bg2"/>
                          </a:solidFill>
                        </a:rPr>
                        <a:t>17:20 – 19:00</a:t>
                      </a:r>
                      <a:endParaRPr sz="1800" u="none" strike="noStrike" cap="none" dirty="0">
                        <a:solidFill>
                          <a:schemeClr val="bg2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7" name="Google Shape;57;p1"/>
          <p:cNvSpPr txBox="1"/>
          <p:nvPr/>
        </p:nvSpPr>
        <p:spPr>
          <a:xfrm>
            <a:off x="1243801" y="2301842"/>
            <a:ext cx="7774975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500" dirty="0"/>
              <a:t>Introducción a la programación y computación 2 [B]</a:t>
            </a:r>
            <a:endParaRPr sz="2500" dirty="0"/>
          </a:p>
        </p:txBody>
      </p:sp>
      <p:sp>
        <p:nvSpPr>
          <p:cNvPr id="58" name="Google Shape;58;p1"/>
          <p:cNvSpPr txBox="1"/>
          <p:nvPr/>
        </p:nvSpPr>
        <p:spPr>
          <a:xfrm>
            <a:off x="2857500" y="2952750"/>
            <a:ext cx="55866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s-419" sz="2000"/>
              <a:t>Diego Andres Huite Alvarez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-5400000">
            <a:off x="203740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56" t="-3627" r="-74134" b="-2737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30" name="Google Shape;130;p25"/>
          <p:cNvSpPr/>
          <p:nvPr/>
        </p:nvSpPr>
        <p:spPr>
          <a:xfrm>
            <a:off x="6270654" y="0"/>
            <a:ext cx="2873346" cy="855890"/>
          </a:xfrm>
          <a:custGeom>
            <a:avLst/>
            <a:gdLst/>
            <a:ahLst/>
            <a:cxnLst/>
            <a:rect l="l" t="t" r="r" b="b"/>
            <a:pathLst>
              <a:path w="5746691" h="1711780" extrusionOk="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31" name="Google Shape;131;p25"/>
          <p:cNvSpPr txBox="1"/>
          <p:nvPr/>
        </p:nvSpPr>
        <p:spPr>
          <a:xfrm>
            <a:off x="531651" y="3497125"/>
            <a:ext cx="7890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2</a:t>
            </a:r>
            <a:endParaRPr sz="25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1343700" y="1957825"/>
            <a:ext cx="7078200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s" sz="4600" b="1" i="0" u="none" strike="noStrike" cap="none" dirty="0">
                <a:solidFill>
                  <a:srgbClr val="131416"/>
                </a:solidFill>
                <a:latin typeface="DM Sans"/>
                <a:ea typeface="DM Sans"/>
                <a:cs typeface="DM Sans"/>
                <a:sym typeface="DM Sans"/>
              </a:rPr>
              <a:t>Introducción a C#</a:t>
            </a:r>
            <a:endParaRPr sz="7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578051" y="3945551"/>
            <a:ext cx="3490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sz="12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656500" y="4193863"/>
            <a:ext cx="3333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sz="1200" b="1" i="0" u="none" strike="noStrike" cap="non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656500" y="4490102"/>
            <a:ext cx="4057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0" u="none" strike="noStrike" cap="non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-1313224" y="450899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37" name="Google Shape;137;p25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38" name="Google Shape;138;p25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39" name="Google Shape;139;p25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40" name="Google Shape;140;p25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41" name="Google Shape;141;p25"/>
          <p:cNvSpPr/>
          <p:nvPr/>
        </p:nvSpPr>
        <p:spPr>
          <a:xfrm rot="4741666">
            <a:off x="-1480973" y="1832278"/>
            <a:ext cx="2443761" cy="1365451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42" name="Google Shape;142;p25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43" name="Google Shape;143;p25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44" name="Google Shape;144;p25"/>
          <p:cNvSpPr/>
          <p:nvPr/>
        </p:nvSpPr>
        <p:spPr>
          <a:xfrm>
            <a:off x="1387400" y="469051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45" name="Google Shape;145;p25"/>
          <p:cNvSpPr/>
          <p:nvPr/>
        </p:nvSpPr>
        <p:spPr>
          <a:xfrm rot="-5279728">
            <a:off x="8220571" y="3485016"/>
            <a:ext cx="1692529" cy="577575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 rot="-5400000">
            <a:off x="203740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56" t="-3627" r="-74134" b="-2737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51" name="Google Shape;151;p26"/>
          <p:cNvSpPr/>
          <p:nvPr/>
        </p:nvSpPr>
        <p:spPr>
          <a:xfrm>
            <a:off x="473963" y="2865525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52" name="Google Shape;152;p26"/>
          <p:cNvSpPr/>
          <p:nvPr/>
        </p:nvSpPr>
        <p:spPr>
          <a:xfrm>
            <a:off x="325877" y="1714868"/>
            <a:ext cx="376946" cy="436464"/>
          </a:xfrm>
          <a:custGeom>
            <a:avLst/>
            <a:gdLst/>
            <a:ahLst/>
            <a:cxnLst/>
            <a:rect l="l" t="t" r="r" b="b"/>
            <a:pathLst>
              <a:path w="753892" h="872928" extrusionOk="0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53" name="Google Shape;153;p26"/>
          <p:cNvSpPr txBox="1"/>
          <p:nvPr/>
        </p:nvSpPr>
        <p:spPr>
          <a:xfrm>
            <a:off x="325875" y="245525"/>
            <a:ext cx="38553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s" sz="75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sz="700" b="0" i="0" u="none" strike="noStrike" cap="non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933495" y="1506994"/>
            <a:ext cx="1840689" cy="777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5052995" y="195384"/>
            <a:ext cx="42084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lang="es" sz="7500" b="0" i="0" u="none" strike="noStrike" cap="non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sz="700" b="0" i="0" u="none" strike="noStrike" cap="non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796983" y="3761204"/>
            <a:ext cx="28725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Básica con C#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/>
          <p:nvPr/>
        </p:nvSpPr>
        <p:spPr>
          <a:xfrm>
            <a:off x="473963" y="3306944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58" name="Google Shape;158;p26"/>
          <p:cNvSpPr/>
          <p:nvPr/>
        </p:nvSpPr>
        <p:spPr>
          <a:xfrm>
            <a:off x="473963" y="3797731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59" name="Google Shape;159;p26"/>
          <p:cNvSpPr/>
          <p:nvPr/>
        </p:nvSpPr>
        <p:spPr>
          <a:xfrm>
            <a:off x="473963" y="4297622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60" name="Google Shape;160;p26"/>
          <p:cNvSpPr txBox="1"/>
          <p:nvPr/>
        </p:nvSpPr>
        <p:spPr>
          <a:xfrm>
            <a:off x="796989" y="2825442"/>
            <a:ext cx="14985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es C#?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796985" y="3293329"/>
            <a:ext cx="20703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Instalación de C#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26"/>
          <p:cNvGrpSpPr/>
          <p:nvPr/>
        </p:nvGrpSpPr>
        <p:grpSpPr>
          <a:xfrm>
            <a:off x="5557375" y="1532637"/>
            <a:ext cx="2676771" cy="533914"/>
            <a:chOff x="5557375" y="1532637"/>
            <a:chExt cx="2676771" cy="533914"/>
          </a:xfrm>
        </p:grpSpPr>
        <p:sp>
          <p:nvSpPr>
            <p:cNvPr id="163" name="Google Shape;163;p26"/>
            <p:cNvSpPr/>
            <p:nvPr/>
          </p:nvSpPr>
          <p:spPr>
            <a:xfrm>
              <a:off x="5557375" y="1532637"/>
              <a:ext cx="2676771" cy="533914"/>
            </a:xfrm>
            <a:custGeom>
              <a:avLst/>
              <a:gdLst/>
              <a:ahLst/>
              <a:cxnLst/>
              <a:rect l="l" t="t" r="r" b="b"/>
              <a:pathLst>
                <a:path w="1410014" h="333738" extrusionOk="0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164" name="Google Shape;164;p26"/>
            <p:cNvSpPr txBox="1"/>
            <p:nvPr/>
          </p:nvSpPr>
          <p:spPr>
            <a:xfrm>
              <a:off x="5663450" y="1599488"/>
              <a:ext cx="1714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 sz="1400" b="0" i="0" u="sng" strike="noStrike" cap="none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  <a:hlinkClick r:id="rId6"/>
                </a:rPr>
                <a:t>LINK DEL VIDEO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" name="Google Shape;165;p26"/>
          <p:cNvSpPr txBox="1"/>
          <p:nvPr/>
        </p:nvSpPr>
        <p:spPr>
          <a:xfrm>
            <a:off x="796982" y="4265604"/>
            <a:ext cx="33330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/>
              <a:t>Ejemplo Práctico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60;p26">
            <a:extLst>
              <a:ext uri="{FF2B5EF4-FFF2-40B4-BE49-F238E27FC236}">
                <a16:creationId xmlns:a16="http://schemas.microsoft.com/office/drawing/2014/main" id="{35E363BB-F89A-9941-4EF2-398A3E2AAE99}"/>
              </a:ext>
            </a:extLst>
          </p:cNvPr>
          <p:cNvSpPr txBox="1"/>
          <p:nvPr/>
        </p:nvSpPr>
        <p:spPr>
          <a:xfrm>
            <a:off x="824085" y="2284958"/>
            <a:ext cx="1498500" cy="4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0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dirty="0"/>
              <a:t>Asignaci</a:t>
            </a:r>
            <a:r>
              <a:rPr lang="es-419" dirty="0" err="1"/>
              <a:t>ón</a:t>
            </a:r>
            <a:r>
              <a:rPr lang="es-419" dirty="0"/>
              <a:t> DTT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51;p26">
            <a:extLst>
              <a:ext uri="{FF2B5EF4-FFF2-40B4-BE49-F238E27FC236}">
                <a16:creationId xmlns:a16="http://schemas.microsoft.com/office/drawing/2014/main" id="{4182A350-A9E4-0AE5-A5F9-F3A39EC3C60A}"/>
              </a:ext>
            </a:extLst>
          </p:cNvPr>
          <p:cNvSpPr/>
          <p:nvPr/>
        </p:nvSpPr>
        <p:spPr>
          <a:xfrm>
            <a:off x="473962" y="2374738"/>
            <a:ext cx="226679" cy="275047"/>
          </a:xfrm>
          <a:custGeom>
            <a:avLst/>
            <a:gdLst/>
            <a:ahLst/>
            <a:cxnLst/>
            <a:rect l="l" t="t" r="r" b="b"/>
            <a:pathLst>
              <a:path w="453358" h="550094" extrusionOk="0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 rot="-5400000">
            <a:off x="203740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56" t="-3627" r="-74134" b="-2737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71" name="Google Shape;171;p27"/>
          <p:cNvSpPr txBox="1"/>
          <p:nvPr/>
        </p:nvSpPr>
        <p:spPr>
          <a:xfrm>
            <a:off x="687445" y="327182"/>
            <a:ext cx="699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sz="7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1198701" y="1425625"/>
            <a:ext cx="6898200" cy="224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s" sz="2600" b="0" i="0" u="none" strike="noStrike" cap="none" dirty="0">
                <a:solidFill>
                  <a:srgbClr val="131416"/>
                </a:solidFill>
                <a:latin typeface="DM Sans Light"/>
                <a:ea typeface="DM Sans Light"/>
                <a:cs typeface="DM Sans Light"/>
                <a:sym typeface="DM Sans Light"/>
              </a:rPr>
              <a:t>Aplica estructuras de control y funciones mediante programación básica en C#. para desarrollar algoritmos que resuelvan problemas.</a:t>
            </a:r>
            <a:endParaRPr sz="700" b="0" i="0" u="none" strike="noStrike" cap="none" dirty="0">
              <a:solidFill>
                <a:srgbClr val="000000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3" name="Google Shape;173;p27"/>
          <p:cNvSpPr/>
          <p:nvPr/>
        </p:nvSpPr>
        <p:spPr>
          <a:xfrm>
            <a:off x="-711820" y="3833899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74" name="Google Shape;174;p27"/>
          <p:cNvSpPr/>
          <p:nvPr/>
        </p:nvSpPr>
        <p:spPr>
          <a:xfrm>
            <a:off x="7706278" y="381954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75" name="Google Shape;175;p27"/>
          <p:cNvSpPr/>
          <p:nvPr/>
        </p:nvSpPr>
        <p:spPr>
          <a:xfrm>
            <a:off x="5625587" y="416758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76" name="Google Shape;176;p27"/>
          <p:cNvSpPr/>
          <p:nvPr/>
        </p:nvSpPr>
        <p:spPr>
          <a:xfrm>
            <a:off x="1540941" y="402315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/>
          <p:nvPr/>
        </p:nvSpPr>
        <p:spPr>
          <a:xfrm rot="-5400000">
            <a:off x="203740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56" t="-3627" r="-74134" b="-2737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82" name="Google Shape;182;p28"/>
          <p:cNvSpPr/>
          <p:nvPr/>
        </p:nvSpPr>
        <p:spPr>
          <a:xfrm>
            <a:off x="6124066" y="1344948"/>
            <a:ext cx="2703257" cy="2744423"/>
          </a:xfrm>
          <a:custGeom>
            <a:avLst/>
            <a:gdLst/>
            <a:ahLst/>
            <a:cxnLst/>
            <a:rect l="l" t="t" r="r" b="b"/>
            <a:pathLst>
              <a:path w="5406514" h="5488846" extrusionOk="0">
                <a:moveTo>
                  <a:pt x="0" y="0"/>
                </a:moveTo>
                <a:lnTo>
                  <a:pt x="5406514" y="0"/>
                </a:lnTo>
                <a:lnTo>
                  <a:pt x="5406514" y="5488846"/>
                </a:lnTo>
                <a:lnTo>
                  <a:pt x="0" y="54888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83" name="Google Shape;183;p28"/>
          <p:cNvSpPr txBox="1"/>
          <p:nvPr/>
        </p:nvSpPr>
        <p:spPr>
          <a:xfrm>
            <a:off x="340326" y="822025"/>
            <a:ext cx="4934100" cy="6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¿Qué es C#?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340331" y="2084700"/>
            <a:ext cx="5172644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ES" sz="1000" dirty="0"/>
              <a:t>C# es un lenguaje de programación moderno, compilado y fuertemente tipado, desarrollado por Microsoft como parte de la plataforma .NET. Está diseñado para ser seguro, eficiente y productivo, combinando características de la programación orientada a objetos, estructurada y funcional.</a:t>
            </a:r>
          </a:p>
          <a:p>
            <a:r>
              <a:rPr lang="es-ES" sz="1000" dirty="0"/>
              <a:t>C# incluye manejo automático de memoria mediante un recolector de basura, soporte para excepciones, tipado estático con inferencia de tipos, asincronía mediante </a:t>
            </a:r>
            <a:r>
              <a:rPr lang="es-ES" sz="1000" dirty="0" err="1"/>
              <a:t>async</a:t>
            </a:r>
            <a:r>
              <a:rPr lang="es-ES" sz="1000" dirty="0"/>
              <a:t> y </a:t>
            </a:r>
            <a:r>
              <a:rPr lang="es-ES" sz="1000" dirty="0" err="1"/>
              <a:t>await</a:t>
            </a:r>
            <a:r>
              <a:rPr lang="es-ES" sz="1000" dirty="0"/>
              <a:t>, y una biblioteca estándar muy extensa. Es utilizado para crear aplicaciones de consola, aplicaciones de escritorio, aplicaciones web con ASP.NET, </a:t>
            </a:r>
            <a:r>
              <a:rPr lang="es-ES" sz="1000" dirty="0" err="1"/>
              <a:t>APIs</a:t>
            </a:r>
            <a:r>
              <a:rPr lang="es-ES" sz="1000" dirty="0"/>
              <a:t>, videojuegos con Unity y aplicaciones móviles multiplataforma. Puede ejecutarse en Windows, Linux y macOS gracias a .NET.</a:t>
            </a:r>
          </a:p>
        </p:txBody>
      </p:sp>
      <p:sp>
        <p:nvSpPr>
          <p:cNvPr id="186" name="Google Shape;186;p28"/>
          <p:cNvSpPr/>
          <p:nvPr/>
        </p:nvSpPr>
        <p:spPr>
          <a:xfrm>
            <a:off x="-253503" y="-570406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87" name="Google Shape;187;p28"/>
          <p:cNvSpPr/>
          <p:nvPr/>
        </p:nvSpPr>
        <p:spPr>
          <a:xfrm rot="-5400000">
            <a:off x="2456461" y="-847678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88" name="Google Shape;188;p28"/>
          <p:cNvSpPr/>
          <p:nvPr/>
        </p:nvSpPr>
        <p:spPr>
          <a:xfrm>
            <a:off x="6927716" y="4121110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94" name="Google Shape;194;p29"/>
          <p:cNvSpPr/>
          <p:nvPr/>
        </p:nvSpPr>
        <p:spPr>
          <a:xfrm>
            <a:off x="-786620" y="4446649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95" name="Google Shape;195;p29"/>
          <p:cNvSpPr/>
          <p:nvPr/>
        </p:nvSpPr>
        <p:spPr>
          <a:xfrm>
            <a:off x="7631478" y="443229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96" name="Google Shape;196;p29"/>
          <p:cNvSpPr/>
          <p:nvPr/>
        </p:nvSpPr>
        <p:spPr>
          <a:xfrm>
            <a:off x="-337078" y="-661393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97" name="Google Shape;197;p29"/>
          <p:cNvSpPr/>
          <p:nvPr/>
        </p:nvSpPr>
        <p:spPr>
          <a:xfrm>
            <a:off x="5550787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98" name="Google Shape;198;p29"/>
          <p:cNvSpPr/>
          <p:nvPr/>
        </p:nvSpPr>
        <p:spPr>
          <a:xfrm>
            <a:off x="4826813" y="-1518966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199" name="Google Shape;199;p29"/>
          <p:cNvSpPr/>
          <p:nvPr/>
        </p:nvSpPr>
        <p:spPr>
          <a:xfrm rot="-5400000">
            <a:off x="2372886" y="-938665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00" name="Google Shape;200;p29"/>
          <p:cNvSpPr/>
          <p:nvPr/>
        </p:nvSpPr>
        <p:spPr>
          <a:xfrm>
            <a:off x="1466141" y="463590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01" name="Google Shape;201;p29"/>
          <p:cNvSpPr/>
          <p:nvPr/>
        </p:nvSpPr>
        <p:spPr>
          <a:xfrm>
            <a:off x="7631478" y="-536315"/>
            <a:ext cx="998173" cy="1074749"/>
          </a:xfrm>
          <a:custGeom>
            <a:avLst/>
            <a:gdLst/>
            <a:ahLst/>
            <a:cxnLst/>
            <a:rect l="l" t="t" r="r" b="b"/>
            <a:pathLst>
              <a:path w="1996345" h="2149497" extrusionOk="0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03" name="Google Shape;203;p29"/>
          <p:cNvSpPr txBox="1"/>
          <p:nvPr/>
        </p:nvSpPr>
        <p:spPr>
          <a:xfrm>
            <a:off x="160501" y="480381"/>
            <a:ext cx="7581000" cy="13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 DE C#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dirty="0">
                <a:latin typeface="DM Sans"/>
                <a:ea typeface="DM Sans"/>
                <a:cs typeface="DM Sans"/>
                <a:sym typeface="DM Sans"/>
              </a:rPr>
              <a:t>SDK 10 </a:t>
            </a: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(Windows)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160501" y="1835826"/>
            <a:ext cx="4943005" cy="127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6030"/>
              </a:lnSpc>
              <a:buSzPts val="1700"/>
            </a:pPr>
            <a:r>
              <a:rPr lang="es" sz="17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Ingresaremos a la página oficial de .NET: </a:t>
            </a:r>
            <a:r>
              <a:rPr lang="en-US" sz="1800" dirty="0">
                <a:hlinkClick r:id="rId12"/>
              </a:rPr>
              <a:t>Download .NET 10.0 (Linux, macOS, and Windows) | .NET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7729D8-8666-B91D-08D9-D6F3BBDDBD8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18925" y="2121366"/>
            <a:ext cx="4762152" cy="23109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0" name="Google Shape;210;p30"/>
          <p:cNvSpPr/>
          <p:nvPr/>
        </p:nvSpPr>
        <p:spPr>
          <a:xfrm>
            <a:off x="-786620" y="4446649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1" name="Google Shape;211;p30"/>
          <p:cNvSpPr/>
          <p:nvPr/>
        </p:nvSpPr>
        <p:spPr>
          <a:xfrm>
            <a:off x="7631478" y="443229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2" name="Google Shape;212;p30"/>
          <p:cNvSpPr/>
          <p:nvPr/>
        </p:nvSpPr>
        <p:spPr>
          <a:xfrm>
            <a:off x="-337078" y="-661393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3" name="Google Shape;213;p30"/>
          <p:cNvSpPr/>
          <p:nvPr/>
        </p:nvSpPr>
        <p:spPr>
          <a:xfrm>
            <a:off x="5550787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4" name="Google Shape;214;p30"/>
          <p:cNvSpPr/>
          <p:nvPr/>
        </p:nvSpPr>
        <p:spPr>
          <a:xfrm>
            <a:off x="4826813" y="-1518966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5" name="Google Shape;215;p30"/>
          <p:cNvSpPr/>
          <p:nvPr/>
        </p:nvSpPr>
        <p:spPr>
          <a:xfrm rot="-5400000">
            <a:off x="2372886" y="-938665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6" name="Google Shape;216;p30"/>
          <p:cNvSpPr/>
          <p:nvPr/>
        </p:nvSpPr>
        <p:spPr>
          <a:xfrm>
            <a:off x="1466141" y="463590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7" name="Google Shape;217;p30"/>
          <p:cNvSpPr/>
          <p:nvPr/>
        </p:nvSpPr>
        <p:spPr>
          <a:xfrm>
            <a:off x="7631478" y="-536315"/>
            <a:ext cx="998173" cy="1074749"/>
          </a:xfrm>
          <a:custGeom>
            <a:avLst/>
            <a:gdLst/>
            <a:ahLst/>
            <a:cxnLst/>
            <a:rect l="l" t="t" r="r" b="b"/>
            <a:pathLst>
              <a:path w="1996345" h="2149497" extrusionOk="0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20" name="Google Shape;220;p30"/>
          <p:cNvSpPr txBox="1"/>
          <p:nvPr/>
        </p:nvSpPr>
        <p:spPr>
          <a:xfrm>
            <a:off x="514350" y="1422840"/>
            <a:ext cx="4943005" cy="4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 dirty="0">
                <a:latin typeface="DM Sans"/>
                <a:sym typeface="DM Sans"/>
              </a:rPr>
              <a:t>Descargaremos la versi</a:t>
            </a:r>
            <a:r>
              <a:rPr lang="es-GT" sz="1700" dirty="0" err="1">
                <a:latin typeface="DM Sans"/>
                <a:sym typeface="DM Sans"/>
              </a:rPr>
              <a:t>ón</a:t>
            </a:r>
            <a:r>
              <a:rPr lang="es-GT" sz="1700" dirty="0">
                <a:latin typeface="DM Sans"/>
                <a:sym typeface="DM Sans"/>
              </a:rPr>
              <a:t> para nuestro SO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E4EEA1-19D3-162A-7978-D76C01BFB7B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53071" y="2224859"/>
            <a:ext cx="4393778" cy="21888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4B929BE3-1F8B-AFE4-AE16-D8319A2F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>
            <a:extLst>
              <a:ext uri="{FF2B5EF4-FFF2-40B4-BE49-F238E27FC236}">
                <a16:creationId xmlns:a16="http://schemas.microsoft.com/office/drawing/2014/main" id="{CCC2EAA3-F914-F8E5-9E45-48784B4C509B}"/>
              </a:ext>
            </a:extLst>
          </p:cNvPr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0" name="Google Shape;210;p30">
            <a:extLst>
              <a:ext uri="{FF2B5EF4-FFF2-40B4-BE49-F238E27FC236}">
                <a16:creationId xmlns:a16="http://schemas.microsoft.com/office/drawing/2014/main" id="{4848A3C1-33A4-EA52-222C-A497EBCE8743}"/>
              </a:ext>
            </a:extLst>
          </p:cNvPr>
          <p:cNvSpPr/>
          <p:nvPr/>
        </p:nvSpPr>
        <p:spPr>
          <a:xfrm>
            <a:off x="-786620" y="4446649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1" name="Google Shape;211;p30">
            <a:extLst>
              <a:ext uri="{FF2B5EF4-FFF2-40B4-BE49-F238E27FC236}">
                <a16:creationId xmlns:a16="http://schemas.microsoft.com/office/drawing/2014/main" id="{CF5E7BF5-E86E-8462-6ECD-408C28FB0909}"/>
              </a:ext>
            </a:extLst>
          </p:cNvPr>
          <p:cNvSpPr/>
          <p:nvPr/>
        </p:nvSpPr>
        <p:spPr>
          <a:xfrm>
            <a:off x="7631478" y="443229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2" name="Google Shape;212;p30">
            <a:extLst>
              <a:ext uri="{FF2B5EF4-FFF2-40B4-BE49-F238E27FC236}">
                <a16:creationId xmlns:a16="http://schemas.microsoft.com/office/drawing/2014/main" id="{F029F00D-4402-0345-98B6-67EE988D6915}"/>
              </a:ext>
            </a:extLst>
          </p:cNvPr>
          <p:cNvSpPr/>
          <p:nvPr/>
        </p:nvSpPr>
        <p:spPr>
          <a:xfrm>
            <a:off x="-337078" y="-661393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3" name="Google Shape;213;p30">
            <a:extLst>
              <a:ext uri="{FF2B5EF4-FFF2-40B4-BE49-F238E27FC236}">
                <a16:creationId xmlns:a16="http://schemas.microsoft.com/office/drawing/2014/main" id="{FB636534-2E9C-6832-DECC-156101AE0D32}"/>
              </a:ext>
            </a:extLst>
          </p:cNvPr>
          <p:cNvSpPr/>
          <p:nvPr/>
        </p:nvSpPr>
        <p:spPr>
          <a:xfrm>
            <a:off x="5550787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4" name="Google Shape;214;p30">
            <a:extLst>
              <a:ext uri="{FF2B5EF4-FFF2-40B4-BE49-F238E27FC236}">
                <a16:creationId xmlns:a16="http://schemas.microsoft.com/office/drawing/2014/main" id="{445E27CB-83F3-0808-A5C5-DEF4E4E46F2F}"/>
              </a:ext>
            </a:extLst>
          </p:cNvPr>
          <p:cNvSpPr/>
          <p:nvPr/>
        </p:nvSpPr>
        <p:spPr>
          <a:xfrm>
            <a:off x="4826813" y="-1518966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5" name="Google Shape;215;p30">
            <a:extLst>
              <a:ext uri="{FF2B5EF4-FFF2-40B4-BE49-F238E27FC236}">
                <a16:creationId xmlns:a16="http://schemas.microsoft.com/office/drawing/2014/main" id="{6FAD0B2A-CF3B-8739-69D0-F308040E8664}"/>
              </a:ext>
            </a:extLst>
          </p:cNvPr>
          <p:cNvSpPr/>
          <p:nvPr/>
        </p:nvSpPr>
        <p:spPr>
          <a:xfrm rot="-5400000">
            <a:off x="2372886" y="-938665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6" name="Google Shape;216;p30">
            <a:extLst>
              <a:ext uri="{FF2B5EF4-FFF2-40B4-BE49-F238E27FC236}">
                <a16:creationId xmlns:a16="http://schemas.microsoft.com/office/drawing/2014/main" id="{9F9FA15E-F932-0B86-0AA9-30D07D7C886F}"/>
              </a:ext>
            </a:extLst>
          </p:cNvPr>
          <p:cNvSpPr/>
          <p:nvPr/>
        </p:nvSpPr>
        <p:spPr>
          <a:xfrm>
            <a:off x="1466141" y="463590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7" name="Google Shape;217;p30">
            <a:extLst>
              <a:ext uri="{FF2B5EF4-FFF2-40B4-BE49-F238E27FC236}">
                <a16:creationId xmlns:a16="http://schemas.microsoft.com/office/drawing/2014/main" id="{2560EA97-DED1-022D-FDF6-673AC4B3D907}"/>
              </a:ext>
            </a:extLst>
          </p:cNvPr>
          <p:cNvSpPr/>
          <p:nvPr/>
        </p:nvSpPr>
        <p:spPr>
          <a:xfrm>
            <a:off x="7631478" y="-536315"/>
            <a:ext cx="998173" cy="1074749"/>
          </a:xfrm>
          <a:custGeom>
            <a:avLst/>
            <a:gdLst/>
            <a:ahLst/>
            <a:cxnLst/>
            <a:rect l="l" t="t" r="r" b="b"/>
            <a:pathLst>
              <a:path w="1996345" h="2149497" extrusionOk="0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20" name="Google Shape;220;p30">
            <a:extLst>
              <a:ext uri="{FF2B5EF4-FFF2-40B4-BE49-F238E27FC236}">
                <a16:creationId xmlns:a16="http://schemas.microsoft.com/office/drawing/2014/main" id="{AA74A6AA-A862-826B-7D35-AC10D481F0E1}"/>
              </a:ext>
            </a:extLst>
          </p:cNvPr>
          <p:cNvSpPr txBox="1"/>
          <p:nvPr/>
        </p:nvSpPr>
        <p:spPr>
          <a:xfrm>
            <a:off x="514350" y="1422840"/>
            <a:ext cx="7117128" cy="4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 dirty="0">
                <a:latin typeface="DM Sans"/>
                <a:sym typeface="DM Sans"/>
              </a:rPr>
              <a:t>Daremos siguiente en todas las opciones del instalador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C0100F-DFEB-3F60-328C-3CED2CAC63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90624" y="1966383"/>
            <a:ext cx="3609453" cy="276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737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>
          <a:extLst>
            <a:ext uri="{FF2B5EF4-FFF2-40B4-BE49-F238E27FC236}">
              <a16:creationId xmlns:a16="http://schemas.microsoft.com/office/drawing/2014/main" id="{6B867D0F-9CCC-A3C6-0C25-B10CC4794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>
            <a:extLst>
              <a:ext uri="{FF2B5EF4-FFF2-40B4-BE49-F238E27FC236}">
                <a16:creationId xmlns:a16="http://schemas.microsoft.com/office/drawing/2014/main" id="{70C7FB90-E6BA-A919-C978-398D67B94466}"/>
              </a:ext>
            </a:extLst>
          </p:cNvPr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0" name="Google Shape;210;p30">
            <a:extLst>
              <a:ext uri="{FF2B5EF4-FFF2-40B4-BE49-F238E27FC236}">
                <a16:creationId xmlns:a16="http://schemas.microsoft.com/office/drawing/2014/main" id="{A747B4C1-6FF8-08C2-388F-651613229FD6}"/>
              </a:ext>
            </a:extLst>
          </p:cNvPr>
          <p:cNvSpPr/>
          <p:nvPr/>
        </p:nvSpPr>
        <p:spPr>
          <a:xfrm>
            <a:off x="-786620" y="4446649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1" name="Google Shape;211;p30">
            <a:extLst>
              <a:ext uri="{FF2B5EF4-FFF2-40B4-BE49-F238E27FC236}">
                <a16:creationId xmlns:a16="http://schemas.microsoft.com/office/drawing/2014/main" id="{8DFD00C3-0BA5-B967-F105-C74BB5BA4FE2}"/>
              </a:ext>
            </a:extLst>
          </p:cNvPr>
          <p:cNvSpPr/>
          <p:nvPr/>
        </p:nvSpPr>
        <p:spPr>
          <a:xfrm>
            <a:off x="7631478" y="443229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2" name="Google Shape;212;p30">
            <a:extLst>
              <a:ext uri="{FF2B5EF4-FFF2-40B4-BE49-F238E27FC236}">
                <a16:creationId xmlns:a16="http://schemas.microsoft.com/office/drawing/2014/main" id="{BAF881E4-8B02-B16A-02A7-8A75545B9316}"/>
              </a:ext>
            </a:extLst>
          </p:cNvPr>
          <p:cNvSpPr/>
          <p:nvPr/>
        </p:nvSpPr>
        <p:spPr>
          <a:xfrm>
            <a:off x="-337078" y="-661393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3" name="Google Shape;213;p30">
            <a:extLst>
              <a:ext uri="{FF2B5EF4-FFF2-40B4-BE49-F238E27FC236}">
                <a16:creationId xmlns:a16="http://schemas.microsoft.com/office/drawing/2014/main" id="{89DD88C3-42C4-576B-116C-04BF350D1B3C}"/>
              </a:ext>
            </a:extLst>
          </p:cNvPr>
          <p:cNvSpPr/>
          <p:nvPr/>
        </p:nvSpPr>
        <p:spPr>
          <a:xfrm>
            <a:off x="5550787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4" name="Google Shape;214;p30">
            <a:extLst>
              <a:ext uri="{FF2B5EF4-FFF2-40B4-BE49-F238E27FC236}">
                <a16:creationId xmlns:a16="http://schemas.microsoft.com/office/drawing/2014/main" id="{EFFCE928-6B55-4AE2-023B-B9494186F0CE}"/>
              </a:ext>
            </a:extLst>
          </p:cNvPr>
          <p:cNvSpPr/>
          <p:nvPr/>
        </p:nvSpPr>
        <p:spPr>
          <a:xfrm>
            <a:off x="4826813" y="-1518966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5" name="Google Shape;215;p30">
            <a:extLst>
              <a:ext uri="{FF2B5EF4-FFF2-40B4-BE49-F238E27FC236}">
                <a16:creationId xmlns:a16="http://schemas.microsoft.com/office/drawing/2014/main" id="{79BFC26E-EC7F-DE18-BF64-595B9768B096}"/>
              </a:ext>
            </a:extLst>
          </p:cNvPr>
          <p:cNvSpPr/>
          <p:nvPr/>
        </p:nvSpPr>
        <p:spPr>
          <a:xfrm rot="-5400000">
            <a:off x="2372886" y="-938665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6" name="Google Shape;216;p30">
            <a:extLst>
              <a:ext uri="{FF2B5EF4-FFF2-40B4-BE49-F238E27FC236}">
                <a16:creationId xmlns:a16="http://schemas.microsoft.com/office/drawing/2014/main" id="{7B5C28B2-3742-8289-F265-CBCFACF23B7E}"/>
              </a:ext>
            </a:extLst>
          </p:cNvPr>
          <p:cNvSpPr/>
          <p:nvPr/>
        </p:nvSpPr>
        <p:spPr>
          <a:xfrm>
            <a:off x="1466141" y="463590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17" name="Google Shape;217;p30">
            <a:extLst>
              <a:ext uri="{FF2B5EF4-FFF2-40B4-BE49-F238E27FC236}">
                <a16:creationId xmlns:a16="http://schemas.microsoft.com/office/drawing/2014/main" id="{4BD61C18-E2C9-63DB-9932-54EDBBDF4D45}"/>
              </a:ext>
            </a:extLst>
          </p:cNvPr>
          <p:cNvSpPr/>
          <p:nvPr/>
        </p:nvSpPr>
        <p:spPr>
          <a:xfrm>
            <a:off x="7631478" y="-536315"/>
            <a:ext cx="998173" cy="1074749"/>
          </a:xfrm>
          <a:custGeom>
            <a:avLst/>
            <a:gdLst/>
            <a:ahLst/>
            <a:cxnLst/>
            <a:rect l="l" t="t" r="r" b="b"/>
            <a:pathLst>
              <a:path w="1996345" h="2149497" extrusionOk="0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220" name="Google Shape;220;p30">
            <a:extLst>
              <a:ext uri="{FF2B5EF4-FFF2-40B4-BE49-F238E27FC236}">
                <a16:creationId xmlns:a16="http://schemas.microsoft.com/office/drawing/2014/main" id="{6A557BE2-08F2-8800-4B47-F4BC41246C6C}"/>
              </a:ext>
            </a:extLst>
          </p:cNvPr>
          <p:cNvSpPr txBox="1"/>
          <p:nvPr/>
        </p:nvSpPr>
        <p:spPr>
          <a:xfrm>
            <a:off x="514350" y="1422840"/>
            <a:ext cx="7117128" cy="4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60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s" sz="1700" b="0" i="0" u="none" strike="noStrike" cap="none" dirty="0">
                <a:solidFill>
                  <a:srgbClr val="000000"/>
                </a:solidFill>
                <a:latin typeface="DM Sans"/>
                <a:ea typeface="Arial"/>
                <a:cs typeface="Arial"/>
                <a:sym typeface="DM Sans"/>
              </a:rPr>
              <a:t>Verificamos la correcta instalación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D7B06B3-28FC-93D9-08BA-91C65F7967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76893" y="2492358"/>
            <a:ext cx="5258534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83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3" name="Google Shape;313;p36"/>
          <p:cNvSpPr/>
          <p:nvPr/>
        </p:nvSpPr>
        <p:spPr>
          <a:xfrm>
            <a:off x="-786620" y="4446649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4" name="Google Shape;314;p36"/>
          <p:cNvSpPr/>
          <p:nvPr/>
        </p:nvSpPr>
        <p:spPr>
          <a:xfrm>
            <a:off x="7631478" y="443229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5" name="Google Shape;315;p36"/>
          <p:cNvSpPr/>
          <p:nvPr/>
        </p:nvSpPr>
        <p:spPr>
          <a:xfrm>
            <a:off x="-337078" y="-661393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6" name="Google Shape;316;p36"/>
          <p:cNvSpPr/>
          <p:nvPr/>
        </p:nvSpPr>
        <p:spPr>
          <a:xfrm>
            <a:off x="5550787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7" name="Google Shape;317;p36"/>
          <p:cNvSpPr/>
          <p:nvPr/>
        </p:nvSpPr>
        <p:spPr>
          <a:xfrm>
            <a:off x="4826813" y="-1518966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8" name="Google Shape;318;p36"/>
          <p:cNvSpPr/>
          <p:nvPr/>
        </p:nvSpPr>
        <p:spPr>
          <a:xfrm rot="-5400000">
            <a:off x="2372886" y="-938665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19" name="Google Shape;319;p36"/>
          <p:cNvSpPr/>
          <p:nvPr/>
        </p:nvSpPr>
        <p:spPr>
          <a:xfrm>
            <a:off x="1466141" y="463590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20" name="Google Shape;320;p36"/>
          <p:cNvSpPr/>
          <p:nvPr/>
        </p:nvSpPr>
        <p:spPr>
          <a:xfrm>
            <a:off x="7631478" y="-536315"/>
            <a:ext cx="998173" cy="1074749"/>
          </a:xfrm>
          <a:custGeom>
            <a:avLst/>
            <a:gdLst/>
            <a:ahLst/>
            <a:cxnLst/>
            <a:rect l="l" t="t" r="r" b="b"/>
            <a:pathLst>
              <a:path w="1996345" h="2149497" extrusionOk="0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21" name="Google Shape;321;p36"/>
          <p:cNvSpPr/>
          <p:nvPr/>
        </p:nvSpPr>
        <p:spPr>
          <a:xfrm>
            <a:off x="461767" y="1485631"/>
            <a:ext cx="2940003" cy="970821"/>
          </a:xfrm>
          <a:custGeom>
            <a:avLst/>
            <a:gdLst/>
            <a:ahLst/>
            <a:cxnLst/>
            <a:rect l="l" t="t" r="r" b="b"/>
            <a:pathLst>
              <a:path w="5880007" h="1941642" extrusionOk="0">
                <a:moveTo>
                  <a:pt x="0" y="0"/>
                </a:moveTo>
                <a:lnTo>
                  <a:pt x="5880008" y="0"/>
                </a:lnTo>
                <a:lnTo>
                  <a:pt x="5880008" y="1941641"/>
                </a:lnTo>
                <a:lnTo>
                  <a:pt x="0" y="19416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22" name="Google Shape;322;p36"/>
          <p:cNvSpPr/>
          <p:nvPr/>
        </p:nvSpPr>
        <p:spPr>
          <a:xfrm>
            <a:off x="5324161" y="1805565"/>
            <a:ext cx="2712583" cy="2974766"/>
          </a:xfrm>
          <a:custGeom>
            <a:avLst/>
            <a:gdLst/>
            <a:ahLst/>
            <a:cxnLst/>
            <a:rect l="l" t="t" r="r" b="b"/>
            <a:pathLst>
              <a:path w="5425166" h="5949531" extrusionOk="0">
                <a:moveTo>
                  <a:pt x="0" y="0"/>
                </a:moveTo>
                <a:lnTo>
                  <a:pt x="5425165" y="0"/>
                </a:lnTo>
                <a:lnTo>
                  <a:pt x="5425165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pic>
        <p:nvPicPr>
          <p:cNvPr id="323" name="Google Shape;323;p36"/>
          <p:cNvPicPr preferRelativeResize="0"/>
          <p:nvPr/>
        </p:nvPicPr>
        <p:blipFill rotWithShape="1">
          <a:blip r:embed="rId14">
            <a:alphaModFix/>
          </a:blip>
          <a:srcRect t="34" b="31"/>
          <a:stretch/>
        </p:blipFill>
        <p:spPr>
          <a:xfrm>
            <a:off x="6993981" y="4043197"/>
            <a:ext cx="830685" cy="50256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6"/>
          <p:cNvSpPr/>
          <p:nvPr/>
        </p:nvSpPr>
        <p:spPr>
          <a:xfrm>
            <a:off x="647960" y="4538855"/>
            <a:ext cx="3924041" cy="437726"/>
          </a:xfrm>
          <a:custGeom>
            <a:avLst/>
            <a:gdLst/>
            <a:ahLst/>
            <a:cxnLst/>
            <a:rect l="l" t="t" r="r" b="b"/>
            <a:pathLst>
              <a:path w="7848081" h="875452" extrusionOk="0">
                <a:moveTo>
                  <a:pt x="0" y="0"/>
                </a:moveTo>
                <a:lnTo>
                  <a:pt x="7848081" y="0"/>
                </a:lnTo>
                <a:lnTo>
                  <a:pt x="7848081" y="875453"/>
                </a:lnTo>
                <a:lnTo>
                  <a:pt x="0" y="875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25" name="Google Shape;325;p36"/>
          <p:cNvSpPr/>
          <p:nvPr/>
        </p:nvSpPr>
        <p:spPr>
          <a:xfrm>
            <a:off x="683140" y="3435038"/>
            <a:ext cx="2392900" cy="1055692"/>
          </a:xfrm>
          <a:custGeom>
            <a:avLst/>
            <a:gdLst/>
            <a:ahLst/>
            <a:cxnLst/>
            <a:rect l="l" t="t" r="r" b="b"/>
            <a:pathLst>
              <a:path w="4785801" h="2111383" extrusionOk="0">
                <a:moveTo>
                  <a:pt x="0" y="0"/>
                </a:moveTo>
                <a:lnTo>
                  <a:pt x="4785801" y="0"/>
                </a:lnTo>
                <a:lnTo>
                  <a:pt x="4785801" y="2111383"/>
                </a:lnTo>
                <a:lnTo>
                  <a:pt x="0" y="21113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26" name="Google Shape;326;p36"/>
          <p:cNvSpPr txBox="1"/>
          <p:nvPr/>
        </p:nvSpPr>
        <p:spPr>
          <a:xfrm>
            <a:off x="461767" y="589956"/>
            <a:ext cx="4862394" cy="37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VERIFICACIÓN DE LA VARIABLE </a:t>
            </a:r>
            <a:r>
              <a:rPr lang="es" sz="20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PATH: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6"/>
          <p:cNvSpPr txBox="1"/>
          <p:nvPr/>
        </p:nvSpPr>
        <p:spPr>
          <a:xfrm>
            <a:off x="461767" y="1139678"/>
            <a:ext cx="3555057" cy="259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" sz="14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la barra de búsqueda ingresamos: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6"/>
          <p:cNvSpPr txBox="1"/>
          <p:nvPr/>
        </p:nvSpPr>
        <p:spPr>
          <a:xfrm>
            <a:off x="4572000" y="1307427"/>
            <a:ext cx="3577412" cy="435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Luego, clickeamos en “Variables de entorno...” en la sección de Opciones avanzadas: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6"/>
          <p:cNvSpPr txBox="1"/>
          <p:nvPr/>
        </p:nvSpPr>
        <p:spPr>
          <a:xfrm>
            <a:off x="683140" y="2974850"/>
            <a:ext cx="3577412" cy="264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Verificamos que se encuentre .net en las variables: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6"/>
          <p:cNvSpPr txBox="1"/>
          <p:nvPr/>
        </p:nvSpPr>
        <p:spPr>
          <a:xfrm>
            <a:off x="131223" y="1068360"/>
            <a:ext cx="189981" cy="37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6"/>
          <p:cNvSpPr txBox="1"/>
          <p:nvPr/>
        </p:nvSpPr>
        <p:spPr>
          <a:xfrm>
            <a:off x="4233280" y="1260657"/>
            <a:ext cx="265100" cy="37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6"/>
          <p:cNvSpPr txBox="1"/>
          <p:nvPr/>
        </p:nvSpPr>
        <p:spPr>
          <a:xfrm>
            <a:off x="414883" y="2904127"/>
            <a:ext cx="300100" cy="378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6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8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54" name="Google Shape;354;p38"/>
          <p:cNvSpPr/>
          <p:nvPr/>
        </p:nvSpPr>
        <p:spPr>
          <a:xfrm>
            <a:off x="-770291" y="4699742"/>
            <a:ext cx="2025667" cy="1382518"/>
          </a:xfrm>
          <a:custGeom>
            <a:avLst/>
            <a:gdLst/>
            <a:ahLst/>
            <a:cxnLst/>
            <a:rect l="l" t="t" r="r" b="b"/>
            <a:pathLst>
              <a:path w="4051334" h="2765036" extrusionOk="0">
                <a:moveTo>
                  <a:pt x="0" y="0"/>
                </a:moveTo>
                <a:lnTo>
                  <a:pt x="4051335" y="0"/>
                </a:lnTo>
                <a:lnTo>
                  <a:pt x="4051335" y="2765035"/>
                </a:lnTo>
                <a:lnTo>
                  <a:pt x="0" y="27650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55" name="Google Shape;355;p38"/>
          <p:cNvSpPr/>
          <p:nvPr/>
        </p:nvSpPr>
        <p:spPr>
          <a:xfrm>
            <a:off x="7631478" y="4432293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56" name="Google Shape;356;p38"/>
          <p:cNvSpPr/>
          <p:nvPr/>
        </p:nvSpPr>
        <p:spPr>
          <a:xfrm>
            <a:off x="-337078" y="-661393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57" name="Google Shape;357;p38"/>
          <p:cNvSpPr/>
          <p:nvPr/>
        </p:nvSpPr>
        <p:spPr>
          <a:xfrm>
            <a:off x="5550787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58" name="Google Shape;358;p38"/>
          <p:cNvSpPr/>
          <p:nvPr/>
        </p:nvSpPr>
        <p:spPr>
          <a:xfrm>
            <a:off x="4826813" y="-1518966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59" name="Google Shape;359;p38"/>
          <p:cNvSpPr/>
          <p:nvPr/>
        </p:nvSpPr>
        <p:spPr>
          <a:xfrm rot="-5400000">
            <a:off x="2372886" y="-938665"/>
            <a:ext cx="1446381" cy="1459650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60" name="Google Shape;360;p38"/>
          <p:cNvSpPr/>
          <p:nvPr/>
        </p:nvSpPr>
        <p:spPr>
          <a:xfrm>
            <a:off x="1466141" y="4635904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61" name="Google Shape;361;p38"/>
          <p:cNvSpPr/>
          <p:nvPr/>
        </p:nvSpPr>
        <p:spPr>
          <a:xfrm>
            <a:off x="7631478" y="-536315"/>
            <a:ext cx="998173" cy="1074749"/>
          </a:xfrm>
          <a:custGeom>
            <a:avLst/>
            <a:gdLst/>
            <a:ahLst/>
            <a:cxnLst/>
            <a:rect l="l" t="t" r="r" b="b"/>
            <a:pathLst>
              <a:path w="1996345" h="2149497" extrusionOk="0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62" name="Google Shape;362;p38"/>
          <p:cNvSpPr/>
          <p:nvPr/>
        </p:nvSpPr>
        <p:spPr>
          <a:xfrm>
            <a:off x="4331558" y="3143499"/>
            <a:ext cx="1432052" cy="1432052"/>
          </a:xfrm>
          <a:custGeom>
            <a:avLst/>
            <a:gdLst/>
            <a:ahLst/>
            <a:cxnLst/>
            <a:rect l="l" t="t" r="r" b="b"/>
            <a:pathLst>
              <a:path w="2864103" h="2864103" extrusionOk="0">
                <a:moveTo>
                  <a:pt x="0" y="0"/>
                </a:moveTo>
                <a:lnTo>
                  <a:pt x="2864103" y="0"/>
                </a:lnTo>
                <a:lnTo>
                  <a:pt x="2864103" y="2864104"/>
                </a:lnTo>
                <a:lnTo>
                  <a:pt x="0" y="2864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64" name="Google Shape;364;p38"/>
          <p:cNvSpPr txBox="1"/>
          <p:nvPr/>
        </p:nvSpPr>
        <p:spPr>
          <a:xfrm>
            <a:off x="160501" y="756644"/>
            <a:ext cx="7580941" cy="134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 DE C# (Linux - Ubuntu)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8"/>
          <p:cNvSpPr txBox="1"/>
          <p:nvPr/>
        </p:nvSpPr>
        <p:spPr>
          <a:xfrm>
            <a:off x="428736" y="2671000"/>
            <a:ext cx="4737714" cy="233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 update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8"/>
          <p:cNvSpPr txBox="1"/>
          <p:nvPr/>
        </p:nvSpPr>
        <p:spPr>
          <a:xfrm>
            <a:off x="478722" y="4321486"/>
            <a:ext cx="4737714" cy="23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GT" sz="1600" b="1" dirty="0"/>
              <a:t>D</a:t>
            </a:r>
            <a:r>
              <a:rPr lang="es" sz="1600" b="1" dirty="0"/>
              <a:t>otnet --version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478722" y="2160620"/>
            <a:ext cx="5660278" cy="429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sudo su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1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367;p38">
            <a:extLst>
              <a:ext uri="{FF2B5EF4-FFF2-40B4-BE49-F238E27FC236}">
                <a16:creationId xmlns:a16="http://schemas.microsoft.com/office/drawing/2014/main" id="{0F0A0A71-CB51-4D5E-3B0A-084BB5805E34}"/>
              </a:ext>
            </a:extLst>
          </p:cNvPr>
          <p:cNvSpPr txBox="1"/>
          <p:nvPr/>
        </p:nvSpPr>
        <p:spPr>
          <a:xfrm>
            <a:off x="478722" y="3103449"/>
            <a:ext cx="4737714" cy="23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apt upgrade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367;p38">
            <a:extLst>
              <a:ext uri="{FF2B5EF4-FFF2-40B4-BE49-F238E27FC236}">
                <a16:creationId xmlns:a16="http://schemas.microsoft.com/office/drawing/2014/main" id="{0B09B298-46C9-6B76-0FD0-3559C3685549}"/>
              </a:ext>
            </a:extLst>
          </p:cNvPr>
          <p:cNvSpPr txBox="1"/>
          <p:nvPr/>
        </p:nvSpPr>
        <p:spPr>
          <a:xfrm>
            <a:off x="489627" y="3562503"/>
            <a:ext cx="4737714" cy="238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>
              <a:lnSpc>
                <a:spcPct val="97000"/>
              </a:lnSpc>
              <a:buSzPts val="1600"/>
            </a:pPr>
            <a:r>
              <a:rPr lang="es-GT" sz="1600" b="1"/>
              <a:t>sudo apt install dotnet-sdk-10.0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76" name="Google Shape;376;p39"/>
          <p:cNvSpPr txBox="1"/>
          <p:nvPr/>
        </p:nvSpPr>
        <p:spPr>
          <a:xfrm>
            <a:off x="248005" y="996285"/>
            <a:ext cx="6246285" cy="454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ENTORNOS DE DESARROLLO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9"/>
          <p:cNvSpPr txBox="1"/>
          <p:nvPr/>
        </p:nvSpPr>
        <p:spPr>
          <a:xfrm>
            <a:off x="843288" y="1941482"/>
            <a:ext cx="7456346" cy="174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 entorno de desarrollo es un conjunto de herramientas, procedimientos y recursos que los desarrolladores utilizan para crear, probar y depurar software. Incluye componentes como editores de texto, compiladores, depuradores, sistemas de control de versiones, y otros recursos necesarios para el desarrollo de código fuente o programas. Además, puede referirse específicamente a un entorno de desarrollo integrado (IDE), que es una aplicación de software que combina muchas de estas herramientas en una interfaz unificada para facilitar el proceso de desarrollo de software.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9"/>
          <p:cNvSpPr/>
          <p:nvPr/>
        </p:nvSpPr>
        <p:spPr>
          <a:xfrm>
            <a:off x="-1164699" y="4508991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79" name="Google Shape;379;p39"/>
          <p:cNvSpPr/>
          <p:nvPr/>
        </p:nvSpPr>
        <p:spPr>
          <a:xfrm>
            <a:off x="2923522" y="4941187"/>
            <a:ext cx="1648478" cy="404626"/>
          </a:xfrm>
          <a:custGeom>
            <a:avLst/>
            <a:gdLst/>
            <a:ahLst/>
            <a:cxnLst/>
            <a:rect l="l" t="t" r="r" b="b"/>
            <a:pathLst>
              <a:path w="3296956" h="809253" extrusionOk="0">
                <a:moveTo>
                  <a:pt x="0" y="0"/>
                </a:moveTo>
                <a:lnTo>
                  <a:pt x="3296956" y="0"/>
                </a:lnTo>
                <a:lnTo>
                  <a:pt x="3296956" y="809252"/>
                </a:lnTo>
                <a:lnTo>
                  <a:pt x="0" y="8092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0" name="Google Shape;380;p39"/>
          <p:cNvSpPr/>
          <p:nvPr/>
        </p:nvSpPr>
        <p:spPr>
          <a:xfrm>
            <a:off x="7247386" y="4508992"/>
            <a:ext cx="2213921" cy="1740696"/>
          </a:xfrm>
          <a:custGeom>
            <a:avLst/>
            <a:gdLst/>
            <a:ahLst/>
            <a:cxnLst/>
            <a:rect l="l" t="t" r="r" b="b"/>
            <a:pathLst>
              <a:path w="4427843" h="3481392" extrusionOk="0">
                <a:moveTo>
                  <a:pt x="0" y="0"/>
                </a:moveTo>
                <a:lnTo>
                  <a:pt x="4427843" y="0"/>
                </a:lnTo>
                <a:lnTo>
                  <a:pt x="4427843" y="3481391"/>
                </a:lnTo>
                <a:lnTo>
                  <a:pt x="0" y="3481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1" name="Google Shape;381;p39"/>
          <p:cNvSpPr/>
          <p:nvPr/>
        </p:nvSpPr>
        <p:spPr>
          <a:xfrm>
            <a:off x="-381699" y="-767148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7" y="0"/>
                </a:lnTo>
                <a:lnTo>
                  <a:pt x="4899947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2" name="Google Shape;382;p39"/>
          <p:cNvSpPr/>
          <p:nvPr/>
        </p:nvSpPr>
        <p:spPr>
          <a:xfrm>
            <a:off x="6400767" y="-1526990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3" name="Google Shape;383;p39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4" name="Google Shape;384;p39"/>
          <p:cNvSpPr/>
          <p:nvPr/>
        </p:nvSpPr>
        <p:spPr>
          <a:xfrm>
            <a:off x="3747761" y="-1648897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5" name="Google Shape;385;p39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6" name="Google Shape;386;p39"/>
          <p:cNvSpPr/>
          <p:nvPr/>
        </p:nvSpPr>
        <p:spPr>
          <a:xfrm>
            <a:off x="2430577" y="-1051147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7" name="Google Shape;387;p39"/>
          <p:cNvSpPr/>
          <p:nvPr/>
        </p:nvSpPr>
        <p:spPr>
          <a:xfrm>
            <a:off x="8747405" y="1185515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8" name="Google Shape;388;p39"/>
          <p:cNvSpPr/>
          <p:nvPr/>
        </p:nvSpPr>
        <p:spPr>
          <a:xfrm>
            <a:off x="1285275" y="4748413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89" name="Google Shape;389;p39"/>
          <p:cNvSpPr/>
          <p:nvPr/>
        </p:nvSpPr>
        <p:spPr>
          <a:xfrm rot="-5282649">
            <a:off x="8298253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8" y="0"/>
                </a:lnTo>
                <a:lnTo>
                  <a:pt x="3382988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390" name="Google Shape;390;p39"/>
          <p:cNvSpPr/>
          <p:nvPr/>
        </p:nvSpPr>
        <p:spPr>
          <a:xfrm>
            <a:off x="8629650" y="-485829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9"/>
                </a:lnTo>
                <a:lnTo>
                  <a:pt x="0" y="33426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396" name="Google Shape;396;p40"/>
          <p:cNvGrpSpPr/>
          <p:nvPr/>
        </p:nvGrpSpPr>
        <p:grpSpPr>
          <a:xfrm>
            <a:off x="514350" y="662324"/>
            <a:ext cx="2519036" cy="1871148"/>
            <a:chOff x="0" y="-38100"/>
            <a:chExt cx="1048738" cy="779006"/>
          </a:xfrm>
        </p:grpSpPr>
        <p:sp>
          <p:nvSpPr>
            <p:cNvPr id="397" name="Google Shape;397;p40"/>
            <p:cNvSpPr/>
            <p:nvPr/>
          </p:nvSpPr>
          <p:spPr>
            <a:xfrm>
              <a:off x="0" y="0"/>
              <a:ext cx="1048738" cy="740906"/>
            </a:xfrm>
            <a:custGeom>
              <a:avLst/>
              <a:gdLst/>
              <a:ahLst/>
              <a:cxnLst/>
              <a:rect l="l" t="t" r="r" b="b"/>
              <a:pathLst>
                <a:path w="1048738" h="740906" extrusionOk="0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0"/>
            <p:cNvSpPr txBox="1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40"/>
          <p:cNvGrpSpPr/>
          <p:nvPr/>
        </p:nvGrpSpPr>
        <p:grpSpPr>
          <a:xfrm>
            <a:off x="6060572" y="2669694"/>
            <a:ext cx="2519035" cy="1871148"/>
            <a:chOff x="0" y="-38100"/>
            <a:chExt cx="1048738" cy="779006"/>
          </a:xfrm>
        </p:grpSpPr>
        <p:sp>
          <p:nvSpPr>
            <p:cNvPr id="400" name="Google Shape;400;p40"/>
            <p:cNvSpPr/>
            <p:nvPr/>
          </p:nvSpPr>
          <p:spPr>
            <a:xfrm>
              <a:off x="0" y="0"/>
              <a:ext cx="1048738" cy="740906"/>
            </a:xfrm>
            <a:custGeom>
              <a:avLst/>
              <a:gdLst/>
              <a:ahLst/>
              <a:cxnLst/>
              <a:rect l="l" t="t" r="r" b="b"/>
              <a:pathLst>
                <a:path w="1048738" h="740906" extrusionOk="0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0"/>
            <p:cNvSpPr txBox="1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2" name="Google Shape;402;p40"/>
          <p:cNvGrpSpPr/>
          <p:nvPr/>
        </p:nvGrpSpPr>
        <p:grpSpPr>
          <a:xfrm>
            <a:off x="3312482" y="1509599"/>
            <a:ext cx="2519036" cy="1871148"/>
            <a:chOff x="0" y="-38100"/>
            <a:chExt cx="1048738" cy="779006"/>
          </a:xfrm>
        </p:grpSpPr>
        <p:sp>
          <p:nvSpPr>
            <p:cNvPr id="403" name="Google Shape;403;p40"/>
            <p:cNvSpPr/>
            <p:nvPr/>
          </p:nvSpPr>
          <p:spPr>
            <a:xfrm>
              <a:off x="0" y="0"/>
              <a:ext cx="1048738" cy="740906"/>
            </a:xfrm>
            <a:custGeom>
              <a:avLst/>
              <a:gdLst/>
              <a:ahLst/>
              <a:cxnLst/>
              <a:rect l="l" t="t" r="r" b="b"/>
              <a:pathLst>
                <a:path w="1048738" h="740906" extrusionOk="0">
                  <a:moveTo>
                    <a:pt x="52247" y="0"/>
                  </a:moveTo>
                  <a:lnTo>
                    <a:pt x="996490" y="0"/>
                  </a:lnTo>
                  <a:cubicBezTo>
                    <a:pt x="1010347" y="0"/>
                    <a:pt x="1023636" y="5505"/>
                    <a:pt x="1033435" y="15303"/>
                  </a:cubicBezTo>
                  <a:cubicBezTo>
                    <a:pt x="1043233" y="25101"/>
                    <a:pt x="1048738" y="38390"/>
                    <a:pt x="1048738" y="52247"/>
                  </a:cubicBezTo>
                  <a:lnTo>
                    <a:pt x="1048738" y="688659"/>
                  </a:lnTo>
                  <a:cubicBezTo>
                    <a:pt x="1048738" y="717514"/>
                    <a:pt x="1025346" y="740906"/>
                    <a:pt x="996490" y="740906"/>
                  </a:cubicBezTo>
                  <a:lnTo>
                    <a:pt x="52247" y="740906"/>
                  </a:lnTo>
                  <a:cubicBezTo>
                    <a:pt x="23392" y="740906"/>
                    <a:pt x="0" y="717514"/>
                    <a:pt x="0" y="688659"/>
                  </a:cubicBezTo>
                  <a:lnTo>
                    <a:pt x="0" y="52247"/>
                  </a:lnTo>
                  <a:cubicBezTo>
                    <a:pt x="0" y="23392"/>
                    <a:pt x="23392" y="0"/>
                    <a:pt x="52247" y="0"/>
                  </a:cubicBezTo>
                  <a:close/>
                </a:path>
              </a:pathLst>
            </a:custGeom>
            <a:solidFill>
              <a:srgbClr val="8AB7E2"/>
            </a:solidFill>
            <a:ln w="1905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0"/>
            <p:cNvSpPr txBox="1"/>
            <p:nvPr/>
          </p:nvSpPr>
          <p:spPr>
            <a:xfrm>
              <a:off x="0" y="-38100"/>
              <a:ext cx="1048738" cy="7790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40"/>
          <p:cNvGrpSpPr/>
          <p:nvPr/>
        </p:nvGrpSpPr>
        <p:grpSpPr>
          <a:xfrm>
            <a:off x="514350" y="539398"/>
            <a:ext cx="2519036" cy="425883"/>
            <a:chOff x="0" y="-38100"/>
            <a:chExt cx="1048738" cy="177306"/>
          </a:xfrm>
        </p:grpSpPr>
        <p:sp>
          <p:nvSpPr>
            <p:cNvPr id="406" name="Google Shape;406;p40"/>
            <p:cNvSpPr/>
            <p:nvPr/>
          </p:nvSpPr>
          <p:spPr>
            <a:xfrm>
              <a:off x="0" y="0"/>
              <a:ext cx="1048738" cy="139206"/>
            </a:xfrm>
            <a:custGeom>
              <a:avLst/>
              <a:gdLst/>
              <a:ahLst/>
              <a:cxnLst/>
              <a:rect l="l" t="t" r="r" b="b"/>
              <a:pathLst>
                <a:path w="1048738" h="139206" extrusionOk="0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0"/>
            <p:cNvSpPr txBox="1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8" name="Google Shape;408;p40"/>
          <p:cNvGrpSpPr/>
          <p:nvPr/>
        </p:nvGrpSpPr>
        <p:grpSpPr>
          <a:xfrm>
            <a:off x="6060572" y="2669694"/>
            <a:ext cx="2519035" cy="425883"/>
            <a:chOff x="0" y="-38100"/>
            <a:chExt cx="1048738" cy="177306"/>
          </a:xfrm>
        </p:grpSpPr>
        <p:sp>
          <p:nvSpPr>
            <p:cNvPr id="409" name="Google Shape;409;p40"/>
            <p:cNvSpPr/>
            <p:nvPr/>
          </p:nvSpPr>
          <p:spPr>
            <a:xfrm>
              <a:off x="0" y="0"/>
              <a:ext cx="1048738" cy="139206"/>
            </a:xfrm>
            <a:custGeom>
              <a:avLst/>
              <a:gdLst/>
              <a:ahLst/>
              <a:cxnLst/>
              <a:rect l="l" t="t" r="r" b="b"/>
              <a:pathLst>
                <a:path w="1048738" h="139206" extrusionOk="0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0"/>
            <p:cNvSpPr txBox="1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1" name="Google Shape;411;p40"/>
          <p:cNvGrpSpPr/>
          <p:nvPr/>
        </p:nvGrpSpPr>
        <p:grpSpPr>
          <a:xfrm>
            <a:off x="3312482" y="1509599"/>
            <a:ext cx="2519036" cy="425883"/>
            <a:chOff x="0" y="-38100"/>
            <a:chExt cx="1048738" cy="177306"/>
          </a:xfrm>
        </p:grpSpPr>
        <p:sp>
          <p:nvSpPr>
            <p:cNvPr id="412" name="Google Shape;412;p40"/>
            <p:cNvSpPr/>
            <p:nvPr/>
          </p:nvSpPr>
          <p:spPr>
            <a:xfrm>
              <a:off x="0" y="0"/>
              <a:ext cx="1048738" cy="139206"/>
            </a:xfrm>
            <a:custGeom>
              <a:avLst/>
              <a:gdLst/>
              <a:ahLst/>
              <a:cxnLst/>
              <a:rect l="l" t="t" r="r" b="b"/>
              <a:pathLst>
                <a:path w="1048738" h="139206" extrusionOk="0">
                  <a:moveTo>
                    <a:pt x="26124" y="0"/>
                  </a:moveTo>
                  <a:lnTo>
                    <a:pt x="1022614" y="0"/>
                  </a:lnTo>
                  <a:cubicBezTo>
                    <a:pt x="1029542" y="0"/>
                    <a:pt x="1036187" y="2752"/>
                    <a:pt x="1041086" y="7651"/>
                  </a:cubicBezTo>
                  <a:cubicBezTo>
                    <a:pt x="1045985" y="12551"/>
                    <a:pt x="1048738" y="19195"/>
                    <a:pt x="1048738" y="26124"/>
                  </a:cubicBezTo>
                  <a:lnTo>
                    <a:pt x="1048738" y="113082"/>
                  </a:lnTo>
                  <a:cubicBezTo>
                    <a:pt x="1048738" y="127510"/>
                    <a:pt x="1037042" y="139206"/>
                    <a:pt x="1022614" y="139206"/>
                  </a:cubicBezTo>
                  <a:lnTo>
                    <a:pt x="26124" y="139206"/>
                  </a:lnTo>
                  <a:cubicBezTo>
                    <a:pt x="19195" y="139206"/>
                    <a:pt x="12551" y="136454"/>
                    <a:pt x="7651" y="131554"/>
                  </a:cubicBezTo>
                  <a:cubicBezTo>
                    <a:pt x="2752" y="126655"/>
                    <a:pt x="0" y="120011"/>
                    <a:pt x="0" y="113082"/>
                  </a:cubicBezTo>
                  <a:lnTo>
                    <a:pt x="0" y="26124"/>
                  </a:lnTo>
                  <a:cubicBezTo>
                    <a:pt x="0" y="11696"/>
                    <a:pt x="11696" y="0"/>
                    <a:pt x="261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0"/>
            <p:cNvSpPr txBox="1"/>
            <p:nvPr/>
          </p:nvSpPr>
          <p:spPr>
            <a:xfrm>
              <a:off x="0" y="-38100"/>
              <a:ext cx="1048738" cy="1773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4" name="Google Shape;414;p40"/>
          <p:cNvSpPr/>
          <p:nvPr/>
        </p:nvSpPr>
        <p:spPr>
          <a:xfrm rot="10800000">
            <a:off x="7413997" y="-696223"/>
            <a:ext cx="2008573" cy="1579241"/>
          </a:xfrm>
          <a:custGeom>
            <a:avLst/>
            <a:gdLst/>
            <a:ahLst/>
            <a:cxnLst/>
            <a:rect l="l" t="t" r="r" b="b"/>
            <a:pathLst>
              <a:path w="4017146" h="3158481" extrusionOk="0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15" name="Google Shape;415;p40"/>
          <p:cNvSpPr/>
          <p:nvPr/>
        </p:nvSpPr>
        <p:spPr>
          <a:xfrm>
            <a:off x="2290148" y="-808436"/>
            <a:ext cx="2112234" cy="1322787"/>
          </a:xfrm>
          <a:custGeom>
            <a:avLst/>
            <a:gdLst/>
            <a:ahLst/>
            <a:cxnLst/>
            <a:rect l="l" t="t" r="r" b="b"/>
            <a:pathLst>
              <a:path w="4224468" h="2645573" extrusionOk="0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16" name="Google Shape;416;p40"/>
          <p:cNvSpPr/>
          <p:nvPr/>
        </p:nvSpPr>
        <p:spPr>
          <a:xfrm>
            <a:off x="4142890" y="4780331"/>
            <a:ext cx="1584640" cy="1113210"/>
          </a:xfrm>
          <a:custGeom>
            <a:avLst/>
            <a:gdLst/>
            <a:ahLst/>
            <a:cxnLst/>
            <a:rect l="l" t="t" r="r" b="b"/>
            <a:pathLst>
              <a:path w="3169280" h="2226419" extrusionOk="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17" name="Google Shape;417;p40"/>
          <p:cNvSpPr/>
          <p:nvPr/>
        </p:nvSpPr>
        <p:spPr>
          <a:xfrm rot="-5400000">
            <a:off x="6067206" y="4622515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2" y="0"/>
                </a:lnTo>
                <a:lnTo>
                  <a:pt x="2892762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18" name="Google Shape;418;p40"/>
          <p:cNvSpPr/>
          <p:nvPr/>
        </p:nvSpPr>
        <p:spPr>
          <a:xfrm>
            <a:off x="-779160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19" name="Google Shape;419;p40"/>
          <p:cNvSpPr/>
          <p:nvPr/>
        </p:nvSpPr>
        <p:spPr>
          <a:xfrm>
            <a:off x="8629650" y="3716927"/>
            <a:ext cx="897483" cy="966335"/>
          </a:xfrm>
          <a:custGeom>
            <a:avLst/>
            <a:gdLst/>
            <a:ahLst/>
            <a:cxnLst/>
            <a:rect l="l" t="t" r="r" b="b"/>
            <a:pathLst>
              <a:path w="1794966" h="1932669" extrusionOk="0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20" name="Google Shape;420;p40"/>
          <p:cNvSpPr/>
          <p:nvPr/>
        </p:nvSpPr>
        <p:spPr>
          <a:xfrm>
            <a:off x="-372116" y="230251"/>
            <a:ext cx="744232" cy="801326"/>
          </a:xfrm>
          <a:custGeom>
            <a:avLst/>
            <a:gdLst/>
            <a:ahLst/>
            <a:cxnLst/>
            <a:rect l="l" t="t" r="r" b="b"/>
            <a:pathLst>
              <a:path w="1488463" h="1602652" extrusionOk="0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21" name="Google Shape;421;p40"/>
          <p:cNvSpPr/>
          <p:nvPr/>
        </p:nvSpPr>
        <p:spPr>
          <a:xfrm>
            <a:off x="1171898" y="1170490"/>
            <a:ext cx="1203941" cy="1203941"/>
          </a:xfrm>
          <a:custGeom>
            <a:avLst/>
            <a:gdLst/>
            <a:ahLst/>
            <a:cxnLst/>
            <a:rect l="l" t="t" r="r" b="b"/>
            <a:pathLst>
              <a:path w="2407881" h="2407881" extrusionOk="0">
                <a:moveTo>
                  <a:pt x="0" y="0"/>
                </a:moveTo>
                <a:lnTo>
                  <a:pt x="2407881" y="0"/>
                </a:lnTo>
                <a:lnTo>
                  <a:pt x="2407881" y="2407881"/>
                </a:lnTo>
                <a:lnTo>
                  <a:pt x="0" y="2407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24" name="Google Shape;424;p40"/>
          <p:cNvSpPr txBox="1"/>
          <p:nvPr/>
        </p:nvSpPr>
        <p:spPr>
          <a:xfrm>
            <a:off x="672856" y="726266"/>
            <a:ext cx="1869711" cy="156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7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VSCode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0"/>
          <p:cNvSpPr txBox="1"/>
          <p:nvPr/>
        </p:nvSpPr>
        <p:spPr>
          <a:xfrm>
            <a:off x="3497630" y="1696467"/>
            <a:ext cx="1869711" cy="1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7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 studio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6219077" y="2852905"/>
            <a:ext cx="2068975" cy="198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7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 dirty="0">
                <a:latin typeface="DM Sans"/>
                <a:sym typeface="DM Sans"/>
              </a:rPr>
              <a:t>Rider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Visual Studio Code Vs Visual Studio – Are They The Same? - Techvify">
            <a:extLst>
              <a:ext uri="{FF2B5EF4-FFF2-40B4-BE49-F238E27FC236}">
                <a16:creationId xmlns:a16="http://schemas.microsoft.com/office/drawing/2014/main" id="{A0BBD209-12C2-90FB-1C8E-F8C4DE200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633" y="1948229"/>
            <a:ext cx="1822605" cy="136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Jetbrains-Rider-2022-Sub-1 User | Overview, Specs, Details | SHI">
            <a:extLst>
              <a:ext uri="{FF2B5EF4-FFF2-40B4-BE49-F238E27FC236}">
                <a16:creationId xmlns:a16="http://schemas.microsoft.com/office/drawing/2014/main" id="{1B5DC95C-B927-7006-AB38-B58AED80B4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666" y="3185696"/>
            <a:ext cx="1616280" cy="1212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1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32" name="Google Shape;432;p41"/>
          <p:cNvSpPr/>
          <p:nvPr/>
        </p:nvSpPr>
        <p:spPr>
          <a:xfrm>
            <a:off x="6811041" y="908411"/>
            <a:ext cx="2104287" cy="2123592"/>
          </a:xfrm>
          <a:custGeom>
            <a:avLst/>
            <a:gdLst/>
            <a:ahLst/>
            <a:cxnLst/>
            <a:rect l="l" t="t" r="r" b="b"/>
            <a:pathLst>
              <a:path w="4208573" h="4247184" extrusionOk="0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33" name="Google Shape;433;p41"/>
          <p:cNvSpPr/>
          <p:nvPr/>
        </p:nvSpPr>
        <p:spPr>
          <a:xfrm>
            <a:off x="5836345" y="1302959"/>
            <a:ext cx="2425781" cy="2425781"/>
          </a:xfrm>
          <a:custGeom>
            <a:avLst/>
            <a:gdLst/>
            <a:ahLst/>
            <a:cxnLst/>
            <a:rect l="l" t="t" r="r" b="b"/>
            <a:pathLst>
              <a:path w="4851561" h="4851561" extrusionOk="0">
                <a:moveTo>
                  <a:pt x="0" y="0"/>
                </a:moveTo>
                <a:lnTo>
                  <a:pt x="4851561" y="0"/>
                </a:lnTo>
                <a:lnTo>
                  <a:pt x="4851561" y="4851561"/>
                </a:lnTo>
                <a:lnTo>
                  <a:pt x="0" y="4851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34" name="Google Shape;434;p41"/>
          <p:cNvSpPr txBox="1"/>
          <p:nvPr/>
        </p:nvSpPr>
        <p:spPr>
          <a:xfrm>
            <a:off x="431006" y="609600"/>
            <a:ext cx="3924377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VSCode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1"/>
          <p:cNvSpPr txBox="1"/>
          <p:nvPr/>
        </p:nvSpPr>
        <p:spPr>
          <a:xfrm>
            <a:off x="431006" y="4416074"/>
            <a:ext cx="1304284" cy="21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1" u="sng" strike="noStrike" cap="non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6"/>
              </a:rPr>
              <a:t>Página Oficial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1"/>
          <p:cNvSpPr txBox="1"/>
          <p:nvPr/>
        </p:nvSpPr>
        <p:spPr>
          <a:xfrm>
            <a:off x="675344" y="1632683"/>
            <a:ext cx="4351419" cy="174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editor de código fuente compatible con Windows, macOS y Linux. Resalta por tener soporte para la depuración, integra Git, posee el resaltado de sintaxis, autocompletado de código y demás. Igualmente, posee lo que son </a:t>
            </a:r>
            <a:r>
              <a:rPr lang="es" sz="13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Extensiones </a:t>
            </a:r>
            <a:r>
              <a:rPr lang="es" sz="13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que permite una experiencia más personalizada al usuario y que este IDE pueda admitir casi cualquier lenguaje de programación.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442" name="Google Shape;442;p42"/>
          <p:cNvGrpSpPr/>
          <p:nvPr/>
        </p:nvGrpSpPr>
        <p:grpSpPr>
          <a:xfrm>
            <a:off x="4987745" y="585131"/>
            <a:ext cx="3499031" cy="1280764"/>
            <a:chOff x="0" y="0"/>
            <a:chExt cx="2342659" cy="857492"/>
          </a:xfrm>
        </p:grpSpPr>
        <p:sp>
          <p:nvSpPr>
            <p:cNvPr id="443" name="Google Shape;443;p42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2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5" name="Google Shape;445;p42"/>
          <p:cNvGrpSpPr/>
          <p:nvPr/>
        </p:nvGrpSpPr>
        <p:grpSpPr>
          <a:xfrm>
            <a:off x="4987745" y="3278613"/>
            <a:ext cx="3499031" cy="1280764"/>
            <a:chOff x="0" y="0"/>
            <a:chExt cx="2342659" cy="857492"/>
          </a:xfrm>
        </p:grpSpPr>
        <p:sp>
          <p:nvSpPr>
            <p:cNvPr id="446" name="Google Shape;446;p42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2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42"/>
          <p:cNvSpPr/>
          <p:nvPr/>
        </p:nvSpPr>
        <p:spPr>
          <a:xfrm>
            <a:off x="-424285" y="4459831"/>
            <a:ext cx="1935473" cy="475071"/>
          </a:xfrm>
          <a:custGeom>
            <a:avLst/>
            <a:gdLst/>
            <a:ahLst/>
            <a:cxnLst/>
            <a:rect l="l" t="t" r="r" b="b"/>
            <a:pathLst>
              <a:path w="3870946" h="950141" extrusionOk="0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49" name="Google Shape;449;p42"/>
          <p:cNvSpPr/>
          <p:nvPr/>
        </p:nvSpPr>
        <p:spPr>
          <a:xfrm>
            <a:off x="2236453" y="-1182407"/>
            <a:ext cx="2490476" cy="1865593"/>
          </a:xfrm>
          <a:custGeom>
            <a:avLst/>
            <a:gdLst/>
            <a:ahLst/>
            <a:cxnLst/>
            <a:rect l="l" t="t" r="r" b="b"/>
            <a:pathLst>
              <a:path w="4980952" h="3731186" extrusionOk="0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50" name="Google Shape;450;p42"/>
          <p:cNvSpPr/>
          <p:nvPr/>
        </p:nvSpPr>
        <p:spPr>
          <a:xfrm>
            <a:off x="1715537" y="4459830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51" name="Google Shape;451;p42"/>
          <p:cNvSpPr/>
          <p:nvPr/>
        </p:nvSpPr>
        <p:spPr>
          <a:xfrm>
            <a:off x="-424285" y="-372206"/>
            <a:ext cx="1298663" cy="1398292"/>
          </a:xfrm>
          <a:custGeom>
            <a:avLst/>
            <a:gdLst/>
            <a:ahLst/>
            <a:cxnLst/>
            <a:rect l="l" t="t" r="r" b="b"/>
            <a:pathLst>
              <a:path w="2597326" h="2796583" extrusionOk="0">
                <a:moveTo>
                  <a:pt x="0" y="0"/>
                </a:moveTo>
                <a:lnTo>
                  <a:pt x="2597327" y="0"/>
                </a:lnTo>
                <a:lnTo>
                  <a:pt x="2597327" y="2796583"/>
                </a:lnTo>
                <a:lnTo>
                  <a:pt x="0" y="2796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52" name="Google Shape;452;p42"/>
          <p:cNvSpPr/>
          <p:nvPr/>
        </p:nvSpPr>
        <p:spPr>
          <a:xfrm>
            <a:off x="266208" y="1443114"/>
            <a:ext cx="4192168" cy="2389632"/>
          </a:xfrm>
          <a:custGeom>
            <a:avLst/>
            <a:gdLst/>
            <a:ahLst/>
            <a:cxnLst/>
            <a:rect l="l" t="t" r="r" b="b"/>
            <a:pathLst>
              <a:path w="8384336" h="4779265" extrusionOk="0">
                <a:moveTo>
                  <a:pt x="0" y="0"/>
                </a:moveTo>
                <a:lnTo>
                  <a:pt x="8384335" y="0"/>
                </a:lnTo>
                <a:lnTo>
                  <a:pt x="8384335" y="4779265"/>
                </a:lnTo>
                <a:lnTo>
                  <a:pt x="0" y="47792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53" name="Google Shape;453;p42"/>
          <p:cNvSpPr/>
          <p:nvPr/>
        </p:nvSpPr>
        <p:spPr>
          <a:xfrm>
            <a:off x="4865016" y="749058"/>
            <a:ext cx="3744489" cy="952910"/>
          </a:xfrm>
          <a:custGeom>
            <a:avLst/>
            <a:gdLst/>
            <a:ahLst/>
            <a:cxnLst/>
            <a:rect l="l" t="t" r="r" b="b"/>
            <a:pathLst>
              <a:path w="7488977" h="1905820" extrusionOk="0">
                <a:moveTo>
                  <a:pt x="0" y="0"/>
                </a:moveTo>
                <a:lnTo>
                  <a:pt x="7488977" y="0"/>
                </a:lnTo>
                <a:lnTo>
                  <a:pt x="7488977" y="1905820"/>
                </a:lnTo>
                <a:lnTo>
                  <a:pt x="0" y="1905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54" name="Google Shape;454;p42"/>
          <p:cNvSpPr/>
          <p:nvPr/>
        </p:nvSpPr>
        <p:spPr>
          <a:xfrm>
            <a:off x="5155375" y="3266296"/>
            <a:ext cx="3163770" cy="1362854"/>
          </a:xfrm>
          <a:custGeom>
            <a:avLst/>
            <a:gdLst/>
            <a:ahLst/>
            <a:cxnLst/>
            <a:rect l="l" t="t" r="r" b="b"/>
            <a:pathLst>
              <a:path w="6327539" h="2725709" extrusionOk="0">
                <a:moveTo>
                  <a:pt x="0" y="0"/>
                </a:moveTo>
                <a:lnTo>
                  <a:pt x="6327539" y="0"/>
                </a:lnTo>
                <a:lnTo>
                  <a:pt x="6327539" y="2725709"/>
                </a:lnTo>
                <a:lnTo>
                  <a:pt x="0" y="27257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55" name="Google Shape;455;p42"/>
          <p:cNvSpPr txBox="1"/>
          <p:nvPr/>
        </p:nvSpPr>
        <p:spPr>
          <a:xfrm>
            <a:off x="4938958" y="2129246"/>
            <a:ext cx="3764635" cy="44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Una vez se descarga el instalador, este se corre (VSCodeUserSetup-{version}.exe).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42"/>
          <p:cNvSpPr txBox="1"/>
          <p:nvPr/>
        </p:nvSpPr>
        <p:spPr>
          <a:xfrm>
            <a:off x="5425083" y="2833688"/>
            <a:ext cx="2792385" cy="217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4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1" u="sng" strike="noStrike" cap="none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11"/>
              </a:rPr>
              <a:t>Documentación del setup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62" name="Google Shape;462;p43"/>
          <p:cNvSpPr txBox="1"/>
          <p:nvPr/>
        </p:nvSpPr>
        <p:spPr>
          <a:xfrm>
            <a:off x="244308" y="213612"/>
            <a:ext cx="6570092" cy="67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Configuración para C#: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3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64" name="Google Shape;464;p43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65" name="Google Shape;465;p43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66" name="Google Shape;466;p43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67" name="Google Shape;467;p43"/>
          <p:cNvSpPr/>
          <p:nvPr/>
        </p:nvSpPr>
        <p:spPr>
          <a:xfrm>
            <a:off x="7190426" y="155385"/>
            <a:ext cx="888529" cy="888530"/>
          </a:xfrm>
          <a:custGeom>
            <a:avLst/>
            <a:gdLst/>
            <a:ahLst/>
            <a:cxnLst/>
            <a:rect l="l" t="t" r="r" b="b"/>
            <a:pathLst>
              <a:path w="1777059" h="1777059" extrusionOk="0">
                <a:moveTo>
                  <a:pt x="0" y="0"/>
                </a:moveTo>
                <a:lnTo>
                  <a:pt x="1777059" y="0"/>
                </a:lnTo>
                <a:lnTo>
                  <a:pt x="1777059" y="1777059"/>
                </a:lnTo>
                <a:lnTo>
                  <a:pt x="0" y="17770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69" name="Google Shape;469;p43"/>
          <p:cNvSpPr/>
          <p:nvPr/>
        </p:nvSpPr>
        <p:spPr>
          <a:xfrm>
            <a:off x="477059" y="2391380"/>
            <a:ext cx="435809" cy="2933739"/>
          </a:xfrm>
          <a:custGeom>
            <a:avLst/>
            <a:gdLst/>
            <a:ahLst/>
            <a:cxnLst/>
            <a:rect l="l" t="t" r="r" b="b"/>
            <a:pathLst>
              <a:path w="871618" h="5867478" extrusionOk="0">
                <a:moveTo>
                  <a:pt x="0" y="0"/>
                </a:moveTo>
                <a:lnTo>
                  <a:pt x="871619" y="0"/>
                </a:lnTo>
                <a:lnTo>
                  <a:pt x="871619" y="5867477"/>
                </a:lnTo>
                <a:lnTo>
                  <a:pt x="0" y="5867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 dirty="0"/>
          </a:p>
        </p:txBody>
      </p:sp>
      <p:pic>
        <p:nvPicPr>
          <p:cNvPr id="470" name="Google Shape;470;p43"/>
          <p:cNvPicPr preferRelativeResize="0"/>
          <p:nvPr/>
        </p:nvPicPr>
        <p:blipFill rotWithShape="1">
          <a:blip r:embed="rId10">
            <a:alphaModFix/>
          </a:blip>
          <a:srcRect t="34" b="31"/>
          <a:stretch/>
        </p:blipFill>
        <p:spPr>
          <a:xfrm>
            <a:off x="91908" y="3426110"/>
            <a:ext cx="1036113" cy="62684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3"/>
          <p:cNvSpPr txBox="1"/>
          <p:nvPr/>
        </p:nvSpPr>
        <p:spPr>
          <a:xfrm>
            <a:off x="244308" y="1467006"/>
            <a:ext cx="7013319" cy="599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Nos dirigimos ya a VSCode y nos vamos a la sección de </a:t>
            </a:r>
            <a:r>
              <a:rPr lang="es" sz="18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Extensiones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3"/>
          <p:cNvSpPr txBox="1"/>
          <p:nvPr/>
        </p:nvSpPr>
        <p:spPr>
          <a:xfrm>
            <a:off x="1607102" y="2212135"/>
            <a:ext cx="4259106" cy="31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1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Buscamos la extensión de C#: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0D313892-1257-6FD8-A4DF-3D008BAF84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9478" y="3054985"/>
            <a:ext cx="5552360" cy="12766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4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81" name="Google Shape;481;p44"/>
          <p:cNvSpPr/>
          <p:nvPr/>
        </p:nvSpPr>
        <p:spPr>
          <a:xfrm>
            <a:off x="6811041" y="908411"/>
            <a:ext cx="2104287" cy="2123592"/>
          </a:xfrm>
          <a:custGeom>
            <a:avLst/>
            <a:gdLst/>
            <a:ahLst/>
            <a:cxnLst/>
            <a:rect l="l" t="t" r="r" b="b"/>
            <a:pathLst>
              <a:path w="4208573" h="4247184" extrusionOk="0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83" name="Google Shape;483;p44"/>
          <p:cNvSpPr txBox="1"/>
          <p:nvPr/>
        </p:nvSpPr>
        <p:spPr>
          <a:xfrm>
            <a:off x="431006" y="609600"/>
            <a:ext cx="3924377" cy="67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Rider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4"/>
          <p:cNvSpPr txBox="1"/>
          <p:nvPr/>
        </p:nvSpPr>
        <p:spPr>
          <a:xfrm>
            <a:off x="431006" y="4416074"/>
            <a:ext cx="1304284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1" u="sng" strike="noStrike" cap="none" dirty="0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5"/>
              </a:rPr>
              <a:t>Página Oficial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14350" y="1632683"/>
            <a:ext cx="4351419" cy="2700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Desarrollado por </a:t>
            </a:r>
            <a:r>
              <a:rPr lang="es" sz="13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JetBrains, </a:t>
            </a: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enfoca directamente en lo que es C#. Puede descargarse ya sea en su versión de paga (Professional) o gratis (Community). Se destaca por: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9400" marR="0" lvl="1" indent="-14605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Compatibilidad con trabajo de desarrollo Web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9400" marR="0" lvl="1" indent="-14605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Compatibilidad con herramientas científicas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9400" marR="0" lvl="1" indent="-14605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Desarrollo multi-tecnología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9400" marR="0" lvl="1" indent="-14605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Desarrollo remoto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79400" marR="0" lvl="1" indent="-14605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</a:pPr>
            <a:r>
              <a:rPr lang="es" sz="13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Herramientas de desarrollo integradas.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3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54DE2BF4-71E5-5FA7-9BEB-53180B0FF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332" y="1378826"/>
            <a:ext cx="2172003" cy="19147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5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1" name="Google Shape;491;p45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2" name="Google Shape;492;p45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3" name="Google Shape;493;p45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4" name="Google Shape;494;p45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6" name="Google Shape;496;p45"/>
          <p:cNvSpPr/>
          <p:nvPr/>
        </p:nvSpPr>
        <p:spPr>
          <a:xfrm>
            <a:off x="514350" y="2701948"/>
            <a:ext cx="4401667" cy="1927202"/>
          </a:xfrm>
          <a:custGeom>
            <a:avLst/>
            <a:gdLst/>
            <a:ahLst/>
            <a:cxnLst/>
            <a:rect l="l" t="t" r="r" b="b"/>
            <a:pathLst>
              <a:path w="8803333" h="3854404" extrusionOk="0">
                <a:moveTo>
                  <a:pt x="0" y="0"/>
                </a:moveTo>
                <a:lnTo>
                  <a:pt x="8803333" y="0"/>
                </a:lnTo>
                <a:lnTo>
                  <a:pt x="8803333" y="3854404"/>
                </a:lnTo>
                <a:lnTo>
                  <a:pt x="0" y="3854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7" name="Google Shape;497;p45"/>
          <p:cNvSpPr/>
          <p:nvPr/>
        </p:nvSpPr>
        <p:spPr>
          <a:xfrm>
            <a:off x="5350679" y="2424463"/>
            <a:ext cx="3278971" cy="1985432"/>
          </a:xfrm>
          <a:custGeom>
            <a:avLst/>
            <a:gdLst/>
            <a:ahLst/>
            <a:cxnLst/>
            <a:rect l="l" t="t" r="r" b="b"/>
            <a:pathLst>
              <a:path w="6557941" h="3970863" extrusionOk="0">
                <a:moveTo>
                  <a:pt x="0" y="0"/>
                </a:moveTo>
                <a:lnTo>
                  <a:pt x="6557941" y="0"/>
                </a:lnTo>
                <a:lnTo>
                  <a:pt x="6557941" y="3970863"/>
                </a:lnTo>
                <a:lnTo>
                  <a:pt x="0" y="3970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498" name="Google Shape;498;p45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45"/>
          <p:cNvSpPr txBox="1"/>
          <p:nvPr/>
        </p:nvSpPr>
        <p:spPr>
          <a:xfrm>
            <a:off x="514350" y="1557872"/>
            <a:ext cx="7319391" cy="417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0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este caso ya que el paquete estudiantil nos ofrece los servicios de JetBrains gratis - utilizaremos la versión PyCharm para la educación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45"/>
          <p:cNvSpPr txBox="1"/>
          <p:nvPr/>
        </p:nvSpPr>
        <p:spPr>
          <a:xfrm>
            <a:off x="514350" y="2038836"/>
            <a:ext cx="6936822" cy="20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1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0"/>
              </a:rPr>
              <a:t>https://www.jetbrains.com/community/education/#students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5"/>
          <p:cNvSpPr txBox="1"/>
          <p:nvPr/>
        </p:nvSpPr>
        <p:spPr>
          <a:xfrm>
            <a:off x="514350" y="2324700"/>
            <a:ext cx="6936822" cy="20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1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1"/>
              </a:rPr>
              <a:t>https://www.jetbrains.com/shop/eform/students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45"/>
          <p:cNvSpPr txBox="1"/>
          <p:nvPr/>
        </p:nvSpPr>
        <p:spPr>
          <a:xfrm>
            <a:off x="703578" y="4781550"/>
            <a:ext cx="3173394" cy="204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200" b="1" i="1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2"/>
              </a:rPr>
              <a:t>https://account.jetbrains.com/login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9D1124B2-2794-A50A-8F6A-FAE0EA1E2D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6893" y="202565"/>
            <a:ext cx="1343517" cy="11844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6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08" name="Google Shape;508;p46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09" name="Google Shape;509;p46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10" name="Google Shape;510;p46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11" name="Google Shape;511;p46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13" name="Google Shape;513;p46"/>
          <p:cNvSpPr/>
          <p:nvPr/>
        </p:nvSpPr>
        <p:spPr>
          <a:xfrm>
            <a:off x="192256" y="1594917"/>
            <a:ext cx="5102918" cy="2517799"/>
          </a:xfrm>
          <a:custGeom>
            <a:avLst/>
            <a:gdLst/>
            <a:ahLst/>
            <a:cxnLst/>
            <a:rect l="l" t="t" r="r" b="b"/>
            <a:pathLst>
              <a:path w="10205836" h="5035597" extrusionOk="0">
                <a:moveTo>
                  <a:pt x="0" y="0"/>
                </a:moveTo>
                <a:lnTo>
                  <a:pt x="10205836" y="0"/>
                </a:lnTo>
                <a:lnTo>
                  <a:pt x="10205836" y="5035597"/>
                </a:lnTo>
                <a:lnTo>
                  <a:pt x="0" y="5035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14" name="Google Shape;514;p46"/>
          <p:cNvSpPr/>
          <p:nvPr/>
        </p:nvSpPr>
        <p:spPr>
          <a:xfrm>
            <a:off x="5827726" y="1327940"/>
            <a:ext cx="2459567" cy="3208967"/>
          </a:xfrm>
          <a:custGeom>
            <a:avLst/>
            <a:gdLst/>
            <a:ahLst/>
            <a:cxnLst/>
            <a:rect l="l" t="t" r="r" b="b"/>
            <a:pathLst>
              <a:path w="4919135" h="6417933" extrusionOk="0">
                <a:moveTo>
                  <a:pt x="0" y="0"/>
                </a:moveTo>
                <a:lnTo>
                  <a:pt x="4919135" y="0"/>
                </a:lnTo>
                <a:lnTo>
                  <a:pt x="4919135" y="6417933"/>
                </a:lnTo>
                <a:lnTo>
                  <a:pt x="0" y="6417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515" name="Google Shape;515;p46"/>
          <p:cNvGrpSpPr/>
          <p:nvPr/>
        </p:nvGrpSpPr>
        <p:grpSpPr>
          <a:xfrm>
            <a:off x="4313256" y="2201273"/>
            <a:ext cx="829546" cy="219939"/>
            <a:chOff x="0" y="-38100"/>
            <a:chExt cx="436962" cy="115853"/>
          </a:xfrm>
        </p:grpSpPr>
        <p:sp>
          <p:nvSpPr>
            <p:cNvPr id="516" name="Google Shape;516;p46"/>
            <p:cNvSpPr/>
            <p:nvPr/>
          </p:nvSpPr>
          <p:spPr>
            <a:xfrm>
              <a:off x="0" y="0"/>
              <a:ext cx="436962" cy="77753"/>
            </a:xfrm>
            <a:custGeom>
              <a:avLst/>
              <a:gdLst/>
              <a:ahLst/>
              <a:cxnLst/>
              <a:rect l="l" t="t" r="r" b="b"/>
              <a:pathLst>
                <a:path w="436962" h="77753" extrusionOk="0">
                  <a:moveTo>
                    <a:pt x="0" y="0"/>
                  </a:moveTo>
                  <a:lnTo>
                    <a:pt x="436962" y="0"/>
                  </a:lnTo>
                  <a:lnTo>
                    <a:pt x="436962" y="77753"/>
                  </a:lnTo>
                  <a:lnTo>
                    <a:pt x="0" y="77753"/>
                  </a:lnTo>
                  <a:close/>
                </a:path>
              </a:pathLst>
            </a:custGeom>
            <a:solidFill>
              <a:srgbClr val="062D52"/>
            </a:solidFill>
            <a:ln>
              <a:noFill/>
            </a:ln>
          </p:spPr>
          <p:txBody>
            <a:bodyPr/>
            <a:lstStyle/>
            <a:p>
              <a:endParaRPr lang="es-419"/>
            </a:p>
          </p:txBody>
        </p:sp>
        <p:sp>
          <p:nvSpPr>
            <p:cNvPr id="517" name="Google Shape;517;p46"/>
            <p:cNvSpPr txBox="1"/>
            <p:nvPr/>
          </p:nvSpPr>
          <p:spPr>
            <a:xfrm>
              <a:off x="0" y="-38100"/>
              <a:ext cx="436961" cy="115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46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562918A8-8D2F-55A0-6C22-791B5E9AE1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2988" y="120222"/>
            <a:ext cx="1506244" cy="13278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7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24" name="Google Shape;524;p47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25" name="Google Shape;525;p47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26" name="Google Shape;526;p47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27" name="Google Shape;527;p47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31" name="Google Shape;531;p47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cono&#10;&#10;El contenido generado por IA puede ser incorrecto.">
            <a:extLst>
              <a:ext uri="{FF2B5EF4-FFF2-40B4-BE49-F238E27FC236}">
                <a16:creationId xmlns:a16="http://schemas.microsoft.com/office/drawing/2014/main" id="{CAD56ADB-8BA6-DCF5-8C1B-1D960627F0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7647" y="1262878"/>
            <a:ext cx="2172003" cy="1914792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842CF8BD-D0D8-161A-D665-54B4168F06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28" y="1434404"/>
            <a:ext cx="5756188" cy="292474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8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37" name="Google Shape;537;p48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38" name="Google Shape;538;p48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39" name="Google Shape;539;p48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40" name="Google Shape;540;p48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45" name="Google Shape;545;p48"/>
          <p:cNvSpPr/>
          <p:nvPr/>
        </p:nvSpPr>
        <p:spPr>
          <a:xfrm>
            <a:off x="6207361" y="3960304"/>
            <a:ext cx="2691444" cy="386563"/>
          </a:xfrm>
          <a:custGeom>
            <a:avLst/>
            <a:gdLst/>
            <a:ahLst/>
            <a:cxnLst/>
            <a:rect l="l" t="t" r="r" b="b"/>
            <a:pathLst>
              <a:path w="5382887" h="773126" extrusionOk="0">
                <a:moveTo>
                  <a:pt x="0" y="0"/>
                </a:moveTo>
                <a:lnTo>
                  <a:pt x="5382887" y="0"/>
                </a:lnTo>
                <a:lnTo>
                  <a:pt x="5382887" y="773125"/>
                </a:lnTo>
                <a:lnTo>
                  <a:pt x="0" y="77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46" name="Google Shape;546;p48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A291A231-9575-C910-CCBA-8358A52CE6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4308" y="1022911"/>
            <a:ext cx="3147209" cy="2440821"/>
          </a:xfrm>
          <a:prstGeom prst="rect">
            <a:avLst/>
          </a:prstGeom>
        </p:spPr>
      </p:pic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005AA0BB-CE2F-3BE8-2CCD-3D22D47A1C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5169" y="2321001"/>
            <a:ext cx="3364966" cy="2602960"/>
          </a:xfrm>
          <a:prstGeom prst="rect">
            <a:avLst/>
          </a:prstGeom>
        </p:spPr>
      </p:pic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CDDA9C42-4C72-0CFD-1259-A6F46DBFA3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56138" y="1532926"/>
            <a:ext cx="3364966" cy="2582260"/>
          </a:xfrm>
          <a:prstGeom prst="rect">
            <a:avLst/>
          </a:prstGeom>
        </p:spPr>
      </p:pic>
      <p:pic>
        <p:nvPicPr>
          <p:cNvPr id="9" name="Imagen 8" descr="Interfaz de usuario gráfica, Icono&#10;&#10;El contenido generado por IA puede ser incorrecto.">
            <a:extLst>
              <a:ext uri="{FF2B5EF4-FFF2-40B4-BE49-F238E27FC236}">
                <a16:creationId xmlns:a16="http://schemas.microsoft.com/office/drawing/2014/main" id="{3F4B7C3C-F214-6A0B-28FE-043F045C2F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7807" y="364271"/>
            <a:ext cx="1277875" cy="11265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0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66" name="Google Shape;566;p50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67" name="Google Shape;567;p50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68" name="Google Shape;568;p50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69" name="Google Shape;569;p50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72" name="Google Shape;572;p50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37E52B9-4C61-0F8C-26E6-13C4AF24CC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2515" y="1189698"/>
            <a:ext cx="4437620" cy="3463965"/>
          </a:xfrm>
          <a:prstGeom prst="rect">
            <a:avLst/>
          </a:prstGeom>
        </p:spPr>
      </p:pic>
      <p:pic>
        <p:nvPicPr>
          <p:cNvPr id="5" name="Imagen 4" descr="Interfaz de usuario gráfica, Icono&#10;&#10;El contenido generado por IA puede ser incorrecto.">
            <a:extLst>
              <a:ext uri="{FF2B5EF4-FFF2-40B4-BE49-F238E27FC236}">
                <a16:creationId xmlns:a16="http://schemas.microsoft.com/office/drawing/2014/main" id="{C5E4886B-AD2F-9CA5-89AD-E474B90036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3288" y="408882"/>
            <a:ext cx="1374589" cy="12118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1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78" name="Google Shape;578;p51"/>
          <p:cNvSpPr/>
          <p:nvPr/>
        </p:nvSpPr>
        <p:spPr>
          <a:xfrm>
            <a:off x="7676745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79" name="Google Shape;579;p51"/>
          <p:cNvSpPr/>
          <p:nvPr/>
        </p:nvSpPr>
        <p:spPr>
          <a:xfrm>
            <a:off x="4572000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80" name="Google Shape;580;p51"/>
          <p:cNvSpPr/>
          <p:nvPr/>
        </p:nvSpPr>
        <p:spPr>
          <a:xfrm>
            <a:off x="2290274" y="-1164840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81" name="Google Shape;581;p51"/>
          <p:cNvSpPr/>
          <p:nvPr/>
        </p:nvSpPr>
        <p:spPr>
          <a:xfrm rot="-5282649">
            <a:off x="8002143" y="132687"/>
            <a:ext cx="2008604" cy="685436"/>
          </a:xfrm>
          <a:custGeom>
            <a:avLst/>
            <a:gdLst/>
            <a:ahLst/>
            <a:cxnLst/>
            <a:rect l="l" t="t" r="r" b="b"/>
            <a:pathLst>
              <a:path w="4017207" h="1370872" extrusionOk="0">
                <a:moveTo>
                  <a:pt x="0" y="0"/>
                </a:moveTo>
                <a:lnTo>
                  <a:pt x="4017207" y="0"/>
                </a:lnTo>
                <a:lnTo>
                  <a:pt x="4017207" y="1370872"/>
                </a:lnTo>
                <a:lnTo>
                  <a:pt x="0" y="1370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85" name="Google Shape;585;p51"/>
          <p:cNvSpPr txBox="1"/>
          <p:nvPr/>
        </p:nvSpPr>
        <p:spPr>
          <a:xfrm>
            <a:off x="244308" y="489837"/>
            <a:ext cx="5346760" cy="588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Instalación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 descr="Interfaz de usuario gráfica, Icono&#10;&#10;El contenido generado por IA puede ser incorrecto.">
            <a:extLst>
              <a:ext uri="{FF2B5EF4-FFF2-40B4-BE49-F238E27FC236}">
                <a16:creationId xmlns:a16="http://schemas.microsoft.com/office/drawing/2014/main" id="{37635E10-63DD-19AC-E777-EAB3EF1239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9450" y="386392"/>
            <a:ext cx="1374589" cy="1211809"/>
          </a:xfrm>
          <a:prstGeom prst="rect">
            <a:avLst/>
          </a:prstGeom>
        </p:spPr>
      </p:pic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B1707137-FF20-337C-8753-30BA14DA67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1698" y="1673557"/>
            <a:ext cx="5701145" cy="27512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2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91" name="Google Shape;591;p52"/>
          <p:cNvSpPr/>
          <p:nvPr/>
        </p:nvSpPr>
        <p:spPr>
          <a:xfrm>
            <a:off x="6811041" y="908411"/>
            <a:ext cx="2104287" cy="2123592"/>
          </a:xfrm>
          <a:custGeom>
            <a:avLst/>
            <a:gdLst/>
            <a:ahLst/>
            <a:cxnLst/>
            <a:rect l="l" t="t" r="r" b="b"/>
            <a:pathLst>
              <a:path w="4208573" h="4247184" extrusionOk="0">
                <a:moveTo>
                  <a:pt x="0" y="0"/>
                </a:moveTo>
                <a:lnTo>
                  <a:pt x="4208573" y="0"/>
                </a:lnTo>
                <a:lnTo>
                  <a:pt x="4208573" y="4247184"/>
                </a:lnTo>
                <a:lnTo>
                  <a:pt x="0" y="4247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593" name="Google Shape;593;p52"/>
          <p:cNvSpPr txBox="1"/>
          <p:nvPr/>
        </p:nvSpPr>
        <p:spPr>
          <a:xfrm>
            <a:off x="514350" y="1552478"/>
            <a:ext cx="4424795" cy="1495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34988"/>
              </a:lnSpc>
              <a:buSzPts val="1300"/>
            </a:pPr>
            <a:r>
              <a:rPr lang="es-419" sz="1200" dirty="0"/>
              <a:t>Visual Studio es un entorno de desarrollo integrado completo desarrollado por Microsoft, especializado en C# y .NET. Proporciona herramientas avanzadas de depuración, diseño visual de interfaces, administración de proyectos y soporte profesional para aplicaciones grandes. La versión </a:t>
            </a:r>
            <a:r>
              <a:rPr lang="es-419" sz="1200" dirty="0" err="1"/>
              <a:t>Community</a:t>
            </a:r>
            <a:r>
              <a:rPr lang="es-419" sz="1200" dirty="0"/>
              <a:t> es gratuita para estudiantes.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2"/>
          <p:cNvSpPr txBox="1"/>
          <p:nvPr/>
        </p:nvSpPr>
        <p:spPr>
          <a:xfrm>
            <a:off x="431006" y="609600"/>
            <a:ext cx="4812775" cy="671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 studio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2"/>
          <p:cNvSpPr txBox="1"/>
          <p:nvPr/>
        </p:nvSpPr>
        <p:spPr>
          <a:xfrm>
            <a:off x="431006" y="4416074"/>
            <a:ext cx="1304284" cy="270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03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s" sz="1300" b="0" i="1" u="sng" strike="noStrike" cap="none" dirty="0">
                <a:solidFill>
                  <a:schemeClr val="hlink"/>
                </a:solidFill>
                <a:latin typeface="Sansita"/>
                <a:ea typeface="Sansita"/>
                <a:cs typeface="Sansita"/>
                <a:sym typeface="Sansita"/>
                <a:hlinkClick r:id="rId5"/>
              </a:rPr>
              <a:t>Página Oficial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Visual Studio Code Vs Visual Studio – Are They The Same? - Techvify">
            <a:extLst>
              <a:ext uri="{FF2B5EF4-FFF2-40B4-BE49-F238E27FC236}">
                <a16:creationId xmlns:a16="http://schemas.microsoft.com/office/drawing/2014/main" id="{91A14F52-5A30-79D5-3332-59E80B30A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4342" y="1454192"/>
            <a:ext cx="2104287" cy="1578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3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3" name="Google Shape;603;p53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4" name="Google Shape;604;p53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5" name="Google Shape;605;p53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6" name="Google Shape;606;p53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7" name="Google Shape;607;p53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8" name="Google Shape;608;p53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9" name="Google Shape;609;p53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0" name="Google Shape;610;p53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1" name="Google Shape;611;p53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2" name="Google Shape;612;p53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3" name="Google Shape;613;p53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4" name="Google Shape;614;p53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5" name="Google Shape;615;p53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pic>
        <p:nvPicPr>
          <p:cNvPr id="3" name="Imagen 2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AB94799-CDD1-1241-3277-8FA815DB272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4262" y="1106194"/>
            <a:ext cx="6124353" cy="338079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>
          <a:extLst>
            <a:ext uri="{FF2B5EF4-FFF2-40B4-BE49-F238E27FC236}">
              <a16:creationId xmlns:a16="http://schemas.microsoft.com/office/drawing/2014/main" id="{E2A60BFB-AF90-9F00-1E7F-817752C2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3">
            <a:extLst>
              <a:ext uri="{FF2B5EF4-FFF2-40B4-BE49-F238E27FC236}">
                <a16:creationId xmlns:a16="http://schemas.microsoft.com/office/drawing/2014/main" id="{F5341706-F777-F903-718B-44723F8ED537}"/>
              </a:ext>
            </a:extLst>
          </p:cNvPr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3" name="Google Shape;603;p53">
            <a:extLst>
              <a:ext uri="{FF2B5EF4-FFF2-40B4-BE49-F238E27FC236}">
                <a16:creationId xmlns:a16="http://schemas.microsoft.com/office/drawing/2014/main" id="{11B64FA9-4FCD-3A69-A0EC-3A52C6C3E784}"/>
              </a:ext>
            </a:extLst>
          </p:cNvPr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4" name="Google Shape;604;p53">
            <a:extLst>
              <a:ext uri="{FF2B5EF4-FFF2-40B4-BE49-F238E27FC236}">
                <a16:creationId xmlns:a16="http://schemas.microsoft.com/office/drawing/2014/main" id="{3FC2385E-D920-3FDB-F33E-14A4B159406A}"/>
              </a:ext>
            </a:extLst>
          </p:cNvPr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5" name="Google Shape;605;p53">
            <a:extLst>
              <a:ext uri="{FF2B5EF4-FFF2-40B4-BE49-F238E27FC236}">
                <a16:creationId xmlns:a16="http://schemas.microsoft.com/office/drawing/2014/main" id="{15BF3E05-C719-2EFF-743B-3BCD7E0C9AAD}"/>
              </a:ext>
            </a:extLst>
          </p:cNvPr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6" name="Google Shape;606;p53">
            <a:extLst>
              <a:ext uri="{FF2B5EF4-FFF2-40B4-BE49-F238E27FC236}">
                <a16:creationId xmlns:a16="http://schemas.microsoft.com/office/drawing/2014/main" id="{297C0570-3841-B03B-E047-2AB5986EECCE}"/>
              </a:ext>
            </a:extLst>
          </p:cNvPr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7" name="Google Shape;607;p53">
            <a:extLst>
              <a:ext uri="{FF2B5EF4-FFF2-40B4-BE49-F238E27FC236}">
                <a16:creationId xmlns:a16="http://schemas.microsoft.com/office/drawing/2014/main" id="{9AC4B7CA-2E9C-C7B0-5D15-6665C8B77499}"/>
              </a:ext>
            </a:extLst>
          </p:cNvPr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8" name="Google Shape;608;p53">
            <a:extLst>
              <a:ext uri="{FF2B5EF4-FFF2-40B4-BE49-F238E27FC236}">
                <a16:creationId xmlns:a16="http://schemas.microsoft.com/office/drawing/2014/main" id="{D85136BD-BA3F-3BA9-271D-2ED0FA2EEE6D}"/>
              </a:ext>
            </a:extLst>
          </p:cNvPr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09" name="Google Shape;609;p53">
            <a:extLst>
              <a:ext uri="{FF2B5EF4-FFF2-40B4-BE49-F238E27FC236}">
                <a16:creationId xmlns:a16="http://schemas.microsoft.com/office/drawing/2014/main" id="{A86FE599-E6AD-D01B-00ED-57213D990CF3}"/>
              </a:ext>
            </a:extLst>
          </p:cNvPr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0" name="Google Shape;610;p53">
            <a:extLst>
              <a:ext uri="{FF2B5EF4-FFF2-40B4-BE49-F238E27FC236}">
                <a16:creationId xmlns:a16="http://schemas.microsoft.com/office/drawing/2014/main" id="{9908FA4F-88FA-0429-CF8B-97E8061E0327}"/>
              </a:ext>
            </a:extLst>
          </p:cNvPr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1" name="Google Shape;611;p53">
            <a:extLst>
              <a:ext uri="{FF2B5EF4-FFF2-40B4-BE49-F238E27FC236}">
                <a16:creationId xmlns:a16="http://schemas.microsoft.com/office/drawing/2014/main" id="{340A29AC-7FD2-4B1D-49DF-F7DB0648CCDC}"/>
              </a:ext>
            </a:extLst>
          </p:cNvPr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2" name="Google Shape;612;p53">
            <a:extLst>
              <a:ext uri="{FF2B5EF4-FFF2-40B4-BE49-F238E27FC236}">
                <a16:creationId xmlns:a16="http://schemas.microsoft.com/office/drawing/2014/main" id="{3FB5E7C7-32C3-D975-7B43-62C50D16C660}"/>
              </a:ext>
            </a:extLst>
          </p:cNvPr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3" name="Google Shape;613;p53">
            <a:extLst>
              <a:ext uri="{FF2B5EF4-FFF2-40B4-BE49-F238E27FC236}">
                <a16:creationId xmlns:a16="http://schemas.microsoft.com/office/drawing/2014/main" id="{D0CB9C91-7912-5B95-E61D-CAD6347D152A}"/>
              </a:ext>
            </a:extLst>
          </p:cNvPr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4" name="Google Shape;614;p53">
            <a:extLst>
              <a:ext uri="{FF2B5EF4-FFF2-40B4-BE49-F238E27FC236}">
                <a16:creationId xmlns:a16="http://schemas.microsoft.com/office/drawing/2014/main" id="{8FB01696-E559-8034-7189-15F8D8BCCC18}"/>
              </a:ext>
            </a:extLst>
          </p:cNvPr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15" name="Google Shape;615;p53">
            <a:extLst>
              <a:ext uri="{FF2B5EF4-FFF2-40B4-BE49-F238E27FC236}">
                <a16:creationId xmlns:a16="http://schemas.microsoft.com/office/drawing/2014/main" id="{94299821-BFE0-3C76-2A22-BB7119333CD0}"/>
              </a:ext>
            </a:extLst>
          </p:cNvPr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5D86644A-B837-5184-825E-AB58CD13160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1194" y="340544"/>
            <a:ext cx="9144000" cy="454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00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4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2" name="Google Shape;622;p54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3" name="Google Shape;623;p54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4" name="Google Shape;624;p54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5" name="Google Shape;625;p54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6" name="Google Shape;626;p54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7" name="Google Shape;627;p54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8" name="Google Shape;628;p54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29" name="Google Shape;629;p54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0" name="Google Shape;630;p54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1" name="Google Shape;631;p54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2" name="Google Shape;632;p54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3" name="Google Shape;633;p54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4" name="Google Shape;634;p54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5" name="Google Shape;635;p54"/>
          <p:cNvSpPr/>
          <p:nvPr/>
        </p:nvSpPr>
        <p:spPr>
          <a:xfrm>
            <a:off x="514350" y="2324670"/>
            <a:ext cx="1370647" cy="1370648"/>
          </a:xfrm>
          <a:custGeom>
            <a:avLst/>
            <a:gdLst/>
            <a:ahLst/>
            <a:cxnLst/>
            <a:rect l="l" t="t" r="r" b="b"/>
            <a:pathLst>
              <a:path w="2741295" h="2741295" extrusionOk="0">
                <a:moveTo>
                  <a:pt x="0" y="0"/>
                </a:moveTo>
                <a:lnTo>
                  <a:pt x="2741295" y="0"/>
                </a:lnTo>
                <a:lnTo>
                  <a:pt x="2741295" y="2741295"/>
                </a:lnTo>
                <a:lnTo>
                  <a:pt x="0" y="27412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36" name="Google Shape;636;p54"/>
          <p:cNvSpPr txBox="1"/>
          <p:nvPr/>
        </p:nvSpPr>
        <p:spPr>
          <a:xfrm>
            <a:off x="438846" y="884474"/>
            <a:ext cx="7682480" cy="1343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Entorno vscode o visual studio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4"/>
          <p:cNvSpPr txBox="1"/>
          <p:nvPr/>
        </p:nvSpPr>
        <p:spPr>
          <a:xfrm>
            <a:off x="1932030" y="2947517"/>
            <a:ext cx="3145896" cy="507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" sz="3400" b="1" i="1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Cual escoger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5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46" name="Google Shape;646;p55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47" name="Google Shape;647;p55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48" name="Google Shape;648;p55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49" name="Google Shape;649;p55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0" name="Google Shape;650;p55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1" name="Google Shape;651;p55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2" name="Google Shape;652;p55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3" name="Google Shape;653;p55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4" name="Google Shape;654;p55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5" name="Google Shape;655;p55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6" name="Google Shape;656;p55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7" name="Google Shape;657;p55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8" name="Google Shape;658;p55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59" name="Google Shape;659;p55"/>
          <p:cNvSpPr txBox="1"/>
          <p:nvPr/>
        </p:nvSpPr>
        <p:spPr>
          <a:xfrm>
            <a:off x="327625" y="1137766"/>
            <a:ext cx="6754073" cy="1526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6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es" sz="57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PROGRAMACIÓN BÁSICA CON C#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56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65" name="Google Shape;665;p56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66" name="Google Shape;666;p56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67" name="Google Shape;667;p56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68" name="Google Shape;668;p56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69" name="Google Shape;669;p56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0" name="Google Shape;670;p56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1" name="Google Shape;671;p56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2" name="Google Shape;672;p56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3" name="Google Shape;673;p56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4" name="Google Shape;674;p56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5" name="Google Shape;675;p56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6" name="Google Shape;676;p56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7" name="Google Shape;677;p56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79" name="Google Shape;679;p56"/>
          <p:cNvSpPr txBox="1"/>
          <p:nvPr/>
        </p:nvSpPr>
        <p:spPr>
          <a:xfrm>
            <a:off x="246715" y="849440"/>
            <a:ext cx="5784432" cy="406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6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" sz="34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PALABRAS RESERVADAS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0" name="Picture 2" descr="Palabras Reservadas en un Lenguaje">
            <a:extLst>
              <a:ext uri="{FF2B5EF4-FFF2-40B4-BE49-F238E27FC236}">
                <a16:creationId xmlns:a16="http://schemas.microsoft.com/office/drawing/2014/main" id="{C283E987-7981-8F82-A406-C48F97C72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21"/>
          <a:stretch>
            <a:fillRect/>
          </a:stretch>
        </p:blipFill>
        <p:spPr bwMode="auto">
          <a:xfrm>
            <a:off x="1383460" y="1564734"/>
            <a:ext cx="6031147" cy="2591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7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85" name="Google Shape;685;p57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86" name="Google Shape;686;p57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87" name="Google Shape;687;p57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88" name="Google Shape;688;p57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89" name="Google Shape;689;p57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0" name="Google Shape;690;p57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1" name="Google Shape;691;p57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2" name="Google Shape;692;p57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3" name="Google Shape;693;p57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4" name="Google Shape;694;p57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5" name="Google Shape;695;p57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6" name="Google Shape;696;p57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7" name="Google Shape;697;p57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698" name="Google Shape;698;p57"/>
          <p:cNvSpPr txBox="1"/>
          <p:nvPr/>
        </p:nvSpPr>
        <p:spPr>
          <a:xfrm>
            <a:off x="349600" y="1208335"/>
            <a:ext cx="5331510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34988"/>
              </a:lnSpc>
              <a:buSzPts val="1300"/>
            </a:pPr>
            <a:r>
              <a:rPr lang="es-419" sz="1200" dirty="0"/>
              <a:t>Los bloques de código en C# se definen utilizando llaves. Cada bloque agrupa una o más instrucciones que se ejecutan como una unidad lógica. A diferencia de otros lenguajes donde la </a:t>
            </a:r>
            <a:r>
              <a:rPr lang="es-419" sz="1200" dirty="0" err="1"/>
              <a:t>indentación</a:t>
            </a:r>
            <a:r>
              <a:rPr lang="es-419" sz="1200" dirty="0"/>
              <a:t> define la estructura, en C# la </a:t>
            </a:r>
            <a:r>
              <a:rPr lang="es-419" sz="1200" dirty="0" err="1"/>
              <a:t>indentación</a:t>
            </a:r>
            <a:r>
              <a:rPr lang="es-419" sz="1200" dirty="0"/>
              <a:t> es únicamente una convención visual que mejora la legibilidad del código.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57"/>
          <p:cNvSpPr txBox="1"/>
          <p:nvPr/>
        </p:nvSpPr>
        <p:spPr>
          <a:xfrm>
            <a:off x="246715" y="724551"/>
            <a:ext cx="5784432" cy="45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6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es" sz="34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s-419" sz="3400" b="1" i="0" u="none" strike="noStrike" cap="none" dirty="0" err="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ódigo</a:t>
            </a:r>
            <a:r>
              <a:rPr lang="es-419" sz="34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en C#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8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06" name="Google Shape;706;p58"/>
          <p:cNvSpPr txBox="1"/>
          <p:nvPr/>
        </p:nvSpPr>
        <p:spPr>
          <a:xfrm>
            <a:off x="108093" y="349590"/>
            <a:ext cx="3974454" cy="169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s" sz="4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Variables, Expresiones y Sentencias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7" name="Google Shape;707;p58"/>
          <p:cNvGrpSpPr/>
          <p:nvPr/>
        </p:nvGrpSpPr>
        <p:grpSpPr>
          <a:xfrm>
            <a:off x="4987745" y="585131"/>
            <a:ext cx="3499031" cy="1280764"/>
            <a:chOff x="0" y="0"/>
            <a:chExt cx="2342659" cy="857492"/>
          </a:xfrm>
        </p:grpSpPr>
        <p:sp>
          <p:nvSpPr>
            <p:cNvPr id="708" name="Google Shape;708;p58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5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0" name="Google Shape;710;p58"/>
          <p:cNvGrpSpPr/>
          <p:nvPr/>
        </p:nvGrpSpPr>
        <p:grpSpPr>
          <a:xfrm>
            <a:off x="4987745" y="1931174"/>
            <a:ext cx="3499031" cy="1280764"/>
            <a:chOff x="0" y="0"/>
            <a:chExt cx="2342659" cy="857492"/>
          </a:xfrm>
        </p:grpSpPr>
        <p:sp>
          <p:nvSpPr>
            <p:cNvPr id="711" name="Google Shape;711;p58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5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58"/>
          <p:cNvGrpSpPr/>
          <p:nvPr/>
        </p:nvGrpSpPr>
        <p:grpSpPr>
          <a:xfrm>
            <a:off x="4987745" y="3278613"/>
            <a:ext cx="3499031" cy="1280764"/>
            <a:chOff x="0" y="0"/>
            <a:chExt cx="2342659" cy="857492"/>
          </a:xfrm>
        </p:grpSpPr>
        <p:sp>
          <p:nvSpPr>
            <p:cNvPr id="714" name="Google Shape;714;p58"/>
            <p:cNvSpPr/>
            <p:nvPr/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840898"/>
                  </a:lnTo>
                  <a:cubicBezTo>
                    <a:pt x="2342659" y="845299"/>
                    <a:pt x="2340910" y="849520"/>
                    <a:pt x="2337798" y="852632"/>
                  </a:cubicBezTo>
                  <a:cubicBezTo>
                    <a:pt x="2334686" y="855744"/>
                    <a:pt x="2330465" y="857492"/>
                    <a:pt x="2326064" y="857492"/>
                  </a:cubicBezTo>
                  <a:lnTo>
                    <a:pt x="16594" y="857492"/>
                  </a:lnTo>
                  <a:cubicBezTo>
                    <a:pt x="7430" y="857492"/>
                    <a:pt x="0" y="850063"/>
                    <a:pt x="0" y="840898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58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6" name="Google Shape;716;p58"/>
          <p:cNvSpPr/>
          <p:nvPr/>
        </p:nvSpPr>
        <p:spPr>
          <a:xfrm>
            <a:off x="-424285" y="4459831"/>
            <a:ext cx="1935473" cy="475071"/>
          </a:xfrm>
          <a:custGeom>
            <a:avLst/>
            <a:gdLst/>
            <a:ahLst/>
            <a:cxnLst/>
            <a:rect l="l" t="t" r="r" b="b"/>
            <a:pathLst>
              <a:path w="3870946" h="950141" extrusionOk="0">
                <a:moveTo>
                  <a:pt x="0" y="0"/>
                </a:moveTo>
                <a:lnTo>
                  <a:pt x="3870946" y="0"/>
                </a:lnTo>
                <a:lnTo>
                  <a:pt x="3870946" y="950141"/>
                </a:lnTo>
                <a:lnTo>
                  <a:pt x="0" y="9501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17" name="Google Shape;717;p58"/>
          <p:cNvSpPr/>
          <p:nvPr/>
        </p:nvSpPr>
        <p:spPr>
          <a:xfrm>
            <a:off x="2236453" y="-1182407"/>
            <a:ext cx="2490476" cy="1865593"/>
          </a:xfrm>
          <a:custGeom>
            <a:avLst/>
            <a:gdLst/>
            <a:ahLst/>
            <a:cxnLst/>
            <a:rect l="l" t="t" r="r" b="b"/>
            <a:pathLst>
              <a:path w="4980952" h="3731186" extrusionOk="0">
                <a:moveTo>
                  <a:pt x="0" y="0"/>
                </a:moveTo>
                <a:lnTo>
                  <a:pt x="4980951" y="0"/>
                </a:lnTo>
                <a:lnTo>
                  <a:pt x="4980951" y="3731186"/>
                </a:lnTo>
                <a:lnTo>
                  <a:pt x="0" y="37311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18" name="Google Shape;718;p58"/>
          <p:cNvSpPr/>
          <p:nvPr/>
        </p:nvSpPr>
        <p:spPr>
          <a:xfrm>
            <a:off x="1715537" y="4459830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19" y="0"/>
                </a:lnTo>
                <a:lnTo>
                  <a:pt x="2587019" y="2386525"/>
                </a:lnTo>
                <a:lnTo>
                  <a:pt x="0" y="23865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19" name="Google Shape;719;p58"/>
          <p:cNvSpPr/>
          <p:nvPr/>
        </p:nvSpPr>
        <p:spPr>
          <a:xfrm>
            <a:off x="7658973" y="-157383"/>
            <a:ext cx="1485027" cy="1485027"/>
          </a:xfrm>
          <a:custGeom>
            <a:avLst/>
            <a:gdLst/>
            <a:ahLst/>
            <a:cxnLst/>
            <a:rect l="l" t="t" r="r" b="b"/>
            <a:pathLst>
              <a:path w="2970054" h="2970054" extrusionOk="0">
                <a:moveTo>
                  <a:pt x="0" y="0"/>
                </a:moveTo>
                <a:lnTo>
                  <a:pt x="2970054" y="0"/>
                </a:lnTo>
                <a:lnTo>
                  <a:pt x="2970054" y="2970054"/>
                </a:lnTo>
                <a:lnTo>
                  <a:pt x="0" y="29700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20" name="Google Shape;720;p58"/>
          <p:cNvSpPr txBox="1"/>
          <p:nvPr/>
        </p:nvSpPr>
        <p:spPr>
          <a:xfrm>
            <a:off x="5241625" y="907375"/>
            <a:ext cx="2740366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lang="es" sz="9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Variables </a:t>
            </a: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C# son como etiquetas que permiten hacer referencia a los datos. En este lenguaje de programación, no existe un comando para declarar variables.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8"/>
          <p:cNvSpPr txBox="1"/>
          <p:nvPr/>
        </p:nvSpPr>
        <p:spPr>
          <a:xfrm>
            <a:off x="5241625" y="2173206"/>
            <a:ext cx="2810932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C#, una </a:t>
            </a:r>
            <a:r>
              <a:rPr lang="es" sz="9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expresión </a:t>
            </a: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una combinación de valores, variables, operadores y llamadas a funciones que se evalúa para producir un resultado. Básicamente, es cualquier fragmento de código que produce un valor.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58"/>
          <p:cNvSpPr txBox="1"/>
          <p:nvPr/>
        </p:nvSpPr>
        <p:spPr>
          <a:xfrm>
            <a:off x="5241625" y="3442064"/>
            <a:ext cx="3116721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C#, una </a:t>
            </a:r>
            <a:r>
              <a:rPr lang="es" sz="9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sentencia </a:t>
            </a: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una unidad de código que realiza una acción específica. Las sentencias son instrucciones que le dicen al compilador qué hacer. A diferencia de las expresiones, las sentencias no tienen un valor que pueda ser asignado a una variable o utilizado en otro contexto. 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3" name="Google Shape;723;p58"/>
          <p:cNvGrpSpPr/>
          <p:nvPr/>
        </p:nvGrpSpPr>
        <p:grpSpPr>
          <a:xfrm>
            <a:off x="486938" y="2177286"/>
            <a:ext cx="3499031" cy="763276"/>
            <a:chOff x="0" y="0"/>
            <a:chExt cx="2342659" cy="511026"/>
          </a:xfrm>
        </p:grpSpPr>
        <p:sp>
          <p:nvSpPr>
            <p:cNvPr id="724" name="Google Shape;724;p58"/>
            <p:cNvSpPr/>
            <p:nvPr/>
          </p:nvSpPr>
          <p:spPr>
            <a:xfrm>
              <a:off x="0" y="0"/>
              <a:ext cx="2342659" cy="511026"/>
            </a:xfrm>
            <a:custGeom>
              <a:avLst/>
              <a:gdLst/>
              <a:ahLst/>
              <a:cxnLst/>
              <a:rect l="l" t="t" r="r" b="b"/>
              <a:pathLst>
                <a:path w="2342659" h="511026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94431"/>
                  </a:lnTo>
                  <a:cubicBezTo>
                    <a:pt x="2342659" y="498833"/>
                    <a:pt x="2340910" y="503053"/>
                    <a:pt x="2337798" y="506165"/>
                  </a:cubicBezTo>
                  <a:cubicBezTo>
                    <a:pt x="2334686" y="509277"/>
                    <a:pt x="2330465" y="511026"/>
                    <a:pt x="2326064" y="511026"/>
                  </a:cubicBezTo>
                  <a:lnTo>
                    <a:pt x="16594" y="511026"/>
                  </a:lnTo>
                  <a:cubicBezTo>
                    <a:pt x="7430" y="511026"/>
                    <a:pt x="0" y="503596"/>
                    <a:pt x="0" y="494431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58"/>
            <p:cNvSpPr txBox="1"/>
            <p:nvPr/>
          </p:nvSpPr>
          <p:spPr>
            <a:xfrm>
              <a:off x="0" y="85725"/>
              <a:ext cx="2342659" cy="42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6" name="Google Shape;726;p58"/>
          <p:cNvGrpSpPr/>
          <p:nvPr/>
        </p:nvGrpSpPr>
        <p:grpSpPr>
          <a:xfrm>
            <a:off x="486938" y="3040975"/>
            <a:ext cx="3499031" cy="763276"/>
            <a:chOff x="0" y="0"/>
            <a:chExt cx="2342659" cy="511026"/>
          </a:xfrm>
        </p:grpSpPr>
        <p:sp>
          <p:nvSpPr>
            <p:cNvPr id="727" name="Google Shape;727;p58"/>
            <p:cNvSpPr/>
            <p:nvPr/>
          </p:nvSpPr>
          <p:spPr>
            <a:xfrm>
              <a:off x="0" y="0"/>
              <a:ext cx="2342659" cy="511026"/>
            </a:xfrm>
            <a:custGeom>
              <a:avLst/>
              <a:gdLst/>
              <a:ahLst/>
              <a:cxnLst/>
              <a:rect l="l" t="t" r="r" b="b"/>
              <a:pathLst>
                <a:path w="2342659" h="511026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494431"/>
                  </a:lnTo>
                  <a:cubicBezTo>
                    <a:pt x="2342659" y="498833"/>
                    <a:pt x="2340910" y="503053"/>
                    <a:pt x="2337798" y="506165"/>
                  </a:cubicBezTo>
                  <a:cubicBezTo>
                    <a:pt x="2334686" y="509277"/>
                    <a:pt x="2330465" y="511026"/>
                    <a:pt x="2326064" y="511026"/>
                  </a:cubicBezTo>
                  <a:lnTo>
                    <a:pt x="16594" y="511026"/>
                  </a:lnTo>
                  <a:cubicBezTo>
                    <a:pt x="7430" y="511026"/>
                    <a:pt x="0" y="503596"/>
                    <a:pt x="0" y="494431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8"/>
            <p:cNvSpPr txBox="1"/>
            <p:nvPr/>
          </p:nvSpPr>
          <p:spPr>
            <a:xfrm>
              <a:off x="0" y="85725"/>
              <a:ext cx="2342659" cy="4253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9" name="Google Shape;729;p58"/>
          <p:cNvGrpSpPr/>
          <p:nvPr/>
        </p:nvGrpSpPr>
        <p:grpSpPr>
          <a:xfrm>
            <a:off x="486938" y="3865874"/>
            <a:ext cx="3499031" cy="1014179"/>
            <a:chOff x="0" y="0"/>
            <a:chExt cx="2342659" cy="679010"/>
          </a:xfrm>
        </p:grpSpPr>
        <p:sp>
          <p:nvSpPr>
            <p:cNvPr id="730" name="Google Shape;730;p58"/>
            <p:cNvSpPr/>
            <p:nvPr/>
          </p:nvSpPr>
          <p:spPr>
            <a:xfrm>
              <a:off x="0" y="0"/>
              <a:ext cx="2342659" cy="679010"/>
            </a:xfrm>
            <a:custGeom>
              <a:avLst/>
              <a:gdLst/>
              <a:ahLst/>
              <a:cxnLst/>
              <a:rect l="l" t="t" r="r" b="b"/>
              <a:pathLst>
                <a:path w="2342659" h="679010" extrusionOk="0">
                  <a:moveTo>
                    <a:pt x="16594" y="0"/>
                  </a:moveTo>
                  <a:lnTo>
                    <a:pt x="2326064" y="0"/>
                  </a:lnTo>
                  <a:cubicBezTo>
                    <a:pt x="2335229" y="0"/>
                    <a:pt x="2342659" y="7430"/>
                    <a:pt x="2342659" y="16594"/>
                  </a:cubicBezTo>
                  <a:lnTo>
                    <a:pt x="2342659" y="662415"/>
                  </a:lnTo>
                  <a:cubicBezTo>
                    <a:pt x="2342659" y="671580"/>
                    <a:pt x="2335229" y="679010"/>
                    <a:pt x="2326064" y="679010"/>
                  </a:cubicBezTo>
                  <a:lnTo>
                    <a:pt x="16594" y="679010"/>
                  </a:lnTo>
                  <a:cubicBezTo>
                    <a:pt x="7430" y="679010"/>
                    <a:pt x="0" y="671580"/>
                    <a:pt x="0" y="662415"/>
                  </a:cubicBezTo>
                  <a:lnTo>
                    <a:pt x="0" y="16594"/>
                  </a:lnTo>
                  <a:cubicBezTo>
                    <a:pt x="0" y="7430"/>
                    <a:pt x="7430" y="0"/>
                    <a:pt x="1659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8"/>
            <p:cNvSpPr txBox="1"/>
            <p:nvPr/>
          </p:nvSpPr>
          <p:spPr>
            <a:xfrm>
              <a:off x="0" y="85725"/>
              <a:ext cx="2342659" cy="5932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" name="Google Shape;732;p58"/>
          <p:cNvSpPr txBox="1"/>
          <p:nvPr/>
        </p:nvSpPr>
        <p:spPr>
          <a:xfrm>
            <a:off x="689854" y="2330563"/>
            <a:ext cx="28109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419" dirty="0" err="1">
                <a:solidFill>
                  <a:srgbClr val="00B050"/>
                </a:solidFill>
              </a:rPr>
              <a:t>string</a:t>
            </a:r>
            <a:r>
              <a:rPr lang="es-419" dirty="0">
                <a:solidFill>
                  <a:srgbClr val="00B050"/>
                </a:solidFill>
              </a:rPr>
              <a:t> x = "hola";</a:t>
            </a:r>
          </a:p>
          <a:p>
            <a:r>
              <a:rPr lang="es-419" dirty="0" err="1">
                <a:solidFill>
                  <a:srgbClr val="00B050"/>
                </a:solidFill>
              </a:rPr>
              <a:t>int</a:t>
            </a:r>
            <a:r>
              <a:rPr lang="es-419" dirty="0">
                <a:solidFill>
                  <a:srgbClr val="00B050"/>
                </a:solidFill>
              </a:rPr>
              <a:t> edad = 22;</a:t>
            </a:r>
          </a:p>
          <a:p>
            <a:r>
              <a:rPr lang="es-419" dirty="0" err="1">
                <a:solidFill>
                  <a:srgbClr val="00B050"/>
                </a:solidFill>
              </a:rPr>
              <a:t>Console.WriteLine</a:t>
            </a:r>
            <a:r>
              <a:rPr lang="es-419" dirty="0">
                <a:solidFill>
                  <a:srgbClr val="00B050"/>
                </a:solidFill>
              </a:rPr>
              <a:t>(x);</a:t>
            </a:r>
            <a:endParaRPr lang="es" sz="900" b="0" i="0" u="none" strike="noStrike" cap="none" dirty="0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3" name="Google Shape;733;p58"/>
          <p:cNvSpPr txBox="1"/>
          <p:nvPr/>
        </p:nvSpPr>
        <p:spPr>
          <a:xfrm>
            <a:off x="670758" y="3240612"/>
            <a:ext cx="349903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419" dirty="0" err="1">
                <a:solidFill>
                  <a:srgbClr val="00B050"/>
                </a:solidFill>
              </a:rPr>
              <a:t>int</a:t>
            </a:r>
            <a:r>
              <a:rPr lang="es-419" dirty="0">
                <a:solidFill>
                  <a:srgbClr val="00B050"/>
                </a:solidFill>
              </a:rPr>
              <a:t> sum = 1 + 6 + 3;</a:t>
            </a:r>
          </a:p>
          <a:p>
            <a:r>
              <a:rPr lang="es-419" dirty="0" err="1">
                <a:solidFill>
                  <a:srgbClr val="00B050"/>
                </a:solidFill>
              </a:rPr>
              <a:t>bool</a:t>
            </a:r>
            <a:r>
              <a:rPr lang="es-419" dirty="0">
                <a:solidFill>
                  <a:srgbClr val="00B050"/>
                </a:solidFill>
              </a:rPr>
              <a:t> mayor = 10 &gt; 5</a:t>
            </a:r>
            <a:r>
              <a:rPr lang="es-419" dirty="0"/>
              <a:t>;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58"/>
          <p:cNvSpPr txBox="1"/>
          <p:nvPr/>
        </p:nvSpPr>
        <p:spPr>
          <a:xfrm>
            <a:off x="577559" y="3932291"/>
            <a:ext cx="3408410" cy="117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419" sz="800" dirty="0" err="1">
                <a:solidFill>
                  <a:srgbClr val="00B050"/>
                </a:solidFill>
              </a:rPr>
              <a:t>int</a:t>
            </a:r>
            <a:r>
              <a:rPr lang="es-419" sz="800" dirty="0">
                <a:solidFill>
                  <a:srgbClr val="00B050"/>
                </a:solidFill>
              </a:rPr>
              <a:t> z = 5;</a:t>
            </a:r>
          </a:p>
          <a:p>
            <a:r>
              <a:rPr lang="es-419" sz="800" dirty="0" err="1">
                <a:solidFill>
                  <a:srgbClr val="00B050"/>
                </a:solidFill>
              </a:rPr>
              <a:t>if</a:t>
            </a:r>
            <a:r>
              <a:rPr lang="es-419" sz="800" dirty="0">
                <a:solidFill>
                  <a:srgbClr val="00B050"/>
                </a:solidFill>
              </a:rPr>
              <a:t> (</a:t>
            </a:r>
            <a:r>
              <a:rPr lang="es-419" sz="800" dirty="0" err="1">
                <a:solidFill>
                  <a:srgbClr val="00B050"/>
                </a:solidFill>
              </a:rPr>
              <a:t>condicion</a:t>
            </a:r>
            <a:r>
              <a:rPr lang="es-419" sz="800" dirty="0">
                <a:solidFill>
                  <a:srgbClr val="00B050"/>
                </a:solidFill>
              </a:rPr>
              <a:t>){</a:t>
            </a:r>
          </a:p>
          <a:p>
            <a:r>
              <a:rPr lang="es-419" sz="800" dirty="0">
                <a:solidFill>
                  <a:srgbClr val="00B050"/>
                </a:solidFill>
              </a:rPr>
              <a:t>    // código condición</a:t>
            </a:r>
          </a:p>
          <a:p>
            <a:r>
              <a:rPr lang="es-419" sz="800" dirty="0">
                <a:solidFill>
                  <a:srgbClr val="00B050"/>
                </a:solidFill>
              </a:rPr>
              <a:t>}</a:t>
            </a:r>
          </a:p>
          <a:p>
            <a:r>
              <a:rPr lang="es-419" sz="800" dirty="0" err="1">
                <a:solidFill>
                  <a:srgbClr val="00B050"/>
                </a:solidFill>
              </a:rPr>
              <a:t>else</a:t>
            </a:r>
            <a:endParaRPr lang="es-419" sz="800" dirty="0">
              <a:solidFill>
                <a:srgbClr val="00B050"/>
              </a:solidFill>
            </a:endParaRPr>
          </a:p>
          <a:p>
            <a:r>
              <a:rPr lang="es-419" sz="800" dirty="0">
                <a:solidFill>
                  <a:srgbClr val="00B050"/>
                </a:solidFill>
              </a:rPr>
              <a:t>{</a:t>
            </a:r>
          </a:p>
          <a:p>
            <a:r>
              <a:rPr lang="es-419" sz="800" dirty="0">
                <a:solidFill>
                  <a:srgbClr val="00B050"/>
                </a:solidFill>
              </a:rPr>
              <a:t>    // código </a:t>
            </a:r>
            <a:r>
              <a:rPr lang="es-419" sz="800" dirty="0" err="1">
                <a:solidFill>
                  <a:srgbClr val="00B050"/>
                </a:solidFill>
              </a:rPr>
              <a:t>else</a:t>
            </a:r>
            <a:endParaRPr lang="es-419" sz="800" dirty="0">
              <a:solidFill>
                <a:srgbClr val="00B050"/>
              </a:solidFill>
            </a:endParaRPr>
          </a:p>
          <a:p>
            <a:r>
              <a:rPr lang="es-419" sz="800" dirty="0">
                <a:solidFill>
                  <a:srgbClr val="00B050"/>
                </a:solidFill>
              </a:rPr>
              <a:t>}</a:t>
            </a:r>
            <a:endParaRPr sz="300" b="0" i="0" u="none" strike="noStrike" cap="none" dirty="0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rgbClr val="00FF4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9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1" name="Google Shape;741;p59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2" name="Google Shape;742;p59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3" name="Google Shape;743;p59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4" name="Google Shape;744;p59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5" name="Google Shape;745;p59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6" name="Google Shape;746;p59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7" name="Google Shape;747;p59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8" name="Google Shape;748;p59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49" name="Google Shape;749;p59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50" name="Google Shape;750;p59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51" name="Google Shape;751;p59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52" name="Google Shape;752;p59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53" name="Google Shape;753;p59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754" name="Google Shape;754;p59"/>
          <p:cNvGrpSpPr/>
          <p:nvPr/>
        </p:nvGrpSpPr>
        <p:grpSpPr>
          <a:xfrm>
            <a:off x="745913" y="1290290"/>
            <a:ext cx="7512270" cy="789238"/>
            <a:chOff x="0" y="0"/>
            <a:chExt cx="5029588" cy="528408"/>
          </a:xfrm>
        </p:grpSpPr>
        <p:sp>
          <p:nvSpPr>
            <p:cNvPr id="755" name="Google Shape;755;p59"/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59"/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7" name="Google Shape;757;p59"/>
          <p:cNvSpPr/>
          <p:nvPr/>
        </p:nvSpPr>
        <p:spPr>
          <a:xfrm>
            <a:off x="839341" y="2184303"/>
            <a:ext cx="3296587" cy="2711351"/>
          </a:xfrm>
          <a:custGeom>
            <a:avLst/>
            <a:gdLst/>
            <a:ahLst/>
            <a:cxnLst/>
            <a:rect l="l" t="t" r="r" b="b"/>
            <a:pathLst>
              <a:path w="6593174" h="5422701" extrusionOk="0">
                <a:moveTo>
                  <a:pt x="0" y="0"/>
                </a:moveTo>
                <a:lnTo>
                  <a:pt x="6593174" y="0"/>
                </a:lnTo>
                <a:lnTo>
                  <a:pt x="6593174" y="5422701"/>
                </a:lnTo>
                <a:lnTo>
                  <a:pt x="0" y="5422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59" name="Google Shape;759;p59"/>
          <p:cNvSpPr txBox="1"/>
          <p:nvPr/>
        </p:nvSpPr>
        <p:spPr>
          <a:xfrm>
            <a:off x="429735" y="887016"/>
            <a:ext cx="2501641" cy="29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Condicionales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59"/>
          <p:cNvSpPr txBox="1"/>
          <p:nvPr/>
        </p:nvSpPr>
        <p:spPr>
          <a:xfrm>
            <a:off x="967824" y="1522303"/>
            <a:ext cx="7068446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C#, las estructuras </a:t>
            </a:r>
            <a:r>
              <a:rPr lang="es" sz="9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condicionales </a:t>
            </a: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utilizan para tomar decisiones basadas en condiciones. Las sentencias condicionales más comunes son if, elif (abreviatura de "else if")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0809C881-542A-2C53-8043-625E8EBBD7C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65655" y="2319509"/>
            <a:ext cx="3753242" cy="204148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0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66" name="Google Shape;766;p60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67" name="Google Shape;767;p60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68" name="Google Shape;768;p60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69" name="Google Shape;769;p60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0" name="Google Shape;770;p60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1" name="Google Shape;771;p60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2" name="Google Shape;772;p60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3" name="Google Shape;773;p60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4" name="Google Shape;774;p60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5" name="Google Shape;775;p60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6" name="Google Shape;776;p60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7" name="Google Shape;777;p60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78" name="Google Shape;778;p60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779" name="Google Shape;779;p60"/>
          <p:cNvGrpSpPr/>
          <p:nvPr/>
        </p:nvGrpSpPr>
        <p:grpSpPr>
          <a:xfrm>
            <a:off x="640406" y="997981"/>
            <a:ext cx="7512270" cy="789238"/>
            <a:chOff x="0" y="0"/>
            <a:chExt cx="5029588" cy="528408"/>
          </a:xfrm>
        </p:grpSpPr>
        <p:sp>
          <p:nvSpPr>
            <p:cNvPr id="780" name="Google Shape;780;p60"/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60"/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8" name="Google Shape;788;p60"/>
          <p:cNvSpPr txBox="1"/>
          <p:nvPr/>
        </p:nvSpPr>
        <p:spPr>
          <a:xfrm>
            <a:off x="514350" y="590550"/>
            <a:ext cx="1912108" cy="29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Funciones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60"/>
          <p:cNvSpPr txBox="1"/>
          <p:nvPr/>
        </p:nvSpPr>
        <p:spPr>
          <a:xfrm>
            <a:off x="862317" y="1229994"/>
            <a:ext cx="7068446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C#, una </a:t>
            </a:r>
            <a:r>
              <a:rPr lang="es" sz="9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función </a:t>
            </a: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un bloque de código reutilizable que realiza una tarea específica. Las funciones pueden tomar cero o más argumentos como entrada, realizar cálculos basados en esos argumentos y devolver un resultado opcionalmente. 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 descr="Methods in C# - GeeksforGeeks">
            <a:extLst>
              <a:ext uri="{FF2B5EF4-FFF2-40B4-BE49-F238E27FC236}">
                <a16:creationId xmlns:a16="http://schemas.microsoft.com/office/drawing/2014/main" id="{A4AB12C3-E4F3-C5E7-0D81-72FBF8735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4140" y="1891192"/>
            <a:ext cx="60007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6" name="Google Shape;796;p61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7" name="Google Shape;797;p61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8" name="Google Shape;798;p61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9" name="Google Shape;799;p61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0" name="Google Shape;800;p61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1" name="Google Shape;801;p61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2" name="Google Shape;802;p61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3" name="Google Shape;803;p61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4" name="Google Shape;804;p61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5" name="Google Shape;805;p61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806" name="Google Shape;806;p61"/>
          <p:cNvGrpSpPr/>
          <p:nvPr/>
        </p:nvGrpSpPr>
        <p:grpSpPr>
          <a:xfrm>
            <a:off x="640406" y="1290290"/>
            <a:ext cx="7512270" cy="789238"/>
            <a:chOff x="0" y="0"/>
            <a:chExt cx="5029588" cy="528408"/>
          </a:xfrm>
        </p:grpSpPr>
        <p:sp>
          <p:nvSpPr>
            <p:cNvPr id="807" name="Google Shape;807;p61"/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1"/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1" name="Google Shape;811;p61"/>
          <p:cNvSpPr txBox="1"/>
          <p:nvPr/>
        </p:nvSpPr>
        <p:spPr>
          <a:xfrm>
            <a:off x="514350" y="887016"/>
            <a:ext cx="1986005" cy="29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Iteraciones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1"/>
          <p:cNvSpPr txBox="1"/>
          <p:nvPr/>
        </p:nvSpPr>
        <p:spPr>
          <a:xfrm>
            <a:off x="887909" y="1522303"/>
            <a:ext cx="7068446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5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 C#, las </a:t>
            </a:r>
            <a:r>
              <a:rPr lang="es" sz="9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iteraciones </a:t>
            </a:r>
            <a:r>
              <a:rPr lang="es" sz="900" b="0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 refieren a la capacidad de repetir un bloque de código varias veces. Esto se puede lograr utilizando bucles como for y while. 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61"/>
          <p:cNvSpPr txBox="1"/>
          <p:nvPr/>
        </p:nvSpPr>
        <p:spPr>
          <a:xfrm>
            <a:off x="640406" y="2270327"/>
            <a:ext cx="694363" cy="24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For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61"/>
          <p:cNvSpPr txBox="1"/>
          <p:nvPr/>
        </p:nvSpPr>
        <p:spPr>
          <a:xfrm>
            <a:off x="5201207" y="2291735"/>
            <a:ext cx="700609" cy="246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While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2" name="Picture 2" descr="C# For loop with Examples - Tutlane">
            <a:extLst>
              <a:ext uri="{FF2B5EF4-FFF2-40B4-BE49-F238E27FC236}">
                <a16:creationId xmlns:a16="http://schemas.microsoft.com/office/drawing/2014/main" id="{C021FED0-685F-7974-74FE-E9DB8F624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727" y="2566167"/>
            <a:ext cx="2963022" cy="112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ow to use C# while loop">
            <a:extLst>
              <a:ext uri="{FF2B5EF4-FFF2-40B4-BE49-F238E27FC236}">
                <a16:creationId xmlns:a16="http://schemas.microsoft.com/office/drawing/2014/main" id="{214F3468-F233-78AE-67F8-8E0B9F012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153" y="2534242"/>
            <a:ext cx="2073742" cy="134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>
          <a:extLst>
            <a:ext uri="{FF2B5EF4-FFF2-40B4-BE49-F238E27FC236}">
              <a16:creationId xmlns:a16="http://schemas.microsoft.com/office/drawing/2014/main" id="{D0A78B23-A3C1-E49B-ADA8-6434C12B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">
            <a:extLst>
              <a:ext uri="{FF2B5EF4-FFF2-40B4-BE49-F238E27FC236}">
                <a16:creationId xmlns:a16="http://schemas.microsoft.com/office/drawing/2014/main" id="{AE9046EC-5CEE-44BF-8F87-6D9CDB10FD40}"/>
              </a:ext>
            </a:extLst>
          </p:cNvPr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6" name="Google Shape;796;p61">
            <a:extLst>
              <a:ext uri="{FF2B5EF4-FFF2-40B4-BE49-F238E27FC236}">
                <a16:creationId xmlns:a16="http://schemas.microsoft.com/office/drawing/2014/main" id="{E6D0BF57-35CE-6E1F-F4F6-461A59379CB5}"/>
              </a:ext>
            </a:extLst>
          </p:cNvPr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7" name="Google Shape;797;p61">
            <a:extLst>
              <a:ext uri="{FF2B5EF4-FFF2-40B4-BE49-F238E27FC236}">
                <a16:creationId xmlns:a16="http://schemas.microsoft.com/office/drawing/2014/main" id="{054AA61C-D352-FBE9-5D7E-9B420C8D85F9}"/>
              </a:ext>
            </a:extLst>
          </p:cNvPr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8" name="Google Shape;798;p61">
            <a:extLst>
              <a:ext uri="{FF2B5EF4-FFF2-40B4-BE49-F238E27FC236}">
                <a16:creationId xmlns:a16="http://schemas.microsoft.com/office/drawing/2014/main" id="{FF860F9D-30A9-9AAC-956C-EA185E034029}"/>
              </a:ext>
            </a:extLst>
          </p:cNvPr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9" name="Google Shape;799;p61">
            <a:extLst>
              <a:ext uri="{FF2B5EF4-FFF2-40B4-BE49-F238E27FC236}">
                <a16:creationId xmlns:a16="http://schemas.microsoft.com/office/drawing/2014/main" id="{55E9C120-461E-2344-F69E-6DD1A4B53C7A}"/>
              </a:ext>
            </a:extLst>
          </p:cNvPr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0" name="Google Shape;800;p61">
            <a:extLst>
              <a:ext uri="{FF2B5EF4-FFF2-40B4-BE49-F238E27FC236}">
                <a16:creationId xmlns:a16="http://schemas.microsoft.com/office/drawing/2014/main" id="{52EFC968-3C25-2C7D-F7EF-5EEEF13FB066}"/>
              </a:ext>
            </a:extLst>
          </p:cNvPr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1" name="Google Shape;801;p61">
            <a:extLst>
              <a:ext uri="{FF2B5EF4-FFF2-40B4-BE49-F238E27FC236}">
                <a16:creationId xmlns:a16="http://schemas.microsoft.com/office/drawing/2014/main" id="{8C4D78B7-068C-9744-50BC-E8556C8D64CC}"/>
              </a:ext>
            </a:extLst>
          </p:cNvPr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2" name="Google Shape;802;p61">
            <a:extLst>
              <a:ext uri="{FF2B5EF4-FFF2-40B4-BE49-F238E27FC236}">
                <a16:creationId xmlns:a16="http://schemas.microsoft.com/office/drawing/2014/main" id="{07F8AC4B-F874-821E-2267-DA47EC25560C}"/>
              </a:ext>
            </a:extLst>
          </p:cNvPr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3" name="Google Shape;803;p61">
            <a:extLst>
              <a:ext uri="{FF2B5EF4-FFF2-40B4-BE49-F238E27FC236}">
                <a16:creationId xmlns:a16="http://schemas.microsoft.com/office/drawing/2014/main" id="{01D7D62B-CE4D-FBE1-059E-A702AB30B3BB}"/>
              </a:ext>
            </a:extLst>
          </p:cNvPr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4" name="Google Shape;804;p61">
            <a:extLst>
              <a:ext uri="{FF2B5EF4-FFF2-40B4-BE49-F238E27FC236}">
                <a16:creationId xmlns:a16="http://schemas.microsoft.com/office/drawing/2014/main" id="{6291D1E9-FF77-AC8A-1E5C-EA04AEE96CC5}"/>
              </a:ext>
            </a:extLst>
          </p:cNvPr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5" name="Google Shape;805;p61">
            <a:extLst>
              <a:ext uri="{FF2B5EF4-FFF2-40B4-BE49-F238E27FC236}">
                <a16:creationId xmlns:a16="http://schemas.microsoft.com/office/drawing/2014/main" id="{AFD97F2F-41E8-DBF8-EF1F-D56EA7E9A2F2}"/>
              </a:ext>
            </a:extLst>
          </p:cNvPr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806" name="Google Shape;806;p61">
            <a:extLst>
              <a:ext uri="{FF2B5EF4-FFF2-40B4-BE49-F238E27FC236}">
                <a16:creationId xmlns:a16="http://schemas.microsoft.com/office/drawing/2014/main" id="{5629D16D-68E6-781F-80C8-BDE40BC002AF}"/>
              </a:ext>
            </a:extLst>
          </p:cNvPr>
          <p:cNvGrpSpPr/>
          <p:nvPr/>
        </p:nvGrpSpPr>
        <p:grpSpPr>
          <a:xfrm>
            <a:off x="640406" y="1290290"/>
            <a:ext cx="7512270" cy="1787770"/>
            <a:chOff x="0" y="0"/>
            <a:chExt cx="5029588" cy="528408"/>
          </a:xfrm>
        </p:grpSpPr>
        <p:sp>
          <p:nvSpPr>
            <p:cNvPr id="807" name="Google Shape;807;p61">
              <a:extLst>
                <a:ext uri="{FF2B5EF4-FFF2-40B4-BE49-F238E27FC236}">
                  <a16:creationId xmlns:a16="http://schemas.microsoft.com/office/drawing/2014/main" id="{57DE6E8D-B3A0-93E4-8516-C7E11EFC3C58}"/>
                </a:ext>
              </a:extLst>
            </p:cNvPr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1">
              <a:extLst>
                <a:ext uri="{FF2B5EF4-FFF2-40B4-BE49-F238E27FC236}">
                  <a16:creationId xmlns:a16="http://schemas.microsoft.com/office/drawing/2014/main" id="{E46BFA89-9CEF-347D-325E-0FA206435525}"/>
                </a:ext>
              </a:extLst>
            </p:cNvPr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1" name="Google Shape;811;p61">
            <a:extLst>
              <a:ext uri="{FF2B5EF4-FFF2-40B4-BE49-F238E27FC236}">
                <a16:creationId xmlns:a16="http://schemas.microsoft.com/office/drawing/2014/main" id="{6364C37F-84E9-FC18-B84F-69DD0F8C6DEB}"/>
              </a:ext>
            </a:extLst>
          </p:cNvPr>
          <p:cNvSpPr txBox="1"/>
          <p:nvPr/>
        </p:nvSpPr>
        <p:spPr>
          <a:xfrm>
            <a:off x="514350" y="887016"/>
            <a:ext cx="1986005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Strings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1">
            <a:extLst>
              <a:ext uri="{FF2B5EF4-FFF2-40B4-BE49-F238E27FC236}">
                <a16:creationId xmlns:a16="http://schemas.microsoft.com/office/drawing/2014/main" id="{94F0ECCC-B3C2-902B-9A82-1013219011EE}"/>
              </a:ext>
            </a:extLst>
          </p:cNvPr>
          <p:cNvSpPr txBox="1"/>
          <p:nvPr/>
        </p:nvSpPr>
        <p:spPr>
          <a:xfrm>
            <a:off x="887909" y="1476110"/>
            <a:ext cx="7068446" cy="934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5021"/>
              </a:lnSpc>
              <a:buSzPts val="900"/>
            </a:pPr>
            <a:r>
              <a:rPr lang="es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En C$, un string </a:t>
            </a:r>
            <a:r>
              <a:rPr lang="es-419" sz="900" dirty="0">
                <a:latin typeface="+mn-lt"/>
              </a:rPr>
              <a:t>es una </a:t>
            </a:r>
            <a:r>
              <a:rPr lang="es-419" sz="900" b="1" dirty="0">
                <a:latin typeface="+mn-lt"/>
              </a:rPr>
              <a:t>secuencia inmutable de caracteres</a:t>
            </a:r>
            <a:r>
              <a:rPr lang="es-419" sz="900" dirty="0">
                <a:latin typeface="+mn-lt"/>
              </a:rPr>
              <a:t>.</a:t>
            </a:r>
            <a:br>
              <a:rPr lang="es-419" sz="900" dirty="0">
                <a:latin typeface="+mn-lt"/>
              </a:rPr>
            </a:br>
            <a:r>
              <a:rPr lang="es-419" sz="900" dirty="0">
                <a:latin typeface="+mn-lt"/>
              </a:rPr>
              <a:t>Inmutable significa que, una vez creado, no puedes cambiar sus caracteres individuales; puedes crear un nuevo </a:t>
            </a:r>
            <a:r>
              <a:rPr lang="es-419" sz="900" dirty="0" err="1">
                <a:latin typeface="+mn-lt"/>
              </a:rPr>
              <a:t>string</a:t>
            </a:r>
            <a:r>
              <a:rPr lang="es-419" sz="900" dirty="0">
                <a:latin typeface="+mn-lt"/>
              </a:rPr>
              <a:t> a partir de él, pero no modificarlo directamente. </a:t>
            </a:r>
          </a:p>
          <a:p>
            <a:pPr lvl="0">
              <a:lnSpc>
                <a:spcPct val="135021"/>
              </a:lnSpc>
              <a:buSzPts val="900"/>
            </a:pP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Pueden ser delimitados con:</a:t>
            </a:r>
          </a:p>
          <a:p>
            <a:pPr marL="171450" lvl="0" indent="-171450">
              <a:lnSpc>
                <a:spcPct val="135021"/>
              </a:lnSpc>
              <a:buSzPts val="900"/>
              <a:buFont typeface="Arial" panose="020B0604020202020204" pitchFamily="34" charset="0"/>
              <a:buChar char="•"/>
            </a:pPr>
            <a:r>
              <a:rPr lang="es-419" sz="900" dirty="0">
                <a:latin typeface="+mn-lt"/>
              </a:rPr>
              <a:t>comillas dobles: "hola"			"""</a:t>
            </a:r>
            <a:endParaRPr sz="900" b="0" i="0" u="none" strike="noStrike" cap="none" dirty="0">
              <a:solidFill>
                <a:srgbClr val="000000"/>
              </a:solidFill>
              <a:latin typeface="+mn-lt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String | bartleby">
            <a:extLst>
              <a:ext uri="{FF2B5EF4-FFF2-40B4-BE49-F238E27FC236}">
                <a16:creationId xmlns:a16="http://schemas.microsoft.com/office/drawing/2014/main" id="{B4F8E905-EB06-C778-784A-855CA76D8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269" y="3377797"/>
            <a:ext cx="389572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5976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>
          <a:extLst>
            <a:ext uri="{FF2B5EF4-FFF2-40B4-BE49-F238E27FC236}">
              <a16:creationId xmlns:a16="http://schemas.microsoft.com/office/drawing/2014/main" id="{C2B595E3-ACA5-154A-68D2-1EF5D0AA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">
            <a:extLst>
              <a:ext uri="{FF2B5EF4-FFF2-40B4-BE49-F238E27FC236}">
                <a16:creationId xmlns:a16="http://schemas.microsoft.com/office/drawing/2014/main" id="{38C27748-D955-2250-EA67-13A65B9AAEB4}"/>
              </a:ext>
            </a:extLst>
          </p:cNvPr>
          <p:cNvSpPr/>
          <p:nvPr/>
        </p:nvSpPr>
        <p:spPr>
          <a:xfrm rot="-5400000">
            <a:off x="2046469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6" name="Google Shape;796;p61">
            <a:extLst>
              <a:ext uri="{FF2B5EF4-FFF2-40B4-BE49-F238E27FC236}">
                <a16:creationId xmlns:a16="http://schemas.microsoft.com/office/drawing/2014/main" id="{14B863D9-C74A-619D-6D99-C43B7B274368}"/>
              </a:ext>
            </a:extLst>
          </p:cNvPr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7" name="Google Shape;797;p61">
            <a:extLst>
              <a:ext uri="{FF2B5EF4-FFF2-40B4-BE49-F238E27FC236}">
                <a16:creationId xmlns:a16="http://schemas.microsoft.com/office/drawing/2014/main" id="{E03E74BD-8843-49BC-5A80-0A976743A882}"/>
              </a:ext>
            </a:extLst>
          </p:cNvPr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8" name="Google Shape;798;p61">
            <a:extLst>
              <a:ext uri="{FF2B5EF4-FFF2-40B4-BE49-F238E27FC236}">
                <a16:creationId xmlns:a16="http://schemas.microsoft.com/office/drawing/2014/main" id="{30CB7B47-59D6-D322-C088-F9CB9EA25AFE}"/>
              </a:ext>
            </a:extLst>
          </p:cNvPr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9" name="Google Shape;799;p61">
            <a:extLst>
              <a:ext uri="{FF2B5EF4-FFF2-40B4-BE49-F238E27FC236}">
                <a16:creationId xmlns:a16="http://schemas.microsoft.com/office/drawing/2014/main" id="{F218D2D2-8C50-6BD3-2CE4-EF291ACA6148}"/>
              </a:ext>
            </a:extLst>
          </p:cNvPr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0" name="Google Shape;800;p61">
            <a:extLst>
              <a:ext uri="{FF2B5EF4-FFF2-40B4-BE49-F238E27FC236}">
                <a16:creationId xmlns:a16="http://schemas.microsoft.com/office/drawing/2014/main" id="{958120E1-6E15-6D7E-C0E2-D66AAB429613}"/>
              </a:ext>
            </a:extLst>
          </p:cNvPr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1" name="Google Shape;801;p61">
            <a:extLst>
              <a:ext uri="{FF2B5EF4-FFF2-40B4-BE49-F238E27FC236}">
                <a16:creationId xmlns:a16="http://schemas.microsoft.com/office/drawing/2014/main" id="{B99A0B2A-25B6-66B3-381C-6E7C54B0A332}"/>
              </a:ext>
            </a:extLst>
          </p:cNvPr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2" name="Google Shape;802;p61">
            <a:extLst>
              <a:ext uri="{FF2B5EF4-FFF2-40B4-BE49-F238E27FC236}">
                <a16:creationId xmlns:a16="http://schemas.microsoft.com/office/drawing/2014/main" id="{370E5C6E-9C5F-C5BF-5816-8126BDFA743E}"/>
              </a:ext>
            </a:extLst>
          </p:cNvPr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3" name="Google Shape;803;p61">
            <a:extLst>
              <a:ext uri="{FF2B5EF4-FFF2-40B4-BE49-F238E27FC236}">
                <a16:creationId xmlns:a16="http://schemas.microsoft.com/office/drawing/2014/main" id="{E2E5EFED-E6FC-FE87-890A-04C90C7C0A94}"/>
              </a:ext>
            </a:extLst>
          </p:cNvPr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4" name="Google Shape;804;p61">
            <a:extLst>
              <a:ext uri="{FF2B5EF4-FFF2-40B4-BE49-F238E27FC236}">
                <a16:creationId xmlns:a16="http://schemas.microsoft.com/office/drawing/2014/main" id="{687D506D-A757-81CD-4FF5-871E4D6ABFEC}"/>
              </a:ext>
            </a:extLst>
          </p:cNvPr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5" name="Google Shape;805;p61">
            <a:extLst>
              <a:ext uri="{FF2B5EF4-FFF2-40B4-BE49-F238E27FC236}">
                <a16:creationId xmlns:a16="http://schemas.microsoft.com/office/drawing/2014/main" id="{52688D4D-47CD-16FD-2949-E1570D51AFE3}"/>
              </a:ext>
            </a:extLst>
          </p:cNvPr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806" name="Google Shape;806;p61">
            <a:extLst>
              <a:ext uri="{FF2B5EF4-FFF2-40B4-BE49-F238E27FC236}">
                <a16:creationId xmlns:a16="http://schemas.microsoft.com/office/drawing/2014/main" id="{BCEFE006-2B5E-7E07-B150-A74B43DF7A67}"/>
              </a:ext>
            </a:extLst>
          </p:cNvPr>
          <p:cNvGrpSpPr/>
          <p:nvPr/>
        </p:nvGrpSpPr>
        <p:grpSpPr>
          <a:xfrm>
            <a:off x="640406" y="1290290"/>
            <a:ext cx="4881163" cy="520944"/>
            <a:chOff x="0" y="0"/>
            <a:chExt cx="5029588" cy="528408"/>
          </a:xfrm>
        </p:grpSpPr>
        <p:sp>
          <p:nvSpPr>
            <p:cNvPr id="807" name="Google Shape;807;p61">
              <a:extLst>
                <a:ext uri="{FF2B5EF4-FFF2-40B4-BE49-F238E27FC236}">
                  <a16:creationId xmlns:a16="http://schemas.microsoft.com/office/drawing/2014/main" id="{4F04FB83-BC14-65DB-6875-22A42082AE72}"/>
                </a:ext>
              </a:extLst>
            </p:cNvPr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1">
              <a:extLst>
                <a:ext uri="{FF2B5EF4-FFF2-40B4-BE49-F238E27FC236}">
                  <a16:creationId xmlns:a16="http://schemas.microsoft.com/office/drawing/2014/main" id="{B6B7E2C9-5DA2-1233-5048-7F9E435B82DF}"/>
                </a:ext>
              </a:extLst>
            </p:cNvPr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1" name="Google Shape;811;p61">
            <a:extLst>
              <a:ext uri="{FF2B5EF4-FFF2-40B4-BE49-F238E27FC236}">
                <a16:creationId xmlns:a16="http://schemas.microsoft.com/office/drawing/2014/main" id="{83E66C2A-16EC-731D-B831-9D28645789B1}"/>
              </a:ext>
            </a:extLst>
          </p:cNvPr>
          <p:cNvSpPr txBox="1"/>
          <p:nvPr/>
        </p:nvSpPr>
        <p:spPr>
          <a:xfrm>
            <a:off x="514350" y="887016"/>
            <a:ext cx="3190311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Strings - metodos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1">
            <a:extLst>
              <a:ext uri="{FF2B5EF4-FFF2-40B4-BE49-F238E27FC236}">
                <a16:creationId xmlns:a16="http://schemas.microsoft.com/office/drawing/2014/main" id="{9049A08A-9B61-87A3-F309-C1D049239BEF}"/>
              </a:ext>
            </a:extLst>
          </p:cNvPr>
          <p:cNvSpPr txBox="1"/>
          <p:nvPr/>
        </p:nvSpPr>
        <p:spPr>
          <a:xfrm>
            <a:off x="887909" y="1476110"/>
            <a:ext cx="7068446" cy="18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5021"/>
              </a:lnSpc>
              <a:buSzPts val="900"/>
            </a:pP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Los </a:t>
            </a:r>
            <a:r>
              <a:rPr lang="es-419" sz="900" b="0" i="0" u="none" strike="noStrike" cap="none" dirty="0" err="1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strings</a:t>
            </a: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 tienen varios métodos asociados a su clase, aquí algunos ejemplos</a:t>
            </a:r>
            <a:endParaRPr lang="es-419" sz="900" dirty="0">
              <a:latin typeface="+mn-lt"/>
            </a:endParaRPr>
          </a:p>
        </p:txBody>
      </p:sp>
      <p:sp>
        <p:nvSpPr>
          <p:cNvPr id="6" name="Google Shape;807;p61">
            <a:extLst>
              <a:ext uri="{FF2B5EF4-FFF2-40B4-BE49-F238E27FC236}">
                <a16:creationId xmlns:a16="http://schemas.microsoft.com/office/drawing/2014/main" id="{E6A6A11D-EAFC-38B5-9363-F4B501BB6455}"/>
              </a:ext>
            </a:extLst>
          </p:cNvPr>
          <p:cNvSpPr/>
          <p:nvPr/>
        </p:nvSpPr>
        <p:spPr>
          <a:xfrm>
            <a:off x="780737" y="2408216"/>
            <a:ext cx="8060808" cy="2279529"/>
          </a:xfrm>
          <a:custGeom>
            <a:avLst/>
            <a:gdLst/>
            <a:ahLst/>
            <a:cxnLst/>
            <a:rect l="l" t="t" r="r" b="b"/>
            <a:pathLst>
              <a:path w="5029588" h="528408" extrusionOk="0">
                <a:moveTo>
                  <a:pt x="7729" y="0"/>
                </a:moveTo>
                <a:lnTo>
                  <a:pt x="5021858" y="0"/>
                </a:lnTo>
                <a:cubicBezTo>
                  <a:pt x="5026127" y="0"/>
                  <a:pt x="5029588" y="3461"/>
                  <a:pt x="5029588" y="7729"/>
                </a:cubicBezTo>
                <a:lnTo>
                  <a:pt x="5029588" y="520679"/>
                </a:lnTo>
                <a:cubicBezTo>
                  <a:pt x="5029588" y="524947"/>
                  <a:pt x="5026127" y="528408"/>
                  <a:pt x="5021858" y="528408"/>
                </a:cubicBezTo>
                <a:lnTo>
                  <a:pt x="7729" y="528408"/>
                </a:lnTo>
                <a:cubicBezTo>
                  <a:pt x="3461" y="528408"/>
                  <a:pt x="0" y="524947"/>
                  <a:pt x="0" y="520679"/>
                </a:cubicBezTo>
                <a:lnTo>
                  <a:pt x="0" y="7729"/>
                </a:lnTo>
                <a:cubicBezTo>
                  <a:pt x="0" y="3461"/>
                  <a:pt x="3461" y="0"/>
                  <a:pt x="7729" y="0"/>
                </a:cubicBezTo>
                <a:close/>
              </a:path>
            </a:pathLst>
          </a:custGeom>
          <a:solidFill>
            <a:srgbClr val="8AB7E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11;p61">
            <a:extLst>
              <a:ext uri="{FF2B5EF4-FFF2-40B4-BE49-F238E27FC236}">
                <a16:creationId xmlns:a16="http://schemas.microsoft.com/office/drawing/2014/main" id="{15D8E4D8-CEB1-C094-0D6D-675FFCA51BE0}"/>
              </a:ext>
            </a:extLst>
          </p:cNvPr>
          <p:cNvSpPr txBox="1"/>
          <p:nvPr/>
        </p:nvSpPr>
        <p:spPr>
          <a:xfrm>
            <a:off x="256167" y="2162343"/>
            <a:ext cx="3190311" cy="18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b="1" i="0" u="none" strike="noStrike" cap="none" dirty="0">
                <a:solidFill>
                  <a:srgbClr val="000000"/>
                </a:solidFill>
                <a:latin typeface="DM Sans"/>
                <a:ea typeface="Arial"/>
                <a:cs typeface="Arial"/>
                <a:sym typeface="DM Sans"/>
              </a:rPr>
              <a:t>Tipo de retorno: Boolean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FF05A7-1BEB-8657-B850-A905BF578C2A}"/>
              </a:ext>
            </a:extLst>
          </p:cNvPr>
          <p:cNvSpPr txBox="1"/>
          <p:nvPr/>
        </p:nvSpPr>
        <p:spPr>
          <a:xfrm>
            <a:off x="976574" y="2597826"/>
            <a:ext cx="81576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err="1"/>
              <a:t>String.All</a:t>
            </a:r>
            <a:r>
              <a:rPr lang="es-419" dirty="0"/>
              <a:t>(</a:t>
            </a:r>
            <a:r>
              <a:rPr lang="es-419" dirty="0" err="1"/>
              <a:t>char.IsLetter</a:t>
            </a:r>
            <a:r>
              <a:rPr lang="es-419" dirty="0"/>
              <a:t>) — Devuelve True si el </a:t>
            </a:r>
            <a:r>
              <a:rPr lang="es-419" dirty="0" err="1"/>
              <a:t>string</a:t>
            </a:r>
            <a:r>
              <a:rPr lang="es-419" dirty="0"/>
              <a:t> tiene solo letras.</a:t>
            </a:r>
            <a:br>
              <a:rPr lang="es-419" dirty="0"/>
            </a:br>
            <a:r>
              <a:rPr lang="es-419" dirty="0" err="1"/>
              <a:t>String.All</a:t>
            </a:r>
            <a:r>
              <a:rPr lang="es-419" dirty="0"/>
              <a:t>(</a:t>
            </a:r>
            <a:r>
              <a:rPr lang="es-419" dirty="0" err="1"/>
              <a:t>char.IsDigit</a:t>
            </a:r>
            <a:r>
              <a:rPr lang="es-419" dirty="0"/>
              <a:t>) — Devuelve True si el </a:t>
            </a:r>
            <a:r>
              <a:rPr lang="es-419" dirty="0" err="1"/>
              <a:t>string</a:t>
            </a:r>
            <a:r>
              <a:rPr lang="es-419" dirty="0"/>
              <a:t> tiene solo dígitos.</a:t>
            </a:r>
            <a:br>
              <a:rPr lang="es-419" dirty="0"/>
            </a:br>
            <a:r>
              <a:rPr lang="es-419" dirty="0" err="1"/>
              <a:t>String.All</a:t>
            </a:r>
            <a:r>
              <a:rPr lang="es-419" dirty="0"/>
              <a:t>(</a:t>
            </a:r>
            <a:r>
              <a:rPr lang="es-419" dirty="0" err="1"/>
              <a:t>char.IsLetterOrDigit</a:t>
            </a:r>
            <a:r>
              <a:rPr lang="es-419" dirty="0"/>
              <a:t>) — Devuelve True si el </a:t>
            </a:r>
            <a:r>
              <a:rPr lang="es-419" dirty="0" err="1"/>
              <a:t>string</a:t>
            </a:r>
            <a:r>
              <a:rPr lang="es-419" dirty="0"/>
              <a:t> tiene solo letras y/o dígitos.</a:t>
            </a:r>
            <a:br>
              <a:rPr lang="es-419" dirty="0"/>
            </a:br>
            <a:r>
              <a:rPr lang="es-419" dirty="0" err="1"/>
              <a:t>String.All</a:t>
            </a:r>
            <a:r>
              <a:rPr lang="es-419" dirty="0"/>
              <a:t>(</a:t>
            </a:r>
            <a:r>
              <a:rPr lang="es-419" dirty="0" err="1"/>
              <a:t>char.IsWhiteSpace</a:t>
            </a:r>
            <a:r>
              <a:rPr lang="es-419" dirty="0"/>
              <a:t>) — Devuelve True si el </a:t>
            </a:r>
            <a:r>
              <a:rPr lang="es-419" dirty="0" err="1"/>
              <a:t>string</a:t>
            </a:r>
            <a:r>
              <a:rPr lang="es-419" dirty="0"/>
              <a:t> tiene solo espacios o tabulaciones.</a:t>
            </a:r>
            <a:br>
              <a:rPr lang="es-419" dirty="0"/>
            </a:br>
            <a:r>
              <a:rPr lang="es-419" dirty="0" err="1"/>
              <a:t>String.All</a:t>
            </a:r>
            <a:r>
              <a:rPr lang="es-419" dirty="0"/>
              <a:t>(</a:t>
            </a:r>
            <a:r>
              <a:rPr lang="es-419" dirty="0" err="1"/>
              <a:t>char.IsLower</a:t>
            </a:r>
            <a:r>
              <a:rPr lang="es-419" dirty="0"/>
              <a:t>) — Devuelve True si el </a:t>
            </a:r>
            <a:r>
              <a:rPr lang="es-419" dirty="0" err="1"/>
              <a:t>string</a:t>
            </a:r>
            <a:r>
              <a:rPr lang="es-419" dirty="0"/>
              <a:t> está completamente en minúsculas.</a:t>
            </a:r>
            <a:br>
              <a:rPr lang="es-419" dirty="0"/>
            </a:br>
            <a:r>
              <a:rPr lang="es-419" dirty="0" err="1"/>
              <a:t>String.All</a:t>
            </a:r>
            <a:r>
              <a:rPr lang="es-419" dirty="0"/>
              <a:t>(</a:t>
            </a:r>
            <a:r>
              <a:rPr lang="es-419" dirty="0" err="1"/>
              <a:t>char.IsUpper</a:t>
            </a:r>
            <a:r>
              <a:rPr lang="es-419" dirty="0"/>
              <a:t>) — Devuelve True si el </a:t>
            </a:r>
            <a:r>
              <a:rPr lang="es-419" dirty="0" err="1"/>
              <a:t>string</a:t>
            </a:r>
            <a:r>
              <a:rPr lang="es-419" dirty="0"/>
              <a:t> está completamente en mayúsculas.</a:t>
            </a:r>
            <a:br>
              <a:rPr lang="es-419" dirty="0"/>
            </a:br>
            <a:r>
              <a:rPr lang="es-419" dirty="0" err="1"/>
              <a:t>String.StartsWith</a:t>
            </a:r>
            <a:r>
              <a:rPr lang="es-419" dirty="0"/>
              <a:t>(sub) — Devuelve True si el </a:t>
            </a:r>
            <a:r>
              <a:rPr lang="es-419" dirty="0" err="1"/>
              <a:t>string</a:t>
            </a:r>
            <a:r>
              <a:rPr lang="es-419" dirty="0"/>
              <a:t> empieza con la </a:t>
            </a:r>
            <a:r>
              <a:rPr lang="es-419" dirty="0" err="1"/>
              <a:t>subcadena</a:t>
            </a:r>
            <a:r>
              <a:rPr lang="es-419" dirty="0"/>
              <a:t> dada.</a:t>
            </a:r>
            <a:br>
              <a:rPr lang="es-419" dirty="0"/>
            </a:br>
            <a:r>
              <a:rPr lang="es-419" dirty="0" err="1"/>
              <a:t>String.EndsWith</a:t>
            </a:r>
            <a:r>
              <a:rPr lang="es-419" dirty="0"/>
              <a:t>(sub) — Devuelve True si el </a:t>
            </a:r>
            <a:r>
              <a:rPr lang="es-419" dirty="0" err="1"/>
              <a:t>string</a:t>
            </a:r>
            <a:r>
              <a:rPr lang="es-419" dirty="0"/>
              <a:t> termina con la </a:t>
            </a:r>
            <a:r>
              <a:rPr lang="es-419" dirty="0" err="1"/>
              <a:t>subcadena</a:t>
            </a:r>
            <a:r>
              <a:rPr lang="es-419" dirty="0"/>
              <a:t> dada.</a:t>
            </a:r>
          </a:p>
        </p:txBody>
      </p:sp>
    </p:spTree>
    <p:extLst>
      <p:ext uri="{BB962C8B-B14F-4D97-AF65-F5344CB8AC3E}">
        <p14:creationId xmlns:p14="http://schemas.microsoft.com/office/powerpoint/2010/main" val="5003783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>
          <a:extLst>
            <a:ext uri="{FF2B5EF4-FFF2-40B4-BE49-F238E27FC236}">
              <a16:creationId xmlns:a16="http://schemas.microsoft.com/office/drawing/2014/main" id="{46951070-6D93-3E90-ACBB-B3670F886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">
            <a:extLst>
              <a:ext uri="{FF2B5EF4-FFF2-40B4-BE49-F238E27FC236}">
                <a16:creationId xmlns:a16="http://schemas.microsoft.com/office/drawing/2014/main" id="{523A4D84-98D1-C121-E62E-2EC95B8AB011}"/>
              </a:ext>
            </a:extLst>
          </p:cNvPr>
          <p:cNvSpPr/>
          <p:nvPr/>
        </p:nvSpPr>
        <p:spPr>
          <a:xfrm rot="-5400000">
            <a:off x="2046469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6" name="Google Shape;796;p61">
            <a:extLst>
              <a:ext uri="{FF2B5EF4-FFF2-40B4-BE49-F238E27FC236}">
                <a16:creationId xmlns:a16="http://schemas.microsoft.com/office/drawing/2014/main" id="{8CBBC47B-A07D-8DD2-EB45-A3ED2EFBF2F5}"/>
              </a:ext>
            </a:extLst>
          </p:cNvPr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7" name="Google Shape;797;p61">
            <a:extLst>
              <a:ext uri="{FF2B5EF4-FFF2-40B4-BE49-F238E27FC236}">
                <a16:creationId xmlns:a16="http://schemas.microsoft.com/office/drawing/2014/main" id="{B668E022-8F02-86B7-F364-5FDAB8C04468}"/>
              </a:ext>
            </a:extLst>
          </p:cNvPr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8" name="Google Shape;798;p61">
            <a:extLst>
              <a:ext uri="{FF2B5EF4-FFF2-40B4-BE49-F238E27FC236}">
                <a16:creationId xmlns:a16="http://schemas.microsoft.com/office/drawing/2014/main" id="{E2DEB277-B9BE-5079-23C7-7049B84B8443}"/>
              </a:ext>
            </a:extLst>
          </p:cNvPr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9" name="Google Shape;799;p61">
            <a:extLst>
              <a:ext uri="{FF2B5EF4-FFF2-40B4-BE49-F238E27FC236}">
                <a16:creationId xmlns:a16="http://schemas.microsoft.com/office/drawing/2014/main" id="{2A77D61B-0F06-4D8F-3D7F-F6FBD2C26E12}"/>
              </a:ext>
            </a:extLst>
          </p:cNvPr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0" name="Google Shape;800;p61">
            <a:extLst>
              <a:ext uri="{FF2B5EF4-FFF2-40B4-BE49-F238E27FC236}">
                <a16:creationId xmlns:a16="http://schemas.microsoft.com/office/drawing/2014/main" id="{E60B18BE-C42A-3F4E-A644-1A0177657B51}"/>
              </a:ext>
            </a:extLst>
          </p:cNvPr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1" name="Google Shape;801;p61">
            <a:extLst>
              <a:ext uri="{FF2B5EF4-FFF2-40B4-BE49-F238E27FC236}">
                <a16:creationId xmlns:a16="http://schemas.microsoft.com/office/drawing/2014/main" id="{44E3A289-4B29-4973-FC9A-8B6227FF29D2}"/>
              </a:ext>
            </a:extLst>
          </p:cNvPr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2" name="Google Shape;802;p61">
            <a:extLst>
              <a:ext uri="{FF2B5EF4-FFF2-40B4-BE49-F238E27FC236}">
                <a16:creationId xmlns:a16="http://schemas.microsoft.com/office/drawing/2014/main" id="{9CA579C8-4FE6-6349-588C-E9DDC89FB31A}"/>
              </a:ext>
            </a:extLst>
          </p:cNvPr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3" name="Google Shape;803;p61">
            <a:extLst>
              <a:ext uri="{FF2B5EF4-FFF2-40B4-BE49-F238E27FC236}">
                <a16:creationId xmlns:a16="http://schemas.microsoft.com/office/drawing/2014/main" id="{7ADBAB6E-8514-B32B-092D-266271391B0A}"/>
              </a:ext>
            </a:extLst>
          </p:cNvPr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4" name="Google Shape;804;p61">
            <a:extLst>
              <a:ext uri="{FF2B5EF4-FFF2-40B4-BE49-F238E27FC236}">
                <a16:creationId xmlns:a16="http://schemas.microsoft.com/office/drawing/2014/main" id="{02E239A9-6151-C550-8B8B-A4EF592E75C0}"/>
              </a:ext>
            </a:extLst>
          </p:cNvPr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5" name="Google Shape;805;p61">
            <a:extLst>
              <a:ext uri="{FF2B5EF4-FFF2-40B4-BE49-F238E27FC236}">
                <a16:creationId xmlns:a16="http://schemas.microsoft.com/office/drawing/2014/main" id="{8C24E370-3A43-6E9F-3B77-6E88FADFE665}"/>
              </a:ext>
            </a:extLst>
          </p:cNvPr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806" name="Google Shape;806;p61">
            <a:extLst>
              <a:ext uri="{FF2B5EF4-FFF2-40B4-BE49-F238E27FC236}">
                <a16:creationId xmlns:a16="http://schemas.microsoft.com/office/drawing/2014/main" id="{7CFFD80A-97FC-78E9-ACAC-009C59FD6AAE}"/>
              </a:ext>
            </a:extLst>
          </p:cNvPr>
          <p:cNvGrpSpPr/>
          <p:nvPr/>
        </p:nvGrpSpPr>
        <p:grpSpPr>
          <a:xfrm>
            <a:off x="640406" y="1290290"/>
            <a:ext cx="4881163" cy="520944"/>
            <a:chOff x="0" y="0"/>
            <a:chExt cx="5029588" cy="528408"/>
          </a:xfrm>
        </p:grpSpPr>
        <p:sp>
          <p:nvSpPr>
            <p:cNvPr id="807" name="Google Shape;807;p61">
              <a:extLst>
                <a:ext uri="{FF2B5EF4-FFF2-40B4-BE49-F238E27FC236}">
                  <a16:creationId xmlns:a16="http://schemas.microsoft.com/office/drawing/2014/main" id="{1AD72B70-FC73-004B-BADB-C19E3338C5E3}"/>
                </a:ext>
              </a:extLst>
            </p:cNvPr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1">
              <a:extLst>
                <a:ext uri="{FF2B5EF4-FFF2-40B4-BE49-F238E27FC236}">
                  <a16:creationId xmlns:a16="http://schemas.microsoft.com/office/drawing/2014/main" id="{7564E972-11B3-8314-AC07-E9D6165A0E60}"/>
                </a:ext>
              </a:extLst>
            </p:cNvPr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1" name="Google Shape;811;p61">
            <a:extLst>
              <a:ext uri="{FF2B5EF4-FFF2-40B4-BE49-F238E27FC236}">
                <a16:creationId xmlns:a16="http://schemas.microsoft.com/office/drawing/2014/main" id="{9037A445-0376-6BFE-99C4-E12B6E69EB59}"/>
              </a:ext>
            </a:extLst>
          </p:cNvPr>
          <p:cNvSpPr txBox="1"/>
          <p:nvPr/>
        </p:nvSpPr>
        <p:spPr>
          <a:xfrm>
            <a:off x="514350" y="887016"/>
            <a:ext cx="3190311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Strings - metodos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1">
            <a:extLst>
              <a:ext uri="{FF2B5EF4-FFF2-40B4-BE49-F238E27FC236}">
                <a16:creationId xmlns:a16="http://schemas.microsoft.com/office/drawing/2014/main" id="{E8458B31-B46D-8DA8-2EAB-C17C910F9A6B}"/>
              </a:ext>
            </a:extLst>
          </p:cNvPr>
          <p:cNvSpPr txBox="1"/>
          <p:nvPr/>
        </p:nvSpPr>
        <p:spPr>
          <a:xfrm>
            <a:off x="887909" y="1476110"/>
            <a:ext cx="7068446" cy="18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5021"/>
              </a:lnSpc>
              <a:buSzPts val="900"/>
            </a:pP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Los </a:t>
            </a:r>
            <a:r>
              <a:rPr lang="es-419" sz="900" b="0" i="0" u="none" strike="noStrike" cap="none" dirty="0" err="1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strings</a:t>
            </a: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 tienen varios métodos asociados a su clase, aquí algunos ejemplos</a:t>
            </a:r>
            <a:endParaRPr lang="es-419" sz="900" dirty="0">
              <a:latin typeface="+mn-lt"/>
            </a:endParaRPr>
          </a:p>
        </p:txBody>
      </p:sp>
      <p:sp>
        <p:nvSpPr>
          <p:cNvPr id="6" name="Google Shape;807;p61">
            <a:extLst>
              <a:ext uri="{FF2B5EF4-FFF2-40B4-BE49-F238E27FC236}">
                <a16:creationId xmlns:a16="http://schemas.microsoft.com/office/drawing/2014/main" id="{E2E017D1-0E54-AA0D-ACBF-4E4A3B097E3D}"/>
              </a:ext>
            </a:extLst>
          </p:cNvPr>
          <p:cNvSpPr/>
          <p:nvPr/>
        </p:nvSpPr>
        <p:spPr>
          <a:xfrm>
            <a:off x="780737" y="2408216"/>
            <a:ext cx="8060808" cy="2279529"/>
          </a:xfrm>
          <a:custGeom>
            <a:avLst/>
            <a:gdLst/>
            <a:ahLst/>
            <a:cxnLst/>
            <a:rect l="l" t="t" r="r" b="b"/>
            <a:pathLst>
              <a:path w="5029588" h="528408" extrusionOk="0">
                <a:moveTo>
                  <a:pt x="7729" y="0"/>
                </a:moveTo>
                <a:lnTo>
                  <a:pt x="5021858" y="0"/>
                </a:lnTo>
                <a:cubicBezTo>
                  <a:pt x="5026127" y="0"/>
                  <a:pt x="5029588" y="3461"/>
                  <a:pt x="5029588" y="7729"/>
                </a:cubicBezTo>
                <a:lnTo>
                  <a:pt x="5029588" y="520679"/>
                </a:lnTo>
                <a:cubicBezTo>
                  <a:pt x="5029588" y="524947"/>
                  <a:pt x="5026127" y="528408"/>
                  <a:pt x="5021858" y="528408"/>
                </a:cubicBezTo>
                <a:lnTo>
                  <a:pt x="7729" y="528408"/>
                </a:lnTo>
                <a:cubicBezTo>
                  <a:pt x="3461" y="528408"/>
                  <a:pt x="0" y="524947"/>
                  <a:pt x="0" y="520679"/>
                </a:cubicBezTo>
                <a:lnTo>
                  <a:pt x="0" y="7729"/>
                </a:lnTo>
                <a:cubicBezTo>
                  <a:pt x="0" y="3461"/>
                  <a:pt x="3461" y="0"/>
                  <a:pt x="7729" y="0"/>
                </a:cubicBezTo>
                <a:close/>
              </a:path>
            </a:pathLst>
          </a:custGeom>
          <a:solidFill>
            <a:srgbClr val="8AB7E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11;p61">
            <a:extLst>
              <a:ext uri="{FF2B5EF4-FFF2-40B4-BE49-F238E27FC236}">
                <a16:creationId xmlns:a16="http://schemas.microsoft.com/office/drawing/2014/main" id="{9BB54F3C-F33B-FD75-D78C-D97936321DBC}"/>
              </a:ext>
            </a:extLst>
          </p:cNvPr>
          <p:cNvSpPr txBox="1"/>
          <p:nvPr/>
        </p:nvSpPr>
        <p:spPr>
          <a:xfrm>
            <a:off x="514350" y="2168794"/>
            <a:ext cx="4315833" cy="18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b="1" i="0" u="none" strike="noStrike" cap="none" dirty="0">
                <a:solidFill>
                  <a:srgbClr val="000000"/>
                </a:solidFill>
                <a:latin typeface="DM Sans"/>
                <a:ea typeface="Arial"/>
                <a:cs typeface="Arial"/>
                <a:sym typeface="DM Sans"/>
              </a:rPr>
              <a:t>Transformación (retornan string modificado)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703B8D-6BE9-97D7-1213-AF08CBAF58E2}"/>
              </a:ext>
            </a:extLst>
          </p:cNvPr>
          <p:cNvSpPr txBox="1"/>
          <p:nvPr/>
        </p:nvSpPr>
        <p:spPr>
          <a:xfrm>
            <a:off x="976574" y="2597826"/>
            <a:ext cx="69797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err="1"/>
              <a:t>ToLower</a:t>
            </a:r>
            <a:r>
              <a:rPr lang="es-419" dirty="0"/>
              <a:t>() --- Convierte el </a:t>
            </a:r>
            <a:r>
              <a:rPr lang="es-419" dirty="0" err="1"/>
              <a:t>string</a:t>
            </a:r>
            <a:r>
              <a:rPr lang="es-419" dirty="0"/>
              <a:t> a minúsculas</a:t>
            </a:r>
            <a:br>
              <a:rPr lang="es-419" dirty="0"/>
            </a:br>
            <a:r>
              <a:rPr lang="es-419" dirty="0" err="1"/>
              <a:t>ToUpper</a:t>
            </a:r>
            <a:r>
              <a:rPr lang="es-419" dirty="0"/>
              <a:t>() --- Convierte el </a:t>
            </a:r>
            <a:r>
              <a:rPr lang="es-419" dirty="0" err="1"/>
              <a:t>string</a:t>
            </a:r>
            <a:r>
              <a:rPr lang="es-419" dirty="0"/>
              <a:t> a mayúsculas</a:t>
            </a:r>
            <a:br>
              <a:rPr lang="es-419" dirty="0"/>
            </a:br>
            <a:r>
              <a:rPr lang="es-419" dirty="0" err="1"/>
              <a:t>Trim</a:t>
            </a:r>
            <a:r>
              <a:rPr lang="es-419" dirty="0"/>
              <a:t>() --- Elimina espacios al inicio y al final</a:t>
            </a:r>
            <a:br>
              <a:rPr lang="es-419" dirty="0"/>
            </a:br>
            <a:r>
              <a:rPr lang="es-419" dirty="0" err="1"/>
              <a:t>TrimStart</a:t>
            </a:r>
            <a:r>
              <a:rPr lang="es-419" dirty="0"/>
              <a:t>() --- Elimina espacios al inicio</a:t>
            </a:r>
            <a:br>
              <a:rPr lang="es-419" dirty="0"/>
            </a:br>
            <a:r>
              <a:rPr lang="es-419" dirty="0" err="1"/>
              <a:t>TrimEnd</a:t>
            </a:r>
            <a:r>
              <a:rPr lang="es-419" dirty="0"/>
              <a:t>() --- Elimina espacios al final</a:t>
            </a:r>
            <a:br>
              <a:rPr lang="es-419" dirty="0"/>
            </a:br>
            <a:r>
              <a:rPr lang="es-419" dirty="0" err="1"/>
              <a:t>Replace</a:t>
            </a:r>
            <a:r>
              <a:rPr lang="es-419" dirty="0"/>
              <a:t>(a, b) --- Reemplaza todas las apariciones de a por b</a:t>
            </a:r>
          </a:p>
        </p:txBody>
      </p:sp>
    </p:spTree>
    <p:extLst>
      <p:ext uri="{BB962C8B-B14F-4D97-AF65-F5344CB8AC3E}">
        <p14:creationId xmlns:p14="http://schemas.microsoft.com/office/powerpoint/2010/main" val="29261070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>
          <a:extLst>
            <a:ext uri="{FF2B5EF4-FFF2-40B4-BE49-F238E27FC236}">
              <a16:creationId xmlns:a16="http://schemas.microsoft.com/office/drawing/2014/main" id="{2FE4B436-0B72-E404-289A-5507A1DB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1">
            <a:extLst>
              <a:ext uri="{FF2B5EF4-FFF2-40B4-BE49-F238E27FC236}">
                <a16:creationId xmlns:a16="http://schemas.microsoft.com/office/drawing/2014/main" id="{DB5D7E63-F862-6ABD-EAB1-80C70D8D8CEE}"/>
              </a:ext>
            </a:extLst>
          </p:cNvPr>
          <p:cNvSpPr/>
          <p:nvPr/>
        </p:nvSpPr>
        <p:spPr>
          <a:xfrm rot="-5400000">
            <a:off x="2046469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6" name="Google Shape;796;p61">
            <a:extLst>
              <a:ext uri="{FF2B5EF4-FFF2-40B4-BE49-F238E27FC236}">
                <a16:creationId xmlns:a16="http://schemas.microsoft.com/office/drawing/2014/main" id="{49736D20-F7BA-35CF-815A-571107B70985}"/>
              </a:ext>
            </a:extLst>
          </p:cNvPr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7" name="Google Shape;797;p61">
            <a:extLst>
              <a:ext uri="{FF2B5EF4-FFF2-40B4-BE49-F238E27FC236}">
                <a16:creationId xmlns:a16="http://schemas.microsoft.com/office/drawing/2014/main" id="{29132ED7-55C6-53FA-4671-3D3D404570AA}"/>
              </a:ext>
            </a:extLst>
          </p:cNvPr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8" name="Google Shape;798;p61">
            <a:extLst>
              <a:ext uri="{FF2B5EF4-FFF2-40B4-BE49-F238E27FC236}">
                <a16:creationId xmlns:a16="http://schemas.microsoft.com/office/drawing/2014/main" id="{B7ADE5ED-C4BC-A8C0-785C-55E7D4B2B597}"/>
              </a:ext>
            </a:extLst>
          </p:cNvPr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799" name="Google Shape;799;p61">
            <a:extLst>
              <a:ext uri="{FF2B5EF4-FFF2-40B4-BE49-F238E27FC236}">
                <a16:creationId xmlns:a16="http://schemas.microsoft.com/office/drawing/2014/main" id="{EFC80B3C-20D1-2B0D-FBDB-EB06E309F16D}"/>
              </a:ext>
            </a:extLst>
          </p:cNvPr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0" name="Google Shape;800;p61">
            <a:extLst>
              <a:ext uri="{FF2B5EF4-FFF2-40B4-BE49-F238E27FC236}">
                <a16:creationId xmlns:a16="http://schemas.microsoft.com/office/drawing/2014/main" id="{1B2F7F88-48DE-E3C4-DDAC-4F9D9C3F22DE}"/>
              </a:ext>
            </a:extLst>
          </p:cNvPr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1" name="Google Shape;801;p61">
            <a:extLst>
              <a:ext uri="{FF2B5EF4-FFF2-40B4-BE49-F238E27FC236}">
                <a16:creationId xmlns:a16="http://schemas.microsoft.com/office/drawing/2014/main" id="{CA81C3F7-4DA0-E1BC-518B-BB9C87688697}"/>
              </a:ext>
            </a:extLst>
          </p:cNvPr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2" name="Google Shape;802;p61">
            <a:extLst>
              <a:ext uri="{FF2B5EF4-FFF2-40B4-BE49-F238E27FC236}">
                <a16:creationId xmlns:a16="http://schemas.microsoft.com/office/drawing/2014/main" id="{1F4F5543-16DC-BC57-D061-49BF2299C700}"/>
              </a:ext>
            </a:extLst>
          </p:cNvPr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3" name="Google Shape;803;p61">
            <a:extLst>
              <a:ext uri="{FF2B5EF4-FFF2-40B4-BE49-F238E27FC236}">
                <a16:creationId xmlns:a16="http://schemas.microsoft.com/office/drawing/2014/main" id="{C4A8E1CE-E8AE-4E44-8BC5-BBF6E9BFF808}"/>
              </a:ext>
            </a:extLst>
          </p:cNvPr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4" name="Google Shape;804;p61">
            <a:extLst>
              <a:ext uri="{FF2B5EF4-FFF2-40B4-BE49-F238E27FC236}">
                <a16:creationId xmlns:a16="http://schemas.microsoft.com/office/drawing/2014/main" id="{2F0BACF3-BBCC-4B36-D46D-3087EC362E8C}"/>
              </a:ext>
            </a:extLst>
          </p:cNvPr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05" name="Google Shape;805;p61">
            <a:extLst>
              <a:ext uri="{FF2B5EF4-FFF2-40B4-BE49-F238E27FC236}">
                <a16:creationId xmlns:a16="http://schemas.microsoft.com/office/drawing/2014/main" id="{FBB19961-129E-E7DB-AA6D-D274A8DA2A5D}"/>
              </a:ext>
            </a:extLst>
          </p:cNvPr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grpSp>
        <p:nvGrpSpPr>
          <p:cNvPr id="806" name="Google Shape;806;p61">
            <a:extLst>
              <a:ext uri="{FF2B5EF4-FFF2-40B4-BE49-F238E27FC236}">
                <a16:creationId xmlns:a16="http://schemas.microsoft.com/office/drawing/2014/main" id="{B2C2306E-1B98-BB29-F08B-39655B3188E1}"/>
              </a:ext>
            </a:extLst>
          </p:cNvPr>
          <p:cNvGrpSpPr/>
          <p:nvPr/>
        </p:nvGrpSpPr>
        <p:grpSpPr>
          <a:xfrm>
            <a:off x="640406" y="1290290"/>
            <a:ext cx="4881163" cy="520944"/>
            <a:chOff x="0" y="0"/>
            <a:chExt cx="5029588" cy="528408"/>
          </a:xfrm>
        </p:grpSpPr>
        <p:sp>
          <p:nvSpPr>
            <p:cNvPr id="807" name="Google Shape;807;p61">
              <a:extLst>
                <a:ext uri="{FF2B5EF4-FFF2-40B4-BE49-F238E27FC236}">
                  <a16:creationId xmlns:a16="http://schemas.microsoft.com/office/drawing/2014/main" id="{DB040F58-22CA-919F-1171-4CF9D9A6AE9F}"/>
                </a:ext>
              </a:extLst>
            </p:cNvPr>
            <p:cNvSpPr/>
            <p:nvPr/>
          </p:nvSpPr>
          <p:spPr>
            <a:xfrm>
              <a:off x="0" y="0"/>
              <a:ext cx="5029588" cy="528408"/>
            </a:xfrm>
            <a:custGeom>
              <a:avLst/>
              <a:gdLst/>
              <a:ahLst/>
              <a:cxnLst/>
              <a:rect l="l" t="t" r="r" b="b"/>
              <a:pathLst>
                <a:path w="5029588" h="528408" extrusionOk="0">
                  <a:moveTo>
                    <a:pt x="7729" y="0"/>
                  </a:moveTo>
                  <a:lnTo>
                    <a:pt x="5021858" y="0"/>
                  </a:lnTo>
                  <a:cubicBezTo>
                    <a:pt x="5026127" y="0"/>
                    <a:pt x="5029588" y="3461"/>
                    <a:pt x="5029588" y="7729"/>
                  </a:cubicBezTo>
                  <a:lnTo>
                    <a:pt x="5029588" y="520679"/>
                  </a:lnTo>
                  <a:cubicBezTo>
                    <a:pt x="5029588" y="524947"/>
                    <a:pt x="5026127" y="528408"/>
                    <a:pt x="5021858" y="528408"/>
                  </a:cubicBezTo>
                  <a:lnTo>
                    <a:pt x="7729" y="528408"/>
                  </a:lnTo>
                  <a:cubicBezTo>
                    <a:pt x="3461" y="528408"/>
                    <a:pt x="0" y="524947"/>
                    <a:pt x="0" y="520679"/>
                  </a:cubicBezTo>
                  <a:lnTo>
                    <a:pt x="0" y="7729"/>
                  </a:lnTo>
                  <a:cubicBezTo>
                    <a:pt x="0" y="3461"/>
                    <a:pt x="3461" y="0"/>
                    <a:pt x="7729" y="0"/>
                  </a:cubicBezTo>
                  <a:close/>
                </a:path>
              </a:pathLst>
            </a:custGeom>
            <a:solidFill>
              <a:srgbClr val="8AB7E2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61">
              <a:extLst>
                <a:ext uri="{FF2B5EF4-FFF2-40B4-BE49-F238E27FC236}">
                  <a16:creationId xmlns:a16="http://schemas.microsoft.com/office/drawing/2014/main" id="{8C1BC8C1-5D83-4D81-80C7-BF43B08289E6}"/>
                </a:ext>
              </a:extLst>
            </p:cNvPr>
            <p:cNvSpPr txBox="1"/>
            <p:nvPr/>
          </p:nvSpPr>
          <p:spPr>
            <a:xfrm>
              <a:off x="0" y="85725"/>
              <a:ext cx="5029587" cy="4426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6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1" name="Google Shape;811;p61">
            <a:extLst>
              <a:ext uri="{FF2B5EF4-FFF2-40B4-BE49-F238E27FC236}">
                <a16:creationId xmlns:a16="http://schemas.microsoft.com/office/drawing/2014/main" id="{3B48F399-7EB9-FF79-A287-F5C8D6F23233}"/>
              </a:ext>
            </a:extLst>
          </p:cNvPr>
          <p:cNvSpPr txBox="1"/>
          <p:nvPr/>
        </p:nvSpPr>
        <p:spPr>
          <a:xfrm>
            <a:off x="514350" y="887016"/>
            <a:ext cx="3190311" cy="33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Strings - metodos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61">
            <a:extLst>
              <a:ext uri="{FF2B5EF4-FFF2-40B4-BE49-F238E27FC236}">
                <a16:creationId xmlns:a16="http://schemas.microsoft.com/office/drawing/2014/main" id="{742F62C0-764F-D446-403C-0493DB3FDFD8}"/>
              </a:ext>
            </a:extLst>
          </p:cNvPr>
          <p:cNvSpPr txBox="1"/>
          <p:nvPr/>
        </p:nvSpPr>
        <p:spPr>
          <a:xfrm>
            <a:off x="887909" y="1476110"/>
            <a:ext cx="7068446" cy="186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5021"/>
              </a:lnSpc>
              <a:buSzPts val="900"/>
            </a:pP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Los </a:t>
            </a:r>
            <a:r>
              <a:rPr lang="es-419" sz="900" b="0" i="0" u="none" strike="noStrike" cap="none" dirty="0" err="1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strings</a:t>
            </a:r>
            <a:r>
              <a:rPr lang="es-419" sz="900" b="0" i="0" u="none" strike="noStrike" cap="none" dirty="0">
                <a:solidFill>
                  <a:srgbClr val="000000"/>
                </a:solidFill>
                <a:latin typeface="+mn-lt"/>
                <a:ea typeface="DM Sans"/>
                <a:cs typeface="DM Sans"/>
                <a:sym typeface="DM Sans"/>
              </a:rPr>
              <a:t> tienen varios métodos asociados a su clase, aquí algunos ejemplos</a:t>
            </a:r>
            <a:endParaRPr lang="es-419" sz="900" dirty="0">
              <a:latin typeface="+mn-lt"/>
            </a:endParaRPr>
          </a:p>
        </p:txBody>
      </p:sp>
      <p:sp>
        <p:nvSpPr>
          <p:cNvPr id="6" name="Google Shape;807;p61">
            <a:extLst>
              <a:ext uri="{FF2B5EF4-FFF2-40B4-BE49-F238E27FC236}">
                <a16:creationId xmlns:a16="http://schemas.microsoft.com/office/drawing/2014/main" id="{A3719CEF-1D8C-3571-E98F-E4F6AF5C9A44}"/>
              </a:ext>
            </a:extLst>
          </p:cNvPr>
          <p:cNvSpPr/>
          <p:nvPr/>
        </p:nvSpPr>
        <p:spPr>
          <a:xfrm>
            <a:off x="780737" y="2408216"/>
            <a:ext cx="8060808" cy="2279529"/>
          </a:xfrm>
          <a:custGeom>
            <a:avLst/>
            <a:gdLst/>
            <a:ahLst/>
            <a:cxnLst/>
            <a:rect l="l" t="t" r="r" b="b"/>
            <a:pathLst>
              <a:path w="5029588" h="528408" extrusionOk="0">
                <a:moveTo>
                  <a:pt x="7729" y="0"/>
                </a:moveTo>
                <a:lnTo>
                  <a:pt x="5021858" y="0"/>
                </a:lnTo>
                <a:cubicBezTo>
                  <a:pt x="5026127" y="0"/>
                  <a:pt x="5029588" y="3461"/>
                  <a:pt x="5029588" y="7729"/>
                </a:cubicBezTo>
                <a:lnTo>
                  <a:pt x="5029588" y="520679"/>
                </a:lnTo>
                <a:cubicBezTo>
                  <a:pt x="5029588" y="524947"/>
                  <a:pt x="5026127" y="528408"/>
                  <a:pt x="5021858" y="528408"/>
                </a:cubicBezTo>
                <a:lnTo>
                  <a:pt x="7729" y="528408"/>
                </a:lnTo>
                <a:cubicBezTo>
                  <a:pt x="3461" y="528408"/>
                  <a:pt x="0" y="524947"/>
                  <a:pt x="0" y="520679"/>
                </a:cubicBezTo>
                <a:lnTo>
                  <a:pt x="0" y="7729"/>
                </a:lnTo>
                <a:cubicBezTo>
                  <a:pt x="0" y="3461"/>
                  <a:pt x="3461" y="0"/>
                  <a:pt x="7729" y="0"/>
                </a:cubicBezTo>
                <a:close/>
              </a:path>
            </a:pathLst>
          </a:custGeom>
          <a:solidFill>
            <a:srgbClr val="8AB7E2"/>
          </a:solidFill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11;p61">
            <a:extLst>
              <a:ext uri="{FF2B5EF4-FFF2-40B4-BE49-F238E27FC236}">
                <a16:creationId xmlns:a16="http://schemas.microsoft.com/office/drawing/2014/main" id="{4E4C87CD-0C23-C08B-A33A-1F10917F5BDC}"/>
              </a:ext>
            </a:extLst>
          </p:cNvPr>
          <p:cNvSpPr txBox="1"/>
          <p:nvPr/>
        </p:nvSpPr>
        <p:spPr>
          <a:xfrm>
            <a:off x="514350" y="2168794"/>
            <a:ext cx="4315833" cy="187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00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b="1" i="0" u="none" strike="noStrike" cap="none" dirty="0">
                <a:solidFill>
                  <a:srgbClr val="000000"/>
                </a:solidFill>
                <a:latin typeface="DM Sans"/>
                <a:ea typeface="Arial"/>
                <a:cs typeface="Arial"/>
                <a:sym typeface="DM Sans"/>
              </a:rPr>
              <a:t>Búsqueda y partición (retornan listas, tuplas, etc)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0088E64-693F-C250-7901-4DBE3EF928F3}"/>
              </a:ext>
            </a:extLst>
          </p:cNvPr>
          <p:cNvSpPr txBox="1"/>
          <p:nvPr/>
        </p:nvSpPr>
        <p:spPr>
          <a:xfrm>
            <a:off x="976574" y="2597826"/>
            <a:ext cx="697978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419" dirty="0"/>
          </a:p>
          <a:p>
            <a:r>
              <a:rPr lang="es-419" dirty="0"/>
              <a:t>Split() --- Divide el </a:t>
            </a:r>
            <a:r>
              <a:rPr lang="es-419" dirty="0" err="1"/>
              <a:t>string</a:t>
            </a:r>
            <a:r>
              <a:rPr lang="es-419" dirty="0"/>
              <a:t> en un arreglo usando un separador</a:t>
            </a:r>
          </a:p>
          <a:p>
            <a:r>
              <a:rPr lang="es-419" dirty="0" err="1"/>
              <a:t>Join</a:t>
            </a:r>
            <a:r>
              <a:rPr lang="es-419" dirty="0"/>
              <a:t>(iterable) --- Une los elementos de un arreglo o lista en un </a:t>
            </a:r>
            <a:r>
              <a:rPr lang="es-419" dirty="0" err="1"/>
              <a:t>string</a:t>
            </a:r>
            <a:r>
              <a:rPr lang="es-419" dirty="0"/>
              <a:t> usando este </a:t>
            </a:r>
            <a:r>
              <a:rPr lang="es-419" dirty="0" err="1"/>
              <a:t>string</a:t>
            </a:r>
            <a:r>
              <a:rPr lang="es-419" dirty="0"/>
              <a:t> como separador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0098161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2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0" name="Google Shape;840;p62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1" name="Google Shape;841;p62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2" name="Google Shape;842;p62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3" name="Google Shape;843;p62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4" name="Google Shape;844;p62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5" name="Google Shape;845;p62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6" name="Google Shape;846;p62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7" name="Google Shape;847;p62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8" name="Google Shape;848;p62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49" name="Google Shape;849;p62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50" name="Google Shape;850;p62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51" name="Google Shape;851;p62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52" name="Google Shape;852;p62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53" name="Google Shape;853;p62"/>
          <p:cNvSpPr txBox="1"/>
          <p:nvPr/>
        </p:nvSpPr>
        <p:spPr>
          <a:xfrm>
            <a:off x="1194964" y="1597377"/>
            <a:ext cx="6754073" cy="188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es" sz="57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EJEMPLO PRÁCTICO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3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59" name="Google Shape;859;p63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0" name="Google Shape;860;p63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1" name="Google Shape;861;p63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2" name="Google Shape;862;p63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3" name="Google Shape;863;p63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4" name="Google Shape;864;p63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5" name="Google Shape;865;p63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6" name="Google Shape;866;p63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7" name="Google Shape;867;p63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8" name="Google Shape;868;p63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69" name="Google Shape;869;p63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70" name="Google Shape;870;p63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71" name="Google Shape;871;p63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73" name="Google Shape;873;p63"/>
          <p:cNvSpPr/>
          <p:nvPr/>
        </p:nvSpPr>
        <p:spPr>
          <a:xfrm>
            <a:off x="4091612" y="2228650"/>
            <a:ext cx="652635" cy="652636"/>
          </a:xfrm>
          <a:custGeom>
            <a:avLst/>
            <a:gdLst/>
            <a:ahLst/>
            <a:cxnLst/>
            <a:rect l="l" t="t" r="r" b="b"/>
            <a:pathLst>
              <a:path w="1305271" h="1305271" extrusionOk="0">
                <a:moveTo>
                  <a:pt x="0" y="0"/>
                </a:moveTo>
                <a:lnTo>
                  <a:pt x="1305271" y="0"/>
                </a:lnTo>
                <a:lnTo>
                  <a:pt x="1305271" y="1305271"/>
                </a:lnTo>
                <a:lnTo>
                  <a:pt x="0" y="13052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874" name="Google Shape;874;p63"/>
          <p:cNvSpPr txBox="1"/>
          <p:nvPr/>
        </p:nvSpPr>
        <p:spPr>
          <a:xfrm>
            <a:off x="318332" y="1135485"/>
            <a:ext cx="6291408" cy="58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6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lang="es" sz="4900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RECOMENDACIÓN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63"/>
          <p:cNvSpPr txBox="1"/>
          <p:nvPr/>
        </p:nvSpPr>
        <p:spPr>
          <a:xfrm>
            <a:off x="514350" y="1901981"/>
            <a:ext cx="42298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CURSO GRATIS DE YT: 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63"/>
          <p:cNvSpPr txBox="1"/>
          <p:nvPr/>
        </p:nvSpPr>
        <p:spPr>
          <a:xfrm>
            <a:off x="4336242" y="2448675"/>
            <a:ext cx="42298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s" sz="2200" b="1" i="0" u="sng" strike="noStrike" cap="none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8"/>
              </a:rPr>
              <a:t>C# FOR BEGGINERS</a:t>
            </a:r>
            <a:endParaRPr sz="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6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56" t="-3627" r="-74134" b="-2737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2" name="Google Shape;922;p66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3" name="Google Shape;923;p66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4" name="Google Shape;924;p66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5" name="Google Shape;925;p66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6" name="Google Shape;926;p66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7" name="Google Shape;927;p66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8" name="Google Shape;928;p66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29" name="Google Shape;929;p66"/>
          <p:cNvSpPr/>
          <p:nvPr/>
        </p:nvSpPr>
        <p:spPr>
          <a:xfrm rot="4741666">
            <a:off x="-1480973" y="1832278"/>
            <a:ext cx="2443761" cy="1365451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30" name="Google Shape;930;p66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31" name="Google Shape;931;p66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32" name="Google Shape;932;p66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33" name="Google Shape;933;p66"/>
          <p:cNvSpPr/>
          <p:nvPr/>
        </p:nvSpPr>
        <p:spPr>
          <a:xfrm rot="-5279728">
            <a:off x="8220571" y="3485016"/>
            <a:ext cx="1692529" cy="577575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34" name="Google Shape;934;p66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35" name="Google Shape;935;p66"/>
          <p:cNvSpPr txBox="1"/>
          <p:nvPr/>
        </p:nvSpPr>
        <p:spPr>
          <a:xfrm>
            <a:off x="1312837" y="1155738"/>
            <a:ext cx="6647700" cy="26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3600" b="0" i="0" u="none" strike="noStrike" cap="non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 "Todos deberían ser respetados como individuos, pero ninguno idealizado". </a:t>
            </a:r>
            <a:endParaRPr sz="3600" b="0" i="0" u="none" strike="noStrike" cap="none">
              <a:solidFill>
                <a:srgbClr val="131416"/>
              </a:solidFill>
              <a:latin typeface="Pacifico"/>
              <a:ea typeface="Pacifico"/>
              <a:cs typeface="Pacifico"/>
              <a:sym typeface="Pacifico"/>
            </a:endParaRPr>
          </a:p>
          <a:p>
            <a:pPr marL="0" marR="0" lvl="0" indent="0" algn="r" rtl="0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400" b="0" i="0" u="none" strike="noStrike" cap="none">
                <a:solidFill>
                  <a:srgbClr val="131416"/>
                </a:solidFill>
                <a:latin typeface="DM Sans"/>
                <a:ea typeface="DM Sans"/>
                <a:cs typeface="DM Sans"/>
                <a:sym typeface="DM Sans"/>
              </a:rPr>
              <a:t>Albert Einstein.</a:t>
            </a:r>
            <a:endParaRPr sz="24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7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56" t="-3627" r="-74134" b="-2737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1" name="Google Shape;941;p67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2" name="Google Shape;942;p67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3" name="Google Shape;943;p67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4" name="Google Shape;944;p67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5" name="Google Shape;945;p67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6" name="Google Shape;946;p67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7" name="Google Shape;947;p67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8" name="Google Shape;948;p67"/>
          <p:cNvSpPr/>
          <p:nvPr/>
        </p:nvSpPr>
        <p:spPr>
          <a:xfrm rot="4741666">
            <a:off x="-1480973" y="1832278"/>
            <a:ext cx="2443761" cy="1365451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49" name="Google Shape;949;p67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50" name="Google Shape;950;p67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51" name="Google Shape;951;p67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52" name="Google Shape;952;p67"/>
          <p:cNvSpPr/>
          <p:nvPr/>
        </p:nvSpPr>
        <p:spPr>
          <a:xfrm rot="-5279728">
            <a:off x="8220571" y="3485016"/>
            <a:ext cx="1692529" cy="577575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53" name="Google Shape;953;p67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54" name="Google Shape;954;p67"/>
          <p:cNvSpPr txBox="1"/>
          <p:nvPr/>
        </p:nvSpPr>
        <p:spPr>
          <a:xfrm>
            <a:off x="1320270" y="1084963"/>
            <a:ext cx="6751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" sz="35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</a:t>
            </a:r>
            <a:endParaRPr sz="7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5" name="Google Shape;955;p67"/>
          <p:cNvSpPr txBox="1"/>
          <p:nvPr/>
        </p:nvSpPr>
        <p:spPr>
          <a:xfrm>
            <a:off x="938724" y="1736825"/>
            <a:ext cx="6963300" cy="1311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131416"/>
              </a:buClr>
              <a:buSzPts val="1600"/>
              <a:buFont typeface="Arial"/>
              <a:buChar char="●"/>
            </a:pPr>
            <a:r>
              <a:rPr lang="es-419" sz="1600" dirty="0">
                <a:hlinkClick r:id="rId17"/>
              </a:rPr>
              <a:t>Guía de C#: lenguaje administrado de .NET | Microsoft </a:t>
            </a:r>
            <a:r>
              <a:rPr lang="es-419" sz="1600" dirty="0" err="1">
                <a:hlinkClick r:id="rId17"/>
              </a:rPr>
              <a:t>Learn</a:t>
            </a:r>
            <a:endParaRPr lang="es-419" sz="1600" dirty="0"/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131416"/>
              </a:buClr>
              <a:buSzPts val="1600"/>
              <a:buFont typeface="Arial"/>
              <a:buChar char="●"/>
            </a:pPr>
            <a:r>
              <a:rPr lang="es-419" sz="1600" dirty="0">
                <a:hlinkClick r:id="rId18"/>
              </a:rPr>
              <a:t>C# Tutorial – </a:t>
            </a:r>
            <a:r>
              <a:rPr lang="es-419" sz="1600" dirty="0" err="1">
                <a:hlinkClick r:id="rId18"/>
              </a:rPr>
              <a:t>GeeksforGeeks</a:t>
            </a:r>
            <a:endParaRPr lang="es-419" sz="1600" dirty="0"/>
          </a:p>
          <a:p>
            <a:pPr marL="457200" lvl="0" indent="-330200">
              <a:lnSpc>
                <a:spcPct val="115000"/>
              </a:lnSpc>
              <a:spcBef>
                <a:spcPts val="1200"/>
              </a:spcBef>
              <a:buClr>
                <a:srgbClr val="131416"/>
              </a:buClr>
              <a:buSzPts val="1600"/>
              <a:buFont typeface="Arial"/>
              <a:buChar char="●"/>
            </a:pPr>
            <a:r>
              <a:rPr lang="es" sz="1600" b="0" i="0" u="none" strike="noStrike" cap="none" dirty="0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600" dirty="0">
                <a:hlinkClick r:id="rId19"/>
              </a:rPr>
              <a:t>C# - Basic </a:t>
            </a:r>
            <a:r>
              <a:rPr lang="es-419" sz="1600">
                <a:hlinkClick r:id="rId19"/>
              </a:rPr>
              <a:t>Syntax</a:t>
            </a:r>
            <a:endParaRPr sz="1600" b="0" i="0" u="none" strike="noStrike" cap="none" dirty="0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8"/>
          <p:cNvSpPr/>
          <p:nvPr/>
        </p:nvSpPr>
        <p:spPr>
          <a:xfrm rot="-5400000">
            <a:off x="2000250" y="-2000250"/>
            <a:ext cx="5143500" cy="9144000"/>
          </a:xfrm>
          <a:custGeom>
            <a:avLst/>
            <a:gdLst/>
            <a:ahLst/>
            <a:cxnLst/>
            <a:rect l="l" t="t" r="r" b="b"/>
            <a:pathLst>
              <a:path w="10287000" h="18288000" extrusionOk="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1849" t="-3625" r="-74134" b="-2743"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1" name="Google Shape;961;p68"/>
          <p:cNvSpPr/>
          <p:nvPr/>
        </p:nvSpPr>
        <p:spPr>
          <a:xfrm>
            <a:off x="-1164699" y="4307447"/>
            <a:ext cx="2449974" cy="1672107"/>
          </a:xfrm>
          <a:custGeom>
            <a:avLst/>
            <a:gdLst/>
            <a:ahLst/>
            <a:cxnLst/>
            <a:rect l="l" t="t" r="r" b="b"/>
            <a:pathLst>
              <a:path w="4899948" h="3344214" extrusionOk="0">
                <a:moveTo>
                  <a:pt x="0" y="0"/>
                </a:moveTo>
                <a:lnTo>
                  <a:pt x="4899947" y="0"/>
                </a:lnTo>
                <a:lnTo>
                  <a:pt x="4899947" y="3344214"/>
                </a:lnTo>
                <a:lnTo>
                  <a:pt x="0" y="3344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2" name="Google Shape;962;p68"/>
          <p:cNvSpPr/>
          <p:nvPr/>
        </p:nvSpPr>
        <p:spPr>
          <a:xfrm>
            <a:off x="3015355" y="4629150"/>
            <a:ext cx="1529915" cy="375525"/>
          </a:xfrm>
          <a:custGeom>
            <a:avLst/>
            <a:gdLst/>
            <a:ahLst/>
            <a:cxnLst/>
            <a:rect l="l" t="t" r="r" b="b"/>
            <a:pathLst>
              <a:path w="3059829" h="751049" extrusionOk="0">
                <a:moveTo>
                  <a:pt x="0" y="0"/>
                </a:moveTo>
                <a:lnTo>
                  <a:pt x="3059829" y="0"/>
                </a:lnTo>
                <a:lnTo>
                  <a:pt x="3059829" y="751049"/>
                </a:lnTo>
                <a:lnTo>
                  <a:pt x="0" y="751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3" name="Google Shape;963;p68"/>
          <p:cNvSpPr/>
          <p:nvPr/>
        </p:nvSpPr>
        <p:spPr>
          <a:xfrm>
            <a:off x="7107602" y="4270068"/>
            <a:ext cx="2301157" cy="1809285"/>
          </a:xfrm>
          <a:custGeom>
            <a:avLst/>
            <a:gdLst/>
            <a:ahLst/>
            <a:cxnLst/>
            <a:rect l="l" t="t" r="r" b="b"/>
            <a:pathLst>
              <a:path w="4602314" h="3618569" extrusionOk="0">
                <a:moveTo>
                  <a:pt x="0" y="0"/>
                </a:moveTo>
                <a:lnTo>
                  <a:pt x="4602314" y="0"/>
                </a:lnTo>
                <a:lnTo>
                  <a:pt x="4602314" y="3618570"/>
                </a:lnTo>
                <a:lnTo>
                  <a:pt x="0" y="36185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4" name="Google Shape;964;p68"/>
          <p:cNvSpPr/>
          <p:nvPr/>
        </p:nvSpPr>
        <p:spPr>
          <a:xfrm>
            <a:off x="-337078" y="-536315"/>
            <a:ext cx="2449974" cy="1534296"/>
          </a:xfrm>
          <a:custGeom>
            <a:avLst/>
            <a:gdLst/>
            <a:ahLst/>
            <a:cxnLst/>
            <a:rect l="l" t="t" r="r" b="b"/>
            <a:pathLst>
              <a:path w="4899948" h="3068592" extrusionOk="0">
                <a:moveTo>
                  <a:pt x="0" y="0"/>
                </a:moveTo>
                <a:lnTo>
                  <a:pt x="4899948" y="0"/>
                </a:lnTo>
                <a:lnTo>
                  <a:pt x="4899948" y="3068592"/>
                </a:lnTo>
                <a:lnTo>
                  <a:pt x="0" y="3068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5" name="Google Shape;965;p68"/>
          <p:cNvSpPr/>
          <p:nvPr/>
        </p:nvSpPr>
        <p:spPr>
          <a:xfrm>
            <a:off x="6343107" y="-1289096"/>
            <a:ext cx="2146212" cy="1935493"/>
          </a:xfrm>
          <a:custGeom>
            <a:avLst/>
            <a:gdLst/>
            <a:ahLst/>
            <a:cxnLst/>
            <a:rect l="l" t="t" r="r" b="b"/>
            <a:pathLst>
              <a:path w="4292424" h="3870986" extrusionOk="0">
                <a:moveTo>
                  <a:pt x="0" y="0"/>
                </a:moveTo>
                <a:lnTo>
                  <a:pt x="4292424" y="0"/>
                </a:lnTo>
                <a:lnTo>
                  <a:pt x="4292424" y="3870986"/>
                </a:lnTo>
                <a:lnTo>
                  <a:pt x="0" y="3870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6" name="Google Shape;966;p68"/>
          <p:cNvSpPr/>
          <p:nvPr/>
        </p:nvSpPr>
        <p:spPr>
          <a:xfrm>
            <a:off x="5069468" y="4629150"/>
            <a:ext cx="2038135" cy="1431790"/>
          </a:xfrm>
          <a:custGeom>
            <a:avLst/>
            <a:gdLst/>
            <a:ahLst/>
            <a:cxnLst/>
            <a:rect l="l" t="t" r="r" b="b"/>
            <a:pathLst>
              <a:path w="4076270" h="2863579" extrusionOk="0">
                <a:moveTo>
                  <a:pt x="0" y="0"/>
                </a:moveTo>
                <a:lnTo>
                  <a:pt x="4076270" y="0"/>
                </a:lnTo>
                <a:lnTo>
                  <a:pt x="4076270" y="2863579"/>
                </a:lnTo>
                <a:lnTo>
                  <a:pt x="0" y="286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7" name="Google Shape;967;p68"/>
          <p:cNvSpPr/>
          <p:nvPr/>
        </p:nvSpPr>
        <p:spPr>
          <a:xfrm>
            <a:off x="3704661" y="-1350050"/>
            <a:ext cx="2746529" cy="2057400"/>
          </a:xfrm>
          <a:custGeom>
            <a:avLst/>
            <a:gdLst/>
            <a:ahLst/>
            <a:cxnLst/>
            <a:rect l="l" t="t" r="r" b="b"/>
            <a:pathLst>
              <a:path w="5493058" h="4114800" extrusionOk="0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8" name="Google Shape;968;p68"/>
          <p:cNvSpPr/>
          <p:nvPr/>
        </p:nvSpPr>
        <p:spPr>
          <a:xfrm rot="4747568">
            <a:off x="-1486171" y="1832659"/>
            <a:ext cx="2448048" cy="1367847"/>
          </a:xfrm>
          <a:custGeom>
            <a:avLst/>
            <a:gdLst/>
            <a:ahLst/>
            <a:cxnLst/>
            <a:rect l="l" t="t" r="r" b="b"/>
            <a:pathLst>
              <a:path w="4896097" h="2735694" extrusionOk="0">
                <a:moveTo>
                  <a:pt x="0" y="0"/>
                </a:moveTo>
                <a:lnTo>
                  <a:pt x="4896097" y="0"/>
                </a:lnTo>
                <a:lnTo>
                  <a:pt x="4896097" y="2735694"/>
                </a:lnTo>
                <a:lnTo>
                  <a:pt x="0" y="2735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69" name="Google Shape;969;p68"/>
          <p:cNvSpPr/>
          <p:nvPr/>
        </p:nvSpPr>
        <p:spPr>
          <a:xfrm>
            <a:off x="2415741" y="-813253"/>
            <a:ext cx="1446381" cy="1459651"/>
          </a:xfrm>
          <a:custGeom>
            <a:avLst/>
            <a:gdLst/>
            <a:ahLst/>
            <a:cxnLst/>
            <a:rect l="l" t="t" r="r" b="b"/>
            <a:pathLst>
              <a:path w="2892762" h="2919301" extrusionOk="0">
                <a:moveTo>
                  <a:pt x="0" y="0"/>
                </a:moveTo>
                <a:lnTo>
                  <a:pt x="2892761" y="0"/>
                </a:lnTo>
                <a:lnTo>
                  <a:pt x="2892761" y="2919300"/>
                </a:lnTo>
                <a:lnTo>
                  <a:pt x="0" y="29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70" name="Google Shape;970;p68"/>
          <p:cNvSpPr/>
          <p:nvPr/>
        </p:nvSpPr>
        <p:spPr>
          <a:xfrm>
            <a:off x="8629650" y="1131171"/>
            <a:ext cx="1787771" cy="1787771"/>
          </a:xfrm>
          <a:custGeom>
            <a:avLst/>
            <a:gdLst/>
            <a:ahLst/>
            <a:cxnLst/>
            <a:rect l="l" t="t" r="r" b="b"/>
            <a:pathLst>
              <a:path w="3575541" h="3575541" extrusionOk="0">
                <a:moveTo>
                  <a:pt x="0" y="0"/>
                </a:moveTo>
                <a:lnTo>
                  <a:pt x="3575541" y="0"/>
                </a:lnTo>
                <a:lnTo>
                  <a:pt x="3575541" y="3575541"/>
                </a:lnTo>
                <a:lnTo>
                  <a:pt x="0" y="35755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71" name="Google Shape;971;p68"/>
          <p:cNvSpPr/>
          <p:nvPr/>
        </p:nvSpPr>
        <p:spPr>
          <a:xfrm>
            <a:off x="1285275" y="4546869"/>
            <a:ext cx="1293510" cy="1193263"/>
          </a:xfrm>
          <a:custGeom>
            <a:avLst/>
            <a:gdLst/>
            <a:ahLst/>
            <a:cxnLst/>
            <a:rect l="l" t="t" r="r" b="b"/>
            <a:pathLst>
              <a:path w="2587020" h="2386526" extrusionOk="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72" name="Google Shape;972;p68"/>
          <p:cNvSpPr/>
          <p:nvPr/>
        </p:nvSpPr>
        <p:spPr>
          <a:xfrm rot="-5282649">
            <a:off x="8220185" y="3485435"/>
            <a:ext cx="1691494" cy="577222"/>
          </a:xfrm>
          <a:custGeom>
            <a:avLst/>
            <a:gdLst/>
            <a:ahLst/>
            <a:cxnLst/>
            <a:rect l="l" t="t" r="r" b="b"/>
            <a:pathLst>
              <a:path w="3382987" h="1154444" extrusionOk="0">
                <a:moveTo>
                  <a:pt x="0" y="0"/>
                </a:moveTo>
                <a:lnTo>
                  <a:pt x="3382987" y="0"/>
                </a:lnTo>
                <a:lnTo>
                  <a:pt x="3382987" y="1154445"/>
                </a:lnTo>
                <a:lnTo>
                  <a:pt x="0" y="11544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73" name="Google Shape;973;p68"/>
          <p:cNvSpPr/>
          <p:nvPr/>
        </p:nvSpPr>
        <p:spPr>
          <a:xfrm>
            <a:off x="8489319" y="-321322"/>
            <a:ext cx="1552261" cy="1671344"/>
          </a:xfrm>
          <a:custGeom>
            <a:avLst/>
            <a:gdLst/>
            <a:ahLst/>
            <a:cxnLst/>
            <a:rect l="l" t="t" r="r" b="b"/>
            <a:pathLst>
              <a:path w="3104522" h="3342688" extrusionOk="0">
                <a:moveTo>
                  <a:pt x="0" y="0"/>
                </a:moveTo>
                <a:lnTo>
                  <a:pt x="3104522" y="0"/>
                </a:lnTo>
                <a:lnTo>
                  <a:pt x="3104522" y="3342688"/>
                </a:lnTo>
                <a:lnTo>
                  <a:pt x="0" y="3342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74" name="Google Shape;974;p68"/>
          <p:cNvSpPr txBox="1"/>
          <p:nvPr/>
        </p:nvSpPr>
        <p:spPr>
          <a:xfrm>
            <a:off x="2218898" y="1694552"/>
            <a:ext cx="43296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" sz="3000" b="0" i="0" u="none" strike="noStrike" cap="non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sz="700" b="0" i="0" u="none" strike="noStrike" cap="non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just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75" name="Google Shape;975;p68"/>
          <p:cNvSpPr txBox="1"/>
          <p:nvPr/>
        </p:nvSpPr>
        <p:spPr>
          <a:xfrm>
            <a:off x="2707357" y="2979052"/>
            <a:ext cx="33525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8"/>
          <p:cNvSpPr/>
          <p:nvPr/>
        </p:nvSpPr>
        <p:spPr>
          <a:xfrm>
            <a:off x="6981876" y="514350"/>
            <a:ext cx="1378634" cy="1885485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419"/>
          </a:p>
        </p:txBody>
      </p:sp>
      <p:sp>
        <p:nvSpPr>
          <p:cNvPr id="977" name="Google Shape;977;p68"/>
          <p:cNvSpPr txBox="1"/>
          <p:nvPr/>
        </p:nvSpPr>
        <p:spPr>
          <a:xfrm>
            <a:off x="1205549" y="3949868"/>
            <a:ext cx="6732900" cy="3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1557</Words>
  <Application>Microsoft Office PowerPoint</Application>
  <PresentationFormat>Presentación en pantalla (16:9)</PresentationFormat>
  <Paragraphs>140</Paragraphs>
  <Slides>43</Slides>
  <Notes>43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43</vt:i4>
      </vt:variant>
    </vt:vector>
  </HeadingPairs>
  <TitlesOfParts>
    <vt:vector size="54" baseType="lpstr">
      <vt:lpstr>Arial</vt:lpstr>
      <vt:lpstr>Pacifico</vt:lpstr>
      <vt:lpstr>DM Sans</vt:lpstr>
      <vt:lpstr>Lobster</vt:lpstr>
      <vt:lpstr>Open Sans</vt:lpstr>
      <vt:lpstr>Sansita</vt:lpstr>
      <vt:lpstr>Calibri</vt:lpstr>
      <vt:lpstr>DM Sans Light</vt:lpstr>
      <vt:lpstr>Impact</vt:lpstr>
      <vt:lpstr>Simple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Dgo</dc:creator>
  <cp:lastModifiedBy>Diego andres huite alvarez</cp:lastModifiedBy>
  <cp:revision>24</cp:revision>
  <dcterms:modified xsi:type="dcterms:W3CDTF">2026-01-27T07:15:29Z</dcterms:modified>
</cp:coreProperties>
</file>