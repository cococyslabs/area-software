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Raleway Light"/>
      <p:regular r:id="rId26"/>
      <p:bold r:id="rId27"/>
      <p:italic r:id="rId28"/>
      <p:boldItalic r:id="rId29"/>
    </p:embeddedFont>
    <p:embeddedFont>
      <p:font typeface="Poppins Light"/>
      <p:regular r:id="rId30"/>
      <p:bold r:id="rId31"/>
      <p:italic r:id="rId32"/>
      <p:boldItalic r:id="rId33"/>
    </p:embeddedFont>
    <p:embeddedFont>
      <p:font typeface="Open Sans"/>
      <p:bold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hJPTOJc3WOsp3kwbb/2GWaV2DR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Light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RalewayLight-italic.fntdata"/><Relationship Id="rId27" Type="http://schemas.openxmlformats.org/officeDocument/2006/relationships/font" Target="fonts/Raleway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Ligh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Light-bold.fntdata"/><Relationship Id="rId30" Type="http://schemas.openxmlformats.org/officeDocument/2006/relationships/font" Target="fonts/PoppinsLight-regular.fntdata"/><Relationship Id="rId11" Type="http://schemas.openxmlformats.org/officeDocument/2006/relationships/slide" Target="slides/slide6.xml"/><Relationship Id="rId33" Type="http://schemas.openxmlformats.org/officeDocument/2006/relationships/font" Target="fonts/PoppinsLight-boldItalic.fntdata"/><Relationship Id="rId10" Type="http://schemas.openxmlformats.org/officeDocument/2006/relationships/slide" Target="slides/slide5.xml"/><Relationship Id="rId32" Type="http://schemas.openxmlformats.org/officeDocument/2006/relationships/font" Target="fonts/PoppinsLight-italic.fntdata"/><Relationship Id="rId13" Type="http://schemas.openxmlformats.org/officeDocument/2006/relationships/slide" Target="slides/slide8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7.xml"/><Relationship Id="rId34" Type="http://schemas.openxmlformats.org/officeDocument/2006/relationships/font" Target="fonts/OpenSans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c6bee13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5c6bee13a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9" name="Google Shape;169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0" name="Google Shape;170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172" name="Google Shape;172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3" name="Google Shape;173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0" name="Google Shape;220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21" name="Google Shape;221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223" name="Google Shape;223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4" name="Google Shape;224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2" name="Google Shape;262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63" name="Google Shape;263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265" name="Google Shape;265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6" name="Google Shape;266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7" name="Google Shape;327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28" name="Google Shape;328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330" name="Google Shape;330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1" name="Google Shape;331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2" name="Google Shape;362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63" name="Google Shape;363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365" name="Google Shape;365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6" name="Google Shape;366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13" name="Google Shape;413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14" name="Google Shape;414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416" name="Google Shape;416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17" name="Google Shape;417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49" name="Google Shape;449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50" name="Google Shape;450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452" name="Google Shape;452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53" name="Google Shape;453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03" name="Google Shape;503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04" name="Google Shape;504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506" name="Google Shape;506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07" name="Google Shape;507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5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hyperlink" Target="https://youtu.be/50zdwVIrU90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3.png"/><Relationship Id="rId5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3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c6bee13a2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77" l="0" r="0" t="-38887"/>
            </a:stretch>
          </a:blipFill>
          <a:ln>
            <a:noFill/>
          </a:ln>
        </p:spPr>
      </p:sp>
      <p:sp>
        <p:nvSpPr>
          <p:cNvPr id="89" name="Google Shape;89;g35c6bee13a2_0_0"/>
          <p:cNvSpPr/>
          <p:nvPr/>
        </p:nvSpPr>
        <p:spPr>
          <a:xfrm>
            <a:off x="19050" y="0"/>
            <a:ext cx="18288000" cy="10260918"/>
          </a:xfrm>
          <a:custGeom>
            <a:rect b="b" l="l" r="r" t="t"/>
            <a:pathLst>
              <a:path extrusionOk="0" h="10260918" w="18288000">
                <a:moveTo>
                  <a:pt x="0" y="0"/>
                </a:moveTo>
                <a:lnTo>
                  <a:pt x="18288000" y="0"/>
                </a:lnTo>
                <a:lnTo>
                  <a:pt x="18288000" y="10260918"/>
                </a:lnTo>
                <a:lnTo>
                  <a:pt x="0" y="102609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g35c6bee13a2_0_0"/>
          <p:cNvSpPr txBox="1"/>
          <p:nvPr/>
        </p:nvSpPr>
        <p:spPr>
          <a:xfrm>
            <a:off x="0" y="5320707"/>
            <a:ext cx="182880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Laboratorio Estructuras de Datos </a:t>
            </a:r>
            <a:endParaRPr/>
          </a:p>
        </p:txBody>
      </p:sp>
      <p:sp>
        <p:nvSpPr>
          <p:cNvPr id="91" name="Google Shape;91;g35c6bee13a2_0_0"/>
          <p:cNvSpPr txBox="1"/>
          <p:nvPr/>
        </p:nvSpPr>
        <p:spPr>
          <a:xfrm>
            <a:off x="3221750" y="6388899"/>
            <a:ext cx="811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99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i="0" lang="en-US" sz="39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Aux.</a:t>
            </a:r>
            <a:endParaRPr/>
          </a:p>
        </p:txBody>
      </p:sp>
      <p:sp>
        <p:nvSpPr>
          <p:cNvPr id="92" name="Google Shape;92;g35c6bee13a2_0_0"/>
          <p:cNvSpPr txBox="1"/>
          <p:nvPr/>
        </p:nvSpPr>
        <p:spPr>
          <a:xfrm>
            <a:off x="14269539" y="2363391"/>
            <a:ext cx="369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00/00/0000</a:t>
            </a:r>
            <a:endParaRPr/>
          </a:p>
        </p:txBody>
      </p:sp>
      <p:sp>
        <p:nvSpPr>
          <p:cNvPr id="93" name="Google Shape;93;g35c6bee13a2_0_0"/>
          <p:cNvSpPr txBox="1"/>
          <p:nvPr/>
        </p:nvSpPr>
        <p:spPr>
          <a:xfrm>
            <a:off x="14269539" y="3097188"/>
            <a:ext cx="369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17:20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61719"/>
            </a:gs>
            <a:gs pos="100000">
              <a:srgbClr val="000000"/>
            </a:gs>
          </a:gsLst>
          <a:lin ang="0" scaled="0"/>
        </a:gra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"/>
          <p:cNvSpPr txBox="1"/>
          <p:nvPr/>
        </p:nvSpPr>
        <p:spPr>
          <a:xfrm>
            <a:off x="1028700" y="7929243"/>
            <a:ext cx="7718392" cy="863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ESTRUCTURAS DE DATOS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0" y="3851522"/>
            <a:ext cx="18288000" cy="278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CODIFICACIÓN, ENCRIPTACIÓN Y ÁRBOL DE MERKLE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1028700" y="9210675"/>
            <a:ext cx="3525292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  <p:sp>
        <p:nvSpPr>
          <p:cNvPr id="104" name="Google Shape;104;p1"/>
          <p:cNvSpPr/>
          <p:nvPr/>
        </p:nvSpPr>
        <p:spPr>
          <a:xfrm>
            <a:off x="7372862" y="2318984"/>
            <a:ext cx="3799594" cy="678844"/>
          </a:xfrm>
          <a:custGeom>
            <a:rect b="b" l="l" r="r" t="t"/>
            <a:pathLst>
              <a:path extrusionOk="0" h="678844" w="3799594">
                <a:moveTo>
                  <a:pt x="0" y="0"/>
                </a:moveTo>
                <a:lnTo>
                  <a:pt x="3799594" y="0"/>
                </a:lnTo>
                <a:lnTo>
                  <a:pt x="3799594" y="678844"/>
                </a:lnTo>
                <a:lnTo>
                  <a:pt x="0" y="678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1"/>
          <p:cNvSpPr/>
          <p:nvPr/>
        </p:nvSpPr>
        <p:spPr>
          <a:xfrm>
            <a:off x="0" y="0"/>
            <a:ext cx="3513477" cy="1884501"/>
          </a:xfrm>
          <a:custGeom>
            <a:rect b="b" l="l" r="r" t="t"/>
            <a:pathLst>
              <a:path extrusionOk="0" h="1884501" w="3513477">
                <a:moveTo>
                  <a:pt x="0" y="0"/>
                </a:moveTo>
                <a:lnTo>
                  <a:pt x="3513477" y="0"/>
                </a:lnTo>
                <a:lnTo>
                  <a:pt x="3513477" y="1884501"/>
                </a:lnTo>
                <a:lnTo>
                  <a:pt x="0" y="18845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1"/>
          <p:cNvSpPr/>
          <p:nvPr/>
        </p:nvSpPr>
        <p:spPr>
          <a:xfrm>
            <a:off x="14774523" y="8413447"/>
            <a:ext cx="3513477" cy="1884501"/>
          </a:xfrm>
          <a:custGeom>
            <a:rect b="b" l="l" r="r" t="t"/>
            <a:pathLst>
              <a:path extrusionOk="0" h="1884501" w="3513477">
                <a:moveTo>
                  <a:pt x="0" y="0"/>
                </a:moveTo>
                <a:lnTo>
                  <a:pt x="3513477" y="0"/>
                </a:lnTo>
                <a:lnTo>
                  <a:pt x="3513477" y="1884501"/>
                </a:lnTo>
                <a:lnTo>
                  <a:pt x="0" y="18845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61719"/>
            </a:gs>
            <a:gs pos="100000">
              <a:srgbClr val="000000"/>
            </a:gs>
          </a:gsLst>
          <a:lin ang="0" scaled="0"/>
        </a:gra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2"/>
          <p:cNvGrpSpPr/>
          <p:nvPr/>
        </p:nvGrpSpPr>
        <p:grpSpPr>
          <a:xfrm>
            <a:off x="176619" y="4520484"/>
            <a:ext cx="4613551" cy="845385"/>
            <a:chOff x="0" y="-76200"/>
            <a:chExt cx="1964221" cy="359923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3" name="Google Shape;113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FORO 11</a:t>
              </a:r>
              <a:endParaRPr/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5" name="Google Shape;115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7" name="Google Shape;117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118" name="Google Shape;118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9" name="Google Shape;119;p2"/>
          <p:cNvGrpSpPr/>
          <p:nvPr/>
        </p:nvGrpSpPr>
        <p:grpSpPr>
          <a:xfrm>
            <a:off x="651754" y="-320555"/>
            <a:ext cx="7251050" cy="3052155"/>
            <a:chOff x="0" y="-95250"/>
            <a:chExt cx="9668066" cy="4069539"/>
          </a:xfrm>
        </p:grpSpPr>
        <p:sp>
          <p:nvSpPr>
            <p:cNvPr id="120" name="Google Shape;120;p2"/>
            <p:cNvSpPr txBox="1"/>
            <p:nvPr/>
          </p:nvSpPr>
          <p:spPr>
            <a:xfrm>
              <a:off x="0" y="1005752"/>
              <a:ext cx="9668066" cy="2968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Agenda</a:t>
              </a:r>
              <a:endParaRPr/>
            </a:p>
          </p:txBody>
        </p:sp>
        <p:sp>
          <p:nvSpPr>
            <p:cNvPr id="121" name="Google Shape;121;p2"/>
            <p:cNvSpPr txBox="1"/>
            <p:nvPr/>
          </p:nvSpPr>
          <p:spPr>
            <a:xfrm>
              <a:off x="0" y="-95250"/>
              <a:ext cx="9668066" cy="9273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2"/>
          <p:cNvGrpSpPr/>
          <p:nvPr/>
        </p:nvGrpSpPr>
        <p:grpSpPr>
          <a:xfrm>
            <a:off x="9871138" y="-202574"/>
            <a:ext cx="8416862" cy="2901791"/>
            <a:chOff x="0" y="-76200"/>
            <a:chExt cx="11222483" cy="3869055"/>
          </a:xfrm>
        </p:grpSpPr>
        <p:sp>
          <p:nvSpPr>
            <p:cNvPr id="123" name="Google Shape;123;p2"/>
            <p:cNvSpPr txBox="1"/>
            <p:nvPr/>
          </p:nvSpPr>
          <p:spPr>
            <a:xfrm>
              <a:off x="0" y="824318"/>
              <a:ext cx="11222483" cy="2968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Recursos</a:t>
              </a:r>
              <a:endParaRPr/>
            </a:p>
          </p:txBody>
        </p:sp>
        <p:sp>
          <p:nvSpPr>
            <p:cNvPr id="124" name="Google Shape;124;p2"/>
            <p:cNvSpPr txBox="1"/>
            <p:nvPr/>
          </p:nvSpPr>
          <p:spPr>
            <a:xfrm>
              <a:off x="0" y="-76200"/>
              <a:ext cx="11222483" cy="747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5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7" name="Google Shape;127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" name="Google Shape;128;p2"/>
          <p:cNvGrpSpPr/>
          <p:nvPr/>
        </p:nvGrpSpPr>
        <p:grpSpPr>
          <a:xfrm>
            <a:off x="176619" y="5444302"/>
            <a:ext cx="4613551" cy="845385"/>
            <a:chOff x="0" y="-76200"/>
            <a:chExt cx="1964221" cy="359923"/>
          </a:xfrm>
        </p:grpSpPr>
        <p:sp>
          <p:nvSpPr>
            <p:cNvPr id="129" name="Google Shape;12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0" name="Google Shape;130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Dudas</a:t>
              </a:r>
              <a:endParaRPr/>
            </a:p>
          </p:txBody>
        </p:sp>
      </p:grpSp>
      <p:grpSp>
        <p:nvGrpSpPr>
          <p:cNvPr id="131" name="Google Shape;131;p2"/>
          <p:cNvGrpSpPr/>
          <p:nvPr/>
        </p:nvGrpSpPr>
        <p:grpSpPr>
          <a:xfrm>
            <a:off x="176619" y="6425875"/>
            <a:ext cx="4782588" cy="845385"/>
            <a:chOff x="0" y="-76200"/>
            <a:chExt cx="2036189" cy="359923"/>
          </a:xfrm>
        </p:grpSpPr>
        <p:sp>
          <p:nvSpPr>
            <p:cNvPr id="132" name="Google Shape;132;p2"/>
            <p:cNvSpPr/>
            <p:nvPr/>
          </p:nvSpPr>
          <p:spPr>
            <a:xfrm>
              <a:off x="0" y="0"/>
              <a:ext cx="2036189" cy="283723"/>
            </a:xfrm>
            <a:custGeom>
              <a:rect b="b" l="l" r="r" t="t"/>
              <a:pathLst>
                <a:path extrusionOk="0" h="283723" w="2036189">
                  <a:moveTo>
                    <a:pt x="1832989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832989" y="283723"/>
                  </a:lnTo>
                  <a:lnTo>
                    <a:pt x="2036189" y="141862"/>
                  </a:lnTo>
                  <a:lnTo>
                    <a:pt x="18329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3" name="Google Shape;133;p2"/>
            <p:cNvSpPr txBox="1"/>
            <p:nvPr/>
          </p:nvSpPr>
          <p:spPr>
            <a:xfrm>
              <a:off x="0" y="-76200"/>
              <a:ext cx="1921889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Codificación</a:t>
              </a:r>
              <a:endParaRPr/>
            </a:p>
          </p:txBody>
        </p:sp>
      </p:grpSp>
      <p:grpSp>
        <p:nvGrpSpPr>
          <p:cNvPr id="134" name="Google Shape;134;p2"/>
          <p:cNvGrpSpPr/>
          <p:nvPr/>
        </p:nvGrpSpPr>
        <p:grpSpPr>
          <a:xfrm>
            <a:off x="176619" y="7349457"/>
            <a:ext cx="4613551" cy="839504"/>
            <a:chOff x="0" y="-76200"/>
            <a:chExt cx="1964221" cy="357419"/>
          </a:xfrm>
        </p:grpSpPr>
        <p:sp>
          <p:nvSpPr>
            <p:cNvPr id="135" name="Google Shape;135;p2"/>
            <p:cNvSpPr/>
            <p:nvPr/>
          </p:nvSpPr>
          <p:spPr>
            <a:xfrm>
              <a:off x="0" y="0"/>
              <a:ext cx="1964221" cy="281219"/>
            </a:xfrm>
            <a:custGeom>
              <a:rect b="b" l="l" r="r" t="t"/>
              <a:pathLst>
                <a:path extrusionOk="0" h="281219" w="1964221">
                  <a:moveTo>
                    <a:pt x="1761021" y="0"/>
                  </a:moveTo>
                  <a:lnTo>
                    <a:pt x="0" y="0"/>
                  </a:lnTo>
                  <a:lnTo>
                    <a:pt x="0" y="281219"/>
                  </a:lnTo>
                  <a:lnTo>
                    <a:pt x="1761021" y="281219"/>
                  </a:lnTo>
                  <a:lnTo>
                    <a:pt x="1964221" y="140610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6" name="Google Shape;136;p2"/>
            <p:cNvSpPr txBox="1"/>
            <p:nvPr/>
          </p:nvSpPr>
          <p:spPr>
            <a:xfrm>
              <a:off x="0" y="-76200"/>
              <a:ext cx="1849921" cy="3574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Encriptación</a:t>
              </a:r>
              <a:endParaRPr/>
            </a:p>
          </p:txBody>
        </p:sp>
      </p:grpSp>
      <p:grpSp>
        <p:nvGrpSpPr>
          <p:cNvPr id="137" name="Google Shape;137;p2"/>
          <p:cNvGrpSpPr/>
          <p:nvPr/>
        </p:nvGrpSpPr>
        <p:grpSpPr>
          <a:xfrm>
            <a:off x="176619" y="8267158"/>
            <a:ext cx="4613551" cy="845385"/>
            <a:chOff x="0" y="-76200"/>
            <a:chExt cx="1964221" cy="359923"/>
          </a:xfrm>
        </p:grpSpPr>
        <p:sp>
          <p:nvSpPr>
            <p:cNvPr id="138" name="Google Shape;138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9" name="Google Shape;139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    Árbol de Merkle</a:t>
              </a:r>
              <a:endParaRPr/>
            </a:p>
          </p:txBody>
        </p:sp>
      </p:grpSp>
      <p:sp>
        <p:nvSpPr>
          <p:cNvPr id="140" name="Google Shape;140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2"/>
          <p:cNvSpPr/>
          <p:nvPr/>
        </p:nvSpPr>
        <p:spPr>
          <a:xfrm>
            <a:off x="878654" y="850429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4" name="Google Shape;144;p2"/>
          <p:cNvGrpSpPr/>
          <p:nvPr/>
        </p:nvGrpSpPr>
        <p:grpSpPr>
          <a:xfrm>
            <a:off x="176619" y="9250772"/>
            <a:ext cx="4613551" cy="839504"/>
            <a:chOff x="0" y="-76200"/>
            <a:chExt cx="1964221" cy="357419"/>
          </a:xfrm>
        </p:grpSpPr>
        <p:sp>
          <p:nvSpPr>
            <p:cNvPr id="145" name="Google Shape;145;p2"/>
            <p:cNvSpPr/>
            <p:nvPr/>
          </p:nvSpPr>
          <p:spPr>
            <a:xfrm>
              <a:off x="0" y="0"/>
              <a:ext cx="1964221" cy="281219"/>
            </a:xfrm>
            <a:custGeom>
              <a:rect b="b" l="l" r="r" t="t"/>
              <a:pathLst>
                <a:path extrusionOk="0" h="281219" w="1964221">
                  <a:moveTo>
                    <a:pt x="1761021" y="0"/>
                  </a:moveTo>
                  <a:lnTo>
                    <a:pt x="0" y="0"/>
                  </a:lnTo>
                  <a:lnTo>
                    <a:pt x="0" y="281219"/>
                  </a:lnTo>
                  <a:lnTo>
                    <a:pt x="1761021" y="281219"/>
                  </a:lnTo>
                  <a:lnTo>
                    <a:pt x="1964221" y="140610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6" name="Google Shape;146;p2"/>
            <p:cNvSpPr txBox="1"/>
            <p:nvPr/>
          </p:nvSpPr>
          <p:spPr>
            <a:xfrm>
              <a:off x="0" y="-76200"/>
              <a:ext cx="1849921" cy="3574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Ejemplo</a:t>
              </a:r>
              <a:endParaRPr/>
            </a:p>
          </p:txBody>
        </p:sp>
      </p:grpSp>
      <p:sp>
        <p:nvSpPr>
          <p:cNvPr id="147" name="Google Shape;147;p2"/>
          <p:cNvSpPr/>
          <p:nvPr/>
        </p:nvSpPr>
        <p:spPr>
          <a:xfrm>
            <a:off x="802021" y="948901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2"/>
          <p:cNvSpPr/>
          <p:nvPr/>
        </p:nvSpPr>
        <p:spPr>
          <a:xfrm>
            <a:off x="11839867" y="3600162"/>
            <a:ext cx="524396" cy="384132"/>
          </a:xfrm>
          <a:custGeom>
            <a:rect b="b" l="l" r="r" t="t"/>
            <a:pathLst>
              <a:path extrusionOk="0" h="384132" w="524396">
                <a:moveTo>
                  <a:pt x="0" y="0"/>
                </a:moveTo>
                <a:lnTo>
                  <a:pt x="524395" y="0"/>
                </a:lnTo>
                <a:lnTo>
                  <a:pt x="524395" y="384132"/>
                </a:lnTo>
                <a:lnTo>
                  <a:pt x="0" y="3841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8328" l="0" r="0" t="-18178"/>
            </a:stretch>
          </a:blipFill>
          <a:ln>
            <a:noFill/>
          </a:ln>
        </p:spPr>
      </p:sp>
      <p:sp>
        <p:nvSpPr>
          <p:cNvPr id="149" name="Google Shape;149;p2"/>
          <p:cNvSpPr txBox="1"/>
          <p:nvPr/>
        </p:nvSpPr>
        <p:spPr>
          <a:xfrm>
            <a:off x="12565550" y="3666100"/>
            <a:ext cx="47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u="sng">
                <a:solidFill>
                  <a:schemeClr val="hlink"/>
                </a:solidFill>
                <a:hlinkClick r:id="rId6"/>
              </a:rPr>
              <a:t>Codificación y Decodificación </a:t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61719"/>
            </a:gs>
            <a:gs pos="100000">
              <a:srgbClr val="000000"/>
            </a:gs>
          </a:gsLst>
          <a:lin ang="0" scaled="0"/>
        </a:gra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"/>
          <p:cNvSpPr/>
          <p:nvPr/>
        </p:nvSpPr>
        <p:spPr>
          <a:xfrm>
            <a:off x="16419691" y="1084613"/>
            <a:ext cx="839609" cy="450336"/>
          </a:xfrm>
          <a:custGeom>
            <a:rect b="b" l="l" r="r" t="t"/>
            <a:pathLst>
              <a:path extrusionOk="0"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3"/>
          <p:cNvSpPr/>
          <p:nvPr/>
        </p:nvSpPr>
        <p:spPr>
          <a:xfrm>
            <a:off x="15580083" y="1084613"/>
            <a:ext cx="839609" cy="450336"/>
          </a:xfrm>
          <a:custGeom>
            <a:rect b="b" l="l" r="r" t="t"/>
            <a:pathLst>
              <a:path extrusionOk="0"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3"/>
          <p:cNvSpPr/>
          <p:nvPr/>
        </p:nvSpPr>
        <p:spPr>
          <a:xfrm>
            <a:off x="1776071" y="9014517"/>
            <a:ext cx="2728988" cy="487567"/>
          </a:xfrm>
          <a:custGeom>
            <a:rect b="b" l="l" r="r" t="t"/>
            <a:pathLst>
              <a:path extrusionOk="0"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3"/>
          <p:cNvSpPr txBox="1"/>
          <p:nvPr/>
        </p:nvSpPr>
        <p:spPr>
          <a:xfrm>
            <a:off x="1631182" y="2769968"/>
            <a:ext cx="8056247" cy="954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6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CREATIVIDAD</a:t>
            </a:r>
            <a:endParaRPr/>
          </a:p>
        </p:txBody>
      </p:sp>
      <p:sp>
        <p:nvSpPr>
          <p:cNvPr id="158" name="Google Shape;158;p3"/>
          <p:cNvSpPr txBox="1"/>
          <p:nvPr/>
        </p:nvSpPr>
        <p:spPr>
          <a:xfrm>
            <a:off x="5080662" y="4548651"/>
            <a:ext cx="12691603" cy="213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58" u="none" cap="none" strike="noStrike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"Si puedes soñarlo, puedes hacerlo." </a:t>
            </a:r>
            <a:endParaRPr/>
          </a:p>
          <a:p>
            <a:pPr indent="0" lvl="0" marL="0" marR="0" rtl="0" algn="l">
              <a:lnSpc>
                <a:spcPct val="10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58" u="none" cap="none" strike="noStrike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58" u="none" cap="none" strike="noStrike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651754" y="-344397"/>
            <a:ext cx="6140237" cy="719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318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61719"/>
            </a:gs>
            <a:gs pos="100000">
              <a:srgbClr val="000000"/>
            </a:gs>
          </a:gsLst>
          <a:lin ang="0" scaled="0"/>
        </a:gra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 txBox="1"/>
          <p:nvPr/>
        </p:nvSpPr>
        <p:spPr>
          <a:xfrm>
            <a:off x="1510886" y="4227399"/>
            <a:ext cx="14327710" cy="2454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7825" lvl="1" marL="75565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Desarrolla soluciones que integran blockchain y criptografía implementando algoritmos de consenso y cifrado para asegurar la integridad y seguridad de los datos 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1254148" y="1686964"/>
            <a:ext cx="13991174" cy="2607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COMPETENCIA(S) QUE DESARROLLAREMOS</a:t>
            </a:r>
            <a:endParaRPr/>
          </a:p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8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651754" y="-344430"/>
            <a:ext cx="6140237" cy="719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318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9191A"/>
          </a:solidFill>
          <a:ln>
            <a:noFill/>
          </a:ln>
        </p:spPr>
      </p:sp>
      <p:sp>
        <p:nvSpPr>
          <p:cNvPr id="176" name="Google Shape;176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161719"/>
              </a:gs>
              <a:gs pos="100000">
                <a:srgbClr val="000000"/>
              </a:gs>
            </a:gsLst>
            <a:lin ang="0" scaled="0"/>
          </a:gradFill>
          <a:ln>
            <a:noFill/>
          </a:ln>
        </p:spPr>
      </p:sp>
      <p:sp>
        <p:nvSpPr>
          <p:cNvPr descr="preencoded.png" id="177" name="Google Shape;177;p5">
            <a:hlinkClick r:id="rId3"/>
          </p:cNvPr>
          <p:cNvSpPr/>
          <p:nvPr/>
        </p:nvSpPr>
        <p:spPr>
          <a:xfrm>
            <a:off x="16049019" y="9686925"/>
            <a:ext cx="2153256" cy="514350"/>
          </a:xfrm>
          <a:custGeom>
            <a:rect b="b" l="l" r="r" t="t"/>
            <a:pathLst>
              <a:path extrusionOk="0" h="514350" w="2153256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178" name="Google Shape;178;p5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9" name="Google Shape;179;p5"/>
          <p:cNvGrpSpPr/>
          <p:nvPr/>
        </p:nvGrpSpPr>
        <p:grpSpPr>
          <a:xfrm>
            <a:off x="992238" y="526256"/>
            <a:ext cx="9445526" cy="2545855"/>
            <a:chOff x="0" y="-161925"/>
            <a:chExt cx="12594035" cy="3394472"/>
          </a:xfrm>
        </p:grpSpPr>
        <p:sp>
          <p:nvSpPr>
            <p:cNvPr id="180" name="Google Shape;180;p5"/>
            <p:cNvSpPr/>
            <p:nvPr/>
          </p:nvSpPr>
          <p:spPr>
            <a:xfrm>
              <a:off x="0" y="0"/>
              <a:ext cx="12594035" cy="3232547"/>
            </a:xfrm>
            <a:custGeom>
              <a:rect b="b" l="l" r="r" t="t"/>
              <a:pathLst>
                <a:path extrusionOk="0" h="3232547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3232547"/>
                  </a:lnTo>
                  <a:lnTo>
                    <a:pt x="0" y="3232547"/>
                  </a:lnTo>
                  <a:close/>
                </a:path>
              </a:pathLst>
            </a:custGeom>
            <a:gradFill>
              <a:gsLst>
                <a:gs pos="0">
                  <a:srgbClr val="161719">
                    <a:alpha val="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81" name="Google Shape;181;p5"/>
            <p:cNvSpPr txBox="1"/>
            <p:nvPr/>
          </p:nvSpPr>
          <p:spPr>
            <a:xfrm>
              <a:off x="0" y="-161925"/>
              <a:ext cx="12594035" cy="3394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96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000" u="none" cap="none" strike="noStrike">
                  <a:solidFill>
                    <a:srgbClr val="F2F2F3"/>
                  </a:solidFill>
                  <a:latin typeface="Arial"/>
                  <a:ea typeface="Arial"/>
                  <a:cs typeface="Arial"/>
                  <a:sym typeface="Arial"/>
                </a:rPr>
                <a:t>CONCEPTOS BÁSICOS DE LA CODIFICACIÓN</a:t>
              </a:r>
              <a:endParaRPr/>
            </a:p>
          </p:txBody>
        </p:sp>
      </p:grpSp>
      <p:grpSp>
        <p:nvGrpSpPr>
          <p:cNvPr id="182" name="Google Shape;182;p5"/>
          <p:cNvGrpSpPr/>
          <p:nvPr/>
        </p:nvGrpSpPr>
        <p:grpSpPr>
          <a:xfrm>
            <a:off x="986284" y="3672186"/>
            <a:ext cx="649796" cy="649796"/>
            <a:chOff x="0" y="0"/>
            <a:chExt cx="866394" cy="866394"/>
          </a:xfrm>
        </p:grpSpPr>
        <p:sp>
          <p:nvSpPr>
            <p:cNvPr id="183" name="Google Shape;183;p5"/>
            <p:cNvSpPr/>
            <p:nvPr/>
          </p:nvSpPr>
          <p:spPr>
            <a:xfrm>
              <a:off x="7874" y="8001"/>
              <a:ext cx="850519" cy="850392"/>
            </a:xfrm>
            <a:custGeom>
              <a:rect b="b" l="l" r="r" t="t"/>
              <a:pathLst>
                <a:path extrusionOk="0" h="850392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642"/>
                  </a:lnTo>
                  <a:cubicBezTo>
                    <a:pt x="850519" y="779272"/>
                    <a:pt x="779399" y="850392"/>
                    <a:pt x="691769" y="850392"/>
                  </a:cubicBezTo>
                  <a:lnTo>
                    <a:pt x="158877" y="850392"/>
                  </a:lnTo>
                  <a:cubicBezTo>
                    <a:pt x="71247" y="850392"/>
                    <a:pt x="127" y="779272"/>
                    <a:pt x="127" y="691642"/>
                  </a:cubicBezTo>
                  <a:close/>
                </a:path>
              </a:pathLst>
            </a:custGeom>
            <a:solidFill>
              <a:srgbClr val="3D3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0" y="0"/>
              <a:ext cx="866394" cy="866394"/>
            </a:xfrm>
            <a:custGeom>
              <a:rect b="b" l="l" r="r" t="t"/>
              <a:pathLst>
                <a:path extrusionOk="0" h="866394" w="866394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cubicBezTo>
                    <a:pt x="791718" y="0"/>
                    <a:pt x="866394" y="74676"/>
                    <a:pt x="866394" y="166751"/>
                  </a:cubicBezTo>
                  <a:lnTo>
                    <a:pt x="866394" y="699643"/>
                  </a:lnTo>
                  <a:lnTo>
                    <a:pt x="858520" y="699643"/>
                  </a:lnTo>
                  <a:lnTo>
                    <a:pt x="866394" y="699643"/>
                  </a:lnTo>
                  <a:cubicBezTo>
                    <a:pt x="866394" y="791718"/>
                    <a:pt x="791718" y="866394"/>
                    <a:pt x="699643" y="866394"/>
                  </a:cubicBezTo>
                  <a:lnTo>
                    <a:pt x="699643" y="858520"/>
                  </a:lnTo>
                  <a:lnTo>
                    <a:pt x="699643" y="866394"/>
                  </a:lnTo>
                  <a:lnTo>
                    <a:pt x="166751" y="866394"/>
                  </a:lnTo>
                  <a:lnTo>
                    <a:pt x="166751" y="858520"/>
                  </a:lnTo>
                  <a:lnTo>
                    <a:pt x="166751" y="866394"/>
                  </a:lnTo>
                  <a:cubicBezTo>
                    <a:pt x="74676" y="866394"/>
                    <a:pt x="0" y="791718"/>
                    <a:pt x="0" y="699643"/>
                  </a:cubicBezTo>
                  <a:lnTo>
                    <a:pt x="0" y="166751"/>
                  </a:lnTo>
                  <a:lnTo>
                    <a:pt x="7874" y="166751"/>
                  </a:lnTo>
                  <a:lnTo>
                    <a:pt x="0" y="166751"/>
                  </a:lnTo>
                  <a:moveTo>
                    <a:pt x="15875" y="166751"/>
                  </a:moveTo>
                  <a:lnTo>
                    <a:pt x="15875" y="699643"/>
                  </a:lnTo>
                  <a:lnTo>
                    <a:pt x="7874" y="699643"/>
                  </a:lnTo>
                  <a:lnTo>
                    <a:pt x="15748" y="699643"/>
                  </a:lnTo>
                  <a:cubicBezTo>
                    <a:pt x="15748" y="782955"/>
                    <a:pt x="83312" y="850519"/>
                    <a:pt x="166624" y="850519"/>
                  </a:cubicBezTo>
                  <a:lnTo>
                    <a:pt x="699643" y="850519"/>
                  </a:lnTo>
                  <a:cubicBezTo>
                    <a:pt x="782955" y="850519"/>
                    <a:pt x="850519" y="782955"/>
                    <a:pt x="850519" y="699643"/>
                  </a:cubicBezTo>
                  <a:lnTo>
                    <a:pt x="850519" y="166751"/>
                  </a:lnTo>
                  <a:lnTo>
                    <a:pt x="858393" y="166751"/>
                  </a:lnTo>
                  <a:lnTo>
                    <a:pt x="850519" y="166751"/>
                  </a:lnTo>
                  <a:cubicBezTo>
                    <a:pt x="850519" y="83439"/>
                    <a:pt x="782955" y="15875"/>
                    <a:pt x="699643" y="15875"/>
                  </a:cubicBezTo>
                  <a:lnTo>
                    <a:pt x="166751" y="15875"/>
                  </a:lnTo>
                  <a:lnTo>
                    <a:pt x="166751" y="7874"/>
                  </a:lnTo>
                  <a:lnTo>
                    <a:pt x="166751" y="15748"/>
                  </a:lnTo>
                  <a:cubicBezTo>
                    <a:pt x="83439" y="15875"/>
                    <a:pt x="15875" y="83439"/>
                    <a:pt x="15875" y="166751"/>
                  </a:cubicBezTo>
                  <a:close/>
                </a:path>
              </a:pathLst>
            </a:custGeom>
            <a:solidFill>
              <a:srgbClr val="5656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5" name="Google Shape;185;p5"/>
          <p:cNvGrpSpPr/>
          <p:nvPr/>
        </p:nvGrpSpPr>
        <p:grpSpPr>
          <a:xfrm>
            <a:off x="1248966" y="3645101"/>
            <a:ext cx="157056" cy="564652"/>
            <a:chOff x="0" y="-28575"/>
            <a:chExt cx="165695" cy="595710"/>
          </a:xfrm>
        </p:grpSpPr>
        <p:sp>
          <p:nvSpPr>
            <p:cNvPr id="186" name="Google Shape;186;p5"/>
            <p:cNvSpPr/>
            <p:nvPr/>
          </p:nvSpPr>
          <p:spPr>
            <a:xfrm>
              <a:off x="0" y="0"/>
              <a:ext cx="165695" cy="567135"/>
            </a:xfrm>
            <a:custGeom>
              <a:rect b="b" l="l" r="r" t="t"/>
              <a:pathLst>
                <a:path extrusionOk="0" h="567135" w="165695">
                  <a:moveTo>
                    <a:pt x="0" y="0"/>
                  </a:moveTo>
                  <a:lnTo>
                    <a:pt x="165695" y="0"/>
                  </a:lnTo>
                  <a:lnTo>
                    <a:pt x="165695" y="567135"/>
                  </a:lnTo>
                  <a:lnTo>
                    <a:pt x="0" y="5671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7" name="Google Shape;187;p5"/>
            <p:cNvSpPr txBox="1"/>
            <p:nvPr/>
          </p:nvSpPr>
          <p:spPr>
            <a:xfrm>
              <a:off x="0" y="-28575"/>
              <a:ext cx="165695" cy="595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12" u="none" cap="none" strike="noStrike">
                  <a:solidFill>
                    <a:srgbClr val="E5E0D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1</a:t>
              </a:r>
              <a:endParaRPr/>
            </a:p>
          </p:txBody>
        </p:sp>
      </p:grpSp>
      <p:grpSp>
        <p:nvGrpSpPr>
          <p:cNvPr id="188" name="Google Shape;188;p5"/>
          <p:cNvGrpSpPr/>
          <p:nvPr/>
        </p:nvGrpSpPr>
        <p:grpSpPr>
          <a:xfrm>
            <a:off x="1913632" y="3374455"/>
            <a:ext cx="3646289" cy="916707"/>
            <a:chOff x="0" y="-114300"/>
            <a:chExt cx="4861718" cy="1222275"/>
          </a:xfrm>
        </p:grpSpPr>
        <p:sp>
          <p:nvSpPr>
            <p:cNvPr id="189" name="Google Shape;189;p5"/>
            <p:cNvSpPr/>
            <p:nvPr/>
          </p:nvSpPr>
          <p:spPr>
            <a:xfrm>
              <a:off x="0" y="0"/>
              <a:ext cx="4861718" cy="1107975"/>
            </a:xfrm>
            <a:custGeom>
              <a:rect b="b" l="l" r="r" t="t"/>
              <a:pathLst>
                <a:path extrusionOk="0" h="1107975" w="4861718">
                  <a:moveTo>
                    <a:pt x="0" y="0"/>
                  </a:moveTo>
                  <a:lnTo>
                    <a:pt x="4861718" y="0"/>
                  </a:lnTo>
                  <a:lnTo>
                    <a:pt x="4861718" y="1107975"/>
                  </a:lnTo>
                  <a:lnTo>
                    <a:pt x="0" y="11079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0" name="Google Shape;190;p5"/>
            <p:cNvSpPr txBox="1"/>
            <p:nvPr/>
          </p:nvSpPr>
          <p:spPr>
            <a:xfrm>
              <a:off x="0" y="-114300"/>
              <a:ext cx="4861718" cy="1222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E5E0D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Conversión de datos</a:t>
              </a:r>
              <a:endParaRPr/>
            </a:p>
          </p:txBody>
        </p:sp>
      </p:grpSp>
      <p:grpSp>
        <p:nvGrpSpPr>
          <p:cNvPr id="191" name="Google Shape;191;p5"/>
          <p:cNvGrpSpPr/>
          <p:nvPr/>
        </p:nvGrpSpPr>
        <p:grpSpPr>
          <a:xfrm>
            <a:off x="1913632" y="4169717"/>
            <a:ext cx="3659685" cy="2670111"/>
            <a:chOff x="0" y="-161925"/>
            <a:chExt cx="4879579" cy="3560148"/>
          </a:xfrm>
        </p:grpSpPr>
        <p:sp>
          <p:nvSpPr>
            <p:cNvPr id="192" name="Google Shape;192;p5"/>
            <p:cNvSpPr/>
            <p:nvPr/>
          </p:nvSpPr>
          <p:spPr>
            <a:xfrm>
              <a:off x="0" y="0"/>
              <a:ext cx="4879579" cy="3398223"/>
            </a:xfrm>
            <a:custGeom>
              <a:rect b="b" l="l" r="r" t="t"/>
              <a:pathLst>
                <a:path extrusionOk="0" h="3398223" w="4879579">
                  <a:moveTo>
                    <a:pt x="0" y="0"/>
                  </a:moveTo>
                  <a:lnTo>
                    <a:pt x="4879579" y="0"/>
                  </a:lnTo>
                  <a:lnTo>
                    <a:pt x="4879579" y="3398223"/>
                  </a:lnTo>
                  <a:lnTo>
                    <a:pt x="0" y="33982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3" name="Google Shape;193;p5"/>
            <p:cNvSpPr txBox="1"/>
            <p:nvPr/>
          </p:nvSpPr>
          <p:spPr>
            <a:xfrm>
              <a:off x="0" y="-161925"/>
              <a:ext cx="4879578" cy="3560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954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La codificación traduce información, como texto o imágenes, a un formato que las computadoras pueden procesar.</a:t>
              </a:r>
              <a:endParaRPr/>
            </a:p>
          </p:txBody>
        </p:sp>
      </p:grpSp>
      <p:grpSp>
        <p:nvGrpSpPr>
          <p:cNvPr id="194" name="Google Shape;194;p5"/>
          <p:cNvGrpSpPr/>
          <p:nvPr/>
        </p:nvGrpSpPr>
        <p:grpSpPr>
          <a:xfrm>
            <a:off x="5850881" y="3672186"/>
            <a:ext cx="649796" cy="649796"/>
            <a:chOff x="0" y="0"/>
            <a:chExt cx="866394" cy="866394"/>
          </a:xfrm>
        </p:grpSpPr>
        <p:sp>
          <p:nvSpPr>
            <p:cNvPr id="195" name="Google Shape;195;p5"/>
            <p:cNvSpPr/>
            <p:nvPr/>
          </p:nvSpPr>
          <p:spPr>
            <a:xfrm>
              <a:off x="7874" y="8001"/>
              <a:ext cx="850519" cy="850392"/>
            </a:xfrm>
            <a:custGeom>
              <a:rect b="b" l="l" r="r" t="t"/>
              <a:pathLst>
                <a:path extrusionOk="0" h="850392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642"/>
                  </a:lnTo>
                  <a:cubicBezTo>
                    <a:pt x="850519" y="779272"/>
                    <a:pt x="779399" y="850392"/>
                    <a:pt x="691769" y="850392"/>
                  </a:cubicBezTo>
                  <a:lnTo>
                    <a:pt x="158877" y="850392"/>
                  </a:lnTo>
                  <a:cubicBezTo>
                    <a:pt x="71247" y="850392"/>
                    <a:pt x="127" y="779272"/>
                    <a:pt x="127" y="691642"/>
                  </a:cubicBezTo>
                  <a:close/>
                </a:path>
              </a:pathLst>
            </a:custGeom>
            <a:solidFill>
              <a:srgbClr val="3D3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0" y="0"/>
              <a:ext cx="866394" cy="866394"/>
            </a:xfrm>
            <a:custGeom>
              <a:rect b="b" l="l" r="r" t="t"/>
              <a:pathLst>
                <a:path extrusionOk="0" h="866394" w="866394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cubicBezTo>
                    <a:pt x="791718" y="0"/>
                    <a:pt x="866394" y="74676"/>
                    <a:pt x="866394" y="166751"/>
                  </a:cubicBezTo>
                  <a:lnTo>
                    <a:pt x="866394" y="699643"/>
                  </a:lnTo>
                  <a:lnTo>
                    <a:pt x="858520" y="699643"/>
                  </a:lnTo>
                  <a:lnTo>
                    <a:pt x="866394" y="699643"/>
                  </a:lnTo>
                  <a:cubicBezTo>
                    <a:pt x="866394" y="791718"/>
                    <a:pt x="791718" y="866394"/>
                    <a:pt x="699643" y="866394"/>
                  </a:cubicBezTo>
                  <a:lnTo>
                    <a:pt x="699643" y="858520"/>
                  </a:lnTo>
                  <a:lnTo>
                    <a:pt x="699643" y="866394"/>
                  </a:lnTo>
                  <a:lnTo>
                    <a:pt x="166751" y="866394"/>
                  </a:lnTo>
                  <a:lnTo>
                    <a:pt x="166751" y="858520"/>
                  </a:lnTo>
                  <a:lnTo>
                    <a:pt x="166751" y="866394"/>
                  </a:lnTo>
                  <a:cubicBezTo>
                    <a:pt x="74676" y="866394"/>
                    <a:pt x="0" y="791718"/>
                    <a:pt x="0" y="699643"/>
                  </a:cubicBezTo>
                  <a:lnTo>
                    <a:pt x="0" y="166751"/>
                  </a:lnTo>
                  <a:lnTo>
                    <a:pt x="7874" y="166751"/>
                  </a:lnTo>
                  <a:lnTo>
                    <a:pt x="0" y="166751"/>
                  </a:lnTo>
                  <a:moveTo>
                    <a:pt x="15875" y="166751"/>
                  </a:moveTo>
                  <a:lnTo>
                    <a:pt x="15875" y="699643"/>
                  </a:lnTo>
                  <a:lnTo>
                    <a:pt x="7874" y="699643"/>
                  </a:lnTo>
                  <a:lnTo>
                    <a:pt x="15748" y="699643"/>
                  </a:lnTo>
                  <a:cubicBezTo>
                    <a:pt x="15748" y="782955"/>
                    <a:pt x="83312" y="850519"/>
                    <a:pt x="166624" y="850519"/>
                  </a:cubicBezTo>
                  <a:lnTo>
                    <a:pt x="699643" y="850519"/>
                  </a:lnTo>
                  <a:cubicBezTo>
                    <a:pt x="782955" y="850519"/>
                    <a:pt x="850519" y="782955"/>
                    <a:pt x="850519" y="699643"/>
                  </a:cubicBezTo>
                  <a:lnTo>
                    <a:pt x="850519" y="166751"/>
                  </a:lnTo>
                  <a:lnTo>
                    <a:pt x="858393" y="166751"/>
                  </a:lnTo>
                  <a:lnTo>
                    <a:pt x="850519" y="166751"/>
                  </a:lnTo>
                  <a:cubicBezTo>
                    <a:pt x="850519" y="83439"/>
                    <a:pt x="782955" y="15875"/>
                    <a:pt x="699643" y="15875"/>
                  </a:cubicBezTo>
                  <a:lnTo>
                    <a:pt x="166751" y="15875"/>
                  </a:lnTo>
                  <a:lnTo>
                    <a:pt x="166751" y="7874"/>
                  </a:lnTo>
                  <a:lnTo>
                    <a:pt x="166751" y="15748"/>
                  </a:lnTo>
                  <a:cubicBezTo>
                    <a:pt x="83439" y="15875"/>
                    <a:pt x="15875" y="83439"/>
                    <a:pt x="15875" y="166751"/>
                  </a:cubicBezTo>
                  <a:close/>
                </a:path>
              </a:pathLst>
            </a:custGeom>
            <a:solidFill>
              <a:srgbClr val="5656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" name="Google Shape;197;p5"/>
          <p:cNvGrpSpPr/>
          <p:nvPr/>
        </p:nvGrpSpPr>
        <p:grpSpPr>
          <a:xfrm>
            <a:off x="6054030" y="3645101"/>
            <a:ext cx="307530" cy="564652"/>
            <a:chOff x="0" y="-28575"/>
            <a:chExt cx="324445" cy="595710"/>
          </a:xfrm>
        </p:grpSpPr>
        <p:sp>
          <p:nvSpPr>
            <p:cNvPr id="198" name="Google Shape;198;p5"/>
            <p:cNvSpPr/>
            <p:nvPr/>
          </p:nvSpPr>
          <p:spPr>
            <a:xfrm>
              <a:off x="0" y="0"/>
              <a:ext cx="324445" cy="567135"/>
            </a:xfrm>
            <a:custGeom>
              <a:rect b="b" l="l" r="r" t="t"/>
              <a:pathLst>
                <a:path extrusionOk="0" h="567135" w="324445">
                  <a:moveTo>
                    <a:pt x="0" y="0"/>
                  </a:moveTo>
                  <a:lnTo>
                    <a:pt x="324445" y="0"/>
                  </a:lnTo>
                  <a:lnTo>
                    <a:pt x="324445" y="567135"/>
                  </a:lnTo>
                  <a:lnTo>
                    <a:pt x="0" y="5671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9" name="Google Shape;199;p5"/>
            <p:cNvSpPr txBox="1"/>
            <p:nvPr/>
          </p:nvSpPr>
          <p:spPr>
            <a:xfrm>
              <a:off x="0" y="-28575"/>
              <a:ext cx="324445" cy="595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12" u="none" cap="none" strike="noStrike">
                  <a:solidFill>
                    <a:srgbClr val="E5E0D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2</a:t>
              </a:r>
              <a:endParaRPr/>
            </a:p>
          </p:txBody>
        </p:sp>
      </p:grpSp>
      <p:grpSp>
        <p:nvGrpSpPr>
          <p:cNvPr id="200" name="Google Shape;200;p5"/>
          <p:cNvGrpSpPr/>
          <p:nvPr/>
        </p:nvGrpSpPr>
        <p:grpSpPr>
          <a:xfrm>
            <a:off x="6778229" y="3350419"/>
            <a:ext cx="3659685" cy="1383654"/>
            <a:chOff x="0" y="-114300"/>
            <a:chExt cx="4879579" cy="1844872"/>
          </a:xfrm>
        </p:grpSpPr>
        <p:sp>
          <p:nvSpPr>
            <p:cNvPr id="201" name="Google Shape;201;p5"/>
            <p:cNvSpPr/>
            <p:nvPr/>
          </p:nvSpPr>
          <p:spPr>
            <a:xfrm>
              <a:off x="0" y="0"/>
              <a:ext cx="4879579" cy="1730572"/>
            </a:xfrm>
            <a:custGeom>
              <a:rect b="b" l="l" r="r" t="t"/>
              <a:pathLst>
                <a:path extrusionOk="0" h="1730572" w="4879579">
                  <a:moveTo>
                    <a:pt x="0" y="0"/>
                  </a:moveTo>
                  <a:lnTo>
                    <a:pt x="4879579" y="0"/>
                  </a:lnTo>
                  <a:lnTo>
                    <a:pt x="4879579" y="1730572"/>
                  </a:lnTo>
                  <a:lnTo>
                    <a:pt x="0" y="17305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2" name="Google Shape;202;p5"/>
            <p:cNvSpPr txBox="1"/>
            <p:nvPr/>
          </p:nvSpPr>
          <p:spPr>
            <a:xfrm>
              <a:off x="0" y="-114300"/>
              <a:ext cx="4879578" cy="18448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E5E0D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Sistemas de Codificación</a:t>
              </a:r>
              <a:endParaRPr/>
            </a:p>
          </p:txBody>
        </p:sp>
      </p:grpSp>
      <p:grpSp>
        <p:nvGrpSpPr>
          <p:cNvPr id="203" name="Google Shape;203;p5"/>
          <p:cNvGrpSpPr/>
          <p:nvPr/>
        </p:nvGrpSpPr>
        <p:grpSpPr>
          <a:xfrm>
            <a:off x="6778229" y="4612630"/>
            <a:ext cx="3659685" cy="3053954"/>
            <a:chOff x="0" y="-161925"/>
            <a:chExt cx="4879579" cy="4071938"/>
          </a:xfrm>
        </p:grpSpPr>
        <p:sp>
          <p:nvSpPr>
            <p:cNvPr id="204" name="Google Shape;204;p5"/>
            <p:cNvSpPr/>
            <p:nvPr/>
          </p:nvSpPr>
          <p:spPr>
            <a:xfrm>
              <a:off x="0" y="0"/>
              <a:ext cx="4879579" cy="3910013"/>
            </a:xfrm>
            <a:custGeom>
              <a:rect b="b" l="l" r="r" t="t"/>
              <a:pathLst>
                <a:path extrusionOk="0" h="3910013" w="4879579">
                  <a:moveTo>
                    <a:pt x="0" y="0"/>
                  </a:moveTo>
                  <a:lnTo>
                    <a:pt x="4879579" y="0"/>
                  </a:lnTo>
                  <a:lnTo>
                    <a:pt x="4879579" y="3910013"/>
                  </a:lnTo>
                  <a:lnTo>
                    <a:pt x="0" y="39100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5" name="Google Shape;205;p5"/>
            <p:cNvSpPr txBox="1"/>
            <p:nvPr/>
          </p:nvSpPr>
          <p:spPr>
            <a:xfrm>
              <a:off x="0" y="-161925"/>
              <a:ext cx="4879578" cy="4071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954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Existen varios sistemas de codificación, como ASCII, Unicode y UTF-8, cada uno con sus propias características y ventajas.</a:t>
              </a:r>
              <a:endParaRPr/>
            </a:p>
          </p:txBody>
        </p:sp>
      </p:grpSp>
      <p:grpSp>
        <p:nvGrpSpPr>
          <p:cNvPr id="206" name="Google Shape;206;p5"/>
          <p:cNvGrpSpPr/>
          <p:nvPr/>
        </p:nvGrpSpPr>
        <p:grpSpPr>
          <a:xfrm>
            <a:off x="986284" y="7397800"/>
            <a:ext cx="649796" cy="649796"/>
            <a:chOff x="0" y="0"/>
            <a:chExt cx="866394" cy="866394"/>
          </a:xfrm>
        </p:grpSpPr>
        <p:sp>
          <p:nvSpPr>
            <p:cNvPr id="207" name="Google Shape;207;p5"/>
            <p:cNvSpPr/>
            <p:nvPr/>
          </p:nvSpPr>
          <p:spPr>
            <a:xfrm>
              <a:off x="7874" y="8001"/>
              <a:ext cx="850519" cy="850392"/>
            </a:xfrm>
            <a:custGeom>
              <a:rect b="b" l="l" r="r" t="t"/>
              <a:pathLst>
                <a:path extrusionOk="0" h="850392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642"/>
                  </a:lnTo>
                  <a:cubicBezTo>
                    <a:pt x="850519" y="779272"/>
                    <a:pt x="779399" y="850392"/>
                    <a:pt x="691769" y="850392"/>
                  </a:cubicBezTo>
                  <a:lnTo>
                    <a:pt x="158877" y="850392"/>
                  </a:lnTo>
                  <a:cubicBezTo>
                    <a:pt x="71247" y="850392"/>
                    <a:pt x="127" y="779272"/>
                    <a:pt x="127" y="691642"/>
                  </a:cubicBezTo>
                  <a:close/>
                </a:path>
              </a:pathLst>
            </a:custGeom>
            <a:solidFill>
              <a:srgbClr val="3D3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5"/>
            <p:cNvSpPr/>
            <p:nvPr/>
          </p:nvSpPr>
          <p:spPr>
            <a:xfrm>
              <a:off x="0" y="0"/>
              <a:ext cx="866394" cy="866394"/>
            </a:xfrm>
            <a:custGeom>
              <a:rect b="b" l="l" r="r" t="t"/>
              <a:pathLst>
                <a:path extrusionOk="0" h="866394" w="866394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cubicBezTo>
                    <a:pt x="791718" y="0"/>
                    <a:pt x="866394" y="74676"/>
                    <a:pt x="866394" y="166751"/>
                  </a:cubicBezTo>
                  <a:lnTo>
                    <a:pt x="866394" y="699643"/>
                  </a:lnTo>
                  <a:lnTo>
                    <a:pt x="858520" y="699643"/>
                  </a:lnTo>
                  <a:lnTo>
                    <a:pt x="866394" y="699643"/>
                  </a:lnTo>
                  <a:cubicBezTo>
                    <a:pt x="866394" y="791718"/>
                    <a:pt x="791718" y="866394"/>
                    <a:pt x="699643" y="866394"/>
                  </a:cubicBezTo>
                  <a:lnTo>
                    <a:pt x="699643" y="858520"/>
                  </a:lnTo>
                  <a:lnTo>
                    <a:pt x="699643" y="866394"/>
                  </a:lnTo>
                  <a:lnTo>
                    <a:pt x="166751" y="866394"/>
                  </a:lnTo>
                  <a:lnTo>
                    <a:pt x="166751" y="858520"/>
                  </a:lnTo>
                  <a:lnTo>
                    <a:pt x="166751" y="866394"/>
                  </a:lnTo>
                  <a:cubicBezTo>
                    <a:pt x="74676" y="866394"/>
                    <a:pt x="0" y="791718"/>
                    <a:pt x="0" y="699643"/>
                  </a:cubicBezTo>
                  <a:lnTo>
                    <a:pt x="0" y="166751"/>
                  </a:lnTo>
                  <a:lnTo>
                    <a:pt x="7874" y="166751"/>
                  </a:lnTo>
                  <a:lnTo>
                    <a:pt x="0" y="166751"/>
                  </a:lnTo>
                  <a:moveTo>
                    <a:pt x="15875" y="166751"/>
                  </a:moveTo>
                  <a:lnTo>
                    <a:pt x="15875" y="699643"/>
                  </a:lnTo>
                  <a:lnTo>
                    <a:pt x="7874" y="699643"/>
                  </a:lnTo>
                  <a:lnTo>
                    <a:pt x="15748" y="699643"/>
                  </a:lnTo>
                  <a:cubicBezTo>
                    <a:pt x="15748" y="782955"/>
                    <a:pt x="83312" y="850519"/>
                    <a:pt x="166624" y="850519"/>
                  </a:cubicBezTo>
                  <a:lnTo>
                    <a:pt x="699643" y="850519"/>
                  </a:lnTo>
                  <a:cubicBezTo>
                    <a:pt x="782955" y="850519"/>
                    <a:pt x="850519" y="782955"/>
                    <a:pt x="850519" y="699643"/>
                  </a:cubicBezTo>
                  <a:lnTo>
                    <a:pt x="850519" y="166751"/>
                  </a:lnTo>
                  <a:lnTo>
                    <a:pt x="858393" y="166751"/>
                  </a:lnTo>
                  <a:lnTo>
                    <a:pt x="850519" y="166751"/>
                  </a:lnTo>
                  <a:cubicBezTo>
                    <a:pt x="850519" y="83439"/>
                    <a:pt x="782955" y="15875"/>
                    <a:pt x="699643" y="15875"/>
                  </a:cubicBezTo>
                  <a:lnTo>
                    <a:pt x="166751" y="15875"/>
                  </a:lnTo>
                  <a:lnTo>
                    <a:pt x="166751" y="7874"/>
                  </a:lnTo>
                  <a:lnTo>
                    <a:pt x="166751" y="15748"/>
                  </a:lnTo>
                  <a:cubicBezTo>
                    <a:pt x="83439" y="15875"/>
                    <a:pt x="15875" y="83439"/>
                    <a:pt x="15875" y="166751"/>
                  </a:cubicBezTo>
                  <a:close/>
                </a:path>
              </a:pathLst>
            </a:custGeom>
            <a:solidFill>
              <a:srgbClr val="5656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9" name="Google Shape;209;p5"/>
          <p:cNvGrpSpPr/>
          <p:nvPr/>
        </p:nvGrpSpPr>
        <p:grpSpPr>
          <a:xfrm>
            <a:off x="1186755" y="7370715"/>
            <a:ext cx="314489" cy="564652"/>
            <a:chOff x="0" y="-28575"/>
            <a:chExt cx="331787" cy="595710"/>
          </a:xfrm>
        </p:grpSpPr>
        <p:sp>
          <p:nvSpPr>
            <p:cNvPr id="210" name="Google Shape;210;p5"/>
            <p:cNvSpPr/>
            <p:nvPr/>
          </p:nvSpPr>
          <p:spPr>
            <a:xfrm>
              <a:off x="0" y="0"/>
              <a:ext cx="331787" cy="567135"/>
            </a:xfrm>
            <a:custGeom>
              <a:rect b="b" l="l" r="r" t="t"/>
              <a:pathLst>
                <a:path extrusionOk="0" h="567135" w="331787">
                  <a:moveTo>
                    <a:pt x="0" y="0"/>
                  </a:moveTo>
                  <a:lnTo>
                    <a:pt x="331787" y="0"/>
                  </a:lnTo>
                  <a:lnTo>
                    <a:pt x="331787" y="567135"/>
                  </a:lnTo>
                  <a:lnTo>
                    <a:pt x="0" y="5671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11" name="Google Shape;211;p5"/>
            <p:cNvSpPr txBox="1"/>
            <p:nvPr/>
          </p:nvSpPr>
          <p:spPr>
            <a:xfrm>
              <a:off x="0" y="-28575"/>
              <a:ext cx="331787" cy="595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12" u="none" cap="none" strike="noStrike">
                  <a:solidFill>
                    <a:srgbClr val="E5E0D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3</a:t>
              </a:r>
              <a:endParaRPr/>
            </a:p>
          </p:txBody>
        </p:sp>
      </p:grpSp>
      <p:grpSp>
        <p:nvGrpSpPr>
          <p:cNvPr id="212" name="Google Shape;212;p5"/>
          <p:cNvGrpSpPr/>
          <p:nvPr/>
        </p:nvGrpSpPr>
        <p:grpSpPr>
          <a:xfrm>
            <a:off x="1913632" y="7276630"/>
            <a:ext cx="3544044" cy="770954"/>
            <a:chOff x="0" y="-114300"/>
            <a:chExt cx="4725392" cy="1027938"/>
          </a:xfrm>
        </p:grpSpPr>
        <p:sp>
          <p:nvSpPr>
            <p:cNvPr id="213" name="Google Shape;213;p5"/>
            <p:cNvSpPr/>
            <p:nvPr/>
          </p:nvSpPr>
          <p:spPr>
            <a:xfrm>
              <a:off x="0" y="0"/>
              <a:ext cx="4725392" cy="913638"/>
            </a:xfrm>
            <a:custGeom>
              <a:rect b="b" l="l" r="r" t="t"/>
              <a:pathLst>
                <a:path extrusionOk="0" h="913638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913638"/>
                  </a:lnTo>
                  <a:lnTo>
                    <a:pt x="0" y="9136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14" name="Google Shape;214;p5"/>
            <p:cNvSpPr txBox="1"/>
            <p:nvPr/>
          </p:nvSpPr>
          <p:spPr>
            <a:xfrm>
              <a:off x="0" y="-114300"/>
              <a:ext cx="4725392" cy="1027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E5E0D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Eficiencia</a:t>
              </a:r>
              <a:endParaRPr/>
            </a:p>
          </p:txBody>
        </p:sp>
      </p:grpSp>
      <p:grpSp>
        <p:nvGrpSpPr>
          <p:cNvPr id="215" name="Google Shape;215;p5"/>
          <p:cNvGrpSpPr/>
          <p:nvPr/>
        </p:nvGrpSpPr>
        <p:grpSpPr>
          <a:xfrm>
            <a:off x="1913632" y="8096250"/>
            <a:ext cx="8524132" cy="1028700"/>
            <a:chOff x="0" y="-161925"/>
            <a:chExt cx="11365509" cy="1371600"/>
          </a:xfrm>
        </p:grpSpPr>
        <p:sp>
          <p:nvSpPr>
            <p:cNvPr id="216" name="Google Shape;216;p5"/>
            <p:cNvSpPr/>
            <p:nvPr/>
          </p:nvSpPr>
          <p:spPr>
            <a:xfrm>
              <a:off x="0" y="0"/>
              <a:ext cx="11365509" cy="1209675"/>
            </a:xfrm>
            <a:custGeom>
              <a:rect b="b" l="l" r="r" t="t"/>
              <a:pathLst>
                <a:path extrusionOk="0" h="1209675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17" name="Google Shape;217;p5"/>
            <p:cNvSpPr txBox="1"/>
            <p:nvPr/>
          </p:nvSpPr>
          <p:spPr>
            <a:xfrm>
              <a:off x="0" y="-161925"/>
              <a:ext cx="11365508" cy="13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54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La codificación permite un uso eficiente del almacenamiento y la transmisión de información.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9191A"/>
          </a:solidFill>
          <a:ln>
            <a:noFill/>
          </a:ln>
        </p:spPr>
      </p:sp>
      <p:sp>
        <p:nvSpPr>
          <p:cNvPr id="227" name="Google Shape;227;p6"/>
          <p:cNvSpPr/>
          <p:nvPr/>
        </p:nvSpPr>
        <p:spPr>
          <a:xfrm>
            <a:off x="0" y="-85725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161719"/>
              </a:gs>
              <a:gs pos="100000">
                <a:srgbClr val="000000"/>
              </a:gs>
            </a:gsLst>
            <a:lin ang="0" scaled="0"/>
          </a:gradFill>
          <a:ln>
            <a:noFill/>
          </a:ln>
        </p:spPr>
      </p:sp>
      <p:sp>
        <p:nvSpPr>
          <p:cNvPr descr="preencoded.png" id="228" name="Google Shape;228;p6"/>
          <p:cNvSpPr/>
          <p:nvPr/>
        </p:nvSpPr>
        <p:spPr>
          <a:xfrm>
            <a:off x="0" y="0"/>
            <a:ext cx="18288000" cy="3544044"/>
          </a:xfrm>
          <a:custGeom>
            <a:rect b="b" l="l" r="r" t="t"/>
            <a:pathLst>
              <a:path extrusionOk="0" h="3544044" w="18288000">
                <a:moveTo>
                  <a:pt x="0" y="0"/>
                </a:moveTo>
                <a:lnTo>
                  <a:pt x="18288000" y="0"/>
                </a:lnTo>
                <a:lnTo>
                  <a:pt x="18288000" y="3544044"/>
                </a:lnTo>
                <a:lnTo>
                  <a:pt x="0" y="3544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8" t="0"/>
            </a:stretch>
          </a:blipFill>
          <a:ln>
            <a:noFill/>
          </a:ln>
        </p:spPr>
      </p:sp>
      <p:grpSp>
        <p:nvGrpSpPr>
          <p:cNvPr id="229" name="Google Shape;229;p6"/>
          <p:cNvGrpSpPr/>
          <p:nvPr/>
        </p:nvGrpSpPr>
        <p:grpSpPr>
          <a:xfrm>
            <a:off x="1028700" y="3792427"/>
            <a:ext cx="16831428" cy="1676421"/>
            <a:chOff x="0" y="-152400"/>
            <a:chExt cx="22441903" cy="2235228"/>
          </a:xfrm>
        </p:grpSpPr>
        <p:sp>
          <p:nvSpPr>
            <p:cNvPr id="230" name="Google Shape;230;p6"/>
            <p:cNvSpPr/>
            <p:nvPr/>
          </p:nvSpPr>
          <p:spPr>
            <a:xfrm>
              <a:off x="0" y="0"/>
              <a:ext cx="22441903" cy="2082828"/>
            </a:xfrm>
            <a:custGeom>
              <a:rect b="b" l="l" r="r" t="t"/>
              <a:pathLst>
                <a:path extrusionOk="0" h="2082828" w="22441903">
                  <a:moveTo>
                    <a:pt x="0" y="0"/>
                  </a:moveTo>
                  <a:lnTo>
                    <a:pt x="22441903" y="0"/>
                  </a:lnTo>
                  <a:lnTo>
                    <a:pt x="22441903" y="2082828"/>
                  </a:lnTo>
                  <a:lnTo>
                    <a:pt x="0" y="20828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1" name="Google Shape;231;p6"/>
            <p:cNvSpPr txBox="1"/>
            <p:nvPr/>
          </p:nvSpPr>
          <p:spPr>
            <a:xfrm>
              <a:off x="0" y="-152400"/>
              <a:ext cx="22441902" cy="2235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96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62" u="none" cap="none" strike="noStrike">
                  <a:solidFill>
                    <a:srgbClr val="F2F2F3"/>
                  </a:solidFill>
                  <a:latin typeface="Arial"/>
                  <a:ea typeface="Arial"/>
                  <a:cs typeface="Arial"/>
                  <a:sym typeface="Arial"/>
                </a:rPr>
                <a:t>TIPOS DE ALGORITMOS DE ENCRIPTACIÓN</a:t>
              </a:r>
              <a:endParaRPr/>
            </a:p>
          </p:txBody>
        </p:sp>
      </p:grpSp>
      <p:grpSp>
        <p:nvGrpSpPr>
          <p:cNvPr id="232" name="Google Shape;232;p6"/>
          <p:cNvGrpSpPr/>
          <p:nvPr/>
        </p:nvGrpSpPr>
        <p:grpSpPr>
          <a:xfrm>
            <a:off x="986284" y="5831532"/>
            <a:ext cx="5257324" cy="3479197"/>
            <a:chOff x="0" y="0"/>
            <a:chExt cx="7009765" cy="4638929"/>
          </a:xfrm>
        </p:grpSpPr>
        <p:sp>
          <p:nvSpPr>
            <p:cNvPr id="233" name="Google Shape;233;p6"/>
            <p:cNvSpPr/>
            <p:nvPr/>
          </p:nvSpPr>
          <p:spPr>
            <a:xfrm>
              <a:off x="7874" y="7874"/>
              <a:ext cx="6994017" cy="4623054"/>
            </a:xfrm>
            <a:custGeom>
              <a:rect b="b" l="l" r="r" t="t"/>
              <a:pathLst>
                <a:path extrusionOk="0" h="4623054" w="6994017">
                  <a:moveTo>
                    <a:pt x="0" y="158877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6835013" y="0"/>
                  </a:lnTo>
                  <a:cubicBezTo>
                    <a:pt x="6922770" y="0"/>
                    <a:pt x="6994017" y="71120"/>
                    <a:pt x="6994017" y="158750"/>
                  </a:cubicBezTo>
                  <a:lnTo>
                    <a:pt x="6994017" y="4464304"/>
                  </a:lnTo>
                  <a:cubicBezTo>
                    <a:pt x="6994017" y="4552061"/>
                    <a:pt x="6922897" y="4623054"/>
                    <a:pt x="6835013" y="4623054"/>
                  </a:cubicBezTo>
                  <a:lnTo>
                    <a:pt x="159004" y="4623054"/>
                  </a:lnTo>
                  <a:cubicBezTo>
                    <a:pt x="71247" y="4623054"/>
                    <a:pt x="0" y="4551934"/>
                    <a:pt x="0" y="4464304"/>
                  </a:cubicBezTo>
                  <a:close/>
                </a:path>
              </a:pathLst>
            </a:custGeom>
            <a:solidFill>
              <a:srgbClr val="3D3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6"/>
            <p:cNvSpPr/>
            <p:nvPr/>
          </p:nvSpPr>
          <p:spPr>
            <a:xfrm>
              <a:off x="0" y="0"/>
              <a:ext cx="7009765" cy="4638929"/>
            </a:xfrm>
            <a:custGeom>
              <a:rect b="b" l="l" r="r" t="t"/>
              <a:pathLst>
                <a:path extrusionOk="0" h="4638929" w="7009765">
                  <a:moveTo>
                    <a:pt x="0" y="166751"/>
                  </a:moveTo>
                  <a:cubicBezTo>
                    <a:pt x="0" y="74676"/>
                    <a:pt x="74803" y="0"/>
                    <a:pt x="166878" y="0"/>
                  </a:cubicBezTo>
                  <a:lnTo>
                    <a:pt x="6842887" y="0"/>
                  </a:lnTo>
                  <a:lnTo>
                    <a:pt x="6842887" y="7874"/>
                  </a:lnTo>
                  <a:lnTo>
                    <a:pt x="6842887" y="0"/>
                  </a:lnTo>
                  <a:cubicBezTo>
                    <a:pt x="6935089" y="0"/>
                    <a:pt x="7009765" y="74676"/>
                    <a:pt x="7009765" y="166751"/>
                  </a:cubicBezTo>
                  <a:lnTo>
                    <a:pt x="7009765" y="4472178"/>
                  </a:lnTo>
                  <a:lnTo>
                    <a:pt x="7001891" y="4472178"/>
                  </a:lnTo>
                  <a:lnTo>
                    <a:pt x="7009765" y="4472178"/>
                  </a:lnTo>
                  <a:cubicBezTo>
                    <a:pt x="7009765" y="4564253"/>
                    <a:pt x="6934962" y="4638929"/>
                    <a:pt x="6842887" y="4638929"/>
                  </a:cubicBezTo>
                  <a:lnTo>
                    <a:pt x="6842887" y="4631055"/>
                  </a:lnTo>
                  <a:lnTo>
                    <a:pt x="6842887" y="4638929"/>
                  </a:lnTo>
                  <a:lnTo>
                    <a:pt x="166878" y="4638929"/>
                  </a:lnTo>
                  <a:lnTo>
                    <a:pt x="166878" y="4631055"/>
                  </a:lnTo>
                  <a:lnTo>
                    <a:pt x="166878" y="4638929"/>
                  </a:lnTo>
                  <a:cubicBezTo>
                    <a:pt x="74803" y="4638929"/>
                    <a:pt x="0" y="4564253"/>
                    <a:pt x="0" y="4472178"/>
                  </a:cubicBezTo>
                  <a:lnTo>
                    <a:pt x="0" y="166751"/>
                  </a:lnTo>
                  <a:lnTo>
                    <a:pt x="7874" y="166751"/>
                  </a:lnTo>
                  <a:lnTo>
                    <a:pt x="0" y="166751"/>
                  </a:lnTo>
                  <a:moveTo>
                    <a:pt x="15875" y="166751"/>
                  </a:moveTo>
                  <a:lnTo>
                    <a:pt x="15875" y="4472178"/>
                  </a:lnTo>
                  <a:lnTo>
                    <a:pt x="7874" y="4472178"/>
                  </a:lnTo>
                  <a:lnTo>
                    <a:pt x="15748" y="4472178"/>
                  </a:lnTo>
                  <a:cubicBezTo>
                    <a:pt x="15748" y="4555490"/>
                    <a:pt x="83312" y="4623054"/>
                    <a:pt x="166751" y="4623054"/>
                  </a:cubicBezTo>
                  <a:lnTo>
                    <a:pt x="6842887" y="4623054"/>
                  </a:lnTo>
                  <a:cubicBezTo>
                    <a:pt x="6926326" y="4623054"/>
                    <a:pt x="6993890" y="4555490"/>
                    <a:pt x="6993890" y="4472178"/>
                  </a:cubicBezTo>
                  <a:lnTo>
                    <a:pt x="6993890" y="166751"/>
                  </a:lnTo>
                  <a:lnTo>
                    <a:pt x="7001764" y="166751"/>
                  </a:lnTo>
                  <a:lnTo>
                    <a:pt x="6993890" y="166751"/>
                  </a:lnTo>
                  <a:cubicBezTo>
                    <a:pt x="6993890" y="83439"/>
                    <a:pt x="6926326" y="15875"/>
                    <a:pt x="6842887" y="15875"/>
                  </a:cubicBezTo>
                  <a:lnTo>
                    <a:pt x="166878" y="15875"/>
                  </a:lnTo>
                  <a:lnTo>
                    <a:pt x="166878" y="7874"/>
                  </a:lnTo>
                  <a:lnTo>
                    <a:pt x="166878" y="15875"/>
                  </a:lnTo>
                  <a:cubicBezTo>
                    <a:pt x="83439" y="15875"/>
                    <a:pt x="15875" y="83439"/>
                    <a:pt x="15875" y="166751"/>
                  </a:cubicBezTo>
                  <a:close/>
                </a:path>
              </a:pathLst>
            </a:custGeom>
            <a:solidFill>
              <a:srgbClr val="5656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5" name="Google Shape;235;p6"/>
          <p:cNvGrpSpPr/>
          <p:nvPr/>
        </p:nvGrpSpPr>
        <p:grpSpPr>
          <a:xfrm>
            <a:off x="1285280" y="5844778"/>
            <a:ext cx="4658470" cy="749523"/>
            <a:chOff x="0" y="-85725"/>
            <a:chExt cx="6211293" cy="999363"/>
          </a:xfrm>
        </p:grpSpPr>
        <p:sp>
          <p:nvSpPr>
            <p:cNvPr id="236" name="Google Shape;236;p6"/>
            <p:cNvSpPr/>
            <p:nvPr/>
          </p:nvSpPr>
          <p:spPr>
            <a:xfrm>
              <a:off x="0" y="0"/>
              <a:ext cx="6211293" cy="913638"/>
            </a:xfrm>
            <a:custGeom>
              <a:rect b="b" l="l" r="r" t="t"/>
              <a:pathLst>
                <a:path extrusionOk="0" h="913638" w="6211293">
                  <a:moveTo>
                    <a:pt x="0" y="0"/>
                  </a:moveTo>
                  <a:lnTo>
                    <a:pt x="6211293" y="0"/>
                  </a:lnTo>
                  <a:lnTo>
                    <a:pt x="6211293" y="913638"/>
                  </a:lnTo>
                  <a:lnTo>
                    <a:pt x="0" y="9136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7" name="Google Shape;237;p6"/>
            <p:cNvSpPr txBox="1"/>
            <p:nvPr/>
          </p:nvSpPr>
          <p:spPr>
            <a:xfrm>
              <a:off x="0" y="-85725"/>
              <a:ext cx="6211292" cy="999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Encriptación simétrica</a:t>
              </a:r>
              <a:endParaRPr/>
            </a:p>
          </p:txBody>
        </p:sp>
      </p:grpSp>
      <p:grpSp>
        <p:nvGrpSpPr>
          <p:cNvPr id="238" name="Google Shape;238;p6"/>
          <p:cNvGrpSpPr/>
          <p:nvPr/>
        </p:nvGrpSpPr>
        <p:grpSpPr>
          <a:xfrm>
            <a:off x="1285280" y="6643538"/>
            <a:ext cx="4659362" cy="2614762"/>
            <a:chOff x="0" y="-133350"/>
            <a:chExt cx="6212483" cy="3486348"/>
          </a:xfrm>
        </p:grpSpPr>
        <p:sp>
          <p:nvSpPr>
            <p:cNvPr id="239" name="Google Shape;239;p6"/>
            <p:cNvSpPr/>
            <p:nvPr/>
          </p:nvSpPr>
          <p:spPr>
            <a:xfrm>
              <a:off x="0" y="0"/>
              <a:ext cx="6212483" cy="3352998"/>
            </a:xfrm>
            <a:custGeom>
              <a:rect b="b" l="l" r="r" t="t"/>
              <a:pathLst>
                <a:path extrusionOk="0" h="3352998" w="6212483">
                  <a:moveTo>
                    <a:pt x="0" y="0"/>
                  </a:moveTo>
                  <a:lnTo>
                    <a:pt x="6212483" y="0"/>
                  </a:lnTo>
                  <a:lnTo>
                    <a:pt x="6212483" y="3352998"/>
                  </a:lnTo>
                  <a:lnTo>
                    <a:pt x="0" y="33529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0" name="Google Shape;240;p6"/>
            <p:cNvSpPr txBox="1"/>
            <p:nvPr/>
          </p:nvSpPr>
          <p:spPr>
            <a:xfrm>
              <a:off x="0" y="-133350"/>
              <a:ext cx="6212483" cy="34863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5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Utiliza la misma clave para cifrar y descifrar datos. Es rápida y eficiente, pero requiere que ambas partes compartan la clave.</a:t>
              </a:r>
              <a:endParaRPr/>
            </a:p>
          </p:txBody>
        </p:sp>
      </p:grpSp>
      <p:grpSp>
        <p:nvGrpSpPr>
          <p:cNvPr id="241" name="Google Shape;241;p6"/>
          <p:cNvGrpSpPr/>
          <p:nvPr/>
        </p:nvGrpSpPr>
        <p:grpSpPr>
          <a:xfrm>
            <a:off x="6515249" y="5831532"/>
            <a:ext cx="5257324" cy="3479197"/>
            <a:chOff x="0" y="0"/>
            <a:chExt cx="7009765" cy="4638929"/>
          </a:xfrm>
        </p:grpSpPr>
        <p:sp>
          <p:nvSpPr>
            <p:cNvPr id="242" name="Google Shape;242;p6"/>
            <p:cNvSpPr/>
            <p:nvPr/>
          </p:nvSpPr>
          <p:spPr>
            <a:xfrm>
              <a:off x="7874" y="7874"/>
              <a:ext cx="6994017" cy="4623054"/>
            </a:xfrm>
            <a:custGeom>
              <a:rect b="b" l="l" r="r" t="t"/>
              <a:pathLst>
                <a:path extrusionOk="0" h="4623054" w="6994017">
                  <a:moveTo>
                    <a:pt x="0" y="158877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6835013" y="0"/>
                  </a:lnTo>
                  <a:cubicBezTo>
                    <a:pt x="6922770" y="0"/>
                    <a:pt x="6994017" y="71120"/>
                    <a:pt x="6994017" y="158750"/>
                  </a:cubicBezTo>
                  <a:lnTo>
                    <a:pt x="6994017" y="4464304"/>
                  </a:lnTo>
                  <a:cubicBezTo>
                    <a:pt x="6994017" y="4552061"/>
                    <a:pt x="6922897" y="4623054"/>
                    <a:pt x="6835013" y="4623054"/>
                  </a:cubicBezTo>
                  <a:lnTo>
                    <a:pt x="159004" y="4623054"/>
                  </a:lnTo>
                  <a:cubicBezTo>
                    <a:pt x="71247" y="4623054"/>
                    <a:pt x="0" y="4551934"/>
                    <a:pt x="0" y="4464304"/>
                  </a:cubicBezTo>
                  <a:close/>
                </a:path>
              </a:pathLst>
            </a:custGeom>
            <a:solidFill>
              <a:srgbClr val="3D3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0" y="0"/>
              <a:ext cx="7009765" cy="4638929"/>
            </a:xfrm>
            <a:custGeom>
              <a:rect b="b" l="l" r="r" t="t"/>
              <a:pathLst>
                <a:path extrusionOk="0" h="4638929" w="7009765">
                  <a:moveTo>
                    <a:pt x="0" y="166751"/>
                  </a:moveTo>
                  <a:cubicBezTo>
                    <a:pt x="0" y="74676"/>
                    <a:pt x="74803" y="0"/>
                    <a:pt x="166878" y="0"/>
                  </a:cubicBezTo>
                  <a:lnTo>
                    <a:pt x="6842887" y="0"/>
                  </a:lnTo>
                  <a:lnTo>
                    <a:pt x="6842887" y="7874"/>
                  </a:lnTo>
                  <a:lnTo>
                    <a:pt x="6842887" y="0"/>
                  </a:lnTo>
                  <a:cubicBezTo>
                    <a:pt x="6935089" y="0"/>
                    <a:pt x="7009765" y="74676"/>
                    <a:pt x="7009765" y="166751"/>
                  </a:cubicBezTo>
                  <a:lnTo>
                    <a:pt x="7009765" y="4472178"/>
                  </a:lnTo>
                  <a:lnTo>
                    <a:pt x="7001891" y="4472178"/>
                  </a:lnTo>
                  <a:lnTo>
                    <a:pt x="7009765" y="4472178"/>
                  </a:lnTo>
                  <a:cubicBezTo>
                    <a:pt x="7009765" y="4564253"/>
                    <a:pt x="6934962" y="4638929"/>
                    <a:pt x="6842887" y="4638929"/>
                  </a:cubicBezTo>
                  <a:lnTo>
                    <a:pt x="6842887" y="4631055"/>
                  </a:lnTo>
                  <a:lnTo>
                    <a:pt x="6842887" y="4638929"/>
                  </a:lnTo>
                  <a:lnTo>
                    <a:pt x="166878" y="4638929"/>
                  </a:lnTo>
                  <a:lnTo>
                    <a:pt x="166878" y="4631055"/>
                  </a:lnTo>
                  <a:lnTo>
                    <a:pt x="166878" y="4638929"/>
                  </a:lnTo>
                  <a:cubicBezTo>
                    <a:pt x="74803" y="4638929"/>
                    <a:pt x="0" y="4564253"/>
                    <a:pt x="0" y="4472178"/>
                  </a:cubicBezTo>
                  <a:lnTo>
                    <a:pt x="0" y="166751"/>
                  </a:lnTo>
                  <a:lnTo>
                    <a:pt x="7874" y="166751"/>
                  </a:lnTo>
                  <a:lnTo>
                    <a:pt x="0" y="166751"/>
                  </a:lnTo>
                  <a:moveTo>
                    <a:pt x="15875" y="166751"/>
                  </a:moveTo>
                  <a:lnTo>
                    <a:pt x="15875" y="4472178"/>
                  </a:lnTo>
                  <a:lnTo>
                    <a:pt x="7874" y="4472178"/>
                  </a:lnTo>
                  <a:lnTo>
                    <a:pt x="15748" y="4472178"/>
                  </a:lnTo>
                  <a:cubicBezTo>
                    <a:pt x="15748" y="4555490"/>
                    <a:pt x="83312" y="4623054"/>
                    <a:pt x="166751" y="4623054"/>
                  </a:cubicBezTo>
                  <a:lnTo>
                    <a:pt x="6842887" y="4623054"/>
                  </a:lnTo>
                  <a:cubicBezTo>
                    <a:pt x="6926326" y="4623054"/>
                    <a:pt x="6993890" y="4555490"/>
                    <a:pt x="6993890" y="4472178"/>
                  </a:cubicBezTo>
                  <a:lnTo>
                    <a:pt x="6993890" y="166751"/>
                  </a:lnTo>
                  <a:lnTo>
                    <a:pt x="7001764" y="166751"/>
                  </a:lnTo>
                  <a:lnTo>
                    <a:pt x="6993890" y="166751"/>
                  </a:lnTo>
                  <a:cubicBezTo>
                    <a:pt x="6993890" y="83439"/>
                    <a:pt x="6926326" y="15875"/>
                    <a:pt x="6842887" y="15875"/>
                  </a:cubicBezTo>
                  <a:lnTo>
                    <a:pt x="166878" y="15875"/>
                  </a:lnTo>
                  <a:lnTo>
                    <a:pt x="166878" y="7874"/>
                  </a:lnTo>
                  <a:lnTo>
                    <a:pt x="166878" y="15875"/>
                  </a:lnTo>
                  <a:cubicBezTo>
                    <a:pt x="83439" y="15875"/>
                    <a:pt x="15875" y="83439"/>
                    <a:pt x="15875" y="166751"/>
                  </a:cubicBezTo>
                  <a:close/>
                </a:path>
              </a:pathLst>
            </a:custGeom>
            <a:solidFill>
              <a:srgbClr val="5656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4" name="Google Shape;244;p6"/>
          <p:cNvGrpSpPr/>
          <p:nvPr/>
        </p:nvGrpSpPr>
        <p:grpSpPr>
          <a:xfrm>
            <a:off x="6814245" y="5823919"/>
            <a:ext cx="4659363" cy="749523"/>
            <a:chOff x="0" y="-85725"/>
            <a:chExt cx="6212484" cy="999363"/>
          </a:xfrm>
        </p:grpSpPr>
        <p:sp>
          <p:nvSpPr>
            <p:cNvPr id="245" name="Google Shape;245;p6"/>
            <p:cNvSpPr/>
            <p:nvPr/>
          </p:nvSpPr>
          <p:spPr>
            <a:xfrm>
              <a:off x="0" y="0"/>
              <a:ext cx="6212484" cy="913638"/>
            </a:xfrm>
            <a:custGeom>
              <a:rect b="b" l="l" r="r" t="t"/>
              <a:pathLst>
                <a:path extrusionOk="0" h="913638" w="6212484">
                  <a:moveTo>
                    <a:pt x="0" y="0"/>
                  </a:moveTo>
                  <a:lnTo>
                    <a:pt x="6212484" y="0"/>
                  </a:lnTo>
                  <a:lnTo>
                    <a:pt x="6212484" y="913638"/>
                  </a:lnTo>
                  <a:lnTo>
                    <a:pt x="0" y="9136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6" name="Google Shape;246;p6"/>
            <p:cNvSpPr txBox="1"/>
            <p:nvPr/>
          </p:nvSpPr>
          <p:spPr>
            <a:xfrm>
              <a:off x="0" y="-85725"/>
              <a:ext cx="6212483" cy="999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Encriptación asimétrica</a:t>
              </a:r>
              <a:endParaRPr/>
            </a:p>
          </p:txBody>
        </p:sp>
      </p:grpSp>
      <p:grpSp>
        <p:nvGrpSpPr>
          <p:cNvPr id="247" name="Google Shape;247;p6"/>
          <p:cNvGrpSpPr/>
          <p:nvPr/>
        </p:nvGrpSpPr>
        <p:grpSpPr>
          <a:xfrm>
            <a:off x="6814245" y="6643539"/>
            <a:ext cx="4659362" cy="2667149"/>
            <a:chOff x="0" y="-133350"/>
            <a:chExt cx="6212483" cy="3556198"/>
          </a:xfrm>
        </p:grpSpPr>
        <p:sp>
          <p:nvSpPr>
            <p:cNvPr id="248" name="Google Shape;248;p6"/>
            <p:cNvSpPr/>
            <p:nvPr/>
          </p:nvSpPr>
          <p:spPr>
            <a:xfrm>
              <a:off x="0" y="0"/>
              <a:ext cx="6212483" cy="3422847"/>
            </a:xfrm>
            <a:custGeom>
              <a:rect b="b" l="l" r="r" t="t"/>
              <a:pathLst>
                <a:path extrusionOk="0" h="3422847" w="6212483">
                  <a:moveTo>
                    <a:pt x="0" y="0"/>
                  </a:moveTo>
                  <a:lnTo>
                    <a:pt x="6212483" y="0"/>
                  </a:lnTo>
                  <a:lnTo>
                    <a:pt x="6212483" y="3422847"/>
                  </a:lnTo>
                  <a:lnTo>
                    <a:pt x="0" y="34228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9" name="Google Shape;249;p6"/>
            <p:cNvSpPr txBox="1"/>
            <p:nvPr/>
          </p:nvSpPr>
          <p:spPr>
            <a:xfrm>
              <a:off x="0" y="-133350"/>
              <a:ext cx="6212483" cy="3556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5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Utiliza dos claves diferentes, una pública y otra privada. La clave pública se utiliza para cifrar datos, mientras que la privada se utiliza para descifrarlos.</a:t>
              </a:r>
              <a:endParaRPr/>
            </a:p>
          </p:txBody>
        </p:sp>
      </p:grpSp>
      <p:grpSp>
        <p:nvGrpSpPr>
          <p:cNvPr id="250" name="Google Shape;250;p6"/>
          <p:cNvGrpSpPr/>
          <p:nvPr/>
        </p:nvGrpSpPr>
        <p:grpSpPr>
          <a:xfrm>
            <a:off x="12044213" y="5831532"/>
            <a:ext cx="5257324" cy="3479197"/>
            <a:chOff x="0" y="0"/>
            <a:chExt cx="7009765" cy="4638929"/>
          </a:xfrm>
        </p:grpSpPr>
        <p:sp>
          <p:nvSpPr>
            <p:cNvPr id="251" name="Google Shape;251;p6"/>
            <p:cNvSpPr/>
            <p:nvPr/>
          </p:nvSpPr>
          <p:spPr>
            <a:xfrm>
              <a:off x="7874" y="7874"/>
              <a:ext cx="6994017" cy="4623054"/>
            </a:xfrm>
            <a:custGeom>
              <a:rect b="b" l="l" r="r" t="t"/>
              <a:pathLst>
                <a:path extrusionOk="0" h="4623054" w="6994017">
                  <a:moveTo>
                    <a:pt x="0" y="158877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6835013" y="0"/>
                  </a:lnTo>
                  <a:cubicBezTo>
                    <a:pt x="6922770" y="0"/>
                    <a:pt x="6994017" y="71120"/>
                    <a:pt x="6994017" y="158750"/>
                  </a:cubicBezTo>
                  <a:lnTo>
                    <a:pt x="6994017" y="4464304"/>
                  </a:lnTo>
                  <a:cubicBezTo>
                    <a:pt x="6994017" y="4552061"/>
                    <a:pt x="6922897" y="4623054"/>
                    <a:pt x="6835013" y="4623054"/>
                  </a:cubicBezTo>
                  <a:lnTo>
                    <a:pt x="159004" y="4623054"/>
                  </a:lnTo>
                  <a:cubicBezTo>
                    <a:pt x="71247" y="4623054"/>
                    <a:pt x="0" y="4551934"/>
                    <a:pt x="0" y="4464304"/>
                  </a:cubicBezTo>
                  <a:close/>
                </a:path>
              </a:pathLst>
            </a:custGeom>
            <a:solidFill>
              <a:srgbClr val="3D3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6"/>
            <p:cNvSpPr/>
            <p:nvPr/>
          </p:nvSpPr>
          <p:spPr>
            <a:xfrm>
              <a:off x="0" y="0"/>
              <a:ext cx="7009765" cy="4638929"/>
            </a:xfrm>
            <a:custGeom>
              <a:rect b="b" l="l" r="r" t="t"/>
              <a:pathLst>
                <a:path extrusionOk="0" h="4638929" w="7009765">
                  <a:moveTo>
                    <a:pt x="0" y="166751"/>
                  </a:moveTo>
                  <a:cubicBezTo>
                    <a:pt x="0" y="74676"/>
                    <a:pt x="74803" y="0"/>
                    <a:pt x="166878" y="0"/>
                  </a:cubicBezTo>
                  <a:lnTo>
                    <a:pt x="6842887" y="0"/>
                  </a:lnTo>
                  <a:lnTo>
                    <a:pt x="6842887" y="7874"/>
                  </a:lnTo>
                  <a:lnTo>
                    <a:pt x="6842887" y="0"/>
                  </a:lnTo>
                  <a:cubicBezTo>
                    <a:pt x="6935089" y="0"/>
                    <a:pt x="7009765" y="74676"/>
                    <a:pt x="7009765" y="166751"/>
                  </a:cubicBezTo>
                  <a:lnTo>
                    <a:pt x="7009765" y="4472178"/>
                  </a:lnTo>
                  <a:lnTo>
                    <a:pt x="7001891" y="4472178"/>
                  </a:lnTo>
                  <a:lnTo>
                    <a:pt x="7009765" y="4472178"/>
                  </a:lnTo>
                  <a:cubicBezTo>
                    <a:pt x="7009765" y="4564253"/>
                    <a:pt x="6934962" y="4638929"/>
                    <a:pt x="6842887" y="4638929"/>
                  </a:cubicBezTo>
                  <a:lnTo>
                    <a:pt x="6842887" y="4631055"/>
                  </a:lnTo>
                  <a:lnTo>
                    <a:pt x="6842887" y="4638929"/>
                  </a:lnTo>
                  <a:lnTo>
                    <a:pt x="166878" y="4638929"/>
                  </a:lnTo>
                  <a:lnTo>
                    <a:pt x="166878" y="4631055"/>
                  </a:lnTo>
                  <a:lnTo>
                    <a:pt x="166878" y="4638929"/>
                  </a:lnTo>
                  <a:cubicBezTo>
                    <a:pt x="74803" y="4638929"/>
                    <a:pt x="0" y="4564253"/>
                    <a:pt x="0" y="4472178"/>
                  </a:cubicBezTo>
                  <a:lnTo>
                    <a:pt x="0" y="166751"/>
                  </a:lnTo>
                  <a:lnTo>
                    <a:pt x="7874" y="166751"/>
                  </a:lnTo>
                  <a:lnTo>
                    <a:pt x="0" y="166751"/>
                  </a:lnTo>
                  <a:moveTo>
                    <a:pt x="15875" y="166751"/>
                  </a:moveTo>
                  <a:lnTo>
                    <a:pt x="15875" y="4472178"/>
                  </a:lnTo>
                  <a:lnTo>
                    <a:pt x="7874" y="4472178"/>
                  </a:lnTo>
                  <a:lnTo>
                    <a:pt x="15748" y="4472178"/>
                  </a:lnTo>
                  <a:cubicBezTo>
                    <a:pt x="15748" y="4555490"/>
                    <a:pt x="83312" y="4623054"/>
                    <a:pt x="166751" y="4623054"/>
                  </a:cubicBezTo>
                  <a:lnTo>
                    <a:pt x="6842887" y="4623054"/>
                  </a:lnTo>
                  <a:cubicBezTo>
                    <a:pt x="6926326" y="4623054"/>
                    <a:pt x="6993890" y="4555490"/>
                    <a:pt x="6993890" y="4472178"/>
                  </a:cubicBezTo>
                  <a:lnTo>
                    <a:pt x="6993890" y="166751"/>
                  </a:lnTo>
                  <a:lnTo>
                    <a:pt x="7001764" y="166751"/>
                  </a:lnTo>
                  <a:lnTo>
                    <a:pt x="6993890" y="166751"/>
                  </a:lnTo>
                  <a:cubicBezTo>
                    <a:pt x="6993890" y="83439"/>
                    <a:pt x="6926326" y="15875"/>
                    <a:pt x="6842887" y="15875"/>
                  </a:cubicBezTo>
                  <a:lnTo>
                    <a:pt x="166878" y="15875"/>
                  </a:lnTo>
                  <a:lnTo>
                    <a:pt x="166878" y="7874"/>
                  </a:lnTo>
                  <a:lnTo>
                    <a:pt x="166878" y="15875"/>
                  </a:lnTo>
                  <a:cubicBezTo>
                    <a:pt x="83439" y="15875"/>
                    <a:pt x="15875" y="83439"/>
                    <a:pt x="15875" y="166751"/>
                  </a:cubicBezTo>
                  <a:close/>
                </a:path>
              </a:pathLst>
            </a:custGeom>
            <a:solidFill>
              <a:srgbClr val="5656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3" name="Google Shape;253;p6"/>
          <p:cNvGrpSpPr/>
          <p:nvPr/>
        </p:nvGrpSpPr>
        <p:grpSpPr>
          <a:xfrm>
            <a:off x="12343210" y="5767238"/>
            <a:ext cx="3544044" cy="990169"/>
            <a:chOff x="0" y="-85725"/>
            <a:chExt cx="4725392" cy="1320225"/>
          </a:xfrm>
        </p:grpSpPr>
        <p:sp>
          <p:nvSpPr>
            <p:cNvPr id="254" name="Google Shape;254;p6"/>
            <p:cNvSpPr/>
            <p:nvPr/>
          </p:nvSpPr>
          <p:spPr>
            <a:xfrm>
              <a:off x="0" y="0"/>
              <a:ext cx="4725392" cy="1234500"/>
            </a:xfrm>
            <a:custGeom>
              <a:rect b="b" l="l" r="r" t="t"/>
              <a:pathLst>
                <a:path extrusionOk="0" h="123450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1234500"/>
                  </a:lnTo>
                  <a:lnTo>
                    <a:pt x="0" y="1234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55" name="Google Shape;255;p6"/>
            <p:cNvSpPr txBox="1"/>
            <p:nvPr/>
          </p:nvSpPr>
          <p:spPr>
            <a:xfrm>
              <a:off x="0" y="-85725"/>
              <a:ext cx="4725392" cy="1320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Funciones hash</a:t>
              </a:r>
              <a:endParaRPr/>
            </a:p>
          </p:txBody>
        </p:sp>
      </p:grpSp>
      <p:grpSp>
        <p:nvGrpSpPr>
          <p:cNvPr id="256" name="Google Shape;256;p6"/>
          <p:cNvGrpSpPr/>
          <p:nvPr/>
        </p:nvGrpSpPr>
        <p:grpSpPr>
          <a:xfrm>
            <a:off x="12343210" y="6643538"/>
            <a:ext cx="4659362" cy="2368154"/>
            <a:chOff x="0" y="-133350"/>
            <a:chExt cx="6212483" cy="3157538"/>
          </a:xfrm>
        </p:grpSpPr>
        <p:sp>
          <p:nvSpPr>
            <p:cNvPr id="257" name="Google Shape;257;p6"/>
            <p:cNvSpPr/>
            <p:nvPr/>
          </p:nvSpPr>
          <p:spPr>
            <a:xfrm>
              <a:off x="0" y="0"/>
              <a:ext cx="6212483" cy="3024188"/>
            </a:xfrm>
            <a:custGeom>
              <a:rect b="b" l="l" r="r" t="t"/>
              <a:pathLst>
                <a:path extrusionOk="0" h="3024188" w="6212483">
                  <a:moveTo>
                    <a:pt x="0" y="0"/>
                  </a:moveTo>
                  <a:lnTo>
                    <a:pt x="6212483" y="0"/>
                  </a:lnTo>
                  <a:lnTo>
                    <a:pt x="6212483" y="3024188"/>
                  </a:lnTo>
                  <a:lnTo>
                    <a:pt x="0" y="30241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58" name="Google Shape;258;p6"/>
            <p:cNvSpPr txBox="1"/>
            <p:nvPr/>
          </p:nvSpPr>
          <p:spPr>
            <a:xfrm>
              <a:off x="0" y="-133350"/>
              <a:ext cx="6212483" cy="3157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5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Generan una huella digital única para los datos, asegurando su integridad y autenticidad. Son unidireccionales, lo que significa que no se pueden revertir.</a:t>
              </a:r>
              <a:endParaRPr/>
            </a:p>
          </p:txBody>
        </p:sp>
      </p:grpSp>
      <p:sp>
        <p:nvSpPr>
          <p:cNvPr id="259" name="Google Shape;259;p6"/>
          <p:cNvSpPr/>
          <p:nvPr/>
        </p:nvSpPr>
        <p:spPr>
          <a:xfrm>
            <a:off x="1028700" y="9463087"/>
            <a:ext cx="2728988" cy="487567"/>
          </a:xfrm>
          <a:custGeom>
            <a:rect b="b" l="l" r="r" t="t"/>
            <a:pathLst>
              <a:path extrusionOk="0"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7"/>
                </a:lnTo>
                <a:lnTo>
                  <a:pt x="0" y="4875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9191A"/>
          </a:solidFill>
          <a:ln>
            <a:noFill/>
          </a:ln>
        </p:spPr>
      </p:sp>
      <p:sp>
        <p:nvSpPr>
          <p:cNvPr id="269" name="Google Shape;269;p7"/>
          <p:cNvSpPr/>
          <p:nvPr/>
        </p:nvSpPr>
        <p:spPr>
          <a:xfrm>
            <a:off x="0" y="-15240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161719"/>
              </a:gs>
              <a:gs pos="100000">
                <a:srgbClr val="000000"/>
              </a:gs>
            </a:gsLst>
            <a:lin ang="0" scaled="0"/>
          </a:gradFill>
          <a:ln>
            <a:noFill/>
          </a:ln>
        </p:spPr>
      </p:sp>
      <p:grpSp>
        <p:nvGrpSpPr>
          <p:cNvPr id="270" name="Google Shape;270;p7"/>
          <p:cNvGrpSpPr/>
          <p:nvPr/>
        </p:nvGrpSpPr>
        <p:grpSpPr>
          <a:xfrm>
            <a:off x="750756" y="604687"/>
            <a:ext cx="5321956" cy="3033274"/>
            <a:chOff x="0" y="-142875"/>
            <a:chExt cx="7095941" cy="4044366"/>
          </a:xfrm>
        </p:grpSpPr>
        <p:sp>
          <p:nvSpPr>
            <p:cNvPr id="271" name="Google Shape;271;p7"/>
            <p:cNvSpPr/>
            <p:nvPr/>
          </p:nvSpPr>
          <p:spPr>
            <a:xfrm>
              <a:off x="0" y="0"/>
              <a:ext cx="7095941" cy="3901491"/>
            </a:xfrm>
            <a:custGeom>
              <a:rect b="b" l="l" r="r" t="t"/>
              <a:pathLst>
                <a:path extrusionOk="0" h="3901491" w="7095941">
                  <a:moveTo>
                    <a:pt x="0" y="0"/>
                  </a:moveTo>
                  <a:lnTo>
                    <a:pt x="7095941" y="0"/>
                  </a:lnTo>
                  <a:lnTo>
                    <a:pt x="7095941" y="3901491"/>
                  </a:lnTo>
                  <a:lnTo>
                    <a:pt x="0" y="39014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2" name="Google Shape;272;p7"/>
            <p:cNvSpPr txBox="1"/>
            <p:nvPr/>
          </p:nvSpPr>
          <p:spPr>
            <a:xfrm>
              <a:off x="0" y="-142875"/>
              <a:ext cx="7095940" cy="4044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96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00" u="none" cap="none" strike="noStrike">
                  <a:solidFill>
                    <a:srgbClr val="F2F2F3"/>
                  </a:solidFill>
                  <a:latin typeface="Arial"/>
                  <a:ea typeface="Arial"/>
                  <a:cs typeface="Arial"/>
                  <a:sym typeface="Arial"/>
                </a:rPr>
                <a:t>CRIPTOGRAFÍA SIMÉTRICA Y ASIMÉTRICA</a:t>
              </a:r>
              <a:endParaRPr/>
            </a:p>
          </p:txBody>
        </p:sp>
      </p:grpSp>
      <p:grpSp>
        <p:nvGrpSpPr>
          <p:cNvPr id="273" name="Google Shape;273;p7"/>
          <p:cNvGrpSpPr/>
          <p:nvPr/>
        </p:nvGrpSpPr>
        <p:grpSpPr>
          <a:xfrm>
            <a:off x="992237" y="4025494"/>
            <a:ext cx="3544044" cy="742379"/>
            <a:chOff x="0" y="-76200"/>
            <a:chExt cx="4725392" cy="989838"/>
          </a:xfrm>
        </p:grpSpPr>
        <p:sp>
          <p:nvSpPr>
            <p:cNvPr id="274" name="Google Shape;274;p7"/>
            <p:cNvSpPr/>
            <p:nvPr/>
          </p:nvSpPr>
          <p:spPr>
            <a:xfrm>
              <a:off x="0" y="0"/>
              <a:ext cx="4725392" cy="913638"/>
            </a:xfrm>
            <a:custGeom>
              <a:rect b="b" l="l" r="r" t="t"/>
              <a:pathLst>
                <a:path extrusionOk="0" h="913638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913638"/>
                  </a:lnTo>
                  <a:lnTo>
                    <a:pt x="0" y="9136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5" name="Google Shape;275;p7"/>
            <p:cNvSpPr txBox="1"/>
            <p:nvPr/>
          </p:nvSpPr>
          <p:spPr>
            <a:xfrm>
              <a:off x="0" y="-76200"/>
              <a:ext cx="4725392" cy="989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F2F2F3"/>
                  </a:solidFill>
                  <a:latin typeface="Arial"/>
                  <a:ea typeface="Arial"/>
                  <a:cs typeface="Arial"/>
                  <a:sym typeface="Arial"/>
                </a:rPr>
                <a:t>Simétrica</a:t>
              </a:r>
              <a:endParaRPr/>
            </a:p>
          </p:txBody>
        </p:sp>
      </p:grpSp>
      <p:grpSp>
        <p:nvGrpSpPr>
          <p:cNvPr id="276" name="Google Shape;276;p7"/>
          <p:cNvGrpSpPr/>
          <p:nvPr/>
        </p:nvGrpSpPr>
        <p:grpSpPr>
          <a:xfrm>
            <a:off x="992237" y="4876800"/>
            <a:ext cx="7322924" cy="1630165"/>
            <a:chOff x="0" y="-152400"/>
            <a:chExt cx="9763899" cy="2173553"/>
          </a:xfrm>
        </p:grpSpPr>
        <p:sp>
          <p:nvSpPr>
            <p:cNvPr id="277" name="Google Shape;277;p7"/>
            <p:cNvSpPr/>
            <p:nvPr/>
          </p:nvSpPr>
          <p:spPr>
            <a:xfrm>
              <a:off x="0" y="0"/>
              <a:ext cx="9763899" cy="2021153"/>
            </a:xfrm>
            <a:custGeom>
              <a:rect b="b" l="l" r="r" t="t"/>
              <a:pathLst>
                <a:path extrusionOk="0" h="2021153" w="9763899">
                  <a:moveTo>
                    <a:pt x="0" y="0"/>
                  </a:moveTo>
                  <a:lnTo>
                    <a:pt x="9763899" y="0"/>
                  </a:lnTo>
                  <a:lnTo>
                    <a:pt x="9763899" y="2021153"/>
                  </a:lnTo>
                  <a:lnTo>
                    <a:pt x="0" y="20211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8" name="Google Shape;278;p7"/>
            <p:cNvSpPr txBox="1"/>
            <p:nvPr/>
          </p:nvSpPr>
          <p:spPr>
            <a:xfrm>
              <a:off x="0" y="-152400"/>
              <a:ext cx="9763899" cy="2173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954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La clave se comparte entre el emisor y el receptor. Es eficiente, pero la seguridad depende de la protección de la clave.</a:t>
              </a:r>
              <a:endParaRPr/>
            </a:p>
          </p:txBody>
        </p:sp>
      </p:grpSp>
      <p:grpSp>
        <p:nvGrpSpPr>
          <p:cNvPr id="279" name="Google Shape;279;p7"/>
          <p:cNvGrpSpPr/>
          <p:nvPr/>
        </p:nvGrpSpPr>
        <p:grpSpPr>
          <a:xfrm>
            <a:off x="992237" y="6954788"/>
            <a:ext cx="3544044" cy="831152"/>
            <a:chOff x="0" y="-76200"/>
            <a:chExt cx="4725392" cy="1108203"/>
          </a:xfrm>
        </p:grpSpPr>
        <p:sp>
          <p:nvSpPr>
            <p:cNvPr id="280" name="Google Shape;280;p7"/>
            <p:cNvSpPr/>
            <p:nvPr/>
          </p:nvSpPr>
          <p:spPr>
            <a:xfrm>
              <a:off x="0" y="0"/>
              <a:ext cx="4725392" cy="1032003"/>
            </a:xfrm>
            <a:custGeom>
              <a:rect b="b" l="l" r="r" t="t"/>
              <a:pathLst>
                <a:path extrusionOk="0" h="1032003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1032003"/>
                  </a:lnTo>
                  <a:lnTo>
                    <a:pt x="0" y="10320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81" name="Google Shape;281;p7"/>
            <p:cNvSpPr txBox="1"/>
            <p:nvPr/>
          </p:nvSpPr>
          <p:spPr>
            <a:xfrm>
              <a:off x="0" y="-76200"/>
              <a:ext cx="4725392" cy="1108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F2F2F3"/>
                  </a:solidFill>
                  <a:latin typeface="Arial"/>
                  <a:ea typeface="Arial"/>
                  <a:cs typeface="Arial"/>
                  <a:sym typeface="Arial"/>
                </a:rPr>
                <a:t>Asimétrica</a:t>
              </a:r>
              <a:endParaRPr/>
            </a:p>
          </p:txBody>
        </p:sp>
      </p:grpSp>
      <p:grpSp>
        <p:nvGrpSpPr>
          <p:cNvPr id="282" name="Google Shape;282;p7"/>
          <p:cNvGrpSpPr/>
          <p:nvPr/>
        </p:nvGrpSpPr>
        <p:grpSpPr>
          <a:xfrm>
            <a:off x="992237" y="7691682"/>
            <a:ext cx="7322924" cy="1630165"/>
            <a:chOff x="0" y="-152400"/>
            <a:chExt cx="9763899" cy="2173553"/>
          </a:xfrm>
        </p:grpSpPr>
        <p:sp>
          <p:nvSpPr>
            <p:cNvPr id="283" name="Google Shape;283;p7"/>
            <p:cNvSpPr/>
            <p:nvPr/>
          </p:nvSpPr>
          <p:spPr>
            <a:xfrm>
              <a:off x="0" y="0"/>
              <a:ext cx="9763899" cy="2021153"/>
            </a:xfrm>
            <a:custGeom>
              <a:rect b="b" l="l" r="r" t="t"/>
              <a:pathLst>
                <a:path extrusionOk="0" h="2021153" w="9763899">
                  <a:moveTo>
                    <a:pt x="0" y="0"/>
                  </a:moveTo>
                  <a:lnTo>
                    <a:pt x="9763899" y="0"/>
                  </a:lnTo>
                  <a:lnTo>
                    <a:pt x="9763899" y="2021153"/>
                  </a:lnTo>
                  <a:lnTo>
                    <a:pt x="0" y="20211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84" name="Google Shape;284;p7"/>
            <p:cNvSpPr txBox="1"/>
            <p:nvPr/>
          </p:nvSpPr>
          <p:spPr>
            <a:xfrm>
              <a:off x="0" y="-152400"/>
              <a:ext cx="9763899" cy="2173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954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Utiliza dos claves, una pública y otra privada. La clave pública se puede compartir, mientras que la privada se mantiene en secreto.</a:t>
              </a:r>
              <a:endParaRPr/>
            </a:p>
          </p:txBody>
        </p:sp>
      </p:grpSp>
      <p:grpSp>
        <p:nvGrpSpPr>
          <p:cNvPr id="285" name="Google Shape;285;p7"/>
          <p:cNvGrpSpPr/>
          <p:nvPr/>
        </p:nvGrpSpPr>
        <p:grpSpPr>
          <a:xfrm>
            <a:off x="9144000" y="583407"/>
            <a:ext cx="6257976" cy="2531412"/>
            <a:chOff x="0" y="-142875"/>
            <a:chExt cx="8343968" cy="3375217"/>
          </a:xfrm>
        </p:grpSpPr>
        <p:sp>
          <p:nvSpPr>
            <p:cNvPr id="286" name="Google Shape;286;p7"/>
            <p:cNvSpPr/>
            <p:nvPr/>
          </p:nvSpPr>
          <p:spPr>
            <a:xfrm>
              <a:off x="0" y="0"/>
              <a:ext cx="8343968" cy="3232342"/>
            </a:xfrm>
            <a:custGeom>
              <a:rect b="b" l="l" r="r" t="t"/>
              <a:pathLst>
                <a:path extrusionOk="0" h="3232342" w="8343968">
                  <a:moveTo>
                    <a:pt x="0" y="0"/>
                  </a:moveTo>
                  <a:lnTo>
                    <a:pt x="8343968" y="0"/>
                  </a:lnTo>
                  <a:lnTo>
                    <a:pt x="8343968" y="3232342"/>
                  </a:lnTo>
                  <a:lnTo>
                    <a:pt x="0" y="323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87" name="Google Shape;287;p7"/>
            <p:cNvSpPr txBox="1"/>
            <p:nvPr/>
          </p:nvSpPr>
          <p:spPr>
            <a:xfrm>
              <a:off x="0" y="-142875"/>
              <a:ext cx="8343968" cy="3375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96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00" u="none" cap="none" strike="noStrike">
                  <a:solidFill>
                    <a:srgbClr val="F2F2F3"/>
                  </a:solidFill>
                  <a:latin typeface="Arial"/>
                  <a:ea typeface="Arial"/>
                  <a:cs typeface="Arial"/>
                  <a:sym typeface="Arial"/>
                </a:rPr>
                <a:t>APLICACIONES DE LA ENCRIPTACIÓN</a:t>
              </a:r>
              <a:endParaRPr/>
            </a:p>
          </p:txBody>
        </p:sp>
      </p:grpSp>
      <p:grpSp>
        <p:nvGrpSpPr>
          <p:cNvPr id="288" name="Google Shape;288;p7"/>
          <p:cNvGrpSpPr/>
          <p:nvPr/>
        </p:nvGrpSpPr>
        <p:grpSpPr>
          <a:xfrm>
            <a:off x="9144000" y="3307057"/>
            <a:ext cx="649796" cy="649796"/>
            <a:chOff x="0" y="0"/>
            <a:chExt cx="866394" cy="866394"/>
          </a:xfrm>
        </p:grpSpPr>
        <p:sp>
          <p:nvSpPr>
            <p:cNvPr id="289" name="Google Shape;289;p7"/>
            <p:cNvSpPr/>
            <p:nvPr/>
          </p:nvSpPr>
          <p:spPr>
            <a:xfrm>
              <a:off x="7874" y="8001"/>
              <a:ext cx="850519" cy="850392"/>
            </a:xfrm>
            <a:custGeom>
              <a:rect b="b" l="l" r="r" t="t"/>
              <a:pathLst>
                <a:path extrusionOk="0" h="850392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642"/>
                  </a:lnTo>
                  <a:cubicBezTo>
                    <a:pt x="850519" y="779272"/>
                    <a:pt x="779399" y="850392"/>
                    <a:pt x="691769" y="850392"/>
                  </a:cubicBezTo>
                  <a:lnTo>
                    <a:pt x="158877" y="850392"/>
                  </a:lnTo>
                  <a:cubicBezTo>
                    <a:pt x="71247" y="850392"/>
                    <a:pt x="127" y="779272"/>
                    <a:pt x="127" y="691642"/>
                  </a:cubicBezTo>
                  <a:close/>
                </a:path>
              </a:pathLst>
            </a:custGeom>
            <a:solidFill>
              <a:srgbClr val="3D3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7"/>
            <p:cNvSpPr/>
            <p:nvPr/>
          </p:nvSpPr>
          <p:spPr>
            <a:xfrm>
              <a:off x="0" y="0"/>
              <a:ext cx="866394" cy="866394"/>
            </a:xfrm>
            <a:custGeom>
              <a:rect b="b" l="l" r="r" t="t"/>
              <a:pathLst>
                <a:path extrusionOk="0" h="866394" w="866394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cubicBezTo>
                    <a:pt x="791718" y="0"/>
                    <a:pt x="866394" y="74676"/>
                    <a:pt x="866394" y="166751"/>
                  </a:cubicBezTo>
                  <a:lnTo>
                    <a:pt x="866394" y="699643"/>
                  </a:lnTo>
                  <a:lnTo>
                    <a:pt x="858520" y="699643"/>
                  </a:lnTo>
                  <a:lnTo>
                    <a:pt x="866394" y="699643"/>
                  </a:lnTo>
                  <a:cubicBezTo>
                    <a:pt x="866394" y="791718"/>
                    <a:pt x="791718" y="866394"/>
                    <a:pt x="699643" y="866394"/>
                  </a:cubicBezTo>
                  <a:lnTo>
                    <a:pt x="699643" y="858520"/>
                  </a:lnTo>
                  <a:lnTo>
                    <a:pt x="699643" y="866394"/>
                  </a:lnTo>
                  <a:lnTo>
                    <a:pt x="166751" y="866394"/>
                  </a:lnTo>
                  <a:lnTo>
                    <a:pt x="166751" y="858520"/>
                  </a:lnTo>
                  <a:lnTo>
                    <a:pt x="166751" y="866394"/>
                  </a:lnTo>
                  <a:cubicBezTo>
                    <a:pt x="74676" y="866394"/>
                    <a:pt x="0" y="791718"/>
                    <a:pt x="0" y="699643"/>
                  </a:cubicBezTo>
                  <a:lnTo>
                    <a:pt x="0" y="166751"/>
                  </a:lnTo>
                  <a:lnTo>
                    <a:pt x="7874" y="166751"/>
                  </a:lnTo>
                  <a:lnTo>
                    <a:pt x="0" y="166751"/>
                  </a:lnTo>
                  <a:moveTo>
                    <a:pt x="15875" y="166751"/>
                  </a:moveTo>
                  <a:lnTo>
                    <a:pt x="15875" y="699643"/>
                  </a:lnTo>
                  <a:lnTo>
                    <a:pt x="7874" y="699643"/>
                  </a:lnTo>
                  <a:lnTo>
                    <a:pt x="15748" y="699643"/>
                  </a:lnTo>
                  <a:cubicBezTo>
                    <a:pt x="15748" y="782955"/>
                    <a:pt x="83312" y="850519"/>
                    <a:pt x="166624" y="850519"/>
                  </a:cubicBezTo>
                  <a:lnTo>
                    <a:pt x="699643" y="850519"/>
                  </a:lnTo>
                  <a:cubicBezTo>
                    <a:pt x="782955" y="850519"/>
                    <a:pt x="850519" y="782955"/>
                    <a:pt x="850519" y="699643"/>
                  </a:cubicBezTo>
                  <a:lnTo>
                    <a:pt x="850519" y="166751"/>
                  </a:lnTo>
                  <a:lnTo>
                    <a:pt x="858393" y="166751"/>
                  </a:lnTo>
                  <a:lnTo>
                    <a:pt x="850519" y="166751"/>
                  </a:lnTo>
                  <a:cubicBezTo>
                    <a:pt x="850519" y="83439"/>
                    <a:pt x="782955" y="15875"/>
                    <a:pt x="699643" y="15875"/>
                  </a:cubicBezTo>
                  <a:lnTo>
                    <a:pt x="166751" y="15875"/>
                  </a:lnTo>
                  <a:lnTo>
                    <a:pt x="166751" y="7874"/>
                  </a:lnTo>
                  <a:lnTo>
                    <a:pt x="166751" y="15748"/>
                  </a:lnTo>
                  <a:cubicBezTo>
                    <a:pt x="83439" y="15875"/>
                    <a:pt x="15875" y="83439"/>
                    <a:pt x="15875" y="166751"/>
                  </a:cubicBezTo>
                  <a:close/>
                </a:path>
              </a:pathLst>
            </a:custGeom>
            <a:solidFill>
              <a:srgbClr val="5656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1" name="Google Shape;291;p7"/>
          <p:cNvGrpSpPr/>
          <p:nvPr/>
        </p:nvGrpSpPr>
        <p:grpSpPr>
          <a:xfrm>
            <a:off x="10071348" y="2904007"/>
            <a:ext cx="3659685" cy="1294829"/>
            <a:chOff x="0" y="-114300"/>
            <a:chExt cx="4879579" cy="1726438"/>
          </a:xfrm>
        </p:grpSpPr>
        <p:sp>
          <p:nvSpPr>
            <p:cNvPr id="292" name="Google Shape;292;p7"/>
            <p:cNvSpPr/>
            <p:nvPr/>
          </p:nvSpPr>
          <p:spPr>
            <a:xfrm>
              <a:off x="0" y="0"/>
              <a:ext cx="4879579" cy="1612138"/>
            </a:xfrm>
            <a:custGeom>
              <a:rect b="b" l="l" r="r" t="t"/>
              <a:pathLst>
                <a:path extrusionOk="0" h="1612138" w="4879579">
                  <a:moveTo>
                    <a:pt x="0" y="0"/>
                  </a:moveTo>
                  <a:lnTo>
                    <a:pt x="4879579" y="0"/>
                  </a:lnTo>
                  <a:lnTo>
                    <a:pt x="4879579" y="1612138"/>
                  </a:lnTo>
                  <a:lnTo>
                    <a:pt x="0" y="16121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3" name="Google Shape;293;p7"/>
            <p:cNvSpPr txBox="1"/>
            <p:nvPr/>
          </p:nvSpPr>
          <p:spPr>
            <a:xfrm>
              <a:off x="0" y="-114300"/>
              <a:ext cx="4879578" cy="1726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E5E0D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Comunicación segura</a:t>
              </a:r>
              <a:endParaRPr/>
            </a:p>
          </p:txBody>
        </p:sp>
      </p:grpSp>
      <p:grpSp>
        <p:nvGrpSpPr>
          <p:cNvPr id="294" name="Google Shape;294;p7"/>
          <p:cNvGrpSpPr/>
          <p:nvPr/>
        </p:nvGrpSpPr>
        <p:grpSpPr>
          <a:xfrm>
            <a:off x="10071348" y="4247503"/>
            <a:ext cx="3416013" cy="1685388"/>
            <a:chOff x="0" y="-161925"/>
            <a:chExt cx="4554684" cy="2247184"/>
          </a:xfrm>
        </p:grpSpPr>
        <p:sp>
          <p:nvSpPr>
            <p:cNvPr id="295" name="Google Shape;295;p7"/>
            <p:cNvSpPr/>
            <p:nvPr/>
          </p:nvSpPr>
          <p:spPr>
            <a:xfrm>
              <a:off x="0" y="0"/>
              <a:ext cx="4554684" cy="2085259"/>
            </a:xfrm>
            <a:custGeom>
              <a:rect b="b" l="l" r="r" t="t"/>
              <a:pathLst>
                <a:path extrusionOk="0" h="2085259" w="4554684">
                  <a:moveTo>
                    <a:pt x="0" y="0"/>
                  </a:moveTo>
                  <a:lnTo>
                    <a:pt x="4554684" y="0"/>
                  </a:lnTo>
                  <a:lnTo>
                    <a:pt x="4554684" y="2085259"/>
                  </a:lnTo>
                  <a:lnTo>
                    <a:pt x="0" y="20852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6" name="Google Shape;296;p7"/>
            <p:cNvSpPr txBox="1"/>
            <p:nvPr/>
          </p:nvSpPr>
          <p:spPr>
            <a:xfrm>
              <a:off x="0" y="-161925"/>
              <a:ext cx="4554684" cy="2247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54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La encriptación protege las comunicaciones de las escuchas.</a:t>
              </a:r>
              <a:endParaRPr/>
            </a:p>
          </p:txBody>
        </p:sp>
      </p:grpSp>
      <p:grpSp>
        <p:nvGrpSpPr>
          <p:cNvPr id="297" name="Google Shape;297;p7"/>
          <p:cNvGrpSpPr/>
          <p:nvPr/>
        </p:nvGrpSpPr>
        <p:grpSpPr>
          <a:xfrm>
            <a:off x="14008596" y="3307057"/>
            <a:ext cx="649796" cy="649796"/>
            <a:chOff x="0" y="0"/>
            <a:chExt cx="866394" cy="866394"/>
          </a:xfrm>
        </p:grpSpPr>
        <p:sp>
          <p:nvSpPr>
            <p:cNvPr id="298" name="Google Shape;298;p7"/>
            <p:cNvSpPr/>
            <p:nvPr/>
          </p:nvSpPr>
          <p:spPr>
            <a:xfrm>
              <a:off x="7874" y="8001"/>
              <a:ext cx="850519" cy="850392"/>
            </a:xfrm>
            <a:custGeom>
              <a:rect b="b" l="l" r="r" t="t"/>
              <a:pathLst>
                <a:path extrusionOk="0" h="850392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642"/>
                  </a:lnTo>
                  <a:cubicBezTo>
                    <a:pt x="850519" y="779272"/>
                    <a:pt x="779399" y="850392"/>
                    <a:pt x="691769" y="850392"/>
                  </a:cubicBezTo>
                  <a:lnTo>
                    <a:pt x="158877" y="850392"/>
                  </a:lnTo>
                  <a:cubicBezTo>
                    <a:pt x="71247" y="850392"/>
                    <a:pt x="127" y="779272"/>
                    <a:pt x="127" y="691642"/>
                  </a:cubicBezTo>
                  <a:close/>
                </a:path>
              </a:pathLst>
            </a:custGeom>
            <a:solidFill>
              <a:srgbClr val="3D3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7"/>
            <p:cNvSpPr/>
            <p:nvPr/>
          </p:nvSpPr>
          <p:spPr>
            <a:xfrm>
              <a:off x="0" y="0"/>
              <a:ext cx="866394" cy="866394"/>
            </a:xfrm>
            <a:custGeom>
              <a:rect b="b" l="l" r="r" t="t"/>
              <a:pathLst>
                <a:path extrusionOk="0" h="866394" w="866394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cubicBezTo>
                    <a:pt x="791718" y="0"/>
                    <a:pt x="866394" y="74676"/>
                    <a:pt x="866394" y="166751"/>
                  </a:cubicBezTo>
                  <a:lnTo>
                    <a:pt x="866394" y="699643"/>
                  </a:lnTo>
                  <a:lnTo>
                    <a:pt x="858520" y="699643"/>
                  </a:lnTo>
                  <a:lnTo>
                    <a:pt x="866394" y="699643"/>
                  </a:lnTo>
                  <a:cubicBezTo>
                    <a:pt x="866394" y="791718"/>
                    <a:pt x="791718" y="866394"/>
                    <a:pt x="699643" y="866394"/>
                  </a:cubicBezTo>
                  <a:lnTo>
                    <a:pt x="699643" y="858520"/>
                  </a:lnTo>
                  <a:lnTo>
                    <a:pt x="699643" y="866394"/>
                  </a:lnTo>
                  <a:lnTo>
                    <a:pt x="166751" y="866394"/>
                  </a:lnTo>
                  <a:lnTo>
                    <a:pt x="166751" y="858520"/>
                  </a:lnTo>
                  <a:lnTo>
                    <a:pt x="166751" y="866394"/>
                  </a:lnTo>
                  <a:cubicBezTo>
                    <a:pt x="74676" y="866394"/>
                    <a:pt x="0" y="791718"/>
                    <a:pt x="0" y="699643"/>
                  </a:cubicBezTo>
                  <a:lnTo>
                    <a:pt x="0" y="166751"/>
                  </a:lnTo>
                  <a:lnTo>
                    <a:pt x="7874" y="166751"/>
                  </a:lnTo>
                  <a:lnTo>
                    <a:pt x="0" y="166751"/>
                  </a:lnTo>
                  <a:moveTo>
                    <a:pt x="15875" y="166751"/>
                  </a:moveTo>
                  <a:lnTo>
                    <a:pt x="15875" y="699643"/>
                  </a:lnTo>
                  <a:lnTo>
                    <a:pt x="7874" y="699643"/>
                  </a:lnTo>
                  <a:lnTo>
                    <a:pt x="15748" y="699643"/>
                  </a:lnTo>
                  <a:cubicBezTo>
                    <a:pt x="15748" y="782955"/>
                    <a:pt x="83312" y="850519"/>
                    <a:pt x="166624" y="850519"/>
                  </a:cubicBezTo>
                  <a:lnTo>
                    <a:pt x="699643" y="850519"/>
                  </a:lnTo>
                  <a:cubicBezTo>
                    <a:pt x="782955" y="850519"/>
                    <a:pt x="850519" y="782955"/>
                    <a:pt x="850519" y="699643"/>
                  </a:cubicBezTo>
                  <a:lnTo>
                    <a:pt x="850519" y="166751"/>
                  </a:lnTo>
                  <a:lnTo>
                    <a:pt x="858393" y="166751"/>
                  </a:lnTo>
                  <a:lnTo>
                    <a:pt x="850519" y="166751"/>
                  </a:lnTo>
                  <a:cubicBezTo>
                    <a:pt x="850519" y="83439"/>
                    <a:pt x="782955" y="15875"/>
                    <a:pt x="699643" y="15875"/>
                  </a:cubicBezTo>
                  <a:lnTo>
                    <a:pt x="166751" y="15875"/>
                  </a:lnTo>
                  <a:lnTo>
                    <a:pt x="166751" y="7874"/>
                  </a:lnTo>
                  <a:lnTo>
                    <a:pt x="166751" y="15748"/>
                  </a:lnTo>
                  <a:cubicBezTo>
                    <a:pt x="83439" y="15875"/>
                    <a:pt x="15875" y="83439"/>
                    <a:pt x="15875" y="166751"/>
                  </a:cubicBezTo>
                  <a:close/>
                </a:path>
              </a:pathLst>
            </a:custGeom>
            <a:solidFill>
              <a:srgbClr val="5656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0" name="Google Shape;300;p7"/>
          <p:cNvGrpSpPr/>
          <p:nvPr/>
        </p:nvGrpSpPr>
        <p:grpSpPr>
          <a:xfrm>
            <a:off x="14935944" y="2904007"/>
            <a:ext cx="3266331" cy="1294829"/>
            <a:chOff x="0" y="-114300"/>
            <a:chExt cx="4355108" cy="1726438"/>
          </a:xfrm>
        </p:grpSpPr>
        <p:sp>
          <p:nvSpPr>
            <p:cNvPr id="301" name="Google Shape;301;p7"/>
            <p:cNvSpPr/>
            <p:nvPr/>
          </p:nvSpPr>
          <p:spPr>
            <a:xfrm>
              <a:off x="0" y="0"/>
              <a:ext cx="4355108" cy="1612138"/>
            </a:xfrm>
            <a:custGeom>
              <a:rect b="b" l="l" r="r" t="t"/>
              <a:pathLst>
                <a:path extrusionOk="0" h="1612138" w="4355108">
                  <a:moveTo>
                    <a:pt x="0" y="0"/>
                  </a:moveTo>
                  <a:lnTo>
                    <a:pt x="4355108" y="0"/>
                  </a:lnTo>
                  <a:lnTo>
                    <a:pt x="4355108" y="1612138"/>
                  </a:lnTo>
                  <a:lnTo>
                    <a:pt x="0" y="16121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2" name="Google Shape;302;p7"/>
            <p:cNvSpPr txBox="1"/>
            <p:nvPr/>
          </p:nvSpPr>
          <p:spPr>
            <a:xfrm>
              <a:off x="0" y="-114300"/>
              <a:ext cx="4355108" cy="1726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E5E0D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Almacenamiento de datos</a:t>
              </a:r>
              <a:endParaRPr/>
            </a:p>
          </p:txBody>
        </p:sp>
      </p:grpSp>
      <p:grpSp>
        <p:nvGrpSpPr>
          <p:cNvPr id="303" name="Google Shape;303;p7"/>
          <p:cNvGrpSpPr/>
          <p:nvPr/>
        </p:nvGrpSpPr>
        <p:grpSpPr>
          <a:xfrm>
            <a:off x="14531169" y="4303815"/>
            <a:ext cx="3233260" cy="2136645"/>
            <a:chOff x="0" y="-161925"/>
            <a:chExt cx="4311013" cy="2848860"/>
          </a:xfrm>
        </p:grpSpPr>
        <p:sp>
          <p:nvSpPr>
            <p:cNvPr id="304" name="Google Shape;304;p7"/>
            <p:cNvSpPr/>
            <p:nvPr/>
          </p:nvSpPr>
          <p:spPr>
            <a:xfrm>
              <a:off x="0" y="0"/>
              <a:ext cx="4311013" cy="2686935"/>
            </a:xfrm>
            <a:custGeom>
              <a:rect b="b" l="l" r="r" t="t"/>
              <a:pathLst>
                <a:path extrusionOk="0" h="2686935" w="4311013">
                  <a:moveTo>
                    <a:pt x="0" y="0"/>
                  </a:moveTo>
                  <a:lnTo>
                    <a:pt x="4311013" y="0"/>
                  </a:lnTo>
                  <a:lnTo>
                    <a:pt x="4311013" y="2686935"/>
                  </a:lnTo>
                  <a:lnTo>
                    <a:pt x="0" y="26869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5" name="Google Shape;305;p7"/>
            <p:cNvSpPr txBox="1"/>
            <p:nvPr/>
          </p:nvSpPr>
          <p:spPr>
            <a:xfrm>
              <a:off x="0" y="-161925"/>
              <a:ext cx="4311013" cy="28488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54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La encriptación protege los datos almacenados en dispositivos y servidores.</a:t>
              </a:r>
              <a:endParaRPr/>
            </a:p>
          </p:txBody>
        </p:sp>
      </p:grpSp>
      <p:grpSp>
        <p:nvGrpSpPr>
          <p:cNvPr id="306" name="Google Shape;306;p7"/>
          <p:cNvGrpSpPr/>
          <p:nvPr/>
        </p:nvGrpSpPr>
        <p:grpSpPr>
          <a:xfrm>
            <a:off x="9144000" y="6326334"/>
            <a:ext cx="649796" cy="649796"/>
            <a:chOff x="0" y="0"/>
            <a:chExt cx="866394" cy="866394"/>
          </a:xfrm>
        </p:grpSpPr>
        <p:sp>
          <p:nvSpPr>
            <p:cNvPr id="307" name="Google Shape;307;p7"/>
            <p:cNvSpPr/>
            <p:nvPr/>
          </p:nvSpPr>
          <p:spPr>
            <a:xfrm>
              <a:off x="7874" y="8001"/>
              <a:ext cx="850519" cy="850392"/>
            </a:xfrm>
            <a:custGeom>
              <a:rect b="b" l="l" r="r" t="t"/>
              <a:pathLst>
                <a:path extrusionOk="0" h="850392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642"/>
                  </a:lnTo>
                  <a:cubicBezTo>
                    <a:pt x="850519" y="779272"/>
                    <a:pt x="779399" y="850392"/>
                    <a:pt x="691769" y="850392"/>
                  </a:cubicBezTo>
                  <a:lnTo>
                    <a:pt x="158877" y="850392"/>
                  </a:lnTo>
                  <a:cubicBezTo>
                    <a:pt x="71247" y="850392"/>
                    <a:pt x="127" y="779272"/>
                    <a:pt x="127" y="691642"/>
                  </a:cubicBezTo>
                  <a:close/>
                </a:path>
              </a:pathLst>
            </a:custGeom>
            <a:solidFill>
              <a:srgbClr val="3D3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7"/>
            <p:cNvSpPr/>
            <p:nvPr/>
          </p:nvSpPr>
          <p:spPr>
            <a:xfrm>
              <a:off x="0" y="0"/>
              <a:ext cx="866394" cy="866394"/>
            </a:xfrm>
            <a:custGeom>
              <a:rect b="b" l="l" r="r" t="t"/>
              <a:pathLst>
                <a:path extrusionOk="0" h="866394" w="866394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cubicBezTo>
                    <a:pt x="791718" y="0"/>
                    <a:pt x="866394" y="74676"/>
                    <a:pt x="866394" y="166751"/>
                  </a:cubicBezTo>
                  <a:lnTo>
                    <a:pt x="866394" y="699643"/>
                  </a:lnTo>
                  <a:lnTo>
                    <a:pt x="858520" y="699643"/>
                  </a:lnTo>
                  <a:lnTo>
                    <a:pt x="866394" y="699643"/>
                  </a:lnTo>
                  <a:cubicBezTo>
                    <a:pt x="866394" y="791718"/>
                    <a:pt x="791718" y="866394"/>
                    <a:pt x="699643" y="866394"/>
                  </a:cubicBezTo>
                  <a:lnTo>
                    <a:pt x="699643" y="858520"/>
                  </a:lnTo>
                  <a:lnTo>
                    <a:pt x="699643" y="866394"/>
                  </a:lnTo>
                  <a:lnTo>
                    <a:pt x="166751" y="866394"/>
                  </a:lnTo>
                  <a:lnTo>
                    <a:pt x="166751" y="858520"/>
                  </a:lnTo>
                  <a:lnTo>
                    <a:pt x="166751" y="866394"/>
                  </a:lnTo>
                  <a:cubicBezTo>
                    <a:pt x="74676" y="866394"/>
                    <a:pt x="0" y="791718"/>
                    <a:pt x="0" y="699643"/>
                  </a:cubicBezTo>
                  <a:lnTo>
                    <a:pt x="0" y="166751"/>
                  </a:lnTo>
                  <a:lnTo>
                    <a:pt x="7874" y="166751"/>
                  </a:lnTo>
                  <a:lnTo>
                    <a:pt x="0" y="166751"/>
                  </a:lnTo>
                  <a:moveTo>
                    <a:pt x="15875" y="166751"/>
                  </a:moveTo>
                  <a:lnTo>
                    <a:pt x="15875" y="699643"/>
                  </a:lnTo>
                  <a:lnTo>
                    <a:pt x="7874" y="699643"/>
                  </a:lnTo>
                  <a:lnTo>
                    <a:pt x="15748" y="699643"/>
                  </a:lnTo>
                  <a:cubicBezTo>
                    <a:pt x="15748" y="782955"/>
                    <a:pt x="83312" y="850519"/>
                    <a:pt x="166624" y="850519"/>
                  </a:cubicBezTo>
                  <a:lnTo>
                    <a:pt x="699643" y="850519"/>
                  </a:lnTo>
                  <a:cubicBezTo>
                    <a:pt x="782955" y="850519"/>
                    <a:pt x="850519" y="782955"/>
                    <a:pt x="850519" y="699643"/>
                  </a:cubicBezTo>
                  <a:lnTo>
                    <a:pt x="850519" y="166751"/>
                  </a:lnTo>
                  <a:lnTo>
                    <a:pt x="858393" y="166751"/>
                  </a:lnTo>
                  <a:lnTo>
                    <a:pt x="850519" y="166751"/>
                  </a:lnTo>
                  <a:cubicBezTo>
                    <a:pt x="850519" y="83439"/>
                    <a:pt x="782955" y="15875"/>
                    <a:pt x="699643" y="15875"/>
                  </a:cubicBezTo>
                  <a:lnTo>
                    <a:pt x="166751" y="15875"/>
                  </a:lnTo>
                  <a:lnTo>
                    <a:pt x="166751" y="7874"/>
                  </a:lnTo>
                  <a:lnTo>
                    <a:pt x="166751" y="15748"/>
                  </a:lnTo>
                  <a:cubicBezTo>
                    <a:pt x="83439" y="15875"/>
                    <a:pt x="15875" y="83439"/>
                    <a:pt x="15875" y="166751"/>
                  </a:cubicBezTo>
                  <a:close/>
                </a:path>
              </a:pathLst>
            </a:custGeom>
            <a:solidFill>
              <a:srgbClr val="5656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9" name="Google Shape;309;p7"/>
          <p:cNvGrpSpPr/>
          <p:nvPr/>
        </p:nvGrpSpPr>
        <p:grpSpPr>
          <a:xfrm>
            <a:off x="10071348" y="6246562"/>
            <a:ext cx="3544044" cy="770954"/>
            <a:chOff x="0" y="-114300"/>
            <a:chExt cx="4725392" cy="1027938"/>
          </a:xfrm>
        </p:grpSpPr>
        <p:sp>
          <p:nvSpPr>
            <p:cNvPr id="310" name="Google Shape;310;p7"/>
            <p:cNvSpPr/>
            <p:nvPr/>
          </p:nvSpPr>
          <p:spPr>
            <a:xfrm>
              <a:off x="0" y="0"/>
              <a:ext cx="4725392" cy="913638"/>
            </a:xfrm>
            <a:custGeom>
              <a:rect b="b" l="l" r="r" t="t"/>
              <a:pathLst>
                <a:path extrusionOk="0" h="913638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913638"/>
                  </a:lnTo>
                  <a:lnTo>
                    <a:pt x="0" y="9136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1" name="Google Shape;311;p7"/>
            <p:cNvSpPr txBox="1"/>
            <p:nvPr/>
          </p:nvSpPr>
          <p:spPr>
            <a:xfrm>
              <a:off x="0" y="-114300"/>
              <a:ext cx="4725392" cy="1027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E5E0D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Autenticación</a:t>
              </a:r>
              <a:endParaRPr/>
            </a:p>
          </p:txBody>
        </p:sp>
      </p:grpSp>
      <p:grpSp>
        <p:nvGrpSpPr>
          <p:cNvPr id="312" name="Google Shape;312;p7"/>
          <p:cNvGrpSpPr/>
          <p:nvPr/>
        </p:nvGrpSpPr>
        <p:grpSpPr>
          <a:xfrm>
            <a:off x="10069436" y="7048661"/>
            <a:ext cx="2937119" cy="1598798"/>
            <a:chOff x="0" y="-161925"/>
            <a:chExt cx="4062707" cy="2211503"/>
          </a:xfrm>
        </p:grpSpPr>
        <p:sp>
          <p:nvSpPr>
            <p:cNvPr id="313" name="Google Shape;313;p7"/>
            <p:cNvSpPr/>
            <p:nvPr/>
          </p:nvSpPr>
          <p:spPr>
            <a:xfrm>
              <a:off x="0" y="0"/>
              <a:ext cx="4062707" cy="2049578"/>
            </a:xfrm>
            <a:custGeom>
              <a:rect b="b" l="l" r="r" t="t"/>
              <a:pathLst>
                <a:path extrusionOk="0" h="2049578" w="4062707">
                  <a:moveTo>
                    <a:pt x="0" y="0"/>
                  </a:moveTo>
                  <a:lnTo>
                    <a:pt x="4062707" y="0"/>
                  </a:lnTo>
                  <a:lnTo>
                    <a:pt x="4062707" y="2049578"/>
                  </a:lnTo>
                  <a:lnTo>
                    <a:pt x="0" y="20495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4" name="Google Shape;314;p7"/>
            <p:cNvSpPr txBox="1"/>
            <p:nvPr/>
          </p:nvSpPr>
          <p:spPr>
            <a:xfrm>
              <a:off x="0" y="-161925"/>
              <a:ext cx="4062707" cy="2211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54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La encriptación verifica la identidad de los usuarios y dispositivos.</a:t>
              </a:r>
              <a:endParaRPr/>
            </a:p>
          </p:txBody>
        </p:sp>
      </p:grpSp>
      <p:grpSp>
        <p:nvGrpSpPr>
          <p:cNvPr id="315" name="Google Shape;315;p7"/>
          <p:cNvGrpSpPr/>
          <p:nvPr/>
        </p:nvGrpSpPr>
        <p:grpSpPr>
          <a:xfrm>
            <a:off x="14135658" y="3251436"/>
            <a:ext cx="395511" cy="726193"/>
            <a:chOff x="0" y="-28575"/>
            <a:chExt cx="324445" cy="595710"/>
          </a:xfrm>
        </p:grpSpPr>
        <p:sp>
          <p:nvSpPr>
            <p:cNvPr id="316" name="Google Shape;316;p7"/>
            <p:cNvSpPr/>
            <p:nvPr/>
          </p:nvSpPr>
          <p:spPr>
            <a:xfrm>
              <a:off x="0" y="0"/>
              <a:ext cx="324445" cy="567135"/>
            </a:xfrm>
            <a:custGeom>
              <a:rect b="b" l="l" r="r" t="t"/>
              <a:pathLst>
                <a:path extrusionOk="0" h="567135" w="324445">
                  <a:moveTo>
                    <a:pt x="0" y="0"/>
                  </a:moveTo>
                  <a:lnTo>
                    <a:pt x="324445" y="0"/>
                  </a:lnTo>
                  <a:lnTo>
                    <a:pt x="324445" y="567135"/>
                  </a:lnTo>
                  <a:lnTo>
                    <a:pt x="0" y="5671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7" name="Google Shape;317;p7"/>
            <p:cNvSpPr txBox="1"/>
            <p:nvPr/>
          </p:nvSpPr>
          <p:spPr>
            <a:xfrm>
              <a:off x="0" y="-28575"/>
              <a:ext cx="324445" cy="595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12" u="none" cap="none" strike="noStrike">
                  <a:solidFill>
                    <a:srgbClr val="E5E0D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2</a:t>
              </a:r>
              <a:endParaRPr/>
            </a:p>
          </p:txBody>
        </p:sp>
      </p:grpSp>
      <p:grpSp>
        <p:nvGrpSpPr>
          <p:cNvPr id="318" name="Google Shape;318;p7"/>
          <p:cNvGrpSpPr/>
          <p:nvPr/>
        </p:nvGrpSpPr>
        <p:grpSpPr>
          <a:xfrm>
            <a:off x="9373971" y="3253531"/>
            <a:ext cx="189842" cy="682523"/>
            <a:chOff x="0" y="-28575"/>
            <a:chExt cx="165695" cy="595710"/>
          </a:xfrm>
        </p:grpSpPr>
        <p:sp>
          <p:nvSpPr>
            <p:cNvPr id="319" name="Google Shape;319;p7"/>
            <p:cNvSpPr/>
            <p:nvPr/>
          </p:nvSpPr>
          <p:spPr>
            <a:xfrm>
              <a:off x="0" y="0"/>
              <a:ext cx="165695" cy="567135"/>
            </a:xfrm>
            <a:custGeom>
              <a:rect b="b" l="l" r="r" t="t"/>
              <a:pathLst>
                <a:path extrusionOk="0" h="567135" w="165695">
                  <a:moveTo>
                    <a:pt x="0" y="0"/>
                  </a:moveTo>
                  <a:lnTo>
                    <a:pt x="165695" y="0"/>
                  </a:lnTo>
                  <a:lnTo>
                    <a:pt x="165695" y="567135"/>
                  </a:lnTo>
                  <a:lnTo>
                    <a:pt x="0" y="5671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20" name="Google Shape;320;p7"/>
            <p:cNvSpPr txBox="1"/>
            <p:nvPr/>
          </p:nvSpPr>
          <p:spPr>
            <a:xfrm>
              <a:off x="0" y="-28575"/>
              <a:ext cx="165695" cy="595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12" u="none" cap="none" strike="noStrike">
                  <a:solidFill>
                    <a:srgbClr val="E5E0D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1</a:t>
              </a:r>
              <a:endParaRPr/>
            </a:p>
          </p:txBody>
        </p:sp>
      </p:grpSp>
      <p:grpSp>
        <p:nvGrpSpPr>
          <p:cNvPr id="321" name="Google Shape;321;p7"/>
          <p:cNvGrpSpPr/>
          <p:nvPr/>
        </p:nvGrpSpPr>
        <p:grpSpPr>
          <a:xfrm>
            <a:off x="9278243" y="6260706"/>
            <a:ext cx="381297" cy="684604"/>
            <a:chOff x="0" y="-28575"/>
            <a:chExt cx="331787" cy="595710"/>
          </a:xfrm>
        </p:grpSpPr>
        <p:sp>
          <p:nvSpPr>
            <p:cNvPr id="322" name="Google Shape;322;p7"/>
            <p:cNvSpPr/>
            <p:nvPr/>
          </p:nvSpPr>
          <p:spPr>
            <a:xfrm>
              <a:off x="0" y="0"/>
              <a:ext cx="331787" cy="567135"/>
            </a:xfrm>
            <a:custGeom>
              <a:rect b="b" l="l" r="r" t="t"/>
              <a:pathLst>
                <a:path extrusionOk="0" h="567135" w="331787">
                  <a:moveTo>
                    <a:pt x="0" y="0"/>
                  </a:moveTo>
                  <a:lnTo>
                    <a:pt x="331787" y="0"/>
                  </a:lnTo>
                  <a:lnTo>
                    <a:pt x="331787" y="567135"/>
                  </a:lnTo>
                  <a:lnTo>
                    <a:pt x="0" y="5671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23" name="Google Shape;323;p7"/>
            <p:cNvSpPr txBox="1"/>
            <p:nvPr/>
          </p:nvSpPr>
          <p:spPr>
            <a:xfrm>
              <a:off x="0" y="-28575"/>
              <a:ext cx="331787" cy="595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12" u="none" cap="none" strike="noStrike">
                  <a:solidFill>
                    <a:srgbClr val="E5E0D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3</a:t>
              </a:r>
              <a:endParaRPr/>
            </a:p>
          </p:txBody>
        </p:sp>
      </p:grpSp>
      <p:sp>
        <p:nvSpPr>
          <p:cNvPr descr="preencoded.png" id="324" name="Google Shape;324;p7"/>
          <p:cNvSpPr/>
          <p:nvPr/>
        </p:nvSpPr>
        <p:spPr>
          <a:xfrm>
            <a:off x="14658380" y="6630960"/>
            <a:ext cx="2815233" cy="3550087"/>
          </a:xfrm>
          <a:custGeom>
            <a:rect b="b" l="l" r="r" t="t"/>
            <a:pathLst>
              <a:path extrusionOk="0" h="3550087" w="2815233">
                <a:moveTo>
                  <a:pt x="0" y="0"/>
                </a:moveTo>
                <a:lnTo>
                  <a:pt x="2815233" y="0"/>
                </a:lnTo>
                <a:lnTo>
                  <a:pt x="2815233" y="3550087"/>
                </a:lnTo>
                <a:lnTo>
                  <a:pt x="0" y="35500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474" l="0" r="0" t="-9472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9191A"/>
          </a:solidFill>
          <a:ln>
            <a:noFill/>
          </a:ln>
        </p:spPr>
      </p:sp>
      <p:sp>
        <p:nvSpPr>
          <p:cNvPr id="334" name="Google Shape;334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161719"/>
              </a:gs>
              <a:gs pos="100000">
                <a:srgbClr val="000000"/>
              </a:gs>
            </a:gsLst>
            <a:lin ang="0" scaled="0"/>
          </a:gradFill>
          <a:ln>
            <a:noFill/>
          </a:ln>
        </p:spPr>
      </p:sp>
      <p:sp>
        <p:nvSpPr>
          <p:cNvPr descr="preencoded.png" id="335" name="Google Shape;335;p8"/>
          <p:cNvSpPr/>
          <p:nvPr/>
        </p:nvSpPr>
        <p:spPr>
          <a:xfrm>
            <a:off x="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6" name="Google Shape;336;p8"/>
          <p:cNvGrpSpPr/>
          <p:nvPr/>
        </p:nvGrpSpPr>
        <p:grpSpPr>
          <a:xfrm>
            <a:off x="7824341" y="646063"/>
            <a:ext cx="9497317" cy="2250219"/>
            <a:chOff x="0" y="-152400"/>
            <a:chExt cx="12663090" cy="3000291"/>
          </a:xfrm>
        </p:grpSpPr>
        <p:sp>
          <p:nvSpPr>
            <p:cNvPr id="337" name="Google Shape;337;p8"/>
            <p:cNvSpPr/>
            <p:nvPr/>
          </p:nvSpPr>
          <p:spPr>
            <a:xfrm>
              <a:off x="0" y="0"/>
              <a:ext cx="12663090" cy="2847891"/>
            </a:xfrm>
            <a:custGeom>
              <a:rect b="b" l="l" r="r" t="t"/>
              <a:pathLst>
                <a:path extrusionOk="0" h="2847891" w="12663090">
                  <a:moveTo>
                    <a:pt x="0" y="0"/>
                  </a:moveTo>
                  <a:lnTo>
                    <a:pt x="12663090" y="0"/>
                  </a:lnTo>
                  <a:lnTo>
                    <a:pt x="12663090" y="2847891"/>
                  </a:lnTo>
                  <a:lnTo>
                    <a:pt x="0" y="28478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8" name="Google Shape;338;p8"/>
            <p:cNvSpPr txBox="1"/>
            <p:nvPr/>
          </p:nvSpPr>
          <p:spPr>
            <a:xfrm>
              <a:off x="0" y="-152400"/>
              <a:ext cx="12663090" cy="3000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7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374" u="none" cap="none" strike="noStrike">
                  <a:solidFill>
                    <a:srgbClr val="F2F2F3"/>
                  </a:solidFill>
                  <a:latin typeface="Arial"/>
                  <a:ea typeface="Arial"/>
                  <a:cs typeface="Arial"/>
                  <a:sym typeface="Arial"/>
                </a:rPr>
                <a:t>¿QUÉ ES UN ÁRBOL DE MERKLE?</a:t>
              </a:r>
              <a:endParaRPr/>
            </a:p>
          </p:txBody>
        </p:sp>
      </p:grpSp>
      <p:sp>
        <p:nvSpPr>
          <p:cNvPr descr="preencoded.png" id="339" name="Google Shape;339;p8"/>
          <p:cNvSpPr/>
          <p:nvPr/>
        </p:nvSpPr>
        <p:spPr>
          <a:xfrm>
            <a:off x="7824341" y="2899916"/>
            <a:ext cx="1380530" cy="2208907"/>
          </a:xfrm>
          <a:custGeom>
            <a:rect b="b" l="l" r="r" t="t"/>
            <a:pathLst>
              <a:path extrusionOk="0" h="2208907" w="1380530">
                <a:moveTo>
                  <a:pt x="0" y="0"/>
                </a:moveTo>
                <a:lnTo>
                  <a:pt x="1380530" y="0"/>
                </a:lnTo>
                <a:lnTo>
                  <a:pt x="1380530" y="2208908"/>
                </a:lnTo>
                <a:lnTo>
                  <a:pt x="0" y="22089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1" t="0"/>
            </a:stretch>
          </a:blipFill>
          <a:ln>
            <a:noFill/>
          </a:ln>
        </p:spPr>
      </p:sp>
      <p:grpSp>
        <p:nvGrpSpPr>
          <p:cNvPr id="340" name="Google Shape;340;p8"/>
          <p:cNvGrpSpPr/>
          <p:nvPr/>
        </p:nvGrpSpPr>
        <p:grpSpPr>
          <a:xfrm>
            <a:off x="9618910" y="2835176"/>
            <a:ext cx="3451472" cy="775840"/>
            <a:chOff x="0" y="-104775"/>
            <a:chExt cx="4601963" cy="1034454"/>
          </a:xfrm>
        </p:grpSpPr>
        <p:sp>
          <p:nvSpPr>
            <p:cNvPr id="341" name="Google Shape;341;p8"/>
            <p:cNvSpPr/>
            <p:nvPr/>
          </p:nvSpPr>
          <p:spPr>
            <a:xfrm>
              <a:off x="0" y="0"/>
              <a:ext cx="4601963" cy="929679"/>
            </a:xfrm>
            <a:custGeom>
              <a:rect b="b" l="l" r="r" t="t"/>
              <a:pathLst>
                <a:path extrusionOk="0" h="929679" w="4601963">
                  <a:moveTo>
                    <a:pt x="0" y="0"/>
                  </a:moveTo>
                  <a:lnTo>
                    <a:pt x="4601963" y="0"/>
                  </a:lnTo>
                  <a:lnTo>
                    <a:pt x="4601963" y="929679"/>
                  </a:lnTo>
                  <a:lnTo>
                    <a:pt x="0" y="9296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2" name="Google Shape;342;p8"/>
            <p:cNvSpPr txBox="1"/>
            <p:nvPr/>
          </p:nvSpPr>
          <p:spPr>
            <a:xfrm>
              <a:off x="0" y="-104775"/>
              <a:ext cx="4601963" cy="10344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6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87" u="none" cap="none" strike="noStrike">
                  <a:solidFill>
                    <a:srgbClr val="E5E0D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Estructura de datos</a:t>
              </a:r>
              <a:endParaRPr/>
            </a:p>
          </p:txBody>
        </p:sp>
      </p:grpSp>
      <p:grpSp>
        <p:nvGrpSpPr>
          <p:cNvPr id="343" name="Google Shape;343;p8"/>
          <p:cNvGrpSpPr/>
          <p:nvPr/>
        </p:nvGrpSpPr>
        <p:grpSpPr>
          <a:xfrm>
            <a:off x="9618910" y="3651497"/>
            <a:ext cx="7702749" cy="1004888"/>
            <a:chOff x="0" y="-161925"/>
            <a:chExt cx="10270332" cy="1339850"/>
          </a:xfrm>
        </p:grpSpPr>
        <p:sp>
          <p:nvSpPr>
            <p:cNvPr id="344" name="Google Shape;344;p8"/>
            <p:cNvSpPr/>
            <p:nvPr/>
          </p:nvSpPr>
          <p:spPr>
            <a:xfrm>
              <a:off x="0" y="0"/>
              <a:ext cx="10270332" cy="1177925"/>
            </a:xfrm>
            <a:custGeom>
              <a:rect b="b" l="l" r="r" t="t"/>
              <a:pathLst>
                <a:path extrusionOk="0" h="1177925" w="10270332">
                  <a:moveTo>
                    <a:pt x="0" y="0"/>
                  </a:moveTo>
                  <a:lnTo>
                    <a:pt x="10270332" y="0"/>
                  </a:lnTo>
                  <a:lnTo>
                    <a:pt x="10270332" y="1177925"/>
                  </a:lnTo>
                  <a:lnTo>
                    <a:pt x="0" y="11779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5" name="Google Shape;345;p8"/>
            <p:cNvSpPr txBox="1"/>
            <p:nvPr/>
          </p:nvSpPr>
          <p:spPr>
            <a:xfrm>
              <a:off x="0" y="-161925"/>
              <a:ext cx="10270332" cy="1339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407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5" u="none" cap="none" strike="noStrike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Un árbol de Merkle es una estructura de datos jerárquica que almacena información hash de los datos.</a:t>
              </a:r>
              <a:endParaRPr/>
            </a:p>
          </p:txBody>
        </p:sp>
      </p:grpSp>
      <p:sp>
        <p:nvSpPr>
          <p:cNvPr descr="preencoded.png" id="346" name="Google Shape;346;p8"/>
          <p:cNvSpPr/>
          <p:nvPr/>
        </p:nvSpPr>
        <p:spPr>
          <a:xfrm>
            <a:off x="7824341" y="5108822"/>
            <a:ext cx="1380530" cy="2208907"/>
          </a:xfrm>
          <a:custGeom>
            <a:rect b="b" l="l" r="r" t="t"/>
            <a:pathLst>
              <a:path extrusionOk="0" h="2208907" w="1380530">
                <a:moveTo>
                  <a:pt x="0" y="0"/>
                </a:moveTo>
                <a:lnTo>
                  <a:pt x="1380530" y="0"/>
                </a:lnTo>
                <a:lnTo>
                  <a:pt x="1380530" y="2208908"/>
                </a:lnTo>
                <a:lnTo>
                  <a:pt x="0" y="22089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1" t="0"/>
            </a:stretch>
          </a:blipFill>
          <a:ln>
            <a:noFill/>
          </a:ln>
        </p:spPr>
      </p:sp>
      <p:grpSp>
        <p:nvGrpSpPr>
          <p:cNvPr id="347" name="Google Shape;347;p8"/>
          <p:cNvGrpSpPr/>
          <p:nvPr/>
        </p:nvGrpSpPr>
        <p:grpSpPr>
          <a:xfrm>
            <a:off x="9618910" y="5064919"/>
            <a:ext cx="3451472" cy="751283"/>
            <a:chOff x="0" y="-104775"/>
            <a:chExt cx="4601963" cy="1001712"/>
          </a:xfrm>
        </p:grpSpPr>
        <p:sp>
          <p:nvSpPr>
            <p:cNvPr id="348" name="Google Shape;348;p8"/>
            <p:cNvSpPr/>
            <p:nvPr/>
          </p:nvSpPr>
          <p:spPr>
            <a:xfrm>
              <a:off x="0" y="0"/>
              <a:ext cx="4601963" cy="896937"/>
            </a:xfrm>
            <a:custGeom>
              <a:rect b="b" l="l" r="r" t="t"/>
              <a:pathLst>
                <a:path extrusionOk="0" h="896937" w="4601963">
                  <a:moveTo>
                    <a:pt x="0" y="0"/>
                  </a:moveTo>
                  <a:lnTo>
                    <a:pt x="4601963" y="0"/>
                  </a:lnTo>
                  <a:lnTo>
                    <a:pt x="4601963" y="896937"/>
                  </a:lnTo>
                  <a:lnTo>
                    <a:pt x="0" y="8969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9" name="Google Shape;349;p8"/>
            <p:cNvSpPr txBox="1"/>
            <p:nvPr/>
          </p:nvSpPr>
          <p:spPr>
            <a:xfrm>
              <a:off x="0" y="-104775"/>
              <a:ext cx="4601963" cy="1001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6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87" u="none" cap="none" strike="noStrike">
                  <a:solidFill>
                    <a:srgbClr val="E5E0D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Nodos hash</a:t>
              </a:r>
              <a:endParaRPr/>
            </a:p>
          </p:txBody>
        </p:sp>
      </p:grpSp>
      <p:grpSp>
        <p:nvGrpSpPr>
          <p:cNvPr id="350" name="Google Shape;350;p8"/>
          <p:cNvGrpSpPr/>
          <p:nvPr/>
        </p:nvGrpSpPr>
        <p:grpSpPr>
          <a:xfrm>
            <a:off x="9618910" y="5860405"/>
            <a:ext cx="7702749" cy="1004888"/>
            <a:chOff x="0" y="-161925"/>
            <a:chExt cx="10270332" cy="1339850"/>
          </a:xfrm>
        </p:grpSpPr>
        <p:sp>
          <p:nvSpPr>
            <p:cNvPr id="351" name="Google Shape;351;p8"/>
            <p:cNvSpPr/>
            <p:nvPr/>
          </p:nvSpPr>
          <p:spPr>
            <a:xfrm>
              <a:off x="0" y="0"/>
              <a:ext cx="10270332" cy="1177925"/>
            </a:xfrm>
            <a:custGeom>
              <a:rect b="b" l="l" r="r" t="t"/>
              <a:pathLst>
                <a:path extrusionOk="0" h="1177925" w="10270332">
                  <a:moveTo>
                    <a:pt x="0" y="0"/>
                  </a:moveTo>
                  <a:lnTo>
                    <a:pt x="10270332" y="0"/>
                  </a:lnTo>
                  <a:lnTo>
                    <a:pt x="10270332" y="1177925"/>
                  </a:lnTo>
                  <a:lnTo>
                    <a:pt x="0" y="11779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2" name="Google Shape;352;p8"/>
            <p:cNvSpPr txBox="1"/>
            <p:nvPr/>
          </p:nvSpPr>
          <p:spPr>
            <a:xfrm>
              <a:off x="0" y="-161925"/>
              <a:ext cx="10270332" cy="1339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407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5" u="none" cap="none" strike="noStrike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Cada nodo del árbol representa un hash de los datos o de los nodos hijos.</a:t>
              </a:r>
              <a:endParaRPr/>
            </a:p>
          </p:txBody>
        </p:sp>
      </p:grpSp>
      <p:sp>
        <p:nvSpPr>
          <p:cNvPr descr="preencoded.png" id="353" name="Google Shape;353;p8"/>
          <p:cNvSpPr/>
          <p:nvPr/>
        </p:nvSpPr>
        <p:spPr>
          <a:xfrm>
            <a:off x="7824341" y="7317730"/>
            <a:ext cx="1380530" cy="2208907"/>
          </a:xfrm>
          <a:custGeom>
            <a:rect b="b" l="l" r="r" t="t"/>
            <a:pathLst>
              <a:path extrusionOk="0" h="2208907" w="1380530">
                <a:moveTo>
                  <a:pt x="0" y="0"/>
                </a:moveTo>
                <a:lnTo>
                  <a:pt x="1380530" y="0"/>
                </a:lnTo>
                <a:lnTo>
                  <a:pt x="1380530" y="2208907"/>
                </a:lnTo>
                <a:lnTo>
                  <a:pt x="0" y="2208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1" t="0"/>
            </a:stretch>
          </a:blipFill>
          <a:ln>
            <a:noFill/>
          </a:ln>
        </p:spPr>
      </p:sp>
      <p:grpSp>
        <p:nvGrpSpPr>
          <p:cNvPr id="354" name="Google Shape;354;p8"/>
          <p:cNvGrpSpPr/>
          <p:nvPr/>
        </p:nvGrpSpPr>
        <p:grpSpPr>
          <a:xfrm>
            <a:off x="9618910" y="7272486"/>
            <a:ext cx="3451472" cy="738746"/>
            <a:chOff x="0" y="-104775"/>
            <a:chExt cx="4601963" cy="984995"/>
          </a:xfrm>
        </p:grpSpPr>
        <p:sp>
          <p:nvSpPr>
            <p:cNvPr id="355" name="Google Shape;355;p8"/>
            <p:cNvSpPr/>
            <p:nvPr/>
          </p:nvSpPr>
          <p:spPr>
            <a:xfrm>
              <a:off x="0" y="0"/>
              <a:ext cx="4601963" cy="880220"/>
            </a:xfrm>
            <a:custGeom>
              <a:rect b="b" l="l" r="r" t="t"/>
              <a:pathLst>
                <a:path extrusionOk="0" h="880220" w="4601963">
                  <a:moveTo>
                    <a:pt x="0" y="0"/>
                  </a:moveTo>
                  <a:lnTo>
                    <a:pt x="4601963" y="0"/>
                  </a:lnTo>
                  <a:lnTo>
                    <a:pt x="4601963" y="880220"/>
                  </a:lnTo>
                  <a:lnTo>
                    <a:pt x="0" y="8802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6" name="Google Shape;356;p8"/>
            <p:cNvSpPr txBox="1"/>
            <p:nvPr/>
          </p:nvSpPr>
          <p:spPr>
            <a:xfrm>
              <a:off x="0" y="-104775"/>
              <a:ext cx="4601963" cy="9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6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87" u="none" cap="none" strike="noStrike">
                  <a:solidFill>
                    <a:srgbClr val="E5E0D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Raíz del árbol</a:t>
              </a:r>
              <a:endParaRPr/>
            </a:p>
          </p:txBody>
        </p:sp>
      </p:grpSp>
      <p:grpSp>
        <p:nvGrpSpPr>
          <p:cNvPr id="357" name="Google Shape;357;p8"/>
          <p:cNvGrpSpPr/>
          <p:nvPr/>
        </p:nvGrpSpPr>
        <p:grpSpPr>
          <a:xfrm>
            <a:off x="9618910" y="8079878"/>
            <a:ext cx="7702749" cy="563166"/>
            <a:chOff x="0" y="-161925"/>
            <a:chExt cx="10270332" cy="750888"/>
          </a:xfrm>
        </p:grpSpPr>
        <p:sp>
          <p:nvSpPr>
            <p:cNvPr id="358" name="Google Shape;358;p8"/>
            <p:cNvSpPr/>
            <p:nvPr/>
          </p:nvSpPr>
          <p:spPr>
            <a:xfrm>
              <a:off x="0" y="0"/>
              <a:ext cx="10270332" cy="588963"/>
            </a:xfrm>
            <a:custGeom>
              <a:rect b="b" l="l" r="r" t="t"/>
              <a:pathLst>
                <a:path extrusionOk="0" h="588963" w="10270332">
                  <a:moveTo>
                    <a:pt x="0" y="0"/>
                  </a:moveTo>
                  <a:lnTo>
                    <a:pt x="10270332" y="0"/>
                  </a:lnTo>
                  <a:lnTo>
                    <a:pt x="10270332" y="588963"/>
                  </a:lnTo>
                  <a:lnTo>
                    <a:pt x="0" y="588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9" name="Google Shape;359;p8"/>
            <p:cNvSpPr txBox="1"/>
            <p:nvPr/>
          </p:nvSpPr>
          <p:spPr>
            <a:xfrm>
              <a:off x="0" y="-161925"/>
              <a:ext cx="10270332" cy="750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407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5" u="none" cap="none" strike="noStrike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La raíz del árbol contiene el hash de todos los datos del árbol.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9191A"/>
          </a:solidFill>
          <a:ln>
            <a:noFill/>
          </a:ln>
        </p:spPr>
      </p:sp>
      <p:sp>
        <p:nvSpPr>
          <p:cNvPr id="369" name="Google Shape;369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161719"/>
              </a:gs>
              <a:gs pos="100000">
                <a:srgbClr val="000000"/>
              </a:gs>
            </a:gsLst>
            <a:lin ang="0" scaled="0"/>
          </a:gradFill>
          <a:ln>
            <a:noFill/>
          </a:ln>
        </p:spPr>
      </p:sp>
      <p:sp>
        <p:nvSpPr>
          <p:cNvPr descr="preencoded.png" id="370" name="Google Shape;370;p9">
            <a:hlinkClick r:id="rId3"/>
          </p:cNvPr>
          <p:cNvSpPr/>
          <p:nvPr/>
        </p:nvSpPr>
        <p:spPr>
          <a:xfrm>
            <a:off x="16049019" y="9686925"/>
            <a:ext cx="2153256" cy="514350"/>
          </a:xfrm>
          <a:custGeom>
            <a:rect b="b" l="l" r="r" t="t"/>
            <a:pathLst>
              <a:path extrusionOk="0" h="514350" w="2153256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371" name="Google Shape;371;p9"/>
          <p:cNvSpPr/>
          <p:nvPr/>
        </p:nvSpPr>
        <p:spPr>
          <a:xfrm>
            <a:off x="11344275" y="1789807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72" name="Google Shape;372;p9"/>
          <p:cNvGrpSpPr/>
          <p:nvPr/>
        </p:nvGrpSpPr>
        <p:grpSpPr>
          <a:xfrm>
            <a:off x="928687" y="1252686"/>
            <a:ext cx="11075261" cy="2364221"/>
            <a:chOff x="0" y="-133350"/>
            <a:chExt cx="14767015" cy="3152294"/>
          </a:xfrm>
        </p:grpSpPr>
        <p:sp>
          <p:nvSpPr>
            <p:cNvPr id="373" name="Google Shape;373;p9"/>
            <p:cNvSpPr/>
            <p:nvPr/>
          </p:nvSpPr>
          <p:spPr>
            <a:xfrm>
              <a:off x="0" y="0"/>
              <a:ext cx="14767015" cy="3018944"/>
            </a:xfrm>
            <a:custGeom>
              <a:rect b="b" l="l" r="r" t="t"/>
              <a:pathLst>
                <a:path extrusionOk="0" h="3018944" w="14767015">
                  <a:moveTo>
                    <a:pt x="0" y="0"/>
                  </a:moveTo>
                  <a:lnTo>
                    <a:pt x="14767015" y="0"/>
                  </a:lnTo>
                  <a:lnTo>
                    <a:pt x="14767015" y="3018944"/>
                  </a:lnTo>
                  <a:lnTo>
                    <a:pt x="0" y="30189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74" name="Google Shape;374;p9"/>
            <p:cNvSpPr txBox="1"/>
            <p:nvPr/>
          </p:nvSpPr>
          <p:spPr>
            <a:xfrm>
              <a:off x="0" y="-133350"/>
              <a:ext cx="14767015" cy="31522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3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599" u="none" cap="none" strike="noStrike">
                  <a:solidFill>
                    <a:srgbClr val="F2F2F3"/>
                  </a:solidFill>
                  <a:latin typeface="Arial"/>
                  <a:ea typeface="Arial"/>
                  <a:cs typeface="Arial"/>
                  <a:sym typeface="Arial"/>
                </a:rPr>
                <a:t>ESTRUCTURA Y FUNCIONAMIENTO DEL ÁRBOL DE MERKLE</a:t>
              </a:r>
              <a:endParaRPr/>
            </a:p>
          </p:txBody>
        </p:sp>
      </p:grpSp>
      <p:sp>
        <p:nvSpPr>
          <p:cNvPr id="375" name="Google Shape;375;p9"/>
          <p:cNvSpPr/>
          <p:nvPr/>
        </p:nvSpPr>
        <p:spPr>
          <a:xfrm>
            <a:off x="922734" y="3402956"/>
            <a:ext cx="9584531" cy="5537359"/>
          </a:xfrm>
          <a:custGeom>
            <a:rect b="b" l="l" r="r" t="t"/>
            <a:pathLst>
              <a:path extrusionOk="0" h="7383145" w="12779375">
                <a:moveTo>
                  <a:pt x="0" y="156591"/>
                </a:moveTo>
                <a:cubicBezTo>
                  <a:pt x="0" y="70104"/>
                  <a:pt x="70104" y="0"/>
                  <a:pt x="156718" y="0"/>
                </a:cubicBezTo>
                <a:lnTo>
                  <a:pt x="12622657" y="0"/>
                </a:lnTo>
                <a:lnTo>
                  <a:pt x="12622657" y="7874"/>
                </a:lnTo>
                <a:lnTo>
                  <a:pt x="12622657" y="0"/>
                </a:lnTo>
                <a:cubicBezTo>
                  <a:pt x="12709144" y="0"/>
                  <a:pt x="12779375" y="70104"/>
                  <a:pt x="12779375" y="156591"/>
                </a:cubicBezTo>
                <a:lnTo>
                  <a:pt x="12779375" y="7226554"/>
                </a:lnTo>
                <a:lnTo>
                  <a:pt x="12771501" y="7226554"/>
                </a:lnTo>
                <a:lnTo>
                  <a:pt x="12779375" y="7226554"/>
                </a:lnTo>
                <a:cubicBezTo>
                  <a:pt x="12779375" y="7313041"/>
                  <a:pt x="12709271" y="7383145"/>
                  <a:pt x="12622657" y="7383145"/>
                </a:cubicBezTo>
                <a:lnTo>
                  <a:pt x="12622657" y="7375272"/>
                </a:lnTo>
                <a:lnTo>
                  <a:pt x="12622657" y="7383145"/>
                </a:lnTo>
                <a:lnTo>
                  <a:pt x="156718" y="7383145"/>
                </a:lnTo>
                <a:lnTo>
                  <a:pt x="156718" y="7375272"/>
                </a:lnTo>
                <a:lnTo>
                  <a:pt x="156718" y="7383145"/>
                </a:lnTo>
                <a:cubicBezTo>
                  <a:pt x="70104" y="7383018"/>
                  <a:pt x="0" y="7313041"/>
                  <a:pt x="0" y="7226554"/>
                </a:cubicBezTo>
                <a:lnTo>
                  <a:pt x="0" y="156591"/>
                </a:lnTo>
                <a:lnTo>
                  <a:pt x="7874" y="156591"/>
                </a:lnTo>
                <a:lnTo>
                  <a:pt x="0" y="156591"/>
                </a:lnTo>
                <a:moveTo>
                  <a:pt x="15875" y="156591"/>
                </a:moveTo>
                <a:lnTo>
                  <a:pt x="15875" y="7226554"/>
                </a:lnTo>
                <a:lnTo>
                  <a:pt x="7874" y="7226554"/>
                </a:lnTo>
                <a:lnTo>
                  <a:pt x="15748" y="7226554"/>
                </a:lnTo>
                <a:cubicBezTo>
                  <a:pt x="15748" y="7304278"/>
                  <a:pt x="78740" y="7367270"/>
                  <a:pt x="156591" y="7367270"/>
                </a:cubicBezTo>
                <a:lnTo>
                  <a:pt x="12622657" y="7367270"/>
                </a:lnTo>
                <a:cubicBezTo>
                  <a:pt x="12700381" y="7367270"/>
                  <a:pt x="12763500" y="7304278"/>
                  <a:pt x="12763500" y="7226554"/>
                </a:cubicBezTo>
                <a:lnTo>
                  <a:pt x="12763500" y="156591"/>
                </a:lnTo>
                <a:lnTo>
                  <a:pt x="12771374" y="156591"/>
                </a:lnTo>
                <a:lnTo>
                  <a:pt x="12763500" y="156591"/>
                </a:lnTo>
                <a:cubicBezTo>
                  <a:pt x="12763500" y="78867"/>
                  <a:pt x="12700508" y="15875"/>
                  <a:pt x="12622657" y="15875"/>
                </a:cubicBezTo>
                <a:lnTo>
                  <a:pt x="156718" y="15875"/>
                </a:lnTo>
                <a:lnTo>
                  <a:pt x="156718" y="7874"/>
                </a:lnTo>
                <a:lnTo>
                  <a:pt x="156718" y="15875"/>
                </a:lnTo>
                <a:cubicBezTo>
                  <a:pt x="78867" y="15875"/>
                  <a:pt x="15875" y="78867"/>
                  <a:pt x="15875" y="156591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938212" y="3418434"/>
            <a:ext cx="9553575" cy="761714"/>
          </a:xfrm>
          <a:custGeom>
            <a:rect b="b" l="l" r="r" t="t"/>
            <a:pathLst>
              <a:path extrusionOk="0" h="1015619" w="12738100">
                <a:moveTo>
                  <a:pt x="0" y="0"/>
                </a:moveTo>
                <a:lnTo>
                  <a:pt x="12738100" y="0"/>
                </a:lnTo>
                <a:lnTo>
                  <a:pt x="12738100" y="1015619"/>
                </a:lnTo>
                <a:lnTo>
                  <a:pt x="0" y="1015619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>
            <a:noFill/>
          </a:ln>
        </p:spPr>
      </p:sp>
      <p:grpSp>
        <p:nvGrpSpPr>
          <p:cNvPr id="377" name="Google Shape;377;p9"/>
          <p:cNvGrpSpPr/>
          <p:nvPr/>
        </p:nvGrpSpPr>
        <p:grpSpPr>
          <a:xfrm>
            <a:off x="1203424" y="3479899"/>
            <a:ext cx="4241601" cy="531614"/>
            <a:chOff x="0" y="-142875"/>
            <a:chExt cx="5655468" cy="708818"/>
          </a:xfrm>
        </p:grpSpPr>
        <p:sp>
          <p:nvSpPr>
            <p:cNvPr id="378" name="Google Shape;378;p9"/>
            <p:cNvSpPr/>
            <p:nvPr/>
          </p:nvSpPr>
          <p:spPr>
            <a:xfrm>
              <a:off x="0" y="0"/>
              <a:ext cx="5655468" cy="565943"/>
            </a:xfrm>
            <a:custGeom>
              <a:rect b="b" l="l" r="r" t="t"/>
              <a:pathLst>
                <a:path extrusionOk="0" h="565943" w="5655468">
                  <a:moveTo>
                    <a:pt x="0" y="0"/>
                  </a:moveTo>
                  <a:lnTo>
                    <a:pt x="5655468" y="0"/>
                  </a:lnTo>
                  <a:lnTo>
                    <a:pt x="5655468" y="565943"/>
                  </a:lnTo>
                  <a:lnTo>
                    <a:pt x="0" y="5659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79" name="Google Shape;379;p9"/>
            <p:cNvSpPr txBox="1"/>
            <p:nvPr/>
          </p:nvSpPr>
          <p:spPr>
            <a:xfrm>
              <a:off x="0" y="-142875"/>
              <a:ext cx="5655468" cy="7088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27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62" u="none" cap="none" strike="noStrike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Paso</a:t>
              </a:r>
              <a:endParaRPr/>
            </a:p>
          </p:txBody>
        </p:sp>
      </p:grpSp>
      <p:grpSp>
        <p:nvGrpSpPr>
          <p:cNvPr id="380" name="Google Shape;380;p9"/>
          <p:cNvGrpSpPr/>
          <p:nvPr/>
        </p:nvGrpSpPr>
        <p:grpSpPr>
          <a:xfrm>
            <a:off x="5984974" y="3479899"/>
            <a:ext cx="4241601" cy="531614"/>
            <a:chOff x="0" y="-142875"/>
            <a:chExt cx="5655468" cy="708818"/>
          </a:xfrm>
        </p:grpSpPr>
        <p:sp>
          <p:nvSpPr>
            <p:cNvPr id="381" name="Google Shape;381;p9"/>
            <p:cNvSpPr/>
            <p:nvPr/>
          </p:nvSpPr>
          <p:spPr>
            <a:xfrm>
              <a:off x="0" y="0"/>
              <a:ext cx="5655468" cy="565943"/>
            </a:xfrm>
            <a:custGeom>
              <a:rect b="b" l="l" r="r" t="t"/>
              <a:pathLst>
                <a:path extrusionOk="0" h="565943" w="5655468">
                  <a:moveTo>
                    <a:pt x="0" y="0"/>
                  </a:moveTo>
                  <a:lnTo>
                    <a:pt x="5655468" y="0"/>
                  </a:lnTo>
                  <a:lnTo>
                    <a:pt x="5655468" y="565943"/>
                  </a:lnTo>
                  <a:lnTo>
                    <a:pt x="0" y="5659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2" name="Google Shape;382;p9"/>
            <p:cNvSpPr txBox="1"/>
            <p:nvPr/>
          </p:nvSpPr>
          <p:spPr>
            <a:xfrm>
              <a:off x="0" y="-142875"/>
              <a:ext cx="5655468" cy="7088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27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62" u="none" cap="none" strike="noStrike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Descripción</a:t>
              </a:r>
              <a:endParaRPr/>
            </a:p>
          </p:txBody>
        </p:sp>
      </p:grpSp>
      <p:sp>
        <p:nvSpPr>
          <p:cNvPr id="383" name="Google Shape;383;p9"/>
          <p:cNvSpPr/>
          <p:nvPr/>
        </p:nvSpPr>
        <p:spPr>
          <a:xfrm>
            <a:off x="938212" y="4180135"/>
            <a:ext cx="9553575" cy="761714"/>
          </a:xfrm>
          <a:custGeom>
            <a:rect b="b" l="l" r="r" t="t"/>
            <a:pathLst>
              <a:path extrusionOk="0" h="1015619" w="12738100">
                <a:moveTo>
                  <a:pt x="0" y="0"/>
                </a:moveTo>
                <a:lnTo>
                  <a:pt x="12738100" y="0"/>
                </a:lnTo>
                <a:lnTo>
                  <a:pt x="12738100" y="1015619"/>
                </a:lnTo>
                <a:lnTo>
                  <a:pt x="0" y="101561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grpSp>
        <p:nvGrpSpPr>
          <p:cNvPr id="384" name="Google Shape;384;p9"/>
          <p:cNvGrpSpPr/>
          <p:nvPr/>
        </p:nvGrpSpPr>
        <p:grpSpPr>
          <a:xfrm>
            <a:off x="1203424" y="4241602"/>
            <a:ext cx="4241601" cy="531614"/>
            <a:chOff x="0" y="-142875"/>
            <a:chExt cx="5655468" cy="708818"/>
          </a:xfrm>
        </p:grpSpPr>
        <p:sp>
          <p:nvSpPr>
            <p:cNvPr id="385" name="Google Shape;385;p9"/>
            <p:cNvSpPr/>
            <p:nvPr/>
          </p:nvSpPr>
          <p:spPr>
            <a:xfrm>
              <a:off x="0" y="0"/>
              <a:ext cx="5655468" cy="565943"/>
            </a:xfrm>
            <a:custGeom>
              <a:rect b="b" l="l" r="r" t="t"/>
              <a:pathLst>
                <a:path extrusionOk="0" h="565943" w="5655468">
                  <a:moveTo>
                    <a:pt x="0" y="0"/>
                  </a:moveTo>
                  <a:lnTo>
                    <a:pt x="5655468" y="0"/>
                  </a:lnTo>
                  <a:lnTo>
                    <a:pt x="5655468" y="565943"/>
                  </a:lnTo>
                  <a:lnTo>
                    <a:pt x="0" y="5659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6" name="Google Shape;386;p9"/>
            <p:cNvSpPr txBox="1"/>
            <p:nvPr/>
          </p:nvSpPr>
          <p:spPr>
            <a:xfrm>
              <a:off x="0" y="-142875"/>
              <a:ext cx="5655468" cy="7088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27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62" u="none" cap="none" strike="noStrike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/>
            </a:p>
          </p:txBody>
        </p:sp>
      </p:grpSp>
      <p:grpSp>
        <p:nvGrpSpPr>
          <p:cNvPr id="387" name="Google Shape;387;p9"/>
          <p:cNvGrpSpPr/>
          <p:nvPr/>
        </p:nvGrpSpPr>
        <p:grpSpPr>
          <a:xfrm>
            <a:off x="5984974" y="4241602"/>
            <a:ext cx="4241601" cy="531614"/>
            <a:chOff x="0" y="-142875"/>
            <a:chExt cx="5655468" cy="708818"/>
          </a:xfrm>
        </p:grpSpPr>
        <p:sp>
          <p:nvSpPr>
            <p:cNvPr id="388" name="Google Shape;388;p9"/>
            <p:cNvSpPr/>
            <p:nvPr/>
          </p:nvSpPr>
          <p:spPr>
            <a:xfrm>
              <a:off x="0" y="0"/>
              <a:ext cx="5655468" cy="565943"/>
            </a:xfrm>
            <a:custGeom>
              <a:rect b="b" l="l" r="r" t="t"/>
              <a:pathLst>
                <a:path extrusionOk="0" h="565943" w="5655468">
                  <a:moveTo>
                    <a:pt x="0" y="0"/>
                  </a:moveTo>
                  <a:lnTo>
                    <a:pt x="5655468" y="0"/>
                  </a:lnTo>
                  <a:lnTo>
                    <a:pt x="5655468" y="565943"/>
                  </a:lnTo>
                  <a:lnTo>
                    <a:pt x="0" y="5659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9" name="Google Shape;389;p9"/>
            <p:cNvSpPr txBox="1"/>
            <p:nvPr/>
          </p:nvSpPr>
          <p:spPr>
            <a:xfrm>
              <a:off x="0" y="-142875"/>
              <a:ext cx="5655468" cy="7088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27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62" u="none" cap="none" strike="noStrike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Los datos se dividen en bloques.</a:t>
              </a:r>
              <a:endParaRPr/>
            </a:p>
          </p:txBody>
        </p:sp>
      </p:grpSp>
      <p:sp>
        <p:nvSpPr>
          <p:cNvPr id="390" name="Google Shape;390;p9"/>
          <p:cNvSpPr/>
          <p:nvPr/>
        </p:nvSpPr>
        <p:spPr>
          <a:xfrm>
            <a:off x="938212" y="4941837"/>
            <a:ext cx="9553575" cy="1186148"/>
          </a:xfrm>
          <a:custGeom>
            <a:rect b="b" l="l" r="r" t="t"/>
            <a:pathLst>
              <a:path extrusionOk="0" h="1581531" w="12738100">
                <a:moveTo>
                  <a:pt x="0" y="0"/>
                </a:moveTo>
                <a:lnTo>
                  <a:pt x="12738100" y="0"/>
                </a:lnTo>
                <a:lnTo>
                  <a:pt x="12738100" y="1581531"/>
                </a:lnTo>
                <a:lnTo>
                  <a:pt x="0" y="1581531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>
            <a:noFill/>
          </a:ln>
        </p:spPr>
      </p:sp>
      <p:grpSp>
        <p:nvGrpSpPr>
          <p:cNvPr id="391" name="Google Shape;391;p9"/>
          <p:cNvGrpSpPr/>
          <p:nvPr/>
        </p:nvGrpSpPr>
        <p:grpSpPr>
          <a:xfrm>
            <a:off x="1203424" y="5003304"/>
            <a:ext cx="4241601" cy="531614"/>
            <a:chOff x="0" y="-142875"/>
            <a:chExt cx="5655468" cy="708818"/>
          </a:xfrm>
        </p:grpSpPr>
        <p:sp>
          <p:nvSpPr>
            <p:cNvPr id="392" name="Google Shape;392;p9"/>
            <p:cNvSpPr/>
            <p:nvPr/>
          </p:nvSpPr>
          <p:spPr>
            <a:xfrm>
              <a:off x="0" y="0"/>
              <a:ext cx="5655468" cy="565943"/>
            </a:xfrm>
            <a:custGeom>
              <a:rect b="b" l="l" r="r" t="t"/>
              <a:pathLst>
                <a:path extrusionOk="0" h="565943" w="5655468">
                  <a:moveTo>
                    <a:pt x="0" y="0"/>
                  </a:moveTo>
                  <a:lnTo>
                    <a:pt x="5655468" y="0"/>
                  </a:lnTo>
                  <a:lnTo>
                    <a:pt x="5655468" y="565943"/>
                  </a:lnTo>
                  <a:lnTo>
                    <a:pt x="0" y="5659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3" name="Google Shape;393;p9"/>
            <p:cNvSpPr txBox="1"/>
            <p:nvPr/>
          </p:nvSpPr>
          <p:spPr>
            <a:xfrm>
              <a:off x="0" y="-142875"/>
              <a:ext cx="5655468" cy="7088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27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62" u="none" cap="none" strike="noStrike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/>
            </a:p>
          </p:txBody>
        </p:sp>
      </p:grpSp>
      <p:grpSp>
        <p:nvGrpSpPr>
          <p:cNvPr id="394" name="Google Shape;394;p9"/>
          <p:cNvGrpSpPr/>
          <p:nvPr/>
        </p:nvGrpSpPr>
        <p:grpSpPr>
          <a:xfrm>
            <a:off x="5984974" y="5003304"/>
            <a:ext cx="4241601" cy="956072"/>
            <a:chOff x="0" y="-142875"/>
            <a:chExt cx="5655468" cy="1274763"/>
          </a:xfrm>
        </p:grpSpPr>
        <p:sp>
          <p:nvSpPr>
            <p:cNvPr id="395" name="Google Shape;395;p9"/>
            <p:cNvSpPr/>
            <p:nvPr/>
          </p:nvSpPr>
          <p:spPr>
            <a:xfrm>
              <a:off x="0" y="0"/>
              <a:ext cx="5655468" cy="1131888"/>
            </a:xfrm>
            <a:custGeom>
              <a:rect b="b" l="l" r="r" t="t"/>
              <a:pathLst>
                <a:path extrusionOk="0" h="1131888" w="5655468">
                  <a:moveTo>
                    <a:pt x="0" y="0"/>
                  </a:moveTo>
                  <a:lnTo>
                    <a:pt x="5655468" y="0"/>
                  </a:lnTo>
                  <a:lnTo>
                    <a:pt x="5655468" y="1131888"/>
                  </a:lnTo>
                  <a:lnTo>
                    <a:pt x="0" y="11318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6" name="Google Shape;396;p9"/>
            <p:cNvSpPr txBox="1"/>
            <p:nvPr/>
          </p:nvSpPr>
          <p:spPr>
            <a:xfrm>
              <a:off x="0" y="-142875"/>
              <a:ext cx="5655468" cy="1274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27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62" u="none" cap="none" strike="noStrike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Se calcula un hash para cada bloque.</a:t>
              </a:r>
              <a:endParaRPr/>
            </a:p>
          </p:txBody>
        </p:sp>
      </p:grpSp>
      <p:sp>
        <p:nvSpPr>
          <p:cNvPr id="397" name="Google Shape;397;p9"/>
          <p:cNvSpPr/>
          <p:nvPr/>
        </p:nvSpPr>
        <p:spPr>
          <a:xfrm>
            <a:off x="938212" y="6127998"/>
            <a:ext cx="9553575" cy="1610582"/>
          </a:xfrm>
          <a:custGeom>
            <a:rect b="b" l="l" r="r" t="t"/>
            <a:pathLst>
              <a:path extrusionOk="0" h="2147443" w="12738100">
                <a:moveTo>
                  <a:pt x="0" y="0"/>
                </a:moveTo>
                <a:lnTo>
                  <a:pt x="12738100" y="0"/>
                </a:lnTo>
                <a:lnTo>
                  <a:pt x="12738100" y="2147443"/>
                </a:lnTo>
                <a:lnTo>
                  <a:pt x="0" y="214744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grpSp>
        <p:nvGrpSpPr>
          <p:cNvPr id="398" name="Google Shape;398;p9"/>
          <p:cNvGrpSpPr/>
          <p:nvPr/>
        </p:nvGrpSpPr>
        <p:grpSpPr>
          <a:xfrm>
            <a:off x="1203424" y="6189464"/>
            <a:ext cx="4241601" cy="531614"/>
            <a:chOff x="0" y="-142875"/>
            <a:chExt cx="5655468" cy="708818"/>
          </a:xfrm>
        </p:grpSpPr>
        <p:sp>
          <p:nvSpPr>
            <p:cNvPr id="399" name="Google Shape;399;p9"/>
            <p:cNvSpPr/>
            <p:nvPr/>
          </p:nvSpPr>
          <p:spPr>
            <a:xfrm>
              <a:off x="0" y="0"/>
              <a:ext cx="5655468" cy="565943"/>
            </a:xfrm>
            <a:custGeom>
              <a:rect b="b" l="l" r="r" t="t"/>
              <a:pathLst>
                <a:path extrusionOk="0" h="565943" w="5655468">
                  <a:moveTo>
                    <a:pt x="0" y="0"/>
                  </a:moveTo>
                  <a:lnTo>
                    <a:pt x="5655468" y="0"/>
                  </a:lnTo>
                  <a:lnTo>
                    <a:pt x="5655468" y="565943"/>
                  </a:lnTo>
                  <a:lnTo>
                    <a:pt x="0" y="5659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0" name="Google Shape;400;p9"/>
            <p:cNvSpPr txBox="1"/>
            <p:nvPr/>
          </p:nvSpPr>
          <p:spPr>
            <a:xfrm>
              <a:off x="0" y="-142875"/>
              <a:ext cx="5655468" cy="7088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27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62" u="none" cap="none" strike="noStrike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/>
            </a:p>
          </p:txBody>
        </p:sp>
      </p:grpSp>
      <p:grpSp>
        <p:nvGrpSpPr>
          <p:cNvPr id="401" name="Google Shape;401;p9"/>
          <p:cNvGrpSpPr/>
          <p:nvPr/>
        </p:nvGrpSpPr>
        <p:grpSpPr>
          <a:xfrm>
            <a:off x="5984974" y="6189464"/>
            <a:ext cx="4241601" cy="1380530"/>
            <a:chOff x="0" y="-142875"/>
            <a:chExt cx="5655468" cy="1840707"/>
          </a:xfrm>
        </p:grpSpPr>
        <p:sp>
          <p:nvSpPr>
            <p:cNvPr id="402" name="Google Shape;402;p9"/>
            <p:cNvSpPr/>
            <p:nvPr/>
          </p:nvSpPr>
          <p:spPr>
            <a:xfrm>
              <a:off x="0" y="0"/>
              <a:ext cx="5655468" cy="1697832"/>
            </a:xfrm>
            <a:custGeom>
              <a:rect b="b" l="l" r="r" t="t"/>
              <a:pathLst>
                <a:path extrusionOk="0" h="1697832" w="5655468">
                  <a:moveTo>
                    <a:pt x="0" y="0"/>
                  </a:moveTo>
                  <a:lnTo>
                    <a:pt x="5655468" y="0"/>
                  </a:lnTo>
                  <a:lnTo>
                    <a:pt x="5655468" y="1697832"/>
                  </a:lnTo>
                  <a:lnTo>
                    <a:pt x="0" y="16978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3" name="Google Shape;403;p9"/>
            <p:cNvSpPr txBox="1"/>
            <p:nvPr/>
          </p:nvSpPr>
          <p:spPr>
            <a:xfrm>
              <a:off x="0" y="-142875"/>
              <a:ext cx="5655468" cy="18407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27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62" u="none" cap="none" strike="noStrike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Los hashes se combinan en pares y se calcula un nuevo hash para cada par.</a:t>
              </a:r>
              <a:endParaRPr/>
            </a:p>
          </p:txBody>
        </p:sp>
      </p:grpSp>
      <p:sp>
        <p:nvSpPr>
          <p:cNvPr id="404" name="Google Shape;404;p9"/>
          <p:cNvSpPr/>
          <p:nvPr/>
        </p:nvSpPr>
        <p:spPr>
          <a:xfrm>
            <a:off x="938212" y="7738616"/>
            <a:ext cx="9553575" cy="1186148"/>
          </a:xfrm>
          <a:custGeom>
            <a:rect b="b" l="l" r="r" t="t"/>
            <a:pathLst>
              <a:path extrusionOk="0" h="1581531" w="12738100">
                <a:moveTo>
                  <a:pt x="0" y="0"/>
                </a:moveTo>
                <a:lnTo>
                  <a:pt x="12738100" y="0"/>
                </a:lnTo>
                <a:lnTo>
                  <a:pt x="12738100" y="1581531"/>
                </a:lnTo>
                <a:lnTo>
                  <a:pt x="0" y="1581531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>
            <a:noFill/>
          </a:ln>
        </p:spPr>
      </p:sp>
      <p:grpSp>
        <p:nvGrpSpPr>
          <p:cNvPr id="405" name="Google Shape;405;p9"/>
          <p:cNvGrpSpPr/>
          <p:nvPr/>
        </p:nvGrpSpPr>
        <p:grpSpPr>
          <a:xfrm>
            <a:off x="1203424" y="7800083"/>
            <a:ext cx="4241601" cy="531614"/>
            <a:chOff x="0" y="-142875"/>
            <a:chExt cx="5655468" cy="708818"/>
          </a:xfrm>
        </p:grpSpPr>
        <p:sp>
          <p:nvSpPr>
            <p:cNvPr id="406" name="Google Shape;406;p9"/>
            <p:cNvSpPr/>
            <p:nvPr/>
          </p:nvSpPr>
          <p:spPr>
            <a:xfrm>
              <a:off x="0" y="0"/>
              <a:ext cx="5655468" cy="565943"/>
            </a:xfrm>
            <a:custGeom>
              <a:rect b="b" l="l" r="r" t="t"/>
              <a:pathLst>
                <a:path extrusionOk="0" h="565943" w="5655468">
                  <a:moveTo>
                    <a:pt x="0" y="0"/>
                  </a:moveTo>
                  <a:lnTo>
                    <a:pt x="5655468" y="0"/>
                  </a:lnTo>
                  <a:lnTo>
                    <a:pt x="5655468" y="565943"/>
                  </a:lnTo>
                  <a:lnTo>
                    <a:pt x="0" y="5659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7" name="Google Shape;407;p9"/>
            <p:cNvSpPr txBox="1"/>
            <p:nvPr/>
          </p:nvSpPr>
          <p:spPr>
            <a:xfrm>
              <a:off x="0" y="-142875"/>
              <a:ext cx="5655468" cy="7088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27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62" u="none" cap="none" strike="noStrike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/>
            </a:p>
          </p:txBody>
        </p:sp>
      </p:grpSp>
      <p:grpSp>
        <p:nvGrpSpPr>
          <p:cNvPr id="408" name="Google Shape;408;p9"/>
          <p:cNvGrpSpPr/>
          <p:nvPr/>
        </p:nvGrpSpPr>
        <p:grpSpPr>
          <a:xfrm>
            <a:off x="5984974" y="7800083"/>
            <a:ext cx="4241601" cy="956072"/>
            <a:chOff x="0" y="-142875"/>
            <a:chExt cx="5655468" cy="1274763"/>
          </a:xfrm>
        </p:grpSpPr>
        <p:sp>
          <p:nvSpPr>
            <p:cNvPr id="409" name="Google Shape;409;p9"/>
            <p:cNvSpPr/>
            <p:nvPr/>
          </p:nvSpPr>
          <p:spPr>
            <a:xfrm>
              <a:off x="0" y="0"/>
              <a:ext cx="5655468" cy="1131888"/>
            </a:xfrm>
            <a:custGeom>
              <a:rect b="b" l="l" r="r" t="t"/>
              <a:pathLst>
                <a:path extrusionOk="0" h="1131888" w="5655468">
                  <a:moveTo>
                    <a:pt x="0" y="0"/>
                  </a:moveTo>
                  <a:lnTo>
                    <a:pt x="5655468" y="0"/>
                  </a:lnTo>
                  <a:lnTo>
                    <a:pt x="5655468" y="1131888"/>
                  </a:lnTo>
                  <a:lnTo>
                    <a:pt x="0" y="11318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10" name="Google Shape;410;p9"/>
            <p:cNvSpPr txBox="1"/>
            <p:nvPr/>
          </p:nvSpPr>
          <p:spPr>
            <a:xfrm>
              <a:off x="0" y="-142875"/>
              <a:ext cx="5655468" cy="1274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27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62" u="none" cap="none" strike="noStrike">
                  <a:solidFill>
                    <a:srgbClr val="E5E0DF"/>
                  </a:solidFill>
                  <a:latin typeface="Roboto"/>
                  <a:ea typeface="Roboto"/>
                  <a:cs typeface="Roboto"/>
                  <a:sym typeface="Roboto"/>
                </a:rPr>
                <a:t>El proceso se repite hasta que solo queda un hash, la raíz del árbol.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9191A"/>
          </a:solidFill>
          <a:ln>
            <a:noFill/>
          </a:ln>
        </p:spPr>
      </p:sp>
      <p:sp>
        <p:nvSpPr>
          <p:cNvPr id="420" name="Google Shape;420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161719"/>
              </a:gs>
              <a:gs pos="100000">
                <a:srgbClr val="000000"/>
              </a:gs>
            </a:gsLst>
            <a:lin ang="0" scaled="0"/>
          </a:gradFill>
          <a:ln>
            <a:noFill/>
          </a:ln>
        </p:spPr>
      </p:sp>
      <p:sp>
        <p:nvSpPr>
          <p:cNvPr descr="preencoded.png" id="421" name="Google Shape;421;p10">
            <a:hlinkClick r:id="rId3"/>
          </p:cNvPr>
          <p:cNvSpPr/>
          <p:nvPr/>
        </p:nvSpPr>
        <p:spPr>
          <a:xfrm>
            <a:off x="16049019" y="9686925"/>
            <a:ext cx="2153256" cy="514350"/>
          </a:xfrm>
          <a:custGeom>
            <a:rect b="b" l="l" r="r" t="t"/>
            <a:pathLst>
              <a:path extrusionOk="0" h="514350" w="2153256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422" name="Google Shape;422;p10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23" name="Google Shape;423;p10"/>
          <p:cNvGrpSpPr/>
          <p:nvPr/>
        </p:nvGrpSpPr>
        <p:grpSpPr>
          <a:xfrm>
            <a:off x="813792" y="539949"/>
            <a:ext cx="9802417" cy="2192534"/>
            <a:chOff x="0" y="-133350"/>
            <a:chExt cx="13069889" cy="2923380"/>
          </a:xfrm>
        </p:grpSpPr>
        <p:sp>
          <p:nvSpPr>
            <p:cNvPr id="424" name="Google Shape;424;p10"/>
            <p:cNvSpPr/>
            <p:nvPr/>
          </p:nvSpPr>
          <p:spPr>
            <a:xfrm>
              <a:off x="0" y="0"/>
              <a:ext cx="13069889" cy="2790030"/>
            </a:xfrm>
            <a:custGeom>
              <a:rect b="b" l="l" r="r" t="t"/>
              <a:pathLst>
                <a:path extrusionOk="0" h="2790030" w="13069889">
                  <a:moveTo>
                    <a:pt x="0" y="0"/>
                  </a:moveTo>
                  <a:lnTo>
                    <a:pt x="13069889" y="0"/>
                  </a:lnTo>
                  <a:lnTo>
                    <a:pt x="13069889" y="2790030"/>
                  </a:lnTo>
                  <a:lnTo>
                    <a:pt x="0" y="27900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25" name="Google Shape;425;p10"/>
            <p:cNvSpPr txBox="1"/>
            <p:nvPr/>
          </p:nvSpPr>
          <p:spPr>
            <a:xfrm>
              <a:off x="0" y="-133350"/>
              <a:ext cx="13069888" cy="29233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95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562" u="none" cap="none" strike="noStrike">
                  <a:solidFill>
                    <a:srgbClr val="F2F2F3"/>
                  </a:solidFill>
                  <a:latin typeface="Arial"/>
                  <a:ea typeface="Arial"/>
                  <a:cs typeface="Arial"/>
                  <a:sym typeface="Arial"/>
                </a:rPr>
                <a:t>VENTAJAS DEL ÁRBOL DE MERKLE EN BLOCKCHAIN</a:t>
              </a:r>
              <a:endParaRPr/>
            </a:p>
          </p:txBody>
        </p:sp>
      </p:grpSp>
      <p:sp>
        <p:nvSpPr>
          <p:cNvPr descr="preencoded.png" id="426" name="Google Shape;426;p10"/>
          <p:cNvSpPr/>
          <p:nvPr/>
        </p:nvSpPr>
        <p:spPr>
          <a:xfrm>
            <a:off x="813792" y="2441822"/>
            <a:ext cx="581322" cy="581322"/>
          </a:xfrm>
          <a:custGeom>
            <a:rect b="b" l="l" r="r" t="t"/>
            <a:pathLst>
              <a:path extrusionOk="0" h="581322" w="581322">
                <a:moveTo>
                  <a:pt x="0" y="0"/>
                </a:moveTo>
                <a:lnTo>
                  <a:pt x="581323" y="0"/>
                </a:lnTo>
                <a:lnTo>
                  <a:pt x="581323" y="581323"/>
                </a:lnTo>
                <a:lnTo>
                  <a:pt x="0" y="5813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27" name="Google Shape;427;p10"/>
          <p:cNvGrpSpPr/>
          <p:nvPr/>
        </p:nvGrpSpPr>
        <p:grpSpPr>
          <a:xfrm>
            <a:off x="813792" y="2980283"/>
            <a:ext cx="3060352" cy="923792"/>
            <a:chOff x="0" y="-57150"/>
            <a:chExt cx="4080470" cy="1231724"/>
          </a:xfrm>
        </p:grpSpPr>
        <p:sp>
          <p:nvSpPr>
            <p:cNvPr id="428" name="Google Shape;428;p10"/>
            <p:cNvSpPr/>
            <p:nvPr/>
          </p:nvSpPr>
          <p:spPr>
            <a:xfrm>
              <a:off x="0" y="0"/>
              <a:ext cx="4080470" cy="1174574"/>
            </a:xfrm>
            <a:custGeom>
              <a:rect b="b" l="l" r="r" t="t"/>
              <a:pathLst>
                <a:path extrusionOk="0" h="1174574" w="4080470">
                  <a:moveTo>
                    <a:pt x="0" y="0"/>
                  </a:moveTo>
                  <a:lnTo>
                    <a:pt x="4080470" y="0"/>
                  </a:lnTo>
                  <a:lnTo>
                    <a:pt x="4080470" y="1174574"/>
                  </a:lnTo>
                  <a:lnTo>
                    <a:pt x="0" y="11745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29" name="Google Shape;429;p10"/>
            <p:cNvSpPr txBox="1"/>
            <p:nvPr/>
          </p:nvSpPr>
          <p:spPr>
            <a:xfrm>
              <a:off x="0" y="-57150"/>
              <a:ext cx="4080470" cy="12317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49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Verificación de datos</a:t>
              </a:r>
              <a:endParaRPr/>
            </a:p>
          </p:txBody>
        </p:sp>
      </p:grpSp>
      <p:grpSp>
        <p:nvGrpSpPr>
          <p:cNvPr id="430" name="Google Shape;430;p10"/>
          <p:cNvGrpSpPr/>
          <p:nvPr/>
        </p:nvGrpSpPr>
        <p:grpSpPr>
          <a:xfrm>
            <a:off x="813792" y="4059740"/>
            <a:ext cx="9802417" cy="891780"/>
            <a:chOff x="0" y="-123825"/>
            <a:chExt cx="13069889" cy="1189040"/>
          </a:xfrm>
        </p:grpSpPr>
        <p:sp>
          <p:nvSpPr>
            <p:cNvPr id="431" name="Google Shape;431;p10"/>
            <p:cNvSpPr/>
            <p:nvPr/>
          </p:nvSpPr>
          <p:spPr>
            <a:xfrm>
              <a:off x="0" y="0"/>
              <a:ext cx="13069889" cy="1065215"/>
            </a:xfrm>
            <a:custGeom>
              <a:rect b="b" l="l" r="r" t="t"/>
              <a:pathLst>
                <a:path extrusionOk="0" h="1065215" w="13069889">
                  <a:moveTo>
                    <a:pt x="0" y="0"/>
                  </a:moveTo>
                  <a:lnTo>
                    <a:pt x="13069889" y="0"/>
                  </a:lnTo>
                  <a:lnTo>
                    <a:pt x="13069889" y="1065215"/>
                  </a:lnTo>
                  <a:lnTo>
                    <a:pt x="0" y="10652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2" name="Google Shape;432;p10"/>
            <p:cNvSpPr txBox="1"/>
            <p:nvPr/>
          </p:nvSpPr>
          <p:spPr>
            <a:xfrm>
              <a:off x="0" y="-123825"/>
              <a:ext cx="13069888" cy="1189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034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12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Los árboles de Merkle permiten verificar la integridad de los datos en una blockchain de forma eficiente.</a:t>
              </a:r>
              <a:endParaRPr/>
            </a:p>
          </p:txBody>
        </p:sp>
      </p:grpSp>
      <p:sp>
        <p:nvSpPr>
          <p:cNvPr descr="preencoded.png" id="433" name="Google Shape;433;p10"/>
          <p:cNvSpPr/>
          <p:nvPr/>
        </p:nvSpPr>
        <p:spPr>
          <a:xfrm>
            <a:off x="813792" y="5200055"/>
            <a:ext cx="581322" cy="581322"/>
          </a:xfrm>
          <a:custGeom>
            <a:rect b="b" l="l" r="r" t="t"/>
            <a:pathLst>
              <a:path extrusionOk="0" h="581322" w="581322">
                <a:moveTo>
                  <a:pt x="0" y="0"/>
                </a:moveTo>
                <a:lnTo>
                  <a:pt x="581323" y="0"/>
                </a:lnTo>
                <a:lnTo>
                  <a:pt x="581323" y="581322"/>
                </a:lnTo>
                <a:lnTo>
                  <a:pt x="0" y="5813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34" name="Google Shape;434;p10"/>
          <p:cNvGrpSpPr/>
          <p:nvPr/>
        </p:nvGrpSpPr>
        <p:grpSpPr>
          <a:xfrm>
            <a:off x="813792" y="5738514"/>
            <a:ext cx="2906762" cy="638622"/>
            <a:chOff x="0" y="-57150"/>
            <a:chExt cx="3875683" cy="851495"/>
          </a:xfrm>
        </p:grpSpPr>
        <p:sp>
          <p:nvSpPr>
            <p:cNvPr id="435" name="Google Shape;435;p10"/>
            <p:cNvSpPr/>
            <p:nvPr/>
          </p:nvSpPr>
          <p:spPr>
            <a:xfrm>
              <a:off x="0" y="0"/>
              <a:ext cx="3875683" cy="794345"/>
            </a:xfrm>
            <a:custGeom>
              <a:rect b="b" l="l" r="r" t="t"/>
              <a:pathLst>
                <a:path extrusionOk="0" h="794345" w="3875683">
                  <a:moveTo>
                    <a:pt x="0" y="0"/>
                  </a:moveTo>
                  <a:lnTo>
                    <a:pt x="3875683" y="0"/>
                  </a:lnTo>
                  <a:lnTo>
                    <a:pt x="3875683" y="794345"/>
                  </a:lnTo>
                  <a:lnTo>
                    <a:pt x="0" y="7943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6" name="Google Shape;436;p10"/>
            <p:cNvSpPr txBox="1"/>
            <p:nvPr/>
          </p:nvSpPr>
          <p:spPr>
            <a:xfrm>
              <a:off x="0" y="-57150"/>
              <a:ext cx="3875683" cy="8514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49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Eficiencia</a:t>
              </a:r>
              <a:endParaRPr/>
            </a:p>
          </p:txBody>
        </p:sp>
      </p:grpSp>
      <p:grpSp>
        <p:nvGrpSpPr>
          <p:cNvPr id="437" name="Google Shape;437;p10"/>
          <p:cNvGrpSpPr/>
          <p:nvPr/>
        </p:nvGrpSpPr>
        <p:grpSpPr>
          <a:xfrm>
            <a:off x="813792" y="6423720"/>
            <a:ext cx="9802417" cy="891780"/>
            <a:chOff x="0" y="-123825"/>
            <a:chExt cx="13069889" cy="1189040"/>
          </a:xfrm>
        </p:grpSpPr>
        <p:sp>
          <p:nvSpPr>
            <p:cNvPr id="438" name="Google Shape;438;p10"/>
            <p:cNvSpPr/>
            <p:nvPr/>
          </p:nvSpPr>
          <p:spPr>
            <a:xfrm>
              <a:off x="0" y="0"/>
              <a:ext cx="13069889" cy="1065215"/>
            </a:xfrm>
            <a:custGeom>
              <a:rect b="b" l="l" r="r" t="t"/>
              <a:pathLst>
                <a:path extrusionOk="0" h="1065215" w="13069889">
                  <a:moveTo>
                    <a:pt x="0" y="0"/>
                  </a:moveTo>
                  <a:lnTo>
                    <a:pt x="13069889" y="0"/>
                  </a:lnTo>
                  <a:lnTo>
                    <a:pt x="13069889" y="1065215"/>
                  </a:lnTo>
                  <a:lnTo>
                    <a:pt x="0" y="10652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9" name="Google Shape;439;p10"/>
            <p:cNvSpPr txBox="1"/>
            <p:nvPr/>
          </p:nvSpPr>
          <p:spPr>
            <a:xfrm>
              <a:off x="0" y="-123825"/>
              <a:ext cx="13069888" cy="1189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034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12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Los árboles de Merkle reducen la cantidad de datos que se necesitan descargar para verificar la integridad.</a:t>
              </a:r>
              <a:endParaRPr/>
            </a:p>
          </p:txBody>
        </p:sp>
      </p:grpSp>
      <p:sp>
        <p:nvSpPr>
          <p:cNvPr descr="preencoded.png" id="440" name="Google Shape;440;p10"/>
          <p:cNvSpPr/>
          <p:nvPr/>
        </p:nvSpPr>
        <p:spPr>
          <a:xfrm>
            <a:off x="813792" y="7958286"/>
            <a:ext cx="581322" cy="581322"/>
          </a:xfrm>
          <a:custGeom>
            <a:rect b="b" l="l" r="r" t="t"/>
            <a:pathLst>
              <a:path extrusionOk="0" h="581322" w="581322">
                <a:moveTo>
                  <a:pt x="0" y="0"/>
                </a:moveTo>
                <a:lnTo>
                  <a:pt x="581323" y="0"/>
                </a:lnTo>
                <a:lnTo>
                  <a:pt x="581323" y="581323"/>
                </a:lnTo>
                <a:lnTo>
                  <a:pt x="0" y="5813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41" name="Google Shape;441;p10"/>
          <p:cNvGrpSpPr/>
          <p:nvPr/>
        </p:nvGrpSpPr>
        <p:grpSpPr>
          <a:xfrm>
            <a:off x="813792" y="8496747"/>
            <a:ext cx="2906762" cy="638622"/>
            <a:chOff x="0" y="-57150"/>
            <a:chExt cx="3875683" cy="851497"/>
          </a:xfrm>
        </p:grpSpPr>
        <p:sp>
          <p:nvSpPr>
            <p:cNvPr id="442" name="Google Shape;442;p10"/>
            <p:cNvSpPr/>
            <p:nvPr/>
          </p:nvSpPr>
          <p:spPr>
            <a:xfrm>
              <a:off x="0" y="0"/>
              <a:ext cx="3875683" cy="794347"/>
            </a:xfrm>
            <a:custGeom>
              <a:rect b="b" l="l" r="r" t="t"/>
              <a:pathLst>
                <a:path extrusionOk="0" h="794347" w="3875683">
                  <a:moveTo>
                    <a:pt x="0" y="0"/>
                  </a:moveTo>
                  <a:lnTo>
                    <a:pt x="3875683" y="0"/>
                  </a:lnTo>
                  <a:lnTo>
                    <a:pt x="3875683" y="794347"/>
                  </a:lnTo>
                  <a:lnTo>
                    <a:pt x="0" y="7943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3" name="Google Shape;443;p10"/>
            <p:cNvSpPr txBox="1"/>
            <p:nvPr/>
          </p:nvSpPr>
          <p:spPr>
            <a:xfrm>
              <a:off x="0" y="-57150"/>
              <a:ext cx="3875683" cy="8514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49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Seguridad</a:t>
              </a:r>
              <a:endParaRPr/>
            </a:p>
          </p:txBody>
        </p:sp>
      </p:grpSp>
      <p:grpSp>
        <p:nvGrpSpPr>
          <p:cNvPr id="444" name="Google Shape;444;p10"/>
          <p:cNvGrpSpPr/>
          <p:nvPr/>
        </p:nvGrpSpPr>
        <p:grpSpPr>
          <a:xfrm>
            <a:off x="813792" y="9181951"/>
            <a:ext cx="9802417" cy="464939"/>
            <a:chOff x="0" y="-123825"/>
            <a:chExt cx="13069889" cy="619918"/>
          </a:xfrm>
        </p:grpSpPr>
        <p:sp>
          <p:nvSpPr>
            <p:cNvPr id="445" name="Google Shape;445;p10"/>
            <p:cNvSpPr/>
            <p:nvPr/>
          </p:nvSpPr>
          <p:spPr>
            <a:xfrm>
              <a:off x="0" y="0"/>
              <a:ext cx="13069889" cy="496093"/>
            </a:xfrm>
            <a:custGeom>
              <a:rect b="b" l="l" r="r" t="t"/>
              <a:pathLst>
                <a:path extrusionOk="0" h="496093" w="13069889">
                  <a:moveTo>
                    <a:pt x="0" y="0"/>
                  </a:moveTo>
                  <a:lnTo>
                    <a:pt x="13069889" y="0"/>
                  </a:lnTo>
                  <a:lnTo>
                    <a:pt x="13069889" y="496093"/>
                  </a:lnTo>
                  <a:lnTo>
                    <a:pt x="0" y="4960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6" name="Google Shape;446;p10"/>
            <p:cNvSpPr txBox="1"/>
            <p:nvPr/>
          </p:nvSpPr>
          <p:spPr>
            <a:xfrm>
              <a:off x="0" y="-123825"/>
              <a:ext cx="13069888" cy="6199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034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12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Los árboles de Merkle dificultan la manipulación de datos en una blockchain.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9191A"/>
          </a:solidFill>
          <a:ln>
            <a:noFill/>
          </a:ln>
        </p:spPr>
      </p:sp>
      <p:sp>
        <p:nvSpPr>
          <p:cNvPr id="456" name="Google Shape;456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161719"/>
              </a:gs>
              <a:gs pos="100000">
                <a:srgbClr val="000000"/>
              </a:gs>
            </a:gsLst>
            <a:lin ang="0" scaled="0"/>
          </a:gradFill>
          <a:ln>
            <a:noFill/>
          </a:ln>
        </p:spPr>
      </p:sp>
      <p:sp>
        <p:nvSpPr>
          <p:cNvPr descr="preencoded.png" id="457" name="Google Shape;457;p11"/>
          <p:cNvSpPr/>
          <p:nvPr/>
        </p:nvSpPr>
        <p:spPr>
          <a:xfrm>
            <a:off x="0" y="0"/>
            <a:ext cx="6611987" cy="10287000"/>
          </a:xfrm>
          <a:custGeom>
            <a:rect b="b" l="l" r="r" t="t"/>
            <a:pathLst>
              <a:path extrusionOk="0" h="10287000" w="6611987">
                <a:moveTo>
                  <a:pt x="0" y="0"/>
                </a:moveTo>
                <a:lnTo>
                  <a:pt x="6611987" y="0"/>
                </a:lnTo>
                <a:lnTo>
                  <a:pt x="661198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3719" t="0"/>
            </a:stretch>
          </a:blipFill>
          <a:ln>
            <a:noFill/>
          </a:ln>
        </p:spPr>
      </p:sp>
      <p:grpSp>
        <p:nvGrpSpPr>
          <p:cNvPr id="458" name="Google Shape;458;p11"/>
          <p:cNvGrpSpPr/>
          <p:nvPr/>
        </p:nvGrpSpPr>
        <p:grpSpPr>
          <a:xfrm>
            <a:off x="7850237" y="241702"/>
            <a:ext cx="9275410" cy="1490806"/>
            <a:chOff x="0" y="-152400"/>
            <a:chExt cx="12367213" cy="1987742"/>
          </a:xfrm>
        </p:grpSpPr>
        <p:sp>
          <p:nvSpPr>
            <p:cNvPr id="459" name="Google Shape;459;p11"/>
            <p:cNvSpPr/>
            <p:nvPr/>
          </p:nvSpPr>
          <p:spPr>
            <a:xfrm>
              <a:off x="0" y="0"/>
              <a:ext cx="12367213" cy="1835342"/>
            </a:xfrm>
            <a:custGeom>
              <a:rect b="b" l="l" r="r" t="t"/>
              <a:pathLst>
                <a:path extrusionOk="0" h="1835342" w="12367213">
                  <a:moveTo>
                    <a:pt x="0" y="0"/>
                  </a:moveTo>
                  <a:lnTo>
                    <a:pt x="12367213" y="0"/>
                  </a:lnTo>
                  <a:lnTo>
                    <a:pt x="12367213" y="1835342"/>
                  </a:lnTo>
                  <a:lnTo>
                    <a:pt x="0" y="1835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60" name="Google Shape;460;p11"/>
            <p:cNvSpPr txBox="1"/>
            <p:nvPr/>
          </p:nvSpPr>
          <p:spPr>
            <a:xfrm>
              <a:off x="0" y="-152400"/>
              <a:ext cx="12367212" cy="1987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96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62" u="none" cap="none" strike="noStrike">
                  <a:solidFill>
                    <a:srgbClr val="F2F2F3"/>
                  </a:solidFill>
                  <a:latin typeface="Arial"/>
                  <a:ea typeface="Arial"/>
                  <a:cs typeface="Arial"/>
                  <a:sym typeface="Arial"/>
                </a:rPr>
                <a:t>Seguridad en blockchain</a:t>
              </a:r>
              <a:endParaRPr/>
            </a:p>
          </p:txBody>
        </p:sp>
      </p:grpSp>
      <p:sp>
        <p:nvSpPr>
          <p:cNvPr id="461" name="Google Shape;461;p11"/>
          <p:cNvSpPr/>
          <p:nvPr/>
        </p:nvSpPr>
        <p:spPr>
          <a:xfrm>
            <a:off x="8256389" y="2157710"/>
            <a:ext cx="38100" cy="7282624"/>
          </a:xfrm>
          <a:custGeom>
            <a:rect b="b" l="l" r="r" t="t"/>
            <a:pathLst>
              <a:path extrusionOk="0" h="9710166" w="50800">
                <a:moveTo>
                  <a:pt x="0" y="25400"/>
                </a:moveTo>
                <a:cubicBezTo>
                  <a:pt x="0" y="11430"/>
                  <a:pt x="11430" y="0"/>
                  <a:pt x="25400" y="0"/>
                </a:cubicBezTo>
                <a:cubicBezTo>
                  <a:pt x="39370" y="0"/>
                  <a:pt x="50800" y="11430"/>
                  <a:pt x="50800" y="25400"/>
                </a:cubicBezTo>
                <a:lnTo>
                  <a:pt x="50800" y="9684766"/>
                </a:lnTo>
                <a:cubicBezTo>
                  <a:pt x="50800" y="9698736"/>
                  <a:pt x="39370" y="9710166"/>
                  <a:pt x="25400" y="9710166"/>
                </a:cubicBezTo>
                <a:cubicBezTo>
                  <a:pt x="11430" y="9710166"/>
                  <a:pt x="0" y="9698736"/>
                  <a:pt x="0" y="9684766"/>
                </a:cubicBezTo>
                <a:close/>
              </a:path>
            </a:pathLst>
          </a:cu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1"/>
          <p:cNvSpPr/>
          <p:nvPr/>
        </p:nvSpPr>
        <p:spPr>
          <a:xfrm>
            <a:off x="8556277" y="2776538"/>
            <a:ext cx="992219" cy="38100"/>
          </a:xfrm>
          <a:custGeom>
            <a:rect b="b" l="l" r="r" t="t"/>
            <a:pathLst>
              <a:path extrusionOk="0" h="50800" w="1322959">
                <a:moveTo>
                  <a:pt x="0" y="25400"/>
                </a:moveTo>
                <a:cubicBezTo>
                  <a:pt x="0" y="11430"/>
                  <a:pt x="11430" y="0"/>
                  <a:pt x="25400" y="0"/>
                </a:cubicBezTo>
                <a:lnTo>
                  <a:pt x="1297559" y="0"/>
                </a:lnTo>
                <a:cubicBezTo>
                  <a:pt x="1311529" y="0"/>
                  <a:pt x="1322959" y="11430"/>
                  <a:pt x="1322959" y="25400"/>
                </a:cubicBezTo>
                <a:cubicBezTo>
                  <a:pt x="1322959" y="39370"/>
                  <a:pt x="1311529" y="50800"/>
                  <a:pt x="1297559" y="50800"/>
                </a:cubicBezTo>
                <a:lnTo>
                  <a:pt x="25400" y="50800"/>
                </a:lnTo>
                <a:cubicBezTo>
                  <a:pt x="11430" y="50800"/>
                  <a:pt x="0" y="39370"/>
                  <a:pt x="0" y="25400"/>
                </a:cubicBezTo>
                <a:close/>
              </a:path>
            </a:pathLst>
          </a:cu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3" name="Google Shape;463;p11"/>
          <p:cNvGrpSpPr/>
          <p:nvPr/>
        </p:nvGrpSpPr>
        <p:grpSpPr>
          <a:xfrm>
            <a:off x="7950547" y="2470696"/>
            <a:ext cx="649796" cy="649796"/>
            <a:chOff x="0" y="0"/>
            <a:chExt cx="866394" cy="866394"/>
          </a:xfrm>
        </p:grpSpPr>
        <p:sp>
          <p:nvSpPr>
            <p:cNvPr id="464" name="Google Shape;464;p11"/>
            <p:cNvSpPr/>
            <p:nvPr/>
          </p:nvSpPr>
          <p:spPr>
            <a:xfrm>
              <a:off x="7874" y="8001"/>
              <a:ext cx="850519" cy="850392"/>
            </a:xfrm>
            <a:custGeom>
              <a:rect b="b" l="l" r="r" t="t"/>
              <a:pathLst>
                <a:path extrusionOk="0" h="850392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642"/>
                  </a:lnTo>
                  <a:cubicBezTo>
                    <a:pt x="850519" y="779272"/>
                    <a:pt x="779399" y="850392"/>
                    <a:pt x="691769" y="850392"/>
                  </a:cubicBezTo>
                  <a:lnTo>
                    <a:pt x="158877" y="850392"/>
                  </a:lnTo>
                  <a:cubicBezTo>
                    <a:pt x="71247" y="850392"/>
                    <a:pt x="127" y="779272"/>
                    <a:pt x="127" y="691642"/>
                  </a:cubicBezTo>
                  <a:close/>
                </a:path>
              </a:pathLst>
            </a:custGeom>
            <a:solidFill>
              <a:srgbClr val="3D3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1"/>
            <p:cNvSpPr/>
            <p:nvPr/>
          </p:nvSpPr>
          <p:spPr>
            <a:xfrm>
              <a:off x="0" y="0"/>
              <a:ext cx="866394" cy="866394"/>
            </a:xfrm>
            <a:custGeom>
              <a:rect b="b" l="l" r="r" t="t"/>
              <a:pathLst>
                <a:path extrusionOk="0" h="866394" w="866394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cubicBezTo>
                    <a:pt x="791718" y="0"/>
                    <a:pt x="866394" y="74676"/>
                    <a:pt x="866394" y="166751"/>
                  </a:cubicBezTo>
                  <a:lnTo>
                    <a:pt x="866394" y="699643"/>
                  </a:lnTo>
                  <a:lnTo>
                    <a:pt x="858520" y="699643"/>
                  </a:lnTo>
                  <a:lnTo>
                    <a:pt x="866394" y="699643"/>
                  </a:lnTo>
                  <a:cubicBezTo>
                    <a:pt x="866394" y="791718"/>
                    <a:pt x="791718" y="866394"/>
                    <a:pt x="699643" y="866394"/>
                  </a:cubicBezTo>
                  <a:lnTo>
                    <a:pt x="699643" y="858520"/>
                  </a:lnTo>
                  <a:lnTo>
                    <a:pt x="699643" y="866394"/>
                  </a:lnTo>
                  <a:lnTo>
                    <a:pt x="166751" y="866394"/>
                  </a:lnTo>
                  <a:lnTo>
                    <a:pt x="166751" y="858520"/>
                  </a:lnTo>
                  <a:lnTo>
                    <a:pt x="166751" y="866394"/>
                  </a:lnTo>
                  <a:cubicBezTo>
                    <a:pt x="74676" y="866394"/>
                    <a:pt x="0" y="791718"/>
                    <a:pt x="0" y="699643"/>
                  </a:cubicBezTo>
                  <a:lnTo>
                    <a:pt x="0" y="166751"/>
                  </a:lnTo>
                  <a:lnTo>
                    <a:pt x="7874" y="166751"/>
                  </a:lnTo>
                  <a:lnTo>
                    <a:pt x="0" y="166751"/>
                  </a:lnTo>
                  <a:moveTo>
                    <a:pt x="15875" y="166751"/>
                  </a:moveTo>
                  <a:lnTo>
                    <a:pt x="15875" y="699643"/>
                  </a:lnTo>
                  <a:lnTo>
                    <a:pt x="7874" y="699643"/>
                  </a:lnTo>
                  <a:lnTo>
                    <a:pt x="15748" y="699643"/>
                  </a:lnTo>
                  <a:cubicBezTo>
                    <a:pt x="15748" y="782955"/>
                    <a:pt x="83312" y="850519"/>
                    <a:pt x="166624" y="850519"/>
                  </a:cubicBezTo>
                  <a:lnTo>
                    <a:pt x="699643" y="850519"/>
                  </a:lnTo>
                  <a:cubicBezTo>
                    <a:pt x="782955" y="850519"/>
                    <a:pt x="850519" y="782955"/>
                    <a:pt x="850519" y="699643"/>
                  </a:cubicBezTo>
                  <a:lnTo>
                    <a:pt x="850519" y="166751"/>
                  </a:lnTo>
                  <a:lnTo>
                    <a:pt x="858393" y="166751"/>
                  </a:lnTo>
                  <a:lnTo>
                    <a:pt x="850519" y="166751"/>
                  </a:lnTo>
                  <a:cubicBezTo>
                    <a:pt x="850519" y="83439"/>
                    <a:pt x="782955" y="15875"/>
                    <a:pt x="699643" y="15875"/>
                  </a:cubicBezTo>
                  <a:lnTo>
                    <a:pt x="166751" y="15875"/>
                  </a:lnTo>
                  <a:lnTo>
                    <a:pt x="166751" y="7874"/>
                  </a:lnTo>
                  <a:lnTo>
                    <a:pt x="166751" y="15748"/>
                  </a:lnTo>
                  <a:cubicBezTo>
                    <a:pt x="83439" y="15875"/>
                    <a:pt x="15875" y="83439"/>
                    <a:pt x="15875" y="166751"/>
                  </a:cubicBezTo>
                  <a:close/>
                </a:path>
              </a:pathLst>
            </a:custGeom>
            <a:solidFill>
              <a:srgbClr val="5656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6" name="Google Shape;466;p11"/>
          <p:cNvGrpSpPr/>
          <p:nvPr/>
        </p:nvGrpSpPr>
        <p:grpSpPr>
          <a:xfrm>
            <a:off x="8213229" y="2443611"/>
            <a:ext cx="157057" cy="564653"/>
            <a:chOff x="0" y="-28575"/>
            <a:chExt cx="165695" cy="595710"/>
          </a:xfrm>
        </p:grpSpPr>
        <p:sp>
          <p:nvSpPr>
            <p:cNvPr id="467" name="Google Shape;467;p11"/>
            <p:cNvSpPr/>
            <p:nvPr/>
          </p:nvSpPr>
          <p:spPr>
            <a:xfrm>
              <a:off x="0" y="0"/>
              <a:ext cx="165695" cy="567135"/>
            </a:xfrm>
            <a:custGeom>
              <a:rect b="b" l="l" r="r" t="t"/>
              <a:pathLst>
                <a:path extrusionOk="0" h="567135" w="165695">
                  <a:moveTo>
                    <a:pt x="0" y="0"/>
                  </a:moveTo>
                  <a:lnTo>
                    <a:pt x="165695" y="0"/>
                  </a:lnTo>
                  <a:lnTo>
                    <a:pt x="165695" y="567135"/>
                  </a:lnTo>
                  <a:lnTo>
                    <a:pt x="0" y="5671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68" name="Google Shape;468;p11"/>
            <p:cNvSpPr txBox="1"/>
            <p:nvPr/>
          </p:nvSpPr>
          <p:spPr>
            <a:xfrm>
              <a:off x="0" y="-28575"/>
              <a:ext cx="165695" cy="595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12" u="none" cap="none" strike="noStrike">
                  <a:solidFill>
                    <a:srgbClr val="E5E0D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1</a:t>
              </a:r>
              <a:endParaRPr/>
            </a:p>
          </p:txBody>
        </p:sp>
      </p:grpSp>
      <p:grpSp>
        <p:nvGrpSpPr>
          <p:cNvPr id="469" name="Google Shape;469;p11"/>
          <p:cNvGrpSpPr/>
          <p:nvPr/>
        </p:nvGrpSpPr>
        <p:grpSpPr>
          <a:xfrm>
            <a:off x="9834860" y="2100560"/>
            <a:ext cx="3544044" cy="783580"/>
            <a:chOff x="0" y="-76200"/>
            <a:chExt cx="4725392" cy="1044773"/>
          </a:xfrm>
        </p:grpSpPr>
        <p:sp>
          <p:nvSpPr>
            <p:cNvPr id="470" name="Google Shape;470;p11"/>
            <p:cNvSpPr/>
            <p:nvPr/>
          </p:nvSpPr>
          <p:spPr>
            <a:xfrm>
              <a:off x="0" y="0"/>
              <a:ext cx="4725392" cy="968573"/>
            </a:xfrm>
            <a:custGeom>
              <a:rect b="b" l="l" r="r" t="t"/>
              <a:pathLst>
                <a:path extrusionOk="0" h="968573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968573"/>
                  </a:lnTo>
                  <a:lnTo>
                    <a:pt x="0" y="9685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71" name="Google Shape;471;p11"/>
            <p:cNvSpPr txBox="1"/>
            <p:nvPr/>
          </p:nvSpPr>
          <p:spPr>
            <a:xfrm>
              <a:off x="0" y="-76200"/>
              <a:ext cx="4725392" cy="10447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Criptografía</a:t>
              </a:r>
              <a:endParaRPr/>
            </a:p>
          </p:txBody>
        </p:sp>
      </p:grpSp>
      <p:grpSp>
        <p:nvGrpSpPr>
          <p:cNvPr id="472" name="Google Shape;472;p11"/>
          <p:cNvGrpSpPr/>
          <p:nvPr/>
        </p:nvGrpSpPr>
        <p:grpSpPr>
          <a:xfrm>
            <a:off x="9834860" y="2939951"/>
            <a:ext cx="7460902" cy="1096698"/>
            <a:chOff x="0" y="-152400"/>
            <a:chExt cx="9947870" cy="1462265"/>
          </a:xfrm>
        </p:grpSpPr>
        <p:sp>
          <p:nvSpPr>
            <p:cNvPr id="473" name="Google Shape;473;p11"/>
            <p:cNvSpPr/>
            <p:nvPr/>
          </p:nvSpPr>
          <p:spPr>
            <a:xfrm>
              <a:off x="0" y="0"/>
              <a:ext cx="9947870" cy="1309865"/>
            </a:xfrm>
            <a:custGeom>
              <a:rect b="b" l="l" r="r" t="t"/>
              <a:pathLst>
                <a:path extrusionOk="0" h="1309865" w="9947870">
                  <a:moveTo>
                    <a:pt x="0" y="0"/>
                  </a:moveTo>
                  <a:lnTo>
                    <a:pt x="9947870" y="0"/>
                  </a:lnTo>
                  <a:lnTo>
                    <a:pt x="9947870" y="1309865"/>
                  </a:lnTo>
                  <a:lnTo>
                    <a:pt x="0" y="13098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74" name="Google Shape;474;p11"/>
            <p:cNvSpPr txBox="1"/>
            <p:nvPr/>
          </p:nvSpPr>
          <p:spPr>
            <a:xfrm>
              <a:off x="0" y="-152400"/>
              <a:ext cx="9947870" cy="1462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54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La criptografía se utiliza para asegurar las transacciones y proteger los datos.</a:t>
              </a:r>
              <a:endParaRPr/>
            </a:p>
          </p:txBody>
        </p:sp>
      </p:grpSp>
      <p:sp>
        <p:nvSpPr>
          <p:cNvPr id="475" name="Google Shape;475;p11"/>
          <p:cNvSpPr/>
          <p:nvPr/>
        </p:nvSpPr>
        <p:spPr>
          <a:xfrm>
            <a:off x="8556277" y="5147370"/>
            <a:ext cx="992219" cy="38100"/>
          </a:xfrm>
          <a:custGeom>
            <a:rect b="b" l="l" r="r" t="t"/>
            <a:pathLst>
              <a:path extrusionOk="0" h="50800" w="1322959">
                <a:moveTo>
                  <a:pt x="0" y="25400"/>
                </a:moveTo>
                <a:cubicBezTo>
                  <a:pt x="0" y="11430"/>
                  <a:pt x="11430" y="0"/>
                  <a:pt x="25400" y="0"/>
                </a:cubicBezTo>
                <a:lnTo>
                  <a:pt x="1297559" y="0"/>
                </a:lnTo>
                <a:cubicBezTo>
                  <a:pt x="1311529" y="0"/>
                  <a:pt x="1322959" y="11430"/>
                  <a:pt x="1322959" y="25400"/>
                </a:cubicBezTo>
                <a:cubicBezTo>
                  <a:pt x="1322959" y="39370"/>
                  <a:pt x="1311529" y="50800"/>
                  <a:pt x="1297559" y="50800"/>
                </a:cubicBezTo>
                <a:lnTo>
                  <a:pt x="25400" y="50800"/>
                </a:lnTo>
                <a:cubicBezTo>
                  <a:pt x="11430" y="50800"/>
                  <a:pt x="0" y="39370"/>
                  <a:pt x="0" y="25400"/>
                </a:cubicBezTo>
                <a:close/>
              </a:path>
            </a:pathLst>
          </a:cu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6" name="Google Shape;476;p11"/>
          <p:cNvGrpSpPr/>
          <p:nvPr/>
        </p:nvGrpSpPr>
        <p:grpSpPr>
          <a:xfrm>
            <a:off x="7950547" y="4841528"/>
            <a:ext cx="649796" cy="649796"/>
            <a:chOff x="0" y="0"/>
            <a:chExt cx="866394" cy="866394"/>
          </a:xfrm>
        </p:grpSpPr>
        <p:sp>
          <p:nvSpPr>
            <p:cNvPr id="477" name="Google Shape;477;p11"/>
            <p:cNvSpPr/>
            <p:nvPr/>
          </p:nvSpPr>
          <p:spPr>
            <a:xfrm>
              <a:off x="7874" y="8001"/>
              <a:ext cx="850519" cy="850392"/>
            </a:xfrm>
            <a:custGeom>
              <a:rect b="b" l="l" r="r" t="t"/>
              <a:pathLst>
                <a:path extrusionOk="0" h="850392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642"/>
                  </a:lnTo>
                  <a:cubicBezTo>
                    <a:pt x="850519" y="779272"/>
                    <a:pt x="779399" y="850392"/>
                    <a:pt x="691769" y="850392"/>
                  </a:cubicBezTo>
                  <a:lnTo>
                    <a:pt x="158877" y="850392"/>
                  </a:lnTo>
                  <a:cubicBezTo>
                    <a:pt x="71247" y="850392"/>
                    <a:pt x="127" y="779272"/>
                    <a:pt x="127" y="691642"/>
                  </a:cubicBezTo>
                  <a:close/>
                </a:path>
              </a:pathLst>
            </a:custGeom>
            <a:solidFill>
              <a:srgbClr val="3D3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1"/>
            <p:cNvSpPr/>
            <p:nvPr/>
          </p:nvSpPr>
          <p:spPr>
            <a:xfrm>
              <a:off x="0" y="0"/>
              <a:ext cx="866394" cy="866394"/>
            </a:xfrm>
            <a:custGeom>
              <a:rect b="b" l="l" r="r" t="t"/>
              <a:pathLst>
                <a:path extrusionOk="0" h="866394" w="866394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cubicBezTo>
                    <a:pt x="791718" y="0"/>
                    <a:pt x="866394" y="74676"/>
                    <a:pt x="866394" y="166751"/>
                  </a:cubicBezTo>
                  <a:lnTo>
                    <a:pt x="866394" y="699643"/>
                  </a:lnTo>
                  <a:lnTo>
                    <a:pt x="858520" y="699643"/>
                  </a:lnTo>
                  <a:lnTo>
                    <a:pt x="866394" y="699643"/>
                  </a:lnTo>
                  <a:cubicBezTo>
                    <a:pt x="866394" y="791718"/>
                    <a:pt x="791718" y="866394"/>
                    <a:pt x="699643" y="866394"/>
                  </a:cubicBezTo>
                  <a:lnTo>
                    <a:pt x="699643" y="858520"/>
                  </a:lnTo>
                  <a:lnTo>
                    <a:pt x="699643" y="866394"/>
                  </a:lnTo>
                  <a:lnTo>
                    <a:pt x="166751" y="866394"/>
                  </a:lnTo>
                  <a:lnTo>
                    <a:pt x="166751" y="858520"/>
                  </a:lnTo>
                  <a:lnTo>
                    <a:pt x="166751" y="866394"/>
                  </a:lnTo>
                  <a:cubicBezTo>
                    <a:pt x="74676" y="866394"/>
                    <a:pt x="0" y="791718"/>
                    <a:pt x="0" y="699643"/>
                  </a:cubicBezTo>
                  <a:lnTo>
                    <a:pt x="0" y="166751"/>
                  </a:lnTo>
                  <a:lnTo>
                    <a:pt x="7874" y="166751"/>
                  </a:lnTo>
                  <a:lnTo>
                    <a:pt x="0" y="166751"/>
                  </a:lnTo>
                  <a:moveTo>
                    <a:pt x="15875" y="166751"/>
                  </a:moveTo>
                  <a:lnTo>
                    <a:pt x="15875" y="699643"/>
                  </a:lnTo>
                  <a:lnTo>
                    <a:pt x="7874" y="699643"/>
                  </a:lnTo>
                  <a:lnTo>
                    <a:pt x="15748" y="699643"/>
                  </a:lnTo>
                  <a:cubicBezTo>
                    <a:pt x="15748" y="782955"/>
                    <a:pt x="83312" y="850519"/>
                    <a:pt x="166624" y="850519"/>
                  </a:cubicBezTo>
                  <a:lnTo>
                    <a:pt x="699643" y="850519"/>
                  </a:lnTo>
                  <a:cubicBezTo>
                    <a:pt x="782955" y="850519"/>
                    <a:pt x="850519" y="782955"/>
                    <a:pt x="850519" y="699643"/>
                  </a:cubicBezTo>
                  <a:lnTo>
                    <a:pt x="850519" y="166751"/>
                  </a:lnTo>
                  <a:lnTo>
                    <a:pt x="858393" y="166751"/>
                  </a:lnTo>
                  <a:lnTo>
                    <a:pt x="850519" y="166751"/>
                  </a:lnTo>
                  <a:cubicBezTo>
                    <a:pt x="850519" y="83439"/>
                    <a:pt x="782955" y="15875"/>
                    <a:pt x="699643" y="15875"/>
                  </a:cubicBezTo>
                  <a:lnTo>
                    <a:pt x="166751" y="15875"/>
                  </a:lnTo>
                  <a:lnTo>
                    <a:pt x="166751" y="7874"/>
                  </a:lnTo>
                  <a:lnTo>
                    <a:pt x="166751" y="15748"/>
                  </a:lnTo>
                  <a:cubicBezTo>
                    <a:pt x="83439" y="15875"/>
                    <a:pt x="15875" y="83439"/>
                    <a:pt x="15875" y="166751"/>
                  </a:cubicBezTo>
                  <a:close/>
                </a:path>
              </a:pathLst>
            </a:custGeom>
            <a:solidFill>
              <a:srgbClr val="5656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9" name="Google Shape;479;p11"/>
          <p:cNvGrpSpPr/>
          <p:nvPr/>
        </p:nvGrpSpPr>
        <p:grpSpPr>
          <a:xfrm>
            <a:off x="8028132" y="4808789"/>
            <a:ext cx="371726" cy="682523"/>
            <a:chOff x="0" y="-28575"/>
            <a:chExt cx="324445" cy="595710"/>
          </a:xfrm>
        </p:grpSpPr>
        <p:sp>
          <p:nvSpPr>
            <p:cNvPr id="480" name="Google Shape;480;p11"/>
            <p:cNvSpPr/>
            <p:nvPr/>
          </p:nvSpPr>
          <p:spPr>
            <a:xfrm>
              <a:off x="0" y="0"/>
              <a:ext cx="324445" cy="567135"/>
            </a:xfrm>
            <a:custGeom>
              <a:rect b="b" l="l" r="r" t="t"/>
              <a:pathLst>
                <a:path extrusionOk="0" h="567135" w="324445">
                  <a:moveTo>
                    <a:pt x="0" y="0"/>
                  </a:moveTo>
                  <a:lnTo>
                    <a:pt x="324445" y="0"/>
                  </a:lnTo>
                  <a:lnTo>
                    <a:pt x="324445" y="567135"/>
                  </a:lnTo>
                  <a:lnTo>
                    <a:pt x="0" y="5671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1" name="Google Shape;481;p11"/>
            <p:cNvSpPr txBox="1"/>
            <p:nvPr/>
          </p:nvSpPr>
          <p:spPr>
            <a:xfrm>
              <a:off x="0" y="-28575"/>
              <a:ext cx="324445" cy="595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12" u="none" cap="none" strike="noStrike">
                  <a:solidFill>
                    <a:srgbClr val="E5E0D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2</a:t>
              </a:r>
              <a:endParaRPr/>
            </a:p>
          </p:txBody>
        </p:sp>
      </p:grpSp>
      <p:grpSp>
        <p:nvGrpSpPr>
          <p:cNvPr id="482" name="Google Shape;482;p11"/>
          <p:cNvGrpSpPr/>
          <p:nvPr/>
        </p:nvGrpSpPr>
        <p:grpSpPr>
          <a:xfrm>
            <a:off x="9834860" y="4512594"/>
            <a:ext cx="4291120" cy="742379"/>
            <a:chOff x="0" y="-76200"/>
            <a:chExt cx="5721493" cy="989838"/>
          </a:xfrm>
        </p:grpSpPr>
        <p:sp>
          <p:nvSpPr>
            <p:cNvPr id="483" name="Google Shape;483;p11"/>
            <p:cNvSpPr/>
            <p:nvPr/>
          </p:nvSpPr>
          <p:spPr>
            <a:xfrm>
              <a:off x="0" y="0"/>
              <a:ext cx="5721493" cy="913638"/>
            </a:xfrm>
            <a:custGeom>
              <a:rect b="b" l="l" r="r" t="t"/>
              <a:pathLst>
                <a:path extrusionOk="0" h="913638" w="5721493">
                  <a:moveTo>
                    <a:pt x="0" y="0"/>
                  </a:moveTo>
                  <a:lnTo>
                    <a:pt x="5721493" y="0"/>
                  </a:lnTo>
                  <a:lnTo>
                    <a:pt x="5721493" y="913638"/>
                  </a:lnTo>
                  <a:lnTo>
                    <a:pt x="0" y="9136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4" name="Google Shape;484;p11"/>
            <p:cNvSpPr txBox="1"/>
            <p:nvPr/>
          </p:nvSpPr>
          <p:spPr>
            <a:xfrm>
              <a:off x="0" y="-76200"/>
              <a:ext cx="5721493" cy="989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Consenso distribuido</a:t>
              </a:r>
              <a:endParaRPr/>
            </a:p>
          </p:txBody>
        </p:sp>
      </p:grpSp>
      <p:grpSp>
        <p:nvGrpSpPr>
          <p:cNvPr id="485" name="Google Shape;485;p11"/>
          <p:cNvGrpSpPr/>
          <p:nvPr/>
        </p:nvGrpSpPr>
        <p:grpSpPr>
          <a:xfrm>
            <a:off x="9834860" y="5310782"/>
            <a:ext cx="7460902" cy="1096698"/>
            <a:chOff x="0" y="-152400"/>
            <a:chExt cx="9947870" cy="1462265"/>
          </a:xfrm>
        </p:grpSpPr>
        <p:sp>
          <p:nvSpPr>
            <p:cNvPr id="486" name="Google Shape;486;p11"/>
            <p:cNvSpPr/>
            <p:nvPr/>
          </p:nvSpPr>
          <p:spPr>
            <a:xfrm>
              <a:off x="0" y="0"/>
              <a:ext cx="9947870" cy="1309865"/>
            </a:xfrm>
            <a:custGeom>
              <a:rect b="b" l="l" r="r" t="t"/>
              <a:pathLst>
                <a:path extrusionOk="0" h="1309865" w="9947870">
                  <a:moveTo>
                    <a:pt x="0" y="0"/>
                  </a:moveTo>
                  <a:lnTo>
                    <a:pt x="9947870" y="0"/>
                  </a:lnTo>
                  <a:lnTo>
                    <a:pt x="9947870" y="1309865"/>
                  </a:lnTo>
                  <a:lnTo>
                    <a:pt x="0" y="13098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7" name="Google Shape;487;p11"/>
            <p:cNvSpPr txBox="1"/>
            <p:nvPr/>
          </p:nvSpPr>
          <p:spPr>
            <a:xfrm>
              <a:off x="0" y="-152400"/>
              <a:ext cx="9947870" cy="1462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54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Todos los nodos en la red deben estar de acuerdo en la validez de las transacciones.</a:t>
              </a:r>
              <a:endParaRPr/>
            </a:p>
          </p:txBody>
        </p:sp>
      </p:grpSp>
      <p:sp>
        <p:nvSpPr>
          <p:cNvPr id="488" name="Google Shape;488;p11"/>
          <p:cNvSpPr/>
          <p:nvPr/>
        </p:nvSpPr>
        <p:spPr>
          <a:xfrm>
            <a:off x="8556277" y="7518201"/>
            <a:ext cx="992219" cy="38100"/>
          </a:xfrm>
          <a:custGeom>
            <a:rect b="b" l="l" r="r" t="t"/>
            <a:pathLst>
              <a:path extrusionOk="0" h="50800" w="1322959">
                <a:moveTo>
                  <a:pt x="0" y="25400"/>
                </a:moveTo>
                <a:cubicBezTo>
                  <a:pt x="0" y="11430"/>
                  <a:pt x="11430" y="0"/>
                  <a:pt x="25400" y="0"/>
                </a:cubicBezTo>
                <a:lnTo>
                  <a:pt x="1297559" y="0"/>
                </a:lnTo>
                <a:cubicBezTo>
                  <a:pt x="1311529" y="0"/>
                  <a:pt x="1322959" y="11430"/>
                  <a:pt x="1322959" y="25400"/>
                </a:cubicBezTo>
                <a:cubicBezTo>
                  <a:pt x="1322959" y="39370"/>
                  <a:pt x="1311529" y="50800"/>
                  <a:pt x="1297559" y="50800"/>
                </a:cubicBezTo>
                <a:lnTo>
                  <a:pt x="25400" y="50800"/>
                </a:lnTo>
                <a:cubicBezTo>
                  <a:pt x="11430" y="50800"/>
                  <a:pt x="0" y="39370"/>
                  <a:pt x="0" y="25400"/>
                </a:cubicBezTo>
                <a:close/>
              </a:path>
            </a:pathLst>
          </a:cu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9" name="Google Shape;489;p11"/>
          <p:cNvGrpSpPr/>
          <p:nvPr/>
        </p:nvGrpSpPr>
        <p:grpSpPr>
          <a:xfrm>
            <a:off x="7950547" y="7212359"/>
            <a:ext cx="649796" cy="649796"/>
            <a:chOff x="0" y="0"/>
            <a:chExt cx="866394" cy="866394"/>
          </a:xfrm>
        </p:grpSpPr>
        <p:sp>
          <p:nvSpPr>
            <p:cNvPr id="490" name="Google Shape;490;p11"/>
            <p:cNvSpPr/>
            <p:nvPr/>
          </p:nvSpPr>
          <p:spPr>
            <a:xfrm>
              <a:off x="7874" y="8001"/>
              <a:ext cx="850519" cy="850392"/>
            </a:xfrm>
            <a:custGeom>
              <a:rect b="b" l="l" r="r" t="t"/>
              <a:pathLst>
                <a:path extrusionOk="0" h="850392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642"/>
                  </a:lnTo>
                  <a:cubicBezTo>
                    <a:pt x="850519" y="779272"/>
                    <a:pt x="779399" y="850392"/>
                    <a:pt x="691769" y="850392"/>
                  </a:cubicBezTo>
                  <a:lnTo>
                    <a:pt x="158877" y="850392"/>
                  </a:lnTo>
                  <a:cubicBezTo>
                    <a:pt x="71247" y="850392"/>
                    <a:pt x="127" y="779272"/>
                    <a:pt x="127" y="691642"/>
                  </a:cubicBezTo>
                  <a:close/>
                </a:path>
              </a:pathLst>
            </a:custGeom>
            <a:solidFill>
              <a:srgbClr val="3D3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11"/>
            <p:cNvSpPr/>
            <p:nvPr/>
          </p:nvSpPr>
          <p:spPr>
            <a:xfrm>
              <a:off x="0" y="0"/>
              <a:ext cx="866394" cy="866394"/>
            </a:xfrm>
            <a:custGeom>
              <a:rect b="b" l="l" r="r" t="t"/>
              <a:pathLst>
                <a:path extrusionOk="0" h="866394" w="866394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cubicBezTo>
                    <a:pt x="791718" y="0"/>
                    <a:pt x="866394" y="74676"/>
                    <a:pt x="866394" y="166751"/>
                  </a:cubicBezTo>
                  <a:lnTo>
                    <a:pt x="866394" y="699643"/>
                  </a:lnTo>
                  <a:lnTo>
                    <a:pt x="858520" y="699643"/>
                  </a:lnTo>
                  <a:lnTo>
                    <a:pt x="866394" y="699643"/>
                  </a:lnTo>
                  <a:cubicBezTo>
                    <a:pt x="866394" y="791718"/>
                    <a:pt x="791718" y="866394"/>
                    <a:pt x="699643" y="866394"/>
                  </a:cubicBezTo>
                  <a:lnTo>
                    <a:pt x="699643" y="858520"/>
                  </a:lnTo>
                  <a:lnTo>
                    <a:pt x="699643" y="866394"/>
                  </a:lnTo>
                  <a:lnTo>
                    <a:pt x="166751" y="866394"/>
                  </a:lnTo>
                  <a:lnTo>
                    <a:pt x="166751" y="858520"/>
                  </a:lnTo>
                  <a:lnTo>
                    <a:pt x="166751" y="866394"/>
                  </a:lnTo>
                  <a:cubicBezTo>
                    <a:pt x="74676" y="866394"/>
                    <a:pt x="0" y="791718"/>
                    <a:pt x="0" y="699643"/>
                  </a:cubicBezTo>
                  <a:lnTo>
                    <a:pt x="0" y="166751"/>
                  </a:lnTo>
                  <a:lnTo>
                    <a:pt x="7874" y="166751"/>
                  </a:lnTo>
                  <a:lnTo>
                    <a:pt x="0" y="166751"/>
                  </a:lnTo>
                  <a:moveTo>
                    <a:pt x="15875" y="166751"/>
                  </a:moveTo>
                  <a:lnTo>
                    <a:pt x="15875" y="699643"/>
                  </a:lnTo>
                  <a:lnTo>
                    <a:pt x="7874" y="699643"/>
                  </a:lnTo>
                  <a:lnTo>
                    <a:pt x="15748" y="699643"/>
                  </a:lnTo>
                  <a:cubicBezTo>
                    <a:pt x="15748" y="782955"/>
                    <a:pt x="83312" y="850519"/>
                    <a:pt x="166624" y="850519"/>
                  </a:cubicBezTo>
                  <a:lnTo>
                    <a:pt x="699643" y="850519"/>
                  </a:lnTo>
                  <a:cubicBezTo>
                    <a:pt x="782955" y="850519"/>
                    <a:pt x="850519" y="782955"/>
                    <a:pt x="850519" y="699643"/>
                  </a:cubicBezTo>
                  <a:lnTo>
                    <a:pt x="850519" y="166751"/>
                  </a:lnTo>
                  <a:lnTo>
                    <a:pt x="858393" y="166751"/>
                  </a:lnTo>
                  <a:lnTo>
                    <a:pt x="850519" y="166751"/>
                  </a:lnTo>
                  <a:cubicBezTo>
                    <a:pt x="850519" y="83439"/>
                    <a:pt x="782955" y="15875"/>
                    <a:pt x="699643" y="15875"/>
                  </a:cubicBezTo>
                  <a:lnTo>
                    <a:pt x="166751" y="15875"/>
                  </a:lnTo>
                  <a:lnTo>
                    <a:pt x="166751" y="7874"/>
                  </a:lnTo>
                  <a:lnTo>
                    <a:pt x="166751" y="15748"/>
                  </a:lnTo>
                  <a:cubicBezTo>
                    <a:pt x="83439" y="15875"/>
                    <a:pt x="15875" y="83439"/>
                    <a:pt x="15875" y="166751"/>
                  </a:cubicBezTo>
                  <a:close/>
                </a:path>
              </a:pathLst>
            </a:custGeom>
            <a:solidFill>
              <a:srgbClr val="5656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2" name="Google Shape;492;p11"/>
          <p:cNvGrpSpPr/>
          <p:nvPr/>
        </p:nvGrpSpPr>
        <p:grpSpPr>
          <a:xfrm>
            <a:off x="8085369" y="7185274"/>
            <a:ext cx="314489" cy="564653"/>
            <a:chOff x="0" y="-28575"/>
            <a:chExt cx="331787" cy="595710"/>
          </a:xfrm>
        </p:grpSpPr>
        <p:sp>
          <p:nvSpPr>
            <p:cNvPr id="493" name="Google Shape;493;p11"/>
            <p:cNvSpPr/>
            <p:nvPr/>
          </p:nvSpPr>
          <p:spPr>
            <a:xfrm>
              <a:off x="0" y="0"/>
              <a:ext cx="331787" cy="567135"/>
            </a:xfrm>
            <a:custGeom>
              <a:rect b="b" l="l" r="r" t="t"/>
              <a:pathLst>
                <a:path extrusionOk="0" h="567135" w="331787">
                  <a:moveTo>
                    <a:pt x="0" y="0"/>
                  </a:moveTo>
                  <a:lnTo>
                    <a:pt x="331787" y="0"/>
                  </a:lnTo>
                  <a:lnTo>
                    <a:pt x="331787" y="567135"/>
                  </a:lnTo>
                  <a:lnTo>
                    <a:pt x="0" y="5671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94" name="Google Shape;494;p11"/>
            <p:cNvSpPr txBox="1"/>
            <p:nvPr/>
          </p:nvSpPr>
          <p:spPr>
            <a:xfrm>
              <a:off x="0" y="-28575"/>
              <a:ext cx="331787" cy="595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12" u="none" cap="none" strike="noStrike">
                  <a:solidFill>
                    <a:srgbClr val="E5E0D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3</a:t>
              </a:r>
              <a:endParaRPr/>
            </a:p>
          </p:txBody>
        </p:sp>
      </p:grpSp>
      <p:grpSp>
        <p:nvGrpSpPr>
          <p:cNvPr id="495" name="Google Shape;495;p11"/>
          <p:cNvGrpSpPr/>
          <p:nvPr/>
        </p:nvGrpSpPr>
        <p:grpSpPr>
          <a:xfrm>
            <a:off x="9834860" y="6883425"/>
            <a:ext cx="3544044" cy="742379"/>
            <a:chOff x="0" y="-76200"/>
            <a:chExt cx="4725392" cy="989838"/>
          </a:xfrm>
        </p:grpSpPr>
        <p:sp>
          <p:nvSpPr>
            <p:cNvPr id="496" name="Google Shape;496;p11"/>
            <p:cNvSpPr/>
            <p:nvPr/>
          </p:nvSpPr>
          <p:spPr>
            <a:xfrm>
              <a:off x="0" y="0"/>
              <a:ext cx="4725392" cy="913638"/>
            </a:xfrm>
            <a:custGeom>
              <a:rect b="b" l="l" r="r" t="t"/>
              <a:pathLst>
                <a:path extrusionOk="0" h="913638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913638"/>
                  </a:lnTo>
                  <a:lnTo>
                    <a:pt x="0" y="9136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97" name="Google Shape;497;p11"/>
            <p:cNvSpPr txBox="1"/>
            <p:nvPr/>
          </p:nvSpPr>
          <p:spPr>
            <a:xfrm>
              <a:off x="0" y="-76200"/>
              <a:ext cx="4725392" cy="989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Inmutabilidad</a:t>
              </a:r>
              <a:endParaRPr/>
            </a:p>
          </p:txBody>
        </p:sp>
      </p:grpSp>
      <p:grpSp>
        <p:nvGrpSpPr>
          <p:cNvPr id="498" name="Google Shape;498;p11"/>
          <p:cNvGrpSpPr/>
          <p:nvPr/>
        </p:nvGrpSpPr>
        <p:grpSpPr>
          <a:xfrm>
            <a:off x="9834860" y="7681615"/>
            <a:ext cx="7460902" cy="1630165"/>
            <a:chOff x="0" y="-152400"/>
            <a:chExt cx="9947870" cy="2173553"/>
          </a:xfrm>
        </p:grpSpPr>
        <p:sp>
          <p:nvSpPr>
            <p:cNvPr id="499" name="Google Shape;499;p11"/>
            <p:cNvSpPr/>
            <p:nvPr/>
          </p:nvSpPr>
          <p:spPr>
            <a:xfrm>
              <a:off x="0" y="0"/>
              <a:ext cx="9947870" cy="2021153"/>
            </a:xfrm>
            <a:custGeom>
              <a:rect b="b" l="l" r="r" t="t"/>
              <a:pathLst>
                <a:path extrusionOk="0" h="2021153" w="9947870">
                  <a:moveTo>
                    <a:pt x="0" y="0"/>
                  </a:moveTo>
                  <a:lnTo>
                    <a:pt x="9947870" y="0"/>
                  </a:lnTo>
                  <a:lnTo>
                    <a:pt x="9947870" y="2021153"/>
                  </a:lnTo>
                  <a:lnTo>
                    <a:pt x="0" y="20211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00" name="Google Shape;500;p11"/>
            <p:cNvSpPr txBox="1"/>
            <p:nvPr/>
          </p:nvSpPr>
          <p:spPr>
            <a:xfrm>
              <a:off x="0" y="-152400"/>
              <a:ext cx="9947870" cy="2173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54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Los datos en una blockchain son inmutables, lo que significa que no se pueden modificar una vez que se registran.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9191A"/>
          </a:solidFill>
          <a:ln>
            <a:noFill/>
          </a:ln>
        </p:spPr>
      </p:sp>
      <p:sp>
        <p:nvSpPr>
          <p:cNvPr id="510" name="Google Shape;510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50505"/>
          </a:solidFill>
          <a:ln>
            <a:noFill/>
          </a:ln>
        </p:spPr>
      </p:sp>
      <p:grpSp>
        <p:nvGrpSpPr>
          <p:cNvPr id="511" name="Google Shape;511;p12"/>
          <p:cNvGrpSpPr/>
          <p:nvPr/>
        </p:nvGrpSpPr>
        <p:grpSpPr>
          <a:xfrm>
            <a:off x="992237" y="421486"/>
            <a:ext cx="15056782" cy="2318148"/>
            <a:chOff x="0" y="-152400"/>
            <a:chExt cx="20075709" cy="3090864"/>
          </a:xfrm>
        </p:grpSpPr>
        <p:sp>
          <p:nvSpPr>
            <p:cNvPr id="512" name="Google Shape;512;p12"/>
            <p:cNvSpPr/>
            <p:nvPr/>
          </p:nvSpPr>
          <p:spPr>
            <a:xfrm>
              <a:off x="0" y="0"/>
              <a:ext cx="20075709" cy="2938464"/>
            </a:xfrm>
            <a:custGeom>
              <a:rect b="b" l="l" r="r" t="t"/>
              <a:pathLst>
                <a:path extrusionOk="0" h="2938464" w="20075709">
                  <a:moveTo>
                    <a:pt x="0" y="0"/>
                  </a:moveTo>
                  <a:lnTo>
                    <a:pt x="20075709" y="0"/>
                  </a:lnTo>
                  <a:lnTo>
                    <a:pt x="20075709" y="2938464"/>
                  </a:lnTo>
                  <a:lnTo>
                    <a:pt x="0" y="29384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13" name="Google Shape;513;p12"/>
            <p:cNvSpPr txBox="1"/>
            <p:nvPr/>
          </p:nvSpPr>
          <p:spPr>
            <a:xfrm>
              <a:off x="0" y="-152400"/>
              <a:ext cx="20075708" cy="3090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96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62" u="none" cap="none" strike="noStrike">
                  <a:solidFill>
                    <a:srgbClr val="F2F2F3"/>
                  </a:solidFill>
                  <a:latin typeface="Arial"/>
                  <a:ea typeface="Arial"/>
                  <a:cs typeface="Arial"/>
                  <a:sym typeface="Arial"/>
                </a:rPr>
                <a:t>EFICIENCIA Y ESCALABILIDAD EN BLOCKCHAIN</a:t>
              </a:r>
              <a:endParaRPr/>
            </a:p>
          </p:txBody>
        </p:sp>
      </p:grpSp>
      <p:sp>
        <p:nvSpPr>
          <p:cNvPr descr="preencoded.png" id="514" name="Google Shape;514;p12"/>
          <p:cNvSpPr/>
          <p:nvPr/>
        </p:nvSpPr>
        <p:spPr>
          <a:xfrm>
            <a:off x="992238" y="2479328"/>
            <a:ext cx="7939088" cy="4906715"/>
          </a:xfrm>
          <a:custGeom>
            <a:rect b="b" l="l" r="r" t="t"/>
            <a:pathLst>
              <a:path extrusionOk="0" h="4906715" w="7939088">
                <a:moveTo>
                  <a:pt x="0" y="0"/>
                </a:moveTo>
                <a:lnTo>
                  <a:pt x="7939087" y="0"/>
                </a:lnTo>
                <a:lnTo>
                  <a:pt x="7939087" y="4906714"/>
                </a:lnTo>
                <a:lnTo>
                  <a:pt x="0" y="49067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85" t="0"/>
            </a:stretch>
          </a:blipFill>
          <a:ln>
            <a:noFill/>
          </a:ln>
        </p:spPr>
      </p:sp>
      <p:grpSp>
        <p:nvGrpSpPr>
          <p:cNvPr id="515" name="Google Shape;515;p12"/>
          <p:cNvGrpSpPr/>
          <p:nvPr/>
        </p:nvGrpSpPr>
        <p:grpSpPr>
          <a:xfrm>
            <a:off x="992238" y="7328893"/>
            <a:ext cx="3544044" cy="854423"/>
            <a:chOff x="0" y="-76200"/>
            <a:chExt cx="4725392" cy="1139230"/>
          </a:xfrm>
        </p:grpSpPr>
        <p:sp>
          <p:nvSpPr>
            <p:cNvPr id="516" name="Google Shape;516;p12"/>
            <p:cNvSpPr/>
            <p:nvPr/>
          </p:nvSpPr>
          <p:spPr>
            <a:xfrm>
              <a:off x="0" y="0"/>
              <a:ext cx="4725392" cy="1063030"/>
            </a:xfrm>
            <a:custGeom>
              <a:rect b="b" l="l" r="r" t="t"/>
              <a:pathLst>
                <a:path extrusionOk="0" h="106303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1063030"/>
                  </a:lnTo>
                  <a:lnTo>
                    <a:pt x="0" y="10630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17" name="Google Shape;517;p12"/>
            <p:cNvSpPr txBox="1"/>
            <p:nvPr/>
          </p:nvSpPr>
          <p:spPr>
            <a:xfrm>
              <a:off x="0" y="-76200"/>
              <a:ext cx="4725392" cy="1139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Paralelismo</a:t>
              </a:r>
              <a:endParaRPr/>
            </a:p>
          </p:txBody>
        </p:sp>
      </p:grpSp>
      <p:grpSp>
        <p:nvGrpSpPr>
          <p:cNvPr id="518" name="Google Shape;518;p12"/>
          <p:cNvGrpSpPr/>
          <p:nvPr/>
        </p:nvGrpSpPr>
        <p:grpSpPr>
          <a:xfrm>
            <a:off x="992237" y="8239125"/>
            <a:ext cx="7939088" cy="1096698"/>
            <a:chOff x="0" y="-152400"/>
            <a:chExt cx="10585450" cy="1462265"/>
          </a:xfrm>
        </p:grpSpPr>
        <p:sp>
          <p:nvSpPr>
            <p:cNvPr id="519" name="Google Shape;519;p12"/>
            <p:cNvSpPr/>
            <p:nvPr/>
          </p:nvSpPr>
          <p:spPr>
            <a:xfrm>
              <a:off x="0" y="0"/>
              <a:ext cx="10585450" cy="1309865"/>
            </a:xfrm>
            <a:custGeom>
              <a:rect b="b" l="l" r="r" t="t"/>
              <a:pathLst>
                <a:path extrusionOk="0" h="1309865" w="10585450">
                  <a:moveTo>
                    <a:pt x="0" y="0"/>
                  </a:moveTo>
                  <a:lnTo>
                    <a:pt x="10585450" y="0"/>
                  </a:lnTo>
                  <a:lnTo>
                    <a:pt x="10585450" y="1309865"/>
                  </a:lnTo>
                  <a:lnTo>
                    <a:pt x="0" y="13098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20" name="Google Shape;520;p12"/>
            <p:cNvSpPr txBox="1"/>
            <p:nvPr/>
          </p:nvSpPr>
          <p:spPr>
            <a:xfrm>
              <a:off x="0" y="-152400"/>
              <a:ext cx="10585450" cy="1462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54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Las transacciones se pueden procesar en paralelo en múltiples nodos.</a:t>
              </a:r>
              <a:endParaRPr/>
            </a:p>
          </p:txBody>
        </p:sp>
      </p:grpSp>
      <p:sp>
        <p:nvSpPr>
          <p:cNvPr descr="preencoded.png" id="521" name="Google Shape;521;p12"/>
          <p:cNvSpPr/>
          <p:nvPr/>
        </p:nvSpPr>
        <p:spPr>
          <a:xfrm>
            <a:off x="9356526" y="2479328"/>
            <a:ext cx="7939236" cy="4906715"/>
          </a:xfrm>
          <a:custGeom>
            <a:rect b="b" l="l" r="r" t="t"/>
            <a:pathLst>
              <a:path extrusionOk="0" h="4906715" w="7939236">
                <a:moveTo>
                  <a:pt x="0" y="0"/>
                </a:moveTo>
                <a:lnTo>
                  <a:pt x="7939236" y="0"/>
                </a:lnTo>
                <a:lnTo>
                  <a:pt x="7939236" y="4906714"/>
                </a:lnTo>
                <a:lnTo>
                  <a:pt x="0" y="49067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83" t="0"/>
            </a:stretch>
          </a:blipFill>
          <a:ln>
            <a:noFill/>
          </a:ln>
        </p:spPr>
      </p:sp>
      <p:grpSp>
        <p:nvGrpSpPr>
          <p:cNvPr id="522" name="Google Shape;522;p12"/>
          <p:cNvGrpSpPr/>
          <p:nvPr/>
        </p:nvGrpSpPr>
        <p:grpSpPr>
          <a:xfrm>
            <a:off x="9356526" y="7328893"/>
            <a:ext cx="4147245" cy="1157288"/>
            <a:chOff x="0" y="-76200"/>
            <a:chExt cx="5529660" cy="1543050"/>
          </a:xfrm>
        </p:grpSpPr>
        <p:sp>
          <p:nvSpPr>
            <p:cNvPr id="523" name="Google Shape;523;p12"/>
            <p:cNvSpPr/>
            <p:nvPr/>
          </p:nvSpPr>
          <p:spPr>
            <a:xfrm>
              <a:off x="0" y="0"/>
              <a:ext cx="5529660" cy="1466850"/>
            </a:xfrm>
            <a:custGeom>
              <a:rect b="b" l="l" r="r" t="t"/>
              <a:pathLst>
                <a:path extrusionOk="0" h="1466850" w="5529660">
                  <a:moveTo>
                    <a:pt x="0" y="0"/>
                  </a:moveTo>
                  <a:lnTo>
                    <a:pt x="5529660" y="0"/>
                  </a:lnTo>
                  <a:lnTo>
                    <a:pt x="5529660" y="1466850"/>
                  </a:lnTo>
                  <a:lnTo>
                    <a:pt x="0" y="1466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24" name="Google Shape;524;p12"/>
            <p:cNvSpPr txBox="1"/>
            <p:nvPr/>
          </p:nvSpPr>
          <p:spPr>
            <a:xfrm>
              <a:off x="0" y="-76200"/>
              <a:ext cx="5529660" cy="1543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Escalabilidad horizontal</a:t>
              </a:r>
              <a:endParaRPr/>
            </a:p>
          </p:txBody>
        </p:sp>
      </p:grpSp>
      <p:grpSp>
        <p:nvGrpSpPr>
          <p:cNvPr id="525" name="Google Shape;525;p12"/>
          <p:cNvGrpSpPr/>
          <p:nvPr/>
        </p:nvGrpSpPr>
        <p:grpSpPr>
          <a:xfrm>
            <a:off x="9356526" y="8239125"/>
            <a:ext cx="7939236" cy="1096698"/>
            <a:chOff x="0" y="-152400"/>
            <a:chExt cx="10585648" cy="1462265"/>
          </a:xfrm>
        </p:grpSpPr>
        <p:sp>
          <p:nvSpPr>
            <p:cNvPr id="526" name="Google Shape;526;p12"/>
            <p:cNvSpPr/>
            <p:nvPr/>
          </p:nvSpPr>
          <p:spPr>
            <a:xfrm>
              <a:off x="0" y="0"/>
              <a:ext cx="10585648" cy="1309865"/>
            </a:xfrm>
            <a:custGeom>
              <a:rect b="b" l="l" r="r" t="t"/>
              <a:pathLst>
                <a:path extrusionOk="0" h="1309865" w="10585648">
                  <a:moveTo>
                    <a:pt x="0" y="0"/>
                  </a:moveTo>
                  <a:lnTo>
                    <a:pt x="10585648" y="0"/>
                  </a:lnTo>
                  <a:lnTo>
                    <a:pt x="10585648" y="1309865"/>
                  </a:lnTo>
                  <a:lnTo>
                    <a:pt x="0" y="13098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27" name="Google Shape;527;p12"/>
            <p:cNvSpPr txBox="1"/>
            <p:nvPr/>
          </p:nvSpPr>
          <p:spPr>
            <a:xfrm>
              <a:off x="0" y="-152400"/>
              <a:ext cx="10585648" cy="1462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54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La red se puede ampliar agregando más nodos para manejar más transacciones.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61719"/>
            </a:gs>
            <a:gs pos="100000">
              <a:srgbClr val="000000"/>
            </a:gs>
          </a:gsLst>
          <a:lin ang="0" scaled="0"/>
        </a:gra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3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/>
          </a:p>
        </p:txBody>
      </p:sp>
      <p:sp>
        <p:nvSpPr>
          <p:cNvPr id="533" name="Google Shape;533;p13"/>
          <p:cNvSpPr txBox="1"/>
          <p:nvPr/>
        </p:nvSpPr>
        <p:spPr>
          <a:xfrm>
            <a:off x="6255876" y="4309117"/>
            <a:ext cx="6006343" cy="2221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7825" lvl="1" marL="755651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Codificación</a:t>
            </a:r>
            <a:endParaRPr/>
          </a:p>
          <a:p>
            <a:pPr indent="-377825" lvl="1" marL="755651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Encriptación</a:t>
            </a:r>
            <a:endParaRPr/>
          </a:p>
          <a:p>
            <a:pPr indent="-377825" lvl="1" marL="755651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Estructura Jerárquica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61719"/>
            </a:gs>
            <a:gs pos="100000">
              <a:srgbClr val="000000"/>
            </a:gs>
          </a:gsLst>
          <a:lin ang="0" scaled="0"/>
        </a:gra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4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/>
          </a:p>
        </p:txBody>
      </p:sp>
      <p:sp>
        <p:nvSpPr>
          <p:cNvPr id="539" name="Google Shape;539;p14"/>
          <p:cNvSpPr txBox="1"/>
          <p:nvPr/>
        </p:nvSpPr>
        <p:spPr>
          <a:xfrm>
            <a:off x="3426618" y="2573139"/>
            <a:ext cx="11664859" cy="9378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Antonopoulos, A. M. (2017). Mastering Bitcoin: Programming the Open Blockchain (2nd ed.). O'Reilly Media. (Capítulos sobre criptografía y consenso).</a:t>
            </a:r>
            <a:endParaRPr/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Stallings, W. (2017). Cryptography and Network Security: Principles and Practice (7th ed.). Pearson. (Capítulos sobre algoritmos simétricos y asimétricos).</a:t>
            </a:r>
            <a:endParaRPr/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Schneier, B. (2015). Applied Cryptography: Protocols, Algorithms, and Source Code in C (2nd ed.). Wiley. (Aplicaciones de la encriptación).</a:t>
            </a:r>
            <a:endParaRPr/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61719"/>
            </a:gs>
            <a:gs pos="100000">
              <a:srgbClr val="000000"/>
            </a:gs>
          </a:gsLst>
          <a:lin ang="0" scaled="0"/>
        </a:gra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5"/>
          <p:cNvSpPr txBox="1"/>
          <p:nvPr/>
        </p:nvSpPr>
        <p:spPr>
          <a:xfrm>
            <a:off x="4437795" y="3389104"/>
            <a:ext cx="8658828" cy="2495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5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546" name="Google Shape;546;p15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7" name="Google Shape;547;p15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