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Lobster"/>
      <p:regular r:id="rId22"/>
    </p:embeddedFont>
    <p:embeddedFont>
      <p:font typeface="Pacifico"/>
      <p:regular r:id="rId23"/>
    </p:embeddedFont>
    <p:embeddedFont>
      <p:font typeface="Questrial"/>
      <p:regular r:id="rId24"/>
    </p:embeddedFont>
    <p:embeddedFont>
      <p:font typeface="Open Sans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inS37SmKv+lBo3dBXbG2CMP+xa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1CEB62-BDCC-457F-BE95-EC6436D9A1F6}">
  <a:tblStyle styleId="{971CEB62-BDCC-457F-BE95-EC6436D9A1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obster-regular.fntdata"/><Relationship Id="rId21" Type="http://schemas.openxmlformats.org/officeDocument/2006/relationships/slide" Target="slides/slide15.xml"/><Relationship Id="rId24" Type="http://schemas.openxmlformats.org/officeDocument/2006/relationships/font" Target="fonts/Questrial-regular.fntdata"/><Relationship Id="rId23" Type="http://schemas.openxmlformats.org/officeDocument/2006/relationships/font" Target="fonts/Pacific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bold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3cbc7ec76_1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g363cbc7ec76_1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g363cbc7ec76_1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63cbc7ec76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63cbc7ec76_1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g363cbc7ec76_1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9" name="Google Shape;99;p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4" name="Google Shape;11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5" name="Google Shape;115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6" name="Google Shape;156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9" name="Google Shape;159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2" name="Google Shape;192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4" name="Google Shape;234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5" name="Google Shape;275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6" name="Google Shape;276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9" name="Google Shape;279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8" name="Google Shape;29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9" name="Google Shape;29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2" name="Google Shape;312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3" name="Google Shape;323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4" name="Google Shape;324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7" name="Google Shape;327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5" name="Google Shape;335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6" name="Google Shape;336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9" name="Google Shape;339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eeksforgeeks.org/queue-data-structure/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3cbc7ec76_1_0"/>
          <p:cNvSpPr/>
          <p:nvPr/>
        </p:nvSpPr>
        <p:spPr>
          <a:xfrm>
            <a:off x="0" y="0"/>
            <a:ext cx="20196556" cy="10287000"/>
          </a:xfrm>
          <a:custGeom>
            <a:rect b="b" l="l" r="r" t="t"/>
            <a:pathLst>
              <a:path extrusionOk="0" h="13716000" w="24333200">
                <a:moveTo>
                  <a:pt x="0" y="0"/>
                </a:moveTo>
                <a:lnTo>
                  <a:pt x="24333200" y="0"/>
                </a:lnTo>
                <a:lnTo>
                  <a:pt x="243332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g363cbc7ec76_1_0"/>
          <p:cNvGraphicFramePr/>
          <p:nvPr/>
        </p:nvGraphicFramePr>
        <p:xfrm>
          <a:off x="10576243" y="2111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{971CEB62-BDCC-457F-BE95-EC6436D9A1F6}</a:tableStyleId>
              </a:tblPr>
              <a:tblGrid>
                <a:gridCol w="3657600"/>
                <a:gridCol w="36576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Miércoles, </a:t>
                      </a:r>
                      <a:r>
                        <a:rPr lang="en-US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06</a:t>
                      </a: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/07/25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17:20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g363cbc7ec76_1_0"/>
          <p:cNvSpPr txBox="1"/>
          <p:nvPr/>
        </p:nvSpPr>
        <p:spPr>
          <a:xfrm>
            <a:off x="3326088" y="4213166"/>
            <a:ext cx="1242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Laboratorio Estructuras De Datos Sección C</a:t>
            </a:r>
            <a:endParaRPr/>
          </a:p>
        </p:txBody>
      </p:sp>
      <p:sp>
        <p:nvSpPr>
          <p:cNvPr id="95" name="Google Shape;95;g363cbc7ec76_1_0"/>
          <p:cNvSpPr txBox="1"/>
          <p:nvPr/>
        </p:nvSpPr>
        <p:spPr>
          <a:xfrm>
            <a:off x="3326088" y="5350863"/>
            <a:ext cx="1242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/>
          <p:nvPr/>
        </p:nvSpPr>
        <p:spPr>
          <a:xfrm>
            <a:off x="12541309" y="0"/>
            <a:ext cx="5746718" cy="1711738"/>
          </a:xfrm>
          <a:custGeom>
            <a:rect b="b" l="l" r="r" t="t"/>
            <a:pathLst>
              <a:path extrusionOk="0" h="2282317" w="7662291">
                <a:moveTo>
                  <a:pt x="0" y="0"/>
                </a:moveTo>
                <a:lnTo>
                  <a:pt x="7662291" y="0"/>
                </a:lnTo>
                <a:lnTo>
                  <a:pt x="7662291" y="2282317"/>
                </a:lnTo>
                <a:lnTo>
                  <a:pt x="0" y="228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 txBox="1"/>
          <p:nvPr/>
        </p:nvSpPr>
        <p:spPr>
          <a:xfrm>
            <a:off x="1063303" y="7205119"/>
            <a:ext cx="63036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2655307" y="2579849"/>
            <a:ext cx="129774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con acceso especial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1063303" y="8630951"/>
            <a:ext cx="69813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028700" y="9096375"/>
            <a:ext cx="6667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228600" y="9473954"/>
            <a:ext cx="81153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 rot="8618761">
            <a:off x="13134165" y="7667865"/>
            <a:ext cx="7311839" cy="3695802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"/>
          <p:cNvSpPr/>
          <p:nvPr/>
        </p:nvSpPr>
        <p:spPr>
          <a:xfrm>
            <a:off x="-700733" y="-1217045"/>
            <a:ext cx="5003996" cy="4185160"/>
          </a:xfrm>
          <a:custGeom>
            <a:rect b="b" l="l" r="r" t="t"/>
            <a:pathLst>
              <a:path extrusionOk="0"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21" name="Google Shape;121;p2"/>
          <p:cNvGrpSpPr/>
          <p:nvPr/>
        </p:nvGrpSpPr>
        <p:grpSpPr>
          <a:xfrm>
            <a:off x="1558478" y="4487383"/>
            <a:ext cx="6463385" cy="1002548"/>
            <a:chOff x="0" y="-209550"/>
            <a:chExt cx="8617847" cy="133673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8617847" cy="1127180"/>
            </a:xfrm>
            <a:custGeom>
              <a:rect b="b" l="l" r="r" t="t"/>
              <a:pathLst>
                <a:path extrusionOk="0" h="1127180" w="8617847">
                  <a:moveTo>
                    <a:pt x="0" y="0"/>
                  </a:moveTo>
                  <a:lnTo>
                    <a:pt x="8617847" y="0"/>
                  </a:lnTo>
                  <a:lnTo>
                    <a:pt x="86178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-209550"/>
              <a:ext cx="8617847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Definición y características de una pila</a:t>
              </a:r>
              <a:endParaRPr/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26" name="Google Shape;126;p2"/>
          <p:cNvGrpSpPr/>
          <p:nvPr/>
        </p:nvGrpSpPr>
        <p:grpSpPr>
          <a:xfrm>
            <a:off x="2083977" y="2097133"/>
            <a:ext cx="3681238" cy="2190275"/>
            <a:chOff x="0" y="0"/>
            <a:chExt cx="4908317" cy="2920367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17" y="635567"/>
              <a:ext cx="4908300" cy="22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2799"/>
            </a:p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/>
                <a:t>FORO 3</a:t>
              </a:r>
              <a:endParaRPr sz="2799"/>
            </a:p>
          </p:txBody>
        </p:sp>
      </p:grpSp>
      <p:sp>
        <p:nvSpPr>
          <p:cNvPr id="129" name="Google Shape;129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" l="0" r="0" t="-35"/>
            </a:stretch>
          </a:blipFill>
          <a:ln>
            <a:noFill/>
          </a:ln>
        </p:spPr>
      </p:sp>
      <p:sp>
        <p:nvSpPr>
          <p:cNvPr id="130" name="Google Shape;130;p2"/>
          <p:cNvSpPr/>
          <p:nvPr/>
        </p:nvSpPr>
        <p:spPr>
          <a:xfrm>
            <a:off x="11739805" y="3232617"/>
            <a:ext cx="5353621" cy="1267206"/>
          </a:xfrm>
          <a:custGeom>
            <a:rect b="b" l="l" r="r" t="t"/>
            <a:pathLst>
              <a:path extrusionOk="0" h="1689608" w="7138162">
                <a:moveTo>
                  <a:pt x="6109462" y="0"/>
                </a:moveTo>
                <a:lnTo>
                  <a:pt x="0" y="0"/>
                </a:lnTo>
                <a:lnTo>
                  <a:pt x="0" y="1689608"/>
                </a:lnTo>
                <a:lnTo>
                  <a:pt x="6109462" y="1689608"/>
                </a:lnTo>
                <a:lnTo>
                  <a:pt x="7138162" y="844804"/>
                </a:lnTo>
                <a:lnTo>
                  <a:pt x="61094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1" name="Google Shape;131;p2"/>
          <p:cNvGrpSpPr/>
          <p:nvPr/>
        </p:nvGrpSpPr>
        <p:grpSpPr>
          <a:xfrm>
            <a:off x="11419837" y="3182084"/>
            <a:ext cx="5993550" cy="2870916"/>
            <a:chOff x="-426623" y="0"/>
            <a:chExt cx="7991400" cy="3827888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6559551" cy="2268193"/>
            </a:xfrm>
            <a:custGeom>
              <a:rect b="b" l="l" r="r" t="t"/>
              <a:pathLst>
                <a:path extrusionOk="0"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-426623" y="330188"/>
              <a:ext cx="7991400" cy="3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44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776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/>
                <a:t>https://www.youtube.com/watch?v=p_piKeYiY08</a:t>
              </a:r>
              <a:endParaRPr sz="2200"/>
            </a:p>
          </p:txBody>
        </p:sp>
      </p:grpSp>
      <p:sp>
        <p:nvSpPr>
          <p:cNvPr id="134" name="Google Shape;134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5" name="Google Shape;135;p2"/>
          <p:cNvGrpSpPr/>
          <p:nvPr/>
        </p:nvGrpSpPr>
        <p:grpSpPr>
          <a:xfrm>
            <a:off x="1558478" y="5454660"/>
            <a:ext cx="5993602" cy="1002548"/>
            <a:chOff x="0" y="-209550"/>
            <a:chExt cx="7991470" cy="1336730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7991470" cy="1127180"/>
            </a:xfrm>
            <a:custGeom>
              <a:rect b="b" l="l" r="r" t="t"/>
              <a:pathLst>
                <a:path extrusionOk="0" h="1127180" w="7991470">
                  <a:moveTo>
                    <a:pt x="0" y="0"/>
                  </a:moveTo>
                  <a:lnTo>
                    <a:pt x="7991470" y="0"/>
                  </a:lnTo>
                  <a:lnTo>
                    <a:pt x="7991470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7" name="Google Shape;137;p2"/>
            <p:cNvSpPr txBox="1"/>
            <p:nvPr/>
          </p:nvSpPr>
          <p:spPr>
            <a:xfrm>
              <a:off x="0" y="-209550"/>
              <a:ext cx="7991470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Operaciones de una pila</a:t>
              </a:r>
              <a:endParaRPr/>
            </a:p>
          </p:txBody>
        </p:sp>
      </p:grpSp>
      <p:sp>
        <p:nvSpPr>
          <p:cNvPr id="138" name="Google Shape;138;p2"/>
          <p:cNvSpPr/>
          <p:nvPr/>
        </p:nvSpPr>
        <p:spPr>
          <a:xfrm>
            <a:off x="176619" y="6604853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9" name="Google Shape;139;p2"/>
          <p:cNvGrpSpPr/>
          <p:nvPr/>
        </p:nvGrpSpPr>
        <p:grpSpPr>
          <a:xfrm>
            <a:off x="1558478" y="6323668"/>
            <a:ext cx="7391958" cy="1002548"/>
            <a:chOff x="0" y="-209550"/>
            <a:chExt cx="9855944" cy="1336730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9855944" cy="1127180"/>
            </a:xfrm>
            <a:custGeom>
              <a:rect b="b" l="l" r="r" t="t"/>
              <a:pathLst>
                <a:path extrusionOk="0" h="1127180" w="9855944">
                  <a:moveTo>
                    <a:pt x="0" y="0"/>
                  </a:moveTo>
                  <a:lnTo>
                    <a:pt x="9855944" y="0"/>
                  </a:lnTo>
                  <a:lnTo>
                    <a:pt x="9855944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209550"/>
              <a:ext cx="9855944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Definición y características de una cola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176619" y="7528435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43" name="Google Shape;143;p2"/>
          <p:cNvGrpSpPr/>
          <p:nvPr/>
        </p:nvGrpSpPr>
        <p:grpSpPr>
          <a:xfrm>
            <a:off x="1558478" y="7359552"/>
            <a:ext cx="9134060" cy="1002548"/>
            <a:chOff x="0" y="-209550"/>
            <a:chExt cx="12178747" cy="1336730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12178747" cy="1127180"/>
            </a:xfrm>
            <a:custGeom>
              <a:rect b="b" l="l" r="r" t="t"/>
              <a:pathLst>
                <a:path extrusionOk="0" h="1127180" w="12178747">
                  <a:moveTo>
                    <a:pt x="0" y="0"/>
                  </a:moveTo>
                  <a:lnTo>
                    <a:pt x="12178747" y="0"/>
                  </a:lnTo>
                  <a:lnTo>
                    <a:pt x="121787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5" name="Google Shape;145;p2"/>
            <p:cNvSpPr txBox="1"/>
            <p:nvPr/>
          </p:nvSpPr>
          <p:spPr>
            <a:xfrm>
              <a:off x="0" y="-209550"/>
              <a:ext cx="12178747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Operaciones de una cola</a:t>
              </a:r>
              <a:endParaRPr/>
            </a:p>
          </p:txBody>
        </p:sp>
      </p:grpSp>
      <p:sp>
        <p:nvSpPr>
          <p:cNvPr id="146" name="Google Shape;146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47" name="Google Shape;147;p2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48" name="Google Shape;148;p2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49" name="Google Shape;149;p2"/>
          <p:cNvSpPr/>
          <p:nvPr/>
        </p:nvSpPr>
        <p:spPr>
          <a:xfrm>
            <a:off x="14831038" y="8154729"/>
            <a:ext cx="4856524" cy="4114800"/>
          </a:xfrm>
          <a:custGeom>
            <a:rect b="b" l="l" r="r" t="t"/>
            <a:pathLst>
              <a:path extrusionOk="0" h="4114800" w="4856524">
                <a:moveTo>
                  <a:pt x="0" y="0"/>
                </a:moveTo>
                <a:lnTo>
                  <a:pt x="4856524" y="0"/>
                </a:lnTo>
                <a:lnTo>
                  <a:pt x="48565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2"/>
          <p:cNvSpPr/>
          <p:nvPr/>
        </p:nvSpPr>
        <p:spPr>
          <a:xfrm>
            <a:off x="-497096" y="8347242"/>
            <a:ext cx="5003996" cy="4185160"/>
          </a:xfrm>
          <a:custGeom>
            <a:rect b="b" l="l" r="r" t="t"/>
            <a:pathLst>
              <a:path extrusionOk="0"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2"/>
          <p:cNvSpPr txBox="1"/>
          <p:nvPr/>
        </p:nvSpPr>
        <p:spPr>
          <a:xfrm>
            <a:off x="700124" y="1103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9991228" y="8732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/>
          <p:nvPr/>
        </p:nvSpPr>
        <p:spPr>
          <a:xfrm>
            <a:off x="2360030" y="3720904"/>
            <a:ext cx="4920538" cy="4114800"/>
          </a:xfrm>
          <a:custGeom>
            <a:rect b="b" l="l" r="r" t="t"/>
            <a:pathLst>
              <a:path extrusionOk="0" h="4114800" w="4920538">
                <a:moveTo>
                  <a:pt x="0" y="0"/>
                </a:moveTo>
                <a:lnTo>
                  <a:pt x="4920538" y="0"/>
                </a:lnTo>
                <a:lnTo>
                  <a:pt x="492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3"/>
          <p:cNvSpPr/>
          <p:nvPr/>
        </p:nvSpPr>
        <p:spPr>
          <a:xfrm>
            <a:off x="10040019" y="3287629"/>
            <a:ext cx="5970671" cy="5970671"/>
          </a:xfrm>
          <a:custGeom>
            <a:rect b="b" l="l" r="r" t="t"/>
            <a:pathLst>
              <a:path extrusionOk="0"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3"/>
          <p:cNvSpPr txBox="1"/>
          <p:nvPr/>
        </p:nvSpPr>
        <p:spPr>
          <a:xfrm>
            <a:off x="2507390" y="762000"/>
            <a:ext cx="13503300" cy="128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Autonomia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13308879" y="5974478"/>
            <a:ext cx="4114219" cy="3903366"/>
          </a:xfrm>
          <a:custGeom>
            <a:rect b="b" l="l" r="r" t="t"/>
            <a:pathLst>
              <a:path extrusionOk="0" h="3903366" w="4114219">
                <a:moveTo>
                  <a:pt x="0" y="0"/>
                </a:moveTo>
                <a:lnTo>
                  <a:pt x="4114220" y="0"/>
                </a:lnTo>
                <a:lnTo>
                  <a:pt x="4114220" y="3903365"/>
                </a:lnTo>
                <a:lnTo>
                  <a:pt x="0" y="3903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4"/>
          <p:cNvSpPr txBox="1"/>
          <p:nvPr/>
        </p:nvSpPr>
        <p:spPr>
          <a:xfrm>
            <a:off x="3398731" y="3406518"/>
            <a:ext cx="11490538" cy="323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principios de programación y estructuras de datos utilizando distintos lenguajes. 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1231669" y="-52858"/>
            <a:ext cx="7315200" cy="3697501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4"/>
          <p:cNvSpPr txBox="1"/>
          <p:nvPr/>
        </p:nvSpPr>
        <p:spPr>
          <a:xfrm>
            <a:off x="2636922" y="355621"/>
            <a:ext cx="6740149" cy="2184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14171708" y="7537633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5"/>
          <p:cNvSpPr/>
          <p:nvPr/>
        </p:nvSpPr>
        <p:spPr>
          <a:xfrm>
            <a:off x="-700733" y="-1217045"/>
            <a:ext cx="5003996" cy="4185160"/>
          </a:xfrm>
          <a:custGeom>
            <a:rect b="b" l="l" r="r" t="t"/>
            <a:pathLst>
              <a:path extrusionOk="0"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6" name="Google Shape;186;p5"/>
          <p:cNvGrpSpPr/>
          <p:nvPr/>
        </p:nvGrpSpPr>
        <p:grpSpPr>
          <a:xfrm>
            <a:off x="1461917" y="3312626"/>
            <a:ext cx="13052829" cy="2362672"/>
            <a:chOff x="0" y="19050"/>
            <a:chExt cx="17403772" cy="3150229"/>
          </a:xfrm>
        </p:grpSpPr>
        <p:sp>
          <p:nvSpPr>
            <p:cNvPr id="187" name="Google Shape;187;p5"/>
            <p:cNvSpPr txBox="1"/>
            <p:nvPr/>
          </p:nvSpPr>
          <p:spPr>
            <a:xfrm>
              <a:off x="0" y="1351909"/>
              <a:ext cx="17403772" cy="1817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 ACCESO ESPECIAL</a:t>
              </a: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19050"/>
              <a:ext cx="17403772" cy="958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5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ESTRUCTURAS CON POLÍTICAS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/>
        </p:nvSpPr>
        <p:spPr>
          <a:xfrm>
            <a:off x="6387273" y="453707"/>
            <a:ext cx="5513455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Pila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374903" y="1922350"/>
            <a:ext cx="5827200" cy="6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pila es una estructura de datos de entradas ordenadas tales que solo se introduce y elimina por un extremo, llamado cima o tope. Permite agregar nodos a la pila y eliminarlos de esta sólo desde su</a:t>
            </a:r>
            <a:endParaRPr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superior. Por esta razón, a una pila se le conoce como estructura de datos UEPS (último en entrar, primero en salir) o LIFO (Last-Input, First- Output).</a:t>
            </a:r>
            <a:endParaRPr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7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069832" y="2434966"/>
            <a:ext cx="9581982" cy="6640824"/>
          </a:xfrm>
          <a:custGeom>
            <a:rect b="b" l="l" r="r" t="t"/>
            <a:pathLst>
              <a:path extrusionOk="0" h="6640824" w="9581982">
                <a:moveTo>
                  <a:pt x="0" y="0"/>
                </a:moveTo>
                <a:lnTo>
                  <a:pt x="9581982" y="0"/>
                </a:lnTo>
                <a:lnTo>
                  <a:pt x="9581982" y="6640824"/>
                </a:lnTo>
                <a:lnTo>
                  <a:pt x="0" y="6640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/>
          <p:nvPr/>
        </p:nvSpPr>
        <p:spPr>
          <a:xfrm>
            <a:off x="4217337" y="923925"/>
            <a:ext cx="9853327" cy="1009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Operaciones de una pila</a:t>
            </a:r>
            <a:endParaRPr/>
          </a:p>
        </p:txBody>
      </p:sp>
      <p:grpSp>
        <p:nvGrpSpPr>
          <p:cNvPr id="209" name="Google Shape;209;p7"/>
          <p:cNvGrpSpPr/>
          <p:nvPr/>
        </p:nvGrpSpPr>
        <p:grpSpPr>
          <a:xfrm>
            <a:off x="1028700" y="2812317"/>
            <a:ext cx="4714875" cy="2086414"/>
            <a:chOff x="0" y="-85725"/>
            <a:chExt cx="6286500" cy="2781885"/>
          </a:xfrm>
        </p:grpSpPr>
        <p:sp>
          <p:nvSpPr>
            <p:cNvPr id="210" name="Google Shape;210;p7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0" y="11137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PUSH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0" y="1756560"/>
              <a:ext cx="6286500" cy="9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Este método se encarga de agregar un nuevo elemento a la pila.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13" name="Google Shape;213;p7"/>
          <p:cNvGrpSpPr/>
          <p:nvPr/>
        </p:nvGrpSpPr>
        <p:grpSpPr>
          <a:xfrm>
            <a:off x="6559050" y="2812317"/>
            <a:ext cx="4714875" cy="2473789"/>
            <a:chOff x="0" y="-85725"/>
            <a:chExt cx="6286500" cy="3298385"/>
          </a:xfrm>
        </p:grpSpPr>
        <p:sp>
          <p:nvSpPr>
            <p:cNvPr id="214" name="Google Shape;214;p7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7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POP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0" y="1743860"/>
              <a:ext cx="6286500" cy="14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 encarga de remover el elemento que se encuentre hasta arriba en la pila y retornarlo.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12187406" y="2812317"/>
            <a:ext cx="4714875" cy="2473789"/>
            <a:chOff x="0" y="-85725"/>
            <a:chExt cx="6286500" cy="3298385"/>
          </a:xfrm>
        </p:grpSpPr>
        <p:sp>
          <p:nvSpPr>
            <p:cNvPr id="218" name="Google Shape;218;p7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PEEK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0" y="1743860"/>
              <a:ext cx="6286500" cy="14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También es conocido como “Top” y se encarga de retornar el elemento superior en la pila, sin eliminarlo.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3793875" y="6238538"/>
            <a:ext cx="4714875" cy="2062888"/>
            <a:chOff x="0" y="-85725"/>
            <a:chExt cx="6286500" cy="2750518"/>
          </a:xfrm>
        </p:grpSpPr>
        <p:sp>
          <p:nvSpPr>
            <p:cNvPr id="222" name="Google Shape;222;p7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0" y="1082353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EMPTY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0" y="1725193"/>
              <a:ext cx="6286500" cy="9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Retorna un valor que indica si la pila se encuentra vacía o no.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25" name="Google Shape;225;p7"/>
          <p:cNvGrpSpPr/>
          <p:nvPr/>
        </p:nvGrpSpPr>
        <p:grpSpPr>
          <a:xfrm>
            <a:off x="9355684" y="6238538"/>
            <a:ext cx="4714875" cy="1696588"/>
            <a:chOff x="0" y="-85725"/>
            <a:chExt cx="6286500" cy="2262118"/>
          </a:xfrm>
        </p:grpSpPr>
        <p:sp>
          <p:nvSpPr>
            <p:cNvPr id="226" name="Google Shape;226;p7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7" name="Google Shape;227;p7"/>
            <p:cNvSpPr txBox="1"/>
            <p:nvPr/>
          </p:nvSpPr>
          <p:spPr>
            <a:xfrm>
              <a:off x="0" y="1082353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8" name="Google Shape;228;p7"/>
            <p:cNvSpPr txBox="1"/>
            <p:nvPr/>
          </p:nvSpPr>
          <p:spPr>
            <a:xfrm>
              <a:off x="0" y="1725193"/>
              <a:ext cx="62865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Retorna el tamaño de la pila.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29" name="Google Shape;229;p7"/>
          <p:cNvSpPr/>
          <p:nvPr/>
        </p:nvSpPr>
        <p:spPr>
          <a:xfrm>
            <a:off x="14171708" y="7537633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7"/>
          <p:cNvSpPr/>
          <p:nvPr/>
        </p:nvSpPr>
        <p:spPr>
          <a:xfrm>
            <a:off x="-700733" y="-1217045"/>
            <a:ext cx="5003996" cy="4185160"/>
          </a:xfrm>
          <a:custGeom>
            <a:rect b="b" l="l" r="r" t="t"/>
            <a:pathLst>
              <a:path extrusionOk="0"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 txBox="1"/>
          <p:nvPr/>
        </p:nvSpPr>
        <p:spPr>
          <a:xfrm>
            <a:off x="6387273" y="453707"/>
            <a:ext cx="5513455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Cola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1466673" y="2513286"/>
            <a:ext cx="4617495" cy="6180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cola es una estructura de datos que almacena elementos en una lista y permite acceder a los datos por uno de los dos extremos de la lista. Un elemento se inserta en la cola (parte final) de la lista y se suprime o elimina por la frente (parte inicial,</a:t>
            </a:r>
            <a:endParaRPr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cabeza) de la lista</a:t>
            </a:r>
            <a:endParaRPr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7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7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127991" y="2570436"/>
            <a:ext cx="9131309" cy="5440860"/>
          </a:xfrm>
          <a:custGeom>
            <a:rect b="b" l="l" r="r" t="t"/>
            <a:pathLst>
              <a:path extrusionOk="0" h="5440860" w="9131309">
                <a:moveTo>
                  <a:pt x="0" y="0"/>
                </a:moveTo>
                <a:lnTo>
                  <a:pt x="9131309" y="0"/>
                </a:lnTo>
                <a:lnTo>
                  <a:pt x="9131309" y="5440860"/>
                </a:lnTo>
                <a:lnTo>
                  <a:pt x="0" y="5440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 txBox="1"/>
          <p:nvPr/>
        </p:nvSpPr>
        <p:spPr>
          <a:xfrm>
            <a:off x="4217337" y="923925"/>
            <a:ext cx="9853327" cy="1009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Operaciones de una cola</a:t>
            </a:r>
            <a:endParaRPr/>
          </a:p>
        </p:txBody>
      </p:sp>
      <p:grpSp>
        <p:nvGrpSpPr>
          <p:cNvPr id="251" name="Google Shape;251;p9"/>
          <p:cNvGrpSpPr/>
          <p:nvPr/>
        </p:nvGrpSpPr>
        <p:grpSpPr>
          <a:xfrm>
            <a:off x="1028700" y="2812317"/>
            <a:ext cx="4714875" cy="1679989"/>
            <a:chOff x="0" y="-85725"/>
            <a:chExt cx="6286500" cy="2239985"/>
          </a:xfrm>
        </p:grpSpPr>
        <p:sp>
          <p:nvSpPr>
            <p:cNvPr id="252" name="Google Shape;252;p9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ENQUEUE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4" name="Google Shape;254;p9"/>
            <p:cNvSpPr txBox="1"/>
            <p:nvPr/>
          </p:nvSpPr>
          <p:spPr>
            <a:xfrm>
              <a:off x="0" y="1743860"/>
              <a:ext cx="62865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Ingresa un nuevo valor al final de la cola.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55" name="Google Shape;255;p9"/>
          <p:cNvGrpSpPr/>
          <p:nvPr/>
        </p:nvGrpSpPr>
        <p:grpSpPr>
          <a:xfrm>
            <a:off x="6559050" y="2812317"/>
            <a:ext cx="4714875" cy="2076889"/>
            <a:chOff x="0" y="-85725"/>
            <a:chExt cx="6286500" cy="2769185"/>
          </a:xfrm>
        </p:grpSpPr>
        <p:sp>
          <p:nvSpPr>
            <p:cNvPr id="256" name="Google Shape;256;p9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7" name="Google Shape;257;p9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DEQUEUE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8" name="Google Shape;258;p9"/>
            <p:cNvSpPr txBox="1"/>
            <p:nvPr/>
          </p:nvSpPr>
          <p:spPr>
            <a:xfrm>
              <a:off x="0" y="1743860"/>
              <a:ext cx="6286500" cy="9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Saca el elemento que se encuentre al inicio de la cola (el primero).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59" name="Google Shape;259;p9"/>
          <p:cNvGrpSpPr/>
          <p:nvPr/>
        </p:nvGrpSpPr>
        <p:grpSpPr>
          <a:xfrm>
            <a:off x="12187406" y="2812317"/>
            <a:ext cx="4714875" cy="2076889"/>
            <a:chOff x="0" y="-85725"/>
            <a:chExt cx="6286500" cy="2769185"/>
          </a:xfrm>
        </p:grpSpPr>
        <p:sp>
          <p:nvSpPr>
            <p:cNvPr id="260" name="Google Shape;260;p9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1" name="Google Shape;261;p9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PEEK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2" name="Google Shape;262;p9"/>
            <p:cNvSpPr txBox="1"/>
            <p:nvPr/>
          </p:nvSpPr>
          <p:spPr>
            <a:xfrm>
              <a:off x="0" y="1743860"/>
              <a:ext cx="6286500" cy="9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 encarga de retornar el elemento superior en la cola, sin eliminarlo.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63" name="Google Shape;263;p9"/>
          <p:cNvGrpSpPr/>
          <p:nvPr/>
        </p:nvGrpSpPr>
        <p:grpSpPr>
          <a:xfrm>
            <a:off x="3793875" y="6238538"/>
            <a:ext cx="4714875" cy="2062888"/>
            <a:chOff x="0" y="-85725"/>
            <a:chExt cx="6286500" cy="2750518"/>
          </a:xfrm>
        </p:grpSpPr>
        <p:sp>
          <p:nvSpPr>
            <p:cNvPr id="264" name="Google Shape;264;p9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5" name="Google Shape;265;p9"/>
            <p:cNvSpPr txBox="1"/>
            <p:nvPr/>
          </p:nvSpPr>
          <p:spPr>
            <a:xfrm>
              <a:off x="0" y="1082353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EMPTY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6" name="Google Shape;266;p9"/>
            <p:cNvSpPr txBox="1"/>
            <p:nvPr/>
          </p:nvSpPr>
          <p:spPr>
            <a:xfrm>
              <a:off x="0" y="1725193"/>
              <a:ext cx="6286500" cy="9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Retorna un valor que indica si la cola se encuentra vacía o no.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67" name="Google Shape;267;p9"/>
          <p:cNvGrpSpPr/>
          <p:nvPr/>
        </p:nvGrpSpPr>
        <p:grpSpPr>
          <a:xfrm>
            <a:off x="9324224" y="6238538"/>
            <a:ext cx="4714875" cy="1665988"/>
            <a:chOff x="0" y="-85725"/>
            <a:chExt cx="6286500" cy="2221318"/>
          </a:xfrm>
        </p:grpSpPr>
        <p:sp>
          <p:nvSpPr>
            <p:cNvPr id="268" name="Google Shape;268;p9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9"/>
            <p:cNvSpPr txBox="1"/>
            <p:nvPr/>
          </p:nvSpPr>
          <p:spPr>
            <a:xfrm>
              <a:off x="0" y="1082353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9"/>
            <p:cNvSpPr txBox="1"/>
            <p:nvPr/>
          </p:nvSpPr>
          <p:spPr>
            <a:xfrm>
              <a:off x="0" y="1725193"/>
              <a:ext cx="62865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Retorna el tamaño de la cola.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1" name="Google Shape;271;p9"/>
          <p:cNvSpPr/>
          <p:nvPr/>
        </p:nvSpPr>
        <p:spPr>
          <a:xfrm>
            <a:off x="-700733" y="-1217045"/>
            <a:ext cx="5003996" cy="4185160"/>
          </a:xfrm>
          <a:custGeom>
            <a:rect b="b" l="l" r="r" t="t"/>
            <a:pathLst>
              <a:path extrusionOk="0"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9"/>
          <p:cNvSpPr/>
          <p:nvPr/>
        </p:nvSpPr>
        <p:spPr>
          <a:xfrm>
            <a:off x="14171708" y="7537633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/>
          <p:nvPr/>
        </p:nvSpPr>
        <p:spPr>
          <a:xfrm>
            <a:off x="6578306" y="598827"/>
            <a:ext cx="411733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Aplicaciones</a:t>
            </a:r>
            <a:endParaRPr/>
          </a:p>
        </p:txBody>
      </p:sp>
      <p:grpSp>
        <p:nvGrpSpPr>
          <p:cNvPr id="282" name="Google Shape;282;p10"/>
          <p:cNvGrpSpPr/>
          <p:nvPr/>
        </p:nvGrpSpPr>
        <p:grpSpPr>
          <a:xfrm>
            <a:off x="1108127" y="2982450"/>
            <a:ext cx="4714875" cy="4061614"/>
            <a:chOff x="0" y="-85725"/>
            <a:chExt cx="6286500" cy="5415485"/>
          </a:xfrm>
        </p:grpSpPr>
        <p:sp>
          <p:nvSpPr>
            <p:cNvPr id="283" name="Google Shape;283;p10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" name="Google Shape;284;p10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SIMULACIÓN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0" y="1743860"/>
              <a:ext cx="6286500" cy="3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Las colas se utilizan para modelar sistemas de colas en la teoría de la probabilidad y la simulación de eventos discretos. Esto es útil para comprender y predecir el comportamiento de sistemas como líneas de espera en bancos, supermercados, centros de llamadas, etc.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86" name="Google Shape;286;p10"/>
          <p:cNvGrpSpPr/>
          <p:nvPr/>
        </p:nvGrpSpPr>
        <p:grpSpPr>
          <a:xfrm>
            <a:off x="6786510" y="2982450"/>
            <a:ext cx="4731075" cy="5609726"/>
            <a:chOff x="0" y="-85725"/>
            <a:chExt cx="6308100" cy="7479635"/>
          </a:xfrm>
        </p:grpSpPr>
        <p:sp>
          <p:nvSpPr>
            <p:cNvPr id="287" name="Google Shape;287;p10"/>
            <p:cNvSpPr txBox="1"/>
            <p:nvPr/>
          </p:nvSpPr>
          <p:spPr>
            <a:xfrm>
              <a:off x="0" y="-85725"/>
              <a:ext cx="61206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" name="Google Shape;288;p10"/>
            <p:cNvSpPr txBox="1"/>
            <p:nvPr/>
          </p:nvSpPr>
          <p:spPr>
            <a:xfrm>
              <a:off x="0" y="1107371"/>
              <a:ext cx="6120600" cy="10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GESTIÓN DE RECURSOS COMPARTIDOS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2220110"/>
              <a:ext cx="6308100" cy="517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Las colas se utilizan para gestionar el acceso a recursos compartidos entre múltiples procesos o hilos en sistemas concurrentes. Por ejemplo, en sistemas operativos, las solicitudes de recursos como la CPU o los dispositivos de E/S pueden ponerse en colas y gestionarse de manera eficiente para evitar conflictos y garantizar un uso equitativo de los recursos.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2221878" y="2982450"/>
            <a:ext cx="4714875" cy="3267814"/>
            <a:chOff x="0" y="-85725"/>
            <a:chExt cx="6286500" cy="4357085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0" y="-85725"/>
              <a:ext cx="60999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0" y="1101021"/>
              <a:ext cx="60999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SISTEMA DE IMPRESIÓN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0" y="1743860"/>
              <a:ext cx="6286500" cy="25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29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entornos donde varios usuarios comparten una impresora, las solicitudes de impresión se pueden poner en una cola para gestionar el acceso a la impresora de manera justa y eficiente.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4" name="Google Shape;294;p10"/>
          <p:cNvSpPr/>
          <p:nvPr/>
        </p:nvSpPr>
        <p:spPr>
          <a:xfrm>
            <a:off x="-700733" y="-1217045"/>
            <a:ext cx="5003996" cy="4185160"/>
          </a:xfrm>
          <a:custGeom>
            <a:rect b="b" l="l" r="r" t="t"/>
            <a:pathLst>
              <a:path extrusionOk="0"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0"/>
          <p:cNvSpPr/>
          <p:nvPr/>
        </p:nvSpPr>
        <p:spPr>
          <a:xfrm>
            <a:off x="14171708" y="7537633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7086600" y="5701949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1"/>
          <p:cNvSpPr txBox="1"/>
          <p:nvPr/>
        </p:nvSpPr>
        <p:spPr>
          <a:xfrm>
            <a:off x="6229520" y="1604725"/>
            <a:ext cx="5829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Ejercicio </a:t>
            </a: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práctico</a:t>
            </a:r>
            <a:endParaRPr/>
          </a:p>
        </p:txBody>
      </p:sp>
      <p:sp>
        <p:nvSpPr>
          <p:cNvPr id="306" name="Google Shape;306;p11"/>
          <p:cNvSpPr txBox="1"/>
          <p:nvPr/>
        </p:nvSpPr>
        <p:spPr>
          <a:xfrm>
            <a:off x="5232785" y="4099445"/>
            <a:ext cx="7822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QUIZZ</a:t>
            </a:r>
            <a:endParaRPr b="1" sz="2000"/>
          </a:p>
        </p:txBody>
      </p:sp>
      <p:sp>
        <p:nvSpPr>
          <p:cNvPr id="307" name="Google Shape;307;p11"/>
          <p:cNvSpPr/>
          <p:nvPr/>
        </p:nvSpPr>
        <p:spPr>
          <a:xfrm rot="8618761">
            <a:off x="13134165" y="7667865"/>
            <a:ext cx="7311839" cy="3695802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1"/>
          <p:cNvSpPr/>
          <p:nvPr/>
        </p:nvSpPr>
        <p:spPr>
          <a:xfrm>
            <a:off x="-1759847" y="-791782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7" y="0"/>
                </a:lnTo>
                <a:lnTo>
                  <a:pt x="50111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 rot="8623329">
            <a:off x="13129728" y="7661956"/>
            <a:ext cx="7315200" cy="3697501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2"/>
          <p:cNvSpPr/>
          <p:nvPr/>
        </p:nvSpPr>
        <p:spPr>
          <a:xfrm>
            <a:off x="-1759847" y="-791782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7" y="0"/>
                </a:lnTo>
                <a:lnTo>
                  <a:pt x="50111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12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/>
          </a:p>
        </p:txBody>
      </p:sp>
      <p:sp>
        <p:nvSpPr>
          <p:cNvPr id="320" name="Google Shape;320;p12"/>
          <p:cNvSpPr txBox="1"/>
          <p:nvPr/>
        </p:nvSpPr>
        <p:spPr>
          <a:xfrm>
            <a:off x="6212437" y="3632233"/>
            <a:ext cx="5812805" cy="2901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Pila</a:t>
            </a:r>
            <a:endParaRPr/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</a:t>
            </a:r>
            <a:endParaRPr/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Push y pop</a:t>
            </a:r>
            <a:endParaRPr/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Enqueue y Dequeue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/>
        </p:nvSpPr>
        <p:spPr>
          <a:xfrm>
            <a:off x="2507390" y="762000"/>
            <a:ext cx="13503300" cy="128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/>
          </a:p>
        </p:txBody>
      </p:sp>
      <p:sp>
        <p:nvSpPr>
          <p:cNvPr id="330" name="Google Shape;330;p13"/>
          <p:cNvSpPr txBox="1"/>
          <p:nvPr/>
        </p:nvSpPr>
        <p:spPr>
          <a:xfrm>
            <a:off x="4517529" y="3924731"/>
            <a:ext cx="9252942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GeeksforGeeks. (2023). Queue Data Structure.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-1759847" y="-791782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7" y="0"/>
                </a:lnTo>
                <a:lnTo>
                  <a:pt x="50111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3"/>
          <p:cNvSpPr/>
          <p:nvPr/>
        </p:nvSpPr>
        <p:spPr>
          <a:xfrm rot="8618761">
            <a:off x="13134165" y="7667865"/>
            <a:ext cx="7311839" cy="3695802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/>
        </p:nvSpPr>
        <p:spPr>
          <a:xfrm>
            <a:off x="4437795" y="3236704"/>
            <a:ext cx="86589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8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286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5414714" y="5586628"/>
            <a:ext cx="6704991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13963751" y="10287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" r="-5" t="0"/>
            </a:stretch>
          </a:blipFill>
          <a:ln>
            <a:noFill/>
          </a:ln>
        </p:spPr>
      </p:sp>
      <p:sp>
        <p:nvSpPr>
          <p:cNvPr id="344" name="Google Shape;344;p14"/>
          <p:cNvSpPr txBox="1"/>
          <p:nvPr/>
        </p:nvSpPr>
        <p:spPr>
          <a:xfrm>
            <a:off x="2411098" y="7747335"/>
            <a:ext cx="13465804" cy="871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