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10287000" cx="18288000"/>
  <p:notesSz cx="6858000" cy="9144000"/>
  <p:embeddedFontLst>
    <p:embeddedFont>
      <p:font typeface="Play"/>
      <p:regular r:id="rId26"/>
      <p:bold r:id="rId27"/>
    </p:embeddedFont>
    <p:embeddedFont>
      <p:font typeface="League Spartan"/>
      <p:regular r:id="rId28"/>
      <p:bold r:id="rId29"/>
    </p:embeddedFont>
    <p:embeddedFont>
      <p:font typeface="Raleway"/>
      <p:bold r:id="rId30"/>
      <p:boldItalic r:id="rId31"/>
    </p:embeddedFont>
    <p:embeddedFont>
      <p:font typeface="Raleway Light"/>
      <p:regular r:id="rId32"/>
      <p:bold r:id="rId33"/>
      <p:italic r:id="rId34"/>
      <p:boldItalic r:id="rId35"/>
    </p:embeddedFont>
    <p:embeddedFont>
      <p:font typeface="Open Sans"/>
      <p:bold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8" roundtripDataSignature="AMtx7mgIAnYJVVSeDe9guNQNv9CQ9Tp86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lay-regular.fntdata"/><Relationship Id="rId25" Type="http://schemas.openxmlformats.org/officeDocument/2006/relationships/slide" Target="slides/slide20.xml"/><Relationship Id="rId28" Type="http://schemas.openxmlformats.org/officeDocument/2006/relationships/font" Target="fonts/LeagueSpartan-regular.fntdata"/><Relationship Id="rId27" Type="http://schemas.openxmlformats.org/officeDocument/2006/relationships/font" Target="fonts/Play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eagueSpartan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aleway-boldItalic.fntdata"/><Relationship Id="rId30" Type="http://schemas.openxmlformats.org/officeDocument/2006/relationships/font" Target="fonts/Raleway-bold.fntdata"/><Relationship Id="rId11" Type="http://schemas.openxmlformats.org/officeDocument/2006/relationships/slide" Target="slides/slide6.xml"/><Relationship Id="rId33" Type="http://schemas.openxmlformats.org/officeDocument/2006/relationships/font" Target="fonts/RalewayLight-bold.fntdata"/><Relationship Id="rId10" Type="http://schemas.openxmlformats.org/officeDocument/2006/relationships/slide" Target="slides/slide5.xml"/><Relationship Id="rId32" Type="http://schemas.openxmlformats.org/officeDocument/2006/relationships/font" Target="fonts/RalewayLight-regular.fntdata"/><Relationship Id="rId13" Type="http://schemas.openxmlformats.org/officeDocument/2006/relationships/slide" Target="slides/slide8.xml"/><Relationship Id="rId35" Type="http://schemas.openxmlformats.org/officeDocument/2006/relationships/font" Target="fonts/RalewayLight-boldItalic.fntdata"/><Relationship Id="rId12" Type="http://schemas.openxmlformats.org/officeDocument/2006/relationships/slide" Target="slides/slide7.xml"/><Relationship Id="rId34" Type="http://schemas.openxmlformats.org/officeDocument/2006/relationships/font" Target="fonts/RalewayLight-italic.fntdata"/><Relationship Id="rId15" Type="http://schemas.openxmlformats.org/officeDocument/2006/relationships/slide" Target="slides/slide10.xml"/><Relationship Id="rId37" Type="http://schemas.openxmlformats.org/officeDocument/2006/relationships/font" Target="fonts/OpenSans-boldItalic.fntdata"/><Relationship Id="rId14" Type="http://schemas.openxmlformats.org/officeDocument/2006/relationships/slide" Target="slides/slide9.xml"/><Relationship Id="rId36" Type="http://schemas.openxmlformats.org/officeDocument/2006/relationships/font" Target="fonts/OpenSans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customschemas.google.com/relationships/presentationmetadata" Target="meta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5c6bf5df0e_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5c6bf5df0e_2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hyperlink" Target="https://youtu.be/yjm7jdeiDno" TargetMode="External"/><Relationship Id="rId6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22.png"/><Relationship Id="rId5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2.png"/><Relationship Id="rId5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Relationship Id="rId4" Type="http://schemas.openxmlformats.org/officeDocument/2006/relationships/image" Target="../media/image2.png"/><Relationship Id="rId5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Relationship Id="rId4" Type="http://schemas.openxmlformats.org/officeDocument/2006/relationships/image" Target="../media/image2.png"/><Relationship Id="rId5" Type="http://schemas.openxmlformats.org/officeDocument/2006/relationships/image" Target="../media/image16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Relationship Id="rId4" Type="http://schemas.openxmlformats.org/officeDocument/2006/relationships/image" Target="../media/image2.png"/><Relationship Id="rId5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5c6bf5df0e_2_1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77" l="0" r="0" t="-38887"/>
            </a:stretch>
          </a:blipFill>
          <a:ln>
            <a:noFill/>
          </a:ln>
        </p:spPr>
      </p:sp>
      <p:sp>
        <p:nvSpPr>
          <p:cNvPr id="85" name="Google Shape;85;g35c6bf5df0e_2_17"/>
          <p:cNvSpPr/>
          <p:nvPr/>
        </p:nvSpPr>
        <p:spPr>
          <a:xfrm>
            <a:off x="19050" y="0"/>
            <a:ext cx="18288000" cy="10260918"/>
          </a:xfrm>
          <a:custGeom>
            <a:rect b="b" l="l" r="r" t="t"/>
            <a:pathLst>
              <a:path extrusionOk="0" h="10260918" w="18288000">
                <a:moveTo>
                  <a:pt x="0" y="0"/>
                </a:moveTo>
                <a:lnTo>
                  <a:pt x="18288000" y="0"/>
                </a:lnTo>
                <a:lnTo>
                  <a:pt x="18288000" y="10260918"/>
                </a:lnTo>
                <a:lnTo>
                  <a:pt x="0" y="102609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g35c6bf5df0e_2_17"/>
          <p:cNvSpPr txBox="1"/>
          <p:nvPr/>
        </p:nvSpPr>
        <p:spPr>
          <a:xfrm>
            <a:off x="0" y="5320707"/>
            <a:ext cx="18288000" cy="8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Laboratorio Estructuras de Datos </a:t>
            </a:r>
            <a:endParaRPr/>
          </a:p>
        </p:txBody>
      </p:sp>
      <p:sp>
        <p:nvSpPr>
          <p:cNvPr id="87" name="Google Shape;87;g35c6bf5df0e_2_17"/>
          <p:cNvSpPr txBox="1"/>
          <p:nvPr/>
        </p:nvSpPr>
        <p:spPr>
          <a:xfrm>
            <a:off x="3221750" y="6388899"/>
            <a:ext cx="8115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99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i="0" lang="en-US" sz="39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Aux.</a:t>
            </a:r>
            <a:endParaRPr/>
          </a:p>
        </p:txBody>
      </p:sp>
      <p:sp>
        <p:nvSpPr>
          <p:cNvPr id="88" name="Google Shape;88;g35c6bf5df0e_2_17"/>
          <p:cNvSpPr txBox="1"/>
          <p:nvPr/>
        </p:nvSpPr>
        <p:spPr>
          <a:xfrm>
            <a:off x="14269539" y="2363391"/>
            <a:ext cx="3694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00/00/0000</a:t>
            </a:r>
            <a:endParaRPr/>
          </a:p>
        </p:txBody>
      </p:sp>
      <p:sp>
        <p:nvSpPr>
          <p:cNvPr id="89" name="Google Shape;89;g35c6bf5df0e_2_17"/>
          <p:cNvSpPr txBox="1"/>
          <p:nvPr/>
        </p:nvSpPr>
        <p:spPr>
          <a:xfrm>
            <a:off x="14269539" y="3097188"/>
            <a:ext cx="3694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17:20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1C4D"/>
            </a:gs>
            <a:gs pos="100000">
              <a:srgbClr val="000000"/>
            </a:gs>
          </a:gsLst>
          <a:lin ang="0" scaled="0"/>
        </a:gra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1"/>
          <p:cNvSpPr txBox="1"/>
          <p:nvPr/>
        </p:nvSpPr>
        <p:spPr>
          <a:xfrm>
            <a:off x="1028700" y="7929243"/>
            <a:ext cx="7718392" cy="863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ESTRUCTURAS DE DATOS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3941470" y="3435978"/>
            <a:ext cx="10662378" cy="1566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ÁRBOL B - GRAFOS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1028700" y="9210675"/>
            <a:ext cx="3525292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/>
          </a:p>
        </p:txBody>
      </p:sp>
      <p:sp>
        <p:nvSpPr>
          <p:cNvPr id="99" name="Google Shape;99;p1"/>
          <p:cNvSpPr txBox="1"/>
          <p:nvPr/>
        </p:nvSpPr>
        <p:spPr>
          <a:xfrm>
            <a:off x="1028700" y="9585325"/>
            <a:ext cx="64080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7372862" y="2318984"/>
            <a:ext cx="3799594" cy="678844"/>
          </a:xfrm>
          <a:custGeom>
            <a:rect b="b" l="l" r="r" t="t"/>
            <a:pathLst>
              <a:path extrusionOk="0" h="678844" w="3799594">
                <a:moveTo>
                  <a:pt x="0" y="0"/>
                </a:moveTo>
                <a:lnTo>
                  <a:pt x="3799594" y="0"/>
                </a:lnTo>
                <a:lnTo>
                  <a:pt x="3799594" y="678844"/>
                </a:lnTo>
                <a:lnTo>
                  <a:pt x="0" y="6788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"/>
          <p:cNvSpPr/>
          <p:nvPr/>
        </p:nvSpPr>
        <p:spPr>
          <a:xfrm>
            <a:off x="0" y="0"/>
            <a:ext cx="3513477" cy="1884501"/>
          </a:xfrm>
          <a:custGeom>
            <a:rect b="b" l="l" r="r" t="t"/>
            <a:pathLst>
              <a:path extrusionOk="0" h="1884501" w="3513477">
                <a:moveTo>
                  <a:pt x="0" y="0"/>
                </a:moveTo>
                <a:lnTo>
                  <a:pt x="3513477" y="0"/>
                </a:lnTo>
                <a:lnTo>
                  <a:pt x="3513477" y="1884501"/>
                </a:lnTo>
                <a:lnTo>
                  <a:pt x="0" y="18845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1"/>
          <p:cNvSpPr/>
          <p:nvPr/>
        </p:nvSpPr>
        <p:spPr>
          <a:xfrm>
            <a:off x="14774523" y="8413447"/>
            <a:ext cx="3513477" cy="1884501"/>
          </a:xfrm>
          <a:custGeom>
            <a:rect b="b" l="l" r="r" t="t"/>
            <a:pathLst>
              <a:path extrusionOk="0" h="1884501" w="3513477">
                <a:moveTo>
                  <a:pt x="0" y="0"/>
                </a:moveTo>
                <a:lnTo>
                  <a:pt x="3513477" y="0"/>
                </a:lnTo>
                <a:lnTo>
                  <a:pt x="3513477" y="1884501"/>
                </a:lnTo>
                <a:lnTo>
                  <a:pt x="0" y="18845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1C4D"/>
            </a:gs>
            <a:gs pos="100000">
              <a:srgbClr val="3B616F"/>
            </a:gs>
          </a:gsLst>
          <a:lin ang="0" scaled="0"/>
        </a:gra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/>
          <p:cNvGrpSpPr/>
          <p:nvPr/>
        </p:nvGrpSpPr>
        <p:grpSpPr>
          <a:xfrm>
            <a:off x="176619" y="4520484"/>
            <a:ext cx="4613551" cy="845385"/>
            <a:chOff x="0" y="-76200"/>
            <a:chExt cx="1964221" cy="359923"/>
          </a:xfrm>
        </p:grpSpPr>
        <p:sp>
          <p:nvSpPr>
            <p:cNvPr id="108" name="Google Shape;108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9" name="Google Shape;109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FORO 9</a:t>
              </a:r>
              <a:endParaRPr/>
            </a:p>
          </p:txBody>
        </p:sp>
      </p:grpSp>
      <p:sp>
        <p:nvSpPr>
          <p:cNvPr id="110" name="Google Shape;110;p2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1" name="Google Shape;111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112" name="Google Shape;112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3" name="Google Shape;113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/>
            </a:p>
          </p:txBody>
        </p:sp>
      </p:grpSp>
      <p:sp>
        <p:nvSpPr>
          <p:cNvPr id="114" name="Google Shape;114;p2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5" name="Google Shape;115;p2"/>
          <p:cNvGrpSpPr/>
          <p:nvPr/>
        </p:nvGrpSpPr>
        <p:grpSpPr>
          <a:xfrm>
            <a:off x="651749" y="-320617"/>
            <a:ext cx="7130701" cy="3120467"/>
            <a:chOff x="-6" y="-95250"/>
            <a:chExt cx="9507600" cy="4160623"/>
          </a:xfrm>
        </p:grpSpPr>
        <p:sp>
          <p:nvSpPr>
            <p:cNvPr id="116" name="Google Shape;116;p2"/>
            <p:cNvSpPr txBox="1"/>
            <p:nvPr/>
          </p:nvSpPr>
          <p:spPr>
            <a:xfrm>
              <a:off x="-6" y="986773"/>
              <a:ext cx="9507600" cy="30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0" u="none" cap="none" strike="noStrike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rPr>
                <a:t>Agenda</a:t>
              </a:r>
              <a:endParaRPr/>
            </a:p>
          </p:txBody>
        </p:sp>
        <p:sp>
          <p:nvSpPr>
            <p:cNvPr id="117" name="Google Shape;117;p2"/>
            <p:cNvSpPr txBox="1"/>
            <p:nvPr/>
          </p:nvSpPr>
          <p:spPr>
            <a:xfrm>
              <a:off x="0" y="-95250"/>
              <a:ext cx="8186982" cy="9274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318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8" name="Google Shape;118;p2"/>
          <p:cNvGrpSpPr/>
          <p:nvPr/>
        </p:nvGrpSpPr>
        <p:grpSpPr>
          <a:xfrm>
            <a:off x="9678615" y="197966"/>
            <a:ext cx="8416800" cy="2723726"/>
            <a:chOff x="-1937467" y="57667"/>
            <a:chExt cx="11222400" cy="3631635"/>
          </a:xfrm>
        </p:grpSpPr>
        <p:sp>
          <p:nvSpPr>
            <p:cNvPr id="119" name="Google Shape;119;p2"/>
            <p:cNvSpPr txBox="1"/>
            <p:nvPr/>
          </p:nvSpPr>
          <p:spPr>
            <a:xfrm>
              <a:off x="-1937467" y="610701"/>
              <a:ext cx="11222400" cy="30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0" u="none" cap="none" strike="noStrike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rPr>
                <a:t>Recursos</a:t>
              </a:r>
              <a:endParaRPr/>
            </a:p>
          </p:txBody>
        </p:sp>
        <p:sp>
          <p:nvSpPr>
            <p:cNvPr id="120" name="Google Shape;120;p2"/>
            <p:cNvSpPr txBox="1"/>
            <p:nvPr/>
          </p:nvSpPr>
          <p:spPr>
            <a:xfrm>
              <a:off x="-1937467" y="57667"/>
              <a:ext cx="11222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5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2"/>
          <p:cNvGrpSpPr/>
          <p:nvPr/>
        </p:nvGrpSpPr>
        <p:grpSpPr>
          <a:xfrm>
            <a:off x="11643680" y="3015881"/>
            <a:ext cx="6054093" cy="1700632"/>
            <a:chOff x="0" y="-76565"/>
            <a:chExt cx="1594483" cy="447900"/>
          </a:xfrm>
        </p:grpSpPr>
        <p:sp>
          <p:nvSpPr>
            <p:cNvPr id="122" name="Google Shape;122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3" name="Google Shape;123;p2"/>
            <p:cNvSpPr txBox="1"/>
            <p:nvPr/>
          </p:nvSpPr>
          <p:spPr>
            <a:xfrm>
              <a:off x="298783" y="-76565"/>
              <a:ext cx="1295700" cy="4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99" u="sng">
                  <a:solidFill>
                    <a:schemeClr val="hlink"/>
                  </a:solidFill>
                  <a:hlinkClick r:id="rId5"/>
                </a:rPr>
                <a:t>ÁRBOL B</a:t>
              </a:r>
              <a:endParaRPr/>
            </a:p>
          </p:txBody>
        </p:sp>
      </p:grpSp>
      <p:grpSp>
        <p:nvGrpSpPr>
          <p:cNvPr id="124" name="Google Shape;124;p2"/>
          <p:cNvGrpSpPr/>
          <p:nvPr/>
        </p:nvGrpSpPr>
        <p:grpSpPr>
          <a:xfrm>
            <a:off x="176619" y="5444302"/>
            <a:ext cx="4613551" cy="845385"/>
            <a:chOff x="0" y="-76200"/>
            <a:chExt cx="1964221" cy="359923"/>
          </a:xfrm>
        </p:grpSpPr>
        <p:sp>
          <p:nvSpPr>
            <p:cNvPr id="125" name="Google Shape;125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6" name="Google Shape;126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Dudas</a:t>
              </a:r>
              <a:endParaRPr/>
            </a:p>
          </p:txBody>
        </p:sp>
      </p:grpSp>
      <p:grpSp>
        <p:nvGrpSpPr>
          <p:cNvPr id="127" name="Google Shape;127;p2"/>
          <p:cNvGrpSpPr/>
          <p:nvPr/>
        </p:nvGrpSpPr>
        <p:grpSpPr>
          <a:xfrm>
            <a:off x="176619" y="6425875"/>
            <a:ext cx="4613551" cy="845385"/>
            <a:chOff x="0" y="-76200"/>
            <a:chExt cx="1964221" cy="359923"/>
          </a:xfrm>
        </p:grpSpPr>
        <p:sp>
          <p:nvSpPr>
            <p:cNvPr id="128" name="Google Shape;128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9" name="Google Shape;129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Árbol B</a:t>
              </a:r>
              <a:endParaRPr/>
            </a:p>
          </p:txBody>
        </p:sp>
      </p:grpSp>
      <p:grpSp>
        <p:nvGrpSpPr>
          <p:cNvPr id="130" name="Google Shape;130;p2"/>
          <p:cNvGrpSpPr/>
          <p:nvPr/>
        </p:nvGrpSpPr>
        <p:grpSpPr>
          <a:xfrm>
            <a:off x="176619" y="7349457"/>
            <a:ext cx="4613551" cy="839504"/>
            <a:chOff x="0" y="-76200"/>
            <a:chExt cx="1964221" cy="357419"/>
          </a:xfrm>
        </p:grpSpPr>
        <p:sp>
          <p:nvSpPr>
            <p:cNvPr id="131" name="Google Shape;131;p2"/>
            <p:cNvSpPr/>
            <p:nvPr/>
          </p:nvSpPr>
          <p:spPr>
            <a:xfrm>
              <a:off x="0" y="0"/>
              <a:ext cx="1964221" cy="281219"/>
            </a:xfrm>
            <a:custGeom>
              <a:rect b="b" l="l" r="r" t="t"/>
              <a:pathLst>
                <a:path extrusionOk="0" h="281219" w="1964221">
                  <a:moveTo>
                    <a:pt x="1761021" y="0"/>
                  </a:moveTo>
                  <a:lnTo>
                    <a:pt x="0" y="0"/>
                  </a:lnTo>
                  <a:lnTo>
                    <a:pt x="0" y="281219"/>
                  </a:lnTo>
                  <a:lnTo>
                    <a:pt x="1761021" y="281219"/>
                  </a:lnTo>
                  <a:lnTo>
                    <a:pt x="1964221" y="140610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2" name="Google Shape;132;p2"/>
            <p:cNvSpPr txBox="1"/>
            <p:nvPr/>
          </p:nvSpPr>
          <p:spPr>
            <a:xfrm>
              <a:off x="0" y="-76200"/>
              <a:ext cx="1849921" cy="3574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Grafos</a:t>
              </a:r>
              <a:endParaRPr/>
            </a:p>
          </p:txBody>
        </p:sp>
      </p:grpSp>
      <p:grpSp>
        <p:nvGrpSpPr>
          <p:cNvPr id="133" name="Google Shape;133;p2"/>
          <p:cNvGrpSpPr/>
          <p:nvPr/>
        </p:nvGrpSpPr>
        <p:grpSpPr>
          <a:xfrm>
            <a:off x="176619" y="8412915"/>
            <a:ext cx="4613551" cy="845385"/>
            <a:chOff x="0" y="-76200"/>
            <a:chExt cx="1964221" cy="359923"/>
          </a:xfrm>
        </p:grpSpPr>
        <p:sp>
          <p:nvSpPr>
            <p:cNvPr id="134" name="Google Shape;134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5" name="Google Shape;135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Ejemplo</a:t>
              </a:r>
              <a:endParaRPr/>
            </a:p>
          </p:txBody>
        </p:sp>
      </p:grpSp>
      <p:sp>
        <p:nvSpPr>
          <p:cNvPr id="136" name="Google Shape;136;p2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2"/>
          <p:cNvSpPr/>
          <p:nvPr/>
        </p:nvSpPr>
        <p:spPr>
          <a:xfrm>
            <a:off x="878654" y="66048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8" name="Google Shape;138;p2"/>
          <p:cNvSpPr/>
          <p:nvPr/>
        </p:nvSpPr>
        <p:spPr>
          <a:xfrm>
            <a:off x="878654" y="760463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" name="Google Shape;139;p2"/>
          <p:cNvSpPr/>
          <p:nvPr/>
        </p:nvSpPr>
        <p:spPr>
          <a:xfrm>
            <a:off x="878654" y="860554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0" name="Google Shape;140;p2"/>
          <p:cNvSpPr/>
          <p:nvPr/>
        </p:nvSpPr>
        <p:spPr>
          <a:xfrm>
            <a:off x="11956479" y="3591065"/>
            <a:ext cx="753819" cy="550269"/>
          </a:xfrm>
          <a:custGeom>
            <a:rect b="b" l="l" r="r" t="t"/>
            <a:pathLst>
              <a:path extrusionOk="0" h="384132" w="524396">
                <a:moveTo>
                  <a:pt x="0" y="0"/>
                </a:moveTo>
                <a:lnTo>
                  <a:pt x="524395" y="0"/>
                </a:lnTo>
                <a:lnTo>
                  <a:pt x="524395" y="384132"/>
                </a:lnTo>
                <a:lnTo>
                  <a:pt x="0" y="3841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18328" l="0" r="0" t="-18178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1C4D"/>
            </a:gs>
            <a:gs pos="100000">
              <a:srgbClr val="3B616F"/>
            </a:gs>
          </a:gsLst>
          <a:lin ang="0" scaled="0"/>
        </a:gra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"/>
          <p:cNvSpPr/>
          <p:nvPr/>
        </p:nvSpPr>
        <p:spPr>
          <a:xfrm>
            <a:off x="16419691" y="1084613"/>
            <a:ext cx="839609" cy="450336"/>
          </a:xfrm>
          <a:custGeom>
            <a:rect b="b" l="l" r="r" t="t"/>
            <a:pathLst>
              <a:path extrusionOk="0" h="450336" w="839609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6" name="Google Shape;146;p3"/>
          <p:cNvSpPr/>
          <p:nvPr/>
        </p:nvSpPr>
        <p:spPr>
          <a:xfrm>
            <a:off x="15580083" y="1084613"/>
            <a:ext cx="839609" cy="450336"/>
          </a:xfrm>
          <a:custGeom>
            <a:rect b="b" l="l" r="r" t="t"/>
            <a:pathLst>
              <a:path extrusionOk="0" h="450336" w="839609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p3"/>
          <p:cNvSpPr/>
          <p:nvPr/>
        </p:nvSpPr>
        <p:spPr>
          <a:xfrm>
            <a:off x="1776071" y="9014517"/>
            <a:ext cx="2728988" cy="487567"/>
          </a:xfrm>
          <a:custGeom>
            <a:rect b="b" l="l" r="r" t="t"/>
            <a:pathLst>
              <a:path extrusionOk="0" h="487567" w="2728988">
                <a:moveTo>
                  <a:pt x="0" y="0"/>
                </a:moveTo>
                <a:lnTo>
                  <a:pt x="2728988" y="0"/>
                </a:lnTo>
                <a:lnTo>
                  <a:pt x="2728988" y="487566"/>
                </a:lnTo>
                <a:lnTo>
                  <a:pt x="0" y="4875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8" name="Google Shape;148;p3"/>
          <p:cNvSpPr txBox="1"/>
          <p:nvPr/>
        </p:nvSpPr>
        <p:spPr>
          <a:xfrm>
            <a:off x="1631182" y="2769968"/>
            <a:ext cx="8056247" cy="86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ADAPTABILIDAD</a:t>
            </a:r>
            <a:endParaRPr/>
          </a:p>
        </p:txBody>
      </p:sp>
      <p:sp>
        <p:nvSpPr>
          <p:cNvPr id="149" name="Google Shape;149;p3"/>
          <p:cNvSpPr txBox="1"/>
          <p:nvPr/>
        </p:nvSpPr>
        <p:spPr>
          <a:xfrm>
            <a:off x="5080662" y="4548651"/>
            <a:ext cx="12691603" cy="213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258" u="none" cap="none" strike="noStrike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"No es la especie más fuerte ni la más inteligente la que sobrevive, sino la que mejor se adapta a los cambios".</a:t>
            </a:r>
            <a:endParaRPr/>
          </a:p>
        </p:txBody>
      </p:sp>
      <p:sp>
        <p:nvSpPr>
          <p:cNvPr id="150" name="Google Shape;150;p3"/>
          <p:cNvSpPr txBox="1"/>
          <p:nvPr/>
        </p:nvSpPr>
        <p:spPr>
          <a:xfrm>
            <a:off x="651754" y="-344397"/>
            <a:ext cx="6140237" cy="719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318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1C4D"/>
            </a:gs>
            <a:gs pos="100000">
              <a:srgbClr val="3B616F"/>
            </a:gs>
          </a:gsLst>
          <a:lin ang="0" scaled="0"/>
        </a:gra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"/>
          <p:cNvSpPr txBox="1"/>
          <p:nvPr/>
        </p:nvSpPr>
        <p:spPr>
          <a:xfrm>
            <a:off x="1535035" y="3302955"/>
            <a:ext cx="14327710" cy="493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77825" lvl="1" marL="75565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Arial"/>
              <a:buChar char="•"/>
            </a:pPr>
            <a:r>
              <a:rPr b="0" i="0" lang="en-US" sz="3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Implementa estructuras de datos como listas, pilas, colas y árboles empleando programación orientada a objetos y puntos para desarrollar soluciones modulares y eficientes.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77825" lvl="1" marL="75565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Arial"/>
              <a:buChar char="•"/>
            </a:pPr>
            <a:r>
              <a:rPr b="0" i="0" lang="en-US" sz="3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Maneja grandes volúmenes de datos estructurados y no estructurados aplicando estructuras de arboles, grafos y tablas hash para optimizar procesos y búsqueda y toma de decisiones 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6" name="Google Shape;156;p4"/>
          <p:cNvSpPr txBox="1"/>
          <p:nvPr/>
        </p:nvSpPr>
        <p:spPr>
          <a:xfrm>
            <a:off x="1374889" y="654364"/>
            <a:ext cx="13991174" cy="1801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COMPETENCIA(S) QUE DESARROLLAREMOS</a:t>
            </a:r>
            <a:endParaRPr/>
          </a:p>
        </p:txBody>
      </p:sp>
      <p:sp>
        <p:nvSpPr>
          <p:cNvPr id="157" name="Google Shape;157;p4"/>
          <p:cNvSpPr txBox="1"/>
          <p:nvPr/>
        </p:nvSpPr>
        <p:spPr>
          <a:xfrm>
            <a:off x="651754" y="-344430"/>
            <a:ext cx="6140237" cy="719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318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1C4D"/>
            </a:gs>
            <a:gs pos="100000">
              <a:srgbClr val="3B616F"/>
            </a:gs>
          </a:gsLst>
          <a:lin ang="0" scaled="0"/>
        </a:gra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"/>
          <p:cNvSpPr txBox="1"/>
          <p:nvPr/>
        </p:nvSpPr>
        <p:spPr>
          <a:xfrm>
            <a:off x="3721727" y="3989330"/>
            <a:ext cx="10844545" cy="1154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79" u="none" cap="none" strike="noStrike">
                <a:solidFill>
                  <a:srgbClr val="99FFFF"/>
                </a:solidFill>
                <a:latin typeface="Arial"/>
                <a:ea typeface="Arial"/>
                <a:cs typeface="Arial"/>
                <a:sym typeface="Arial"/>
              </a:rPr>
              <a:t>ÁRBOL B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1C4D"/>
            </a:gs>
            <a:gs pos="100000">
              <a:srgbClr val="3B616F"/>
            </a:gs>
          </a:gsLst>
          <a:lin ang="0" scaled="0"/>
        </a:gra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 txBox="1"/>
          <p:nvPr/>
        </p:nvSpPr>
        <p:spPr>
          <a:xfrm>
            <a:off x="1374889" y="2593150"/>
            <a:ext cx="14750532" cy="24979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 una estructura de datos de tipo árbol balanceado diseñado para manejar grandes cantidades de información.</a:t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3600277" y="5328017"/>
            <a:ext cx="11979806" cy="3930283"/>
          </a:xfrm>
          <a:custGeom>
            <a:rect b="b" l="l" r="r" t="t"/>
            <a:pathLst>
              <a:path extrusionOk="0" h="3930283" w="11979806">
                <a:moveTo>
                  <a:pt x="0" y="0"/>
                </a:moveTo>
                <a:lnTo>
                  <a:pt x="11979806" y="0"/>
                </a:lnTo>
                <a:lnTo>
                  <a:pt x="11979806" y="3930283"/>
                </a:lnTo>
                <a:lnTo>
                  <a:pt x="0" y="39302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9" name="Google Shape;169;p6"/>
          <p:cNvSpPr txBox="1"/>
          <p:nvPr/>
        </p:nvSpPr>
        <p:spPr>
          <a:xfrm>
            <a:off x="7183293" y="1066800"/>
            <a:ext cx="3921413" cy="882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99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ÁRBOL B</a:t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254740" y="9258300"/>
            <a:ext cx="2728988" cy="487567"/>
          </a:xfrm>
          <a:custGeom>
            <a:rect b="b" l="l" r="r" t="t"/>
            <a:pathLst>
              <a:path extrusionOk="0" h="487567" w="2728988">
                <a:moveTo>
                  <a:pt x="0" y="0"/>
                </a:moveTo>
                <a:lnTo>
                  <a:pt x="2728988" y="0"/>
                </a:lnTo>
                <a:lnTo>
                  <a:pt x="2728988" y="487567"/>
                </a:lnTo>
                <a:lnTo>
                  <a:pt x="0" y="4875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1" name="Google Shape;171;p6"/>
          <p:cNvSpPr/>
          <p:nvPr/>
        </p:nvSpPr>
        <p:spPr>
          <a:xfrm>
            <a:off x="16419691" y="1084613"/>
            <a:ext cx="839609" cy="450336"/>
          </a:xfrm>
          <a:custGeom>
            <a:rect b="b" l="l" r="r" t="t"/>
            <a:pathLst>
              <a:path extrusionOk="0" h="450336" w="839609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2" name="Google Shape;172;p6"/>
          <p:cNvSpPr/>
          <p:nvPr/>
        </p:nvSpPr>
        <p:spPr>
          <a:xfrm>
            <a:off x="15580083" y="1084613"/>
            <a:ext cx="839609" cy="450336"/>
          </a:xfrm>
          <a:custGeom>
            <a:rect b="b" l="l" r="r" t="t"/>
            <a:pathLst>
              <a:path extrusionOk="0" h="450336" w="839609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1C4D"/>
            </a:gs>
            <a:gs pos="100000">
              <a:srgbClr val="3B616F"/>
            </a:gs>
          </a:gsLst>
          <a:lin ang="0" scaled="0"/>
        </a:gra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"/>
          <p:cNvSpPr/>
          <p:nvPr/>
        </p:nvSpPr>
        <p:spPr>
          <a:xfrm>
            <a:off x="399629" y="9258300"/>
            <a:ext cx="2728988" cy="487567"/>
          </a:xfrm>
          <a:custGeom>
            <a:rect b="b" l="l" r="r" t="t"/>
            <a:pathLst>
              <a:path extrusionOk="0" h="487567" w="2728988">
                <a:moveTo>
                  <a:pt x="0" y="0"/>
                </a:moveTo>
                <a:lnTo>
                  <a:pt x="2728987" y="0"/>
                </a:lnTo>
                <a:lnTo>
                  <a:pt x="2728987" y="487567"/>
                </a:lnTo>
                <a:lnTo>
                  <a:pt x="0" y="4875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8" name="Google Shape;178;p7"/>
          <p:cNvSpPr/>
          <p:nvPr/>
        </p:nvSpPr>
        <p:spPr>
          <a:xfrm>
            <a:off x="15709529" y="245293"/>
            <a:ext cx="984533" cy="1566814"/>
          </a:xfrm>
          <a:custGeom>
            <a:rect b="b" l="l" r="r" t="t"/>
            <a:pathLst>
              <a:path extrusionOk="0" h="1566814" w="984533">
                <a:moveTo>
                  <a:pt x="0" y="0"/>
                </a:moveTo>
                <a:lnTo>
                  <a:pt x="984533" y="0"/>
                </a:lnTo>
                <a:lnTo>
                  <a:pt x="984533" y="1566814"/>
                </a:lnTo>
                <a:lnTo>
                  <a:pt x="0" y="15668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9" name="Google Shape;179;p7"/>
          <p:cNvSpPr/>
          <p:nvPr/>
        </p:nvSpPr>
        <p:spPr>
          <a:xfrm>
            <a:off x="8902424" y="2213107"/>
            <a:ext cx="6548942" cy="4052158"/>
          </a:xfrm>
          <a:custGeom>
            <a:rect b="b" l="l" r="r" t="t"/>
            <a:pathLst>
              <a:path extrusionOk="0" h="4052158" w="6548942">
                <a:moveTo>
                  <a:pt x="0" y="0"/>
                </a:moveTo>
                <a:lnTo>
                  <a:pt x="6548942" y="0"/>
                </a:lnTo>
                <a:lnTo>
                  <a:pt x="6548942" y="4052158"/>
                </a:lnTo>
                <a:lnTo>
                  <a:pt x="0" y="40521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0" name="Google Shape;180;p7"/>
          <p:cNvSpPr txBox="1"/>
          <p:nvPr/>
        </p:nvSpPr>
        <p:spPr>
          <a:xfrm>
            <a:off x="1993431" y="2079757"/>
            <a:ext cx="5074168" cy="4453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 fundamental en sistemas que manejan grandes volúmenes de información, especialmente cuando los datos no caben en la memoria principal (RAM) y deben almacenarse en discos duros o SSDs. </a:t>
            </a:r>
            <a:endParaRPr/>
          </a:p>
        </p:txBody>
      </p:sp>
      <p:sp>
        <p:nvSpPr>
          <p:cNvPr id="181" name="Google Shape;181;p7"/>
          <p:cNvSpPr txBox="1"/>
          <p:nvPr/>
        </p:nvSpPr>
        <p:spPr>
          <a:xfrm>
            <a:off x="3512781" y="873615"/>
            <a:ext cx="11938500" cy="19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99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POR QUE USAR UN </a:t>
            </a:r>
            <a:r>
              <a:rPr lang="en-US" sz="6098">
                <a:solidFill>
                  <a:srgbClr val="99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ÁRBOL</a:t>
            </a:r>
            <a:r>
              <a:rPr b="0" i="0" lang="en-US" sz="6098" u="none" cap="none" strike="noStrike">
                <a:solidFill>
                  <a:srgbClr val="99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B?</a:t>
            </a:r>
            <a:endParaRPr/>
          </a:p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98" u="none" cap="none" strike="noStrike">
              <a:solidFill>
                <a:srgbClr val="99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82" name="Google Shape;182;p7"/>
          <p:cNvSpPr txBox="1"/>
          <p:nvPr/>
        </p:nvSpPr>
        <p:spPr>
          <a:xfrm>
            <a:off x="8313660" y="6395294"/>
            <a:ext cx="7888135" cy="3891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 mucho más lento. Acceder a datos en un disco implica movimientos físicos (en discos duros tradicionales) o incluso en discos SSD, donde las operaciones de lectura/escritura son más lentas en comparación con la memoria RAM</a:t>
            </a:r>
            <a:endParaRPr/>
          </a:p>
          <a:p>
            <a:pPr indent="0" lvl="0" marL="0" marR="0" rtl="0" algn="just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1C4D"/>
            </a:gs>
            <a:gs pos="100000">
              <a:srgbClr val="3B616F"/>
            </a:gs>
          </a:gsLst>
          <a:lin ang="0" scaled="0"/>
        </a:gra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"/>
          <p:cNvSpPr txBox="1"/>
          <p:nvPr/>
        </p:nvSpPr>
        <p:spPr>
          <a:xfrm>
            <a:off x="1190130" y="2371780"/>
            <a:ext cx="16097745" cy="5421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1465" lvl="1" marL="58293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Char char="•"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 árbol B de orden m es un árbol en el que cada nodo interno puede tener como máximo m hijos y contener entre ⌈m/2⌉ y m-1 claves (excepto la raíz, que puede tener menos hijos o claves).</a:t>
            </a:r>
            <a:endParaRPr/>
          </a:p>
          <a:p>
            <a:pPr indent="-291465" lvl="1" marL="58293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Char char="•"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Balanceado: Todos los nodos hoja están al mismo nivel.</a:t>
            </a:r>
            <a:endParaRPr/>
          </a:p>
          <a:p>
            <a:pPr indent="-291465" lvl="1" marL="58293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Char char="•"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Claves ordenadas: Las claves en cada nodo están ordenadas.</a:t>
            </a:r>
            <a:endParaRPr/>
          </a:p>
          <a:p>
            <a:pPr indent="-291465" lvl="1" marL="58293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Char char="•"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Uso en bases de datos/sistemas de archivos: Ideal para almacenamiento en disco por su bajo número de accesos.</a:t>
            </a:r>
            <a:endParaRPr/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4147744" y="7280309"/>
            <a:ext cx="10958437" cy="3006691"/>
          </a:xfrm>
          <a:custGeom>
            <a:rect b="b" l="l" r="r" t="t"/>
            <a:pathLst>
              <a:path extrusionOk="0" h="3006691" w="10958437">
                <a:moveTo>
                  <a:pt x="0" y="0"/>
                </a:moveTo>
                <a:lnTo>
                  <a:pt x="10958437" y="0"/>
                </a:lnTo>
                <a:lnTo>
                  <a:pt x="10958437" y="3006691"/>
                </a:lnTo>
                <a:lnTo>
                  <a:pt x="0" y="3006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790" l="0" r="0" t="-2064"/>
            </a:stretch>
          </a:blipFill>
          <a:ln>
            <a:noFill/>
          </a:ln>
        </p:spPr>
      </p:sp>
      <p:sp>
        <p:nvSpPr>
          <p:cNvPr id="189" name="Google Shape;189;p8"/>
          <p:cNvSpPr txBox="1"/>
          <p:nvPr/>
        </p:nvSpPr>
        <p:spPr>
          <a:xfrm>
            <a:off x="5130704" y="1066800"/>
            <a:ext cx="8026591" cy="882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99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CARACTERISTICAS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1C4D"/>
            </a:gs>
            <a:gs pos="100000">
              <a:srgbClr val="3B616F"/>
            </a:gs>
          </a:gsLst>
          <a:lin ang="0" scaled="0"/>
        </a:gra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"/>
          <p:cNvSpPr txBox="1"/>
          <p:nvPr/>
        </p:nvSpPr>
        <p:spPr>
          <a:xfrm>
            <a:off x="1415110" y="2594211"/>
            <a:ext cx="16097745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Los árboles B tienen una complejidad temporal garantizada de O(log n) </a:t>
            </a:r>
            <a:endParaRPr/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Operaciones:</a:t>
            </a:r>
            <a:endParaRPr/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9"/>
          <p:cNvSpPr txBox="1"/>
          <p:nvPr/>
        </p:nvSpPr>
        <p:spPr>
          <a:xfrm>
            <a:off x="3498246" y="1066800"/>
            <a:ext cx="11931473" cy="882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99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OPERACIONES PRINCIPALES</a:t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1723782" y="4545367"/>
            <a:ext cx="4114800" cy="4114800"/>
          </a:xfrm>
          <a:custGeom>
            <a:rect b="b" l="l" r="r" t="t"/>
            <a:pathLst>
              <a:path extrusionOk="0"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7" name="Google Shape;197;p9"/>
          <p:cNvSpPr/>
          <p:nvPr/>
        </p:nvSpPr>
        <p:spPr>
          <a:xfrm>
            <a:off x="6935211" y="4545367"/>
            <a:ext cx="4114800" cy="4114800"/>
          </a:xfrm>
          <a:custGeom>
            <a:rect b="b" l="l" r="r" t="t"/>
            <a:pathLst>
              <a:path extrusionOk="0"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8" name="Google Shape;198;p9"/>
          <p:cNvSpPr/>
          <p:nvPr/>
        </p:nvSpPr>
        <p:spPr>
          <a:xfrm>
            <a:off x="12145386" y="4545367"/>
            <a:ext cx="4114800" cy="4114800"/>
          </a:xfrm>
          <a:custGeom>
            <a:rect b="b" l="l" r="r" t="t"/>
            <a:pathLst>
              <a:path extrusionOk="0"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9" name="Google Shape;199;p9"/>
          <p:cNvSpPr txBox="1"/>
          <p:nvPr/>
        </p:nvSpPr>
        <p:spPr>
          <a:xfrm>
            <a:off x="2803834" y="6004716"/>
            <a:ext cx="2254952" cy="385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7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77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Inserción</a:t>
            </a:r>
            <a:endParaRPr/>
          </a:p>
        </p:txBody>
      </p:sp>
      <p:sp>
        <p:nvSpPr>
          <p:cNvPr id="200" name="Google Shape;200;p9"/>
          <p:cNvSpPr txBox="1"/>
          <p:nvPr/>
        </p:nvSpPr>
        <p:spPr>
          <a:xfrm>
            <a:off x="8016524" y="6004716"/>
            <a:ext cx="2254952" cy="385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7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77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Eliminación</a:t>
            </a:r>
            <a:endParaRPr/>
          </a:p>
        </p:txBody>
      </p:sp>
      <p:sp>
        <p:nvSpPr>
          <p:cNvPr id="201" name="Google Shape;201;p9"/>
          <p:cNvSpPr txBox="1"/>
          <p:nvPr/>
        </p:nvSpPr>
        <p:spPr>
          <a:xfrm>
            <a:off x="13382410" y="6004716"/>
            <a:ext cx="2254952" cy="385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7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77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Búsqueda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1C4D"/>
            </a:gs>
            <a:gs pos="100000">
              <a:srgbClr val="3B616F"/>
            </a:gs>
          </a:gsLst>
          <a:lin ang="0" scaled="0"/>
        </a:gra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 txBox="1"/>
          <p:nvPr/>
        </p:nvSpPr>
        <p:spPr>
          <a:xfrm>
            <a:off x="3721727" y="3343770"/>
            <a:ext cx="10844545" cy="2303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79" u="none" cap="none" strike="noStrike">
                <a:solidFill>
                  <a:srgbClr val="99FFFF"/>
                </a:solidFill>
                <a:latin typeface="Arial"/>
                <a:ea typeface="Arial"/>
                <a:cs typeface="Arial"/>
                <a:sym typeface="Arial"/>
              </a:rPr>
              <a:t>TEORIA DE GRAFOS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1C4D"/>
            </a:gs>
            <a:gs pos="100000">
              <a:srgbClr val="3B616F"/>
            </a:gs>
          </a:gsLst>
          <a:lin ang="0" scaled="0"/>
        </a:gra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"/>
          <p:cNvSpPr txBox="1"/>
          <p:nvPr/>
        </p:nvSpPr>
        <p:spPr>
          <a:xfrm>
            <a:off x="2332698" y="2357632"/>
            <a:ext cx="6342974" cy="7388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73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3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teoría de grafos es una rama de las matemáticas que estudia las relaciones entre objetos.</a:t>
            </a:r>
            <a:endParaRPr/>
          </a:p>
          <a:p>
            <a:pPr indent="0" lvl="0" marL="0" marR="0" rtl="0" algn="just">
              <a:lnSpc>
                <a:spcPct val="173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3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73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3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Los grafos son herramientas poderosas para modelar y resolver una variedad de problemas del mundo real, desde redes de computadoras hasta relaciones sociales.</a:t>
            </a:r>
            <a:endParaRPr/>
          </a:p>
          <a:p>
            <a:pPr indent="0" lvl="0" marL="0" marR="0" rtl="0" algn="just">
              <a:lnSpc>
                <a:spcPct val="173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3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73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3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254740" y="9258300"/>
            <a:ext cx="2728988" cy="487567"/>
          </a:xfrm>
          <a:custGeom>
            <a:rect b="b" l="l" r="r" t="t"/>
            <a:pathLst>
              <a:path extrusionOk="0" h="487567" w="2728988">
                <a:moveTo>
                  <a:pt x="0" y="0"/>
                </a:moveTo>
                <a:lnTo>
                  <a:pt x="2728988" y="0"/>
                </a:lnTo>
                <a:lnTo>
                  <a:pt x="2728988" y="487567"/>
                </a:lnTo>
                <a:lnTo>
                  <a:pt x="0" y="4875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p11"/>
          <p:cNvSpPr/>
          <p:nvPr/>
        </p:nvSpPr>
        <p:spPr>
          <a:xfrm>
            <a:off x="16419691" y="1084613"/>
            <a:ext cx="839609" cy="450336"/>
          </a:xfrm>
          <a:custGeom>
            <a:rect b="b" l="l" r="r" t="t"/>
            <a:pathLst>
              <a:path extrusionOk="0" h="450336" w="839609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4" name="Google Shape;214;p11"/>
          <p:cNvSpPr/>
          <p:nvPr/>
        </p:nvSpPr>
        <p:spPr>
          <a:xfrm>
            <a:off x="15580083" y="1084613"/>
            <a:ext cx="839609" cy="450336"/>
          </a:xfrm>
          <a:custGeom>
            <a:rect b="b" l="l" r="r" t="t"/>
            <a:pathLst>
              <a:path extrusionOk="0" h="450336" w="839609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5" name="Google Shape;215;p11"/>
          <p:cNvSpPr/>
          <p:nvPr/>
        </p:nvSpPr>
        <p:spPr>
          <a:xfrm>
            <a:off x="9828132" y="3008012"/>
            <a:ext cx="7431168" cy="4913860"/>
          </a:xfrm>
          <a:custGeom>
            <a:rect b="b" l="l" r="r" t="t"/>
            <a:pathLst>
              <a:path extrusionOk="0" h="4913860" w="7431168">
                <a:moveTo>
                  <a:pt x="0" y="0"/>
                </a:moveTo>
                <a:lnTo>
                  <a:pt x="7431168" y="0"/>
                </a:lnTo>
                <a:lnTo>
                  <a:pt x="7431168" y="4913860"/>
                </a:lnTo>
                <a:lnTo>
                  <a:pt x="0" y="49138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6" name="Google Shape;216;p11"/>
          <p:cNvSpPr txBox="1"/>
          <p:nvPr/>
        </p:nvSpPr>
        <p:spPr>
          <a:xfrm>
            <a:off x="4647742" y="1066800"/>
            <a:ext cx="8992516" cy="882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99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TEORIA DE GRAFOS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1C4D"/>
            </a:gs>
            <a:gs pos="100000">
              <a:srgbClr val="3B616F"/>
            </a:gs>
          </a:gsLst>
          <a:lin ang="0" scaled="0"/>
        </a:gra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"/>
          <p:cNvSpPr/>
          <p:nvPr/>
        </p:nvSpPr>
        <p:spPr>
          <a:xfrm>
            <a:off x="254740" y="9258300"/>
            <a:ext cx="2728988" cy="487567"/>
          </a:xfrm>
          <a:custGeom>
            <a:rect b="b" l="l" r="r" t="t"/>
            <a:pathLst>
              <a:path extrusionOk="0" h="487567" w="2728988">
                <a:moveTo>
                  <a:pt x="0" y="0"/>
                </a:moveTo>
                <a:lnTo>
                  <a:pt x="2728988" y="0"/>
                </a:lnTo>
                <a:lnTo>
                  <a:pt x="2728988" y="487567"/>
                </a:lnTo>
                <a:lnTo>
                  <a:pt x="0" y="4875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2" name="Google Shape;222;p12"/>
          <p:cNvSpPr/>
          <p:nvPr/>
        </p:nvSpPr>
        <p:spPr>
          <a:xfrm>
            <a:off x="16419691" y="1084613"/>
            <a:ext cx="839609" cy="450336"/>
          </a:xfrm>
          <a:custGeom>
            <a:rect b="b" l="l" r="r" t="t"/>
            <a:pathLst>
              <a:path extrusionOk="0" h="450336" w="839609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3" name="Google Shape;223;p12"/>
          <p:cNvSpPr/>
          <p:nvPr/>
        </p:nvSpPr>
        <p:spPr>
          <a:xfrm>
            <a:off x="15580083" y="1084613"/>
            <a:ext cx="839609" cy="450336"/>
          </a:xfrm>
          <a:custGeom>
            <a:rect b="b" l="l" r="r" t="t"/>
            <a:pathLst>
              <a:path extrusionOk="0" h="450336" w="839609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4" name="Google Shape;224;p12"/>
          <p:cNvSpPr/>
          <p:nvPr/>
        </p:nvSpPr>
        <p:spPr>
          <a:xfrm>
            <a:off x="7457542" y="1850100"/>
            <a:ext cx="10132439" cy="4557478"/>
          </a:xfrm>
          <a:custGeom>
            <a:rect b="b" l="l" r="r" t="t"/>
            <a:pathLst>
              <a:path extrusionOk="0" h="4557478" w="10132439">
                <a:moveTo>
                  <a:pt x="0" y="0"/>
                </a:moveTo>
                <a:lnTo>
                  <a:pt x="10132439" y="0"/>
                </a:lnTo>
                <a:lnTo>
                  <a:pt x="10132439" y="4557478"/>
                </a:lnTo>
                <a:lnTo>
                  <a:pt x="0" y="45574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5" name="Google Shape;225;p12"/>
          <p:cNvSpPr txBox="1"/>
          <p:nvPr/>
        </p:nvSpPr>
        <p:spPr>
          <a:xfrm>
            <a:off x="725870" y="3586948"/>
            <a:ext cx="5554641" cy="3217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72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 grafo se define como un conjunto de vértices (nodos) conectados por aristas (enlaces).</a:t>
            </a:r>
            <a:endParaRPr/>
          </a:p>
          <a:p>
            <a:pPr indent="0" lvl="0" marL="0" marR="0" rtl="0" algn="just">
              <a:lnSpc>
                <a:spcPct val="172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92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2"/>
          <p:cNvSpPr txBox="1"/>
          <p:nvPr/>
        </p:nvSpPr>
        <p:spPr>
          <a:xfrm>
            <a:off x="725870" y="1122713"/>
            <a:ext cx="6160302" cy="26166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99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DEFINICIÓN DE GRAFOS</a:t>
            </a:r>
            <a:endParaRPr/>
          </a:p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98" u="none" cap="none" strike="noStrike">
              <a:solidFill>
                <a:srgbClr val="99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227" name="Google Shape;227;p12"/>
          <p:cNvSpPr txBox="1"/>
          <p:nvPr/>
        </p:nvSpPr>
        <p:spPr>
          <a:xfrm>
            <a:off x="7078641" y="6883029"/>
            <a:ext cx="10180659" cy="3056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73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3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 distinguen grafos dirigidos, donde las aristas tienen una dirección, y grafos no dirigidos, donde las aristas son bidireccionales.</a:t>
            </a:r>
            <a:endParaRPr/>
          </a:p>
          <a:p>
            <a:pPr indent="0" lvl="0" marL="0" marR="0" rtl="0" algn="just">
              <a:lnSpc>
                <a:spcPct val="173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3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73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3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1C4D"/>
            </a:gs>
            <a:gs pos="100000">
              <a:srgbClr val="3B616F"/>
            </a:gs>
          </a:gsLst>
          <a:lin ang="0" scaled="0"/>
        </a:gra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3"/>
          <p:cNvSpPr/>
          <p:nvPr/>
        </p:nvSpPr>
        <p:spPr>
          <a:xfrm>
            <a:off x="254740" y="9258300"/>
            <a:ext cx="2728988" cy="487567"/>
          </a:xfrm>
          <a:custGeom>
            <a:rect b="b" l="l" r="r" t="t"/>
            <a:pathLst>
              <a:path extrusionOk="0" h="487567" w="2728988">
                <a:moveTo>
                  <a:pt x="0" y="0"/>
                </a:moveTo>
                <a:lnTo>
                  <a:pt x="2728988" y="0"/>
                </a:lnTo>
                <a:lnTo>
                  <a:pt x="2728988" y="487567"/>
                </a:lnTo>
                <a:lnTo>
                  <a:pt x="0" y="4875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3" name="Google Shape;233;p13"/>
          <p:cNvSpPr/>
          <p:nvPr/>
        </p:nvSpPr>
        <p:spPr>
          <a:xfrm>
            <a:off x="16419691" y="1084613"/>
            <a:ext cx="839609" cy="450336"/>
          </a:xfrm>
          <a:custGeom>
            <a:rect b="b" l="l" r="r" t="t"/>
            <a:pathLst>
              <a:path extrusionOk="0" h="450336" w="839609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4" name="Google Shape;234;p13"/>
          <p:cNvSpPr/>
          <p:nvPr/>
        </p:nvSpPr>
        <p:spPr>
          <a:xfrm>
            <a:off x="15580083" y="1084613"/>
            <a:ext cx="839609" cy="450336"/>
          </a:xfrm>
          <a:custGeom>
            <a:rect b="b" l="l" r="r" t="t"/>
            <a:pathLst>
              <a:path extrusionOk="0" h="450336" w="839609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5" name="Google Shape;235;p13"/>
          <p:cNvSpPr/>
          <p:nvPr/>
        </p:nvSpPr>
        <p:spPr>
          <a:xfrm>
            <a:off x="675960" y="5238275"/>
            <a:ext cx="3688258" cy="3688258"/>
          </a:xfrm>
          <a:custGeom>
            <a:rect b="b" l="l" r="r" t="t"/>
            <a:pathLst>
              <a:path extrusionOk="0" h="3688258" w="3688258">
                <a:moveTo>
                  <a:pt x="0" y="0"/>
                </a:moveTo>
                <a:lnTo>
                  <a:pt x="3688258" y="0"/>
                </a:lnTo>
                <a:lnTo>
                  <a:pt x="3688258" y="3688258"/>
                </a:lnTo>
                <a:lnTo>
                  <a:pt x="0" y="36882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6" name="Google Shape;236;p13"/>
          <p:cNvSpPr/>
          <p:nvPr/>
        </p:nvSpPr>
        <p:spPr>
          <a:xfrm>
            <a:off x="6222351" y="5913487"/>
            <a:ext cx="4851514" cy="3013046"/>
          </a:xfrm>
          <a:custGeom>
            <a:rect b="b" l="l" r="r" t="t"/>
            <a:pathLst>
              <a:path extrusionOk="0" h="3013046" w="4851514">
                <a:moveTo>
                  <a:pt x="0" y="0"/>
                </a:moveTo>
                <a:lnTo>
                  <a:pt x="4851514" y="0"/>
                </a:lnTo>
                <a:lnTo>
                  <a:pt x="4851514" y="3013046"/>
                </a:lnTo>
                <a:lnTo>
                  <a:pt x="0" y="30130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7" name="Google Shape;237;p13"/>
          <p:cNvSpPr/>
          <p:nvPr/>
        </p:nvSpPr>
        <p:spPr>
          <a:xfrm>
            <a:off x="11938792" y="6789655"/>
            <a:ext cx="6349208" cy="2136878"/>
          </a:xfrm>
          <a:custGeom>
            <a:rect b="b" l="l" r="r" t="t"/>
            <a:pathLst>
              <a:path extrusionOk="0" h="2136878" w="6349208">
                <a:moveTo>
                  <a:pt x="0" y="0"/>
                </a:moveTo>
                <a:lnTo>
                  <a:pt x="6349208" y="0"/>
                </a:lnTo>
                <a:lnTo>
                  <a:pt x="6349208" y="2136878"/>
                </a:lnTo>
                <a:lnTo>
                  <a:pt x="0" y="2136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155" l="0" r="0" t="-2698"/>
            </a:stretch>
          </a:blipFill>
          <a:ln>
            <a:noFill/>
          </a:ln>
        </p:spPr>
      </p:sp>
      <p:sp>
        <p:nvSpPr>
          <p:cNvPr id="238" name="Google Shape;238;p13"/>
          <p:cNvSpPr txBox="1"/>
          <p:nvPr/>
        </p:nvSpPr>
        <p:spPr>
          <a:xfrm>
            <a:off x="675960" y="2238540"/>
            <a:ext cx="4480722" cy="32367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72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Grafos simples</a:t>
            </a:r>
            <a:endParaRPr/>
          </a:p>
          <a:p>
            <a:pPr indent="0" lvl="0" marL="0" marR="0" rtl="0" algn="just">
              <a:lnSpc>
                <a:spcPct val="172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tienen bucles ni aristas múltiples entre los mismos vértices.</a:t>
            </a:r>
            <a:endParaRPr/>
          </a:p>
          <a:p>
            <a:pPr indent="0" lvl="0" marL="0" marR="0" rtl="0" algn="just">
              <a:lnSpc>
                <a:spcPct val="172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92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3"/>
          <p:cNvSpPr txBox="1"/>
          <p:nvPr/>
        </p:nvSpPr>
        <p:spPr>
          <a:xfrm>
            <a:off x="5158295" y="1066800"/>
            <a:ext cx="7971410" cy="882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99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TIPOS DE GRAFOS</a:t>
            </a:r>
            <a:endParaRPr/>
          </a:p>
        </p:txBody>
      </p:sp>
      <p:sp>
        <p:nvSpPr>
          <p:cNvPr id="240" name="Google Shape;240;p13"/>
          <p:cNvSpPr txBox="1"/>
          <p:nvPr/>
        </p:nvSpPr>
        <p:spPr>
          <a:xfrm>
            <a:off x="6433032" y="2238540"/>
            <a:ext cx="4430152" cy="32367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72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Grafos ponderados</a:t>
            </a:r>
            <a:endParaRPr/>
          </a:p>
          <a:p>
            <a:pPr indent="0" lvl="0" marL="0" marR="0" rtl="0" algn="just">
              <a:lnSpc>
                <a:spcPct val="172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Asignan un peso o valor a cada arista.</a:t>
            </a:r>
            <a:endParaRPr/>
          </a:p>
          <a:p>
            <a:pPr indent="0" lvl="0" marL="0" marR="0" rtl="0" algn="just">
              <a:lnSpc>
                <a:spcPct val="172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92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72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92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3"/>
          <p:cNvSpPr txBox="1"/>
          <p:nvPr/>
        </p:nvSpPr>
        <p:spPr>
          <a:xfrm>
            <a:off x="11739664" y="2238540"/>
            <a:ext cx="6316651" cy="4551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72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Grafos bipartitos</a:t>
            </a:r>
            <a:endParaRPr/>
          </a:p>
          <a:p>
            <a:pPr indent="0" lvl="0" marL="0" marR="0" rtl="0" algn="just">
              <a:lnSpc>
                <a:spcPct val="172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Los vértices se pueden dividir en dos conjuntos disjuntos donde las aristas solo conectan vértices de diferentes conjuntos.</a:t>
            </a:r>
            <a:endParaRPr/>
          </a:p>
          <a:p>
            <a:pPr indent="0" lvl="0" marL="0" marR="0" rtl="0" algn="just">
              <a:lnSpc>
                <a:spcPct val="172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92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1C4D"/>
            </a:gs>
            <a:gs pos="100000">
              <a:srgbClr val="3B616F"/>
            </a:gs>
          </a:gsLst>
          <a:lin ang="0" scaled="0"/>
        </a:gra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4"/>
          <p:cNvSpPr/>
          <p:nvPr/>
        </p:nvSpPr>
        <p:spPr>
          <a:xfrm>
            <a:off x="254740" y="9258300"/>
            <a:ext cx="2728988" cy="487567"/>
          </a:xfrm>
          <a:custGeom>
            <a:rect b="b" l="l" r="r" t="t"/>
            <a:pathLst>
              <a:path extrusionOk="0" h="487567" w="2728988">
                <a:moveTo>
                  <a:pt x="0" y="0"/>
                </a:moveTo>
                <a:lnTo>
                  <a:pt x="2728988" y="0"/>
                </a:lnTo>
                <a:lnTo>
                  <a:pt x="2728988" y="487567"/>
                </a:lnTo>
                <a:lnTo>
                  <a:pt x="0" y="4875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7" name="Google Shape;247;p14"/>
          <p:cNvSpPr/>
          <p:nvPr/>
        </p:nvSpPr>
        <p:spPr>
          <a:xfrm>
            <a:off x="16419691" y="633377"/>
            <a:ext cx="839609" cy="450336"/>
          </a:xfrm>
          <a:custGeom>
            <a:rect b="b" l="l" r="r" t="t"/>
            <a:pathLst>
              <a:path extrusionOk="0" h="450336" w="839609">
                <a:moveTo>
                  <a:pt x="0" y="0"/>
                </a:moveTo>
                <a:lnTo>
                  <a:pt x="839609" y="0"/>
                </a:lnTo>
                <a:lnTo>
                  <a:pt x="839609" y="450336"/>
                </a:lnTo>
                <a:lnTo>
                  <a:pt x="0" y="4503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8" name="Google Shape;248;p14"/>
          <p:cNvSpPr/>
          <p:nvPr/>
        </p:nvSpPr>
        <p:spPr>
          <a:xfrm>
            <a:off x="15580083" y="634277"/>
            <a:ext cx="839609" cy="450336"/>
          </a:xfrm>
          <a:custGeom>
            <a:rect b="b" l="l" r="r" t="t"/>
            <a:pathLst>
              <a:path extrusionOk="0" h="450336" w="839609">
                <a:moveTo>
                  <a:pt x="0" y="0"/>
                </a:moveTo>
                <a:lnTo>
                  <a:pt x="839608" y="0"/>
                </a:lnTo>
                <a:lnTo>
                  <a:pt x="839608" y="450336"/>
                </a:lnTo>
                <a:lnTo>
                  <a:pt x="0" y="4503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9" name="Google Shape;249;p14"/>
          <p:cNvSpPr/>
          <p:nvPr/>
        </p:nvSpPr>
        <p:spPr>
          <a:xfrm>
            <a:off x="254740" y="3131892"/>
            <a:ext cx="6014681" cy="5245361"/>
          </a:xfrm>
          <a:custGeom>
            <a:rect b="b" l="l" r="r" t="t"/>
            <a:pathLst>
              <a:path extrusionOk="0" h="5245361" w="6014681">
                <a:moveTo>
                  <a:pt x="0" y="0"/>
                </a:moveTo>
                <a:lnTo>
                  <a:pt x="6014681" y="0"/>
                </a:lnTo>
                <a:lnTo>
                  <a:pt x="6014681" y="5245361"/>
                </a:lnTo>
                <a:lnTo>
                  <a:pt x="0" y="52453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0" name="Google Shape;250;p14"/>
          <p:cNvSpPr txBox="1"/>
          <p:nvPr/>
        </p:nvSpPr>
        <p:spPr>
          <a:xfrm>
            <a:off x="1028700" y="1340888"/>
            <a:ext cx="15743731" cy="15728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99" u="none" cap="none" strike="noStrike">
                <a:solidFill>
                  <a:srgbClr val="99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TERMINOLOGÍA Y CONCEPTOS BÁSICOS</a:t>
            </a:r>
            <a:endParaRPr/>
          </a:p>
          <a:p>
            <a:pPr indent="0" lvl="0" marL="0" marR="0" rtl="0" algn="ctr">
              <a:lnSpc>
                <a:spcPct val="113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499" u="none" cap="none" strike="noStrike">
              <a:solidFill>
                <a:srgbClr val="99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251" name="Google Shape;251;p14"/>
          <p:cNvSpPr txBox="1"/>
          <p:nvPr/>
        </p:nvSpPr>
        <p:spPr>
          <a:xfrm>
            <a:off x="6520604" y="2979492"/>
            <a:ext cx="4778254" cy="6522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72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Grado de un vértice</a:t>
            </a:r>
            <a:endParaRPr/>
          </a:p>
          <a:p>
            <a:pPr indent="0" lvl="0" marL="0" marR="0" rtl="0" algn="just">
              <a:lnSpc>
                <a:spcPct val="172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Número de aristas incidentes en él.</a:t>
            </a:r>
            <a:endParaRPr/>
          </a:p>
          <a:p>
            <a:pPr indent="0" lvl="0" marL="0" marR="0" rtl="0" algn="just">
              <a:lnSpc>
                <a:spcPct val="172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92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72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Ciclo</a:t>
            </a:r>
            <a:endParaRPr/>
          </a:p>
          <a:p>
            <a:pPr indent="0" lvl="0" marL="0" marR="0" rtl="0" algn="just">
              <a:lnSpc>
                <a:spcPct val="172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Camino cerrado donde el vértice inicial es igual al vértice final.</a:t>
            </a:r>
            <a:endParaRPr/>
          </a:p>
          <a:p>
            <a:pPr indent="0" lvl="0" marL="0" marR="0" rtl="0" algn="ctr">
              <a:lnSpc>
                <a:spcPct val="172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92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72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92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4"/>
          <p:cNvSpPr txBox="1"/>
          <p:nvPr/>
        </p:nvSpPr>
        <p:spPr>
          <a:xfrm>
            <a:off x="12226739" y="2979492"/>
            <a:ext cx="5735367" cy="5865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Camino</a:t>
            </a:r>
            <a:endParaRPr/>
          </a:p>
          <a:p>
            <a:pPr indent="0" lvl="0" marL="0" marR="0" rtl="0" algn="l">
              <a:lnSpc>
                <a:spcPct val="172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Secuencia de vértices conectados por aristas.</a:t>
            </a:r>
            <a:endParaRPr/>
          </a:p>
          <a:p>
            <a:pPr indent="0" lvl="0" marL="0" marR="0" rtl="0" algn="l">
              <a:lnSpc>
                <a:spcPct val="172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92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Componente conexo</a:t>
            </a:r>
            <a:endParaRPr/>
          </a:p>
          <a:p>
            <a:pPr indent="0" lvl="0" marL="0" marR="0" rtl="0" algn="l">
              <a:lnSpc>
                <a:spcPct val="172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Subgrafo donde todos los vértices están conectados entre sí por caminos.</a:t>
            </a:r>
            <a:endParaRPr/>
          </a:p>
          <a:p>
            <a:pPr indent="0" lvl="0" marL="0" marR="0" rtl="0" algn="ctr">
              <a:lnSpc>
                <a:spcPct val="172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92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1C4D"/>
            </a:gs>
            <a:gs pos="100000">
              <a:srgbClr val="3B616F"/>
            </a:gs>
          </a:gsLst>
          <a:lin ang="0" scaled="0"/>
        </a:gra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5"/>
          <p:cNvSpPr/>
          <p:nvPr/>
        </p:nvSpPr>
        <p:spPr>
          <a:xfrm>
            <a:off x="254740" y="9258300"/>
            <a:ext cx="2728988" cy="487567"/>
          </a:xfrm>
          <a:custGeom>
            <a:rect b="b" l="l" r="r" t="t"/>
            <a:pathLst>
              <a:path extrusionOk="0" h="487567" w="2728988">
                <a:moveTo>
                  <a:pt x="0" y="0"/>
                </a:moveTo>
                <a:lnTo>
                  <a:pt x="2728988" y="0"/>
                </a:lnTo>
                <a:lnTo>
                  <a:pt x="2728988" y="487567"/>
                </a:lnTo>
                <a:lnTo>
                  <a:pt x="0" y="4875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8" name="Google Shape;258;p15"/>
          <p:cNvSpPr/>
          <p:nvPr/>
        </p:nvSpPr>
        <p:spPr>
          <a:xfrm>
            <a:off x="16419691" y="1084613"/>
            <a:ext cx="839609" cy="450336"/>
          </a:xfrm>
          <a:custGeom>
            <a:rect b="b" l="l" r="r" t="t"/>
            <a:pathLst>
              <a:path extrusionOk="0" h="450336" w="839609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9" name="Google Shape;259;p15"/>
          <p:cNvSpPr/>
          <p:nvPr/>
        </p:nvSpPr>
        <p:spPr>
          <a:xfrm>
            <a:off x="15580083" y="1084613"/>
            <a:ext cx="839609" cy="450336"/>
          </a:xfrm>
          <a:custGeom>
            <a:rect b="b" l="l" r="r" t="t"/>
            <a:pathLst>
              <a:path extrusionOk="0" h="450336" w="839609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0" name="Google Shape;260;p15"/>
          <p:cNvSpPr txBox="1"/>
          <p:nvPr/>
        </p:nvSpPr>
        <p:spPr>
          <a:xfrm>
            <a:off x="675960" y="1066800"/>
            <a:ext cx="15743731" cy="1749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99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REPRESENTACIONES DE GRAFOS</a:t>
            </a:r>
            <a:endParaRPr/>
          </a:p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98" u="none" cap="none" strike="noStrike">
              <a:solidFill>
                <a:srgbClr val="99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261" name="Google Shape;261;p15"/>
          <p:cNvSpPr txBox="1"/>
          <p:nvPr/>
        </p:nvSpPr>
        <p:spPr>
          <a:xfrm>
            <a:off x="1028700" y="3120322"/>
            <a:ext cx="5345650" cy="5208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72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Matriz de adyacencia</a:t>
            </a:r>
            <a:endParaRPr/>
          </a:p>
          <a:p>
            <a:pPr indent="0" lvl="0" marL="0" marR="0" rtl="0" algn="just">
              <a:lnSpc>
                <a:spcPct val="172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992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72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Matriz bidimensional donde las filas y columnas representan los vértices, y los elementos indican la presencia de una arista.</a:t>
            </a:r>
            <a:endParaRPr/>
          </a:p>
          <a:p>
            <a:pPr indent="0" lvl="0" marL="0" marR="0" rtl="0" algn="just">
              <a:lnSpc>
                <a:spcPct val="172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92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5"/>
          <p:cNvSpPr txBox="1"/>
          <p:nvPr/>
        </p:nvSpPr>
        <p:spPr>
          <a:xfrm>
            <a:off x="7476182" y="3120322"/>
            <a:ext cx="4397645" cy="3893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72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Lista de adyacencia</a:t>
            </a:r>
            <a:endParaRPr/>
          </a:p>
          <a:p>
            <a:pPr indent="0" lvl="0" marL="0" marR="0" rtl="0" algn="just">
              <a:lnSpc>
                <a:spcPct val="172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992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72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Lista de vértices adyacentes para cada vértice en el grafo.</a:t>
            </a:r>
            <a:endParaRPr/>
          </a:p>
          <a:p>
            <a:pPr indent="0" lvl="0" marL="0" marR="0" rtl="0" algn="just">
              <a:lnSpc>
                <a:spcPct val="172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92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5"/>
          <p:cNvSpPr txBox="1"/>
          <p:nvPr/>
        </p:nvSpPr>
        <p:spPr>
          <a:xfrm>
            <a:off x="12741390" y="3120322"/>
            <a:ext cx="4994247" cy="4551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72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Representación visual</a:t>
            </a:r>
            <a:endParaRPr/>
          </a:p>
          <a:p>
            <a:pPr indent="0" lvl="0" marL="0" marR="0" rtl="0" algn="just">
              <a:lnSpc>
                <a:spcPct val="172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992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72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Diagrama donde los vértices se muestran como puntos y las aristas como líneas.</a:t>
            </a:r>
            <a:endParaRPr/>
          </a:p>
          <a:p>
            <a:pPr indent="0" lvl="0" marL="0" marR="0" rtl="0" algn="just">
              <a:lnSpc>
                <a:spcPct val="172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92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1C4D"/>
            </a:gs>
            <a:gs pos="100000">
              <a:srgbClr val="3B616F"/>
            </a:gs>
          </a:gsLst>
          <a:lin ang="0" scaled="0"/>
        </a:gra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6"/>
          <p:cNvSpPr/>
          <p:nvPr/>
        </p:nvSpPr>
        <p:spPr>
          <a:xfrm>
            <a:off x="15262281" y="9502083"/>
            <a:ext cx="2728988" cy="487567"/>
          </a:xfrm>
          <a:custGeom>
            <a:rect b="b" l="l" r="r" t="t"/>
            <a:pathLst>
              <a:path extrusionOk="0" h="487567" w="2728988">
                <a:moveTo>
                  <a:pt x="0" y="0"/>
                </a:moveTo>
                <a:lnTo>
                  <a:pt x="2728988" y="0"/>
                </a:lnTo>
                <a:lnTo>
                  <a:pt x="2728988" y="487567"/>
                </a:lnTo>
                <a:lnTo>
                  <a:pt x="0" y="4875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9" name="Google Shape;269;p16"/>
          <p:cNvSpPr/>
          <p:nvPr/>
        </p:nvSpPr>
        <p:spPr>
          <a:xfrm>
            <a:off x="1211909" y="7894550"/>
            <a:ext cx="5213501" cy="1851317"/>
          </a:xfrm>
          <a:custGeom>
            <a:rect b="b" l="l" r="r" t="t"/>
            <a:pathLst>
              <a:path extrusionOk="0" h="1851317" w="5213501">
                <a:moveTo>
                  <a:pt x="0" y="0"/>
                </a:moveTo>
                <a:lnTo>
                  <a:pt x="5213501" y="0"/>
                </a:lnTo>
                <a:lnTo>
                  <a:pt x="5213501" y="1851317"/>
                </a:lnTo>
                <a:lnTo>
                  <a:pt x="0" y="18513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2670" l="0" r="0" t="-12670"/>
            </a:stretch>
          </a:blipFill>
          <a:ln>
            <a:noFill/>
          </a:ln>
        </p:spPr>
      </p:sp>
      <p:sp>
        <p:nvSpPr>
          <p:cNvPr id="270" name="Google Shape;270;p16"/>
          <p:cNvSpPr txBox="1"/>
          <p:nvPr/>
        </p:nvSpPr>
        <p:spPr>
          <a:xfrm>
            <a:off x="1008718" y="1066800"/>
            <a:ext cx="5599901" cy="26166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99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ALGORITMO DE DIJKSTRA</a:t>
            </a:r>
            <a:endParaRPr/>
          </a:p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98" u="none" cap="none" strike="noStrike">
              <a:solidFill>
                <a:srgbClr val="99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271" name="Google Shape;271;p16"/>
          <p:cNvSpPr txBox="1"/>
          <p:nvPr/>
        </p:nvSpPr>
        <p:spPr>
          <a:xfrm>
            <a:off x="1028700" y="3326787"/>
            <a:ext cx="5579919" cy="5393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73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 algoritmo de Dijkstra es un método para encontrar el camino más corto desde un nodo de origen a todos los demás nodos en un grafo ponderado.</a:t>
            </a:r>
            <a:endParaRPr/>
          </a:p>
          <a:p>
            <a:pPr indent="0" lvl="0" marL="0" marR="0" rtl="0" algn="just">
              <a:lnSpc>
                <a:spcPct val="173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 esencial en la optimización de rutas en redes de transporte, telecomunicaciones y logística.</a:t>
            </a:r>
            <a:endParaRPr/>
          </a:p>
          <a:p>
            <a:pPr indent="0" lvl="0" marL="0" marR="0" rtl="0" algn="just">
              <a:lnSpc>
                <a:spcPct val="173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73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6"/>
          <p:cNvSpPr txBox="1"/>
          <p:nvPr/>
        </p:nvSpPr>
        <p:spPr>
          <a:xfrm>
            <a:off x="8871916" y="1779270"/>
            <a:ext cx="7754859" cy="8108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73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Paso a paso del algoritmo de Dijkstra:</a:t>
            </a:r>
            <a:endParaRPr/>
          </a:p>
          <a:p>
            <a:pPr indent="-269874" lvl="1" marL="539749" marR="0" rtl="0" algn="just">
              <a:lnSpc>
                <a:spcPct val="17302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99"/>
              <a:buFont typeface="Arial"/>
              <a:buChar char="•"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Inicialización: Se asigna una distancia infinita a todos los nodos excepto al nodo de origen, que se asigna una distancia de 0.</a:t>
            </a:r>
            <a:endParaRPr/>
          </a:p>
          <a:p>
            <a:pPr indent="-269874" lvl="1" marL="539749" marR="0" rtl="0" algn="just">
              <a:lnSpc>
                <a:spcPct val="17302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99"/>
              <a:buFont typeface="Arial"/>
              <a:buChar char="•"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Selección: Se elige el nodo no procesado con la distancia mínima y se marca como procesado.</a:t>
            </a:r>
            <a:endParaRPr/>
          </a:p>
          <a:p>
            <a:pPr indent="-269874" lvl="1" marL="539749" marR="0" rtl="0" algn="just">
              <a:lnSpc>
                <a:spcPct val="17302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99"/>
              <a:buFont typeface="Arial"/>
              <a:buChar char="•"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Actualización: Se actualizan las distancias de los nodos adyacentes al nodo seleccionado si es posible mejorarlas.</a:t>
            </a:r>
            <a:endParaRPr/>
          </a:p>
          <a:p>
            <a:pPr indent="-269874" lvl="1" marL="539749" marR="0" rtl="0" algn="just">
              <a:lnSpc>
                <a:spcPct val="17302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99"/>
              <a:buFont typeface="Arial"/>
              <a:buChar char="•"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Repetición: Se repiten los pasos 2 y 3 hasta que todos los nodos hayan sido procesados.</a:t>
            </a:r>
            <a:endParaRPr/>
          </a:p>
          <a:p>
            <a:pPr indent="0" lvl="0" marL="0" marR="0" rtl="0" algn="just">
              <a:lnSpc>
                <a:spcPct val="173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73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6"/>
          <p:cNvSpPr txBox="1"/>
          <p:nvPr/>
        </p:nvSpPr>
        <p:spPr>
          <a:xfrm>
            <a:off x="7493177" y="1057275"/>
            <a:ext cx="8762527" cy="855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DESCRIPCIÓN DEL ALGORITMO</a:t>
            </a:r>
            <a:endParaRPr/>
          </a:p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1C4D"/>
            </a:gs>
            <a:gs pos="100000">
              <a:srgbClr val="3B616F"/>
            </a:gs>
          </a:gsLst>
          <a:lin ang="0" scaled="0"/>
        </a:gra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7"/>
          <p:cNvSpPr txBox="1"/>
          <p:nvPr/>
        </p:nvSpPr>
        <p:spPr>
          <a:xfrm>
            <a:off x="2507390" y="1000125"/>
            <a:ext cx="13503315" cy="2052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CONCEPTOS CLAVE APRENDIDOS </a:t>
            </a:r>
            <a:endParaRPr/>
          </a:p>
        </p:txBody>
      </p:sp>
      <p:sp>
        <p:nvSpPr>
          <p:cNvPr id="279" name="Google Shape;279;p17"/>
          <p:cNvSpPr txBox="1"/>
          <p:nvPr/>
        </p:nvSpPr>
        <p:spPr>
          <a:xfrm>
            <a:off x="6354041" y="4187281"/>
            <a:ext cx="5579919" cy="2221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77825" lvl="1" marL="755651" marR="0" rtl="0" algn="just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Arial"/>
              <a:buChar char="•"/>
            </a:pP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Árbol B</a:t>
            </a:r>
            <a:endParaRPr/>
          </a:p>
          <a:p>
            <a:pPr indent="-377825" lvl="1" marL="755651" marR="0" rtl="0" algn="just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Arial"/>
              <a:buChar char="•"/>
            </a:pP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Grafos (vertice y nodo)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1C4D"/>
            </a:gs>
            <a:gs pos="100000">
              <a:srgbClr val="3B616F"/>
            </a:gs>
          </a:gsLst>
          <a:lin ang="0" scaled="0"/>
        </a:gra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8"/>
          <p:cNvSpPr txBox="1"/>
          <p:nvPr/>
        </p:nvSpPr>
        <p:spPr>
          <a:xfrm>
            <a:off x="2507390" y="1000125"/>
            <a:ext cx="13503315" cy="107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REFERENCIAS </a:t>
            </a:r>
            <a:endParaRPr/>
          </a:p>
        </p:txBody>
      </p:sp>
      <p:sp>
        <p:nvSpPr>
          <p:cNvPr id="285" name="Google Shape;285;p18"/>
          <p:cNvSpPr txBox="1"/>
          <p:nvPr/>
        </p:nvSpPr>
        <p:spPr>
          <a:xfrm>
            <a:off x="4702319" y="3718360"/>
            <a:ext cx="9113457" cy="4406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Silberschatz, A., Korth, H. F., &amp; Sudarshan, S. (2020). Database system concepts (7th ed.). McGraw-Hill (Árbol B).</a:t>
            </a:r>
            <a:endParaRPr/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51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Bondy, J. A., &amp; Murty, U. S. R. (2008). Graph theory. Springer (Grafos).</a:t>
            </a:r>
            <a:endParaRPr/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51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1C4D"/>
            </a:gs>
            <a:gs pos="100000">
              <a:srgbClr val="3B616F"/>
            </a:gs>
          </a:gsLst>
          <a:lin ang="0" scaled="0"/>
        </a:gra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9"/>
          <p:cNvSpPr txBox="1"/>
          <p:nvPr/>
        </p:nvSpPr>
        <p:spPr>
          <a:xfrm>
            <a:off x="4437795" y="3389104"/>
            <a:ext cx="8658828" cy="24954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¡GRACIAS POR SU  ATENCIÓN!</a:t>
            </a:r>
            <a:endParaRPr/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9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/>
          </a:p>
        </p:txBody>
      </p:sp>
      <p:sp>
        <p:nvSpPr>
          <p:cNvPr id="292" name="Google Shape;292;p19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3" name="Google Shape;293;p1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