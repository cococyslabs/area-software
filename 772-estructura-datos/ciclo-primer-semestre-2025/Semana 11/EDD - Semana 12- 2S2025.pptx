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Inter"/>
      <p:bold r:id="rId21"/>
      <p:boldItalic r:id="rId22"/>
    </p:embeddedFont>
    <p:embeddedFont>
      <p:font typeface="Raleway Light"/>
      <p:regular r:id="rId23"/>
      <p:bold r:id="rId24"/>
      <p:italic r:id="rId25"/>
      <p:boldItalic r:id="rId26"/>
    </p:embeddedFont>
    <p:embeddedFont>
      <p:font typeface="Open Sans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bhlAXZBmNFuMFMNTN4onoKTmJ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RalewayLight-bold.fntdata"/><Relationship Id="rId23" Type="http://schemas.openxmlformats.org/officeDocument/2006/relationships/font" Target="fonts/Raleway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Light-boldItalic.fntdata"/><Relationship Id="rId25" Type="http://schemas.openxmlformats.org/officeDocument/2006/relationships/font" Target="fonts/RalewayLight-italic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c6be1e3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5c6be1e3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" name="Google Shape;16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64" name="Google Shape;16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3" name="Google Shape;21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15" name="Google Shape;21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4" name="Google Shape;244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46" name="Google Shape;246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7" name="Google Shape;29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8" name="Google Shape;29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00" name="Google Shape;30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1" name="Google Shape;30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2" name="Google Shape;332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3" name="Google Shape;333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35" name="Google Shape;335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8" name="Google Shape;36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9" name="Google Shape;369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71" name="Google Shape;37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1" name="Google Shape;401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2" name="Google Shape;402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04" name="Google Shape;404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5" name="Google Shape;405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hyperlink" Target="https://www.youtube.com/watch?v=PR9kyNjAhYI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6be1e339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7" l="0" r="0" t="-38887"/>
            </a:stretch>
          </a:blipFill>
          <a:ln>
            <a:noFill/>
          </a:ln>
        </p:spPr>
      </p:sp>
      <p:sp>
        <p:nvSpPr>
          <p:cNvPr id="89" name="Google Shape;89;g35c6be1e339_0_0"/>
          <p:cNvSpPr/>
          <p:nvPr/>
        </p:nvSpPr>
        <p:spPr>
          <a:xfrm>
            <a:off x="19050" y="0"/>
            <a:ext cx="18288000" cy="10260918"/>
          </a:xfrm>
          <a:custGeom>
            <a:rect b="b" l="l" r="r" t="t"/>
            <a:pathLst>
              <a:path extrusionOk="0"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g35c6be1e339_0_0"/>
          <p:cNvSpPr txBox="1"/>
          <p:nvPr/>
        </p:nvSpPr>
        <p:spPr>
          <a:xfrm>
            <a:off x="0" y="5320707"/>
            <a:ext cx="18288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Laboratorio Estructuras de Datos </a:t>
            </a:r>
            <a:endParaRPr/>
          </a:p>
        </p:txBody>
      </p:sp>
      <p:sp>
        <p:nvSpPr>
          <p:cNvPr id="91" name="Google Shape;91;g35c6be1e339_0_0"/>
          <p:cNvSpPr txBox="1"/>
          <p:nvPr/>
        </p:nvSpPr>
        <p:spPr>
          <a:xfrm>
            <a:off x="3221750" y="6388899"/>
            <a:ext cx="81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39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Aux.</a:t>
            </a:r>
            <a:endParaRPr/>
          </a:p>
        </p:txBody>
      </p:sp>
      <p:sp>
        <p:nvSpPr>
          <p:cNvPr id="92" name="Google Shape;92;g35c6be1e339_0_0"/>
          <p:cNvSpPr txBox="1"/>
          <p:nvPr/>
        </p:nvSpPr>
        <p:spPr>
          <a:xfrm>
            <a:off x="14269539" y="2363391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  <a:endParaRPr/>
          </a:p>
        </p:txBody>
      </p:sp>
      <p:sp>
        <p:nvSpPr>
          <p:cNvPr id="93" name="Google Shape;93;g35c6be1e339_0_0"/>
          <p:cNvSpPr txBox="1"/>
          <p:nvPr/>
        </p:nvSpPr>
        <p:spPr>
          <a:xfrm>
            <a:off x="14269539" y="3097188"/>
            <a:ext cx="36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 txBox="1"/>
          <p:nvPr/>
        </p:nvSpPr>
        <p:spPr>
          <a:xfrm>
            <a:off x="1028700" y="7929243"/>
            <a:ext cx="7718392" cy="86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5861518" y="4112520"/>
            <a:ext cx="6822282" cy="1368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COMPRESIÓN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7372862" y="2318984"/>
            <a:ext cx="3799594" cy="678844"/>
          </a:xfrm>
          <a:custGeom>
            <a:rect b="b" l="l" r="r" t="t"/>
            <a:pathLst>
              <a:path extrusionOk="0" h="678844" w="3799594">
                <a:moveTo>
                  <a:pt x="0" y="0"/>
                </a:moveTo>
                <a:lnTo>
                  <a:pt x="3799594" y="0"/>
                </a:lnTo>
                <a:lnTo>
                  <a:pt x="3799594" y="678844"/>
                </a:lnTo>
                <a:lnTo>
                  <a:pt x="0" y="678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0" y="0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14774523" y="8413447"/>
            <a:ext cx="3513477" cy="1884501"/>
          </a:xfrm>
          <a:custGeom>
            <a:rect b="b" l="l" r="r" t="t"/>
            <a:pathLst>
              <a:path extrusionOk="0" h="1884501" w="3513477">
                <a:moveTo>
                  <a:pt x="0" y="0"/>
                </a:moveTo>
                <a:lnTo>
                  <a:pt x="3513477" y="0"/>
                </a:lnTo>
                <a:lnTo>
                  <a:pt x="3513477" y="1884501"/>
                </a:lnTo>
                <a:lnTo>
                  <a:pt x="0" y="1884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176619" y="4520484"/>
            <a:ext cx="4782588" cy="845385"/>
            <a:chOff x="0" y="-76200"/>
            <a:chExt cx="2036189" cy="359923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2036189" cy="283723"/>
            </a:xfrm>
            <a:custGeom>
              <a:rect b="b" l="l" r="r" t="t"/>
              <a:pathLst>
                <a:path extrusionOk="0" h="283723" w="2036189">
                  <a:moveTo>
                    <a:pt x="183298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832989" y="283723"/>
                  </a:lnTo>
                  <a:lnTo>
                    <a:pt x="2036189" y="141862"/>
                  </a:lnTo>
                  <a:lnTo>
                    <a:pt x="1832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192188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FORO 12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2"/>
          <p:cNvGrpSpPr/>
          <p:nvPr/>
        </p:nvGrpSpPr>
        <p:grpSpPr>
          <a:xfrm>
            <a:off x="651754" y="-320555"/>
            <a:ext cx="7251050" cy="3052155"/>
            <a:chOff x="0" y="-95250"/>
            <a:chExt cx="9668066" cy="4069539"/>
          </a:xfrm>
        </p:grpSpPr>
        <p:sp>
          <p:nvSpPr>
            <p:cNvPr id="120" name="Google Shape;120;p2"/>
            <p:cNvSpPr txBox="1"/>
            <p:nvPr/>
          </p:nvSpPr>
          <p:spPr>
            <a:xfrm>
              <a:off x="0" y="1005752"/>
              <a:ext cx="9668066" cy="2968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Agenda</a:t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95250"/>
              <a:ext cx="9668066" cy="9273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9871138" y="-202574"/>
            <a:ext cx="8416862" cy="2901791"/>
            <a:chOff x="0" y="-76200"/>
            <a:chExt cx="11222483" cy="3869055"/>
          </a:xfrm>
        </p:grpSpPr>
        <p:sp>
          <p:nvSpPr>
            <p:cNvPr id="123" name="Google Shape;123;p2"/>
            <p:cNvSpPr txBox="1"/>
            <p:nvPr/>
          </p:nvSpPr>
          <p:spPr>
            <a:xfrm>
              <a:off x="0" y="824318"/>
              <a:ext cx="11222483" cy="2968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Recursos</a:t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1739805" y="2798381"/>
            <a:ext cx="5353682" cy="1701155"/>
            <a:chOff x="0" y="-114300"/>
            <a:chExt cx="1410014" cy="448038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5444302"/>
            <a:ext cx="4782588" cy="845385"/>
            <a:chOff x="0" y="-76200"/>
            <a:chExt cx="2036189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2036189" cy="283723"/>
            </a:xfrm>
            <a:custGeom>
              <a:rect b="b" l="l" r="r" t="t"/>
              <a:pathLst>
                <a:path extrusionOk="0" h="283723" w="2036189">
                  <a:moveTo>
                    <a:pt x="183298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832989" y="283723"/>
                  </a:lnTo>
                  <a:lnTo>
                    <a:pt x="2036189" y="141862"/>
                  </a:lnTo>
                  <a:lnTo>
                    <a:pt x="1832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92188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Compresión</a:t>
              </a:r>
              <a:endParaRPr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6332104"/>
            <a:ext cx="4782588" cy="1447449"/>
            <a:chOff x="0" y="-91433"/>
            <a:chExt cx="2036189" cy="616252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2036189" cy="524819"/>
            </a:xfrm>
            <a:custGeom>
              <a:rect b="b" l="l" r="r" t="t"/>
              <a:pathLst>
                <a:path extrusionOk="0" h="524819" w="2036189">
                  <a:moveTo>
                    <a:pt x="1832989" y="0"/>
                  </a:moveTo>
                  <a:lnTo>
                    <a:pt x="0" y="0"/>
                  </a:lnTo>
                  <a:lnTo>
                    <a:pt x="0" y="524819"/>
                  </a:lnTo>
                  <a:lnTo>
                    <a:pt x="1832989" y="524819"/>
                  </a:lnTo>
                  <a:lnTo>
                    <a:pt x="2036189" y="262409"/>
                  </a:lnTo>
                  <a:lnTo>
                    <a:pt x="1832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91433"/>
              <a:ext cx="19218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Algoritmo de Codificación Huffman</a:t>
              </a:r>
              <a:endParaRPr sz="1600"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76619" y="7857751"/>
            <a:ext cx="4782588" cy="845385"/>
            <a:chOff x="0" y="-76200"/>
            <a:chExt cx="2036189" cy="359923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2036189" cy="283723"/>
            </a:xfrm>
            <a:custGeom>
              <a:rect b="b" l="l" r="r" t="t"/>
              <a:pathLst>
                <a:path extrusionOk="0" h="283723" w="2036189">
                  <a:moveTo>
                    <a:pt x="183298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832989" y="283723"/>
                  </a:lnTo>
                  <a:lnTo>
                    <a:pt x="2036189" y="141862"/>
                  </a:lnTo>
                  <a:lnTo>
                    <a:pt x="1832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" name="Google Shape;136;p2"/>
            <p:cNvSpPr txBox="1"/>
            <p:nvPr/>
          </p:nvSpPr>
          <p:spPr>
            <a:xfrm>
              <a:off x="0" y="-76200"/>
              <a:ext cx="192188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</a:t>
              </a:r>
              <a:endParaRPr/>
            </a:p>
          </p:txBody>
        </p:sp>
      </p:grpSp>
      <p:sp>
        <p:nvSpPr>
          <p:cNvPr id="137" name="Google Shape;137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802021" y="716320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802021" y="811292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11839867" y="3600162"/>
            <a:ext cx="524396" cy="384132"/>
          </a:xfrm>
          <a:custGeom>
            <a:rect b="b" l="l" r="r" t="t"/>
            <a:pathLst>
              <a:path extrusionOk="0"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328" l="0" r="0" t="-18178"/>
            </a:stretch>
          </a:blipFill>
          <a:ln>
            <a:noFill/>
          </a:ln>
        </p:spPr>
      </p:sp>
      <p:sp>
        <p:nvSpPr>
          <p:cNvPr id="141" name="Google Shape;141;p2"/>
          <p:cNvSpPr txBox="1"/>
          <p:nvPr/>
        </p:nvSpPr>
        <p:spPr>
          <a:xfrm>
            <a:off x="12565550" y="3666100"/>
            <a:ext cx="478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hlink"/>
                </a:solidFill>
                <a:hlinkClick r:id="rId6"/>
              </a:rPr>
              <a:t>Introducciòn a la compresiòn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/>
          <p:nvPr/>
        </p:nvSpPr>
        <p:spPr>
          <a:xfrm>
            <a:off x="16419691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/>
          <p:nvPr/>
        </p:nvSpPr>
        <p:spPr>
          <a:xfrm>
            <a:off x="15580083" y="1084613"/>
            <a:ext cx="839609" cy="450336"/>
          </a:xfrm>
          <a:custGeom>
            <a:rect b="b" l="l" r="r" t="t"/>
            <a:pathLst>
              <a:path extrusionOk="0" h="450336" w="839609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/>
          <p:nvPr/>
        </p:nvSpPr>
        <p:spPr>
          <a:xfrm>
            <a:off x="1776071" y="9014517"/>
            <a:ext cx="2728988" cy="487567"/>
          </a:xfrm>
          <a:custGeom>
            <a:rect b="b" l="l" r="r" t="t"/>
            <a:pathLst>
              <a:path extrusionOk="0" h="487567" w="2728988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3"/>
          <p:cNvSpPr txBox="1"/>
          <p:nvPr/>
        </p:nvSpPr>
        <p:spPr>
          <a:xfrm>
            <a:off x="1631182" y="2769968"/>
            <a:ext cx="8056247" cy="95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6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METICULOSIDAD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5080662" y="4548651"/>
            <a:ext cx="12691603" cy="2835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8" u="none" cap="none" strike="noStrike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rPr>
              <a:t>"Es el arte de transformar lo ordinario en extraordinario a través de la atención al más mínimo detalle."</a:t>
            </a:r>
            <a:endParaRPr/>
          </a:p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58" u="none" cap="none" strike="noStrike">
              <a:solidFill>
                <a:srgbClr val="FFFFFF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51754" y="-344397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/>
        </p:nvSpPr>
        <p:spPr>
          <a:xfrm>
            <a:off x="1510886" y="4227399"/>
            <a:ext cx="14327710" cy="183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Utiliza técnias de hashing y comprensión  aplicando algoritmos como Huffman y Tablas Hash para optimizar el almacenamiento y recuperación de datos 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1881999" y="1542075"/>
            <a:ext cx="8437109" cy="2607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COMPETENCIA(S) QUE DESARROLLAREMOS</a:t>
            </a:r>
            <a:endParaRPr/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8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651754" y="-344430"/>
            <a:ext cx="6140237" cy="719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168" name="Google Shape;16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169" name="Google Shape;169;p5">
            <a:hlinkClick r:id="rId3"/>
          </p:cNvPr>
          <p:cNvSpPr/>
          <p:nvPr/>
        </p:nvSpPr>
        <p:spPr>
          <a:xfrm>
            <a:off x="16049019" y="9686925"/>
            <a:ext cx="2153256" cy="514350"/>
          </a:xfrm>
          <a:custGeom>
            <a:rect b="b" l="l" r="r" t="t"/>
            <a:pathLst>
              <a:path extrusionOk="0"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170" name="Google Shape;170;p5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1" name="Google Shape;171;p5"/>
          <p:cNvGrpSpPr/>
          <p:nvPr/>
        </p:nvGrpSpPr>
        <p:grpSpPr>
          <a:xfrm>
            <a:off x="992238" y="345686"/>
            <a:ext cx="9445526" cy="2361497"/>
            <a:chOff x="0" y="-152400"/>
            <a:chExt cx="12594035" cy="3148663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12594035" cy="2996263"/>
            </a:xfrm>
            <a:custGeom>
              <a:rect b="b" l="l" r="r" t="t"/>
              <a:pathLst>
                <a:path extrusionOk="0" h="299626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996263"/>
                  </a:lnTo>
                  <a:lnTo>
                    <a:pt x="0" y="2996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3" name="Google Shape;173;p5"/>
            <p:cNvSpPr txBox="1"/>
            <p:nvPr/>
          </p:nvSpPr>
          <p:spPr>
            <a:xfrm>
              <a:off x="0" y="-152400"/>
              <a:ext cx="12594035" cy="3148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LA COMPRESIÓN DE DATOS</a:t>
              </a:r>
              <a:endParaRPr/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986284" y="3445371"/>
            <a:ext cx="649796" cy="649796"/>
            <a:chOff x="0" y="0"/>
            <a:chExt cx="866394" cy="866394"/>
          </a:xfrm>
        </p:grpSpPr>
        <p:sp>
          <p:nvSpPr>
            <p:cNvPr id="175" name="Google Shape;175;p5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1180207" y="3379292"/>
            <a:ext cx="238260" cy="603646"/>
            <a:chOff x="0" y="-9525"/>
            <a:chExt cx="227608" cy="576660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227608" cy="567135"/>
            </a:xfrm>
            <a:custGeom>
              <a:rect b="b" l="l" r="r" t="t"/>
              <a:pathLst>
                <a:path extrusionOk="0" h="567135" w="227608">
                  <a:moveTo>
                    <a:pt x="0" y="0"/>
                  </a:moveTo>
                  <a:lnTo>
                    <a:pt x="227608" y="0"/>
                  </a:lnTo>
                  <a:lnTo>
                    <a:pt x="227608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9" name="Google Shape;179;p5"/>
            <p:cNvSpPr txBox="1"/>
            <p:nvPr/>
          </p:nvSpPr>
          <p:spPr>
            <a:xfrm>
              <a:off x="0" y="-9525"/>
              <a:ext cx="227608" cy="576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1913632" y="3158430"/>
            <a:ext cx="3659685" cy="1178719"/>
            <a:chOff x="0" y="-76200"/>
            <a:chExt cx="4879579" cy="1571625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4879579" cy="1495425"/>
            </a:xfrm>
            <a:custGeom>
              <a:rect b="b" l="l" r="r" t="t"/>
              <a:pathLst>
                <a:path extrusionOk="0" h="1495425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495425"/>
                  </a:lnTo>
                  <a:lnTo>
                    <a:pt x="0" y="14954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76200"/>
              <a:ext cx="4879578" cy="157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Eficiencia de Almacenamiento</a:t>
              </a:r>
              <a:endParaRPr/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1913632" y="4392960"/>
            <a:ext cx="4134594" cy="3230563"/>
            <a:chOff x="0" y="-152400"/>
            <a:chExt cx="5512792" cy="4307418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5512792" cy="4155018"/>
            </a:xfrm>
            <a:custGeom>
              <a:rect b="b" l="l" r="r" t="t"/>
              <a:pathLst>
                <a:path extrusionOk="0" h="4155018" w="5512792">
                  <a:moveTo>
                    <a:pt x="0" y="0"/>
                  </a:moveTo>
                  <a:lnTo>
                    <a:pt x="5512792" y="0"/>
                  </a:lnTo>
                  <a:lnTo>
                    <a:pt x="5512792" y="4155018"/>
                  </a:lnTo>
                  <a:lnTo>
                    <a:pt x="0" y="4155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152400"/>
              <a:ext cx="5512792" cy="430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 compresión reduce el espacio requerido para almacenar datos, liberando almacenamiento y optimizando la gestión de archivos.</a:t>
              </a:r>
              <a:endParaRPr/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5850881" y="3445371"/>
            <a:ext cx="649796" cy="649796"/>
            <a:chOff x="0" y="0"/>
            <a:chExt cx="866394" cy="866394"/>
          </a:xfrm>
        </p:grpSpPr>
        <p:sp>
          <p:nvSpPr>
            <p:cNvPr id="187" name="Google Shape;187;p5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6048226" y="3436343"/>
            <a:ext cx="322390" cy="546596"/>
            <a:chOff x="0" y="-9525"/>
            <a:chExt cx="340122" cy="576660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340122" cy="567135"/>
            </a:xfrm>
            <a:custGeom>
              <a:rect b="b" l="l" r="r" t="t"/>
              <a:pathLst>
                <a:path extrusionOk="0" h="567135" w="340122">
                  <a:moveTo>
                    <a:pt x="0" y="0"/>
                  </a:moveTo>
                  <a:lnTo>
                    <a:pt x="340122" y="0"/>
                  </a:lnTo>
                  <a:lnTo>
                    <a:pt x="340122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9525"/>
              <a:ext cx="340122" cy="576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6778229" y="3158430"/>
            <a:ext cx="3659685" cy="1178719"/>
            <a:chOff x="0" y="-76200"/>
            <a:chExt cx="4879579" cy="1571625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4879579" cy="1495425"/>
            </a:xfrm>
            <a:custGeom>
              <a:rect b="b" l="l" r="r" t="t"/>
              <a:pathLst>
                <a:path extrusionOk="0" h="1495425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1495425"/>
                  </a:lnTo>
                  <a:lnTo>
                    <a:pt x="0" y="14954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76200"/>
              <a:ext cx="4879578" cy="157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Velocidad de Transmisión</a:t>
              </a:r>
              <a:endParaRPr/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6778229" y="4392960"/>
            <a:ext cx="3659685" cy="3230563"/>
            <a:chOff x="0" y="-152400"/>
            <a:chExt cx="4879579" cy="4307418"/>
          </a:xfrm>
        </p:grpSpPr>
        <p:sp>
          <p:nvSpPr>
            <p:cNvPr id="196" name="Google Shape;196;p5"/>
            <p:cNvSpPr/>
            <p:nvPr/>
          </p:nvSpPr>
          <p:spPr>
            <a:xfrm>
              <a:off x="0" y="0"/>
              <a:ext cx="4879579" cy="4155018"/>
            </a:xfrm>
            <a:custGeom>
              <a:rect b="b" l="l" r="r" t="t"/>
              <a:pathLst>
                <a:path extrusionOk="0" h="4155018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4155018"/>
                  </a:lnTo>
                  <a:lnTo>
                    <a:pt x="0" y="4155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7" name="Google Shape;197;p5"/>
            <p:cNvSpPr txBox="1"/>
            <p:nvPr/>
          </p:nvSpPr>
          <p:spPr>
            <a:xfrm>
              <a:off x="0" y="-152400"/>
              <a:ext cx="4879578" cy="4307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 compresión permite transmitir datos más rápidamente, reduciendo el tiempo de descarga y mejorando la experiencia del usuario.</a:t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986284" y="7825532"/>
            <a:ext cx="649796" cy="649796"/>
            <a:chOff x="0" y="0"/>
            <a:chExt cx="866394" cy="866394"/>
          </a:xfrm>
        </p:grpSpPr>
        <p:sp>
          <p:nvSpPr>
            <p:cNvPr id="199" name="Google Shape;199;p5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1133910" y="7816504"/>
            <a:ext cx="330854" cy="546596"/>
            <a:chOff x="0" y="-9525"/>
            <a:chExt cx="349052" cy="576660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349052" cy="567135"/>
            </a:xfrm>
            <a:custGeom>
              <a:rect b="b" l="l" r="r" t="t"/>
              <a:pathLst>
                <a:path extrusionOk="0" h="567135" w="349052">
                  <a:moveTo>
                    <a:pt x="0" y="0"/>
                  </a:moveTo>
                  <a:lnTo>
                    <a:pt x="349052" y="0"/>
                  </a:lnTo>
                  <a:lnTo>
                    <a:pt x="349052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9525"/>
              <a:ext cx="349052" cy="576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1913632" y="7774335"/>
            <a:ext cx="5931484" cy="633413"/>
            <a:chOff x="0" y="-76200"/>
            <a:chExt cx="7908646" cy="844550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7908646" cy="768350"/>
            </a:xfrm>
            <a:custGeom>
              <a:rect b="b" l="l" r="r" t="t"/>
              <a:pathLst>
                <a:path extrusionOk="0" h="768350" w="7908646">
                  <a:moveTo>
                    <a:pt x="0" y="0"/>
                  </a:moveTo>
                  <a:lnTo>
                    <a:pt x="7908646" y="0"/>
                  </a:lnTo>
                  <a:lnTo>
                    <a:pt x="7908646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6" name="Google Shape;206;p5"/>
            <p:cNvSpPr txBox="1"/>
            <p:nvPr/>
          </p:nvSpPr>
          <p:spPr>
            <a:xfrm>
              <a:off x="0" y="-76200"/>
              <a:ext cx="7908646" cy="84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Optimización de Recursos</a:t>
              </a:r>
              <a:endParaRPr/>
            </a:p>
          </p:txBody>
        </p:sp>
      </p:grpSp>
      <p:grpSp>
        <p:nvGrpSpPr>
          <p:cNvPr id="207" name="Google Shape;207;p5"/>
          <p:cNvGrpSpPr/>
          <p:nvPr/>
        </p:nvGrpSpPr>
        <p:grpSpPr>
          <a:xfrm>
            <a:off x="1913710" y="8361016"/>
            <a:ext cx="8524125" cy="1797317"/>
            <a:chOff x="0" y="-152400"/>
            <a:chExt cx="11365500" cy="2396422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11365500" cy="2244022"/>
            </a:xfrm>
            <a:custGeom>
              <a:rect b="b" l="l" r="r" t="t"/>
              <a:pathLst>
                <a:path extrusionOk="0" h="2244022" w="11365500">
                  <a:moveTo>
                    <a:pt x="0" y="0"/>
                  </a:moveTo>
                  <a:lnTo>
                    <a:pt x="11365500" y="0"/>
                  </a:lnTo>
                  <a:lnTo>
                    <a:pt x="11365500" y="2244022"/>
                  </a:lnTo>
                  <a:lnTo>
                    <a:pt x="0" y="2244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5"/>
            <p:cNvSpPr txBox="1"/>
            <p:nvPr/>
          </p:nvSpPr>
          <p:spPr>
            <a:xfrm>
              <a:off x="0" y="-152400"/>
              <a:ext cx="11365500" cy="2396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La compresión minimiza el uso de ancho de banda, optimizando los recursos de red y mejorando la eficiencia de la transmisión.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219" name="Google Shape;21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grpSp>
        <p:nvGrpSpPr>
          <p:cNvPr id="220" name="Google Shape;220;p6"/>
          <p:cNvGrpSpPr/>
          <p:nvPr/>
        </p:nvGrpSpPr>
        <p:grpSpPr>
          <a:xfrm>
            <a:off x="1778886" y="2707184"/>
            <a:ext cx="6142821" cy="6281317"/>
            <a:chOff x="0" y="0"/>
            <a:chExt cx="6298411" cy="6440415"/>
          </a:xfrm>
        </p:grpSpPr>
        <p:sp>
          <p:nvSpPr>
            <p:cNvPr id="221" name="Google Shape;221;p6"/>
            <p:cNvSpPr/>
            <p:nvPr/>
          </p:nvSpPr>
          <p:spPr>
            <a:xfrm>
              <a:off x="7075" y="10932"/>
              <a:ext cx="6284262" cy="6418396"/>
            </a:xfrm>
            <a:custGeom>
              <a:rect b="b" l="l" r="r" t="t"/>
              <a:pathLst>
                <a:path extrusionOk="0" h="6418396" w="6284262">
                  <a:moveTo>
                    <a:pt x="0" y="220576"/>
                  </a:moveTo>
                  <a:cubicBezTo>
                    <a:pt x="0" y="98739"/>
                    <a:pt x="64017" y="0"/>
                    <a:pt x="142868" y="0"/>
                  </a:cubicBezTo>
                  <a:lnTo>
                    <a:pt x="6141393" y="0"/>
                  </a:lnTo>
                  <a:cubicBezTo>
                    <a:pt x="6220244" y="0"/>
                    <a:pt x="6284262" y="98739"/>
                    <a:pt x="6284262" y="220400"/>
                  </a:cubicBezTo>
                  <a:lnTo>
                    <a:pt x="6284262" y="6197996"/>
                  </a:lnTo>
                  <a:cubicBezTo>
                    <a:pt x="6284262" y="6319834"/>
                    <a:pt x="6220358" y="6418396"/>
                    <a:pt x="6141393" y="6418396"/>
                  </a:cubicBezTo>
                  <a:lnTo>
                    <a:pt x="142868" y="6418396"/>
                  </a:lnTo>
                  <a:cubicBezTo>
                    <a:pt x="64017" y="6418396"/>
                    <a:pt x="0" y="6319657"/>
                    <a:pt x="0" y="6197996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0" y="0"/>
              <a:ext cx="6298411" cy="6440415"/>
            </a:xfrm>
            <a:custGeom>
              <a:rect b="b" l="l" r="r" t="t"/>
              <a:pathLst>
                <a:path extrusionOk="0" h="6440415" w="6298411">
                  <a:moveTo>
                    <a:pt x="0" y="231508"/>
                  </a:moveTo>
                  <a:cubicBezTo>
                    <a:pt x="0" y="103676"/>
                    <a:pt x="67212" y="0"/>
                    <a:pt x="149943" y="0"/>
                  </a:cubicBezTo>
                  <a:lnTo>
                    <a:pt x="6148468" y="0"/>
                  </a:lnTo>
                  <a:lnTo>
                    <a:pt x="6148468" y="10932"/>
                  </a:lnTo>
                  <a:lnTo>
                    <a:pt x="6148468" y="0"/>
                  </a:lnTo>
                  <a:cubicBezTo>
                    <a:pt x="6231313" y="0"/>
                    <a:pt x="6298411" y="103676"/>
                    <a:pt x="6298411" y="231508"/>
                  </a:cubicBezTo>
                  <a:lnTo>
                    <a:pt x="6298411" y="6208928"/>
                  </a:lnTo>
                  <a:lnTo>
                    <a:pt x="6291337" y="6208928"/>
                  </a:lnTo>
                  <a:lnTo>
                    <a:pt x="6298411" y="6208928"/>
                  </a:lnTo>
                  <a:cubicBezTo>
                    <a:pt x="6298411" y="6336760"/>
                    <a:pt x="6231199" y="6440415"/>
                    <a:pt x="6148468" y="6440415"/>
                  </a:cubicBezTo>
                  <a:lnTo>
                    <a:pt x="6148468" y="6429505"/>
                  </a:lnTo>
                  <a:lnTo>
                    <a:pt x="6148468" y="6440415"/>
                  </a:lnTo>
                  <a:lnTo>
                    <a:pt x="149943" y="6440415"/>
                  </a:lnTo>
                  <a:lnTo>
                    <a:pt x="149943" y="6429505"/>
                  </a:lnTo>
                  <a:lnTo>
                    <a:pt x="149943" y="6440415"/>
                  </a:lnTo>
                  <a:cubicBezTo>
                    <a:pt x="67212" y="6440414"/>
                    <a:pt x="0" y="6336760"/>
                    <a:pt x="0" y="6208928"/>
                  </a:cubicBezTo>
                  <a:lnTo>
                    <a:pt x="0" y="231508"/>
                  </a:lnTo>
                  <a:lnTo>
                    <a:pt x="7075" y="231508"/>
                  </a:lnTo>
                  <a:lnTo>
                    <a:pt x="0" y="231508"/>
                  </a:lnTo>
                  <a:moveTo>
                    <a:pt x="14264" y="231508"/>
                  </a:moveTo>
                  <a:lnTo>
                    <a:pt x="14264" y="6208928"/>
                  </a:lnTo>
                  <a:lnTo>
                    <a:pt x="7075" y="6208928"/>
                  </a:lnTo>
                  <a:lnTo>
                    <a:pt x="14150" y="6208928"/>
                  </a:lnTo>
                  <a:cubicBezTo>
                    <a:pt x="14150" y="6324594"/>
                    <a:pt x="74857" y="6418397"/>
                    <a:pt x="149829" y="6418397"/>
                  </a:cubicBezTo>
                  <a:lnTo>
                    <a:pt x="6148468" y="6418397"/>
                  </a:lnTo>
                  <a:cubicBezTo>
                    <a:pt x="6223440" y="6418397"/>
                    <a:pt x="6284147" y="6324594"/>
                    <a:pt x="6284147" y="6208928"/>
                  </a:cubicBezTo>
                  <a:lnTo>
                    <a:pt x="6284147" y="231508"/>
                  </a:lnTo>
                  <a:lnTo>
                    <a:pt x="6291222" y="231508"/>
                  </a:lnTo>
                  <a:lnTo>
                    <a:pt x="6284147" y="231508"/>
                  </a:lnTo>
                  <a:cubicBezTo>
                    <a:pt x="6284147" y="115842"/>
                    <a:pt x="6223440" y="22040"/>
                    <a:pt x="6148468" y="22040"/>
                  </a:cubicBezTo>
                  <a:lnTo>
                    <a:pt x="149943" y="22040"/>
                  </a:lnTo>
                  <a:lnTo>
                    <a:pt x="149943" y="10932"/>
                  </a:lnTo>
                  <a:lnTo>
                    <a:pt x="149943" y="22040"/>
                  </a:lnTo>
                  <a:cubicBezTo>
                    <a:pt x="74972" y="22040"/>
                    <a:pt x="14264" y="115842"/>
                    <a:pt x="14264" y="231508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2521080" y="3060536"/>
            <a:ext cx="4658470" cy="1217361"/>
            <a:chOff x="0" y="-76200"/>
            <a:chExt cx="6211293" cy="1623148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6211293" cy="1546948"/>
            </a:xfrm>
            <a:custGeom>
              <a:rect b="b" l="l" r="r" t="t"/>
              <a:pathLst>
                <a:path extrusionOk="0" h="1546948" w="6211293">
                  <a:moveTo>
                    <a:pt x="0" y="0"/>
                  </a:moveTo>
                  <a:lnTo>
                    <a:pt x="6211293" y="0"/>
                  </a:lnTo>
                  <a:lnTo>
                    <a:pt x="6211293" y="1546948"/>
                  </a:lnTo>
                  <a:lnTo>
                    <a:pt x="0" y="15469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76200"/>
              <a:ext cx="6211292" cy="162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0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Compresión Sin Pérdida</a:t>
              </a: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2085347" y="4431661"/>
            <a:ext cx="5529935" cy="4055029"/>
            <a:chOff x="0" y="-190500"/>
            <a:chExt cx="5878756" cy="4310814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5878756" cy="4120314"/>
            </a:xfrm>
            <a:custGeom>
              <a:rect b="b" l="l" r="r" t="t"/>
              <a:pathLst>
                <a:path extrusionOk="0" h="4120314" w="5878756">
                  <a:moveTo>
                    <a:pt x="0" y="0"/>
                  </a:moveTo>
                  <a:lnTo>
                    <a:pt x="5878756" y="0"/>
                  </a:lnTo>
                  <a:lnTo>
                    <a:pt x="5878756" y="4120314"/>
                  </a:lnTo>
                  <a:lnTo>
                    <a:pt x="0" y="4120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-190500"/>
              <a:ext cx="5878756" cy="4310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Utiliza la misma clave para cifrar y descifrar datos. Es rápida y eficiente, pero requiere que ambas partes compartan la clave.</a:t>
              </a:r>
              <a:endParaRPr/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10520502" y="2707184"/>
            <a:ext cx="6114064" cy="6281310"/>
            <a:chOff x="0" y="0"/>
            <a:chExt cx="7150982" cy="7346592"/>
          </a:xfrm>
        </p:grpSpPr>
        <p:sp>
          <p:nvSpPr>
            <p:cNvPr id="230" name="Google Shape;230;p6"/>
            <p:cNvSpPr/>
            <p:nvPr/>
          </p:nvSpPr>
          <p:spPr>
            <a:xfrm>
              <a:off x="8033" y="12470"/>
              <a:ext cx="7134917" cy="7321483"/>
            </a:xfrm>
            <a:custGeom>
              <a:rect b="b" l="l" r="r" t="t"/>
              <a:pathLst>
                <a:path extrusionOk="0" h="7321483" w="7134917">
                  <a:moveTo>
                    <a:pt x="0" y="251612"/>
                  </a:moveTo>
                  <a:cubicBezTo>
                    <a:pt x="0" y="112632"/>
                    <a:pt x="72682" y="0"/>
                    <a:pt x="162207" y="0"/>
                  </a:cubicBezTo>
                  <a:lnTo>
                    <a:pt x="6972709" y="0"/>
                  </a:lnTo>
                  <a:cubicBezTo>
                    <a:pt x="7062233" y="0"/>
                    <a:pt x="7134916" y="112632"/>
                    <a:pt x="7134916" y="251411"/>
                  </a:cubicBezTo>
                  <a:lnTo>
                    <a:pt x="7134916" y="7070073"/>
                  </a:lnTo>
                  <a:cubicBezTo>
                    <a:pt x="7134916" y="7209053"/>
                    <a:pt x="7062363" y="7321483"/>
                    <a:pt x="6972709" y="7321483"/>
                  </a:cubicBezTo>
                  <a:lnTo>
                    <a:pt x="162207" y="7321483"/>
                  </a:lnTo>
                  <a:cubicBezTo>
                    <a:pt x="72682" y="7321483"/>
                    <a:pt x="0" y="7208851"/>
                    <a:pt x="0" y="7070073"/>
                  </a:cubicBezTo>
                  <a:close/>
                </a:path>
              </a:pathLst>
            </a:custGeom>
            <a:solidFill>
              <a:srgbClr val="3D3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0"/>
              <a:ext cx="7150982" cy="7346592"/>
            </a:xfrm>
            <a:custGeom>
              <a:rect b="b" l="l" r="r" t="t"/>
              <a:pathLst>
                <a:path extrusionOk="0" h="7346592" w="7150982">
                  <a:moveTo>
                    <a:pt x="0" y="264082"/>
                  </a:moveTo>
                  <a:cubicBezTo>
                    <a:pt x="0" y="118264"/>
                    <a:pt x="76310" y="0"/>
                    <a:pt x="170240" y="0"/>
                  </a:cubicBezTo>
                  <a:lnTo>
                    <a:pt x="6980742" y="0"/>
                  </a:lnTo>
                  <a:lnTo>
                    <a:pt x="6980742" y="12470"/>
                  </a:lnTo>
                  <a:lnTo>
                    <a:pt x="6980742" y="0"/>
                  </a:lnTo>
                  <a:cubicBezTo>
                    <a:pt x="7074801" y="0"/>
                    <a:pt x="7150982" y="118264"/>
                    <a:pt x="7150982" y="264082"/>
                  </a:cubicBezTo>
                  <a:lnTo>
                    <a:pt x="7150982" y="7082543"/>
                  </a:lnTo>
                  <a:lnTo>
                    <a:pt x="7142949" y="7082543"/>
                  </a:lnTo>
                  <a:lnTo>
                    <a:pt x="7150982" y="7082543"/>
                  </a:lnTo>
                  <a:cubicBezTo>
                    <a:pt x="7150982" y="7228361"/>
                    <a:pt x="7074672" y="7346592"/>
                    <a:pt x="6980742" y="7346592"/>
                  </a:cubicBezTo>
                  <a:lnTo>
                    <a:pt x="6980742" y="7334155"/>
                  </a:lnTo>
                  <a:lnTo>
                    <a:pt x="6980742" y="7346592"/>
                  </a:lnTo>
                  <a:lnTo>
                    <a:pt x="170240" y="7346592"/>
                  </a:lnTo>
                  <a:lnTo>
                    <a:pt x="170240" y="7334155"/>
                  </a:lnTo>
                  <a:lnTo>
                    <a:pt x="170240" y="7346592"/>
                  </a:lnTo>
                  <a:cubicBezTo>
                    <a:pt x="76310" y="7346592"/>
                    <a:pt x="0" y="7228361"/>
                    <a:pt x="0" y="7082543"/>
                  </a:cubicBezTo>
                  <a:lnTo>
                    <a:pt x="0" y="264082"/>
                  </a:lnTo>
                  <a:lnTo>
                    <a:pt x="8033" y="264082"/>
                  </a:lnTo>
                  <a:lnTo>
                    <a:pt x="0" y="264082"/>
                  </a:lnTo>
                  <a:moveTo>
                    <a:pt x="16195" y="264082"/>
                  </a:moveTo>
                  <a:lnTo>
                    <a:pt x="16195" y="7082543"/>
                  </a:lnTo>
                  <a:lnTo>
                    <a:pt x="8033" y="7082543"/>
                  </a:lnTo>
                  <a:lnTo>
                    <a:pt x="16065" y="7082543"/>
                  </a:lnTo>
                  <a:cubicBezTo>
                    <a:pt x="16065" y="7214483"/>
                    <a:pt x="84990" y="7321483"/>
                    <a:pt x="170110" y="7321483"/>
                  </a:cubicBezTo>
                  <a:lnTo>
                    <a:pt x="6980742" y="7321483"/>
                  </a:lnTo>
                  <a:cubicBezTo>
                    <a:pt x="7065862" y="7321483"/>
                    <a:pt x="7134787" y="7214483"/>
                    <a:pt x="7134787" y="7082543"/>
                  </a:cubicBezTo>
                  <a:lnTo>
                    <a:pt x="7134787" y="264082"/>
                  </a:lnTo>
                  <a:lnTo>
                    <a:pt x="7142820" y="264082"/>
                  </a:lnTo>
                  <a:lnTo>
                    <a:pt x="7134787" y="264082"/>
                  </a:lnTo>
                  <a:cubicBezTo>
                    <a:pt x="7134787" y="132141"/>
                    <a:pt x="7065862" y="25141"/>
                    <a:pt x="6980742" y="25141"/>
                  </a:cubicBezTo>
                  <a:lnTo>
                    <a:pt x="170240" y="25141"/>
                  </a:lnTo>
                  <a:lnTo>
                    <a:pt x="170240" y="12470"/>
                  </a:lnTo>
                  <a:lnTo>
                    <a:pt x="170240" y="25141"/>
                  </a:lnTo>
                  <a:cubicBezTo>
                    <a:pt x="85120" y="25141"/>
                    <a:pt x="16195" y="132141"/>
                    <a:pt x="16195" y="264082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11380885" y="3079718"/>
            <a:ext cx="4393333" cy="1198179"/>
            <a:chOff x="0" y="-76200"/>
            <a:chExt cx="5857777" cy="1597572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5857777" cy="1521372"/>
            </a:xfrm>
            <a:custGeom>
              <a:rect b="b" l="l" r="r" t="t"/>
              <a:pathLst>
                <a:path extrusionOk="0" h="1521372" w="5857777">
                  <a:moveTo>
                    <a:pt x="0" y="0"/>
                  </a:moveTo>
                  <a:lnTo>
                    <a:pt x="5857777" y="0"/>
                  </a:lnTo>
                  <a:lnTo>
                    <a:pt x="5857777" y="1521372"/>
                  </a:lnTo>
                  <a:lnTo>
                    <a:pt x="0" y="1521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76200"/>
              <a:ext cx="5857777" cy="1597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99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Compresión Con Pérdida</a:t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10952591" y="4449874"/>
            <a:ext cx="5249920" cy="3642896"/>
            <a:chOff x="0" y="-190500"/>
            <a:chExt cx="6212483" cy="4310814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6212483" cy="4120314"/>
            </a:xfrm>
            <a:custGeom>
              <a:rect b="b" l="l" r="r" t="t"/>
              <a:pathLst>
                <a:path extrusionOk="0" h="4120314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4120314"/>
                  </a:lnTo>
                  <a:lnTo>
                    <a:pt x="0" y="4120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190500"/>
              <a:ext cx="6212483" cy="4310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F2F2F3"/>
                  </a:solidFill>
                  <a:latin typeface="Arial"/>
                  <a:ea typeface="Arial"/>
                  <a:cs typeface="Arial"/>
                  <a:sym typeface="Arial"/>
                </a:rPr>
                <a:t>Utiliza la misma clave para cifrar y descifrar datos. Es rápida y eficiente, pero requiere que ambas partes compartan la clave.</a:t>
              </a:r>
              <a:endParaRPr/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2646351" y="423227"/>
            <a:ext cx="12995299" cy="2361497"/>
            <a:chOff x="0" y="-152400"/>
            <a:chExt cx="17327065" cy="3148663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17327065" cy="2996263"/>
            </a:xfrm>
            <a:custGeom>
              <a:rect b="b" l="l" r="r" t="t"/>
              <a:pathLst>
                <a:path extrusionOk="0" h="2996263" w="17327065">
                  <a:moveTo>
                    <a:pt x="0" y="0"/>
                  </a:moveTo>
                  <a:lnTo>
                    <a:pt x="17327065" y="0"/>
                  </a:lnTo>
                  <a:lnTo>
                    <a:pt x="17327065" y="2996263"/>
                  </a:lnTo>
                  <a:lnTo>
                    <a:pt x="0" y="2996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152400"/>
              <a:ext cx="17327064" cy="3148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TIPOS DE COMPRESIÓN DE DATOS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250" name="Google Shape;250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251" name="Google Shape;251;p7"/>
          <p:cNvSpPr/>
          <p:nvPr/>
        </p:nvSpPr>
        <p:spPr>
          <a:xfrm>
            <a:off x="0" y="0"/>
            <a:ext cx="18288000" cy="3544044"/>
          </a:xfrm>
          <a:custGeom>
            <a:rect b="b" l="l" r="r" t="t"/>
            <a:pathLst>
              <a:path extrusionOk="0"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8" t="0"/>
            </a:stretch>
          </a:blipFill>
          <a:ln>
            <a:noFill/>
          </a:ln>
        </p:spPr>
      </p:sp>
      <p:grpSp>
        <p:nvGrpSpPr>
          <p:cNvPr id="252" name="Google Shape;252;p7"/>
          <p:cNvGrpSpPr/>
          <p:nvPr/>
        </p:nvGrpSpPr>
        <p:grpSpPr>
          <a:xfrm>
            <a:off x="940433" y="3528863"/>
            <a:ext cx="16019861" cy="2318148"/>
            <a:chOff x="0" y="-152400"/>
            <a:chExt cx="21359814" cy="3090864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21359814" cy="2938464"/>
            </a:xfrm>
            <a:custGeom>
              <a:rect b="b" l="l" r="r" t="t"/>
              <a:pathLst>
                <a:path extrusionOk="0" h="2938464" w="21359814">
                  <a:moveTo>
                    <a:pt x="0" y="0"/>
                  </a:moveTo>
                  <a:lnTo>
                    <a:pt x="21359814" y="0"/>
                  </a:lnTo>
                  <a:lnTo>
                    <a:pt x="21359814" y="2938464"/>
                  </a:lnTo>
                  <a:lnTo>
                    <a:pt x="0" y="29384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4" name="Google Shape;254;p7"/>
            <p:cNvSpPr txBox="1"/>
            <p:nvPr/>
          </p:nvSpPr>
          <p:spPr>
            <a:xfrm>
              <a:off x="0" y="-152400"/>
              <a:ext cx="21359813" cy="3090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Principios Básicos de la Compresión de Datos</a:t>
              </a:r>
              <a:endParaRPr/>
            </a:p>
          </p:txBody>
        </p:sp>
      </p:grpSp>
      <p:sp>
        <p:nvSpPr>
          <p:cNvPr id="255" name="Google Shape;255;p7"/>
          <p:cNvSpPr/>
          <p:nvPr/>
        </p:nvSpPr>
        <p:spPr>
          <a:xfrm>
            <a:off x="992238" y="6158805"/>
            <a:ext cx="16303561" cy="38100"/>
          </a:xfrm>
          <a:custGeom>
            <a:rect b="b" l="l" r="r" t="t"/>
            <a:pathLst>
              <a:path extrusionOk="0" h="50800" w="21738082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21712682" y="0"/>
                </a:lnTo>
                <a:cubicBezTo>
                  <a:pt x="21726652" y="0"/>
                  <a:pt x="21738082" y="11430"/>
                  <a:pt x="21738082" y="25400"/>
                </a:cubicBezTo>
                <a:cubicBezTo>
                  <a:pt x="21738082" y="39370"/>
                  <a:pt x="21726652" y="50800"/>
                  <a:pt x="21712682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595836" y="6158805"/>
            <a:ext cx="38100" cy="992219"/>
          </a:xfrm>
          <a:custGeom>
            <a:rect b="b" l="l" r="r" t="t"/>
            <a:pathLst>
              <a:path extrusionOk="0" h="1322959" w="508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1297559"/>
                </a:lnTo>
                <a:cubicBezTo>
                  <a:pt x="50800" y="1311529"/>
                  <a:pt x="39370" y="1322959"/>
                  <a:pt x="25400" y="1322959"/>
                </a:cubicBezTo>
                <a:cubicBezTo>
                  <a:pt x="11430" y="1322959"/>
                  <a:pt x="0" y="1311529"/>
                  <a:pt x="0" y="1297559"/>
                </a:cubicBezTo>
                <a:close/>
              </a:path>
            </a:pathLst>
          </a:cu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7"/>
          <p:cNvGrpSpPr/>
          <p:nvPr/>
        </p:nvGrpSpPr>
        <p:grpSpPr>
          <a:xfrm>
            <a:off x="3289994" y="5833913"/>
            <a:ext cx="649796" cy="649796"/>
            <a:chOff x="0" y="0"/>
            <a:chExt cx="866394" cy="866394"/>
          </a:xfrm>
        </p:grpSpPr>
        <p:sp>
          <p:nvSpPr>
            <p:cNvPr id="258" name="Google Shape;258;p7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7"/>
          <p:cNvGrpSpPr/>
          <p:nvPr/>
        </p:nvGrpSpPr>
        <p:grpSpPr>
          <a:xfrm>
            <a:off x="3478222" y="5813614"/>
            <a:ext cx="235228" cy="595966"/>
            <a:chOff x="0" y="-9525"/>
            <a:chExt cx="227608" cy="576660"/>
          </a:xfrm>
        </p:grpSpPr>
        <p:sp>
          <p:nvSpPr>
            <p:cNvPr id="261" name="Google Shape;261;p7"/>
            <p:cNvSpPr/>
            <p:nvPr/>
          </p:nvSpPr>
          <p:spPr>
            <a:xfrm>
              <a:off x="0" y="0"/>
              <a:ext cx="227608" cy="567135"/>
            </a:xfrm>
            <a:custGeom>
              <a:rect b="b" l="l" r="r" t="t"/>
              <a:pathLst>
                <a:path extrusionOk="0" h="567135" w="227608">
                  <a:moveTo>
                    <a:pt x="0" y="0"/>
                  </a:moveTo>
                  <a:lnTo>
                    <a:pt x="227608" y="0"/>
                  </a:lnTo>
                  <a:lnTo>
                    <a:pt x="227608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2" name="Google Shape;262;p7"/>
            <p:cNvSpPr txBox="1"/>
            <p:nvPr/>
          </p:nvSpPr>
          <p:spPr>
            <a:xfrm>
              <a:off x="0" y="-9525"/>
              <a:ext cx="227608" cy="576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1842939" y="7377559"/>
            <a:ext cx="3544044" cy="633413"/>
            <a:chOff x="0" y="-76200"/>
            <a:chExt cx="4725392" cy="844550"/>
          </a:xfrm>
        </p:grpSpPr>
        <p:sp>
          <p:nvSpPr>
            <p:cNvPr id="264" name="Google Shape;264;p7"/>
            <p:cNvSpPr/>
            <p:nvPr/>
          </p:nvSpPr>
          <p:spPr>
            <a:xfrm>
              <a:off x="0" y="0"/>
              <a:ext cx="4725392" cy="768350"/>
            </a:xfrm>
            <a:custGeom>
              <a:rect b="b" l="l" r="r" t="t"/>
              <a:pathLst>
                <a:path extrusionOk="0" h="7683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5" name="Google Shape;265;p7"/>
            <p:cNvSpPr txBox="1"/>
            <p:nvPr/>
          </p:nvSpPr>
          <p:spPr>
            <a:xfrm>
              <a:off x="0" y="-76200"/>
              <a:ext cx="4725392" cy="84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Redundancia</a:t>
              </a:r>
              <a:endParaRPr/>
            </a:p>
          </p:txBody>
        </p:sp>
      </p:grpSp>
      <p:grpSp>
        <p:nvGrpSpPr>
          <p:cNvPr id="266" name="Google Shape;266;p7"/>
          <p:cNvGrpSpPr/>
          <p:nvPr/>
        </p:nvGrpSpPr>
        <p:grpSpPr>
          <a:xfrm>
            <a:off x="1275755" y="7933432"/>
            <a:ext cx="4678412" cy="1753493"/>
            <a:chOff x="0" y="-152400"/>
            <a:chExt cx="6237883" cy="2337990"/>
          </a:xfrm>
        </p:grpSpPr>
        <p:sp>
          <p:nvSpPr>
            <p:cNvPr id="267" name="Google Shape;267;p7"/>
            <p:cNvSpPr/>
            <p:nvPr/>
          </p:nvSpPr>
          <p:spPr>
            <a:xfrm>
              <a:off x="0" y="0"/>
              <a:ext cx="6237883" cy="2185590"/>
            </a:xfrm>
            <a:custGeom>
              <a:rect b="b" l="l" r="r" t="t"/>
              <a:pathLst>
                <a:path extrusionOk="0" h="2185590" w="6237883">
                  <a:moveTo>
                    <a:pt x="0" y="0"/>
                  </a:moveTo>
                  <a:lnTo>
                    <a:pt x="6237883" y="0"/>
                  </a:lnTo>
                  <a:lnTo>
                    <a:pt x="6237883" y="2185590"/>
                  </a:lnTo>
                  <a:lnTo>
                    <a:pt x="0" y="21855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8" name="Google Shape;268;p7"/>
            <p:cNvSpPr txBox="1"/>
            <p:nvPr/>
          </p:nvSpPr>
          <p:spPr>
            <a:xfrm>
              <a:off x="0" y="-152400"/>
              <a:ext cx="6237883" cy="2337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Identifica y elimina patrones repetitivos en los datos para reducir el tamaño.</a:t>
              </a:r>
              <a:endParaRPr/>
            </a:p>
          </p:txBody>
        </p:sp>
      </p:grpSp>
      <p:sp>
        <p:nvSpPr>
          <p:cNvPr id="269" name="Google Shape;269;p7"/>
          <p:cNvSpPr/>
          <p:nvPr/>
        </p:nvSpPr>
        <p:spPr>
          <a:xfrm>
            <a:off x="9124801" y="6158805"/>
            <a:ext cx="38100" cy="992219"/>
          </a:xfrm>
          <a:custGeom>
            <a:rect b="b" l="l" r="r" t="t"/>
            <a:pathLst>
              <a:path extrusionOk="0" h="1322959" w="508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1297559"/>
                </a:lnTo>
                <a:cubicBezTo>
                  <a:pt x="50800" y="1311529"/>
                  <a:pt x="39370" y="1322959"/>
                  <a:pt x="25400" y="1322959"/>
                </a:cubicBezTo>
                <a:cubicBezTo>
                  <a:pt x="11430" y="1322959"/>
                  <a:pt x="0" y="1311529"/>
                  <a:pt x="0" y="1297559"/>
                </a:cubicBezTo>
                <a:close/>
              </a:path>
            </a:pathLst>
          </a:cu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7"/>
          <p:cNvGrpSpPr/>
          <p:nvPr/>
        </p:nvGrpSpPr>
        <p:grpSpPr>
          <a:xfrm>
            <a:off x="8818959" y="5833913"/>
            <a:ext cx="649796" cy="649796"/>
            <a:chOff x="0" y="0"/>
            <a:chExt cx="866394" cy="866394"/>
          </a:xfrm>
        </p:grpSpPr>
        <p:sp>
          <p:nvSpPr>
            <p:cNvPr id="271" name="Google Shape;271;p7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8950363" y="5811554"/>
            <a:ext cx="425077" cy="720698"/>
            <a:chOff x="0" y="-9525"/>
            <a:chExt cx="340122" cy="576660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340122" cy="567135"/>
            </a:xfrm>
            <a:custGeom>
              <a:rect b="b" l="l" r="r" t="t"/>
              <a:pathLst>
                <a:path extrusionOk="0" h="567135" w="340122">
                  <a:moveTo>
                    <a:pt x="0" y="0"/>
                  </a:moveTo>
                  <a:lnTo>
                    <a:pt x="340122" y="0"/>
                  </a:lnTo>
                  <a:lnTo>
                    <a:pt x="340122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5" name="Google Shape;275;p7"/>
            <p:cNvSpPr txBox="1"/>
            <p:nvPr/>
          </p:nvSpPr>
          <p:spPr>
            <a:xfrm>
              <a:off x="0" y="-9525"/>
              <a:ext cx="340122" cy="576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/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7371904" y="7377559"/>
            <a:ext cx="3544044" cy="633413"/>
            <a:chOff x="0" y="-76200"/>
            <a:chExt cx="4725392" cy="844550"/>
          </a:xfrm>
        </p:grpSpPr>
        <p:sp>
          <p:nvSpPr>
            <p:cNvPr id="277" name="Google Shape;277;p7"/>
            <p:cNvSpPr/>
            <p:nvPr/>
          </p:nvSpPr>
          <p:spPr>
            <a:xfrm>
              <a:off x="0" y="0"/>
              <a:ext cx="4725392" cy="768350"/>
            </a:xfrm>
            <a:custGeom>
              <a:rect b="b" l="l" r="r" t="t"/>
              <a:pathLst>
                <a:path extrusionOk="0" h="7683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8" name="Google Shape;278;p7"/>
            <p:cNvSpPr txBox="1"/>
            <p:nvPr/>
          </p:nvSpPr>
          <p:spPr>
            <a:xfrm>
              <a:off x="0" y="-76200"/>
              <a:ext cx="4725392" cy="84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Entropía</a:t>
              </a:r>
              <a:endParaRPr/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6804719" y="7953225"/>
            <a:ext cx="4678412" cy="1733700"/>
            <a:chOff x="0" y="-152400"/>
            <a:chExt cx="6237883" cy="2311600"/>
          </a:xfrm>
        </p:grpSpPr>
        <p:sp>
          <p:nvSpPr>
            <p:cNvPr id="280" name="Google Shape;280;p7"/>
            <p:cNvSpPr/>
            <p:nvPr/>
          </p:nvSpPr>
          <p:spPr>
            <a:xfrm>
              <a:off x="0" y="0"/>
              <a:ext cx="6237883" cy="2159200"/>
            </a:xfrm>
            <a:custGeom>
              <a:rect b="b" l="l" r="r" t="t"/>
              <a:pathLst>
                <a:path extrusionOk="0" h="2159200" w="6237883">
                  <a:moveTo>
                    <a:pt x="0" y="0"/>
                  </a:moveTo>
                  <a:lnTo>
                    <a:pt x="6237883" y="0"/>
                  </a:lnTo>
                  <a:lnTo>
                    <a:pt x="6237883" y="2159200"/>
                  </a:lnTo>
                  <a:lnTo>
                    <a:pt x="0" y="215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7"/>
            <p:cNvSpPr txBox="1"/>
            <p:nvPr/>
          </p:nvSpPr>
          <p:spPr>
            <a:xfrm>
              <a:off x="0" y="-152400"/>
              <a:ext cx="6237883" cy="23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Mide la cantidad de información contenida en los datos, optimizando la compresión.</a:t>
              </a:r>
              <a:endParaRPr/>
            </a:p>
          </p:txBody>
        </p:sp>
      </p:grpSp>
      <p:sp>
        <p:nvSpPr>
          <p:cNvPr id="282" name="Google Shape;282;p7"/>
          <p:cNvSpPr/>
          <p:nvPr/>
        </p:nvSpPr>
        <p:spPr>
          <a:xfrm>
            <a:off x="14653766" y="6158805"/>
            <a:ext cx="38100" cy="992219"/>
          </a:xfrm>
          <a:custGeom>
            <a:rect b="b" l="l" r="r" t="t"/>
            <a:pathLst>
              <a:path extrusionOk="0" h="1322959" w="508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1297559"/>
                </a:lnTo>
                <a:cubicBezTo>
                  <a:pt x="50800" y="1311529"/>
                  <a:pt x="39370" y="1322959"/>
                  <a:pt x="25400" y="1322959"/>
                </a:cubicBezTo>
                <a:cubicBezTo>
                  <a:pt x="11430" y="1322959"/>
                  <a:pt x="0" y="1311529"/>
                  <a:pt x="0" y="1297559"/>
                </a:cubicBezTo>
                <a:close/>
              </a:path>
            </a:pathLst>
          </a:cu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7"/>
          <p:cNvGrpSpPr/>
          <p:nvPr/>
        </p:nvGrpSpPr>
        <p:grpSpPr>
          <a:xfrm>
            <a:off x="14347924" y="5833913"/>
            <a:ext cx="649796" cy="649796"/>
            <a:chOff x="0" y="0"/>
            <a:chExt cx="866394" cy="866394"/>
          </a:xfrm>
        </p:grpSpPr>
        <p:sp>
          <p:nvSpPr>
            <p:cNvPr id="284" name="Google Shape;284;p7"/>
            <p:cNvSpPr/>
            <p:nvPr/>
          </p:nvSpPr>
          <p:spPr>
            <a:xfrm>
              <a:off x="7874" y="8001"/>
              <a:ext cx="850519" cy="850392"/>
            </a:xfrm>
            <a:custGeom>
              <a:rect b="b" l="l" r="r" t="t"/>
              <a:pathLst>
                <a:path extrusionOk="0" h="850392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642"/>
                  </a:lnTo>
                  <a:cubicBezTo>
                    <a:pt x="850519" y="779272"/>
                    <a:pt x="779399" y="850392"/>
                    <a:pt x="691769" y="850392"/>
                  </a:cubicBezTo>
                  <a:lnTo>
                    <a:pt x="158877" y="850392"/>
                  </a:lnTo>
                  <a:cubicBezTo>
                    <a:pt x="71247" y="850392"/>
                    <a:pt x="127" y="779272"/>
                    <a:pt x="127" y="691642"/>
                  </a:cubicBezTo>
                  <a:close/>
                </a:path>
              </a:pathLst>
            </a:custGeom>
            <a:solidFill>
              <a:srgbClr val="110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0" y="0"/>
              <a:ext cx="866394" cy="866394"/>
            </a:xfrm>
            <a:custGeom>
              <a:rect b="b" l="l" r="r" t="t"/>
              <a:pathLst>
                <a:path extrusionOk="0" h="866394" w="86639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lnTo>
                    <a:pt x="699643" y="7874"/>
                  </a:lnTo>
                  <a:lnTo>
                    <a:pt x="699643" y="0"/>
                  </a:lnTo>
                  <a:cubicBezTo>
                    <a:pt x="791718" y="0"/>
                    <a:pt x="866394" y="74676"/>
                    <a:pt x="866394" y="166751"/>
                  </a:cubicBezTo>
                  <a:lnTo>
                    <a:pt x="866394" y="699643"/>
                  </a:lnTo>
                  <a:lnTo>
                    <a:pt x="858520" y="699643"/>
                  </a:lnTo>
                  <a:lnTo>
                    <a:pt x="866394" y="699643"/>
                  </a:lnTo>
                  <a:cubicBezTo>
                    <a:pt x="866394" y="791718"/>
                    <a:pt x="791718" y="866394"/>
                    <a:pt x="699643" y="866394"/>
                  </a:cubicBezTo>
                  <a:lnTo>
                    <a:pt x="699643" y="858520"/>
                  </a:lnTo>
                  <a:lnTo>
                    <a:pt x="699643" y="866394"/>
                  </a:lnTo>
                  <a:lnTo>
                    <a:pt x="166751" y="866394"/>
                  </a:lnTo>
                  <a:lnTo>
                    <a:pt x="166751" y="858520"/>
                  </a:lnTo>
                  <a:lnTo>
                    <a:pt x="166751" y="866394"/>
                  </a:lnTo>
                  <a:cubicBezTo>
                    <a:pt x="74676" y="866394"/>
                    <a:pt x="0" y="791718"/>
                    <a:pt x="0" y="699643"/>
                  </a:cubicBezTo>
                  <a:lnTo>
                    <a:pt x="0" y="166751"/>
                  </a:lnTo>
                  <a:lnTo>
                    <a:pt x="7874" y="166751"/>
                  </a:lnTo>
                  <a:lnTo>
                    <a:pt x="0" y="166751"/>
                  </a:lnTo>
                  <a:moveTo>
                    <a:pt x="15875" y="166751"/>
                  </a:moveTo>
                  <a:lnTo>
                    <a:pt x="15875" y="699643"/>
                  </a:lnTo>
                  <a:lnTo>
                    <a:pt x="7874" y="699643"/>
                  </a:lnTo>
                  <a:lnTo>
                    <a:pt x="15748" y="699643"/>
                  </a:lnTo>
                  <a:cubicBezTo>
                    <a:pt x="15748" y="782955"/>
                    <a:pt x="83312" y="850519"/>
                    <a:pt x="166624" y="850519"/>
                  </a:cubicBezTo>
                  <a:lnTo>
                    <a:pt x="699643" y="850519"/>
                  </a:lnTo>
                  <a:cubicBezTo>
                    <a:pt x="782955" y="850519"/>
                    <a:pt x="850519" y="782955"/>
                    <a:pt x="850519" y="699643"/>
                  </a:cubicBezTo>
                  <a:lnTo>
                    <a:pt x="850519" y="166751"/>
                  </a:lnTo>
                  <a:lnTo>
                    <a:pt x="858393" y="166751"/>
                  </a:lnTo>
                  <a:lnTo>
                    <a:pt x="850519" y="166751"/>
                  </a:lnTo>
                  <a:cubicBezTo>
                    <a:pt x="850519" y="83439"/>
                    <a:pt x="782955" y="15875"/>
                    <a:pt x="699643" y="15875"/>
                  </a:cubicBezTo>
                  <a:lnTo>
                    <a:pt x="166751" y="15875"/>
                  </a:lnTo>
                  <a:lnTo>
                    <a:pt x="166751" y="7874"/>
                  </a:lnTo>
                  <a:lnTo>
                    <a:pt x="166751" y="15748"/>
                  </a:lnTo>
                  <a:cubicBezTo>
                    <a:pt x="83439" y="15875"/>
                    <a:pt x="15875" y="83439"/>
                    <a:pt x="15875" y="166751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7"/>
          <p:cNvGrpSpPr/>
          <p:nvPr/>
        </p:nvGrpSpPr>
        <p:grpSpPr>
          <a:xfrm>
            <a:off x="14472783" y="5937102"/>
            <a:ext cx="330854" cy="546595"/>
            <a:chOff x="0" y="-9525"/>
            <a:chExt cx="349052" cy="576660"/>
          </a:xfrm>
        </p:grpSpPr>
        <p:sp>
          <p:nvSpPr>
            <p:cNvPr id="287" name="Google Shape;287;p7"/>
            <p:cNvSpPr/>
            <p:nvPr/>
          </p:nvSpPr>
          <p:spPr>
            <a:xfrm>
              <a:off x="0" y="0"/>
              <a:ext cx="349052" cy="567135"/>
            </a:xfrm>
            <a:custGeom>
              <a:rect b="b" l="l" r="r" t="t"/>
              <a:pathLst>
                <a:path extrusionOk="0" h="567135" w="349052">
                  <a:moveTo>
                    <a:pt x="0" y="0"/>
                  </a:moveTo>
                  <a:lnTo>
                    <a:pt x="349052" y="0"/>
                  </a:lnTo>
                  <a:lnTo>
                    <a:pt x="349052" y="567135"/>
                  </a:lnTo>
                  <a:lnTo>
                    <a:pt x="0" y="5671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8" name="Google Shape;288;p7"/>
            <p:cNvSpPr txBox="1"/>
            <p:nvPr/>
          </p:nvSpPr>
          <p:spPr>
            <a:xfrm>
              <a:off x="0" y="-9525"/>
              <a:ext cx="349052" cy="576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312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/>
            </a:p>
          </p:txBody>
        </p:sp>
      </p:grpSp>
      <p:grpSp>
        <p:nvGrpSpPr>
          <p:cNvPr id="289" name="Google Shape;289;p7"/>
          <p:cNvGrpSpPr/>
          <p:nvPr/>
        </p:nvGrpSpPr>
        <p:grpSpPr>
          <a:xfrm>
            <a:off x="12900869" y="7377559"/>
            <a:ext cx="3544044" cy="633413"/>
            <a:chOff x="0" y="-76200"/>
            <a:chExt cx="4725392" cy="84455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0"/>
              <a:ext cx="4725392" cy="768350"/>
            </a:xfrm>
            <a:custGeom>
              <a:rect b="b" l="l" r="r" t="t"/>
              <a:pathLst>
                <a:path extrusionOk="0" h="7683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1" name="Google Shape;291;p7"/>
            <p:cNvSpPr txBox="1"/>
            <p:nvPr/>
          </p:nvSpPr>
          <p:spPr>
            <a:xfrm>
              <a:off x="0" y="-76200"/>
              <a:ext cx="4725392" cy="84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Codificación</a:t>
              </a:r>
              <a:endParaRPr/>
            </a:p>
          </p:txBody>
        </p:sp>
      </p:grpSp>
      <p:grpSp>
        <p:nvGrpSpPr>
          <p:cNvPr id="292" name="Google Shape;292;p7"/>
          <p:cNvGrpSpPr/>
          <p:nvPr/>
        </p:nvGrpSpPr>
        <p:grpSpPr>
          <a:xfrm>
            <a:off x="12658502" y="7933432"/>
            <a:ext cx="4678413" cy="2163631"/>
            <a:chOff x="0" y="-152400"/>
            <a:chExt cx="6237883" cy="2884841"/>
          </a:xfrm>
        </p:grpSpPr>
        <p:sp>
          <p:nvSpPr>
            <p:cNvPr id="293" name="Google Shape;293;p7"/>
            <p:cNvSpPr/>
            <p:nvPr/>
          </p:nvSpPr>
          <p:spPr>
            <a:xfrm>
              <a:off x="0" y="0"/>
              <a:ext cx="6237883" cy="2732441"/>
            </a:xfrm>
            <a:custGeom>
              <a:rect b="b" l="l" r="r" t="t"/>
              <a:pathLst>
                <a:path extrusionOk="0" h="2732441" w="6237883">
                  <a:moveTo>
                    <a:pt x="0" y="0"/>
                  </a:moveTo>
                  <a:lnTo>
                    <a:pt x="6237883" y="0"/>
                  </a:lnTo>
                  <a:lnTo>
                    <a:pt x="6237883" y="2732441"/>
                  </a:lnTo>
                  <a:lnTo>
                    <a:pt x="0" y="27324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4" name="Google Shape;294;p7"/>
            <p:cNvSpPr txBox="1"/>
            <p:nvPr/>
          </p:nvSpPr>
          <p:spPr>
            <a:xfrm>
              <a:off x="0" y="-152400"/>
              <a:ext cx="6237883" cy="2884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Utiliza técnicas para representar los datos de manera más eficiente, reduciendo el tamaño.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304" name="Google Shape;30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grpSp>
        <p:nvGrpSpPr>
          <p:cNvPr id="305" name="Google Shape;305;p8"/>
          <p:cNvGrpSpPr/>
          <p:nvPr/>
        </p:nvGrpSpPr>
        <p:grpSpPr>
          <a:xfrm>
            <a:off x="4421237" y="419262"/>
            <a:ext cx="10532191" cy="2441654"/>
            <a:chOff x="0" y="-152400"/>
            <a:chExt cx="14042921" cy="3255539"/>
          </a:xfrm>
        </p:grpSpPr>
        <p:sp>
          <p:nvSpPr>
            <p:cNvPr id="306" name="Google Shape;306;p8"/>
            <p:cNvSpPr/>
            <p:nvPr/>
          </p:nvSpPr>
          <p:spPr>
            <a:xfrm>
              <a:off x="0" y="0"/>
              <a:ext cx="14042921" cy="3103139"/>
            </a:xfrm>
            <a:custGeom>
              <a:rect b="b" l="l" r="r" t="t"/>
              <a:pathLst>
                <a:path extrusionOk="0" h="3103139" w="14042921">
                  <a:moveTo>
                    <a:pt x="0" y="0"/>
                  </a:moveTo>
                  <a:lnTo>
                    <a:pt x="14042921" y="0"/>
                  </a:lnTo>
                  <a:lnTo>
                    <a:pt x="14042921" y="3103139"/>
                  </a:lnTo>
                  <a:lnTo>
                    <a:pt x="0" y="31031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7" name="Google Shape;307;p8"/>
            <p:cNvSpPr txBox="1"/>
            <p:nvPr/>
          </p:nvSpPr>
          <p:spPr>
            <a:xfrm>
              <a:off x="0" y="-152400"/>
              <a:ext cx="14042921" cy="32555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ALGORITMO DE CODIFICACIÓN DE HUFFMAN</a:t>
              </a:r>
              <a:endParaRPr/>
            </a:p>
          </p:txBody>
        </p:sp>
      </p:grpSp>
      <p:sp>
        <p:nvSpPr>
          <p:cNvPr id="308" name="Google Shape;308;p8"/>
          <p:cNvSpPr/>
          <p:nvPr/>
        </p:nvSpPr>
        <p:spPr>
          <a:xfrm>
            <a:off x="7844297" y="2994266"/>
            <a:ext cx="6849387" cy="6373368"/>
          </a:xfrm>
          <a:custGeom>
            <a:rect b="b" l="l" r="r" t="t"/>
            <a:pathLst>
              <a:path extrusionOk="0" h="8497824" w="9132515">
                <a:moveTo>
                  <a:pt x="0" y="187198"/>
                </a:moveTo>
                <a:cubicBezTo>
                  <a:pt x="0" y="83820"/>
                  <a:pt x="60798" y="0"/>
                  <a:pt x="135668" y="0"/>
                </a:cubicBezTo>
                <a:lnTo>
                  <a:pt x="8996847" y="0"/>
                </a:lnTo>
                <a:lnTo>
                  <a:pt x="8996847" y="7874"/>
                </a:lnTo>
                <a:lnTo>
                  <a:pt x="8996847" y="0"/>
                </a:lnTo>
                <a:cubicBezTo>
                  <a:pt x="9071810" y="0"/>
                  <a:pt x="9132515" y="83820"/>
                  <a:pt x="9132515" y="187198"/>
                </a:cubicBezTo>
                <a:lnTo>
                  <a:pt x="9126813" y="187198"/>
                </a:lnTo>
                <a:lnTo>
                  <a:pt x="9132515" y="187198"/>
                </a:lnTo>
                <a:lnTo>
                  <a:pt x="9132515" y="8310626"/>
                </a:lnTo>
                <a:lnTo>
                  <a:pt x="9126813" y="8310626"/>
                </a:lnTo>
                <a:lnTo>
                  <a:pt x="9132515" y="8310626"/>
                </a:lnTo>
                <a:cubicBezTo>
                  <a:pt x="9132515" y="8414004"/>
                  <a:pt x="9071718" y="8497824"/>
                  <a:pt x="8996847" y="8497824"/>
                </a:cubicBezTo>
                <a:lnTo>
                  <a:pt x="8996847" y="8489950"/>
                </a:lnTo>
                <a:lnTo>
                  <a:pt x="8996847" y="8497824"/>
                </a:lnTo>
                <a:lnTo>
                  <a:pt x="135668" y="8497824"/>
                </a:lnTo>
                <a:lnTo>
                  <a:pt x="135668" y="8489950"/>
                </a:lnTo>
                <a:lnTo>
                  <a:pt x="135668" y="8497824"/>
                </a:lnTo>
                <a:cubicBezTo>
                  <a:pt x="60798" y="8497824"/>
                  <a:pt x="0" y="8414004"/>
                  <a:pt x="0" y="8310626"/>
                </a:cubicBezTo>
                <a:lnTo>
                  <a:pt x="0" y="187198"/>
                </a:lnTo>
                <a:lnTo>
                  <a:pt x="5703" y="187198"/>
                </a:lnTo>
                <a:lnTo>
                  <a:pt x="0" y="187198"/>
                </a:lnTo>
                <a:moveTo>
                  <a:pt x="11497" y="187198"/>
                </a:moveTo>
                <a:lnTo>
                  <a:pt x="11497" y="8310626"/>
                </a:lnTo>
                <a:lnTo>
                  <a:pt x="5703" y="8310626"/>
                </a:lnTo>
                <a:lnTo>
                  <a:pt x="11405" y="8310626"/>
                </a:lnTo>
                <a:cubicBezTo>
                  <a:pt x="11405" y="8405241"/>
                  <a:pt x="66960" y="8481949"/>
                  <a:pt x="135576" y="8481949"/>
                </a:cubicBezTo>
                <a:lnTo>
                  <a:pt x="8996755" y="8481949"/>
                </a:lnTo>
                <a:cubicBezTo>
                  <a:pt x="9065371" y="8481949"/>
                  <a:pt x="9120925" y="8405241"/>
                  <a:pt x="9120925" y="8310626"/>
                </a:cubicBezTo>
                <a:lnTo>
                  <a:pt x="9120925" y="187198"/>
                </a:lnTo>
                <a:cubicBezTo>
                  <a:pt x="9120925" y="92583"/>
                  <a:pt x="9065371" y="15875"/>
                  <a:pt x="8996755" y="15875"/>
                </a:cubicBezTo>
                <a:lnTo>
                  <a:pt x="135668" y="15875"/>
                </a:lnTo>
                <a:lnTo>
                  <a:pt x="135668" y="7874"/>
                </a:lnTo>
                <a:lnTo>
                  <a:pt x="135668" y="15875"/>
                </a:lnTo>
                <a:cubicBezTo>
                  <a:pt x="67052" y="15875"/>
                  <a:pt x="11497" y="92583"/>
                  <a:pt x="11497" y="187198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364246" y="3287089"/>
            <a:ext cx="10107193" cy="1844347"/>
          </a:xfrm>
          <a:custGeom>
            <a:rect b="b" l="l" r="r" t="t"/>
            <a:pathLst>
              <a:path extrusionOk="0" h="2293493" w="12568555">
                <a:moveTo>
                  <a:pt x="0" y="0"/>
                </a:moveTo>
                <a:lnTo>
                  <a:pt x="12568555" y="0"/>
                </a:lnTo>
                <a:lnTo>
                  <a:pt x="12568555" y="2293493"/>
                </a:lnTo>
                <a:lnTo>
                  <a:pt x="0" y="229349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310" name="Google Shape;310;p8"/>
          <p:cNvGrpSpPr/>
          <p:nvPr/>
        </p:nvGrpSpPr>
        <p:grpSpPr>
          <a:xfrm>
            <a:off x="4657665" y="3658437"/>
            <a:ext cx="4440600" cy="609075"/>
            <a:chOff x="0" y="-152400"/>
            <a:chExt cx="5522000" cy="757400"/>
          </a:xfrm>
        </p:grpSpPr>
        <p:sp>
          <p:nvSpPr>
            <p:cNvPr id="311" name="Google Shape;311;p8"/>
            <p:cNvSpPr/>
            <p:nvPr/>
          </p:nvSpPr>
          <p:spPr>
            <a:xfrm>
              <a:off x="0" y="0"/>
              <a:ext cx="5522000" cy="605000"/>
            </a:xfrm>
            <a:custGeom>
              <a:rect b="b" l="l" r="r" t="t"/>
              <a:pathLst>
                <a:path extrusionOk="0" h="605000" w="5522000">
                  <a:moveTo>
                    <a:pt x="0" y="0"/>
                  </a:moveTo>
                  <a:lnTo>
                    <a:pt x="5522000" y="0"/>
                  </a:lnTo>
                  <a:lnTo>
                    <a:pt x="5522000" y="605000"/>
                  </a:lnTo>
                  <a:lnTo>
                    <a:pt x="0" y="605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2" name="Google Shape;312;p8"/>
            <p:cNvSpPr txBox="1"/>
            <p:nvPr/>
          </p:nvSpPr>
          <p:spPr>
            <a:xfrm>
              <a:off x="0" y="-152400"/>
              <a:ext cx="5522000" cy="7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Propósito</a:t>
              </a:r>
              <a:endParaRPr/>
            </a:p>
          </p:txBody>
        </p:sp>
      </p:grpSp>
      <p:grpSp>
        <p:nvGrpSpPr>
          <p:cNvPr id="313" name="Google Shape;313;p8"/>
          <p:cNvGrpSpPr/>
          <p:nvPr/>
        </p:nvGrpSpPr>
        <p:grpSpPr>
          <a:xfrm>
            <a:off x="9716401" y="3308814"/>
            <a:ext cx="4744574" cy="1638420"/>
            <a:chOff x="0" y="-152400"/>
            <a:chExt cx="5900000" cy="2037417"/>
          </a:xfrm>
        </p:grpSpPr>
        <p:sp>
          <p:nvSpPr>
            <p:cNvPr id="314" name="Google Shape;314;p8"/>
            <p:cNvSpPr/>
            <p:nvPr/>
          </p:nvSpPr>
          <p:spPr>
            <a:xfrm>
              <a:off x="0" y="0"/>
              <a:ext cx="5900000" cy="1885017"/>
            </a:xfrm>
            <a:custGeom>
              <a:rect b="b" l="l" r="r" t="t"/>
              <a:pathLst>
                <a:path extrusionOk="0" h="1885017" w="5900000">
                  <a:moveTo>
                    <a:pt x="0" y="0"/>
                  </a:moveTo>
                  <a:lnTo>
                    <a:pt x="5900000" y="0"/>
                  </a:lnTo>
                  <a:lnTo>
                    <a:pt x="5900000" y="1885017"/>
                  </a:lnTo>
                  <a:lnTo>
                    <a:pt x="0" y="18850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5" name="Google Shape;315;p8"/>
            <p:cNvSpPr txBox="1"/>
            <p:nvPr/>
          </p:nvSpPr>
          <p:spPr>
            <a:xfrm>
              <a:off x="0" y="-152400"/>
              <a:ext cx="5900000" cy="20374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Codificar símbolos con una longitud variable para minimizar el tamaño de los datos.</a:t>
              </a:r>
              <a:endParaRPr/>
            </a:p>
          </p:txBody>
        </p:sp>
      </p:grpSp>
      <p:sp>
        <p:nvSpPr>
          <p:cNvPr id="316" name="Google Shape;316;p8"/>
          <p:cNvSpPr/>
          <p:nvPr/>
        </p:nvSpPr>
        <p:spPr>
          <a:xfrm>
            <a:off x="4217486" y="5227672"/>
            <a:ext cx="10107193" cy="2090069"/>
          </a:xfrm>
          <a:custGeom>
            <a:rect b="b" l="l" r="r" t="t"/>
            <a:pathLst>
              <a:path extrusionOk="0" h="2599055" w="12568555">
                <a:moveTo>
                  <a:pt x="0" y="0"/>
                </a:moveTo>
                <a:lnTo>
                  <a:pt x="12568555" y="0"/>
                </a:lnTo>
                <a:lnTo>
                  <a:pt x="12568555" y="2599055"/>
                </a:lnTo>
                <a:lnTo>
                  <a:pt x="0" y="259905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317" name="Google Shape;317;p8"/>
          <p:cNvGrpSpPr/>
          <p:nvPr/>
        </p:nvGrpSpPr>
        <p:grpSpPr>
          <a:xfrm>
            <a:off x="4657665" y="5153194"/>
            <a:ext cx="4440535" cy="608945"/>
            <a:chOff x="0" y="-152400"/>
            <a:chExt cx="5521920" cy="757238"/>
          </a:xfrm>
        </p:grpSpPr>
        <p:sp>
          <p:nvSpPr>
            <p:cNvPr id="318" name="Google Shape;318;p8"/>
            <p:cNvSpPr/>
            <p:nvPr/>
          </p:nvSpPr>
          <p:spPr>
            <a:xfrm>
              <a:off x="0" y="0"/>
              <a:ext cx="5521920" cy="604838"/>
            </a:xfrm>
            <a:custGeom>
              <a:rect b="b" l="l" r="r" t="t"/>
              <a:pathLst>
                <a:path extrusionOk="0"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9" name="Google Shape;319;p8"/>
            <p:cNvSpPr txBox="1"/>
            <p:nvPr/>
          </p:nvSpPr>
          <p:spPr>
            <a:xfrm>
              <a:off x="0" y="-152400"/>
              <a:ext cx="5521920" cy="757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Base</a:t>
              </a: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9716399" y="5153194"/>
            <a:ext cx="4440535" cy="2171886"/>
            <a:chOff x="0" y="-152400"/>
            <a:chExt cx="5521920" cy="2700796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5521920" cy="2548396"/>
            </a:xfrm>
            <a:custGeom>
              <a:rect b="b" l="l" r="r" t="t"/>
              <a:pathLst>
                <a:path extrusionOk="0" h="2548396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2548396"/>
                  </a:lnTo>
                  <a:lnTo>
                    <a:pt x="0" y="25483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2" name="Google Shape;322;p8"/>
            <p:cNvSpPr txBox="1"/>
            <p:nvPr/>
          </p:nvSpPr>
          <p:spPr>
            <a:xfrm>
              <a:off x="0" y="-152400"/>
              <a:ext cx="5521920" cy="2700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Construir un árbol binario que prioriza los símbolos más frecuentes con códigos más cortos.</a:t>
              </a:r>
              <a:endParaRPr/>
            </a:p>
          </p:txBody>
        </p:sp>
      </p:grpSp>
      <p:sp>
        <p:nvSpPr>
          <p:cNvPr id="323" name="Google Shape;323;p8"/>
          <p:cNvSpPr/>
          <p:nvPr/>
        </p:nvSpPr>
        <p:spPr>
          <a:xfrm>
            <a:off x="4353672" y="7413915"/>
            <a:ext cx="10107295" cy="1844347"/>
          </a:xfrm>
          <a:custGeom>
            <a:rect b="b" l="l" r="r" t="t"/>
            <a:pathLst>
              <a:path extrusionOk="0" h="2293493" w="12568682">
                <a:moveTo>
                  <a:pt x="0" y="0"/>
                </a:moveTo>
                <a:lnTo>
                  <a:pt x="12568682" y="0"/>
                </a:lnTo>
                <a:lnTo>
                  <a:pt x="12568682" y="2293493"/>
                </a:lnTo>
                <a:lnTo>
                  <a:pt x="0" y="229349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324" name="Google Shape;324;p8"/>
          <p:cNvGrpSpPr/>
          <p:nvPr/>
        </p:nvGrpSpPr>
        <p:grpSpPr>
          <a:xfrm>
            <a:off x="4657665" y="7483968"/>
            <a:ext cx="4440535" cy="608945"/>
            <a:chOff x="0" y="-152400"/>
            <a:chExt cx="5521920" cy="757238"/>
          </a:xfrm>
        </p:grpSpPr>
        <p:sp>
          <p:nvSpPr>
            <p:cNvPr id="325" name="Google Shape;325;p8"/>
            <p:cNvSpPr/>
            <p:nvPr/>
          </p:nvSpPr>
          <p:spPr>
            <a:xfrm>
              <a:off x="0" y="0"/>
              <a:ext cx="5521920" cy="604838"/>
            </a:xfrm>
            <a:custGeom>
              <a:rect b="b" l="l" r="r" t="t"/>
              <a:pathLst>
                <a:path extrusionOk="0"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6" name="Google Shape;326;p8"/>
            <p:cNvSpPr txBox="1"/>
            <p:nvPr/>
          </p:nvSpPr>
          <p:spPr>
            <a:xfrm>
              <a:off x="0" y="-152400"/>
              <a:ext cx="5521920" cy="757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Resultados</a:t>
              </a:r>
              <a:endParaRPr/>
            </a:p>
          </p:txBody>
        </p:sp>
      </p:grpSp>
      <p:grpSp>
        <p:nvGrpSpPr>
          <p:cNvPr id="327" name="Google Shape;327;p8"/>
          <p:cNvGrpSpPr/>
          <p:nvPr/>
        </p:nvGrpSpPr>
        <p:grpSpPr>
          <a:xfrm>
            <a:off x="9716399" y="7483968"/>
            <a:ext cx="4440535" cy="1638420"/>
            <a:chOff x="0" y="-152400"/>
            <a:chExt cx="5521920" cy="2037417"/>
          </a:xfrm>
        </p:grpSpPr>
        <p:sp>
          <p:nvSpPr>
            <p:cNvPr id="328" name="Google Shape;328;p8"/>
            <p:cNvSpPr/>
            <p:nvPr/>
          </p:nvSpPr>
          <p:spPr>
            <a:xfrm>
              <a:off x="0" y="0"/>
              <a:ext cx="5521920" cy="1885017"/>
            </a:xfrm>
            <a:custGeom>
              <a:rect b="b" l="l" r="r" t="t"/>
              <a:pathLst>
                <a:path extrusionOk="0" h="1885017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1885017"/>
                  </a:lnTo>
                  <a:lnTo>
                    <a:pt x="0" y="18850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9" name="Google Shape;329;p8"/>
            <p:cNvSpPr txBox="1"/>
            <p:nvPr/>
          </p:nvSpPr>
          <p:spPr>
            <a:xfrm>
              <a:off x="0" y="-152400"/>
              <a:ext cx="5521920" cy="20374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Compresión eficiente, especialmente para datos con patrones repetitivos.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339" name="Google Shape;33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340" name="Google Shape;340;p9">
            <a:hlinkClick r:id="rId3"/>
          </p:cNvPr>
          <p:cNvSpPr/>
          <p:nvPr/>
        </p:nvSpPr>
        <p:spPr>
          <a:xfrm>
            <a:off x="16049019" y="9686925"/>
            <a:ext cx="2153256" cy="514350"/>
          </a:xfrm>
          <a:custGeom>
            <a:rect b="b" l="l" r="r" t="t"/>
            <a:pathLst>
              <a:path extrusionOk="0"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341" name="Google Shape;341;p9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2" name="Google Shape;342;p9"/>
          <p:cNvGrpSpPr/>
          <p:nvPr/>
        </p:nvGrpSpPr>
        <p:grpSpPr>
          <a:xfrm>
            <a:off x="966341" y="193769"/>
            <a:ext cx="9497317" cy="2292107"/>
            <a:chOff x="0" y="-152400"/>
            <a:chExt cx="12663090" cy="3056142"/>
          </a:xfrm>
        </p:grpSpPr>
        <p:sp>
          <p:nvSpPr>
            <p:cNvPr id="343" name="Google Shape;343;p9"/>
            <p:cNvSpPr/>
            <p:nvPr/>
          </p:nvSpPr>
          <p:spPr>
            <a:xfrm>
              <a:off x="0" y="0"/>
              <a:ext cx="12663090" cy="2903742"/>
            </a:xfrm>
            <a:custGeom>
              <a:rect b="b" l="l" r="r" t="t"/>
              <a:pathLst>
                <a:path extrusionOk="0" h="2903742" w="12663090">
                  <a:moveTo>
                    <a:pt x="0" y="0"/>
                  </a:moveTo>
                  <a:lnTo>
                    <a:pt x="12663090" y="0"/>
                  </a:lnTo>
                  <a:lnTo>
                    <a:pt x="12663090" y="2903742"/>
                  </a:lnTo>
                  <a:lnTo>
                    <a:pt x="0" y="29037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4" name="Google Shape;344;p9"/>
            <p:cNvSpPr txBox="1"/>
            <p:nvPr/>
          </p:nvSpPr>
          <p:spPr>
            <a:xfrm>
              <a:off x="0" y="-152400"/>
              <a:ext cx="12663090" cy="30561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7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37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CONSTRUCCIÓN DEL ÁRBOL DE HUFFMAN</a:t>
              </a:r>
              <a:endParaRPr/>
            </a:p>
          </p:txBody>
        </p:sp>
      </p:grpSp>
      <p:sp>
        <p:nvSpPr>
          <p:cNvPr descr="preencoded.png" id="345" name="Google Shape;345;p9"/>
          <p:cNvSpPr/>
          <p:nvPr/>
        </p:nvSpPr>
        <p:spPr>
          <a:xfrm>
            <a:off x="966341" y="2899916"/>
            <a:ext cx="1380530" cy="2208907"/>
          </a:xfrm>
          <a:custGeom>
            <a:rect b="b" l="l" r="r" t="t"/>
            <a:pathLst>
              <a:path extrusionOk="0" h="2208907" w="1380530">
                <a:moveTo>
                  <a:pt x="0" y="0"/>
                </a:moveTo>
                <a:lnTo>
                  <a:pt x="1380530" y="0"/>
                </a:lnTo>
                <a:lnTo>
                  <a:pt x="1380530" y="2208908"/>
                </a:lnTo>
                <a:lnTo>
                  <a:pt x="0" y="2208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grpSp>
        <p:nvGrpSpPr>
          <p:cNvPr id="346" name="Google Shape;346;p9"/>
          <p:cNvGrpSpPr/>
          <p:nvPr/>
        </p:nvGrpSpPr>
        <p:grpSpPr>
          <a:xfrm>
            <a:off x="2760910" y="2888687"/>
            <a:ext cx="3971032" cy="1115683"/>
            <a:chOff x="0" y="-76200"/>
            <a:chExt cx="5294710" cy="1487578"/>
          </a:xfrm>
        </p:grpSpPr>
        <p:sp>
          <p:nvSpPr>
            <p:cNvPr id="347" name="Google Shape;347;p9"/>
            <p:cNvSpPr/>
            <p:nvPr/>
          </p:nvSpPr>
          <p:spPr>
            <a:xfrm>
              <a:off x="0" y="0"/>
              <a:ext cx="5294710" cy="1411378"/>
            </a:xfrm>
            <a:custGeom>
              <a:rect b="b" l="l" r="r" t="t"/>
              <a:pathLst>
                <a:path extrusionOk="0" h="1411378" w="5294710">
                  <a:moveTo>
                    <a:pt x="0" y="0"/>
                  </a:moveTo>
                  <a:lnTo>
                    <a:pt x="5294710" y="0"/>
                  </a:lnTo>
                  <a:lnTo>
                    <a:pt x="5294710" y="1411378"/>
                  </a:lnTo>
                  <a:lnTo>
                    <a:pt x="0" y="1411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8" name="Google Shape;348;p9"/>
            <p:cNvSpPr txBox="1"/>
            <p:nvPr/>
          </p:nvSpPr>
          <p:spPr>
            <a:xfrm>
              <a:off x="0" y="-76200"/>
              <a:ext cx="5294710" cy="1487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6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Frecuencias de Símbolos</a:t>
              </a:r>
              <a:endParaRPr/>
            </a:p>
          </p:txBody>
        </p:sp>
      </p:grpSp>
      <p:grpSp>
        <p:nvGrpSpPr>
          <p:cNvPr id="349" name="Google Shape;349;p9"/>
          <p:cNvGrpSpPr/>
          <p:nvPr/>
        </p:nvGrpSpPr>
        <p:grpSpPr>
          <a:xfrm>
            <a:off x="2760784" y="4220418"/>
            <a:ext cx="7702875" cy="1064289"/>
            <a:chOff x="0" y="-152400"/>
            <a:chExt cx="10270500" cy="1419052"/>
          </a:xfrm>
        </p:grpSpPr>
        <p:sp>
          <p:nvSpPr>
            <p:cNvPr id="350" name="Google Shape;350;p9"/>
            <p:cNvSpPr/>
            <p:nvPr/>
          </p:nvSpPr>
          <p:spPr>
            <a:xfrm>
              <a:off x="0" y="0"/>
              <a:ext cx="10270500" cy="1266652"/>
            </a:xfrm>
            <a:custGeom>
              <a:rect b="b" l="l" r="r" t="t"/>
              <a:pathLst>
                <a:path extrusionOk="0" h="1266652" w="10270500">
                  <a:moveTo>
                    <a:pt x="0" y="0"/>
                  </a:moveTo>
                  <a:lnTo>
                    <a:pt x="10270500" y="0"/>
                  </a:lnTo>
                  <a:lnTo>
                    <a:pt x="10270500" y="1266652"/>
                  </a:lnTo>
                  <a:lnTo>
                    <a:pt x="0" y="1266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1" name="Google Shape;351;p9"/>
            <p:cNvSpPr txBox="1"/>
            <p:nvPr/>
          </p:nvSpPr>
          <p:spPr>
            <a:xfrm>
              <a:off x="0" y="-152400"/>
              <a:ext cx="10270500" cy="1419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0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Determinar la frecuencia de aparición de cada símbolo en los datos.</a:t>
              </a:r>
              <a:endParaRPr/>
            </a:p>
          </p:txBody>
        </p:sp>
      </p:grpSp>
      <p:sp>
        <p:nvSpPr>
          <p:cNvPr descr="preencoded.png" id="352" name="Google Shape;352;p9"/>
          <p:cNvSpPr/>
          <p:nvPr/>
        </p:nvSpPr>
        <p:spPr>
          <a:xfrm>
            <a:off x="966341" y="5108822"/>
            <a:ext cx="1380530" cy="2208907"/>
          </a:xfrm>
          <a:custGeom>
            <a:rect b="b" l="l" r="r" t="t"/>
            <a:pathLst>
              <a:path extrusionOk="0" h="2208907" w="1380530">
                <a:moveTo>
                  <a:pt x="0" y="0"/>
                </a:moveTo>
                <a:lnTo>
                  <a:pt x="1380530" y="0"/>
                </a:lnTo>
                <a:lnTo>
                  <a:pt x="1380530" y="2208908"/>
                </a:lnTo>
                <a:lnTo>
                  <a:pt x="0" y="2208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2760910" y="5327749"/>
            <a:ext cx="4731395" cy="1115683"/>
            <a:chOff x="0" y="-76200"/>
            <a:chExt cx="6308527" cy="1487578"/>
          </a:xfrm>
        </p:grpSpPr>
        <p:sp>
          <p:nvSpPr>
            <p:cNvPr id="354" name="Google Shape;354;p9"/>
            <p:cNvSpPr/>
            <p:nvPr/>
          </p:nvSpPr>
          <p:spPr>
            <a:xfrm>
              <a:off x="0" y="0"/>
              <a:ext cx="6308527" cy="1411378"/>
            </a:xfrm>
            <a:custGeom>
              <a:rect b="b" l="l" r="r" t="t"/>
              <a:pathLst>
                <a:path extrusionOk="0" h="1411378" w="6308527">
                  <a:moveTo>
                    <a:pt x="0" y="0"/>
                  </a:moveTo>
                  <a:lnTo>
                    <a:pt x="6308527" y="0"/>
                  </a:lnTo>
                  <a:lnTo>
                    <a:pt x="6308527" y="1411378"/>
                  </a:lnTo>
                  <a:lnTo>
                    <a:pt x="0" y="1411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5" name="Google Shape;355;p9"/>
            <p:cNvSpPr txBox="1"/>
            <p:nvPr/>
          </p:nvSpPr>
          <p:spPr>
            <a:xfrm>
              <a:off x="0" y="-76200"/>
              <a:ext cx="6308527" cy="14875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6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Ordenamiento y Combinación</a:t>
              </a:r>
              <a:endParaRPr/>
            </a:p>
          </p:txBody>
        </p:sp>
      </p:grpSp>
      <p:grpSp>
        <p:nvGrpSpPr>
          <p:cNvPr id="356" name="Google Shape;356;p9"/>
          <p:cNvGrpSpPr/>
          <p:nvPr/>
        </p:nvGrpSpPr>
        <p:grpSpPr>
          <a:xfrm>
            <a:off x="2760784" y="6529517"/>
            <a:ext cx="7702875" cy="1064289"/>
            <a:chOff x="0" y="-152400"/>
            <a:chExt cx="10270500" cy="1419052"/>
          </a:xfrm>
        </p:grpSpPr>
        <p:sp>
          <p:nvSpPr>
            <p:cNvPr id="357" name="Google Shape;357;p9"/>
            <p:cNvSpPr/>
            <p:nvPr/>
          </p:nvSpPr>
          <p:spPr>
            <a:xfrm>
              <a:off x="0" y="0"/>
              <a:ext cx="10270500" cy="1266652"/>
            </a:xfrm>
            <a:custGeom>
              <a:rect b="b" l="l" r="r" t="t"/>
              <a:pathLst>
                <a:path extrusionOk="0" h="1266652" w="10270500">
                  <a:moveTo>
                    <a:pt x="0" y="0"/>
                  </a:moveTo>
                  <a:lnTo>
                    <a:pt x="10270500" y="0"/>
                  </a:lnTo>
                  <a:lnTo>
                    <a:pt x="10270500" y="1266652"/>
                  </a:lnTo>
                  <a:lnTo>
                    <a:pt x="0" y="1266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8" name="Google Shape;358;p9"/>
            <p:cNvSpPr txBox="1"/>
            <p:nvPr/>
          </p:nvSpPr>
          <p:spPr>
            <a:xfrm>
              <a:off x="0" y="-152400"/>
              <a:ext cx="10270500" cy="1419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0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Ordenar los símbolos por frecuencia y combinar los dos menos frecuentes en un nodo padre.</a:t>
              </a:r>
              <a:endParaRPr/>
            </a:p>
          </p:txBody>
        </p:sp>
      </p:grpSp>
      <p:sp>
        <p:nvSpPr>
          <p:cNvPr descr="preencoded.png" id="359" name="Google Shape;359;p9"/>
          <p:cNvSpPr/>
          <p:nvPr/>
        </p:nvSpPr>
        <p:spPr>
          <a:xfrm>
            <a:off x="966341" y="7317730"/>
            <a:ext cx="1380530" cy="2208907"/>
          </a:xfrm>
          <a:custGeom>
            <a:rect b="b" l="l" r="r" t="t"/>
            <a:pathLst>
              <a:path extrusionOk="0" h="2208907" w="1380530">
                <a:moveTo>
                  <a:pt x="0" y="0"/>
                </a:moveTo>
                <a:lnTo>
                  <a:pt x="1380530" y="0"/>
                </a:lnTo>
                <a:lnTo>
                  <a:pt x="1380530" y="2208907"/>
                </a:lnTo>
                <a:lnTo>
                  <a:pt x="0" y="2208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grpSp>
        <p:nvGrpSpPr>
          <p:cNvPr id="360" name="Google Shape;360;p9"/>
          <p:cNvGrpSpPr/>
          <p:nvPr/>
        </p:nvGrpSpPr>
        <p:grpSpPr>
          <a:xfrm>
            <a:off x="2760910" y="7736681"/>
            <a:ext cx="3451472" cy="610825"/>
            <a:chOff x="0" y="-76200"/>
            <a:chExt cx="4601963" cy="814434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4601963" cy="738234"/>
            </a:xfrm>
            <a:custGeom>
              <a:rect b="b" l="l" r="r" t="t"/>
              <a:pathLst>
                <a:path extrusionOk="0" h="738234" w="4601963">
                  <a:moveTo>
                    <a:pt x="0" y="0"/>
                  </a:moveTo>
                  <a:lnTo>
                    <a:pt x="4601963" y="0"/>
                  </a:lnTo>
                  <a:lnTo>
                    <a:pt x="4601963" y="738234"/>
                  </a:lnTo>
                  <a:lnTo>
                    <a:pt x="0" y="738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2" name="Google Shape;362;p9"/>
            <p:cNvSpPr txBox="1"/>
            <p:nvPr/>
          </p:nvSpPr>
          <p:spPr>
            <a:xfrm>
              <a:off x="0" y="-76200"/>
              <a:ext cx="4601963" cy="814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6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Repetición</a:t>
              </a:r>
              <a:endParaRPr/>
            </a:p>
          </p:txBody>
        </p:sp>
      </p:grpSp>
      <p:grpSp>
        <p:nvGrpSpPr>
          <p:cNvPr id="363" name="Google Shape;363;p9"/>
          <p:cNvGrpSpPr/>
          <p:nvPr/>
        </p:nvGrpSpPr>
        <p:grpSpPr>
          <a:xfrm>
            <a:off x="2760910" y="8366738"/>
            <a:ext cx="7702875" cy="1064289"/>
            <a:chOff x="0" y="-152400"/>
            <a:chExt cx="10270500" cy="1419052"/>
          </a:xfrm>
        </p:grpSpPr>
        <p:sp>
          <p:nvSpPr>
            <p:cNvPr id="364" name="Google Shape;364;p9"/>
            <p:cNvSpPr/>
            <p:nvPr/>
          </p:nvSpPr>
          <p:spPr>
            <a:xfrm>
              <a:off x="0" y="0"/>
              <a:ext cx="10270500" cy="1266652"/>
            </a:xfrm>
            <a:custGeom>
              <a:rect b="b" l="l" r="r" t="t"/>
              <a:pathLst>
                <a:path extrusionOk="0" h="1266652" w="10270500">
                  <a:moveTo>
                    <a:pt x="0" y="0"/>
                  </a:moveTo>
                  <a:lnTo>
                    <a:pt x="10270500" y="0"/>
                  </a:lnTo>
                  <a:lnTo>
                    <a:pt x="10270500" y="1266652"/>
                  </a:lnTo>
                  <a:lnTo>
                    <a:pt x="0" y="1266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5" name="Google Shape;365;p9"/>
            <p:cNvSpPr txBox="1"/>
            <p:nvPr/>
          </p:nvSpPr>
          <p:spPr>
            <a:xfrm>
              <a:off x="0" y="-152400"/>
              <a:ext cx="10270500" cy="14190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0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25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Repetir el proceso de combinación hasta que todos los símbolos estén en el árbol.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375" name="Google Shape;37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sp>
        <p:nvSpPr>
          <p:cNvPr descr="preencoded.png" id="376" name="Google Shape;376;p10">
            <a:hlinkClick r:id="rId3"/>
          </p:cNvPr>
          <p:cNvSpPr/>
          <p:nvPr/>
        </p:nvSpPr>
        <p:spPr>
          <a:xfrm>
            <a:off x="16049019" y="9686925"/>
            <a:ext cx="2153256" cy="514350"/>
          </a:xfrm>
          <a:custGeom>
            <a:rect b="b" l="l" r="r" t="t"/>
            <a:pathLst>
              <a:path extrusionOk="0"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preencoded.png" id="377" name="Google Shape;377;p10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8" name="Google Shape;378;p10"/>
          <p:cNvGrpSpPr/>
          <p:nvPr/>
        </p:nvGrpSpPr>
        <p:grpSpPr>
          <a:xfrm>
            <a:off x="1128118" y="733447"/>
            <a:ext cx="9445526" cy="3409249"/>
            <a:chOff x="0" y="-152400"/>
            <a:chExt cx="12594035" cy="4545664"/>
          </a:xfrm>
        </p:grpSpPr>
        <p:sp>
          <p:nvSpPr>
            <p:cNvPr id="379" name="Google Shape;379;p10"/>
            <p:cNvSpPr/>
            <p:nvPr/>
          </p:nvSpPr>
          <p:spPr>
            <a:xfrm>
              <a:off x="0" y="0"/>
              <a:ext cx="12594035" cy="4393264"/>
            </a:xfrm>
            <a:custGeom>
              <a:rect b="b" l="l" r="r" t="t"/>
              <a:pathLst>
                <a:path extrusionOk="0" h="439326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4393264"/>
                  </a:lnTo>
                  <a:lnTo>
                    <a:pt x="0" y="4393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0" name="Google Shape;380;p10"/>
            <p:cNvSpPr txBox="1"/>
            <p:nvPr/>
          </p:nvSpPr>
          <p:spPr>
            <a:xfrm>
              <a:off x="0" y="-152400"/>
              <a:ext cx="12594035" cy="454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6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Codificación y Decodificación con Huffman</a:t>
              </a:r>
              <a:endParaRPr/>
            </a:p>
          </p:txBody>
        </p:sp>
      </p:grpSp>
      <p:grpSp>
        <p:nvGrpSpPr>
          <p:cNvPr id="381" name="Google Shape;381;p10"/>
          <p:cNvGrpSpPr/>
          <p:nvPr/>
        </p:nvGrpSpPr>
        <p:grpSpPr>
          <a:xfrm>
            <a:off x="986284" y="4729312"/>
            <a:ext cx="4593050" cy="4039739"/>
            <a:chOff x="0" y="0"/>
            <a:chExt cx="6124067" cy="5386319"/>
          </a:xfrm>
        </p:grpSpPr>
        <p:sp>
          <p:nvSpPr>
            <p:cNvPr id="382" name="Google Shape;382;p10"/>
            <p:cNvSpPr/>
            <p:nvPr/>
          </p:nvSpPr>
          <p:spPr>
            <a:xfrm>
              <a:off x="7874" y="10514"/>
              <a:ext cx="6108192" cy="5365123"/>
            </a:xfrm>
            <a:custGeom>
              <a:rect b="b" l="l" r="r" t="t"/>
              <a:pathLst>
                <a:path extrusionOk="0" h="5365123" w="6108192">
                  <a:moveTo>
                    <a:pt x="0" y="212135"/>
                  </a:moveTo>
                  <a:cubicBezTo>
                    <a:pt x="0" y="94960"/>
                    <a:pt x="71247" y="0"/>
                    <a:pt x="159131" y="0"/>
                  </a:cubicBezTo>
                  <a:lnTo>
                    <a:pt x="5949188" y="0"/>
                  </a:lnTo>
                  <a:cubicBezTo>
                    <a:pt x="6036945" y="0"/>
                    <a:pt x="6108192" y="94960"/>
                    <a:pt x="6108192" y="211966"/>
                  </a:cubicBezTo>
                  <a:lnTo>
                    <a:pt x="6108192" y="5153156"/>
                  </a:lnTo>
                  <a:cubicBezTo>
                    <a:pt x="6108192" y="5270331"/>
                    <a:pt x="6036945" y="5365122"/>
                    <a:pt x="5949188" y="5365122"/>
                  </a:cubicBezTo>
                  <a:lnTo>
                    <a:pt x="159131" y="5365122"/>
                  </a:lnTo>
                  <a:cubicBezTo>
                    <a:pt x="71374" y="5365122"/>
                    <a:pt x="127" y="5270161"/>
                    <a:pt x="127" y="5153156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0"/>
            <p:cNvSpPr/>
            <p:nvPr/>
          </p:nvSpPr>
          <p:spPr>
            <a:xfrm>
              <a:off x="0" y="0"/>
              <a:ext cx="6124067" cy="5386319"/>
            </a:xfrm>
            <a:custGeom>
              <a:rect b="b" l="l" r="r" t="t"/>
              <a:pathLst>
                <a:path extrusionOk="0" h="5386319" w="6124067">
                  <a:moveTo>
                    <a:pt x="0" y="222649"/>
                  </a:moveTo>
                  <a:cubicBezTo>
                    <a:pt x="0" y="99709"/>
                    <a:pt x="74803" y="0"/>
                    <a:pt x="167005" y="0"/>
                  </a:cubicBezTo>
                  <a:lnTo>
                    <a:pt x="5957062" y="0"/>
                  </a:lnTo>
                  <a:lnTo>
                    <a:pt x="5957062" y="10514"/>
                  </a:lnTo>
                  <a:lnTo>
                    <a:pt x="5957062" y="0"/>
                  </a:lnTo>
                  <a:cubicBezTo>
                    <a:pt x="6049264" y="0"/>
                    <a:pt x="6124067" y="99709"/>
                    <a:pt x="6124067" y="222649"/>
                  </a:cubicBezTo>
                  <a:lnTo>
                    <a:pt x="6116193" y="222649"/>
                  </a:lnTo>
                  <a:lnTo>
                    <a:pt x="6124067" y="222649"/>
                  </a:lnTo>
                  <a:lnTo>
                    <a:pt x="6124067" y="5163670"/>
                  </a:lnTo>
                  <a:lnTo>
                    <a:pt x="6116193" y="5163670"/>
                  </a:lnTo>
                  <a:lnTo>
                    <a:pt x="6124067" y="5163670"/>
                  </a:lnTo>
                  <a:cubicBezTo>
                    <a:pt x="6124067" y="5286610"/>
                    <a:pt x="6049264" y="5386319"/>
                    <a:pt x="5957062" y="5386319"/>
                  </a:cubicBezTo>
                  <a:lnTo>
                    <a:pt x="5957062" y="5375806"/>
                  </a:lnTo>
                  <a:lnTo>
                    <a:pt x="5957062" y="5386319"/>
                  </a:lnTo>
                  <a:lnTo>
                    <a:pt x="167005" y="5386319"/>
                  </a:lnTo>
                  <a:lnTo>
                    <a:pt x="167005" y="5375806"/>
                  </a:lnTo>
                  <a:lnTo>
                    <a:pt x="167005" y="5386319"/>
                  </a:lnTo>
                  <a:cubicBezTo>
                    <a:pt x="74803" y="5386319"/>
                    <a:pt x="0" y="5286610"/>
                    <a:pt x="0" y="5163670"/>
                  </a:cubicBezTo>
                  <a:lnTo>
                    <a:pt x="0" y="222649"/>
                  </a:lnTo>
                  <a:lnTo>
                    <a:pt x="7874" y="222649"/>
                  </a:lnTo>
                  <a:lnTo>
                    <a:pt x="0" y="222649"/>
                  </a:lnTo>
                  <a:moveTo>
                    <a:pt x="15875" y="222649"/>
                  </a:moveTo>
                  <a:lnTo>
                    <a:pt x="15875" y="5163670"/>
                  </a:lnTo>
                  <a:lnTo>
                    <a:pt x="7874" y="5163670"/>
                  </a:lnTo>
                  <a:lnTo>
                    <a:pt x="15748" y="5163670"/>
                  </a:lnTo>
                  <a:cubicBezTo>
                    <a:pt x="15748" y="5274910"/>
                    <a:pt x="83439" y="5365123"/>
                    <a:pt x="166878" y="5365123"/>
                  </a:cubicBezTo>
                  <a:lnTo>
                    <a:pt x="5957062" y="5365123"/>
                  </a:lnTo>
                  <a:cubicBezTo>
                    <a:pt x="6040501" y="5365123"/>
                    <a:pt x="6108192" y="5274910"/>
                    <a:pt x="6108192" y="5163670"/>
                  </a:cubicBezTo>
                  <a:lnTo>
                    <a:pt x="6108192" y="222649"/>
                  </a:lnTo>
                  <a:cubicBezTo>
                    <a:pt x="6108192" y="111410"/>
                    <a:pt x="6040501" y="21197"/>
                    <a:pt x="5957062" y="21197"/>
                  </a:cubicBezTo>
                  <a:lnTo>
                    <a:pt x="167005" y="21197"/>
                  </a:lnTo>
                  <a:lnTo>
                    <a:pt x="167005" y="10514"/>
                  </a:lnTo>
                  <a:lnTo>
                    <a:pt x="167005" y="21197"/>
                  </a:lnTo>
                  <a:cubicBezTo>
                    <a:pt x="83566" y="21197"/>
                    <a:pt x="15875" y="111410"/>
                    <a:pt x="15875" y="222649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10"/>
          <p:cNvGrpSpPr/>
          <p:nvPr/>
        </p:nvGrpSpPr>
        <p:grpSpPr>
          <a:xfrm>
            <a:off x="1285280" y="4971158"/>
            <a:ext cx="3544044" cy="633413"/>
            <a:chOff x="0" y="-76200"/>
            <a:chExt cx="4725392" cy="844550"/>
          </a:xfrm>
        </p:grpSpPr>
        <p:sp>
          <p:nvSpPr>
            <p:cNvPr id="385" name="Google Shape;385;p10"/>
            <p:cNvSpPr/>
            <p:nvPr/>
          </p:nvSpPr>
          <p:spPr>
            <a:xfrm>
              <a:off x="0" y="0"/>
              <a:ext cx="4725392" cy="768350"/>
            </a:xfrm>
            <a:custGeom>
              <a:rect b="b" l="l" r="r" t="t"/>
              <a:pathLst>
                <a:path extrusionOk="0" h="7683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6" name="Google Shape;386;p10"/>
            <p:cNvSpPr txBox="1"/>
            <p:nvPr/>
          </p:nvSpPr>
          <p:spPr>
            <a:xfrm>
              <a:off x="0" y="-76200"/>
              <a:ext cx="4725392" cy="84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Codificación</a:t>
              </a:r>
              <a:endParaRPr/>
            </a:p>
          </p:txBody>
        </p:sp>
      </p:grpSp>
      <p:grpSp>
        <p:nvGrpSpPr>
          <p:cNvPr id="387" name="Google Shape;387;p10"/>
          <p:cNvGrpSpPr/>
          <p:nvPr/>
        </p:nvGrpSpPr>
        <p:grpSpPr>
          <a:xfrm>
            <a:off x="1285280" y="5768511"/>
            <a:ext cx="3994994" cy="2697097"/>
            <a:chOff x="0" y="-152400"/>
            <a:chExt cx="5326658" cy="3596129"/>
          </a:xfrm>
        </p:grpSpPr>
        <p:sp>
          <p:nvSpPr>
            <p:cNvPr id="388" name="Google Shape;388;p10"/>
            <p:cNvSpPr/>
            <p:nvPr/>
          </p:nvSpPr>
          <p:spPr>
            <a:xfrm>
              <a:off x="0" y="0"/>
              <a:ext cx="5326658" cy="3443729"/>
            </a:xfrm>
            <a:custGeom>
              <a:rect b="b" l="l" r="r" t="t"/>
              <a:pathLst>
                <a:path extrusionOk="0" h="3443729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3443729"/>
                  </a:lnTo>
                  <a:lnTo>
                    <a:pt x="0" y="34437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9" name="Google Shape;389;p10"/>
            <p:cNvSpPr txBox="1"/>
            <p:nvPr/>
          </p:nvSpPr>
          <p:spPr>
            <a:xfrm>
              <a:off x="0" y="-152400"/>
              <a:ext cx="5326658" cy="3596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Recorrer el árbol desde la raíz hasta el símbolo, asignando 0 para el camino izquierdo y 1 para el derecho.</a:t>
              </a:r>
              <a:endParaRPr/>
            </a:p>
          </p:txBody>
        </p:sp>
      </p:grpSp>
      <p:grpSp>
        <p:nvGrpSpPr>
          <p:cNvPr id="390" name="Google Shape;390;p10"/>
          <p:cNvGrpSpPr/>
          <p:nvPr/>
        </p:nvGrpSpPr>
        <p:grpSpPr>
          <a:xfrm>
            <a:off x="5850881" y="4729312"/>
            <a:ext cx="4593050" cy="4039739"/>
            <a:chOff x="0" y="0"/>
            <a:chExt cx="6124067" cy="5386319"/>
          </a:xfrm>
        </p:grpSpPr>
        <p:sp>
          <p:nvSpPr>
            <p:cNvPr id="391" name="Google Shape;391;p10"/>
            <p:cNvSpPr/>
            <p:nvPr/>
          </p:nvSpPr>
          <p:spPr>
            <a:xfrm>
              <a:off x="7874" y="10514"/>
              <a:ext cx="6108192" cy="5365123"/>
            </a:xfrm>
            <a:custGeom>
              <a:rect b="b" l="l" r="r" t="t"/>
              <a:pathLst>
                <a:path extrusionOk="0" h="5365123" w="6108192">
                  <a:moveTo>
                    <a:pt x="0" y="212135"/>
                  </a:moveTo>
                  <a:cubicBezTo>
                    <a:pt x="0" y="94960"/>
                    <a:pt x="71247" y="0"/>
                    <a:pt x="159131" y="0"/>
                  </a:cubicBezTo>
                  <a:lnTo>
                    <a:pt x="5949188" y="0"/>
                  </a:lnTo>
                  <a:cubicBezTo>
                    <a:pt x="6036945" y="0"/>
                    <a:pt x="6108192" y="94960"/>
                    <a:pt x="6108192" y="211966"/>
                  </a:cubicBezTo>
                  <a:lnTo>
                    <a:pt x="6108192" y="5153156"/>
                  </a:lnTo>
                  <a:cubicBezTo>
                    <a:pt x="6108192" y="5270331"/>
                    <a:pt x="6036945" y="5365122"/>
                    <a:pt x="5949188" y="5365122"/>
                  </a:cubicBezTo>
                  <a:lnTo>
                    <a:pt x="159131" y="5365122"/>
                  </a:lnTo>
                  <a:cubicBezTo>
                    <a:pt x="71374" y="5365122"/>
                    <a:pt x="127" y="5270161"/>
                    <a:pt x="127" y="5153156"/>
                  </a:cubicBezTo>
                  <a:close/>
                </a:path>
              </a:pathLst>
            </a:custGeom>
            <a:solidFill>
              <a:srgbClr val="56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0" y="0"/>
              <a:ext cx="6124067" cy="5386319"/>
            </a:xfrm>
            <a:custGeom>
              <a:rect b="b" l="l" r="r" t="t"/>
              <a:pathLst>
                <a:path extrusionOk="0" h="5386319" w="6124067">
                  <a:moveTo>
                    <a:pt x="0" y="222649"/>
                  </a:moveTo>
                  <a:cubicBezTo>
                    <a:pt x="0" y="99709"/>
                    <a:pt x="74803" y="0"/>
                    <a:pt x="167005" y="0"/>
                  </a:cubicBezTo>
                  <a:lnTo>
                    <a:pt x="5957062" y="0"/>
                  </a:lnTo>
                  <a:lnTo>
                    <a:pt x="5957062" y="10514"/>
                  </a:lnTo>
                  <a:lnTo>
                    <a:pt x="5957062" y="0"/>
                  </a:lnTo>
                  <a:cubicBezTo>
                    <a:pt x="6049264" y="0"/>
                    <a:pt x="6124067" y="99709"/>
                    <a:pt x="6124067" y="222649"/>
                  </a:cubicBezTo>
                  <a:lnTo>
                    <a:pt x="6116193" y="222649"/>
                  </a:lnTo>
                  <a:lnTo>
                    <a:pt x="6124067" y="222649"/>
                  </a:lnTo>
                  <a:lnTo>
                    <a:pt x="6124067" y="5163670"/>
                  </a:lnTo>
                  <a:lnTo>
                    <a:pt x="6116193" y="5163670"/>
                  </a:lnTo>
                  <a:lnTo>
                    <a:pt x="6124067" y="5163670"/>
                  </a:lnTo>
                  <a:cubicBezTo>
                    <a:pt x="6124067" y="5286610"/>
                    <a:pt x="6049264" y="5386319"/>
                    <a:pt x="5957062" y="5386319"/>
                  </a:cubicBezTo>
                  <a:lnTo>
                    <a:pt x="5957062" y="5375806"/>
                  </a:lnTo>
                  <a:lnTo>
                    <a:pt x="5957062" y="5386319"/>
                  </a:lnTo>
                  <a:lnTo>
                    <a:pt x="167005" y="5386319"/>
                  </a:lnTo>
                  <a:lnTo>
                    <a:pt x="167005" y="5375806"/>
                  </a:lnTo>
                  <a:lnTo>
                    <a:pt x="167005" y="5386319"/>
                  </a:lnTo>
                  <a:cubicBezTo>
                    <a:pt x="74803" y="5386319"/>
                    <a:pt x="0" y="5286610"/>
                    <a:pt x="0" y="5163670"/>
                  </a:cubicBezTo>
                  <a:lnTo>
                    <a:pt x="0" y="222649"/>
                  </a:lnTo>
                  <a:lnTo>
                    <a:pt x="7874" y="222649"/>
                  </a:lnTo>
                  <a:lnTo>
                    <a:pt x="0" y="222649"/>
                  </a:lnTo>
                  <a:moveTo>
                    <a:pt x="15875" y="222649"/>
                  </a:moveTo>
                  <a:lnTo>
                    <a:pt x="15875" y="5163670"/>
                  </a:lnTo>
                  <a:lnTo>
                    <a:pt x="7874" y="5163670"/>
                  </a:lnTo>
                  <a:lnTo>
                    <a:pt x="15748" y="5163670"/>
                  </a:lnTo>
                  <a:cubicBezTo>
                    <a:pt x="15748" y="5274910"/>
                    <a:pt x="83439" y="5365123"/>
                    <a:pt x="166878" y="5365123"/>
                  </a:cubicBezTo>
                  <a:lnTo>
                    <a:pt x="5957062" y="5365123"/>
                  </a:lnTo>
                  <a:cubicBezTo>
                    <a:pt x="6040501" y="5365123"/>
                    <a:pt x="6108192" y="5274910"/>
                    <a:pt x="6108192" y="5163670"/>
                  </a:cubicBezTo>
                  <a:lnTo>
                    <a:pt x="6108192" y="222649"/>
                  </a:lnTo>
                  <a:cubicBezTo>
                    <a:pt x="6108192" y="111410"/>
                    <a:pt x="6040501" y="21197"/>
                    <a:pt x="5957062" y="21197"/>
                  </a:cubicBezTo>
                  <a:lnTo>
                    <a:pt x="167005" y="21197"/>
                  </a:lnTo>
                  <a:lnTo>
                    <a:pt x="167005" y="10514"/>
                  </a:lnTo>
                  <a:lnTo>
                    <a:pt x="167005" y="21197"/>
                  </a:lnTo>
                  <a:cubicBezTo>
                    <a:pt x="83566" y="21197"/>
                    <a:pt x="15875" y="111410"/>
                    <a:pt x="15875" y="222649"/>
                  </a:cubicBezTo>
                  <a:close/>
                </a:path>
              </a:pathLst>
            </a:custGeom>
            <a:solidFill>
              <a:srgbClr val="2A1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0"/>
          <p:cNvGrpSpPr/>
          <p:nvPr/>
        </p:nvGrpSpPr>
        <p:grpSpPr>
          <a:xfrm>
            <a:off x="6149876" y="4971158"/>
            <a:ext cx="3544044" cy="633413"/>
            <a:chOff x="0" y="-76200"/>
            <a:chExt cx="4725392" cy="844550"/>
          </a:xfrm>
        </p:grpSpPr>
        <p:sp>
          <p:nvSpPr>
            <p:cNvPr id="394" name="Google Shape;394;p10"/>
            <p:cNvSpPr/>
            <p:nvPr/>
          </p:nvSpPr>
          <p:spPr>
            <a:xfrm>
              <a:off x="0" y="0"/>
              <a:ext cx="4725392" cy="768350"/>
            </a:xfrm>
            <a:custGeom>
              <a:rect b="b" l="l" r="r" t="t"/>
              <a:pathLst>
                <a:path extrusionOk="0" h="7683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68350"/>
                  </a:lnTo>
                  <a:lnTo>
                    <a:pt x="0" y="768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5" name="Google Shape;395;p10"/>
            <p:cNvSpPr txBox="1"/>
            <p:nvPr/>
          </p:nvSpPr>
          <p:spPr>
            <a:xfrm>
              <a:off x="0" y="-76200"/>
              <a:ext cx="4725392" cy="84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Decodificación</a:t>
              </a:r>
              <a:endParaRPr/>
            </a:p>
          </p:txBody>
        </p:sp>
      </p:grpSp>
      <p:grpSp>
        <p:nvGrpSpPr>
          <p:cNvPr id="396" name="Google Shape;396;p10"/>
          <p:cNvGrpSpPr/>
          <p:nvPr/>
        </p:nvGrpSpPr>
        <p:grpSpPr>
          <a:xfrm>
            <a:off x="6149876" y="5850175"/>
            <a:ext cx="3994994" cy="2697097"/>
            <a:chOff x="0" y="-152400"/>
            <a:chExt cx="5326658" cy="3596129"/>
          </a:xfrm>
        </p:grpSpPr>
        <p:sp>
          <p:nvSpPr>
            <p:cNvPr id="397" name="Google Shape;397;p10"/>
            <p:cNvSpPr/>
            <p:nvPr/>
          </p:nvSpPr>
          <p:spPr>
            <a:xfrm>
              <a:off x="0" y="0"/>
              <a:ext cx="5326658" cy="3443729"/>
            </a:xfrm>
            <a:custGeom>
              <a:rect b="b" l="l" r="r" t="t"/>
              <a:pathLst>
                <a:path extrusionOk="0" h="3443729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3443729"/>
                  </a:lnTo>
                  <a:lnTo>
                    <a:pt x="0" y="34437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8" name="Google Shape;398;p10"/>
            <p:cNvSpPr txBox="1"/>
            <p:nvPr/>
          </p:nvSpPr>
          <p:spPr>
            <a:xfrm>
              <a:off x="0" y="-152400"/>
              <a:ext cx="5326658" cy="3596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Arial"/>
                  <a:ea typeface="Arial"/>
                  <a:cs typeface="Arial"/>
                  <a:sym typeface="Arial"/>
                </a:rPr>
                <a:t>Recorrer el árbol de acuerdo a la secuencia de bits codificada para reconstruir el símbolo original.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</p:sp>
      <p:sp>
        <p:nvSpPr>
          <p:cNvPr id="408" name="Google Shape;408;p11"/>
          <p:cNvSpPr/>
          <p:nvPr/>
        </p:nvSpPr>
        <p:spPr>
          <a:xfrm>
            <a:off x="-188675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161719"/>
              </a:gs>
              <a:gs pos="100000">
                <a:srgbClr val="000000"/>
              </a:gs>
            </a:gsLst>
            <a:lin ang="0" scaled="0"/>
          </a:gradFill>
          <a:ln>
            <a:noFill/>
          </a:ln>
        </p:spPr>
      </p:sp>
      <p:grpSp>
        <p:nvGrpSpPr>
          <p:cNvPr id="409" name="Google Shape;409;p11"/>
          <p:cNvGrpSpPr/>
          <p:nvPr/>
        </p:nvGrpSpPr>
        <p:grpSpPr>
          <a:xfrm>
            <a:off x="1729875" y="728359"/>
            <a:ext cx="14828250" cy="1147456"/>
            <a:chOff x="0" y="-142875"/>
            <a:chExt cx="19771000" cy="1529942"/>
          </a:xfrm>
        </p:grpSpPr>
        <p:sp>
          <p:nvSpPr>
            <p:cNvPr id="410" name="Google Shape;410;p11"/>
            <p:cNvSpPr/>
            <p:nvPr/>
          </p:nvSpPr>
          <p:spPr>
            <a:xfrm>
              <a:off x="0" y="0"/>
              <a:ext cx="19770999" cy="1387067"/>
            </a:xfrm>
            <a:custGeom>
              <a:rect b="b" l="l" r="r" t="t"/>
              <a:pathLst>
                <a:path extrusionOk="0" h="1387067" w="19770999">
                  <a:moveTo>
                    <a:pt x="0" y="0"/>
                  </a:moveTo>
                  <a:lnTo>
                    <a:pt x="19770999" y="0"/>
                  </a:lnTo>
                  <a:lnTo>
                    <a:pt x="19770999" y="1387067"/>
                  </a:lnTo>
                  <a:lnTo>
                    <a:pt x="0" y="13870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1" name="Google Shape;411;p11"/>
            <p:cNvSpPr txBox="1"/>
            <p:nvPr/>
          </p:nvSpPr>
          <p:spPr>
            <a:xfrm>
              <a:off x="0" y="-142875"/>
              <a:ext cx="19771000" cy="1529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96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Aplicaciones de la Compresión de Datos</a:t>
              </a:r>
              <a:endParaRPr/>
            </a:p>
          </p:txBody>
        </p:sp>
      </p:grpSp>
      <p:sp>
        <p:nvSpPr>
          <p:cNvPr descr="preencoded.png" id="412" name="Google Shape;412;p11"/>
          <p:cNvSpPr/>
          <p:nvPr/>
        </p:nvSpPr>
        <p:spPr>
          <a:xfrm>
            <a:off x="851405" y="2696660"/>
            <a:ext cx="4310643" cy="2664173"/>
          </a:xfrm>
          <a:custGeom>
            <a:rect b="b" l="l" r="r" t="t"/>
            <a:pathLst>
              <a:path extrusionOk="0" h="2664173" w="4310643">
                <a:moveTo>
                  <a:pt x="0" y="0"/>
                </a:moveTo>
                <a:lnTo>
                  <a:pt x="4310643" y="0"/>
                </a:lnTo>
                <a:lnTo>
                  <a:pt x="4310643" y="2664173"/>
                </a:lnTo>
                <a:lnTo>
                  <a:pt x="0" y="26641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85" t="0"/>
            </a:stretch>
          </a:blipFill>
          <a:ln>
            <a:noFill/>
          </a:ln>
        </p:spPr>
      </p:sp>
      <p:grpSp>
        <p:nvGrpSpPr>
          <p:cNvPr id="413" name="Google Shape;413;p11"/>
          <p:cNvGrpSpPr/>
          <p:nvPr/>
        </p:nvGrpSpPr>
        <p:grpSpPr>
          <a:xfrm>
            <a:off x="851405" y="5526927"/>
            <a:ext cx="3544044" cy="821132"/>
            <a:chOff x="0" y="-85725"/>
            <a:chExt cx="4725392" cy="1094842"/>
          </a:xfrm>
        </p:grpSpPr>
        <p:sp>
          <p:nvSpPr>
            <p:cNvPr id="414" name="Google Shape;414;p11"/>
            <p:cNvSpPr/>
            <p:nvPr/>
          </p:nvSpPr>
          <p:spPr>
            <a:xfrm>
              <a:off x="0" y="0"/>
              <a:ext cx="4725392" cy="1009117"/>
            </a:xfrm>
            <a:custGeom>
              <a:rect b="b" l="l" r="r" t="t"/>
              <a:pathLst>
                <a:path extrusionOk="0" h="1009117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1009117"/>
                  </a:lnTo>
                  <a:lnTo>
                    <a:pt x="0" y="1009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5" name="Google Shape;415;p11"/>
            <p:cNvSpPr txBox="1"/>
            <p:nvPr/>
          </p:nvSpPr>
          <p:spPr>
            <a:xfrm>
              <a:off x="0" y="-85725"/>
              <a:ext cx="4725392" cy="1094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Navegación Web</a:t>
              </a:r>
              <a:endParaRPr/>
            </a:p>
          </p:txBody>
        </p:sp>
      </p:grpSp>
      <p:grpSp>
        <p:nvGrpSpPr>
          <p:cNvPr id="416" name="Google Shape;416;p11"/>
          <p:cNvGrpSpPr/>
          <p:nvPr/>
        </p:nvGrpSpPr>
        <p:grpSpPr>
          <a:xfrm>
            <a:off x="851405" y="6462359"/>
            <a:ext cx="4310643" cy="3015655"/>
            <a:chOff x="0" y="-152400"/>
            <a:chExt cx="5747525" cy="4020874"/>
          </a:xfrm>
        </p:grpSpPr>
        <p:sp>
          <p:nvSpPr>
            <p:cNvPr id="417" name="Google Shape;417;p11"/>
            <p:cNvSpPr/>
            <p:nvPr/>
          </p:nvSpPr>
          <p:spPr>
            <a:xfrm>
              <a:off x="0" y="0"/>
              <a:ext cx="5747524" cy="3868474"/>
            </a:xfrm>
            <a:custGeom>
              <a:rect b="b" l="l" r="r" t="t"/>
              <a:pathLst>
                <a:path extrusionOk="0" h="3868474" w="5747524">
                  <a:moveTo>
                    <a:pt x="0" y="0"/>
                  </a:moveTo>
                  <a:lnTo>
                    <a:pt x="5747524" y="0"/>
                  </a:lnTo>
                  <a:lnTo>
                    <a:pt x="5747524" y="3868474"/>
                  </a:lnTo>
                  <a:lnTo>
                    <a:pt x="0" y="3868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8" name="Google Shape;418;p11"/>
            <p:cNvSpPr txBox="1"/>
            <p:nvPr/>
          </p:nvSpPr>
          <p:spPr>
            <a:xfrm>
              <a:off x="0" y="-152400"/>
              <a:ext cx="5747525" cy="4020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Optimiza la velocidad de carga de páginas web y reduce el consumo de ancho de banda.</a:t>
              </a:r>
              <a:endParaRPr/>
            </a:p>
          </p:txBody>
        </p:sp>
      </p:grpSp>
      <p:sp>
        <p:nvSpPr>
          <p:cNvPr descr="preencoded.png" id="419" name="Google Shape;419;p11"/>
          <p:cNvSpPr/>
          <p:nvPr/>
        </p:nvSpPr>
        <p:spPr>
          <a:xfrm>
            <a:off x="6598430" y="2696660"/>
            <a:ext cx="4310724" cy="2664173"/>
          </a:xfrm>
          <a:custGeom>
            <a:rect b="b" l="l" r="r" t="t"/>
            <a:pathLst>
              <a:path extrusionOk="0" h="2664173" w="4310724">
                <a:moveTo>
                  <a:pt x="0" y="0"/>
                </a:moveTo>
                <a:lnTo>
                  <a:pt x="4310724" y="0"/>
                </a:lnTo>
                <a:lnTo>
                  <a:pt x="4310724" y="2664173"/>
                </a:lnTo>
                <a:lnTo>
                  <a:pt x="0" y="26641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3" t="0"/>
            </a:stretch>
          </a:blipFill>
          <a:ln>
            <a:noFill/>
          </a:ln>
        </p:spPr>
      </p:sp>
      <p:grpSp>
        <p:nvGrpSpPr>
          <p:cNvPr id="420" name="Google Shape;420;p11"/>
          <p:cNvGrpSpPr/>
          <p:nvPr/>
        </p:nvGrpSpPr>
        <p:grpSpPr>
          <a:xfrm>
            <a:off x="6537730" y="5526927"/>
            <a:ext cx="4432125" cy="748650"/>
            <a:chOff x="0" y="-85725"/>
            <a:chExt cx="5909500" cy="998200"/>
          </a:xfrm>
        </p:grpSpPr>
        <p:sp>
          <p:nvSpPr>
            <p:cNvPr id="421" name="Google Shape;421;p11"/>
            <p:cNvSpPr/>
            <p:nvPr/>
          </p:nvSpPr>
          <p:spPr>
            <a:xfrm>
              <a:off x="0" y="0"/>
              <a:ext cx="5909500" cy="912475"/>
            </a:xfrm>
            <a:custGeom>
              <a:rect b="b" l="l" r="r" t="t"/>
              <a:pathLst>
                <a:path extrusionOk="0" h="912475" w="5909500">
                  <a:moveTo>
                    <a:pt x="0" y="0"/>
                  </a:moveTo>
                  <a:lnTo>
                    <a:pt x="5909500" y="0"/>
                  </a:lnTo>
                  <a:lnTo>
                    <a:pt x="5909500" y="912475"/>
                  </a:lnTo>
                  <a:lnTo>
                    <a:pt x="0" y="912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2" name="Google Shape;422;p11"/>
            <p:cNvSpPr txBox="1"/>
            <p:nvPr/>
          </p:nvSpPr>
          <p:spPr>
            <a:xfrm>
              <a:off x="0" y="-85725"/>
              <a:ext cx="5909500" cy="9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Transmisión Multimedia</a:t>
              </a:r>
              <a:endParaRPr/>
            </a:p>
          </p:txBody>
        </p:sp>
      </p:grpSp>
      <p:grpSp>
        <p:nvGrpSpPr>
          <p:cNvPr id="423" name="Google Shape;423;p11"/>
          <p:cNvGrpSpPr/>
          <p:nvPr/>
        </p:nvGrpSpPr>
        <p:grpSpPr>
          <a:xfrm>
            <a:off x="6598430" y="6462359"/>
            <a:ext cx="4432126" cy="2347507"/>
            <a:chOff x="0" y="-152400"/>
            <a:chExt cx="5909501" cy="3130010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5909501" cy="2977610"/>
            </a:xfrm>
            <a:custGeom>
              <a:rect b="b" l="l" r="r" t="t"/>
              <a:pathLst>
                <a:path extrusionOk="0" h="2977610" w="5909501">
                  <a:moveTo>
                    <a:pt x="0" y="0"/>
                  </a:moveTo>
                  <a:lnTo>
                    <a:pt x="5909501" y="0"/>
                  </a:lnTo>
                  <a:lnTo>
                    <a:pt x="5909501" y="2977610"/>
                  </a:lnTo>
                  <a:lnTo>
                    <a:pt x="0" y="2977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5" name="Google Shape;425;p11"/>
            <p:cNvSpPr txBox="1"/>
            <p:nvPr/>
          </p:nvSpPr>
          <p:spPr>
            <a:xfrm>
              <a:off x="0" y="-152400"/>
              <a:ext cx="5909500" cy="3130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Permite la transmisión de videos y música de alta calidad a través de conexiones de red limitadas.</a:t>
              </a:r>
              <a:endParaRPr/>
            </a:p>
          </p:txBody>
        </p:sp>
      </p:grpSp>
      <p:sp>
        <p:nvSpPr>
          <p:cNvPr id="426" name="Google Shape;426;p11"/>
          <p:cNvSpPr/>
          <p:nvPr/>
        </p:nvSpPr>
        <p:spPr>
          <a:xfrm>
            <a:off x="12345536" y="2696660"/>
            <a:ext cx="4150540" cy="2664172"/>
          </a:xfrm>
          <a:custGeom>
            <a:rect b="b" l="l" r="r" t="t"/>
            <a:pathLst>
              <a:path extrusionOk="0" h="2664172" w="4150540">
                <a:moveTo>
                  <a:pt x="0" y="0"/>
                </a:moveTo>
                <a:lnTo>
                  <a:pt x="4150540" y="0"/>
                </a:lnTo>
                <a:lnTo>
                  <a:pt x="4150540" y="2664173"/>
                </a:lnTo>
                <a:lnTo>
                  <a:pt x="0" y="26641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852" l="0" r="0" t="-10853"/>
            </a:stretch>
          </a:blipFill>
          <a:ln>
            <a:noFill/>
          </a:ln>
        </p:spPr>
      </p:sp>
      <p:grpSp>
        <p:nvGrpSpPr>
          <p:cNvPr id="427" name="Google Shape;427;p11"/>
          <p:cNvGrpSpPr/>
          <p:nvPr/>
        </p:nvGrpSpPr>
        <p:grpSpPr>
          <a:xfrm>
            <a:off x="12627121" y="5599409"/>
            <a:ext cx="4432125" cy="748650"/>
            <a:chOff x="0" y="-85725"/>
            <a:chExt cx="5909500" cy="998200"/>
          </a:xfrm>
        </p:grpSpPr>
        <p:sp>
          <p:nvSpPr>
            <p:cNvPr id="428" name="Google Shape;428;p11"/>
            <p:cNvSpPr/>
            <p:nvPr/>
          </p:nvSpPr>
          <p:spPr>
            <a:xfrm>
              <a:off x="0" y="0"/>
              <a:ext cx="5909500" cy="912475"/>
            </a:xfrm>
            <a:custGeom>
              <a:rect b="b" l="l" r="r" t="t"/>
              <a:pathLst>
                <a:path extrusionOk="0" h="912475" w="5909500">
                  <a:moveTo>
                    <a:pt x="0" y="0"/>
                  </a:moveTo>
                  <a:lnTo>
                    <a:pt x="5909500" y="0"/>
                  </a:lnTo>
                  <a:lnTo>
                    <a:pt x="5909500" y="912475"/>
                  </a:lnTo>
                  <a:lnTo>
                    <a:pt x="0" y="912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9" name="Google Shape;429;p11"/>
            <p:cNvSpPr txBox="1"/>
            <p:nvPr/>
          </p:nvSpPr>
          <p:spPr>
            <a:xfrm>
              <a:off x="0" y="-85725"/>
              <a:ext cx="5909500" cy="9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50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Almacenamiento</a:t>
              </a:r>
              <a:endParaRPr/>
            </a:p>
          </p:txBody>
        </p:sp>
      </p:grpSp>
      <p:grpSp>
        <p:nvGrpSpPr>
          <p:cNvPr id="430" name="Google Shape;430;p11"/>
          <p:cNvGrpSpPr/>
          <p:nvPr/>
        </p:nvGrpSpPr>
        <p:grpSpPr>
          <a:xfrm>
            <a:off x="12345536" y="6462359"/>
            <a:ext cx="4432126" cy="2347507"/>
            <a:chOff x="0" y="-152400"/>
            <a:chExt cx="5909501" cy="3130010"/>
          </a:xfrm>
        </p:grpSpPr>
        <p:sp>
          <p:nvSpPr>
            <p:cNvPr id="431" name="Google Shape;431;p11"/>
            <p:cNvSpPr/>
            <p:nvPr/>
          </p:nvSpPr>
          <p:spPr>
            <a:xfrm>
              <a:off x="0" y="0"/>
              <a:ext cx="5909501" cy="2977610"/>
            </a:xfrm>
            <a:custGeom>
              <a:rect b="b" l="l" r="r" t="t"/>
              <a:pathLst>
                <a:path extrusionOk="0" h="2977610" w="5909501">
                  <a:moveTo>
                    <a:pt x="0" y="0"/>
                  </a:moveTo>
                  <a:lnTo>
                    <a:pt x="5909501" y="0"/>
                  </a:lnTo>
                  <a:lnTo>
                    <a:pt x="5909501" y="2977610"/>
                  </a:lnTo>
                  <a:lnTo>
                    <a:pt x="0" y="2977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1"/>
            <p:cNvSpPr txBox="1"/>
            <p:nvPr/>
          </p:nvSpPr>
          <p:spPr>
            <a:xfrm>
              <a:off x="0" y="-152400"/>
              <a:ext cx="5909500" cy="3130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54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E5E0DF"/>
                  </a:solidFill>
                  <a:latin typeface="Inter"/>
                  <a:ea typeface="Inter"/>
                  <a:cs typeface="Inter"/>
                  <a:sym typeface="Inter"/>
                </a:rPr>
                <a:t>Sistemas de archivos (ZIP, RAR), bases de datos.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38" name="Google Shape;438;p12"/>
          <p:cNvSpPr txBox="1"/>
          <p:nvPr/>
        </p:nvSpPr>
        <p:spPr>
          <a:xfrm>
            <a:off x="6255876" y="4309117"/>
            <a:ext cx="6006343" cy="222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Huffman 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Encriptación</a:t>
            </a:r>
            <a:endParaRPr/>
          </a:p>
          <a:p>
            <a:pPr indent="-377825" lvl="1" marL="755651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Desencriptación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444" name="Google Shape;444;p13"/>
          <p:cNvSpPr txBox="1"/>
          <p:nvPr/>
        </p:nvSpPr>
        <p:spPr>
          <a:xfrm>
            <a:off x="3426618" y="2911212"/>
            <a:ext cx="11664859" cy="8826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Compresión sin pérdida:</a:t>
            </a:r>
            <a:endParaRPr/>
          </a:p>
          <a:p>
            <a:pPr indent="-453623" lvl="2" marL="136087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⚬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Sayood, K. (2017). Introduction to Data Compression (5th ed.). Morgan Kaufmann.</a:t>
            </a:r>
            <a:endParaRPr/>
          </a:p>
          <a:p>
            <a:pPr indent="-453623" lvl="2" marL="136087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⚬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Cover, T. M., &amp; Thomas, J. A. (2006). Elements of Information Theory. Wiley.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y técnicas modernas:</a:t>
            </a:r>
            <a:endParaRPr/>
          </a:p>
          <a:p>
            <a:pPr indent="-453623" lvl="2" marL="136087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⚬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Salomon, D. (2007). Data Compression: The Complete Reference (4th ed.). Springer.</a:t>
            </a:r>
            <a:endParaRPr/>
          </a:p>
          <a:p>
            <a:pPr indent="-453623" lvl="2" marL="136087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1"/>
              <a:buFont typeface="Arial"/>
              <a:buChar char="⚬"/>
            </a:pPr>
            <a:r>
              <a:rPr b="0" i="0" lang="en-US" sz="315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Nelson, M., &amp; Gailly, J. (1995). The Data Compression Book. M&amp;T Books.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61719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4"/>
          <p:cNvSpPr txBox="1"/>
          <p:nvPr/>
        </p:nvSpPr>
        <p:spPr>
          <a:xfrm>
            <a:off x="4437795" y="3389104"/>
            <a:ext cx="8658828" cy="24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2" name="Google Shape;452;p14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