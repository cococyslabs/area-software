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Barlow"/>
      <p:regular r:id="rId17"/>
    </p:embeddedFont>
    <p:embeddedFont>
      <p:font typeface="Barlow"/>
      <p:regular r:id="rId18"/>
    </p:embeddedFont>
    <p:embeddedFont>
      <p:font typeface="Barlow"/>
      <p:regular r:id="rId19"/>
    </p:embeddedFont>
    <p:embeddedFont>
      <p:font typeface="Barlow"/>
      <p:regular r:id="rId20"/>
    </p:embeddedFont>
    <p:embeddedFont>
      <p:font typeface="Montserrat"/>
      <p:regular r:id="rId21"/>
    </p:embeddedFont>
    <p:embeddedFont>
      <p:font typeface="Montserrat"/>
      <p:regular r:id="rId22"/>
    </p:embeddedFont>
    <p:embeddedFont>
      <p:font typeface="Montserrat"/>
      <p:regular r:id="rId23"/>
    </p:embeddedFont>
    <p:embeddedFont>
      <p:font typeface="Montserrat"/>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0.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8309" y="2070973"/>
            <a:ext cx="5701546" cy="712708"/>
          </a:xfrm>
          <a:prstGeom prst="rect">
            <a:avLst/>
          </a:prstGeom>
          <a:noFill/>
          <a:ln/>
        </p:spPr>
        <p:txBody>
          <a:bodyPr wrap="none" lIns="0" tIns="0" rIns="0" bIns="0" rtlCol="0" anchor="t"/>
          <a:lstStyle/>
          <a:p>
            <a:pP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Introducción a DevOps</a:t>
            </a:r>
            <a:endParaRPr lang="en-US" sz="4450" dirty="0"/>
          </a:p>
        </p:txBody>
      </p:sp>
      <p:sp>
        <p:nvSpPr>
          <p:cNvPr id="4" name="Text 1"/>
          <p:cNvSpPr/>
          <p:nvPr/>
        </p:nvSpPr>
        <p:spPr>
          <a:xfrm>
            <a:off x="758309" y="3108603"/>
            <a:ext cx="7627382" cy="242697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DevOps es una metodología de trabajo que combina las prácticas de desarrollo de software (Development) con las de operaciones de tecnología (Operations). Su objetivo principal es acortar el ciclo de desarrollo de software y proporcionar de manera continua productos y servicios de mayor calidad. Esta integración entre equipos y procesos permite a las organizaciones responder de manera más ágil a los cambios y necesidades del mercado.</a:t>
            </a:r>
            <a:endParaRPr lang="en-US" sz="1700" dirty="0"/>
          </a:p>
        </p:txBody>
      </p:sp>
      <p:sp>
        <p:nvSpPr>
          <p:cNvPr id="5" name="Shape 2"/>
          <p:cNvSpPr/>
          <p:nvPr/>
        </p:nvSpPr>
        <p:spPr>
          <a:xfrm>
            <a:off x="758309" y="5795486"/>
            <a:ext cx="346591" cy="346591"/>
          </a:xfrm>
          <a:prstGeom prst="roundRect">
            <a:avLst>
              <a:gd name="adj" fmla="val 26380043"/>
            </a:avLst>
          </a:prstGeom>
          <a:noFill/>
          <a:ln w="7620">
            <a:solidFill>
              <a:srgbClr val="FFFFFF"/>
            </a:solidFill>
            <a:prstDash val="solid"/>
          </a:ln>
        </p:spPr>
      </p:sp>
      <p:pic>
        <p:nvPicPr>
          <p:cNvPr id="6" name="Image 1" descr="preencoded.png">    </p:cNvPr>
          <p:cNvPicPr>
            <a:picLocks noChangeAspect="1"/>
          </p:cNvPicPr>
          <p:nvPr/>
        </p:nvPicPr>
        <p:blipFill>
          <a:blip r:embed="rId2"/>
          <a:stretch>
            <a:fillRect/>
          </a:stretch>
        </p:blipFill>
        <p:spPr>
          <a:xfrm>
            <a:off x="765929" y="5803106"/>
            <a:ext cx="331351" cy="331351"/>
          </a:xfrm>
          <a:prstGeom prst="rect">
            <a:avLst/>
          </a:prstGeom>
        </p:spPr>
      </p:pic>
      <p:sp>
        <p:nvSpPr>
          <p:cNvPr id="7" name="Text 3"/>
          <p:cNvSpPr/>
          <p:nvPr/>
        </p:nvSpPr>
        <p:spPr>
          <a:xfrm>
            <a:off x="1213128" y="5779294"/>
            <a:ext cx="4793694" cy="379214"/>
          </a:xfrm>
          <a:prstGeom prst="rect">
            <a:avLst/>
          </a:prstGeom>
          <a:noFill/>
          <a:ln/>
        </p:spPr>
        <p:txBody>
          <a:bodyPr wrap="none" lIns="0" tIns="0" rIns="0" bIns="0" rtlCol="0" anchor="t"/>
          <a:lstStyle/>
          <a:p>
            <a:pPr algn="l" indent="0" marL="0">
              <a:lnSpc>
                <a:spcPts val="2950"/>
              </a:lnSpc>
              <a:buNone/>
            </a:pPr>
            <a:r>
              <a:rPr lang="en-US" sz="2100" b="1" dirty="0">
                <a:solidFill>
                  <a:srgbClr val="272525"/>
                </a:solidFill>
                <a:latin typeface="Montserrat Bold" pitchFamily="34" charset="0"/>
                <a:ea typeface="Montserrat Bold" pitchFamily="34" charset="-122"/>
                <a:cs typeface="Montserrat Bold" pitchFamily="34" charset="-120"/>
              </a:rPr>
              <a:t>by MIKE LEONEL MOLINA GARCIA</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56868" y="623768"/>
            <a:ext cx="7830264" cy="1234678"/>
          </a:xfrm>
          <a:prstGeom prst="rect">
            <a:avLst/>
          </a:prstGeom>
          <a:noFill/>
          <a:ln/>
        </p:spPr>
        <p:txBody>
          <a:bodyPr wrap="square" lIns="0" tIns="0" rIns="0" bIns="0" rtlCol="0" anchor="t"/>
          <a:lstStyle/>
          <a:p>
            <a:pPr indent="0" marL="0">
              <a:lnSpc>
                <a:spcPts val="4850"/>
              </a:lnSpc>
              <a:buNone/>
            </a:pPr>
            <a:r>
              <a:rPr lang="en-US" sz="3850" b="1" dirty="0">
                <a:solidFill>
                  <a:srgbClr val="7068F4"/>
                </a:solidFill>
                <a:latin typeface="Barlow Bold" pitchFamily="34" charset="0"/>
                <a:ea typeface="Barlow Bold" pitchFamily="34" charset="-122"/>
                <a:cs typeface="Barlow Bold" pitchFamily="34" charset="-120"/>
              </a:rPr>
              <a:t>¿Qué es DevOps y por qué es importante?</a:t>
            </a:r>
            <a:endParaRPr lang="en-US" sz="3850" dirty="0"/>
          </a:p>
        </p:txBody>
      </p:sp>
      <p:sp>
        <p:nvSpPr>
          <p:cNvPr id="4" name="Shape 1"/>
          <p:cNvSpPr/>
          <p:nvPr/>
        </p:nvSpPr>
        <p:spPr>
          <a:xfrm>
            <a:off x="926902" y="2139910"/>
            <a:ext cx="22860" cy="5465921"/>
          </a:xfrm>
          <a:prstGeom prst="roundRect">
            <a:avLst>
              <a:gd name="adj" fmla="val 738932"/>
            </a:avLst>
          </a:prstGeom>
          <a:solidFill>
            <a:srgbClr val="C1C3D0"/>
          </a:solidFill>
          <a:ln/>
        </p:spPr>
      </p:sp>
      <p:sp>
        <p:nvSpPr>
          <p:cNvPr id="5" name="Shape 2"/>
          <p:cNvSpPr/>
          <p:nvPr/>
        </p:nvSpPr>
        <p:spPr>
          <a:xfrm>
            <a:off x="1126569" y="2550676"/>
            <a:ext cx="656868" cy="22860"/>
          </a:xfrm>
          <a:prstGeom prst="roundRect">
            <a:avLst>
              <a:gd name="adj" fmla="val 738932"/>
            </a:avLst>
          </a:prstGeom>
          <a:solidFill>
            <a:srgbClr val="C1C3D0"/>
          </a:solidFill>
          <a:ln/>
        </p:spPr>
      </p:sp>
      <p:sp>
        <p:nvSpPr>
          <p:cNvPr id="6" name="Shape 3"/>
          <p:cNvSpPr/>
          <p:nvPr/>
        </p:nvSpPr>
        <p:spPr>
          <a:xfrm>
            <a:off x="727234" y="2351008"/>
            <a:ext cx="422196" cy="422196"/>
          </a:xfrm>
          <a:prstGeom prst="roundRect">
            <a:avLst>
              <a:gd name="adj" fmla="val 40010"/>
            </a:avLst>
          </a:prstGeom>
          <a:solidFill>
            <a:srgbClr val="EEEFF5"/>
          </a:solidFill>
          <a:ln/>
          <a:effectLst>
            <a:outerShdw sx="100000" sy="100000" kx="0" ky="0" algn="bl" rotWithShape="0" blurRad="45720" dist="22860" dir="13500000">
              <a:srgbClr val="ffffff">
                <a:alpha val="70000"/>
              </a:srgbClr>
            </a:outerShdw>
          </a:effectLst>
        </p:spPr>
      </p:sp>
      <p:sp>
        <p:nvSpPr>
          <p:cNvPr id="7" name="Text 4"/>
          <p:cNvSpPr/>
          <p:nvPr/>
        </p:nvSpPr>
        <p:spPr>
          <a:xfrm>
            <a:off x="885825" y="2413873"/>
            <a:ext cx="104894" cy="296347"/>
          </a:xfrm>
          <a:prstGeom prst="rect">
            <a:avLst/>
          </a:prstGeom>
          <a:noFill/>
          <a:ln/>
        </p:spPr>
        <p:txBody>
          <a:bodyPr wrap="none" lIns="0" tIns="0" rIns="0" bIns="0" rtlCol="0" anchor="t"/>
          <a:lstStyle/>
          <a:p>
            <a:pPr algn="ctr" indent="0" marL="0">
              <a:lnSpc>
                <a:spcPts val="2300"/>
              </a:lnSpc>
              <a:buNone/>
            </a:pPr>
            <a:r>
              <a:rPr lang="en-US" sz="2300" b="1" dirty="0">
                <a:solidFill>
                  <a:srgbClr val="272525"/>
                </a:solidFill>
                <a:latin typeface="Barlow Bold" pitchFamily="34" charset="0"/>
                <a:ea typeface="Barlow Bold" pitchFamily="34" charset="-122"/>
                <a:cs typeface="Barlow Bold" pitchFamily="34" charset="-120"/>
              </a:rPr>
              <a:t>1</a:t>
            </a:r>
            <a:endParaRPr lang="en-US" sz="2300" dirty="0"/>
          </a:p>
        </p:txBody>
      </p:sp>
      <p:sp>
        <p:nvSpPr>
          <p:cNvPr id="8" name="Text 5"/>
          <p:cNvSpPr/>
          <p:nvPr/>
        </p:nvSpPr>
        <p:spPr>
          <a:xfrm>
            <a:off x="1970603" y="2327553"/>
            <a:ext cx="2469475" cy="308610"/>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Barlow Bold" pitchFamily="34" charset="0"/>
                <a:ea typeface="Barlow Bold" pitchFamily="34" charset="-122"/>
                <a:cs typeface="Barlow Bold" pitchFamily="34" charset="-120"/>
              </a:rPr>
              <a:t>Colaboración</a:t>
            </a:r>
            <a:endParaRPr lang="en-US" sz="1900" dirty="0"/>
          </a:p>
        </p:txBody>
      </p:sp>
      <p:sp>
        <p:nvSpPr>
          <p:cNvPr id="9" name="Text 6"/>
          <p:cNvSpPr/>
          <p:nvPr/>
        </p:nvSpPr>
        <p:spPr>
          <a:xfrm>
            <a:off x="1970603" y="2748677"/>
            <a:ext cx="6516529" cy="900470"/>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DevOps fomenta una cultura de colaboración entre los equipos de desarrollo y operaciones, rompiendo silos y mejorando la comunicación y la coordinación entre ambos.</a:t>
            </a:r>
            <a:endParaRPr lang="en-US" sz="1450" dirty="0"/>
          </a:p>
        </p:txBody>
      </p:sp>
      <p:sp>
        <p:nvSpPr>
          <p:cNvPr id="10" name="Shape 7"/>
          <p:cNvSpPr/>
          <p:nvPr/>
        </p:nvSpPr>
        <p:spPr>
          <a:xfrm>
            <a:off x="1126569" y="4435197"/>
            <a:ext cx="656868" cy="22860"/>
          </a:xfrm>
          <a:prstGeom prst="roundRect">
            <a:avLst>
              <a:gd name="adj" fmla="val 738932"/>
            </a:avLst>
          </a:prstGeom>
          <a:solidFill>
            <a:srgbClr val="C1C3D0"/>
          </a:solidFill>
          <a:ln/>
        </p:spPr>
      </p:sp>
      <p:sp>
        <p:nvSpPr>
          <p:cNvPr id="11" name="Shape 8"/>
          <p:cNvSpPr/>
          <p:nvPr/>
        </p:nvSpPr>
        <p:spPr>
          <a:xfrm>
            <a:off x="727234" y="4235529"/>
            <a:ext cx="422196" cy="422196"/>
          </a:xfrm>
          <a:prstGeom prst="roundRect">
            <a:avLst>
              <a:gd name="adj" fmla="val 40010"/>
            </a:avLst>
          </a:prstGeom>
          <a:solidFill>
            <a:srgbClr val="EEEFF5"/>
          </a:solidFill>
          <a:ln/>
          <a:effectLst>
            <a:outerShdw sx="100000" sy="100000" kx="0" ky="0" algn="bl" rotWithShape="0" blurRad="45720" dist="22860" dir="13500000">
              <a:srgbClr val="ffffff">
                <a:alpha val="70000"/>
              </a:srgbClr>
            </a:outerShdw>
          </a:effectLst>
        </p:spPr>
      </p:sp>
      <p:sp>
        <p:nvSpPr>
          <p:cNvPr id="12" name="Text 9"/>
          <p:cNvSpPr/>
          <p:nvPr/>
        </p:nvSpPr>
        <p:spPr>
          <a:xfrm>
            <a:off x="855345" y="4298394"/>
            <a:ext cx="165973" cy="296347"/>
          </a:xfrm>
          <a:prstGeom prst="rect">
            <a:avLst/>
          </a:prstGeom>
          <a:noFill/>
          <a:ln/>
        </p:spPr>
        <p:txBody>
          <a:bodyPr wrap="none" lIns="0" tIns="0" rIns="0" bIns="0" rtlCol="0" anchor="t"/>
          <a:lstStyle/>
          <a:p>
            <a:pPr algn="ctr" indent="0" marL="0">
              <a:lnSpc>
                <a:spcPts val="2300"/>
              </a:lnSpc>
              <a:buNone/>
            </a:pPr>
            <a:r>
              <a:rPr lang="en-US" sz="2300" b="1" dirty="0">
                <a:solidFill>
                  <a:srgbClr val="272525"/>
                </a:solidFill>
                <a:latin typeface="Barlow Bold" pitchFamily="34" charset="0"/>
                <a:ea typeface="Barlow Bold" pitchFamily="34" charset="-122"/>
                <a:cs typeface="Barlow Bold" pitchFamily="34" charset="-120"/>
              </a:rPr>
              <a:t>2</a:t>
            </a:r>
            <a:endParaRPr lang="en-US" sz="2300" dirty="0"/>
          </a:p>
        </p:txBody>
      </p:sp>
      <p:sp>
        <p:nvSpPr>
          <p:cNvPr id="13" name="Text 10"/>
          <p:cNvSpPr/>
          <p:nvPr/>
        </p:nvSpPr>
        <p:spPr>
          <a:xfrm>
            <a:off x="1970603" y="4212074"/>
            <a:ext cx="2469475" cy="308610"/>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Barlow Bold" pitchFamily="34" charset="0"/>
                <a:ea typeface="Barlow Bold" pitchFamily="34" charset="-122"/>
                <a:cs typeface="Barlow Bold" pitchFamily="34" charset="-120"/>
              </a:rPr>
              <a:t>Automatización</a:t>
            </a:r>
            <a:endParaRPr lang="en-US" sz="1900" dirty="0"/>
          </a:p>
        </p:txBody>
      </p:sp>
      <p:sp>
        <p:nvSpPr>
          <p:cNvPr id="14" name="Text 11"/>
          <p:cNvSpPr/>
          <p:nvPr/>
        </p:nvSpPr>
        <p:spPr>
          <a:xfrm>
            <a:off x="1970603" y="4633198"/>
            <a:ext cx="6516529" cy="900470"/>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DevOps impulsa la automatización de procesos, desde la integración y despliegue continuos hasta la monitorización y reparación de problemas, lo que acelera la entrega de valor al cliente.</a:t>
            </a:r>
            <a:endParaRPr lang="en-US" sz="1450" dirty="0"/>
          </a:p>
        </p:txBody>
      </p:sp>
      <p:sp>
        <p:nvSpPr>
          <p:cNvPr id="15" name="Shape 12"/>
          <p:cNvSpPr/>
          <p:nvPr/>
        </p:nvSpPr>
        <p:spPr>
          <a:xfrm>
            <a:off x="1126569" y="6319718"/>
            <a:ext cx="656868" cy="22860"/>
          </a:xfrm>
          <a:prstGeom prst="roundRect">
            <a:avLst>
              <a:gd name="adj" fmla="val 738932"/>
            </a:avLst>
          </a:prstGeom>
          <a:solidFill>
            <a:srgbClr val="C1C3D0"/>
          </a:solidFill>
          <a:ln/>
        </p:spPr>
      </p:sp>
      <p:sp>
        <p:nvSpPr>
          <p:cNvPr id="16" name="Shape 13"/>
          <p:cNvSpPr/>
          <p:nvPr/>
        </p:nvSpPr>
        <p:spPr>
          <a:xfrm>
            <a:off x="727234" y="6120051"/>
            <a:ext cx="422196" cy="422196"/>
          </a:xfrm>
          <a:prstGeom prst="roundRect">
            <a:avLst>
              <a:gd name="adj" fmla="val 40010"/>
            </a:avLst>
          </a:prstGeom>
          <a:solidFill>
            <a:srgbClr val="EEEFF5"/>
          </a:solidFill>
          <a:ln/>
          <a:effectLst>
            <a:outerShdw sx="100000" sy="100000" kx="0" ky="0" algn="bl" rotWithShape="0" blurRad="45720" dist="22860" dir="13500000">
              <a:srgbClr val="ffffff">
                <a:alpha val="70000"/>
              </a:srgbClr>
            </a:outerShdw>
          </a:effectLst>
        </p:spPr>
      </p:sp>
      <p:sp>
        <p:nvSpPr>
          <p:cNvPr id="17" name="Text 14"/>
          <p:cNvSpPr/>
          <p:nvPr/>
        </p:nvSpPr>
        <p:spPr>
          <a:xfrm>
            <a:off x="858322" y="6182916"/>
            <a:ext cx="160020" cy="296347"/>
          </a:xfrm>
          <a:prstGeom prst="rect">
            <a:avLst/>
          </a:prstGeom>
          <a:noFill/>
          <a:ln/>
        </p:spPr>
        <p:txBody>
          <a:bodyPr wrap="none" lIns="0" tIns="0" rIns="0" bIns="0" rtlCol="0" anchor="t"/>
          <a:lstStyle/>
          <a:p>
            <a:pPr algn="ctr" indent="0" marL="0">
              <a:lnSpc>
                <a:spcPts val="2300"/>
              </a:lnSpc>
              <a:buNone/>
            </a:pPr>
            <a:r>
              <a:rPr lang="en-US" sz="2300" b="1" dirty="0">
                <a:solidFill>
                  <a:srgbClr val="272525"/>
                </a:solidFill>
                <a:latin typeface="Barlow Bold" pitchFamily="34" charset="0"/>
                <a:ea typeface="Barlow Bold" pitchFamily="34" charset="-122"/>
                <a:cs typeface="Barlow Bold" pitchFamily="34" charset="-120"/>
              </a:rPr>
              <a:t>3</a:t>
            </a:r>
            <a:endParaRPr lang="en-US" sz="2300" dirty="0"/>
          </a:p>
        </p:txBody>
      </p:sp>
      <p:sp>
        <p:nvSpPr>
          <p:cNvPr id="18" name="Text 15"/>
          <p:cNvSpPr/>
          <p:nvPr/>
        </p:nvSpPr>
        <p:spPr>
          <a:xfrm>
            <a:off x="1970603" y="6096595"/>
            <a:ext cx="2469475" cy="308610"/>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Barlow Bold" pitchFamily="34" charset="0"/>
                <a:ea typeface="Barlow Bold" pitchFamily="34" charset="-122"/>
                <a:cs typeface="Barlow Bold" pitchFamily="34" charset="-120"/>
              </a:rPr>
              <a:t>Mejora Continua</a:t>
            </a:r>
            <a:endParaRPr lang="en-US" sz="1900" dirty="0"/>
          </a:p>
        </p:txBody>
      </p:sp>
      <p:sp>
        <p:nvSpPr>
          <p:cNvPr id="19" name="Text 16"/>
          <p:cNvSpPr/>
          <p:nvPr/>
        </p:nvSpPr>
        <p:spPr>
          <a:xfrm>
            <a:off x="1970603" y="6517719"/>
            <a:ext cx="6516529" cy="900470"/>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DevOps se centra en la mejora continua, lo que permite a las organizaciones adaptarse rápidamente a los cambios y entregar productos de manera más eficiente y con mayor calidad.</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309" y="2063710"/>
            <a:ext cx="11903750" cy="712708"/>
          </a:xfrm>
          <a:prstGeom prst="rect">
            <a:avLst/>
          </a:prstGeom>
          <a:noFill/>
          <a:ln/>
        </p:spPr>
        <p:txBody>
          <a:bodyPr wrap="none" lIns="0" tIns="0" rIns="0" bIns="0" rtlCol="0" anchor="t"/>
          <a:lstStyle/>
          <a:p>
            <a:pP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Cultura DevOps: colaboración y automatización</a:t>
            </a:r>
            <a:endParaRPr lang="en-US" sz="4450" dirty="0"/>
          </a:p>
        </p:txBody>
      </p:sp>
      <p:sp>
        <p:nvSpPr>
          <p:cNvPr id="3" name="Text 1"/>
          <p:cNvSpPr/>
          <p:nvPr/>
        </p:nvSpPr>
        <p:spPr>
          <a:xfrm>
            <a:off x="758309" y="3317915"/>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Mentalidad de Equipo</a:t>
            </a:r>
            <a:endParaRPr lang="en-US" sz="2200" dirty="0"/>
          </a:p>
        </p:txBody>
      </p:sp>
      <p:sp>
        <p:nvSpPr>
          <p:cNvPr id="4" name="Text 2"/>
          <p:cNvSpPr/>
          <p:nvPr/>
        </p:nvSpPr>
        <p:spPr>
          <a:xfrm>
            <a:off x="758309" y="3890724"/>
            <a:ext cx="4018359" cy="208026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DevOps fomenta una mentalidad de equipo en la que los profesionales de desarrollo y operaciones trabajan de manera conjunta, compartiendo responsabilidades y objetivos comunes.</a:t>
            </a:r>
            <a:endParaRPr lang="en-US" sz="1700" dirty="0"/>
          </a:p>
        </p:txBody>
      </p:sp>
      <p:sp>
        <p:nvSpPr>
          <p:cNvPr id="5" name="Text 3"/>
          <p:cNvSpPr/>
          <p:nvPr/>
        </p:nvSpPr>
        <p:spPr>
          <a:xfrm>
            <a:off x="5312926" y="3317915"/>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Comunicación Abierta</a:t>
            </a:r>
            <a:endParaRPr lang="en-US" sz="2200" dirty="0"/>
          </a:p>
        </p:txBody>
      </p:sp>
      <p:sp>
        <p:nvSpPr>
          <p:cNvPr id="6" name="Text 4"/>
          <p:cNvSpPr/>
          <p:nvPr/>
        </p:nvSpPr>
        <p:spPr>
          <a:xfrm>
            <a:off x="5312926" y="3890724"/>
            <a:ext cx="4018359" cy="208026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La comunicación abierta y transparente entre los equipos es fundamental para el éxito de DevOps, ya que permite identificar y resolver problemas de manera más eficiente.</a:t>
            </a:r>
            <a:endParaRPr lang="en-US" sz="1700" dirty="0"/>
          </a:p>
        </p:txBody>
      </p:sp>
      <p:sp>
        <p:nvSpPr>
          <p:cNvPr id="7" name="Text 5"/>
          <p:cNvSpPr/>
          <p:nvPr/>
        </p:nvSpPr>
        <p:spPr>
          <a:xfrm>
            <a:off x="9867543" y="3317915"/>
            <a:ext cx="3613190"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Automatización de Procesos</a:t>
            </a:r>
            <a:endParaRPr lang="en-US" sz="2200" dirty="0"/>
          </a:p>
        </p:txBody>
      </p:sp>
      <p:sp>
        <p:nvSpPr>
          <p:cNvPr id="8" name="Text 6"/>
          <p:cNvSpPr/>
          <p:nvPr/>
        </p:nvSpPr>
        <p:spPr>
          <a:xfrm>
            <a:off x="9867543" y="3890724"/>
            <a:ext cx="4018359" cy="208026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La automatización de tareas repetitivas, como la integración, el despliegue y la monitorización, reduce los errores humanos y acelera la entrega de software de manera continua.</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096453"/>
          </a:xfrm>
          <a:prstGeom prst="rect">
            <a:avLst/>
          </a:prstGeom>
        </p:spPr>
      </p:pic>
      <p:sp>
        <p:nvSpPr>
          <p:cNvPr id="3" name="Text 0"/>
          <p:cNvSpPr/>
          <p:nvPr/>
        </p:nvSpPr>
        <p:spPr>
          <a:xfrm>
            <a:off x="586978" y="2690932"/>
            <a:ext cx="4607123" cy="551617"/>
          </a:xfrm>
          <a:prstGeom prst="rect">
            <a:avLst/>
          </a:prstGeom>
          <a:noFill/>
          <a:ln/>
        </p:spPr>
        <p:txBody>
          <a:bodyPr wrap="none" lIns="0" tIns="0" rIns="0" bIns="0" rtlCol="0" anchor="t"/>
          <a:lstStyle/>
          <a:p>
            <a:pPr indent="0" marL="0">
              <a:lnSpc>
                <a:spcPts val="4300"/>
              </a:lnSpc>
              <a:buNone/>
            </a:pPr>
            <a:r>
              <a:rPr lang="en-US" sz="3450" b="1" dirty="0">
                <a:solidFill>
                  <a:srgbClr val="7068F4"/>
                </a:solidFill>
                <a:latin typeface="Barlow Bold" pitchFamily="34" charset="0"/>
                <a:ea typeface="Barlow Bold" pitchFamily="34" charset="-122"/>
                <a:cs typeface="Barlow Bold" pitchFamily="34" charset="-120"/>
              </a:rPr>
              <a:t>Ciclo de vida de DevOps</a:t>
            </a:r>
            <a:endParaRPr lang="en-US" sz="3450" dirty="0"/>
          </a:p>
        </p:txBody>
      </p:sp>
      <p:sp>
        <p:nvSpPr>
          <p:cNvPr id="4" name="Shape 1"/>
          <p:cNvSpPr/>
          <p:nvPr/>
        </p:nvSpPr>
        <p:spPr>
          <a:xfrm>
            <a:off x="586978" y="5698808"/>
            <a:ext cx="13456444" cy="22860"/>
          </a:xfrm>
          <a:prstGeom prst="roundRect">
            <a:avLst>
              <a:gd name="adj" fmla="val 660336"/>
            </a:avLst>
          </a:prstGeom>
          <a:solidFill>
            <a:srgbClr val="C1C3D0"/>
          </a:solidFill>
          <a:ln/>
        </p:spPr>
      </p:sp>
      <p:sp>
        <p:nvSpPr>
          <p:cNvPr id="5" name="Shape 2"/>
          <p:cNvSpPr/>
          <p:nvPr/>
        </p:nvSpPr>
        <p:spPr>
          <a:xfrm>
            <a:off x="3216354" y="5111889"/>
            <a:ext cx="22860" cy="586978"/>
          </a:xfrm>
          <a:prstGeom prst="roundRect">
            <a:avLst>
              <a:gd name="adj" fmla="val 660336"/>
            </a:avLst>
          </a:prstGeom>
          <a:solidFill>
            <a:srgbClr val="C1C3D0"/>
          </a:solidFill>
          <a:ln/>
        </p:spPr>
      </p:sp>
      <p:sp>
        <p:nvSpPr>
          <p:cNvPr id="6" name="Shape 3"/>
          <p:cNvSpPr/>
          <p:nvPr/>
        </p:nvSpPr>
        <p:spPr>
          <a:xfrm>
            <a:off x="3039189" y="5510153"/>
            <a:ext cx="377309" cy="377309"/>
          </a:xfrm>
          <a:prstGeom prst="roundRect">
            <a:avLst>
              <a:gd name="adj" fmla="val 40008"/>
            </a:avLst>
          </a:prstGeom>
          <a:solidFill>
            <a:srgbClr val="EEEFF5"/>
          </a:solidFill>
          <a:ln/>
          <a:effectLst>
            <a:outerShdw sx="100000" sy="100000" kx="0" ky="0" algn="bl" rotWithShape="0" blurRad="41910" dist="20320" dir="13500000">
              <a:srgbClr val="ffffff">
                <a:alpha val="70000"/>
              </a:srgbClr>
            </a:outerShdw>
          </a:effectLst>
        </p:spPr>
      </p:sp>
      <p:sp>
        <p:nvSpPr>
          <p:cNvPr id="7" name="Text 4"/>
          <p:cNvSpPr/>
          <p:nvPr/>
        </p:nvSpPr>
        <p:spPr>
          <a:xfrm>
            <a:off x="3180874" y="5566350"/>
            <a:ext cx="93821" cy="264795"/>
          </a:xfrm>
          <a:prstGeom prst="rect">
            <a:avLst/>
          </a:prstGeom>
          <a:noFill/>
          <a:ln/>
        </p:spPr>
        <p:txBody>
          <a:bodyPr wrap="none" lIns="0" tIns="0" rIns="0" bIns="0" rtlCol="0" anchor="t"/>
          <a:lstStyle/>
          <a:p>
            <a:pPr algn="ctr" indent="0" marL="0">
              <a:lnSpc>
                <a:spcPts val="2050"/>
              </a:lnSpc>
              <a:buNone/>
            </a:pPr>
            <a:r>
              <a:rPr lang="en-US" sz="2050" b="1" dirty="0">
                <a:solidFill>
                  <a:srgbClr val="272525"/>
                </a:solidFill>
                <a:latin typeface="Barlow Bold" pitchFamily="34" charset="0"/>
                <a:ea typeface="Barlow Bold" pitchFamily="34" charset="-122"/>
                <a:cs typeface="Barlow Bold" pitchFamily="34" charset="-120"/>
              </a:rPr>
              <a:t>1</a:t>
            </a:r>
            <a:endParaRPr lang="en-US" sz="2050" dirty="0"/>
          </a:p>
        </p:txBody>
      </p:sp>
      <p:sp>
        <p:nvSpPr>
          <p:cNvPr id="8" name="Text 5"/>
          <p:cNvSpPr/>
          <p:nvPr/>
        </p:nvSpPr>
        <p:spPr>
          <a:xfrm>
            <a:off x="2124551" y="3762494"/>
            <a:ext cx="2206823" cy="275868"/>
          </a:xfrm>
          <a:prstGeom prst="rect">
            <a:avLst/>
          </a:prstGeom>
          <a:noFill/>
          <a:ln/>
        </p:spPr>
        <p:txBody>
          <a:bodyPr wrap="none" lIns="0" tIns="0" rIns="0" bIns="0" rtlCol="0" anchor="t"/>
          <a:lstStyle/>
          <a:p>
            <a:pPr algn="ctr" indent="0" marL="0">
              <a:lnSpc>
                <a:spcPts val="2150"/>
              </a:lnSpc>
              <a:buNone/>
            </a:pPr>
            <a:r>
              <a:rPr lang="en-US" sz="1700" b="1" dirty="0">
                <a:solidFill>
                  <a:srgbClr val="272525"/>
                </a:solidFill>
                <a:latin typeface="Barlow Bold" pitchFamily="34" charset="0"/>
                <a:ea typeface="Barlow Bold" pitchFamily="34" charset="-122"/>
                <a:cs typeface="Barlow Bold" pitchFamily="34" charset="-120"/>
              </a:rPr>
              <a:t>Planificación</a:t>
            </a:r>
            <a:endParaRPr lang="en-US" sz="1700" dirty="0"/>
          </a:p>
        </p:txBody>
      </p:sp>
      <p:sp>
        <p:nvSpPr>
          <p:cNvPr id="9" name="Text 6"/>
          <p:cNvSpPr/>
          <p:nvPr/>
        </p:nvSpPr>
        <p:spPr>
          <a:xfrm>
            <a:off x="754618" y="4138970"/>
            <a:ext cx="4946690" cy="805101"/>
          </a:xfrm>
          <a:prstGeom prst="rect">
            <a:avLst/>
          </a:prstGeom>
          <a:noFill/>
          <a:ln/>
        </p:spPr>
        <p:txBody>
          <a:bodyPr wrap="square" lIns="0" tIns="0" rIns="0" bIns="0" rtlCol="0" anchor="t"/>
          <a:lstStyle/>
          <a:p>
            <a:pPr algn="ctr" indent="0" marL="0">
              <a:lnSpc>
                <a:spcPts val="2100"/>
              </a:lnSpc>
              <a:buNone/>
            </a:pPr>
            <a:r>
              <a:rPr lang="en-US" sz="1300" dirty="0">
                <a:solidFill>
                  <a:srgbClr val="272525"/>
                </a:solidFill>
                <a:latin typeface="Montserrat" pitchFamily="34" charset="0"/>
                <a:ea typeface="Montserrat" pitchFamily="34" charset="-122"/>
                <a:cs typeface="Montserrat" pitchFamily="34" charset="-120"/>
              </a:rPr>
              <a:t>La planificación es el punto de partida del ciclo de vida DevOps, donde se definen los requisitos, se priorizan las tareas y se establecen los objetivos del proyecto.</a:t>
            </a:r>
            <a:endParaRPr lang="en-US" sz="1300" dirty="0"/>
          </a:p>
        </p:txBody>
      </p:sp>
      <p:sp>
        <p:nvSpPr>
          <p:cNvPr id="10" name="Shape 7"/>
          <p:cNvSpPr/>
          <p:nvPr/>
        </p:nvSpPr>
        <p:spPr>
          <a:xfrm>
            <a:off x="5941100" y="5698748"/>
            <a:ext cx="22860" cy="586978"/>
          </a:xfrm>
          <a:prstGeom prst="roundRect">
            <a:avLst>
              <a:gd name="adj" fmla="val 660336"/>
            </a:avLst>
          </a:prstGeom>
          <a:solidFill>
            <a:srgbClr val="C1C3D0"/>
          </a:solidFill>
          <a:ln/>
        </p:spPr>
      </p:sp>
      <p:sp>
        <p:nvSpPr>
          <p:cNvPr id="11" name="Shape 8"/>
          <p:cNvSpPr/>
          <p:nvPr/>
        </p:nvSpPr>
        <p:spPr>
          <a:xfrm>
            <a:off x="5763935" y="5510153"/>
            <a:ext cx="377309" cy="377309"/>
          </a:xfrm>
          <a:prstGeom prst="roundRect">
            <a:avLst>
              <a:gd name="adj" fmla="val 40008"/>
            </a:avLst>
          </a:prstGeom>
          <a:solidFill>
            <a:srgbClr val="EEEFF5"/>
          </a:solidFill>
          <a:ln/>
          <a:effectLst>
            <a:outerShdw sx="100000" sy="100000" kx="0" ky="0" algn="bl" rotWithShape="0" blurRad="41910" dist="20320" dir="13500000">
              <a:srgbClr val="ffffff">
                <a:alpha val="70000"/>
              </a:srgbClr>
            </a:outerShdw>
          </a:effectLst>
        </p:spPr>
      </p:sp>
      <p:sp>
        <p:nvSpPr>
          <p:cNvPr id="12" name="Text 9"/>
          <p:cNvSpPr/>
          <p:nvPr/>
        </p:nvSpPr>
        <p:spPr>
          <a:xfrm>
            <a:off x="5878354" y="5566350"/>
            <a:ext cx="148352" cy="264795"/>
          </a:xfrm>
          <a:prstGeom prst="rect">
            <a:avLst/>
          </a:prstGeom>
          <a:noFill/>
          <a:ln/>
        </p:spPr>
        <p:txBody>
          <a:bodyPr wrap="none" lIns="0" tIns="0" rIns="0" bIns="0" rtlCol="0" anchor="t"/>
          <a:lstStyle/>
          <a:p>
            <a:pPr algn="ctr" indent="0" marL="0">
              <a:lnSpc>
                <a:spcPts val="2050"/>
              </a:lnSpc>
              <a:buNone/>
            </a:pPr>
            <a:r>
              <a:rPr lang="en-US" sz="2050" b="1" dirty="0">
                <a:solidFill>
                  <a:srgbClr val="272525"/>
                </a:solidFill>
                <a:latin typeface="Barlow Bold" pitchFamily="34" charset="0"/>
                <a:ea typeface="Barlow Bold" pitchFamily="34" charset="-122"/>
                <a:cs typeface="Barlow Bold" pitchFamily="34" charset="-120"/>
              </a:rPr>
              <a:t>2</a:t>
            </a:r>
            <a:endParaRPr lang="en-US" sz="2050" dirty="0"/>
          </a:p>
        </p:txBody>
      </p:sp>
      <p:sp>
        <p:nvSpPr>
          <p:cNvPr id="13" name="Text 10"/>
          <p:cNvSpPr/>
          <p:nvPr/>
        </p:nvSpPr>
        <p:spPr>
          <a:xfrm>
            <a:off x="4849297" y="6453545"/>
            <a:ext cx="2206823" cy="275868"/>
          </a:xfrm>
          <a:prstGeom prst="rect">
            <a:avLst/>
          </a:prstGeom>
          <a:noFill/>
          <a:ln/>
        </p:spPr>
        <p:txBody>
          <a:bodyPr wrap="none" lIns="0" tIns="0" rIns="0" bIns="0" rtlCol="0" anchor="t"/>
          <a:lstStyle/>
          <a:p>
            <a:pPr algn="ctr" indent="0" marL="0">
              <a:lnSpc>
                <a:spcPts val="2150"/>
              </a:lnSpc>
              <a:buNone/>
            </a:pPr>
            <a:r>
              <a:rPr lang="en-US" sz="1700" b="1" dirty="0">
                <a:solidFill>
                  <a:srgbClr val="272525"/>
                </a:solidFill>
                <a:latin typeface="Barlow Bold" pitchFamily="34" charset="0"/>
                <a:ea typeface="Barlow Bold" pitchFamily="34" charset="-122"/>
                <a:cs typeface="Barlow Bold" pitchFamily="34" charset="-120"/>
              </a:rPr>
              <a:t>Desarrollo</a:t>
            </a:r>
            <a:endParaRPr lang="en-US" sz="1700" dirty="0"/>
          </a:p>
        </p:txBody>
      </p:sp>
      <p:sp>
        <p:nvSpPr>
          <p:cNvPr id="14" name="Text 11"/>
          <p:cNvSpPr/>
          <p:nvPr/>
        </p:nvSpPr>
        <p:spPr>
          <a:xfrm>
            <a:off x="3479363" y="6830020"/>
            <a:ext cx="4946690" cy="805101"/>
          </a:xfrm>
          <a:prstGeom prst="rect">
            <a:avLst/>
          </a:prstGeom>
          <a:noFill/>
          <a:ln/>
        </p:spPr>
        <p:txBody>
          <a:bodyPr wrap="square" lIns="0" tIns="0" rIns="0" bIns="0" rtlCol="0" anchor="t"/>
          <a:lstStyle/>
          <a:p>
            <a:pPr algn="ctr" indent="0" marL="0">
              <a:lnSpc>
                <a:spcPts val="2100"/>
              </a:lnSpc>
              <a:buNone/>
            </a:pPr>
            <a:r>
              <a:rPr lang="en-US" sz="1300" dirty="0">
                <a:solidFill>
                  <a:srgbClr val="272525"/>
                </a:solidFill>
                <a:latin typeface="Montserrat" pitchFamily="34" charset="0"/>
                <a:ea typeface="Montserrat" pitchFamily="34" charset="-122"/>
                <a:cs typeface="Montserrat" pitchFamily="34" charset="-120"/>
              </a:rPr>
              <a:t>En esta etapa, los desarrolladores escriben y prueban el código fuente, aplicando buenas prácticas de integración y desarrollo continuo.</a:t>
            </a:r>
            <a:endParaRPr lang="en-US" sz="1300" dirty="0"/>
          </a:p>
        </p:txBody>
      </p:sp>
      <p:sp>
        <p:nvSpPr>
          <p:cNvPr id="15" name="Shape 12"/>
          <p:cNvSpPr/>
          <p:nvPr/>
        </p:nvSpPr>
        <p:spPr>
          <a:xfrm>
            <a:off x="8665964" y="5111889"/>
            <a:ext cx="22860" cy="586978"/>
          </a:xfrm>
          <a:prstGeom prst="roundRect">
            <a:avLst>
              <a:gd name="adj" fmla="val 660336"/>
            </a:avLst>
          </a:prstGeom>
          <a:solidFill>
            <a:srgbClr val="C1C3D0"/>
          </a:solidFill>
          <a:ln/>
        </p:spPr>
      </p:sp>
      <p:sp>
        <p:nvSpPr>
          <p:cNvPr id="16" name="Shape 13"/>
          <p:cNvSpPr/>
          <p:nvPr/>
        </p:nvSpPr>
        <p:spPr>
          <a:xfrm>
            <a:off x="8488799" y="5510153"/>
            <a:ext cx="377309" cy="377309"/>
          </a:xfrm>
          <a:prstGeom prst="roundRect">
            <a:avLst>
              <a:gd name="adj" fmla="val 40008"/>
            </a:avLst>
          </a:prstGeom>
          <a:solidFill>
            <a:srgbClr val="EEEFF5"/>
          </a:solidFill>
          <a:ln/>
          <a:effectLst>
            <a:outerShdw sx="100000" sy="100000" kx="0" ky="0" algn="bl" rotWithShape="0" blurRad="41910" dist="20320" dir="13500000">
              <a:srgbClr val="ffffff">
                <a:alpha val="70000"/>
              </a:srgbClr>
            </a:outerShdw>
          </a:effectLst>
        </p:spPr>
      </p:sp>
      <p:sp>
        <p:nvSpPr>
          <p:cNvPr id="17" name="Text 14"/>
          <p:cNvSpPr/>
          <p:nvPr/>
        </p:nvSpPr>
        <p:spPr>
          <a:xfrm>
            <a:off x="8605957" y="5566350"/>
            <a:ext cx="142994" cy="264795"/>
          </a:xfrm>
          <a:prstGeom prst="rect">
            <a:avLst/>
          </a:prstGeom>
          <a:noFill/>
          <a:ln/>
        </p:spPr>
        <p:txBody>
          <a:bodyPr wrap="none" lIns="0" tIns="0" rIns="0" bIns="0" rtlCol="0" anchor="t"/>
          <a:lstStyle/>
          <a:p>
            <a:pPr algn="ctr" indent="0" marL="0">
              <a:lnSpc>
                <a:spcPts val="2050"/>
              </a:lnSpc>
              <a:buNone/>
            </a:pPr>
            <a:r>
              <a:rPr lang="en-US" sz="2050" b="1" dirty="0">
                <a:solidFill>
                  <a:srgbClr val="272525"/>
                </a:solidFill>
                <a:latin typeface="Barlow Bold" pitchFamily="34" charset="0"/>
                <a:ea typeface="Barlow Bold" pitchFamily="34" charset="-122"/>
                <a:cs typeface="Barlow Bold" pitchFamily="34" charset="-120"/>
              </a:rPr>
              <a:t>3</a:t>
            </a:r>
            <a:endParaRPr lang="en-US" sz="2050" dirty="0"/>
          </a:p>
        </p:txBody>
      </p:sp>
      <p:sp>
        <p:nvSpPr>
          <p:cNvPr id="18" name="Text 15"/>
          <p:cNvSpPr/>
          <p:nvPr/>
        </p:nvSpPr>
        <p:spPr>
          <a:xfrm>
            <a:off x="7574161" y="3494127"/>
            <a:ext cx="2206823" cy="275868"/>
          </a:xfrm>
          <a:prstGeom prst="rect">
            <a:avLst/>
          </a:prstGeom>
          <a:noFill/>
          <a:ln/>
        </p:spPr>
        <p:txBody>
          <a:bodyPr wrap="none" lIns="0" tIns="0" rIns="0" bIns="0" rtlCol="0" anchor="t"/>
          <a:lstStyle/>
          <a:p>
            <a:pPr algn="ctr" indent="0" marL="0">
              <a:lnSpc>
                <a:spcPts val="2150"/>
              </a:lnSpc>
              <a:buNone/>
            </a:pPr>
            <a:r>
              <a:rPr lang="en-US" sz="1700" b="1" dirty="0">
                <a:solidFill>
                  <a:srgbClr val="272525"/>
                </a:solidFill>
                <a:latin typeface="Barlow Bold" pitchFamily="34" charset="0"/>
                <a:ea typeface="Barlow Bold" pitchFamily="34" charset="-122"/>
                <a:cs typeface="Barlow Bold" pitchFamily="34" charset="-120"/>
              </a:rPr>
              <a:t>Despliegue</a:t>
            </a:r>
            <a:endParaRPr lang="en-US" sz="1700" dirty="0"/>
          </a:p>
        </p:txBody>
      </p:sp>
      <p:sp>
        <p:nvSpPr>
          <p:cNvPr id="19" name="Text 16"/>
          <p:cNvSpPr/>
          <p:nvPr/>
        </p:nvSpPr>
        <p:spPr>
          <a:xfrm>
            <a:off x="6204228" y="3870603"/>
            <a:ext cx="4946690" cy="1073468"/>
          </a:xfrm>
          <a:prstGeom prst="rect">
            <a:avLst/>
          </a:prstGeom>
          <a:noFill/>
          <a:ln/>
        </p:spPr>
        <p:txBody>
          <a:bodyPr wrap="square" lIns="0" tIns="0" rIns="0" bIns="0" rtlCol="0" anchor="t"/>
          <a:lstStyle/>
          <a:p>
            <a:pPr algn="ctr" indent="0" marL="0">
              <a:lnSpc>
                <a:spcPts val="2100"/>
              </a:lnSpc>
              <a:buNone/>
            </a:pPr>
            <a:r>
              <a:rPr lang="en-US" sz="1300" dirty="0">
                <a:solidFill>
                  <a:srgbClr val="272525"/>
                </a:solidFill>
                <a:latin typeface="Montserrat" pitchFamily="34" charset="0"/>
                <a:ea typeface="Montserrat" pitchFamily="34" charset="-122"/>
                <a:cs typeface="Montserrat" pitchFamily="34" charset="-120"/>
              </a:rPr>
              <a:t>El despliegue automatizado y continuo permite entregar nuevas funcionalidades a los usuarios de manera rápida y segura, con procesos de monitorización y retroalimentación.</a:t>
            </a:r>
            <a:endParaRPr lang="en-US" sz="1300" dirty="0"/>
          </a:p>
        </p:txBody>
      </p:sp>
      <p:sp>
        <p:nvSpPr>
          <p:cNvPr id="20" name="Shape 17"/>
          <p:cNvSpPr/>
          <p:nvPr/>
        </p:nvSpPr>
        <p:spPr>
          <a:xfrm>
            <a:off x="11390709" y="5698748"/>
            <a:ext cx="22860" cy="586978"/>
          </a:xfrm>
          <a:prstGeom prst="roundRect">
            <a:avLst>
              <a:gd name="adj" fmla="val 660336"/>
            </a:avLst>
          </a:prstGeom>
          <a:solidFill>
            <a:srgbClr val="C1C3D0"/>
          </a:solidFill>
          <a:ln/>
        </p:spPr>
      </p:sp>
      <p:sp>
        <p:nvSpPr>
          <p:cNvPr id="21" name="Shape 18"/>
          <p:cNvSpPr/>
          <p:nvPr/>
        </p:nvSpPr>
        <p:spPr>
          <a:xfrm>
            <a:off x="11213544" y="5510153"/>
            <a:ext cx="377309" cy="377309"/>
          </a:xfrm>
          <a:prstGeom prst="roundRect">
            <a:avLst>
              <a:gd name="adj" fmla="val 40008"/>
            </a:avLst>
          </a:prstGeom>
          <a:solidFill>
            <a:srgbClr val="EEEFF5"/>
          </a:solidFill>
          <a:ln/>
          <a:effectLst>
            <a:outerShdw sx="100000" sy="100000" kx="0" ky="0" algn="bl" rotWithShape="0" blurRad="41910" dist="20320" dir="13500000">
              <a:srgbClr val="ffffff">
                <a:alpha val="70000"/>
              </a:srgbClr>
            </a:outerShdw>
          </a:effectLst>
        </p:spPr>
      </p:sp>
      <p:sp>
        <p:nvSpPr>
          <p:cNvPr id="22" name="Text 19"/>
          <p:cNvSpPr/>
          <p:nvPr/>
        </p:nvSpPr>
        <p:spPr>
          <a:xfrm>
            <a:off x="11322010" y="5566350"/>
            <a:ext cx="160258" cy="264795"/>
          </a:xfrm>
          <a:prstGeom prst="rect">
            <a:avLst/>
          </a:prstGeom>
          <a:noFill/>
          <a:ln/>
        </p:spPr>
        <p:txBody>
          <a:bodyPr wrap="none" lIns="0" tIns="0" rIns="0" bIns="0" rtlCol="0" anchor="t"/>
          <a:lstStyle/>
          <a:p>
            <a:pPr algn="ctr" indent="0" marL="0">
              <a:lnSpc>
                <a:spcPts val="2050"/>
              </a:lnSpc>
              <a:buNone/>
            </a:pPr>
            <a:r>
              <a:rPr lang="en-US" sz="2050" b="1" dirty="0">
                <a:solidFill>
                  <a:srgbClr val="272525"/>
                </a:solidFill>
                <a:latin typeface="Barlow Bold" pitchFamily="34" charset="0"/>
                <a:ea typeface="Barlow Bold" pitchFamily="34" charset="-122"/>
                <a:cs typeface="Barlow Bold" pitchFamily="34" charset="-120"/>
              </a:rPr>
              <a:t>4</a:t>
            </a:r>
            <a:endParaRPr lang="en-US" sz="2050" dirty="0"/>
          </a:p>
        </p:txBody>
      </p:sp>
      <p:sp>
        <p:nvSpPr>
          <p:cNvPr id="23" name="Text 20"/>
          <p:cNvSpPr/>
          <p:nvPr/>
        </p:nvSpPr>
        <p:spPr>
          <a:xfrm>
            <a:off x="10084356" y="6453545"/>
            <a:ext cx="2635806" cy="275868"/>
          </a:xfrm>
          <a:prstGeom prst="rect">
            <a:avLst/>
          </a:prstGeom>
          <a:noFill/>
          <a:ln/>
        </p:spPr>
        <p:txBody>
          <a:bodyPr wrap="none" lIns="0" tIns="0" rIns="0" bIns="0" rtlCol="0" anchor="t"/>
          <a:lstStyle/>
          <a:p>
            <a:pPr algn="ctr" indent="0" marL="0">
              <a:lnSpc>
                <a:spcPts val="2150"/>
              </a:lnSpc>
              <a:buNone/>
            </a:pPr>
            <a:r>
              <a:rPr lang="en-US" sz="1700" b="1" dirty="0">
                <a:solidFill>
                  <a:srgbClr val="272525"/>
                </a:solidFill>
                <a:latin typeface="Barlow Bold" pitchFamily="34" charset="0"/>
                <a:ea typeface="Barlow Bold" pitchFamily="34" charset="-122"/>
                <a:cs typeface="Barlow Bold" pitchFamily="34" charset="-120"/>
              </a:rPr>
              <a:t>Operación y Monitorización</a:t>
            </a:r>
            <a:endParaRPr lang="en-US" sz="1700" dirty="0"/>
          </a:p>
        </p:txBody>
      </p:sp>
      <p:sp>
        <p:nvSpPr>
          <p:cNvPr id="24" name="Text 21"/>
          <p:cNvSpPr/>
          <p:nvPr/>
        </p:nvSpPr>
        <p:spPr>
          <a:xfrm>
            <a:off x="8928973" y="6830020"/>
            <a:ext cx="4946690" cy="805101"/>
          </a:xfrm>
          <a:prstGeom prst="rect">
            <a:avLst/>
          </a:prstGeom>
          <a:noFill/>
          <a:ln/>
        </p:spPr>
        <p:txBody>
          <a:bodyPr wrap="square" lIns="0" tIns="0" rIns="0" bIns="0" rtlCol="0" anchor="t"/>
          <a:lstStyle/>
          <a:p>
            <a:pPr algn="ctr" indent="0" marL="0">
              <a:lnSpc>
                <a:spcPts val="2100"/>
              </a:lnSpc>
              <a:buNone/>
            </a:pPr>
            <a:r>
              <a:rPr lang="en-US" sz="1300" dirty="0">
                <a:solidFill>
                  <a:srgbClr val="272525"/>
                </a:solidFill>
                <a:latin typeface="Montserrat" pitchFamily="34" charset="0"/>
                <a:ea typeface="Montserrat" pitchFamily="34" charset="-122"/>
                <a:cs typeface="Montserrat" pitchFamily="34" charset="-120"/>
              </a:rPr>
              <a:t>Las operaciones y la monitorización continua del sistema aseguran que el software funcione correctamente y se detecten y resuelvan los problemas de manera proactiva.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78391" y="1136452"/>
            <a:ext cx="7631192" cy="650319"/>
          </a:xfrm>
          <a:prstGeom prst="rect">
            <a:avLst/>
          </a:prstGeom>
          <a:noFill/>
          <a:ln/>
        </p:spPr>
        <p:txBody>
          <a:bodyPr wrap="none" lIns="0" tIns="0" rIns="0" bIns="0" rtlCol="0" anchor="t"/>
          <a:lstStyle/>
          <a:p>
            <a:pPr indent="0" marL="0">
              <a:lnSpc>
                <a:spcPts val="5100"/>
              </a:lnSpc>
              <a:buNone/>
            </a:pPr>
            <a:r>
              <a:rPr lang="en-US" sz="4050" b="1" dirty="0">
                <a:solidFill>
                  <a:srgbClr val="7068F4"/>
                </a:solidFill>
                <a:latin typeface="Barlow Bold" pitchFamily="34" charset="0"/>
                <a:ea typeface="Barlow Bold" pitchFamily="34" charset="-122"/>
                <a:cs typeface="Barlow Bold" pitchFamily="34" charset="-120"/>
              </a:rPr>
              <a:t>Principales herramientas DevOps</a:t>
            </a:r>
            <a:endParaRPr lang="en-US" sz="4050" dirty="0"/>
          </a:p>
        </p:txBody>
      </p:sp>
      <p:sp>
        <p:nvSpPr>
          <p:cNvPr id="4" name="Shape 1"/>
          <p:cNvSpPr/>
          <p:nvPr/>
        </p:nvSpPr>
        <p:spPr>
          <a:xfrm>
            <a:off x="6178391" y="2305645"/>
            <a:ext cx="444818" cy="444818"/>
          </a:xfrm>
          <a:prstGeom prst="roundRect">
            <a:avLst>
              <a:gd name="adj" fmla="val 40005"/>
            </a:avLst>
          </a:prstGeom>
          <a:solidFill>
            <a:srgbClr val="EEEFF5"/>
          </a:solidFill>
          <a:ln/>
          <a:effectLst>
            <a:outerShdw sx="100000" sy="100000" kx="0" ky="0" algn="bl" rotWithShape="0" blurRad="48260" dist="24130" dir="13500000">
              <a:srgbClr val="ffffff">
                <a:alpha val="70000"/>
              </a:srgbClr>
            </a:outerShdw>
          </a:effectLst>
        </p:spPr>
      </p:sp>
      <p:sp>
        <p:nvSpPr>
          <p:cNvPr id="5" name="Text 2"/>
          <p:cNvSpPr/>
          <p:nvPr/>
        </p:nvSpPr>
        <p:spPr>
          <a:xfrm>
            <a:off x="6345555" y="2371963"/>
            <a:ext cx="110490" cy="312182"/>
          </a:xfrm>
          <a:prstGeom prst="rect">
            <a:avLst/>
          </a:prstGeom>
          <a:noFill/>
          <a:ln/>
        </p:spPr>
        <p:txBody>
          <a:bodyPr wrap="none" lIns="0" tIns="0" rIns="0" bIns="0" rtlCol="0" anchor="t"/>
          <a:lstStyle/>
          <a:p>
            <a:pPr algn="ctr" indent="0" marL="0">
              <a:lnSpc>
                <a:spcPts val="2450"/>
              </a:lnSpc>
              <a:buNone/>
            </a:pPr>
            <a:r>
              <a:rPr lang="en-US" sz="2450" b="1" dirty="0">
                <a:solidFill>
                  <a:srgbClr val="272525"/>
                </a:solidFill>
                <a:latin typeface="Barlow Bold" pitchFamily="34" charset="0"/>
                <a:ea typeface="Barlow Bold" pitchFamily="34" charset="-122"/>
                <a:cs typeface="Barlow Bold" pitchFamily="34" charset="-120"/>
              </a:rPr>
              <a:t>1</a:t>
            </a:r>
            <a:endParaRPr lang="en-US" sz="2450" dirty="0"/>
          </a:p>
        </p:txBody>
      </p:sp>
      <p:sp>
        <p:nvSpPr>
          <p:cNvPr id="6" name="Text 3"/>
          <p:cNvSpPr/>
          <p:nvPr/>
        </p:nvSpPr>
        <p:spPr>
          <a:xfrm>
            <a:off x="6820853" y="2305645"/>
            <a:ext cx="2601516" cy="325160"/>
          </a:xfrm>
          <a:prstGeom prst="rect">
            <a:avLst/>
          </a:prstGeom>
          <a:noFill/>
          <a:ln/>
        </p:spPr>
        <p:txBody>
          <a:bodyPr wrap="none" lIns="0" tIns="0" rIns="0" bIns="0" rtlCol="0" anchor="t"/>
          <a:lstStyle/>
          <a:p>
            <a:pPr indent="0" marL="0">
              <a:lnSpc>
                <a:spcPts val="2550"/>
              </a:lnSpc>
              <a:buNone/>
            </a:pPr>
            <a:r>
              <a:rPr lang="en-US" sz="2000" b="1" dirty="0">
                <a:solidFill>
                  <a:srgbClr val="272525"/>
                </a:solidFill>
                <a:latin typeface="Barlow Bold" pitchFamily="34" charset="0"/>
                <a:ea typeface="Barlow Bold" pitchFamily="34" charset="-122"/>
                <a:cs typeface="Barlow Bold" pitchFamily="34" charset="-120"/>
              </a:rPr>
              <a:t>Jenkins</a:t>
            </a:r>
            <a:endParaRPr lang="en-US" sz="2000" dirty="0"/>
          </a:p>
        </p:txBody>
      </p:sp>
      <p:sp>
        <p:nvSpPr>
          <p:cNvPr id="7" name="Text 4"/>
          <p:cNvSpPr/>
          <p:nvPr/>
        </p:nvSpPr>
        <p:spPr>
          <a:xfrm>
            <a:off x="6820853" y="2749391"/>
            <a:ext cx="3138726" cy="1581745"/>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Jenkins es una herramienta de automatización de código abierto que permite la integración y el despliegue continuos de aplicaciones.</a:t>
            </a:r>
            <a:endParaRPr lang="en-US" sz="1550" dirty="0"/>
          </a:p>
        </p:txBody>
      </p:sp>
      <p:sp>
        <p:nvSpPr>
          <p:cNvPr id="8" name="Shape 5"/>
          <p:cNvSpPr/>
          <p:nvPr/>
        </p:nvSpPr>
        <p:spPr>
          <a:xfrm>
            <a:off x="10157222" y="2305645"/>
            <a:ext cx="444818" cy="444818"/>
          </a:xfrm>
          <a:prstGeom prst="roundRect">
            <a:avLst>
              <a:gd name="adj" fmla="val 40005"/>
            </a:avLst>
          </a:prstGeom>
          <a:solidFill>
            <a:srgbClr val="EEEFF5"/>
          </a:solidFill>
          <a:ln/>
          <a:effectLst>
            <a:outerShdw sx="100000" sy="100000" kx="0" ky="0" algn="bl" rotWithShape="0" blurRad="48260" dist="24130" dir="13500000">
              <a:srgbClr val="ffffff">
                <a:alpha val="70000"/>
              </a:srgbClr>
            </a:outerShdw>
          </a:effectLst>
        </p:spPr>
      </p:sp>
      <p:sp>
        <p:nvSpPr>
          <p:cNvPr id="9" name="Text 6"/>
          <p:cNvSpPr/>
          <p:nvPr/>
        </p:nvSpPr>
        <p:spPr>
          <a:xfrm>
            <a:off x="10292239" y="2371963"/>
            <a:ext cx="174784" cy="312182"/>
          </a:xfrm>
          <a:prstGeom prst="rect">
            <a:avLst/>
          </a:prstGeom>
          <a:noFill/>
          <a:ln/>
        </p:spPr>
        <p:txBody>
          <a:bodyPr wrap="none" lIns="0" tIns="0" rIns="0" bIns="0" rtlCol="0" anchor="t"/>
          <a:lstStyle/>
          <a:p>
            <a:pPr algn="ctr" indent="0" marL="0">
              <a:lnSpc>
                <a:spcPts val="2450"/>
              </a:lnSpc>
              <a:buNone/>
            </a:pPr>
            <a:r>
              <a:rPr lang="en-US" sz="2450" b="1" dirty="0">
                <a:solidFill>
                  <a:srgbClr val="272525"/>
                </a:solidFill>
                <a:latin typeface="Barlow Bold" pitchFamily="34" charset="0"/>
                <a:ea typeface="Barlow Bold" pitchFamily="34" charset="-122"/>
                <a:cs typeface="Barlow Bold" pitchFamily="34" charset="-120"/>
              </a:rPr>
              <a:t>2</a:t>
            </a:r>
            <a:endParaRPr lang="en-US" sz="2450" dirty="0"/>
          </a:p>
        </p:txBody>
      </p:sp>
      <p:sp>
        <p:nvSpPr>
          <p:cNvPr id="10" name="Text 7"/>
          <p:cNvSpPr/>
          <p:nvPr/>
        </p:nvSpPr>
        <p:spPr>
          <a:xfrm>
            <a:off x="10799683" y="2305645"/>
            <a:ext cx="2601516" cy="325160"/>
          </a:xfrm>
          <a:prstGeom prst="rect">
            <a:avLst/>
          </a:prstGeom>
          <a:noFill/>
          <a:ln/>
        </p:spPr>
        <p:txBody>
          <a:bodyPr wrap="none" lIns="0" tIns="0" rIns="0" bIns="0" rtlCol="0" anchor="t"/>
          <a:lstStyle/>
          <a:p>
            <a:pPr indent="0" marL="0">
              <a:lnSpc>
                <a:spcPts val="2550"/>
              </a:lnSpc>
              <a:buNone/>
            </a:pPr>
            <a:r>
              <a:rPr lang="en-US" sz="2000" b="1" dirty="0">
                <a:solidFill>
                  <a:srgbClr val="272525"/>
                </a:solidFill>
                <a:latin typeface="Barlow Bold" pitchFamily="34" charset="0"/>
                <a:ea typeface="Barlow Bold" pitchFamily="34" charset="-122"/>
                <a:cs typeface="Barlow Bold" pitchFamily="34" charset="-120"/>
              </a:rPr>
              <a:t>GitLab CI/CD</a:t>
            </a:r>
            <a:endParaRPr lang="en-US" sz="2000" dirty="0"/>
          </a:p>
        </p:txBody>
      </p:sp>
      <p:sp>
        <p:nvSpPr>
          <p:cNvPr id="11" name="Text 8"/>
          <p:cNvSpPr/>
          <p:nvPr/>
        </p:nvSpPr>
        <p:spPr>
          <a:xfrm>
            <a:off x="10799683" y="2749391"/>
            <a:ext cx="3138726" cy="1581745"/>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GitLab CI/CD es una solución integrada de integración y despliegue continuos que se integra con el sistema de control de versiones GitLab.</a:t>
            </a:r>
            <a:endParaRPr lang="en-US" sz="1550" dirty="0"/>
          </a:p>
        </p:txBody>
      </p:sp>
      <p:sp>
        <p:nvSpPr>
          <p:cNvPr id="12" name="Shape 9"/>
          <p:cNvSpPr/>
          <p:nvPr/>
        </p:nvSpPr>
        <p:spPr>
          <a:xfrm>
            <a:off x="6178391" y="4751189"/>
            <a:ext cx="444818" cy="444818"/>
          </a:xfrm>
          <a:prstGeom prst="roundRect">
            <a:avLst>
              <a:gd name="adj" fmla="val 40005"/>
            </a:avLst>
          </a:prstGeom>
          <a:solidFill>
            <a:srgbClr val="EEEFF5"/>
          </a:solidFill>
          <a:ln/>
          <a:effectLst>
            <a:outerShdw sx="100000" sy="100000" kx="0" ky="0" algn="bl" rotWithShape="0" blurRad="48260" dist="24130" dir="13500000">
              <a:srgbClr val="ffffff">
                <a:alpha val="70000"/>
              </a:srgbClr>
            </a:outerShdw>
          </a:effectLst>
        </p:spPr>
      </p:sp>
      <p:sp>
        <p:nvSpPr>
          <p:cNvPr id="13" name="Text 10"/>
          <p:cNvSpPr/>
          <p:nvPr/>
        </p:nvSpPr>
        <p:spPr>
          <a:xfrm>
            <a:off x="6316504" y="4817507"/>
            <a:ext cx="168593" cy="312182"/>
          </a:xfrm>
          <a:prstGeom prst="rect">
            <a:avLst/>
          </a:prstGeom>
          <a:noFill/>
          <a:ln/>
        </p:spPr>
        <p:txBody>
          <a:bodyPr wrap="none" lIns="0" tIns="0" rIns="0" bIns="0" rtlCol="0" anchor="t"/>
          <a:lstStyle/>
          <a:p>
            <a:pPr algn="ctr" indent="0" marL="0">
              <a:lnSpc>
                <a:spcPts val="2450"/>
              </a:lnSpc>
              <a:buNone/>
            </a:pPr>
            <a:r>
              <a:rPr lang="en-US" sz="2450" b="1" dirty="0">
                <a:solidFill>
                  <a:srgbClr val="272525"/>
                </a:solidFill>
                <a:latin typeface="Barlow Bold" pitchFamily="34" charset="0"/>
                <a:ea typeface="Barlow Bold" pitchFamily="34" charset="-122"/>
                <a:cs typeface="Barlow Bold" pitchFamily="34" charset="-120"/>
              </a:rPr>
              <a:t>3</a:t>
            </a:r>
            <a:endParaRPr lang="en-US" sz="2450" dirty="0"/>
          </a:p>
        </p:txBody>
      </p:sp>
      <p:sp>
        <p:nvSpPr>
          <p:cNvPr id="14" name="Text 11"/>
          <p:cNvSpPr/>
          <p:nvPr/>
        </p:nvSpPr>
        <p:spPr>
          <a:xfrm>
            <a:off x="6820853" y="4751189"/>
            <a:ext cx="2601516" cy="325160"/>
          </a:xfrm>
          <a:prstGeom prst="rect">
            <a:avLst/>
          </a:prstGeom>
          <a:noFill/>
          <a:ln/>
        </p:spPr>
        <p:txBody>
          <a:bodyPr wrap="none" lIns="0" tIns="0" rIns="0" bIns="0" rtlCol="0" anchor="t"/>
          <a:lstStyle/>
          <a:p>
            <a:pPr indent="0" marL="0">
              <a:lnSpc>
                <a:spcPts val="2550"/>
              </a:lnSpc>
              <a:buNone/>
            </a:pPr>
            <a:r>
              <a:rPr lang="en-US" sz="2000" b="1" dirty="0">
                <a:solidFill>
                  <a:srgbClr val="272525"/>
                </a:solidFill>
                <a:latin typeface="Barlow Bold" pitchFamily="34" charset="0"/>
                <a:ea typeface="Barlow Bold" pitchFamily="34" charset="-122"/>
                <a:cs typeface="Barlow Bold" pitchFamily="34" charset="-120"/>
              </a:rPr>
              <a:t>Travis CI</a:t>
            </a:r>
            <a:endParaRPr lang="en-US" sz="2000" dirty="0"/>
          </a:p>
        </p:txBody>
      </p:sp>
      <p:sp>
        <p:nvSpPr>
          <p:cNvPr id="15" name="Text 12"/>
          <p:cNvSpPr/>
          <p:nvPr/>
        </p:nvSpPr>
        <p:spPr>
          <a:xfrm>
            <a:off x="6820853" y="5194935"/>
            <a:ext cx="3138726" cy="1898094"/>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Travis CI es un servicio de integración continua que permite automatizar la construcción y el despliegue de aplicaciones en diferentes entornos.</a:t>
            </a:r>
            <a:endParaRPr lang="en-US" sz="1550" dirty="0"/>
          </a:p>
        </p:txBody>
      </p:sp>
      <p:sp>
        <p:nvSpPr>
          <p:cNvPr id="16" name="Shape 13"/>
          <p:cNvSpPr/>
          <p:nvPr/>
        </p:nvSpPr>
        <p:spPr>
          <a:xfrm>
            <a:off x="10157222" y="4751189"/>
            <a:ext cx="444818" cy="444818"/>
          </a:xfrm>
          <a:prstGeom prst="roundRect">
            <a:avLst>
              <a:gd name="adj" fmla="val 40005"/>
            </a:avLst>
          </a:prstGeom>
          <a:solidFill>
            <a:srgbClr val="EEEFF5"/>
          </a:solidFill>
          <a:ln/>
          <a:effectLst>
            <a:outerShdw sx="100000" sy="100000" kx="0" ky="0" algn="bl" rotWithShape="0" blurRad="48260" dist="24130" dir="13500000">
              <a:srgbClr val="ffffff">
                <a:alpha val="70000"/>
              </a:srgbClr>
            </a:outerShdw>
          </a:effectLst>
        </p:spPr>
      </p:sp>
      <p:sp>
        <p:nvSpPr>
          <p:cNvPr id="17" name="Text 14"/>
          <p:cNvSpPr/>
          <p:nvPr/>
        </p:nvSpPr>
        <p:spPr>
          <a:xfrm>
            <a:off x="10285214" y="4817507"/>
            <a:ext cx="188833" cy="312182"/>
          </a:xfrm>
          <a:prstGeom prst="rect">
            <a:avLst/>
          </a:prstGeom>
          <a:noFill/>
          <a:ln/>
        </p:spPr>
        <p:txBody>
          <a:bodyPr wrap="none" lIns="0" tIns="0" rIns="0" bIns="0" rtlCol="0" anchor="t"/>
          <a:lstStyle/>
          <a:p>
            <a:pPr algn="ctr" indent="0" marL="0">
              <a:lnSpc>
                <a:spcPts val="2450"/>
              </a:lnSpc>
              <a:buNone/>
            </a:pPr>
            <a:r>
              <a:rPr lang="en-US" sz="2450" b="1" dirty="0">
                <a:solidFill>
                  <a:srgbClr val="272525"/>
                </a:solidFill>
                <a:latin typeface="Barlow Bold" pitchFamily="34" charset="0"/>
                <a:ea typeface="Barlow Bold" pitchFamily="34" charset="-122"/>
                <a:cs typeface="Barlow Bold" pitchFamily="34" charset="-120"/>
              </a:rPr>
              <a:t>4</a:t>
            </a:r>
            <a:endParaRPr lang="en-US" sz="2450" dirty="0"/>
          </a:p>
        </p:txBody>
      </p:sp>
      <p:sp>
        <p:nvSpPr>
          <p:cNvPr id="18" name="Text 15"/>
          <p:cNvSpPr/>
          <p:nvPr/>
        </p:nvSpPr>
        <p:spPr>
          <a:xfrm>
            <a:off x="10799683" y="4751189"/>
            <a:ext cx="2601516" cy="325160"/>
          </a:xfrm>
          <a:prstGeom prst="rect">
            <a:avLst/>
          </a:prstGeom>
          <a:noFill/>
          <a:ln/>
        </p:spPr>
        <p:txBody>
          <a:bodyPr wrap="none" lIns="0" tIns="0" rIns="0" bIns="0" rtlCol="0" anchor="t"/>
          <a:lstStyle/>
          <a:p>
            <a:pPr indent="0" marL="0">
              <a:lnSpc>
                <a:spcPts val="2550"/>
              </a:lnSpc>
              <a:buNone/>
            </a:pPr>
            <a:r>
              <a:rPr lang="en-US" sz="2000" b="1" dirty="0">
                <a:solidFill>
                  <a:srgbClr val="272525"/>
                </a:solidFill>
                <a:latin typeface="Barlow Bold" pitchFamily="34" charset="0"/>
                <a:ea typeface="Barlow Bold" pitchFamily="34" charset="-122"/>
                <a:cs typeface="Barlow Bold" pitchFamily="34" charset="-120"/>
              </a:rPr>
              <a:t>Docker y Kubernetes</a:t>
            </a:r>
            <a:endParaRPr lang="en-US" sz="2000" dirty="0"/>
          </a:p>
        </p:txBody>
      </p:sp>
      <p:sp>
        <p:nvSpPr>
          <p:cNvPr id="19" name="Text 16"/>
          <p:cNvSpPr/>
          <p:nvPr/>
        </p:nvSpPr>
        <p:spPr>
          <a:xfrm>
            <a:off x="10799683" y="5194935"/>
            <a:ext cx="3138726" cy="1898094"/>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Docker y Kubernetes son herramientas de contenedorización y orquestación de aplicaciones que facilitan el despliegue y la escalabilidad de los servicios.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8309" y="2410420"/>
            <a:ext cx="10099953" cy="712708"/>
          </a:xfrm>
          <a:prstGeom prst="rect">
            <a:avLst/>
          </a:prstGeom>
          <a:noFill/>
          <a:ln/>
        </p:spPr>
        <p:txBody>
          <a:bodyPr wrap="none" lIns="0" tIns="0" rIns="0" bIns="0" rtlCol="0" anchor="t"/>
          <a:lstStyle/>
          <a:p>
            <a:pP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DevOps vs. otros enfoques de desarrollo</a:t>
            </a:r>
            <a:endParaRPr lang="en-US" sz="4450" dirty="0"/>
          </a:p>
        </p:txBody>
      </p:sp>
      <p:sp>
        <p:nvSpPr>
          <p:cNvPr id="3" name="Text 1"/>
          <p:cNvSpPr/>
          <p:nvPr/>
        </p:nvSpPr>
        <p:spPr>
          <a:xfrm>
            <a:off x="758309" y="3664625"/>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DevOps</a:t>
            </a:r>
            <a:endParaRPr lang="en-US" sz="2200" dirty="0"/>
          </a:p>
        </p:txBody>
      </p:sp>
      <p:sp>
        <p:nvSpPr>
          <p:cNvPr id="4" name="Text 2"/>
          <p:cNvSpPr/>
          <p:nvPr/>
        </p:nvSpPr>
        <p:spPr>
          <a:xfrm>
            <a:off x="758309" y="4237434"/>
            <a:ext cx="4018359" cy="138684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DevOps se enfoca en la colaboración entre equipos, la automatización de procesos y la entrega continua de software de alta calidad.</a:t>
            </a:r>
            <a:endParaRPr lang="en-US" sz="1700" dirty="0"/>
          </a:p>
        </p:txBody>
      </p:sp>
      <p:sp>
        <p:nvSpPr>
          <p:cNvPr id="5" name="Text 3"/>
          <p:cNvSpPr/>
          <p:nvPr/>
        </p:nvSpPr>
        <p:spPr>
          <a:xfrm>
            <a:off x="5312926" y="3664625"/>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Agile</a:t>
            </a:r>
            <a:endParaRPr lang="en-US" sz="2200" dirty="0"/>
          </a:p>
        </p:txBody>
      </p:sp>
      <p:sp>
        <p:nvSpPr>
          <p:cNvPr id="6" name="Text 4"/>
          <p:cNvSpPr/>
          <p:nvPr/>
        </p:nvSpPr>
        <p:spPr>
          <a:xfrm>
            <a:off x="5312926" y="4237434"/>
            <a:ext cx="4018359" cy="138684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Agile se basa en un enfoque iterativo y adaptable al cambio, con mayor participación del cliente y entregas frecuentes de funcionalidades.</a:t>
            </a:r>
            <a:endParaRPr lang="en-US" sz="1700" dirty="0"/>
          </a:p>
        </p:txBody>
      </p:sp>
      <p:sp>
        <p:nvSpPr>
          <p:cNvPr id="7" name="Text 5"/>
          <p:cNvSpPr/>
          <p:nvPr/>
        </p:nvSpPr>
        <p:spPr>
          <a:xfrm>
            <a:off x="9867543" y="3664625"/>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Waterfall</a:t>
            </a:r>
            <a:endParaRPr lang="en-US" sz="2200" dirty="0"/>
          </a:p>
        </p:txBody>
      </p:sp>
      <p:sp>
        <p:nvSpPr>
          <p:cNvPr id="8" name="Text 6"/>
          <p:cNvSpPr/>
          <p:nvPr/>
        </p:nvSpPr>
        <p:spPr>
          <a:xfrm>
            <a:off x="9867543" y="4237434"/>
            <a:ext cx="4018359" cy="138684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Waterfall es un enfoque lineal y secuencial, donde cada fase del proyecto debe completarse antes de pasar a la siguiente.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8309" y="661511"/>
            <a:ext cx="7585472" cy="712708"/>
          </a:xfrm>
          <a:prstGeom prst="rect">
            <a:avLst/>
          </a:prstGeom>
          <a:noFill/>
          <a:ln/>
        </p:spPr>
        <p:txBody>
          <a:bodyPr wrap="none" lIns="0" tIns="0" rIns="0" bIns="0" rtlCol="0" anchor="t"/>
          <a:lstStyle/>
          <a:p>
            <a:pP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Beneficios de adoptar DevOps</a:t>
            </a:r>
            <a:endParaRPr lang="en-US" sz="4450" dirty="0"/>
          </a:p>
        </p:txBody>
      </p:sp>
      <p:sp>
        <p:nvSpPr>
          <p:cNvPr id="4" name="Shape 1"/>
          <p:cNvSpPr/>
          <p:nvPr/>
        </p:nvSpPr>
        <p:spPr>
          <a:xfrm>
            <a:off x="758309" y="1699141"/>
            <a:ext cx="3705463" cy="2999542"/>
          </a:xfrm>
          <a:prstGeom prst="roundRect">
            <a:avLst>
              <a:gd name="adj" fmla="val 6501"/>
            </a:avLst>
          </a:prstGeom>
          <a:solidFill>
            <a:srgbClr val="EEEFF5"/>
          </a:solidFill>
          <a:ln/>
          <a:effectLst>
            <a:outerShdw sx="100000" sy="100000" kx="0" ky="0" algn="bl" rotWithShape="0" blurRad="53340" dist="26670" dir="13500000">
              <a:srgbClr val="ffffff">
                <a:alpha val="70000"/>
              </a:srgbClr>
            </a:outerShdw>
          </a:effectLst>
        </p:spPr>
      </p:sp>
      <p:sp>
        <p:nvSpPr>
          <p:cNvPr id="5" name="Text 2"/>
          <p:cNvSpPr/>
          <p:nvPr/>
        </p:nvSpPr>
        <p:spPr>
          <a:xfrm>
            <a:off x="974884" y="1915716"/>
            <a:ext cx="3008948" cy="356235"/>
          </a:xfrm>
          <a:prstGeom prst="rect">
            <a:avLst/>
          </a:prstGeom>
          <a:noFill/>
          <a:ln/>
        </p:spPr>
        <p:txBody>
          <a:bodyPr wrap="none" lIns="0" tIns="0" rIns="0" bIns="0" rtlCol="0" anchor="t"/>
          <a:lstStyle/>
          <a:p>
            <a:pPr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Entrega Rápida de Valor</a:t>
            </a:r>
            <a:endParaRPr lang="en-US" sz="2200" dirty="0"/>
          </a:p>
        </p:txBody>
      </p:sp>
      <p:sp>
        <p:nvSpPr>
          <p:cNvPr id="6" name="Text 3"/>
          <p:cNvSpPr/>
          <p:nvPr/>
        </p:nvSpPr>
        <p:spPr>
          <a:xfrm>
            <a:off x="974884" y="2401848"/>
            <a:ext cx="3272314" cy="208026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DevOps permite entregar nuevas funcionalidades a los usuarios de manera continua y ágil, respondiendo rápidamente a los cambios del mercado.</a:t>
            </a:r>
            <a:endParaRPr lang="en-US" sz="1700" dirty="0"/>
          </a:p>
        </p:txBody>
      </p:sp>
      <p:sp>
        <p:nvSpPr>
          <p:cNvPr id="7" name="Shape 4"/>
          <p:cNvSpPr/>
          <p:nvPr/>
        </p:nvSpPr>
        <p:spPr>
          <a:xfrm>
            <a:off x="4680347" y="1699141"/>
            <a:ext cx="3705463" cy="2999542"/>
          </a:xfrm>
          <a:prstGeom prst="roundRect">
            <a:avLst>
              <a:gd name="adj" fmla="val 6501"/>
            </a:avLst>
          </a:prstGeom>
          <a:solidFill>
            <a:srgbClr val="EEEFF5"/>
          </a:solidFill>
          <a:ln/>
          <a:effectLst>
            <a:outerShdw sx="100000" sy="100000" kx="0" ky="0" algn="bl" rotWithShape="0" blurRad="53340" dist="26670" dir="13500000">
              <a:srgbClr val="ffffff">
                <a:alpha val="70000"/>
              </a:srgbClr>
            </a:outerShdw>
          </a:effectLst>
        </p:spPr>
      </p:sp>
      <p:sp>
        <p:nvSpPr>
          <p:cNvPr id="8" name="Text 5"/>
          <p:cNvSpPr/>
          <p:nvPr/>
        </p:nvSpPr>
        <p:spPr>
          <a:xfrm>
            <a:off x="4896922" y="1915716"/>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Mayor Calidad</a:t>
            </a:r>
            <a:endParaRPr lang="en-US" sz="2200" dirty="0"/>
          </a:p>
        </p:txBody>
      </p:sp>
      <p:sp>
        <p:nvSpPr>
          <p:cNvPr id="9" name="Text 6"/>
          <p:cNvSpPr/>
          <p:nvPr/>
        </p:nvSpPr>
        <p:spPr>
          <a:xfrm>
            <a:off x="4896922" y="2401848"/>
            <a:ext cx="3272314" cy="173355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La automatización de pruebas y despliegues, junto con una mejor colaboración, reduce los errores y mejora la calidad del software.</a:t>
            </a:r>
            <a:endParaRPr lang="en-US" sz="1700" dirty="0"/>
          </a:p>
        </p:txBody>
      </p:sp>
      <p:sp>
        <p:nvSpPr>
          <p:cNvPr id="10" name="Shape 7"/>
          <p:cNvSpPr/>
          <p:nvPr/>
        </p:nvSpPr>
        <p:spPr>
          <a:xfrm>
            <a:off x="758309" y="4915257"/>
            <a:ext cx="3705463" cy="2652832"/>
          </a:xfrm>
          <a:prstGeom prst="roundRect">
            <a:avLst>
              <a:gd name="adj" fmla="val 7350"/>
            </a:avLst>
          </a:prstGeom>
          <a:solidFill>
            <a:srgbClr val="EEEFF5"/>
          </a:solidFill>
          <a:ln/>
          <a:effectLst>
            <a:outerShdw sx="100000" sy="100000" kx="0" ky="0" algn="bl" rotWithShape="0" blurRad="53340" dist="26670" dir="13500000">
              <a:srgbClr val="ffffff">
                <a:alpha val="70000"/>
              </a:srgbClr>
            </a:outerShdw>
          </a:effectLst>
        </p:spPr>
      </p:sp>
      <p:sp>
        <p:nvSpPr>
          <p:cNvPr id="11" name="Text 8"/>
          <p:cNvSpPr/>
          <p:nvPr/>
        </p:nvSpPr>
        <p:spPr>
          <a:xfrm>
            <a:off x="974884" y="5131832"/>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Mayor Eficiencia</a:t>
            </a:r>
            <a:endParaRPr lang="en-US" sz="2200" dirty="0"/>
          </a:p>
        </p:txBody>
      </p:sp>
      <p:sp>
        <p:nvSpPr>
          <p:cNvPr id="12" name="Text 9"/>
          <p:cNvSpPr/>
          <p:nvPr/>
        </p:nvSpPr>
        <p:spPr>
          <a:xfrm>
            <a:off x="974884" y="5617964"/>
            <a:ext cx="3272314" cy="173355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DevOps optimiza los procesos y elimina desperdicios, lo que se traduce en una mayor productividad y eficiencia para la organización.</a:t>
            </a:r>
            <a:endParaRPr lang="en-US" sz="1700" dirty="0"/>
          </a:p>
        </p:txBody>
      </p:sp>
      <p:sp>
        <p:nvSpPr>
          <p:cNvPr id="13" name="Shape 10"/>
          <p:cNvSpPr/>
          <p:nvPr/>
        </p:nvSpPr>
        <p:spPr>
          <a:xfrm>
            <a:off x="4680347" y="4915257"/>
            <a:ext cx="3705463" cy="2652832"/>
          </a:xfrm>
          <a:prstGeom prst="roundRect">
            <a:avLst>
              <a:gd name="adj" fmla="val 7350"/>
            </a:avLst>
          </a:prstGeom>
          <a:solidFill>
            <a:srgbClr val="EEEFF5"/>
          </a:solidFill>
          <a:ln/>
          <a:effectLst>
            <a:outerShdw sx="100000" sy="100000" kx="0" ky="0" algn="bl" rotWithShape="0" blurRad="53340" dist="26670" dir="13500000">
              <a:srgbClr val="ffffff">
                <a:alpha val="70000"/>
              </a:srgbClr>
            </a:outerShdw>
          </a:effectLst>
        </p:spPr>
      </p:sp>
      <p:sp>
        <p:nvSpPr>
          <p:cNvPr id="14" name="Text 11"/>
          <p:cNvSpPr/>
          <p:nvPr/>
        </p:nvSpPr>
        <p:spPr>
          <a:xfrm>
            <a:off x="4896922" y="5131832"/>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Mejor Alineación</a:t>
            </a:r>
            <a:endParaRPr lang="en-US" sz="2200" dirty="0"/>
          </a:p>
        </p:txBody>
      </p:sp>
      <p:sp>
        <p:nvSpPr>
          <p:cNvPr id="15" name="Text 12"/>
          <p:cNvSpPr/>
          <p:nvPr/>
        </p:nvSpPr>
        <p:spPr>
          <a:xfrm>
            <a:off x="4896922" y="5617964"/>
            <a:ext cx="3272314" cy="173355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La colaboración entre desarrollo y operaciones asegura que el software entregado se ajuste a las necesidades del negocio.</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2815"/>
          </a:xfrm>
          <a:prstGeom prst="rect">
            <a:avLst/>
          </a:prstGeom>
        </p:spPr>
      </p:pic>
      <p:sp>
        <p:nvSpPr>
          <p:cNvPr id="3" name="Text 0"/>
          <p:cNvSpPr/>
          <p:nvPr/>
        </p:nvSpPr>
        <p:spPr>
          <a:xfrm>
            <a:off x="683419" y="536972"/>
            <a:ext cx="7777163" cy="1284684"/>
          </a:xfrm>
          <a:prstGeom prst="rect">
            <a:avLst/>
          </a:prstGeom>
          <a:noFill/>
          <a:ln/>
        </p:spPr>
        <p:txBody>
          <a:bodyPr wrap="square" lIns="0" tIns="0" rIns="0" bIns="0" rtlCol="0" anchor="t"/>
          <a:lstStyle/>
          <a:p>
            <a:pPr indent="0" marL="0">
              <a:lnSpc>
                <a:spcPts val="5050"/>
              </a:lnSpc>
              <a:buNone/>
            </a:pPr>
            <a:r>
              <a:rPr lang="en-US" sz="4000" b="1" dirty="0">
                <a:solidFill>
                  <a:srgbClr val="7068F4"/>
                </a:solidFill>
                <a:latin typeface="Barlow Bold" pitchFamily="34" charset="0"/>
                <a:ea typeface="Barlow Bold" pitchFamily="34" charset="-122"/>
                <a:cs typeface="Barlow Bold" pitchFamily="34" charset="-120"/>
              </a:rPr>
              <a:t>Retos y desafíos de implementar DevOps</a:t>
            </a:r>
            <a:endParaRPr lang="en-US" sz="4000" dirty="0"/>
          </a:p>
        </p:txBody>
      </p:sp>
      <p:sp>
        <p:nvSpPr>
          <p:cNvPr id="4" name="Shape 1"/>
          <p:cNvSpPr/>
          <p:nvPr/>
        </p:nvSpPr>
        <p:spPr>
          <a:xfrm>
            <a:off x="683419" y="2334220"/>
            <a:ext cx="439341" cy="439341"/>
          </a:xfrm>
          <a:prstGeom prst="roundRect">
            <a:avLst>
              <a:gd name="adj" fmla="val 40001"/>
            </a:avLst>
          </a:prstGeom>
          <a:solidFill>
            <a:srgbClr val="EEEFF5"/>
          </a:solidFill>
          <a:ln/>
          <a:effectLst>
            <a:outerShdw sx="100000" sy="100000" kx="0" ky="0" algn="bl" rotWithShape="0" blurRad="48260" dist="24130" dir="13500000">
              <a:srgbClr val="ffffff">
                <a:alpha val="70000"/>
              </a:srgbClr>
            </a:outerShdw>
          </a:effectLst>
        </p:spPr>
      </p:sp>
      <p:sp>
        <p:nvSpPr>
          <p:cNvPr id="5" name="Text 2"/>
          <p:cNvSpPr/>
          <p:nvPr/>
        </p:nvSpPr>
        <p:spPr>
          <a:xfrm>
            <a:off x="848439" y="2399705"/>
            <a:ext cx="109180" cy="308372"/>
          </a:xfrm>
          <a:prstGeom prst="rect">
            <a:avLst/>
          </a:prstGeom>
          <a:noFill/>
          <a:ln/>
        </p:spPr>
        <p:txBody>
          <a:bodyPr wrap="none" lIns="0" tIns="0" rIns="0" bIns="0" rtlCol="0" anchor="t"/>
          <a:lstStyle/>
          <a:p>
            <a:pPr algn="ctr" indent="0" marL="0">
              <a:lnSpc>
                <a:spcPts val="2400"/>
              </a:lnSpc>
              <a:buNone/>
            </a:pPr>
            <a:r>
              <a:rPr lang="en-US" sz="2400" b="1" dirty="0">
                <a:solidFill>
                  <a:srgbClr val="272525"/>
                </a:solidFill>
                <a:latin typeface="Barlow Bold" pitchFamily="34" charset="0"/>
                <a:ea typeface="Barlow Bold" pitchFamily="34" charset="-122"/>
                <a:cs typeface="Barlow Bold" pitchFamily="34" charset="-120"/>
              </a:rPr>
              <a:t>1</a:t>
            </a:r>
            <a:endParaRPr lang="en-US" sz="2400" dirty="0"/>
          </a:p>
        </p:txBody>
      </p:sp>
      <p:sp>
        <p:nvSpPr>
          <p:cNvPr id="6" name="Text 3"/>
          <p:cNvSpPr/>
          <p:nvPr/>
        </p:nvSpPr>
        <p:spPr>
          <a:xfrm>
            <a:off x="1318022" y="2334220"/>
            <a:ext cx="2569250" cy="321112"/>
          </a:xfrm>
          <a:prstGeom prst="rect">
            <a:avLst/>
          </a:prstGeom>
          <a:noFill/>
          <a:ln/>
        </p:spPr>
        <p:txBody>
          <a:bodyPr wrap="none" lIns="0" tIns="0" rIns="0" bIns="0" rtlCol="0" anchor="t"/>
          <a:lstStyle/>
          <a:p>
            <a:pPr indent="0" marL="0">
              <a:lnSpc>
                <a:spcPts val="2500"/>
              </a:lnSpc>
              <a:buNone/>
            </a:pPr>
            <a:r>
              <a:rPr lang="en-US" sz="2000" b="1" dirty="0">
                <a:solidFill>
                  <a:srgbClr val="272525"/>
                </a:solidFill>
                <a:latin typeface="Barlow Bold" pitchFamily="34" charset="0"/>
                <a:ea typeface="Barlow Bold" pitchFamily="34" charset="-122"/>
                <a:cs typeface="Barlow Bold" pitchFamily="34" charset="-120"/>
              </a:rPr>
              <a:t>Resistencia al Cambio</a:t>
            </a:r>
            <a:endParaRPr lang="en-US" sz="2000" dirty="0"/>
          </a:p>
        </p:txBody>
      </p:sp>
      <p:sp>
        <p:nvSpPr>
          <p:cNvPr id="7" name="Text 4"/>
          <p:cNvSpPr/>
          <p:nvPr/>
        </p:nvSpPr>
        <p:spPr>
          <a:xfrm>
            <a:off x="1318022" y="2772489"/>
            <a:ext cx="3156347" cy="1562100"/>
          </a:xfrm>
          <a:prstGeom prst="rect">
            <a:avLst/>
          </a:prstGeom>
          <a:noFill/>
          <a:ln/>
        </p:spPr>
        <p:txBody>
          <a:bodyPr wrap="square" lIns="0" tIns="0" rIns="0" bIns="0" rtlCol="0" anchor="t"/>
          <a:lstStyle/>
          <a:p>
            <a:pPr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Cambiar la cultura y las formas de trabajar puede generar resistencia en algunos equipos, lo que requiere un liderazgo y una comunicación efectivos.</a:t>
            </a:r>
            <a:endParaRPr lang="en-US" sz="1500" dirty="0"/>
          </a:p>
        </p:txBody>
      </p:sp>
      <p:sp>
        <p:nvSpPr>
          <p:cNvPr id="8" name="Shape 5"/>
          <p:cNvSpPr/>
          <p:nvPr/>
        </p:nvSpPr>
        <p:spPr>
          <a:xfrm>
            <a:off x="4669631" y="2334220"/>
            <a:ext cx="439341" cy="439341"/>
          </a:xfrm>
          <a:prstGeom prst="roundRect">
            <a:avLst>
              <a:gd name="adj" fmla="val 40001"/>
            </a:avLst>
          </a:prstGeom>
          <a:solidFill>
            <a:srgbClr val="EEEFF5"/>
          </a:solidFill>
          <a:ln/>
          <a:effectLst>
            <a:outerShdw sx="100000" sy="100000" kx="0" ky="0" algn="bl" rotWithShape="0" blurRad="48260" dist="24130" dir="13500000">
              <a:srgbClr val="ffffff">
                <a:alpha val="70000"/>
              </a:srgbClr>
            </a:outerShdw>
          </a:effectLst>
        </p:spPr>
      </p:sp>
      <p:sp>
        <p:nvSpPr>
          <p:cNvPr id="9" name="Text 6"/>
          <p:cNvSpPr/>
          <p:nvPr/>
        </p:nvSpPr>
        <p:spPr>
          <a:xfrm>
            <a:off x="4802981" y="2399705"/>
            <a:ext cx="172641" cy="308372"/>
          </a:xfrm>
          <a:prstGeom prst="rect">
            <a:avLst/>
          </a:prstGeom>
          <a:noFill/>
          <a:ln/>
        </p:spPr>
        <p:txBody>
          <a:bodyPr wrap="none" lIns="0" tIns="0" rIns="0" bIns="0" rtlCol="0" anchor="t"/>
          <a:lstStyle/>
          <a:p>
            <a:pPr algn="ctr" indent="0" marL="0">
              <a:lnSpc>
                <a:spcPts val="2400"/>
              </a:lnSpc>
              <a:buNone/>
            </a:pPr>
            <a:r>
              <a:rPr lang="en-US" sz="2400" b="1" dirty="0">
                <a:solidFill>
                  <a:srgbClr val="272525"/>
                </a:solidFill>
                <a:latin typeface="Barlow Bold" pitchFamily="34" charset="0"/>
                <a:ea typeface="Barlow Bold" pitchFamily="34" charset="-122"/>
                <a:cs typeface="Barlow Bold" pitchFamily="34" charset="-120"/>
              </a:rPr>
              <a:t>2</a:t>
            </a:r>
            <a:endParaRPr lang="en-US" sz="2400" dirty="0"/>
          </a:p>
        </p:txBody>
      </p:sp>
      <p:sp>
        <p:nvSpPr>
          <p:cNvPr id="10" name="Text 7"/>
          <p:cNvSpPr/>
          <p:nvPr/>
        </p:nvSpPr>
        <p:spPr>
          <a:xfrm>
            <a:off x="5304234" y="2334220"/>
            <a:ext cx="3156347" cy="642223"/>
          </a:xfrm>
          <a:prstGeom prst="rect">
            <a:avLst/>
          </a:prstGeom>
          <a:noFill/>
          <a:ln/>
        </p:spPr>
        <p:txBody>
          <a:bodyPr wrap="square" lIns="0" tIns="0" rIns="0" bIns="0" rtlCol="0" anchor="t"/>
          <a:lstStyle/>
          <a:p>
            <a:pPr indent="0" marL="0">
              <a:lnSpc>
                <a:spcPts val="2500"/>
              </a:lnSpc>
              <a:buNone/>
            </a:pPr>
            <a:r>
              <a:rPr lang="en-US" sz="2000" b="1" dirty="0">
                <a:solidFill>
                  <a:srgbClr val="272525"/>
                </a:solidFill>
                <a:latin typeface="Barlow Bold" pitchFamily="34" charset="0"/>
                <a:ea typeface="Barlow Bold" pitchFamily="34" charset="-122"/>
                <a:cs typeface="Barlow Bold" pitchFamily="34" charset="-120"/>
              </a:rPr>
              <a:t>Integración de Herramientas</a:t>
            </a:r>
            <a:endParaRPr lang="en-US" sz="2000" dirty="0"/>
          </a:p>
        </p:txBody>
      </p:sp>
      <p:sp>
        <p:nvSpPr>
          <p:cNvPr id="11" name="Text 8"/>
          <p:cNvSpPr/>
          <p:nvPr/>
        </p:nvSpPr>
        <p:spPr>
          <a:xfrm>
            <a:off x="5304234" y="3093601"/>
            <a:ext cx="3156347" cy="1874520"/>
          </a:xfrm>
          <a:prstGeom prst="rect">
            <a:avLst/>
          </a:prstGeom>
          <a:noFill/>
          <a:ln/>
        </p:spPr>
        <p:txBody>
          <a:bodyPr wrap="square" lIns="0" tIns="0" rIns="0" bIns="0" rtlCol="0" anchor="t"/>
          <a:lstStyle/>
          <a:p>
            <a:pPr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Integrar las diferentes herramientas y tecnologías utilizadas por los equipos de desarrollo y operaciones puede ser un desafío técnico importante.</a:t>
            </a:r>
            <a:endParaRPr lang="en-US" sz="1500" dirty="0"/>
          </a:p>
        </p:txBody>
      </p:sp>
      <p:sp>
        <p:nvSpPr>
          <p:cNvPr id="12" name="Shape 9"/>
          <p:cNvSpPr/>
          <p:nvPr/>
        </p:nvSpPr>
        <p:spPr>
          <a:xfrm>
            <a:off x="683419" y="5383054"/>
            <a:ext cx="439341" cy="439341"/>
          </a:xfrm>
          <a:prstGeom prst="roundRect">
            <a:avLst>
              <a:gd name="adj" fmla="val 40001"/>
            </a:avLst>
          </a:prstGeom>
          <a:solidFill>
            <a:srgbClr val="EEEFF5"/>
          </a:solidFill>
          <a:ln/>
          <a:effectLst>
            <a:outerShdw sx="100000" sy="100000" kx="0" ky="0" algn="bl" rotWithShape="0" blurRad="48260" dist="24130" dir="13500000">
              <a:srgbClr val="ffffff">
                <a:alpha val="70000"/>
              </a:srgbClr>
            </a:outerShdw>
          </a:effectLst>
        </p:spPr>
      </p:sp>
      <p:sp>
        <p:nvSpPr>
          <p:cNvPr id="13" name="Text 10"/>
          <p:cNvSpPr/>
          <p:nvPr/>
        </p:nvSpPr>
        <p:spPr>
          <a:xfrm>
            <a:off x="819745" y="5448538"/>
            <a:ext cx="166568" cy="308372"/>
          </a:xfrm>
          <a:prstGeom prst="rect">
            <a:avLst/>
          </a:prstGeom>
          <a:noFill/>
          <a:ln/>
        </p:spPr>
        <p:txBody>
          <a:bodyPr wrap="none" lIns="0" tIns="0" rIns="0" bIns="0" rtlCol="0" anchor="t"/>
          <a:lstStyle/>
          <a:p>
            <a:pPr algn="ctr" indent="0" marL="0">
              <a:lnSpc>
                <a:spcPts val="2400"/>
              </a:lnSpc>
              <a:buNone/>
            </a:pPr>
            <a:r>
              <a:rPr lang="en-US" sz="2400" b="1" dirty="0">
                <a:solidFill>
                  <a:srgbClr val="272525"/>
                </a:solidFill>
                <a:latin typeface="Barlow Bold" pitchFamily="34" charset="0"/>
                <a:ea typeface="Barlow Bold" pitchFamily="34" charset="-122"/>
                <a:cs typeface="Barlow Bold" pitchFamily="34" charset="-120"/>
              </a:rPr>
              <a:t>3</a:t>
            </a:r>
            <a:endParaRPr lang="en-US" sz="2400" dirty="0"/>
          </a:p>
        </p:txBody>
      </p:sp>
      <p:sp>
        <p:nvSpPr>
          <p:cNvPr id="14" name="Text 11"/>
          <p:cNvSpPr/>
          <p:nvPr/>
        </p:nvSpPr>
        <p:spPr>
          <a:xfrm>
            <a:off x="1318022" y="5383054"/>
            <a:ext cx="2569250" cy="321112"/>
          </a:xfrm>
          <a:prstGeom prst="rect">
            <a:avLst/>
          </a:prstGeom>
          <a:noFill/>
          <a:ln/>
        </p:spPr>
        <p:txBody>
          <a:bodyPr wrap="none" lIns="0" tIns="0" rIns="0" bIns="0" rtlCol="0" anchor="t"/>
          <a:lstStyle/>
          <a:p>
            <a:pPr indent="0" marL="0">
              <a:lnSpc>
                <a:spcPts val="2500"/>
              </a:lnSpc>
              <a:buNone/>
            </a:pPr>
            <a:r>
              <a:rPr lang="en-US" sz="2000" b="1" dirty="0">
                <a:solidFill>
                  <a:srgbClr val="272525"/>
                </a:solidFill>
                <a:latin typeface="Barlow Bold" pitchFamily="34" charset="0"/>
                <a:ea typeface="Barlow Bold" pitchFamily="34" charset="-122"/>
                <a:cs typeface="Barlow Bold" pitchFamily="34" charset="-120"/>
              </a:rPr>
              <a:t>Falta de Habilidades</a:t>
            </a:r>
            <a:endParaRPr lang="en-US" sz="2000" dirty="0"/>
          </a:p>
        </p:txBody>
      </p:sp>
      <p:sp>
        <p:nvSpPr>
          <p:cNvPr id="15" name="Text 12"/>
          <p:cNvSpPr/>
          <p:nvPr/>
        </p:nvSpPr>
        <p:spPr>
          <a:xfrm>
            <a:off x="1318022" y="5821323"/>
            <a:ext cx="3156347" cy="1874520"/>
          </a:xfrm>
          <a:prstGeom prst="rect">
            <a:avLst/>
          </a:prstGeom>
          <a:noFill/>
          <a:ln/>
        </p:spPr>
        <p:txBody>
          <a:bodyPr wrap="square" lIns="0" tIns="0" rIns="0" bIns="0" rtlCol="0" anchor="t"/>
          <a:lstStyle/>
          <a:p>
            <a:pPr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La adopción de DevOps requiere nuevas habilidades y conocimientos, por lo que es necesario invertir en la formación y el desarrollo del personal.</a:t>
            </a:r>
            <a:endParaRPr lang="en-US" sz="1500" dirty="0"/>
          </a:p>
        </p:txBody>
      </p:sp>
      <p:sp>
        <p:nvSpPr>
          <p:cNvPr id="16" name="Shape 13"/>
          <p:cNvSpPr/>
          <p:nvPr/>
        </p:nvSpPr>
        <p:spPr>
          <a:xfrm>
            <a:off x="4669631" y="5383054"/>
            <a:ext cx="439341" cy="439341"/>
          </a:xfrm>
          <a:prstGeom prst="roundRect">
            <a:avLst>
              <a:gd name="adj" fmla="val 40001"/>
            </a:avLst>
          </a:prstGeom>
          <a:solidFill>
            <a:srgbClr val="EEEFF5"/>
          </a:solidFill>
          <a:ln/>
          <a:effectLst>
            <a:outerShdw sx="100000" sy="100000" kx="0" ky="0" algn="bl" rotWithShape="0" blurRad="48260" dist="24130" dir="13500000">
              <a:srgbClr val="ffffff">
                <a:alpha val="70000"/>
              </a:srgbClr>
            </a:outerShdw>
          </a:effectLst>
        </p:spPr>
      </p:sp>
      <p:sp>
        <p:nvSpPr>
          <p:cNvPr id="17" name="Text 14"/>
          <p:cNvSpPr/>
          <p:nvPr/>
        </p:nvSpPr>
        <p:spPr>
          <a:xfrm>
            <a:off x="4795957" y="5448538"/>
            <a:ext cx="186571" cy="308372"/>
          </a:xfrm>
          <a:prstGeom prst="rect">
            <a:avLst/>
          </a:prstGeom>
          <a:noFill/>
          <a:ln/>
        </p:spPr>
        <p:txBody>
          <a:bodyPr wrap="none" lIns="0" tIns="0" rIns="0" bIns="0" rtlCol="0" anchor="t"/>
          <a:lstStyle/>
          <a:p>
            <a:pPr algn="ctr" indent="0" marL="0">
              <a:lnSpc>
                <a:spcPts val="2400"/>
              </a:lnSpc>
              <a:buNone/>
            </a:pPr>
            <a:r>
              <a:rPr lang="en-US" sz="2400" b="1" dirty="0">
                <a:solidFill>
                  <a:srgbClr val="272525"/>
                </a:solidFill>
                <a:latin typeface="Barlow Bold" pitchFamily="34" charset="0"/>
                <a:ea typeface="Barlow Bold" pitchFamily="34" charset="-122"/>
                <a:cs typeface="Barlow Bold" pitchFamily="34" charset="-120"/>
              </a:rPr>
              <a:t>4</a:t>
            </a:r>
            <a:endParaRPr lang="en-US" sz="2400" dirty="0"/>
          </a:p>
        </p:txBody>
      </p:sp>
      <p:sp>
        <p:nvSpPr>
          <p:cNvPr id="18" name="Text 15"/>
          <p:cNvSpPr/>
          <p:nvPr/>
        </p:nvSpPr>
        <p:spPr>
          <a:xfrm>
            <a:off x="5304234" y="5383054"/>
            <a:ext cx="2569250" cy="321112"/>
          </a:xfrm>
          <a:prstGeom prst="rect">
            <a:avLst/>
          </a:prstGeom>
          <a:noFill/>
          <a:ln/>
        </p:spPr>
        <p:txBody>
          <a:bodyPr wrap="none" lIns="0" tIns="0" rIns="0" bIns="0" rtlCol="0" anchor="t"/>
          <a:lstStyle/>
          <a:p>
            <a:pPr indent="0" marL="0">
              <a:lnSpc>
                <a:spcPts val="2500"/>
              </a:lnSpc>
              <a:buNone/>
            </a:pPr>
            <a:r>
              <a:rPr lang="en-US" sz="2000" b="1" dirty="0">
                <a:solidFill>
                  <a:srgbClr val="272525"/>
                </a:solidFill>
                <a:latin typeface="Barlow Bold" pitchFamily="34" charset="0"/>
                <a:ea typeface="Barlow Bold" pitchFamily="34" charset="-122"/>
                <a:cs typeface="Barlow Bold" pitchFamily="34" charset="-120"/>
              </a:rPr>
              <a:t>Métricas y Medición</a:t>
            </a:r>
            <a:endParaRPr lang="en-US" sz="2000" dirty="0"/>
          </a:p>
        </p:txBody>
      </p:sp>
      <p:sp>
        <p:nvSpPr>
          <p:cNvPr id="19" name="Text 16"/>
          <p:cNvSpPr/>
          <p:nvPr/>
        </p:nvSpPr>
        <p:spPr>
          <a:xfrm>
            <a:off x="5304234" y="5821323"/>
            <a:ext cx="3156347" cy="1562100"/>
          </a:xfrm>
          <a:prstGeom prst="rect">
            <a:avLst/>
          </a:prstGeom>
          <a:noFill/>
          <a:ln/>
        </p:spPr>
        <p:txBody>
          <a:bodyPr wrap="square" lIns="0" tIns="0" rIns="0" bIns="0" rtlCol="0" anchor="t"/>
          <a:lstStyle/>
          <a:p>
            <a:pPr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Definir y medir los KPIs adecuados para evaluar el rendimiento y el impacto de DevOps en la organización puede ser un desafío.</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591503" y="640318"/>
            <a:ext cx="7960995" cy="1111568"/>
          </a:xfrm>
          <a:prstGeom prst="rect">
            <a:avLst/>
          </a:prstGeom>
          <a:noFill/>
          <a:ln/>
        </p:spPr>
        <p:txBody>
          <a:bodyPr wrap="square" lIns="0" tIns="0" rIns="0" bIns="0" rtlCol="0" anchor="t"/>
          <a:lstStyle/>
          <a:p>
            <a:pPr indent="0" marL="0">
              <a:lnSpc>
                <a:spcPts val="4350"/>
              </a:lnSpc>
              <a:buNone/>
            </a:pPr>
            <a:r>
              <a:rPr lang="en-US" sz="3500" b="1" dirty="0">
                <a:solidFill>
                  <a:srgbClr val="7068F4"/>
                </a:solidFill>
                <a:latin typeface="Barlow Bold" pitchFamily="34" charset="0"/>
                <a:ea typeface="Barlow Bold" pitchFamily="34" charset="-122"/>
                <a:cs typeface="Barlow Bold" pitchFamily="34" charset="-120"/>
              </a:rPr>
              <a:t>Estrategias para una transición exitosa a DevOps</a:t>
            </a:r>
            <a:endParaRPr lang="en-US" sz="3500" dirty="0"/>
          </a:p>
        </p:txBody>
      </p:sp>
      <p:pic>
        <p:nvPicPr>
          <p:cNvPr id="4" name="Image 1" descr="preencoded.png">    </p:cNvPr>
          <p:cNvPicPr>
            <a:picLocks noChangeAspect="1"/>
          </p:cNvPicPr>
          <p:nvPr/>
        </p:nvPicPr>
        <p:blipFill>
          <a:blip r:embed="rId2"/>
          <a:stretch>
            <a:fillRect/>
          </a:stretch>
        </p:blipFill>
        <p:spPr>
          <a:xfrm>
            <a:off x="591503" y="2005370"/>
            <a:ext cx="844987" cy="1351955"/>
          </a:xfrm>
          <a:prstGeom prst="rect">
            <a:avLst/>
          </a:prstGeom>
        </p:spPr>
      </p:pic>
      <p:sp>
        <p:nvSpPr>
          <p:cNvPr id="5" name="Text 1"/>
          <p:cNvSpPr/>
          <p:nvPr/>
        </p:nvSpPr>
        <p:spPr>
          <a:xfrm>
            <a:off x="1689973" y="2174319"/>
            <a:ext cx="2497455" cy="278011"/>
          </a:xfrm>
          <a:prstGeom prst="rect">
            <a:avLst/>
          </a:prstGeom>
          <a:noFill/>
          <a:ln/>
        </p:spPr>
        <p:txBody>
          <a:bodyPr wrap="none" lIns="0" tIns="0" rIns="0" bIns="0" rtlCol="0" anchor="t"/>
          <a:lstStyle/>
          <a:p>
            <a:pPr algn="l" indent="0" marL="0">
              <a:lnSpc>
                <a:spcPts val="2150"/>
              </a:lnSpc>
              <a:buNone/>
            </a:pPr>
            <a:r>
              <a:rPr lang="en-US" sz="1750" b="1" dirty="0">
                <a:solidFill>
                  <a:srgbClr val="272525"/>
                </a:solidFill>
                <a:latin typeface="Barlow Bold" pitchFamily="34" charset="0"/>
                <a:ea typeface="Barlow Bold" pitchFamily="34" charset="-122"/>
                <a:cs typeface="Barlow Bold" pitchFamily="34" charset="-120"/>
              </a:rPr>
              <a:t>Liderazgo Comprometido</a:t>
            </a:r>
            <a:endParaRPr lang="en-US" sz="1750" dirty="0"/>
          </a:p>
        </p:txBody>
      </p:sp>
      <p:sp>
        <p:nvSpPr>
          <p:cNvPr id="6" name="Text 2"/>
          <p:cNvSpPr/>
          <p:nvPr/>
        </p:nvSpPr>
        <p:spPr>
          <a:xfrm>
            <a:off x="1689973" y="2553652"/>
            <a:ext cx="6862524" cy="540544"/>
          </a:xfrm>
          <a:prstGeom prst="rect">
            <a:avLst/>
          </a:prstGeom>
          <a:noFill/>
          <a:ln/>
        </p:spPr>
        <p:txBody>
          <a:bodyPr wrap="square" lIns="0" tIns="0" rIns="0" bIns="0" rtlCol="0" anchor="t"/>
          <a:lstStyle/>
          <a:p>
            <a:pPr algn="l" indent="0" marL="0">
              <a:lnSpc>
                <a:spcPts val="2100"/>
              </a:lnSpc>
              <a:buNone/>
            </a:pPr>
            <a:r>
              <a:rPr lang="en-US" sz="1300" dirty="0">
                <a:solidFill>
                  <a:srgbClr val="272525"/>
                </a:solidFill>
                <a:latin typeface="Montserrat" pitchFamily="34" charset="0"/>
                <a:ea typeface="Montserrat" pitchFamily="34" charset="-122"/>
                <a:cs typeface="Montserrat" pitchFamily="34" charset="-120"/>
              </a:rPr>
              <a:t>Un liderazgo comprometido y visible es fundamental para impulsar el cambio cultural y la adopción de DevOps en la organización.</a:t>
            </a:r>
            <a:endParaRPr lang="en-US" sz="1300" dirty="0"/>
          </a:p>
        </p:txBody>
      </p:sp>
      <p:pic>
        <p:nvPicPr>
          <p:cNvPr id="7" name="Image 2" descr="preencoded.png">    </p:cNvPr>
          <p:cNvPicPr>
            <a:picLocks noChangeAspect="1"/>
          </p:cNvPicPr>
          <p:nvPr/>
        </p:nvPicPr>
        <p:blipFill>
          <a:blip r:embed="rId3"/>
          <a:stretch>
            <a:fillRect/>
          </a:stretch>
        </p:blipFill>
        <p:spPr>
          <a:xfrm>
            <a:off x="591503" y="3357324"/>
            <a:ext cx="844987" cy="1351955"/>
          </a:xfrm>
          <a:prstGeom prst="rect">
            <a:avLst/>
          </a:prstGeom>
        </p:spPr>
      </p:pic>
      <p:sp>
        <p:nvSpPr>
          <p:cNvPr id="8" name="Text 3"/>
          <p:cNvSpPr/>
          <p:nvPr/>
        </p:nvSpPr>
        <p:spPr>
          <a:xfrm>
            <a:off x="1689973" y="3526274"/>
            <a:ext cx="2223730" cy="278011"/>
          </a:xfrm>
          <a:prstGeom prst="rect">
            <a:avLst/>
          </a:prstGeom>
          <a:noFill/>
          <a:ln/>
        </p:spPr>
        <p:txBody>
          <a:bodyPr wrap="none" lIns="0" tIns="0" rIns="0" bIns="0" rtlCol="0" anchor="t"/>
          <a:lstStyle/>
          <a:p>
            <a:pPr algn="l" indent="0" marL="0">
              <a:lnSpc>
                <a:spcPts val="2150"/>
              </a:lnSpc>
              <a:buNone/>
            </a:pPr>
            <a:r>
              <a:rPr lang="en-US" sz="1750" b="1" dirty="0">
                <a:solidFill>
                  <a:srgbClr val="272525"/>
                </a:solidFill>
                <a:latin typeface="Barlow Bold" pitchFamily="34" charset="0"/>
                <a:ea typeface="Barlow Bold" pitchFamily="34" charset="-122"/>
                <a:cs typeface="Barlow Bold" pitchFamily="34" charset="-120"/>
              </a:rPr>
              <a:t>Enfoque Gradual</a:t>
            </a:r>
            <a:endParaRPr lang="en-US" sz="1750" dirty="0"/>
          </a:p>
        </p:txBody>
      </p:sp>
      <p:sp>
        <p:nvSpPr>
          <p:cNvPr id="9" name="Text 4"/>
          <p:cNvSpPr/>
          <p:nvPr/>
        </p:nvSpPr>
        <p:spPr>
          <a:xfrm>
            <a:off x="1689973" y="3905607"/>
            <a:ext cx="6862524" cy="540544"/>
          </a:xfrm>
          <a:prstGeom prst="rect">
            <a:avLst/>
          </a:prstGeom>
          <a:noFill/>
          <a:ln/>
        </p:spPr>
        <p:txBody>
          <a:bodyPr wrap="square" lIns="0" tIns="0" rIns="0" bIns="0" rtlCol="0" anchor="t"/>
          <a:lstStyle/>
          <a:p>
            <a:pPr algn="l" indent="0" marL="0">
              <a:lnSpc>
                <a:spcPts val="2100"/>
              </a:lnSpc>
              <a:buNone/>
            </a:pPr>
            <a:r>
              <a:rPr lang="en-US" sz="1300" dirty="0">
                <a:solidFill>
                  <a:srgbClr val="272525"/>
                </a:solidFill>
                <a:latin typeface="Montserrat" pitchFamily="34" charset="0"/>
                <a:ea typeface="Montserrat" pitchFamily="34" charset="-122"/>
                <a:cs typeface="Montserrat" pitchFamily="34" charset="-120"/>
              </a:rPr>
              <a:t>Es mejor adoptar DevOps de manera gradual, empezando con un proyecto piloto o un equipo específico, antes de expandirlo a toda la organización.</a:t>
            </a:r>
            <a:endParaRPr lang="en-US" sz="1300" dirty="0"/>
          </a:p>
        </p:txBody>
      </p:sp>
      <p:pic>
        <p:nvPicPr>
          <p:cNvPr id="10" name="Image 3" descr="preencoded.png">    </p:cNvPr>
          <p:cNvPicPr>
            <a:picLocks noChangeAspect="1"/>
          </p:cNvPicPr>
          <p:nvPr/>
        </p:nvPicPr>
        <p:blipFill>
          <a:blip r:embed="rId4"/>
          <a:stretch>
            <a:fillRect/>
          </a:stretch>
        </p:blipFill>
        <p:spPr>
          <a:xfrm>
            <a:off x="591503" y="4709279"/>
            <a:ext cx="844987" cy="1528048"/>
          </a:xfrm>
          <a:prstGeom prst="rect">
            <a:avLst/>
          </a:prstGeom>
        </p:spPr>
      </p:pic>
      <p:sp>
        <p:nvSpPr>
          <p:cNvPr id="11" name="Text 5"/>
          <p:cNvSpPr/>
          <p:nvPr/>
        </p:nvSpPr>
        <p:spPr>
          <a:xfrm>
            <a:off x="1689973" y="4878229"/>
            <a:ext cx="2537222" cy="278011"/>
          </a:xfrm>
          <a:prstGeom prst="rect">
            <a:avLst/>
          </a:prstGeom>
          <a:noFill/>
          <a:ln/>
        </p:spPr>
        <p:txBody>
          <a:bodyPr wrap="none" lIns="0" tIns="0" rIns="0" bIns="0" rtlCol="0" anchor="t"/>
          <a:lstStyle/>
          <a:p>
            <a:pPr algn="l" indent="0" marL="0">
              <a:lnSpc>
                <a:spcPts val="2150"/>
              </a:lnSpc>
              <a:buNone/>
            </a:pPr>
            <a:r>
              <a:rPr lang="en-US" sz="1750" b="1" dirty="0">
                <a:solidFill>
                  <a:srgbClr val="272525"/>
                </a:solidFill>
                <a:latin typeface="Barlow Bold" pitchFamily="34" charset="0"/>
                <a:ea typeface="Barlow Bold" pitchFamily="34" charset="-122"/>
                <a:cs typeface="Barlow Bold" pitchFamily="34" charset="-120"/>
              </a:rPr>
              <a:t>Formación y Capacitación</a:t>
            </a:r>
            <a:endParaRPr lang="en-US" sz="1750" dirty="0"/>
          </a:p>
        </p:txBody>
      </p:sp>
      <p:sp>
        <p:nvSpPr>
          <p:cNvPr id="12" name="Text 6"/>
          <p:cNvSpPr/>
          <p:nvPr/>
        </p:nvSpPr>
        <p:spPr>
          <a:xfrm>
            <a:off x="1689973" y="5257562"/>
            <a:ext cx="6862524" cy="810816"/>
          </a:xfrm>
          <a:prstGeom prst="rect">
            <a:avLst/>
          </a:prstGeom>
          <a:noFill/>
          <a:ln/>
        </p:spPr>
        <p:txBody>
          <a:bodyPr wrap="square" lIns="0" tIns="0" rIns="0" bIns="0" rtlCol="0" anchor="t"/>
          <a:lstStyle/>
          <a:p>
            <a:pPr algn="l" indent="0" marL="0">
              <a:lnSpc>
                <a:spcPts val="2100"/>
              </a:lnSpc>
              <a:buNone/>
            </a:pPr>
            <a:r>
              <a:rPr lang="en-US" sz="1300" dirty="0">
                <a:solidFill>
                  <a:srgbClr val="272525"/>
                </a:solidFill>
                <a:latin typeface="Montserrat" pitchFamily="34" charset="0"/>
                <a:ea typeface="Montserrat" pitchFamily="34" charset="-122"/>
                <a:cs typeface="Montserrat" pitchFamily="34" charset="-120"/>
              </a:rPr>
              <a:t>Invertir en la formación y el desarrollo de habilidades del personal, tanto en aspectos técnicos como en la cultura DevOps, es clave para el éxito de la transición.</a:t>
            </a:r>
            <a:endParaRPr lang="en-US" sz="1300" dirty="0"/>
          </a:p>
        </p:txBody>
      </p:sp>
      <p:pic>
        <p:nvPicPr>
          <p:cNvPr id="13" name="Image 4" descr="preencoded.png">    </p:cNvPr>
          <p:cNvPicPr>
            <a:picLocks noChangeAspect="1"/>
          </p:cNvPicPr>
          <p:nvPr/>
        </p:nvPicPr>
        <p:blipFill>
          <a:blip r:embed="rId5"/>
          <a:stretch>
            <a:fillRect/>
          </a:stretch>
        </p:blipFill>
        <p:spPr>
          <a:xfrm>
            <a:off x="591503" y="6237327"/>
            <a:ext cx="844987" cy="1351955"/>
          </a:xfrm>
          <a:prstGeom prst="rect">
            <a:avLst/>
          </a:prstGeom>
        </p:spPr>
      </p:pic>
      <p:sp>
        <p:nvSpPr>
          <p:cNvPr id="14" name="Text 7"/>
          <p:cNvSpPr/>
          <p:nvPr/>
        </p:nvSpPr>
        <p:spPr>
          <a:xfrm>
            <a:off x="1689973" y="6406277"/>
            <a:ext cx="2640687" cy="278011"/>
          </a:xfrm>
          <a:prstGeom prst="rect">
            <a:avLst/>
          </a:prstGeom>
          <a:noFill/>
          <a:ln/>
        </p:spPr>
        <p:txBody>
          <a:bodyPr wrap="none" lIns="0" tIns="0" rIns="0" bIns="0" rtlCol="0" anchor="t"/>
          <a:lstStyle/>
          <a:p>
            <a:pPr algn="l" indent="0" marL="0">
              <a:lnSpc>
                <a:spcPts val="2150"/>
              </a:lnSpc>
              <a:buNone/>
            </a:pPr>
            <a:r>
              <a:rPr lang="en-US" sz="1750" b="1" dirty="0">
                <a:solidFill>
                  <a:srgbClr val="272525"/>
                </a:solidFill>
                <a:latin typeface="Barlow Bold" pitchFamily="34" charset="0"/>
                <a:ea typeface="Barlow Bold" pitchFamily="34" charset="-122"/>
                <a:cs typeface="Barlow Bold" pitchFamily="34" charset="-120"/>
              </a:rPr>
              <a:t>Métricas y Mejora Continua</a:t>
            </a:r>
            <a:endParaRPr lang="en-US" sz="1750" dirty="0"/>
          </a:p>
        </p:txBody>
      </p:sp>
      <p:sp>
        <p:nvSpPr>
          <p:cNvPr id="15" name="Text 8"/>
          <p:cNvSpPr/>
          <p:nvPr/>
        </p:nvSpPr>
        <p:spPr>
          <a:xfrm>
            <a:off x="1689973" y="6785610"/>
            <a:ext cx="6862524" cy="540544"/>
          </a:xfrm>
          <a:prstGeom prst="rect">
            <a:avLst/>
          </a:prstGeom>
          <a:noFill/>
          <a:ln/>
        </p:spPr>
        <p:txBody>
          <a:bodyPr wrap="square" lIns="0" tIns="0" rIns="0" bIns="0" rtlCol="0" anchor="t"/>
          <a:lstStyle/>
          <a:p>
            <a:pPr algn="l" indent="0" marL="0">
              <a:lnSpc>
                <a:spcPts val="2100"/>
              </a:lnSpc>
              <a:buNone/>
            </a:pPr>
            <a:r>
              <a:rPr lang="en-US" sz="1300" dirty="0">
                <a:solidFill>
                  <a:srgbClr val="272525"/>
                </a:solidFill>
                <a:latin typeface="Montserrat" pitchFamily="34" charset="0"/>
                <a:ea typeface="Montserrat" pitchFamily="34" charset="-122"/>
                <a:cs typeface="Montserrat" pitchFamily="34" charset="-120"/>
              </a:rPr>
              <a:t>Establecer métricas claras y realizar un seguimiento continuo del progreso permitirá identificar áreas de mejora y consolidar los avances obtenidos.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709" y="1393865"/>
            <a:ext cx="7291864" cy="712708"/>
          </a:xfrm>
          <a:prstGeom prst="rect">
            <a:avLst/>
          </a:prstGeom>
          <a:noFill/>
          <a:ln/>
        </p:spPr>
        <p:txBody>
          <a:bodyPr wrap="none" lIns="0" tIns="0" rIns="0" bIns="0" rtlCol="0" anchor="t"/>
          <a:lstStyle/>
          <a:p>
            <a:pP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Conclusión y próximos pasos</a:t>
            </a:r>
            <a:endParaRPr lang="en-US" sz="4450" dirty="0"/>
          </a:p>
        </p:txBody>
      </p:sp>
      <p:sp>
        <p:nvSpPr>
          <p:cNvPr id="4" name="Text 1"/>
          <p:cNvSpPr/>
          <p:nvPr/>
        </p:nvSpPr>
        <p:spPr>
          <a:xfrm>
            <a:off x="6244709" y="2431494"/>
            <a:ext cx="7627382" cy="208026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La adopción de DevOps es un proceso de transformación cultural y tecnológica que puede aportar grandes beneficios a las organizaciones. Mediante la colaboración entre equipos, la automatización de procesos y la mejora continua, las empresas pueden acelerar la entrega de software de alta calidad y adaptarse mejor a las necesidades del mercado.</a:t>
            </a:r>
            <a:endParaRPr lang="en-US" sz="1700" dirty="0"/>
          </a:p>
        </p:txBody>
      </p:sp>
      <p:sp>
        <p:nvSpPr>
          <p:cNvPr id="5" name="Text 2"/>
          <p:cNvSpPr/>
          <p:nvPr/>
        </p:nvSpPr>
        <p:spPr>
          <a:xfrm>
            <a:off x="6244709" y="4755475"/>
            <a:ext cx="7627382" cy="208026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Para iniciar el viaje hacia DevOps, es importante definir una estrategia clara, contar con el apoyo de la alta dirección y fomentar una cultura de aprendizaje y mejora continua. Con el tiempo y el compromiso adecuados, las organizaciones podrán consolidar las prácticas DevOps y disfrutar de los resultados tangibles en términos de productividad, calidad y satisfacción del cliente.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2024-10-27T17:25:33Z</dcterms:created>
  <dcterms:modified xsi:type="dcterms:W3CDTF">2024-10-27T17:25:33Z</dcterms:modified>
</cp:coreProperties>
</file>