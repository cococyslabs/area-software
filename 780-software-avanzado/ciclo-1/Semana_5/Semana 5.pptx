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arlow"/>
      <p:regular r:id="rId17"/>
    </p:embeddedFont>
    <p:embeddedFont>
      <p:font typeface="Barlow"/>
      <p:regular r:id="rId18"/>
    </p:embeddedFont>
    <p:embeddedFont>
      <p:font typeface="Barlow"/>
      <p:regular r:id="rId19"/>
    </p:embeddedFont>
    <p:embeddedFont>
      <p:font typeface="Barlow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  <p:embeddedFont>
      <p:font typeface="Montserrat"/>
      <p:regular r:id="rId23"/>
    </p:embeddedFont>
    <p:embeddedFont>
      <p:font typeface="Montserrat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175266"/>
            <a:ext cx="7627382" cy="285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Arquitectura de Microservicios: Construyendo Sistemas Complejos Paso a Paso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351020"/>
            <a:ext cx="7627382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arquitectura de microservicios es un enfoque modular que divide una aplicación en pequeños servicios independientes, cada uno con su propia lógica de negocio y base de datos. Esta aproximación permite una mayor escalabilidad, flexibilidad y resilencia, características clave para construir sistemas complejos en el mundo digital actual.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244709" y="6691193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329" y="6698813"/>
            <a:ext cx="331351" cy="3313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99528" y="6675001"/>
            <a:ext cx="4793694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by MIKE LEONEL MOLINA GARCIA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880711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Monolitos vs. Microservicios: Ventajas y Desventajas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84762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Monolitos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420433"/>
            <a:ext cx="629257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monolitos son aplicaciones de una sola pieza con toda la lógica de negocio y los datos almacenados en un mismo lugar. Esto los hace más fáciles de construir y mantener inicialmente, pero a la larga pueden volverse rígidos e inflexibles, dificultando su evolución y escalado.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7139" y="384762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Microservicios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7139" y="4420433"/>
            <a:ext cx="629257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microservicios dividen la aplicación en servicios independientes y modulares que se comunican entre sí. Esto los hace más flexibles y escalables, pero también aumenta la complejidad de la arquitectura y los desafíos de integración y coordinación.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316831"/>
            <a:ext cx="1240024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Principios SOLID para el Diseño de Microservicios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706529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41427" y="2779157"/>
            <a:ext cx="12108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462326" y="2706529"/>
            <a:ext cx="285702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Responsabilidad Única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2326" y="3192661"/>
            <a:ext cx="3522821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microservicio debe tener una única responsabilidad y enfocarse en una sola tarea o funcionalidad.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01722" y="2706529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49597" y="2779157"/>
            <a:ext cx="191572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5905738" y="270652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Abierto/Cerrado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05738" y="3192661"/>
            <a:ext cx="3522821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microservicios deben ser abiertos a la extensión, pero cerrados a la modificación, permitiendo evolucionar sin afectar a otros servicios.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45134" y="2706529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796463" y="2779157"/>
            <a:ext cx="184666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0349151" y="270652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Sustitución de Liskov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349151" y="3192661"/>
            <a:ext cx="3522821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microservicios deben poder sustituirse por implementaciones más específicas sin afectar al sistema.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8309" y="5386507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8565" y="5459135"/>
            <a:ext cx="206931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1462326" y="5386507"/>
            <a:ext cx="333351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Segregación de Interfaces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2326" y="5872639"/>
            <a:ext cx="574464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interfaces de los microservicios deben ser específicas y enfocadas, evitando exponer funcionalidades que no son necesarias.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423547" y="5386507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74994" y="5459135"/>
            <a:ext cx="184428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</a:t>
            </a:r>
            <a:endParaRPr lang="en-US" sz="2650" dirty="0"/>
          </a:p>
        </p:txBody>
      </p:sp>
      <p:sp>
        <p:nvSpPr>
          <p:cNvPr id="21" name="Text 19"/>
          <p:cNvSpPr/>
          <p:nvPr/>
        </p:nvSpPr>
        <p:spPr>
          <a:xfrm>
            <a:off x="8127563" y="5386507"/>
            <a:ext cx="337994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Inversión de Dependencias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127563" y="5872639"/>
            <a:ext cx="574464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microservicios deben depender de abstracciones, no de implementaciones concretas, facilitando la sustitución y el desacoplamiento.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6868" y="932378"/>
            <a:ext cx="7697629" cy="617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Comunicación entre Microservicios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926902" y="1831181"/>
            <a:ext cx="22860" cy="5465921"/>
          </a:xfrm>
          <a:prstGeom prst="roundRect">
            <a:avLst>
              <a:gd name="adj" fmla="val 738932"/>
            </a:avLst>
          </a:prstGeom>
          <a:solidFill>
            <a:srgbClr val="C1C3D0"/>
          </a:solidFill>
          <a:ln/>
        </p:spPr>
      </p:sp>
      <p:sp>
        <p:nvSpPr>
          <p:cNvPr id="5" name="Shape 2"/>
          <p:cNvSpPr/>
          <p:nvPr/>
        </p:nvSpPr>
        <p:spPr>
          <a:xfrm>
            <a:off x="1126569" y="2241947"/>
            <a:ext cx="656868" cy="22860"/>
          </a:xfrm>
          <a:prstGeom prst="roundRect">
            <a:avLst>
              <a:gd name="adj" fmla="val 738932"/>
            </a:avLst>
          </a:prstGeom>
          <a:solidFill>
            <a:srgbClr val="C1C3D0"/>
          </a:solidFill>
          <a:ln/>
        </p:spPr>
      </p:sp>
      <p:sp>
        <p:nvSpPr>
          <p:cNvPr id="6" name="Shape 3"/>
          <p:cNvSpPr/>
          <p:nvPr/>
        </p:nvSpPr>
        <p:spPr>
          <a:xfrm>
            <a:off x="727234" y="2042279"/>
            <a:ext cx="422196" cy="422196"/>
          </a:xfrm>
          <a:prstGeom prst="roundRect">
            <a:avLst>
              <a:gd name="adj" fmla="val 40010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5720" dist="22860" dir="13500000">
              <a:srgbClr val="ffffff">
                <a:alpha val="7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85825" y="2105144"/>
            <a:ext cx="104894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970603" y="2018824"/>
            <a:ext cx="246947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HTTP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970603" y="2439948"/>
            <a:ext cx="6516529" cy="90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comunicación a través de HTTP es la más común y sencilla, pero puede presentar problemas de escalabilidad y acoplamiento cuando los servicios se vuelven más complejos.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1126569" y="4126468"/>
            <a:ext cx="656868" cy="22860"/>
          </a:xfrm>
          <a:prstGeom prst="roundRect">
            <a:avLst>
              <a:gd name="adj" fmla="val 738932"/>
            </a:avLst>
          </a:prstGeom>
          <a:solidFill>
            <a:srgbClr val="C1C3D0"/>
          </a:solidFill>
          <a:ln/>
        </p:spPr>
      </p:sp>
      <p:sp>
        <p:nvSpPr>
          <p:cNvPr id="11" name="Shape 8"/>
          <p:cNvSpPr/>
          <p:nvPr/>
        </p:nvSpPr>
        <p:spPr>
          <a:xfrm>
            <a:off x="727234" y="3926800"/>
            <a:ext cx="422196" cy="422196"/>
          </a:xfrm>
          <a:prstGeom prst="roundRect">
            <a:avLst>
              <a:gd name="adj" fmla="val 40010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5720" dist="22860" dir="13500000">
              <a:srgbClr val="ffffff">
                <a:alpha val="7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55345" y="3989665"/>
            <a:ext cx="165973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1970603" y="3903345"/>
            <a:ext cx="246947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gRPC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970603" y="4324469"/>
            <a:ext cx="6516529" cy="90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gRPC es un protocolo de comunicación binario más eficiente que HTTP, especialmente para las comunicaciones entre microservicios dentro de un mismo entorno.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1126569" y="6010989"/>
            <a:ext cx="656868" cy="22860"/>
          </a:xfrm>
          <a:prstGeom prst="roundRect">
            <a:avLst>
              <a:gd name="adj" fmla="val 738932"/>
            </a:avLst>
          </a:prstGeom>
          <a:solidFill>
            <a:srgbClr val="C1C3D0"/>
          </a:solidFill>
          <a:ln/>
        </p:spPr>
      </p:sp>
      <p:sp>
        <p:nvSpPr>
          <p:cNvPr id="16" name="Shape 13"/>
          <p:cNvSpPr/>
          <p:nvPr/>
        </p:nvSpPr>
        <p:spPr>
          <a:xfrm>
            <a:off x="727234" y="5811322"/>
            <a:ext cx="422196" cy="422196"/>
          </a:xfrm>
          <a:prstGeom prst="roundRect">
            <a:avLst>
              <a:gd name="adj" fmla="val 40010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5720" dist="22860" dir="13500000">
              <a:srgbClr val="ffffff">
                <a:alpha val="7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58322" y="5874187"/>
            <a:ext cx="160020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1970603" y="5787866"/>
            <a:ext cx="246947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Eventos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1970603" y="6208990"/>
            <a:ext cx="6516529" cy="90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comunicación basada en eventos, a través de brokers como Apache Kafka, permite una mayor desacoplamiento y escalabilidad, ya que los servicios se comunican de manera asíncrona.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410420"/>
            <a:ext cx="942391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Patrones de Diseño en Microservicios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66462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Saga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237434"/>
            <a:ext cx="629257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patrón Saga permite manejar transacciones distribuidas en microservicios, coordinando acciones compensatorias en caso de fallas para garantizar la consistencia de los datos.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7139" y="366462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Circuit Breaker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7139" y="4237434"/>
            <a:ext cx="629257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patrón Circuit Breaker evita que los fallos de un servicio afecten a todo el sistema, aislando los errores y permitiendo la recuperación automática cuando el servicio esté disponible nuevamente.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081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450312"/>
            <a:ext cx="1223891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Implementando APIs RESTful con Microservicios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4487942"/>
            <a:ext cx="4226838" cy="2999542"/>
          </a:xfrm>
          <a:prstGeom prst="roundRect">
            <a:avLst>
              <a:gd name="adj" fmla="val 6501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74884" y="4704517"/>
            <a:ext cx="362200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Diseño Orientado a Recursos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74884" y="5190649"/>
            <a:ext cx="3793688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APIs RESTful de microservicios deben diseñarse en torno a recursos de negocio, exponiendo operaciones CRUD (Crear, Leer, Actualizar, Eliminar) de manera clara y consistente.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201722" y="4487942"/>
            <a:ext cx="4226838" cy="2999542"/>
          </a:xfrm>
          <a:prstGeom prst="roundRect">
            <a:avLst>
              <a:gd name="adj" fmla="val 6501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18296" y="470451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Versión y Evolución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18296" y="5190649"/>
            <a:ext cx="3793688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APIs de microservicios deben ser versionadas para permitir la evolución sin romper las integraciones existentes. Esto facilita la migración gradual de los clientes a nuevas versiones.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645134" y="4487942"/>
            <a:ext cx="4226838" cy="2999542"/>
          </a:xfrm>
          <a:prstGeom prst="roundRect">
            <a:avLst>
              <a:gd name="adj" fmla="val 6501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861709" y="4704517"/>
            <a:ext cx="350567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Documentación y Contratos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61709" y="5190649"/>
            <a:ext cx="3793688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 crucial mantener una documentación clara y detallada de las APIs de microservicios, utilizando herramientas como Swagger/OpenAPI para definir contratos formales.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2570" y="826532"/>
            <a:ext cx="8018859" cy="1057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Orquestación y Coordinación de Microservicios</a:t>
            </a:r>
            <a:endParaRPr lang="en-US" sz="3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70" y="2125147"/>
            <a:ext cx="401836" cy="4018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2570" y="2687717"/>
            <a:ext cx="2115145" cy="26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Contenedorización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562570" y="3048595"/>
            <a:ext cx="801885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contenedorización de microservicios con herramientas como Docker facilita el empaquetamiento, distribución y despliegue de cada servicio de manera independiente.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70" y="4045148"/>
            <a:ext cx="401836" cy="40183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2570" y="4607719"/>
            <a:ext cx="2115145" cy="26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Orquestación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562570" y="4968597"/>
            <a:ext cx="801885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Plataformas de orquestación como Kubernetes permiten la gestión automatizada del ciclo de vida de los microservicios, incluyendo el escalado, la recuperación de fallos y la asignación de recursos.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570" y="5965150"/>
            <a:ext cx="401836" cy="40183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62570" y="6527721"/>
            <a:ext cx="2115145" cy="26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Despliegue en la Nube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562570" y="6888599"/>
            <a:ext cx="801885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microservicios se benefician enormemente del despliegue en la nube, que proporciona escalabilidad, alta disponibilidad y servicios gestionados para facilitar su operación.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3631" y="557570"/>
            <a:ext cx="7729538" cy="132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Contenedorización de Microservicios con Docker</a:t>
            </a:r>
            <a:endParaRPr lang="en-US" sz="4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631" y="2189798"/>
            <a:ext cx="1010245" cy="18273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06891" y="2391847"/>
            <a:ext cx="2658785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Construcción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506891" y="2845356"/>
            <a:ext cx="6416278" cy="96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microservicio se empaqueta en una imagen Docker, que contiene todo lo necesario para su ejecución de manera aislada.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631" y="4017169"/>
            <a:ext cx="1010245" cy="18273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06891" y="4219218"/>
            <a:ext cx="2658785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Distribución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7506891" y="4672727"/>
            <a:ext cx="6416278" cy="96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imágenes Docker se envían a un registro centralizado, facilitando la distribución de los microservicios a diferentes entornos.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631" y="5844540"/>
            <a:ext cx="1010245" cy="182737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06891" y="6046589"/>
            <a:ext cx="2658785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Despliegue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7506891" y="6500098"/>
            <a:ext cx="6416278" cy="96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contenedores Docker se despliegan en los diferentes entornos, garantizando la consistencia y la portabilidad de los microservicios.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268" y="623768"/>
            <a:ext cx="7830264" cy="1234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Estrategias de Despliegue de Microservicios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413302" y="2139910"/>
            <a:ext cx="22860" cy="5465921"/>
          </a:xfrm>
          <a:prstGeom prst="roundRect">
            <a:avLst>
              <a:gd name="adj" fmla="val 738932"/>
            </a:avLst>
          </a:prstGeom>
          <a:solidFill>
            <a:srgbClr val="C1C3D0"/>
          </a:solidFill>
          <a:ln/>
        </p:spPr>
      </p:sp>
      <p:sp>
        <p:nvSpPr>
          <p:cNvPr id="5" name="Shape 2"/>
          <p:cNvSpPr/>
          <p:nvPr/>
        </p:nvSpPr>
        <p:spPr>
          <a:xfrm>
            <a:off x="6612969" y="2550676"/>
            <a:ext cx="656868" cy="22860"/>
          </a:xfrm>
          <a:prstGeom prst="roundRect">
            <a:avLst>
              <a:gd name="adj" fmla="val 738932"/>
            </a:avLst>
          </a:prstGeom>
          <a:solidFill>
            <a:srgbClr val="C1C3D0"/>
          </a:solidFill>
          <a:ln/>
        </p:spPr>
      </p:sp>
      <p:sp>
        <p:nvSpPr>
          <p:cNvPr id="6" name="Shape 3"/>
          <p:cNvSpPr/>
          <p:nvPr/>
        </p:nvSpPr>
        <p:spPr>
          <a:xfrm>
            <a:off x="6213634" y="2351008"/>
            <a:ext cx="422196" cy="422196"/>
          </a:xfrm>
          <a:prstGeom prst="roundRect">
            <a:avLst>
              <a:gd name="adj" fmla="val 40010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5720" dist="22860" dir="13500000">
              <a:srgbClr val="ffffff">
                <a:alpha val="7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372225" y="2413873"/>
            <a:ext cx="104894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457003" y="2327553"/>
            <a:ext cx="246947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Blue-Green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457003" y="2748677"/>
            <a:ext cx="6516529" cy="90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este enfoque, se mantienen dos entornos idénticos (azul y verde) y se intercambian cuando se realiza una nueva implementación, lo que permite una rápida reversión en caso de problemas.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2969" y="4435197"/>
            <a:ext cx="656868" cy="22860"/>
          </a:xfrm>
          <a:prstGeom prst="roundRect">
            <a:avLst>
              <a:gd name="adj" fmla="val 738932"/>
            </a:avLst>
          </a:prstGeom>
          <a:solidFill>
            <a:srgbClr val="C1C3D0"/>
          </a:solidFill>
          <a:ln/>
        </p:spPr>
      </p:sp>
      <p:sp>
        <p:nvSpPr>
          <p:cNvPr id="11" name="Shape 8"/>
          <p:cNvSpPr/>
          <p:nvPr/>
        </p:nvSpPr>
        <p:spPr>
          <a:xfrm>
            <a:off x="6213634" y="4235529"/>
            <a:ext cx="422196" cy="422196"/>
          </a:xfrm>
          <a:prstGeom prst="roundRect">
            <a:avLst>
              <a:gd name="adj" fmla="val 40010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5720" dist="22860" dir="13500000">
              <a:srgbClr val="ffffff">
                <a:alpha val="7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41745" y="4298394"/>
            <a:ext cx="165973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7457003" y="4212074"/>
            <a:ext cx="246947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Canario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7457003" y="4633198"/>
            <a:ext cx="6516529" cy="90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estrategia canario consiste en implementar primero la nueva versión en un pequeño porcentaje de los usuarios, monitorizando su rendimiento antes de hacer el despliegue completo.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612969" y="6319718"/>
            <a:ext cx="656868" cy="22860"/>
          </a:xfrm>
          <a:prstGeom prst="roundRect">
            <a:avLst>
              <a:gd name="adj" fmla="val 738932"/>
            </a:avLst>
          </a:prstGeom>
          <a:solidFill>
            <a:srgbClr val="C1C3D0"/>
          </a:solidFill>
          <a:ln/>
        </p:spPr>
      </p:sp>
      <p:sp>
        <p:nvSpPr>
          <p:cNvPr id="16" name="Shape 13"/>
          <p:cNvSpPr/>
          <p:nvPr/>
        </p:nvSpPr>
        <p:spPr>
          <a:xfrm>
            <a:off x="6213634" y="6120051"/>
            <a:ext cx="422196" cy="422196"/>
          </a:xfrm>
          <a:prstGeom prst="roundRect">
            <a:avLst>
              <a:gd name="adj" fmla="val 40010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5720" dist="22860" dir="13500000">
              <a:srgbClr val="ffffff">
                <a:alpha val="7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44722" y="6182916"/>
            <a:ext cx="160020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7457003" y="6096595"/>
            <a:ext cx="246947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Actualización Gradual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457003" y="6517719"/>
            <a:ext cx="6516529" cy="90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actualización gradual (rolling update) permite actualizar los microservicios de uno en uno, sin interrumpir el servicio y facilitando la detección y corrección de problemas.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3516" y="580311"/>
            <a:ext cx="7669768" cy="138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Observabilidad y Monitoreo de Microservicios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6223516" y="2281595"/>
            <a:ext cx="3729633" cy="3252430"/>
          </a:xfrm>
          <a:prstGeom prst="roundRect">
            <a:avLst>
              <a:gd name="adj" fmla="val 5828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2070" dist="25400" dir="1350000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34018" y="2492097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Métricas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434018" y="2964894"/>
            <a:ext cx="3308628" cy="2021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monitoreo de métricas clave, como tiempos de respuesta, tasas de error y uso de recursos, permite detectar problemas y cuellos de botella en los microservicios.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0163651" y="2281595"/>
            <a:ext cx="3729633" cy="3252430"/>
          </a:xfrm>
          <a:prstGeom prst="roundRect">
            <a:avLst>
              <a:gd name="adj" fmla="val 5828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2070" dist="25400" dir="1350000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374154" y="2492097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Trazabilidad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374154" y="2964894"/>
            <a:ext cx="3308628" cy="2358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trazabilidad distribuida, a través de herramientas como Zipkin o Jaeger, facilita el seguimiento de las transacciones y la depuración de problemas que abarcan múltiples microservicios.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23516" y="5744528"/>
            <a:ext cx="7669768" cy="1904643"/>
          </a:xfrm>
          <a:prstGeom prst="roundRect">
            <a:avLst>
              <a:gd name="adj" fmla="val 995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2070" dist="25400" dir="13500000">
              <a:srgbClr val="fffff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34018" y="5955030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Observabilidad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434018" y="6427827"/>
            <a:ext cx="7248763" cy="1010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sólida estrategia de observabilidad, que incluye métricas, registros y trazas, es fundamental para garantizar la salud y el rendimiento de una arquitectura de microservicios.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2024-10-27T17:17:08Z</dcterms:created>
  <dcterms:modified xsi:type="dcterms:W3CDTF">2024-10-27T17:17:08Z</dcterms:modified>
</cp:coreProperties>
</file>