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4630400" cy="8229600"/>
  <p:notesSz cx="8229600" cy="14630400"/>
  <p:embeddedFontLst>
    <p:embeddedFont>
      <p:font typeface="Barlow Bold" panose="00000800000000000000" pitchFamily="2" charset="0"/>
      <p:bold r:id="rId31"/>
    </p:embeddedFont>
    <p:embeddedFont>
      <p:font typeface="Montserrat" pitchFamily="2" charset="0"/>
      <p:regular r:id="rId32"/>
      <p:bold r:id="rId33"/>
    </p:embeddedFont>
    <p:embeddedFont>
      <p:font typeface="Montserrat Bold" pitchFamily="2" charset="0"/>
      <p:bold r:id="rId34"/>
    </p:embeddedFont>
  </p:embeddedFontLst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6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866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8866" y="691158"/>
            <a:ext cx="7779068" cy="2655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950"/>
              </a:lnSpc>
              <a:buNone/>
            </a:pPr>
            <a:r>
              <a:rPr lang="en-US" sz="5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Introducción a herramientas de frontend</a:t>
            </a:r>
            <a:endParaRPr lang="en-US" sz="5550" dirty="0"/>
          </a:p>
        </p:txBody>
      </p:sp>
      <p:sp>
        <p:nvSpPr>
          <p:cNvPr id="4" name="Text 1"/>
          <p:cNvSpPr/>
          <p:nvPr/>
        </p:nvSpPr>
        <p:spPr>
          <a:xfrm>
            <a:off x="6168866" y="3639264"/>
            <a:ext cx="7779068" cy="1559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desarrollo frontend es un campo dinámico y en constante evolución que se centra en la creación de interfaces de usuario atractivas y funcionales para aplicaciones web. Las herramientas de frontend son esenciales para los desarrolladores que buscan construir experiencias de usuario interactivas y visualmente impactantes.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168866" y="5418296"/>
            <a:ext cx="7779068" cy="1559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esta presentación, exploraremos las principales tecnologías y frameworks utilizados en el desarrollo frontend moderno. Desde los fundamentos de HTML, CSS y JavaScript hasta los frameworks más populares como React, Angular y Vue.js, cubriremos una amplia gama de herramientas que permiten a los desarrolladores crear aplicaciones web sofisticadas y eficientes.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68866" y="7211854"/>
            <a:ext cx="311944" cy="311944"/>
          </a:xfrm>
          <a:prstGeom prst="roundRect">
            <a:avLst>
              <a:gd name="adj" fmla="val 29310022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486" y="7219474"/>
            <a:ext cx="296704" cy="2967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78203" y="7197328"/>
            <a:ext cx="4313039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MIKE LEONEL MOLINA GARCIA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5540" y="748903"/>
            <a:ext cx="7413188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HTML: estructura y semántica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25540" y="1760339"/>
            <a:ext cx="3727371" cy="2585680"/>
          </a:xfrm>
          <a:prstGeom prst="roundRect">
            <a:avLst>
              <a:gd name="adj" fmla="val 7351"/>
            </a:avLst>
          </a:prstGeom>
          <a:solidFill>
            <a:srgbClr val="EEEFF5"/>
          </a:solidFill>
          <a:ln/>
          <a:effectLst>
            <a:outerShdw blurRad="52070" dist="2540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6436638" y="1971437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Estructura básica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436638" y="2445425"/>
            <a:ext cx="330517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 proporciona la estructura fundamental de una página web, definiendo elementos como encabezados, párrafos, listas y enlaces.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4008" y="1760339"/>
            <a:ext cx="3727371" cy="2585680"/>
          </a:xfrm>
          <a:prstGeom prst="roundRect">
            <a:avLst>
              <a:gd name="adj" fmla="val 7351"/>
            </a:avLst>
          </a:prstGeom>
          <a:solidFill>
            <a:srgbClr val="EEEFF5"/>
          </a:solidFill>
          <a:ln/>
          <a:effectLst>
            <a:outerShdw blurRad="52070" dist="2540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8" name="Text 5"/>
          <p:cNvSpPr/>
          <p:nvPr/>
        </p:nvSpPr>
        <p:spPr>
          <a:xfrm>
            <a:off x="10375106" y="1971437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Semántica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375106" y="2445425"/>
            <a:ext cx="330517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uso de etiquetas semánticas como &lt;header&gt;, &lt;nav&gt;, &lt;main&gt; y &lt;footer&gt; mejora la accesibilidad y el SEO del sitio web.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25540" y="4557117"/>
            <a:ext cx="3727371" cy="2923580"/>
          </a:xfrm>
          <a:prstGeom prst="roundRect">
            <a:avLst>
              <a:gd name="adj" fmla="val 6501"/>
            </a:avLst>
          </a:prstGeom>
          <a:solidFill>
            <a:srgbClr val="EEEFF5"/>
          </a:solidFill>
          <a:ln/>
          <a:effectLst>
            <a:outerShdw blurRad="52070" dist="2540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Text 8"/>
          <p:cNvSpPr/>
          <p:nvPr/>
        </p:nvSpPr>
        <p:spPr>
          <a:xfrm>
            <a:off x="6436638" y="4768215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Formularios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436638" y="5242203"/>
            <a:ext cx="3305175" cy="2027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 ofrece una variedad de elementos de formulario para la entrada de datos del usuario, como campos de texto, casillas de verificación y menús desplegables.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0164008" y="4557117"/>
            <a:ext cx="3727371" cy="2923580"/>
          </a:xfrm>
          <a:prstGeom prst="roundRect">
            <a:avLst>
              <a:gd name="adj" fmla="val 6501"/>
            </a:avLst>
          </a:prstGeom>
          <a:solidFill>
            <a:srgbClr val="EEEFF5"/>
          </a:solidFill>
          <a:ln/>
          <a:effectLst>
            <a:outerShdw blurRad="52070" dist="2540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4" name="Text 11"/>
          <p:cNvSpPr/>
          <p:nvPr/>
        </p:nvSpPr>
        <p:spPr>
          <a:xfrm>
            <a:off x="10375106" y="4768215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Multimedia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375106" y="5242203"/>
            <a:ext cx="330517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etiquetas &lt;img&gt;, &lt;video&gt; y &lt;audio&gt; permiten la integración de contenido multimedia en las páginas web.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3706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CSS: estilos y diseño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491270"/>
            <a:ext cx="321468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Selectores y propiedades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064079"/>
            <a:ext cx="4018359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CSS utiliza selectores para apuntar a elementos HTML específicos y aplicar estilos mediante propiedades como color, tamaño de fuente y márgenes.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349127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Diseño responsive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4064079"/>
            <a:ext cx="401835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media queries y las unidades relativas permiten crear diseños que se adaptan a diferentes tamaños de pantalla y dispositivos.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349127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Flexbox y Grid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4064079"/>
            <a:ext cx="401835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Estos sistemas de diseño modernos facilitan la creación de layouts complejos y flexibles con menos código y mayor control.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744" y="805101"/>
            <a:ext cx="7050048" cy="579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JavaScript: interactividad y lógica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869633" y="1649016"/>
            <a:ext cx="22860" cy="5775484"/>
          </a:xfrm>
          <a:prstGeom prst="roundRect">
            <a:avLst>
              <a:gd name="adj" fmla="val 693772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1056442" y="2034064"/>
            <a:ext cx="616744" cy="22860"/>
          </a:xfrm>
          <a:prstGeom prst="roundRect">
            <a:avLst>
              <a:gd name="adj" fmla="val 693772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Shape 3"/>
          <p:cNvSpPr/>
          <p:nvPr/>
        </p:nvSpPr>
        <p:spPr>
          <a:xfrm>
            <a:off x="682823" y="1847255"/>
            <a:ext cx="396478" cy="396478"/>
          </a:xfrm>
          <a:prstGeom prst="roundRect">
            <a:avLst>
              <a:gd name="adj" fmla="val 40001"/>
            </a:avLst>
          </a:prstGeom>
          <a:solidFill>
            <a:srgbClr val="EEEFF5"/>
          </a:solidFill>
          <a:ln/>
          <a:effectLst>
            <a:outerShdw blurRad="43180" dist="2159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/>
          <p:nvPr/>
        </p:nvSpPr>
        <p:spPr>
          <a:xfrm>
            <a:off x="831771" y="1906310"/>
            <a:ext cx="98465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850231" y="1825228"/>
            <a:ext cx="2318623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Manipulación del DOM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50231" y="2220635"/>
            <a:ext cx="667702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JavaScript permite modificar dinámicamente el contenido, estructura y estilos de una página web, creando experiencias interactivas.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56442" y="3521988"/>
            <a:ext cx="616744" cy="22860"/>
          </a:xfrm>
          <a:prstGeom prst="roundRect">
            <a:avLst>
              <a:gd name="adj" fmla="val 693772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682823" y="3335179"/>
            <a:ext cx="396478" cy="396478"/>
          </a:xfrm>
          <a:prstGeom prst="roundRect">
            <a:avLst>
              <a:gd name="adj" fmla="val 40001"/>
            </a:avLst>
          </a:prstGeom>
          <a:solidFill>
            <a:srgbClr val="EEEFF5"/>
          </a:solidFill>
          <a:ln/>
          <a:effectLst>
            <a:outerShdw blurRad="43180" dist="2159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803077" y="3394234"/>
            <a:ext cx="155853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1850231" y="3313152"/>
            <a:ext cx="2318623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Eventos y callbacks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850231" y="3708559"/>
            <a:ext cx="667702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gestión de eventos del usuario y el uso de funciones callback permiten responder a las acciones del usuario de manera eficiente.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056442" y="5009912"/>
            <a:ext cx="616744" cy="22860"/>
          </a:xfrm>
          <a:prstGeom prst="roundRect">
            <a:avLst>
              <a:gd name="adj" fmla="val 693772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3"/>
          <p:cNvSpPr/>
          <p:nvPr/>
        </p:nvSpPr>
        <p:spPr>
          <a:xfrm>
            <a:off x="682823" y="4823103"/>
            <a:ext cx="396478" cy="396478"/>
          </a:xfrm>
          <a:prstGeom prst="roundRect">
            <a:avLst>
              <a:gd name="adj" fmla="val 40001"/>
            </a:avLst>
          </a:prstGeom>
          <a:solidFill>
            <a:srgbClr val="EEEFF5"/>
          </a:solidFill>
          <a:ln/>
          <a:effectLst>
            <a:outerShdw blurRad="43180" dist="2159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805934" y="4882158"/>
            <a:ext cx="150257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1850231" y="4801076"/>
            <a:ext cx="2328624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Asincronía y promesas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850231" y="5196483"/>
            <a:ext cx="667702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operaciones asíncronas y el manejo de promesas facilitan la carga de datos y la ejecución de tareas sin bloquear la interfaz de usuario.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1056442" y="6497836"/>
            <a:ext cx="616744" cy="22860"/>
          </a:xfrm>
          <a:prstGeom prst="roundRect">
            <a:avLst>
              <a:gd name="adj" fmla="val 693772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Shape 18"/>
          <p:cNvSpPr/>
          <p:nvPr/>
        </p:nvSpPr>
        <p:spPr>
          <a:xfrm>
            <a:off x="682823" y="6311027"/>
            <a:ext cx="396478" cy="396478"/>
          </a:xfrm>
          <a:prstGeom prst="roundRect">
            <a:avLst>
              <a:gd name="adj" fmla="val 40001"/>
            </a:avLst>
          </a:prstGeom>
          <a:solidFill>
            <a:srgbClr val="EEEFF5"/>
          </a:solidFill>
          <a:ln/>
          <a:effectLst>
            <a:outerShdw blurRad="43180" dist="2159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2" name="Text 19"/>
          <p:cNvSpPr/>
          <p:nvPr/>
        </p:nvSpPr>
        <p:spPr>
          <a:xfrm>
            <a:off x="796885" y="6370082"/>
            <a:ext cx="168354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150" dirty="0"/>
          </a:p>
        </p:txBody>
      </p:sp>
      <p:sp>
        <p:nvSpPr>
          <p:cNvPr id="23" name="Text 20"/>
          <p:cNvSpPr/>
          <p:nvPr/>
        </p:nvSpPr>
        <p:spPr>
          <a:xfrm>
            <a:off x="1850231" y="6289000"/>
            <a:ext cx="2318623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ES6+ y módulos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850231" y="6684407"/>
            <a:ext cx="667702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características modernas de JavaScript, como arrow functions, destructuring y módulos, mejoran la legibilidad y organización del código.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8977" y="770096"/>
            <a:ext cx="7918847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Frameworks de frontend: ventajas y casos de uso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098977" y="2381131"/>
            <a:ext cx="393859" cy="393859"/>
          </a:xfrm>
          <a:prstGeom prst="roundRect">
            <a:avLst>
              <a:gd name="adj" fmla="val 40001"/>
            </a:avLst>
          </a:prstGeom>
          <a:solidFill>
            <a:srgbClr val="EEEFF5"/>
          </a:solidFill>
          <a:ln/>
          <a:effectLst>
            <a:outerShdw blurRad="43180" dist="2159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6246971" y="2439829"/>
            <a:ext cx="9786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667857" y="2381131"/>
            <a:ext cx="2303264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Desarrollo rápido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67857" y="2774037"/>
            <a:ext cx="3303032" cy="196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frameworks ofrecen estructuras predefinidas y componentes reutilizables que aceleran significativamente el proceso de desarrollo, permitiendo a los equipos crear aplicaciones complejas en menos tiempo.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0145911" y="2381131"/>
            <a:ext cx="393859" cy="393859"/>
          </a:xfrm>
          <a:prstGeom prst="roundRect">
            <a:avLst>
              <a:gd name="adj" fmla="val 40001"/>
            </a:avLst>
          </a:prstGeom>
          <a:solidFill>
            <a:srgbClr val="EEEFF5"/>
          </a:solidFill>
          <a:ln/>
          <a:effectLst>
            <a:outerShdw blurRad="43180" dist="2159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/>
          <p:nvPr/>
        </p:nvSpPr>
        <p:spPr>
          <a:xfrm>
            <a:off x="10265450" y="2439829"/>
            <a:ext cx="154781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10714792" y="2381131"/>
            <a:ext cx="2303264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Mantenibilidad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714792" y="2774037"/>
            <a:ext cx="3303032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arquitectura modular y las buenas prácticas impuestas por los frameworks facilitan el mantenimiento y la escalabilidad de las aplicaciones a largo plazo.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98977" y="5106233"/>
            <a:ext cx="393859" cy="393859"/>
          </a:xfrm>
          <a:prstGeom prst="roundRect">
            <a:avLst>
              <a:gd name="adj" fmla="val 40001"/>
            </a:avLst>
          </a:prstGeom>
          <a:solidFill>
            <a:srgbClr val="EEEFF5"/>
          </a:solidFill>
          <a:ln/>
          <a:effectLst>
            <a:outerShdw blurRad="43180" dist="2159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Text 10"/>
          <p:cNvSpPr/>
          <p:nvPr/>
        </p:nvSpPr>
        <p:spPr>
          <a:xfrm>
            <a:off x="6221254" y="5164931"/>
            <a:ext cx="149304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6667857" y="5106233"/>
            <a:ext cx="2485072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Rendimiento optimizado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667857" y="5499140"/>
            <a:ext cx="3303032" cy="168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Muchos frameworks implementan técnicas avanzadas de renderizado y optimización que mejoran el rendimiento de las aplicaciones, especialmente en dispositivos móviles.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0145911" y="5106233"/>
            <a:ext cx="393859" cy="393859"/>
          </a:xfrm>
          <a:prstGeom prst="roundRect">
            <a:avLst>
              <a:gd name="adj" fmla="val 40001"/>
            </a:avLst>
          </a:prstGeom>
          <a:solidFill>
            <a:srgbClr val="EEEFF5"/>
          </a:solidFill>
          <a:ln/>
          <a:effectLst>
            <a:outerShdw blurRad="43180" dist="2159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10259139" y="5164931"/>
            <a:ext cx="16728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10714792" y="5106233"/>
            <a:ext cx="254365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Ecosistema y comunidad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714792" y="5499140"/>
            <a:ext cx="3303032" cy="196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frameworks populares cuentan con grandes comunidades que proporcionan soporte, bibliotecas adicionales y recursos de aprendizaje, lo que facilita la resolución de problemas y la adopción de nuevas técnicas.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83062"/>
            <a:ext cx="754094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React: componentes y estado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1829038"/>
            <a:ext cx="3278386" cy="866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884" y="3020497"/>
            <a:ext cx="284523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Componentes reutilizables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74884" y="3862864"/>
            <a:ext cx="2845237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 se basa en la creación de componentes modulares que encapsulan la lógica y la presentación, facilitando la reutilización del código y la construcción de interfaces complejas a partir de piezas más pequeñas.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695" y="1829038"/>
            <a:ext cx="3278505" cy="8665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53270" y="3020497"/>
            <a:ext cx="2845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Estado y props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253270" y="3506629"/>
            <a:ext cx="2845356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manejo del estado interno de los componentes y el paso de propiedades permiten crear aplicaciones dinámicas y reactivas, donde los cambios en los datos se reflejan automáticamente en la interfaz de usuario.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829038"/>
            <a:ext cx="3278386" cy="8665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31775" y="3020497"/>
            <a:ext cx="284523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Virtual DOM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31775" y="3506629"/>
            <a:ext cx="2845237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 utiliza un DOM virtual para optimizar las actualizaciones de la interfaz, comparando los cambios antes de aplicarlos al DOM real, lo que resulta en un mejor rendimiento y una experiencia de usuario más fluida.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3586" y="1829038"/>
            <a:ext cx="3278505" cy="8665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10161" y="3020497"/>
            <a:ext cx="2845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Ecosistema rico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810161" y="3506629"/>
            <a:ext cx="2845356" cy="312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herramientas como Create React App, Redux para gestión de estado global, y React Router para navegación, React ofrece un ecosistema completo para el desarrollo de aplicaciones web modernas.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4818" y="534710"/>
            <a:ext cx="7787164" cy="1275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Angular: arquitectura y TypeScript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164818" y="2100858"/>
            <a:ext cx="7787164" cy="5594033"/>
          </a:xfrm>
          <a:prstGeom prst="roundRect">
            <a:avLst>
              <a:gd name="adj" fmla="val 311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6172438" y="2108478"/>
            <a:ext cx="7771090" cy="5576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3"/>
          <p:cNvSpPr/>
          <p:nvPr/>
        </p:nvSpPr>
        <p:spPr>
          <a:xfrm>
            <a:off x="6367105" y="2232303"/>
            <a:ext cx="2198608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Característica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001" y="2232303"/>
            <a:ext cx="2194798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Descripción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551087" y="2232303"/>
            <a:ext cx="2198608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Beneficio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72438" y="2666167"/>
            <a:ext cx="7771090" cy="14878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7"/>
          <p:cNvSpPr/>
          <p:nvPr/>
        </p:nvSpPr>
        <p:spPr>
          <a:xfrm>
            <a:off x="6367105" y="2789992"/>
            <a:ext cx="2198608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modular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61001" y="2789992"/>
            <a:ext cx="2194798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Organización en módulos, componentes y servicios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551087" y="2789992"/>
            <a:ext cx="2198608" cy="62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Mejor organización y mantenibilidad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72438" y="4153972"/>
            <a:ext cx="7771090" cy="11777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1"/>
          <p:cNvSpPr/>
          <p:nvPr/>
        </p:nvSpPr>
        <p:spPr>
          <a:xfrm>
            <a:off x="6367105" y="4277797"/>
            <a:ext cx="2198608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961001" y="4277797"/>
            <a:ext cx="2194798" cy="62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Superset tipado de JavaScript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551087" y="4277797"/>
            <a:ext cx="2198608" cy="93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Detección temprana de errores y mejor tooling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72438" y="5331738"/>
            <a:ext cx="7771090" cy="11777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5"/>
          <p:cNvSpPr/>
          <p:nvPr/>
        </p:nvSpPr>
        <p:spPr>
          <a:xfrm>
            <a:off x="6367105" y="5455563"/>
            <a:ext cx="2198608" cy="62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Inyección de dependencias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961001" y="5455563"/>
            <a:ext cx="2194798" cy="93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integrado para gestionar dependencias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551087" y="5455563"/>
            <a:ext cx="2198608" cy="62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Código más limpio y fácil de probar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72438" y="6509504"/>
            <a:ext cx="7771090" cy="11777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2" name="Text 19"/>
          <p:cNvSpPr/>
          <p:nvPr/>
        </p:nvSpPr>
        <p:spPr>
          <a:xfrm>
            <a:off x="6367105" y="6633329"/>
            <a:ext cx="2198608" cy="310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RxJS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961001" y="6633329"/>
            <a:ext cx="2194798" cy="62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Biblioteca para programación reactiva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551087" y="6633329"/>
            <a:ext cx="2198608" cy="93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Manejo eficiente de flujos de datos asincrónicos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9011" y="794504"/>
            <a:ext cx="7096482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Vue.js: simplicidad y reactividad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11" y="1696283"/>
            <a:ext cx="470654" cy="4706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9011" y="2355175"/>
            <a:ext cx="2477453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Ligero y flexible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659011" y="2777728"/>
            <a:ext cx="3771781" cy="1505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Vue.js se destaca por su pequeño tamaño y su flexibilidad, permitiendo una integración gradual en proyectos existentes o su uso como framework completo para nuevas aplicaciones.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208" y="1696283"/>
            <a:ext cx="470654" cy="4706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13208" y="2355175"/>
            <a:ext cx="2477453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Reactividad eficiente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4713208" y="2777728"/>
            <a:ext cx="3771781" cy="1806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sistema de reactividad de Vue.js actualiza automáticamente la interfaz de usuario cuando los datos cambian, proporcionando una experiencia de desarrollo fluida y una aplicación responsiva.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11" y="5149215"/>
            <a:ext cx="470654" cy="4706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9011" y="5808107"/>
            <a:ext cx="2686764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Componentes single-file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659011" y="6230660"/>
            <a:ext cx="3771781" cy="1204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Vue permite encapsular template, script y estilos en un solo archivo .vue, facilitando la organización y el mantenimiento de los componentes.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208" y="5149215"/>
            <a:ext cx="470654" cy="47065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13208" y="5808107"/>
            <a:ext cx="2711291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Herramientas poderosas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4713208" y="6230660"/>
            <a:ext cx="3771781" cy="1204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Vue CLI y las DevTools ofrecen un entorno de desarrollo optimizado con hot-reloading, depuración avanzada y scaffolding de proyectos.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17000"/>
            <a:ext cx="1121223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Bibliotecas populares: jQuery, Lodash, Axios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97120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jQuery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544014"/>
            <a:ext cx="4018359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Aunque menos utilizada en proyectos modernos, jQuery sigue siendo relevante para manipulación del DOM y AJAX en proyectos legacy. Su sintaxis concisa para seleccionar elementos y manejar eventos aún es apreciada por muchos desarrolladores.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297120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Lodash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3544014"/>
            <a:ext cx="4018359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 biblioteca de utilidades ofrece funciones para manipulación de arrays, objetos y strings. Lodash es especialmente útil para operaciones complejas de datos, facilitando tareas como el filtrado, mapeo y reducción de colecciones.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297120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Axios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3544014"/>
            <a:ext cx="4018359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Axios se ha convertido en la biblioteca preferida para realizar peticiones HTTP. Su API basada en promesas, soporte para interceptores y manejo automático de transformaciones de datos la hacen ideal para comunicarse con APIs RESTful.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017" y="557093"/>
            <a:ext cx="13212366" cy="133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Herramientas de desarrollo: IDE, transpiladores, gestores de paquetes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17" y="2295049"/>
            <a:ext cx="4201478" cy="25966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9017" y="5144810"/>
            <a:ext cx="2665690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IDEs y editores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09017" y="5599390"/>
            <a:ext cx="4201478" cy="1945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Studio Code se ha convertido en el estándar de facto para el desarrollo frontend, ofreciendo una amplia gama de extensiones y una excelente integración con herramientas de desarrollo web.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342" y="2295049"/>
            <a:ext cx="4201597" cy="25967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4342" y="5144929"/>
            <a:ext cx="2665690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Transpiladores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5214342" y="5599509"/>
            <a:ext cx="4201597" cy="226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Babel permite a los desarrolladores utilizar las últimas características de JavaScript, transpilando el código a versiones compatibles con navegadores más antiguos, asegurando la compatibilidad y la adopción de nuevas funcionalidades.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9786" y="2295049"/>
            <a:ext cx="4201597" cy="25967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9786" y="5144929"/>
            <a:ext cx="2665690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Gestores de paquetes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9719786" y="5599509"/>
            <a:ext cx="4201597" cy="1945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npm y Yarn facilitan la gestión de dependencias en proyectos JavaScript, permitiendo instalar, actualizar y administrar bibliotecas de terceros de manera eficiente, mejorando el flujo de trabajo del desarrollo.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952024"/>
            <a:ext cx="7627382" cy="2950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Introducción a Herramientas de Backend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58309" y="4227671"/>
            <a:ext cx="7627382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el mundo del desarrollo web, las herramientas de backend son fundamentales para construir aplicaciones robustas y escalables. En esta presentación, exploraremos una de las tecnologías más populares y poderosas en el ámbito del backend: Node.js. Además, profundizaremos en los conceptos básicos de las bases de datos, las cuales desempeñan un papel crucial en el almacenamiento y la gestión de datos en aplicaciones web modernas.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6914555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29" y="6922175"/>
            <a:ext cx="331351" cy="331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3128" y="6898362"/>
            <a:ext cx="4793694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MIKE LEONEL MOLINA GARCIA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002151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4509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¿Qué es Node.js?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134791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941427" y="2207419"/>
            <a:ext cx="12108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462326" y="2134791"/>
            <a:ext cx="352282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Motor de ejecución de JavaScript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2326" y="2977158"/>
            <a:ext cx="3522821" cy="450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 es un entorno de tiempo de ejecución de código abierto que permite a los desarrolladores utilizar JavaScript para crear aplicaciones de servidor y herramientas de línea de comandos. Esto significa que ya no es necesario limitarse al uso de JavaScript solo en el frontend, sino que también se puede aprovechar en el backend.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01722" y="2134791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5349597" y="2207419"/>
            <a:ext cx="19157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05738" y="2134791"/>
            <a:ext cx="352282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Basado en el motor V8 de Chrome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05738" y="2977158"/>
            <a:ext cx="3522821" cy="312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 utiliza el motor V8 de Google, el mismo que impulsa el navegador Chrome. Esto le otorga a Node.js un rendimiento y una velocidad excepcionales, lo que lo hace ideal para aplicaciones que requieren un procesamiento intensivo o en tiempo real.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45134" y="2134791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9796463" y="2207419"/>
            <a:ext cx="18466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349151" y="2134791"/>
            <a:ext cx="352282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Asíncrono y Orientado a Eventos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349151" y="2977158"/>
            <a:ext cx="3522821" cy="312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de las características clave de Node.js es su modelo de E/S asíncrono y orientado a eventos. Esto significa que Node.js puede manejar múltiples solicitudes concurrentes sin bloquear el hilo principal, lo que lo convierte en una solución eficiente para aplicaciones de alto tráfico.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860258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17000"/>
            <a:ext cx="685859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Ventajas de Utilizar Node.js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971205"/>
            <a:ext cx="319980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Rendimiento Excepcional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544014"/>
            <a:ext cx="4018359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Gracias a su arquitectura asíncrona y orientada a eventos, Node.js puede manejar un gran número de solicitudes simultáneas sin comprometer el rendimiento. Esto lo convierte en una excelente opción para aplicaciones de tiempo real y de alto tráfico.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297120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Escalabilidad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3544014"/>
            <a:ext cx="4018359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 es altamente escalable, lo que significa que puede adaptarse fácilmente a las necesidades cambiantes de una aplicación a medida que crece. Esto se debe a su capacidad para manejar múltiples hilos de ejecución y a su diseño modular.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297120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Eficiencia en Costos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3544014"/>
            <a:ext cx="4018359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 utilizar Node.js, los desarrolladores pueden reducir significativamente los costos de desarrollo y mantenimiento de aplicaciones, ya que solo necesitan aprender un lenguaje de programación (JavaScript) para construir tanto el frontend como el backend.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753916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268" y="623768"/>
            <a:ext cx="7830264" cy="123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Principales Características de Node.js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413302" y="2139910"/>
            <a:ext cx="22860" cy="5465921"/>
          </a:xfrm>
          <a:prstGeom prst="roundRect">
            <a:avLst>
              <a:gd name="adj" fmla="val 738932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6612969" y="2550676"/>
            <a:ext cx="656868" cy="22860"/>
          </a:xfrm>
          <a:prstGeom prst="roundRect">
            <a:avLst>
              <a:gd name="adj" fmla="val 738932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Shape 3"/>
          <p:cNvSpPr/>
          <p:nvPr/>
        </p:nvSpPr>
        <p:spPr>
          <a:xfrm>
            <a:off x="6213634" y="2351008"/>
            <a:ext cx="422196" cy="422196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blurRad="45720" dist="2286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/>
          <p:nvPr/>
        </p:nvSpPr>
        <p:spPr>
          <a:xfrm>
            <a:off x="6372225" y="2413873"/>
            <a:ext cx="104894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457003" y="2327553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Asincronía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57003" y="2748677"/>
            <a:ext cx="6516529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 utiliza un modelo de programación asíncrono y orientado a eventos, lo que le permite manejar múltiples solicitudes de manera eficiente sin bloquear el hilo principal.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2969" y="4435197"/>
            <a:ext cx="656868" cy="22860"/>
          </a:xfrm>
          <a:prstGeom prst="roundRect">
            <a:avLst>
              <a:gd name="adj" fmla="val 738932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6213634" y="4235529"/>
            <a:ext cx="422196" cy="422196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blurRad="45720" dist="2286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6341745" y="4298394"/>
            <a:ext cx="165973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457003" y="4212074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Single Threaded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457003" y="4633198"/>
            <a:ext cx="6516529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 es un entorno de ejecución de software de un solo hilo, lo que significa que puede manejar múltiples solicitudes simultáneas sin necesidad de crear nuevos hilos de ejecución.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612969" y="6319718"/>
            <a:ext cx="656868" cy="22860"/>
          </a:xfrm>
          <a:prstGeom prst="roundRect">
            <a:avLst>
              <a:gd name="adj" fmla="val 738932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3"/>
          <p:cNvSpPr/>
          <p:nvPr/>
        </p:nvSpPr>
        <p:spPr>
          <a:xfrm>
            <a:off x="6213634" y="6120051"/>
            <a:ext cx="422196" cy="422196"/>
          </a:xfrm>
          <a:prstGeom prst="roundRect">
            <a:avLst>
              <a:gd name="adj" fmla="val 40010"/>
            </a:avLst>
          </a:prstGeom>
          <a:solidFill>
            <a:srgbClr val="EEEFF5"/>
          </a:solidFill>
          <a:ln/>
          <a:effectLst>
            <a:outerShdw blurRad="45720" dist="2286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6344722" y="6182916"/>
            <a:ext cx="160020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7457003" y="6096595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Event Loop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457003" y="6517719"/>
            <a:ext cx="6516529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Event Loop de Node.js es el corazón de su arquitectura, ya que se encarga de gestionar de manera eficiente las operaciones de entrada/salida (E/S) asíncronas.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788528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517" y="560784"/>
            <a:ext cx="7730966" cy="1328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Proceso de Instalación y Configuración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17" y="2191583"/>
            <a:ext cx="1009412" cy="18257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18705" y="2393394"/>
            <a:ext cx="2717483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Descargar el instalador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2018705" y="2846427"/>
            <a:ext cx="6418778" cy="96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primer paso es descargar el instalador de Node.js desde el sitio web oficial. Existen versiones disponibles para diferentes sistemas operativos, como Windows, macOS y Linux.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17" y="4017288"/>
            <a:ext cx="1009412" cy="18257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18705" y="4219099"/>
            <a:ext cx="2656403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Ejecutar la instalación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2018705" y="4672132"/>
            <a:ext cx="6418778" cy="96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vez descargado el instalador, simplemente hay que ejecutarlo y seguir las instrucciones en pantalla para completar el proceso de instalación.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517" y="5842992"/>
            <a:ext cx="1009412" cy="18257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18705" y="6044803"/>
            <a:ext cx="2656403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Verificar la instalación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2018705" y="6497836"/>
            <a:ext cx="6418778" cy="96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Después de la instalación, se puede abrir la línea de comandos y ejecutar el comando "node -v" para comprobar que Node.js se ha instalado correctamente.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598187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43858"/>
            <a:ext cx="844450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Introducción a las Bases de Datos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489835"/>
            <a:ext cx="4226838" cy="4395907"/>
          </a:xfrm>
          <a:prstGeom prst="roundRect">
            <a:avLst>
              <a:gd name="adj" fmla="val 461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974884" y="2706410"/>
            <a:ext cx="34553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¿Qué es una base de datos?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74884" y="3192542"/>
            <a:ext cx="3793688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base de datos es un sistema organizado de almacenamiento y gestión de datos. Permite a las aplicaciones web almacenar, recuperar y manipular información de manera eficiente y segura.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201722" y="2489835"/>
            <a:ext cx="4226838" cy="4395907"/>
          </a:xfrm>
          <a:prstGeom prst="roundRect">
            <a:avLst>
              <a:gd name="adj" fmla="val 461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5418296" y="2706410"/>
            <a:ext cx="379368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Importancia de las Bases de Datos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18296" y="3548777"/>
            <a:ext cx="3793688" cy="312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bases de datos son fundamentales para el desarrollo de aplicaciones web modernas, ya que permiten a los desarrolladores mantener la integridad y la consistencia de los datos, así como ofrecer experiencias más enriquecedoras a los usuarios finales.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45134" y="2489835"/>
            <a:ext cx="4226838" cy="4395907"/>
          </a:xfrm>
          <a:prstGeom prst="roundRect">
            <a:avLst>
              <a:gd name="adj" fmla="val 4613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9861709" y="2706410"/>
            <a:ext cx="305966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Tipos de Bases de Datos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1709" y="3192542"/>
            <a:ext cx="3793688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Existen diferentes tipos de bases de datos, como las relacionales (MySQL, PostgreSQL), las NoSQL (MongoDB, Cassandra) y las de gráfos (Neo4j), cada una con sus propias características y casos de uso.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308955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028" y="747593"/>
            <a:ext cx="4850130" cy="56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Tipos de Bases de Datos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28" y="1570077"/>
            <a:ext cx="429220" cy="429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1028" y="2170986"/>
            <a:ext cx="2845475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Bases de Datos Relacionales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01028" y="2556391"/>
            <a:ext cx="794194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bases de datos relacionales almacenan datos en tablas con filas y columnas, y utilizan SQL (Structured Query Language) para consultar y manipular la información.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28" y="3620810"/>
            <a:ext cx="429220" cy="4292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1028" y="4221718"/>
            <a:ext cx="225944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Bases de Datos NoSQL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01028" y="4607123"/>
            <a:ext cx="794194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bases de datos NoSQL ofrecen una alternativa a las bases de datos relacionales, con modelos de datos más flexibles y escalables, como documentos, grafos o columnas.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28" y="5671542"/>
            <a:ext cx="429220" cy="429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1028" y="6272451"/>
            <a:ext cx="253150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Bases de Datos de Gráfos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01028" y="6657856"/>
            <a:ext cx="794194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bases de datos de gráfos se enfocan en las relaciones entre los datos, lo que las hace ideales para aplicaciones que requieren análisis de redes y procesamiento de consultas complejas.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141826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16831"/>
            <a:ext cx="669786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Conceptos Básicos de SQL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70652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941427" y="2779157"/>
            <a:ext cx="12108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462326" y="270652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Selección de Datos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2326" y="3192661"/>
            <a:ext cx="57446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cláusula SELECT se utiliza para extraer datos de una o más tablas de una base de datos. Por ejemplo: SELECT * FROM usuarios;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23547" y="270652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7571423" y="2779157"/>
            <a:ext cx="19157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127563" y="270652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Inserción de Datos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27563" y="3192661"/>
            <a:ext cx="574464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cláusula INSERT INTO se emplea para agregar nuevos registros a una tabla. Por ejemplo: INSERT INTO usuarios (nombre, email) VALUES ('Juan', 'juan@example.com');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8309" y="5039797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909638" y="5112425"/>
            <a:ext cx="18466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462326" y="5039797"/>
            <a:ext cx="287750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Actualización de Datos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2326" y="5525929"/>
            <a:ext cx="574464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cláusula UPDATE se usa para modificar los valores de uno o más campos en una o más filas de una tabla. Por ejemplo: UPDATE usuarios SET email = 'nuevo@example.com' WHERE id = 1;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23547" y="5039797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7563803" y="5112425"/>
            <a:ext cx="206931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8127563" y="50397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Eliminación de Datos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27563" y="5525929"/>
            <a:ext cx="57446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cláusula DELETE FROM se utiliza para eliminar uno o más registros de una tabla. Por ejemplo: DELETE FROM usuarios WHERE id = 1;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825108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438" y="620316"/>
            <a:ext cx="7771924" cy="128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Conexión de una Aplicación Node.js a una Base de Datos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172438" y="2203966"/>
            <a:ext cx="7771924" cy="5405199"/>
          </a:xfrm>
          <a:prstGeom prst="roundRect">
            <a:avLst>
              <a:gd name="adj" fmla="val 326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6180058" y="2211586"/>
            <a:ext cx="7756684" cy="15042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3"/>
          <p:cNvSpPr/>
          <p:nvPr/>
        </p:nvSpPr>
        <p:spPr>
          <a:xfrm>
            <a:off x="6376035" y="2336721"/>
            <a:ext cx="3482578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258187" y="2336721"/>
            <a:ext cx="3482578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Instalar el controlador de base de datos adecuado. Por ejemplo, para MySQL se utilizaría el paquete "mysql" o "mysql2".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80058" y="3715822"/>
            <a:ext cx="7756684" cy="1190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/>
          <p:nvPr/>
        </p:nvSpPr>
        <p:spPr>
          <a:xfrm>
            <a:off x="6376035" y="3840956"/>
            <a:ext cx="3482578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258187" y="3840956"/>
            <a:ext cx="3482578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Importar el controlador en el código de Node.js y establecer la conexión a la base de datos.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80058" y="4906566"/>
            <a:ext cx="7756684" cy="15042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6376035" y="5031700"/>
            <a:ext cx="3482578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258187" y="5031700"/>
            <a:ext cx="3482578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Ejecutar consultas SQL utilizando los métodos provistos por el controlador, como "query()", "execute()" o "transaction()".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80058" y="6410801"/>
            <a:ext cx="7756684" cy="1190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2"/>
          <p:cNvSpPr/>
          <p:nvPr/>
        </p:nvSpPr>
        <p:spPr>
          <a:xfrm>
            <a:off x="6376035" y="6535936"/>
            <a:ext cx="3482578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58187" y="6535936"/>
            <a:ext cx="3482578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Procesar los resultados de las consultas y utilizarlos en la lógica de la aplicación.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24501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714619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APIs REST: Conectando Aplicaciones en la Era Digital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3464957"/>
            <a:ext cx="7627382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un mundo cada vez más digital, donde las aplicaciones y servicios se comunican entre sí, las APIs REST se han convertido en la piedra angular de la integración y la interoperabilidad. Estas interfaces de programación de aplicaciones (API) brindan a los desarrolladores las herramientas necesarias para crear soluciones escalables, flexibles y seguras, impulsando así la innovación y la eficiencia en las organizaciones.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6151840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29" y="6159460"/>
            <a:ext cx="331351" cy="331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3128" y="6135648"/>
            <a:ext cx="4793694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MIKE LEONEL MOLINA GARCIA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896644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69921"/>
            <a:ext cx="614422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¿Qué son las APIs REST?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65961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941427" y="2732246"/>
            <a:ext cx="12108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462326" y="26596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2326" y="3145750"/>
            <a:ext cx="3522821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APIs REST (Representational State Transfer) son un estilo de arquitectura de software que define un conjunto de principios y restricciones para crear servicios web que se comunican a través de la web utilizando el protocolo HTTP.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01722" y="265961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5349597" y="2732246"/>
            <a:ext cx="19157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05738" y="26596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Funcionamiento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05738" y="3145750"/>
            <a:ext cx="3522821" cy="381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APIs REST se basan en el intercambio de representaciones de recursos a través de solicitudes HTTP (GET, POST, PUT, DELETE) entre un cliente y un servidor. El servidor expone estos recursos a través de endpoints URL, y el cliente puede acceder a ellos y manipularlos de manera segura y eficiente.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45134" y="265961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9796463" y="2732246"/>
            <a:ext cx="18466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349151" y="26596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Principios Clave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349151" y="3145750"/>
            <a:ext cx="3522821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APIs REST se guían por principios como la uniformidad de la interfaz, la separación de cliente y servidor, y la capacidad de cache, lo que les permite ser escalables, interoperables y fácilmente adoptadas por una amplia gama de aplicaciones.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636775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90355"/>
            <a:ext cx="702671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Beneficios de las APIs REST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1445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Interoperabilidad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717369"/>
            <a:ext cx="4018359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APIs REST permiten que diferentes sistemas y tecnologías se comuniquen entre sí de manera estándar y eficiente, facilitando la integración de aplicaciones y la creación de soluciones más completas.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31445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Escalabilidad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3717369"/>
            <a:ext cx="4018359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 estar diseñadas sobre los principios de la web, las APIs REST son inherentemente escalables, lo que las hace adecuadas para aplicaciones de alto tráfico y en constante crecimiento.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31445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Flexibilidad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3717369"/>
            <a:ext cx="4018359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APIs REST son muy flexibles, ya que permiten a los desarrolladores acceder a los datos y funcionalidades de manera granular, adaptando la respuesta a las necesidades específicas de cada cliente.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079536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266" y="1038701"/>
            <a:ext cx="7608689" cy="56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Solicitudes HTTP y Códigos de Estado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854631" y="1868329"/>
            <a:ext cx="22860" cy="5322570"/>
          </a:xfrm>
          <a:prstGeom prst="roundRect">
            <a:avLst>
              <a:gd name="adj" fmla="val 681968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1038046" y="2246471"/>
            <a:ext cx="606266" cy="22860"/>
          </a:xfrm>
          <a:prstGeom prst="roundRect">
            <a:avLst>
              <a:gd name="adj" fmla="val 681968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Shape 3"/>
          <p:cNvSpPr/>
          <p:nvPr/>
        </p:nvSpPr>
        <p:spPr>
          <a:xfrm>
            <a:off x="671215" y="2063115"/>
            <a:ext cx="389692" cy="389692"/>
          </a:xfrm>
          <a:prstGeom prst="roundRect">
            <a:avLst>
              <a:gd name="adj" fmla="val 40005"/>
            </a:avLst>
          </a:prstGeom>
          <a:solidFill>
            <a:srgbClr val="EEEFF5"/>
          </a:solidFill>
          <a:ln/>
          <a:effectLst>
            <a:outerShdw blurRad="43180" dist="2159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/>
          <p:nvPr/>
        </p:nvSpPr>
        <p:spPr>
          <a:xfrm>
            <a:off x="817662" y="2121218"/>
            <a:ext cx="96798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818680" y="2041446"/>
            <a:ext cx="227921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Métodos HTTP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818680" y="2430066"/>
            <a:ext cx="6719054" cy="831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APIs REST utilizan los métodos HTTP (GET, POST, PUT, DELETE) para realizar diferentes acciones sobre los recursos expuestos. Cada método tiene un propósito específico: consultar, crear, actualizar o eliminar datos.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38046" y="3985974"/>
            <a:ext cx="606266" cy="22860"/>
          </a:xfrm>
          <a:prstGeom prst="roundRect">
            <a:avLst>
              <a:gd name="adj" fmla="val 681968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671215" y="3802618"/>
            <a:ext cx="389692" cy="389692"/>
          </a:xfrm>
          <a:prstGeom prst="roundRect">
            <a:avLst>
              <a:gd name="adj" fmla="val 40005"/>
            </a:avLst>
          </a:prstGeom>
          <a:solidFill>
            <a:srgbClr val="EEEFF5"/>
          </a:solidFill>
          <a:ln/>
          <a:effectLst>
            <a:outerShdw blurRad="43180" dist="2159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789444" y="3860721"/>
            <a:ext cx="153114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1818680" y="3780949"/>
            <a:ext cx="227921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Códigos de Estado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818680" y="4169569"/>
            <a:ext cx="6719054" cy="831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códigos de estado HTTP indican el resultado de una solicitud, permitiendo a los clientes entender si la operación fue exitosa (200, 201), si hubo un error (400, 500) o si se requiere una acción adicional (301, 302).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038046" y="5725477"/>
            <a:ext cx="606266" cy="22860"/>
          </a:xfrm>
          <a:prstGeom prst="roundRect">
            <a:avLst>
              <a:gd name="adj" fmla="val 681968"/>
            </a:avLst>
          </a:prstGeom>
          <a:solidFill>
            <a:srgbClr val="C1C3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3"/>
          <p:cNvSpPr/>
          <p:nvPr/>
        </p:nvSpPr>
        <p:spPr>
          <a:xfrm>
            <a:off x="671215" y="5542121"/>
            <a:ext cx="389692" cy="389692"/>
          </a:xfrm>
          <a:prstGeom prst="roundRect">
            <a:avLst>
              <a:gd name="adj" fmla="val 40005"/>
            </a:avLst>
          </a:prstGeom>
          <a:solidFill>
            <a:srgbClr val="EEEFF5"/>
          </a:solidFill>
          <a:ln/>
          <a:effectLst>
            <a:outerShdw blurRad="43180" dist="2159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792182" y="5600224"/>
            <a:ext cx="147637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1818680" y="5520452"/>
            <a:ext cx="227921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Significado y Usos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818680" y="5909072"/>
            <a:ext cx="6719054" cy="110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Conocer los métodos HTTP y los códigos de estado es fundamental para interactuar de manera efectiva con las APIs REST, ya que permiten a los desarrolladores diagnosticar problemas, manejar excepciones y construir aplicaciones más robustas.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525207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07338"/>
            <a:ext cx="731639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Autenticación y Autorización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1753314"/>
            <a:ext cx="6448663" cy="2999542"/>
          </a:xfrm>
          <a:prstGeom prst="roundRect">
            <a:avLst>
              <a:gd name="adj" fmla="val 6501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974884" y="196988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Autenticación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74884" y="2456021"/>
            <a:ext cx="6015514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autenticación en las APIs REST se encarga de verificar la identidad de un usuario o aplicación, asegurando que solo las partes autorizadas puedan acceder a los recursos. Esto se logra mediante mecanismos como credenciales, tokens de acceso y OAuth.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23547" y="1753314"/>
            <a:ext cx="6448663" cy="2999542"/>
          </a:xfrm>
          <a:prstGeom prst="roundRect">
            <a:avLst>
              <a:gd name="adj" fmla="val 6501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7640122" y="196988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Autorización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40122" y="2456021"/>
            <a:ext cx="601551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autorización determina los permisos y privilegios que tienen los usuarios o aplicaciones autenticadas para realizar acciones específicas. Esto es fundamental para garantizar la seguridad y el control de acceso a los recursos expuestos por las APIs REST.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309" y="4969431"/>
            <a:ext cx="6448663" cy="2652832"/>
          </a:xfrm>
          <a:prstGeom prst="roundRect">
            <a:avLst>
              <a:gd name="adj" fmla="val 7350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974884" y="518600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Implementación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4884" y="5672138"/>
            <a:ext cx="601551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implementación de la autenticación y autorización en las APIs REST suele basarse en estándares como OAuth y JWT (JSON Web Tokens), que permiten una gestión segura y escalable de los permisos y credenciales.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23547" y="4969431"/>
            <a:ext cx="6448663" cy="2652832"/>
          </a:xfrm>
          <a:prstGeom prst="roundRect">
            <a:avLst>
              <a:gd name="adj" fmla="val 7350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7640122" y="5186005"/>
            <a:ext cx="383976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Consideraciones de Seguridad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40122" y="5672138"/>
            <a:ext cx="601551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 crucial tener en cuenta aspectos de seguridad como la protección contra ataques, la gestión de tokens y la integración con sistemas de identidad existentes para garantizar la integridad y confidencialidad de los datos.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96231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07889"/>
            <a:ext cx="588549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Fundamentos de OAuth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353866"/>
            <a:ext cx="4371261" cy="866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884" y="354532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¿Qué es OAuth?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74884" y="4031456"/>
            <a:ext cx="3938111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OAuth es un estándar abierto de autorización que permite a una aplicación obtener acceso limitado a un servicio web en nombre de un usuario, sin necesidad de compartir las credenciales de este usuario.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570" y="2353866"/>
            <a:ext cx="4371261" cy="8665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6144" y="354532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Flujo de Autorización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46144" y="4031456"/>
            <a:ext cx="3938111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flujo de autorización de OAuth involucra al usuario, al cliente (aplicación que solicita acceso), al servidor de autorización y al servidor de recursos. Juntos, estos componentes trabajan para otorgar y gestionar los permisos de acceso de manera segura.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830" y="2353866"/>
            <a:ext cx="4371261" cy="8665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7405" y="354532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Beneficios de OAuth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7405" y="4031456"/>
            <a:ext cx="3938111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OAuth ofrece una forma más segura y descentralizada de autorizar el acceso a recursos, evitando la necesidad de compartir contraseñas y permitiendo a los usuarios tener un mayor control sobre sus datos.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698396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7428" y="472916"/>
            <a:ext cx="5582960" cy="56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Tokens de Acceso y Refresh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428" y="1295400"/>
            <a:ext cx="429220" cy="4292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87428" y="1896308"/>
            <a:ext cx="225944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Tokens de Acceso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087428" y="2281714"/>
            <a:ext cx="794194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tokens de acceso son credenciales temporales que permiten a los clientes autenticados acceder a los recursos de la API de manera segura y sin necesidad de compartir las credenciales del usuario.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7428" y="3620810"/>
            <a:ext cx="429220" cy="4292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87428" y="4221718"/>
            <a:ext cx="225944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Tokens de Refresco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087428" y="4607123"/>
            <a:ext cx="794194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tokens de refresco son credenciales de larga duración que se utilizan para obtener nuevos tokens de acceso cuando estos expiran, evitando que el usuario tenga que volver a autenticarse.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7428" y="5946219"/>
            <a:ext cx="429220" cy="429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87428" y="6547128"/>
            <a:ext cx="2674025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Ciclo de Vida de los Tokens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087428" y="6932533"/>
            <a:ext cx="794194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gestión adecuada del ciclo de vida de los tokens, incluyendo su emisión, validación y renovación, es fundamental para mantener la seguridad y la integridad de las interacciones con las APIs REST.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730321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16631"/>
            <a:ext cx="994493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Introducción a JSON Web Tokens (JWT)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00632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941427" y="3078956"/>
            <a:ext cx="12108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462326" y="30063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¿Qué es JWT?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2326" y="3492460"/>
            <a:ext cx="3522821" cy="312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 Web Tokens (JWT) son un estándar abierto (RFC 7519) que define una forma compacta y segura de transmitir información entre partes como un objeto JSON. Estos tokens se utilizan comúnmente en APIs REST para la autenticación y la autorización.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01722" y="300632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5349597" y="3078956"/>
            <a:ext cx="19157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905738" y="30063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Estructura de JWT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05738" y="3492460"/>
            <a:ext cx="3522821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JWT consta de tres partes: un encabezado, una carga útil y una firma. Estas partes se codifican y se combinan en un formato estándar para su transmisión y validación.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45134" y="300632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9796463" y="3078956"/>
            <a:ext cx="18466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349151" y="30063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Beneficios de JWT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349151" y="3492460"/>
            <a:ext cx="3522821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 ofrece beneficios como la compacidad, la seguridad (gracias a la firma digital), la interoperabilidad y la facilidad de uso, lo que lo convierte en una solución ideal para la autenticación y autorización en las APIs REST.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372620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8614" y="827008"/>
            <a:ext cx="7999571" cy="107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Implementando Autenticación y Autorización en Aplicaciones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6058614" y="2147768"/>
            <a:ext cx="7999571" cy="5254704"/>
          </a:xfrm>
          <a:prstGeom prst="roundRect">
            <a:avLst>
              <a:gd name="adj" fmla="val 28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6066234" y="2155388"/>
            <a:ext cx="7984331" cy="12570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3"/>
          <p:cNvSpPr/>
          <p:nvPr/>
        </p:nvSpPr>
        <p:spPr>
          <a:xfrm>
            <a:off x="6229707" y="2260997"/>
            <a:ext cx="3661410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de Usuarios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225683" y="2260997"/>
            <a:ext cx="3661410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Crear cuentas de usuario con información de identificación (nombre, correo electrónico, contraseña) y almacenarla de manera segura.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66234" y="3412450"/>
            <a:ext cx="7984331" cy="9956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/>
          <p:nvPr/>
        </p:nvSpPr>
        <p:spPr>
          <a:xfrm>
            <a:off x="6229707" y="3518059"/>
            <a:ext cx="3661410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Autenticación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225683" y="3518059"/>
            <a:ext cx="3661410" cy="78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Validar las credenciales de los usuarios y generar tokens de acceso y refresco utilizando estándares como OAuth y JWT.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66234" y="4408051"/>
            <a:ext cx="7984331" cy="9956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6229707" y="4513659"/>
            <a:ext cx="3661410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Autorización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225683" y="4513659"/>
            <a:ext cx="3661410" cy="78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Definir y administrar los permisos de los usuarios para acceder a recursos y funcionalidades específicas de la aplicación.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66234" y="5403652"/>
            <a:ext cx="7984331" cy="9956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2"/>
          <p:cNvSpPr/>
          <p:nvPr/>
        </p:nvSpPr>
        <p:spPr>
          <a:xfrm>
            <a:off x="6229707" y="5509260"/>
            <a:ext cx="3661410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Tokens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225683" y="5509260"/>
            <a:ext cx="3661410" cy="78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Implementar procesos para emitir, validar, renovar y revocar tokens de acceso y refresco de manera segura.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66234" y="6399252"/>
            <a:ext cx="7984331" cy="9956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5"/>
          <p:cNvSpPr/>
          <p:nvPr/>
        </p:nvSpPr>
        <p:spPr>
          <a:xfrm>
            <a:off x="6229707" y="6504861"/>
            <a:ext cx="3661410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Integración con APIs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225683" y="6504861"/>
            <a:ext cx="3661410" cy="78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Utilizar los tokens de acceso y autorización para autenticar y autorizar las solicitudes a las APIs REST de manera segura.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752280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3442</Words>
  <Application>Microsoft Office PowerPoint</Application>
  <PresentationFormat>Personalizado</PresentationFormat>
  <Paragraphs>269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Arial</vt:lpstr>
      <vt:lpstr>Barlow Bold</vt:lpstr>
      <vt:lpstr>Montserrat Bold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Mike Molina</cp:lastModifiedBy>
  <cp:revision>2</cp:revision>
  <dcterms:created xsi:type="dcterms:W3CDTF">2024-10-27T16:41:54Z</dcterms:created>
  <dcterms:modified xsi:type="dcterms:W3CDTF">2024-10-27T16:47:59Z</dcterms:modified>
</cp:coreProperties>
</file>