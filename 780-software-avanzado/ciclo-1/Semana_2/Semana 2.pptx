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Barlow"/>
      <p:regular r:id="rId17"/>
    </p:embeddedFont>
    <p:embeddedFont>
      <p:font typeface="Barlow"/>
      <p:regular r:id="rId18"/>
    </p:embeddedFont>
    <p:embeddedFont>
      <p:font typeface="Barlow"/>
      <p:regular r:id="rId19"/>
    </p:embeddedFont>
    <p:embeddedFont>
      <p:font typeface="Barlow"/>
      <p:regular r:id="rId20"/>
    </p:embeddedFont>
    <p:embeddedFont>
      <p:font typeface="Montserrat"/>
      <p:regular r:id="rId21"/>
    </p:embeddedFont>
    <p:embeddedFont>
      <p:font typeface="Montserrat"/>
      <p:regular r:id="rId22"/>
    </p:embeddedFont>
    <p:embeddedFont>
      <p:font typeface="Montserrat"/>
      <p:regular r:id="rId23"/>
    </p:embeddedFont>
    <p:embeddedFont>
      <p:font typeface="Montserrat"/>
      <p:regular r:id="rId2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png"/><Relationship Id="rId2" Type="http://schemas.openxmlformats.org/officeDocument/2006/relationships/image" Target="../media/image-1003-2.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png"/><Relationship Id="rId2" Type="http://schemas.openxmlformats.org/officeDocument/2006/relationships/image" Target="../media/image-1004-2.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png"/><Relationship Id="rId2" Type="http://schemas.openxmlformats.org/officeDocument/2006/relationships/image" Target="../media/image-1005-2.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6-1.png"/><Relationship Id="rId2" Type="http://schemas.openxmlformats.org/officeDocument/2006/relationships/image" Target="../media/image-1006-2.pn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7-1.png"/><Relationship Id="rId2" Type="http://schemas.openxmlformats.org/officeDocument/2006/relationships/image" Target="../media/image-1007-2.pn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8-1.png"/><Relationship Id="rId2" Type="http://schemas.openxmlformats.org/officeDocument/2006/relationships/image" Target="../media/image-1008-2.png"/><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9-1.png"/><Relationship Id="rId2" Type="http://schemas.openxmlformats.org/officeDocument/2006/relationships/image" Target="../media/image-1009-2.png"/><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0-1.png"/><Relationship Id="rId2" Type="http://schemas.openxmlformats.org/officeDocument/2006/relationships/image" Target="../media/image-1010-2.png"/><Relationship Id="rId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1-1.png"/><Relationship Id="rId2" Type="http://schemas.openxmlformats.org/officeDocument/2006/relationships/image" Target="../media/image-1011-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EEFF5"/>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6.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7.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58309" y="1531620"/>
            <a:ext cx="7627382" cy="2138124"/>
          </a:xfrm>
          <a:prstGeom prst="rect">
            <a:avLst/>
          </a:prstGeom>
          <a:noFill/>
          <a:ln/>
        </p:spPr>
        <p:txBody>
          <a:bodyPr wrap="square" lIns="0" tIns="0" rIns="0" bIns="0" rtlCol="0" anchor="t"/>
          <a:lstStyle/>
          <a:p>
            <a:pPr indent="0" marL="0">
              <a:lnSpc>
                <a:spcPts val="5600"/>
              </a:lnSpc>
              <a:buNone/>
            </a:pPr>
            <a:r>
              <a:rPr lang="en-US" sz="4450" b="1" dirty="0">
                <a:solidFill>
                  <a:srgbClr val="7068F4"/>
                </a:solidFill>
                <a:latin typeface="Barlow Bold" pitchFamily="34" charset="0"/>
                <a:ea typeface="Barlow Bold" pitchFamily="34" charset="-122"/>
                <a:cs typeface="Barlow Bold" pitchFamily="34" charset="-120"/>
              </a:rPr>
              <a:t>Fundamentos de desarrollo: Principios de la metodología ágil</a:t>
            </a:r>
            <a:endParaRPr lang="en-US" sz="4450" dirty="0"/>
          </a:p>
        </p:txBody>
      </p:sp>
      <p:sp>
        <p:nvSpPr>
          <p:cNvPr id="4" name="Text 1"/>
          <p:cNvSpPr/>
          <p:nvPr/>
        </p:nvSpPr>
        <p:spPr>
          <a:xfrm>
            <a:off x="758309" y="3994666"/>
            <a:ext cx="7627382" cy="2080260"/>
          </a:xfrm>
          <a:prstGeom prst="rect">
            <a:avLst/>
          </a:prstGeom>
          <a:noFill/>
          <a:ln/>
        </p:spPr>
        <p:txBody>
          <a:bodyPr wrap="square" lIns="0" tIns="0" rIns="0" bIns="0" rtlCol="0" anchor="t"/>
          <a:lstStyle/>
          <a:p>
            <a:pPr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La metodología ágil es un enfoque de desarrollo de software que se enfoca en la entrega rápida de valor a los clientes a través de la colaboración, la adaptabilidad y la mejora continua. Sus principios clave incluyen la entrega iterativa de software funcional, la respuesta al cambio en lugar de seguir un plan rígido, y la participación constante del cliente.</a:t>
            </a:r>
            <a:endParaRPr lang="en-US" sz="1700" dirty="0"/>
          </a:p>
        </p:txBody>
      </p:sp>
      <p:sp>
        <p:nvSpPr>
          <p:cNvPr id="5" name="Shape 2"/>
          <p:cNvSpPr/>
          <p:nvPr/>
        </p:nvSpPr>
        <p:spPr>
          <a:xfrm>
            <a:off x="758309" y="6334839"/>
            <a:ext cx="346591" cy="346591"/>
          </a:xfrm>
          <a:prstGeom prst="roundRect">
            <a:avLst>
              <a:gd name="adj" fmla="val 26380043"/>
            </a:avLst>
          </a:prstGeom>
          <a:noFill/>
          <a:ln w="7620">
            <a:solidFill>
              <a:srgbClr val="FFFFFF"/>
            </a:solidFill>
            <a:prstDash val="solid"/>
          </a:ln>
        </p:spPr>
      </p:sp>
      <p:pic>
        <p:nvPicPr>
          <p:cNvPr id="6" name="Image 1" descr="preencoded.png">    </p:cNvPr>
          <p:cNvPicPr>
            <a:picLocks noChangeAspect="1"/>
          </p:cNvPicPr>
          <p:nvPr/>
        </p:nvPicPr>
        <p:blipFill>
          <a:blip r:embed="rId2"/>
          <a:stretch>
            <a:fillRect/>
          </a:stretch>
        </p:blipFill>
        <p:spPr>
          <a:xfrm>
            <a:off x="765929" y="6342459"/>
            <a:ext cx="331351" cy="331351"/>
          </a:xfrm>
          <a:prstGeom prst="rect">
            <a:avLst/>
          </a:prstGeom>
        </p:spPr>
      </p:pic>
      <p:sp>
        <p:nvSpPr>
          <p:cNvPr id="7" name="Text 3"/>
          <p:cNvSpPr/>
          <p:nvPr/>
        </p:nvSpPr>
        <p:spPr>
          <a:xfrm>
            <a:off x="1213128" y="6318647"/>
            <a:ext cx="4793694" cy="379214"/>
          </a:xfrm>
          <a:prstGeom prst="rect">
            <a:avLst/>
          </a:prstGeom>
          <a:noFill/>
          <a:ln/>
        </p:spPr>
        <p:txBody>
          <a:bodyPr wrap="none" lIns="0" tIns="0" rIns="0" bIns="0" rtlCol="0" anchor="t"/>
          <a:lstStyle/>
          <a:p>
            <a:pPr algn="l" indent="0" marL="0">
              <a:lnSpc>
                <a:spcPts val="2950"/>
              </a:lnSpc>
              <a:buNone/>
            </a:pPr>
            <a:r>
              <a:rPr lang="en-US" sz="2100" b="1" dirty="0">
                <a:solidFill>
                  <a:srgbClr val="272525"/>
                </a:solidFill>
                <a:latin typeface="Montserrat Bold" pitchFamily="34" charset="0"/>
                <a:ea typeface="Montserrat Bold" pitchFamily="34" charset="-122"/>
                <a:cs typeface="Montserrat Bold" pitchFamily="34" charset="-120"/>
              </a:rPr>
              <a:t>by MIKE LEONEL MOLINA GARCIA</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58309" y="1543645"/>
            <a:ext cx="5701546" cy="712708"/>
          </a:xfrm>
          <a:prstGeom prst="rect">
            <a:avLst/>
          </a:prstGeom>
          <a:noFill/>
          <a:ln/>
        </p:spPr>
        <p:txBody>
          <a:bodyPr wrap="none" lIns="0" tIns="0" rIns="0" bIns="0" rtlCol="0" anchor="t"/>
          <a:lstStyle/>
          <a:p>
            <a:pPr indent="0" marL="0">
              <a:lnSpc>
                <a:spcPts val="5600"/>
              </a:lnSpc>
              <a:buNone/>
            </a:pPr>
            <a:r>
              <a:rPr lang="en-US" sz="4450" b="1" dirty="0">
                <a:solidFill>
                  <a:srgbClr val="7068F4"/>
                </a:solidFill>
                <a:latin typeface="Barlow Bold" pitchFamily="34" charset="0"/>
                <a:ea typeface="Barlow Bold" pitchFamily="34" charset="-122"/>
                <a:cs typeface="Barlow Bold" pitchFamily="34" charset="-120"/>
              </a:rPr>
              <a:t>Scrum vs. Kanban</a:t>
            </a:r>
            <a:endParaRPr lang="en-US" sz="4450" dirty="0"/>
          </a:p>
        </p:txBody>
      </p:sp>
      <p:sp>
        <p:nvSpPr>
          <p:cNvPr id="3" name="Text 1"/>
          <p:cNvSpPr/>
          <p:nvPr/>
        </p:nvSpPr>
        <p:spPr>
          <a:xfrm>
            <a:off x="758309" y="2797850"/>
            <a:ext cx="2850713" cy="356235"/>
          </a:xfrm>
          <a:prstGeom prst="rect">
            <a:avLst/>
          </a:prstGeom>
          <a:noFill/>
          <a:ln/>
        </p:spPr>
        <p:txBody>
          <a:bodyPr wrap="none" lIns="0" tIns="0" rIns="0" bIns="0" rtlCol="0" anchor="t"/>
          <a:lstStyle/>
          <a:p>
            <a:pPr indent="0" marL="0">
              <a:lnSpc>
                <a:spcPts val="2800"/>
              </a:lnSpc>
              <a:buNone/>
            </a:pPr>
            <a:r>
              <a:rPr lang="en-US" sz="2200" b="1" dirty="0">
                <a:solidFill>
                  <a:srgbClr val="7068F4"/>
                </a:solidFill>
                <a:latin typeface="Barlow Bold" pitchFamily="34" charset="0"/>
                <a:ea typeface="Barlow Bold" pitchFamily="34" charset="-122"/>
                <a:cs typeface="Barlow Bold" pitchFamily="34" charset="-120"/>
              </a:rPr>
              <a:t>Scrum</a:t>
            </a:r>
            <a:endParaRPr lang="en-US" sz="2200" dirty="0"/>
          </a:p>
        </p:txBody>
      </p:sp>
      <p:sp>
        <p:nvSpPr>
          <p:cNvPr id="4" name="Text 2"/>
          <p:cNvSpPr/>
          <p:nvPr/>
        </p:nvSpPr>
        <p:spPr>
          <a:xfrm>
            <a:off x="758309" y="3370659"/>
            <a:ext cx="4018359" cy="3120390"/>
          </a:xfrm>
          <a:prstGeom prst="rect">
            <a:avLst/>
          </a:prstGeom>
          <a:noFill/>
          <a:ln/>
        </p:spPr>
        <p:txBody>
          <a:bodyPr wrap="square" lIns="0" tIns="0" rIns="0" bIns="0" rtlCol="0" anchor="t"/>
          <a:lstStyle/>
          <a:p>
            <a:pPr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Scrum es un marco de trabajo ágil que se basa en ciclos de desarrollo llamados Sprints. Cada Sprint tiene una duración fija y se enfoca en completar un conjunto de tareas del Backlog. Scrum utiliza roles definidos como el Product Owner, Scrum Master y el Equipo de Desarrollo.</a:t>
            </a:r>
            <a:endParaRPr lang="en-US" sz="1700" dirty="0"/>
          </a:p>
        </p:txBody>
      </p:sp>
      <p:sp>
        <p:nvSpPr>
          <p:cNvPr id="5" name="Text 3"/>
          <p:cNvSpPr/>
          <p:nvPr/>
        </p:nvSpPr>
        <p:spPr>
          <a:xfrm>
            <a:off x="5312926" y="2797850"/>
            <a:ext cx="2850713" cy="356235"/>
          </a:xfrm>
          <a:prstGeom prst="rect">
            <a:avLst/>
          </a:prstGeom>
          <a:noFill/>
          <a:ln/>
        </p:spPr>
        <p:txBody>
          <a:bodyPr wrap="none" lIns="0" tIns="0" rIns="0" bIns="0" rtlCol="0" anchor="t"/>
          <a:lstStyle/>
          <a:p>
            <a:pPr indent="0" marL="0">
              <a:lnSpc>
                <a:spcPts val="2800"/>
              </a:lnSpc>
              <a:buNone/>
            </a:pPr>
            <a:r>
              <a:rPr lang="en-US" sz="2200" b="1" dirty="0">
                <a:solidFill>
                  <a:srgbClr val="7068F4"/>
                </a:solidFill>
                <a:latin typeface="Barlow Bold" pitchFamily="34" charset="0"/>
                <a:ea typeface="Barlow Bold" pitchFamily="34" charset="-122"/>
                <a:cs typeface="Barlow Bold" pitchFamily="34" charset="-120"/>
              </a:rPr>
              <a:t>Kanban</a:t>
            </a:r>
            <a:endParaRPr lang="en-US" sz="2200" dirty="0"/>
          </a:p>
        </p:txBody>
      </p:sp>
      <p:sp>
        <p:nvSpPr>
          <p:cNvPr id="6" name="Text 4"/>
          <p:cNvSpPr/>
          <p:nvPr/>
        </p:nvSpPr>
        <p:spPr>
          <a:xfrm>
            <a:off x="5312926" y="3370659"/>
            <a:ext cx="4018359" cy="2773680"/>
          </a:xfrm>
          <a:prstGeom prst="rect">
            <a:avLst/>
          </a:prstGeom>
          <a:noFill/>
          <a:ln/>
        </p:spPr>
        <p:txBody>
          <a:bodyPr wrap="square" lIns="0" tIns="0" rIns="0" bIns="0" rtlCol="0" anchor="t"/>
          <a:lstStyle/>
          <a:p>
            <a:pPr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Kanban es un método ágil que se enfoca en la visualización del flujo de trabajo y la limitación del trabajo en curso. En Kanban, el trabajo se representa en un tablero Kanban y se mueve a través de diferentes estados de desarrollo. No hay roles definidos como en Scrum.</a:t>
            </a:r>
            <a:endParaRPr lang="en-US" sz="1700" dirty="0"/>
          </a:p>
        </p:txBody>
      </p:sp>
      <p:sp>
        <p:nvSpPr>
          <p:cNvPr id="7" name="Text 5"/>
          <p:cNvSpPr/>
          <p:nvPr/>
        </p:nvSpPr>
        <p:spPr>
          <a:xfrm>
            <a:off x="9867543" y="2797850"/>
            <a:ext cx="2850713" cy="356235"/>
          </a:xfrm>
          <a:prstGeom prst="rect">
            <a:avLst/>
          </a:prstGeom>
          <a:noFill/>
          <a:ln/>
        </p:spPr>
        <p:txBody>
          <a:bodyPr wrap="none" lIns="0" tIns="0" rIns="0" bIns="0" rtlCol="0" anchor="t"/>
          <a:lstStyle/>
          <a:p>
            <a:pPr indent="0" marL="0">
              <a:lnSpc>
                <a:spcPts val="2800"/>
              </a:lnSpc>
              <a:buNone/>
            </a:pPr>
            <a:r>
              <a:rPr lang="en-US" sz="2200" b="1" dirty="0">
                <a:solidFill>
                  <a:srgbClr val="7068F4"/>
                </a:solidFill>
                <a:latin typeface="Barlow Bold" pitchFamily="34" charset="0"/>
                <a:ea typeface="Barlow Bold" pitchFamily="34" charset="-122"/>
                <a:cs typeface="Barlow Bold" pitchFamily="34" charset="-120"/>
              </a:rPr>
              <a:t>Diferencias clave</a:t>
            </a:r>
            <a:endParaRPr lang="en-US" sz="2200" dirty="0"/>
          </a:p>
        </p:txBody>
      </p:sp>
      <p:sp>
        <p:nvSpPr>
          <p:cNvPr id="8" name="Text 6"/>
          <p:cNvSpPr/>
          <p:nvPr/>
        </p:nvSpPr>
        <p:spPr>
          <a:xfrm>
            <a:off x="9867543" y="3370659"/>
            <a:ext cx="4018359" cy="3120390"/>
          </a:xfrm>
          <a:prstGeom prst="rect">
            <a:avLst/>
          </a:prstGeom>
          <a:noFill/>
          <a:ln/>
        </p:spPr>
        <p:txBody>
          <a:bodyPr wrap="square" lIns="0" tIns="0" rIns="0" bIns="0" rtlCol="0" anchor="t"/>
          <a:lstStyle/>
          <a:p>
            <a:pPr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Scrum tiene ciclos de desarrollo fijos (Sprints) mientras que Kanban es un flujo de trabajo continuo. Scrum tiene roles definidos mientras que Kanban no. Scrum se enfoca en la entrega de valor en cada Sprint, mientras que Kanban se enfoca en el flujo de trabajo y la optimización del proceso.</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196012" y="721281"/>
            <a:ext cx="5335905" cy="666988"/>
          </a:xfrm>
          <a:prstGeom prst="rect">
            <a:avLst/>
          </a:prstGeom>
          <a:noFill/>
          <a:ln/>
        </p:spPr>
        <p:txBody>
          <a:bodyPr wrap="none" lIns="0" tIns="0" rIns="0" bIns="0" rtlCol="0" anchor="t"/>
          <a:lstStyle/>
          <a:p>
            <a:pPr indent="0" marL="0">
              <a:lnSpc>
                <a:spcPts val="5250"/>
              </a:lnSpc>
              <a:buNone/>
            </a:pPr>
            <a:r>
              <a:rPr lang="en-US" sz="4200" b="1" dirty="0">
                <a:solidFill>
                  <a:srgbClr val="7068F4"/>
                </a:solidFill>
                <a:latin typeface="Barlow Bold" pitchFamily="34" charset="0"/>
                <a:ea typeface="Barlow Bold" pitchFamily="34" charset="-122"/>
                <a:cs typeface="Barlow Bold" pitchFamily="34" charset="-120"/>
              </a:rPr>
              <a:t>Roles en Scrum</a:t>
            </a:r>
            <a:endParaRPr lang="en-US" sz="4200" dirty="0"/>
          </a:p>
        </p:txBody>
      </p:sp>
      <p:sp>
        <p:nvSpPr>
          <p:cNvPr id="4" name="Shape 1"/>
          <p:cNvSpPr/>
          <p:nvPr/>
        </p:nvSpPr>
        <p:spPr>
          <a:xfrm>
            <a:off x="6196012" y="1692354"/>
            <a:ext cx="3761065" cy="3455194"/>
          </a:xfrm>
          <a:prstGeom prst="roundRect">
            <a:avLst>
              <a:gd name="adj" fmla="val 5282"/>
            </a:avLst>
          </a:prstGeom>
          <a:solidFill>
            <a:srgbClr val="EEEFF5"/>
          </a:solidFill>
          <a:ln/>
          <a:effectLst>
            <a:outerShdw sx="100000" sy="100000" kx="0" ky="0" algn="bl" rotWithShape="0" blurRad="49530" dist="24130" dir="13500000">
              <a:srgbClr val="ffffff">
                <a:alpha val="70000"/>
              </a:srgbClr>
            </a:outerShdw>
          </a:effectLst>
        </p:spPr>
      </p:sp>
      <p:sp>
        <p:nvSpPr>
          <p:cNvPr id="5" name="Text 2"/>
          <p:cNvSpPr/>
          <p:nvPr/>
        </p:nvSpPr>
        <p:spPr>
          <a:xfrm>
            <a:off x="6398776" y="1895118"/>
            <a:ext cx="2667953" cy="333494"/>
          </a:xfrm>
          <a:prstGeom prst="rect">
            <a:avLst/>
          </a:prstGeom>
          <a:noFill/>
          <a:ln/>
        </p:spPr>
        <p:txBody>
          <a:bodyPr wrap="none" lIns="0" tIns="0" rIns="0" bIns="0" rtlCol="0" anchor="t"/>
          <a:lstStyle/>
          <a:p>
            <a:pPr indent="0" marL="0">
              <a:lnSpc>
                <a:spcPts val="2600"/>
              </a:lnSpc>
              <a:buNone/>
            </a:pPr>
            <a:r>
              <a:rPr lang="en-US" sz="2100" b="1" dirty="0">
                <a:solidFill>
                  <a:srgbClr val="272525"/>
                </a:solidFill>
                <a:latin typeface="Barlow Bold" pitchFamily="34" charset="0"/>
                <a:ea typeface="Barlow Bold" pitchFamily="34" charset="-122"/>
                <a:cs typeface="Barlow Bold" pitchFamily="34" charset="-120"/>
              </a:rPr>
              <a:t>Product Owner</a:t>
            </a:r>
            <a:endParaRPr lang="en-US" sz="2100" dirty="0"/>
          </a:p>
        </p:txBody>
      </p:sp>
      <p:sp>
        <p:nvSpPr>
          <p:cNvPr id="6" name="Text 3"/>
          <p:cNvSpPr/>
          <p:nvPr/>
        </p:nvSpPr>
        <p:spPr>
          <a:xfrm>
            <a:off x="6398776" y="2350175"/>
            <a:ext cx="3355538" cy="2594610"/>
          </a:xfrm>
          <a:prstGeom prst="rect">
            <a:avLst/>
          </a:prstGeom>
          <a:noFill/>
          <a:ln/>
        </p:spPr>
        <p:txBody>
          <a:bodyPr wrap="square" lIns="0" tIns="0" rIns="0" bIns="0" rtlCol="0" anchor="t"/>
          <a:lstStyle/>
          <a:p>
            <a:pPr indent="0" marL="0">
              <a:lnSpc>
                <a:spcPts val="2550"/>
              </a:lnSpc>
              <a:buNone/>
            </a:pPr>
            <a:r>
              <a:rPr lang="en-US" sz="1550" dirty="0">
                <a:solidFill>
                  <a:srgbClr val="272525"/>
                </a:solidFill>
                <a:latin typeface="Montserrat" pitchFamily="34" charset="0"/>
                <a:ea typeface="Montserrat" pitchFamily="34" charset="-122"/>
                <a:cs typeface="Montserrat" pitchFamily="34" charset="-120"/>
              </a:rPr>
              <a:t>El Product Owner es el responsable de maximizar el valor del producto. Tiene la visión y la estrategia del producto, y gestiona el Backlog de Producto. Además, es el enlace entre el equipo y las partes interesadas.</a:t>
            </a:r>
            <a:endParaRPr lang="en-US" sz="1550" dirty="0"/>
          </a:p>
        </p:txBody>
      </p:sp>
      <p:sp>
        <p:nvSpPr>
          <p:cNvPr id="7" name="Shape 4"/>
          <p:cNvSpPr/>
          <p:nvPr/>
        </p:nvSpPr>
        <p:spPr>
          <a:xfrm>
            <a:off x="10159841" y="1692354"/>
            <a:ext cx="3761065" cy="3455194"/>
          </a:xfrm>
          <a:prstGeom prst="roundRect">
            <a:avLst>
              <a:gd name="adj" fmla="val 5282"/>
            </a:avLst>
          </a:prstGeom>
          <a:solidFill>
            <a:srgbClr val="EEEFF5"/>
          </a:solidFill>
          <a:ln/>
          <a:effectLst>
            <a:outerShdw sx="100000" sy="100000" kx="0" ky="0" algn="bl" rotWithShape="0" blurRad="49530" dist="24130" dir="13500000">
              <a:srgbClr val="ffffff">
                <a:alpha val="70000"/>
              </a:srgbClr>
            </a:outerShdw>
          </a:effectLst>
        </p:spPr>
      </p:sp>
      <p:sp>
        <p:nvSpPr>
          <p:cNvPr id="8" name="Text 5"/>
          <p:cNvSpPr/>
          <p:nvPr/>
        </p:nvSpPr>
        <p:spPr>
          <a:xfrm>
            <a:off x="10362605" y="1895118"/>
            <a:ext cx="2667953" cy="333494"/>
          </a:xfrm>
          <a:prstGeom prst="rect">
            <a:avLst/>
          </a:prstGeom>
          <a:noFill/>
          <a:ln/>
        </p:spPr>
        <p:txBody>
          <a:bodyPr wrap="none" lIns="0" tIns="0" rIns="0" bIns="0" rtlCol="0" anchor="t"/>
          <a:lstStyle/>
          <a:p>
            <a:pPr indent="0" marL="0">
              <a:lnSpc>
                <a:spcPts val="2600"/>
              </a:lnSpc>
              <a:buNone/>
            </a:pPr>
            <a:r>
              <a:rPr lang="en-US" sz="2100" b="1" dirty="0">
                <a:solidFill>
                  <a:srgbClr val="272525"/>
                </a:solidFill>
                <a:latin typeface="Barlow Bold" pitchFamily="34" charset="0"/>
                <a:ea typeface="Barlow Bold" pitchFamily="34" charset="-122"/>
                <a:cs typeface="Barlow Bold" pitchFamily="34" charset="-120"/>
              </a:rPr>
              <a:t>Scrum Master</a:t>
            </a:r>
            <a:endParaRPr lang="en-US" sz="2100" dirty="0"/>
          </a:p>
        </p:txBody>
      </p:sp>
      <p:sp>
        <p:nvSpPr>
          <p:cNvPr id="9" name="Text 6"/>
          <p:cNvSpPr/>
          <p:nvPr/>
        </p:nvSpPr>
        <p:spPr>
          <a:xfrm>
            <a:off x="10362605" y="2350175"/>
            <a:ext cx="3355538" cy="2594610"/>
          </a:xfrm>
          <a:prstGeom prst="rect">
            <a:avLst/>
          </a:prstGeom>
          <a:noFill/>
          <a:ln/>
        </p:spPr>
        <p:txBody>
          <a:bodyPr wrap="square" lIns="0" tIns="0" rIns="0" bIns="0" rtlCol="0" anchor="t"/>
          <a:lstStyle/>
          <a:p>
            <a:pPr indent="0" marL="0">
              <a:lnSpc>
                <a:spcPts val="2550"/>
              </a:lnSpc>
              <a:buNone/>
            </a:pPr>
            <a:r>
              <a:rPr lang="en-US" sz="1550" dirty="0">
                <a:solidFill>
                  <a:srgbClr val="272525"/>
                </a:solidFill>
                <a:latin typeface="Montserrat" pitchFamily="34" charset="0"/>
                <a:ea typeface="Montserrat" pitchFamily="34" charset="-122"/>
                <a:cs typeface="Montserrat" pitchFamily="34" charset="-120"/>
              </a:rPr>
              <a:t>El Scrum Master es el facilitador del equipo Scrum. Es responsable de asegurar que el equipo adhiera a la teoría, prácticas y reglas de Scrum. También elimina impedimentos y ayuda al equipo a ser más efectivo.</a:t>
            </a:r>
            <a:endParaRPr lang="en-US" sz="1550" dirty="0"/>
          </a:p>
        </p:txBody>
      </p:sp>
      <p:sp>
        <p:nvSpPr>
          <p:cNvPr id="10" name="Shape 7"/>
          <p:cNvSpPr/>
          <p:nvPr/>
        </p:nvSpPr>
        <p:spPr>
          <a:xfrm>
            <a:off x="6196012" y="5350312"/>
            <a:ext cx="7724775" cy="2157889"/>
          </a:xfrm>
          <a:prstGeom prst="roundRect">
            <a:avLst>
              <a:gd name="adj" fmla="val 8457"/>
            </a:avLst>
          </a:prstGeom>
          <a:solidFill>
            <a:srgbClr val="EEEFF5"/>
          </a:solidFill>
          <a:ln/>
          <a:effectLst>
            <a:outerShdw sx="100000" sy="100000" kx="0" ky="0" algn="bl" rotWithShape="0" blurRad="49530" dist="24130" dir="13500000">
              <a:srgbClr val="ffffff">
                <a:alpha val="70000"/>
              </a:srgbClr>
            </a:outerShdw>
          </a:effectLst>
        </p:spPr>
      </p:sp>
      <p:sp>
        <p:nvSpPr>
          <p:cNvPr id="11" name="Text 8"/>
          <p:cNvSpPr/>
          <p:nvPr/>
        </p:nvSpPr>
        <p:spPr>
          <a:xfrm>
            <a:off x="6398776" y="5553075"/>
            <a:ext cx="2667953" cy="333494"/>
          </a:xfrm>
          <a:prstGeom prst="rect">
            <a:avLst/>
          </a:prstGeom>
          <a:noFill/>
          <a:ln/>
        </p:spPr>
        <p:txBody>
          <a:bodyPr wrap="none" lIns="0" tIns="0" rIns="0" bIns="0" rtlCol="0" anchor="t"/>
          <a:lstStyle/>
          <a:p>
            <a:pPr indent="0" marL="0">
              <a:lnSpc>
                <a:spcPts val="2600"/>
              </a:lnSpc>
              <a:buNone/>
            </a:pPr>
            <a:r>
              <a:rPr lang="en-US" sz="2100" b="1" dirty="0">
                <a:solidFill>
                  <a:srgbClr val="272525"/>
                </a:solidFill>
                <a:latin typeface="Barlow Bold" pitchFamily="34" charset="0"/>
                <a:ea typeface="Barlow Bold" pitchFamily="34" charset="-122"/>
                <a:cs typeface="Barlow Bold" pitchFamily="34" charset="-120"/>
              </a:rPr>
              <a:t>Development Team</a:t>
            </a:r>
            <a:endParaRPr lang="en-US" sz="2100" dirty="0"/>
          </a:p>
        </p:txBody>
      </p:sp>
      <p:sp>
        <p:nvSpPr>
          <p:cNvPr id="12" name="Text 9"/>
          <p:cNvSpPr/>
          <p:nvPr/>
        </p:nvSpPr>
        <p:spPr>
          <a:xfrm>
            <a:off x="6398776" y="6008132"/>
            <a:ext cx="7319248" cy="1297305"/>
          </a:xfrm>
          <a:prstGeom prst="rect">
            <a:avLst/>
          </a:prstGeom>
          <a:noFill/>
          <a:ln/>
        </p:spPr>
        <p:txBody>
          <a:bodyPr wrap="square" lIns="0" tIns="0" rIns="0" bIns="0" rtlCol="0" anchor="t"/>
          <a:lstStyle/>
          <a:p>
            <a:pPr indent="0" marL="0">
              <a:lnSpc>
                <a:spcPts val="2550"/>
              </a:lnSpc>
              <a:buNone/>
            </a:pPr>
            <a:r>
              <a:rPr lang="en-US" sz="1550" dirty="0">
                <a:solidFill>
                  <a:srgbClr val="272525"/>
                </a:solidFill>
                <a:latin typeface="Montserrat" pitchFamily="34" charset="0"/>
                <a:ea typeface="Montserrat" pitchFamily="34" charset="-122"/>
                <a:cs typeface="Montserrat" pitchFamily="34" charset="-120"/>
              </a:rPr>
              <a:t>El Equipo de Desarrollo está compuesto por profesionales que realizan el trabajo de entregar un Incremento de producto Terminado al final de cada Sprint. Tienen habilidades cruzadas y se auto-organizan para completar el trabajo.</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15208" y="725567"/>
            <a:ext cx="5377934" cy="672227"/>
          </a:xfrm>
          <a:prstGeom prst="rect">
            <a:avLst/>
          </a:prstGeom>
          <a:noFill/>
          <a:ln/>
        </p:spPr>
        <p:txBody>
          <a:bodyPr wrap="none" lIns="0" tIns="0" rIns="0" bIns="0" rtlCol="0" anchor="t"/>
          <a:lstStyle/>
          <a:p>
            <a:pPr indent="0" marL="0">
              <a:lnSpc>
                <a:spcPts val="5250"/>
              </a:lnSpc>
              <a:buNone/>
            </a:pPr>
            <a:r>
              <a:rPr lang="en-US" sz="4200" b="1" dirty="0">
                <a:solidFill>
                  <a:srgbClr val="7068F4"/>
                </a:solidFill>
                <a:latin typeface="Barlow Bold" pitchFamily="34" charset="0"/>
                <a:ea typeface="Barlow Bold" pitchFamily="34" charset="-122"/>
                <a:cs typeface="Barlow Bold" pitchFamily="34" charset="-120"/>
              </a:rPr>
              <a:t>Ceremonias de Scrum</a:t>
            </a:r>
            <a:endParaRPr lang="en-US" sz="4200" dirty="0"/>
          </a:p>
        </p:txBody>
      </p:sp>
      <p:sp>
        <p:nvSpPr>
          <p:cNvPr id="3" name="Shape 1"/>
          <p:cNvSpPr/>
          <p:nvPr/>
        </p:nvSpPr>
        <p:spPr>
          <a:xfrm>
            <a:off x="715208" y="4818578"/>
            <a:ext cx="13199983" cy="22860"/>
          </a:xfrm>
          <a:prstGeom prst="roundRect">
            <a:avLst>
              <a:gd name="adj" fmla="val 804576"/>
            </a:avLst>
          </a:prstGeom>
          <a:solidFill>
            <a:srgbClr val="C1C3D0"/>
          </a:solidFill>
          <a:ln/>
        </p:spPr>
      </p:sp>
      <p:sp>
        <p:nvSpPr>
          <p:cNvPr id="4" name="Shape 2"/>
          <p:cNvSpPr/>
          <p:nvPr/>
        </p:nvSpPr>
        <p:spPr>
          <a:xfrm>
            <a:off x="3282315" y="4103430"/>
            <a:ext cx="22860" cy="715208"/>
          </a:xfrm>
          <a:prstGeom prst="roundRect">
            <a:avLst>
              <a:gd name="adj" fmla="val 804576"/>
            </a:avLst>
          </a:prstGeom>
          <a:solidFill>
            <a:srgbClr val="C1C3D0"/>
          </a:solidFill>
          <a:ln/>
        </p:spPr>
      </p:sp>
      <p:sp>
        <p:nvSpPr>
          <p:cNvPr id="5" name="Shape 3"/>
          <p:cNvSpPr/>
          <p:nvPr/>
        </p:nvSpPr>
        <p:spPr>
          <a:xfrm>
            <a:off x="3063954" y="4588728"/>
            <a:ext cx="459700" cy="459700"/>
          </a:xfrm>
          <a:prstGeom prst="roundRect">
            <a:avLst>
              <a:gd name="adj" fmla="val 40010"/>
            </a:avLst>
          </a:prstGeom>
          <a:solidFill>
            <a:srgbClr val="EEEFF5"/>
          </a:solidFill>
          <a:ln/>
          <a:effectLst>
            <a:outerShdw sx="100000" sy="100000" kx="0" ky="0" algn="bl" rotWithShape="0" blurRad="50800" dist="25400" dir="13500000">
              <a:srgbClr val="ffffff">
                <a:alpha val="70000"/>
              </a:srgbClr>
            </a:outerShdw>
          </a:effectLst>
        </p:spPr>
      </p:sp>
      <p:sp>
        <p:nvSpPr>
          <p:cNvPr id="6" name="Text 4"/>
          <p:cNvSpPr/>
          <p:nvPr/>
        </p:nvSpPr>
        <p:spPr>
          <a:xfrm>
            <a:off x="3236714" y="4657189"/>
            <a:ext cx="114181" cy="322659"/>
          </a:xfrm>
          <a:prstGeom prst="rect">
            <a:avLst/>
          </a:prstGeom>
          <a:noFill/>
          <a:ln/>
        </p:spPr>
        <p:txBody>
          <a:bodyPr wrap="none" lIns="0" tIns="0" rIns="0" bIns="0" rtlCol="0" anchor="t"/>
          <a:lstStyle/>
          <a:p>
            <a:pPr algn="ctr" indent="0" marL="0">
              <a:lnSpc>
                <a:spcPts val="2500"/>
              </a:lnSpc>
              <a:buNone/>
            </a:pPr>
            <a:r>
              <a:rPr lang="en-US" sz="2500" b="1" dirty="0">
                <a:solidFill>
                  <a:srgbClr val="272525"/>
                </a:solidFill>
                <a:latin typeface="Barlow Bold" pitchFamily="34" charset="0"/>
                <a:ea typeface="Barlow Bold" pitchFamily="34" charset="-122"/>
                <a:cs typeface="Barlow Bold" pitchFamily="34" charset="-120"/>
              </a:rPr>
              <a:t>1</a:t>
            </a:r>
            <a:endParaRPr lang="en-US" sz="2500" dirty="0"/>
          </a:p>
        </p:txBody>
      </p:sp>
      <p:sp>
        <p:nvSpPr>
          <p:cNvPr id="7" name="Text 5"/>
          <p:cNvSpPr/>
          <p:nvPr/>
        </p:nvSpPr>
        <p:spPr>
          <a:xfrm>
            <a:off x="1949410" y="2133243"/>
            <a:ext cx="2688908" cy="335994"/>
          </a:xfrm>
          <a:prstGeom prst="rect">
            <a:avLst/>
          </a:prstGeom>
          <a:noFill/>
          <a:ln/>
        </p:spPr>
        <p:txBody>
          <a:bodyPr wrap="none" lIns="0" tIns="0" rIns="0" bIns="0" rtlCol="0" anchor="t"/>
          <a:lstStyle/>
          <a:p>
            <a:pPr algn="ctr" indent="0" marL="0">
              <a:lnSpc>
                <a:spcPts val="2600"/>
              </a:lnSpc>
              <a:buNone/>
            </a:pPr>
            <a:r>
              <a:rPr lang="en-US" sz="2100" b="1" dirty="0">
                <a:solidFill>
                  <a:srgbClr val="272525"/>
                </a:solidFill>
                <a:latin typeface="Barlow Bold" pitchFamily="34" charset="0"/>
                <a:ea typeface="Barlow Bold" pitchFamily="34" charset="-122"/>
                <a:cs typeface="Barlow Bold" pitchFamily="34" charset="-120"/>
              </a:rPr>
              <a:t>Sprint Planning</a:t>
            </a:r>
            <a:endParaRPr lang="en-US" sz="2100" dirty="0"/>
          </a:p>
        </p:txBody>
      </p:sp>
      <p:sp>
        <p:nvSpPr>
          <p:cNvPr id="8" name="Text 6"/>
          <p:cNvSpPr/>
          <p:nvPr/>
        </p:nvSpPr>
        <p:spPr>
          <a:xfrm>
            <a:off x="919520" y="2591753"/>
            <a:ext cx="4748689" cy="1307306"/>
          </a:xfrm>
          <a:prstGeom prst="rect">
            <a:avLst/>
          </a:prstGeom>
          <a:noFill/>
          <a:ln/>
        </p:spPr>
        <p:txBody>
          <a:bodyPr wrap="square" lIns="0" tIns="0" rIns="0" bIns="0" rtlCol="0" anchor="t"/>
          <a:lstStyle/>
          <a:p>
            <a:pPr algn="ctr" indent="0" marL="0">
              <a:lnSpc>
                <a:spcPts val="2550"/>
              </a:lnSpc>
              <a:buNone/>
            </a:pPr>
            <a:r>
              <a:rPr lang="en-US" sz="1600" dirty="0">
                <a:solidFill>
                  <a:srgbClr val="272525"/>
                </a:solidFill>
                <a:latin typeface="Montserrat" pitchFamily="34" charset="0"/>
                <a:ea typeface="Montserrat" pitchFamily="34" charset="-122"/>
                <a:cs typeface="Montserrat" pitchFamily="34" charset="-120"/>
              </a:rPr>
              <a:t>En esta ceremonia, el equipo se reúne para planificar el trabajo que se realizará durante el próximo Sprint. Se revisa el Backlog de Producto y se selecciona el trabajo a realizar.</a:t>
            </a:r>
            <a:endParaRPr lang="en-US" sz="1600" dirty="0"/>
          </a:p>
        </p:txBody>
      </p:sp>
      <p:sp>
        <p:nvSpPr>
          <p:cNvPr id="9" name="Shape 7"/>
          <p:cNvSpPr/>
          <p:nvPr/>
        </p:nvSpPr>
        <p:spPr>
          <a:xfrm>
            <a:off x="5963126" y="4818519"/>
            <a:ext cx="22860" cy="715208"/>
          </a:xfrm>
          <a:prstGeom prst="roundRect">
            <a:avLst>
              <a:gd name="adj" fmla="val 804576"/>
            </a:avLst>
          </a:prstGeom>
          <a:solidFill>
            <a:srgbClr val="C1C3D0"/>
          </a:solidFill>
          <a:ln/>
        </p:spPr>
      </p:sp>
      <p:sp>
        <p:nvSpPr>
          <p:cNvPr id="10" name="Shape 8"/>
          <p:cNvSpPr/>
          <p:nvPr/>
        </p:nvSpPr>
        <p:spPr>
          <a:xfrm>
            <a:off x="5744766" y="4588728"/>
            <a:ext cx="459700" cy="459700"/>
          </a:xfrm>
          <a:prstGeom prst="roundRect">
            <a:avLst>
              <a:gd name="adj" fmla="val 40010"/>
            </a:avLst>
          </a:prstGeom>
          <a:solidFill>
            <a:srgbClr val="EEEFF5"/>
          </a:solidFill>
          <a:ln/>
          <a:effectLst>
            <a:outerShdw sx="100000" sy="100000" kx="0" ky="0" algn="bl" rotWithShape="0" blurRad="50800" dist="25400" dir="13500000">
              <a:srgbClr val="ffffff">
                <a:alpha val="70000"/>
              </a:srgbClr>
            </a:outerShdw>
          </a:effectLst>
        </p:spPr>
      </p:sp>
      <p:sp>
        <p:nvSpPr>
          <p:cNvPr id="11" name="Text 9"/>
          <p:cNvSpPr/>
          <p:nvPr/>
        </p:nvSpPr>
        <p:spPr>
          <a:xfrm>
            <a:off x="5884188" y="4657189"/>
            <a:ext cx="180737" cy="322659"/>
          </a:xfrm>
          <a:prstGeom prst="rect">
            <a:avLst/>
          </a:prstGeom>
          <a:noFill/>
          <a:ln/>
        </p:spPr>
        <p:txBody>
          <a:bodyPr wrap="none" lIns="0" tIns="0" rIns="0" bIns="0" rtlCol="0" anchor="t"/>
          <a:lstStyle/>
          <a:p>
            <a:pPr algn="ctr" indent="0" marL="0">
              <a:lnSpc>
                <a:spcPts val="2500"/>
              </a:lnSpc>
              <a:buNone/>
            </a:pPr>
            <a:r>
              <a:rPr lang="en-US" sz="2500" b="1" dirty="0">
                <a:solidFill>
                  <a:srgbClr val="272525"/>
                </a:solidFill>
                <a:latin typeface="Barlow Bold" pitchFamily="34" charset="0"/>
                <a:ea typeface="Barlow Bold" pitchFamily="34" charset="-122"/>
                <a:cs typeface="Barlow Bold" pitchFamily="34" charset="-120"/>
              </a:rPr>
              <a:t>2</a:t>
            </a:r>
            <a:endParaRPr lang="en-US" sz="2500" dirty="0"/>
          </a:p>
        </p:txBody>
      </p:sp>
      <p:sp>
        <p:nvSpPr>
          <p:cNvPr id="12" name="Text 10"/>
          <p:cNvSpPr/>
          <p:nvPr/>
        </p:nvSpPr>
        <p:spPr>
          <a:xfrm>
            <a:off x="4630222" y="5738098"/>
            <a:ext cx="2688908" cy="335994"/>
          </a:xfrm>
          <a:prstGeom prst="rect">
            <a:avLst/>
          </a:prstGeom>
          <a:noFill/>
          <a:ln/>
        </p:spPr>
        <p:txBody>
          <a:bodyPr wrap="none" lIns="0" tIns="0" rIns="0" bIns="0" rtlCol="0" anchor="t"/>
          <a:lstStyle/>
          <a:p>
            <a:pPr algn="ctr" indent="0" marL="0">
              <a:lnSpc>
                <a:spcPts val="2600"/>
              </a:lnSpc>
              <a:buNone/>
            </a:pPr>
            <a:r>
              <a:rPr lang="en-US" sz="2100" b="1" dirty="0">
                <a:solidFill>
                  <a:srgbClr val="272525"/>
                </a:solidFill>
                <a:latin typeface="Barlow Bold" pitchFamily="34" charset="0"/>
                <a:ea typeface="Barlow Bold" pitchFamily="34" charset="-122"/>
                <a:cs typeface="Barlow Bold" pitchFamily="34" charset="-120"/>
              </a:rPr>
              <a:t>Daily Standup</a:t>
            </a:r>
            <a:endParaRPr lang="en-US" sz="2100" dirty="0"/>
          </a:p>
        </p:txBody>
      </p:sp>
      <p:sp>
        <p:nvSpPr>
          <p:cNvPr id="13" name="Text 11"/>
          <p:cNvSpPr/>
          <p:nvPr/>
        </p:nvSpPr>
        <p:spPr>
          <a:xfrm>
            <a:off x="3600331" y="6196608"/>
            <a:ext cx="4748808" cy="1307306"/>
          </a:xfrm>
          <a:prstGeom prst="rect">
            <a:avLst/>
          </a:prstGeom>
          <a:noFill/>
          <a:ln/>
        </p:spPr>
        <p:txBody>
          <a:bodyPr wrap="square" lIns="0" tIns="0" rIns="0" bIns="0" rtlCol="0" anchor="t"/>
          <a:lstStyle/>
          <a:p>
            <a:pPr algn="ctr" indent="0" marL="0">
              <a:lnSpc>
                <a:spcPts val="2550"/>
              </a:lnSpc>
              <a:buNone/>
            </a:pPr>
            <a:r>
              <a:rPr lang="en-US" sz="1600" dirty="0">
                <a:solidFill>
                  <a:srgbClr val="272525"/>
                </a:solidFill>
                <a:latin typeface="Montserrat" pitchFamily="34" charset="0"/>
                <a:ea typeface="Montserrat" pitchFamily="34" charset="-122"/>
                <a:cs typeface="Montserrat" pitchFamily="34" charset="-120"/>
              </a:rPr>
              <a:t>Es una reunión diaria corta donde el equipo se sincroniza, comparte el progreso y cualquier impedimento. Ayuda a mantener al equipo alineado y a resolver problemas rápidamente.</a:t>
            </a:r>
            <a:endParaRPr lang="en-US" sz="1600" dirty="0"/>
          </a:p>
        </p:txBody>
      </p:sp>
      <p:sp>
        <p:nvSpPr>
          <p:cNvPr id="14" name="Shape 12"/>
          <p:cNvSpPr/>
          <p:nvPr/>
        </p:nvSpPr>
        <p:spPr>
          <a:xfrm>
            <a:off x="8643938" y="4103430"/>
            <a:ext cx="22860" cy="715208"/>
          </a:xfrm>
          <a:prstGeom prst="roundRect">
            <a:avLst>
              <a:gd name="adj" fmla="val 804576"/>
            </a:avLst>
          </a:prstGeom>
          <a:solidFill>
            <a:srgbClr val="C1C3D0"/>
          </a:solidFill>
          <a:ln/>
        </p:spPr>
      </p:sp>
      <p:sp>
        <p:nvSpPr>
          <p:cNvPr id="15" name="Shape 13"/>
          <p:cNvSpPr/>
          <p:nvPr/>
        </p:nvSpPr>
        <p:spPr>
          <a:xfrm>
            <a:off x="8425577" y="4588728"/>
            <a:ext cx="459700" cy="459700"/>
          </a:xfrm>
          <a:prstGeom prst="roundRect">
            <a:avLst>
              <a:gd name="adj" fmla="val 40010"/>
            </a:avLst>
          </a:prstGeom>
          <a:solidFill>
            <a:srgbClr val="EEEFF5"/>
          </a:solidFill>
          <a:ln/>
          <a:effectLst>
            <a:outerShdw sx="100000" sy="100000" kx="0" ky="0" algn="bl" rotWithShape="0" blurRad="50800" dist="25400" dir="13500000">
              <a:srgbClr val="ffffff">
                <a:alpha val="70000"/>
              </a:srgbClr>
            </a:outerShdw>
          </a:effectLst>
        </p:spPr>
      </p:sp>
      <p:sp>
        <p:nvSpPr>
          <p:cNvPr id="16" name="Text 14"/>
          <p:cNvSpPr/>
          <p:nvPr/>
        </p:nvSpPr>
        <p:spPr>
          <a:xfrm>
            <a:off x="8568333" y="4657189"/>
            <a:ext cx="174188" cy="322659"/>
          </a:xfrm>
          <a:prstGeom prst="rect">
            <a:avLst/>
          </a:prstGeom>
          <a:noFill/>
          <a:ln/>
        </p:spPr>
        <p:txBody>
          <a:bodyPr wrap="none" lIns="0" tIns="0" rIns="0" bIns="0" rtlCol="0" anchor="t"/>
          <a:lstStyle/>
          <a:p>
            <a:pPr algn="ctr" indent="0" marL="0">
              <a:lnSpc>
                <a:spcPts val="2500"/>
              </a:lnSpc>
              <a:buNone/>
            </a:pPr>
            <a:r>
              <a:rPr lang="en-US" sz="2500" b="1" dirty="0">
                <a:solidFill>
                  <a:srgbClr val="272525"/>
                </a:solidFill>
                <a:latin typeface="Barlow Bold" pitchFamily="34" charset="0"/>
                <a:ea typeface="Barlow Bold" pitchFamily="34" charset="-122"/>
                <a:cs typeface="Barlow Bold" pitchFamily="34" charset="-120"/>
              </a:rPr>
              <a:t>3</a:t>
            </a:r>
            <a:endParaRPr lang="en-US" sz="2500" dirty="0"/>
          </a:p>
        </p:txBody>
      </p:sp>
      <p:sp>
        <p:nvSpPr>
          <p:cNvPr id="17" name="Text 15"/>
          <p:cNvSpPr/>
          <p:nvPr/>
        </p:nvSpPr>
        <p:spPr>
          <a:xfrm>
            <a:off x="7311033" y="1806416"/>
            <a:ext cx="2688908" cy="335994"/>
          </a:xfrm>
          <a:prstGeom prst="rect">
            <a:avLst/>
          </a:prstGeom>
          <a:noFill/>
          <a:ln/>
        </p:spPr>
        <p:txBody>
          <a:bodyPr wrap="none" lIns="0" tIns="0" rIns="0" bIns="0" rtlCol="0" anchor="t"/>
          <a:lstStyle/>
          <a:p>
            <a:pPr algn="ctr" indent="0" marL="0">
              <a:lnSpc>
                <a:spcPts val="2600"/>
              </a:lnSpc>
              <a:buNone/>
            </a:pPr>
            <a:r>
              <a:rPr lang="en-US" sz="2100" b="1" dirty="0">
                <a:solidFill>
                  <a:srgbClr val="272525"/>
                </a:solidFill>
                <a:latin typeface="Barlow Bold" pitchFamily="34" charset="0"/>
                <a:ea typeface="Barlow Bold" pitchFamily="34" charset="-122"/>
                <a:cs typeface="Barlow Bold" pitchFamily="34" charset="-120"/>
              </a:rPr>
              <a:t>Sprint Review</a:t>
            </a:r>
            <a:endParaRPr lang="en-US" sz="2100" dirty="0"/>
          </a:p>
        </p:txBody>
      </p:sp>
      <p:sp>
        <p:nvSpPr>
          <p:cNvPr id="18" name="Text 16"/>
          <p:cNvSpPr/>
          <p:nvPr/>
        </p:nvSpPr>
        <p:spPr>
          <a:xfrm>
            <a:off x="6281142" y="2264926"/>
            <a:ext cx="4748808" cy="1634133"/>
          </a:xfrm>
          <a:prstGeom prst="rect">
            <a:avLst/>
          </a:prstGeom>
          <a:noFill/>
          <a:ln/>
        </p:spPr>
        <p:txBody>
          <a:bodyPr wrap="square" lIns="0" tIns="0" rIns="0" bIns="0" rtlCol="0" anchor="t"/>
          <a:lstStyle/>
          <a:p>
            <a:pPr algn="ctr" indent="0" marL="0">
              <a:lnSpc>
                <a:spcPts val="2550"/>
              </a:lnSpc>
              <a:buNone/>
            </a:pPr>
            <a:r>
              <a:rPr lang="en-US" sz="1600" dirty="0">
                <a:solidFill>
                  <a:srgbClr val="272525"/>
                </a:solidFill>
                <a:latin typeface="Montserrat" pitchFamily="34" charset="0"/>
                <a:ea typeface="Montserrat" pitchFamily="34" charset="-122"/>
                <a:cs typeface="Montserrat" pitchFamily="34" charset="-120"/>
              </a:rPr>
              <a:t>Al final de cada Sprint, el equipo presenta el trabajo completado al Product Owner y a las partes interesadas. Esto permite obtener retroalimentación y planificar el siguiente Sprint.</a:t>
            </a:r>
            <a:endParaRPr lang="en-US" sz="1600" dirty="0"/>
          </a:p>
        </p:txBody>
      </p:sp>
      <p:sp>
        <p:nvSpPr>
          <p:cNvPr id="19" name="Shape 17"/>
          <p:cNvSpPr/>
          <p:nvPr/>
        </p:nvSpPr>
        <p:spPr>
          <a:xfrm>
            <a:off x="11324868" y="4818519"/>
            <a:ext cx="22860" cy="715208"/>
          </a:xfrm>
          <a:prstGeom prst="roundRect">
            <a:avLst>
              <a:gd name="adj" fmla="val 804576"/>
            </a:avLst>
          </a:prstGeom>
          <a:solidFill>
            <a:srgbClr val="C1C3D0"/>
          </a:solidFill>
          <a:ln/>
        </p:spPr>
      </p:sp>
      <p:sp>
        <p:nvSpPr>
          <p:cNvPr id="20" name="Shape 18"/>
          <p:cNvSpPr/>
          <p:nvPr/>
        </p:nvSpPr>
        <p:spPr>
          <a:xfrm>
            <a:off x="11106507" y="4588728"/>
            <a:ext cx="459700" cy="459700"/>
          </a:xfrm>
          <a:prstGeom prst="roundRect">
            <a:avLst>
              <a:gd name="adj" fmla="val 40010"/>
            </a:avLst>
          </a:prstGeom>
          <a:solidFill>
            <a:srgbClr val="EEEFF5"/>
          </a:solidFill>
          <a:ln/>
          <a:effectLst>
            <a:outerShdw sx="100000" sy="100000" kx="0" ky="0" algn="bl" rotWithShape="0" blurRad="50800" dist="25400" dir="13500000">
              <a:srgbClr val="ffffff">
                <a:alpha val="70000"/>
              </a:srgbClr>
            </a:outerShdw>
          </a:effectLst>
        </p:spPr>
      </p:sp>
      <p:sp>
        <p:nvSpPr>
          <p:cNvPr id="21" name="Text 19"/>
          <p:cNvSpPr/>
          <p:nvPr/>
        </p:nvSpPr>
        <p:spPr>
          <a:xfrm>
            <a:off x="11238786" y="4657189"/>
            <a:ext cx="195143" cy="322659"/>
          </a:xfrm>
          <a:prstGeom prst="rect">
            <a:avLst/>
          </a:prstGeom>
          <a:noFill/>
          <a:ln/>
        </p:spPr>
        <p:txBody>
          <a:bodyPr wrap="none" lIns="0" tIns="0" rIns="0" bIns="0" rtlCol="0" anchor="t"/>
          <a:lstStyle/>
          <a:p>
            <a:pPr algn="ctr" indent="0" marL="0">
              <a:lnSpc>
                <a:spcPts val="2500"/>
              </a:lnSpc>
              <a:buNone/>
            </a:pPr>
            <a:r>
              <a:rPr lang="en-US" sz="2500" b="1" dirty="0">
                <a:solidFill>
                  <a:srgbClr val="272525"/>
                </a:solidFill>
                <a:latin typeface="Barlow Bold" pitchFamily="34" charset="0"/>
                <a:ea typeface="Barlow Bold" pitchFamily="34" charset="-122"/>
                <a:cs typeface="Barlow Bold" pitchFamily="34" charset="-120"/>
              </a:rPr>
              <a:t>4</a:t>
            </a:r>
            <a:endParaRPr lang="en-US" sz="2500" dirty="0"/>
          </a:p>
        </p:txBody>
      </p:sp>
      <p:sp>
        <p:nvSpPr>
          <p:cNvPr id="22" name="Text 20"/>
          <p:cNvSpPr/>
          <p:nvPr/>
        </p:nvSpPr>
        <p:spPr>
          <a:xfrm>
            <a:off x="9991963" y="5738098"/>
            <a:ext cx="2688908" cy="335994"/>
          </a:xfrm>
          <a:prstGeom prst="rect">
            <a:avLst/>
          </a:prstGeom>
          <a:noFill/>
          <a:ln/>
        </p:spPr>
        <p:txBody>
          <a:bodyPr wrap="none" lIns="0" tIns="0" rIns="0" bIns="0" rtlCol="0" anchor="t"/>
          <a:lstStyle/>
          <a:p>
            <a:pPr algn="ctr" indent="0" marL="0">
              <a:lnSpc>
                <a:spcPts val="2600"/>
              </a:lnSpc>
              <a:buNone/>
            </a:pPr>
            <a:r>
              <a:rPr lang="en-US" sz="2100" b="1" dirty="0">
                <a:solidFill>
                  <a:srgbClr val="272525"/>
                </a:solidFill>
                <a:latin typeface="Barlow Bold" pitchFamily="34" charset="0"/>
                <a:ea typeface="Barlow Bold" pitchFamily="34" charset="-122"/>
                <a:cs typeface="Barlow Bold" pitchFamily="34" charset="-120"/>
              </a:rPr>
              <a:t>Retrospectiva</a:t>
            </a:r>
            <a:endParaRPr lang="en-US" sz="2100" dirty="0"/>
          </a:p>
        </p:txBody>
      </p:sp>
      <p:sp>
        <p:nvSpPr>
          <p:cNvPr id="23" name="Text 21"/>
          <p:cNvSpPr/>
          <p:nvPr/>
        </p:nvSpPr>
        <p:spPr>
          <a:xfrm>
            <a:off x="8962073" y="6196608"/>
            <a:ext cx="4748808" cy="1307306"/>
          </a:xfrm>
          <a:prstGeom prst="rect">
            <a:avLst/>
          </a:prstGeom>
          <a:noFill/>
          <a:ln/>
        </p:spPr>
        <p:txBody>
          <a:bodyPr wrap="square" lIns="0" tIns="0" rIns="0" bIns="0" rtlCol="0" anchor="t"/>
          <a:lstStyle/>
          <a:p>
            <a:pPr algn="ctr" indent="0" marL="0">
              <a:lnSpc>
                <a:spcPts val="2550"/>
              </a:lnSpc>
              <a:buNone/>
            </a:pPr>
            <a:r>
              <a:rPr lang="en-US" sz="1600" dirty="0">
                <a:solidFill>
                  <a:srgbClr val="272525"/>
                </a:solidFill>
                <a:latin typeface="Montserrat" pitchFamily="34" charset="0"/>
                <a:ea typeface="Montserrat" pitchFamily="34" charset="-122"/>
                <a:cs typeface="Montserrat" pitchFamily="34" charset="-120"/>
              </a:rPr>
              <a:t>Después de cada Sprint, el equipo se reúne para reflexionar sobre cómo mejorar su forma de trabajar. Se identifican fortalezas, debilidades y áreas de mejora.</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32100"/>
          </a:xfrm>
          <a:prstGeom prst="rect">
            <a:avLst/>
          </a:prstGeom>
        </p:spPr>
      </p:pic>
      <p:sp>
        <p:nvSpPr>
          <p:cNvPr id="3" name="Text 0"/>
          <p:cNvSpPr/>
          <p:nvPr/>
        </p:nvSpPr>
        <p:spPr>
          <a:xfrm>
            <a:off x="6130766" y="506254"/>
            <a:ext cx="4845010" cy="605552"/>
          </a:xfrm>
          <a:prstGeom prst="rect">
            <a:avLst/>
          </a:prstGeom>
          <a:noFill/>
          <a:ln/>
        </p:spPr>
        <p:txBody>
          <a:bodyPr wrap="none" lIns="0" tIns="0" rIns="0" bIns="0" rtlCol="0" anchor="t"/>
          <a:lstStyle/>
          <a:p>
            <a:pPr indent="0" marL="0">
              <a:lnSpc>
                <a:spcPts val="4750"/>
              </a:lnSpc>
              <a:buNone/>
            </a:pPr>
            <a:r>
              <a:rPr lang="en-US" sz="3800" b="1" dirty="0">
                <a:solidFill>
                  <a:srgbClr val="7068F4"/>
                </a:solidFill>
                <a:latin typeface="Barlow Bold" pitchFamily="34" charset="0"/>
                <a:ea typeface="Barlow Bold" pitchFamily="34" charset="-122"/>
                <a:cs typeface="Barlow Bold" pitchFamily="34" charset="-120"/>
              </a:rPr>
              <a:t>Artefactos de Scrum</a:t>
            </a:r>
            <a:endParaRPr lang="en-US" sz="3800" dirty="0"/>
          </a:p>
        </p:txBody>
      </p:sp>
      <p:pic>
        <p:nvPicPr>
          <p:cNvPr id="4" name="Image 1" descr="preencoded.png">    </p:cNvPr>
          <p:cNvPicPr>
            <a:picLocks noChangeAspect="1"/>
          </p:cNvPicPr>
          <p:nvPr/>
        </p:nvPicPr>
        <p:blipFill>
          <a:blip r:embed="rId2"/>
          <a:stretch>
            <a:fillRect/>
          </a:stretch>
        </p:blipFill>
        <p:spPr>
          <a:xfrm>
            <a:off x="6130766" y="1387912"/>
            <a:ext cx="460177" cy="460177"/>
          </a:xfrm>
          <a:prstGeom prst="rect">
            <a:avLst/>
          </a:prstGeom>
        </p:spPr>
      </p:pic>
      <p:sp>
        <p:nvSpPr>
          <p:cNvPr id="5" name="Text 1"/>
          <p:cNvSpPr/>
          <p:nvPr/>
        </p:nvSpPr>
        <p:spPr>
          <a:xfrm>
            <a:off x="6130766" y="2032159"/>
            <a:ext cx="2422446" cy="302776"/>
          </a:xfrm>
          <a:prstGeom prst="rect">
            <a:avLst/>
          </a:prstGeom>
          <a:noFill/>
          <a:ln/>
        </p:spPr>
        <p:txBody>
          <a:bodyPr wrap="none" lIns="0" tIns="0" rIns="0" bIns="0" rtlCol="0" anchor="t"/>
          <a:lstStyle/>
          <a:p>
            <a:pPr algn="l" indent="0" marL="0">
              <a:lnSpc>
                <a:spcPts val="2350"/>
              </a:lnSpc>
              <a:buNone/>
            </a:pPr>
            <a:r>
              <a:rPr lang="en-US" sz="1900" b="1" dirty="0">
                <a:solidFill>
                  <a:srgbClr val="272525"/>
                </a:solidFill>
                <a:latin typeface="Barlow Bold" pitchFamily="34" charset="0"/>
                <a:ea typeface="Barlow Bold" pitchFamily="34" charset="-122"/>
                <a:cs typeface="Barlow Bold" pitchFamily="34" charset="-120"/>
              </a:rPr>
              <a:t>Product Backlog</a:t>
            </a:r>
            <a:endParaRPr lang="en-US" sz="1900" dirty="0"/>
          </a:p>
        </p:txBody>
      </p:sp>
      <p:sp>
        <p:nvSpPr>
          <p:cNvPr id="6" name="Text 2"/>
          <p:cNvSpPr/>
          <p:nvPr/>
        </p:nvSpPr>
        <p:spPr>
          <a:xfrm>
            <a:off x="6130766" y="2445306"/>
            <a:ext cx="7855267" cy="588883"/>
          </a:xfrm>
          <a:prstGeom prst="rect">
            <a:avLst/>
          </a:prstGeom>
          <a:noFill/>
          <a:ln/>
        </p:spPr>
        <p:txBody>
          <a:bodyPr wrap="square" lIns="0" tIns="0" rIns="0" bIns="0" rtlCol="0" anchor="t"/>
          <a:lstStyle/>
          <a:p>
            <a:pPr algn="l" indent="0" marL="0">
              <a:lnSpc>
                <a:spcPts val="2300"/>
              </a:lnSpc>
              <a:buNone/>
            </a:pPr>
            <a:r>
              <a:rPr lang="en-US" sz="1400" dirty="0">
                <a:solidFill>
                  <a:srgbClr val="272525"/>
                </a:solidFill>
                <a:latin typeface="Montserrat" pitchFamily="34" charset="0"/>
                <a:ea typeface="Montserrat" pitchFamily="34" charset="-122"/>
                <a:cs typeface="Montserrat" pitchFamily="34" charset="-120"/>
              </a:rPr>
              <a:t>Es una lista priorizada de todo el trabajo requerido para desarrollar y mantener el producto. El Product Owner es responsable de su gestión.</a:t>
            </a:r>
            <a:endParaRPr lang="en-US" sz="1400" dirty="0"/>
          </a:p>
        </p:txBody>
      </p:sp>
      <p:pic>
        <p:nvPicPr>
          <p:cNvPr id="7" name="Image 2" descr="preencoded.png">    </p:cNvPr>
          <p:cNvPicPr>
            <a:picLocks noChangeAspect="1"/>
          </p:cNvPicPr>
          <p:nvPr/>
        </p:nvPicPr>
        <p:blipFill>
          <a:blip r:embed="rId3"/>
          <a:stretch>
            <a:fillRect/>
          </a:stretch>
        </p:blipFill>
        <p:spPr>
          <a:xfrm>
            <a:off x="6130766" y="3586520"/>
            <a:ext cx="460177" cy="460177"/>
          </a:xfrm>
          <a:prstGeom prst="rect">
            <a:avLst/>
          </a:prstGeom>
        </p:spPr>
      </p:pic>
      <p:sp>
        <p:nvSpPr>
          <p:cNvPr id="8" name="Text 3"/>
          <p:cNvSpPr/>
          <p:nvPr/>
        </p:nvSpPr>
        <p:spPr>
          <a:xfrm>
            <a:off x="6130766" y="4230767"/>
            <a:ext cx="2422446" cy="302776"/>
          </a:xfrm>
          <a:prstGeom prst="rect">
            <a:avLst/>
          </a:prstGeom>
          <a:noFill/>
          <a:ln/>
        </p:spPr>
        <p:txBody>
          <a:bodyPr wrap="none" lIns="0" tIns="0" rIns="0" bIns="0" rtlCol="0" anchor="t"/>
          <a:lstStyle/>
          <a:p>
            <a:pPr algn="l" indent="0" marL="0">
              <a:lnSpc>
                <a:spcPts val="2350"/>
              </a:lnSpc>
              <a:buNone/>
            </a:pPr>
            <a:r>
              <a:rPr lang="en-US" sz="1900" b="1" dirty="0">
                <a:solidFill>
                  <a:srgbClr val="272525"/>
                </a:solidFill>
                <a:latin typeface="Barlow Bold" pitchFamily="34" charset="0"/>
                <a:ea typeface="Barlow Bold" pitchFamily="34" charset="-122"/>
                <a:cs typeface="Barlow Bold" pitchFamily="34" charset="-120"/>
              </a:rPr>
              <a:t>Sprint Backlog</a:t>
            </a:r>
            <a:endParaRPr lang="en-US" sz="1900" dirty="0"/>
          </a:p>
        </p:txBody>
      </p:sp>
      <p:sp>
        <p:nvSpPr>
          <p:cNvPr id="9" name="Text 4"/>
          <p:cNvSpPr/>
          <p:nvPr/>
        </p:nvSpPr>
        <p:spPr>
          <a:xfrm>
            <a:off x="6130766" y="4643914"/>
            <a:ext cx="7855267" cy="883325"/>
          </a:xfrm>
          <a:prstGeom prst="rect">
            <a:avLst/>
          </a:prstGeom>
          <a:noFill/>
          <a:ln/>
        </p:spPr>
        <p:txBody>
          <a:bodyPr wrap="square" lIns="0" tIns="0" rIns="0" bIns="0" rtlCol="0" anchor="t"/>
          <a:lstStyle/>
          <a:p>
            <a:pPr algn="l" indent="0" marL="0">
              <a:lnSpc>
                <a:spcPts val="2300"/>
              </a:lnSpc>
              <a:buNone/>
            </a:pPr>
            <a:r>
              <a:rPr lang="en-US" sz="1400" dirty="0">
                <a:solidFill>
                  <a:srgbClr val="272525"/>
                </a:solidFill>
                <a:latin typeface="Montserrat" pitchFamily="34" charset="0"/>
                <a:ea typeface="Montserrat" pitchFamily="34" charset="-122"/>
                <a:cs typeface="Montserrat" pitchFamily="34" charset="-120"/>
              </a:rPr>
              <a:t>Es el conjunto de elementos del Backlog de Producto seleccionados para el Sprint, más un plan para entregar el Incremento de producto y alcanzar el objetivo del Sprint.</a:t>
            </a:r>
            <a:endParaRPr lang="en-US" sz="1400" dirty="0"/>
          </a:p>
        </p:txBody>
      </p:sp>
      <p:pic>
        <p:nvPicPr>
          <p:cNvPr id="10" name="Image 3" descr="preencoded.png">    </p:cNvPr>
          <p:cNvPicPr>
            <a:picLocks noChangeAspect="1"/>
          </p:cNvPicPr>
          <p:nvPr/>
        </p:nvPicPr>
        <p:blipFill>
          <a:blip r:embed="rId4"/>
          <a:stretch>
            <a:fillRect/>
          </a:stretch>
        </p:blipFill>
        <p:spPr>
          <a:xfrm>
            <a:off x="6130766" y="6079569"/>
            <a:ext cx="460177" cy="460177"/>
          </a:xfrm>
          <a:prstGeom prst="rect">
            <a:avLst/>
          </a:prstGeom>
        </p:spPr>
      </p:pic>
      <p:sp>
        <p:nvSpPr>
          <p:cNvPr id="11" name="Text 5"/>
          <p:cNvSpPr/>
          <p:nvPr/>
        </p:nvSpPr>
        <p:spPr>
          <a:xfrm>
            <a:off x="6130766" y="6723817"/>
            <a:ext cx="2422446" cy="302776"/>
          </a:xfrm>
          <a:prstGeom prst="rect">
            <a:avLst/>
          </a:prstGeom>
          <a:noFill/>
          <a:ln/>
        </p:spPr>
        <p:txBody>
          <a:bodyPr wrap="none" lIns="0" tIns="0" rIns="0" bIns="0" rtlCol="0" anchor="t"/>
          <a:lstStyle/>
          <a:p>
            <a:pPr algn="l" indent="0" marL="0">
              <a:lnSpc>
                <a:spcPts val="2350"/>
              </a:lnSpc>
              <a:buNone/>
            </a:pPr>
            <a:r>
              <a:rPr lang="en-US" sz="1900" b="1" dirty="0">
                <a:solidFill>
                  <a:srgbClr val="272525"/>
                </a:solidFill>
                <a:latin typeface="Barlow Bold" pitchFamily="34" charset="0"/>
                <a:ea typeface="Barlow Bold" pitchFamily="34" charset="-122"/>
                <a:cs typeface="Barlow Bold" pitchFamily="34" charset="-120"/>
              </a:rPr>
              <a:t>Burndown Charts</a:t>
            </a:r>
            <a:endParaRPr lang="en-US" sz="1900" dirty="0"/>
          </a:p>
        </p:txBody>
      </p:sp>
      <p:sp>
        <p:nvSpPr>
          <p:cNvPr id="12" name="Text 6"/>
          <p:cNvSpPr/>
          <p:nvPr/>
        </p:nvSpPr>
        <p:spPr>
          <a:xfrm>
            <a:off x="6130766" y="7136963"/>
            <a:ext cx="7855267" cy="588883"/>
          </a:xfrm>
          <a:prstGeom prst="rect">
            <a:avLst/>
          </a:prstGeom>
          <a:noFill/>
          <a:ln/>
        </p:spPr>
        <p:txBody>
          <a:bodyPr wrap="square" lIns="0" tIns="0" rIns="0" bIns="0" rtlCol="0" anchor="t"/>
          <a:lstStyle/>
          <a:p>
            <a:pPr algn="l" indent="0" marL="0">
              <a:lnSpc>
                <a:spcPts val="2300"/>
              </a:lnSpc>
              <a:buNone/>
            </a:pPr>
            <a:r>
              <a:rPr lang="en-US" sz="1400" dirty="0">
                <a:solidFill>
                  <a:srgbClr val="272525"/>
                </a:solidFill>
                <a:latin typeface="Montserrat" pitchFamily="34" charset="0"/>
                <a:ea typeface="Montserrat" pitchFamily="34" charset="-122"/>
                <a:cs typeface="Montserrat" pitchFamily="34" charset="-120"/>
              </a:rPr>
              <a:t>Son gráficos que muestran el trabajo restante en el Backlog a lo largo del tiempo. Ayudan al equipo a supervisar el progreso y a identificar problemas potenciales.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192917" y="560784"/>
            <a:ext cx="7730966" cy="1328023"/>
          </a:xfrm>
          <a:prstGeom prst="rect">
            <a:avLst/>
          </a:prstGeom>
          <a:noFill/>
          <a:ln/>
        </p:spPr>
        <p:txBody>
          <a:bodyPr wrap="square" lIns="0" tIns="0" rIns="0" bIns="0" rtlCol="0" anchor="t"/>
          <a:lstStyle/>
          <a:p>
            <a:pPr indent="0" marL="0">
              <a:lnSpc>
                <a:spcPts val="5200"/>
              </a:lnSpc>
              <a:buNone/>
            </a:pPr>
            <a:r>
              <a:rPr lang="en-US" sz="4150" b="1" dirty="0">
                <a:solidFill>
                  <a:srgbClr val="7068F4"/>
                </a:solidFill>
                <a:latin typeface="Barlow Bold" pitchFamily="34" charset="0"/>
                <a:ea typeface="Barlow Bold" pitchFamily="34" charset="-122"/>
                <a:cs typeface="Barlow Bold" pitchFamily="34" charset="-120"/>
              </a:rPr>
              <a:t>Historias de usuario y estimación ágil</a:t>
            </a:r>
            <a:endParaRPr lang="en-US" sz="4150" dirty="0"/>
          </a:p>
        </p:txBody>
      </p:sp>
      <p:pic>
        <p:nvPicPr>
          <p:cNvPr id="4" name="Image 1" descr="preencoded.png">    </p:cNvPr>
          <p:cNvPicPr>
            <a:picLocks noChangeAspect="1"/>
          </p:cNvPicPr>
          <p:nvPr/>
        </p:nvPicPr>
        <p:blipFill>
          <a:blip r:embed="rId2"/>
          <a:stretch>
            <a:fillRect/>
          </a:stretch>
        </p:blipFill>
        <p:spPr>
          <a:xfrm>
            <a:off x="6192917" y="2191583"/>
            <a:ext cx="1009412" cy="1825704"/>
          </a:xfrm>
          <a:prstGeom prst="rect">
            <a:avLst/>
          </a:prstGeom>
        </p:spPr>
      </p:pic>
      <p:sp>
        <p:nvSpPr>
          <p:cNvPr id="5" name="Text 1"/>
          <p:cNvSpPr/>
          <p:nvPr/>
        </p:nvSpPr>
        <p:spPr>
          <a:xfrm>
            <a:off x="7505105" y="2393394"/>
            <a:ext cx="2656403" cy="331946"/>
          </a:xfrm>
          <a:prstGeom prst="rect">
            <a:avLst/>
          </a:prstGeom>
          <a:noFill/>
          <a:ln/>
        </p:spPr>
        <p:txBody>
          <a:bodyPr wrap="none" lIns="0" tIns="0" rIns="0" bIns="0" rtlCol="0" anchor="t"/>
          <a:lstStyle/>
          <a:p>
            <a:pPr algn="l" indent="0" marL="0">
              <a:lnSpc>
                <a:spcPts val="2600"/>
              </a:lnSpc>
              <a:buNone/>
            </a:pPr>
            <a:r>
              <a:rPr lang="en-US" sz="2050" b="1" dirty="0">
                <a:solidFill>
                  <a:srgbClr val="272525"/>
                </a:solidFill>
                <a:latin typeface="Barlow Bold" pitchFamily="34" charset="0"/>
                <a:ea typeface="Barlow Bold" pitchFamily="34" charset="-122"/>
                <a:cs typeface="Barlow Bold" pitchFamily="34" charset="-120"/>
              </a:rPr>
              <a:t>Definir</a:t>
            </a:r>
            <a:endParaRPr lang="en-US" sz="2050" dirty="0"/>
          </a:p>
        </p:txBody>
      </p:sp>
      <p:sp>
        <p:nvSpPr>
          <p:cNvPr id="6" name="Text 2"/>
          <p:cNvSpPr/>
          <p:nvPr/>
        </p:nvSpPr>
        <p:spPr>
          <a:xfrm>
            <a:off x="7505105" y="2846427"/>
            <a:ext cx="6418778" cy="969050"/>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Montserrat" pitchFamily="34" charset="0"/>
                <a:ea typeface="Montserrat" pitchFamily="34" charset="-122"/>
                <a:cs typeface="Montserrat" pitchFamily="34" charset="-120"/>
              </a:rPr>
              <a:t>Las historias de usuario describen las características del producto desde la perspectiva del usuario final. Deben ser concisas, enfocadas y fáciles de entender.</a:t>
            </a:r>
            <a:endParaRPr lang="en-US" sz="1550" dirty="0"/>
          </a:p>
        </p:txBody>
      </p:sp>
      <p:pic>
        <p:nvPicPr>
          <p:cNvPr id="7" name="Image 2" descr="preencoded.png">    </p:cNvPr>
          <p:cNvPicPr>
            <a:picLocks noChangeAspect="1"/>
          </p:cNvPicPr>
          <p:nvPr/>
        </p:nvPicPr>
        <p:blipFill>
          <a:blip r:embed="rId3"/>
          <a:stretch>
            <a:fillRect/>
          </a:stretch>
        </p:blipFill>
        <p:spPr>
          <a:xfrm>
            <a:off x="6192917" y="4017288"/>
            <a:ext cx="1009412" cy="1825704"/>
          </a:xfrm>
          <a:prstGeom prst="rect">
            <a:avLst/>
          </a:prstGeom>
        </p:spPr>
      </p:pic>
      <p:sp>
        <p:nvSpPr>
          <p:cNvPr id="8" name="Text 3"/>
          <p:cNvSpPr/>
          <p:nvPr/>
        </p:nvSpPr>
        <p:spPr>
          <a:xfrm>
            <a:off x="7505105" y="4219099"/>
            <a:ext cx="2656403" cy="331946"/>
          </a:xfrm>
          <a:prstGeom prst="rect">
            <a:avLst/>
          </a:prstGeom>
          <a:noFill/>
          <a:ln/>
        </p:spPr>
        <p:txBody>
          <a:bodyPr wrap="none" lIns="0" tIns="0" rIns="0" bIns="0" rtlCol="0" anchor="t"/>
          <a:lstStyle/>
          <a:p>
            <a:pPr algn="l" indent="0" marL="0">
              <a:lnSpc>
                <a:spcPts val="2600"/>
              </a:lnSpc>
              <a:buNone/>
            </a:pPr>
            <a:r>
              <a:rPr lang="en-US" sz="2050" b="1" dirty="0">
                <a:solidFill>
                  <a:srgbClr val="272525"/>
                </a:solidFill>
                <a:latin typeface="Barlow Bold" pitchFamily="34" charset="0"/>
                <a:ea typeface="Barlow Bold" pitchFamily="34" charset="-122"/>
                <a:cs typeface="Barlow Bold" pitchFamily="34" charset="-120"/>
              </a:rPr>
              <a:t>Estimar</a:t>
            </a:r>
            <a:endParaRPr lang="en-US" sz="2050" dirty="0"/>
          </a:p>
        </p:txBody>
      </p:sp>
      <p:sp>
        <p:nvSpPr>
          <p:cNvPr id="9" name="Text 4"/>
          <p:cNvSpPr/>
          <p:nvPr/>
        </p:nvSpPr>
        <p:spPr>
          <a:xfrm>
            <a:off x="7505105" y="4672132"/>
            <a:ext cx="6418778" cy="969050"/>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Montserrat" pitchFamily="34" charset="0"/>
                <a:ea typeface="Montserrat" pitchFamily="34" charset="-122"/>
                <a:cs typeface="Montserrat" pitchFamily="34" charset="-120"/>
              </a:rPr>
              <a:t>Para estimar el esfuerzo requerido, el equipo utiliza puntos de historia (story points). Los story points son una medida relativa de complejidad, no de tiempo.</a:t>
            </a:r>
            <a:endParaRPr lang="en-US" sz="1550" dirty="0"/>
          </a:p>
        </p:txBody>
      </p:sp>
      <p:pic>
        <p:nvPicPr>
          <p:cNvPr id="10" name="Image 3" descr="preencoded.png">    </p:cNvPr>
          <p:cNvPicPr>
            <a:picLocks noChangeAspect="1"/>
          </p:cNvPicPr>
          <p:nvPr/>
        </p:nvPicPr>
        <p:blipFill>
          <a:blip r:embed="rId4"/>
          <a:stretch>
            <a:fillRect/>
          </a:stretch>
        </p:blipFill>
        <p:spPr>
          <a:xfrm>
            <a:off x="6192917" y="5842992"/>
            <a:ext cx="1009412" cy="1825704"/>
          </a:xfrm>
          <a:prstGeom prst="rect">
            <a:avLst/>
          </a:prstGeom>
        </p:spPr>
      </p:pic>
      <p:sp>
        <p:nvSpPr>
          <p:cNvPr id="11" name="Text 5"/>
          <p:cNvSpPr/>
          <p:nvPr/>
        </p:nvSpPr>
        <p:spPr>
          <a:xfrm>
            <a:off x="7505105" y="6044803"/>
            <a:ext cx="2656403" cy="331946"/>
          </a:xfrm>
          <a:prstGeom prst="rect">
            <a:avLst/>
          </a:prstGeom>
          <a:noFill/>
          <a:ln/>
        </p:spPr>
        <p:txBody>
          <a:bodyPr wrap="none" lIns="0" tIns="0" rIns="0" bIns="0" rtlCol="0" anchor="t"/>
          <a:lstStyle/>
          <a:p>
            <a:pPr algn="l" indent="0" marL="0">
              <a:lnSpc>
                <a:spcPts val="2600"/>
              </a:lnSpc>
              <a:buNone/>
            </a:pPr>
            <a:r>
              <a:rPr lang="en-US" sz="2050" b="1" dirty="0">
                <a:solidFill>
                  <a:srgbClr val="272525"/>
                </a:solidFill>
                <a:latin typeface="Barlow Bold" pitchFamily="34" charset="0"/>
                <a:ea typeface="Barlow Bold" pitchFamily="34" charset="-122"/>
                <a:cs typeface="Barlow Bold" pitchFamily="34" charset="-120"/>
              </a:rPr>
              <a:t>Priorizar</a:t>
            </a:r>
            <a:endParaRPr lang="en-US" sz="2050" dirty="0"/>
          </a:p>
        </p:txBody>
      </p:sp>
      <p:sp>
        <p:nvSpPr>
          <p:cNvPr id="12" name="Text 6"/>
          <p:cNvSpPr/>
          <p:nvPr/>
        </p:nvSpPr>
        <p:spPr>
          <a:xfrm>
            <a:off x="7505105" y="6497836"/>
            <a:ext cx="6418778" cy="969050"/>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Montserrat" pitchFamily="34" charset="0"/>
                <a:ea typeface="Montserrat" pitchFamily="34" charset="-122"/>
                <a:cs typeface="Montserrat" pitchFamily="34" charset="-120"/>
              </a:rPr>
              <a:t>El Product Owner prioriza las historias de usuario en el Backlog de Producto según su valor de negocio. Esto ayuda a asegurar que se entreguen las características más valiosas primero.</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691634" y="654606"/>
            <a:ext cx="7760732" cy="1300163"/>
          </a:xfrm>
          <a:prstGeom prst="rect">
            <a:avLst/>
          </a:prstGeom>
          <a:noFill/>
          <a:ln/>
        </p:spPr>
        <p:txBody>
          <a:bodyPr wrap="square" lIns="0" tIns="0" rIns="0" bIns="0" rtlCol="0" anchor="t"/>
          <a:lstStyle/>
          <a:p>
            <a:pPr indent="0" marL="0">
              <a:lnSpc>
                <a:spcPts val="5100"/>
              </a:lnSpc>
              <a:buNone/>
            </a:pPr>
            <a:r>
              <a:rPr lang="en-US" sz="4050" b="1" dirty="0">
                <a:solidFill>
                  <a:srgbClr val="7068F4"/>
                </a:solidFill>
                <a:latin typeface="Barlow Bold" pitchFamily="34" charset="0"/>
                <a:ea typeface="Barlow Bold" pitchFamily="34" charset="-122"/>
                <a:cs typeface="Barlow Bold" pitchFamily="34" charset="-120"/>
              </a:rPr>
              <a:t>Beneficios clave de la metodología ágil</a:t>
            </a:r>
            <a:endParaRPr lang="en-US" sz="4050" dirty="0"/>
          </a:p>
        </p:txBody>
      </p:sp>
      <p:sp>
        <p:nvSpPr>
          <p:cNvPr id="4" name="Shape 1"/>
          <p:cNvSpPr/>
          <p:nvPr/>
        </p:nvSpPr>
        <p:spPr>
          <a:xfrm>
            <a:off x="691634" y="2473404"/>
            <a:ext cx="444579" cy="444579"/>
          </a:xfrm>
          <a:prstGeom prst="roundRect">
            <a:avLst>
              <a:gd name="adj" fmla="val 40006"/>
            </a:avLst>
          </a:prstGeom>
          <a:solidFill>
            <a:srgbClr val="EEEFF5"/>
          </a:solidFill>
          <a:ln/>
          <a:effectLst>
            <a:outerShdw sx="100000" sy="100000" kx="0" ky="0" algn="bl" rotWithShape="0" blurRad="48260" dist="24130" dir="13500000">
              <a:srgbClr val="ffffff">
                <a:alpha val="70000"/>
              </a:srgbClr>
            </a:outerShdw>
          </a:effectLst>
        </p:spPr>
      </p:sp>
      <p:sp>
        <p:nvSpPr>
          <p:cNvPr id="5" name="Text 2"/>
          <p:cNvSpPr/>
          <p:nvPr/>
        </p:nvSpPr>
        <p:spPr>
          <a:xfrm>
            <a:off x="858679" y="2539603"/>
            <a:ext cx="110490" cy="312063"/>
          </a:xfrm>
          <a:prstGeom prst="rect">
            <a:avLst/>
          </a:prstGeom>
          <a:noFill/>
          <a:ln/>
        </p:spPr>
        <p:txBody>
          <a:bodyPr wrap="none" lIns="0" tIns="0" rIns="0" bIns="0" rtlCol="0" anchor="t"/>
          <a:lstStyle/>
          <a:p>
            <a:pPr algn="ctr" indent="0" marL="0">
              <a:lnSpc>
                <a:spcPts val="2450"/>
              </a:lnSpc>
              <a:buNone/>
            </a:pPr>
            <a:r>
              <a:rPr lang="en-US" sz="2450" b="1" dirty="0">
                <a:solidFill>
                  <a:srgbClr val="272525"/>
                </a:solidFill>
                <a:latin typeface="Barlow Bold" pitchFamily="34" charset="0"/>
                <a:ea typeface="Barlow Bold" pitchFamily="34" charset="-122"/>
                <a:cs typeface="Barlow Bold" pitchFamily="34" charset="-120"/>
              </a:rPr>
              <a:t>1</a:t>
            </a:r>
            <a:endParaRPr lang="en-US" sz="2450" dirty="0"/>
          </a:p>
        </p:txBody>
      </p:sp>
      <p:sp>
        <p:nvSpPr>
          <p:cNvPr id="6" name="Text 3"/>
          <p:cNvSpPr/>
          <p:nvPr/>
        </p:nvSpPr>
        <p:spPr>
          <a:xfrm>
            <a:off x="1333738" y="2473404"/>
            <a:ext cx="2664143" cy="325041"/>
          </a:xfrm>
          <a:prstGeom prst="rect">
            <a:avLst/>
          </a:prstGeom>
          <a:noFill/>
          <a:ln/>
        </p:spPr>
        <p:txBody>
          <a:bodyPr wrap="none" lIns="0" tIns="0" rIns="0" bIns="0" rtlCol="0" anchor="t"/>
          <a:lstStyle/>
          <a:p>
            <a:pPr indent="0" marL="0">
              <a:lnSpc>
                <a:spcPts val="2550"/>
              </a:lnSpc>
              <a:buNone/>
            </a:pPr>
            <a:r>
              <a:rPr lang="en-US" sz="2000" b="1" dirty="0">
                <a:solidFill>
                  <a:srgbClr val="272525"/>
                </a:solidFill>
                <a:latin typeface="Barlow Bold" pitchFamily="34" charset="0"/>
                <a:ea typeface="Barlow Bold" pitchFamily="34" charset="-122"/>
                <a:cs typeface="Barlow Bold" pitchFamily="34" charset="-120"/>
              </a:rPr>
              <a:t>Entrega de valor rápida</a:t>
            </a:r>
            <a:endParaRPr lang="en-US" sz="2000" dirty="0"/>
          </a:p>
        </p:txBody>
      </p:sp>
      <p:sp>
        <p:nvSpPr>
          <p:cNvPr id="7" name="Text 4"/>
          <p:cNvSpPr/>
          <p:nvPr/>
        </p:nvSpPr>
        <p:spPr>
          <a:xfrm>
            <a:off x="1333738" y="2916912"/>
            <a:ext cx="3139559" cy="1897380"/>
          </a:xfrm>
          <a:prstGeom prst="rect">
            <a:avLst/>
          </a:prstGeom>
          <a:noFill/>
          <a:ln/>
        </p:spPr>
        <p:txBody>
          <a:bodyPr wrap="square" lIns="0" tIns="0" rIns="0" bIns="0" rtlCol="0" anchor="t"/>
          <a:lstStyle/>
          <a:p>
            <a:pPr indent="0" marL="0">
              <a:lnSpc>
                <a:spcPts val="2450"/>
              </a:lnSpc>
              <a:buNone/>
            </a:pPr>
            <a:r>
              <a:rPr lang="en-US" sz="1550" dirty="0">
                <a:solidFill>
                  <a:srgbClr val="272525"/>
                </a:solidFill>
                <a:latin typeface="Montserrat" pitchFamily="34" charset="0"/>
                <a:ea typeface="Montserrat" pitchFamily="34" charset="-122"/>
                <a:cs typeface="Montserrat" pitchFamily="34" charset="-120"/>
              </a:rPr>
              <a:t>La entrega iterativa de software funcional permite a las empresas obtener retroalimentación temprana y ajustar el rumbo según sea necesario.</a:t>
            </a:r>
            <a:endParaRPr lang="en-US" sz="1550" dirty="0"/>
          </a:p>
        </p:txBody>
      </p:sp>
      <p:sp>
        <p:nvSpPr>
          <p:cNvPr id="8" name="Shape 5"/>
          <p:cNvSpPr/>
          <p:nvPr/>
        </p:nvSpPr>
        <p:spPr>
          <a:xfrm>
            <a:off x="4670822" y="2473404"/>
            <a:ext cx="444579" cy="444579"/>
          </a:xfrm>
          <a:prstGeom prst="roundRect">
            <a:avLst>
              <a:gd name="adj" fmla="val 40006"/>
            </a:avLst>
          </a:prstGeom>
          <a:solidFill>
            <a:srgbClr val="EEEFF5"/>
          </a:solidFill>
          <a:ln/>
          <a:effectLst>
            <a:outerShdw sx="100000" sy="100000" kx="0" ky="0" algn="bl" rotWithShape="0" blurRad="48260" dist="24130" dir="13500000">
              <a:srgbClr val="ffffff">
                <a:alpha val="70000"/>
              </a:srgbClr>
            </a:outerShdw>
          </a:effectLst>
        </p:spPr>
      </p:sp>
      <p:sp>
        <p:nvSpPr>
          <p:cNvPr id="9" name="Text 6"/>
          <p:cNvSpPr/>
          <p:nvPr/>
        </p:nvSpPr>
        <p:spPr>
          <a:xfrm>
            <a:off x="4805720" y="2539603"/>
            <a:ext cx="174784" cy="312063"/>
          </a:xfrm>
          <a:prstGeom prst="rect">
            <a:avLst/>
          </a:prstGeom>
          <a:noFill/>
          <a:ln/>
        </p:spPr>
        <p:txBody>
          <a:bodyPr wrap="none" lIns="0" tIns="0" rIns="0" bIns="0" rtlCol="0" anchor="t"/>
          <a:lstStyle/>
          <a:p>
            <a:pPr algn="ctr" indent="0" marL="0">
              <a:lnSpc>
                <a:spcPts val="2450"/>
              </a:lnSpc>
              <a:buNone/>
            </a:pPr>
            <a:r>
              <a:rPr lang="en-US" sz="2450" b="1" dirty="0">
                <a:solidFill>
                  <a:srgbClr val="272525"/>
                </a:solidFill>
                <a:latin typeface="Barlow Bold" pitchFamily="34" charset="0"/>
                <a:ea typeface="Barlow Bold" pitchFamily="34" charset="-122"/>
                <a:cs typeface="Barlow Bold" pitchFamily="34" charset="-120"/>
              </a:rPr>
              <a:t>2</a:t>
            </a:r>
            <a:endParaRPr lang="en-US" sz="2450" dirty="0"/>
          </a:p>
        </p:txBody>
      </p:sp>
      <p:sp>
        <p:nvSpPr>
          <p:cNvPr id="10" name="Text 7"/>
          <p:cNvSpPr/>
          <p:nvPr/>
        </p:nvSpPr>
        <p:spPr>
          <a:xfrm>
            <a:off x="5312926" y="2473404"/>
            <a:ext cx="2768918" cy="325041"/>
          </a:xfrm>
          <a:prstGeom prst="rect">
            <a:avLst/>
          </a:prstGeom>
          <a:noFill/>
          <a:ln/>
        </p:spPr>
        <p:txBody>
          <a:bodyPr wrap="none" lIns="0" tIns="0" rIns="0" bIns="0" rtlCol="0" anchor="t"/>
          <a:lstStyle/>
          <a:p>
            <a:pPr indent="0" marL="0">
              <a:lnSpc>
                <a:spcPts val="2550"/>
              </a:lnSpc>
              <a:buNone/>
            </a:pPr>
            <a:r>
              <a:rPr lang="en-US" sz="2000" b="1" dirty="0">
                <a:solidFill>
                  <a:srgbClr val="272525"/>
                </a:solidFill>
                <a:latin typeface="Barlow Bold" pitchFamily="34" charset="0"/>
                <a:ea typeface="Barlow Bold" pitchFamily="34" charset="-122"/>
                <a:cs typeface="Barlow Bold" pitchFamily="34" charset="-120"/>
              </a:rPr>
              <a:t>Adaptabilidad al cambio</a:t>
            </a:r>
            <a:endParaRPr lang="en-US" sz="2000" dirty="0"/>
          </a:p>
        </p:txBody>
      </p:sp>
      <p:sp>
        <p:nvSpPr>
          <p:cNvPr id="11" name="Text 8"/>
          <p:cNvSpPr/>
          <p:nvPr/>
        </p:nvSpPr>
        <p:spPr>
          <a:xfrm>
            <a:off x="5312926" y="2916912"/>
            <a:ext cx="3139559" cy="1581150"/>
          </a:xfrm>
          <a:prstGeom prst="rect">
            <a:avLst/>
          </a:prstGeom>
          <a:noFill/>
          <a:ln/>
        </p:spPr>
        <p:txBody>
          <a:bodyPr wrap="square" lIns="0" tIns="0" rIns="0" bIns="0" rtlCol="0" anchor="t"/>
          <a:lstStyle/>
          <a:p>
            <a:pPr indent="0" marL="0">
              <a:lnSpc>
                <a:spcPts val="2450"/>
              </a:lnSpc>
              <a:buNone/>
            </a:pPr>
            <a:r>
              <a:rPr lang="en-US" sz="1550" dirty="0">
                <a:solidFill>
                  <a:srgbClr val="272525"/>
                </a:solidFill>
                <a:latin typeface="Montserrat" pitchFamily="34" charset="0"/>
                <a:ea typeface="Montserrat" pitchFamily="34" charset="-122"/>
                <a:cs typeface="Montserrat" pitchFamily="34" charset="-120"/>
              </a:rPr>
              <a:t>El enfoque ágil abraza el cambio y permite a los equipos responder rápidamente a las necesidades cambiantes del mercado y de los clientes.</a:t>
            </a:r>
            <a:endParaRPr lang="en-US" sz="1550" dirty="0"/>
          </a:p>
        </p:txBody>
      </p:sp>
      <p:sp>
        <p:nvSpPr>
          <p:cNvPr id="12" name="Shape 9"/>
          <p:cNvSpPr/>
          <p:nvPr/>
        </p:nvSpPr>
        <p:spPr>
          <a:xfrm>
            <a:off x="691634" y="5234107"/>
            <a:ext cx="444579" cy="444579"/>
          </a:xfrm>
          <a:prstGeom prst="roundRect">
            <a:avLst>
              <a:gd name="adj" fmla="val 40006"/>
            </a:avLst>
          </a:prstGeom>
          <a:solidFill>
            <a:srgbClr val="EEEFF5"/>
          </a:solidFill>
          <a:ln/>
          <a:effectLst>
            <a:outerShdw sx="100000" sy="100000" kx="0" ky="0" algn="bl" rotWithShape="0" blurRad="48260" dist="24130" dir="13500000">
              <a:srgbClr val="ffffff">
                <a:alpha val="70000"/>
              </a:srgbClr>
            </a:outerShdw>
          </a:effectLst>
        </p:spPr>
      </p:sp>
      <p:sp>
        <p:nvSpPr>
          <p:cNvPr id="13" name="Text 10"/>
          <p:cNvSpPr/>
          <p:nvPr/>
        </p:nvSpPr>
        <p:spPr>
          <a:xfrm>
            <a:off x="829628" y="5300305"/>
            <a:ext cx="168473" cy="312063"/>
          </a:xfrm>
          <a:prstGeom prst="rect">
            <a:avLst/>
          </a:prstGeom>
          <a:noFill/>
          <a:ln/>
        </p:spPr>
        <p:txBody>
          <a:bodyPr wrap="none" lIns="0" tIns="0" rIns="0" bIns="0" rtlCol="0" anchor="t"/>
          <a:lstStyle/>
          <a:p>
            <a:pPr algn="ctr" indent="0" marL="0">
              <a:lnSpc>
                <a:spcPts val="2450"/>
              </a:lnSpc>
              <a:buNone/>
            </a:pPr>
            <a:r>
              <a:rPr lang="en-US" sz="2450" b="1" dirty="0">
                <a:solidFill>
                  <a:srgbClr val="272525"/>
                </a:solidFill>
                <a:latin typeface="Barlow Bold" pitchFamily="34" charset="0"/>
                <a:ea typeface="Barlow Bold" pitchFamily="34" charset="-122"/>
                <a:cs typeface="Barlow Bold" pitchFamily="34" charset="-120"/>
              </a:rPr>
              <a:t>3</a:t>
            </a:r>
            <a:endParaRPr lang="en-US" sz="2450" dirty="0"/>
          </a:p>
        </p:txBody>
      </p:sp>
      <p:sp>
        <p:nvSpPr>
          <p:cNvPr id="14" name="Text 11"/>
          <p:cNvSpPr/>
          <p:nvPr/>
        </p:nvSpPr>
        <p:spPr>
          <a:xfrm>
            <a:off x="1333738" y="5234107"/>
            <a:ext cx="2600206" cy="325041"/>
          </a:xfrm>
          <a:prstGeom prst="rect">
            <a:avLst/>
          </a:prstGeom>
          <a:noFill/>
          <a:ln/>
        </p:spPr>
        <p:txBody>
          <a:bodyPr wrap="none" lIns="0" tIns="0" rIns="0" bIns="0" rtlCol="0" anchor="t"/>
          <a:lstStyle/>
          <a:p>
            <a:pPr indent="0" marL="0">
              <a:lnSpc>
                <a:spcPts val="2550"/>
              </a:lnSpc>
              <a:buNone/>
            </a:pPr>
            <a:r>
              <a:rPr lang="en-US" sz="2000" b="1" dirty="0">
                <a:solidFill>
                  <a:srgbClr val="272525"/>
                </a:solidFill>
                <a:latin typeface="Barlow Bold" pitchFamily="34" charset="0"/>
                <a:ea typeface="Barlow Bold" pitchFamily="34" charset="-122"/>
                <a:cs typeface="Barlow Bold" pitchFamily="34" charset="-120"/>
              </a:rPr>
              <a:t>Mayor transparencia</a:t>
            </a:r>
            <a:endParaRPr lang="en-US" sz="2000" dirty="0"/>
          </a:p>
        </p:txBody>
      </p:sp>
      <p:sp>
        <p:nvSpPr>
          <p:cNvPr id="15" name="Text 12"/>
          <p:cNvSpPr/>
          <p:nvPr/>
        </p:nvSpPr>
        <p:spPr>
          <a:xfrm>
            <a:off x="1333738" y="5677614"/>
            <a:ext cx="3139559" cy="1897380"/>
          </a:xfrm>
          <a:prstGeom prst="rect">
            <a:avLst/>
          </a:prstGeom>
          <a:noFill/>
          <a:ln/>
        </p:spPr>
        <p:txBody>
          <a:bodyPr wrap="square" lIns="0" tIns="0" rIns="0" bIns="0" rtlCol="0" anchor="t"/>
          <a:lstStyle/>
          <a:p>
            <a:pPr indent="0" marL="0">
              <a:lnSpc>
                <a:spcPts val="2450"/>
              </a:lnSpc>
              <a:buNone/>
            </a:pPr>
            <a:r>
              <a:rPr lang="en-US" sz="1550" dirty="0">
                <a:solidFill>
                  <a:srgbClr val="272525"/>
                </a:solidFill>
                <a:latin typeface="Montserrat" pitchFamily="34" charset="0"/>
                <a:ea typeface="Montserrat" pitchFamily="34" charset="-122"/>
                <a:cs typeface="Montserrat" pitchFamily="34" charset="-120"/>
              </a:rPr>
              <a:t>La colaboración constante entre el equipo y las partes interesadas, junto con la visibilidad de los artefactos ágiles, fomenta una mayor transparencia.</a:t>
            </a:r>
            <a:endParaRPr lang="en-US" sz="1550" dirty="0"/>
          </a:p>
        </p:txBody>
      </p:sp>
      <p:sp>
        <p:nvSpPr>
          <p:cNvPr id="16" name="Shape 13"/>
          <p:cNvSpPr/>
          <p:nvPr/>
        </p:nvSpPr>
        <p:spPr>
          <a:xfrm>
            <a:off x="4670822" y="5234107"/>
            <a:ext cx="444579" cy="444579"/>
          </a:xfrm>
          <a:prstGeom prst="roundRect">
            <a:avLst>
              <a:gd name="adj" fmla="val 40006"/>
            </a:avLst>
          </a:prstGeom>
          <a:solidFill>
            <a:srgbClr val="EEEFF5"/>
          </a:solidFill>
          <a:ln/>
          <a:effectLst>
            <a:outerShdw sx="100000" sy="100000" kx="0" ky="0" algn="bl" rotWithShape="0" blurRad="48260" dist="24130" dir="13500000">
              <a:srgbClr val="ffffff">
                <a:alpha val="70000"/>
              </a:srgbClr>
            </a:outerShdw>
          </a:effectLst>
        </p:spPr>
      </p:sp>
      <p:sp>
        <p:nvSpPr>
          <p:cNvPr id="17" name="Text 14"/>
          <p:cNvSpPr/>
          <p:nvPr/>
        </p:nvSpPr>
        <p:spPr>
          <a:xfrm>
            <a:off x="4798695" y="5300305"/>
            <a:ext cx="188833" cy="312063"/>
          </a:xfrm>
          <a:prstGeom prst="rect">
            <a:avLst/>
          </a:prstGeom>
          <a:noFill/>
          <a:ln/>
        </p:spPr>
        <p:txBody>
          <a:bodyPr wrap="none" lIns="0" tIns="0" rIns="0" bIns="0" rtlCol="0" anchor="t"/>
          <a:lstStyle/>
          <a:p>
            <a:pPr algn="ctr" indent="0" marL="0">
              <a:lnSpc>
                <a:spcPts val="2450"/>
              </a:lnSpc>
              <a:buNone/>
            </a:pPr>
            <a:r>
              <a:rPr lang="en-US" sz="2450" b="1" dirty="0">
                <a:solidFill>
                  <a:srgbClr val="272525"/>
                </a:solidFill>
                <a:latin typeface="Barlow Bold" pitchFamily="34" charset="0"/>
                <a:ea typeface="Barlow Bold" pitchFamily="34" charset="-122"/>
                <a:cs typeface="Barlow Bold" pitchFamily="34" charset="-120"/>
              </a:rPr>
              <a:t>4</a:t>
            </a:r>
            <a:endParaRPr lang="en-US" sz="2450" dirty="0"/>
          </a:p>
        </p:txBody>
      </p:sp>
      <p:sp>
        <p:nvSpPr>
          <p:cNvPr id="18" name="Text 15"/>
          <p:cNvSpPr/>
          <p:nvPr/>
        </p:nvSpPr>
        <p:spPr>
          <a:xfrm>
            <a:off x="5312926" y="5234107"/>
            <a:ext cx="2600206" cy="325041"/>
          </a:xfrm>
          <a:prstGeom prst="rect">
            <a:avLst/>
          </a:prstGeom>
          <a:noFill/>
          <a:ln/>
        </p:spPr>
        <p:txBody>
          <a:bodyPr wrap="none" lIns="0" tIns="0" rIns="0" bIns="0" rtlCol="0" anchor="t"/>
          <a:lstStyle/>
          <a:p>
            <a:pPr indent="0" marL="0">
              <a:lnSpc>
                <a:spcPts val="2550"/>
              </a:lnSpc>
              <a:buNone/>
            </a:pPr>
            <a:r>
              <a:rPr lang="en-US" sz="2000" b="1" dirty="0">
                <a:solidFill>
                  <a:srgbClr val="272525"/>
                </a:solidFill>
                <a:latin typeface="Barlow Bold" pitchFamily="34" charset="0"/>
                <a:ea typeface="Barlow Bold" pitchFamily="34" charset="-122"/>
                <a:cs typeface="Barlow Bold" pitchFamily="34" charset="-120"/>
              </a:rPr>
              <a:t>Mejora continua</a:t>
            </a:r>
            <a:endParaRPr lang="en-US" sz="2000" dirty="0"/>
          </a:p>
        </p:txBody>
      </p:sp>
      <p:sp>
        <p:nvSpPr>
          <p:cNvPr id="19" name="Text 16"/>
          <p:cNvSpPr/>
          <p:nvPr/>
        </p:nvSpPr>
        <p:spPr>
          <a:xfrm>
            <a:off x="5312926" y="5677614"/>
            <a:ext cx="3139559" cy="1581150"/>
          </a:xfrm>
          <a:prstGeom prst="rect">
            <a:avLst/>
          </a:prstGeom>
          <a:noFill/>
          <a:ln/>
        </p:spPr>
        <p:txBody>
          <a:bodyPr wrap="square" lIns="0" tIns="0" rIns="0" bIns="0" rtlCol="0" anchor="t"/>
          <a:lstStyle/>
          <a:p>
            <a:pPr indent="0" marL="0">
              <a:lnSpc>
                <a:spcPts val="2450"/>
              </a:lnSpc>
              <a:buNone/>
            </a:pPr>
            <a:r>
              <a:rPr lang="en-US" sz="1550" dirty="0">
                <a:solidFill>
                  <a:srgbClr val="272525"/>
                </a:solidFill>
                <a:latin typeface="Montserrat" pitchFamily="34" charset="0"/>
                <a:ea typeface="Montserrat" pitchFamily="34" charset="-122"/>
                <a:cs typeface="Montserrat" pitchFamily="34" charset="-120"/>
              </a:rPr>
              <a:t>Las retrospectivas regulares y la reflexión del equipo permiten identificar áreas de mejora y desarrollar prácticas más eficientes.</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175772" y="697349"/>
            <a:ext cx="7765256" cy="1295638"/>
          </a:xfrm>
          <a:prstGeom prst="rect">
            <a:avLst/>
          </a:prstGeom>
          <a:noFill/>
          <a:ln/>
        </p:spPr>
        <p:txBody>
          <a:bodyPr wrap="square" lIns="0" tIns="0" rIns="0" bIns="0" rtlCol="0" anchor="t"/>
          <a:lstStyle/>
          <a:p>
            <a:pPr indent="0" marL="0">
              <a:lnSpc>
                <a:spcPts val="5100"/>
              </a:lnSpc>
              <a:buNone/>
            </a:pPr>
            <a:r>
              <a:rPr lang="en-US" sz="4050" b="1" dirty="0">
                <a:solidFill>
                  <a:srgbClr val="7068F4"/>
                </a:solidFill>
                <a:latin typeface="Barlow Bold" pitchFamily="34" charset="0"/>
                <a:ea typeface="Barlow Bold" pitchFamily="34" charset="-122"/>
                <a:cs typeface="Barlow Bold" pitchFamily="34" charset="-120"/>
              </a:rPr>
              <a:t>Planificación y seguimiento en un equipo ágil</a:t>
            </a:r>
            <a:endParaRPr lang="en-US" sz="4050" dirty="0"/>
          </a:p>
        </p:txBody>
      </p:sp>
      <p:sp>
        <p:nvSpPr>
          <p:cNvPr id="4" name="Shape 1"/>
          <p:cNvSpPr/>
          <p:nvPr/>
        </p:nvSpPr>
        <p:spPr>
          <a:xfrm>
            <a:off x="6175772" y="2288381"/>
            <a:ext cx="7765256" cy="5243751"/>
          </a:xfrm>
          <a:prstGeom prst="roundRect">
            <a:avLst>
              <a:gd name="adj" fmla="val 3381"/>
            </a:avLst>
          </a:prstGeom>
          <a:noFill/>
          <a:ln w="7620">
            <a:solidFill>
              <a:srgbClr val="000000">
                <a:alpha val="8000"/>
              </a:srgbClr>
            </a:solidFill>
            <a:prstDash val="solid"/>
          </a:ln>
        </p:spPr>
      </p:sp>
      <p:sp>
        <p:nvSpPr>
          <p:cNvPr id="5" name="Shape 2"/>
          <p:cNvSpPr/>
          <p:nvPr/>
        </p:nvSpPr>
        <p:spPr>
          <a:xfrm>
            <a:off x="6183392" y="2296001"/>
            <a:ext cx="7750016" cy="2456736"/>
          </a:xfrm>
          <a:prstGeom prst="rect">
            <a:avLst/>
          </a:prstGeom>
          <a:solidFill>
            <a:srgbClr val="FFFFFF">
              <a:alpha val="4000"/>
            </a:srgbClr>
          </a:solidFill>
          <a:ln/>
        </p:spPr>
      </p:sp>
      <p:sp>
        <p:nvSpPr>
          <p:cNvPr id="6" name="Text 3"/>
          <p:cNvSpPr/>
          <p:nvPr/>
        </p:nvSpPr>
        <p:spPr>
          <a:xfrm>
            <a:off x="6380321" y="2421731"/>
            <a:ext cx="3477339" cy="315039"/>
          </a:xfrm>
          <a:prstGeom prst="rect">
            <a:avLst/>
          </a:prstGeom>
          <a:noFill/>
          <a:ln/>
        </p:spPr>
        <p:txBody>
          <a:bodyPr wrap="none" lIns="0" tIns="0" rIns="0" bIns="0" rtlCol="0" anchor="t"/>
          <a:lstStyle/>
          <a:p>
            <a:pPr indent="0" marL="0">
              <a:lnSpc>
                <a:spcPts val="2450"/>
              </a:lnSpc>
              <a:buNone/>
            </a:pPr>
            <a:r>
              <a:rPr lang="en-US" sz="1550" dirty="0">
                <a:solidFill>
                  <a:srgbClr val="272525"/>
                </a:solidFill>
                <a:latin typeface="Montserrat" pitchFamily="34" charset="0"/>
                <a:ea typeface="Montserrat" pitchFamily="34" charset="-122"/>
                <a:cs typeface="Montserrat" pitchFamily="34" charset="-120"/>
              </a:rPr>
              <a:t>Planificación</a:t>
            </a:r>
            <a:endParaRPr lang="en-US" sz="1550" dirty="0"/>
          </a:p>
        </p:txBody>
      </p:sp>
      <p:sp>
        <p:nvSpPr>
          <p:cNvPr id="7" name="Text 4"/>
          <p:cNvSpPr/>
          <p:nvPr/>
        </p:nvSpPr>
        <p:spPr>
          <a:xfrm>
            <a:off x="10259139" y="2421731"/>
            <a:ext cx="3477339" cy="2205276"/>
          </a:xfrm>
          <a:prstGeom prst="rect">
            <a:avLst/>
          </a:prstGeom>
          <a:noFill/>
          <a:ln/>
        </p:spPr>
        <p:txBody>
          <a:bodyPr wrap="square" lIns="0" tIns="0" rIns="0" bIns="0" rtlCol="0" anchor="t"/>
          <a:lstStyle/>
          <a:p>
            <a:pPr indent="0" marL="0">
              <a:lnSpc>
                <a:spcPts val="2450"/>
              </a:lnSpc>
              <a:buNone/>
            </a:pPr>
            <a:r>
              <a:rPr lang="en-US" sz="1550" dirty="0">
                <a:solidFill>
                  <a:srgbClr val="272525"/>
                </a:solidFill>
                <a:latin typeface="Montserrat" pitchFamily="34" charset="0"/>
                <a:ea typeface="Montserrat" pitchFamily="34" charset="-122"/>
                <a:cs typeface="Montserrat" pitchFamily="34" charset="-120"/>
              </a:rPr>
              <a:t>- Establecer objetivos claros y mensurables para cada Sprint - Priorizar las historias de usuario más importantes - Estimar el esfuerzo requerido utilizando story points - Crear un Sprint Backlog detallado</a:t>
            </a:r>
            <a:endParaRPr lang="en-US" sz="1550" dirty="0"/>
          </a:p>
        </p:txBody>
      </p:sp>
      <p:sp>
        <p:nvSpPr>
          <p:cNvPr id="8" name="Shape 5"/>
          <p:cNvSpPr/>
          <p:nvPr/>
        </p:nvSpPr>
        <p:spPr>
          <a:xfrm>
            <a:off x="6183392" y="4752737"/>
            <a:ext cx="7750016" cy="2771775"/>
          </a:xfrm>
          <a:prstGeom prst="rect">
            <a:avLst/>
          </a:prstGeom>
          <a:solidFill>
            <a:srgbClr val="000000">
              <a:alpha val="4000"/>
            </a:srgbClr>
          </a:solidFill>
          <a:ln/>
        </p:spPr>
      </p:sp>
      <p:sp>
        <p:nvSpPr>
          <p:cNvPr id="9" name="Text 6"/>
          <p:cNvSpPr/>
          <p:nvPr/>
        </p:nvSpPr>
        <p:spPr>
          <a:xfrm>
            <a:off x="6380321" y="4878467"/>
            <a:ext cx="3477339" cy="315039"/>
          </a:xfrm>
          <a:prstGeom prst="rect">
            <a:avLst/>
          </a:prstGeom>
          <a:noFill/>
          <a:ln/>
        </p:spPr>
        <p:txBody>
          <a:bodyPr wrap="none" lIns="0" tIns="0" rIns="0" bIns="0" rtlCol="0" anchor="t"/>
          <a:lstStyle/>
          <a:p>
            <a:pPr indent="0" marL="0">
              <a:lnSpc>
                <a:spcPts val="2450"/>
              </a:lnSpc>
              <a:buNone/>
            </a:pPr>
            <a:r>
              <a:rPr lang="en-US" sz="1550" dirty="0">
                <a:solidFill>
                  <a:srgbClr val="272525"/>
                </a:solidFill>
                <a:latin typeface="Montserrat" pitchFamily="34" charset="0"/>
                <a:ea typeface="Montserrat" pitchFamily="34" charset="-122"/>
                <a:cs typeface="Montserrat" pitchFamily="34" charset="-120"/>
              </a:rPr>
              <a:t>Seguimiento</a:t>
            </a:r>
            <a:endParaRPr lang="en-US" sz="1550" dirty="0"/>
          </a:p>
        </p:txBody>
      </p:sp>
      <p:sp>
        <p:nvSpPr>
          <p:cNvPr id="10" name="Text 7"/>
          <p:cNvSpPr/>
          <p:nvPr/>
        </p:nvSpPr>
        <p:spPr>
          <a:xfrm>
            <a:off x="10259139" y="4878467"/>
            <a:ext cx="3477339" cy="2520315"/>
          </a:xfrm>
          <a:prstGeom prst="rect">
            <a:avLst/>
          </a:prstGeom>
          <a:noFill/>
          <a:ln/>
        </p:spPr>
        <p:txBody>
          <a:bodyPr wrap="square" lIns="0" tIns="0" rIns="0" bIns="0" rtlCol="0" anchor="t"/>
          <a:lstStyle/>
          <a:p>
            <a:pPr indent="0" marL="0">
              <a:lnSpc>
                <a:spcPts val="2450"/>
              </a:lnSpc>
              <a:buNone/>
            </a:pPr>
            <a:r>
              <a:rPr lang="en-US" sz="1550" dirty="0">
                <a:solidFill>
                  <a:srgbClr val="272525"/>
                </a:solidFill>
                <a:latin typeface="Montserrat" pitchFamily="34" charset="0"/>
                <a:ea typeface="Montserrat" pitchFamily="34" charset="-122"/>
                <a:cs typeface="Montserrat" pitchFamily="34" charset="-120"/>
              </a:rPr>
              <a:t>- Realizar reuniones diarias de sincronización (Daily Standup) - Monitorear el progreso utilizando gráficos de Burndown - Identificar y eliminar impedimentos rápidamente - Adaptarse a los cambios y ajustar el plan según sea necesario</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455783"/>
          </a:xfrm>
          <a:prstGeom prst="rect">
            <a:avLst/>
          </a:prstGeom>
        </p:spPr>
      </p:pic>
      <p:sp>
        <p:nvSpPr>
          <p:cNvPr id="3" name="Text 0"/>
          <p:cNvSpPr/>
          <p:nvPr/>
        </p:nvSpPr>
        <p:spPr>
          <a:xfrm>
            <a:off x="687586" y="2997279"/>
            <a:ext cx="9745385" cy="646152"/>
          </a:xfrm>
          <a:prstGeom prst="rect">
            <a:avLst/>
          </a:prstGeom>
          <a:noFill/>
          <a:ln/>
        </p:spPr>
        <p:txBody>
          <a:bodyPr wrap="none" lIns="0" tIns="0" rIns="0" bIns="0" rtlCol="0" anchor="t"/>
          <a:lstStyle/>
          <a:p>
            <a:pPr indent="0" marL="0">
              <a:lnSpc>
                <a:spcPts val="5050"/>
              </a:lnSpc>
              <a:buNone/>
            </a:pPr>
            <a:r>
              <a:rPr lang="en-US" sz="4050" b="1" dirty="0">
                <a:solidFill>
                  <a:srgbClr val="7068F4"/>
                </a:solidFill>
                <a:latin typeface="Barlow Bold" pitchFamily="34" charset="0"/>
                <a:ea typeface="Barlow Bold" pitchFamily="34" charset="-122"/>
                <a:cs typeface="Barlow Bold" pitchFamily="34" charset="-120"/>
              </a:rPr>
              <a:t>Buenas prácticas para implementar Scrum</a:t>
            </a:r>
            <a:endParaRPr lang="en-US" sz="4050" dirty="0"/>
          </a:p>
        </p:txBody>
      </p:sp>
      <p:sp>
        <p:nvSpPr>
          <p:cNvPr id="4" name="Shape 1"/>
          <p:cNvSpPr/>
          <p:nvPr/>
        </p:nvSpPr>
        <p:spPr>
          <a:xfrm>
            <a:off x="687586" y="3938111"/>
            <a:ext cx="6529388" cy="1776770"/>
          </a:xfrm>
          <a:prstGeom prst="roundRect">
            <a:avLst>
              <a:gd name="adj" fmla="val 9952"/>
            </a:avLst>
          </a:prstGeom>
          <a:solidFill>
            <a:srgbClr val="EEEFF5"/>
          </a:solidFill>
          <a:ln/>
          <a:effectLst>
            <a:outerShdw sx="100000" sy="100000" kx="0" ky="0" algn="bl" rotWithShape="0" blurRad="48260" dist="24130" dir="13500000">
              <a:srgbClr val="ffffff">
                <a:alpha val="70000"/>
              </a:srgbClr>
            </a:outerShdw>
          </a:effectLst>
        </p:spPr>
      </p:sp>
      <p:sp>
        <p:nvSpPr>
          <p:cNvPr id="5" name="Text 2"/>
          <p:cNvSpPr/>
          <p:nvPr/>
        </p:nvSpPr>
        <p:spPr>
          <a:xfrm>
            <a:off x="884039" y="4134564"/>
            <a:ext cx="2696051" cy="323017"/>
          </a:xfrm>
          <a:prstGeom prst="rect">
            <a:avLst/>
          </a:prstGeom>
          <a:noFill/>
          <a:ln/>
        </p:spPr>
        <p:txBody>
          <a:bodyPr wrap="none" lIns="0" tIns="0" rIns="0" bIns="0" rtlCol="0" anchor="t"/>
          <a:lstStyle/>
          <a:p>
            <a:pPr indent="0" marL="0">
              <a:lnSpc>
                <a:spcPts val="2500"/>
              </a:lnSpc>
              <a:buNone/>
            </a:pPr>
            <a:r>
              <a:rPr lang="en-US" sz="2000" b="1" dirty="0">
                <a:solidFill>
                  <a:srgbClr val="272525"/>
                </a:solidFill>
                <a:latin typeface="Barlow Bold" pitchFamily="34" charset="0"/>
                <a:ea typeface="Barlow Bold" pitchFamily="34" charset="-122"/>
                <a:cs typeface="Barlow Bold" pitchFamily="34" charset="-120"/>
              </a:rPr>
              <a:t>Compromiso del equipo</a:t>
            </a:r>
            <a:endParaRPr lang="en-US" sz="2000" dirty="0"/>
          </a:p>
        </p:txBody>
      </p:sp>
      <p:sp>
        <p:nvSpPr>
          <p:cNvPr id="6" name="Text 3"/>
          <p:cNvSpPr/>
          <p:nvPr/>
        </p:nvSpPr>
        <p:spPr>
          <a:xfrm>
            <a:off x="884039" y="4575453"/>
            <a:ext cx="6136481" cy="628650"/>
          </a:xfrm>
          <a:prstGeom prst="rect">
            <a:avLst/>
          </a:prstGeom>
          <a:noFill/>
          <a:ln/>
        </p:spPr>
        <p:txBody>
          <a:bodyPr wrap="square" lIns="0" tIns="0" rIns="0" bIns="0" rtlCol="0" anchor="t"/>
          <a:lstStyle/>
          <a:p>
            <a:pPr indent="0" marL="0">
              <a:lnSpc>
                <a:spcPts val="2450"/>
              </a:lnSpc>
              <a:buNone/>
            </a:pPr>
            <a:r>
              <a:rPr lang="en-US" sz="1500" dirty="0">
                <a:solidFill>
                  <a:srgbClr val="272525"/>
                </a:solidFill>
                <a:latin typeface="Montserrat" pitchFamily="34" charset="0"/>
                <a:ea typeface="Montserrat" pitchFamily="34" charset="-122"/>
                <a:cs typeface="Montserrat" pitchFamily="34" charset="-120"/>
              </a:rPr>
              <a:t>Es crucial que todo el equipo esté comprometido con la metodología ágil y adhiera a los valores y principios de Scrum.</a:t>
            </a:r>
            <a:endParaRPr lang="en-US" sz="1500" dirty="0"/>
          </a:p>
        </p:txBody>
      </p:sp>
      <p:sp>
        <p:nvSpPr>
          <p:cNvPr id="7" name="Shape 4"/>
          <p:cNvSpPr/>
          <p:nvPr/>
        </p:nvSpPr>
        <p:spPr>
          <a:xfrm>
            <a:off x="7413427" y="3938111"/>
            <a:ext cx="6529388" cy="1776770"/>
          </a:xfrm>
          <a:prstGeom prst="roundRect">
            <a:avLst>
              <a:gd name="adj" fmla="val 9952"/>
            </a:avLst>
          </a:prstGeom>
          <a:solidFill>
            <a:srgbClr val="EEEFF5"/>
          </a:solidFill>
          <a:ln/>
          <a:effectLst>
            <a:outerShdw sx="100000" sy="100000" kx="0" ky="0" algn="bl" rotWithShape="0" blurRad="48260" dist="24130" dir="13500000">
              <a:srgbClr val="ffffff">
                <a:alpha val="70000"/>
              </a:srgbClr>
            </a:outerShdw>
          </a:effectLst>
        </p:spPr>
      </p:sp>
      <p:sp>
        <p:nvSpPr>
          <p:cNvPr id="8" name="Text 5"/>
          <p:cNvSpPr/>
          <p:nvPr/>
        </p:nvSpPr>
        <p:spPr>
          <a:xfrm>
            <a:off x="7609880" y="4134564"/>
            <a:ext cx="2585085" cy="323017"/>
          </a:xfrm>
          <a:prstGeom prst="rect">
            <a:avLst/>
          </a:prstGeom>
          <a:noFill/>
          <a:ln/>
        </p:spPr>
        <p:txBody>
          <a:bodyPr wrap="none" lIns="0" tIns="0" rIns="0" bIns="0" rtlCol="0" anchor="t"/>
          <a:lstStyle/>
          <a:p>
            <a:pPr indent="0" marL="0">
              <a:lnSpc>
                <a:spcPts val="2500"/>
              </a:lnSpc>
              <a:buNone/>
            </a:pPr>
            <a:r>
              <a:rPr lang="en-US" sz="2000" b="1" dirty="0">
                <a:solidFill>
                  <a:srgbClr val="272525"/>
                </a:solidFill>
                <a:latin typeface="Barlow Bold" pitchFamily="34" charset="0"/>
                <a:ea typeface="Barlow Bold" pitchFamily="34" charset="-122"/>
                <a:cs typeface="Barlow Bold" pitchFamily="34" charset="-120"/>
              </a:rPr>
              <a:t>Comunicación abierta</a:t>
            </a:r>
            <a:endParaRPr lang="en-US" sz="2000" dirty="0"/>
          </a:p>
        </p:txBody>
      </p:sp>
      <p:sp>
        <p:nvSpPr>
          <p:cNvPr id="9" name="Text 6"/>
          <p:cNvSpPr/>
          <p:nvPr/>
        </p:nvSpPr>
        <p:spPr>
          <a:xfrm>
            <a:off x="7609880" y="4575453"/>
            <a:ext cx="6136481" cy="942975"/>
          </a:xfrm>
          <a:prstGeom prst="rect">
            <a:avLst/>
          </a:prstGeom>
          <a:noFill/>
          <a:ln/>
        </p:spPr>
        <p:txBody>
          <a:bodyPr wrap="square" lIns="0" tIns="0" rIns="0" bIns="0" rtlCol="0" anchor="t"/>
          <a:lstStyle/>
          <a:p>
            <a:pPr indent="0" marL="0">
              <a:lnSpc>
                <a:spcPts val="2450"/>
              </a:lnSpc>
              <a:buNone/>
            </a:pPr>
            <a:r>
              <a:rPr lang="en-US" sz="1500" dirty="0">
                <a:solidFill>
                  <a:srgbClr val="272525"/>
                </a:solidFill>
                <a:latin typeface="Montserrat" pitchFamily="34" charset="0"/>
                <a:ea typeface="Montserrat" pitchFamily="34" charset="-122"/>
                <a:cs typeface="Montserrat" pitchFamily="34" charset="-120"/>
              </a:rPr>
              <a:t>La transparencia y la comunicación abierta entre el equipo, el Product Owner y las partes interesadas son fundamentales para el éxito.</a:t>
            </a:r>
            <a:endParaRPr lang="en-US" sz="1500" dirty="0"/>
          </a:p>
        </p:txBody>
      </p:sp>
      <p:sp>
        <p:nvSpPr>
          <p:cNvPr id="10" name="Shape 7"/>
          <p:cNvSpPr/>
          <p:nvPr/>
        </p:nvSpPr>
        <p:spPr>
          <a:xfrm>
            <a:off x="687586" y="5911334"/>
            <a:ext cx="6529388" cy="1776770"/>
          </a:xfrm>
          <a:prstGeom prst="roundRect">
            <a:avLst>
              <a:gd name="adj" fmla="val 9952"/>
            </a:avLst>
          </a:prstGeom>
          <a:solidFill>
            <a:srgbClr val="EEEFF5"/>
          </a:solidFill>
          <a:ln/>
          <a:effectLst>
            <a:outerShdw sx="100000" sy="100000" kx="0" ky="0" algn="bl" rotWithShape="0" blurRad="48260" dist="24130" dir="13500000">
              <a:srgbClr val="ffffff">
                <a:alpha val="70000"/>
              </a:srgbClr>
            </a:outerShdw>
          </a:effectLst>
        </p:spPr>
      </p:sp>
      <p:sp>
        <p:nvSpPr>
          <p:cNvPr id="11" name="Text 8"/>
          <p:cNvSpPr/>
          <p:nvPr/>
        </p:nvSpPr>
        <p:spPr>
          <a:xfrm>
            <a:off x="884039" y="6107787"/>
            <a:ext cx="2585085" cy="323017"/>
          </a:xfrm>
          <a:prstGeom prst="rect">
            <a:avLst/>
          </a:prstGeom>
          <a:noFill/>
          <a:ln/>
        </p:spPr>
        <p:txBody>
          <a:bodyPr wrap="none" lIns="0" tIns="0" rIns="0" bIns="0" rtlCol="0" anchor="t"/>
          <a:lstStyle/>
          <a:p>
            <a:pPr indent="0" marL="0">
              <a:lnSpc>
                <a:spcPts val="2500"/>
              </a:lnSpc>
              <a:buNone/>
            </a:pPr>
            <a:r>
              <a:rPr lang="en-US" sz="2000" b="1" dirty="0">
                <a:solidFill>
                  <a:srgbClr val="272525"/>
                </a:solidFill>
                <a:latin typeface="Barlow Bold" pitchFamily="34" charset="0"/>
                <a:ea typeface="Barlow Bold" pitchFamily="34" charset="-122"/>
                <a:cs typeface="Barlow Bold" pitchFamily="34" charset="-120"/>
              </a:rPr>
              <a:t>Mejora continua</a:t>
            </a:r>
            <a:endParaRPr lang="en-US" sz="2000" dirty="0"/>
          </a:p>
        </p:txBody>
      </p:sp>
      <p:sp>
        <p:nvSpPr>
          <p:cNvPr id="12" name="Text 9"/>
          <p:cNvSpPr/>
          <p:nvPr/>
        </p:nvSpPr>
        <p:spPr>
          <a:xfrm>
            <a:off x="884039" y="6548676"/>
            <a:ext cx="6136481" cy="942975"/>
          </a:xfrm>
          <a:prstGeom prst="rect">
            <a:avLst/>
          </a:prstGeom>
          <a:noFill/>
          <a:ln/>
        </p:spPr>
        <p:txBody>
          <a:bodyPr wrap="square" lIns="0" tIns="0" rIns="0" bIns="0" rtlCol="0" anchor="t"/>
          <a:lstStyle/>
          <a:p>
            <a:pPr indent="0" marL="0">
              <a:lnSpc>
                <a:spcPts val="2450"/>
              </a:lnSpc>
              <a:buNone/>
            </a:pPr>
            <a:r>
              <a:rPr lang="en-US" sz="1500" dirty="0">
                <a:solidFill>
                  <a:srgbClr val="272525"/>
                </a:solidFill>
                <a:latin typeface="Montserrat" pitchFamily="34" charset="0"/>
                <a:ea typeface="Montserrat" pitchFamily="34" charset="-122"/>
                <a:cs typeface="Montserrat" pitchFamily="34" charset="-120"/>
              </a:rPr>
              <a:t>Realizar retrospectivas y aplicar las lecciones aprendidas en cada Sprint permite al equipo mejorar continuamente sus procesos.</a:t>
            </a:r>
            <a:endParaRPr lang="en-US" sz="1500" dirty="0"/>
          </a:p>
        </p:txBody>
      </p:sp>
      <p:sp>
        <p:nvSpPr>
          <p:cNvPr id="13" name="Shape 10"/>
          <p:cNvSpPr/>
          <p:nvPr/>
        </p:nvSpPr>
        <p:spPr>
          <a:xfrm>
            <a:off x="7413427" y="5911334"/>
            <a:ext cx="6529388" cy="1776770"/>
          </a:xfrm>
          <a:prstGeom prst="roundRect">
            <a:avLst>
              <a:gd name="adj" fmla="val 9952"/>
            </a:avLst>
          </a:prstGeom>
          <a:solidFill>
            <a:srgbClr val="EEEFF5"/>
          </a:solidFill>
          <a:ln/>
          <a:effectLst>
            <a:outerShdw sx="100000" sy="100000" kx="0" ky="0" algn="bl" rotWithShape="0" blurRad="48260" dist="24130" dir="13500000">
              <a:srgbClr val="ffffff">
                <a:alpha val="70000"/>
              </a:srgbClr>
            </a:outerShdw>
          </a:effectLst>
        </p:spPr>
      </p:sp>
      <p:sp>
        <p:nvSpPr>
          <p:cNvPr id="14" name="Text 11"/>
          <p:cNvSpPr/>
          <p:nvPr/>
        </p:nvSpPr>
        <p:spPr>
          <a:xfrm>
            <a:off x="7609880" y="6107787"/>
            <a:ext cx="2585085" cy="323017"/>
          </a:xfrm>
          <a:prstGeom prst="rect">
            <a:avLst/>
          </a:prstGeom>
          <a:noFill/>
          <a:ln/>
        </p:spPr>
        <p:txBody>
          <a:bodyPr wrap="none" lIns="0" tIns="0" rIns="0" bIns="0" rtlCol="0" anchor="t"/>
          <a:lstStyle/>
          <a:p>
            <a:pPr indent="0" marL="0">
              <a:lnSpc>
                <a:spcPts val="2500"/>
              </a:lnSpc>
              <a:buNone/>
            </a:pPr>
            <a:r>
              <a:rPr lang="en-US" sz="2000" b="1" dirty="0">
                <a:solidFill>
                  <a:srgbClr val="272525"/>
                </a:solidFill>
                <a:latin typeface="Barlow Bold" pitchFamily="34" charset="0"/>
                <a:ea typeface="Barlow Bold" pitchFamily="34" charset="-122"/>
                <a:cs typeface="Barlow Bold" pitchFamily="34" charset="-120"/>
              </a:rPr>
              <a:t>Adaptabilidad</a:t>
            </a:r>
            <a:endParaRPr lang="en-US" sz="2000" dirty="0"/>
          </a:p>
        </p:txBody>
      </p:sp>
      <p:sp>
        <p:nvSpPr>
          <p:cNvPr id="15" name="Text 12"/>
          <p:cNvSpPr/>
          <p:nvPr/>
        </p:nvSpPr>
        <p:spPr>
          <a:xfrm>
            <a:off x="7609880" y="6548676"/>
            <a:ext cx="6136481" cy="628650"/>
          </a:xfrm>
          <a:prstGeom prst="rect">
            <a:avLst/>
          </a:prstGeom>
          <a:noFill/>
          <a:ln/>
        </p:spPr>
        <p:txBody>
          <a:bodyPr wrap="square" lIns="0" tIns="0" rIns="0" bIns="0" rtlCol="0" anchor="t"/>
          <a:lstStyle/>
          <a:p>
            <a:pPr indent="0" marL="0">
              <a:lnSpc>
                <a:spcPts val="2450"/>
              </a:lnSpc>
              <a:buNone/>
            </a:pPr>
            <a:r>
              <a:rPr lang="en-US" sz="1500" dirty="0">
                <a:solidFill>
                  <a:srgbClr val="272525"/>
                </a:solidFill>
                <a:latin typeface="Montserrat" pitchFamily="34" charset="0"/>
                <a:ea typeface="Montserrat" pitchFamily="34" charset="-122"/>
                <a:cs typeface="Montserrat" pitchFamily="34" charset="-120"/>
              </a:rPr>
              <a:t>Estar preparado para adaptarse a los cambios y abrazar la experimentación es clave para tener éxito con Scrum.</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58309" y="1740575"/>
            <a:ext cx="7291864" cy="712708"/>
          </a:xfrm>
          <a:prstGeom prst="rect">
            <a:avLst/>
          </a:prstGeom>
          <a:noFill/>
          <a:ln/>
        </p:spPr>
        <p:txBody>
          <a:bodyPr wrap="none" lIns="0" tIns="0" rIns="0" bIns="0" rtlCol="0" anchor="t"/>
          <a:lstStyle/>
          <a:p>
            <a:pPr indent="0" marL="0">
              <a:lnSpc>
                <a:spcPts val="5600"/>
              </a:lnSpc>
              <a:buNone/>
            </a:pPr>
            <a:r>
              <a:rPr lang="en-US" sz="4450" b="1" dirty="0">
                <a:solidFill>
                  <a:srgbClr val="7068F4"/>
                </a:solidFill>
                <a:latin typeface="Barlow Bold" pitchFamily="34" charset="0"/>
                <a:ea typeface="Barlow Bold" pitchFamily="34" charset="-122"/>
                <a:cs typeface="Barlow Bold" pitchFamily="34" charset="-120"/>
              </a:rPr>
              <a:t>Conclusión y próximos pasos</a:t>
            </a:r>
            <a:endParaRPr lang="en-US" sz="4450" dirty="0"/>
          </a:p>
        </p:txBody>
      </p:sp>
      <p:sp>
        <p:nvSpPr>
          <p:cNvPr id="4" name="Text 1"/>
          <p:cNvSpPr/>
          <p:nvPr/>
        </p:nvSpPr>
        <p:spPr>
          <a:xfrm>
            <a:off x="758309" y="2778204"/>
            <a:ext cx="7627382" cy="1733550"/>
          </a:xfrm>
          <a:prstGeom prst="rect">
            <a:avLst/>
          </a:prstGeom>
          <a:noFill/>
          <a:ln/>
        </p:spPr>
        <p:txBody>
          <a:bodyPr wrap="square" lIns="0" tIns="0" rIns="0" bIns="0" rtlCol="0" anchor="t"/>
          <a:lstStyle/>
          <a:p>
            <a:pPr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En resumen, la metodología ágil y Scrum ofrecen un enfoque probado para el desarrollo de software que se centra en la entrega rápida de valor, la colaboración y la mejora continua. Al adoptar los principios, roles, ceremonias y artefactos de Scrum, las empresas pueden mejorar la agilidad, la transparencia y la satisfacción del cliente.</a:t>
            </a:r>
            <a:endParaRPr lang="en-US" sz="1700" dirty="0"/>
          </a:p>
        </p:txBody>
      </p:sp>
      <p:sp>
        <p:nvSpPr>
          <p:cNvPr id="5" name="Text 2"/>
          <p:cNvSpPr/>
          <p:nvPr/>
        </p:nvSpPr>
        <p:spPr>
          <a:xfrm>
            <a:off x="758309" y="4755475"/>
            <a:ext cx="7627382" cy="1733550"/>
          </a:xfrm>
          <a:prstGeom prst="rect">
            <a:avLst/>
          </a:prstGeom>
          <a:noFill/>
          <a:ln/>
        </p:spPr>
        <p:txBody>
          <a:bodyPr wrap="square" lIns="0" tIns="0" rIns="0" bIns="0" rtlCol="0" anchor="t"/>
          <a:lstStyle/>
          <a:p>
            <a:pPr indent="0" marL="0">
              <a:lnSpc>
                <a:spcPts val="2700"/>
              </a:lnSpc>
              <a:buNone/>
            </a:pPr>
            <a:r>
              <a:rPr lang="en-US" sz="1700" dirty="0">
                <a:solidFill>
                  <a:srgbClr val="272525"/>
                </a:solidFill>
                <a:latin typeface="Montserrat" pitchFamily="34" charset="0"/>
                <a:ea typeface="Montserrat" pitchFamily="34" charset="-122"/>
                <a:cs typeface="Montserrat" pitchFamily="34" charset="-120"/>
              </a:rPr>
              <a:t>Si deseas profundizar más en el tema, te recomendamos explorar recursos adicionales sobre estimación ágil, gestión de requisitos, y técnicas de facilitation. Además, considera la posibilidad de obtener una certificación Scrum para demostrar tu conocimiento y habilidades.</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2024-10-27T16:57:42Z</dcterms:created>
  <dcterms:modified xsi:type="dcterms:W3CDTF">2024-10-27T16:57:42Z</dcterms:modified>
</cp:coreProperties>
</file>